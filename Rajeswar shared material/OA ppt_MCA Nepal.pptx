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entation.xml" ContentType="application/vnd.openxmlformats-officedocument.presentationml.presentation.main+xml"/>
  <Override PartName="/ppt/diagrams/data4.xml" ContentType="application/vnd.openxmlformats-officedocument.drawingml.diagramData+xml"/>
  <Override PartName="/ppt/diagrams/data2.xml" ContentType="application/vnd.openxmlformats-officedocument.drawingml.diagramData+xml"/>
  <Override PartName="/ppt/diagrams/data5.xml" ContentType="application/vnd.openxmlformats-officedocument.drawingml.diagramData+xml"/>
  <Override PartName="/ppt/diagrams/data3.xml" ContentType="application/vnd.openxmlformats-officedocument.drawingml.diagramData+xml"/>
  <Override PartName="/ppt/diagrams/data1.xml" ContentType="application/vnd.openxmlformats-officedocument.drawingml.diagramData+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1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diagrams/layout4.xml" ContentType="application/vnd.openxmlformats-officedocument.drawingml.diagramLayout+xml"/>
  <Override PartName="/ppt/diagrams/layout5.xml" ContentType="application/vnd.openxmlformats-officedocument.drawingml.diagramLayout+xml"/>
  <Override PartName="/ppt/diagrams/quickStyle4.xml" ContentType="application/vnd.openxmlformats-officedocument.drawingml.diagramStyle+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quickStyle3.xml" ContentType="application/vnd.openxmlformats-officedocument.drawingml.diagramStyle+xml"/>
  <Override PartName="/ppt/diagrams/drawing3.xml" ContentType="application/vnd.ms-office.drawingml.diagramDrawing+xml"/>
  <Override PartName="/ppt/diagrams/colors3.xml" ContentType="application/vnd.openxmlformats-officedocument.drawingml.diagramColors+xml"/>
  <Override PartName="/ppt/diagrams/colors4.xml" ContentType="application/vnd.openxmlformats-officedocument.drawingml.diagramColors+xml"/>
  <Override PartName="/ppt/diagrams/layout3.xml" ContentType="application/vnd.openxmlformats-officedocument.drawingml.diagramLayout+xml"/>
  <Override PartName="/ppt/diagrams/drawing2.xml" ContentType="application/vnd.ms-office.drawingml.diagramDrawing+xml"/>
  <Override PartName="/ppt/diagrams/colors2.xml" ContentType="application/vnd.openxmlformats-officedocument.drawingml.diagramColors+xml"/>
  <Override PartName="/ppt/diagrams/quickStyle2.xml" ContentType="application/vnd.openxmlformats-officedocument.drawingml.diagramStyle+xml"/>
  <Override PartName="/ppt/diagrams/layout2.xml" ContentType="application/vnd.openxmlformats-officedocument.drawingml.diagramLayout+xml"/>
  <Override PartName="/ppt/diagrams/drawing1.xml" ContentType="application/vnd.ms-office.drawingml.diagramDrawing+xml"/>
  <Override PartName="/ppt/diagrams/colors1.xml" ContentType="application/vnd.openxmlformats-officedocument.drawingml.diagramColors+xml"/>
  <Override PartName="/ppt/diagrams/quickStyle1.xml" ContentType="application/vnd.openxmlformats-officedocument.drawingml.diagramStyle+xml"/>
  <Override PartName="/ppt/diagrams/layout1.xml" ContentType="application/vnd.openxmlformats-officedocument.drawingml.diagramLayout+xml"/>
  <Override PartName="/ppt/diagrams/drawing4.xml" ContentType="application/vnd.ms-office.drawingml.diagramDrawing+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15.xml" ContentType="application/vnd.openxmlformats-officedocument.presentationml.tags+xml"/>
  <Override PartName="/ppt/tags/tag11.xml" ContentType="application/vnd.openxmlformats-officedocument.presentationml.tags+xml"/>
  <Override PartName="/ppt/tags/tag27.xml" ContentType="application/vnd.openxmlformats-officedocument.presentationml.tags+xml"/>
  <Override PartName="/ppt/tags/tag16.xml" ContentType="application/vnd.openxmlformats-officedocument.presentationml.tags+xml"/>
  <Override PartName="/ppt/tags/tag6.xml" ContentType="application/vnd.openxmlformats-officedocument.presentationml.tags+xml"/>
  <Override PartName="/ppt/tags/tag9.xml" ContentType="application/vnd.openxmlformats-officedocument.presentationml.tags+xml"/>
  <Override PartName="/docProps/core.xml" ContentType="application/vnd.openxmlformats-package.core-properties+xml"/>
  <Override PartName="/ppt/tags/tag17.xml" ContentType="application/vnd.openxmlformats-officedocument.presentationml.tags+xml"/>
  <Override PartName="/ppt/tags/tag5.xml" ContentType="application/vnd.openxmlformats-officedocument.presentationml.tags+xml"/>
  <Override PartName="/docProps/app.xml" ContentType="application/vnd.openxmlformats-officedocument.extended-properties+xml"/>
  <Override PartName="/ppt/tags/tag8.xml" ContentType="application/vnd.openxmlformats-officedocument.presentationml.tags+xml"/>
  <Override PartName="/ppt/tags/tag10.xml" ContentType="application/vnd.openxmlformats-officedocument.presentationml.tags+xml"/>
  <Override PartName="/ppt/tags/tag7.xml" ContentType="application/vnd.openxmlformats-officedocument.presentationml.tags+xml"/>
  <Override PartName="/docProps/custom.xml" ContentType="application/vnd.openxmlformats-officedocument.custom-properties+xml"/>
  <Override PartName="/ppt/tags/tag14.xml" ContentType="application/vnd.openxmlformats-officedocument.presentationml.tags+xml"/>
  <Override PartName="/ppt/tags/tag18.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29.xml" ContentType="application/vnd.openxmlformats-officedocument.presentationml.tags+xml"/>
  <Override PartName="/ppt/tags/tag28.xml" ContentType="application/vnd.openxmlformats-officedocument.presentationml.tag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8" r:id="rId3"/>
    <p:sldId id="259" r:id="rId4"/>
    <p:sldId id="264" r:id="rId5"/>
    <p:sldId id="266" r:id="rId6"/>
    <p:sldId id="265" r:id="rId7"/>
    <p:sldId id="268" r:id="rId8"/>
    <p:sldId id="269" r:id="rId9"/>
    <p:sldId id="270" r:id="rId10"/>
    <p:sldId id="271" r:id="rId11"/>
    <p:sldId id="272" r:id="rId12"/>
    <p:sldId id="273" r:id="rId13"/>
    <p:sldId id="274" r:id="rId14"/>
    <p:sldId id="275" r:id="rId15"/>
    <p:sldId id="276" r:id="rId16"/>
    <p:sldId id="277" r:id="rId17"/>
    <p:sldId id="278" r:id="rId18"/>
    <p:sldId id="279" r:id="rId19"/>
    <p:sldId id="261" r:id="rId20"/>
    <p:sldId id="280" r:id="rId21"/>
    <p:sldId id="281" r:id="rId22"/>
    <p:sldId id="282" r:id="rId23"/>
    <p:sldId id="260" r:id="rId24"/>
    <p:sldId id="267" r:id="rId25"/>
    <p:sldId id="262" r:id="rId26"/>
    <p:sldId id="263" r:id="rId27"/>
    <p:sldId id="283" r:id="rId28"/>
  </p:sldIdLst>
  <p:sldSz cx="12192000" cy="6858000"/>
  <p:notesSz cx="6858000" cy="9144000"/>
  <p:custDataLst>
    <p:tags r:id="rId3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F7E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51" d="100"/>
          <a:sy n="51" d="100"/>
        </p:scale>
        <p:origin x="1188"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37"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ags" Target="tags/tag1.xml"/><Relationship Id="rId35"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162F0AC-6493-4AE5-A841-12A0D3216801}" type="doc">
      <dgm:prSet loTypeId="urn:microsoft.com/office/officeart/2005/8/layout/list1" loCatId="list" qsTypeId="urn:microsoft.com/office/officeart/2005/8/quickstyle/simple1" qsCatId="simple" csTypeId="urn:microsoft.com/office/officeart/2005/8/colors/colorful3" csCatId="colorful" phldr="1"/>
      <dgm:spPr/>
      <dgm:t>
        <a:bodyPr/>
        <a:lstStyle/>
        <a:p>
          <a:endParaRPr lang="en-US"/>
        </a:p>
      </dgm:t>
    </dgm:pt>
    <dgm:pt modelId="{796966A4-D58E-43DC-A1DD-B713BDE1107E}">
      <dgm:prSet phldrT="[Text]" custT="1"/>
      <dgm:spPr/>
      <dgm:t>
        <a:bodyPr/>
        <a:lstStyle/>
        <a:p>
          <a:r>
            <a:rPr lang="en-US" sz="1800" dirty="0">
              <a:latin typeface="Calibri" panose="020F0502020204030204" pitchFamily="34" charset="0"/>
              <a:cs typeface="Calibri" panose="020F0502020204030204" pitchFamily="34" charset="0"/>
            </a:rPr>
            <a:t>Based on duration</a:t>
          </a:r>
        </a:p>
      </dgm:t>
    </dgm:pt>
    <dgm:pt modelId="{F93A63ED-1EA8-40C3-B78F-54AB6FA3E0C6}" type="parTrans" cxnId="{5D9DD546-D093-47B2-8DF5-0B7E76116376}">
      <dgm:prSet/>
      <dgm:spPr/>
      <dgm:t>
        <a:bodyPr/>
        <a:lstStyle/>
        <a:p>
          <a:endParaRPr lang="en-US" sz="1800">
            <a:latin typeface="Calibri" panose="020F0502020204030204" pitchFamily="34" charset="0"/>
            <a:cs typeface="Calibri" panose="020F0502020204030204" pitchFamily="34" charset="0"/>
          </a:endParaRPr>
        </a:p>
      </dgm:t>
    </dgm:pt>
    <dgm:pt modelId="{9AF5794C-D977-404D-92B1-B1B203512C24}" type="sibTrans" cxnId="{5D9DD546-D093-47B2-8DF5-0B7E76116376}">
      <dgm:prSet/>
      <dgm:spPr/>
      <dgm:t>
        <a:bodyPr/>
        <a:lstStyle/>
        <a:p>
          <a:endParaRPr lang="en-US" sz="1800">
            <a:latin typeface="Calibri" panose="020F0502020204030204" pitchFamily="34" charset="0"/>
            <a:cs typeface="Calibri" panose="020F0502020204030204" pitchFamily="34" charset="0"/>
          </a:endParaRPr>
        </a:p>
      </dgm:t>
    </dgm:pt>
    <dgm:pt modelId="{1BEA5E8B-EFA0-43BD-97EB-F2FA5A4C2DCB}">
      <dgm:prSet phldrT="[Text]" custT="1"/>
      <dgm:spPr/>
      <dgm:t>
        <a:bodyPr/>
        <a:lstStyle/>
        <a:p>
          <a:r>
            <a:rPr lang="en-US" sz="1800" dirty="0">
              <a:latin typeface="Calibri" panose="020F0502020204030204" pitchFamily="34" charset="0"/>
              <a:cs typeface="Calibri" panose="020F0502020204030204" pitchFamily="34" charset="0"/>
            </a:rPr>
            <a:t>Based on consumer’s relationship with utility</a:t>
          </a:r>
        </a:p>
      </dgm:t>
    </dgm:pt>
    <dgm:pt modelId="{4DFC04DC-48C7-4C40-8885-4AD612A43B8E}" type="parTrans" cxnId="{B20592AC-A327-4BCB-9681-747B6175CCE8}">
      <dgm:prSet/>
      <dgm:spPr/>
      <dgm:t>
        <a:bodyPr/>
        <a:lstStyle/>
        <a:p>
          <a:endParaRPr lang="en-US" sz="1800">
            <a:latin typeface="Calibri" panose="020F0502020204030204" pitchFamily="34" charset="0"/>
            <a:cs typeface="Calibri" panose="020F0502020204030204" pitchFamily="34" charset="0"/>
          </a:endParaRPr>
        </a:p>
      </dgm:t>
    </dgm:pt>
    <dgm:pt modelId="{D3A1E6D9-0646-4FA9-BF63-18C65EB883EF}" type="sibTrans" cxnId="{B20592AC-A327-4BCB-9681-747B6175CCE8}">
      <dgm:prSet/>
      <dgm:spPr/>
      <dgm:t>
        <a:bodyPr/>
        <a:lstStyle/>
        <a:p>
          <a:endParaRPr lang="en-US" sz="1800">
            <a:latin typeface="Calibri" panose="020F0502020204030204" pitchFamily="34" charset="0"/>
            <a:cs typeface="Calibri" panose="020F0502020204030204" pitchFamily="34" charset="0"/>
          </a:endParaRPr>
        </a:p>
      </dgm:t>
    </dgm:pt>
    <dgm:pt modelId="{82FDE9D9-125E-4F5E-8C2E-05486853AEF7}">
      <dgm:prSet phldrT="[Text]" custT="1"/>
      <dgm:spPr/>
      <dgm:t>
        <a:bodyPr/>
        <a:lstStyle/>
        <a:p>
          <a:r>
            <a:rPr lang="en-US" sz="1800">
              <a:latin typeface="Calibri" panose="020F0502020204030204" pitchFamily="34" charset="0"/>
              <a:cs typeface="Calibri" panose="020F0502020204030204" pitchFamily="34" charset="0"/>
            </a:rPr>
            <a:t>Based</a:t>
          </a:r>
          <a:r>
            <a:rPr lang="en-US" sz="1800" spc="-10">
              <a:latin typeface="Calibri" panose="020F0502020204030204" pitchFamily="34" charset="0"/>
              <a:cs typeface="Calibri" panose="020F0502020204030204" pitchFamily="34" charset="0"/>
            </a:rPr>
            <a:t> </a:t>
          </a:r>
          <a:r>
            <a:rPr lang="en-US" sz="1800">
              <a:latin typeface="Calibri" panose="020F0502020204030204" pitchFamily="34" charset="0"/>
              <a:cs typeface="Calibri" panose="020F0502020204030204" pitchFamily="34" charset="0"/>
            </a:rPr>
            <a:t>on</a:t>
          </a:r>
          <a:r>
            <a:rPr lang="en-US" sz="1800" spc="-15">
              <a:latin typeface="Calibri" panose="020F0502020204030204" pitchFamily="34" charset="0"/>
              <a:cs typeface="Calibri" panose="020F0502020204030204" pitchFamily="34" charset="0"/>
            </a:rPr>
            <a:t> </a:t>
          </a:r>
          <a:r>
            <a:rPr lang="en-US" sz="1800" spc="-10">
              <a:latin typeface="Calibri" panose="020F0502020204030204" pitchFamily="34" charset="0"/>
              <a:cs typeface="Calibri" panose="020F0502020204030204" pitchFamily="34" charset="0"/>
            </a:rPr>
            <a:t>consumer’s</a:t>
          </a:r>
          <a:r>
            <a:rPr lang="en-US" sz="1800" spc="-15">
              <a:latin typeface="Calibri" panose="020F0502020204030204" pitchFamily="34" charset="0"/>
              <a:cs typeface="Calibri" panose="020F0502020204030204" pitchFamily="34" charset="0"/>
            </a:rPr>
            <a:t> </a:t>
          </a:r>
          <a:r>
            <a:rPr lang="en-US" sz="1800">
              <a:latin typeface="Calibri" panose="020F0502020204030204" pitchFamily="34" charset="0"/>
              <a:cs typeface="Calibri" panose="020F0502020204030204" pitchFamily="34" charset="0"/>
            </a:rPr>
            <a:t>ownership</a:t>
          </a:r>
          <a:r>
            <a:rPr lang="en-US" sz="1800" baseline="24305">
              <a:latin typeface="Calibri" panose="020F0502020204030204" pitchFamily="34" charset="0"/>
              <a:cs typeface="Calibri" panose="020F0502020204030204" pitchFamily="34" charset="0"/>
            </a:rPr>
            <a:t>*</a:t>
          </a:r>
          <a:r>
            <a:rPr lang="en-US" sz="1800" spc="157" baseline="24305">
              <a:latin typeface="Calibri" panose="020F0502020204030204" pitchFamily="34" charset="0"/>
              <a:cs typeface="Calibri" panose="020F0502020204030204" pitchFamily="34" charset="0"/>
            </a:rPr>
            <a:t> </a:t>
          </a:r>
          <a:r>
            <a:rPr lang="en-US" sz="1800">
              <a:latin typeface="Calibri" panose="020F0502020204030204" pitchFamily="34" charset="0"/>
              <a:cs typeface="Calibri" panose="020F0502020204030204" pitchFamily="34" charset="0"/>
            </a:rPr>
            <a:t>on</a:t>
          </a:r>
          <a:r>
            <a:rPr lang="en-US" sz="1800" spc="-5">
              <a:latin typeface="Calibri" panose="020F0502020204030204" pitchFamily="34" charset="0"/>
              <a:cs typeface="Calibri" panose="020F0502020204030204" pitchFamily="34" charset="0"/>
            </a:rPr>
            <a:t> </a:t>
          </a:r>
          <a:r>
            <a:rPr lang="en-US" sz="1800">
              <a:latin typeface="Calibri" panose="020F0502020204030204" pitchFamily="34" charset="0"/>
              <a:cs typeface="Calibri" panose="020F0502020204030204" pitchFamily="34" charset="0"/>
            </a:rPr>
            <a:t>the</a:t>
          </a:r>
          <a:r>
            <a:rPr lang="en-US" sz="1800" spc="-10">
              <a:latin typeface="Calibri" panose="020F0502020204030204" pitchFamily="34" charset="0"/>
              <a:cs typeface="Calibri" panose="020F0502020204030204" pitchFamily="34" charset="0"/>
            </a:rPr>
            <a:t> generator</a:t>
          </a:r>
          <a:endParaRPr lang="en-US" sz="1800" dirty="0">
            <a:latin typeface="Calibri" panose="020F0502020204030204" pitchFamily="34" charset="0"/>
            <a:cs typeface="Calibri" panose="020F0502020204030204" pitchFamily="34" charset="0"/>
          </a:endParaRPr>
        </a:p>
      </dgm:t>
    </dgm:pt>
    <dgm:pt modelId="{2D86A37F-5971-42B2-837F-2D59A4F94FF1}" type="parTrans" cxnId="{8DD2E9E2-EEF7-43B7-9522-F686BABF3593}">
      <dgm:prSet/>
      <dgm:spPr/>
      <dgm:t>
        <a:bodyPr/>
        <a:lstStyle/>
        <a:p>
          <a:endParaRPr lang="en-US" sz="1800">
            <a:latin typeface="Calibri" panose="020F0502020204030204" pitchFamily="34" charset="0"/>
            <a:cs typeface="Calibri" panose="020F0502020204030204" pitchFamily="34" charset="0"/>
          </a:endParaRPr>
        </a:p>
      </dgm:t>
    </dgm:pt>
    <dgm:pt modelId="{80DA5CE3-0225-431C-83A0-074A6FB2B81E}" type="sibTrans" cxnId="{8DD2E9E2-EEF7-43B7-9522-F686BABF3593}">
      <dgm:prSet/>
      <dgm:spPr/>
      <dgm:t>
        <a:bodyPr/>
        <a:lstStyle/>
        <a:p>
          <a:endParaRPr lang="en-US" sz="1800">
            <a:latin typeface="Calibri" panose="020F0502020204030204" pitchFamily="34" charset="0"/>
            <a:cs typeface="Calibri" panose="020F0502020204030204" pitchFamily="34" charset="0"/>
          </a:endParaRPr>
        </a:p>
      </dgm:t>
    </dgm:pt>
    <dgm:pt modelId="{088AFF1B-FBA2-4D6C-8532-0A8F3B7DFDFD}">
      <dgm:prSet phldrT="[Text]" custT="1"/>
      <dgm:spPr/>
      <dgm:t>
        <a:bodyPr/>
        <a:lstStyle/>
        <a:p>
          <a:r>
            <a:rPr lang="en-US" sz="1800" dirty="0">
              <a:latin typeface="Calibri" panose="020F0502020204030204" pitchFamily="34" charset="0"/>
              <a:cs typeface="Calibri" panose="020F0502020204030204" pitchFamily="34" charset="0"/>
            </a:rPr>
            <a:t>Short-term</a:t>
          </a:r>
        </a:p>
      </dgm:t>
    </dgm:pt>
    <dgm:pt modelId="{7951B12A-9C7B-4116-88E1-27B61589BF82}" type="parTrans" cxnId="{63F35248-4CD3-42C5-B0C0-CB501D58C91F}">
      <dgm:prSet/>
      <dgm:spPr/>
      <dgm:t>
        <a:bodyPr/>
        <a:lstStyle/>
        <a:p>
          <a:endParaRPr lang="en-US" sz="1800">
            <a:latin typeface="Calibri" panose="020F0502020204030204" pitchFamily="34" charset="0"/>
            <a:cs typeface="Calibri" panose="020F0502020204030204" pitchFamily="34" charset="0"/>
          </a:endParaRPr>
        </a:p>
      </dgm:t>
    </dgm:pt>
    <dgm:pt modelId="{738CF738-30A0-4C06-B23F-4D96C91D351E}" type="sibTrans" cxnId="{63F35248-4CD3-42C5-B0C0-CB501D58C91F}">
      <dgm:prSet/>
      <dgm:spPr/>
      <dgm:t>
        <a:bodyPr/>
        <a:lstStyle/>
        <a:p>
          <a:endParaRPr lang="en-US" sz="1800">
            <a:latin typeface="Calibri" panose="020F0502020204030204" pitchFamily="34" charset="0"/>
            <a:cs typeface="Calibri" panose="020F0502020204030204" pitchFamily="34" charset="0"/>
          </a:endParaRPr>
        </a:p>
      </dgm:t>
    </dgm:pt>
    <dgm:pt modelId="{452ACAB3-9D27-4678-9172-710766E2BB6D}">
      <dgm:prSet phldrT="[Text]" custT="1"/>
      <dgm:spPr/>
      <dgm:t>
        <a:bodyPr/>
        <a:lstStyle/>
        <a:p>
          <a:r>
            <a:rPr lang="en-US" sz="1800" dirty="0">
              <a:latin typeface="Calibri" panose="020F0502020204030204" pitchFamily="34" charset="0"/>
              <a:cs typeface="Calibri" panose="020F0502020204030204" pitchFamily="34" charset="0"/>
            </a:rPr>
            <a:t>Partial open access – Consumer retains contract demand with utility</a:t>
          </a:r>
        </a:p>
      </dgm:t>
    </dgm:pt>
    <dgm:pt modelId="{E518626F-8231-420B-B806-8EC8E9AC17CD}" type="parTrans" cxnId="{C187255A-0F3A-4B19-A688-2BEECC5D0529}">
      <dgm:prSet/>
      <dgm:spPr/>
      <dgm:t>
        <a:bodyPr/>
        <a:lstStyle/>
        <a:p>
          <a:endParaRPr lang="en-US" sz="1800">
            <a:latin typeface="Calibri" panose="020F0502020204030204" pitchFamily="34" charset="0"/>
            <a:cs typeface="Calibri" panose="020F0502020204030204" pitchFamily="34" charset="0"/>
          </a:endParaRPr>
        </a:p>
      </dgm:t>
    </dgm:pt>
    <dgm:pt modelId="{B594E574-7B69-439D-B0AE-A9B4D4618469}" type="sibTrans" cxnId="{C187255A-0F3A-4B19-A688-2BEECC5D0529}">
      <dgm:prSet/>
      <dgm:spPr/>
      <dgm:t>
        <a:bodyPr/>
        <a:lstStyle/>
        <a:p>
          <a:endParaRPr lang="en-US" sz="1800">
            <a:latin typeface="Calibri" panose="020F0502020204030204" pitchFamily="34" charset="0"/>
            <a:cs typeface="Calibri" panose="020F0502020204030204" pitchFamily="34" charset="0"/>
          </a:endParaRPr>
        </a:p>
      </dgm:t>
    </dgm:pt>
    <dgm:pt modelId="{090ACA01-2361-48D7-BA58-A38FC458E104}">
      <dgm:prSet phldrT="[Text]" custT="1"/>
      <dgm:spPr/>
      <dgm:t>
        <a:bodyPr/>
        <a:lstStyle/>
        <a:p>
          <a:r>
            <a:rPr lang="en-US" sz="1800" dirty="0">
              <a:latin typeface="Calibri" panose="020F0502020204030204" pitchFamily="34" charset="0"/>
              <a:cs typeface="Calibri" panose="020F0502020204030204" pitchFamily="34" charset="0"/>
            </a:rPr>
            <a:t>Captive – Power plant is fully or partially owned by the consumer</a:t>
          </a:r>
        </a:p>
      </dgm:t>
    </dgm:pt>
    <dgm:pt modelId="{B189FC8F-92CE-467B-BBE5-A1C4B1111B84}" type="parTrans" cxnId="{274181FF-4930-493C-BC9A-4990918D239C}">
      <dgm:prSet/>
      <dgm:spPr/>
      <dgm:t>
        <a:bodyPr/>
        <a:lstStyle/>
        <a:p>
          <a:endParaRPr lang="en-US" sz="1800">
            <a:latin typeface="Calibri" panose="020F0502020204030204" pitchFamily="34" charset="0"/>
            <a:cs typeface="Calibri" panose="020F0502020204030204" pitchFamily="34" charset="0"/>
          </a:endParaRPr>
        </a:p>
      </dgm:t>
    </dgm:pt>
    <dgm:pt modelId="{63BD12FF-F9FF-43CF-ACB2-D7FE6460B623}" type="sibTrans" cxnId="{274181FF-4930-493C-BC9A-4990918D239C}">
      <dgm:prSet/>
      <dgm:spPr/>
      <dgm:t>
        <a:bodyPr/>
        <a:lstStyle/>
        <a:p>
          <a:endParaRPr lang="en-US" sz="1800">
            <a:latin typeface="Calibri" panose="020F0502020204030204" pitchFamily="34" charset="0"/>
            <a:cs typeface="Calibri" panose="020F0502020204030204" pitchFamily="34" charset="0"/>
          </a:endParaRPr>
        </a:p>
      </dgm:t>
    </dgm:pt>
    <dgm:pt modelId="{6330B2A8-C18E-4545-8414-130009506514}">
      <dgm:prSet custT="1"/>
      <dgm:spPr/>
      <dgm:t>
        <a:bodyPr/>
        <a:lstStyle/>
        <a:p>
          <a:r>
            <a:rPr lang="en-US" sz="1800" dirty="0">
              <a:latin typeface="Calibri" panose="020F0502020204030204" pitchFamily="34" charset="0"/>
              <a:cs typeface="Calibri" panose="020F0502020204030204" pitchFamily="34" charset="0"/>
            </a:rPr>
            <a:t>Medium-term</a:t>
          </a:r>
        </a:p>
      </dgm:t>
    </dgm:pt>
    <dgm:pt modelId="{C194CED8-2121-4B81-AB6B-2829F72F9CB3}" type="parTrans" cxnId="{ACA9340B-0BA0-44C3-BD6C-8D726D462508}">
      <dgm:prSet/>
      <dgm:spPr/>
      <dgm:t>
        <a:bodyPr/>
        <a:lstStyle/>
        <a:p>
          <a:endParaRPr lang="en-US" sz="1800">
            <a:latin typeface="Calibri" panose="020F0502020204030204" pitchFamily="34" charset="0"/>
            <a:cs typeface="Calibri" panose="020F0502020204030204" pitchFamily="34" charset="0"/>
          </a:endParaRPr>
        </a:p>
      </dgm:t>
    </dgm:pt>
    <dgm:pt modelId="{196AE51A-7C53-4F53-BA5F-B3F225A3003C}" type="sibTrans" cxnId="{ACA9340B-0BA0-44C3-BD6C-8D726D462508}">
      <dgm:prSet/>
      <dgm:spPr/>
      <dgm:t>
        <a:bodyPr/>
        <a:lstStyle/>
        <a:p>
          <a:endParaRPr lang="en-US" sz="1800">
            <a:latin typeface="Calibri" panose="020F0502020204030204" pitchFamily="34" charset="0"/>
            <a:cs typeface="Calibri" panose="020F0502020204030204" pitchFamily="34" charset="0"/>
          </a:endParaRPr>
        </a:p>
      </dgm:t>
    </dgm:pt>
    <dgm:pt modelId="{2695D484-8978-4782-A55E-453F960021D3}">
      <dgm:prSet custT="1"/>
      <dgm:spPr/>
      <dgm:t>
        <a:bodyPr/>
        <a:lstStyle/>
        <a:p>
          <a:r>
            <a:rPr lang="en-US" sz="1800" dirty="0">
              <a:latin typeface="Calibri" panose="020F0502020204030204" pitchFamily="34" charset="0"/>
              <a:cs typeface="Calibri" panose="020F0502020204030204" pitchFamily="34" charset="0"/>
            </a:rPr>
            <a:t>Long-term</a:t>
          </a:r>
        </a:p>
      </dgm:t>
    </dgm:pt>
    <dgm:pt modelId="{D3E6E198-54A5-49AE-9A81-4EC9C5B350D8}" type="parTrans" cxnId="{A0531F11-9867-482C-A36C-808910D996DB}">
      <dgm:prSet/>
      <dgm:spPr/>
      <dgm:t>
        <a:bodyPr/>
        <a:lstStyle/>
        <a:p>
          <a:endParaRPr lang="en-US" sz="1800">
            <a:latin typeface="Calibri" panose="020F0502020204030204" pitchFamily="34" charset="0"/>
            <a:cs typeface="Calibri" panose="020F0502020204030204" pitchFamily="34" charset="0"/>
          </a:endParaRPr>
        </a:p>
      </dgm:t>
    </dgm:pt>
    <dgm:pt modelId="{63B0A132-134C-48D2-A350-93C0774B112A}" type="sibTrans" cxnId="{A0531F11-9867-482C-A36C-808910D996DB}">
      <dgm:prSet/>
      <dgm:spPr/>
      <dgm:t>
        <a:bodyPr/>
        <a:lstStyle/>
        <a:p>
          <a:endParaRPr lang="en-US" sz="1800">
            <a:latin typeface="Calibri" panose="020F0502020204030204" pitchFamily="34" charset="0"/>
            <a:cs typeface="Calibri" panose="020F0502020204030204" pitchFamily="34" charset="0"/>
          </a:endParaRPr>
        </a:p>
      </dgm:t>
    </dgm:pt>
    <dgm:pt modelId="{6E1CC214-8962-4A63-8FD3-A0632F5E3108}">
      <dgm:prSet custT="1"/>
      <dgm:spPr/>
      <dgm:t>
        <a:bodyPr/>
        <a:lstStyle/>
        <a:p>
          <a:r>
            <a:rPr lang="en-US" sz="1800" dirty="0">
              <a:latin typeface="Calibri" panose="020F0502020204030204" pitchFamily="34" charset="0"/>
              <a:cs typeface="Calibri" panose="020F0502020204030204" pitchFamily="34" charset="0"/>
            </a:rPr>
            <a:t>Full open access - Consumer does not have / does not retain a demand contract with the utility. A standby power support arrangement may be in place with the utility</a:t>
          </a:r>
        </a:p>
      </dgm:t>
    </dgm:pt>
    <dgm:pt modelId="{5695C8AE-EFB4-4D44-B8C5-54E4EDFD13EE}" type="parTrans" cxnId="{0F4DBE47-CF29-417C-9311-D7D46E3EDD03}">
      <dgm:prSet/>
      <dgm:spPr/>
      <dgm:t>
        <a:bodyPr/>
        <a:lstStyle/>
        <a:p>
          <a:endParaRPr lang="en-US" sz="1800">
            <a:latin typeface="Calibri" panose="020F0502020204030204" pitchFamily="34" charset="0"/>
            <a:cs typeface="Calibri" panose="020F0502020204030204" pitchFamily="34" charset="0"/>
          </a:endParaRPr>
        </a:p>
      </dgm:t>
    </dgm:pt>
    <dgm:pt modelId="{FC6FF4EB-E3EE-4A2D-8F1C-938A7B7A8FD9}" type="sibTrans" cxnId="{0F4DBE47-CF29-417C-9311-D7D46E3EDD03}">
      <dgm:prSet/>
      <dgm:spPr/>
      <dgm:t>
        <a:bodyPr/>
        <a:lstStyle/>
        <a:p>
          <a:endParaRPr lang="en-US" sz="1800">
            <a:latin typeface="Calibri" panose="020F0502020204030204" pitchFamily="34" charset="0"/>
            <a:cs typeface="Calibri" panose="020F0502020204030204" pitchFamily="34" charset="0"/>
          </a:endParaRPr>
        </a:p>
      </dgm:t>
    </dgm:pt>
    <dgm:pt modelId="{F8607D7E-F4B3-4EC0-A9D2-B6AEB99D4430}">
      <dgm:prSet custT="1"/>
      <dgm:spPr/>
      <dgm:t>
        <a:bodyPr/>
        <a:lstStyle/>
        <a:p>
          <a:r>
            <a:rPr lang="en-US" sz="1800" dirty="0">
              <a:latin typeface="Calibri" panose="020F0502020204030204" pitchFamily="34" charset="0"/>
              <a:cs typeface="Calibri" panose="020F0502020204030204" pitchFamily="34" charset="0"/>
            </a:rPr>
            <a:t>Third-party – Consumer does not have any ownership in the power plant</a:t>
          </a:r>
        </a:p>
      </dgm:t>
    </dgm:pt>
    <dgm:pt modelId="{955221FB-C70D-4C23-ADD5-E773752AA031}" type="parTrans" cxnId="{E9EFF6B0-B3C3-4528-AE26-1FACC99C52AB}">
      <dgm:prSet/>
      <dgm:spPr/>
      <dgm:t>
        <a:bodyPr/>
        <a:lstStyle/>
        <a:p>
          <a:endParaRPr lang="en-US" sz="1800">
            <a:latin typeface="Calibri" panose="020F0502020204030204" pitchFamily="34" charset="0"/>
            <a:cs typeface="Calibri" panose="020F0502020204030204" pitchFamily="34" charset="0"/>
          </a:endParaRPr>
        </a:p>
      </dgm:t>
    </dgm:pt>
    <dgm:pt modelId="{166E5F25-F0C9-4B97-B3E3-6FDE478415B5}" type="sibTrans" cxnId="{E9EFF6B0-B3C3-4528-AE26-1FACC99C52AB}">
      <dgm:prSet/>
      <dgm:spPr/>
      <dgm:t>
        <a:bodyPr/>
        <a:lstStyle/>
        <a:p>
          <a:endParaRPr lang="en-US" sz="1800">
            <a:latin typeface="Calibri" panose="020F0502020204030204" pitchFamily="34" charset="0"/>
            <a:cs typeface="Calibri" panose="020F0502020204030204" pitchFamily="34" charset="0"/>
          </a:endParaRPr>
        </a:p>
      </dgm:t>
    </dgm:pt>
    <dgm:pt modelId="{7CB5DC0D-5D49-466B-8D23-CA6B022AF3B5}" type="pres">
      <dgm:prSet presAssocID="{9162F0AC-6493-4AE5-A841-12A0D3216801}" presName="linear" presStyleCnt="0">
        <dgm:presLayoutVars>
          <dgm:dir/>
          <dgm:animLvl val="lvl"/>
          <dgm:resizeHandles val="exact"/>
        </dgm:presLayoutVars>
      </dgm:prSet>
      <dgm:spPr/>
    </dgm:pt>
    <dgm:pt modelId="{EBC9BB87-C708-4812-BF33-A78C5C7DFC59}" type="pres">
      <dgm:prSet presAssocID="{796966A4-D58E-43DC-A1DD-B713BDE1107E}" presName="parentLin" presStyleCnt="0"/>
      <dgm:spPr/>
    </dgm:pt>
    <dgm:pt modelId="{FD48595D-5787-4C28-8018-44A3F6B58FA7}" type="pres">
      <dgm:prSet presAssocID="{796966A4-D58E-43DC-A1DD-B713BDE1107E}" presName="parentLeftMargin" presStyleLbl="node1" presStyleIdx="0" presStyleCnt="3"/>
      <dgm:spPr/>
    </dgm:pt>
    <dgm:pt modelId="{AE0EB087-C4F4-403F-BA33-4FAB7E6E2D2E}" type="pres">
      <dgm:prSet presAssocID="{796966A4-D58E-43DC-A1DD-B713BDE1107E}" presName="parentText" presStyleLbl="node1" presStyleIdx="0" presStyleCnt="3">
        <dgm:presLayoutVars>
          <dgm:chMax val="0"/>
          <dgm:bulletEnabled val="1"/>
        </dgm:presLayoutVars>
      </dgm:prSet>
      <dgm:spPr/>
    </dgm:pt>
    <dgm:pt modelId="{39FD2987-2D7F-4E25-9C68-2DD57DA5F0FB}" type="pres">
      <dgm:prSet presAssocID="{796966A4-D58E-43DC-A1DD-B713BDE1107E}" presName="negativeSpace" presStyleCnt="0"/>
      <dgm:spPr/>
    </dgm:pt>
    <dgm:pt modelId="{F437B069-A8E2-41F7-B2B5-60BDE549B672}" type="pres">
      <dgm:prSet presAssocID="{796966A4-D58E-43DC-A1DD-B713BDE1107E}" presName="childText" presStyleLbl="conFgAcc1" presStyleIdx="0" presStyleCnt="3">
        <dgm:presLayoutVars>
          <dgm:bulletEnabled val="1"/>
        </dgm:presLayoutVars>
      </dgm:prSet>
      <dgm:spPr/>
    </dgm:pt>
    <dgm:pt modelId="{05381D36-5530-4CFF-8DD6-B52D74142507}" type="pres">
      <dgm:prSet presAssocID="{9AF5794C-D977-404D-92B1-B1B203512C24}" presName="spaceBetweenRectangles" presStyleCnt="0"/>
      <dgm:spPr/>
    </dgm:pt>
    <dgm:pt modelId="{77503FC6-C7C3-43BC-BED6-DA41167DEAB6}" type="pres">
      <dgm:prSet presAssocID="{1BEA5E8B-EFA0-43BD-97EB-F2FA5A4C2DCB}" presName="parentLin" presStyleCnt="0"/>
      <dgm:spPr/>
    </dgm:pt>
    <dgm:pt modelId="{79EBA78F-C88F-484B-AD57-D60CE40DF107}" type="pres">
      <dgm:prSet presAssocID="{1BEA5E8B-EFA0-43BD-97EB-F2FA5A4C2DCB}" presName="parentLeftMargin" presStyleLbl="node1" presStyleIdx="0" presStyleCnt="3"/>
      <dgm:spPr/>
    </dgm:pt>
    <dgm:pt modelId="{57383326-2A39-46F5-B901-B4C6D37AC9ED}" type="pres">
      <dgm:prSet presAssocID="{1BEA5E8B-EFA0-43BD-97EB-F2FA5A4C2DCB}" presName="parentText" presStyleLbl="node1" presStyleIdx="1" presStyleCnt="3">
        <dgm:presLayoutVars>
          <dgm:chMax val="0"/>
          <dgm:bulletEnabled val="1"/>
        </dgm:presLayoutVars>
      </dgm:prSet>
      <dgm:spPr/>
    </dgm:pt>
    <dgm:pt modelId="{D939DA8E-B70E-4897-B3C8-F376D9D90677}" type="pres">
      <dgm:prSet presAssocID="{1BEA5E8B-EFA0-43BD-97EB-F2FA5A4C2DCB}" presName="negativeSpace" presStyleCnt="0"/>
      <dgm:spPr/>
    </dgm:pt>
    <dgm:pt modelId="{06804F28-FAF5-452B-8AD3-68F5622E010A}" type="pres">
      <dgm:prSet presAssocID="{1BEA5E8B-EFA0-43BD-97EB-F2FA5A4C2DCB}" presName="childText" presStyleLbl="conFgAcc1" presStyleIdx="1" presStyleCnt="3">
        <dgm:presLayoutVars>
          <dgm:bulletEnabled val="1"/>
        </dgm:presLayoutVars>
      </dgm:prSet>
      <dgm:spPr/>
    </dgm:pt>
    <dgm:pt modelId="{5F4F5BAD-C761-4B76-B18C-62B3D24A10E3}" type="pres">
      <dgm:prSet presAssocID="{D3A1E6D9-0646-4FA9-BF63-18C65EB883EF}" presName="spaceBetweenRectangles" presStyleCnt="0"/>
      <dgm:spPr/>
    </dgm:pt>
    <dgm:pt modelId="{4E6E04A0-5B3B-4931-B5CB-322D32DDFFF5}" type="pres">
      <dgm:prSet presAssocID="{82FDE9D9-125E-4F5E-8C2E-05486853AEF7}" presName="parentLin" presStyleCnt="0"/>
      <dgm:spPr/>
    </dgm:pt>
    <dgm:pt modelId="{58546E1E-D43F-4140-A57F-0DBF8E24558A}" type="pres">
      <dgm:prSet presAssocID="{82FDE9D9-125E-4F5E-8C2E-05486853AEF7}" presName="parentLeftMargin" presStyleLbl="node1" presStyleIdx="1" presStyleCnt="3"/>
      <dgm:spPr/>
    </dgm:pt>
    <dgm:pt modelId="{BCB3594D-70DB-4250-9EFB-917CDC707732}" type="pres">
      <dgm:prSet presAssocID="{82FDE9D9-125E-4F5E-8C2E-05486853AEF7}" presName="parentText" presStyleLbl="node1" presStyleIdx="2" presStyleCnt="3">
        <dgm:presLayoutVars>
          <dgm:chMax val="0"/>
          <dgm:bulletEnabled val="1"/>
        </dgm:presLayoutVars>
      </dgm:prSet>
      <dgm:spPr/>
    </dgm:pt>
    <dgm:pt modelId="{EB77B6B4-2931-49DF-B109-756A8C76EFD4}" type="pres">
      <dgm:prSet presAssocID="{82FDE9D9-125E-4F5E-8C2E-05486853AEF7}" presName="negativeSpace" presStyleCnt="0"/>
      <dgm:spPr/>
    </dgm:pt>
    <dgm:pt modelId="{1EDEF3C8-25E8-446E-9322-DC11912B632E}" type="pres">
      <dgm:prSet presAssocID="{82FDE9D9-125E-4F5E-8C2E-05486853AEF7}" presName="childText" presStyleLbl="conFgAcc1" presStyleIdx="2" presStyleCnt="3">
        <dgm:presLayoutVars>
          <dgm:bulletEnabled val="1"/>
        </dgm:presLayoutVars>
      </dgm:prSet>
      <dgm:spPr/>
    </dgm:pt>
  </dgm:ptLst>
  <dgm:cxnLst>
    <dgm:cxn modelId="{89F56005-5DBF-4AE6-AB84-C0E23F042985}" type="presOf" srcId="{1BEA5E8B-EFA0-43BD-97EB-F2FA5A4C2DCB}" destId="{79EBA78F-C88F-484B-AD57-D60CE40DF107}" srcOrd="0" destOrd="0" presId="urn:microsoft.com/office/officeart/2005/8/layout/list1"/>
    <dgm:cxn modelId="{ACA9340B-0BA0-44C3-BD6C-8D726D462508}" srcId="{796966A4-D58E-43DC-A1DD-B713BDE1107E}" destId="{6330B2A8-C18E-4545-8414-130009506514}" srcOrd="1" destOrd="0" parTransId="{C194CED8-2121-4B81-AB6B-2829F72F9CB3}" sibTransId="{196AE51A-7C53-4F53-BA5F-B3F225A3003C}"/>
    <dgm:cxn modelId="{A0531F11-9867-482C-A36C-808910D996DB}" srcId="{796966A4-D58E-43DC-A1DD-B713BDE1107E}" destId="{2695D484-8978-4782-A55E-453F960021D3}" srcOrd="2" destOrd="0" parTransId="{D3E6E198-54A5-49AE-9A81-4EC9C5B350D8}" sibTransId="{63B0A132-134C-48D2-A350-93C0774B112A}"/>
    <dgm:cxn modelId="{ED2EA030-B4C4-4DEB-B83C-A31BDF10EF34}" type="presOf" srcId="{6E1CC214-8962-4A63-8FD3-A0632F5E3108}" destId="{06804F28-FAF5-452B-8AD3-68F5622E010A}" srcOrd="0" destOrd="1" presId="urn:microsoft.com/office/officeart/2005/8/layout/list1"/>
    <dgm:cxn modelId="{BE577E37-01A0-447B-B99A-A4048D9B2E89}" type="presOf" srcId="{088AFF1B-FBA2-4D6C-8532-0A8F3B7DFDFD}" destId="{F437B069-A8E2-41F7-B2B5-60BDE549B672}" srcOrd="0" destOrd="0" presId="urn:microsoft.com/office/officeart/2005/8/layout/list1"/>
    <dgm:cxn modelId="{13C58839-303A-4571-BC20-BC159591B61E}" type="presOf" srcId="{796966A4-D58E-43DC-A1DD-B713BDE1107E}" destId="{AE0EB087-C4F4-403F-BA33-4FAB7E6E2D2E}" srcOrd="1" destOrd="0" presId="urn:microsoft.com/office/officeart/2005/8/layout/list1"/>
    <dgm:cxn modelId="{96563666-6EC1-4AED-B940-69ED982B723F}" type="presOf" srcId="{82FDE9D9-125E-4F5E-8C2E-05486853AEF7}" destId="{BCB3594D-70DB-4250-9EFB-917CDC707732}" srcOrd="1" destOrd="0" presId="urn:microsoft.com/office/officeart/2005/8/layout/list1"/>
    <dgm:cxn modelId="{5D9DD546-D093-47B2-8DF5-0B7E76116376}" srcId="{9162F0AC-6493-4AE5-A841-12A0D3216801}" destId="{796966A4-D58E-43DC-A1DD-B713BDE1107E}" srcOrd="0" destOrd="0" parTransId="{F93A63ED-1EA8-40C3-B78F-54AB6FA3E0C6}" sibTransId="{9AF5794C-D977-404D-92B1-B1B203512C24}"/>
    <dgm:cxn modelId="{0F4DBE47-CF29-417C-9311-D7D46E3EDD03}" srcId="{1BEA5E8B-EFA0-43BD-97EB-F2FA5A4C2DCB}" destId="{6E1CC214-8962-4A63-8FD3-A0632F5E3108}" srcOrd="1" destOrd="0" parTransId="{5695C8AE-EFB4-4D44-B8C5-54E4EDFD13EE}" sibTransId="{FC6FF4EB-E3EE-4A2D-8F1C-938A7B7A8FD9}"/>
    <dgm:cxn modelId="{63F35248-4CD3-42C5-B0C0-CB501D58C91F}" srcId="{796966A4-D58E-43DC-A1DD-B713BDE1107E}" destId="{088AFF1B-FBA2-4D6C-8532-0A8F3B7DFDFD}" srcOrd="0" destOrd="0" parTransId="{7951B12A-9C7B-4116-88E1-27B61589BF82}" sibTransId="{738CF738-30A0-4C06-B23F-4D96C91D351E}"/>
    <dgm:cxn modelId="{968B3A4E-6F5D-46DC-913D-4C810827D0DD}" type="presOf" srcId="{090ACA01-2361-48D7-BA58-A38FC458E104}" destId="{1EDEF3C8-25E8-446E-9322-DC11912B632E}" srcOrd="0" destOrd="0" presId="urn:microsoft.com/office/officeart/2005/8/layout/list1"/>
    <dgm:cxn modelId="{C187255A-0F3A-4B19-A688-2BEECC5D0529}" srcId="{1BEA5E8B-EFA0-43BD-97EB-F2FA5A4C2DCB}" destId="{452ACAB3-9D27-4678-9172-710766E2BB6D}" srcOrd="0" destOrd="0" parTransId="{E518626F-8231-420B-B806-8EC8E9AC17CD}" sibTransId="{B594E574-7B69-439D-B0AE-A9B4D4618469}"/>
    <dgm:cxn modelId="{4E437E7B-9519-45A2-8EE3-A253B37A83BB}" type="presOf" srcId="{2695D484-8978-4782-A55E-453F960021D3}" destId="{F437B069-A8E2-41F7-B2B5-60BDE549B672}" srcOrd="0" destOrd="2" presId="urn:microsoft.com/office/officeart/2005/8/layout/list1"/>
    <dgm:cxn modelId="{B4E14293-9F2F-446F-82F4-07A154DD231D}" type="presOf" srcId="{1BEA5E8B-EFA0-43BD-97EB-F2FA5A4C2DCB}" destId="{57383326-2A39-46F5-B901-B4C6D37AC9ED}" srcOrd="1" destOrd="0" presId="urn:microsoft.com/office/officeart/2005/8/layout/list1"/>
    <dgm:cxn modelId="{F0C98FAC-4B71-4FDE-990C-307A7D9D9203}" type="presOf" srcId="{82FDE9D9-125E-4F5E-8C2E-05486853AEF7}" destId="{58546E1E-D43F-4140-A57F-0DBF8E24558A}" srcOrd="0" destOrd="0" presId="urn:microsoft.com/office/officeart/2005/8/layout/list1"/>
    <dgm:cxn modelId="{B20592AC-A327-4BCB-9681-747B6175CCE8}" srcId="{9162F0AC-6493-4AE5-A841-12A0D3216801}" destId="{1BEA5E8B-EFA0-43BD-97EB-F2FA5A4C2DCB}" srcOrd="1" destOrd="0" parTransId="{4DFC04DC-48C7-4C40-8885-4AD612A43B8E}" sibTransId="{D3A1E6D9-0646-4FA9-BF63-18C65EB883EF}"/>
    <dgm:cxn modelId="{E9EFF6B0-B3C3-4528-AE26-1FACC99C52AB}" srcId="{82FDE9D9-125E-4F5E-8C2E-05486853AEF7}" destId="{F8607D7E-F4B3-4EC0-A9D2-B6AEB99D4430}" srcOrd="1" destOrd="0" parTransId="{955221FB-C70D-4C23-ADD5-E773752AA031}" sibTransId="{166E5F25-F0C9-4B97-B3E3-6FDE478415B5}"/>
    <dgm:cxn modelId="{35F56DB5-D10D-4B49-9E6C-48D72F1900A5}" type="presOf" srcId="{6330B2A8-C18E-4545-8414-130009506514}" destId="{F437B069-A8E2-41F7-B2B5-60BDE549B672}" srcOrd="0" destOrd="1" presId="urn:microsoft.com/office/officeart/2005/8/layout/list1"/>
    <dgm:cxn modelId="{B7E335CF-707C-40DD-A2CB-1E66E04DE9F7}" type="presOf" srcId="{796966A4-D58E-43DC-A1DD-B713BDE1107E}" destId="{FD48595D-5787-4C28-8018-44A3F6B58FA7}" srcOrd="0" destOrd="0" presId="urn:microsoft.com/office/officeart/2005/8/layout/list1"/>
    <dgm:cxn modelId="{F73CD4CF-C0E4-4D75-8352-2D1C36B6CABD}" type="presOf" srcId="{9162F0AC-6493-4AE5-A841-12A0D3216801}" destId="{7CB5DC0D-5D49-466B-8D23-CA6B022AF3B5}" srcOrd="0" destOrd="0" presId="urn:microsoft.com/office/officeart/2005/8/layout/list1"/>
    <dgm:cxn modelId="{4FCBB8E2-D392-45A0-BE12-40DF123DBCA6}" type="presOf" srcId="{452ACAB3-9D27-4678-9172-710766E2BB6D}" destId="{06804F28-FAF5-452B-8AD3-68F5622E010A}" srcOrd="0" destOrd="0" presId="urn:microsoft.com/office/officeart/2005/8/layout/list1"/>
    <dgm:cxn modelId="{8DD2E9E2-EEF7-43B7-9522-F686BABF3593}" srcId="{9162F0AC-6493-4AE5-A841-12A0D3216801}" destId="{82FDE9D9-125E-4F5E-8C2E-05486853AEF7}" srcOrd="2" destOrd="0" parTransId="{2D86A37F-5971-42B2-837F-2D59A4F94FF1}" sibTransId="{80DA5CE3-0225-431C-83A0-074A6FB2B81E}"/>
    <dgm:cxn modelId="{7BE20FF6-DA29-497C-B09B-2274F1AC565F}" type="presOf" srcId="{F8607D7E-F4B3-4EC0-A9D2-B6AEB99D4430}" destId="{1EDEF3C8-25E8-446E-9322-DC11912B632E}" srcOrd="0" destOrd="1" presId="urn:microsoft.com/office/officeart/2005/8/layout/list1"/>
    <dgm:cxn modelId="{274181FF-4930-493C-BC9A-4990918D239C}" srcId="{82FDE9D9-125E-4F5E-8C2E-05486853AEF7}" destId="{090ACA01-2361-48D7-BA58-A38FC458E104}" srcOrd="0" destOrd="0" parTransId="{B189FC8F-92CE-467B-BBE5-A1C4B1111B84}" sibTransId="{63BD12FF-F9FF-43CF-ACB2-D7FE6460B623}"/>
    <dgm:cxn modelId="{69AD30DD-46BA-4945-BE88-9EBFF09DF2D7}" type="presParOf" srcId="{7CB5DC0D-5D49-466B-8D23-CA6B022AF3B5}" destId="{EBC9BB87-C708-4812-BF33-A78C5C7DFC59}" srcOrd="0" destOrd="0" presId="urn:microsoft.com/office/officeart/2005/8/layout/list1"/>
    <dgm:cxn modelId="{85584232-C3BB-48EE-B369-5AF60CC03203}" type="presParOf" srcId="{EBC9BB87-C708-4812-BF33-A78C5C7DFC59}" destId="{FD48595D-5787-4C28-8018-44A3F6B58FA7}" srcOrd="0" destOrd="0" presId="urn:microsoft.com/office/officeart/2005/8/layout/list1"/>
    <dgm:cxn modelId="{B5DEC632-DFE8-48D0-AC76-4C27954CA59F}" type="presParOf" srcId="{EBC9BB87-C708-4812-BF33-A78C5C7DFC59}" destId="{AE0EB087-C4F4-403F-BA33-4FAB7E6E2D2E}" srcOrd="1" destOrd="0" presId="urn:microsoft.com/office/officeart/2005/8/layout/list1"/>
    <dgm:cxn modelId="{06B318F1-EAFB-4084-8519-910118EBBEB7}" type="presParOf" srcId="{7CB5DC0D-5D49-466B-8D23-CA6B022AF3B5}" destId="{39FD2987-2D7F-4E25-9C68-2DD57DA5F0FB}" srcOrd="1" destOrd="0" presId="urn:microsoft.com/office/officeart/2005/8/layout/list1"/>
    <dgm:cxn modelId="{D5DDD488-895C-42F8-A050-C9BBDBE20684}" type="presParOf" srcId="{7CB5DC0D-5D49-466B-8D23-CA6B022AF3B5}" destId="{F437B069-A8E2-41F7-B2B5-60BDE549B672}" srcOrd="2" destOrd="0" presId="urn:microsoft.com/office/officeart/2005/8/layout/list1"/>
    <dgm:cxn modelId="{592F0C76-BFF5-4DA6-B24C-7B85C0434AB4}" type="presParOf" srcId="{7CB5DC0D-5D49-466B-8D23-CA6B022AF3B5}" destId="{05381D36-5530-4CFF-8DD6-B52D74142507}" srcOrd="3" destOrd="0" presId="urn:microsoft.com/office/officeart/2005/8/layout/list1"/>
    <dgm:cxn modelId="{1AC261D6-ADCB-4D8A-9A4F-E91A9A39A20F}" type="presParOf" srcId="{7CB5DC0D-5D49-466B-8D23-CA6B022AF3B5}" destId="{77503FC6-C7C3-43BC-BED6-DA41167DEAB6}" srcOrd="4" destOrd="0" presId="urn:microsoft.com/office/officeart/2005/8/layout/list1"/>
    <dgm:cxn modelId="{1C02F647-8BD9-4ACA-B75F-A4029DA414AB}" type="presParOf" srcId="{77503FC6-C7C3-43BC-BED6-DA41167DEAB6}" destId="{79EBA78F-C88F-484B-AD57-D60CE40DF107}" srcOrd="0" destOrd="0" presId="urn:microsoft.com/office/officeart/2005/8/layout/list1"/>
    <dgm:cxn modelId="{971DCBFC-B1E3-417E-8165-05FCF647D2C4}" type="presParOf" srcId="{77503FC6-C7C3-43BC-BED6-DA41167DEAB6}" destId="{57383326-2A39-46F5-B901-B4C6D37AC9ED}" srcOrd="1" destOrd="0" presId="urn:microsoft.com/office/officeart/2005/8/layout/list1"/>
    <dgm:cxn modelId="{68EB39B5-8F88-4DB4-929A-257343707860}" type="presParOf" srcId="{7CB5DC0D-5D49-466B-8D23-CA6B022AF3B5}" destId="{D939DA8E-B70E-4897-B3C8-F376D9D90677}" srcOrd="5" destOrd="0" presId="urn:microsoft.com/office/officeart/2005/8/layout/list1"/>
    <dgm:cxn modelId="{9804972D-0573-4C2C-83B1-1F0DB3D3673D}" type="presParOf" srcId="{7CB5DC0D-5D49-466B-8D23-CA6B022AF3B5}" destId="{06804F28-FAF5-452B-8AD3-68F5622E010A}" srcOrd="6" destOrd="0" presId="urn:microsoft.com/office/officeart/2005/8/layout/list1"/>
    <dgm:cxn modelId="{585E87FF-EEF3-4ED9-8F2D-320DCBA6355B}" type="presParOf" srcId="{7CB5DC0D-5D49-466B-8D23-CA6B022AF3B5}" destId="{5F4F5BAD-C761-4B76-B18C-62B3D24A10E3}" srcOrd="7" destOrd="0" presId="urn:microsoft.com/office/officeart/2005/8/layout/list1"/>
    <dgm:cxn modelId="{81430B2D-A4F9-42F3-856D-11C1073BF185}" type="presParOf" srcId="{7CB5DC0D-5D49-466B-8D23-CA6B022AF3B5}" destId="{4E6E04A0-5B3B-4931-B5CB-322D32DDFFF5}" srcOrd="8" destOrd="0" presId="urn:microsoft.com/office/officeart/2005/8/layout/list1"/>
    <dgm:cxn modelId="{A11FD305-836D-4B5C-AAC3-F49F8B4EE907}" type="presParOf" srcId="{4E6E04A0-5B3B-4931-B5CB-322D32DDFFF5}" destId="{58546E1E-D43F-4140-A57F-0DBF8E24558A}" srcOrd="0" destOrd="0" presId="urn:microsoft.com/office/officeart/2005/8/layout/list1"/>
    <dgm:cxn modelId="{9AF5A405-B788-4492-9EFC-26ABB47B8D0F}" type="presParOf" srcId="{4E6E04A0-5B3B-4931-B5CB-322D32DDFFF5}" destId="{BCB3594D-70DB-4250-9EFB-917CDC707732}" srcOrd="1" destOrd="0" presId="urn:microsoft.com/office/officeart/2005/8/layout/list1"/>
    <dgm:cxn modelId="{D76B844B-70AA-46D8-A64A-DCDDAB9FCA18}" type="presParOf" srcId="{7CB5DC0D-5D49-466B-8D23-CA6B022AF3B5}" destId="{EB77B6B4-2931-49DF-B109-756A8C76EFD4}" srcOrd="9" destOrd="0" presId="urn:microsoft.com/office/officeart/2005/8/layout/list1"/>
    <dgm:cxn modelId="{BB6B658B-5021-4CB1-89B9-09D977AD7C76}" type="presParOf" srcId="{7CB5DC0D-5D49-466B-8D23-CA6B022AF3B5}" destId="{1EDEF3C8-25E8-446E-9322-DC11912B632E}" srcOrd="10" destOrd="0" presId="urn:microsoft.com/office/officeart/2005/8/layout/lis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C39D05C-2992-4A89-864C-073A3B012212}"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US"/>
        </a:p>
      </dgm:t>
    </dgm:pt>
    <dgm:pt modelId="{ADA08AE8-D444-43B8-9B4A-A42EBB772169}">
      <dgm:prSet custT="1"/>
      <dgm:spPr/>
      <dgm:t>
        <a:bodyPr/>
        <a:lstStyle/>
        <a:p>
          <a:r>
            <a:rPr lang="en-US" sz="1800" b="1" dirty="0">
              <a:latin typeface="Calibri" panose="020F0502020204030204" pitchFamily="34" charset="0"/>
              <a:cs typeface="Calibri" panose="020F0502020204030204" pitchFamily="34" charset="0"/>
            </a:rPr>
            <a:t>Power Services Regulations Act 2016</a:t>
          </a:r>
          <a:r>
            <a:rPr lang="en-US" sz="1800" dirty="0">
              <a:latin typeface="Calibri" panose="020F0502020204030204" pitchFamily="34" charset="0"/>
              <a:cs typeface="Calibri" panose="020F0502020204030204" pitchFamily="34" charset="0"/>
            </a:rPr>
            <a:t> establishes the Afghanistan Electricity Regulatory Authority (AERA), defining its powers and duties.</a:t>
          </a:r>
        </a:p>
      </dgm:t>
    </dgm:pt>
    <dgm:pt modelId="{844849A8-7B32-400B-B7E5-952E9084D4F7}" type="parTrans" cxnId="{173EFFF9-4CD2-490C-8D83-14ACF9AE97C1}">
      <dgm:prSet/>
      <dgm:spPr/>
      <dgm:t>
        <a:bodyPr/>
        <a:lstStyle/>
        <a:p>
          <a:endParaRPr lang="en-US" sz="1800">
            <a:latin typeface="Calibri" panose="020F0502020204030204" pitchFamily="34" charset="0"/>
            <a:cs typeface="Calibri" panose="020F0502020204030204" pitchFamily="34" charset="0"/>
          </a:endParaRPr>
        </a:p>
      </dgm:t>
    </dgm:pt>
    <dgm:pt modelId="{C13696FE-C463-4D98-804C-39FB35964D53}" type="sibTrans" cxnId="{173EFFF9-4CD2-490C-8D83-14ACF9AE97C1}">
      <dgm:prSet/>
      <dgm:spPr/>
      <dgm:t>
        <a:bodyPr/>
        <a:lstStyle/>
        <a:p>
          <a:endParaRPr lang="en-US" sz="1800">
            <a:latin typeface="Calibri" panose="020F0502020204030204" pitchFamily="34" charset="0"/>
            <a:cs typeface="Calibri" panose="020F0502020204030204" pitchFamily="34" charset="0"/>
          </a:endParaRPr>
        </a:p>
      </dgm:t>
    </dgm:pt>
    <dgm:pt modelId="{0B7BFBEE-4E7F-4ECD-8D1A-16C07CCE6F01}">
      <dgm:prSet custT="1"/>
      <dgm:spPr/>
      <dgm:t>
        <a:bodyPr/>
        <a:lstStyle/>
        <a:p>
          <a:r>
            <a:rPr lang="en-US" sz="1800" dirty="0">
              <a:latin typeface="Calibri" panose="020F0502020204030204" pitchFamily="34" charset="0"/>
              <a:cs typeface="Calibri" panose="020F0502020204030204" pitchFamily="34" charset="0"/>
            </a:rPr>
            <a:t>Covers licensing, technical standards, network interconnection, access, etc.</a:t>
          </a:r>
        </a:p>
      </dgm:t>
    </dgm:pt>
    <dgm:pt modelId="{67D972A6-5EB5-494A-851C-31ACACBE469E}" type="parTrans" cxnId="{583A8633-C71B-450E-90CD-CF0BE724FE83}">
      <dgm:prSet/>
      <dgm:spPr/>
      <dgm:t>
        <a:bodyPr/>
        <a:lstStyle/>
        <a:p>
          <a:endParaRPr lang="en-US" sz="1800">
            <a:latin typeface="Calibri" panose="020F0502020204030204" pitchFamily="34" charset="0"/>
            <a:cs typeface="Calibri" panose="020F0502020204030204" pitchFamily="34" charset="0"/>
          </a:endParaRPr>
        </a:p>
      </dgm:t>
    </dgm:pt>
    <dgm:pt modelId="{46BFE980-0E23-48BD-8A22-98AC0454CFF7}" type="sibTrans" cxnId="{583A8633-C71B-450E-90CD-CF0BE724FE83}">
      <dgm:prSet/>
      <dgm:spPr/>
      <dgm:t>
        <a:bodyPr/>
        <a:lstStyle/>
        <a:p>
          <a:endParaRPr lang="en-US" sz="1800">
            <a:latin typeface="Calibri" panose="020F0502020204030204" pitchFamily="34" charset="0"/>
            <a:cs typeface="Calibri" panose="020F0502020204030204" pitchFamily="34" charset="0"/>
          </a:endParaRPr>
        </a:p>
      </dgm:t>
    </dgm:pt>
    <dgm:pt modelId="{1BFD3CA4-4108-4E8E-9C24-8033547E550C}">
      <dgm:prSet custT="1"/>
      <dgm:spPr/>
      <dgm:t>
        <a:bodyPr/>
        <a:lstStyle/>
        <a:p>
          <a:r>
            <a:rPr lang="en-US" sz="1800" dirty="0">
              <a:latin typeface="Calibri" panose="020F0502020204030204" pitchFamily="34" charset="0"/>
              <a:cs typeface="Calibri" panose="020F0502020204030204" pitchFamily="34" charset="0"/>
            </a:rPr>
            <a:t>Mandates AERA to regulate cross-border electricity exchanges, aligning with international agreements.</a:t>
          </a:r>
        </a:p>
      </dgm:t>
    </dgm:pt>
    <dgm:pt modelId="{03786833-746F-4BF0-ADBA-B3D705285E88}" type="parTrans" cxnId="{A726C69A-8612-485F-BE41-13CCDB63B397}">
      <dgm:prSet/>
      <dgm:spPr/>
      <dgm:t>
        <a:bodyPr/>
        <a:lstStyle/>
        <a:p>
          <a:endParaRPr lang="en-US" sz="1800">
            <a:latin typeface="Calibri" panose="020F0502020204030204" pitchFamily="34" charset="0"/>
            <a:cs typeface="Calibri" panose="020F0502020204030204" pitchFamily="34" charset="0"/>
          </a:endParaRPr>
        </a:p>
      </dgm:t>
    </dgm:pt>
    <dgm:pt modelId="{7DE415ED-C1AF-49EE-8A53-2BFA2C2B109C}" type="sibTrans" cxnId="{A726C69A-8612-485F-BE41-13CCDB63B397}">
      <dgm:prSet/>
      <dgm:spPr/>
      <dgm:t>
        <a:bodyPr/>
        <a:lstStyle/>
        <a:p>
          <a:endParaRPr lang="en-US" sz="1800">
            <a:latin typeface="Calibri" panose="020F0502020204030204" pitchFamily="34" charset="0"/>
            <a:cs typeface="Calibri" panose="020F0502020204030204" pitchFamily="34" charset="0"/>
          </a:endParaRPr>
        </a:p>
      </dgm:t>
    </dgm:pt>
    <dgm:pt modelId="{BB622CC0-4321-4ACD-88F7-A2F2B2B25FB5}">
      <dgm:prSet custT="1"/>
      <dgm:spPr/>
      <dgm:t>
        <a:bodyPr/>
        <a:lstStyle/>
        <a:p>
          <a:r>
            <a:rPr lang="en-US" sz="1800" dirty="0">
              <a:latin typeface="Calibri" panose="020F0502020204030204" pitchFamily="34" charset="0"/>
              <a:cs typeface="Calibri" panose="020F0502020204030204" pitchFamily="34" charset="0"/>
            </a:rPr>
            <a:t>Requires transmission licensees to provide fair, nondiscriminatory access and tariffs to all users.</a:t>
          </a:r>
        </a:p>
      </dgm:t>
    </dgm:pt>
    <dgm:pt modelId="{1AFEF947-577E-4E83-B01B-D0F6298694D7}" type="parTrans" cxnId="{EE0A173C-9585-4680-A3FD-3F4B28BB1849}">
      <dgm:prSet/>
      <dgm:spPr/>
      <dgm:t>
        <a:bodyPr/>
        <a:lstStyle/>
        <a:p>
          <a:endParaRPr lang="en-US" sz="1800">
            <a:latin typeface="Calibri" panose="020F0502020204030204" pitchFamily="34" charset="0"/>
            <a:cs typeface="Calibri" panose="020F0502020204030204" pitchFamily="34" charset="0"/>
          </a:endParaRPr>
        </a:p>
      </dgm:t>
    </dgm:pt>
    <dgm:pt modelId="{980E9052-B1DB-446A-823C-60FB5CF9FCF9}" type="sibTrans" cxnId="{EE0A173C-9585-4680-A3FD-3F4B28BB1849}">
      <dgm:prSet/>
      <dgm:spPr/>
      <dgm:t>
        <a:bodyPr/>
        <a:lstStyle/>
        <a:p>
          <a:endParaRPr lang="en-US" sz="1800">
            <a:latin typeface="Calibri" panose="020F0502020204030204" pitchFamily="34" charset="0"/>
            <a:cs typeface="Calibri" panose="020F0502020204030204" pitchFamily="34" charset="0"/>
          </a:endParaRPr>
        </a:p>
      </dgm:t>
    </dgm:pt>
    <dgm:pt modelId="{5F4DECB0-871E-4899-8AA3-FE967958657E}">
      <dgm:prSet custT="1"/>
      <dgm:spPr/>
      <dgm:t>
        <a:bodyPr/>
        <a:lstStyle/>
        <a:p>
          <a:r>
            <a:rPr lang="en-US" sz="1800" dirty="0">
              <a:latin typeface="Calibri" panose="020F0502020204030204" pitchFamily="34" charset="0"/>
              <a:cs typeface="Calibri" panose="020F0502020204030204" pitchFamily="34" charset="0"/>
            </a:rPr>
            <a:t>No current regulations for Open Access (OA) on transmission and distribution networks.</a:t>
          </a:r>
        </a:p>
      </dgm:t>
    </dgm:pt>
    <dgm:pt modelId="{552E3986-43F1-4BCC-88F3-5FD0375646DF}" type="parTrans" cxnId="{B4D1BC96-8D71-4CC3-B635-DEFDC1FD275C}">
      <dgm:prSet/>
      <dgm:spPr/>
      <dgm:t>
        <a:bodyPr/>
        <a:lstStyle/>
        <a:p>
          <a:endParaRPr lang="en-US" sz="1800">
            <a:latin typeface="Calibri" panose="020F0502020204030204" pitchFamily="34" charset="0"/>
            <a:cs typeface="Calibri" panose="020F0502020204030204" pitchFamily="34" charset="0"/>
          </a:endParaRPr>
        </a:p>
      </dgm:t>
    </dgm:pt>
    <dgm:pt modelId="{BCF0E94E-998F-463F-839C-DB19D57F27F3}" type="sibTrans" cxnId="{B4D1BC96-8D71-4CC3-B635-DEFDC1FD275C}">
      <dgm:prSet/>
      <dgm:spPr/>
      <dgm:t>
        <a:bodyPr/>
        <a:lstStyle/>
        <a:p>
          <a:endParaRPr lang="en-US" sz="1800">
            <a:latin typeface="Calibri" panose="020F0502020204030204" pitchFamily="34" charset="0"/>
            <a:cs typeface="Calibri" panose="020F0502020204030204" pitchFamily="34" charset="0"/>
          </a:endParaRPr>
        </a:p>
      </dgm:t>
    </dgm:pt>
    <dgm:pt modelId="{3FBCFA0E-BD6F-4E92-9CC3-669C8B8B3536}">
      <dgm:prSet custT="1"/>
      <dgm:spPr/>
      <dgm:t>
        <a:bodyPr/>
        <a:lstStyle/>
        <a:p>
          <a:r>
            <a:rPr lang="en-US" sz="1800" dirty="0">
              <a:latin typeface="Calibri" panose="020F0502020204030204" pitchFamily="34" charset="0"/>
              <a:cs typeface="Calibri" panose="020F0502020204030204" pitchFamily="34" charset="0"/>
            </a:rPr>
            <a:t>OA mechanism elements (e.g., metering code, energy accounting, transmission pricing, grid code) remain unspecified. </a:t>
          </a:r>
        </a:p>
      </dgm:t>
    </dgm:pt>
    <dgm:pt modelId="{80974D0D-07D9-47AC-A5B3-F8CDCACFF497}" type="parTrans" cxnId="{13192EA4-0DFA-414F-BFE4-3FD0DA4A16DC}">
      <dgm:prSet/>
      <dgm:spPr/>
      <dgm:t>
        <a:bodyPr/>
        <a:lstStyle/>
        <a:p>
          <a:endParaRPr lang="en-US" sz="1800">
            <a:latin typeface="Calibri" panose="020F0502020204030204" pitchFamily="34" charset="0"/>
            <a:cs typeface="Calibri" panose="020F0502020204030204" pitchFamily="34" charset="0"/>
          </a:endParaRPr>
        </a:p>
      </dgm:t>
    </dgm:pt>
    <dgm:pt modelId="{2E85AFF0-64F5-4019-8558-483F50190D3F}" type="sibTrans" cxnId="{13192EA4-0DFA-414F-BFE4-3FD0DA4A16DC}">
      <dgm:prSet/>
      <dgm:spPr/>
      <dgm:t>
        <a:bodyPr/>
        <a:lstStyle/>
        <a:p>
          <a:endParaRPr lang="en-US" sz="1800">
            <a:latin typeface="Calibri" panose="020F0502020204030204" pitchFamily="34" charset="0"/>
            <a:cs typeface="Calibri" panose="020F0502020204030204" pitchFamily="34" charset="0"/>
          </a:endParaRPr>
        </a:p>
      </dgm:t>
    </dgm:pt>
    <dgm:pt modelId="{EF5CB545-DB0F-41A5-8470-45E57E6AB139}" type="pres">
      <dgm:prSet presAssocID="{4C39D05C-2992-4A89-864C-073A3B012212}" presName="linear" presStyleCnt="0">
        <dgm:presLayoutVars>
          <dgm:animLvl val="lvl"/>
          <dgm:resizeHandles val="exact"/>
        </dgm:presLayoutVars>
      </dgm:prSet>
      <dgm:spPr/>
    </dgm:pt>
    <dgm:pt modelId="{5BDD9D91-E5B9-4C14-8179-FE2D64C6619A}" type="pres">
      <dgm:prSet presAssocID="{ADA08AE8-D444-43B8-9B4A-A42EBB772169}" presName="parentText" presStyleLbl="node1" presStyleIdx="0" presStyleCnt="6">
        <dgm:presLayoutVars>
          <dgm:chMax val="0"/>
          <dgm:bulletEnabled val="1"/>
        </dgm:presLayoutVars>
      </dgm:prSet>
      <dgm:spPr/>
    </dgm:pt>
    <dgm:pt modelId="{52C82A5C-3804-4E87-8D66-1D3E6AFE9E85}" type="pres">
      <dgm:prSet presAssocID="{C13696FE-C463-4D98-804C-39FB35964D53}" presName="spacer" presStyleCnt="0"/>
      <dgm:spPr/>
    </dgm:pt>
    <dgm:pt modelId="{9A14A703-469B-4BBB-8E0B-AE3F31A063E3}" type="pres">
      <dgm:prSet presAssocID="{0B7BFBEE-4E7F-4ECD-8D1A-16C07CCE6F01}" presName="parentText" presStyleLbl="node1" presStyleIdx="1" presStyleCnt="6">
        <dgm:presLayoutVars>
          <dgm:chMax val="0"/>
          <dgm:bulletEnabled val="1"/>
        </dgm:presLayoutVars>
      </dgm:prSet>
      <dgm:spPr/>
    </dgm:pt>
    <dgm:pt modelId="{CEB43F1F-21C7-46B2-AFB2-0D580552F050}" type="pres">
      <dgm:prSet presAssocID="{46BFE980-0E23-48BD-8A22-98AC0454CFF7}" presName="spacer" presStyleCnt="0"/>
      <dgm:spPr/>
    </dgm:pt>
    <dgm:pt modelId="{9659B6B3-CC57-4D5E-AD11-70F9115EF5E9}" type="pres">
      <dgm:prSet presAssocID="{1BFD3CA4-4108-4E8E-9C24-8033547E550C}" presName="parentText" presStyleLbl="node1" presStyleIdx="2" presStyleCnt="6">
        <dgm:presLayoutVars>
          <dgm:chMax val="0"/>
          <dgm:bulletEnabled val="1"/>
        </dgm:presLayoutVars>
      </dgm:prSet>
      <dgm:spPr/>
    </dgm:pt>
    <dgm:pt modelId="{245B747B-EE72-4685-BBC5-2B5A211E046C}" type="pres">
      <dgm:prSet presAssocID="{7DE415ED-C1AF-49EE-8A53-2BFA2C2B109C}" presName="spacer" presStyleCnt="0"/>
      <dgm:spPr/>
    </dgm:pt>
    <dgm:pt modelId="{1168A99C-0228-4DC8-98A8-0DDA15BE05B0}" type="pres">
      <dgm:prSet presAssocID="{BB622CC0-4321-4ACD-88F7-A2F2B2B25FB5}" presName="parentText" presStyleLbl="node1" presStyleIdx="3" presStyleCnt="6">
        <dgm:presLayoutVars>
          <dgm:chMax val="0"/>
          <dgm:bulletEnabled val="1"/>
        </dgm:presLayoutVars>
      </dgm:prSet>
      <dgm:spPr/>
    </dgm:pt>
    <dgm:pt modelId="{B7238095-476A-40B5-A1E4-80558E0A3D83}" type="pres">
      <dgm:prSet presAssocID="{980E9052-B1DB-446A-823C-60FB5CF9FCF9}" presName="spacer" presStyleCnt="0"/>
      <dgm:spPr/>
    </dgm:pt>
    <dgm:pt modelId="{E50068DA-96BB-4B17-88FF-78BC036232A3}" type="pres">
      <dgm:prSet presAssocID="{5F4DECB0-871E-4899-8AA3-FE967958657E}" presName="parentText" presStyleLbl="node1" presStyleIdx="4" presStyleCnt="6">
        <dgm:presLayoutVars>
          <dgm:chMax val="0"/>
          <dgm:bulletEnabled val="1"/>
        </dgm:presLayoutVars>
      </dgm:prSet>
      <dgm:spPr/>
    </dgm:pt>
    <dgm:pt modelId="{99E2136D-E149-40DD-B5B2-FED4D9704470}" type="pres">
      <dgm:prSet presAssocID="{BCF0E94E-998F-463F-839C-DB19D57F27F3}" presName="spacer" presStyleCnt="0"/>
      <dgm:spPr/>
    </dgm:pt>
    <dgm:pt modelId="{2F8543CD-0404-4B68-A34B-7D82480EB32A}" type="pres">
      <dgm:prSet presAssocID="{3FBCFA0E-BD6F-4E92-9CC3-669C8B8B3536}" presName="parentText" presStyleLbl="node1" presStyleIdx="5" presStyleCnt="6">
        <dgm:presLayoutVars>
          <dgm:chMax val="0"/>
          <dgm:bulletEnabled val="1"/>
        </dgm:presLayoutVars>
      </dgm:prSet>
      <dgm:spPr/>
    </dgm:pt>
  </dgm:ptLst>
  <dgm:cxnLst>
    <dgm:cxn modelId="{583A8633-C71B-450E-90CD-CF0BE724FE83}" srcId="{4C39D05C-2992-4A89-864C-073A3B012212}" destId="{0B7BFBEE-4E7F-4ECD-8D1A-16C07CCE6F01}" srcOrd="1" destOrd="0" parTransId="{67D972A6-5EB5-494A-851C-31ACACBE469E}" sibTransId="{46BFE980-0E23-48BD-8A22-98AC0454CFF7}"/>
    <dgm:cxn modelId="{AAF46137-5AC6-44E1-BA2C-5C70483661DE}" type="presOf" srcId="{0B7BFBEE-4E7F-4ECD-8D1A-16C07CCE6F01}" destId="{9A14A703-469B-4BBB-8E0B-AE3F31A063E3}" srcOrd="0" destOrd="0" presId="urn:microsoft.com/office/officeart/2005/8/layout/vList2"/>
    <dgm:cxn modelId="{EE0A173C-9585-4680-A3FD-3F4B28BB1849}" srcId="{4C39D05C-2992-4A89-864C-073A3B012212}" destId="{BB622CC0-4321-4ACD-88F7-A2F2B2B25FB5}" srcOrd="3" destOrd="0" parTransId="{1AFEF947-577E-4E83-B01B-D0F6298694D7}" sibTransId="{980E9052-B1DB-446A-823C-60FB5CF9FCF9}"/>
    <dgm:cxn modelId="{6C6D407F-F03B-49C5-B1D1-B63356B70DA3}" type="presOf" srcId="{1BFD3CA4-4108-4E8E-9C24-8033547E550C}" destId="{9659B6B3-CC57-4D5E-AD11-70F9115EF5E9}" srcOrd="0" destOrd="0" presId="urn:microsoft.com/office/officeart/2005/8/layout/vList2"/>
    <dgm:cxn modelId="{B4D1BC96-8D71-4CC3-B635-DEFDC1FD275C}" srcId="{4C39D05C-2992-4A89-864C-073A3B012212}" destId="{5F4DECB0-871E-4899-8AA3-FE967958657E}" srcOrd="4" destOrd="0" parTransId="{552E3986-43F1-4BCC-88F3-5FD0375646DF}" sibTransId="{BCF0E94E-998F-463F-839C-DB19D57F27F3}"/>
    <dgm:cxn modelId="{A726C69A-8612-485F-BE41-13CCDB63B397}" srcId="{4C39D05C-2992-4A89-864C-073A3B012212}" destId="{1BFD3CA4-4108-4E8E-9C24-8033547E550C}" srcOrd="2" destOrd="0" parTransId="{03786833-746F-4BF0-ADBA-B3D705285E88}" sibTransId="{7DE415ED-C1AF-49EE-8A53-2BFA2C2B109C}"/>
    <dgm:cxn modelId="{13192EA4-0DFA-414F-BFE4-3FD0DA4A16DC}" srcId="{4C39D05C-2992-4A89-864C-073A3B012212}" destId="{3FBCFA0E-BD6F-4E92-9CC3-669C8B8B3536}" srcOrd="5" destOrd="0" parTransId="{80974D0D-07D9-47AC-A5B3-F8CDCACFF497}" sibTransId="{2E85AFF0-64F5-4019-8558-483F50190D3F}"/>
    <dgm:cxn modelId="{56503EB1-6D38-4789-A119-D59B8B76FC4B}" type="presOf" srcId="{BB622CC0-4321-4ACD-88F7-A2F2B2B25FB5}" destId="{1168A99C-0228-4DC8-98A8-0DDA15BE05B0}" srcOrd="0" destOrd="0" presId="urn:microsoft.com/office/officeart/2005/8/layout/vList2"/>
    <dgm:cxn modelId="{809B42B3-20CB-4F17-A2BD-9C6560253513}" type="presOf" srcId="{5F4DECB0-871E-4899-8AA3-FE967958657E}" destId="{E50068DA-96BB-4B17-88FF-78BC036232A3}" srcOrd="0" destOrd="0" presId="urn:microsoft.com/office/officeart/2005/8/layout/vList2"/>
    <dgm:cxn modelId="{78388EDD-9BF3-42AA-99DC-7209E8AB43C8}" type="presOf" srcId="{4C39D05C-2992-4A89-864C-073A3B012212}" destId="{EF5CB545-DB0F-41A5-8470-45E57E6AB139}" srcOrd="0" destOrd="0" presId="urn:microsoft.com/office/officeart/2005/8/layout/vList2"/>
    <dgm:cxn modelId="{1C1F99EF-75C0-45FC-8CB2-92A3B72FDEB6}" type="presOf" srcId="{3FBCFA0E-BD6F-4E92-9CC3-669C8B8B3536}" destId="{2F8543CD-0404-4B68-A34B-7D82480EB32A}" srcOrd="0" destOrd="0" presId="urn:microsoft.com/office/officeart/2005/8/layout/vList2"/>
    <dgm:cxn modelId="{823DF4F0-D09C-4EF9-B395-0873DEC43590}" type="presOf" srcId="{ADA08AE8-D444-43B8-9B4A-A42EBB772169}" destId="{5BDD9D91-E5B9-4C14-8179-FE2D64C6619A}" srcOrd="0" destOrd="0" presId="urn:microsoft.com/office/officeart/2005/8/layout/vList2"/>
    <dgm:cxn modelId="{173EFFF9-4CD2-490C-8D83-14ACF9AE97C1}" srcId="{4C39D05C-2992-4A89-864C-073A3B012212}" destId="{ADA08AE8-D444-43B8-9B4A-A42EBB772169}" srcOrd="0" destOrd="0" parTransId="{844849A8-7B32-400B-B7E5-952E9084D4F7}" sibTransId="{C13696FE-C463-4D98-804C-39FB35964D53}"/>
    <dgm:cxn modelId="{A2B5452F-13C7-4945-AE12-D403939FF031}" type="presParOf" srcId="{EF5CB545-DB0F-41A5-8470-45E57E6AB139}" destId="{5BDD9D91-E5B9-4C14-8179-FE2D64C6619A}" srcOrd="0" destOrd="0" presId="urn:microsoft.com/office/officeart/2005/8/layout/vList2"/>
    <dgm:cxn modelId="{BFDE1D44-E200-44F3-A732-82287DA6CAE9}" type="presParOf" srcId="{EF5CB545-DB0F-41A5-8470-45E57E6AB139}" destId="{52C82A5C-3804-4E87-8D66-1D3E6AFE9E85}" srcOrd="1" destOrd="0" presId="urn:microsoft.com/office/officeart/2005/8/layout/vList2"/>
    <dgm:cxn modelId="{7817200B-E4A8-479F-983A-5E4A3A83DA06}" type="presParOf" srcId="{EF5CB545-DB0F-41A5-8470-45E57E6AB139}" destId="{9A14A703-469B-4BBB-8E0B-AE3F31A063E3}" srcOrd="2" destOrd="0" presId="urn:microsoft.com/office/officeart/2005/8/layout/vList2"/>
    <dgm:cxn modelId="{B6FE4497-6D81-4904-9637-B0A25BC17A4E}" type="presParOf" srcId="{EF5CB545-DB0F-41A5-8470-45E57E6AB139}" destId="{CEB43F1F-21C7-46B2-AFB2-0D580552F050}" srcOrd="3" destOrd="0" presId="urn:microsoft.com/office/officeart/2005/8/layout/vList2"/>
    <dgm:cxn modelId="{CC6CD56F-A210-482A-9F2C-6114DD868352}" type="presParOf" srcId="{EF5CB545-DB0F-41A5-8470-45E57E6AB139}" destId="{9659B6B3-CC57-4D5E-AD11-70F9115EF5E9}" srcOrd="4" destOrd="0" presId="urn:microsoft.com/office/officeart/2005/8/layout/vList2"/>
    <dgm:cxn modelId="{E70D21B2-62D4-4DEA-9AD0-426790AD240B}" type="presParOf" srcId="{EF5CB545-DB0F-41A5-8470-45E57E6AB139}" destId="{245B747B-EE72-4685-BBC5-2B5A211E046C}" srcOrd="5" destOrd="0" presId="urn:microsoft.com/office/officeart/2005/8/layout/vList2"/>
    <dgm:cxn modelId="{D1EE1BE6-A245-4562-9164-378D8BACF5FB}" type="presParOf" srcId="{EF5CB545-DB0F-41A5-8470-45E57E6AB139}" destId="{1168A99C-0228-4DC8-98A8-0DDA15BE05B0}" srcOrd="6" destOrd="0" presId="urn:microsoft.com/office/officeart/2005/8/layout/vList2"/>
    <dgm:cxn modelId="{D64B5621-F1AF-44DE-B494-27CDDBF55F1D}" type="presParOf" srcId="{EF5CB545-DB0F-41A5-8470-45E57E6AB139}" destId="{B7238095-476A-40B5-A1E4-80558E0A3D83}" srcOrd="7" destOrd="0" presId="urn:microsoft.com/office/officeart/2005/8/layout/vList2"/>
    <dgm:cxn modelId="{D879F0DF-9DCE-4CFD-AFB1-F48476DCCE48}" type="presParOf" srcId="{EF5CB545-DB0F-41A5-8470-45E57E6AB139}" destId="{E50068DA-96BB-4B17-88FF-78BC036232A3}" srcOrd="8" destOrd="0" presId="urn:microsoft.com/office/officeart/2005/8/layout/vList2"/>
    <dgm:cxn modelId="{9D21CB4F-E8FE-48D6-94DE-4773A058C3C0}" type="presParOf" srcId="{EF5CB545-DB0F-41A5-8470-45E57E6AB139}" destId="{99E2136D-E149-40DD-B5B2-FED4D9704470}" srcOrd="9" destOrd="0" presId="urn:microsoft.com/office/officeart/2005/8/layout/vList2"/>
    <dgm:cxn modelId="{D2EB6925-2004-4FF9-8B0E-2A9CE8089D21}" type="presParOf" srcId="{EF5CB545-DB0F-41A5-8470-45E57E6AB139}" destId="{2F8543CD-0404-4B68-A34B-7D82480EB32A}" srcOrd="1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E6CE51B-8BFC-45E5-8636-CD6C5566A152}" type="doc">
      <dgm:prSet loTypeId="urn:microsoft.com/office/officeart/2005/8/layout/hList6" loCatId="list" qsTypeId="urn:microsoft.com/office/officeart/2005/8/quickstyle/simple1" qsCatId="simple" csTypeId="urn:microsoft.com/office/officeart/2005/8/colors/colorful3" csCatId="colorful"/>
      <dgm:spPr/>
      <dgm:t>
        <a:bodyPr/>
        <a:lstStyle/>
        <a:p>
          <a:endParaRPr lang="en-US"/>
        </a:p>
      </dgm:t>
    </dgm:pt>
    <dgm:pt modelId="{151AB05E-3ADB-4B03-B3B7-9028BD386A9F}">
      <dgm:prSet/>
      <dgm:spPr/>
      <dgm:t>
        <a:bodyPr/>
        <a:lstStyle/>
        <a:p>
          <a:r>
            <a:rPr lang="en-US" dirty="0"/>
            <a:t>Afghanistan's domestic power sector is vertically integrated, lacking an Open Access (OA) framework.</a:t>
          </a:r>
        </a:p>
      </dgm:t>
    </dgm:pt>
    <dgm:pt modelId="{2B7A2D89-E248-404E-8C80-76145AFE0670}" type="parTrans" cxnId="{F6902D6F-80D0-4535-8A50-783D5D621ADB}">
      <dgm:prSet/>
      <dgm:spPr/>
      <dgm:t>
        <a:bodyPr/>
        <a:lstStyle/>
        <a:p>
          <a:endParaRPr lang="en-US"/>
        </a:p>
      </dgm:t>
    </dgm:pt>
    <dgm:pt modelId="{1A66A0EE-A26D-4470-A659-F06485153755}" type="sibTrans" cxnId="{F6902D6F-80D0-4535-8A50-783D5D621ADB}">
      <dgm:prSet/>
      <dgm:spPr/>
      <dgm:t>
        <a:bodyPr/>
        <a:lstStyle/>
        <a:p>
          <a:endParaRPr lang="en-US"/>
        </a:p>
      </dgm:t>
    </dgm:pt>
    <dgm:pt modelId="{20F85567-EBBC-4888-9D45-0EDD665FA16B}">
      <dgm:prSet/>
      <dgm:spPr/>
      <dgm:t>
        <a:bodyPr/>
        <a:lstStyle/>
        <a:p>
          <a:r>
            <a:rPr lang="en-US"/>
            <a:t>The CASA 1000 Master Agreement allows power trade with Central Asia and Pakistan, setting procedures for transmission access among member countries.</a:t>
          </a:r>
        </a:p>
      </dgm:t>
    </dgm:pt>
    <dgm:pt modelId="{A4382AC4-9AA4-41EA-A8D0-CB03B0153EAE}" type="parTrans" cxnId="{128A3CE1-3FFE-4860-B420-3C7908025CCE}">
      <dgm:prSet/>
      <dgm:spPr/>
      <dgm:t>
        <a:bodyPr/>
        <a:lstStyle/>
        <a:p>
          <a:endParaRPr lang="en-US"/>
        </a:p>
      </dgm:t>
    </dgm:pt>
    <dgm:pt modelId="{8EB73022-9962-46AE-A342-CF7FFE3C8212}" type="sibTrans" cxnId="{128A3CE1-3FFE-4860-B420-3C7908025CCE}">
      <dgm:prSet/>
      <dgm:spPr/>
      <dgm:t>
        <a:bodyPr/>
        <a:lstStyle/>
        <a:p>
          <a:endParaRPr lang="en-US"/>
        </a:p>
      </dgm:t>
    </dgm:pt>
    <dgm:pt modelId="{99953AB0-1A6E-4F16-B0CA-D4AA57D8CDEA}">
      <dgm:prSet/>
      <dgm:spPr/>
      <dgm:t>
        <a:bodyPr/>
        <a:lstStyle/>
        <a:p>
          <a:r>
            <a:rPr lang="en-US"/>
            <a:t>Provides OA during non-supply periods, enabling allocation of all available transmission capacity per OA rules.</a:t>
          </a:r>
        </a:p>
      </dgm:t>
    </dgm:pt>
    <dgm:pt modelId="{F8B73247-22FC-4CED-BB88-542CBB1CC853}" type="parTrans" cxnId="{1DE31278-41D1-49BC-88FC-5C7ACFEE9AF7}">
      <dgm:prSet/>
      <dgm:spPr/>
      <dgm:t>
        <a:bodyPr/>
        <a:lstStyle/>
        <a:p>
          <a:endParaRPr lang="en-US"/>
        </a:p>
      </dgm:t>
    </dgm:pt>
    <dgm:pt modelId="{3AA7FE08-CD96-4DE2-AF1F-BC695613D7D8}" type="sibTrans" cxnId="{1DE31278-41D1-49BC-88FC-5C7ACFEE9AF7}">
      <dgm:prSet/>
      <dgm:spPr/>
      <dgm:t>
        <a:bodyPr/>
        <a:lstStyle/>
        <a:p>
          <a:endParaRPr lang="en-US"/>
        </a:p>
      </dgm:t>
    </dgm:pt>
    <dgm:pt modelId="{963F0667-1CA3-4751-B63D-F4921DF7BA85}">
      <dgm:prSet/>
      <dgm:spPr/>
      <dgm:t>
        <a:bodyPr/>
        <a:lstStyle/>
        <a:p>
          <a:r>
            <a:rPr lang="en-US"/>
            <a:t>Member countries can assess market demand and set prices for OA use.</a:t>
          </a:r>
        </a:p>
      </dgm:t>
    </dgm:pt>
    <dgm:pt modelId="{1F8570AC-DC1C-47AB-8253-D94EE7FA3156}" type="parTrans" cxnId="{3E05E0DA-3A3D-4093-82D6-09C81D7B5844}">
      <dgm:prSet/>
      <dgm:spPr/>
      <dgm:t>
        <a:bodyPr/>
        <a:lstStyle/>
        <a:p>
          <a:endParaRPr lang="en-US"/>
        </a:p>
      </dgm:t>
    </dgm:pt>
    <dgm:pt modelId="{C2D5CD9F-945F-46B8-B6CD-9A04AB095D48}" type="sibTrans" cxnId="{3E05E0DA-3A3D-4093-82D6-09C81D7B5844}">
      <dgm:prSet/>
      <dgm:spPr/>
      <dgm:t>
        <a:bodyPr/>
        <a:lstStyle/>
        <a:p>
          <a:endParaRPr lang="en-US"/>
        </a:p>
      </dgm:t>
    </dgm:pt>
    <dgm:pt modelId="{33578F58-E21F-407D-90D9-3EC9FB51A1AD}" type="pres">
      <dgm:prSet presAssocID="{1E6CE51B-8BFC-45E5-8636-CD6C5566A152}" presName="Name0" presStyleCnt="0">
        <dgm:presLayoutVars>
          <dgm:dir/>
          <dgm:resizeHandles val="exact"/>
        </dgm:presLayoutVars>
      </dgm:prSet>
      <dgm:spPr/>
    </dgm:pt>
    <dgm:pt modelId="{E9A3E900-8255-43EF-98BD-04EEAEDC0C92}" type="pres">
      <dgm:prSet presAssocID="{151AB05E-3ADB-4B03-B3B7-9028BD386A9F}" presName="node" presStyleLbl="node1" presStyleIdx="0" presStyleCnt="4">
        <dgm:presLayoutVars>
          <dgm:bulletEnabled val="1"/>
        </dgm:presLayoutVars>
      </dgm:prSet>
      <dgm:spPr/>
    </dgm:pt>
    <dgm:pt modelId="{7AF97FEF-3DE5-4876-9FBE-A1B00F8F4302}" type="pres">
      <dgm:prSet presAssocID="{1A66A0EE-A26D-4470-A659-F06485153755}" presName="sibTrans" presStyleCnt="0"/>
      <dgm:spPr/>
    </dgm:pt>
    <dgm:pt modelId="{651D7275-92DE-455F-AE00-AB03FE567FFB}" type="pres">
      <dgm:prSet presAssocID="{20F85567-EBBC-4888-9D45-0EDD665FA16B}" presName="node" presStyleLbl="node1" presStyleIdx="1" presStyleCnt="4">
        <dgm:presLayoutVars>
          <dgm:bulletEnabled val="1"/>
        </dgm:presLayoutVars>
      </dgm:prSet>
      <dgm:spPr/>
    </dgm:pt>
    <dgm:pt modelId="{3BCE70FB-3871-493D-AB85-F0AF125246B3}" type="pres">
      <dgm:prSet presAssocID="{8EB73022-9962-46AE-A342-CF7FFE3C8212}" presName="sibTrans" presStyleCnt="0"/>
      <dgm:spPr/>
    </dgm:pt>
    <dgm:pt modelId="{C3BC3A69-D0BD-49E8-B132-CE3C661E9521}" type="pres">
      <dgm:prSet presAssocID="{99953AB0-1A6E-4F16-B0CA-D4AA57D8CDEA}" presName="node" presStyleLbl="node1" presStyleIdx="2" presStyleCnt="4">
        <dgm:presLayoutVars>
          <dgm:bulletEnabled val="1"/>
        </dgm:presLayoutVars>
      </dgm:prSet>
      <dgm:spPr/>
    </dgm:pt>
    <dgm:pt modelId="{CDBD1374-6629-4475-A2A1-A69C5B5C9114}" type="pres">
      <dgm:prSet presAssocID="{3AA7FE08-CD96-4DE2-AF1F-BC695613D7D8}" presName="sibTrans" presStyleCnt="0"/>
      <dgm:spPr/>
    </dgm:pt>
    <dgm:pt modelId="{6CED1DC9-2F9D-4EBB-8B57-7D532EFB1141}" type="pres">
      <dgm:prSet presAssocID="{963F0667-1CA3-4751-B63D-F4921DF7BA85}" presName="node" presStyleLbl="node1" presStyleIdx="3" presStyleCnt="4">
        <dgm:presLayoutVars>
          <dgm:bulletEnabled val="1"/>
        </dgm:presLayoutVars>
      </dgm:prSet>
      <dgm:spPr/>
    </dgm:pt>
  </dgm:ptLst>
  <dgm:cxnLst>
    <dgm:cxn modelId="{B4454C23-B371-4FC9-92AE-1ABD42F517E9}" type="presOf" srcId="{1E6CE51B-8BFC-45E5-8636-CD6C5566A152}" destId="{33578F58-E21F-407D-90D9-3EC9FB51A1AD}" srcOrd="0" destOrd="0" presId="urn:microsoft.com/office/officeart/2005/8/layout/hList6"/>
    <dgm:cxn modelId="{F6902D6F-80D0-4535-8A50-783D5D621ADB}" srcId="{1E6CE51B-8BFC-45E5-8636-CD6C5566A152}" destId="{151AB05E-3ADB-4B03-B3B7-9028BD386A9F}" srcOrd="0" destOrd="0" parTransId="{2B7A2D89-E248-404E-8C80-76145AFE0670}" sibTransId="{1A66A0EE-A26D-4470-A659-F06485153755}"/>
    <dgm:cxn modelId="{1DE31278-41D1-49BC-88FC-5C7ACFEE9AF7}" srcId="{1E6CE51B-8BFC-45E5-8636-CD6C5566A152}" destId="{99953AB0-1A6E-4F16-B0CA-D4AA57D8CDEA}" srcOrd="2" destOrd="0" parTransId="{F8B73247-22FC-4CED-BB88-542CBB1CC853}" sibTransId="{3AA7FE08-CD96-4DE2-AF1F-BC695613D7D8}"/>
    <dgm:cxn modelId="{8E5D638B-17CB-4462-988A-D622FEA957A5}" type="presOf" srcId="{20F85567-EBBC-4888-9D45-0EDD665FA16B}" destId="{651D7275-92DE-455F-AE00-AB03FE567FFB}" srcOrd="0" destOrd="0" presId="urn:microsoft.com/office/officeart/2005/8/layout/hList6"/>
    <dgm:cxn modelId="{536EA6CD-FADE-4FB3-ACA5-814E3EA511FB}" type="presOf" srcId="{963F0667-1CA3-4751-B63D-F4921DF7BA85}" destId="{6CED1DC9-2F9D-4EBB-8B57-7D532EFB1141}" srcOrd="0" destOrd="0" presId="urn:microsoft.com/office/officeart/2005/8/layout/hList6"/>
    <dgm:cxn modelId="{813158D3-829D-4219-BEFB-3F0469A97EE5}" type="presOf" srcId="{99953AB0-1A6E-4F16-B0CA-D4AA57D8CDEA}" destId="{C3BC3A69-D0BD-49E8-B132-CE3C661E9521}" srcOrd="0" destOrd="0" presId="urn:microsoft.com/office/officeart/2005/8/layout/hList6"/>
    <dgm:cxn modelId="{3E05E0DA-3A3D-4093-82D6-09C81D7B5844}" srcId="{1E6CE51B-8BFC-45E5-8636-CD6C5566A152}" destId="{963F0667-1CA3-4751-B63D-F4921DF7BA85}" srcOrd="3" destOrd="0" parTransId="{1F8570AC-DC1C-47AB-8253-D94EE7FA3156}" sibTransId="{C2D5CD9F-945F-46B8-B6CD-9A04AB095D48}"/>
    <dgm:cxn modelId="{128A3CE1-3FFE-4860-B420-3C7908025CCE}" srcId="{1E6CE51B-8BFC-45E5-8636-CD6C5566A152}" destId="{20F85567-EBBC-4888-9D45-0EDD665FA16B}" srcOrd="1" destOrd="0" parTransId="{A4382AC4-9AA4-41EA-A8D0-CB03B0153EAE}" sibTransId="{8EB73022-9962-46AE-A342-CF7FFE3C8212}"/>
    <dgm:cxn modelId="{4EB6A5F9-8786-4331-A3B4-9372D73F0697}" type="presOf" srcId="{151AB05E-3ADB-4B03-B3B7-9028BD386A9F}" destId="{E9A3E900-8255-43EF-98BD-04EEAEDC0C92}" srcOrd="0" destOrd="0" presId="urn:microsoft.com/office/officeart/2005/8/layout/hList6"/>
    <dgm:cxn modelId="{2F513493-02DC-4100-BF14-D6AC9D5D7068}" type="presParOf" srcId="{33578F58-E21F-407D-90D9-3EC9FB51A1AD}" destId="{E9A3E900-8255-43EF-98BD-04EEAEDC0C92}" srcOrd="0" destOrd="0" presId="urn:microsoft.com/office/officeart/2005/8/layout/hList6"/>
    <dgm:cxn modelId="{1DAE48A5-8228-430F-BE45-EA03CEC7DF48}" type="presParOf" srcId="{33578F58-E21F-407D-90D9-3EC9FB51A1AD}" destId="{7AF97FEF-3DE5-4876-9FBE-A1B00F8F4302}" srcOrd="1" destOrd="0" presId="urn:microsoft.com/office/officeart/2005/8/layout/hList6"/>
    <dgm:cxn modelId="{DDA8475A-E768-4FDE-9539-6D25E3609A7E}" type="presParOf" srcId="{33578F58-E21F-407D-90D9-3EC9FB51A1AD}" destId="{651D7275-92DE-455F-AE00-AB03FE567FFB}" srcOrd="2" destOrd="0" presId="urn:microsoft.com/office/officeart/2005/8/layout/hList6"/>
    <dgm:cxn modelId="{658DB39B-0AC0-46AF-B78B-DB3E4BD48109}" type="presParOf" srcId="{33578F58-E21F-407D-90D9-3EC9FB51A1AD}" destId="{3BCE70FB-3871-493D-AB85-F0AF125246B3}" srcOrd="3" destOrd="0" presId="urn:microsoft.com/office/officeart/2005/8/layout/hList6"/>
    <dgm:cxn modelId="{C76A19A3-08B5-407A-B69A-33A67812F6B2}" type="presParOf" srcId="{33578F58-E21F-407D-90D9-3EC9FB51A1AD}" destId="{C3BC3A69-D0BD-49E8-B132-CE3C661E9521}" srcOrd="4" destOrd="0" presId="urn:microsoft.com/office/officeart/2005/8/layout/hList6"/>
    <dgm:cxn modelId="{DA5CB289-923A-4B36-9B01-1ECC0E8628AC}" type="presParOf" srcId="{33578F58-E21F-407D-90D9-3EC9FB51A1AD}" destId="{CDBD1374-6629-4475-A2A1-A69C5B5C9114}" srcOrd="5" destOrd="0" presId="urn:microsoft.com/office/officeart/2005/8/layout/hList6"/>
    <dgm:cxn modelId="{0CDFD984-A32F-4C46-8BDE-A4EEC554E5A5}" type="presParOf" srcId="{33578F58-E21F-407D-90D9-3EC9FB51A1AD}" destId="{6CED1DC9-2F9D-4EBB-8B57-7D532EFB1141}" srcOrd="6" destOrd="0" presId="urn:microsoft.com/office/officeart/2005/8/layout/hList6"/>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E6CE51B-8BFC-45E5-8636-CD6C5566A152}" type="doc">
      <dgm:prSet loTypeId="urn:microsoft.com/office/officeart/2005/8/layout/hList6" loCatId="list" qsTypeId="urn:microsoft.com/office/officeart/2005/8/quickstyle/simple1" qsCatId="simple" csTypeId="urn:microsoft.com/office/officeart/2005/8/colors/colorful3" csCatId="colorful" phldr="1"/>
      <dgm:spPr/>
      <dgm:t>
        <a:bodyPr/>
        <a:lstStyle/>
        <a:p>
          <a:endParaRPr lang="en-US"/>
        </a:p>
      </dgm:t>
    </dgm:pt>
    <dgm:pt modelId="{151AB05E-3ADB-4B03-B3B7-9028BD386A9F}">
      <dgm:prSet/>
      <dgm:spPr/>
      <dgm:t>
        <a:bodyPr/>
        <a:lstStyle/>
        <a:p>
          <a:r>
            <a:rPr lang="en-US" b="1" dirty="0"/>
            <a:t>Private Sector Investment Guidelines (2007) and Policy on Sale of Excess Power from Captive Power Plants (2006): </a:t>
          </a:r>
        </a:p>
        <a:p>
          <a:r>
            <a:rPr lang="en-US" dirty="0"/>
            <a:t>Include some provisions related to Open Access (OA) operations.</a:t>
          </a:r>
        </a:p>
      </dgm:t>
    </dgm:pt>
    <dgm:pt modelId="{2B7A2D89-E248-404E-8C80-76145AFE0670}" type="parTrans" cxnId="{F6902D6F-80D0-4535-8A50-783D5D621ADB}">
      <dgm:prSet/>
      <dgm:spPr/>
      <dgm:t>
        <a:bodyPr/>
        <a:lstStyle/>
        <a:p>
          <a:endParaRPr lang="en-US"/>
        </a:p>
      </dgm:t>
    </dgm:pt>
    <dgm:pt modelId="{1A66A0EE-A26D-4470-A659-F06485153755}" type="sibTrans" cxnId="{F6902D6F-80D0-4535-8A50-783D5D621ADB}">
      <dgm:prSet/>
      <dgm:spPr/>
      <dgm:t>
        <a:bodyPr/>
        <a:lstStyle/>
        <a:p>
          <a:endParaRPr lang="en-US"/>
        </a:p>
      </dgm:t>
    </dgm:pt>
    <dgm:pt modelId="{20F85567-EBBC-4888-9D45-0EDD665FA16B}">
      <dgm:prSet/>
      <dgm:spPr/>
      <dgm:t>
        <a:bodyPr/>
        <a:lstStyle/>
        <a:p>
          <a:r>
            <a:rPr lang="en-US" b="1" dirty="0"/>
            <a:t>No Specific OA Provisions:</a:t>
          </a:r>
        </a:p>
        <a:p>
          <a:r>
            <a:rPr lang="en-US" dirty="0"/>
            <a:t> Currently, no specific OA provisions allow private generators or consumers to transfer power across the transmission network.</a:t>
          </a:r>
        </a:p>
      </dgm:t>
    </dgm:pt>
    <dgm:pt modelId="{A4382AC4-9AA4-41EA-A8D0-CB03B0153EAE}" type="parTrans" cxnId="{128A3CE1-3FFE-4860-B420-3C7908025CCE}">
      <dgm:prSet/>
      <dgm:spPr/>
      <dgm:t>
        <a:bodyPr/>
        <a:lstStyle/>
        <a:p>
          <a:endParaRPr lang="en-US"/>
        </a:p>
      </dgm:t>
    </dgm:pt>
    <dgm:pt modelId="{8EB73022-9962-46AE-A342-CF7FFE3C8212}" type="sibTrans" cxnId="{128A3CE1-3FFE-4860-B420-3C7908025CCE}">
      <dgm:prSet/>
      <dgm:spPr/>
      <dgm:t>
        <a:bodyPr/>
        <a:lstStyle/>
        <a:p>
          <a:endParaRPr lang="en-US"/>
        </a:p>
      </dgm:t>
    </dgm:pt>
    <dgm:pt modelId="{99953AB0-1A6E-4F16-B0CA-D4AA57D8CDEA}">
      <dgm:prSet/>
      <dgm:spPr/>
      <dgm:t>
        <a:bodyPr/>
        <a:lstStyle/>
        <a:p>
          <a:r>
            <a:rPr lang="en-US" b="1" dirty="0"/>
            <a:t>Bangladesh Energy Regulatory Commission (BERC):</a:t>
          </a:r>
          <a:r>
            <a:rPr lang="en-US" dirty="0"/>
            <a:t> </a:t>
          </a:r>
        </a:p>
        <a:p>
          <a:r>
            <a:rPr lang="en-US" dirty="0"/>
            <a:t>Yet to establish a comprehensive OA framework, which would set eligibility criteria, OA grants, and other requirements to enable an OA market in Bangladesh.</a:t>
          </a:r>
        </a:p>
      </dgm:t>
    </dgm:pt>
    <dgm:pt modelId="{F8B73247-22FC-4CED-BB88-542CBB1CC853}" type="parTrans" cxnId="{1DE31278-41D1-49BC-88FC-5C7ACFEE9AF7}">
      <dgm:prSet/>
      <dgm:spPr/>
      <dgm:t>
        <a:bodyPr/>
        <a:lstStyle/>
        <a:p>
          <a:endParaRPr lang="en-US"/>
        </a:p>
      </dgm:t>
    </dgm:pt>
    <dgm:pt modelId="{3AA7FE08-CD96-4DE2-AF1F-BC695613D7D8}" type="sibTrans" cxnId="{1DE31278-41D1-49BC-88FC-5C7ACFEE9AF7}">
      <dgm:prSet/>
      <dgm:spPr/>
      <dgm:t>
        <a:bodyPr/>
        <a:lstStyle/>
        <a:p>
          <a:endParaRPr lang="en-US"/>
        </a:p>
      </dgm:t>
    </dgm:pt>
    <dgm:pt modelId="{33578F58-E21F-407D-90D9-3EC9FB51A1AD}" type="pres">
      <dgm:prSet presAssocID="{1E6CE51B-8BFC-45E5-8636-CD6C5566A152}" presName="Name0" presStyleCnt="0">
        <dgm:presLayoutVars>
          <dgm:dir/>
          <dgm:resizeHandles val="exact"/>
        </dgm:presLayoutVars>
      </dgm:prSet>
      <dgm:spPr/>
    </dgm:pt>
    <dgm:pt modelId="{E9A3E900-8255-43EF-98BD-04EEAEDC0C92}" type="pres">
      <dgm:prSet presAssocID="{151AB05E-3ADB-4B03-B3B7-9028BD386A9F}" presName="node" presStyleLbl="node1" presStyleIdx="0" presStyleCnt="3">
        <dgm:presLayoutVars>
          <dgm:bulletEnabled val="1"/>
        </dgm:presLayoutVars>
      </dgm:prSet>
      <dgm:spPr/>
    </dgm:pt>
    <dgm:pt modelId="{7AF97FEF-3DE5-4876-9FBE-A1B00F8F4302}" type="pres">
      <dgm:prSet presAssocID="{1A66A0EE-A26D-4470-A659-F06485153755}" presName="sibTrans" presStyleCnt="0"/>
      <dgm:spPr/>
    </dgm:pt>
    <dgm:pt modelId="{651D7275-92DE-455F-AE00-AB03FE567FFB}" type="pres">
      <dgm:prSet presAssocID="{20F85567-EBBC-4888-9D45-0EDD665FA16B}" presName="node" presStyleLbl="node1" presStyleIdx="1" presStyleCnt="3">
        <dgm:presLayoutVars>
          <dgm:bulletEnabled val="1"/>
        </dgm:presLayoutVars>
      </dgm:prSet>
      <dgm:spPr/>
    </dgm:pt>
    <dgm:pt modelId="{3BCE70FB-3871-493D-AB85-F0AF125246B3}" type="pres">
      <dgm:prSet presAssocID="{8EB73022-9962-46AE-A342-CF7FFE3C8212}" presName="sibTrans" presStyleCnt="0"/>
      <dgm:spPr/>
    </dgm:pt>
    <dgm:pt modelId="{C3BC3A69-D0BD-49E8-B132-CE3C661E9521}" type="pres">
      <dgm:prSet presAssocID="{99953AB0-1A6E-4F16-B0CA-D4AA57D8CDEA}" presName="node" presStyleLbl="node1" presStyleIdx="2" presStyleCnt="3">
        <dgm:presLayoutVars>
          <dgm:bulletEnabled val="1"/>
        </dgm:presLayoutVars>
      </dgm:prSet>
      <dgm:spPr/>
    </dgm:pt>
  </dgm:ptLst>
  <dgm:cxnLst>
    <dgm:cxn modelId="{B4454C23-B371-4FC9-92AE-1ABD42F517E9}" type="presOf" srcId="{1E6CE51B-8BFC-45E5-8636-CD6C5566A152}" destId="{33578F58-E21F-407D-90D9-3EC9FB51A1AD}" srcOrd="0" destOrd="0" presId="urn:microsoft.com/office/officeart/2005/8/layout/hList6"/>
    <dgm:cxn modelId="{F6902D6F-80D0-4535-8A50-783D5D621ADB}" srcId="{1E6CE51B-8BFC-45E5-8636-CD6C5566A152}" destId="{151AB05E-3ADB-4B03-B3B7-9028BD386A9F}" srcOrd="0" destOrd="0" parTransId="{2B7A2D89-E248-404E-8C80-76145AFE0670}" sibTransId="{1A66A0EE-A26D-4470-A659-F06485153755}"/>
    <dgm:cxn modelId="{1DE31278-41D1-49BC-88FC-5C7ACFEE9AF7}" srcId="{1E6CE51B-8BFC-45E5-8636-CD6C5566A152}" destId="{99953AB0-1A6E-4F16-B0CA-D4AA57D8CDEA}" srcOrd="2" destOrd="0" parTransId="{F8B73247-22FC-4CED-BB88-542CBB1CC853}" sibTransId="{3AA7FE08-CD96-4DE2-AF1F-BC695613D7D8}"/>
    <dgm:cxn modelId="{8E5D638B-17CB-4462-988A-D622FEA957A5}" type="presOf" srcId="{20F85567-EBBC-4888-9D45-0EDD665FA16B}" destId="{651D7275-92DE-455F-AE00-AB03FE567FFB}" srcOrd="0" destOrd="0" presId="urn:microsoft.com/office/officeart/2005/8/layout/hList6"/>
    <dgm:cxn modelId="{813158D3-829D-4219-BEFB-3F0469A97EE5}" type="presOf" srcId="{99953AB0-1A6E-4F16-B0CA-D4AA57D8CDEA}" destId="{C3BC3A69-D0BD-49E8-B132-CE3C661E9521}" srcOrd="0" destOrd="0" presId="urn:microsoft.com/office/officeart/2005/8/layout/hList6"/>
    <dgm:cxn modelId="{128A3CE1-3FFE-4860-B420-3C7908025CCE}" srcId="{1E6CE51B-8BFC-45E5-8636-CD6C5566A152}" destId="{20F85567-EBBC-4888-9D45-0EDD665FA16B}" srcOrd="1" destOrd="0" parTransId="{A4382AC4-9AA4-41EA-A8D0-CB03B0153EAE}" sibTransId="{8EB73022-9962-46AE-A342-CF7FFE3C8212}"/>
    <dgm:cxn modelId="{4EB6A5F9-8786-4331-A3B4-9372D73F0697}" type="presOf" srcId="{151AB05E-3ADB-4B03-B3B7-9028BD386A9F}" destId="{E9A3E900-8255-43EF-98BD-04EEAEDC0C92}" srcOrd="0" destOrd="0" presId="urn:microsoft.com/office/officeart/2005/8/layout/hList6"/>
    <dgm:cxn modelId="{2F513493-02DC-4100-BF14-D6AC9D5D7068}" type="presParOf" srcId="{33578F58-E21F-407D-90D9-3EC9FB51A1AD}" destId="{E9A3E900-8255-43EF-98BD-04EEAEDC0C92}" srcOrd="0" destOrd="0" presId="urn:microsoft.com/office/officeart/2005/8/layout/hList6"/>
    <dgm:cxn modelId="{1DAE48A5-8228-430F-BE45-EA03CEC7DF48}" type="presParOf" srcId="{33578F58-E21F-407D-90D9-3EC9FB51A1AD}" destId="{7AF97FEF-3DE5-4876-9FBE-A1B00F8F4302}" srcOrd="1" destOrd="0" presId="urn:microsoft.com/office/officeart/2005/8/layout/hList6"/>
    <dgm:cxn modelId="{DDA8475A-E768-4FDE-9539-6D25E3609A7E}" type="presParOf" srcId="{33578F58-E21F-407D-90D9-3EC9FB51A1AD}" destId="{651D7275-92DE-455F-AE00-AB03FE567FFB}" srcOrd="2" destOrd="0" presId="urn:microsoft.com/office/officeart/2005/8/layout/hList6"/>
    <dgm:cxn modelId="{658DB39B-0AC0-46AF-B78B-DB3E4BD48109}" type="presParOf" srcId="{33578F58-E21F-407D-90D9-3EC9FB51A1AD}" destId="{3BCE70FB-3871-493D-AB85-F0AF125246B3}" srcOrd="3" destOrd="0" presId="urn:microsoft.com/office/officeart/2005/8/layout/hList6"/>
    <dgm:cxn modelId="{C76A19A3-08B5-407A-B69A-33A67812F6B2}" type="presParOf" srcId="{33578F58-E21F-407D-90D9-3EC9FB51A1AD}" destId="{C3BC3A69-D0BD-49E8-B132-CE3C661E9521}" srcOrd="4" destOrd="0" presId="urn:microsoft.com/office/officeart/2005/8/layout/hList6"/>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E6CE51B-8BFC-45E5-8636-CD6C5566A152}" type="doc">
      <dgm:prSet loTypeId="urn:microsoft.com/office/officeart/2005/8/layout/hList6" loCatId="list" qsTypeId="urn:microsoft.com/office/officeart/2005/8/quickstyle/simple1" qsCatId="simple" csTypeId="urn:microsoft.com/office/officeart/2005/8/colors/colorful3" csCatId="colorful" phldr="1"/>
      <dgm:spPr/>
      <dgm:t>
        <a:bodyPr/>
        <a:lstStyle/>
        <a:p>
          <a:endParaRPr lang="en-US"/>
        </a:p>
      </dgm:t>
    </dgm:pt>
    <dgm:pt modelId="{151AB05E-3ADB-4B03-B3B7-9028BD386A9F}">
      <dgm:prSet/>
      <dgm:spPr/>
      <dgm:t>
        <a:bodyPr/>
        <a:lstStyle/>
        <a:p>
          <a:r>
            <a:rPr lang="en-US" b="1" dirty="0"/>
            <a:t>Operational Parameters: </a:t>
          </a:r>
        </a:p>
        <a:p>
          <a:r>
            <a:rPr lang="en-US" b="0" dirty="0"/>
            <a:t>Wheeling and use-of-system charges are defined, but no agency oversees granting Open Access (OA), setting eligibility, or conducting technical grid capacity studies for new OA applicants.</a:t>
          </a:r>
        </a:p>
      </dgm:t>
    </dgm:pt>
    <dgm:pt modelId="{2B7A2D89-E248-404E-8C80-76145AFE0670}" type="parTrans" cxnId="{F6902D6F-80D0-4535-8A50-783D5D621ADB}">
      <dgm:prSet/>
      <dgm:spPr/>
      <dgm:t>
        <a:bodyPr/>
        <a:lstStyle/>
        <a:p>
          <a:endParaRPr lang="en-US"/>
        </a:p>
      </dgm:t>
    </dgm:pt>
    <dgm:pt modelId="{1A66A0EE-A26D-4470-A659-F06485153755}" type="sibTrans" cxnId="{F6902D6F-80D0-4535-8A50-783D5D621ADB}">
      <dgm:prSet/>
      <dgm:spPr/>
      <dgm:t>
        <a:bodyPr/>
        <a:lstStyle/>
        <a:p>
          <a:endParaRPr lang="en-US"/>
        </a:p>
      </dgm:t>
    </dgm:pt>
    <dgm:pt modelId="{20F85567-EBBC-4888-9D45-0EDD665FA16B}">
      <dgm:prSet/>
      <dgm:spPr/>
      <dgm:t>
        <a:bodyPr/>
        <a:lstStyle/>
        <a:p>
          <a:r>
            <a:rPr lang="en-US" b="1" dirty="0"/>
            <a:t>Lack of Pure OA Cases:</a:t>
          </a:r>
        </a:p>
        <a:p>
          <a:r>
            <a:rPr lang="en-US" b="1" dirty="0"/>
            <a:t> </a:t>
          </a:r>
          <a:r>
            <a:rPr lang="en-US" b="0" dirty="0"/>
            <a:t>Pakistan has no dedicated OA cases within its domestic power sector.</a:t>
          </a:r>
        </a:p>
      </dgm:t>
    </dgm:pt>
    <dgm:pt modelId="{A4382AC4-9AA4-41EA-A8D0-CB03B0153EAE}" type="parTrans" cxnId="{128A3CE1-3FFE-4860-B420-3C7908025CCE}">
      <dgm:prSet/>
      <dgm:spPr/>
      <dgm:t>
        <a:bodyPr/>
        <a:lstStyle/>
        <a:p>
          <a:endParaRPr lang="en-US"/>
        </a:p>
      </dgm:t>
    </dgm:pt>
    <dgm:pt modelId="{8EB73022-9962-46AE-A342-CF7FFE3C8212}" type="sibTrans" cxnId="{128A3CE1-3FFE-4860-B420-3C7908025CCE}">
      <dgm:prSet/>
      <dgm:spPr/>
      <dgm:t>
        <a:bodyPr/>
        <a:lstStyle/>
        <a:p>
          <a:endParaRPr lang="en-US"/>
        </a:p>
      </dgm:t>
    </dgm:pt>
    <dgm:pt modelId="{99953AB0-1A6E-4F16-B0CA-D4AA57D8CDEA}">
      <dgm:prSet/>
      <dgm:spPr/>
      <dgm:t>
        <a:bodyPr/>
        <a:lstStyle/>
        <a:p>
          <a:r>
            <a:rPr lang="en-US" b="1" dirty="0"/>
            <a:t>Cross-Border Electricity Trade (CBET): </a:t>
          </a:r>
        </a:p>
        <a:p>
          <a:r>
            <a:rPr lang="en-US" b="0" dirty="0"/>
            <a:t>Through participation in the CASA-1000 project, Pakistan shares transmission infrastructure and an operational OA framework with three other countries.</a:t>
          </a:r>
        </a:p>
      </dgm:t>
    </dgm:pt>
    <dgm:pt modelId="{F8B73247-22FC-4CED-BB88-542CBB1CC853}" type="parTrans" cxnId="{1DE31278-41D1-49BC-88FC-5C7ACFEE9AF7}">
      <dgm:prSet/>
      <dgm:spPr/>
      <dgm:t>
        <a:bodyPr/>
        <a:lstStyle/>
        <a:p>
          <a:endParaRPr lang="en-US"/>
        </a:p>
      </dgm:t>
    </dgm:pt>
    <dgm:pt modelId="{3AA7FE08-CD96-4DE2-AF1F-BC695613D7D8}" type="sibTrans" cxnId="{1DE31278-41D1-49BC-88FC-5C7ACFEE9AF7}">
      <dgm:prSet/>
      <dgm:spPr/>
      <dgm:t>
        <a:bodyPr/>
        <a:lstStyle/>
        <a:p>
          <a:endParaRPr lang="en-US"/>
        </a:p>
      </dgm:t>
    </dgm:pt>
    <dgm:pt modelId="{33578F58-E21F-407D-90D9-3EC9FB51A1AD}" type="pres">
      <dgm:prSet presAssocID="{1E6CE51B-8BFC-45E5-8636-CD6C5566A152}" presName="Name0" presStyleCnt="0">
        <dgm:presLayoutVars>
          <dgm:dir/>
          <dgm:resizeHandles val="exact"/>
        </dgm:presLayoutVars>
      </dgm:prSet>
      <dgm:spPr/>
    </dgm:pt>
    <dgm:pt modelId="{E9A3E900-8255-43EF-98BD-04EEAEDC0C92}" type="pres">
      <dgm:prSet presAssocID="{151AB05E-3ADB-4B03-B3B7-9028BD386A9F}" presName="node" presStyleLbl="node1" presStyleIdx="0" presStyleCnt="3">
        <dgm:presLayoutVars>
          <dgm:bulletEnabled val="1"/>
        </dgm:presLayoutVars>
      </dgm:prSet>
      <dgm:spPr/>
    </dgm:pt>
    <dgm:pt modelId="{7AF97FEF-3DE5-4876-9FBE-A1B00F8F4302}" type="pres">
      <dgm:prSet presAssocID="{1A66A0EE-A26D-4470-A659-F06485153755}" presName="sibTrans" presStyleCnt="0"/>
      <dgm:spPr/>
    </dgm:pt>
    <dgm:pt modelId="{651D7275-92DE-455F-AE00-AB03FE567FFB}" type="pres">
      <dgm:prSet presAssocID="{20F85567-EBBC-4888-9D45-0EDD665FA16B}" presName="node" presStyleLbl="node1" presStyleIdx="1" presStyleCnt="3">
        <dgm:presLayoutVars>
          <dgm:bulletEnabled val="1"/>
        </dgm:presLayoutVars>
      </dgm:prSet>
      <dgm:spPr/>
    </dgm:pt>
    <dgm:pt modelId="{3BCE70FB-3871-493D-AB85-F0AF125246B3}" type="pres">
      <dgm:prSet presAssocID="{8EB73022-9962-46AE-A342-CF7FFE3C8212}" presName="sibTrans" presStyleCnt="0"/>
      <dgm:spPr/>
    </dgm:pt>
    <dgm:pt modelId="{C3BC3A69-D0BD-49E8-B132-CE3C661E9521}" type="pres">
      <dgm:prSet presAssocID="{99953AB0-1A6E-4F16-B0CA-D4AA57D8CDEA}" presName="node" presStyleLbl="node1" presStyleIdx="2" presStyleCnt="3">
        <dgm:presLayoutVars>
          <dgm:bulletEnabled val="1"/>
        </dgm:presLayoutVars>
      </dgm:prSet>
      <dgm:spPr/>
    </dgm:pt>
  </dgm:ptLst>
  <dgm:cxnLst>
    <dgm:cxn modelId="{B4454C23-B371-4FC9-92AE-1ABD42F517E9}" type="presOf" srcId="{1E6CE51B-8BFC-45E5-8636-CD6C5566A152}" destId="{33578F58-E21F-407D-90D9-3EC9FB51A1AD}" srcOrd="0" destOrd="0" presId="urn:microsoft.com/office/officeart/2005/8/layout/hList6"/>
    <dgm:cxn modelId="{F6902D6F-80D0-4535-8A50-783D5D621ADB}" srcId="{1E6CE51B-8BFC-45E5-8636-CD6C5566A152}" destId="{151AB05E-3ADB-4B03-B3B7-9028BD386A9F}" srcOrd="0" destOrd="0" parTransId="{2B7A2D89-E248-404E-8C80-76145AFE0670}" sibTransId="{1A66A0EE-A26D-4470-A659-F06485153755}"/>
    <dgm:cxn modelId="{1DE31278-41D1-49BC-88FC-5C7ACFEE9AF7}" srcId="{1E6CE51B-8BFC-45E5-8636-CD6C5566A152}" destId="{99953AB0-1A6E-4F16-B0CA-D4AA57D8CDEA}" srcOrd="2" destOrd="0" parTransId="{F8B73247-22FC-4CED-BB88-542CBB1CC853}" sibTransId="{3AA7FE08-CD96-4DE2-AF1F-BC695613D7D8}"/>
    <dgm:cxn modelId="{8E5D638B-17CB-4462-988A-D622FEA957A5}" type="presOf" srcId="{20F85567-EBBC-4888-9D45-0EDD665FA16B}" destId="{651D7275-92DE-455F-AE00-AB03FE567FFB}" srcOrd="0" destOrd="0" presId="urn:microsoft.com/office/officeart/2005/8/layout/hList6"/>
    <dgm:cxn modelId="{813158D3-829D-4219-BEFB-3F0469A97EE5}" type="presOf" srcId="{99953AB0-1A6E-4F16-B0CA-D4AA57D8CDEA}" destId="{C3BC3A69-D0BD-49E8-B132-CE3C661E9521}" srcOrd="0" destOrd="0" presId="urn:microsoft.com/office/officeart/2005/8/layout/hList6"/>
    <dgm:cxn modelId="{128A3CE1-3FFE-4860-B420-3C7908025CCE}" srcId="{1E6CE51B-8BFC-45E5-8636-CD6C5566A152}" destId="{20F85567-EBBC-4888-9D45-0EDD665FA16B}" srcOrd="1" destOrd="0" parTransId="{A4382AC4-9AA4-41EA-A8D0-CB03B0153EAE}" sibTransId="{8EB73022-9962-46AE-A342-CF7FFE3C8212}"/>
    <dgm:cxn modelId="{4EB6A5F9-8786-4331-A3B4-9372D73F0697}" type="presOf" srcId="{151AB05E-3ADB-4B03-B3B7-9028BD386A9F}" destId="{E9A3E900-8255-43EF-98BD-04EEAEDC0C92}" srcOrd="0" destOrd="0" presId="urn:microsoft.com/office/officeart/2005/8/layout/hList6"/>
    <dgm:cxn modelId="{2F513493-02DC-4100-BF14-D6AC9D5D7068}" type="presParOf" srcId="{33578F58-E21F-407D-90D9-3EC9FB51A1AD}" destId="{E9A3E900-8255-43EF-98BD-04EEAEDC0C92}" srcOrd="0" destOrd="0" presId="urn:microsoft.com/office/officeart/2005/8/layout/hList6"/>
    <dgm:cxn modelId="{1DAE48A5-8228-430F-BE45-EA03CEC7DF48}" type="presParOf" srcId="{33578F58-E21F-407D-90D9-3EC9FB51A1AD}" destId="{7AF97FEF-3DE5-4876-9FBE-A1B00F8F4302}" srcOrd="1" destOrd="0" presId="urn:microsoft.com/office/officeart/2005/8/layout/hList6"/>
    <dgm:cxn modelId="{DDA8475A-E768-4FDE-9539-6D25E3609A7E}" type="presParOf" srcId="{33578F58-E21F-407D-90D9-3EC9FB51A1AD}" destId="{651D7275-92DE-455F-AE00-AB03FE567FFB}" srcOrd="2" destOrd="0" presId="urn:microsoft.com/office/officeart/2005/8/layout/hList6"/>
    <dgm:cxn modelId="{658DB39B-0AC0-46AF-B78B-DB3E4BD48109}" type="presParOf" srcId="{33578F58-E21F-407D-90D9-3EC9FB51A1AD}" destId="{3BCE70FB-3871-493D-AB85-F0AF125246B3}" srcOrd="3" destOrd="0" presId="urn:microsoft.com/office/officeart/2005/8/layout/hList6"/>
    <dgm:cxn modelId="{C76A19A3-08B5-407A-B69A-33A67812F6B2}" type="presParOf" srcId="{33578F58-E21F-407D-90D9-3EC9FB51A1AD}" destId="{C3BC3A69-D0BD-49E8-B132-CE3C661E9521}" srcOrd="4" destOrd="0" presId="urn:microsoft.com/office/officeart/2005/8/layout/hList6"/>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37B069-A8E2-41F7-B2B5-60BDE549B672}">
      <dsp:nvSpPr>
        <dsp:cNvPr id="0" name=""/>
        <dsp:cNvSpPr/>
      </dsp:nvSpPr>
      <dsp:spPr>
        <a:xfrm>
          <a:off x="0" y="252945"/>
          <a:ext cx="10589740" cy="1278900"/>
        </a:xfrm>
        <a:prstGeom prst="rect">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21881" tIns="291592" rIns="821881"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latin typeface="Calibri" panose="020F0502020204030204" pitchFamily="34" charset="0"/>
              <a:cs typeface="Calibri" panose="020F0502020204030204" pitchFamily="34" charset="0"/>
            </a:rPr>
            <a:t>Short-term</a:t>
          </a:r>
        </a:p>
        <a:p>
          <a:pPr marL="171450" lvl="1" indent="-171450" algn="l" defTabSz="800100">
            <a:lnSpc>
              <a:spcPct val="90000"/>
            </a:lnSpc>
            <a:spcBef>
              <a:spcPct val="0"/>
            </a:spcBef>
            <a:spcAft>
              <a:spcPct val="15000"/>
            </a:spcAft>
            <a:buChar char="•"/>
          </a:pPr>
          <a:r>
            <a:rPr lang="en-US" sz="1800" kern="1200" dirty="0">
              <a:latin typeface="Calibri" panose="020F0502020204030204" pitchFamily="34" charset="0"/>
              <a:cs typeface="Calibri" panose="020F0502020204030204" pitchFamily="34" charset="0"/>
            </a:rPr>
            <a:t>Medium-term</a:t>
          </a:r>
        </a:p>
        <a:p>
          <a:pPr marL="171450" lvl="1" indent="-171450" algn="l" defTabSz="800100">
            <a:lnSpc>
              <a:spcPct val="90000"/>
            </a:lnSpc>
            <a:spcBef>
              <a:spcPct val="0"/>
            </a:spcBef>
            <a:spcAft>
              <a:spcPct val="15000"/>
            </a:spcAft>
            <a:buChar char="•"/>
          </a:pPr>
          <a:r>
            <a:rPr lang="en-US" sz="1800" kern="1200" dirty="0">
              <a:latin typeface="Calibri" panose="020F0502020204030204" pitchFamily="34" charset="0"/>
              <a:cs typeface="Calibri" panose="020F0502020204030204" pitchFamily="34" charset="0"/>
            </a:rPr>
            <a:t>Long-term</a:t>
          </a:r>
        </a:p>
      </dsp:txBody>
      <dsp:txXfrm>
        <a:off x="0" y="252945"/>
        <a:ext cx="10589740" cy="1278900"/>
      </dsp:txXfrm>
    </dsp:sp>
    <dsp:sp modelId="{AE0EB087-C4F4-403F-BA33-4FAB7E6E2D2E}">
      <dsp:nvSpPr>
        <dsp:cNvPr id="0" name=""/>
        <dsp:cNvSpPr/>
      </dsp:nvSpPr>
      <dsp:spPr>
        <a:xfrm>
          <a:off x="529487" y="46305"/>
          <a:ext cx="7412818" cy="41328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0187" tIns="0" rIns="280187" bIns="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Calibri" panose="020F0502020204030204" pitchFamily="34" charset="0"/>
              <a:cs typeface="Calibri" panose="020F0502020204030204" pitchFamily="34" charset="0"/>
            </a:rPr>
            <a:t>Based on duration</a:t>
          </a:r>
        </a:p>
      </dsp:txBody>
      <dsp:txXfrm>
        <a:off x="549662" y="66480"/>
        <a:ext cx="7372468" cy="372930"/>
      </dsp:txXfrm>
    </dsp:sp>
    <dsp:sp modelId="{06804F28-FAF5-452B-8AD3-68F5622E010A}">
      <dsp:nvSpPr>
        <dsp:cNvPr id="0" name=""/>
        <dsp:cNvSpPr/>
      </dsp:nvSpPr>
      <dsp:spPr>
        <a:xfrm>
          <a:off x="0" y="1814086"/>
          <a:ext cx="10589740" cy="1234800"/>
        </a:xfrm>
        <a:prstGeom prst="rect">
          <a:avLst/>
        </a:prstGeom>
        <a:solidFill>
          <a:schemeClr val="lt1">
            <a:alpha val="90000"/>
            <a:hueOff val="0"/>
            <a:satOff val="0"/>
            <a:lumOff val="0"/>
            <a:alphaOff val="0"/>
          </a:schemeClr>
        </a:solidFill>
        <a:ln w="19050" cap="flat" cmpd="sng" algn="ctr">
          <a:solidFill>
            <a:schemeClr val="accent3">
              <a:hueOff val="2058582"/>
              <a:satOff val="12356"/>
              <a:lumOff val="941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21881" tIns="291592" rIns="821881"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latin typeface="Calibri" panose="020F0502020204030204" pitchFamily="34" charset="0"/>
              <a:cs typeface="Calibri" panose="020F0502020204030204" pitchFamily="34" charset="0"/>
            </a:rPr>
            <a:t>Partial open access – Consumer retains contract demand with utility</a:t>
          </a:r>
        </a:p>
        <a:p>
          <a:pPr marL="171450" lvl="1" indent="-171450" algn="l" defTabSz="800100">
            <a:lnSpc>
              <a:spcPct val="90000"/>
            </a:lnSpc>
            <a:spcBef>
              <a:spcPct val="0"/>
            </a:spcBef>
            <a:spcAft>
              <a:spcPct val="15000"/>
            </a:spcAft>
            <a:buChar char="•"/>
          </a:pPr>
          <a:r>
            <a:rPr lang="en-US" sz="1800" kern="1200" dirty="0">
              <a:latin typeface="Calibri" panose="020F0502020204030204" pitchFamily="34" charset="0"/>
              <a:cs typeface="Calibri" panose="020F0502020204030204" pitchFamily="34" charset="0"/>
            </a:rPr>
            <a:t>Full open access - Consumer does not have / does not retain a demand contract with the utility. A standby power support arrangement may be in place with the utility</a:t>
          </a:r>
        </a:p>
      </dsp:txBody>
      <dsp:txXfrm>
        <a:off x="0" y="1814086"/>
        <a:ext cx="10589740" cy="1234800"/>
      </dsp:txXfrm>
    </dsp:sp>
    <dsp:sp modelId="{57383326-2A39-46F5-B901-B4C6D37AC9ED}">
      <dsp:nvSpPr>
        <dsp:cNvPr id="0" name=""/>
        <dsp:cNvSpPr/>
      </dsp:nvSpPr>
      <dsp:spPr>
        <a:xfrm>
          <a:off x="529487" y="1607446"/>
          <a:ext cx="7412818" cy="413280"/>
        </a:xfrm>
        <a:prstGeom prst="roundRect">
          <a:avLst/>
        </a:prstGeom>
        <a:solidFill>
          <a:schemeClr val="accent3">
            <a:hueOff val="2058582"/>
            <a:satOff val="12356"/>
            <a:lumOff val="941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0187" tIns="0" rIns="280187" bIns="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Calibri" panose="020F0502020204030204" pitchFamily="34" charset="0"/>
              <a:cs typeface="Calibri" panose="020F0502020204030204" pitchFamily="34" charset="0"/>
            </a:rPr>
            <a:t>Based on consumer’s relationship with utility</a:t>
          </a:r>
        </a:p>
      </dsp:txBody>
      <dsp:txXfrm>
        <a:off x="549662" y="1627621"/>
        <a:ext cx="7372468" cy="372930"/>
      </dsp:txXfrm>
    </dsp:sp>
    <dsp:sp modelId="{1EDEF3C8-25E8-446E-9322-DC11912B632E}">
      <dsp:nvSpPr>
        <dsp:cNvPr id="0" name=""/>
        <dsp:cNvSpPr/>
      </dsp:nvSpPr>
      <dsp:spPr>
        <a:xfrm>
          <a:off x="0" y="3331126"/>
          <a:ext cx="10589740" cy="970200"/>
        </a:xfrm>
        <a:prstGeom prst="rect">
          <a:avLst/>
        </a:prstGeom>
        <a:solidFill>
          <a:schemeClr val="lt1">
            <a:alpha val="90000"/>
            <a:hueOff val="0"/>
            <a:satOff val="0"/>
            <a:lumOff val="0"/>
            <a:alphaOff val="0"/>
          </a:schemeClr>
        </a:solidFill>
        <a:ln w="19050" cap="flat" cmpd="sng" algn="ctr">
          <a:solidFill>
            <a:schemeClr val="accent3">
              <a:hueOff val="4117163"/>
              <a:satOff val="24712"/>
              <a:lumOff val="1882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21881" tIns="291592" rIns="821881"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latin typeface="Calibri" panose="020F0502020204030204" pitchFamily="34" charset="0"/>
              <a:cs typeface="Calibri" panose="020F0502020204030204" pitchFamily="34" charset="0"/>
            </a:rPr>
            <a:t>Captive – Power plant is fully or partially owned by the consumer</a:t>
          </a:r>
        </a:p>
        <a:p>
          <a:pPr marL="171450" lvl="1" indent="-171450" algn="l" defTabSz="800100">
            <a:lnSpc>
              <a:spcPct val="90000"/>
            </a:lnSpc>
            <a:spcBef>
              <a:spcPct val="0"/>
            </a:spcBef>
            <a:spcAft>
              <a:spcPct val="15000"/>
            </a:spcAft>
            <a:buChar char="•"/>
          </a:pPr>
          <a:r>
            <a:rPr lang="en-US" sz="1800" kern="1200" dirty="0">
              <a:latin typeface="Calibri" panose="020F0502020204030204" pitchFamily="34" charset="0"/>
              <a:cs typeface="Calibri" panose="020F0502020204030204" pitchFamily="34" charset="0"/>
            </a:rPr>
            <a:t>Third-party – Consumer does not have any ownership in the power plant</a:t>
          </a:r>
        </a:p>
      </dsp:txBody>
      <dsp:txXfrm>
        <a:off x="0" y="3331126"/>
        <a:ext cx="10589740" cy="970200"/>
      </dsp:txXfrm>
    </dsp:sp>
    <dsp:sp modelId="{BCB3594D-70DB-4250-9EFB-917CDC707732}">
      <dsp:nvSpPr>
        <dsp:cNvPr id="0" name=""/>
        <dsp:cNvSpPr/>
      </dsp:nvSpPr>
      <dsp:spPr>
        <a:xfrm>
          <a:off x="529487" y="3124486"/>
          <a:ext cx="7412818" cy="413280"/>
        </a:xfrm>
        <a:prstGeom prst="roundRect">
          <a:avLst/>
        </a:prstGeom>
        <a:solidFill>
          <a:schemeClr val="accent3">
            <a:hueOff val="4117163"/>
            <a:satOff val="24712"/>
            <a:lumOff val="1882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0187" tIns="0" rIns="280187" bIns="0" numCol="1" spcCol="1270" anchor="ctr" anchorCtr="0">
          <a:noAutofit/>
        </a:bodyPr>
        <a:lstStyle/>
        <a:p>
          <a:pPr marL="0" lvl="0" indent="0" algn="l" defTabSz="800100">
            <a:lnSpc>
              <a:spcPct val="90000"/>
            </a:lnSpc>
            <a:spcBef>
              <a:spcPct val="0"/>
            </a:spcBef>
            <a:spcAft>
              <a:spcPct val="35000"/>
            </a:spcAft>
            <a:buNone/>
          </a:pPr>
          <a:r>
            <a:rPr lang="en-US" sz="1800" kern="1200">
              <a:latin typeface="Calibri" panose="020F0502020204030204" pitchFamily="34" charset="0"/>
              <a:cs typeface="Calibri" panose="020F0502020204030204" pitchFamily="34" charset="0"/>
            </a:rPr>
            <a:t>Based</a:t>
          </a:r>
          <a:r>
            <a:rPr lang="en-US" sz="1800" kern="1200" spc="-10">
              <a:latin typeface="Calibri" panose="020F0502020204030204" pitchFamily="34" charset="0"/>
              <a:cs typeface="Calibri" panose="020F0502020204030204" pitchFamily="34" charset="0"/>
            </a:rPr>
            <a:t> </a:t>
          </a:r>
          <a:r>
            <a:rPr lang="en-US" sz="1800" kern="1200">
              <a:latin typeface="Calibri" panose="020F0502020204030204" pitchFamily="34" charset="0"/>
              <a:cs typeface="Calibri" panose="020F0502020204030204" pitchFamily="34" charset="0"/>
            </a:rPr>
            <a:t>on</a:t>
          </a:r>
          <a:r>
            <a:rPr lang="en-US" sz="1800" kern="1200" spc="-15">
              <a:latin typeface="Calibri" panose="020F0502020204030204" pitchFamily="34" charset="0"/>
              <a:cs typeface="Calibri" panose="020F0502020204030204" pitchFamily="34" charset="0"/>
            </a:rPr>
            <a:t> </a:t>
          </a:r>
          <a:r>
            <a:rPr lang="en-US" sz="1800" kern="1200" spc="-10">
              <a:latin typeface="Calibri" panose="020F0502020204030204" pitchFamily="34" charset="0"/>
              <a:cs typeface="Calibri" panose="020F0502020204030204" pitchFamily="34" charset="0"/>
            </a:rPr>
            <a:t>consumer’s</a:t>
          </a:r>
          <a:r>
            <a:rPr lang="en-US" sz="1800" kern="1200" spc="-15">
              <a:latin typeface="Calibri" panose="020F0502020204030204" pitchFamily="34" charset="0"/>
              <a:cs typeface="Calibri" panose="020F0502020204030204" pitchFamily="34" charset="0"/>
            </a:rPr>
            <a:t> </a:t>
          </a:r>
          <a:r>
            <a:rPr lang="en-US" sz="1800" kern="1200">
              <a:latin typeface="Calibri" panose="020F0502020204030204" pitchFamily="34" charset="0"/>
              <a:cs typeface="Calibri" panose="020F0502020204030204" pitchFamily="34" charset="0"/>
            </a:rPr>
            <a:t>ownership</a:t>
          </a:r>
          <a:r>
            <a:rPr lang="en-US" sz="1800" kern="1200" baseline="24305">
              <a:latin typeface="Calibri" panose="020F0502020204030204" pitchFamily="34" charset="0"/>
              <a:cs typeface="Calibri" panose="020F0502020204030204" pitchFamily="34" charset="0"/>
            </a:rPr>
            <a:t>*</a:t>
          </a:r>
          <a:r>
            <a:rPr lang="en-US" sz="1800" kern="1200" spc="157" baseline="24305">
              <a:latin typeface="Calibri" panose="020F0502020204030204" pitchFamily="34" charset="0"/>
              <a:cs typeface="Calibri" panose="020F0502020204030204" pitchFamily="34" charset="0"/>
            </a:rPr>
            <a:t> </a:t>
          </a:r>
          <a:r>
            <a:rPr lang="en-US" sz="1800" kern="1200">
              <a:latin typeface="Calibri" panose="020F0502020204030204" pitchFamily="34" charset="0"/>
              <a:cs typeface="Calibri" panose="020F0502020204030204" pitchFamily="34" charset="0"/>
            </a:rPr>
            <a:t>on</a:t>
          </a:r>
          <a:r>
            <a:rPr lang="en-US" sz="1800" kern="1200" spc="-5">
              <a:latin typeface="Calibri" panose="020F0502020204030204" pitchFamily="34" charset="0"/>
              <a:cs typeface="Calibri" panose="020F0502020204030204" pitchFamily="34" charset="0"/>
            </a:rPr>
            <a:t> </a:t>
          </a:r>
          <a:r>
            <a:rPr lang="en-US" sz="1800" kern="1200">
              <a:latin typeface="Calibri" panose="020F0502020204030204" pitchFamily="34" charset="0"/>
              <a:cs typeface="Calibri" panose="020F0502020204030204" pitchFamily="34" charset="0"/>
            </a:rPr>
            <a:t>the</a:t>
          </a:r>
          <a:r>
            <a:rPr lang="en-US" sz="1800" kern="1200" spc="-10">
              <a:latin typeface="Calibri" panose="020F0502020204030204" pitchFamily="34" charset="0"/>
              <a:cs typeface="Calibri" panose="020F0502020204030204" pitchFamily="34" charset="0"/>
            </a:rPr>
            <a:t> generator</a:t>
          </a:r>
          <a:endParaRPr lang="en-US" sz="1800" kern="1200" dirty="0">
            <a:latin typeface="Calibri" panose="020F0502020204030204" pitchFamily="34" charset="0"/>
            <a:cs typeface="Calibri" panose="020F0502020204030204" pitchFamily="34" charset="0"/>
          </a:endParaRPr>
        </a:p>
      </dsp:txBody>
      <dsp:txXfrm>
        <a:off x="549662" y="3144661"/>
        <a:ext cx="7372468" cy="3729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DD9D91-E5B9-4C14-8179-FE2D64C6619A}">
      <dsp:nvSpPr>
        <dsp:cNvPr id="0" name=""/>
        <dsp:cNvSpPr/>
      </dsp:nvSpPr>
      <dsp:spPr>
        <a:xfrm>
          <a:off x="0" y="2240"/>
          <a:ext cx="10818703" cy="7113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latin typeface="Calibri" panose="020F0502020204030204" pitchFamily="34" charset="0"/>
              <a:cs typeface="Calibri" panose="020F0502020204030204" pitchFamily="34" charset="0"/>
            </a:rPr>
            <a:t>Power Services Regulations Act 2016</a:t>
          </a:r>
          <a:r>
            <a:rPr lang="en-US" sz="1800" kern="1200" dirty="0">
              <a:latin typeface="Calibri" panose="020F0502020204030204" pitchFamily="34" charset="0"/>
              <a:cs typeface="Calibri" panose="020F0502020204030204" pitchFamily="34" charset="0"/>
            </a:rPr>
            <a:t> establishes the Afghanistan Electricity Regulatory Authority (AERA), defining its powers and duties.</a:t>
          </a:r>
        </a:p>
      </dsp:txBody>
      <dsp:txXfrm>
        <a:off x="34726" y="36966"/>
        <a:ext cx="10749251" cy="641908"/>
      </dsp:txXfrm>
    </dsp:sp>
    <dsp:sp modelId="{9A14A703-469B-4BBB-8E0B-AE3F31A063E3}">
      <dsp:nvSpPr>
        <dsp:cNvPr id="0" name=""/>
        <dsp:cNvSpPr/>
      </dsp:nvSpPr>
      <dsp:spPr>
        <a:xfrm>
          <a:off x="0" y="823040"/>
          <a:ext cx="10818703" cy="7113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Calibri" panose="020F0502020204030204" pitchFamily="34" charset="0"/>
              <a:cs typeface="Calibri" panose="020F0502020204030204" pitchFamily="34" charset="0"/>
            </a:rPr>
            <a:t>Covers licensing, technical standards, network interconnection, access, etc.</a:t>
          </a:r>
        </a:p>
      </dsp:txBody>
      <dsp:txXfrm>
        <a:off x="34726" y="857766"/>
        <a:ext cx="10749251" cy="641908"/>
      </dsp:txXfrm>
    </dsp:sp>
    <dsp:sp modelId="{9659B6B3-CC57-4D5E-AD11-70F9115EF5E9}">
      <dsp:nvSpPr>
        <dsp:cNvPr id="0" name=""/>
        <dsp:cNvSpPr/>
      </dsp:nvSpPr>
      <dsp:spPr>
        <a:xfrm>
          <a:off x="0" y="1643840"/>
          <a:ext cx="10818703" cy="7113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Calibri" panose="020F0502020204030204" pitchFamily="34" charset="0"/>
              <a:cs typeface="Calibri" panose="020F0502020204030204" pitchFamily="34" charset="0"/>
            </a:rPr>
            <a:t>Mandates AERA to regulate cross-border electricity exchanges, aligning with international agreements.</a:t>
          </a:r>
        </a:p>
      </dsp:txBody>
      <dsp:txXfrm>
        <a:off x="34726" y="1678566"/>
        <a:ext cx="10749251" cy="641908"/>
      </dsp:txXfrm>
    </dsp:sp>
    <dsp:sp modelId="{1168A99C-0228-4DC8-98A8-0DDA15BE05B0}">
      <dsp:nvSpPr>
        <dsp:cNvPr id="0" name=""/>
        <dsp:cNvSpPr/>
      </dsp:nvSpPr>
      <dsp:spPr>
        <a:xfrm>
          <a:off x="0" y="2464641"/>
          <a:ext cx="10818703" cy="7113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Calibri" panose="020F0502020204030204" pitchFamily="34" charset="0"/>
              <a:cs typeface="Calibri" panose="020F0502020204030204" pitchFamily="34" charset="0"/>
            </a:rPr>
            <a:t>Requires transmission licensees to provide fair, nondiscriminatory access and tariffs to all users.</a:t>
          </a:r>
        </a:p>
      </dsp:txBody>
      <dsp:txXfrm>
        <a:off x="34726" y="2499367"/>
        <a:ext cx="10749251" cy="641908"/>
      </dsp:txXfrm>
    </dsp:sp>
    <dsp:sp modelId="{E50068DA-96BB-4B17-88FF-78BC036232A3}">
      <dsp:nvSpPr>
        <dsp:cNvPr id="0" name=""/>
        <dsp:cNvSpPr/>
      </dsp:nvSpPr>
      <dsp:spPr>
        <a:xfrm>
          <a:off x="0" y="3285441"/>
          <a:ext cx="10818703" cy="7113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Calibri" panose="020F0502020204030204" pitchFamily="34" charset="0"/>
              <a:cs typeface="Calibri" panose="020F0502020204030204" pitchFamily="34" charset="0"/>
            </a:rPr>
            <a:t>No current regulations for Open Access (OA) on transmission and distribution networks.</a:t>
          </a:r>
        </a:p>
      </dsp:txBody>
      <dsp:txXfrm>
        <a:off x="34726" y="3320167"/>
        <a:ext cx="10749251" cy="641908"/>
      </dsp:txXfrm>
    </dsp:sp>
    <dsp:sp modelId="{2F8543CD-0404-4B68-A34B-7D82480EB32A}">
      <dsp:nvSpPr>
        <dsp:cNvPr id="0" name=""/>
        <dsp:cNvSpPr/>
      </dsp:nvSpPr>
      <dsp:spPr>
        <a:xfrm>
          <a:off x="0" y="4106241"/>
          <a:ext cx="10818703" cy="7113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Calibri" panose="020F0502020204030204" pitchFamily="34" charset="0"/>
              <a:cs typeface="Calibri" panose="020F0502020204030204" pitchFamily="34" charset="0"/>
            </a:rPr>
            <a:t>OA mechanism elements (e.g., metering code, energy accounting, transmission pricing, grid code) remain unspecified. </a:t>
          </a:r>
        </a:p>
      </dsp:txBody>
      <dsp:txXfrm>
        <a:off x="34726" y="4140967"/>
        <a:ext cx="10749251" cy="64190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A3E900-8255-43EF-98BD-04EEAEDC0C92}">
      <dsp:nvSpPr>
        <dsp:cNvPr id="0" name=""/>
        <dsp:cNvSpPr/>
      </dsp:nvSpPr>
      <dsp:spPr>
        <a:xfrm rot="16200000">
          <a:off x="-655389" y="658079"/>
          <a:ext cx="3955542" cy="2639383"/>
        </a:xfrm>
        <a:prstGeom prst="flowChartManualOperation">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0" rIns="114328" bIns="0" numCol="1" spcCol="1270" anchor="ctr" anchorCtr="0">
          <a:noAutofit/>
        </a:bodyPr>
        <a:lstStyle/>
        <a:p>
          <a:pPr marL="0" lvl="0" indent="0" algn="ctr" defTabSz="800100">
            <a:lnSpc>
              <a:spcPct val="90000"/>
            </a:lnSpc>
            <a:spcBef>
              <a:spcPct val="0"/>
            </a:spcBef>
            <a:spcAft>
              <a:spcPct val="35000"/>
            </a:spcAft>
            <a:buNone/>
          </a:pPr>
          <a:r>
            <a:rPr lang="en-US" sz="1800" kern="1200" dirty="0"/>
            <a:t>Afghanistan's domestic power sector is vertically integrated, lacking an Open Access (OA) framework.</a:t>
          </a:r>
        </a:p>
      </dsp:txBody>
      <dsp:txXfrm rot="5400000">
        <a:off x="2691" y="791107"/>
        <a:ext cx="2639383" cy="2373326"/>
      </dsp:txXfrm>
    </dsp:sp>
    <dsp:sp modelId="{651D7275-92DE-455F-AE00-AB03FE567FFB}">
      <dsp:nvSpPr>
        <dsp:cNvPr id="0" name=""/>
        <dsp:cNvSpPr/>
      </dsp:nvSpPr>
      <dsp:spPr>
        <a:xfrm rot="16200000">
          <a:off x="2181948" y="658079"/>
          <a:ext cx="3955542" cy="2639383"/>
        </a:xfrm>
        <a:prstGeom prst="flowChartManualOperation">
          <a:avLst/>
        </a:prstGeom>
        <a:solidFill>
          <a:schemeClr val="accent3">
            <a:hueOff val="1372388"/>
            <a:satOff val="8237"/>
            <a:lumOff val="627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0" rIns="114328" bIns="0" numCol="1" spcCol="1270" anchor="ctr" anchorCtr="0">
          <a:noAutofit/>
        </a:bodyPr>
        <a:lstStyle/>
        <a:p>
          <a:pPr marL="0" lvl="0" indent="0" algn="ctr" defTabSz="800100">
            <a:lnSpc>
              <a:spcPct val="90000"/>
            </a:lnSpc>
            <a:spcBef>
              <a:spcPct val="0"/>
            </a:spcBef>
            <a:spcAft>
              <a:spcPct val="35000"/>
            </a:spcAft>
            <a:buNone/>
          </a:pPr>
          <a:r>
            <a:rPr lang="en-US" sz="1800" kern="1200"/>
            <a:t>The CASA 1000 Master Agreement allows power trade with Central Asia and Pakistan, setting procedures for transmission access among member countries.</a:t>
          </a:r>
        </a:p>
      </dsp:txBody>
      <dsp:txXfrm rot="5400000">
        <a:off x="2840028" y="791107"/>
        <a:ext cx="2639383" cy="2373326"/>
      </dsp:txXfrm>
    </dsp:sp>
    <dsp:sp modelId="{C3BC3A69-D0BD-49E8-B132-CE3C661E9521}">
      <dsp:nvSpPr>
        <dsp:cNvPr id="0" name=""/>
        <dsp:cNvSpPr/>
      </dsp:nvSpPr>
      <dsp:spPr>
        <a:xfrm rot="16200000">
          <a:off x="5019285" y="658079"/>
          <a:ext cx="3955542" cy="2639383"/>
        </a:xfrm>
        <a:prstGeom prst="flowChartManualOperation">
          <a:avLst/>
        </a:prstGeom>
        <a:solidFill>
          <a:schemeClr val="accent3">
            <a:hueOff val="2744775"/>
            <a:satOff val="16475"/>
            <a:lumOff val="1255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0" rIns="114328" bIns="0" numCol="1" spcCol="1270" anchor="ctr" anchorCtr="0">
          <a:noAutofit/>
        </a:bodyPr>
        <a:lstStyle/>
        <a:p>
          <a:pPr marL="0" lvl="0" indent="0" algn="ctr" defTabSz="800100">
            <a:lnSpc>
              <a:spcPct val="90000"/>
            </a:lnSpc>
            <a:spcBef>
              <a:spcPct val="0"/>
            </a:spcBef>
            <a:spcAft>
              <a:spcPct val="35000"/>
            </a:spcAft>
            <a:buNone/>
          </a:pPr>
          <a:r>
            <a:rPr lang="en-US" sz="1800" kern="1200"/>
            <a:t>Provides OA during non-supply periods, enabling allocation of all available transmission capacity per OA rules.</a:t>
          </a:r>
        </a:p>
      </dsp:txBody>
      <dsp:txXfrm rot="5400000">
        <a:off x="5677365" y="791107"/>
        <a:ext cx="2639383" cy="2373326"/>
      </dsp:txXfrm>
    </dsp:sp>
    <dsp:sp modelId="{6CED1DC9-2F9D-4EBB-8B57-7D532EFB1141}">
      <dsp:nvSpPr>
        <dsp:cNvPr id="0" name=""/>
        <dsp:cNvSpPr/>
      </dsp:nvSpPr>
      <dsp:spPr>
        <a:xfrm rot="16200000">
          <a:off x="7856623" y="658079"/>
          <a:ext cx="3955542" cy="2639383"/>
        </a:xfrm>
        <a:prstGeom prst="flowChartManualOperation">
          <a:avLst/>
        </a:prstGeom>
        <a:solidFill>
          <a:schemeClr val="accent3">
            <a:hueOff val="4117163"/>
            <a:satOff val="24712"/>
            <a:lumOff val="1882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0" rIns="114328" bIns="0" numCol="1" spcCol="1270" anchor="ctr" anchorCtr="0">
          <a:noAutofit/>
        </a:bodyPr>
        <a:lstStyle/>
        <a:p>
          <a:pPr marL="0" lvl="0" indent="0" algn="ctr" defTabSz="800100">
            <a:lnSpc>
              <a:spcPct val="90000"/>
            </a:lnSpc>
            <a:spcBef>
              <a:spcPct val="0"/>
            </a:spcBef>
            <a:spcAft>
              <a:spcPct val="35000"/>
            </a:spcAft>
            <a:buNone/>
          </a:pPr>
          <a:r>
            <a:rPr lang="en-US" sz="1800" kern="1200"/>
            <a:t>Member countries can assess market demand and set prices for OA use.</a:t>
          </a:r>
        </a:p>
      </dsp:txBody>
      <dsp:txXfrm rot="5400000">
        <a:off x="8514703" y="791107"/>
        <a:ext cx="2639383" cy="237332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A3E900-8255-43EF-98BD-04EEAEDC0C92}">
      <dsp:nvSpPr>
        <dsp:cNvPr id="0" name=""/>
        <dsp:cNvSpPr/>
      </dsp:nvSpPr>
      <dsp:spPr>
        <a:xfrm rot="16200000">
          <a:off x="-205924" y="207286"/>
          <a:ext cx="3955542" cy="3540968"/>
        </a:xfrm>
        <a:prstGeom prst="flowChartManualOperation">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0" rIns="116722" bIns="0" numCol="1" spcCol="1270" anchor="ctr" anchorCtr="0">
          <a:noAutofit/>
        </a:bodyPr>
        <a:lstStyle/>
        <a:p>
          <a:pPr marL="0" lvl="0" indent="0" algn="ctr" defTabSz="800100">
            <a:lnSpc>
              <a:spcPct val="90000"/>
            </a:lnSpc>
            <a:spcBef>
              <a:spcPct val="0"/>
            </a:spcBef>
            <a:spcAft>
              <a:spcPct val="35000"/>
            </a:spcAft>
            <a:buNone/>
          </a:pPr>
          <a:r>
            <a:rPr lang="en-US" sz="1800" b="1" kern="1200" dirty="0"/>
            <a:t>Private Sector Investment Guidelines (2007) and Policy on Sale of Excess Power from Captive Power Plants (2006): </a:t>
          </a:r>
        </a:p>
        <a:p>
          <a:pPr marL="0" lvl="0" indent="0" algn="ctr" defTabSz="800100">
            <a:lnSpc>
              <a:spcPct val="90000"/>
            </a:lnSpc>
            <a:spcBef>
              <a:spcPct val="0"/>
            </a:spcBef>
            <a:spcAft>
              <a:spcPct val="35000"/>
            </a:spcAft>
            <a:buNone/>
          </a:pPr>
          <a:r>
            <a:rPr lang="en-US" sz="1800" kern="1200" dirty="0"/>
            <a:t>Include some provisions related to Open Access (OA) operations.</a:t>
          </a:r>
        </a:p>
      </dsp:txBody>
      <dsp:txXfrm rot="5400000">
        <a:off x="1363" y="791107"/>
        <a:ext cx="3540968" cy="2373326"/>
      </dsp:txXfrm>
    </dsp:sp>
    <dsp:sp modelId="{651D7275-92DE-455F-AE00-AB03FE567FFB}">
      <dsp:nvSpPr>
        <dsp:cNvPr id="0" name=""/>
        <dsp:cNvSpPr/>
      </dsp:nvSpPr>
      <dsp:spPr>
        <a:xfrm rot="16200000">
          <a:off x="3600617" y="207286"/>
          <a:ext cx="3955542" cy="3540968"/>
        </a:xfrm>
        <a:prstGeom prst="flowChartManualOperation">
          <a:avLst/>
        </a:prstGeom>
        <a:solidFill>
          <a:schemeClr val="accent3">
            <a:hueOff val="2058582"/>
            <a:satOff val="12356"/>
            <a:lumOff val="941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0" rIns="116722" bIns="0" numCol="1" spcCol="1270" anchor="ctr" anchorCtr="0">
          <a:noAutofit/>
        </a:bodyPr>
        <a:lstStyle/>
        <a:p>
          <a:pPr marL="0" lvl="0" indent="0" algn="ctr" defTabSz="800100">
            <a:lnSpc>
              <a:spcPct val="90000"/>
            </a:lnSpc>
            <a:spcBef>
              <a:spcPct val="0"/>
            </a:spcBef>
            <a:spcAft>
              <a:spcPct val="35000"/>
            </a:spcAft>
            <a:buNone/>
          </a:pPr>
          <a:r>
            <a:rPr lang="en-US" sz="1800" b="1" kern="1200" dirty="0"/>
            <a:t>No Specific OA Provisions:</a:t>
          </a:r>
        </a:p>
        <a:p>
          <a:pPr marL="0" lvl="0" indent="0" algn="ctr" defTabSz="800100">
            <a:lnSpc>
              <a:spcPct val="90000"/>
            </a:lnSpc>
            <a:spcBef>
              <a:spcPct val="0"/>
            </a:spcBef>
            <a:spcAft>
              <a:spcPct val="35000"/>
            </a:spcAft>
            <a:buNone/>
          </a:pPr>
          <a:r>
            <a:rPr lang="en-US" sz="1800" kern="1200" dirty="0"/>
            <a:t> Currently, no specific OA provisions allow private generators or consumers to transfer power across the transmission network.</a:t>
          </a:r>
        </a:p>
      </dsp:txBody>
      <dsp:txXfrm rot="5400000">
        <a:off x="3807904" y="791107"/>
        <a:ext cx="3540968" cy="2373326"/>
      </dsp:txXfrm>
    </dsp:sp>
    <dsp:sp modelId="{C3BC3A69-D0BD-49E8-B132-CE3C661E9521}">
      <dsp:nvSpPr>
        <dsp:cNvPr id="0" name=""/>
        <dsp:cNvSpPr/>
      </dsp:nvSpPr>
      <dsp:spPr>
        <a:xfrm rot="16200000">
          <a:off x="7407158" y="207286"/>
          <a:ext cx="3955542" cy="3540968"/>
        </a:xfrm>
        <a:prstGeom prst="flowChartManualOperation">
          <a:avLst/>
        </a:prstGeom>
        <a:solidFill>
          <a:schemeClr val="accent3">
            <a:hueOff val="4117163"/>
            <a:satOff val="24712"/>
            <a:lumOff val="1882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0" rIns="116722" bIns="0" numCol="1" spcCol="1270" anchor="ctr" anchorCtr="0">
          <a:noAutofit/>
        </a:bodyPr>
        <a:lstStyle/>
        <a:p>
          <a:pPr marL="0" lvl="0" indent="0" algn="ctr" defTabSz="800100">
            <a:lnSpc>
              <a:spcPct val="90000"/>
            </a:lnSpc>
            <a:spcBef>
              <a:spcPct val="0"/>
            </a:spcBef>
            <a:spcAft>
              <a:spcPct val="35000"/>
            </a:spcAft>
            <a:buNone/>
          </a:pPr>
          <a:r>
            <a:rPr lang="en-US" sz="1800" b="1" kern="1200" dirty="0"/>
            <a:t>Bangladesh Energy Regulatory Commission (BERC):</a:t>
          </a:r>
          <a:r>
            <a:rPr lang="en-US" sz="1800" kern="1200" dirty="0"/>
            <a:t> </a:t>
          </a:r>
        </a:p>
        <a:p>
          <a:pPr marL="0" lvl="0" indent="0" algn="ctr" defTabSz="800100">
            <a:lnSpc>
              <a:spcPct val="90000"/>
            </a:lnSpc>
            <a:spcBef>
              <a:spcPct val="0"/>
            </a:spcBef>
            <a:spcAft>
              <a:spcPct val="35000"/>
            </a:spcAft>
            <a:buNone/>
          </a:pPr>
          <a:r>
            <a:rPr lang="en-US" sz="1800" kern="1200" dirty="0"/>
            <a:t>Yet to establish a comprehensive OA framework, which would set eligibility criteria, OA grants, and other requirements to enable an OA market in Bangladesh.</a:t>
          </a:r>
        </a:p>
      </dsp:txBody>
      <dsp:txXfrm rot="5400000">
        <a:off x="7614445" y="791107"/>
        <a:ext cx="3540968" cy="237332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A3E900-8255-43EF-98BD-04EEAEDC0C92}">
      <dsp:nvSpPr>
        <dsp:cNvPr id="0" name=""/>
        <dsp:cNvSpPr/>
      </dsp:nvSpPr>
      <dsp:spPr>
        <a:xfrm rot="16200000">
          <a:off x="-205924" y="207286"/>
          <a:ext cx="3955542" cy="3540968"/>
        </a:xfrm>
        <a:prstGeom prst="flowChartManualOperation">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0" tIns="0" rIns="120303" bIns="0" numCol="1" spcCol="1270" anchor="ctr" anchorCtr="0">
          <a:noAutofit/>
        </a:bodyPr>
        <a:lstStyle/>
        <a:p>
          <a:pPr marL="0" lvl="0" indent="0" algn="ctr" defTabSz="844550">
            <a:lnSpc>
              <a:spcPct val="90000"/>
            </a:lnSpc>
            <a:spcBef>
              <a:spcPct val="0"/>
            </a:spcBef>
            <a:spcAft>
              <a:spcPct val="35000"/>
            </a:spcAft>
            <a:buNone/>
          </a:pPr>
          <a:r>
            <a:rPr lang="en-US" sz="1900" b="1" kern="1200" dirty="0"/>
            <a:t>Operational Parameters: </a:t>
          </a:r>
        </a:p>
        <a:p>
          <a:pPr marL="0" lvl="0" indent="0" algn="ctr" defTabSz="844550">
            <a:lnSpc>
              <a:spcPct val="90000"/>
            </a:lnSpc>
            <a:spcBef>
              <a:spcPct val="0"/>
            </a:spcBef>
            <a:spcAft>
              <a:spcPct val="35000"/>
            </a:spcAft>
            <a:buNone/>
          </a:pPr>
          <a:r>
            <a:rPr lang="en-US" sz="1900" b="0" kern="1200" dirty="0"/>
            <a:t>Wheeling and use-of-system charges are defined, but no agency oversees granting Open Access (OA), setting eligibility, or conducting technical grid capacity studies for new OA applicants.</a:t>
          </a:r>
        </a:p>
      </dsp:txBody>
      <dsp:txXfrm rot="5400000">
        <a:off x="1363" y="791107"/>
        <a:ext cx="3540968" cy="2373326"/>
      </dsp:txXfrm>
    </dsp:sp>
    <dsp:sp modelId="{651D7275-92DE-455F-AE00-AB03FE567FFB}">
      <dsp:nvSpPr>
        <dsp:cNvPr id="0" name=""/>
        <dsp:cNvSpPr/>
      </dsp:nvSpPr>
      <dsp:spPr>
        <a:xfrm rot="16200000">
          <a:off x="3600617" y="207286"/>
          <a:ext cx="3955542" cy="3540968"/>
        </a:xfrm>
        <a:prstGeom prst="flowChartManualOperation">
          <a:avLst/>
        </a:prstGeom>
        <a:solidFill>
          <a:schemeClr val="accent3">
            <a:hueOff val="2058582"/>
            <a:satOff val="12356"/>
            <a:lumOff val="941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0" tIns="0" rIns="120303" bIns="0" numCol="1" spcCol="1270" anchor="ctr" anchorCtr="0">
          <a:noAutofit/>
        </a:bodyPr>
        <a:lstStyle/>
        <a:p>
          <a:pPr marL="0" lvl="0" indent="0" algn="ctr" defTabSz="844550">
            <a:lnSpc>
              <a:spcPct val="90000"/>
            </a:lnSpc>
            <a:spcBef>
              <a:spcPct val="0"/>
            </a:spcBef>
            <a:spcAft>
              <a:spcPct val="35000"/>
            </a:spcAft>
            <a:buNone/>
          </a:pPr>
          <a:r>
            <a:rPr lang="en-US" sz="1900" b="1" kern="1200" dirty="0"/>
            <a:t>Lack of Pure OA Cases:</a:t>
          </a:r>
        </a:p>
        <a:p>
          <a:pPr marL="0" lvl="0" indent="0" algn="ctr" defTabSz="844550">
            <a:lnSpc>
              <a:spcPct val="90000"/>
            </a:lnSpc>
            <a:spcBef>
              <a:spcPct val="0"/>
            </a:spcBef>
            <a:spcAft>
              <a:spcPct val="35000"/>
            </a:spcAft>
            <a:buNone/>
          </a:pPr>
          <a:r>
            <a:rPr lang="en-US" sz="1900" b="1" kern="1200" dirty="0"/>
            <a:t> </a:t>
          </a:r>
          <a:r>
            <a:rPr lang="en-US" sz="1900" b="0" kern="1200" dirty="0"/>
            <a:t>Pakistan has no dedicated OA cases within its domestic power sector.</a:t>
          </a:r>
        </a:p>
      </dsp:txBody>
      <dsp:txXfrm rot="5400000">
        <a:off x="3807904" y="791107"/>
        <a:ext cx="3540968" cy="2373326"/>
      </dsp:txXfrm>
    </dsp:sp>
    <dsp:sp modelId="{C3BC3A69-D0BD-49E8-B132-CE3C661E9521}">
      <dsp:nvSpPr>
        <dsp:cNvPr id="0" name=""/>
        <dsp:cNvSpPr/>
      </dsp:nvSpPr>
      <dsp:spPr>
        <a:xfrm rot="16200000">
          <a:off x="7407158" y="207286"/>
          <a:ext cx="3955542" cy="3540968"/>
        </a:xfrm>
        <a:prstGeom prst="flowChartManualOperation">
          <a:avLst/>
        </a:prstGeom>
        <a:solidFill>
          <a:schemeClr val="accent3">
            <a:hueOff val="4117163"/>
            <a:satOff val="24712"/>
            <a:lumOff val="1882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0" tIns="0" rIns="120303" bIns="0" numCol="1" spcCol="1270" anchor="ctr" anchorCtr="0">
          <a:noAutofit/>
        </a:bodyPr>
        <a:lstStyle/>
        <a:p>
          <a:pPr marL="0" lvl="0" indent="0" algn="ctr" defTabSz="844550">
            <a:lnSpc>
              <a:spcPct val="90000"/>
            </a:lnSpc>
            <a:spcBef>
              <a:spcPct val="0"/>
            </a:spcBef>
            <a:spcAft>
              <a:spcPct val="35000"/>
            </a:spcAft>
            <a:buNone/>
          </a:pPr>
          <a:r>
            <a:rPr lang="en-US" sz="1900" b="1" kern="1200" dirty="0"/>
            <a:t>Cross-Border Electricity Trade (CBET): </a:t>
          </a:r>
        </a:p>
        <a:p>
          <a:pPr marL="0" lvl="0" indent="0" algn="ctr" defTabSz="844550">
            <a:lnSpc>
              <a:spcPct val="90000"/>
            </a:lnSpc>
            <a:spcBef>
              <a:spcPct val="0"/>
            </a:spcBef>
            <a:spcAft>
              <a:spcPct val="35000"/>
            </a:spcAft>
            <a:buNone/>
          </a:pPr>
          <a:r>
            <a:rPr lang="en-US" sz="1900" b="0" kern="1200" dirty="0"/>
            <a:t>Through participation in the CASA-1000 project, Pakistan shares transmission infrastructure and an operational OA framework with three other countries.</a:t>
          </a:r>
        </a:p>
      </dsp:txBody>
      <dsp:txXfrm rot="5400000">
        <a:off x="7614445" y="791107"/>
        <a:ext cx="3540968" cy="237332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BFF5E1-1577-4B60-9A19-92FB3E09F756}" type="datetimeFigureOut">
              <a:rPr lang="en-US" smtClean="0"/>
              <a:t>10/27/2024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6C5525-9083-40C4-BB4D-0F4029A2796F}" type="slidenum">
              <a:rPr lang="en-US" smtClean="0"/>
              <a:t>‹#›</a:t>
            </a:fld>
            <a:endParaRPr lang="en-US"/>
          </a:p>
        </p:txBody>
      </p:sp>
    </p:spTree>
    <p:extLst>
      <p:ext uri="{BB962C8B-B14F-4D97-AF65-F5344CB8AC3E}">
        <p14:creationId xmlns:p14="http://schemas.microsoft.com/office/powerpoint/2010/main" val="30458107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https://policy.asiapacificenergy.org/sites/default/files/Power%20Services%20Regulation%20Act%202016.pdf</a:t>
            </a:r>
          </a:p>
        </p:txBody>
      </p:sp>
      <p:sp>
        <p:nvSpPr>
          <p:cNvPr id="4" name="Slide Number Placeholder 3"/>
          <p:cNvSpPr>
            <a:spLocks noGrp="1"/>
          </p:cNvSpPr>
          <p:nvPr>
            <p:ph type="sldNum" sz="quarter" idx="5"/>
          </p:nvPr>
        </p:nvSpPr>
        <p:spPr/>
        <p:txBody>
          <a:bodyPr/>
          <a:lstStyle/>
          <a:p>
            <a:fld id="{6E6C5525-9083-40C4-BB4D-0F4029A2796F}" type="slidenum">
              <a:rPr lang="en-US" smtClean="0"/>
              <a:t>6</a:t>
            </a:fld>
            <a:endParaRPr lang="en-US"/>
          </a:p>
        </p:txBody>
      </p:sp>
    </p:spTree>
    <p:extLst>
      <p:ext uri="{BB962C8B-B14F-4D97-AF65-F5344CB8AC3E}">
        <p14:creationId xmlns:p14="http://schemas.microsoft.com/office/powerpoint/2010/main" val="40575804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C7C60-7A4F-F933-E432-2E620F92A3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1AC6D9-B585-0AF3-2D84-689173626E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2C87C6-2BF6-D433-3ADB-8F44DD2151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688354-4B0D-BF65-CA50-8C02B42E027A}"/>
              </a:ext>
            </a:extLst>
          </p:cNvPr>
          <p:cNvSpPr>
            <a:spLocks noGrp="1"/>
          </p:cNvSpPr>
          <p:nvPr>
            <p:ph type="sldNum" sz="quarter" idx="5"/>
          </p:nvPr>
        </p:nvSpPr>
        <p:spPr/>
        <p:txBody>
          <a:bodyPr/>
          <a:lstStyle/>
          <a:p>
            <a:fld id="{6E6C5525-9083-40C4-BB4D-0F4029A2796F}" type="slidenum">
              <a:rPr lang="en-US" smtClean="0"/>
              <a:t>7</a:t>
            </a:fld>
            <a:endParaRPr lang="en-US"/>
          </a:p>
        </p:txBody>
      </p:sp>
    </p:spTree>
    <p:extLst>
      <p:ext uri="{BB962C8B-B14F-4D97-AF65-F5344CB8AC3E}">
        <p14:creationId xmlns:p14="http://schemas.microsoft.com/office/powerpoint/2010/main" val="35168065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70E35-5A1E-1D08-AABD-E3B0F0E1DC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71138A-2695-311D-D757-CC8BB43DF4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80F587-73F8-DD34-BE62-D2E069834B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2B3944-7A93-9404-38C9-AB31B8E8CB68}"/>
              </a:ext>
            </a:extLst>
          </p:cNvPr>
          <p:cNvSpPr>
            <a:spLocks noGrp="1"/>
          </p:cNvSpPr>
          <p:nvPr>
            <p:ph type="sldNum" sz="quarter" idx="5"/>
          </p:nvPr>
        </p:nvSpPr>
        <p:spPr/>
        <p:txBody>
          <a:bodyPr/>
          <a:lstStyle/>
          <a:p>
            <a:fld id="{6E6C5525-9083-40C4-BB4D-0F4029A2796F}" type="slidenum">
              <a:rPr lang="en-US" smtClean="0"/>
              <a:t>8</a:t>
            </a:fld>
            <a:endParaRPr lang="en-US"/>
          </a:p>
        </p:txBody>
      </p:sp>
    </p:spTree>
    <p:extLst>
      <p:ext uri="{BB962C8B-B14F-4D97-AF65-F5344CB8AC3E}">
        <p14:creationId xmlns:p14="http://schemas.microsoft.com/office/powerpoint/2010/main" val="5655904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AF8CD-A397-1426-F4C7-BB525E6704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DD5036-A692-0D0E-EB3A-0AE2386099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51DF09-4D8B-5767-9BB2-978595BEE9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7F1EED-2012-ACF0-2A7F-6389E103F012}"/>
              </a:ext>
            </a:extLst>
          </p:cNvPr>
          <p:cNvSpPr>
            <a:spLocks noGrp="1"/>
          </p:cNvSpPr>
          <p:nvPr>
            <p:ph type="sldNum" sz="quarter" idx="5"/>
          </p:nvPr>
        </p:nvSpPr>
        <p:spPr/>
        <p:txBody>
          <a:bodyPr/>
          <a:lstStyle/>
          <a:p>
            <a:fld id="{6E6C5525-9083-40C4-BB4D-0F4029A2796F}" type="slidenum">
              <a:rPr lang="en-US" smtClean="0"/>
              <a:t>9</a:t>
            </a:fld>
            <a:endParaRPr lang="en-US"/>
          </a:p>
        </p:txBody>
      </p:sp>
    </p:spTree>
    <p:extLst>
      <p:ext uri="{BB962C8B-B14F-4D97-AF65-F5344CB8AC3E}">
        <p14:creationId xmlns:p14="http://schemas.microsoft.com/office/powerpoint/2010/main" val="16396746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B7F5C-B40E-87AE-1F51-AD91C3533A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CA31A9-0C4C-255F-266A-D8880C87A9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6E544F-E963-5F42-E83F-6FB08075A2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658F81-87C4-A1B6-1B6D-743467C2FD5B}"/>
              </a:ext>
            </a:extLst>
          </p:cNvPr>
          <p:cNvSpPr>
            <a:spLocks noGrp="1"/>
          </p:cNvSpPr>
          <p:nvPr>
            <p:ph type="sldNum" sz="quarter" idx="5"/>
          </p:nvPr>
        </p:nvSpPr>
        <p:spPr/>
        <p:txBody>
          <a:bodyPr/>
          <a:lstStyle/>
          <a:p>
            <a:fld id="{6E6C5525-9083-40C4-BB4D-0F4029A2796F}" type="slidenum">
              <a:rPr lang="en-US" smtClean="0"/>
              <a:t>10</a:t>
            </a:fld>
            <a:endParaRPr lang="en-US"/>
          </a:p>
        </p:txBody>
      </p:sp>
    </p:spTree>
    <p:extLst>
      <p:ext uri="{BB962C8B-B14F-4D97-AF65-F5344CB8AC3E}">
        <p14:creationId xmlns:p14="http://schemas.microsoft.com/office/powerpoint/2010/main" val="21071603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2C8E5-1C6F-1977-DA86-8D4BB9E06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24E21A-78B0-D4B0-29FD-523BC0A4FD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279B72-D712-5619-3C4A-A6D957AE20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21FF90-6044-E58A-B346-043071618C9B}"/>
              </a:ext>
            </a:extLst>
          </p:cNvPr>
          <p:cNvSpPr>
            <a:spLocks noGrp="1"/>
          </p:cNvSpPr>
          <p:nvPr>
            <p:ph type="sldNum" sz="quarter" idx="5"/>
          </p:nvPr>
        </p:nvSpPr>
        <p:spPr/>
        <p:txBody>
          <a:bodyPr/>
          <a:lstStyle/>
          <a:p>
            <a:fld id="{6E6C5525-9083-40C4-BB4D-0F4029A2796F}" type="slidenum">
              <a:rPr lang="en-US" smtClean="0"/>
              <a:t>11</a:t>
            </a:fld>
            <a:endParaRPr lang="en-US"/>
          </a:p>
        </p:txBody>
      </p:sp>
    </p:spTree>
    <p:extLst>
      <p:ext uri="{BB962C8B-B14F-4D97-AF65-F5344CB8AC3E}">
        <p14:creationId xmlns:p14="http://schemas.microsoft.com/office/powerpoint/2010/main" val="21873631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B843D-BEAE-BCCD-D0AE-780D6BD661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0DACFB-3AF5-660B-D123-125D924FB3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EE10D6-E738-F22A-4580-1FB68BBE6F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47D559-7288-A635-6845-1F253E2E699B}"/>
              </a:ext>
            </a:extLst>
          </p:cNvPr>
          <p:cNvSpPr>
            <a:spLocks noGrp="1"/>
          </p:cNvSpPr>
          <p:nvPr>
            <p:ph type="sldNum" sz="quarter" idx="5"/>
          </p:nvPr>
        </p:nvSpPr>
        <p:spPr/>
        <p:txBody>
          <a:bodyPr/>
          <a:lstStyle/>
          <a:p>
            <a:fld id="{6E6C5525-9083-40C4-BB4D-0F4029A2796F}" type="slidenum">
              <a:rPr lang="en-US" smtClean="0"/>
              <a:t>12</a:t>
            </a:fld>
            <a:endParaRPr lang="en-US"/>
          </a:p>
        </p:txBody>
      </p:sp>
    </p:spTree>
    <p:extLst>
      <p:ext uri="{BB962C8B-B14F-4D97-AF65-F5344CB8AC3E}">
        <p14:creationId xmlns:p14="http://schemas.microsoft.com/office/powerpoint/2010/main" val="30190548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A109D-645D-4F40-2B4D-AE82FC5CDC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49889A-C618-AC12-0DBD-4D37D1DF73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ACDB62-EC39-2E7F-1003-39C24151AF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8CC911-0D99-96E8-B6D7-99BB69DE6D79}"/>
              </a:ext>
            </a:extLst>
          </p:cNvPr>
          <p:cNvSpPr>
            <a:spLocks noGrp="1"/>
          </p:cNvSpPr>
          <p:nvPr>
            <p:ph type="sldNum" sz="quarter" idx="5"/>
          </p:nvPr>
        </p:nvSpPr>
        <p:spPr/>
        <p:txBody>
          <a:bodyPr/>
          <a:lstStyle/>
          <a:p>
            <a:fld id="{6E6C5525-9083-40C4-BB4D-0F4029A2796F}" type="slidenum">
              <a:rPr lang="en-US" smtClean="0"/>
              <a:t>13</a:t>
            </a:fld>
            <a:endParaRPr lang="en-US"/>
          </a:p>
        </p:txBody>
      </p:sp>
    </p:spTree>
    <p:extLst>
      <p:ext uri="{BB962C8B-B14F-4D97-AF65-F5344CB8AC3E}">
        <p14:creationId xmlns:p14="http://schemas.microsoft.com/office/powerpoint/2010/main" val="5228844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30E97-89E2-2E83-8AEC-8B72D05DAD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26EEEB-E305-B696-ACDF-22673C4865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E823A0-C43B-1AD5-2D3E-F4BF644190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96ADC1-3D72-4751-DCDC-D3609989130D}"/>
              </a:ext>
            </a:extLst>
          </p:cNvPr>
          <p:cNvSpPr>
            <a:spLocks noGrp="1"/>
          </p:cNvSpPr>
          <p:nvPr>
            <p:ph type="sldNum" sz="quarter" idx="5"/>
          </p:nvPr>
        </p:nvSpPr>
        <p:spPr/>
        <p:txBody>
          <a:bodyPr/>
          <a:lstStyle/>
          <a:p>
            <a:fld id="{6E6C5525-9083-40C4-BB4D-0F4029A2796F}" type="slidenum">
              <a:rPr lang="en-US" smtClean="0"/>
              <a:t>14</a:t>
            </a:fld>
            <a:endParaRPr lang="en-US"/>
          </a:p>
        </p:txBody>
      </p:sp>
    </p:spTree>
    <p:extLst>
      <p:ext uri="{BB962C8B-B14F-4D97-AF65-F5344CB8AC3E}">
        <p14:creationId xmlns:p14="http://schemas.microsoft.com/office/powerpoint/2010/main" val="128980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3BF4B-34C9-07F4-735F-45355A4BDE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A3AEF7-94F3-AC22-1763-43D78E372B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A6CB58-152C-EEE7-A461-C33FB8BC6E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79154F-7D22-A077-545B-C30D3086DA8D}"/>
              </a:ext>
            </a:extLst>
          </p:cNvPr>
          <p:cNvSpPr>
            <a:spLocks noGrp="1"/>
          </p:cNvSpPr>
          <p:nvPr>
            <p:ph type="sldNum" sz="quarter" idx="5"/>
          </p:nvPr>
        </p:nvSpPr>
        <p:spPr/>
        <p:txBody>
          <a:bodyPr/>
          <a:lstStyle/>
          <a:p>
            <a:fld id="{6E6C5525-9083-40C4-BB4D-0F4029A2796F}" type="slidenum">
              <a:rPr lang="en-US" smtClean="0"/>
              <a:t>15</a:t>
            </a:fld>
            <a:endParaRPr lang="en-US"/>
          </a:p>
        </p:txBody>
      </p:sp>
    </p:spTree>
    <p:extLst>
      <p:ext uri="{BB962C8B-B14F-4D97-AF65-F5344CB8AC3E}">
        <p14:creationId xmlns:p14="http://schemas.microsoft.com/office/powerpoint/2010/main" val="17107667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BBDAC-77F4-F2FF-D5CB-1296F43BF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50DBB0-EF14-CEC8-3E71-734CD94BEB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0B0AC5-41BB-D525-A3D1-1D117F6829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90EBE4-232E-D150-7B89-E57440CE57F7}"/>
              </a:ext>
            </a:extLst>
          </p:cNvPr>
          <p:cNvSpPr>
            <a:spLocks noGrp="1"/>
          </p:cNvSpPr>
          <p:nvPr>
            <p:ph type="sldNum" sz="quarter" idx="5"/>
          </p:nvPr>
        </p:nvSpPr>
        <p:spPr/>
        <p:txBody>
          <a:bodyPr/>
          <a:lstStyle/>
          <a:p>
            <a:fld id="{6E6C5525-9083-40C4-BB4D-0F4029A2796F}" type="slidenum">
              <a:rPr lang="en-US" smtClean="0"/>
              <a:t>16</a:t>
            </a:fld>
            <a:endParaRPr lang="en-US"/>
          </a:p>
        </p:txBody>
      </p:sp>
    </p:spTree>
    <p:extLst>
      <p:ext uri="{BB962C8B-B14F-4D97-AF65-F5344CB8AC3E}">
        <p14:creationId xmlns:p14="http://schemas.microsoft.com/office/powerpoint/2010/main" val="2238087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C0247-AD0D-1F61-5680-3F09A9E3E0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11F1B0-A7FD-5C8F-484C-0F8D601CEA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48C77E-F2B8-8AF2-3556-D8302C3F8C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7FB56C-3025-5759-FA04-6A9817BF2BE3}"/>
              </a:ext>
            </a:extLst>
          </p:cNvPr>
          <p:cNvSpPr>
            <a:spLocks noGrp="1"/>
          </p:cNvSpPr>
          <p:nvPr>
            <p:ph type="sldNum" sz="quarter" idx="5"/>
          </p:nvPr>
        </p:nvSpPr>
        <p:spPr/>
        <p:txBody>
          <a:bodyPr/>
          <a:lstStyle/>
          <a:p>
            <a:fld id="{6E6C5525-9083-40C4-BB4D-0F4029A2796F}" type="slidenum">
              <a:rPr lang="en-US" smtClean="0"/>
              <a:t>17</a:t>
            </a:fld>
            <a:endParaRPr lang="en-US"/>
          </a:p>
        </p:txBody>
      </p:sp>
    </p:spTree>
    <p:extLst>
      <p:ext uri="{BB962C8B-B14F-4D97-AF65-F5344CB8AC3E}">
        <p14:creationId xmlns:p14="http://schemas.microsoft.com/office/powerpoint/2010/main" val="39548072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973EA-3568-5D88-CE8D-4D31FC507A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D9D888-5E38-4F78-4546-927C1684C8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155E0B-3F06-3EEB-ADAC-F354DC7905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DC3501-4F14-E552-5908-A69B3204666B}"/>
              </a:ext>
            </a:extLst>
          </p:cNvPr>
          <p:cNvSpPr>
            <a:spLocks noGrp="1"/>
          </p:cNvSpPr>
          <p:nvPr>
            <p:ph type="sldNum" sz="quarter" idx="5"/>
          </p:nvPr>
        </p:nvSpPr>
        <p:spPr/>
        <p:txBody>
          <a:bodyPr/>
          <a:lstStyle/>
          <a:p>
            <a:fld id="{6E6C5525-9083-40C4-BB4D-0F4029A2796F}" type="slidenum">
              <a:rPr lang="en-US" smtClean="0"/>
              <a:t>18</a:t>
            </a:fld>
            <a:endParaRPr lang="en-US"/>
          </a:p>
        </p:txBody>
      </p:sp>
    </p:spTree>
    <p:extLst>
      <p:ext uri="{BB962C8B-B14F-4D97-AF65-F5344CB8AC3E}">
        <p14:creationId xmlns:p14="http://schemas.microsoft.com/office/powerpoint/2010/main" val="1687960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0388-8204-9A0C-8BA2-841B8892745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0720D5E-F104-D91A-54C8-ED98F1DC8F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CB3A228-55BB-5427-2CDB-CC957924AB10}"/>
              </a:ext>
            </a:extLst>
          </p:cNvPr>
          <p:cNvSpPr>
            <a:spLocks noGrp="1"/>
          </p:cNvSpPr>
          <p:nvPr>
            <p:ph type="dt" sz="half" idx="10"/>
          </p:nvPr>
        </p:nvSpPr>
        <p:spPr/>
        <p:txBody>
          <a:bodyPr/>
          <a:lstStyle/>
          <a:p>
            <a:fld id="{EFFE69AC-60DE-483B-9FB9-1AB8273AD2A2}" type="datetimeFigureOut">
              <a:rPr lang="en-US" smtClean="0"/>
              <a:t>10/23/2024</a:t>
            </a:fld>
            <a:endParaRPr lang="en-US"/>
          </a:p>
        </p:txBody>
      </p:sp>
      <p:sp>
        <p:nvSpPr>
          <p:cNvPr id="5" name="Footer Placeholder 4">
            <a:extLst>
              <a:ext uri="{FF2B5EF4-FFF2-40B4-BE49-F238E27FC236}">
                <a16:creationId xmlns:a16="http://schemas.microsoft.com/office/drawing/2014/main" id="{64777225-E4EB-ABA7-68AF-C0215C75EE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2091F0-5DA8-901C-971E-4CB9A28EEEE2}"/>
              </a:ext>
            </a:extLst>
          </p:cNvPr>
          <p:cNvSpPr>
            <a:spLocks noGrp="1"/>
          </p:cNvSpPr>
          <p:nvPr>
            <p:ph type="sldNum" sz="quarter" idx="12"/>
          </p:nvPr>
        </p:nvSpPr>
        <p:spPr/>
        <p:txBody>
          <a:bodyPr/>
          <a:lstStyle/>
          <a:p>
            <a:fld id="{EC5C9DB7-8FC4-4248-AA3B-688A4E3133D5}" type="slidenum">
              <a:rPr lang="en-US" smtClean="0"/>
              <a:t>‹#›</a:t>
            </a:fld>
            <a:endParaRPr lang="en-US"/>
          </a:p>
        </p:txBody>
      </p:sp>
    </p:spTree>
    <p:extLst>
      <p:ext uri="{BB962C8B-B14F-4D97-AF65-F5344CB8AC3E}">
        <p14:creationId xmlns:p14="http://schemas.microsoft.com/office/powerpoint/2010/main" val="2562230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EAD42-A09F-CF7C-332D-6DDA598ED2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BC7B2A2-896B-E0AD-3E1F-211CEFF932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E4D385-A5D6-7097-4D7F-6E02AB2D14F3}"/>
              </a:ext>
            </a:extLst>
          </p:cNvPr>
          <p:cNvSpPr>
            <a:spLocks noGrp="1"/>
          </p:cNvSpPr>
          <p:nvPr>
            <p:ph type="dt" sz="half" idx="10"/>
          </p:nvPr>
        </p:nvSpPr>
        <p:spPr/>
        <p:txBody>
          <a:bodyPr/>
          <a:lstStyle/>
          <a:p>
            <a:fld id="{EFFE69AC-60DE-483B-9FB9-1AB8273AD2A2}" type="datetimeFigureOut">
              <a:rPr lang="en-US" smtClean="0"/>
              <a:t>10/23/2024</a:t>
            </a:fld>
            <a:endParaRPr lang="en-US"/>
          </a:p>
        </p:txBody>
      </p:sp>
      <p:sp>
        <p:nvSpPr>
          <p:cNvPr id="5" name="Footer Placeholder 4">
            <a:extLst>
              <a:ext uri="{FF2B5EF4-FFF2-40B4-BE49-F238E27FC236}">
                <a16:creationId xmlns:a16="http://schemas.microsoft.com/office/drawing/2014/main" id="{E6E7EBEC-0F0A-B07C-B14B-B028AE5271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A1DB06-444E-DC45-FB15-808E1F5A0F9C}"/>
              </a:ext>
            </a:extLst>
          </p:cNvPr>
          <p:cNvSpPr>
            <a:spLocks noGrp="1"/>
          </p:cNvSpPr>
          <p:nvPr>
            <p:ph type="sldNum" sz="quarter" idx="12"/>
          </p:nvPr>
        </p:nvSpPr>
        <p:spPr/>
        <p:txBody>
          <a:bodyPr/>
          <a:lstStyle/>
          <a:p>
            <a:fld id="{EC5C9DB7-8FC4-4248-AA3B-688A4E3133D5}" type="slidenum">
              <a:rPr lang="en-US" smtClean="0"/>
              <a:t>‹#›</a:t>
            </a:fld>
            <a:endParaRPr lang="en-US"/>
          </a:p>
        </p:txBody>
      </p:sp>
    </p:spTree>
    <p:extLst>
      <p:ext uri="{BB962C8B-B14F-4D97-AF65-F5344CB8AC3E}">
        <p14:creationId xmlns:p14="http://schemas.microsoft.com/office/powerpoint/2010/main" val="883052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42816-7AF4-393C-E458-D076530706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DC4F9A0-8FC3-D1E8-186B-F336AD81597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ADE920-78B6-6252-39C0-01B16DCAF571}"/>
              </a:ext>
            </a:extLst>
          </p:cNvPr>
          <p:cNvSpPr>
            <a:spLocks noGrp="1"/>
          </p:cNvSpPr>
          <p:nvPr>
            <p:ph type="dt" sz="half" idx="10"/>
          </p:nvPr>
        </p:nvSpPr>
        <p:spPr/>
        <p:txBody>
          <a:bodyPr/>
          <a:lstStyle/>
          <a:p>
            <a:fld id="{EFFE69AC-60DE-483B-9FB9-1AB8273AD2A2}" type="datetimeFigureOut">
              <a:rPr lang="en-US" smtClean="0"/>
              <a:t>10/23/2024</a:t>
            </a:fld>
            <a:endParaRPr lang="en-US"/>
          </a:p>
        </p:txBody>
      </p:sp>
      <p:sp>
        <p:nvSpPr>
          <p:cNvPr id="5" name="Footer Placeholder 4">
            <a:extLst>
              <a:ext uri="{FF2B5EF4-FFF2-40B4-BE49-F238E27FC236}">
                <a16:creationId xmlns:a16="http://schemas.microsoft.com/office/drawing/2014/main" id="{8C53FDD3-EA3E-5446-AECF-7AFA9A4461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D025F2-F08E-79E5-12CF-E48FDA5E9372}"/>
              </a:ext>
            </a:extLst>
          </p:cNvPr>
          <p:cNvSpPr>
            <a:spLocks noGrp="1"/>
          </p:cNvSpPr>
          <p:nvPr>
            <p:ph type="sldNum" sz="quarter" idx="12"/>
          </p:nvPr>
        </p:nvSpPr>
        <p:spPr/>
        <p:txBody>
          <a:bodyPr/>
          <a:lstStyle/>
          <a:p>
            <a:fld id="{EC5C9DB7-8FC4-4248-AA3B-688A4E3133D5}" type="slidenum">
              <a:rPr lang="en-US" smtClean="0"/>
              <a:t>‹#›</a:t>
            </a:fld>
            <a:endParaRPr lang="en-US"/>
          </a:p>
        </p:txBody>
      </p:sp>
    </p:spTree>
    <p:extLst>
      <p:ext uri="{BB962C8B-B14F-4D97-AF65-F5344CB8AC3E}">
        <p14:creationId xmlns:p14="http://schemas.microsoft.com/office/powerpoint/2010/main" val="20637038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7E750-D9E2-B829-F36B-A055A3312C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217B57-3DC8-2F96-3C63-2DA54749D3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9790418-E80D-31E7-9D07-410E20FFD40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E546440-70E5-8E9A-363E-3304C9DB7478}"/>
              </a:ext>
            </a:extLst>
          </p:cNvPr>
          <p:cNvSpPr>
            <a:spLocks noGrp="1"/>
          </p:cNvSpPr>
          <p:nvPr>
            <p:ph type="dt" sz="half" idx="10"/>
          </p:nvPr>
        </p:nvSpPr>
        <p:spPr/>
        <p:txBody>
          <a:bodyPr/>
          <a:lstStyle/>
          <a:p>
            <a:fld id="{EFFE69AC-60DE-483B-9FB9-1AB8273AD2A2}" type="datetimeFigureOut">
              <a:rPr lang="en-US" smtClean="0"/>
              <a:t>10/23/2024</a:t>
            </a:fld>
            <a:endParaRPr lang="en-US"/>
          </a:p>
        </p:txBody>
      </p:sp>
      <p:sp>
        <p:nvSpPr>
          <p:cNvPr id="6" name="Footer Placeholder 5">
            <a:extLst>
              <a:ext uri="{FF2B5EF4-FFF2-40B4-BE49-F238E27FC236}">
                <a16:creationId xmlns:a16="http://schemas.microsoft.com/office/drawing/2014/main" id="{CD24318A-EA18-F5A5-703A-44676BD950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D445EC-2EC0-30EB-81DC-3CB33FA175FC}"/>
              </a:ext>
            </a:extLst>
          </p:cNvPr>
          <p:cNvSpPr>
            <a:spLocks noGrp="1"/>
          </p:cNvSpPr>
          <p:nvPr>
            <p:ph type="sldNum" sz="quarter" idx="12"/>
          </p:nvPr>
        </p:nvSpPr>
        <p:spPr/>
        <p:txBody>
          <a:bodyPr/>
          <a:lstStyle/>
          <a:p>
            <a:fld id="{EC5C9DB7-8FC4-4248-AA3B-688A4E3133D5}" type="slidenum">
              <a:rPr lang="en-US" smtClean="0"/>
              <a:t>‹#›</a:t>
            </a:fld>
            <a:endParaRPr lang="en-US"/>
          </a:p>
        </p:txBody>
      </p:sp>
    </p:spTree>
    <p:extLst>
      <p:ext uri="{BB962C8B-B14F-4D97-AF65-F5344CB8AC3E}">
        <p14:creationId xmlns:p14="http://schemas.microsoft.com/office/powerpoint/2010/main" val="2746635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B3F58-D76B-4EDB-D146-96361F31CF4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E081EB3-E590-69ED-6108-41005EFB1F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E090217-0899-1491-CF98-102243A81E2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987AE9F-28E4-048A-AC4A-74B9DE6834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FCA97E-142C-162F-46EF-28EBDD0357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097E635-D4C3-E127-2A2B-923023A1A5C3}"/>
              </a:ext>
            </a:extLst>
          </p:cNvPr>
          <p:cNvSpPr>
            <a:spLocks noGrp="1"/>
          </p:cNvSpPr>
          <p:nvPr>
            <p:ph type="dt" sz="half" idx="10"/>
          </p:nvPr>
        </p:nvSpPr>
        <p:spPr/>
        <p:txBody>
          <a:bodyPr/>
          <a:lstStyle/>
          <a:p>
            <a:fld id="{EFFE69AC-60DE-483B-9FB9-1AB8273AD2A2}" type="datetimeFigureOut">
              <a:rPr lang="en-US" smtClean="0"/>
              <a:t>10/23/2024</a:t>
            </a:fld>
            <a:endParaRPr lang="en-US"/>
          </a:p>
        </p:txBody>
      </p:sp>
      <p:sp>
        <p:nvSpPr>
          <p:cNvPr id="8" name="Footer Placeholder 7">
            <a:extLst>
              <a:ext uri="{FF2B5EF4-FFF2-40B4-BE49-F238E27FC236}">
                <a16:creationId xmlns:a16="http://schemas.microsoft.com/office/drawing/2014/main" id="{10E72922-51D6-D05B-B684-99504CC438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EC4550E-7EE2-9E08-6FA7-0D513C94A08F}"/>
              </a:ext>
            </a:extLst>
          </p:cNvPr>
          <p:cNvSpPr>
            <a:spLocks noGrp="1"/>
          </p:cNvSpPr>
          <p:nvPr>
            <p:ph type="sldNum" sz="quarter" idx="12"/>
          </p:nvPr>
        </p:nvSpPr>
        <p:spPr/>
        <p:txBody>
          <a:bodyPr/>
          <a:lstStyle/>
          <a:p>
            <a:fld id="{EC5C9DB7-8FC4-4248-AA3B-688A4E3133D5}" type="slidenum">
              <a:rPr lang="en-US" smtClean="0"/>
              <a:t>‹#›</a:t>
            </a:fld>
            <a:endParaRPr lang="en-US"/>
          </a:p>
        </p:txBody>
      </p:sp>
    </p:spTree>
    <p:extLst>
      <p:ext uri="{BB962C8B-B14F-4D97-AF65-F5344CB8AC3E}">
        <p14:creationId xmlns:p14="http://schemas.microsoft.com/office/powerpoint/2010/main" val="15415974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8BDCE-F2DB-6065-BF0A-D4CB7E662BF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4C3D08A-D298-19FF-0C8B-6C7443ABE214}"/>
              </a:ext>
            </a:extLst>
          </p:cNvPr>
          <p:cNvSpPr>
            <a:spLocks noGrp="1"/>
          </p:cNvSpPr>
          <p:nvPr>
            <p:ph type="dt" sz="half" idx="10"/>
          </p:nvPr>
        </p:nvSpPr>
        <p:spPr/>
        <p:txBody>
          <a:bodyPr/>
          <a:lstStyle/>
          <a:p>
            <a:fld id="{EFFE69AC-60DE-483B-9FB9-1AB8273AD2A2}" type="datetimeFigureOut">
              <a:rPr lang="en-US" smtClean="0"/>
              <a:t>10/23/2024</a:t>
            </a:fld>
            <a:endParaRPr lang="en-US"/>
          </a:p>
        </p:txBody>
      </p:sp>
      <p:sp>
        <p:nvSpPr>
          <p:cNvPr id="4" name="Footer Placeholder 3">
            <a:extLst>
              <a:ext uri="{FF2B5EF4-FFF2-40B4-BE49-F238E27FC236}">
                <a16:creationId xmlns:a16="http://schemas.microsoft.com/office/drawing/2014/main" id="{C1D57048-501F-F8D5-D417-72B719D30A3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DC3AB10-0A0F-260C-51AC-4E1B18B7A4F4}"/>
              </a:ext>
            </a:extLst>
          </p:cNvPr>
          <p:cNvSpPr>
            <a:spLocks noGrp="1"/>
          </p:cNvSpPr>
          <p:nvPr>
            <p:ph type="sldNum" sz="quarter" idx="12"/>
          </p:nvPr>
        </p:nvSpPr>
        <p:spPr/>
        <p:txBody>
          <a:bodyPr/>
          <a:lstStyle/>
          <a:p>
            <a:fld id="{EC5C9DB7-8FC4-4248-AA3B-688A4E3133D5}" type="slidenum">
              <a:rPr lang="en-US" smtClean="0"/>
              <a:t>‹#›</a:t>
            </a:fld>
            <a:endParaRPr lang="en-US"/>
          </a:p>
        </p:txBody>
      </p:sp>
    </p:spTree>
    <p:extLst>
      <p:ext uri="{BB962C8B-B14F-4D97-AF65-F5344CB8AC3E}">
        <p14:creationId xmlns:p14="http://schemas.microsoft.com/office/powerpoint/2010/main" val="2384533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6AA587-4607-7708-91A6-A3FBF7570CDB}"/>
              </a:ext>
            </a:extLst>
          </p:cNvPr>
          <p:cNvSpPr>
            <a:spLocks noGrp="1"/>
          </p:cNvSpPr>
          <p:nvPr>
            <p:ph type="dt" sz="half" idx="10"/>
          </p:nvPr>
        </p:nvSpPr>
        <p:spPr/>
        <p:txBody>
          <a:bodyPr/>
          <a:lstStyle/>
          <a:p>
            <a:fld id="{EFFE69AC-60DE-483B-9FB9-1AB8273AD2A2}" type="datetimeFigureOut">
              <a:rPr lang="en-US" smtClean="0"/>
              <a:t>10/23/2024</a:t>
            </a:fld>
            <a:endParaRPr lang="en-US"/>
          </a:p>
        </p:txBody>
      </p:sp>
      <p:sp>
        <p:nvSpPr>
          <p:cNvPr id="3" name="Footer Placeholder 2">
            <a:extLst>
              <a:ext uri="{FF2B5EF4-FFF2-40B4-BE49-F238E27FC236}">
                <a16:creationId xmlns:a16="http://schemas.microsoft.com/office/drawing/2014/main" id="{EBC6F6AE-6AC4-D33B-FCA5-B6F3F74320B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62A7143-9B4B-663A-8B9E-E94349C2460C}"/>
              </a:ext>
            </a:extLst>
          </p:cNvPr>
          <p:cNvSpPr>
            <a:spLocks noGrp="1"/>
          </p:cNvSpPr>
          <p:nvPr>
            <p:ph type="sldNum" sz="quarter" idx="12"/>
          </p:nvPr>
        </p:nvSpPr>
        <p:spPr/>
        <p:txBody>
          <a:bodyPr/>
          <a:lstStyle/>
          <a:p>
            <a:fld id="{EC5C9DB7-8FC4-4248-AA3B-688A4E3133D5}" type="slidenum">
              <a:rPr lang="en-US" smtClean="0"/>
              <a:t>‹#›</a:t>
            </a:fld>
            <a:endParaRPr lang="en-US"/>
          </a:p>
        </p:txBody>
      </p:sp>
    </p:spTree>
    <p:extLst>
      <p:ext uri="{BB962C8B-B14F-4D97-AF65-F5344CB8AC3E}">
        <p14:creationId xmlns:p14="http://schemas.microsoft.com/office/powerpoint/2010/main" val="16964939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BCFB7-0BB2-6F44-067F-525CF2045B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FD08E53-B926-08D0-F571-4DAF9FD073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DE90EA7-ED83-EF98-D405-A67A8939C1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4BDC12-2FEB-0A6F-E310-B6803D4705DA}"/>
              </a:ext>
            </a:extLst>
          </p:cNvPr>
          <p:cNvSpPr>
            <a:spLocks noGrp="1"/>
          </p:cNvSpPr>
          <p:nvPr>
            <p:ph type="dt" sz="half" idx="10"/>
          </p:nvPr>
        </p:nvSpPr>
        <p:spPr/>
        <p:txBody>
          <a:bodyPr/>
          <a:lstStyle/>
          <a:p>
            <a:fld id="{EFFE69AC-60DE-483B-9FB9-1AB8273AD2A2}" type="datetimeFigureOut">
              <a:rPr lang="en-US" smtClean="0"/>
              <a:t>10/23/2024</a:t>
            </a:fld>
            <a:endParaRPr lang="en-US"/>
          </a:p>
        </p:txBody>
      </p:sp>
      <p:sp>
        <p:nvSpPr>
          <p:cNvPr id="6" name="Footer Placeholder 5">
            <a:extLst>
              <a:ext uri="{FF2B5EF4-FFF2-40B4-BE49-F238E27FC236}">
                <a16:creationId xmlns:a16="http://schemas.microsoft.com/office/drawing/2014/main" id="{59838306-A885-931C-5F5B-82D111A183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F34106-5392-AEB1-AB6D-E1D1E3818142}"/>
              </a:ext>
            </a:extLst>
          </p:cNvPr>
          <p:cNvSpPr>
            <a:spLocks noGrp="1"/>
          </p:cNvSpPr>
          <p:nvPr>
            <p:ph type="sldNum" sz="quarter" idx="12"/>
          </p:nvPr>
        </p:nvSpPr>
        <p:spPr/>
        <p:txBody>
          <a:bodyPr/>
          <a:lstStyle/>
          <a:p>
            <a:fld id="{EC5C9DB7-8FC4-4248-AA3B-688A4E3133D5}" type="slidenum">
              <a:rPr lang="en-US" smtClean="0"/>
              <a:t>‹#›</a:t>
            </a:fld>
            <a:endParaRPr lang="en-US"/>
          </a:p>
        </p:txBody>
      </p:sp>
    </p:spTree>
    <p:extLst>
      <p:ext uri="{BB962C8B-B14F-4D97-AF65-F5344CB8AC3E}">
        <p14:creationId xmlns:p14="http://schemas.microsoft.com/office/powerpoint/2010/main" val="40003394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EC8EA-2050-7BB7-2E15-EB0940D603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63A1E98-34A6-A1EA-24C7-CFA3299F0D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CEB040B-7F5A-E48C-EAAC-C7360149CA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6FD977-677C-02D8-7F28-2D0CA2499241}"/>
              </a:ext>
            </a:extLst>
          </p:cNvPr>
          <p:cNvSpPr>
            <a:spLocks noGrp="1"/>
          </p:cNvSpPr>
          <p:nvPr>
            <p:ph type="dt" sz="half" idx="10"/>
          </p:nvPr>
        </p:nvSpPr>
        <p:spPr/>
        <p:txBody>
          <a:bodyPr/>
          <a:lstStyle/>
          <a:p>
            <a:fld id="{EFFE69AC-60DE-483B-9FB9-1AB8273AD2A2}" type="datetimeFigureOut">
              <a:rPr lang="en-US" smtClean="0"/>
              <a:t>10/23/2024</a:t>
            </a:fld>
            <a:endParaRPr lang="en-US"/>
          </a:p>
        </p:txBody>
      </p:sp>
      <p:sp>
        <p:nvSpPr>
          <p:cNvPr id="6" name="Footer Placeholder 5">
            <a:extLst>
              <a:ext uri="{FF2B5EF4-FFF2-40B4-BE49-F238E27FC236}">
                <a16:creationId xmlns:a16="http://schemas.microsoft.com/office/drawing/2014/main" id="{BB185E54-2647-C16E-98DD-1FACD6BCBC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B6BE2B-E14E-3C0B-2D16-AE4AEC91864A}"/>
              </a:ext>
            </a:extLst>
          </p:cNvPr>
          <p:cNvSpPr>
            <a:spLocks noGrp="1"/>
          </p:cNvSpPr>
          <p:nvPr>
            <p:ph type="sldNum" sz="quarter" idx="12"/>
          </p:nvPr>
        </p:nvSpPr>
        <p:spPr/>
        <p:txBody>
          <a:bodyPr/>
          <a:lstStyle/>
          <a:p>
            <a:fld id="{EC5C9DB7-8FC4-4248-AA3B-688A4E3133D5}" type="slidenum">
              <a:rPr lang="en-US" smtClean="0"/>
              <a:t>‹#›</a:t>
            </a:fld>
            <a:endParaRPr lang="en-US"/>
          </a:p>
        </p:txBody>
      </p:sp>
    </p:spTree>
    <p:extLst>
      <p:ext uri="{BB962C8B-B14F-4D97-AF65-F5344CB8AC3E}">
        <p14:creationId xmlns:p14="http://schemas.microsoft.com/office/powerpoint/2010/main" val="396423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C1B76-1355-1301-0220-F323B661D3C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A4CB14D-708A-8D66-9514-5E80E495CFA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CC2289-6B8A-FEF7-68CE-50B1A674006F}"/>
              </a:ext>
            </a:extLst>
          </p:cNvPr>
          <p:cNvSpPr>
            <a:spLocks noGrp="1"/>
          </p:cNvSpPr>
          <p:nvPr>
            <p:ph type="dt" sz="half" idx="10"/>
          </p:nvPr>
        </p:nvSpPr>
        <p:spPr/>
        <p:txBody>
          <a:bodyPr/>
          <a:lstStyle/>
          <a:p>
            <a:fld id="{EFFE69AC-60DE-483B-9FB9-1AB8273AD2A2}" type="datetimeFigureOut">
              <a:rPr lang="en-US" smtClean="0"/>
              <a:t>10/23/2024</a:t>
            </a:fld>
            <a:endParaRPr lang="en-US"/>
          </a:p>
        </p:txBody>
      </p:sp>
      <p:sp>
        <p:nvSpPr>
          <p:cNvPr id="5" name="Footer Placeholder 4">
            <a:extLst>
              <a:ext uri="{FF2B5EF4-FFF2-40B4-BE49-F238E27FC236}">
                <a16:creationId xmlns:a16="http://schemas.microsoft.com/office/drawing/2014/main" id="{2ACC3160-07F2-E5EA-7E8C-9382D1B9EC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BB2176-E9D5-688A-7F49-23463189AB52}"/>
              </a:ext>
            </a:extLst>
          </p:cNvPr>
          <p:cNvSpPr>
            <a:spLocks noGrp="1"/>
          </p:cNvSpPr>
          <p:nvPr>
            <p:ph type="sldNum" sz="quarter" idx="12"/>
          </p:nvPr>
        </p:nvSpPr>
        <p:spPr/>
        <p:txBody>
          <a:bodyPr/>
          <a:lstStyle/>
          <a:p>
            <a:fld id="{EC5C9DB7-8FC4-4248-AA3B-688A4E3133D5}" type="slidenum">
              <a:rPr lang="en-US" smtClean="0"/>
              <a:t>‹#›</a:t>
            </a:fld>
            <a:endParaRPr lang="en-US"/>
          </a:p>
        </p:txBody>
      </p:sp>
    </p:spTree>
    <p:extLst>
      <p:ext uri="{BB962C8B-B14F-4D97-AF65-F5344CB8AC3E}">
        <p14:creationId xmlns:p14="http://schemas.microsoft.com/office/powerpoint/2010/main" val="2748743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858F5E7-30DF-1FB0-EDE0-410BAD26E89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AFDD69-FEA4-3525-EE58-D4769572FB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3F443E-3248-9274-3C3D-68F845E6472C}"/>
              </a:ext>
            </a:extLst>
          </p:cNvPr>
          <p:cNvSpPr>
            <a:spLocks noGrp="1"/>
          </p:cNvSpPr>
          <p:nvPr>
            <p:ph type="dt" sz="half" idx="10"/>
          </p:nvPr>
        </p:nvSpPr>
        <p:spPr/>
        <p:txBody>
          <a:bodyPr/>
          <a:lstStyle/>
          <a:p>
            <a:fld id="{EFFE69AC-60DE-483B-9FB9-1AB8273AD2A2}" type="datetimeFigureOut">
              <a:rPr lang="en-US" smtClean="0"/>
              <a:t>10/23/2024</a:t>
            </a:fld>
            <a:endParaRPr lang="en-US"/>
          </a:p>
        </p:txBody>
      </p:sp>
      <p:sp>
        <p:nvSpPr>
          <p:cNvPr id="5" name="Footer Placeholder 4">
            <a:extLst>
              <a:ext uri="{FF2B5EF4-FFF2-40B4-BE49-F238E27FC236}">
                <a16:creationId xmlns:a16="http://schemas.microsoft.com/office/drawing/2014/main" id="{719C4CC3-3A2B-50DA-2645-99B137EC83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BA8D2-E2E1-FE11-847D-E1D585715394}"/>
              </a:ext>
            </a:extLst>
          </p:cNvPr>
          <p:cNvSpPr>
            <a:spLocks noGrp="1"/>
          </p:cNvSpPr>
          <p:nvPr>
            <p:ph type="sldNum" sz="quarter" idx="12"/>
          </p:nvPr>
        </p:nvSpPr>
        <p:spPr/>
        <p:txBody>
          <a:bodyPr/>
          <a:lstStyle/>
          <a:p>
            <a:fld id="{EC5C9DB7-8FC4-4248-AA3B-688A4E3133D5}" type="slidenum">
              <a:rPr lang="en-US" smtClean="0"/>
              <a:t>‹#›</a:t>
            </a:fld>
            <a:endParaRPr lang="en-US"/>
          </a:p>
        </p:txBody>
      </p:sp>
    </p:spTree>
    <p:extLst>
      <p:ext uri="{BB962C8B-B14F-4D97-AF65-F5344CB8AC3E}">
        <p14:creationId xmlns:p14="http://schemas.microsoft.com/office/powerpoint/2010/main" val="4059993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6EA5239E-3F06-52E2-0103-51C144F9FCB6}"/>
              </a:ext>
            </a:extLst>
          </p:cNvPr>
          <p:cNvGraphicFramePr>
            <a:graphicFrameLocks noChangeAspect="1"/>
          </p:cNvGraphicFramePr>
          <p:nvPr userDrawn="1">
            <p:custDataLst>
              <p:tags r:id="rId13"/>
            </p:custDataLst>
            <p:extLst>
              <p:ext uri="{D42A27DB-BD31-4B8C-83A1-F6EECF244321}">
                <p14:modId xmlns:p14="http://schemas.microsoft.com/office/powerpoint/2010/main" val="16863059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4" imgW="415" imgH="416" progId="TCLayout.ActiveDocument.1">
                  <p:embed/>
                </p:oleObj>
              </mc:Choice>
              <mc:Fallback>
                <p:oleObj name="think-cell Slide" r:id="rId14" imgW="415" imgH="416" progId="TCLayout.ActiveDocument.1">
                  <p:embed/>
                  <p:pic>
                    <p:nvPicPr>
                      <p:cNvPr id="0" name=""/>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84D45755-3748-DBAD-664F-B0201FEEB1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E5895A4-B2AF-5DA5-888D-849A8EFC68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791E56-2EC2-9F98-7E21-EFF3AFB705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FFE69AC-60DE-483B-9FB9-1AB8273AD2A2}" type="datetimeFigureOut">
              <a:rPr lang="en-US" smtClean="0"/>
              <a:t>10/23/2024</a:t>
            </a:fld>
            <a:endParaRPr lang="en-US"/>
          </a:p>
        </p:txBody>
      </p:sp>
      <p:sp>
        <p:nvSpPr>
          <p:cNvPr id="5" name="Footer Placeholder 4">
            <a:extLst>
              <a:ext uri="{FF2B5EF4-FFF2-40B4-BE49-F238E27FC236}">
                <a16:creationId xmlns:a16="http://schemas.microsoft.com/office/drawing/2014/main" id="{E8A4F673-0390-6D60-6F11-39E8859926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7042196-C597-C4AF-063F-E23C83B49E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C5C9DB7-8FC4-4248-AA3B-688A4E3133D5}" type="slidenum">
              <a:rPr lang="en-US" smtClean="0"/>
              <a:t>‹#›</a:t>
            </a:fld>
            <a:endParaRPr lang="en-US"/>
          </a:p>
        </p:txBody>
      </p:sp>
    </p:spTree>
    <p:extLst>
      <p:ext uri="{BB962C8B-B14F-4D97-AF65-F5344CB8AC3E}">
        <p14:creationId xmlns:p14="http://schemas.microsoft.com/office/powerpoint/2010/main" val="28886462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tags" Target="../tags/tag3.xml"/><Relationship Id="rId5" Type="http://schemas.openxmlformats.org/officeDocument/2006/relationships/image" Target="../media/image2.jpeg"/><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13" Type="http://schemas.openxmlformats.org/officeDocument/2006/relationships/image" Target="../media/image11.png"/><Relationship Id="rId18" Type="http://schemas.openxmlformats.org/officeDocument/2006/relationships/image" Target="../media/image16.png"/><Relationship Id="rId26" Type="http://schemas.openxmlformats.org/officeDocument/2006/relationships/image" Target="../media/image24.png"/><Relationship Id="rId39" Type="http://schemas.openxmlformats.org/officeDocument/2006/relationships/image" Target="../media/image37.png"/><Relationship Id="rId21" Type="http://schemas.openxmlformats.org/officeDocument/2006/relationships/image" Target="../media/image19.png"/><Relationship Id="rId34" Type="http://schemas.openxmlformats.org/officeDocument/2006/relationships/image" Target="../media/image32.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jpg"/><Relationship Id="rId25" Type="http://schemas.openxmlformats.org/officeDocument/2006/relationships/image" Target="../media/image23.png"/><Relationship Id="rId33" Type="http://schemas.openxmlformats.org/officeDocument/2006/relationships/image" Target="../media/image31.png"/><Relationship Id="rId38" Type="http://schemas.openxmlformats.org/officeDocument/2006/relationships/image" Target="../media/image36.png"/><Relationship Id="rId2" Type="http://schemas.openxmlformats.org/officeDocument/2006/relationships/slideLayout" Target="../slideLayouts/slideLayout2.xml"/><Relationship Id="rId16" Type="http://schemas.openxmlformats.org/officeDocument/2006/relationships/image" Target="../media/image14.png"/><Relationship Id="rId20" Type="http://schemas.openxmlformats.org/officeDocument/2006/relationships/image" Target="../media/image18.png"/><Relationship Id="rId29" Type="http://schemas.openxmlformats.org/officeDocument/2006/relationships/image" Target="../media/image27.png"/><Relationship Id="rId1" Type="http://schemas.openxmlformats.org/officeDocument/2006/relationships/tags" Target="../tags/tag4.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png"/><Relationship Id="rId32" Type="http://schemas.openxmlformats.org/officeDocument/2006/relationships/image" Target="../media/image30.png"/><Relationship Id="rId37" Type="http://schemas.openxmlformats.org/officeDocument/2006/relationships/image" Target="../media/image35.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28" Type="http://schemas.openxmlformats.org/officeDocument/2006/relationships/image" Target="../media/image26.png"/><Relationship Id="rId36" Type="http://schemas.openxmlformats.org/officeDocument/2006/relationships/image" Target="../media/image34.png"/><Relationship Id="rId10" Type="http://schemas.openxmlformats.org/officeDocument/2006/relationships/image" Target="../media/image8.png"/><Relationship Id="rId19" Type="http://schemas.openxmlformats.org/officeDocument/2006/relationships/image" Target="../media/image17.png"/><Relationship Id="rId31" Type="http://schemas.openxmlformats.org/officeDocument/2006/relationships/image" Target="../media/image29.png"/><Relationship Id="rId4" Type="http://schemas.openxmlformats.org/officeDocument/2006/relationships/image" Target="../media/image1.emf"/><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 Id="rId27" Type="http://schemas.openxmlformats.org/officeDocument/2006/relationships/image" Target="../media/image25.png"/><Relationship Id="rId30" Type="http://schemas.openxmlformats.org/officeDocument/2006/relationships/image" Target="../media/image28.png"/><Relationship Id="rId35" Type="http://schemas.openxmlformats.org/officeDocument/2006/relationships/image" Target="../media/image33.png"/><Relationship Id="rId8" Type="http://schemas.openxmlformats.org/officeDocument/2006/relationships/image" Target="../media/image6.png"/><Relationship Id="rId3" Type="http://schemas.openxmlformats.org/officeDocument/2006/relationships/oleObject" Target="../embeddings/oleObject3.bin"/></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1.emf"/></Relationships>
</file>

<file path=ppt/slides/_rels/slide4.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oleObject" Target="../embeddings/oleObject5.bin"/><Relationship Id="rId7" Type="http://schemas.openxmlformats.org/officeDocument/2006/relationships/diagramQuickStyle" Target="../diagrams/quickStyle1.xml"/><Relationship Id="rId2" Type="http://schemas.openxmlformats.org/officeDocument/2006/relationships/slideLayout" Target="../slideLayouts/slideLayout2.xml"/><Relationship Id="rId1" Type="http://schemas.openxmlformats.org/officeDocument/2006/relationships/tags" Target="../tags/tag6.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1.emf"/><Relationship Id="rId9" Type="http://schemas.microsoft.com/office/2007/relationships/diagramDrawing" Target="../diagrams/drawing1.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1.emf"/></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image" Target="../media/image38.png"/><Relationship Id="rId5" Type="http://schemas.openxmlformats.org/officeDocument/2006/relationships/image" Target="../media/image1.emf"/><Relationship Id="rId4" Type="http://schemas.openxmlformats.org/officeDocument/2006/relationships/oleObject" Target="../embeddings/oleObject7.bin"/></Relationships>
</file>

<file path=ppt/slides/_rels/slide7.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notesSlide" Target="../notesSlides/notesSlide2.xml"/><Relationship Id="rId7" Type="http://schemas.openxmlformats.org/officeDocument/2006/relationships/diagramData" Target="../diagrams/data2.xml"/><Relationship Id="rId2" Type="http://schemas.openxmlformats.org/officeDocument/2006/relationships/slideLayout" Target="../slideLayouts/slideLayout2.xml"/><Relationship Id="rId1" Type="http://schemas.openxmlformats.org/officeDocument/2006/relationships/tags" Target="../tags/tag9.xml"/><Relationship Id="rId6" Type="http://schemas.openxmlformats.org/officeDocument/2006/relationships/image" Target="../media/image38.png"/><Relationship Id="rId11" Type="http://schemas.microsoft.com/office/2007/relationships/diagramDrawing" Target="../diagrams/drawing2.xml"/><Relationship Id="rId5" Type="http://schemas.openxmlformats.org/officeDocument/2006/relationships/image" Target="../media/image1.emf"/><Relationship Id="rId10" Type="http://schemas.openxmlformats.org/officeDocument/2006/relationships/diagramColors" Target="../diagrams/colors2.xml"/><Relationship Id="rId4" Type="http://schemas.openxmlformats.org/officeDocument/2006/relationships/oleObject" Target="../embeddings/oleObject8.bin"/><Relationship Id="rId9"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notesSlide" Target="../notesSlides/notesSlide3.xml"/><Relationship Id="rId7" Type="http://schemas.openxmlformats.org/officeDocument/2006/relationships/diagramData" Target="../diagrams/data3.xml"/><Relationship Id="rId2" Type="http://schemas.openxmlformats.org/officeDocument/2006/relationships/slideLayout" Target="../slideLayouts/slideLayout2.xml"/><Relationship Id="rId1" Type="http://schemas.openxmlformats.org/officeDocument/2006/relationships/tags" Target="../tags/tag10.xml"/><Relationship Id="rId6" Type="http://schemas.openxmlformats.org/officeDocument/2006/relationships/image" Target="../media/image38.png"/><Relationship Id="rId11" Type="http://schemas.microsoft.com/office/2007/relationships/diagramDrawing" Target="../diagrams/drawing3.xml"/><Relationship Id="rId5" Type="http://schemas.openxmlformats.org/officeDocument/2006/relationships/image" Target="../media/image1.emf"/><Relationship Id="rId10" Type="http://schemas.openxmlformats.org/officeDocument/2006/relationships/diagramColors" Target="../diagrams/colors3.xml"/><Relationship Id="rId4" Type="http://schemas.openxmlformats.org/officeDocument/2006/relationships/oleObject" Target="../embeddings/oleObject9.bin"/><Relationship Id="rId9"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image" Target="../media/image39.png"/><Relationship Id="rId5" Type="http://schemas.openxmlformats.org/officeDocument/2006/relationships/image" Target="../media/image1.emf"/><Relationship Id="rId4" Type="http://schemas.openxmlformats.org/officeDocument/2006/relationships/oleObject" Target="../embeddings/oleObject10.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12.xml"/><Relationship Id="rId6" Type="http://schemas.openxmlformats.org/officeDocument/2006/relationships/image" Target="../media/image39.png"/><Relationship Id="rId5" Type="http://schemas.openxmlformats.org/officeDocument/2006/relationships/image" Target="../media/image1.emf"/><Relationship Id="rId4" Type="http://schemas.openxmlformats.org/officeDocument/2006/relationships/oleObject" Target="../embeddings/oleObject11.bin"/></Relationships>
</file>

<file path=ppt/slides/_rels/slide11.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notesSlide" Target="../notesSlides/notesSlide6.xml"/><Relationship Id="rId7" Type="http://schemas.openxmlformats.org/officeDocument/2006/relationships/diagramData" Target="../diagrams/data4.xml"/><Relationship Id="rId2" Type="http://schemas.openxmlformats.org/officeDocument/2006/relationships/slideLayout" Target="../slideLayouts/slideLayout2.xml"/><Relationship Id="rId1" Type="http://schemas.openxmlformats.org/officeDocument/2006/relationships/tags" Target="../tags/tag13.xml"/><Relationship Id="rId6" Type="http://schemas.openxmlformats.org/officeDocument/2006/relationships/image" Target="../media/image39.png"/><Relationship Id="rId11" Type="http://schemas.microsoft.com/office/2007/relationships/diagramDrawing" Target="../diagrams/drawing4.xml"/><Relationship Id="rId5" Type="http://schemas.openxmlformats.org/officeDocument/2006/relationships/image" Target="../media/image1.emf"/><Relationship Id="rId10" Type="http://schemas.openxmlformats.org/officeDocument/2006/relationships/diagramColors" Target="../diagrams/colors4.xml"/><Relationship Id="rId4" Type="http://schemas.openxmlformats.org/officeDocument/2006/relationships/oleObject" Target="../embeddings/oleObject12.bin"/><Relationship Id="rId9" Type="http://schemas.openxmlformats.org/officeDocument/2006/relationships/diagramQuickStyle" Target="../diagrams/quickStyle4.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14.xml"/><Relationship Id="rId6" Type="http://schemas.openxmlformats.org/officeDocument/2006/relationships/image" Target="../media/image40.png"/><Relationship Id="rId5" Type="http://schemas.openxmlformats.org/officeDocument/2006/relationships/image" Target="../media/image1.emf"/><Relationship Id="rId4" Type="http://schemas.openxmlformats.org/officeDocument/2006/relationships/oleObject" Target="../embeddings/oleObject13.bin"/></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15.xml"/><Relationship Id="rId6" Type="http://schemas.openxmlformats.org/officeDocument/2006/relationships/image" Target="../media/image40.png"/><Relationship Id="rId5" Type="http://schemas.openxmlformats.org/officeDocument/2006/relationships/image" Target="../media/image1.emf"/><Relationship Id="rId4" Type="http://schemas.openxmlformats.org/officeDocument/2006/relationships/oleObject" Target="../embeddings/oleObject14.bin"/></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6.xml"/><Relationship Id="rId6" Type="http://schemas.openxmlformats.org/officeDocument/2006/relationships/image" Target="../media/image41.png"/><Relationship Id="rId5" Type="http://schemas.openxmlformats.org/officeDocument/2006/relationships/image" Target="../media/image1.emf"/><Relationship Id="rId4" Type="http://schemas.openxmlformats.org/officeDocument/2006/relationships/oleObject" Target="../embeddings/oleObject15.bin"/></Relationships>
</file>

<file path=ppt/slides/_rels/slide15.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notesSlide" Target="../notesSlides/notesSlide10.xml"/><Relationship Id="rId7" Type="http://schemas.openxmlformats.org/officeDocument/2006/relationships/diagramData" Target="../diagrams/data5.xml"/><Relationship Id="rId2" Type="http://schemas.openxmlformats.org/officeDocument/2006/relationships/slideLayout" Target="../slideLayouts/slideLayout2.xml"/><Relationship Id="rId1" Type="http://schemas.openxmlformats.org/officeDocument/2006/relationships/tags" Target="../tags/tag17.xml"/><Relationship Id="rId6" Type="http://schemas.openxmlformats.org/officeDocument/2006/relationships/image" Target="../media/image41.png"/><Relationship Id="rId11" Type="http://schemas.microsoft.com/office/2007/relationships/diagramDrawing" Target="../diagrams/drawing5.xml"/><Relationship Id="rId5" Type="http://schemas.openxmlformats.org/officeDocument/2006/relationships/image" Target="../media/image1.emf"/><Relationship Id="rId10" Type="http://schemas.openxmlformats.org/officeDocument/2006/relationships/diagramColors" Target="../diagrams/colors5.xml"/><Relationship Id="rId4" Type="http://schemas.openxmlformats.org/officeDocument/2006/relationships/oleObject" Target="../embeddings/oleObject16.bin"/><Relationship Id="rId9" Type="http://schemas.openxmlformats.org/officeDocument/2006/relationships/diagramQuickStyle" Target="../diagrams/quickStyle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8.xml"/><Relationship Id="rId6" Type="http://schemas.openxmlformats.org/officeDocument/2006/relationships/image" Target="../media/image42.png"/><Relationship Id="rId5" Type="http://schemas.openxmlformats.org/officeDocument/2006/relationships/image" Target="../media/image1.emf"/><Relationship Id="rId4" Type="http://schemas.openxmlformats.org/officeDocument/2006/relationships/oleObject" Target="../embeddings/oleObject17.bin"/></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9.xml"/><Relationship Id="rId6" Type="http://schemas.openxmlformats.org/officeDocument/2006/relationships/image" Target="../media/image43.png"/><Relationship Id="rId5" Type="http://schemas.openxmlformats.org/officeDocument/2006/relationships/image" Target="../media/image1.emf"/><Relationship Id="rId4" Type="http://schemas.openxmlformats.org/officeDocument/2006/relationships/oleObject" Target="../embeddings/oleObject18.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20.xml"/><Relationship Id="rId6" Type="http://schemas.openxmlformats.org/officeDocument/2006/relationships/image" Target="../media/image43.png"/><Relationship Id="rId5" Type="http://schemas.openxmlformats.org/officeDocument/2006/relationships/image" Target="../media/image1.emf"/><Relationship Id="rId4" Type="http://schemas.openxmlformats.org/officeDocument/2006/relationships/oleObject" Target="../embeddings/oleObject19.bin"/></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tags" Target="../tags/tag21.xml"/><Relationship Id="rId5" Type="http://schemas.openxmlformats.org/officeDocument/2006/relationships/image" Target="../media/image43.png"/><Relationship Id="rId4" Type="http://schemas.openxmlformats.org/officeDocument/2006/relationships/image" Target="../media/image1.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tags" Target="../tags/tag22.xml"/><Relationship Id="rId5" Type="http://schemas.openxmlformats.org/officeDocument/2006/relationships/image" Target="../media/image43.png"/><Relationship Id="rId4" Type="http://schemas.openxmlformats.org/officeDocument/2006/relationships/image" Target="../media/image1.e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2.bin"/><Relationship Id="rId7" Type="http://schemas.openxmlformats.org/officeDocument/2006/relationships/image" Target="../media/image43.png"/><Relationship Id="rId2" Type="http://schemas.openxmlformats.org/officeDocument/2006/relationships/slideLayout" Target="../slideLayouts/slideLayout2.xml"/><Relationship Id="rId1" Type="http://schemas.openxmlformats.org/officeDocument/2006/relationships/tags" Target="../tags/tag23.xml"/><Relationship Id="rId6" Type="http://schemas.openxmlformats.org/officeDocument/2006/relationships/image" Target="../media/image45.svg"/><Relationship Id="rId5" Type="http://schemas.openxmlformats.org/officeDocument/2006/relationships/image" Target="../media/image44.png"/><Relationship Id="rId4" Type="http://schemas.openxmlformats.org/officeDocument/2006/relationships/image" Target="../media/image1.e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tags" Target="../tags/tag24.xml"/><Relationship Id="rId5" Type="http://schemas.openxmlformats.org/officeDocument/2006/relationships/image" Target="../media/image43.png"/><Relationship Id="rId4" Type="http://schemas.openxmlformats.org/officeDocument/2006/relationships/image" Target="../media/image1.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tags" Target="../tags/tag25.xml"/><Relationship Id="rId5" Type="http://schemas.openxmlformats.org/officeDocument/2006/relationships/image" Target="../media/image43.png"/><Relationship Id="rId4" Type="http://schemas.openxmlformats.org/officeDocument/2006/relationships/image" Target="../media/image1.e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2.xml"/><Relationship Id="rId1" Type="http://schemas.openxmlformats.org/officeDocument/2006/relationships/tags" Target="../tags/tag26.xml"/><Relationship Id="rId5" Type="http://schemas.openxmlformats.org/officeDocument/2006/relationships/image" Target="../media/image46.png"/><Relationship Id="rId4" Type="http://schemas.openxmlformats.org/officeDocument/2006/relationships/image" Target="../media/image1.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tags" Target="../tags/tag27.xml"/><Relationship Id="rId4" Type="http://schemas.openxmlformats.org/officeDocument/2006/relationships/image" Target="../media/image1.emf"/></Relationships>
</file>

<file path=ppt/slides/_rels/slide26.xml.rels><?xml version="1.0" encoding="UTF-8" standalone="yes"?>
<Relationships xmlns="http://schemas.openxmlformats.org/package/2006/relationships"><Relationship Id="rId8" Type="http://schemas.openxmlformats.org/officeDocument/2006/relationships/image" Target="../media/image50.jpg"/><Relationship Id="rId3" Type="http://schemas.openxmlformats.org/officeDocument/2006/relationships/oleObject" Target="../embeddings/oleObject27.bin"/><Relationship Id="rId7" Type="http://schemas.openxmlformats.org/officeDocument/2006/relationships/image" Target="../media/image49.jpg"/><Relationship Id="rId2" Type="http://schemas.openxmlformats.org/officeDocument/2006/relationships/slideLayout" Target="../slideLayouts/slideLayout2.xml"/><Relationship Id="rId1" Type="http://schemas.openxmlformats.org/officeDocument/2006/relationships/tags" Target="../tags/tag28.xml"/><Relationship Id="rId6" Type="http://schemas.openxmlformats.org/officeDocument/2006/relationships/image" Target="../media/image48.jpg"/><Relationship Id="rId5" Type="http://schemas.openxmlformats.org/officeDocument/2006/relationships/image" Target="../media/image47.png"/><Relationship Id="rId4" Type="http://schemas.openxmlformats.org/officeDocument/2006/relationships/image" Target="../media/image1.e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tags" Target="../tags/tag29.xml"/><Relationship Id="rId4"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BC465DB8-9E08-9BE7-5C56-15C6DC344B18}"/>
              </a:ext>
            </a:extLst>
          </p:cNvPr>
          <p:cNvGraphicFramePr>
            <a:graphicFrameLocks noChangeAspect="1"/>
          </p:cNvGraphicFramePr>
          <p:nvPr>
            <p:custDataLst>
              <p:tags r:id="rId1"/>
            </p:custDataLst>
            <p:extLst>
              <p:ext uri="{D42A27DB-BD31-4B8C-83A1-F6EECF244321}">
                <p14:modId xmlns:p14="http://schemas.microsoft.com/office/powerpoint/2010/main" val="10636342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5" name="Picture 2" descr="Power Distribution Transmission of Renewable Solar Electricity Energy Grid  with Family Houses Stock Vector - Illustration of grid, bulk: 238773840">
            <a:extLst>
              <a:ext uri="{FF2B5EF4-FFF2-40B4-BE49-F238E27FC236}">
                <a16:creationId xmlns:a16="http://schemas.microsoft.com/office/drawing/2014/main" id="{2A67F68B-25CB-E6DE-3BCA-F0358BAA429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982" t="4343" r="4381" b="14032"/>
          <a:stretch/>
        </p:blipFill>
        <p:spPr bwMode="auto">
          <a:xfrm>
            <a:off x="4618133" y="1"/>
            <a:ext cx="76352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Flowchart: Delay 5">
            <a:extLst>
              <a:ext uri="{FF2B5EF4-FFF2-40B4-BE49-F238E27FC236}">
                <a16:creationId xmlns:a16="http://schemas.microsoft.com/office/drawing/2014/main" id="{CFDCD888-3CD9-D7E5-B834-413AA02CA1CF}"/>
              </a:ext>
            </a:extLst>
          </p:cNvPr>
          <p:cNvSpPr/>
          <p:nvPr/>
        </p:nvSpPr>
        <p:spPr bwMode="gray">
          <a:xfrm>
            <a:off x="2724784" y="1680041"/>
            <a:ext cx="1780309" cy="3384240"/>
          </a:xfrm>
          <a:prstGeom prst="flowChartDelay">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7" name="Text Placeholder 3">
            <a:extLst>
              <a:ext uri="{FF2B5EF4-FFF2-40B4-BE49-F238E27FC236}">
                <a16:creationId xmlns:a16="http://schemas.microsoft.com/office/drawing/2014/main" id="{7624BB1D-466C-0D3A-5BB1-11C3365009E5}"/>
              </a:ext>
            </a:extLst>
          </p:cNvPr>
          <p:cNvSpPr txBox="1">
            <a:spLocks/>
          </p:cNvSpPr>
          <p:nvPr/>
        </p:nvSpPr>
        <p:spPr>
          <a:xfrm>
            <a:off x="501649" y="5905499"/>
            <a:ext cx="3378975" cy="273050"/>
          </a:xfrm>
          <a:prstGeom prst="rect">
            <a:avLst/>
          </a:prstGeom>
          <a:solidFill>
            <a:srgbClr val="004F59"/>
          </a:solidFill>
        </p:spPr>
        <p:txBody>
          <a:bodyPr vert="horz" lIns="0" tIns="0" rIns="0" bIns="0" rtlCol="0" anchor="b">
            <a:noAutofit/>
          </a:bodyPr>
          <a:lstStyle>
            <a:lvl1pPr marL="0" indent="0" algn="l" defTabSz="914400" rtl="0" eaLnBrk="1" latinLnBrk="0" hangingPunct="1">
              <a:spcBef>
                <a:spcPts val="0"/>
              </a:spcBef>
              <a:spcAft>
                <a:spcPts val="0"/>
              </a:spcAft>
              <a:buSzPct val="100000"/>
              <a:buFontTx/>
              <a:buNone/>
              <a:defRPr sz="1400" b="1" kern="1200">
                <a:solidFill>
                  <a:schemeClr val="bg1"/>
                </a:solidFill>
                <a:latin typeface="Calibri" panose="020F0502020204030204" pitchFamily="34" charset="0"/>
                <a:ea typeface="+mn-ea"/>
                <a:cs typeface="Calibri" panose="020F05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a:solidFill>
                  <a:schemeClr val="bg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a:solidFill>
                  <a:schemeClr val="bg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a:solidFill>
                  <a:schemeClr val="bg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a:solidFill>
                  <a:schemeClr val="bg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dirty="0"/>
              <a:t>October 2024</a:t>
            </a:r>
          </a:p>
        </p:txBody>
      </p:sp>
      <p:sp>
        <p:nvSpPr>
          <p:cNvPr id="8" name="Callout: Right Arrow 7">
            <a:extLst>
              <a:ext uri="{FF2B5EF4-FFF2-40B4-BE49-F238E27FC236}">
                <a16:creationId xmlns:a16="http://schemas.microsoft.com/office/drawing/2014/main" id="{9E790857-81D9-76AF-4F73-D984E159A386}"/>
              </a:ext>
            </a:extLst>
          </p:cNvPr>
          <p:cNvSpPr/>
          <p:nvPr/>
        </p:nvSpPr>
        <p:spPr bwMode="gray">
          <a:xfrm>
            <a:off x="501649" y="1680041"/>
            <a:ext cx="3512791" cy="3384240"/>
          </a:xfrm>
          <a:prstGeom prst="rightArrowCallout">
            <a:avLst>
              <a:gd name="adj1" fmla="val 20387"/>
              <a:gd name="adj2" fmla="val 25000"/>
              <a:gd name="adj3" fmla="val 25000"/>
              <a:gd name="adj4" fmla="val 78867"/>
            </a:avLst>
          </a:prstGeom>
          <a:solidFill>
            <a:schemeClr val="accent3"/>
          </a:solidFill>
          <a:ln w="19050" algn="ctr">
            <a:noFill/>
            <a:miter lim="800000"/>
            <a:headEnd/>
            <a:tailEnd/>
          </a:ln>
        </p:spPr>
        <p:txBody>
          <a:bodyPr wrap="square" lIns="88900" tIns="88900" rIns="88900" bIns="88900" rtlCol="0" anchor="ctr"/>
          <a:lstStyle/>
          <a:p>
            <a:pPr algn="just">
              <a:lnSpc>
                <a:spcPct val="106000"/>
              </a:lnSpc>
            </a:pPr>
            <a:r>
              <a:rPr lang="en-US" sz="2400" dirty="0">
                <a:solidFill>
                  <a:schemeClr val="bg1"/>
                </a:solidFill>
                <a:latin typeface="Verdana" panose="020B0604030504040204" pitchFamily="34" charset="0"/>
                <a:ea typeface="Verdana" panose="020B0604030504040204" pitchFamily="34" charset="0"/>
              </a:rPr>
              <a:t>Open Access for different countries</a:t>
            </a:r>
            <a:endParaRPr lang="en-US" sz="1600" b="1" dirty="0">
              <a:solidFill>
                <a:schemeClr val="bg1"/>
              </a:solidFill>
            </a:endParaRPr>
          </a:p>
        </p:txBody>
      </p:sp>
    </p:spTree>
    <p:extLst>
      <p:ext uri="{BB962C8B-B14F-4D97-AF65-F5344CB8AC3E}">
        <p14:creationId xmlns:p14="http://schemas.microsoft.com/office/powerpoint/2010/main" val="2261058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7" name="think-cell data - do not delete" hidden="1">
            <a:extLst>
              <a:ext uri="{FF2B5EF4-FFF2-40B4-BE49-F238E27FC236}">
                <a16:creationId xmlns:a16="http://schemas.microsoft.com/office/drawing/2014/main" id="{86034017-921D-8270-13DC-A8DC101377EE}"/>
              </a:ext>
            </a:extLst>
          </p:cNvPr>
          <p:cNvGraphicFramePr>
            <a:graphicFrameLocks noChangeAspect="1"/>
          </p:cNvGraphicFramePr>
          <p:nvPr>
            <p:custDataLst>
              <p:tags r:id="rId1"/>
            </p:custDataLst>
            <p:extLst>
              <p:ext uri="{D42A27DB-BD31-4B8C-83A1-F6EECF244321}">
                <p14:modId xmlns:p14="http://schemas.microsoft.com/office/powerpoint/2010/main" val="32205727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grpSp>
        <p:nvGrpSpPr>
          <p:cNvPr id="2" name="object 2"/>
          <p:cNvGrpSpPr/>
          <p:nvPr/>
        </p:nvGrpSpPr>
        <p:grpSpPr>
          <a:xfrm>
            <a:off x="52230" y="670"/>
            <a:ext cx="12087540" cy="6852964"/>
            <a:chOff x="0" y="507"/>
            <a:chExt cx="9144000" cy="5184140"/>
          </a:xfrm>
        </p:grpSpPr>
        <p:sp>
          <p:nvSpPr>
            <p:cNvPr id="3" name="object 3"/>
            <p:cNvSpPr/>
            <p:nvPr/>
          </p:nvSpPr>
          <p:spPr>
            <a:xfrm>
              <a:off x="0" y="507"/>
              <a:ext cx="9144000" cy="5184140"/>
            </a:xfrm>
            <a:custGeom>
              <a:avLst/>
              <a:gdLst/>
              <a:ahLst/>
              <a:cxnLst/>
              <a:rect l="l" t="t" r="r" b="b"/>
              <a:pathLst>
                <a:path w="9144000" h="5184140">
                  <a:moveTo>
                    <a:pt x="9144000" y="0"/>
                  </a:moveTo>
                  <a:lnTo>
                    <a:pt x="0" y="0"/>
                  </a:lnTo>
                  <a:lnTo>
                    <a:pt x="0" y="153670"/>
                  </a:lnTo>
                  <a:lnTo>
                    <a:pt x="0" y="5035550"/>
                  </a:lnTo>
                  <a:lnTo>
                    <a:pt x="0" y="5184140"/>
                  </a:lnTo>
                  <a:lnTo>
                    <a:pt x="9144000" y="5184140"/>
                  </a:lnTo>
                  <a:lnTo>
                    <a:pt x="9144000" y="5035550"/>
                  </a:lnTo>
                  <a:lnTo>
                    <a:pt x="153758" y="5035550"/>
                  </a:lnTo>
                  <a:lnTo>
                    <a:pt x="153758" y="153670"/>
                  </a:lnTo>
                  <a:lnTo>
                    <a:pt x="9144000" y="153670"/>
                  </a:lnTo>
                  <a:lnTo>
                    <a:pt x="9144000" y="0"/>
                  </a:lnTo>
                  <a:close/>
                </a:path>
              </a:pathLst>
            </a:custGeom>
            <a:solidFill>
              <a:srgbClr val="FFFFFF"/>
            </a:solidFill>
          </p:spPr>
          <p:txBody>
            <a:bodyPr wrap="square" lIns="0" tIns="0" rIns="0" bIns="0" rtlCol="0"/>
            <a:lstStyle/>
            <a:p>
              <a:endParaRPr sz="2379"/>
            </a:p>
          </p:txBody>
        </p:sp>
        <p:pic>
          <p:nvPicPr>
            <p:cNvPr id="4" name="object 4"/>
            <p:cNvPicPr/>
            <p:nvPr/>
          </p:nvPicPr>
          <p:blipFill>
            <a:blip r:embed="rId5" cstate="print"/>
            <a:stretch>
              <a:fillRect/>
            </a:stretch>
          </p:blipFill>
          <p:spPr>
            <a:xfrm>
              <a:off x="7703819" y="3293376"/>
              <a:ext cx="1181112" cy="1363980"/>
            </a:xfrm>
            <a:prstGeom prst="rect">
              <a:avLst/>
            </a:prstGeom>
          </p:spPr>
        </p:pic>
        <p:sp>
          <p:nvSpPr>
            <p:cNvPr id="5" name="object 5"/>
            <p:cNvSpPr/>
            <p:nvPr/>
          </p:nvSpPr>
          <p:spPr>
            <a:xfrm>
              <a:off x="7751064" y="3317748"/>
              <a:ext cx="1091565" cy="1274445"/>
            </a:xfrm>
            <a:custGeom>
              <a:avLst/>
              <a:gdLst/>
              <a:ahLst/>
              <a:cxnLst/>
              <a:rect l="l" t="t" r="r" b="b"/>
              <a:pathLst>
                <a:path w="1091565" h="1274445">
                  <a:moveTo>
                    <a:pt x="909319" y="0"/>
                  </a:moveTo>
                  <a:lnTo>
                    <a:pt x="181863" y="0"/>
                  </a:lnTo>
                  <a:lnTo>
                    <a:pt x="133511" y="6495"/>
                  </a:lnTo>
                  <a:lnTo>
                    <a:pt x="90066" y="24826"/>
                  </a:lnTo>
                  <a:lnTo>
                    <a:pt x="53260" y="53260"/>
                  </a:lnTo>
                  <a:lnTo>
                    <a:pt x="24826" y="90066"/>
                  </a:lnTo>
                  <a:lnTo>
                    <a:pt x="6495" y="133511"/>
                  </a:lnTo>
                  <a:lnTo>
                    <a:pt x="0" y="181863"/>
                  </a:lnTo>
                  <a:lnTo>
                    <a:pt x="0" y="1092200"/>
                  </a:lnTo>
                  <a:lnTo>
                    <a:pt x="6495" y="1140547"/>
                  </a:lnTo>
                  <a:lnTo>
                    <a:pt x="24826" y="1183991"/>
                  </a:lnTo>
                  <a:lnTo>
                    <a:pt x="53260" y="1220798"/>
                  </a:lnTo>
                  <a:lnTo>
                    <a:pt x="90066" y="1249235"/>
                  </a:lnTo>
                  <a:lnTo>
                    <a:pt x="133511" y="1267567"/>
                  </a:lnTo>
                  <a:lnTo>
                    <a:pt x="181863" y="1274064"/>
                  </a:lnTo>
                  <a:lnTo>
                    <a:pt x="909319" y="1274064"/>
                  </a:lnTo>
                  <a:lnTo>
                    <a:pt x="957672" y="1267567"/>
                  </a:lnTo>
                  <a:lnTo>
                    <a:pt x="1001117" y="1249235"/>
                  </a:lnTo>
                  <a:lnTo>
                    <a:pt x="1037923" y="1220798"/>
                  </a:lnTo>
                  <a:lnTo>
                    <a:pt x="1066357" y="1183991"/>
                  </a:lnTo>
                  <a:lnTo>
                    <a:pt x="1084688" y="1140547"/>
                  </a:lnTo>
                  <a:lnTo>
                    <a:pt x="1091183" y="1092200"/>
                  </a:lnTo>
                  <a:lnTo>
                    <a:pt x="1091183" y="181863"/>
                  </a:lnTo>
                  <a:lnTo>
                    <a:pt x="1084688" y="133511"/>
                  </a:lnTo>
                  <a:lnTo>
                    <a:pt x="1066357" y="90066"/>
                  </a:lnTo>
                  <a:lnTo>
                    <a:pt x="1037923" y="53260"/>
                  </a:lnTo>
                  <a:lnTo>
                    <a:pt x="1001117" y="24826"/>
                  </a:lnTo>
                  <a:lnTo>
                    <a:pt x="957672" y="6495"/>
                  </a:lnTo>
                  <a:lnTo>
                    <a:pt x="909319" y="0"/>
                  </a:lnTo>
                  <a:close/>
                </a:path>
              </a:pathLst>
            </a:custGeom>
            <a:solidFill>
              <a:srgbClr val="FFFFFF"/>
            </a:solidFill>
          </p:spPr>
          <p:txBody>
            <a:bodyPr wrap="square" lIns="0" tIns="0" rIns="0" bIns="0" rtlCol="0"/>
            <a:lstStyle/>
            <a:p>
              <a:endParaRPr sz="2379"/>
            </a:p>
          </p:txBody>
        </p:sp>
        <p:sp>
          <p:nvSpPr>
            <p:cNvPr id="6" name="object 6"/>
            <p:cNvSpPr/>
            <p:nvPr/>
          </p:nvSpPr>
          <p:spPr>
            <a:xfrm>
              <a:off x="7751064" y="3317748"/>
              <a:ext cx="1091565" cy="1274445"/>
            </a:xfrm>
            <a:custGeom>
              <a:avLst/>
              <a:gdLst/>
              <a:ahLst/>
              <a:cxnLst/>
              <a:rect l="l" t="t" r="r" b="b"/>
              <a:pathLst>
                <a:path w="1091565" h="1274445">
                  <a:moveTo>
                    <a:pt x="0" y="181863"/>
                  </a:moveTo>
                  <a:lnTo>
                    <a:pt x="6495" y="133511"/>
                  </a:lnTo>
                  <a:lnTo>
                    <a:pt x="24826" y="90066"/>
                  </a:lnTo>
                  <a:lnTo>
                    <a:pt x="53260" y="53260"/>
                  </a:lnTo>
                  <a:lnTo>
                    <a:pt x="90066" y="24826"/>
                  </a:lnTo>
                  <a:lnTo>
                    <a:pt x="133511" y="6495"/>
                  </a:lnTo>
                  <a:lnTo>
                    <a:pt x="181863" y="0"/>
                  </a:lnTo>
                  <a:lnTo>
                    <a:pt x="909319" y="0"/>
                  </a:lnTo>
                  <a:lnTo>
                    <a:pt x="957672" y="6495"/>
                  </a:lnTo>
                  <a:lnTo>
                    <a:pt x="1001117" y="24826"/>
                  </a:lnTo>
                  <a:lnTo>
                    <a:pt x="1037923" y="53260"/>
                  </a:lnTo>
                  <a:lnTo>
                    <a:pt x="1066357" y="90066"/>
                  </a:lnTo>
                  <a:lnTo>
                    <a:pt x="1084688" y="133511"/>
                  </a:lnTo>
                  <a:lnTo>
                    <a:pt x="1091183" y="181863"/>
                  </a:lnTo>
                  <a:lnTo>
                    <a:pt x="1091183" y="1092200"/>
                  </a:lnTo>
                  <a:lnTo>
                    <a:pt x="1084688" y="1140547"/>
                  </a:lnTo>
                  <a:lnTo>
                    <a:pt x="1066357" y="1183991"/>
                  </a:lnTo>
                  <a:lnTo>
                    <a:pt x="1037923" y="1220798"/>
                  </a:lnTo>
                  <a:lnTo>
                    <a:pt x="1001117" y="1249235"/>
                  </a:lnTo>
                  <a:lnTo>
                    <a:pt x="957672" y="1267567"/>
                  </a:lnTo>
                  <a:lnTo>
                    <a:pt x="909319" y="1274064"/>
                  </a:lnTo>
                  <a:lnTo>
                    <a:pt x="181863" y="1274064"/>
                  </a:lnTo>
                  <a:lnTo>
                    <a:pt x="133511" y="1267567"/>
                  </a:lnTo>
                  <a:lnTo>
                    <a:pt x="90066" y="1249235"/>
                  </a:lnTo>
                  <a:lnTo>
                    <a:pt x="53260" y="1220798"/>
                  </a:lnTo>
                  <a:lnTo>
                    <a:pt x="24826" y="1183991"/>
                  </a:lnTo>
                  <a:lnTo>
                    <a:pt x="6495" y="1140547"/>
                  </a:lnTo>
                  <a:lnTo>
                    <a:pt x="0" y="1092200"/>
                  </a:lnTo>
                  <a:lnTo>
                    <a:pt x="0" y="181863"/>
                  </a:lnTo>
                  <a:close/>
                </a:path>
              </a:pathLst>
            </a:custGeom>
            <a:ln w="9524">
              <a:solidFill>
                <a:srgbClr val="B90C2E"/>
              </a:solidFill>
              <a:prstDash val="sysDash"/>
            </a:ln>
          </p:spPr>
          <p:txBody>
            <a:bodyPr wrap="square" lIns="0" tIns="0" rIns="0" bIns="0" rtlCol="0"/>
            <a:lstStyle/>
            <a:p>
              <a:endParaRPr sz="2379"/>
            </a:p>
          </p:txBody>
        </p:sp>
        <p:sp>
          <p:nvSpPr>
            <p:cNvPr id="7" name="object 7"/>
            <p:cNvSpPr/>
            <p:nvPr/>
          </p:nvSpPr>
          <p:spPr>
            <a:xfrm>
              <a:off x="2334005" y="4167372"/>
              <a:ext cx="3613785" cy="469900"/>
            </a:xfrm>
            <a:custGeom>
              <a:avLst/>
              <a:gdLst/>
              <a:ahLst/>
              <a:cxnLst/>
              <a:rect l="l" t="t" r="r" b="b"/>
              <a:pathLst>
                <a:path w="3613785" h="469900">
                  <a:moveTo>
                    <a:pt x="0" y="469397"/>
                  </a:moveTo>
                  <a:lnTo>
                    <a:pt x="31918" y="447017"/>
                  </a:lnTo>
                  <a:lnTo>
                    <a:pt x="63966" y="424683"/>
                  </a:lnTo>
                  <a:lnTo>
                    <a:pt x="96273" y="402442"/>
                  </a:lnTo>
                  <a:lnTo>
                    <a:pt x="128967" y="380340"/>
                  </a:lnTo>
                  <a:lnTo>
                    <a:pt x="162177" y="358422"/>
                  </a:lnTo>
                  <a:lnTo>
                    <a:pt x="196034" y="336737"/>
                  </a:lnTo>
                  <a:lnTo>
                    <a:pt x="230666" y="315328"/>
                  </a:lnTo>
                  <a:lnTo>
                    <a:pt x="266202" y="294244"/>
                  </a:lnTo>
                  <a:lnTo>
                    <a:pt x="302772" y="273531"/>
                  </a:lnTo>
                  <a:lnTo>
                    <a:pt x="340504" y="253234"/>
                  </a:lnTo>
                  <a:lnTo>
                    <a:pt x="379528" y="233400"/>
                  </a:lnTo>
                  <a:lnTo>
                    <a:pt x="419973" y="214075"/>
                  </a:lnTo>
                  <a:lnTo>
                    <a:pt x="461968" y="195306"/>
                  </a:lnTo>
                  <a:lnTo>
                    <a:pt x="505643" y="177138"/>
                  </a:lnTo>
                  <a:lnTo>
                    <a:pt x="551127" y="159619"/>
                  </a:lnTo>
                  <a:lnTo>
                    <a:pt x="598548" y="142795"/>
                  </a:lnTo>
                  <a:lnTo>
                    <a:pt x="648036" y="126711"/>
                  </a:lnTo>
                  <a:lnTo>
                    <a:pt x="699720" y="111415"/>
                  </a:lnTo>
                  <a:lnTo>
                    <a:pt x="753730" y="96951"/>
                  </a:lnTo>
                  <a:lnTo>
                    <a:pt x="810194" y="83368"/>
                  </a:lnTo>
                  <a:lnTo>
                    <a:pt x="869242" y="70711"/>
                  </a:lnTo>
                  <a:lnTo>
                    <a:pt x="931003" y="59026"/>
                  </a:lnTo>
                  <a:lnTo>
                    <a:pt x="995606" y="48360"/>
                  </a:lnTo>
                  <a:lnTo>
                    <a:pt x="1063181" y="38759"/>
                  </a:lnTo>
                  <a:lnTo>
                    <a:pt x="1133856" y="30269"/>
                  </a:lnTo>
                  <a:lnTo>
                    <a:pt x="1209257" y="22783"/>
                  </a:lnTo>
                  <a:lnTo>
                    <a:pt x="1248176" y="19477"/>
                  </a:lnTo>
                  <a:lnTo>
                    <a:pt x="1287884" y="16454"/>
                  </a:lnTo>
                  <a:lnTo>
                    <a:pt x="1328364" y="13707"/>
                  </a:lnTo>
                  <a:lnTo>
                    <a:pt x="1369599" y="11231"/>
                  </a:lnTo>
                  <a:lnTo>
                    <a:pt x="1411572" y="9019"/>
                  </a:lnTo>
                  <a:lnTo>
                    <a:pt x="1454266" y="7066"/>
                  </a:lnTo>
                  <a:lnTo>
                    <a:pt x="1497663" y="5365"/>
                  </a:lnTo>
                  <a:lnTo>
                    <a:pt x="1541746" y="3909"/>
                  </a:lnTo>
                  <a:lnTo>
                    <a:pt x="1586498" y="2694"/>
                  </a:lnTo>
                  <a:lnTo>
                    <a:pt x="1631903" y="1712"/>
                  </a:lnTo>
                  <a:lnTo>
                    <a:pt x="1677942" y="958"/>
                  </a:lnTo>
                  <a:lnTo>
                    <a:pt x="1724599" y="425"/>
                  </a:lnTo>
                  <a:lnTo>
                    <a:pt x="1771856" y="108"/>
                  </a:lnTo>
                  <a:lnTo>
                    <a:pt x="1819697" y="0"/>
                  </a:lnTo>
                  <a:lnTo>
                    <a:pt x="1868104" y="94"/>
                  </a:lnTo>
                  <a:lnTo>
                    <a:pt x="1917060" y="385"/>
                  </a:lnTo>
                  <a:lnTo>
                    <a:pt x="1966547" y="867"/>
                  </a:lnTo>
                  <a:lnTo>
                    <a:pt x="2016550" y="1534"/>
                  </a:lnTo>
                  <a:lnTo>
                    <a:pt x="2067050" y="2378"/>
                  </a:lnTo>
                  <a:lnTo>
                    <a:pt x="2118030" y="3395"/>
                  </a:lnTo>
                  <a:lnTo>
                    <a:pt x="2169474" y="4578"/>
                  </a:lnTo>
                  <a:lnTo>
                    <a:pt x="2221364" y="5921"/>
                  </a:lnTo>
                  <a:lnTo>
                    <a:pt x="2273683" y="7417"/>
                  </a:lnTo>
                  <a:lnTo>
                    <a:pt x="2326413" y="9061"/>
                  </a:lnTo>
                  <a:lnTo>
                    <a:pt x="2379538" y="10847"/>
                  </a:lnTo>
                  <a:lnTo>
                    <a:pt x="2433041" y="12768"/>
                  </a:lnTo>
                  <a:lnTo>
                    <a:pt x="2486904" y="14818"/>
                  </a:lnTo>
                  <a:lnTo>
                    <a:pt x="2541110" y="16991"/>
                  </a:lnTo>
                  <a:lnTo>
                    <a:pt x="2595642" y="19280"/>
                  </a:lnTo>
                  <a:lnTo>
                    <a:pt x="2650483" y="21681"/>
                  </a:lnTo>
                  <a:lnTo>
                    <a:pt x="2705615" y="24186"/>
                  </a:lnTo>
                  <a:lnTo>
                    <a:pt x="2761023" y="26789"/>
                  </a:lnTo>
                  <a:lnTo>
                    <a:pt x="2816687" y="29485"/>
                  </a:lnTo>
                  <a:lnTo>
                    <a:pt x="2872592" y="32266"/>
                  </a:lnTo>
                  <a:lnTo>
                    <a:pt x="2928719" y="35128"/>
                  </a:lnTo>
                  <a:lnTo>
                    <a:pt x="2985053" y="38063"/>
                  </a:lnTo>
                  <a:lnTo>
                    <a:pt x="3041575" y="41066"/>
                  </a:lnTo>
                  <a:lnTo>
                    <a:pt x="3098269" y="44131"/>
                  </a:lnTo>
                  <a:lnTo>
                    <a:pt x="3155117" y="47250"/>
                  </a:lnTo>
                  <a:lnTo>
                    <a:pt x="3212103" y="50419"/>
                  </a:lnTo>
                  <a:lnTo>
                    <a:pt x="3269208" y="53631"/>
                  </a:lnTo>
                  <a:lnTo>
                    <a:pt x="3326417" y="56880"/>
                  </a:lnTo>
                  <a:lnTo>
                    <a:pt x="3383711" y="60159"/>
                  </a:lnTo>
                  <a:lnTo>
                    <a:pt x="3441074" y="63464"/>
                  </a:lnTo>
                  <a:lnTo>
                    <a:pt x="3498489" y="66786"/>
                  </a:lnTo>
                  <a:lnTo>
                    <a:pt x="3555938" y="70121"/>
                  </a:lnTo>
                  <a:lnTo>
                    <a:pt x="3613404" y="73462"/>
                  </a:lnTo>
                </a:path>
              </a:pathLst>
            </a:custGeom>
            <a:ln w="38100">
              <a:solidFill>
                <a:srgbClr val="B90C2E"/>
              </a:solidFill>
            </a:ln>
          </p:spPr>
          <p:txBody>
            <a:bodyPr wrap="square" lIns="0" tIns="0" rIns="0" bIns="0" rtlCol="0"/>
            <a:lstStyle/>
            <a:p>
              <a:endParaRPr sz="2379"/>
            </a:p>
          </p:txBody>
        </p:sp>
        <p:pic>
          <p:nvPicPr>
            <p:cNvPr id="8" name="object 8"/>
            <p:cNvPicPr/>
            <p:nvPr/>
          </p:nvPicPr>
          <p:blipFill>
            <a:blip r:embed="rId6" cstate="print"/>
            <a:stretch>
              <a:fillRect/>
            </a:stretch>
          </p:blipFill>
          <p:spPr>
            <a:xfrm>
              <a:off x="6653783" y="4043171"/>
              <a:ext cx="934224" cy="629386"/>
            </a:xfrm>
            <a:prstGeom prst="rect">
              <a:avLst/>
            </a:prstGeom>
          </p:spPr>
        </p:pic>
        <p:pic>
          <p:nvPicPr>
            <p:cNvPr id="9" name="object 9"/>
            <p:cNvPicPr/>
            <p:nvPr/>
          </p:nvPicPr>
          <p:blipFill>
            <a:blip r:embed="rId7" cstate="print"/>
            <a:stretch>
              <a:fillRect/>
            </a:stretch>
          </p:blipFill>
          <p:spPr>
            <a:xfrm>
              <a:off x="6673595" y="4116323"/>
              <a:ext cx="800100" cy="521246"/>
            </a:xfrm>
            <a:prstGeom prst="rect">
              <a:avLst/>
            </a:prstGeom>
          </p:spPr>
        </p:pic>
        <p:sp>
          <p:nvSpPr>
            <p:cNvPr id="10" name="object 10"/>
            <p:cNvSpPr/>
            <p:nvPr/>
          </p:nvSpPr>
          <p:spPr>
            <a:xfrm>
              <a:off x="6739128" y="4073651"/>
              <a:ext cx="822960" cy="518159"/>
            </a:xfrm>
            <a:custGeom>
              <a:avLst/>
              <a:gdLst/>
              <a:ahLst/>
              <a:cxnLst/>
              <a:rect l="l" t="t" r="r" b="b"/>
              <a:pathLst>
                <a:path w="822959" h="518160">
                  <a:moveTo>
                    <a:pt x="822959" y="0"/>
                  </a:moveTo>
                  <a:lnTo>
                    <a:pt x="0" y="0"/>
                  </a:lnTo>
                  <a:lnTo>
                    <a:pt x="0" y="518160"/>
                  </a:lnTo>
                  <a:lnTo>
                    <a:pt x="822959" y="518160"/>
                  </a:lnTo>
                  <a:lnTo>
                    <a:pt x="822959" y="0"/>
                  </a:lnTo>
                  <a:close/>
                </a:path>
              </a:pathLst>
            </a:custGeom>
            <a:solidFill>
              <a:srgbClr val="000000"/>
            </a:solidFill>
          </p:spPr>
          <p:txBody>
            <a:bodyPr wrap="square" lIns="0" tIns="0" rIns="0" bIns="0" rtlCol="0"/>
            <a:lstStyle/>
            <a:p>
              <a:endParaRPr sz="2379"/>
            </a:p>
          </p:txBody>
        </p:sp>
        <p:sp>
          <p:nvSpPr>
            <p:cNvPr id="11" name="object 11"/>
            <p:cNvSpPr/>
            <p:nvPr/>
          </p:nvSpPr>
          <p:spPr>
            <a:xfrm>
              <a:off x="6739128" y="4073651"/>
              <a:ext cx="822960" cy="518159"/>
            </a:xfrm>
            <a:custGeom>
              <a:avLst/>
              <a:gdLst/>
              <a:ahLst/>
              <a:cxnLst/>
              <a:rect l="l" t="t" r="r" b="b"/>
              <a:pathLst>
                <a:path w="822959" h="518160">
                  <a:moveTo>
                    <a:pt x="0" y="518160"/>
                  </a:moveTo>
                  <a:lnTo>
                    <a:pt x="822959" y="518160"/>
                  </a:lnTo>
                  <a:lnTo>
                    <a:pt x="822959" y="0"/>
                  </a:lnTo>
                  <a:lnTo>
                    <a:pt x="0" y="0"/>
                  </a:lnTo>
                  <a:lnTo>
                    <a:pt x="0" y="518160"/>
                  </a:lnTo>
                  <a:close/>
                </a:path>
              </a:pathLst>
            </a:custGeom>
            <a:ln w="9525">
              <a:solidFill>
                <a:srgbClr val="002C6C"/>
              </a:solidFill>
            </a:ln>
          </p:spPr>
          <p:txBody>
            <a:bodyPr wrap="square" lIns="0" tIns="0" rIns="0" bIns="0" rtlCol="0"/>
            <a:lstStyle/>
            <a:p>
              <a:endParaRPr sz="2379"/>
            </a:p>
          </p:txBody>
        </p:sp>
      </p:grpSp>
      <p:sp>
        <p:nvSpPr>
          <p:cNvPr id="13" name="object 13"/>
          <p:cNvSpPr txBox="1"/>
          <p:nvPr/>
        </p:nvSpPr>
        <p:spPr>
          <a:xfrm>
            <a:off x="9066513" y="5504801"/>
            <a:ext cx="754632" cy="423011"/>
          </a:xfrm>
          <a:prstGeom prst="rect">
            <a:avLst/>
          </a:prstGeom>
        </p:spPr>
        <p:txBody>
          <a:bodyPr vert="horz" wrap="square" lIns="0" tIns="15949" rIns="0" bIns="0" rtlCol="0">
            <a:spAutoFit/>
          </a:bodyPr>
          <a:lstStyle/>
          <a:p>
            <a:pPr marL="16788" marR="6715">
              <a:spcBef>
                <a:spcPts val="126"/>
              </a:spcBef>
            </a:pPr>
            <a:r>
              <a:rPr sz="1322" spc="-26" dirty="0">
                <a:solidFill>
                  <a:srgbClr val="FFFFFF"/>
                </a:solidFill>
                <a:latin typeface="Gill Sans MT"/>
                <a:cs typeface="Gill Sans MT"/>
              </a:rPr>
              <a:t>Bulk </a:t>
            </a:r>
            <a:r>
              <a:rPr sz="1322" spc="-13" dirty="0">
                <a:solidFill>
                  <a:srgbClr val="FFFFFF"/>
                </a:solidFill>
                <a:latin typeface="Gill Sans MT"/>
                <a:cs typeface="Gill Sans MT"/>
              </a:rPr>
              <a:t>Consumer</a:t>
            </a:r>
            <a:endParaRPr sz="1322">
              <a:latin typeface="Gill Sans MT"/>
              <a:cs typeface="Gill Sans MT"/>
            </a:endParaRPr>
          </a:p>
        </p:txBody>
      </p:sp>
      <p:grpSp>
        <p:nvGrpSpPr>
          <p:cNvPr id="14" name="object 14"/>
          <p:cNvGrpSpPr/>
          <p:nvPr/>
        </p:nvGrpSpPr>
        <p:grpSpPr>
          <a:xfrm>
            <a:off x="8847929" y="4345469"/>
            <a:ext cx="1237294" cy="832697"/>
            <a:chOff x="6653783" y="3287267"/>
            <a:chExt cx="935990" cy="629920"/>
          </a:xfrm>
        </p:grpSpPr>
        <p:pic>
          <p:nvPicPr>
            <p:cNvPr id="15" name="object 15"/>
            <p:cNvPicPr/>
            <p:nvPr/>
          </p:nvPicPr>
          <p:blipFill>
            <a:blip r:embed="rId8" cstate="print"/>
            <a:stretch>
              <a:fillRect/>
            </a:stretch>
          </p:blipFill>
          <p:spPr>
            <a:xfrm>
              <a:off x="6653783" y="3287267"/>
              <a:ext cx="932713" cy="629386"/>
            </a:xfrm>
            <a:prstGeom prst="rect">
              <a:avLst/>
            </a:prstGeom>
          </p:spPr>
        </p:pic>
        <p:pic>
          <p:nvPicPr>
            <p:cNvPr id="16" name="object 16"/>
            <p:cNvPicPr/>
            <p:nvPr/>
          </p:nvPicPr>
          <p:blipFill>
            <a:blip r:embed="rId9" cstate="print"/>
            <a:stretch>
              <a:fillRect/>
            </a:stretch>
          </p:blipFill>
          <p:spPr>
            <a:xfrm>
              <a:off x="6673595" y="3360381"/>
              <a:ext cx="915936" cy="521246"/>
            </a:xfrm>
            <a:prstGeom prst="rect">
              <a:avLst/>
            </a:prstGeom>
          </p:spPr>
        </p:pic>
        <p:sp>
          <p:nvSpPr>
            <p:cNvPr id="17" name="object 17"/>
            <p:cNvSpPr/>
            <p:nvPr/>
          </p:nvSpPr>
          <p:spPr>
            <a:xfrm>
              <a:off x="6739127" y="3317747"/>
              <a:ext cx="821690" cy="518159"/>
            </a:xfrm>
            <a:custGeom>
              <a:avLst/>
              <a:gdLst/>
              <a:ahLst/>
              <a:cxnLst/>
              <a:rect l="l" t="t" r="r" b="b"/>
              <a:pathLst>
                <a:path w="821690" h="518160">
                  <a:moveTo>
                    <a:pt x="821435" y="0"/>
                  </a:moveTo>
                  <a:lnTo>
                    <a:pt x="0" y="0"/>
                  </a:lnTo>
                  <a:lnTo>
                    <a:pt x="0" y="518159"/>
                  </a:lnTo>
                  <a:lnTo>
                    <a:pt x="821435" y="518159"/>
                  </a:lnTo>
                  <a:lnTo>
                    <a:pt x="821435" y="0"/>
                  </a:lnTo>
                  <a:close/>
                </a:path>
              </a:pathLst>
            </a:custGeom>
            <a:solidFill>
              <a:srgbClr val="000000"/>
            </a:solidFill>
          </p:spPr>
          <p:txBody>
            <a:bodyPr wrap="square" lIns="0" tIns="0" rIns="0" bIns="0" rtlCol="0"/>
            <a:lstStyle/>
            <a:p>
              <a:endParaRPr sz="2379"/>
            </a:p>
          </p:txBody>
        </p:sp>
        <p:sp>
          <p:nvSpPr>
            <p:cNvPr id="18" name="object 18"/>
            <p:cNvSpPr/>
            <p:nvPr/>
          </p:nvSpPr>
          <p:spPr>
            <a:xfrm>
              <a:off x="6739127" y="3317747"/>
              <a:ext cx="821690" cy="518159"/>
            </a:xfrm>
            <a:custGeom>
              <a:avLst/>
              <a:gdLst/>
              <a:ahLst/>
              <a:cxnLst/>
              <a:rect l="l" t="t" r="r" b="b"/>
              <a:pathLst>
                <a:path w="821690" h="518160">
                  <a:moveTo>
                    <a:pt x="0" y="518159"/>
                  </a:moveTo>
                  <a:lnTo>
                    <a:pt x="821435" y="518159"/>
                  </a:lnTo>
                  <a:lnTo>
                    <a:pt x="821435" y="0"/>
                  </a:lnTo>
                  <a:lnTo>
                    <a:pt x="0" y="0"/>
                  </a:lnTo>
                  <a:lnTo>
                    <a:pt x="0" y="518159"/>
                  </a:lnTo>
                  <a:close/>
                </a:path>
              </a:pathLst>
            </a:custGeom>
            <a:ln w="9525">
              <a:solidFill>
                <a:srgbClr val="002C6C"/>
              </a:solidFill>
            </a:ln>
          </p:spPr>
          <p:txBody>
            <a:bodyPr wrap="square" lIns="0" tIns="0" rIns="0" bIns="0" rtlCol="0"/>
            <a:lstStyle/>
            <a:p>
              <a:endParaRPr sz="2379"/>
            </a:p>
          </p:txBody>
        </p:sp>
      </p:grpSp>
      <p:sp>
        <p:nvSpPr>
          <p:cNvPr id="19" name="object 19"/>
          <p:cNvSpPr txBox="1"/>
          <p:nvPr/>
        </p:nvSpPr>
        <p:spPr>
          <a:xfrm>
            <a:off x="9066513" y="4505128"/>
            <a:ext cx="856201" cy="423011"/>
          </a:xfrm>
          <a:prstGeom prst="rect">
            <a:avLst/>
          </a:prstGeom>
        </p:spPr>
        <p:txBody>
          <a:bodyPr vert="horz" wrap="square" lIns="0" tIns="15949" rIns="0" bIns="0" rtlCol="0">
            <a:spAutoFit/>
          </a:bodyPr>
          <a:lstStyle/>
          <a:p>
            <a:pPr marL="16788">
              <a:spcBef>
                <a:spcPts val="126"/>
              </a:spcBef>
            </a:pPr>
            <a:r>
              <a:rPr sz="1322" spc="-13" dirty="0">
                <a:solidFill>
                  <a:srgbClr val="FFFFFF"/>
                </a:solidFill>
                <a:latin typeface="Gill Sans MT"/>
                <a:cs typeface="Gill Sans MT"/>
              </a:rPr>
              <a:t>Distribution</a:t>
            </a:r>
            <a:endParaRPr sz="1322">
              <a:latin typeface="Gill Sans MT"/>
              <a:cs typeface="Gill Sans MT"/>
            </a:endParaRPr>
          </a:p>
          <a:p>
            <a:pPr marL="16788"/>
            <a:r>
              <a:rPr sz="1322" spc="-13" dirty="0">
                <a:solidFill>
                  <a:srgbClr val="FFFFFF"/>
                </a:solidFill>
                <a:latin typeface="Gill Sans MT"/>
                <a:cs typeface="Gill Sans MT"/>
              </a:rPr>
              <a:t>Utility</a:t>
            </a:r>
            <a:endParaRPr sz="1322">
              <a:latin typeface="Gill Sans MT"/>
              <a:cs typeface="Gill Sans MT"/>
            </a:endParaRPr>
          </a:p>
        </p:txBody>
      </p:sp>
      <p:grpSp>
        <p:nvGrpSpPr>
          <p:cNvPr id="20" name="object 20"/>
          <p:cNvGrpSpPr/>
          <p:nvPr/>
        </p:nvGrpSpPr>
        <p:grpSpPr>
          <a:xfrm>
            <a:off x="3920241" y="6065929"/>
            <a:ext cx="3522175" cy="459998"/>
            <a:chOff x="2926079" y="4588763"/>
            <a:chExt cx="2664460" cy="347980"/>
          </a:xfrm>
        </p:grpSpPr>
        <p:pic>
          <p:nvPicPr>
            <p:cNvPr id="21" name="object 21"/>
            <p:cNvPicPr/>
            <p:nvPr/>
          </p:nvPicPr>
          <p:blipFill>
            <a:blip r:embed="rId10" cstate="print"/>
            <a:stretch>
              <a:fillRect/>
            </a:stretch>
          </p:blipFill>
          <p:spPr>
            <a:xfrm>
              <a:off x="2926079" y="4599431"/>
              <a:ext cx="2663951" cy="286537"/>
            </a:xfrm>
            <a:prstGeom prst="rect">
              <a:avLst/>
            </a:prstGeom>
          </p:spPr>
        </p:pic>
        <p:pic>
          <p:nvPicPr>
            <p:cNvPr id="22" name="object 22"/>
            <p:cNvPicPr/>
            <p:nvPr/>
          </p:nvPicPr>
          <p:blipFill>
            <a:blip r:embed="rId11" cstate="print"/>
            <a:stretch>
              <a:fillRect/>
            </a:stretch>
          </p:blipFill>
          <p:spPr>
            <a:xfrm>
              <a:off x="3537203" y="4588763"/>
              <a:ext cx="1440179" cy="347535"/>
            </a:xfrm>
            <a:prstGeom prst="rect">
              <a:avLst/>
            </a:prstGeom>
          </p:spPr>
        </p:pic>
        <p:sp>
          <p:nvSpPr>
            <p:cNvPr id="23" name="object 23"/>
            <p:cNvSpPr/>
            <p:nvPr/>
          </p:nvSpPr>
          <p:spPr>
            <a:xfrm>
              <a:off x="2973323" y="4623815"/>
              <a:ext cx="2574290" cy="196850"/>
            </a:xfrm>
            <a:custGeom>
              <a:avLst/>
              <a:gdLst/>
              <a:ahLst/>
              <a:cxnLst/>
              <a:rect l="l" t="t" r="r" b="b"/>
              <a:pathLst>
                <a:path w="2574290" h="196850">
                  <a:moveTo>
                    <a:pt x="2574036" y="0"/>
                  </a:moveTo>
                  <a:lnTo>
                    <a:pt x="0" y="0"/>
                  </a:lnTo>
                  <a:lnTo>
                    <a:pt x="0" y="196595"/>
                  </a:lnTo>
                  <a:lnTo>
                    <a:pt x="2574036" y="196595"/>
                  </a:lnTo>
                  <a:lnTo>
                    <a:pt x="2574036" y="0"/>
                  </a:lnTo>
                  <a:close/>
                </a:path>
              </a:pathLst>
            </a:custGeom>
            <a:solidFill>
              <a:srgbClr val="000000"/>
            </a:solidFill>
          </p:spPr>
          <p:txBody>
            <a:bodyPr wrap="square" lIns="0" tIns="0" rIns="0" bIns="0" rtlCol="0"/>
            <a:lstStyle/>
            <a:p>
              <a:endParaRPr sz="2379"/>
            </a:p>
          </p:txBody>
        </p:sp>
        <p:sp>
          <p:nvSpPr>
            <p:cNvPr id="24" name="object 24"/>
            <p:cNvSpPr/>
            <p:nvPr/>
          </p:nvSpPr>
          <p:spPr>
            <a:xfrm>
              <a:off x="2973323" y="4623815"/>
              <a:ext cx="2574290" cy="196850"/>
            </a:xfrm>
            <a:custGeom>
              <a:avLst/>
              <a:gdLst/>
              <a:ahLst/>
              <a:cxnLst/>
              <a:rect l="l" t="t" r="r" b="b"/>
              <a:pathLst>
                <a:path w="2574290" h="196850">
                  <a:moveTo>
                    <a:pt x="0" y="196595"/>
                  </a:moveTo>
                  <a:lnTo>
                    <a:pt x="2574036" y="196595"/>
                  </a:lnTo>
                  <a:lnTo>
                    <a:pt x="2574036" y="0"/>
                  </a:lnTo>
                  <a:lnTo>
                    <a:pt x="0" y="0"/>
                  </a:lnTo>
                  <a:lnTo>
                    <a:pt x="0" y="196595"/>
                  </a:lnTo>
                  <a:close/>
                </a:path>
              </a:pathLst>
            </a:custGeom>
            <a:ln w="9524">
              <a:solidFill>
                <a:srgbClr val="002C6C"/>
              </a:solidFill>
            </a:ln>
          </p:spPr>
          <p:txBody>
            <a:bodyPr wrap="square" lIns="0" tIns="0" rIns="0" bIns="0" rtlCol="0"/>
            <a:lstStyle/>
            <a:p>
              <a:endParaRPr sz="2379"/>
            </a:p>
          </p:txBody>
        </p:sp>
      </p:grpSp>
      <p:sp>
        <p:nvSpPr>
          <p:cNvPr id="25" name="object 25"/>
          <p:cNvSpPr txBox="1"/>
          <p:nvPr/>
        </p:nvSpPr>
        <p:spPr>
          <a:xfrm>
            <a:off x="4868778" y="6121265"/>
            <a:ext cx="1628460" cy="219558"/>
          </a:xfrm>
          <a:prstGeom prst="rect">
            <a:avLst/>
          </a:prstGeom>
        </p:spPr>
        <p:txBody>
          <a:bodyPr vert="horz" wrap="square" lIns="0" tIns="15949" rIns="0" bIns="0" rtlCol="0">
            <a:spAutoFit/>
          </a:bodyPr>
          <a:lstStyle/>
          <a:p>
            <a:pPr marL="16788">
              <a:spcBef>
                <a:spcPts val="126"/>
              </a:spcBef>
            </a:pPr>
            <a:r>
              <a:rPr sz="1322" b="1" dirty="0">
                <a:solidFill>
                  <a:srgbClr val="FFFFFF"/>
                </a:solidFill>
                <a:latin typeface="Gill Sans MT"/>
                <a:cs typeface="Gill Sans MT"/>
              </a:rPr>
              <a:t>Transmission</a:t>
            </a:r>
            <a:r>
              <a:rPr sz="1322" b="1" spc="-53" dirty="0">
                <a:solidFill>
                  <a:srgbClr val="FFFFFF"/>
                </a:solidFill>
                <a:latin typeface="Gill Sans MT"/>
                <a:cs typeface="Gill Sans MT"/>
              </a:rPr>
              <a:t> </a:t>
            </a:r>
            <a:r>
              <a:rPr sz="1322" b="1" spc="-13" dirty="0">
                <a:solidFill>
                  <a:srgbClr val="FFFFFF"/>
                </a:solidFill>
                <a:latin typeface="Gill Sans MT"/>
                <a:cs typeface="Gill Sans MT"/>
              </a:rPr>
              <a:t>Utility</a:t>
            </a:r>
            <a:endParaRPr sz="1322">
              <a:latin typeface="Gill Sans MT"/>
              <a:cs typeface="Gill Sans MT"/>
            </a:endParaRPr>
          </a:p>
        </p:txBody>
      </p:sp>
      <p:grpSp>
        <p:nvGrpSpPr>
          <p:cNvPr id="26" name="object 26"/>
          <p:cNvGrpSpPr/>
          <p:nvPr/>
        </p:nvGrpSpPr>
        <p:grpSpPr>
          <a:xfrm>
            <a:off x="1651814" y="4057400"/>
            <a:ext cx="7506866" cy="2115319"/>
            <a:chOff x="1210055" y="3069348"/>
            <a:chExt cx="5678805" cy="1600200"/>
          </a:xfrm>
        </p:grpSpPr>
        <p:pic>
          <p:nvPicPr>
            <p:cNvPr id="27" name="object 27"/>
            <p:cNvPicPr/>
            <p:nvPr/>
          </p:nvPicPr>
          <p:blipFill>
            <a:blip r:embed="rId12" cstate="print"/>
            <a:stretch>
              <a:fillRect/>
            </a:stretch>
          </p:blipFill>
          <p:spPr>
            <a:xfrm>
              <a:off x="5920740" y="3259861"/>
              <a:ext cx="967727" cy="629386"/>
            </a:xfrm>
            <a:prstGeom prst="rect">
              <a:avLst/>
            </a:prstGeom>
          </p:spPr>
        </p:pic>
        <p:pic>
          <p:nvPicPr>
            <p:cNvPr id="28" name="object 28"/>
            <p:cNvPicPr/>
            <p:nvPr/>
          </p:nvPicPr>
          <p:blipFill>
            <a:blip r:embed="rId13" cstate="print"/>
            <a:stretch>
              <a:fillRect/>
            </a:stretch>
          </p:blipFill>
          <p:spPr>
            <a:xfrm>
              <a:off x="5940552" y="3317747"/>
              <a:ext cx="856488" cy="518159"/>
            </a:xfrm>
            <a:prstGeom prst="rect">
              <a:avLst/>
            </a:prstGeom>
          </p:spPr>
        </p:pic>
        <p:sp>
          <p:nvSpPr>
            <p:cNvPr id="29" name="object 29"/>
            <p:cNvSpPr/>
            <p:nvPr/>
          </p:nvSpPr>
          <p:spPr>
            <a:xfrm>
              <a:off x="5940552" y="3317747"/>
              <a:ext cx="856615" cy="518159"/>
            </a:xfrm>
            <a:custGeom>
              <a:avLst/>
              <a:gdLst/>
              <a:ahLst/>
              <a:cxnLst/>
              <a:rect l="l" t="t" r="r" b="b"/>
              <a:pathLst>
                <a:path w="856615" h="518160">
                  <a:moveTo>
                    <a:pt x="0" y="86360"/>
                  </a:moveTo>
                  <a:lnTo>
                    <a:pt x="6778" y="52720"/>
                  </a:lnTo>
                  <a:lnTo>
                    <a:pt x="25273" y="25273"/>
                  </a:lnTo>
                  <a:lnTo>
                    <a:pt x="52720" y="6778"/>
                  </a:lnTo>
                  <a:lnTo>
                    <a:pt x="86360" y="0"/>
                  </a:lnTo>
                  <a:lnTo>
                    <a:pt x="770127" y="0"/>
                  </a:lnTo>
                  <a:lnTo>
                    <a:pt x="803767" y="6778"/>
                  </a:lnTo>
                  <a:lnTo>
                    <a:pt x="831214" y="25273"/>
                  </a:lnTo>
                  <a:lnTo>
                    <a:pt x="849709" y="52720"/>
                  </a:lnTo>
                  <a:lnTo>
                    <a:pt x="856488" y="86360"/>
                  </a:lnTo>
                  <a:lnTo>
                    <a:pt x="856488" y="431800"/>
                  </a:lnTo>
                  <a:lnTo>
                    <a:pt x="849709" y="465439"/>
                  </a:lnTo>
                  <a:lnTo>
                    <a:pt x="831214" y="492887"/>
                  </a:lnTo>
                  <a:lnTo>
                    <a:pt x="803767" y="511381"/>
                  </a:lnTo>
                  <a:lnTo>
                    <a:pt x="770127" y="518159"/>
                  </a:lnTo>
                  <a:lnTo>
                    <a:pt x="86360" y="518159"/>
                  </a:lnTo>
                  <a:lnTo>
                    <a:pt x="52720" y="511381"/>
                  </a:lnTo>
                  <a:lnTo>
                    <a:pt x="25273" y="492887"/>
                  </a:lnTo>
                  <a:lnTo>
                    <a:pt x="6778" y="465439"/>
                  </a:lnTo>
                  <a:lnTo>
                    <a:pt x="0" y="431800"/>
                  </a:lnTo>
                  <a:lnTo>
                    <a:pt x="0" y="86360"/>
                  </a:lnTo>
                  <a:close/>
                </a:path>
              </a:pathLst>
            </a:custGeom>
            <a:ln w="9525">
              <a:solidFill>
                <a:srgbClr val="002C6C"/>
              </a:solidFill>
            </a:ln>
          </p:spPr>
          <p:txBody>
            <a:bodyPr wrap="square" lIns="0" tIns="0" rIns="0" bIns="0" rtlCol="0"/>
            <a:lstStyle/>
            <a:p>
              <a:endParaRPr sz="2379"/>
            </a:p>
          </p:txBody>
        </p:sp>
        <p:pic>
          <p:nvPicPr>
            <p:cNvPr id="30" name="object 30"/>
            <p:cNvPicPr/>
            <p:nvPr/>
          </p:nvPicPr>
          <p:blipFill>
            <a:blip r:embed="rId14" cstate="print"/>
            <a:stretch>
              <a:fillRect/>
            </a:stretch>
          </p:blipFill>
          <p:spPr>
            <a:xfrm>
              <a:off x="5861303" y="3997451"/>
              <a:ext cx="1010411" cy="665962"/>
            </a:xfrm>
            <a:prstGeom prst="rect">
              <a:avLst/>
            </a:prstGeom>
          </p:spPr>
        </p:pic>
        <p:pic>
          <p:nvPicPr>
            <p:cNvPr id="31" name="object 31"/>
            <p:cNvPicPr/>
            <p:nvPr/>
          </p:nvPicPr>
          <p:blipFill>
            <a:blip r:embed="rId15" cstate="print"/>
            <a:stretch>
              <a:fillRect/>
            </a:stretch>
          </p:blipFill>
          <p:spPr>
            <a:xfrm>
              <a:off x="5940552" y="4073651"/>
              <a:ext cx="856488" cy="518159"/>
            </a:xfrm>
            <a:prstGeom prst="rect">
              <a:avLst/>
            </a:prstGeom>
          </p:spPr>
        </p:pic>
        <p:sp>
          <p:nvSpPr>
            <p:cNvPr id="32" name="object 32"/>
            <p:cNvSpPr/>
            <p:nvPr/>
          </p:nvSpPr>
          <p:spPr>
            <a:xfrm>
              <a:off x="5940552" y="4073651"/>
              <a:ext cx="856615" cy="518159"/>
            </a:xfrm>
            <a:custGeom>
              <a:avLst/>
              <a:gdLst/>
              <a:ahLst/>
              <a:cxnLst/>
              <a:rect l="l" t="t" r="r" b="b"/>
              <a:pathLst>
                <a:path w="856615" h="518160">
                  <a:moveTo>
                    <a:pt x="0" y="86360"/>
                  </a:moveTo>
                  <a:lnTo>
                    <a:pt x="6778" y="52747"/>
                  </a:lnTo>
                  <a:lnTo>
                    <a:pt x="25273" y="25296"/>
                  </a:lnTo>
                  <a:lnTo>
                    <a:pt x="52720" y="6787"/>
                  </a:lnTo>
                  <a:lnTo>
                    <a:pt x="86360" y="0"/>
                  </a:lnTo>
                  <a:lnTo>
                    <a:pt x="770127" y="0"/>
                  </a:lnTo>
                  <a:lnTo>
                    <a:pt x="803767" y="6787"/>
                  </a:lnTo>
                  <a:lnTo>
                    <a:pt x="831214" y="25296"/>
                  </a:lnTo>
                  <a:lnTo>
                    <a:pt x="849709" y="52747"/>
                  </a:lnTo>
                  <a:lnTo>
                    <a:pt x="856488" y="86360"/>
                  </a:lnTo>
                  <a:lnTo>
                    <a:pt x="856488" y="431800"/>
                  </a:lnTo>
                  <a:lnTo>
                    <a:pt x="849709" y="465412"/>
                  </a:lnTo>
                  <a:lnTo>
                    <a:pt x="831214" y="492863"/>
                  </a:lnTo>
                  <a:lnTo>
                    <a:pt x="803767" y="511372"/>
                  </a:lnTo>
                  <a:lnTo>
                    <a:pt x="770127" y="518160"/>
                  </a:lnTo>
                  <a:lnTo>
                    <a:pt x="86360" y="518160"/>
                  </a:lnTo>
                  <a:lnTo>
                    <a:pt x="52720" y="511372"/>
                  </a:lnTo>
                  <a:lnTo>
                    <a:pt x="25273" y="492863"/>
                  </a:lnTo>
                  <a:lnTo>
                    <a:pt x="6778" y="465412"/>
                  </a:lnTo>
                  <a:lnTo>
                    <a:pt x="0" y="431800"/>
                  </a:lnTo>
                  <a:lnTo>
                    <a:pt x="0" y="86360"/>
                  </a:lnTo>
                  <a:close/>
                </a:path>
              </a:pathLst>
            </a:custGeom>
            <a:ln w="9525">
              <a:solidFill>
                <a:srgbClr val="002C6C"/>
              </a:solidFill>
            </a:ln>
          </p:spPr>
          <p:txBody>
            <a:bodyPr wrap="square" lIns="0" tIns="0" rIns="0" bIns="0" rtlCol="0"/>
            <a:lstStyle/>
            <a:p>
              <a:endParaRPr sz="2379"/>
            </a:p>
          </p:txBody>
        </p:sp>
        <p:sp>
          <p:nvSpPr>
            <p:cNvPr id="33" name="object 33"/>
            <p:cNvSpPr/>
            <p:nvPr/>
          </p:nvSpPr>
          <p:spPr>
            <a:xfrm>
              <a:off x="2506217" y="3597425"/>
              <a:ext cx="3441700" cy="469900"/>
            </a:xfrm>
            <a:custGeom>
              <a:avLst/>
              <a:gdLst/>
              <a:ahLst/>
              <a:cxnLst/>
              <a:rect l="l" t="t" r="r" b="b"/>
              <a:pathLst>
                <a:path w="3441700" h="469900">
                  <a:moveTo>
                    <a:pt x="0" y="469368"/>
                  </a:moveTo>
                  <a:lnTo>
                    <a:pt x="31662" y="446056"/>
                  </a:lnTo>
                  <a:lnTo>
                    <a:pt x="63465" y="422797"/>
                  </a:lnTo>
                  <a:lnTo>
                    <a:pt x="95547" y="399642"/>
                  </a:lnTo>
                  <a:lnTo>
                    <a:pt x="128048" y="376644"/>
                  </a:lnTo>
                  <a:lnTo>
                    <a:pt x="161105" y="353856"/>
                  </a:lnTo>
                  <a:lnTo>
                    <a:pt x="194859" y="331329"/>
                  </a:lnTo>
                  <a:lnTo>
                    <a:pt x="229448" y="309115"/>
                  </a:lnTo>
                  <a:lnTo>
                    <a:pt x="265011" y="287269"/>
                  </a:lnTo>
                  <a:lnTo>
                    <a:pt x="301687" y="265840"/>
                  </a:lnTo>
                  <a:lnTo>
                    <a:pt x="339615" y="244882"/>
                  </a:lnTo>
                  <a:lnTo>
                    <a:pt x="378933" y="224448"/>
                  </a:lnTo>
                  <a:lnTo>
                    <a:pt x="419782" y="204589"/>
                  </a:lnTo>
                  <a:lnTo>
                    <a:pt x="462300" y="185357"/>
                  </a:lnTo>
                  <a:lnTo>
                    <a:pt x="506625" y="166806"/>
                  </a:lnTo>
                  <a:lnTo>
                    <a:pt x="552897" y="148987"/>
                  </a:lnTo>
                  <a:lnTo>
                    <a:pt x="601255" y="131952"/>
                  </a:lnTo>
                  <a:lnTo>
                    <a:pt x="651838" y="115755"/>
                  </a:lnTo>
                  <a:lnTo>
                    <a:pt x="704784" y="100447"/>
                  </a:lnTo>
                  <a:lnTo>
                    <a:pt x="760233" y="86080"/>
                  </a:lnTo>
                  <a:lnTo>
                    <a:pt x="818323" y="72707"/>
                  </a:lnTo>
                  <a:lnTo>
                    <a:pt x="879194" y="60381"/>
                  </a:lnTo>
                  <a:lnTo>
                    <a:pt x="942985" y="49153"/>
                  </a:lnTo>
                  <a:lnTo>
                    <a:pt x="1009834" y="39076"/>
                  </a:lnTo>
                  <a:lnTo>
                    <a:pt x="1079881" y="30202"/>
                  </a:lnTo>
                  <a:lnTo>
                    <a:pt x="1154813" y="22433"/>
                  </a:lnTo>
                  <a:lnTo>
                    <a:pt x="1193537" y="19022"/>
                  </a:lnTo>
                  <a:lnTo>
                    <a:pt x="1233077" y="15917"/>
                  </a:lnTo>
                  <a:lnTo>
                    <a:pt x="1273412" y="13112"/>
                  </a:lnTo>
                  <a:lnTo>
                    <a:pt x="1314524" y="10600"/>
                  </a:lnTo>
                  <a:lnTo>
                    <a:pt x="1356396" y="8373"/>
                  </a:lnTo>
                  <a:lnTo>
                    <a:pt x="1399008" y="6425"/>
                  </a:lnTo>
                  <a:lnTo>
                    <a:pt x="1442342" y="4748"/>
                  </a:lnTo>
                  <a:lnTo>
                    <a:pt x="1486379" y="3335"/>
                  </a:lnTo>
                  <a:lnTo>
                    <a:pt x="1531102" y="2181"/>
                  </a:lnTo>
                  <a:lnTo>
                    <a:pt x="1576491" y="1277"/>
                  </a:lnTo>
                  <a:lnTo>
                    <a:pt x="1622527" y="617"/>
                  </a:lnTo>
                  <a:lnTo>
                    <a:pt x="1669194" y="193"/>
                  </a:lnTo>
                  <a:lnTo>
                    <a:pt x="1716471" y="0"/>
                  </a:lnTo>
                  <a:lnTo>
                    <a:pt x="1764340" y="29"/>
                  </a:lnTo>
                  <a:lnTo>
                    <a:pt x="1812784" y="273"/>
                  </a:lnTo>
                  <a:lnTo>
                    <a:pt x="1861783" y="727"/>
                  </a:lnTo>
                  <a:lnTo>
                    <a:pt x="1911319" y="1382"/>
                  </a:lnTo>
                  <a:lnTo>
                    <a:pt x="1961373" y="2233"/>
                  </a:lnTo>
                  <a:lnTo>
                    <a:pt x="2011927" y="3271"/>
                  </a:lnTo>
                  <a:lnTo>
                    <a:pt x="2062963" y="4490"/>
                  </a:lnTo>
                  <a:lnTo>
                    <a:pt x="2114461" y="5884"/>
                  </a:lnTo>
                  <a:lnTo>
                    <a:pt x="2166404" y="7444"/>
                  </a:lnTo>
                  <a:lnTo>
                    <a:pt x="2218773" y="9164"/>
                  </a:lnTo>
                  <a:lnTo>
                    <a:pt x="2271549" y="11037"/>
                  </a:lnTo>
                  <a:lnTo>
                    <a:pt x="2324714" y="13057"/>
                  </a:lnTo>
                  <a:lnTo>
                    <a:pt x="2378250" y="15215"/>
                  </a:lnTo>
                  <a:lnTo>
                    <a:pt x="2432137" y="17506"/>
                  </a:lnTo>
                  <a:lnTo>
                    <a:pt x="2486358" y="19921"/>
                  </a:lnTo>
                  <a:lnTo>
                    <a:pt x="2540894" y="22455"/>
                  </a:lnTo>
                  <a:lnTo>
                    <a:pt x="2595726" y="25100"/>
                  </a:lnTo>
                  <a:lnTo>
                    <a:pt x="2650836" y="27850"/>
                  </a:lnTo>
                  <a:lnTo>
                    <a:pt x="2706205" y="30696"/>
                  </a:lnTo>
                  <a:lnTo>
                    <a:pt x="2761815" y="33633"/>
                  </a:lnTo>
                  <a:lnTo>
                    <a:pt x="2817648" y="36654"/>
                  </a:lnTo>
                  <a:lnTo>
                    <a:pt x="2873684" y="39750"/>
                  </a:lnTo>
                  <a:lnTo>
                    <a:pt x="2929906" y="42916"/>
                  </a:lnTo>
                  <a:lnTo>
                    <a:pt x="2986295" y="46145"/>
                  </a:lnTo>
                  <a:lnTo>
                    <a:pt x="3042832" y="49428"/>
                  </a:lnTo>
                  <a:lnTo>
                    <a:pt x="3099499" y="52761"/>
                  </a:lnTo>
                  <a:lnTo>
                    <a:pt x="3156277" y="56134"/>
                  </a:lnTo>
                  <a:lnTo>
                    <a:pt x="3213148" y="59543"/>
                  </a:lnTo>
                  <a:lnTo>
                    <a:pt x="3270094" y="62979"/>
                  </a:lnTo>
                  <a:lnTo>
                    <a:pt x="3327095" y="66435"/>
                  </a:lnTo>
                  <a:lnTo>
                    <a:pt x="3384134" y="69905"/>
                  </a:lnTo>
                  <a:lnTo>
                    <a:pt x="3441192" y="73382"/>
                  </a:lnTo>
                </a:path>
              </a:pathLst>
            </a:custGeom>
            <a:ln w="38100">
              <a:solidFill>
                <a:srgbClr val="002E6C"/>
              </a:solidFill>
            </a:ln>
          </p:spPr>
          <p:txBody>
            <a:bodyPr wrap="square" lIns="0" tIns="0" rIns="0" bIns="0" rtlCol="0"/>
            <a:lstStyle/>
            <a:p>
              <a:endParaRPr sz="2379"/>
            </a:p>
          </p:txBody>
        </p:sp>
        <p:sp>
          <p:nvSpPr>
            <p:cNvPr id="34" name="object 34"/>
            <p:cNvSpPr/>
            <p:nvPr/>
          </p:nvSpPr>
          <p:spPr>
            <a:xfrm>
              <a:off x="2489708" y="3181398"/>
              <a:ext cx="3463925" cy="346075"/>
            </a:xfrm>
            <a:custGeom>
              <a:avLst/>
              <a:gdLst/>
              <a:ahLst/>
              <a:cxnLst/>
              <a:rect l="l" t="t" r="r" b="b"/>
              <a:pathLst>
                <a:path w="3463925" h="346075">
                  <a:moveTo>
                    <a:pt x="0" y="297131"/>
                  </a:moveTo>
                  <a:lnTo>
                    <a:pt x="34406" y="278076"/>
                  </a:lnTo>
                  <a:lnTo>
                    <a:pt x="68942" y="259090"/>
                  </a:lnTo>
                  <a:lnTo>
                    <a:pt x="103740" y="240242"/>
                  </a:lnTo>
                  <a:lnTo>
                    <a:pt x="138930" y="221602"/>
                  </a:lnTo>
                  <a:lnTo>
                    <a:pt x="174645" y="203241"/>
                  </a:lnTo>
                  <a:lnTo>
                    <a:pt x="211014" y="185228"/>
                  </a:lnTo>
                  <a:lnTo>
                    <a:pt x="248170" y="167633"/>
                  </a:lnTo>
                  <a:lnTo>
                    <a:pt x="286243" y="150526"/>
                  </a:lnTo>
                  <a:lnTo>
                    <a:pt x="325366" y="133977"/>
                  </a:lnTo>
                  <a:lnTo>
                    <a:pt x="365669" y="118055"/>
                  </a:lnTo>
                  <a:lnTo>
                    <a:pt x="407284" y="102831"/>
                  </a:lnTo>
                  <a:lnTo>
                    <a:pt x="450342" y="88375"/>
                  </a:lnTo>
                  <a:lnTo>
                    <a:pt x="494973" y="74756"/>
                  </a:lnTo>
                  <a:lnTo>
                    <a:pt x="541311" y="62044"/>
                  </a:lnTo>
                  <a:lnTo>
                    <a:pt x="589485" y="50309"/>
                  </a:lnTo>
                  <a:lnTo>
                    <a:pt x="639628" y="39622"/>
                  </a:lnTo>
                  <a:lnTo>
                    <a:pt x="691870" y="30052"/>
                  </a:lnTo>
                  <a:lnTo>
                    <a:pt x="746343" y="21668"/>
                  </a:lnTo>
                  <a:lnTo>
                    <a:pt x="803178" y="14541"/>
                  </a:lnTo>
                  <a:lnTo>
                    <a:pt x="862506" y="8741"/>
                  </a:lnTo>
                  <a:lnTo>
                    <a:pt x="924459" y="4337"/>
                  </a:lnTo>
                  <a:lnTo>
                    <a:pt x="989168" y="1400"/>
                  </a:lnTo>
                  <a:lnTo>
                    <a:pt x="1056764" y="0"/>
                  </a:lnTo>
                  <a:lnTo>
                    <a:pt x="1127379" y="205"/>
                  </a:lnTo>
                  <a:lnTo>
                    <a:pt x="1202700" y="2103"/>
                  </a:lnTo>
                  <a:lnTo>
                    <a:pt x="1241549" y="3683"/>
                  </a:lnTo>
                  <a:lnTo>
                    <a:pt x="1281167" y="5672"/>
                  </a:lnTo>
                  <a:lnTo>
                    <a:pt x="1321535" y="8060"/>
                  </a:lnTo>
                  <a:lnTo>
                    <a:pt x="1362637" y="10838"/>
                  </a:lnTo>
                  <a:lnTo>
                    <a:pt x="1404455" y="13997"/>
                  </a:lnTo>
                  <a:lnTo>
                    <a:pt x="1446972" y="17527"/>
                  </a:lnTo>
                  <a:lnTo>
                    <a:pt x="1490171" y="21420"/>
                  </a:lnTo>
                  <a:lnTo>
                    <a:pt x="1534033" y="25665"/>
                  </a:lnTo>
                  <a:lnTo>
                    <a:pt x="1578541" y="30254"/>
                  </a:lnTo>
                  <a:lnTo>
                    <a:pt x="1623678" y="35177"/>
                  </a:lnTo>
                  <a:lnTo>
                    <a:pt x="1669427" y="40425"/>
                  </a:lnTo>
                  <a:lnTo>
                    <a:pt x="1715769" y="45989"/>
                  </a:lnTo>
                  <a:lnTo>
                    <a:pt x="1762688" y="51860"/>
                  </a:lnTo>
                  <a:lnTo>
                    <a:pt x="1810166" y="58027"/>
                  </a:lnTo>
                  <a:lnTo>
                    <a:pt x="1858185" y="64483"/>
                  </a:lnTo>
                  <a:lnTo>
                    <a:pt x="1906729" y="71217"/>
                  </a:lnTo>
                  <a:lnTo>
                    <a:pt x="1955779" y="78221"/>
                  </a:lnTo>
                  <a:lnTo>
                    <a:pt x="2005318" y="85485"/>
                  </a:lnTo>
                  <a:lnTo>
                    <a:pt x="2055329" y="92999"/>
                  </a:lnTo>
                  <a:lnTo>
                    <a:pt x="2105793" y="100755"/>
                  </a:lnTo>
                  <a:lnTo>
                    <a:pt x="2156695" y="108744"/>
                  </a:lnTo>
                  <a:lnTo>
                    <a:pt x="2208016" y="116955"/>
                  </a:lnTo>
                  <a:lnTo>
                    <a:pt x="2259738" y="125380"/>
                  </a:lnTo>
                  <a:lnTo>
                    <a:pt x="2311845" y="134010"/>
                  </a:lnTo>
                  <a:lnTo>
                    <a:pt x="2364319" y="142835"/>
                  </a:lnTo>
                  <a:lnTo>
                    <a:pt x="2417142" y="151845"/>
                  </a:lnTo>
                  <a:lnTo>
                    <a:pt x="2470297" y="161032"/>
                  </a:lnTo>
                  <a:lnTo>
                    <a:pt x="2523766" y="170387"/>
                  </a:lnTo>
                  <a:lnTo>
                    <a:pt x="2577532" y="179899"/>
                  </a:lnTo>
                  <a:lnTo>
                    <a:pt x="2631578" y="189561"/>
                  </a:lnTo>
                  <a:lnTo>
                    <a:pt x="2685886" y="199362"/>
                  </a:lnTo>
                  <a:lnTo>
                    <a:pt x="2740438" y="209293"/>
                  </a:lnTo>
                  <a:lnTo>
                    <a:pt x="2795218" y="219345"/>
                  </a:lnTo>
                  <a:lnTo>
                    <a:pt x="2850207" y="229508"/>
                  </a:lnTo>
                  <a:lnTo>
                    <a:pt x="2905388" y="239774"/>
                  </a:lnTo>
                  <a:lnTo>
                    <a:pt x="2960744" y="250134"/>
                  </a:lnTo>
                  <a:lnTo>
                    <a:pt x="3016257" y="260577"/>
                  </a:lnTo>
                  <a:lnTo>
                    <a:pt x="3071909" y="271094"/>
                  </a:lnTo>
                  <a:lnTo>
                    <a:pt x="3127684" y="281677"/>
                  </a:lnTo>
                  <a:lnTo>
                    <a:pt x="3183564" y="292316"/>
                  </a:lnTo>
                  <a:lnTo>
                    <a:pt x="3239532" y="303002"/>
                  </a:lnTo>
                  <a:lnTo>
                    <a:pt x="3295569" y="313725"/>
                  </a:lnTo>
                  <a:lnTo>
                    <a:pt x="3351658" y="324476"/>
                  </a:lnTo>
                  <a:lnTo>
                    <a:pt x="3407783" y="335246"/>
                  </a:lnTo>
                  <a:lnTo>
                    <a:pt x="3463925" y="346026"/>
                  </a:lnTo>
                </a:path>
              </a:pathLst>
            </a:custGeom>
            <a:ln w="38100">
              <a:solidFill>
                <a:srgbClr val="002E6C"/>
              </a:solidFill>
            </a:ln>
          </p:spPr>
          <p:txBody>
            <a:bodyPr wrap="square" lIns="0" tIns="0" rIns="0" bIns="0" rtlCol="0"/>
            <a:lstStyle/>
            <a:p>
              <a:endParaRPr sz="2379"/>
            </a:p>
          </p:txBody>
        </p:sp>
        <p:pic>
          <p:nvPicPr>
            <p:cNvPr id="35" name="object 35"/>
            <p:cNvPicPr/>
            <p:nvPr/>
          </p:nvPicPr>
          <p:blipFill>
            <a:blip r:embed="rId16" cstate="print"/>
            <a:stretch>
              <a:fillRect/>
            </a:stretch>
          </p:blipFill>
          <p:spPr>
            <a:xfrm>
              <a:off x="2926079" y="3069348"/>
              <a:ext cx="2679192" cy="1600200"/>
            </a:xfrm>
            <a:prstGeom prst="rect">
              <a:avLst/>
            </a:prstGeom>
          </p:spPr>
        </p:pic>
        <p:pic>
          <p:nvPicPr>
            <p:cNvPr id="36" name="object 36"/>
            <p:cNvPicPr/>
            <p:nvPr/>
          </p:nvPicPr>
          <p:blipFill>
            <a:blip r:embed="rId17" cstate="print"/>
            <a:stretch>
              <a:fillRect/>
            </a:stretch>
          </p:blipFill>
          <p:spPr>
            <a:xfrm>
              <a:off x="2987801" y="3111245"/>
              <a:ext cx="2560320" cy="1481327"/>
            </a:xfrm>
            <a:prstGeom prst="rect">
              <a:avLst/>
            </a:prstGeom>
          </p:spPr>
        </p:pic>
        <p:sp>
          <p:nvSpPr>
            <p:cNvPr id="37" name="object 37"/>
            <p:cNvSpPr/>
            <p:nvPr/>
          </p:nvSpPr>
          <p:spPr>
            <a:xfrm>
              <a:off x="2987801" y="3111245"/>
              <a:ext cx="2560320" cy="1481455"/>
            </a:xfrm>
            <a:custGeom>
              <a:avLst/>
              <a:gdLst/>
              <a:ahLst/>
              <a:cxnLst/>
              <a:rect l="l" t="t" r="r" b="b"/>
              <a:pathLst>
                <a:path w="2560320" h="1481454">
                  <a:moveTo>
                    <a:pt x="0" y="1481327"/>
                  </a:moveTo>
                  <a:lnTo>
                    <a:pt x="2560320" y="1481327"/>
                  </a:lnTo>
                  <a:lnTo>
                    <a:pt x="2560320" y="0"/>
                  </a:lnTo>
                  <a:lnTo>
                    <a:pt x="0" y="0"/>
                  </a:lnTo>
                  <a:lnTo>
                    <a:pt x="0" y="1481327"/>
                  </a:lnTo>
                  <a:close/>
                </a:path>
              </a:pathLst>
            </a:custGeom>
            <a:ln w="38100">
              <a:solidFill>
                <a:srgbClr val="FFFFFF"/>
              </a:solidFill>
            </a:ln>
          </p:spPr>
          <p:txBody>
            <a:bodyPr wrap="square" lIns="0" tIns="0" rIns="0" bIns="0" rtlCol="0"/>
            <a:lstStyle/>
            <a:p>
              <a:endParaRPr sz="2379"/>
            </a:p>
          </p:txBody>
        </p:sp>
        <p:pic>
          <p:nvPicPr>
            <p:cNvPr id="38" name="object 38"/>
            <p:cNvPicPr/>
            <p:nvPr/>
          </p:nvPicPr>
          <p:blipFill>
            <a:blip r:embed="rId18" cstate="print"/>
            <a:stretch>
              <a:fillRect/>
            </a:stretch>
          </p:blipFill>
          <p:spPr>
            <a:xfrm>
              <a:off x="1210055" y="3080016"/>
              <a:ext cx="1336547" cy="627875"/>
            </a:xfrm>
            <a:prstGeom prst="rect">
              <a:avLst/>
            </a:prstGeom>
          </p:spPr>
        </p:pic>
        <p:pic>
          <p:nvPicPr>
            <p:cNvPr id="39" name="object 39"/>
            <p:cNvPicPr/>
            <p:nvPr/>
          </p:nvPicPr>
          <p:blipFill>
            <a:blip r:embed="rId19" cstate="print"/>
            <a:stretch>
              <a:fillRect/>
            </a:stretch>
          </p:blipFill>
          <p:spPr>
            <a:xfrm>
              <a:off x="1229867" y="3075444"/>
              <a:ext cx="1299971" cy="673595"/>
            </a:xfrm>
            <a:prstGeom prst="rect">
              <a:avLst/>
            </a:prstGeom>
          </p:spPr>
        </p:pic>
        <p:sp>
          <p:nvSpPr>
            <p:cNvPr id="40" name="object 40"/>
            <p:cNvSpPr/>
            <p:nvPr/>
          </p:nvSpPr>
          <p:spPr>
            <a:xfrm>
              <a:off x="1295399" y="3110483"/>
              <a:ext cx="1225550" cy="516890"/>
            </a:xfrm>
            <a:custGeom>
              <a:avLst/>
              <a:gdLst/>
              <a:ahLst/>
              <a:cxnLst/>
              <a:rect l="l" t="t" r="r" b="b"/>
              <a:pathLst>
                <a:path w="1225550" h="516889">
                  <a:moveTo>
                    <a:pt x="1225296" y="0"/>
                  </a:moveTo>
                  <a:lnTo>
                    <a:pt x="0" y="0"/>
                  </a:lnTo>
                  <a:lnTo>
                    <a:pt x="0" y="516635"/>
                  </a:lnTo>
                  <a:lnTo>
                    <a:pt x="1225296" y="516635"/>
                  </a:lnTo>
                  <a:lnTo>
                    <a:pt x="1225296" y="0"/>
                  </a:lnTo>
                  <a:close/>
                </a:path>
              </a:pathLst>
            </a:custGeom>
            <a:solidFill>
              <a:srgbClr val="000000"/>
            </a:solidFill>
          </p:spPr>
          <p:txBody>
            <a:bodyPr wrap="square" lIns="0" tIns="0" rIns="0" bIns="0" rtlCol="0"/>
            <a:lstStyle/>
            <a:p>
              <a:endParaRPr sz="2379"/>
            </a:p>
          </p:txBody>
        </p:sp>
        <p:sp>
          <p:nvSpPr>
            <p:cNvPr id="41" name="object 41"/>
            <p:cNvSpPr/>
            <p:nvPr/>
          </p:nvSpPr>
          <p:spPr>
            <a:xfrm>
              <a:off x="1295399" y="3110483"/>
              <a:ext cx="1225550" cy="516890"/>
            </a:xfrm>
            <a:custGeom>
              <a:avLst/>
              <a:gdLst/>
              <a:ahLst/>
              <a:cxnLst/>
              <a:rect l="l" t="t" r="r" b="b"/>
              <a:pathLst>
                <a:path w="1225550" h="516889">
                  <a:moveTo>
                    <a:pt x="0" y="516635"/>
                  </a:moveTo>
                  <a:lnTo>
                    <a:pt x="1225296" y="516635"/>
                  </a:lnTo>
                  <a:lnTo>
                    <a:pt x="1225296" y="0"/>
                  </a:lnTo>
                  <a:lnTo>
                    <a:pt x="0" y="0"/>
                  </a:lnTo>
                  <a:lnTo>
                    <a:pt x="0" y="516635"/>
                  </a:lnTo>
                  <a:close/>
                </a:path>
              </a:pathLst>
            </a:custGeom>
            <a:ln w="9524">
              <a:solidFill>
                <a:srgbClr val="002C6C"/>
              </a:solidFill>
            </a:ln>
          </p:spPr>
          <p:txBody>
            <a:bodyPr wrap="square" lIns="0" tIns="0" rIns="0" bIns="0" rtlCol="0"/>
            <a:lstStyle/>
            <a:p>
              <a:endParaRPr sz="2379"/>
            </a:p>
          </p:txBody>
        </p:sp>
      </p:grpSp>
      <p:sp>
        <p:nvSpPr>
          <p:cNvPr id="42" name="object 42"/>
          <p:cNvSpPr txBox="1"/>
          <p:nvPr/>
        </p:nvSpPr>
        <p:spPr>
          <a:xfrm>
            <a:off x="1867879" y="4129237"/>
            <a:ext cx="1368242" cy="626465"/>
          </a:xfrm>
          <a:prstGeom prst="rect">
            <a:avLst/>
          </a:prstGeom>
        </p:spPr>
        <p:txBody>
          <a:bodyPr vert="horz" wrap="square" lIns="0" tIns="15949" rIns="0" bIns="0" rtlCol="0">
            <a:spAutoFit/>
          </a:bodyPr>
          <a:lstStyle/>
          <a:p>
            <a:pPr marL="16788" marR="6715">
              <a:spcBef>
                <a:spcPts val="126"/>
              </a:spcBef>
            </a:pPr>
            <a:r>
              <a:rPr sz="1322" dirty="0">
                <a:solidFill>
                  <a:srgbClr val="FFFFFF"/>
                </a:solidFill>
                <a:latin typeface="Gill Sans MT"/>
                <a:cs typeface="Gill Sans MT"/>
              </a:rPr>
              <a:t>Power</a:t>
            </a:r>
            <a:r>
              <a:rPr sz="1322" spc="-33" dirty="0">
                <a:solidFill>
                  <a:srgbClr val="FFFFFF"/>
                </a:solidFill>
                <a:latin typeface="Gill Sans MT"/>
                <a:cs typeface="Gill Sans MT"/>
              </a:rPr>
              <a:t> </a:t>
            </a:r>
            <a:r>
              <a:rPr sz="1322" dirty="0">
                <a:solidFill>
                  <a:srgbClr val="FFFFFF"/>
                </a:solidFill>
                <a:latin typeface="Gill Sans MT"/>
                <a:cs typeface="Gill Sans MT"/>
              </a:rPr>
              <a:t>plant</a:t>
            </a:r>
            <a:r>
              <a:rPr sz="1322" spc="-46" dirty="0">
                <a:solidFill>
                  <a:srgbClr val="FFFFFF"/>
                </a:solidFill>
                <a:latin typeface="Gill Sans MT"/>
                <a:cs typeface="Gill Sans MT"/>
              </a:rPr>
              <a:t> </a:t>
            </a:r>
            <a:r>
              <a:rPr sz="1322" spc="-13" dirty="0">
                <a:solidFill>
                  <a:srgbClr val="FFFFFF"/>
                </a:solidFill>
                <a:latin typeface="Gill Sans MT"/>
                <a:cs typeface="Gill Sans MT"/>
              </a:rPr>
              <a:t>owned </a:t>
            </a:r>
            <a:r>
              <a:rPr sz="1322" dirty="0">
                <a:solidFill>
                  <a:srgbClr val="FFFFFF"/>
                </a:solidFill>
                <a:latin typeface="Gill Sans MT"/>
                <a:cs typeface="Gill Sans MT"/>
              </a:rPr>
              <a:t>by</a:t>
            </a:r>
            <a:r>
              <a:rPr sz="1322" spc="-13" dirty="0">
                <a:solidFill>
                  <a:srgbClr val="FFFFFF"/>
                </a:solidFill>
                <a:latin typeface="Gill Sans MT"/>
                <a:cs typeface="Gill Sans MT"/>
              </a:rPr>
              <a:t> distribution utility</a:t>
            </a:r>
            <a:endParaRPr sz="1322">
              <a:latin typeface="Gill Sans MT"/>
              <a:cs typeface="Gill Sans MT"/>
            </a:endParaRPr>
          </a:p>
        </p:txBody>
      </p:sp>
      <p:grpSp>
        <p:nvGrpSpPr>
          <p:cNvPr id="43" name="object 43"/>
          <p:cNvGrpSpPr/>
          <p:nvPr/>
        </p:nvGrpSpPr>
        <p:grpSpPr>
          <a:xfrm>
            <a:off x="680781" y="4035239"/>
            <a:ext cx="2738164" cy="1710723"/>
            <a:chOff x="475487" y="3052584"/>
            <a:chExt cx="2071370" cy="1294130"/>
          </a:xfrm>
        </p:grpSpPr>
        <p:pic>
          <p:nvPicPr>
            <p:cNvPr id="44" name="object 44"/>
            <p:cNvPicPr/>
            <p:nvPr/>
          </p:nvPicPr>
          <p:blipFill>
            <a:blip r:embed="rId20" cstate="print"/>
            <a:stretch>
              <a:fillRect/>
            </a:stretch>
          </p:blipFill>
          <p:spPr>
            <a:xfrm>
              <a:off x="475487" y="3052584"/>
              <a:ext cx="967727" cy="627875"/>
            </a:xfrm>
            <a:prstGeom prst="rect">
              <a:avLst/>
            </a:prstGeom>
          </p:spPr>
        </p:pic>
        <p:pic>
          <p:nvPicPr>
            <p:cNvPr id="45" name="object 45"/>
            <p:cNvPicPr/>
            <p:nvPr/>
          </p:nvPicPr>
          <p:blipFill>
            <a:blip r:embed="rId21" cstate="print"/>
            <a:stretch>
              <a:fillRect/>
            </a:stretch>
          </p:blipFill>
          <p:spPr>
            <a:xfrm>
              <a:off x="495299" y="3110483"/>
              <a:ext cx="856488" cy="516635"/>
            </a:xfrm>
            <a:prstGeom prst="rect">
              <a:avLst/>
            </a:prstGeom>
          </p:spPr>
        </p:pic>
        <p:sp>
          <p:nvSpPr>
            <p:cNvPr id="46" name="object 46"/>
            <p:cNvSpPr/>
            <p:nvPr/>
          </p:nvSpPr>
          <p:spPr>
            <a:xfrm>
              <a:off x="495299" y="3110483"/>
              <a:ext cx="856615" cy="516890"/>
            </a:xfrm>
            <a:custGeom>
              <a:avLst/>
              <a:gdLst/>
              <a:ahLst/>
              <a:cxnLst/>
              <a:rect l="l" t="t" r="r" b="b"/>
              <a:pathLst>
                <a:path w="856615" h="516889">
                  <a:moveTo>
                    <a:pt x="0" y="86106"/>
                  </a:moveTo>
                  <a:lnTo>
                    <a:pt x="6767" y="52613"/>
                  </a:lnTo>
                  <a:lnTo>
                    <a:pt x="25222" y="25241"/>
                  </a:lnTo>
                  <a:lnTo>
                    <a:pt x="52592" y="6774"/>
                  </a:lnTo>
                  <a:lnTo>
                    <a:pt x="86106" y="0"/>
                  </a:lnTo>
                  <a:lnTo>
                    <a:pt x="770382" y="0"/>
                  </a:lnTo>
                  <a:lnTo>
                    <a:pt x="803874" y="6774"/>
                  </a:lnTo>
                  <a:lnTo>
                    <a:pt x="831246" y="25241"/>
                  </a:lnTo>
                  <a:lnTo>
                    <a:pt x="849713" y="52613"/>
                  </a:lnTo>
                  <a:lnTo>
                    <a:pt x="856488" y="86106"/>
                  </a:lnTo>
                  <a:lnTo>
                    <a:pt x="856488" y="430530"/>
                  </a:lnTo>
                  <a:lnTo>
                    <a:pt x="849713" y="464022"/>
                  </a:lnTo>
                  <a:lnTo>
                    <a:pt x="831246" y="491394"/>
                  </a:lnTo>
                  <a:lnTo>
                    <a:pt x="803874" y="509861"/>
                  </a:lnTo>
                  <a:lnTo>
                    <a:pt x="770382" y="516635"/>
                  </a:lnTo>
                  <a:lnTo>
                    <a:pt x="86106" y="516635"/>
                  </a:lnTo>
                  <a:lnTo>
                    <a:pt x="52592" y="509861"/>
                  </a:lnTo>
                  <a:lnTo>
                    <a:pt x="25222" y="491394"/>
                  </a:lnTo>
                  <a:lnTo>
                    <a:pt x="6767" y="464022"/>
                  </a:lnTo>
                  <a:lnTo>
                    <a:pt x="0" y="430530"/>
                  </a:lnTo>
                  <a:lnTo>
                    <a:pt x="0" y="86106"/>
                  </a:lnTo>
                  <a:close/>
                </a:path>
              </a:pathLst>
            </a:custGeom>
            <a:ln w="9525">
              <a:solidFill>
                <a:srgbClr val="002C6C"/>
              </a:solidFill>
            </a:ln>
          </p:spPr>
          <p:txBody>
            <a:bodyPr wrap="square" lIns="0" tIns="0" rIns="0" bIns="0" rtlCol="0"/>
            <a:lstStyle/>
            <a:p>
              <a:endParaRPr sz="2379"/>
            </a:p>
          </p:txBody>
        </p:sp>
        <p:pic>
          <p:nvPicPr>
            <p:cNvPr id="47" name="object 47"/>
            <p:cNvPicPr/>
            <p:nvPr/>
          </p:nvPicPr>
          <p:blipFill>
            <a:blip r:embed="rId22" cstate="print"/>
            <a:stretch>
              <a:fillRect/>
            </a:stretch>
          </p:blipFill>
          <p:spPr>
            <a:xfrm>
              <a:off x="1210055" y="3675887"/>
              <a:ext cx="1336547" cy="629386"/>
            </a:xfrm>
            <a:prstGeom prst="rect">
              <a:avLst/>
            </a:prstGeom>
          </p:spPr>
        </p:pic>
        <p:pic>
          <p:nvPicPr>
            <p:cNvPr id="48" name="object 48"/>
            <p:cNvPicPr/>
            <p:nvPr/>
          </p:nvPicPr>
          <p:blipFill>
            <a:blip r:embed="rId23" cstate="print"/>
            <a:stretch>
              <a:fillRect/>
            </a:stretch>
          </p:blipFill>
          <p:spPr>
            <a:xfrm>
              <a:off x="1229868" y="3672839"/>
              <a:ext cx="1269479" cy="673595"/>
            </a:xfrm>
            <a:prstGeom prst="rect">
              <a:avLst/>
            </a:prstGeom>
          </p:spPr>
        </p:pic>
        <p:sp>
          <p:nvSpPr>
            <p:cNvPr id="49" name="object 49"/>
            <p:cNvSpPr/>
            <p:nvPr/>
          </p:nvSpPr>
          <p:spPr>
            <a:xfrm>
              <a:off x="1295399" y="3706367"/>
              <a:ext cx="1225550" cy="518159"/>
            </a:xfrm>
            <a:custGeom>
              <a:avLst/>
              <a:gdLst/>
              <a:ahLst/>
              <a:cxnLst/>
              <a:rect l="l" t="t" r="r" b="b"/>
              <a:pathLst>
                <a:path w="1225550" h="518160">
                  <a:moveTo>
                    <a:pt x="1225296" y="0"/>
                  </a:moveTo>
                  <a:lnTo>
                    <a:pt x="0" y="0"/>
                  </a:lnTo>
                  <a:lnTo>
                    <a:pt x="0" y="518159"/>
                  </a:lnTo>
                  <a:lnTo>
                    <a:pt x="1225296" y="518159"/>
                  </a:lnTo>
                  <a:lnTo>
                    <a:pt x="1225296" y="0"/>
                  </a:lnTo>
                  <a:close/>
                </a:path>
              </a:pathLst>
            </a:custGeom>
            <a:solidFill>
              <a:srgbClr val="000000"/>
            </a:solidFill>
          </p:spPr>
          <p:txBody>
            <a:bodyPr wrap="square" lIns="0" tIns="0" rIns="0" bIns="0" rtlCol="0"/>
            <a:lstStyle/>
            <a:p>
              <a:endParaRPr sz="2379"/>
            </a:p>
          </p:txBody>
        </p:sp>
        <p:sp>
          <p:nvSpPr>
            <p:cNvPr id="50" name="object 50"/>
            <p:cNvSpPr/>
            <p:nvPr/>
          </p:nvSpPr>
          <p:spPr>
            <a:xfrm>
              <a:off x="1295399" y="3706367"/>
              <a:ext cx="1225550" cy="518159"/>
            </a:xfrm>
            <a:custGeom>
              <a:avLst/>
              <a:gdLst/>
              <a:ahLst/>
              <a:cxnLst/>
              <a:rect l="l" t="t" r="r" b="b"/>
              <a:pathLst>
                <a:path w="1225550" h="518160">
                  <a:moveTo>
                    <a:pt x="0" y="518159"/>
                  </a:moveTo>
                  <a:lnTo>
                    <a:pt x="1225296" y="518159"/>
                  </a:lnTo>
                  <a:lnTo>
                    <a:pt x="1225296" y="0"/>
                  </a:lnTo>
                  <a:lnTo>
                    <a:pt x="0" y="0"/>
                  </a:lnTo>
                  <a:lnTo>
                    <a:pt x="0" y="518159"/>
                  </a:lnTo>
                  <a:close/>
                </a:path>
              </a:pathLst>
            </a:custGeom>
            <a:ln w="9525">
              <a:solidFill>
                <a:srgbClr val="002C6C"/>
              </a:solidFill>
            </a:ln>
          </p:spPr>
          <p:txBody>
            <a:bodyPr wrap="square" lIns="0" tIns="0" rIns="0" bIns="0" rtlCol="0"/>
            <a:lstStyle/>
            <a:p>
              <a:endParaRPr sz="2379"/>
            </a:p>
          </p:txBody>
        </p:sp>
      </p:grpSp>
      <p:sp>
        <p:nvSpPr>
          <p:cNvPr id="51" name="object 51"/>
          <p:cNvSpPr txBox="1"/>
          <p:nvPr/>
        </p:nvSpPr>
        <p:spPr>
          <a:xfrm>
            <a:off x="1867880" y="4918621"/>
            <a:ext cx="1325432" cy="626465"/>
          </a:xfrm>
          <a:prstGeom prst="rect">
            <a:avLst/>
          </a:prstGeom>
        </p:spPr>
        <p:txBody>
          <a:bodyPr vert="horz" wrap="square" lIns="0" tIns="15949" rIns="0" bIns="0" rtlCol="0">
            <a:spAutoFit/>
          </a:bodyPr>
          <a:lstStyle/>
          <a:p>
            <a:pPr marL="16788" marR="6715">
              <a:spcBef>
                <a:spcPts val="126"/>
              </a:spcBef>
            </a:pPr>
            <a:r>
              <a:rPr sz="1322" dirty="0">
                <a:solidFill>
                  <a:srgbClr val="FFFFFF"/>
                </a:solidFill>
                <a:latin typeface="Gill Sans MT"/>
                <a:cs typeface="Gill Sans MT"/>
              </a:rPr>
              <a:t>Power</a:t>
            </a:r>
            <a:r>
              <a:rPr sz="1322" spc="-33" dirty="0">
                <a:solidFill>
                  <a:srgbClr val="FFFFFF"/>
                </a:solidFill>
                <a:latin typeface="Gill Sans MT"/>
                <a:cs typeface="Gill Sans MT"/>
              </a:rPr>
              <a:t> </a:t>
            </a:r>
            <a:r>
              <a:rPr sz="1322" dirty="0">
                <a:solidFill>
                  <a:srgbClr val="FFFFFF"/>
                </a:solidFill>
                <a:latin typeface="Gill Sans MT"/>
                <a:cs typeface="Gill Sans MT"/>
              </a:rPr>
              <a:t>plant</a:t>
            </a:r>
            <a:r>
              <a:rPr sz="1322" spc="-46" dirty="0">
                <a:solidFill>
                  <a:srgbClr val="FFFFFF"/>
                </a:solidFill>
                <a:latin typeface="Gill Sans MT"/>
                <a:cs typeface="Gill Sans MT"/>
              </a:rPr>
              <a:t> </a:t>
            </a:r>
            <a:r>
              <a:rPr sz="1322" spc="-13" dirty="0">
                <a:solidFill>
                  <a:srgbClr val="FFFFFF"/>
                </a:solidFill>
                <a:latin typeface="Gill Sans MT"/>
                <a:cs typeface="Gill Sans MT"/>
              </a:rPr>
              <a:t>having </a:t>
            </a:r>
            <a:r>
              <a:rPr sz="1322" dirty="0">
                <a:solidFill>
                  <a:srgbClr val="FFFFFF"/>
                </a:solidFill>
                <a:latin typeface="Gill Sans MT"/>
                <a:cs typeface="Gill Sans MT"/>
              </a:rPr>
              <a:t>PPA</a:t>
            </a:r>
            <a:r>
              <a:rPr sz="1322" spc="-13" dirty="0">
                <a:solidFill>
                  <a:srgbClr val="FFFFFF"/>
                </a:solidFill>
                <a:latin typeface="Gill Sans MT"/>
                <a:cs typeface="Gill Sans MT"/>
              </a:rPr>
              <a:t> </a:t>
            </a:r>
            <a:r>
              <a:rPr sz="1322" spc="-26" dirty="0">
                <a:solidFill>
                  <a:srgbClr val="FFFFFF"/>
                </a:solidFill>
                <a:latin typeface="Gill Sans MT"/>
                <a:cs typeface="Gill Sans MT"/>
              </a:rPr>
              <a:t>with </a:t>
            </a:r>
            <a:r>
              <a:rPr sz="1322" dirty="0">
                <a:solidFill>
                  <a:srgbClr val="FFFFFF"/>
                </a:solidFill>
                <a:latin typeface="Gill Sans MT"/>
                <a:cs typeface="Gill Sans MT"/>
              </a:rPr>
              <a:t>distribution</a:t>
            </a:r>
            <a:r>
              <a:rPr sz="1322" spc="-40" dirty="0">
                <a:solidFill>
                  <a:srgbClr val="FFFFFF"/>
                </a:solidFill>
                <a:latin typeface="Gill Sans MT"/>
                <a:cs typeface="Gill Sans MT"/>
              </a:rPr>
              <a:t> </a:t>
            </a:r>
            <a:r>
              <a:rPr sz="1322" spc="-13" dirty="0">
                <a:solidFill>
                  <a:srgbClr val="FFFFFF"/>
                </a:solidFill>
                <a:latin typeface="Gill Sans MT"/>
                <a:cs typeface="Gill Sans MT"/>
              </a:rPr>
              <a:t>utility</a:t>
            </a:r>
            <a:endParaRPr sz="1322">
              <a:latin typeface="Gill Sans MT"/>
              <a:cs typeface="Gill Sans MT"/>
            </a:endParaRPr>
          </a:p>
        </p:txBody>
      </p:sp>
      <p:grpSp>
        <p:nvGrpSpPr>
          <p:cNvPr id="52" name="object 52"/>
          <p:cNvGrpSpPr/>
          <p:nvPr/>
        </p:nvGrpSpPr>
        <p:grpSpPr>
          <a:xfrm>
            <a:off x="1651814" y="5648910"/>
            <a:ext cx="1766963" cy="830179"/>
            <a:chOff x="1210055" y="4273295"/>
            <a:chExt cx="1336675" cy="628015"/>
          </a:xfrm>
        </p:grpSpPr>
        <p:pic>
          <p:nvPicPr>
            <p:cNvPr id="53" name="object 53"/>
            <p:cNvPicPr/>
            <p:nvPr/>
          </p:nvPicPr>
          <p:blipFill>
            <a:blip r:embed="rId18" cstate="print"/>
            <a:stretch>
              <a:fillRect/>
            </a:stretch>
          </p:blipFill>
          <p:spPr>
            <a:xfrm>
              <a:off x="1210055" y="4273295"/>
              <a:ext cx="1336547" cy="627875"/>
            </a:xfrm>
            <a:prstGeom prst="rect">
              <a:avLst/>
            </a:prstGeom>
          </p:spPr>
        </p:pic>
        <p:pic>
          <p:nvPicPr>
            <p:cNvPr id="54" name="object 54"/>
            <p:cNvPicPr/>
            <p:nvPr/>
          </p:nvPicPr>
          <p:blipFill>
            <a:blip r:embed="rId24" cstate="print"/>
            <a:stretch>
              <a:fillRect/>
            </a:stretch>
          </p:blipFill>
          <p:spPr>
            <a:xfrm>
              <a:off x="1229867" y="4344923"/>
              <a:ext cx="1278636" cy="521246"/>
            </a:xfrm>
            <a:prstGeom prst="rect">
              <a:avLst/>
            </a:prstGeom>
          </p:spPr>
        </p:pic>
        <p:sp>
          <p:nvSpPr>
            <p:cNvPr id="55" name="object 55"/>
            <p:cNvSpPr/>
            <p:nvPr/>
          </p:nvSpPr>
          <p:spPr>
            <a:xfrm>
              <a:off x="1295399" y="4303775"/>
              <a:ext cx="1225550" cy="516890"/>
            </a:xfrm>
            <a:custGeom>
              <a:avLst/>
              <a:gdLst/>
              <a:ahLst/>
              <a:cxnLst/>
              <a:rect l="l" t="t" r="r" b="b"/>
              <a:pathLst>
                <a:path w="1225550" h="516889">
                  <a:moveTo>
                    <a:pt x="1225296" y="0"/>
                  </a:moveTo>
                  <a:lnTo>
                    <a:pt x="0" y="0"/>
                  </a:lnTo>
                  <a:lnTo>
                    <a:pt x="0" y="516636"/>
                  </a:lnTo>
                  <a:lnTo>
                    <a:pt x="1225296" y="516636"/>
                  </a:lnTo>
                  <a:lnTo>
                    <a:pt x="1225296" y="0"/>
                  </a:lnTo>
                  <a:close/>
                </a:path>
              </a:pathLst>
            </a:custGeom>
            <a:solidFill>
              <a:srgbClr val="000000"/>
            </a:solidFill>
          </p:spPr>
          <p:txBody>
            <a:bodyPr wrap="square" lIns="0" tIns="0" rIns="0" bIns="0" rtlCol="0"/>
            <a:lstStyle/>
            <a:p>
              <a:endParaRPr sz="2379"/>
            </a:p>
          </p:txBody>
        </p:sp>
        <p:sp>
          <p:nvSpPr>
            <p:cNvPr id="56" name="object 56"/>
            <p:cNvSpPr/>
            <p:nvPr/>
          </p:nvSpPr>
          <p:spPr>
            <a:xfrm>
              <a:off x="1295399" y="4303775"/>
              <a:ext cx="1225550" cy="516890"/>
            </a:xfrm>
            <a:custGeom>
              <a:avLst/>
              <a:gdLst/>
              <a:ahLst/>
              <a:cxnLst/>
              <a:rect l="l" t="t" r="r" b="b"/>
              <a:pathLst>
                <a:path w="1225550" h="516889">
                  <a:moveTo>
                    <a:pt x="0" y="516636"/>
                  </a:moveTo>
                  <a:lnTo>
                    <a:pt x="1225296" y="516636"/>
                  </a:lnTo>
                  <a:lnTo>
                    <a:pt x="1225296" y="0"/>
                  </a:lnTo>
                  <a:lnTo>
                    <a:pt x="0" y="0"/>
                  </a:lnTo>
                  <a:lnTo>
                    <a:pt x="0" y="516636"/>
                  </a:lnTo>
                  <a:close/>
                </a:path>
              </a:pathLst>
            </a:custGeom>
            <a:ln w="9525">
              <a:solidFill>
                <a:srgbClr val="002C6C"/>
              </a:solidFill>
            </a:ln>
          </p:spPr>
          <p:txBody>
            <a:bodyPr wrap="square" lIns="0" tIns="0" rIns="0" bIns="0" rtlCol="0"/>
            <a:lstStyle/>
            <a:p>
              <a:endParaRPr sz="2379"/>
            </a:p>
          </p:txBody>
        </p:sp>
      </p:grpSp>
      <p:sp>
        <p:nvSpPr>
          <p:cNvPr id="57" name="object 57"/>
          <p:cNvSpPr txBox="1"/>
          <p:nvPr/>
        </p:nvSpPr>
        <p:spPr>
          <a:xfrm>
            <a:off x="1867879" y="5808600"/>
            <a:ext cx="1338024" cy="423011"/>
          </a:xfrm>
          <a:prstGeom prst="rect">
            <a:avLst/>
          </a:prstGeom>
        </p:spPr>
        <p:txBody>
          <a:bodyPr vert="horz" wrap="square" lIns="0" tIns="15949" rIns="0" bIns="0" rtlCol="0">
            <a:spAutoFit/>
          </a:bodyPr>
          <a:lstStyle/>
          <a:p>
            <a:pPr marL="16788" marR="6715">
              <a:spcBef>
                <a:spcPts val="126"/>
              </a:spcBef>
            </a:pPr>
            <a:r>
              <a:rPr sz="1322" dirty="0">
                <a:solidFill>
                  <a:srgbClr val="FFFFFF"/>
                </a:solidFill>
                <a:latin typeface="Gill Sans MT"/>
                <a:cs typeface="Gill Sans MT"/>
              </a:rPr>
              <a:t>Captive</a:t>
            </a:r>
            <a:r>
              <a:rPr sz="1322" spc="-20" dirty="0">
                <a:solidFill>
                  <a:srgbClr val="FFFFFF"/>
                </a:solidFill>
                <a:latin typeface="Gill Sans MT"/>
                <a:cs typeface="Gill Sans MT"/>
              </a:rPr>
              <a:t> </a:t>
            </a:r>
            <a:r>
              <a:rPr sz="1322" dirty="0">
                <a:solidFill>
                  <a:srgbClr val="FFFFFF"/>
                </a:solidFill>
                <a:latin typeface="Gill Sans MT"/>
                <a:cs typeface="Gill Sans MT"/>
              </a:rPr>
              <a:t>/</a:t>
            </a:r>
            <a:r>
              <a:rPr sz="1322" spc="-33" dirty="0">
                <a:solidFill>
                  <a:srgbClr val="FFFFFF"/>
                </a:solidFill>
                <a:latin typeface="Gill Sans MT"/>
                <a:cs typeface="Gill Sans MT"/>
              </a:rPr>
              <a:t> </a:t>
            </a:r>
            <a:r>
              <a:rPr sz="1322" spc="-13" dirty="0">
                <a:solidFill>
                  <a:srgbClr val="FFFFFF"/>
                </a:solidFill>
                <a:latin typeface="Gill Sans MT"/>
                <a:cs typeface="Gill Sans MT"/>
              </a:rPr>
              <a:t>merchant </a:t>
            </a:r>
            <a:r>
              <a:rPr sz="1322" dirty="0">
                <a:solidFill>
                  <a:srgbClr val="FFFFFF"/>
                </a:solidFill>
                <a:latin typeface="Gill Sans MT"/>
                <a:cs typeface="Gill Sans MT"/>
              </a:rPr>
              <a:t>power</a:t>
            </a:r>
            <a:r>
              <a:rPr sz="1322" spc="-40" dirty="0">
                <a:solidFill>
                  <a:srgbClr val="FFFFFF"/>
                </a:solidFill>
                <a:latin typeface="Gill Sans MT"/>
                <a:cs typeface="Gill Sans MT"/>
              </a:rPr>
              <a:t> </a:t>
            </a:r>
            <a:r>
              <a:rPr sz="1322" spc="-13" dirty="0">
                <a:solidFill>
                  <a:srgbClr val="FFFFFF"/>
                </a:solidFill>
                <a:latin typeface="Gill Sans MT"/>
                <a:cs typeface="Gill Sans MT"/>
              </a:rPr>
              <a:t>plant</a:t>
            </a:r>
            <a:endParaRPr sz="1322">
              <a:latin typeface="Gill Sans MT"/>
              <a:cs typeface="Gill Sans MT"/>
            </a:endParaRPr>
          </a:p>
        </p:txBody>
      </p:sp>
      <p:grpSp>
        <p:nvGrpSpPr>
          <p:cNvPr id="58" name="object 58"/>
          <p:cNvGrpSpPr/>
          <p:nvPr/>
        </p:nvGrpSpPr>
        <p:grpSpPr>
          <a:xfrm>
            <a:off x="3638200" y="4232720"/>
            <a:ext cx="7734347" cy="1712401"/>
            <a:chOff x="2712720" y="3201974"/>
            <a:chExt cx="5850890" cy="1295400"/>
          </a:xfrm>
        </p:grpSpPr>
        <p:pic>
          <p:nvPicPr>
            <p:cNvPr id="59" name="object 59"/>
            <p:cNvPicPr/>
            <p:nvPr/>
          </p:nvPicPr>
          <p:blipFill>
            <a:blip r:embed="rId25" cstate="print"/>
            <a:stretch>
              <a:fillRect/>
            </a:stretch>
          </p:blipFill>
          <p:spPr>
            <a:xfrm>
              <a:off x="7031735" y="3814571"/>
              <a:ext cx="234670" cy="394754"/>
            </a:xfrm>
            <a:prstGeom prst="rect">
              <a:avLst/>
            </a:prstGeom>
          </p:spPr>
        </p:pic>
        <p:pic>
          <p:nvPicPr>
            <p:cNvPr id="60" name="object 60"/>
            <p:cNvPicPr/>
            <p:nvPr/>
          </p:nvPicPr>
          <p:blipFill>
            <a:blip r:embed="rId26" cstate="print"/>
            <a:stretch>
              <a:fillRect/>
            </a:stretch>
          </p:blipFill>
          <p:spPr>
            <a:xfrm>
              <a:off x="7112635" y="3836542"/>
              <a:ext cx="76200" cy="238556"/>
            </a:xfrm>
            <a:prstGeom prst="rect">
              <a:avLst/>
            </a:prstGeom>
          </p:spPr>
        </p:pic>
        <p:pic>
          <p:nvPicPr>
            <p:cNvPr id="61" name="object 61"/>
            <p:cNvPicPr/>
            <p:nvPr/>
          </p:nvPicPr>
          <p:blipFill>
            <a:blip r:embed="rId27" cstate="print"/>
            <a:stretch>
              <a:fillRect/>
            </a:stretch>
          </p:blipFill>
          <p:spPr>
            <a:xfrm>
              <a:off x="5632704" y="3371138"/>
              <a:ext cx="193611" cy="265252"/>
            </a:xfrm>
            <a:prstGeom prst="rect">
              <a:avLst/>
            </a:prstGeom>
          </p:spPr>
        </p:pic>
        <p:sp>
          <p:nvSpPr>
            <p:cNvPr id="62" name="object 62"/>
            <p:cNvSpPr/>
            <p:nvPr/>
          </p:nvSpPr>
          <p:spPr>
            <a:xfrm>
              <a:off x="5676138" y="3390899"/>
              <a:ext cx="112395" cy="184785"/>
            </a:xfrm>
            <a:custGeom>
              <a:avLst/>
              <a:gdLst/>
              <a:ahLst/>
              <a:cxnLst/>
              <a:rect l="l" t="t" r="r" b="b"/>
              <a:pathLst>
                <a:path w="112395" h="184785">
                  <a:moveTo>
                    <a:pt x="68707" y="0"/>
                  </a:moveTo>
                  <a:lnTo>
                    <a:pt x="63626" y="46100"/>
                  </a:lnTo>
                  <a:lnTo>
                    <a:pt x="10033" y="40386"/>
                  </a:lnTo>
                  <a:lnTo>
                    <a:pt x="0" y="132715"/>
                  </a:lnTo>
                  <a:lnTo>
                    <a:pt x="53721" y="138430"/>
                  </a:lnTo>
                  <a:lnTo>
                    <a:pt x="48640" y="184658"/>
                  </a:lnTo>
                  <a:lnTo>
                    <a:pt x="112395" y="98171"/>
                  </a:lnTo>
                  <a:lnTo>
                    <a:pt x="68707" y="0"/>
                  </a:lnTo>
                  <a:close/>
                </a:path>
              </a:pathLst>
            </a:custGeom>
            <a:solidFill>
              <a:srgbClr val="002E6C"/>
            </a:solidFill>
          </p:spPr>
          <p:txBody>
            <a:bodyPr wrap="square" lIns="0" tIns="0" rIns="0" bIns="0" rtlCol="0"/>
            <a:lstStyle/>
            <a:p>
              <a:endParaRPr sz="2379"/>
            </a:p>
          </p:txBody>
        </p:sp>
        <p:pic>
          <p:nvPicPr>
            <p:cNvPr id="63" name="object 63"/>
            <p:cNvPicPr/>
            <p:nvPr/>
          </p:nvPicPr>
          <p:blipFill>
            <a:blip r:embed="rId28" cstate="print"/>
            <a:stretch>
              <a:fillRect/>
            </a:stretch>
          </p:blipFill>
          <p:spPr>
            <a:xfrm>
              <a:off x="5702808" y="3566210"/>
              <a:ext cx="193611" cy="265252"/>
            </a:xfrm>
            <a:prstGeom prst="rect">
              <a:avLst/>
            </a:prstGeom>
          </p:spPr>
        </p:pic>
        <p:sp>
          <p:nvSpPr>
            <p:cNvPr id="64" name="object 64"/>
            <p:cNvSpPr/>
            <p:nvPr/>
          </p:nvSpPr>
          <p:spPr>
            <a:xfrm>
              <a:off x="5745988" y="3586098"/>
              <a:ext cx="112395" cy="184785"/>
            </a:xfrm>
            <a:custGeom>
              <a:avLst/>
              <a:gdLst/>
              <a:ahLst/>
              <a:cxnLst/>
              <a:rect l="l" t="t" r="r" b="b"/>
              <a:pathLst>
                <a:path w="112395" h="184785">
                  <a:moveTo>
                    <a:pt x="68707" y="0"/>
                  </a:moveTo>
                  <a:lnTo>
                    <a:pt x="63626" y="46101"/>
                  </a:lnTo>
                  <a:lnTo>
                    <a:pt x="10033" y="40386"/>
                  </a:lnTo>
                  <a:lnTo>
                    <a:pt x="0" y="132715"/>
                  </a:lnTo>
                  <a:lnTo>
                    <a:pt x="53721" y="138430"/>
                  </a:lnTo>
                  <a:lnTo>
                    <a:pt x="48640" y="184658"/>
                  </a:lnTo>
                  <a:lnTo>
                    <a:pt x="112395" y="98171"/>
                  </a:lnTo>
                  <a:lnTo>
                    <a:pt x="68707" y="0"/>
                  </a:lnTo>
                  <a:close/>
                </a:path>
              </a:pathLst>
            </a:custGeom>
            <a:solidFill>
              <a:srgbClr val="002E6C"/>
            </a:solidFill>
          </p:spPr>
          <p:txBody>
            <a:bodyPr wrap="square" lIns="0" tIns="0" rIns="0" bIns="0" rtlCol="0"/>
            <a:lstStyle/>
            <a:p>
              <a:endParaRPr sz="2379"/>
            </a:p>
          </p:txBody>
        </p:sp>
        <p:pic>
          <p:nvPicPr>
            <p:cNvPr id="65" name="object 65"/>
            <p:cNvPicPr/>
            <p:nvPr/>
          </p:nvPicPr>
          <p:blipFill>
            <a:blip r:embed="rId29" cstate="print"/>
            <a:stretch>
              <a:fillRect/>
            </a:stretch>
          </p:blipFill>
          <p:spPr>
            <a:xfrm>
              <a:off x="5669280" y="4123943"/>
              <a:ext cx="192125" cy="265252"/>
            </a:xfrm>
            <a:prstGeom prst="rect">
              <a:avLst/>
            </a:prstGeom>
          </p:spPr>
        </p:pic>
        <p:pic>
          <p:nvPicPr>
            <p:cNvPr id="66" name="object 66"/>
            <p:cNvPicPr/>
            <p:nvPr/>
          </p:nvPicPr>
          <p:blipFill>
            <a:blip r:embed="rId30" cstate="print"/>
            <a:stretch>
              <a:fillRect/>
            </a:stretch>
          </p:blipFill>
          <p:spPr>
            <a:xfrm>
              <a:off x="5711317" y="4144111"/>
              <a:ext cx="112395" cy="184645"/>
            </a:xfrm>
            <a:prstGeom prst="rect">
              <a:avLst/>
            </a:prstGeom>
          </p:spPr>
        </p:pic>
        <p:pic>
          <p:nvPicPr>
            <p:cNvPr id="67" name="object 67"/>
            <p:cNvPicPr/>
            <p:nvPr/>
          </p:nvPicPr>
          <p:blipFill>
            <a:blip r:embed="rId31" cstate="print"/>
            <a:stretch>
              <a:fillRect/>
            </a:stretch>
          </p:blipFill>
          <p:spPr>
            <a:xfrm>
              <a:off x="2737104" y="4245863"/>
              <a:ext cx="198081" cy="251460"/>
            </a:xfrm>
            <a:prstGeom prst="rect">
              <a:avLst/>
            </a:prstGeom>
          </p:spPr>
        </p:pic>
        <p:pic>
          <p:nvPicPr>
            <p:cNvPr id="68" name="object 68"/>
            <p:cNvPicPr/>
            <p:nvPr/>
          </p:nvPicPr>
          <p:blipFill>
            <a:blip r:embed="rId32" cstate="print"/>
            <a:stretch>
              <a:fillRect/>
            </a:stretch>
          </p:blipFill>
          <p:spPr>
            <a:xfrm>
              <a:off x="2779776" y="4265891"/>
              <a:ext cx="117475" cy="169735"/>
            </a:xfrm>
            <a:prstGeom prst="rect">
              <a:avLst/>
            </a:prstGeom>
          </p:spPr>
        </p:pic>
        <p:pic>
          <p:nvPicPr>
            <p:cNvPr id="69" name="object 69"/>
            <p:cNvPicPr/>
            <p:nvPr/>
          </p:nvPicPr>
          <p:blipFill>
            <a:blip r:embed="rId33" cstate="print"/>
            <a:stretch>
              <a:fillRect/>
            </a:stretch>
          </p:blipFill>
          <p:spPr>
            <a:xfrm>
              <a:off x="2712720" y="3762755"/>
              <a:ext cx="201269" cy="237832"/>
            </a:xfrm>
            <a:prstGeom prst="rect">
              <a:avLst/>
            </a:prstGeom>
          </p:spPr>
        </p:pic>
        <p:pic>
          <p:nvPicPr>
            <p:cNvPr id="70" name="object 70"/>
            <p:cNvPicPr/>
            <p:nvPr/>
          </p:nvPicPr>
          <p:blipFill>
            <a:blip r:embed="rId34" cstate="print"/>
            <a:stretch>
              <a:fillRect/>
            </a:stretch>
          </p:blipFill>
          <p:spPr>
            <a:xfrm>
              <a:off x="2755773" y="3782821"/>
              <a:ext cx="120395" cy="156654"/>
            </a:xfrm>
            <a:prstGeom prst="rect">
              <a:avLst/>
            </a:prstGeom>
          </p:spPr>
        </p:pic>
        <p:pic>
          <p:nvPicPr>
            <p:cNvPr id="71" name="object 71"/>
            <p:cNvPicPr/>
            <p:nvPr/>
          </p:nvPicPr>
          <p:blipFill>
            <a:blip r:embed="rId35" cstate="print"/>
            <a:stretch>
              <a:fillRect/>
            </a:stretch>
          </p:blipFill>
          <p:spPr>
            <a:xfrm>
              <a:off x="2734056" y="3201974"/>
              <a:ext cx="198081" cy="256108"/>
            </a:xfrm>
            <a:prstGeom prst="rect">
              <a:avLst/>
            </a:prstGeom>
          </p:spPr>
        </p:pic>
        <p:pic>
          <p:nvPicPr>
            <p:cNvPr id="72" name="object 72"/>
            <p:cNvPicPr/>
            <p:nvPr/>
          </p:nvPicPr>
          <p:blipFill>
            <a:blip r:embed="rId36" cstate="print"/>
            <a:stretch>
              <a:fillRect/>
            </a:stretch>
          </p:blipFill>
          <p:spPr>
            <a:xfrm>
              <a:off x="2776093" y="3222116"/>
              <a:ext cx="117348" cy="174117"/>
            </a:xfrm>
            <a:prstGeom prst="rect">
              <a:avLst/>
            </a:prstGeom>
          </p:spPr>
        </p:pic>
        <p:pic>
          <p:nvPicPr>
            <p:cNvPr id="73" name="object 73"/>
            <p:cNvPicPr/>
            <p:nvPr/>
          </p:nvPicPr>
          <p:blipFill>
            <a:blip r:embed="rId37" cstate="print"/>
            <a:stretch>
              <a:fillRect/>
            </a:stretch>
          </p:blipFill>
          <p:spPr>
            <a:xfrm>
              <a:off x="7956804" y="3541725"/>
              <a:ext cx="606564" cy="266750"/>
            </a:xfrm>
            <a:prstGeom prst="rect">
              <a:avLst/>
            </a:prstGeom>
          </p:spPr>
        </p:pic>
        <p:sp>
          <p:nvSpPr>
            <p:cNvPr id="74" name="object 74"/>
            <p:cNvSpPr/>
            <p:nvPr/>
          </p:nvSpPr>
          <p:spPr>
            <a:xfrm>
              <a:off x="7999476" y="3561587"/>
              <a:ext cx="525780" cy="186055"/>
            </a:xfrm>
            <a:custGeom>
              <a:avLst/>
              <a:gdLst/>
              <a:ahLst/>
              <a:cxnLst/>
              <a:rect l="l" t="t" r="r" b="b"/>
              <a:pathLst>
                <a:path w="525779" h="186054">
                  <a:moveTo>
                    <a:pt x="432816" y="0"/>
                  </a:moveTo>
                  <a:lnTo>
                    <a:pt x="432816" y="46482"/>
                  </a:lnTo>
                  <a:lnTo>
                    <a:pt x="0" y="46482"/>
                  </a:lnTo>
                  <a:lnTo>
                    <a:pt x="0" y="139446"/>
                  </a:lnTo>
                  <a:lnTo>
                    <a:pt x="432816" y="139446"/>
                  </a:lnTo>
                  <a:lnTo>
                    <a:pt x="432816" y="185928"/>
                  </a:lnTo>
                  <a:lnTo>
                    <a:pt x="525779" y="92964"/>
                  </a:lnTo>
                  <a:lnTo>
                    <a:pt x="432816" y="0"/>
                  </a:lnTo>
                  <a:close/>
                </a:path>
              </a:pathLst>
            </a:custGeom>
            <a:solidFill>
              <a:srgbClr val="B90C2E"/>
            </a:solidFill>
          </p:spPr>
          <p:txBody>
            <a:bodyPr wrap="square" lIns="0" tIns="0" rIns="0" bIns="0" rtlCol="0"/>
            <a:lstStyle/>
            <a:p>
              <a:endParaRPr sz="2379"/>
            </a:p>
          </p:txBody>
        </p:sp>
      </p:grpSp>
      <p:sp>
        <p:nvSpPr>
          <p:cNvPr id="75" name="object 75"/>
          <p:cNvSpPr txBox="1"/>
          <p:nvPr/>
        </p:nvSpPr>
        <p:spPr>
          <a:xfrm>
            <a:off x="10575777" y="4978219"/>
            <a:ext cx="1003098" cy="626465"/>
          </a:xfrm>
          <a:prstGeom prst="rect">
            <a:avLst/>
          </a:prstGeom>
        </p:spPr>
        <p:txBody>
          <a:bodyPr vert="horz" wrap="square" lIns="0" tIns="15949" rIns="0" bIns="0" rtlCol="0">
            <a:spAutoFit/>
          </a:bodyPr>
          <a:lstStyle/>
          <a:p>
            <a:pPr marL="16788" marR="6715" algn="just">
              <a:spcBef>
                <a:spcPts val="126"/>
              </a:spcBef>
            </a:pPr>
            <a:r>
              <a:rPr sz="1322" b="1" i="1" spc="-13" dirty="0">
                <a:latin typeface="Gill Sans MT"/>
                <a:cs typeface="Gill Sans MT"/>
              </a:rPr>
              <a:t>Transactions </a:t>
            </a:r>
            <a:r>
              <a:rPr sz="1322" b="1" i="1" dirty="0">
                <a:latin typeface="Gill Sans MT"/>
                <a:cs typeface="Gill Sans MT"/>
              </a:rPr>
              <a:t>facilitated</a:t>
            </a:r>
            <a:r>
              <a:rPr sz="1322" b="1" i="1" spc="-79" dirty="0">
                <a:latin typeface="Gill Sans MT"/>
                <a:cs typeface="Gill Sans MT"/>
              </a:rPr>
              <a:t> </a:t>
            </a:r>
            <a:r>
              <a:rPr sz="1322" b="1" i="1" spc="-33" dirty="0">
                <a:latin typeface="Gill Sans MT"/>
                <a:cs typeface="Gill Sans MT"/>
              </a:rPr>
              <a:t>by </a:t>
            </a:r>
            <a:r>
              <a:rPr sz="1322" b="1" i="1" dirty="0">
                <a:latin typeface="Gill Sans MT"/>
                <a:cs typeface="Gill Sans MT"/>
              </a:rPr>
              <a:t>open</a:t>
            </a:r>
            <a:r>
              <a:rPr sz="1322" b="1" i="1" spc="-33" dirty="0">
                <a:latin typeface="Gill Sans MT"/>
                <a:cs typeface="Gill Sans MT"/>
              </a:rPr>
              <a:t> </a:t>
            </a:r>
            <a:r>
              <a:rPr sz="1322" b="1" i="1" spc="-13" dirty="0">
                <a:latin typeface="Gill Sans MT"/>
                <a:cs typeface="Gill Sans MT"/>
              </a:rPr>
              <a:t>access</a:t>
            </a:r>
            <a:endParaRPr sz="1322" dirty="0">
              <a:latin typeface="Gill Sans MT"/>
              <a:cs typeface="Gill Sans MT"/>
            </a:endParaRPr>
          </a:p>
        </p:txBody>
      </p:sp>
      <p:grpSp>
        <p:nvGrpSpPr>
          <p:cNvPr id="76" name="object 76"/>
          <p:cNvGrpSpPr/>
          <p:nvPr/>
        </p:nvGrpSpPr>
        <p:grpSpPr>
          <a:xfrm>
            <a:off x="680781" y="4818898"/>
            <a:ext cx="1283462" cy="1630139"/>
            <a:chOff x="475487" y="3645407"/>
            <a:chExt cx="970915" cy="1233170"/>
          </a:xfrm>
        </p:grpSpPr>
        <p:pic>
          <p:nvPicPr>
            <p:cNvPr id="77" name="object 77"/>
            <p:cNvPicPr/>
            <p:nvPr/>
          </p:nvPicPr>
          <p:blipFill>
            <a:blip r:embed="rId20" cstate="print"/>
            <a:stretch>
              <a:fillRect/>
            </a:stretch>
          </p:blipFill>
          <p:spPr>
            <a:xfrm>
              <a:off x="475487" y="3645407"/>
              <a:ext cx="967727" cy="627875"/>
            </a:xfrm>
            <a:prstGeom prst="rect">
              <a:avLst/>
            </a:prstGeom>
          </p:spPr>
        </p:pic>
        <p:pic>
          <p:nvPicPr>
            <p:cNvPr id="78" name="object 78"/>
            <p:cNvPicPr/>
            <p:nvPr/>
          </p:nvPicPr>
          <p:blipFill>
            <a:blip r:embed="rId38" cstate="print"/>
            <a:stretch>
              <a:fillRect/>
            </a:stretch>
          </p:blipFill>
          <p:spPr>
            <a:xfrm>
              <a:off x="495299" y="3703319"/>
              <a:ext cx="856488" cy="516635"/>
            </a:xfrm>
            <a:prstGeom prst="rect">
              <a:avLst/>
            </a:prstGeom>
          </p:spPr>
        </p:pic>
        <p:sp>
          <p:nvSpPr>
            <p:cNvPr id="79" name="object 79"/>
            <p:cNvSpPr/>
            <p:nvPr/>
          </p:nvSpPr>
          <p:spPr>
            <a:xfrm>
              <a:off x="495299" y="3703319"/>
              <a:ext cx="856615" cy="516890"/>
            </a:xfrm>
            <a:custGeom>
              <a:avLst/>
              <a:gdLst/>
              <a:ahLst/>
              <a:cxnLst/>
              <a:rect l="l" t="t" r="r" b="b"/>
              <a:pathLst>
                <a:path w="856615" h="516889">
                  <a:moveTo>
                    <a:pt x="0" y="86105"/>
                  </a:moveTo>
                  <a:lnTo>
                    <a:pt x="6767" y="52613"/>
                  </a:lnTo>
                  <a:lnTo>
                    <a:pt x="25222" y="25241"/>
                  </a:lnTo>
                  <a:lnTo>
                    <a:pt x="52592" y="6774"/>
                  </a:lnTo>
                  <a:lnTo>
                    <a:pt x="86106" y="0"/>
                  </a:lnTo>
                  <a:lnTo>
                    <a:pt x="770382" y="0"/>
                  </a:lnTo>
                  <a:lnTo>
                    <a:pt x="803874" y="6774"/>
                  </a:lnTo>
                  <a:lnTo>
                    <a:pt x="831246" y="25241"/>
                  </a:lnTo>
                  <a:lnTo>
                    <a:pt x="849713" y="52613"/>
                  </a:lnTo>
                  <a:lnTo>
                    <a:pt x="856488" y="86105"/>
                  </a:lnTo>
                  <a:lnTo>
                    <a:pt x="856488" y="430529"/>
                  </a:lnTo>
                  <a:lnTo>
                    <a:pt x="849713" y="464043"/>
                  </a:lnTo>
                  <a:lnTo>
                    <a:pt x="831246" y="491413"/>
                  </a:lnTo>
                  <a:lnTo>
                    <a:pt x="803874" y="509868"/>
                  </a:lnTo>
                  <a:lnTo>
                    <a:pt x="770382" y="516635"/>
                  </a:lnTo>
                  <a:lnTo>
                    <a:pt x="86106" y="516635"/>
                  </a:lnTo>
                  <a:lnTo>
                    <a:pt x="52592" y="509868"/>
                  </a:lnTo>
                  <a:lnTo>
                    <a:pt x="25222" y="491413"/>
                  </a:lnTo>
                  <a:lnTo>
                    <a:pt x="6767" y="464043"/>
                  </a:lnTo>
                  <a:lnTo>
                    <a:pt x="0" y="430529"/>
                  </a:lnTo>
                  <a:lnTo>
                    <a:pt x="0" y="86105"/>
                  </a:lnTo>
                  <a:close/>
                </a:path>
              </a:pathLst>
            </a:custGeom>
            <a:ln w="9525">
              <a:solidFill>
                <a:srgbClr val="002C6C"/>
              </a:solidFill>
            </a:ln>
          </p:spPr>
          <p:txBody>
            <a:bodyPr wrap="square" lIns="0" tIns="0" rIns="0" bIns="0" rtlCol="0"/>
            <a:lstStyle/>
            <a:p>
              <a:endParaRPr sz="2379"/>
            </a:p>
          </p:txBody>
        </p:sp>
        <p:pic>
          <p:nvPicPr>
            <p:cNvPr id="80" name="object 80"/>
            <p:cNvPicPr/>
            <p:nvPr/>
          </p:nvPicPr>
          <p:blipFill>
            <a:blip r:embed="rId12" cstate="print"/>
            <a:stretch>
              <a:fillRect/>
            </a:stretch>
          </p:blipFill>
          <p:spPr>
            <a:xfrm>
              <a:off x="478535" y="4248911"/>
              <a:ext cx="967727" cy="629386"/>
            </a:xfrm>
            <a:prstGeom prst="rect">
              <a:avLst/>
            </a:prstGeom>
          </p:spPr>
        </p:pic>
        <p:pic>
          <p:nvPicPr>
            <p:cNvPr id="81" name="object 81"/>
            <p:cNvPicPr/>
            <p:nvPr/>
          </p:nvPicPr>
          <p:blipFill>
            <a:blip r:embed="rId39" cstate="print"/>
            <a:stretch>
              <a:fillRect/>
            </a:stretch>
          </p:blipFill>
          <p:spPr>
            <a:xfrm>
              <a:off x="498347" y="4306823"/>
              <a:ext cx="856488" cy="518160"/>
            </a:xfrm>
            <a:prstGeom prst="rect">
              <a:avLst/>
            </a:prstGeom>
          </p:spPr>
        </p:pic>
        <p:sp>
          <p:nvSpPr>
            <p:cNvPr id="82" name="object 82"/>
            <p:cNvSpPr/>
            <p:nvPr/>
          </p:nvSpPr>
          <p:spPr>
            <a:xfrm>
              <a:off x="498347" y="4306823"/>
              <a:ext cx="856615" cy="518159"/>
            </a:xfrm>
            <a:custGeom>
              <a:avLst/>
              <a:gdLst/>
              <a:ahLst/>
              <a:cxnLst/>
              <a:rect l="l" t="t" r="r" b="b"/>
              <a:pathLst>
                <a:path w="856615" h="518160">
                  <a:moveTo>
                    <a:pt x="0" y="86360"/>
                  </a:moveTo>
                  <a:lnTo>
                    <a:pt x="6787" y="52742"/>
                  </a:lnTo>
                  <a:lnTo>
                    <a:pt x="25296" y="25292"/>
                  </a:lnTo>
                  <a:lnTo>
                    <a:pt x="52747" y="6785"/>
                  </a:lnTo>
                  <a:lnTo>
                    <a:pt x="86359" y="0"/>
                  </a:lnTo>
                  <a:lnTo>
                    <a:pt x="770127" y="0"/>
                  </a:lnTo>
                  <a:lnTo>
                    <a:pt x="803767" y="6785"/>
                  </a:lnTo>
                  <a:lnTo>
                    <a:pt x="831215" y="25292"/>
                  </a:lnTo>
                  <a:lnTo>
                    <a:pt x="849709" y="52742"/>
                  </a:lnTo>
                  <a:lnTo>
                    <a:pt x="856488" y="86360"/>
                  </a:lnTo>
                  <a:lnTo>
                    <a:pt x="856488" y="431800"/>
                  </a:lnTo>
                  <a:lnTo>
                    <a:pt x="849709" y="465412"/>
                  </a:lnTo>
                  <a:lnTo>
                    <a:pt x="831215" y="492863"/>
                  </a:lnTo>
                  <a:lnTo>
                    <a:pt x="803767" y="511372"/>
                  </a:lnTo>
                  <a:lnTo>
                    <a:pt x="770127" y="518160"/>
                  </a:lnTo>
                  <a:lnTo>
                    <a:pt x="86359" y="518160"/>
                  </a:lnTo>
                  <a:lnTo>
                    <a:pt x="52747" y="511372"/>
                  </a:lnTo>
                  <a:lnTo>
                    <a:pt x="25296" y="492863"/>
                  </a:lnTo>
                  <a:lnTo>
                    <a:pt x="6787" y="465412"/>
                  </a:lnTo>
                  <a:lnTo>
                    <a:pt x="0" y="431800"/>
                  </a:lnTo>
                  <a:lnTo>
                    <a:pt x="0" y="86360"/>
                  </a:lnTo>
                  <a:close/>
                </a:path>
              </a:pathLst>
            </a:custGeom>
            <a:ln w="9525">
              <a:solidFill>
                <a:srgbClr val="002C6C"/>
              </a:solidFill>
            </a:ln>
          </p:spPr>
          <p:txBody>
            <a:bodyPr wrap="square" lIns="0" tIns="0" rIns="0" bIns="0" rtlCol="0"/>
            <a:lstStyle/>
            <a:p>
              <a:endParaRPr sz="2379"/>
            </a:p>
          </p:txBody>
        </p:sp>
      </p:grpSp>
      <p:sp>
        <p:nvSpPr>
          <p:cNvPr id="83" name="object 83"/>
          <p:cNvSpPr txBox="1"/>
          <p:nvPr/>
        </p:nvSpPr>
        <p:spPr>
          <a:xfrm>
            <a:off x="760694" y="759191"/>
            <a:ext cx="10635356" cy="3246301"/>
          </a:xfrm>
          <a:prstGeom prst="rect">
            <a:avLst/>
          </a:prstGeom>
        </p:spPr>
        <p:txBody>
          <a:bodyPr vert="horz" wrap="square" lIns="0" tIns="185510" rIns="0" bIns="0" rtlCol="0">
            <a:spAutoFit/>
          </a:bodyPr>
          <a:lstStyle/>
          <a:p>
            <a:pPr marL="16788">
              <a:spcBef>
                <a:spcPts val="1461"/>
              </a:spcBef>
            </a:pPr>
            <a:r>
              <a:rPr sz="2000" b="1" i="1" spc="-13" dirty="0">
                <a:solidFill>
                  <a:schemeClr val="accent1"/>
                </a:solidFill>
                <a:latin typeface="Calibri" panose="020F0502020204030204" pitchFamily="34" charset="0"/>
                <a:cs typeface="Calibri" panose="020F0502020204030204" pitchFamily="34" charset="0"/>
              </a:rPr>
              <a:t>Non-</a:t>
            </a:r>
            <a:r>
              <a:rPr sz="2000" b="1" i="1" dirty="0">
                <a:solidFill>
                  <a:schemeClr val="accent1"/>
                </a:solidFill>
                <a:latin typeface="Calibri" panose="020F0502020204030204" pitchFamily="34" charset="0"/>
                <a:cs typeface="Calibri" panose="020F0502020204030204" pitchFamily="34" charset="0"/>
              </a:rPr>
              <a:t>discriminatory</a:t>
            </a:r>
            <a:r>
              <a:rPr sz="2000" b="1" i="1" spc="59" dirty="0">
                <a:solidFill>
                  <a:schemeClr val="accent1"/>
                </a:solidFill>
                <a:latin typeface="Calibri" panose="020F0502020204030204" pitchFamily="34" charset="0"/>
                <a:cs typeface="Calibri" panose="020F0502020204030204" pitchFamily="34" charset="0"/>
              </a:rPr>
              <a:t> </a:t>
            </a:r>
            <a:r>
              <a:rPr sz="2000" b="1" i="1" dirty="0">
                <a:solidFill>
                  <a:schemeClr val="accent1"/>
                </a:solidFill>
                <a:latin typeface="Calibri" panose="020F0502020204030204" pitchFamily="34" charset="0"/>
                <a:cs typeface="Calibri" panose="020F0502020204030204" pitchFamily="34" charset="0"/>
              </a:rPr>
              <a:t>access</a:t>
            </a:r>
            <a:r>
              <a:rPr sz="2000" b="1" i="1" spc="-13" dirty="0">
                <a:solidFill>
                  <a:schemeClr val="accent1"/>
                </a:solidFill>
                <a:latin typeface="Calibri" panose="020F0502020204030204" pitchFamily="34" charset="0"/>
                <a:cs typeface="Calibri" panose="020F0502020204030204" pitchFamily="34" charset="0"/>
              </a:rPr>
              <a:t> </a:t>
            </a:r>
            <a:r>
              <a:rPr sz="2000" b="1" i="1" dirty="0">
                <a:solidFill>
                  <a:schemeClr val="accent1"/>
                </a:solidFill>
                <a:latin typeface="Calibri" panose="020F0502020204030204" pitchFamily="34" charset="0"/>
                <a:cs typeface="Calibri" panose="020F0502020204030204" pitchFamily="34" charset="0"/>
              </a:rPr>
              <a:t>to electricity</a:t>
            </a:r>
            <a:r>
              <a:rPr sz="2000" b="1" i="1" spc="-46" dirty="0">
                <a:solidFill>
                  <a:schemeClr val="accent1"/>
                </a:solidFill>
                <a:latin typeface="Calibri" panose="020F0502020204030204" pitchFamily="34" charset="0"/>
                <a:cs typeface="Calibri" panose="020F0502020204030204" pitchFamily="34" charset="0"/>
              </a:rPr>
              <a:t> </a:t>
            </a:r>
            <a:r>
              <a:rPr sz="2000" b="1" i="1" spc="-13" dirty="0">
                <a:solidFill>
                  <a:schemeClr val="accent1"/>
                </a:solidFill>
                <a:latin typeface="Calibri" panose="020F0502020204030204" pitchFamily="34" charset="0"/>
                <a:cs typeface="Calibri" panose="020F0502020204030204" pitchFamily="34" charset="0"/>
              </a:rPr>
              <a:t>networks</a:t>
            </a:r>
            <a:endParaRPr sz="2000" b="1" dirty="0">
              <a:solidFill>
                <a:schemeClr val="accent1"/>
              </a:solidFill>
              <a:latin typeface="Calibri" panose="020F0502020204030204" pitchFamily="34" charset="0"/>
              <a:cs typeface="Calibri" panose="020F0502020204030204" pitchFamily="34" charset="0"/>
            </a:endParaRPr>
          </a:p>
          <a:p>
            <a:pPr marL="375215" marR="218246" indent="-304703">
              <a:lnSpc>
                <a:spcPct val="80000"/>
              </a:lnSpc>
              <a:spcBef>
                <a:spcPts val="1362"/>
              </a:spcBef>
              <a:buFont typeface="Arial"/>
              <a:buChar char="•"/>
              <a:tabLst>
                <a:tab pos="375215" algn="l"/>
              </a:tabLst>
            </a:pPr>
            <a:r>
              <a:rPr sz="1718" dirty="0">
                <a:latin typeface="Calibri" panose="020F0502020204030204" pitchFamily="34" charset="0"/>
                <a:cs typeface="Calibri" panose="020F0502020204030204" pitchFamily="34" charset="0"/>
              </a:rPr>
              <a:t>Electricity</a:t>
            </a:r>
            <a:r>
              <a:rPr sz="1718" spc="-46"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network</a:t>
            </a:r>
            <a:r>
              <a:rPr sz="1718" spc="-40"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function</a:t>
            </a:r>
            <a:r>
              <a:rPr sz="1718" spc="-33"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is</a:t>
            </a:r>
            <a:r>
              <a:rPr sz="1718" spc="-40"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typically a</a:t>
            </a:r>
            <a:r>
              <a:rPr sz="1718" spc="-46"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monopoly</a:t>
            </a:r>
            <a:r>
              <a:rPr sz="1718" spc="-46" dirty="0">
                <a:latin typeface="Calibri" panose="020F0502020204030204" pitchFamily="34" charset="0"/>
                <a:cs typeface="Calibri" panose="020F0502020204030204" pitchFamily="34" charset="0"/>
              </a:rPr>
              <a:t> </a:t>
            </a:r>
            <a:r>
              <a:rPr sz="1718" spc="-13" dirty="0">
                <a:latin typeface="Calibri" panose="020F0502020204030204" pitchFamily="34" charset="0"/>
                <a:cs typeface="Calibri" panose="020F0502020204030204" pitchFamily="34" charset="0"/>
              </a:rPr>
              <a:t>business.</a:t>
            </a:r>
            <a:r>
              <a:rPr sz="1718" spc="-172"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In</a:t>
            </a:r>
            <a:r>
              <a:rPr sz="1718" spc="-33"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usual</a:t>
            </a:r>
            <a:r>
              <a:rPr sz="1718" spc="-46"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course</a:t>
            </a:r>
            <a:r>
              <a:rPr sz="1718" spc="-46"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of</a:t>
            </a:r>
            <a:r>
              <a:rPr sz="1718" spc="-59" dirty="0">
                <a:latin typeface="Calibri" panose="020F0502020204030204" pitchFamily="34" charset="0"/>
                <a:cs typeface="Calibri" panose="020F0502020204030204" pitchFamily="34" charset="0"/>
              </a:rPr>
              <a:t> </a:t>
            </a:r>
            <a:r>
              <a:rPr sz="1718" spc="-13" dirty="0">
                <a:latin typeface="Calibri" panose="020F0502020204030204" pitchFamily="34" charset="0"/>
                <a:cs typeface="Calibri" panose="020F0502020204030204" pitchFamily="34" charset="0"/>
              </a:rPr>
              <a:t>business,</a:t>
            </a:r>
            <a:r>
              <a:rPr sz="1718" spc="-172"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they</a:t>
            </a:r>
            <a:r>
              <a:rPr sz="1718" spc="-20"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do</a:t>
            </a:r>
            <a:r>
              <a:rPr sz="1718" spc="-46"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not</a:t>
            </a:r>
            <a:r>
              <a:rPr sz="1718" spc="-46"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have</a:t>
            </a:r>
            <a:r>
              <a:rPr sz="1718" spc="-7" dirty="0">
                <a:latin typeface="Calibri" panose="020F0502020204030204" pitchFamily="34" charset="0"/>
                <a:cs typeface="Calibri" panose="020F0502020204030204" pitchFamily="34" charset="0"/>
              </a:rPr>
              <a:t> </a:t>
            </a:r>
            <a:r>
              <a:rPr sz="1718" spc="-33" dirty="0">
                <a:latin typeface="Calibri" panose="020F0502020204030204" pitchFamily="34" charset="0"/>
                <a:cs typeface="Calibri" panose="020F0502020204030204" pitchFamily="34" charset="0"/>
              </a:rPr>
              <a:t>any </a:t>
            </a:r>
            <a:r>
              <a:rPr sz="1718" dirty="0">
                <a:latin typeface="Calibri" panose="020F0502020204030204" pitchFamily="34" charset="0"/>
                <a:cs typeface="Calibri" panose="020F0502020204030204" pitchFamily="34" charset="0"/>
              </a:rPr>
              <a:t>incentive</a:t>
            </a:r>
            <a:r>
              <a:rPr sz="1718" spc="-40"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to</a:t>
            </a:r>
            <a:r>
              <a:rPr sz="1718" spc="-46"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allow</a:t>
            </a:r>
            <a:r>
              <a:rPr sz="1718" spc="-66"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sharing</a:t>
            </a:r>
            <a:r>
              <a:rPr sz="1718" spc="-53"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of</a:t>
            </a:r>
            <a:r>
              <a:rPr sz="1718" spc="-59"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their</a:t>
            </a:r>
            <a:r>
              <a:rPr sz="1718" spc="-40"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network</a:t>
            </a:r>
            <a:r>
              <a:rPr sz="1718" spc="-46"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or</a:t>
            </a:r>
            <a:r>
              <a:rPr sz="1718" spc="-59"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supporting</a:t>
            </a:r>
            <a:r>
              <a:rPr sz="1718" spc="-53" dirty="0">
                <a:latin typeface="Calibri" panose="020F0502020204030204" pitchFamily="34" charset="0"/>
                <a:cs typeface="Calibri" panose="020F0502020204030204" pitchFamily="34" charset="0"/>
              </a:rPr>
              <a:t> </a:t>
            </a:r>
            <a:r>
              <a:rPr sz="1718" spc="-13" dirty="0">
                <a:latin typeface="Calibri" panose="020F0502020204030204" pitchFamily="34" charset="0"/>
                <a:cs typeface="Calibri" panose="020F0502020204030204" pitchFamily="34" charset="0"/>
              </a:rPr>
              <a:t>competition;</a:t>
            </a:r>
            <a:r>
              <a:rPr sz="1718" spc="-145"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especially</a:t>
            </a:r>
            <a:r>
              <a:rPr sz="1718" spc="-26"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when</a:t>
            </a:r>
            <a:r>
              <a:rPr sz="1718" spc="-53"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the</a:t>
            </a:r>
            <a:r>
              <a:rPr sz="1718" spc="-40"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network</a:t>
            </a:r>
            <a:r>
              <a:rPr sz="1718" spc="-46"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owner</a:t>
            </a:r>
            <a:r>
              <a:rPr sz="1718" spc="-46"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is</a:t>
            </a:r>
            <a:r>
              <a:rPr sz="1718" spc="-40" dirty="0">
                <a:latin typeface="Calibri" panose="020F0502020204030204" pitchFamily="34" charset="0"/>
                <a:cs typeface="Calibri" panose="020F0502020204030204" pitchFamily="34" charset="0"/>
              </a:rPr>
              <a:t> </a:t>
            </a:r>
            <a:r>
              <a:rPr sz="1718" spc="-26" dirty="0">
                <a:latin typeface="Calibri" panose="020F0502020204030204" pitchFamily="34" charset="0"/>
                <a:cs typeface="Calibri" panose="020F0502020204030204" pitchFamily="34" charset="0"/>
              </a:rPr>
              <a:t>also </a:t>
            </a:r>
            <a:r>
              <a:rPr sz="1718" dirty="0">
                <a:latin typeface="Calibri" panose="020F0502020204030204" pitchFamily="34" charset="0"/>
                <a:cs typeface="Calibri" panose="020F0502020204030204" pitchFamily="34" charset="0"/>
              </a:rPr>
              <a:t>the</a:t>
            </a:r>
            <a:r>
              <a:rPr sz="1718" spc="-20"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sole</a:t>
            </a:r>
            <a:r>
              <a:rPr sz="1718" spc="-46"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supplier</a:t>
            </a:r>
            <a:r>
              <a:rPr sz="1718" spc="-33"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of</a:t>
            </a:r>
            <a:r>
              <a:rPr sz="1718" spc="-40" dirty="0">
                <a:latin typeface="Calibri" panose="020F0502020204030204" pitchFamily="34" charset="0"/>
                <a:cs typeface="Calibri" panose="020F0502020204030204" pitchFamily="34" charset="0"/>
              </a:rPr>
              <a:t> </a:t>
            </a:r>
            <a:r>
              <a:rPr sz="1718" spc="-13" dirty="0">
                <a:latin typeface="Calibri" panose="020F0502020204030204" pitchFamily="34" charset="0"/>
                <a:cs typeface="Calibri" panose="020F0502020204030204" pitchFamily="34" charset="0"/>
              </a:rPr>
              <a:t>electricity</a:t>
            </a:r>
            <a:endParaRPr sz="1718" dirty="0">
              <a:latin typeface="Calibri" panose="020F0502020204030204" pitchFamily="34" charset="0"/>
              <a:cs typeface="Calibri" panose="020F0502020204030204" pitchFamily="34" charset="0"/>
            </a:endParaRPr>
          </a:p>
          <a:p>
            <a:pPr marL="375215" marR="6715" indent="-304703">
              <a:lnSpc>
                <a:spcPct val="80100"/>
              </a:lnSpc>
              <a:spcBef>
                <a:spcPts val="1058"/>
              </a:spcBef>
              <a:buFont typeface="Arial"/>
              <a:buChar char="•"/>
              <a:tabLst>
                <a:tab pos="375215" algn="l"/>
              </a:tabLst>
            </a:pPr>
            <a:r>
              <a:rPr sz="1718" dirty="0">
                <a:latin typeface="Calibri" panose="020F0502020204030204" pitchFamily="34" charset="0"/>
                <a:cs typeface="Calibri" panose="020F0502020204030204" pitchFamily="34" charset="0"/>
              </a:rPr>
              <a:t>Open</a:t>
            </a:r>
            <a:r>
              <a:rPr sz="1718" spc="-46"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access</a:t>
            </a:r>
            <a:r>
              <a:rPr sz="1718" spc="-33"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in</a:t>
            </a:r>
            <a:r>
              <a:rPr sz="1718" spc="-33"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the</a:t>
            </a:r>
            <a:r>
              <a:rPr sz="1718" spc="-40"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context</a:t>
            </a:r>
            <a:r>
              <a:rPr sz="1718" spc="-20"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of</a:t>
            </a:r>
            <a:r>
              <a:rPr sz="1718" spc="-66"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an</a:t>
            </a:r>
            <a:r>
              <a:rPr sz="1718" spc="-59"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electricity network</a:t>
            </a:r>
            <a:r>
              <a:rPr sz="1718" spc="-53"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refers</a:t>
            </a:r>
            <a:r>
              <a:rPr sz="1718" spc="-66"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to </a:t>
            </a:r>
            <a:r>
              <a:rPr sz="1718" b="1" spc="-26" dirty="0">
                <a:latin typeface="Calibri" panose="020F0502020204030204" pitchFamily="34" charset="0"/>
                <a:cs typeface="Calibri" panose="020F0502020204030204" pitchFamily="34" charset="0"/>
              </a:rPr>
              <a:t>non-</a:t>
            </a:r>
            <a:r>
              <a:rPr sz="1718" b="1" dirty="0">
                <a:latin typeface="Calibri" panose="020F0502020204030204" pitchFamily="34" charset="0"/>
                <a:cs typeface="Calibri" panose="020F0502020204030204" pitchFamily="34" charset="0"/>
              </a:rPr>
              <a:t>discriminatory</a:t>
            </a:r>
            <a:r>
              <a:rPr sz="1718" b="1" spc="26" dirty="0">
                <a:latin typeface="Calibri" panose="020F0502020204030204" pitchFamily="34" charset="0"/>
                <a:cs typeface="Calibri" panose="020F0502020204030204" pitchFamily="34" charset="0"/>
              </a:rPr>
              <a:t> </a:t>
            </a:r>
            <a:r>
              <a:rPr sz="1718" b="1" dirty="0">
                <a:latin typeface="Calibri" panose="020F0502020204030204" pitchFamily="34" charset="0"/>
                <a:cs typeface="Calibri" panose="020F0502020204030204" pitchFamily="34" charset="0"/>
              </a:rPr>
              <a:t>access</a:t>
            </a:r>
            <a:r>
              <a:rPr sz="1718" b="1" spc="-66" dirty="0">
                <a:latin typeface="Calibri" panose="020F0502020204030204" pitchFamily="34" charset="0"/>
                <a:cs typeface="Calibri" panose="020F0502020204030204" pitchFamily="34" charset="0"/>
              </a:rPr>
              <a:t> </a:t>
            </a:r>
            <a:r>
              <a:rPr sz="1718" b="1" spc="-13" dirty="0">
                <a:latin typeface="Calibri" panose="020F0502020204030204" pitchFamily="34" charset="0"/>
                <a:cs typeface="Calibri" panose="020F0502020204030204" pitchFamily="34" charset="0"/>
              </a:rPr>
              <a:t>provided</a:t>
            </a:r>
            <a:r>
              <a:rPr sz="1718" b="1" spc="7" dirty="0">
                <a:latin typeface="Calibri" panose="020F0502020204030204" pitchFamily="34" charset="0"/>
                <a:cs typeface="Calibri" panose="020F0502020204030204" pitchFamily="34" charset="0"/>
              </a:rPr>
              <a:t> </a:t>
            </a:r>
            <a:r>
              <a:rPr sz="1718" b="1" dirty="0">
                <a:latin typeface="Calibri" panose="020F0502020204030204" pitchFamily="34" charset="0"/>
                <a:cs typeface="Calibri" panose="020F0502020204030204" pitchFamily="34" charset="0"/>
              </a:rPr>
              <a:t>to</a:t>
            </a:r>
            <a:r>
              <a:rPr sz="1718" b="1" spc="-53" dirty="0">
                <a:latin typeface="Calibri" panose="020F0502020204030204" pitchFamily="34" charset="0"/>
                <a:cs typeface="Calibri" panose="020F0502020204030204" pitchFamily="34" charset="0"/>
              </a:rPr>
              <a:t> </a:t>
            </a:r>
            <a:r>
              <a:rPr sz="1718" b="1" spc="-13" dirty="0">
                <a:latin typeface="Calibri" panose="020F0502020204030204" pitchFamily="34" charset="0"/>
                <a:cs typeface="Calibri" panose="020F0502020204030204" pitchFamily="34" charset="0"/>
              </a:rPr>
              <a:t>various users,</a:t>
            </a:r>
            <a:r>
              <a:rPr sz="1718" b="1" spc="-172" dirty="0">
                <a:latin typeface="Calibri" panose="020F0502020204030204" pitchFamily="34" charset="0"/>
                <a:cs typeface="Calibri" panose="020F0502020204030204" pitchFamily="34" charset="0"/>
              </a:rPr>
              <a:t> </a:t>
            </a:r>
            <a:r>
              <a:rPr sz="1718" b="1" dirty="0">
                <a:latin typeface="Calibri" panose="020F0502020204030204" pitchFamily="34" charset="0"/>
                <a:cs typeface="Calibri" panose="020F0502020204030204" pitchFamily="34" charset="0"/>
              </a:rPr>
              <a:t>for</a:t>
            </a:r>
            <a:r>
              <a:rPr sz="1718" b="1" spc="-86" dirty="0">
                <a:latin typeface="Calibri" panose="020F0502020204030204" pitchFamily="34" charset="0"/>
                <a:cs typeface="Calibri" panose="020F0502020204030204" pitchFamily="34" charset="0"/>
              </a:rPr>
              <a:t> </a:t>
            </a:r>
            <a:r>
              <a:rPr sz="1718" b="1" dirty="0">
                <a:latin typeface="Calibri" panose="020F0502020204030204" pitchFamily="34" charset="0"/>
                <a:cs typeface="Calibri" panose="020F0502020204030204" pitchFamily="34" charset="0"/>
              </a:rPr>
              <a:t>the</a:t>
            </a:r>
            <a:r>
              <a:rPr sz="1718" b="1" spc="-40" dirty="0">
                <a:latin typeface="Calibri" panose="020F0502020204030204" pitchFamily="34" charset="0"/>
                <a:cs typeface="Calibri" panose="020F0502020204030204" pitchFamily="34" charset="0"/>
              </a:rPr>
              <a:t> </a:t>
            </a:r>
            <a:r>
              <a:rPr sz="1718" b="1" dirty="0">
                <a:latin typeface="Calibri" panose="020F0502020204030204" pitchFamily="34" charset="0"/>
                <a:cs typeface="Calibri" panose="020F0502020204030204" pitchFamily="34" charset="0"/>
              </a:rPr>
              <a:t>use</a:t>
            </a:r>
            <a:r>
              <a:rPr sz="1718" b="1" spc="-40" dirty="0">
                <a:latin typeface="Calibri" panose="020F0502020204030204" pitchFamily="34" charset="0"/>
                <a:cs typeface="Calibri" panose="020F0502020204030204" pitchFamily="34" charset="0"/>
              </a:rPr>
              <a:t> </a:t>
            </a:r>
            <a:r>
              <a:rPr sz="1718" b="1" dirty="0">
                <a:latin typeface="Calibri" panose="020F0502020204030204" pitchFamily="34" charset="0"/>
                <a:cs typeface="Calibri" panose="020F0502020204030204" pitchFamily="34" charset="0"/>
              </a:rPr>
              <a:t>of</a:t>
            </a:r>
            <a:r>
              <a:rPr sz="1718" b="1" spc="-40" dirty="0">
                <a:latin typeface="Calibri" panose="020F0502020204030204" pitchFamily="34" charset="0"/>
                <a:cs typeface="Calibri" panose="020F0502020204030204" pitchFamily="34" charset="0"/>
              </a:rPr>
              <a:t> </a:t>
            </a:r>
            <a:r>
              <a:rPr sz="1718" b="1" dirty="0">
                <a:latin typeface="Calibri" panose="020F0502020204030204" pitchFamily="34" charset="0"/>
                <a:cs typeface="Calibri" panose="020F0502020204030204" pitchFamily="34" charset="0"/>
              </a:rPr>
              <a:t>an</a:t>
            </a:r>
            <a:r>
              <a:rPr sz="1718" b="1" spc="-26" dirty="0">
                <a:latin typeface="Calibri" panose="020F0502020204030204" pitchFamily="34" charset="0"/>
                <a:cs typeface="Calibri" panose="020F0502020204030204" pitchFamily="34" charset="0"/>
              </a:rPr>
              <a:t> </a:t>
            </a:r>
            <a:r>
              <a:rPr sz="1718" b="1" dirty="0">
                <a:latin typeface="Calibri" panose="020F0502020204030204" pitchFamily="34" charset="0"/>
                <a:cs typeface="Calibri" panose="020F0502020204030204" pitchFamily="34" charset="0"/>
              </a:rPr>
              <a:t>electricity</a:t>
            </a:r>
            <a:r>
              <a:rPr sz="1718" b="1" spc="-33" dirty="0">
                <a:latin typeface="Calibri" panose="020F0502020204030204" pitchFamily="34" charset="0"/>
                <a:cs typeface="Calibri" panose="020F0502020204030204" pitchFamily="34" charset="0"/>
              </a:rPr>
              <a:t> </a:t>
            </a:r>
            <a:r>
              <a:rPr sz="1718" b="1" dirty="0">
                <a:latin typeface="Calibri" panose="020F0502020204030204" pitchFamily="34" charset="0"/>
                <a:cs typeface="Calibri" panose="020F0502020204030204" pitchFamily="34" charset="0"/>
              </a:rPr>
              <a:t>network</a:t>
            </a:r>
            <a:r>
              <a:rPr sz="1718" b="1" spc="-20" dirty="0">
                <a:latin typeface="Calibri" panose="020F0502020204030204" pitchFamily="34" charset="0"/>
                <a:cs typeface="Calibri" panose="020F0502020204030204" pitchFamily="34" charset="0"/>
              </a:rPr>
              <a:t> </a:t>
            </a:r>
            <a:r>
              <a:rPr sz="1718" b="1" dirty="0">
                <a:latin typeface="Calibri" panose="020F0502020204030204" pitchFamily="34" charset="0"/>
                <a:cs typeface="Calibri" panose="020F0502020204030204" pitchFamily="34" charset="0"/>
              </a:rPr>
              <a:t>to</a:t>
            </a:r>
            <a:r>
              <a:rPr sz="1718" b="1" spc="-46" dirty="0">
                <a:latin typeface="Calibri" panose="020F0502020204030204" pitchFamily="34" charset="0"/>
                <a:cs typeface="Calibri" panose="020F0502020204030204" pitchFamily="34" charset="0"/>
              </a:rPr>
              <a:t> </a:t>
            </a:r>
            <a:r>
              <a:rPr sz="1718" b="1" dirty="0">
                <a:latin typeface="Calibri" panose="020F0502020204030204" pitchFamily="34" charset="0"/>
                <a:cs typeface="Calibri" panose="020F0502020204030204" pitchFamily="34" charset="0"/>
              </a:rPr>
              <a:t>transmit </a:t>
            </a:r>
            <a:r>
              <a:rPr sz="1718" b="1" spc="-33" dirty="0">
                <a:latin typeface="Calibri" panose="020F0502020204030204" pitchFamily="34" charset="0"/>
                <a:cs typeface="Calibri" panose="020F0502020204030204" pitchFamily="34" charset="0"/>
              </a:rPr>
              <a:t>power</a:t>
            </a:r>
            <a:r>
              <a:rPr sz="1718" spc="-33" dirty="0">
                <a:latin typeface="Calibri" panose="020F0502020204030204" pitchFamily="34" charset="0"/>
                <a:cs typeface="Calibri" panose="020F0502020204030204" pitchFamily="34" charset="0"/>
              </a:rPr>
              <a:t>,</a:t>
            </a:r>
            <a:r>
              <a:rPr sz="1718" spc="-145"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instead</a:t>
            </a:r>
            <a:r>
              <a:rPr sz="1718" spc="-20"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of</a:t>
            </a:r>
            <a:r>
              <a:rPr sz="1718" spc="-59"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restricting</a:t>
            </a:r>
            <a:r>
              <a:rPr sz="1718" spc="-26"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the</a:t>
            </a:r>
            <a:r>
              <a:rPr sz="1718" spc="-26"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access</a:t>
            </a:r>
            <a:r>
              <a:rPr sz="1718" spc="-20"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to</a:t>
            </a:r>
            <a:r>
              <a:rPr sz="1718" spc="-40"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only</a:t>
            </a:r>
            <a:r>
              <a:rPr sz="1718" spc="-26" dirty="0">
                <a:latin typeface="Calibri" panose="020F0502020204030204" pitchFamily="34" charset="0"/>
                <a:cs typeface="Calibri" panose="020F0502020204030204" pitchFamily="34" charset="0"/>
              </a:rPr>
              <a:t> </a:t>
            </a:r>
            <a:r>
              <a:rPr sz="1718" spc="-33" dirty="0">
                <a:latin typeface="Calibri" panose="020F0502020204030204" pitchFamily="34" charset="0"/>
                <a:cs typeface="Calibri" panose="020F0502020204030204" pitchFamily="34" charset="0"/>
              </a:rPr>
              <a:t>the </a:t>
            </a:r>
            <a:r>
              <a:rPr sz="1718" dirty="0">
                <a:latin typeface="Calibri" panose="020F0502020204030204" pitchFamily="34" charset="0"/>
                <a:cs typeface="Calibri" panose="020F0502020204030204" pitchFamily="34" charset="0"/>
              </a:rPr>
              <a:t>network</a:t>
            </a:r>
            <a:r>
              <a:rPr sz="1718" spc="-46"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owners</a:t>
            </a:r>
            <a:r>
              <a:rPr sz="1718" spc="-59"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and/or</a:t>
            </a:r>
            <a:r>
              <a:rPr sz="1718" spc="-53"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their</a:t>
            </a:r>
            <a:r>
              <a:rPr sz="1718" spc="-33" dirty="0">
                <a:latin typeface="Calibri" panose="020F0502020204030204" pitchFamily="34" charset="0"/>
                <a:cs typeface="Calibri" panose="020F0502020204030204" pitchFamily="34" charset="0"/>
              </a:rPr>
              <a:t> </a:t>
            </a:r>
            <a:r>
              <a:rPr sz="1718" spc="-13" dirty="0">
                <a:latin typeface="Calibri" panose="020F0502020204030204" pitchFamily="34" charset="0"/>
                <a:cs typeface="Calibri" panose="020F0502020204030204" pitchFamily="34" charset="0"/>
              </a:rPr>
              <a:t>associates</a:t>
            </a:r>
            <a:endParaRPr sz="1718" dirty="0">
              <a:latin typeface="Calibri" panose="020F0502020204030204" pitchFamily="34" charset="0"/>
              <a:cs typeface="Calibri" panose="020F0502020204030204" pitchFamily="34" charset="0"/>
            </a:endParaRPr>
          </a:p>
          <a:p>
            <a:pPr marL="375215" marR="320653" indent="-304703">
              <a:lnSpc>
                <a:spcPct val="80000"/>
              </a:lnSpc>
              <a:spcBef>
                <a:spcPts val="1064"/>
              </a:spcBef>
              <a:buFont typeface="Arial"/>
              <a:buChar char="•"/>
              <a:tabLst>
                <a:tab pos="375215" algn="l"/>
              </a:tabLst>
            </a:pPr>
            <a:r>
              <a:rPr sz="1718" dirty="0">
                <a:latin typeface="Calibri" panose="020F0502020204030204" pitchFamily="34" charset="0"/>
                <a:cs typeface="Calibri" panose="020F0502020204030204" pitchFamily="34" charset="0"/>
              </a:rPr>
              <a:t>Open</a:t>
            </a:r>
            <a:r>
              <a:rPr sz="1718" spc="-59"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access</a:t>
            </a:r>
            <a:r>
              <a:rPr sz="1718" spc="-26"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is</a:t>
            </a:r>
            <a:r>
              <a:rPr sz="1718" spc="-40"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a</a:t>
            </a:r>
            <a:r>
              <a:rPr sz="1718" spc="-40"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key</a:t>
            </a:r>
            <a:r>
              <a:rPr sz="1718" spc="-20"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enabling</a:t>
            </a:r>
            <a:r>
              <a:rPr sz="1718" spc="-46" dirty="0">
                <a:latin typeface="Calibri" panose="020F0502020204030204" pitchFamily="34" charset="0"/>
                <a:cs typeface="Calibri" panose="020F0502020204030204" pitchFamily="34" charset="0"/>
              </a:rPr>
              <a:t> </a:t>
            </a:r>
            <a:r>
              <a:rPr sz="1718" spc="-13" dirty="0">
                <a:latin typeface="Calibri" panose="020F0502020204030204" pitchFamily="34" charset="0"/>
                <a:cs typeface="Calibri" panose="020F0502020204030204" pitchFamily="34" charset="0"/>
              </a:rPr>
              <a:t>requirement</a:t>
            </a:r>
            <a:r>
              <a:rPr sz="1718" spc="-26"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for</a:t>
            </a:r>
            <a:r>
              <a:rPr sz="1718" spc="-46"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wholesale</a:t>
            </a:r>
            <a:r>
              <a:rPr sz="1718" spc="-40"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power</a:t>
            </a:r>
            <a:r>
              <a:rPr sz="1718" spc="-46" dirty="0">
                <a:latin typeface="Calibri" panose="020F0502020204030204" pitchFamily="34" charset="0"/>
                <a:cs typeface="Calibri" panose="020F0502020204030204" pitchFamily="34" charset="0"/>
              </a:rPr>
              <a:t> </a:t>
            </a:r>
            <a:r>
              <a:rPr sz="1718" spc="-13" dirty="0">
                <a:latin typeface="Calibri" panose="020F0502020204030204" pitchFamily="34" charset="0"/>
                <a:cs typeface="Calibri" panose="020F0502020204030204" pitchFamily="34" charset="0"/>
              </a:rPr>
              <a:t>markets.</a:t>
            </a:r>
            <a:r>
              <a:rPr sz="1718" spc="-159"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It</a:t>
            </a:r>
            <a:r>
              <a:rPr sz="1718" spc="-46"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allows</a:t>
            </a:r>
            <a:r>
              <a:rPr sz="1718" spc="-53"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bulk</a:t>
            </a:r>
            <a:r>
              <a:rPr sz="1718" spc="-26"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users</a:t>
            </a:r>
            <a:r>
              <a:rPr sz="1718" spc="-46"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to</a:t>
            </a:r>
            <a:r>
              <a:rPr sz="1718" spc="-26"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buy</a:t>
            </a:r>
            <a:r>
              <a:rPr sz="1718" spc="-33"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power</a:t>
            </a:r>
            <a:r>
              <a:rPr sz="1718" spc="-46" dirty="0">
                <a:latin typeface="Calibri" panose="020F0502020204030204" pitchFamily="34" charset="0"/>
                <a:cs typeface="Calibri" panose="020F0502020204030204" pitchFamily="34" charset="0"/>
              </a:rPr>
              <a:t> </a:t>
            </a:r>
            <a:r>
              <a:rPr sz="1718" spc="-26" dirty="0">
                <a:latin typeface="Calibri" panose="020F0502020204030204" pitchFamily="34" charset="0"/>
                <a:cs typeface="Calibri" panose="020F0502020204030204" pitchFamily="34" charset="0"/>
              </a:rPr>
              <a:t>from </a:t>
            </a:r>
            <a:r>
              <a:rPr sz="1718" dirty="0">
                <a:latin typeface="Calibri" panose="020F0502020204030204" pitchFamily="34" charset="0"/>
                <a:cs typeface="Calibri" panose="020F0502020204030204" pitchFamily="34" charset="0"/>
              </a:rPr>
              <a:t>generators</a:t>
            </a:r>
            <a:r>
              <a:rPr sz="1718" spc="-66"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or</a:t>
            </a:r>
            <a:r>
              <a:rPr sz="1718" spc="-46" dirty="0">
                <a:latin typeface="Calibri" panose="020F0502020204030204" pitchFamily="34" charset="0"/>
                <a:cs typeface="Calibri" panose="020F0502020204030204" pitchFamily="34" charset="0"/>
              </a:rPr>
              <a:t> </a:t>
            </a:r>
            <a:r>
              <a:rPr sz="1718" spc="-13" dirty="0">
                <a:latin typeface="Calibri" panose="020F0502020204030204" pitchFamily="34" charset="0"/>
                <a:cs typeface="Calibri" panose="020F0502020204030204" pitchFamily="34" charset="0"/>
              </a:rPr>
              <a:t>traders,</a:t>
            </a:r>
            <a:r>
              <a:rPr sz="1718" spc="-172"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using</a:t>
            </a:r>
            <a:r>
              <a:rPr sz="1718" spc="-33"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the</a:t>
            </a:r>
            <a:r>
              <a:rPr sz="1718" spc="-20"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existing</a:t>
            </a:r>
            <a:r>
              <a:rPr sz="1718" spc="-26" dirty="0">
                <a:latin typeface="Calibri" panose="020F0502020204030204" pitchFamily="34" charset="0"/>
                <a:cs typeface="Calibri" panose="020F0502020204030204" pitchFamily="34" charset="0"/>
              </a:rPr>
              <a:t> </a:t>
            </a:r>
            <a:r>
              <a:rPr sz="1718" dirty="0">
                <a:latin typeface="Calibri" panose="020F0502020204030204" pitchFamily="34" charset="0"/>
                <a:cs typeface="Calibri" panose="020F0502020204030204" pitchFamily="34" charset="0"/>
              </a:rPr>
              <a:t>electricity</a:t>
            </a:r>
            <a:r>
              <a:rPr sz="1718" spc="7" dirty="0">
                <a:latin typeface="Calibri" panose="020F0502020204030204" pitchFamily="34" charset="0"/>
                <a:cs typeface="Calibri" panose="020F0502020204030204" pitchFamily="34" charset="0"/>
              </a:rPr>
              <a:t> </a:t>
            </a:r>
            <a:r>
              <a:rPr sz="1718" spc="-13" dirty="0">
                <a:latin typeface="Calibri" panose="020F0502020204030204" pitchFamily="34" charset="0"/>
                <a:cs typeface="Calibri" panose="020F0502020204030204" pitchFamily="34" charset="0"/>
              </a:rPr>
              <a:t>network</a:t>
            </a:r>
            <a:endParaRPr sz="1718" dirty="0">
              <a:latin typeface="Calibri" panose="020F0502020204030204" pitchFamily="34" charset="0"/>
              <a:cs typeface="Calibri" panose="020F0502020204030204" pitchFamily="34" charset="0"/>
            </a:endParaRPr>
          </a:p>
          <a:p>
            <a:pPr>
              <a:spcBef>
                <a:spcPts val="377"/>
              </a:spcBef>
            </a:pPr>
            <a:endParaRPr sz="1718" dirty="0">
              <a:latin typeface="Calibri" panose="020F0502020204030204" pitchFamily="34" charset="0"/>
              <a:cs typeface="Calibri" panose="020F0502020204030204" pitchFamily="34" charset="0"/>
            </a:endParaRPr>
          </a:p>
          <a:p>
            <a:pPr marL="129269" algn="ctr"/>
            <a:r>
              <a:rPr sz="1454" b="1" dirty="0">
                <a:latin typeface="Calibri" panose="020F0502020204030204" pitchFamily="34" charset="0"/>
                <a:cs typeface="Calibri" panose="020F0502020204030204" pitchFamily="34" charset="0"/>
              </a:rPr>
              <a:t>Facilitation</a:t>
            </a:r>
            <a:r>
              <a:rPr sz="1454" b="1" spc="-46" dirty="0">
                <a:latin typeface="Calibri" panose="020F0502020204030204" pitchFamily="34" charset="0"/>
                <a:cs typeface="Calibri" panose="020F0502020204030204" pitchFamily="34" charset="0"/>
              </a:rPr>
              <a:t> </a:t>
            </a:r>
            <a:r>
              <a:rPr sz="1454" b="1" dirty="0">
                <a:latin typeface="Calibri" panose="020F0502020204030204" pitchFamily="34" charset="0"/>
                <a:cs typeface="Calibri" panose="020F0502020204030204" pitchFamily="34" charset="0"/>
              </a:rPr>
              <a:t>of</a:t>
            </a:r>
            <a:r>
              <a:rPr sz="1454" b="1" spc="-26" dirty="0">
                <a:latin typeface="Calibri" panose="020F0502020204030204" pitchFamily="34" charset="0"/>
                <a:cs typeface="Calibri" panose="020F0502020204030204" pitchFamily="34" charset="0"/>
              </a:rPr>
              <a:t> </a:t>
            </a:r>
            <a:r>
              <a:rPr sz="1454" b="1" dirty="0">
                <a:latin typeface="Calibri" panose="020F0502020204030204" pitchFamily="34" charset="0"/>
                <a:cs typeface="Calibri" panose="020F0502020204030204" pitchFamily="34" charset="0"/>
              </a:rPr>
              <a:t>direct</a:t>
            </a:r>
            <a:r>
              <a:rPr sz="1454" b="1" spc="-46" dirty="0">
                <a:latin typeface="Calibri" panose="020F0502020204030204" pitchFamily="34" charset="0"/>
                <a:cs typeface="Calibri" panose="020F0502020204030204" pitchFamily="34" charset="0"/>
              </a:rPr>
              <a:t> </a:t>
            </a:r>
            <a:r>
              <a:rPr sz="1454" b="1" dirty="0">
                <a:latin typeface="Calibri" panose="020F0502020204030204" pitchFamily="34" charset="0"/>
                <a:cs typeface="Calibri" panose="020F0502020204030204" pitchFamily="34" charset="0"/>
              </a:rPr>
              <a:t>power</a:t>
            </a:r>
            <a:r>
              <a:rPr sz="1454" b="1" spc="-53" dirty="0">
                <a:latin typeface="Calibri" panose="020F0502020204030204" pitchFamily="34" charset="0"/>
                <a:cs typeface="Calibri" panose="020F0502020204030204" pitchFamily="34" charset="0"/>
              </a:rPr>
              <a:t> </a:t>
            </a:r>
            <a:r>
              <a:rPr sz="1454" b="1" dirty="0">
                <a:latin typeface="Calibri" panose="020F0502020204030204" pitchFamily="34" charset="0"/>
                <a:cs typeface="Calibri" panose="020F0502020204030204" pitchFamily="34" charset="0"/>
              </a:rPr>
              <a:t>purchase,</a:t>
            </a:r>
            <a:r>
              <a:rPr sz="1454" b="1" spc="-53" dirty="0">
                <a:latin typeface="Calibri" panose="020F0502020204030204" pitchFamily="34" charset="0"/>
                <a:cs typeface="Calibri" panose="020F0502020204030204" pitchFamily="34" charset="0"/>
              </a:rPr>
              <a:t> </a:t>
            </a:r>
            <a:r>
              <a:rPr sz="1454" b="1" dirty="0">
                <a:latin typeface="Calibri" panose="020F0502020204030204" pitchFamily="34" charset="0"/>
                <a:cs typeface="Calibri" panose="020F0502020204030204" pitchFamily="34" charset="0"/>
              </a:rPr>
              <a:t>through</a:t>
            </a:r>
            <a:r>
              <a:rPr sz="1454" b="1" spc="-66" dirty="0">
                <a:latin typeface="Calibri" panose="020F0502020204030204" pitchFamily="34" charset="0"/>
                <a:cs typeface="Calibri" panose="020F0502020204030204" pitchFamily="34" charset="0"/>
              </a:rPr>
              <a:t> </a:t>
            </a:r>
            <a:r>
              <a:rPr sz="1454" b="1" dirty="0">
                <a:latin typeface="Calibri" panose="020F0502020204030204" pitchFamily="34" charset="0"/>
                <a:cs typeface="Calibri" panose="020F0502020204030204" pitchFamily="34" charset="0"/>
              </a:rPr>
              <a:t>open</a:t>
            </a:r>
            <a:r>
              <a:rPr sz="1454" b="1" spc="-66" dirty="0">
                <a:latin typeface="Calibri" panose="020F0502020204030204" pitchFamily="34" charset="0"/>
                <a:cs typeface="Calibri" panose="020F0502020204030204" pitchFamily="34" charset="0"/>
              </a:rPr>
              <a:t> </a:t>
            </a:r>
            <a:r>
              <a:rPr sz="1454" b="1" spc="-13" dirty="0">
                <a:latin typeface="Calibri" panose="020F0502020204030204" pitchFamily="34" charset="0"/>
                <a:cs typeface="Calibri" panose="020F0502020204030204" pitchFamily="34" charset="0"/>
              </a:rPr>
              <a:t>access</a:t>
            </a:r>
            <a:endParaRPr sz="1454" dirty="0">
              <a:latin typeface="Calibri" panose="020F0502020204030204" pitchFamily="34" charset="0"/>
              <a:cs typeface="Calibri" panose="020F0502020204030204" pitchFamily="34" charset="0"/>
            </a:endParaRPr>
          </a:p>
        </p:txBody>
      </p:sp>
      <p:sp>
        <p:nvSpPr>
          <p:cNvPr id="84" name="object 84"/>
          <p:cNvSpPr txBox="1">
            <a:spLocks noGrp="1"/>
          </p:cNvSpPr>
          <p:nvPr>
            <p:ph type="ftr" sz="quarter" idx="5"/>
          </p:nvPr>
        </p:nvSpPr>
        <p:spPr>
          <a:xfrm>
            <a:off x="231140" y="4883210"/>
            <a:ext cx="335280" cy="114300"/>
          </a:xfrm>
          <a:prstGeom prst="rect">
            <a:avLst/>
          </a:prstGeom>
        </p:spPr>
        <p:txBody>
          <a:bodyPr vert="horz" wrap="square" lIns="0" tIns="0" rIns="0" bIns="0" rtlCol="0">
            <a:spAutoFit/>
          </a:bodyPr>
          <a:lstStyle>
            <a:defPPr>
              <a:defRPr kern="0"/>
            </a:defPPr>
            <a:lvl1pPr>
              <a:defRPr sz="600" b="0" i="0">
                <a:solidFill>
                  <a:srgbClr val="6C6362"/>
                </a:solidFill>
                <a:latin typeface="Gill Sans MT"/>
                <a:cs typeface="Gill Sans MT"/>
              </a:defRPr>
            </a:lvl1pPr>
          </a:lstStyle>
          <a:p>
            <a:pPr marL="16788">
              <a:spcBef>
                <a:spcPts val="73"/>
              </a:spcBef>
            </a:pPr>
            <a:r>
              <a:rPr lang="en-US" spc="-10">
                <a:solidFill>
                  <a:srgbClr val="FFFFFF"/>
                </a:solidFill>
              </a:rPr>
              <a:t>8/25/2021</a:t>
            </a:r>
            <a:endParaRPr spc="-13" dirty="0"/>
          </a:p>
        </p:txBody>
      </p:sp>
      <p:sp>
        <p:nvSpPr>
          <p:cNvPr id="85" name="object 85"/>
          <p:cNvSpPr txBox="1">
            <a:spLocks noGrp="1"/>
          </p:cNvSpPr>
          <p:nvPr>
            <p:ph type="dt" sz="half" idx="6"/>
          </p:nvPr>
        </p:nvSpPr>
        <p:spPr>
          <a:xfrm>
            <a:off x="4351782" y="4883210"/>
            <a:ext cx="439420" cy="114300"/>
          </a:xfrm>
          <a:prstGeom prst="rect">
            <a:avLst/>
          </a:prstGeom>
        </p:spPr>
        <p:txBody>
          <a:bodyPr vert="horz" wrap="square" lIns="0" tIns="0" rIns="0" bIns="0" rtlCol="0">
            <a:spAutoFit/>
          </a:bodyPr>
          <a:lstStyle>
            <a:defPPr>
              <a:defRPr kern="0"/>
            </a:defPPr>
            <a:lvl1pPr>
              <a:defRPr sz="600" b="0" i="0">
                <a:solidFill>
                  <a:srgbClr val="6C6362"/>
                </a:solidFill>
                <a:latin typeface="Gill Sans MT"/>
                <a:cs typeface="Gill Sans MT"/>
              </a:defRPr>
            </a:lvl1pPr>
          </a:lstStyle>
          <a:p>
            <a:pPr marL="16788">
              <a:spcBef>
                <a:spcPts val="73"/>
              </a:spcBef>
            </a:pPr>
            <a:r>
              <a:rPr lang="en-US"/>
              <a:t>URJA</a:t>
            </a:r>
            <a:r>
              <a:rPr lang="en-US" spc="-20"/>
              <a:t> </a:t>
            </a:r>
            <a:r>
              <a:rPr lang="en-US" spc="-10"/>
              <a:t>NEPAL</a:t>
            </a:r>
            <a:endParaRPr spc="-13" dirty="0"/>
          </a:p>
        </p:txBody>
      </p:sp>
      <p:sp>
        <p:nvSpPr>
          <p:cNvPr id="86" name="object 86"/>
          <p:cNvSpPr txBox="1">
            <a:spLocks noGrp="1"/>
          </p:cNvSpPr>
          <p:nvPr>
            <p:ph type="sldNum" sz="quarter" idx="7"/>
          </p:nvPr>
        </p:nvSpPr>
        <p:spPr>
          <a:xfrm>
            <a:off x="8811006" y="4883210"/>
            <a:ext cx="139700" cy="114300"/>
          </a:xfrm>
          <a:prstGeom prst="rect">
            <a:avLst/>
          </a:prstGeom>
        </p:spPr>
        <p:txBody>
          <a:bodyPr vert="horz" wrap="square" lIns="0" tIns="0" rIns="0" bIns="0" rtlCol="0">
            <a:spAutoFit/>
          </a:bodyPr>
          <a:lstStyle>
            <a:defPPr>
              <a:defRPr kern="0"/>
            </a:defPPr>
            <a:lvl1pPr>
              <a:defRPr sz="600" b="0" i="0">
                <a:solidFill>
                  <a:srgbClr val="6C6362"/>
                </a:solidFill>
                <a:latin typeface="Gill Sans MT"/>
                <a:cs typeface="Gill Sans MT"/>
              </a:defRPr>
            </a:lvl1pPr>
          </a:lstStyle>
          <a:p>
            <a:pPr marL="50800">
              <a:spcBef>
                <a:spcPts val="55"/>
              </a:spcBef>
            </a:pPr>
            <a:fld id="{81D60167-4931-47E6-BA6A-407CBD079E47}" type="slidenum">
              <a:rPr lang="en-US" spc="-50" smtClean="0">
                <a:solidFill>
                  <a:srgbClr val="FFFFFF"/>
                </a:solidFill>
              </a:rPr>
              <a:pPr marL="50800">
                <a:spcBef>
                  <a:spcPts val="55"/>
                </a:spcBef>
              </a:pPr>
              <a:t>2</a:t>
            </a:fld>
            <a:endParaRPr spc="-66" dirty="0"/>
          </a:p>
        </p:txBody>
      </p:sp>
      <p:sp>
        <p:nvSpPr>
          <p:cNvPr id="90" name="Title 2">
            <a:extLst>
              <a:ext uri="{FF2B5EF4-FFF2-40B4-BE49-F238E27FC236}">
                <a16:creationId xmlns:a16="http://schemas.microsoft.com/office/drawing/2014/main" id="{E618BAC4-56AD-43E9-B42F-CB8E59A5A249}"/>
              </a:ext>
            </a:extLst>
          </p:cNvPr>
          <p:cNvSpPr>
            <a:spLocks noGrp="1"/>
          </p:cNvSpPr>
          <p:nvPr>
            <p:ph type="title"/>
          </p:nvPr>
        </p:nvSpPr>
        <p:spPr>
          <a:xfrm>
            <a:off x="469902" y="402587"/>
            <a:ext cx="11252200" cy="334102"/>
          </a:xfrm>
        </p:spPr>
        <p:txBody>
          <a:bodyPr vert="horz">
            <a:noAutofit/>
          </a:bodyPr>
          <a:lstStyle/>
          <a:p>
            <a:r>
              <a:rPr lang="en-US" sz="2800" b="1" dirty="0">
                <a:latin typeface="Calibri" panose="020F0502020204030204" pitchFamily="34" charset="0"/>
                <a:cs typeface="Calibri" panose="020F0502020204030204" pitchFamily="34" charset="0"/>
              </a:rPr>
              <a:t>Concept of “open access”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2A279-3F9E-17B4-6680-850ACCAB4C98}"/>
            </a:ext>
          </a:extLst>
        </p:cNvPr>
        <p:cNvGrpSpPr/>
        <p:nvPr/>
      </p:nvGrpSpPr>
      <p:grpSpPr>
        <a:xfrm>
          <a:off x="0" y="0"/>
          <a:ext cx="0" cy="0"/>
          <a:chOff x="0" y="0"/>
          <a:chExt cx="0" cy="0"/>
        </a:xfrm>
      </p:grpSpPr>
      <p:graphicFrame>
        <p:nvGraphicFramePr>
          <p:cNvPr id="87" name="think-cell data - do not delete" hidden="1">
            <a:extLst>
              <a:ext uri="{FF2B5EF4-FFF2-40B4-BE49-F238E27FC236}">
                <a16:creationId xmlns:a16="http://schemas.microsoft.com/office/drawing/2014/main" id="{77F7D775-AE5F-79D3-5F51-01C3039D10D2}"/>
              </a:ext>
            </a:extLst>
          </p:cNvPr>
          <p:cNvGraphicFramePr>
            <a:graphicFrameLocks noChangeAspect="1"/>
          </p:cNvGraphicFramePr>
          <p:nvPr>
            <p:custDataLst>
              <p:tags r:id="rId1"/>
            </p:custDataLst>
            <p:extLst>
              <p:ext uri="{D42A27DB-BD31-4B8C-83A1-F6EECF244321}">
                <p14:modId xmlns:p14="http://schemas.microsoft.com/office/powerpoint/2010/main" val="3053982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87" name="think-cell data - do not delete" hidden="1">
                        <a:extLst>
                          <a:ext uri="{FF2B5EF4-FFF2-40B4-BE49-F238E27FC236}">
                            <a16:creationId xmlns:a16="http://schemas.microsoft.com/office/drawing/2014/main" id="{86034017-921D-8270-13DC-A8DC101377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0" name="Title 2">
            <a:extLst>
              <a:ext uri="{FF2B5EF4-FFF2-40B4-BE49-F238E27FC236}">
                <a16:creationId xmlns:a16="http://schemas.microsoft.com/office/drawing/2014/main" id="{725A3CF1-81A9-69BF-5EB4-C344F421725D}"/>
              </a:ext>
            </a:extLst>
          </p:cNvPr>
          <p:cNvSpPr>
            <a:spLocks noGrp="1"/>
          </p:cNvSpPr>
          <p:nvPr>
            <p:ph type="title"/>
          </p:nvPr>
        </p:nvSpPr>
        <p:spPr>
          <a:xfrm>
            <a:off x="469902" y="402587"/>
            <a:ext cx="11252200" cy="334102"/>
          </a:xfrm>
        </p:spPr>
        <p:txBody>
          <a:bodyPr vert="horz">
            <a:noAutofit/>
          </a:bodyPr>
          <a:lstStyle/>
          <a:p>
            <a:r>
              <a:rPr lang="en-US" sz="2800" b="1" dirty="0">
                <a:latin typeface="Calibri" panose="020F0502020204030204" pitchFamily="34" charset="0"/>
                <a:cs typeface="Calibri" panose="020F0502020204030204" pitchFamily="34" charset="0"/>
              </a:rPr>
              <a:t>Advantages of open access to electricity networks</a:t>
            </a:r>
          </a:p>
        </p:txBody>
      </p:sp>
      <p:sp>
        <p:nvSpPr>
          <p:cNvPr id="89" name="TextBox 88">
            <a:extLst>
              <a:ext uri="{FF2B5EF4-FFF2-40B4-BE49-F238E27FC236}">
                <a16:creationId xmlns:a16="http://schemas.microsoft.com/office/drawing/2014/main" id="{FF3B60EF-19AA-70AB-AB2E-72848FBD53BF}"/>
              </a:ext>
            </a:extLst>
          </p:cNvPr>
          <p:cNvSpPr txBox="1"/>
          <p:nvPr/>
        </p:nvSpPr>
        <p:spPr>
          <a:xfrm>
            <a:off x="469902" y="1086466"/>
            <a:ext cx="10803840" cy="769441"/>
          </a:xfrm>
          <a:prstGeom prst="rect">
            <a:avLst/>
          </a:prstGeom>
          <a:noFill/>
        </p:spPr>
        <p:txBody>
          <a:bodyPr wrap="square">
            <a:spAutoFit/>
          </a:bodyPr>
          <a:lstStyle/>
          <a:p>
            <a:r>
              <a:rPr lang="en-US" sz="2200" i="1" dirty="0">
                <a:latin typeface="Gill Sans MT"/>
                <a:cs typeface="Gill Sans MT"/>
              </a:rPr>
              <a:t>Open</a:t>
            </a:r>
            <a:r>
              <a:rPr lang="en-US" sz="2200" i="1" spc="-35" dirty="0">
                <a:latin typeface="Gill Sans MT"/>
                <a:cs typeface="Gill Sans MT"/>
              </a:rPr>
              <a:t> </a:t>
            </a:r>
            <a:r>
              <a:rPr lang="en-US" sz="2200" i="1" dirty="0">
                <a:latin typeface="Gill Sans MT"/>
                <a:cs typeface="Gill Sans MT"/>
              </a:rPr>
              <a:t>access</a:t>
            </a:r>
            <a:r>
              <a:rPr lang="en-US" sz="2200" i="1" spc="-40" dirty="0">
                <a:latin typeface="Gill Sans MT"/>
                <a:cs typeface="Gill Sans MT"/>
              </a:rPr>
              <a:t> </a:t>
            </a:r>
            <a:r>
              <a:rPr lang="en-US" sz="2200" i="1" dirty="0">
                <a:latin typeface="Gill Sans MT"/>
                <a:cs typeface="Gill Sans MT"/>
              </a:rPr>
              <a:t>facilitates</a:t>
            </a:r>
            <a:r>
              <a:rPr lang="en-US" sz="2200" i="1" spc="-40" dirty="0">
                <a:latin typeface="Gill Sans MT"/>
                <a:cs typeface="Gill Sans MT"/>
              </a:rPr>
              <a:t> </a:t>
            </a:r>
            <a:r>
              <a:rPr lang="en-US" sz="2200" i="1" dirty="0">
                <a:latin typeface="Gill Sans MT"/>
                <a:cs typeface="Gill Sans MT"/>
              </a:rPr>
              <a:t>competition</a:t>
            </a:r>
            <a:r>
              <a:rPr lang="en-US" sz="2200" i="1" spc="-25" dirty="0">
                <a:latin typeface="Gill Sans MT"/>
                <a:cs typeface="Gill Sans MT"/>
              </a:rPr>
              <a:t> </a:t>
            </a:r>
            <a:r>
              <a:rPr lang="en-US" sz="2200" i="1" dirty="0">
                <a:latin typeface="Gill Sans MT"/>
                <a:cs typeface="Gill Sans MT"/>
              </a:rPr>
              <a:t>and</a:t>
            </a:r>
            <a:r>
              <a:rPr lang="en-US" sz="2200" i="1" spc="-15" dirty="0">
                <a:latin typeface="Gill Sans MT"/>
                <a:cs typeface="Gill Sans MT"/>
              </a:rPr>
              <a:t> </a:t>
            </a:r>
            <a:r>
              <a:rPr lang="en-US" sz="2200" i="1" dirty="0">
                <a:latin typeface="Gill Sans MT"/>
                <a:cs typeface="Gill Sans MT"/>
              </a:rPr>
              <a:t>is</a:t>
            </a:r>
            <a:r>
              <a:rPr lang="en-US" sz="2200" i="1" spc="-30" dirty="0">
                <a:latin typeface="Gill Sans MT"/>
                <a:cs typeface="Gill Sans MT"/>
              </a:rPr>
              <a:t> </a:t>
            </a:r>
            <a:r>
              <a:rPr lang="en-US" sz="2200" i="1" dirty="0">
                <a:latin typeface="Gill Sans MT"/>
                <a:cs typeface="Gill Sans MT"/>
              </a:rPr>
              <a:t>also</a:t>
            </a:r>
            <a:r>
              <a:rPr lang="en-US" sz="2200" i="1" spc="-10" dirty="0">
                <a:latin typeface="Gill Sans MT"/>
                <a:cs typeface="Gill Sans MT"/>
              </a:rPr>
              <a:t> </a:t>
            </a:r>
            <a:r>
              <a:rPr lang="en-US" sz="2200" i="1" dirty="0">
                <a:latin typeface="Gill Sans MT"/>
                <a:cs typeface="Gill Sans MT"/>
              </a:rPr>
              <a:t>a</a:t>
            </a:r>
            <a:r>
              <a:rPr lang="en-US" sz="2200" i="1" spc="-35" dirty="0">
                <a:latin typeface="Gill Sans MT"/>
                <a:cs typeface="Gill Sans MT"/>
              </a:rPr>
              <a:t> </a:t>
            </a:r>
            <a:r>
              <a:rPr lang="en-US" sz="2200" i="1" dirty="0">
                <a:latin typeface="Gill Sans MT"/>
                <a:cs typeface="Gill Sans MT"/>
              </a:rPr>
              <a:t>key</a:t>
            </a:r>
            <a:r>
              <a:rPr lang="en-US" sz="2200" i="1" spc="-40" dirty="0">
                <a:latin typeface="Gill Sans MT"/>
                <a:cs typeface="Gill Sans MT"/>
              </a:rPr>
              <a:t> </a:t>
            </a:r>
            <a:r>
              <a:rPr lang="en-US" sz="2200" i="1" dirty="0">
                <a:latin typeface="Gill Sans MT"/>
                <a:cs typeface="Gill Sans MT"/>
              </a:rPr>
              <a:t>driver</a:t>
            </a:r>
            <a:r>
              <a:rPr lang="en-US" sz="2200" i="1" spc="-30" dirty="0">
                <a:latin typeface="Gill Sans MT"/>
                <a:cs typeface="Gill Sans MT"/>
              </a:rPr>
              <a:t> </a:t>
            </a:r>
            <a:r>
              <a:rPr lang="en-US" sz="2200" i="1" dirty="0">
                <a:latin typeface="Gill Sans MT"/>
                <a:cs typeface="Gill Sans MT"/>
              </a:rPr>
              <a:t>of</a:t>
            </a:r>
            <a:r>
              <a:rPr lang="en-US" sz="2200" i="1" spc="-25" dirty="0">
                <a:latin typeface="Gill Sans MT"/>
                <a:cs typeface="Gill Sans MT"/>
              </a:rPr>
              <a:t> </a:t>
            </a:r>
            <a:r>
              <a:rPr lang="en-US" sz="2200" i="1" dirty="0">
                <a:latin typeface="Gill Sans MT"/>
                <a:cs typeface="Gill Sans MT"/>
              </a:rPr>
              <a:t>direct</a:t>
            </a:r>
            <a:r>
              <a:rPr lang="en-US" sz="2200" i="1" spc="-45" dirty="0">
                <a:latin typeface="Gill Sans MT"/>
                <a:cs typeface="Gill Sans MT"/>
              </a:rPr>
              <a:t> </a:t>
            </a:r>
            <a:r>
              <a:rPr lang="en-US" sz="2200" i="1" dirty="0">
                <a:latin typeface="Gill Sans MT"/>
                <a:cs typeface="Gill Sans MT"/>
              </a:rPr>
              <a:t>purchases</a:t>
            </a:r>
            <a:r>
              <a:rPr lang="en-US" sz="2200" i="1" spc="-20" dirty="0">
                <a:latin typeface="Gill Sans MT"/>
                <a:cs typeface="Gill Sans MT"/>
              </a:rPr>
              <a:t> </a:t>
            </a:r>
            <a:r>
              <a:rPr lang="en-US" sz="2200" i="1" dirty="0">
                <a:latin typeface="Gill Sans MT"/>
                <a:cs typeface="Gill Sans MT"/>
              </a:rPr>
              <a:t>of</a:t>
            </a:r>
            <a:r>
              <a:rPr lang="en-US" sz="2200" i="1" spc="-30" dirty="0">
                <a:latin typeface="Gill Sans MT"/>
                <a:cs typeface="Gill Sans MT"/>
              </a:rPr>
              <a:t> </a:t>
            </a:r>
            <a:r>
              <a:rPr lang="en-US" sz="2200" i="1" spc="-10" dirty="0">
                <a:latin typeface="Gill Sans MT"/>
                <a:cs typeface="Gill Sans MT"/>
              </a:rPr>
              <a:t>renewable </a:t>
            </a:r>
            <a:r>
              <a:rPr lang="en-US" sz="2200" i="1" dirty="0">
                <a:latin typeface="Gill Sans MT"/>
                <a:cs typeface="Gill Sans MT"/>
              </a:rPr>
              <a:t>energy</a:t>
            </a:r>
            <a:r>
              <a:rPr lang="en-US" sz="2200" i="1" spc="-30" dirty="0">
                <a:latin typeface="Gill Sans MT"/>
                <a:cs typeface="Gill Sans MT"/>
              </a:rPr>
              <a:t> </a:t>
            </a:r>
            <a:r>
              <a:rPr lang="en-US" sz="2200" i="1" dirty="0">
                <a:latin typeface="Gill Sans MT"/>
                <a:cs typeface="Gill Sans MT"/>
              </a:rPr>
              <a:t>by</a:t>
            </a:r>
            <a:r>
              <a:rPr lang="en-US" sz="2200" i="1" spc="-10" dirty="0">
                <a:latin typeface="Gill Sans MT"/>
                <a:cs typeface="Gill Sans MT"/>
              </a:rPr>
              <a:t> corporates</a:t>
            </a:r>
            <a:endParaRPr lang="en-US" sz="2200" dirty="0"/>
          </a:p>
        </p:txBody>
      </p:sp>
      <p:grpSp>
        <p:nvGrpSpPr>
          <p:cNvPr id="119" name="Group 118">
            <a:extLst>
              <a:ext uri="{FF2B5EF4-FFF2-40B4-BE49-F238E27FC236}">
                <a16:creationId xmlns:a16="http://schemas.microsoft.com/office/drawing/2014/main" id="{CB390FA6-3376-687F-617A-C3EB4A96E729}"/>
              </a:ext>
            </a:extLst>
          </p:cNvPr>
          <p:cNvGrpSpPr/>
          <p:nvPr/>
        </p:nvGrpSpPr>
        <p:grpSpPr>
          <a:xfrm>
            <a:off x="681601" y="2039397"/>
            <a:ext cx="10592141" cy="4546183"/>
            <a:chOff x="681601" y="2242026"/>
            <a:chExt cx="7957193" cy="3378274"/>
          </a:xfrm>
        </p:grpSpPr>
        <p:grpSp>
          <p:nvGrpSpPr>
            <p:cNvPr id="115" name="Group 114">
              <a:extLst>
                <a:ext uri="{FF2B5EF4-FFF2-40B4-BE49-F238E27FC236}">
                  <a16:creationId xmlns:a16="http://schemas.microsoft.com/office/drawing/2014/main" id="{56BE521D-A829-12D1-C908-A5397158F610}"/>
                </a:ext>
              </a:extLst>
            </p:cNvPr>
            <p:cNvGrpSpPr/>
            <p:nvPr/>
          </p:nvGrpSpPr>
          <p:grpSpPr>
            <a:xfrm>
              <a:off x="681601" y="2242026"/>
              <a:ext cx="1951490" cy="3200400"/>
              <a:chOff x="681601" y="2242026"/>
              <a:chExt cx="1951490" cy="3200400"/>
            </a:xfrm>
          </p:grpSpPr>
          <p:sp>
            <p:nvSpPr>
              <p:cNvPr id="91" name="object 4">
                <a:extLst>
                  <a:ext uri="{FF2B5EF4-FFF2-40B4-BE49-F238E27FC236}">
                    <a16:creationId xmlns:a16="http://schemas.microsoft.com/office/drawing/2014/main" id="{6A59F6ED-B3B7-C75A-DED3-6335C9D4DB29}"/>
                  </a:ext>
                </a:extLst>
              </p:cNvPr>
              <p:cNvSpPr/>
              <p:nvPr/>
            </p:nvSpPr>
            <p:spPr>
              <a:xfrm>
                <a:off x="688086" y="2242026"/>
                <a:ext cx="1945005" cy="3200400"/>
              </a:xfrm>
              <a:custGeom>
                <a:avLst/>
                <a:gdLst/>
                <a:ahLst/>
                <a:cxnLst/>
                <a:rect l="l" t="t" r="r" b="b"/>
                <a:pathLst>
                  <a:path w="1945005" h="3200400">
                    <a:moveTo>
                      <a:pt x="1750187" y="0"/>
                    </a:moveTo>
                    <a:lnTo>
                      <a:pt x="194462" y="0"/>
                    </a:lnTo>
                    <a:lnTo>
                      <a:pt x="149872" y="5138"/>
                    </a:lnTo>
                    <a:lnTo>
                      <a:pt x="108940" y="19774"/>
                    </a:lnTo>
                    <a:lnTo>
                      <a:pt x="72833" y="42737"/>
                    </a:lnTo>
                    <a:lnTo>
                      <a:pt x="42719" y="72855"/>
                    </a:lnTo>
                    <a:lnTo>
                      <a:pt x="19764" y="108958"/>
                    </a:lnTo>
                    <a:lnTo>
                      <a:pt x="5135" y="149876"/>
                    </a:lnTo>
                    <a:lnTo>
                      <a:pt x="0" y="194437"/>
                    </a:lnTo>
                    <a:lnTo>
                      <a:pt x="0" y="3005937"/>
                    </a:lnTo>
                    <a:lnTo>
                      <a:pt x="5135" y="3050527"/>
                    </a:lnTo>
                    <a:lnTo>
                      <a:pt x="19764" y="3091459"/>
                    </a:lnTo>
                    <a:lnTo>
                      <a:pt x="42719" y="3127566"/>
                    </a:lnTo>
                    <a:lnTo>
                      <a:pt x="72833" y="3157680"/>
                    </a:lnTo>
                    <a:lnTo>
                      <a:pt x="108940" y="3180635"/>
                    </a:lnTo>
                    <a:lnTo>
                      <a:pt x="149872" y="3195264"/>
                    </a:lnTo>
                    <a:lnTo>
                      <a:pt x="194462" y="3200400"/>
                    </a:lnTo>
                    <a:lnTo>
                      <a:pt x="1750187" y="3200400"/>
                    </a:lnTo>
                    <a:lnTo>
                      <a:pt x="1794747" y="3195264"/>
                    </a:lnTo>
                    <a:lnTo>
                      <a:pt x="1835665" y="3180635"/>
                    </a:lnTo>
                    <a:lnTo>
                      <a:pt x="1871768" y="3157680"/>
                    </a:lnTo>
                    <a:lnTo>
                      <a:pt x="1901886" y="3127566"/>
                    </a:lnTo>
                    <a:lnTo>
                      <a:pt x="1924849" y="3091459"/>
                    </a:lnTo>
                    <a:lnTo>
                      <a:pt x="1939485" y="3050527"/>
                    </a:lnTo>
                    <a:lnTo>
                      <a:pt x="1944624" y="3005937"/>
                    </a:lnTo>
                    <a:lnTo>
                      <a:pt x="1944624" y="194437"/>
                    </a:lnTo>
                    <a:lnTo>
                      <a:pt x="1939485" y="149876"/>
                    </a:lnTo>
                    <a:lnTo>
                      <a:pt x="1924849" y="108958"/>
                    </a:lnTo>
                    <a:lnTo>
                      <a:pt x="1901886" y="72855"/>
                    </a:lnTo>
                    <a:lnTo>
                      <a:pt x="1871768" y="42737"/>
                    </a:lnTo>
                    <a:lnTo>
                      <a:pt x="1835665" y="19774"/>
                    </a:lnTo>
                    <a:lnTo>
                      <a:pt x="1794747" y="5138"/>
                    </a:lnTo>
                    <a:lnTo>
                      <a:pt x="1750187" y="0"/>
                    </a:lnTo>
                    <a:close/>
                  </a:path>
                </a:pathLst>
              </a:custGeom>
              <a:solidFill>
                <a:srgbClr val="B90C2E"/>
              </a:solidFill>
            </p:spPr>
            <p:txBody>
              <a:bodyPr wrap="square" lIns="0" tIns="0" rIns="0" bIns="0" rtlCol="0"/>
              <a:lstStyle/>
              <a:p>
                <a:endParaRPr sz="2400"/>
              </a:p>
            </p:txBody>
          </p:sp>
          <p:sp>
            <p:nvSpPr>
              <p:cNvPr id="92" name="object 5">
                <a:extLst>
                  <a:ext uri="{FF2B5EF4-FFF2-40B4-BE49-F238E27FC236}">
                    <a16:creationId xmlns:a16="http://schemas.microsoft.com/office/drawing/2014/main" id="{1492B70E-BE63-69A6-41FF-077762DC72F6}"/>
                  </a:ext>
                </a:extLst>
              </p:cNvPr>
              <p:cNvSpPr/>
              <p:nvPr/>
            </p:nvSpPr>
            <p:spPr>
              <a:xfrm>
                <a:off x="681601" y="2242026"/>
                <a:ext cx="1945005" cy="3200400"/>
              </a:xfrm>
              <a:custGeom>
                <a:avLst/>
                <a:gdLst/>
                <a:ahLst/>
                <a:cxnLst/>
                <a:rect l="l" t="t" r="r" b="b"/>
                <a:pathLst>
                  <a:path w="1945005" h="3200400">
                    <a:moveTo>
                      <a:pt x="0" y="194437"/>
                    </a:moveTo>
                    <a:lnTo>
                      <a:pt x="5135" y="149876"/>
                    </a:lnTo>
                    <a:lnTo>
                      <a:pt x="19764" y="108958"/>
                    </a:lnTo>
                    <a:lnTo>
                      <a:pt x="42719" y="72855"/>
                    </a:lnTo>
                    <a:lnTo>
                      <a:pt x="72833" y="42737"/>
                    </a:lnTo>
                    <a:lnTo>
                      <a:pt x="108940" y="19774"/>
                    </a:lnTo>
                    <a:lnTo>
                      <a:pt x="149872" y="5138"/>
                    </a:lnTo>
                    <a:lnTo>
                      <a:pt x="194462" y="0"/>
                    </a:lnTo>
                    <a:lnTo>
                      <a:pt x="1750187" y="0"/>
                    </a:lnTo>
                    <a:lnTo>
                      <a:pt x="1794747" y="5138"/>
                    </a:lnTo>
                    <a:lnTo>
                      <a:pt x="1835665" y="19774"/>
                    </a:lnTo>
                    <a:lnTo>
                      <a:pt x="1871768" y="42737"/>
                    </a:lnTo>
                    <a:lnTo>
                      <a:pt x="1901886" y="72855"/>
                    </a:lnTo>
                    <a:lnTo>
                      <a:pt x="1924849" y="108958"/>
                    </a:lnTo>
                    <a:lnTo>
                      <a:pt x="1939485" y="149876"/>
                    </a:lnTo>
                    <a:lnTo>
                      <a:pt x="1944624" y="194437"/>
                    </a:lnTo>
                    <a:lnTo>
                      <a:pt x="1944624" y="3005937"/>
                    </a:lnTo>
                    <a:lnTo>
                      <a:pt x="1939485" y="3050527"/>
                    </a:lnTo>
                    <a:lnTo>
                      <a:pt x="1924849" y="3091459"/>
                    </a:lnTo>
                    <a:lnTo>
                      <a:pt x="1901886" y="3127566"/>
                    </a:lnTo>
                    <a:lnTo>
                      <a:pt x="1871768" y="3157680"/>
                    </a:lnTo>
                    <a:lnTo>
                      <a:pt x="1835665" y="3180635"/>
                    </a:lnTo>
                    <a:lnTo>
                      <a:pt x="1794747" y="3195264"/>
                    </a:lnTo>
                    <a:lnTo>
                      <a:pt x="1750187" y="3200400"/>
                    </a:lnTo>
                    <a:lnTo>
                      <a:pt x="194462" y="3200400"/>
                    </a:lnTo>
                    <a:lnTo>
                      <a:pt x="149872" y="3195264"/>
                    </a:lnTo>
                    <a:lnTo>
                      <a:pt x="108940" y="3180635"/>
                    </a:lnTo>
                    <a:lnTo>
                      <a:pt x="72833" y="3157680"/>
                    </a:lnTo>
                    <a:lnTo>
                      <a:pt x="42719" y="3127566"/>
                    </a:lnTo>
                    <a:lnTo>
                      <a:pt x="19764" y="3091459"/>
                    </a:lnTo>
                    <a:lnTo>
                      <a:pt x="5135" y="3050527"/>
                    </a:lnTo>
                    <a:lnTo>
                      <a:pt x="0" y="3005937"/>
                    </a:lnTo>
                    <a:lnTo>
                      <a:pt x="0" y="194437"/>
                    </a:lnTo>
                    <a:close/>
                  </a:path>
                </a:pathLst>
              </a:custGeom>
              <a:solidFill>
                <a:schemeClr val="accent1"/>
              </a:solidFill>
              <a:ln w="25400">
                <a:solidFill>
                  <a:srgbClr val="FFFFFF"/>
                </a:solidFill>
              </a:ln>
            </p:spPr>
            <p:txBody>
              <a:bodyPr wrap="square" lIns="0" tIns="0" rIns="0" bIns="0" rtlCol="0"/>
              <a:lstStyle/>
              <a:p>
                <a:endParaRPr sz="2400"/>
              </a:p>
            </p:txBody>
          </p:sp>
          <p:sp>
            <p:nvSpPr>
              <p:cNvPr id="93" name="object 6">
                <a:extLst>
                  <a:ext uri="{FF2B5EF4-FFF2-40B4-BE49-F238E27FC236}">
                    <a16:creationId xmlns:a16="http://schemas.microsoft.com/office/drawing/2014/main" id="{CCB951CA-D6A0-190D-6A02-7AC6E54FFDAB}"/>
                  </a:ext>
                </a:extLst>
              </p:cNvPr>
              <p:cNvSpPr txBox="1"/>
              <p:nvPr/>
            </p:nvSpPr>
            <p:spPr>
              <a:xfrm>
                <a:off x="881949" y="3574932"/>
                <a:ext cx="1600726" cy="1244830"/>
              </a:xfrm>
              <a:prstGeom prst="rect">
                <a:avLst/>
              </a:prstGeom>
            </p:spPr>
            <p:txBody>
              <a:bodyPr vert="horz" wrap="square" lIns="0" tIns="36194" rIns="0" bIns="0" rtlCol="0">
                <a:spAutoFit/>
              </a:bodyPr>
              <a:lstStyle/>
              <a:p>
                <a:pPr marR="5080" indent="12700" algn="ctr">
                  <a:spcBef>
                    <a:spcPts val="284"/>
                  </a:spcBef>
                </a:pPr>
                <a:r>
                  <a:rPr dirty="0">
                    <a:solidFill>
                      <a:srgbClr val="FFFFFF"/>
                    </a:solidFill>
                    <a:latin typeface="Calibri" panose="020F0502020204030204" pitchFamily="34" charset="0"/>
                    <a:cs typeface="Calibri" panose="020F0502020204030204" pitchFamily="34" charset="0"/>
                  </a:rPr>
                  <a:t>Allows</a:t>
                </a:r>
                <a:r>
                  <a:rPr spc="-15" dirty="0">
                    <a:solidFill>
                      <a:srgbClr val="FFFFFF"/>
                    </a:solidFill>
                    <a:latin typeface="Calibri" panose="020F0502020204030204" pitchFamily="34" charset="0"/>
                    <a:cs typeface="Calibri" panose="020F0502020204030204" pitchFamily="34" charset="0"/>
                  </a:rPr>
                  <a:t> </a:t>
                </a:r>
                <a:r>
                  <a:rPr dirty="0">
                    <a:solidFill>
                      <a:srgbClr val="FFFFFF"/>
                    </a:solidFill>
                    <a:latin typeface="Calibri" panose="020F0502020204030204" pitchFamily="34" charset="0"/>
                    <a:cs typeface="Calibri" panose="020F0502020204030204" pitchFamily="34" charset="0"/>
                  </a:rPr>
                  <a:t>the</a:t>
                </a:r>
                <a:r>
                  <a:rPr spc="-5" dirty="0">
                    <a:solidFill>
                      <a:srgbClr val="FFFFFF"/>
                    </a:solidFill>
                    <a:latin typeface="Calibri" panose="020F0502020204030204" pitchFamily="34" charset="0"/>
                    <a:cs typeface="Calibri" panose="020F0502020204030204" pitchFamily="34" charset="0"/>
                  </a:rPr>
                  <a:t> </a:t>
                </a:r>
                <a:r>
                  <a:rPr dirty="0">
                    <a:solidFill>
                      <a:srgbClr val="FFFFFF"/>
                    </a:solidFill>
                    <a:latin typeface="Calibri" panose="020F0502020204030204" pitchFamily="34" charset="0"/>
                    <a:cs typeface="Calibri" panose="020F0502020204030204" pitchFamily="34" charset="0"/>
                  </a:rPr>
                  <a:t>operation</a:t>
                </a:r>
                <a:r>
                  <a:rPr spc="-25" dirty="0">
                    <a:solidFill>
                      <a:srgbClr val="FFFFFF"/>
                    </a:solidFill>
                    <a:latin typeface="Calibri" panose="020F0502020204030204" pitchFamily="34" charset="0"/>
                    <a:cs typeface="Calibri" panose="020F0502020204030204" pitchFamily="34" charset="0"/>
                  </a:rPr>
                  <a:t> of </a:t>
                </a:r>
                <a:r>
                  <a:rPr dirty="0">
                    <a:solidFill>
                      <a:srgbClr val="FFFFFF"/>
                    </a:solidFill>
                    <a:latin typeface="Calibri" panose="020F0502020204030204" pitchFamily="34" charset="0"/>
                    <a:cs typeface="Calibri" panose="020F0502020204030204" pitchFamily="34" charset="0"/>
                  </a:rPr>
                  <a:t>competitive</a:t>
                </a:r>
                <a:r>
                  <a:rPr spc="-30" dirty="0">
                    <a:solidFill>
                      <a:srgbClr val="FFFFFF"/>
                    </a:solidFill>
                    <a:latin typeface="Calibri" panose="020F0502020204030204" pitchFamily="34" charset="0"/>
                    <a:cs typeface="Calibri" panose="020F0502020204030204" pitchFamily="34" charset="0"/>
                  </a:rPr>
                  <a:t> </a:t>
                </a:r>
                <a:r>
                  <a:rPr spc="-10" dirty="0">
                    <a:solidFill>
                      <a:srgbClr val="FFFFFF"/>
                    </a:solidFill>
                    <a:latin typeface="Calibri" panose="020F0502020204030204" pitchFamily="34" charset="0"/>
                    <a:cs typeface="Calibri" panose="020F0502020204030204" pitchFamily="34" charset="0"/>
                  </a:rPr>
                  <a:t>markets</a:t>
                </a:r>
                <a:endParaRPr lang="en-US" spc="-10" dirty="0">
                  <a:solidFill>
                    <a:srgbClr val="FFFFFF"/>
                  </a:solidFill>
                  <a:latin typeface="Calibri" panose="020F0502020204030204" pitchFamily="34" charset="0"/>
                  <a:cs typeface="Calibri" panose="020F0502020204030204" pitchFamily="34" charset="0"/>
                </a:endParaRPr>
              </a:p>
              <a:p>
                <a:pPr marL="1905" algn="ctr">
                  <a:spcBef>
                    <a:spcPts val="359"/>
                  </a:spcBef>
                </a:pPr>
                <a:r>
                  <a:rPr lang="en-US" dirty="0">
                    <a:solidFill>
                      <a:srgbClr val="FFFFFF"/>
                    </a:solidFill>
                    <a:latin typeface="Calibri" panose="020F0502020204030204" pitchFamily="34" charset="0"/>
                    <a:cs typeface="Calibri" panose="020F0502020204030204" pitchFamily="34" charset="0"/>
                  </a:rPr>
                  <a:t>Open</a:t>
                </a:r>
                <a:r>
                  <a:rPr lang="en-US" spc="-10" dirty="0">
                    <a:solidFill>
                      <a:srgbClr val="FFFFFF"/>
                    </a:solidFill>
                    <a:latin typeface="Calibri" panose="020F0502020204030204" pitchFamily="34" charset="0"/>
                    <a:cs typeface="Calibri" panose="020F0502020204030204" pitchFamily="34" charset="0"/>
                  </a:rPr>
                  <a:t> </a:t>
                </a:r>
                <a:r>
                  <a:rPr lang="en-US" dirty="0">
                    <a:solidFill>
                      <a:srgbClr val="FFFFFF"/>
                    </a:solidFill>
                    <a:latin typeface="Calibri" panose="020F0502020204030204" pitchFamily="34" charset="0"/>
                    <a:cs typeface="Calibri" panose="020F0502020204030204" pitchFamily="34" charset="0"/>
                  </a:rPr>
                  <a:t>access</a:t>
                </a:r>
                <a:r>
                  <a:rPr lang="en-US" spc="-40" dirty="0">
                    <a:solidFill>
                      <a:srgbClr val="FFFFFF"/>
                    </a:solidFill>
                    <a:latin typeface="Calibri" panose="020F0502020204030204" pitchFamily="34" charset="0"/>
                    <a:cs typeface="Calibri" panose="020F0502020204030204" pitchFamily="34" charset="0"/>
                  </a:rPr>
                  <a:t> </a:t>
                </a:r>
                <a:r>
                  <a:rPr lang="en-US" spc="-10" dirty="0">
                    <a:solidFill>
                      <a:srgbClr val="FFFFFF"/>
                    </a:solidFill>
                    <a:latin typeface="Calibri" panose="020F0502020204030204" pitchFamily="34" charset="0"/>
                    <a:cs typeface="Calibri" panose="020F0502020204030204" pitchFamily="34" charset="0"/>
                  </a:rPr>
                  <a:t>facilitates</a:t>
                </a:r>
                <a:endParaRPr lang="en-US" dirty="0">
                  <a:latin typeface="Calibri" panose="020F0502020204030204" pitchFamily="34" charset="0"/>
                  <a:cs typeface="Calibri" panose="020F0502020204030204" pitchFamily="34" charset="0"/>
                </a:endParaRPr>
              </a:p>
              <a:p>
                <a:pPr algn="ctr">
                  <a:spcBef>
                    <a:spcPts val="260"/>
                  </a:spcBef>
                </a:pPr>
                <a:r>
                  <a:rPr lang="en-US" dirty="0">
                    <a:solidFill>
                      <a:srgbClr val="FFFFFF"/>
                    </a:solidFill>
                    <a:latin typeface="Calibri" panose="020F0502020204030204" pitchFamily="34" charset="0"/>
                    <a:cs typeface="Calibri" panose="020F0502020204030204" pitchFamily="34" charset="0"/>
                  </a:rPr>
                  <a:t>wholesale</a:t>
                </a:r>
                <a:r>
                  <a:rPr lang="en-US" spc="-35" dirty="0">
                    <a:solidFill>
                      <a:srgbClr val="FFFFFF"/>
                    </a:solidFill>
                    <a:latin typeface="Calibri" panose="020F0502020204030204" pitchFamily="34" charset="0"/>
                    <a:cs typeface="Calibri" panose="020F0502020204030204" pitchFamily="34" charset="0"/>
                  </a:rPr>
                  <a:t> </a:t>
                </a:r>
                <a:r>
                  <a:rPr lang="en-US" dirty="0">
                    <a:solidFill>
                      <a:srgbClr val="FFFFFF"/>
                    </a:solidFill>
                    <a:latin typeface="Calibri" panose="020F0502020204030204" pitchFamily="34" charset="0"/>
                    <a:cs typeface="Calibri" panose="020F0502020204030204" pitchFamily="34" charset="0"/>
                  </a:rPr>
                  <a:t>electricity</a:t>
                </a:r>
                <a:r>
                  <a:rPr lang="en-US" spc="-15" dirty="0">
                    <a:solidFill>
                      <a:srgbClr val="FFFFFF"/>
                    </a:solidFill>
                    <a:latin typeface="Calibri" panose="020F0502020204030204" pitchFamily="34" charset="0"/>
                    <a:cs typeface="Calibri" panose="020F0502020204030204" pitchFamily="34" charset="0"/>
                  </a:rPr>
                  <a:t> </a:t>
                </a:r>
                <a:r>
                  <a:rPr lang="en-US" spc="-10" dirty="0">
                    <a:solidFill>
                      <a:srgbClr val="FFFFFF"/>
                    </a:solidFill>
                    <a:latin typeface="Calibri" panose="020F0502020204030204" pitchFamily="34" charset="0"/>
                    <a:cs typeface="Calibri" panose="020F0502020204030204" pitchFamily="34" charset="0"/>
                  </a:rPr>
                  <a:t>markets</a:t>
                </a:r>
                <a:endParaRPr lang="en-US" dirty="0">
                  <a:latin typeface="Calibri" panose="020F0502020204030204" pitchFamily="34" charset="0"/>
                  <a:cs typeface="Calibri" panose="020F0502020204030204" pitchFamily="34" charset="0"/>
                </a:endParaRPr>
              </a:p>
            </p:txBody>
          </p:sp>
          <p:sp>
            <p:nvSpPr>
              <p:cNvPr id="95" name="object 9">
                <a:extLst>
                  <a:ext uri="{FF2B5EF4-FFF2-40B4-BE49-F238E27FC236}">
                    <a16:creationId xmlns:a16="http://schemas.microsoft.com/office/drawing/2014/main" id="{CB09298A-029A-B525-BFE6-888433B24CA7}"/>
                  </a:ext>
                </a:extLst>
              </p:cNvPr>
              <p:cNvSpPr/>
              <p:nvPr/>
            </p:nvSpPr>
            <p:spPr>
              <a:xfrm>
                <a:off x="1126997" y="2434050"/>
                <a:ext cx="1066800" cy="1065530"/>
              </a:xfrm>
              <a:custGeom>
                <a:avLst/>
                <a:gdLst/>
                <a:ahLst/>
                <a:cxnLst/>
                <a:rect l="l" t="t" r="r" b="b"/>
                <a:pathLst>
                  <a:path w="1066800" h="1065530">
                    <a:moveTo>
                      <a:pt x="533400" y="0"/>
                    </a:moveTo>
                    <a:lnTo>
                      <a:pt x="484842" y="2177"/>
                    </a:lnTo>
                    <a:lnTo>
                      <a:pt x="437507" y="8582"/>
                    </a:lnTo>
                    <a:lnTo>
                      <a:pt x="391583" y="19028"/>
                    </a:lnTo>
                    <a:lnTo>
                      <a:pt x="347258" y="33327"/>
                    </a:lnTo>
                    <a:lnTo>
                      <a:pt x="304721" y="51289"/>
                    </a:lnTo>
                    <a:lnTo>
                      <a:pt x="264159" y="72728"/>
                    </a:lnTo>
                    <a:lnTo>
                      <a:pt x="225762" y="97455"/>
                    </a:lnTo>
                    <a:lnTo>
                      <a:pt x="189716" y="125281"/>
                    </a:lnTo>
                    <a:lnTo>
                      <a:pt x="156209" y="156019"/>
                    </a:lnTo>
                    <a:lnTo>
                      <a:pt x="125432" y="189480"/>
                    </a:lnTo>
                    <a:lnTo>
                      <a:pt x="97570" y="225477"/>
                    </a:lnTo>
                    <a:lnTo>
                      <a:pt x="72813" y="263821"/>
                    </a:lnTo>
                    <a:lnTo>
                      <a:pt x="51348" y="304324"/>
                    </a:lnTo>
                    <a:lnTo>
                      <a:pt x="33364" y="346797"/>
                    </a:lnTo>
                    <a:lnTo>
                      <a:pt x="19050" y="391054"/>
                    </a:lnTo>
                    <a:lnTo>
                      <a:pt x="8592" y="436905"/>
                    </a:lnTo>
                    <a:lnTo>
                      <a:pt x="2179" y="484162"/>
                    </a:lnTo>
                    <a:lnTo>
                      <a:pt x="0" y="532638"/>
                    </a:lnTo>
                    <a:lnTo>
                      <a:pt x="2179" y="581113"/>
                    </a:lnTo>
                    <a:lnTo>
                      <a:pt x="8592" y="628370"/>
                    </a:lnTo>
                    <a:lnTo>
                      <a:pt x="19050" y="674221"/>
                    </a:lnTo>
                    <a:lnTo>
                      <a:pt x="33364" y="718478"/>
                    </a:lnTo>
                    <a:lnTo>
                      <a:pt x="51348" y="760951"/>
                    </a:lnTo>
                    <a:lnTo>
                      <a:pt x="72813" y="801454"/>
                    </a:lnTo>
                    <a:lnTo>
                      <a:pt x="97570" y="839798"/>
                    </a:lnTo>
                    <a:lnTo>
                      <a:pt x="125432" y="875795"/>
                    </a:lnTo>
                    <a:lnTo>
                      <a:pt x="156210" y="909256"/>
                    </a:lnTo>
                    <a:lnTo>
                      <a:pt x="189716" y="939994"/>
                    </a:lnTo>
                    <a:lnTo>
                      <a:pt x="225762" y="967820"/>
                    </a:lnTo>
                    <a:lnTo>
                      <a:pt x="264160" y="992547"/>
                    </a:lnTo>
                    <a:lnTo>
                      <a:pt x="304721" y="1013986"/>
                    </a:lnTo>
                    <a:lnTo>
                      <a:pt x="347258" y="1031948"/>
                    </a:lnTo>
                    <a:lnTo>
                      <a:pt x="391583" y="1046247"/>
                    </a:lnTo>
                    <a:lnTo>
                      <a:pt x="437507" y="1056693"/>
                    </a:lnTo>
                    <a:lnTo>
                      <a:pt x="484842" y="1063098"/>
                    </a:lnTo>
                    <a:lnTo>
                      <a:pt x="533400" y="1065276"/>
                    </a:lnTo>
                    <a:lnTo>
                      <a:pt x="581957" y="1063098"/>
                    </a:lnTo>
                    <a:lnTo>
                      <a:pt x="629292" y="1056693"/>
                    </a:lnTo>
                    <a:lnTo>
                      <a:pt x="675216" y="1046247"/>
                    </a:lnTo>
                    <a:lnTo>
                      <a:pt x="719541" y="1031948"/>
                    </a:lnTo>
                    <a:lnTo>
                      <a:pt x="762078" y="1013986"/>
                    </a:lnTo>
                    <a:lnTo>
                      <a:pt x="802640" y="992547"/>
                    </a:lnTo>
                    <a:lnTo>
                      <a:pt x="841037" y="967820"/>
                    </a:lnTo>
                    <a:lnTo>
                      <a:pt x="877083" y="939994"/>
                    </a:lnTo>
                    <a:lnTo>
                      <a:pt x="910590" y="909256"/>
                    </a:lnTo>
                    <a:lnTo>
                      <a:pt x="941367" y="875795"/>
                    </a:lnTo>
                    <a:lnTo>
                      <a:pt x="969229" y="839798"/>
                    </a:lnTo>
                    <a:lnTo>
                      <a:pt x="993986" y="801454"/>
                    </a:lnTo>
                    <a:lnTo>
                      <a:pt x="1015451" y="760951"/>
                    </a:lnTo>
                    <a:lnTo>
                      <a:pt x="1033435" y="718478"/>
                    </a:lnTo>
                    <a:lnTo>
                      <a:pt x="1047750" y="674221"/>
                    </a:lnTo>
                    <a:lnTo>
                      <a:pt x="1058207" y="628370"/>
                    </a:lnTo>
                    <a:lnTo>
                      <a:pt x="1064620" y="581113"/>
                    </a:lnTo>
                    <a:lnTo>
                      <a:pt x="1066800" y="532638"/>
                    </a:lnTo>
                    <a:lnTo>
                      <a:pt x="1064620" y="484162"/>
                    </a:lnTo>
                    <a:lnTo>
                      <a:pt x="1058207" y="436905"/>
                    </a:lnTo>
                    <a:lnTo>
                      <a:pt x="1047749" y="391054"/>
                    </a:lnTo>
                    <a:lnTo>
                      <a:pt x="1033435" y="346797"/>
                    </a:lnTo>
                    <a:lnTo>
                      <a:pt x="1015451" y="304324"/>
                    </a:lnTo>
                    <a:lnTo>
                      <a:pt x="993986" y="263821"/>
                    </a:lnTo>
                    <a:lnTo>
                      <a:pt x="969229" y="225477"/>
                    </a:lnTo>
                    <a:lnTo>
                      <a:pt x="941367" y="189480"/>
                    </a:lnTo>
                    <a:lnTo>
                      <a:pt x="910590" y="156019"/>
                    </a:lnTo>
                    <a:lnTo>
                      <a:pt x="877083" y="125281"/>
                    </a:lnTo>
                    <a:lnTo>
                      <a:pt x="841037" y="97455"/>
                    </a:lnTo>
                    <a:lnTo>
                      <a:pt x="802640" y="72728"/>
                    </a:lnTo>
                    <a:lnTo>
                      <a:pt x="762078" y="51289"/>
                    </a:lnTo>
                    <a:lnTo>
                      <a:pt x="719541" y="33327"/>
                    </a:lnTo>
                    <a:lnTo>
                      <a:pt x="675216" y="19028"/>
                    </a:lnTo>
                    <a:lnTo>
                      <a:pt x="629292" y="8582"/>
                    </a:lnTo>
                    <a:lnTo>
                      <a:pt x="581957" y="2177"/>
                    </a:lnTo>
                    <a:lnTo>
                      <a:pt x="533400" y="0"/>
                    </a:lnTo>
                    <a:close/>
                  </a:path>
                </a:pathLst>
              </a:custGeom>
              <a:solidFill>
                <a:srgbClr val="FFFFFF"/>
              </a:solidFill>
            </p:spPr>
            <p:txBody>
              <a:bodyPr wrap="square" lIns="0" tIns="0" rIns="0" bIns="0" rtlCol="0"/>
              <a:lstStyle/>
              <a:p>
                <a:endParaRPr sz="2400" dirty="0"/>
              </a:p>
            </p:txBody>
          </p:sp>
          <p:sp>
            <p:nvSpPr>
              <p:cNvPr id="96" name="object 10">
                <a:extLst>
                  <a:ext uri="{FF2B5EF4-FFF2-40B4-BE49-F238E27FC236}">
                    <a16:creationId xmlns:a16="http://schemas.microsoft.com/office/drawing/2014/main" id="{78126326-6104-63BD-80A7-A48B2358B20D}"/>
                  </a:ext>
                </a:extLst>
              </p:cNvPr>
              <p:cNvSpPr/>
              <p:nvPr/>
            </p:nvSpPr>
            <p:spPr>
              <a:xfrm>
                <a:off x="1126997" y="2434050"/>
                <a:ext cx="1066800" cy="1065530"/>
              </a:xfrm>
              <a:custGeom>
                <a:avLst/>
                <a:gdLst/>
                <a:ahLst/>
                <a:cxnLst/>
                <a:rect l="l" t="t" r="r" b="b"/>
                <a:pathLst>
                  <a:path w="1066800" h="1065530">
                    <a:moveTo>
                      <a:pt x="0" y="532638"/>
                    </a:moveTo>
                    <a:lnTo>
                      <a:pt x="2179" y="484162"/>
                    </a:lnTo>
                    <a:lnTo>
                      <a:pt x="8592" y="436905"/>
                    </a:lnTo>
                    <a:lnTo>
                      <a:pt x="19050" y="391054"/>
                    </a:lnTo>
                    <a:lnTo>
                      <a:pt x="33364" y="346797"/>
                    </a:lnTo>
                    <a:lnTo>
                      <a:pt x="51348" y="304324"/>
                    </a:lnTo>
                    <a:lnTo>
                      <a:pt x="72813" y="263821"/>
                    </a:lnTo>
                    <a:lnTo>
                      <a:pt x="97570" y="225477"/>
                    </a:lnTo>
                    <a:lnTo>
                      <a:pt x="125432" y="189480"/>
                    </a:lnTo>
                    <a:lnTo>
                      <a:pt x="156209" y="156019"/>
                    </a:lnTo>
                    <a:lnTo>
                      <a:pt x="189716" y="125281"/>
                    </a:lnTo>
                    <a:lnTo>
                      <a:pt x="225762" y="97455"/>
                    </a:lnTo>
                    <a:lnTo>
                      <a:pt x="264159" y="72728"/>
                    </a:lnTo>
                    <a:lnTo>
                      <a:pt x="304721" y="51289"/>
                    </a:lnTo>
                    <a:lnTo>
                      <a:pt x="347258" y="33327"/>
                    </a:lnTo>
                    <a:lnTo>
                      <a:pt x="391583" y="19028"/>
                    </a:lnTo>
                    <a:lnTo>
                      <a:pt x="437507" y="8582"/>
                    </a:lnTo>
                    <a:lnTo>
                      <a:pt x="484842" y="2177"/>
                    </a:lnTo>
                    <a:lnTo>
                      <a:pt x="533400" y="0"/>
                    </a:lnTo>
                    <a:lnTo>
                      <a:pt x="581957" y="2177"/>
                    </a:lnTo>
                    <a:lnTo>
                      <a:pt x="629292" y="8582"/>
                    </a:lnTo>
                    <a:lnTo>
                      <a:pt x="675216" y="19028"/>
                    </a:lnTo>
                    <a:lnTo>
                      <a:pt x="719541" y="33327"/>
                    </a:lnTo>
                    <a:lnTo>
                      <a:pt x="762078" y="51289"/>
                    </a:lnTo>
                    <a:lnTo>
                      <a:pt x="802640" y="72728"/>
                    </a:lnTo>
                    <a:lnTo>
                      <a:pt x="841037" y="97455"/>
                    </a:lnTo>
                    <a:lnTo>
                      <a:pt x="877083" y="125281"/>
                    </a:lnTo>
                    <a:lnTo>
                      <a:pt x="910590" y="156019"/>
                    </a:lnTo>
                    <a:lnTo>
                      <a:pt x="941367" y="189480"/>
                    </a:lnTo>
                    <a:lnTo>
                      <a:pt x="969229" y="225477"/>
                    </a:lnTo>
                    <a:lnTo>
                      <a:pt x="993986" y="263821"/>
                    </a:lnTo>
                    <a:lnTo>
                      <a:pt x="1015451" y="304324"/>
                    </a:lnTo>
                    <a:lnTo>
                      <a:pt x="1033435" y="346797"/>
                    </a:lnTo>
                    <a:lnTo>
                      <a:pt x="1047749" y="391054"/>
                    </a:lnTo>
                    <a:lnTo>
                      <a:pt x="1058207" y="436905"/>
                    </a:lnTo>
                    <a:lnTo>
                      <a:pt x="1064620" y="484162"/>
                    </a:lnTo>
                    <a:lnTo>
                      <a:pt x="1066800" y="532638"/>
                    </a:lnTo>
                    <a:lnTo>
                      <a:pt x="1064620" y="581113"/>
                    </a:lnTo>
                    <a:lnTo>
                      <a:pt x="1058207" y="628370"/>
                    </a:lnTo>
                    <a:lnTo>
                      <a:pt x="1047750" y="674221"/>
                    </a:lnTo>
                    <a:lnTo>
                      <a:pt x="1033435" y="718478"/>
                    </a:lnTo>
                    <a:lnTo>
                      <a:pt x="1015451" y="760951"/>
                    </a:lnTo>
                    <a:lnTo>
                      <a:pt x="993986" y="801454"/>
                    </a:lnTo>
                    <a:lnTo>
                      <a:pt x="969229" y="839798"/>
                    </a:lnTo>
                    <a:lnTo>
                      <a:pt x="941367" y="875795"/>
                    </a:lnTo>
                    <a:lnTo>
                      <a:pt x="910590" y="909256"/>
                    </a:lnTo>
                    <a:lnTo>
                      <a:pt x="877083" y="939994"/>
                    </a:lnTo>
                    <a:lnTo>
                      <a:pt x="841037" y="967820"/>
                    </a:lnTo>
                    <a:lnTo>
                      <a:pt x="802640" y="992547"/>
                    </a:lnTo>
                    <a:lnTo>
                      <a:pt x="762078" y="1013986"/>
                    </a:lnTo>
                    <a:lnTo>
                      <a:pt x="719541" y="1031948"/>
                    </a:lnTo>
                    <a:lnTo>
                      <a:pt x="675216" y="1046247"/>
                    </a:lnTo>
                    <a:lnTo>
                      <a:pt x="629292" y="1056693"/>
                    </a:lnTo>
                    <a:lnTo>
                      <a:pt x="581957" y="1063098"/>
                    </a:lnTo>
                    <a:lnTo>
                      <a:pt x="533400" y="1065276"/>
                    </a:lnTo>
                    <a:lnTo>
                      <a:pt x="484842" y="1063098"/>
                    </a:lnTo>
                    <a:lnTo>
                      <a:pt x="437507" y="1056693"/>
                    </a:lnTo>
                    <a:lnTo>
                      <a:pt x="391583" y="1046247"/>
                    </a:lnTo>
                    <a:lnTo>
                      <a:pt x="347258" y="1031948"/>
                    </a:lnTo>
                    <a:lnTo>
                      <a:pt x="304721" y="1013986"/>
                    </a:lnTo>
                    <a:lnTo>
                      <a:pt x="264160" y="992547"/>
                    </a:lnTo>
                    <a:lnTo>
                      <a:pt x="225762" y="967820"/>
                    </a:lnTo>
                    <a:lnTo>
                      <a:pt x="189716" y="939994"/>
                    </a:lnTo>
                    <a:lnTo>
                      <a:pt x="156210" y="909256"/>
                    </a:lnTo>
                    <a:lnTo>
                      <a:pt x="125432" y="875795"/>
                    </a:lnTo>
                    <a:lnTo>
                      <a:pt x="97570" y="839798"/>
                    </a:lnTo>
                    <a:lnTo>
                      <a:pt x="72813" y="801454"/>
                    </a:lnTo>
                    <a:lnTo>
                      <a:pt x="51348" y="760951"/>
                    </a:lnTo>
                    <a:lnTo>
                      <a:pt x="33364" y="718478"/>
                    </a:lnTo>
                    <a:lnTo>
                      <a:pt x="19050" y="674221"/>
                    </a:lnTo>
                    <a:lnTo>
                      <a:pt x="8592" y="628370"/>
                    </a:lnTo>
                    <a:lnTo>
                      <a:pt x="2179" y="581113"/>
                    </a:lnTo>
                    <a:lnTo>
                      <a:pt x="0" y="532638"/>
                    </a:lnTo>
                    <a:close/>
                  </a:path>
                </a:pathLst>
              </a:custGeom>
              <a:ln w="25400">
                <a:solidFill>
                  <a:srgbClr val="FFFFFF"/>
                </a:solidFill>
              </a:ln>
            </p:spPr>
            <p:txBody>
              <a:bodyPr wrap="square" lIns="0" tIns="0" rIns="0" bIns="0" rtlCol="0"/>
              <a:lstStyle/>
              <a:p>
                <a:endParaRPr sz="2400"/>
              </a:p>
            </p:txBody>
          </p:sp>
        </p:grpSp>
        <p:grpSp>
          <p:nvGrpSpPr>
            <p:cNvPr id="118" name="Group 117">
              <a:extLst>
                <a:ext uri="{FF2B5EF4-FFF2-40B4-BE49-F238E27FC236}">
                  <a16:creationId xmlns:a16="http://schemas.microsoft.com/office/drawing/2014/main" id="{57E1A61F-FCCB-6ED5-B155-578ECF0B9A03}"/>
                </a:ext>
              </a:extLst>
            </p:cNvPr>
            <p:cNvGrpSpPr/>
            <p:nvPr/>
          </p:nvGrpSpPr>
          <p:grpSpPr>
            <a:xfrm>
              <a:off x="2690622" y="2242026"/>
              <a:ext cx="1945005" cy="3200400"/>
              <a:chOff x="2690622" y="2242026"/>
              <a:chExt cx="1945005" cy="3200400"/>
            </a:xfrm>
          </p:grpSpPr>
          <p:sp>
            <p:nvSpPr>
              <p:cNvPr id="97" name="object 11">
                <a:extLst>
                  <a:ext uri="{FF2B5EF4-FFF2-40B4-BE49-F238E27FC236}">
                    <a16:creationId xmlns:a16="http://schemas.microsoft.com/office/drawing/2014/main" id="{1C1D02D0-2B1E-3C19-BBE8-E210FD11C09B}"/>
                  </a:ext>
                </a:extLst>
              </p:cNvPr>
              <p:cNvSpPr/>
              <p:nvPr/>
            </p:nvSpPr>
            <p:spPr>
              <a:xfrm>
                <a:off x="2690622" y="2242026"/>
                <a:ext cx="1945005" cy="3200400"/>
              </a:xfrm>
              <a:custGeom>
                <a:avLst/>
                <a:gdLst/>
                <a:ahLst/>
                <a:cxnLst/>
                <a:rect l="l" t="t" r="r" b="b"/>
                <a:pathLst>
                  <a:path w="1945004" h="3200400">
                    <a:moveTo>
                      <a:pt x="1750187" y="0"/>
                    </a:moveTo>
                    <a:lnTo>
                      <a:pt x="194436" y="0"/>
                    </a:lnTo>
                    <a:lnTo>
                      <a:pt x="149876" y="5138"/>
                    </a:lnTo>
                    <a:lnTo>
                      <a:pt x="108958" y="19774"/>
                    </a:lnTo>
                    <a:lnTo>
                      <a:pt x="72855" y="42737"/>
                    </a:lnTo>
                    <a:lnTo>
                      <a:pt x="42737" y="72855"/>
                    </a:lnTo>
                    <a:lnTo>
                      <a:pt x="19774" y="108958"/>
                    </a:lnTo>
                    <a:lnTo>
                      <a:pt x="5138" y="149876"/>
                    </a:lnTo>
                    <a:lnTo>
                      <a:pt x="0" y="194437"/>
                    </a:lnTo>
                    <a:lnTo>
                      <a:pt x="0" y="3005937"/>
                    </a:lnTo>
                    <a:lnTo>
                      <a:pt x="5138" y="3050527"/>
                    </a:lnTo>
                    <a:lnTo>
                      <a:pt x="19774" y="3091459"/>
                    </a:lnTo>
                    <a:lnTo>
                      <a:pt x="42737" y="3127566"/>
                    </a:lnTo>
                    <a:lnTo>
                      <a:pt x="72855" y="3157680"/>
                    </a:lnTo>
                    <a:lnTo>
                      <a:pt x="108958" y="3180635"/>
                    </a:lnTo>
                    <a:lnTo>
                      <a:pt x="149876" y="3195264"/>
                    </a:lnTo>
                    <a:lnTo>
                      <a:pt x="194436" y="3200400"/>
                    </a:lnTo>
                    <a:lnTo>
                      <a:pt x="1750187" y="3200400"/>
                    </a:lnTo>
                    <a:lnTo>
                      <a:pt x="1794747" y="3195264"/>
                    </a:lnTo>
                    <a:lnTo>
                      <a:pt x="1835665" y="3180635"/>
                    </a:lnTo>
                    <a:lnTo>
                      <a:pt x="1871768" y="3157680"/>
                    </a:lnTo>
                    <a:lnTo>
                      <a:pt x="1901886" y="3127566"/>
                    </a:lnTo>
                    <a:lnTo>
                      <a:pt x="1924849" y="3091459"/>
                    </a:lnTo>
                    <a:lnTo>
                      <a:pt x="1939485" y="3050527"/>
                    </a:lnTo>
                    <a:lnTo>
                      <a:pt x="1944624" y="3005937"/>
                    </a:lnTo>
                    <a:lnTo>
                      <a:pt x="1944624" y="194437"/>
                    </a:lnTo>
                    <a:lnTo>
                      <a:pt x="1939485" y="149876"/>
                    </a:lnTo>
                    <a:lnTo>
                      <a:pt x="1924849" y="108958"/>
                    </a:lnTo>
                    <a:lnTo>
                      <a:pt x="1901886" y="72855"/>
                    </a:lnTo>
                    <a:lnTo>
                      <a:pt x="1871768" y="42737"/>
                    </a:lnTo>
                    <a:lnTo>
                      <a:pt x="1835665" y="19774"/>
                    </a:lnTo>
                    <a:lnTo>
                      <a:pt x="1794747" y="5138"/>
                    </a:lnTo>
                    <a:lnTo>
                      <a:pt x="1750187" y="0"/>
                    </a:lnTo>
                    <a:close/>
                  </a:path>
                </a:pathLst>
              </a:custGeom>
              <a:solidFill>
                <a:srgbClr val="6C6362"/>
              </a:solidFill>
            </p:spPr>
            <p:txBody>
              <a:bodyPr wrap="square" lIns="0" tIns="0" rIns="0" bIns="0" rtlCol="0"/>
              <a:lstStyle/>
              <a:p>
                <a:endParaRPr sz="2400"/>
              </a:p>
            </p:txBody>
          </p:sp>
          <p:sp>
            <p:nvSpPr>
              <p:cNvPr id="98" name="object 12">
                <a:extLst>
                  <a:ext uri="{FF2B5EF4-FFF2-40B4-BE49-F238E27FC236}">
                    <a16:creationId xmlns:a16="http://schemas.microsoft.com/office/drawing/2014/main" id="{22F4203A-0F61-4696-C504-E5F215AA9B3F}"/>
                  </a:ext>
                </a:extLst>
              </p:cNvPr>
              <p:cNvSpPr/>
              <p:nvPr/>
            </p:nvSpPr>
            <p:spPr>
              <a:xfrm>
                <a:off x="2690622" y="2242026"/>
                <a:ext cx="1945005" cy="3200400"/>
              </a:xfrm>
              <a:custGeom>
                <a:avLst/>
                <a:gdLst/>
                <a:ahLst/>
                <a:cxnLst/>
                <a:rect l="l" t="t" r="r" b="b"/>
                <a:pathLst>
                  <a:path w="1945004" h="3200400">
                    <a:moveTo>
                      <a:pt x="0" y="194437"/>
                    </a:moveTo>
                    <a:lnTo>
                      <a:pt x="5138" y="149876"/>
                    </a:lnTo>
                    <a:lnTo>
                      <a:pt x="19774" y="108958"/>
                    </a:lnTo>
                    <a:lnTo>
                      <a:pt x="42737" y="72855"/>
                    </a:lnTo>
                    <a:lnTo>
                      <a:pt x="72855" y="42737"/>
                    </a:lnTo>
                    <a:lnTo>
                      <a:pt x="108958" y="19774"/>
                    </a:lnTo>
                    <a:lnTo>
                      <a:pt x="149876" y="5138"/>
                    </a:lnTo>
                    <a:lnTo>
                      <a:pt x="194436" y="0"/>
                    </a:lnTo>
                    <a:lnTo>
                      <a:pt x="1750187" y="0"/>
                    </a:lnTo>
                    <a:lnTo>
                      <a:pt x="1794747" y="5138"/>
                    </a:lnTo>
                    <a:lnTo>
                      <a:pt x="1835665" y="19774"/>
                    </a:lnTo>
                    <a:lnTo>
                      <a:pt x="1871768" y="42737"/>
                    </a:lnTo>
                    <a:lnTo>
                      <a:pt x="1901886" y="72855"/>
                    </a:lnTo>
                    <a:lnTo>
                      <a:pt x="1924849" y="108958"/>
                    </a:lnTo>
                    <a:lnTo>
                      <a:pt x="1939485" y="149876"/>
                    </a:lnTo>
                    <a:lnTo>
                      <a:pt x="1944624" y="194437"/>
                    </a:lnTo>
                    <a:lnTo>
                      <a:pt x="1944624" y="3005937"/>
                    </a:lnTo>
                    <a:lnTo>
                      <a:pt x="1939485" y="3050527"/>
                    </a:lnTo>
                    <a:lnTo>
                      <a:pt x="1924849" y="3091459"/>
                    </a:lnTo>
                    <a:lnTo>
                      <a:pt x="1901886" y="3127566"/>
                    </a:lnTo>
                    <a:lnTo>
                      <a:pt x="1871768" y="3157680"/>
                    </a:lnTo>
                    <a:lnTo>
                      <a:pt x="1835665" y="3180635"/>
                    </a:lnTo>
                    <a:lnTo>
                      <a:pt x="1794747" y="3195264"/>
                    </a:lnTo>
                    <a:lnTo>
                      <a:pt x="1750187" y="3200400"/>
                    </a:lnTo>
                    <a:lnTo>
                      <a:pt x="194436" y="3200400"/>
                    </a:lnTo>
                    <a:lnTo>
                      <a:pt x="149876" y="3195264"/>
                    </a:lnTo>
                    <a:lnTo>
                      <a:pt x="108958" y="3180635"/>
                    </a:lnTo>
                    <a:lnTo>
                      <a:pt x="72855" y="3157680"/>
                    </a:lnTo>
                    <a:lnTo>
                      <a:pt x="42737" y="3127566"/>
                    </a:lnTo>
                    <a:lnTo>
                      <a:pt x="19774" y="3091459"/>
                    </a:lnTo>
                    <a:lnTo>
                      <a:pt x="5138" y="3050527"/>
                    </a:lnTo>
                    <a:lnTo>
                      <a:pt x="0" y="3005937"/>
                    </a:lnTo>
                    <a:lnTo>
                      <a:pt x="0" y="194437"/>
                    </a:lnTo>
                    <a:close/>
                  </a:path>
                </a:pathLst>
              </a:custGeom>
              <a:ln w="25400">
                <a:solidFill>
                  <a:srgbClr val="FFFFFF"/>
                </a:solidFill>
              </a:ln>
            </p:spPr>
            <p:txBody>
              <a:bodyPr wrap="square" lIns="0" tIns="0" rIns="0" bIns="0" rtlCol="0"/>
              <a:lstStyle/>
              <a:p>
                <a:endParaRPr sz="2400"/>
              </a:p>
            </p:txBody>
          </p:sp>
          <p:sp>
            <p:nvSpPr>
              <p:cNvPr id="99" name="object 13">
                <a:extLst>
                  <a:ext uri="{FF2B5EF4-FFF2-40B4-BE49-F238E27FC236}">
                    <a16:creationId xmlns:a16="http://schemas.microsoft.com/office/drawing/2014/main" id="{DBAA7324-CA79-57FA-19D7-8301FC39B7C8}"/>
                  </a:ext>
                </a:extLst>
              </p:cNvPr>
              <p:cNvSpPr txBox="1"/>
              <p:nvPr/>
            </p:nvSpPr>
            <p:spPr>
              <a:xfrm>
                <a:off x="2819907" y="3523429"/>
                <a:ext cx="1719580" cy="1853779"/>
              </a:xfrm>
              <a:prstGeom prst="rect">
                <a:avLst/>
              </a:prstGeom>
            </p:spPr>
            <p:txBody>
              <a:bodyPr vert="horz" wrap="square" lIns="0" tIns="34290" rIns="0" bIns="0" rtlCol="0">
                <a:spAutoFit/>
              </a:bodyPr>
              <a:lstStyle/>
              <a:p>
                <a:pPr marL="12065" marR="5080" indent="-635" algn="ctr">
                  <a:spcBef>
                    <a:spcPts val="270"/>
                  </a:spcBef>
                </a:pPr>
                <a:r>
                  <a:rPr dirty="0">
                    <a:solidFill>
                      <a:srgbClr val="FFFFFF"/>
                    </a:solidFill>
                    <a:latin typeface="Calibri" panose="020F0502020204030204" pitchFamily="34" charset="0"/>
                    <a:cs typeface="Calibri" panose="020F0502020204030204" pitchFamily="34" charset="0"/>
                  </a:rPr>
                  <a:t>Allows</a:t>
                </a:r>
                <a:r>
                  <a:rPr spc="-15" dirty="0">
                    <a:solidFill>
                      <a:srgbClr val="FFFFFF"/>
                    </a:solidFill>
                    <a:latin typeface="Calibri" panose="020F0502020204030204" pitchFamily="34" charset="0"/>
                    <a:cs typeface="Calibri" panose="020F0502020204030204" pitchFamily="34" charset="0"/>
                  </a:rPr>
                  <a:t> </a:t>
                </a:r>
                <a:r>
                  <a:rPr dirty="0">
                    <a:solidFill>
                      <a:srgbClr val="FFFFFF"/>
                    </a:solidFill>
                    <a:latin typeface="Calibri" panose="020F0502020204030204" pitchFamily="34" charset="0"/>
                    <a:cs typeface="Calibri" panose="020F0502020204030204" pitchFamily="34" charset="0"/>
                  </a:rPr>
                  <a:t>the</a:t>
                </a:r>
                <a:r>
                  <a:rPr spc="-5" dirty="0">
                    <a:solidFill>
                      <a:srgbClr val="FFFFFF"/>
                    </a:solidFill>
                    <a:latin typeface="Calibri" panose="020F0502020204030204" pitchFamily="34" charset="0"/>
                    <a:cs typeface="Calibri" panose="020F0502020204030204" pitchFamily="34" charset="0"/>
                  </a:rPr>
                  <a:t> </a:t>
                </a:r>
                <a:r>
                  <a:rPr dirty="0">
                    <a:solidFill>
                      <a:srgbClr val="FFFFFF"/>
                    </a:solidFill>
                    <a:latin typeface="Calibri" panose="020F0502020204030204" pitchFamily="34" charset="0"/>
                    <a:cs typeface="Calibri" panose="020F0502020204030204" pitchFamily="34" charset="0"/>
                  </a:rPr>
                  <a:t>bulk</a:t>
                </a:r>
                <a:r>
                  <a:rPr spc="-5" dirty="0">
                    <a:solidFill>
                      <a:srgbClr val="FFFFFF"/>
                    </a:solidFill>
                    <a:latin typeface="Calibri" panose="020F0502020204030204" pitchFamily="34" charset="0"/>
                    <a:cs typeface="Calibri" panose="020F0502020204030204" pitchFamily="34" charset="0"/>
                  </a:rPr>
                  <a:t> </a:t>
                </a:r>
                <a:r>
                  <a:rPr dirty="0">
                    <a:solidFill>
                      <a:srgbClr val="FFFFFF"/>
                    </a:solidFill>
                    <a:latin typeface="Calibri" panose="020F0502020204030204" pitchFamily="34" charset="0"/>
                    <a:cs typeface="Calibri" panose="020F0502020204030204" pitchFamily="34" charset="0"/>
                  </a:rPr>
                  <a:t>consumers</a:t>
                </a:r>
                <a:r>
                  <a:rPr spc="-10" dirty="0">
                    <a:solidFill>
                      <a:srgbClr val="FFFFFF"/>
                    </a:solidFill>
                    <a:latin typeface="Calibri" panose="020F0502020204030204" pitchFamily="34" charset="0"/>
                    <a:cs typeface="Calibri" panose="020F0502020204030204" pitchFamily="34" charset="0"/>
                  </a:rPr>
                  <a:t> </a:t>
                </a:r>
                <a:r>
                  <a:rPr spc="-35" dirty="0">
                    <a:solidFill>
                      <a:srgbClr val="FFFFFF"/>
                    </a:solidFill>
                    <a:latin typeface="Calibri" panose="020F0502020204030204" pitchFamily="34" charset="0"/>
                    <a:cs typeface="Calibri" panose="020F0502020204030204" pitchFamily="34" charset="0"/>
                  </a:rPr>
                  <a:t>to </a:t>
                </a:r>
                <a:r>
                  <a:rPr dirty="0">
                    <a:solidFill>
                      <a:srgbClr val="FFFFFF"/>
                    </a:solidFill>
                    <a:latin typeface="Calibri" panose="020F0502020204030204" pitchFamily="34" charset="0"/>
                    <a:cs typeface="Calibri" panose="020F0502020204030204" pitchFamily="34" charset="0"/>
                  </a:rPr>
                  <a:t>buy</a:t>
                </a:r>
                <a:r>
                  <a:rPr spc="-5" dirty="0">
                    <a:solidFill>
                      <a:srgbClr val="FFFFFF"/>
                    </a:solidFill>
                    <a:latin typeface="Calibri" panose="020F0502020204030204" pitchFamily="34" charset="0"/>
                    <a:cs typeface="Calibri" panose="020F0502020204030204" pitchFamily="34" charset="0"/>
                  </a:rPr>
                  <a:t> </a:t>
                </a:r>
                <a:r>
                  <a:rPr dirty="0">
                    <a:solidFill>
                      <a:srgbClr val="FFFFFF"/>
                    </a:solidFill>
                    <a:latin typeface="Calibri" panose="020F0502020204030204" pitchFamily="34" charset="0"/>
                    <a:cs typeface="Calibri" panose="020F0502020204030204" pitchFamily="34" charset="0"/>
                  </a:rPr>
                  <a:t>from</a:t>
                </a:r>
                <a:r>
                  <a:rPr spc="-5" dirty="0">
                    <a:solidFill>
                      <a:srgbClr val="FFFFFF"/>
                    </a:solidFill>
                    <a:latin typeface="Calibri" panose="020F0502020204030204" pitchFamily="34" charset="0"/>
                    <a:cs typeface="Calibri" panose="020F0502020204030204" pitchFamily="34" charset="0"/>
                  </a:rPr>
                  <a:t> </a:t>
                </a:r>
                <a:r>
                  <a:rPr dirty="0">
                    <a:solidFill>
                      <a:srgbClr val="FFFFFF"/>
                    </a:solidFill>
                    <a:latin typeface="Calibri" panose="020F0502020204030204" pitchFamily="34" charset="0"/>
                    <a:cs typeface="Calibri" panose="020F0502020204030204" pitchFamily="34" charset="0"/>
                  </a:rPr>
                  <a:t>alternative</a:t>
                </a:r>
                <a:r>
                  <a:rPr spc="-20" dirty="0">
                    <a:solidFill>
                      <a:srgbClr val="FFFFFF"/>
                    </a:solidFill>
                    <a:latin typeface="Calibri" panose="020F0502020204030204" pitchFamily="34" charset="0"/>
                    <a:cs typeface="Calibri" panose="020F0502020204030204" pitchFamily="34" charset="0"/>
                  </a:rPr>
                  <a:t> </a:t>
                </a:r>
                <a:r>
                  <a:rPr dirty="0">
                    <a:solidFill>
                      <a:srgbClr val="FFFFFF"/>
                    </a:solidFill>
                    <a:latin typeface="Calibri" panose="020F0502020204030204" pitchFamily="34" charset="0"/>
                    <a:cs typeface="Calibri" panose="020F0502020204030204" pitchFamily="34" charset="0"/>
                  </a:rPr>
                  <a:t>sources</a:t>
                </a:r>
                <a:r>
                  <a:rPr spc="-35" dirty="0">
                    <a:solidFill>
                      <a:srgbClr val="FFFFFF"/>
                    </a:solidFill>
                    <a:latin typeface="Calibri" panose="020F0502020204030204" pitchFamily="34" charset="0"/>
                    <a:cs typeface="Calibri" panose="020F0502020204030204" pitchFamily="34" charset="0"/>
                  </a:rPr>
                  <a:t> </a:t>
                </a:r>
                <a:r>
                  <a:rPr spc="-25" dirty="0">
                    <a:solidFill>
                      <a:srgbClr val="FFFFFF"/>
                    </a:solidFill>
                    <a:latin typeface="Calibri" panose="020F0502020204030204" pitchFamily="34" charset="0"/>
                    <a:cs typeface="Calibri" panose="020F0502020204030204" pitchFamily="34" charset="0"/>
                  </a:rPr>
                  <a:t>of </a:t>
                </a:r>
                <a:r>
                  <a:rPr dirty="0">
                    <a:solidFill>
                      <a:srgbClr val="FFFFFF"/>
                    </a:solidFill>
                    <a:latin typeface="Calibri" panose="020F0502020204030204" pitchFamily="34" charset="0"/>
                    <a:cs typeface="Calibri" panose="020F0502020204030204" pitchFamily="34" charset="0"/>
                  </a:rPr>
                  <a:t>power,</a:t>
                </a:r>
                <a:r>
                  <a:rPr spc="-20" dirty="0">
                    <a:solidFill>
                      <a:srgbClr val="FFFFFF"/>
                    </a:solidFill>
                    <a:latin typeface="Calibri" panose="020F0502020204030204" pitchFamily="34" charset="0"/>
                    <a:cs typeface="Calibri" panose="020F0502020204030204" pitchFamily="34" charset="0"/>
                  </a:rPr>
                  <a:t> </a:t>
                </a:r>
                <a:r>
                  <a:rPr dirty="0">
                    <a:solidFill>
                      <a:srgbClr val="FFFFFF"/>
                    </a:solidFill>
                    <a:latin typeface="Calibri" panose="020F0502020204030204" pitchFamily="34" charset="0"/>
                    <a:cs typeface="Calibri" panose="020F0502020204030204" pitchFamily="34" charset="0"/>
                  </a:rPr>
                  <a:t>which</a:t>
                </a:r>
                <a:r>
                  <a:rPr spc="-20" dirty="0">
                    <a:solidFill>
                      <a:srgbClr val="FFFFFF"/>
                    </a:solidFill>
                    <a:latin typeface="Calibri" panose="020F0502020204030204" pitchFamily="34" charset="0"/>
                    <a:cs typeface="Calibri" panose="020F0502020204030204" pitchFamily="34" charset="0"/>
                  </a:rPr>
                  <a:t> </a:t>
                </a:r>
                <a:r>
                  <a:rPr dirty="0">
                    <a:solidFill>
                      <a:srgbClr val="FFFFFF"/>
                    </a:solidFill>
                    <a:latin typeface="Calibri" panose="020F0502020204030204" pitchFamily="34" charset="0"/>
                    <a:cs typeface="Calibri" panose="020F0502020204030204" pitchFamily="34" charset="0"/>
                  </a:rPr>
                  <a:t>may</a:t>
                </a:r>
                <a:r>
                  <a:rPr spc="-10" dirty="0">
                    <a:solidFill>
                      <a:srgbClr val="FFFFFF"/>
                    </a:solidFill>
                    <a:latin typeface="Calibri" panose="020F0502020204030204" pitchFamily="34" charset="0"/>
                    <a:cs typeface="Calibri" panose="020F0502020204030204" pitchFamily="34" charset="0"/>
                  </a:rPr>
                  <a:t> </a:t>
                </a:r>
                <a:r>
                  <a:rPr dirty="0">
                    <a:solidFill>
                      <a:srgbClr val="FFFFFF"/>
                    </a:solidFill>
                    <a:latin typeface="Calibri" panose="020F0502020204030204" pitchFamily="34" charset="0"/>
                    <a:cs typeface="Calibri" panose="020F0502020204030204" pitchFamily="34" charset="0"/>
                  </a:rPr>
                  <a:t>be</a:t>
                </a:r>
                <a:r>
                  <a:rPr spc="-10" dirty="0">
                    <a:solidFill>
                      <a:srgbClr val="FFFFFF"/>
                    </a:solidFill>
                    <a:latin typeface="Calibri" panose="020F0502020204030204" pitchFamily="34" charset="0"/>
                    <a:cs typeface="Calibri" panose="020F0502020204030204" pitchFamily="34" charset="0"/>
                  </a:rPr>
                  <a:t> cheaper </a:t>
                </a:r>
                <a:r>
                  <a:rPr dirty="0">
                    <a:solidFill>
                      <a:srgbClr val="FFFFFF"/>
                    </a:solidFill>
                    <a:latin typeface="Calibri" panose="020F0502020204030204" pitchFamily="34" charset="0"/>
                    <a:cs typeface="Calibri" panose="020F0502020204030204" pitchFamily="34" charset="0"/>
                  </a:rPr>
                  <a:t>and/or</a:t>
                </a:r>
                <a:r>
                  <a:rPr spc="-20" dirty="0">
                    <a:solidFill>
                      <a:srgbClr val="FFFFFF"/>
                    </a:solidFill>
                    <a:latin typeface="Calibri" panose="020F0502020204030204" pitchFamily="34" charset="0"/>
                    <a:cs typeface="Calibri" panose="020F0502020204030204" pitchFamily="34" charset="0"/>
                  </a:rPr>
                  <a:t> </a:t>
                </a:r>
                <a:r>
                  <a:rPr dirty="0">
                    <a:solidFill>
                      <a:srgbClr val="FFFFFF"/>
                    </a:solidFill>
                    <a:latin typeface="Calibri" panose="020F0502020204030204" pitchFamily="34" charset="0"/>
                    <a:cs typeface="Calibri" panose="020F0502020204030204" pitchFamily="34" charset="0"/>
                  </a:rPr>
                  <a:t>greener;</a:t>
                </a:r>
                <a:r>
                  <a:rPr spc="-20" dirty="0">
                    <a:solidFill>
                      <a:srgbClr val="FFFFFF"/>
                    </a:solidFill>
                    <a:latin typeface="Calibri" panose="020F0502020204030204" pitchFamily="34" charset="0"/>
                    <a:cs typeface="Calibri" panose="020F0502020204030204" pitchFamily="34" charset="0"/>
                  </a:rPr>
                  <a:t> </a:t>
                </a:r>
                <a:r>
                  <a:rPr dirty="0">
                    <a:solidFill>
                      <a:srgbClr val="FFFFFF"/>
                    </a:solidFill>
                    <a:latin typeface="Calibri" panose="020F0502020204030204" pitchFamily="34" charset="0"/>
                    <a:cs typeface="Calibri" panose="020F0502020204030204" pitchFamily="34" charset="0"/>
                  </a:rPr>
                  <a:t>without</a:t>
                </a:r>
                <a:r>
                  <a:rPr spc="-10" dirty="0">
                    <a:solidFill>
                      <a:srgbClr val="FFFFFF"/>
                    </a:solidFill>
                    <a:latin typeface="Calibri" panose="020F0502020204030204" pitchFamily="34" charset="0"/>
                    <a:cs typeface="Calibri" panose="020F0502020204030204" pitchFamily="34" charset="0"/>
                  </a:rPr>
                  <a:t> having </a:t>
                </a:r>
                <a:r>
                  <a:rPr dirty="0">
                    <a:solidFill>
                      <a:srgbClr val="FFFFFF"/>
                    </a:solidFill>
                    <a:latin typeface="Calibri" panose="020F0502020204030204" pitchFamily="34" charset="0"/>
                    <a:cs typeface="Calibri" panose="020F0502020204030204" pitchFamily="34" charset="0"/>
                  </a:rPr>
                  <a:t>to create</a:t>
                </a:r>
                <a:r>
                  <a:rPr spc="-30" dirty="0">
                    <a:solidFill>
                      <a:srgbClr val="FFFFFF"/>
                    </a:solidFill>
                    <a:latin typeface="Calibri" panose="020F0502020204030204" pitchFamily="34" charset="0"/>
                    <a:cs typeface="Calibri" panose="020F0502020204030204" pitchFamily="34" charset="0"/>
                  </a:rPr>
                  <a:t> </a:t>
                </a:r>
                <a:r>
                  <a:rPr dirty="0">
                    <a:solidFill>
                      <a:srgbClr val="FFFFFF"/>
                    </a:solidFill>
                    <a:latin typeface="Calibri" panose="020F0502020204030204" pitchFamily="34" charset="0"/>
                    <a:cs typeface="Calibri" panose="020F0502020204030204" pitchFamily="34" charset="0"/>
                  </a:rPr>
                  <a:t>parall</a:t>
                </a:r>
                <a:r>
                  <a:rPr lang="en-US" dirty="0">
                    <a:solidFill>
                      <a:srgbClr val="FFFFFF"/>
                    </a:solidFill>
                    <a:latin typeface="Calibri" panose="020F0502020204030204" pitchFamily="34" charset="0"/>
                    <a:cs typeface="Calibri" panose="020F0502020204030204" pitchFamily="34" charset="0"/>
                  </a:rPr>
                  <a:t>el</a:t>
                </a:r>
                <a:r>
                  <a:rPr lang="en-US" spc="-20" dirty="0">
                    <a:solidFill>
                      <a:srgbClr val="FFFFFF"/>
                    </a:solidFill>
                    <a:latin typeface="Calibri" panose="020F0502020204030204" pitchFamily="34" charset="0"/>
                    <a:cs typeface="Calibri" panose="020F0502020204030204" pitchFamily="34" charset="0"/>
                  </a:rPr>
                  <a:t> </a:t>
                </a:r>
                <a:r>
                  <a:rPr lang="en-US" spc="-10" dirty="0">
                    <a:solidFill>
                      <a:srgbClr val="FFFFFF"/>
                    </a:solidFill>
                    <a:latin typeface="Calibri" panose="020F0502020204030204" pitchFamily="34" charset="0"/>
                    <a:cs typeface="Calibri" panose="020F0502020204030204" pitchFamily="34" charset="0"/>
                  </a:rPr>
                  <a:t> network</a:t>
                </a:r>
                <a:endParaRPr dirty="0">
                  <a:latin typeface="Calibri" panose="020F0502020204030204" pitchFamily="34" charset="0"/>
                  <a:cs typeface="Calibri" panose="020F0502020204030204" pitchFamily="34" charset="0"/>
                </a:endParaRPr>
              </a:p>
            </p:txBody>
          </p:sp>
          <p:sp>
            <p:nvSpPr>
              <p:cNvPr id="100" name="object 15">
                <a:extLst>
                  <a:ext uri="{FF2B5EF4-FFF2-40B4-BE49-F238E27FC236}">
                    <a16:creationId xmlns:a16="http://schemas.microsoft.com/office/drawing/2014/main" id="{377685D1-C875-0945-BEE6-D6FA3D009C1E}"/>
                  </a:ext>
                </a:extLst>
              </p:cNvPr>
              <p:cNvSpPr/>
              <p:nvPr/>
            </p:nvSpPr>
            <p:spPr>
              <a:xfrm>
                <a:off x="3129533" y="2434050"/>
                <a:ext cx="1065530" cy="1065530"/>
              </a:xfrm>
              <a:custGeom>
                <a:avLst/>
                <a:gdLst/>
                <a:ahLst/>
                <a:cxnLst/>
                <a:rect l="l" t="t" r="r" b="b"/>
                <a:pathLst>
                  <a:path w="1065529" h="1065530">
                    <a:moveTo>
                      <a:pt x="532638" y="0"/>
                    </a:moveTo>
                    <a:lnTo>
                      <a:pt x="484162" y="2177"/>
                    </a:lnTo>
                    <a:lnTo>
                      <a:pt x="436905" y="8582"/>
                    </a:lnTo>
                    <a:lnTo>
                      <a:pt x="391054" y="19028"/>
                    </a:lnTo>
                    <a:lnTo>
                      <a:pt x="346797" y="33327"/>
                    </a:lnTo>
                    <a:lnTo>
                      <a:pt x="304324" y="51289"/>
                    </a:lnTo>
                    <a:lnTo>
                      <a:pt x="263821" y="72728"/>
                    </a:lnTo>
                    <a:lnTo>
                      <a:pt x="225477" y="97455"/>
                    </a:lnTo>
                    <a:lnTo>
                      <a:pt x="189480" y="125281"/>
                    </a:lnTo>
                    <a:lnTo>
                      <a:pt x="156019" y="156019"/>
                    </a:lnTo>
                    <a:lnTo>
                      <a:pt x="125281" y="189480"/>
                    </a:lnTo>
                    <a:lnTo>
                      <a:pt x="97455" y="225477"/>
                    </a:lnTo>
                    <a:lnTo>
                      <a:pt x="72728" y="263821"/>
                    </a:lnTo>
                    <a:lnTo>
                      <a:pt x="51289" y="304324"/>
                    </a:lnTo>
                    <a:lnTo>
                      <a:pt x="33327" y="346797"/>
                    </a:lnTo>
                    <a:lnTo>
                      <a:pt x="19028" y="391054"/>
                    </a:lnTo>
                    <a:lnTo>
                      <a:pt x="8582" y="436905"/>
                    </a:lnTo>
                    <a:lnTo>
                      <a:pt x="2177" y="484162"/>
                    </a:lnTo>
                    <a:lnTo>
                      <a:pt x="0" y="532638"/>
                    </a:lnTo>
                    <a:lnTo>
                      <a:pt x="2177" y="581113"/>
                    </a:lnTo>
                    <a:lnTo>
                      <a:pt x="8582" y="628370"/>
                    </a:lnTo>
                    <a:lnTo>
                      <a:pt x="19028" y="674221"/>
                    </a:lnTo>
                    <a:lnTo>
                      <a:pt x="33327" y="718478"/>
                    </a:lnTo>
                    <a:lnTo>
                      <a:pt x="51289" y="760951"/>
                    </a:lnTo>
                    <a:lnTo>
                      <a:pt x="72728" y="801454"/>
                    </a:lnTo>
                    <a:lnTo>
                      <a:pt x="97455" y="839798"/>
                    </a:lnTo>
                    <a:lnTo>
                      <a:pt x="125281" y="875795"/>
                    </a:lnTo>
                    <a:lnTo>
                      <a:pt x="156019" y="909256"/>
                    </a:lnTo>
                    <a:lnTo>
                      <a:pt x="189480" y="939994"/>
                    </a:lnTo>
                    <a:lnTo>
                      <a:pt x="225477" y="967820"/>
                    </a:lnTo>
                    <a:lnTo>
                      <a:pt x="263821" y="992547"/>
                    </a:lnTo>
                    <a:lnTo>
                      <a:pt x="304324" y="1013986"/>
                    </a:lnTo>
                    <a:lnTo>
                      <a:pt x="346797" y="1031948"/>
                    </a:lnTo>
                    <a:lnTo>
                      <a:pt x="391054" y="1046247"/>
                    </a:lnTo>
                    <a:lnTo>
                      <a:pt x="436905" y="1056693"/>
                    </a:lnTo>
                    <a:lnTo>
                      <a:pt x="484162" y="1063098"/>
                    </a:lnTo>
                    <a:lnTo>
                      <a:pt x="532638" y="1065276"/>
                    </a:lnTo>
                    <a:lnTo>
                      <a:pt x="581113" y="1063098"/>
                    </a:lnTo>
                    <a:lnTo>
                      <a:pt x="628370" y="1056693"/>
                    </a:lnTo>
                    <a:lnTo>
                      <a:pt x="674221" y="1046247"/>
                    </a:lnTo>
                    <a:lnTo>
                      <a:pt x="718478" y="1031948"/>
                    </a:lnTo>
                    <a:lnTo>
                      <a:pt x="760951" y="1013986"/>
                    </a:lnTo>
                    <a:lnTo>
                      <a:pt x="801454" y="992547"/>
                    </a:lnTo>
                    <a:lnTo>
                      <a:pt x="839798" y="967820"/>
                    </a:lnTo>
                    <a:lnTo>
                      <a:pt x="875795" y="939994"/>
                    </a:lnTo>
                    <a:lnTo>
                      <a:pt x="909256" y="909256"/>
                    </a:lnTo>
                    <a:lnTo>
                      <a:pt x="939994" y="875795"/>
                    </a:lnTo>
                    <a:lnTo>
                      <a:pt x="967820" y="839798"/>
                    </a:lnTo>
                    <a:lnTo>
                      <a:pt x="992547" y="801454"/>
                    </a:lnTo>
                    <a:lnTo>
                      <a:pt x="1013986" y="760951"/>
                    </a:lnTo>
                    <a:lnTo>
                      <a:pt x="1031948" y="718478"/>
                    </a:lnTo>
                    <a:lnTo>
                      <a:pt x="1046247" y="674221"/>
                    </a:lnTo>
                    <a:lnTo>
                      <a:pt x="1056693" y="628370"/>
                    </a:lnTo>
                    <a:lnTo>
                      <a:pt x="1063098" y="581113"/>
                    </a:lnTo>
                    <a:lnTo>
                      <a:pt x="1065276" y="532638"/>
                    </a:lnTo>
                    <a:lnTo>
                      <a:pt x="1063098" y="484162"/>
                    </a:lnTo>
                    <a:lnTo>
                      <a:pt x="1056693" y="436905"/>
                    </a:lnTo>
                    <a:lnTo>
                      <a:pt x="1046247" y="391054"/>
                    </a:lnTo>
                    <a:lnTo>
                      <a:pt x="1031948" y="346797"/>
                    </a:lnTo>
                    <a:lnTo>
                      <a:pt x="1013986" y="304324"/>
                    </a:lnTo>
                    <a:lnTo>
                      <a:pt x="992547" y="263821"/>
                    </a:lnTo>
                    <a:lnTo>
                      <a:pt x="967820" y="225477"/>
                    </a:lnTo>
                    <a:lnTo>
                      <a:pt x="939994" y="189480"/>
                    </a:lnTo>
                    <a:lnTo>
                      <a:pt x="909256" y="156019"/>
                    </a:lnTo>
                    <a:lnTo>
                      <a:pt x="875795" y="125281"/>
                    </a:lnTo>
                    <a:lnTo>
                      <a:pt x="839798" y="97455"/>
                    </a:lnTo>
                    <a:lnTo>
                      <a:pt x="801454" y="72728"/>
                    </a:lnTo>
                    <a:lnTo>
                      <a:pt x="760951" y="51289"/>
                    </a:lnTo>
                    <a:lnTo>
                      <a:pt x="718478" y="33327"/>
                    </a:lnTo>
                    <a:lnTo>
                      <a:pt x="674221" y="19028"/>
                    </a:lnTo>
                    <a:lnTo>
                      <a:pt x="628370" y="8582"/>
                    </a:lnTo>
                    <a:lnTo>
                      <a:pt x="581113" y="2177"/>
                    </a:lnTo>
                    <a:lnTo>
                      <a:pt x="532638" y="0"/>
                    </a:lnTo>
                    <a:close/>
                  </a:path>
                </a:pathLst>
              </a:custGeom>
              <a:solidFill>
                <a:srgbClr val="FFFFFF"/>
              </a:solidFill>
            </p:spPr>
            <p:txBody>
              <a:bodyPr wrap="square" lIns="0" tIns="0" rIns="0" bIns="0" rtlCol="0"/>
              <a:lstStyle/>
              <a:p>
                <a:endParaRPr sz="2400" dirty="0"/>
              </a:p>
            </p:txBody>
          </p:sp>
          <p:sp>
            <p:nvSpPr>
              <p:cNvPr id="101" name="object 16">
                <a:extLst>
                  <a:ext uri="{FF2B5EF4-FFF2-40B4-BE49-F238E27FC236}">
                    <a16:creationId xmlns:a16="http://schemas.microsoft.com/office/drawing/2014/main" id="{7B08B6BF-6322-5F8A-CA0B-ADAAF8DA18FC}"/>
                  </a:ext>
                </a:extLst>
              </p:cNvPr>
              <p:cNvSpPr/>
              <p:nvPr/>
            </p:nvSpPr>
            <p:spPr>
              <a:xfrm>
                <a:off x="3129533" y="2434050"/>
                <a:ext cx="1065530" cy="1065530"/>
              </a:xfrm>
              <a:custGeom>
                <a:avLst/>
                <a:gdLst/>
                <a:ahLst/>
                <a:cxnLst/>
                <a:rect l="l" t="t" r="r" b="b"/>
                <a:pathLst>
                  <a:path w="1065529" h="1065530">
                    <a:moveTo>
                      <a:pt x="0" y="532638"/>
                    </a:moveTo>
                    <a:lnTo>
                      <a:pt x="2177" y="484162"/>
                    </a:lnTo>
                    <a:lnTo>
                      <a:pt x="8582" y="436905"/>
                    </a:lnTo>
                    <a:lnTo>
                      <a:pt x="19028" y="391054"/>
                    </a:lnTo>
                    <a:lnTo>
                      <a:pt x="33327" y="346797"/>
                    </a:lnTo>
                    <a:lnTo>
                      <a:pt x="51289" y="304324"/>
                    </a:lnTo>
                    <a:lnTo>
                      <a:pt x="72728" y="263821"/>
                    </a:lnTo>
                    <a:lnTo>
                      <a:pt x="97455" y="225477"/>
                    </a:lnTo>
                    <a:lnTo>
                      <a:pt x="125281" y="189480"/>
                    </a:lnTo>
                    <a:lnTo>
                      <a:pt x="156019" y="156019"/>
                    </a:lnTo>
                    <a:lnTo>
                      <a:pt x="189480" y="125281"/>
                    </a:lnTo>
                    <a:lnTo>
                      <a:pt x="225477" y="97455"/>
                    </a:lnTo>
                    <a:lnTo>
                      <a:pt x="263821" y="72728"/>
                    </a:lnTo>
                    <a:lnTo>
                      <a:pt x="304324" y="51289"/>
                    </a:lnTo>
                    <a:lnTo>
                      <a:pt x="346797" y="33327"/>
                    </a:lnTo>
                    <a:lnTo>
                      <a:pt x="391054" y="19028"/>
                    </a:lnTo>
                    <a:lnTo>
                      <a:pt x="436905" y="8582"/>
                    </a:lnTo>
                    <a:lnTo>
                      <a:pt x="484162" y="2177"/>
                    </a:lnTo>
                    <a:lnTo>
                      <a:pt x="532638" y="0"/>
                    </a:lnTo>
                    <a:lnTo>
                      <a:pt x="581113" y="2177"/>
                    </a:lnTo>
                    <a:lnTo>
                      <a:pt x="628370" y="8582"/>
                    </a:lnTo>
                    <a:lnTo>
                      <a:pt x="674221" y="19028"/>
                    </a:lnTo>
                    <a:lnTo>
                      <a:pt x="718478" y="33327"/>
                    </a:lnTo>
                    <a:lnTo>
                      <a:pt x="760951" y="51289"/>
                    </a:lnTo>
                    <a:lnTo>
                      <a:pt x="801454" y="72728"/>
                    </a:lnTo>
                    <a:lnTo>
                      <a:pt x="839798" y="97455"/>
                    </a:lnTo>
                    <a:lnTo>
                      <a:pt x="875795" y="125281"/>
                    </a:lnTo>
                    <a:lnTo>
                      <a:pt x="909256" y="156019"/>
                    </a:lnTo>
                    <a:lnTo>
                      <a:pt x="939994" y="189480"/>
                    </a:lnTo>
                    <a:lnTo>
                      <a:pt x="967820" y="225477"/>
                    </a:lnTo>
                    <a:lnTo>
                      <a:pt x="992547" y="263821"/>
                    </a:lnTo>
                    <a:lnTo>
                      <a:pt x="1013986" y="304324"/>
                    </a:lnTo>
                    <a:lnTo>
                      <a:pt x="1031948" y="346797"/>
                    </a:lnTo>
                    <a:lnTo>
                      <a:pt x="1046247" y="391054"/>
                    </a:lnTo>
                    <a:lnTo>
                      <a:pt x="1056693" y="436905"/>
                    </a:lnTo>
                    <a:lnTo>
                      <a:pt x="1063098" y="484162"/>
                    </a:lnTo>
                    <a:lnTo>
                      <a:pt x="1065276" y="532638"/>
                    </a:lnTo>
                    <a:lnTo>
                      <a:pt x="1063098" y="581113"/>
                    </a:lnTo>
                    <a:lnTo>
                      <a:pt x="1056693" y="628370"/>
                    </a:lnTo>
                    <a:lnTo>
                      <a:pt x="1046247" y="674221"/>
                    </a:lnTo>
                    <a:lnTo>
                      <a:pt x="1031948" y="718478"/>
                    </a:lnTo>
                    <a:lnTo>
                      <a:pt x="1013986" y="760951"/>
                    </a:lnTo>
                    <a:lnTo>
                      <a:pt x="992547" y="801454"/>
                    </a:lnTo>
                    <a:lnTo>
                      <a:pt x="967820" y="839798"/>
                    </a:lnTo>
                    <a:lnTo>
                      <a:pt x="939994" y="875795"/>
                    </a:lnTo>
                    <a:lnTo>
                      <a:pt x="909256" y="909256"/>
                    </a:lnTo>
                    <a:lnTo>
                      <a:pt x="875795" y="939994"/>
                    </a:lnTo>
                    <a:lnTo>
                      <a:pt x="839798" y="967820"/>
                    </a:lnTo>
                    <a:lnTo>
                      <a:pt x="801454" y="992547"/>
                    </a:lnTo>
                    <a:lnTo>
                      <a:pt x="760951" y="1013986"/>
                    </a:lnTo>
                    <a:lnTo>
                      <a:pt x="718478" y="1031948"/>
                    </a:lnTo>
                    <a:lnTo>
                      <a:pt x="674221" y="1046247"/>
                    </a:lnTo>
                    <a:lnTo>
                      <a:pt x="628370" y="1056693"/>
                    </a:lnTo>
                    <a:lnTo>
                      <a:pt x="581113" y="1063098"/>
                    </a:lnTo>
                    <a:lnTo>
                      <a:pt x="532638" y="1065276"/>
                    </a:lnTo>
                    <a:lnTo>
                      <a:pt x="484162" y="1063098"/>
                    </a:lnTo>
                    <a:lnTo>
                      <a:pt x="436905" y="1056693"/>
                    </a:lnTo>
                    <a:lnTo>
                      <a:pt x="391054" y="1046247"/>
                    </a:lnTo>
                    <a:lnTo>
                      <a:pt x="346797" y="1031948"/>
                    </a:lnTo>
                    <a:lnTo>
                      <a:pt x="304324" y="1013986"/>
                    </a:lnTo>
                    <a:lnTo>
                      <a:pt x="263821" y="992547"/>
                    </a:lnTo>
                    <a:lnTo>
                      <a:pt x="225477" y="967820"/>
                    </a:lnTo>
                    <a:lnTo>
                      <a:pt x="189480" y="939994"/>
                    </a:lnTo>
                    <a:lnTo>
                      <a:pt x="156019" y="909256"/>
                    </a:lnTo>
                    <a:lnTo>
                      <a:pt x="125281" y="875795"/>
                    </a:lnTo>
                    <a:lnTo>
                      <a:pt x="97455" y="839798"/>
                    </a:lnTo>
                    <a:lnTo>
                      <a:pt x="72728" y="801454"/>
                    </a:lnTo>
                    <a:lnTo>
                      <a:pt x="51289" y="760951"/>
                    </a:lnTo>
                    <a:lnTo>
                      <a:pt x="33327" y="718478"/>
                    </a:lnTo>
                    <a:lnTo>
                      <a:pt x="19028" y="674221"/>
                    </a:lnTo>
                    <a:lnTo>
                      <a:pt x="8582" y="628370"/>
                    </a:lnTo>
                    <a:lnTo>
                      <a:pt x="2177" y="581113"/>
                    </a:lnTo>
                    <a:lnTo>
                      <a:pt x="0" y="532638"/>
                    </a:lnTo>
                    <a:close/>
                  </a:path>
                </a:pathLst>
              </a:custGeom>
              <a:ln w="25400">
                <a:solidFill>
                  <a:srgbClr val="FFFFFF"/>
                </a:solidFill>
              </a:ln>
            </p:spPr>
            <p:txBody>
              <a:bodyPr wrap="square" lIns="0" tIns="0" rIns="0" bIns="0" rtlCol="0"/>
              <a:lstStyle/>
              <a:p>
                <a:endParaRPr sz="2400"/>
              </a:p>
            </p:txBody>
          </p:sp>
        </p:grpSp>
        <p:grpSp>
          <p:nvGrpSpPr>
            <p:cNvPr id="117" name="Group 116">
              <a:extLst>
                <a:ext uri="{FF2B5EF4-FFF2-40B4-BE49-F238E27FC236}">
                  <a16:creationId xmlns:a16="http://schemas.microsoft.com/office/drawing/2014/main" id="{04C1E1C8-DF12-0951-1CF7-FD8B0EA2B4E5}"/>
                </a:ext>
              </a:extLst>
            </p:cNvPr>
            <p:cNvGrpSpPr/>
            <p:nvPr/>
          </p:nvGrpSpPr>
          <p:grpSpPr>
            <a:xfrm>
              <a:off x="4693157" y="2242026"/>
              <a:ext cx="1943100" cy="3378274"/>
              <a:chOff x="4693157" y="2307244"/>
              <a:chExt cx="1943100" cy="3378274"/>
            </a:xfrm>
            <a:solidFill>
              <a:srgbClr val="00B050"/>
            </a:solidFill>
          </p:grpSpPr>
          <p:sp>
            <p:nvSpPr>
              <p:cNvPr id="102" name="object 17">
                <a:extLst>
                  <a:ext uri="{FF2B5EF4-FFF2-40B4-BE49-F238E27FC236}">
                    <a16:creationId xmlns:a16="http://schemas.microsoft.com/office/drawing/2014/main" id="{6D55BD2E-D40A-36E0-26C4-F93A932AB806}"/>
                  </a:ext>
                </a:extLst>
              </p:cNvPr>
              <p:cNvSpPr/>
              <p:nvPr/>
            </p:nvSpPr>
            <p:spPr>
              <a:xfrm>
                <a:off x="4693157" y="2307244"/>
                <a:ext cx="1943100" cy="3200400"/>
              </a:xfrm>
              <a:custGeom>
                <a:avLst/>
                <a:gdLst/>
                <a:ahLst/>
                <a:cxnLst/>
                <a:rect l="l" t="t" r="r" b="b"/>
                <a:pathLst>
                  <a:path w="1943100" h="3200400">
                    <a:moveTo>
                      <a:pt x="1748789" y="0"/>
                    </a:moveTo>
                    <a:lnTo>
                      <a:pt x="194309" y="0"/>
                    </a:lnTo>
                    <a:lnTo>
                      <a:pt x="149756" y="5131"/>
                    </a:lnTo>
                    <a:lnTo>
                      <a:pt x="108857" y="19749"/>
                    </a:lnTo>
                    <a:lnTo>
                      <a:pt x="72778" y="42687"/>
                    </a:lnTo>
                    <a:lnTo>
                      <a:pt x="42687" y="72778"/>
                    </a:lnTo>
                    <a:lnTo>
                      <a:pt x="19749" y="108857"/>
                    </a:lnTo>
                    <a:lnTo>
                      <a:pt x="5131" y="149756"/>
                    </a:lnTo>
                    <a:lnTo>
                      <a:pt x="0" y="194310"/>
                    </a:lnTo>
                    <a:lnTo>
                      <a:pt x="0" y="3006090"/>
                    </a:lnTo>
                    <a:lnTo>
                      <a:pt x="5131" y="3050643"/>
                    </a:lnTo>
                    <a:lnTo>
                      <a:pt x="19749" y="3091542"/>
                    </a:lnTo>
                    <a:lnTo>
                      <a:pt x="42687" y="3127621"/>
                    </a:lnTo>
                    <a:lnTo>
                      <a:pt x="72778" y="3157712"/>
                    </a:lnTo>
                    <a:lnTo>
                      <a:pt x="108857" y="3180650"/>
                    </a:lnTo>
                    <a:lnTo>
                      <a:pt x="149756" y="3195268"/>
                    </a:lnTo>
                    <a:lnTo>
                      <a:pt x="194309" y="3200400"/>
                    </a:lnTo>
                    <a:lnTo>
                      <a:pt x="1748789" y="3200400"/>
                    </a:lnTo>
                    <a:lnTo>
                      <a:pt x="1793343" y="3195268"/>
                    </a:lnTo>
                    <a:lnTo>
                      <a:pt x="1834242" y="3180650"/>
                    </a:lnTo>
                    <a:lnTo>
                      <a:pt x="1870321" y="3157712"/>
                    </a:lnTo>
                    <a:lnTo>
                      <a:pt x="1900412" y="3127621"/>
                    </a:lnTo>
                    <a:lnTo>
                      <a:pt x="1923350" y="3091542"/>
                    </a:lnTo>
                    <a:lnTo>
                      <a:pt x="1937968" y="3050643"/>
                    </a:lnTo>
                    <a:lnTo>
                      <a:pt x="1943099" y="3006090"/>
                    </a:lnTo>
                    <a:lnTo>
                      <a:pt x="1943099" y="194310"/>
                    </a:lnTo>
                    <a:lnTo>
                      <a:pt x="1937968" y="149756"/>
                    </a:lnTo>
                    <a:lnTo>
                      <a:pt x="1923350" y="108857"/>
                    </a:lnTo>
                    <a:lnTo>
                      <a:pt x="1900412" y="72778"/>
                    </a:lnTo>
                    <a:lnTo>
                      <a:pt x="1870321" y="42687"/>
                    </a:lnTo>
                    <a:lnTo>
                      <a:pt x="1834242" y="19749"/>
                    </a:lnTo>
                    <a:lnTo>
                      <a:pt x="1793343" y="5131"/>
                    </a:lnTo>
                    <a:lnTo>
                      <a:pt x="1748789" y="0"/>
                    </a:lnTo>
                    <a:close/>
                  </a:path>
                </a:pathLst>
              </a:custGeom>
              <a:grpFill/>
            </p:spPr>
            <p:txBody>
              <a:bodyPr wrap="square" lIns="0" tIns="0" rIns="0" bIns="0" rtlCol="0"/>
              <a:lstStyle/>
              <a:p>
                <a:endParaRPr sz="2400"/>
              </a:p>
            </p:txBody>
          </p:sp>
          <p:sp>
            <p:nvSpPr>
              <p:cNvPr id="104" name="object 19">
                <a:extLst>
                  <a:ext uri="{FF2B5EF4-FFF2-40B4-BE49-F238E27FC236}">
                    <a16:creationId xmlns:a16="http://schemas.microsoft.com/office/drawing/2014/main" id="{14E3D6AA-4E54-2536-960B-8864C210812F}"/>
                  </a:ext>
                </a:extLst>
              </p:cNvPr>
              <p:cNvSpPr txBox="1"/>
              <p:nvPr/>
            </p:nvSpPr>
            <p:spPr>
              <a:xfrm>
                <a:off x="4735301" y="3570309"/>
                <a:ext cx="1831856" cy="2115209"/>
              </a:xfrm>
              <a:prstGeom prst="rect">
                <a:avLst/>
              </a:prstGeom>
              <a:noFill/>
            </p:spPr>
            <p:txBody>
              <a:bodyPr vert="horz" wrap="square" lIns="0" tIns="36194" rIns="0" bIns="0" rtlCol="0">
                <a:spAutoFit/>
              </a:bodyPr>
              <a:lstStyle/>
              <a:p>
                <a:pPr marL="12700" marR="5080" indent="1270" algn="ctr">
                  <a:spcBef>
                    <a:spcPts val="284"/>
                  </a:spcBef>
                </a:pPr>
                <a:r>
                  <a:rPr dirty="0">
                    <a:solidFill>
                      <a:srgbClr val="FFFFFF"/>
                    </a:solidFill>
                    <a:latin typeface="Calibri" panose="020F0502020204030204" pitchFamily="34" charset="0"/>
                    <a:cs typeface="Calibri" panose="020F0502020204030204" pitchFamily="34" charset="0"/>
                  </a:rPr>
                  <a:t>Facilitates</a:t>
                </a:r>
                <a:r>
                  <a:rPr spc="-25" dirty="0">
                    <a:solidFill>
                      <a:srgbClr val="FFFFFF"/>
                    </a:solidFill>
                    <a:latin typeface="Calibri" panose="020F0502020204030204" pitchFamily="34" charset="0"/>
                    <a:cs typeface="Calibri" panose="020F0502020204030204" pitchFamily="34" charset="0"/>
                  </a:rPr>
                  <a:t> </a:t>
                </a:r>
                <a:r>
                  <a:rPr spc="-10" dirty="0">
                    <a:solidFill>
                      <a:srgbClr val="FFFFFF"/>
                    </a:solidFill>
                    <a:latin typeface="Calibri" panose="020F0502020204030204" pitchFamily="34" charset="0"/>
                    <a:cs typeface="Calibri" panose="020F0502020204030204" pitchFamily="34" charset="0"/>
                  </a:rPr>
                  <a:t>optimum </a:t>
                </a:r>
                <a:r>
                  <a:rPr dirty="0">
                    <a:solidFill>
                      <a:srgbClr val="FFFFFF"/>
                    </a:solidFill>
                    <a:latin typeface="Calibri" panose="020F0502020204030204" pitchFamily="34" charset="0"/>
                    <a:cs typeface="Calibri" panose="020F0502020204030204" pitchFamily="34" charset="0"/>
                  </a:rPr>
                  <a:t>development</a:t>
                </a:r>
                <a:r>
                  <a:rPr spc="-35" dirty="0">
                    <a:solidFill>
                      <a:srgbClr val="FFFFFF"/>
                    </a:solidFill>
                    <a:latin typeface="Calibri" panose="020F0502020204030204" pitchFamily="34" charset="0"/>
                    <a:cs typeface="Calibri" panose="020F0502020204030204" pitchFamily="34" charset="0"/>
                  </a:rPr>
                  <a:t> </a:t>
                </a:r>
                <a:r>
                  <a:rPr dirty="0">
                    <a:solidFill>
                      <a:srgbClr val="FFFFFF"/>
                    </a:solidFill>
                    <a:latin typeface="Calibri" panose="020F0502020204030204" pitchFamily="34" charset="0"/>
                    <a:cs typeface="Calibri" panose="020F0502020204030204" pitchFamily="34" charset="0"/>
                  </a:rPr>
                  <a:t>of</a:t>
                </a:r>
                <a:r>
                  <a:rPr spc="-20" dirty="0">
                    <a:solidFill>
                      <a:srgbClr val="FFFFFF"/>
                    </a:solidFill>
                    <a:latin typeface="Calibri" panose="020F0502020204030204" pitchFamily="34" charset="0"/>
                    <a:cs typeface="Calibri" panose="020F0502020204030204" pitchFamily="34" charset="0"/>
                  </a:rPr>
                  <a:t> </a:t>
                </a:r>
                <a:r>
                  <a:rPr spc="-10" dirty="0">
                    <a:solidFill>
                      <a:srgbClr val="FFFFFF"/>
                    </a:solidFill>
                    <a:latin typeface="Calibri" panose="020F0502020204030204" pitchFamily="34" charset="0"/>
                    <a:cs typeface="Calibri" panose="020F0502020204030204" pitchFamily="34" charset="0"/>
                  </a:rPr>
                  <a:t>transmission network</a:t>
                </a:r>
                <a:endParaRPr lang="en-US" spc="-10" dirty="0">
                  <a:solidFill>
                    <a:srgbClr val="FFFFFF"/>
                  </a:solidFill>
                  <a:latin typeface="Calibri" panose="020F0502020204030204" pitchFamily="34" charset="0"/>
                  <a:cs typeface="Calibri" panose="020F0502020204030204" pitchFamily="34" charset="0"/>
                </a:endParaRPr>
              </a:p>
              <a:p>
                <a:pPr marL="12700" marR="5080" indent="1270" algn="ctr">
                  <a:spcBef>
                    <a:spcPts val="284"/>
                  </a:spcBef>
                </a:pPr>
                <a:r>
                  <a:rPr lang="en-US" dirty="0">
                    <a:solidFill>
                      <a:srgbClr val="FFFFFF"/>
                    </a:solidFill>
                    <a:latin typeface="Calibri" panose="020F0502020204030204" pitchFamily="34" charset="0"/>
                    <a:cs typeface="Calibri" panose="020F0502020204030204" pitchFamily="34" charset="0"/>
                  </a:rPr>
                  <a:t>Without</a:t>
                </a:r>
                <a:r>
                  <a:rPr lang="en-US" spc="-30" dirty="0">
                    <a:solidFill>
                      <a:srgbClr val="FFFFFF"/>
                    </a:solidFill>
                    <a:latin typeface="Calibri" panose="020F0502020204030204" pitchFamily="34" charset="0"/>
                    <a:cs typeface="Calibri" panose="020F0502020204030204" pitchFamily="34" charset="0"/>
                  </a:rPr>
                  <a:t> </a:t>
                </a:r>
                <a:r>
                  <a:rPr lang="en-US" dirty="0">
                    <a:solidFill>
                      <a:srgbClr val="FFFFFF"/>
                    </a:solidFill>
                    <a:latin typeface="Calibri" panose="020F0502020204030204" pitchFamily="34" charset="0"/>
                    <a:cs typeface="Calibri" panose="020F0502020204030204" pitchFamily="34" charset="0"/>
                  </a:rPr>
                  <a:t>open</a:t>
                </a:r>
                <a:r>
                  <a:rPr lang="en-US" spc="-20" dirty="0">
                    <a:solidFill>
                      <a:srgbClr val="FFFFFF"/>
                    </a:solidFill>
                    <a:latin typeface="Calibri" panose="020F0502020204030204" pitchFamily="34" charset="0"/>
                    <a:cs typeface="Calibri" panose="020F0502020204030204" pitchFamily="34" charset="0"/>
                  </a:rPr>
                  <a:t> </a:t>
                </a:r>
                <a:r>
                  <a:rPr lang="en-US" dirty="0">
                    <a:solidFill>
                      <a:srgbClr val="FFFFFF"/>
                    </a:solidFill>
                    <a:latin typeface="Calibri" panose="020F0502020204030204" pitchFamily="34" charset="0"/>
                    <a:cs typeface="Calibri" panose="020F0502020204030204" pitchFamily="34" charset="0"/>
                  </a:rPr>
                  <a:t>access,</a:t>
                </a:r>
                <a:r>
                  <a:rPr lang="en-US" spc="-45" dirty="0">
                    <a:solidFill>
                      <a:srgbClr val="FFFFFF"/>
                    </a:solidFill>
                    <a:latin typeface="Calibri" panose="020F0502020204030204" pitchFamily="34" charset="0"/>
                    <a:cs typeface="Calibri" panose="020F0502020204030204" pitchFamily="34" charset="0"/>
                  </a:rPr>
                  <a:t> </a:t>
                </a:r>
                <a:r>
                  <a:rPr lang="en-US" dirty="0">
                    <a:solidFill>
                      <a:srgbClr val="FFFFFF"/>
                    </a:solidFill>
                    <a:latin typeface="Calibri" panose="020F0502020204030204" pitchFamily="34" charset="0"/>
                    <a:cs typeface="Calibri" panose="020F0502020204030204" pitchFamily="34" charset="0"/>
                  </a:rPr>
                  <a:t>if</a:t>
                </a:r>
                <a:r>
                  <a:rPr lang="en-US" spc="5" dirty="0">
                    <a:solidFill>
                      <a:srgbClr val="FFFFFF"/>
                    </a:solidFill>
                    <a:latin typeface="Calibri" panose="020F0502020204030204" pitchFamily="34" charset="0"/>
                    <a:cs typeface="Calibri" panose="020F0502020204030204" pitchFamily="34" charset="0"/>
                  </a:rPr>
                  <a:t> </a:t>
                </a:r>
                <a:r>
                  <a:rPr lang="en-US" spc="-20" dirty="0">
                    <a:solidFill>
                      <a:srgbClr val="FFFFFF"/>
                    </a:solidFill>
                    <a:latin typeface="Calibri" panose="020F0502020204030204" pitchFamily="34" charset="0"/>
                    <a:cs typeface="Calibri" panose="020F0502020204030204" pitchFamily="34" charset="0"/>
                  </a:rPr>
                  <a:t>bulk </a:t>
                </a:r>
                <a:r>
                  <a:rPr lang="en-US" dirty="0">
                    <a:solidFill>
                      <a:srgbClr val="FFFFFF"/>
                    </a:solidFill>
                    <a:latin typeface="Calibri" panose="020F0502020204030204" pitchFamily="34" charset="0"/>
                    <a:cs typeface="Calibri" panose="020F0502020204030204" pitchFamily="34" charset="0"/>
                  </a:rPr>
                  <a:t>consumers</a:t>
                </a:r>
                <a:r>
                  <a:rPr lang="en-US" spc="-10" dirty="0">
                    <a:solidFill>
                      <a:srgbClr val="FFFFFF"/>
                    </a:solidFill>
                    <a:latin typeface="Calibri" panose="020F0502020204030204" pitchFamily="34" charset="0"/>
                    <a:cs typeface="Calibri" panose="020F0502020204030204" pitchFamily="34" charset="0"/>
                  </a:rPr>
                  <a:t> </a:t>
                </a:r>
                <a:r>
                  <a:rPr lang="en-US" dirty="0">
                    <a:solidFill>
                      <a:srgbClr val="FFFFFF"/>
                    </a:solidFill>
                    <a:latin typeface="Calibri" panose="020F0502020204030204" pitchFamily="34" charset="0"/>
                    <a:cs typeface="Calibri" panose="020F0502020204030204" pitchFamily="34" charset="0"/>
                  </a:rPr>
                  <a:t>want</a:t>
                </a:r>
                <a:r>
                  <a:rPr lang="en-US" spc="-40" dirty="0">
                    <a:solidFill>
                      <a:srgbClr val="FFFFFF"/>
                    </a:solidFill>
                    <a:latin typeface="Calibri" panose="020F0502020204030204" pitchFamily="34" charset="0"/>
                    <a:cs typeface="Calibri" panose="020F0502020204030204" pitchFamily="34" charset="0"/>
                  </a:rPr>
                  <a:t> </a:t>
                </a:r>
                <a:r>
                  <a:rPr lang="en-US" dirty="0">
                    <a:solidFill>
                      <a:srgbClr val="FFFFFF"/>
                    </a:solidFill>
                    <a:latin typeface="Calibri" panose="020F0502020204030204" pitchFamily="34" charset="0"/>
                    <a:cs typeface="Calibri" panose="020F0502020204030204" pitchFamily="34" charset="0"/>
                  </a:rPr>
                  <a:t>to</a:t>
                </a:r>
                <a:r>
                  <a:rPr lang="en-US" spc="5" dirty="0">
                    <a:solidFill>
                      <a:srgbClr val="FFFFFF"/>
                    </a:solidFill>
                    <a:latin typeface="Calibri" panose="020F0502020204030204" pitchFamily="34" charset="0"/>
                    <a:cs typeface="Calibri" panose="020F0502020204030204" pitchFamily="34" charset="0"/>
                  </a:rPr>
                  <a:t> </a:t>
                </a:r>
                <a:r>
                  <a:rPr lang="en-US" dirty="0">
                    <a:solidFill>
                      <a:srgbClr val="FFFFFF"/>
                    </a:solidFill>
                    <a:latin typeface="Calibri" panose="020F0502020204030204" pitchFamily="34" charset="0"/>
                    <a:cs typeface="Calibri" panose="020F0502020204030204" pitchFamily="34" charset="0"/>
                  </a:rPr>
                  <a:t>buy</a:t>
                </a:r>
                <a:r>
                  <a:rPr lang="en-US" spc="-10" dirty="0">
                    <a:solidFill>
                      <a:srgbClr val="FFFFFF"/>
                    </a:solidFill>
                    <a:latin typeface="Calibri" panose="020F0502020204030204" pitchFamily="34" charset="0"/>
                    <a:cs typeface="Calibri" panose="020F0502020204030204" pitchFamily="34" charset="0"/>
                  </a:rPr>
                  <a:t> </a:t>
                </a:r>
                <a:r>
                  <a:rPr lang="en-US" spc="-20" dirty="0">
                    <a:solidFill>
                      <a:srgbClr val="FFFFFF"/>
                    </a:solidFill>
                    <a:latin typeface="Calibri" panose="020F0502020204030204" pitchFamily="34" charset="0"/>
                    <a:cs typeface="Calibri" panose="020F0502020204030204" pitchFamily="34" charset="0"/>
                  </a:rPr>
                  <a:t>power </a:t>
                </a:r>
                <a:r>
                  <a:rPr lang="en-US" dirty="0">
                    <a:solidFill>
                      <a:srgbClr val="FFFFFF"/>
                    </a:solidFill>
                    <a:latin typeface="Calibri" panose="020F0502020204030204" pitchFamily="34" charset="0"/>
                    <a:cs typeface="Calibri" panose="020F0502020204030204" pitchFamily="34" charset="0"/>
                  </a:rPr>
                  <a:t>from</a:t>
                </a:r>
                <a:r>
                  <a:rPr lang="en-US" spc="-5" dirty="0">
                    <a:solidFill>
                      <a:srgbClr val="FFFFFF"/>
                    </a:solidFill>
                    <a:latin typeface="Calibri" panose="020F0502020204030204" pitchFamily="34" charset="0"/>
                    <a:cs typeface="Calibri" panose="020F0502020204030204" pitchFamily="34" charset="0"/>
                  </a:rPr>
                  <a:t> </a:t>
                </a:r>
                <a:r>
                  <a:rPr lang="en-US" dirty="0">
                    <a:solidFill>
                      <a:srgbClr val="FFFFFF"/>
                    </a:solidFill>
                    <a:latin typeface="Calibri" panose="020F0502020204030204" pitchFamily="34" charset="0"/>
                    <a:cs typeface="Calibri" panose="020F0502020204030204" pitchFamily="34" charset="0"/>
                  </a:rPr>
                  <a:t>sources</a:t>
                </a:r>
                <a:r>
                  <a:rPr lang="en-US" spc="-30" dirty="0">
                    <a:solidFill>
                      <a:srgbClr val="FFFFFF"/>
                    </a:solidFill>
                    <a:latin typeface="Calibri" panose="020F0502020204030204" pitchFamily="34" charset="0"/>
                    <a:cs typeface="Calibri" panose="020F0502020204030204" pitchFamily="34" charset="0"/>
                  </a:rPr>
                  <a:t> </a:t>
                </a:r>
                <a:r>
                  <a:rPr lang="en-US" dirty="0">
                    <a:solidFill>
                      <a:srgbClr val="FFFFFF"/>
                    </a:solidFill>
                    <a:latin typeface="Calibri" panose="020F0502020204030204" pitchFamily="34" charset="0"/>
                    <a:cs typeface="Calibri" panose="020F0502020204030204" pitchFamily="34" charset="0"/>
                  </a:rPr>
                  <a:t>other</a:t>
                </a:r>
                <a:r>
                  <a:rPr lang="en-US" spc="-5" dirty="0">
                    <a:solidFill>
                      <a:srgbClr val="FFFFFF"/>
                    </a:solidFill>
                    <a:latin typeface="Calibri" panose="020F0502020204030204" pitchFamily="34" charset="0"/>
                    <a:cs typeface="Calibri" panose="020F0502020204030204" pitchFamily="34" charset="0"/>
                  </a:rPr>
                  <a:t> </a:t>
                </a:r>
                <a:r>
                  <a:rPr lang="en-US" dirty="0">
                    <a:solidFill>
                      <a:srgbClr val="FFFFFF"/>
                    </a:solidFill>
                    <a:latin typeface="Calibri" panose="020F0502020204030204" pitchFamily="34" charset="0"/>
                    <a:cs typeface="Calibri" panose="020F0502020204030204" pitchFamily="34" charset="0"/>
                  </a:rPr>
                  <a:t>than</a:t>
                </a:r>
                <a:r>
                  <a:rPr lang="en-US" spc="-5" dirty="0">
                    <a:solidFill>
                      <a:srgbClr val="FFFFFF"/>
                    </a:solidFill>
                    <a:latin typeface="Calibri" panose="020F0502020204030204" pitchFamily="34" charset="0"/>
                    <a:cs typeface="Calibri" panose="020F0502020204030204" pitchFamily="34" charset="0"/>
                  </a:rPr>
                  <a:t> </a:t>
                </a:r>
                <a:r>
                  <a:rPr lang="en-US" spc="-10" dirty="0">
                    <a:solidFill>
                      <a:srgbClr val="FFFFFF"/>
                    </a:solidFill>
                    <a:latin typeface="Calibri" panose="020F0502020204030204" pitchFamily="34" charset="0"/>
                    <a:cs typeface="Calibri" panose="020F0502020204030204" pitchFamily="34" charset="0"/>
                  </a:rPr>
                  <a:t>utility, </a:t>
                </a:r>
                <a:r>
                  <a:rPr lang="en-US" dirty="0">
                    <a:solidFill>
                      <a:srgbClr val="FFFFFF"/>
                    </a:solidFill>
                    <a:latin typeface="Calibri" panose="020F0502020204030204" pitchFamily="34" charset="0"/>
                    <a:cs typeface="Calibri" panose="020F0502020204030204" pitchFamily="34" charset="0"/>
                  </a:rPr>
                  <a:t>new</a:t>
                </a:r>
                <a:r>
                  <a:rPr lang="en-US" spc="-10" dirty="0">
                    <a:solidFill>
                      <a:srgbClr val="FFFFFF"/>
                    </a:solidFill>
                    <a:latin typeface="Calibri" panose="020F0502020204030204" pitchFamily="34" charset="0"/>
                    <a:cs typeface="Calibri" panose="020F0502020204030204" pitchFamily="34" charset="0"/>
                  </a:rPr>
                  <a:t> </a:t>
                </a:r>
                <a:r>
                  <a:rPr lang="en-US" dirty="0">
                    <a:solidFill>
                      <a:srgbClr val="FFFFFF"/>
                    </a:solidFill>
                    <a:latin typeface="Calibri" panose="020F0502020204030204" pitchFamily="34" charset="0"/>
                    <a:cs typeface="Calibri" panose="020F0502020204030204" pitchFamily="34" charset="0"/>
                  </a:rPr>
                  <a:t>electricity</a:t>
                </a:r>
                <a:r>
                  <a:rPr lang="en-US" spc="-20" dirty="0">
                    <a:solidFill>
                      <a:srgbClr val="FFFFFF"/>
                    </a:solidFill>
                    <a:latin typeface="Calibri" panose="020F0502020204030204" pitchFamily="34" charset="0"/>
                    <a:cs typeface="Calibri" panose="020F0502020204030204" pitchFamily="34" charset="0"/>
                  </a:rPr>
                  <a:t> </a:t>
                </a:r>
                <a:r>
                  <a:rPr lang="en-US" dirty="0">
                    <a:solidFill>
                      <a:srgbClr val="FFFFFF"/>
                    </a:solidFill>
                    <a:latin typeface="Calibri" panose="020F0502020204030204" pitchFamily="34" charset="0"/>
                    <a:cs typeface="Calibri" panose="020F0502020204030204" pitchFamily="34" charset="0"/>
                  </a:rPr>
                  <a:t>network</a:t>
                </a:r>
                <a:r>
                  <a:rPr lang="en-US" spc="-20" dirty="0">
                    <a:solidFill>
                      <a:srgbClr val="FFFFFF"/>
                    </a:solidFill>
                    <a:latin typeface="Calibri" panose="020F0502020204030204" pitchFamily="34" charset="0"/>
                    <a:cs typeface="Calibri" panose="020F0502020204030204" pitchFamily="34" charset="0"/>
                  </a:rPr>
                  <a:t> will </a:t>
                </a:r>
                <a:r>
                  <a:rPr lang="en-US" dirty="0">
                    <a:solidFill>
                      <a:srgbClr val="FFFFFF"/>
                    </a:solidFill>
                    <a:latin typeface="Calibri" panose="020F0502020204030204" pitchFamily="34" charset="0"/>
                    <a:cs typeface="Calibri" panose="020F0502020204030204" pitchFamily="34" charset="0"/>
                  </a:rPr>
                  <a:t>have</a:t>
                </a:r>
                <a:r>
                  <a:rPr lang="en-US" spc="-20" dirty="0">
                    <a:solidFill>
                      <a:srgbClr val="FFFFFF"/>
                    </a:solidFill>
                    <a:latin typeface="Calibri" panose="020F0502020204030204" pitchFamily="34" charset="0"/>
                    <a:cs typeface="Calibri" panose="020F0502020204030204" pitchFamily="34" charset="0"/>
                  </a:rPr>
                  <a:t> </a:t>
                </a:r>
                <a:r>
                  <a:rPr lang="en-US" dirty="0">
                    <a:solidFill>
                      <a:srgbClr val="FFFFFF"/>
                    </a:solidFill>
                    <a:latin typeface="Calibri" panose="020F0502020204030204" pitchFamily="34" charset="0"/>
                    <a:cs typeface="Calibri" panose="020F0502020204030204" pitchFamily="34" charset="0"/>
                  </a:rPr>
                  <a:t>to</a:t>
                </a:r>
                <a:r>
                  <a:rPr lang="en-US" spc="-15" dirty="0">
                    <a:solidFill>
                      <a:srgbClr val="FFFFFF"/>
                    </a:solidFill>
                    <a:latin typeface="Calibri" panose="020F0502020204030204" pitchFamily="34" charset="0"/>
                    <a:cs typeface="Calibri" panose="020F0502020204030204" pitchFamily="34" charset="0"/>
                  </a:rPr>
                  <a:t> </a:t>
                </a:r>
                <a:r>
                  <a:rPr lang="en-US" dirty="0">
                    <a:solidFill>
                      <a:srgbClr val="FFFFFF"/>
                    </a:solidFill>
                    <a:latin typeface="Calibri" panose="020F0502020204030204" pitchFamily="34" charset="0"/>
                    <a:cs typeface="Calibri" panose="020F0502020204030204" pitchFamily="34" charset="0"/>
                  </a:rPr>
                  <a:t>be</a:t>
                </a:r>
                <a:r>
                  <a:rPr lang="en-US" spc="-10" dirty="0">
                    <a:solidFill>
                      <a:srgbClr val="FFFFFF"/>
                    </a:solidFill>
                    <a:latin typeface="Calibri" panose="020F0502020204030204" pitchFamily="34" charset="0"/>
                    <a:cs typeface="Calibri" panose="020F0502020204030204" pitchFamily="34" charset="0"/>
                  </a:rPr>
                  <a:t> </a:t>
                </a:r>
                <a:r>
                  <a:rPr lang="en-US" dirty="0">
                    <a:solidFill>
                      <a:srgbClr val="FFFFFF"/>
                    </a:solidFill>
                    <a:latin typeface="Calibri" panose="020F0502020204030204" pitchFamily="34" charset="0"/>
                    <a:cs typeface="Calibri" panose="020F0502020204030204" pitchFamily="34" charset="0"/>
                  </a:rPr>
                  <a:t>laid</a:t>
                </a:r>
                <a:r>
                  <a:rPr lang="en-US" spc="-5" dirty="0">
                    <a:solidFill>
                      <a:srgbClr val="FFFFFF"/>
                    </a:solidFill>
                    <a:latin typeface="Calibri" panose="020F0502020204030204" pitchFamily="34" charset="0"/>
                    <a:cs typeface="Calibri" panose="020F0502020204030204" pitchFamily="34" charset="0"/>
                  </a:rPr>
                  <a:t> </a:t>
                </a:r>
                <a:r>
                  <a:rPr lang="en-US" spc="-25" dirty="0">
                    <a:solidFill>
                      <a:srgbClr val="FFFFFF"/>
                    </a:solidFill>
                    <a:latin typeface="Calibri" panose="020F0502020204030204" pitchFamily="34" charset="0"/>
                    <a:cs typeface="Calibri" panose="020F0502020204030204" pitchFamily="34" charset="0"/>
                  </a:rPr>
                  <a:t>out</a:t>
                </a:r>
                <a:endParaRPr lang="en-US" dirty="0">
                  <a:latin typeface="Calibri" panose="020F0502020204030204" pitchFamily="34" charset="0"/>
                  <a:cs typeface="Calibri" panose="020F0502020204030204" pitchFamily="34" charset="0"/>
                </a:endParaRPr>
              </a:p>
            </p:txBody>
          </p:sp>
          <p:sp>
            <p:nvSpPr>
              <p:cNvPr id="106" name="object 22">
                <a:extLst>
                  <a:ext uri="{FF2B5EF4-FFF2-40B4-BE49-F238E27FC236}">
                    <a16:creationId xmlns:a16="http://schemas.microsoft.com/office/drawing/2014/main" id="{3344CD80-BA1C-3593-B137-B3CDA2F99DFF}"/>
                  </a:ext>
                </a:extLst>
              </p:cNvPr>
              <p:cNvSpPr/>
              <p:nvPr/>
            </p:nvSpPr>
            <p:spPr>
              <a:xfrm>
                <a:off x="5132070" y="2434050"/>
                <a:ext cx="1065530" cy="1065530"/>
              </a:xfrm>
              <a:custGeom>
                <a:avLst/>
                <a:gdLst/>
                <a:ahLst/>
                <a:cxnLst/>
                <a:rect l="l" t="t" r="r" b="b"/>
                <a:pathLst>
                  <a:path w="1065529" h="1065530">
                    <a:moveTo>
                      <a:pt x="532638" y="0"/>
                    </a:moveTo>
                    <a:lnTo>
                      <a:pt x="484162" y="2177"/>
                    </a:lnTo>
                    <a:lnTo>
                      <a:pt x="436905" y="8582"/>
                    </a:lnTo>
                    <a:lnTo>
                      <a:pt x="391054" y="19028"/>
                    </a:lnTo>
                    <a:lnTo>
                      <a:pt x="346797" y="33327"/>
                    </a:lnTo>
                    <a:lnTo>
                      <a:pt x="304324" y="51289"/>
                    </a:lnTo>
                    <a:lnTo>
                      <a:pt x="263821" y="72728"/>
                    </a:lnTo>
                    <a:lnTo>
                      <a:pt x="225477" y="97455"/>
                    </a:lnTo>
                    <a:lnTo>
                      <a:pt x="189480" y="125281"/>
                    </a:lnTo>
                    <a:lnTo>
                      <a:pt x="156019" y="156019"/>
                    </a:lnTo>
                    <a:lnTo>
                      <a:pt x="125281" y="189480"/>
                    </a:lnTo>
                    <a:lnTo>
                      <a:pt x="97455" y="225477"/>
                    </a:lnTo>
                    <a:lnTo>
                      <a:pt x="72728" y="263821"/>
                    </a:lnTo>
                    <a:lnTo>
                      <a:pt x="51289" y="304324"/>
                    </a:lnTo>
                    <a:lnTo>
                      <a:pt x="33327" y="346797"/>
                    </a:lnTo>
                    <a:lnTo>
                      <a:pt x="19028" y="391054"/>
                    </a:lnTo>
                    <a:lnTo>
                      <a:pt x="8582" y="436905"/>
                    </a:lnTo>
                    <a:lnTo>
                      <a:pt x="2177" y="484162"/>
                    </a:lnTo>
                    <a:lnTo>
                      <a:pt x="0" y="532638"/>
                    </a:lnTo>
                    <a:lnTo>
                      <a:pt x="2177" y="581113"/>
                    </a:lnTo>
                    <a:lnTo>
                      <a:pt x="8582" y="628370"/>
                    </a:lnTo>
                    <a:lnTo>
                      <a:pt x="19028" y="674221"/>
                    </a:lnTo>
                    <a:lnTo>
                      <a:pt x="33327" y="718478"/>
                    </a:lnTo>
                    <a:lnTo>
                      <a:pt x="51289" y="760951"/>
                    </a:lnTo>
                    <a:lnTo>
                      <a:pt x="72728" y="801454"/>
                    </a:lnTo>
                    <a:lnTo>
                      <a:pt x="97455" y="839798"/>
                    </a:lnTo>
                    <a:lnTo>
                      <a:pt x="125281" y="875795"/>
                    </a:lnTo>
                    <a:lnTo>
                      <a:pt x="156019" y="909256"/>
                    </a:lnTo>
                    <a:lnTo>
                      <a:pt x="189480" y="939994"/>
                    </a:lnTo>
                    <a:lnTo>
                      <a:pt x="225477" y="967820"/>
                    </a:lnTo>
                    <a:lnTo>
                      <a:pt x="263821" y="992547"/>
                    </a:lnTo>
                    <a:lnTo>
                      <a:pt x="304324" y="1013986"/>
                    </a:lnTo>
                    <a:lnTo>
                      <a:pt x="346797" y="1031948"/>
                    </a:lnTo>
                    <a:lnTo>
                      <a:pt x="391054" y="1046247"/>
                    </a:lnTo>
                    <a:lnTo>
                      <a:pt x="436905" y="1056693"/>
                    </a:lnTo>
                    <a:lnTo>
                      <a:pt x="484162" y="1063098"/>
                    </a:lnTo>
                    <a:lnTo>
                      <a:pt x="532638" y="1065276"/>
                    </a:lnTo>
                    <a:lnTo>
                      <a:pt x="581113" y="1063098"/>
                    </a:lnTo>
                    <a:lnTo>
                      <a:pt x="628370" y="1056693"/>
                    </a:lnTo>
                    <a:lnTo>
                      <a:pt x="674221" y="1046247"/>
                    </a:lnTo>
                    <a:lnTo>
                      <a:pt x="718478" y="1031948"/>
                    </a:lnTo>
                    <a:lnTo>
                      <a:pt x="760951" y="1013986"/>
                    </a:lnTo>
                    <a:lnTo>
                      <a:pt x="801454" y="992547"/>
                    </a:lnTo>
                    <a:lnTo>
                      <a:pt x="839798" y="967820"/>
                    </a:lnTo>
                    <a:lnTo>
                      <a:pt x="875795" y="939994"/>
                    </a:lnTo>
                    <a:lnTo>
                      <a:pt x="909256" y="909256"/>
                    </a:lnTo>
                    <a:lnTo>
                      <a:pt x="939994" y="875795"/>
                    </a:lnTo>
                    <a:lnTo>
                      <a:pt x="967820" y="839798"/>
                    </a:lnTo>
                    <a:lnTo>
                      <a:pt x="992547" y="801454"/>
                    </a:lnTo>
                    <a:lnTo>
                      <a:pt x="1013986" y="760951"/>
                    </a:lnTo>
                    <a:lnTo>
                      <a:pt x="1031948" y="718478"/>
                    </a:lnTo>
                    <a:lnTo>
                      <a:pt x="1046247" y="674221"/>
                    </a:lnTo>
                    <a:lnTo>
                      <a:pt x="1056693" y="628370"/>
                    </a:lnTo>
                    <a:lnTo>
                      <a:pt x="1063098" y="581113"/>
                    </a:lnTo>
                    <a:lnTo>
                      <a:pt x="1065276" y="532638"/>
                    </a:lnTo>
                    <a:lnTo>
                      <a:pt x="1063098" y="484162"/>
                    </a:lnTo>
                    <a:lnTo>
                      <a:pt x="1056693" y="436905"/>
                    </a:lnTo>
                    <a:lnTo>
                      <a:pt x="1046247" y="391054"/>
                    </a:lnTo>
                    <a:lnTo>
                      <a:pt x="1031948" y="346797"/>
                    </a:lnTo>
                    <a:lnTo>
                      <a:pt x="1013986" y="304324"/>
                    </a:lnTo>
                    <a:lnTo>
                      <a:pt x="992547" y="263821"/>
                    </a:lnTo>
                    <a:lnTo>
                      <a:pt x="967820" y="225477"/>
                    </a:lnTo>
                    <a:lnTo>
                      <a:pt x="939994" y="189480"/>
                    </a:lnTo>
                    <a:lnTo>
                      <a:pt x="909256" y="156019"/>
                    </a:lnTo>
                    <a:lnTo>
                      <a:pt x="875795" y="125281"/>
                    </a:lnTo>
                    <a:lnTo>
                      <a:pt x="839798" y="97455"/>
                    </a:lnTo>
                    <a:lnTo>
                      <a:pt x="801454" y="72728"/>
                    </a:lnTo>
                    <a:lnTo>
                      <a:pt x="760951" y="51289"/>
                    </a:lnTo>
                    <a:lnTo>
                      <a:pt x="718478" y="33327"/>
                    </a:lnTo>
                    <a:lnTo>
                      <a:pt x="674221" y="19028"/>
                    </a:lnTo>
                    <a:lnTo>
                      <a:pt x="628370" y="8582"/>
                    </a:lnTo>
                    <a:lnTo>
                      <a:pt x="581113" y="2177"/>
                    </a:lnTo>
                    <a:lnTo>
                      <a:pt x="532638" y="0"/>
                    </a:lnTo>
                    <a:close/>
                  </a:path>
                </a:pathLst>
              </a:custGeom>
              <a:grpFill/>
            </p:spPr>
            <p:txBody>
              <a:bodyPr wrap="square" lIns="0" tIns="0" rIns="0" bIns="0" rtlCol="0"/>
              <a:lstStyle/>
              <a:p>
                <a:endParaRPr sz="2400"/>
              </a:p>
            </p:txBody>
          </p:sp>
          <p:sp>
            <p:nvSpPr>
              <p:cNvPr id="107" name="object 23">
                <a:extLst>
                  <a:ext uri="{FF2B5EF4-FFF2-40B4-BE49-F238E27FC236}">
                    <a16:creationId xmlns:a16="http://schemas.microsoft.com/office/drawing/2014/main" id="{95CD7A22-0B5E-143C-7EBA-AC8BD5ED156B}"/>
                  </a:ext>
                </a:extLst>
              </p:cNvPr>
              <p:cNvSpPr/>
              <p:nvPr/>
            </p:nvSpPr>
            <p:spPr>
              <a:xfrm>
                <a:off x="5141974" y="2499268"/>
                <a:ext cx="1065530" cy="1065530"/>
              </a:xfrm>
              <a:custGeom>
                <a:avLst/>
                <a:gdLst/>
                <a:ahLst/>
                <a:cxnLst/>
                <a:rect l="l" t="t" r="r" b="b"/>
                <a:pathLst>
                  <a:path w="1065529" h="1065530">
                    <a:moveTo>
                      <a:pt x="0" y="532638"/>
                    </a:moveTo>
                    <a:lnTo>
                      <a:pt x="2177" y="484162"/>
                    </a:lnTo>
                    <a:lnTo>
                      <a:pt x="8582" y="436905"/>
                    </a:lnTo>
                    <a:lnTo>
                      <a:pt x="19028" y="391054"/>
                    </a:lnTo>
                    <a:lnTo>
                      <a:pt x="33327" y="346797"/>
                    </a:lnTo>
                    <a:lnTo>
                      <a:pt x="51289" y="304324"/>
                    </a:lnTo>
                    <a:lnTo>
                      <a:pt x="72728" y="263821"/>
                    </a:lnTo>
                    <a:lnTo>
                      <a:pt x="97455" y="225477"/>
                    </a:lnTo>
                    <a:lnTo>
                      <a:pt x="125281" y="189480"/>
                    </a:lnTo>
                    <a:lnTo>
                      <a:pt x="156019" y="156019"/>
                    </a:lnTo>
                    <a:lnTo>
                      <a:pt x="189480" y="125281"/>
                    </a:lnTo>
                    <a:lnTo>
                      <a:pt x="225477" y="97455"/>
                    </a:lnTo>
                    <a:lnTo>
                      <a:pt x="263821" y="72728"/>
                    </a:lnTo>
                    <a:lnTo>
                      <a:pt x="304324" y="51289"/>
                    </a:lnTo>
                    <a:lnTo>
                      <a:pt x="346797" y="33327"/>
                    </a:lnTo>
                    <a:lnTo>
                      <a:pt x="391054" y="19028"/>
                    </a:lnTo>
                    <a:lnTo>
                      <a:pt x="436905" y="8582"/>
                    </a:lnTo>
                    <a:lnTo>
                      <a:pt x="484162" y="2177"/>
                    </a:lnTo>
                    <a:lnTo>
                      <a:pt x="532638" y="0"/>
                    </a:lnTo>
                    <a:lnTo>
                      <a:pt x="581113" y="2177"/>
                    </a:lnTo>
                    <a:lnTo>
                      <a:pt x="628370" y="8582"/>
                    </a:lnTo>
                    <a:lnTo>
                      <a:pt x="674221" y="19028"/>
                    </a:lnTo>
                    <a:lnTo>
                      <a:pt x="718478" y="33327"/>
                    </a:lnTo>
                    <a:lnTo>
                      <a:pt x="760951" y="51289"/>
                    </a:lnTo>
                    <a:lnTo>
                      <a:pt x="801454" y="72728"/>
                    </a:lnTo>
                    <a:lnTo>
                      <a:pt x="839798" y="97455"/>
                    </a:lnTo>
                    <a:lnTo>
                      <a:pt x="875795" y="125281"/>
                    </a:lnTo>
                    <a:lnTo>
                      <a:pt x="909256" y="156019"/>
                    </a:lnTo>
                    <a:lnTo>
                      <a:pt x="939994" y="189480"/>
                    </a:lnTo>
                    <a:lnTo>
                      <a:pt x="967820" y="225477"/>
                    </a:lnTo>
                    <a:lnTo>
                      <a:pt x="992547" y="263821"/>
                    </a:lnTo>
                    <a:lnTo>
                      <a:pt x="1013986" y="304324"/>
                    </a:lnTo>
                    <a:lnTo>
                      <a:pt x="1031948" y="346797"/>
                    </a:lnTo>
                    <a:lnTo>
                      <a:pt x="1046247" y="391054"/>
                    </a:lnTo>
                    <a:lnTo>
                      <a:pt x="1056693" y="436905"/>
                    </a:lnTo>
                    <a:lnTo>
                      <a:pt x="1063098" y="484162"/>
                    </a:lnTo>
                    <a:lnTo>
                      <a:pt x="1065276" y="532638"/>
                    </a:lnTo>
                    <a:lnTo>
                      <a:pt x="1063098" y="581113"/>
                    </a:lnTo>
                    <a:lnTo>
                      <a:pt x="1056693" y="628370"/>
                    </a:lnTo>
                    <a:lnTo>
                      <a:pt x="1046247" y="674221"/>
                    </a:lnTo>
                    <a:lnTo>
                      <a:pt x="1031948" y="718478"/>
                    </a:lnTo>
                    <a:lnTo>
                      <a:pt x="1013986" y="760951"/>
                    </a:lnTo>
                    <a:lnTo>
                      <a:pt x="992547" y="801454"/>
                    </a:lnTo>
                    <a:lnTo>
                      <a:pt x="967820" y="839798"/>
                    </a:lnTo>
                    <a:lnTo>
                      <a:pt x="939994" y="875795"/>
                    </a:lnTo>
                    <a:lnTo>
                      <a:pt x="909256" y="909256"/>
                    </a:lnTo>
                    <a:lnTo>
                      <a:pt x="875795" y="939994"/>
                    </a:lnTo>
                    <a:lnTo>
                      <a:pt x="839798" y="967820"/>
                    </a:lnTo>
                    <a:lnTo>
                      <a:pt x="801454" y="992547"/>
                    </a:lnTo>
                    <a:lnTo>
                      <a:pt x="760951" y="1013986"/>
                    </a:lnTo>
                    <a:lnTo>
                      <a:pt x="718478" y="1031948"/>
                    </a:lnTo>
                    <a:lnTo>
                      <a:pt x="674221" y="1046247"/>
                    </a:lnTo>
                    <a:lnTo>
                      <a:pt x="628370" y="1056693"/>
                    </a:lnTo>
                    <a:lnTo>
                      <a:pt x="581113" y="1063098"/>
                    </a:lnTo>
                    <a:lnTo>
                      <a:pt x="532638" y="1065276"/>
                    </a:lnTo>
                    <a:lnTo>
                      <a:pt x="484162" y="1063098"/>
                    </a:lnTo>
                    <a:lnTo>
                      <a:pt x="436905" y="1056693"/>
                    </a:lnTo>
                    <a:lnTo>
                      <a:pt x="391054" y="1046247"/>
                    </a:lnTo>
                    <a:lnTo>
                      <a:pt x="346797" y="1031948"/>
                    </a:lnTo>
                    <a:lnTo>
                      <a:pt x="304324" y="1013986"/>
                    </a:lnTo>
                    <a:lnTo>
                      <a:pt x="263821" y="992547"/>
                    </a:lnTo>
                    <a:lnTo>
                      <a:pt x="225477" y="967820"/>
                    </a:lnTo>
                    <a:lnTo>
                      <a:pt x="189480" y="939994"/>
                    </a:lnTo>
                    <a:lnTo>
                      <a:pt x="156019" y="909256"/>
                    </a:lnTo>
                    <a:lnTo>
                      <a:pt x="125281" y="875795"/>
                    </a:lnTo>
                    <a:lnTo>
                      <a:pt x="97455" y="839798"/>
                    </a:lnTo>
                    <a:lnTo>
                      <a:pt x="72728" y="801454"/>
                    </a:lnTo>
                    <a:lnTo>
                      <a:pt x="51289" y="760951"/>
                    </a:lnTo>
                    <a:lnTo>
                      <a:pt x="33327" y="718478"/>
                    </a:lnTo>
                    <a:lnTo>
                      <a:pt x="19028" y="674221"/>
                    </a:lnTo>
                    <a:lnTo>
                      <a:pt x="8582" y="628370"/>
                    </a:lnTo>
                    <a:lnTo>
                      <a:pt x="2177" y="581113"/>
                    </a:lnTo>
                    <a:lnTo>
                      <a:pt x="0" y="532638"/>
                    </a:lnTo>
                    <a:close/>
                  </a:path>
                </a:pathLst>
              </a:custGeom>
              <a:solidFill>
                <a:schemeClr val="bg1"/>
              </a:solidFill>
              <a:ln w="25400">
                <a:solidFill>
                  <a:srgbClr val="FFFFFF"/>
                </a:solidFill>
              </a:ln>
            </p:spPr>
            <p:txBody>
              <a:bodyPr wrap="square" lIns="0" tIns="0" rIns="0" bIns="0" rtlCol="0"/>
              <a:lstStyle/>
              <a:p>
                <a:endParaRPr sz="2400" dirty="0"/>
              </a:p>
            </p:txBody>
          </p:sp>
        </p:grpSp>
        <p:grpSp>
          <p:nvGrpSpPr>
            <p:cNvPr id="116" name="Group 115">
              <a:extLst>
                <a:ext uri="{FF2B5EF4-FFF2-40B4-BE49-F238E27FC236}">
                  <a16:creationId xmlns:a16="http://schemas.microsoft.com/office/drawing/2014/main" id="{FC4B4FAF-DC8D-32D6-001C-E703CFC1CA8D}"/>
                </a:ext>
              </a:extLst>
            </p:cNvPr>
            <p:cNvGrpSpPr/>
            <p:nvPr/>
          </p:nvGrpSpPr>
          <p:grpSpPr>
            <a:xfrm>
              <a:off x="6695694" y="2242026"/>
              <a:ext cx="1943100" cy="3200400"/>
              <a:chOff x="6695694" y="2242026"/>
              <a:chExt cx="1943100" cy="3200400"/>
            </a:xfrm>
          </p:grpSpPr>
          <p:sp>
            <p:nvSpPr>
              <p:cNvPr id="108" name="object 24">
                <a:extLst>
                  <a:ext uri="{FF2B5EF4-FFF2-40B4-BE49-F238E27FC236}">
                    <a16:creationId xmlns:a16="http://schemas.microsoft.com/office/drawing/2014/main" id="{D6803B01-573A-03D6-8444-21BA3E4B4BF2}"/>
                  </a:ext>
                </a:extLst>
              </p:cNvPr>
              <p:cNvSpPr/>
              <p:nvPr/>
            </p:nvSpPr>
            <p:spPr>
              <a:xfrm>
                <a:off x="6695694" y="2242026"/>
                <a:ext cx="1943100" cy="3200400"/>
              </a:xfrm>
              <a:custGeom>
                <a:avLst/>
                <a:gdLst/>
                <a:ahLst/>
                <a:cxnLst/>
                <a:rect l="l" t="t" r="r" b="b"/>
                <a:pathLst>
                  <a:path w="1943100" h="3200400">
                    <a:moveTo>
                      <a:pt x="1748789" y="0"/>
                    </a:moveTo>
                    <a:lnTo>
                      <a:pt x="194309" y="0"/>
                    </a:lnTo>
                    <a:lnTo>
                      <a:pt x="149756" y="5131"/>
                    </a:lnTo>
                    <a:lnTo>
                      <a:pt x="108857" y="19749"/>
                    </a:lnTo>
                    <a:lnTo>
                      <a:pt x="72778" y="42687"/>
                    </a:lnTo>
                    <a:lnTo>
                      <a:pt x="42687" y="72778"/>
                    </a:lnTo>
                    <a:lnTo>
                      <a:pt x="19749" y="108857"/>
                    </a:lnTo>
                    <a:lnTo>
                      <a:pt x="5131" y="149756"/>
                    </a:lnTo>
                    <a:lnTo>
                      <a:pt x="0" y="194310"/>
                    </a:lnTo>
                    <a:lnTo>
                      <a:pt x="0" y="3006090"/>
                    </a:lnTo>
                    <a:lnTo>
                      <a:pt x="5131" y="3050643"/>
                    </a:lnTo>
                    <a:lnTo>
                      <a:pt x="19749" y="3091542"/>
                    </a:lnTo>
                    <a:lnTo>
                      <a:pt x="42687" y="3127621"/>
                    </a:lnTo>
                    <a:lnTo>
                      <a:pt x="72778" y="3157712"/>
                    </a:lnTo>
                    <a:lnTo>
                      <a:pt x="108857" y="3180650"/>
                    </a:lnTo>
                    <a:lnTo>
                      <a:pt x="149756" y="3195268"/>
                    </a:lnTo>
                    <a:lnTo>
                      <a:pt x="194309" y="3200400"/>
                    </a:lnTo>
                    <a:lnTo>
                      <a:pt x="1748789" y="3200400"/>
                    </a:lnTo>
                    <a:lnTo>
                      <a:pt x="1793343" y="3195268"/>
                    </a:lnTo>
                    <a:lnTo>
                      <a:pt x="1834242" y="3180650"/>
                    </a:lnTo>
                    <a:lnTo>
                      <a:pt x="1870321" y="3157712"/>
                    </a:lnTo>
                    <a:lnTo>
                      <a:pt x="1900412" y="3127621"/>
                    </a:lnTo>
                    <a:lnTo>
                      <a:pt x="1923350" y="3091542"/>
                    </a:lnTo>
                    <a:lnTo>
                      <a:pt x="1937968" y="3050643"/>
                    </a:lnTo>
                    <a:lnTo>
                      <a:pt x="1943100" y="3006090"/>
                    </a:lnTo>
                    <a:lnTo>
                      <a:pt x="1943100" y="194310"/>
                    </a:lnTo>
                    <a:lnTo>
                      <a:pt x="1937968" y="149756"/>
                    </a:lnTo>
                    <a:lnTo>
                      <a:pt x="1923350" y="108857"/>
                    </a:lnTo>
                    <a:lnTo>
                      <a:pt x="1900412" y="72778"/>
                    </a:lnTo>
                    <a:lnTo>
                      <a:pt x="1870321" y="42687"/>
                    </a:lnTo>
                    <a:lnTo>
                      <a:pt x="1834242" y="19749"/>
                    </a:lnTo>
                    <a:lnTo>
                      <a:pt x="1793343" y="5131"/>
                    </a:lnTo>
                    <a:lnTo>
                      <a:pt x="1748789" y="0"/>
                    </a:lnTo>
                    <a:close/>
                  </a:path>
                </a:pathLst>
              </a:custGeom>
              <a:solidFill>
                <a:srgbClr val="CFCDC8"/>
              </a:solidFill>
            </p:spPr>
            <p:txBody>
              <a:bodyPr wrap="square" lIns="0" tIns="0" rIns="0" bIns="0" rtlCol="0"/>
              <a:lstStyle/>
              <a:p>
                <a:endParaRPr sz="2400"/>
              </a:p>
            </p:txBody>
          </p:sp>
          <p:sp>
            <p:nvSpPr>
              <p:cNvPr id="109" name="object 25">
                <a:extLst>
                  <a:ext uri="{FF2B5EF4-FFF2-40B4-BE49-F238E27FC236}">
                    <a16:creationId xmlns:a16="http://schemas.microsoft.com/office/drawing/2014/main" id="{4450629F-D707-BC9D-7333-94CD9D01FA77}"/>
                  </a:ext>
                </a:extLst>
              </p:cNvPr>
              <p:cNvSpPr/>
              <p:nvPr/>
            </p:nvSpPr>
            <p:spPr>
              <a:xfrm>
                <a:off x="6695694" y="2242026"/>
                <a:ext cx="1943100" cy="3200400"/>
              </a:xfrm>
              <a:custGeom>
                <a:avLst/>
                <a:gdLst/>
                <a:ahLst/>
                <a:cxnLst/>
                <a:rect l="l" t="t" r="r" b="b"/>
                <a:pathLst>
                  <a:path w="1943100" h="3200400">
                    <a:moveTo>
                      <a:pt x="0" y="194310"/>
                    </a:moveTo>
                    <a:lnTo>
                      <a:pt x="5131" y="149756"/>
                    </a:lnTo>
                    <a:lnTo>
                      <a:pt x="19749" y="108857"/>
                    </a:lnTo>
                    <a:lnTo>
                      <a:pt x="42687" y="72778"/>
                    </a:lnTo>
                    <a:lnTo>
                      <a:pt x="72778" y="42687"/>
                    </a:lnTo>
                    <a:lnTo>
                      <a:pt x="108857" y="19749"/>
                    </a:lnTo>
                    <a:lnTo>
                      <a:pt x="149756" y="5131"/>
                    </a:lnTo>
                    <a:lnTo>
                      <a:pt x="194309" y="0"/>
                    </a:lnTo>
                    <a:lnTo>
                      <a:pt x="1748789" y="0"/>
                    </a:lnTo>
                    <a:lnTo>
                      <a:pt x="1793343" y="5131"/>
                    </a:lnTo>
                    <a:lnTo>
                      <a:pt x="1834242" y="19749"/>
                    </a:lnTo>
                    <a:lnTo>
                      <a:pt x="1870321" y="42687"/>
                    </a:lnTo>
                    <a:lnTo>
                      <a:pt x="1900412" y="72778"/>
                    </a:lnTo>
                    <a:lnTo>
                      <a:pt x="1923350" y="108857"/>
                    </a:lnTo>
                    <a:lnTo>
                      <a:pt x="1937968" y="149756"/>
                    </a:lnTo>
                    <a:lnTo>
                      <a:pt x="1943100" y="194310"/>
                    </a:lnTo>
                    <a:lnTo>
                      <a:pt x="1943100" y="3006090"/>
                    </a:lnTo>
                    <a:lnTo>
                      <a:pt x="1937968" y="3050643"/>
                    </a:lnTo>
                    <a:lnTo>
                      <a:pt x="1923350" y="3091542"/>
                    </a:lnTo>
                    <a:lnTo>
                      <a:pt x="1900412" y="3127621"/>
                    </a:lnTo>
                    <a:lnTo>
                      <a:pt x="1870321" y="3157712"/>
                    </a:lnTo>
                    <a:lnTo>
                      <a:pt x="1834242" y="3180650"/>
                    </a:lnTo>
                    <a:lnTo>
                      <a:pt x="1793343" y="3195268"/>
                    </a:lnTo>
                    <a:lnTo>
                      <a:pt x="1748789" y="3200400"/>
                    </a:lnTo>
                    <a:lnTo>
                      <a:pt x="194309" y="3200400"/>
                    </a:lnTo>
                    <a:lnTo>
                      <a:pt x="149756" y="3195268"/>
                    </a:lnTo>
                    <a:lnTo>
                      <a:pt x="108857" y="3180650"/>
                    </a:lnTo>
                    <a:lnTo>
                      <a:pt x="72778" y="3157712"/>
                    </a:lnTo>
                    <a:lnTo>
                      <a:pt x="42687" y="3127621"/>
                    </a:lnTo>
                    <a:lnTo>
                      <a:pt x="19749" y="3091542"/>
                    </a:lnTo>
                    <a:lnTo>
                      <a:pt x="5131" y="3050643"/>
                    </a:lnTo>
                    <a:lnTo>
                      <a:pt x="0" y="3006090"/>
                    </a:lnTo>
                    <a:lnTo>
                      <a:pt x="0" y="194310"/>
                    </a:lnTo>
                    <a:close/>
                  </a:path>
                </a:pathLst>
              </a:custGeom>
              <a:ln w="25400">
                <a:solidFill>
                  <a:srgbClr val="FFFFFF"/>
                </a:solidFill>
              </a:ln>
            </p:spPr>
            <p:txBody>
              <a:bodyPr wrap="square" lIns="0" tIns="0" rIns="0" bIns="0" rtlCol="0"/>
              <a:lstStyle/>
              <a:p>
                <a:endParaRPr sz="2400"/>
              </a:p>
            </p:txBody>
          </p:sp>
          <p:sp>
            <p:nvSpPr>
              <p:cNvPr id="111" name="object 27">
                <a:extLst>
                  <a:ext uri="{FF2B5EF4-FFF2-40B4-BE49-F238E27FC236}">
                    <a16:creationId xmlns:a16="http://schemas.microsoft.com/office/drawing/2014/main" id="{4390C95B-C423-72B1-8D86-1DC30A57C2F1}"/>
                  </a:ext>
                </a:extLst>
              </p:cNvPr>
              <p:cNvSpPr txBox="1"/>
              <p:nvPr/>
            </p:nvSpPr>
            <p:spPr>
              <a:xfrm>
                <a:off x="6849364" y="3574932"/>
                <a:ext cx="1635760" cy="1494709"/>
              </a:xfrm>
              <a:prstGeom prst="rect">
                <a:avLst/>
              </a:prstGeom>
            </p:spPr>
            <p:txBody>
              <a:bodyPr vert="horz" wrap="square" lIns="0" tIns="33655" rIns="0" bIns="0" rtlCol="0">
                <a:spAutoFit/>
              </a:bodyPr>
              <a:lstStyle/>
              <a:p>
                <a:pPr marL="12065" marR="5080" algn="ctr">
                  <a:spcBef>
                    <a:spcPts val="265"/>
                  </a:spcBef>
                </a:pPr>
                <a:r>
                  <a:rPr lang="en-US" dirty="0">
                    <a:latin typeface="Calibri" panose="020F0502020204030204" pitchFamily="34" charset="0"/>
                    <a:cs typeface="Calibri" panose="020F0502020204030204" pitchFamily="34" charset="0"/>
                  </a:rPr>
                  <a:t>Decreases</a:t>
                </a:r>
                <a:r>
                  <a:rPr lang="en-US" spc="-4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the</a:t>
                </a:r>
                <a:r>
                  <a:rPr lang="en-US" spc="-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monopoly </a:t>
                </a:r>
                <a:r>
                  <a:rPr lang="en-US" spc="-10" dirty="0">
                    <a:latin typeface="Calibri" panose="020F0502020204030204" pitchFamily="34" charset="0"/>
                    <a:cs typeface="Calibri" panose="020F0502020204030204" pitchFamily="34" charset="0"/>
                  </a:rPr>
                  <a:t>power </a:t>
                </a:r>
                <a:r>
                  <a:rPr lang="en-US" dirty="0">
                    <a:latin typeface="Calibri" panose="020F0502020204030204" pitchFamily="34" charset="0"/>
                    <a:cs typeface="Calibri" panose="020F0502020204030204" pitchFamily="34" charset="0"/>
                  </a:rPr>
                  <a:t>of</a:t>
                </a:r>
                <a:r>
                  <a:rPr lang="en-US" spc="-15" dirty="0">
                    <a:latin typeface="Calibri" panose="020F0502020204030204" pitchFamily="34" charset="0"/>
                    <a:cs typeface="Calibri" panose="020F0502020204030204" pitchFamily="34" charset="0"/>
                  </a:rPr>
                  <a:t> </a:t>
                </a:r>
                <a:r>
                  <a:rPr lang="en-US" spc="-10" dirty="0">
                    <a:latin typeface="Calibri" panose="020F0502020204030204" pitchFamily="34" charset="0"/>
                    <a:cs typeface="Calibri" panose="020F0502020204030204" pitchFamily="34" charset="0"/>
                  </a:rPr>
                  <a:t>utilities</a:t>
                </a:r>
                <a:endParaRPr lang="en-US" dirty="0">
                  <a:latin typeface="Calibri" panose="020F0502020204030204" pitchFamily="34" charset="0"/>
                  <a:cs typeface="Calibri" panose="020F0502020204030204" pitchFamily="34" charset="0"/>
                </a:endParaRPr>
              </a:p>
              <a:p>
                <a:pPr marL="12065" marR="5080" algn="ctr">
                  <a:spcBef>
                    <a:spcPts val="265"/>
                  </a:spcBef>
                </a:pPr>
                <a:r>
                  <a:rPr dirty="0">
                    <a:latin typeface="Calibri" panose="020F0502020204030204" pitchFamily="34" charset="0"/>
                    <a:cs typeface="Calibri" panose="020F0502020204030204" pitchFamily="34" charset="0"/>
                  </a:rPr>
                  <a:t>Consumers</a:t>
                </a:r>
                <a:r>
                  <a:rPr spc="-35" dirty="0">
                    <a:latin typeface="Calibri" panose="020F0502020204030204" pitchFamily="34" charset="0"/>
                    <a:cs typeface="Calibri" panose="020F0502020204030204" pitchFamily="34" charset="0"/>
                  </a:rPr>
                  <a:t> </a:t>
                </a:r>
                <a:r>
                  <a:rPr dirty="0">
                    <a:latin typeface="Calibri" panose="020F0502020204030204" pitchFamily="34" charset="0"/>
                    <a:cs typeface="Calibri" panose="020F0502020204030204" pitchFamily="34" charset="0"/>
                  </a:rPr>
                  <a:t>will</a:t>
                </a:r>
                <a:r>
                  <a:rPr spc="10" dirty="0">
                    <a:latin typeface="Calibri" panose="020F0502020204030204" pitchFamily="34" charset="0"/>
                    <a:cs typeface="Calibri" panose="020F0502020204030204" pitchFamily="34" charset="0"/>
                  </a:rPr>
                  <a:t> </a:t>
                </a:r>
                <a:r>
                  <a:rPr dirty="0">
                    <a:latin typeface="Calibri" panose="020F0502020204030204" pitchFamily="34" charset="0"/>
                    <a:cs typeface="Calibri" panose="020F0502020204030204" pitchFamily="34" charset="0"/>
                  </a:rPr>
                  <a:t>have</a:t>
                </a:r>
                <a:r>
                  <a:rPr spc="-15" dirty="0">
                    <a:latin typeface="Calibri" panose="020F0502020204030204" pitchFamily="34" charset="0"/>
                    <a:cs typeface="Calibri" panose="020F0502020204030204" pitchFamily="34" charset="0"/>
                  </a:rPr>
                  <a:t> </a:t>
                </a:r>
                <a:r>
                  <a:rPr dirty="0">
                    <a:latin typeface="Calibri" panose="020F0502020204030204" pitchFamily="34" charset="0"/>
                    <a:cs typeface="Calibri" panose="020F0502020204030204" pitchFamily="34" charset="0"/>
                  </a:rPr>
                  <a:t>a</a:t>
                </a:r>
                <a:r>
                  <a:rPr spc="-5" dirty="0">
                    <a:latin typeface="Calibri" panose="020F0502020204030204" pitchFamily="34" charset="0"/>
                    <a:cs typeface="Calibri" panose="020F0502020204030204" pitchFamily="34" charset="0"/>
                  </a:rPr>
                  <a:t> </a:t>
                </a:r>
                <a:r>
                  <a:rPr spc="-10" dirty="0">
                    <a:latin typeface="Calibri" panose="020F0502020204030204" pitchFamily="34" charset="0"/>
                    <a:cs typeface="Calibri" panose="020F0502020204030204" pitchFamily="34" charset="0"/>
                  </a:rPr>
                  <a:t>choice </a:t>
                </a:r>
                <a:r>
                  <a:rPr dirty="0">
                    <a:latin typeface="Calibri" panose="020F0502020204030204" pitchFamily="34" charset="0"/>
                    <a:cs typeface="Calibri" panose="020F0502020204030204" pitchFamily="34" charset="0"/>
                  </a:rPr>
                  <a:t>other</a:t>
                </a:r>
                <a:r>
                  <a:rPr spc="-20" dirty="0">
                    <a:latin typeface="Calibri" panose="020F0502020204030204" pitchFamily="34" charset="0"/>
                    <a:cs typeface="Calibri" panose="020F0502020204030204" pitchFamily="34" charset="0"/>
                  </a:rPr>
                  <a:t> </a:t>
                </a:r>
                <a:r>
                  <a:rPr dirty="0">
                    <a:latin typeface="Calibri" panose="020F0502020204030204" pitchFamily="34" charset="0"/>
                    <a:cs typeface="Calibri" panose="020F0502020204030204" pitchFamily="34" charset="0"/>
                  </a:rPr>
                  <a:t>than</a:t>
                </a:r>
                <a:r>
                  <a:rPr spc="-20" dirty="0">
                    <a:latin typeface="Calibri" panose="020F0502020204030204" pitchFamily="34" charset="0"/>
                    <a:cs typeface="Calibri" panose="020F0502020204030204" pitchFamily="34" charset="0"/>
                  </a:rPr>
                  <a:t> </a:t>
                </a:r>
                <a:r>
                  <a:rPr dirty="0">
                    <a:latin typeface="Calibri" panose="020F0502020204030204" pitchFamily="34" charset="0"/>
                    <a:cs typeface="Calibri" panose="020F0502020204030204" pitchFamily="34" charset="0"/>
                  </a:rPr>
                  <a:t>the</a:t>
                </a:r>
                <a:r>
                  <a:rPr spc="-5" dirty="0">
                    <a:latin typeface="Calibri" panose="020F0502020204030204" pitchFamily="34" charset="0"/>
                    <a:cs typeface="Calibri" panose="020F0502020204030204" pitchFamily="34" charset="0"/>
                  </a:rPr>
                  <a:t> </a:t>
                </a:r>
                <a:r>
                  <a:rPr spc="-10" dirty="0">
                    <a:latin typeface="Calibri" panose="020F0502020204030204" pitchFamily="34" charset="0"/>
                    <a:cs typeface="Calibri" panose="020F0502020204030204" pitchFamily="34" charset="0"/>
                  </a:rPr>
                  <a:t>existing </a:t>
                </a:r>
                <a:r>
                  <a:rPr dirty="0">
                    <a:latin typeface="Calibri" panose="020F0502020204030204" pitchFamily="34" charset="0"/>
                    <a:cs typeface="Calibri" panose="020F0502020204030204" pitchFamily="34" charset="0"/>
                  </a:rPr>
                  <a:t>electricity</a:t>
                </a:r>
                <a:r>
                  <a:rPr spc="-25" dirty="0">
                    <a:latin typeface="Calibri" panose="020F0502020204030204" pitchFamily="34" charset="0"/>
                    <a:cs typeface="Calibri" panose="020F0502020204030204" pitchFamily="34" charset="0"/>
                  </a:rPr>
                  <a:t> </a:t>
                </a:r>
                <a:r>
                  <a:rPr spc="-10" dirty="0">
                    <a:latin typeface="Calibri" panose="020F0502020204030204" pitchFamily="34" charset="0"/>
                    <a:cs typeface="Calibri" panose="020F0502020204030204" pitchFamily="34" charset="0"/>
                  </a:rPr>
                  <a:t>supplier</a:t>
                </a:r>
                <a:endParaRPr dirty="0">
                  <a:latin typeface="Calibri" panose="020F0502020204030204" pitchFamily="34" charset="0"/>
                  <a:cs typeface="Calibri" panose="020F0502020204030204" pitchFamily="34" charset="0"/>
                </a:endParaRPr>
              </a:p>
            </p:txBody>
          </p:sp>
          <p:sp>
            <p:nvSpPr>
              <p:cNvPr id="112" name="object 29">
                <a:extLst>
                  <a:ext uri="{FF2B5EF4-FFF2-40B4-BE49-F238E27FC236}">
                    <a16:creationId xmlns:a16="http://schemas.microsoft.com/office/drawing/2014/main" id="{8F7C79C9-6A11-2CC7-61C8-19E25015BEB6}"/>
                  </a:ext>
                </a:extLst>
              </p:cNvPr>
              <p:cNvSpPr/>
              <p:nvPr/>
            </p:nvSpPr>
            <p:spPr>
              <a:xfrm>
                <a:off x="7134606" y="2434050"/>
                <a:ext cx="1065530" cy="1065530"/>
              </a:xfrm>
              <a:custGeom>
                <a:avLst/>
                <a:gdLst/>
                <a:ahLst/>
                <a:cxnLst/>
                <a:rect l="l" t="t" r="r" b="b"/>
                <a:pathLst>
                  <a:path w="1065529" h="1065530">
                    <a:moveTo>
                      <a:pt x="532638" y="0"/>
                    </a:moveTo>
                    <a:lnTo>
                      <a:pt x="484162" y="2177"/>
                    </a:lnTo>
                    <a:lnTo>
                      <a:pt x="436905" y="8582"/>
                    </a:lnTo>
                    <a:lnTo>
                      <a:pt x="391054" y="19028"/>
                    </a:lnTo>
                    <a:lnTo>
                      <a:pt x="346797" y="33327"/>
                    </a:lnTo>
                    <a:lnTo>
                      <a:pt x="304324" y="51289"/>
                    </a:lnTo>
                    <a:lnTo>
                      <a:pt x="263821" y="72728"/>
                    </a:lnTo>
                    <a:lnTo>
                      <a:pt x="225477" y="97455"/>
                    </a:lnTo>
                    <a:lnTo>
                      <a:pt x="189480" y="125281"/>
                    </a:lnTo>
                    <a:lnTo>
                      <a:pt x="156019" y="156019"/>
                    </a:lnTo>
                    <a:lnTo>
                      <a:pt x="125281" y="189480"/>
                    </a:lnTo>
                    <a:lnTo>
                      <a:pt x="97455" y="225477"/>
                    </a:lnTo>
                    <a:lnTo>
                      <a:pt x="72728" y="263821"/>
                    </a:lnTo>
                    <a:lnTo>
                      <a:pt x="51289" y="304324"/>
                    </a:lnTo>
                    <a:lnTo>
                      <a:pt x="33327" y="346797"/>
                    </a:lnTo>
                    <a:lnTo>
                      <a:pt x="19028" y="391054"/>
                    </a:lnTo>
                    <a:lnTo>
                      <a:pt x="8582" y="436905"/>
                    </a:lnTo>
                    <a:lnTo>
                      <a:pt x="2177" y="484162"/>
                    </a:lnTo>
                    <a:lnTo>
                      <a:pt x="0" y="532638"/>
                    </a:lnTo>
                    <a:lnTo>
                      <a:pt x="2177" y="581113"/>
                    </a:lnTo>
                    <a:lnTo>
                      <a:pt x="8582" y="628370"/>
                    </a:lnTo>
                    <a:lnTo>
                      <a:pt x="19028" y="674221"/>
                    </a:lnTo>
                    <a:lnTo>
                      <a:pt x="33327" y="718478"/>
                    </a:lnTo>
                    <a:lnTo>
                      <a:pt x="51289" y="760951"/>
                    </a:lnTo>
                    <a:lnTo>
                      <a:pt x="72728" y="801454"/>
                    </a:lnTo>
                    <a:lnTo>
                      <a:pt x="97455" y="839798"/>
                    </a:lnTo>
                    <a:lnTo>
                      <a:pt x="125281" y="875795"/>
                    </a:lnTo>
                    <a:lnTo>
                      <a:pt x="156019" y="909256"/>
                    </a:lnTo>
                    <a:lnTo>
                      <a:pt x="189480" y="939994"/>
                    </a:lnTo>
                    <a:lnTo>
                      <a:pt x="225477" y="967820"/>
                    </a:lnTo>
                    <a:lnTo>
                      <a:pt x="263821" y="992547"/>
                    </a:lnTo>
                    <a:lnTo>
                      <a:pt x="304324" y="1013986"/>
                    </a:lnTo>
                    <a:lnTo>
                      <a:pt x="346797" y="1031948"/>
                    </a:lnTo>
                    <a:lnTo>
                      <a:pt x="391054" y="1046247"/>
                    </a:lnTo>
                    <a:lnTo>
                      <a:pt x="436905" y="1056693"/>
                    </a:lnTo>
                    <a:lnTo>
                      <a:pt x="484162" y="1063098"/>
                    </a:lnTo>
                    <a:lnTo>
                      <a:pt x="532638" y="1065276"/>
                    </a:lnTo>
                    <a:lnTo>
                      <a:pt x="581113" y="1063098"/>
                    </a:lnTo>
                    <a:lnTo>
                      <a:pt x="628370" y="1056693"/>
                    </a:lnTo>
                    <a:lnTo>
                      <a:pt x="674221" y="1046247"/>
                    </a:lnTo>
                    <a:lnTo>
                      <a:pt x="718478" y="1031948"/>
                    </a:lnTo>
                    <a:lnTo>
                      <a:pt x="760951" y="1013986"/>
                    </a:lnTo>
                    <a:lnTo>
                      <a:pt x="801454" y="992547"/>
                    </a:lnTo>
                    <a:lnTo>
                      <a:pt x="839798" y="967820"/>
                    </a:lnTo>
                    <a:lnTo>
                      <a:pt x="875795" y="939994"/>
                    </a:lnTo>
                    <a:lnTo>
                      <a:pt x="909256" y="909256"/>
                    </a:lnTo>
                    <a:lnTo>
                      <a:pt x="939994" y="875795"/>
                    </a:lnTo>
                    <a:lnTo>
                      <a:pt x="967820" y="839798"/>
                    </a:lnTo>
                    <a:lnTo>
                      <a:pt x="992547" y="801454"/>
                    </a:lnTo>
                    <a:lnTo>
                      <a:pt x="1013986" y="760951"/>
                    </a:lnTo>
                    <a:lnTo>
                      <a:pt x="1031948" y="718478"/>
                    </a:lnTo>
                    <a:lnTo>
                      <a:pt x="1046247" y="674221"/>
                    </a:lnTo>
                    <a:lnTo>
                      <a:pt x="1056693" y="628370"/>
                    </a:lnTo>
                    <a:lnTo>
                      <a:pt x="1063098" y="581113"/>
                    </a:lnTo>
                    <a:lnTo>
                      <a:pt x="1065276" y="532638"/>
                    </a:lnTo>
                    <a:lnTo>
                      <a:pt x="1063098" y="484162"/>
                    </a:lnTo>
                    <a:lnTo>
                      <a:pt x="1056693" y="436905"/>
                    </a:lnTo>
                    <a:lnTo>
                      <a:pt x="1046247" y="391054"/>
                    </a:lnTo>
                    <a:lnTo>
                      <a:pt x="1031948" y="346797"/>
                    </a:lnTo>
                    <a:lnTo>
                      <a:pt x="1013986" y="304324"/>
                    </a:lnTo>
                    <a:lnTo>
                      <a:pt x="992547" y="263821"/>
                    </a:lnTo>
                    <a:lnTo>
                      <a:pt x="967820" y="225477"/>
                    </a:lnTo>
                    <a:lnTo>
                      <a:pt x="939994" y="189480"/>
                    </a:lnTo>
                    <a:lnTo>
                      <a:pt x="909256" y="156019"/>
                    </a:lnTo>
                    <a:lnTo>
                      <a:pt x="875795" y="125281"/>
                    </a:lnTo>
                    <a:lnTo>
                      <a:pt x="839798" y="97455"/>
                    </a:lnTo>
                    <a:lnTo>
                      <a:pt x="801454" y="72728"/>
                    </a:lnTo>
                    <a:lnTo>
                      <a:pt x="760951" y="51289"/>
                    </a:lnTo>
                    <a:lnTo>
                      <a:pt x="718478" y="33327"/>
                    </a:lnTo>
                    <a:lnTo>
                      <a:pt x="674221" y="19028"/>
                    </a:lnTo>
                    <a:lnTo>
                      <a:pt x="628370" y="8582"/>
                    </a:lnTo>
                    <a:lnTo>
                      <a:pt x="581113" y="2177"/>
                    </a:lnTo>
                    <a:lnTo>
                      <a:pt x="532638" y="0"/>
                    </a:lnTo>
                    <a:close/>
                  </a:path>
                </a:pathLst>
              </a:custGeom>
              <a:solidFill>
                <a:srgbClr val="FFFFFF"/>
              </a:solidFill>
            </p:spPr>
            <p:txBody>
              <a:bodyPr wrap="square" lIns="0" tIns="0" rIns="0" bIns="0" rtlCol="0"/>
              <a:lstStyle/>
              <a:p>
                <a:endParaRPr sz="2400" dirty="0"/>
              </a:p>
            </p:txBody>
          </p:sp>
          <p:sp>
            <p:nvSpPr>
              <p:cNvPr id="113" name="object 30">
                <a:extLst>
                  <a:ext uri="{FF2B5EF4-FFF2-40B4-BE49-F238E27FC236}">
                    <a16:creationId xmlns:a16="http://schemas.microsoft.com/office/drawing/2014/main" id="{E9D941DE-82D8-75B6-BC37-2E0817ACDA4D}"/>
                  </a:ext>
                </a:extLst>
              </p:cNvPr>
              <p:cNvSpPr/>
              <p:nvPr/>
            </p:nvSpPr>
            <p:spPr>
              <a:xfrm>
                <a:off x="7134606" y="2434050"/>
                <a:ext cx="1065530" cy="1065530"/>
              </a:xfrm>
              <a:custGeom>
                <a:avLst/>
                <a:gdLst/>
                <a:ahLst/>
                <a:cxnLst/>
                <a:rect l="l" t="t" r="r" b="b"/>
                <a:pathLst>
                  <a:path w="1065529" h="1065530">
                    <a:moveTo>
                      <a:pt x="0" y="532638"/>
                    </a:moveTo>
                    <a:lnTo>
                      <a:pt x="2177" y="484162"/>
                    </a:lnTo>
                    <a:lnTo>
                      <a:pt x="8582" y="436905"/>
                    </a:lnTo>
                    <a:lnTo>
                      <a:pt x="19028" y="391054"/>
                    </a:lnTo>
                    <a:lnTo>
                      <a:pt x="33327" y="346797"/>
                    </a:lnTo>
                    <a:lnTo>
                      <a:pt x="51289" y="304324"/>
                    </a:lnTo>
                    <a:lnTo>
                      <a:pt x="72728" y="263821"/>
                    </a:lnTo>
                    <a:lnTo>
                      <a:pt x="97455" y="225477"/>
                    </a:lnTo>
                    <a:lnTo>
                      <a:pt x="125281" y="189480"/>
                    </a:lnTo>
                    <a:lnTo>
                      <a:pt x="156019" y="156019"/>
                    </a:lnTo>
                    <a:lnTo>
                      <a:pt x="189480" y="125281"/>
                    </a:lnTo>
                    <a:lnTo>
                      <a:pt x="225477" y="97455"/>
                    </a:lnTo>
                    <a:lnTo>
                      <a:pt x="263821" y="72728"/>
                    </a:lnTo>
                    <a:lnTo>
                      <a:pt x="304324" y="51289"/>
                    </a:lnTo>
                    <a:lnTo>
                      <a:pt x="346797" y="33327"/>
                    </a:lnTo>
                    <a:lnTo>
                      <a:pt x="391054" y="19028"/>
                    </a:lnTo>
                    <a:lnTo>
                      <a:pt x="436905" y="8582"/>
                    </a:lnTo>
                    <a:lnTo>
                      <a:pt x="484162" y="2177"/>
                    </a:lnTo>
                    <a:lnTo>
                      <a:pt x="532638" y="0"/>
                    </a:lnTo>
                    <a:lnTo>
                      <a:pt x="581113" y="2177"/>
                    </a:lnTo>
                    <a:lnTo>
                      <a:pt x="628370" y="8582"/>
                    </a:lnTo>
                    <a:lnTo>
                      <a:pt x="674221" y="19028"/>
                    </a:lnTo>
                    <a:lnTo>
                      <a:pt x="718478" y="33327"/>
                    </a:lnTo>
                    <a:lnTo>
                      <a:pt x="760951" y="51289"/>
                    </a:lnTo>
                    <a:lnTo>
                      <a:pt x="801454" y="72728"/>
                    </a:lnTo>
                    <a:lnTo>
                      <a:pt x="839798" y="97455"/>
                    </a:lnTo>
                    <a:lnTo>
                      <a:pt x="875795" y="125281"/>
                    </a:lnTo>
                    <a:lnTo>
                      <a:pt x="909256" y="156019"/>
                    </a:lnTo>
                    <a:lnTo>
                      <a:pt x="939994" y="189480"/>
                    </a:lnTo>
                    <a:lnTo>
                      <a:pt x="967820" y="225477"/>
                    </a:lnTo>
                    <a:lnTo>
                      <a:pt x="992547" y="263821"/>
                    </a:lnTo>
                    <a:lnTo>
                      <a:pt x="1013986" y="304324"/>
                    </a:lnTo>
                    <a:lnTo>
                      <a:pt x="1031948" y="346797"/>
                    </a:lnTo>
                    <a:lnTo>
                      <a:pt x="1046247" y="391054"/>
                    </a:lnTo>
                    <a:lnTo>
                      <a:pt x="1056693" y="436905"/>
                    </a:lnTo>
                    <a:lnTo>
                      <a:pt x="1063098" y="484162"/>
                    </a:lnTo>
                    <a:lnTo>
                      <a:pt x="1065276" y="532638"/>
                    </a:lnTo>
                    <a:lnTo>
                      <a:pt x="1063098" y="581113"/>
                    </a:lnTo>
                    <a:lnTo>
                      <a:pt x="1056693" y="628370"/>
                    </a:lnTo>
                    <a:lnTo>
                      <a:pt x="1046247" y="674221"/>
                    </a:lnTo>
                    <a:lnTo>
                      <a:pt x="1031948" y="718478"/>
                    </a:lnTo>
                    <a:lnTo>
                      <a:pt x="1013986" y="760951"/>
                    </a:lnTo>
                    <a:lnTo>
                      <a:pt x="992547" y="801454"/>
                    </a:lnTo>
                    <a:lnTo>
                      <a:pt x="967820" y="839798"/>
                    </a:lnTo>
                    <a:lnTo>
                      <a:pt x="939994" y="875795"/>
                    </a:lnTo>
                    <a:lnTo>
                      <a:pt x="909256" y="909256"/>
                    </a:lnTo>
                    <a:lnTo>
                      <a:pt x="875795" y="939994"/>
                    </a:lnTo>
                    <a:lnTo>
                      <a:pt x="839798" y="967820"/>
                    </a:lnTo>
                    <a:lnTo>
                      <a:pt x="801454" y="992547"/>
                    </a:lnTo>
                    <a:lnTo>
                      <a:pt x="760951" y="1013986"/>
                    </a:lnTo>
                    <a:lnTo>
                      <a:pt x="718478" y="1031948"/>
                    </a:lnTo>
                    <a:lnTo>
                      <a:pt x="674221" y="1046247"/>
                    </a:lnTo>
                    <a:lnTo>
                      <a:pt x="628370" y="1056693"/>
                    </a:lnTo>
                    <a:lnTo>
                      <a:pt x="581113" y="1063098"/>
                    </a:lnTo>
                    <a:lnTo>
                      <a:pt x="532638" y="1065276"/>
                    </a:lnTo>
                    <a:lnTo>
                      <a:pt x="484162" y="1063098"/>
                    </a:lnTo>
                    <a:lnTo>
                      <a:pt x="436905" y="1056693"/>
                    </a:lnTo>
                    <a:lnTo>
                      <a:pt x="391054" y="1046247"/>
                    </a:lnTo>
                    <a:lnTo>
                      <a:pt x="346797" y="1031948"/>
                    </a:lnTo>
                    <a:lnTo>
                      <a:pt x="304324" y="1013986"/>
                    </a:lnTo>
                    <a:lnTo>
                      <a:pt x="263821" y="992547"/>
                    </a:lnTo>
                    <a:lnTo>
                      <a:pt x="225477" y="967820"/>
                    </a:lnTo>
                    <a:lnTo>
                      <a:pt x="189480" y="939994"/>
                    </a:lnTo>
                    <a:lnTo>
                      <a:pt x="156019" y="909256"/>
                    </a:lnTo>
                    <a:lnTo>
                      <a:pt x="125281" y="875795"/>
                    </a:lnTo>
                    <a:lnTo>
                      <a:pt x="97455" y="839798"/>
                    </a:lnTo>
                    <a:lnTo>
                      <a:pt x="72728" y="801454"/>
                    </a:lnTo>
                    <a:lnTo>
                      <a:pt x="51289" y="760951"/>
                    </a:lnTo>
                    <a:lnTo>
                      <a:pt x="33327" y="718478"/>
                    </a:lnTo>
                    <a:lnTo>
                      <a:pt x="19028" y="674221"/>
                    </a:lnTo>
                    <a:lnTo>
                      <a:pt x="8582" y="628370"/>
                    </a:lnTo>
                    <a:lnTo>
                      <a:pt x="2177" y="581113"/>
                    </a:lnTo>
                    <a:lnTo>
                      <a:pt x="0" y="532638"/>
                    </a:lnTo>
                    <a:close/>
                  </a:path>
                </a:pathLst>
              </a:custGeom>
              <a:ln w="25400">
                <a:solidFill>
                  <a:srgbClr val="FFFFFF"/>
                </a:solidFill>
              </a:ln>
            </p:spPr>
            <p:txBody>
              <a:bodyPr wrap="square" lIns="0" tIns="0" rIns="0" bIns="0" rtlCol="0"/>
              <a:lstStyle/>
              <a:p>
                <a:endParaRPr sz="2400"/>
              </a:p>
            </p:txBody>
          </p:sp>
        </p:grpSp>
        <p:sp>
          <p:nvSpPr>
            <p:cNvPr id="114" name="object 31">
              <a:extLst>
                <a:ext uri="{FF2B5EF4-FFF2-40B4-BE49-F238E27FC236}">
                  <a16:creationId xmlns:a16="http://schemas.microsoft.com/office/drawing/2014/main" id="{ED6D64E7-453A-CDF0-ECCF-4F013F796348}"/>
                </a:ext>
              </a:extLst>
            </p:cNvPr>
            <p:cNvSpPr/>
            <p:nvPr/>
          </p:nvSpPr>
          <p:spPr>
            <a:xfrm>
              <a:off x="1426972" y="2664034"/>
              <a:ext cx="6417310" cy="560705"/>
            </a:xfrm>
            <a:custGeom>
              <a:avLst/>
              <a:gdLst/>
              <a:ahLst/>
              <a:cxnLst/>
              <a:rect l="l" t="t" r="r" b="b"/>
              <a:pathLst>
                <a:path w="6417309" h="560705">
                  <a:moveTo>
                    <a:pt x="413575" y="290334"/>
                  </a:moveTo>
                  <a:lnTo>
                    <a:pt x="412356" y="270192"/>
                  </a:lnTo>
                  <a:lnTo>
                    <a:pt x="408749" y="250875"/>
                  </a:lnTo>
                  <a:lnTo>
                    <a:pt x="402882" y="232422"/>
                  </a:lnTo>
                  <a:lnTo>
                    <a:pt x="394906" y="214909"/>
                  </a:lnTo>
                  <a:lnTo>
                    <a:pt x="364883" y="244944"/>
                  </a:lnTo>
                  <a:lnTo>
                    <a:pt x="368769" y="255701"/>
                  </a:lnTo>
                  <a:lnTo>
                    <a:pt x="371475" y="266890"/>
                  </a:lnTo>
                  <a:lnTo>
                    <a:pt x="373049" y="278460"/>
                  </a:lnTo>
                  <a:lnTo>
                    <a:pt x="373557" y="290334"/>
                  </a:lnTo>
                  <a:lnTo>
                    <a:pt x="364083" y="336981"/>
                  </a:lnTo>
                  <a:lnTo>
                    <a:pt x="338289" y="375183"/>
                  </a:lnTo>
                  <a:lnTo>
                    <a:pt x="300101" y="400989"/>
                  </a:lnTo>
                  <a:lnTo>
                    <a:pt x="253492" y="410476"/>
                  </a:lnTo>
                  <a:lnTo>
                    <a:pt x="206870" y="400989"/>
                  </a:lnTo>
                  <a:lnTo>
                    <a:pt x="168681" y="375183"/>
                  </a:lnTo>
                  <a:lnTo>
                    <a:pt x="142887" y="336981"/>
                  </a:lnTo>
                  <a:lnTo>
                    <a:pt x="133413" y="290334"/>
                  </a:lnTo>
                  <a:lnTo>
                    <a:pt x="142887" y="243687"/>
                  </a:lnTo>
                  <a:lnTo>
                    <a:pt x="168681" y="205486"/>
                  </a:lnTo>
                  <a:lnTo>
                    <a:pt x="206870" y="179679"/>
                  </a:lnTo>
                  <a:lnTo>
                    <a:pt x="253492" y="170192"/>
                  </a:lnTo>
                  <a:lnTo>
                    <a:pt x="265353" y="170802"/>
                  </a:lnTo>
                  <a:lnTo>
                    <a:pt x="276910" y="172529"/>
                  </a:lnTo>
                  <a:lnTo>
                    <a:pt x="288099" y="175260"/>
                  </a:lnTo>
                  <a:lnTo>
                    <a:pt x="298843" y="178866"/>
                  </a:lnTo>
                  <a:lnTo>
                    <a:pt x="328866" y="148844"/>
                  </a:lnTo>
                  <a:lnTo>
                    <a:pt x="311365" y="140855"/>
                  </a:lnTo>
                  <a:lnTo>
                    <a:pt x="292925" y="134988"/>
                  </a:lnTo>
                  <a:lnTo>
                    <a:pt x="273608" y="131381"/>
                  </a:lnTo>
                  <a:lnTo>
                    <a:pt x="253492" y="130149"/>
                  </a:lnTo>
                  <a:lnTo>
                    <a:pt x="203022" y="138353"/>
                  </a:lnTo>
                  <a:lnTo>
                    <a:pt x="159092" y="161163"/>
                  </a:lnTo>
                  <a:lnTo>
                    <a:pt x="124383" y="195884"/>
                  </a:lnTo>
                  <a:lnTo>
                    <a:pt x="101587" y="239839"/>
                  </a:lnTo>
                  <a:lnTo>
                    <a:pt x="93395" y="290334"/>
                  </a:lnTo>
                  <a:lnTo>
                    <a:pt x="101587" y="340817"/>
                  </a:lnTo>
                  <a:lnTo>
                    <a:pt x="124383" y="384771"/>
                  </a:lnTo>
                  <a:lnTo>
                    <a:pt x="159092" y="419506"/>
                  </a:lnTo>
                  <a:lnTo>
                    <a:pt x="203022" y="442315"/>
                  </a:lnTo>
                  <a:lnTo>
                    <a:pt x="253492" y="450519"/>
                  </a:lnTo>
                  <a:lnTo>
                    <a:pt x="303949" y="442315"/>
                  </a:lnTo>
                  <a:lnTo>
                    <a:pt x="347878" y="419506"/>
                  </a:lnTo>
                  <a:lnTo>
                    <a:pt x="382587" y="384771"/>
                  </a:lnTo>
                  <a:lnTo>
                    <a:pt x="405384" y="340829"/>
                  </a:lnTo>
                  <a:lnTo>
                    <a:pt x="413575" y="290334"/>
                  </a:lnTo>
                  <a:close/>
                </a:path>
                <a:path w="6417309" h="560705">
                  <a:moveTo>
                    <a:pt x="506971" y="290334"/>
                  </a:moveTo>
                  <a:lnTo>
                    <a:pt x="505002" y="258445"/>
                  </a:lnTo>
                  <a:lnTo>
                    <a:pt x="499211" y="227926"/>
                  </a:lnTo>
                  <a:lnTo>
                    <a:pt x="489800" y="198920"/>
                  </a:lnTo>
                  <a:lnTo>
                    <a:pt x="476948" y="171526"/>
                  </a:lnTo>
                  <a:lnTo>
                    <a:pt x="472287" y="175539"/>
                  </a:lnTo>
                  <a:lnTo>
                    <a:pt x="463613" y="184873"/>
                  </a:lnTo>
                  <a:lnTo>
                    <a:pt x="436930" y="181546"/>
                  </a:lnTo>
                  <a:lnTo>
                    <a:pt x="449503" y="206425"/>
                  </a:lnTo>
                  <a:lnTo>
                    <a:pt x="458939" y="232930"/>
                  </a:lnTo>
                  <a:lnTo>
                    <a:pt x="464883" y="260946"/>
                  </a:lnTo>
                  <a:lnTo>
                    <a:pt x="466940" y="290334"/>
                  </a:lnTo>
                  <a:lnTo>
                    <a:pt x="461276" y="339153"/>
                  </a:lnTo>
                  <a:lnTo>
                    <a:pt x="445160" y="384048"/>
                  </a:lnTo>
                  <a:lnTo>
                    <a:pt x="419900" y="423710"/>
                  </a:lnTo>
                  <a:lnTo>
                    <a:pt x="386791" y="456831"/>
                  </a:lnTo>
                  <a:lnTo>
                    <a:pt x="347141" y="482117"/>
                  </a:lnTo>
                  <a:lnTo>
                    <a:pt x="302272" y="498246"/>
                  </a:lnTo>
                  <a:lnTo>
                    <a:pt x="253492" y="503910"/>
                  </a:lnTo>
                  <a:lnTo>
                    <a:pt x="204698" y="498246"/>
                  </a:lnTo>
                  <a:lnTo>
                    <a:pt x="159829" y="482117"/>
                  </a:lnTo>
                  <a:lnTo>
                    <a:pt x="120180" y="456831"/>
                  </a:lnTo>
                  <a:lnTo>
                    <a:pt x="87071" y="423710"/>
                  </a:lnTo>
                  <a:lnTo>
                    <a:pt x="61810" y="384048"/>
                  </a:lnTo>
                  <a:lnTo>
                    <a:pt x="45694" y="339153"/>
                  </a:lnTo>
                  <a:lnTo>
                    <a:pt x="40030" y="290334"/>
                  </a:lnTo>
                  <a:lnTo>
                    <a:pt x="45694" y="241515"/>
                  </a:lnTo>
                  <a:lnTo>
                    <a:pt x="61810" y="196621"/>
                  </a:lnTo>
                  <a:lnTo>
                    <a:pt x="87071" y="156959"/>
                  </a:lnTo>
                  <a:lnTo>
                    <a:pt x="120180" y="123825"/>
                  </a:lnTo>
                  <a:lnTo>
                    <a:pt x="159829" y="98552"/>
                  </a:lnTo>
                  <a:lnTo>
                    <a:pt x="204698" y="82423"/>
                  </a:lnTo>
                  <a:lnTo>
                    <a:pt x="253492" y="76758"/>
                  </a:lnTo>
                  <a:lnTo>
                    <a:pt x="282575" y="78727"/>
                  </a:lnTo>
                  <a:lnTo>
                    <a:pt x="310603" y="84518"/>
                  </a:lnTo>
                  <a:lnTo>
                    <a:pt x="337248" y="93929"/>
                  </a:lnTo>
                  <a:lnTo>
                    <a:pt x="362216" y="106794"/>
                  </a:lnTo>
                  <a:lnTo>
                    <a:pt x="358876" y="80098"/>
                  </a:lnTo>
                  <a:lnTo>
                    <a:pt x="315937" y="44386"/>
                  </a:lnTo>
                  <a:lnTo>
                    <a:pt x="253492" y="36715"/>
                  </a:lnTo>
                  <a:lnTo>
                    <a:pt x="207899" y="40792"/>
                  </a:lnTo>
                  <a:lnTo>
                    <a:pt x="164998" y="52565"/>
                  </a:lnTo>
                  <a:lnTo>
                    <a:pt x="125514" y="71323"/>
                  </a:lnTo>
                  <a:lnTo>
                    <a:pt x="90131" y="96329"/>
                  </a:lnTo>
                  <a:lnTo>
                    <a:pt x="59588" y="126885"/>
                  </a:lnTo>
                  <a:lnTo>
                    <a:pt x="34594" y="162280"/>
                  </a:lnTo>
                  <a:lnTo>
                    <a:pt x="15849" y="201803"/>
                  </a:lnTo>
                  <a:lnTo>
                    <a:pt x="4076" y="244716"/>
                  </a:lnTo>
                  <a:lnTo>
                    <a:pt x="0" y="290334"/>
                  </a:lnTo>
                  <a:lnTo>
                    <a:pt x="4076" y="335940"/>
                  </a:lnTo>
                  <a:lnTo>
                    <a:pt x="15849" y="378866"/>
                  </a:lnTo>
                  <a:lnTo>
                    <a:pt x="34594" y="418376"/>
                  </a:lnTo>
                  <a:lnTo>
                    <a:pt x="59588" y="453771"/>
                  </a:lnTo>
                  <a:lnTo>
                    <a:pt x="90131" y="484339"/>
                  </a:lnTo>
                  <a:lnTo>
                    <a:pt x="125514" y="509346"/>
                  </a:lnTo>
                  <a:lnTo>
                    <a:pt x="164998" y="528104"/>
                  </a:lnTo>
                  <a:lnTo>
                    <a:pt x="207899" y="539877"/>
                  </a:lnTo>
                  <a:lnTo>
                    <a:pt x="253492" y="543953"/>
                  </a:lnTo>
                  <a:lnTo>
                    <a:pt x="299072" y="539877"/>
                  </a:lnTo>
                  <a:lnTo>
                    <a:pt x="341972" y="528104"/>
                  </a:lnTo>
                  <a:lnTo>
                    <a:pt x="381457" y="509346"/>
                  </a:lnTo>
                  <a:lnTo>
                    <a:pt x="416839" y="484339"/>
                  </a:lnTo>
                  <a:lnTo>
                    <a:pt x="447382" y="453771"/>
                  </a:lnTo>
                  <a:lnTo>
                    <a:pt x="472376" y="418376"/>
                  </a:lnTo>
                  <a:lnTo>
                    <a:pt x="491121" y="378866"/>
                  </a:lnTo>
                  <a:lnTo>
                    <a:pt x="502894" y="335940"/>
                  </a:lnTo>
                  <a:lnTo>
                    <a:pt x="506971" y="290334"/>
                  </a:lnTo>
                  <a:close/>
                </a:path>
                <a:path w="6417309" h="560705">
                  <a:moveTo>
                    <a:pt x="526986" y="83426"/>
                  </a:moveTo>
                  <a:lnTo>
                    <a:pt x="466940" y="76758"/>
                  </a:lnTo>
                  <a:lnTo>
                    <a:pt x="460273" y="16687"/>
                  </a:lnTo>
                  <a:lnTo>
                    <a:pt x="386892" y="90106"/>
                  </a:lnTo>
                  <a:lnTo>
                    <a:pt x="390906" y="124815"/>
                  </a:lnTo>
                  <a:lnTo>
                    <a:pt x="284175" y="231597"/>
                  </a:lnTo>
                  <a:lnTo>
                    <a:pt x="276923" y="228371"/>
                  </a:lnTo>
                  <a:lnTo>
                    <a:pt x="269240" y="225844"/>
                  </a:lnTo>
                  <a:lnTo>
                    <a:pt x="261188" y="224180"/>
                  </a:lnTo>
                  <a:lnTo>
                    <a:pt x="252818" y="223596"/>
                  </a:lnTo>
                  <a:lnTo>
                    <a:pt x="226923" y="228854"/>
                  </a:lnTo>
                  <a:lnTo>
                    <a:pt x="205701" y="243192"/>
                  </a:lnTo>
                  <a:lnTo>
                    <a:pt x="191376" y="264414"/>
                  </a:lnTo>
                  <a:lnTo>
                    <a:pt x="186118" y="290334"/>
                  </a:lnTo>
                  <a:lnTo>
                    <a:pt x="191376" y="316242"/>
                  </a:lnTo>
                  <a:lnTo>
                    <a:pt x="205701" y="337477"/>
                  </a:lnTo>
                  <a:lnTo>
                    <a:pt x="226923" y="351815"/>
                  </a:lnTo>
                  <a:lnTo>
                    <a:pt x="252818" y="357073"/>
                  </a:lnTo>
                  <a:lnTo>
                    <a:pt x="278714" y="351815"/>
                  </a:lnTo>
                  <a:lnTo>
                    <a:pt x="299935" y="337477"/>
                  </a:lnTo>
                  <a:lnTo>
                    <a:pt x="314261" y="316242"/>
                  </a:lnTo>
                  <a:lnTo>
                    <a:pt x="319519" y="290334"/>
                  </a:lnTo>
                  <a:lnTo>
                    <a:pt x="319036" y="282067"/>
                  </a:lnTo>
                  <a:lnTo>
                    <a:pt x="317601" y="274231"/>
                  </a:lnTo>
                  <a:lnTo>
                    <a:pt x="315302" y="266776"/>
                  </a:lnTo>
                  <a:lnTo>
                    <a:pt x="312191" y="259626"/>
                  </a:lnTo>
                  <a:lnTo>
                    <a:pt x="418922" y="152844"/>
                  </a:lnTo>
                  <a:lnTo>
                    <a:pt x="453605" y="156845"/>
                  </a:lnTo>
                  <a:lnTo>
                    <a:pt x="526986" y="83426"/>
                  </a:lnTo>
                  <a:close/>
                </a:path>
                <a:path w="6417309" h="560705">
                  <a:moveTo>
                    <a:pt x="2204466" y="453859"/>
                  </a:moveTo>
                  <a:lnTo>
                    <a:pt x="2084400" y="453859"/>
                  </a:lnTo>
                  <a:lnTo>
                    <a:pt x="2076526" y="452120"/>
                  </a:lnTo>
                  <a:lnTo>
                    <a:pt x="2056282" y="422808"/>
                  </a:lnTo>
                  <a:lnTo>
                    <a:pt x="2057920" y="415937"/>
                  </a:lnTo>
                  <a:lnTo>
                    <a:pt x="2131085" y="288861"/>
                  </a:lnTo>
                  <a:lnTo>
                    <a:pt x="2179713" y="316826"/>
                  </a:lnTo>
                  <a:lnTo>
                    <a:pt x="2149830" y="205105"/>
                  </a:lnTo>
                  <a:lnTo>
                    <a:pt x="2038172" y="235000"/>
                  </a:lnTo>
                  <a:lnTo>
                    <a:pt x="2083930" y="261696"/>
                  </a:lnTo>
                  <a:lnTo>
                    <a:pt x="2014550" y="381838"/>
                  </a:lnTo>
                  <a:lnTo>
                    <a:pt x="2005253" y="401294"/>
                  </a:lnTo>
                  <a:lnTo>
                    <a:pt x="2001583" y="422173"/>
                  </a:lnTo>
                  <a:lnTo>
                    <a:pt x="2003602" y="443268"/>
                  </a:lnTo>
                  <a:lnTo>
                    <a:pt x="2024735" y="481393"/>
                  </a:lnTo>
                  <a:lnTo>
                    <a:pt x="2062238" y="503897"/>
                  </a:lnTo>
                  <a:lnTo>
                    <a:pt x="2084400" y="507250"/>
                  </a:lnTo>
                  <a:lnTo>
                    <a:pt x="2204466" y="507250"/>
                  </a:lnTo>
                  <a:lnTo>
                    <a:pt x="2204466" y="453859"/>
                  </a:lnTo>
                  <a:close/>
                </a:path>
                <a:path w="6417309" h="560705">
                  <a:moveTo>
                    <a:pt x="2465819" y="151447"/>
                  </a:moveTo>
                  <a:lnTo>
                    <a:pt x="2420061" y="178142"/>
                  </a:lnTo>
                  <a:lnTo>
                    <a:pt x="2350693" y="58000"/>
                  </a:lnTo>
                  <a:lnTo>
                    <a:pt x="2338501" y="40195"/>
                  </a:lnTo>
                  <a:lnTo>
                    <a:pt x="2322284" y="26568"/>
                  </a:lnTo>
                  <a:lnTo>
                    <a:pt x="2303018" y="17741"/>
                  </a:lnTo>
                  <a:lnTo>
                    <a:pt x="2281707" y="14351"/>
                  </a:lnTo>
                  <a:lnTo>
                    <a:pt x="2259711" y="17208"/>
                  </a:lnTo>
                  <a:lnTo>
                    <a:pt x="2239581" y="25628"/>
                  </a:lnTo>
                  <a:lnTo>
                    <a:pt x="2222360" y="39014"/>
                  </a:lnTo>
                  <a:lnTo>
                    <a:pt x="2209076" y="56794"/>
                  </a:lnTo>
                  <a:lnTo>
                    <a:pt x="2153234" y="161124"/>
                  </a:lnTo>
                  <a:lnTo>
                    <a:pt x="2200402" y="188417"/>
                  </a:lnTo>
                  <a:lnTo>
                    <a:pt x="2256294" y="84099"/>
                  </a:lnTo>
                  <a:lnTo>
                    <a:pt x="2260854" y="78003"/>
                  </a:lnTo>
                  <a:lnTo>
                    <a:pt x="2266683" y="73317"/>
                  </a:lnTo>
                  <a:lnTo>
                    <a:pt x="2273503" y="70218"/>
                  </a:lnTo>
                  <a:lnTo>
                    <a:pt x="2280983" y="68884"/>
                  </a:lnTo>
                  <a:lnTo>
                    <a:pt x="2288032" y="70332"/>
                  </a:lnTo>
                  <a:lnTo>
                    <a:pt x="2294293" y="73609"/>
                  </a:lnTo>
                  <a:lnTo>
                    <a:pt x="2299436" y="78447"/>
                  </a:lnTo>
                  <a:lnTo>
                    <a:pt x="2373096" y="205498"/>
                  </a:lnTo>
                  <a:lnTo>
                    <a:pt x="2324544" y="233603"/>
                  </a:lnTo>
                  <a:lnTo>
                    <a:pt x="2435936" y="263499"/>
                  </a:lnTo>
                  <a:lnTo>
                    <a:pt x="2465819" y="151447"/>
                  </a:lnTo>
                  <a:close/>
                </a:path>
                <a:path w="6417309" h="560705">
                  <a:moveTo>
                    <a:pt x="2520594" y="290601"/>
                  </a:moveTo>
                  <a:lnTo>
                    <a:pt x="2506421" y="294411"/>
                  </a:lnTo>
                  <a:lnTo>
                    <a:pt x="2471178" y="302679"/>
                  </a:lnTo>
                  <a:lnTo>
                    <a:pt x="2425839" y="310680"/>
                  </a:lnTo>
                  <a:lnTo>
                    <a:pt x="2381377" y="313690"/>
                  </a:lnTo>
                  <a:lnTo>
                    <a:pt x="2340813" y="322745"/>
                  </a:lnTo>
                  <a:lnTo>
                    <a:pt x="2308009" y="345846"/>
                  </a:lnTo>
                  <a:lnTo>
                    <a:pt x="2286254" y="379564"/>
                  </a:lnTo>
                  <a:lnTo>
                    <a:pt x="2278850" y="420484"/>
                  </a:lnTo>
                  <a:lnTo>
                    <a:pt x="2279675" y="433857"/>
                  </a:lnTo>
                  <a:lnTo>
                    <a:pt x="2282113" y="447001"/>
                  </a:lnTo>
                  <a:lnTo>
                    <a:pt x="2286114" y="459740"/>
                  </a:lnTo>
                  <a:lnTo>
                    <a:pt x="2291651" y="471944"/>
                  </a:lnTo>
                  <a:lnTo>
                    <a:pt x="2297531" y="465620"/>
                  </a:lnTo>
                  <a:lnTo>
                    <a:pt x="2303691" y="459232"/>
                  </a:lnTo>
                  <a:lnTo>
                    <a:pt x="2334336" y="429488"/>
                  </a:lnTo>
                  <a:lnTo>
                    <a:pt x="2370810" y="398373"/>
                  </a:lnTo>
                  <a:lnTo>
                    <a:pt x="2389784" y="383705"/>
                  </a:lnTo>
                  <a:lnTo>
                    <a:pt x="2391105" y="382511"/>
                  </a:lnTo>
                  <a:lnTo>
                    <a:pt x="2392807" y="381825"/>
                  </a:lnTo>
                  <a:lnTo>
                    <a:pt x="2395956" y="381825"/>
                  </a:lnTo>
                  <a:lnTo>
                    <a:pt x="2399284" y="382003"/>
                  </a:lnTo>
                  <a:lnTo>
                    <a:pt x="2402471" y="385559"/>
                  </a:lnTo>
                  <a:lnTo>
                    <a:pt x="2402255" y="389712"/>
                  </a:lnTo>
                  <a:lnTo>
                    <a:pt x="2293924" y="492493"/>
                  </a:lnTo>
                  <a:lnTo>
                    <a:pt x="2289924" y="496900"/>
                  </a:lnTo>
                  <a:lnTo>
                    <a:pt x="2262517" y="540092"/>
                  </a:lnTo>
                  <a:lnTo>
                    <a:pt x="2260562" y="550760"/>
                  </a:lnTo>
                  <a:lnTo>
                    <a:pt x="2282177" y="550760"/>
                  </a:lnTo>
                  <a:lnTo>
                    <a:pt x="2284526" y="542658"/>
                  </a:lnTo>
                  <a:lnTo>
                    <a:pt x="2291143" y="531456"/>
                  </a:lnTo>
                  <a:lnTo>
                    <a:pt x="2301405" y="517779"/>
                  </a:lnTo>
                  <a:lnTo>
                    <a:pt x="2314664" y="502246"/>
                  </a:lnTo>
                  <a:lnTo>
                    <a:pt x="2329345" y="513207"/>
                  </a:lnTo>
                  <a:lnTo>
                    <a:pt x="2345639" y="521233"/>
                  </a:lnTo>
                  <a:lnTo>
                    <a:pt x="2363127" y="526161"/>
                  </a:lnTo>
                  <a:lnTo>
                    <a:pt x="2381377" y="527799"/>
                  </a:lnTo>
                  <a:lnTo>
                    <a:pt x="2394737" y="526935"/>
                  </a:lnTo>
                  <a:lnTo>
                    <a:pt x="2407793" y="524268"/>
                  </a:lnTo>
                  <a:lnTo>
                    <a:pt x="2420366" y="519849"/>
                  </a:lnTo>
                  <a:lnTo>
                    <a:pt x="2432266" y="513727"/>
                  </a:lnTo>
                  <a:lnTo>
                    <a:pt x="2446528" y="502246"/>
                  </a:lnTo>
                  <a:lnTo>
                    <a:pt x="2471572" y="482092"/>
                  </a:lnTo>
                  <a:lnTo>
                    <a:pt x="2497251" y="442607"/>
                  </a:lnTo>
                  <a:lnTo>
                    <a:pt x="2512098" y="396646"/>
                  </a:lnTo>
                  <a:lnTo>
                    <a:pt x="2513990" y="382511"/>
                  </a:lnTo>
                  <a:lnTo>
                    <a:pt x="2514079" y="381825"/>
                  </a:lnTo>
                  <a:lnTo>
                    <a:pt x="2518905" y="345846"/>
                  </a:lnTo>
                  <a:lnTo>
                    <a:pt x="2518943" y="345528"/>
                  </a:lnTo>
                  <a:lnTo>
                    <a:pt x="2520480" y="294411"/>
                  </a:lnTo>
                  <a:lnTo>
                    <a:pt x="2520594" y="290601"/>
                  </a:lnTo>
                  <a:close/>
                </a:path>
                <a:path w="6417309" h="560705">
                  <a:moveTo>
                    <a:pt x="4508766" y="230378"/>
                  </a:moveTo>
                  <a:lnTo>
                    <a:pt x="4504702" y="209575"/>
                  </a:lnTo>
                  <a:lnTo>
                    <a:pt x="4492828" y="191947"/>
                  </a:lnTo>
                  <a:lnTo>
                    <a:pt x="4475696" y="180708"/>
                  </a:lnTo>
                  <a:lnTo>
                    <a:pt x="4455553" y="176720"/>
                  </a:lnTo>
                  <a:lnTo>
                    <a:pt x="4434662" y="180873"/>
                  </a:lnTo>
                  <a:lnTo>
                    <a:pt x="4402493" y="220205"/>
                  </a:lnTo>
                  <a:lnTo>
                    <a:pt x="4401985" y="237604"/>
                  </a:lnTo>
                  <a:lnTo>
                    <a:pt x="4315930" y="273646"/>
                  </a:lnTo>
                  <a:lnTo>
                    <a:pt x="4315434" y="272986"/>
                  </a:lnTo>
                  <a:lnTo>
                    <a:pt x="4307637" y="262458"/>
                  </a:lnTo>
                  <a:lnTo>
                    <a:pt x="4297083" y="253212"/>
                  </a:lnTo>
                  <a:lnTo>
                    <a:pt x="4284789" y="246341"/>
                  </a:lnTo>
                  <a:lnTo>
                    <a:pt x="4271238" y="242277"/>
                  </a:lnTo>
                  <a:lnTo>
                    <a:pt x="4271238" y="149504"/>
                  </a:lnTo>
                  <a:lnTo>
                    <a:pt x="4287063" y="142417"/>
                  </a:lnTo>
                  <a:lnTo>
                    <a:pt x="4299750" y="130822"/>
                  </a:lnTo>
                  <a:lnTo>
                    <a:pt x="4308195" y="115722"/>
                  </a:lnTo>
                  <a:lnTo>
                    <a:pt x="4311256" y="98120"/>
                  </a:lnTo>
                  <a:lnTo>
                    <a:pt x="4307052" y="77381"/>
                  </a:lnTo>
                  <a:lnTo>
                    <a:pt x="4295584" y="60401"/>
                  </a:lnTo>
                  <a:lnTo>
                    <a:pt x="4278617" y="48933"/>
                  </a:lnTo>
                  <a:lnTo>
                    <a:pt x="4257891" y="44716"/>
                  </a:lnTo>
                  <a:lnTo>
                    <a:pt x="4237177" y="48933"/>
                  </a:lnTo>
                  <a:lnTo>
                    <a:pt x="4220210" y="60401"/>
                  </a:lnTo>
                  <a:lnTo>
                    <a:pt x="4208742" y="77381"/>
                  </a:lnTo>
                  <a:lnTo>
                    <a:pt x="4204525" y="98120"/>
                  </a:lnTo>
                  <a:lnTo>
                    <a:pt x="4207599" y="115722"/>
                  </a:lnTo>
                  <a:lnTo>
                    <a:pt x="4216031" y="130822"/>
                  </a:lnTo>
                  <a:lnTo>
                    <a:pt x="4228731" y="142417"/>
                  </a:lnTo>
                  <a:lnTo>
                    <a:pt x="4244556" y="149504"/>
                  </a:lnTo>
                  <a:lnTo>
                    <a:pt x="4244556" y="241617"/>
                  </a:lnTo>
                  <a:lnTo>
                    <a:pt x="4230725" y="245668"/>
                  </a:lnTo>
                  <a:lnTo>
                    <a:pt x="4218457" y="252539"/>
                  </a:lnTo>
                  <a:lnTo>
                    <a:pt x="4208068" y="261785"/>
                  </a:lnTo>
                  <a:lnTo>
                    <a:pt x="4199864" y="272986"/>
                  </a:lnTo>
                  <a:lnTo>
                    <a:pt x="4172775" y="261632"/>
                  </a:lnTo>
                  <a:lnTo>
                    <a:pt x="4113809" y="236943"/>
                  </a:lnTo>
                  <a:lnTo>
                    <a:pt x="4113403" y="220205"/>
                  </a:lnTo>
                  <a:lnTo>
                    <a:pt x="4113390" y="219532"/>
                  </a:lnTo>
                  <a:lnTo>
                    <a:pt x="4107472" y="203314"/>
                  </a:lnTo>
                  <a:lnTo>
                    <a:pt x="4096550" y="189725"/>
                  </a:lnTo>
                  <a:lnTo>
                    <a:pt x="4081119" y="180213"/>
                  </a:lnTo>
                  <a:lnTo>
                    <a:pt x="4060240" y="176060"/>
                  </a:lnTo>
                  <a:lnTo>
                    <a:pt x="4040098" y="180035"/>
                  </a:lnTo>
                  <a:lnTo>
                    <a:pt x="4022966" y="191287"/>
                  </a:lnTo>
                  <a:lnTo>
                    <a:pt x="4011079" y="208902"/>
                  </a:lnTo>
                  <a:lnTo>
                    <a:pt x="4006939" y="229806"/>
                  </a:lnTo>
                  <a:lnTo>
                    <a:pt x="4010914" y="249948"/>
                  </a:lnTo>
                  <a:lnTo>
                    <a:pt x="4022153" y="267093"/>
                  </a:lnTo>
                  <a:lnTo>
                    <a:pt x="4039768" y="278993"/>
                  </a:lnTo>
                  <a:lnTo>
                    <a:pt x="4057167" y="282943"/>
                  </a:lnTo>
                  <a:lnTo>
                    <a:pt x="4074376" y="281076"/>
                  </a:lnTo>
                  <a:lnTo>
                    <a:pt x="4089946" y="273824"/>
                  </a:lnTo>
                  <a:lnTo>
                    <a:pt x="4102468" y="261632"/>
                  </a:lnTo>
                  <a:lnTo>
                    <a:pt x="4190517" y="297675"/>
                  </a:lnTo>
                  <a:lnTo>
                    <a:pt x="4189857" y="300342"/>
                  </a:lnTo>
                  <a:lnTo>
                    <a:pt x="4189907" y="307022"/>
                  </a:lnTo>
                  <a:lnTo>
                    <a:pt x="4190720" y="317207"/>
                  </a:lnTo>
                  <a:lnTo>
                    <a:pt x="4193273" y="327621"/>
                  </a:lnTo>
                  <a:lnTo>
                    <a:pt x="4197451" y="337413"/>
                  </a:lnTo>
                  <a:lnTo>
                    <a:pt x="4203192" y="346392"/>
                  </a:lnTo>
                  <a:lnTo>
                    <a:pt x="4133824" y="416483"/>
                  </a:lnTo>
                  <a:lnTo>
                    <a:pt x="4117429" y="410222"/>
                  </a:lnTo>
                  <a:lnTo>
                    <a:pt x="4100220" y="409473"/>
                  </a:lnTo>
                  <a:lnTo>
                    <a:pt x="4083634" y="414223"/>
                  </a:lnTo>
                  <a:lnTo>
                    <a:pt x="4069118" y="424484"/>
                  </a:lnTo>
                  <a:lnTo>
                    <a:pt x="4057485" y="442087"/>
                  </a:lnTo>
                  <a:lnTo>
                    <a:pt x="4053611" y="462191"/>
                  </a:lnTo>
                  <a:lnTo>
                    <a:pt x="4057485" y="482307"/>
                  </a:lnTo>
                  <a:lnTo>
                    <a:pt x="4069118" y="499910"/>
                  </a:lnTo>
                  <a:lnTo>
                    <a:pt x="4086707" y="511543"/>
                  </a:lnTo>
                  <a:lnTo>
                    <a:pt x="4106811" y="515429"/>
                  </a:lnTo>
                  <a:lnTo>
                    <a:pt x="4126903" y="511543"/>
                  </a:lnTo>
                  <a:lnTo>
                    <a:pt x="4144492" y="499910"/>
                  </a:lnTo>
                  <a:lnTo>
                    <a:pt x="4154754" y="485381"/>
                  </a:lnTo>
                  <a:lnTo>
                    <a:pt x="4159478" y="468871"/>
                  </a:lnTo>
                  <a:lnTo>
                    <a:pt x="4159250" y="462864"/>
                  </a:lnTo>
                  <a:lnTo>
                    <a:pt x="4158754" y="451586"/>
                  </a:lnTo>
                  <a:lnTo>
                    <a:pt x="4152493" y="435165"/>
                  </a:lnTo>
                  <a:lnTo>
                    <a:pt x="4171175" y="416483"/>
                  </a:lnTo>
                  <a:lnTo>
                    <a:pt x="4223207" y="364413"/>
                  </a:lnTo>
                  <a:lnTo>
                    <a:pt x="4230954" y="368414"/>
                  </a:lnTo>
                  <a:lnTo>
                    <a:pt x="4239133" y="371348"/>
                  </a:lnTo>
                  <a:lnTo>
                    <a:pt x="4247693" y="373151"/>
                  </a:lnTo>
                  <a:lnTo>
                    <a:pt x="4256557" y="373761"/>
                  </a:lnTo>
                  <a:lnTo>
                    <a:pt x="4259224" y="373761"/>
                  </a:lnTo>
                  <a:lnTo>
                    <a:pt x="4268101" y="373151"/>
                  </a:lnTo>
                  <a:lnTo>
                    <a:pt x="4276661" y="371348"/>
                  </a:lnTo>
                  <a:lnTo>
                    <a:pt x="4284840" y="368414"/>
                  </a:lnTo>
                  <a:lnTo>
                    <a:pt x="4292587" y="364413"/>
                  </a:lnTo>
                  <a:lnTo>
                    <a:pt x="4363288" y="435165"/>
                  </a:lnTo>
                  <a:lnTo>
                    <a:pt x="4357040" y="451586"/>
                  </a:lnTo>
                  <a:lnTo>
                    <a:pt x="4356290" y="468871"/>
                  </a:lnTo>
                  <a:lnTo>
                    <a:pt x="4360964" y="485381"/>
                  </a:lnTo>
                  <a:lnTo>
                    <a:pt x="4361040" y="485660"/>
                  </a:lnTo>
                  <a:lnTo>
                    <a:pt x="4371302" y="500570"/>
                  </a:lnTo>
                  <a:lnTo>
                    <a:pt x="4388891" y="512216"/>
                  </a:lnTo>
                  <a:lnTo>
                    <a:pt x="4408983" y="516089"/>
                  </a:lnTo>
                  <a:lnTo>
                    <a:pt x="4429087" y="512216"/>
                  </a:lnTo>
                  <a:lnTo>
                    <a:pt x="4446676" y="500570"/>
                  </a:lnTo>
                  <a:lnTo>
                    <a:pt x="4458309" y="482968"/>
                  </a:lnTo>
                  <a:lnTo>
                    <a:pt x="4462183" y="462864"/>
                  </a:lnTo>
                  <a:lnTo>
                    <a:pt x="4458309" y="442760"/>
                  </a:lnTo>
                  <a:lnTo>
                    <a:pt x="4446676" y="425157"/>
                  </a:lnTo>
                  <a:lnTo>
                    <a:pt x="4435348" y="417144"/>
                  </a:lnTo>
                  <a:lnTo>
                    <a:pt x="4432160" y="414896"/>
                  </a:lnTo>
                  <a:lnTo>
                    <a:pt x="4415866" y="410222"/>
                  </a:lnTo>
                  <a:lnTo>
                    <a:pt x="4413656" y="410222"/>
                  </a:lnTo>
                  <a:lnTo>
                    <a:pt x="4398365" y="410883"/>
                  </a:lnTo>
                  <a:lnTo>
                    <a:pt x="4381970" y="417144"/>
                  </a:lnTo>
                  <a:lnTo>
                    <a:pt x="4329773" y="364413"/>
                  </a:lnTo>
                  <a:lnTo>
                    <a:pt x="4312590" y="347065"/>
                  </a:lnTo>
                  <a:lnTo>
                    <a:pt x="4318343" y="338175"/>
                  </a:lnTo>
                  <a:lnTo>
                    <a:pt x="4322521" y="328549"/>
                  </a:lnTo>
                  <a:lnTo>
                    <a:pt x="4325074" y="318160"/>
                  </a:lnTo>
                  <a:lnTo>
                    <a:pt x="4325937" y="307022"/>
                  </a:lnTo>
                  <a:lnTo>
                    <a:pt x="4325937" y="301015"/>
                  </a:lnTo>
                  <a:lnTo>
                    <a:pt x="4325264" y="298348"/>
                  </a:lnTo>
                  <a:lnTo>
                    <a:pt x="4385602" y="273646"/>
                  </a:lnTo>
                  <a:lnTo>
                    <a:pt x="4413326" y="262305"/>
                  </a:lnTo>
                  <a:lnTo>
                    <a:pt x="4425835" y="274205"/>
                  </a:lnTo>
                  <a:lnTo>
                    <a:pt x="4441418" y="281495"/>
                  </a:lnTo>
                  <a:lnTo>
                    <a:pt x="4458627" y="283514"/>
                  </a:lnTo>
                  <a:lnTo>
                    <a:pt x="4476026" y="279654"/>
                  </a:lnTo>
                  <a:lnTo>
                    <a:pt x="4493361" y="267487"/>
                  </a:lnTo>
                  <a:lnTo>
                    <a:pt x="4496663" y="262458"/>
                  </a:lnTo>
                  <a:lnTo>
                    <a:pt x="4496765" y="262305"/>
                  </a:lnTo>
                  <a:lnTo>
                    <a:pt x="4504626" y="250367"/>
                  </a:lnTo>
                  <a:lnTo>
                    <a:pt x="4508766" y="230378"/>
                  </a:lnTo>
                  <a:close/>
                </a:path>
                <a:path w="6417309" h="560705">
                  <a:moveTo>
                    <a:pt x="6287020" y="520598"/>
                  </a:moveTo>
                  <a:lnTo>
                    <a:pt x="6200305" y="520598"/>
                  </a:lnTo>
                  <a:lnTo>
                    <a:pt x="6204737" y="536422"/>
                  </a:lnTo>
                  <a:lnTo>
                    <a:pt x="6214237" y="549135"/>
                  </a:lnTo>
                  <a:lnTo>
                    <a:pt x="6227610" y="557580"/>
                  </a:lnTo>
                  <a:lnTo>
                    <a:pt x="6243663" y="560641"/>
                  </a:lnTo>
                  <a:lnTo>
                    <a:pt x="6259728" y="557580"/>
                  </a:lnTo>
                  <a:lnTo>
                    <a:pt x="6273101" y="549135"/>
                  </a:lnTo>
                  <a:lnTo>
                    <a:pt x="6282601" y="536422"/>
                  </a:lnTo>
                  <a:lnTo>
                    <a:pt x="6287020" y="520598"/>
                  </a:lnTo>
                  <a:close/>
                </a:path>
                <a:path w="6417309" h="560705">
                  <a:moveTo>
                    <a:pt x="6330391" y="473875"/>
                  </a:moveTo>
                  <a:lnTo>
                    <a:pt x="6328854" y="465963"/>
                  </a:lnTo>
                  <a:lnTo>
                    <a:pt x="6324638" y="459613"/>
                  </a:lnTo>
                  <a:lnTo>
                    <a:pt x="6318288" y="455383"/>
                  </a:lnTo>
                  <a:lnTo>
                    <a:pt x="6310376" y="453859"/>
                  </a:lnTo>
                  <a:lnTo>
                    <a:pt x="6176962" y="453859"/>
                  </a:lnTo>
                  <a:lnTo>
                    <a:pt x="6169050" y="455383"/>
                  </a:lnTo>
                  <a:lnTo>
                    <a:pt x="6162700" y="459613"/>
                  </a:lnTo>
                  <a:lnTo>
                    <a:pt x="6158484" y="465963"/>
                  </a:lnTo>
                  <a:lnTo>
                    <a:pt x="6156947" y="473875"/>
                  </a:lnTo>
                  <a:lnTo>
                    <a:pt x="6158484" y="481787"/>
                  </a:lnTo>
                  <a:lnTo>
                    <a:pt x="6162700" y="488137"/>
                  </a:lnTo>
                  <a:lnTo>
                    <a:pt x="6169050" y="492366"/>
                  </a:lnTo>
                  <a:lnTo>
                    <a:pt x="6176962" y="493903"/>
                  </a:lnTo>
                  <a:lnTo>
                    <a:pt x="6310376" y="493903"/>
                  </a:lnTo>
                  <a:lnTo>
                    <a:pt x="6318288" y="492366"/>
                  </a:lnTo>
                  <a:lnTo>
                    <a:pt x="6324638" y="488137"/>
                  </a:lnTo>
                  <a:lnTo>
                    <a:pt x="6328854" y="481787"/>
                  </a:lnTo>
                  <a:lnTo>
                    <a:pt x="6330391" y="473875"/>
                  </a:lnTo>
                  <a:close/>
                </a:path>
                <a:path w="6417309" h="560705">
                  <a:moveTo>
                    <a:pt x="6330391" y="407136"/>
                  </a:moveTo>
                  <a:lnTo>
                    <a:pt x="6328854" y="399224"/>
                  </a:lnTo>
                  <a:lnTo>
                    <a:pt x="6324638" y="392861"/>
                  </a:lnTo>
                  <a:lnTo>
                    <a:pt x="6318288" y="388645"/>
                  </a:lnTo>
                  <a:lnTo>
                    <a:pt x="6310376" y="387108"/>
                  </a:lnTo>
                  <a:lnTo>
                    <a:pt x="6176962" y="387108"/>
                  </a:lnTo>
                  <a:lnTo>
                    <a:pt x="6169050" y="388645"/>
                  </a:lnTo>
                  <a:lnTo>
                    <a:pt x="6162700" y="392861"/>
                  </a:lnTo>
                  <a:lnTo>
                    <a:pt x="6158484" y="399224"/>
                  </a:lnTo>
                  <a:lnTo>
                    <a:pt x="6156947" y="407136"/>
                  </a:lnTo>
                  <a:lnTo>
                    <a:pt x="6158484" y="415048"/>
                  </a:lnTo>
                  <a:lnTo>
                    <a:pt x="6162700" y="421398"/>
                  </a:lnTo>
                  <a:lnTo>
                    <a:pt x="6169050" y="425627"/>
                  </a:lnTo>
                  <a:lnTo>
                    <a:pt x="6176962" y="427151"/>
                  </a:lnTo>
                  <a:lnTo>
                    <a:pt x="6310376" y="427151"/>
                  </a:lnTo>
                  <a:lnTo>
                    <a:pt x="6318288" y="425627"/>
                  </a:lnTo>
                  <a:lnTo>
                    <a:pt x="6324638" y="421398"/>
                  </a:lnTo>
                  <a:lnTo>
                    <a:pt x="6328854" y="415048"/>
                  </a:lnTo>
                  <a:lnTo>
                    <a:pt x="6330391" y="407136"/>
                  </a:lnTo>
                  <a:close/>
                </a:path>
                <a:path w="6417309" h="560705">
                  <a:moveTo>
                    <a:pt x="6417107" y="171526"/>
                  </a:moveTo>
                  <a:lnTo>
                    <a:pt x="6410134" y="125958"/>
                  </a:lnTo>
                  <a:lnTo>
                    <a:pt x="6392304" y="85090"/>
                  </a:lnTo>
                  <a:lnTo>
                    <a:pt x="6377749" y="66535"/>
                  </a:lnTo>
                  <a:lnTo>
                    <a:pt x="6377749" y="171526"/>
                  </a:lnTo>
                  <a:lnTo>
                    <a:pt x="6377749" y="176872"/>
                  </a:lnTo>
                  <a:lnTo>
                    <a:pt x="6377076" y="176872"/>
                  </a:lnTo>
                  <a:lnTo>
                    <a:pt x="6376086" y="188861"/>
                  </a:lnTo>
                  <a:lnTo>
                    <a:pt x="6374155" y="200736"/>
                  </a:lnTo>
                  <a:lnTo>
                    <a:pt x="6358153" y="242951"/>
                  </a:lnTo>
                  <a:lnTo>
                    <a:pt x="6345060" y="260299"/>
                  </a:lnTo>
                  <a:lnTo>
                    <a:pt x="6333947" y="274561"/>
                  </a:lnTo>
                  <a:lnTo>
                    <a:pt x="6323711" y="289331"/>
                  </a:lnTo>
                  <a:lnTo>
                    <a:pt x="6314478" y="304596"/>
                  </a:lnTo>
                  <a:lnTo>
                    <a:pt x="6306375" y="320370"/>
                  </a:lnTo>
                  <a:lnTo>
                    <a:pt x="6181636" y="320370"/>
                  </a:lnTo>
                  <a:lnTo>
                    <a:pt x="6153670" y="274561"/>
                  </a:lnTo>
                  <a:lnTo>
                    <a:pt x="6136208" y="251929"/>
                  </a:lnTo>
                  <a:lnTo>
                    <a:pt x="6130099" y="242951"/>
                  </a:lnTo>
                  <a:lnTo>
                    <a:pt x="6113589" y="200736"/>
                  </a:lnTo>
                  <a:lnTo>
                    <a:pt x="6110922" y="171526"/>
                  </a:lnTo>
                  <a:lnTo>
                    <a:pt x="6118326" y="129921"/>
                  </a:lnTo>
                  <a:lnTo>
                    <a:pt x="6137516" y="93776"/>
                  </a:lnTo>
                  <a:lnTo>
                    <a:pt x="6166345" y="65239"/>
                  </a:lnTo>
                  <a:lnTo>
                    <a:pt x="6202667" y="46393"/>
                  </a:lnTo>
                  <a:lnTo>
                    <a:pt x="6244336" y="39382"/>
                  </a:lnTo>
                  <a:lnTo>
                    <a:pt x="6286385" y="46393"/>
                  </a:lnTo>
                  <a:lnTo>
                    <a:pt x="6286131" y="46393"/>
                  </a:lnTo>
                  <a:lnTo>
                    <a:pt x="6322327" y="65036"/>
                  </a:lnTo>
                  <a:lnTo>
                    <a:pt x="6351156" y="93484"/>
                  </a:lnTo>
                  <a:lnTo>
                    <a:pt x="6370345" y="129654"/>
                  </a:lnTo>
                  <a:lnTo>
                    <a:pt x="6377749" y="171526"/>
                  </a:lnTo>
                  <a:lnTo>
                    <a:pt x="6377749" y="66535"/>
                  </a:lnTo>
                  <a:lnTo>
                    <a:pt x="6365151" y="50469"/>
                  </a:lnTo>
                  <a:lnTo>
                    <a:pt x="6350698" y="39382"/>
                  </a:lnTo>
                  <a:lnTo>
                    <a:pt x="6330289" y="23710"/>
                  </a:lnTo>
                  <a:lnTo>
                    <a:pt x="6289268" y="6362"/>
                  </a:lnTo>
                  <a:lnTo>
                    <a:pt x="6243663" y="0"/>
                  </a:lnTo>
                  <a:lnTo>
                    <a:pt x="6198070" y="6362"/>
                  </a:lnTo>
                  <a:lnTo>
                    <a:pt x="6157049" y="23710"/>
                  </a:lnTo>
                  <a:lnTo>
                    <a:pt x="6122174" y="50469"/>
                  </a:lnTo>
                  <a:lnTo>
                    <a:pt x="6095035" y="85090"/>
                  </a:lnTo>
                  <a:lnTo>
                    <a:pt x="6077191" y="125958"/>
                  </a:lnTo>
                  <a:lnTo>
                    <a:pt x="6070231" y="171526"/>
                  </a:lnTo>
                  <a:lnTo>
                    <a:pt x="6070231" y="177533"/>
                  </a:lnTo>
                  <a:lnTo>
                    <a:pt x="6077356" y="222961"/>
                  </a:lnTo>
                  <a:lnTo>
                    <a:pt x="6095250" y="263550"/>
                  </a:lnTo>
                  <a:lnTo>
                    <a:pt x="6112256" y="286994"/>
                  </a:lnTo>
                  <a:lnTo>
                    <a:pt x="6124333" y="302577"/>
                  </a:lnTo>
                  <a:lnTo>
                    <a:pt x="6135852" y="321030"/>
                  </a:lnTo>
                  <a:lnTo>
                    <a:pt x="6145746" y="338988"/>
                  </a:lnTo>
                  <a:lnTo>
                    <a:pt x="6152947" y="353072"/>
                  </a:lnTo>
                  <a:lnTo>
                    <a:pt x="6154953" y="357746"/>
                  </a:lnTo>
                  <a:lnTo>
                    <a:pt x="6159614" y="360413"/>
                  </a:lnTo>
                  <a:lnTo>
                    <a:pt x="6327711" y="360413"/>
                  </a:lnTo>
                  <a:lnTo>
                    <a:pt x="6332385" y="357746"/>
                  </a:lnTo>
                  <a:lnTo>
                    <a:pt x="6334392" y="353072"/>
                  </a:lnTo>
                  <a:lnTo>
                    <a:pt x="6341592" y="338988"/>
                  </a:lnTo>
                  <a:lnTo>
                    <a:pt x="6363005" y="302577"/>
                  </a:lnTo>
                  <a:lnTo>
                    <a:pt x="6384176" y="275615"/>
                  </a:lnTo>
                  <a:lnTo>
                    <a:pt x="6392342" y="263550"/>
                  </a:lnTo>
                  <a:lnTo>
                    <a:pt x="6409969" y="222961"/>
                  </a:lnTo>
                  <a:lnTo>
                    <a:pt x="6417107" y="177533"/>
                  </a:lnTo>
                  <a:lnTo>
                    <a:pt x="6417107" y="171526"/>
                  </a:lnTo>
                  <a:close/>
                </a:path>
              </a:pathLst>
            </a:custGeom>
            <a:solidFill>
              <a:srgbClr val="000000"/>
            </a:solidFill>
          </p:spPr>
          <p:txBody>
            <a:bodyPr wrap="square" lIns="0" tIns="0" rIns="0" bIns="0" rtlCol="0"/>
            <a:lstStyle/>
            <a:p>
              <a:endParaRPr sz="2400" dirty="0"/>
            </a:p>
          </p:txBody>
        </p:sp>
      </p:grpSp>
    </p:spTree>
    <p:extLst>
      <p:ext uri="{BB962C8B-B14F-4D97-AF65-F5344CB8AC3E}">
        <p14:creationId xmlns:p14="http://schemas.microsoft.com/office/powerpoint/2010/main" val="149377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3D519-21F2-A63F-3D3A-D7D47DCFCA0F}"/>
            </a:ext>
          </a:extLst>
        </p:cNvPr>
        <p:cNvGrpSpPr/>
        <p:nvPr/>
      </p:nvGrpSpPr>
      <p:grpSpPr>
        <a:xfrm>
          <a:off x="0" y="0"/>
          <a:ext cx="0" cy="0"/>
          <a:chOff x="0" y="0"/>
          <a:chExt cx="0" cy="0"/>
        </a:xfrm>
      </p:grpSpPr>
      <p:graphicFrame>
        <p:nvGraphicFramePr>
          <p:cNvPr id="87" name="think-cell data - do not delete" hidden="1">
            <a:extLst>
              <a:ext uri="{FF2B5EF4-FFF2-40B4-BE49-F238E27FC236}">
                <a16:creationId xmlns:a16="http://schemas.microsoft.com/office/drawing/2014/main" id="{A7B471CD-67AA-0B54-8780-3C323D544816}"/>
              </a:ext>
            </a:extLst>
          </p:cNvPr>
          <p:cNvGraphicFramePr>
            <a:graphicFrameLocks noChangeAspect="1"/>
          </p:cNvGraphicFramePr>
          <p:nvPr>
            <p:custDataLst>
              <p:tags r:id="rId1"/>
            </p:custDataLst>
            <p:extLst>
              <p:ext uri="{D42A27DB-BD31-4B8C-83A1-F6EECF244321}">
                <p14:modId xmlns:p14="http://schemas.microsoft.com/office/powerpoint/2010/main" val="40656047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87" name="think-cell data - do not delete" hidden="1">
                        <a:extLst>
                          <a:ext uri="{FF2B5EF4-FFF2-40B4-BE49-F238E27FC236}">
                            <a16:creationId xmlns:a16="http://schemas.microsoft.com/office/drawing/2014/main" id="{DFF7BA73-E3B1-A3FB-00A8-5A1C95EB2CA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0" name="Title 2">
            <a:extLst>
              <a:ext uri="{FF2B5EF4-FFF2-40B4-BE49-F238E27FC236}">
                <a16:creationId xmlns:a16="http://schemas.microsoft.com/office/drawing/2014/main" id="{1DF88359-AED6-4779-2233-8760E73B88B4}"/>
              </a:ext>
            </a:extLst>
          </p:cNvPr>
          <p:cNvSpPr>
            <a:spLocks noGrp="1"/>
          </p:cNvSpPr>
          <p:nvPr>
            <p:ph type="title"/>
          </p:nvPr>
        </p:nvSpPr>
        <p:spPr>
          <a:xfrm>
            <a:off x="469902" y="402587"/>
            <a:ext cx="11252200" cy="334102"/>
          </a:xfrm>
        </p:spPr>
        <p:txBody>
          <a:bodyPr vert="horz">
            <a:noAutofit/>
          </a:bodyPr>
          <a:lstStyle/>
          <a:p>
            <a:r>
              <a:rPr lang="en-US" sz="2800" b="1" dirty="0">
                <a:latin typeface="Calibri" panose="020F0502020204030204" pitchFamily="34" charset="0"/>
                <a:cs typeface="Calibri" panose="020F0502020204030204" pitchFamily="34" charset="0"/>
              </a:rPr>
              <a:t>Various types of open access transactions</a:t>
            </a:r>
          </a:p>
        </p:txBody>
      </p:sp>
      <p:sp>
        <p:nvSpPr>
          <p:cNvPr id="3" name="TextBox 2">
            <a:extLst>
              <a:ext uri="{FF2B5EF4-FFF2-40B4-BE49-F238E27FC236}">
                <a16:creationId xmlns:a16="http://schemas.microsoft.com/office/drawing/2014/main" id="{2A7CB6DB-89C0-920E-71EC-25878C765649}"/>
              </a:ext>
            </a:extLst>
          </p:cNvPr>
          <p:cNvSpPr txBox="1"/>
          <p:nvPr/>
        </p:nvSpPr>
        <p:spPr>
          <a:xfrm>
            <a:off x="469902" y="1000312"/>
            <a:ext cx="11252200" cy="430887"/>
          </a:xfrm>
          <a:prstGeom prst="rect">
            <a:avLst/>
          </a:prstGeom>
          <a:noFill/>
        </p:spPr>
        <p:txBody>
          <a:bodyPr wrap="square">
            <a:spAutoFit/>
          </a:bodyPr>
          <a:lstStyle/>
          <a:p>
            <a:r>
              <a:rPr lang="en-US" sz="2200" i="1" dirty="0">
                <a:latin typeface="Calibri" panose="020F0502020204030204" pitchFamily="34" charset="0"/>
                <a:cs typeface="Calibri" panose="020F0502020204030204" pitchFamily="34" charset="0"/>
              </a:rPr>
              <a:t>There is a variety of options, which can be adopted and customized for each country’s needs</a:t>
            </a:r>
          </a:p>
        </p:txBody>
      </p:sp>
      <p:graphicFrame>
        <p:nvGraphicFramePr>
          <p:cNvPr id="17" name="Diagram 16">
            <a:extLst>
              <a:ext uri="{FF2B5EF4-FFF2-40B4-BE49-F238E27FC236}">
                <a16:creationId xmlns:a16="http://schemas.microsoft.com/office/drawing/2014/main" id="{C0B41882-4F90-0AD7-C02D-26C5FED3536C}"/>
              </a:ext>
            </a:extLst>
          </p:cNvPr>
          <p:cNvGraphicFramePr/>
          <p:nvPr>
            <p:extLst>
              <p:ext uri="{D42A27DB-BD31-4B8C-83A1-F6EECF244321}">
                <p14:modId xmlns:p14="http://schemas.microsoft.com/office/powerpoint/2010/main" val="1808511674"/>
              </p:ext>
            </p:extLst>
          </p:nvPr>
        </p:nvGraphicFramePr>
        <p:xfrm>
          <a:off x="654908" y="1694822"/>
          <a:ext cx="10589740" cy="434763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9" name="TextBox 18">
            <a:extLst>
              <a:ext uri="{FF2B5EF4-FFF2-40B4-BE49-F238E27FC236}">
                <a16:creationId xmlns:a16="http://schemas.microsoft.com/office/drawing/2014/main" id="{41C52BB0-7559-E176-45D5-387FC4F25F33}"/>
              </a:ext>
            </a:extLst>
          </p:cNvPr>
          <p:cNvSpPr txBox="1"/>
          <p:nvPr/>
        </p:nvSpPr>
        <p:spPr>
          <a:xfrm>
            <a:off x="654908" y="6042454"/>
            <a:ext cx="10589740" cy="369332"/>
          </a:xfrm>
          <a:prstGeom prst="rect">
            <a:avLst/>
          </a:prstGeom>
          <a:noFill/>
        </p:spPr>
        <p:txBody>
          <a:bodyPr wrap="square">
            <a:spAutoFit/>
          </a:bodyPr>
          <a:lstStyle/>
          <a:p>
            <a:r>
              <a:rPr lang="en-US" i="1" dirty="0"/>
              <a:t>*Duration thresholds, ownership threshold etc. to be defined in policy/regulatory framework</a:t>
            </a:r>
          </a:p>
        </p:txBody>
      </p:sp>
    </p:spTree>
    <p:extLst>
      <p:ext uri="{BB962C8B-B14F-4D97-AF65-F5344CB8AC3E}">
        <p14:creationId xmlns:p14="http://schemas.microsoft.com/office/powerpoint/2010/main" val="13302236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0AB12-8819-FF0B-CE52-9342AAE52125}"/>
            </a:ext>
          </a:extLst>
        </p:cNvPr>
        <p:cNvGrpSpPr/>
        <p:nvPr/>
      </p:nvGrpSpPr>
      <p:grpSpPr>
        <a:xfrm>
          <a:off x="0" y="0"/>
          <a:ext cx="0" cy="0"/>
          <a:chOff x="0" y="0"/>
          <a:chExt cx="0" cy="0"/>
        </a:xfrm>
      </p:grpSpPr>
      <p:graphicFrame>
        <p:nvGraphicFramePr>
          <p:cNvPr id="87" name="think-cell data - do not delete" hidden="1">
            <a:extLst>
              <a:ext uri="{FF2B5EF4-FFF2-40B4-BE49-F238E27FC236}">
                <a16:creationId xmlns:a16="http://schemas.microsoft.com/office/drawing/2014/main" id="{F94B6CDF-D7B4-D07A-B400-9BBB56D6BBD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87" name="think-cell data - do not delete" hidden="1">
                        <a:extLst>
                          <a:ext uri="{FF2B5EF4-FFF2-40B4-BE49-F238E27FC236}">
                            <a16:creationId xmlns:a16="http://schemas.microsoft.com/office/drawing/2014/main" id="{35C3CFE2-6FEB-AFD1-55CD-615E9191F63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0" name="Title 2">
            <a:extLst>
              <a:ext uri="{FF2B5EF4-FFF2-40B4-BE49-F238E27FC236}">
                <a16:creationId xmlns:a16="http://schemas.microsoft.com/office/drawing/2014/main" id="{43E3E10E-DB7E-3B92-E6B7-698ABB021A90}"/>
              </a:ext>
            </a:extLst>
          </p:cNvPr>
          <p:cNvSpPr>
            <a:spLocks noGrp="1"/>
          </p:cNvSpPr>
          <p:nvPr>
            <p:ph type="title"/>
          </p:nvPr>
        </p:nvSpPr>
        <p:spPr>
          <a:xfrm>
            <a:off x="469902" y="402587"/>
            <a:ext cx="11252200" cy="334102"/>
          </a:xfrm>
        </p:spPr>
        <p:txBody>
          <a:bodyPr vert="horz">
            <a:noAutofit/>
          </a:bodyPr>
          <a:lstStyle/>
          <a:p>
            <a:r>
              <a:rPr lang="en-US" sz="2800" b="1" dirty="0">
                <a:latin typeface="Calibri" panose="020F0502020204030204" pitchFamily="34" charset="0"/>
                <a:cs typeface="Calibri" panose="020F0502020204030204" pitchFamily="34" charset="0"/>
              </a:rPr>
              <a:t>Key concepts relating to open access</a:t>
            </a:r>
          </a:p>
        </p:txBody>
      </p:sp>
      <p:sp>
        <p:nvSpPr>
          <p:cNvPr id="4" name="TextBox 3">
            <a:extLst>
              <a:ext uri="{FF2B5EF4-FFF2-40B4-BE49-F238E27FC236}">
                <a16:creationId xmlns:a16="http://schemas.microsoft.com/office/drawing/2014/main" id="{837B5FD6-2CF5-B04B-FE4E-0EC161D2BEF8}"/>
              </a:ext>
            </a:extLst>
          </p:cNvPr>
          <p:cNvSpPr txBox="1"/>
          <p:nvPr/>
        </p:nvSpPr>
        <p:spPr>
          <a:xfrm>
            <a:off x="469902" y="777888"/>
            <a:ext cx="11252200" cy="430887"/>
          </a:xfrm>
          <a:prstGeom prst="rect">
            <a:avLst/>
          </a:prstGeom>
          <a:noFill/>
        </p:spPr>
        <p:txBody>
          <a:bodyPr wrap="square">
            <a:spAutoFit/>
          </a:bodyPr>
          <a:lstStyle/>
          <a:p>
            <a:r>
              <a:rPr lang="en-US" sz="2200" i="1" dirty="0">
                <a:latin typeface="Calibri" panose="020F0502020204030204" pitchFamily="34" charset="0"/>
                <a:cs typeface="Calibri" panose="020F0502020204030204" pitchFamily="34" charset="0"/>
              </a:rPr>
              <a:t>A few key connects relevant for open access are defined below</a:t>
            </a:r>
          </a:p>
        </p:txBody>
      </p:sp>
      <p:sp>
        <p:nvSpPr>
          <p:cNvPr id="3" name="Rectangle 2">
            <a:extLst>
              <a:ext uri="{FF2B5EF4-FFF2-40B4-BE49-F238E27FC236}">
                <a16:creationId xmlns:a16="http://schemas.microsoft.com/office/drawing/2014/main" id="{961F3769-89CB-7D6C-8179-8503500E8DCF}"/>
              </a:ext>
            </a:extLst>
          </p:cNvPr>
          <p:cNvSpPr/>
          <p:nvPr/>
        </p:nvSpPr>
        <p:spPr>
          <a:xfrm>
            <a:off x="580768" y="1297450"/>
            <a:ext cx="2483708" cy="553883"/>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spc="-20" dirty="0">
                <a:latin typeface="Calibri" panose="020F0502020204030204" pitchFamily="34" charset="0"/>
                <a:cs typeface="Calibri" panose="020F0502020204030204" pitchFamily="34" charset="0"/>
              </a:rPr>
              <a:t>Transmission</a:t>
            </a:r>
            <a:r>
              <a:rPr lang="en-US" b="1" spc="-15" dirty="0">
                <a:latin typeface="Calibri" panose="020F0502020204030204" pitchFamily="34" charset="0"/>
                <a:cs typeface="Calibri" panose="020F0502020204030204" pitchFamily="34" charset="0"/>
              </a:rPr>
              <a:t> </a:t>
            </a:r>
            <a:r>
              <a:rPr lang="en-US" b="1" spc="-10" dirty="0">
                <a:latin typeface="Calibri" panose="020F0502020204030204" pitchFamily="34" charset="0"/>
                <a:cs typeface="Calibri" panose="020F0502020204030204" pitchFamily="34" charset="0"/>
              </a:rPr>
              <a:t>Open</a:t>
            </a:r>
            <a:r>
              <a:rPr lang="en-US" b="1" spc="-150" dirty="0">
                <a:latin typeface="Calibri" panose="020F0502020204030204" pitchFamily="34" charset="0"/>
                <a:cs typeface="Calibri" panose="020F0502020204030204" pitchFamily="34" charset="0"/>
              </a:rPr>
              <a:t> </a:t>
            </a:r>
            <a:r>
              <a:rPr lang="en-US" b="1" dirty="0">
                <a:latin typeface="Calibri" panose="020F0502020204030204" pitchFamily="34" charset="0"/>
                <a:cs typeface="Calibri" panose="020F0502020204030204" pitchFamily="34" charset="0"/>
              </a:rPr>
              <a:t>Access</a:t>
            </a:r>
            <a:endParaRPr lang="en-US" dirty="0"/>
          </a:p>
        </p:txBody>
      </p:sp>
      <p:sp>
        <p:nvSpPr>
          <p:cNvPr id="5" name="Rectangle: Rounded Corners 4">
            <a:extLst>
              <a:ext uri="{FF2B5EF4-FFF2-40B4-BE49-F238E27FC236}">
                <a16:creationId xmlns:a16="http://schemas.microsoft.com/office/drawing/2014/main" id="{E8742025-C55C-FC08-84A2-39E442951E8A}"/>
              </a:ext>
            </a:extLst>
          </p:cNvPr>
          <p:cNvSpPr/>
          <p:nvPr/>
        </p:nvSpPr>
        <p:spPr>
          <a:xfrm>
            <a:off x="3188043" y="1297450"/>
            <a:ext cx="8204887" cy="553883"/>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alibri" panose="020F0502020204030204" pitchFamily="34" charset="0"/>
                <a:cs typeface="Calibri" panose="020F0502020204030204" pitchFamily="34" charset="0"/>
              </a:rPr>
              <a:t>Open</a:t>
            </a:r>
            <a:r>
              <a:rPr lang="en-US" spc="-30" dirty="0">
                <a:solidFill>
                  <a:schemeClr val="tx1"/>
                </a:solidFill>
                <a:latin typeface="Calibri" panose="020F0502020204030204" pitchFamily="34" charset="0"/>
                <a:cs typeface="Calibri" panose="020F0502020204030204" pitchFamily="34" charset="0"/>
              </a:rPr>
              <a:t> </a:t>
            </a:r>
            <a:r>
              <a:rPr lang="en-US" dirty="0">
                <a:solidFill>
                  <a:schemeClr val="tx1"/>
                </a:solidFill>
                <a:latin typeface="Calibri" panose="020F0502020204030204" pitchFamily="34" charset="0"/>
                <a:cs typeface="Calibri" panose="020F0502020204030204" pitchFamily="34" charset="0"/>
              </a:rPr>
              <a:t>access</a:t>
            </a:r>
            <a:r>
              <a:rPr lang="en-US" spc="-20" dirty="0">
                <a:solidFill>
                  <a:schemeClr val="tx1"/>
                </a:solidFill>
                <a:latin typeface="Calibri" panose="020F0502020204030204" pitchFamily="34" charset="0"/>
                <a:cs typeface="Calibri" panose="020F0502020204030204" pitchFamily="34" charset="0"/>
              </a:rPr>
              <a:t> </a:t>
            </a:r>
            <a:r>
              <a:rPr lang="en-US" dirty="0">
                <a:solidFill>
                  <a:schemeClr val="tx1"/>
                </a:solidFill>
                <a:latin typeface="Calibri" panose="020F0502020204030204" pitchFamily="34" charset="0"/>
                <a:cs typeface="Calibri" panose="020F0502020204030204" pitchFamily="34" charset="0"/>
              </a:rPr>
              <a:t>to</a:t>
            </a:r>
            <a:r>
              <a:rPr lang="en-US" spc="-25" dirty="0">
                <a:solidFill>
                  <a:schemeClr val="tx1"/>
                </a:solidFill>
                <a:latin typeface="Calibri" panose="020F0502020204030204" pitchFamily="34" charset="0"/>
                <a:cs typeface="Calibri" panose="020F0502020204030204" pitchFamily="34" charset="0"/>
              </a:rPr>
              <a:t> </a:t>
            </a:r>
            <a:r>
              <a:rPr lang="en-US" dirty="0">
                <a:solidFill>
                  <a:schemeClr val="tx1"/>
                </a:solidFill>
                <a:latin typeface="Calibri" panose="020F0502020204030204" pitchFamily="34" charset="0"/>
                <a:cs typeface="Calibri" panose="020F0502020204030204" pitchFamily="34" charset="0"/>
              </a:rPr>
              <a:t>transmission</a:t>
            </a:r>
            <a:r>
              <a:rPr lang="en-US" spc="-15" dirty="0">
                <a:solidFill>
                  <a:schemeClr val="tx1"/>
                </a:solidFill>
                <a:latin typeface="Calibri" panose="020F0502020204030204" pitchFamily="34" charset="0"/>
                <a:cs typeface="Calibri" panose="020F0502020204030204" pitchFamily="34" charset="0"/>
              </a:rPr>
              <a:t> </a:t>
            </a:r>
            <a:r>
              <a:rPr lang="en-US" spc="-10" dirty="0">
                <a:solidFill>
                  <a:schemeClr val="tx1"/>
                </a:solidFill>
                <a:latin typeface="Calibri" panose="020F0502020204030204" pitchFamily="34" charset="0"/>
                <a:cs typeface="Calibri" panose="020F0502020204030204" pitchFamily="34" charset="0"/>
              </a:rPr>
              <a:t>lines</a:t>
            </a:r>
            <a:endParaRPr lang="en-US" dirty="0">
              <a:solidFill>
                <a:schemeClr val="tx1"/>
              </a:solidFill>
            </a:endParaRPr>
          </a:p>
        </p:txBody>
      </p:sp>
      <p:sp>
        <p:nvSpPr>
          <p:cNvPr id="7" name="Rectangle 6">
            <a:extLst>
              <a:ext uri="{FF2B5EF4-FFF2-40B4-BE49-F238E27FC236}">
                <a16:creationId xmlns:a16="http://schemas.microsoft.com/office/drawing/2014/main" id="{45580A08-1D65-D99C-B093-0EC38A33A455}"/>
              </a:ext>
            </a:extLst>
          </p:cNvPr>
          <p:cNvSpPr/>
          <p:nvPr/>
        </p:nvSpPr>
        <p:spPr>
          <a:xfrm>
            <a:off x="580768" y="1981380"/>
            <a:ext cx="2483708" cy="553883"/>
          </a:xfrm>
          <a:prstGeom prst="rect">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Calibri" panose="020F0502020204030204" pitchFamily="34" charset="0"/>
                <a:cs typeface="Calibri" panose="020F0502020204030204" pitchFamily="34" charset="0"/>
              </a:rPr>
              <a:t>Distribution</a:t>
            </a:r>
            <a:r>
              <a:rPr lang="en-US" b="1" spc="-20" dirty="0">
                <a:latin typeface="Calibri" panose="020F0502020204030204" pitchFamily="34" charset="0"/>
                <a:cs typeface="Calibri" panose="020F0502020204030204" pitchFamily="34" charset="0"/>
              </a:rPr>
              <a:t> </a:t>
            </a:r>
            <a:r>
              <a:rPr lang="en-US" b="1" spc="-10" dirty="0">
                <a:latin typeface="Calibri" panose="020F0502020204030204" pitchFamily="34" charset="0"/>
                <a:cs typeface="Calibri" panose="020F0502020204030204" pitchFamily="34" charset="0"/>
              </a:rPr>
              <a:t>Open</a:t>
            </a:r>
            <a:r>
              <a:rPr lang="en-US" b="1" spc="-150" dirty="0">
                <a:latin typeface="Calibri" panose="020F0502020204030204" pitchFamily="34" charset="0"/>
                <a:cs typeface="Calibri" panose="020F0502020204030204" pitchFamily="34" charset="0"/>
              </a:rPr>
              <a:t> </a:t>
            </a:r>
            <a:r>
              <a:rPr lang="en-US" b="1" dirty="0">
                <a:latin typeface="Calibri" panose="020F0502020204030204" pitchFamily="34" charset="0"/>
                <a:cs typeface="Calibri" panose="020F0502020204030204" pitchFamily="34" charset="0"/>
              </a:rPr>
              <a:t>Access</a:t>
            </a:r>
            <a:endParaRPr lang="en-US" dirty="0"/>
          </a:p>
        </p:txBody>
      </p:sp>
      <p:sp>
        <p:nvSpPr>
          <p:cNvPr id="8" name="Rectangle: Rounded Corners 7">
            <a:extLst>
              <a:ext uri="{FF2B5EF4-FFF2-40B4-BE49-F238E27FC236}">
                <a16:creationId xmlns:a16="http://schemas.microsoft.com/office/drawing/2014/main" id="{AB323C93-5183-95F2-A4FB-D286E23B838E}"/>
              </a:ext>
            </a:extLst>
          </p:cNvPr>
          <p:cNvSpPr/>
          <p:nvPr/>
        </p:nvSpPr>
        <p:spPr>
          <a:xfrm>
            <a:off x="3188043" y="1981380"/>
            <a:ext cx="8204887" cy="553883"/>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alibri" panose="020F0502020204030204" pitchFamily="34" charset="0"/>
                <a:cs typeface="Calibri" panose="020F0502020204030204" pitchFamily="34" charset="0"/>
              </a:rPr>
              <a:t>Open access to distribution lines</a:t>
            </a:r>
          </a:p>
        </p:txBody>
      </p:sp>
      <p:sp>
        <p:nvSpPr>
          <p:cNvPr id="9" name="Rectangle 8">
            <a:extLst>
              <a:ext uri="{FF2B5EF4-FFF2-40B4-BE49-F238E27FC236}">
                <a16:creationId xmlns:a16="http://schemas.microsoft.com/office/drawing/2014/main" id="{0730814D-1E8A-440A-2982-A143A09A43DC}"/>
              </a:ext>
            </a:extLst>
          </p:cNvPr>
          <p:cNvSpPr/>
          <p:nvPr/>
        </p:nvSpPr>
        <p:spPr>
          <a:xfrm>
            <a:off x="580768" y="2665310"/>
            <a:ext cx="2483708" cy="916112"/>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spc="-10" dirty="0">
                <a:latin typeface="Calibri" panose="020F0502020204030204" pitchFamily="34" charset="0"/>
                <a:cs typeface="Calibri" panose="020F0502020204030204" pitchFamily="34" charset="0"/>
              </a:rPr>
              <a:t>Non-discriminatory</a:t>
            </a:r>
            <a:r>
              <a:rPr lang="en-US" b="1" spc="-5" dirty="0">
                <a:latin typeface="Calibri" panose="020F0502020204030204" pitchFamily="34" charset="0"/>
                <a:cs typeface="Calibri" panose="020F0502020204030204" pitchFamily="34" charset="0"/>
              </a:rPr>
              <a:t> </a:t>
            </a:r>
            <a:r>
              <a:rPr lang="en-US" b="1" dirty="0">
                <a:latin typeface="Calibri" panose="020F0502020204030204" pitchFamily="34" charset="0"/>
                <a:cs typeface="Calibri" panose="020F0502020204030204" pitchFamily="34" charset="0"/>
              </a:rPr>
              <a:t>open</a:t>
            </a:r>
            <a:r>
              <a:rPr lang="en-US" b="1" spc="-5" dirty="0">
                <a:latin typeface="Calibri" panose="020F0502020204030204" pitchFamily="34" charset="0"/>
                <a:cs typeface="Calibri" panose="020F0502020204030204" pitchFamily="34" charset="0"/>
              </a:rPr>
              <a:t> </a:t>
            </a:r>
            <a:r>
              <a:rPr lang="en-US" b="1" dirty="0">
                <a:latin typeface="Calibri" panose="020F0502020204030204" pitchFamily="34" charset="0"/>
                <a:cs typeface="Calibri" panose="020F0502020204030204" pitchFamily="34" charset="0"/>
              </a:rPr>
              <a:t>access</a:t>
            </a:r>
            <a:endParaRPr lang="en-US" dirty="0"/>
          </a:p>
        </p:txBody>
      </p:sp>
      <p:sp>
        <p:nvSpPr>
          <p:cNvPr id="10" name="Rectangle: Rounded Corners 9">
            <a:extLst>
              <a:ext uri="{FF2B5EF4-FFF2-40B4-BE49-F238E27FC236}">
                <a16:creationId xmlns:a16="http://schemas.microsoft.com/office/drawing/2014/main" id="{7A35461D-02B3-2B3F-8A78-A92CC8A15E79}"/>
              </a:ext>
            </a:extLst>
          </p:cNvPr>
          <p:cNvSpPr/>
          <p:nvPr/>
        </p:nvSpPr>
        <p:spPr>
          <a:xfrm>
            <a:off x="3188043" y="2665310"/>
            <a:ext cx="8204887" cy="916112"/>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alibri" panose="020F0502020204030204" pitchFamily="34" charset="0"/>
                <a:cs typeface="Calibri" panose="020F0502020204030204" pitchFamily="34" charset="0"/>
              </a:rPr>
              <a:t>Equal rights for applicants, to obtain open access, irrespective of ownership (However, priorities for scheduling and curtailment may be made in terms of open access duration, time of application etc.)</a:t>
            </a:r>
          </a:p>
        </p:txBody>
      </p:sp>
      <p:sp>
        <p:nvSpPr>
          <p:cNvPr id="11" name="Rectangle 10">
            <a:extLst>
              <a:ext uri="{FF2B5EF4-FFF2-40B4-BE49-F238E27FC236}">
                <a16:creationId xmlns:a16="http://schemas.microsoft.com/office/drawing/2014/main" id="{E10680B9-B22D-5B5A-05F4-2B06334D1D34}"/>
              </a:ext>
            </a:extLst>
          </p:cNvPr>
          <p:cNvSpPr/>
          <p:nvPr/>
        </p:nvSpPr>
        <p:spPr>
          <a:xfrm>
            <a:off x="580768" y="3711469"/>
            <a:ext cx="2483708" cy="704335"/>
          </a:xfrm>
          <a:prstGeom prst="rect">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Calibri" panose="020F0502020204030204" pitchFamily="34" charset="0"/>
                <a:cs typeface="Calibri" panose="020F0502020204030204" pitchFamily="34" charset="0"/>
              </a:rPr>
              <a:t>Wheeling</a:t>
            </a:r>
            <a:endParaRPr lang="en-US" dirty="0"/>
          </a:p>
        </p:txBody>
      </p:sp>
      <p:sp>
        <p:nvSpPr>
          <p:cNvPr id="12" name="Rectangle: Rounded Corners 11">
            <a:extLst>
              <a:ext uri="{FF2B5EF4-FFF2-40B4-BE49-F238E27FC236}">
                <a16:creationId xmlns:a16="http://schemas.microsoft.com/office/drawing/2014/main" id="{7E7A901E-A12C-508E-E5DF-AD68D49C6993}"/>
              </a:ext>
            </a:extLst>
          </p:cNvPr>
          <p:cNvSpPr/>
          <p:nvPr/>
        </p:nvSpPr>
        <p:spPr>
          <a:xfrm>
            <a:off x="3188043" y="3711469"/>
            <a:ext cx="8204887" cy="704335"/>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alibri" panose="020F0502020204030204" pitchFamily="34" charset="0"/>
                <a:cs typeface="Calibri" panose="020F0502020204030204" pitchFamily="34" charset="0"/>
              </a:rPr>
              <a:t>The process of using electricity network / grid as a medium for conveying electricity, as part of the open access transaction</a:t>
            </a:r>
          </a:p>
        </p:txBody>
      </p:sp>
      <p:sp>
        <p:nvSpPr>
          <p:cNvPr id="13" name="Rectangle 12">
            <a:extLst>
              <a:ext uri="{FF2B5EF4-FFF2-40B4-BE49-F238E27FC236}">
                <a16:creationId xmlns:a16="http://schemas.microsoft.com/office/drawing/2014/main" id="{3E80E644-8674-BE6A-79B0-7B54E1CA87F5}"/>
              </a:ext>
            </a:extLst>
          </p:cNvPr>
          <p:cNvSpPr/>
          <p:nvPr/>
        </p:nvSpPr>
        <p:spPr>
          <a:xfrm>
            <a:off x="580768" y="4545851"/>
            <a:ext cx="2483708" cy="916112"/>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spc="-10" dirty="0">
                <a:latin typeface="Calibri" panose="020F0502020204030204" pitchFamily="34" charset="0"/>
                <a:cs typeface="Calibri" panose="020F0502020204030204" pitchFamily="34" charset="0"/>
              </a:rPr>
              <a:t>Wheeling</a:t>
            </a:r>
            <a:r>
              <a:rPr lang="en-US" b="1" spc="-5" dirty="0">
                <a:latin typeface="Calibri" panose="020F0502020204030204" pitchFamily="34" charset="0"/>
                <a:cs typeface="Calibri" panose="020F0502020204030204" pitchFamily="34" charset="0"/>
              </a:rPr>
              <a:t> </a:t>
            </a:r>
            <a:r>
              <a:rPr lang="en-US" b="1" spc="-10" dirty="0">
                <a:latin typeface="Calibri" panose="020F0502020204030204" pitchFamily="34" charset="0"/>
                <a:cs typeface="Calibri" panose="020F0502020204030204" pitchFamily="34" charset="0"/>
              </a:rPr>
              <a:t>charges</a:t>
            </a:r>
            <a:r>
              <a:rPr lang="en-US" b="1" spc="-15" dirty="0">
                <a:latin typeface="Calibri" panose="020F0502020204030204" pitchFamily="34" charset="0"/>
                <a:cs typeface="Calibri" panose="020F0502020204030204" pitchFamily="34" charset="0"/>
              </a:rPr>
              <a:t> </a:t>
            </a:r>
            <a:r>
              <a:rPr lang="en-US" b="1" dirty="0">
                <a:latin typeface="Calibri" panose="020F0502020204030204" pitchFamily="34" charset="0"/>
                <a:cs typeface="Calibri" panose="020F0502020204030204" pitchFamily="34" charset="0"/>
              </a:rPr>
              <a:t>vs</a:t>
            </a:r>
            <a:r>
              <a:rPr lang="en-US" b="1" spc="-10" dirty="0">
                <a:latin typeface="Calibri" panose="020F0502020204030204" pitchFamily="34" charset="0"/>
                <a:cs typeface="Calibri" panose="020F0502020204030204" pitchFamily="34" charset="0"/>
              </a:rPr>
              <a:t> transmission</a:t>
            </a:r>
            <a:r>
              <a:rPr lang="en-US" b="1" spc="25" dirty="0">
                <a:latin typeface="Calibri" panose="020F0502020204030204" pitchFamily="34" charset="0"/>
                <a:cs typeface="Calibri" panose="020F0502020204030204" pitchFamily="34" charset="0"/>
              </a:rPr>
              <a:t> </a:t>
            </a:r>
            <a:r>
              <a:rPr lang="en-US" b="1" spc="-10" dirty="0">
                <a:latin typeface="Calibri" panose="020F0502020204030204" pitchFamily="34" charset="0"/>
                <a:cs typeface="Calibri" panose="020F0502020204030204" pitchFamily="34" charset="0"/>
              </a:rPr>
              <a:t>charges</a:t>
            </a:r>
            <a:endParaRPr lang="en-US" dirty="0"/>
          </a:p>
        </p:txBody>
      </p:sp>
      <p:sp>
        <p:nvSpPr>
          <p:cNvPr id="14" name="Rectangle: Rounded Corners 13">
            <a:extLst>
              <a:ext uri="{FF2B5EF4-FFF2-40B4-BE49-F238E27FC236}">
                <a16:creationId xmlns:a16="http://schemas.microsoft.com/office/drawing/2014/main" id="{18AC9700-CF29-4170-D0E2-B438BC362986}"/>
              </a:ext>
            </a:extLst>
          </p:cNvPr>
          <p:cNvSpPr/>
          <p:nvPr/>
        </p:nvSpPr>
        <p:spPr>
          <a:xfrm>
            <a:off x="3188043" y="4545851"/>
            <a:ext cx="8204887" cy="916112"/>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alibri" panose="020F0502020204030204" pitchFamily="34" charset="0"/>
                <a:cs typeface="Calibri" panose="020F0502020204030204" pitchFamily="34" charset="0"/>
              </a:rPr>
              <a:t>Typically, charges for use of distribution  network is covered under wheeling charge, and charges for use of transmission network is 	covered under transmission charges</a:t>
            </a:r>
          </a:p>
        </p:txBody>
      </p:sp>
      <p:sp>
        <p:nvSpPr>
          <p:cNvPr id="15" name="Rectangle 14">
            <a:extLst>
              <a:ext uri="{FF2B5EF4-FFF2-40B4-BE49-F238E27FC236}">
                <a16:creationId xmlns:a16="http://schemas.microsoft.com/office/drawing/2014/main" id="{30016DEA-E1C6-888A-7D5A-0B3432EBAD56}"/>
              </a:ext>
            </a:extLst>
          </p:cNvPr>
          <p:cNvSpPr/>
          <p:nvPr/>
        </p:nvSpPr>
        <p:spPr>
          <a:xfrm>
            <a:off x="580768" y="5592012"/>
            <a:ext cx="2483708" cy="916112"/>
          </a:xfrm>
          <a:prstGeom prst="rect">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spc="-10" dirty="0">
                <a:latin typeface="Calibri" panose="020F0502020204030204" pitchFamily="34" charset="0"/>
                <a:cs typeface="Calibri" panose="020F0502020204030204" pitchFamily="34" charset="0"/>
              </a:rPr>
              <a:t>Surcharge</a:t>
            </a:r>
            <a:endParaRPr lang="en-US" dirty="0"/>
          </a:p>
        </p:txBody>
      </p:sp>
      <p:sp>
        <p:nvSpPr>
          <p:cNvPr id="16" name="Rectangle: Rounded Corners 15">
            <a:extLst>
              <a:ext uri="{FF2B5EF4-FFF2-40B4-BE49-F238E27FC236}">
                <a16:creationId xmlns:a16="http://schemas.microsoft.com/office/drawing/2014/main" id="{C9F1C333-46AA-98E2-7948-E2097F2D1E0A}"/>
              </a:ext>
            </a:extLst>
          </p:cNvPr>
          <p:cNvSpPr/>
          <p:nvPr/>
        </p:nvSpPr>
        <p:spPr>
          <a:xfrm>
            <a:off x="3188043" y="5592012"/>
            <a:ext cx="8204887" cy="916112"/>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alibri" panose="020F0502020204030204" pitchFamily="34" charset="0"/>
                <a:cs typeface="Calibri" panose="020F0502020204030204" pitchFamily="34" charset="0"/>
              </a:rPr>
              <a:t>An amount that is recovered from the open access consumers, to compensate the utility for loss of cross subsidy and for compensation towards recovery of stranded generation costs of utility</a:t>
            </a:r>
          </a:p>
        </p:txBody>
      </p:sp>
    </p:spTree>
    <p:extLst>
      <p:ext uri="{BB962C8B-B14F-4D97-AF65-F5344CB8AC3E}">
        <p14:creationId xmlns:p14="http://schemas.microsoft.com/office/powerpoint/2010/main" val="23745231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2CA4D-6807-9F82-DAEF-D619219868C2}"/>
            </a:ext>
          </a:extLst>
        </p:cNvPr>
        <p:cNvGrpSpPr/>
        <p:nvPr/>
      </p:nvGrpSpPr>
      <p:grpSpPr>
        <a:xfrm>
          <a:off x="0" y="0"/>
          <a:ext cx="0" cy="0"/>
          <a:chOff x="0" y="0"/>
          <a:chExt cx="0" cy="0"/>
        </a:xfrm>
      </p:grpSpPr>
      <p:graphicFrame>
        <p:nvGraphicFramePr>
          <p:cNvPr id="87" name="think-cell data - do not delete" hidden="1">
            <a:extLst>
              <a:ext uri="{FF2B5EF4-FFF2-40B4-BE49-F238E27FC236}">
                <a16:creationId xmlns:a16="http://schemas.microsoft.com/office/drawing/2014/main" id="{35C3CFE2-6FEB-AFD1-55CD-615E9191F632}"/>
              </a:ext>
            </a:extLst>
          </p:cNvPr>
          <p:cNvGraphicFramePr>
            <a:graphicFrameLocks noChangeAspect="1"/>
          </p:cNvGraphicFramePr>
          <p:nvPr>
            <p:custDataLst>
              <p:tags r:id="rId1"/>
            </p:custDataLst>
            <p:extLst>
              <p:ext uri="{D42A27DB-BD31-4B8C-83A1-F6EECF244321}">
                <p14:modId xmlns:p14="http://schemas.microsoft.com/office/powerpoint/2010/main" val="36884641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87" name="think-cell data - do not delete" hidden="1">
                        <a:extLst>
                          <a:ext uri="{FF2B5EF4-FFF2-40B4-BE49-F238E27FC236}">
                            <a16:creationId xmlns:a16="http://schemas.microsoft.com/office/drawing/2014/main" id="{3403E5F0-78C3-BE7A-1107-D2F140F1EA3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0" name="Title 2">
            <a:extLst>
              <a:ext uri="{FF2B5EF4-FFF2-40B4-BE49-F238E27FC236}">
                <a16:creationId xmlns:a16="http://schemas.microsoft.com/office/drawing/2014/main" id="{592DA82A-8853-8B80-EF58-29B595B899F7}"/>
              </a:ext>
            </a:extLst>
          </p:cNvPr>
          <p:cNvSpPr>
            <a:spLocks noGrp="1"/>
          </p:cNvSpPr>
          <p:nvPr>
            <p:ph type="title"/>
          </p:nvPr>
        </p:nvSpPr>
        <p:spPr>
          <a:xfrm>
            <a:off x="469902" y="402587"/>
            <a:ext cx="11252200" cy="334102"/>
          </a:xfrm>
        </p:spPr>
        <p:txBody>
          <a:bodyPr vert="horz">
            <a:noAutofit/>
          </a:bodyPr>
          <a:lstStyle/>
          <a:p>
            <a:r>
              <a:rPr lang="en-US" sz="2800" b="1" dirty="0">
                <a:latin typeface="Calibri" panose="020F0502020204030204" pitchFamily="34" charset="0"/>
                <a:cs typeface="Calibri" panose="020F0502020204030204" pitchFamily="34" charset="0"/>
              </a:rPr>
              <a:t>Country-wise Assessment – Afghanistan (1/3)</a:t>
            </a:r>
          </a:p>
        </p:txBody>
      </p:sp>
      <p:sp>
        <p:nvSpPr>
          <p:cNvPr id="4" name="TextBox 3">
            <a:extLst>
              <a:ext uri="{FF2B5EF4-FFF2-40B4-BE49-F238E27FC236}">
                <a16:creationId xmlns:a16="http://schemas.microsoft.com/office/drawing/2014/main" id="{E1733457-F1C0-CD68-1CC9-888D25288A32}"/>
              </a:ext>
            </a:extLst>
          </p:cNvPr>
          <p:cNvSpPr txBox="1"/>
          <p:nvPr/>
        </p:nvSpPr>
        <p:spPr>
          <a:xfrm>
            <a:off x="469898" y="736689"/>
            <a:ext cx="11252200" cy="430887"/>
          </a:xfrm>
          <a:prstGeom prst="rect">
            <a:avLst/>
          </a:prstGeom>
          <a:noFill/>
        </p:spPr>
        <p:txBody>
          <a:bodyPr wrap="square">
            <a:spAutoFit/>
          </a:bodyPr>
          <a:lstStyle/>
          <a:p>
            <a:r>
              <a:rPr lang="en-US" sz="2200" i="1" dirty="0">
                <a:latin typeface="Calibri" panose="020F0502020204030204" pitchFamily="34" charset="0"/>
                <a:cs typeface="Calibri" panose="020F0502020204030204" pitchFamily="34" charset="0"/>
              </a:rPr>
              <a:t>Legal and Policy Framework</a:t>
            </a:r>
          </a:p>
        </p:txBody>
      </p:sp>
      <p:sp>
        <p:nvSpPr>
          <p:cNvPr id="12" name="TextBox 11">
            <a:extLst>
              <a:ext uri="{FF2B5EF4-FFF2-40B4-BE49-F238E27FC236}">
                <a16:creationId xmlns:a16="http://schemas.microsoft.com/office/drawing/2014/main" id="{0DB3378D-73A2-D3DA-EF4F-5D761EDBD485}"/>
              </a:ext>
            </a:extLst>
          </p:cNvPr>
          <p:cNvSpPr txBox="1"/>
          <p:nvPr/>
        </p:nvSpPr>
        <p:spPr>
          <a:xfrm>
            <a:off x="469894" y="1167576"/>
            <a:ext cx="11157810" cy="3416320"/>
          </a:xfrm>
          <a:prstGeom prst="rect">
            <a:avLst/>
          </a:prstGeom>
          <a:solidFill>
            <a:schemeClr val="bg1">
              <a:lumMod val="95000"/>
            </a:schemeClr>
          </a:solidFill>
        </p:spPr>
        <p:txBody>
          <a:bodyPr wrap="square">
            <a:spAutoFit/>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In Afghanistan, the electricity legal, policy and regulatory framework had been developed by Ministry of Energy and Water, Afghanistan. A draft law on electricity services was issued in 2009 which was finalized in 2016. </a:t>
            </a:r>
          </a:p>
          <a:p>
            <a:pPr marL="285750" indent="-28575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As per the  Power Services Regulations Act 2016 (introduced in 2015), the provisions recognized international power trade and specified the responsibilities of the MEW for coordinating the same. Under articles 10 and 11 of the law, five kinds of licenses for energy services are proposed:</a:t>
            </a:r>
          </a:p>
          <a:p>
            <a:pPr marL="285750" indent="-28575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742950" lvl="1" indent="-285750">
              <a:buFont typeface="Wingdings" panose="05000000000000000000" pitchFamily="2" charset="2"/>
              <a:buChar char="q"/>
            </a:pPr>
            <a:r>
              <a:rPr lang="en-US" dirty="0">
                <a:latin typeface="Calibri" panose="020F0502020204030204" pitchFamily="34" charset="0"/>
                <a:cs typeface="Calibri" panose="020F0502020204030204" pitchFamily="34" charset="0"/>
              </a:rPr>
              <a:t>Electricity generation license for a maximum of 25 years.</a:t>
            </a:r>
          </a:p>
          <a:p>
            <a:pPr marL="742950" lvl="1" indent="-285750">
              <a:buFont typeface="Wingdings" panose="05000000000000000000" pitchFamily="2" charset="2"/>
              <a:buChar char="q"/>
            </a:pPr>
            <a:r>
              <a:rPr lang="en-US" dirty="0">
                <a:latin typeface="Calibri" panose="020F0502020204030204" pitchFamily="34" charset="0"/>
                <a:cs typeface="Calibri" panose="020F0502020204030204" pitchFamily="34" charset="0"/>
              </a:rPr>
              <a:t>Electricity transmission license for a maximum of 25 years.</a:t>
            </a:r>
          </a:p>
          <a:p>
            <a:pPr marL="742950" lvl="1" indent="-285750">
              <a:buFont typeface="Wingdings" panose="05000000000000000000" pitchFamily="2" charset="2"/>
              <a:buChar char="q"/>
            </a:pPr>
            <a:r>
              <a:rPr lang="en-US" dirty="0">
                <a:latin typeface="Calibri" panose="020F0502020204030204" pitchFamily="34" charset="0"/>
                <a:cs typeface="Calibri" panose="020F0502020204030204" pitchFamily="34" charset="0"/>
              </a:rPr>
              <a:t>Electricity distribution license for a maximum of 20 years.</a:t>
            </a:r>
          </a:p>
          <a:p>
            <a:pPr marL="742950" lvl="1" indent="-285750">
              <a:buFont typeface="Wingdings" panose="05000000000000000000" pitchFamily="2" charset="2"/>
              <a:buChar char="q"/>
            </a:pPr>
            <a:r>
              <a:rPr lang="en-US" dirty="0">
                <a:latin typeface="Calibri" panose="020F0502020204030204" pitchFamily="34" charset="0"/>
                <a:cs typeface="Calibri" panose="020F0502020204030204" pitchFamily="34" charset="0"/>
              </a:rPr>
              <a:t>Electrical energy import license for a maximum of 15 years.</a:t>
            </a:r>
          </a:p>
          <a:p>
            <a:pPr marL="742950" lvl="1" indent="-285750">
              <a:buFont typeface="Wingdings" panose="05000000000000000000" pitchFamily="2" charset="2"/>
              <a:buChar char="q"/>
            </a:pPr>
            <a:r>
              <a:rPr lang="en-US" dirty="0">
                <a:latin typeface="Calibri" panose="020F0502020204030204" pitchFamily="34" charset="0"/>
                <a:cs typeface="Calibri" panose="020F0502020204030204" pitchFamily="34" charset="0"/>
              </a:rPr>
              <a:t>Electrical energy export license for a maximum of 21 years.</a:t>
            </a:r>
          </a:p>
        </p:txBody>
      </p:sp>
      <p:sp>
        <p:nvSpPr>
          <p:cNvPr id="13" name="Rectangle 12">
            <a:extLst>
              <a:ext uri="{FF2B5EF4-FFF2-40B4-BE49-F238E27FC236}">
                <a16:creationId xmlns:a16="http://schemas.microsoft.com/office/drawing/2014/main" id="{FD77E752-898F-5A9E-2732-5356A442CAF4}"/>
              </a:ext>
            </a:extLst>
          </p:cNvPr>
          <p:cNvSpPr/>
          <p:nvPr/>
        </p:nvSpPr>
        <p:spPr>
          <a:xfrm>
            <a:off x="469894" y="4720280"/>
            <a:ext cx="11157809" cy="1865871"/>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b="1" dirty="0">
                <a:latin typeface="Calibri" panose="020F0502020204030204" pitchFamily="34" charset="0"/>
                <a:cs typeface="Calibri" panose="020F0502020204030204" pitchFamily="34" charset="0"/>
              </a:rPr>
              <a:t>Under Chapter 6 of the Electricity Law:</a:t>
            </a:r>
            <a:r>
              <a:rPr lang="en-US" dirty="0">
                <a:latin typeface="Calibri" panose="020F0502020204030204" pitchFamily="34" charset="0"/>
                <a:cs typeface="Calibri" panose="020F0502020204030204" pitchFamily="34" charset="0"/>
              </a:rPr>
              <a:t> License holders must ensure nondiscriminatory interconnection of electricity networks. Dominant permit holders are required to facilitate interconnections with other permit holders in feasible technical areas.</a:t>
            </a:r>
          </a:p>
          <a:p>
            <a:pPr marL="285750" indent="-285750">
              <a:buFont typeface="Arial" panose="020B0604020202020204" pitchFamily="34" charset="0"/>
              <a:buChar char="•"/>
            </a:pPr>
            <a:r>
              <a:rPr lang="en-US" b="1" dirty="0">
                <a:latin typeface="Calibri" panose="020F0502020204030204" pitchFamily="34" charset="0"/>
                <a:cs typeface="Calibri" panose="020F0502020204030204" pitchFamily="34" charset="0"/>
              </a:rPr>
              <a:t>Afghanistan’s Power Sector:</a:t>
            </a:r>
            <a:r>
              <a:rPr lang="en-US" dirty="0">
                <a:latin typeface="Calibri" panose="020F0502020204030204" pitchFamily="34" charset="0"/>
                <a:cs typeface="Calibri" panose="020F0502020204030204" pitchFamily="34" charset="0"/>
              </a:rPr>
              <a:t> The sector needs further development in infrastructure and institutions to implement the OA framework. Cross-border energy trade is partially enabled through existing connections with neighboring countries.</a:t>
            </a:r>
          </a:p>
        </p:txBody>
      </p:sp>
      <p:pic>
        <p:nvPicPr>
          <p:cNvPr id="15" name="Picture 14">
            <a:extLst>
              <a:ext uri="{FF2B5EF4-FFF2-40B4-BE49-F238E27FC236}">
                <a16:creationId xmlns:a16="http://schemas.microsoft.com/office/drawing/2014/main" id="{42BE42F9-1151-C5C6-4FDB-3B1508E477E1}"/>
              </a:ext>
            </a:extLst>
          </p:cNvPr>
          <p:cNvPicPr>
            <a:picLocks noChangeAspect="1"/>
          </p:cNvPicPr>
          <p:nvPr/>
        </p:nvPicPr>
        <p:blipFill>
          <a:blip r:embed="rId6"/>
          <a:stretch>
            <a:fillRect/>
          </a:stretch>
        </p:blipFill>
        <p:spPr>
          <a:xfrm>
            <a:off x="10602098" y="402587"/>
            <a:ext cx="812842" cy="564781"/>
          </a:xfrm>
          <a:prstGeom prst="rect">
            <a:avLst/>
          </a:prstGeom>
        </p:spPr>
      </p:pic>
    </p:spTree>
    <p:extLst>
      <p:ext uri="{BB962C8B-B14F-4D97-AF65-F5344CB8AC3E}">
        <p14:creationId xmlns:p14="http://schemas.microsoft.com/office/powerpoint/2010/main" val="867677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0AEDC-12E4-164A-222E-970F1FDF08D1}"/>
            </a:ext>
          </a:extLst>
        </p:cNvPr>
        <p:cNvGrpSpPr/>
        <p:nvPr/>
      </p:nvGrpSpPr>
      <p:grpSpPr>
        <a:xfrm>
          <a:off x="0" y="0"/>
          <a:ext cx="0" cy="0"/>
          <a:chOff x="0" y="0"/>
          <a:chExt cx="0" cy="0"/>
        </a:xfrm>
      </p:grpSpPr>
      <p:graphicFrame>
        <p:nvGraphicFramePr>
          <p:cNvPr id="87" name="think-cell data - do not delete" hidden="1">
            <a:extLst>
              <a:ext uri="{FF2B5EF4-FFF2-40B4-BE49-F238E27FC236}">
                <a16:creationId xmlns:a16="http://schemas.microsoft.com/office/drawing/2014/main" id="{7F5A4FA4-978D-6D31-69E0-4A225D10DB7C}"/>
              </a:ext>
            </a:extLst>
          </p:cNvPr>
          <p:cNvGraphicFramePr>
            <a:graphicFrameLocks noChangeAspect="1"/>
          </p:cNvGraphicFramePr>
          <p:nvPr>
            <p:custDataLst>
              <p:tags r:id="rId1"/>
            </p:custDataLst>
            <p:extLst>
              <p:ext uri="{D42A27DB-BD31-4B8C-83A1-F6EECF244321}">
                <p14:modId xmlns:p14="http://schemas.microsoft.com/office/powerpoint/2010/main" val="26036663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87" name="think-cell data - do not delete" hidden="1">
                        <a:extLst>
                          <a:ext uri="{FF2B5EF4-FFF2-40B4-BE49-F238E27FC236}">
                            <a16:creationId xmlns:a16="http://schemas.microsoft.com/office/drawing/2014/main" id="{35C3CFE2-6FEB-AFD1-55CD-615E9191F63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0" name="Title 2">
            <a:extLst>
              <a:ext uri="{FF2B5EF4-FFF2-40B4-BE49-F238E27FC236}">
                <a16:creationId xmlns:a16="http://schemas.microsoft.com/office/drawing/2014/main" id="{F27A83FA-3849-D2D1-2CE9-215792B41531}"/>
              </a:ext>
            </a:extLst>
          </p:cNvPr>
          <p:cNvSpPr>
            <a:spLocks noGrp="1"/>
          </p:cNvSpPr>
          <p:nvPr>
            <p:ph type="title"/>
          </p:nvPr>
        </p:nvSpPr>
        <p:spPr>
          <a:xfrm>
            <a:off x="469902" y="402587"/>
            <a:ext cx="11252200" cy="334102"/>
          </a:xfrm>
        </p:spPr>
        <p:txBody>
          <a:bodyPr vert="horz">
            <a:noAutofit/>
          </a:bodyPr>
          <a:lstStyle/>
          <a:p>
            <a:r>
              <a:rPr lang="en-US" sz="2800" b="1" dirty="0">
                <a:latin typeface="Calibri" panose="020F0502020204030204" pitchFamily="34" charset="0"/>
                <a:cs typeface="Calibri" panose="020F0502020204030204" pitchFamily="34" charset="0"/>
              </a:rPr>
              <a:t>Country-wise Assessment – Afghanistan (2/3)</a:t>
            </a:r>
          </a:p>
        </p:txBody>
      </p:sp>
      <p:sp>
        <p:nvSpPr>
          <p:cNvPr id="4" name="TextBox 3">
            <a:extLst>
              <a:ext uri="{FF2B5EF4-FFF2-40B4-BE49-F238E27FC236}">
                <a16:creationId xmlns:a16="http://schemas.microsoft.com/office/drawing/2014/main" id="{CF17CCF5-2A6D-AE08-CBA7-1FDF50B56F87}"/>
              </a:ext>
            </a:extLst>
          </p:cNvPr>
          <p:cNvSpPr txBox="1"/>
          <p:nvPr/>
        </p:nvSpPr>
        <p:spPr>
          <a:xfrm>
            <a:off x="469898" y="736689"/>
            <a:ext cx="11252200" cy="430887"/>
          </a:xfrm>
          <a:prstGeom prst="rect">
            <a:avLst/>
          </a:prstGeom>
          <a:noFill/>
        </p:spPr>
        <p:txBody>
          <a:bodyPr wrap="square">
            <a:spAutoFit/>
          </a:bodyPr>
          <a:lstStyle/>
          <a:p>
            <a:r>
              <a:rPr lang="en-US" sz="2200" i="1" dirty="0">
                <a:latin typeface="Calibri" panose="020F0502020204030204" pitchFamily="34" charset="0"/>
                <a:cs typeface="Calibri" panose="020F0502020204030204" pitchFamily="34" charset="0"/>
              </a:rPr>
              <a:t>Regulatory Framework</a:t>
            </a:r>
          </a:p>
        </p:txBody>
      </p:sp>
      <p:pic>
        <p:nvPicPr>
          <p:cNvPr id="15" name="Picture 14">
            <a:extLst>
              <a:ext uri="{FF2B5EF4-FFF2-40B4-BE49-F238E27FC236}">
                <a16:creationId xmlns:a16="http://schemas.microsoft.com/office/drawing/2014/main" id="{8578F739-7027-92F7-0F43-56B6F8642894}"/>
              </a:ext>
            </a:extLst>
          </p:cNvPr>
          <p:cNvPicPr>
            <a:picLocks noChangeAspect="1"/>
          </p:cNvPicPr>
          <p:nvPr/>
        </p:nvPicPr>
        <p:blipFill>
          <a:blip r:embed="rId6"/>
          <a:stretch>
            <a:fillRect/>
          </a:stretch>
        </p:blipFill>
        <p:spPr>
          <a:xfrm>
            <a:off x="10602098" y="402587"/>
            <a:ext cx="812842" cy="564781"/>
          </a:xfrm>
          <a:prstGeom prst="rect">
            <a:avLst/>
          </a:prstGeom>
        </p:spPr>
      </p:pic>
      <p:graphicFrame>
        <p:nvGraphicFramePr>
          <p:cNvPr id="6" name="Diagram 5">
            <a:extLst>
              <a:ext uri="{FF2B5EF4-FFF2-40B4-BE49-F238E27FC236}">
                <a16:creationId xmlns:a16="http://schemas.microsoft.com/office/drawing/2014/main" id="{9FF218A3-FFBE-9887-B02C-86485C6A9761}"/>
              </a:ext>
            </a:extLst>
          </p:cNvPr>
          <p:cNvGraphicFramePr/>
          <p:nvPr>
            <p:extLst>
              <p:ext uri="{D42A27DB-BD31-4B8C-83A1-F6EECF244321}">
                <p14:modId xmlns:p14="http://schemas.microsoft.com/office/powerpoint/2010/main" val="1941924743"/>
              </p:ext>
            </p:extLst>
          </p:nvPr>
        </p:nvGraphicFramePr>
        <p:xfrm>
          <a:off x="596236" y="1301469"/>
          <a:ext cx="10818703" cy="481984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6026840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13704-3850-1509-F6D7-B4AAF3FAA8C0}"/>
            </a:ext>
          </a:extLst>
        </p:cNvPr>
        <p:cNvGrpSpPr/>
        <p:nvPr/>
      </p:nvGrpSpPr>
      <p:grpSpPr>
        <a:xfrm>
          <a:off x="0" y="0"/>
          <a:ext cx="0" cy="0"/>
          <a:chOff x="0" y="0"/>
          <a:chExt cx="0" cy="0"/>
        </a:xfrm>
      </p:grpSpPr>
      <p:graphicFrame>
        <p:nvGraphicFramePr>
          <p:cNvPr id="87" name="think-cell data - do not delete" hidden="1">
            <a:extLst>
              <a:ext uri="{FF2B5EF4-FFF2-40B4-BE49-F238E27FC236}">
                <a16:creationId xmlns:a16="http://schemas.microsoft.com/office/drawing/2014/main" id="{73B500C2-E812-C858-9FA4-44CFE155C9C2}"/>
              </a:ext>
            </a:extLst>
          </p:cNvPr>
          <p:cNvGraphicFramePr>
            <a:graphicFrameLocks noChangeAspect="1"/>
          </p:cNvGraphicFramePr>
          <p:nvPr>
            <p:custDataLst>
              <p:tags r:id="rId1"/>
            </p:custDataLst>
            <p:extLst>
              <p:ext uri="{D42A27DB-BD31-4B8C-83A1-F6EECF244321}">
                <p14:modId xmlns:p14="http://schemas.microsoft.com/office/powerpoint/2010/main" val="21034502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87" name="think-cell data - do not delete" hidden="1">
                        <a:extLst>
                          <a:ext uri="{FF2B5EF4-FFF2-40B4-BE49-F238E27FC236}">
                            <a16:creationId xmlns:a16="http://schemas.microsoft.com/office/drawing/2014/main" id="{7F5A4FA4-978D-6D31-69E0-4A225D10DB7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0" name="Title 2">
            <a:extLst>
              <a:ext uri="{FF2B5EF4-FFF2-40B4-BE49-F238E27FC236}">
                <a16:creationId xmlns:a16="http://schemas.microsoft.com/office/drawing/2014/main" id="{14D9A93C-C603-D62B-7021-CE587AC9C102}"/>
              </a:ext>
            </a:extLst>
          </p:cNvPr>
          <p:cNvSpPr>
            <a:spLocks noGrp="1"/>
          </p:cNvSpPr>
          <p:nvPr>
            <p:ph type="title"/>
          </p:nvPr>
        </p:nvSpPr>
        <p:spPr>
          <a:xfrm>
            <a:off x="469902" y="402587"/>
            <a:ext cx="11252200" cy="334102"/>
          </a:xfrm>
        </p:spPr>
        <p:txBody>
          <a:bodyPr vert="horz">
            <a:noAutofit/>
          </a:bodyPr>
          <a:lstStyle/>
          <a:p>
            <a:r>
              <a:rPr lang="en-US" sz="2800" b="1" dirty="0">
                <a:latin typeface="Calibri" panose="020F0502020204030204" pitchFamily="34" charset="0"/>
                <a:cs typeface="Calibri" panose="020F0502020204030204" pitchFamily="34" charset="0"/>
              </a:rPr>
              <a:t>Country-wise Assessment – Afghanistan (3/3)</a:t>
            </a:r>
          </a:p>
        </p:txBody>
      </p:sp>
      <p:sp>
        <p:nvSpPr>
          <p:cNvPr id="4" name="TextBox 3">
            <a:extLst>
              <a:ext uri="{FF2B5EF4-FFF2-40B4-BE49-F238E27FC236}">
                <a16:creationId xmlns:a16="http://schemas.microsoft.com/office/drawing/2014/main" id="{F388EA80-2851-014F-3589-A71EC7E66B7B}"/>
              </a:ext>
            </a:extLst>
          </p:cNvPr>
          <p:cNvSpPr txBox="1"/>
          <p:nvPr/>
        </p:nvSpPr>
        <p:spPr>
          <a:xfrm>
            <a:off x="469898" y="736689"/>
            <a:ext cx="11252200" cy="430887"/>
          </a:xfrm>
          <a:prstGeom prst="rect">
            <a:avLst/>
          </a:prstGeom>
          <a:noFill/>
        </p:spPr>
        <p:txBody>
          <a:bodyPr wrap="square">
            <a:spAutoFit/>
          </a:bodyPr>
          <a:lstStyle/>
          <a:p>
            <a:r>
              <a:rPr lang="en-US" sz="2200" i="1" dirty="0">
                <a:latin typeface="Calibri" panose="020F0502020204030204" pitchFamily="34" charset="0"/>
                <a:cs typeface="Calibri" panose="020F0502020204030204" pitchFamily="34" charset="0"/>
              </a:rPr>
              <a:t>Operational Framework</a:t>
            </a:r>
          </a:p>
        </p:txBody>
      </p:sp>
      <p:pic>
        <p:nvPicPr>
          <p:cNvPr id="15" name="Picture 14">
            <a:extLst>
              <a:ext uri="{FF2B5EF4-FFF2-40B4-BE49-F238E27FC236}">
                <a16:creationId xmlns:a16="http://schemas.microsoft.com/office/drawing/2014/main" id="{31B2951B-4656-9EE8-28E1-B2F940E352D1}"/>
              </a:ext>
            </a:extLst>
          </p:cNvPr>
          <p:cNvPicPr>
            <a:picLocks noChangeAspect="1"/>
          </p:cNvPicPr>
          <p:nvPr/>
        </p:nvPicPr>
        <p:blipFill>
          <a:blip r:embed="rId6"/>
          <a:stretch>
            <a:fillRect/>
          </a:stretch>
        </p:blipFill>
        <p:spPr>
          <a:xfrm>
            <a:off x="10602098" y="402587"/>
            <a:ext cx="812842" cy="564781"/>
          </a:xfrm>
          <a:prstGeom prst="rect">
            <a:avLst/>
          </a:prstGeom>
        </p:spPr>
      </p:pic>
      <p:graphicFrame>
        <p:nvGraphicFramePr>
          <p:cNvPr id="7" name="Diagram 6">
            <a:extLst>
              <a:ext uri="{FF2B5EF4-FFF2-40B4-BE49-F238E27FC236}">
                <a16:creationId xmlns:a16="http://schemas.microsoft.com/office/drawing/2014/main" id="{8204E0AC-70B2-9563-E565-108FD275ECA4}"/>
              </a:ext>
            </a:extLst>
          </p:cNvPr>
          <p:cNvGraphicFramePr/>
          <p:nvPr>
            <p:extLst>
              <p:ext uri="{D42A27DB-BD31-4B8C-83A1-F6EECF244321}">
                <p14:modId xmlns:p14="http://schemas.microsoft.com/office/powerpoint/2010/main" val="2361715659"/>
              </p:ext>
            </p:extLst>
          </p:nvPr>
        </p:nvGraphicFramePr>
        <p:xfrm>
          <a:off x="565322" y="1679139"/>
          <a:ext cx="11156776" cy="395554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0054711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FA8DC-6740-F413-7E45-413079AB358B}"/>
            </a:ext>
          </a:extLst>
        </p:cNvPr>
        <p:cNvGrpSpPr/>
        <p:nvPr/>
      </p:nvGrpSpPr>
      <p:grpSpPr>
        <a:xfrm>
          <a:off x="0" y="0"/>
          <a:ext cx="0" cy="0"/>
          <a:chOff x="0" y="0"/>
          <a:chExt cx="0" cy="0"/>
        </a:xfrm>
      </p:grpSpPr>
      <p:graphicFrame>
        <p:nvGraphicFramePr>
          <p:cNvPr id="87" name="think-cell data - do not delete" hidden="1">
            <a:extLst>
              <a:ext uri="{FF2B5EF4-FFF2-40B4-BE49-F238E27FC236}">
                <a16:creationId xmlns:a16="http://schemas.microsoft.com/office/drawing/2014/main" id="{891C6ED8-6710-B805-E750-7595D7C29CF1}"/>
              </a:ext>
            </a:extLst>
          </p:cNvPr>
          <p:cNvGraphicFramePr>
            <a:graphicFrameLocks noChangeAspect="1"/>
          </p:cNvGraphicFramePr>
          <p:nvPr>
            <p:custDataLst>
              <p:tags r:id="rId1"/>
            </p:custDataLst>
            <p:extLst>
              <p:ext uri="{D42A27DB-BD31-4B8C-83A1-F6EECF244321}">
                <p14:modId xmlns:p14="http://schemas.microsoft.com/office/powerpoint/2010/main" val="40239008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87" name="think-cell data - do not delete" hidden="1">
                        <a:extLst>
                          <a:ext uri="{FF2B5EF4-FFF2-40B4-BE49-F238E27FC236}">
                            <a16:creationId xmlns:a16="http://schemas.microsoft.com/office/drawing/2014/main" id="{35C3CFE2-6FEB-AFD1-55CD-615E9191F63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0" name="Title 2">
            <a:extLst>
              <a:ext uri="{FF2B5EF4-FFF2-40B4-BE49-F238E27FC236}">
                <a16:creationId xmlns:a16="http://schemas.microsoft.com/office/drawing/2014/main" id="{0213CAEC-9587-CE24-E34D-ED682C648B49}"/>
              </a:ext>
            </a:extLst>
          </p:cNvPr>
          <p:cNvSpPr>
            <a:spLocks noGrp="1"/>
          </p:cNvSpPr>
          <p:nvPr>
            <p:ph type="title"/>
          </p:nvPr>
        </p:nvSpPr>
        <p:spPr>
          <a:xfrm>
            <a:off x="469902" y="402587"/>
            <a:ext cx="11252200" cy="334102"/>
          </a:xfrm>
        </p:spPr>
        <p:txBody>
          <a:bodyPr vert="horz">
            <a:noAutofit/>
          </a:bodyPr>
          <a:lstStyle/>
          <a:p>
            <a:r>
              <a:rPr lang="en-US" sz="2800" b="1" dirty="0">
                <a:latin typeface="Calibri" panose="020F0502020204030204" pitchFamily="34" charset="0"/>
                <a:cs typeface="Calibri" panose="020F0502020204030204" pitchFamily="34" charset="0"/>
              </a:rPr>
              <a:t>Country-wise Assessment – Bangladesh (1/3)</a:t>
            </a:r>
          </a:p>
        </p:txBody>
      </p:sp>
      <p:sp>
        <p:nvSpPr>
          <p:cNvPr id="4" name="TextBox 3">
            <a:extLst>
              <a:ext uri="{FF2B5EF4-FFF2-40B4-BE49-F238E27FC236}">
                <a16:creationId xmlns:a16="http://schemas.microsoft.com/office/drawing/2014/main" id="{77ADE4E0-3720-E4BA-EC8E-E8B26AE83FC2}"/>
              </a:ext>
            </a:extLst>
          </p:cNvPr>
          <p:cNvSpPr txBox="1"/>
          <p:nvPr/>
        </p:nvSpPr>
        <p:spPr>
          <a:xfrm>
            <a:off x="469898" y="736689"/>
            <a:ext cx="11252200" cy="430887"/>
          </a:xfrm>
          <a:prstGeom prst="rect">
            <a:avLst/>
          </a:prstGeom>
          <a:noFill/>
        </p:spPr>
        <p:txBody>
          <a:bodyPr wrap="square">
            <a:spAutoFit/>
          </a:bodyPr>
          <a:lstStyle/>
          <a:p>
            <a:r>
              <a:rPr lang="en-US" sz="2200" i="1" dirty="0">
                <a:latin typeface="Calibri" panose="020F0502020204030204" pitchFamily="34" charset="0"/>
                <a:cs typeface="Calibri" panose="020F0502020204030204" pitchFamily="34" charset="0"/>
              </a:rPr>
              <a:t>Legal and Policy Framework</a:t>
            </a:r>
          </a:p>
        </p:txBody>
      </p:sp>
      <p:sp>
        <p:nvSpPr>
          <p:cNvPr id="12" name="TextBox 11">
            <a:extLst>
              <a:ext uri="{FF2B5EF4-FFF2-40B4-BE49-F238E27FC236}">
                <a16:creationId xmlns:a16="http://schemas.microsoft.com/office/drawing/2014/main" id="{E7998B30-04F9-D317-DD42-554BAC1972D9}"/>
              </a:ext>
            </a:extLst>
          </p:cNvPr>
          <p:cNvSpPr txBox="1"/>
          <p:nvPr/>
        </p:nvSpPr>
        <p:spPr>
          <a:xfrm>
            <a:off x="469898" y="1501678"/>
            <a:ext cx="11157810" cy="4616648"/>
          </a:xfrm>
          <a:prstGeom prst="rect">
            <a:avLst/>
          </a:prstGeom>
          <a:solidFill>
            <a:schemeClr val="bg1">
              <a:lumMod val="95000"/>
            </a:schemeClr>
          </a:solidFill>
        </p:spPr>
        <p:txBody>
          <a:bodyPr wrap="square">
            <a:spAutoFit/>
          </a:bodyPr>
          <a:lstStyle/>
          <a:p>
            <a:pPr marL="285750" indent="-285750">
              <a:spcAft>
                <a:spcPts val="1200"/>
              </a:spcAft>
              <a:buFont typeface="Arial" panose="020B0604020202020204" pitchFamily="34" charset="0"/>
              <a:buChar char="•"/>
            </a:pPr>
            <a:r>
              <a:rPr lang="en-US" b="1" dirty="0">
                <a:latin typeface="Calibri" panose="020F0502020204030204" pitchFamily="34" charset="0"/>
                <a:cs typeface="Calibri" panose="020F0502020204030204" pitchFamily="34" charset="0"/>
              </a:rPr>
              <a:t>Bangladesh Electricity Act 1910 (Amended 2012):</a:t>
            </a:r>
            <a:r>
              <a:rPr lang="en-US" dirty="0">
                <a:latin typeface="Calibri" panose="020F0502020204030204" pitchFamily="34" charset="0"/>
                <a:cs typeface="Calibri" panose="020F0502020204030204" pitchFamily="34" charset="0"/>
              </a:rPr>
              <a:t> Enables power market development with an open market for power (Part 2, Clause 6).</a:t>
            </a:r>
          </a:p>
          <a:p>
            <a:pPr marL="285750" indent="-285750">
              <a:spcAft>
                <a:spcPts val="1200"/>
              </a:spcAft>
              <a:buFont typeface="Arial" panose="020B0604020202020204" pitchFamily="34" charset="0"/>
              <a:buChar char="•"/>
            </a:pPr>
            <a:r>
              <a:rPr lang="en-US" b="1" dirty="0">
                <a:latin typeface="Calibri" panose="020F0502020204030204" pitchFamily="34" charset="0"/>
                <a:cs typeface="Calibri" panose="020F0502020204030204" pitchFamily="34" charset="0"/>
              </a:rPr>
              <a:t>Electricity Commission:</a:t>
            </a:r>
            <a:r>
              <a:rPr lang="en-US" dirty="0">
                <a:latin typeface="Calibri" panose="020F0502020204030204" pitchFamily="34" charset="0"/>
                <a:cs typeface="Calibri" panose="020F0502020204030204" pitchFamily="34" charset="0"/>
              </a:rPr>
              <a:t> Authorized to study the feasibility of open market operations and frame regulations with stakeholders.</a:t>
            </a:r>
          </a:p>
          <a:p>
            <a:pPr marL="285750" indent="-285750">
              <a:spcAft>
                <a:spcPts val="1200"/>
              </a:spcAft>
              <a:buFont typeface="Arial" panose="020B0604020202020204" pitchFamily="34" charset="0"/>
              <a:buChar char="•"/>
            </a:pPr>
            <a:r>
              <a:rPr lang="en-US" b="1" dirty="0">
                <a:latin typeface="Calibri" panose="020F0502020204030204" pitchFamily="34" charset="0"/>
                <a:cs typeface="Calibri" panose="020F0502020204030204" pitchFamily="34" charset="0"/>
              </a:rPr>
              <a:t>Transmission Utility Functions (Part 2, Clause 7, 2(d)):</a:t>
            </a:r>
            <a:r>
              <a:rPr lang="en-US" dirty="0">
                <a:latin typeface="Calibri" panose="020F0502020204030204" pitchFamily="34" charset="0"/>
                <a:cs typeface="Calibri" panose="020F0502020204030204" pitchFamily="34" charset="0"/>
              </a:rPr>
              <a:t> Must offer non-discriminatory Open Access (OA) to licensees/generators at regulated charges.</a:t>
            </a:r>
          </a:p>
          <a:p>
            <a:pPr marL="285750" indent="-285750">
              <a:spcAft>
                <a:spcPts val="1200"/>
              </a:spcAft>
              <a:buFont typeface="Arial" panose="020B0604020202020204" pitchFamily="34" charset="0"/>
              <a:buChar char="•"/>
            </a:pPr>
            <a:r>
              <a:rPr lang="en-US" b="1" dirty="0">
                <a:latin typeface="Calibri" panose="020F0502020204030204" pitchFamily="34" charset="0"/>
                <a:cs typeface="Calibri" panose="020F0502020204030204" pitchFamily="34" charset="0"/>
              </a:rPr>
              <a:t>BPDB/Single Buyer:</a:t>
            </a:r>
            <a:r>
              <a:rPr lang="en-US" dirty="0">
                <a:latin typeface="Calibri" panose="020F0502020204030204" pitchFamily="34" charset="0"/>
                <a:cs typeface="Calibri" panose="020F0502020204030204" pitchFamily="34" charset="0"/>
              </a:rPr>
              <a:t> May import/export electricity with government approval, at rates set by the government.</a:t>
            </a:r>
          </a:p>
          <a:p>
            <a:pPr marL="285750" indent="-285750">
              <a:spcAft>
                <a:spcPts val="1200"/>
              </a:spcAft>
              <a:buFont typeface="Arial" panose="020B0604020202020204" pitchFamily="34" charset="0"/>
              <a:buChar char="•"/>
            </a:pPr>
            <a:r>
              <a:rPr lang="en-US" dirty="0">
                <a:latin typeface="Calibri" panose="020F0502020204030204" pitchFamily="34" charset="0"/>
                <a:cs typeface="Calibri" panose="020F0502020204030204" pitchFamily="34" charset="0"/>
              </a:rPr>
              <a:t>Electricity Grid Code 2012 (Clause 1.2): Ensures non-discriminatory access, covering technical standards for transmission use.</a:t>
            </a:r>
          </a:p>
          <a:p>
            <a:pPr marL="285750" indent="-285750">
              <a:spcAft>
                <a:spcPts val="1200"/>
              </a:spcAft>
              <a:buFont typeface="Arial" panose="020B0604020202020204" pitchFamily="34" charset="0"/>
              <a:buChar char="•"/>
            </a:pPr>
            <a:r>
              <a:rPr lang="en-US" b="1" dirty="0">
                <a:latin typeface="Calibri" panose="020F0502020204030204" pitchFamily="34" charset="0"/>
                <a:cs typeface="Calibri" panose="020F0502020204030204" pitchFamily="34" charset="0"/>
              </a:rPr>
              <a:t>National Electricity Policy:</a:t>
            </a:r>
            <a:r>
              <a:rPr lang="en-US" dirty="0">
                <a:latin typeface="Calibri" panose="020F0502020204030204" pitchFamily="34" charset="0"/>
                <a:cs typeface="Calibri" panose="020F0502020204030204" pitchFamily="34" charset="0"/>
              </a:rPr>
              <a:t> To be periodically updated by the Government in consultation with Bangladesh Energy Regulatory Commission (BERC).</a:t>
            </a:r>
          </a:p>
          <a:p>
            <a:pPr marL="285750" indent="-285750">
              <a:spcAft>
                <a:spcPts val="1200"/>
              </a:spcAft>
              <a:buFont typeface="Arial" panose="020B0604020202020204" pitchFamily="34" charset="0"/>
              <a:buChar char="•"/>
            </a:pPr>
            <a:r>
              <a:rPr lang="en-US" b="1" dirty="0">
                <a:latin typeface="Calibri" panose="020F0502020204030204" pitchFamily="34" charset="0"/>
                <a:cs typeface="Calibri" panose="020F0502020204030204" pitchFamily="34" charset="0"/>
              </a:rPr>
              <a:t>Private Sector Participation (2008 Policy):</a:t>
            </a:r>
            <a:r>
              <a:rPr lang="en-US" dirty="0">
                <a:latin typeface="Calibri" panose="020F0502020204030204" pitchFamily="34" charset="0"/>
                <a:cs typeface="Calibri" panose="020F0502020204030204" pitchFamily="34" charset="0"/>
              </a:rPr>
              <a:t> Aims to introduce competition and enhance public-private partnerships, ensuring non-discriminatory access to PGCB transmission/distribution lines for power wheeling.</a:t>
            </a:r>
          </a:p>
        </p:txBody>
      </p:sp>
      <p:pic>
        <p:nvPicPr>
          <p:cNvPr id="7" name="Picture 6">
            <a:extLst>
              <a:ext uri="{FF2B5EF4-FFF2-40B4-BE49-F238E27FC236}">
                <a16:creationId xmlns:a16="http://schemas.microsoft.com/office/drawing/2014/main" id="{F89862E5-C6AF-1F09-0B79-AD1F877FC5B9}"/>
              </a:ext>
            </a:extLst>
          </p:cNvPr>
          <p:cNvPicPr>
            <a:picLocks noChangeAspect="1"/>
          </p:cNvPicPr>
          <p:nvPr/>
        </p:nvPicPr>
        <p:blipFill>
          <a:blip r:embed="rId6"/>
          <a:stretch>
            <a:fillRect/>
          </a:stretch>
        </p:blipFill>
        <p:spPr>
          <a:xfrm>
            <a:off x="10616184" y="398867"/>
            <a:ext cx="813816" cy="617805"/>
          </a:xfrm>
          <a:prstGeom prst="rect">
            <a:avLst/>
          </a:prstGeom>
        </p:spPr>
      </p:pic>
    </p:spTree>
    <p:extLst>
      <p:ext uri="{BB962C8B-B14F-4D97-AF65-F5344CB8AC3E}">
        <p14:creationId xmlns:p14="http://schemas.microsoft.com/office/powerpoint/2010/main" val="1574468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A75AD-6C2F-8CF4-1EB6-FB052A30B1F1}"/>
            </a:ext>
          </a:extLst>
        </p:cNvPr>
        <p:cNvGrpSpPr/>
        <p:nvPr/>
      </p:nvGrpSpPr>
      <p:grpSpPr>
        <a:xfrm>
          <a:off x="0" y="0"/>
          <a:ext cx="0" cy="0"/>
          <a:chOff x="0" y="0"/>
          <a:chExt cx="0" cy="0"/>
        </a:xfrm>
      </p:grpSpPr>
      <p:graphicFrame>
        <p:nvGraphicFramePr>
          <p:cNvPr id="87" name="think-cell data - do not delete" hidden="1">
            <a:extLst>
              <a:ext uri="{FF2B5EF4-FFF2-40B4-BE49-F238E27FC236}">
                <a16:creationId xmlns:a16="http://schemas.microsoft.com/office/drawing/2014/main" id="{B5039A04-07A2-357A-8AF1-F1606B684EA4}"/>
              </a:ext>
            </a:extLst>
          </p:cNvPr>
          <p:cNvGraphicFramePr>
            <a:graphicFrameLocks noChangeAspect="1"/>
          </p:cNvGraphicFramePr>
          <p:nvPr>
            <p:custDataLst>
              <p:tags r:id="rId1"/>
            </p:custDataLst>
            <p:extLst>
              <p:ext uri="{D42A27DB-BD31-4B8C-83A1-F6EECF244321}">
                <p14:modId xmlns:p14="http://schemas.microsoft.com/office/powerpoint/2010/main" val="34942153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87" name="think-cell data - do not delete" hidden="1">
                        <a:extLst>
                          <a:ext uri="{FF2B5EF4-FFF2-40B4-BE49-F238E27FC236}">
                            <a16:creationId xmlns:a16="http://schemas.microsoft.com/office/drawing/2014/main" id="{891C6ED8-6710-B805-E750-7595D7C29CF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0" name="Title 2">
            <a:extLst>
              <a:ext uri="{FF2B5EF4-FFF2-40B4-BE49-F238E27FC236}">
                <a16:creationId xmlns:a16="http://schemas.microsoft.com/office/drawing/2014/main" id="{85EAC65C-D45A-26CE-8472-56353C462DD6}"/>
              </a:ext>
            </a:extLst>
          </p:cNvPr>
          <p:cNvSpPr>
            <a:spLocks noGrp="1"/>
          </p:cNvSpPr>
          <p:nvPr>
            <p:ph type="title"/>
          </p:nvPr>
        </p:nvSpPr>
        <p:spPr>
          <a:xfrm>
            <a:off x="469902" y="402587"/>
            <a:ext cx="11252200" cy="334102"/>
          </a:xfrm>
        </p:spPr>
        <p:txBody>
          <a:bodyPr vert="horz">
            <a:noAutofit/>
          </a:bodyPr>
          <a:lstStyle/>
          <a:p>
            <a:r>
              <a:rPr lang="en-US" sz="2800" b="1" dirty="0">
                <a:latin typeface="Calibri" panose="020F0502020204030204" pitchFamily="34" charset="0"/>
                <a:cs typeface="Calibri" panose="020F0502020204030204" pitchFamily="34" charset="0"/>
              </a:rPr>
              <a:t>Country-wise Assessment – Bangladesh (2/3)</a:t>
            </a:r>
          </a:p>
        </p:txBody>
      </p:sp>
      <p:sp>
        <p:nvSpPr>
          <p:cNvPr id="4" name="TextBox 3">
            <a:extLst>
              <a:ext uri="{FF2B5EF4-FFF2-40B4-BE49-F238E27FC236}">
                <a16:creationId xmlns:a16="http://schemas.microsoft.com/office/drawing/2014/main" id="{5DE2694E-84DB-278B-088F-3C8FE109DADB}"/>
              </a:ext>
            </a:extLst>
          </p:cNvPr>
          <p:cNvSpPr txBox="1"/>
          <p:nvPr/>
        </p:nvSpPr>
        <p:spPr>
          <a:xfrm>
            <a:off x="469898" y="736689"/>
            <a:ext cx="11252200" cy="430887"/>
          </a:xfrm>
          <a:prstGeom prst="rect">
            <a:avLst/>
          </a:prstGeom>
          <a:noFill/>
        </p:spPr>
        <p:txBody>
          <a:bodyPr wrap="square">
            <a:spAutoFit/>
          </a:bodyPr>
          <a:lstStyle/>
          <a:p>
            <a:r>
              <a:rPr lang="en-US" sz="2200" i="1" dirty="0">
                <a:latin typeface="Calibri" panose="020F0502020204030204" pitchFamily="34" charset="0"/>
                <a:cs typeface="Calibri" panose="020F0502020204030204" pitchFamily="34" charset="0"/>
              </a:rPr>
              <a:t>Regulatory Framework</a:t>
            </a:r>
          </a:p>
        </p:txBody>
      </p:sp>
      <p:pic>
        <p:nvPicPr>
          <p:cNvPr id="7" name="Picture 6">
            <a:extLst>
              <a:ext uri="{FF2B5EF4-FFF2-40B4-BE49-F238E27FC236}">
                <a16:creationId xmlns:a16="http://schemas.microsoft.com/office/drawing/2014/main" id="{477E28ED-6B62-FA05-4D3B-A5F56F9104A2}"/>
              </a:ext>
            </a:extLst>
          </p:cNvPr>
          <p:cNvPicPr>
            <a:picLocks noChangeAspect="1"/>
          </p:cNvPicPr>
          <p:nvPr/>
        </p:nvPicPr>
        <p:blipFill>
          <a:blip r:embed="rId6"/>
          <a:stretch>
            <a:fillRect/>
          </a:stretch>
        </p:blipFill>
        <p:spPr>
          <a:xfrm>
            <a:off x="10616184" y="398867"/>
            <a:ext cx="813816" cy="617805"/>
          </a:xfrm>
          <a:prstGeom prst="rect">
            <a:avLst/>
          </a:prstGeom>
        </p:spPr>
      </p:pic>
      <p:sp>
        <p:nvSpPr>
          <p:cNvPr id="3" name="Rectangle 2">
            <a:extLst>
              <a:ext uri="{FF2B5EF4-FFF2-40B4-BE49-F238E27FC236}">
                <a16:creationId xmlns:a16="http://schemas.microsoft.com/office/drawing/2014/main" id="{C2496D9E-817B-6D70-747D-62E5ACFB17A0}"/>
              </a:ext>
            </a:extLst>
          </p:cNvPr>
          <p:cNvSpPr/>
          <p:nvPr/>
        </p:nvSpPr>
        <p:spPr>
          <a:xfrm>
            <a:off x="580767" y="1297450"/>
            <a:ext cx="3064475" cy="55388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spc="-20" dirty="0">
                <a:latin typeface="Calibri" panose="020F0502020204030204" pitchFamily="34" charset="0"/>
                <a:cs typeface="Calibri" panose="020F0502020204030204" pitchFamily="34" charset="0"/>
              </a:rPr>
              <a:t>Bangladesh Energy Regulatory Commission (BERC)</a:t>
            </a:r>
            <a:endParaRPr lang="en-US" dirty="0"/>
          </a:p>
        </p:txBody>
      </p:sp>
      <p:sp>
        <p:nvSpPr>
          <p:cNvPr id="5" name="Rectangle: Rounded Corners 4">
            <a:extLst>
              <a:ext uri="{FF2B5EF4-FFF2-40B4-BE49-F238E27FC236}">
                <a16:creationId xmlns:a16="http://schemas.microsoft.com/office/drawing/2014/main" id="{0A061E4F-82D9-AF92-7904-6E0A086F59E7}"/>
              </a:ext>
            </a:extLst>
          </p:cNvPr>
          <p:cNvSpPr/>
          <p:nvPr/>
        </p:nvSpPr>
        <p:spPr>
          <a:xfrm>
            <a:off x="3818238" y="1297450"/>
            <a:ext cx="7574692" cy="553883"/>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alibri" panose="020F0502020204030204" pitchFamily="34" charset="0"/>
                <a:cs typeface="Calibri" panose="020F0502020204030204" pitchFamily="34" charset="0"/>
              </a:rPr>
              <a:t>Established under the Bangladesh Energy Regulatory Commission Act 2003 (BERC Act 2003), oversees energy pricing, licensing, and consumer rights.</a:t>
            </a:r>
          </a:p>
        </p:txBody>
      </p:sp>
      <p:sp>
        <p:nvSpPr>
          <p:cNvPr id="6" name="Rectangle 5">
            <a:extLst>
              <a:ext uri="{FF2B5EF4-FFF2-40B4-BE49-F238E27FC236}">
                <a16:creationId xmlns:a16="http://schemas.microsoft.com/office/drawing/2014/main" id="{0B36A971-03C0-9FB4-2BD7-AACE0490A429}"/>
              </a:ext>
            </a:extLst>
          </p:cNvPr>
          <p:cNvSpPr/>
          <p:nvPr/>
        </p:nvSpPr>
        <p:spPr>
          <a:xfrm>
            <a:off x="580767" y="1981380"/>
            <a:ext cx="3064475" cy="55388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Calibri" panose="020F0502020204030204" pitchFamily="34" charset="0"/>
                <a:cs typeface="Calibri" panose="020F0502020204030204" pitchFamily="34" charset="0"/>
              </a:rPr>
              <a:t>Licensing Authority </a:t>
            </a:r>
          </a:p>
          <a:p>
            <a:pPr algn="ctr"/>
            <a:r>
              <a:rPr lang="en-US" b="1" dirty="0">
                <a:latin typeface="Calibri" panose="020F0502020204030204" pitchFamily="34" charset="0"/>
                <a:cs typeface="Calibri" panose="020F0502020204030204" pitchFamily="34" charset="0"/>
              </a:rPr>
              <a:t>(Clause 28)</a:t>
            </a:r>
            <a:endParaRPr lang="en-US" dirty="0"/>
          </a:p>
        </p:txBody>
      </p:sp>
      <p:sp>
        <p:nvSpPr>
          <p:cNvPr id="8" name="Rectangle: Rounded Corners 7">
            <a:extLst>
              <a:ext uri="{FF2B5EF4-FFF2-40B4-BE49-F238E27FC236}">
                <a16:creationId xmlns:a16="http://schemas.microsoft.com/office/drawing/2014/main" id="{9195B52B-A4F4-F08F-1994-DDC41DCB22F5}"/>
              </a:ext>
            </a:extLst>
          </p:cNvPr>
          <p:cNvSpPr/>
          <p:nvPr/>
        </p:nvSpPr>
        <p:spPr>
          <a:xfrm>
            <a:off x="3818238" y="1981380"/>
            <a:ext cx="7574692" cy="553883"/>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alibri" panose="020F0502020204030204" pitchFamily="34" charset="0"/>
                <a:cs typeface="Calibri" panose="020F0502020204030204" pitchFamily="34" charset="0"/>
              </a:rPr>
              <a:t>Licenses for power generation, transmission, distribution, and energy marketing.</a:t>
            </a:r>
          </a:p>
        </p:txBody>
      </p:sp>
      <p:sp>
        <p:nvSpPr>
          <p:cNvPr id="9" name="Rectangle 8">
            <a:extLst>
              <a:ext uri="{FF2B5EF4-FFF2-40B4-BE49-F238E27FC236}">
                <a16:creationId xmlns:a16="http://schemas.microsoft.com/office/drawing/2014/main" id="{8FA8D1B6-0560-6297-B011-D195E23F633F}"/>
              </a:ext>
            </a:extLst>
          </p:cNvPr>
          <p:cNvSpPr/>
          <p:nvPr/>
        </p:nvSpPr>
        <p:spPr>
          <a:xfrm>
            <a:off x="580767" y="2665310"/>
            <a:ext cx="3064475" cy="91611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spc="-10" dirty="0">
                <a:latin typeface="Calibri" panose="020F0502020204030204" pitchFamily="34" charset="0"/>
                <a:cs typeface="Calibri" panose="020F0502020204030204" pitchFamily="34" charset="0"/>
              </a:rPr>
              <a:t>Power Market Operationalization</a:t>
            </a:r>
            <a:endParaRPr lang="en-US" dirty="0"/>
          </a:p>
        </p:txBody>
      </p:sp>
      <p:sp>
        <p:nvSpPr>
          <p:cNvPr id="10" name="Rectangle: Rounded Corners 9">
            <a:extLst>
              <a:ext uri="{FF2B5EF4-FFF2-40B4-BE49-F238E27FC236}">
                <a16:creationId xmlns:a16="http://schemas.microsoft.com/office/drawing/2014/main" id="{2E5BF004-8A71-16F9-6DC8-D393B8D4BB22}"/>
              </a:ext>
            </a:extLst>
          </p:cNvPr>
          <p:cNvSpPr/>
          <p:nvPr/>
        </p:nvSpPr>
        <p:spPr>
          <a:xfrm>
            <a:off x="3818238" y="2665310"/>
            <a:ext cx="7574692" cy="916112"/>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alibri" panose="020F0502020204030204" pitchFamily="34" charset="0"/>
                <a:cs typeface="Calibri" panose="020F0502020204030204" pitchFamily="34" charset="0"/>
              </a:rPr>
              <a:t>BERC, in consultation with the Government, is tasked with enabling the power market under Clause 6, Part II of the Electricity (Amendment) Act 2012.</a:t>
            </a:r>
          </a:p>
        </p:txBody>
      </p:sp>
      <p:sp>
        <p:nvSpPr>
          <p:cNvPr id="11" name="Rectangle 10">
            <a:extLst>
              <a:ext uri="{FF2B5EF4-FFF2-40B4-BE49-F238E27FC236}">
                <a16:creationId xmlns:a16="http://schemas.microsoft.com/office/drawing/2014/main" id="{CDF6D651-6F51-1CB5-F063-C6FA21F5E546}"/>
              </a:ext>
            </a:extLst>
          </p:cNvPr>
          <p:cNvSpPr/>
          <p:nvPr/>
        </p:nvSpPr>
        <p:spPr>
          <a:xfrm>
            <a:off x="580767" y="3711469"/>
            <a:ext cx="3064475" cy="70433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Calibri" panose="020F0502020204030204" pitchFamily="34" charset="0"/>
                <a:cs typeface="Calibri" panose="020F0502020204030204" pitchFamily="34" charset="0"/>
              </a:rPr>
              <a:t>Grid Code and Open Access (OA) Framework</a:t>
            </a:r>
            <a:endParaRPr lang="en-US" dirty="0"/>
          </a:p>
        </p:txBody>
      </p:sp>
      <p:sp>
        <p:nvSpPr>
          <p:cNvPr id="13" name="Rectangle: Rounded Corners 12">
            <a:extLst>
              <a:ext uri="{FF2B5EF4-FFF2-40B4-BE49-F238E27FC236}">
                <a16:creationId xmlns:a16="http://schemas.microsoft.com/office/drawing/2014/main" id="{F9F764E7-F47A-505E-1082-DD6B136926AA}"/>
              </a:ext>
            </a:extLst>
          </p:cNvPr>
          <p:cNvSpPr/>
          <p:nvPr/>
        </p:nvSpPr>
        <p:spPr>
          <a:xfrm>
            <a:off x="3818238" y="3711469"/>
            <a:ext cx="7574692" cy="704335"/>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alibri" panose="020F0502020204030204" pitchFamily="34" charset="0"/>
                <a:cs typeface="Calibri" panose="020F0502020204030204" pitchFamily="34" charset="0"/>
              </a:rPr>
              <a:t>BERC has implemented the Grid Code and related regulations, though non-discriminatory OA for transmission and distribution is pending.</a:t>
            </a:r>
          </a:p>
        </p:txBody>
      </p:sp>
      <p:sp>
        <p:nvSpPr>
          <p:cNvPr id="14" name="Rectangle 13">
            <a:extLst>
              <a:ext uri="{FF2B5EF4-FFF2-40B4-BE49-F238E27FC236}">
                <a16:creationId xmlns:a16="http://schemas.microsoft.com/office/drawing/2014/main" id="{36245791-AC91-5732-2BB3-943A40990BC2}"/>
              </a:ext>
            </a:extLst>
          </p:cNvPr>
          <p:cNvSpPr/>
          <p:nvPr/>
        </p:nvSpPr>
        <p:spPr>
          <a:xfrm>
            <a:off x="580767" y="4545851"/>
            <a:ext cx="3064475" cy="91611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spc="-10" dirty="0">
                <a:latin typeface="Calibri" panose="020F0502020204030204" pitchFamily="34" charset="0"/>
                <a:cs typeface="Calibri" panose="020F0502020204030204" pitchFamily="34" charset="0"/>
              </a:rPr>
              <a:t>Non-Discriminatory Distribution OA</a:t>
            </a:r>
            <a:endParaRPr lang="en-US" dirty="0"/>
          </a:p>
        </p:txBody>
      </p:sp>
      <p:sp>
        <p:nvSpPr>
          <p:cNvPr id="15" name="Rectangle: Rounded Corners 14">
            <a:extLst>
              <a:ext uri="{FF2B5EF4-FFF2-40B4-BE49-F238E27FC236}">
                <a16:creationId xmlns:a16="http://schemas.microsoft.com/office/drawing/2014/main" id="{784233F7-C22B-5B2E-AEFD-33D8BBCE9325}"/>
              </a:ext>
            </a:extLst>
          </p:cNvPr>
          <p:cNvSpPr/>
          <p:nvPr/>
        </p:nvSpPr>
        <p:spPr>
          <a:xfrm>
            <a:off x="3818238" y="4545851"/>
            <a:ext cx="7574692" cy="916112"/>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alibri" panose="020F0502020204030204" pitchFamily="34" charset="0"/>
                <a:cs typeface="Calibri" panose="020F0502020204030204" pitchFamily="34" charset="0"/>
              </a:rPr>
              <a:t>Required for Cross-Border Electricity Trade (CBET) to allow eligible consumers access to alternative power sources.</a:t>
            </a:r>
          </a:p>
        </p:txBody>
      </p:sp>
      <p:sp>
        <p:nvSpPr>
          <p:cNvPr id="16" name="Rectangle 15">
            <a:extLst>
              <a:ext uri="{FF2B5EF4-FFF2-40B4-BE49-F238E27FC236}">
                <a16:creationId xmlns:a16="http://schemas.microsoft.com/office/drawing/2014/main" id="{159BFCAF-1BD1-1389-45C9-FCDEC8A789B7}"/>
              </a:ext>
            </a:extLst>
          </p:cNvPr>
          <p:cNvSpPr/>
          <p:nvPr/>
        </p:nvSpPr>
        <p:spPr>
          <a:xfrm>
            <a:off x="580767" y="5592012"/>
            <a:ext cx="3064475" cy="91611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spc="-10" dirty="0">
                <a:latin typeface="Calibri" panose="020F0502020204030204" pitchFamily="34" charset="0"/>
                <a:cs typeface="Calibri" panose="020F0502020204030204" pitchFamily="34" charset="0"/>
              </a:rPr>
              <a:t>Power Grid Company of Bangladesh (PGCB) Transmission Charges</a:t>
            </a:r>
            <a:endParaRPr lang="en-US" dirty="0"/>
          </a:p>
        </p:txBody>
      </p:sp>
      <p:sp>
        <p:nvSpPr>
          <p:cNvPr id="17" name="Rectangle: Rounded Corners 16">
            <a:extLst>
              <a:ext uri="{FF2B5EF4-FFF2-40B4-BE49-F238E27FC236}">
                <a16:creationId xmlns:a16="http://schemas.microsoft.com/office/drawing/2014/main" id="{01FEB92D-D4D1-D7E6-DF75-96995107FA32}"/>
              </a:ext>
            </a:extLst>
          </p:cNvPr>
          <p:cNvSpPr/>
          <p:nvPr/>
        </p:nvSpPr>
        <p:spPr>
          <a:xfrm>
            <a:off x="3818238" y="5592012"/>
            <a:ext cx="7574692" cy="916112"/>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alibri" panose="020F0502020204030204" pitchFamily="34" charset="0"/>
                <a:cs typeface="Calibri" panose="020F0502020204030204" pitchFamily="34" charset="0"/>
              </a:rPr>
              <a:t>Calculated on a cost-plus basis, considering total investments and energy wheeled.</a:t>
            </a:r>
          </a:p>
        </p:txBody>
      </p:sp>
    </p:spTree>
    <p:extLst>
      <p:ext uri="{BB962C8B-B14F-4D97-AF65-F5344CB8AC3E}">
        <p14:creationId xmlns:p14="http://schemas.microsoft.com/office/powerpoint/2010/main" val="11980832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B5ACB-3BEE-47A2-0134-AE0291D337B4}"/>
            </a:ext>
          </a:extLst>
        </p:cNvPr>
        <p:cNvGrpSpPr/>
        <p:nvPr/>
      </p:nvGrpSpPr>
      <p:grpSpPr>
        <a:xfrm>
          <a:off x="0" y="0"/>
          <a:ext cx="0" cy="0"/>
          <a:chOff x="0" y="0"/>
          <a:chExt cx="0" cy="0"/>
        </a:xfrm>
      </p:grpSpPr>
      <p:graphicFrame>
        <p:nvGraphicFramePr>
          <p:cNvPr id="87" name="think-cell data - do not delete" hidden="1">
            <a:extLst>
              <a:ext uri="{FF2B5EF4-FFF2-40B4-BE49-F238E27FC236}">
                <a16:creationId xmlns:a16="http://schemas.microsoft.com/office/drawing/2014/main" id="{DB086DDA-C86E-0F66-148C-0EBF74918D9F}"/>
              </a:ext>
            </a:extLst>
          </p:cNvPr>
          <p:cNvGraphicFramePr>
            <a:graphicFrameLocks noChangeAspect="1"/>
          </p:cNvGraphicFramePr>
          <p:nvPr>
            <p:custDataLst>
              <p:tags r:id="rId1"/>
            </p:custDataLst>
            <p:extLst>
              <p:ext uri="{D42A27DB-BD31-4B8C-83A1-F6EECF244321}">
                <p14:modId xmlns:p14="http://schemas.microsoft.com/office/powerpoint/2010/main" val="31705121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87" name="think-cell data - do not delete" hidden="1">
                        <a:extLst>
                          <a:ext uri="{FF2B5EF4-FFF2-40B4-BE49-F238E27FC236}">
                            <a16:creationId xmlns:a16="http://schemas.microsoft.com/office/drawing/2014/main" id="{B5039A04-07A2-357A-8AF1-F1606B684EA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0" name="Title 2">
            <a:extLst>
              <a:ext uri="{FF2B5EF4-FFF2-40B4-BE49-F238E27FC236}">
                <a16:creationId xmlns:a16="http://schemas.microsoft.com/office/drawing/2014/main" id="{DD424C77-5CC7-4980-058C-082D0684A981}"/>
              </a:ext>
            </a:extLst>
          </p:cNvPr>
          <p:cNvSpPr>
            <a:spLocks noGrp="1"/>
          </p:cNvSpPr>
          <p:nvPr>
            <p:ph type="title"/>
          </p:nvPr>
        </p:nvSpPr>
        <p:spPr>
          <a:xfrm>
            <a:off x="469902" y="402587"/>
            <a:ext cx="11252200" cy="334102"/>
          </a:xfrm>
        </p:spPr>
        <p:txBody>
          <a:bodyPr vert="horz">
            <a:noAutofit/>
          </a:bodyPr>
          <a:lstStyle/>
          <a:p>
            <a:r>
              <a:rPr lang="en-US" sz="2800" b="1" dirty="0">
                <a:latin typeface="Calibri" panose="020F0502020204030204" pitchFamily="34" charset="0"/>
                <a:cs typeface="Calibri" panose="020F0502020204030204" pitchFamily="34" charset="0"/>
              </a:rPr>
              <a:t>Country-wise Assessment – Bangladesh (3/3)</a:t>
            </a:r>
          </a:p>
        </p:txBody>
      </p:sp>
      <p:sp>
        <p:nvSpPr>
          <p:cNvPr id="4" name="TextBox 3">
            <a:extLst>
              <a:ext uri="{FF2B5EF4-FFF2-40B4-BE49-F238E27FC236}">
                <a16:creationId xmlns:a16="http://schemas.microsoft.com/office/drawing/2014/main" id="{A18E6C20-F955-B9D9-AA77-04F1E05F459A}"/>
              </a:ext>
            </a:extLst>
          </p:cNvPr>
          <p:cNvSpPr txBox="1"/>
          <p:nvPr/>
        </p:nvSpPr>
        <p:spPr>
          <a:xfrm>
            <a:off x="469898" y="736689"/>
            <a:ext cx="11252200" cy="430887"/>
          </a:xfrm>
          <a:prstGeom prst="rect">
            <a:avLst/>
          </a:prstGeom>
          <a:noFill/>
        </p:spPr>
        <p:txBody>
          <a:bodyPr wrap="square">
            <a:spAutoFit/>
          </a:bodyPr>
          <a:lstStyle/>
          <a:p>
            <a:r>
              <a:rPr lang="en-US" sz="2200" i="1" dirty="0">
                <a:latin typeface="Calibri" panose="020F0502020204030204" pitchFamily="34" charset="0"/>
                <a:cs typeface="Calibri" panose="020F0502020204030204" pitchFamily="34" charset="0"/>
              </a:rPr>
              <a:t>Operational Framework</a:t>
            </a:r>
          </a:p>
        </p:txBody>
      </p:sp>
      <p:pic>
        <p:nvPicPr>
          <p:cNvPr id="7" name="Picture 6">
            <a:extLst>
              <a:ext uri="{FF2B5EF4-FFF2-40B4-BE49-F238E27FC236}">
                <a16:creationId xmlns:a16="http://schemas.microsoft.com/office/drawing/2014/main" id="{3DC6F395-89DB-9DAF-D3C7-FBCBFFA476EB}"/>
              </a:ext>
            </a:extLst>
          </p:cNvPr>
          <p:cNvPicPr>
            <a:picLocks noChangeAspect="1"/>
          </p:cNvPicPr>
          <p:nvPr/>
        </p:nvPicPr>
        <p:blipFill>
          <a:blip r:embed="rId6"/>
          <a:stretch>
            <a:fillRect/>
          </a:stretch>
        </p:blipFill>
        <p:spPr>
          <a:xfrm>
            <a:off x="10616184" y="398867"/>
            <a:ext cx="813816" cy="617805"/>
          </a:xfrm>
          <a:prstGeom prst="rect">
            <a:avLst/>
          </a:prstGeom>
        </p:spPr>
      </p:pic>
      <p:graphicFrame>
        <p:nvGraphicFramePr>
          <p:cNvPr id="12" name="Diagram 11">
            <a:extLst>
              <a:ext uri="{FF2B5EF4-FFF2-40B4-BE49-F238E27FC236}">
                <a16:creationId xmlns:a16="http://schemas.microsoft.com/office/drawing/2014/main" id="{2A44F958-3AF7-9A4C-0528-09B708AA9C59}"/>
              </a:ext>
            </a:extLst>
          </p:cNvPr>
          <p:cNvGraphicFramePr/>
          <p:nvPr>
            <p:extLst>
              <p:ext uri="{D42A27DB-BD31-4B8C-83A1-F6EECF244321}">
                <p14:modId xmlns:p14="http://schemas.microsoft.com/office/powerpoint/2010/main" val="659260841"/>
              </p:ext>
            </p:extLst>
          </p:nvPr>
        </p:nvGraphicFramePr>
        <p:xfrm>
          <a:off x="565322" y="1679139"/>
          <a:ext cx="11156776" cy="395554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6247112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4A0B2-C59F-8D42-D7A1-4CF5B2AC72C8}"/>
            </a:ext>
          </a:extLst>
        </p:cNvPr>
        <p:cNvGrpSpPr/>
        <p:nvPr/>
      </p:nvGrpSpPr>
      <p:grpSpPr>
        <a:xfrm>
          <a:off x="0" y="0"/>
          <a:ext cx="0" cy="0"/>
          <a:chOff x="0" y="0"/>
          <a:chExt cx="0" cy="0"/>
        </a:xfrm>
      </p:grpSpPr>
      <p:graphicFrame>
        <p:nvGraphicFramePr>
          <p:cNvPr id="87" name="think-cell data - do not delete" hidden="1">
            <a:extLst>
              <a:ext uri="{FF2B5EF4-FFF2-40B4-BE49-F238E27FC236}">
                <a16:creationId xmlns:a16="http://schemas.microsoft.com/office/drawing/2014/main" id="{1AE3F26A-40B4-F213-604D-B1700C44F56C}"/>
              </a:ext>
            </a:extLst>
          </p:cNvPr>
          <p:cNvGraphicFramePr>
            <a:graphicFrameLocks noChangeAspect="1"/>
          </p:cNvGraphicFramePr>
          <p:nvPr>
            <p:custDataLst>
              <p:tags r:id="rId1"/>
            </p:custDataLst>
            <p:extLst>
              <p:ext uri="{D42A27DB-BD31-4B8C-83A1-F6EECF244321}">
                <p14:modId xmlns:p14="http://schemas.microsoft.com/office/powerpoint/2010/main" val="3913003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87" name="think-cell data - do not delete" hidden="1">
                        <a:extLst>
                          <a:ext uri="{FF2B5EF4-FFF2-40B4-BE49-F238E27FC236}">
                            <a16:creationId xmlns:a16="http://schemas.microsoft.com/office/drawing/2014/main" id="{891C6ED8-6710-B805-E750-7595D7C29CF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0" name="Title 2">
            <a:extLst>
              <a:ext uri="{FF2B5EF4-FFF2-40B4-BE49-F238E27FC236}">
                <a16:creationId xmlns:a16="http://schemas.microsoft.com/office/drawing/2014/main" id="{5B018181-FCDF-0A34-B153-DB882B13D3AC}"/>
              </a:ext>
            </a:extLst>
          </p:cNvPr>
          <p:cNvSpPr>
            <a:spLocks noGrp="1"/>
          </p:cNvSpPr>
          <p:nvPr>
            <p:ph type="title"/>
          </p:nvPr>
        </p:nvSpPr>
        <p:spPr>
          <a:xfrm>
            <a:off x="469902" y="402587"/>
            <a:ext cx="11252200" cy="334102"/>
          </a:xfrm>
        </p:spPr>
        <p:txBody>
          <a:bodyPr vert="horz">
            <a:noAutofit/>
          </a:bodyPr>
          <a:lstStyle/>
          <a:p>
            <a:r>
              <a:rPr lang="en-US" sz="2800" b="1" dirty="0">
                <a:latin typeface="Calibri" panose="020F0502020204030204" pitchFamily="34" charset="0"/>
                <a:cs typeface="Calibri" panose="020F0502020204030204" pitchFamily="34" charset="0"/>
              </a:rPr>
              <a:t>Country-wise Assessment – Bhutan (1/2)</a:t>
            </a:r>
          </a:p>
        </p:txBody>
      </p:sp>
      <p:sp>
        <p:nvSpPr>
          <p:cNvPr id="4" name="TextBox 3">
            <a:extLst>
              <a:ext uri="{FF2B5EF4-FFF2-40B4-BE49-F238E27FC236}">
                <a16:creationId xmlns:a16="http://schemas.microsoft.com/office/drawing/2014/main" id="{31670D43-2E1D-0D28-A1BC-D78858DABEA6}"/>
              </a:ext>
            </a:extLst>
          </p:cNvPr>
          <p:cNvSpPr txBox="1"/>
          <p:nvPr/>
        </p:nvSpPr>
        <p:spPr>
          <a:xfrm>
            <a:off x="469898" y="736689"/>
            <a:ext cx="11252200" cy="430887"/>
          </a:xfrm>
          <a:prstGeom prst="rect">
            <a:avLst/>
          </a:prstGeom>
          <a:noFill/>
        </p:spPr>
        <p:txBody>
          <a:bodyPr wrap="square">
            <a:spAutoFit/>
          </a:bodyPr>
          <a:lstStyle/>
          <a:p>
            <a:r>
              <a:rPr lang="en-US" sz="2200" i="1" dirty="0">
                <a:latin typeface="Calibri" panose="020F0502020204030204" pitchFamily="34" charset="0"/>
                <a:cs typeface="Calibri" panose="020F0502020204030204" pitchFamily="34" charset="0"/>
              </a:rPr>
              <a:t>Legal and Policy Framework</a:t>
            </a:r>
          </a:p>
        </p:txBody>
      </p:sp>
      <p:sp>
        <p:nvSpPr>
          <p:cNvPr id="12" name="TextBox 11">
            <a:extLst>
              <a:ext uri="{FF2B5EF4-FFF2-40B4-BE49-F238E27FC236}">
                <a16:creationId xmlns:a16="http://schemas.microsoft.com/office/drawing/2014/main" id="{DAD96EDD-F3EA-9F27-AC9C-A8BA1949B81D}"/>
              </a:ext>
            </a:extLst>
          </p:cNvPr>
          <p:cNvSpPr txBox="1"/>
          <p:nvPr/>
        </p:nvSpPr>
        <p:spPr>
          <a:xfrm>
            <a:off x="469898" y="1501678"/>
            <a:ext cx="11157810" cy="3323987"/>
          </a:xfrm>
          <a:prstGeom prst="rect">
            <a:avLst/>
          </a:prstGeom>
          <a:solidFill>
            <a:schemeClr val="bg1">
              <a:lumMod val="95000"/>
            </a:schemeClr>
          </a:solidFill>
        </p:spPr>
        <p:txBody>
          <a:bodyPr wrap="square">
            <a:spAutoFit/>
          </a:bodyPr>
          <a:lstStyle/>
          <a:p>
            <a:pPr marL="285750" indent="-285750">
              <a:spcAft>
                <a:spcPts val="1200"/>
              </a:spcAft>
              <a:buFont typeface="Arial" panose="020B0604020202020204" pitchFamily="34" charset="0"/>
              <a:buChar char="•"/>
            </a:pPr>
            <a:r>
              <a:rPr lang="en-US" b="1" dirty="0">
                <a:latin typeface="Calibri" panose="020F0502020204030204" pitchFamily="34" charset="0"/>
                <a:cs typeface="Calibri" panose="020F0502020204030204" pitchFamily="34" charset="0"/>
              </a:rPr>
              <a:t>Electricity Act 2001 (Article 39):</a:t>
            </a:r>
            <a:r>
              <a:rPr lang="en-US" dirty="0">
                <a:latin typeface="Calibri" panose="020F0502020204030204" pitchFamily="34" charset="0"/>
                <a:cs typeface="Calibri" panose="020F0502020204030204" pitchFamily="34" charset="0"/>
              </a:rPr>
              <a:t> Establishes a system operator license for coordinating power supply and balancing generation with consumption.</a:t>
            </a:r>
          </a:p>
          <a:p>
            <a:pPr marL="285750" indent="-285750">
              <a:spcAft>
                <a:spcPts val="1200"/>
              </a:spcAft>
              <a:buFont typeface="Arial" panose="020B0604020202020204" pitchFamily="34" charset="0"/>
              <a:buChar char="•"/>
            </a:pPr>
            <a:r>
              <a:rPr lang="en-US" b="1" dirty="0">
                <a:latin typeface="Calibri" panose="020F0502020204030204" pitchFamily="34" charset="0"/>
                <a:cs typeface="Calibri" panose="020F0502020204030204" pitchFamily="34" charset="0"/>
              </a:rPr>
              <a:t>System Coordinator (BPC):</a:t>
            </a:r>
            <a:r>
              <a:rPr lang="en-US" dirty="0">
                <a:latin typeface="Calibri" panose="020F0502020204030204" pitchFamily="34" charset="0"/>
                <a:cs typeface="Calibri" panose="020F0502020204030204" pitchFamily="34" charset="0"/>
              </a:rPr>
              <a:t> Bhutan Power Corporation (BPC) manages the National Load Dispatch Centre (NLDC), established in 2011, to ensure system reliability and coordinate power exports to India.</a:t>
            </a:r>
          </a:p>
          <a:p>
            <a:pPr marL="285750" indent="-285750">
              <a:spcAft>
                <a:spcPts val="1200"/>
              </a:spcAft>
              <a:buFont typeface="Arial" panose="020B0604020202020204" pitchFamily="34" charset="0"/>
              <a:buChar char="•"/>
            </a:pPr>
            <a:r>
              <a:rPr lang="en-US" b="1" dirty="0">
                <a:latin typeface="Calibri" panose="020F0502020204030204" pitchFamily="34" charset="0"/>
                <a:cs typeface="Calibri" panose="020F0502020204030204" pitchFamily="34" charset="0"/>
              </a:rPr>
              <a:t>Hydro Development Policy 2008 (Clause 10.1):</a:t>
            </a:r>
            <a:r>
              <a:rPr lang="en-US" dirty="0">
                <a:latin typeface="Calibri" panose="020F0502020204030204" pitchFamily="34" charset="0"/>
                <a:cs typeface="Calibri" panose="020F0502020204030204" pitchFamily="34" charset="0"/>
              </a:rPr>
              <a:t> Requires project developers to have a power evacuation agreement with BPC, responsible for domestic transmission and connectivity to the international border for exports. Transmission and wheeling charges apply as set by the Bhutan Electricity Authority (BEA).</a:t>
            </a:r>
          </a:p>
          <a:p>
            <a:pPr marL="285750" indent="-285750">
              <a:spcAft>
                <a:spcPts val="1200"/>
              </a:spcAft>
              <a:buFont typeface="Arial" panose="020B0604020202020204" pitchFamily="34" charset="0"/>
              <a:buChar char="•"/>
            </a:pPr>
            <a:r>
              <a:rPr lang="en-US" b="1" dirty="0">
                <a:latin typeface="Calibri" panose="020F0502020204030204" pitchFamily="34" charset="0"/>
                <a:cs typeface="Calibri" panose="020F0502020204030204" pitchFamily="34" charset="0"/>
              </a:rPr>
              <a:t>Sustainable Hydro Power Development Policy 2008:</a:t>
            </a:r>
            <a:r>
              <a:rPr lang="en-US" dirty="0">
                <a:latin typeface="Calibri" panose="020F0502020204030204" pitchFamily="34" charset="0"/>
                <a:cs typeface="Calibri" panose="020F0502020204030204" pitchFamily="34" charset="0"/>
              </a:rPr>
              <a:t> Project developers may export electricity after licensing and fulfilling royalty power requirements. The Royal Government of Bhutan has first purchase rights at the generating station bus bar rate (Clause 9.1 and 9.2).</a:t>
            </a:r>
          </a:p>
        </p:txBody>
      </p:sp>
      <p:pic>
        <p:nvPicPr>
          <p:cNvPr id="3" name="Picture 2">
            <a:extLst>
              <a:ext uri="{FF2B5EF4-FFF2-40B4-BE49-F238E27FC236}">
                <a16:creationId xmlns:a16="http://schemas.microsoft.com/office/drawing/2014/main" id="{8E550073-FE4F-2508-F450-4C7D370F1E70}"/>
              </a:ext>
            </a:extLst>
          </p:cNvPr>
          <p:cNvPicPr>
            <a:picLocks noChangeAspect="1"/>
          </p:cNvPicPr>
          <p:nvPr/>
        </p:nvPicPr>
        <p:blipFill>
          <a:blip r:embed="rId6"/>
          <a:stretch>
            <a:fillRect/>
          </a:stretch>
        </p:blipFill>
        <p:spPr>
          <a:xfrm>
            <a:off x="10720517" y="402587"/>
            <a:ext cx="813816" cy="578713"/>
          </a:xfrm>
          <a:prstGeom prst="rect">
            <a:avLst/>
          </a:prstGeom>
        </p:spPr>
      </p:pic>
    </p:spTree>
    <p:extLst>
      <p:ext uri="{BB962C8B-B14F-4D97-AF65-F5344CB8AC3E}">
        <p14:creationId xmlns:p14="http://schemas.microsoft.com/office/powerpoint/2010/main" val="20858348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E30EA-ABDF-7456-FDC8-ED65810F4208}"/>
            </a:ext>
          </a:extLst>
        </p:cNvPr>
        <p:cNvGrpSpPr/>
        <p:nvPr/>
      </p:nvGrpSpPr>
      <p:grpSpPr>
        <a:xfrm>
          <a:off x="0" y="0"/>
          <a:ext cx="0" cy="0"/>
          <a:chOff x="0" y="0"/>
          <a:chExt cx="0" cy="0"/>
        </a:xfrm>
      </p:grpSpPr>
      <p:graphicFrame>
        <p:nvGraphicFramePr>
          <p:cNvPr id="87" name="think-cell data - do not delete" hidden="1">
            <a:extLst>
              <a:ext uri="{FF2B5EF4-FFF2-40B4-BE49-F238E27FC236}">
                <a16:creationId xmlns:a16="http://schemas.microsoft.com/office/drawing/2014/main" id="{A7629376-73BC-C3CB-8EE3-F3464C5BEAD4}"/>
              </a:ext>
            </a:extLst>
          </p:cNvPr>
          <p:cNvGraphicFramePr>
            <a:graphicFrameLocks noChangeAspect="1"/>
          </p:cNvGraphicFramePr>
          <p:nvPr>
            <p:custDataLst>
              <p:tags r:id="rId1"/>
            </p:custDataLst>
            <p:extLst>
              <p:ext uri="{D42A27DB-BD31-4B8C-83A1-F6EECF244321}">
                <p14:modId xmlns:p14="http://schemas.microsoft.com/office/powerpoint/2010/main" val="29204912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87" name="think-cell data - do not delete" hidden="1">
                        <a:extLst>
                          <a:ext uri="{FF2B5EF4-FFF2-40B4-BE49-F238E27FC236}">
                            <a16:creationId xmlns:a16="http://schemas.microsoft.com/office/drawing/2014/main" id="{B5039A04-07A2-357A-8AF1-F1606B684EA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0" name="Title 2">
            <a:extLst>
              <a:ext uri="{FF2B5EF4-FFF2-40B4-BE49-F238E27FC236}">
                <a16:creationId xmlns:a16="http://schemas.microsoft.com/office/drawing/2014/main" id="{14A9806C-5A10-125C-6D49-601CF628CB94}"/>
              </a:ext>
            </a:extLst>
          </p:cNvPr>
          <p:cNvSpPr>
            <a:spLocks noGrp="1"/>
          </p:cNvSpPr>
          <p:nvPr>
            <p:ph type="title"/>
          </p:nvPr>
        </p:nvSpPr>
        <p:spPr>
          <a:xfrm>
            <a:off x="469902" y="402587"/>
            <a:ext cx="11252200" cy="334102"/>
          </a:xfrm>
        </p:spPr>
        <p:txBody>
          <a:bodyPr vert="horz">
            <a:noAutofit/>
          </a:bodyPr>
          <a:lstStyle/>
          <a:p>
            <a:r>
              <a:rPr lang="en-US" sz="2800" b="1" dirty="0">
                <a:latin typeface="Calibri" panose="020F0502020204030204" pitchFamily="34" charset="0"/>
                <a:cs typeface="Calibri" panose="020F0502020204030204" pitchFamily="34" charset="0"/>
              </a:rPr>
              <a:t>Country-wise Assessment – Bhutan (2/2)</a:t>
            </a:r>
          </a:p>
        </p:txBody>
      </p:sp>
      <p:sp>
        <p:nvSpPr>
          <p:cNvPr id="4" name="TextBox 3">
            <a:extLst>
              <a:ext uri="{FF2B5EF4-FFF2-40B4-BE49-F238E27FC236}">
                <a16:creationId xmlns:a16="http://schemas.microsoft.com/office/drawing/2014/main" id="{97702E0C-8E16-9D02-CD4A-727835E7FE08}"/>
              </a:ext>
            </a:extLst>
          </p:cNvPr>
          <p:cNvSpPr txBox="1"/>
          <p:nvPr/>
        </p:nvSpPr>
        <p:spPr>
          <a:xfrm>
            <a:off x="469898" y="736689"/>
            <a:ext cx="11252200" cy="430887"/>
          </a:xfrm>
          <a:prstGeom prst="rect">
            <a:avLst/>
          </a:prstGeom>
          <a:noFill/>
        </p:spPr>
        <p:txBody>
          <a:bodyPr wrap="square">
            <a:spAutoFit/>
          </a:bodyPr>
          <a:lstStyle/>
          <a:p>
            <a:r>
              <a:rPr lang="en-US" sz="2200" i="1" dirty="0">
                <a:latin typeface="Calibri" panose="020F0502020204030204" pitchFamily="34" charset="0"/>
                <a:cs typeface="Calibri" panose="020F0502020204030204" pitchFamily="34" charset="0"/>
              </a:rPr>
              <a:t>Regulatory Framework</a:t>
            </a:r>
          </a:p>
        </p:txBody>
      </p:sp>
      <p:sp>
        <p:nvSpPr>
          <p:cNvPr id="3" name="Rectangle 2">
            <a:extLst>
              <a:ext uri="{FF2B5EF4-FFF2-40B4-BE49-F238E27FC236}">
                <a16:creationId xmlns:a16="http://schemas.microsoft.com/office/drawing/2014/main" id="{E9E68F78-6E47-26C3-BDF6-3CF9EF969906}"/>
              </a:ext>
            </a:extLst>
          </p:cNvPr>
          <p:cNvSpPr/>
          <p:nvPr/>
        </p:nvSpPr>
        <p:spPr>
          <a:xfrm>
            <a:off x="580767" y="1141386"/>
            <a:ext cx="3064475" cy="55388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spc="-20" dirty="0">
                <a:latin typeface="Calibri" panose="020F0502020204030204" pitchFamily="34" charset="0"/>
                <a:cs typeface="Calibri" panose="020F0502020204030204" pitchFamily="34" charset="0"/>
              </a:rPr>
              <a:t>Electricity Act 2001 (Clause 11.2 &amp; Clause 38.1)</a:t>
            </a:r>
            <a:endParaRPr lang="en-US" dirty="0"/>
          </a:p>
        </p:txBody>
      </p:sp>
      <p:sp>
        <p:nvSpPr>
          <p:cNvPr id="5" name="Rectangle: Rounded Corners 4">
            <a:extLst>
              <a:ext uri="{FF2B5EF4-FFF2-40B4-BE49-F238E27FC236}">
                <a16:creationId xmlns:a16="http://schemas.microsoft.com/office/drawing/2014/main" id="{2ADDF6AE-29EE-F723-89B2-81FCCB2AEE1D}"/>
              </a:ext>
            </a:extLst>
          </p:cNvPr>
          <p:cNvSpPr/>
          <p:nvPr/>
        </p:nvSpPr>
        <p:spPr>
          <a:xfrm>
            <a:off x="3818238" y="1141386"/>
            <a:ext cx="7574692" cy="553883"/>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alibri" panose="020F0502020204030204" pitchFamily="34" charset="0"/>
                <a:cs typeface="Calibri" panose="020F0502020204030204" pitchFamily="34" charset="0"/>
              </a:rPr>
              <a:t>Mandates non-discriminatory Open Access (OA) to transmission and distribution, with access provided to all users on payment of fees.</a:t>
            </a:r>
          </a:p>
        </p:txBody>
      </p:sp>
      <p:sp>
        <p:nvSpPr>
          <p:cNvPr id="9" name="Rectangle 8">
            <a:extLst>
              <a:ext uri="{FF2B5EF4-FFF2-40B4-BE49-F238E27FC236}">
                <a16:creationId xmlns:a16="http://schemas.microsoft.com/office/drawing/2014/main" id="{C30B4A64-5613-ADED-67B6-E22733021448}"/>
              </a:ext>
            </a:extLst>
          </p:cNvPr>
          <p:cNvSpPr/>
          <p:nvPr/>
        </p:nvSpPr>
        <p:spPr>
          <a:xfrm>
            <a:off x="580767" y="1854334"/>
            <a:ext cx="3064475" cy="55388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spc="-10" dirty="0">
                <a:latin typeface="Calibri" panose="020F0502020204030204" pitchFamily="34" charset="0"/>
                <a:cs typeface="Calibri" panose="020F0502020204030204" pitchFamily="34" charset="0"/>
              </a:rPr>
              <a:t>Licensing Requirement</a:t>
            </a:r>
            <a:endParaRPr lang="en-US" dirty="0"/>
          </a:p>
        </p:txBody>
      </p:sp>
      <p:sp>
        <p:nvSpPr>
          <p:cNvPr id="10" name="Rectangle: Rounded Corners 9">
            <a:extLst>
              <a:ext uri="{FF2B5EF4-FFF2-40B4-BE49-F238E27FC236}">
                <a16:creationId xmlns:a16="http://schemas.microsoft.com/office/drawing/2014/main" id="{068D93C0-6331-D040-CB51-2577F245A3D5}"/>
              </a:ext>
            </a:extLst>
          </p:cNvPr>
          <p:cNvSpPr/>
          <p:nvPr/>
        </p:nvSpPr>
        <p:spPr>
          <a:xfrm>
            <a:off x="3818238" y="1854334"/>
            <a:ext cx="7574692" cy="553883"/>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alibri" panose="020F0502020204030204" pitchFamily="34" charset="0"/>
                <a:cs typeface="Calibri" panose="020F0502020204030204" pitchFamily="34" charset="0"/>
              </a:rPr>
              <a:t>No entity may operate in electricity generation, transmission, distribution, or trade without a BEA-issued license (Clause 18.1).</a:t>
            </a:r>
          </a:p>
        </p:txBody>
      </p:sp>
      <p:sp>
        <p:nvSpPr>
          <p:cNvPr id="11" name="Rectangle 10">
            <a:extLst>
              <a:ext uri="{FF2B5EF4-FFF2-40B4-BE49-F238E27FC236}">
                <a16:creationId xmlns:a16="http://schemas.microsoft.com/office/drawing/2014/main" id="{F8386316-D088-575F-DA24-A462A1D20DB9}"/>
              </a:ext>
            </a:extLst>
          </p:cNvPr>
          <p:cNvSpPr/>
          <p:nvPr/>
        </p:nvSpPr>
        <p:spPr>
          <a:xfrm>
            <a:off x="580767" y="2554503"/>
            <a:ext cx="3064475" cy="70433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Calibri" panose="020F0502020204030204" pitchFamily="34" charset="0"/>
                <a:cs typeface="Calibri" panose="020F0502020204030204" pitchFamily="34" charset="0"/>
              </a:rPr>
              <a:t>BEA Grid Code Regulation 2008</a:t>
            </a:r>
            <a:endParaRPr lang="en-US" dirty="0"/>
          </a:p>
        </p:txBody>
      </p:sp>
      <p:sp>
        <p:nvSpPr>
          <p:cNvPr id="13" name="Rectangle: Rounded Corners 12">
            <a:extLst>
              <a:ext uri="{FF2B5EF4-FFF2-40B4-BE49-F238E27FC236}">
                <a16:creationId xmlns:a16="http://schemas.microsoft.com/office/drawing/2014/main" id="{77462AE0-C5F7-3CC8-F859-2CF171FBA247}"/>
              </a:ext>
            </a:extLst>
          </p:cNvPr>
          <p:cNvSpPr/>
          <p:nvPr/>
        </p:nvSpPr>
        <p:spPr>
          <a:xfrm>
            <a:off x="3818238" y="2554503"/>
            <a:ext cx="7574692" cy="704335"/>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alibri" panose="020F0502020204030204" pitchFamily="34" charset="0"/>
                <a:cs typeface="Calibri" panose="020F0502020204030204" pitchFamily="34" charset="0"/>
              </a:rPr>
              <a:t>Ensures non-discriminatory access to transmission/distribution (Clause 3.3.2) and prohibits discrimination by the system operator (Clause 3.4.2).</a:t>
            </a:r>
          </a:p>
        </p:txBody>
      </p:sp>
      <p:sp>
        <p:nvSpPr>
          <p:cNvPr id="14" name="Rectangle 13">
            <a:extLst>
              <a:ext uri="{FF2B5EF4-FFF2-40B4-BE49-F238E27FC236}">
                <a16:creationId xmlns:a16="http://schemas.microsoft.com/office/drawing/2014/main" id="{A29663F2-53CA-4F20-A752-8F65159498FC}"/>
              </a:ext>
            </a:extLst>
          </p:cNvPr>
          <p:cNvSpPr/>
          <p:nvPr/>
        </p:nvSpPr>
        <p:spPr>
          <a:xfrm>
            <a:off x="580767" y="3388885"/>
            <a:ext cx="3064475" cy="91611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spc="-10" dirty="0">
                <a:latin typeface="Calibri" panose="020F0502020204030204" pitchFamily="34" charset="0"/>
                <a:cs typeface="Calibri" panose="020F0502020204030204" pitchFamily="34" charset="0"/>
              </a:rPr>
              <a:t>System Operator Responsibilities</a:t>
            </a:r>
            <a:endParaRPr lang="en-US" dirty="0"/>
          </a:p>
        </p:txBody>
      </p:sp>
      <p:sp>
        <p:nvSpPr>
          <p:cNvPr id="15" name="Rectangle: Rounded Corners 14">
            <a:extLst>
              <a:ext uri="{FF2B5EF4-FFF2-40B4-BE49-F238E27FC236}">
                <a16:creationId xmlns:a16="http://schemas.microsoft.com/office/drawing/2014/main" id="{9792EEAA-3AB8-6B43-7B44-944554B6FBB8}"/>
              </a:ext>
            </a:extLst>
          </p:cNvPr>
          <p:cNvSpPr/>
          <p:nvPr/>
        </p:nvSpPr>
        <p:spPr>
          <a:xfrm>
            <a:off x="3818238" y="3388885"/>
            <a:ext cx="7574692" cy="916112"/>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alibri" panose="020F0502020204030204" pitchFamily="34" charset="0"/>
                <a:cs typeface="Calibri" panose="020F0502020204030204" pitchFamily="34" charset="0"/>
              </a:rPr>
              <a:t>Coordinates planning, receives data from licensees for load forecasting and system expansion (Clauses 4.5.1 &amp; 4.7.1).</a:t>
            </a:r>
          </a:p>
        </p:txBody>
      </p:sp>
      <p:sp>
        <p:nvSpPr>
          <p:cNvPr id="16" name="Rectangle 15">
            <a:extLst>
              <a:ext uri="{FF2B5EF4-FFF2-40B4-BE49-F238E27FC236}">
                <a16:creationId xmlns:a16="http://schemas.microsoft.com/office/drawing/2014/main" id="{D6902B51-DEC6-2F9B-B475-836A55755F95}"/>
              </a:ext>
            </a:extLst>
          </p:cNvPr>
          <p:cNvSpPr/>
          <p:nvPr/>
        </p:nvSpPr>
        <p:spPr>
          <a:xfrm>
            <a:off x="580767" y="4447404"/>
            <a:ext cx="3064475" cy="91611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spc="-10" dirty="0">
                <a:latin typeface="Calibri" panose="020F0502020204030204" pitchFamily="34" charset="0"/>
                <a:cs typeface="Calibri" panose="020F0502020204030204" pitchFamily="34" charset="0"/>
              </a:rPr>
              <a:t>Tariff Determination Regulation 2007 </a:t>
            </a:r>
          </a:p>
          <a:p>
            <a:pPr algn="ctr"/>
            <a:r>
              <a:rPr lang="en-US" b="1" spc="-10" dirty="0">
                <a:latin typeface="Calibri" panose="020F0502020204030204" pitchFamily="34" charset="0"/>
                <a:cs typeface="Calibri" panose="020F0502020204030204" pitchFamily="34" charset="0"/>
              </a:rPr>
              <a:t>(updated 2013)</a:t>
            </a:r>
            <a:endParaRPr lang="en-US" dirty="0"/>
          </a:p>
        </p:txBody>
      </p:sp>
      <p:sp>
        <p:nvSpPr>
          <p:cNvPr id="17" name="Rectangle: Rounded Corners 16">
            <a:extLst>
              <a:ext uri="{FF2B5EF4-FFF2-40B4-BE49-F238E27FC236}">
                <a16:creationId xmlns:a16="http://schemas.microsoft.com/office/drawing/2014/main" id="{F820B155-651F-9476-219C-803556657E39}"/>
              </a:ext>
            </a:extLst>
          </p:cNvPr>
          <p:cNvSpPr/>
          <p:nvPr/>
        </p:nvSpPr>
        <p:spPr>
          <a:xfrm>
            <a:off x="3818238" y="4447404"/>
            <a:ext cx="7574692" cy="916112"/>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alibri" panose="020F0502020204030204" pitchFamily="34" charset="0"/>
                <a:cs typeface="Calibri" panose="020F0502020204030204" pitchFamily="34" charset="0"/>
              </a:rPr>
              <a:t>Tariff setting for all domestic transactions, excluding imports, exports, and PPAs governed by license terms.</a:t>
            </a:r>
          </a:p>
        </p:txBody>
      </p:sp>
      <p:pic>
        <p:nvPicPr>
          <p:cNvPr id="12" name="Picture 11">
            <a:extLst>
              <a:ext uri="{FF2B5EF4-FFF2-40B4-BE49-F238E27FC236}">
                <a16:creationId xmlns:a16="http://schemas.microsoft.com/office/drawing/2014/main" id="{BEC21450-6CD5-0AD3-7A3E-44C6126ED5E9}"/>
              </a:ext>
            </a:extLst>
          </p:cNvPr>
          <p:cNvPicPr>
            <a:picLocks noChangeAspect="1"/>
          </p:cNvPicPr>
          <p:nvPr/>
        </p:nvPicPr>
        <p:blipFill>
          <a:blip r:embed="rId6"/>
          <a:stretch>
            <a:fillRect/>
          </a:stretch>
        </p:blipFill>
        <p:spPr>
          <a:xfrm>
            <a:off x="10720517" y="402587"/>
            <a:ext cx="813816" cy="578713"/>
          </a:xfrm>
          <a:prstGeom prst="rect">
            <a:avLst/>
          </a:prstGeom>
        </p:spPr>
      </p:pic>
      <p:sp>
        <p:nvSpPr>
          <p:cNvPr id="18" name="TextBox 17">
            <a:extLst>
              <a:ext uri="{FF2B5EF4-FFF2-40B4-BE49-F238E27FC236}">
                <a16:creationId xmlns:a16="http://schemas.microsoft.com/office/drawing/2014/main" id="{B2B401C1-7589-5BCF-12F3-9A9C67BCBC50}"/>
              </a:ext>
            </a:extLst>
          </p:cNvPr>
          <p:cNvSpPr txBox="1"/>
          <p:nvPr/>
        </p:nvSpPr>
        <p:spPr>
          <a:xfrm>
            <a:off x="522090" y="5348345"/>
            <a:ext cx="11252200" cy="430887"/>
          </a:xfrm>
          <a:prstGeom prst="rect">
            <a:avLst/>
          </a:prstGeom>
          <a:noFill/>
        </p:spPr>
        <p:txBody>
          <a:bodyPr wrap="square">
            <a:spAutoFit/>
          </a:bodyPr>
          <a:lstStyle/>
          <a:p>
            <a:r>
              <a:rPr lang="en-US" sz="2200" i="1" dirty="0">
                <a:latin typeface="Calibri" panose="020F0502020204030204" pitchFamily="34" charset="0"/>
                <a:cs typeface="Calibri" panose="020F0502020204030204" pitchFamily="34" charset="0"/>
              </a:rPr>
              <a:t>Operational Framework</a:t>
            </a:r>
          </a:p>
        </p:txBody>
      </p:sp>
      <p:sp>
        <p:nvSpPr>
          <p:cNvPr id="20" name="TextBox 19">
            <a:extLst>
              <a:ext uri="{FF2B5EF4-FFF2-40B4-BE49-F238E27FC236}">
                <a16:creationId xmlns:a16="http://schemas.microsoft.com/office/drawing/2014/main" id="{D88F0E79-B1C0-2069-9B9D-D67B468CC00E}"/>
              </a:ext>
            </a:extLst>
          </p:cNvPr>
          <p:cNvSpPr txBox="1"/>
          <p:nvPr/>
        </p:nvSpPr>
        <p:spPr>
          <a:xfrm>
            <a:off x="580766" y="5726922"/>
            <a:ext cx="10812163" cy="923330"/>
          </a:xfrm>
          <a:prstGeom prst="rect">
            <a:avLst/>
          </a:prstGeom>
          <a:solidFill>
            <a:srgbClr val="E7F7E1"/>
          </a:solidFill>
        </p:spPr>
        <p:txBody>
          <a:bodyPr wrap="square">
            <a:spAutoFit/>
          </a:bodyPr>
          <a:lstStyle/>
          <a:p>
            <a:pPr marL="285750" indent="-285750">
              <a:buFont typeface="Wingdings" panose="05000000000000000000" pitchFamily="2" charset="2"/>
              <a:buChar char="q"/>
            </a:pPr>
            <a:r>
              <a:rPr lang="en-US" i="1" dirty="0"/>
              <a:t>Bhutan does not have any well-established guidelines, processes and procedures for availing the OA by the generators or the consumers. </a:t>
            </a:r>
          </a:p>
          <a:p>
            <a:pPr marL="285750" indent="-285750">
              <a:buFont typeface="Wingdings" panose="05000000000000000000" pitchFamily="2" charset="2"/>
              <a:buChar char="q"/>
            </a:pPr>
            <a:r>
              <a:rPr lang="en-US" i="1" dirty="0"/>
              <a:t>However, export projects are allowed access to the grid on payment of wheeling charges.</a:t>
            </a:r>
          </a:p>
        </p:txBody>
      </p:sp>
    </p:spTree>
    <p:extLst>
      <p:ext uri="{BB962C8B-B14F-4D97-AF65-F5344CB8AC3E}">
        <p14:creationId xmlns:p14="http://schemas.microsoft.com/office/powerpoint/2010/main" val="40466081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D0AA5-390B-976C-DDC5-ED3543A40074}"/>
            </a:ext>
          </a:extLst>
        </p:cNvPr>
        <p:cNvGrpSpPr/>
        <p:nvPr/>
      </p:nvGrpSpPr>
      <p:grpSpPr>
        <a:xfrm>
          <a:off x="0" y="0"/>
          <a:ext cx="0" cy="0"/>
          <a:chOff x="0" y="0"/>
          <a:chExt cx="0" cy="0"/>
        </a:xfrm>
      </p:grpSpPr>
      <p:graphicFrame>
        <p:nvGraphicFramePr>
          <p:cNvPr id="87" name="think-cell data - do not delete" hidden="1">
            <a:extLst>
              <a:ext uri="{FF2B5EF4-FFF2-40B4-BE49-F238E27FC236}">
                <a16:creationId xmlns:a16="http://schemas.microsoft.com/office/drawing/2014/main" id="{C2A072FE-73E3-742B-7123-A2430D237B19}"/>
              </a:ext>
            </a:extLst>
          </p:cNvPr>
          <p:cNvGraphicFramePr>
            <a:graphicFrameLocks noChangeAspect="1"/>
          </p:cNvGraphicFramePr>
          <p:nvPr>
            <p:custDataLst>
              <p:tags r:id="rId1"/>
            </p:custDataLst>
            <p:extLst>
              <p:ext uri="{D42A27DB-BD31-4B8C-83A1-F6EECF244321}">
                <p14:modId xmlns:p14="http://schemas.microsoft.com/office/powerpoint/2010/main" val="30951407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87" name="think-cell data - do not delete" hidden="1">
                        <a:extLst>
                          <a:ext uri="{FF2B5EF4-FFF2-40B4-BE49-F238E27FC236}">
                            <a16:creationId xmlns:a16="http://schemas.microsoft.com/office/drawing/2014/main" id="{1AE3F26A-40B4-F213-604D-B1700C44F56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0" name="Title 2">
            <a:extLst>
              <a:ext uri="{FF2B5EF4-FFF2-40B4-BE49-F238E27FC236}">
                <a16:creationId xmlns:a16="http://schemas.microsoft.com/office/drawing/2014/main" id="{4D7234E7-023D-7C58-77FC-AE17FC1E8562}"/>
              </a:ext>
            </a:extLst>
          </p:cNvPr>
          <p:cNvSpPr>
            <a:spLocks noGrp="1"/>
          </p:cNvSpPr>
          <p:nvPr>
            <p:ph type="title"/>
          </p:nvPr>
        </p:nvSpPr>
        <p:spPr>
          <a:xfrm>
            <a:off x="469902" y="402587"/>
            <a:ext cx="11252200" cy="334102"/>
          </a:xfrm>
        </p:spPr>
        <p:txBody>
          <a:bodyPr vert="horz">
            <a:noAutofit/>
          </a:bodyPr>
          <a:lstStyle/>
          <a:p>
            <a:r>
              <a:rPr lang="en-US" sz="2800" b="1" dirty="0">
                <a:latin typeface="Calibri" panose="020F0502020204030204" pitchFamily="34" charset="0"/>
                <a:cs typeface="Calibri" panose="020F0502020204030204" pitchFamily="34" charset="0"/>
              </a:rPr>
              <a:t>Country-wise Assessment – Pakistan (1/2)</a:t>
            </a:r>
          </a:p>
        </p:txBody>
      </p:sp>
      <p:sp>
        <p:nvSpPr>
          <p:cNvPr id="4" name="TextBox 3">
            <a:extLst>
              <a:ext uri="{FF2B5EF4-FFF2-40B4-BE49-F238E27FC236}">
                <a16:creationId xmlns:a16="http://schemas.microsoft.com/office/drawing/2014/main" id="{F3D319E4-1DB1-4BBD-3F4C-2F6A792FFD37}"/>
              </a:ext>
            </a:extLst>
          </p:cNvPr>
          <p:cNvSpPr txBox="1"/>
          <p:nvPr/>
        </p:nvSpPr>
        <p:spPr>
          <a:xfrm>
            <a:off x="469898" y="736689"/>
            <a:ext cx="11252200" cy="430887"/>
          </a:xfrm>
          <a:prstGeom prst="rect">
            <a:avLst/>
          </a:prstGeom>
          <a:noFill/>
        </p:spPr>
        <p:txBody>
          <a:bodyPr wrap="square">
            <a:spAutoFit/>
          </a:bodyPr>
          <a:lstStyle/>
          <a:p>
            <a:r>
              <a:rPr lang="en-US" sz="2200" i="1" dirty="0">
                <a:latin typeface="Calibri" panose="020F0502020204030204" pitchFamily="34" charset="0"/>
                <a:cs typeface="Calibri" panose="020F0502020204030204" pitchFamily="34" charset="0"/>
              </a:rPr>
              <a:t>Legal and Policy Framework</a:t>
            </a:r>
          </a:p>
        </p:txBody>
      </p:sp>
      <p:sp>
        <p:nvSpPr>
          <p:cNvPr id="12" name="TextBox 11">
            <a:extLst>
              <a:ext uri="{FF2B5EF4-FFF2-40B4-BE49-F238E27FC236}">
                <a16:creationId xmlns:a16="http://schemas.microsoft.com/office/drawing/2014/main" id="{9B390EBC-43DD-ABD2-AD7E-9A95F6718181}"/>
              </a:ext>
            </a:extLst>
          </p:cNvPr>
          <p:cNvSpPr txBox="1"/>
          <p:nvPr/>
        </p:nvSpPr>
        <p:spPr>
          <a:xfrm>
            <a:off x="469898" y="1226106"/>
            <a:ext cx="11157810" cy="1938992"/>
          </a:xfrm>
          <a:prstGeom prst="rect">
            <a:avLst/>
          </a:prstGeom>
          <a:solidFill>
            <a:schemeClr val="bg1">
              <a:lumMod val="95000"/>
            </a:schemeClr>
          </a:solidFill>
        </p:spPr>
        <p:txBody>
          <a:bodyPr wrap="square">
            <a:spAutoFit/>
          </a:bodyPr>
          <a:lstStyle/>
          <a:p>
            <a:pPr marL="285750" indent="-285750">
              <a:spcAft>
                <a:spcPts val="1200"/>
              </a:spcAft>
              <a:buFont typeface="Arial" panose="020B0604020202020204" pitchFamily="34" charset="0"/>
              <a:buChar char="•"/>
            </a:pPr>
            <a:r>
              <a:rPr lang="en-US" b="1" dirty="0">
                <a:latin typeface="Calibri" panose="020F0502020204030204" pitchFamily="34" charset="0"/>
                <a:cs typeface="Calibri" panose="020F0502020204030204" pitchFamily="34" charset="0"/>
              </a:rPr>
              <a:t>Electric Power Act 1997 (Clause 18.1):</a:t>
            </a:r>
            <a:r>
              <a:rPr lang="en-US" dirty="0">
                <a:latin typeface="Calibri" panose="020F0502020204030204" pitchFamily="34" charset="0"/>
                <a:cs typeface="Calibri" panose="020F0502020204030204" pitchFamily="34" charset="0"/>
              </a:rPr>
              <a:t> Provides for Open Access (OA), requiring the national grid company to ensure non-discriminatory transmission and interconnection services, including for bulk-power consumers</a:t>
            </a:r>
            <a:r>
              <a:rPr lang="en-US" b="1" dirty="0">
                <a:latin typeface="Calibri" panose="020F0502020204030204" pitchFamily="34" charset="0"/>
                <a:cs typeface="Calibri" panose="020F0502020204030204" pitchFamily="34" charset="0"/>
              </a:rPr>
              <a:t>.</a:t>
            </a:r>
          </a:p>
          <a:p>
            <a:pPr marL="285750" indent="-285750">
              <a:spcAft>
                <a:spcPts val="1200"/>
              </a:spcAft>
              <a:buFont typeface="Arial" panose="020B0604020202020204" pitchFamily="34" charset="0"/>
              <a:buChar char="•"/>
            </a:pPr>
            <a:r>
              <a:rPr lang="en-US" b="1" dirty="0">
                <a:latin typeface="Calibri" panose="020F0502020204030204" pitchFamily="34" charset="0"/>
                <a:cs typeface="Calibri" panose="020F0502020204030204" pitchFamily="34" charset="0"/>
              </a:rPr>
              <a:t>National Power Policy 2013:</a:t>
            </a:r>
            <a:r>
              <a:rPr lang="en-US" dirty="0">
                <a:latin typeface="Calibri" panose="020F0502020204030204" pitchFamily="34" charset="0"/>
                <a:cs typeface="Calibri" panose="020F0502020204030204" pitchFamily="34" charset="0"/>
              </a:rPr>
              <a:t> Although it doesn’t directly mention OA, it outlines objectives to:</a:t>
            </a:r>
          </a:p>
          <a:p>
            <a:pPr marL="742950" lvl="1" indent="-285750">
              <a:spcAft>
                <a:spcPts val="1200"/>
              </a:spcAft>
              <a:buFont typeface="Wingdings" panose="05000000000000000000" pitchFamily="2" charset="2"/>
              <a:buChar char="q"/>
            </a:pPr>
            <a:r>
              <a:rPr lang="en-US" dirty="0">
                <a:latin typeface="Calibri" panose="020F0502020204030204" pitchFamily="34" charset="0"/>
                <a:cs typeface="Calibri" panose="020F0502020204030204" pitchFamily="34" charset="0"/>
              </a:rPr>
              <a:t>Introduce wheeling charges and wholesale markets, promoting multiple buyers and sellers.</a:t>
            </a:r>
          </a:p>
          <a:p>
            <a:pPr marL="742950" lvl="1" indent="-285750">
              <a:spcAft>
                <a:spcPts val="1200"/>
              </a:spcAft>
              <a:buFont typeface="Wingdings" panose="05000000000000000000" pitchFamily="2" charset="2"/>
              <a:buChar char="q"/>
            </a:pPr>
            <a:r>
              <a:rPr lang="en-US" dirty="0">
                <a:latin typeface="Calibri" panose="020F0502020204030204" pitchFamily="34" charset="0"/>
                <a:cs typeface="Calibri" panose="020F0502020204030204" pitchFamily="34" charset="0"/>
              </a:rPr>
              <a:t>Develop a business model centered on wholesale transactions, exchanges, and wheeling charges.</a:t>
            </a:r>
          </a:p>
        </p:txBody>
      </p:sp>
      <p:pic>
        <p:nvPicPr>
          <p:cNvPr id="7" name="Picture 6">
            <a:extLst>
              <a:ext uri="{FF2B5EF4-FFF2-40B4-BE49-F238E27FC236}">
                <a16:creationId xmlns:a16="http://schemas.microsoft.com/office/drawing/2014/main" id="{F9D1B087-2715-F2A0-892E-F06D06CF281D}"/>
              </a:ext>
            </a:extLst>
          </p:cNvPr>
          <p:cNvPicPr>
            <a:picLocks noChangeAspect="1"/>
          </p:cNvPicPr>
          <p:nvPr/>
        </p:nvPicPr>
        <p:blipFill>
          <a:blip r:embed="rId6"/>
          <a:stretch>
            <a:fillRect/>
          </a:stretch>
        </p:blipFill>
        <p:spPr>
          <a:xfrm>
            <a:off x="10625659" y="402587"/>
            <a:ext cx="813816" cy="545363"/>
          </a:xfrm>
          <a:prstGeom prst="rect">
            <a:avLst/>
          </a:prstGeom>
        </p:spPr>
      </p:pic>
      <p:sp>
        <p:nvSpPr>
          <p:cNvPr id="8" name="TextBox 7">
            <a:extLst>
              <a:ext uri="{FF2B5EF4-FFF2-40B4-BE49-F238E27FC236}">
                <a16:creationId xmlns:a16="http://schemas.microsoft.com/office/drawing/2014/main" id="{B25D9EE9-443C-2B3C-EB92-B38486731D4F}"/>
              </a:ext>
            </a:extLst>
          </p:cNvPr>
          <p:cNvSpPr txBox="1"/>
          <p:nvPr/>
        </p:nvSpPr>
        <p:spPr>
          <a:xfrm>
            <a:off x="534616" y="3281555"/>
            <a:ext cx="11252200" cy="430887"/>
          </a:xfrm>
          <a:prstGeom prst="rect">
            <a:avLst/>
          </a:prstGeom>
          <a:noFill/>
        </p:spPr>
        <p:txBody>
          <a:bodyPr wrap="square">
            <a:spAutoFit/>
          </a:bodyPr>
          <a:lstStyle/>
          <a:p>
            <a:r>
              <a:rPr lang="en-US" sz="2200" i="1" dirty="0">
                <a:latin typeface="Calibri" panose="020F0502020204030204" pitchFamily="34" charset="0"/>
                <a:cs typeface="Calibri" panose="020F0502020204030204" pitchFamily="34" charset="0"/>
              </a:rPr>
              <a:t>Regulatory Framework</a:t>
            </a:r>
          </a:p>
        </p:txBody>
      </p:sp>
      <p:sp>
        <p:nvSpPr>
          <p:cNvPr id="9" name="Rectangle 8">
            <a:extLst>
              <a:ext uri="{FF2B5EF4-FFF2-40B4-BE49-F238E27FC236}">
                <a16:creationId xmlns:a16="http://schemas.microsoft.com/office/drawing/2014/main" id="{2914DFA4-9A35-A6B9-74D9-FE08C763513C}"/>
              </a:ext>
            </a:extLst>
          </p:cNvPr>
          <p:cNvSpPr/>
          <p:nvPr/>
        </p:nvSpPr>
        <p:spPr>
          <a:xfrm>
            <a:off x="534616" y="3865960"/>
            <a:ext cx="2559313" cy="8046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spc="-20" dirty="0" err="1">
                <a:latin typeface="Calibri" panose="020F0502020204030204" pitchFamily="34" charset="0"/>
                <a:cs typeface="Calibri" panose="020F0502020204030204" pitchFamily="34" charset="0"/>
              </a:rPr>
              <a:t>Grid</a:t>
            </a:r>
            <a:r>
              <a:rPr lang="fr-FR" b="1" spc="-20" dirty="0">
                <a:latin typeface="Calibri" panose="020F0502020204030204" pitchFamily="34" charset="0"/>
                <a:cs typeface="Calibri" panose="020F0502020204030204" pitchFamily="34" charset="0"/>
              </a:rPr>
              <a:t> Code 2005 </a:t>
            </a:r>
          </a:p>
          <a:p>
            <a:pPr algn="ctr"/>
            <a:r>
              <a:rPr lang="fr-FR" b="1" spc="-20" dirty="0">
                <a:latin typeface="Calibri" panose="020F0502020204030204" pitchFamily="34" charset="0"/>
                <a:cs typeface="Calibri" panose="020F0502020204030204" pitchFamily="34" charset="0"/>
              </a:rPr>
              <a:t>(Clause CC3: Principles)</a:t>
            </a:r>
            <a:endParaRPr lang="en-US" dirty="0"/>
          </a:p>
        </p:txBody>
      </p:sp>
      <p:sp>
        <p:nvSpPr>
          <p:cNvPr id="10" name="Rectangle: Rounded Corners 9">
            <a:extLst>
              <a:ext uri="{FF2B5EF4-FFF2-40B4-BE49-F238E27FC236}">
                <a16:creationId xmlns:a16="http://schemas.microsoft.com/office/drawing/2014/main" id="{75FA1C3E-B8CA-E58F-9A26-A6F1A28741E3}"/>
              </a:ext>
            </a:extLst>
          </p:cNvPr>
          <p:cNvSpPr/>
          <p:nvPr/>
        </p:nvSpPr>
        <p:spPr>
          <a:xfrm>
            <a:off x="3231716" y="3865960"/>
            <a:ext cx="8425668" cy="804656"/>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alibri" panose="020F0502020204030204" pitchFamily="34" charset="0"/>
                <a:cs typeface="Calibri" panose="020F0502020204030204" pitchFamily="34" charset="0"/>
              </a:rPr>
              <a:t>Emphasizes Open Access (OA) by requiring the National Transmission and </a:t>
            </a:r>
            <a:r>
              <a:rPr lang="en-US" dirty="0" err="1">
                <a:solidFill>
                  <a:schemeClr val="tx1"/>
                </a:solidFill>
                <a:latin typeface="Calibri" panose="020F0502020204030204" pitchFamily="34" charset="0"/>
                <a:cs typeface="Calibri" panose="020F0502020204030204" pitchFamily="34" charset="0"/>
              </a:rPr>
              <a:t>Despatch</a:t>
            </a:r>
            <a:r>
              <a:rPr lang="en-US" dirty="0">
                <a:solidFill>
                  <a:schemeClr val="tx1"/>
                </a:solidFill>
                <a:latin typeface="Calibri" panose="020F0502020204030204" pitchFamily="34" charset="0"/>
                <a:cs typeface="Calibri" panose="020F0502020204030204" pitchFamily="34" charset="0"/>
              </a:rPr>
              <a:t> Company (NTDC) to allow new connections and apply uniform terms and conditions for all applicants.</a:t>
            </a:r>
          </a:p>
        </p:txBody>
      </p:sp>
      <p:sp>
        <p:nvSpPr>
          <p:cNvPr id="11" name="Rectangle 10">
            <a:extLst>
              <a:ext uri="{FF2B5EF4-FFF2-40B4-BE49-F238E27FC236}">
                <a16:creationId xmlns:a16="http://schemas.microsoft.com/office/drawing/2014/main" id="{56B2075A-1984-C1EE-6634-C25E5E6199CE}"/>
              </a:ext>
            </a:extLst>
          </p:cNvPr>
          <p:cNvSpPr/>
          <p:nvPr/>
        </p:nvSpPr>
        <p:spPr>
          <a:xfrm>
            <a:off x="534616" y="4816902"/>
            <a:ext cx="2559313" cy="55388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spc="-10" dirty="0">
                <a:latin typeface="Calibri" panose="020F0502020204030204" pitchFamily="34" charset="0"/>
                <a:cs typeface="Calibri" panose="020F0502020204030204" pitchFamily="34" charset="0"/>
              </a:rPr>
              <a:t>Tariff Determination</a:t>
            </a:r>
            <a:endParaRPr lang="en-US" dirty="0"/>
          </a:p>
        </p:txBody>
      </p:sp>
      <p:sp>
        <p:nvSpPr>
          <p:cNvPr id="13" name="Rectangle: Rounded Corners 12">
            <a:extLst>
              <a:ext uri="{FF2B5EF4-FFF2-40B4-BE49-F238E27FC236}">
                <a16:creationId xmlns:a16="http://schemas.microsoft.com/office/drawing/2014/main" id="{954AA73E-C780-5422-6020-0EB531E5A1E5}"/>
              </a:ext>
            </a:extLst>
          </p:cNvPr>
          <p:cNvSpPr/>
          <p:nvPr/>
        </p:nvSpPr>
        <p:spPr>
          <a:xfrm>
            <a:off x="3231716" y="4816902"/>
            <a:ext cx="8425668" cy="553883"/>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alibri" panose="020F0502020204030204" pitchFamily="34" charset="0"/>
                <a:cs typeface="Calibri" panose="020F0502020204030204" pitchFamily="34" charset="0"/>
              </a:rPr>
              <a:t>Governed by NEPRA (Tariff Standards and Procedure) Rules 1998, with guidelines in Part 3 advocating for tariffs based on marginal cost principles and favoring competition.</a:t>
            </a:r>
          </a:p>
        </p:txBody>
      </p:sp>
      <p:sp>
        <p:nvSpPr>
          <p:cNvPr id="14" name="Rectangle 13">
            <a:extLst>
              <a:ext uri="{FF2B5EF4-FFF2-40B4-BE49-F238E27FC236}">
                <a16:creationId xmlns:a16="http://schemas.microsoft.com/office/drawing/2014/main" id="{692A686A-3B4D-B2A0-9BB7-AB9A58409DED}"/>
              </a:ext>
            </a:extLst>
          </p:cNvPr>
          <p:cNvSpPr/>
          <p:nvPr/>
        </p:nvSpPr>
        <p:spPr>
          <a:xfrm>
            <a:off x="534616" y="5517071"/>
            <a:ext cx="2559313" cy="93834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Calibri" panose="020F0502020204030204" pitchFamily="34" charset="0"/>
                <a:cs typeface="Calibri" panose="020F0502020204030204" pitchFamily="34" charset="0"/>
              </a:rPr>
              <a:t>Wheeling Charges (NEPRA Act, Section 22)</a:t>
            </a:r>
            <a:endParaRPr lang="en-US" dirty="0"/>
          </a:p>
        </p:txBody>
      </p:sp>
      <p:sp>
        <p:nvSpPr>
          <p:cNvPr id="15" name="Rectangle: Rounded Corners 14">
            <a:extLst>
              <a:ext uri="{FF2B5EF4-FFF2-40B4-BE49-F238E27FC236}">
                <a16:creationId xmlns:a16="http://schemas.microsoft.com/office/drawing/2014/main" id="{7C81A955-6A31-396F-8804-6A7589F73100}"/>
              </a:ext>
            </a:extLst>
          </p:cNvPr>
          <p:cNvSpPr/>
          <p:nvPr/>
        </p:nvSpPr>
        <p:spPr>
          <a:xfrm>
            <a:off x="3231716" y="5517071"/>
            <a:ext cx="8425668" cy="938342"/>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alibri" panose="020F0502020204030204" pitchFamily="34" charset="0"/>
                <a:cs typeface="Calibri" panose="020F0502020204030204" pitchFamily="34" charset="0"/>
              </a:rPr>
              <a:t>Power producers selling to bulk consumers must pay “Wheeling Charges” or “Use of System Charges” as determined by NEPRA for using transmission and distribution networks to deliver power.</a:t>
            </a:r>
          </a:p>
        </p:txBody>
      </p:sp>
    </p:spTree>
    <p:extLst>
      <p:ext uri="{BB962C8B-B14F-4D97-AF65-F5344CB8AC3E}">
        <p14:creationId xmlns:p14="http://schemas.microsoft.com/office/powerpoint/2010/main" val="29610339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79C00-D051-B271-7EDC-948649C28837}"/>
            </a:ext>
          </a:extLst>
        </p:cNvPr>
        <p:cNvGrpSpPr/>
        <p:nvPr/>
      </p:nvGrpSpPr>
      <p:grpSpPr>
        <a:xfrm>
          <a:off x="0" y="0"/>
          <a:ext cx="0" cy="0"/>
          <a:chOff x="0" y="0"/>
          <a:chExt cx="0" cy="0"/>
        </a:xfrm>
      </p:grpSpPr>
      <p:graphicFrame>
        <p:nvGraphicFramePr>
          <p:cNvPr id="87" name="think-cell data - do not delete" hidden="1">
            <a:extLst>
              <a:ext uri="{FF2B5EF4-FFF2-40B4-BE49-F238E27FC236}">
                <a16:creationId xmlns:a16="http://schemas.microsoft.com/office/drawing/2014/main" id="{AAE71932-2E64-7D3C-9CC7-AF699CC67E92}"/>
              </a:ext>
            </a:extLst>
          </p:cNvPr>
          <p:cNvGraphicFramePr>
            <a:graphicFrameLocks noChangeAspect="1"/>
          </p:cNvGraphicFramePr>
          <p:nvPr>
            <p:custDataLst>
              <p:tags r:id="rId1"/>
            </p:custDataLst>
            <p:extLst>
              <p:ext uri="{D42A27DB-BD31-4B8C-83A1-F6EECF244321}">
                <p14:modId xmlns:p14="http://schemas.microsoft.com/office/powerpoint/2010/main" val="38741675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87" name="think-cell data - do not delete" hidden="1">
                        <a:extLst>
                          <a:ext uri="{FF2B5EF4-FFF2-40B4-BE49-F238E27FC236}">
                            <a16:creationId xmlns:a16="http://schemas.microsoft.com/office/drawing/2014/main" id="{C2A072FE-73E3-742B-7123-A2430D237B1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0" name="Title 2">
            <a:extLst>
              <a:ext uri="{FF2B5EF4-FFF2-40B4-BE49-F238E27FC236}">
                <a16:creationId xmlns:a16="http://schemas.microsoft.com/office/drawing/2014/main" id="{B57B0FBE-2FC7-2362-F477-C8336600163F}"/>
              </a:ext>
            </a:extLst>
          </p:cNvPr>
          <p:cNvSpPr>
            <a:spLocks noGrp="1"/>
          </p:cNvSpPr>
          <p:nvPr>
            <p:ph type="title"/>
          </p:nvPr>
        </p:nvSpPr>
        <p:spPr>
          <a:xfrm>
            <a:off x="469902" y="402587"/>
            <a:ext cx="11252200" cy="334102"/>
          </a:xfrm>
        </p:spPr>
        <p:txBody>
          <a:bodyPr vert="horz">
            <a:noAutofit/>
          </a:bodyPr>
          <a:lstStyle/>
          <a:p>
            <a:r>
              <a:rPr lang="en-US" sz="2800" b="1" dirty="0">
                <a:latin typeface="Calibri" panose="020F0502020204030204" pitchFamily="34" charset="0"/>
                <a:cs typeface="Calibri" panose="020F0502020204030204" pitchFamily="34" charset="0"/>
              </a:rPr>
              <a:t>Country-wise Assessment – Pakistan (2/2)</a:t>
            </a:r>
          </a:p>
        </p:txBody>
      </p:sp>
      <p:sp>
        <p:nvSpPr>
          <p:cNvPr id="4" name="TextBox 3">
            <a:extLst>
              <a:ext uri="{FF2B5EF4-FFF2-40B4-BE49-F238E27FC236}">
                <a16:creationId xmlns:a16="http://schemas.microsoft.com/office/drawing/2014/main" id="{E3EE081A-0D52-E947-A567-A41B74FB502C}"/>
              </a:ext>
            </a:extLst>
          </p:cNvPr>
          <p:cNvSpPr txBox="1"/>
          <p:nvPr/>
        </p:nvSpPr>
        <p:spPr>
          <a:xfrm>
            <a:off x="469898" y="736689"/>
            <a:ext cx="11252200" cy="430887"/>
          </a:xfrm>
          <a:prstGeom prst="rect">
            <a:avLst/>
          </a:prstGeom>
          <a:noFill/>
        </p:spPr>
        <p:txBody>
          <a:bodyPr wrap="square">
            <a:spAutoFit/>
          </a:bodyPr>
          <a:lstStyle/>
          <a:p>
            <a:r>
              <a:rPr lang="en-US" sz="2200" i="1" dirty="0">
                <a:latin typeface="Calibri" panose="020F0502020204030204" pitchFamily="34" charset="0"/>
                <a:cs typeface="Calibri" panose="020F0502020204030204" pitchFamily="34" charset="0"/>
              </a:rPr>
              <a:t>Operational Framework</a:t>
            </a:r>
          </a:p>
        </p:txBody>
      </p:sp>
      <p:pic>
        <p:nvPicPr>
          <p:cNvPr id="7" name="Picture 6">
            <a:extLst>
              <a:ext uri="{FF2B5EF4-FFF2-40B4-BE49-F238E27FC236}">
                <a16:creationId xmlns:a16="http://schemas.microsoft.com/office/drawing/2014/main" id="{8305F885-0BE9-CB88-569A-B5A80BA9B91B}"/>
              </a:ext>
            </a:extLst>
          </p:cNvPr>
          <p:cNvPicPr>
            <a:picLocks noChangeAspect="1"/>
          </p:cNvPicPr>
          <p:nvPr/>
        </p:nvPicPr>
        <p:blipFill>
          <a:blip r:embed="rId6"/>
          <a:stretch>
            <a:fillRect/>
          </a:stretch>
        </p:blipFill>
        <p:spPr>
          <a:xfrm>
            <a:off x="10625659" y="402587"/>
            <a:ext cx="813816" cy="545363"/>
          </a:xfrm>
          <a:prstGeom prst="rect">
            <a:avLst/>
          </a:prstGeom>
        </p:spPr>
      </p:pic>
      <p:graphicFrame>
        <p:nvGraphicFramePr>
          <p:cNvPr id="3" name="Diagram 2">
            <a:extLst>
              <a:ext uri="{FF2B5EF4-FFF2-40B4-BE49-F238E27FC236}">
                <a16:creationId xmlns:a16="http://schemas.microsoft.com/office/drawing/2014/main" id="{3097AF27-52EC-ADD8-C5EB-51C83DDA8E7B}"/>
              </a:ext>
            </a:extLst>
          </p:cNvPr>
          <p:cNvGraphicFramePr/>
          <p:nvPr>
            <p:extLst>
              <p:ext uri="{D42A27DB-BD31-4B8C-83A1-F6EECF244321}">
                <p14:modId xmlns:p14="http://schemas.microsoft.com/office/powerpoint/2010/main" val="3940957293"/>
              </p:ext>
            </p:extLst>
          </p:nvPr>
        </p:nvGraphicFramePr>
        <p:xfrm>
          <a:off x="565322" y="1679139"/>
          <a:ext cx="11156776" cy="395554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558397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9D920-A082-8DF5-2BFE-5B5E586D4835}"/>
            </a:ext>
          </a:extLst>
        </p:cNvPr>
        <p:cNvGrpSpPr/>
        <p:nvPr/>
      </p:nvGrpSpPr>
      <p:grpSpPr>
        <a:xfrm>
          <a:off x="0" y="0"/>
          <a:ext cx="0" cy="0"/>
          <a:chOff x="0" y="0"/>
          <a:chExt cx="0" cy="0"/>
        </a:xfrm>
      </p:grpSpPr>
      <p:graphicFrame>
        <p:nvGraphicFramePr>
          <p:cNvPr id="87" name="think-cell data - do not delete" hidden="1">
            <a:extLst>
              <a:ext uri="{FF2B5EF4-FFF2-40B4-BE49-F238E27FC236}">
                <a16:creationId xmlns:a16="http://schemas.microsoft.com/office/drawing/2014/main" id="{AE79EFDA-5546-E9D6-D6EB-D63D8F90CCCE}"/>
              </a:ext>
            </a:extLst>
          </p:cNvPr>
          <p:cNvGraphicFramePr>
            <a:graphicFrameLocks noChangeAspect="1"/>
          </p:cNvGraphicFramePr>
          <p:nvPr>
            <p:custDataLst>
              <p:tags r:id="rId1"/>
            </p:custDataLst>
            <p:extLst>
              <p:ext uri="{D42A27DB-BD31-4B8C-83A1-F6EECF244321}">
                <p14:modId xmlns:p14="http://schemas.microsoft.com/office/powerpoint/2010/main" val="16937144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87" name="think-cell data - do not delete" hidden="1">
                        <a:extLst>
                          <a:ext uri="{FF2B5EF4-FFF2-40B4-BE49-F238E27FC236}">
                            <a16:creationId xmlns:a16="http://schemas.microsoft.com/office/drawing/2014/main" id="{1AE3F26A-40B4-F213-604D-B1700C44F56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0" name="Title 2">
            <a:extLst>
              <a:ext uri="{FF2B5EF4-FFF2-40B4-BE49-F238E27FC236}">
                <a16:creationId xmlns:a16="http://schemas.microsoft.com/office/drawing/2014/main" id="{7700AC8D-12A0-F0FA-91A8-AFA90D28E68B}"/>
              </a:ext>
            </a:extLst>
          </p:cNvPr>
          <p:cNvSpPr>
            <a:spLocks noGrp="1"/>
          </p:cNvSpPr>
          <p:nvPr>
            <p:ph type="title"/>
          </p:nvPr>
        </p:nvSpPr>
        <p:spPr>
          <a:xfrm>
            <a:off x="469902" y="402587"/>
            <a:ext cx="11252200" cy="334102"/>
          </a:xfrm>
        </p:spPr>
        <p:txBody>
          <a:bodyPr vert="horz">
            <a:noAutofit/>
          </a:bodyPr>
          <a:lstStyle/>
          <a:p>
            <a:r>
              <a:rPr lang="en-US" sz="2800" b="1" dirty="0">
                <a:latin typeface="Calibri" panose="020F0502020204030204" pitchFamily="34" charset="0"/>
                <a:cs typeface="Calibri" panose="020F0502020204030204" pitchFamily="34" charset="0"/>
              </a:rPr>
              <a:t>Country-wise Assessment – Sri Lanka</a:t>
            </a:r>
          </a:p>
        </p:txBody>
      </p:sp>
      <p:sp>
        <p:nvSpPr>
          <p:cNvPr id="4" name="TextBox 3">
            <a:extLst>
              <a:ext uri="{FF2B5EF4-FFF2-40B4-BE49-F238E27FC236}">
                <a16:creationId xmlns:a16="http://schemas.microsoft.com/office/drawing/2014/main" id="{55501610-71A7-5D15-E439-6980DAA39134}"/>
              </a:ext>
            </a:extLst>
          </p:cNvPr>
          <p:cNvSpPr txBox="1"/>
          <p:nvPr/>
        </p:nvSpPr>
        <p:spPr>
          <a:xfrm>
            <a:off x="469898" y="736689"/>
            <a:ext cx="11252200" cy="430887"/>
          </a:xfrm>
          <a:prstGeom prst="rect">
            <a:avLst/>
          </a:prstGeom>
          <a:noFill/>
        </p:spPr>
        <p:txBody>
          <a:bodyPr wrap="square">
            <a:spAutoFit/>
          </a:bodyPr>
          <a:lstStyle/>
          <a:p>
            <a:r>
              <a:rPr lang="en-US" sz="2200" i="1" dirty="0">
                <a:latin typeface="Calibri" panose="020F0502020204030204" pitchFamily="34" charset="0"/>
                <a:cs typeface="Calibri" panose="020F0502020204030204" pitchFamily="34" charset="0"/>
              </a:rPr>
              <a:t>Legal and Policy Framework</a:t>
            </a:r>
          </a:p>
        </p:txBody>
      </p:sp>
      <p:sp>
        <p:nvSpPr>
          <p:cNvPr id="12" name="TextBox 11">
            <a:extLst>
              <a:ext uri="{FF2B5EF4-FFF2-40B4-BE49-F238E27FC236}">
                <a16:creationId xmlns:a16="http://schemas.microsoft.com/office/drawing/2014/main" id="{8CC5F084-ACD9-16A6-F22A-68D978B9F7D6}"/>
              </a:ext>
            </a:extLst>
          </p:cNvPr>
          <p:cNvSpPr txBox="1"/>
          <p:nvPr/>
        </p:nvSpPr>
        <p:spPr>
          <a:xfrm>
            <a:off x="469898" y="1351366"/>
            <a:ext cx="11157810" cy="2062103"/>
          </a:xfrm>
          <a:prstGeom prst="rect">
            <a:avLst/>
          </a:prstGeom>
          <a:solidFill>
            <a:schemeClr val="bg1">
              <a:lumMod val="95000"/>
            </a:schemeClr>
          </a:solidFill>
        </p:spPr>
        <p:txBody>
          <a:bodyPr wrap="square">
            <a:spAutoFit/>
          </a:bodyPr>
          <a:lstStyle/>
          <a:p>
            <a:pPr marL="285750" indent="-285750">
              <a:spcAft>
                <a:spcPts val="1200"/>
              </a:spcAft>
              <a:buFont typeface="Arial" panose="020B0604020202020204" pitchFamily="34" charset="0"/>
              <a:buChar char="•"/>
            </a:pPr>
            <a:r>
              <a:rPr lang="en-US" b="1" dirty="0">
                <a:latin typeface="Calibri" panose="020F0502020204030204" pitchFamily="34" charset="0"/>
                <a:cs typeface="Calibri" panose="020F0502020204030204" pitchFamily="34" charset="0"/>
              </a:rPr>
              <a:t>No Direct OA Reference:</a:t>
            </a:r>
            <a:r>
              <a:rPr lang="en-US" dirty="0">
                <a:latin typeface="Calibri" panose="020F0502020204030204" pitchFamily="34" charset="0"/>
                <a:cs typeface="Calibri" panose="020F0502020204030204" pitchFamily="34" charset="0"/>
              </a:rPr>
              <a:t> Sri Lanka’s legal framework, including the Electricity Act 2009, lacks a direct provision for Open Access (OA).</a:t>
            </a:r>
          </a:p>
          <a:p>
            <a:pPr marL="285750" indent="-285750">
              <a:spcAft>
                <a:spcPts val="1200"/>
              </a:spcAft>
              <a:buFont typeface="Arial" panose="020B0604020202020204" pitchFamily="34" charset="0"/>
              <a:buChar char="•"/>
            </a:pPr>
            <a:r>
              <a:rPr lang="en-US" b="1" dirty="0">
                <a:latin typeface="Calibri" panose="020F0502020204030204" pitchFamily="34" charset="0"/>
                <a:cs typeface="Calibri" panose="020F0502020204030204" pitchFamily="34" charset="0"/>
              </a:rPr>
              <a:t>PUCSL’s Role:</a:t>
            </a:r>
            <a:r>
              <a:rPr lang="en-US" dirty="0">
                <a:latin typeface="Calibri" panose="020F0502020204030204" pitchFamily="34" charset="0"/>
                <a:cs typeface="Calibri" panose="020F0502020204030204" pitchFamily="34" charset="0"/>
              </a:rPr>
              <a:t> The Public Utilities Commission of Sri Lanka (PUCSL) is expected to issue regulations or orders to promote competition and ensure non-discriminatory transmission access.</a:t>
            </a:r>
          </a:p>
          <a:p>
            <a:pPr marL="285750" indent="-285750">
              <a:spcAft>
                <a:spcPts val="1200"/>
              </a:spcAft>
              <a:buFont typeface="Arial" panose="020B0604020202020204" pitchFamily="34" charset="0"/>
              <a:buChar char="•"/>
            </a:pPr>
            <a:r>
              <a:rPr lang="en-US" b="1" dirty="0">
                <a:latin typeface="Calibri" panose="020F0502020204030204" pitchFamily="34" charset="0"/>
                <a:cs typeface="Calibri" panose="020F0502020204030204" pitchFamily="34" charset="0"/>
              </a:rPr>
              <a:t>Commission's Objective:</a:t>
            </a:r>
            <a:r>
              <a:rPr lang="en-US" dirty="0">
                <a:latin typeface="Calibri" panose="020F0502020204030204" pitchFamily="34" charset="0"/>
                <a:cs typeface="Calibri" panose="020F0502020204030204" pitchFamily="34" charset="0"/>
              </a:rPr>
              <a:t> The Act mandates the PUCSL to promote competition within the power sector as a key objective</a:t>
            </a:r>
          </a:p>
        </p:txBody>
      </p:sp>
      <p:pic>
        <p:nvPicPr>
          <p:cNvPr id="8" name="Picture 7">
            <a:extLst>
              <a:ext uri="{FF2B5EF4-FFF2-40B4-BE49-F238E27FC236}">
                <a16:creationId xmlns:a16="http://schemas.microsoft.com/office/drawing/2014/main" id="{36BD3BBF-6458-987D-E38A-8DAE2B35F4EE}"/>
              </a:ext>
            </a:extLst>
          </p:cNvPr>
          <p:cNvPicPr>
            <a:picLocks noChangeAspect="1"/>
          </p:cNvPicPr>
          <p:nvPr/>
        </p:nvPicPr>
        <p:blipFill>
          <a:blip r:embed="rId6"/>
          <a:stretch>
            <a:fillRect/>
          </a:stretch>
        </p:blipFill>
        <p:spPr>
          <a:xfrm>
            <a:off x="10514473" y="403493"/>
            <a:ext cx="1094893" cy="548640"/>
          </a:xfrm>
          <a:prstGeom prst="rect">
            <a:avLst/>
          </a:prstGeom>
        </p:spPr>
      </p:pic>
      <p:sp>
        <p:nvSpPr>
          <p:cNvPr id="9" name="TextBox 8">
            <a:extLst>
              <a:ext uri="{FF2B5EF4-FFF2-40B4-BE49-F238E27FC236}">
                <a16:creationId xmlns:a16="http://schemas.microsoft.com/office/drawing/2014/main" id="{9B063080-C4F8-8A87-9019-26A2B4CAAB85}"/>
              </a:ext>
            </a:extLst>
          </p:cNvPr>
          <p:cNvSpPr txBox="1"/>
          <p:nvPr/>
        </p:nvSpPr>
        <p:spPr>
          <a:xfrm>
            <a:off x="534616" y="3807647"/>
            <a:ext cx="11252200" cy="430887"/>
          </a:xfrm>
          <a:prstGeom prst="rect">
            <a:avLst/>
          </a:prstGeom>
          <a:noFill/>
        </p:spPr>
        <p:txBody>
          <a:bodyPr wrap="square">
            <a:spAutoFit/>
          </a:bodyPr>
          <a:lstStyle/>
          <a:p>
            <a:r>
              <a:rPr lang="en-US" sz="2200" i="1" dirty="0">
                <a:latin typeface="Calibri" panose="020F0502020204030204" pitchFamily="34" charset="0"/>
                <a:cs typeface="Calibri" panose="020F0502020204030204" pitchFamily="34" charset="0"/>
              </a:rPr>
              <a:t>Regulatory Framework</a:t>
            </a:r>
          </a:p>
        </p:txBody>
      </p:sp>
      <p:sp>
        <p:nvSpPr>
          <p:cNvPr id="11" name="TextBox 10">
            <a:extLst>
              <a:ext uri="{FF2B5EF4-FFF2-40B4-BE49-F238E27FC236}">
                <a16:creationId xmlns:a16="http://schemas.microsoft.com/office/drawing/2014/main" id="{D701CBC2-7AAD-4DEE-2D96-A397D96E788B}"/>
              </a:ext>
            </a:extLst>
          </p:cNvPr>
          <p:cNvSpPr txBox="1"/>
          <p:nvPr/>
        </p:nvSpPr>
        <p:spPr>
          <a:xfrm>
            <a:off x="534616" y="4238534"/>
            <a:ext cx="11074750" cy="923330"/>
          </a:xfrm>
          <a:prstGeom prst="rect">
            <a:avLst/>
          </a:prstGeom>
          <a:solidFill>
            <a:srgbClr val="E7F7E1"/>
          </a:solidFill>
        </p:spPr>
        <p:txBody>
          <a:bodyPr wrap="square">
            <a:spAutoFit/>
          </a:bodyPr>
          <a:lstStyle/>
          <a:p>
            <a:r>
              <a:rPr lang="en-US" i="1" dirty="0">
                <a:latin typeface="Calibri" panose="020F0502020204030204" pitchFamily="34" charset="0"/>
                <a:cs typeface="Calibri" panose="020F0502020204030204" pitchFamily="34" charset="0"/>
              </a:rPr>
              <a:t>There is no direct reference to OA in the Sri Lanka regulatory framework. According to the Regulatory Manual, PUCSL 2014, the Commission will exercise, perform, and discharge the powers, functions, and duties conferred on it to promote competition.</a:t>
            </a:r>
          </a:p>
        </p:txBody>
      </p:sp>
    </p:spTree>
    <p:extLst>
      <p:ext uri="{BB962C8B-B14F-4D97-AF65-F5344CB8AC3E}">
        <p14:creationId xmlns:p14="http://schemas.microsoft.com/office/powerpoint/2010/main" val="26184514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197A6-C7E5-DA22-D653-65EABDDAC558}"/>
            </a:ext>
          </a:extLst>
        </p:cNvPr>
        <p:cNvGrpSpPr/>
        <p:nvPr/>
      </p:nvGrpSpPr>
      <p:grpSpPr>
        <a:xfrm>
          <a:off x="0" y="0"/>
          <a:ext cx="0" cy="0"/>
          <a:chOff x="0" y="0"/>
          <a:chExt cx="0" cy="0"/>
        </a:xfrm>
      </p:grpSpPr>
      <p:graphicFrame>
        <p:nvGraphicFramePr>
          <p:cNvPr id="87" name="think-cell data - do not delete" hidden="1">
            <a:extLst>
              <a:ext uri="{FF2B5EF4-FFF2-40B4-BE49-F238E27FC236}">
                <a16:creationId xmlns:a16="http://schemas.microsoft.com/office/drawing/2014/main" id="{848BF3BC-F7A1-AC87-A636-04B119EA260C}"/>
              </a:ext>
            </a:extLst>
          </p:cNvPr>
          <p:cNvGraphicFramePr>
            <a:graphicFrameLocks noChangeAspect="1"/>
          </p:cNvGraphicFramePr>
          <p:nvPr>
            <p:custDataLst>
              <p:tags r:id="rId1"/>
            </p:custDataLst>
            <p:extLst>
              <p:ext uri="{D42A27DB-BD31-4B8C-83A1-F6EECF244321}">
                <p14:modId xmlns:p14="http://schemas.microsoft.com/office/powerpoint/2010/main" val="20073188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87" name="think-cell data - do not delete" hidden="1">
                        <a:extLst>
                          <a:ext uri="{FF2B5EF4-FFF2-40B4-BE49-F238E27FC236}">
                            <a16:creationId xmlns:a16="http://schemas.microsoft.com/office/drawing/2014/main" id="{AE79EFDA-5546-E9D6-D6EB-D63D8F90CCC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0" name="Title 2">
            <a:extLst>
              <a:ext uri="{FF2B5EF4-FFF2-40B4-BE49-F238E27FC236}">
                <a16:creationId xmlns:a16="http://schemas.microsoft.com/office/drawing/2014/main" id="{7361177B-1F22-BBDC-BC4D-6FC9CCE5C19A}"/>
              </a:ext>
            </a:extLst>
          </p:cNvPr>
          <p:cNvSpPr>
            <a:spLocks noGrp="1"/>
          </p:cNvSpPr>
          <p:nvPr>
            <p:ph type="title"/>
          </p:nvPr>
        </p:nvSpPr>
        <p:spPr>
          <a:xfrm>
            <a:off x="469902" y="402587"/>
            <a:ext cx="11252200" cy="334102"/>
          </a:xfrm>
        </p:spPr>
        <p:txBody>
          <a:bodyPr vert="horz">
            <a:noAutofit/>
          </a:bodyPr>
          <a:lstStyle/>
          <a:p>
            <a:r>
              <a:rPr lang="en-US" sz="2800" b="1" dirty="0">
                <a:latin typeface="Calibri" panose="020F0502020204030204" pitchFamily="34" charset="0"/>
                <a:cs typeface="Calibri" panose="020F0502020204030204" pitchFamily="34" charset="0"/>
              </a:rPr>
              <a:t>Country-wise Assessment – India</a:t>
            </a:r>
          </a:p>
        </p:txBody>
      </p:sp>
      <p:pic>
        <p:nvPicPr>
          <p:cNvPr id="5" name="Picture 4">
            <a:extLst>
              <a:ext uri="{FF2B5EF4-FFF2-40B4-BE49-F238E27FC236}">
                <a16:creationId xmlns:a16="http://schemas.microsoft.com/office/drawing/2014/main" id="{93A7C513-989A-6850-FD83-B52C6145E576}"/>
              </a:ext>
            </a:extLst>
          </p:cNvPr>
          <p:cNvPicPr>
            <a:picLocks noChangeAspect="1"/>
          </p:cNvPicPr>
          <p:nvPr/>
        </p:nvPicPr>
        <p:blipFill>
          <a:blip r:embed="rId6"/>
          <a:stretch>
            <a:fillRect/>
          </a:stretch>
        </p:blipFill>
        <p:spPr>
          <a:xfrm>
            <a:off x="10726063" y="402587"/>
            <a:ext cx="878522" cy="566928"/>
          </a:xfrm>
          <a:prstGeom prst="rect">
            <a:avLst/>
          </a:prstGeom>
        </p:spPr>
      </p:pic>
      <p:sp>
        <p:nvSpPr>
          <p:cNvPr id="6" name="TextBox 5">
            <a:extLst>
              <a:ext uri="{FF2B5EF4-FFF2-40B4-BE49-F238E27FC236}">
                <a16:creationId xmlns:a16="http://schemas.microsoft.com/office/drawing/2014/main" id="{FDFC4E40-ACB4-DE8C-1099-DBAFED6B1140}"/>
              </a:ext>
            </a:extLst>
          </p:cNvPr>
          <p:cNvSpPr txBox="1"/>
          <p:nvPr/>
        </p:nvSpPr>
        <p:spPr>
          <a:xfrm>
            <a:off x="469898" y="736689"/>
            <a:ext cx="11252200" cy="430887"/>
          </a:xfrm>
          <a:prstGeom prst="rect">
            <a:avLst/>
          </a:prstGeom>
          <a:noFill/>
        </p:spPr>
        <p:txBody>
          <a:bodyPr wrap="square">
            <a:spAutoFit/>
          </a:bodyPr>
          <a:lstStyle/>
          <a:p>
            <a:r>
              <a:rPr lang="en-US" sz="2200" i="1" dirty="0">
                <a:latin typeface="Calibri" panose="020F0502020204030204" pitchFamily="34" charset="0"/>
                <a:cs typeface="Calibri" panose="020F0502020204030204" pitchFamily="34" charset="0"/>
              </a:rPr>
              <a:t>About Open Access</a:t>
            </a:r>
          </a:p>
        </p:txBody>
      </p:sp>
      <p:sp>
        <p:nvSpPr>
          <p:cNvPr id="7" name="TextBox 6">
            <a:extLst>
              <a:ext uri="{FF2B5EF4-FFF2-40B4-BE49-F238E27FC236}">
                <a16:creationId xmlns:a16="http://schemas.microsoft.com/office/drawing/2014/main" id="{94027436-58B7-4199-EF7F-7BE3F29CC102}"/>
              </a:ext>
            </a:extLst>
          </p:cNvPr>
          <p:cNvSpPr txBox="1"/>
          <p:nvPr/>
        </p:nvSpPr>
        <p:spPr>
          <a:xfrm>
            <a:off x="426357" y="1072068"/>
            <a:ext cx="11469918" cy="784830"/>
          </a:xfrm>
          <a:prstGeom prst="rect">
            <a:avLst/>
          </a:prstGeom>
          <a:solidFill>
            <a:srgbClr val="DDEFE8">
              <a:alpha val="5000"/>
            </a:srgbClr>
          </a:solidFill>
          <a:ln>
            <a:noFill/>
          </a:ln>
        </p:spPr>
        <p:style>
          <a:lnRef idx="2">
            <a:schemeClr val="accent2"/>
          </a:lnRef>
          <a:fillRef idx="1">
            <a:schemeClr val="lt1"/>
          </a:fillRef>
          <a:effectRef idx="0">
            <a:schemeClr val="accent2"/>
          </a:effectRef>
          <a:fontRef idx="minor">
            <a:schemeClr val="dk1"/>
          </a:fontRef>
        </p:style>
        <p:txBody>
          <a:bodyPr wrap="square">
            <a:spAutoFit/>
          </a:bodyPr>
          <a:lstStyle/>
          <a:p>
            <a:pPr algn="l">
              <a:spcBef>
                <a:spcPts val="600"/>
              </a:spcBef>
            </a:pPr>
            <a:r>
              <a:rPr lang="en-US" sz="1500" b="1" i="0" u="none" strike="noStrike" baseline="0" dirty="0">
                <a:solidFill>
                  <a:srgbClr val="000000"/>
                </a:solidFill>
                <a:latin typeface="Calibri" panose="020F0502020204030204" pitchFamily="34" charset="0"/>
                <a:cs typeface="Calibri" panose="020F0502020204030204" pitchFamily="34" charset="0"/>
              </a:rPr>
              <a:t>Section 2(47) of the EA, 2003 </a:t>
            </a:r>
            <a:r>
              <a:rPr lang="en-US" sz="1500" b="0" i="0" u="none" strike="noStrike" baseline="0" dirty="0">
                <a:solidFill>
                  <a:srgbClr val="000000"/>
                </a:solidFill>
                <a:latin typeface="Calibri" panose="020F0502020204030204" pitchFamily="34" charset="0"/>
                <a:cs typeface="Calibri" panose="020F0502020204030204" pitchFamily="34" charset="0"/>
              </a:rPr>
              <a:t>defines Open Access to mean “</a:t>
            </a:r>
            <a:r>
              <a:rPr lang="en-US" sz="1500" b="0" i="1" u="none" strike="noStrike" baseline="0" dirty="0">
                <a:solidFill>
                  <a:srgbClr val="558FD6"/>
                </a:solidFill>
                <a:latin typeface="Calibri" panose="020F0502020204030204" pitchFamily="34" charset="0"/>
                <a:cs typeface="Calibri" panose="020F0502020204030204" pitchFamily="34" charset="0"/>
              </a:rPr>
              <a:t>non-discriminatory provision for the use of transmission lines or distribution system or associated facilities with such lines or system by any licensee or consumer or a person engaged in generation in accordance with the regulations specified by the Appropriate Commission</a:t>
            </a:r>
            <a:r>
              <a:rPr lang="en-US" sz="1500" b="0" i="0" u="none" strike="noStrike" baseline="0" dirty="0">
                <a:solidFill>
                  <a:srgbClr val="000000"/>
                </a:solidFill>
                <a:latin typeface="Calibri" panose="020F0502020204030204" pitchFamily="34" charset="0"/>
                <a:cs typeface="Calibri" panose="020F0502020204030204" pitchFamily="34" charset="0"/>
              </a:rPr>
              <a:t>”</a:t>
            </a:r>
            <a:endParaRPr lang="en-US" sz="1500" dirty="0">
              <a:latin typeface="Calibri" panose="020F0502020204030204" pitchFamily="34" charset="0"/>
              <a:cs typeface="Calibri" panose="020F0502020204030204" pitchFamily="34" charset="0"/>
            </a:endParaRPr>
          </a:p>
        </p:txBody>
      </p:sp>
      <p:grpSp>
        <p:nvGrpSpPr>
          <p:cNvPr id="10" name="Group 9">
            <a:extLst>
              <a:ext uri="{FF2B5EF4-FFF2-40B4-BE49-F238E27FC236}">
                <a16:creationId xmlns:a16="http://schemas.microsoft.com/office/drawing/2014/main" id="{6326CEFE-8B91-02D1-BE53-7CBD10F12DF1}"/>
              </a:ext>
            </a:extLst>
          </p:cNvPr>
          <p:cNvGrpSpPr/>
          <p:nvPr/>
        </p:nvGrpSpPr>
        <p:grpSpPr>
          <a:xfrm>
            <a:off x="469902" y="2836827"/>
            <a:ext cx="11275789" cy="2106352"/>
            <a:chOff x="469902" y="2586307"/>
            <a:chExt cx="11275789" cy="2106352"/>
          </a:xfrm>
        </p:grpSpPr>
        <p:sp>
          <p:nvSpPr>
            <p:cNvPr id="13" name="Rectangle 12">
              <a:extLst>
                <a:ext uri="{FF2B5EF4-FFF2-40B4-BE49-F238E27FC236}">
                  <a16:creationId xmlns:a16="http://schemas.microsoft.com/office/drawing/2014/main" id="{41420905-9F67-042C-413A-FB00B7A7564B}"/>
                </a:ext>
              </a:extLst>
            </p:cNvPr>
            <p:cNvSpPr/>
            <p:nvPr/>
          </p:nvSpPr>
          <p:spPr bwMode="gray">
            <a:xfrm>
              <a:off x="4965704" y="2586307"/>
              <a:ext cx="6779987" cy="954536"/>
            </a:xfrm>
            <a:prstGeom prst="rect">
              <a:avLst/>
            </a:prstGeom>
            <a:solidFill>
              <a:srgbClr val="007680">
                <a:alpha val="10000"/>
              </a:srgbClr>
            </a:solidFill>
            <a:ln w="19050" algn="ctr">
              <a:noFill/>
              <a:miter lim="800000"/>
              <a:headEnd/>
              <a:tailEnd/>
            </a:ln>
          </p:spPr>
          <p:txBody>
            <a:bodyPr wrap="square" lIns="91440" tIns="91440" rIns="88900" bIns="88900" rtlCol="0" anchor="ctr"/>
            <a:lstStyle/>
            <a:p>
              <a:pPr marL="171450" indent="-171450" algn="just">
                <a:lnSpc>
                  <a:spcPct val="106000"/>
                </a:lnSpc>
                <a:spcBef>
                  <a:spcPts val="300"/>
                </a:spcBef>
                <a:buFont typeface="Wingdings" panose="05000000000000000000" pitchFamily="2" charset="2"/>
                <a:buChar char="ü"/>
              </a:pPr>
              <a:r>
                <a:rPr lang="en-US" sz="1500" dirty="0">
                  <a:latin typeface="Calibri" panose="020F0502020204030204" pitchFamily="34" charset="0"/>
                  <a:cs typeface="Calibri" panose="020F0502020204030204" pitchFamily="34" charset="0"/>
                </a:rPr>
                <a:t>No license required for developing a Generating station;</a:t>
              </a:r>
            </a:p>
            <a:p>
              <a:pPr marL="171450" indent="-171450" algn="just">
                <a:lnSpc>
                  <a:spcPct val="106000"/>
                </a:lnSpc>
                <a:spcBef>
                  <a:spcPts val="300"/>
                </a:spcBef>
                <a:buFont typeface="Wingdings" panose="05000000000000000000" pitchFamily="2" charset="2"/>
                <a:buChar char="ü"/>
              </a:pPr>
              <a:r>
                <a:rPr lang="en-US" sz="1500" dirty="0">
                  <a:latin typeface="Calibri" panose="020F0502020204030204" pitchFamily="34" charset="0"/>
                  <a:cs typeface="Calibri" panose="020F0502020204030204" pitchFamily="34" charset="0"/>
                </a:rPr>
                <a:t>could sell power to any person through Open Access;</a:t>
              </a:r>
            </a:p>
            <a:p>
              <a:pPr marL="171450" indent="-171450" algn="just">
                <a:lnSpc>
                  <a:spcPct val="106000"/>
                </a:lnSpc>
                <a:spcBef>
                  <a:spcPts val="300"/>
                </a:spcBef>
                <a:buFont typeface="Wingdings" panose="05000000000000000000" pitchFamily="2" charset="2"/>
                <a:buChar char="ü"/>
              </a:pPr>
              <a:r>
                <a:rPr lang="en-US" sz="1500" dirty="0">
                  <a:latin typeface="Calibri" panose="020F0502020204030204" pitchFamily="34" charset="0"/>
                  <a:cs typeface="Calibri" panose="020F0502020204030204" pitchFamily="34" charset="0"/>
                </a:rPr>
                <a:t>Easy change in purchaser in the event of default in honoring contract by purchaser.</a:t>
              </a:r>
            </a:p>
          </p:txBody>
        </p:sp>
        <p:sp>
          <p:nvSpPr>
            <p:cNvPr id="14" name="Rectangle 13">
              <a:extLst>
                <a:ext uri="{FF2B5EF4-FFF2-40B4-BE49-F238E27FC236}">
                  <a16:creationId xmlns:a16="http://schemas.microsoft.com/office/drawing/2014/main" id="{99802897-D8FF-3649-2425-35971102180D}"/>
                </a:ext>
              </a:extLst>
            </p:cNvPr>
            <p:cNvSpPr/>
            <p:nvPr/>
          </p:nvSpPr>
          <p:spPr bwMode="gray">
            <a:xfrm>
              <a:off x="4965704" y="3738123"/>
              <a:ext cx="6779987" cy="954536"/>
            </a:xfrm>
            <a:prstGeom prst="rect">
              <a:avLst/>
            </a:prstGeom>
            <a:solidFill>
              <a:srgbClr val="007680">
                <a:alpha val="10000"/>
              </a:srgbClr>
            </a:solidFill>
            <a:ln w="19050" algn="ctr">
              <a:noFill/>
              <a:miter lim="800000"/>
              <a:headEnd/>
              <a:tailEnd/>
            </a:ln>
          </p:spPr>
          <p:txBody>
            <a:bodyPr wrap="square" lIns="88900" tIns="88900" rIns="88900" bIns="88900" rtlCol="0" anchor="ctr"/>
            <a:lstStyle/>
            <a:p>
              <a:pPr marL="171450" indent="-171450" algn="just">
                <a:lnSpc>
                  <a:spcPct val="106000"/>
                </a:lnSpc>
                <a:spcBef>
                  <a:spcPts val="300"/>
                </a:spcBef>
                <a:buFont typeface="Wingdings" panose="05000000000000000000" pitchFamily="2" charset="2"/>
                <a:buChar char="ü"/>
              </a:pPr>
              <a:r>
                <a:rPr lang="en-US" sz="1500" dirty="0">
                  <a:latin typeface="Calibri" panose="020F0502020204030204" pitchFamily="34" charset="0"/>
                  <a:cs typeface="Calibri" panose="020F0502020204030204" pitchFamily="34" charset="0"/>
                </a:rPr>
                <a:t>Buy power from anywhere – could explore cheaper sources; especially useful for high demand Industrial/ Commercial consumers.</a:t>
              </a:r>
            </a:p>
            <a:p>
              <a:pPr marL="171450" indent="-171450" algn="just">
                <a:lnSpc>
                  <a:spcPct val="106000"/>
                </a:lnSpc>
                <a:spcBef>
                  <a:spcPts val="300"/>
                </a:spcBef>
                <a:buFont typeface="Wingdings" panose="05000000000000000000" pitchFamily="2" charset="2"/>
                <a:buChar char="ü"/>
              </a:pPr>
              <a:r>
                <a:rPr lang="en-US" sz="1500" dirty="0">
                  <a:latin typeface="Calibri" panose="020F0502020204030204" pitchFamily="34" charset="0"/>
                  <a:cs typeface="Calibri" panose="020F0502020204030204" pitchFamily="34" charset="0"/>
                </a:rPr>
                <a:t>Industrial houses could consolidate power supply to plants at various locations &amp; build captive power plant to achieve economy</a:t>
              </a:r>
            </a:p>
          </p:txBody>
        </p:sp>
        <p:grpSp>
          <p:nvGrpSpPr>
            <p:cNvPr id="15" name="Group 14">
              <a:extLst>
                <a:ext uri="{FF2B5EF4-FFF2-40B4-BE49-F238E27FC236}">
                  <a16:creationId xmlns:a16="http://schemas.microsoft.com/office/drawing/2014/main" id="{0C84DB72-5E61-5F76-812C-BDF491EE286D}"/>
                </a:ext>
              </a:extLst>
            </p:cNvPr>
            <p:cNvGrpSpPr/>
            <p:nvPr/>
          </p:nvGrpSpPr>
          <p:grpSpPr>
            <a:xfrm>
              <a:off x="469902" y="2742925"/>
              <a:ext cx="4495802" cy="1803252"/>
              <a:chOff x="469902" y="2742925"/>
              <a:chExt cx="4495802" cy="1803252"/>
            </a:xfrm>
          </p:grpSpPr>
          <p:sp>
            <p:nvSpPr>
              <p:cNvPr id="16" name="Rectangle: Rounded Corners 15">
                <a:extLst>
                  <a:ext uri="{FF2B5EF4-FFF2-40B4-BE49-F238E27FC236}">
                    <a16:creationId xmlns:a16="http://schemas.microsoft.com/office/drawing/2014/main" id="{7CA6CB91-B37A-39F0-78CC-484D4B6E9759}"/>
                  </a:ext>
                </a:extLst>
              </p:cNvPr>
              <p:cNvSpPr/>
              <p:nvPr/>
            </p:nvSpPr>
            <p:spPr bwMode="gray">
              <a:xfrm>
                <a:off x="469902" y="3211678"/>
                <a:ext cx="1741713" cy="849084"/>
              </a:xfrm>
              <a:prstGeom prst="roundRect">
                <a:avLst/>
              </a:prstGeom>
              <a:solidFill>
                <a:srgbClr val="00768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500" b="1" dirty="0">
                    <a:solidFill>
                      <a:schemeClr val="bg1"/>
                    </a:solidFill>
                    <a:latin typeface="Calibri" panose="020F0502020204030204" pitchFamily="34" charset="0"/>
                    <a:cs typeface="Calibri" panose="020F0502020204030204" pitchFamily="34" charset="0"/>
                  </a:rPr>
                  <a:t>Open Access Provides Opportunities to </a:t>
                </a:r>
              </a:p>
            </p:txBody>
          </p:sp>
          <p:sp>
            <p:nvSpPr>
              <p:cNvPr id="17" name="Oval 16">
                <a:extLst>
                  <a:ext uri="{FF2B5EF4-FFF2-40B4-BE49-F238E27FC236}">
                    <a16:creationId xmlns:a16="http://schemas.microsoft.com/office/drawing/2014/main" id="{8FF7D86F-D380-9942-1B1F-2473C03C9044}"/>
                  </a:ext>
                </a:extLst>
              </p:cNvPr>
              <p:cNvSpPr/>
              <p:nvPr/>
            </p:nvSpPr>
            <p:spPr bwMode="gray">
              <a:xfrm>
                <a:off x="2930070" y="2742925"/>
                <a:ext cx="1632857" cy="646331"/>
              </a:xfrm>
              <a:prstGeom prst="ellipse">
                <a:avLst/>
              </a:prstGeom>
              <a:solidFill>
                <a:srgbClr val="007680">
                  <a:alpha val="80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500" b="1" dirty="0">
                    <a:solidFill>
                      <a:schemeClr val="bg1"/>
                    </a:solidFill>
                    <a:latin typeface="Calibri" panose="020F0502020204030204" pitchFamily="34" charset="0"/>
                    <a:cs typeface="Calibri" panose="020F0502020204030204" pitchFamily="34" charset="0"/>
                  </a:rPr>
                  <a:t>Generating Station</a:t>
                </a:r>
              </a:p>
            </p:txBody>
          </p:sp>
          <p:sp>
            <p:nvSpPr>
              <p:cNvPr id="18" name="Oval 17">
                <a:extLst>
                  <a:ext uri="{FF2B5EF4-FFF2-40B4-BE49-F238E27FC236}">
                    <a16:creationId xmlns:a16="http://schemas.microsoft.com/office/drawing/2014/main" id="{3674CD10-EB9F-DD5C-F275-0ED09072223A}"/>
                  </a:ext>
                </a:extLst>
              </p:cNvPr>
              <p:cNvSpPr/>
              <p:nvPr/>
            </p:nvSpPr>
            <p:spPr bwMode="gray">
              <a:xfrm>
                <a:off x="2930070" y="3899846"/>
                <a:ext cx="1632857" cy="646331"/>
              </a:xfrm>
              <a:prstGeom prst="ellipse">
                <a:avLst/>
              </a:prstGeom>
              <a:solidFill>
                <a:srgbClr val="007680">
                  <a:alpha val="80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500" b="1" dirty="0">
                    <a:solidFill>
                      <a:schemeClr val="bg1"/>
                    </a:solidFill>
                    <a:latin typeface="Calibri" panose="020F0502020204030204" pitchFamily="34" charset="0"/>
                    <a:cs typeface="Calibri" panose="020F0502020204030204" pitchFamily="34" charset="0"/>
                  </a:rPr>
                  <a:t>Consumers</a:t>
                </a:r>
              </a:p>
            </p:txBody>
          </p:sp>
          <p:cxnSp>
            <p:nvCxnSpPr>
              <p:cNvPr id="19" name="Connector: Elbow 18">
                <a:extLst>
                  <a:ext uri="{FF2B5EF4-FFF2-40B4-BE49-F238E27FC236}">
                    <a16:creationId xmlns:a16="http://schemas.microsoft.com/office/drawing/2014/main" id="{EB82D1EE-B863-34D8-D151-CF668FE7D673}"/>
                  </a:ext>
                </a:extLst>
              </p:cNvPr>
              <p:cNvCxnSpPr>
                <a:stCxn id="16" idx="3"/>
                <a:endCxn id="17" idx="2"/>
              </p:cNvCxnSpPr>
              <p:nvPr/>
            </p:nvCxnSpPr>
            <p:spPr>
              <a:xfrm flipV="1">
                <a:off x="2211615" y="3066091"/>
                <a:ext cx="718455" cy="570129"/>
              </a:xfrm>
              <a:prstGeom prst="bentConnector3">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20" name="Connector: Elbow 19">
                <a:extLst>
                  <a:ext uri="{FF2B5EF4-FFF2-40B4-BE49-F238E27FC236}">
                    <a16:creationId xmlns:a16="http://schemas.microsoft.com/office/drawing/2014/main" id="{F0E36FFC-4901-46D1-4514-056FDD1D6F83}"/>
                  </a:ext>
                </a:extLst>
              </p:cNvPr>
              <p:cNvCxnSpPr>
                <a:cxnSpLocks/>
                <a:endCxn id="18" idx="2"/>
              </p:cNvCxnSpPr>
              <p:nvPr/>
            </p:nvCxnSpPr>
            <p:spPr>
              <a:xfrm>
                <a:off x="2178966" y="3628559"/>
                <a:ext cx="751104" cy="594453"/>
              </a:xfrm>
              <a:prstGeom prst="bentConnector3">
                <a:avLst>
                  <a:gd name="adj1" fmla="val 51449"/>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21" name="Straight Arrow Connector 20">
                <a:extLst>
                  <a:ext uri="{FF2B5EF4-FFF2-40B4-BE49-F238E27FC236}">
                    <a16:creationId xmlns:a16="http://schemas.microsoft.com/office/drawing/2014/main" id="{A6D601EC-ACE0-49C6-DD74-7A926791DE9D}"/>
                  </a:ext>
                </a:extLst>
              </p:cNvPr>
              <p:cNvCxnSpPr>
                <a:stCxn id="17" idx="6"/>
                <a:endCxn id="13" idx="1"/>
              </p:cNvCxnSpPr>
              <p:nvPr/>
            </p:nvCxnSpPr>
            <p:spPr>
              <a:xfrm flipV="1">
                <a:off x="4562927" y="3063575"/>
                <a:ext cx="402777" cy="2516"/>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22" name="Straight Arrow Connector 21">
                <a:extLst>
                  <a:ext uri="{FF2B5EF4-FFF2-40B4-BE49-F238E27FC236}">
                    <a16:creationId xmlns:a16="http://schemas.microsoft.com/office/drawing/2014/main" id="{444608F6-7C60-76FE-0D85-616754C482D8}"/>
                  </a:ext>
                </a:extLst>
              </p:cNvPr>
              <p:cNvCxnSpPr/>
              <p:nvPr/>
            </p:nvCxnSpPr>
            <p:spPr>
              <a:xfrm>
                <a:off x="4562926" y="4223011"/>
                <a:ext cx="402777" cy="15991"/>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grpSp>
      </p:grpSp>
      <p:sp>
        <p:nvSpPr>
          <p:cNvPr id="23" name="TextBox 22">
            <a:extLst>
              <a:ext uri="{FF2B5EF4-FFF2-40B4-BE49-F238E27FC236}">
                <a16:creationId xmlns:a16="http://schemas.microsoft.com/office/drawing/2014/main" id="{602347A7-CA50-3C6A-F442-FA3DD5865689}"/>
              </a:ext>
            </a:extLst>
          </p:cNvPr>
          <p:cNvSpPr txBox="1"/>
          <p:nvPr/>
        </p:nvSpPr>
        <p:spPr>
          <a:xfrm>
            <a:off x="426357" y="1836525"/>
            <a:ext cx="11295743" cy="1092607"/>
          </a:xfrm>
          <a:prstGeom prst="rect">
            <a:avLst/>
          </a:prstGeom>
          <a:solidFill>
            <a:srgbClr val="DDEFE8">
              <a:alpha val="5000"/>
            </a:srgbClr>
          </a:solidFill>
        </p:spPr>
        <p:txBody>
          <a:bodyPr wrap="square">
            <a:spAutoFit/>
          </a:bodyPr>
          <a:lstStyle/>
          <a:p>
            <a:pPr algn="just">
              <a:spcBef>
                <a:spcPts val="600"/>
              </a:spcBef>
            </a:pPr>
            <a:r>
              <a:rPr lang="en-US" sz="1500" b="1" dirty="0">
                <a:latin typeface="Calibri" panose="020F0502020204030204" pitchFamily="34" charset="0"/>
                <a:cs typeface="Calibri" panose="020F0502020204030204" pitchFamily="34" charset="0"/>
              </a:rPr>
              <a:t>According to sub-section 2, of section 42 of the Electricity Act 2003</a:t>
            </a:r>
            <a:r>
              <a:rPr lang="en-US" sz="1500" dirty="0">
                <a:latin typeface="Calibri" panose="020F0502020204030204" pitchFamily="34" charset="0"/>
                <a:cs typeface="Calibri" panose="020F0502020204030204" pitchFamily="34" charset="0"/>
              </a:rPr>
              <a:t>, electricity consumers now have the right to procure power from the supplier of their choice other than the distribution company that they were buying from.</a:t>
            </a:r>
          </a:p>
          <a:p>
            <a:pPr algn="just">
              <a:spcBef>
                <a:spcPts val="600"/>
              </a:spcBef>
            </a:pPr>
            <a:r>
              <a:rPr lang="en-US" sz="1500" dirty="0">
                <a:latin typeface="Calibri" panose="020F0502020204030204" pitchFamily="34" charset="0"/>
                <a:cs typeface="Calibri" panose="020F0502020204030204" pitchFamily="34" charset="0"/>
              </a:rPr>
              <a:t>They can use the existing transmission and distribution infrastructure after paying appropriate charges determined by their respective State Electricity Regulatory Commissions (SERCs).</a:t>
            </a:r>
          </a:p>
        </p:txBody>
      </p:sp>
      <p:sp>
        <p:nvSpPr>
          <p:cNvPr id="24" name="Rectangle: Rounded Corners 23">
            <a:extLst>
              <a:ext uri="{FF2B5EF4-FFF2-40B4-BE49-F238E27FC236}">
                <a16:creationId xmlns:a16="http://schemas.microsoft.com/office/drawing/2014/main" id="{3F4F76B0-E53F-4FD6-C2D2-94BCAE2C0CAC}"/>
              </a:ext>
            </a:extLst>
          </p:cNvPr>
          <p:cNvSpPr/>
          <p:nvPr/>
        </p:nvSpPr>
        <p:spPr bwMode="gray">
          <a:xfrm>
            <a:off x="469900" y="5041303"/>
            <a:ext cx="11252200" cy="286944"/>
          </a:xfrm>
          <a:prstGeom prst="roundRect">
            <a:avLst/>
          </a:prstGeom>
          <a:solidFill>
            <a:srgbClr val="00ABAB"/>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500" b="1" dirty="0">
                <a:solidFill>
                  <a:schemeClr val="bg1"/>
                </a:solidFill>
                <a:latin typeface="Calibri" panose="020F0502020204030204" pitchFamily="34" charset="0"/>
                <a:cs typeface="Calibri" panose="020F0502020204030204" pitchFamily="34" charset="0"/>
              </a:rPr>
              <a:t>Different Technical and Financial Requirement to avail Open Access</a:t>
            </a:r>
          </a:p>
        </p:txBody>
      </p:sp>
      <p:sp>
        <p:nvSpPr>
          <p:cNvPr id="25" name="Rectangle: Rounded Corners 24">
            <a:extLst>
              <a:ext uri="{FF2B5EF4-FFF2-40B4-BE49-F238E27FC236}">
                <a16:creationId xmlns:a16="http://schemas.microsoft.com/office/drawing/2014/main" id="{271551AE-3EF3-B6FE-78C2-4C9E643E57FF}"/>
              </a:ext>
            </a:extLst>
          </p:cNvPr>
          <p:cNvSpPr/>
          <p:nvPr/>
        </p:nvSpPr>
        <p:spPr bwMode="gray">
          <a:xfrm>
            <a:off x="469900" y="5453768"/>
            <a:ext cx="2248248" cy="1272411"/>
          </a:xfrm>
          <a:prstGeom prst="roundRect">
            <a:avLst/>
          </a:prstGeom>
          <a:solidFill>
            <a:srgbClr val="00ABAB">
              <a:alpha val="10000"/>
            </a:srgbClr>
          </a:solidFill>
          <a:ln w="19050" algn="ctr">
            <a:noFill/>
            <a:miter lim="800000"/>
            <a:headEnd/>
            <a:tailEnd/>
          </a:ln>
        </p:spPr>
        <p:txBody>
          <a:bodyPr wrap="square" lIns="88900" tIns="88900" rIns="88900" bIns="88900" rtlCol="0" anchor="ctr"/>
          <a:lstStyle/>
          <a:p>
            <a:pPr algn="just">
              <a:lnSpc>
                <a:spcPct val="106000"/>
              </a:lnSpc>
              <a:buFont typeface="Wingdings 2" pitchFamily="18" charset="2"/>
              <a:buNone/>
            </a:pPr>
            <a:r>
              <a:rPr lang="en-US" sz="1500" dirty="0">
                <a:latin typeface="Calibri" panose="020F0502020204030204" pitchFamily="34" charset="0"/>
                <a:cs typeface="Calibri" panose="020F0502020204030204" pitchFamily="34" charset="0"/>
              </a:rPr>
              <a:t>Minimum Load should be 1 MW or load allowed in respective State regulation to avail open access   </a:t>
            </a:r>
          </a:p>
        </p:txBody>
      </p:sp>
      <p:sp>
        <p:nvSpPr>
          <p:cNvPr id="26" name="Rectangle: Rounded Corners 25">
            <a:extLst>
              <a:ext uri="{FF2B5EF4-FFF2-40B4-BE49-F238E27FC236}">
                <a16:creationId xmlns:a16="http://schemas.microsoft.com/office/drawing/2014/main" id="{66E8A6D4-2C35-64DC-260E-1CC90E40C530}"/>
              </a:ext>
            </a:extLst>
          </p:cNvPr>
          <p:cNvSpPr/>
          <p:nvPr/>
        </p:nvSpPr>
        <p:spPr bwMode="gray">
          <a:xfrm>
            <a:off x="2813050" y="5474014"/>
            <a:ext cx="1377950" cy="1252164"/>
          </a:xfrm>
          <a:prstGeom prst="roundRect">
            <a:avLst/>
          </a:prstGeom>
          <a:solidFill>
            <a:srgbClr val="00B050">
              <a:alpha val="10000"/>
            </a:srgbClr>
          </a:solidFill>
          <a:ln w="19050" algn="ctr">
            <a:noFill/>
            <a:miter lim="800000"/>
            <a:headEnd/>
            <a:tailEnd/>
          </a:ln>
        </p:spPr>
        <p:txBody>
          <a:bodyPr wrap="square" lIns="88900" tIns="88900" rIns="88900" bIns="88900" rtlCol="0" anchor="ctr"/>
          <a:lstStyle/>
          <a:p>
            <a:pPr algn="just">
              <a:lnSpc>
                <a:spcPct val="106000"/>
              </a:lnSpc>
              <a:buFont typeface="Wingdings 2" pitchFamily="18" charset="2"/>
              <a:buNone/>
            </a:pPr>
            <a:r>
              <a:rPr lang="en-US" sz="1500" dirty="0">
                <a:latin typeface="Calibri" panose="020F0502020204030204" pitchFamily="34" charset="0"/>
                <a:cs typeface="Calibri" panose="020F0502020204030204" pitchFamily="34" charset="0"/>
              </a:rPr>
              <a:t>Availability of Distribution and Transmission Corridor </a:t>
            </a:r>
          </a:p>
        </p:txBody>
      </p:sp>
      <p:sp>
        <p:nvSpPr>
          <p:cNvPr id="27" name="Rectangle: Rounded Corners 26">
            <a:extLst>
              <a:ext uri="{FF2B5EF4-FFF2-40B4-BE49-F238E27FC236}">
                <a16:creationId xmlns:a16="http://schemas.microsoft.com/office/drawing/2014/main" id="{AEE313FE-F3CB-5091-C125-DBF3AB0A5428}"/>
              </a:ext>
            </a:extLst>
          </p:cNvPr>
          <p:cNvSpPr/>
          <p:nvPr/>
        </p:nvSpPr>
        <p:spPr bwMode="gray">
          <a:xfrm>
            <a:off x="4395106" y="5474017"/>
            <a:ext cx="2763158" cy="1252164"/>
          </a:xfrm>
          <a:prstGeom prst="roundRect">
            <a:avLst/>
          </a:prstGeom>
          <a:solidFill>
            <a:srgbClr val="00ABAB">
              <a:alpha val="10000"/>
            </a:srgbClr>
          </a:solidFill>
          <a:ln w="19050" algn="ctr">
            <a:noFill/>
            <a:miter lim="800000"/>
            <a:headEnd/>
            <a:tailEnd/>
          </a:ln>
        </p:spPr>
        <p:txBody>
          <a:bodyPr wrap="square" lIns="88900" tIns="88900" rIns="88900" bIns="88900" rtlCol="0" anchor="ctr"/>
          <a:lstStyle/>
          <a:p>
            <a:pPr algn="just">
              <a:lnSpc>
                <a:spcPct val="106000"/>
              </a:lnSpc>
              <a:buFont typeface="Wingdings 2" pitchFamily="18" charset="2"/>
              <a:buNone/>
            </a:pPr>
            <a:r>
              <a:rPr lang="en-US" sz="1500" dirty="0">
                <a:latin typeface="Calibri" panose="020F0502020204030204" pitchFamily="34" charset="0"/>
                <a:cs typeface="Calibri" panose="020F0502020204030204" pitchFamily="34" charset="0"/>
              </a:rPr>
              <a:t>Installation of special Energy Meters (SEM) and Remote Terminal Units (RTU) having provision to communicate with SLDC in real time </a:t>
            </a:r>
          </a:p>
        </p:txBody>
      </p:sp>
      <p:sp>
        <p:nvSpPr>
          <p:cNvPr id="28" name="Rectangle: Rounded Corners 27">
            <a:extLst>
              <a:ext uri="{FF2B5EF4-FFF2-40B4-BE49-F238E27FC236}">
                <a16:creationId xmlns:a16="http://schemas.microsoft.com/office/drawing/2014/main" id="{4C7147DA-2E96-4CD5-A559-F098DBBED944}"/>
              </a:ext>
            </a:extLst>
          </p:cNvPr>
          <p:cNvSpPr/>
          <p:nvPr/>
        </p:nvSpPr>
        <p:spPr bwMode="gray">
          <a:xfrm>
            <a:off x="7362370" y="5453768"/>
            <a:ext cx="2016580" cy="1272412"/>
          </a:xfrm>
          <a:prstGeom prst="roundRect">
            <a:avLst/>
          </a:prstGeom>
          <a:solidFill>
            <a:srgbClr val="00B050">
              <a:alpha val="10000"/>
            </a:srgbClr>
          </a:solidFill>
          <a:ln w="19050" algn="ctr">
            <a:noFill/>
            <a:miter lim="800000"/>
            <a:headEnd/>
            <a:tailEnd/>
          </a:ln>
        </p:spPr>
        <p:txBody>
          <a:bodyPr wrap="square" lIns="88900" tIns="88900" rIns="88900" bIns="88900" rtlCol="0" anchor="ctr"/>
          <a:lstStyle/>
          <a:p>
            <a:pPr algn="just">
              <a:lnSpc>
                <a:spcPct val="106000"/>
              </a:lnSpc>
              <a:buFont typeface="Wingdings 2" pitchFamily="18" charset="2"/>
              <a:buNone/>
            </a:pPr>
            <a:r>
              <a:rPr lang="en-US" sz="1500" dirty="0">
                <a:latin typeface="Calibri" panose="020F0502020204030204" pitchFamily="34" charset="0"/>
                <a:cs typeface="Calibri" panose="020F0502020204030204" pitchFamily="34" charset="0"/>
              </a:rPr>
              <a:t>Payment security mechanism Clearance of outstanding dues</a:t>
            </a:r>
          </a:p>
        </p:txBody>
      </p:sp>
      <p:sp>
        <p:nvSpPr>
          <p:cNvPr id="29" name="Rectangle: Rounded Corners 28">
            <a:extLst>
              <a:ext uri="{FF2B5EF4-FFF2-40B4-BE49-F238E27FC236}">
                <a16:creationId xmlns:a16="http://schemas.microsoft.com/office/drawing/2014/main" id="{90FC5C44-5D81-FB2B-BFFD-1AD0AF82CA0A}"/>
              </a:ext>
            </a:extLst>
          </p:cNvPr>
          <p:cNvSpPr/>
          <p:nvPr/>
        </p:nvSpPr>
        <p:spPr bwMode="gray">
          <a:xfrm>
            <a:off x="9583056" y="5453768"/>
            <a:ext cx="2127704" cy="1272412"/>
          </a:xfrm>
          <a:prstGeom prst="roundRect">
            <a:avLst/>
          </a:prstGeom>
          <a:solidFill>
            <a:srgbClr val="00ABAB">
              <a:alpha val="10000"/>
            </a:srgbClr>
          </a:solidFill>
          <a:ln w="19050" algn="ctr">
            <a:noFill/>
            <a:miter lim="800000"/>
            <a:headEnd/>
            <a:tailEnd/>
          </a:ln>
        </p:spPr>
        <p:txBody>
          <a:bodyPr wrap="square" lIns="88900" tIns="88900" rIns="88900" bIns="88900" rtlCol="0" anchor="ctr"/>
          <a:lstStyle/>
          <a:p>
            <a:pPr algn="just">
              <a:lnSpc>
                <a:spcPct val="106000"/>
              </a:lnSpc>
              <a:buFont typeface="Wingdings 2" pitchFamily="18" charset="2"/>
              <a:buNone/>
            </a:pPr>
            <a:r>
              <a:rPr lang="en-US" sz="1500" dirty="0">
                <a:latin typeface="Calibri" panose="020F0502020204030204" pitchFamily="34" charset="0"/>
                <a:cs typeface="Calibri" panose="020F0502020204030204" pitchFamily="34" charset="0"/>
              </a:rPr>
              <a:t>No Objection Certificate from Nodal Agency. It may be  SLDCs/ STU/Discoms</a:t>
            </a:r>
          </a:p>
        </p:txBody>
      </p:sp>
    </p:spTree>
    <p:extLst>
      <p:ext uri="{BB962C8B-B14F-4D97-AF65-F5344CB8AC3E}">
        <p14:creationId xmlns:p14="http://schemas.microsoft.com/office/powerpoint/2010/main" val="18651362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0FACF-5FA5-E064-34B7-079224DF2A1E}"/>
            </a:ext>
          </a:extLst>
        </p:cNvPr>
        <p:cNvGrpSpPr/>
        <p:nvPr/>
      </p:nvGrpSpPr>
      <p:grpSpPr>
        <a:xfrm>
          <a:off x="0" y="0"/>
          <a:ext cx="0" cy="0"/>
          <a:chOff x="0" y="0"/>
          <a:chExt cx="0" cy="0"/>
        </a:xfrm>
      </p:grpSpPr>
      <p:graphicFrame>
        <p:nvGraphicFramePr>
          <p:cNvPr id="87" name="think-cell data - do not delete" hidden="1">
            <a:extLst>
              <a:ext uri="{FF2B5EF4-FFF2-40B4-BE49-F238E27FC236}">
                <a16:creationId xmlns:a16="http://schemas.microsoft.com/office/drawing/2014/main" id="{35360A8D-ABBE-5F7F-503A-7B93FE7F8409}"/>
              </a:ext>
            </a:extLst>
          </p:cNvPr>
          <p:cNvGraphicFramePr>
            <a:graphicFrameLocks noChangeAspect="1"/>
          </p:cNvGraphicFramePr>
          <p:nvPr>
            <p:custDataLst>
              <p:tags r:id="rId1"/>
            </p:custDataLst>
            <p:extLst>
              <p:ext uri="{D42A27DB-BD31-4B8C-83A1-F6EECF244321}">
                <p14:modId xmlns:p14="http://schemas.microsoft.com/office/powerpoint/2010/main" val="15792783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87" name="think-cell data - do not delete" hidden="1">
                        <a:extLst>
                          <a:ext uri="{FF2B5EF4-FFF2-40B4-BE49-F238E27FC236}">
                            <a16:creationId xmlns:a16="http://schemas.microsoft.com/office/drawing/2014/main" id="{848BF3BC-F7A1-AC87-A636-04B119EA260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0" name="Title 2">
            <a:extLst>
              <a:ext uri="{FF2B5EF4-FFF2-40B4-BE49-F238E27FC236}">
                <a16:creationId xmlns:a16="http://schemas.microsoft.com/office/drawing/2014/main" id="{2BEE5F5C-C258-57FC-BB66-065D7B582EAE}"/>
              </a:ext>
            </a:extLst>
          </p:cNvPr>
          <p:cNvSpPr>
            <a:spLocks noGrp="1"/>
          </p:cNvSpPr>
          <p:nvPr>
            <p:ph type="title"/>
          </p:nvPr>
        </p:nvSpPr>
        <p:spPr>
          <a:xfrm>
            <a:off x="469902" y="402587"/>
            <a:ext cx="11252200" cy="334102"/>
          </a:xfrm>
        </p:spPr>
        <p:txBody>
          <a:bodyPr vert="horz">
            <a:noAutofit/>
          </a:bodyPr>
          <a:lstStyle/>
          <a:p>
            <a:r>
              <a:rPr lang="en-US" sz="2800" b="1" dirty="0">
                <a:latin typeface="Calibri" panose="020F0502020204030204" pitchFamily="34" charset="0"/>
                <a:cs typeface="Calibri" panose="020F0502020204030204" pitchFamily="34" charset="0"/>
              </a:rPr>
              <a:t>Country-wise Assessment – India</a:t>
            </a:r>
          </a:p>
        </p:txBody>
      </p:sp>
      <p:pic>
        <p:nvPicPr>
          <p:cNvPr id="5" name="Picture 4">
            <a:extLst>
              <a:ext uri="{FF2B5EF4-FFF2-40B4-BE49-F238E27FC236}">
                <a16:creationId xmlns:a16="http://schemas.microsoft.com/office/drawing/2014/main" id="{5BABB880-52F2-7454-D7F2-B06DB6DEDCD7}"/>
              </a:ext>
            </a:extLst>
          </p:cNvPr>
          <p:cNvPicPr>
            <a:picLocks noChangeAspect="1"/>
          </p:cNvPicPr>
          <p:nvPr/>
        </p:nvPicPr>
        <p:blipFill>
          <a:blip r:embed="rId6"/>
          <a:stretch>
            <a:fillRect/>
          </a:stretch>
        </p:blipFill>
        <p:spPr>
          <a:xfrm>
            <a:off x="10726063" y="402587"/>
            <a:ext cx="878522" cy="566928"/>
          </a:xfrm>
          <a:prstGeom prst="rect">
            <a:avLst/>
          </a:prstGeom>
        </p:spPr>
      </p:pic>
      <p:sp>
        <p:nvSpPr>
          <p:cNvPr id="43" name="Rectangle: Rounded Corners 42">
            <a:extLst>
              <a:ext uri="{FF2B5EF4-FFF2-40B4-BE49-F238E27FC236}">
                <a16:creationId xmlns:a16="http://schemas.microsoft.com/office/drawing/2014/main" id="{13F7BFB0-4485-F7C8-1BB3-C99751AB4386}"/>
              </a:ext>
            </a:extLst>
          </p:cNvPr>
          <p:cNvSpPr/>
          <p:nvPr/>
        </p:nvSpPr>
        <p:spPr bwMode="gray">
          <a:xfrm>
            <a:off x="478970" y="1170968"/>
            <a:ext cx="3066456" cy="845547"/>
          </a:xfrm>
          <a:prstGeom prst="roundRect">
            <a:avLst/>
          </a:prstGeom>
          <a:solidFill>
            <a:srgbClr val="00768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dirty="0">
                <a:solidFill>
                  <a:schemeClr val="bg1"/>
                </a:solidFill>
                <a:latin typeface="Calibri" panose="020F0502020204030204" pitchFamily="34" charset="0"/>
                <a:cs typeface="Calibri" panose="020F0502020204030204" pitchFamily="34" charset="0"/>
              </a:rPr>
              <a:t>CERC (Open Access Regulations) 2008</a:t>
            </a:r>
          </a:p>
        </p:txBody>
      </p:sp>
      <p:sp>
        <p:nvSpPr>
          <p:cNvPr id="44" name="Rectangle 43">
            <a:extLst>
              <a:ext uri="{FF2B5EF4-FFF2-40B4-BE49-F238E27FC236}">
                <a16:creationId xmlns:a16="http://schemas.microsoft.com/office/drawing/2014/main" id="{139DDC2E-3D0C-DD10-055E-5C497B0A415D}"/>
              </a:ext>
            </a:extLst>
          </p:cNvPr>
          <p:cNvSpPr/>
          <p:nvPr/>
        </p:nvSpPr>
        <p:spPr bwMode="gray">
          <a:xfrm>
            <a:off x="4075255" y="1170968"/>
            <a:ext cx="7529330" cy="845547"/>
          </a:xfrm>
          <a:prstGeom prst="rect">
            <a:avLst/>
          </a:prstGeom>
          <a:solidFill>
            <a:srgbClr val="007680">
              <a:alpha val="10000"/>
            </a:srgbClr>
          </a:solidFill>
          <a:ln w="19050" algn="ctr">
            <a:noFill/>
            <a:miter lim="800000"/>
            <a:headEnd/>
            <a:tailEnd/>
          </a:ln>
        </p:spPr>
        <p:txBody>
          <a:bodyPr wrap="square" lIns="88900" tIns="88900" rIns="88900" bIns="88900" rtlCol="0" anchor="ctr"/>
          <a:lstStyle/>
          <a:p>
            <a:pPr marL="171450" indent="-171450" algn="just">
              <a:lnSpc>
                <a:spcPct val="106000"/>
              </a:lnSpc>
              <a:buFont typeface="Wingdings" panose="05000000000000000000" pitchFamily="2" charset="2"/>
              <a:buChar char="§"/>
            </a:pPr>
            <a:r>
              <a:rPr lang="en-US" sz="1400" dirty="0">
                <a:latin typeface="Calibri" panose="020F0502020204030204" pitchFamily="34" charset="0"/>
                <a:cs typeface="Calibri" panose="020F0502020204030204" pitchFamily="34" charset="0"/>
              </a:rPr>
              <a:t>Specifies roles of different agencies system operators, CTU &amp; Transmission licensees and others</a:t>
            </a:r>
          </a:p>
          <a:p>
            <a:pPr marL="171450" indent="-171450" algn="just">
              <a:lnSpc>
                <a:spcPct val="106000"/>
              </a:lnSpc>
              <a:buFont typeface="Wingdings" panose="05000000000000000000" pitchFamily="2" charset="2"/>
              <a:buChar char="§"/>
            </a:pPr>
            <a:r>
              <a:rPr lang="en-US" sz="1400" dirty="0">
                <a:latin typeface="Calibri" panose="020F0502020204030204" pitchFamily="34" charset="0"/>
                <a:cs typeface="Calibri" panose="020F0502020204030204" pitchFamily="34" charset="0"/>
              </a:rPr>
              <a:t>Specifies Timelines; Provide for congestion management- Setting relative priorities</a:t>
            </a:r>
          </a:p>
          <a:p>
            <a:pPr marL="171450" indent="-171450" algn="just">
              <a:lnSpc>
                <a:spcPct val="106000"/>
              </a:lnSpc>
              <a:buFont typeface="Wingdings" panose="05000000000000000000" pitchFamily="2" charset="2"/>
              <a:buChar char="§"/>
            </a:pPr>
            <a:r>
              <a:rPr lang="en-US" sz="1400" dirty="0">
                <a:latin typeface="Calibri" panose="020F0502020204030204" pitchFamily="34" charset="0"/>
                <a:cs typeface="Calibri" panose="020F0502020204030204" pitchFamily="34" charset="0"/>
              </a:rPr>
              <a:t>Separate procedures for ‘Day-Ahead Market (collective transactions) and OTC transactions on inherent margins</a:t>
            </a:r>
          </a:p>
        </p:txBody>
      </p:sp>
      <p:sp>
        <p:nvSpPr>
          <p:cNvPr id="45" name="Isosceles Triangle 44">
            <a:extLst>
              <a:ext uri="{FF2B5EF4-FFF2-40B4-BE49-F238E27FC236}">
                <a16:creationId xmlns:a16="http://schemas.microsoft.com/office/drawing/2014/main" id="{06900767-01E7-BFCC-4916-AE732347D215}"/>
              </a:ext>
            </a:extLst>
          </p:cNvPr>
          <p:cNvSpPr/>
          <p:nvPr/>
        </p:nvSpPr>
        <p:spPr bwMode="gray">
          <a:xfrm rot="5400000">
            <a:off x="3410406" y="1378492"/>
            <a:ext cx="803073" cy="472976"/>
          </a:xfrm>
          <a:prstGeom prst="triangle">
            <a:avLst/>
          </a:prstGeom>
          <a:solidFill>
            <a:srgbClr val="007680">
              <a:alpha val="80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2000" b="1" dirty="0">
              <a:solidFill>
                <a:schemeClr val="bg1"/>
              </a:solidFill>
              <a:latin typeface="Calibri" panose="020F0502020204030204" pitchFamily="34" charset="0"/>
              <a:cs typeface="Calibri" panose="020F0502020204030204" pitchFamily="34" charset="0"/>
            </a:endParaRPr>
          </a:p>
        </p:txBody>
      </p:sp>
      <p:sp>
        <p:nvSpPr>
          <p:cNvPr id="46" name="Rectangle: Rounded Corners 45">
            <a:extLst>
              <a:ext uri="{FF2B5EF4-FFF2-40B4-BE49-F238E27FC236}">
                <a16:creationId xmlns:a16="http://schemas.microsoft.com/office/drawing/2014/main" id="{D0FDD777-D587-6E40-E50D-0910B91C70C7}"/>
              </a:ext>
            </a:extLst>
          </p:cNvPr>
          <p:cNvSpPr/>
          <p:nvPr/>
        </p:nvSpPr>
        <p:spPr bwMode="gray">
          <a:xfrm>
            <a:off x="469903" y="2114863"/>
            <a:ext cx="3074814" cy="824481"/>
          </a:xfrm>
          <a:prstGeom prst="roundRect">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dirty="0">
                <a:solidFill>
                  <a:schemeClr val="bg1"/>
                </a:solidFill>
                <a:latin typeface="Calibri" panose="020F0502020204030204" pitchFamily="34" charset="0"/>
                <a:cs typeface="Calibri" panose="020F0502020204030204" pitchFamily="34" charset="0"/>
              </a:rPr>
              <a:t>CERC (Grant of connectivity, Long Term Access and Medium-Term Open Access) in inter state transmission Regulation, 2009</a:t>
            </a:r>
          </a:p>
        </p:txBody>
      </p:sp>
      <p:sp>
        <p:nvSpPr>
          <p:cNvPr id="47" name="Rectangle 46">
            <a:extLst>
              <a:ext uri="{FF2B5EF4-FFF2-40B4-BE49-F238E27FC236}">
                <a16:creationId xmlns:a16="http://schemas.microsoft.com/office/drawing/2014/main" id="{53285192-88D6-46C0-353E-891B795B8526}"/>
              </a:ext>
            </a:extLst>
          </p:cNvPr>
          <p:cNvSpPr/>
          <p:nvPr/>
        </p:nvSpPr>
        <p:spPr bwMode="gray">
          <a:xfrm>
            <a:off x="4079170" y="2109112"/>
            <a:ext cx="7529330" cy="829688"/>
          </a:xfrm>
          <a:prstGeom prst="rect">
            <a:avLst/>
          </a:prstGeom>
          <a:solidFill>
            <a:srgbClr val="009A44">
              <a:alpha val="10000"/>
            </a:srgbClr>
          </a:solidFill>
          <a:ln w="19050" algn="ctr">
            <a:noFill/>
            <a:miter lim="800000"/>
            <a:headEnd/>
            <a:tailEnd/>
          </a:ln>
        </p:spPr>
        <p:txBody>
          <a:bodyPr wrap="square" lIns="88900" tIns="88900" rIns="88900" bIns="88900" rtlCol="0" anchor="ctr"/>
          <a:lstStyle/>
          <a:p>
            <a:pPr marL="171450" indent="-171450" algn="just">
              <a:lnSpc>
                <a:spcPct val="106000"/>
              </a:lnSpc>
              <a:buFont typeface="Wingdings" panose="05000000000000000000" pitchFamily="2" charset="2"/>
              <a:buChar char="§"/>
            </a:pPr>
            <a:r>
              <a:rPr lang="en-US" sz="1400" dirty="0">
                <a:latin typeface="Calibri" panose="020F0502020204030204" pitchFamily="34" charset="0"/>
                <a:cs typeface="Calibri" panose="020F0502020204030204" pitchFamily="34" charset="0"/>
              </a:rPr>
              <a:t>Nodal agency for grant of Long and Medium access: CTU</a:t>
            </a:r>
          </a:p>
          <a:p>
            <a:pPr marL="171450" indent="-171450" algn="just">
              <a:lnSpc>
                <a:spcPct val="106000"/>
              </a:lnSpc>
              <a:buFont typeface="Wingdings" panose="05000000000000000000" pitchFamily="2" charset="2"/>
              <a:buChar char="§"/>
            </a:pPr>
            <a:r>
              <a:rPr lang="en-US" sz="1400" dirty="0">
                <a:latin typeface="Calibri" panose="020F0502020204030204" pitchFamily="34" charset="0"/>
                <a:cs typeface="Calibri" panose="020F0502020204030204" pitchFamily="34" charset="0"/>
              </a:rPr>
              <a:t>Defines criteria for grant of access and application procedure for medium- and long-term access</a:t>
            </a:r>
          </a:p>
        </p:txBody>
      </p:sp>
      <p:sp>
        <p:nvSpPr>
          <p:cNvPr id="48" name="Isosceles Triangle 47">
            <a:extLst>
              <a:ext uri="{FF2B5EF4-FFF2-40B4-BE49-F238E27FC236}">
                <a16:creationId xmlns:a16="http://schemas.microsoft.com/office/drawing/2014/main" id="{AFD76D25-8EE9-55B0-430E-41C0BC2A2656}"/>
              </a:ext>
            </a:extLst>
          </p:cNvPr>
          <p:cNvSpPr/>
          <p:nvPr/>
        </p:nvSpPr>
        <p:spPr bwMode="gray">
          <a:xfrm rot="5400000">
            <a:off x="3399704" y="2290071"/>
            <a:ext cx="824481" cy="472978"/>
          </a:xfrm>
          <a:prstGeom prst="triangle">
            <a:avLst/>
          </a:prstGeom>
          <a:solidFill>
            <a:srgbClr val="009A44">
              <a:alpha val="80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2000" b="1" dirty="0">
              <a:solidFill>
                <a:schemeClr val="bg1"/>
              </a:solidFill>
              <a:latin typeface="Calibri" panose="020F0502020204030204" pitchFamily="34" charset="0"/>
              <a:cs typeface="Calibri" panose="020F0502020204030204" pitchFamily="34" charset="0"/>
            </a:endParaRPr>
          </a:p>
        </p:txBody>
      </p:sp>
      <p:sp>
        <p:nvSpPr>
          <p:cNvPr id="49" name="Rectangle: Rounded Corners 48">
            <a:extLst>
              <a:ext uri="{FF2B5EF4-FFF2-40B4-BE49-F238E27FC236}">
                <a16:creationId xmlns:a16="http://schemas.microsoft.com/office/drawing/2014/main" id="{8A5F4BAD-3B32-F822-1AAB-E2DA3BDFFECD}"/>
              </a:ext>
            </a:extLst>
          </p:cNvPr>
          <p:cNvSpPr/>
          <p:nvPr/>
        </p:nvSpPr>
        <p:spPr bwMode="gray">
          <a:xfrm>
            <a:off x="478970" y="3039462"/>
            <a:ext cx="3074814" cy="823937"/>
          </a:xfrm>
          <a:prstGeom prst="roundRect">
            <a:avLst/>
          </a:prstGeom>
          <a:solidFill>
            <a:srgbClr val="00ABAB"/>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dirty="0">
                <a:solidFill>
                  <a:schemeClr val="bg1"/>
                </a:solidFill>
                <a:latin typeface="Calibri" panose="020F0502020204030204" pitchFamily="34" charset="0"/>
                <a:cs typeface="Calibri" panose="020F0502020204030204" pitchFamily="34" charset="0"/>
              </a:rPr>
              <a:t>Procedure for Scheduling STOA in</a:t>
            </a:r>
          </a:p>
          <a:p>
            <a:pPr algn="ctr">
              <a:lnSpc>
                <a:spcPct val="106000"/>
              </a:lnSpc>
              <a:buFont typeface="Wingdings 2" pitchFamily="18" charset="2"/>
              <a:buNone/>
            </a:pPr>
            <a:r>
              <a:rPr lang="en-US" sz="1400" dirty="0">
                <a:solidFill>
                  <a:schemeClr val="bg1"/>
                </a:solidFill>
                <a:latin typeface="Calibri" panose="020F0502020204030204" pitchFamily="34" charset="0"/>
                <a:cs typeface="Calibri" panose="020F0502020204030204" pitchFamily="34" charset="0"/>
              </a:rPr>
              <a:t>Interstate Transmission (Collective Transaction)</a:t>
            </a:r>
          </a:p>
        </p:txBody>
      </p:sp>
      <p:sp>
        <p:nvSpPr>
          <p:cNvPr id="50" name="Rectangle 49">
            <a:extLst>
              <a:ext uri="{FF2B5EF4-FFF2-40B4-BE49-F238E27FC236}">
                <a16:creationId xmlns:a16="http://schemas.microsoft.com/office/drawing/2014/main" id="{725D6AAA-A50B-1DA9-01E2-CFBCBDB9B14F}"/>
              </a:ext>
            </a:extLst>
          </p:cNvPr>
          <p:cNvSpPr/>
          <p:nvPr/>
        </p:nvSpPr>
        <p:spPr bwMode="gray">
          <a:xfrm>
            <a:off x="4088237" y="3038918"/>
            <a:ext cx="7529330" cy="824481"/>
          </a:xfrm>
          <a:prstGeom prst="rect">
            <a:avLst/>
          </a:prstGeom>
          <a:solidFill>
            <a:srgbClr val="00ABAB">
              <a:alpha val="10000"/>
            </a:srgbClr>
          </a:solidFill>
          <a:ln w="19050" algn="ctr">
            <a:noFill/>
            <a:miter lim="800000"/>
            <a:headEnd/>
            <a:tailEnd/>
          </a:ln>
        </p:spPr>
        <p:txBody>
          <a:bodyPr wrap="square" lIns="88900" tIns="88900" rIns="88900" bIns="88900" rtlCol="0" anchor="ctr"/>
          <a:lstStyle/>
          <a:p>
            <a:pPr marL="171450" indent="-171450" algn="just">
              <a:lnSpc>
                <a:spcPct val="106000"/>
              </a:lnSpc>
              <a:buFont typeface="Wingdings" panose="05000000000000000000" pitchFamily="2" charset="2"/>
              <a:buChar char="§"/>
            </a:pPr>
            <a:r>
              <a:rPr lang="en-US" sz="1400" dirty="0">
                <a:latin typeface="Calibri" panose="020F0502020204030204" pitchFamily="34" charset="0"/>
                <a:cs typeface="Calibri" panose="020F0502020204030204" pitchFamily="34" charset="0"/>
              </a:rPr>
              <a:t>Collective Transaction: Application procedure, treatment of losses, congestion management at PXs</a:t>
            </a:r>
          </a:p>
          <a:p>
            <a:pPr marL="171450" indent="-171450" algn="just">
              <a:lnSpc>
                <a:spcPct val="106000"/>
              </a:lnSpc>
              <a:buFont typeface="Wingdings" panose="05000000000000000000" pitchFamily="2" charset="2"/>
              <a:buChar char="§"/>
            </a:pPr>
            <a:r>
              <a:rPr lang="en-US" sz="1400" dirty="0">
                <a:latin typeface="Calibri" panose="020F0502020204030204" pitchFamily="34" charset="0"/>
                <a:cs typeface="Calibri" panose="020F0502020204030204" pitchFamily="34" charset="0"/>
              </a:rPr>
              <a:t>Bilateral Transaction: Procedure for Advance Scheduling/FCFS/Day-Ahead Bilateral/Contingency Transaction</a:t>
            </a:r>
          </a:p>
        </p:txBody>
      </p:sp>
      <p:sp>
        <p:nvSpPr>
          <p:cNvPr id="51" name="Isosceles Triangle 50">
            <a:extLst>
              <a:ext uri="{FF2B5EF4-FFF2-40B4-BE49-F238E27FC236}">
                <a16:creationId xmlns:a16="http://schemas.microsoft.com/office/drawing/2014/main" id="{E838600B-F610-95A8-A698-0995E2458EE2}"/>
              </a:ext>
            </a:extLst>
          </p:cNvPr>
          <p:cNvSpPr/>
          <p:nvPr/>
        </p:nvSpPr>
        <p:spPr bwMode="gray">
          <a:xfrm rot="5400000">
            <a:off x="3408770" y="3214670"/>
            <a:ext cx="824481" cy="472978"/>
          </a:xfrm>
          <a:prstGeom prst="triangle">
            <a:avLst/>
          </a:prstGeom>
          <a:solidFill>
            <a:srgbClr val="00ABAB">
              <a:alpha val="80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2000" b="1" dirty="0">
              <a:solidFill>
                <a:schemeClr val="bg1"/>
              </a:solidFill>
              <a:latin typeface="Calibri" panose="020F0502020204030204" pitchFamily="34" charset="0"/>
              <a:cs typeface="Calibri" panose="020F0502020204030204" pitchFamily="34" charset="0"/>
            </a:endParaRPr>
          </a:p>
        </p:txBody>
      </p:sp>
      <p:sp>
        <p:nvSpPr>
          <p:cNvPr id="52" name="Rectangle: Rounded Corners 51">
            <a:extLst>
              <a:ext uri="{FF2B5EF4-FFF2-40B4-BE49-F238E27FC236}">
                <a16:creationId xmlns:a16="http://schemas.microsoft.com/office/drawing/2014/main" id="{2E0FE266-2D5F-9767-8495-C4E5EBB4ED46}"/>
              </a:ext>
            </a:extLst>
          </p:cNvPr>
          <p:cNvSpPr/>
          <p:nvPr/>
        </p:nvSpPr>
        <p:spPr bwMode="gray">
          <a:xfrm>
            <a:off x="448132" y="3941809"/>
            <a:ext cx="3083172" cy="607948"/>
          </a:xfrm>
          <a:prstGeom prst="roundRect">
            <a:avLst/>
          </a:prstGeom>
          <a:solidFill>
            <a:srgbClr val="43B02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dirty="0">
                <a:solidFill>
                  <a:schemeClr val="bg1"/>
                </a:solidFill>
                <a:latin typeface="Calibri" panose="020F0502020204030204" pitchFamily="34" charset="0"/>
                <a:cs typeface="Calibri" panose="020F0502020204030204" pitchFamily="34" charset="0"/>
              </a:rPr>
              <a:t>National Tariff Policy, 2016</a:t>
            </a:r>
          </a:p>
        </p:txBody>
      </p:sp>
      <p:sp>
        <p:nvSpPr>
          <p:cNvPr id="53" name="Rectangle 52">
            <a:extLst>
              <a:ext uri="{FF2B5EF4-FFF2-40B4-BE49-F238E27FC236}">
                <a16:creationId xmlns:a16="http://schemas.microsoft.com/office/drawing/2014/main" id="{6F621A35-005E-2B34-8C57-5098D98D9913}"/>
              </a:ext>
            </a:extLst>
          </p:cNvPr>
          <p:cNvSpPr/>
          <p:nvPr/>
        </p:nvSpPr>
        <p:spPr bwMode="gray">
          <a:xfrm>
            <a:off x="4088237" y="3961746"/>
            <a:ext cx="7529330" cy="556173"/>
          </a:xfrm>
          <a:prstGeom prst="rect">
            <a:avLst/>
          </a:prstGeom>
          <a:solidFill>
            <a:srgbClr val="43B02A">
              <a:alpha val="10000"/>
            </a:srgbClr>
          </a:solidFill>
          <a:ln w="19050" algn="ctr">
            <a:noFill/>
            <a:miter lim="800000"/>
            <a:headEnd/>
            <a:tailEnd/>
          </a:ln>
        </p:spPr>
        <p:txBody>
          <a:bodyPr wrap="square" lIns="88900" tIns="88900" rIns="88900" bIns="88900" rtlCol="0" anchor="ctr"/>
          <a:lstStyle/>
          <a:p>
            <a:pPr marL="171450" indent="-171450" algn="just">
              <a:lnSpc>
                <a:spcPct val="106000"/>
              </a:lnSpc>
              <a:buFont typeface="Wingdings" panose="05000000000000000000" pitchFamily="2" charset="2"/>
              <a:buChar char="§"/>
            </a:pPr>
            <a:r>
              <a:rPr lang="en-US" sz="1400" dirty="0">
                <a:latin typeface="Calibri" panose="020F0502020204030204" pitchFamily="34" charset="0"/>
                <a:cs typeface="Calibri" panose="020F0502020204030204" pitchFamily="34" charset="0"/>
              </a:rPr>
              <a:t>Define formula for computation of Cross Subsidy Surcharge (CSS) and additional Surcharge for OA Consumer (Surcharge shall not exceed 20% of tariff applicable to category of consumer)</a:t>
            </a:r>
          </a:p>
        </p:txBody>
      </p:sp>
      <p:sp>
        <p:nvSpPr>
          <p:cNvPr id="54" name="Isosceles Triangle 53">
            <a:extLst>
              <a:ext uri="{FF2B5EF4-FFF2-40B4-BE49-F238E27FC236}">
                <a16:creationId xmlns:a16="http://schemas.microsoft.com/office/drawing/2014/main" id="{6156E243-AEBA-2423-DF45-0EE5CFEACB94}"/>
              </a:ext>
            </a:extLst>
          </p:cNvPr>
          <p:cNvSpPr/>
          <p:nvPr/>
        </p:nvSpPr>
        <p:spPr bwMode="gray">
          <a:xfrm rot="5400000">
            <a:off x="3521153" y="4003345"/>
            <a:ext cx="556172" cy="472978"/>
          </a:xfrm>
          <a:prstGeom prst="triangle">
            <a:avLst/>
          </a:prstGeom>
          <a:solidFill>
            <a:srgbClr val="43B02A">
              <a:alpha val="80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2000" b="1" dirty="0">
              <a:solidFill>
                <a:schemeClr val="bg1"/>
              </a:solidFill>
              <a:latin typeface="Calibri" panose="020F0502020204030204" pitchFamily="34" charset="0"/>
              <a:cs typeface="Calibri" panose="020F0502020204030204" pitchFamily="34" charset="0"/>
            </a:endParaRPr>
          </a:p>
        </p:txBody>
      </p:sp>
      <p:sp>
        <p:nvSpPr>
          <p:cNvPr id="55" name="Rectangle: Rounded Corners 54">
            <a:extLst>
              <a:ext uri="{FF2B5EF4-FFF2-40B4-BE49-F238E27FC236}">
                <a16:creationId xmlns:a16="http://schemas.microsoft.com/office/drawing/2014/main" id="{97B99477-2C77-5DF8-EE0F-7E4194817CF3}"/>
              </a:ext>
            </a:extLst>
          </p:cNvPr>
          <p:cNvSpPr/>
          <p:nvPr/>
        </p:nvSpPr>
        <p:spPr bwMode="gray">
          <a:xfrm>
            <a:off x="460837" y="4648103"/>
            <a:ext cx="3083172" cy="964962"/>
          </a:xfrm>
          <a:prstGeom prst="roundRect">
            <a:avLst/>
          </a:prstGeom>
          <a:solidFill>
            <a:schemeClr val="tx1">
              <a:lumMod val="65000"/>
              <a:lumOff val="3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dirty="0">
                <a:solidFill>
                  <a:schemeClr val="bg1"/>
                </a:solidFill>
                <a:latin typeface="Calibri" panose="020F0502020204030204" pitchFamily="34" charset="0"/>
                <a:cs typeface="Calibri" panose="020F0502020204030204" pitchFamily="34" charset="0"/>
              </a:rPr>
              <a:t>CERC (Connectivity and General Network Access to the inter-State Transmission System) Regulations, 2022</a:t>
            </a:r>
          </a:p>
        </p:txBody>
      </p:sp>
      <p:sp>
        <p:nvSpPr>
          <p:cNvPr id="56" name="Rectangle 55">
            <a:extLst>
              <a:ext uri="{FF2B5EF4-FFF2-40B4-BE49-F238E27FC236}">
                <a16:creationId xmlns:a16="http://schemas.microsoft.com/office/drawing/2014/main" id="{A4A0BBC5-66B3-69A4-7FBB-9F3933401AB4}"/>
              </a:ext>
            </a:extLst>
          </p:cNvPr>
          <p:cNvSpPr/>
          <p:nvPr/>
        </p:nvSpPr>
        <p:spPr bwMode="gray">
          <a:xfrm>
            <a:off x="4100942" y="4668041"/>
            <a:ext cx="7529330" cy="945025"/>
          </a:xfrm>
          <a:prstGeom prst="rect">
            <a:avLst/>
          </a:prstGeom>
          <a:solidFill>
            <a:schemeClr val="bg1">
              <a:lumMod val="50000"/>
              <a:alpha val="10000"/>
            </a:schemeClr>
          </a:solidFill>
          <a:ln w="19050" algn="ctr">
            <a:noFill/>
            <a:miter lim="800000"/>
            <a:headEnd/>
            <a:tailEnd/>
          </a:ln>
        </p:spPr>
        <p:txBody>
          <a:bodyPr wrap="square" lIns="88900" tIns="88900" rIns="88900" bIns="88900" rtlCol="0" anchor="ctr"/>
          <a:lstStyle/>
          <a:p>
            <a:pPr marL="171450" indent="-171450" algn="just">
              <a:lnSpc>
                <a:spcPct val="106000"/>
              </a:lnSpc>
              <a:buFont typeface="Wingdings" panose="05000000000000000000" pitchFamily="2" charset="2"/>
              <a:buChar char="§"/>
            </a:pPr>
            <a:r>
              <a:rPr lang="en-US" sz="1400" dirty="0">
                <a:latin typeface="Calibri" panose="020F0502020204030204" pitchFamily="34" charset="0"/>
                <a:cs typeface="Calibri" panose="020F0502020204030204" pitchFamily="34" charset="0"/>
              </a:rPr>
              <a:t>Facilitates non-discriminatory access to the ISTS for licensees, generating companies, and consumers. </a:t>
            </a:r>
          </a:p>
          <a:p>
            <a:pPr marL="171450" indent="-171450" algn="just">
              <a:lnSpc>
                <a:spcPct val="106000"/>
              </a:lnSpc>
              <a:buFont typeface="Wingdings" panose="05000000000000000000" pitchFamily="2" charset="2"/>
              <a:buChar char="§"/>
            </a:pPr>
            <a:r>
              <a:rPr lang="en-US" sz="1400" dirty="0">
                <a:latin typeface="Calibri" panose="020F0502020204030204" pitchFamily="34" charset="0"/>
                <a:cs typeface="Calibri" panose="020F0502020204030204" pitchFamily="34" charset="0"/>
              </a:rPr>
              <a:t>They provide generators with open access rights without requiring them to specify the injection point and </a:t>
            </a:r>
            <a:r>
              <a:rPr lang="en-US" sz="1400" dirty="0" err="1">
                <a:latin typeface="Calibri" panose="020F0502020204030204" pitchFamily="34" charset="0"/>
                <a:cs typeface="Calibri" panose="020F0502020204030204" pitchFamily="34" charset="0"/>
              </a:rPr>
              <a:t>drawal</a:t>
            </a:r>
            <a:r>
              <a:rPr lang="en-US" sz="1400" dirty="0">
                <a:latin typeface="Calibri" panose="020F0502020204030204" pitchFamily="34" charset="0"/>
                <a:cs typeface="Calibri" panose="020F0502020204030204" pitchFamily="34" charset="0"/>
              </a:rPr>
              <a:t> point.</a:t>
            </a:r>
          </a:p>
        </p:txBody>
      </p:sp>
      <p:sp>
        <p:nvSpPr>
          <p:cNvPr id="57" name="Isosceles Triangle 56">
            <a:extLst>
              <a:ext uri="{FF2B5EF4-FFF2-40B4-BE49-F238E27FC236}">
                <a16:creationId xmlns:a16="http://schemas.microsoft.com/office/drawing/2014/main" id="{8659F141-D418-B93A-0D03-F176AAFEC67E}"/>
              </a:ext>
            </a:extLst>
          </p:cNvPr>
          <p:cNvSpPr/>
          <p:nvPr/>
        </p:nvSpPr>
        <p:spPr bwMode="gray">
          <a:xfrm rot="5400000">
            <a:off x="3339432" y="4904065"/>
            <a:ext cx="945024" cy="472978"/>
          </a:xfrm>
          <a:prstGeom prst="triangle">
            <a:avLst/>
          </a:prstGeom>
          <a:solidFill>
            <a:schemeClr val="tx1">
              <a:lumMod val="65000"/>
              <a:lumOff val="3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2000" b="1" dirty="0">
              <a:solidFill>
                <a:schemeClr val="bg1"/>
              </a:solidFill>
              <a:latin typeface="Calibri" panose="020F0502020204030204" pitchFamily="34" charset="0"/>
              <a:cs typeface="Calibri" panose="020F0502020204030204" pitchFamily="34" charset="0"/>
            </a:endParaRPr>
          </a:p>
        </p:txBody>
      </p:sp>
      <p:sp>
        <p:nvSpPr>
          <p:cNvPr id="58" name="Rectangle: Rounded Corners 57">
            <a:extLst>
              <a:ext uri="{FF2B5EF4-FFF2-40B4-BE49-F238E27FC236}">
                <a16:creationId xmlns:a16="http://schemas.microsoft.com/office/drawing/2014/main" id="{4430B41D-6DB2-4A93-C55D-3B45A5B01483}"/>
              </a:ext>
            </a:extLst>
          </p:cNvPr>
          <p:cNvSpPr/>
          <p:nvPr/>
        </p:nvSpPr>
        <p:spPr bwMode="gray">
          <a:xfrm>
            <a:off x="460837" y="5711410"/>
            <a:ext cx="3083172" cy="964962"/>
          </a:xfrm>
          <a:prstGeom prst="roundRect">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dirty="0">
                <a:latin typeface="Calibri" panose="020F0502020204030204" pitchFamily="34" charset="0"/>
                <a:cs typeface="Calibri" panose="020F0502020204030204" pitchFamily="34" charset="0"/>
              </a:rPr>
              <a:t>Detailed Procedure for Connectivity and General Network Access (GNA) to the ISTS </a:t>
            </a:r>
          </a:p>
        </p:txBody>
      </p:sp>
      <p:sp>
        <p:nvSpPr>
          <p:cNvPr id="59" name="Rectangle 58">
            <a:extLst>
              <a:ext uri="{FF2B5EF4-FFF2-40B4-BE49-F238E27FC236}">
                <a16:creationId xmlns:a16="http://schemas.microsoft.com/office/drawing/2014/main" id="{F87FBF6A-3C50-43D8-EFE8-669C95991964}"/>
              </a:ext>
            </a:extLst>
          </p:cNvPr>
          <p:cNvSpPr/>
          <p:nvPr/>
        </p:nvSpPr>
        <p:spPr bwMode="gray">
          <a:xfrm>
            <a:off x="4100942" y="5731348"/>
            <a:ext cx="7529330" cy="945025"/>
          </a:xfrm>
          <a:prstGeom prst="rect">
            <a:avLst/>
          </a:prstGeom>
          <a:solidFill>
            <a:srgbClr val="C4D600">
              <a:alpha val="10000"/>
            </a:srgbClr>
          </a:solidFill>
          <a:ln w="19050" algn="ctr">
            <a:noFill/>
            <a:miter lim="800000"/>
            <a:headEnd/>
            <a:tailEnd/>
          </a:ln>
        </p:spPr>
        <p:txBody>
          <a:bodyPr wrap="square" lIns="88900" tIns="88900" rIns="88900" bIns="88900" rtlCol="0" anchor="ctr"/>
          <a:lstStyle/>
          <a:p>
            <a:pPr marL="171450" indent="-171450" algn="just">
              <a:lnSpc>
                <a:spcPct val="106000"/>
              </a:lnSpc>
              <a:buFont typeface="Wingdings" panose="05000000000000000000" pitchFamily="2" charset="2"/>
              <a:buChar char="§"/>
            </a:pPr>
            <a:r>
              <a:rPr lang="en-US" sz="1400" dirty="0">
                <a:latin typeface="Calibri" panose="020F0502020204030204" pitchFamily="34" charset="0"/>
                <a:cs typeface="Calibri" panose="020F0502020204030204" pitchFamily="34" charset="0"/>
              </a:rPr>
              <a:t>Applicable to the processing of applications made by the applicants for Grant of Connectivity and/or General Network Access (GNA) to the Inter-State Transmission System (ISTS), received by the Central Transmission Utility (CTU) or any other actions in accordance with GNA Regulations.</a:t>
            </a:r>
          </a:p>
        </p:txBody>
      </p:sp>
      <p:sp>
        <p:nvSpPr>
          <p:cNvPr id="60" name="Isosceles Triangle 59">
            <a:extLst>
              <a:ext uri="{FF2B5EF4-FFF2-40B4-BE49-F238E27FC236}">
                <a16:creationId xmlns:a16="http://schemas.microsoft.com/office/drawing/2014/main" id="{86C0CE37-69AE-52DD-BC0C-B8B30173E84C}"/>
              </a:ext>
            </a:extLst>
          </p:cNvPr>
          <p:cNvSpPr/>
          <p:nvPr/>
        </p:nvSpPr>
        <p:spPr bwMode="gray">
          <a:xfrm rot="5400000">
            <a:off x="3339432" y="5967373"/>
            <a:ext cx="945024" cy="472978"/>
          </a:xfrm>
          <a:prstGeom prst="triangle">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2000" b="1" dirty="0">
              <a:solidFill>
                <a:schemeClr val="bg1"/>
              </a:solidFill>
              <a:latin typeface="Calibri" panose="020F0502020204030204" pitchFamily="34" charset="0"/>
              <a:cs typeface="Calibri" panose="020F0502020204030204" pitchFamily="34" charset="0"/>
            </a:endParaRPr>
          </a:p>
        </p:txBody>
      </p:sp>
      <p:sp>
        <p:nvSpPr>
          <p:cNvPr id="61" name="TextBox 60">
            <a:extLst>
              <a:ext uri="{FF2B5EF4-FFF2-40B4-BE49-F238E27FC236}">
                <a16:creationId xmlns:a16="http://schemas.microsoft.com/office/drawing/2014/main" id="{F637FE31-3F07-48A2-D71C-A44CA41A8FDF}"/>
              </a:ext>
            </a:extLst>
          </p:cNvPr>
          <p:cNvSpPr txBox="1"/>
          <p:nvPr/>
        </p:nvSpPr>
        <p:spPr>
          <a:xfrm>
            <a:off x="469898" y="736689"/>
            <a:ext cx="11252200" cy="430887"/>
          </a:xfrm>
          <a:prstGeom prst="rect">
            <a:avLst/>
          </a:prstGeom>
          <a:noFill/>
        </p:spPr>
        <p:txBody>
          <a:bodyPr wrap="square">
            <a:spAutoFit/>
          </a:bodyPr>
          <a:lstStyle/>
          <a:p>
            <a:r>
              <a:rPr lang="en-US" sz="2200" i="1" dirty="0">
                <a:latin typeface="Calibri" panose="020F0502020204030204" pitchFamily="34" charset="0"/>
                <a:cs typeface="Calibri" panose="020F0502020204030204" pitchFamily="34" charset="0"/>
              </a:rPr>
              <a:t>CERC/MOP Regulations related to Open Access</a:t>
            </a:r>
          </a:p>
        </p:txBody>
      </p:sp>
    </p:spTree>
    <p:extLst>
      <p:ext uri="{BB962C8B-B14F-4D97-AF65-F5344CB8AC3E}">
        <p14:creationId xmlns:p14="http://schemas.microsoft.com/office/powerpoint/2010/main" val="14496354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8A6D4-AA94-B52D-52DA-E0B2BD132829}"/>
            </a:ext>
          </a:extLst>
        </p:cNvPr>
        <p:cNvGrpSpPr/>
        <p:nvPr/>
      </p:nvGrpSpPr>
      <p:grpSpPr>
        <a:xfrm>
          <a:off x="0" y="0"/>
          <a:ext cx="0" cy="0"/>
          <a:chOff x="0" y="0"/>
          <a:chExt cx="0" cy="0"/>
        </a:xfrm>
      </p:grpSpPr>
      <p:graphicFrame>
        <p:nvGraphicFramePr>
          <p:cNvPr id="87" name="think-cell data - do not delete" hidden="1">
            <a:extLst>
              <a:ext uri="{FF2B5EF4-FFF2-40B4-BE49-F238E27FC236}">
                <a16:creationId xmlns:a16="http://schemas.microsoft.com/office/drawing/2014/main" id="{1020FF40-6274-A400-A3A3-A64817CA3B64}"/>
              </a:ext>
            </a:extLst>
          </p:cNvPr>
          <p:cNvGraphicFramePr>
            <a:graphicFrameLocks noChangeAspect="1"/>
          </p:cNvGraphicFramePr>
          <p:nvPr>
            <p:custDataLst>
              <p:tags r:id="rId1"/>
            </p:custDataLst>
            <p:extLst>
              <p:ext uri="{D42A27DB-BD31-4B8C-83A1-F6EECF244321}">
                <p14:modId xmlns:p14="http://schemas.microsoft.com/office/powerpoint/2010/main" val="11339766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87" name="think-cell data - do not delete" hidden="1">
                        <a:extLst>
                          <a:ext uri="{FF2B5EF4-FFF2-40B4-BE49-F238E27FC236}">
                            <a16:creationId xmlns:a16="http://schemas.microsoft.com/office/drawing/2014/main" id="{58D9C355-B580-C691-0427-69549C9EE97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0" name="Title 2">
            <a:extLst>
              <a:ext uri="{FF2B5EF4-FFF2-40B4-BE49-F238E27FC236}">
                <a16:creationId xmlns:a16="http://schemas.microsoft.com/office/drawing/2014/main" id="{B0230A12-6114-521C-B2D7-968B85E9781E}"/>
              </a:ext>
            </a:extLst>
          </p:cNvPr>
          <p:cNvSpPr>
            <a:spLocks noGrp="1"/>
          </p:cNvSpPr>
          <p:nvPr>
            <p:ph type="title"/>
          </p:nvPr>
        </p:nvSpPr>
        <p:spPr>
          <a:xfrm>
            <a:off x="469902" y="402587"/>
            <a:ext cx="11252200" cy="334102"/>
          </a:xfrm>
        </p:spPr>
        <p:txBody>
          <a:bodyPr vert="horz">
            <a:noAutofit/>
          </a:bodyPr>
          <a:lstStyle/>
          <a:p>
            <a:r>
              <a:rPr lang="en-US" sz="2800" b="1" dirty="0">
                <a:latin typeface="Calibri" panose="020F0502020204030204" pitchFamily="34" charset="0"/>
                <a:cs typeface="Calibri" panose="020F0502020204030204" pitchFamily="34" charset="0"/>
              </a:rPr>
              <a:t>Typical process for open access in states in India (1/2)</a:t>
            </a:r>
          </a:p>
        </p:txBody>
      </p:sp>
      <p:sp>
        <p:nvSpPr>
          <p:cNvPr id="4" name="TextBox 3">
            <a:extLst>
              <a:ext uri="{FF2B5EF4-FFF2-40B4-BE49-F238E27FC236}">
                <a16:creationId xmlns:a16="http://schemas.microsoft.com/office/drawing/2014/main" id="{55F3ED2A-16AA-996C-E1AE-88C1530651E8}"/>
              </a:ext>
            </a:extLst>
          </p:cNvPr>
          <p:cNvSpPr txBox="1"/>
          <p:nvPr/>
        </p:nvSpPr>
        <p:spPr>
          <a:xfrm>
            <a:off x="469902" y="1000312"/>
            <a:ext cx="11252200" cy="769441"/>
          </a:xfrm>
          <a:prstGeom prst="rect">
            <a:avLst/>
          </a:prstGeom>
          <a:noFill/>
        </p:spPr>
        <p:txBody>
          <a:bodyPr wrap="square">
            <a:spAutoFit/>
          </a:bodyPr>
          <a:lstStyle/>
          <a:p>
            <a:r>
              <a:rPr lang="en-US" sz="2200" i="1" dirty="0">
                <a:latin typeface="Calibri" panose="020F0502020204030204" pitchFamily="34" charset="0"/>
                <a:cs typeface="Calibri" panose="020F0502020204030204" pitchFamily="34" charset="0"/>
              </a:rPr>
              <a:t>In India, depending on the duration of open access, applications are processed either by the system operator or the transmission utility</a:t>
            </a:r>
          </a:p>
        </p:txBody>
      </p:sp>
      <p:grpSp>
        <p:nvGrpSpPr>
          <p:cNvPr id="144" name="Group 143">
            <a:extLst>
              <a:ext uri="{FF2B5EF4-FFF2-40B4-BE49-F238E27FC236}">
                <a16:creationId xmlns:a16="http://schemas.microsoft.com/office/drawing/2014/main" id="{9BB262A4-DAED-672E-D3A6-5959DDC36391}"/>
              </a:ext>
            </a:extLst>
          </p:cNvPr>
          <p:cNvGrpSpPr/>
          <p:nvPr/>
        </p:nvGrpSpPr>
        <p:grpSpPr>
          <a:xfrm>
            <a:off x="1795186" y="1982691"/>
            <a:ext cx="8799560" cy="4417828"/>
            <a:chOff x="1795186" y="1982691"/>
            <a:chExt cx="8799560" cy="4417828"/>
          </a:xfrm>
        </p:grpSpPr>
        <p:sp>
          <p:nvSpPr>
            <p:cNvPr id="56" name="object 6">
              <a:extLst>
                <a:ext uri="{FF2B5EF4-FFF2-40B4-BE49-F238E27FC236}">
                  <a16:creationId xmlns:a16="http://schemas.microsoft.com/office/drawing/2014/main" id="{0A00406F-6396-4B9D-7764-17A3B4C7072D}"/>
                </a:ext>
              </a:extLst>
            </p:cNvPr>
            <p:cNvSpPr txBox="1"/>
            <p:nvPr/>
          </p:nvSpPr>
          <p:spPr>
            <a:xfrm>
              <a:off x="1972302" y="2178778"/>
              <a:ext cx="1359848" cy="602384"/>
            </a:xfrm>
            <a:prstGeom prst="rect">
              <a:avLst/>
            </a:prstGeom>
          </p:spPr>
          <p:txBody>
            <a:bodyPr vert="horz" wrap="square" lIns="0" tIns="44489" rIns="0" bIns="0" rtlCol="0">
              <a:spAutoFit/>
            </a:bodyPr>
            <a:lstStyle/>
            <a:p>
              <a:pPr marL="16788" marR="6715" indent="17628" algn="just">
                <a:lnSpc>
                  <a:spcPct val="87100"/>
                </a:lnSpc>
                <a:spcBef>
                  <a:spcPts val="350"/>
                </a:spcBef>
              </a:pPr>
              <a:r>
                <a:rPr sz="1388" dirty="0">
                  <a:latin typeface="Gill Sans MT"/>
                  <a:cs typeface="Gill Sans MT"/>
                </a:rPr>
                <a:t>Generator</a:t>
              </a:r>
              <a:r>
                <a:rPr sz="1388" spc="-46" dirty="0">
                  <a:latin typeface="Gill Sans MT"/>
                  <a:cs typeface="Gill Sans MT"/>
                </a:rPr>
                <a:t> </a:t>
              </a:r>
              <a:r>
                <a:rPr sz="1388" spc="-13" dirty="0">
                  <a:latin typeface="Gill Sans MT"/>
                  <a:cs typeface="Gill Sans MT"/>
                </a:rPr>
                <a:t>applies </a:t>
              </a:r>
              <a:r>
                <a:rPr sz="1388" dirty="0">
                  <a:latin typeface="Gill Sans MT"/>
                  <a:cs typeface="Gill Sans MT"/>
                </a:rPr>
                <a:t>for</a:t>
              </a:r>
              <a:r>
                <a:rPr sz="1388" spc="-20" dirty="0">
                  <a:latin typeface="Gill Sans MT"/>
                  <a:cs typeface="Gill Sans MT"/>
                </a:rPr>
                <a:t> </a:t>
              </a:r>
              <a:r>
                <a:rPr sz="1388" dirty="0">
                  <a:latin typeface="Gill Sans MT"/>
                  <a:cs typeface="Gill Sans MT"/>
                </a:rPr>
                <a:t>connectivity</a:t>
              </a:r>
              <a:r>
                <a:rPr sz="1388" spc="-46" dirty="0">
                  <a:latin typeface="Gill Sans MT"/>
                  <a:cs typeface="Gill Sans MT"/>
                </a:rPr>
                <a:t> </a:t>
              </a:r>
              <a:r>
                <a:rPr sz="1388" spc="-33" dirty="0">
                  <a:latin typeface="Gill Sans MT"/>
                  <a:cs typeface="Gill Sans MT"/>
                </a:rPr>
                <a:t>to </a:t>
              </a:r>
              <a:r>
                <a:rPr sz="1388" dirty="0">
                  <a:latin typeface="Gill Sans MT"/>
                  <a:cs typeface="Gill Sans MT"/>
                </a:rPr>
                <a:t>transmission</a:t>
              </a:r>
              <a:r>
                <a:rPr sz="1388" spc="-33" dirty="0">
                  <a:latin typeface="Gill Sans MT"/>
                  <a:cs typeface="Gill Sans MT"/>
                </a:rPr>
                <a:t> </a:t>
              </a:r>
              <a:r>
                <a:rPr sz="1388" spc="-26" dirty="0">
                  <a:latin typeface="Gill Sans MT"/>
                  <a:cs typeface="Gill Sans MT"/>
                </a:rPr>
                <a:t>line</a:t>
              </a:r>
              <a:endParaRPr sz="1388">
                <a:latin typeface="Gill Sans MT"/>
                <a:cs typeface="Gill Sans MT"/>
              </a:endParaRPr>
            </a:p>
          </p:txBody>
        </p:sp>
        <p:grpSp>
          <p:nvGrpSpPr>
            <p:cNvPr id="57" name="object 7">
              <a:extLst>
                <a:ext uri="{FF2B5EF4-FFF2-40B4-BE49-F238E27FC236}">
                  <a16:creationId xmlns:a16="http://schemas.microsoft.com/office/drawing/2014/main" id="{40126C72-F885-6041-7861-6AEC3F33A754}"/>
                </a:ext>
              </a:extLst>
            </p:cNvPr>
            <p:cNvGrpSpPr/>
            <p:nvPr/>
          </p:nvGrpSpPr>
          <p:grpSpPr>
            <a:xfrm>
              <a:off x="3644245" y="1982691"/>
              <a:ext cx="2230319" cy="1045069"/>
              <a:chOff x="2717292" y="1499869"/>
              <a:chExt cx="1687195" cy="790575"/>
            </a:xfrm>
          </p:grpSpPr>
          <p:sp>
            <p:nvSpPr>
              <p:cNvPr id="58" name="object 8">
                <a:extLst>
                  <a:ext uri="{FF2B5EF4-FFF2-40B4-BE49-F238E27FC236}">
                    <a16:creationId xmlns:a16="http://schemas.microsoft.com/office/drawing/2014/main" id="{B2A0390D-1C69-2419-B070-4329DA3557A7}"/>
                  </a:ext>
                </a:extLst>
              </p:cNvPr>
              <p:cNvSpPr/>
              <p:nvPr/>
            </p:nvSpPr>
            <p:spPr>
              <a:xfrm>
                <a:off x="2717292" y="1737359"/>
                <a:ext cx="271780" cy="315595"/>
              </a:xfrm>
              <a:custGeom>
                <a:avLst/>
                <a:gdLst/>
                <a:ahLst/>
                <a:cxnLst/>
                <a:rect l="l" t="t" r="r" b="b"/>
                <a:pathLst>
                  <a:path w="271780" h="315594">
                    <a:moveTo>
                      <a:pt x="135635" y="0"/>
                    </a:moveTo>
                    <a:lnTo>
                      <a:pt x="135635" y="63118"/>
                    </a:lnTo>
                    <a:lnTo>
                      <a:pt x="0" y="63118"/>
                    </a:lnTo>
                    <a:lnTo>
                      <a:pt x="0" y="252349"/>
                    </a:lnTo>
                    <a:lnTo>
                      <a:pt x="135635" y="252349"/>
                    </a:lnTo>
                    <a:lnTo>
                      <a:pt x="135635" y="315468"/>
                    </a:lnTo>
                    <a:lnTo>
                      <a:pt x="271271" y="157734"/>
                    </a:lnTo>
                    <a:lnTo>
                      <a:pt x="135635" y="0"/>
                    </a:lnTo>
                    <a:close/>
                  </a:path>
                </a:pathLst>
              </a:custGeom>
              <a:solidFill>
                <a:srgbClr val="AAACB9"/>
              </a:solidFill>
            </p:spPr>
            <p:txBody>
              <a:bodyPr wrap="square" lIns="0" tIns="0" rIns="0" bIns="0" rtlCol="0"/>
              <a:lstStyle/>
              <a:p>
                <a:endParaRPr sz="2379"/>
              </a:p>
            </p:txBody>
          </p:sp>
          <p:sp>
            <p:nvSpPr>
              <p:cNvPr id="59" name="object 9">
                <a:extLst>
                  <a:ext uri="{FF2B5EF4-FFF2-40B4-BE49-F238E27FC236}">
                    <a16:creationId xmlns:a16="http://schemas.microsoft.com/office/drawing/2014/main" id="{32642F54-0379-F47A-EB54-5B897DE52EDE}"/>
                  </a:ext>
                </a:extLst>
              </p:cNvPr>
              <p:cNvSpPr/>
              <p:nvPr/>
            </p:nvSpPr>
            <p:spPr>
              <a:xfrm>
                <a:off x="3117342" y="1512569"/>
                <a:ext cx="1274445" cy="765175"/>
              </a:xfrm>
              <a:custGeom>
                <a:avLst/>
                <a:gdLst/>
                <a:ahLst/>
                <a:cxnLst/>
                <a:rect l="l" t="t" r="r" b="b"/>
                <a:pathLst>
                  <a:path w="1274445" h="765175">
                    <a:moveTo>
                      <a:pt x="1197609" y="0"/>
                    </a:moveTo>
                    <a:lnTo>
                      <a:pt x="76453" y="0"/>
                    </a:lnTo>
                    <a:lnTo>
                      <a:pt x="46720" y="6016"/>
                    </a:lnTo>
                    <a:lnTo>
                      <a:pt x="22415" y="22415"/>
                    </a:lnTo>
                    <a:lnTo>
                      <a:pt x="6016" y="46720"/>
                    </a:lnTo>
                    <a:lnTo>
                      <a:pt x="0" y="76453"/>
                    </a:lnTo>
                    <a:lnTo>
                      <a:pt x="0" y="688594"/>
                    </a:lnTo>
                    <a:lnTo>
                      <a:pt x="6016" y="718327"/>
                    </a:lnTo>
                    <a:lnTo>
                      <a:pt x="22415" y="742632"/>
                    </a:lnTo>
                    <a:lnTo>
                      <a:pt x="46720" y="759031"/>
                    </a:lnTo>
                    <a:lnTo>
                      <a:pt x="76453" y="765047"/>
                    </a:lnTo>
                    <a:lnTo>
                      <a:pt x="1197609" y="765047"/>
                    </a:lnTo>
                    <a:lnTo>
                      <a:pt x="1227343" y="759031"/>
                    </a:lnTo>
                    <a:lnTo>
                      <a:pt x="1251648" y="742632"/>
                    </a:lnTo>
                    <a:lnTo>
                      <a:pt x="1268047" y="718327"/>
                    </a:lnTo>
                    <a:lnTo>
                      <a:pt x="1274063" y="688594"/>
                    </a:lnTo>
                    <a:lnTo>
                      <a:pt x="1274063" y="76453"/>
                    </a:lnTo>
                    <a:lnTo>
                      <a:pt x="1268047" y="46720"/>
                    </a:lnTo>
                    <a:lnTo>
                      <a:pt x="1251648" y="22415"/>
                    </a:lnTo>
                    <a:lnTo>
                      <a:pt x="1227343" y="6016"/>
                    </a:lnTo>
                    <a:lnTo>
                      <a:pt x="1197609" y="0"/>
                    </a:lnTo>
                    <a:close/>
                  </a:path>
                </a:pathLst>
              </a:custGeom>
              <a:solidFill>
                <a:srgbClr val="FFFFFF"/>
              </a:solidFill>
            </p:spPr>
            <p:txBody>
              <a:bodyPr wrap="square" lIns="0" tIns="0" rIns="0" bIns="0" rtlCol="0"/>
              <a:lstStyle/>
              <a:p>
                <a:endParaRPr sz="2379" dirty="0"/>
              </a:p>
            </p:txBody>
          </p:sp>
          <p:sp>
            <p:nvSpPr>
              <p:cNvPr id="60" name="object 10">
                <a:extLst>
                  <a:ext uri="{FF2B5EF4-FFF2-40B4-BE49-F238E27FC236}">
                    <a16:creationId xmlns:a16="http://schemas.microsoft.com/office/drawing/2014/main" id="{790FBE23-4EEF-46F5-4521-BC3F07966A7A}"/>
                  </a:ext>
                </a:extLst>
              </p:cNvPr>
              <p:cNvSpPr/>
              <p:nvPr/>
            </p:nvSpPr>
            <p:spPr>
              <a:xfrm>
                <a:off x="3117342" y="1512569"/>
                <a:ext cx="1274445" cy="765175"/>
              </a:xfrm>
              <a:custGeom>
                <a:avLst/>
                <a:gdLst/>
                <a:ahLst/>
                <a:cxnLst/>
                <a:rect l="l" t="t" r="r" b="b"/>
                <a:pathLst>
                  <a:path w="1274445" h="765175">
                    <a:moveTo>
                      <a:pt x="0" y="76453"/>
                    </a:moveTo>
                    <a:lnTo>
                      <a:pt x="6016" y="46720"/>
                    </a:lnTo>
                    <a:lnTo>
                      <a:pt x="22415" y="22415"/>
                    </a:lnTo>
                    <a:lnTo>
                      <a:pt x="46720" y="6016"/>
                    </a:lnTo>
                    <a:lnTo>
                      <a:pt x="76453" y="0"/>
                    </a:lnTo>
                    <a:lnTo>
                      <a:pt x="1197609" y="0"/>
                    </a:lnTo>
                    <a:lnTo>
                      <a:pt x="1227343" y="6016"/>
                    </a:lnTo>
                    <a:lnTo>
                      <a:pt x="1251648" y="22415"/>
                    </a:lnTo>
                    <a:lnTo>
                      <a:pt x="1268047" y="46720"/>
                    </a:lnTo>
                    <a:lnTo>
                      <a:pt x="1274063" y="76453"/>
                    </a:lnTo>
                    <a:lnTo>
                      <a:pt x="1274063" y="688594"/>
                    </a:lnTo>
                    <a:lnTo>
                      <a:pt x="1268047" y="718327"/>
                    </a:lnTo>
                    <a:lnTo>
                      <a:pt x="1251648" y="742632"/>
                    </a:lnTo>
                    <a:lnTo>
                      <a:pt x="1227343" y="759031"/>
                    </a:lnTo>
                    <a:lnTo>
                      <a:pt x="1197609" y="765047"/>
                    </a:lnTo>
                    <a:lnTo>
                      <a:pt x="76453" y="765047"/>
                    </a:lnTo>
                    <a:lnTo>
                      <a:pt x="46720" y="759031"/>
                    </a:lnTo>
                    <a:lnTo>
                      <a:pt x="22415" y="742632"/>
                    </a:lnTo>
                    <a:lnTo>
                      <a:pt x="6016" y="718327"/>
                    </a:lnTo>
                    <a:lnTo>
                      <a:pt x="0" y="688594"/>
                    </a:lnTo>
                    <a:lnTo>
                      <a:pt x="0" y="76453"/>
                    </a:lnTo>
                    <a:close/>
                  </a:path>
                </a:pathLst>
              </a:custGeom>
              <a:ln w="25400">
                <a:solidFill>
                  <a:srgbClr val="002A60"/>
                </a:solidFill>
              </a:ln>
            </p:spPr>
            <p:txBody>
              <a:bodyPr wrap="square" lIns="0" tIns="0" rIns="0" bIns="0" rtlCol="0"/>
              <a:lstStyle/>
              <a:p>
                <a:endParaRPr sz="2379"/>
              </a:p>
            </p:txBody>
          </p:sp>
        </p:grpSp>
        <p:sp>
          <p:nvSpPr>
            <p:cNvPr id="61" name="object 11">
              <a:extLst>
                <a:ext uri="{FF2B5EF4-FFF2-40B4-BE49-F238E27FC236}">
                  <a16:creationId xmlns:a16="http://schemas.microsoft.com/office/drawing/2014/main" id="{FE954067-81D3-233C-0CF5-B2CC12CE8C8A}"/>
                </a:ext>
              </a:extLst>
            </p:cNvPr>
            <p:cNvSpPr txBox="1"/>
            <p:nvPr/>
          </p:nvSpPr>
          <p:spPr>
            <a:xfrm>
              <a:off x="4296300" y="2086443"/>
              <a:ext cx="1432877" cy="789051"/>
            </a:xfrm>
            <a:prstGeom prst="rect">
              <a:avLst/>
            </a:prstGeom>
          </p:spPr>
          <p:txBody>
            <a:bodyPr vert="horz" wrap="square" lIns="0" tIns="45328" rIns="0" bIns="0" rtlCol="0">
              <a:spAutoFit/>
            </a:bodyPr>
            <a:lstStyle/>
            <a:p>
              <a:pPr marL="16788" marR="6715" indent="1679" algn="ctr">
                <a:lnSpc>
                  <a:spcPct val="87000"/>
                </a:lnSpc>
                <a:spcBef>
                  <a:spcPts val="357"/>
                </a:spcBef>
              </a:pPr>
              <a:r>
                <a:rPr sz="1388" dirty="0">
                  <a:latin typeface="Gill Sans MT"/>
                  <a:cs typeface="Gill Sans MT"/>
                </a:rPr>
                <a:t>Transmission</a:t>
              </a:r>
              <a:r>
                <a:rPr sz="1388" spc="-7" dirty="0">
                  <a:latin typeface="Gill Sans MT"/>
                  <a:cs typeface="Gill Sans MT"/>
                </a:rPr>
                <a:t> </a:t>
              </a:r>
              <a:r>
                <a:rPr sz="1388" spc="-13" dirty="0">
                  <a:latin typeface="Gill Sans MT"/>
                  <a:cs typeface="Gill Sans MT"/>
                </a:rPr>
                <a:t>utility </a:t>
              </a:r>
              <a:r>
                <a:rPr sz="1388" dirty="0">
                  <a:latin typeface="Gill Sans MT"/>
                  <a:cs typeface="Gill Sans MT"/>
                </a:rPr>
                <a:t>to inform</a:t>
              </a:r>
              <a:r>
                <a:rPr sz="1388" spc="-40" dirty="0">
                  <a:latin typeface="Gill Sans MT"/>
                  <a:cs typeface="Gill Sans MT"/>
                </a:rPr>
                <a:t> </a:t>
              </a:r>
              <a:r>
                <a:rPr sz="1388" spc="-13" dirty="0">
                  <a:latin typeface="Gill Sans MT"/>
                  <a:cs typeface="Gill Sans MT"/>
                </a:rPr>
                <a:t>regarding </a:t>
              </a:r>
              <a:r>
                <a:rPr sz="1388" dirty="0">
                  <a:latin typeface="Gill Sans MT"/>
                  <a:cs typeface="Gill Sans MT"/>
                </a:rPr>
                <a:t>the</a:t>
              </a:r>
              <a:r>
                <a:rPr sz="1388" spc="-7" dirty="0">
                  <a:latin typeface="Gill Sans MT"/>
                  <a:cs typeface="Gill Sans MT"/>
                </a:rPr>
                <a:t> </a:t>
              </a:r>
              <a:r>
                <a:rPr sz="1388" spc="-13" dirty="0">
                  <a:latin typeface="Gill Sans MT"/>
                  <a:cs typeface="Gill Sans MT"/>
                </a:rPr>
                <a:t>connectivity point</a:t>
              </a:r>
              <a:endParaRPr sz="1388">
                <a:latin typeface="Gill Sans MT"/>
                <a:cs typeface="Gill Sans MT"/>
              </a:endParaRPr>
            </a:p>
          </p:txBody>
        </p:sp>
        <p:grpSp>
          <p:nvGrpSpPr>
            <p:cNvPr id="62" name="object 12">
              <a:extLst>
                <a:ext uri="{FF2B5EF4-FFF2-40B4-BE49-F238E27FC236}">
                  <a16:creationId xmlns:a16="http://schemas.microsoft.com/office/drawing/2014/main" id="{EDA70342-A106-78E5-E51D-28EBAC83A76F}"/>
                </a:ext>
              </a:extLst>
            </p:cNvPr>
            <p:cNvGrpSpPr/>
            <p:nvPr/>
          </p:nvGrpSpPr>
          <p:grpSpPr>
            <a:xfrm>
              <a:off x="6005344" y="1982691"/>
              <a:ext cx="2230319" cy="1045069"/>
              <a:chOff x="4503420" y="1499869"/>
              <a:chExt cx="1687195" cy="790575"/>
            </a:xfrm>
          </p:grpSpPr>
          <p:sp>
            <p:nvSpPr>
              <p:cNvPr id="63" name="object 13">
                <a:extLst>
                  <a:ext uri="{FF2B5EF4-FFF2-40B4-BE49-F238E27FC236}">
                    <a16:creationId xmlns:a16="http://schemas.microsoft.com/office/drawing/2014/main" id="{7C6D8EBE-AB93-DD98-56CF-41E15E6EFEBB}"/>
                  </a:ext>
                </a:extLst>
              </p:cNvPr>
              <p:cNvSpPr/>
              <p:nvPr/>
            </p:nvSpPr>
            <p:spPr>
              <a:xfrm>
                <a:off x="4503420" y="1737359"/>
                <a:ext cx="269875" cy="315595"/>
              </a:xfrm>
              <a:custGeom>
                <a:avLst/>
                <a:gdLst/>
                <a:ahLst/>
                <a:cxnLst/>
                <a:rect l="l" t="t" r="r" b="b"/>
                <a:pathLst>
                  <a:path w="269875" h="315594">
                    <a:moveTo>
                      <a:pt x="134874" y="0"/>
                    </a:moveTo>
                    <a:lnTo>
                      <a:pt x="134874" y="63118"/>
                    </a:lnTo>
                    <a:lnTo>
                      <a:pt x="0" y="63118"/>
                    </a:lnTo>
                    <a:lnTo>
                      <a:pt x="0" y="252349"/>
                    </a:lnTo>
                    <a:lnTo>
                      <a:pt x="134874" y="252349"/>
                    </a:lnTo>
                    <a:lnTo>
                      <a:pt x="134874" y="315468"/>
                    </a:lnTo>
                    <a:lnTo>
                      <a:pt x="269747" y="157734"/>
                    </a:lnTo>
                    <a:lnTo>
                      <a:pt x="134874" y="0"/>
                    </a:lnTo>
                    <a:close/>
                  </a:path>
                </a:pathLst>
              </a:custGeom>
              <a:solidFill>
                <a:srgbClr val="AAACB9"/>
              </a:solidFill>
            </p:spPr>
            <p:txBody>
              <a:bodyPr wrap="square" lIns="0" tIns="0" rIns="0" bIns="0" rtlCol="0"/>
              <a:lstStyle/>
              <a:p>
                <a:endParaRPr sz="2379"/>
              </a:p>
            </p:txBody>
          </p:sp>
          <p:sp>
            <p:nvSpPr>
              <p:cNvPr id="64" name="object 14">
                <a:extLst>
                  <a:ext uri="{FF2B5EF4-FFF2-40B4-BE49-F238E27FC236}">
                    <a16:creationId xmlns:a16="http://schemas.microsoft.com/office/drawing/2014/main" id="{B3354734-9D8E-B095-B1E4-E276B6DDEB5C}"/>
                  </a:ext>
                </a:extLst>
              </p:cNvPr>
              <p:cNvSpPr/>
              <p:nvPr/>
            </p:nvSpPr>
            <p:spPr>
              <a:xfrm>
                <a:off x="4901946" y="1512569"/>
                <a:ext cx="1275715" cy="765175"/>
              </a:xfrm>
              <a:custGeom>
                <a:avLst/>
                <a:gdLst/>
                <a:ahLst/>
                <a:cxnLst/>
                <a:rect l="l" t="t" r="r" b="b"/>
                <a:pathLst>
                  <a:path w="1275714" h="765175">
                    <a:moveTo>
                      <a:pt x="1199133" y="0"/>
                    </a:moveTo>
                    <a:lnTo>
                      <a:pt x="76453" y="0"/>
                    </a:lnTo>
                    <a:lnTo>
                      <a:pt x="46720" y="6016"/>
                    </a:lnTo>
                    <a:lnTo>
                      <a:pt x="22415" y="22415"/>
                    </a:lnTo>
                    <a:lnTo>
                      <a:pt x="6016" y="46720"/>
                    </a:lnTo>
                    <a:lnTo>
                      <a:pt x="0" y="76453"/>
                    </a:lnTo>
                    <a:lnTo>
                      <a:pt x="0" y="688594"/>
                    </a:lnTo>
                    <a:lnTo>
                      <a:pt x="6016" y="718327"/>
                    </a:lnTo>
                    <a:lnTo>
                      <a:pt x="22415" y="742632"/>
                    </a:lnTo>
                    <a:lnTo>
                      <a:pt x="46720" y="759031"/>
                    </a:lnTo>
                    <a:lnTo>
                      <a:pt x="76453" y="765047"/>
                    </a:lnTo>
                    <a:lnTo>
                      <a:pt x="1199133" y="765047"/>
                    </a:lnTo>
                    <a:lnTo>
                      <a:pt x="1228867" y="759031"/>
                    </a:lnTo>
                    <a:lnTo>
                      <a:pt x="1253172" y="742632"/>
                    </a:lnTo>
                    <a:lnTo>
                      <a:pt x="1269571" y="718327"/>
                    </a:lnTo>
                    <a:lnTo>
                      <a:pt x="1275588" y="688594"/>
                    </a:lnTo>
                    <a:lnTo>
                      <a:pt x="1275588" y="76453"/>
                    </a:lnTo>
                    <a:lnTo>
                      <a:pt x="1269571" y="46720"/>
                    </a:lnTo>
                    <a:lnTo>
                      <a:pt x="1253172" y="22415"/>
                    </a:lnTo>
                    <a:lnTo>
                      <a:pt x="1228867" y="6016"/>
                    </a:lnTo>
                    <a:lnTo>
                      <a:pt x="1199133" y="0"/>
                    </a:lnTo>
                    <a:close/>
                  </a:path>
                </a:pathLst>
              </a:custGeom>
              <a:solidFill>
                <a:srgbClr val="FFFFFF"/>
              </a:solidFill>
            </p:spPr>
            <p:txBody>
              <a:bodyPr wrap="square" lIns="0" tIns="0" rIns="0" bIns="0" rtlCol="0"/>
              <a:lstStyle/>
              <a:p>
                <a:endParaRPr sz="2379"/>
              </a:p>
            </p:txBody>
          </p:sp>
          <p:sp>
            <p:nvSpPr>
              <p:cNvPr id="65" name="object 15">
                <a:extLst>
                  <a:ext uri="{FF2B5EF4-FFF2-40B4-BE49-F238E27FC236}">
                    <a16:creationId xmlns:a16="http://schemas.microsoft.com/office/drawing/2014/main" id="{A6E08A36-FEBC-6BC3-1F13-558FF43E1C7C}"/>
                  </a:ext>
                </a:extLst>
              </p:cNvPr>
              <p:cNvSpPr/>
              <p:nvPr/>
            </p:nvSpPr>
            <p:spPr>
              <a:xfrm>
                <a:off x="4901946" y="1512569"/>
                <a:ext cx="1275715" cy="765175"/>
              </a:xfrm>
              <a:custGeom>
                <a:avLst/>
                <a:gdLst/>
                <a:ahLst/>
                <a:cxnLst/>
                <a:rect l="l" t="t" r="r" b="b"/>
                <a:pathLst>
                  <a:path w="1275714" h="765175">
                    <a:moveTo>
                      <a:pt x="0" y="76453"/>
                    </a:moveTo>
                    <a:lnTo>
                      <a:pt x="6016" y="46720"/>
                    </a:lnTo>
                    <a:lnTo>
                      <a:pt x="22415" y="22415"/>
                    </a:lnTo>
                    <a:lnTo>
                      <a:pt x="46720" y="6016"/>
                    </a:lnTo>
                    <a:lnTo>
                      <a:pt x="76453" y="0"/>
                    </a:lnTo>
                    <a:lnTo>
                      <a:pt x="1199133" y="0"/>
                    </a:lnTo>
                    <a:lnTo>
                      <a:pt x="1228867" y="6016"/>
                    </a:lnTo>
                    <a:lnTo>
                      <a:pt x="1253172" y="22415"/>
                    </a:lnTo>
                    <a:lnTo>
                      <a:pt x="1269571" y="46720"/>
                    </a:lnTo>
                    <a:lnTo>
                      <a:pt x="1275588" y="76453"/>
                    </a:lnTo>
                    <a:lnTo>
                      <a:pt x="1275588" y="688594"/>
                    </a:lnTo>
                    <a:lnTo>
                      <a:pt x="1269571" y="718327"/>
                    </a:lnTo>
                    <a:lnTo>
                      <a:pt x="1253172" y="742632"/>
                    </a:lnTo>
                    <a:lnTo>
                      <a:pt x="1228867" y="759031"/>
                    </a:lnTo>
                    <a:lnTo>
                      <a:pt x="1199133" y="765047"/>
                    </a:lnTo>
                    <a:lnTo>
                      <a:pt x="76453" y="765047"/>
                    </a:lnTo>
                    <a:lnTo>
                      <a:pt x="46720" y="759031"/>
                    </a:lnTo>
                    <a:lnTo>
                      <a:pt x="22415" y="742632"/>
                    </a:lnTo>
                    <a:lnTo>
                      <a:pt x="6016" y="718327"/>
                    </a:lnTo>
                    <a:lnTo>
                      <a:pt x="0" y="688594"/>
                    </a:lnTo>
                    <a:lnTo>
                      <a:pt x="0" y="76453"/>
                    </a:lnTo>
                    <a:close/>
                  </a:path>
                </a:pathLst>
              </a:custGeom>
              <a:ln w="25400">
                <a:solidFill>
                  <a:srgbClr val="002A60"/>
                </a:solidFill>
              </a:ln>
            </p:spPr>
            <p:txBody>
              <a:bodyPr wrap="square" lIns="0" tIns="0" rIns="0" bIns="0" rtlCol="0"/>
              <a:lstStyle/>
              <a:p>
                <a:endParaRPr sz="2379"/>
              </a:p>
            </p:txBody>
          </p:sp>
        </p:grpSp>
        <p:sp>
          <p:nvSpPr>
            <p:cNvPr id="66" name="object 16">
              <a:extLst>
                <a:ext uri="{FF2B5EF4-FFF2-40B4-BE49-F238E27FC236}">
                  <a16:creationId xmlns:a16="http://schemas.microsoft.com/office/drawing/2014/main" id="{CCB389D8-B02A-3875-960C-8D663229752D}"/>
                </a:ext>
              </a:extLst>
            </p:cNvPr>
            <p:cNvSpPr txBox="1"/>
            <p:nvPr/>
          </p:nvSpPr>
          <p:spPr>
            <a:xfrm>
              <a:off x="6715486" y="2086442"/>
              <a:ext cx="1317038" cy="789051"/>
            </a:xfrm>
            <a:prstGeom prst="rect">
              <a:avLst/>
            </a:prstGeom>
          </p:spPr>
          <p:txBody>
            <a:bodyPr vert="horz" wrap="square" lIns="0" tIns="45328" rIns="0" bIns="0" rtlCol="0">
              <a:spAutoFit/>
            </a:bodyPr>
            <a:lstStyle/>
            <a:p>
              <a:pPr marL="16788" marR="6715" indent="31897" algn="just">
                <a:lnSpc>
                  <a:spcPct val="87000"/>
                </a:lnSpc>
                <a:spcBef>
                  <a:spcPts val="357"/>
                </a:spcBef>
              </a:pPr>
              <a:r>
                <a:rPr sz="1388" dirty="0">
                  <a:latin typeface="Gill Sans MT"/>
                  <a:cs typeface="Gill Sans MT"/>
                </a:rPr>
                <a:t>Generator</a:t>
              </a:r>
              <a:r>
                <a:rPr sz="1388" spc="-46" dirty="0">
                  <a:latin typeface="Gill Sans MT"/>
                  <a:cs typeface="Gill Sans MT"/>
                </a:rPr>
                <a:t> </a:t>
              </a:r>
              <a:r>
                <a:rPr sz="1388" spc="-13" dirty="0">
                  <a:latin typeface="Gill Sans MT"/>
                  <a:cs typeface="Gill Sans MT"/>
                </a:rPr>
                <a:t>builds </a:t>
              </a:r>
              <a:r>
                <a:rPr sz="1388" dirty="0">
                  <a:latin typeface="Gill Sans MT"/>
                  <a:cs typeface="Gill Sans MT"/>
                </a:rPr>
                <a:t>dedicated</a:t>
              </a:r>
              <a:r>
                <a:rPr sz="1388" spc="-46" dirty="0">
                  <a:latin typeface="Gill Sans MT"/>
                  <a:cs typeface="Gill Sans MT"/>
                </a:rPr>
                <a:t> </a:t>
              </a:r>
              <a:r>
                <a:rPr sz="1388" dirty="0">
                  <a:latin typeface="Gill Sans MT"/>
                  <a:cs typeface="Gill Sans MT"/>
                </a:rPr>
                <a:t>Tx</a:t>
              </a:r>
              <a:r>
                <a:rPr sz="1388" spc="-13" dirty="0">
                  <a:latin typeface="Gill Sans MT"/>
                  <a:cs typeface="Gill Sans MT"/>
                </a:rPr>
                <a:t> </a:t>
              </a:r>
              <a:r>
                <a:rPr sz="1388" spc="-26" dirty="0">
                  <a:latin typeface="Gill Sans MT"/>
                  <a:cs typeface="Gill Sans MT"/>
                </a:rPr>
                <a:t>line </a:t>
              </a:r>
              <a:r>
                <a:rPr sz="1388" dirty="0">
                  <a:latin typeface="Gill Sans MT"/>
                  <a:cs typeface="Gill Sans MT"/>
                </a:rPr>
                <a:t>from</a:t>
              </a:r>
              <a:r>
                <a:rPr sz="1388" spc="-26" dirty="0">
                  <a:latin typeface="Gill Sans MT"/>
                  <a:cs typeface="Gill Sans MT"/>
                </a:rPr>
                <a:t> </a:t>
              </a:r>
              <a:r>
                <a:rPr sz="1388" dirty="0">
                  <a:latin typeface="Gill Sans MT"/>
                  <a:cs typeface="Gill Sans MT"/>
                </a:rPr>
                <a:t>plant</a:t>
              </a:r>
              <a:r>
                <a:rPr sz="1388" spc="-33" dirty="0">
                  <a:latin typeface="Gill Sans MT"/>
                  <a:cs typeface="Gill Sans MT"/>
                </a:rPr>
                <a:t> </a:t>
              </a:r>
              <a:r>
                <a:rPr sz="1388" dirty="0">
                  <a:latin typeface="Gill Sans MT"/>
                  <a:cs typeface="Gill Sans MT"/>
                </a:rPr>
                <a:t>to </a:t>
              </a:r>
              <a:r>
                <a:rPr sz="1388" spc="-33" dirty="0">
                  <a:latin typeface="Gill Sans MT"/>
                  <a:cs typeface="Gill Sans MT"/>
                </a:rPr>
                <a:t>the </a:t>
              </a:r>
              <a:r>
                <a:rPr sz="1388" dirty="0">
                  <a:latin typeface="Gill Sans MT"/>
                  <a:cs typeface="Gill Sans MT"/>
                </a:rPr>
                <a:t>connectivity</a:t>
              </a:r>
              <a:r>
                <a:rPr sz="1388" spc="-66" dirty="0">
                  <a:latin typeface="Gill Sans MT"/>
                  <a:cs typeface="Gill Sans MT"/>
                </a:rPr>
                <a:t> </a:t>
              </a:r>
              <a:r>
                <a:rPr sz="1388" spc="-13" dirty="0">
                  <a:latin typeface="Gill Sans MT"/>
                  <a:cs typeface="Gill Sans MT"/>
                </a:rPr>
                <a:t>point</a:t>
              </a:r>
              <a:endParaRPr sz="1388">
                <a:latin typeface="Gill Sans MT"/>
                <a:cs typeface="Gill Sans MT"/>
              </a:endParaRPr>
            </a:p>
          </p:txBody>
        </p:sp>
        <p:grpSp>
          <p:nvGrpSpPr>
            <p:cNvPr id="67" name="object 17">
              <a:extLst>
                <a:ext uri="{FF2B5EF4-FFF2-40B4-BE49-F238E27FC236}">
                  <a16:creationId xmlns:a16="http://schemas.microsoft.com/office/drawing/2014/main" id="{FD58709D-0A52-1B8B-F81F-ECBE72F9C5AD}"/>
                </a:ext>
              </a:extLst>
            </p:cNvPr>
            <p:cNvGrpSpPr/>
            <p:nvPr/>
          </p:nvGrpSpPr>
          <p:grpSpPr>
            <a:xfrm>
              <a:off x="8366442" y="1982691"/>
              <a:ext cx="2227799" cy="1045069"/>
              <a:chOff x="6289547" y="1499869"/>
              <a:chExt cx="1685289" cy="790575"/>
            </a:xfrm>
          </p:grpSpPr>
          <p:sp>
            <p:nvSpPr>
              <p:cNvPr id="68" name="object 18">
                <a:extLst>
                  <a:ext uri="{FF2B5EF4-FFF2-40B4-BE49-F238E27FC236}">
                    <a16:creationId xmlns:a16="http://schemas.microsoft.com/office/drawing/2014/main" id="{18538C0C-9AFC-DAC0-0C5A-395431D8F00B}"/>
                  </a:ext>
                </a:extLst>
              </p:cNvPr>
              <p:cNvSpPr/>
              <p:nvPr/>
            </p:nvSpPr>
            <p:spPr>
              <a:xfrm>
                <a:off x="6289547" y="1737359"/>
                <a:ext cx="269875" cy="315595"/>
              </a:xfrm>
              <a:custGeom>
                <a:avLst/>
                <a:gdLst/>
                <a:ahLst/>
                <a:cxnLst/>
                <a:rect l="l" t="t" r="r" b="b"/>
                <a:pathLst>
                  <a:path w="269875" h="315594">
                    <a:moveTo>
                      <a:pt x="134874" y="0"/>
                    </a:moveTo>
                    <a:lnTo>
                      <a:pt x="134874" y="63118"/>
                    </a:lnTo>
                    <a:lnTo>
                      <a:pt x="0" y="63118"/>
                    </a:lnTo>
                    <a:lnTo>
                      <a:pt x="0" y="252349"/>
                    </a:lnTo>
                    <a:lnTo>
                      <a:pt x="134874" y="252349"/>
                    </a:lnTo>
                    <a:lnTo>
                      <a:pt x="134874" y="315468"/>
                    </a:lnTo>
                    <a:lnTo>
                      <a:pt x="269748" y="157734"/>
                    </a:lnTo>
                    <a:lnTo>
                      <a:pt x="134874" y="0"/>
                    </a:lnTo>
                    <a:close/>
                  </a:path>
                </a:pathLst>
              </a:custGeom>
              <a:solidFill>
                <a:srgbClr val="AAACB9"/>
              </a:solidFill>
            </p:spPr>
            <p:txBody>
              <a:bodyPr wrap="square" lIns="0" tIns="0" rIns="0" bIns="0" rtlCol="0"/>
              <a:lstStyle/>
              <a:p>
                <a:endParaRPr sz="2379"/>
              </a:p>
            </p:txBody>
          </p:sp>
          <p:sp>
            <p:nvSpPr>
              <p:cNvPr id="69" name="object 19">
                <a:extLst>
                  <a:ext uri="{FF2B5EF4-FFF2-40B4-BE49-F238E27FC236}">
                    <a16:creationId xmlns:a16="http://schemas.microsoft.com/office/drawing/2014/main" id="{20BB8281-3EF2-98C6-1ECC-494930B56856}"/>
                  </a:ext>
                </a:extLst>
              </p:cNvPr>
              <p:cNvSpPr/>
              <p:nvPr/>
            </p:nvSpPr>
            <p:spPr>
              <a:xfrm>
                <a:off x="6688073" y="1512569"/>
                <a:ext cx="1274445" cy="765175"/>
              </a:xfrm>
              <a:custGeom>
                <a:avLst/>
                <a:gdLst/>
                <a:ahLst/>
                <a:cxnLst/>
                <a:rect l="l" t="t" r="r" b="b"/>
                <a:pathLst>
                  <a:path w="1274445" h="765175">
                    <a:moveTo>
                      <a:pt x="1197609" y="0"/>
                    </a:moveTo>
                    <a:lnTo>
                      <a:pt x="76453" y="0"/>
                    </a:lnTo>
                    <a:lnTo>
                      <a:pt x="46720" y="6016"/>
                    </a:lnTo>
                    <a:lnTo>
                      <a:pt x="22415" y="22415"/>
                    </a:lnTo>
                    <a:lnTo>
                      <a:pt x="6016" y="46720"/>
                    </a:lnTo>
                    <a:lnTo>
                      <a:pt x="0" y="76453"/>
                    </a:lnTo>
                    <a:lnTo>
                      <a:pt x="0" y="688594"/>
                    </a:lnTo>
                    <a:lnTo>
                      <a:pt x="6016" y="718327"/>
                    </a:lnTo>
                    <a:lnTo>
                      <a:pt x="22415" y="742632"/>
                    </a:lnTo>
                    <a:lnTo>
                      <a:pt x="46720" y="759031"/>
                    </a:lnTo>
                    <a:lnTo>
                      <a:pt x="76453" y="765047"/>
                    </a:lnTo>
                    <a:lnTo>
                      <a:pt x="1197609" y="765047"/>
                    </a:lnTo>
                    <a:lnTo>
                      <a:pt x="1227343" y="759031"/>
                    </a:lnTo>
                    <a:lnTo>
                      <a:pt x="1251648" y="742632"/>
                    </a:lnTo>
                    <a:lnTo>
                      <a:pt x="1268047" y="718327"/>
                    </a:lnTo>
                    <a:lnTo>
                      <a:pt x="1274064" y="688594"/>
                    </a:lnTo>
                    <a:lnTo>
                      <a:pt x="1274064" y="76453"/>
                    </a:lnTo>
                    <a:lnTo>
                      <a:pt x="1268047" y="46720"/>
                    </a:lnTo>
                    <a:lnTo>
                      <a:pt x="1251648" y="22415"/>
                    </a:lnTo>
                    <a:lnTo>
                      <a:pt x="1227343" y="6016"/>
                    </a:lnTo>
                    <a:lnTo>
                      <a:pt x="1197609" y="0"/>
                    </a:lnTo>
                    <a:close/>
                  </a:path>
                </a:pathLst>
              </a:custGeom>
              <a:solidFill>
                <a:srgbClr val="FFFFFF"/>
              </a:solidFill>
            </p:spPr>
            <p:txBody>
              <a:bodyPr wrap="square" lIns="0" tIns="0" rIns="0" bIns="0" rtlCol="0"/>
              <a:lstStyle/>
              <a:p>
                <a:endParaRPr sz="2379"/>
              </a:p>
            </p:txBody>
          </p:sp>
          <p:sp>
            <p:nvSpPr>
              <p:cNvPr id="70" name="object 20">
                <a:extLst>
                  <a:ext uri="{FF2B5EF4-FFF2-40B4-BE49-F238E27FC236}">
                    <a16:creationId xmlns:a16="http://schemas.microsoft.com/office/drawing/2014/main" id="{24F4143F-320E-5803-6BA2-FF833A2FABE1}"/>
                  </a:ext>
                </a:extLst>
              </p:cNvPr>
              <p:cNvSpPr/>
              <p:nvPr/>
            </p:nvSpPr>
            <p:spPr>
              <a:xfrm>
                <a:off x="6688073" y="1512569"/>
                <a:ext cx="1274445" cy="765175"/>
              </a:xfrm>
              <a:custGeom>
                <a:avLst/>
                <a:gdLst/>
                <a:ahLst/>
                <a:cxnLst/>
                <a:rect l="l" t="t" r="r" b="b"/>
                <a:pathLst>
                  <a:path w="1274445" h="765175">
                    <a:moveTo>
                      <a:pt x="0" y="76453"/>
                    </a:moveTo>
                    <a:lnTo>
                      <a:pt x="6016" y="46720"/>
                    </a:lnTo>
                    <a:lnTo>
                      <a:pt x="22415" y="22415"/>
                    </a:lnTo>
                    <a:lnTo>
                      <a:pt x="46720" y="6016"/>
                    </a:lnTo>
                    <a:lnTo>
                      <a:pt x="76453" y="0"/>
                    </a:lnTo>
                    <a:lnTo>
                      <a:pt x="1197609" y="0"/>
                    </a:lnTo>
                    <a:lnTo>
                      <a:pt x="1227343" y="6016"/>
                    </a:lnTo>
                    <a:lnTo>
                      <a:pt x="1251648" y="22415"/>
                    </a:lnTo>
                    <a:lnTo>
                      <a:pt x="1268047" y="46720"/>
                    </a:lnTo>
                    <a:lnTo>
                      <a:pt x="1274064" y="76453"/>
                    </a:lnTo>
                    <a:lnTo>
                      <a:pt x="1274064" y="688594"/>
                    </a:lnTo>
                    <a:lnTo>
                      <a:pt x="1268047" y="718327"/>
                    </a:lnTo>
                    <a:lnTo>
                      <a:pt x="1251648" y="742632"/>
                    </a:lnTo>
                    <a:lnTo>
                      <a:pt x="1227343" y="759031"/>
                    </a:lnTo>
                    <a:lnTo>
                      <a:pt x="1197609" y="765047"/>
                    </a:lnTo>
                    <a:lnTo>
                      <a:pt x="76453" y="765047"/>
                    </a:lnTo>
                    <a:lnTo>
                      <a:pt x="46720" y="759031"/>
                    </a:lnTo>
                    <a:lnTo>
                      <a:pt x="22415" y="742632"/>
                    </a:lnTo>
                    <a:lnTo>
                      <a:pt x="6016" y="718327"/>
                    </a:lnTo>
                    <a:lnTo>
                      <a:pt x="0" y="688594"/>
                    </a:lnTo>
                    <a:lnTo>
                      <a:pt x="0" y="76453"/>
                    </a:lnTo>
                    <a:close/>
                  </a:path>
                </a:pathLst>
              </a:custGeom>
              <a:ln w="25400">
                <a:solidFill>
                  <a:srgbClr val="002A60"/>
                </a:solidFill>
              </a:ln>
            </p:spPr>
            <p:txBody>
              <a:bodyPr wrap="square" lIns="0" tIns="0" rIns="0" bIns="0" rtlCol="0"/>
              <a:lstStyle/>
              <a:p>
                <a:endParaRPr sz="2379"/>
              </a:p>
            </p:txBody>
          </p:sp>
        </p:grpSp>
        <p:sp>
          <p:nvSpPr>
            <p:cNvPr id="71" name="object 21">
              <a:extLst>
                <a:ext uri="{FF2B5EF4-FFF2-40B4-BE49-F238E27FC236}">
                  <a16:creationId xmlns:a16="http://schemas.microsoft.com/office/drawing/2014/main" id="{42B8D0C4-B40E-6139-5B03-34E6379E9A8B}"/>
                </a:ext>
              </a:extLst>
            </p:cNvPr>
            <p:cNvSpPr txBox="1"/>
            <p:nvPr/>
          </p:nvSpPr>
          <p:spPr>
            <a:xfrm>
              <a:off x="9055936" y="2178778"/>
              <a:ext cx="1355651" cy="602384"/>
            </a:xfrm>
            <a:prstGeom prst="rect">
              <a:avLst/>
            </a:prstGeom>
          </p:spPr>
          <p:txBody>
            <a:bodyPr vert="horz" wrap="square" lIns="0" tIns="44489" rIns="0" bIns="0" rtlCol="0">
              <a:spAutoFit/>
            </a:bodyPr>
            <a:lstStyle/>
            <a:p>
              <a:pPr marL="15949" marR="6715" indent="839" algn="ctr">
                <a:lnSpc>
                  <a:spcPct val="87100"/>
                </a:lnSpc>
                <a:spcBef>
                  <a:spcPts val="350"/>
                </a:spcBef>
              </a:pPr>
              <a:r>
                <a:rPr sz="1388" dirty="0">
                  <a:latin typeface="Gill Sans MT"/>
                  <a:cs typeface="Gill Sans MT"/>
                </a:rPr>
                <a:t>Generator</a:t>
              </a:r>
              <a:r>
                <a:rPr sz="1388" spc="-46" dirty="0">
                  <a:latin typeface="Gill Sans MT"/>
                  <a:cs typeface="Gill Sans MT"/>
                </a:rPr>
                <a:t> </a:t>
              </a:r>
              <a:r>
                <a:rPr sz="1388" spc="-13" dirty="0">
                  <a:latin typeface="Gill Sans MT"/>
                  <a:cs typeface="Gill Sans MT"/>
                </a:rPr>
                <a:t>applies </a:t>
              </a:r>
              <a:r>
                <a:rPr sz="1388" dirty="0">
                  <a:latin typeface="Gill Sans MT"/>
                  <a:cs typeface="Gill Sans MT"/>
                </a:rPr>
                <a:t>for</a:t>
              </a:r>
              <a:r>
                <a:rPr sz="1388" spc="-7" dirty="0">
                  <a:latin typeface="Gill Sans MT"/>
                  <a:cs typeface="Gill Sans MT"/>
                </a:rPr>
                <a:t> </a:t>
              </a:r>
              <a:r>
                <a:rPr sz="1388" dirty="0">
                  <a:latin typeface="Gill Sans MT"/>
                  <a:cs typeface="Gill Sans MT"/>
                </a:rPr>
                <a:t>open</a:t>
              </a:r>
              <a:r>
                <a:rPr sz="1388" spc="-13" dirty="0">
                  <a:latin typeface="Gill Sans MT"/>
                  <a:cs typeface="Gill Sans MT"/>
                </a:rPr>
                <a:t> </a:t>
              </a:r>
              <a:r>
                <a:rPr sz="1388" dirty="0">
                  <a:latin typeface="Gill Sans MT"/>
                  <a:cs typeface="Gill Sans MT"/>
                </a:rPr>
                <a:t>access</a:t>
              </a:r>
              <a:r>
                <a:rPr sz="1388" spc="-26" dirty="0">
                  <a:latin typeface="Gill Sans MT"/>
                  <a:cs typeface="Gill Sans MT"/>
                </a:rPr>
                <a:t> </a:t>
              </a:r>
              <a:r>
                <a:rPr sz="1388" spc="-33" dirty="0">
                  <a:latin typeface="Gill Sans MT"/>
                  <a:cs typeface="Gill Sans MT"/>
                </a:rPr>
                <a:t>to </a:t>
              </a:r>
              <a:r>
                <a:rPr sz="1388" dirty="0">
                  <a:latin typeface="Gill Sans MT"/>
                  <a:cs typeface="Gill Sans MT"/>
                </a:rPr>
                <a:t>the</a:t>
              </a:r>
              <a:r>
                <a:rPr sz="1388" spc="-33" dirty="0">
                  <a:latin typeface="Gill Sans MT"/>
                  <a:cs typeface="Gill Sans MT"/>
                </a:rPr>
                <a:t> </a:t>
              </a:r>
              <a:r>
                <a:rPr sz="1388" spc="-13" dirty="0">
                  <a:latin typeface="Gill Sans MT"/>
                  <a:cs typeface="Gill Sans MT"/>
                </a:rPr>
                <a:t>network</a:t>
              </a:r>
              <a:endParaRPr sz="1388">
                <a:latin typeface="Gill Sans MT"/>
                <a:cs typeface="Gill Sans MT"/>
              </a:endParaRPr>
            </a:p>
          </p:txBody>
        </p:sp>
        <p:grpSp>
          <p:nvGrpSpPr>
            <p:cNvPr id="72" name="object 22">
              <a:extLst>
                <a:ext uri="{FF2B5EF4-FFF2-40B4-BE49-F238E27FC236}">
                  <a16:creationId xmlns:a16="http://schemas.microsoft.com/office/drawing/2014/main" id="{2166A38A-E170-B1BA-C29D-7D8A9F1D7676}"/>
                </a:ext>
              </a:extLst>
            </p:cNvPr>
            <p:cNvGrpSpPr/>
            <p:nvPr/>
          </p:nvGrpSpPr>
          <p:grpSpPr>
            <a:xfrm>
              <a:off x="8876469" y="3158877"/>
              <a:ext cx="1718277" cy="1555431"/>
              <a:chOff x="6675373" y="2389631"/>
              <a:chExt cx="1299845" cy="1176655"/>
            </a:xfrm>
          </p:grpSpPr>
          <p:sp>
            <p:nvSpPr>
              <p:cNvPr id="73" name="object 23">
                <a:extLst>
                  <a:ext uri="{FF2B5EF4-FFF2-40B4-BE49-F238E27FC236}">
                    <a16:creationId xmlns:a16="http://schemas.microsoft.com/office/drawing/2014/main" id="{C8213D20-B7C4-63CF-3092-0FEB25DA2895}"/>
                  </a:ext>
                </a:extLst>
              </p:cNvPr>
              <p:cNvSpPr/>
              <p:nvPr/>
            </p:nvSpPr>
            <p:spPr>
              <a:xfrm>
                <a:off x="7165847" y="2389631"/>
                <a:ext cx="317500" cy="269875"/>
              </a:xfrm>
              <a:custGeom>
                <a:avLst/>
                <a:gdLst/>
                <a:ahLst/>
                <a:cxnLst/>
                <a:rect l="l" t="t" r="r" b="b"/>
                <a:pathLst>
                  <a:path w="317500" h="269875">
                    <a:moveTo>
                      <a:pt x="253619" y="0"/>
                    </a:moveTo>
                    <a:lnTo>
                      <a:pt x="63373" y="0"/>
                    </a:lnTo>
                    <a:lnTo>
                      <a:pt x="63373" y="134874"/>
                    </a:lnTo>
                    <a:lnTo>
                      <a:pt x="0" y="134874"/>
                    </a:lnTo>
                    <a:lnTo>
                      <a:pt x="158496" y="269748"/>
                    </a:lnTo>
                    <a:lnTo>
                      <a:pt x="316992" y="134874"/>
                    </a:lnTo>
                    <a:lnTo>
                      <a:pt x="253619" y="134874"/>
                    </a:lnTo>
                    <a:lnTo>
                      <a:pt x="253619" y="0"/>
                    </a:lnTo>
                    <a:close/>
                  </a:path>
                </a:pathLst>
              </a:custGeom>
              <a:solidFill>
                <a:srgbClr val="AAACB9"/>
              </a:solidFill>
            </p:spPr>
            <p:txBody>
              <a:bodyPr wrap="square" lIns="0" tIns="0" rIns="0" bIns="0" rtlCol="0"/>
              <a:lstStyle/>
              <a:p>
                <a:endParaRPr sz="2379"/>
              </a:p>
            </p:txBody>
          </p:sp>
          <p:sp>
            <p:nvSpPr>
              <p:cNvPr id="74" name="object 24">
                <a:extLst>
                  <a:ext uri="{FF2B5EF4-FFF2-40B4-BE49-F238E27FC236}">
                    <a16:creationId xmlns:a16="http://schemas.microsoft.com/office/drawing/2014/main" id="{D37517F8-1D48-43CF-8670-B1123A47D9EB}"/>
                  </a:ext>
                </a:extLst>
              </p:cNvPr>
              <p:cNvSpPr/>
              <p:nvPr/>
            </p:nvSpPr>
            <p:spPr>
              <a:xfrm>
                <a:off x="6688073" y="2788157"/>
                <a:ext cx="1274445" cy="765175"/>
              </a:xfrm>
              <a:custGeom>
                <a:avLst/>
                <a:gdLst/>
                <a:ahLst/>
                <a:cxnLst/>
                <a:rect l="l" t="t" r="r" b="b"/>
                <a:pathLst>
                  <a:path w="1274445" h="765175">
                    <a:moveTo>
                      <a:pt x="1197609" y="0"/>
                    </a:moveTo>
                    <a:lnTo>
                      <a:pt x="76453" y="0"/>
                    </a:lnTo>
                    <a:lnTo>
                      <a:pt x="46720" y="6016"/>
                    </a:lnTo>
                    <a:lnTo>
                      <a:pt x="22415" y="22415"/>
                    </a:lnTo>
                    <a:lnTo>
                      <a:pt x="6016" y="46720"/>
                    </a:lnTo>
                    <a:lnTo>
                      <a:pt x="0" y="76453"/>
                    </a:lnTo>
                    <a:lnTo>
                      <a:pt x="0" y="688594"/>
                    </a:lnTo>
                    <a:lnTo>
                      <a:pt x="6016" y="718327"/>
                    </a:lnTo>
                    <a:lnTo>
                      <a:pt x="22415" y="742632"/>
                    </a:lnTo>
                    <a:lnTo>
                      <a:pt x="46720" y="759031"/>
                    </a:lnTo>
                    <a:lnTo>
                      <a:pt x="76453" y="765047"/>
                    </a:lnTo>
                    <a:lnTo>
                      <a:pt x="1197609" y="765047"/>
                    </a:lnTo>
                    <a:lnTo>
                      <a:pt x="1227343" y="759031"/>
                    </a:lnTo>
                    <a:lnTo>
                      <a:pt x="1251648" y="742632"/>
                    </a:lnTo>
                    <a:lnTo>
                      <a:pt x="1268047" y="718327"/>
                    </a:lnTo>
                    <a:lnTo>
                      <a:pt x="1274064" y="688594"/>
                    </a:lnTo>
                    <a:lnTo>
                      <a:pt x="1274064" y="76453"/>
                    </a:lnTo>
                    <a:lnTo>
                      <a:pt x="1268047" y="46720"/>
                    </a:lnTo>
                    <a:lnTo>
                      <a:pt x="1251648" y="22415"/>
                    </a:lnTo>
                    <a:lnTo>
                      <a:pt x="1227343" y="6016"/>
                    </a:lnTo>
                    <a:lnTo>
                      <a:pt x="1197609" y="0"/>
                    </a:lnTo>
                    <a:close/>
                  </a:path>
                </a:pathLst>
              </a:custGeom>
              <a:solidFill>
                <a:srgbClr val="FFFFFF"/>
              </a:solidFill>
            </p:spPr>
            <p:txBody>
              <a:bodyPr wrap="square" lIns="0" tIns="0" rIns="0" bIns="0" rtlCol="0"/>
              <a:lstStyle/>
              <a:p>
                <a:endParaRPr sz="2379"/>
              </a:p>
            </p:txBody>
          </p:sp>
          <p:sp>
            <p:nvSpPr>
              <p:cNvPr id="75" name="object 25">
                <a:extLst>
                  <a:ext uri="{FF2B5EF4-FFF2-40B4-BE49-F238E27FC236}">
                    <a16:creationId xmlns:a16="http://schemas.microsoft.com/office/drawing/2014/main" id="{3E549C2C-22D8-FB56-14D1-361BDE2E986F}"/>
                  </a:ext>
                </a:extLst>
              </p:cNvPr>
              <p:cNvSpPr/>
              <p:nvPr/>
            </p:nvSpPr>
            <p:spPr>
              <a:xfrm>
                <a:off x="6688073" y="2788157"/>
                <a:ext cx="1274445" cy="765175"/>
              </a:xfrm>
              <a:custGeom>
                <a:avLst/>
                <a:gdLst/>
                <a:ahLst/>
                <a:cxnLst/>
                <a:rect l="l" t="t" r="r" b="b"/>
                <a:pathLst>
                  <a:path w="1274445" h="765175">
                    <a:moveTo>
                      <a:pt x="0" y="76453"/>
                    </a:moveTo>
                    <a:lnTo>
                      <a:pt x="6016" y="46720"/>
                    </a:lnTo>
                    <a:lnTo>
                      <a:pt x="22415" y="22415"/>
                    </a:lnTo>
                    <a:lnTo>
                      <a:pt x="46720" y="6016"/>
                    </a:lnTo>
                    <a:lnTo>
                      <a:pt x="76453" y="0"/>
                    </a:lnTo>
                    <a:lnTo>
                      <a:pt x="1197609" y="0"/>
                    </a:lnTo>
                    <a:lnTo>
                      <a:pt x="1227343" y="6016"/>
                    </a:lnTo>
                    <a:lnTo>
                      <a:pt x="1251648" y="22415"/>
                    </a:lnTo>
                    <a:lnTo>
                      <a:pt x="1268047" y="46720"/>
                    </a:lnTo>
                    <a:lnTo>
                      <a:pt x="1274064" y="76453"/>
                    </a:lnTo>
                    <a:lnTo>
                      <a:pt x="1274064" y="688594"/>
                    </a:lnTo>
                    <a:lnTo>
                      <a:pt x="1268047" y="718327"/>
                    </a:lnTo>
                    <a:lnTo>
                      <a:pt x="1251648" y="742632"/>
                    </a:lnTo>
                    <a:lnTo>
                      <a:pt x="1227343" y="759031"/>
                    </a:lnTo>
                    <a:lnTo>
                      <a:pt x="1197609" y="765047"/>
                    </a:lnTo>
                    <a:lnTo>
                      <a:pt x="76453" y="765047"/>
                    </a:lnTo>
                    <a:lnTo>
                      <a:pt x="46720" y="759031"/>
                    </a:lnTo>
                    <a:lnTo>
                      <a:pt x="22415" y="742632"/>
                    </a:lnTo>
                    <a:lnTo>
                      <a:pt x="6016" y="718327"/>
                    </a:lnTo>
                    <a:lnTo>
                      <a:pt x="0" y="688594"/>
                    </a:lnTo>
                    <a:lnTo>
                      <a:pt x="0" y="76453"/>
                    </a:lnTo>
                    <a:close/>
                  </a:path>
                </a:pathLst>
              </a:custGeom>
              <a:ln w="25400">
                <a:solidFill>
                  <a:srgbClr val="002A60"/>
                </a:solidFill>
              </a:ln>
            </p:spPr>
            <p:txBody>
              <a:bodyPr wrap="square" lIns="0" tIns="0" rIns="0" bIns="0" rtlCol="0"/>
              <a:lstStyle/>
              <a:p>
                <a:endParaRPr sz="2379"/>
              </a:p>
            </p:txBody>
          </p:sp>
        </p:grpSp>
        <p:sp>
          <p:nvSpPr>
            <p:cNvPr id="76" name="object 26">
              <a:extLst>
                <a:ext uri="{FF2B5EF4-FFF2-40B4-BE49-F238E27FC236}">
                  <a16:creationId xmlns:a16="http://schemas.microsoft.com/office/drawing/2014/main" id="{C8DA078A-365F-8301-D830-A2A71464B42D}"/>
                </a:ext>
              </a:extLst>
            </p:cNvPr>
            <p:cNvSpPr txBox="1"/>
            <p:nvPr/>
          </p:nvSpPr>
          <p:spPr>
            <a:xfrm>
              <a:off x="8977368" y="3772251"/>
              <a:ext cx="1513461" cy="789051"/>
            </a:xfrm>
            <a:prstGeom prst="rect">
              <a:avLst/>
            </a:prstGeom>
          </p:spPr>
          <p:txBody>
            <a:bodyPr vert="horz" wrap="square" lIns="0" tIns="45328" rIns="0" bIns="0" rtlCol="0">
              <a:spAutoFit/>
            </a:bodyPr>
            <a:lstStyle/>
            <a:p>
              <a:pPr marL="15949" marR="6715" algn="ctr">
                <a:lnSpc>
                  <a:spcPct val="87000"/>
                </a:lnSpc>
                <a:spcBef>
                  <a:spcPts val="357"/>
                </a:spcBef>
              </a:pPr>
              <a:r>
                <a:rPr sz="1388" dirty="0">
                  <a:latin typeface="Gill Sans MT"/>
                  <a:cs typeface="Gill Sans MT"/>
                </a:rPr>
                <a:t>Load</a:t>
              </a:r>
              <a:r>
                <a:rPr sz="1388" spc="-33" dirty="0">
                  <a:latin typeface="Gill Sans MT"/>
                  <a:cs typeface="Gill Sans MT"/>
                </a:rPr>
                <a:t> </a:t>
              </a:r>
              <a:r>
                <a:rPr sz="1388" dirty="0">
                  <a:latin typeface="Gill Sans MT"/>
                  <a:cs typeface="Gill Sans MT"/>
                </a:rPr>
                <a:t>flow studies</a:t>
              </a:r>
              <a:r>
                <a:rPr sz="1388" spc="-13" dirty="0">
                  <a:latin typeface="Gill Sans MT"/>
                  <a:cs typeface="Gill Sans MT"/>
                </a:rPr>
                <a:t> </a:t>
              </a:r>
              <a:r>
                <a:rPr sz="1388" spc="-33" dirty="0">
                  <a:latin typeface="Gill Sans MT"/>
                  <a:cs typeface="Gill Sans MT"/>
                </a:rPr>
                <a:t>by </a:t>
              </a:r>
              <a:r>
                <a:rPr sz="1388" dirty="0">
                  <a:latin typeface="Gill Sans MT"/>
                  <a:cs typeface="Gill Sans MT"/>
                </a:rPr>
                <a:t>open</a:t>
              </a:r>
              <a:r>
                <a:rPr sz="1388" spc="-20" dirty="0">
                  <a:latin typeface="Gill Sans MT"/>
                  <a:cs typeface="Gill Sans MT"/>
                </a:rPr>
                <a:t> </a:t>
              </a:r>
              <a:r>
                <a:rPr sz="1388" dirty="0">
                  <a:latin typeface="Gill Sans MT"/>
                  <a:cs typeface="Gill Sans MT"/>
                </a:rPr>
                <a:t>access</a:t>
              </a:r>
              <a:r>
                <a:rPr sz="1388" spc="-26" dirty="0">
                  <a:latin typeface="Gill Sans MT"/>
                  <a:cs typeface="Gill Sans MT"/>
                </a:rPr>
                <a:t> nodal </a:t>
              </a:r>
              <a:r>
                <a:rPr sz="1388" dirty="0">
                  <a:latin typeface="Gill Sans MT"/>
                  <a:cs typeface="Gill Sans MT"/>
                </a:rPr>
                <a:t>agency</a:t>
              </a:r>
              <a:r>
                <a:rPr sz="1388" spc="-59" dirty="0">
                  <a:latin typeface="Gill Sans MT"/>
                  <a:cs typeface="Gill Sans MT"/>
                </a:rPr>
                <a:t> </a:t>
              </a:r>
              <a:r>
                <a:rPr sz="1388" dirty="0">
                  <a:latin typeface="Gill Sans MT"/>
                  <a:cs typeface="Gill Sans MT"/>
                </a:rPr>
                <a:t>(Tx</a:t>
              </a:r>
              <a:r>
                <a:rPr sz="1388" spc="-26" dirty="0">
                  <a:latin typeface="Gill Sans MT"/>
                  <a:cs typeface="Gill Sans MT"/>
                </a:rPr>
                <a:t> </a:t>
              </a:r>
              <a:r>
                <a:rPr sz="1388" dirty="0">
                  <a:latin typeface="Gill Sans MT"/>
                  <a:cs typeface="Gill Sans MT"/>
                </a:rPr>
                <a:t>Utility</a:t>
              </a:r>
              <a:r>
                <a:rPr sz="1388" spc="7" dirty="0">
                  <a:latin typeface="Gill Sans MT"/>
                  <a:cs typeface="Gill Sans MT"/>
                </a:rPr>
                <a:t> </a:t>
              </a:r>
              <a:r>
                <a:rPr sz="1388" spc="-33" dirty="0">
                  <a:latin typeface="Gill Sans MT"/>
                  <a:cs typeface="Gill Sans MT"/>
                </a:rPr>
                <a:t>or </a:t>
              </a:r>
              <a:r>
                <a:rPr sz="1388" dirty="0">
                  <a:latin typeface="Gill Sans MT"/>
                  <a:cs typeface="Gill Sans MT"/>
                </a:rPr>
                <a:t>System</a:t>
              </a:r>
              <a:r>
                <a:rPr sz="1388" spc="-13" dirty="0">
                  <a:latin typeface="Gill Sans MT"/>
                  <a:cs typeface="Gill Sans MT"/>
                </a:rPr>
                <a:t> Operator)</a:t>
              </a:r>
              <a:endParaRPr sz="1388">
                <a:latin typeface="Gill Sans MT"/>
                <a:cs typeface="Gill Sans MT"/>
              </a:endParaRPr>
            </a:p>
          </p:txBody>
        </p:sp>
        <p:grpSp>
          <p:nvGrpSpPr>
            <p:cNvPr id="77" name="object 27">
              <a:extLst>
                <a:ext uri="{FF2B5EF4-FFF2-40B4-BE49-F238E27FC236}">
                  <a16:creationId xmlns:a16="http://schemas.microsoft.com/office/drawing/2014/main" id="{1FA1DF83-C35D-58B4-85A7-0DC4F0304E43}"/>
                </a:ext>
              </a:extLst>
            </p:cNvPr>
            <p:cNvGrpSpPr/>
            <p:nvPr/>
          </p:nvGrpSpPr>
          <p:grpSpPr>
            <a:xfrm>
              <a:off x="6515371" y="3668903"/>
              <a:ext cx="2227799" cy="1045069"/>
              <a:chOff x="4889246" y="2775457"/>
              <a:chExt cx="1685289" cy="790575"/>
            </a:xfrm>
          </p:grpSpPr>
          <p:sp>
            <p:nvSpPr>
              <p:cNvPr id="78" name="object 28">
                <a:extLst>
                  <a:ext uri="{FF2B5EF4-FFF2-40B4-BE49-F238E27FC236}">
                    <a16:creationId xmlns:a16="http://schemas.microsoft.com/office/drawing/2014/main" id="{4DE59DFE-01B8-64B3-07D3-A7206059D008}"/>
                  </a:ext>
                </a:extLst>
              </p:cNvPr>
              <p:cNvSpPr/>
              <p:nvPr/>
            </p:nvSpPr>
            <p:spPr>
              <a:xfrm>
                <a:off x="6304788" y="3011423"/>
                <a:ext cx="269875" cy="317500"/>
              </a:xfrm>
              <a:custGeom>
                <a:avLst/>
                <a:gdLst/>
                <a:ahLst/>
                <a:cxnLst/>
                <a:rect l="l" t="t" r="r" b="b"/>
                <a:pathLst>
                  <a:path w="269875" h="317500">
                    <a:moveTo>
                      <a:pt x="134874" y="0"/>
                    </a:moveTo>
                    <a:lnTo>
                      <a:pt x="0" y="158496"/>
                    </a:lnTo>
                    <a:lnTo>
                      <a:pt x="134874" y="316992"/>
                    </a:lnTo>
                    <a:lnTo>
                      <a:pt x="134874" y="253619"/>
                    </a:lnTo>
                    <a:lnTo>
                      <a:pt x="269747" y="253619"/>
                    </a:lnTo>
                    <a:lnTo>
                      <a:pt x="269747" y="63373"/>
                    </a:lnTo>
                    <a:lnTo>
                      <a:pt x="134874" y="63373"/>
                    </a:lnTo>
                    <a:lnTo>
                      <a:pt x="134874" y="0"/>
                    </a:lnTo>
                    <a:close/>
                  </a:path>
                </a:pathLst>
              </a:custGeom>
              <a:solidFill>
                <a:srgbClr val="AAACB9"/>
              </a:solidFill>
            </p:spPr>
            <p:txBody>
              <a:bodyPr wrap="square" lIns="0" tIns="0" rIns="0" bIns="0" rtlCol="0"/>
              <a:lstStyle/>
              <a:p>
                <a:endParaRPr sz="2379"/>
              </a:p>
            </p:txBody>
          </p:sp>
          <p:sp>
            <p:nvSpPr>
              <p:cNvPr id="79" name="object 29">
                <a:extLst>
                  <a:ext uri="{FF2B5EF4-FFF2-40B4-BE49-F238E27FC236}">
                    <a16:creationId xmlns:a16="http://schemas.microsoft.com/office/drawing/2014/main" id="{9A0017AF-FF26-82C8-0DE9-C45D0491C2B7}"/>
                  </a:ext>
                </a:extLst>
              </p:cNvPr>
              <p:cNvSpPr/>
              <p:nvPr/>
            </p:nvSpPr>
            <p:spPr>
              <a:xfrm>
                <a:off x="4901946" y="2788157"/>
                <a:ext cx="1275715" cy="765175"/>
              </a:xfrm>
              <a:custGeom>
                <a:avLst/>
                <a:gdLst/>
                <a:ahLst/>
                <a:cxnLst/>
                <a:rect l="l" t="t" r="r" b="b"/>
                <a:pathLst>
                  <a:path w="1275714" h="765175">
                    <a:moveTo>
                      <a:pt x="1199133" y="0"/>
                    </a:moveTo>
                    <a:lnTo>
                      <a:pt x="76453" y="0"/>
                    </a:lnTo>
                    <a:lnTo>
                      <a:pt x="46720" y="6016"/>
                    </a:lnTo>
                    <a:lnTo>
                      <a:pt x="22415" y="22415"/>
                    </a:lnTo>
                    <a:lnTo>
                      <a:pt x="6016" y="46720"/>
                    </a:lnTo>
                    <a:lnTo>
                      <a:pt x="0" y="76453"/>
                    </a:lnTo>
                    <a:lnTo>
                      <a:pt x="0" y="688594"/>
                    </a:lnTo>
                    <a:lnTo>
                      <a:pt x="6016" y="718327"/>
                    </a:lnTo>
                    <a:lnTo>
                      <a:pt x="22415" y="742632"/>
                    </a:lnTo>
                    <a:lnTo>
                      <a:pt x="46720" y="759031"/>
                    </a:lnTo>
                    <a:lnTo>
                      <a:pt x="76453" y="765047"/>
                    </a:lnTo>
                    <a:lnTo>
                      <a:pt x="1199133" y="765047"/>
                    </a:lnTo>
                    <a:lnTo>
                      <a:pt x="1228867" y="759031"/>
                    </a:lnTo>
                    <a:lnTo>
                      <a:pt x="1253172" y="742632"/>
                    </a:lnTo>
                    <a:lnTo>
                      <a:pt x="1269571" y="718327"/>
                    </a:lnTo>
                    <a:lnTo>
                      <a:pt x="1275588" y="688594"/>
                    </a:lnTo>
                    <a:lnTo>
                      <a:pt x="1275588" y="76453"/>
                    </a:lnTo>
                    <a:lnTo>
                      <a:pt x="1269571" y="46720"/>
                    </a:lnTo>
                    <a:lnTo>
                      <a:pt x="1253172" y="22415"/>
                    </a:lnTo>
                    <a:lnTo>
                      <a:pt x="1228867" y="6016"/>
                    </a:lnTo>
                    <a:lnTo>
                      <a:pt x="1199133" y="0"/>
                    </a:lnTo>
                    <a:close/>
                  </a:path>
                </a:pathLst>
              </a:custGeom>
              <a:solidFill>
                <a:srgbClr val="FFFFFF"/>
              </a:solidFill>
            </p:spPr>
            <p:txBody>
              <a:bodyPr wrap="square" lIns="0" tIns="0" rIns="0" bIns="0" rtlCol="0"/>
              <a:lstStyle/>
              <a:p>
                <a:endParaRPr sz="2379"/>
              </a:p>
            </p:txBody>
          </p:sp>
          <p:sp>
            <p:nvSpPr>
              <p:cNvPr id="80" name="object 30">
                <a:extLst>
                  <a:ext uri="{FF2B5EF4-FFF2-40B4-BE49-F238E27FC236}">
                    <a16:creationId xmlns:a16="http://schemas.microsoft.com/office/drawing/2014/main" id="{61C81398-8F30-6489-9811-CCE2BA8491EF}"/>
                  </a:ext>
                </a:extLst>
              </p:cNvPr>
              <p:cNvSpPr/>
              <p:nvPr/>
            </p:nvSpPr>
            <p:spPr>
              <a:xfrm>
                <a:off x="4901946" y="2788157"/>
                <a:ext cx="1275715" cy="765175"/>
              </a:xfrm>
              <a:custGeom>
                <a:avLst/>
                <a:gdLst/>
                <a:ahLst/>
                <a:cxnLst/>
                <a:rect l="l" t="t" r="r" b="b"/>
                <a:pathLst>
                  <a:path w="1275714" h="765175">
                    <a:moveTo>
                      <a:pt x="0" y="76453"/>
                    </a:moveTo>
                    <a:lnTo>
                      <a:pt x="6016" y="46720"/>
                    </a:lnTo>
                    <a:lnTo>
                      <a:pt x="22415" y="22415"/>
                    </a:lnTo>
                    <a:lnTo>
                      <a:pt x="46720" y="6016"/>
                    </a:lnTo>
                    <a:lnTo>
                      <a:pt x="76453" y="0"/>
                    </a:lnTo>
                    <a:lnTo>
                      <a:pt x="1199133" y="0"/>
                    </a:lnTo>
                    <a:lnTo>
                      <a:pt x="1228867" y="6016"/>
                    </a:lnTo>
                    <a:lnTo>
                      <a:pt x="1253172" y="22415"/>
                    </a:lnTo>
                    <a:lnTo>
                      <a:pt x="1269571" y="46720"/>
                    </a:lnTo>
                    <a:lnTo>
                      <a:pt x="1275588" y="76453"/>
                    </a:lnTo>
                    <a:lnTo>
                      <a:pt x="1275588" y="688594"/>
                    </a:lnTo>
                    <a:lnTo>
                      <a:pt x="1269571" y="718327"/>
                    </a:lnTo>
                    <a:lnTo>
                      <a:pt x="1253172" y="742632"/>
                    </a:lnTo>
                    <a:lnTo>
                      <a:pt x="1228867" y="759031"/>
                    </a:lnTo>
                    <a:lnTo>
                      <a:pt x="1199133" y="765047"/>
                    </a:lnTo>
                    <a:lnTo>
                      <a:pt x="76453" y="765047"/>
                    </a:lnTo>
                    <a:lnTo>
                      <a:pt x="46720" y="759031"/>
                    </a:lnTo>
                    <a:lnTo>
                      <a:pt x="22415" y="742632"/>
                    </a:lnTo>
                    <a:lnTo>
                      <a:pt x="6016" y="718327"/>
                    </a:lnTo>
                    <a:lnTo>
                      <a:pt x="0" y="688594"/>
                    </a:lnTo>
                    <a:lnTo>
                      <a:pt x="0" y="76453"/>
                    </a:lnTo>
                    <a:close/>
                  </a:path>
                </a:pathLst>
              </a:custGeom>
              <a:ln w="25400">
                <a:solidFill>
                  <a:srgbClr val="002A60"/>
                </a:solidFill>
              </a:ln>
            </p:spPr>
            <p:txBody>
              <a:bodyPr wrap="square" lIns="0" tIns="0" rIns="0" bIns="0" rtlCol="0"/>
              <a:lstStyle/>
              <a:p>
                <a:endParaRPr sz="2379"/>
              </a:p>
            </p:txBody>
          </p:sp>
        </p:grpSp>
        <p:sp>
          <p:nvSpPr>
            <p:cNvPr id="81" name="object 31">
              <a:extLst>
                <a:ext uri="{FF2B5EF4-FFF2-40B4-BE49-F238E27FC236}">
                  <a16:creationId xmlns:a16="http://schemas.microsoft.com/office/drawing/2014/main" id="{22B4085A-E73F-2547-9FC1-595BBEC48E3A}"/>
                </a:ext>
              </a:extLst>
            </p:cNvPr>
            <p:cNvSpPr txBox="1"/>
            <p:nvPr/>
          </p:nvSpPr>
          <p:spPr>
            <a:xfrm>
              <a:off x="6846436" y="3956821"/>
              <a:ext cx="1055141" cy="428169"/>
            </a:xfrm>
            <a:prstGeom prst="rect">
              <a:avLst/>
            </a:prstGeom>
          </p:spPr>
          <p:txBody>
            <a:bodyPr vert="horz" wrap="square" lIns="0" tIns="17628" rIns="0" bIns="0" rtlCol="0">
              <a:spAutoFit/>
            </a:bodyPr>
            <a:lstStyle/>
            <a:p>
              <a:pPr algn="ctr">
                <a:lnSpc>
                  <a:spcPts val="1560"/>
                </a:lnSpc>
                <a:spcBef>
                  <a:spcPts val="139"/>
                </a:spcBef>
              </a:pPr>
              <a:r>
                <a:rPr sz="1388" dirty="0">
                  <a:latin typeface="Gill Sans MT"/>
                  <a:cs typeface="Gill Sans MT"/>
                </a:rPr>
                <a:t>Grant</a:t>
              </a:r>
              <a:r>
                <a:rPr sz="1388" spc="-26" dirty="0">
                  <a:latin typeface="Gill Sans MT"/>
                  <a:cs typeface="Gill Sans MT"/>
                </a:rPr>
                <a:t> </a:t>
              </a:r>
              <a:r>
                <a:rPr sz="1388" dirty="0">
                  <a:latin typeface="Gill Sans MT"/>
                  <a:cs typeface="Gill Sans MT"/>
                </a:rPr>
                <a:t>of</a:t>
              </a:r>
              <a:r>
                <a:rPr sz="1388" spc="-20" dirty="0">
                  <a:latin typeface="Gill Sans MT"/>
                  <a:cs typeface="Gill Sans MT"/>
                </a:rPr>
                <a:t> </a:t>
              </a:r>
              <a:r>
                <a:rPr sz="1388" spc="-26" dirty="0">
                  <a:latin typeface="Gill Sans MT"/>
                  <a:cs typeface="Gill Sans MT"/>
                </a:rPr>
                <a:t>open</a:t>
              </a:r>
              <a:endParaRPr sz="1388">
                <a:latin typeface="Gill Sans MT"/>
                <a:cs typeface="Gill Sans MT"/>
              </a:endParaRPr>
            </a:p>
            <a:p>
              <a:pPr marL="1679" algn="ctr">
                <a:lnSpc>
                  <a:spcPts val="1560"/>
                </a:lnSpc>
              </a:pPr>
              <a:r>
                <a:rPr sz="1388" spc="-13" dirty="0">
                  <a:latin typeface="Gill Sans MT"/>
                  <a:cs typeface="Gill Sans MT"/>
                </a:rPr>
                <a:t>access</a:t>
              </a:r>
              <a:endParaRPr sz="1388">
                <a:latin typeface="Gill Sans MT"/>
                <a:cs typeface="Gill Sans MT"/>
              </a:endParaRPr>
            </a:p>
          </p:txBody>
        </p:sp>
        <p:grpSp>
          <p:nvGrpSpPr>
            <p:cNvPr id="82" name="object 32">
              <a:extLst>
                <a:ext uri="{FF2B5EF4-FFF2-40B4-BE49-F238E27FC236}">
                  <a16:creationId xmlns:a16="http://schemas.microsoft.com/office/drawing/2014/main" id="{78B31F02-3204-1363-0FD3-70507405A03B}"/>
                </a:ext>
              </a:extLst>
            </p:cNvPr>
            <p:cNvGrpSpPr/>
            <p:nvPr/>
          </p:nvGrpSpPr>
          <p:grpSpPr>
            <a:xfrm>
              <a:off x="4156286" y="3668903"/>
              <a:ext cx="2226122" cy="1045069"/>
              <a:chOff x="3104642" y="2775457"/>
              <a:chExt cx="1684020" cy="790575"/>
            </a:xfrm>
          </p:grpSpPr>
          <p:sp>
            <p:nvSpPr>
              <p:cNvPr id="83" name="object 33">
                <a:extLst>
                  <a:ext uri="{FF2B5EF4-FFF2-40B4-BE49-F238E27FC236}">
                    <a16:creationId xmlns:a16="http://schemas.microsoft.com/office/drawing/2014/main" id="{CA9F44A1-8646-A4BA-796D-157BCB083976}"/>
                  </a:ext>
                </a:extLst>
              </p:cNvPr>
              <p:cNvSpPr/>
              <p:nvPr/>
            </p:nvSpPr>
            <p:spPr>
              <a:xfrm>
                <a:off x="4518660" y="3011423"/>
                <a:ext cx="269875" cy="317500"/>
              </a:xfrm>
              <a:custGeom>
                <a:avLst/>
                <a:gdLst/>
                <a:ahLst/>
                <a:cxnLst/>
                <a:rect l="l" t="t" r="r" b="b"/>
                <a:pathLst>
                  <a:path w="269875" h="317500">
                    <a:moveTo>
                      <a:pt x="134874" y="0"/>
                    </a:moveTo>
                    <a:lnTo>
                      <a:pt x="0" y="158496"/>
                    </a:lnTo>
                    <a:lnTo>
                      <a:pt x="134874" y="316992"/>
                    </a:lnTo>
                    <a:lnTo>
                      <a:pt x="134874" y="253619"/>
                    </a:lnTo>
                    <a:lnTo>
                      <a:pt x="269748" y="253619"/>
                    </a:lnTo>
                    <a:lnTo>
                      <a:pt x="269748" y="63373"/>
                    </a:lnTo>
                    <a:lnTo>
                      <a:pt x="134874" y="63373"/>
                    </a:lnTo>
                    <a:lnTo>
                      <a:pt x="134874" y="0"/>
                    </a:lnTo>
                    <a:close/>
                  </a:path>
                </a:pathLst>
              </a:custGeom>
              <a:solidFill>
                <a:srgbClr val="AAACB9"/>
              </a:solidFill>
            </p:spPr>
            <p:txBody>
              <a:bodyPr wrap="square" lIns="0" tIns="0" rIns="0" bIns="0" rtlCol="0"/>
              <a:lstStyle/>
              <a:p>
                <a:endParaRPr sz="2379"/>
              </a:p>
            </p:txBody>
          </p:sp>
          <p:sp>
            <p:nvSpPr>
              <p:cNvPr id="84" name="object 34">
                <a:extLst>
                  <a:ext uri="{FF2B5EF4-FFF2-40B4-BE49-F238E27FC236}">
                    <a16:creationId xmlns:a16="http://schemas.microsoft.com/office/drawing/2014/main" id="{A1459749-0AD6-BB49-BEB6-92AFA615A539}"/>
                  </a:ext>
                </a:extLst>
              </p:cNvPr>
              <p:cNvSpPr/>
              <p:nvPr/>
            </p:nvSpPr>
            <p:spPr>
              <a:xfrm>
                <a:off x="3117342" y="2788157"/>
                <a:ext cx="1274445" cy="765175"/>
              </a:xfrm>
              <a:custGeom>
                <a:avLst/>
                <a:gdLst/>
                <a:ahLst/>
                <a:cxnLst/>
                <a:rect l="l" t="t" r="r" b="b"/>
                <a:pathLst>
                  <a:path w="1274445" h="765175">
                    <a:moveTo>
                      <a:pt x="1197609" y="0"/>
                    </a:moveTo>
                    <a:lnTo>
                      <a:pt x="76453" y="0"/>
                    </a:lnTo>
                    <a:lnTo>
                      <a:pt x="46720" y="6016"/>
                    </a:lnTo>
                    <a:lnTo>
                      <a:pt x="22415" y="22415"/>
                    </a:lnTo>
                    <a:lnTo>
                      <a:pt x="6016" y="46720"/>
                    </a:lnTo>
                    <a:lnTo>
                      <a:pt x="0" y="76453"/>
                    </a:lnTo>
                    <a:lnTo>
                      <a:pt x="0" y="688594"/>
                    </a:lnTo>
                    <a:lnTo>
                      <a:pt x="6016" y="718327"/>
                    </a:lnTo>
                    <a:lnTo>
                      <a:pt x="22415" y="742632"/>
                    </a:lnTo>
                    <a:lnTo>
                      <a:pt x="46720" y="759031"/>
                    </a:lnTo>
                    <a:lnTo>
                      <a:pt x="76453" y="765047"/>
                    </a:lnTo>
                    <a:lnTo>
                      <a:pt x="1197609" y="765047"/>
                    </a:lnTo>
                    <a:lnTo>
                      <a:pt x="1227343" y="759031"/>
                    </a:lnTo>
                    <a:lnTo>
                      <a:pt x="1251648" y="742632"/>
                    </a:lnTo>
                    <a:lnTo>
                      <a:pt x="1268047" y="718327"/>
                    </a:lnTo>
                    <a:lnTo>
                      <a:pt x="1274063" y="688594"/>
                    </a:lnTo>
                    <a:lnTo>
                      <a:pt x="1274063" y="76453"/>
                    </a:lnTo>
                    <a:lnTo>
                      <a:pt x="1268047" y="46720"/>
                    </a:lnTo>
                    <a:lnTo>
                      <a:pt x="1251648" y="22415"/>
                    </a:lnTo>
                    <a:lnTo>
                      <a:pt x="1227343" y="6016"/>
                    </a:lnTo>
                    <a:lnTo>
                      <a:pt x="1197609" y="0"/>
                    </a:lnTo>
                    <a:close/>
                  </a:path>
                </a:pathLst>
              </a:custGeom>
              <a:solidFill>
                <a:srgbClr val="FFFFFF"/>
              </a:solidFill>
            </p:spPr>
            <p:txBody>
              <a:bodyPr wrap="square" lIns="0" tIns="0" rIns="0" bIns="0" rtlCol="0"/>
              <a:lstStyle/>
              <a:p>
                <a:endParaRPr sz="2379"/>
              </a:p>
            </p:txBody>
          </p:sp>
          <p:sp>
            <p:nvSpPr>
              <p:cNvPr id="85" name="object 35">
                <a:extLst>
                  <a:ext uri="{FF2B5EF4-FFF2-40B4-BE49-F238E27FC236}">
                    <a16:creationId xmlns:a16="http://schemas.microsoft.com/office/drawing/2014/main" id="{82C61B95-2547-7E14-F316-0CEF93130494}"/>
                  </a:ext>
                </a:extLst>
              </p:cNvPr>
              <p:cNvSpPr/>
              <p:nvPr/>
            </p:nvSpPr>
            <p:spPr>
              <a:xfrm>
                <a:off x="3117342" y="2788157"/>
                <a:ext cx="1274445" cy="765175"/>
              </a:xfrm>
              <a:custGeom>
                <a:avLst/>
                <a:gdLst/>
                <a:ahLst/>
                <a:cxnLst/>
                <a:rect l="l" t="t" r="r" b="b"/>
                <a:pathLst>
                  <a:path w="1274445" h="765175">
                    <a:moveTo>
                      <a:pt x="0" y="76453"/>
                    </a:moveTo>
                    <a:lnTo>
                      <a:pt x="6016" y="46720"/>
                    </a:lnTo>
                    <a:lnTo>
                      <a:pt x="22415" y="22415"/>
                    </a:lnTo>
                    <a:lnTo>
                      <a:pt x="46720" y="6016"/>
                    </a:lnTo>
                    <a:lnTo>
                      <a:pt x="76453" y="0"/>
                    </a:lnTo>
                    <a:lnTo>
                      <a:pt x="1197609" y="0"/>
                    </a:lnTo>
                    <a:lnTo>
                      <a:pt x="1227343" y="6016"/>
                    </a:lnTo>
                    <a:lnTo>
                      <a:pt x="1251648" y="22415"/>
                    </a:lnTo>
                    <a:lnTo>
                      <a:pt x="1268047" y="46720"/>
                    </a:lnTo>
                    <a:lnTo>
                      <a:pt x="1274063" y="76453"/>
                    </a:lnTo>
                    <a:lnTo>
                      <a:pt x="1274063" y="688594"/>
                    </a:lnTo>
                    <a:lnTo>
                      <a:pt x="1268047" y="718327"/>
                    </a:lnTo>
                    <a:lnTo>
                      <a:pt x="1251648" y="742632"/>
                    </a:lnTo>
                    <a:lnTo>
                      <a:pt x="1227343" y="759031"/>
                    </a:lnTo>
                    <a:lnTo>
                      <a:pt x="1197609" y="765047"/>
                    </a:lnTo>
                    <a:lnTo>
                      <a:pt x="76453" y="765047"/>
                    </a:lnTo>
                    <a:lnTo>
                      <a:pt x="46720" y="759031"/>
                    </a:lnTo>
                    <a:lnTo>
                      <a:pt x="22415" y="742632"/>
                    </a:lnTo>
                    <a:lnTo>
                      <a:pt x="6016" y="718327"/>
                    </a:lnTo>
                    <a:lnTo>
                      <a:pt x="0" y="688594"/>
                    </a:lnTo>
                    <a:lnTo>
                      <a:pt x="0" y="76453"/>
                    </a:lnTo>
                    <a:close/>
                  </a:path>
                </a:pathLst>
              </a:custGeom>
              <a:ln w="25400">
                <a:solidFill>
                  <a:srgbClr val="002A60"/>
                </a:solidFill>
              </a:ln>
            </p:spPr>
            <p:txBody>
              <a:bodyPr wrap="square" lIns="0" tIns="0" rIns="0" bIns="0" rtlCol="0"/>
              <a:lstStyle/>
              <a:p>
                <a:endParaRPr sz="2379"/>
              </a:p>
            </p:txBody>
          </p:sp>
        </p:grpSp>
        <p:sp>
          <p:nvSpPr>
            <p:cNvPr id="86" name="object 36">
              <a:extLst>
                <a:ext uri="{FF2B5EF4-FFF2-40B4-BE49-F238E27FC236}">
                  <a16:creationId xmlns:a16="http://schemas.microsoft.com/office/drawing/2014/main" id="{A8CD9821-9886-9405-8593-BDB1F31A9531}"/>
                </a:ext>
              </a:extLst>
            </p:cNvPr>
            <p:cNvSpPr txBox="1"/>
            <p:nvPr/>
          </p:nvSpPr>
          <p:spPr>
            <a:xfrm>
              <a:off x="4312416" y="3956822"/>
              <a:ext cx="1400979" cy="428169"/>
            </a:xfrm>
            <a:prstGeom prst="rect">
              <a:avLst/>
            </a:prstGeom>
          </p:spPr>
          <p:txBody>
            <a:bodyPr vert="horz" wrap="square" lIns="0" tIns="17628" rIns="0" bIns="0" rtlCol="0">
              <a:spAutoFit/>
            </a:bodyPr>
            <a:lstStyle/>
            <a:p>
              <a:pPr marL="26861">
                <a:lnSpc>
                  <a:spcPts val="1560"/>
                </a:lnSpc>
                <a:spcBef>
                  <a:spcPts val="139"/>
                </a:spcBef>
              </a:pPr>
              <a:r>
                <a:rPr sz="1388" dirty="0">
                  <a:latin typeface="Gill Sans MT"/>
                  <a:cs typeface="Gill Sans MT"/>
                </a:rPr>
                <a:t>Scheduling</a:t>
              </a:r>
              <a:r>
                <a:rPr sz="1388" spc="-59" dirty="0">
                  <a:latin typeface="Gill Sans MT"/>
                  <a:cs typeface="Gill Sans MT"/>
                </a:rPr>
                <a:t> </a:t>
              </a:r>
              <a:r>
                <a:rPr sz="1388" dirty="0">
                  <a:latin typeface="Gill Sans MT"/>
                  <a:cs typeface="Gill Sans MT"/>
                </a:rPr>
                <a:t>of</a:t>
              </a:r>
              <a:r>
                <a:rPr sz="1388" spc="-20" dirty="0">
                  <a:latin typeface="Gill Sans MT"/>
                  <a:cs typeface="Gill Sans MT"/>
                </a:rPr>
                <a:t> </a:t>
              </a:r>
              <a:r>
                <a:rPr sz="1388" spc="-26" dirty="0">
                  <a:latin typeface="Gill Sans MT"/>
                  <a:cs typeface="Gill Sans MT"/>
                </a:rPr>
                <a:t>open</a:t>
              </a:r>
              <a:endParaRPr sz="1388">
                <a:latin typeface="Gill Sans MT"/>
                <a:cs typeface="Gill Sans MT"/>
              </a:endParaRPr>
            </a:p>
            <a:p>
              <a:pPr marL="16788">
                <a:lnSpc>
                  <a:spcPts val="1560"/>
                </a:lnSpc>
              </a:pPr>
              <a:r>
                <a:rPr sz="1388" dirty="0">
                  <a:latin typeface="Gill Sans MT"/>
                  <a:cs typeface="Gill Sans MT"/>
                </a:rPr>
                <a:t>access</a:t>
              </a:r>
              <a:r>
                <a:rPr sz="1388" spc="-26" dirty="0">
                  <a:latin typeface="Gill Sans MT"/>
                  <a:cs typeface="Gill Sans MT"/>
                </a:rPr>
                <a:t> </a:t>
              </a:r>
              <a:r>
                <a:rPr sz="1388" spc="-13" dirty="0">
                  <a:latin typeface="Gill Sans MT"/>
                  <a:cs typeface="Gill Sans MT"/>
                </a:rPr>
                <a:t>transactions</a:t>
              </a:r>
              <a:endParaRPr sz="1388">
                <a:latin typeface="Gill Sans MT"/>
                <a:cs typeface="Gill Sans MT"/>
              </a:endParaRPr>
            </a:p>
          </p:txBody>
        </p:sp>
        <p:grpSp>
          <p:nvGrpSpPr>
            <p:cNvPr id="88" name="object 37">
              <a:extLst>
                <a:ext uri="{FF2B5EF4-FFF2-40B4-BE49-F238E27FC236}">
                  <a16:creationId xmlns:a16="http://schemas.microsoft.com/office/drawing/2014/main" id="{B05790EB-475D-0678-2AD9-F42215A72BE6}"/>
                </a:ext>
              </a:extLst>
            </p:cNvPr>
            <p:cNvGrpSpPr/>
            <p:nvPr/>
          </p:nvGrpSpPr>
          <p:grpSpPr>
            <a:xfrm>
              <a:off x="1795186" y="3668903"/>
              <a:ext cx="2227799" cy="1045069"/>
              <a:chOff x="1318513" y="2775457"/>
              <a:chExt cx="1685289" cy="790575"/>
            </a:xfrm>
          </p:grpSpPr>
          <p:sp>
            <p:nvSpPr>
              <p:cNvPr id="89" name="object 38">
                <a:extLst>
                  <a:ext uri="{FF2B5EF4-FFF2-40B4-BE49-F238E27FC236}">
                    <a16:creationId xmlns:a16="http://schemas.microsoft.com/office/drawing/2014/main" id="{D2EC62EE-9762-E98C-EE0E-2D57B69C5690}"/>
                  </a:ext>
                </a:extLst>
              </p:cNvPr>
              <p:cNvSpPr/>
              <p:nvPr/>
            </p:nvSpPr>
            <p:spPr>
              <a:xfrm>
                <a:off x="2734055" y="3011423"/>
                <a:ext cx="269875" cy="317500"/>
              </a:xfrm>
              <a:custGeom>
                <a:avLst/>
                <a:gdLst/>
                <a:ahLst/>
                <a:cxnLst/>
                <a:rect l="l" t="t" r="r" b="b"/>
                <a:pathLst>
                  <a:path w="269875" h="317500">
                    <a:moveTo>
                      <a:pt x="134874" y="0"/>
                    </a:moveTo>
                    <a:lnTo>
                      <a:pt x="0" y="158496"/>
                    </a:lnTo>
                    <a:lnTo>
                      <a:pt x="134874" y="316992"/>
                    </a:lnTo>
                    <a:lnTo>
                      <a:pt x="134874" y="253619"/>
                    </a:lnTo>
                    <a:lnTo>
                      <a:pt x="269748" y="253619"/>
                    </a:lnTo>
                    <a:lnTo>
                      <a:pt x="269748" y="63373"/>
                    </a:lnTo>
                    <a:lnTo>
                      <a:pt x="134874" y="63373"/>
                    </a:lnTo>
                    <a:lnTo>
                      <a:pt x="134874" y="0"/>
                    </a:lnTo>
                    <a:close/>
                  </a:path>
                </a:pathLst>
              </a:custGeom>
              <a:solidFill>
                <a:srgbClr val="AAACB9"/>
              </a:solidFill>
            </p:spPr>
            <p:txBody>
              <a:bodyPr wrap="square" lIns="0" tIns="0" rIns="0" bIns="0" rtlCol="0"/>
              <a:lstStyle/>
              <a:p>
                <a:endParaRPr sz="2379"/>
              </a:p>
            </p:txBody>
          </p:sp>
          <p:sp>
            <p:nvSpPr>
              <p:cNvPr id="91" name="object 39">
                <a:extLst>
                  <a:ext uri="{FF2B5EF4-FFF2-40B4-BE49-F238E27FC236}">
                    <a16:creationId xmlns:a16="http://schemas.microsoft.com/office/drawing/2014/main" id="{58C216BA-8BAE-43DB-BA08-98AF028CE737}"/>
                  </a:ext>
                </a:extLst>
              </p:cNvPr>
              <p:cNvSpPr/>
              <p:nvPr/>
            </p:nvSpPr>
            <p:spPr>
              <a:xfrm>
                <a:off x="1331213" y="2788157"/>
                <a:ext cx="1275715" cy="765175"/>
              </a:xfrm>
              <a:custGeom>
                <a:avLst/>
                <a:gdLst/>
                <a:ahLst/>
                <a:cxnLst/>
                <a:rect l="l" t="t" r="r" b="b"/>
                <a:pathLst>
                  <a:path w="1275714" h="765175">
                    <a:moveTo>
                      <a:pt x="1199134" y="0"/>
                    </a:moveTo>
                    <a:lnTo>
                      <a:pt x="76454" y="0"/>
                    </a:lnTo>
                    <a:lnTo>
                      <a:pt x="46720" y="6016"/>
                    </a:lnTo>
                    <a:lnTo>
                      <a:pt x="22415" y="22415"/>
                    </a:lnTo>
                    <a:lnTo>
                      <a:pt x="6016" y="46720"/>
                    </a:lnTo>
                    <a:lnTo>
                      <a:pt x="0" y="76453"/>
                    </a:lnTo>
                    <a:lnTo>
                      <a:pt x="0" y="688594"/>
                    </a:lnTo>
                    <a:lnTo>
                      <a:pt x="6016" y="718327"/>
                    </a:lnTo>
                    <a:lnTo>
                      <a:pt x="22415" y="742632"/>
                    </a:lnTo>
                    <a:lnTo>
                      <a:pt x="46720" y="759031"/>
                    </a:lnTo>
                    <a:lnTo>
                      <a:pt x="76454" y="765047"/>
                    </a:lnTo>
                    <a:lnTo>
                      <a:pt x="1199134" y="765047"/>
                    </a:lnTo>
                    <a:lnTo>
                      <a:pt x="1228867" y="759031"/>
                    </a:lnTo>
                    <a:lnTo>
                      <a:pt x="1253172" y="742632"/>
                    </a:lnTo>
                    <a:lnTo>
                      <a:pt x="1269571" y="718327"/>
                    </a:lnTo>
                    <a:lnTo>
                      <a:pt x="1275588" y="688594"/>
                    </a:lnTo>
                    <a:lnTo>
                      <a:pt x="1275588" y="76453"/>
                    </a:lnTo>
                    <a:lnTo>
                      <a:pt x="1269571" y="46720"/>
                    </a:lnTo>
                    <a:lnTo>
                      <a:pt x="1253172" y="22415"/>
                    </a:lnTo>
                    <a:lnTo>
                      <a:pt x="1228867" y="6016"/>
                    </a:lnTo>
                    <a:lnTo>
                      <a:pt x="1199134" y="0"/>
                    </a:lnTo>
                    <a:close/>
                  </a:path>
                </a:pathLst>
              </a:custGeom>
              <a:solidFill>
                <a:srgbClr val="FFFFFF"/>
              </a:solidFill>
            </p:spPr>
            <p:txBody>
              <a:bodyPr wrap="square" lIns="0" tIns="0" rIns="0" bIns="0" rtlCol="0"/>
              <a:lstStyle/>
              <a:p>
                <a:endParaRPr sz="2379"/>
              </a:p>
            </p:txBody>
          </p:sp>
          <p:sp>
            <p:nvSpPr>
              <p:cNvPr id="92" name="object 40">
                <a:extLst>
                  <a:ext uri="{FF2B5EF4-FFF2-40B4-BE49-F238E27FC236}">
                    <a16:creationId xmlns:a16="http://schemas.microsoft.com/office/drawing/2014/main" id="{F3135B80-6E0F-4F63-5A46-8315B7D7F90D}"/>
                  </a:ext>
                </a:extLst>
              </p:cNvPr>
              <p:cNvSpPr/>
              <p:nvPr/>
            </p:nvSpPr>
            <p:spPr>
              <a:xfrm>
                <a:off x="1331213" y="2788157"/>
                <a:ext cx="1275715" cy="765175"/>
              </a:xfrm>
              <a:custGeom>
                <a:avLst/>
                <a:gdLst/>
                <a:ahLst/>
                <a:cxnLst/>
                <a:rect l="l" t="t" r="r" b="b"/>
                <a:pathLst>
                  <a:path w="1275714" h="765175">
                    <a:moveTo>
                      <a:pt x="0" y="76453"/>
                    </a:moveTo>
                    <a:lnTo>
                      <a:pt x="6016" y="46720"/>
                    </a:lnTo>
                    <a:lnTo>
                      <a:pt x="22415" y="22415"/>
                    </a:lnTo>
                    <a:lnTo>
                      <a:pt x="46720" y="6016"/>
                    </a:lnTo>
                    <a:lnTo>
                      <a:pt x="76454" y="0"/>
                    </a:lnTo>
                    <a:lnTo>
                      <a:pt x="1199134" y="0"/>
                    </a:lnTo>
                    <a:lnTo>
                      <a:pt x="1228867" y="6016"/>
                    </a:lnTo>
                    <a:lnTo>
                      <a:pt x="1253172" y="22415"/>
                    </a:lnTo>
                    <a:lnTo>
                      <a:pt x="1269571" y="46720"/>
                    </a:lnTo>
                    <a:lnTo>
                      <a:pt x="1275588" y="76453"/>
                    </a:lnTo>
                    <a:lnTo>
                      <a:pt x="1275588" y="688594"/>
                    </a:lnTo>
                    <a:lnTo>
                      <a:pt x="1269571" y="718327"/>
                    </a:lnTo>
                    <a:lnTo>
                      <a:pt x="1253172" y="742632"/>
                    </a:lnTo>
                    <a:lnTo>
                      <a:pt x="1228867" y="759031"/>
                    </a:lnTo>
                    <a:lnTo>
                      <a:pt x="1199134" y="765047"/>
                    </a:lnTo>
                    <a:lnTo>
                      <a:pt x="76454" y="765047"/>
                    </a:lnTo>
                    <a:lnTo>
                      <a:pt x="46720" y="759031"/>
                    </a:lnTo>
                    <a:lnTo>
                      <a:pt x="22415" y="742632"/>
                    </a:lnTo>
                    <a:lnTo>
                      <a:pt x="6016" y="718327"/>
                    </a:lnTo>
                    <a:lnTo>
                      <a:pt x="0" y="688594"/>
                    </a:lnTo>
                    <a:lnTo>
                      <a:pt x="0" y="76453"/>
                    </a:lnTo>
                    <a:close/>
                  </a:path>
                </a:pathLst>
              </a:custGeom>
              <a:ln w="25400">
                <a:solidFill>
                  <a:srgbClr val="002A60"/>
                </a:solidFill>
              </a:ln>
            </p:spPr>
            <p:txBody>
              <a:bodyPr wrap="square" lIns="0" tIns="0" rIns="0" bIns="0" rtlCol="0"/>
              <a:lstStyle/>
              <a:p>
                <a:endParaRPr sz="2379"/>
              </a:p>
            </p:txBody>
          </p:sp>
        </p:grpSp>
        <p:sp>
          <p:nvSpPr>
            <p:cNvPr id="93" name="object 41">
              <a:extLst>
                <a:ext uri="{FF2B5EF4-FFF2-40B4-BE49-F238E27FC236}">
                  <a16:creationId xmlns:a16="http://schemas.microsoft.com/office/drawing/2014/main" id="{A5D7CC1D-19DB-C383-E127-4450903A4BCF}"/>
                </a:ext>
              </a:extLst>
            </p:cNvPr>
            <p:cNvSpPr txBox="1"/>
            <p:nvPr/>
          </p:nvSpPr>
          <p:spPr>
            <a:xfrm>
              <a:off x="1938054" y="3680824"/>
              <a:ext cx="1428680" cy="974024"/>
            </a:xfrm>
            <a:prstGeom prst="rect">
              <a:avLst/>
            </a:prstGeom>
          </p:spPr>
          <p:txBody>
            <a:bodyPr vert="horz" wrap="square" lIns="0" tIns="44489" rIns="0" bIns="0" rtlCol="0">
              <a:spAutoFit/>
            </a:bodyPr>
            <a:lstStyle/>
            <a:p>
              <a:pPr marL="15949" marR="6715" algn="ctr">
                <a:lnSpc>
                  <a:spcPct val="87200"/>
                </a:lnSpc>
                <a:spcBef>
                  <a:spcPts val="350"/>
                </a:spcBef>
              </a:pPr>
              <a:r>
                <a:rPr sz="1388" dirty="0">
                  <a:latin typeface="Gill Sans MT"/>
                  <a:cs typeface="Gill Sans MT"/>
                </a:rPr>
                <a:t>Payment</a:t>
              </a:r>
              <a:r>
                <a:rPr sz="1388" spc="-46" dirty="0">
                  <a:latin typeface="Gill Sans MT"/>
                  <a:cs typeface="Gill Sans MT"/>
                </a:rPr>
                <a:t> </a:t>
              </a:r>
              <a:r>
                <a:rPr sz="1388" dirty="0">
                  <a:latin typeface="Gill Sans MT"/>
                  <a:cs typeface="Gill Sans MT"/>
                </a:rPr>
                <a:t>of</a:t>
              </a:r>
              <a:r>
                <a:rPr sz="1388" spc="370" dirty="0">
                  <a:latin typeface="Gill Sans MT"/>
                  <a:cs typeface="Gill Sans MT"/>
                </a:rPr>
                <a:t> </a:t>
              </a:r>
              <a:r>
                <a:rPr sz="1388" dirty="0">
                  <a:latin typeface="Gill Sans MT"/>
                  <a:cs typeface="Gill Sans MT"/>
                </a:rPr>
                <a:t>Tx</a:t>
              </a:r>
              <a:r>
                <a:rPr sz="1388" spc="-20" dirty="0">
                  <a:latin typeface="Gill Sans MT"/>
                  <a:cs typeface="Gill Sans MT"/>
                </a:rPr>
                <a:t> </a:t>
              </a:r>
              <a:r>
                <a:rPr sz="1388" spc="-33" dirty="0">
                  <a:latin typeface="Gill Sans MT"/>
                  <a:cs typeface="Gill Sans MT"/>
                </a:rPr>
                <a:t>and </a:t>
              </a:r>
              <a:r>
                <a:rPr sz="1388" dirty="0">
                  <a:latin typeface="Gill Sans MT"/>
                  <a:cs typeface="Gill Sans MT"/>
                </a:rPr>
                <a:t>wheeling</a:t>
              </a:r>
              <a:r>
                <a:rPr sz="1388" spc="-26" dirty="0">
                  <a:latin typeface="Gill Sans MT"/>
                  <a:cs typeface="Gill Sans MT"/>
                </a:rPr>
                <a:t> </a:t>
              </a:r>
              <a:r>
                <a:rPr sz="1388" spc="-13" dirty="0">
                  <a:latin typeface="Gill Sans MT"/>
                  <a:cs typeface="Gill Sans MT"/>
                </a:rPr>
                <a:t>charges; </a:t>
              </a:r>
              <a:r>
                <a:rPr sz="1388" dirty="0">
                  <a:latin typeface="Gill Sans MT"/>
                  <a:cs typeface="Gill Sans MT"/>
                </a:rPr>
                <a:t>Payment</a:t>
              </a:r>
              <a:r>
                <a:rPr sz="1388" spc="-53" dirty="0">
                  <a:latin typeface="Gill Sans MT"/>
                  <a:cs typeface="Gill Sans MT"/>
                </a:rPr>
                <a:t> </a:t>
              </a:r>
              <a:r>
                <a:rPr sz="1388" spc="-33" dirty="0">
                  <a:latin typeface="Gill Sans MT"/>
                  <a:cs typeface="Gill Sans MT"/>
                </a:rPr>
                <a:t>of </a:t>
              </a:r>
              <a:r>
                <a:rPr sz="1388" dirty="0">
                  <a:latin typeface="Gill Sans MT"/>
                  <a:cs typeface="Gill Sans MT"/>
                </a:rPr>
                <a:t>surcharges,</a:t>
              </a:r>
              <a:r>
                <a:rPr sz="1388" spc="-40" dirty="0">
                  <a:latin typeface="Gill Sans MT"/>
                  <a:cs typeface="Gill Sans MT"/>
                </a:rPr>
                <a:t> </a:t>
              </a:r>
              <a:r>
                <a:rPr sz="1388" spc="-33" dirty="0">
                  <a:latin typeface="Gill Sans MT"/>
                  <a:cs typeface="Gill Sans MT"/>
                </a:rPr>
                <a:t>if </a:t>
              </a:r>
              <a:r>
                <a:rPr sz="1388" spc="-13" dirty="0">
                  <a:latin typeface="Gill Sans MT"/>
                  <a:cs typeface="Gill Sans MT"/>
                </a:rPr>
                <a:t>applicable</a:t>
              </a:r>
              <a:endParaRPr sz="1388">
                <a:latin typeface="Gill Sans MT"/>
                <a:cs typeface="Gill Sans MT"/>
              </a:endParaRPr>
            </a:p>
          </p:txBody>
        </p:sp>
        <p:grpSp>
          <p:nvGrpSpPr>
            <p:cNvPr id="94" name="object 42">
              <a:extLst>
                <a:ext uri="{FF2B5EF4-FFF2-40B4-BE49-F238E27FC236}">
                  <a16:creationId xmlns:a16="http://schemas.microsoft.com/office/drawing/2014/main" id="{8963B204-BCF1-B843-E774-C6662D5199F2}"/>
                </a:ext>
              </a:extLst>
            </p:cNvPr>
            <p:cNvGrpSpPr/>
            <p:nvPr/>
          </p:nvGrpSpPr>
          <p:grpSpPr>
            <a:xfrm>
              <a:off x="1795186" y="4845088"/>
              <a:ext cx="1719956" cy="1555431"/>
              <a:chOff x="1318513" y="3665219"/>
              <a:chExt cx="1301115" cy="1176655"/>
            </a:xfrm>
          </p:grpSpPr>
          <p:sp>
            <p:nvSpPr>
              <p:cNvPr id="95" name="object 43">
                <a:extLst>
                  <a:ext uri="{FF2B5EF4-FFF2-40B4-BE49-F238E27FC236}">
                    <a16:creationId xmlns:a16="http://schemas.microsoft.com/office/drawing/2014/main" id="{4756085E-5B42-9B07-BCFF-9AB7685F28B1}"/>
                  </a:ext>
                </a:extLst>
              </p:cNvPr>
              <p:cNvSpPr/>
              <p:nvPr/>
            </p:nvSpPr>
            <p:spPr>
              <a:xfrm>
                <a:off x="1810512" y="3665219"/>
                <a:ext cx="315595" cy="269875"/>
              </a:xfrm>
              <a:custGeom>
                <a:avLst/>
                <a:gdLst/>
                <a:ahLst/>
                <a:cxnLst/>
                <a:rect l="l" t="t" r="r" b="b"/>
                <a:pathLst>
                  <a:path w="315594" h="269875">
                    <a:moveTo>
                      <a:pt x="252349" y="0"/>
                    </a:moveTo>
                    <a:lnTo>
                      <a:pt x="63118" y="0"/>
                    </a:lnTo>
                    <a:lnTo>
                      <a:pt x="63118" y="134873"/>
                    </a:lnTo>
                    <a:lnTo>
                      <a:pt x="0" y="134873"/>
                    </a:lnTo>
                    <a:lnTo>
                      <a:pt x="157733" y="269747"/>
                    </a:lnTo>
                    <a:lnTo>
                      <a:pt x="315468" y="134873"/>
                    </a:lnTo>
                    <a:lnTo>
                      <a:pt x="252349" y="134873"/>
                    </a:lnTo>
                    <a:lnTo>
                      <a:pt x="252349" y="0"/>
                    </a:lnTo>
                    <a:close/>
                  </a:path>
                </a:pathLst>
              </a:custGeom>
              <a:solidFill>
                <a:srgbClr val="AAACB9"/>
              </a:solidFill>
            </p:spPr>
            <p:txBody>
              <a:bodyPr wrap="square" lIns="0" tIns="0" rIns="0" bIns="0" rtlCol="0"/>
              <a:lstStyle/>
              <a:p>
                <a:endParaRPr sz="2379"/>
              </a:p>
            </p:txBody>
          </p:sp>
          <p:sp>
            <p:nvSpPr>
              <p:cNvPr id="96" name="object 44">
                <a:extLst>
                  <a:ext uri="{FF2B5EF4-FFF2-40B4-BE49-F238E27FC236}">
                    <a16:creationId xmlns:a16="http://schemas.microsoft.com/office/drawing/2014/main" id="{3473234C-00E1-89D9-0C3B-88F5E3AF450C}"/>
                  </a:ext>
                </a:extLst>
              </p:cNvPr>
              <p:cNvSpPr/>
              <p:nvPr/>
            </p:nvSpPr>
            <p:spPr>
              <a:xfrm>
                <a:off x="1331213" y="4063745"/>
                <a:ext cx="1275715" cy="765175"/>
              </a:xfrm>
              <a:custGeom>
                <a:avLst/>
                <a:gdLst/>
                <a:ahLst/>
                <a:cxnLst/>
                <a:rect l="l" t="t" r="r" b="b"/>
                <a:pathLst>
                  <a:path w="1275714" h="765175">
                    <a:moveTo>
                      <a:pt x="1199134" y="0"/>
                    </a:moveTo>
                    <a:lnTo>
                      <a:pt x="76454" y="0"/>
                    </a:lnTo>
                    <a:lnTo>
                      <a:pt x="46720" y="6012"/>
                    </a:lnTo>
                    <a:lnTo>
                      <a:pt x="22415" y="22407"/>
                    </a:lnTo>
                    <a:lnTo>
                      <a:pt x="6016" y="46725"/>
                    </a:lnTo>
                    <a:lnTo>
                      <a:pt x="0" y="76504"/>
                    </a:lnTo>
                    <a:lnTo>
                      <a:pt x="0" y="688543"/>
                    </a:lnTo>
                    <a:lnTo>
                      <a:pt x="6016" y="718322"/>
                    </a:lnTo>
                    <a:lnTo>
                      <a:pt x="22415" y="742640"/>
                    </a:lnTo>
                    <a:lnTo>
                      <a:pt x="46720" y="759035"/>
                    </a:lnTo>
                    <a:lnTo>
                      <a:pt x="76454" y="765047"/>
                    </a:lnTo>
                    <a:lnTo>
                      <a:pt x="1199134" y="765047"/>
                    </a:lnTo>
                    <a:lnTo>
                      <a:pt x="1228867" y="759035"/>
                    </a:lnTo>
                    <a:lnTo>
                      <a:pt x="1253172" y="742640"/>
                    </a:lnTo>
                    <a:lnTo>
                      <a:pt x="1269571" y="718322"/>
                    </a:lnTo>
                    <a:lnTo>
                      <a:pt x="1275588" y="688543"/>
                    </a:lnTo>
                    <a:lnTo>
                      <a:pt x="1275588" y="76504"/>
                    </a:lnTo>
                    <a:lnTo>
                      <a:pt x="1269571" y="46725"/>
                    </a:lnTo>
                    <a:lnTo>
                      <a:pt x="1253172" y="22407"/>
                    </a:lnTo>
                    <a:lnTo>
                      <a:pt x="1228867" y="6012"/>
                    </a:lnTo>
                    <a:lnTo>
                      <a:pt x="1199134" y="0"/>
                    </a:lnTo>
                    <a:close/>
                  </a:path>
                </a:pathLst>
              </a:custGeom>
              <a:solidFill>
                <a:srgbClr val="FFFFFF"/>
              </a:solidFill>
            </p:spPr>
            <p:txBody>
              <a:bodyPr wrap="square" lIns="0" tIns="0" rIns="0" bIns="0" rtlCol="0"/>
              <a:lstStyle/>
              <a:p>
                <a:endParaRPr sz="2379"/>
              </a:p>
            </p:txBody>
          </p:sp>
          <p:sp>
            <p:nvSpPr>
              <p:cNvPr id="97" name="object 45">
                <a:extLst>
                  <a:ext uri="{FF2B5EF4-FFF2-40B4-BE49-F238E27FC236}">
                    <a16:creationId xmlns:a16="http://schemas.microsoft.com/office/drawing/2014/main" id="{F7919982-6F89-CDCB-89FD-1B5F4698D2E2}"/>
                  </a:ext>
                </a:extLst>
              </p:cNvPr>
              <p:cNvSpPr/>
              <p:nvPr/>
            </p:nvSpPr>
            <p:spPr>
              <a:xfrm>
                <a:off x="1331213" y="4063745"/>
                <a:ext cx="1275715" cy="765175"/>
              </a:xfrm>
              <a:custGeom>
                <a:avLst/>
                <a:gdLst/>
                <a:ahLst/>
                <a:cxnLst/>
                <a:rect l="l" t="t" r="r" b="b"/>
                <a:pathLst>
                  <a:path w="1275714" h="765175">
                    <a:moveTo>
                      <a:pt x="0" y="76504"/>
                    </a:moveTo>
                    <a:lnTo>
                      <a:pt x="6016" y="46725"/>
                    </a:lnTo>
                    <a:lnTo>
                      <a:pt x="22415" y="22407"/>
                    </a:lnTo>
                    <a:lnTo>
                      <a:pt x="46720" y="6012"/>
                    </a:lnTo>
                    <a:lnTo>
                      <a:pt x="76454" y="0"/>
                    </a:lnTo>
                    <a:lnTo>
                      <a:pt x="1199134" y="0"/>
                    </a:lnTo>
                    <a:lnTo>
                      <a:pt x="1228867" y="6012"/>
                    </a:lnTo>
                    <a:lnTo>
                      <a:pt x="1253172" y="22407"/>
                    </a:lnTo>
                    <a:lnTo>
                      <a:pt x="1269571" y="46725"/>
                    </a:lnTo>
                    <a:lnTo>
                      <a:pt x="1275588" y="76504"/>
                    </a:lnTo>
                    <a:lnTo>
                      <a:pt x="1275588" y="688543"/>
                    </a:lnTo>
                    <a:lnTo>
                      <a:pt x="1269571" y="718322"/>
                    </a:lnTo>
                    <a:lnTo>
                      <a:pt x="1253172" y="742640"/>
                    </a:lnTo>
                    <a:lnTo>
                      <a:pt x="1228867" y="759035"/>
                    </a:lnTo>
                    <a:lnTo>
                      <a:pt x="1199134" y="765047"/>
                    </a:lnTo>
                    <a:lnTo>
                      <a:pt x="76454" y="765047"/>
                    </a:lnTo>
                    <a:lnTo>
                      <a:pt x="46720" y="759035"/>
                    </a:lnTo>
                    <a:lnTo>
                      <a:pt x="22415" y="742640"/>
                    </a:lnTo>
                    <a:lnTo>
                      <a:pt x="6016" y="718322"/>
                    </a:lnTo>
                    <a:lnTo>
                      <a:pt x="0" y="688543"/>
                    </a:lnTo>
                    <a:lnTo>
                      <a:pt x="0" y="76504"/>
                    </a:lnTo>
                    <a:close/>
                  </a:path>
                </a:pathLst>
              </a:custGeom>
              <a:ln w="25400">
                <a:solidFill>
                  <a:srgbClr val="002A60"/>
                </a:solidFill>
              </a:ln>
            </p:spPr>
            <p:txBody>
              <a:bodyPr wrap="square" lIns="0" tIns="0" rIns="0" bIns="0" rtlCol="0"/>
              <a:lstStyle/>
              <a:p>
                <a:endParaRPr sz="2379"/>
              </a:p>
            </p:txBody>
          </p:sp>
        </p:grpSp>
        <p:sp>
          <p:nvSpPr>
            <p:cNvPr id="98" name="object 46">
              <a:extLst>
                <a:ext uri="{FF2B5EF4-FFF2-40B4-BE49-F238E27FC236}">
                  <a16:creationId xmlns:a16="http://schemas.microsoft.com/office/drawing/2014/main" id="{DD2F66A1-9D0A-A91D-A6A7-382CF86652BA}"/>
                </a:ext>
              </a:extLst>
            </p:cNvPr>
            <p:cNvSpPr txBox="1"/>
            <p:nvPr/>
          </p:nvSpPr>
          <p:spPr>
            <a:xfrm>
              <a:off x="1986404" y="5459270"/>
              <a:ext cx="1335505" cy="789051"/>
            </a:xfrm>
            <a:prstGeom prst="rect">
              <a:avLst/>
            </a:prstGeom>
          </p:spPr>
          <p:txBody>
            <a:bodyPr vert="horz" wrap="square" lIns="0" tIns="45328" rIns="0" bIns="0" rtlCol="0">
              <a:spAutoFit/>
            </a:bodyPr>
            <a:lstStyle/>
            <a:p>
              <a:pPr marL="15949" marR="6715" algn="ctr">
                <a:lnSpc>
                  <a:spcPct val="87000"/>
                </a:lnSpc>
                <a:spcBef>
                  <a:spcPts val="357"/>
                </a:spcBef>
              </a:pPr>
              <a:r>
                <a:rPr sz="1388" dirty="0">
                  <a:latin typeface="Gill Sans MT"/>
                  <a:cs typeface="Gill Sans MT"/>
                </a:rPr>
                <a:t>Energy</a:t>
              </a:r>
              <a:r>
                <a:rPr sz="1388" spc="-33" dirty="0">
                  <a:latin typeface="Gill Sans MT"/>
                  <a:cs typeface="Gill Sans MT"/>
                </a:rPr>
                <a:t> </a:t>
              </a:r>
              <a:r>
                <a:rPr sz="1388" spc="-13" dirty="0">
                  <a:latin typeface="Gill Sans MT"/>
                  <a:cs typeface="Gill Sans MT"/>
                </a:rPr>
                <a:t>accounting </a:t>
              </a:r>
              <a:r>
                <a:rPr sz="1388" dirty="0">
                  <a:latin typeface="Gill Sans MT"/>
                  <a:cs typeface="Gill Sans MT"/>
                </a:rPr>
                <a:t>carried</a:t>
              </a:r>
              <a:r>
                <a:rPr sz="1388" spc="-40" dirty="0">
                  <a:latin typeface="Gill Sans MT"/>
                  <a:cs typeface="Gill Sans MT"/>
                </a:rPr>
                <a:t> </a:t>
              </a:r>
              <a:r>
                <a:rPr sz="1388" dirty="0">
                  <a:latin typeface="Gill Sans MT"/>
                  <a:cs typeface="Gill Sans MT"/>
                </a:rPr>
                <a:t>out</a:t>
              </a:r>
              <a:r>
                <a:rPr sz="1388" spc="-20" dirty="0">
                  <a:latin typeface="Gill Sans MT"/>
                  <a:cs typeface="Gill Sans MT"/>
                </a:rPr>
                <a:t> </a:t>
              </a:r>
              <a:r>
                <a:rPr sz="1388" dirty="0">
                  <a:latin typeface="Gill Sans MT"/>
                  <a:cs typeface="Gill Sans MT"/>
                </a:rPr>
                <a:t>by</a:t>
              </a:r>
              <a:r>
                <a:rPr sz="1388" spc="7" dirty="0">
                  <a:latin typeface="Gill Sans MT"/>
                  <a:cs typeface="Gill Sans MT"/>
                </a:rPr>
                <a:t> </a:t>
              </a:r>
              <a:r>
                <a:rPr sz="1388" spc="-33" dirty="0">
                  <a:latin typeface="Gill Sans MT"/>
                  <a:cs typeface="Gill Sans MT"/>
                </a:rPr>
                <a:t>Tx </a:t>
              </a:r>
              <a:r>
                <a:rPr sz="1388" dirty="0">
                  <a:latin typeface="Gill Sans MT"/>
                  <a:cs typeface="Gill Sans MT"/>
                </a:rPr>
                <a:t>Utility</a:t>
              </a:r>
              <a:r>
                <a:rPr sz="1388" spc="-7" dirty="0">
                  <a:latin typeface="Gill Sans MT"/>
                  <a:cs typeface="Gill Sans MT"/>
                </a:rPr>
                <a:t> </a:t>
              </a:r>
              <a:r>
                <a:rPr sz="1388" dirty="0">
                  <a:latin typeface="Gill Sans MT"/>
                  <a:cs typeface="Gill Sans MT"/>
                </a:rPr>
                <a:t>and</a:t>
              </a:r>
              <a:r>
                <a:rPr sz="1388" spc="-26" dirty="0">
                  <a:latin typeface="Gill Sans MT"/>
                  <a:cs typeface="Gill Sans MT"/>
                </a:rPr>
                <a:t> </a:t>
              </a:r>
              <a:r>
                <a:rPr sz="1388" spc="-33" dirty="0">
                  <a:latin typeface="Gill Sans MT"/>
                  <a:cs typeface="Gill Sans MT"/>
                </a:rPr>
                <a:t>the </a:t>
              </a:r>
              <a:r>
                <a:rPr sz="1388" spc="-13" dirty="0">
                  <a:latin typeface="Gill Sans MT"/>
                  <a:cs typeface="Gill Sans MT"/>
                </a:rPr>
                <a:t>DISCOM</a:t>
              </a:r>
              <a:endParaRPr sz="1388">
                <a:latin typeface="Gill Sans MT"/>
                <a:cs typeface="Gill Sans MT"/>
              </a:endParaRPr>
            </a:p>
          </p:txBody>
        </p:sp>
        <p:sp>
          <p:nvSpPr>
            <p:cNvPr id="99" name="object 50">
              <a:extLst>
                <a:ext uri="{FF2B5EF4-FFF2-40B4-BE49-F238E27FC236}">
                  <a16:creationId xmlns:a16="http://schemas.microsoft.com/office/drawing/2014/main" id="{7D605A00-8DF8-3C74-7F3B-CE6E3FE43A5A}"/>
                </a:ext>
              </a:extLst>
            </p:cNvPr>
            <p:cNvSpPr txBox="1">
              <a:spLocks/>
            </p:cNvSpPr>
            <p:nvPr/>
          </p:nvSpPr>
          <p:spPr>
            <a:xfrm>
              <a:off x="8811006" y="4883210"/>
              <a:ext cx="139700" cy="114300"/>
            </a:xfrm>
            <a:prstGeom prst="rect">
              <a:avLst/>
            </a:prstGeom>
          </p:spPr>
          <p:txBody>
            <a:bodyPr vert="horz" wrap="square" lIns="0" tIns="0" rIns="0" bIns="0" rtlCol="0">
              <a:spAutoFit/>
            </a:bodyPr>
            <a:lstStyle>
              <a:defPPr>
                <a:defRPr lang="en-US" kern="0"/>
              </a:defPPr>
              <a:lvl1pPr marL="0" algn="l" defTabSz="914400" rtl="0" eaLnBrk="1" latinLnBrk="0" hangingPunct="1">
                <a:defRPr sz="600" b="0" i="0" kern="1200">
                  <a:solidFill>
                    <a:srgbClr val="6C6362"/>
                  </a:solidFill>
                  <a:latin typeface="Gill Sans MT"/>
                  <a:ea typeface="+mn-ea"/>
                  <a:cs typeface="Gill Sans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7153">
                <a:spcBef>
                  <a:spcPts val="73"/>
                </a:spcBef>
              </a:pPr>
              <a:fld id="{81D60167-4931-47E6-BA6A-407CBD079E47}" type="slidenum">
                <a:rPr lang="en-US" spc="-50" smtClean="0">
                  <a:solidFill>
                    <a:srgbClr val="FFFFFF"/>
                  </a:solidFill>
                </a:rPr>
                <a:pPr marL="67153">
                  <a:spcBef>
                    <a:spcPts val="73"/>
                  </a:spcBef>
                </a:pPr>
                <a:t>19</a:t>
              </a:fld>
              <a:endParaRPr lang="en-US" spc="-66" dirty="0"/>
            </a:p>
          </p:txBody>
        </p:sp>
        <p:sp>
          <p:nvSpPr>
            <p:cNvPr id="143" name="Rectangle: Rounded Corners 142">
              <a:extLst>
                <a:ext uri="{FF2B5EF4-FFF2-40B4-BE49-F238E27FC236}">
                  <a16:creationId xmlns:a16="http://schemas.microsoft.com/office/drawing/2014/main" id="{CE9D5C48-4DDD-91A9-B1D2-A261FC6C859F}"/>
                </a:ext>
              </a:extLst>
            </p:cNvPr>
            <p:cNvSpPr/>
            <p:nvPr/>
          </p:nvSpPr>
          <p:spPr>
            <a:xfrm>
              <a:off x="1811974" y="1999479"/>
              <a:ext cx="1684368" cy="10066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45" name="Picture 144">
            <a:extLst>
              <a:ext uri="{FF2B5EF4-FFF2-40B4-BE49-F238E27FC236}">
                <a16:creationId xmlns:a16="http://schemas.microsoft.com/office/drawing/2014/main" id="{9E6B7FA2-D1F8-59C5-E88C-39EFBDACC654}"/>
              </a:ext>
            </a:extLst>
          </p:cNvPr>
          <p:cNvPicPr>
            <a:picLocks noChangeAspect="1"/>
          </p:cNvPicPr>
          <p:nvPr/>
        </p:nvPicPr>
        <p:blipFill>
          <a:blip r:embed="rId5"/>
          <a:stretch>
            <a:fillRect/>
          </a:stretch>
        </p:blipFill>
        <p:spPr>
          <a:xfrm>
            <a:off x="10726063" y="402587"/>
            <a:ext cx="878522" cy="566928"/>
          </a:xfrm>
          <a:prstGeom prst="rect">
            <a:avLst/>
          </a:prstGeom>
        </p:spPr>
      </p:pic>
    </p:spTree>
    <p:extLst>
      <p:ext uri="{BB962C8B-B14F-4D97-AF65-F5344CB8AC3E}">
        <p14:creationId xmlns:p14="http://schemas.microsoft.com/office/powerpoint/2010/main" val="4680600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057EF-A8F1-CAD9-2C92-40EA87E2E15F}"/>
            </a:ext>
          </a:extLst>
        </p:cNvPr>
        <p:cNvGrpSpPr/>
        <p:nvPr/>
      </p:nvGrpSpPr>
      <p:grpSpPr>
        <a:xfrm>
          <a:off x="0" y="0"/>
          <a:ext cx="0" cy="0"/>
          <a:chOff x="0" y="0"/>
          <a:chExt cx="0" cy="0"/>
        </a:xfrm>
      </p:grpSpPr>
      <p:graphicFrame>
        <p:nvGraphicFramePr>
          <p:cNvPr id="87" name="think-cell data - do not delete" hidden="1">
            <a:extLst>
              <a:ext uri="{FF2B5EF4-FFF2-40B4-BE49-F238E27FC236}">
                <a16:creationId xmlns:a16="http://schemas.microsoft.com/office/drawing/2014/main" id="{655774DF-04CA-61D3-C38F-259D1C2BD1E6}"/>
              </a:ext>
            </a:extLst>
          </p:cNvPr>
          <p:cNvGraphicFramePr>
            <a:graphicFrameLocks noChangeAspect="1"/>
          </p:cNvGraphicFramePr>
          <p:nvPr>
            <p:custDataLst>
              <p:tags r:id="rId1"/>
            </p:custDataLst>
            <p:extLst>
              <p:ext uri="{D42A27DB-BD31-4B8C-83A1-F6EECF244321}">
                <p14:modId xmlns:p14="http://schemas.microsoft.com/office/powerpoint/2010/main" val="38322124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87" name="think-cell data - do not delete" hidden="1">
                        <a:extLst>
                          <a:ext uri="{FF2B5EF4-FFF2-40B4-BE49-F238E27FC236}">
                            <a16:creationId xmlns:a16="http://schemas.microsoft.com/office/drawing/2014/main" id="{1020FF40-6274-A400-A3A3-A64817CA3B6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0" name="Title 2">
            <a:extLst>
              <a:ext uri="{FF2B5EF4-FFF2-40B4-BE49-F238E27FC236}">
                <a16:creationId xmlns:a16="http://schemas.microsoft.com/office/drawing/2014/main" id="{E7B1F3A0-8A61-FEFB-25BA-DD4B47738D1A}"/>
              </a:ext>
            </a:extLst>
          </p:cNvPr>
          <p:cNvSpPr>
            <a:spLocks noGrp="1"/>
          </p:cNvSpPr>
          <p:nvPr>
            <p:ph type="title"/>
          </p:nvPr>
        </p:nvSpPr>
        <p:spPr>
          <a:xfrm>
            <a:off x="469902" y="402587"/>
            <a:ext cx="11252200" cy="334102"/>
          </a:xfrm>
        </p:spPr>
        <p:txBody>
          <a:bodyPr vert="horz">
            <a:noAutofit/>
          </a:bodyPr>
          <a:lstStyle/>
          <a:p>
            <a:r>
              <a:rPr lang="en-US" sz="2800" b="1" dirty="0">
                <a:latin typeface="Calibri" panose="020F0502020204030204" pitchFamily="34" charset="0"/>
                <a:cs typeface="Calibri" panose="020F0502020204030204" pitchFamily="34" charset="0"/>
              </a:rPr>
              <a:t>Typical process for open access in states in India (2/2)</a:t>
            </a:r>
          </a:p>
        </p:txBody>
      </p:sp>
      <p:pic>
        <p:nvPicPr>
          <p:cNvPr id="145" name="Picture 144">
            <a:extLst>
              <a:ext uri="{FF2B5EF4-FFF2-40B4-BE49-F238E27FC236}">
                <a16:creationId xmlns:a16="http://schemas.microsoft.com/office/drawing/2014/main" id="{224C4796-01A6-7D0A-1CCA-8CE9CD146126}"/>
              </a:ext>
            </a:extLst>
          </p:cNvPr>
          <p:cNvPicPr>
            <a:picLocks noChangeAspect="1"/>
          </p:cNvPicPr>
          <p:nvPr/>
        </p:nvPicPr>
        <p:blipFill>
          <a:blip r:embed="rId5"/>
          <a:stretch>
            <a:fillRect/>
          </a:stretch>
        </p:blipFill>
        <p:spPr>
          <a:xfrm>
            <a:off x="10726063" y="402587"/>
            <a:ext cx="878522" cy="566928"/>
          </a:xfrm>
          <a:prstGeom prst="rect">
            <a:avLst/>
          </a:prstGeom>
        </p:spPr>
      </p:pic>
      <p:sp>
        <p:nvSpPr>
          <p:cNvPr id="5" name="Rectangle 4">
            <a:extLst>
              <a:ext uri="{FF2B5EF4-FFF2-40B4-BE49-F238E27FC236}">
                <a16:creationId xmlns:a16="http://schemas.microsoft.com/office/drawing/2014/main" id="{CB786188-611E-2B12-A3F3-BC4877E10A2E}"/>
              </a:ext>
            </a:extLst>
          </p:cNvPr>
          <p:cNvSpPr/>
          <p:nvPr/>
        </p:nvSpPr>
        <p:spPr bwMode="gray">
          <a:xfrm>
            <a:off x="7736554" y="2686216"/>
            <a:ext cx="4030588" cy="772363"/>
          </a:xfrm>
          <a:prstGeom prst="rect">
            <a:avLst/>
          </a:prstGeom>
          <a:solidFill>
            <a:srgbClr val="43B02A">
              <a:alpha val="10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dirty="0">
              <a:solidFill>
                <a:schemeClr val="bg1"/>
              </a:solidFill>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5F946389-A0E4-215D-FA6E-2DB5C6C2A339}"/>
              </a:ext>
            </a:extLst>
          </p:cNvPr>
          <p:cNvSpPr/>
          <p:nvPr/>
        </p:nvSpPr>
        <p:spPr bwMode="gray">
          <a:xfrm>
            <a:off x="7740774" y="3962874"/>
            <a:ext cx="4030589" cy="2143983"/>
          </a:xfrm>
          <a:prstGeom prst="rect">
            <a:avLst/>
          </a:prstGeom>
          <a:solidFill>
            <a:schemeClr val="accent6">
              <a:lumMod val="20000"/>
              <a:lumOff val="80000"/>
              <a:alpha val="4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dirty="0">
              <a:solidFill>
                <a:schemeClr val="bg1"/>
              </a:solidFill>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3F84FC41-BA11-16A8-1219-D2AEC8CCB4CF}"/>
              </a:ext>
            </a:extLst>
          </p:cNvPr>
          <p:cNvSpPr/>
          <p:nvPr/>
        </p:nvSpPr>
        <p:spPr bwMode="gray">
          <a:xfrm>
            <a:off x="858247" y="5469395"/>
            <a:ext cx="6577309" cy="637462"/>
          </a:xfrm>
          <a:prstGeom prst="rect">
            <a:avLst/>
          </a:prstGeom>
          <a:solidFill>
            <a:srgbClr val="0076A8">
              <a:alpha val="10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dirty="0">
              <a:solidFill>
                <a:schemeClr val="bg1"/>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9F064E9B-7B35-14A4-1E3E-92A32BFECE57}"/>
              </a:ext>
            </a:extLst>
          </p:cNvPr>
          <p:cNvSpPr/>
          <p:nvPr/>
        </p:nvSpPr>
        <p:spPr bwMode="gray">
          <a:xfrm>
            <a:off x="858248" y="3641353"/>
            <a:ext cx="6577310" cy="1475194"/>
          </a:xfrm>
          <a:prstGeom prst="rect">
            <a:avLst/>
          </a:prstGeom>
          <a:solidFill>
            <a:srgbClr val="009A44">
              <a:alpha val="10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dirty="0">
              <a:solidFill>
                <a:schemeClr val="bg1"/>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36C5D461-5B80-944C-2E7F-03212A8FF982}"/>
              </a:ext>
            </a:extLst>
          </p:cNvPr>
          <p:cNvSpPr/>
          <p:nvPr/>
        </p:nvSpPr>
        <p:spPr bwMode="gray">
          <a:xfrm>
            <a:off x="858248" y="1583695"/>
            <a:ext cx="6577309" cy="1330307"/>
          </a:xfrm>
          <a:prstGeom prst="rect">
            <a:avLst/>
          </a:prstGeom>
          <a:solidFill>
            <a:srgbClr val="007680">
              <a:alpha val="10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dirty="0">
              <a:solidFill>
                <a:schemeClr val="bg1"/>
              </a:solidFill>
              <a:latin typeface="Calibri" panose="020F0502020204030204" pitchFamily="34" charset="0"/>
              <a:cs typeface="Calibri" panose="020F0502020204030204" pitchFamily="34" charset="0"/>
            </a:endParaRPr>
          </a:p>
        </p:txBody>
      </p:sp>
      <p:sp>
        <p:nvSpPr>
          <p:cNvPr id="10" name="Rectangle: Rounded Corners 9">
            <a:extLst>
              <a:ext uri="{FF2B5EF4-FFF2-40B4-BE49-F238E27FC236}">
                <a16:creationId xmlns:a16="http://schemas.microsoft.com/office/drawing/2014/main" id="{DB75F30A-6AE0-A2A2-01DF-48503520C8C6}"/>
              </a:ext>
            </a:extLst>
          </p:cNvPr>
          <p:cNvSpPr/>
          <p:nvPr/>
        </p:nvSpPr>
        <p:spPr bwMode="gray">
          <a:xfrm>
            <a:off x="918658" y="2199277"/>
            <a:ext cx="1392864" cy="518147"/>
          </a:xfrm>
          <a:prstGeom prst="roundRect">
            <a:avLst/>
          </a:prstGeom>
          <a:solidFill>
            <a:srgbClr val="00A3E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dirty="0">
                <a:solidFill>
                  <a:schemeClr val="bg1"/>
                </a:solidFill>
                <a:latin typeface="Calibri" panose="020F0502020204030204" pitchFamily="34" charset="0"/>
                <a:cs typeface="Calibri" panose="020F0502020204030204" pitchFamily="34" charset="0"/>
              </a:rPr>
              <a:t>Wholesale Market</a:t>
            </a:r>
          </a:p>
        </p:txBody>
      </p:sp>
      <p:sp>
        <p:nvSpPr>
          <p:cNvPr id="11" name="Rectangle: Rounded Corners 10">
            <a:extLst>
              <a:ext uri="{FF2B5EF4-FFF2-40B4-BE49-F238E27FC236}">
                <a16:creationId xmlns:a16="http://schemas.microsoft.com/office/drawing/2014/main" id="{7BE6B7A3-5FA0-74C5-07B1-C2AE2EF79C13}"/>
              </a:ext>
            </a:extLst>
          </p:cNvPr>
          <p:cNvSpPr/>
          <p:nvPr/>
        </p:nvSpPr>
        <p:spPr bwMode="gray">
          <a:xfrm>
            <a:off x="2829202" y="2180753"/>
            <a:ext cx="2247771" cy="514080"/>
          </a:xfrm>
          <a:prstGeom prst="roundRect">
            <a:avLst/>
          </a:prstGeom>
          <a:solidFill>
            <a:srgbClr val="046A38">
              <a:alpha val="80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dirty="0">
                <a:solidFill>
                  <a:schemeClr val="bg1"/>
                </a:solidFill>
                <a:latin typeface="Calibri" panose="020F0502020204030204" pitchFamily="34" charset="0"/>
                <a:cs typeface="Calibri" panose="020F0502020204030204" pitchFamily="34" charset="0"/>
              </a:rPr>
              <a:t>Generating Companies</a:t>
            </a:r>
          </a:p>
        </p:txBody>
      </p:sp>
      <p:sp>
        <p:nvSpPr>
          <p:cNvPr id="12" name="Rectangle: Rounded Corners 11">
            <a:extLst>
              <a:ext uri="{FF2B5EF4-FFF2-40B4-BE49-F238E27FC236}">
                <a16:creationId xmlns:a16="http://schemas.microsoft.com/office/drawing/2014/main" id="{1C48EEF4-CC5B-54C1-13A6-4146AD0FF941}"/>
              </a:ext>
            </a:extLst>
          </p:cNvPr>
          <p:cNvSpPr/>
          <p:nvPr/>
        </p:nvSpPr>
        <p:spPr bwMode="gray">
          <a:xfrm>
            <a:off x="5246423" y="2161041"/>
            <a:ext cx="1493003" cy="533792"/>
          </a:xfrm>
          <a:prstGeom prst="roundRect">
            <a:avLst/>
          </a:prstGeom>
          <a:solidFill>
            <a:srgbClr val="046A38">
              <a:alpha val="80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dirty="0">
                <a:solidFill>
                  <a:schemeClr val="bg1"/>
                </a:solidFill>
                <a:latin typeface="Calibri" panose="020F0502020204030204" pitchFamily="34" charset="0"/>
                <a:cs typeface="Calibri" panose="020F0502020204030204" pitchFamily="34" charset="0"/>
              </a:rPr>
              <a:t>Captive Power Generation</a:t>
            </a:r>
          </a:p>
        </p:txBody>
      </p:sp>
      <p:sp>
        <p:nvSpPr>
          <p:cNvPr id="13" name="Rectangle: Rounded Corners 12">
            <a:extLst>
              <a:ext uri="{FF2B5EF4-FFF2-40B4-BE49-F238E27FC236}">
                <a16:creationId xmlns:a16="http://schemas.microsoft.com/office/drawing/2014/main" id="{77386AC7-93A2-34EC-D195-B3D4D4A1DB27}"/>
              </a:ext>
            </a:extLst>
          </p:cNvPr>
          <p:cNvSpPr/>
          <p:nvPr/>
        </p:nvSpPr>
        <p:spPr bwMode="gray">
          <a:xfrm>
            <a:off x="2829202" y="1662774"/>
            <a:ext cx="2112074" cy="285019"/>
          </a:xfrm>
          <a:prstGeom prst="roundRect">
            <a:avLst/>
          </a:prstGeom>
          <a:solidFill>
            <a:srgbClr val="00ABAB"/>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dirty="0">
                <a:solidFill>
                  <a:schemeClr val="bg1"/>
                </a:solidFill>
                <a:latin typeface="Calibri" panose="020F0502020204030204" pitchFamily="34" charset="0"/>
                <a:cs typeface="Calibri" panose="020F0502020204030204" pitchFamily="34" charset="0"/>
              </a:rPr>
              <a:t>Generation Network</a:t>
            </a:r>
          </a:p>
        </p:txBody>
      </p:sp>
      <p:sp>
        <p:nvSpPr>
          <p:cNvPr id="14" name="Rectangle: Rounded Corners 13">
            <a:extLst>
              <a:ext uri="{FF2B5EF4-FFF2-40B4-BE49-F238E27FC236}">
                <a16:creationId xmlns:a16="http://schemas.microsoft.com/office/drawing/2014/main" id="{BA9C49D5-841C-26E5-758B-8D6E716E645A}"/>
              </a:ext>
            </a:extLst>
          </p:cNvPr>
          <p:cNvSpPr/>
          <p:nvPr/>
        </p:nvSpPr>
        <p:spPr bwMode="gray">
          <a:xfrm>
            <a:off x="1429118" y="3177331"/>
            <a:ext cx="4912242" cy="270983"/>
          </a:xfrm>
          <a:prstGeom prst="roundRect">
            <a:avLst/>
          </a:prstGeom>
          <a:solidFill>
            <a:srgbClr val="00768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dirty="0">
                <a:solidFill>
                  <a:schemeClr val="bg1"/>
                </a:solidFill>
                <a:latin typeface="Calibri" panose="020F0502020204030204" pitchFamily="34" charset="0"/>
                <a:cs typeface="Calibri" panose="020F0502020204030204" pitchFamily="34" charset="0"/>
              </a:rPr>
              <a:t>Transmission Network (Immediate for Open Access)</a:t>
            </a:r>
          </a:p>
        </p:txBody>
      </p:sp>
      <p:sp>
        <p:nvSpPr>
          <p:cNvPr id="15" name="Rectangle: Rounded Corners 14">
            <a:extLst>
              <a:ext uri="{FF2B5EF4-FFF2-40B4-BE49-F238E27FC236}">
                <a16:creationId xmlns:a16="http://schemas.microsoft.com/office/drawing/2014/main" id="{4A15DC15-83C3-0E32-8B5A-148C5F6BE8AA}"/>
              </a:ext>
            </a:extLst>
          </p:cNvPr>
          <p:cNvSpPr/>
          <p:nvPr/>
        </p:nvSpPr>
        <p:spPr bwMode="gray">
          <a:xfrm>
            <a:off x="2829202" y="3768561"/>
            <a:ext cx="2585633" cy="270983"/>
          </a:xfrm>
          <a:prstGeom prst="roundRect">
            <a:avLst/>
          </a:prstGeom>
          <a:solidFill>
            <a:srgbClr val="0076A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dirty="0">
                <a:solidFill>
                  <a:schemeClr val="bg1"/>
                </a:solidFill>
                <a:latin typeface="Calibri" panose="020F0502020204030204" pitchFamily="34" charset="0"/>
                <a:cs typeface="Calibri" panose="020F0502020204030204" pitchFamily="34" charset="0"/>
              </a:rPr>
              <a:t>Distribution Licensee</a:t>
            </a:r>
          </a:p>
        </p:txBody>
      </p:sp>
      <p:sp>
        <p:nvSpPr>
          <p:cNvPr id="16" name="Rectangle: Rounded Corners 15">
            <a:extLst>
              <a:ext uri="{FF2B5EF4-FFF2-40B4-BE49-F238E27FC236}">
                <a16:creationId xmlns:a16="http://schemas.microsoft.com/office/drawing/2014/main" id="{A1B4BF37-1254-C907-1713-60C359B6F9D7}"/>
              </a:ext>
            </a:extLst>
          </p:cNvPr>
          <p:cNvSpPr/>
          <p:nvPr/>
        </p:nvSpPr>
        <p:spPr bwMode="gray">
          <a:xfrm>
            <a:off x="2337905" y="4213612"/>
            <a:ext cx="3414793" cy="316188"/>
          </a:xfrm>
          <a:prstGeom prst="roundRect">
            <a:avLst/>
          </a:prstGeom>
          <a:solidFill>
            <a:srgbClr val="0076A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dirty="0">
                <a:solidFill>
                  <a:schemeClr val="bg1"/>
                </a:solidFill>
                <a:latin typeface="Calibri" panose="020F0502020204030204" pitchFamily="34" charset="0"/>
                <a:cs typeface="Calibri" panose="020F0502020204030204" pitchFamily="34" charset="0"/>
              </a:rPr>
              <a:t>Distribution Companies (DISCOMs)</a:t>
            </a:r>
          </a:p>
        </p:txBody>
      </p:sp>
      <p:sp>
        <p:nvSpPr>
          <p:cNvPr id="17" name="Rectangle: Rounded Corners 16">
            <a:extLst>
              <a:ext uri="{FF2B5EF4-FFF2-40B4-BE49-F238E27FC236}">
                <a16:creationId xmlns:a16="http://schemas.microsoft.com/office/drawing/2014/main" id="{EE8B8879-049B-DD3E-6157-8F8BA094ED4E}"/>
              </a:ext>
            </a:extLst>
          </p:cNvPr>
          <p:cNvSpPr/>
          <p:nvPr/>
        </p:nvSpPr>
        <p:spPr bwMode="gray">
          <a:xfrm>
            <a:off x="2829202" y="4723365"/>
            <a:ext cx="2585633" cy="242607"/>
          </a:xfrm>
          <a:prstGeom prst="roundRect">
            <a:avLst/>
          </a:prstGeom>
          <a:solidFill>
            <a:srgbClr val="0076A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dirty="0">
                <a:solidFill>
                  <a:schemeClr val="bg1"/>
                </a:solidFill>
                <a:latin typeface="Calibri" panose="020F0502020204030204" pitchFamily="34" charset="0"/>
                <a:cs typeface="Calibri" panose="020F0502020204030204" pitchFamily="34" charset="0"/>
              </a:rPr>
              <a:t>Licensee Area</a:t>
            </a:r>
          </a:p>
        </p:txBody>
      </p:sp>
      <p:sp>
        <p:nvSpPr>
          <p:cNvPr id="18" name="Rectangle: Rounded Corners 17">
            <a:extLst>
              <a:ext uri="{FF2B5EF4-FFF2-40B4-BE49-F238E27FC236}">
                <a16:creationId xmlns:a16="http://schemas.microsoft.com/office/drawing/2014/main" id="{4D79F6B5-4C09-425B-3082-1024BBFF9FD4}"/>
              </a:ext>
            </a:extLst>
          </p:cNvPr>
          <p:cNvSpPr/>
          <p:nvPr/>
        </p:nvSpPr>
        <p:spPr bwMode="gray">
          <a:xfrm>
            <a:off x="918658" y="5571221"/>
            <a:ext cx="1568347" cy="433810"/>
          </a:xfrm>
          <a:prstGeom prst="roundRect">
            <a:avLst/>
          </a:prstGeom>
          <a:solidFill>
            <a:srgbClr val="43B02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dirty="0">
                <a:solidFill>
                  <a:schemeClr val="bg1"/>
                </a:solidFill>
                <a:latin typeface="Calibri" panose="020F0502020204030204" pitchFamily="34" charset="0"/>
                <a:cs typeface="Calibri" panose="020F0502020204030204" pitchFamily="34" charset="0"/>
              </a:rPr>
              <a:t>Bulk Consumer</a:t>
            </a:r>
          </a:p>
          <a:p>
            <a:pPr algn="ctr">
              <a:lnSpc>
                <a:spcPct val="106000"/>
              </a:lnSpc>
              <a:buFont typeface="Wingdings 2" pitchFamily="18" charset="2"/>
              <a:buNone/>
            </a:pPr>
            <a:r>
              <a:rPr lang="en-US" sz="1400" dirty="0">
                <a:solidFill>
                  <a:schemeClr val="bg1"/>
                </a:solidFill>
                <a:latin typeface="Calibri" panose="020F0502020204030204" pitchFamily="34" charset="0"/>
                <a:cs typeface="Calibri" panose="020F0502020204030204" pitchFamily="34" charset="0"/>
              </a:rPr>
              <a:t>(Industries)</a:t>
            </a:r>
          </a:p>
        </p:txBody>
      </p:sp>
      <p:sp>
        <p:nvSpPr>
          <p:cNvPr id="19" name="Rectangle: Rounded Corners 18">
            <a:extLst>
              <a:ext uri="{FF2B5EF4-FFF2-40B4-BE49-F238E27FC236}">
                <a16:creationId xmlns:a16="http://schemas.microsoft.com/office/drawing/2014/main" id="{EFF0A294-6777-A26F-4A78-7496A93900A9}"/>
              </a:ext>
            </a:extLst>
          </p:cNvPr>
          <p:cNvSpPr/>
          <p:nvPr/>
        </p:nvSpPr>
        <p:spPr bwMode="gray">
          <a:xfrm>
            <a:off x="2696849" y="5571221"/>
            <a:ext cx="2212134" cy="433810"/>
          </a:xfrm>
          <a:prstGeom prst="roundRect">
            <a:avLst/>
          </a:prstGeom>
          <a:solidFill>
            <a:srgbClr val="43B02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dirty="0">
                <a:solidFill>
                  <a:schemeClr val="bg1"/>
                </a:solidFill>
                <a:latin typeface="Calibri" panose="020F0502020204030204" pitchFamily="34" charset="0"/>
                <a:cs typeface="Calibri" panose="020F0502020204030204" pitchFamily="34" charset="0"/>
              </a:rPr>
              <a:t>Domestic and Commercial Consumer </a:t>
            </a:r>
          </a:p>
        </p:txBody>
      </p:sp>
      <p:sp>
        <p:nvSpPr>
          <p:cNvPr id="20" name="Rectangle: Rounded Corners 19">
            <a:extLst>
              <a:ext uri="{FF2B5EF4-FFF2-40B4-BE49-F238E27FC236}">
                <a16:creationId xmlns:a16="http://schemas.microsoft.com/office/drawing/2014/main" id="{118BD999-75D1-9DA9-9281-891B9DCFCC01}"/>
              </a:ext>
            </a:extLst>
          </p:cNvPr>
          <p:cNvSpPr/>
          <p:nvPr/>
        </p:nvSpPr>
        <p:spPr bwMode="gray">
          <a:xfrm>
            <a:off x="5118827" y="5571221"/>
            <a:ext cx="2189134" cy="433810"/>
          </a:xfrm>
          <a:prstGeom prst="roundRect">
            <a:avLst/>
          </a:prstGeom>
          <a:solidFill>
            <a:srgbClr val="43B02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dirty="0">
                <a:solidFill>
                  <a:schemeClr val="bg1"/>
                </a:solidFill>
                <a:latin typeface="Calibri" panose="020F0502020204030204" pitchFamily="34" charset="0"/>
                <a:cs typeface="Calibri" panose="020F0502020204030204" pitchFamily="34" charset="0"/>
              </a:rPr>
              <a:t>Other Categories of Consumer</a:t>
            </a:r>
          </a:p>
        </p:txBody>
      </p:sp>
      <p:sp>
        <p:nvSpPr>
          <p:cNvPr id="21" name="Arrow: Left 20">
            <a:extLst>
              <a:ext uri="{FF2B5EF4-FFF2-40B4-BE49-F238E27FC236}">
                <a16:creationId xmlns:a16="http://schemas.microsoft.com/office/drawing/2014/main" id="{A71C68A8-F792-9BC7-0603-4380ABBFB66E}"/>
              </a:ext>
            </a:extLst>
          </p:cNvPr>
          <p:cNvSpPr/>
          <p:nvPr/>
        </p:nvSpPr>
        <p:spPr bwMode="gray">
          <a:xfrm>
            <a:off x="5804272" y="3891966"/>
            <a:ext cx="1579711" cy="952702"/>
          </a:xfrm>
          <a:prstGeom prst="leftArrow">
            <a:avLst/>
          </a:prstGeom>
          <a:solidFill>
            <a:srgbClr val="00ABAB"/>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dirty="0">
                <a:solidFill>
                  <a:schemeClr val="bg1"/>
                </a:solidFill>
                <a:latin typeface="Calibri" panose="020F0502020204030204" pitchFamily="34" charset="0"/>
                <a:cs typeface="Calibri" panose="020F0502020204030204" pitchFamily="34" charset="0"/>
              </a:rPr>
              <a:t>Distribution Network</a:t>
            </a:r>
          </a:p>
        </p:txBody>
      </p:sp>
      <p:sp>
        <p:nvSpPr>
          <p:cNvPr id="22" name="Rectangle: Rounded Corners 21">
            <a:extLst>
              <a:ext uri="{FF2B5EF4-FFF2-40B4-BE49-F238E27FC236}">
                <a16:creationId xmlns:a16="http://schemas.microsoft.com/office/drawing/2014/main" id="{1C4CBE0C-FC78-3EB2-79FD-219F6B655FBA}"/>
              </a:ext>
            </a:extLst>
          </p:cNvPr>
          <p:cNvSpPr/>
          <p:nvPr/>
        </p:nvSpPr>
        <p:spPr bwMode="gray">
          <a:xfrm>
            <a:off x="1091421" y="3913259"/>
            <a:ext cx="1142662" cy="1475194"/>
          </a:xfrm>
          <a:prstGeom prst="roundRect">
            <a:avLst/>
          </a:prstGeom>
          <a:solidFill>
            <a:srgbClr val="00ABAB"/>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dirty="0">
                <a:solidFill>
                  <a:schemeClr val="bg1"/>
                </a:solidFill>
                <a:latin typeface="Calibri" panose="020F0502020204030204" pitchFamily="34" charset="0"/>
                <a:cs typeface="Calibri" panose="020F0502020204030204" pitchFamily="34" charset="0"/>
              </a:rPr>
              <a:t>Trading Platforms</a:t>
            </a:r>
          </a:p>
          <a:p>
            <a:pPr algn="ctr">
              <a:lnSpc>
                <a:spcPct val="106000"/>
              </a:lnSpc>
              <a:buFont typeface="Wingdings 2" pitchFamily="18" charset="2"/>
              <a:buNone/>
            </a:pPr>
            <a:endParaRPr lang="en-US" sz="700" dirty="0">
              <a:solidFill>
                <a:schemeClr val="bg1"/>
              </a:solidFill>
              <a:latin typeface="Calibri" panose="020F0502020204030204" pitchFamily="34" charset="0"/>
              <a:cs typeface="Calibri" panose="020F0502020204030204" pitchFamily="34" charset="0"/>
            </a:endParaRPr>
          </a:p>
          <a:p>
            <a:pPr algn="ctr">
              <a:lnSpc>
                <a:spcPct val="106000"/>
              </a:lnSpc>
              <a:buFont typeface="Wingdings 2" pitchFamily="18" charset="2"/>
              <a:buNone/>
            </a:pPr>
            <a:r>
              <a:rPr lang="en-US" sz="1400" dirty="0">
                <a:solidFill>
                  <a:schemeClr val="bg1"/>
                </a:solidFill>
                <a:latin typeface="Calibri" panose="020F0502020204030204" pitchFamily="34" charset="0"/>
                <a:cs typeface="Calibri" panose="020F0502020204030204" pitchFamily="34" charset="0"/>
              </a:rPr>
              <a:t>PTC</a:t>
            </a:r>
          </a:p>
          <a:p>
            <a:pPr algn="ctr">
              <a:lnSpc>
                <a:spcPct val="106000"/>
              </a:lnSpc>
              <a:buFont typeface="Wingdings 2" pitchFamily="18" charset="2"/>
              <a:buNone/>
            </a:pPr>
            <a:r>
              <a:rPr lang="en-US" sz="1400" dirty="0">
                <a:solidFill>
                  <a:schemeClr val="bg1"/>
                </a:solidFill>
                <a:latin typeface="Calibri" panose="020F0502020204030204" pitchFamily="34" charset="0"/>
                <a:cs typeface="Calibri" panose="020F0502020204030204" pitchFamily="34" charset="0"/>
              </a:rPr>
              <a:t>IEX</a:t>
            </a:r>
          </a:p>
          <a:p>
            <a:pPr algn="ctr">
              <a:lnSpc>
                <a:spcPct val="106000"/>
              </a:lnSpc>
              <a:buFont typeface="Wingdings 2" pitchFamily="18" charset="2"/>
              <a:buNone/>
            </a:pPr>
            <a:r>
              <a:rPr lang="en-US" sz="1400" dirty="0">
                <a:solidFill>
                  <a:schemeClr val="bg1"/>
                </a:solidFill>
                <a:latin typeface="Calibri" panose="020F0502020204030204" pitchFamily="34" charset="0"/>
                <a:cs typeface="Calibri" panose="020F0502020204030204" pitchFamily="34" charset="0"/>
              </a:rPr>
              <a:t>PXIL</a:t>
            </a:r>
          </a:p>
        </p:txBody>
      </p:sp>
      <p:cxnSp>
        <p:nvCxnSpPr>
          <p:cNvPr id="23" name="Connector: Elbow 22">
            <a:extLst>
              <a:ext uri="{FF2B5EF4-FFF2-40B4-BE49-F238E27FC236}">
                <a16:creationId xmlns:a16="http://schemas.microsoft.com/office/drawing/2014/main" id="{5ABFBE4A-F180-FEA5-F931-422BCFA89C77}"/>
              </a:ext>
            </a:extLst>
          </p:cNvPr>
          <p:cNvCxnSpPr>
            <a:cxnSpLocks/>
          </p:cNvCxnSpPr>
          <p:nvPr/>
        </p:nvCxnSpPr>
        <p:spPr>
          <a:xfrm rot="10800000" flipV="1">
            <a:off x="1615090" y="1815346"/>
            <a:ext cx="1214112" cy="393993"/>
          </a:xfrm>
          <a:prstGeom prst="bentConnector2">
            <a:avLst/>
          </a:prstGeom>
          <a:ln w="19050">
            <a:solidFill>
              <a:schemeClr val="tx1"/>
            </a:solidFill>
            <a:tailEnd type="triangle"/>
          </a:ln>
        </p:spPr>
        <p:style>
          <a:lnRef idx="2">
            <a:schemeClr val="accent2"/>
          </a:lnRef>
          <a:fillRef idx="0">
            <a:schemeClr val="accent2"/>
          </a:fillRef>
          <a:effectRef idx="1">
            <a:schemeClr val="accent2"/>
          </a:effectRef>
          <a:fontRef idx="minor">
            <a:schemeClr val="tx1"/>
          </a:fontRef>
        </p:style>
      </p:cxnSp>
      <p:cxnSp>
        <p:nvCxnSpPr>
          <p:cNvPr id="24" name="Connector: Elbow 23">
            <a:extLst>
              <a:ext uri="{FF2B5EF4-FFF2-40B4-BE49-F238E27FC236}">
                <a16:creationId xmlns:a16="http://schemas.microsoft.com/office/drawing/2014/main" id="{85BA99B3-580D-A5C8-0C27-39A68244FCD1}"/>
              </a:ext>
            </a:extLst>
          </p:cNvPr>
          <p:cNvCxnSpPr/>
          <p:nvPr/>
        </p:nvCxnSpPr>
        <p:spPr>
          <a:xfrm rot="5400000" flipH="1" flipV="1">
            <a:off x="5983250" y="2150587"/>
            <a:ext cx="20128" cy="780"/>
          </a:xfrm>
          <a:prstGeom prst="bentConnector3">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5FB8EDCD-02A7-1481-2F0E-5D117C1463BD}"/>
              </a:ext>
            </a:extLst>
          </p:cNvPr>
          <p:cNvCxnSpPr>
            <a:cxnSpLocks/>
          </p:cNvCxnSpPr>
          <p:nvPr/>
        </p:nvCxnSpPr>
        <p:spPr>
          <a:xfrm rot="10800000">
            <a:off x="4941277" y="1815348"/>
            <a:ext cx="1082945" cy="345693"/>
          </a:xfrm>
          <a:prstGeom prst="bentConnector3">
            <a:avLst>
              <a:gd name="adj1" fmla="val 1891"/>
            </a:avLst>
          </a:prstGeom>
          <a:ln w="19050">
            <a:solidFill>
              <a:schemeClr val="tx1"/>
            </a:solidFill>
          </a:ln>
        </p:spPr>
        <p:style>
          <a:lnRef idx="2">
            <a:schemeClr val="accent2"/>
          </a:lnRef>
          <a:fillRef idx="0">
            <a:schemeClr val="accent2"/>
          </a:fillRef>
          <a:effectRef idx="1">
            <a:schemeClr val="accent2"/>
          </a:effectRef>
          <a:fontRef idx="minor">
            <a:schemeClr val="tx1"/>
          </a:fontRef>
        </p:style>
      </p:cxnSp>
      <p:cxnSp>
        <p:nvCxnSpPr>
          <p:cNvPr id="26" name="Straight Arrow Connector 25">
            <a:extLst>
              <a:ext uri="{FF2B5EF4-FFF2-40B4-BE49-F238E27FC236}">
                <a16:creationId xmlns:a16="http://schemas.microsoft.com/office/drawing/2014/main" id="{4F2C860E-7AF0-68E9-C5CF-6C1ADEA4B876}"/>
              </a:ext>
            </a:extLst>
          </p:cNvPr>
          <p:cNvCxnSpPr>
            <a:cxnSpLocks/>
          </p:cNvCxnSpPr>
          <p:nvPr/>
        </p:nvCxnSpPr>
        <p:spPr>
          <a:xfrm flipH="1">
            <a:off x="4146901" y="2924065"/>
            <a:ext cx="2" cy="263329"/>
          </a:xfrm>
          <a:prstGeom prst="straightConnector1">
            <a:avLst/>
          </a:prstGeom>
          <a:ln w="19050">
            <a:solidFill>
              <a:schemeClr val="tx1"/>
            </a:solidFill>
            <a:tailEnd type="triangle"/>
          </a:ln>
        </p:spPr>
        <p:style>
          <a:lnRef idx="2">
            <a:schemeClr val="accent6"/>
          </a:lnRef>
          <a:fillRef idx="0">
            <a:schemeClr val="accent6"/>
          </a:fillRef>
          <a:effectRef idx="1">
            <a:schemeClr val="accent6"/>
          </a:effectRef>
          <a:fontRef idx="minor">
            <a:schemeClr val="tx1"/>
          </a:fontRef>
        </p:style>
      </p:cxnSp>
      <p:cxnSp>
        <p:nvCxnSpPr>
          <p:cNvPr id="27" name="Straight Arrow Connector 26">
            <a:extLst>
              <a:ext uri="{FF2B5EF4-FFF2-40B4-BE49-F238E27FC236}">
                <a16:creationId xmlns:a16="http://schemas.microsoft.com/office/drawing/2014/main" id="{70E54001-D0C8-3F50-CFB5-DD10878117DD}"/>
              </a:ext>
            </a:extLst>
          </p:cNvPr>
          <p:cNvCxnSpPr/>
          <p:nvPr/>
        </p:nvCxnSpPr>
        <p:spPr>
          <a:xfrm flipH="1">
            <a:off x="4146901" y="3418512"/>
            <a:ext cx="2" cy="263329"/>
          </a:xfrm>
          <a:prstGeom prst="straightConnector1">
            <a:avLst/>
          </a:prstGeom>
          <a:ln w="19050">
            <a:solidFill>
              <a:schemeClr val="tx1"/>
            </a:solidFill>
            <a:tailEnd type="triangle"/>
          </a:ln>
        </p:spPr>
        <p:style>
          <a:lnRef idx="2">
            <a:schemeClr val="accent5"/>
          </a:lnRef>
          <a:fillRef idx="0">
            <a:schemeClr val="accent5"/>
          </a:fillRef>
          <a:effectRef idx="1">
            <a:schemeClr val="accent5"/>
          </a:effectRef>
          <a:fontRef idx="minor">
            <a:schemeClr val="tx1"/>
          </a:fontRef>
        </p:style>
      </p:cxnSp>
      <p:cxnSp>
        <p:nvCxnSpPr>
          <p:cNvPr id="28" name="Connector: Elbow 27">
            <a:extLst>
              <a:ext uri="{FF2B5EF4-FFF2-40B4-BE49-F238E27FC236}">
                <a16:creationId xmlns:a16="http://schemas.microsoft.com/office/drawing/2014/main" id="{43D095DB-8C6F-E9EB-DED4-A2E665D5A617}"/>
              </a:ext>
            </a:extLst>
          </p:cNvPr>
          <p:cNvCxnSpPr>
            <a:cxnSpLocks/>
          </p:cNvCxnSpPr>
          <p:nvPr/>
        </p:nvCxnSpPr>
        <p:spPr>
          <a:xfrm rot="16200000" flipH="1">
            <a:off x="-1206106" y="3779754"/>
            <a:ext cx="3588849" cy="469285"/>
          </a:xfrm>
          <a:prstGeom prst="bentConnector2">
            <a:avLst/>
          </a:prstGeom>
          <a:ln w="19050">
            <a:solidFill>
              <a:schemeClr val="tx1"/>
            </a:solidFill>
            <a:tailEnd type="triangle"/>
          </a:ln>
        </p:spPr>
        <p:style>
          <a:lnRef idx="2">
            <a:schemeClr val="accent4"/>
          </a:lnRef>
          <a:fillRef idx="0">
            <a:schemeClr val="accent4"/>
          </a:fillRef>
          <a:effectRef idx="1">
            <a:schemeClr val="accent4"/>
          </a:effectRef>
          <a:fontRef idx="minor">
            <a:schemeClr val="tx1"/>
          </a:fontRef>
        </p:style>
      </p:cxnSp>
      <p:cxnSp>
        <p:nvCxnSpPr>
          <p:cNvPr id="29" name="Straight Connector 28">
            <a:extLst>
              <a:ext uri="{FF2B5EF4-FFF2-40B4-BE49-F238E27FC236}">
                <a16:creationId xmlns:a16="http://schemas.microsoft.com/office/drawing/2014/main" id="{2B514A17-2D07-B35C-1934-700470C86230}"/>
              </a:ext>
            </a:extLst>
          </p:cNvPr>
          <p:cNvCxnSpPr>
            <a:cxnSpLocks/>
          </p:cNvCxnSpPr>
          <p:nvPr/>
        </p:nvCxnSpPr>
        <p:spPr>
          <a:xfrm>
            <a:off x="353675" y="2220543"/>
            <a:ext cx="504573" cy="17673"/>
          </a:xfrm>
          <a:prstGeom prst="line">
            <a:avLst/>
          </a:prstGeom>
          <a:ln>
            <a:solidFill>
              <a:schemeClr val="tx1"/>
            </a:solidFill>
          </a:ln>
        </p:spPr>
        <p:style>
          <a:lnRef idx="2">
            <a:schemeClr val="accent4"/>
          </a:lnRef>
          <a:fillRef idx="0">
            <a:schemeClr val="accent4"/>
          </a:fillRef>
          <a:effectRef idx="1">
            <a:schemeClr val="accent4"/>
          </a:effectRef>
          <a:fontRef idx="minor">
            <a:schemeClr val="tx1"/>
          </a:fontRef>
        </p:style>
      </p:cxnSp>
      <p:sp>
        <p:nvSpPr>
          <p:cNvPr id="30" name="Rectangle: Rounded Corners 29">
            <a:extLst>
              <a:ext uri="{FF2B5EF4-FFF2-40B4-BE49-F238E27FC236}">
                <a16:creationId xmlns:a16="http://schemas.microsoft.com/office/drawing/2014/main" id="{F4100564-2DA1-491C-F409-E69AB65168C5}"/>
              </a:ext>
            </a:extLst>
          </p:cNvPr>
          <p:cNvSpPr/>
          <p:nvPr/>
        </p:nvSpPr>
        <p:spPr bwMode="gray">
          <a:xfrm>
            <a:off x="858246" y="1104302"/>
            <a:ext cx="6577310" cy="325512"/>
          </a:xfrm>
          <a:prstGeom prst="roundRect">
            <a:avLst/>
          </a:prstGeom>
          <a:solidFill>
            <a:srgbClr val="007680"/>
          </a:solidFill>
          <a:ln w="19050" algn="ctr">
            <a:noFill/>
            <a:miter lim="800000"/>
            <a:headEnd/>
            <a:tailEnd/>
          </a:ln>
        </p:spPr>
        <p:txBody>
          <a:bodyPr wrap="square" lIns="88900" tIns="88900" rIns="88900" bIns="88900" rtlCol="0" anchor="ctr"/>
          <a:lstStyle/>
          <a:p>
            <a:pPr algn="ctr">
              <a:lnSpc>
                <a:spcPct val="106000"/>
              </a:lnSpc>
            </a:pPr>
            <a:r>
              <a:rPr lang="en-US" sz="1600" b="1" dirty="0">
                <a:solidFill>
                  <a:schemeClr val="bg1"/>
                </a:solidFill>
                <a:latin typeface="Calibri" panose="020F0502020204030204" pitchFamily="34" charset="0"/>
                <a:cs typeface="Calibri" panose="020F0502020204030204" pitchFamily="34" charset="0"/>
              </a:rPr>
              <a:t>Working Process of Open Access</a:t>
            </a:r>
          </a:p>
        </p:txBody>
      </p:sp>
      <p:cxnSp>
        <p:nvCxnSpPr>
          <p:cNvPr id="31" name="Straight Connector 30">
            <a:extLst>
              <a:ext uri="{FF2B5EF4-FFF2-40B4-BE49-F238E27FC236}">
                <a16:creationId xmlns:a16="http://schemas.microsoft.com/office/drawing/2014/main" id="{AE18D9BC-37D1-A6BF-467A-786156529F21}"/>
              </a:ext>
            </a:extLst>
          </p:cNvPr>
          <p:cNvCxnSpPr>
            <a:cxnSpLocks/>
          </p:cNvCxnSpPr>
          <p:nvPr/>
        </p:nvCxnSpPr>
        <p:spPr>
          <a:xfrm>
            <a:off x="7587744" y="1104303"/>
            <a:ext cx="844" cy="5083409"/>
          </a:xfrm>
          <a:prstGeom prst="line">
            <a:avLst/>
          </a:prstGeom>
          <a:ln/>
        </p:spPr>
        <p:style>
          <a:lnRef idx="3">
            <a:schemeClr val="accent6"/>
          </a:lnRef>
          <a:fillRef idx="0">
            <a:schemeClr val="accent6"/>
          </a:fillRef>
          <a:effectRef idx="2">
            <a:schemeClr val="accent6"/>
          </a:effectRef>
          <a:fontRef idx="minor">
            <a:schemeClr val="tx1"/>
          </a:fontRef>
        </p:style>
      </p:cxnSp>
      <p:sp>
        <p:nvSpPr>
          <p:cNvPr id="32" name="Rectangle: Rounded Corners 31">
            <a:extLst>
              <a:ext uri="{FF2B5EF4-FFF2-40B4-BE49-F238E27FC236}">
                <a16:creationId xmlns:a16="http://schemas.microsoft.com/office/drawing/2014/main" id="{77F26607-2402-8C3F-F2FA-17A47731F3FE}"/>
              </a:ext>
            </a:extLst>
          </p:cNvPr>
          <p:cNvSpPr/>
          <p:nvPr/>
        </p:nvSpPr>
        <p:spPr bwMode="gray">
          <a:xfrm>
            <a:off x="7740774" y="1104291"/>
            <a:ext cx="4028056" cy="334032"/>
          </a:xfrm>
          <a:prstGeom prst="roundRect">
            <a:avLst/>
          </a:prstGeom>
          <a:solidFill>
            <a:srgbClr val="00A3E0"/>
          </a:solidFill>
          <a:ln w="19050" algn="ctr">
            <a:noFill/>
            <a:miter lim="800000"/>
            <a:headEnd/>
            <a:tailEnd/>
          </a:ln>
        </p:spPr>
        <p:txBody>
          <a:bodyPr wrap="square" lIns="88900" tIns="88900" rIns="88900" bIns="88900" rtlCol="0" anchor="ctr"/>
          <a:lstStyle/>
          <a:p>
            <a:pPr algn="ctr">
              <a:lnSpc>
                <a:spcPct val="106000"/>
              </a:lnSpc>
            </a:pPr>
            <a:r>
              <a:rPr lang="en-US" sz="1600" b="1" dirty="0">
                <a:solidFill>
                  <a:schemeClr val="bg1"/>
                </a:solidFill>
                <a:latin typeface="Calibri" panose="020F0502020204030204" pitchFamily="34" charset="0"/>
                <a:cs typeface="Calibri" panose="020F0502020204030204" pitchFamily="34" charset="0"/>
              </a:rPr>
              <a:t>Structure of Open Access</a:t>
            </a:r>
          </a:p>
        </p:txBody>
      </p:sp>
      <p:sp>
        <p:nvSpPr>
          <p:cNvPr id="33" name="Oval 32">
            <a:extLst>
              <a:ext uri="{FF2B5EF4-FFF2-40B4-BE49-F238E27FC236}">
                <a16:creationId xmlns:a16="http://schemas.microsoft.com/office/drawing/2014/main" id="{8C64268C-0AE1-6A04-B375-8727B1BC7F98}"/>
              </a:ext>
            </a:extLst>
          </p:cNvPr>
          <p:cNvSpPr/>
          <p:nvPr/>
        </p:nvSpPr>
        <p:spPr bwMode="gray">
          <a:xfrm>
            <a:off x="8416757" y="1519291"/>
            <a:ext cx="2611828" cy="621622"/>
          </a:xfrm>
          <a:prstGeom prst="ellipse">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latin typeface="Calibri" panose="020F0502020204030204" pitchFamily="34" charset="0"/>
                <a:cs typeface="Calibri" panose="020F0502020204030204" pitchFamily="34" charset="0"/>
              </a:rPr>
              <a:t>Open Access</a:t>
            </a:r>
          </a:p>
        </p:txBody>
      </p:sp>
      <p:sp>
        <p:nvSpPr>
          <p:cNvPr id="34" name="Flowchart: Preparation 33">
            <a:extLst>
              <a:ext uri="{FF2B5EF4-FFF2-40B4-BE49-F238E27FC236}">
                <a16:creationId xmlns:a16="http://schemas.microsoft.com/office/drawing/2014/main" id="{35F001FE-86C8-DA22-32EA-6DCEDF7A4F4D}"/>
              </a:ext>
            </a:extLst>
          </p:cNvPr>
          <p:cNvSpPr/>
          <p:nvPr/>
        </p:nvSpPr>
        <p:spPr bwMode="gray">
          <a:xfrm>
            <a:off x="10430634" y="2795975"/>
            <a:ext cx="1272412" cy="564435"/>
          </a:xfrm>
          <a:prstGeom prst="flowChartPreparation">
            <a:avLst/>
          </a:prstGeom>
          <a:solidFill>
            <a:srgbClr val="0076A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dirty="0">
                <a:solidFill>
                  <a:schemeClr val="bg1"/>
                </a:solidFill>
                <a:latin typeface="Calibri" panose="020F0502020204030204" pitchFamily="34" charset="0"/>
                <a:cs typeface="Calibri" panose="020F0502020204030204" pitchFamily="34" charset="0"/>
              </a:rPr>
              <a:t>Intra-state</a:t>
            </a:r>
          </a:p>
        </p:txBody>
      </p:sp>
      <p:sp>
        <p:nvSpPr>
          <p:cNvPr id="35" name="Flowchart: Preparation 34">
            <a:extLst>
              <a:ext uri="{FF2B5EF4-FFF2-40B4-BE49-F238E27FC236}">
                <a16:creationId xmlns:a16="http://schemas.microsoft.com/office/drawing/2014/main" id="{760FC853-3ED3-E0C2-3A11-81DCBDB1EC77}"/>
              </a:ext>
            </a:extLst>
          </p:cNvPr>
          <p:cNvSpPr/>
          <p:nvPr/>
        </p:nvSpPr>
        <p:spPr bwMode="gray">
          <a:xfrm>
            <a:off x="7796800" y="2795388"/>
            <a:ext cx="1283083" cy="564435"/>
          </a:xfrm>
          <a:prstGeom prst="flowChartPreparation">
            <a:avLst/>
          </a:prstGeom>
          <a:solidFill>
            <a:srgbClr val="0076A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dirty="0">
                <a:solidFill>
                  <a:schemeClr val="bg1"/>
                </a:solidFill>
                <a:latin typeface="Calibri" panose="020F0502020204030204" pitchFamily="34" charset="0"/>
                <a:cs typeface="Calibri" panose="020F0502020204030204" pitchFamily="34" charset="0"/>
              </a:rPr>
              <a:t>Inter State</a:t>
            </a:r>
          </a:p>
        </p:txBody>
      </p:sp>
      <p:sp>
        <p:nvSpPr>
          <p:cNvPr id="36" name="Flowchart: Terminator 35">
            <a:extLst>
              <a:ext uri="{FF2B5EF4-FFF2-40B4-BE49-F238E27FC236}">
                <a16:creationId xmlns:a16="http://schemas.microsoft.com/office/drawing/2014/main" id="{96F38254-9AAE-3C8F-16E9-5E3CDD2B3455}"/>
              </a:ext>
            </a:extLst>
          </p:cNvPr>
          <p:cNvSpPr/>
          <p:nvPr/>
        </p:nvSpPr>
        <p:spPr bwMode="gray">
          <a:xfrm>
            <a:off x="7776792" y="4065208"/>
            <a:ext cx="1509497" cy="464688"/>
          </a:xfrm>
          <a:prstGeom prst="flowChartTerminator">
            <a:avLst/>
          </a:prstGeom>
          <a:solidFill>
            <a:srgbClr val="00768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dirty="0">
                <a:solidFill>
                  <a:schemeClr val="bg1"/>
                </a:solidFill>
                <a:latin typeface="Calibri" panose="020F0502020204030204" pitchFamily="34" charset="0"/>
                <a:cs typeface="Calibri" panose="020F0502020204030204" pitchFamily="34" charset="0"/>
              </a:rPr>
              <a:t>Short Term</a:t>
            </a:r>
          </a:p>
        </p:txBody>
      </p:sp>
      <p:sp>
        <p:nvSpPr>
          <p:cNvPr id="37" name="Flowchart: Terminator 36">
            <a:extLst>
              <a:ext uri="{FF2B5EF4-FFF2-40B4-BE49-F238E27FC236}">
                <a16:creationId xmlns:a16="http://schemas.microsoft.com/office/drawing/2014/main" id="{D2B3A882-CA3F-C68A-3C06-26046607241C}"/>
              </a:ext>
            </a:extLst>
          </p:cNvPr>
          <p:cNvSpPr/>
          <p:nvPr/>
        </p:nvSpPr>
        <p:spPr bwMode="gray">
          <a:xfrm>
            <a:off x="7796800" y="4731560"/>
            <a:ext cx="1510341" cy="504446"/>
          </a:xfrm>
          <a:prstGeom prst="flowChartTerminator">
            <a:avLst/>
          </a:prstGeom>
          <a:solidFill>
            <a:srgbClr val="43B02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dirty="0">
                <a:solidFill>
                  <a:schemeClr val="bg1"/>
                </a:solidFill>
                <a:latin typeface="Calibri" panose="020F0502020204030204" pitchFamily="34" charset="0"/>
                <a:cs typeface="Calibri" panose="020F0502020204030204" pitchFamily="34" charset="0"/>
              </a:rPr>
              <a:t>Medium Term</a:t>
            </a:r>
          </a:p>
        </p:txBody>
      </p:sp>
      <p:sp>
        <p:nvSpPr>
          <p:cNvPr id="38" name="Flowchart: Terminator 37">
            <a:extLst>
              <a:ext uri="{FF2B5EF4-FFF2-40B4-BE49-F238E27FC236}">
                <a16:creationId xmlns:a16="http://schemas.microsoft.com/office/drawing/2014/main" id="{2DC7494F-E16A-10D0-4C9F-8D9EC1377A5E}"/>
              </a:ext>
            </a:extLst>
          </p:cNvPr>
          <p:cNvSpPr/>
          <p:nvPr/>
        </p:nvSpPr>
        <p:spPr bwMode="gray">
          <a:xfrm>
            <a:off x="7895572" y="5536916"/>
            <a:ext cx="1404124" cy="480195"/>
          </a:xfrm>
          <a:prstGeom prst="flowChartTerminator">
            <a:avLst/>
          </a:prstGeom>
          <a:solidFill>
            <a:srgbClr val="00ABAB"/>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dirty="0">
                <a:solidFill>
                  <a:schemeClr val="bg1"/>
                </a:solidFill>
                <a:latin typeface="Calibri" panose="020F0502020204030204" pitchFamily="34" charset="0"/>
                <a:cs typeface="Calibri" panose="020F0502020204030204" pitchFamily="34" charset="0"/>
              </a:rPr>
              <a:t>Long Term</a:t>
            </a:r>
          </a:p>
        </p:txBody>
      </p:sp>
      <p:sp>
        <p:nvSpPr>
          <p:cNvPr id="39" name="Rectangle: Rounded Corners 38">
            <a:extLst>
              <a:ext uri="{FF2B5EF4-FFF2-40B4-BE49-F238E27FC236}">
                <a16:creationId xmlns:a16="http://schemas.microsoft.com/office/drawing/2014/main" id="{0A107F92-B96D-E2AC-12B1-D36C55CDAF0E}"/>
              </a:ext>
            </a:extLst>
          </p:cNvPr>
          <p:cNvSpPr/>
          <p:nvPr/>
        </p:nvSpPr>
        <p:spPr bwMode="gray">
          <a:xfrm>
            <a:off x="9406512" y="4042505"/>
            <a:ext cx="2252729" cy="464689"/>
          </a:xfrm>
          <a:prstGeom prst="roundRect">
            <a:avLst/>
          </a:prstGeom>
          <a:solidFill>
            <a:srgbClr val="007680"/>
          </a:solidFill>
          <a:ln w="19050" algn="ctr">
            <a:noFill/>
            <a:miter lim="800000"/>
            <a:headEnd/>
            <a:tailEnd/>
          </a:ln>
        </p:spPr>
        <p:txBody>
          <a:bodyPr wrap="square" lIns="88900" tIns="88900" rIns="88900" bIns="88900" rtlCol="0" anchor="ctr"/>
          <a:lstStyle/>
          <a:p>
            <a:pPr algn="ctr">
              <a:lnSpc>
                <a:spcPct val="106000"/>
              </a:lnSpc>
            </a:pPr>
            <a:r>
              <a:rPr lang="en-US" sz="1400" dirty="0">
                <a:solidFill>
                  <a:schemeClr val="bg1"/>
                </a:solidFill>
                <a:latin typeface="Calibri" panose="020F0502020204030204" pitchFamily="34" charset="0"/>
                <a:cs typeface="Calibri" panose="020F0502020204030204" pitchFamily="34" charset="0"/>
              </a:rPr>
              <a:t>Traders, Power Exchange</a:t>
            </a:r>
          </a:p>
        </p:txBody>
      </p:sp>
      <p:sp>
        <p:nvSpPr>
          <p:cNvPr id="40" name="Rectangle: Rounded Corners 39">
            <a:extLst>
              <a:ext uri="{FF2B5EF4-FFF2-40B4-BE49-F238E27FC236}">
                <a16:creationId xmlns:a16="http://schemas.microsoft.com/office/drawing/2014/main" id="{7FA490E0-5F18-D1D1-2E7A-7D97970CE504}"/>
              </a:ext>
            </a:extLst>
          </p:cNvPr>
          <p:cNvSpPr/>
          <p:nvPr/>
        </p:nvSpPr>
        <p:spPr bwMode="gray">
          <a:xfrm>
            <a:off x="9406512" y="4743687"/>
            <a:ext cx="2252729" cy="464689"/>
          </a:xfrm>
          <a:prstGeom prst="roundRect">
            <a:avLst/>
          </a:prstGeom>
          <a:solidFill>
            <a:srgbClr val="43B02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dirty="0">
                <a:solidFill>
                  <a:schemeClr val="bg1"/>
                </a:solidFill>
                <a:latin typeface="Calibri" panose="020F0502020204030204" pitchFamily="34" charset="0"/>
                <a:cs typeface="Calibri" panose="020F0502020204030204" pitchFamily="34" charset="0"/>
              </a:rPr>
              <a:t>Traders, Power Exchange</a:t>
            </a:r>
          </a:p>
        </p:txBody>
      </p:sp>
      <p:sp>
        <p:nvSpPr>
          <p:cNvPr id="41" name="Rectangle: Rounded Corners 40">
            <a:extLst>
              <a:ext uri="{FF2B5EF4-FFF2-40B4-BE49-F238E27FC236}">
                <a16:creationId xmlns:a16="http://schemas.microsoft.com/office/drawing/2014/main" id="{5FD6634B-020F-D0FF-EAA9-FDBF9756B4AE}"/>
              </a:ext>
            </a:extLst>
          </p:cNvPr>
          <p:cNvSpPr/>
          <p:nvPr/>
        </p:nvSpPr>
        <p:spPr bwMode="gray">
          <a:xfrm>
            <a:off x="9411818" y="5536916"/>
            <a:ext cx="2247423" cy="480195"/>
          </a:xfrm>
          <a:prstGeom prst="roundRect">
            <a:avLst/>
          </a:prstGeom>
          <a:solidFill>
            <a:srgbClr val="00ABAB"/>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dirty="0">
                <a:solidFill>
                  <a:schemeClr val="bg1"/>
                </a:solidFill>
                <a:latin typeface="Calibri" panose="020F0502020204030204" pitchFamily="34" charset="0"/>
                <a:cs typeface="Calibri" panose="020F0502020204030204" pitchFamily="34" charset="0"/>
              </a:rPr>
              <a:t>Power Purchase Agreement </a:t>
            </a:r>
          </a:p>
        </p:txBody>
      </p:sp>
      <p:cxnSp>
        <p:nvCxnSpPr>
          <p:cNvPr id="42" name="Connector: Elbow 41">
            <a:extLst>
              <a:ext uri="{FF2B5EF4-FFF2-40B4-BE49-F238E27FC236}">
                <a16:creationId xmlns:a16="http://schemas.microsoft.com/office/drawing/2014/main" id="{8DF60FC9-148B-DE97-4B32-3CE0190482DF}"/>
              </a:ext>
            </a:extLst>
          </p:cNvPr>
          <p:cNvCxnSpPr>
            <a:cxnSpLocks/>
          </p:cNvCxnSpPr>
          <p:nvPr/>
        </p:nvCxnSpPr>
        <p:spPr>
          <a:xfrm rot="10800000" flipV="1">
            <a:off x="8417923" y="2577869"/>
            <a:ext cx="1311418" cy="239445"/>
          </a:xfrm>
          <a:prstGeom prst="bentConnector3">
            <a:avLst>
              <a:gd name="adj1" fmla="val 99583"/>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E0533181-DFE4-669E-C4A9-F7B1FEF69709}"/>
              </a:ext>
            </a:extLst>
          </p:cNvPr>
          <p:cNvCxnSpPr>
            <a:cxnSpLocks/>
          </p:cNvCxnSpPr>
          <p:nvPr/>
        </p:nvCxnSpPr>
        <p:spPr>
          <a:xfrm>
            <a:off x="9729341" y="2577869"/>
            <a:ext cx="1322672" cy="216697"/>
          </a:xfrm>
          <a:prstGeom prst="bentConnector3">
            <a:avLst>
              <a:gd name="adj1" fmla="val 99929"/>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4659C174-B259-07EC-53ED-D1A551A520CA}"/>
              </a:ext>
            </a:extLst>
          </p:cNvPr>
          <p:cNvCxnSpPr>
            <a:cxnSpLocks/>
          </p:cNvCxnSpPr>
          <p:nvPr/>
        </p:nvCxnSpPr>
        <p:spPr>
          <a:xfrm flipH="1">
            <a:off x="9729341" y="2140914"/>
            <a:ext cx="761" cy="436955"/>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E5325233-5720-2183-9076-68DBEE9369C7}"/>
              </a:ext>
            </a:extLst>
          </p:cNvPr>
          <p:cNvCxnSpPr>
            <a:cxnSpLocks/>
          </p:cNvCxnSpPr>
          <p:nvPr/>
        </p:nvCxnSpPr>
        <p:spPr>
          <a:xfrm rot="16200000" flipH="1">
            <a:off x="9589018" y="2216581"/>
            <a:ext cx="342013" cy="2628500"/>
          </a:xfrm>
          <a:prstGeom prst="bentConnector2">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754FC3C4-05C3-9546-2050-B82E559BA7B2}"/>
              </a:ext>
            </a:extLst>
          </p:cNvPr>
          <p:cNvCxnSpPr>
            <a:cxnSpLocks/>
          </p:cNvCxnSpPr>
          <p:nvPr/>
        </p:nvCxnSpPr>
        <p:spPr>
          <a:xfrm>
            <a:off x="11074270" y="3360410"/>
            <a:ext cx="0" cy="34142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AE468CBD-019D-0B98-5770-7C3B6FF06DCD}"/>
              </a:ext>
            </a:extLst>
          </p:cNvPr>
          <p:cNvCxnSpPr/>
          <p:nvPr/>
        </p:nvCxnSpPr>
        <p:spPr>
          <a:xfrm>
            <a:off x="9760023" y="3698023"/>
            <a:ext cx="0" cy="243258"/>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8CA04FDB-A613-106D-566B-EAC9FEF00096}"/>
              </a:ext>
            </a:extLst>
          </p:cNvPr>
          <p:cNvSpPr/>
          <p:nvPr/>
        </p:nvSpPr>
        <p:spPr bwMode="gray">
          <a:xfrm>
            <a:off x="858247" y="6276160"/>
            <a:ext cx="10913959" cy="383864"/>
          </a:xfrm>
          <a:prstGeom prst="rect">
            <a:avLst/>
          </a:prstGeom>
          <a:solidFill>
            <a:srgbClr val="00768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dirty="0">
                <a:solidFill>
                  <a:schemeClr val="bg1"/>
                </a:solidFill>
                <a:latin typeface="Calibri" panose="020F0502020204030204" pitchFamily="34" charset="0"/>
                <a:cs typeface="Calibri" panose="020F0502020204030204" pitchFamily="34" charset="0"/>
              </a:rPr>
              <a:t>This result in Competitive    l     Flexible Structure     l       Enabling Choice to Consumer</a:t>
            </a:r>
          </a:p>
        </p:txBody>
      </p:sp>
      <p:cxnSp>
        <p:nvCxnSpPr>
          <p:cNvPr id="49" name="Straight Arrow Connector 48">
            <a:extLst>
              <a:ext uri="{FF2B5EF4-FFF2-40B4-BE49-F238E27FC236}">
                <a16:creationId xmlns:a16="http://schemas.microsoft.com/office/drawing/2014/main" id="{DED29FB1-E54A-5709-02BF-D25470870899}"/>
              </a:ext>
            </a:extLst>
          </p:cNvPr>
          <p:cNvCxnSpPr>
            <a:endCxn id="10" idx="3"/>
          </p:cNvCxnSpPr>
          <p:nvPr/>
        </p:nvCxnSpPr>
        <p:spPr>
          <a:xfrm flipH="1">
            <a:off x="2311522" y="2454266"/>
            <a:ext cx="517680" cy="4085"/>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6952933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AF810-0FF1-6D3C-1386-3369D13EFAE7}"/>
            </a:ext>
          </a:extLst>
        </p:cNvPr>
        <p:cNvGrpSpPr/>
        <p:nvPr/>
      </p:nvGrpSpPr>
      <p:grpSpPr>
        <a:xfrm>
          <a:off x="0" y="0"/>
          <a:ext cx="0" cy="0"/>
          <a:chOff x="0" y="0"/>
          <a:chExt cx="0" cy="0"/>
        </a:xfrm>
      </p:grpSpPr>
      <p:graphicFrame>
        <p:nvGraphicFramePr>
          <p:cNvPr id="87" name="think-cell data - do not delete" hidden="1">
            <a:extLst>
              <a:ext uri="{FF2B5EF4-FFF2-40B4-BE49-F238E27FC236}">
                <a16:creationId xmlns:a16="http://schemas.microsoft.com/office/drawing/2014/main" id="{C9C667ED-21EB-E8AB-6791-6B48598F5BC5}"/>
              </a:ext>
            </a:extLst>
          </p:cNvPr>
          <p:cNvGraphicFramePr>
            <a:graphicFrameLocks noChangeAspect="1"/>
          </p:cNvGraphicFramePr>
          <p:nvPr>
            <p:custDataLst>
              <p:tags r:id="rId1"/>
            </p:custDataLst>
            <p:extLst>
              <p:ext uri="{D42A27DB-BD31-4B8C-83A1-F6EECF244321}">
                <p14:modId xmlns:p14="http://schemas.microsoft.com/office/powerpoint/2010/main" val="34176654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87" name="think-cell data - do not delete" hidden="1">
                        <a:extLst>
                          <a:ext uri="{FF2B5EF4-FFF2-40B4-BE49-F238E27FC236}">
                            <a16:creationId xmlns:a16="http://schemas.microsoft.com/office/drawing/2014/main" id="{655774DF-04CA-61D3-C38F-259D1C2BD1E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0" name="Title 2">
            <a:extLst>
              <a:ext uri="{FF2B5EF4-FFF2-40B4-BE49-F238E27FC236}">
                <a16:creationId xmlns:a16="http://schemas.microsoft.com/office/drawing/2014/main" id="{995258E9-5337-1CEA-0503-A7EB1E1BA3FB}"/>
              </a:ext>
            </a:extLst>
          </p:cNvPr>
          <p:cNvSpPr>
            <a:spLocks noGrp="1"/>
          </p:cNvSpPr>
          <p:nvPr>
            <p:ph type="title"/>
          </p:nvPr>
        </p:nvSpPr>
        <p:spPr>
          <a:xfrm>
            <a:off x="469902" y="402587"/>
            <a:ext cx="11252200" cy="334102"/>
          </a:xfrm>
        </p:spPr>
        <p:txBody>
          <a:bodyPr vert="horz">
            <a:noAutofit/>
          </a:bodyPr>
          <a:lstStyle/>
          <a:p>
            <a:r>
              <a:rPr lang="en-US" sz="2800" b="1" dirty="0">
                <a:latin typeface="Calibri" panose="020F0502020204030204" pitchFamily="34" charset="0"/>
                <a:cs typeface="Calibri" panose="020F0502020204030204" pitchFamily="34" charset="0"/>
              </a:rPr>
              <a:t>Different Charges applicable to OA Consumers in India</a:t>
            </a:r>
          </a:p>
        </p:txBody>
      </p:sp>
      <p:graphicFrame>
        <p:nvGraphicFramePr>
          <p:cNvPr id="54" name="Table 5">
            <a:extLst>
              <a:ext uri="{FF2B5EF4-FFF2-40B4-BE49-F238E27FC236}">
                <a16:creationId xmlns:a16="http://schemas.microsoft.com/office/drawing/2014/main" id="{F9C0A6CF-0CF9-2794-F45C-843C6BC8369A}"/>
              </a:ext>
            </a:extLst>
          </p:cNvPr>
          <p:cNvGraphicFramePr>
            <a:graphicFrameLocks noGrp="1"/>
          </p:cNvGraphicFramePr>
          <p:nvPr>
            <p:extLst>
              <p:ext uri="{D42A27DB-BD31-4B8C-83A1-F6EECF244321}">
                <p14:modId xmlns:p14="http://schemas.microsoft.com/office/powerpoint/2010/main" val="3276818625"/>
              </p:ext>
            </p:extLst>
          </p:nvPr>
        </p:nvGraphicFramePr>
        <p:xfrm>
          <a:off x="587417" y="976405"/>
          <a:ext cx="11134685" cy="5683235"/>
        </p:xfrm>
        <a:graphic>
          <a:graphicData uri="http://schemas.openxmlformats.org/drawingml/2006/table">
            <a:tbl>
              <a:tblPr firstRow="1" bandRow="1">
                <a:tableStyleId>{5C22544A-7EE6-4342-B048-85BDC9FD1C3A}</a:tableStyleId>
              </a:tblPr>
              <a:tblGrid>
                <a:gridCol w="1664790">
                  <a:extLst>
                    <a:ext uri="{9D8B030D-6E8A-4147-A177-3AD203B41FA5}">
                      <a16:colId xmlns:a16="http://schemas.microsoft.com/office/drawing/2014/main" val="1299252823"/>
                    </a:ext>
                  </a:extLst>
                </a:gridCol>
                <a:gridCol w="748647">
                  <a:extLst>
                    <a:ext uri="{9D8B030D-6E8A-4147-A177-3AD203B41FA5}">
                      <a16:colId xmlns:a16="http://schemas.microsoft.com/office/drawing/2014/main" val="2715767037"/>
                    </a:ext>
                  </a:extLst>
                </a:gridCol>
                <a:gridCol w="1034889">
                  <a:extLst>
                    <a:ext uri="{9D8B030D-6E8A-4147-A177-3AD203B41FA5}">
                      <a16:colId xmlns:a16="http://schemas.microsoft.com/office/drawing/2014/main" val="574690774"/>
                    </a:ext>
                  </a:extLst>
                </a:gridCol>
                <a:gridCol w="926166">
                  <a:extLst>
                    <a:ext uri="{9D8B030D-6E8A-4147-A177-3AD203B41FA5}">
                      <a16:colId xmlns:a16="http://schemas.microsoft.com/office/drawing/2014/main" val="2391783840"/>
                    </a:ext>
                  </a:extLst>
                </a:gridCol>
                <a:gridCol w="926166">
                  <a:extLst>
                    <a:ext uri="{9D8B030D-6E8A-4147-A177-3AD203B41FA5}">
                      <a16:colId xmlns:a16="http://schemas.microsoft.com/office/drawing/2014/main" val="1851914862"/>
                    </a:ext>
                  </a:extLst>
                </a:gridCol>
                <a:gridCol w="1170838">
                  <a:extLst>
                    <a:ext uri="{9D8B030D-6E8A-4147-A177-3AD203B41FA5}">
                      <a16:colId xmlns:a16="http://schemas.microsoft.com/office/drawing/2014/main" val="194670633"/>
                    </a:ext>
                  </a:extLst>
                </a:gridCol>
                <a:gridCol w="768594">
                  <a:extLst>
                    <a:ext uri="{9D8B030D-6E8A-4147-A177-3AD203B41FA5}">
                      <a16:colId xmlns:a16="http://schemas.microsoft.com/office/drawing/2014/main" val="3935581348"/>
                    </a:ext>
                  </a:extLst>
                </a:gridCol>
                <a:gridCol w="926166">
                  <a:extLst>
                    <a:ext uri="{9D8B030D-6E8A-4147-A177-3AD203B41FA5}">
                      <a16:colId xmlns:a16="http://schemas.microsoft.com/office/drawing/2014/main" val="4055426239"/>
                    </a:ext>
                  </a:extLst>
                </a:gridCol>
                <a:gridCol w="926166">
                  <a:extLst>
                    <a:ext uri="{9D8B030D-6E8A-4147-A177-3AD203B41FA5}">
                      <a16:colId xmlns:a16="http://schemas.microsoft.com/office/drawing/2014/main" val="3507670073"/>
                    </a:ext>
                  </a:extLst>
                </a:gridCol>
                <a:gridCol w="861619">
                  <a:extLst>
                    <a:ext uri="{9D8B030D-6E8A-4147-A177-3AD203B41FA5}">
                      <a16:colId xmlns:a16="http://schemas.microsoft.com/office/drawing/2014/main" val="3822963854"/>
                    </a:ext>
                  </a:extLst>
                </a:gridCol>
                <a:gridCol w="1180644">
                  <a:extLst>
                    <a:ext uri="{9D8B030D-6E8A-4147-A177-3AD203B41FA5}">
                      <a16:colId xmlns:a16="http://schemas.microsoft.com/office/drawing/2014/main" val="2799269823"/>
                    </a:ext>
                  </a:extLst>
                </a:gridCol>
              </a:tblGrid>
              <a:tr h="449387">
                <a:tc>
                  <a:txBody>
                    <a:bodyPr/>
                    <a:lstStyle/>
                    <a:p>
                      <a:pPr algn="ctr"/>
                      <a:r>
                        <a:rPr lang="en-US" sz="1200" b="0" dirty="0">
                          <a:latin typeface="+mn-lt"/>
                        </a:rPr>
                        <a:t>Different Charges</a:t>
                      </a:r>
                    </a:p>
                  </a:txBody>
                  <a:tcPr marL="27432" marR="27432" marT="27432" marB="27432" anchor="ctr">
                    <a:solidFill>
                      <a:srgbClr val="009A44"/>
                    </a:solidFill>
                  </a:tcPr>
                </a:tc>
                <a:tc>
                  <a:txBody>
                    <a:bodyPr/>
                    <a:lstStyle/>
                    <a:p>
                      <a:pPr algn="ctr"/>
                      <a:r>
                        <a:rPr lang="en-US" sz="1200" b="0" dirty="0">
                          <a:latin typeface="+mn-lt"/>
                        </a:rPr>
                        <a:t>West Bengal</a:t>
                      </a:r>
                    </a:p>
                  </a:txBody>
                  <a:tcPr marL="27432" marR="27432" marT="27432" marB="27432">
                    <a:solidFill>
                      <a:srgbClr val="00ABAB"/>
                    </a:solidFill>
                  </a:tcPr>
                </a:tc>
                <a:tc>
                  <a:txBody>
                    <a:bodyPr/>
                    <a:lstStyle/>
                    <a:p>
                      <a:pPr algn="ctr"/>
                      <a:r>
                        <a:rPr lang="en-US" sz="1200" b="0" dirty="0">
                          <a:latin typeface="+mn-lt"/>
                        </a:rPr>
                        <a:t>Chhattisgarh </a:t>
                      </a:r>
                    </a:p>
                  </a:txBody>
                  <a:tcPr marL="27432" marR="27432" marT="27432" marB="27432">
                    <a:solidFill>
                      <a:srgbClr val="43B02A"/>
                    </a:solidFill>
                  </a:tcPr>
                </a:tc>
                <a:tc>
                  <a:txBody>
                    <a:bodyPr/>
                    <a:lstStyle/>
                    <a:p>
                      <a:pPr algn="ctr"/>
                      <a:r>
                        <a:rPr lang="en-US" sz="1200" b="0" dirty="0">
                          <a:latin typeface="+mn-lt"/>
                        </a:rPr>
                        <a:t>Assam</a:t>
                      </a:r>
                    </a:p>
                  </a:txBody>
                  <a:tcPr marL="27432" marR="27432" marT="27432" marB="27432">
                    <a:solidFill>
                      <a:srgbClr val="00B0F0"/>
                    </a:solidFill>
                  </a:tcPr>
                </a:tc>
                <a:tc>
                  <a:txBody>
                    <a:bodyPr/>
                    <a:lstStyle/>
                    <a:p>
                      <a:pPr algn="ctr"/>
                      <a:r>
                        <a:rPr lang="en-US" sz="1200" b="0" dirty="0">
                          <a:latin typeface="+mn-lt"/>
                        </a:rPr>
                        <a:t>Punjab </a:t>
                      </a:r>
                    </a:p>
                  </a:txBody>
                  <a:tcPr marL="27432" marR="27432" marT="27432" marB="27432">
                    <a:solidFill>
                      <a:srgbClr val="0076A8"/>
                    </a:solidFill>
                  </a:tcPr>
                </a:tc>
                <a:tc>
                  <a:txBody>
                    <a:bodyPr/>
                    <a:lstStyle/>
                    <a:p>
                      <a:pPr algn="ctr"/>
                      <a:r>
                        <a:rPr lang="en-US" sz="1200" b="0" dirty="0">
                          <a:latin typeface="+mn-lt"/>
                        </a:rPr>
                        <a:t>Jharkhand </a:t>
                      </a:r>
                    </a:p>
                  </a:txBody>
                  <a:tcPr marL="27432" marR="27432" marT="27432" marB="27432">
                    <a:solidFill>
                      <a:srgbClr val="009A44"/>
                    </a:solidFill>
                  </a:tcPr>
                </a:tc>
                <a:tc>
                  <a:txBody>
                    <a:bodyPr/>
                    <a:lstStyle/>
                    <a:p>
                      <a:pPr algn="ctr"/>
                      <a:r>
                        <a:rPr lang="en-US" sz="1200" b="0" dirty="0">
                          <a:latin typeface="+mn-lt"/>
                        </a:rPr>
                        <a:t>Tamil Nadu </a:t>
                      </a:r>
                    </a:p>
                  </a:txBody>
                  <a:tcPr marL="27432" marR="27432" marT="27432" marB="27432">
                    <a:solidFill>
                      <a:srgbClr val="007680"/>
                    </a:solidFill>
                  </a:tcPr>
                </a:tc>
                <a:tc>
                  <a:txBody>
                    <a:bodyPr/>
                    <a:lstStyle/>
                    <a:p>
                      <a:pPr algn="ctr"/>
                      <a:r>
                        <a:rPr lang="en-US" sz="1200" b="0" dirty="0">
                          <a:latin typeface="+mn-lt"/>
                        </a:rPr>
                        <a:t>Andhra Pradesh </a:t>
                      </a:r>
                    </a:p>
                  </a:txBody>
                  <a:tcPr marL="27432" marR="27432" marT="27432" marB="27432">
                    <a:solidFill>
                      <a:srgbClr val="00ABAB"/>
                    </a:solidFill>
                  </a:tcPr>
                </a:tc>
                <a:tc>
                  <a:txBody>
                    <a:bodyPr/>
                    <a:lstStyle/>
                    <a:p>
                      <a:pPr algn="ctr"/>
                      <a:r>
                        <a:rPr lang="en-US" sz="1200" b="0" dirty="0">
                          <a:latin typeface="+mn-lt"/>
                        </a:rPr>
                        <a:t>Gujarat</a:t>
                      </a:r>
                    </a:p>
                  </a:txBody>
                  <a:tcPr marL="27432" marR="27432" marT="27432" marB="27432">
                    <a:solidFill>
                      <a:srgbClr val="00ABAB"/>
                    </a:solidFill>
                  </a:tcPr>
                </a:tc>
                <a:tc>
                  <a:txBody>
                    <a:bodyPr/>
                    <a:lstStyle/>
                    <a:p>
                      <a:pPr algn="ctr"/>
                      <a:r>
                        <a:rPr lang="en-US" sz="1200" b="0" dirty="0">
                          <a:latin typeface="+mn-lt"/>
                        </a:rPr>
                        <a:t>Haryana </a:t>
                      </a:r>
                    </a:p>
                  </a:txBody>
                  <a:tcPr marL="27432" marR="27432" marT="27432" marB="27432">
                    <a:solidFill>
                      <a:srgbClr val="43B02A"/>
                    </a:solidFill>
                  </a:tcPr>
                </a:tc>
                <a:tc>
                  <a:txBody>
                    <a:bodyPr/>
                    <a:lstStyle/>
                    <a:p>
                      <a:pPr algn="ctr"/>
                      <a:r>
                        <a:rPr lang="en-US" sz="1200" b="0" dirty="0">
                          <a:latin typeface="+mn-lt"/>
                        </a:rPr>
                        <a:t>Maharashtra </a:t>
                      </a:r>
                    </a:p>
                  </a:txBody>
                  <a:tcPr marL="27432" marR="27432" marT="27432" marB="27432">
                    <a:solidFill>
                      <a:srgbClr val="0076A8"/>
                    </a:solidFill>
                  </a:tcPr>
                </a:tc>
                <a:extLst>
                  <a:ext uri="{0D108BD9-81ED-4DB2-BD59-A6C34878D82A}">
                    <a16:rowId xmlns:a16="http://schemas.microsoft.com/office/drawing/2014/main" val="212934898"/>
                  </a:ext>
                </a:extLst>
              </a:tr>
              <a:tr h="449387">
                <a:tc>
                  <a:txBody>
                    <a:bodyPr/>
                    <a:lstStyle/>
                    <a:p>
                      <a:pPr algn="l" fontAlgn="ctr"/>
                      <a:r>
                        <a:rPr lang="en-US" sz="1200" b="0" i="0" u="none" strike="noStrike" dirty="0">
                          <a:solidFill>
                            <a:srgbClr val="000000"/>
                          </a:solidFill>
                          <a:effectLst/>
                          <a:latin typeface="+mn-lt"/>
                        </a:rPr>
                        <a:t>Transmission Charge </a:t>
                      </a:r>
                    </a:p>
                  </a:txBody>
                  <a:tcPr marT="27432" marB="27432" anchor="ctr">
                    <a:solidFill>
                      <a:srgbClr val="009A44">
                        <a:alpha val="10000"/>
                      </a:srgbClr>
                    </a:solidFill>
                  </a:tcPr>
                </a:tc>
                <a:tc>
                  <a:txBody>
                    <a:bodyPr/>
                    <a:lstStyle/>
                    <a:p>
                      <a:endParaRPr lang="en-US" sz="1200" dirty="0">
                        <a:latin typeface="+mn-lt"/>
                      </a:endParaRPr>
                    </a:p>
                  </a:txBody>
                  <a:tcPr marL="27432" marR="27432" marT="27432" marB="27432">
                    <a:solidFill>
                      <a:srgbClr val="00ABAB">
                        <a:alpha val="10000"/>
                      </a:srgbClr>
                    </a:solidFill>
                  </a:tcPr>
                </a:tc>
                <a:tc>
                  <a:txBody>
                    <a:bodyPr/>
                    <a:lstStyle/>
                    <a:p>
                      <a:endParaRPr lang="en-US" sz="1200" dirty="0">
                        <a:latin typeface="+mn-lt"/>
                      </a:endParaRPr>
                    </a:p>
                  </a:txBody>
                  <a:tcPr marL="27432" marR="27432" marT="27432" marB="27432">
                    <a:solidFill>
                      <a:srgbClr val="43B02A">
                        <a:alpha val="10000"/>
                      </a:srgbClr>
                    </a:solidFill>
                  </a:tcPr>
                </a:tc>
                <a:tc>
                  <a:txBody>
                    <a:bodyPr/>
                    <a:lstStyle/>
                    <a:p>
                      <a:endParaRPr lang="en-US" sz="1200" dirty="0">
                        <a:latin typeface="+mn-lt"/>
                      </a:endParaRPr>
                    </a:p>
                  </a:txBody>
                  <a:tcPr marL="27432" marR="27432" marT="27432" marB="27432">
                    <a:solidFill>
                      <a:srgbClr val="00B0F0">
                        <a:alpha val="10000"/>
                      </a:srgbClr>
                    </a:solidFill>
                  </a:tcPr>
                </a:tc>
                <a:tc>
                  <a:txBody>
                    <a:bodyPr/>
                    <a:lstStyle/>
                    <a:p>
                      <a:endParaRPr lang="en-US" sz="1200" dirty="0">
                        <a:latin typeface="+mn-lt"/>
                      </a:endParaRPr>
                    </a:p>
                  </a:txBody>
                  <a:tcPr marL="27432" marR="27432" marT="27432" marB="27432">
                    <a:solidFill>
                      <a:srgbClr val="0076A8">
                        <a:alpha val="10000"/>
                      </a:srgbClr>
                    </a:solidFill>
                  </a:tcPr>
                </a:tc>
                <a:tc>
                  <a:txBody>
                    <a:bodyPr/>
                    <a:lstStyle/>
                    <a:p>
                      <a:endParaRPr lang="en-US" sz="1200" dirty="0">
                        <a:latin typeface="+mn-lt"/>
                      </a:endParaRPr>
                    </a:p>
                  </a:txBody>
                  <a:tcPr marL="27432" marR="27432" marT="27432" marB="27432">
                    <a:solidFill>
                      <a:srgbClr val="009A44">
                        <a:alpha val="10000"/>
                      </a:srgbClr>
                    </a:solidFill>
                  </a:tcPr>
                </a:tc>
                <a:tc>
                  <a:txBody>
                    <a:bodyPr/>
                    <a:lstStyle/>
                    <a:p>
                      <a:endParaRPr lang="en-US" sz="1200">
                        <a:latin typeface="+mn-lt"/>
                      </a:endParaRPr>
                    </a:p>
                  </a:txBody>
                  <a:tcPr marL="27432" marR="27432" marT="27432" marB="27432">
                    <a:solidFill>
                      <a:srgbClr val="007680">
                        <a:alpha val="10000"/>
                      </a:srgbClr>
                    </a:solidFill>
                  </a:tcPr>
                </a:tc>
                <a:tc>
                  <a:txBody>
                    <a:bodyPr/>
                    <a:lstStyle/>
                    <a:p>
                      <a:endParaRPr lang="en-US" sz="1200">
                        <a:latin typeface="+mn-lt"/>
                      </a:endParaRPr>
                    </a:p>
                  </a:txBody>
                  <a:tcPr marL="27432" marR="27432" marT="27432" marB="27432">
                    <a:solidFill>
                      <a:srgbClr val="00ABAB">
                        <a:alpha val="10000"/>
                      </a:srgbClr>
                    </a:solidFill>
                  </a:tcPr>
                </a:tc>
                <a:tc>
                  <a:txBody>
                    <a:bodyPr/>
                    <a:lstStyle/>
                    <a:p>
                      <a:endParaRPr lang="en-US" sz="1200">
                        <a:latin typeface="+mn-lt"/>
                      </a:endParaRPr>
                    </a:p>
                  </a:txBody>
                  <a:tcPr marL="27432" marR="27432" marT="27432" marB="27432">
                    <a:solidFill>
                      <a:srgbClr val="00ABAB">
                        <a:alpha val="10000"/>
                      </a:srgbClr>
                    </a:solidFill>
                  </a:tcPr>
                </a:tc>
                <a:tc>
                  <a:txBody>
                    <a:bodyPr/>
                    <a:lstStyle/>
                    <a:p>
                      <a:endParaRPr lang="en-US" sz="1200" dirty="0">
                        <a:latin typeface="+mn-lt"/>
                      </a:endParaRPr>
                    </a:p>
                  </a:txBody>
                  <a:tcPr marL="27432" marR="27432" marT="27432" marB="27432">
                    <a:solidFill>
                      <a:srgbClr val="43B02A">
                        <a:alpha val="10000"/>
                      </a:srgbClr>
                    </a:solidFill>
                  </a:tcPr>
                </a:tc>
                <a:tc>
                  <a:txBody>
                    <a:bodyPr/>
                    <a:lstStyle/>
                    <a:p>
                      <a:endParaRPr lang="en-US" sz="1200" dirty="0">
                        <a:latin typeface="+mn-lt"/>
                      </a:endParaRPr>
                    </a:p>
                  </a:txBody>
                  <a:tcPr marL="27432" marR="27432" marT="27432" marB="27432">
                    <a:solidFill>
                      <a:srgbClr val="0076A8">
                        <a:alpha val="10000"/>
                      </a:srgbClr>
                    </a:solidFill>
                  </a:tcPr>
                </a:tc>
                <a:extLst>
                  <a:ext uri="{0D108BD9-81ED-4DB2-BD59-A6C34878D82A}">
                    <a16:rowId xmlns:a16="http://schemas.microsoft.com/office/drawing/2014/main" val="75875730"/>
                  </a:ext>
                </a:extLst>
              </a:tr>
              <a:tr h="422921">
                <a:tc>
                  <a:txBody>
                    <a:bodyPr/>
                    <a:lstStyle/>
                    <a:p>
                      <a:pPr algn="l" fontAlgn="ctr"/>
                      <a:r>
                        <a:rPr lang="en-US" sz="1200" b="0" i="0" u="none" strike="noStrike">
                          <a:solidFill>
                            <a:srgbClr val="000000"/>
                          </a:solidFill>
                          <a:effectLst/>
                          <a:latin typeface="+mn-lt"/>
                        </a:rPr>
                        <a:t>Wheeling Charge </a:t>
                      </a:r>
                    </a:p>
                  </a:txBody>
                  <a:tcPr marT="27432" marB="27432" anchor="ctr">
                    <a:solidFill>
                      <a:srgbClr val="009A44">
                        <a:alpha val="10000"/>
                      </a:srgbClr>
                    </a:solidFill>
                  </a:tcPr>
                </a:tc>
                <a:tc>
                  <a:txBody>
                    <a:bodyPr/>
                    <a:lstStyle/>
                    <a:p>
                      <a:endParaRPr lang="en-US" sz="1200">
                        <a:latin typeface="+mn-lt"/>
                      </a:endParaRPr>
                    </a:p>
                  </a:txBody>
                  <a:tcPr marL="27432" marR="27432" marT="27432" marB="27432">
                    <a:solidFill>
                      <a:srgbClr val="00ABAB">
                        <a:alpha val="10000"/>
                      </a:srgbClr>
                    </a:solidFill>
                  </a:tcPr>
                </a:tc>
                <a:tc>
                  <a:txBody>
                    <a:bodyPr/>
                    <a:lstStyle/>
                    <a:p>
                      <a:endParaRPr lang="en-US" sz="1200">
                        <a:latin typeface="+mn-lt"/>
                      </a:endParaRPr>
                    </a:p>
                  </a:txBody>
                  <a:tcPr marL="27432" marR="27432" marT="27432" marB="27432">
                    <a:solidFill>
                      <a:srgbClr val="43B02A">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tc>
                  <a:txBody>
                    <a:bodyPr/>
                    <a:lstStyle/>
                    <a:p>
                      <a:endParaRPr lang="en-US" sz="1200" dirty="0">
                        <a:latin typeface="+mn-lt"/>
                      </a:endParaRPr>
                    </a:p>
                  </a:txBody>
                  <a:tcPr marL="27432" marR="27432" marT="27432" marB="27432">
                    <a:solidFill>
                      <a:srgbClr val="0076A8">
                        <a:alpha val="10000"/>
                      </a:srgbClr>
                    </a:solidFill>
                  </a:tcPr>
                </a:tc>
                <a:tc>
                  <a:txBody>
                    <a:bodyPr/>
                    <a:lstStyle/>
                    <a:p>
                      <a:endParaRPr lang="en-US" sz="1200" dirty="0">
                        <a:latin typeface="+mn-lt"/>
                      </a:endParaRPr>
                    </a:p>
                  </a:txBody>
                  <a:tcPr marL="27432" marR="27432" marT="27432" marB="27432">
                    <a:solidFill>
                      <a:srgbClr val="009A44">
                        <a:alpha val="10000"/>
                      </a:srgbClr>
                    </a:solidFill>
                  </a:tcPr>
                </a:tc>
                <a:tc>
                  <a:txBody>
                    <a:bodyPr/>
                    <a:lstStyle/>
                    <a:p>
                      <a:endParaRPr lang="en-US" sz="1200" dirty="0">
                        <a:latin typeface="+mn-lt"/>
                      </a:endParaRPr>
                    </a:p>
                  </a:txBody>
                  <a:tcPr marL="27432" marR="27432" marT="27432" marB="27432">
                    <a:solidFill>
                      <a:srgbClr val="007680">
                        <a:alpha val="10000"/>
                      </a:srgbClr>
                    </a:solidFill>
                  </a:tcPr>
                </a:tc>
                <a:tc>
                  <a:txBody>
                    <a:bodyPr/>
                    <a:lstStyle/>
                    <a:p>
                      <a:endParaRPr lang="en-US" sz="1200">
                        <a:latin typeface="+mn-lt"/>
                      </a:endParaRPr>
                    </a:p>
                  </a:txBody>
                  <a:tcPr marL="27432" marR="27432" marT="27432" marB="27432">
                    <a:solidFill>
                      <a:srgbClr val="00ABAB">
                        <a:alpha val="10000"/>
                      </a:srgbClr>
                    </a:solidFill>
                  </a:tcPr>
                </a:tc>
                <a:tc>
                  <a:txBody>
                    <a:bodyPr/>
                    <a:lstStyle/>
                    <a:p>
                      <a:endParaRPr lang="en-US" sz="1200">
                        <a:latin typeface="+mn-lt"/>
                      </a:endParaRPr>
                    </a:p>
                  </a:txBody>
                  <a:tcPr marL="27432" marR="27432" marT="27432" marB="27432">
                    <a:solidFill>
                      <a:srgbClr val="00ABAB">
                        <a:alpha val="10000"/>
                      </a:srgbClr>
                    </a:solidFill>
                  </a:tcPr>
                </a:tc>
                <a:tc>
                  <a:txBody>
                    <a:bodyPr/>
                    <a:lstStyle/>
                    <a:p>
                      <a:endParaRPr lang="en-US" sz="1200">
                        <a:latin typeface="+mn-lt"/>
                      </a:endParaRPr>
                    </a:p>
                  </a:txBody>
                  <a:tcPr marL="27432" marR="27432" marT="27432" marB="27432">
                    <a:solidFill>
                      <a:srgbClr val="43B02A">
                        <a:alpha val="10000"/>
                      </a:srgbClr>
                    </a:solidFill>
                  </a:tcPr>
                </a:tc>
                <a:tc>
                  <a:txBody>
                    <a:bodyPr/>
                    <a:lstStyle/>
                    <a:p>
                      <a:endParaRPr lang="en-US" sz="1200" dirty="0">
                        <a:latin typeface="+mn-lt"/>
                      </a:endParaRPr>
                    </a:p>
                  </a:txBody>
                  <a:tcPr marL="27432" marR="27432" marT="27432" marB="27432">
                    <a:solidFill>
                      <a:srgbClr val="0076A8">
                        <a:alpha val="10000"/>
                      </a:srgbClr>
                    </a:solidFill>
                  </a:tcPr>
                </a:tc>
                <a:extLst>
                  <a:ext uri="{0D108BD9-81ED-4DB2-BD59-A6C34878D82A}">
                    <a16:rowId xmlns:a16="http://schemas.microsoft.com/office/drawing/2014/main" val="2681478951"/>
                  </a:ext>
                </a:extLst>
              </a:tr>
              <a:tr h="422921">
                <a:tc>
                  <a:txBody>
                    <a:bodyPr/>
                    <a:lstStyle/>
                    <a:p>
                      <a:pPr algn="l" fontAlgn="ctr"/>
                      <a:r>
                        <a:rPr lang="en-US" sz="1200" b="0" i="0" u="none" strike="noStrike" dirty="0">
                          <a:solidFill>
                            <a:srgbClr val="000000"/>
                          </a:solidFill>
                          <a:effectLst/>
                          <a:latin typeface="+mn-lt"/>
                        </a:rPr>
                        <a:t>SLDC Charges</a:t>
                      </a:r>
                    </a:p>
                  </a:txBody>
                  <a:tcPr marT="27432" marB="27432" anchor="ctr">
                    <a:solidFill>
                      <a:srgbClr val="009A44">
                        <a:alpha val="10000"/>
                      </a:srgbClr>
                    </a:solidFill>
                  </a:tcPr>
                </a:tc>
                <a:tc>
                  <a:txBody>
                    <a:bodyPr/>
                    <a:lstStyle/>
                    <a:p>
                      <a:endParaRPr lang="en-US" sz="1200">
                        <a:latin typeface="+mn-lt"/>
                      </a:endParaRPr>
                    </a:p>
                  </a:txBody>
                  <a:tcPr marL="27432" marR="27432" marT="27432" marB="27432">
                    <a:solidFill>
                      <a:srgbClr val="00ABAB">
                        <a:alpha val="10000"/>
                      </a:srgbClr>
                    </a:solidFill>
                  </a:tcPr>
                </a:tc>
                <a:tc>
                  <a:txBody>
                    <a:bodyPr/>
                    <a:lstStyle/>
                    <a:p>
                      <a:endParaRPr lang="en-US" sz="1200">
                        <a:latin typeface="+mn-lt"/>
                      </a:endParaRPr>
                    </a:p>
                  </a:txBody>
                  <a:tcPr marL="27432" marR="27432" marT="27432" marB="27432">
                    <a:solidFill>
                      <a:srgbClr val="43B02A">
                        <a:alpha val="10000"/>
                      </a:srgbClr>
                    </a:solidFill>
                  </a:tcPr>
                </a:tc>
                <a:tc>
                  <a:txBody>
                    <a:bodyPr/>
                    <a:lstStyle/>
                    <a:p>
                      <a:endParaRPr lang="en-US" sz="1200">
                        <a:latin typeface="+mn-lt"/>
                      </a:endParaRPr>
                    </a:p>
                  </a:txBody>
                  <a:tcPr marL="27432" marR="27432" marT="27432" marB="27432">
                    <a:solidFill>
                      <a:srgbClr val="00B0F0">
                        <a:alpha val="10000"/>
                      </a:srgbClr>
                    </a:solidFill>
                  </a:tcPr>
                </a:tc>
                <a:tc>
                  <a:txBody>
                    <a:bodyPr/>
                    <a:lstStyle/>
                    <a:p>
                      <a:endParaRPr lang="en-US" sz="1200" dirty="0">
                        <a:latin typeface="+mn-lt"/>
                      </a:endParaRPr>
                    </a:p>
                  </a:txBody>
                  <a:tcPr marL="27432" marR="27432" marT="27432" marB="27432">
                    <a:solidFill>
                      <a:srgbClr val="0076A8">
                        <a:alpha val="10000"/>
                      </a:srgbClr>
                    </a:solidFill>
                  </a:tcPr>
                </a:tc>
                <a:tc>
                  <a:txBody>
                    <a:bodyPr/>
                    <a:lstStyle/>
                    <a:p>
                      <a:endParaRPr lang="en-US" sz="1200">
                        <a:latin typeface="+mn-lt"/>
                      </a:endParaRPr>
                    </a:p>
                  </a:txBody>
                  <a:tcPr marL="27432" marR="27432" marT="27432" marB="27432">
                    <a:solidFill>
                      <a:srgbClr val="009A44">
                        <a:alpha val="10000"/>
                      </a:srgbClr>
                    </a:solidFill>
                  </a:tcPr>
                </a:tc>
                <a:tc>
                  <a:txBody>
                    <a:bodyPr/>
                    <a:lstStyle/>
                    <a:p>
                      <a:endParaRPr lang="en-US" sz="1200" dirty="0">
                        <a:latin typeface="+mn-lt"/>
                      </a:endParaRPr>
                    </a:p>
                  </a:txBody>
                  <a:tcPr marL="27432" marR="27432" marT="27432" marB="27432">
                    <a:solidFill>
                      <a:srgbClr val="007680">
                        <a:alpha val="10000"/>
                      </a:srgbClr>
                    </a:solidFill>
                  </a:tcPr>
                </a:tc>
                <a:tc>
                  <a:txBody>
                    <a:bodyPr/>
                    <a:lstStyle/>
                    <a:p>
                      <a:endParaRPr lang="en-US" sz="1200" dirty="0">
                        <a:latin typeface="+mn-lt"/>
                      </a:endParaRPr>
                    </a:p>
                  </a:txBody>
                  <a:tcPr marL="27432" marR="27432" marT="27432" marB="27432">
                    <a:solidFill>
                      <a:srgbClr val="00ABAB">
                        <a:alpha val="10000"/>
                      </a:srgbClr>
                    </a:solidFill>
                  </a:tcPr>
                </a:tc>
                <a:tc>
                  <a:txBody>
                    <a:bodyPr/>
                    <a:lstStyle/>
                    <a:p>
                      <a:endParaRPr lang="en-US" sz="1200" dirty="0">
                        <a:latin typeface="+mn-lt"/>
                      </a:endParaRPr>
                    </a:p>
                  </a:txBody>
                  <a:tcPr marL="27432" marR="27432" marT="27432" marB="27432">
                    <a:solidFill>
                      <a:srgbClr val="00ABAB">
                        <a:alpha val="10000"/>
                      </a:srgbClr>
                    </a:solidFill>
                  </a:tcPr>
                </a:tc>
                <a:tc>
                  <a:txBody>
                    <a:bodyPr/>
                    <a:lstStyle/>
                    <a:p>
                      <a:endParaRPr lang="en-US" sz="1200" dirty="0">
                        <a:latin typeface="+mn-lt"/>
                      </a:endParaRPr>
                    </a:p>
                  </a:txBody>
                  <a:tcPr marL="27432" marR="27432" marT="27432" marB="27432">
                    <a:solidFill>
                      <a:srgbClr val="43B02A">
                        <a:alpha val="10000"/>
                      </a:srgbClr>
                    </a:solidFill>
                  </a:tcPr>
                </a:tc>
                <a:tc>
                  <a:txBody>
                    <a:bodyPr/>
                    <a:lstStyle/>
                    <a:p>
                      <a:endParaRPr lang="en-US" sz="1200">
                        <a:latin typeface="+mn-lt"/>
                      </a:endParaRPr>
                    </a:p>
                  </a:txBody>
                  <a:tcPr marL="27432" marR="27432" marT="27432" marB="27432">
                    <a:solidFill>
                      <a:srgbClr val="0076A8">
                        <a:alpha val="10000"/>
                      </a:srgbClr>
                    </a:solidFill>
                  </a:tcPr>
                </a:tc>
                <a:extLst>
                  <a:ext uri="{0D108BD9-81ED-4DB2-BD59-A6C34878D82A}">
                    <a16:rowId xmlns:a16="http://schemas.microsoft.com/office/drawing/2014/main" val="1960977966"/>
                  </a:ext>
                </a:extLst>
              </a:tr>
              <a:tr h="449387">
                <a:tc>
                  <a:txBody>
                    <a:bodyPr/>
                    <a:lstStyle/>
                    <a:p>
                      <a:pPr algn="l" fontAlgn="ctr"/>
                      <a:r>
                        <a:rPr lang="en-US" sz="1200" b="0" i="0" u="none" strike="noStrike" dirty="0">
                          <a:solidFill>
                            <a:srgbClr val="000000"/>
                          </a:solidFill>
                          <a:effectLst/>
                          <a:latin typeface="+mn-lt"/>
                        </a:rPr>
                        <a:t>UI/Imbalance  Charges</a:t>
                      </a:r>
                    </a:p>
                  </a:txBody>
                  <a:tcPr marT="27432" marB="27432" anchor="ctr">
                    <a:solidFill>
                      <a:srgbClr val="009A44">
                        <a:alpha val="10000"/>
                      </a:srgbClr>
                    </a:solidFill>
                  </a:tcPr>
                </a:tc>
                <a:tc>
                  <a:txBody>
                    <a:bodyPr/>
                    <a:lstStyle/>
                    <a:p>
                      <a:endParaRPr lang="en-US" sz="1200">
                        <a:latin typeface="+mn-lt"/>
                      </a:endParaRPr>
                    </a:p>
                  </a:txBody>
                  <a:tcPr marL="27432" marR="27432" marT="27432" marB="27432">
                    <a:solidFill>
                      <a:srgbClr val="00ABAB">
                        <a:alpha val="10000"/>
                      </a:srgbClr>
                    </a:solidFill>
                  </a:tcPr>
                </a:tc>
                <a:tc>
                  <a:txBody>
                    <a:bodyPr/>
                    <a:lstStyle/>
                    <a:p>
                      <a:endParaRPr lang="en-US" sz="1200" dirty="0">
                        <a:latin typeface="+mn-lt"/>
                      </a:endParaRPr>
                    </a:p>
                  </a:txBody>
                  <a:tcPr marL="27432" marR="27432" marT="27432" marB="27432">
                    <a:solidFill>
                      <a:srgbClr val="43B02A">
                        <a:alpha val="10000"/>
                      </a:srgbClr>
                    </a:solidFill>
                  </a:tcPr>
                </a:tc>
                <a:tc>
                  <a:txBody>
                    <a:bodyPr/>
                    <a:lstStyle/>
                    <a:p>
                      <a:endParaRPr lang="en-US" sz="1200">
                        <a:latin typeface="+mn-lt"/>
                      </a:endParaRPr>
                    </a:p>
                  </a:txBody>
                  <a:tcPr marL="27432" marR="27432" marT="27432" marB="27432">
                    <a:solidFill>
                      <a:srgbClr val="00B0F0">
                        <a:alpha val="10000"/>
                      </a:srgbClr>
                    </a:solidFill>
                  </a:tcPr>
                </a:tc>
                <a:tc>
                  <a:txBody>
                    <a:bodyPr/>
                    <a:lstStyle/>
                    <a:p>
                      <a:endParaRPr lang="en-US" sz="1200" dirty="0">
                        <a:latin typeface="+mn-lt"/>
                      </a:endParaRPr>
                    </a:p>
                  </a:txBody>
                  <a:tcPr marL="27432" marR="27432" marT="27432" marB="27432">
                    <a:solidFill>
                      <a:srgbClr val="0076A8">
                        <a:alpha val="10000"/>
                      </a:srgbClr>
                    </a:solidFill>
                  </a:tcPr>
                </a:tc>
                <a:tc>
                  <a:txBody>
                    <a:bodyPr/>
                    <a:lstStyle/>
                    <a:p>
                      <a:endParaRPr lang="en-US" sz="1200">
                        <a:latin typeface="+mn-lt"/>
                      </a:endParaRPr>
                    </a:p>
                  </a:txBody>
                  <a:tcPr marL="27432" marR="27432" marT="27432" marB="27432">
                    <a:solidFill>
                      <a:srgbClr val="009A44">
                        <a:alpha val="10000"/>
                      </a:srgbClr>
                    </a:solidFill>
                  </a:tcPr>
                </a:tc>
                <a:tc>
                  <a:txBody>
                    <a:bodyPr/>
                    <a:lstStyle/>
                    <a:p>
                      <a:endParaRPr lang="en-US" sz="1200">
                        <a:latin typeface="+mn-lt"/>
                      </a:endParaRPr>
                    </a:p>
                  </a:txBody>
                  <a:tcPr marL="27432" marR="27432" marT="27432" marB="27432">
                    <a:solidFill>
                      <a:srgbClr val="007680">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tc>
                  <a:txBody>
                    <a:bodyPr/>
                    <a:lstStyle/>
                    <a:p>
                      <a:endParaRPr lang="en-US" sz="1200" dirty="0">
                        <a:latin typeface="+mn-lt"/>
                      </a:endParaRPr>
                    </a:p>
                  </a:txBody>
                  <a:tcPr marL="27432" marR="27432" marT="27432" marB="27432">
                    <a:solidFill>
                      <a:srgbClr val="00ABAB">
                        <a:alpha val="10000"/>
                      </a:srgbClr>
                    </a:solidFill>
                  </a:tcPr>
                </a:tc>
                <a:tc>
                  <a:txBody>
                    <a:bodyPr/>
                    <a:lstStyle/>
                    <a:p>
                      <a:endParaRPr lang="en-US" sz="1200" dirty="0">
                        <a:latin typeface="+mn-lt"/>
                      </a:endParaRPr>
                    </a:p>
                  </a:txBody>
                  <a:tcPr marL="27432" marR="27432" marT="27432" marB="27432">
                    <a:solidFill>
                      <a:srgbClr val="43B02A">
                        <a:alpha val="10000"/>
                      </a:srgbClr>
                    </a:solidFill>
                  </a:tcPr>
                </a:tc>
                <a:tc>
                  <a:txBody>
                    <a:bodyPr/>
                    <a:lstStyle/>
                    <a:p>
                      <a:endParaRPr lang="en-US" sz="1200" dirty="0">
                        <a:latin typeface="+mn-lt"/>
                      </a:endParaRPr>
                    </a:p>
                  </a:txBody>
                  <a:tcPr marL="27432" marR="27432" marT="27432" marB="27432">
                    <a:solidFill>
                      <a:srgbClr val="0076A8">
                        <a:alpha val="10000"/>
                      </a:srgbClr>
                    </a:solidFill>
                  </a:tcPr>
                </a:tc>
                <a:extLst>
                  <a:ext uri="{0D108BD9-81ED-4DB2-BD59-A6C34878D82A}">
                    <a16:rowId xmlns:a16="http://schemas.microsoft.com/office/drawing/2014/main" val="3884060782"/>
                  </a:ext>
                </a:extLst>
              </a:tr>
              <a:tr h="449387">
                <a:tc>
                  <a:txBody>
                    <a:bodyPr/>
                    <a:lstStyle/>
                    <a:p>
                      <a:pPr algn="l" fontAlgn="ctr"/>
                      <a:r>
                        <a:rPr lang="en-US" sz="1200" b="0" i="0" u="none" strike="noStrike">
                          <a:solidFill>
                            <a:srgbClr val="000000"/>
                          </a:solidFill>
                          <a:effectLst/>
                          <a:latin typeface="+mn-lt"/>
                        </a:rPr>
                        <a:t>Cross Subsidy Surcharge </a:t>
                      </a:r>
                    </a:p>
                  </a:txBody>
                  <a:tcPr marT="27432" marB="27432" anchor="ctr">
                    <a:solidFill>
                      <a:srgbClr val="009A44">
                        <a:alpha val="10000"/>
                      </a:srgbClr>
                    </a:solidFill>
                  </a:tcPr>
                </a:tc>
                <a:tc>
                  <a:txBody>
                    <a:bodyPr/>
                    <a:lstStyle/>
                    <a:p>
                      <a:endParaRPr lang="en-US" sz="1200">
                        <a:latin typeface="+mn-lt"/>
                      </a:endParaRPr>
                    </a:p>
                  </a:txBody>
                  <a:tcPr marL="27432" marR="27432" marT="27432" marB="27432">
                    <a:solidFill>
                      <a:srgbClr val="00ABAB">
                        <a:alpha val="10000"/>
                      </a:srgbClr>
                    </a:solidFill>
                  </a:tcPr>
                </a:tc>
                <a:tc>
                  <a:txBody>
                    <a:bodyPr/>
                    <a:lstStyle/>
                    <a:p>
                      <a:endParaRPr lang="en-US" sz="1200">
                        <a:latin typeface="+mn-lt"/>
                      </a:endParaRPr>
                    </a:p>
                  </a:txBody>
                  <a:tcPr marL="27432" marR="27432" marT="27432" marB="27432">
                    <a:solidFill>
                      <a:srgbClr val="43B02A">
                        <a:alpha val="10000"/>
                      </a:srgbClr>
                    </a:solidFill>
                  </a:tcPr>
                </a:tc>
                <a:tc>
                  <a:txBody>
                    <a:bodyPr/>
                    <a:lstStyle/>
                    <a:p>
                      <a:endParaRPr lang="en-US" sz="1200" dirty="0">
                        <a:latin typeface="+mn-lt"/>
                      </a:endParaRPr>
                    </a:p>
                  </a:txBody>
                  <a:tcPr marL="27432" marR="27432" marT="27432" marB="27432">
                    <a:solidFill>
                      <a:srgbClr val="00B0F0">
                        <a:alpha val="10000"/>
                      </a:srgbClr>
                    </a:solidFill>
                  </a:tcPr>
                </a:tc>
                <a:tc>
                  <a:txBody>
                    <a:bodyPr/>
                    <a:lstStyle/>
                    <a:p>
                      <a:endParaRPr lang="en-US" sz="1200" dirty="0">
                        <a:latin typeface="+mn-lt"/>
                      </a:endParaRPr>
                    </a:p>
                  </a:txBody>
                  <a:tcPr marL="27432" marR="27432" marT="27432" marB="27432">
                    <a:solidFill>
                      <a:srgbClr val="0076A8">
                        <a:alpha val="10000"/>
                      </a:srgbClr>
                    </a:solidFill>
                  </a:tcPr>
                </a:tc>
                <a:tc>
                  <a:txBody>
                    <a:bodyPr/>
                    <a:lstStyle/>
                    <a:p>
                      <a:endParaRPr lang="en-US" sz="1200" dirty="0">
                        <a:latin typeface="+mn-lt"/>
                      </a:endParaRPr>
                    </a:p>
                  </a:txBody>
                  <a:tcPr marL="27432" marR="27432" marT="27432" marB="27432">
                    <a:solidFill>
                      <a:srgbClr val="009A44">
                        <a:alpha val="10000"/>
                      </a:srgbClr>
                    </a:solidFill>
                  </a:tcPr>
                </a:tc>
                <a:tc>
                  <a:txBody>
                    <a:bodyPr/>
                    <a:lstStyle/>
                    <a:p>
                      <a:endParaRPr lang="en-US" sz="1200">
                        <a:latin typeface="+mn-lt"/>
                      </a:endParaRPr>
                    </a:p>
                  </a:txBody>
                  <a:tcPr marL="27432" marR="27432" marT="27432" marB="27432">
                    <a:solidFill>
                      <a:srgbClr val="007680">
                        <a:alpha val="10000"/>
                      </a:srgbClr>
                    </a:solidFill>
                  </a:tcPr>
                </a:tc>
                <a:tc>
                  <a:txBody>
                    <a:bodyPr/>
                    <a:lstStyle/>
                    <a:p>
                      <a:endParaRPr lang="en-US" sz="1200" dirty="0">
                        <a:latin typeface="+mn-lt"/>
                      </a:endParaRPr>
                    </a:p>
                  </a:txBody>
                  <a:tcPr marL="27432" marR="27432" marT="27432" marB="27432">
                    <a:solidFill>
                      <a:srgbClr val="00ABAB">
                        <a:alpha val="10000"/>
                      </a:srgbClr>
                    </a:solidFill>
                  </a:tcPr>
                </a:tc>
                <a:tc>
                  <a:txBody>
                    <a:bodyPr/>
                    <a:lstStyle/>
                    <a:p>
                      <a:endParaRPr lang="en-US" sz="1200" dirty="0">
                        <a:latin typeface="+mn-lt"/>
                      </a:endParaRPr>
                    </a:p>
                  </a:txBody>
                  <a:tcPr marL="27432" marR="27432" marT="27432" marB="27432">
                    <a:solidFill>
                      <a:srgbClr val="00ABAB">
                        <a:alpha val="10000"/>
                      </a:srgbClr>
                    </a:solidFill>
                  </a:tcPr>
                </a:tc>
                <a:tc>
                  <a:txBody>
                    <a:bodyPr/>
                    <a:lstStyle/>
                    <a:p>
                      <a:endParaRPr lang="en-US" sz="1200">
                        <a:latin typeface="+mn-lt"/>
                      </a:endParaRPr>
                    </a:p>
                  </a:txBody>
                  <a:tcPr marL="27432" marR="27432" marT="27432" marB="27432">
                    <a:solidFill>
                      <a:srgbClr val="43B02A">
                        <a:alpha val="10000"/>
                      </a:srgbClr>
                    </a:solidFill>
                  </a:tcPr>
                </a:tc>
                <a:tc>
                  <a:txBody>
                    <a:bodyPr/>
                    <a:lstStyle/>
                    <a:p>
                      <a:endParaRPr lang="en-US" sz="1200" dirty="0">
                        <a:latin typeface="+mn-lt"/>
                      </a:endParaRPr>
                    </a:p>
                  </a:txBody>
                  <a:tcPr marL="27432" marR="27432" marT="27432" marB="27432">
                    <a:solidFill>
                      <a:srgbClr val="0076A8">
                        <a:alpha val="10000"/>
                      </a:srgbClr>
                    </a:solidFill>
                  </a:tcPr>
                </a:tc>
                <a:extLst>
                  <a:ext uri="{0D108BD9-81ED-4DB2-BD59-A6C34878D82A}">
                    <a16:rowId xmlns:a16="http://schemas.microsoft.com/office/drawing/2014/main" val="4100376018"/>
                  </a:ext>
                </a:extLst>
              </a:tr>
              <a:tr h="449387">
                <a:tc>
                  <a:txBody>
                    <a:bodyPr/>
                    <a:lstStyle/>
                    <a:p>
                      <a:pPr algn="l" fontAlgn="ctr"/>
                      <a:r>
                        <a:rPr lang="en-US" sz="1200" b="0" i="0" u="none" strike="noStrike">
                          <a:solidFill>
                            <a:srgbClr val="000000"/>
                          </a:solidFill>
                          <a:effectLst/>
                          <a:latin typeface="+mn-lt"/>
                        </a:rPr>
                        <a:t>Additional Surcharge </a:t>
                      </a:r>
                    </a:p>
                  </a:txBody>
                  <a:tcPr marT="27432" marB="27432" anchor="ctr">
                    <a:solidFill>
                      <a:srgbClr val="009A44">
                        <a:alpha val="10000"/>
                      </a:srgbClr>
                    </a:solidFill>
                  </a:tcPr>
                </a:tc>
                <a:tc>
                  <a:txBody>
                    <a:bodyPr/>
                    <a:lstStyle/>
                    <a:p>
                      <a:endParaRPr lang="en-US" sz="1200">
                        <a:latin typeface="+mn-lt"/>
                      </a:endParaRPr>
                    </a:p>
                  </a:txBody>
                  <a:tcPr marL="27432" marR="27432" marT="27432" marB="27432">
                    <a:solidFill>
                      <a:srgbClr val="00ABAB">
                        <a:alpha val="10000"/>
                      </a:srgbClr>
                    </a:solidFill>
                  </a:tcPr>
                </a:tc>
                <a:tc>
                  <a:txBody>
                    <a:bodyPr/>
                    <a:lstStyle/>
                    <a:p>
                      <a:endParaRPr lang="en-US" sz="1200">
                        <a:latin typeface="+mn-lt"/>
                      </a:endParaRPr>
                    </a:p>
                  </a:txBody>
                  <a:tcPr marL="27432" marR="27432" marT="27432" marB="27432">
                    <a:solidFill>
                      <a:srgbClr val="43B02A">
                        <a:alpha val="10000"/>
                      </a:srgbClr>
                    </a:solidFill>
                  </a:tcPr>
                </a:tc>
                <a:tc>
                  <a:txBody>
                    <a:bodyPr/>
                    <a:lstStyle/>
                    <a:p>
                      <a:endParaRPr lang="en-US" sz="1200">
                        <a:latin typeface="+mn-lt"/>
                      </a:endParaRPr>
                    </a:p>
                  </a:txBody>
                  <a:tcPr marL="27432" marR="27432" marT="27432" marB="27432">
                    <a:solidFill>
                      <a:srgbClr val="00B0F0">
                        <a:alpha val="10000"/>
                      </a:srgbClr>
                    </a:solidFill>
                  </a:tcPr>
                </a:tc>
                <a:tc>
                  <a:txBody>
                    <a:bodyPr/>
                    <a:lstStyle/>
                    <a:p>
                      <a:endParaRPr lang="en-US" sz="1200" dirty="0">
                        <a:latin typeface="+mn-lt"/>
                      </a:endParaRPr>
                    </a:p>
                  </a:txBody>
                  <a:tcPr marL="27432" marR="27432" marT="27432" marB="27432">
                    <a:solidFill>
                      <a:srgbClr val="0076A8">
                        <a:alpha val="10000"/>
                      </a:srgbClr>
                    </a:solidFill>
                  </a:tcPr>
                </a:tc>
                <a:tc>
                  <a:txBody>
                    <a:bodyPr/>
                    <a:lstStyle/>
                    <a:p>
                      <a:endParaRPr lang="en-US" sz="1200">
                        <a:latin typeface="+mn-lt"/>
                      </a:endParaRPr>
                    </a:p>
                  </a:txBody>
                  <a:tcPr marL="27432" marR="27432" marT="27432" marB="27432">
                    <a:solidFill>
                      <a:srgbClr val="009A44">
                        <a:alpha val="10000"/>
                      </a:srgbClr>
                    </a:solidFill>
                  </a:tcPr>
                </a:tc>
                <a:tc>
                  <a:txBody>
                    <a:bodyPr/>
                    <a:lstStyle/>
                    <a:p>
                      <a:endParaRPr lang="en-US" sz="1200" dirty="0">
                        <a:latin typeface="+mn-lt"/>
                      </a:endParaRPr>
                    </a:p>
                  </a:txBody>
                  <a:tcPr marL="27432" marR="27432" marT="27432" marB="27432">
                    <a:solidFill>
                      <a:srgbClr val="007680">
                        <a:alpha val="10000"/>
                      </a:srgbClr>
                    </a:solidFill>
                  </a:tcPr>
                </a:tc>
                <a:tc>
                  <a:txBody>
                    <a:bodyPr/>
                    <a:lstStyle/>
                    <a:p>
                      <a:endParaRPr lang="en-US" sz="1200" dirty="0">
                        <a:latin typeface="+mn-lt"/>
                      </a:endParaRPr>
                    </a:p>
                  </a:txBody>
                  <a:tcPr marL="27432" marR="27432" marT="27432" marB="27432">
                    <a:solidFill>
                      <a:srgbClr val="00ABAB">
                        <a:alpha val="10000"/>
                      </a:srgbClr>
                    </a:solidFill>
                  </a:tcPr>
                </a:tc>
                <a:tc>
                  <a:txBody>
                    <a:bodyPr/>
                    <a:lstStyle/>
                    <a:p>
                      <a:endParaRPr lang="en-US" sz="1200" dirty="0">
                        <a:latin typeface="+mn-lt"/>
                      </a:endParaRPr>
                    </a:p>
                  </a:txBody>
                  <a:tcPr marL="27432" marR="27432" marT="27432" marB="27432">
                    <a:solidFill>
                      <a:srgbClr val="00ABAB">
                        <a:alpha val="10000"/>
                      </a:srgbClr>
                    </a:solidFill>
                  </a:tcPr>
                </a:tc>
                <a:tc>
                  <a:txBody>
                    <a:bodyPr/>
                    <a:lstStyle/>
                    <a:p>
                      <a:endParaRPr lang="en-US" sz="1200" dirty="0">
                        <a:latin typeface="+mn-lt"/>
                      </a:endParaRPr>
                    </a:p>
                  </a:txBody>
                  <a:tcPr marL="27432" marR="27432" marT="27432" marB="27432">
                    <a:solidFill>
                      <a:srgbClr val="43B02A">
                        <a:alpha val="10000"/>
                      </a:srgbClr>
                    </a:solidFill>
                  </a:tcPr>
                </a:tc>
                <a:tc>
                  <a:txBody>
                    <a:bodyPr/>
                    <a:lstStyle/>
                    <a:p>
                      <a:endParaRPr lang="en-US" sz="1200" dirty="0">
                        <a:latin typeface="+mn-lt"/>
                      </a:endParaRPr>
                    </a:p>
                  </a:txBody>
                  <a:tcPr marL="27432" marR="27432" marT="27432" marB="27432">
                    <a:solidFill>
                      <a:srgbClr val="0076A8">
                        <a:alpha val="10000"/>
                      </a:srgbClr>
                    </a:solidFill>
                  </a:tcPr>
                </a:tc>
                <a:extLst>
                  <a:ext uri="{0D108BD9-81ED-4DB2-BD59-A6C34878D82A}">
                    <a16:rowId xmlns:a16="http://schemas.microsoft.com/office/drawing/2014/main" val="2238809198"/>
                  </a:ext>
                </a:extLst>
              </a:tr>
              <a:tr h="422921">
                <a:tc>
                  <a:txBody>
                    <a:bodyPr/>
                    <a:lstStyle/>
                    <a:p>
                      <a:pPr algn="l" fontAlgn="ctr"/>
                      <a:r>
                        <a:rPr lang="en-US" sz="1200" b="0" i="0" u="none" strike="noStrike" dirty="0">
                          <a:solidFill>
                            <a:srgbClr val="000000"/>
                          </a:solidFill>
                          <a:effectLst/>
                          <a:latin typeface="+mn-lt"/>
                        </a:rPr>
                        <a:t>Standby Charges</a:t>
                      </a:r>
                    </a:p>
                  </a:txBody>
                  <a:tcPr marT="27432" marB="27432" anchor="ctr">
                    <a:solidFill>
                      <a:srgbClr val="009A44">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tc>
                  <a:txBody>
                    <a:bodyPr/>
                    <a:lstStyle/>
                    <a:p>
                      <a:endParaRPr lang="en-US" sz="1200" dirty="0">
                        <a:latin typeface="+mn-lt"/>
                      </a:endParaRPr>
                    </a:p>
                  </a:txBody>
                  <a:tcPr marL="27432" marR="27432" marT="27432" marB="27432">
                    <a:solidFill>
                      <a:srgbClr val="43B02A">
                        <a:alpha val="10000"/>
                      </a:srgbClr>
                    </a:solidFill>
                  </a:tcPr>
                </a:tc>
                <a:tc>
                  <a:txBody>
                    <a:bodyPr/>
                    <a:lstStyle/>
                    <a:p>
                      <a:endParaRPr lang="en-US" sz="1200">
                        <a:latin typeface="+mn-lt"/>
                      </a:endParaRPr>
                    </a:p>
                  </a:txBody>
                  <a:tcPr marL="27432" marR="27432" marT="27432" marB="27432">
                    <a:solidFill>
                      <a:srgbClr val="00B0F0">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tc>
                  <a:txBody>
                    <a:bodyPr/>
                    <a:lstStyle/>
                    <a:p>
                      <a:endParaRPr lang="en-US" sz="1200" dirty="0">
                        <a:latin typeface="+mn-lt"/>
                      </a:endParaRPr>
                    </a:p>
                  </a:txBody>
                  <a:tcPr marL="27432" marR="27432" marT="27432" marB="27432">
                    <a:solidFill>
                      <a:srgbClr val="009A44">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tc>
                  <a:txBody>
                    <a:bodyPr/>
                    <a:lstStyle/>
                    <a:p>
                      <a:endParaRPr lang="en-US" sz="1200" dirty="0">
                        <a:latin typeface="+mn-lt"/>
                      </a:endParaRPr>
                    </a:p>
                  </a:txBody>
                  <a:tcPr marL="27432" marR="27432" marT="27432" marB="27432">
                    <a:solidFill>
                      <a:srgbClr val="00ABAB">
                        <a:alpha val="10000"/>
                      </a:srgbClr>
                    </a:solidFill>
                  </a:tcPr>
                </a:tc>
                <a:tc>
                  <a:txBody>
                    <a:bodyPr/>
                    <a:lstStyle/>
                    <a:p>
                      <a:endParaRPr lang="en-US" sz="1200">
                        <a:latin typeface="+mn-lt"/>
                      </a:endParaRPr>
                    </a:p>
                  </a:txBody>
                  <a:tcPr marL="27432" marR="27432" marT="27432" marB="27432">
                    <a:solidFill>
                      <a:srgbClr val="43B02A">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extLst>
                  <a:ext uri="{0D108BD9-81ED-4DB2-BD59-A6C34878D82A}">
                    <a16:rowId xmlns:a16="http://schemas.microsoft.com/office/drawing/2014/main" val="842731319"/>
                  </a:ext>
                </a:extLst>
              </a:tr>
              <a:tr h="449387">
                <a:tc>
                  <a:txBody>
                    <a:bodyPr/>
                    <a:lstStyle/>
                    <a:p>
                      <a:pPr algn="l" fontAlgn="ctr"/>
                      <a:r>
                        <a:rPr lang="en-US" sz="1200" b="0" i="0" u="none" strike="noStrike" dirty="0">
                          <a:solidFill>
                            <a:srgbClr val="000000"/>
                          </a:solidFill>
                          <a:effectLst/>
                          <a:latin typeface="+mn-lt"/>
                        </a:rPr>
                        <a:t>Reactive Energy Charges</a:t>
                      </a:r>
                    </a:p>
                  </a:txBody>
                  <a:tcPr marT="27432" marB="27432" anchor="ctr">
                    <a:solidFill>
                      <a:srgbClr val="009A44">
                        <a:alpha val="10000"/>
                      </a:srgbClr>
                    </a:solidFill>
                  </a:tcPr>
                </a:tc>
                <a:tc>
                  <a:txBody>
                    <a:bodyPr/>
                    <a:lstStyle/>
                    <a:p>
                      <a:endParaRPr lang="en-US" sz="1200">
                        <a:latin typeface="+mn-lt"/>
                      </a:endParaRPr>
                    </a:p>
                  </a:txBody>
                  <a:tcPr marL="27432" marR="27432" marT="27432" marB="27432">
                    <a:solidFill>
                      <a:srgbClr val="00ABAB">
                        <a:alpha val="10000"/>
                      </a:srgbClr>
                    </a:solidFill>
                  </a:tcPr>
                </a:tc>
                <a:tc>
                  <a:txBody>
                    <a:bodyPr/>
                    <a:lstStyle/>
                    <a:p>
                      <a:endParaRPr lang="en-US" sz="1200">
                        <a:latin typeface="+mn-lt"/>
                      </a:endParaRPr>
                    </a:p>
                  </a:txBody>
                  <a:tcPr marL="27432" marR="27432" marT="27432" marB="27432">
                    <a:solidFill>
                      <a:srgbClr val="43B02A">
                        <a:alpha val="10000"/>
                      </a:srgbClr>
                    </a:solidFill>
                  </a:tcPr>
                </a:tc>
                <a:tc>
                  <a:txBody>
                    <a:bodyPr/>
                    <a:lstStyle/>
                    <a:p>
                      <a:endParaRPr lang="en-US" sz="1200">
                        <a:latin typeface="+mn-lt"/>
                      </a:endParaRPr>
                    </a:p>
                  </a:txBody>
                  <a:tcPr marL="27432" marR="27432" marT="27432" marB="27432">
                    <a:solidFill>
                      <a:srgbClr val="00B0F0">
                        <a:alpha val="10000"/>
                      </a:srgbClr>
                    </a:solidFill>
                  </a:tcPr>
                </a:tc>
                <a:tc>
                  <a:txBody>
                    <a:bodyPr/>
                    <a:lstStyle/>
                    <a:p>
                      <a:endParaRPr lang="en-US" sz="1200">
                        <a:latin typeface="+mn-lt"/>
                      </a:endParaRPr>
                    </a:p>
                  </a:txBody>
                  <a:tcPr marL="27432" marR="27432" marT="27432" marB="27432">
                    <a:solidFill>
                      <a:srgbClr val="0076A8">
                        <a:alpha val="10000"/>
                      </a:srgbClr>
                    </a:solidFill>
                  </a:tcPr>
                </a:tc>
                <a:tc>
                  <a:txBody>
                    <a:bodyPr/>
                    <a:lstStyle/>
                    <a:p>
                      <a:endParaRPr lang="en-US" sz="1200" dirty="0">
                        <a:latin typeface="+mn-lt"/>
                      </a:endParaRPr>
                    </a:p>
                  </a:txBody>
                  <a:tcPr marL="27432" marR="27432" marT="27432" marB="27432">
                    <a:solidFill>
                      <a:srgbClr val="009A44">
                        <a:alpha val="10000"/>
                      </a:srgbClr>
                    </a:solidFill>
                  </a:tcPr>
                </a:tc>
                <a:tc>
                  <a:txBody>
                    <a:bodyPr/>
                    <a:lstStyle/>
                    <a:p>
                      <a:endParaRPr lang="en-US" sz="1200">
                        <a:latin typeface="+mn-lt"/>
                      </a:endParaRPr>
                    </a:p>
                  </a:txBody>
                  <a:tcPr marL="27432" marR="27432" marT="27432" marB="27432">
                    <a:solidFill>
                      <a:srgbClr val="007680">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tc>
                  <a:txBody>
                    <a:bodyPr/>
                    <a:lstStyle/>
                    <a:p>
                      <a:endParaRPr lang="en-US" sz="1200" dirty="0">
                        <a:latin typeface="+mn-lt"/>
                      </a:endParaRPr>
                    </a:p>
                  </a:txBody>
                  <a:tcPr marL="27432" marR="27432" marT="27432" marB="27432">
                    <a:solidFill>
                      <a:srgbClr val="00ABAB">
                        <a:alpha val="10000"/>
                      </a:srgbClr>
                    </a:solidFill>
                  </a:tcPr>
                </a:tc>
                <a:tc>
                  <a:txBody>
                    <a:bodyPr/>
                    <a:lstStyle/>
                    <a:p>
                      <a:endParaRPr lang="en-US" sz="1200">
                        <a:latin typeface="+mn-lt"/>
                      </a:endParaRPr>
                    </a:p>
                  </a:txBody>
                  <a:tcPr marL="27432" marR="27432" marT="27432" marB="27432">
                    <a:solidFill>
                      <a:srgbClr val="43B02A">
                        <a:alpha val="10000"/>
                      </a:srgbClr>
                    </a:solidFill>
                  </a:tcPr>
                </a:tc>
                <a:tc>
                  <a:txBody>
                    <a:bodyPr/>
                    <a:lstStyle/>
                    <a:p>
                      <a:endParaRPr lang="en-US" sz="1200" dirty="0">
                        <a:latin typeface="+mn-lt"/>
                      </a:endParaRPr>
                    </a:p>
                  </a:txBody>
                  <a:tcPr marL="27432" marR="27432" marT="27432" marB="27432">
                    <a:solidFill>
                      <a:srgbClr val="0076A8">
                        <a:alpha val="10000"/>
                      </a:srgbClr>
                    </a:solidFill>
                  </a:tcPr>
                </a:tc>
                <a:extLst>
                  <a:ext uri="{0D108BD9-81ED-4DB2-BD59-A6C34878D82A}">
                    <a16:rowId xmlns:a16="http://schemas.microsoft.com/office/drawing/2014/main" val="2302253054"/>
                  </a:ext>
                </a:extLst>
              </a:tr>
              <a:tr h="422921">
                <a:tc>
                  <a:txBody>
                    <a:bodyPr/>
                    <a:lstStyle/>
                    <a:p>
                      <a:pPr algn="l" fontAlgn="ctr"/>
                      <a:r>
                        <a:rPr lang="en-US" sz="1200" b="0" i="0" u="none" strike="noStrike" dirty="0">
                          <a:solidFill>
                            <a:srgbClr val="000000"/>
                          </a:solidFill>
                          <a:effectLst/>
                          <a:latin typeface="+mn-lt"/>
                        </a:rPr>
                        <a:t>Energy Losses</a:t>
                      </a:r>
                    </a:p>
                  </a:txBody>
                  <a:tcPr marT="27432" marB="27432" anchor="ctr">
                    <a:solidFill>
                      <a:srgbClr val="009A44">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tc>
                  <a:txBody>
                    <a:bodyPr/>
                    <a:lstStyle/>
                    <a:p>
                      <a:endParaRPr lang="en-US" sz="1200" dirty="0">
                        <a:latin typeface="+mn-lt"/>
                      </a:endParaRPr>
                    </a:p>
                  </a:txBody>
                  <a:tcPr marL="27432" marR="27432" marT="27432" marB="27432">
                    <a:solidFill>
                      <a:srgbClr val="43B02A">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tc>
                  <a:txBody>
                    <a:bodyPr/>
                    <a:lstStyle/>
                    <a:p>
                      <a:endParaRPr lang="en-US" sz="1200" dirty="0">
                        <a:latin typeface="+mn-lt"/>
                      </a:endParaRPr>
                    </a:p>
                  </a:txBody>
                  <a:tcPr marL="27432" marR="27432" marT="27432" marB="27432">
                    <a:solidFill>
                      <a:srgbClr val="00ABAB">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extLst>
                  <a:ext uri="{0D108BD9-81ED-4DB2-BD59-A6C34878D82A}">
                    <a16:rowId xmlns:a16="http://schemas.microsoft.com/office/drawing/2014/main" val="3624602928"/>
                  </a:ext>
                </a:extLst>
              </a:tr>
              <a:tr h="422921">
                <a:tc>
                  <a:txBody>
                    <a:bodyPr/>
                    <a:lstStyle/>
                    <a:p>
                      <a:pPr algn="l" fontAlgn="ctr"/>
                      <a:r>
                        <a:rPr lang="en-US" sz="1200" b="0" i="0" u="none" strike="noStrike" dirty="0">
                          <a:solidFill>
                            <a:srgbClr val="000000"/>
                          </a:solidFill>
                          <a:effectLst/>
                          <a:latin typeface="+mn-lt"/>
                        </a:rPr>
                        <a:t>Voltage Surcharge </a:t>
                      </a:r>
                    </a:p>
                  </a:txBody>
                  <a:tcPr marT="27432" marB="27432" anchor="ctr">
                    <a:solidFill>
                      <a:srgbClr val="009A44">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tc>
                  <a:txBody>
                    <a:bodyPr/>
                    <a:lstStyle/>
                    <a:p>
                      <a:endParaRPr lang="en-US" sz="1200" dirty="0">
                        <a:latin typeface="+mn-lt"/>
                      </a:endParaRPr>
                    </a:p>
                  </a:txBody>
                  <a:tcPr marL="27432" marR="27432" marT="27432" marB="27432">
                    <a:solidFill>
                      <a:srgbClr val="0076A8">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extLst>
                  <a:ext uri="{0D108BD9-81ED-4DB2-BD59-A6C34878D82A}">
                    <a16:rowId xmlns:a16="http://schemas.microsoft.com/office/drawing/2014/main" val="3006334507"/>
                  </a:ext>
                </a:extLst>
              </a:tr>
              <a:tr h="449387">
                <a:tc>
                  <a:txBody>
                    <a:bodyPr/>
                    <a:lstStyle/>
                    <a:p>
                      <a:pPr algn="l" fontAlgn="ctr"/>
                      <a:r>
                        <a:rPr lang="en-US" sz="1200" b="0" i="0" u="none" strike="noStrike" dirty="0">
                          <a:solidFill>
                            <a:srgbClr val="000000"/>
                          </a:solidFill>
                          <a:effectLst/>
                          <a:latin typeface="+mn-lt"/>
                        </a:rPr>
                        <a:t>Parallel Operation Charges</a:t>
                      </a:r>
                    </a:p>
                  </a:txBody>
                  <a:tcPr marT="27432" marB="27432" anchor="ctr">
                    <a:solidFill>
                      <a:srgbClr val="009A44">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tc>
                  <a:txBody>
                    <a:bodyPr/>
                    <a:lstStyle/>
                    <a:p>
                      <a:endParaRPr lang="en-US" sz="1200" dirty="0">
                        <a:latin typeface="+mn-lt"/>
                      </a:endParaRPr>
                    </a:p>
                  </a:txBody>
                  <a:tcPr marL="27432" marR="27432" marT="27432" marB="27432">
                    <a:solidFill>
                      <a:srgbClr val="009A44">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extLst>
                  <a:ext uri="{0D108BD9-81ED-4DB2-BD59-A6C34878D82A}">
                    <a16:rowId xmlns:a16="http://schemas.microsoft.com/office/drawing/2014/main" val="103832723"/>
                  </a:ext>
                </a:extLst>
              </a:tr>
              <a:tr h="422921">
                <a:tc>
                  <a:txBody>
                    <a:bodyPr/>
                    <a:lstStyle/>
                    <a:p>
                      <a:pPr algn="l" fontAlgn="ctr"/>
                      <a:r>
                        <a:rPr lang="en-US" sz="1200" b="0" i="0" u="none" strike="noStrike" dirty="0">
                          <a:solidFill>
                            <a:srgbClr val="000000"/>
                          </a:solidFill>
                          <a:effectLst/>
                          <a:latin typeface="+mn-lt"/>
                        </a:rPr>
                        <a:t>Restoration Charge </a:t>
                      </a:r>
                    </a:p>
                  </a:txBody>
                  <a:tcPr marT="27432" marB="27432" anchor="ctr">
                    <a:solidFill>
                      <a:srgbClr val="009A44">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tc>
                  <a:txBody>
                    <a:bodyPr/>
                    <a:lstStyle/>
                    <a:p>
                      <a:endParaRPr lang="en-US" sz="1200" dirty="0">
                        <a:latin typeface="+mn-lt"/>
                      </a:endParaRPr>
                    </a:p>
                  </a:txBody>
                  <a:tcPr marL="27432" marR="27432" marT="27432" marB="27432">
                    <a:solidFill>
                      <a:srgbClr val="007680">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tc>
                  <a:txBody>
                    <a:bodyPr/>
                    <a:lstStyle/>
                    <a:p>
                      <a:endParaRPr lang="en-US" sz="1200" dirty="0">
                        <a:latin typeface="+mn-lt"/>
                      </a:endParaRPr>
                    </a:p>
                  </a:txBody>
                  <a:tcPr marL="27432" marR="27432" marT="27432" marB="27432">
                    <a:solidFill>
                      <a:srgbClr val="FFCD00">
                        <a:alpha val="10000"/>
                      </a:srgbClr>
                    </a:solidFill>
                  </a:tcPr>
                </a:tc>
                <a:extLst>
                  <a:ext uri="{0D108BD9-81ED-4DB2-BD59-A6C34878D82A}">
                    <a16:rowId xmlns:a16="http://schemas.microsoft.com/office/drawing/2014/main" val="3633691969"/>
                  </a:ext>
                </a:extLst>
              </a:tr>
            </a:tbl>
          </a:graphicData>
        </a:graphic>
      </p:graphicFrame>
      <p:pic>
        <p:nvPicPr>
          <p:cNvPr id="55" name="Graphic 54" descr="Checkmark with solid fill">
            <a:extLst>
              <a:ext uri="{FF2B5EF4-FFF2-40B4-BE49-F238E27FC236}">
                <a16:creationId xmlns:a16="http://schemas.microsoft.com/office/drawing/2014/main" id="{72A6C719-159D-C637-0F99-32879661ABB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393926" y="1478351"/>
            <a:ext cx="256287" cy="316588"/>
          </a:xfrm>
          <a:prstGeom prst="rect">
            <a:avLst/>
          </a:prstGeom>
        </p:spPr>
      </p:pic>
      <p:pic>
        <p:nvPicPr>
          <p:cNvPr id="56" name="Graphic 55" descr="Checkmark with solid fill">
            <a:extLst>
              <a:ext uri="{FF2B5EF4-FFF2-40B4-BE49-F238E27FC236}">
                <a16:creationId xmlns:a16="http://schemas.microsoft.com/office/drawing/2014/main" id="{4F2B3B66-86F9-9B32-6B0A-45CBA6B2B3D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59248" y="1478351"/>
            <a:ext cx="256287" cy="316588"/>
          </a:xfrm>
          <a:prstGeom prst="rect">
            <a:avLst/>
          </a:prstGeom>
        </p:spPr>
      </p:pic>
      <p:pic>
        <p:nvPicPr>
          <p:cNvPr id="57" name="Graphic 56" descr="Checkmark with solid fill">
            <a:extLst>
              <a:ext uri="{FF2B5EF4-FFF2-40B4-BE49-F238E27FC236}">
                <a16:creationId xmlns:a16="http://schemas.microsoft.com/office/drawing/2014/main" id="{B3C8218A-3418-D132-FD5A-56AA1342C5B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317947" y="1478351"/>
            <a:ext cx="256287" cy="316588"/>
          </a:xfrm>
          <a:prstGeom prst="rect">
            <a:avLst/>
          </a:prstGeom>
        </p:spPr>
      </p:pic>
      <p:pic>
        <p:nvPicPr>
          <p:cNvPr id="58" name="Graphic 57" descr="Checkmark with solid fill">
            <a:extLst>
              <a:ext uri="{FF2B5EF4-FFF2-40B4-BE49-F238E27FC236}">
                <a16:creationId xmlns:a16="http://schemas.microsoft.com/office/drawing/2014/main" id="{9D078386-95F2-D82B-ECFD-D70FDD57D40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120359" y="1478351"/>
            <a:ext cx="256287" cy="316588"/>
          </a:xfrm>
          <a:prstGeom prst="rect">
            <a:avLst/>
          </a:prstGeom>
        </p:spPr>
      </p:pic>
      <p:pic>
        <p:nvPicPr>
          <p:cNvPr id="59" name="Graphic 58" descr="Checkmark with solid fill">
            <a:extLst>
              <a:ext uri="{FF2B5EF4-FFF2-40B4-BE49-F238E27FC236}">
                <a16:creationId xmlns:a16="http://schemas.microsoft.com/office/drawing/2014/main" id="{7BB42B2F-066C-87E6-3CA9-0F71C92BD45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71569" y="1478351"/>
            <a:ext cx="256287" cy="316588"/>
          </a:xfrm>
          <a:prstGeom prst="rect">
            <a:avLst/>
          </a:prstGeom>
        </p:spPr>
      </p:pic>
      <p:pic>
        <p:nvPicPr>
          <p:cNvPr id="60" name="Graphic 59" descr="Checkmark with solid fill">
            <a:extLst>
              <a:ext uri="{FF2B5EF4-FFF2-40B4-BE49-F238E27FC236}">
                <a16:creationId xmlns:a16="http://schemas.microsoft.com/office/drawing/2014/main" id="{86F7F69D-D392-F619-AD54-59E581929D3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66492" y="1478351"/>
            <a:ext cx="256287" cy="316588"/>
          </a:xfrm>
          <a:prstGeom prst="rect">
            <a:avLst/>
          </a:prstGeom>
        </p:spPr>
      </p:pic>
      <p:pic>
        <p:nvPicPr>
          <p:cNvPr id="61" name="Graphic 60" descr="Checkmark with solid fill">
            <a:extLst>
              <a:ext uri="{FF2B5EF4-FFF2-40B4-BE49-F238E27FC236}">
                <a16:creationId xmlns:a16="http://schemas.microsoft.com/office/drawing/2014/main" id="{C904F0C4-223C-E0CA-C253-B1833345B7A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061415" y="1478351"/>
            <a:ext cx="256287" cy="316588"/>
          </a:xfrm>
          <a:prstGeom prst="rect">
            <a:avLst/>
          </a:prstGeom>
        </p:spPr>
      </p:pic>
      <p:pic>
        <p:nvPicPr>
          <p:cNvPr id="62" name="Graphic 61" descr="Checkmark with solid fill">
            <a:extLst>
              <a:ext uri="{FF2B5EF4-FFF2-40B4-BE49-F238E27FC236}">
                <a16:creationId xmlns:a16="http://schemas.microsoft.com/office/drawing/2014/main" id="{3AEBEBB7-1810-BB10-91EF-8786E2E865C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956338" y="1478351"/>
            <a:ext cx="256287" cy="316588"/>
          </a:xfrm>
          <a:prstGeom prst="rect">
            <a:avLst/>
          </a:prstGeom>
        </p:spPr>
      </p:pic>
      <p:pic>
        <p:nvPicPr>
          <p:cNvPr id="63" name="Graphic 62" descr="Checkmark with solid fill">
            <a:extLst>
              <a:ext uri="{FF2B5EF4-FFF2-40B4-BE49-F238E27FC236}">
                <a16:creationId xmlns:a16="http://schemas.microsoft.com/office/drawing/2014/main" id="{B42E43D0-1F7F-10BF-E938-D2B260ABA12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851261" y="1478351"/>
            <a:ext cx="256287" cy="316588"/>
          </a:xfrm>
          <a:prstGeom prst="rect">
            <a:avLst/>
          </a:prstGeom>
        </p:spPr>
      </p:pic>
      <p:pic>
        <p:nvPicPr>
          <p:cNvPr id="64" name="Graphic 63" descr="Checkmark with solid fill">
            <a:extLst>
              <a:ext uri="{FF2B5EF4-FFF2-40B4-BE49-F238E27FC236}">
                <a16:creationId xmlns:a16="http://schemas.microsoft.com/office/drawing/2014/main" id="{49AEEB3C-F2DE-DC37-5B8B-8617B18A3FF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995552" y="1478351"/>
            <a:ext cx="256287" cy="316588"/>
          </a:xfrm>
          <a:prstGeom prst="rect">
            <a:avLst/>
          </a:prstGeom>
        </p:spPr>
      </p:pic>
      <p:pic>
        <p:nvPicPr>
          <p:cNvPr id="65" name="Graphic 64" descr="Checkmark with solid fill">
            <a:extLst>
              <a:ext uri="{FF2B5EF4-FFF2-40B4-BE49-F238E27FC236}">
                <a16:creationId xmlns:a16="http://schemas.microsoft.com/office/drawing/2014/main" id="{11546A70-EEAC-541E-FDF7-5F6C72D2C95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393926" y="1960462"/>
            <a:ext cx="256287" cy="316588"/>
          </a:xfrm>
          <a:prstGeom prst="rect">
            <a:avLst/>
          </a:prstGeom>
        </p:spPr>
      </p:pic>
      <p:pic>
        <p:nvPicPr>
          <p:cNvPr id="66" name="Graphic 65" descr="Checkmark with solid fill">
            <a:extLst>
              <a:ext uri="{FF2B5EF4-FFF2-40B4-BE49-F238E27FC236}">
                <a16:creationId xmlns:a16="http://schemas.microsoft.com/office/drawing/2014/main" id="{F1C7438A-BBF5-8A55-F5DF-180A75A770C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59248" y="1960462"/>
            <a:ext cx="256287" cy="316588"/>
          </a:xfrm>
          <a:prstGeom prst="rect">
            <a:avLst/>
          </a:prstGeom>
        </p:spPr>
      </p:pic>
      <p:pic>
        <p:nvPicPr>
          <p:cNvPr id="67" name="Graphic 66" descr="Checkmark with solid fill">
            <a:extLst>
              <a:ext uri="{FF2B5EF4-FFF2-40B4-BE49-F238E27FC236}">
                <a16:creationId xmlns:a16="http://schemas.microsoft.com/office/drawing/2014/main" id="{89A6D874-C6EE-4AAF-9E72-AE5E96C4F0B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120359" y="1960462"/>
            <a:ext cx="256287" cy="316588"/>
          </a:xfrm>
          <a:prstGeom prst="rect">
            <a:avLst/>
          </a:prstGeom>
        </p:spPr>
      </p:pic>
      <p:pic>
        <p:nvPicPr>
          <p:cNvPr id="68" name="Graphic 67" descr="Checkmark with solid fill">
            <a:extLst>
              <a:ext uri="{FF2B5EF4-FFF2-40B4-BE49-F238E27FC236}">
                <a16:creationId xmlns:a16="http://schemas.microsoft.com/office/drawing/2014/main" id="{05A814EC-4DE9-84D3-B296-6B4140C118B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71569" y="1960462"/>
            <a:ext cx="256287" cy="316588"/>
          </a:xfrm>
          <a:prstGeom prst="rect">
            <a:avLst/>
          </a:prstGeom>
        </p:spPr>
      </p:pic>
      <p:pic>
        <p:nvPicPr>
          <p:cNvPr id="69" name="Graphic 68" descr="Checkmark with solid fill">
            <a:extLst>
              <a:ext uri="{FF2B5EF4-FFF2-40B4-BE49-F238E27FC236}">
                <a16:creationId xmlns:a16="http://schemas.microsoft.com/office/drawing/2014/main" id="{F724F343-83E3-5B36-6027-BB7814810B1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66492" y="1960462"/>
            <a:ext cx="256287" cy="316588"/>
          </a:xfrm>
          <a:prstGeom prst="rect">
            <a:avLst/>
          </a:prstGeom>
        </p:spPr>
      </p:pic>
      <p:pic>
        <p:nvPicPr>
          <p:cNvPr id="70" name="Graphic 69" descr="Checkmark with solid fill">
            <a:extLst>
              <a:ext uri="{FF2B5EF4-FFF2-40B4-BE49-F238E27FC236}">
                <a16:creationId xmlns:a16="http://schemas.microsoft.com/office/drawing/2014/main" id="{D042958A-0B30-A8DE-9851-915FE5167DE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061415" y="1960462"/>
            <a:ext cx="256287" cy="316588"/>
          </a:xfrm>
          <a:prstGeom prst="rect">
            <a:avLst/>
          </a:prstGeom>
        </p:spPr>
      </p:pic>
      <p:pic>
        <p:nvPicPr>
          <p:cNvPr id="71" name="Graphic 70" descr="Checkmark with solid fill">
            <a:extLst>
              <a:ext uri="{FF2B5EF4-FFF2-40B4-BE49-F238E27FC236}">
                <a16:creationId xmlns:a16="http://schemas.microsoft.com/office/drawing/2014/main" id="{7710CCAB-96FE-94AD-A09D-D43A8954D90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956338" y="1960462"/>
            <a:ext cx="256287" cy="316588"/>
          </a:xfrm>
          <a:prstGeom prst="rect">
            <a:avLst/>
          </a:prstGeom>
        </p:spPr>
      </p:pic>
      <p:pic>
        <p:nvPicPr>
          <p:cNvPr id="72" name="Graphic 71" descr="Checkmark with solid fill">
            <a:extLst>
              <a:ext uri="{FF2B5EF4-FFF2-40B4-BE49-F238E27FC236}">
                <a16:creationId xmlns:a16="http://schemas.microsoft.com/office/drawing/2014/main" id="{5FCFBE31-88AE-1D0B-D5F5-B6D7CEED742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851261" y="1960462"/>
            <a:ext cx="256287" cy="316588"/>
          </a:xfrm>
          <a:prstGeom prst="rect">
            <a:avLst/>
          </a:prstGeom>
        </p:spPr>
      </p:pic>
      <p:pic>
        <p:nvPicPr>
          <p:cNvPr id="73" name="Graphic 72" descr="Checkmark with solid fill">
            <a:extLst>
              <a:ext uri="{FF2B5EF4-FFF2-40B4-BE49-F238E27FC236}">
                <a16:creationId xmlns:a16="http://schemas.microsoft.com/office/drawing/2014/main" id="{60C6FDC5-09A9-977D-5BEE-521049F614C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995552" y="1960462"/>
            <a:ext cx="256287" cy="316588"/>
          </a:xfrm>
          <a:prstGeom prst="rect">
            <a:avLst/>
          </a:prstGeom>
        </p:spPr>
      </p:pic>
      <p:pic>
        <p:nvPicPr>
          <p:cNvPr id="74" name="Graphic 73" descr="Checkmark with solid fill">
            <a:extLst>
              <a:ext uri="{FF2B5EF4-FFF2-40B4-BE49-F238E27FC236}">
                <a16:creationId xmlns:a16="http://schemas.microsoft.com/office/drawing/2014/main" id="{E0CFC1CC-DFBE-4DDB-3494-EEF60C497E3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393926" y="2435952"/>
            <a:ext cx="256287" cy="316588"/>
          </a:xfrm>
          <a:prstGeom prst="rect">
            <a:avLst/>
          </a:prstGeom>
        </p:spPr>
      </p:pic>
      <p:pic>
        <p:nvPicPr>
          <p:cNvPr id="75" name="Graphic 74" descr="Checkmark with solid fill">
            <a:extLst>
              <a:ext uri="{FF2B5EF4-FFF2-40B4-BE49-F238E27FC236}">
                <a16:creationId xmlns:a16="http://schemas.microsoft.com/office/drawing/2014/main" id="{328E77BE-DE5B-4B12-A5A8-96CE9D481D5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59248" y="2435952"/>
            <a:ext cx="256287" cy="316588"/>
          </a:xfrm>
          <a:prstGeom prst="rect">
            <a:avLst/>
          </a:prstGeom>
        </p:spPr>
      </p:pic>
      <p:pic>
        <p:nvPicPr>
          <p:cNvPr id="76" name="Graphic 75" descr="Checkmark with solid fill">
            <a:extLst>
              <a:ext uri="{FF2B5EF4-FFF2-40B4-BE49-F238E27FC236}">
                <a16:creationId xmlns:a16="http://schemas.microsoft.com/office/drawing/2014/main" id="{48BEFFE6-7693-D0BE-9C4D-52A63AC1DB5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317947" y="2435952"/>
            <a:ext cx="256287" cy="316588"/>
          </a:xfrm>
          <a:prstGeom prst="rect">
            <a:avLst/>
          </a:prstGeom>
        </p:spPr>
      </p:pic>
      <p:pic>
        <p:nvPicPr>
          <p:cNvPr id="77" name="Graphic 76" descr="Checkmark with solid fill">
            <a:extLst>
              <a:ext uri="{FF2B5EF4-FFF2-40B4-BE49-F238E27FC236}">
                <a16:creationId xmlns:a16="http://schemas.microsoft.com/office/drawing/2014/main" id="{C7918312-8A4B-6ED9-6440-993C0817F43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120359" y="2435952"/>
            <a:ext cx="256287" cy="316588"/>
          </a:xfrm>
          <a:prstGeom prst="rect">
            <a:avLst/>
          </a:prstGeom>
        </p:spPr>
      </p:pic>
      <p:pic>
        <p:nvPicPr>
          <p:cNvPr id="78" name="Graphic 77" descr="Checkmark with solid fill">
            <a:extLst>
              <a:ext uri="{FF2B5EF4-FFF2-40B4-BE49-F238E27FC236}">
                <a16:creationId xmlns:a16="http://schemas.microsoft.com/office/drawing/2014/main" id="{13213A94-40BC-33AE-1697-E100DCF2020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71569" y="2435952"/>
            <a:ext cx="256287" cy="316588"/>
          </a:xfrm>
          <a:prstGeom prst="rect">
            <a:avLst/>
          </a:prstGeom>
        </p:spPr>
      </p:pic>
      <p:pic>
        <p:nvPicPr>
          <p:cNvPr id="79" name="Graphic 78" descr="Checkmark with solid fill">
            <a:extLst>
              <a:ext uri="{FF2B5EF4-FFF2-40B4-BE49-F238E27FC236}">
                <a16:creationId xmlns:a16="http://schemas.microsoft.com/office/drawing/2014/main" id="{AA6FE3BD-734B-2375-9C1C-264E00458E5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66492" y="2435952"/>
            <a:ext cx="256287" cy="316588"/>
          </a:xfrm>
          <a:prstGeom prst="rect">
            <a:avLst/>
          </a:prstGeom>
        </p:spPr>
      </p:pic>
      <p:pic>
        <p:nvPicPr>
          <p:cNvPr id="80" name="Graphic 79" descr="Checkmark with solid fill">
            <a:extLst>
              <a:ext uri="{FF2B5EF4-FFF2-40B4-BE49-F238E27FC236}">
                <a16:creationId xmlns:a16="http://schemas.microsoft.com/office/drawing/2014/main" id="{43B6E93B-6A05-C082-1017-769653BFC2B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061415" y="2435952"/>
            <a:ext cx="256287" cy="316588"/>
          </a:xfrm>
          <a:prstGeom prst="rect">
            <a:avLst/>
          </a:prstGeom>
        </p:spPr>
      </p:pic>
      <p:pic>
        <p:nvPicPr>
          <p:cNvPr id="81" name="Graphic 80" descr="Checkmark with solid fill">
            <a:extLst>
              <a:ext uri="{FF2B5EF4-FFF2-40B4-BE49-F238E27FC236}">
                <a16:creationId xmlns:a16="http://schemas.microsoft.com/office/drawing/2014/main" id="{8CAF2BDB-E82F-BD8A-4A55-4F0EBEF8F5F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956338" y="2435952"/>
            <a:ext cx="256287" cy="316588"/>
          </a:xfrm>
          <a:prstGeom prst="rect">
            <a:avLst/>
          </a:prstGeom>
        </p:spPr>
      </p:pic>
      <p:pic>
        <p:nvPicPr>
          <p:cNvPr id="82" name="Graphic 81" descr="Checkmark with solid fill">
            <a:extLst>
              <a:ext uri="{FF2B5EF4-FFF2-40B4-BE49-F238E27FC236}">
                <a16:creationId xmlns:a16="http://schemas.microsoft.com/office/drawing/2014/main" id="{857B9603-D543-E969-A617-FBCC67E12F8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851261" y="2435952"/>
            <a:ext cx="256287" cy="316588"/>
          </a:xfrm>
          <a:prstGeom prst="rect">
            <a:avLst/>
          </a:prstGeom>
        </p:spPr>
      </p:pic>
      <p:pic>
        <p:nvPicPr>
          <p:cNvPr id="83" name="Graphic 82" descr="Checkmark with solid fill">
            <a:extLst>
              <a:ext uri="{FF2B5EF4-FFF2-40B4-BE49-F238E27FC236}">
                <a16:creationId xmlns:a16="http://schemas.microsoft.com/office/drawing/2014/main" id="{F411A964-A533-DADA-EF1C-8F3FA5D6374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995552" y="2435952"/>
            <a:ext cx="256287" cy="316588"/>
          </a:xfrm>
          <a:prstGeom prst="rect">
            <a:avLst/>
          </a:prstGeom>
        </p:spPr>
      </p:pic>
      <p:pic>
        <p:nvPicPr>
          <p:cNvPr id="84" name="Graphic 83" descr="Checkmark with solid fill">
            <a:extLst>
              <a:ext uri="{FF2B5EF4-FFF2-40B4-BE49-F238E27FC236}">
                <a16:creationId xmlns:a16="http://schemas.microsoft.com/office/drawing/2014/main" id="{AAE7C3B5-D273-5059-1D7A-26E9564A9C3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393926" y="2888283"/>
            <a:ext cx="256287" cy="316588"/>
          </a:xfrm>
          <a:prstGeom prst="rect">
            <a:avLst/>
          </a:prstGeom>
        </p:spPr>
      </p:pic>
      <p:pic>
        <p:nvPicPr>
          <p:cNvPr id="85" name="Graphic 84" descr="Checkmark with solid fill">
            <a:extLst>
              <a:ext uri="{FF2B5EF4-FFF2-40B4-BE49-F238E27FC236}">
                <a16:creationId xmlns:a16="http://schemas.microsoft.com/office/drawing/2014/main" id="{577A78E5-D27E-9061-3FF7-DBAEF731F89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59248" y="2888283"/>
            <a:ext cx="256287" cy="316588"/>
          </a:xfrm>
          <a:prstGeom prst="rect">
            <a:avLst/>
          </a:prstGeom>
        </p:spPr>
      </p:pic>
      <p:pic>
        <p:nvPicPr>
          <p:cNvPr id="86" name="Graphic 85" descr="Checkmark with solid fill">
            <a:extLst>
              <a:ext uri="{FF2B5EF4-FFF2-40B4-BE49-F238E27FC236}">
                <a16:creationId xmlns:a16="http://schemas.microsoft.com/office/drawing/2014/main" id="{1871A117-5370-3B28-C35A-99D12D8C89B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317947" y="2888283"/>
            <a:ext cx="256287" cy="316588"/>
          </a:xfrm>
          <a:prstGeom prst="rect">
            <a:avLst/>
          </a:prstGeom>
        </p:spPr>
      </p:pic>
      <p:pic>
        <p:nvPicPr>
          <p:cNvPr id="88" name="Graphic 87" descr="Checkmark with solid fill">
            <a:extLst>
              <a:ext uri="{FF2B5EF4-FFF2-40B4-BE49-F238E27FC236}">
                <a16:creationId xmlns:a16="http://schemas.microsoft.com/office/drawing/2014/main" id="{D7982269-9A17-6D5F-E3BC-D8F557F6C45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120359" y="2888283"/>
            <a:ext cx="256287" cy="316588"/>
          </a:xfrm>
          <a:prstGeom prst="rect">
            <a:avLst/>
          </a:prstGeom>
        </p:spPr>
      </p:pic>
      <p:pic>
        <p:nvPicPr>
          <p:cNvPr id="89" name="Graphic 88" descr="Checkmark with solid fill">
            <a:extLst>
              <a:ext uri="{FF2B5EF4-FFF2-40B4-BE49-F238E27FC236}">
                <a16:creationId xmlns:a16="http://schemas.microsoft.com/office/drawing/2014/main" id="{24903338-54FF-535B-DE10-1E048A9458A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71569" y="2888283"/>
            <a:ext cx="256287" cy="316588"/>
          </a:xfrm>
          <a:prstGeom prst="rect">
            <a:avLst/>
          </a:prstGeom>
        </p:spPr>
      </p:pic>
      <p:pic>
        <p:nvPicPr>
          <p:cNvPr id="91" name="Graphic 90" descr="Checkmark with solid fill">
            <a:extLst>
              <a:ext uri="{FF2B5EF4-FFF2-40B4-BE49-F238E27FC236}">
                <a16:creationId xmlns:a16="http://schemas.microsoft.com/office/drawing/2014/main" id="{F59E7786-9B3D-6A49-BA24-5D9E51FDE1D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66492" y="2888283"/>
            <a:ext cx="256287" cy="316588"/>
          </a:xfrm>
          <a:prstGeom prst="rect">
            <a:avLst/>
          </a:prstGeom>
        </p:spPr>
      </p:pic>
      <p:pic>
        <p:nvPicPr>
          <p:cNvPr id="92" name="Graphic 91" descr="Checkmark with solid fill">
            <a:extLst>
              <a:ext uri="{FF2B5EF4-FFF2-40B4-BE49-F238E27FC236}">
                <a16:creationId xmlns:a16="http://schemas.microsoft.com/office/drawing/2014/main" id="{BD96F859-52AA-14D3-155F-BD91DBA3F8C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956338" y="2888283"/>
            <a:ext cx="256287" cy="316588"/>
          </a:xfrm>
          <a:prstGeom prst="rect">
            <a:avLst/>
          </a:prstGeom>
        </p:spPr>
      </p:pic>
      <p:pic>
        <p:nvPicPr>
          <p:cNvPr id="93" name="Graphic 92" descr="Checkmark with solid fill">
            <a:extLst>
              <a:ext uri="{FF2B5EF4-FFF2-40B4-BE49-F238E27FC236}">
                <a16:creationId xmlns:a16="http://schemas.microsoft.com/office/drawing/2014/main" id="{F6430B06-326E-41BF-4519-93D9BB930FE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851261" y="2888283"/>
            <a:ext cx="256287" cy="316588"/>
          </a:xfrm>
          <a:prstGeom prst="rect">
            <a:avLst/>
          </a:prstGeom>
        </p:spPr>
      </p:pic>
      <p:pic>
        <p:nvPicPr>
          <p:cNvPr id="94" name="Graphic 93" descr="Checkmark with solid fill">
            <a:extLst>
              <a:ext uri="{FF2B5EF4-FFF2-40B4-BE49-F238E27FC236}">
                <a16:creationId xmlns:a16="http://schemas.microsoft.com/office/drawing/2014/main" id="{D0727346-4A9C-325C-4BC2-C65E7EA0EF3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995552" y="2888283"/>
            <a:ext cx="256287" cy="316588"/>
          </a:xfrm>
          <a:prstGeom prst="rect">
            <a:avLst/>
          </a:prstGeom>
        </p:spPr>
      </p:pic>
      <p:pic>
        <p:nvPicPr>
          <p:cNvPr id="95" name="Graphic 94" descr="Checkmark with solid fill">
            <a:extLst>
              <a:ext uri="{FF2B5EF4-FFF2-40B4-BE49-F238E27FC236}">
                <a16:creationId xmlns:a16="http://schemas.microsoft.com/office/drawing/2014/main" id="{AEBDE2A9-094A-9241-EB70-6962BCBFB50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393926" y="3257574"/>
            <a:ext cx="256287" cy="316588"/>
          </a:xfrm>
          <a:prstGeom prst="rect">
            <a:avLst/>
          </a:prstGeom>
        </p:spPr>
      </p:pic>
      <p:pic>
        <p:nvPicPr>
          <p:cNvPr id="96" name="Graphic 95" descr="Checkmark with solid fill">
            <a:extLst>
              <a:ext uri="{FF2B5EF4-FFF2-40B4-BE49-F238E27FC236}">
                <a16:creationId xmlns:a16="http://schemas.microsoft.com/office/drawing/2014/main" id="{089BEC2B-99A1-E816-5770-8E6D54C93BA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59248" y="3257574"/>
            <a:ext cx="256287" cy="316588"/>
          </a:xfrm>
          <a:prstGeom prst="rect">
            <a:avLst/>
          </a:prstGeom>
        </p:spPr>
      </p:pic>
      <p:pic>
        <p:nvPicPr>
          <p:cNvPr id="97" name="Graphic 96" descr="Checkmark with solid fill">
            <a:extLst>
              <a:ext uri="{FF2B5EF4-FFF2-40B4-BE49-F238E27FC236}">
                <a16:creationId xmlns:a16="http://schemas.microsoft.com/office/drawing/2014/main" id="{38428B0D-C669-603F-6E71-8639A72FB3C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317947" y="3257574"/>
            <a:ext cx="256287" cy="316588"/>
          </a:xfrm>
          <a:prstGeom prst="rect">
            <a:avLst/>
          </a:prstGeom>
        </p:spPr>
      </p:pic>
      <p:pic>
        <p:nvPicPr>
          <p:cNvPr id="98" name="Graphic 97" descr="Checkmark with solid fill">
            <a:extLst>
              <a:ext uri="{FF2B5EF4-FFF2-40B4-BE49-F238E27FC236}">
                <a16:creationId xmlns:a16="http://schemas.microsoft.com/office/drawing/2014/main" id="{B90C4DB3-2C08-6440-67B2-54E84F7925E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120359" y="3257574"/>
            <a:ext cx="256287" cy="316588"/>
          </a:xfrm>
          <a:prstGeom prst="rect">
            <a:avLst/>
          </a:prstGeom>
        </p:spPr>
      </p:pic>
      <p:pic>
        <p:nvPicPr>
          <p:cNvPr id="99" name="Graphic 98" descr="Checkmark with solid fill">
            <a:extLst>
              <a:ext uri="{FF2B5EF4-FFF2-40B4-BE49-F238E27FC236}">
                <a16:creationId xmlns:a16="http://schemas.microsoft.com/office/drawing/2014/main" id="{145190B9-AA35-8911-9B9F-9A115587CA0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71569" y="3257574"/>
            <a:ext cx="256287" cy="316588"/>
          </a:xfrm>
          <a:prstGeom prst="rect">
            <a:avLst/>
          </a:prstGeom>
        </p:spPr>
      </p:pic>
      <p:pic>
        <p:nvPicPr>
          <p:cNvPr id="100" name="Graphic 99" descr="Checkmark with solid fill">
            <a:extLst>
              <a:ext uri="{FF2B5EF4-FFF2-40B4-BE49-F238E27FC236}">
                <a16:creationId xmlns:a16="http://schemas.microsoft.com/office/drawing/2014/main" id="{3B5E2A7F-1484-EAD9-F443-50984D841EE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66492" y="3257574"/>
            <a:ext cx="256287" cy="316588"/>
          </a:xfrm>
          <a:prstGeom prst="rect">
            <a:avLst/>
          </a:prstGeom>
        </p:spPr>
      </p:pic>
      <p:pic>
        <p:nvPicPr>
          <p:cNvPr id="101" name="Graphic 100" descr="Checkmark with solid fill">
            <a:extLst>
              <a:ext uri="{FF2B5EF4-FFF2-40B4-BE49-F238E27FC236}">
                <a16:creationId xmlns:a16="http://schemas.microsoft.com/office/drawing/2014/main" id="{D1085E69-D057-EB93-EF12-7E007F006A5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061415" y="3257574"/>
            <a:ext cx="256287" cy="316588"/>
          </a:xfrm>
          <a:prstGeom prst="rect">
            <a:avLst/>
          </a:prstGeom>
        </p:spPr>
      </p:pic>
      <p:pic>
        <p:nvPicPr>
          <p:cNvPr id="102" name="Graphic 101" descr="Checkmark with solid fill">
            <a:extLst>
              <a:ext uri="{FF2B5EF4-FFF2-40B4-BE49-F238E27FC236}">
                <a16:creationId xmlns:a16="http://schemas.microsoft.com/office/drawing/2014/main" id="{3723239C-20D3-50D9-FC17-4146CBF276F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956338" y="3257574"/>
            <a:ext cx="256287" cy="316588"/>
          </a:xfrm>
          <a:prstGeom prst="rect">
            <a:avLst/>
          </a:prstGeom>
        </p:spPr>
      </p:pic>
      <p:pic>
        <p:nvPicPr>
          <p:cNvPr id="103" name="Graphic 102" descr="Checkmark with solid fill">
            <a:extLst>
              <a:ext uri="{FF2B5EF4-FFF2-40B4-BE49-F238E27FC236}">
                <a16:creationId xmlns:a16="http://schemas.microsoft.com/office/drawing/2014/main" id="{1C8EBCF0-60BE-4FD2-BB11-43026217B26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851261" y="3257574"/>
            <a:ext cx="256287" cy="316588"/>
          </a:xfrm>
          <a:prstGeom prst="rect">
            <a:avLst/>
          </a:prstGeom>
        </p:spPr>
      </p:pic>
      <p:pic>
        <p:nvPicPr>
          <p:cNvPr id="104" name="Graphic 103" descr="Checkmark with solid fill">
            <a:extLst>
              <a:ext uri="{FF2B5EF4-FFF2-40B4-BE49-F238E27FC236}">
                <a16:creationId xmlns:a16="http://schemas.microsoft.com/office/drawing/2014/main" id="{ABA9FBCC-6825-0E27-6E83-F2D26EA5F69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995552" y="3257574"/>
            <a:ext cx="256287" cy="316588"/>
          </a:xfrm>
          <a:prstGeom prst="rect">
            <a:avLst/>
          </a:prstGeom>
        </p:spPr>
      </p:pic>
      <p:pic>
        <p:nvPicPr>
          <p:cNvPr id="105" name="Graphic 104" descr="Checkmark with solid fill">
            <a:extLst>
              <a:ext uri="{FF2B5EF4-FFF2-40B4-BE49-F238E27FC236}">
                <a16:creationId xmlns:a16="http://schemas.microsoft.com/office/drawing/2014/main" id="{652672F1-D9EC-E400-D7E0-5F6EF82865D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393926" y="3733064"/>
            <a:ext cx="256287" cy="316588"/>
          </a:xfrm>
          <a:prstGeom prst="rect">
            <a:avLst/>
          </a:prstGeom>
        </p:spPr>
      </p:pic>
      <p:pic>
        <p:nvPicPr>
          <p:cNvPr id="106" name="Graphic 105" descr="Checkmark with solid fill">
            <a:extLst>
              <a:ext uri="{FF2B5EF4-FFF2-40B4-BE49-F238E27FC236}">
                <a16:creationId xmlns:a16="http://schemas.microsoft.com/office/drawing/2014/main" id="{7788E03C-8043-DE10-FA87-B1CF8C54D11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59248" y="3733064"/>
            <a:ext cx="256287" cy="316588"/>
          </a:xfrm>
          <a:prstGeom prst="rect">
            <a:avLst/>
          </a:prstGeom>
        </p:spPr>
      </p:pic>
      <p:pic>
        <p:nvPicPr>
          <p:cNvPr id="107" name="Graphic 106" descr="Checkmark with solid fill">
            <a:extLst>
              <a:ext uri="{FF2B5EF4-FFF2-40B4-BE49-F238E27FC236}">
                <a16:creationId xmlns:a16="http://schemas.microsoft.com/office/drawing/2014/main" id="{A53BC1B4-8148-D87F-94DA-24BEEDFD5DD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317947" y="3733064"/>
            <a:ext cx="256287" cy="316588"/>
          </a:xfrm>
          <a:prstGeom prst="rect">
            <a:avLst/>
          </a:prstGeom>
        </p:spPr>
      </p:pic>
      <p:pic>
        <p:nvPicPr>
          <p:cNvPr id="108" name="Graphic 107" descr="Checkmark with solid fill">
            <a:extLst>
              <a:ext uri="{FF2B5EF4-FFF2-40B4-BE49-F238E27FC236}">
                <a16:creationId xmlns:a16="http://schemas.microsoft.com/office/drawing/2014/main" id="{334940D6-CF99-A6C1-B338-D11D6A6240F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120359" y="3733064"/>
            <a:ext cx="256287" cy="316588"/>
          </a:xfrm>
          <a:prstGeom prst="rect">
            <a:avLst/>
          </a:prstGeom>
        </p:spPr>
      </p:pic>
      <p:pic>
        <p:nvPicPr>
          <p:cNvPr id="109" name="Graphic 108" descr="Checkmark with solid fill">
            <a:extLst>
              <a:ext uri="{FF2B5EF4-FFF2-40B4-BE49-F238E27FC236}">
                <a16:creationId xmlns:a16="http://schemas.microsoft.com/office/drawing/2014/main" id="{D0CF526A-D124-B439-C72A-00D907E0EB6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71569" y="3733064"/>
            <a:ext cx="256287" cy="316588"/>
          </a:xfrm>
          <a:prstGeom prst="rect">
            <a:avLst/>
          </a:prstGeom>
        </p:spPr>
      </p:pic>
      <p:pic>
        <p:nvPicPr>
          <p:cNvPr id="110" name="Graphic 109" descr="Checkmark with solid fill">
            <a:extLst>
              <a:ext uri="{FF2B5EF4-FFF2-40B4-BE49-F238E27FC236}">
                <a16:creationId xmlns:a16="http://schemas.microsoft.com/office/drawing/2014/main" id="{9D7664FB-6EF0-0C8F-FEE0-55FF35A7383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66492" y="3733064"/>
            <a:ext cx="256287" cy="316588"/>
          </a:xfrm>
          <a:prstGeom prst="rect">
            <a:avLst/>
          </a:prstGeom>
        </p:spPr>
      </p:pic>
      <p:pic>
        <p:nvPicPr>
          <p:cNvPr id="111" name="Graphic 110" descr="Checkmark with solid fill">
            <a:extLst>
              <a:ext uri="{FF2B5EF4-FFF2-40B4-BE49-F238E27FC236}">
                <a16:creationId xmlns:a16="http://schemas.microsoft.com/office/drawing/2014/main" id="{4C65C141-BE6B-1C0F-2F26-5056AAD4B6E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061415" y="3733064"/>
            <a:ext cx="256287" cy="316588"/>
          </a:xfrm>
          <a:prstGeom prst="rect">
            <a:avLst/>
          </a:prstGeom>
        </p:spPr>
      </p:pic>
      <p:pic>
        <p:nvPicPr>
          <p:cNvPr id="112" name="Graphic 111" descr="Checkmark with solid fill">
            <a:extLst>
              <a:ext uri="{FF2B5EF4-FFF2-40B4-BE49-F238E27FC236}">
                <a16:creationId xmlns:a16="http://schemas.microsoft.com/office/drawing/2014/main" id="{29F74A07-A37F-0C88-C1E0-C57DA274DF7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956338" y="3733064"/>
            <a:ext cx="256287" cy="316588"/>
          </a:xfrm>
          <a:prstGeom prst="rect">
            <a:avLst/>
          </a:prstGeom>
        </p:spPr>
      </p:pic>
      <p:pic>
        <p:nvPicPr>
          <p:cNvPr id="113" name="Graphic 112" descr="Checkmark with solid fill">
            <a:extLst>
              <a:ext uri="{FF2B5EF4-FFF2-40B4-BE49-F238E27FC236}">
                <a16:creationId xmlns:a16="http://schemas.microsoft.com/office/drawing/2014/main" id="{E4B538C2-3DDD-8B39-743B-DF26B652FF4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851261" y="3733064"/>
            <a:ext cx="256287" cy="316588"/>
          </a:xfrm>
          <a:prstGeom prst="rect">
            <a:avLst/>
          </a:prstGeom>
        </p:spPr>
      </p:pic>
      <p:pic>
        <p:nvPicPr>
          <p:cNvPr id="114" name="Graphic 113" descr="Checkmark with solid fill">
            <a:extLst>
              <a:ext uri="{FF2B5EF4-FFF2-40B4-BE49-F238E27FC236}">
                <a16:creationId xmlns:a16="http://schemas.microsoft.com/office/drawing/2014/main" id="{B26F4A30-5168-A032-C170-3BA37CA29B5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995552" y="3733064"/>
            <a:ext cx="256287" cy="316588"/>
          </a:xfrm>
          <a:prstGeom prst="rect">
            <a:avLst/>
          </a:prstGeom>
        </p:spPr>
      </p:pic>
      <p:pic>
        <p:nvPicPr>
          <p:cNvPr id="115" name="Graphic 114" descr="Checkmark with solid fill">
            <a:extLst>
              <a:ext uri="{FF2B5EF4-FFF2-40B4-BE49-F238E27FC236}">
                <a16:creationId xmlns:a16="http://schemas.microsoft.com/office/drawing/2014/main" id="{DA658A28-3035-DD2C-C1CF-43599AD319F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59248" y="4207165"/>
            <a:ext cx="256287" cy="316588"/>
          </a:xfrm>
          <a:prstGeom prst="rect">
            <a:avLst/>
          </a:prstGeom>
        </p:spPr>
      </p:pic>
      <p:pic>
        <p:nvPicPr>
          <p:cNvPr id="116" name="Graphic 115" descr="Checkmark with solid fill">
            <a:extLst>
              <a:ext uri="{FF2B5EF4-FFF2-40B4-BE49-F238E27FC236}">
                <a16:creationId xmlns:a16="http://schemas.microsoft.com/office/drawing/2014/main" id="{37A0F189-8E6B-08AA-1FB2-F8A7F55BA80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317947" y="4207165"/>
            <a:ext cx="256287" cy="316588"/>
          </a:xfrm>
          <a:prstGeom prst="rect">
            <a:avLst/>
          </a:prstGeom>
        </p:spPr>
      </p:pic>
      <p:pic>
        <p:nvPicPr>
          <p:cNvPr id="117" name="Graphic 116" descr="Checkmark with solid fill">
            <a:extLst>
              <a:ext uri="{FF2B5EF4-FFF2-40B4-BE49-F238E27FC236}">
                <a16:creationId xmlns:a16="http://schemas.microsoft.com/office/drawing/2014/main" id="{4D4338DD-9CDB-EBBD-C432-F8214FC41E6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71569" y="4207165"/>
            <a:ext cx="256287" cy="316588"/>
          </a:xfrm>
          <a:prstGeom prst="rect">
            <a:avLst/>
          </a:prstGeom>
        </p:spPr>
      </p:pic>
      <p:pic>
        <p:nvPicPr>
          <p:cNvPr id="118" name="Graphic 117" descr="Checkmark with solid fill">
            <a:extLst>
              <a:ext uri="{FF2B5EF4-FFF2-40B4-BE49-F238E27FC236}">
                <a16:creationId xmlns:a16="http://schemas.microsoft.com/office/drawing/2014/main" id="{DAD0D15E-1D4E-7B88-16D4-4E279ACAC31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956338" y="4207165"/>
            <a:ext cx="256287" cy="316588"/>
          </a:xfrm>
          <a:prstGeom prst="rect">
            <a:avLst/>
          </a:prstGeom>
        </p:spPr>
      </p:pic>
      <p:pic>
        <p:nvPicPr>
          <p:cNvPr id="119" name="Graphic 118" descr="Checkmark with solid fill">
            <a:extLst>
              <a:ext uri="{FF2B5EF4-FFF2-40B4-BE49-F238E27FC236}">
                <a16:creationId xmlns:a16="http://schemas.microsoft.com/office/drawing/2014/main" id="{1DDE00B6-A72C-2CA3-E7A3-E79CF474FC7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851261" y="4207165"/>
            <a:ext cx="256287" cy="316588"/>
          </a:xfrm>
          <a:prstGeom prst="rect">
            <a:avLst/>
          </a:prstGeom>
        </p:spPr>
      </p:pic>
      <p:pic>
        <p:nvPicPr>
          <p:cNvPr id="120" name="Graphic 119" descr="Checkmark with solid fill">
            <a:extLst>
              <a:ext uri="{FF2B5EF4-FFF2-40B4-BE49-F238E27FC236}">
                <a16:creationId xmlns:a16="http://schemas.microsoft.com/office/drawing/2014/main" id="{D579AFBC-CDE0-BF43-D35E-219EA1ACA26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393926" y="4660328"/>
            <a:ext cx="256287" cy="316588"/>
          </a:xfrm>
          <a:prstGeom prst="rect">
            <a:avLst/>
          </a:prstGeom>
        </p:spPr>
      </p:pic>
      <p:pic>
        <p:nvPicPr>
          <p:cNvPr id="121" name="Graphic 120" descr="Checkmark with solid fill">
            <a:extLst>
              <a:ext uri="{FF2B5EF4-FFF2-40B4-BE49-F238E27FC236}">
                <a16:creationId xmlns:a16="http://schemas.microsoft.com/office/drawing/2014/main" id="{CFA0CAC4-2065-65BF-F08C-9CEF7510D3F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59248" y="4660328"/>
            <a:ext cx="256287" cy="316588"/>
          </a:xfrm>
          <a:prstGeom prst="rect">
            <a:avLst/>
          </a:prstGeom>
        </p:spPr>
      </p:pic>
      <p:pic>
        <p:nvPicPr>
          <p:cNvPr id="122" name="Graphic 121" descr="Checkmark with solid fill">
            <a:extLst>
              <a:ext uri="{FF2B5EF4-FFF2-40B4-BE49-F238E27FC236}">
                <a16:creationId xmlns:a16="http://schemas.microsoft.com/office/drawing/2014/main" id="{238EC7D9-D159-5494-8EC0-D1A47BE95B5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317947" y="4660328"/>
            <a:ext cx="256287" cy="316588"/>
          </a:xfrm>
          <a:prstGeom prst="rect">
            <a:avLst/>
          </a:prstGeom>
        </p:spPr>
      </p:pic>
      <p:pic>
        <p:nvPicPr>
          <p:cNvPr id="123" name="Graphic 122" descr="Checkmark with solid fill">
            <a:extLst>
              <a:ext uri="{FF2B5EF4-FFF2-40B4-BE49-F238E27FC236}">
                <a16:creationId xmlns:a16="http://schemas.microsoft.com/office/drawing/2014/main" id="{AEF20502-191B-1DA6-A80F-75C64B52743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120359" y="4660328"/>
            <a:ext cx="256287" cy="316588"/>
          </a:xfrm>
          <a:prstGeom prst="rect">
            <a:avLst/>
          </a:prstGeom>
        </p:spPr>
      </p:pic>
      <p:pic>
        <p:nvPicPr>
          <p:cNvPr id="124" name="Graphic 123" descr="Checkmark with solid fill">
            <a:extLst>
              <a:ext uri="{FF2B5EF4-FFF2-40B4-BE49-F238E27FC236}">
                <a16:creationId xmlns:a16="http://schemas.microsoft.com/office/drawing/2014/main" id="{042DB6F6-DB18-6167-ED19-D4358C17615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71569" y="4660328"/>
            <a:ext cx="256287" cy="316588"/>
          </a:xfrm>
          <a:prstGeom prst="rect">
            <a:avLst/>
          </a:prstGeom>
        </p:spPr>
      </p:pic>
      <p:pic>
        <p:nvPicPr>
          <p:cNvPr id="125" name="Graphic 124" descr="Checkmark with solid fill">
            <a:extLst>
              <a:ext uri="{FF2B5EF4-FFF2-40B4-BE49-F238E27FC236}">
                <a16:creationId xmlns:a16="http://schemas.microsoft.com/office/drawing/2014/main" id="{41536478-2407-9C9B-B92F-B4A9D0EAE20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66492" y="4660328"/>
            <a:ext cx="256287" cy="316588"/>
          </a:xfrm>
          <a:prstGeom prst="rect">
            <a:avLst/>
          </a:prstGeom>
        </p:spPr>
      </p:pic>
      <p:pic>
        <p:nvPicPr>
          <p:cNvPr id="126" name="Graphic 125" descr="Checkmark with solid fill">
            <a:extLst>
              <a:ext uri="{FF2B5EF4-FFF2-40B4-BE49-F238E27FC236}">
                <a16:creationId xmlns:a16="http://schemas.microsoft.com/office/drawing/2014/main" id="{F4AF1331-DC23-3305-9E07-54BC144767B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956338" y="4660328"/>
            <a:ext cx="256287" cy="316588"/>
          </a:xfrm>
          <a:prstGeom prst="rect">
            <a:avLst/>
          </a:prstGeom>
        </p:spPr>
      </p:pic>
      <p:pic>
        <p:nvPicPr>
          <p:cNvPr id="127" name="Graphic 126" descr="Checkmark with solid fill">
            <a:extLst>
              <a:ext uri="{FF2B5EF4-FFF2-40B4-BE49-F238E27FC236}">
                <a16:creationId xmlns:a16="http://schemas.microsoft.com/office/drawing/2014/main" id="{A82A601A-A5C9-98CD-5714-098513C7F4A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851261" y="4660328"/>
            <a:ext cx="256287" cy="316588"/>
          </a:xfrm>
          <a:prstGeom prst="rect">
            <a:avLst/>
          </a:prstGeom>
        </p:spPr>
      </p:pic>
      <p:pic>
        <p:nvPicPr>
          <p:cNvPr id="128" name="Graphic 127" descr="Checkmark with solid fill">
            <a:extLst>
              <a:ext uri="{FF2B5EF4-FFF2-40B4-BE49-F238E27FC236}">
                <a16:creationId xmlns:a16="http://schemas.microsoft.com/office/drawing/2014/main" id="{DD3FB9D9-B312-91CA-7B1E-F827ED65383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995552" y="4660328"/>
            <a:ext cx="256287" cy="316588"/>
          </a:xfrm>
          <a:prstGeom prst="rect">
            <a:avLst/>
          </a:prstGeom>
        </p:spPr>
      </p:pic>
      <p:pic>
        <p:nvPicPr>
          <p:cNvPr id="129" name="Graphic 128" descr="Checkmark with solid fill">
            <a:extLst>
              <a:ext uri="{FF2B5EF4-FFF2-40B4-BE49-F238E27FC236}">
                <a16:creationId xmlns:a16="http://schemas.microsoft.com/office/drawing/2014/main" id="{74117E74-D5E9-8CCE-A5F9-93D2A8FE6B8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59247" y="5066142"/>
            <a:ext cx="256287" cy="316588"/>
          </a:xfrm>
          <a:prstGeom prst="rect">
            <a:avLst/>
          </a:prstGeom>
        </p:spPr>
      </p:pic>
      <p:pic>
        <p:nvPicPr>
          <p:cNvPr id="130" name="Graphic 129" descr="Checkmark with solid fill">
            <a:extLst>
              <a:ext uri="{FF2B5EF4-FFF2-40B4-BE49-F238E27FC236}">
                <a16:creationId xmlns:a16="http://schemas.microsoft.com/office/drawing/2014/main" id="{F2022A09-1850-CBED-8478-4CF23C70E45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120358" y="5382730"/>
            <a:ext cx="256287" cy="316588"/>
          </a:xfrm>
          <a:prstGeom prst="rect">
            <a:avLst/>
          </a:prstGeom>
        </p:spPr>
      </p:pic>
      <p:pic>
        <p:nvPicPr>
          <p:cNvPr id="131" name="Graphic 130" descr="Checkmark with solid fill">
            <a:extLst>
              <a:ext uri="{FF2B5EF4-FFF2-40B4-BE49-F238E27FC236}">
                <a16:creationId xmlns:a16="http://schemas.microsoft.com/office/drawing/2014/main" id="{CFEF2508-BCDF-185E-13D0-1ECB81299D2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66492" y="6270298"/>
            <a:ext cx="256287" cy="316588"/>
          </a:xfrm>
          <a:prstGeom prst="rect">
            <a:avLst/>
          </a:prstGeom>
        </p:spPr>
      </p:pic>
      <p:pic>
        <p:nvPicPr>
          <p:cNvPr id="132" name="Graphic 131" descr="Checkmark with solid fill">
            <a:extLst>
              <a:ext uri="{FF2B5EF4-FFF2-40B4-BE49-F238E27FC236}">
                <a16:creationId xmlns:a16="http://schemas.microsoft.com/office/drawing/2014/main" id="{131111B9-5641-25BC-4ABB-7025E39BFDF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71671" y="5934114"/>
            <a:ext cx="256287" cy="316588"/>
          </a:xfrm>
          <a:prstGeom prst="rect">
            <a:avLst/>
          </a:prstGeom>
        </p:spPr>
      </p:pic>
      <p:pic>
        <p:nvPicPr>
          <p:cNvPr id="133" name="Graphic 132" descr="Checkmark with solid fill">
            <a:extLst>
              <a:ext uri="{FF2B5EF4-FFF2-40B4-BE49-F238E27FC236}">
                <a16:creationId xmlns:a16="http://schemas.microsoft.com/office/drawing/2014/main" id="{B3D313FC-4C03-3AD8-4AF8-E83B5E7EDD3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956338" y="5066142"/>
            <a:ext cx="256287" cy="316588"/>
          </a:xfrm>
          <a:prstGeom prst="rect">
            <a:avLst/>
          </a:prstGeom>
        </p:spPr>
      </p:pic>
      <p:sp>
        <p:nvSpPr>
          <p:cNvPr id="134" name="TextBox 133">
            <a:extLst>
              <a:ext uri="{FF2B5EF4-FFF2-40B4-BE49-F238E27FC236}">
                <a16:creationId xmlns:a16="http://schemas.microsoft.com/office/drawing/2014/main" id="{4581578D-297F-7B38-A066-D9B848E4C78C}"/>
              </a:ext>
            </a:extLst>
          </p:cNvPr>
          <p:cNvSpPr txBox="1"/>
          <p:nvPr/>
        </p:nvSpPr>
        <p:spPr>
          <a:xfrm>
            <a:off x="587417" y="6704112"/>
            <a:ext cx="8630437" cy="153888"/>
          </a:xfrm>
          <a:prstGeom prst="rect">
            <a:avLst/>
          </a:prstGeom>
          <a:noFill/>
        </p:spPr>
        <p:txBody>
          <a:bodyPr wrap="square" lIns="0" tIns="0" rIns="0" bIns="0" rtlCol="0">
            <a:spAutoFit/>
          </a:bodyPr>
          <a:lstStyle/>
          <a:p>
            <a:pPr>
              <a:spcBef>
                <a:spcPts val="600"/>
              </a:spcBef>
              <a:buSzPct val="100000"/>
            </a:pPr>
            <a:r>
              <a:rPr lang="en-US" sz="1000" b="1" i="1" dirty="0"/>
              <a:t>Source : </a:t>
            </a:r>
            <a:r>
              <a:rPr lang="en-US" sz="1000" i="1" dirty="0"/>
              <a:t>Forum of Regulator (FOR) - Review of Status of Open Access in Distribution  and  Different States Open Access Regulations </a:t>
            </a:r>
          </a:p>
        </p:txBody>
      </p:sp>
      <p:pic>
        <p:nvPicPr>
          <p:cNvPr id="214" name="Picture 213">
            <a:extLst>
              <a:ext uri="{FF2B5EF4-FFF2-40B4-BE49-F238E27FC236}">
                <a16:creationId xmlns:a16="http://schemas.microsoft.com/office/drawing/2014/main" id="{D802F855-4734-75B5-3964-764C44702FF1}"/>
              </a:ext>
            </a:extLst>
          </p:cNvPr>
          <p:cNvPicPr>
            <a:picLocks noChangeAspect="1"/>
          </p:cNvPicPr>
          <p:nvPr/>
        </p:nvPicPr>
        <p:blipFill>
          <a:blip r:embed="rId7"/>
          <a:stretch>
            <a:fillRect/>
          </a:stretch>
        </p:blipFill>
        <p:spPr>
          <a:xfrm>
            <a:off x="10726063" y="402587"/>
            <a:ext cx="878522" cy="566928"/>
          </a:xfrm>
          <a:prstGeom prst="rect">
            <a:avLst/>
          </a:prstGeom>
        </p:spPr>
      </p:pic>
    </p:spTree>
    <p:extLst>
      <p:ext uri="{BB962C8B-B14F-4D97-AF65-F5344CB8AC3E}">
        <p14:creationId xmlns:p14="http://schemas.microsoft.com/office/powerpoint/2010/main" val="34647557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7D4E6-5E75-A304-706B-EED6574EB4AB}"/>
            </a:ext>
          </a:extLst>
        </p:cNvPr>
        <p:cNvGrpSpPr/>
        <p:nvPr/>
      </p:nvGrpSpPr>
      <p:grpSpPr>
        <a:xfrm>
          <a:off x="0" y="0"/>
          <a:ext cx="0" cy="0"/>
          <a:chOff x="0" y="0"/>
          <a:chExt cx="0" cy="0"/>
        </a:xfrm>
      </p:grpSpPr>
      <p:graphicFrame>
        <p:nvGraphicFramePr>
          <p:cNvPr id="87" name="think-cell data - do not delete" hidden="1">
            <a:extLst>
              <a:ext uri="{FF2B5EF4-FFF2-40B4-BE49-F238E27FC236}">
                <a16:creationId xmlns:a16="http://schemas.microsoft.com/office/drawing/2014/main" id="{62C760CF-C89D-AC2E-5826-2DB16838877E}"/>
              </a:ext>
            </a:extLst>
          </p:cNvPr>
          <p:cNvGraphicFramePr>
            <a:graphicFrameLocks noChangeAspect="1"/>
          </p:cNvGraphicFramePr>
          <p:nvPr>
            <p:custDataLst>
              <p:tags r:id="rId1"/>
            </p:custDataLst>
            <p:extLst>
              <p:ext uri="{D42A27DB-BD31-4B8C-83A1-F6EECF244321}">
                <p14:modId xmlns:p14="http://schemas.microsoft.com/office/powerpoint/2010/main" val="26242474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87" name="think-cell data - do not delete" hidden="1">
                        <a:extLst>
                          <a:ext uri="{FF2B5EF4-FFF2-40B4-BE49-F238E27FC236}">
                            <a16:creationId xmlns:a16="http://schemas.microsoft.com/office/drawing/2014/main" id="{C9C667ED-21EB-E8AB-6791-6B48598F5B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0" name="Title 2">
            <a:extLst>
              <a:ext uri="{FF2B5EF4-FFF2-40B4-BE49-F238E27FC236}">
                <a16:creationId xmlns:a16="http://schemas.microsoft.com/office/drawing/2014/main" id="{4D18FFC5-F693-4531-EEE3-8F8092B0643A}"/>
              </a:ext>
            </a:extLst>
          </p:cNvPr>
          <p:cNvSpPr>
            <a:spLocks noGrp="1"/>
          </p:cNvSpPr>
          <p:nvPr>
            <p:ph type="title"/>
          </p:nvPr>
        </p:nvSpPr>
        <p:spPr>
          <a:xfrm>
            <a:off x="469902" y="402587"/>
            <a:ext cx="11252200" cy="334102"/>
          </a:xfrm>
        </p:spPr>
        <p:txBody>
          <a:bodyPr vert="horz">
            <a:noAutofit/>
          </a:bodyPr>
          <a:lstStyle/>
          <a:p>
            <a:r>
              <a:rPr lang="en-US" sz="2800" b="1" dirty="0">
                <a:latin typeface="Calibri" panose="020F0502020204030204" pitchFamily="34" charset="0"/>
                <a:cs typeface="Calibri" panose="020F0502020204030204" pitchFamily="34" charset="0"/>
              </a:rPr>
              <a:t>Cross Subsidy Computational Methodology</a:t>
            </a:r>
          </a:p>
        </p:txBody>
      </p:sp>
      <p:sp>
        <p:nvSpPr>
          <p:cNvPr id="5" name="Rectangle 4">
            <a:extLst>
              <a:ext uri="{FF2B5EF4-FFF2-40B4-BE49-F238E27FC236}">
                <a16:creationId xmlns:a16="http://schemas.microsoft.com/office/drawing/2014/main" id="{7EA14CB8-05B6-E80D-0931-E36C7D5D422F}"/>
              </a:ext>
            </a:extLst>
          </p:cNvPr>
          <p:cNvSpPr/>
          <p:nvPr/>
        </p:nvSpPr>
        <p:spPr bwMode="gray">
          <a:xfrm>
            <a:off x="5203372" y="1537742"/>
            <a:ext cx="2156331" cy="1761426"/>
          </a:xfrm>
          <a:prstGeom prst="rect">
            <a:avLst/>
          </a:prstGeom>
          <a:solidFill>
            <a:srgbClr val="007680">
              <a:alpha val="50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dirty="0">
              <a:solidFill>
                <a:schemeClr val="bg1"/>
              </a:solidFill>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2FFC6D34-A373-CF1C-643B-236887C45EA1}"/>
              </a:ext>
            </a:extLst>
          </p:cNvPr>
          <p:cNvSpPr/>
          <p:nvPr/>
        </p:nvSpPr>
        <p:spPr bwMode="gray">
          <a:xfrm>
            <a:off x="8039120" y="4960349"/>
            <a:ext cx="3677537" cy="1195872"/>
          </a:xfrm>
          <a:prstGeom prst="rect">
            <a:avLst/>
          </a:prstGeom>
          <a:solidFill>
            <a:schemeClr val="bg2">
              <a:alpha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dirty="0">
              <a:solidFill>
                <a:schemeClr val="bg1"/>
              </a:solidFill>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B85F7A35-6C37-223D-2DA1-C63329EC161F}"/>
              </a:ext>
            </a:extLst>
          </p:cNvPr>
          <p:cNvSpPr/>
          <p:nvPr/>
        </p:nvSpPr>
        <p:spPr bwMode="gray">
          <a:xfrm>
            <a:off x="489857" y="4303506"/>
            <a:ext cx="7326085" cy="1849700"/>
          </a:xfrm>
          <a:prstGeom prst="rect">
            <a:avLst/>
          </a:prstGeom>
          <a:solidFill>
            <a:schemeClr val="bg2">
              <a:alpha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dirty="0">
              <a:solidFill>
                <a:schemeClr val="bg1"/>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03C3EC21-3768-1E72-978D-5983CE79CABC}"/>
              </a:ext>
            </a:extLst>
          </p:cNvPr>
          <p:cNvSpPr/>
          <p:nvPr/>
        </p:nvSpPr>
        <p:spPr bwMode="gray">
          <a:xfrm>
            <a:off x="489857" y="1437510"/>
            <a:ext cx="7326085" cy="2862943"/>
          </a:xfrm>
          <a:prstGeom prst="rect">
            <a:avLst/>
          </a:prstGeom>
          <a:solidFill>
            <a:schemeClr val="bg2">
              <a:alpha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dirty="0">
              <a:solidFill>
                <a:schemeClr val="bg1"/>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51F1912A-DD0D-C0FF-AEF4-5E55D56FA4A0}"/>
              </a:ext>
            </a:extLst>
          </p:cNvPr>
          <p:cNvSpPr/>
          <p:nvPr/>
        </p:nvSpPr>
        <p:spPr bwMode="gray">
          <a:xfrm>
            <a:off x="608669" y="2395454"/>
            <a:ext cx="2227034" cy="1771011"/>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latin typeface="Calibri" panose="020F0502020204030204" pitchFamily="34" charset="0"/>
                <a:cs typeface="Calibri" panose="020F0502020204030204" pitchFamily="34" charset="0"/>
              </a:rPr>
              <a:t>Average Consumer Category Wise Tariff (T) </a:t>
            </a:r>
          </a:p>
        </p:txBody>
      </p:sp>
      <p:sp>
        <p:nvSpPr>
          <p:cNvPr id="10" name="Rectangle 9">
            <a:extLst>
              <a:ext uri="{FF2B5EF4-FFF2-40B4-BE49-F238E27FC236}">
                <a16:creationId xmlns:a16="http://schemas.microsoft.com/office/drawing/2014/main" id="{3A1CC7A0-464B-26C8-803C-9D756B37CDE6}"/>
              </a:ext>
            </a:extLst>
          </p:cNvPr>
          <p:cNvSpPr/>
          <p:nvPr/>
        </p:nvSpPr>
        <p:spPr bwMode="gray">
          <a:xfrm>
            <a:off x="5203372" y="1538841"/>
            <a:ext cx="2150888" cy="859970"/>
          </a:xfrm>
          <a:prstGeom prst="rect">
            <a:avLst/>
          </a:prstGeom>
          <a:solidFill>
            <a:srgbClr val="00768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latin typeface="Calibri" panose="020F0502020204030204" pitchFamily="34" charset="0"/>
                <a:cs typeface="Calibri" panose="020F0502020204030204" pitchFamily="34" charset="0"/>
              </a:rPr>
              <a:t>Per Unit Cost associated with Regulatory Assets </a:t>
            </a:r>
          </a:p>
        </p:txBody>
      </p:sp>
      <p:sp>
        <p:nvSpPr>
          <p:cNvPr id="11" name="Rectangle 10">
            <a:extLst>
              <a:ext uri="{FF2B5EF4-FFF2-40B4-BE49-F238E27FC236}">
                <a16:creationId xmlns:a16="http://schemas.microsoft.com/office/drawing/2014/main" id="{6024D309-4524-D6F3-2319-462363D3CB5E}"/>
              </a:ext>
            </a:extLst>
          </p:cNvPr>
          <p:cNvSpPr/>
          <p:nvPr/>
        </p:nvSpPr>
        <p:spPr bwMode="gray">
          <a:xfrm>
            <a:off x="8044565" y="1641725"/>
            <a:ext cx="3677537" cy="3322757"/>
          </a:xfrm>
          <a:prstGeom prst="rect">
            <a:avLst/>
          </a:prstGeom>
          <a:solidFill>
            <a:schemeClr val="bg2">
              <a:alpha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dirty="0">
              <a:solidFill>
                <a:schemeClr val="bg1"/>
              </a:solidFill>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C31AFA28-6407-8F8A-CC99-EFCD0CB27316}"/>
              </a:ext>
            </a:extLst>
          </p:cNvPr>
          <p:cNvSpPr/>
          <p:nvPr/>
        </p:nvSpPr>
        <p:spPr bwMode="gray">
          <a:xfrm>
            <a:off x="8112109" y="1749266"/>
            <a:ext cx="3522485" cy="2737674"/>
          </a:xfrm>
          <a:prstGeom prst="rect">
            <a:avLst/>
          </a:prstGeom>
          <a:solidFill>
            <a:srgbClr val="00ABAB">
              <a:alpha val="80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latin typeface="Calibri" panose="020F0502020204030204" pitchFamily="34" charset="0"/>
                <a:cs typeface="Calibri" panose="020F0502020204030204" pitchFamily="34" charset="0"/>
              </a:rPr>
              <a:t>CSS (S) = T – [ C/(1 – L/100)+ D+R)</a:t>
            </a:r>
          </a:p>
          <a:p>
            <a:pPr algn="ctr">
              <a:lnSpc>
                <a:spcPct val="106000"/>
              </a:lnSpc>
              <a:buFont typeface="Wingdings 2" pitchFamily="18" charset="2"/>
              <a:buNone/>
            </a:pPr>
            <a:endParaRPr lang="en-US" sz="1600" b="1" dirty="0">
              <a:solidFill>
                <a:schemeClr val="bg1"/>
              </a:solidFill>
              <a:latin typeface="Calibri" panose="020F0502020204030204" pitchFamily="34" charset="0"/>
              <a:cs typeface="Calibri" panose="020F0502020204030204" pitchFamily="34" charset="0"/>
            </a:endParaRPr>
          </a:p>
          <a:p>
            <a:pPr algn="just">
              <a:lnSpc>
                <a:spcPct val="106000"/>
              </a:lnSpc>
              <a:buFont typeface="Wingdings 2" pitchFamily="18" charset="2"/>
              <a:buNone/>
            </a:pPr>
            <a:r>
              <a:rPr lang="en-US" sz="1400" b="1" dirty="0">
                <a:solidFill>
                  <a:schemeClr val="bg1"/>
                </a:solidFill>
                <a:latin typeface="Calibri" panose="020F0502020204030204" pitchFamily="34" charset="0"/>
                <a:cs typeface="Calibri" panose="020F0502020204030204" pitchFamily="34" charset="0"/>
              </a:rPr>
              <a:t>T – </a:t>
            </a:r>
            <a:r>
              <a:rPr lang="en-US" sz="1400" dirty="0">
                <a:solidFill>
                  <a:schemeClr val="bg1"/>
                </a:solidFill>
                <a:latin typeface="Calibri" panose="020F0502020204030204" pitchFamily="34" charset="0"/>
                <a:cs typeface="Calibri" panose="020F0502020204030204" pitchFamily="34" charset="0"/>
              </a:rPr>
              <a:t>Tariff payable to relevant category of Consumer including RPO </a:t>
            </a:r>
          </a:p>
          <a:p>
            <a:pPr algn="just">
              <a:lnSpc>
                <a:spcPct val="106000"/>
              </a:lnSpc>
              <a:buFont typeface="Wingdings 2" pitchFamily="18" charset="2"/>
              <a:buNone/>
            </a:pPr>
            <a:r>
              <a:rPr lang="en-US" sz="1400" b="1" dirty="0">
                <a:solidFill>
                  <a:schemeClr val="bg1"/>
                </a:solidFill>
                <a:latin typeface="Calibri" panose="020F0502020204030204" pitchFamily="34" charset="0"/>
                <a:cs typeface="Calibri" panose="020F0502020204030204" pitchFamily="34" charset="0"/>
              </a:rPr>
              <a:t>L – </a:t>
            </a:r>
            <a:r>
              <a:rPr lang="en-US" sz="1400" dirty="0">
                <a:solidFill>
                  <a:schemeClr val="bg1"/>
                </a:solidFill>
                <a:latin typeface="Calibri" panose="020F0502020204030204" pitchFamily="34" charset="0"/>
                <a:cs typeface="Calibri" panose="020F0502020204030204" pitchFamily="34" charset="0"/>
              </a:rPr>
              <a:t>Aggregated Transmission and commercial loss at relevant voltage level</a:t>
            </a:r>
          </a:p>
          <a:p>
            <a:pPr algn="just">
              <a:lnSpc>
                <a:spcPct val="106000"/>
              </a:lnSpc>
              <a:buFont typeface="Wingdings 2" pitchFamily="18" charset="2"/>
              <a:buNone/>
            </a:pPr>
            <a:r>
              <a:rPr lang="en-US" sz="1400" b="1" dirty="0">
                <a:solidFill>
                  <a:schemeClr val="bg1"/>
                </a:solidFill>
                <a:latin typeface="Calibri" panose="020F0502020204030204" pitchFamily="34" charset="0"/>
                <a:cs typeface="Calibri" panose="020F0502020204030204" pitchFamily="34" charset="0"/>
              </a:rPr>
              <a:t>D – </a:t>
            </a:r>
            <a:r>
              <a:rPr lang="en-US" sz="1400" dirty="0">
                <a:solidFill>
                  <a:schemeClr val="bg1"/>
                </a:solidFill>
                <a:latin typeface="Calibri" panose="020F0502020204030204" pitchFamily="34" charset="0"/>
                <a:cs typeface="Calibri" panose="020F0502020204030204" pitchFamily="34" charset="0"/>
              </a:rPr>
              <a:t>Aggregate of transmission, distribution and wheeling charge applicable to relevant voltage </a:t>
            </a:r>
          </a:p>
          <a:p>
            <a:pPr algn="just">
              <a:lnSpc>
                <a:spcPct val="106000"/>
              </a:lnSpc>
              <a:buFont typeface="Wingdings 2" pitchFamily="18" charset="2"/>
              <a:buNone/>
            </a:pPr>
            <a:r>
              <a:rPr lang="en-US" sz="1400" b="1" dirty="0">
                <a:solidFill>
                  <a:schemeClr val="bg1"/>
                </a:solidFill>
                <a:latin typeface="Calibri" panose="020F0502020204030204" pitchFamily="34" charset="0"/>
                <a:cs typeface="Calibri" panose="020F0502020204030204" pitchFamily="34" charset="0"/>
              </a:rPr>
              <a:t>R – </a:t>
            </a:r>
            <a:r>
              <a:rPr lang="en-US" sz="1400" dirty="0">
                <a:solidFill>
                  <a:schemeClr val="bg1"/>
                </a:solidFill>
                <a:latin typeface="Calibri" panose="020F0502020204030204" pitchFamily="34" charset="0"/>
                <a:cs typeface="Calibri" panose="020F0502020204030204" pitchFamily="34" charset="0"/>
              </a:rPr>
              <a:t>per unit cost of carrying regulatory assets </a:t>
            </a:r>
          </a:p>
        </p:txBody>
      </p:sp>
      <p:sp>
        <p:nvSpPr>
          <p:cNvPr id="13" name="Rectangle 12">
            <a:extLst>
              <a:ext uri="{FF2B5EF4-FFF2-40B4-BE49-F238E27FC236}">
                <a16:creationId xmlns:a16="http://schemas.microsoft.com/office/drawing/2014/main" id="{94CA4E08-5697-A4E4-84FC-EE0F179883EF}"/>
              </a:ext>
            </a:extLst>
          </p:cNvPr>
          <p:cNvSpPr/>
          <p:nvPr/>
        </p:nvSpPr>
        <p:spPr bwMode="gray">
          <a:xfrm>
            <a:off x="469902" y="1014555"/>
            <a:ext cx="7346041" cy="334102"/>
          </a:xfrm>
          <a:prstGeom prst="rect">
            <a:avLst/>
          </a:prstGeom>
          <a:solidFill>
            <a:srgbClr val="43B02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latin typeface="Calibri" panose="020F0502020204030204" pitchFamily="34" charset="0"/>
                <a:cs typeface="Calibri" panose="020F0502020204030204" pitchFamily="34" charset="0"/>
              </a:rPr>
              <a:t>Method 1 : Based on Tariff Rate Vs Cost of Supply for relevant Category  </a:t>
            </a:r>
          </a:p>
        </p:txBody>
      </p:sp>
      <p:sp>
        <p:nvSpPr>
          <p:cNvPr id="14" name="Rectangle 13">
            <a:extLst>
              <a:ext uri="{FF2B5EF4-FFF2-40B4-BE49-F238E27FC236}">
                <a16:creationId xmlns:a16="http://schemas.microsoft.com/office/drawing/2014/main" id="{4FABCD4C-E834-5616-83A5-4AF2ABCB7A38}"/>
              </a:ext>
            </a:extLst>
          </p:cNvPr>
          <p:cNvSpPr/>
          <p:nvPr/>
        </p:nvSpPr>
        <p:spPr bwMode="gray">
          <a:xfrm>
            <a:off x="2835238" y="2395454"/>
            <a:ext cx="2368134" cy="943291"/>
          </a:xfrm>
          <a:prstGeom prst="rect">
            <a:avLst/>
          </a:prstGeom>
          <a:solidFill>
            <a:srgbClr val="00768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b="1" dirty="0">
                <a:solidFill>
                  <a:schemeClr val="bg1"/>
                </a:solidFill>
                <a:latin typeface="Calibri" panose="020F0502020204030204" pitchFamily="34" charset="0"/>
                <a:cs typeface="Calibri" panose="020F0502020204030204" pitchFamily="34" charset="0"/>
              </a:rPr>
              <a:t>T – C</a:t>
            </a:r>
          </a:p>
        </p:txBody>
      </p:sp>
      <p:sp>
        <p:nvSpPr>
          <p:cNvPr id="15" name="Rectangle 14">
            <a:extLst>
              <a:ext uri="{FF2B5EF4-FFF2-40B4-BE49-F238E27FC236}">
                <a16:creationId xmlns:a16="http://schemas.microsoft.com/office/drawing/2014/main" id="{22F31114-5552-34DA-6D7B-26F66583397F}"/>
              </a:ext>
            </a:extLst>
          </p:cNvPr>
          <p:cNvSpPr/>
          <p:nvPr/>
        </p:nvSpPr>
        <p:spPr bwMode="gray">
          <a:xfrm>
            <a:off x="2835238" y="3299168"/>
            <a:ext cx="2368134" cy="859971"/>
          </a:xfrm>
          <a:prstGeom prst="rect">
            <a:avLst/>
          </a:prstGeom>
          <a:solidFill>
            <a:srgbClr val="00ABAB"/>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b="1" dirty="0">
                <a:solidFill>
                  <a:schemeClr val="bg1"/>
                </a:solidFill>
                <a:latin typeface="Calibri" panose="020F0502020204030204" pitchFamily="34" charset="0"/>
                <a:cs typeface="Calibri" panose="020F0502020204030204" pitchFamily="34" charset="0"/>
              </a:rPr>
              <a:t>Average Cost of Supply (C)</a:t>
            </a:r>
          </a:p>
        </p:txBody>
      </p:sp>
      <p:cxnSp>
        <p:nvCxnSpPr>
          <p:cNvPr id="16" name="Straight Arrow Connector 15">
            <a:extLst>
              <a:ext uri="{FF2B5EF4-FFF2-40B4-BE49-F238E27FC236}">
                <a16:creationId xmlns:a16="http://schemas.microsoft.com/office/drawing/2014/main" id="{6B852720-EB68-0DA9-7FC0-D85F42F8E309}"/>
              </a:ext>
            </a:extLst>
          </p:cNvPr>
          <p:cNvCxnSpPr>
            <a:cxnSpLocks/>
          </p:cNvCxnSpPr>
          <p:nvPr/>
        </p:nvCxnSpPr>
        <p:spPr>
          <a:xfrm>
            <a:off x="2350823" y="3516682"/>
            <a:ext cx="898538" cy="435202"/>
          </a:xfrm>
          <a:prstGeom prst="straightConnector1">
            <a:avLst/>
          </a:prstGeom>
          <a:ln>
            <a:solidFill>
              <a:srgbClr val="ED8B00"/>
            </a:solidFill>
            <a:headEnd type="triangle"/>
            <a:tailEnd type="triangle"/>
          </a:ln>
        </p:spPr>
        <p:style>
          <a:lnRef idx="3">
            <a:schemeClr val="accent5"/>
          </a:lnRef>
          <a:fillRef idx="0">
            <a:schemeClr val="accent5"/>
          </a:fillRef>
          <a:effectRef idx="2">
            <a:schemeClr val="accent5"/>
          </a:effectRef>
          <a:fontRef idx="minor">
            <a:schemeClr val="tx1"/>
          </a:fontRef>
        </p:style>
      </p:cxnSp>
      <p:cxnSp>
        <p:nvCxnSpPr>
          <p:cNvPr id="17" name="Straight Arrow Connector 16">
            <a:extLst>
              <a:ext uri="{FF2B5EF4-FFF2-40B4-BE49-F238E27FC236}">
                <a16:creationId xmlns:a16="http://schemas.microsoft.com/office/drawing/2014/main" id="{EC8EFA32-C2AD-71BA-EFC2-03B1EEEEE240}"/>
              </a:ext>
            </a:extLst>
          </p:cNvPr>
          <p:cNvCxnSpPr>
            <a:cxnSpLocks/>
          </p:cNvCxnSpPr>
          <p:nvPr/>
        </p:nvCxnSpPr>
        <p:spPr>
          <a:xfrm flipV="1">
            <a:off x="2762882" y="2857051"/>
            <a:ext cx="699884" cy="862056"/>
          </a:xfrm>
          <a:prstGeom prst="straightConnector1">
            <a:avLst/>
          </a:prstGeom>
          <a:ln>
            <a:solidFill>
              <a:srgbClr val="ED8B00"/>
            </a:solidFill>
            <a:tailEnd type="triangle"/>
          </a:ln>
        </p:spPr>
        <p:style>
          <a:lnRef idx="3">
            <a:schemeClr val="accent6"/>
          </a:lnRef>
          <a:fillRef idx="0">
            <a:schemeClr val="accent6"/>
          </a:fillRef>
          <a:effectRef idx="2">
            <a:schemeClr val="accent6"/>
          </a:effectRef>
          <a:fontRef idx="minor">
            <a:schemeClr val="tx1"/>
          </a:fontRef>
        </p:style>
      </p:cxnSp>
      <p:cxnSp>
        <p:nvCxnSpPr>
          <p:cNvPr id="18" name="Straight Arrow Connector 17">
            <a:extLst>
              <a:ext uri="{FF2B5EF4-FFF2-40B4-BE49-F238E27FC236}">
                <a16:creationId xmlns:a16="http://schemas.microsoft.com/office/drawing/2014/main" id="{DBCFFD0E-46BA-1B44-1FC5-1C904ADB1E51}"/>
              </a:ext>
            </a:extLst>
          </p:cNvPr>
          <p:cNvCxnSpPr>
            <a:cxnSpLocks/>
          </p:cNvCxnSpPr>
          <p:nvPr/>
        </p:nvCxnSpPr>
        <p:spPr>
          <a:xfrm>
            <a:off x="7582884" y="1524395"/>
            <a:ext cx="0" cy="1742118"/>
          </a:xfrm>
          <a:prstGeom prst="straightConnector1">
            <a:avLst/>
          </a:prstGeom>
          <a:ln>
            <a:solidFill>
              <a:srgbClr val="ED8B00"/>
            </a:solidFill>
            <a:headEnd type="triangle"/>
            <a:tailEnd type="triangle"/>
          </a:ln>
        </p:spPr>
        <p:style>
          <a:lnRef idx="3">
            <a:schemeClr val="accent3"/>
          </a:lnRef>
          <a:fillRef idx="0">
            <a:schemeClr val="accent3"/>
          </a:fillRef>
          <a:effectRef idx="2">
            <a:schemeClr val="accent3"/>
          </a:effectRef>
          <a:fontRef idx="minor">
            <a:schemeClr val="tx1"/>
          </a:fontRef>
        </p:style>
      </p:cxnSp>
      <p:cxnSp>
        <p:nvCxnSpPr>
          <p:cNvPr id="19" name="Straight Connector 18">
            <a:extLst>
              <a:ext uri="{FF2B5EF4-FFF2-40B4-BE49-F238E27FC236}">
                <a16:creationId xmlns:a16="http://schemas.microsoft.com/office/drawing/2014/main" id="{1F3A592E-5A46-CD37-4F09-8C420C38B7AC}"/>
              </a:ext>
            </a:extLst>
          </p:cNvPr>
          <p:cNvCxnSpPr>
            <a:cxnSpLocks/>
          </p:cNvCxnSpPr>
          <p:nvPr/>
        </p:nvCxnSpPr>
        <p:spPr>
          <a:xfrm>
            <a:off x="7354260" y="1538841"/>
            <a:ext cx="461682" cy="0"/>
          </a:xfrm>
          <a:prstGeom prst="line">
            <a:avLst/>
          </a:prstGeom>
          <a:ln>
            <a:solidFill>
              <a:srgbClr val="ED8B00"/>
            </a:solidFill>
          </a:ln>
        </p:spPr>
        <p:style>
          <a:lnRef idx="3">
            <a:schemeClr val="accent2"/>
          </a:lnRef>
          <a:fillRef idx="0">
            <a:schemeClr val="accent2"/>
          </a:fillRef>
          <a:effectRef idx="2">
            <a:schemeClr val="accent2"/>
          </a:effectRef>
          <a:fontRef idx="minor">
            <a:schemeClr val="tx1"/>
          </a:fontRef>
        </p:style>
      </p:cxnSp>
      <p:cxnSp>
        <p:nvCxnSpPr>
          <p:cNvPr id="20" name="Straight Arrow Connector 19">
            <a:extLst>
              <a:ext uri="{FF2B5EF4-FFF2-40B4-BE49-F238E27FC236}">
                <a16:creationId xmlns:a16="http://schemas.microsoft.com/office/drawing/2014/main" id="{EC3B4424-5768-B7B0-03D8-274C8980E48E}"/>
              </a:ext>
            </a:extLst>
          </p:cNvPr>
          <p:cNvCxnSpPr>
            <a:cxnSpLocks/>
          </p:cNvCxnSpPr>
          <p:nvPr/>
        </p:nvCxnSpPr>
        <p:spPr>
          <a:xfrm>
            <a:off x="5301342" y="2395454"/>
            <a:ext cx="0" cy="885505"/>
          </a:xfrm>
          <a:prstGeom prst="straightConnector1">
            <a:avLst/>
          </a:prstGeom>
          <a:ln>
            <a:solidFill>
              <a:srgbClr val="ED8B00"/>
            </a:solidFill>
            <a:headEnd type="triangle"/>
            <a:tailEnd type="triangle"/>
          </a:ln>
        </p:spPr>
        <p:style>
          <a:lnRef idx="3">
            <a:schemeClr val="accent3"/>
          </a:lnRef>
          <a:fillRef idx="0">
            <a:schemeClr val="accent3"/>
          </a:fillRef>
          <a:effectRef idx="2">
            <a:schemeClr val="accent3"/>
          </a:effectRef>
          <a:fontRef idx="minor">
            <a:schemeClr val="tx1"/>
          </a:fontRef>
        </p:style>
      </p:cxnSp>
      <p:sp>
        <p:nvSpPr>
          <p:cNvPr id="21" name="TextBox 20">
            <a:extLst>
              <a:ext uri="{FF2B5EF4-FFF2-40B4-BE49-F238E27FC236}">
                <a16:creationId xmlns:a16="http://schemas.microsoft.com/office/drawing/2014/main" id="{7B3A5ACD-3512-1028-9119-A24F626515E7}"/>
              </a:ext>
            </a:extLst>
          </p:cNvPr>
          <p:cNvSpPr txBox="1"/>
          <p:nvPr/>
        </p:nvSpPr>
        <p:spPr>
          <a:xfrm>
            <a:off x="2928259" y="4380317"/>
            <a:ext cx="2275113" cy="1215717"/>
          </a:xfrm>
          <a:prstGeom prst="rect">
            <a:avLst/>
          </a:prstGeom>
          <a:noFill/>
        </p:spPr>
        <p:txBody>
          <a:bodyPr wrap="square" lIns="0" tIns="0" rIns="0" bIns="0" rtlCol="0">
            <a:spAutoFit/>
          </a:bodyPr>
          <a:lstStyle/>
          <a:p>
            <a:pPr marL="285750" indent="-285750">
              <a:spcBef>
                <a:spcPts val="600"/>
              </a:spcBef>
              <a:buSzPct val="100000"/>
              <a:buFont typeface="Wingdings" panose="05000000000000000000" pitchFamily="2" charset="2"/>
              <a:buChar char="q"/>
            </a:pPr>
            <a:r>
              <a:rPr lang="en-US" sz="1600" b="1" dirty="0">
                <a:solidFill>
                  <a:srgbClr val="313131"/>
                </a:solidFill>
                <a:latin typeface="Calibri" panose="020F0502020204030204" pitchFamily="34" charset="0"/>
                <a:cs typeface="Calibri" panose="020F0502020204030204" pitchFamily="34" charset="0"/>
              </a:rPr>
              <a:t>Chhattisgarh</a:t>
            </a:r>
          </a:p>
          <a:p>
            <a:pPr marL="285750" indent="-285750">
              <a:spcBef>
                <a:spcPts val="600"/>
              </a:spcBef>
              <a:buSzPct val="100000"/>
              <a:buFont typeface="Wingdings" panose="05000000000000000000" pitchFamily="2" charset="2"/>
              <a:buChar char="q"/>
            </a:pPr>
            <a:r>
              <a:rPr lang="en-US" sz="1600" b="1" dirty="0">
                <a:solidFill>
                  <a:srgbClr val="313131"/>
                </a:solidFill>
                <a:latin typeface="Calibri" panose="020F0502020204030204" pitchFamily="34" charset="0"/>
                <a:cs typeface="Calibri" panose="020F0502020204030204" pitchFamily="34" charset="0"/>
              </a:rPr>
              <a:t>Assam</a:t>
            </a:r>
          </a:p>
          <a:p>
            <a:pPr marL="285750" indent="-285750">
              <a:spcBef>
                <a:spcPts val="600"/>
              </a:spcBef>
              <a:buSzPct val="100000"/>
              <a:buFont typeface="Wingdings" panose="05000000000000000000" pitchFamily="2" charset="2"/>
              <a:buChar char="q"/>
            </a:pPr>
            <a:r>
              <a:rPr lang="en-US" sz="1600" b="1" dirty="0">
                <a:solidFill>
                  <a:srgbClr val="313131"/>
                </a:solidFill>
                <a:latin typeface="Calibri" panose="020F0502020204030204" pitchFamily="34" charset="0"/>
                <a:cs typeface="Calibri" panose="020F0502020204030204" pitchFamily="34" charset="0"/>
              </a:rPr>
              <a:t>Punjab</a:t>
            </a:r>
          </a:p>
          <a:p>
            <a:pPr marL="285750" indent="-285750">
              <a:spcBef>
                <a:spcPts val="600"/>
              </a:spcBef>
              <a:buSzPct val="100000"/>
              <a:buFont typeface="Wingdings" panose="05000000000000000000" pitchFamily="2" charset="2"/>
              <a:buChar char="q"/>
            </a:pPr>
            <a:r>
              <a:rPr lang="en-US" sz="1600" b="1" dirty="0">
                <a:solidFill>
                  <a:srgbClr val="313131"/>
                </a:solidFill>
                <a:latin typeface="Calibri" panose="020F0502020204030204" pitchFamily="34" charset="0"/>
                <a:cs typeface="Calibri" panose="020F0502020204030204" pitchFamily="34" charset="0"/>
              </a:rPr>
              <a:t>Gujarat</a:t>
            </a:r>
          </a:p>
        </p:txBody>
      </p:sp>
      <p:cxnSp>
        <p:nvCxnSpPr>
          <p:cNvPr id="22" name="Straight Arrow Connector 21">
            <a:extLst>
              <a:ext uri="{FF2B5EF4-FFF2-40B4-BE49-F238E27FC236}">
                <a16:creationId xmlns:a16="http://schemas.microsoft.com/office/drawing/2014/main" id="{72C15505-674C-6E36-928B-397544DF4E40}"/>
              </a:ext>
            </a:extLst>
          </p:cNvPr>
          <p:cNvCxnSpPr>
            <a:cxnSpLocks/>
          </p:cNvCxnSpPr>
          <p:nvPr/>
        </p:nvCxnSpPr>
        <p:spPr>
          <a:xfrm>
            <a:off x="2800092" y="5614100"/>
            <a:ext cx="2501250" cy="0"/>
          </a:xfrm>
          <a:prstGeom prst="straightConnector1">
            <a:avLst/>
          </a:prstGeom>
          <a:ln>
            <a:solidFill>
              <a:srgbClr val="ED8B00"/>
            </a:solidFill>
            <a:headEnd type="triangle"/>
            <a:tailEnd type="triangle"/>
          </a:ln>
        </p:spPr>
        <p:style>
          <a:lnRef idx="3">
            <a:schemeClr val="accent3"/>
          </a:lnRef>
          <a:fillRef idx="0">
            <a:schemeClr val="accent3"/>
          </a:fillRef>
          <a:effectRef idx="2">
            <a:schemeClr val="accent3"/>
          </a:effectRef>
          <a:fontRef idx="minor">
            <a:schemeClr val="tx1"/>
          </a:fontRef>
        </p:style>
      </p:cxnSp>
      <p:cxnSp>
        <p:nvCxnSpPr>
          <p:cNvPr id="23" name="Straight Arrow Connector 22">
            <a:extLst>
              <a:ext uri="{FF2B5EF4-FFF2-40B4-BE49-F238E27FC236}">
                <a16:creationId xmlns:a16="http://schemas.microsoft.com/office/drawing/2014/main" id="{9467204B-C838-D1F9-59B5-2179C18C59EC}"/>
              </a:ext>
            </a:extLst>
          </p:cNvPr>
          <p:cNvCxnSpPr>
            <a:cxnSpLocks/>
          </p:cNvCxnSpPr>
          <p:nvPr/>
        </p:nvCxnSpPr>
        <p:spPr>
          <a:xfrm flipV="1">
            <a:off x="2821877" y="5824657"/>
            <a:ext cx="4761007" cy="1"/>
          </a:xfrm>
          <a:prstGeom prst="straightConnector1">
            <a:avLst/>
          </a:prstGeom>
          <a:ln>
            <a:solidFill>
              <a:srgbClr val="ED8B00"/>
            </a:solidFill>
            <a:headEnd type="triangle"/>
            <a:tailEnd type="triangle"/>
          </a:ln>
        </p:spPr>
        <p:style>
          <a:lnRef idx="3">
            <a:schemeClr val="accent3"/>
          </a:lnRef>
          <a:fillRef idx="0">
            <a:schemeClr val="accent3"/>
          </a:fillRef>
          <a:effectRef idx="2">
            <a:schemeClr val="accent3"/>
          </a:effectRef>
          <a:fontRef idx="minor">
            <a:schemeClr val="tx1"/>
          </a:fontRef>
        </p:style>
      </p:cxnSp>
      <p:cxnSp>
        <p:nvCxnSpPr>
          <p:cNvPr id="24" name="Straight Connector 23">
            <a:extLst>
              <a:ext uri="{FF2B5EF4-FFF2-40B4-BE49-F238E27FC236}">
                <a16:creationId xmlns:a16="http://schemas.microsoft.com/office/drawing/2014/main" id="{933FA8A9-7BB9-CB5F-26C3-ED34D8113D2B}"/>
              </a:ext>
            </a:extLst>
          </p:cNvPr>
          <p:cNvCxnSpPr>
            <a:cxnSpLocks/>
          </p:cNvCxnSpPr>
          <p:nvPr/>
        </p:nvCxnSpPr>
        <p:spPr>
          <a:xfrm>
            <a:off x="2829549" y="4170228"/>
            <a:ext cx="5688" cy="1817511"/>
          </a:xfrm>
          <a:prstGeom prst="line">
            <a:avLst/>
          </a:prstGeom>
          <a:ln>
            <a:solidFill>
              <a:srgbClr val="ED8B00"/>
            </a:solidFill>
          </a:ln>
        </p:spPr>
        <p:style>
          <a:lnRef idx="3">
            <a:schemeClr val="accent2"/>
          </a:lnRef>
          <a:fillRef idx="0">
            <a:schemeClr val="accent2"/>
          </a:fillRef>
          <a:effectRef idx="2">
            <a:schemeClr val="accent2"/>
          </a:effectRef>
          <a:fontRef idx="minor">
            <a:schemeClr val="tx1"/>
          </a:fontRef>
        </p:style>
      </p:cxnSp>
      <p:cxnSp>
        <p:nvCxnSpPr>
          <p:cNvPr id="25" name="Straight Connector 24">
            <a:extLst>
              <a:ext uri="{FF2B5EF4-FFF2-40B4-BE49-F238E27FC236}">
                <a16:creationId xmlns:a16="http://schemas.microsoft.com/office/drawing/2014/main" id="{588A9853-F09D-D0BC-3E90-37CD042EFCE0}"/>
              </a:ext>
            </a:extLst>
          </p:cNvPr>
          <p:cNvCxnSpPr>
            <a:cxnSpLocks/>
          </p:cNvCxnSpPr>
          <p:nvPr/>
        </p:nvCxnSpPr>
        <p:spPr>
          <a:xfrm>
            <a:off x="7582884" y="3242938"/>
            <a:ext cx="0" cy="2610893"/>
          </a:xfrm>
          <a:prstGeom prst="line">
            <a:avLst/>
          </a:prstGeom>
          <a:ln>
            <a:solidFill>
              <a:srgbClr val="ED8B00"/>
            </a:solidFill>
          </a:ln>
        </p:spPr>
        <p:style>
          <a:lnRef idx="3">
            <a:schemeClr val="accent2"/>
          </a:lnRef>
          <a:fillRef idx="0">
            <a:schemeClr val="accent2"/>
          </a:fillRef>
          <a:effectRef idx="2">
            <a:schemeClr val="accent2"/>
          </a:effectRef>
          <a:fontRef idx="minor">
            <a:schemeClr val="tx1"/>
          </a:fontRef>
        </p:style>
      </p:cxnSp>
      <p:sp>
        <p:nvSpPr>
          <p:cNvPr id="26" name="Rectangle 25">
            <a:extLst>
              <a:ext uri="{FF2B5EF4-FFF2-40B4-BE49-F238E27FC236}">
                <a16:creationId xmlns:a16="http://schemas.microsoft.com/office/drawing/2014/main" id="{56A4CE1D-AAA3-59BA-24AF-2C524ED7F5F5}"/>
              </a:ext>
            </a:extLst>
          </p:cNvPr>
          <p:cNvSpPr/>
          <p:nvPr/>
        </p:nvSpPr>
        <p:spPr bwMode="gray">
          <a:xfrm>
            <a:off x="8044565" y="1014555"/>
            <a:ext cx="3657577" cy="524282"/>
          </a:xfrm>
          <a:prstGeom prst="rect">
            <a:avLst/>
          </a:prstGeom>
          <a:solidFill>
            <a:srgbClr val="0076A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latin typeface="Calibri" panose="020F0502020204030204" pitchFamily="34" charset="0"/>
                <a:cs typeface="Calibri" panose="020F0502020204030204" pitchFamily="34" charset="0"/>
              </a:rPr>
              <a:t>Method 2 : Based on National Tariff Policy, 2016 </a:t>
            </a:r>
          </a:p>
        </p:txBody>
      </p:sp>
      <p:cxnSp>
        <p:nvCxnSpPr>
          <p:cNvPr id="27" name="Straight Connector 26">
            <a:extLst>
              <a:ext uri="{FF2B5EF4-FFF2-40B4-BE49-F238E27FC236}">
                <a16:creationId xmlns:a16="http://schemas.microsoft.com/office/drawing/2014/main" id="{C732722A-FD30-631D-8EC3-36389A0B68A1}"/>
              </a:ext>
            </a:extLst>
          </p:cNvPr>
          <p:cNvCxnSpPr>
            <a:cxnSpLocks/>
          </p:cNvCxnSpPr>
          <p:nvPr/>
        </p:nvCxnSpPr>
        <p:spPr>
          <a:xfrm>
            <a:off x="5301342" y="3266513"/>
            <a:ext cx="0" cy="2423752"/>
          </a:xfrm>
          <a:prstGeom prst="line">
            <a:avLst/>
          </a:prstGeom>
          <a:ln>
            <a:solidFill>
              <a:srgbClr val="ED8B00"/>
            </a:solidFill>
          </a:ln>
        </p:spPr>
        <p:style>
          <a:lnRef idx="3">
            <a:schemeClr val="accent2"/>
          </a:lnRef>
          <a:fillRef idx="0">
            <a:schemeClr val="accent2"/>
          </a:fillRef>
          <a:effectRef idx="2">
            <a:schemeClr val="accent2"/>
          </a:effectRef>
          <a:fontRef idx="minor">
            <a:schemeClr val="tx1"/>
          </a:fontRef>
        </p:style>
      </p:cxnSp>
      <p:sp>
        <p:nvSpPr>
          <p:cNvPr id="28" name="TextBox 27">
            <a:extLst>
              <a:ext uri="{FF2B5EF4-FFF2-40B4-BE49-F238E27FC236}">
                <a16:creationId xmlns:a16="http://schemas.microsoft.com/office/drawing/2014/main" id="{B611513D-C096-30E2-DA28-DFBBD0065685}"/>
              </a:ext>
            </a:extLst>
          </p:cNvPr>
          <p:cNvSpPr txBox="1"/>
          <p:nvPr/>
        </p:nvSpPr>
        <p:spPr>
          <a:xfrm>
            <a:off x="5454911" y="3803236"/>
            <a:ext cx="2040887" cy="815608"/>
          </a:xfrm>
          <a:prstGeom prst="rect">
            <a:avLst/>
          </a:prstGeom>
          <a:noFill/>
        </p:spPr>
        <p:txBody>
          <a:bodyPr wrap="square" lIns="0" tIns="0" rIns="0" bIns="0" rtlCol="0">
            <a:spAutoFit/>
          </a:bodyPr>
          <a:lstStyle/>
          <a:p>
            <a:pPr algn="ctr">
              <a:spcBef>
                <a:spcPts val="600"/>
              </a:spcBef>
              <a:buSzPct val="100000"/>
            </a:pPr>
            <a:r>
              <a:rPr lang="en-US" sz="1600" b="1" dirty="0">
                <a:solidFill>
                  <a:srgbClr val="313131"/>
                </a:solidFill>
                <a:latin typeface="Calibri" panose="020F0502020204030204" pitchFamily="34" charset="0"/>
                <a:cs typeface="Calibri" panose="020F0502020204030204" pitchFamily="34" charset="0"/>
              </a:rPr>
              <a:t>West Bengal </a:t>
            </a:r>
          </a:p>
          <a:p>
            <a:pPr algn="ctr">
              <a:spcBef>
                <a:spcPts val="600"/>
              </a:spcBef>
              <a:buSzPct val="100000"/>
            </a:pPr>
            <a:r>
              <a:rPr lang="en-US" sz="1600" dirty="0">
                <a:solidFill>
                  <a:srgbClr val="313131"/>
                </a:solidFill>
                <a:latin typeface="Calibri" panose="020F0502020204030204" pitchFamily="34" charset="0"/>
                <a:cs typeface="Calibri" panose="020F0502020204030204" pitchFamily="34" charset="0"/>
              </a:rPr>
              <a:t>(</a:t>
            </a:r>
            <a:r>
              <a:rPr lang="en-US" sz="1600" b="1" dirty="0">
                <a:solidFill>
                  <a:srgbClr val="313131"/>
                </a:solidFill>
                <a:latin typeface="Calibri" panose="020F0502020204030204" pitchFamily="34" charset="0"/>
                <a:cs typeface="Calibri" panose="020F0502020204030204" pitchFamily="34" charset="0"/>
              </a:rPr>
              <a:t>Additional Component )</a:t>
            </a:r>
          </a:p>
        </p:txBody>
      </p:sp>
      <p:sp>
        <p:nvSpPr>
          <p:cNvPr id="29" name="TextBox 28">
            <a:extLst>
              <a:ext uri="{FF2B5EF4-FFF2-40B4-BE49-F238E27FC236}">
                <a16:creationId xmlns:a16="http://schemas.microsoft.com/office/drawing/2014/main" id="{07C7CEC5-DF7C-D8CE-4A74-ED576117FD85}"/>
              </a:ext>
            </a:extLst>
          </p:cNvPr>
          <p:cNvSpPr txBox="1"/>
          <p:nvPr/>
        </p:nvSpPr>
        <p:spPr>
          <a:xfrm>
            <a:off x="8240388" y="4577275"/>
            <a:ext cx="2993313" cy="1538883"/>
          </a:xfrm>
          <a:prstGeom prst="rect">
            <a:avLst/>
          </a:prstGeom>
          <a:noFill/>
        </p:spPr>
        <p:txBody>
          <a:bodyPr wrap="square" lIns="0" tIns="0" rIns="0" bIns="0" rtlCol="0">
            <a:spAutoFit/>
          </a:bodyPr>
          <a:lstStyle/>
          <a:p>
            <a:pPr marL="285750" indent="-285750">
              <a:spcBef>
                <a:spcPts val="600"/>
              </a:spcBef>
              <a:buSzPct val="100000"/>
              <a:buFont typeface="Wingdings" panose="05000000000000000000" pitchFamily="2" charset="2"/>
              <a:buChar char="q"/>
            </a:pPr>
            <a:r>
              <a:rPr lang="en-US" sz="1600" b="1" dirty="0">
                <a:latin typeface="Calibri" panose="020F0502020204030204" pitchFamily="34" charset="0"/>
                <a:cs typeface="Calibri" panose="020F0502020204030204" pitchFamily="34" charset="0"/>
              </a:rPr>
              <a:t>Jharkhand </a:t>
            </a:r>
          </a:p>
          <a:p>
            <a:pPr marL="285750" indent="-285750">
              <a:spcBef>
                <a:spcPts val="600"/>
              </a:spcBef>
              <a:buSzPct val="100000"/>
              <a:buFont typeface="Wingdings" panose="05000000000000000000" pitchFamily="2" charset="2"/>
              <a:buChar char="q"/>
            </a:pPr>
            <a:r>
              <a:rPr lang="en-US" sz="1600" b="1" dirty="0">
                <a:latin typeface="Calibri" panose="020F0502020204030204" pitchFamily="34" charset="0"/>
                <a:cs typeface="Calibri" panose="020F0502020204030204" pitchFamily="34" charset="0"/>
              </a:rPr>
              <a:t>Tamil Nadu</a:t>
            </a:r>
          </a:p>
          <a:p>
            <a:pPr marL="285750" indent="-285750">
              <a:spcBef>
                <a:spcPts val="600"/>
              </a:spcBef>
              <a:buSzPct val="100000"/>
              <a:buFont typeface="Wingdings" panose="05000000000000000000" pitchFamily="2" charset="2"/>
              <a:buChar char="q"/>
            </a:pPr>
            <a:r>
              <a:rPr lang="en-US" sz="1600" b="1" dirty="0">
                <a:latin typeface="Calibri" panose="020F0502020204030204" pitchFamily="34" charset="0"/>
                <a:cs typeface="Calibri" panose="020F0502020204030204" pitchFamily="34" charset="0"/>
              </a:rPr>
              <a:t>Andhra Pradesh </a:t>
            </a:r>
          </a:p>
          <a:p>
            <a:pPr marL="285750" indent="-285750">
              <a:spcBef>
                <a:spcPts val="600"/>
              </a:spcBef>
              <a:buSzPct val="100000"/>
              <a:buFont typeface="Wingdings" panose="05000000000000000000" pitchFamily="2" charset="2"/>
              <a:buChar char="q"/>
            </a:pPr>
            <a:r>
              <a:rPr lang="en-US" sz="1600" b="1" dirty="0">
                <a:latin typeface="Calibri" panose="020F0502020204030204" pitchFamily="34" charset="0"/>
                <a:cs typeface="Calibri" panose="020F0502020204030204" pitchFamily="34" charset="0"/>
              </a:rPr>
              <a:t>Gujarat</a:t>
            </a:r>
          </a:p>
          <a:p>
            <a:pPr marL="285750" indent="-285750">
              <a:spcBef>
                <a:spcPts val="600"/>
              </a:spcBef>
              <a:buSzPct val="100000"/>
              <a:buFont typeface="Wingdings" panose="05000000000000000000" pitchFamily="2" charset="2"/>
              <a:buChar char="q"/>
            </a:pPr>
            <a:r>
              <a:rPr lang="en-US" sz="1600" b="1" dirty="0">
                <a:latin typeface="Calibri" panose="020F0502020204030204" pitchFamily="34" charset="0"/>
                <a:cs typeface="Calibri" panose="020F0502020204030204" pitchFamily="34" charset="0"/>
              </a:rPr>
              <a:t>Maharashtra </a:t>
            </a:r>
          </a:p>
        </p:txBody>
      </p:sp>
      <p:sp>
        <p:nvSpPr>
          <p:cNvPr id="30" name="Plus Sign 29">
            <a:extLst>
              <a:ext uri="{FF2B5EF4-FFF2-40B4-BE49-F238E27FC236}">
                <a16:creationId xmlns:a16="http://schemas.microsoft.com/office/drawing/2014/main" id="{B013388B-C450-EF33-FFBF-1CC505DBB16F}"/>
              </a:ext>
            </a:extLst>
          </p:cNvPr>
          <p:cNvSpPr/>
          <p:nvPr/>
        </p:nvSpPr>
        <p:spPr bwMode="gray">
          <a:xfrm>
            <a:off x="6017559" y="2588699"/>
            <a:ext cx="424543" cy="357500"/>
          </a:xfrm>
          <a:prstGeom prst="mathPlus">
            <a:avLst/>
          </a:prstGeom>
          <a:solidFill>
            <a:srgbClr val="ED8B00"/>
          </a:solidFill>
          <a:ln w="19050" algn="ctr">
            <a:solidFill>
              <a:srgbClr val="ED8B00"/>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dirty="0">
              <a:solidFill>
                <a:schemeClr val="bg1"/>
              </a:solidFill>
              <a:latin typeface="Calibri" panose="020F0502020204030204" pitchFamily="34" charset="0"/>
              <a:cs typeface="Calibri" panose="020F0502020204030204" pitchFamily="34" charset="0"/>
            </a:endParaRPr>
          </a:p>
        </p:txBody>
      </p:sp>
      <p:sp>
        <p:nvSpPr>
          <p:cNvPr id="31" name="TextBox 30">
            <a:extLst>
              <a:ext uri="{FF2B5EF4-FFF2-40B4-BE49-F238E27FC236}">
                <a16:creationId xmlns:a16="http://schemas.microsoft.com/office/drawing/2014/main" id="{F8E04704-7680-0171-6F53-F23A2A16F0E0}"/>
              </a:ext>
            </a:extLst>
          </p:cNvPr>
          <p:cNvSpPr txBox="1"/>
          <p:nvPr/>
        </p:nvSpPr>
        <p:spPr>
          <a:xfrm>
            <a:off x="587417" y="6704112"/>
            <a:ext cx="8630437" cy="153888"/>
          </a:xfrm>
          <a:prstGeom prst="rect">
            <a:avLst/>
          </a:prstGeom>
          <a:noFill/>
        </p:spPr>
        <p:txBody>
          <a:bodyPr wrap="square" lIns="0" tIns="0" rIns="0" bIns="0" rtlCol="0">
            <a:spAutoFit/>
          </a:bodyPr>
          <a:lstStyle/>
          <a:p>
            <a:pPr>
              <a:spcBef>
                <a:spcPts val="600"/>
              </a:spcBef>
              <a:buSzPct val="100000"/>
            </a:pPr>
            <a:r>
              <a:rPr lang="en-US" sz="1000" b="1" i="1" dirty="0"/>
              <a:t>Source : </a:t>
            </a:r>
            <a:r>
              <a:rPr lang="en-US" sz="1000" i="1" dirty="0"/>
              <a:t>Forum of Regulator (FOR) - Review of Status of Open Access in Distribution</a:t>
            </a:r>
          </a:p>
        </p:txBody>
      </p:sp>
      <p:pic>
        <p:nvPicPr>
          <p:cNvPr id="32" name="Picture 31">
            <a:extLst>
              <a:ext uri="{FF2B5EF4-FFF2-40B4-BE49-F238E27FC236}">
                <a16:creationId xmlns:a16="http://schemas.microsoft.com/office/drawing/2014/main" id="{A24DC067-D6E2-2664-FEF0-DBF930E4830B}"/>
              </a:ext>
            </a:extLst>
          </p:cNvPr>
          <p:cNvPicPr>
            <a:picLocks noChangeAspect="1"/>
          </p:cNvPicPr>
          <p:nvPr/>
        </p:nvPicPr>
        <p:blipFill>
          <a:blip r:embed="rId5"/>
          <a:stretch>
            <a:fillRect/>
          </a:stretch>
        </p:blipFill>
        <p:spPr>
          <a:xfrm>
            <a:off x="10726063" y="402587"/>
            <a:ext cx="878522" cy="566928"/>
          </a:xfrm>
          <a:prstGeom prst="rect">
            <a:avLst/>
          </a:prstGeom>
        </p:spPr>
      </p:pic>
    </p:spTree>
    <p:extLst>
      <p:ext uri="{BB962C8B-B14F-4D97-AF65-F5344CB8AC3E}">
        <p14:creationId xmlns:p14="http://schemas.microsoft.com/office/powerpoint/2010/main" val="33949918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ECF20-0738-167E-80D1-3373CABF01CB}"/>
            </a:ext>
          </a:extLst>
        </p:cNvPr>
        <p:cNvGrpSpPr/>
        <p:nvPr/>
      </p:nvGrpSpPr>
      <p:grpSpPr>
        <a:xfrm>
          <a:off x="0" y="0"/>
          <a:ext cx="0" cy="0"/>
          <a:chOff x="0" y="0"/>
          <a:chExt cx="0" cy="0"/>
        </a:xfrm>
      </p:grpSpPr>
      <p:graphicFrame>
        <p:nvGraphicFramePr>
          <p:cNvPr id="87" name="think-cell data - do not delete" hidden="1">
            <a:extLst>
              <a:ext uri="{FF2B5EF4-FFF2-40B4-BE49-F238E27FC236}">
                <a16:creationId xmlns:a16="http://schemas.microsoft.com/office/drawing/2014/main" id="{58D9C355-B580-C691-0427-69549C9EE970}"/>
              </a:ext>
            </a:extLst>
          </p:cNvPr>
          <p:cNvGraphicFramePr>
            <a:graphicFrameLocks noChangeAspect="1"/>
          </p:cNvGraphicFramePr>
          <p:nvPr>
            <p:custDataLst>
              <p:tags r:id="rId1"/>
            </p:custDataLst>
            <p:extLst>
              <p:ext uri="{D42A27DB-BD31-4B8C-83A1-F6EECF244321}">
                <p14:modId xmlns:p14="http://schemas.microsoft.com/office/powerpoint/2010/main" val="11445129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87" name="think-cell data - do not delete" hidden="1">
                        <a:extLst>
                          <a:ext uri="{FF2B5EF4-FFF2-40B4-BE49-F238E27FC236}">
                            <a16:creationId xmlns:a16="http://schemas.microsoft.com/office/drawing/2014/main" id="{77F7D775-AE5F-79D3-5F51-01C3039D10D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0" name="Title 2">
            <a:extLst>
              <a:ext uri="{FF2B5EF4-FFF2-40B4-BE49-F238E27FC236}">
                <a16:creationId xmlns:a16="http://schemas.microsoft.com/office/drawing/2014/main" id="{10C476BF-4000-CE00-9847-32F7898959E3}"/>
              </a:ext>
            </a:extLst>
          </p:cNvPr>
          <p:cNvSpPr>
            <a:spLocks noGrp="1"/>
          </p:cNvSpPr>
          <p:nvPr>
            <p:ph type="title"/>
          </p:nvPr>
        </p:nvSpPr>
        <p:spPr>
          <a:xfrm>
            <a:off x="469902" y="402587"/>
            <a:ext cx="11252200" cy="334102"/>
          </a:xfrm>
        </p:spPr>
        <p:txBody>
          <a:bodyPr vert="horz">
            <a:noAutofit/>
          </a:bodyPr>
          <a:lstStyle/>
          <a:p>
            <a:r>
              <a:rPr lang="en-US" sz="2800" b="1" dirty="0">
                <a:latin typeface="Calibri" panose="020F0502020204030204" pitchFamily="34" charset="0"/>
                <a:cs typeface="Calibri" panose="020F0502020204030204" pitchFamily="34" charset="0"/>
              </a:rPr>
              <a:t>Examples of Open Access - India</a:t>
            </a:r>
          </a:p>
        </p:txBody>
      </p:sp>
      <p:sp>
        <p:nvSpPr>
          <p:cNvPr id="9" name="Rectangle: Rounded Corners 8">
            <a:extLst>
              <a:ext uri="{FF2B5EF4-FFF2-40B4-BE49-F238E27FC236}">
                <a16:creationId xmlns:a16="http://schemas.microsoft.com/office/drawing/2014/main" id="{83DEFB42-D21E-707C-825D-F1E8A7FAAE6B}"/>
              </a:ext>
            </a:extLst>
          </p:cNvPr>
          <p:cNvSpPr/>
          <p:nvPr/>
        </p:nvSpPr>
        <p:spPr>
          <a:xfrm>
            <a:off x="627901" y="1747327"/>
            <a:ext cx="3457058" cy="4917703"/>
          </a:xfrm>
          <a:prstGeom prst="roundRect">
            <a:avLst>
              <a:gd name="adj" fmla="val 4979"/>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marL="302369" indent="-302369" algn="ctr">
              <a:buAutoNum type="arabicPeriod"/>
            </a:pPr>
            <a:endParaRPr lang="en-US" dirty="0">
              <a:latin typeface="Calibri" panose="020F0502020204030204" pitchFamily="34" charset="0"/>
              <a:cs typeface="Calibri" panose="020F0502020204030204" pitchFamily="34" charset="0"/>
            </a:endParaRPr>
          </a:p>
          <a:p>
            <a:pPr marL="302369" indent="-302369" algn="ctr">
              <a:buAutoNum type="arabicPeriod"/>
            </a:pPr>
            <a:endParaRPr lang="en-US" dirty="0">
              <a:latin typeface="Calibri" panose="020F0502020204030204" pitchFamily="34" charset="0"/>
              <a:cs typeface="Calibri" panose="020F0502020204030204" pitchFamily="34" charset="0"/>
            </a:endParaRPr>
          </a:p>
          <a:p>
            <a:pPr algn="ctr"/>
            <a:endParaRPr lang="en-US" dirty="0">
              <a:latin typeface="Calibri" panose="020F0502020204030204" pitchFamily="34" charset="0"/>
              <a:cs typeface="Calibri" panose="020F0502020204030204" pitchFamily="34" charset="0"/>
            </a:endParaRPr>
          </a:p>
          <a:p>
            <a:pPr algn="ctr"/>
            <a:endParaRPr lang="en-US" dirty="0">
              <a:latin typeface="Calibri" panose="020F0502020204030204" pitchFamily="34" charset="0"/>
              <a:cs typeface="Calibri" panose="020F0502020204030204" pitchFamily="34" charset="0"/>
            </a:endParaRPr>
          </a:p>
          <a:p>
            <a:pPr algn="ctr"/>
            <a:r>
              <a:rPr lang="en-US" dirty="0">
                <a:latin typeface="Calibri" panose="020F0502020204030204" pitchFamily="34" charset="0"/>
                <a:cs typeface="Calibri" panose="020F0502020204030204" pitchFamily="34" charset="0"/>
              </a:rPr>
              <a:t>20% free power to Govt. of Himachal Pradesh</a:t>
            </a:r>
          </a:p>
          <a:p>
            <a:pPr algn="ctr"/>
            <a:r>
              <a:rPr lang="en-US" dirty="0">
                <a:latin typeface="Calibri" panose="020F0502020204030204" pitchFamily="34" charset="0"/>
                <a:cs typeface="Calibri" panose="020F0502020204030204" pitchFamily="34" charset="0"/>
              </a:rPr>
              <a:t>Remaining power sold to industrial consumers through power exchanges and power traders, utilizing transmission network of state transmission utility and the national grid</a:t>
            </a:r>
          </a:p>
          <a:p>
            <a:pPr algn="ctr"/>
            <a:r>
              <a:rPr lang="en-US" dirty="0">
                <a:latin typeface="Calibri" panose="020F0502020204030204" pitchFamily="34" charset="0"/>
                <a:cs typeface="Calibri" panose="020F0502020204030204" pitchFamily="34" charset="0"/>
              </a:rPr>
              <a:t>Generator pays transmission charges for the use of transmission network</a:t>
            </a:r>
          </a:p>
        </p:txBody>
      </p:sp>
      <p:sp>
        <p:nvSpPr>
          <p:cNvPr id="10" name="Rectangle: Rounded Corners 9">
            <a:extLst>
              <a:ext uri="{FF2B5EF4-FFF2-40B4-BE49-F238E27FC236}">
                <a16:creationId xmlns:a16="http://schemas.microsoft.com/office/drawing/2014/main" id="{5AB73FF9-F510-7672-3569-41E32EDE70FA}"/>
              </a:ext>
            </a:extLst>
          </p:cNvPr>
          <p:cNvSpPr/>
          <p:nvPr/>
        </p:nvSpPr>
        <p:spPr>
          <a:xfrm>
            <a:off x="4334159" y="1748913"/>
            <a:ext cx="3456432" cy="4917703"/>
          </a:xfrm>
          <a:prstGeom prst="roundRect">
            <a:avLst>
              <a:gd name="adj" fmla="val 4979"/>
            </a:avLst>
          </a:prstGeom>
        </p:spPr>
        <p:style>
          <a:lnRef idx="2">
            <a:schemeClr val="dk1"/>
          </a:lnRef>
          <a:fillRef idx="1">
            <a:schemeClr val="lt1"/>
          </a:fillRef>
          <a:effectRef idx="0">
            <a:schemeClr val="dk1"/>
          </a:effectRef>
          <a:fontRef idx="minor">
            <a:schemeClr val="dk1"/>
          </a:fontRef>
        </p:style>
        <p:txBody>
          <a:bodyPr rtlCol="0" anchor="ctr"/>
          <a:lstStyle/>
          <a:p>
            <a:pPr marL="302369" indent="-302369" algn="ctr">
              <a:buAutoNum type="arabicPeriod"/>
            </a:pPr>
            <a:endParaRPr lang="en-US" dirty="0">
              <a:latin typeface="Calibri" panose="020F0502020204030204" pitchFamily="34" charset="0"/>
              <a:cs typeface="Calibri" panose="020F0502020204030204" pitchFamily="34" charset="0"/>
            </a:endParaRPr>
          </a:p>
          <a:p>
            <a:pPr marL="302369" indent="-302369" algn="ctr">
              <a:buAutoNum type="arabicPeriod"/>
            </a:pPr>
            <a:endParaRPr lang="en-US" dirty="0">
              <a:latin typeface="Calibri" panose="020F0502020204030204" pitchFamily="34" charset="0"/>
              <a:cs typeface="Calibri" panose="020F0502020204030204" pitchFamily="34" charset="0"/>
            </a:endParaRPr>
          </a:p>
          <a:p>
            <a:pPr algn="ctr"/>
            <a:endParaRPr lang="en-US" dirty="0">
              <a:latin typeface="Calibri" panose="020F0502020204030204" pitchFamily="34" charset="0"/>
              <a:cs typeface="Calibri" panose="020F0502020204030204" pitchFamily="34" charset="0"/>
            </a:endParaRPr>
          </a:p>
          <a:p>
            <a:pPr algn="ctr"/>
            <a:endParaRPr lang="en-US" dirty="0">
              <a:latin typeface="Calibri" panose="020F0502020204030204" pitchFamily="34" charset="0"/>
              <a:cs typeface="Calibri" panose="020F0502020204030204" pitchFamily="34" charset="0"/>
            </a:endParaRPr>
          </a:p>
          <a:p>
            <a:pPr algn="ctr"/>
            <a:r>
              <a:rPr lang="en-US" dirty="0">
                <a:latin typeface="Calibri" panose="020F0502020204030204" pitchFamily="34" charset="0"/>
                <a:cs typeface="Calibri" panose="020F0502020204030204" pitchFamily="34" charset="0"/>
              </a:rPr>
              <a:t>There are over 15 small hydro power plants (&lt; 25 MW) with a total capacity of more than 150 MW, which utilizes open access to sell electricity to commercial and industrial consumers</a:t>
            </a:r>
          </a:p>
          <a:p>
            <a:pPr algn="ctr"/>
            <a:endParaRPr lang="en-US" dirty="0">
              <a:latin typeface="Calibri" panose="020F0502020204030204" pitchFamily="34" charset="0"/>
              <a:cs typeface="Calibri" panose="020F0502020204030204" pitchFamily="34" charset="0"/>
            </a:endParaRPr>
          </a:p>
          <a:p>
            <a:pPr algn="ctr"/>
            <a:r>
              <a:rPr lang="en-US" dirty="0">
                <a:latin typeface="Calibri" panose="020F0502020204030204" pitchFamily="34" charset="0"/>
                <a:cs typeface="Calibri" panose="020F0502020204030204" pitchFamily="34" charset="0"/>
              </a:rPr>
              <a:t>Power plants use the transmission network of the state transmission utility and the distribution network of the distribution utilities to supply power to the consumers</a:t>
            </a:r>
          </a:p>
        </p:txBody>
      </p:sp>
      <p:sp>
        <p:nvSpPr>
          <p:cNvPr id="11" name="Rectangle: Rounded Corners 10">
            <a:extLst>
              <a:ext uri="{FF2B5EF4-FFF2-40B4-BE49-F238E27FC236}">
                <a16:creationId xmlns:a16="http://schemas.microsoft.com/office/drawing/2014/main" id="{0658DEB7-ABDD-10CD-E234-345E80D71312}"/>
              </a:ext>
            </a:extLst>
          </p:cNvPr>
          <p:cNvSpPr/>
          <p:nvPr/>
        </p:nvSpPr>
        <p:spPr>
          <a:xfrm>
            <a:off x="8010260" y="1748912"/>
            <a:ext cx="3457058" cy="4916118"/>
          </a:xfrm>
          <a:prstGeom prst="roundRect">
            <a:avLst>
              <a:gd name="adj" fmla="val 4979"/>
            </a:avLst>
          </a:prstGeom>
        </p:spPr>
        <p:style>
          <a:lnRef idx="2">
            <a:schemeClr val="dk1"/>
          </a:lnRef>
          <a:fillRef idx="1">
            <a:schemeClr val="lt1"/>
          </a:fillRef>
          <a:effectRef idx="0">
            <a:schemeClr val="dk1"/>
          </a:effectRef>
          <a:fontRef idx="minor">
            <a:schemeClr val="dk1"/>
          </a:fontRef>
        </p:style>
        <p:txBody>
          <a:bodyPr rtlCol="0" anchor="ctr"/>
          <a:lstStyle/>
          <a:p>
            <a:pPr marL="302369" indent="-302369" algn="ctr">
              <a:buAutoNum type="arabicPeriod"/>
            </a:pPr>
            <a:endParaRPr lang="en-US" dirty="0">
              <a:latin typeface="Calibri" panose="020F0502020204030204" pitchFamily="34" charset="0"/>
              <a:cs typeface="Calibri" panose="020F0502020204030204" pitchFamily="34" charset="0"/>
            </a:endParaRPr>
          </a:p>
          <a:p>
            <a:pPr marL="302369" indent="-302369" algn="ctr">
              <a:buAutoNum type="arabicPeriod"/>
            </a:pPr>
            <a:endParaRPr lang="en-US" dirty="0">
              <a:latin typeface="Calibri" panose="020F0502020204030204" pitchFamily="34" charset="0"/>
              <a:cs typeface="Calibri" panose="020F0502020204030204" pitchFamily="34" charset="0"/>
            </a:endParaRPr>
          </a:p>
          <a:p>
            <a:pPr marL="302369" indent="-302369" algn="ctr">
              <a:buAutoNum type="arabicPeriod"/>
            </a:pPr>
            <a:endParaRPr lang="en-US" dirty="0">
              <a:latin typeface="Calibri" panose="020F0502020204030204" pitchFamily="34" charset="0"/>
              <a:cs typeface="Calibri" panose="020F0502020204030204" pitchFamily="34" charset="0"/>
            </a:endParaRPr>
          </a:p>
          <a:p>
            <a:pPr algn="ctr"/>
            <a:endParaRPr lang="en-US" dirty="0">
              <a:latin typeface="Calibri" panose="020F0502020204030204" pitchFamily="34" charset="0"/>
              <a:cs typeface="Calibri" panose="020F0502020204030204" pitchFamily="34" charset="0"/>
            </a:endParaRPr>
          </a:p>
          <a:p>
            <a:pPr algn="ctr"/>
            <a:r>
              <a:rPr lang="en-US" dirty="0">
                <a:latin typeface="Calibri" panose="020F0502020204030204" pitchFamily="34" charset="0"/>
                <a:cs typeface="Calibri" panose="020F0502020204030204" pitchFamily="34" charset="0"/>
              </a:rPr>
              <a:t>The power plant is set up and owned by Winsome Textile Industries Limited</a:t>
            </a:r>
          </a:p>
          <a:p>
            <a:pPr algn="ctr"/>
            <a:endParaRPr lang="en-US" dirty="0">
              <a:latin typeface="Calibri" panose="020F0502020204030204" pitchFamily="34" charset="0"/>
              <a:cs typeface="Calibri" panose="020F0502020204030204" pitchFamily="34" charset="0"/>
            </a:endParaRPr>
          </a:p>
          <a:p>
            <a:pPr algn="ctr"/>
            <a:r>
              <a:rPr lang="en-US" dirty="0">
                <a:latin typeface="Calibri" panose="020F0502020204030204" pitchFamily="34" charset="0"/>
                <a:cs typeface="Calibri" panose="020F0502020204030204" pitchFamily="34" charset="0"/>
              </a:rPr>
              <a:t>Electricity from the power plant is supplied to Winsome’s factory utilizing the existing transmission and distribution network. Nearly 1/3</a:t>
            </a:r>
            <a:r>
              <a:rPr lang="en-US" baseline="30000" dirty="0">
                <a:latin typeface="Calibri" panose="020F0502020204030204" pitchFamily="34" charset="0"/>
                <a:cs typeface="Calibri" panose="020F0502020204030204" pitchFamily="34" charset="0"/>
              </a:rPr>
              <a:t>rd</a:t>
            </a:r>
            <a:r>
              <a:rPr lang="en-US" dirty="0">
                <a:latin typeface="Calibri" panose="020F0502020204030204" pitchFamily="34" charset="0"/>
                <a:cs typeface="Calibri" panose="020F0502020204030204" pitchFamily="34" charset="0"/>
              </a:rPr>
              <a:t> of factory’s electricity requirement is met from the power plant.</a:t>
            </a:r>
          </a:p>
        </p:txBody>
      </p:sp>
      <p:sp>
        <p:nvSpPr>
          <p:cNvPr id="12" name="Rectangle: Rounded Corners 11">
            <a:extLst>
              <a:ext uri="{FF2B5EF4-FFF2-40B4-BE49-F238E27FC236}">
                <a16:creationId xmlns:a16="http://schemas.microsoft.com/office/drawing/2014/main" id="{82023959-9B3D-CCB5-FF31-EA987D3A91E4}"/>
              </a:ext>
            </a:extLst>
          </p:cNvPr>
          <p:cNvSpPr/>
          <p:nvPr/>
        </p:nvSpPr>
        <p:spPr>
          <a:xfrm>
            <a:off x="618377" y="1728279"/>
            <a:ext cx="3466582" cy="1066641"/>
          </a:xfrm>
          <a:prstGeom prst="roundRect">
            <a:avLst/>
          </a:prstGeom>
          <a:solidFill>
            <a:schemeClr val="accent1">
              <a:lumMod val="75000"/>
            </a:schemeClr>
          </a:solidFill>
          <a:ln>
            <a:solidFill>
              <a:schemeClr val="accent5"/>
            </a:solidFill>
          </a:ln>
          <a:scene3d>
            <a:camera prst="orthographicFront"/>
            <a:lightRig rig="threePt" dir="t"/>
          </a:scene3d>
          <a:sp3d>
            <a:bevelT w="165100" prst="coolSlant"/>
          </a:sp3d>
        </p:spPr>
        <p:style>
          <a:lnRef idx="2">
            <a:schemeClr val="accent2"/>
          </a:lnRef>
          <a:fillRef idx="1">
            <a:schemeClr val="lt1"/>
          </a:fillRef>
          <a:effectRef idx="0">
            <a:schemeClr val="accent2"/>
          </a:effectRef>
          <a:fontRef idx="minor">
            <a:schemeClr val="dk1"/>
          </a:fontRef>
        </p:style>
        <p:txBody>
          <a:bodyPr rtlCol="0" anchor="ctr"/>
          <a:lstStyle/>
          <a:p>
            <a:pPr algn="ctr"/>
            <a:r>
              <a:rPr lang="en-US" sz="1852" b="1" dirty="0">
                <a:solidFill>
                  <a:schemeClr val="bg1"/>
                </a:solidFill>
              </a:rPr>
              <a:t>86 MW HPP of Malana Power Company (Statkraft), Himachal Pradesh</a:t>
            </a:r>
          </a:p>
        </p:txBody>
      </p:sp>
      <p:sp>
        <p:nvSpPr>
          <p:cNvPr id="13" name="Rectangle: Rounded Corners 12">
            <a:extLst>
              <a:ext uri="{FF2B5EF4-FFF2-40B4-BE49-F238E27FC236}">
                <a16:creationId xmlns:a16="http://schemas.microsoft.com/office/drawing/2014/main" id="{8CBEB8D6-2995-89F9-5A2F-D5C7431D448D}"/>
              </a:ext>
            </a:extLst>
          </p:cNvPr>
          <p:cNvSpPr/>
          <p:nvPr/>
        </p:nvSpPr>
        <p:spPr>
          <a:xfrm>
            <a:off x="4334159" y="1728279"/>
            <a:ext cx="3466582" cy="1066641"/>
          </a:xfrm>
          <a:prstGeom prst="roundRect">
            <a:avLst/>
          </a:prstGeom>
          <a:solidFill>
            <a:schemeClr val="accent1">
              <a:lumMod val="75000"/>
            </a:schemeClr>
          </a:solidFill>
          <a:ln>
            <a:solidFill>
              <a:schemeClr val="accent5"/>
            </a:solidFill>
          </a:ln>
          <a:scene3d>
            <a:camera prst="orthographicFront"/>
            <a:lightRig rig="threePt" dir="t"/>
          </a:scene3d>
          <a:sp3d>
            <a:bevelT w="165100" prst="coolSlant"/>
          </a:sp3d>
        </p:spPr>
        <p:style>
          <a:lnRef idx="2">
            <a:schemeClr val="accent2"/>
          </a:lnRef>
          <a:fillRef idx="1">
            <a:schemeClr val="lt1"/>
          </a:fillRef>
          <a:effectRef idx="0">
            <a:schemeClr val="accent2"/>
          </a:effectRef>
          <a:fontRef idx="minor">
            <a:schemeClr val="dk1"/>
          </a:fontRef>
        </p:style>
        <p:txBody>
          <a:bodyPr rtlCol="0" anchor="ctr"/>
          <a:lstStyle/>
          <a:p>
            <a:pPr algn="ctr"/>
            <a:r>
              <a:rPr lang="en-US" sz="1852" b="1" dirty="0">
                <a:solidFill>
                  <a:schemeClr val="bg1"/>
                </a:solidFill>
              </a:rPr>
              <a:t>Mini Hydro Power Plants in Karnataka</a:t>
            </a:r>
          </a:p>
        </p:txBody>
      </p:sp>
      <p:sp>
        <p:nvSpPr>
          <p:cNvPr id="14" name="Rectangle: Rounded Corners 13">
            <a:extLst>
              <a:ext uri="{FF2B5EF4-FFF2-40B4-BE49-F238E27FC236}">
                <a16:creationId xmlns:a16="http://schemas.microsoft.com/office/drawing/2014/main" id="{D66AF5D0-94A1-86BD-0E1E-E1034C92DAA5}"/>
              </a:ext>
            </a:extLst>
          </p:cNvPr>
          <p:cNvSpPr/>
          <p:nvPr/>
        </p:nvSpPr>
        <p:spPr>
          <a:xfrm>
            <a:off x="8000736" y="1748914"/>
            <a:ext cx="3466582" cy="1066641"/>
          </a:xfrm>
          <a:prstGeom prst="roundRect">
            <a:avLst/>
          </a:prstGeom>
          <a:solidFill>
            <a:schemeClr val="accent1">
              <a:lumMod val="75000"/>
            </a:schemeClr>
          </a:solidFill>
          <a:ln>
            <a:solidFill>
              <a:schemeClr val="accent5"/>
            </a:solidFill>
          </a:ln>
          <a:scene3d>
            <a:camera prst="orthographicFront"/>
            <a:lightRig rig="threePt" dir="t"/>
          </a:scene3d>
          <a:sp3d>
            <a:bevelT w="165100" prst="coolSlant"/>
          </a:sp3d>
        </p:spPr>
        <p:style>
          <a:lnRef idx="2">
            <a:schemeClr val="accent2"/>
          </a:lnRef>
          <a:fillRef idx="1">
            <a:schemeClr val="lt1"/>
          </a:fillRef>
          <a:effectRef idx="0">
            <a:schemeClr val="accent2"/>
          </a:effectRef>
          <a:fontRef idx="minor">
            <a:schemeClr val="dk1"/>
          </a:fontRef>
        </p:style>
        <p:txBody>
          <a:bodyPr rtlCol="0" anchor="ctr"/>
          <a:lstStyle/>
          <a:p>
            <a:pPr algn="ctr"/>
            <a:r>
              <a:rPr lang="en-US" sz="1852" b="1" dirty="0">
                <a:solidFill>
                  <a:schemeClr val="bg1"/>
                </a:solidFill>
              </a:rPr>
              <a:t>3.5 MW Manuni HPP,  Himachal Pradesh</a:t>
            </a:r>
          </a:p>
        </p:txBody>
      </p:sp>
      <p:sp>
        <p:nvSpPr>
          <p:cNvPr id="16" name="TextBox 15">
            <a:extLst>
              <a:ext uri="{FF2B5EF4-FFF2-40B4-BE49-F238E27FC236}">
                <a16:creationId xmlns:a16="http://schemas.microsoft.com/office/drawing/2014/main" id="{DBC189DE-880E-A840-A409-C31FF215C472}"/>
              </a:ext>
            </a:extLst>
          </p:cNvPr>
          <p:cNvSpPr txBox="1"/>
          <p:nvPr/>
        </p:nvSpPr>
        <p:spPr>
          <a:xfrm>
            <a:off x="618377" y="918049"/>
            <a:ext cx="10755314" cy="769441"/>
          </a:xfrm>
          <a:prstGeom prst="rect">
            <a:avLst/>
          </a:prstGeom>
          <a:noFill/>
        </p:spPr>
        <p:txBody>
          <a:bodyPr wrap="square">
            <a:spAutoFit/>
          </a:bodyPr>
          <a:lstStyle/>
          <a:p>
            <a:r>
              <a:rPr lang="en-US" sz="2200" i="1" dirty="0">
                <a:latin typeface="Calibri" panose="020F0502020204030204" pitchFamily="34" charset="0"/>
                <a:cs typeface="Calibri" panose="020F0502020204030204" pitchFamily="34" charset="0"/>
              </a:rPr>
              <a:t>While examples of hydropower are highlighted below, there is a larger market of open access based solar and wind power suppliers</a:t>
            </a:r>
          </a:p>
        </p:txBody>
      </p:sp>
      <p:pic>
        <p:nvPicPr>
          <p:cNvPr id="18" name="Picture 17">
            <a:extLst>
              <a:ext uri="{FF2B5EF4-FFF2-40B4-BE49-F238E27FC236}">
                <a16:creationId xmlns:a16="http://schemas.microsoft.com/office/drawing/2014/main" id="{2FA6861F-D85D-629F-6713-8474C5005F35}"/>
              </a:ext>
            </a:extLst>
          </p:cNvPr>
          <p:cNvPicPr>
            <a:picLocks noChangeAspect="1"/>
          </p:cNvPicPr>
          <p:nvPr/>
        </p:nvPicPr>
        <p:blipFill>
          <a:blip r:embed="rId5"/>
          <a:stretch>
            <a:fillRect/>
          </a:stretch>
        </p:blipFill>
        <p:spPr>
          <a:xfrm>
            <a:off x="10726063" y="402587"/>
            <a:ext cx="878522" cy="566928"/>
          </a:xfrm>
          <a:prstGeom prst="rect">
            <a:avLst/>
          </a:prstGeom>
        </p:spPr>
      </p:pic>
    </p:spTree>
    <p:extLst>
      <p:ext uri="{BB962C8B-B14F-4D97-AF65-F5344CB8AC3E}">
        <p14:creationId xmlns:p14="http://schemas.microsoft.com/office/powerpoint/2010/main" val="23264785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4F8F7-2440-3B3E-C723-7B138449722F}"/>
            </a:ext>
          </a:extLst>
        </p:cNvPr>
        <p:cNvGrpSpPr/>
        <p:nvPr/>
      </p:nvGrpSpPr>
      <p:grpSpPr>
        <a:xfrm>
          <a:off x="0" y="0"/>
          <a:ext cx="0" cy="0"/>
          <a:chOff x="0" y="0"/>
          <a:chExt cx="0" cy="0"/>
        </a:xfrm>
      </p:grpSpPr>
      <p:graphicFrame>
        <p:nvGraphicFramePr>
          <p:cNvPr id="87" name="think-cell data - do not delete" hidden="1">
            <a:extLst>
              <a:ext uri="{FF2B5EF4-FFF2-40B4-BE49-F238E27FC236}">
                <a16:creationId xmlns:a16="http://schemas.microsoft.com/office/drawing/2014/main" id="{EFE157D6-9FCC-6C73-F38F-1D5EC02E6894}"/>
              </a:ext>
            </a:extLst>
          </p:cNvPr>
          <p:cNvGraphicFramePr>
            <a:graphicFrameLocks noChangeAspect="1"/>
          </p:cNvGraphicFramePr>
          <p:nvPr>
            <p:custDataLst>
              <p:tags r:id="rId1"/>
            </p:custDataLst>
            <p:extLst>
              <p:ext uri="{D42A27DB-BD31-4B8C-83A1-F6EECF244321}">
                <p14:modId xmlns:p14="http://schemas.microsoft.com/office/powerpoint/2010/main" val="31172958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87" name="think-cell data - do not delete" hidden="1">
                        <a:extLst>
                          <a:ext uri="{FF2B5EF4-FFF2-40B4-BE49-F238E27FC236}">
                            <a16:creationId xmlns:a16="http://schemas.microsoft.com/office/drawing/2014/main" id="{F94B6CDF-D7B4-D07A-B400-9BBB56D6BBD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0" name="Title 2">
            <a:extLst>
              <a:ext uri="{FF2B5EF4-FFF2-40B4-BE49-F238E27FC236}">
                <a16:creationId xmlns:a16="http://schemas.microsoft.com/office/drawing/2014/main" id="{5AF26C3A-8646-30D4-16CC-59A419DE8A66}"/>
              </a:ext>
            </a:extLst>
          </p:cNvPr>
          <p:cNvSpPr>
            <a:spLocks noGrp="1"/>
          </p:cNvSpPr>
          <p:nvPr>
            <p:ph type="title"/>
          </p:nvPr>
        </p:nvSpPr>
        <p:spPr>
          <a:xfrm>
            <a:off x="469902" y="402587"/>
            <a:ext cx="11252200" cy="334102"/>
          </a:xfrm>
        </p:spPr>
        <p:txBody>
          <a:bodyPr vert="horz">
            <a:noAutofit/>
          </a:bodyPr>
          <a:lstStyle/>
          <a:p>
            <a:r>
              <a:rPr lang="en-US" sz="2800" b="1" dirty="0">
                <a:latin typeface="Calibri" panose="020F0502020204030204" pitchFamily="34" charset="0"/>
                <a:cs typeface="Calibri" panose="020F0502020204030204" pitchFamily="34" charset="0"/>
              </a:rPr>
              <a:t>Evolution of Regional Energy Cooperation, Cross Border Electricity Trade</a:t>
            </a:r>
          </a:p>
        </p:txBody>
      </p:sp>
      <p:pic>
        <p:nvPicPr>
          <p:cNvPr id="6" name="Picture 5">
            <a:extLst>
              <a:ext uri="{FF2B5EF4-FFF2-40B4-BE49-F238E27FC236}">
                <a16:creationId xmlns:a16="http://schemas.microsoft.com/office/drawing/2014/main" id="{91ADE977-6DC8-D7EF-C318-B1E1A92FE8D8}"/>
              </a:ext>
            </a:extLst>
          </p:cNvPr>
          <p:cNvPicPr>
            <a:picLocks noChangeAspect="1"/>
          </p:cNvPicPr>
          <p:nvPr/>
        </p:nvPicPr>
        <p:blipFill>
          <a:blip r:embed="rId5"/>
          <a:stretch>
            <a:fillRect/>
          </a:stretch>
        </p:blipFill>
        <p:spPr>
          <a:xfrm>
            <a:off x="469902" y="1262790"/>
            <a:ext cx="11082727" cy="5299118"/>
          </a:xfrm>
          <a:prstGeom prst="rect">
            <a:avLst/>
          </a:prstGeom>
        </p:spPr>
      </p:pic>
      <p:sp>
        <p:nvSpPr>
          <p:cNvPr id="19" name="TextBox 18">
            <a:extLst>
              <a:ext uri="{FF2B5EF4-FFF2-40B4-BE49-F238E27FC236}">
                <a16:creationId xmlns:a16="http://schemas.microsoft.com/office/drawing/2014/main" id="{4EADDC9F-93E0-394C-810A-D09D23BC86CC}"/>
              </a:ext>
            </a:extLst>
          </p:cNvPr>
          <p:cNvSpPr txBox="1"/>
          <p:nvPr/>
        </p:nvSpPr>
        <p:spPr>
          <a:xfrm>
            <a:off x="469902" y="893458"/>
            <a:ext cx="6098058" cy="369332"/>
          </a:xfrm>
          <a:prstGeom prst="rect">
            <a:avLst/>
          </a:prstGeom>
          <a:noFill/>
        </p:spPr>
        <p:txBody>
          <a:bodyPr wrap="square">
            <a:spAutoFit/>
          </a:bodyPr>
          <a:lstStyle/>
          <a:p>
            <a:r>
              <a:rPr lang="en-US" dirty="0"/>
              <a:t>Political, Policy &amp; Regulatory Initiative</a:t>
            </a:r>
          </a:p>
        </p:txBody>
      </p:sp>
    </p:spTree>
    <p:extLst>
      <p:ext uri="{BB962C8B-B14F-4D97-AF65-F5344CB8AC3E}">
        <p14:creationId xmlns:p14="http://schemas.microsoft.com/office/powerpoint/2010/main" val="31762018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FBF54-2E06-D245-F646-69FDB0AE4AA9}"/>
            </a:ext>
          </a:extLst>
        </p:cNvPr>
        <p:cNvGrpSpPr/>
        <p:nvPr/>
      </p:nvGrpSpPr>
      <p:grpSpPr>
        <a:xfrm>
          <a:off x="0" y="0"/>
          <a:ext cx="0" cy="0"/>
          <a:chOff x="0" y="0"/>
          <a:chExt cx="0" cy="0"/>
        </a:xfrm>
      </p:grpSpPr>
      <p:graphicFrame>
        <p:nvGraphicFramePr>
          <p:cNvPr id="87" name="think-cell data - do not delete" hidden="1">
            <a:extLst>
              <a:ext uri="{FF2B5EF4-FFF2-40B4-BE49-F238E27FC236}">
                <a16:creationId xmlns:a16="http://schemas.microsoft.com/office/drawing/2014/main" id="{3403E5F0-78C3-BE7A-1107-D2F140F1EA3D}"/>
              </a:ext>
            </a:extLst>
          </p:cNvPr>
          <p:cNvGraphicFramePr>
            <a:graphicFrameLocks noChangeAspect="1"/>
          </p:cNvGraphicFramePr>
          <p:nvPr>
            <p:custDataLst>
              <p:tags r:id="rId1"/>
            </p:custDataLst>
            <p:extLst>
              <p:ext uri="{D42A27DB-BD31-4B8C-83A1-F6EECF244321}">
                <p14:modId xmlns:p14="http://schemas.microsoft.com/office/powerpoint/2010/main" val="6952524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87" name="think-cell data - do not delete" hidden="1">
                        <a:extLst>
                          <a:ext uri="{FF2B5EF4-FFF2-40B4-BE49-F238E27FC236}">
                            <a16:creationId xmlns:a16="http://schemas.microsoft.com/office/drawing/2014/main" id="{1020FF40-6274-A400-A3A3-A64817CA3B6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0" name="Title 2">
            <a:extLst>
              <a:ext uri="{FF2B5EF4-FFF2-40B4-BE49-F238E27FC236}">
                <a16:creationId xmlns:a16="http://schemas.microsoft.com/office/drawing/2014/main" id="{1FF3172F-AFC6-37CA-1252-9C08DBBB70A5}"/>
              </a:ext>
            </a:extLst>
          </p:cNvPr>
          <p:cNvSpPr>
            <a:spLocks noGrp="1"/>
          </p:cNvSpPr>
          <p:nvPr>
            <p:ph type="title"/>
          </p:nvPr>
        </p:nvSpPr>
        <p:spPr>
          <a:xfrm>
            <a:off x="469902" y="402587"/>
            <a:ext cx="11252200" cy="334102"/>
          </a:xfrm>
        </p:spPr>
        <p:txBody>
          <a:bodyPr vert="horz">
            <a:noAutofit/>
          </a:bodyPr>
          <a:lstStyle/>
          <a:p>
            <a:r>
              <a:rPr lang="en-US" sz="2800" b="1" dirty="0">
                <a:latin typeface="Calibri" panose="020F0502020204030204" pitchFamily="34" charset="0"/>
                <a:cs typeface="Calibri" panose="020F0502020204030204" pitchFamily="34" charset="0"/>
              </a:rPr>
              <a:t>Other Examples of Open Access - USA</a:t>
            </a:r>
          </a:p>
        </p:txBody>
      </p:sp>
      <p:sp>
        <p:nvSpPr>
          <p:cNvPr id="4" name="TextBox 3">
            <a:extLst>
              <a:ext uri="{FF2B5EF4-FFF2-40B4-BE49-F238E27FC236}">
                <a16:creationId xmlns:a16="http://schemas.microsoft.com/office/drawing/2014/main" id="{9352E822-6EB6-079B-5B99-A6DE7128348B}"/>
              </a:ext>
            </a:extLst>
          </p:cNvPr>
          <p:cNvSpPr txBox="1"/>
          <p:nvPr/>
        </p:nvSpPr>
        <p:spPr>
          <a:xfrm>
            <a:off x="469902" y="1000312"/>
            <a:ext cx="11252200" cy="769441"/>
          </a:xfrm>
          <a:prstGeom prst="rect">
            <a:avLst/>
          </a:prstGeom>
          <a:noFill/>
        </p:spPr>
        <p:txBody>
          <a:bodyPr wrap="square">
            <a:spAutoFit/>
          </a:bodyPr>
          <a:lstStyle/>
          <a:p>
            <a:r>
              <a:rPr lang="en-US" sz="2200" i="1">
                <a:latin typeface="Calibri" panose="020F0502020204030204" pitchFamily="34" charset="0"/>
                <a:cs typeface="Calibri" panose="020F0502020204030204" pitchFamily="34" charset="0"/>
              </a:rPr>
              <a:t>In USA, while open access in earlier years drove wholesale market development, more recently, it has also supported large corporate RE procurement</a:t>
            </a:r>
            <a:endParaRPr lang="en-US" sz="2200" i="1"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AD1B8EFC-6964-3894-4E48-2DB647478CE0}"/>
              </a:ext>
            </a:extLst>
          </p:cNvPr>
          <p:cNvSpPr txBox="1"/>
          <p:nvPr/>
        </p:nvSpPr>
        <p:spPr>
          <a:xfrm>
            <a:off x="563527" y="2033376"/>
            <a:ext cx="10909004" cy="3754874"/>
          </a:xfrm>
          <a:prstGeom prst="rect">
            <a:avLst/>
          </a:prstGeom>
          <a:solidFill>
            <a:srgbClr val="E7F7E1"/>
          </a:solidFill>
        </p:spPr>
        <p:txBody>
          <a:bodyPr wrap="square">
            <a:spAutoFit/>
          </a:bodyPr>
          <a:lstStyle/>
          <a:p>
            <a:pPr marL="486409" indent="-230504">
              <a:lnSpc>
                <a:spcPct val="100000"/>
              </a:lnSpc>
              <a:spcBef>
                <a:spcPts val="1060"/>
              </a:spcBef>
              <a:buFont typeface="Arial"/>
              <a:buChar char="•"/>
              <a:tabLst>
                <a:tab pos="486409" algn="l"/>
              </a:tabLst>
            </a:pPr>
            <a:r>
              <a:rPr lang="en-US" dirty="0">
                <a:latin typeface="Calibri" panose="020F0502020204030204" pitchFamily="34" charset="0"/>
                <a:cs typeface="Calibri" panose="020F0502020204030204" pitchFamily="34" charset="0"/>
              </a:rPr>
              <a:t>In</a:t>
            </a:r>
            <a:r>
              <a:rPr lang="en-US" spc="-35" dirty="0">
                <a:latin typeface="Calibri" panose="020F0502020204030204" pitchFamily="34" charset="0"/>
                <a:cs typeface="Calibri" panose="020F0502020204030204" pitchFamily="34" charset="0"/>
              </a:rPr>
              <a:t> </a:t>
            </a:r>
            <a:r>
              <a:rPr lang="en-US" spc="-10" dirty="0">
                <a:latin typeface="Calibri" panose="020F0502020204030204" pitchFamily="34" charset="0"/>
                <a:cs typeface="Calibri" panose="020F0502020204030204" pitchFamily="34" charset="0"/>
              </a:rPr>
              <a:t>USA,</a:t>
            </a:r>
            <a:r>
              <a:rPr lang="en-US" spc="-15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the</a:t>
            </a:r>
            <a:r>
              <a:rPr lang="en-US" spc="-4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core</a:t>
            </a:r>
            <a:r>
              <a:rPr lang="en-US" spc="-30" dirty="0">
                <a:latin typeface="Calibri" panose="020F0502020204030204" pitchFamily="34" charset="0"/>
                <a:cs typeface="Calibri" panose="020F0502020204030204" pitchFamily="34" charset="0"/>
              </a:rPr>
              <a:t> </a:t>
            </a:r>
            <a:r>
              <a:rPr lang="en-US" spc="-10" dirty="0">
                <a:latin typeface="Calibri" panose="020F0502020204030204" pitchFamily="34" charset="0"/>
                <a:cs typeface="Calibri" panose="020F0502020204030204" pitchFamily="34" charset="0"/>
              </a:rPr>
              <a:t>framework</a:t>
            </a:r>
            <a:r>
              <a:rPr lang="en-US" spc="-3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for</a:t>
            </a:r>
            <a:r>
              <a:rPr lang="en-US" spc="-2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open</a:t>
            </a:r>
            <a:r>
              <a:rPr lang="en-US" spc="-3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access</a:t>
            </a:r>
            <a:r>
              <a:rPr lang="en-US" spc="-3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was</a:t>
            </a:r>
            <a:r>
              <a:rPr lang="en-US" spc="-3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provided</a:t>
            </a:r>
            <a:r>
              <a:rPr lang="en-US" spc="-4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in</a:t>
            </a:r>
            <a:r>
              <a:rPr lang="en-US" spc="-2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two</a:t>
            </a:r>
            <a:r>
              <a:rPr lang="en-US" spc="-2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orders</a:t>
            </a:r>
            <a:r>
              <a:rPr lang="en-US" spc="-4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of</a:t>
            </a:r>
            <a:r>
              <a:rPr lang="en-US" spc="-3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Federal</a:t>
            </a:r>
            <a:r>
              <a:rPr lang="en-US" spc="-2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Energy</a:t>
            </a:r>
            <a:r>
              <a:rPr lang="en-US" spc="-30" dirty="0">
                <a:latin typeface="Calibri" panose="020F0502020204030204" pitchFamily="34" charset="0"/>
                <a:cs typeface="Calibri" panose="020F0502020204030204" pitchFamily="34" charset="0"/>
              </a:rPr>
              <a:t> </a:t>
            </a:r>
            <a:r>
              <a:rPr lang="en-US" spc="-10" dirty="0">
                <a:latin typeface="Calibri" panose="020F0502020204030204" pitchFamily="34" charset="0"/>
                <a:cs typeface="Calibri" panose="020F0502020204030204" pitchFamily="34" charset="0"/>
              </a:rPr>
              <a:t>Regulatory</a:t>
            </a:r>
            <a:endParaRPr lang="en-US" dirty="0">
              <a:latin typeface="Calibri" panose="020F0502020204030204" pitchFamily="34" charset="0"/>
              <a:cs typeface="Calibri" panose="020F0502020204030204" pitchFamily="34" charset="0"/>
            </a:endParaRPr>
          </a:p>
          <a:p>
            <a:pPr marL="486409">
              <a:lnSpc>
                <a:spcPct val="100000"/>
              </a:lnSpc>
            </a:pPr>
            <a:r>
              <a:rPr lang="en-US" dirty="0">
                <a:latin typeface="Calibri" panose="020F0502020204030204" pitchFamily="34" charset="0"/>
                <a:cs typeface="Calibri" panose="020F0502020204030204" pitchFamily="34" charset="0"/>
              </a:rPr>
              <a:t>Commission</a:t>
            </a:r>
            <a:r>
              <a:rPr lang="en-US" spc="-5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(FERC)</a:t>
            </a:r>
            <a:r>
              <a:rPr lang="en-US" spc="-4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issued</a:t>
            </a:r>
            <a:r>
              <a:rPr lang="en-US" spc="-3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in</a:t>
            </a:r>
            <a:r>
              <a:rPr lang="en-US" spc="-25" dirty="0">
                <a:latin typeface="Calibri" panose="020F0502020204030204" pitchFamily="34" charset="0"/>
                <a:cs typeface="Calibri" panose="020F0502020204030204" pitchFamily="34" charset="0"/>
              </a:rPr>
              <a:t> </a:t>
            </a:r>
            <a:r>
              <a:rPr lang="en-US" spc="-20" dirty="0">
                <a:latin typeface="Calibri" panose="020F0502020204030204" pitchFamily="34" charset="0"/>
                <a:cs typeface="Calibri" panose="020F0502020204030204" pitchFamily="34" charset="0"/>
              </a:rPr>
              <a:t>1996</a:t>
            </a:r>
            <a:endParaRPr lang="en-US" dirty="0">
              <a:latin typeface="Calibri" panose="020F0502020204030204" pitchFamily="34" charset="0"/>
              <a:cs typeface="Calibri" panose="020F0502020204030204" pitchFamily="34" charset="0"/>
            </a:endParaRPr>
          </a:p>
          <a:p>
            <a:pPr marL="486409" marR="90805" indent="-230504">
              <a:lnSpc>
                <a:spcPct val="100000"/>
              </a:lnSpc>
              <a:spcBef>
                <a:spcPts val="805"/>
              </a:spcBef>
              <a:buFont typeface="Arial"/>
              <a:buChar char="•"/>
              <a:tabLst>
                <a:tab pos="486409" algn="l"/>
              </a:tabLst>
            </a:pPr>
            <a:r>
              <a:rPr lang="en-US" dirty="0">
                <a:latin typeface="Calibri" panose="020F0502020204030204" pitchFamily="34" charset="0"/>
                <a:cs typeface="Calibri" panose="020F0502020204030204" pitchFamily="34" charset="0"/>
              </a:rPr>
              <a:t>Order</a:t>
            </a:r>
            <a:r>
              <a:rPr lang="en-US" spc="-4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888</a:t>
            </a:r>
            <a:r>
              <a:rPr lang="en-US" spc="-5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laid</a:t>
            </a:r>
            <a:r>
              <a:rPr lang="en-US" spc="-2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the</a:t>
            </a:r>
            <a:r>
              <a:rPr lang="en-US" spc="-3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foundation</a:t>
            </a:r>
            <a:r>
              <a:rPr lang="en-US" spc="-6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of</a:t>
            </a:r>
            <a:r>
              <a:rPr lang="en-US" spc="-3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transmission</a:t>
            </a:r>
            <a:r>
              <a:rPr lang="en-US" spc="-5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OA</a:t>
            </a:r>
            <a:r>
              <a:rPr lang="en-US" spc="-3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for</a:t>
            </a:r>
            <a:r>
              <a:rPr lang="en-US" spc="-2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generators</a:t>
            </a:r>
            <a:r>
              <a:rPr lang="en-US" spc="-4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in</a:t>
            </a:r>
            <a:r>
              <a:rPr lang="en-US" spc="-3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the</a:t>
            </a:r>
            <a:r>
              <a:rPr lang="en-US" spc="-25" dirty="0">
                <a:latin typeface="Calibri" panose="020F0502020204030204" pitchFamily="34" charset="0"/>
                <a:cs typeface="Calibri" panose="020F0502020204030204" pitchFamily="34" charset="0"/>
              </a:rPr>
              <a:t> </a:t>
            </a:r>
            <a:r>
              <a:rPr lang="en-US" spc="-10" dirty="0">
                <a:latin typeface="Calibri" panose="020F0502020204030204" pitchFamily="34" charset="0"/>
                <a:cs typeface="Calibri" panose="020F0502020204030204" pitchFamily="34" charset="0"/>
              </a:rPr>
              <a:t>USA.</a:t>
            </a:r>
            <a:r>
              <a:rPr lang="en-US" spc="-16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Order</a:t>
            </a:r>
            <a:r>
              <a:rPr lang="en-US" spc="-3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888</a:t>
            </a:r>
            <a:r>
              <a:rPr lang="en-US" spc="-50" dirty="0">
                <a:latin typeface="Calibri" panose="020F0502020204030204" pitchFamily="34" charset="0"/>
                <a:cs typeface="Calibri" panose="020F0502020204030204" pitchFamily="34" charset="0"/>
              </a:rPr>
              <a:t> </a:t>
            </a:r>
            <a:r>
              <a:rPr lang="en-US" spc="-10" dirty="0">
                <a:latin typeface="Calibri" panose="020F0502020204030204" pitchFamily="34" charset="0"/>
                <a:cs typeface="Calibri" panose="020F0502020204030204" pitchFamily="34" charset="0"/>
              </a:rPr>
              <a:t>required </a:t>
            </a:r>
            <a:r>
              <a:rPr lang="en-US" dirty="0">
                <a:latin typeface="Calibri" panose="020F0502020204030204" pitchFamily="34" charset="0"/>
                <a:cs typeface="Calibri" panose="020F0502020204030204" pitchFamily="34" charset="0"/>
              </a:rPr>
              <a:t>utilities</a:t>
            </a:r>
            <a:r>
              <a:rPr lang="en-US" spc="-4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to</a:t>
            </a:r>
            <a:r>
              <a:rPr lang="en-US" spc="-3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unbundle</a:t>
            </a:r>
            <a:r>
              <a:rPr lang="en-US" spc="-4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their</a:t>
            </a:r>
            <a:r>
              <a:rPr lang="en-US" spc="-3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transmission</a:t>
            </a:r>
            <a:r>
              <a:rPr lang="en-US" spc="-5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function</a:t>
            </a:r>
            <a:r>
              <a:rPr lang="en-US" spc="-4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and</a:t>
            </a:r>
            <a:r>
              <a:rPr lang="en-US" spc="-3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provide</a:t>
            </a:r>
            <a:r>
              <a:rPr lang="en-US" spc="-3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OA</a:t>
            </a:r>
            <a:r>
              <a:rPr lang="en-US" spc="-2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to</a:t>
            </a:r>
            <a:r>
              <a:rPr lang="en-US" spc="-1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their</a:t>
            </a:r>
            <a:r>
              <a:rPr lang="en-US" spc="-3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transmission</a:t>
            </a:r>
            <a:r>
              <a:rPr lang="en-US" spc="-55" dirty="0">
                <a:latin typeface="Calibri" panose="020F0502020204030204" pitchFamily="34" charset="0"/>
                <a:cs typeface="Calibri" panose="020F0502020204030204" pitchFamily="34" charset="0"/>
              </a:rPr>
              <a:t> </a:t>
            </a:r>
            <a:r>
              <a:rPr lang="en-US" spc="-25" dirty="0">
                <a:latin typeface="Calibri" panose="020F0502020204030204" pitchFamily="34" charset="0"/>
                <a:cs typeface="Calibri" panose="020F0502020204030204" pitchFamily="34" charset="0"/>
              </a:rPr>
              <a:t>facility.</a:t>
            </a:r>
            <a:r>
              <a:rPr lang="en-US" spc="-14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Order</a:t>
            </a:r>
            <a:r>
              <a:rPr lang="en-US" spc="-20" dirty="0">
                <a:latin typeface="Calibri" panose="020F0502020204030204" pitchFamily="34" charset="0"/>
                <a:cs typeface="Calibri" panose="020F0502020204030204" pitchFamily="34" charset="0"/>
              </a:rPr>
              <a:t> </a:t>
            </a:r>
            <a:r>
              <a:rPr lang="en-US" spc="-25" dirty="0">
                <a:latin typeface="Calibri" panose="020F0502020204030204" pitchFamily="34" charset="0"/>
                <a:cs typeface="Calibri" panose="020F0502020204030204" pitchFamily="34" charset="0"/>
              </a:rPr>
              <a:t>889 </a:t>
            </a:r>
            <a:r>
              <a:rPr lang="en-US" dirty="0">
                <a:latin typeface="Calibri" panose="020F0502020204030204" pitchFamily="34" charset="0"/>
                <a:cs typeface="Calibri" panose="020F0502020204030204" pitchFamily="34" charset="0"/>
              </a:rPr>
              <a:t>established</a:t>
            </a:r>
            <a:r>
              <a:rPr lang="en-US" spc="-5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Open</a:t>
            </a:r>
            <a:r>
              <a:rPr lang="en-US" spc="-15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Access</a:t>
            </a:r>
            <a:r>
              <a:rPr lang="en-US" spc="-1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Same-Time</a:t>
            </a:r>
            <a:r>
              <a:rPr lang="en-US" spc="-5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Information</a:t>
            </a:r>
            <a:r>
              <a:rPr lang="en-US" spc="-4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System</a:t>
            </a:r>
            <a:r>
              <a:rPr lang="en-US" spc="-50" dirty="0">
                <a:latin typeface="Calibri" panose="020F0502020204030204" pitchFamily="34" charset="0"/>
                <a:cs typeface="Calibri" panose="020F0502020204030204" pitchFamily="34" charset="0"/>
              </a:rPr>
              <a:t> </a:t>
            </a:r>
            <a:r>
              <a:rPr lang="en-US" spc="-10" dirty="0">
                <a:latin typeface="Calibri" panose="020F0502020204030204" pitchFamily="34" charset="0"/>
                <a:cs typeface="Calibri" panose="020F0502020204030204" pitchFamily="34" charset="0"/>
              </a:rPr>
              <a:t>(OASIS)</a:t>
            </a:r>
            <a:r>
              <a:rPr lang="en-US" spc="-4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and</a:t>
            </a:r>
            <a:r>
              <a:rPr lang="en-US" spc="-2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set</a:t>
            </a:r>
            <a:r>
              <a:rPr lang="en-US" spc="-2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standards</a:t>
            </a:r>
            <a:r>
              <a:rPr lang="en-US" spc="-3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on</a:t>
            </a:r>
            <a:r>
              <a:rPr lang="en-US" spc="-3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how</a:t>
            </a:r>
            <a:r>
              <a:rPr lang="en-US" spc="-30" dirty="0">
                <a:latin typeface="Calibri" panose="020F0502020204030204" pitchFamily="34" charset="0"/>
                <a:cs typeface="Calibri" panose="020F0502020204030204" pitchFamily="34" charset="0"/>
              </a:rPr>
              <a:t> </a:t>
            </a:r>
            <a:r>
              <a:rPr lang="en-US" spc="-10" dirty="0">
                <a:latin typeface="Calibri" panose="020F0502020204030204" pitchFamily="34" charset="0"/>
                <a:cs typeface="Calibri" panose="020F0502020204030204" pitchFamily="34" charset="0"/>
              </a:rPr>
              <a:t>customers </a:t>
            </a:r>
            <a:r>
              <a:rPr lang="en-US" dirty="0">
                <a:latin typeface="Calibri" panose="020F0502020204030204" pitchFamily="34" charset="0"/>
                <a:cs typeface="Calibri" panose="020F0502020204030204" pitchFamily="34" charset="0"/>
              </a:rPr>
              <a:t>and</a:t>
            </a:r>
            <a:r>
              <a:rPr lang="en-US" spc="-4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utilities</a:t>
            </a:r>
            <a:r>
              <a:rPr lang="en-US" spc="-4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would</a:t>
            </a:r>
            <a:r>
              <a:rPr lang="en-US" spc="-3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share</a:t>
            </a:r>
            <a:r>
              <a:rPr lang="en-US" spc="-45" dirty="0">
                <a:latin typeface="Calibri" panose="020F0502020204030204" pitchFamily="34" charset="0"/>
                <a:cs typeface="Calibri" panose="020F0502020204030204" pitchFamily="34" charset="0"/>
              </a:rPr>
              <a:t> </a:t>
            </a:r>
            <a:r>
              <a:rPr lang="en-US" spc="-10" dirty="0">
                <a:latin typeface="Calibri" panose="020F0502020204030204" pitchFamily="34" charset="0"/>
                <a:cs typeface="Calibri" panose="020F0502020204030204" pitchFamily="34" charset="0"/>
              </a:rPr>
              <a:t>information</a:t>
            </a:r>
            <a:r>
              <a:rPr lang="en-US" spc="-6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regarding</a:t>
            </a:r>
            <a:r>
              <a:rPr lang="en-US" spc="-4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transmission</a:t>
            </a:r>
            <a:r>
              <a:rPr lang="en-US" spc="-6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system</a:t>
            </a:r>
            <a:r>
              <a:rPr lang="en-US" spc="-45" dirty="0">
                <a:latin typeface="Calibri" panose="020F0502020204030204" pitchFamily="34" charset="0"/>
                <a:cs typeface="Calibri" panose="020F0502020204030204" pitchFamily="34" charset="0"/>
              </a:rPr>
              <a:t> </a:t>
            </a:r>
            <a:r>
              <a:rPr lang="en-US" spc="-10" dirty="0">
                <a:latin typeface="Calibri" panose="020F0502020204030204" pitchFamily="34" charset="0"/>
                <a:cs typeface="Calibri" panose="020F0502020204030204" pitchFamily="34" charset="0"/>
              </a:rPr>
              <a:t>availability</a:t>
            </a:r>
            <a:endParaRPr lang="en-US" dirty="0">
              <a:latin typeface="Calibri" panose="020F0502020204030204" pitchFamily="34" charset="0"/>
              <a:cs typeface="Calibri" panose="020F0502020204030204" pitchFamily="34" charset="0"/>
            </a:endParaRPr>
          </a:p>
          <a:p>
            <a:pPr marL="486409" indent="-230504">
              <a:lnSpc>
                <a:spcPct val="100000"/>
              </a:lnSpc>
              <a:spcBef>
                <a:spcPts val="805"/>
              </a:spcBef>
              <a:buFont typeface="Arial"/>
              <a:buChar char="•"/>
              <a:tabLst>
                <a:tab pos="486409" algn="l"/>
              </a:tabLst>
            </a:pPr>
            <a:r>
              <a:rPr lang="en-US" dirty="0">
                <a:latin typeface="Calibri" panose="020F0502020204030204" pitchFamily="34" charset="0"/>
                <a:cs typeface="Calibri" panose="020F0502020204030204" pitchFamily="34" charset="0"/>
              </a:rPr>
              <a:t>Some</a:t>
            </a:r>
            <a:r>
              <a:rPr lang="en-US" spc="-3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of</a:t>
            </a:r>
            <a:r>
              <a:rPr lang="en-US" spc="-2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the</a:t>
            </a:r>
            <a:r>
              <a:rPr lang="en-US" spc="-3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large</a:t>
            </a:r>
            <a:r>
              <a:rPr lang="en-US" spc="-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open</a:t>
            </a:r>
            <a:r>
              <a:rPr lang="en-US" spc="-2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access</a:t>
            </a:r>
            <a:r>
              <a:rPr lang="en-US" spc="-20" dirty="0">
                <a:latin typeface="Calibri" panose="020F0502020204030204" pitchFamily="34" charset="0"/>
                <a:cs typeface="Calibri" panose="020F0502020204030204" pitchFamily="34" charset="0"/>
              </a:rPr>
              <a:t> PPAs</a:t>
            </a:r>
            <a:r>
              <a:rPr lang="en-US" spc="-3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in</a:t>
            </a:r>
            <a:r>
              <a:rPr lang="en-US" spc="-1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US</a:t>
            </a:r>
            <a:r>
              <a:rPr lang="en-US" spc="-25" dirty="0">
                <a:latin typeface="Calibri" panose="020F0502020204030204" pitchFamily="34" charset="0"/>
                <a:cs typeface="Calibri" panose="020F0502020204030204" pitchFamily="34" charset="0"/>
              </a:rPr>
              <a:t> </a:t>
            </a:r>
            <a:r>
              <a:rPr lang="en-US" spc="-10" dirty="0">
                <a:latin typeface="Calibri" panose="020F0502020204030204" pitchFamily="34" charset="0"/>
                <a:cs typeface="Calibri" panose="020F0502020204030204" pitchFamily="34" charset="0"/>
              </a:rPr>
              <a:t>include:</a:t>
            </a:r>
            <a:endParaRPr lang="en-US" dirty="0">
              <a:latin typeface="Calibri" panose="020F0502020204030204" pitchFamily="34" charset="0"/>
              <a:cs typeface="Calibri" panose="020F0502020204030204" pitchFamily="34" charset="0"/>
            </a:endParaRPr>
          </a:p>
          <a:p>
            <a:pPr marL="940435" lvl="1" indent="-229870">
              <a:lnSpc>
                <a:spcPct val="100000"/>
              </a:lnSpc>
              <a:spcBef>
                <a:spcPts val="795"/>
              </a:spcBef>
              <a:buFont typeface="Arial"/>
              <a:buChar char="–"/>
              <a:tabLst>
                <a:tab pos="940435" algn="l"/>
              </a:tabLst>
            </a:pPr>
            <a:r>
              <a:rPr lang="en-US" spc="-10" dirty="0">
                <a:latin typeface="Calibri" panose="020F0502020204030204" pitchFamily="34" charset="0"/>
                <a:cs typeface="Calibri" panose="020F0502020204030204" pitchFamily="34" charset="0"/>
              </a:rPr>
              <a:t>Microsoft:</a:t>
            </a:r>
            <a:r>
              <a:rPr lang="en-US" spc="-16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110</a:t>
            </a:r>
            <a:r>
              <a:rPr lang="en-US" spc="-4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MW</a:t>
            </a:r>
            <a:r>
              <a:rPr lang="en-US" spc="-10" dirty="0">
                <a:latin typeface="Calibri" panose="020F0502020204030204" pitchFamily="34" charset="0"/>
                <a:cs typeface="Calibri" panose="020F0502020204030204" pitchFamily="34" charset="0"/>
              </a:rPr>
              <a:t> </a:t>
            </a:r>
            <a:r>
              <a:rPr lang="en-US" spc="-20" dirty="0">
                <a:latin typeface="Calibri" panose="020F0502020204030204" pitchFamily="34" charset="0"/>
                <a:cs typeface="Calibri" panose="020F0502020204030204" pitchFamily="34" charset="0"/>
              </a:rPr>
              <a:t>PPA</a:t>
            </a:r>
            <a:r>
              <a:rPr lang="en-US" spc="-2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with</a:t>
            </a:r>
            <a:r>
              <a:rPr lang="en-US" spc="-15" dirty="0">
                <a:latin typeface="Calibri" panose="020F0502020204030204" pitchFamily="34" charset="0"/>
                <a:cs typeface="Calibri" panose="020F0502020204030204" pitchFamily="34" charset="0"/>
              </a:rPr>
              <a:t> </a:t>
            </a:r>
            <a:r>
              <a:rPr lang="en-US" spc="-30" dirty="0">
                <a:latin typeface="Calibri" panose="020F0502020204030204" pitchFamily="34" charset="0"/>
                <a:cs typeface="Calibri" panose="020F0502020204030204" pitchFamily="34" charset="0"/>
              </a:rPr>
              <a:t>Keechi</a:t>
            </a:r>
            <a:r>
              <a:rPr lang="en-US" spc="-18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Wind</a:t>
            </a:r>
            <a:r>
              <a:rPr lang="en-US" spc="-20" dirty="0">
                <a:latin typeface="Calibri" panose="020F0502020204030204" pitchFamily="34" charset="0"/>
                <a:cs typeface="Calibri" panose="020F0502020204030204" pitchFamily="34" charset="0"/>
              </a:rPr>
              <a:t> </a:t>
            </a:r>
            <a:r>
              <a:rPr lang="en-US" spc="-10" dirty="0" err="1">
                <a:latin typeface="Calibri" panose="020F0502020204030204" pitchFamily="34" charset="0"/>
                <a:cs typeface="Calibri" panose="020F0502020204030204" pitchFamily="34" charset="0"/>
              </a:rPr>
              <a:t>Project,Texas</a:t>
            </a:r>
            <a:endParaRPr lang="en-US" dirty="0">
              <a:latin typeface="Calibri" panose="020F0502020204030204" pitchFamily="34" charset="0"/>
              <a:cs typeface="Calibri" panose="020F0502020204030204" pitchFamily="34" charset="0"/>
            </a:endParaRPr>
          </a:p>
          <a:p>
            <a:pPr marL="940435" lvl="1" indent="-229870">
              <a:lnSpc>
                <a:spcPct val="100000"/>
              </a:lnSpc>
              <a:spcBef>
                <a:spcPts val="800"/>
              </a:spcBef>
              <a:buFont typeface="Arial"/>
              <a:buChar char="–"/>
              <a:tabLst>
                <a:tab pos="940435" algn="l"/>
              </a:tabLst>
            </a:pPr>
            <a:r>
              <a:rPr lang="en-US" spc="-10" dirty="0">
                <a:latin typeface="Calibri" panose="020F0502020204030204" pitchFamily="34" charset="0"/>
                <a:cs typeface="Calibri" panose="020F0502020204030204" pitchFamily="34" charset="0"/>
              </a:rPr>
              <a:t>Amazon:</a:t>
            </a:r>
            <a:r>
              <a:rPr lang="en-US" spc="-16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100</a:t>
            </a:r>
            <a:r>
              <a:rPr lang="en-US" spc="-3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MW</a:t>
            </a:r>
            <a:r>
              <a:rPr lang="en-US" spc="-30" dirty="0">
                <a:latin typeface="Calibri" panose="020F0502020204030204" pitchFamily="34" charset="0"/>
                <a:cs typeface="Calibri" panose="020F0502020204030204" pitchFamily="34" charset="0"/>
              </a:rPr>
              <a:t> </a:t>
            </a:r>
            <a:r>
              <a:rPr lang="en-US" spc="-20" dirty="0">
                <a:latin typeface="Calibri" panose="020F0502020204030204" pitchFamily="34" charset="0"/>
                <a:cs typeface="Calibri" panose="020F0502020204030204" pitchFamily="34" charset="0"/>
              </a:rPr>
              <a:t>PPA</a:t>
            </a:r>
            <a:r>
              <a:rPr lang="en-US" spc="-3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with</a:t>
            </a:r>
            <a:r>
              <a:rPr lang="en-US" spc="-1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Southampton</a:t>
            </a:r>
            <a:r>
              <a:rPr lang="en-US" spc="-60" dirty="0">
                <a:latin typeface="Calibri" panose="020F0502020204030204" pitchFamily="34" charset="0"/>
                <a:cs typeface="Calibri" panose="020F0502020204030204" pitchFamily="34" charset="0"/>
              </a:rPr>
              <a:t> </a:t>
            </a:r>
            <a:r>
              <a:rPr lang="en-US" spc="-10" dirty="0" err="1">
                <a:latin typeface="Calibri" panose="020F0502020204030204" pitchFamily="34" charset="0"/>
                <a:cs typeface="Calibri" panose="020F0502020204030204" pitchFamily="34" charset="0"/>
              </a:rPr>
              <a:t>Solar,Virginia</a:t>
            </a:r>
            <a:endParaRPr lang="en-US" dirty="0">
              <a:latin typeface="Calibri" panose="020F0502020204030204" pitchFamily="34" charset="0"/>
              <a:cs typeface="Calibri" panose="020F0502020204030204" pitchFamily="34" charset="0"/>
            </a:endParaRPr>
          </a:p>
          <a:p>
            <a:pPr marL="940435" lvl="1" indent="-229870">
              <a:lnSpc>
                <a:spcPct val="100000"/>
              </a:lnSpc>
              <a:spcBef>
                <a:spcPts val="810"/>
              </a:spcBef>
              <a:buFont typeface="Arial"/>
              <a:buChar char="–"/>
              <a:tabLst>
                <a:tab pos="940435" algn="l"/>
              </a:tabLst>
            </a:pPr>
            <a:r>
              <a:rPr lang="en-US" spc="-10" dirty="0">
                <a:latin typeface="Calibri" panose="020F0502020204030204" pitchFamily="34" charset="0"/>
                <a:cs typeface="Calibri" panose="020F0502020204030204" pitchFamily="34" charset="0"/>
              </a:rPr>
              <a:t>Apple:</a:t>
            </a:r>
            <a:r>
              <a:rPr lang="en-US" spc="-14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201</a:t>
            </a:r>
            <a:r>
              <a:rPr lang="en-US" spc="-2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MW</a:t>
            </a:r>
            <a:r>
              <a:rPr lang="en-US" spc="5" dirty="0">
                <a:latin typeface="Calibri" panose="020F0502020204030204" pitchFamily="34" charset="0"/>
                <a:cs typeface="Calibri" panose="020F0502020204030204" pitchFamily="34" charset="0"/>
              </a:rPr>
              <a:t> </a:t>
            </a:r>
            <a:r>
              <a:rPr lang="en-US" spc="-20" dirty="0">
                <a:latin typeface="Calibri" panose="020F0502020204030204" pitchFamily="34" charset="0"/>
                <a:cs typeface="Calibri" panose="020F0502020204030204" pitchFamily="34" charset="0"/>
              </a:rPr>
              <a:t>PPA</a:t>
            </a:r>
            <a:r>
              <a:rPr lang="en-US" spc="-1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with </a:t>
            </a:r>
            <a:r>
              <a:rPr lang="en-US" spc="-10" dirty="0">
                <a:latin typeface="Calibri" panose="020F0502020204030204" pitchFamily="34" charset="0"/>
                <a:cs typeface="Calibri" panose="020F0502020204030204" pitchFamily="34" charset="0"/>
              </a:rPr>
              <a:t>Montague</a:t>
            </a:r>
            <a:r>
              <a:rPr lang="en-US" spc="-19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Wind</a:t>
            </a:r>
            <a:r>
              <a:rPr lang="en-US" spc="-5" dirty="0">
                <a:latin typeface="Calibri" panose="020F0502020204030204" pitchFamily="34" charset="0"/>
                <a:cs typeface="Calibri" panose="020F0502020204030204" pitchFamily="34" charset="0"/>
              </a:rPr>
              <a:t> </a:t>
            </a:r>
            <a:r>
              <a:rPr lang="en-US" spc="-25" dirty="0">
                <a:latin typeface="Calibri" panose="020F0502020204030204" pitchFamily="34" charset="0"/>
                <a:cs typeface="Calibri" panose="020F0502020204030204" pitchFamily="34" charset="0"/>
              </a:rPr>
              <a:t>Facility,</a:t>
            </a:r>
            <a:r>
              <a:rPr lang="en-US" spc="-140" dirty="0">
                <a:latin typeface="Calibri" panose="020F0502020204030204" pitchFamily="34" charset="0"/>
                <a:cs typeface="Calibri" panose="020F0502020204030204" pitchFamily="34" charset="0"/>
              </a:rPr>
              <a:t> </a:t>
            </a:r>
            <a:r>
              <a:rPr lang="en-US" spc="-10" dirty="0">
                <a:latin typeface="Calibri" panose="020F0502020204030204" pitchFamily="34" charset="0"/>
                <a:cs typeface="Calibri" panose="020F0502020204030204" pitchFamily="34" charset="0"/>
              </a:rPr>
              <a:t>Oregon</a:t>
            </a:r>
            <a:endParaRPr lang="en-US" dirty="0">
              <a:latin typeface="Calibri" panose="020F0502020204030204" pitchFamily="34" charset="0"/>
              <a:cs typeface="Calibri" panose="020F0502020204030204" pitchFamily="34" charset="0"/>
            </a:endParaRPr>
          </a:p>
          <a:p>
            <a:pPr marL="940435" lvl="1" indent="-229870">
              <a:lnSpc>
                <a:spcPct val="100000"/>
              </a:lnSpc>
              <a:spcBef>
                <a:spcPts val="790"/>
              </a:spcBef>
              <a:buFont typeface="Arial"/>
              <a:buChar char="–"/>
              <a:tabLst>
                <a:tab pos="940435" algn="l"/>
              </a:tabLst>
            </a:pPr>
            <a:r>
              <a:rPr lang="en-US" spc="-10" dirty="0">
                <a:latin typeface="Calibri" panose="020F0502020204030204" pitchFamily="34" charset="0"/>
                <a:cs typeface="Calibri" panose="020F0502020204030204" pitchFamily="34" charset="0"/>
              </a:rPr>
              <a:t>Facebook:</a:t>
            </a:r>
            <a:r>
              <a:rPr lang="en-US" spc="-14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227</a:t>
            </a:r>
            <a:r>
              <a:rPr lang="en-US" spc="-7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MW</a:t>
            </a:r>
            <a:r>
              <a:rPr lang="en-US" spc="-30" dirty="0">
                <a:latin typeface="Calibri" panose="020F0502020204030204" pitchFamily="34" charset="0"/>
                <a:cs typeface="Calibri" panose="020F0502020204030204" pitchFamily="34" charset="0"/>
              </a:rPr>
              <a:t> </a:t>
            </a:r>
            <a:r>
              <a:rPr lang="en-US" spc="-20" dirty="0">
                <a:latin typeface="Calibri" panose="020F0502020204030204" pitchFamily="34" charset="0"/>
                <a:cs typeface="Calibri" panose="020F0502020204030204" pitchFamily="34" charset="0"/>
              </a:rPr>
              <a:t>PPA</a:t>
            </a:r>
            <a:r>
              <a:rPr lang="en-US" spc="-4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with</a:t>
            </a:r>
            <a:r>
              <a:rPr lang="en-US" spc="-3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Colbert</a:t>
            </a:r>
            <a:r>
              <a:rPr lang="en-US" spc="-4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County</a:t>
            </a:r>
            <a:r>
              <a:rPr lang="en-US" spc="-6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Solar</a:t>
            </a:r>
            <a:r>
              <a:rPr lang="en-US" spc="-4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Facility,</a:t>
            </a:r>
            <a:r>
              <a:rPr lang="en-US" spc="70" dirty="0">
                <a:latin typeface="Calibri" panose="020F0502020204030204" pitchFamily="34" charset="0"/>
                <a:cs typeface="Calibri" panose="020F0502020204030204" pitchFamily="34" charset="0"/>
              </a:rPr>
              <a:t> </a:t>
            </a:r>
            <a:r>
              <a:rPr lang="en-US" spc="-10" dirty="0">
                <a:latin typeface="Calibri" panose="020F0502020204030204" pitchFamily="34" charset="0"/>
                <a:cs typeface="Calibri" panose="020F0502020204030204" pitchFamily="34" charset="0"/>
              </a:rPr>
              <a:t>Alabama</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282840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3552F-2B37-18C2-DE63-6910CC5EBEC1}"/>
            </a:ext>
          </a:extLst>
        </p:cNvPr>
        <p:cNvGrpSpPr/>
        <p:nvPr/>
      </p:nvGrpSpPr>
      <p:grpSpPr>
        <a:xfrm>
          <a:off x="0" y="0"/>
          <a:ext cx="0" cy="0"/>
          <a:chOff x="0" y="0"/>
          <a:chExt cx="0" cy="0"/>
        </a:xfrm>
      </p:grpSpPr>
      <p:graphicFrame>
        <p:nvGraphicFramePr>
          <p:cNvPr id="87" name="think-cell data - do not delete" hidden="1">
            <a:extLst>
              <a:ext uri="{FF2B5EF4-FFF2-40B4-BE49-F238E27FC236}">
                <a16:creationId xmlns:a16="http://schemas.microsoft.com/office/drawing/2014/main" id="{DFF7BA73-E3B1-A3FB-00A8-5A1C95EB2CAB}"/>
              </a:ext>
            </a:extLst>
          </p:cNvPr>
          <p:cNvGraphicFramePr>
            <a:graphicFrameLocks noChangeAspect="1"/>
          </p:cNvGraphicFramePr>
          <p:nvPr>
            <p:custDataLst>
              <p:tags r:id="rId1"/>
            </p:custDataLst>
            <p:extLst>
              <p:ext uri="{D42A27DB-BD31-4B8C-83A1-F6EECF244321}">
                <p14:modId xmlns:p14="http://schemas.microsoft.com/office/powerpoint/2010/main" val="1421658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87" name="think-cell data - do not delete" hidden="1">
                        <a:extLst>
                          <a:ext uri="{FF2B5EF4-FFF2-40B4-BE49-F238E27FC236}">
                            <a16:creationId xmlns:a16="http://schemas.microsoft.com/office/drawing/2014/main" id="{3403E5F0-78C3-BE7A-1107-D2F140F1EA3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0" name="Title 2">
            <a:extLst>
              <a:ext uri="{FF2B5EF4-FFF2-40B4-BE49-F238E27FC236}">
                <a16:creationId xmlns:a16="http://schemas.microsoft.com/office/drawing/2014/main" id="{C4E051E2-5C84-62B9-3290-6975C4D866ED}"/>
              </a:ext>
            </a:extLst>
          </p:cNvPr>
          <p:cNvSpPr>
            <a:spLocks noGrp="1"/>
          </p:cNvSpPr>
          <p:nvPr>
            <p:ph type="title"/>
          </p:nvPr>
        </p:nvSpPr>
        <p:spPr>
          <a:xfrm>
            <a:off x="469902" y="402587"/>
            <a:ext cx="11252200" cy="334102"/>
          </a:xfrm>
        </p:spPr>
        <p:txBody>
          <a:bodyPr vert="horz">
            <a:noAutofit/>
          </a:bodyPr>
          <a:lstStyle/>
          <a:p>
            <a:r>
              <a:rPr lang="en-US" sz="2800" b="1" dirty="0">
                <a:latin typeface="Calibri" panose="020F0502020204030204" pitchFamily="34" charset="0"/>
                <a:cs typeface="Calibri" panose="020F0502020204030204" pitchFamily="34" charset="0"/>
              </a:rPr>
              <a:t>Other Examples of Open Access - Vietnam</a:t>
            </a:r>
          </a:p>
        </p:txBody>
      </p:sp>
      <p:sp>
        <p:nvSpPr>
          <p:cNvPr id="4" name="TextBox 3">
            <a:extLst>
              <a:ext uri="{FF2B5EF4-FFF2-40B4-BE49-F238E27FC236}">
                <a16:creationId xmlns:a16="http://schemas.microsoft.com/office/drawing/2014/main" id="{959F58D0-C753-15CB-1636-BD83DBA3FE57}"/>
              </a:ext>
            </a:extLst>
          </p:cNvPr>
          <p:cNvSpPr txBox="1"/>
          <p:nvPr/>
        </p:nvSpPr>
        <p:spPr>
          <a:xfrm>
            <a:off x="469902" y="813775"/>
            <a:ext cx="11252200" cy="769441"/>
          </a:xfrm>
          <a:prstGeom prst="rect">
            <a:avLst/>
          </a:prstGeom>
          <a:noFill/>
        </p:spPr>
        <p:txBody>
          <a:bodyPr wrap="square">
            <a:spAutoFit/>
          </a:bodyPr>
          <a:lstStyle/>
          <a:p>
            <a:r>
              <a:rPr lang="en-US" sz="2200" i="1" dirty="0">
                <a:latin typeface="Calibri" panose="020F0502020204030204" pitchFamily="34" charset="0"/>
                <a:cs typeface="Calibri" panose="020F0502020204030204" pitchFamily="34" charset="0"/>
              </a:rPr>
              <a:t>Vietnam uses financial and market-based arrangements to facilitate competitive markets rather than implementing physical PPAs</a:t>
            </a:r>
          </a:p>
        </p:txBody>
      </p:sp>
      <p:sp>
        <p:nvSpPr>
          <p:cNvPr id="6" name="TextBox 5">
            <a:extLst>
              <a:ext uri="{FF2B5EF4-FFF2-40B4-BE49-F238E27FC236}">
                <a16:creationId xmlns:a16="http://schemas.microsoft.com/office/drawing/2014/main" id="{D8EADCF3-C229-2188-AA51-B45B3EEF24AE}"/>
              </a:ext>
            </a:extLst>
          </p:cNvPr>
          <p:cNvSpPr txBox="1"/>
          <p:nvPr/>
        </p:nvSpPr>
        <p:spPr>
          <a:xfrm>
            <a:off x="505214" y="1588562"/>
            <a:ext cx="6047762" cy="5037276"/>
          </a:xfrm>
          <a:prstGeom prst="rect">
            <a:avLst/>
          </a:prstGeom>
          <a:solidFill>
            <a:schemeClr val="bg1">
              <a:lumMod val="95000"/>
            </a:schemeClr>
          </a:solidFill>
        </p:spPr>
        <p:txBody>
          <a:bodyPr wrap="square">
            <a:spAutoFit/>
          </a:bodyPr>
          <a:lstStyle/>
          <a:p>
            <a:pPr marL="242570" marR="498475" indent="-230504">
              <a:lnSpc>
                <a:spcPct val="100000"/>
              </a:lnSpc>
              <a:spcBef>
                <a:spcPts val="100"/>
              </a:spcBef>
              <a:buFont typeface="Arial"/>
              <a:buChar char="•"/>
              <a:tabLst>
                <a:tab pos="242570" algn="l"/>
              </a:tabLst>
            </a:pPr>
            <a:r>
              <a:rPr lang="en-US" dirty="0">
                <a:latin typeface="Calibri" panose="020F0502020204030204" pitchFamily="34" charset="0"/>
                <a:cs typeface="Calibri" panose="020F0502020204030204" pitchFamily="34" charset="0"/>
              </a:rPr>
              <a:t>An</a:t>
            </a:r>
            <a:r>
              <a:rPr lang="en-US" spc="-2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innovative</a:t>
            </a:r>
            <a:r>
              <a:rPr lang="en-US" spc="-2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model is</a:t>
            </a:r>
            <a:r>
              <a:rPr lang="en-US" spc="-2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being</a:t>
            </a:r>
            <a:r>
              <a:rPr lang="en-US" spc="-1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piloted</a:t>
            </a:r>
            <a:r>
              <a:rPr lang="en-US" spc="-1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in</a:t>
            </a:r>
            <a:r>
              <a:rPr lang="en-US" spc="-18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Vietnam</a:t>
            </a:r>
            <a:r>
              <a:rPr lang="en-US" spc="-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(with</a:t>
            </a:r>
            <a:r>
              <a:rPr lang="en-US" spc="-10" dirty="0">
                <a:latin typeface="Calibri" panose="020F0502020204030204" pitchFamily="34" charset="0"/>
                <a:cs typeface="Calibri" panose="020F0502020204030204" pitchFamily="34" charset="0"/>
              </a:rPr>
              <a:t> </a:t>
            </a:r>
            <a:r>
              <a:rPr lang="en-US" spc="-25" dirty="0">
                <a:latin typeface="Calibri" panose="020F0502020204030204" pitchFamily="34" charset="0"/>
                <a:cs typeface="Calibri" panose="020F0502020204030204" pitchFamily="34" charset="0"/>
              </a:rPr>
              <a:t>the </a:t>
            </a:r>
            <a:r>
              <a:rPr lang="en-US" dirty="0">
                <a:latin typeface="Calibri" panose="020F0502020204030204" pitchFamily="34" charset="0"/>
                <a:cs typeface="Calibri" panose="020F0502020204030204" pitchFamily="34" charset="0"/>
              </a:rPr>
              <a:t>support</a:t>
            </a:r>
            <a:r>
              <a:rPr lang="en-US" spc="-2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of</a:t>
            </a:r>
            <a:r>
              <a:rPr lang="en-US" spc="-1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USAID</a:t>
            </a:r>
            <a:r>
              <a:rPr lang="en-US" spc="-15" dirty="0">
                <a:latin typeface="Calibri" panose="020F0502020204030204" pitchFamily="34" charset="0"/>
                <a:cs typeface="Calibri" panose="020F0502020204030204" pitchFamily="34" charset="0"/>
              </a:rPr>
              <a:t> </a:t>
            </a:r>
            <a:r>
              <a:rPr lang="en-US" spc="-10" dirty="0">
                <a:latin typeface="Calibri" panose="020F0502020204030204" pitchFamily="34" charset="0"/>
                <a:cs typeface="Calibri" panose="020F0502020204030204" pitchFamily="34" charset="0"/>
              </a:rPr>
              <a:t>funded</a:t>
            </a:r>
            <a:r>
              <a:rPr lang="en-US" spc="-18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Vietnam</a:t>
            </a:r>
            <a:r>
              <a:rPr lang="en-US" spc="-2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Low</a:t>
            </a:r>
            <a:r>
              <a:rPr lang="en-US" spc="-1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Emission</a:t>
            </a:r>
            <a:r>
              <a:rPr lang="en-US" spc="5" dirty="0">
                <a:latin typeface="Calibri" panose="020F0502020204030204" pitchFamily="34" charset="0"/>
                <a:cs typeface="Calibri" panose="020F0502020204030204" pitchFamily="34" charset="0"/>
              </a:rPr>
              <a:t> </a:t>
            </a:r>
            <a:r>
              <a:rPr lang="en-US" spc="-10" dirty="0">
                <a:latin typeface="Calibri" panose="020F0502020204030204" pitchFamily="34" charset="0"/>
                <a:cs typeface="Calibri" panose="020F0502020204030204" pitchFamily="34" charset="0"/>
              </a:rPr>
              <a:t>Energy Program),</a:t>
            </a:r>
            <a:r>
              <a:rPr lang="en-US" spc="-13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for</a:t>
            </a:r>
            <a:r>
              <a:rPr lang="en-US" spc="-1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direct</a:t>
            </a:r>
            <a:r>
              <a:rPr lang="en-US" spc="-2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purchase</a:t>
            </a:r>
            <a:r>
              <a:rPr lang="en-US" spc="-1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of energy</a:t>
            </a:r>
            <a:r>
              <a:rPr lang="en-US" spc="-2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by</a:t>
            </a:r>
            <a:r>
              <a:rPr lang="en-US" spc="-5" dirty="0">
                <a:latin typeface="Calibri" panose="020F0502020204030204" pitchFamily="34" charset="0"/>
                <a:cs typeface="Calibri" panose="020F0502020204030204" pitchFamily="34" charset="0"/>
              </a:rPr>
              <a:t> </a:t>
            </a:r>
            <a:r>
              <a:rPr lang="en-US" spc="-10" dirty="0">
                <a:latin typeface="Calibri" panose="020F0502020204030204" pitchFamily="34" charset="0"/>
                <a:cs typeface="Calibri" panose="020F0502020204030204" pitchFamily="34" charset="0"/>
              </a:rPr>
              <a:t>consumers</a:t>
            </a:r>
            <a:endParaRPr lang="en-US" dirty="0">
              <a:latin typeface="Calibri" panose="020F0502020204030204" pitchFamily="34" charset="0"/>
              <a:cs typeface="Calibri" panose="020F0502020204030204" pitchFamily="34" charset="0"/>
            </a:endParaRPr>
          </a:p>
          <a:p>
            <a:pPr marL="242570" marR="5080" indent="-230504">
              <a:lnSpc>
                <a:spcPct val="100000"/>
              </a:lnSpc>
              <a:spcBef>
                <a:spcPts val="805"/>
              </a:spcBef>
              <a:buFont typeface="Arial"/>
              <a:buChar char="•"/>
              <a:tabLst>
                <a:tab pos="242570" algn="l"/>
              </a:tabLst>
            </a:pPr>
            <a:r>
              <a:rPr lang="en-US" dirty="0">
                <a:latin typeface="Calibri" panose="020F0502020204030204" pitchFamily="34" charset="0"/>
                <a:cs typeface="Calibri" panose="020F0502020204030204" pitchFamily="34" charset="0"/>
              </a:rPr>
              <a:t>In</a:t>
            </a:r>
            <a:r>
              <a:rPr lang="en-US" spc="-2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the</a:t>
            </a:r>
            <a:r>
              <a:rPr lang="en-US" spc="-5" dirty="0">
                <a:latin typeface="Calibri" panose="020F0502020204030204" pitchFamily="34" charset="0"/>
                <a:cs typeface="Calibri" panose="020F0502020204030204" pitchFamily="34" charset="0"/>
              </a:rPr>
              <a:t> </a:t>
            </a:r>
            <a:r>
              <a:rPr lang="en-US" spc="-10" dirty="0">
                <a:latin typeface="Calibri" panose="020F0502020204030204" pitchFamily="34" charset="0"/>
                <a:cs typeface="Calibri" panose="020F0502020204030204" pitchFamily="34" charset="0"/>
              </a:rPr>
              <a:t>proposed</a:t>
            </a:r>
            <a:r>
              <a:rPr lang="en-US" spc="-10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a:t>
            </a:r>
            <a:r>
              <a:rPr lang="en-US" b="1" dirty="0">
                <a:latin typeface="Calibri" panose="020F0502020204030204" pitchFamily="34" charset="0"/>
                <a:cs typeface="Calibri" panose="020F0502020204030204" pitchFamily="34" charset="0"/>
              </a:rPr>
              <a:t>Direct</a:t>
            </a:r>
            <a:r>
              <a:rPr lang="en-US" b="1" spc="-10" dirty="0">
                <a:latin typeface="Calibri" panose="020F0502020204030204" pitchFamily="34" charset="0"/>
                <a:cs typeface="Calibri" panose="020F0502020204030204" pitchFamily="34" charset="0"/>
              </a:rPr>
              <a:t> </a:t>
            </a:r>
            <a:r>
              <a:rPr lang="en-US" b="1" spc="-25" dirty="0">
                <a:latin typeface="Calibri" panose="020F0502020204030204" pitchFamily="34" charset="0"/>
                <a:cs typeface="Calibri" panose="020F0502020204030204" pitchFamily="34" charset="0"/>
              </a:rPr>
              <a:t>Power</a:t>
            </a:r>
            <a:r>
              <a:rPr lang="en-US" b="1" spc="-15" dirty="0">
                <a:latin typeface="Calibri" panose="020F0502020204030204" pitchFamily="34" charset="0"/>
                <a:cs typeface="Calibri" panose="020F0502020204030204" pitchFamily="34" charset="0"/>
              </a:rPr>
              <a:t> </a:t>
            </a:r>
            <a:r>
              <a:rPr lang="en-US" b="1" spc="-20" dirty="0">
                <a:latin typeface="Calibri" panose="020F0502020204030204" pitchFamily="34" charset="0"/>
                <a:cs typeface="Calibri" panose="020F0502020204030204" pitchFamily="34" charset="0"/>
              </a:rPr>
              <a:t>Purchase</a:t>
            </a:r>
            <a:r>
              <a:rPr lang="en-US" b="1" spc="-120" dirty="0">
                <a:latin typeface="Calibri" panose="020F0502020204030204" pitchFamily="34" charset="0"/>
                <a:cs typeface="Calibri" panose="020F0502020204030204" pitchFamily="34" charset="0"/>
              </a:rPr>
              <a:t> </a:t>
            </a:r>
            <a:r>
              <a:rPr lang="en-US" b="1" spc="-10" dirty="0">
                <a:latin typeface="Calibri" panose="020F0502020204030204" pitchFamily="34" charset="0"/>
                <a:cs typeface="Calibri" panose="020F0502020204030204" pitchFamily="34" charset="0"/>
              </a:rPr>
              <a:t>Agreement </a:t>
            </a:r>
            <a:r>
              <a:rPr lang="en-US" b="1" spc="-20" dirty="0">
                <a:latin typeface="Calibri" panose="020F0502020204030204" pitchFamily="34" charset="0"/>
                <a:cs typeface="Calibri" panose="020F0502020204030204" pitchFamily="34" charset="0"/>
              </a:rPr>
              <a:t>(DPPA)</a:t>
            </a:r>
            <a:r>
              <a:rPr lang="en-US" spc="-20" dirty="0">
                <a:latin typeface="Calibri" panose="020F0502020204030204" pitchFamily="34" charset="0"/>
                <a:cs typeface="Calibri" panose="020F0502020204030204" pitchFamily="34" charset="0"/>
              </a:rPr>
              <a:t>’</a:t>
            </a:r>
            <a:r>
              <a:rPr lang="en-US" spc="-10" dirty="0">
                <a:latin typeface="Calibri" panose="020F0502020204030204" pitchFamily="34" charset="0"/>
                <a:cs typeface="Calibri" panose="020F0502020204030204" pitchFamily="34" charset="0"/>
              </a:rPr>
              <a:t> pilot,</a:t>
            </a:r>
            <a:r>
              <a:rPr lang="en-US" spc="-12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the</a:t>
            </a:r>
            <a:r>
              <a:rPr lang="en-US" spc="-1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generators</a:t>
            </a:r>
            <a:r>
              <a:rPr lang="en-US" spc="-1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sell</a:t>
            </a:r>
            <a:r>
              <a:rPr lang="en-US" spc="-1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to</a:t>
            </a:r>
            <a:r>
              <a:rPr lang="en-US" spc="-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a</a:t>
            </a:r>
            <a:r>
              <a:rPr lang="en-US" spc="-1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wholesale</a:t>
            </a:r>
            <a:r>
              <a:rPr lang="en-US" spc="-1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energy</a:t>
            </a:r>
            <a:r>
              <a:rPr lang="en-US" spc="-20" dirty="0">
                <a:latin typeface="Calibri" panose="020F0502020204030204" pitchFamily="34" charset="0"/>
                <a:cs typeface="Calibri" panose="020F0502020204030204" pitchFamily="34" charset="0"/>
              </a:rPr>
              <a:t> </a:t>
            </a:r>
            <a:r>
              <a:rPr lang="en-US" spc="-10" dirty="0">
                <a:latin typeface="Calibri" panose="020F0502020204030204" pitchFamily="34" charset="0"/>
                <a:cs typeface="Calibri" panose="020F0502020204030204" pitchFamily="34" charset="0"/>
              </a:rPr>
              <a:t>market. </a:t>
            </a:r>
            <a:r>
              <a:rPr lang="en-US" dirty="0">
                <a:latin typeface="Calibri" panose="020F0502020204030204" pitchFamily="34" charset="0"/>
                <a:cs typeface="Calibri" panose="020F0502020204030204" pitchFamily="34" charset="0"/>
              </a:rPr>
              <a:t>Interested</a:t>
            </a:r>
            <a:r>
              <a:rPr lang="en-US" spc="-2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consumers</a:t>
            </a:r>
            <a:r>
              <a:rPr lang="en-US" spc="-4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also</a:t>
            </a:r>
            <a:r>
              <a:rPr lang="en-US" spc="-2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buy</a:t>
            </a:r>
            <a:r>
              <a:rPr lang="en-US" spc="-3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power</a:t>
            </a:r>
            <a:r>
              <a:rPr lang="en-US" spc="-3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from</a:t>
            </a:r>
            <a:r>
              <a:rPr lang="en-US" spc="-4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the</a:t>
            </a:r>
            <a:r>
              <a:rPr lang="en-US" spc="-3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wholesale</a:t>
            </a:r>
            <a:r>
              <a:rPr lang="en-US" spc="-35" dirty="0">
                <a:latin typeface="Calibri" panose="020F0502020204030204" pitchFamily="34" charset="0"/>
                <a:cs typeface="Calibri" panose="020F0502020204030204" pitchFamily="34" charset="0"/>
              </a:rPr>
              <a:t> </a:t>
            </a:r>
            <a:r>
              <a:rPr lang="en-US" spc="-10" dirty="0">
                <a:latin typeface="Calibri" panose="020F0502020204030204" pitchFamily="34" charset="0"/>
                <a:cs typeface="Calibri" panose="020F0502020204030204" pitchFamily="34" charset="0"/>
              </a:rPr>
              <a:t>energy market</a:t>
            </a:r>
            <a:endParaRPr lang="en-US" dirty="0">
              <a:latin typeface="Calibri" panose="020F0502020204030204" pitchFamily="34" charset="0"/>
              <a:cs typeface="Calibri" panose="020F0502020204030204" pitchFamily="34" charset="0"/>
            </a:endParaRPr>
          </a:p>
          <a:p>
            <a:pPr marL="242570" marR="269240" indent="-230504">
              <a:lnSpc>
                <a:spcPct val="100000"/>
              </a:lnSpc>
              <a:spcBef>
                <a:spcPts val="810"/>
              </a:spcBef>
              <a:buFont typeface="Arial"/>
              <a:buChar char="•"/>
              <a:tabLst>
                <a:tab pos="242570" algn="l"/>
              </a:tabLst>
            </a:pPr>
            <a:r>
              <a:rPr lang="en-US" dirty="0">
                <a:latin typeface="Calibri" panose="020F0502020204030204" pitchFamily="34" charset="0"/>
                <a:cs typeface="Calibri" panose="020F0502020204030204" pitchFamily="34" charset="0"/>
              </a:rPr>
              <a:t>A</a:t>
            </a:r>
            <a:r>
              <a:rPr lang="en-US" spc="-114"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‘Contract</a:t>
            </a:r>
            <a:r>
              <a:rPr lang="en-US" spc="-6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for</a:t>
            </a:r>
            <a:r>
              <a:rPr lang="en-US" spc="-4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Difference’</a:t>
            </a:r>
            <a:r>
              <a:rPr lang="en-US" spc="-3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a:t>
            </a:r>
            <a:r>
              <a:rPr lang="en-US" dirty="0" err="1">
                <a:latin typeface="Calibri" panose="020F0502020204030204" pitchFamily="34" charset="0"/>
                <a:cs typeface="Calibri" panose="020F0502020204030204" pitchFamily="34" charset="0"/>
              </a:rPr>
              <a:t>CfD</a:t>
            </a:r>
            <a:r>
              <a:rPr lang="en-US" dirty="0">
                <a:latin typeface="Calibri" panose="020F0502020204030204" pitchFamily="34" charset="0"/>
                <a:cs typeface="Calibri" panose="020F0502020204030204" pitchFamily="34" charset="0"/>
              </a:rPr>
              <a:t>)</a:t>
            </a:r>
            <a:r>
              <a:rPr lang="en-US" spc="-3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agreement</a:t>
            </a:r>
            <a:r>
              <a:rPr lang="en-US" spc="-50" dirty="0">
                <a:latin typeface="Calibri" panose="020F0502020204030204" pitchFamily="34" charset="0"/>
                <a:cs typeface="Calibri" panose="020F0502020204030204" pitchFamily="34" charset="0"/>
              </a:rPr>
              <a:t> </a:t>
            </a:r>
            <a:r>
              <a:rPr lang="en-US" spc="-10" dirty="0">
                <a:latin typeface="Calibri" panose="020F0502020204030204" pitchFamily="34" charset="0"/>
                <a:cs typeface="Calibri" panose="020F0502020204030204" pitchFamily="34" charset="0"/>
              </a:rPr>
              <a:t>between </a:t>
            </a:r>
            <a:r>
              <a:rPr lang="en-US" dirty="0">
                <a:latin typeface="Calibri" panose="020F0502020204030204" pitchFamily="34" charset="0"/>
                <a:cs typeface="Calibri" panose="020F0502020204030204" pitchFamily="34" charset="0"/>
              </a:rPr>
              <a:t>consumers</a:t>
            </a:r>
            <a:r>
              <a:rPr lang="en-US" spc="-3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and</a:t>
            </a:r>
            <a:r>
              <a:rPr lang="en-US" spc="-3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generators</a:t>
            </a:r>
            <a:r>
              <a:rPr lang="en-US" spc="-5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ensures</a:t>
            </a:r>
            <a:r>
              <a:rPr lang="en-US" spc="-3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protection</a:t>
            </a:r>
            <a:r>
              <a:rPr lang="en-US" spc="-3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of</a:t>
            </a:r>
            <a:r>
              <a:rPr lang="en-US" spc="-3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interests</a:t>
            </a:r>
            <a:r>
              <a:rPr lang="en-US" spc="-35" dirty="0">
                <a:latin typeface="Calibri" panose="020F0502020204030204" pitchFamily="34" charset="0"/>
                <a:cs typeface="Calibri" panose="020F0502020204030204" pitchFamily="34" charset="0"/>
              </a:rPr>
              <a:t> </a:t>
            </a:r>
            <a:r>
              <a:rPr lang="en-US" spc="-25" dirty="0">
                <a:latin typeface="Calibri" panose="020F0502020204030204" pitchFamily="34" charset="0"/>
                <a:cs typeface="Calibri" panose="020F0502020204030204" pitchFamily="34" charset="0"/>
              </a:rPr>
              <a:t>of </a:t>
            </a:r>
            <a:r>
              <a:rPr lang="en-US" dirty="0">
                <a:latin typeface="Calibri" panose="020F0502020204030204" pitchFamily="34" charset="0"/>
                <a:cs typeface="Calibri" panose="020F0502020204030204" pitchFamily="34" charset="0"/>
              </a:rPr>
              <a:t>both</a:t>
            </a:r>
            <a:r>
              <a:rPr lang="en-US" spc="-2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consumers</a:t>
            </a:r>
            <a:r>
              <a:rPr lang="en-US" spc="-3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and</a:t>
            </a:r>
            <a:r>
              <a:rPr lang="en-US" spc="-25" dirty="0">
                <a:latin typeface="Calibri" panose="020F0502020204030204" pitchFamily="34" charset="0"/>
                <a:cs typeface="Calibri" panose="020F0502020204030204" pitchFamily="34" charset="0"/>
              </a:rPr>
              <a:t> </a:t>
            </a:r>
            <a:r>
              <a:rPr lang="en-US" spc="-10" dirty="0">
                <a:latin typeface="Calibri" panose="020F0502020204030204" pitchFamily="34" charset="0"/>
                <a:cs typeface="Calibri" panose="020F0502020204030204" pitchFamily="34" charset="0"/>
              </a:rPr>
              <a:t>generators</a:t>
            </a:r>
            <a:endParaRPr lang="en-US" dirty="0">
              <a:latin typeface="Calibri" panose="020F0502020204030204" pitchFamily="34" charset="0"/>
              <a:cs typeface="Calibri" panose="020F0502020204030204" pitchFamily="34" charset="0"/>
            </a:endParaRPr>
          </a:p>
          <a:p>
            <a:pPr marL="696595" lvl="1" indent="-229870">
              <a:lnSpc>
                <a:spcPct val="100000"/>
              </a:lnSpc>
              <a:spcBef>
                <a:spcPts val="790"/>
              </a:spcBef>
              <a:buFont typeface="Arial"/>
              <a:buChar char="–"/>
              <a:tabLst>
                <a:tab pos="696595" algn="l"/>
              </a:tabLst>
            </a:pPr>
            <a:r>
              <a:rPr lang="en-US" dirty="0">
                <a:latin typeface="Calibri" panose="020F0502020204030204" pitchFamily="34" charset="0"/>
                <a:cs typeface="Calibri" panose="020F0502020204030204" pitchFamily="34" charset="0"/>
              </a:rPr>
              <a:t>Generators</a:t>
            </a:r>
            <a:r>
              <a:rPr lang="en-US" spc="-2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with</a:t>
            </a:r>
            <a:r>
              <a:rPr lang="en-US" spc="-1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more</a:t>
            </a:r>
            <a:r>
              <a:rPr lang="en-US" spc="-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than</a:t>
            </a:r>
            <a:r>
              <a:rPr lang="en-US" spc="-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30</a:t>
            </a:r>
            <a:r>
              <a:rPr lang="en-US" spc="-1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MW capacity</a:t>
            </a:r>
            <a:r>
              <a:rPr lang="en-US" spc="-1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can</a:t>
            </a:r>
            <a:r>
              <a:rPr lang="en-US" spc="-20" dirty="0">
                <a:latin typeface="Calibri" panose="020F0502020204030204" pitchFamily="34" charset="0"/>
                <a:cs typeface="Calibri" panose="020F0502020204030204" pitchFamily="34" charset="0"/>
              </a:rPr>
              <a:t> sell</a:t>
            </a:r>
            <a:endParaRPr lang="en-US" dirty="0">
              <a:latin typeface="Calibri" panose="020F0502020204030204" pitchFamily="34" charset="0"/>
              <a:cs typeface="Calibri" panose="020F0502020204030204" pitchFamily="34" charset="0"/>
            </a:endParaRPr>
          </a:p>
          <a:p>
            <a:pPr marL="696595" lvl="1" indent="-229870">
              <a:lnSpc>
                <a:spcPct val="100000"/>
              </a:lnSpc>
              <a:spcBef>
                <a:spcPts val="805"/>
              </a:spcBef>
              <a:buFont typeface="Arial"/>
              <a:buChar char="–"/>
              <a:tabLst>
                <a:tab pos="696595" algn="l"/>
              </a:tabLst>
            </a:pPr>
            <a:r>
              <a:rPr lang="en-US" dirty="0">
                <a:latin typeface="Calibri" panose="020F0502020204030204" pitchFamily="34" charset="0"/>
                <a:cs typeface="Calibri" panose="020F0502020204030204" pitchFamily="34" charset="0"/>
              </a:rPr>
              <a:t>Consumers</a:t>
            </a:r>
            <a:r>
              <a:rPr lang="en-US" spc="-1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at</a:t>
            </a:r>
            <a:r>
              <a:rPr lang="en-US" spc="-2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22</a:t>
            </a:r>
            <a:r>
              <a:rPr lang="en-US" spc="-2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KV</a:t>
            </a:r>
            <a:r>
              <a:rPr lang="en-US" spc="-2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and</a:t>
            </a:r>
            <a:r>
              <a:rPr lang="en-US" spc="-2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above</a:t>
            </a:r>
            <a:r>
              <a:rPr lang="en-US" spc="-2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can</a:t>
            </a:r>
            <a:r>
              <a:rPr lang="en-US" spc="-20" dirty="0">
                <a:latin typeface="Calibri" panose="020F0502020204030204" pitchFamily="34" charset="0"/>
                <a:cs typeface="Calibri" panose="020F0502020204030204" pitchFamily="34" charset="0"/>
              </a:rPr>
              <a:t> </a:t>
            </a:r>
            <a:r>
              <a:rPr lang="en-US" spc="-25" dirty="0">
                <a:latin typeface="Calibri" panose="020F0502020204030204" pitchFamily="34" charset="0"/>
                <a:cs typeface="Calibri" panose="020F0502020204030204" pitchFamily="34" charset="0"/>
              </a:rPr>
              <a:t>buy</a:t>
            </a:r>
            <a:endParaRPr lang="en-US" dirty="0">
              <a:latin typeface="Calibri" panose="020F0502020204030204" pitchFamily="34" charset="0"/>
              <a:cs typeface="Calibri" panose="020F0502020204030204" pitchFamily="34" charset="0"/>
            </a:endParaRPr>
          </a:p>
          <a:p>
            <a:pPr marL="696595" marR="38100" lvl="1" indent="-230504">
              <a:lnSpc>
                <a:spcPct val="100000"/>
              </a:lnSpc>
              <a:spcBef>
                <a:spcPts val="805"/>
              </a:spcBef>
              <a:buFont typeface="Arial"/>
              <a:buChar char="–"/>
              <a:tabLst>
                <a:tab pos="696595" algn="l"/>
              </a:tabLst>
            </a:pPr>
            <a:r>
              <a:rPr lang="en-US" dirty="0">
                <a:latin typeface="Calibri" panose="020F0502020204030204" pitchFamily="34" charset="0"/>
                <a:cs typeface="Calibri" panose="020F0502020204030204" pitchFamily="34" charset="0"/>
              </a:rPr>
              <a:t>The</a:t>
            </a:r>
            <a:r>
              <a:rPr lang="en-US" spc="-2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parties</a:t>
            </a:r>
            <a:r>
              <a:rPr lang="en-US" spc="-1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sign</a:t>
            </a:r>
            <a:r>
              <a:rPr lang="en-US" spc="-2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a</a:t>
            </a:r>
            <a:r>
              <a:rPr lang="en-US" spc="-1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long</a:t>
            </a:r>
            <a:r>
              <a:rPr lang="en-US" spc="-2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term</a:t>
            </a:r>
            <a:r>
              <a:rPr lang="en-US" spc="-20"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CfD</a:t>
            </a:r>
            <a:r>
              <a:rPr lang="en-US" spc="-2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agreement</a:t>
            </a:r>
            <a:r>
              <a:rPr lang="en-US" spc="-3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to</a:t>
            </a:r>
            <a:r>
              <a:rPr lang="en-US" spc="-1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settle</a:t>
            </a:r>
            <a:r>
              <a:rPr lang="en-US" spc="-5" dirty="0">
                <a:latin typeface="Calibri" panose="020F0502020204030204" pitchFamily="34" charset="0"/>
                <a:cs typeface="Calibri" panose="020F0502020204030204" pitchFamily="34" charset="0"/>
              </a:rPr>
              <a:t> </a:t>
            </a:r>
            <a:r>
              <a:rPr lang="en-US" spc="-25" dirty="0">
                <a:latin typeface="Calibri" panose="020F0502020204030204" pitchFamily="34" charset="0"/>
                <a:cs typeface="Calibri" panose="020F0502020204030204" pitchFamily="34" charset="0"/>
              </a:rPr>
              <a:t>the </a:t>
            </a:r>
            <a:r>
              <a:rPr lang="en-US" dirty="0">
                <a:latin typeface="Calibri" panose="020F0502020204030204" pitchFamily="34" charset="0"/>
                <a:cs typeface="Calibri" panose="020F0502020204030204" pitchFamily="34" charset="0"/>
              </a:rPr>
              <a:t>difference</a:t>
            </a:r>
            <a:r>
              <a:rPr lang="en-US" spc="-4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between</a:t>
            </a:r>
            <a:r>
              <a:rPr lang="en-US" spc="-2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the</a:t>
            </a:r>
            <a:r>
              <a:rPr lang="en-US" spc="-1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price</a:t>
            </a:r>
            <a:r>
              <a:rPr lang="en-US" spc="-3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in</a:t>
            </a:r>
            <a:r>
              <a:rPr lang="en-US" spc="-2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the</a:t>
            </a:r>
            <a:r>
              <a:rPr lang="en-US" spc="-2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spot</a:t>
            </a:r>
            <a:r>
              <a:rPr lang="en-US" spc="-25" dirty="0">
                <a:latin typeface="Calibri" panose="020F0502020204030204" pitchFamily="34" charset="0"/>
                <a:cs typeface="Calibri" panose="020F0502020204030204" pitchFamily="34" charset="0"/>
              </a:rPr>
              <a:t> </a:t>
            </a:r>
            <a:r>
              <a:rPr lang="en-US" spc="-10" dirty="0">
                <a:latin typeface="Calibri" panose="020F0502020204030204" pitchFamily="34" charset="0"/>
                <a:cs typeface="Calibri" panose="020F0502020204030204" pitchFamily="34" charset="0"/>
              </a:rPr>
              <a:t>electricity </a:t>
            </a:r>
            <a:r>
              <a:rPr lang="en-US" dirty="0">
                <a:latin typeface="Calibri" panose="020F0502020204030204" pitchFamily="34" charset="0"/>
                <a:cs typeface="Calibri" panose="020F0502020204030204" pitchFamily="34" charset="0"/>
              </a:rPr>
              <a:t>market</a:t>
            </a:r>
            <a:r>
              <a:rPr lang="en-US" spc="-2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and</a:t>
            </a:r>
            <a:r>
              <a:rPr lang="en-US" spc="-1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the</a:t>
            </a:r>
            <a:r>
              <a:rPr lang="en-US" spc="-1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price</a:t>
            </a:r>
            <a:r>
              <a:rPr lang="en-US" spc="-2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committed</a:t>
            </a:r>
            <a:r>
              <a:rPr lang="en-US" spc="-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in</a:t>
            </a:r>
            <a:r>
              <a:rPr lang="en-US" spc="-15"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the</a:t>
            </a:r>
            <a:r>
              <a:rPr lang="en-US" spc="-20" dirty="0">
                <a:latin typeface="Calibri" panose="020F0502020204030204" pitchFamily="34" charset="0"/>
                <a:cs typeface="Calibri" panose="020F0502020204030204" pitchFamily="34" charset="0"/>
              </a:rPr>
              <a:t> </a:t>
            </a:r>
            <a:r>
              <a:rPr lang="en-US" spc="-10" dirty="0">
                <a:latin typeface="Calibri" panose="020F0502020204030204" pitchFamily="34" charset="0"/>
                <a:cs typeface="Calibri" panose="020F0502020204030204" pitchFamily="34" charset="0"/>
              </a:rPr>
              <a:t>contract</a:t>
            </a:r>
            <a:endParaRPr lang="en-US" dirty="0">
              <a:latin typeface="Calibri" panose="020F0502020204030204" pitchFamily="34" charset="0"/>
              <a:cs typeface="Calibri" panose="020F0502020204030204" pitchFamily="34" charset="0"/>
            </a:endParaRPr>
          </a:p>
        </p:txBody>
      </p:sp>
      <p:sp>
        <p:nvSpPr>
          <p:cNvPr id="14" name="object 14"/>
          <p:cNvSpPr txBox="1"/>
          <p:nvPr/>
        </p:nvSpPr>
        <p:spPr>
          <a:xfrm>
            <a:off x="10411671" y="6440893"/>
            <a:ext cx="1207915" cy="170430"/>
          </a:xfrm>
          <a:prstGeom prst="rect">
            <a:avLst/>
          </a:prstGeom>
        </p:spPr>
        <p:txBody>
          <a:bodyPr vert="horz" wrap="square" lIns="0" tIns="7555" rIns="0" bIns="0" rtlCol="0">
            <a:spAutoFit/>
          </a:bodyPr>
          <a:lstStyle/>
          <a:p>
            <a:pPr marL="16788">
              <a:spcBef>
                <a:spcPts val="59"/>
              </a:spcBef>
            </a:pPr>
            <a:r>
              <a:rPr sz="1058" i="1" dirty="0">
                <a:solidFill>
                  <a:srgbClr val="7E7E7E"/>
                </a:solidFill>
                <a:latin typeface="Gill Sans MT"/>
                <a:cs typeface="Gill Sans MT"/>
              </a:rPr>
              <a:t>Source:</a:t>
            </a:r>
            <a:r>
              <a:rPr sz="1058" i="1" spc="-33" dirty="0">
                <a:solidFill>
                  <a:srgbClr val="7E7E7E"/>
                </a:solidFill>
                <a:latin typeface="Gill Sans MT"/>
                <a:cs typeface="Gill Sans MT"/>
              </a:rPr>
              <a:t> </a:t>
            </a:r>
            <a:r>
              <a:rPr sz="1058" i="1" dirty="0">
                <a:solidFill>
                  <a:srgbClr val="7E7E7E"/>
                </a:solidFill>
                <a:latin typeface="Gill Sans MT"/>
                <a:cs typeface="Gill Sans MT"/>
              </a:rPr>
              <a:t>USAID’s</a:t>
            </a:r>
            <a:r>
              <a:rPr sz="1058" i="1" spc="-59" dirty="0">
                <a:solidFill>
                  <a:srgbClr val="7E7E7E"/>
                </a:solidFill>
                <a:latin typeface="Gill Sans MT"/>
                <a:cs typeface="Gill Sans MT"/>
              </a:rPr>
              <a:t> </a:t>
            </a:r>
            <a:r>
              <a:rPr sz="1058" i="1" spc="-13" dirty="0">
                <a:solidFill>
                  <a:srgbClr val="7E7E7E"/>
                </a:solidFill>
                <a:latin typeface="Gill Sans MT"/>
                <a:cs typeface="Gill Sans MT"/>
              </a:rPr>
              <a:t>VLEEP</a:t>
            </a:r>
            <a:endParaRPr sz="1058" dirty="0">
              <a:latin typeface="Gill Sans MT"/>
              <a:cs typeface="Gill Sans MT"/>
            </a:endParaRPr>
          </a:p>
        </p:txBody>
      </p:sp>
      <p:grpSp>
        <p:nvGrpSpPr>
          <p:cNvPr id="5" name="object 2">
            <a:extLst>
              <a:ext uri="{FF2B5EF4-FFF2-40B4-BE49-F238E27FC236}">
                <a16:creationId xmlns:a16="http://schemas.microsoft.com/office/drawing/2014/main" id="{5D2B9B8A-CE59-A8DD-3D3E-6D73F6597112}"/>
              </a:ext>
            </a:extLst>
          </p:cNvPr>
          <p:cNvGrpSpPr/>
          <p:nvPr/>
        </p:nvGrpSpPr>
        <p:grpSpPr>
          <a:xfrm>
            <a:off x="52230" y="670"/>
            <a:ext cx="12087540" cy="6852964"/>
            <a:chOff x="0" y="507"/>
            <a:chExt cx="9144000" cy="5184140"/>
          </a:xfrm>
        </p:grpSpPr>
        <p:sp>
          <p:nvSpPr>
            <p:cNvPr id="7" name="object 3">
              <a:extLst>
                <a:ext uri="{FF2B5EF4-FFF2-40B4-BE49-F238E27FC236}">
                  <a16:creationId xmlns:a16="http://schemas.microsoft.com/office/drawing/2014/main" id="{A9CB70DD-23B5-8DEE-D356-5E7AA863A45D}"/>
                </a:ext>
              </a:extLst>
            </p:cNvPr>
            <p:cNvSpPr/>
            <p:nvPr/>
          </p:nvSpPr>
          <p:spPr>
            <a:xfrm>
              <a:off x="0" y="507"/>
              <a:ext cx="9144000" cy="5184140"/>
            </a:xfrm>
            <a:custGeom>
              <a:avLst/>
              <a:gdLst/>
              <a:ahLst/>
              <a:cxnLst/>
              <a:rect l="l" t="t" r="r" b="b"/>
              <a:pathLst>
                <a:path w="9144000" h="5184140">
                  <a:moveTo>
                    <a:pt x="9144000" y="0"/>
                  </a:moveTo>
                  <a:lnTo>
                    <a:pt x="0" y="0"/>
                  </a:lnTo>
                  <a:lnTo>
                    <a:pt x="0" y="153670"/>
                  </a:lnTo>
                  <a:lnTo>
                    <a:pt x="0" y="5035550"/>
                  </a:lnTo>
                  <a:lnTo>
                    <a:pt x="0" y="5184140"/>
                  </a:lnTo>
                  <a:lnTo>
                    <a:pt x="9144000" y="5184140"/>
                  </a:lnTo>
                  <a:lnTo>
                    <a:pt x="9144000" y="5035550"/>
                  </a:lnTo>
                  <a:lnTo>
                    <a:pt x="153758" y="5035550"/>
                  </a:lnTo>
                  <a:lnTo>
                    <a:pt x="153758" y="153670"/>
                  </a:lnTo>
                  <a:lnTo>
                    <a:pt x="9144000" y="153670"/>
                  </a:lnTo>
                  <a:lnTo>
                    <a:pt x="9144000" y="0"/>
                  </a:lnTo>
                  <a:close/>
                </a:path>
              </a:pathLst>
            </a:custGeom>
            <a:solidFill>
              <a:srgbClr val="FFFFFF"/>
            </a:solidFill>
          </p:spPr>
          <p:txBody>
            <a:bodyPr wrap="square" lIns="0" tIns="0" rIns="0" bIns="0" rtlCol="0"/>
            <a:lstStyle/>
            <a:p>
              <a:endParaRPr sz="2379"/>
            </a:p>
          </p:txBody>
        </p:sp>
        <p:pic>
          <p:nvPicPr>
            <p:cNvPr id="8" name="object 4">
              <a:extLst>
                <a:ext uri="{FF2B5EF4-FFF2-40B4-BE49-F238E27FC236}">
                  <a16:creationId xmlns:a16="http://schemas.microsoft.com/office/drawing/2014/main" id="{F3FAE514-1370-9C60-9319-C1A3B5EEADBC}"/>
                </a:ext>
              </a:extLst>
            </p:cNvPr>
            <p:cNvPicPr/>
            <p:nvPr/>
          </p:nvPicPr>
          <p:blipFill>
            <a:blip r:embed="rId5" cstate="print"/>
            <a:stretch>
              <a:fillRect/>
            </a:stretch>
          </p:blipFill>
          <p:spPr>
            <a:xfrm>
              <a:off x="5044440" y="1205483"/>
              <a:ext cx="3784091" cy="3659124"/>
            </a:xfrm>
            <a:prstGeom prst="rect">
              <a:avLst/>
            </a:prstGeom>
          </p:spPr>
        </p:pic>
        <p:sp>
          <p:nvSpPr>
            <p:cNvPr id="9" name="object 5">
              <a:extLst>
                <a:ext uri="{FF2B5EF4-FFF2-40B4-BE49-F238E27FC236}">
                  <a16:creationId xmlns:a16="http://schemas.microsoft.com/office/drawing/2014/main" id="{D81B50A8-48F8-D802-8091-B486D322033E}"/>
                </a:ext>
              </a:extLst>
            </p:cNvPr>
            <p:cNvSpPr/>
            <p:nvPr/>
          </p:nvSpPr>
          <p:spPr>
            <a:xfrm>
              <a:off x="5091684" y="1229867"/>
              <a:ext cx="3694429" cy="3569335"/>
            </a:xfrm>
            <a:custGeom>
              <a:avLst/>
              <a:gdLst/>
              <a:ahLst/>
              <a:cxnLst/>
              <a:rect l="l" t="t" r="r" b="b"/>
              <a:pathLst>
                <a:path w="3694429" h="3569335">
                  <a:moveTo>
                    <a:pt x="3533140" y="0"/>
                  </a:moveTo>
                  <a:lnTo>
                    <a:pt x="161036" y="0"/>
                  </a:lnTo>
                  <a:lnTo>
                    <a:pt x="118239" y="5754"/>
                  </a:lnTo>
                  <a:lnTo>
                    <a:pt x="79774" y="21994"/>
                  </a:lnTo>
                  <a:lnTo>
                    <a:pt x="47180" y="47180"/>
                  </a:lnTo>
                  <a:lnTo>
                    <a:pt x="21994" y="79774"/>
                  </a:lnTo>
                  <a:lnTo>
                    <a:pt x="5754" y="118239"/>
                  </a:lnTo>
                  <a:lnTo>
                    <a:pt x="0" y="161035"/>
                  </a:lnTo>
                  <a:lnTo>
                    <a:pt x="0" y="3408159"/>
                  </a:lnTo>
                  <a:lnTo>
                    <a:pt x="5754" y="3450974"/>
                  </a:lnTo>
                  <a:lnTo>
                    <a:pt x="21994" y="3489446"/>
                  </a:lnTo>
                  <a:lnTo>
                    <a:pt x="47180" y="3522040"/>
                  </a:lnTo>
                  <a:lnTo>
                    <a:pt x="79774" y="3547221"/>
                  </a:lnTo>
                  <a:lnTo>
                    <a:pt x="118239" y="3563455"/>
                  </a:lnTo>
                  <a:lnTo>
                    <a:pt x="161036" y="3569207"/>
                  </a:lnTo>
                  <a:lnTo>
                    <a:pt x="3533140" y="3569207"/>
                  </a:lnTo>
                  <a:lnTo>
                    <a:pt x="3575936" y="3563455"/>
                  </a:lnTo>
                  <a:lnTo>
                    <a:pt x="3614401" y="3547221"/>
                  </a:lnTo>
                  <a:lnTo>
                    <a:pt x="3646995" y="3522040"/>
                  </a:lnTo>
                  <a:lnTo>
                    <a:pt x="3672181" y="3489446"/>
                  </a:lnTo>
                  <a:lnTo>
                    <a:pt x="3688421" y="3450974"/>
                  </a:lnTo>
                  <a:lnTo>
                    <a:pt x="3694175" y="3408159"/>
                  </a:lnTo>
                  <a:lnTo>
                    <a:pt x="3694175" y="161035"/>
                  </a:lnTo>
                  <a:lnTo>
                    <a:pt x="3688421" y="118239"/>
                  </a:lnTo>
                  <a:lnTo>
                    <a:pt x="3672181" y="79774"/>
                  </a:lnTo>
                  <a:lnTo>
                    <a:pt x="3646995" y="47180"/>
                  </a:lnTo>
                  <a:lnTo>
                    <a:pt x="3614401" y="21994"/>
                  </a:lnTo>
                  <a:lnTo>
                    <a:pt x="3575936" y="5754"/>
                  </a:lnTo>
                  <a:lnTo>
                    <a:pt x="3533140" y="0"/>
                  </a:lnTo>
                  <a:close/>
                </a:path>
              </a:pathLst>
            </a:custGeom>
            <a:solidFill>
              <a:srgbClr val="CFCDC8"/>
            </a:solidFill>
          </p:spPr>
          <p:txBody>
            <a:bodyPr wrap="square" lIns="0" tIns="0" rIns="0" bIns="0" rtlCol="0"/>
            <a:lstStyle/>
            <a:p>
              <a:endParaRPr sz="2379"/>
            </a:p>
          </p:txBody>
        </p:sp>
        <p:sp>
          <p:nvSpPr>
            <p:cNvPr id="10" name="object 6">
              <a:extLst>
                <a:ext uri="{FF2B5EF4-FFF2-40B4-BE49-F238E27FC236}">
                  <a16:creationId xmlns:a16="http://schemas.microsoft.com/office/drawing/2014/main" id="{7F722A1B-1F92-67CE-ACA3-FDA0173A7A55}"/>
                </a:ext>
              </a:extLst>
            </p:cNvPr>
            <p:cNvSpPr/>
            <p:nvPr/>
          </p:nvSpPr>
          <p:spPr>
            <a:xfrm>
              <a:off x="5091684" y="1229867"/>
              <a:ext cx="3694429" cy="3569335"/>
            </a:xfrm>
            <a:custGeom>
              <a:avLst/>
              <a:gdLst/>
              <a:ahLst/>
              <a:cxnLst/>
              <a:rect l="l" t="t" r="r" b="b"/>
              <a:pathLst>
                <a:path w="3694429" h="3569335">
                  <a:moveTo>
                    <a:pt x="0" y="161035"/>
                  </a:moveTo>
                  <a:lnTo>
                    <a:pt x="5754" y="118239"/>
                  </a:lnTo>
                  <a:lnTo>
                    <a:pt x="21994" y="79774"/>
                  </a:lnTo>
                  <a:lnTo>
                    <a:pt x="47180" y="47180"/>
                  </a:lnTo>
                  <a:lnTo>
                    <a:pt x="79774" y="21994"/>
                  </a:lnTo>
                  <a:lnTo>
                    <a:pt x="118239" y="5754"/>
                  </a:lnTo>
                  <a:lnTo>
                    <a:pt x="161036" y="0"/>
                  </a:lnTo>
                  <a:lnTo>
                    <a:pt x="3533140" y="0"/>
                  </a:lnTo>
                  <a:lnTo>
                    <a:pt x="3575936" y="5754"/>
                  </a:lnTo>
                  <a:lnTo>
                    <a:pt x="3614401" y="21994"/>
                  </a:lnTo>
                  <a:lnTo>
                    <a:pt x="3646995" y="47180"/>
                  </a:lnTo>
                  <a:lnTo>
                    <a:pt x="3672181" y="79774"/>
                  </a:lnTo>
                  <a:lnTo>
                    <a:pt x="3688421" y="118239"/>
                  </a:lnTo>
                  <a:lnTo>
                    <a:pt x="3694175" y="161035"/>
                  </a:lnTo>
                  <a:lnTo>
                    <a:pt x="3694175" y="3408159"/>
                  </a:lnTo>
                  <a:lnTo>
                    <a:pt x="3688421" y="3450974"/>
                  </a:lnTo>
                  <a:lnTo>
                    <a:pt x="3672181" y="3489446"/>
                  </a:lnTo>
                  <a:lnTo>
                    <a:pt x="3646995" y="3522040"/>
                  </a:lnTo>
                  <a:lnTo>
                    <a:pt x="3614401" y="3547221"/>
                  </a:lnTo>
                  <a:lnTo>
                    <a:pt x="3575936" y="3563455"/>
                  </a:lnTo>
                  <a:lnTo>
                    <a:pt x="3533140" y="3569207"/>
                  </a:lnTo>
                  <a:lnTo>
                    <a:pt x="161036" y="3569207"/>
                  </a:lnTo>
                  <a:lnTo>
                    <a:pt x="118239" y="3563455"/>
                  </a:lnTo>
                  <a:lnTo>
                    <a:pt x="79774" y="3547221"/>
                  </a:lnTo>
                  <a:lnTo>
                    <a:pt x="47180" y="3522040"/>
                  </a:lnTo>
                  <a:lnTo>
                    <a:pt x="21994" y="3489446"/>
                  </a:lnTo>
                  <a:lnTo>
                    <a:pt x="5754" y="3450974"/>
                  </a:lnTo>
                  <a:lnTo>
                    <a:pt x="0" y="3408159"/>
                  </a:lnTo>
                  <a:lnTo>
                    <a:pt x="0" y="161035"/>
                  </a:lnTo>
                  <a:close/>
                </a:path>
              </a:pathLst>
            </a:custGeom>
            <a:ln w="9525">
              <a:solidFill>
                <a:srgbClr val="002C6C"/>
              </a:solidFill>
            </a:ln>
          </p:spPr>
          <p:txBody>
            <a:bodyPr wrap="square" lIns="0" tIns="0" rIns="0" bIns="0" rtlCol="0"/>
            <a:lstStyle/>
            <a:p>
              <a:endParaRPr sz="2379"/>
            </a:p>
          </p:txBody>
        </p:sp>
      </p:grpSp>
      <p:grpSp>
        <p:nvGrpSpPr>
          <p:cNvPr id="11" name="object 10">
            <a:extLst>
              <a:ext uri="{FF2B5EF4-FFF2-40B4-BE49-F238E27FC236}">
                <a16:creationId xmlns:a16="http://schemas.microsoft.com/office/drawing/2014/main" id="{0C4A2FE3-F0C5-6AC1-F917-799E0CA3C36E}"/>
              </a:ext>
            </a:extLst>
          </p:cNvPr>
          <p:cNvGrpSpPr/>
          <p:nvPr/>
        </p:nvGrpSpPr>
        <p:grpSpPr>
          <a:xfrm>
            <a:off x="7133513" y="1649948"/>
            <a:ext cx="4394324" cy="4693995"/>
            <a:chOff x="5356859" y="1248155"/>
            <a:chExt cx="3324225" cy="3550920"/>
          </a:xfrm>
        </p:grpSpPr>
        <p:pic>
          <p:nvPicPr>
            <p:cNvPr id="12" name="object 11">
              <a:extLst>
                <a:ext uri="{FF2B5EF4-FFF2-40B4-BE49-F238E27FC236}">
                  <a16:creationId xmlns:a16="http://schemas.microsoft.com/office/drawing/2014/main" id="{4EEAECE6-2041-8C3F-A3BC-EAB35908C282}"/>
                </a:ext>
              </a:extLst>
            </p:cNvPr>
            <p:cNvPicPr/>
            <p:nvPr/>
          </p:nvPicPr>
          <p:blipFill>
            <a:blip r:embed="rId6" cstate="print"/>
            <a:stretch>
              <a:fillRect/>
            </a:stretch>
          </p:blipFill>
          <p:spPr>
            <a:xfrm>
              <a:off x="5356859" y="3572255"/>
              <a:ext cx="3323843" cy="1226820"/>
            </a:xfrm>
            <a:prstGeom prst="rect">
              <a:avLst/>
            </a:prstGeom>
          </p:spPr>
        </p:pic>
        <p:pic>
          <p:nvPicPr>
            <p:cNvPr id="13" name="object 12">
              <a:extLst>
                <a:ext uri="{FF2B5EF4-FFF2-40B4-BE49-F238E27FC236}">
                  <a16:creationId xmlns:a16="http://schemas.microsoft.com/office/drawing/2014/main" id="{E144F9E9-06DC-76EA-5CC0-A01F3C1D3729}"/>
                </a:ext>
              </a:extLst>
            </p:cNvPr>
            <p:cNvPicPr/>
            <p:nvPr/>
          </p:nvPicPr>
          <p:blipFill>
            <a:blip r:embed="rId7" cstate="print"/>
            <a:stretch>
              <a:fillRect/>
            </a:stretch>
          </p:blipFill>
          <p:spPr>
            <a:xfrm>
              <a:off x="5407151" y="1283207"/>
              <a:ext cx="1225296" cy="2343912"/>
            </a:xfrm>
            <a:prstGeom prst="rect">
              <a:avLst/>
            </a:prstGeom>
          </p:spPr>
        </p:pic>
        <p:pic>
          <p:nvPicPr>
            <p:cNvPr id="15" name="object 13">
              <a:extLst>
                <a:ext uri="{FF2B5EF4-FFF2-40B4-BE49-F238E27FC236}">
                  <a16:creationId xmlns:a16="http://schemas.microsoft.com/office/drawing/2014/main" id="{3CD6B5EA-D4E7-625B-7B12-E81810F4FBC5}"/>
                </a:ext>
              </a:extLst>
            </p:cNvPr>
            <p:cNvPicPr/>
            <p:nvPr/>
          </p:nvPicPr>
          <p:blipFill>
            <a:blip r:embed="rId8" cstate="print"/>
            <a:stretch>
              <a:fillRect/>
            </a:stretch>
          </p:blipFill>
          <p:spPr>
            <a:xfrm>
              <a:off x="7519415" y="1248155"/>
              <a:ext cx="1139952" cy="2377440"/>
            </a:xfrm>
            <a:prstGeom prst="rect">
              <a:avLst/>
            </a:prstGeom>
          </p:spPr>
        </p:pic>
      </p:grpSp>
      <p:sp>
        <p:nvSpPr>
          <p:cNvPr id="16" name="object 17">
            <a:extLst>
              <a:ext uri="{FF2B5EF4-FFF2-40B4-BE49-F238E27FC236}">
                <a16:creationId xmlns:a16="http://schemas.microsoft.com/office/drawing/2014/main" id="{40296163-6556-940A-88D3-0B6C8C229D61}"/>
              </a:ext>
            </a:extLst>
          </p:cNvPr>
          <p:cNvSpPr txBox="1">
            <a:spLocks/>
          </p:cNvSpPr>
          <p:nvPr/>
        </p:nvSpPr>
        <p:spPr>
          <a:xfrm>
            <a:off x="8811006" y="4883210"/>
            <a:ext cx="139700" cy="114300"/>
          </a:xfrm>
          <a:prstGeom prst="rect">
            <a:avLst/>
          </a:prstGeom>
        </p:spPr>
        <p:txBody>
          <a:bodyPr vert="horz" wrap="square" lIns="0" tIns="0" rIns="0" bIns="0" rtlCol="0">
            <a:spAutoFit/>
          </a:bodyPr>
          <a:lstStyle>
            <a:defPPr>
              <a:defRPr lang="en-US" kern="0"/>
            </a:defPPr>
            <a:lvl1pPr marL="0" algn="l" defTabSz="914400" rtl="0" eaLnBrk="1" latinLnBrk="0" hangingPunct="1">
              <a:defRPr sz="600" b="0" i="0" kern="1200">
                <a:solidFill>
                  <a:srgbClr val="6C6362"/>
                </a:solidFill>
                <a:latin typeface="Gill Sans MT"/>
                <a:ea typeface="+mn-ea"/>
                <a:cs typeface="Gill Sans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7153">
              <a:spcBef>
                <a:spcPts val="73"/>
              </a:spcBef>
            </a:pPr>
            <a:fld id="{81D60167-4931-47E6-BA6A-407CBD079E47}" type="slidenum">
              <a:rPr lang="en-US" spc="-50" smtClean="0">
                <a:solidFill>
                  <a:srgbClr val="FFFFFF"/>
                </a:solidFill>
              </a:rPr>
              <a:pPr marL="67153">
                <a:spcBef>
                  <a:spcPts val="73"/>
                </a:spcBef>
              </a:pPr>
              <a:t>26</a:t>
            </a:fld>
            <a:endParaRPr lang="en-US" spc="-66" dirty="0"/>
          </a:p>
        </p:txBody>
      </p:sp>
    </p:spTree>
    <p:extLst>
      <p:ext uri="{BB962C8B-B14F-4D97-AF65-F5344CB8AC3E}">
        <p14:creationId xmlns:p14="http://schemas.microsoft.com/office/powerpoint/2010/main" val="19756086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158F4-2505-D99B-BA67-DF9EEB0626CB}"/>
            </a:ext>
          </a:extLst>
        </p:cNvPr>
        <p:cNvGrpSpPr/>
        <p:nvPr/>
      </p:nvGrpSpPr>
      <p:grpSpPr>
        <a:xfrm>
          <a:off x="0" y="0"/>
          <a:ext cx="0" cy="0"/>
          <a:chOff x="0" y="0"/>
          <a:chExt cx="0" cy="0"/>
        </a:xfrm>
      </p:grpSpPr>
      <p:graphicFrame>
        <p:nvGraphicFramePr>
          <p:cNvPr id="87" name="think-cell data - do not delete" hidden="1">
            <a:extLst>
              <a:ext uri="{FF2B5EF4-FFF2-40B4-BE49-F238E27FC236}">
                <a16:creationId xmlns:a16="http://schemas.microsoft.com/office/drawing/2014/main" id="{67706625-6BBD-E4E0-FAA6-195C2A8A641C}"/>
              </a:ext>
            </a:extLst>
          </p:cNvPr>
          <p:cNvGraphicFramePr>
            <a:graphicFrameLocks noChangeAspect="1"/>
          </p:cNvGraphicFramePr>
          <p:nvPr>
            <p:custDataLst>
              <p:tags r:id="rId1"/>
            </p:custDataLst>
            <p:extLst>
              <p:ext uri="{D42A27DB-BD31-4B8C-83A1-F6EECF244321}">
                <p14:modId xmlns:p14="http://schemas.microsoft.com/office/powerpoint/2010/main" val="12593617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87" name="think-cell data - do not delete" hidden="1">
                        <a:extLst>
                          <a:ext uri="{FF2B5EF4-FFF2-40B4-BE49-F238E27FC236}">
                            <a16:creationId xmlns:a16="http://schemas.microsoft.com/office/drawing/2014/main" id="{DFF7BA73-E3B1-A3FB-00A8-5A1C95EB2CA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0" name="Title 2">
            <a:extLst>
              <a:ext uri="{FF2B5EF4-FFF2-40B4-BE49-F238E27FC236}">
                <a16:creationId xmlns:a16="http://schemas.microsoft.com/office/drawing/2014/main" id="{42FD22C6-CAD5-BCD0-CE5E-A3308C36F48B}"/>
              </a:ext>
            </a:extLst>
          </p:cNvPr>
          <p:cNvSpPr>
            <a:spLocks noGrp="1"/>
          </p:cNvSpPr>
          <p:nvPr>
            <p:ph type="title"/>
          </p:nvPr>
        </p:nvSpPr>
        <p:spPr>
          <a:xfrm>
            <a:off x="939800" y="3261949"/>
            <a:ext cx="11252200" cy="334102"/>
          </a:xfrm>
        </p:spPr>
        <p:txBody>
          <a:bodyPr vert="horz">
            <a:noAutofit/>
          </a:bodyPr>
          <a:lstStyle/>
          <a:p>
            <a:r>
              <a:rPr lang="en-US" sz="4000" b="1" dirty="0">
                <a:latin typeface="Calibri" panose="020F0502020204030204" pitchFamily="34" charset="0"/>
                <a:cs typeface="Calibri" panose="020F0502020204030204" pitchFamily="34" charset="0"/>
              </a:rPr>
              <a:t>Thank You</a:t>
            </a:r>
          </a:p>
        </p:txBody>
      </p:sp>
    </p:spTree>
    <p:extLst>
      <p:ext uri="{BB962C8B-B14F-4D97-AF65-F5344CB8AC3E}">
        <p14:creationId xmlns:p14="http://schemas.microsoft.com/office/powerpoint/2010/main" val="250518516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Props1.xml><?xml version="1.0" encoding="utf-8"?>
<ds:datastoreItem xmlns:ds="http://schemas.openxmlformats.org/officeDocument/2006/customXml" ds:itemID="{28F643EA-43CC-4AF0-A9CE-690CF25374CA}"/>
</file>

<file path=customXml/itemProps2.xml><?xml version="1.0" encoding="utf-8"?>
<ds:datastoreItem xmlns:ds="http://schemas.openxmlformats.org/officeDocument/2006/customXml" ds:itemID="{B1CC4110-2E50-405A-AF22-66EDC223062C}"/>
</file>

<file path=customXml/itemProps3.xml><?xml version="1.0" encoding="utf-8"?>
<ds:datastoreItem xmlns:ds="http://schemas.openxmlformats.org/officeDocument/2006/customXml" ds:itemID="{753906BB-71BD-447B-9F74-EC195392DFBA}"/>
</file>

<file path=docProps/app.xml><?xml version="1.0" encoding="utf-8"?>
<Properties xmlns="http://schemas.openxmlformats.org/officeDocument/2006/extended-properties" xmlns:vt="http://schemas.openxmlformats.org/officeDocument/2006/docPropsVTypes">
  <TotalTime>6880</TotalTime>
  <Words>3791</Words>
  <Application>Microsoft Office PowerPoint</Application>
  <PresentationFormat>Widescreen</PresentationFormat>
  <Paragraphs>364</Paragraphs>
  <Slides>27</Slides>
  <Notes>13</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27</vt:i4>
      </vt:variant>
    </vt:vector>
  </HeadingPairs>
  <TitlesOfParts>
    <vt:vector size="37" baseType="lpstr">
      <vt:lpstr>Aptos</vt:lpstr>
      <vt:lpstr>Aptos Display</vt:lpstr>
      <vt:lpstr>Arial</vt:lpstr>
      <vt:lpstr>Calibri</vt:lpstr>
      <vt:lpstr>Gill Sans MT</vt:lpstr>
      <vt:lpstr>Verdana</vt:lpstr>
      <vt:lpstr>Wingdings</vt:lpstr>
      <vt:lpstr>Wingdings 2</vt:lpstr>
      <vt:lpstr>Office Theme</vt:lpstr>
      <vt:lpstr>think-cell Slide</vt:lpstr>
      <vt:lpstr>PowerPoint Presentation</vt:lpstr>
      <vt:lpstr>Concept of “open access”</vt:lpstr>
      <vt:lpstr>Advantages of open access to electricity networks</vt:lpstr>
      <vt:lpstr>Various types of open access transactions</vt:lpstr>
      <vt:lpstr>Key concepts relating to open access</vt:lpstr>
      <vt:lpstr>Country-wise Assessment – Afghanistan (1/3)</vt:lpstr>
      <vt:lpstr>Country-wise Assessment – Afghanistan (2/3)</vt:lpstr>
      <vt:lpstr>Country-wise Assessment – Afghanistan (3/3)</vt:lpstr>
      <vt:lpstr>Country-wise Assessment – Bangladesh (1/3)</vt:lpstr>
      <vt:lpstr>Country-wise Assessment – Bangladesh (2/3)</vt:lpstr>
      <vt:lpstr>Country-wise Assessment – Bangladesh (3/3)</vt:lpstr>
      <vt:lpstr>Country-wise Assessment – Bhutan (1/2)</vt:lpstr>
      <vt:lpstr>Country-wise Assessment – Bhutan (2/2)</vt:lpstr>
      <vt:lpstr>Country-wise Assessment – Pakistan (1/2)</vt:lpstr>
      <vt:lpstr>Country-wise Assessment – Pakistan (2/2)</vt:lpstr>
      <vt:lpstr>Country-wise Assessment – Sri Lanka</vt:lpstr>
      <vt:lpstr>Country-wise Assessment – India</vt:lpstr>
      <vt:lpstr>Country-wise Assessment – India</vt:lpstr>
      <vt:lpstr>Typical process for open access in states in India (1/2)</vt:lpstr>
      <vt:lpstr>Typical process for open access in states in India (2/2)</vt:lpstr>
      <vt:lpstr>Different Charges applicable to OA Consumers in India</vt:lpstr>
      <vt:lpstr>Cross Subsidy Computational Methodology</vt:lpstr>
      <vt:lpstr>Examples of Open Access - India</vt:lpstr>
      <vt:lpstr>Evolution of Regional Energy Cooperation, Cross Border Electricity Trade</vt:lpstr>
      <vt:lpstr>Other Examples of Open Access - USA</vt:lpstr>
      <vt:lpstr>Other Examples of Open Access - Vietnam</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Banerjee, Rajeswar</dc:creator>
  <cp:lastModifiedBy>Banerjee, Rajeswar</cp:lastModifiedBy>
  <cp:revision>7</cp:revision>
  <dcterms:created xsi:type="dcterms:W3CDTF">2024-10-23T07:06:23Z</dcterms:created>
  <dcterms:modified xsi:type="dcterms:W3CDTF">2024-10-28T01:52:45Z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2024-10-23T07:12:06Z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21a39f52-9c83-451f-9697-3cec73499811</vt:lpwstr>
  </property>
  <property fmtid="{D5CDD505-2E9C-101B-9397-08002B2CF9AE}" pid="8" name="MSIP_Label_ea60d57e-af5b-4752-ac57-3e4f28ca11dc_ContentBits">
    <vt:lpwstr>0</vt:lpwstr>
  </property>
  <property fmtid="{D5CDD505-2E9C-101B-9397-08002B2CF9AE}" pid="9" name="ContentTypeId">
    <vt:lpwstr>0x01010046EABACCD3B39C49923CC76F9A3899B0</vt:lpwstr>
  </property>
</Properties>
</file>