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authors.xml" ContentType="application/vnd.ms-powerpoint.authors+xml"/>
  <Override PartName="/ppt/charts/colors4.xml" ContentType="application/vnd.ms-office.chartcolorstyle+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colors2.xml" ContentType="application/vnd.ms-office.chartcolorstyle+xml"/>
  <Override PartName="/ppt/charts/style4.xml" ContentType="application/vnd.ms-office.chartstyl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charts/chart3.xml" ContentType="application/vnd.openxmlformats-officedocument.drawingml.char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ppt/tags/tag1.xml" ContentType="application/vnd.openxmlformats-officedocument.presentationml.tag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991" r:id="rId1"/>
  </p:sldMasterIdLst>
  <p:notesMasterIdLst>
    <p:notesMasterId r:id="rId38"/>
  </p:notesMasterIdLst>
  <p:sldIdLst>
    <p:sldId id="424" r:id="rId2"/>
    <p:sldId id="503" r:id="rId3"/>
    <p:sldId id="6264" r:id="rId4"/>
    <p:sldId id="6276" r:id="rId5"/>
    <p:sldId id="6295" r:id="rId6"/>
    <p:sldId id="6266" r:id="rId7"/>
    <p:sldId id="6270" r:id="rId8"/>
    <p:sldId id="6271" r:id="rId9"/>
    <p:sldId id="6287" r:id="rId10"/>
    <p:sldId id="6291" r:id="rId11"/>
    <p:sldId id="6292" r:id="rId12"/>
    <p:sldId id="6293" r:id="rId13"/>
    <p:sldId id="6272" r:id="rId14"/>
    <p:sldId id="3943" r:id="rId15"/>
    <p:sldId id="6260" r:id="rId16"/>
    <p:sldId id="6261" r:id="rId17"/>
    <p:sldId id="6294" r:id="rId18"/>
    <p:sldId id="6296" r:id="rId19"/>
    <p:sldId id="6267" r:id="rId20"/>
    <p:sldId id="6297" r:id="rId21"/>
    <p:sldId id="6298" r:id="rId22"/>
    <p:sldId id="6268" r:id="rId23"/>
    <p:sldId id="6269" r:id="rId24"/>
    <p:sldId id="6286" r:id="rId25"/>
    <p:sldId id="6288" r:id="rId26"/>
    <p:sldId id="6289" r:id="rId27"/>
    <p:sldId id="6274" r:id="rId28"/>
    <p:sldId id="6275" r:id="rId29"/>
    <p:sldId id="6277" r:id="rId30"/>
    <p:sldId id="6279" r:id="rId31"/>
    <p:sldId id="6278" r:id="rId32"/>
    <p:sldId id="6280" r:id="rId33"/>
    <p:sldId id="6282" r:id="rId34"/>
    <p:sldId id="6281" r:id="rId35"/>
    <p:sldId id="6283" r:id="rId36"/>
    <p:sldId id="48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A8F7C4-8C72-8F9B-99EB-CBB6617B521C}" name="Bandyopadhyay, Anirban P" initials="BAP" userId="S::anirbanb@deloitte.com::5d0adf87-8cda-4e85-a1f7-eed3388fbca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ulkarni, Rajeev" initials="KR" lastIdx="38" clrIdx="0">
    <p:extLst>
      <p:ext uri="{19B8F6BF-5375-455C-9EA6-DF929625EA0E}">
        <p15:presenceInfo xmlns:p15="http://schemas.microsoft.com/office/powerpoint/2012/main" userId="S-1-5-21-776561741-1482476501-682003330-326525" providerId="AD"/>
      </p:ext>
    </p:extLst>
  </p:cmAuthor>
  <p:cmAuthor id="2" name="Bandyopadhyay, Anirban P" initials="BAP" lastIdx="22" clrIdx="1">
    <p:extLst>
      <p:ext uri="{19B8F6BF-5375-455C-9EA6-DF929625EA0E}">
        <p15:presenceInfo xmlns:p15="http://schemas.microsoft.com/office/powerpoint/2012/main" userId="S-1-5-21-776561741-1482476501-682003330-717514" providerId="AD"/>
      </p:ext>
    </p:extLst>
  </p:cmAuthor>
  <p:cmAuthor id="3" name="Hariharan, P." initials="HP" lastIdx="63" clrIdx="2">
    <p:extLst>
      <p:ext uri="{19B8F6BF-5375-455C-9EA6-DF929625EA0E}">
        <p15:presenceInfo xmlns:p15="http://schemas.microsoft.com/office/powerpoint/2012/main" userId="S-1-5-21-776561741-1482476501-682003330-27913" providerId="AD"/>
      </p:ext>
    </p:extLst>
  </p:cmAuthor>
  <p:cmAuthor id="4" name="Patni, Surbhi" initials="PS" lastIdx="1" clrIdx="3">
    <p:extLst>
      <p:ext uri="{19B8F6BF-5375-455C-9EA6-DF929625EA0E}">
        <p15:presenceInfo xmlns:p15="http://schemas.microsoft.com/office/powerpoint/2012/main" userId="S-1-5-21-776561741-1482476501-682003330-780562" providerId="AD"/>
      </p:ext>
    </p:extLst>
  </p:cmAuthor>
  <p:cmAuthor id="5" name="Banerjee, Sayantan" initials="BS" lastIdx="1" clrIdx="4">
    <p:extLst>
      <p:ext uri="{19B8F6BF-5375-455C-9EA6-DF929625EA0E}">
        <p15:presenceInfo xmlns:p15="http://schemas.microsoft.com/office/powerpoint/2012/main" userId="S::bsayantan@deloitte.com::29b1bc15-6d12-4f6e-8f06-28f0a453772b" providerId="AD"/>
      </p:ext>
    </p:extLst>
  </p:cmAuthor>
  <p:cmAuthor id="6" name="Banerjee, Rajeswar" initials="BR" lastIdx="6" clrIdx="5">
    <p:extLst>
      <p:ext uri="{19B8F6BF-5375-455C-9EA6-DF929625EA0E}">
        <p15:presenceInfo xmlns:p15="http://schemas.microsoft.com/office/powerpoint/2012/main" userId="S::rajbanerjee@deloitte.com::b4ff5a26-7e17-4c5f-975b-d63f3f91df5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FCCC"/>
    <a:srgbClr val="F9E1F5"/>
    <a:srgbClr val="00B050"/>
    <a:srgbClr val="86BC25"/>
    <a:srgbClr val="F9E1EC"/>
    <a:srgbClr val="26890D"/>
    <a:srgbClr val="0D8390"/>
    <a:srgbClr val="046A38"/>
    <a:srgbClr val="43B02A"/>
    <a:srgbClr val="6690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5332" autoAdjust="0"/>
  </p:normalViewPr>
  <p:slideViewPr>
    <p:cSldViewPr snapToGrid="0">
      <p:cViewPr>
        <p:scale>
          <a:sx n="59" d="100"/>
          <a:sy n="59"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ajbanerjee\AppData\Roaming\Microsoft\Excel\CIL%20ppt%20backup%20(version%201).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ajbanerjee\AppData\Local\Microsoft\Windows\INetCache\Content.Outlook\I28QDYIP\Solar%20PV%20Model_Rajasthan_16.01.2023_.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ajbanerjee\AppData\Local\Microsoft\Windows\INetCache\Content.Outlook\I28QDYIP\Solar%20PV%20Model_Rajasthan_16.01.2023_.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000566322347275E-2"/>
          <c:y val="0.12126150369811499"/>
          <c:w val="0.9518835384559885"/>
          <c:h val="0.3432863830908493"/>
        </c:manualLayout>
      </c:layout>
      <c:barChart>
        <c:barDir val="col"/>
        <c:grouping val="clustered"/>
        <c:varyColors val="0"/>
        <c:ser>
          <c:idx val="0"/>
          <c:order val="0"/>
          <c:tx>
            <c:strRef>
              <c:f>Sheet1!$D$2</c:f>
              <c:strCache>
                <c:ptCount val="1"/>
                <c:pt idx="0">
                  <c:v>Final Bid Tariff (Rs/kWh)</c:v>
                </c:pt>
              </c:strCache>
            </c:strRef>
          </c:tx>
          <c:spPr>
            <a:solidFill>
              <a:schemeClr val="accent1"/>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Sheet1!$B$3:$C$33</c:f>
              <c:multiLvlStrCache>
                <c:ptCount val="31"/>
                <c:lvl>
                  <c:pt idx="0">
                    <c:v>Calpine Subsico Solar</c:v>
                  </c:pt>
                  <c:pt idx="1">
                    <c:v>NTPC Renewable</c:v>
                  </c:pt>
                  <c:pt idx="2">
                    <c:v>Sprng Natural Power Source</c:v>
                  </c:pt>
                  <c:pt idx="3">
                    <c:v>METKA EGN Singapore</c:v>
                  </c:pt>
                  <c:pt idx="4">
                    <c:v>ReNew Solar</c:v>
                  </c:pt>
                  <c:pt idx="5">
                    <c:v>ACME Solar</c:v>
                  </c:pt>
                  <c:pt idx="6">
                    <c:v>Project Eight (Ayana)</c:v>
                  </c:pt>
                  <c:pt idx="7">
                    <c:v>SolarOne Energy (Fortum)</c:v>
                  </c:pt>
                  <c:pt idx="8">
                    <c:v>Project Eight (Ayana)</c:v>
                  </c:pt>
                  <c:pt idx="9">
                    <c:v>SolarOne Energy (Fortum)</c:v>
                  </c:pt>
                  <c:pt idx="10">
                    <c:v>SJVN</c:v>
                  </c:pt>
                  <c:pt idx="11">
                    <c:v>SolarXL Alpha Energy</c:v>
                  </c:pt>
                  <c:pt idx="12">
                    <c:v>Amsa Solar Energy</c:v>
                  </c:pt>
                  <c:pt idx="13">
                    <c:v>Hinduja Renewables</c:v>
                  </c:pt>
                  <c:pt idx="14">
                    <c:v>Aditya Birla</c:v>
                  </c:pt>
                  <c:pt idx="15">
                    <c:v>Hinduja Renewable</c:v>
                  </c:pt>
                  <c:pt idx="16">
                    <c:v>SJVN</c:v>
                  </c:pt>
                  <c:pt idx="17">
                    <c:v>SJVN Green Energy</c:v>
                  </c:pt>
                  <c:pt idx="18">
                    <c:v>Juniper Green Energy</c:v>
                  </c:pt>
                  <c:pt idx="19">
                    <c:v>Tata Power Renewable Energy</c:v>
                  </c:pt>
                  <c:pt idx="20">
                    <c:v>Sukhbir Agro Energy</c:v>
                  </c:pt>
                  <c:pt idx="21">
                    <c:v>Avaada Energy</c:v>
                  </c:pt>
                  <c:pt idx="22">
                    <c:v>NTPC Renewable Energy</c:v>
                  </c:pt>
                  <c:pt idx="23">
                    <c:v>Avaada Energy</c:v>
                  </c:pt>
                  <c:pt idx="24">
                    <c:v>Solarcraft (Blupine Energy)</c:v>
                  </c:pt>
                  <c:pt idx="25">
                    <c:v>Solairedirect (Engie)</c:v>
                  </c:pt>
                  <c:pt idx="26">
                    <c:v>Tata Power Renewable Energy</c:v>
                  </c:pt>
                  <c:pt idx="27">
                    <c:v>Utkrrisht Solar (UPC Renewables)</c:v>
                  </c:pt>
                  <c:pt idx="28">
                    <c:v>SolarArise</c:v>
                  </c:pt>
                  <c:pt idx="29">
                    <c:v>SJVN Green Energy</c:v>
                  </c:pt>
                  <c:pt idx="30">
                    <c:v>Tata Power Renewable Energy</c:v>
                  </c:pt>
                </c:lvl>
                <c:lvl>
                  <c:pt idx="0">
                    <c:v>SECI RAJASTHAN 1785 MW (Dec '21)</c:v>
                  </c:pt>
                  <c:pt idx="6">
                    <c:v>SECI KOPPAL 600 MW (Feb '22)</c:v>
                  </c:pt>
                  <c:pt idx="8">
                    <c:v>SECI GADAG 600 MW (Feb '22)</c:v>
                  </c:pt>
                  <c:pt idx="10">
                    <c:v>GUVNL 500 MW Ph-XIII (Mar '22)</c:v>
                  </c:pt>
                  <c:pt idx="14">
                    <c:v>GUVNL 500 MW Ph-XIV (Jun '22)</c:v>
                  </c:pt>
                  <c:pt idx="17">
                    <c:v>MSEDCL 500 MW Ph-VII (Aug '22)</c:v>
                  </c:pt>
                  <c:pt idx="22">
                    <c:v>MSEDCL 500 MW Ph-VIII (Sep '22)</c:v>
                  </c:pt>
                  <c:pt idx="24">
                    <c:v>GUVNL 750 MW Ph-XVI (Sep '22)</c:v>
                  </c:pt>
                  <c:pt idx="28">
                    <c:v>MSEDCL Solar Ph-IX (Intra State)</c:v>
                  </c:pt>
                </c:lvl>
              </c:multiLvlStrCache>
            </c:multiLvlStrRef>
          </c:cat>
          <c:val>
            <c:numRef>
              <c:f>Sheet1!$D$3:$D$33</c:f>
              <c:numCache>
                <c:formatCode>0.00</c:formatCode>
                <c:ptCount val="31"/>
                <c:pt idx="0">
                  <c:v>2.17</c:v>
                </c:pt>
                <c:pt idx="1">
                  <c:v>2.17</c:v>
                </c:pt>
                <c:pt idx="2">
                  <c:v>2.17</c:v>
                </c:pt>
                <c:pt idx="3">
                  <c:v>2.17</c:v>
                </c:pt>
                <c:pt idx="4">
                  <c:v>2.1800000000000002</c:v>
                </c:pt>
                <c:pt idx="5">
                  <c:v>2.1800000000000002</c:v>
                </c:pt>
                <c:pt idx="6">
                  <c:v>2.36</c:v>
                </c:pt>
                <c:pt idx="7">
                  <c:v>2.37</c:v>
                </c:pt>
                <c:pt idx="8">
                  <c:v>2.35</c:v>
                </c:pt>
                <c:pt idx="9">
                  <c:v>2.36</c:v>
                </c:pt>
                <c:pt idx="10">
                  <c:v>2.29</c:v>
                </c:pt>
                <c:pt idx="11">
                  <c:v>2.29</c:v>
                </c:pt>
                <c:pt idx="12">
                  <c:v>2.29</c:v>
                </c:pt>
                <c:pt idx="13">
                  <c:v>2.29</c:v>
                </c:pt>
                <c:pt idx="14">
                  <c:v>2.2999999999999998</c:v>
                </c:pt>
                <c:pt idx="15">
                  <c:v>2.2999999999999998</c:v>
                </c:pt>
                <c:pt idx="16">
                  <c:v>2.31</c:v>
                </c:pt>
                <c:pt idx="17">
                  <c:v>2.9</c:v>
                </c:pt>
                <c:pt idx="18">
                  <c:v>2.9</c:v>
                </c:pt>
                <c:pt idx="19">
                  <c:v>2.91</c:v>
                </c:pt>
                <c:pt idx="20">
                  <c:v>2.91</c:v>
                </c:pt>
                <c:pt idx="21">
                  <c:v>2.91</c:v>
                </c:pt>
                <c:pt idx="22">
                  <c:v>2.82</c:v>
                </c:pt>
                <c:pt idx="23">
                  <c:v>2.83</c:v>
                </c:pt>
                <c:pt idx="24">
                  <c:v>2.4900000000000002</c:v>
                </c:pt>
                <c:pt idx="25">
                  <c:v>2.5</c:v>
                </c:pt>
                <c:pt idx="26">
                  <c:v>2.65</c:v>
                </c:pt>
                <c:pt idx="27">
                  <c:v>2.66</c:v>
                </c:pt>
                <c:pt idx="28">
                  <c:v>2.9</c:v>
                </c:pt>
                <c:pt idx="29">
                  <c:v>2.95</c:v>
                </c:pt>
                <c:pt idx="30">
                  <c:v>2.97</c:v>
                </c:pt>
              </c:numCache>
            </c:numRef>
          </c:val>
          <c:extLst>
            <c:ext xmlns:c16="http://schemas.microsoft.com/office/drawing/2014/chart" uri="{C3380CC4-5D6E-409C-BE32-E72D297353CC}">
              <c16:uniqueId val="{00000000-EDB2-4026-A522-04EFAF626744}"/>
            </c:ext>
          </c:extLst>
        </c:ser>
        <c:dLbls>
          <c:showLegendKey val="0"/>
          <c:showVal val="0"/>
          <c:showCatName val="0"/>
          <c:showSerName val="0"/>
          <c:showPercent val="0"/>
          <c:showBubbleSize val="0"/>
        </c:dLbls>
        <c:gapWidth val="219"/>
        <c:overlap val="-27"/>
        <c:axId val="247021520"/>
        <c:axId val="247015280"/>
      </c:barChart>
      <c:catAx>
        <c:axId val="247021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47015280"/>
        <c:crosses val="autoZero"/>
        <c:auto val="1"/>
        <c:lblAlgn val="ctr"/>
        <c:lblOffset val="100"/>
        <c:noMultiLvlLbl val="0"/>
      </c:catAx>
      <c:valAx>
        <c:axId val="247015280"/>
        <c:scaling>
          <c:orientation val="minMax"/>
        </c:scaling>
        <c:delete val="1"/>
        <c:axPos val="l"/>
        <c:numFmt formatCode="0.00" sourceLinked="1"/>
        <c:majorTickMark val="none"/>
        <c:minorTickMark val="none"/>
        <c:tickLblPos val="nextTo"/>
        <c:crossAx val="2470215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Sheet1!$B$1</c:f>
              <c:strCache>
                <c:ptCount val="1"/>
                <c:pt idx="0">
                  <c:v>Avg ECR for Mar '22 - Oct '22 (Rs/kWh)</c:v>
                </c:pt>
              </c:strCache>
            </c:strRef>
          </c:tx>
          <c:spPr>
            <a:solidFill>
              <a:schemeClr val="tx1">
                <a:lumMod val="75000"/>
                <a:lumOff val="25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Sheet1!$B$2:$B$7</c:f>
              <c:numCache>
                <c:formatCode>0.00</c:formatCode>
                <c:ptCount val="6"/>
                <c:pt idx="0">
                  <c:v>4.32</c:v>
                </c:pt>
                <c:pt idx="1">
                  <c:v>3.39</c:v>
                </c:pt>
                <c:pt idx="2">
                  <c:v>3.3</c:v>
                </c:pt>
                <c:pt idx="3">
                  <c:v>2.99</c:v>
                </c:pt>
                <c:pt idx="4">
                  <c:v>2.84</c:v>
                </c:pt>
                <c:pt idx="5">
                  <c:v>2.39</c:v>
                </c:pt>
              </c:numCache>
            </c:numRef>
          </c:val>
          <c:extLst>
            <c:ext xmlns:c16="http://schemas.microsoft.com/office/drawing/2014/chart" uri="{C3380CC4-5D6E-409C-BE32-E72D297353CC}">
              <c16:uniqueId val="{00000000-C37C-4994-BC36-B5189A0C725E}"/>
            </c:ext>
          </c:extLst>
        </c:ser>
        <c:dLbls>
          <c:showLegendKey val="0"/>
          <c:showVal val="0"/>
          <c:showCatName val="0"/>
          <c:showSerName val="0"/>
          <c:showPercent val="0"/>
          <c:showBubbleSize val="0"/>
        </c:dLbls>
        <c:gapWidth val="326"/>
        <c:axId val="1402070975"/>
        <c:axId val="1402069311"/>
      </c:barChart>
      <c:lineChart>
        <c:grouping val="standard"/>
        <c:varyColors val="0"/>
        <c:ser>
          <c:idx val="1"/>
          <c:order val="1"/>
          <c:tx>
            <c:strRef>
              <c:f>Sheet1!$C$1</c:f>
              <c:strCache>
                <c:ptCount val="1"/>
                <c:pt idx="0">
                  <c:v>PLF  for Apr '22 - Aug '22 (%)</c:v>
                </c:pt>
              </c:strCache>
            </c:strRef>
          </c:tx>
          <c:spPr>
            <a:ln w="28575" cap="rnd">
              <a:solidFill>
                <a:schemeClr val="accent6">
                  <a:tint val="77000"/>
                </a:schemeClr>
              </a:solidFill>
              <a:round/>
            </a:ln>
            <a:effectLst/>
          </c:spPr>
          <c:marker>
            <c:symbol val="none"/>
          </c:marker>
          <c:dLbls>
            <c:dLbl>
              <c:idx val="0"/>
              <c:layout>
                <c:manualLayout>
                  <c:x val="1.8418427466755868E-2"/>
                  <c:y val="3.834858523996730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7C-4994-BC36-B5189A0C725E}"/>
                </c:ext>
              </c:extLst>
            </c:dLbl>
            <c:dLbl>
              <c:idx val="2"/>
              <c:layout>
                <c:manualLayout>
                  <c:x val="2.4199951350250527E-2"/>
                  <c:y val="-2.41934809180358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7C-4994-BC36-B5189A0C725E}"/>
                </c:ext>
              </c:extLst>
            </c:dLbl>
            <c:numFmt formatCode="0%" sourceLinked="0"/>
            <c:spPr>
              <a:solidFill>
                <a:schemeClr val="accent1">
                  <a:lumMod val="20000"/>
                  <a:lumOff val="80000"/>
                </a:schemeClr>
              </a:solid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Sheet1!$C$2:$C$7</c:f>
              <c:numCache>
                <c:formatCode>0.00%</c:formatCode>
                <c:ptCount val="6"/>
                <c:pt idx="0">
                  <c:v>0.53680000000000005</c:v>
                </c:pt>
                <c:pt idx="1">
                  <c:v>0.71140000000000003</c:v>
                </c:pt>
                <c:pt idx="2">
                  <c:v>0.3085</c:v>
                </c:pt>
                <c:pt idx="3">
                  <c:v>0.57620000000000005</c:v>
                </c:pt>
                <c:pt idx="4">
                  <c:v>0.57689999999999997</c:v>
                </c:pt>
                <c:pt idx="5">
                  <c:v>0.70779999999999998</c:v>
                </c:pt>
              </c:numCache>
            </c:numRef>
          </c:val>
          <c:smooth val="0"/>
          <c:extLst>
            <c:ext xmlns:c16="http://schemas.microsoft.com/office/drawing/2014/chart" uri="{C3380CC4-5D6E-409C-BE32-E72D297353CC}">
              <c16:uniqueId val="{00000003-C37C-4994-BC36-B5189A0C725E}"/>
            </c:ext>
          </c:extLst>
        </c:ser>
        <c:dLbls>
          <c:showLegendKey val="0"/>
          <c:showVal val="0"/>
          <c:showCatName val="0"/>
          <c:showSerName val="0"/>
          <c:showPercent val="0"/>
          <c:showBubbleSize val="0"/>
        </c:dLbls>
        <c:marker val="1"/>
        <c:smooth val="0"/>
        <c:axId val="1738528"/>
        <c:axId val="1728960"/>
      </c:lineChart>
      <c:catAx>
        <c:axId val="1402070975"/>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02069311"/>
        <c:crosses val="autoZero"/>
        <c:auto val="1"/>
        <c:lblAlgn val="ctr"/>
        <c:lblOffset val="100"/>
        <c:noMultiLvlLbl val="0"/>
      </c:catAx>
      <c:valAx>
        <c:axId val="1402069311"/>
        <c:scaling>
          <c:orientation val="minMax"/>
          <c:max val="6"/>
        </c:scaling>
        <c:delete val="0"/>
        <c:axPos val="l"/>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402070975"/>
        <c:crosses val="autoZero"/>
        <c:crossBetween val="between"/>
      </c:valAx>
      <c:valAx>
        <c:axId val="1728960"/>
        <c:scaling>
          <c:orientation val="minMax"/>
          <c:max val="0.9"/>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bg1"/>
                </a:solidFill>
                <a:latin typeface="+mn-lt"/>
                <a:ea typeface="+mn-ea"/>
                <a:cs typeface="+mn-cs"/>
              </a:defRPr>
            </a:pPr>
            <a:endParaRPr lang="en-US"/>
          </a:p>
        </c:txPr>
        <c:crossAx val="1738528"/>
        <c:crosses val="max"/>
        <c:crossBetween val="between"/>
      </c:valAx>
      <c:catAx>
        <c:axId val="1738528"/>
        <c:scaling>
          <c:orientation val="minMax"/>
        </c:scaling>
        <c:delete val="1"/>
        <c:axPos val="b"/>
        <c:numFmt formatCode="General" sourceLinked="1"/>
        <c:majorTickMark val="out"/>
        <c:minorTickMark val="none"/>
        <c:tickLblPos val="nextTo"/>
        <c:crossAx val="172896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'Rate History'!$I$5</c:f>
              <c:strCache>
                <c:ptCount val="1"/>
                <c:pt idx="0">
                  <c:v>Repo Rate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cat>
            <c:numRef>
              <c:f>'Rate History'!$H$6:$H$105</c:f>
              <c:numCache>
                <c:formatCode>d\-mmm\-yy</c:formatCode>
                <c:ptCount val="100"/>
                <c:pt idx="0">
                  <c:v>38651</c:v>
                </c:pt>
                <c:pt idx="1">
                  <c:v>38741</c:v>
                </c:pt>
                <c:pt idx="2">
                  <c:v>38838</c:v>
                </c:pt>
                <c:pt idx="3">
                  <c:v>38923</c:v>
                </c:pt>
                <c:pt idx="4">
                  <c:v>38931</c:v>
                </c:pt>
                <c:pt idx="5">
                  <c:v>39020</c:v>
                </c:pt>
                <c:pt idx="6">
                  <c:v>39078</c:v>
                </c:pt>
                <c:pt idx="7">
                  <c:v>39113</c:v>
                </c:pt>
                <c:pt idx="8">
                  <c:v>39133</c:v>
                </c:pt>
                <c:pt idx="9">
                  <c:v>39171</c:v>
                </c:pt>
                <c:pt idx="10">
                  <c:v>39181</c:v>
                </c:pt>
                <c:pt idx="11">
                  <c:v>39494</c:v>
                </c:pt>
                <c:pt idx="12">
                  <c:v>39505</c:v>
                </c:pt>
                <c:pt idx="13">
                  <c:v>39611</c:v>
                </c:pt>
                <c:pt idx="14">
                  <c:v>39624</c:v>
                </c:pt>
                <c:pt idx="15">
                  <c:v>39626</c:v>
                </c:pt>
                <c:pt idx="16">
                  <c:v>39659</c:v>
                </c:pt>
                <c:pt idx="17">
                  <c:v>39672</c:v>
                </c:pt>
                <c:pt idx="18">
                  <c:v>39741</c:v>
                </c:pt>
                <c:pt idx="19">
                  <c:v>39755</c:v>
                </c:pt>
                <c:pt idx="20">
                  <c:v>39762</c:v>
                </c:pt>
                <c:pt idx="21">
                  <c:v>39790</c:v>
                </c:pt>
                <c:pt idx="22">
                  <c:v>39814</c:v>
                </c:pt>
                <c:pt idx="23">
                  <c:v>39818</c:v>
                </c:pt>
                <c:pt idx="24">
                  <c:v>39877</c:v>
                </c:pt>
                <c:pt idx="25">
                  <c:v>39924</c:v>
                </c:pt>
                <c:pt idx="26">
                  <c:v>39993</c:v>
                </c:pt>
                <c:pt idx="27">
                  <c:v>40256</c:v>
                </c:pt>
                <c:pt idx="28">
                  <c:v>40288</c:v>
                </c:pt>
                <c:pt idx="29">
                  <c:v>40361</c:v>
                </c:pt>
                <c:pt idx="30">
                  <c:v>40386</c:v>
                </c:pt>
                <c:pt idx="31">
                  <c:v>40407</c:v>
                </c:pt>
                <c:pt idx="32">
                  <c:v>40437</c:v>
                </c:pt>
                <c:pt idx="33">
                  <c:v>40472</c:v>
                </c:pt>
                <c:pt idx="34">
                  <c:v>40484</c:v>
                </c:pt>
                <c:pt idx="35">
                  <c:v>40546</c:v>
                </c:pt>
                <c:pt idx="36">
                  <c:v>40568</c:v>
                </c:pt>
                <c:pt idx="37">
                  <c:v>40588</c:v>
                </c:pt>
                <c:pt idx="38">
                  <c:v>40619</c:v>
                </c:pt>
                <c:pt idx="39">
                  <c:v>40658</c:v>
                </c:pt>
                <c:pt idx="40">
                  <c:v>40675</c:v>
                </c:pt>
                <c:pt idx="41">
                  <c:v>40735</c:v>
                </c:pt>
                <c:pt idx="42">
                  <c:v>40768</c:v>
                </c:pt>
                <c:pt idx="43">
                  <c:v>41179</c:v>
                </c:pt>
                <c:pt idx="44">
                  <c:v>41309</c:v>
                </c:pt>
                <c:pt idx="45">
                  <c:v>41397</c:v>
                </c:pt>
                <c:pt idx="46">
                  <c:v>41536</c:v>
                </c:pt>
                <c:pt idx="47">
                  <c:v>41537</c:v>
                </c:pt>
                <c:pt idx="48">
                  <c:v>41576</c:v>
                </c:pt>
                <c:pt idx="49">
                  <c:v>41585</c:v>
                </c:pt>
                <c:pt idx="50">
                  <c:v>41667</c:v>
                </c:pt>
                <c:pt idx="51">
                  <c:v>42019</c:v>
                </c:pt>
                <c:pt idx="52">
                  <c:v>42067</c:v>
                </c:pt>
                <c:pt idx="53">
                  <c:v>42104</c:v>
                </c:pt>
                <c:pt idx="54">
                  <c:v>42157</c:v>
                </c:pt>
                <c:pt idx="55">
                  <c:v>42163</c:v>
                </c:pt>
                <c:pt idx="56">
                  <c:v>42276</c:v>
                </c:pt>
                <c:pt idx="57">
                  <c:v>42282</c:v>
                </c:pt>
                <c:pt idx="58">
                  <c:v>42465</c:v>
                </c:pt>
                <c:pt idx="59">
                  <c:v>42647</c:v>
                </c:pt>
                <c:pt idx="60">
                  <c:v>42736</c:v>
                </c:pt>
                <c:pt idx="61">
                  <c:v>42826</c:v>
                </c:pt>
                <c:pt idx="62">
                  <c:v>42917</c:v>
                </c:pt>
                <c:pt idx="63">
                  <c:v>42949</c:v>
                </c:pt>
                <c:pt idx="64">
                  <c:v>43009</c:v>
                </c:pt>
                <c:pt idx="65">
                  <c:v>43101</c:v>
                </c:pt>
                <c:pt idx="66">
                  <c:v>43191</c:v>
                </c:pt>
                <c:pt idx="67">
                  <c:v>43257</c:v>
                </c:pt>
                <c:pt idx="68">
                  <c:v>43282</c:v>
                </c:pt>
                <c:pt idx="69">
                  <c:v>43313</c:v>
                </c:pt>
                <c:pt idx="70">
                  <c:v>43374</c:v>
                </c:pt>
                <c:pt idx="71">
                  <c:v>43444</c:v>
                </c:pt>
                <c:pt idx="72">
                  <c:v>43503</c:v>
                </c:pt>
                <c:pt idx="73">
                  <c:v>43559</c:v>
                </c:pt>
                <c:pt idx="74">
                  <c:v>43622</c:v>
                </c:pt>
                <c:pt idx="75">
                  <c:v>43684</c:v>
                </c:pt>
                <c:pt idx="76">
                  <c:v>43718</c:v>
                </c:pt>
                <c:pt idx="77">
                  <c:v>43815</c:v>
                </c:pt>
                <c:pt idx="78">
                  <c:v>43867</c:v>
                </c:pt>
                <c:pt idx="79">
                  <c:v>43900</c:v>
                </c:pt>
                <c:pt idx="80">
                  <c:v>43917</c:v>
                </c:pt>
                <c:pt idx="81">
                  <c:v>43973</c:v>
                </c:pt>
                <c:pt idx="82">
                  <c:v>43992</c:v>
                </c:pt>
                <c:pt idx="83">
                  <c:v>44049</c:v>
                </c:pt>
                <c:pt idx="84">
                  <c:v>44084</c:v>
                </c:pt>
                <c:pt idx="85">
                  <c:v>44113</c:v>
                </c:pt>
                <c:pt idx="86">
                  <c:v>44175</c:v>
                </c:pt>
                <c:pt idx="87">
                  <c:v>44265</c:v>
                </c:pt>
                <c:pt idx="88">
                  <c:v>44362</c:v>
                </c:pt>
                <c:pt idx="89">
                  <c:v>44454</c:v>
                </c:pt>
                <c:pt idx="90">
                  <c:v>44545</c:v>
                </c:pt>
                <c:pt idx="91">
                  <c:v>44635</c:v>
                </c:pt>
                <c:pt idx="92">
                  <c:v>44682</c:v>
                </c:pt>
                <c:pt idx="93">
                  <c:v>44720</c:v>
                </c:pt>
                <c:pt idx="94">
                  <c:v>44727</c:v>
                </c:pt>
                <c:pt idx="95">
                  <c:v>44778</c:v>
                </c:pt>
                <c:pt idx="96">
                  <c:v>44819</c:v>
                </c:pt>
                <c:pt idx="97">
                  <c:v>44834</c:v>
                </c:pt>
                <c:pt idx="98">
                  <c:v>44902</c:v>
                </c:pt>
                <c:pt idx="99">
                  <c:v>44910</c:v>
                </c:pt>
              </c:numCache>
            </c:numRef>
          </c:cat>
          <c:val>
            <c:numRef>
              <c:f>'Rate History'!$I$6:$I$105</c:f>
              <c:numCache>
                <c:formatCode>0.00%</c:formatCode>
                <c:ptCount val="100"/>
                <c:pt idx="0">
                  <c:v>6.25E-2</c:v>
                </c:pt>
                <c:pt idx="1">
                  <c:v>6.5000000000000002E-2</c:v>
                </c:pt>
                <c:pt idx="2">
                  <c:v>6.5000000000000002E-2</c:v>
                </c:pt>
                <c:pt idx="3">
                  <c:v>7.0000000000000007E-2</c:v>
                </c:pt>
                <c:pt idx="4">
                  <c:v>7.0000000000000007E-2</c:v>
                </c:pt>
                <c:pt idx="5">
                  <c:v>7.2499999999999995E-2</c:v>
                </c:pt>
                <c:pt idx="6">
                  <c:v>7.2499999999999995E-2</c:v>
                </c:pt>
                <c:pt idx="7">
                  <c:v>7.4999999999999997E-2</c:v>
                </c:pt>
                <c:pt idx="8">
                  <c:v>7.4999999999999997E-2</c:v>
                </c:pt>
                <c:pt idx="9">
                  <c:v>7.7499999999999999E-2</c:v>
                </c:pt>
                <c:pt idx="10">
                  <c:v>7.7499999999999999E-2</c:v>
                </c:pt>
                <c:pt idx="11">
                  <c:v>7.7499999999999999E-2</c:v>
                </c:pt>
                <c:pt idx="12">
                  <c:v>7.7499999999999999E-2</c:v>
                </c:pt>
                <c:pt idx="13">
                  <c:v>0.08</c:v>
                </c:pt>
                <c:pt idx="14">
                  <c:v>8.5000000000000006E-2</c:v>
                </c:pt>
                <c:pt idx="15">
                  <c:v>8.5000000000000006E-2</c:v>
                </c:pt>
                <c:pt idx="16">
                  <c:v>0.09</c:v>
                </c:pt>
                <c:pt idx="17">
                  <c:v>0.09</c:v>
                </c:pt>
                <c:pt idx="18">
                  <c:v>0.08</c:v>
                </c:pt>
                <c:pt idx="19">
                  <c:v>7.4999999999999997E-2</c:v>
                </c:pt>
                <c:pt idx="20">
                  <c:v>7.4999999999999997E-2</c:v>
                </c:pt>
                <c:pt idx="21">
                  <c:v>6.5000000000000002E-2</c:v>
                </c:pt>
                <c:pt idx="22">
                  <c:v>6.5000000000000002E-2</c:v>
                </c:pt>
                <c:pt idx="23">
                  <c:v>5.5E-2</c:v>
                </c:pt>
                <c:pt idx="24">
                  <c:v>0.05</c:v>
                </c:pt>
                <c:pt idx="25">
                  <c:v>4.7500000000000001E-2</c:v>
                </c:pt>
                <c:pt idx="26">
                  <c:v>4.7500000000000001E-2</c:v>
                </c:pt>
                <c:pt idx="27">
                  <c:v>0.05</c:v>
                </c:pt>
                <c:pt idx="28">
                  <c:v>5.2499999999999998E-2</c:v>
                </c:pt>
                <c:pt idx="29">
                  <c:v>5.5E-2</c:v>
                </c:pt>
                <c:pt idx="30">
                  <c:v>5.7500000000000002E-2</c:v>
                </c:pt>
                <c:pt idx="31">
                  <c:v>5.7500000000000002E-2</c:v>
                </c:pt>
                <c:pt idx="32">
                  <c:v>0.06</c:v>
                </c:pt>
                <c:pt idx="33">
                  <c:v>0.06</c:v>
                </c:pt>
                <c:pt idx="34">
                  <c:v>6.25E-2</c:v>
                </c:pt>
                <c:pt idx="35">
                  <c:v>6.25E-2</c:v>
                </c:pt>
                <c:pt idx="36">
                  <c:v>6.5000000000000002E-2</c:v>
                </c:pt>
                <c:pt idx="37">
                  <c:v>6.5000000000000002E-2</c:v>
                </c:pt>
                <c:pt idx="38">
                  <c:v>6.7500000000000004E-2</c:v>
                </c:pt>
                <c:pt idx="39">
                  <c:v>6.7500000000000004E-2</c:v>
                </c:pt>
                <c:pt idx="40">
                  <c:v>6.7500000000000004E-2</c:v>
                </c:pt>
                <c:pt idx="41">
                  <c:v>6.7500000000000004E-2</c:v>
                </c:pt>
                <c:pt idx="42">
                  <c:v>6.7500000000000004E-2</c:v>
                </c:pt>
                <c:pt idx="43">
                  <c:v>6.7500000000000004E-2</c:v>
                </c:pt>
                <c:pt idx="44">
                  <c:v>6.7500000000000004E-2</c:v>
                </c:pt>
                <c:pt idx="45">
                  <c:v>7.2499999999999995E-2</c:v>
                </c:pt>
                <c:pt idx="46">
                  <c:v>7.2499999999999995E-2</c:v>
                </c:pt>
                <c:pt idx="47">
                  <c:v>7.4999999999999997E-2</c:v>
                </c:pt>
                <c:pt idx="48">
                  <c:v>7.7499999999999999E-2</c:v>
                </c:pt>
                <c:pt idx="49">
                  <c:v>7.7499999999999999E-2</c:v>
                </c:pt>
                <c:pt idx="50">
                  <c:v>0.08</c:v>
                </c:pt>
                <c:pt idx="51">
                  <c:v>7.7499999999999999E-2</c:v>
                </c:pt>
                <c:pt idx="52">
                  <c:v>7.4999999999999997E-2</c:v>
                </c:pt>
                <c:pt idx="53">
                  <c:v>7.4999999999999997E-2</c:v>
                </c:pt>
                <c:pt idx="54">
                  <c:v>7.2499999999999995E-2</c:v>
                </c:pt>
                <c:pt idx="55">
                  <c:v>7.2499999999999995E-2</c:v>
                </c:pt>
                <c:pt idx="56">
                  <c:v>6.7500000000000004E-2</c:v>
                </c:pt>
                <c:pt idx="57">
                  <c:v>6.7500000000000004E-2</c:v>
                </c:pt>
                <c:pt idx="58">
                  <c:v>6.5000000000000002E-2</c:v>
                </c:pt>
                <c:pt idx="59">
                  <c:v>6.25E-2</c:v>
                </c:pt>
                <c:pt idx="60">
                  <c:v>6.25E-2</c:v>
                </c:pt>
                <c:pt idx="61">
                  <c:v>6.25E-2</c:v>
                </c:pt>
                <c:pt idx="62">
                  <c:v>6.25E-2</c:v>
                </c:pt>
                <c:pt idx="63">
                  <c:v>0.06</c:v>
                </c:pt>
                <c:pt idx="64">
                  <c:v>0.06</c:v>
                </c:pt>
                <c:pt idx="65">
                  <c:v>0.06</c:v>
                </c:pt>
                <c:pt idx="66">
                  <c:v>0.06</c:v>
                </c:pt>
                <c:pt idx="67">
                  <c:v>6.25E-2</c:v>
                </c:pt>
                <c:pt idx="68">
                  <c:v>6.25E-2</c:v>
                </c:pt>
                <c:pt idx="69">
                  <c:v>6.5000000000000002E-2</c:v>
                </c:pt>
                <c:pt idx="70">
                  <c:v>6.5000000000000002E-2</c:v>
                </c:pt>
                <c:pt idx="71">
                  <c:v>6.5000000000000002E-2</c:v>
                </c:pt>
                <c:pt idx="72">
                  <c:v>6.25E-2</c:v>
                </c:pt>
                <c:pt idx="73">
                  <c:v>0.06</c:v>
                </c:pt>
                <c:pt idx="74">
                  <c:v>5.7500000000000002E-2</c:v>
                </c:pt>
                <c:pt idx="75">
                  <c:v>5.3999999999999999E-2</c:v>
                </c:pt>
                <c:pt idx="76">
                  <c:v>5.3999999999999999E-2</c:v>
                </c:pt>
                <c:pt idx="77">
                  <c:v>5.3999999999999999E-2</c:v>
                </c:pt>
                <c:pt idx="78">
                  <c:v>5.1499999999999997E-2</c:v>
                </c:pt>
                <c:pt idx="79">
                  <c:v>5.1499999999999997E-2</c:v>
                </c:pt>
                <c:pt idx="80">
                  <c:v>4.3999999999999997E-2</c:v>
                </c:pt>
                <c:pt idx="81">
                  <c:v>0.04</c:v>
                </c:pt>
                <c:pt idx="82">
                  <c:v>0.04</c:v>
                </c:pt>
                <c:pt idx="83">
                  <c:v>0.04</c:v>
                </c:pt>
                <c:pt idx="84">
                  <c:v>0.04</c:v>
                </c:pt>
                <c:pt idx="85">
                  <c:v>0.04</c:v>
                </c:pt>
                <c:pt idx="86">
                  <c:v>0.04</c:v>
                </c:pt>
                <c:pt idx="87">
                  <c:v>0.04</c:v>
                </c:pt>
                <c:pt idx="88">
                  <c:v>0.04</c:v>
                </c:pt>
                <c:pt idx="89">
                  <c:v>0.04</c:v>
                </c:pt>
                <c:pt idx="90">
                  <c:v>0.04</c:v>
                </c:pt>
                <c:pt idx="91">
                  <c:v>0.04</c:v>
                </c:pt>
                <c:pt idx="92">
                  <c:v>4.3999999999999997E-2</c:v>
                </c:pt>
                <c:pt idx="93">
                  <c:v>4.9000000000000002E-2</c:v>
                </c:pt>
                <c:pt idx="94">
                  <c:v>4.9000000000000002E-2</c:v>
                </c:pt>
                <c:pt idx="95">
                  <c:v>5.3999999999999999E-2</c:v>
                </c:pt>
                <c:pt idx="96">
                  <c:v>5.3999999999999999E-2</c:v>
                </c:pt>
                <c:pt idx="97">
                  <c:v>5.8999999999999997E-2</c:v>
                </c:pt>
                <c:pt idx="98">
                  <c:v>6.25E-2</c:v>
                </c:pt>
                <c:pt idx="99">
                  <c:v>6.25E-2</c:v>
                </c:pt>
              </c:numCache>
            </c:numRef>
          </c:val>
          <c:smooth val="0"/>
          <c:extLst>
            <c:ext xmlns:c16="http://schemas.microsoft.com/office/drawing/2014/chart" uri="{C3380CC4-5D6E-409C-BE32-E72D297353CC}">
              <c16:uniqueId val="{00000001-8118-4B9A-AAA4-731272465DB7}"/>
            </c:ext>
          </c:extLst>
        </c:ser>
        <c:ser>
          <c:idx val="1"/>
          <c:order val="1"/>
          <c:tx>
            <c:strRef>
              <c:f>'Rate History'!$J$5</c:f>
              <c:strCache>
                <c:ptCount val="1"/>
                <c:pt idx="0">
                  <c:v>SBI PLR</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'Rate History'!$H$6:$H$105</c:f>
              <c:numCache>
                <c:formatCode>d\-mmm\-yy</c:formatCode>
                <c:ptCount val="100"/>
                <c:pt idx="0">
                  <c:v>38651</c:v>
                </c:pt>
                <c:pt idx="1">
                  <c:v>38741</c:v>
                </c:pt>
                <c:pt idx="2">
                  <c:v>38838</c:v>
                </c:pt>
                <c:pt idx="3">
                  <c:v>38923</c:v>
                </c:pt>
                <c:pt idx="4">
                  <c:v>38931</c:v>
                </c:pt>
                <c:pt idx="5">
                  <c:v>39020</c:v>
                </c:pt>
                <c:pt idx="6">
                  <c:v>39078</c:v>
                </c:pt>
                <c:pt idx="7">
                  <c:v>39113</c:v>
                </c:pt>
                <c:pt idx="8">
                  <c:v>39133</c:v>
                </c:pt>
                <c:pt idx="9">
                  <c:v>39171</c:v>
                </c:pt>
                <c:pt idx="10">
                  <c:v>39181</c:v>
                </c:pt>
                <c:pt idx="11">
                  <c:v>39494</c:v>
                </c:pt>
                <c:pt idx="12">
                  <c:v>39505</c:v>
                </c:pt>
                <c:pt idx="13">
                  <c:v>39611</c:v>
                </c:pt>
                <c:pt idx="14">
                  <c:v>39624</c:v>
                </c:pt>
                <c:pt idx="15">
                  <c:v>39626</c:v>
                </c:pt>
                <c:pt idx="16">
                  <c:v>39659</c:v>
                </c:pt>
                <c:pt idx="17">
                  <c:v>39672</c:v>
                </c:pt>
                <c:pt idx="18">
                  <c:v>39741</c:v>
                </c:pt>
                <c:pt idx="19">
                  <c:v>39755</c:v>
                </c:pt>
                <c:pt idx="20">
                  <c:v>39762</c:v>
                </c:pt>
                <c:pt idx="21">
                  <c:v>39790</c:v>
                </c:pt>
                <c:pt idx="22">
                  <c:v>39814</c:v>
                </c:pt>
                <c:pt idx="23">
                  <c:v>39818</c:v>
                </c:pt>
                <c:pt idx="24">
                  <c:v>39877</c:v>
                </c:pt>
                <c:pt idx="25">
                  <c:v>39924</c:v>
                </c:pt>
                <c:pt idx="26">
                  <c:v>39993</c:v>
                </c:pt>
                <c:pt idx="27">
                  <c:v>40256</c:v>
                </c:pt>
                <c:pt idx="28">
                  <c:v>40288</c:v>
                </c:pt>
                <c:pt idx="29">
                  <c:v>40361</c:v>
                </c:pt>
                <c:pt idx="30">
                  <c:v>40386</c:v>
                </c:pt>
                <c:pt idx="31">
                  <c:v>40407</c:v>
                </c:pt>
                <c:pt idx="32">
                  <c:v>40437</c:v>
                </c:pt>
                <c:pt idx="33">
                  <c:v>40472</c:v>
                </c:pt>
                <c:pt idx="34">
                  <c:v>40484</c:v>
                </c:pt>
                <c:pt idx="35">
                  <c:v>40546</c:v>
                </c:pt>
                <c:pt idx="36">
                  <c:v>40568</c:v>
                </c:pt>
                <c:pt idx="37">
                  <c:v>40588</c:v>
                </c:pt>
                <c:pt idx="38">
                  <c:v>40619</c:v>
                </c:pt>
                <c:pt idx="39">
                  <c:v>40658</c:v>
                </c:pt>
                <c:pt idx="40">
                  <c:v>40675</c:v>
                </c:pt>
                <c:pt idx="41">
                  <c:v>40735</c:v>
                </c:pt>
                <c:pt idx="42">
                  <c:v>40768</c:v>
                </c:pt>
                <c:pt idx="43">
                  <c:v>41179</c:v>
                </c:pt>
                <c:pt idx="44">
                  <c:v>41309</c:v>
                </c:pt>
                <c:pt idx="45">
                  <c:v>41397</c:v>
                </c:pt>
                <c:pt idx="46">
                  <c:v>41536</c:v>
                </c:pt>
                <c:pt idx="47">
                  <c:v>41537</c:v>
                </c:pt>
                <c:pt idx="48">
                  <c:v>41576</c:v>
                </c:pt>
                <c:pt idx="49">
                  <c:v>41585</c:v>
                </c:pt>
                <c:pt idx="50">
                  <c:v>41667</c:v>
                </c:pt>
                <c:pt idx="51">
                  <c:v>42019</c:v>
                </c:pt>
                <c:pt idx="52">
                  <c:v>42067</c:v>
                </c:pt>
                <c:pt idx="53">
                  <c:v>42104</c:v>
                </c:pt>
                <c:pt idx="54">
                  <c:v>42157</c:v>
                </c:pt>
                <c:pt idx="55">
                  <c:v>42163</c:v>
                </c:pt>
                <c:pt idx="56">
                  <c:v>42276</c:v>
                </c:pt>
                <c:pt idx="57">
                  <c:v>42282</c:v>
                </c:pt>
                <c:pt idx="58">
                  <c:v>42465</c:v>
                </c:pt>
                <c:pt idx="59">
                  <c:v>42647</c:v>
                </c:pt>
                <c:pt idx="60">
                  <c:v>42736</c:v>
                </c:pt>
                <c:pt idx="61">
                  <c:v>42826</c:v>
                </c:pt>
                <c:pt idx="62">
                  <c:v>42917</c:v>
                </c:pt>
                <c:pt idx="63">
                  <c:v>42949</c:v>
                </c:pt>
                <c:pt idx="64">
                  <c:v>43009</c:v>
                </c:pt>
                <c:pt idx="65">
                  <c:v>43101</c:v>
                </c:pt>
                <c:pt idx="66">
                  <c:v>43191</c:v>
                </c:pt>
                <c:pt idx="67">
                  <c:v>43257</c:v>
                </c:pt>
                <c:pt idx="68">
                  <c:v>43282</c:v>
                </c:pt>
                <c:pt idx="69">
                  <c:v>43313</c:v>
                </c:pt>
                <c:pt idx="70">
                  <c:v>43374</c:v>
                </c:pt>
                <c:pt idx="71">
                  <c:v>43444</c:v>
                </c:pt>
                <c:pt idx="72">
                  <c:v>43503</c:v>
                </c:pt>
                <c:pt idx="73">
                  <c:v>43559</c:v>
                </c:pt>
                <c:pt idx="74">
                  <c:v>43622</c:v>
                </c:pt>
                <c:pt idx="75">
                  <c:v>43684</c:v>
                </c:pt>
                <c:pt idx="76">
                  <c:v>43718</c:v>
                </c:pt>
                <c:pt idx="77">
                  <c:v>43815</c:v>
                </c:pt>
                <c:pt idx="78">
                  <c:v>43867</c:v>
                </c:pt>
                <c:pt idx="79">
                  <c:v>43900</c:v>
                </c:pt>
                <c:pt idx="80">
                  <c:v>43917</c:v>
                </c:pt>
                <c:pt idx="81">
                  <c:v>43973</c:v>
                </c:pt>
                <c:pt idx="82">
                  <c:v>43992</c:v>
                </c:pt>
                <c:pt idx="83">
                  <c:v>44049</c:v>
                </c:pt>
                <c:pt idx="84">
                  <c:v>44084</c:v>
                </c:pt>
                <c:pt idx="85">
                  <c:v>44113</c:v>
                </c:pt>
                <c:pt idx="86">
                  <c:v>44175</c:v>
                </c:pt>
                <c:pt idx="87">
                  <c:v>44265</c:v>
                </c:pt>
                <c:pt idx="88">
                  <c:v>44362</c:v>
                </c:pt>
                <c:pt idx="89">
                  <c:v>44454</c:v>
                </c:pt>
                <c:pt idx="90">
                  <c:v>44545</c:v>
                </c:pt>
                <c:pt idx="91">
                  <c:v>44635</c:v>
                </c:pt>
                <c:pt idx="92">
                  <c:v>44682</c:v>
                </c:pt>
                <c:pt idx="93">
                  <c:v>44720</c:v>
                </c:pt>
                <c:pt idx="94">
                  <c:v>44727</c:v>
                </c:pt>
                <c:pt idx="95">
                  <c:v>44778</c:v>
                </c:pt>
                <c:pt idx="96">
                  <c:v>44819</c:v>
                </c:pt>
                <c:pt idx="97">
                  <c:v>44834</c:v>
                </c:pt>
                <c:pt idx="98">
                  <c:v>44902</c:v>
                </c:pt>
                <c:pt idx="99">
                  <c:v>44910</c:v>
                </c:pt>
              </c:numCache>
            </c:numRef>
          </c:cat>
          <c:val>
            <c:numRef>
              <c:f>'Rate History'!$J$6:$J$105</c:f>
              <c:numCache>
                <c:formatCode>0.00%</c:formatCode>
                <c:ptCount val="100"/>
                <c:pt idx="0">
                  <c:v>0.10249999999999999</c:v>
                </c:pt>
                <c:pt idx="1">
                  <c:v>0.10249999999999999</c:v>
                </c:pt>
                <c:pt idx="2">
                  <c:v>0.1075</c:v>
                </c:pt>
                <c:pt idx="3">
                  <c:v>0.1075</c:v>
                </c:pt>
                <c:pt idx="4">
                  <c:v>0.11</c:v>
                </c:pt>
                <c:pt idx="5">
                  <c:v>0.11</c:v>
                </c:pt>
                <c:pt idx="6">
                  <c:v>0.115</c:v>
                </c:pt>
                <c:pt idx="7">
                  <c:v>0.115</c:v>
                </c:pt>
                <c:pt idx="8">
                  <c:v>0.1225</c:v>
                </c:pt>
                <c:pt idx="9">
                  <c:v>0.1225</c:v>
                </c:pt>
                <c:pt idx="10">
                  <c:v>0.1275</c:v>
                </c:pt>
                <c:pt idx="11">
                  <c:v>0.125</c:v>
                </c:pt>
                <c:pt idx="12">
                  <c:v>0.1225</c:v>
                </c:pt>
                <c:pt idx="13">
                  <c:v>0.1225</c:v>
                </c:pt>
                <c:pt idx="14">
                  <c:v>0.1225</c:v>
                </c:pt>
                <c:pt idx="15">
                  <c:v>0.1275</c:v>
                </c:pt>
                <c:pt idx="16">
                  <c:v>0.1275</c:v>
                </c:pt>
                <c:pt idx="17">
                  <c:v>0.13750000000000001</c:v>
                </c:pt>
                <c:pt idx="18">
                  <c:v>0.13750000000000001</c:v>
                </c:pt>
                <c:pt idx="19">
                  <c:v>0.13750000000000001</c:v>
                </c:pt>
                <c:pt idx="20">
                  <c:v>0.13</c:v>
                </c:pt>
                <c:pt idx="21">
                  <c:v>0.13</c:v>
                </c:pt>
                <c:pt idx="22">
                  <c:v>0.1225</c:v>
                </c:pt>
                <c:pt idx="23">
                  <c:v>0.1225</c:v>
                </c:pt>
                <c:pt idx="24">
                  <c:v>0.1225</c:v>
                </c:pt>
                <c:pt idx="25">
                  <c:v>0.1225</c:v>
                </c:pt>
                <c:pt idx="26">
                  <c:v>0.11749999999999999</c:v>
                </c:pt>
                <c:pt idx="27">
                  <c:v>0.11749999999999999</c:v>
                </c:pt>
                <c:pt idx="28">
                  <c:v>0.11749999999999999</c:v>
                </c:pt>
                <c:pt idx="29">
                  <c:v>0.11749999999999999</c:v>
                </c:pt>
                <c:pt idx="30">
                  <c:v>0.11749999999999999</c:v>
                </c:pt>
                <c:pt idx="31">
                  <c:v>0.1225</c:v>
                </c:pt>
                <c:pt idx="32">
                  <c:v>0.1225</c:v>
                </c:pt>
                <c:pt idx="33">
                  <c:v>0.125</c:v>
                </c:pt>
                <c:pt idx="34">
                  <c:v>0.125</c:v>
                </c:pt>
                <c:pt idx="35">
                  <c:v>0.1275</c:v>
                </c:pt>
                <c:pt idx="36">
                  <c:v>0.1275</c:v>
                </c:pt>
                <c:pt idx="37">
                  <c:v>0.13</c:v>
                </c:pt>
                <c:pt idx="38">
                  <c:v>0.13</c:v>
                </c:pt>
                <c:pt idx="39">
                  <c:v>0.13250000000000001</c:v>
                </c:pt>
                <c:pt idx="40">
                  <c:v>0.14000000000000001</c:v>
                </c:pt>
                <c:pt idx="41">
                  <c:v>0.14249999999999999</c:v>
                </c:pt>
                <c:pt idx="42">
                  <c:v>0.14749999999999999</c:v>
                </c:pt>
                <c:pt idx="43">
                  <c:v>0.14499999999999999</c:v>
                </c:pt>
                <c:pt idx="44">
                  <c:v>0.14449999999999999</c:v>
                </c:pt>
                <c:pt idx="45">
                  <c:v>0.14449999999999999</c:v>
                </c:pt>
                <c:pt idx="46">
                  <c:v>0.14550000000000002</c:v>
                </c:pt>
                <c:pt idx="47">
                  <c:v>0.14550000000000002</c:v>
                </c:pt>
                <c:pt idx="48">
                  <c:v>0.14550000000000002</c:v>
                </c:pt>
                <c:pt idx="49">
                  <c:v>0.14749999999999999</c:v>
                </c:pt>
                <c:pt idx="50">
                  <c:v>0.14749999999999999</c:v>
                </c:pt>
                <c:pt idx="51">
                  <c:v>0.14749999999999999</c:v>
                </c:pt>
                <c:pt idx="52">
                  <c:v>0.14749999999999999</c:v>
                </c:pt>
                <c:pt idx="53">
                  <c:v>0.14599999999999999</c:v>
                </c:pt>
                <c:pt idx="54">
                  <c:v>0.14599999999999999</c:v>
                </c:pt>
                <c:pt idx="55">
                  <c:v>0.14449999999999999</c:v>
                </c:pt>
                <c:pt idx="56">
                  <c:v>0.14449999999999999</c:v>
                </c:pt>
                <c:pt idx="57">
                  <c:v>0.14050000000000001</c:v>
                </c:pt>
                <c:pt idx="58">
                  <c:v>0.14050000000000001</c:v>
                </c:pt>
                <c:pt idx="59">
                  <c:v>0.14050000000000001</c:v>
                </c:pt>
                <c:pt idx="60">
                  <c:v>0.14000000000000001</c:v>
                </c:pt>
                <c:pt idx="61">
                  <c:v>0.13849999999999998</c:v>
                </c:pt>
                <c:pt idx="62">
                  <c:v>0.13750000000000001</c:v>
                </c:pt>
                <c:pt idx="63">
                  <c:v>0.13750000000000001</c:v>
                </c:pt>
                <c:pt idx="64">
                  <c:v>0.13699999999999998</c:v>
                </c:pt>
                <c:pt idx="65">
                  <c:v>0.13400000000000001</c:v>
                </c:pt>
                <c:pt idx="66">
                  <c:v>0.13449999999999998</c:v>
                </c:pt>
                <c:pt idx="67">
                  <c:v>0.13449999999999998</c:v>
                </c:pt>
                <c:pt idx="68">
                  <c:v>0.13699999999999998</c:v>
                </c:pt>
                <c:pt idx="69">
                  <c:v>0.13699999999999998</c:v>
                </c:pt>
                <c:pt idx="70">
                  <c:v>0.13750000000000001</c:v>
                </c:pt>
                <c:pt idx="71">
                  <c:v>0.13800000000000001</c:v>
                </c:pt>
                <c:pt idx="72">
                  <c:v>0.13800000000000001</c:v>
                </c:pt>
                <c:pt idx="73">
                  <c:v>0.13800000000000001</c:v>
                </c:pt>
                <c:pt idx="74">
                  <c:v>0.13800000000000001</c:v>
                </c:pt>
                <c:pt idx="75">
                  <c:v>0.13800000000000001</c:v>
                </c:pt>
                <c:pt idx="76">
                  <c:v>0.13699999999999998</c:v>
                </c:pt>
                <c:pt idx="77">
                  <c:v>0.13200000000000001</c:v>
                </c:pt>
                <c:pt idx="78">
                  <c:v>0.13200000000000001</c:v>
                </c:pt>
                <c:pt idx="79">
                  <c:v>0.129</c:v>
                </c:pt>
                <c:pt idx="80">
                  <c:v>0.129</c:v>
                </c:pt>
                <c:pt idx="81">
                  <c:v>0.129</c:v>
                </c:pt>
                <c:pt idx="82">
                  <c:v>0.1215</c:v>
                </c:pt>
                <c:pt idx="83">
                  <c:v>0.1215</c:v>
                </c:pt>
                <c:pt idx="84">
                  <c:v>0.1215</c:v>
                </c:pt>
                <c:pt idx="85">
                  <c:v>0.1215</c:v>
                </c:pt>
                <c:pt idx="86">
                  <c:v>0.12050000000000001</c:v>
                </c:pt>
                <c:pt idx="87">
                  <c:v>0.1215</c:v>
                </c:pt>
                <c:pt idx="88">
                  <c:v>0.1225</c:v>
                </c:pt>
                <c:pt idx="89">
                  <c:v>0.122</c:v>
                </c:pt>
                <c:pt idx="90">
                  <c:v>0.12300000000000001</c:v>
                </c:pt>
                <c:pt idx="91">
                  <c:v>0.12300000000000001</c:v>
                </c:pt>
                <c:pt idx="92">
                  <c:v>0.12300000000000001</c:v>
                </c:pt>
                <c:pt idx="93">
                  <c:v>0.12300000000000001</c:v>
                </c:pt>
                <c:pt idx="94">
                  <c:v>0.1275</c:v>
                </c:pt>
                <c:pt idx="95">
                  <c:v>0.1275</c:v>
                </c:pt>
                <c:pt idx="96">
                  <c:v>0.13449999999999998</c:v>
                </c:pt>
                <c:pt idx="97">
                  <c:v>0.13449999999999998</c:v>
                </c:pt>
                <c:pt idx="98">
                  <c:v>0.13449999999999998</c:v>
                </c:pt>
                <c:pt idx="99">
                  <c:v>0.14149999999999999</c:v>
                </c:pt>
              </c:numCache>
            </c:numRef>
          </c:val>
          <c:smooth val="0"/>
          <c:extLst>
            <c:ext xmlns:c16="http://schemas.microsoft.com/office/drawing/2014/chart" uri="{C3380CC4-5D6E-409C-BE32-E72D297353CC}">
              <c16:uniqueId val="{00000002-8118-4B9A-AAA4-731272465DB7}"/>
            </c:ext>
          </c:extLst>
        </c:ser>
        <c:dLbls>
          <c:showLegendKey val="0"/>
          <c:showVal val="0"/>
          <c:showCatName val="0"/>
          <c:showSerName val="0"/>
          <c:showPercent val="0"/>
          <c:showBubbleSize val="0"/>
        </c:dLbls>
        <c:marker val="1"/>
        <c:smooth val="0"/>
        <c:axId val="1617112064"/>
        <c:axId val="1617164480"/>
      </c:lineChart>
      <c:dateAx>
        <c:axId val="1617112064"/>
        <c:scaling>
          <c:orientation val="minMax"/>
          <c:max val="44926"/>
          <c:min val="38717"/>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617164480"/>
        <c:crosses val="autoZero"/>
        <c:auto val="1"/>
        <c:lblOffset val="100"/>
        <c:baseTimeUnit val="days"/>
      </c:dateAx>
      <c:valAx>
        <c:axId val="161716448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617112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'ECB Benchmark Rates'!$C$2</c:f>
              <c:strCache>
                <c:ptCount val="1"/>
                <c:pt idx="0">
                  <c:v>USD 6-M LIBOR</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'ECB Benchmark Rates'!$B$3:$B$62</c:f>
              <c:numCache>
                <c:formatCode>mmm\-yy</c:formatCode>
                <c:ptCount val="60"/>
                <c:pt idx="0">
                  <c:v>43101</c:v>
                </c:pt>
                <c:pt idx="1">
                  <c:v>43132</c:v>
                </c:pt>
                <c:pt idx="2">
                  <c:v>43160</c:v>
                </c:pt>
                <c:pt idx="3">
                  <c:v>43191</c:v>
                </c:pt>
                <c:pt idx="4">
                  <c:v>43221</c:v>
                </c:pt>
                <c:pt idx="5">
                  <c:v>43252</c:v>
                </c:pt>
                <c:pt idx="6">
                  <c:v>43282</c:v>
                </c:pt>
                <c:pt idx="7">
                  <c:v>43313</c:v>
                </c:pt>
                <c:pt idx="8">
                  <c:v>43344</c:v>
                </c:pt>
                <c:pt idx="9">
                  <c:v>43374</c:v>
                </c:pt>
                <c:pt idx="10">
                  <c:v>43405</c:v>
                </c:pt>
                <c:pt idx="11">
                  <c:v>43435</c:v>
                </c:pt>
                <c:pt idx="12">
                  <c:v>43466</c:v>
                </c:pt>
                <c:pt idx="13">
                  <c:v>43497</c:v>
                </c:pt>
                <c:pt idx="14">
                  <c:v>43525</c:v>
                </c:pt>
                <c:pt idx="15">
                  <c:v>43556</c:v>
                </c:pt>
                <c:pt idx="16">
                  <c:v>43586</c:v>
                </c:pt>
                <c:pt idx="17">
                  <c:v>43617</c:v>
                </c:pt>
                <c:pt idx="18">
                  <c:v>43647</c:v>
                </c:pt>
                <c:pt idx="19">
                  <c:v>43678</c:v>
                </c:pt>
                <c:pt idx="20">
                  <c:v>43709</c:v>
                </c:pt>
                <c:pt idx="21">
                  <c:v>43739</c:v>
                </c:pt>
                <c:pt idx="22">
                  <c:v>43770</c:v>
                </c:pt>
                <c:pt idx="23">
                  <c:v>43800</c:v>
                </c:pt>
                <c:pt idx="24">
                  <c:v>43831</c:v>
                </c:pt>
                <c:pt idx="25">
                  <c:v>43862</c:v>
                </c:pt>
                <c:pt idx="26">
                  <c:v>43891</c:v>
                </c:pt>
                <c:pt idx="27">
                  <c:v>43922</c:v>
                </c:pt>
                <c:pt idx="28">
                  <c:v>43952</c:v>
                </c:pt>
                <c:pt idx="29">
                  <c:v>43983</c:v>
                </c:pt>
                <c:pt idx="30">
                  <c:v>44013</c:v>
                </c:pt>
                <c:pt idx="31">
                  <c:v>44044</c:v>
                </c:pt>
                <c:pt idx="32">
                  <c:v>44075</c:v>
                </c:pt>
                <c:pt idx="33">
                  <c:v>44105</c:v>
                </c:pt>
                <c:pt idx="34">
                  <c:v>44136</c:v>
                </c:pt>
                <c:pt idx="35">
                  <c:v>44166</c:v>
                </c:pt>
                <c:pt idx="36">
                  <c:v>44197</c:v>
                </c:pt>
                <c:pt idx="37">
                  <c:v>44228</c:v>
                </c:pt>
                <c:pt idx="38">
                  <c:v>44256</c:v>
                </c:pt>
                <c:pt idx="39">
                  <c:v>44287</c:v>
                </c:pt>
                <c:pt idx="40">
                  <c:v>44317</c:v>
                </c:pt>
                <c:pt idx="41">
                  <c:v>44348</c:v>
                </c:pt>
                <c:pt idx="42">
                  <c:v>44378</c:v>
                </c:pt>
                <c:pt idx="43">
                  <c:v>44409</c:v>
                </c:pt>
                <c:pt idx="44">
                  <c:v>44440</c:v>
                </c:pt>
                <c:pt idx="45">
                  <c:v>44470</c:v>
                </c:pt>
                <c:pt idx="46">
                  <c:v>44501</c:v>
                </c:pt>
                <c:pt idx="47">
                  <c:v>44531</c:v>
                </c:pt>
                <c:pt idx="48">
                  <c:v>44562</c:v>
                </c:pt>
                <c:pt idx="49">
                  <c:v>44593</c:v>
                </c:pt>
                <c:pt idx="50">
                  <c:v>44621</c:v>
                </c:pt>
                <c:pt idx="51">
                  <c:v>44652</c:v>
                </c:pt>
                <c:pt idx="52">
                  <c:v>44682</c:v>
                </c:pt>
                <c:pt idx="53">
                  <c:v>44713</c:v>
                </c:pt>
                <c:pt idx="54">
                  <c:v>44743</c:v>
                </c:pt>
                <c:pt idx="55">
                  <c:v>44774</c:v>
                </c:pt>
                <c:pt idx="56">
                  <c:v>44805</c:v>
                </c:pt>
                <c:pt idx="57">
                  <c:v>44835</c:v>
                </c:pt>
                <c:pt idx="58">
                  <c:v>44866</c:v>
                </c:pt>
                <c:pt idx="59">
                  <c:v>44896</c:v>
                </c:pt>
              </c:numCache>
            </c:numRef>
          </c:cat>
          <c:val>
            <c:numRef>
              <c:f>'ECB Benchmark Rates'!$C$3:$C$62</c:f>
              <c:numCache>
                <c:formatCode>0%</c:formatCode>
                <c:ptCount val="60"/>
                <c:pt idx="0" formatCode="0.00%">
                  <c:v>1.907E-2</c:v>
                </c:pt>
                <c:pt idx="1">
                  <c:v>2.0889999999999999E-2</c:v>
                </c:pt>
                <c:pt idx="2" formatCode="0.00%">
                  <c:v>2.3449999999999999E-2</c:v>
                </c:pt>
                <c:pt idx="3" formatCode="0.00%">
                  <c:v>2.494E-2</c:v>
                </c:pt>
                <c:pt idx="4" formatCode="0.00%">
                  <c:v>2.5000000000000001E-2</c:v>
                </c:pt>
                <c:pt idx="5" formatCode="0.00%">
                  <c:v>2.496E-2</c:v>
                </c:pt>
                <c:pt idx="6" formatCode="0.00%">
                  <c:v>2.52E-2</c:v>
                </c:pt>
                <c:pt idx="7" formatCode="0.00%">
                  <c:v>2.52E-2</c:v>
                </c:pt>
                <c:pt idx="8" formatCode="0.00%">
                  <c:v>2.5690000000000001E-2</c:v>
                </c:pt>
                <c:pt idx="9" formatCode="0.00%">
                  <c:v>2.6870000000000002E-2</c:v>
                </c:pt>
                <c:pt idx="10" formatCode="0.00%">
                  <c:v>2.8639999999999999E-2</c:v>
                </c:pt>
                <c:pt idx="11" formatCode="0.00%">
                  <c:v>2.8889999999999999E-2</c:v>
                </c:pt>
                <c:pt idx="12" formatCode="0.00%">
                  <c:v>2.8479999999999998E-2</c:v>
                </c:pt>
                <c:pt idx="13" formatCode="0.00%">
                  <c:v>2.7349999999999999E-2</c:v>
                </c:pt>
                <c:pt idx="14" formatCode="0.00%">
                  <c:v>2.6749999999999999E-2</c:v>
                </c:pt>
                <c:pt idx="15" formatCode="0.00%">
                  <c:v>2.6329999999999999E-2</c:v>
                </c:pt>
                <c:pt idx="16" formatCode="0.00%">
                  <c:v>2.5680000000000001E-2</c:v>
                </c:pt>
                <c:pt idx="17" formatCode="0.00%">
                  <c:v>2.3009999999999999E-2</c:v>
                </c:pt>
                <c:pt idx="18" formatCode="0.00%">
                  <c:v>2.206E-2</c:v>
                </c:pt>
                <c:pt idx="19" formatCode="0.00%">
                  <c:v>2.0570000000000001E-2</c:v>
                </c:pt>
                <c:pt idx="20" formatCode="0.00%">
                  <c:v>2.0490000000000001E-2</c:v>
                </c:pt>
                <c:pt idx="21" formatCode="0.00%">
                  <c:v>1.9570000000000001E-2</c:v>
                </c:pt>
                <c:pt idx="22" formatCode="0.00%">
                  <c:v>1.9140000000000001E-2</c:v>
                </c:pt>
                <c:pt idx="23" formatCode="0.00%">
                  <c:v>1.9009999999999999E-2</c:v>
                </c:pt>
                <c:pt idx="24" formatCode="0.00%">
                  <c:v>1.839E-2</c:v>
                </c:pt>
                <c:pt idx="25" formatCode="0.00%">
                  <c:v>1.6789999999999999E-2</c:v>
                </c:pt>
                <c:pt idx="26" formatCode="0.00%">
                  <c:v>9.6399999999999993E-3</c:v>
                </c:pt>
                <c:pt idx="27" formatCode="0.00%">
                  <c:v>1.068E-2</c:v>
                </c:pt>
                <c:pt idx="28" formatCode="0.00%">
                  <c:v>6.2700000000000004E-3</c:v>
                </c:pt>
                <c:pt idx="29" formatCode="0.00%">
                  <c:v>4.2599999999999999E-3</c:v>
                </c:pt>
                <c:pt idx="30" formatCode="0.00%">
                  <c:v>3.3899999999999998E-3</c:v>
                </c:pt>
                <c:pt idx="31" formatCode="0.00%">
                  <c:v>3.13E-3</c:v>
                </c:pt>
                <c:pt idx="32" formatCode="0.00%">
                  <c:v>2.7899999999999999E-3</c:v>
                </c:pt>
                <c:pt idx="33" formatCode="0.00%">
                  <c:v>2.47E-3</c:v>
                </c:pt>
                <c:pt idx="34" formatCode="0.00%">
                  <c:v>2.5000000000000001E-3</c:v>
                </c:pt>
                <c:pt idx="35" formatCode="0.00%">
                  <c:v>2.5600000000000002E-3</c:v>
                </c:pt>
                <c:pt idx="36" formatCode="0.00%">
                  <c:v>2.4099999999999998E-3</c:v>
                </c:pt>
                <c:pt idx="37" formatCode="0.00%">
                  <c:v>2.0600000000000002E-3</c:v>
                </c:pt>
                <c:pt idx="38" formatCode="0.00%">
                  <c:v>2.0100000000000001E-3</c:v>
                </c:pt>
                <c:pt idx="39" formatCode="0.00%">
                  <c:v>2.1199999999999999E-3</c:v>
                </c:pt>
                <c:pt idx="40" formatCode="0.00%">
                  <c:v>1.8600000000000001E-3</c:v>
                </c:pt>
                <c:pt idx="41" formatCode="0.00%">
                  <c:v>1.6000000000000001E-3</c:v>
                </c:pt>
                <c:pt idx="42" formatCode="0.00%">
                  <c:v>1.56E-3</c:v>
                </c:pt>
                <c:pt idx="43" formatCode="0.00%">
                  <c:v>1.5499999999999999E-3</c:v>
                </c:pt>
                <c:pt idx="44" formatCode="0.00%">
                  <c:v>1.5200000000000001E-3</c:v>
                </c:pt>
                <c:pt idx="45" formatCode="0.00%">
                  <c:v>1.67E-3</c:v>
                </c:pt>
                <c:pt idx="46" formatCode="0.00%">
                  <c:v>2.3E-3</c:v>
                </c:pt>
                <c:pt idx="47" formatCode="0.00%">
                  <c:v>3.0599999999999998E-3</c:v>
                </c:pt>
                <c:pt idx="48" formatCode="0.00%">
                  <c:v>4.2599999999999999E-3</c:v>
                </c:pt>
                <c:pt idx="49" formatCode="0.00%">
                  <c:v>7.1399999999999996E-3</c:v>
                </c:pt>
                <c:pt idx="50" formatCode="0.00%">
                  <c:v>1.21E-2</c:v>
                </c:pt>
                <c:pt idx="51" formatCode="0.00%">
                  <c:v>1.6469999999999999E-2</c:v>
                </c:pt>
                <c:pt idx="52" formatCode="0.00%">
                  <c:v>2.0209999999999999E-2</c:v>
                </c:pt>
                <c:pt idx="53" formatCode="0.00%">
                  <c:v>2.6329999999999999E-2</c:v>
                </c:pt>
                <c:pt idx="54" formatCode="0.00%">
                  <c:v>3.1940000000000003E-2</c:v>
                </c:pt>
                <c:pt idx="55" formatCode="0.00%">
                  <c:v>3.5060000000000001E-2</c:v>
                </c:pt>
                <c:pt idx="56" formatCode="0.00%">
                  <c:v>3.9890000000000002E-2</c:v>
                </c:pt>
                <c:pt idx="57" formatCode="0.00%">
                  <c:v>4.6390000000000001E-2</c:v>
                </c:pt>
                <c:pt idx="58" formatCode="0.00%">
                  <c:v>5.1159999999999997E-2</c:v>
                </c:pt>
                <c:pt idx="59" formatCode="0.00%">
                  <c:v>5.1619999999999999E-2</c:v>
                </c:pt>
              </c:numCache>
            </c:numRef>
          </c:val>
          <c:smooth val="0"/>
          <c:extLst>
            <c:ext xmlns:c16="http://schemas.microsoft.com/office/drawing/2014/chart" uri="{C3380CC4-5D6E-409C-BE32-E72D297353CC}">
              <c16:uniqueId val="{00000000-E53D-4A19-947C-D91DB2502430}"/>
            </c:ext>
          </c:extLst>
        </c:ser>
        <c:ser>
          <c:idx val="1"/>
          <c:order val="1"/>
          <c:tx>
            <c:strRef>
              <c:f>'ECB Benchmark Rates'!$D$2</c:f>
              <c:strCache>
                <c:ptCount val="1"/>
                <c:pt idx="0">
                  <c:v>6-M EURIBOR</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'ECB Benchmark Rates'!$B$3:$B$62</c:f>
              <c:numCache>
                <c:formatCode>mmm\-yy</c:formatCode>
                <c:ptCount val="60"/>
                <c:pt idx="0">
                  <c:v>43101</c:v>
                </c:pt>
                <c:pt idx="1">
                  <c:v>43132</c:v>
                </c:pt>
                <c:pt idx="2">
                  <c:v>43160</c:v>
                </c:pt>
                <c:pt idx="3">
                  <c:v>43191</c:v>
                </c:pt>
                <c:pt idx="4">
                  <c:v>43221</c:v>
                </c:pt>
                <c:pt idx="5">
                  <c:v>43252</c:v>
                </c:pt>
                <c:pt idx="6">
                  <c:v>43282</c:v>
                </c:pt>
                <c:pt idx="7">
                  <c:v>43313</c:v>
                </c:pt>
                <c:pt idx="8">
                  <c:v>43344</c:v>
                </c:pt>
                <c:pt idx="9">
                  <c:v>43374</c:v>
                </c:pt>
                <c:pt idx="10">
                  <c:v>43405</c:v>
                </c:pt>
                <c:pt idx="11">
                  <c:v>43435</c:v>
                </c:pt>
                <c:pt idx="12">
                  <c:v>43466</c:v>
                </c:pt>
                <c:pt idx="13">
                  <c:v>43497</c:v>
                </c:pt>
                <c:pt idx="14">
                  <c:v>43525</c:v>
                </c:pt>
                <c:pt idx="15">
                  <c:v>43556</c:v>
                </c:pt>
                <c:pt idx="16">
                  <c:v>43586</c:v>
                </c:pt>
                <c:pt idx="17">
                  <c:v>43617</c:v>
                </c:pt>
                <c:pt idx="18">
                  <c:v>43647</c:v>
                </c:pt>
                <c:pt idx="19">
                  <c:v>43678</c:v>
                </c:pt>
                <c:pt idx="20">
                  <c:v>43709</c:v>
                </c:pt>
                <c:pt idx="21">
                  <c:v>43739</c:v>
                </c:pt>
                <c:pt idx="22">
                  <c:v>43770</c:v>
                </c:pt>
                <c:pt idx="23">
                  <c:v>43800</c:v>
                </c:pt>
                <c:pt idx="24">
                  <c:v>43831</c:v>
                </c:pt>
                <c:pt idx="25">
                  <c:v>43862</c:v>
                </c:pt>
                <c:pt idx="26">
                  <c:v>43891</c:v>
                </c:pt>
                <c:pt idx="27">
                  <c:v>43922</c:v>
                </c:pt>
                <c:pt idx="28">
                  <c:v>43952</c:v>
                </c:pt>
                <c:pt idx="29">
                  <c:v>43983</c:v>
                </c:pt>
                <c:pt idx="30">
                  <c:v>44013</c:v>
                </c:pt>
                <c:pt idx="31">
                  <c:v>44044</c:v>
                </c:pt>
                <c:pt idx="32">
                  <c:v>44075</c:v>
                </c:pt>
                <c:pt idx="33">
                  <c:v>44105</c:v>
                </c:pt>
                <c:pt idx="34">
                  <c:v>44136</c:v>
                </c:pt>
                <c:pt idx="35">
                  <c:v>44166</c:v>
                </c:pt>
                <c:pt idx="36">
                  <c:v>44197</c:v>
                </c:pt>
                <c:pt idx="37">
                  <c:v>44228</c:v>
                </c:pt>
                <c:pt idx="38">
                  <c:v>44256</c:v>
                </c:pt>
                <c:pt idx="39">
                  <c:v>44287</c:v>
                </c:pt>
                <c:pt idx="40">
                  <c:v>44317</c:v>
                </c:pt>
                <c:pt idx="41">
                  <c:v>44348</c:v>
                </c:pt>
                <c:pt idx="42">
                  <c:v>44378</c:v>
                </c:pt>
                <c:pt idx="43">
                  <c:v>44409</c:v>
                </c:pt>
                <c:pt idx="44">
                  <c:v>44440</c:v>
                </c:pt>
                <c:pt idx="45">
                  <c:v>44470</c:v>
                </c:pt>
                <c:pt idx="46">
                  <c:v>44501</c:v>
                </c:pt>
                <c:pt idx="47">
                  <c:v>44531</c:v>
                </c:pt>
                <c:pt idx="48">
                  <c:v>44562</c:v>
                </c:pt>
                <c:pt idx="49">
                  <c:v>44593</c:v>
                </c:pt>
                <c:pt idx="50">
                  <c:v>44621</c:v>
                </c:pt>
                <c:pt idx="51">
                  <c:v>44652</c:v>
                </c:pt>
                <c:pt idx="52">
                  <c:v>44682</c:v>
                </c:pt>
                <c:pt idx="53">
                  <c:v>44713</c:v>
                </c:pt>
                <c:pt idx="54">
                  <c:v>44743</c:v>
                </c:pt>
                <c:pt idx="55">
                  <c:v>44774</c:v>
                </c:pt>
                <c:pt idx="56">
                  <c:v>44805</c:v>
                </c:pt>
                <c:pt idx="57">
                  <c:v>44835</c:v>
                </c:pt>
                <c:pt idx="58">
                  <c:v>44866</c:v>
                </c:pt>
                <c:pt idx="59">
                  <c:v>44896</c:v>
                </c:pt>
              </c:numCache>
            </c:numRef>
          </c:cat>
          <c:val>
            <c:numRef>
              <c:f>'ECB Benchmark Rates'!$D$3:$D$62</c:f>
              <c:numCache>
                <c:formatCode>0.00%</c:formatCode>
                <c:ptCount val="60"/>
                <c:pt idx="0">
                  <c:v>-2.7100000000000002E-3</c:v>
                </c:pt>
                <c:pt idx="1">
                  <c:v>-2.7799999999999999E-3</c:v>
                </c:pt>
                <c:pt idx="2">
                  <c:v>-2.7100000000000002E-3</c:v>
                </c:pt>
                <c:pt idx="3">
                  <c:v>-2.7000000000000001E-3</c:v>
                </c:pt>
                <c:pt idx="4">
                  <c:v>-2.6900000000000001E-3</c:v>
                </c:pt>
                <c:pt idx="5">
                  <c:v>-2.6900000000000001E-3</c:v>
                </c:pt>
                <c:pt idx="6">
                  <c:v>-2.6900000000000001E-3</c:v>
                </c:pt>
                <c:pt idx="7">
                  <c:v>-2.6900000000000001E-3</c:v>
                </c:pt>
                <c:pt idx="8">
                  <c:v>-2.6800000000000001E-3</c:v>
                </c:pt>
                <c:pt idx="9">
                  <c:v>-2.6800000000000001E-3</c:v>
                </c:pt>
                <c:pt idx="10">
                  <c:v>-2.5799999999999998E-3</c:v>
                </c:pt>
                <c:pt idx="11">
                  <c:v>-2.48E-3</c:v>
                </c:pt>
                <c:pt idx="12">
                  <c:v>-2.3800000000000002E-3</c:v>
                </c:pt>
                <c:pt idx="13">
                  <c:v>-2.3500000000000001E-3</c:v>
                </c:pt>
                <c:pt idx="14">
                  <c:v>-2.3E-3</c:v>
                </c:pt>
                <c:pt idx="15">
                  <c:v>-2.2799999999999999E-3</c:v>
                </c:pt>
                <c:pt idx="16">
                  <c:v>-2.32E-3</c:v>
                </c:pt>
                <c:pt idx="17">
                  <c:v>-2.5400000000000002E-3</c:v>
                </c:pt>
                <c:pt idx="18">
                  <c:v>-3.13E-3</c:v>
                </c:pt>
                <c:pt idx="19">
                  <c:v>-3.63E-3</c:v>
                </c:pt>
                <c:pt idx="20">
                  <c:v>-4.3899999999999998E-3</c:v>
                </c:pt>
                <c:pt idx="21">
                  <c:v>-3.8700000000000002E-3</c:v>
                </c:pt>
                <c:pt idx="22">
                  <c:v>-3.48E-3</c:v>
                </c:pt>
                <c:pt idx="23">
                  <c:v>-3.4499999999999999E-3</c:v>
                </c:pt>
                <c:pt idx="24">
                  <c:v>-3.2299999999999998E-3</c:v>
                </c:pt>
                <c:pt idx="25">
                  <c:v>-3.3800000000000002E-3</c:v>
                </c:pt>
                <c:pt idx="26">
                  <c:v>-4.0000000000000001E-3</c:v>
                </c:pt>
                <c:pt idx="27">
                  <c:v>-2.7599999999999999E-3</c:v>
                </c:pt>
                <c:pt idx="28">
                  <c:v>-1.57E-3</c:v>
                </c:pt>
                <c:pt idx="29">
                  <c:v>-1.6299999999999999E-3</c:v>
                </c:pt>
                <c:pt idx="30">
                  <c:v>-2.9499999999999999E-3</c:v>
                </c:pt>
                <c:pt idx="31">
                  <c:v>-4.1700000000000001E-3</c:v>
                </c:pt>
                <c:pt idx="32">
                  <c:v>-4.4099999999999999E-3</c:v>
                </c:pt>
                <c:pt idx="33">
                  <c:v>-4.81E-3</c:v>
                </c:pt>
                <c:pt idx="34">
                  <c:v>-5.13E-3</c:v>
                </c:pt>
                <c:pt idx="35">
                  <c:v>-5.0800000000000003E-3</c:v>
                </c:pt>
                <c:pt idx="36">
                  <c:v>-5.3200000000000001E-3</c:v>
                </c:pt>
                <c:pt idx="37">
                  <c:v>-5.28E-3</c:v>
                </c:pt>
                <c:pt idx="38">
                  <c:v>-5.0800000000000003E-3</c:v>
                </c:pt>
                <c:pt idx="39">
                  <c:v>-5.1200000000000004E-3</c:v>
                </c:pt>
                <c:pt idx="40">
                  <c:v>-5.1799999999999997E-3</c:v>
                </c:pt>
                <c:pt idx="41">
                  <c:v>-5.1700000000000001E-3</c:v>
                </c:pt>
                <c:pt idx="42">
                  <c:v>-5.13E-3</c:v>
                </c:pt>
                <c:pt idx="43">
                  <c:v>-5.2300000000000003E-3</c:v>
                </c:pt>
                <c:pt idx="44">
                  <c:v>-5.2100000000000002E-3</c:v>
                </c:pt>
                <c:pt idx="45">
                  <c:v>-5.2599999999999999E-3</c:v>
                </c:pt>
                <c:pt idx="46">
                  <c:v>-5.2900000000000004E-3</c:v>
                </c:pt>
                <c:pt idx="47">
                  <c:v>-5.4099999999999999E-3</c:v>
                </c:pt>
                <c:pt idx="48">
                  <c:v>-5.3899999999999998E-3</c:v>
                </c:pt>
                <c:pt idx="49">
                  <c:v>-5.0299999999999997E-3</c:v>
                </c:pt>
                <c:pt idx="50">
                  <c:v>-4.96E-3</c:v>
                </c:pt>
                <c:pt idx="51">
                  <c:v>-3.62E-3</c:v>
                </c:pt>
                <c:pt idx="52">
                  <c:v>-2.0400000000000001E-3</c:v>
                </c:pt>
                <c:pt idx="53">
                  <c:v>-3.4000000000000002E-4</c:v>
                </c:pt>
                <c:pt idx="54">
                  <c:v>2.3800000000000002E-3</c:v>
                </c:pt>
                <c:pt idx="55">
                  <c:v>6.5399999999999998E-3</c:v>
                </c:pt>
                <c:pt idx="56">
                  <c:v>1.24E-2</c:v>
                </c:pt>
                <c:pt idx="57">
                  <c:v>1.7749999999999998E-2</c:v>
                </c:pt>
                <c:pt idx="58">
                  <c:v>2.1680000000000001E-2</c:v>
                </c:pt>
                <c:pt idx="59">
                  <c:v>2.4049999999999998E-2</c:v>
                </c:pt>
              </c:numCache>
            </c:numRef>
          </c:val>
          <c:smooth val="0"/>
          <c:extLst>
            <c:ext xmlns:c16="http://schemas.microsoft.com/office/drawing/2014/chart" uri="{C3380CC4-5D6E-409C-BE32-E72D297353CC}">
              <c16:uniqueId val="{00000001-E53D-4A19-947C-D91DB2502430}"/>
            </c:ext>
          </c:extLst>
        </c:ser>
        <c:ser>
          <c:idx val="2"/>
          <c:order val="2"/>
          <c:tx>
            <c:strRef>
              <c:f>'ECB Benchmark Rates'!$E$2</c:f>
              <c:strCache>
                <c:ptCount val="1"/>
                <c:pt idx="0">
                  <c:v>TONA</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'ECB Benchmark Rates'!$B$3:$B$62</c:f>
              <c:numCache>
                <c:formatCode>mmm\-yy</c:formatCode>
                <c:ptCount val="60"/>
                <c:pt idx="0">
                  <c:v>43101</c:v>
                </c:pt>
                <c:pt idx="1">
                  <c:v>43132</c:v>
                </c:pt>
                <c:pt idx="2">
                  <c:v>43160</c:v>
                </c:pt>
                <c:pt idx="3">
                  <c:v>43191</c:v>
                </c:pt>
                <c:pt idx="4">
                  <c:v>43221</c:v>
                </c:pt>
                <c:pt idx="5">
                  <c:v>43252</c:v>
                </c:pt>
                <c:pt idx="6">
                  <c:v>43282</c:v>
                </c:pt>
                <c:pt idx="7">
                  <c:v>43313</c:v>
                </c:pt>
                <c:pt idx="8">
                  <c:v>43344</c:v>
                </c:pt>
                <c:pt idx="9">
                  <c:v>43374</c:v>
                </c:pt>
                <c:pt idx="10">
                  <c:v>43405</c:v>
                </c:pt>
                <c:pt idx="11">
                  <c:v>43435</c:v>
                </c:pt>
                <c:pt idx="12">
                  <c:v>43466</c:v>
                </c:pt>
                <c:pt idx="13">
                  <c:v>43497</c:v>
                </c:pt>
                <c:pt idx="14">
                  <c:v>43525</c:v>
                </c:pt>
                <c:pt idx="15">
                  <c:v>43556</c:v>
                </c:pt>
                <c:pt idx="16">
                  <c:v>43586</c:v>
                </c:pt>
                <c:pt idx="17">
                  <c:v>43617</c:v>
                </c:pt>
                <c:pt idx="18">
                  <c:v>43647</c:v>
                </c:pt>
                <c:pt idx="19">
                  <c:v>43678</c:v>
                </c:pt>
                <c:pt idx="20">
                  <c:v>43709</c:v>
                </c:pt>
                <c:pt idx="21">
                  <c:v>43739</c:v>
                </c:pt>
                <c:pt idx="22">
                  <c:v>43770</c:v>
                </c:pt>
                <c:pt idx="23">
                  <c:v>43800</c:v>
                </c:pt>
                <c:pt idx="24">
                  <c:v>43831</c:v>
                </c:pt>
                <c:pt idx="25">
                  <c:v>43862</c:v>
                </c:pt>
                <c:pt idx="26">
                  <c:v>43891</c:v>
                </c:pt>
                <c:pt idx="27">
                  <c:v>43922</c:v>
                </c:pt>
                <c:pt idx="28">
                  <c:v>43952</c:v>
                </c:pt>
                <c:pt idx="29">
                  <c:v>43983</c:v>
                </c:pt>
                <c:pt idx="30">
                  <c:v>44013</c:v>
                </c:pt>
                <c:pt idx="31">
                  <c:v>44044</c:v>
                </c:pt>
                <c:pt idx="32">
                  <c:v>44075</c:v>
                </c:pt>
                <c:pt idx="33">
                  <c:v>44105</c:v>
                </c:pt>
                <c:pt idx="34">
                  <c:v>44136</c:v>
                </c:pt>
                <c:pt idx="35">
                  <c:v>44166</c:v>
                </c:pt>
                <c:pt idx="36">
                  <c:v>44197</c:v>
                </c:pt>
                <c:pt idx="37">
                  <c:v>44228</c:v>
                </c:pt>
                <c:pt idx="38">
                  <c:v>44256</c:v>
                </c:pt>
                <c:pt idx="39">
                  <c:v>44287</c:v>
                </c:pt>
                <c:pt idx="40">
                  <c:v>44317</c:v>
                </c:pt>
                <c:pt idx="41">
                  <c:v>44348</c:v>
                </c:pt>
                <c:pt idx="42">
                  <c:v>44378</c:v>
                </c:pt>
                <c:pt idx="43">
                  <c:v>44409</c:v>
                </c:pt>
                <c:pt idx="44">
                  <c:v>44440</c:v>
                </c:pt>
                <c:pt idx="45">
                  <c:v>44470</c:v>
                </c:pt>
                <c:pt idx="46">
                  <c:v>44501</c:v>
                </c:pt>
                <c:pt idx="47">
                  <c:v>44531</c:v>
                </c:pt>
                <c:pt idx="48">
                  <c:v>44562</c:v>
                </c:pt>
                <c:pt idx="49">
                  <c:v>44593</c:v>
                </c:pt>
                <c:pt idx="50">
                  <c:v>44621</c:v>
                </c:pt>
                <c:pt idx="51">
                  <c:v>44652</c:v>
                </c:pt>
                <c:pt idx="52">
                  <c:v>44682</c:v>
                </c:pt>
                <c:pt idx="53">
                  <c:v>44713</c:v>
                </c:pt>
                <c:pt idx="54">
                  <c:v>44743</c:v>
                </c:pt>
                <c:pt idx="55">
                  <c:v>44774</c:v>
                </c:pt>
                <c:pt idx="56">
                  <c:v>44805</c:v>
                </c:pt>
                <c:pt idx="57">
                  <c:v>44835</c:v>
                </c:pt>
                <c:pt idx="58">
                  <c:v>44866</c:v>
                </c:pt>
                <c:pt idx="59">
                  <c:v>44896</c:v>
                </c:pt>
              </c:numCache>
            </c:numRef>
          </c:cat>
          <c:val>
            <c:numRef>
              <c:f>'ECB Benchmark Rates'!$E$3:$E$62</c:f>
              <c:numCache>
                <c:formatCode>0.00%</c:formatCode>
                <c:ptCount val="60"/>
                <c:pt idx="0">
                  <c:v>-4.0000000000000002E-4</c:v>
                </c:pt>
                <c:pt idx="1">
                  <c:v>-4.2000000000000002E-4</c:v>
                </c:pt>
                <c:pt idx="2">
                  <c:v>-6.2E-4</c:v>
                </c:pt>
                <c:pt idx="3">
                  <c:v>-6.3000000000000003E-4</c:v>
                </c:pt>
                <c:pt idx="4">
                  <c:v>-6.0999999999999997E-4</c:v>
                </c:pt>
                <c:pt idx="5">
                  <c:v>-7.1000000000000002E-4</c:v>
                </c:pt>
                <c:pt idx="6">
                  <c:v>-6.9999999999999999E-4</c:v>
                </c:pt>
                <c:pt idx="7">
                  <c:v>-5.9000000000000003E-4</c:v>
                </c:pt>
                <c:pt idx="8">
                  <c:v>-5.9000000000000003E-4</c:v>
                </c:pt>
                <c:pt idx="9">
                  <c:v>-5.9999999999999995E-4</c:v>
                </c:pt>
                <c:pt idx="10">
                  <c:v>-6.9999999999999999E-4</c:v>
                </c:pt>
                <c:pt idx="11">
                  <c:v>-6.8000000000000005E-4</c:v>
                </c:pt>
                <c:pt idx="12">
                  <c:v>-6.4000000000000005E-4</c:v>
                </c:pt>
                <c:pt idx="13">
                  <c:v>-5.5000000000000003E-4</c:v>
                </c:pt>
                <c:pt idx="14">
                  <c:v>-4.4000000000000002E-4</c:v>
                </c:pt>
                <c:pt idx="15">
                  <c:v>-6.8000000000000005E-4</c:v>
                </c:pt>
                <c:pt idx="16">
                  <c:v>-5.0000000000000001E-4</c:v>
                </c:pt>
                <c:pt idx="17">
                  <c:v>-6.3000000000000003E-4</c:v>
                </c:pt>
                <c:pt idx="18">
                  <c:v>-7.1000000000000002E-4</c:v>
                </c:pt>
                <c:pt idx="19">
                  <c:v>-4.6000000000000001E-4</c:v>
                </c:pt>
                <c:pt idx="20">
                  <c:v>-5.9000000000000003E-4</c:v>
                </c:pt>
                <c:pt idx="21">
                  <c:v>-2.2000000000000001E-4</c:v>
                </c:pt>
                <c:pt idx="22">
                  <c:v>-4.2999999999999999E-4</c:v>
                </c:pt>
                <c:pt idx="23">
                  <c:v>-3.8000000000000002E-4</c:v>
                </c:pt>
                <c:pt idx="24">
                  <c:v>-3.2000000000000003E-4</c:v>
                </c:pt>
                <c:pt idx="25">
                  <c:v>-1.6000000000000001E-4</c:v>
                </c:pt>
                <c:pt idx="26">
                  <c:v>-4.6999999999999999E-4</c:v>
                </c:pt>
                <c:pt idx="27">
                  <c:v>-3.6000000000000002E-4</c:v>
                </c:pt>
                <c:pt idx="28">
                  <c:v>-4.6999999999999999E-4</c:v>
                </c:pt>
                <c:pt idx="29">
                  <c:v>-4.8000000000000001E-4</c:v>
                </c:pt>
                <c:pt idx="30">
                  <c:v>-2.7999999999999998E-4</c:v>
                </c:pt>
                <c:pt idx="31">
                  <c:v>-3.5E-4</c:v>
                </c:pt>
                <c:pt idx="32">
                  <c:v>-5.4000000000000001E-4</c:v>
                </c:pt>
                <c:pt idx="33">
                  <c:v>-2.0000000000000001E-4</c:v>
                </c:pt>
                <c:pt idx="34">
                  <c:v>-3.2000000000000003E-4</c:v>
                </c:pt>
                <c:pt idx="35">
                  <c:v>-2.5999999999999998E-4</c:v>
                </c:pt>
                <c:pt idx="36">
                  <c:v>-1.7000000000000001E-4</c:v>
                </c:pt>
                <c:pt idx="37">
                  <c:v>-1.6000000000000001E-4</c:v>
                </c:pt>
                <c:pt idx="38">
                  <c:v>-1.7000000000000001E-4</c:v>
                </c:pt>
                <c:pt idx="39">
                  <c:v>-1.2E-4</c:v>
                </c:pt>
                <c:pt idx="40">
                  <c:v>-1.7000000000000001E-4</c:v>
                </c:pt>
                <c:pt idx="41">
                  <c:v>-2.9E-4</c:v>
                </c:pt>
                <c:pt idx="42">
                  <c:v>-3.6000000000000002E-4</c:v>
                </c:pt>
                <c:pt idx="43">
                  <c:v>-3.4000000000000002E-4</c:v>
                </c:pt>
                <c:pt idx="44">
                  <c:v>-2.2000000000000001E-4</c:v>
                </c:pt>
                <c:pt idx="45">
                  <c:v>-2.7E-4</c:v>
                </c:pt>
                <c:pt idx="46">
                  <c:v>-4.0000000000000002E-4</c:v>
                </c:pt>
                <c:pt idx="47">
                  <c:v>-2.5999999999999998E-4</c:v>
                </c:pt>
                <c:pt idx="48">
                  <c:v>-2.0000000000000001E-4</c:v>
                </c:pt>
                <c:pt idx="49">
                  <c:v>-1.8000000000000001E-4</c:v>
                </c:pt>
                <c:pt idx="50">
                  <c:v>-8.0000000000000007E-5</c:v>
                </c:pt>
                <c:pt idx="51">
                  <c:v>-1.2E-4</c:v>
                </c:pt>
                <c:pt idx="52">
                  <c:v>-1.8000000000000001E-4</c:v>
                </c:pt>
                <c:pt idx="53">
                  <c:v>-3.8000000000000002E-4</c:v>
                </c:pt>
                <c:pt idx="54">
                  <c:v>-1.2E-4</c:v>
                </c:pt>
                <c:pt idx="55">
                  <c:v>-1.8000000000000001E-4</c:v>
                </c:pt>
                <c:pt idx="56">
                  <c:v>-4.8999999999999998E-4</c:v>
                </c:pt>
                <c:pt idx="57">
                  <c:v>-5.0000000000000001E-4</c:v>
                </c:pt>
                <c:pt idx="58">
                  <c:v>-6.7000000000000002E-4</c:v>
                </c:pt>
                <c:pt idx="59">
                  <c:v>-6.6E-4</c:v>
                </c:pt>
              </c:numCache>
            </c:numRef>
          </c:val>
          <c:smooth val="0"/>
          <c:extLst>
            <c:ext xmlns:c16="http://schemas.microsoft.com/office/drawing/2014/chart" uri="{C3380CC4-5D6E-409C-BE32-E72D297353CC}">
              <c16:uniqueId val="{00000002-E53D-4A19-947C-D91DB2502430}"/>
            </c:ext>
          </c:extLst>
        </c:ser>
        <c:dLbls>
          <c:showLegendKey val="0"/>
          <c:showVal val="0"/>
          <c:showCatName val="0"/>
          <c:showSerName val="0"/>
          <c:showPercent val="0"/>
          <c:showBubbleSize val="0"/>
        </c:dLbls>
        <c:marker val="1"/>
        <c:smooth val="0"/>
        <c:axId val="149898351"/>
        <c:axId val="149890031"/>
      </c:lineChart>
      <c:dateAx>
        <c:axId val="149898351"/>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49890031"/>
        <c:crosses val="autoZero"/>
        <c:auto val="1"/>
        <c:lblOffset val="100"/>
        <c:baseTimeUnit val="months"/>
      </c:dateAx>
      <c:valAx>
        <c:axId val="14989003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98983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F8DC-B907-45F4-A6D9-B23ADD889BF6}" type="datetimeFigureOut">
              <a:rPr lang="en-IN" smtClean="0"/>
              <a:t>16-01-2023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7263-A17B-4449-900E-FD8687FAD364}" type="slidenum">
              <a:rPr lang="en-IN" smtClean="0"/>
              <a:t>‹#›</a:t>
            </a:fld>
            <a:endParaRPr lang="en-IN"/>
          </a:p>
        </p:txBody>
      </p:sp>
    </p:spTree>
    <p:extLst>
      <p:ext uri="{BB962C8B-B14F-4D97-AF65-F5344CB8AC3E}">
        <p14:creationId xmlns:p14="http://schemas.microsoft.com/office/powerpoint/2010/main" val="367765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8928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811107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028805719"/>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8"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799" b="1">
                <a:solidFill>
                  <a:schemeClr val="bg1"/>
                </a:solidFill>
              </a:defRPr>
            </a:lvl1pPr>
            <a:lvl2pPr marL="0" marR="0" indent="0" algn="l" defTabSz="914464"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94" indent="0" algn="ctr">
              <a:buNone/>
              <a:defRPr sz="1600"/>
            </a:lvl4pPr>
            <a:lvl5pPr marL="1828928" indent="0" algn="ctr">
              <a:buNone/>
              <a:defRPr sz="1600"/>
            </a:lvl5pPr>
            <a:lvl6pPr marL="2286160" indent="0" algn="ctr">
              <a:buNone/>
              <a:defRPr sz="1600"/>
            </a:lvl6pPr>
            <a:lvl7pPr marL="2743390" indent="0" algn="ctr">
              <a:buNone/>
              <a:defRPr sz="1600"/>
            </a:lvl7pPr>
            <a:lvl8pPr marL="3200623" indent="0" algn="ctr">
              <a:buNone/>
              <a:defRPr sz="1600"/>
            </a:lvl8pPr>
            <a:lvl9pPr marL="3657855" indent="0" algn="ctr">
              <a:buNone/>
              <a:defRPr sz="1600"/>
            </a:lvl9pPr>
          </a:lstStyle>
          <a:p>
            <a:r>
              <a:rPr lang="en-US" noProof="0" dirty="0"/>
              <a:t>Click to edit Master title style</a:t>
            </a:r>
          </a:p>
          <a:p>
            <a:pPr marL="0" marR="0" lvl="1" indent="0" algn="l" defTabSz="91446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8" cy="298450"/>
          </a:xfrm>
          <a:prstGeom prst="rect">
            <a:avLst/>
          </a:prstGeom>
        </p:spPr>
        <p:txBody>
          <a:bodyPr/>
          <a:lstStyle>
            <a:lvl1pPr>
              <a:spcAft>
                <a:spcPts val="0"/>
              </a:spcAft>
              <a:defRPr sz="100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41489616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4"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5"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901936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vmlDrawing" Target="../drawings/vmlDrawing1.v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
            </p:custDataLst>
            <p:extLst>
              <p:ext uri="{D42A27DB-BD31-4B8C-83A1-F6EECF244321}">
                <p14:modId xmlns:p14="http://schemas.microsoft.com/office/powerpoint/2010/main" val="216791463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2116"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49" y="666526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2023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66221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414128804"/>
      </p:ext>
    </p:extLst>
  </p:cSld>
  <p:clrMap bg1="lt1" tx1="dk1" bg2="lt2" tx2="dk2" accent1="accent1" accent2="accent2" accent3="accent3" accent4="accent4" accent5="accent5" accent6="accent6" hlink="hlink" folHlink="folHlink"/>
  <p:sldLayoutIdLst>
    <p:sldLayoutId id="2147485023" r:id="rId1"/>
    <p:sldLayoutId id="2147485024" r:id="rId2"/>
    <p:sldLayoutId id="2147485046" r:id="rId3"/>
    <p:sldLayoutId id="2147485047" r:id="rId4"/>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19.xml"/><Relationship Id="rId1" Type="http://schemas.openxmlformats.org/officeDocument/2006/relationships/slideLayout" Target="../slideLayouts/slideLayout1.xml"/><Relationship Id="rId5" Type="http://schemas.openxmlformats.org/officeDocument/2006/relationships/slide" Target="slide18.xml"/><Relationship Id="rId4" Type="http://schemas.openxmlformats.org/officeDocument/2006/relationships/slide" Target="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1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1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1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7.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3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hyperlink" Target="https://www.pv-magazine.com/2022/07/04/indias-websol-to-build-1-8-gw-solar-cell-module-factory/" TargetMode="External"/><Relationship Id="rId3" Type="http://schemas.openxmlformats.org/officeDocument/2006/relationships/hyperlink" Target="https://www.pv-magazine-india.com/2022/09/29/adani-plans-to-have-10-gw-of-polysilicon-to-solar-module-capacity-by-2025/#:~:text=India's%20Adani%20Solar%20will%20expand,up%20to%20the%20polysilicon%20stage." TargetMode="External"/><Relationship Id="rId7" Type="http://schemas.openxmlformats.org/officeDocument/2006/relationships/hyperlink" Target="https://saatvikgroup.com/saatvik-secures-solar-modules-supply-order-for-solar-project-in-mauritius/#:~:text=About%20Saatvik&amp;text=Saatvik%20is%20expanding%20its%20capacity,Modules%20utilising%20M10%20Cell%20technology." TargetMode="External"/><Relationship Id="rId2" Type="http://schemas.openxmlformats.org/officeDocument/2006/relationships/hyperlink" Target="https://www.thehindu.com/business/vikram-solar-mulls-expansion-of-solar-module-production-capacity-to-63-gw/article65411527.ece" TargetMode="External"/><Relationship Id="rId1" Type="http://schemas.openxmlformats.org/officeDocument/2006/relationships/slideLayout" Target="../slideLayouts/slideLayout1.xml"/><Relationship Id="rId6" Type="http://schemas.openxmlformats.org/officeDocument/2006/relationships/hyperlink" Target="https://www.pv-magazine-india.com/2022/09/28/jakson-reveals-plans-to-manufacture-solar-cells-electrolyzers/" TargetMode="External"/><Relationship Id="rId5" Type="http://schemas.openxmlformats.org/officeDocument/2006/relationships/hyperlink" Target="https://www.tatapower.com/media/PressReleaseDetails/1957/tata-power-to-set-up-mega-solar-manufacturing-plant-in-tamil-nadu" TargetMode="External"/><Relationship Id="rId4" Type="http://schemas.openxmlformats.org/officeDocument/2006/relationships/hyperlink" Target="http://investors.azurepower.com/press-releases/2022/06-13-2022-13020453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95091" y="2856505"/>
            <a:ext cx="7148707" cy="1541323"/>
          </a:xfrm>
        </p:spPr>
        <p:txBody>
          <a:bodyPr/>
          <a:lstStyle/>
          <a:p>
            <a:r>
              <a:rPr lang="en-US" sz="3200" dirty="0">
                <a:solidFill>
                  <a:schemeClr val="accent6">
                    <a:lumMod val="50000"/>
                  </a:schemeClr>
                </a:solidFill>
              </a:rPr>
              <a:t>Bid Tariff Analysis for Competitive Bidding</a:t>
            </a:r>
          </a:p>
          <a:p>
            <a:r>
              <a:rPr lang="en-US" sz="2000" b="0" dirty="0">
                <a:solidFill>
                  <a:schemeClr val="tx1"/>
                </a:solidFill>
              </a:rPr>
              <a:t>810 MW RVUNL Solar Park Tender</a:t>
            </a:r>
            <a:endParaRPr lang="en-US" sz="3200" b="0" dirty="0">
              <a:solidFill>
                <a:schemeClr val="tx1"/>
              </a:solidFill>
            </a:endParaRPr>
          </a:p>
        </p:txBody>
      </p:sp>
      <p:sp>
        <p:nvSpPr>
          <p:cNvPr id="3" name="Text Placeholder 2"/>
          <p:cNvSpPr>
            <a:spLocks noGrp="1"/>
          </p:cNvSpPr>
          <p:nvPr>
            <p:ph type="body" sz="quarter" idx="10"/>
          </p:nvPr>
        </p:nvSpPr>
        <p:spPr>
          <a:xfrm>
            <a:off x="493064" y="6040365"/>
            <a:ext cx="3031417" cy="381699"/>
          </a:xfrm>
        </p:spPr>
        <p:txBody>
          <a:bodyPr>
            <a:normAutofit/>
          </a:bodyPr>
          <a:lstStyle/>
          <a:p>
            <a:r>
              <a:rPr lang="en-IN" sz="1600" b="1" dirty="0">
                <a:solidFill>
                  <a:srgbClr val="86BC25"/>
                </a:solidFill>
              </a:rPr>
              <a:t>Jan 2023</a:t>
            </a:r>
          </a:p>
        </p:txBody>
      </p:sp>
      <p:pic>
        <p:nvPicPr>
          <p:cNvPr id="7" name="Picture 6">
            <a:extLst>
              <a:ext uri="{FF2B5EF4-FFF2-40B4-BE49-F238E27FC236}">
                <a16:creationId xmlns:a16="http://schemas.microsoft.com/office/drawing/2014/main" id="{EFCC7EDA-EFCB-4614-B996-8C4AEE05CE19}"/>
              </a:ext>
            </a:extLst>
          </p:cNvPr>
          <p:cNvPicPr>
            <a:picLocks noChangeAspect="1"/>
          </p:cNvPicPr>
          <p:nvPr/>
        </p:nvPicPr>
        <p:blipFill rotWithShape="1">
          <a:blip r:embed="rId2"/>
          <a:srcRect l="25507" t="8781" r="24803" b="6790"/>
          <a:stretch/>
        </p:blipFill>
        <p:spPr>
          <a:xfrm>
            <a:off x="7684598" y="1981233"/>
            <a:ext cx="4123944" cy="4146176"/>
          </a:xfrm>
          <a:prstGeom prst="rect">
            <a:avLst/>
          </a:prstGeom>
        </p:spPr>
      </p:pic>
      <p:pic>
        <p:nvPicPr>
          <p:cNvPr id="202756" name="Picture 4" descr="CIl Full Form - javatpoint">
            <a:extLst>
              <a:ext uri="{FF2B5EF4-FFF2-40B4-BE49-F238E27FC236}">
                <a16:creationId xmlns:a16="http://schemas.microsoft.com/office/drawing/2014/main" id="{2C0DEAD5-7AE9-4109-BEE4-C347E2C9F3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435" t="3565" r="21652" b="22348"/>
          <a:stretch/>
        </p:blipFill>
        <p:spPr bwMode="auto">
          <a:xfrm>
            <a:off x="9949069" y="178905"/>
            <a:ext cx="1351721" cy="1729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7741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Salient Points of RVUNL 810 MW Tender</a:t>
            </a:r>
            <a:endParaRPr lang="en-GB" sz="2400" dirty="0"/>
          </a:p>
        </p:txBody>
      </p:sp>
      <p:sp>
        <p:nvSpPr>
          <p:cNvPr id="2" name="Rectangle 1">
            <a:extLst>
              <a:ext uri="{FF2B5EF4-FFF2-40B4-BE49-F238E27FC236}">
                <a16:creationId xmlns:a16="http://schemas.microsoft.com/office/drawing/2014/main" id="{17BEC5E1-2491-4C7F-9457-743AE20D7FCF}"/>
              </a:ext>
            </a:extLst>
          </p:cNvPr>
          <p:cNvSpPr/>
          <p:nvPr/>
        </p:nvSpPr>
        <p:spPr bwMode="gray">
          <a:xfrm>
            <a:off x="501652" y="914399"/>
            <a:ext cx="2350407" cy="513186"/>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 Mode of selection </a:t>
            </a:r>
          </a:p>
        </p:txBody>
      </p:sp>
      <p:sp>
        <p:nvSpPr>
          <p:cNvPr id="3" name="Rectangle: Rounded Corners 2">
            <a:extLst>
              <a:ext uri="{FF2B5EF4-FFF2-40B4-BE49-F238E27FC236}">
                <a16:creationId xmlns:a16="http://schemas.microsoft.com/office/drawing/2014/main" id="{B4710289-1730-48DB-9B07-F8D9016B140B}"/>
              </a:ext>
            </a:extLst>
          </p:cNvPr>
          <p:cNvSpPr/>
          <p:nvPr/>
        </p:nvSpPr>
        <p:spPr bwMode="gray">
          <a:xfrm>
            <a:off x="3505202" y="914399"/>
            <a:ext cx="7685314" cy="513186"/>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400" dirty="0">
                <a:solidFill>
                  <a:srgbClr val="313131"/>
                </a:solidFill>
              </a:rPr>
              <a:t>The selection will be carried out through e-bidding followed by e-Reverse Auction process</a:t>
            </a:r>
            <a:endParaRPr lang="en-US" sz="1400" b="1" dirty="0">
              <a:solidFill>
                <a:schemeClr val="bg1"/>
              </a:solidFill>
            </a:endParaRPr>
          </a:p>
        </p:txBody>
      </p:sp>
      <p:sp>
        <p:nvSpPr>
          <p:cNvPr id="7" name="Rectangle 6">
            <a:extLst>
              <a:ext uri="{FF2B5EF4-FFF2-40B4-BE49-F238E27FC236}">
                <a16:creationId xmlns:a16="http://schemas.microsoft.com/office/drawing/2014/main" id="{8AF4F7DA-ADDF-4372-8B2D-764408391685}"/>
              </a:ext>
            </a:extLst>
          </p:cNvPr>
          <p:cNvSpPr/>
          <p:nvPr/>
        </p:nvSpPr>
        <p:spPr bwMode="gray">
          <a:xfrm>
            <a:off x="501652" y="1567541"/>
            <a:ext cx="2350407" cy="513186"/>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Capacity offered </a:t>
            </a:r>
          </a:p>
        </p:txBody>
      </p:sp>
      <p:sp>
        <p:nvSpPr>
          <p:cNvPr id="8" name="Rectangle: Rounded Corners 7">
            <a:extLst>
              <a:ext uri="{FF2B5EF4-FFF2-40B4-BE49-F238E27FC236}">
                <a16:creationId xmlns:a16="http://schemas.microsoft.com/office/drawing/2014/main" id="{E190FE9C-1EA9-4254-885A-3AA980799AC6}"/>
              </a:ext>
            </a:extLst>
          </p:cNvPr>
          <p:cNvSpPr/>
          <p:nvPr/>
        </p:nvSpPr>
        <p:spPr bwMode="gray">
          <a:xfrm>
            <a:off x="3505202" y="1567541"/>
            <a:ext cx="7685314" cy="513186"/>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dirty="0">
                <a:solidFill>
                  <a:srgbClr val="313131"/>
                </a:solidFill>
              </a:rPr>
              <a:t>Entire 810 MW capacity to be awarded to L1 bidder</a:t>
            </a:r>
          </a:p>
          <a:p>
            <a:pPr marL="285750" indent="-285750">
              <a:lnSpc>
                <a:spcPct val="106000"/>
              </a:lnSpc>
              <a:buFont typeface="Arial" panose="020B0604020202020204" pitchFamily="34" charset="0"/>
              <a:buChar char="•"/>
            </a:pPr>
            <a:r>
              <a:rPr lang="en-US" sz="1400" dirty="0">
                <a:solidFill>
                  <a:srgbClr val="313131"/>
                </a:solidFill>
              </a:rPr>
              <a:t>No part capacity to be awarded (through bucket filling process)</a:t>
            </a:r>
            <a:endParaRPr lang="en-US" sz="1400" dirty="0">
              <a:solidFill>
                <a:schemeClr val="bg1"/>
              </a:solidFill>
            </a:endParaRPr>
          </a:p>
        </p:txBody>
      </p:sp>
      <p:sp>
        <p:nvSpPr>
          <p:cNvPr id="9" name="Rectangle 8">
            <a:extLst>
              <a:ext uri="{FF2B5EF4-FFF2-40B4-BE49-F238E27FC236}">
                <a16:creationId xmlns:a16="http://schemas.microsoft.com/office/drawing/2014/main" id="{25D27810-A8B1-423F-B928-349BC90F4F65}"/>
              </a:ext>
            </a:extLst>
          </p:cNvPr>
          <p:cNvSpPr/>
          <p:nvPr/>
        </p:nvSpPr>
        <p:spPr bwMode="gray">
          <a:xfrm>
            <a:off x="501650" y="2242451"/>
            <a:ext cx="2350407" cy="774445"/>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Responsibility of Solar Project Developer (SPD) </a:t>
            </a:r>
          </a:p>
        </p:txBody>
      </p:sp>
      <p:sp>
        <p:nvSpPr>
          <p:cNvPr id="10" name="Rectangle: Rounded Corners 9">
            <a:extLst>
              <a:ext uri="{FF2B5EF4-FFF2-40B4-BE49-F238E27FC236}">
                <a16:creationId xmlns:a16="http://schemas.microsoft.com/office/drawing/2014/main" id="{8343D13C-8843-4E4D-B1B5-554735FE05EE}"/>
              </a:ext>
            </a:extLst>
          </p:cNvPr>
          <p:cNvSpPr/>
          <p:nvPr/>
        </p:nvSpPr>
        <p:spPr bwMode="gray">
          <a:xfrm>
            <a:off x="3505200" y="2242451"/>
            <a:ext cx="7685314" cy="774445"/>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dirty="0">
                <a:solidFill>
                  <a:srgbClr val="313131"/>
                </a:solidFill>
              </a:rPr>
              <a:t>Design, installation and operation of Solar PV Power Project including the electrical network up to the Pooling Substation</a:t>
            </a:r>
          </a:p>
          <a:p>
            <a:pPr marL="285750" indent="-285750">
              <a:lnSpc>
                <a:spcPct val="106000"/>
              </a:lnSpc>
              <a:buFont typeface="Arial" panose="020B0604020202020204" pitchFamily="34" charset="0"/>
              <a:buChar char="•"/>
            </a:pPr>
            <a:r>
              <a:rPr lang="en-US" sz="1400" dirty="0">
                <a:solidFill>
                  <a:srgbClr val="313131"/>
                </a:solidFill>
              </a:rPr>
              <a:t>Securing connectivity up to Pooling substation</a:t>
            </a:r>
          </a:p>
        </p:txBody>
      </p:sp>
      <p:sp>
        <p:nvSpPr>
          <p:cNvPr id="11" name="Rectangle 10">
            <a:extLst>
              <a:ext uri="{FF2B5EF4-FFF2-40B4-BE49-F238E27FC236}">
                <a16:creationId xmlns:a16="http://schemas.microsoft.com/office/drawing/2014/main" id="{DFDBEE4E-EBE0-4F72-8BD9-94F5CD066886}"/>
              </a:ext>
            </a:extLst>
          </p:cNvPr>
          <p:cNvSpPr/>
          <p:nvPr/>
        </p:nvSpPr>
        <p:spPr bwMode="gray">
          <a:xfrm>
            <a:off x="501650" y="3167740"/>
            <a:ext cx="2350407" cy="579824"/>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Connectivity</a:t>
            </a:r>
          </a:p>
        </p:txBody>
      </p:sp>
      <p:sp>
        <p:nvSpPr>
          <p:cNvPr id="12" name="Rectangle: Rounded Corners 11">
            <a:extLst>
              <a:ext uri="{FF2B5EF4-FFF2-40B4-BE49-F238E27FC236}">
                <a16:creationId xmlns:a16="http://schemas.microsoft.com/office/drawing/2014/main" id="{B1A6770D-C23A-40DA-8195-116DB9A67ADC}"/>
              </a:ext>
            </a:extLst>
          </p:cNvPr>
          <p:cNvSpPr/>
          <p:nvPr/>
        </p:nvSpPr>
        <p:spPr bwMode="gray">
          <a:xfrm>
            <a:off x="3505200" y="3167740"/>
            <a:ext cx="7685314" cy="579824"/>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dirty="0">
                <a:solidFill>
                  <a:srgbClr val="313131"/>
                </a:solidFill>
              </a:rPr>
              <a:t>Solar plant to be connected to pooling substation at 33 kV level</a:t>
            </a:r>
          </a:p>
          <a:p>
            <a:pPr marL="285750" indent="-285750">
              <a:lnSpc>
                <a:spcPct val="106000"/>
              </a:lnSpc>
              <a:buFont typeface="Arial" panose="020B0604020202020204" pitchFamily="34" charset="0"/>
              <a:buChar char="•"/>
            </a:pPr>
            <a:r>
              <a:rPr lang="en-US" sz="1400" dirty="0">
                <a:solidFill>
                  <a:srgbClr val="313131"/>
                </a:solidFill>
              </a:rPr>
              <a:t>Power would be finally evacuated from RVPN 400 kV substation</a:t>
            </a:r>
          </a:p>
        </p:txBody>
      </p:sp>
      <p:sp>
        <p:nvSpPr>
          <p:cNvPr id="14" name="Rectangle 13">
            <a:extLst>
              <a:ext uri="{FF2B5EF4-FFF2-40B4-BE49-F238E27FC236}">
                <a16:creationId xmlns:a16="http://schemas.microsoft.com/office/drawing/2014/main" id="{0ADFD20E-BB69-44CC-9EBF-F784A3DDB429}"/>
              </a:ext>
            </a:extLst>
          </p:cNvPr>
          <p:cNvSpPr/>
          <p:nvPr/>
        </p:nvSpPr>
        <p:spPr bwMode="gray">
          <a:xfrm>
            <a:off x="501650" y="3940618"/>
            <a:ext cx="2350407" cy="1632866"/>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Key Timelines</a:t>
            </a:r>
          </a:p>
        </p:txBody>
      </p:sp>
      <p:sp>
        <p:nvSpPr>
          <p:cNvPr id="15" name="Rectangle: Rounded Corners 14">
            <a:extLst>
              <a:ext uri="{FF2B5EF4-FFF2-40B4-BE49-F238E27FC236}">
                <a16:creationId xmlns:a16="http://schemas.microsoft.com/office/drawing/2014/main" id="{0FF31A81-A949-4293-B957-896746F24001}"/>
              </a:ext>
            </a:extLst>
          </p:cNvPr>
          <p:cNvSpPr/>
          <p:nvPr/>
        </p:nvSpPr>
        <p:spPr bwMode="gray">
          <a:xfrm>
            <a:off x="3505200" y="3940618"/>
            <a:ext cx="7685314" cy="1632866"/>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dirty="0">
                <a:solidFill>
                  <a:srgbClr val="313131"/>
                </a:solidFill>
              </a:rPr>
              <a:t>Last date of Bid Submission: 22</a:t>
            </a:r>
            <a:r>
              <a:rPr lang="en-US" sz="1400" baseline="30000" dirty="0">
                <a:solidFill>
                  <a:srgbClr val="313131"/>
                </a:solidFill>
              </a:rPr>
              <a:t>nd</a:t>
            </a:r>
            <a:r>
              <a:rPr lang="en-US" sz="1400" dirty="0">
                <a:solidFill>
                  <a:srgbClr val="313131"/>
                </a:solidFill>
              </a:rPr>
              <a:t> Feb 2023</a:t>
            </a:r>
          </a:p>
          <a:p>
            <a:pPr marL="285750" indent="-285750">
              <a:lnSpc>
                <a:spcPct val="106000"/>
              </a:lnSpc>
              <a:buFont typeface="Arial" panose="020B0604020202020204" pitchFamily="34" charset="0"/>
              <a:buChar char="•"/>
            </a:pPr>
            <a:r>
              <a:rPr lang="en-US" sz="1400" dirty="0">
                <a:solidFill>
                  <a:srgbClr val="313131"/>
                </a:solidFill>
              </a:rPr>
              <a:t>Date of Bid Opening: 24</a:t>
            </a:r>
            <a:r>
              <a:rPr lang="en-US" sz="1400" baseline="30000" dirty="0">
                <a:solidFill>
                  <a:srgbClr val="313131"/>
                </a:solidFill>
              </a:rPr>
              <a:t>th</a:t>
            </a:r>
            <a:r>
              <a:rPr lang="en-US" sz="1400" dirty="0">
                <a:solidFill>
                  <a:srgbClr val="313131"/>
                </a:solidFill>
              </a:rPr>
              <a:t> Feb 2023</a:t>
            </a:r>
          </a:p>
          <a:p>
            <a:pPr marL="285750" indent="-285750">
              <a:lnSpc>
                <a:spcPct val="106000"/>
              </a:lnSpc>
              <a:buFont typeface="Arial" panose="020B0604020202020204" pitchFamily="34" charset="0"/>
              <a:buChar char="•"/>
            </a:pPr>
            <a:r>
              <a:rPr lang="en-US" sz="1400" dirty="0">
                <a:solidFill>
                  <a:srgbClr val="313131"/>
                </a:solidFill>
              </a:rPr>
              <a:t>PPA signing: Within 90 days of LOI (date may be modified to align with commissioning timeline of transmission evacuation infrastructure)</a:t>
            </a:r>
          </a:p>
          <a:p>
            <a:pPr marL="285750" indent="-285750">
              <a:lnSpc>
                <a:spcPct val="106000"/>
              </a:lnSpc>
              <a:buFont typeface="Arial" panose="020B0604020202020204" pitchFamily="34" charset="0"/>
              <a:buChar char="•"/>
            </a:pPr>
            <a:r>
              <a:rPr lang="en-US" sz="1400" dirty="0">
                <a:solidFill>
                  <a:srgbClr val="313131"/>
                </a:solidFill>
              </a:rPr>
              <a:t>Land Handover to developer: 3 months from PPA</a:t>
            </a:r>
          </a:p>
          <a:p>
            <a:pPr marL="285750" indent="-285750">
              <a:lnSpc>
                <a:spcPct val="106000"/>
              </a:lnSpc>
              <a:buFont typeface="Arial" panose="020B0604020202020204" pitchFamily="34" charset="0"/>
              <a:buChar char="•"/>
            </a:pPr>
            <a:r>
              <a:rPr lang="en-US" sz="1400" dirty="0">
                <a:solidFill>
                  <a:srgbClr val="313131"/>
                </a:solidFill>
              </a:rPr>
              <a:t>Financial Closure: 9 months from PPA</a:t>
            </a:r>
          </a:p>
          <a:p>
            <a:pPr marL="285750" indent="-285750">
              <a:lnSpc>
                <a:spcPct val="106000"/>
              </a:lnSpc>
              <a:buFont typeface="Arial" panose="020B0604020202020204" pitchFamily="34" charset="0"/>
              <a:buChar char="•"/>
            </a:pPr>
            <a:r>
              <a:rPr lang="en-US" sz="1400" dirty="0">
                <a:solidFill>
                  <a:srgbClr val="313131"/>
                </a:solidFill>
              </a:rPr>
              <a:t>Scheduled Commissioning Date: 15 months from PPA  </a:t>
            </a:r>
          </a:p>
        </p:txBody>
      </p:sp>
      <p:sp>
        <p:nvSpPr>
          <p:cNvPr id="13" name="Rectangle 12">
            <a:extLst>
              <a:ext uri="{FF2B5EF4-FFF2-40B4-BE49-F238E27FC236}">
                <a16:creationId xmlns:a16="http://schemas.microsoft.com/office/drawing/2014/main" id="{21E43417-F06E-47E2-A777-48226EAE58CF}"/>
              </a:ext>
            </a:extLst>
          </p:cNvPr>
          <p:cNvSpPr/>
          <p:nvPr/>
        </p:nvSpPr>
        <p:spPr bwMode="gray">
          <a:xfrm>
            <a:off x="501650" y="5766538"/>
            <a:ext cx="2350407" cy="579824"/>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Key competitors attending pre-bid meeting</a:t>
            </a:r>
          </a:p>
        </p:txBody>
      </p:sp>
      <p:sp>
        <p:nvSpPr>
          <p:cNvPr id="16" name="Rectangle: Rounded Corners 15">
            <a:extLst>
              <a:ext uri="{FF2B5EF4-FFF2-40B4-BE49-F238E27FC236}">
                <a16:creationId xmlns:a16="http://schemas.microsoft.com/office/drawing/2014/main" id="{540A9702-4737-4928-B50C-D2B8D5526DEC}"/>
              </a:ext>
            </a:extLst>
          </p:cNvPr>
          <p:cNvSpPr/>
          <p:nvPr/>
        </p:nvSpPr>
        <p:spPr bwMode="gray">
          <a:xfrm>
            <a:off x="3505200" y="5766538"/>
            <a:ext cx="7685314" cy="579824"/>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400" dirty="0" err="1">
                <a:solidFill>
                  <a:srgbClr val="313131"/>
                </a:solidFill>
              </a:rPr>
              <a:t>Avaada</a:t>
            </a:r>
            <a:r>
              <a:rPr lang="en-US" sz="1400" dirty="0">
                <a:solidFill>
                  <a:srgbClr val="313131"/>
                </a:solidFill>
              </a:rPr>
              <a:t> Energy, Renew Power, NTPC, Tata Power, ACME Solar, </a:t>
            </a:r>
            <a:r>
              <a:rPr lang="en-US" sz="1400" dirty="0" err="1">
                <a:solidFill>
                  <a:srgbClr val="313131"/>
                </a:solidFill>
              </a:rPr>
              <a:t>Sprng</a:t>
            </a:r>
            <a:r>
              <a:rPr lang="en-US" sz="1400" dirty="0">
                <a:solidFill>
                  <a:srgbClr val="313131"/>
                </a:solidFill>
              </a:rPr>
              <a:t> Energy, </a:t>
            </a:r>
            <a:r>
              <a:rPr lang="en-US" sz="1400" dirty="0" err="1">
                <a:solidFill>
                  <a:srgbClr val="313131"/>
                </a:solidFill>
              </a:rPr>
              <a:t>Blupine</a:t>
            </a:r>
            <a:r>
              <a:rPr lang="en-US" sz="1400" dirty="0">
                <a:solidFill>
                  <a:srgbClr val="313131"/>
                </a:solidFill>
              </a:rPr>
              <a:t> Energy</a:t>
            </a:r>
          </a:p>
        </p:txBody>
      </p:sp>
    </p:spTree>
    <p:extLst>
      <p:ext uri="{BB962C8B-B14F-4D97-AF65-F5344CB8AC3E}">
        <p14:creationId xmlns:p14="http://schemas.microsoft.com/office/powerpoint/2010/main" val="138449739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Approach for Estimation of Bid Tariff</a:t>
            </a:r>
            <a:endParaRPr lang="en-GB" sz="2400" dirty="0"/>
          </a:p>
        </p:txBody>
      </p:sp>
      <p:sp>
        <p:nvSpPr>
          <p:cNvPr id="5" name="AutoShape 3">
            <a:extLst>
              <a:ext uri="{FF2B5EF4-FFF2-40B4-BE49-F238E27FC236}">
                <a16:creationId xmlns:a16="http://schemas.microsoft.com/office/drawing/2014/main" id="{A35768AF-D622-4CBC-9A00-42FF5AAD4F8B}"/>
              </a:ext>
            </a:extLst>
          </p:cNvPr>
          <p:cNvSpPr>
            <a:spLocks noChangeArrowheads="1"/>
          </p:cNvSpPr>
          <p:nvPr/>
        </p:nvSpPr>
        <p:spPr bwMode="gray">
          <a:xfrm>
            <a:off x="501650" y="1985337"/>
            <a:ext cx="2905579" cy="2107692"/>
          </a:xfrm>
          <a:prstGeom prst="chevron">
            <a:avLst>
              <a:gd name="adj" fmla="val 34952"/>
            </a:avLst>
          </a:prstGeom>
          <a:solidFill>
            <a:schemeClr val="tx1">
              <a:lumMod val="65000"/>
              <a:lumOff val="35000"/>
            </a:schemeClr>
          </a:solidFill>
          <a:ln w="12700" cap="rnd" algn="ctr">
            <a:noFill/>
            <a:miter lim="800000"/>
            <a:headEnd/>
            <a:tailEnd/>
          </a:ln>
        </p:spPr>
        <p:txBody>
          <a:bodyPr lIns="88900" tIns="88900" rIns="88900" bIns="88900" anchor="ctr" anchorCtr="0"/>
          <a:lstStyle/>
          <a:p>
            <a:pPr algn="just">
              <a:lnSpc>
                <a:spcPct val="106000"/>
              </a:lnSpc>
              <a:defRPr/>
            </a:pPr>
            <a:r>
              <a:rPr lang="en-US" sz="1500" dirty="0">
                <a:solidFill>
                  <a:schemeClr val="bg1"/>
                </a:solidFill>
              </a:rPr>
              <a:t>Assessment of Key Input Parameters based on market intelligence</a:t>
            </a:r>
          </a:p>
        </p:txBody>
      </p:sp>
      <p:sp>
        <p:nvSpPr>
          <p:cNvPr id="7" name="AutoShape 4">
            <a:extLst>
              <a:ext uri="{FF2B5EF4-FFF2-40B4-BE49-F238E27FC236}">
                <a16:creationId xmlns:a16="http://schemas.microsoft.com/office/drawing/2014/main" id="{E731FAB4-7420-481E-9A12-D3ED1CFC119A}"/>
              </a:ext>
            </a:extLst>
          </p:cNvPr>
          <p:cNvSpPr>
            <a:spLocks noChangeArrowheads="1"/>
          </p:cNvSpPr>
          <p:nvPr/>
        </p:nvSpPr>
        <p:spPr bwMode="gray">
          <a:xfrm>
            <a:off x="3028783" y="1985337"/>
            <a:ext cx="3578846" cy="2107692"/>
          </a:xfrm>
          <a:prstGeom prst="chevron">
            <a:avLst>
              <a:gd name="adj" fmla="val 34975"/>
            </a:avLst>
          </a:prstGeom>
          <a:noFill/>
          <a:ln w="38100" cap="rnd" algn="ctr">
            <a:solidFill>
              <a:schemeClr val="accent1"/>
            </a:solidFill>
            <a:miter lim="800000"/>
            <a:headEnd/>
            <a:tailEnd/>
          </a:ln>
        </p:spPr>
        <p:txBody>
          <a:bodyPr lIns="88900" tIns="88900" rIns="88900" bIns="88900" anchor="ctr" anchorCtr="0"/>
          <a:lstStyle/>
          <a:p>
            <a:pPr algn="just">
              <a:lnSpc>
                <a:spcPct val="106000"/>
              </a:lnSpc>
              <a:defRPr/>
            </a:pPr>
            <a:r>
              <a:rPr lang="en-US" sz="1500" dirty="0"/>
              <a:t>Preparation of Financial Model based on the Major Input Parameters with estimation of Tariff and Equity IRR</a:t>
            </a:r>
          </a:p>
        </p:txBody>
      </p:sp>
      <p:sp>
        <p:nvSpPr>
          <p:cNvPr id="8" name="AutoShape 5">
            <a:extLst>
              <a:ext uri="{FF2B5EF4-FFF2-40B4-BE49-F238E27FC236}">
                <a16:creationId xmlns:a16="http://schemas.microsoft.com/office/drawing/2014/main" id="{983D6878-8167-45AC-B7E6-F26E1A501AB0}"/>
              </a:ext>
            </a:extLst>
          </p:cNvPr>
          <p:cNvSpPr>
            <a:spLocks noChangeArrowheads="1"/>
          </p:cNvSpPr>
          <p:nvPr/>
        </p:nvSpPr>
        <p:spPr bwMode="gray">
          <a:xfrm>
            <a:off x="6139544" y="1985337"/>
            <a:ext cx="3204135" cy="2107692"/>
          </a:xfrm>
          <a:prstGeom prst="chevron">
            <a:avLst>
              <a:gd name="adj" fmla="val 34975"/>
            </a:avLst>
          </a:prstGeom>
          <a:solidFill>
            <a:schemeClr val="tx1">
              <a:lumMod val="65000"/>
              <a:lumOff val="35000"/>
            </a:schemeClr>
          </a:solidFill>
          <a:ln w="12700" cap="rnd" algn="ctr">
            <a:noFill/>
            <a:miter lim="800000"/>
            <a:headEnd/>
            <a:tailEnd/>
          </a:ln>
        </p:spPr>
        <p:txBody>
          <a:bodyPr lIns="88900" tIns="88900" rIns="88900" bIns="88900" anchor="ctr" anchorCtr="0"/>
          <a:lstStyle/>
          <a:p>
            <a:pPr algn="just">
              <a:lnSpc>
                <a:spcPct val="106000"/>
              </a:lnSpc>
              <a:defRPr/>
            </a:pPr>
            <a:r>
              <a:rPr lang="en-US" sz="1500" dirty="0">
                <a:solidFill>
                  <a:schemeClr val="bg1"/>
                </a:solidFill>
              </a:rPr>
              <a:t>Simulation of the Major Input Parameters based on Permissible Range to arrive at a range of tariffs and corresponding Equity IRRs</a:t>
            </a:r>
          </a:p>
        </p:txBody>
      </p:sp>
      <p:sp>
        <p:nvSpPr>
          <p:cNvPr id="9" name="AutoShape 6">
            <a:extLst>
              <a:ext uri="{FF2B5EF4-FFF2-40B4-BE49-F238E27FC236}">
                <a16:creationId xmlns:a16="http://schemas.microsoft.com/office/drawing/2014/main" id="{B7DABBC8-E4B5-41F0-B492-2F1CB65B7F68}"/>
              </a:ext>
            </a:extLst>
          </p:cNvPr>
          <p:cNvSpPr>
            <a:spLocks noChangeArrowheads="1"/>
          </p:cNvSpPr>
          <p:nvPr/>
        </p:nvSpPr>
        <p:spPr bwMode="gray">
          <a:xfrm>
            <a:off x="8883329" y="1985337"/>
            <a:ext cx="3210699" cy="2107692"/>
          </a:xfrm>
          <a:prstGeom prst="chevron">
            <a:avLst>
              <a:gd name="adj" fmla="val 34975"/>
            </a:avLst>
          </a:prstGeom>
          <a:noFill/>
          <a:ln w="38100" cap="rnd" algn="ctr">
            <a:solidFill>
              <a:schemeClr val="accent1"/>
            </a:solidFill>
            <a:miter lim="800000"/>
            <a:headEnd/>
            <a:tailEnd/>
          </a:ln>
        </p:spPr>
        <p:txBody>
          <a:bodyPr lIns="88900" tIns="88900" rIns="88900" bIns="88900" anchor="ctr" anchorCtr="0"/>
          <a:lstStyle/>
          <a:p>
            <a:pPr algn="just">
              <a:lnSpc>
                <a:spcPct val="106000"/>
              </a:lnSpc>
            </a:pPr>
            <a:r>
              <a:rPr lang="en-US" sz="1500" dirty="0"/>
              <a:t>Assessment of a competitive range of bid tariff based on market trend and permissible equity IRR</a:t>
            </a:r>
          </a:p>
        </p:txBody>
      </p:sp>
      <p:sp>
        <p:nvSpPr>
          <p:cNvPr id="10" name="Text Placeholder 5">
            <a:extLst>
              <a:ext uri="{FF2B5EF4-FFF2-40B4-BE49-F238E27FC236}">
                <a16:creationId xmlns:a16="http://schemas.microsoft.com/office/drawing/2014/main" id="{AE89BECD-C628-4A8B-A562-5F5017E8AB7A}"/>
              </a:ext>
            </a:extLst>
          </p:cNvPr>
          <p:cNvSpPr txBox="1">
            <a:spLocks/>
          </p:cNvSpPr>
          <p:nvPr/>
        </p:nvSpPr>
        <p:spPr>
          <a:xfrm>
            <a:off x="634833" y="4757057"/>
            <a:ext cx="2393950" cy="1123856"/>
          </a:xfrm>
          <a:prstGeom prst="rect">
            <a:avLst/>
          </a:prstGeom>
        </p:spPr>
        <p:txBody>
          <a:bodyPr wrap="square" lIns="0" tIns="0" rIns="0" bIns="0">
            <a:noAutofit/>
          </a:bodyPr>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Bef>
                <a:spcPts val="0"/>
              </a:spcBef>
              <a:spcAft>
                <a:spcPts val="600"/>
              </a:spcAft>
            </a:pPr>
            <a:r>
              <a:rPr lang="en-US" b="1" dirty="0">
                <a:solidFill>
                  <a:schemeClr val="tx1"/>
                </a:solidFill>
              </a:rPr>
              <a:t>Key Parameters Considered</a:t>
            </a:r>
            <a:r>
              <a:rPr lang="en-US" dirty="0">
                <a:solidFill>
                  <a:schemeClr val="tx1"/>
                </a:solidFill>
              </a:rPr>
              <a:t>:</a:t>
            </a:r>
          </a:p>
          <a:p>
            <a:pPr marL="171450" indent="-171450">
              <a:spcBef>
                <a:spcPts val="0"/>
              </a:spcBef>
              <a:spcAft>
                <a:spcPts val="600"/>
              </a:spcAft>
              <a:buFont typeface="Arial" panose="020B0604020202020204" pitchFamily="34" charset="0"/>
              <a:buChar char="•"/>
            </a:pPr>
            <a:r>
              <a:rPr lang="en-US" dirty="0">
                <a:solidFill>
                  <a:schemeClr val="tx1"/>
                </a:solidFill>
              </a:rPr>
              <a:t>Module Price</a:t>
            </a:r>
          </a:p>
          <a:p>
            <a:pPr marL="171450" indent="-171450">
              <a:spcBef>
                <a:spcPts val="0"/>
              </a:spcBef>
              <a:spcAft>
                <a:spcPts val="600"/>
              </a:spcAft>
              <a:buFont typeface="Arial" panose="020B0604020202020204" pitchFamily="34" charset="0"/>
              <a:buChar char="•"/>
            </a:pPr>
            <a:r>
              <a:rPr lang="en-US" dirty="0">
                <a:solidFill>
                  <a:schemeClr val="tx1"/>
                </a:solidFill>
              </a:rPr>
              <a:t>Balance of System (BOS) Cost</a:t>
            </a:r>
          </a:p>
          <a:p>
            <a:pPr marL="171450" indent="-171450">
              <a:spcBef>
                <a:spcPts val="0"/>
              </a:spcBef>
              <a:spcAft>
                <a:spcPts val="600"/>
              </a:spcAft>
              <a:buFont typeface="Arial" panose="020B0604020202020204" pitchFamily="34" charset="0"/>
              <a:buChar char="•"/>
            </a:pPr>
            <a:r>
              <a:rPr lang="en-US" dirty="0">
                <a:solidFill>
                  <a:schemeClr val="tx1"/>
                </a:solidFill>
              </a:rPr>
              <a:t>Interest Rate</a:t>
            </a:r>
            <a:endParaRPr lang="en-US" sz="1600" dirty="0">
              <a:solidFill>
                <a:schemeClr val="tx1"/>
              </a:solidFill>
            </a:endParaRPr>
          </a:p>
        </p:txBody>
      </p:sp>
      <p:sp>
        <p:nvSpPr>
          <p:cNvPr id="2" name="Arrow: Down 1">
            <a:extLst>
              <a:ext uri="{FF2B5EF4-FFF2-40B4-BE49-F238E27FC236}">
                <a16:creationId xmlns:a16="http://schemas.microsoft.com/office/drawing/2014/main" id="{98DEAA05-A26E-49EF-9B3E-EACB17D431A3}"/>
              </a:ext>
            </a:extLst>
          </p:cNvPr>
          <p:cNvSpPr/>
          <p:nvPr/>
        </p:nvSpPr>
        <p:spPr bwMode="gray">
          <a:xfrm>
            <a:off x="1447801" y="4201886"/>
            <a:ext cx="500743" cy="555171"/>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2413061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Key driving factors for Equity IRR for solar generation project</a:t>
            </a:r>
            <a:endParaRPr lang="en-GB" b="1" dirty="0"/>
          </a:p>
        </p:txBody>
      </p:sp>
      <p:grpSp>
        <p:nvGrpSpPr>
          <p:cNvPr id="15" name="Group 14">
            <a:extLst>
              <a:ext uri="{FF2B5EF4-FFF2-40B4-BE49-F238E27FC236}">
                <a16:creationId xmlns:a16="http://schemas.microsoft.com/office/drawing/2014/main" id="{C8495326-0B21-4E45-8594-23172BC02297}"/>
              </a:ext>
            </a:extLst>
          </p:cNvPr>
          <p:cNvGrpSpPr/>
          <p:nvPr/>
        </p:nvGrpSpPr>
        <p:grpSpPr>
          <a:xfrm>
            <a:off x="501650" y="2907888"/>
            <a:ext cx="787162" cy="787162"/>
            <a:chOff x="5548829" y="3384543"/>
            <a:chExt cx="919874" cy="919874"/>
          </a:xfrm>
        </p:grpSpPr>
        <p:sp>
          <p:nvSpPr>
            <p:cNvPr id="16" name="Oval 15">
              <a:extLst>
                <a:ext uri="{FF2B5EF4-FFF2-40B4-BE49-F238E27FC236}">
                  <a16:creationId xmlns:a16="http://schemas.microsoft.com/office/drawing/2014/main" id="{071C259A-4931-43B1-96C6-0C39B498B478}"/>
                </a:ext>
              </a:extLst>
            </p:cNvPr>
            <p:cNvSpPr/>
            <p:nvPr/>
          </p:nvSpPr>
          <p:spPr bwMode="gray">
            <a:xfrm>
              <a:off x="5548829" y="3384543"/>
              <a:ext cx="919874" cy="919874"/>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sp>
          <p:nvSpPr>
            <p:cNvPr id="17" name="Freeform 375">
              <a:extLst>
                <a:ext uri="{FF2B5EF4-FFF2-40B4-BE49-F238E27FC236}">
                  <a16:creationId xmlns:a16="http://schemas.microsoft.com/office/drawing/2014/main" id="{E53A32BE-7B27-4371-9EFF-F9859EF83689}"/>
                </a:ext>
              </a:extLst>
            </p:cNvPr>
            <p:cNvSpPr>
              <a:spLocks noChangeAspect="1" noEditPoints="1"/>
            </p:cNvSpPr>
            <p:nvPr/>
          </p:nvSpPr>
          <p:spPr bwMode="auto">
            <a:xfrm>
              <a:off x="5611002" y="3446716"/>
              <a:ext cx="795528" cy="795528"/>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rgbClr val="041E4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ea typeface="+mn-ea"/>
                <a:cs typeface="+mn-cs"/>
              </a:endParaRPr>
            </a:p>
          </p:txBody>
        </p:sp>
      </p:grpSp>
      <p:sp>
        <p:nvSpPr>
          <p:cNvPr id="18" name="Rectangle 17">
            <a:extLst>
              <a:ext uri="{FF2B5EF4-FFF2-40B4-BE49-F238E27FC236}">
                <a16:creationId xmlns:a16="http://schemas.microsoft.com/office/drawing/2014/main" id="{6F9ACEB8-A210-488D-AC9B-55FAFE9DAFBF}"/>
              </a:ext>
            </a:extLst>
          </p:cNvPr>
          <p:cNvSpPr/>
          <p:nvPr/>
        </p:nvSpPr>
        <p:spPr>
          <a:xfrm>
            <a:off x="1653794" y="2979021"/>
            <a:ext cx="9989382" cy="1384995"/>
          </a:xfrm>
          <a:prstGeom prst="rect">
            <a:avLst/>
          </a:prstGeom>
        </p:spPr>
        <p:txBody>
          <a:bodyPr wrap="square">
            <a:spAutoFit/>
          </a:bodyPr>
          <a:lstStyle/>
          <a:p>
            <a:pPr lvl="0">
              <a:spcAft>
                <a:spcPts val="600"/>
              </a:spcAft>
              <a:defRPr/>
            </a:pPr>
            <a:r>
              <a:rPr lang="en-US" sz="2000" b="1" dirty="0">
                <a:solidFill>
                  <a:srgbClr val="041E42"/>
                </a:solidFill>
              </a:rPr>
              <a:t>BOS Price</a:t>
            </a:r>
          </a:p>
          <a:p>
            <a:pPr marL="285750" lvl="0" indent="-285750">
              <a:spcAft>
                <a:spcPts val="600"/>
              </a:spcAft>
              <a:buFont typeface="Arial" panose="020B0604020202020204" pitchFamily="34" charset="0"/>
              <a:buChar char="•"/>
              <a:defRPr/>
            </a:pPr>
            <a:r>
              <a:rPr lang="en-US" dirty="0">
                <a:solidFill>
                  <a:srgbClr val="000000"/>
                </a:solidFill>
              </a:rPr>
              <a:t>For every Rs. 0.1 Cr/MW</a:t>
            </a:r>
            <a:r>
              <a:rPr lang="en-US" baseline="-25000" dirty="0">
                <a:solidFill>
                  <a:srgbClr val="000000"/>
                </a:solidFill>
              </a:rPr>
              <a:t>p</a:t>
            </a:r>
            <a:r>
              <a:rPr lang="en-US" dirty="0">
                <a:solidFill>
                  <a:srgbClr val="000000"/>
                </a:solidFill>
              </a:rPr>
              <a:t> fall in BOS, Equity IRR increases by around 0.8%</a:t>
            </a:r>
            <a:endParaRPr lang="en-US" dirty="0">
              <a:solidFill>
                <a:prstClr val="black"/>
              </a:solidFill>
            </a:endParaRPr>
          </a:p>
          <a:p>
            <a:pPr marL="285750" lvl="0" indent="-285750">
              <a:spcAft>
                <a:spcPts val="600"/>
              </a:spcAft>
              <a:buFont typeface="Arial" panose="020B0604020202020204" pitchFamily="34" charset="0"/>
              <a:buChar char="•"/>
              <a:defRPr/>
            </a:pPr>
            <a:r>
              <a:rPr lang="en-US" dirty="0">
                <a:solidFill>
                  <a:prstClr val="black"/>
                </a:solidFill>
              </a:rPr>
              <a:t>Balance of System (BOS) comprises 30-35% of capital cost – its optimization at can also lead to cost saving</a:t>
            </a:r>
          </a:p>
        </p:txBody>
      </p:sp>
      <p:sp>
        <p:nvSpPr>
          <p:cNvPr id="19" name="Freeform 538">
            <a:extLst>
              <a:ext uri="{FF2B5EF4-FFF2-40B4-BE49-F238E27FC236}">
                <a16:creationId xmlns:a16="http://schemas.microsoft.com/office/drawing/2014/main" id="{758A5EBC-2B69-43B0-B86D-C8306DCD0996}"/>
              </a:ext>
            </a:extLst>
          </p:cNvPr>
          <p:cNvSpPr>
            <a:spLocks noChangeAspect="1" noEditPoints="1"/>
          </p:cNvSpPr>
          <p:nvPr/>
        </p:nvSpPr>
        <p:spPr bwMode="auto">
          <a:xfrm>
            <a:off x="554973" y="1350409"/>
            <a:ext cx="676599" cy="676599"/>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rgbClr val="004F5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a:ea typeface="+mn-ea"/>
              <a:cs typeface="+mn-cs"/>
            </a:endParaRPr>
          </a:p>
        </p:txBody>
      </p:sp>
      <p:sp>
        <p:nvSpPr>
          <p:cNvPr id="20" name="Oval 19">
            <a:extLst>
              <a:ext uri="{FF2B5EF4-FFF2-40B4-BE49-F238E27FC236}">
                <a16:creationId xmlns:a16="http://schemas.microsoft.com/office/drawing/2014/main" id="{76B58F34-38A9-45DC-B100-DA39ED5A478D}"/>
              </a:ext>
            </a:extLst>
          </p:cNvPr>
          <p:cNvSpPr/>
          <p:nvPr/>
        </p:nvSpPr>
        <p:spPr bwMode="gray">
          <a:xfrm>
            <a:off x="504146" y="1297196"/>
            <a:ext cx="783023" cy="783023"/>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1" name="Rectangle 20">
            <a:extLst>
              <a:ext uri="{FF2B5EF4-FFF2-40B4-BE49-F238E27FC236}">
                <a16:creationId xmlns:a16="http://schemas.microsoft.com/office/drawing/2014/main" id="{E1E3EC6A-3E94-45CB-BF95-3717E29CB156}"/>
              </a:ext>
            </a:extLst>
          </p:cNvPr>
          <p:cNvSpPr/>
          <p:nvPr/>
        </p:nvSpPr>
        <p:spPr>
          <a:xfrm>
            <a:off x="1655413" y="1350409"/>
            <a:ext cx="9989382" cy="1384995"/>
          </a:xfrm>
          <a:prstGeom prst="rect">
            <a:avLst/>
          </a:prstGeom>
        </p:spPr>
        <p:txBody>
          <a:bodyPr wrap="square">
            <a:spAutoFit/>
          </a:bodyPr>
          <a:lstStyle/>
          <a:p>
            <a:pPr lvl="0">
              <a:spcAft>
                <a:spcPts val="600"/>
              </a:spcAft>
              <a:defRPr/>
            </a:pPr>
            <a:r>
              <a:rPr lang="en-US" sz="2000" b="1" dirty="0">
                <a:solidFill>
                  <a:srgbClr val="004F59"/>
                </a:solidFill>
              </a:rPr>
              <a:t>Module Price</a:t>
            </a:r>
          </a:p>
          <a:p>
            <a:pPr marL="285750" lvl="0" indent="-285750">
              <a:spcAft>
                <a:spcPts val="600"/>
              </a:spcAft>
              <a:buFont typeface="Arial" panose="020B0604020202020204" pitchFamily="34" charset="0"/>
              <a:buChar char="•"/>
              <a:defRPr/>
            </a:pPr>
            <a:r>
              <a:rPr lang="en-US" dirty="0">
                <a:solidFill>
                  <a:prstClr val="black"/>
                </a:solidFill>
              </a:rPr>
              <a:t>For every Rs 0.1 Cr/MWp fall in Module Price, Equity IRR increases by around  0.8% - 0.9%</a:t>
            </a:r>
          </a:p>
          <a:p>
            <a:pPr marL="285750" lvl="0" indent="-285750">
              <a:spcAft>
                <a:spcPts val="600"/>
              </a:spcAft>
              <a:buFont typeface="Arial" panose="020B0604020202020204" pitchFamily="34" charset="0"/>
              <a:buChar char="•"/>
              <a:defRPr/>
            </a:pPr>
            <a:r>
              <a:rPr lang="en-US" dirty="0">
                <a:solidFill>
                  <a:prstClr val="black"/>
                </a:solidFill>
              </a:rPr>
              <a:t>Module cost comprises around 65-70% of capital cost (based on past bids obtained from EPC players for CIL’s projects as well as market trends) – it is important to explore avenues to optimize module cost</a:t>
            </a:r>
          </a:p>
        </p:txBody>
      </p:sp>
      <p:sp>
        <p:nvSpPr>
          <p:cNvPr id="22" name="Oval 21">
            <a:extLst>
              <a:ext uri="{FF2B5EF4-FFF2-40B4-BE49-F238E27FC236}">
                <a16:creationId xmlns:a16="http://schemas.microsoft.com/office/drawing/2014/main" id="{C13F2E29-AD3F-4C4D-B9ED-D43EE6BA9334}"/>
              </a:ext>
            </a:extLst>
          </p:cNvPr>
          <p:cNvSpPr/>
          <p:nvPr/>
        </p:nvSpPr>
        <p:spPr bwMode="gray">
          <a:xfrm>
            <a:off x="548825" y="4522719"/>
            <a:ext cx="789880" cy="789880"/>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sp>
        <p:nvSpPr>
          <p:cNvPr id="23" name="Freeform 917">
            <a:extLst>
              <a:ext uri="{FF2B5EF4-FFF2-40B4-BE49-F238E27FC236}">
                <a16:creationId xmlns:a16="http://schemas.microsoft.com/office/drawing/2014/main" id="{779462C5-36EA-4FBD-8450-B1E9A5B52181}"/>
              </a:ext>
            </a:extLst>
          </p:cNvPr>
          <p:cNvSpPr>
            <a:spLocks noChangeAspect="1" noEditPoints="1"/>
          </p:cNvSpPr>
          <p:nvPr/>
        </p:nvSpPr>
        <p:spPr bwMode="auto">
          <a:xfrm>
            <a:off x="602212" y="4576106"/>
            <a:ext cx="683106" cy="683106"/>
          </a:xfrm>
          <a:custGeom>
            <a:avLst/>
            <a:gdLst>
              <a:gd name="T0" fmla="*/ 245 w 512"/>
              <a:gd name="T1" fmla="*/ 128 h 512"/>
              <a:gd name="T2" fmla="*/ 256 w 512"/>
              <a:gd name="T3" fmla="*/ 117 h 512"/>
              <a:gd name="T4" fmla="*/ 266 w 512"/>
              <a:gd name="T5" fmla="*/ 128 h 512"/>
              <a:gd name="T6" fmla="*/ 256 w 512"/>
              <a:gd name="T7" fmla="*/ 138 h 512"/>
              <a:gd name="T8" fmla="*/ 245 w 512"/>
              <a:gd name="T9" fmla="*/ 128 h 512"/>
              <a:gd name="T10" fmla="*/ 269 w 512"/>
              <a:gd name="T11" fmla="*/ 245 h 512"/>
              <a:gd name="T12" fmla="*/ 243 w 512"/>
              <a:gd name="T13" fmla="*/ 245 h 512"/>
              <a:gd name="T14" fmla="*/ 216 w 512"/>
              <a:gd name="T15" fmla="*/ 352 h 512"/>
              <a:gd name="T16" fmla="*/ 295 w 512"/>
              <a:gd name="T17" fmla="*/ 352 h 512"/>
              <a:gd name="T18" fmla="*/ 269 w 512"/>
              <a:gd name="T19" fmla="*/ 245 h 512"/>
              <a:gd name="T20" fmla="*/ 238 w 512"/>
              <a:gd name="T21" fmla="*/ 224 h 512"/>
              <a:gd name="T22" fmla="*/ 273 w 512"/>
              <a:gd name="T23" fmla="*/ 224 h 512"/>
              <a:gd name="T24" fmla="*/ 288 w 512"/>
              <a:gd name="T25" fmla="*/ 192 h 512"/>
              <a:gd name="T26" fmla="*/ 287 w 512"/>
              <a:gd name="T27" fmla="*/ 186 h 512"/>
              <a:gd name="T28" fmla="*/ 274 w 512"/>
              <a:gd name="T29" fmla="*/ 199 h 512"/>
              <a:gd name="T30" fmla="*/ 266 w 512"/>
              <a:gd name="T31" fmla="*/ 202 h 512"/>
              <a:gd name="T32" fmla="*/ 259 w 512"/>
              <a:gd name="T33" fmla="*/ 199 h 512"/>
              <a:gd name="T34" fmla="*/ 259 w 512"/>
              <a:gd name="T35" fmla="*/ 184 h 512"/>
              <a:gd name="T36" fmla="*/ 273 w 512"/>
              <a:gd name="T37" fmla="*/ 170 h 512"/>
              <a:gd name="T38" fmla="*/ 256 w 512"/>
              <a:gd name="T39" fmla="*/ 160 h 512"/>
              <a:gd name="T40" fmla="*/ 224 w 512"/>
              <a:gd name="T41" fmla="*/ 192 h 512"/>
              <a:gd name="T42" fmla="*/ 238 w 512"/>
              <a:gd name="T43" fmla="*/ 224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30 w 512"/>
              <a:gd name="T55" fmla="*/ 362 h 512"/>
              <a:gd name="T56" fmla="*/ 320 w 512"/>
              <a:gd name="T57" fmla="*/ 352 h 512"/>
              <a:gd name="T58" fmla="*/ 317 w 512"/>
              <a:gd name="T59" fmla="*/ 352 h 512"/>
              <a:gd name="T60" fmla="*/ 289 w 512"/>
              <a:gd name="T61" fmla="*/ 238 h 512"/>
              <a:gd name="T62" fmla="*/ 309 w 512"/>
              <a:gd name="T63" fmla="*/ 192 h 512"/>
              <a:gd name="T64" fmla="*/ 279 w 512"/>
              <a:gd name="T65" fmla="*/ 149 h 512"/>
              <a:gd name="T66" fmla="*/ 288 w 512"/>
              <a:gd name="T67" fmla="*/ 128 h 512"/>
              <a:gd name="T68" fmla="*/ 256 w 512"/>
              <a:gd name="T69" fmla="*/ 96 h 512"/>
              <a:gd name="T70" fmla="*/ 224 w 512"/>
              <a:gd name="T71" fmla="*/ 128 h 512"/>
              <a:gd name="T72" fmla="*/ 232 w 512"/>
              <a:gd name="T73" fmla="*/ 149 h 512"/>
              <a:gd name="T74" fmla="*/ 202 w 512"/>
              <a:gd name="T75" fmla="*/ 192 h 512"/>
              <a:gd name="T76" fmla="*/ 222 w 512"/>
              <a:gd name="T77" fmla="*/ 238 h 512"/>
              <a:gd name="T78" fmla="*/ 194 w 512"/>
              <a:gd name="T79" fmla="*/ 352 h 512"/>
              <a:gd name="T80" fmla="*/ 192 w 512"/>
              <a:gd name="T81" fmla="*/ 352 h 512"/>
              <a:gd name="T82" fmla="*/ 181 w 512"/>
              <a:gd name="T83" fmla="*/ 362 h 512"/>
              <a:gd name="T84" fmla="*/ 181 w 512"/>
              <a:gd name="T85" fmla="*/ 405 h 512"/>
              <a:gd name="T86" fmla="*/ 192 w 512"/>
              <a:gd name="T87" fmla="*/ 416 h 512"/>
              <a:gd name="T88" fmla="*/ 320 w 512"/>
              <a:gd name="T89" fmla="*/ 416 h 512"/>
              <a:gd name="T90" fmla="*/ 330 w 512"/>
              <a:gd name="T91" fmla="*/ 405 h 512"/>
              <a:gd name="T92" fmla="*/ 330 w 512"/>
              <a:gd name="T93" fmla="*/ 362 h 512"/>
              <a:gd name="T94" fmla="*/ 202 w 512"/>
              <a:gd name="T95" fmla="*/ 394 h 512"/>
              <a:gd name="T96" fmla="*/ 309 w 512"/>
              <a:gd name="T97" fmla="*/ 394 h 512"/>
              <a:gd name="T98" fmla="*/ 309 w 512"/>
              <a:gd name="T99" fmla="*/ 373 h 512"/>
              <a:gd name="T100" fmla="*/ 202 w 512"/>
              <a:gd name="T101" fmla="*/ 373 h 512"/>
              <a:gd name="T102" fmla="*/ 202 w 512"/>
              <a:gd name="T10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45" y="128"/>
                </a:moveTo>
                <a:cubicBezTo>
                  <a:pt x="245" y="122"/>
                  <a:pt x="250" y="117"/>
                  <a:pt x="256" y="117"/>
                </a:cubicBezTo>
                <a:cubicBezTo>
                  <a:pt x="262" y="117"/>
                  <a:pt x="266" y="122"/>
                  <a:pt x="266" y="128"/>
                </a:cubicBezTo>
                <a:cubicBezTo>
                  <a:pt x="266" y="134"/>
                  <a:pt x="262" y="138"/>
                  <a:pt x="256" y="138"/>
                </a:cubicBezTo>
                <a:cubicBezTo>
                  <a:pt x="250" y="138"/>
                  <a:pt x="245" y="134"/>
                  <a:pt x="245" y="128"/>
                </a:cubicBezTo>
                <a:close/>
                <a:moveTo>
                  <a:pt x="269" y="245"/>
                </a:moveTo>
                <a:cubicBezTo>
                  <a:pt x="243" y="245"/>
                  <a:pt x="243" y="245"/>
                  <a:pt x="243" y="245"/>
                </a:cubicBezTo>
                <a:cubicBezTo>
                  <a:pt x="216" y="352"/>
                  <a:pt x="216" y="352"/>
                  <a:pt x="216" y="352"/>
                </a:cubicBezTo>
                <a:cubicBezTo>
                  <a:pt x="295" y="352"/>
                  <a:pt x="295" y="352"/>
                  <a:pt x="295" y="352"/>
                </a:cubicBezTo>
                <a:lnTo>
                  <a:pt x="269" y="245"/>
                </a:lnTo>
                <a:close/>
                <a:moveTo>
                  <a:pt x="238" y="224"/>
                </a:moveTo>
                <a:cubicBezTo>
                  <a:pt x="273" y="224"/>
                  <a:pt x="273" y="224"/>
                  <a:pt x="273" y="224"/>
                </a:cubicBezTo>
                <a:cubicBezTo>
                  <a:pt x="278" y="219"/>
                  <a:pt x="288" y="209"/>
                  <a:pt x="288" y="192"/>
                </a:cubicBezTo>
                <a:cubicBezTo>
                  <a:pt x="288" y="190"/>
                  <a:pt x="287" y="188"/>
                  <a:pt x="287" y="186"/>
                </a:cubicBezTo>
                <a:cubicBezTo>
                  <a:pt x="274" y="199"/>
                  <a:pt x="274" y="199"/>
                  <a:pt x="274" y="199"/>
                </a:cubicBezTo>
                <a:cubicBezTo>
                  <a:pt x="272" y="201"/>
                  <a:pt x="269" y="202"/>
                  <a:pt x="266" y="202"/>
                </a:cubicBezTo>
                <a:cubicBezTo>
                  <a:pt x="264" y="202"/>
                  <a:pt x="261" y="201"/>
                  <a:pt x="259" y="199"/>
                </a:cubicBezTo>
                <a:cubicBezTo>
                  <a:pt x="255" y="195"/>
                  <a:pt x="255" y="188"/>
                  <a:pt x="259" y="184"/>
                </a:cubicBezTo>
                <a:cubicBezTo>
                  <a:pt x="273" y="170"/>
                  <a:pt x="273" y="170"/>
                  <a:pt x="273" y="170"/>
                </a:cubicBezTo>
                <a:cubicBezTo>
                  <a:pt x="267" y="166"/>
                  <a:pt x="260" y="163"/>
                  <a:pt x="256" y="160"/>
                </a:cubicBezTo>
                <a:cubicBezTo>
                  <a:pt x="245" y="165"/>
                  <a:pt x="224" y="177"/>
                  <a:pt x="224" y="192"/>
                </a:cubicBezTo>
                <a:cubicBezTo>
                  <a:pt x="224" y="208"/>
                  <a:pt x="234" y="219"/>
                  <a:pt x="238" y="224"/>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362"/>
                </a:moveTo>
                <a:cubicBezTo>
                  <a:pt x="330" y="356"/>
                  <a:pt x="326" y="352"/>
                  <a:pt x="320" y="352"/>
                </a:cubicBezTo>
                <a:cubicBezTo>
                  <a:pt x="317" y="352"/>
                  <a:pt x="317" y="352"/>
                  <a:pt x="317" y="352"/>
                </a:cubicBezTo>
                <a:cubicBezTo>
                  <a:pt x="289" y="238"/>
                  <a:pt x="289" y="238"/>
                  <a:pt x="289" y="238"/>
                </a:cubicBezTo>
                <a:cubicBezTo>
                  <a:pt x="297" y="231"/>
                  <a:pt x="309" y="215"/>
                  <a:pt x="309" y="192"/>
                </a:cubicBezTo>
                <a:cubicBezTo>
                  <a:pt x="309" y="172"/>
                  <a:pt x="293" y="158"/>
                  <a:pt x="279" y="149"/>
                </a:cubicBezTo>
                <a:cubicBezTo>
                  <a:pt x="284" y="143"/>
                  <a:pt x="288" y="136"/>
                  <a:pt x="288" y="128"/>
                </a:cubicBezTo>
                <a:cubicBezTo>
                  <a:pt x="288" y="110"/>
                  <a:pt x="273" y="96"/>
                  <a:pt x="256" y="96"/>
                </a:cubicBezTo>
                <a:cubicBezTo>
                  <a:pt x="238" y="96"/>
                  <a:pt x="224" y="110"/>
                  <a:pt x="224" y="128"/>
                </a:cubicBezTo>
                <a:cubicBezTo>
                  <a:pt x="224" y="136"/>
                  <a:pt x="227" y="143"/>
                  <a:pt x="232" y="149"/>
                </a:cubicBezTo>
                <a:cubicBezTo>
                  <a:pt x="218" y="158"/>
                  <a:pt x="202" y="172"/>
                  <a:pt x="202" y="192"/>
                </a:cubicBezTo>
                <a:cubicBezTo>
                  <a:pt x="202" y="215"/>
                  <a:pt x="215" y="231"/>
                  <a:pt x="222" y="238"/>
                </a:cubicBezTo>
                <a:cubicBezTo>
                  <a:pt x="194" y="352"/>
                  <a:pt x="194" y="352"/>
                  <a:pt x="194" y="352"/>
                </a:cubicBezTo>
                <a:cubicBezTo>
                  <a:pt x="192" y="352"/>
                  <a:pt x="192" y="352"/>
                  <a:pt x="192" y="352"/>
                </a:cubicBezTo>
                <a:cubicBezTo>
                  <a:pt x="186" y="352"/>
                  <a:pt x="181" y="356"/>
                  <a:pt x="181" y="362"/>
                </a:cubicBezTo>
                <a:cubicBezTo>
                  <a:pt x="181" y="405"/>
                  <a:pt x="181" y="405"/>
                  <a:pt x="181" y="405"/>
                </a:cubicBezTo>
                <a:cubicBezTo>
                  <a:pt x="181" y="411"/>
                  <a:pt x="186" y="416"/>
                  <a:pt x="192" y="416"/>
                </a:cubicBezTo>
                <a:cubicBezTo>
                  <a:pt x="320" y="416"/>
                  <a:pt x="320" y="416"/>
                  <a:pt x="320" y="416"/>
                </a:cubicBezTo>
                <a:cubicBezTo>
                  <a:pt x="326" y="416"/>
                  <a:pt x="330" y="411"/>
                  <a:pt x="330" y="405"/>
                </a:cubicBezTo>
                <a:lnTo>
                  <a:pt x="330" y="362"/>
                </a:lnTo>
                <a:close/>
                <a:moveTo>
                  <a:pt x="202" y="394"/>
                </a:moveTo>
                <a:cubicBezTo>
                  <a:pt x="309" y="394"/>
                  <a:pt x="309" y="394"/>
                  <a:pt x="309" y="394"/>
                </a:cubicBezTo>
                <a:cubicBezTo>
                  <a:pt x="309" y="373"/>
                  <a:pt x="309" y="373"/>
                  <a:pt x="309" y="373"/>
                </a:cubicBezTo>
                <a:cubicBezTo>
                  <a:pt x="202" y="373"/>
                  <a:pt x="202" y="373"/>
                  <a:pt x="202" y="373"/>
                </a:cubicBezTo>
                <a:lnTo>
                  <a:pt x="202" y="394"/>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ea typeface="+mn-ea"/>
              <a:cs typeface="+mn-cs"/>
            </a:endParaRPr>
          </a:p>
        </p:txBody>
      </p:sp>
      <p:sp>
        <p:nvSpPr>
          <p:cNvPr id="24" name="Rectangle 23">
            <a:extLst>
              <a:ext uri="{FF2B5EF4-FFF2-40B4-BE49-F238E27FC236}">
                <a16:creationId xmlns:a16="http://schemas.microsoft.com/office/drawing/2014/main" id="{E206E38F-4B61-473F-90AC-C73B4C177637}"/>
              </a:ext>
            </a:extLst>
          </p:cNvPr>
          <p:cNvSpPr/>
          <p:nvPr/>
        </p:nvSpPr>
        <p:spPr>
          <a:xfrm>
            <a:off x="1700968" y="4566717"/>
            <a:ext cx="9989382" cy="1384995"/>
          </a:xfrm>
          <a:prstGeom prst="rect">
            <a:avLst/>
          </a:prstGeom>
        </p:spPr>
        <p:txBody>
          <a:bodyPr wrap="square">
            <a:spAutoFit/>
          </a:bodyPr>
          <a:lstStyle/>
          <a:p>
            <a:pPr lvl="0">
              <a:spcAft>
                <a:spcPts val="600"/>
              </a:spcAft>
              <a:defRPr/>
            </a:pPr>
            <a:r>
              <a:rPr lang="en-US" sz="2000" b="1" dirty="0">
                <a:solidFill>
                  <a:srgbClr val="046A38"/>
                </a:solidFill>
              </a:rPr>
              <a:t>Rate of Interest </a:t>
            </a:r>
          </a:p>
          <a:p>
            <a:pPr marL="285750" indent="-285750">
              <a:spcAft>
                <a:spcPts val="600"/>
              </a:spcAft>
              <a:buFont typeface="Arial" panose="020B0604020202020204" pitchFamily="34" charset="0"/>
              <a:buChar char="•"/>
              <a:defRPr/>
            </a:pPr>
            <a:r>
              <a:rPr lang="en-US" dirty="0">
                <a:solidFill>
                  <a:srgbClr val="000000"/>
                </a:solidFill>
              </a:rPr>
              <a:t>For every 0.5% fall in interest rate, Equity IRR increases by around 0.75% – 0.8%</a:t>
            </a:r>
          </a:p>
          <a:p>
            <a:pPr marL="285750" indent="-285750">
              <a:spcAft>
                <a:spcPts val="600"/>
              </a:spcAft>
              <a:buFont typeface="Arial" panose="020B0604020202020204" pitchFamily="34" charset="0"/>
              <a:buChar char="•"/>
              <a:defRPr/>
            </a:pPr>
            <a:r>
              <a:rPr lang="en-US" dirty="0">
                <a:solidFill>
                  <a:prstClr val="black"/>
                </a:solidFill>
              </a:rPr>
              <a:t>Refinancing option through External Commercial Borrowings (ECB) post COD may be considered in line with the practice followed by leading CPSUs in solar power generation business</a:t>
            </a:r>
          </a:p>
        </p:txBody>
      </p:sp>
    </p:spTree>
    <p:extLst>
      <p:ext uri="{BB962C8B-B14F-4D97-AF65-F5344CB8AC3E}">
        <p14:creationId xmlns:p14="http://schemas.microsoft.com/office/powerpoint/2010/main" val="23061721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Module Procurement Modalities</a:t>
            </a:r>
            <a:endParaRPr lang="en-GB" b="1" dirty="0"/>
          </a:p>
        </p:txBody>
      </p:sp>
      <p:sp>
        <p:nvSpPr>
          <p:cNvPr id="13" name="Arrow: Right 12">
            <a:extLst>
              <a:ext uri="{FF2B5EF4-FFF2-40B4-BE49-F238E27FC236}">
                <a16:creationId xmlns:a16="http://schemas.microsoft.com/office/drawing/2014/main" id="{A976EFE1-725E-464D-AE55-BA5274C2F5BA}"/>
              </a:ext>
            </a:extLst>
          </p:cNvPr>
          <p:cNvSpPr/>
          <p:nvPr/>
        </p:nvSpPr>
        <p:spPr bwMode="gray">
          <a:xfrm rot="5400000">
            <a:off x="1867446" y="2007566"/>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4" name="Rectangle: Rounded Corners 13">
            <a:extLst>
              <a:ext uri="{FF2B5EF4-FFF2-40B4-BE49-F238E27FC236}">
                <a16:creationId xmlns:a16="http://schemas.microsoft.com/office/drawing/2014/main" id="{26623007-C28E-446A-A327-7031F7D42320}"/>
              </a:ext>
            </a:extLst>
          </p:cNvPr>
          <p:cNvSpPr/>
          <p:nvPr/>
        </p:nvSpPr>
        <p:spPr bwMode="gray">
          <a:xfrm>
            <a:off x="3879579" y="870282"/>
            <a:ext cx="4593771" cy="511365"/>
          </a:xfrm>
          <a:prstGeom prst="roundRect">
            <a:avLst/>
          </a:prstGeom>
          <a:solidFill>
            <a:srgbClr val="046A38"/>
          </a:solidFill>
          <a:ln w="19050" algn="ctr">
            <a:solidFill>
              <a:srgbClr val="00206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effectLst/>
                <a:ea typeface="Calibri" panose="020F0502020204030204" pitchFamily="34" charset="0"/>
              </a:rPr>
              <a:t>Modalities of Module Procurement</a:t>
            </a:r>
            <a:endParaRPr lang="en-US" sz="1600" b="1" dirty="0">
              <a:solidFill>
                <a:schemeClr val="bg1"/>
              </a:solidFill>
            </a:endParaRPr>
          </a:p>
        </p:txBody>
      </p:sp>
      <p:sp>
        <p:nvSpPr>
          <p:cNvPr id="25" name="Rectangle 24">
            <a:extLst>
              <a:ext uri="{FF2B5EF4-FFF2-40B4-BE49-F238E27FC236}">
                <a16:creationId xmlns:a16="http://schemas.microsoft.com/office/drawing/2014/main" id="{F9D1CBE7-ABCE-424C-9AB3-C05D2EC9D12F}"/>
              </a:ext>
            </a:extLst>
          </p:cNvPr>
          <p:cNvSpPr/>
          <p:nvPr/>
        </p:nvSpPr>
        <p:spPr bwMode="gray">
          <a:xfrm rot="5400000">
            <a:off x="6063888" y="-2249849"/>
            <a:ext cx="162194" cy="8262257"/>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6" name="Arrow: Right 25">
            <a:extLst>
              <a:ext uri="{FF2B5EF4-FFF2-40B4-BE49-F238E27FC236}">
                <a16:creationId xmlns:a16="http://schemas.microsoft.com/office/drawing/2014/main" id="{F1A26167-2865-45DF-9A72-B3FAC03B1A27}"/>
              </a:ext>
            </a:extLst>
          </p:cNvPr>
          <p:cNvSpPr/>
          <p:nvPr/>
        </p:nvSpPr>
        <p:spPr bwMode="gray">
          <a:xfrm rot="5400000">
            <a:off x="5965614" y="1466484"/>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7" name="Rectangle 26">
            <a:extLst>
              <a:ext uri="{FF2B5EF4-FFF2-40B4-BE49-F238E27FC236}">
                <a16:creationId xmlns:a16="http://schemas.microsoft.com/office/drawing/2014/main" id="{280656CB-5FC9-4FF3-9B55-38A005B4F259}"/>
              </a:ext>
            </a:extLst>
          </p:cNvPr>
          <p:cNvSpPr/>
          <p:nvPr/>
        </p:nvSpPr>
        <p:spPr bwMode="gray">
          <a:xfrm>
            <a:off x="1020509" y="2379014"/>
            <a:ext cx="2264228" cy="1289472"/>
          </a:xfrm>
          <a:prstGeom prst="rect">
            <a:avLst/>
          </a:prstGeom>
          <a:solidFill>
            <a:srgbClr val="004F59"/>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A. Direct import of Modules</a:t>
            </a:r>
          </a:p>
        </p:txBody>
      </p:sp>
      <p:sp>
        <p:nvSpPr>
          <p:cNvPr id="28" name="Rectangle 27">
            <a:extLst>
              <a:ext uri="{FF2B5EF4-FFF2-40B4-BE49-F238E27FC236}">
                <a16:creationId xmlns:a16="http://schemas.microsoft.com/office/drawing/2014/main" id="{33FCC4DB-F3CC-4466-8FF4-9159187BC611}"/>
              </a:ext>
            </a:extLst>
          </p:cNvPr>
          <p:cNvSpPr/>
          <p:nvPr/>
        </p:nvSpPr>
        <p:spPr bwMode="gray">
          <a:xfrm>
            <a:off x="8907264" y="2379014"/>
            <a:ext cx="2590806" cy="1281190"/>
          </a:xfrm>
          <a:prstGeom prst="rect">
            <a:avLst/>
          </a:prstGeom>
          <a:solidFill>
            <a:srgbClr val="004F59"/>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C. Use of indigenous modules using domestically manufactured cells</a:t>
            </a:r>
          </a:p>
        </p:txBody>
      </p:sp>
      <p:sp>
        <p:nvSpPr>
          <p:cNvPr id="29" name="Arrow: Right 28">
            <a:extLst>
              <a:ext uri="{FF2B5EF4-FFF2-40B4-BE49-F238E27FC236}">
                <a16:creationId xmlns:a16="http://schemas.microsoft.com/office/drawing/2014/main" id="{D672F643-7288-4ACF-9802-A6D953A60E9D}"/>
              </a:ext>
            </a:extLst>
          </p:cNvPr>
          <p:cNvSpPr/>
          <p:nvPr/>
        </p:nvSpPr>
        <p:spPr bwMode="gray">
          <a:xfrm rot="5400000">
            <a:off x="9991818" y="2029409"/>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0" name="Rectangle 29">
            <a:extLst>
              <a:ext uri="{FF2B5EF4-FFF2-40B4-BE49-F238E27FC236}">
                <a16:creationId xmlns:a16="http://schemas.microsoft.com/office/drawing/2014/main" id="{35DE3E75-EA7D-4483-B786-1254F329ED44}"/>
              </a:ext>
            </a:extLst>
          </p:cNvPr>
          <p:cNvSpPr/>
          <p:nvPr/>
        </p:nvSpPr>
        <p:spPr bwMode="gray">
          <a:xfrm>
            <a:off x="4888622" y="2387296"/>
            <a:ext cx="2590806" cy="1281190"/>
          </a:xfrm>
          <a:prstGeom prst="rect">
            <a:avLst/>
          </a:prstGeom>
          <a:solidFill>
            <a:srgbClr val="004F59"/>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B. Use of domestically manufactured modules using imported cells</a:t>
            </a:r>
          </a:p>
        </p:txBody>
      </p:sp>
      <p:sp>
        <p:nvSpPr>
          <p:cNvPr id="31" name="Arrow: Right 30">
            <a:extLst>
              <a:ext uri="{FF2B5EF4-FFF2-40B4-BE49-F238E27FC236}">
                <a16:creationId xmlns:a16="http://schemas.microsoft.com/office/drawing/2014/main" id="{0B588A71-A468-4A0C-99DC-E925B8293550}"/>
              </a:ext>
            </a:extLst>
          </p:cNvPr>
          <p:cNvSpPr/>
          <p:nvPr/>
        </p:nvSpPr>
        <p:spPr bwMode="gray">
          <a:xfrm rot="5400000">
            <a:off x="5973176" y="2037691"/>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2" name="Oval 31">
            <a:extLst>
              <a:ext uri="{FF2B5EF4-FFF2-40B4-BE49-F238E27FC236}">
                <a16:creationId xmlns:a16="http://schemas.microsoft.com/office/drawing/2014/main" id="{BB4E8021-F814-4A40-AF7C-25BE441C8D43}"/>
              </a:ext>
            </a:extLst>
          </p:cNvPr>
          <p:cNvSpPr/>
          <p:nvPr/>
        </p:nvSpPr>
        <p:spPr bwMode="gray">
          <a:xfrm>
            <a:off x="550520" y="3775335"/>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3" name="TextBox 32">
            <a:extLst>
              <a:ext uri="{FF2B5EF4-FFF2-40B4-BE49-F238E27FC236}">
                <a16:creationId xmlns:a16="http://schemas.microsoft.com/office/drawing/2014/main" id="{77BCD834-15B0-4B6A-B3F8-2C2A413EB36F}"/>
              </a:ext>
            </a:extLst>
          </p:cNvPr>
          <p:cNvSpPr txBox="1"/>
          <p:nvPr/>
        </p:nvSpPr>
        <p:spPr>
          <a:xfrm>
            <a:off x="933420" y="3685269"/>
            <a:ext cx="2497055" cy="2462213"/>
          </a:xfrm>
          <a:prstGeom prst="rect">
            <a:avLst/>
          </a:prstGeom>
          <a:noFill/>
        </p:spPr>
        <p:txBody>
          <a:bodyPr wrap="square">
            <a:spAutoFit/>
          </a:bodyPr>
          <a:lstStyle/>
          <a:p>
            <a:pPr algn="just"/>
            <a:r>
              <a:rPr lang="da-DK" sz="1400" dirty="0">
                <a:solidFill>
                  <a:srgbClr val="000000"/>
                </a:solidFill>
                <a:latin typeface="+mj-lt"/>
                <a:ea typeface="Verdana" panose="020B0604030504040204" pitchFamily="34" charset="0"/>
              </a:rPr>
              <a:t>As per MNRE Order dated 02.02.2019, </a:t>
            </a:r>
            <a:r>
              <a:rPr lang="da-DK" sz="1400" b="1" dirty="0">
                <a:solidFill>
                  <a:srgbClr val="000000"/>
                </a:solidFill>
                <a:latin typeface="+mj-lt"/>
                <a:ea typeface="Verdana" panose="020B0604030504040204" pitchFamily="34" charset="0"/>
              </a:rPr>
              <a:t>only the models and manufacturers including in the list of ALMM </a:t>
            </a:r>
            <a:r>
              <a:rPr lang="da-DK" sz="1400" dirty="0">
                <a:solidFill>
                  <a:srgbClr val="000000"/>
                </a:solidFill>
                <a:latin typeface="+mj-lt"/>
                <a:ea typeface="Verdana" panose="020B0604030504040204" pitchFamily="34" charset="0"/>
              </a:rPr>
              <a:t>(Approved List of Models and Manufacturers) as updated from time to time by MNRE </a:t>
            </a:r>
            <a:r>
              <a:rPr lang="da-DK" sz="1400" b="1" dirty="0">
                <a:solidFill>
                  <a:srgbClr val="000000"/>
                </a:solidFill>
                <a:latin typeface="+mj-lt"/>
                <a:ea typeface="Verdana" panose="020B0604030504040204" pitchFamily="34" charset="0"/>
              </a:rPr>
              <a:t>can be utilized in Govt. Related solar projects including Tariff Based Competitive Bidding. </a:t>
            </a:r>
            <a:r>
              <a:rPr lang="da-DK" sz="1400" b="1" u="sng" dirty="0">
                <a:solidFill>
                  <a:srgbClr val="000000"/>
                </a:solidFill>
                <a:latin typeface="+mj-lt"/>
                <a:ea typeface="Verdana" panose="020B0604030504040204" pitchFamily="34" charset="0"/>
              </a:rPr>
              <a:t>Thus this modality can not be adopted</a:t>
            </a:r>
          </a:p>
        </p:txBody>
      </p:sp>
      <p:sp>
        <p:nvSpPr>
          <p:cNvPr id="34" name="Oval 33">
            <a:extLst>
              <a:ext uri="{FF2B5EF4-FFF2-40B4-BE49-F238E27FC236}">
                <a16:creationId xmlns:a16="http://schemas.microsoft.com/office/drawing/2014/main" id="{6046ECB2-E0D4-4C50-BCCC-F7E110043C85}"/>
              </a:ext>
            </a:extLst>
          </p:cNvPr>
          <p:cNvSpPr/>
          <p:nvPr/>
        </p:nvSpPr>
        <p:spPr bwMode="gray">
          <a:xfrm>
            <a:off x="8622334" y="3734772"/>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5" name="TextBox 34">
            <a:extLst>
              <a:ext uri="{FF2B5EF4-FFF2-40B4-BE49-F238E27FC236}">
                <a16:creationId xmlns:a16="http://schemas.microsoft.com/office/drawing/2014/main" id="{941A923F-18CB-43DD-95C2-DB669392F22B}"/>
              </a:ext>
            </a:extLst>
          </p:cNvPr>
          <p:cNvSpPr txBox="1"/>
          <p:nvPr/>
        </p:nvSpPr>
        <p:spPr>
          <a:xfrm>
            <a:off x="8871857" y="3687585"/>
            <a:ext cx="2704307" cy="1169551"/>
          </a:xfrm>
          <a:prstGeom prst="rect">
            <a:avLst/>
          </a:prstGeom>
          <a:noFill/>
        </p:spPr>
        <p:txBody>
          <a:bodyPr wrap="square">
            <a:spAutoFit/>
          </a:bodyPr>
          <a:lstStyle/>
          <a:p>
            <a:pPr algn="just"/>
            <a:r>
              <a:rPr lang="da-DK" sz="1400" dirty="0">
                <a:solidFill>
                  <a:srgbClr val="000000"/>
                </a:solidFill>
                <a:latin typeface="+mj-lt"/>
                <a:ea typeface="Verdana" panose="020B0604030504040204" pitchFamily="34" charset="0"/>
              </a:rPr>
              <a:t>Module manufacturing capacity in India is currently more than 6 times that of cell manufacturing capacity; </a:t>
            </a:r>
            <a:r>
              <a:rPr lang="da-DK" sz="1400" b="1" u="sng" dirty="0">
                <a:solidFill>
                  <a:srgbClr val="000000"/>
                </a:solidFill>
                <a:latin typeface="+mj-lt"/>
                <a:ea typeface="Verdana" panose="020B0604030504040204" pitchFamily="34" charset="0"/>
              </a:rPr>
              <a:t>thus there is significant demand supply mismatch</a:t>
            </a:r>
            <a:endParaRPr lang="da-DK" sz="1400" dirty="0">
              <a:solidFill>
                <a:srgbClr val="000000"/>
              </a:solidFill>
              <a:latin typeface="+mj-lt"/>
              <a:ea typeface="Verdana" panose="020B0604030504040204" pitchFamily="34" charset="0"/>
            </a:endParaRPr>
          </a:p>
        </p:txBody>
      </p:sp>
      <p:sp>
        <p:nvSpPr>
          <p:cNvPr id="36" name="Oval 35">
            <a:extLst>
              <a:ext uri="{FF2B5EF4-FFF2-40B4-BE49-F238E27FC236}">
                <a16:creationId xmlns:a16="http://schemas.microsoft.com/office/drawing/2014/main" id="{F734D1ED-C4AE-443E-BBF0-1FA178607895}"/>
              </a:ext>
            </a:extLst>
          </p:cNvPr>
          <p:cNvSpPr/>
          <p:nvPr/>
        </p:nvSpPr>
        <p:spPr bwMode="gray">
          <a:xfrm>
            <a:off x="8674437" y="5045550"/>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7" name="TextBox 36">
            <a:extLst>
              <a:ext uri="{FF2B5EF4-FFF2-40B4-BE49-F238E27FC236}">
                <a16:creationId xmlns:a16="http://schemas.microsoft.com/office/drawing/2014/main" id="{ABB81EA9-6186-4B79-A2B1-F5E06BE3C83B}"/>
              </a:ext>
            </a:extLst>
          </p:cNvPr>
          <p:cNvSpPr txBox="1"/>
          <p:nvPr/>
        </p:nvSpPr>
        <p:spPr>
          <a:xfrm>
            <a:off x="8923960" y="4998363"/>
            <a:ext cx="2704307" cy="1815882"/>
          </a:xfrm>
          <a:prstGeom prst="rect">
            <a:avLst/>
          </a:prstGeom>
          <a:noFill/>
        </p:spPr>
        <p:txBody>
          <a:bodyPr wrap="square">
            <a:spAutoFit/>
          </a:bodyPr>
          <a:lstStyle/>
          <a:p>
            <a:pPr algn="just"/>
            <a:r>
              <a:rPr lang="da-DK" sz="1400" dirty="0">
                <a:solidFill>
                  <a:srgbClr val="000000"/>
                </a:solidFill>
                <a:latin typeface="+mj-lt"/>
                <a:ea typeface="Verdana" panose="020B0604030504040204" pitchFamily="34" charset="0"/>
              </a:rPr>
              <a:t>Even if demand supply position improves in future, owing to lack of economies of scale, the cost of domestic cells even without the imposition of BCD would be significantly higher than the Chinese counterparts (including BCD)</a:t>
            </a:r>
          </a:p>
        </p:txBody>
      </p:sp>
      <p:sp>
        <p:nvSpPr>
          <p:cNvPr id="38" name="Oval 37">
            <a:extLst>
              <a:ext uri="{FF2B5EF4-FFF2-40B4-BE49-F238E27FC236}">
                <a16:creationId xmlns:a16="http://schemas.microsoft.com/office/drawing/2014/main" id="{FE084694-F6DC-4F47-8E3E-7A38A387AEAD}"/>
              </a:ext>
            </a:extLst>
          </p:cNvPr>
          <p:cNvSpPr/>
          <p:nvPr/>
        </p:nvSpPr>
        <p:spPr bwMode="gray">
          <a:xfrm>
            <a:off x="4575541" y="3715673"/>
            <a:ext cx="284930" cy="275160"/>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9" name="TextBox 38">
            <a:extLst>
              <a:ext uri="{FF2B5EF4-FFF2-40B4-BE49-F238E27FC236}">
                <a16:creationId xmlns:a16="http://schemas.microsoft.com/office/drawing/2014/main" id="{A3D75B16-5A89-4D6A-8808-23A04277934B}"/>
              </a:ext>
            </a:extLst>
          </p:cNvPr>
          <p:cNvSpPr txBox="1"/>
          <p:nvPr/>
        </p:nvSpPr>
        <p:spPr>
          <a:xfrm>
            <a:off x="4825064" y="3668486"/>
            <a:ext cx="2704307" cy="1600438"/>
          </a:xfrm>
          <a:prstGeom prst="rect">
            <a:avLst/>
          </a:prstGeom>
          <a:noFill/>
        </p:spPr>
        <p:txBody>
          <a:bodyPr wrap="square">
            <a:spAutoFit/>
          </a:bodyPr>
          <a:lstStyle/>
          <a:p>
            <a:pPr algn="just"/>
            <a:r>
              <a:rPr lang="da-DK" sz="1400" dirty="0">
                <a:solidFill>
                  <a:srgbClr val="000000"/>
                </a:solidFill>
                <a:latin typeface="+mj-lt"/>
                <a:ea typeface="Verdana" panose="020B0604030504040204" pitchFamily="34" charset="0"/>
              </a:rPr>
              <a:t>This is the model used by majority of the domestic module manufacturers wherein they procure cells from outide (majorly China), and domestically manufacture the modules using the imported cells</a:t>
            </a:r>
          </a:p>
        </p:txBody>
      </p:sp>
      <p:sp>
        <p:nvSpPr>
          <p:cNvPr id="40" name="Oval 39">
            <a:extLst>
              <a:ext uri="{FF2B5EF4-FFF2-40B4-BE49-F238E27FC236}">
                <a16:creationId xmlns:a16="http://schemas.microsoft.com/office/drawing/2014/main" id="{4EE7A81B-2D25-4929-9B8F-8E1649BD2BED}"/>
              </a:ext>
            </a:extLst>
          </p:cNvPr>
          <p:cNvSpPr/>
          <p:nvPr/>
        </p:nvSpPr>
        <p:spPr bwMode="gray">
          <a:xfrm>
            <a:off x="4575541" y="5350350"/>
            <a:ext cx="284930" cy="275160"/>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1" name="TextBox 40">
            <a:extLst>
              <a:ext uri="{FF2B5EF4-FFF2-40B4-BE49-F238E27FC236}">
                <a16:creationId xmlns:a16="http://schemas.microsoft.com/office/drawing/2014/main" id="{099EEB4E-18EC-4F42-A0CD-5ECD472DDE3F}"/>
              </a:ext>
            </a:extLst>
          </p:cNvPr>
          <p:cNvSpPr txBox="1"/>
          <p:nvPr/>
        </p:nvSpPr>
        <p:spPr>
          <a:xfrm>
            <a:off x="4825064" y="5303163"/>
            <a:ext cx="2704307" cy="954107"/>
          </a:xfrm>
          <a:prstGeom prst="rect">
            <a:avLst/>
          </a:prstGeom>
          <a:noFill/>
        </p:spPr>
        <p:txBody>
          <a:bodyPr wrap="square">
            <a:spAutoFit/>
          </a:bodyPr>
          <a:lstStyle/>
          <a:p>
            <a:pPr algn="just"/>
            <a:r>
              <a:rPr lang="da-DK" sz="1400" dirty="0">
                <a:solidFill>
                  <a:srgbClr val="000000"/>
                </a:solidFill>
                <a:latin typeface="+mj-lt"/>
                <a:ea typeface="Verdana" panose="020B0604030504040204" pitchFamily="34" charset="0"/>
              </a:rPr>
              <a:t>Cell manufacturing capacity in China was 361 GW in 2021 end and is estimated to have grown to 600 GW by Dec 2022*</a:t>
            </a:r>
          </a:p>
        </p:txBody>
      </p:sp>
    </p:spTree>
    <p:extLst>
      <p:ext uri="{BB962C8B-B14F-4D97-AF65-F5344CB8AC3E}">
        <p14:creationId xmlns:p14="http://schemas.microsoft.com/office/powerpoint/2010/main" val="154881096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Basis of Module Price Forecast</a:t>
            </a:r>
            <a:endParaRPr lang="en-GB" b="1" dirty="0"/>
          </a:p>
        </p:txBody>
      </p:sp>
      <p:sp>
        <p:nvSpPr>
          <p:cNvPr id="22" name="Rectangle 21">
            <a:extLst>
              <a:ext uri="{FF2B5EF4-FFF2-40B4-BE49-F238E27FC236}">
                <a16:creationId xmlns:a16="http://schemas.microsoft.com/office/drawing/2014/main" id="{F1C12778-4896-4C83-BA33-1ED760E77874}"/>
              </a:ext>
            </a:extLst>
          </p:cNvPr>
          <p:cNvSpPr/>
          <p:nvPr/>
        </p:nvSpPr>
        <p:spPr>
          <a:xfrm>
            <a:off x="408938" y="820505"/>
            <a:ext cx="9989382" cy="369332"/>
          </a:xfrm>
          <a:prstGeom prst="rect">
            <a:avLst/>
          </a:prstGeom>
        </p:spPr>
        <p:txBody>
          <a:bodyPr wrap="square">
            <a:spAutoFit/>
          </a:bodyPr>
          <a:lstStyle/>
          <a:p>
            <a:pPr lvl="0">
              <a:spcAft>
                <a:spcPts val="600"/>
              </a:spcAft>
              <a:defRPr/>
            </a:pPr>
            <a:r>
              <a:rPr lang="en-US" b="1" dirty="0">
                <a:solidFill>
                  <a:srgbClr val="000000"/>
                </a:solidFill>
              </a:rPr>
              <a:t>Present Module Price based on inputs from Module Suppliers:</a:t>
            </a:r>
            <a:endParaRPr lang="en-US" b="1" dirty="0">
              <a:solidFill>
                <a:prstClr val="black"/>
              </a:solidFill>
            </a:endParaRPr>
          </a:p>
        </p:txBody>
      </p:sp>
      <p:graphicFrame>
        <p:nvGraphicFramePr>
          <p:cNvPr id="7" name="Table 6">
            <a:extLst>
              <a:ext uri="{FF2B5EF4-FFF2-40B4-BE49-F238E27FC236}">
                <a16:creationId xmlns:a16="http://schemas.microsoft.com/office/drawing/2014/main" id="{337E2BFB-9352-4264-BC90-2CFD3C817FD1}"/>
              </a:ext>
            </a:extLst>
          </p:cNvPr>
          <p:cNvGraphicFramePr>
            <a:graphicFrameLocks noGrp="1"/>
          </p:cNvGraphicFramePr>
          <p:nvPr>
            <p:extLst>
              <p:ext uri="{D42A27DB-BD31-4B8C-83A1-F6EECF244321}">
                <p14:modId xmlns:p14="http://schemas.microsoft.com/office/powerpoint/2010/main" val="3111977208"/>
              </p:ext>
            </p:extLst>
          </p:nvPr>
        </p:nvGraphicFramePr>
        <p:xfrm>
          <a:off x="556077" y="1333087"/>
          <a:ext cx="10939236" cy="2646432"/>
        </p:xfrm>
        <a:graphic>
          <a:graphicData uri="http://schemas.openxmlformats.org/drawingml/2006/table">
            <a:tbl>
              <a:tblPr/>
              <a:tblGrid>
                <a:gridCol w="2676980">
                  <a:extLst>
                    <a:ext uri="{9D8B030D-6E8A-4147-A177-3AD203B41FA5}">
                      <a16:colId xmlns:a16="http://schemas.microsoft.com/office/drawing/2014/main" val="2739207973"/>
                    </a:ext>
                  </a:extLst>
                </a:gridCol>
                <a:gridCol w="892666">
                  <a:extLst>
                    <a:ext uri="{9D8B030D-6E8A-4147-A177-3AD203B41FA5}">
                      <a16:colId xmlns:a16="http://schemas.microsoft.com/office/drawing/2014/main" val="2881973656"/>
                    </a:ext>
                  </a:extLst>
                </a:gridCol>
                <a:gridCol w="1315998">
                  <a:extLst>
                    <a:ext uri="{9D8B030D-6E8A-4147-A177-3AD203B41FA5}">
                      <a16:colId xmlns:a16="http://schemas.microsoft.com/office/drawing/2014/main" val="2562754196"/>
                    </a:ext>
                  </a:extLst>
                </a:gridCol>
                <a:gridCol w="6053592">
                  <a:extLst>
                    <a:ext uri="{9D8B030D-6E8A-4147-A177-3AD203B41FA5}">
                      <a16:colId xmlns:a16="http://schemas.microsoft.com/office/drawing/2014/main" val="1683376676"/>
                    </a:ext>
                  </a:extLst>
                </a:gridCol>
              </a:tblGrid>
              <a:tr h="272544">
                <a:tc>
                  <a:txBody>
                    <a:bodyPr/>
                    <a:lstStyle/>
                    <a:p>
                      <a:pPr algn="ctr" fontAlgn="b"/>
                      <a:r>
                        <a:rPr lang="en-US" sz="1500" b="1" i="0" u="none" strike="noStrike" dirty="0">
                          <a:solidFill>
                            <a:srgbClr val="FFFFFF"/>
                          </a:solidFill>
                          <a:effectLst/>
                          <a:latin typeface="Calibri" panose="020F0502020204030204" pitchFamily="34" charset="0"/>
                        </a:rPr>
                        <a:t>Costs (Rs./Wp) (excl. GST)</a:t>
                      </a:r>
                    </a:p>
                  </a:txBody>
                  <a:tcPr marL="9144" marR="9144" marT="0" marB="0" anchor="ctr">
                    <a:lnL>
                      <a:noFill/>
                    </a:lnL>
                    <a:lnR>
                      <a:noFill/>
                    </a:lnR>
                    <a:lnT>
                      <a:noFill/>
                    </a:lnT>
                    <a:lnB>
                      <a:noFill/>
                    </a:lnB>
                    <a:solidFill>
                      <a:schemeClr val="tx1">
                        <a:lumMod val="65000"/>
                        <a:lumOff val="35000"/>
                      </a:schemeClr>
                    </a:solidFill>
                  </a:tcPr>
                </a:tc>
                <a:tc>
                  <a:txBody>
                    <a:bodyPr/>
                    <a:lstStyle/>
                    <a:p>
                      <a:pPr algn="ctr" fontAlgn="b"/>
                      <a:r>
                        <a:rPr lang="en-US" sz="1500" b="1" i="0" u="none" strike="noStrike" dirty="0">
                          <a:solidFill>
                            <a:srgbClr val="FFFFFF"/>
                          </a:solidFill>
                          <a:effectLst/>
                          <a:latin typeface="Calibri" panose="020F0502020204030204" pitchFamily="34" charset="0"/>
                        </a:rPr>
                        <a:t>Current Price</a:t>
                      </a:r>
                    </a:p>
                  </a:txBody>
                  <a:tcPr marL="9144" marR="9144" marT="0" marB="0" anchor="ctr">
                    <a:lnL>
                      <a:noFill/>
                    </a:lnL>
                    <a:lnR>
                      <a:noFill/>
                    </a:lnR>
                    <a:lnT>
                      <a:noFill/>
                    </a:lnT>
                    <a:lnB>
                      <a:noFill/>
                    </a:lnB>
                    <a:solidFill>
                      <a:schemeClr val="tx1">
                        <a:lumMod val="65000"/>
                        <a:lumOff val="35000"/>
                      </a:schemeClr>
                    </a:solidFill>
                  </a:tcPr>
                </a:tc>
                <a:tc>
                  <a:txBody>
                    <a:bodyPr/>
                    <a:lstStyle/>
                    <a:p>
                      <a:pPr algn="ctr" fontAlgn="b"/>
                      <a:r>
                        <a:rPr lang="en-US" sz="1500" b="1" i="0" u="none" strike="noStrike" dirty="0">
                          <a:solidFill>
                            <a:srgbClr val="FFFFFF"/>
                          </a:solidFill>
                          <a:effectLst/>
                          <a:latin typeface="Calibri" panose="020F0502020204030204" pitchFamily="34" charset="0"/>
                        </a:rPr>
                        <a:t>2024 (Predicted)</a:t>
                      </a:r>
                    </a:p>
                  </a:txBody>
                  <a:tcPr marL="9144" marR="9144" marT="0" marB="0" anchor="ctr">
                    <a:lnL>
                      <a:noFill/>
                    </a:lnL>
                    <a:lnR>
                      <a:noFill/>
                    </a:lnR>
                    <a:lnT>
                      <a:noFill/>
                    </a:lnT>
                    <a:lnB>
                      <a:noFill/>
                    </a:lnB>
                    <a:solidFill>
                      <a:schemeClr val="tx1">
                        <a:lumMod val="65000"/>
                        <a:lumOff val="35000"/>
                      </a:schemeClr>
                    </a:solidFill>
                  </a:tcPr>
                </a:tc>
                <a:tc>
                  <a:txBody>
                    <a:bodyPr/>
                    <a:lstStyle/>
                    <a:p>
                      <a:pPr algn="ctr" fontAlgn="b"/>
                      <a:r>
                        <a:rPr lang="en-US" sz="1500" b="1" i="0" u="none" strike="noStrike" dirty="0">
                          <a:solidFill>
                            <a:srgbClr val="FFFFFF"/>
                          </a:solidFill>
                          <a:effectLst/>
                          <a:latin typeface="Calibri" panose="020F0502020204030204" pitchFamily="34" charset="0"/>
                        </a:rPr>
                        <a:t>Remarks, if any</a:t>
                      </a:r>
                    </a:p>
                  </a:txBody>
                  <a:tcPr marL="9144" marR="9144" marT="0" marB="0" anchor="ctr">
                    <a:lnL>
                      <a:noFill/>
                    </a:lnL>
                    <a:lnR>
                      <a:noFill/>
                    </a:lnR>
                    <a:lnT>
                      <a:noFill/>
                    </a:lnT>
                    <a:lnB>
                      <a:noFill/>
                    </a:lnB>
                    <a:solidFill>
                      <a:schemeClr val="tx1">
                        <a:lumMod val="65000"/>
                        <a:lumOff val="35000"/>
                      </a:schemeClr>
                    </a:solidFill>
                  </a:tcPr>
                </a:tc>
                <a:extLst>
                  <a:ext uri="{0D108BD9-81ED-4DB2-BD59-A6C34878D82A}">
                    <a16:rowId xmlns:a16="http://schemas.microsoft.com/office/drawing/2014/main" val="2637024721"/>
                  </a:ext>
                </a:extLst>
              </a:tr>
              <a:tr h="136272">
                <a:tc>
                  <a:txBody>
                    <a:bodyPr/>
                    <a:lstStyle/>
                    <a:p>
                      <a:pPr algn="l" fontAlgn="b"/>
                      <a:r>
                        <a:rPr lang="en-US" sz="1500" b="1" i="0" u="none" strike="noStrike" dirty="0">
                          <a:solidFill>
                            <a:srgbClr val="000000"/>
                          </a:solidFill>
                          <a:effectLst/>
                          <a:latin typeface="Calibri" panose="020F0502020204030204" pitchFamily="34" charset="0"/>
                        </a:rPr>
                        <a:t>Cell Price</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12.80</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7.59</a:t>
                      </a:r>
                    </a:p>
                  </a:txBody>
                  <a:tcPr marL="9144" marR="9144" marT="0" marB="0" anchor="ctr">
                    <a:lnL>
                      <a:noFill/>
                    </a:lnL>
                    <a:lnR>
                      <a:noFill/>
                    </a:lnR>
                    <a:lnT>
                      <a:noFill/>
                    </a:lnT>
                    <a:lnB>
                      <a:noFill/>
                    </a:lnB>
                  </a:tcPr>
                </a:tc>
                <a:tc>
                  <a:txBody>
                    <a:bodyPr/>
                    <a:lstStyle/>
                    <a:p>
                      <a:pPr algn="l" fontAlgn="b"/>
                      <a:r>
                        <a:rPr lang="en-US" sz="1500" b="0" i="0" u="none" strike="noStrike">
                          <a:solidFill>
                            <a:srgbClr val="000000"/>
                          </a:solidFill>
                          <a:effectLst/>
                          <a:latin typeface="Calibri" panose="020F0502020204030204" pitchFamily="34" charset="0"/>
                        </a:rPr>
                        <a:t>Based on market trend and inputs from key module suppliers</a:t>
                      </a:r>
                    </a:p>
                  </a:txBody>
                  <a:tcPr marL="9144" marR="9144" marT="0" marB="0" anchor="ctr">
                    <a:lnL>
                      <a:noFill/>
                    </a:lnL>
                    <a:lnR>
                      <a:noFill/>
                    </a:lnR>
                    <a:lnT>
                      <a:noFill/>
                    </a:lnT>
                    <a:lnB>
                      <a:noFill/>
                    </a:lnB>
                  </a:tcPr>
                </a:tc>
                <a:extLst>
                  <a:ext uri="{0D108BD9-81ED-4DB2-BD59-A6C34878D82A}">
                    <a16:rowId xmlns:a16="http://schemas.microsoft.com/office/drawing/2014/main" val="696811444"/>
                  </a:ext>
                </a:extLst>
              </a:tr>
              <a:tr h="272544">
                <a:tc>
                  <a:txBody>
                    <a:bodyPr/>
                    <a:lstStyle/>
                    <a:p>
                      <a:pPr algn="l" fontAlgn="b"/>
                      <a:r>
                        <a:rPr lang="en-US" sz="1500" b="1" i="0" u="none" strike="noStrike" dirty="0" err="1">
                          <a:solidFill>
                            <a:srgbClr val="000000"/>
                          </a:solidFill>
                          <a:effectLst/>
                          <a:latin typeface="Calibri" panose="020F0502020204030204" pitchFamily="34" charset="0"/>
                        </a:rPr>
                        <a:t>Aluminium</a:t>
                      </a:r>
                      <a:r>
                        <a:rPr lang="en-US" sz="1500" b="1" i="0" u="none" strike="noStrike" dirty="0">
                          <a:solidFill>
                            <a:srgbClr val="000000"/>
                          </a:solidFill>
                          <a:effectLst/>
                          <a:latin typeface="Calibri" panose="020F0502020204030204" pitchFamily="34" charset="0"/>
                        </a:rPr>
                        <a:t> Price</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1.71</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1.70</a:t>
                      </a:r>
                    </a:p>
                  </a:txBody>
                  <a:tcPr marL="9144" marR="9144" marT="0" marB="0" anchor="ctr">
                    <a:lnL>
                      <a:noFill/>
                    </a:lnL>
                    <a:lnR>
                      <a:noFill/>
                    </a:lnR>
                    <a:lnT>
                      <a:noFill/>
                    </a:lnT>
                    <a:lnB>
                      <a:noFill/>
                    </a:lnB>
                  </a:tcPr>
                </a:tc>
                <a:tc>
                  <a:txBody>
                    <a:bodyPr/>
                    <a:lstStyle/>
                    <a:p>
                      <a:pPr algn="l" fontAlgn="ctr"/>
                      <a:r>
                        <a:rPr lang="en-US" sz="1500" b="0" i="0" u="none" strike="noStrike" dirty="0">
                          <a:solidFill>
                            <a:srgbClr val="000000"/>
                          </a:solidFill>
                          <a:effectLst/>
                          <a:latin typeface="Calibri" panose="020F0502020204030204" pitchFamily="34" charset="0"/>
                        </a:rPr>
                        <a:t>Based on Deloitte Research; </a:t>
                      </a:r>
                      <a:r>
                        <a:rPr lang="en-US" sz="1500" b="0" i="0" u="none" strike="noStrike" dirty="0" err="1">
                          <a:solidFill>
                            <a:srgbClr val="000000"/>
                          </a:solidFill>
                          <a:effectLst/>
                          <a:latin typeface="Calibri" panose="020F0502020204030204" pitchFamily="34" charset="0"/>
                        </a:rPr>
                        <a:t>Aluminium</a:t>
                      </a:r>
                      <a:r>
                        <a:rPr lang="en-US" sz="1500" b="0" i="0" u="none" strike="noStrike" dirty="0">
                          <a:solidFill>
                            <a:srgbClr val="000000"/>
                          </a:solidFill>
                          <a:effectLst/>
                          <a:latin typeface="Calibri" panose="020F0502020204030204" pitchFamily="34" charset="0"/>
                        </a:rPr>
                        <a:t> cost forecasts provided as </a:t>
                      </a:r>
                      <a:r>
                        <a:rPr lang="en-US" sz="1500" b="0" i="0" u="none" strike="noStrike" dirty="0">
                          <a:solidFill>
                            <a:srgbClr val="000000"/>
                          </a:solidFill>
                          <a:effectLst/>
                          <a:latin typeface="Calibri" panose="020F0502020204030204" pitchFamily="34" charset="0"/>
                          <a:hlinkClick r:id="rId2" action="ppaction://hlinksldjump"/>
                        </a:rPr>
                        <a:t>Annexure 1</a:t>
                      </a:r>
                      <a:endParaRPr lang="en-US" sz="1500" b="0" i="0" u="none" strike="noStrike" dirty="0">
                        <a:solidFill>
                          <a:srgbClr val="000000"/>
                        </a:solidFill>
                        <a:effectLst/>
                        <a:latin typeface="Calibri" panose="020F0502020204030204" pitchFamily="34" charset="0"/>
                      </a:endParaRPr>
                    </a:p>
                  </a:txBody>
                  <a:tcPr marL="9144" marR="9144" marT="0" marB="0" anchor="ctr">
                    <a:lnL>
                      <a:noFill/>
                    </a:lnL>
                    <a:lnR>
                      <a:noFill/>
                    </a:lnR>
                    <a:lnT>
                      <a:noFill/>
                    </a:lnT>
                    <a:lnB>
                      <a:noFill/>
                    </a:lnB>
                  </a:tcPr>
                </a:tc>
                <a:extLst>
                  <a:ext uri="{0D108BD9-81ED-4DB2-BD59-A6C34878D82A}">
                    <a16:rowId xmlns:a16="http://schemas.microsoft.com/office/drawing/2014/main" val="390752849"/>
                  </a:ext>
                </a:extLst>
              </a:tr>
              <a:tr h="272544">
                <a:tc>
                  <a:txBody>
                    <a:bodyPr/>
                    <a:lstStyle/>
                    <a:p>
                      <a:pPr algn="l" fontAlgn="b"/>
                      <a:r>
                        <a:rPr lang="en-US" sz="1500" b="1" i="0" u="none" strike="noStrike" dirty="0">
                          <a:solidFill>
                            <a:srgbClr val="000000"/>
                          </a:solidFill>
                          <a:effectLst/>
                          <a:latin typeface="Calibri" panose="020F0502020204030204" pitchFamily="34" charset="0"/>
                        </a:rPr>
                        <a:t>Copper Price</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0.70</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0.62</a:t>
                      </a:r>
                    </a:p>
                  </a:txBody>
                  <a:tcPr marL="9144" marR="9144" marT="0" marB="0" anchor="ctr">
                    <a:lnL>
                      <a:noFill/>
                    </a:lnL>
                    <a:lnR>
                      <a:noFill/>
                    </a:lnR>
                    <a:lnT>
                      <a:noFill/>
                    </a:lnT>
                    <a:lnB>
                      <a:noFill/>
                    </a:lnB>
                  </a:tcPr>
                </a:tc>
                <a:tc>
                  <a:txBody>
                    <a:bodyPr/>
                    <a:lstStyle/>
                    <a:p>
                      <a:pPr algn="l" fontAlgn="ctr"/>
                      <a:r>
                        <a:rPr lang="en-US" sz="1500" b="0" i="0" u="none" strike="noStrike" dirty="0">
                          <a:solidFill>
                            <a:srgbClr val="000000"/>
                          </a:solidFill>
                          <a:effectLst/>
                          <a:latin typeface="Calibri" panose="020F0502020204030204" pitchFamily="34" charset="0"/>
                        </a:rPr>
                        <a:t>Based on Deloitte Research; Copper cost forecasts provided as </a:t>
                      </a:r>
                      <a:r>
                        <a:rPr lang="en-US" sz="1500" b="0" i="0" u="none" strike="noStrike" dirty="0">
                          <a:solidFill>
                            <a:srgbClr val="000000"/>
                          </a:solidFill>
                          <a:effectLst/>
                          <a:latin typeface="Calibri" panose="020F0502020204030204" pitchFamily="34" charset="0"/>
                          <a:hlinkClick r:id="rId3" action="ppaction://hlinksldjump"/>
                        </a:rPr>
                        <a:t>Annexure 2</a:t>
                      </a:r>
                      <a:endParaRPr lang="en-US" sz="1500" b="0" i="0" u="none" strike="noStrike" dirty="0">
                        <a:solidFill>
                          <a:srgbClr val="000000"/>
                        </a:solidFill>
                        <a:effectLst/>
                        <a:latin typeface="Calibri" panose="020F0502020204030204" pitchFamily="34" charset="0"/>
                      </a:endParaRPr>
                    </a:p>
                  </a:txBody>
                  <a:tcPr marL="9144" marR="9144" marT="0" marB="0" anchor="ctr">
                    <a:lnL>
                      <a:noFill/>
                    </a:lnL>
                    <a:lnR>
                      <a:noFill/>
                    </a:lnR>
                    <a:lnT>
                      <a:noFill/>
                    </a:lnT>
                    <a:lnB>
                      <a:noFill/>
                    </a:lnB>
                  </a:tcPr>
                </a:tc>
                <a:extLst>
                  <a:ext uri="{0D108BD9-81ED-4DB2-BD59-A6C34878D82A}">
                    <a16:rowId xmlns:a16="http://schemas.microsoft.com/office/drawing/2014/main" val="3860115551"/>
                  </a:ext>
                </a:extLst>
              </a:tr>
              <a:tr h="136272">
                <a:tc>
                  <a:txBody>
                    <a:bodyPr/>
                    <a:lstStyle/>
                    <a:p>
                      <a:pPr algn="l" fontAlgn="b"/>
                      <a:r>
                        <a:rPr lang="en-US" sz="1500" b="1" i="0" u="none" strike="noStrike" dirty="0">
                          <a:solidFill>
                            <a:srgbClr val="000000"/>
                          </a:solidFill>
                          <a:effectLst/>
                          <a:latin typeface="Calibri" panose="020F0502020204030204" pitchFamily="34" charset="0"/>
                        </a:rPr>
                        <a:t>Glass Price</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2.92</a:t>
                      </a:r>
                    </a:p>
                  </a:txBody>
                  <a:tcPr marL="9144" marR="9144" marT="0" marB="0" anchor="ctr">
                    <a:lnL>
                      <a:noFill/>
                    </a:lnL>
                    <a:lnR>
                      <a:noFill/>
                    </a:lnR>
                    <a:lnT>
                      <a:noFill/>
                    </a:lnT>
                    <a:lnB>
                      <a:noFill/>
                    </a:lnB>
                  </a:tcPr>
                </a:tc>
                <a:tc>
                  <a:txBody>
                    <a:bodyPr/>
                    <a:lstStyle/>
                    <a:p>
                      <a:pPr algn="ctr" fontAlgn="b"/>
                      <a:r>
                        <a:rPr lang="en-US" sz="1500" b="1" i="0" u="none" strike="noStrike">
                          <a:solidFill>
                            <a:srgbClr val="000000"/>
                          </a:solidFill>
                          <a:effectLst/>
                          <a:latin typeface="Calibri" panose="020F0502020204030204" pitchFamily="34" charset="0"/>
                        </a:rPr>
                        <a:t>3.15</a:t>
                      </a:r>
                    </a:p>
                  </a:txBody>
                  <a:tcPr marL="9144" marR="9144" marT="0" marB="0" anchor="ctr">
                    <a:lnL>
                      <a:noFill/>
                    </a:lnL>
                    <a:lnR>
                      <a:noFill/>
                    </a:lnR>
                    <a:lnT>
                      <a:noFill/>
                    </a:lnT>
                    <a:lnB>
                      <a:noFill/>
                    </a:lnB>
                  </a:tcPr>
                </a:tc>
                <a:tc>
                  <a:txBody>
                    <a:bodyPr/>
                    <a:lstStyle/>
                    <a:p>
                      <a:pPr algn="l" fontAlgn="b"/>
                      <a:r>
                        <a:rPr lang="en-US" sz="1500" b="0" i="0" u="none" strike="noStrike" dirty="0">
                          <a:solidFill>
                            <a:srgbClr val="000000"/>
                          </a:solidFill>
                          <a:effectLst/>
                          <a:latin typeface="Calibri" panose="020F0502020204030204" pitchFamily="34" charset="0"/>
                        </a:rPr>
                        <a:t>Based on Deloitte Research; Glass price forecast provided as </a:t>
                      </a:r>
                      <a:r>
                        <a:rPr lang="en-US" sz="1500" b="0" i="0" u="none" strike="noStrike" dirty="0">
                          <a:solidFill>
                            <a:srgbClr val="000000"/>
                          </a:solidFill>
                          <a:effectLst/>
                          <a:latin typeface="Calibri" panose="020F0502020204030204" pitchFamily="34" charset="0"/>
                          <a:hlinkClick r:id="rId4" action="ppaction://hlinksldjump"/>
                        </a:rPr>
                        <a:t>Annexure 3</a:t>
                      </a:r>
                      <a:endParaRPr lang="en-US" sz="1500" b="0" i="0" u="none" strike="noStrike" dirty="0">
                        <a:solidFill>
                          <a:srgbClr val="000000"/>
                        </a:solidFill>
                        <a:effectLst/>
                        <a:latin typeface="Calibri" panose="020F0502020204030204" pitchFamily="34" charset="0"/>
                      </a:endParaRPr>
                    </a:p>
                  </a:txBody>
                  <a:tcPr marL="9144" marR="9144" marT="0" marB="0" anchor="ctr">
                    <a:lnL>
                      <a:noFill/>
                    </a:lnL>
                    <a:lnR>
                      <a:noFill/>
                    </a:lnR>
                    <a:lnT>
                      <a:noFill/>
                    </a:lnT>
                    <a:lnB>
                      <a:noFill/>
                    </a:lnB>
                  </a:tcPr>
                </a:tc>
                <a:extLst>
                  <a:ext uri="{0D108BD9-81ED-4DB2-BD59-A6C34878D82A}">
                    <a16:rowId xmlns:a16="http://schemas.microsoft.com/office/drawing/2014/main" val="1406492765"/>
                  </a:ext>
                </a:extLst>
              </a:tr>
              <a:tr h="136272">
                <a:tc>
                  <a:txBody>
                    <a:bodyPr/>
                    <a:lstStyle/>
                    <a:p>
                      <a:pPr algn="l" fontAlgn="b"/>
                      <a:r>
                        <a:rPr lang="en-US" sz="1500" b="1" i="0" u="none" strike="noStrike" dirty="0">
                          <a:solidFill>
                            <a:srgbClr val="000000"/>
                          </a:solidFill>
                          <a:effectLst/>
                          <a:latin typeface="Calibri" panose="020F0502020204030204" pitchFamily="34" charset="0"/>
                        </a:rPr>
                        <a:t>Other Materials*</a:t>
                      </a:r>
                    </a:p>
                  </a:txBody>
                  <a:tcPr marL="9144" marR="9144"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ctr"/>
                      <a:r>
                        <a:rPr lang="en-US" sz="1500" b="1" i="0" u="none" strike="noStrike">
                          <a:solidFill>
                            <a:srgbClr val="000000"/>
                          </a:solidFill>
                          <a:effectLst/>
                          <a:latin typeface="Calibri" panose="020F0502020204030204" pitchFamily="34" charset="0"/>
                        </a:rPr>
                        <a:t>7.73</a:t>
                      </a:r>
                    </a:p>
                  </a:txBody>
                  <a:tcPr marL="9144" marR="9144"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ctr"/>
                      <a:r>
                        <a:rPr lang="en-US" sz="1500" b="1" i="0" u="none" strike="noStrike">
                          <a:solidFill>
                            <a:srgbClr val="000000"/>
                          </a:solidFill>
                          <a:effectLst/>
                          <a:latin typeface="Calibri" panose="020F0502020204030204" pitchFamily="34" charset="0"/>
                        </a:rPr>
                        <a:t>7.73</a:t>
                      </a:r>
                    </a:p>
                  </a:txBody>
                  <a:tcPr marL="9144" marR="9144"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Insignificant change envisaged</a:t>
                      </a:r>
                    </a:p>
                  </a:txBody>
                  <a:tcPr marL="9144" marR="9144" marT="0" marB="0" anchor="ctr">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3654032"/>
                  </a:ext>
                </a:extLst>
              </a:tr>
              <a:tr h="272544">
                <a:tc>
                  <a:txBody>
                    <a:bodyPr/>
                    <a:lstStyle/>
                    <a:p>
                      <a:pPr algn="l" fontAlgn="b"/>
                      <a:r>
                        <a:rPr lang="en-US" sz="1500" b="1" i="0" u="none" strike="noStrike" dirty="0">
                          <a:solidFill>
                            <a:srgbClr val="000000"/>
                          </a:solidFill>
                          <a:effectLst/>
                          <a:latin typeface="Calibri" panose="020F0502020204030204" pitchFamily="34" charset="0"/>
                        </a:rPr>
                        <a:t>Module Price (Rs/Wp)(excl GST)</a:t>
                      </a:r>
                    </a:p>
                  </a:txBody>
                  <a:tcPr marL="9144" marR="9144"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25.85</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20.79</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l" fontAlgn="b"/>
                      <a:r>
                        <a:rPr lang="en-US" sz="1500" b="1" i="0" u="none" strike="noStrike" dirty="0">
                          <a:solidFill>
                            <a:srgbClr val="000000"/>
                          </a:solidFill>
                          <a:effectLst/>
                          <a:latin typeface="Calibri" panose="020F0502020204030204" pitchFamily="34" charset="0"/>
                        </a:rPr>
                        <a:t> </a:t>
                      </a:r>
                    </a:p>
                  </a:txBody>
                  <a:tcPr marL="9144" marR="9144"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a16="http://schemas.microsoft.com/office/drawing/2014/main" val="785086145"/>
                  </a:ext>
                </a:extLst>
              </a:tr>
              <a:tr h="272544">
                <a:tc>
                  <a:txBody>
                    <a:bodyPr/>
                    <a:lstStyle/>
                    <a:p>
                      <a:pPr algn="l" fontAlgn="b"/>
                      <a:r>
                        <a:rPr lang="en-US" sz="1500" b="1" i="0" u="none" strike="noStrike" dirty="0">
                          <a:solidFill>
                            <a:srgbClr val="000000"/>
                          </a:solidFill>
                          <a:effectLst/>
                          <a:latin typeface="Calibri" panose="020F0502020204030204" pitchFamily="34" charset="0"/>
                        </a:rPr>
                        <a:t>Total Cost (Rs./Wp) including Transportation Cost ( ~30p/Wp)</a:t>
                      </a:r>
                    </a:p>
                  </a:txBody>
                  <a:tcPr marL="9144" marR="9144"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~26.15</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~21.09</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l" fontAlgn="b"/>
                      <a:endParaRPr lang="en-US" sz="1500" b="1" i="0" u="none" strike="noStrike" dirty="0">
                        <a:solidFill>
                          <a:srgbClr val="000000"/>
                        </a:solidFill>
                        <a:effectLst/>
                        <a:latin typeface="Calibri" panose="020F0502020204030204" pitchFamily="34" charset="0"/>
                      </a:endParaRPr>
                    </a:p>
                  </a:txBody>
                  <a:tcPr marL="9144" marR="9144"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a16="http://schemas.microsoft.com/office/drawing/2014/main" val="1957868146"/>
                  </a:ext>
                </a:extLst>
              </a:tr>
              <a:tr h="136272">
                <a:tc gridSpan="3">
                  <a:txBody>
                    <a:bodyPr/>
                    <a:lstStyle/>
                    <a:p>
                      <a:pPr algn="l" fontAlgn="b"/>
                      <a:r>
                        <a:rPr lang="en-US" sz="1500" b="0" i="0" u="none" strike="noStrike" dirty="0">
                          <a:solidFill>
                            <a:srgbClr val="000000"/>
                          </a:solidFill>
                          <a:effectLst/>
                          <a:latin typeface="Calibri" panose="020F0502020204030204" pitchFamily="34" charset="0"/>
                        </a:rPr>
                        <a:t>*EVA, Back sheet, Tolling and Minor Raw Materials</a:t>
                      </a:r>
                    </a:p>
                  </a:txBody>
                  <a:tcPr marL="9144" marR="9144" marT="0" marB="0" anchor="ctr">
                    <a:lnL>
                      <a:noFill/>
                    </a:lnL>
                    <a:lnR>
                      <a:noFill/>
                    </a:lnR>
                    <a:lnT w="12700" cap="flat" cmpd="sng" algn="ctr">
                      <a:solidFill>
                        <a:schemeClr val="tx1"/>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a:txBody>
                    <a:bodyPr/>
                    <a:lstStyle/>
                    <a:p>
                      <a:pPr algn="l" fontAlgn="b"/>
                      <a:endParaRPr lang="en-US" sz="1500" b="0" i="0" u="none" strike="noStrike" dirty="0">
                        <a:solidFill>
                          <a:srgbClr val="000000"/>
                        </a:solidFill>
                        <a:effectLst/>
                        <a:latin typeface="Calibri" panose="020F0502020204030204" pitchFamily="34" charset="0"/>
                      </a:endParaRPr>
                    </a:p>
                  </a:txBody>
                  <a:tcPr marL="9144" marR="9144" marT="0" marB="0" anchor="ctr">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642979358"/>
                  </a:ext>
                </a:extLst>
              </a:tr>
            </a:tbl>
          </a:graphicData>
        </a:graphic>
      </p:graphicFrame>
      <p:sp>
        <p:nvSpPr>
          <p:cNvPr id="8" name="Oval 7">
            <a:extLst>
              <a:ext uri="{FF2B5EF4-FFF2-40B4-BE49-F238E27FC236}">
                <a16:creationId xmlns:a16="http://schemas.microsoft.com/office/drawing/2014/main" id="{673DE0EE-E66E-486B-B44F-81BE6F5672A3}"/>
              </a:ext>
            </a:extLst>
          </p:cNvPr>
          <p:cNvSpPr/>
          <p:nvPr/>
        </p:nvSpPr>
        <p:spPr bwMode="gray">
          <a:xfrm>
            <a:off x="4227972" y="3242461"/>
            <a:ext cx="1175657" cy="544286"/>
          </a:xfrm>
          <a:prstGeom prst="ellipse">
            <a:avLst/>
          </a:prstGeom>
          <a:no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 name="Rectangle 8">
            <a:extLst>
              <a:ext uri="{FF2B5EF4-FFF2-40B4-BE49-F238E27FC236}">
                <a16:creationId xmlns:a16="http://schemas.microsoft.com/office/drawing/2014/main" id="{7DBEBC08-06E3-4E62-8008-7F07A646B328}"/>
              </a:ext>
            </a:extLst>
          </p:cNvPr>
          <p:cNvSpPr/>
          <p:nvPr/>
        </p:nvSpPr>
        <p:spPr bwMode="gray">
          <a:xfrm>
            <a:off x="556077" y="4068663"/>
            <a:ext cx="10939236" cy="1112937"/>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t>Forecasted module cost Rs 21/Wp (excl. GST) is in line with price forecast as discussed with key module suppliers</a:t>
            </a:r>
          </a:p>
          <a:p>
            <a:pPr>
              <a:lnSpc>
                <a:spcPct val="106000"/>
              </a:lnSpc>
              <a:buFont typeface="Wingdings 2" pitchFamily="18" charset="2"/>
              <a:buNone/>
            </a:pPr>
            <a:r>
              <a:rPr lang="en-US" sz="1600" b="1" i="1" dirty="0"/>
              <a:t>Thus, range of module prices considered for scenario analysis to determine corresponding Equity IRR: </a:t>
            </a:r>
          </a:p>
          <a:p>
            <a:pPr>
              <a:lnSpc>
                <a:spcPct val="106000"/>
              </a:lnSpc>
              <a:buFont typeface="Wingdings 2" pitchFamily="18" charset="2"/>
              <a:buNone/>
            </a:pPr>
            <a:r>
              <a:rPr lang="en-US" sz="1600" b="1" i="1" u="sng" dirty="0"/>
              <a:t>Rs 21/Wp – Rs 26/Wp (excl GST)</a:t>
            </a:r>
            <a:r>
              <a:rPr lang="en-US" sz="1600" i="1" u="sng" dirty="0"/>
              <a:t> </a:t>
            </a:r>
          </a:p>
        </p:txBody>
      </p:sp>
      <p:sp>
        <p:nvSpPr>
          <p:cNvPr id="10" name="Rectangle 9">
            <a:extLst>
              <a:ext uri="{FF2B5EF4-FFF2-40B4-BE49-F238E27FC236}">
                <a16:creationId xmlns:a16="http://schemas.microsoft.com/office/drawing/2014/main" id="{E7E015C1-52C5-4E39-ACC8-EE93B542ABA8}"/>
              </a:ext>
            </a:extLst>
          </p:cNvPr>
          <p:cNvSpPr/>
          <p:nvPr/>
        </p:nvSpPr>
        <p:spPr bwMode="gray">
          <a:xfrm>
            <a:off x="556077" y="5381665"/>
            <a:ext cx="10939236" cy="832688"/>
          </a:xfrm>
          <a:prstGeom prst="rect">
            <a:avLst/>
          </a:prstGeom>
          <a:noFill/>
          <a:ln w="19050" algn="ctr">
            <a:solidFill>
              <a:schemeClr val="bg2">
                <a:lumMod val="25000"/>
              </a:schemeClr>
            </a:solidFill>
            <a:prstDash val="lgDash"/>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t>Further, if CIL can negotiate cell prices on behalf of Module Manufacturer and if certain discount is resultantly achieved, then it will have further beneficial impact on the overall Module cost vis a vis the Equity IRR of the project. Same is shown in </a:t>
            </a:r>
            <a:r>
              <a:rPr lang="en-US" sz="1600" i="1" dirty="0">
                <a:hlinkClick r:id="rId5" action="ppaction://hlinksldjump"/>
              </a:rPr>
              <a:t>Annexure A</a:t>
            </a:r>
            <a:endParaRPr lang="en-US" sz="1600" i="1" u="sng" dirty="0"/>
          </a:p>
        </p:txBody>
      </p:sp>
    </p:spTree>
    <p:extLst>
      <p:ext uri="{BB962C8B-B14F-4D97-AF65-F5344CB8AC3E}">
        <p14:creationId xmlns:p14="http://schemas.microsoft.com/office/powerpoint/2010/main" val="65029094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Basis of BOS Cost Forecast</a:t>
            </a:r>
            <a:endParaRPr lang="en-GB" b="1" dirty="0"/>
          </a:p>
        </p:txBody>
      </p:sp>
      <p:sp>
        <p:nvSpPr>
          <p:cNvPr id="22" name="Rectangle 21">
            <a:extLst>
              <a:ext uri="{FF2B5EF4-FFF2-40B4-BE49-F238E27FC236}">
                <a16:creationId xmlns:a16="http://schemas.microsoft.com/office/drawing/2014/main" id="{F1C12778-4896-4C83-BA33-1ED760E77874}"/>
              </a:ext>
            </a:extLst>
          </p:cNvPr>
          <p:cNvSpPr/>
          <p:nvPr/>
        </p:nvSpPr>
        <p:spPr>
          <a:xfrm>
            <a:off x="408938" y="820505"/>
            <a:ext cx="9989382" cy="369332"/>
          </a:xfrm>
          <a:prstGeom prst="rect">
            <a:avLst/>
          </a:prstGeom>
        </p:spPr>
        <p:txBody>
          <a:bodyPr wrap="square">
            <a:spAutoFit/>
          </a:bodyPr>
          <a:lstStyle/>
          <a:p>
            <a:pPr lvl="0">
              <a:spcAft>
                <a:spcPts val="600"/>
              </a:spcAft>
              <a:defRPr/>
            </a:pPr>
            <a:r>
              <a:rPr lang="en-US" dirty="0">
                <a:solidFill>
                  <a:srgbClr val="000000"/>
                </a:solidFill>
              </a:rPr>
              <a:t>Based on recent awarded tenders, average BOS cost considered</a:t>
            </a:r>
            <a:r>
              <a:rPr lang="en-US" b="1" dirty="0">
                <a:solidFill>
                  <a:srgbClr val="000000"/>
                </a:solidFill>
              </a:rPr>
              <a:t>:  Rs 1.32 Cr/MWp</a:t>
            </a:r>
          </a:p>
        </p:txBody>
      </p:sp>
      <p:graphicFrame>
        <p:nvGraphicFramePr>
          <p:cNvPr id="12" name="Table 11">
            <a:extLst>
              <a:ext uri="{FF2B5EF4-FFF2-40B4-BE49-F238E27FC236}">
                <a16:creationId xmlns:a16="http://schemas.microsoft.com/office/drawing/2014/main" id="{7AB7EB6B-3798-42E4-B869-709881C7F675}"/>
              </a:ext>
            </a:extLst>
          </p:cNvPr>
          <p:cNvGraphicFramePr>
            <a:graphicFrameLocks noGrp="1"/>
          </p:cNvGraphicFramePr>
          <p:nvPr>
            <p:extLst>
              <p:ext uri="{D42A27DB-BD31-4B8C-83A1-F6EECF244321}">
                <p14:modId xmlns:p14="http://schemas.microsoft.com/office/powerpoint/2010/main" val="87354236"/>
              </p:ext>
            </p:extLst>
          </p:nvPr>
        </p:nvGraphicFramePr>
        <p:xfrm>
          <a:off x="408938" y="2136663"/>
          <a:ext cx="10999287" cy="2552244"/>
        </p:xfrm>
        <a:graphic>
          <a:graphicData uri="http://schemas.openxmlformats.org/drawingml/2006/table">
            <a:tbl>
              <a:tblPr/>
              <a:tblGrid>
                <a:gridCol w="4340104">
                  <a:extLst>
                    <a:ext uri="{9D8B030D-6E8A-4147-A177-3AD203B41FA5}">
                      <a16:colId xmlns:a16="http://schemas.microsoft.com/office/drawing/2014/main" val="4077157830"/>
                    </a:ext>
                  </a:extLst>
                </a:gridCol>
                <a:gridCol w="1161901">
                  <a:extLst>
                    <a:ext uri="{9D8B030D-6E8A-4147-A177-3AD203B41FA5}">
                      <a16:colId xmlns:a16="http://schemas.microsoft.com/office/drawing/2014/main" val="303040987"/>
                    </a:ext>
                  </a:extLst>
                </a:gridCol>
                <a:gridCol w="1464016">
                  <a:extLst>
                    <a:ext uri="{9D8B030D-6E8A-4147-A177-3AD203B41FA5}">
                      <a16:colId xmlns:a16="http://schemas.microsoft.com/office/drawing/2014/main" val="69857301"/>
                    </a:ext>
                  </a:extLst>
                </a:gridCol>
                <a:gridCol w="4033266">
                  <a:extLst>
                    <a:ext uri="{9D8B030D-6E8A-4147-A177-3AD203B41FA5}">
                      <a16:colId xmlns:a16="http://schemas.microsoft.com/office/drawing/2014/main" val="310020144"/>
                    </a:ext>
                  </a:extLst>
                </a:gridCol>
              </a:tblGrid>
              <a:tr h="284826">
                <a:tc rowSpan="2">
                  <a:txBody>
                    <a:bodyPr/>
                    <a:lstStyle/>
                    <a:p>
                      <a:pPr algn="ctr" fontAlgn="ctr"/>
                      <a:r>
                        <a:rPr lang="en-US" sz="1500" b="1" i="0" u="none" strike="noStrike" dirty="0">
                          <a:solidFill>
                            <a:srgbClr val="FFFFFF"/>
                          </a:solidFill>
                          <a:effectLst/>
                          <a:latin typeface="Calibri" panose="020F0502020204030204" pitchFamily="34" charset="0"/>
                        </a:rPr>
                        <a:t>BOS Costs (incl. GST)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r>
                        <a:rPr lang="en-US" sz="1500" b="1" i="0" u="none" strike="noStrike" kern="1200" dirty="0">
                          <a:solidFill>
                            <a:srgbClr val="FFFFFF"/>
                          </a:solidFill>
                          <a:effectLst/>
                          <a:latin typeface="Calibri" panose="020F0502020204030204" pitchFamily="34" charset="0"/>
                          <a:ea typeface="+mn-ea"/>
                          <a:cs typeface="+mn-cs"/>
                        </a:rPr>
                        <a:t>2022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sz="1500" b="1" i="0" u="none" strike="noStrike" kern="1200" dirty="0">
                          <a:solidFill>
                            <a:srgbClr val="FFFFFF"/>
                          </a:solidFill>
                          <a:effectLst/>
                          <a:latin typeface="Calibri" panose="020F0502020204030204" pitchFamily="34" charset="0"/>
                          <a:ea typeface="+mn-ea"/>
                          <a:cs typeface="+mn-cs"/>
                        </a:rPr>
                        <a:t>2024 (Predicted)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rowSpan="2">
                  <a:txBody>
                    <a:bodyPr/>
                    <a:lstStyle/>
                    <a:p>
                      <a:pPr algn="ctr" fontAlgn="ctr"/>
                      <a:r>
                        <a:rPr lang="en-US" sz="1500" b="1" i="0" u="none" strike="noStrike" dirty="0">
                          <a:solidFill>
                            <a:srgbClr val="FFFFFF"/>
                          </a:solidFill>
                          <a:effectLst/>
                          <a:latin typeface="Calibri" panose="020F0502020204030204" pitchFamily="34" charset="0"/>
                        </a:rPr>
                        <a:t>Remarks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118745255"/>
                  </a:ext>
                </a:extLst>
              </a:tr>
              <a:tr h="284826">
                <a:tc vMerge="1">
                  <a:txBody>
                    <a:bodyPr/>
                    <a:lstStyle/>
                    <a:p>
                      <a:endParaRPr lang="en-US"/>
                    </a:p>
                  </a:txBody>
                  <a:tcPr/>
                </a:tc>
                <a:tc>
                  <a:txBody>
                    <a:bodyPr/>
                    <a:lstStyle/>
                    <a:p>
                      <a:pPr algn="ctr" fontAlgn="b"/>
                      <a:r>
                        <a:rPr lang="en-US" sz="1500" b="1" i="0" u="none" strike="noStrike" dirty="0">
                          <a:solidFill>
                            <a:srgbClr val="FFFFFF"/>
                          </a:solidFill>
                          <a:effectLst/>
                          <a:latin typeface="Calibri" panose="020F0502020204030204" pitchFamily="34" charset="0"/>
                        </a:rPr>
                        <a:t>Rs Cr/MWp</a:t>
                      </a: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r>
                        <a:rPr lang="en-US" sz="1500" b="1" i="0" u="none" strike="noStrike" dirty="0">
                          <a:solidFill>
                            <a:srgbClr val="FFFFFF"/>
                          </a:solidFill>
                          <a:effectLst/>
                          <a:latin typeface="Calibri" panose="020F0502020204030204" pitchFamily="34" charset="0"/>
                        </a:rPr>
                        <a:t>Rs Cr/MWp</a:t>
                      </a: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vMerge="1">
                  <a:txBody>
                    <a:bodyPr/>
                    <a:lstStyle/>
                    <a:p>
                      <a:endParaRPr lang="en-US"/>
                    </a:p>
                  </a:txBody>
                  <a:tcPr/>
                </a:tc>
                <a:extLst>
                  <a:ext uri="{0D108BD9-81ED-4DB2-BD59-A6C34878D82A}">
                    <a16:rowId xmlns:a16="http://schemas.microsoft.com/office/drawing/2014/main" val="842070476"/>
                  </a:ext>
                </a:extLst>
              </a:tr>
              <a:tr h="569652">
                <a:tc>
                  <a:txBody>
                    <a:bodyPr/>
                    <a:lstStyle/>
                    <a:p>
                      <a:pPr algn="l" fontAlgn="ctr"/>
                      <a:r>
                        <a:rPr lang="en-US" sz="1500" b="1" i="0" u="none" strike="noStrike" dirty="0">
                          <a:solidFill>
                            <a:srgbClr val="000000"/>
                          </a:solidFill>
                          <a:effectLst/>
                          <a:latin typeface="Calibri" panose="020F0502020204030204" pitchFamily="34" charset="0"/>
                        </a:rPr>
                        <a:t>MMS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0.33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0.28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b"/>
                      <a:r>
                        <a:rPr lang="en-US" sz="1500" b="0" i="0" u="none" strike="noStrike" dirty="0">
                          <a:solidFill>
                            <a:srgbClr val="000000"/>
                          </a:solidFill>
                          <a:effectLst/>
                          <a:latin typeface="Calibri" panose="020F0502020204030204" pitchFamily="34" charset="0"/>
                        </a:rPr>
                        <a:t>Based on impact of decrease in predicted steel prices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3927847"/>
                  </a:ext>
                </a:extLst>
              </a:tr>
              <a:tr h="569652">
                <a:tc>
                  <a:txBody>
                    <a:bodyPr/>
                    <a:lstStyle/>
                    <a:p>
                      <a:pPr algn="l" fontAlgn="ctr"/>
                      <a:r>
                        <a:rPr lang="en-US" sz="1500" b="1" i="0" u="none" strike="noStrike" dirty="0">
                          <a:solidFill>
                            <a:srgbClr val="000000"/>
                          </a:solidFill>
                          <a:effectLst/>
                          <a:latin typeface="Calibri" panose="020F0502020204030204" pitchFamily="34" charset="0"/>
                        </a:rPr>
                        <a:t>BOS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0.78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0.76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b"/>
                      <a:r>
                        <a:rPr lang="en-US" sz="1500" b="0" i="0" u="none" strike="noStrike" dirty="0">
                          <a:solidFill>
                            <a:srgbClr val="000000"/>
                          </a:solidFill>
                          <a:effectLst/>
                          <a:latin typeface="Calibri" panose="020F0502020204030204" pitchFamily="34" charset="0"/>
                        </a:rPr>
                        <a:t>Based on impact of decrease in predicted steel prices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5660815"/>
                  </a:ext>
                </a:extLst>
              </a:tr>
              <a:tr h="284826">
                <a:tc>
                  <a:txBody>
                    <a:bodyPr/>
                    <a:lstStyle/>
                    <a:p>
                      <a:pPr algn="l" fontAlgn="ctr"/>
                      <a:r>
                        <a:rPr lang="en-US" sz="1500" b="1" i="0" u="none" strike="noStrike">
                          <a:solidFill>
                            <a:srgbClr val="000000"/>
                          </a:solidFill>
                          <a:effectLst/>
                          <a:latin typeface="Calibri" panose="020F0502020204030204" pitchFamily="34" charset="0"/>
                        </a:rPr>
                        <a:t>Works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0.21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b="0" i="0" u="none" strike="noStrike" dirty="0">
                          <a:solidFill>
                            <a:srgbClr val="000000"/>
                          </a:solidFill>
                          <a:effectLst/>
                          <a:latin typeface="Calibri" panose="020F0502020204030204" pitchFamily="34" charset="0"/>
                        </a:rPr>
                        <a:t>0.22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b"/>
                      <a:r>
                        <a:rPr lang="en-US" sz="1500" b="0" i="0" u="none" strike="noStrike" dirty="0">
                          <a:solidFill>
                            <a:srgbClr val="000000"/>
                          </a:solidFill>
                          <a:effectLst/>
                          <a:latin typeface="Calibri" panose="020F0502020204030204" pitchFamily="34" charset="0"/>
                        </a:rPr>
                        <a:t>Escalation rate of 5% considered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9716644"/>
                  </a:ext>
                </a:extLst>
              </a:tr>
              <a:tr h="294648">
                <a:tc>
                  <a:txBody>
                    <a:bodyPr/>
                    <a:lstStyle/>
                    <a:p>
                      <a:pPr algn="l" fontAlgn="ctr"/>
                      <a:r>
                        <a:rPr lang="en-US" sz="1500" b="1" i="0" u="none" strike="noStrike">
                          <a:solidFill>
                            <a:srgbClr val="000000"/>
                          </a:solidFill>
                          <a:effectLst/>
                          <a:latin typeface="Calibri" panose="020F0502020204030204" pitchFamily="34" charset="0"/>
                        </a:rPr>
                        <a:t>Total Cost (Rs. Cr/MWp) (incl GST)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sz="1500" b="1" i="0" u="none" strike="noStrike" dirty="0">
                          <a:solidFill>
                            <a:srgbClr val="000000"/>
                          </a:solidFill>
                          <a:effectLst/>
                          <a:latin typeface="Calibri" panose="020F0502020204030204" pitchFamily="34" charset="0"/>
                        </a:rPr>
                        <a:t>1.32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sz="1500" b="1" i="0" u="none" strike="noStrike" dirty="0">
                          <a:solidFill>
                            <a:srgbClr val="000000"/>
                          </a:solidFill>
                          <a:effectLst/>
                          <a:latin typeface="Calibri" panose="020F0502020204030204" pitchFamily="34" charset="0"/>
                        </a:rPr>
                        <a:t>1.27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l" fontAlgn="b"/>
                      <a:r>
                        <a:rPr lang="en-US" sz="1500" b="1" i="0" u="none" strike="noStrike" dirty="0">
                          <a:solidFill>
                            <a:srgbClr val="000000"/>
                          </a:solidFill>
                          <a:effectLst/>
                          <a:latin typeface="Calibri" panose="020F0502020204030204" pitchFamily="34" charset="0"/>
                        </a:rPr>
                        <a:t>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a16="http://schemas.microsoft.com/office/drawing/2014/main" val="835490016"/>
                  </a:ext>
                </a:extLst>
              </a:tr>
            </a:tbl>
          </a:graphicData>
        </a:graphic>
      </p:graphicFrame>
      <p:sp>
        <p:nvSpPr>
          <p:cNvPr id="14" name="Rectangle 13">
            <a:extLst>
              <a:ext uri="{FF2B5EF4-FFF2-40B4-BE49-F238E27FC236}">
                <a16:creationId xmlns:a16="http://schemas.microsoft.com/office/drawing/2014/main" id="{603B6919-2869-4FB1-BF84-68C6E7535307}"/>
              </a:ext>
            </a:extLst>
          </p:cNvPr>
          <p:cNvSpPr/>
          <p:nvPr/>
        </p:nvSpPr>
        <p:spPr bwMode="gray">
          <a:xfrm>
            <a:off x="438963" y="4897500"/>
            <a:ext cx="10939236" cy="988785"/>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b="1" i="1" dirty="0"/>
              <a:t>Thus, BOS cost considered for scenario analysis to determine corresponding Equity IRR: </a:t>
            </a:r>
          </a:p>
          <a:p>
            <a:pPr>
              <a:lnSpc>
                <a:spcPct val="106000"/>
              </a:lnSpc>
              <a:buFont typeface="Wingdings 2" pitchFamily="18" charset="2"/>
              <a:buNone/>
            </a:pPr>
            <a:r>
              <a:rPr lang="en-US" sz="1600" b="1" i="1" u="sng" dirty="0"/>
              <a:t>Rs 1.27 Cr/MWp – Rs 1.32 Cr/MWp (incl GST)</a:t>
            </a:r>
            <a:r>
              <a:rPr lang="en-US" sz="1600" i="1" u="sng" dirty="0"/>
              <a:t> </a:t>
            </a:r>
          </a:p>
        </p:txBody>
      </p:sp>
      <p:sp>
        <p:nvSpPr>
          <p:cNvPr id="15" name="Rectangle 14">
            <a:extLst>
              <a:ext uri="{FF2B5EF4-FFF2-40B4-BE49-F238E27FC236}">
                <a16:creationId xmlns:a16="http://schemas.microsoft.com/office/drawing/2014/main" id="{26866B9B-9015-4EBA-8C28-5344F435F588}"/>
              </a:ext>
            </a:extLst>
          </p:cNvPr>
          <p:cNvSpPr/>
          <p:nvPr/>
        </p:nvSpPr>
        <p:spPr>
          <a:xfrm>
            <a:off x="419822" y="1386563"/>
            <a:ext cx="11086374" cy="646331"/>
          </a:xfrm>
          <a:prstGeom prst="rect">
            <a:avLst/>
          </a:prstGeom>
        </p:spPr>
        <p:txBody>
          <a:bodyPr wrap="square">
            <a:spAutoFit/>
          </a:bodyPr>
          <a:lstStyle/>
          <a:p>
            <a:pPr lvl="0">
              <a:spcAft>
                <a:spcPts val="600"/>
              </a:spcAft>
              <a:defRPr/>
            </a:pPr>
            <a:r>
              <a:rPr lang="en-US" b="1" dirty="0">
                <a:solidFill>
                  <a:srgbClr val="000000"/>
                </a:solidFill>
              </a:rPr>
              <a:t>Forecasted BOS costs based on price forecasts of key materials like </a:t>
            </a:r>
            <a:r>
              <a:rPr lang="en-US" b="1" dirty="0" err="1">
                <a:solidFill>
                  <a:srgbClr val="000000"/>
                </a:solidFill>
              </a:rPr>
              <a:t>Aluminium</a:t>
            </a:r>
            <a:r>
              <a:rPr lang="en-US" b="1" dirty="0">
                <a:solidFill>
                  <a:srgbClr val="000000"/>
                </a:solidFill>
              </a:rPr>
              <a:t>, Steel and Copper are presented below as follows:</a:t>
            </a:r>
            <a:endParaRPr lang="en-US" b="1" dirty="0">
              <a:solidFill>
                <a:prstClr val="black"/>
              </a:solidFill>
            </a:endParaRPr>
          </a:p>
        </p:txBody>
      </p:sp>
      <p:sp>
        <p:nvSpPr>
          <p:cNvPr id="16" name="Oval 15">
            <a:extLst>
              <a:ext uri="{FF2B5EF4-FFF2-40B4-BE49-F238E27FC236}">
                <a16:creationId xmlns:a16="http://schemas.microsoft.com/office/drawing/2014/main" id="{BF3E1695-B47F-40F7-96BD-5621E6B91A43}"/>
              </a:ext>
            </a:extLst>
          </p:cNvPr>
          <p:cNvSpPr/>
          <p:nvPr/>
        </p:nvSpPr>
        <p:spPr bwMode="gray">
          <a:xfrm>
            <a:off x="5973895" y="4401879"/>
            <a:ext cx="1338943" cy="293561"/>
          </a:xfrm>
          <a:prstGeom prst="ellipse">
            <a:avLst/>
          </a:prstGeom>
          <a:no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36142017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Basis of Interest Rate Considered (1/2)</a:t>
            </a:r>
            <a:endParaRPr lang="en-GB" b="1" dirty="0"/>
          </a:p>
        </p:txBody>
      </p:sp>
      <p:sp>
        <p:nvSpPr>
          <p:cNvPr id="10" name="Rectangle 9">
            <a:extLst>
              <a:ext uri="{FF2B5EF4-FFF2-40B4-BE49-F238E27FC236}">
                <a16:creationId xmlns:a16="http://schemas.microsoft.com/office/drawing/2014/main" id="{84757008-7675-4A61-9A0E-DE1544A2F034}"/>
              </a:ext>
            </a:extLst>
          </p:cNvPr>
          <p:cNvSpPr/>
          <p:nvPr/>
        </p:nvSpPr>
        <p:spPr>
          <a:xfrm>
            <a:off x="398052" y="1125629"/>
            <a:ext cx="11188700" cy="1000274"/>
          </a:xfrm>
          <a:prstGeom prst="rect">
            <a:avLst/>
          </a:prstGeom>
        </p:spPr>
        <p:txBody>
          <a:bodyPr wrap="square">
            <a:spAutoFit/>
          </a:bodyPr>
          <a:lstStyle/>
          <a:p>
            <a:pPr marL="285750" lvl="0" indent="-285750" algn="just">
              <a:spcAft>
                <a:spcPts val="600"/>
              </a:spcAft>
              <a:buFont typeface="Wingdings" panose="05000000000000000000" pitchFamily="2" charset="2"/>
              <a:buChar char="q"/>
              <a:defRPr/>
            </a:pPr>
            <a:r>
              <a:rPr lang="en-US" dirty="0">
                <a:solidFill>
                  <a:srgbClr val="000000"/>
                </a:solidFill>
              </a:rPr>
              <a:t>It is proposed that CIL may secure loan (from Commercial Banks/FI) initially for achievement of Financial Closure</a:t>
            </a:r>
          </a:p>
          <a:p>
            <a:pPr marL="285750" lvl="0" indent="-285750" algn="just">
              <a:spcAft>
                <a:spcPts val="600"/>
              </a:spcAft>
              <a:buFont typeface="Wingdings" panose="05000000000000000000" pitchFamily="2" charset="2"/>
              <a:buChar char="q"/>
              <a:defRPr/>
            </a:pPr>
            <a:r>
              <a:rPr lang="en-US" dirty="0">
                <a:solidFill>
                  <a:srgbClr val="000000"/>
                </a:solidFill>
              </a:rPr>
              <a:t>After Commissioning and achievement of COD (Commercial Date of Operationalization), it can avail the route of refinancing through External Commercial Borrowings (ECB) as is also adopted by several PSUs </a:t>
            </a:r>
            <a:endParaRPr lang="en-US" b="1" dirty="0">
              <a:solidFill>
                <a:srgbClr val="000000"/>
              </a:solidFill>
            </a:endParaRPr>
          </a:p>
        </p:txBody>
      </p:sp>
      <p:sp>
        <p:nvSpPr>
          <p:cNvPr id="7" name="Rectangle 6">
            <a:extLst>
              <a:ext uri="{FF2B5EF4-FFF2-40B4-BE49-F238E27FC236}">
                <a16:creationId xmlns:a16="http://schemas.microsoft.com/office/drawing/2014/main" id="{CA3475C8-9484-4A14-8FC9-FD73D803E33F}"/>
              </a:ext>
            </a:extLst>
          </p:cNvPr>
          <p:cNvSpPr/>
          <p:nvPr/>
        </p:nvSpPr>
        <p:spPr>
          <a:xfrm>
            <a:off x="449215" y="2290076"/>
            <a:ext cx="11086374" cy="369332"/>
          </a:xfrm>
          <a:prstGeom prst="rect">
            <a:avLst/>
          </a:prstGeom>
        </p:spPr>
        <p:txBody>
          <a:bodyPr wrap="square">
            <a:spAutoFit/>
          </a:bodyPr>
          <a:lstStyle/>
          <a:p>
            <a:pPr lvl="0">
              <a:spcAft>
                <a:spcPts val="600"/>
              </a:spcAft>
              <a:defRPr/>
            </a:pPr>
            <a:r>
              <a:rPr lang="en-US" b="1" dirty="0">
                <a:solidFill>
                  <a:srgbClr val="000000"/>
                </a:solidFill>
              </a:rPr>
              <a:t>Rationale for Pre-COD interest rate considered:</a:t>
            </a:r>
            <a:endParaRPr lang="en-US" b="1" dirty="0">
              <a:solidFill>
                <a:prstClr val="black"/>
              </a:solidFill>
            </a:endParaRPr>
          </a:p>
        </p:txBody>
      </p:sp>
      <p:sp>
        <p:nvSpPr>
          <p:cNvPr id="2" name="Rectangle: Rounded Corners 1">
            <a:extLst>
              <a:ext uri="{FF2B5EF4-FFF2-40B4-BE49-F238E27FC236}">
                <a16:creationId xmlns:a16="http://schemas.microsoft.com/office/drawing/2014/main" id="{52E55792-8826-4A5B-9F99-E98B4E460A1E}"/>
              </a:ext>
            </a:extLst>
          </p:cNvPr>
          <p:cNvSpPr/>
          <p:nvPr/>
        </p:nvSpPr>
        <p:spPr bwMode="gray">
          <a:xfrm>
            <a:off x="1034144" y="3019523"/>
            <a:ext cx="2743200" cy="25254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solidFill>
                  <a:schemeClr val="tx1"/>
                </a:solidFill>
              </a:rPr>
              <a:t>For previous GUVNL 100 MW tender, CIL had secured loan for then repo rate + 1.97% spread </a:t>
            </a:r>
          </a:p>
        </p:txBody>
      </p:sp>
      <p:sp>
        <p:nvSpPr>
          <p:cNvPr id="4" name="Arrow: Right 3">
            <a:extLst>
              <a:ext uri="{FF2B5EF4-FFF2-40B4-BE49-F238E27FC236}">
                <a16:creationId xmlns:a16="http://schemas.microsoft.com/office/drawing/2014/main" id="{A1F7227A-BE5C-4E3A-859C-C415C12A4BE7}"/>
              </a:ext>
            </a:extLst>
          </p:cNvPr>
          <p:cNvSpPr/>
          <p:nvPr/>
        </p:nvSpPr>
        <p:spPr bwMode="gray">
          <a:xfrm>
            <a:off x="3951517" y="4080881"/>
            <a:ext cx="548640" cy="446314"/>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 name="Rectangle: Rounded Corners 11">
            <a:extLst>
              <a:ext uri="{FF2B5EF4-FFF2-40B4-BE49-F238E27FC236}">
                <a16:creationId xmlns:a16="http://schemas.microsoft.com/office/drawing/2014/main" id="{53B4F658-94F2-45C2-A7F1-CFFB65AA2123}"/>
              </a:ext>
            </a:extLst>
          </p:cNvPr>
          <p:cNvSpPr/>
          <p:nvPr/>
        </p:nvSpPr>
        <p:spPr bwMode="gray">
          <a:xfrm>
            <a:off x="4626430" y="3019523"/>
            <a:ext cx="2743200" cy="25254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solidFill>
                  <a:schemeClr val="tx1"/>
                </a:solidFill>
              </a:rPr>
              <a:t>Current repo rate as on December 2022 is 6.25%*</a:t>
            </a:r>
          </a:p>
        </p:txBody>
      </p:sp>
      <p:sp>
        <p:nvSpPr>
          <p:cNvPr id="14" name="Arrow: Right 13">
            <a:extLst>
              <a:ext uri="{FF2B5EF4-FFF2-40B4-BE49-F238E27FC236}">
                <a16:creationId xmlns:a16="http://schemas.microsoft.com/office/drawing/2014/main" id="{5BE3505A-3330-48F5-95AB-69C49459904B}"/>
              </a:ext>
            </a:extLst>
          </p:cNvPr>
          <p:cNvSpPr/>
          <p:nvPr/>
        </p:nvSpPr>
        <p:spPr bwMode="gray">
          <a:xfrm>
            <a:off x="7543803" y="4080881"/>
            <a:ext cx="548640" cy="446314"/>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Rectangle: Rounded Corners 14">
            <a:extLst>
              <a:ext uri="{FF2B5EF4-FFF2-40B4-BE49-F238E27FC236}">
                <a16:creationId xmlns:a16="http://schemas.microsoft.com/office/drawing/2014/main" id="{75824C76-567A-462B-B15A-1D3691A67773}"/>
              </a:ext>
            </a:extLst>
          </p:cNvPr>
          <p:cNvSpPr/>
          <p:nvPr/>
        </p:nvSpPr>
        <p:spPr bwMode="gray">
          <a:xfrm>
            <a:off x="8218715" y="3012818"/>
            <a:ext cx="2743200" cy="2535699"/>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solidFill>
                  <a:schemeClr val="tx1"/>
                </a:solidFill>
              </a:rPr>
              <a:t>Thus, current repo rate + ~2.25% spread i.e. </a:t>
            </a:r>
            <a:r>
              <a:rPr lang="en-US" sz="1600" b="1" dirty="0">
                <a:solidFill>
                  <a:schemeClr val="tx1"/>
                </a:solidFill>
              </a:rPr>
              <a:t>8.5%</a:t>
            </a:r>
            <a:r>
              <a:rPr lang="en-US" sz="1600" dirty="0">
                <a:solidFill>
                  <a:schemeClr val="tx1"/>
                </a:solidFill>
              </a:rPr>
              <a:t> rate has been considered as interest rate pre COD</a:t>
            </a:r>
          </a:p>
        </p:txBody>
      </p:sp>
      <p:sp>
        <p:nvSpPr>
          <p:cNvPr id="17" name="Rectangle 16">
            <a:extLst>
              <a:ext uri="{FF2B5EF4-FFF2-40B4-BE49-F238E27FC236}">
                <a16:creationId xmlns:a16="http://schemas.microsoft.com/office/drawing/2014/main" id="{C4451864-770F-49C6-94E6-0DF1A1DC6639}"/>
              </a:ext>
            </a:extLst>
          </p:cNvPr>
          <p:cNvSpPr/>
          <p:nvPr/>
        </p:nvSpPr>
        <p:spPr>
          <a:xfrm>
            <a:off x="449215" y="5993042"/>
            <a:ext cx="11086374" cy="307777"/>
          </a:xfrm>
          <a:prstGeom prst="rect">
            <a:avLst/>
          </a:prstGeom>
        </p:spPr>
        <p:txBody>
          <a:bodyPr wrap="square">
            <a:spAutoFit/>
          </a:bodyPr>
          <a:lstStyle/>
          <a:p>
            <a:pPr lvl="0">
              <a:spcAft>
                <a:spcPts val="600"/>
              </a:spcAft>
              <a:defRPr/>
            </a:pPr>
            <a:r>
              <a:rPr lang="en-US" sz="1400" i="1" dirty="0">
                <a:solidFill>
                  <a:srgbClr val="000000"/>
                </a:solidFill>
              </a:rPr>
              <a:t>*Historical trend of Repo rate and SBI PLR are provided in </a:t>
            </a:r>
            <a:r>
              <a:rPr lang="en-US" sz="1400" i="1" dirty="0">
                <a:solidFill>
                  <a:srgbClr val="000000"/>
                </a:solidFill>
                <a:hlinkClick r:id="rId2" action="ppaction://hlinksldjump"/>
              </a:rPr>
              <a:t>Annexure 4</a:t>
            </a:r>
            <a:endParaRPr lang="en-US" sz="1400" i="1" dirty="0">
              <a:solidFill>
                <a:prstClr val="black"/>
              </a:solidFill>
            </a:endParaRPr>
          </a:p>
        </p:txBody>
      </p:sp>
    </p:spTree>
    <p:extLst>
      <p:ext uri="{BB962C8B-B14F-4D97-AF65-F5344CB8AC3E}">
        <p14:creationId xmlns:p14="http://schemas.microsoft.com/office/powerpoint/2010/main" val="244521753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Basis of Interest Rate Considered (2/2)</a:t>
            </a:r>
            <a:endParaRPr lang="en-GB" b="1" dirty="0"/>
          </a:p>
        </p:txBody>
      </p:sp>
      <p:sp>
        <p:nvSpPr>
          <p:cNvPr id="7" name="Rectangle 6">
            <a:extLst>
              <a:ext uri="{FF2B5EF4-FFF2-40B4-BE49-F238E27FC236}">
                <a16:creationId xmlns:a16="http://schemas.microsoft.com/office/drawing/2014/main" id="{34FA01A6-1623-4FE7-8987-905EE66CD78F}"/>
              </a:ext>
            </a:extLst>
          </p:cNvPr>
          <p:cNvSpPr/>
          <p:nvPr/>
        </p:nvSpPr>
        <p:spPr>
          <a:xfrm>
            <a:off x="394786" y="775033"/>
            <a:ext cx="11086374" cy="369332"/>
          </a:xfrm>
          <a:prstGeom prst="rect">
            <a:avLst/>
          </a:prstGeom>
        </p:spPr>
        <p:txBody>
          <a:bodyPr wrap="square">
            <a:spAutoFit/>
          </a:bodyPr>
          <a:lstStyle/>
          <a:p>
            <a:pPr lvl="0">
              <a:spcAft>
                <a:spcPts val="600"/>
              </a:spcAft>
              <a:defRPr/>
            </a:pPr>
            <a:r>
              <a:rPr lang="en-US" b="1" dirty="0">
                <a:solidFill>
                  <a:srgbClr val="000000"/>
                </a:solidFill>
              </a:rPr>
              <a:t>Rationale for Post-COD (ECB) interest rate considered:</a:t>
            </a:r>
            <a:endParaRPr lang="en-US" b="1" dirty="0">
              <a:solidFill>
                <a:prstClr val="black"/>
              </a:solidFill>
            </a:endParaRPr>
          </a:p>
        </p:txBody>
      </p:sp>
      <p:sp>
        <p:nvSpPr>
          <p:cNvPr id="8" name="TextBox 7">
            <a:extLst>
              <a:ext uri="{FF2B5EF4-FFF2-40B4-BE49-F238E27FC236}">
                <a16:creationId xmlns:a16="http://schemas.microsoft.com/office/drawing/2014/main" id="{37B35BC8-DC09-4A55-83C2-10B201419B6A}"/>
              </a:ext>
            </a:extLst>
          </p:cNvPr>
          <p:cNvSpPr txBox="1"/>
          <p:nvPr/>
        </p:nvSpPr>
        <p:spPr>
          <a:xfrm>
            <a:off x="446314" y="1144365"/>
            <a:ext cx="11034846" cy="615553"/>
          </a:xfrm>
          <a:prstGeom prst="rect">
            <a:avLst/>
          </a:prstGeom>
          <a:noFill/>
        </p:spPr>
        <p:txBody>
          <a:bodyPr wrap="square">
            <a:spAutoFit/>
          </a:bodyPr>
          <a:lstStyle/>
          <a:p>
            <a:pPr lvl="0" algn="just">
              <a:spcAft>
                <a:spcPts val="600"/>
              </a:spcAft>
              <a:defRPr/>
            </a:pPr>
            <a:r>
              <a:rPr lang="en-US" sz="1700" dirty="0">
                <a:solidFill>
                  <a:srgbClr val="000000"/>
                </a:solidFill>
              </a:rPr>
              <a:t>Leading PSUs like NTPC, NHPC and NLC avail the option of ECB (External Commercial Borrowings). Snapshot of status of details of outstanding loan for the PSUs are provided as below: </a:t>
            </a:r>
            <a:endParaRPr lang="en-US" sz="1700" b="1" dirty="0">
              <a:solidFill>
                <a:srgbClr val="000000"/>
              </a:solidFill>
            </a:endParaRPr>
          </a:p>
        </p:txBody>
      </p:sp>
      <p:sp>
        <p:nvSpPr>
          <p:cNvPr id="4" name="Rectangle 3">
            <a:extLst>
              <a:ext uri="{FF2B5EF4-FFF2-40B4-BE49-F238E27FC236}">
                <a16:creationId xmlns:a16="http://schemas.microsoft.com/office/drawing/2014/main" id="{CBA67723-3784-4E93-AAD1-B200C9C71AAC}"/>
              </a:ext>
            </a:extLst>
          </p:cNvPr>
          <p:cNvSpPr/>
          <p:nvPr/>
        </p:nvSpPr>
        <p:spPr bwMode="gray">
          <a:xfrm>
            <a:off x="769618" y="1862066"/>
            <a:ext cx="2200977" cy="1735083"/>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NTPC</a:t>
            </a:r>
          </a:p>
          <a:p>
            <a:pPr algn="just">
              <a:lnSpc>
                <a:spcPct val="106000"/>
              </a:lnSpc>
              <a:buFont typeface="Wingdings 2" pitchFamily="18" charset="2"/>
              <a:buNone/>
            </a:pPr>
            <a:r>
              <a:rPr lang="en-US" sz="1400" dirty="0"/>
              <a:t>As on 31</a:t>
            </a:r>
            <a:r>
              <a:rPr lang="en-US" sz="1400" baseline="30000" dirty="0"/>
              <a:t>st</a:t>
            </a:r>
            <a:r>
              <a:rPr lang="en-US" sz="1400" dirty="0"/>
              <a:t> March 2022, NTPC has an outstanding balance of Rs 18,002 Cr w.r.t unsecured Foreign Currency Loans from Banks and Other FIs</a:t>
            </a:r>
          </a:p>
        </p:txBody>
      </p:sp>
      <p:sp>
        <p:nvSpPr>
          <p:cNvPr id="12" name="Rectangle 11">
            <a:extLst>
              <a:ext uri="{FF2B5EF4-FFF2-40B4-BE49-F238E27FC236}">
                <a16:creationId xmlns:a16="http://schemas.microsoft.com/office/drawing/2014/main" id="{B7C8B46C-0627-4497-84EE-85D5F8DC0955}"/>
              </a:ext>
            </a:extLst>
          </p:cNvPr>
          <p:cNvSpPr/>
          <p:nvPr/>
        </p:nvSpPr>
        <p:spPr bwMode="gray">
          <a:xfrm>
            <a:off x="3478526" y="1862065"/>
            <a:ext cx="2200977" cy="1735083"/>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SJVN</a:t>
            </a:r>
            <a:endParaRPr lang="en-US" sz="1400" b="1" dirty="0">
              <a:solidFill>
                <a:schemeClr val="bg1"/>
              </a:solidFill>
            </a:endParaRPr>
          </a:p>
          <a:p>
            <a:pPr algn="just">
              <a:lnSpc>
                <a:spcPct val="106000"/>
              </a:lnSpc>
              <a:buFont typeface="Wingdings 2" pitchFamily="18" charset="2"/>
              <a:buNone/>
            </a:pPr>
            <a:r>
              <a:rPr lang="en-US" sz="1400" dirty="0">
                <a:solidFill>
                  <a:schemeClr val="bg1"/>
                </a:solidFill>
              </a:rPr>
              <a:t>As on 31</a:t>
            </a:r>
            <a:r>
              <a:rPr lang="en-US" sz="1400" baseline="30000" dirty="0">
                <a:solidFill>
                  <a:schemeClr val="bg1"/>
                </a:solidFill>
              </a:rPr>
              <a:t>st</a:t>
            </a:r>
            <a:r>
              <a:rPr lang="en-US" sz="1400" dirty="0">
                <a:solidFill>
                  <a:schemeClr val="bg1"/>
                </a:solidFill>
              </a:rPr>
              <a:t> March 2022, SJVN has an outstanding balance of Rs 3,764 Cr w.r.t unsecured Foreign Currency Loans from World Bank (guaranteed by </a:t>
            </a:r>
            <a:r>
              <a:rPr lang="en-US" sz="1400" dirty="0" err="1">
                <a:solidFill>
                  <a:schemeClr val="bg1"/>
                </a:solidFill>
              </a:rPr>
              <a:t>GoI</a:t>
            </a:r>
            <a:r>
              <a:rPr lang="en-US" sz="1400" dirty="0">
                <a:solidFill>
                  <a:schemeClr val="bg1"/>
                </a:solidFill>
              </a:rPr>
              <a:t>) and PNB, Dubai</a:t>
            </a:r>
          </a:p>
        </p:txBody>
      </p:sp>
      <p:sp>
        <p:nvSpPr>
          <p:cNvPr id="14" name="Rectangle 13">
            <a:extLst>
              <a:ext uri="{FF2B5EF4-FFF2-40B4-BE49-F238E27FC236}">
                <a16:creationId xmlns:a16="http://schemas.microsoft.com/office/drawing/2014/main" id="{C6E4975E-3539-4E7C-B770-341963526B2F}"/>
              </a:ext>
            </a:extLst>
          </p:cNvPr>
          <p:cNvSpPr/>
          <p:nvPr/>
        </p:nvSpPr>
        <p:spPr bwMode="gray">
          <a:xfrm>
            <a:off x="6096000" y="1862066"/>
            <a:ext cx="2200977" cy="1735083"/>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NHPC</a:t>
            </a:r>
            <a:endParaRPr lang="en-US" sz="1400" b="1" dirty="0"/>
          </a:p>
          <a:p>
            <a:pPr algn="just">
              <a:lnSpc>
                <a:spcPct val="106000"/>
              </a:lnSpc>
              <a:buFont typeface="Wingdings 2" pitchFamily="18" charset="2"/>
              <a:buNone/>
            </a:pPr>
            <a:r>
              <a:rPr lang="en-US" sz="1400" dirty="0"/>
              <a:t>As on 31</a:t>
            </a:r>
            <a:r>
              <a:rPr lang="en-US" sz="1400" baseline="30000" dirty="0"/>
              <a:t>st</a:t>
            </a:r>
            <a:r>
              <a:rPr lang="en-US" sz="1400" dirty="0"/>
              <a:t> March 2022, NTPC has an outstanding balance of Rs 1,476 Cr w.r.t unsecured Foreign Currency Loans from JICA, MUFG Bank (Singapore)</a:t>
            </a:r>
          </a:p>
        </p:txBody>
      </p:sp>
      <p:sp>
        <p:nvSpPr>
          <p:cNvPr id="15" name="Rectangle 14">
            <a:extLst>
              <a:ext uri="{FF2B5EF4-FFF2-40B4-BE49-F238E27FC236}">
                <a16:creationId xmlns:a16="http://schemas.microsoft.com/office/drawing/2014/main" id="{5E76EE38-E885-4014-B671-6BF121DD3CC7}"/>
              </a:ext>
            </a:extLst>
          </p:cNvPr>
          <p:cNvSpPr/>
          <p:nvPr/>
        </p:nvSpPr>
        <p:spPr bwMode="gray">
          <a:xfrm>
            <a:off x="8851057" y="1862065"/>
            <a:ext cx="2200977" cy="1869838"/>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NLC</a:t>
            </a:r>
            <a:endParaRPr lang="en-US" sz="1400" b="1" dirty="0">
              <a:solidFill>
                <a:schemeClr val="bg1"/>
              </a:solidFill>
            </a:endParaRPr>
          </a:p>
          <a:p>
            <a:pPr algn="just">
              <a:lnSpc>
                <a:spcPct val="106000"/>
              </a:lnSpc>
              <a:buFont typeface="Wingdings 2" pitchFamily="18" charset="2"/>
              <a:buNone/>
            </a:pPr>
            <a:r>
              <a:rPr lang="en-US" sz="1400" dirty="0">
                <a:solidFill>
                  <a:schemeClr val="bg1"/>
                </a:solidFill>
              </a:rPr>
              <a:t>As on 31</a:t>
            </a:r>
            <a:r>
              <a:rPr lang="en-US" sz="1400" baseline="30000" dirty="0">
                <a:solidFill>
                  <a:schemeClr val="bg1"/>
                </a:solidFill>
              </a:rPr>
              <a:t>st</a:t>
            </a:r>
            <a:r>
              <a:rPr lang="en-US" sz="1400" dirty="0">
                <a:solidFill>
                  <a:schemeClr val="bg1"/>
                </a:solidFill>
              </a:rPr>
              <a:t> March 2022, NLC has an outstanding balance of Rs 392 Cr w.r.t unsecured Foreign Currency Loans from </a:t>
            </a:r>
            <a:r>
              <a:rPr lang="en-US" sz="1400" dirty="0" err="1">
                <a:solidFill>
                  <a:schemeClr val="bg1"/>
                </a:solidFill>
              </a:rPr>
              <a:t>KfW</a:t>
            </a:r>
            <a:r>
              <a:rPr lang="en-US" sz="1400" dirty="0">
                <a:solidFill>
                  <a:schemeClr val="bg1"/>
                </a:solidFill>
              </a:rPr>
              <a:t>, Germany</a:t>
            </a:r>
          </a:p>
        </p:txBody>
      </p:sp>
      <p:sp>
        <p:nvSpPr>
          <p:cNvPr id="16" name="Rectangle: Rounded Corners 15">
            <a:extLst>
              <a:ext uri="{FF2B5EF4-FFF2-40B4-BE49-F238E27FC236}">
                <a16:creationId xmlns:a16="http://schemas.microsoft.com/office/drawing/2014/main" id="{2F292A79-AA71-4C0D-B562-AD5FA6F5CE99}"/>
              </a:ext>
            </a:extLst>
          </p:cNvPr>
          <p:cNvSpPr/>
          <p:nvPr/>
        </p:nvSpPr>
        <p:spPr bwMode="gray">
          <a:xfrm>
            <a:off x="769618" y="3925117"/>
            <a:ext cx="2200977" cy="1619744"/>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b="1" dirty="0">
                <a:solidFill>
                  <a:schemeClr val="tx1"/>
                </a:solidFill>
              </a:rPr>
              <a:t>ECB Interest Rates: </a:t>
            </a:r>
          </a:p>
          <a:p>
            <a:pPr>
              <a:lnSpc>
                <a:spcPct val="106000"/>
              </a:lnSpc>
              <a:buFont typeface="Wingdings 2" pitchFamily="18" charset="2"/>
              <a:buNone/>
            </a:pPr>
            <a:r>
              <a:rPr lang="en-US" sz="1400" dirty="0">
                <a:solidFill>
                  <a:schemeClr val="tx1"/>
                </a:solidFill>
              </a:rPr>
              <a:t>6M USD LIBOR / 6M EURIBOR / 3M TONA / 6M TONA + varying spreads; Fixed rates (1.8%-4.13%) also considered</a:t>
            </a:r>
          </a:p>
        </p:txBody>
      </p:sp>
      <p:sp>
        <p:nvSpPr>
          <p:cNvPr id="17" name="Rectangle: Rounded Corners 16">
            <a:extLst>
              <a:ext uri="{FF2B5EF4-FFF2-40B4-BE49-F238E27FC236}">
                <a16:creationId xmlns:a16="http://schemas.microsoft.com/office/drawing/2014/main" id="{E4FB46C3-4A8D-4FBE-9A5A-3BA692956667}"/>
              </a:ext>
            </a:extLst>
          </p:cNvPr>
          <p:cNvSpPr/>
          <p:nvPr/>
        </p:nvSpPr>
        <p:spPr bwMode="gray">
          <a:xfrm>
            <a:off x="3478526" y="3925117"/>
            <a:ext cx="2200977" cy="1619744"/>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400" b="1" dirty="0">
                <a:solidFill>
                  <a:schemeClr val="tx1"/>
                </a:solidFill>
              </a:rPr>
              <a:t>ECB Interest Rates: </a:t>
            </a:r>
          </a:p>
          <a:p>
            <a:pPr>
              <a:lnSpc>
                <a:spcPct val="106000"/>
              </a:lnSpc>
              <a:buFont typeface="Wingdings 2" pitchFamily="18" charset="2"/>
              <a:buNone/>
            </a:pPr>
            <a:r>
              <a:rPr lang="en-US" sz="1400" dirty="0">
                <a:solidFill>
                  <a:schemeClr val="tx1"/>
                </a:solidFill>
              </a:rPr>
              <a:t>6M USD LIBOR + varying spreads</a:t>
            </a:r>
          </a:p>
        </p:txBody>
      </p:sp>
      <p:sp>
        <p:nvSpPr>
          <p:cNvPr id="18" name="Rectangle: Rounded Corners 17">
            <a:extLst>
              <a:ext uri="{FF2B5EF4-FFF2-40B4-BE49-F238E27FC236}">
                <a16:creationId xmlns:a16="http://schemas.microsoft.com/office/drawing/2014/main" id="{F24F151B-1431-40B1-A403-4AD3707FB013}"/>
              </a:ext>
            </a:extLst>
          </p:cNvPr>
          <p:cNvSpPr/>
          <p:nvPr/>
        </p:nvSpPr>
        <p:spPr bwMode="gray">
          <a:xfrm>
            <a:off x="6095999" y="4014439"/>
            <a:ext cx="2200978" cy="1530421"/>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400" b="1" dirty="0">
                <a:solidFill>
                  <a:schemeClr val="tx1"/>
                </a:solidFill>
              </a:rPr>
              <a:t>ECB Interest Rates: </a:t>
            </a:r>
          </a:p>
          <a:p>
            <a:pPr>
              <a:lnSpc>
                <a:spcPct val="106000"/>
              </a:lnSpc>
              <a:buFont typeface="Wingdings 2" pitchFamily="18" charset="2"/>
              <a:buNone/>
            </a:pPr>
            <a:r>
              <a:rPr lang="en-US" sz="1400" dirty="0">
                <a:solidFill>
                  <a:schemeClr val="tx1"/>
                </a:solidFill>
              </a:rPr>
              <a:t>TONA; Fixed rates (1.3%-2.3%) also considered</a:t>
            </a:r>
          </a:p>
        </p:txBody>
      </p:sp>
      <p:sp>
        <p:nvSpPr>
          <p:cNvPr id="19" name="Rectangle: Rounded Corners 18">
            <a:extLst>
              <a:ext uri="{FF2B5EF4-FFF2-40B4-BE49-F238E27FC236}">
                <a16:creationId xmlns:a16="http://schemas.microsoft.com/office/drawing/2014/main" id="{D5BBB764-652F-4DE5-A71E-8AEA7E3BDACA}"/>
              </a:ext>
            </a:extLst>
          </p:cNvPr>
          <p:cNvSpPr/>
          <p:nvPr/>
        </p:nvSpPr>
        <p:spPr bwMode="gray">
          <a:xfrm>
            <a:off x="8851057" y="4014439"/>
            <a:ext cx="2200978" cy="1530421"/>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400" b="1" dirty="0">
                <a:solidFill>
                  <a:schemeClr val="tx1"/>
                </a:solidFill>
              </a:rPr>
              <a:t>ECB Interest Rates: </a:t>
            </a:r>
          </a:p>
          <a:p>
            <a:pPr>
              <a:lnSpc>
                <a:spcPct val="106000"/>
              </a:lnSpc>
              <a:buFont typeface="Wingdings 2" pitchFamily="18" charset="2"/>
              <a:buNone/>
            </a:pPr>
            <a:r>
              <a:rPr lang="en-US" sz="1400" dirty="0">
                <a:solidFill>
                  <a:schemeClr val="tx1"/>
                </a:solidFill>
              </a:rPr>
              <a:t>Interest Rate of 0.75% </a:t>
            </a:r>
            <a:r>
              <a:rPr lang="en-US" sz="1400" dirty="0" err="1">
                <a:solidFill>
                  <a:schemeClr val="tx1"/>
                </a:solidFill>
              </a:rPr>
              <a:t>p.a</a:t>
            </a:r>
            <a:endParaRPr lang="en-US" sz="1400" dirty="0">
              <a:solidFill>
                <a:schemeClr val="tx1"/>
              </a:solidFill>
            </a:endParaRPr>
          </a:p>
        </p:txBody>
      </p:sp>
      <p:sp>
        <p:nvSpPr>
          <p:cNvPr id="20" name="Rectangle 19">
            <a:extLst>
              <a:ext uri="{FF2B5EF4-FFF2-40B4-BE49-F238E27FC236}">
                <a16:creationId xmlns:a16="http://schemas.microsoft.com/office/drawing/2014/main" id="{F720BB7E-74E2-4F4D-A0EA-175BB0446700}"/>
              </a:ext>
            </a:extLst>
          </p:cNvPr>
          <p:cNvSpPr/>
          <p:nvPr/>
        </p:nvSpPr>
        <p:spPr bwMode="gray">
          <a:xfrm>
            <a:off x="769618" y="1862065"/>
            <a:ext cx="2200977" cy="1869838"/>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NTPC</a:t>
            </a:r>
          </a:p>
          <a:p>
            <a:pPr algn="just">
              <a:lnSpc>
                <a:spcPct val="106000"/>
              </a:lnSpc>
              <a:buFont typeface="Wingdings 2" pitchFamily="18" charset="2"/>
              <a:buNone/>
            </a:pPr>
            <a:r>
              <a:rPr lang="en-US" sz="1400" dirty="0"/>
              <a:t>As on 31</a:t>
            </a:r>
            <a:r>
              <a:rPr lang="en-US" sz="1400" baseline="30000" dirty="0"/>
              <a:t>st</a:t>
            </a:r>
            <a:r>
              <a:rPr lang="en-US" sz="1400" dirty="0"/>
              <a:t> March 2022, NTPC has an outstanding balance of Rs 18,002 Cr w.r.t unsecured Foreign Currency Loans from Banks and Other FIs</a:t>
            </a:r>
          </a:p>
        </p:txBody>
      </p:sp>
      <p:sp>
        <p:nvSpPr>
          <p:cNvPr id="21" name="Rectangle 20">
            <a:extLst>
              <a:ext uri="{FF2B5EF4-FFF2-40B4-BE49-F238E27FC236}">
                <a16:creationId xmlns:a16="http://schemas.microsoft.com/office/drawing/2014/main" id="{9CFB793A-AA2B-41A7-9DD3-9D81656B40E6}"/>
              </a:ext>
            </a:extLst>
          </p:cNvPr>
          <p:cNvSpPr/>
          <p:nvPr/>
        </p:nvSpPr>
        <p:spPr bwMode="gray">
          <a:xfrm>
            <a:off x="3478526" y="1862064"/>
            <a:ext cx="2200977" cy="1869838"/>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SJVN</a:t>
            </a:r>
            <a:endParaRPr lang="en-US" sz="1400" b="1" dirty="0">
              <a:solidFill>
                <a:schemeClr val="bg1"/>
              </a:solidFill>
            </a:endParaRPr>
          </a:p>
          <a:p>
            <a:pPr algn="just">
              <a:lnSpc>
                <a:spcPct val="106000"/>
              </a:lnSpc>
              <a:buFont typeface="Wingdings 2" pitchFamily="18" charset="2"/>
              <a:buNone/>
            </a:pPr>
            <a:r>
              <a:rPr lang="en-US" sz="1400" dirty="0">
                <a:solidFill>
                  <a:schemeClr val="bg1"/>
                </a:solidFill>
              </a:rPr>
              <a:t>As on 31</a:t>
            </a:r>
            <a:r>
              <a:rPr lang="en-US" sz="1400" baseline="30000" dirty="0">
                <a:solidFill>
                  <a:schemeClr val="bg1"/>
                </a:solidFill>
              </a:rPr>
              <a:t>st</a:t>
            </a:r>
            <a:r>
              <a:rPr lang="en-US" sz="1400" dirty="0">
                <a:solidFill>
                  <a:schemeClr val="bg1"/>
                </a:solidFill>
              </a:rPr>
              <a:t> March 2022, SJVN has an outstanding balance of Rs 3,764 Cr w.r.t unsecured Foreign Currency Loans from World Bank (guaranteed by </a:t>
            </a:r>
            <a:r>
              <a:rPr lang="en-US" sz="1400" dirty="0" err="1">
                <a:solidFill>
                  <a:schemeClr val="bg1"/>
                </a:solidFill>
              </a:rPr>
              <a:t>GoI</a:t>
            </a:r>
            <a:r>
              <a:rPr lang="en-US" sz="1400" dirty="0">
                <a:solidFill>
                  <a:schemeClr val="bg1"/>
                </a:solidFill>
              </a:rPr>
              <a:t>) and PNB, Dubai</a:t>
            </a:r>
          </a:p>
        </p:txBody>
      </p:sp>
      <p:sp>
        <p:nvSpPr>
          <p:cNvPr id="22" name="Rectangle 21">
            <a:extLst>
              <a:ext uri="{FF2B5EF4-FFF2-40B4-BE49-F238E27FC236}">
                <a16:creationId xmlns:a16="http://schemas.microsoft.com/office/drawing/2014/main" id="{69DFAC00-1BB6-4A19-AB39-B8F588B82B84}"/>
              </a:ext>
            </a:extLst>
          </p:cNvPr>
          <p:cNvSpPr/>
          <p:nvPr/>
        </p:nvSpPr>
        <p:spPr bwMode="gray">
          <a:xfrm>
            <a:off x="6096000" y="1862065"/>
            <a:ext cx="2200977" cy="1869838"/>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NHPC</a:t>
            </a:r>
            <a:endParaRPr lang="en-US" sz="1400" b="1" dirty="0"/>
          </a:p>
          <a:p>
            <a:pPr algn="just">
              <a:lnSpc>
                <a:spcPct val="106000"/>
              </a:lnSpc>
              <a:buFont typeface="Wingdings 2" pitchFamily="18" charset="2"/>
              <a:buNone/>
            </a:pPr>
            <a:r>
              <a:rPr lang="en-US" sz="1400" dirty="0"/>
              <a:t>As on 31</a:t>
            </a:r>
            <a:r>
              <a:rPr lang="en-US" sz="1400" baseline="30000" dirty="0"/>
              <a:t>st</a:t>
            </a:r>
            <a:r>
              <a:rPr lang="en-US" sz="1400" dirty="0"/>
              <a:t> March 2022, NHPC has an outstanding balance of Rs 1,476 Cr w.r.t unsecured Foreign Currency Loans from JICA, MUFG Bank (Singapore)</a:t>
            </a:r>
          </a:p>
        </p:txBody>
      </p:sp>
      <p:sp>
        <p:nvSpPr>
          <p:cNvPr id="23" name="Rectangle 22">
            <a:extLst>
              <a:ext uri="{FF2B5EF4-FFF2-40B4-BE49-F238E27FC236}">
                <a16:creationId xmlns:a16="http://schemas.microsoft.com/office/drawing/2014/main" id="{C2FD7D65-EF16-4FC5-A9C7-E2F52A3E6062}"/>
              </a:ext>
            </a:extLst>
          </p:cNvPr>
          <p:cNvSpPr/>
          <p:nvPr/>
        </p:nvSpPr>
        <p:spPr>
          <a:xfrm>
            <a:off x="2888431" y="6334780"/>
            <a:ext cx="11086374" cy="523220"/>
          </a:xfrm>
          <a:prstGeom prst="rect">
            <a:avLst/>
          </a:prstGeom>
        </p:spPr>
        <p:txBody>
          <a:bodyPr wrap="square">
            <a:spAutoFit/>
          </a:bodyPr>
          <a:lstStyle/>
          <a:p>
            <a:pPr lvl="0">
              <a:defRPr/>
            </a:pPr>
            <a:r>
              <a:rPr lang="en-US" sz="1400" i="1" dirty="0">
                <a:solidFill>
                  <a:srgbClr val="000000"/>
                </a:solidFill>
              </a:rPr>
              <a:t>Details of Outstanding Balances against ECBs for above PSUs provided  in </a:t>
            </a:r>
            <a:r>
              <a:rPr lang="en-US" sz="1400" i="1" dirty="0">
                <a:solidFill>
                  <a:srgbClr val="000000"/>
                </a:solidFill>
                <a:hlinkClick r:id="rId2" action="ppaction://hlinksldjump"/>
              </a:rPr>
              <a:t>Annexure 5</a:t>
            </a:r>
            <a:endParaRPr lang="en-US" sz="1400" i="1" dirty="0">
              <a:solidFill>
                <a:srgbClr val="000000"/>
              </a:solidFill>
            </a:endParaRPr>
          </a:p>
          <a:p>
            <a:pPr lvl="0">
              <a:defRPr/>
            </a:pPr>
            <a:r>
              <a:rPr lang="en-US" sz="1400" i="1" dirty="0">
                <a:solidFill>
                  <a:srgbClr val="000000"/>
                </a:solidFill>
              </a:rPr>
              <a:t>Historical Trend of ECB Benchmark Rates provided in </a:t>
            </a:r>
            <a:r>
              <a:rPr lang="en-US" sz="1400" i="1" dirty="0">
                <a:solidFill>
                  <a:srgbClr val="000000"/>
                </a:solidFill>
                <a:hlinkClick r:id="rId3" action="ppaction://hlinksldjump"/>
              </a:rPr>
              <a:t>Annexure 6</a:t>
            </a:r>
            <a:endParaRPr lang="en-US" sz="1400" i="1" dirty="0">
              <a:solidFill>
                <a:prstClr val="black"/>
              </a:solidFill>
            </a:endParaRPr>
          </a:p>
        </p:txBody>
      </p:sp>
      <p:sp>
        <p:nvSpPr>
          <p:cNvPr id="24" name="Rectangle 23">
            <a:extLst>
              <a:ext uri="{FF2B5EF4-FFF2-40B4-BE49-F238E27FC236}">
                <a16:creationId xmlns:a16="http://schemas.microsoft.com/office/drawing/2014/main" id="{4F21F882-26FB-4A08-8A87-9DD011F8A301}"/>
              </a:ext>
            </a:extLst>
          </p:cNvPr>
          <p:cNvSpPr/>
          <p:nvPr/>
        </p:nvSpPr>
        <p:spPr bwMode="gray">
          <a:xfrm>
            <a:off x="402771" y="5620506"/>
            <a:ext cx="11129917" cy="685893"/>
          </a:xfrm>
          <a:prstGeom prst="rect">
            <a:avLst/>
          </a:prstGeom>
          <a:solidFill>
            <a:srgbClr val="EBFCCC"/>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700" b="1" i="1" dirty="0"/>
              <a:t>For CIL, current 6M LIBOR rate + spread of 0.3%-1.3% </a:t>
            </a:r>
            <a:r>
              <a:rPr lang="en-US" sz="1700" b="1" i="1" dirty="0" err="1"/>
              <a:t>p.a</a:t>
            </a:r>
            <a:r>
              <a:rPr lang="en-US" sz="1700" b="1" i="1" dirty="0"/>
              <a:t> has been considered; and thus, three ECB interest rates post COD have been considered viz. 5.5%, 6% and 6.5%</a:t>
            </a:r>
            <a:endParaRPr lang="en-US" sz="1700" b="1" i="1" u="sng" dirty="0"/>
          </a:p>
        </p:txBody>
      </p:sp>
    </p:spTree>
    <p:extLst>
      <p:ext uri="{BB962C8B-B14F-4D97-AF65-F5344CB8AC3E}">
        <p14:creationId xmlns:p14="http://schemas.microsoft.com/office/powerpoint/2010/main" val="2819927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Basis of Tariff Considered (1/3)</a:t>
            </a:r>
            <a:endParaRPr lang="en-GB" b="1" dirty="0"/>
          </a:p>
        </p:txBody>
      </p:sp>
      <p:sp>
        <p:nvSpPr>
          <p:cNvPr id="26" name="Arrow: Right 25">
            <a:extLst>
              <a:ext uri="{FF2B5EF4-FFF2-40B4-BE49-F238E27FC236}">
                <a16:creationId xmlns:a16="http://schemas.microsoft.com/office/drawing/2014/main" id="{7FA74F9A-F95C-4AAD-920A-F06C30044C46}"/>
              </a:ext>
            </a:extLst>
          </p:cNvPr>
          <p:cNvSpPr/>
          <p:nvPr/>
        </p:nvSpPr>
        <p:spPr bwMode="gray">
          <a:xfrm rot="5400000">
            <a:off x="2962721" y="2389509"/>
            <a:ext cx="421699" cy="30479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rgbClr val="002060"/>
              </a:solidFill>
            </a:endParaRPr>
          </a:p>
        </p:txBody>
      </p:sp>
      <p:sp>
        <p:nvSpPr>
          <p:cNvPr id="27" name="Rectangle: Rounded Corners 26">
            <a:extLst>
              <a:ext uri="{FF2B5EF4-FFF2-40B4-BE49-F238E27FC236}">
                <a16:creationId xmlns:a16="http://schemas.microsoft.com/office/drawing/2014/main" id="{5E307C82-E0AA-4A0C-A3C3-F397493640B1}"/>
              </a:ext>
            </a:extLst>
          </p:cNvPr>
          <p:cNvSpPr/>
          <p:nvPr/>
        </p:nvSpPr>
        <p:spPr bwMode="gray">
          <a:xfrm>
            <a:off x="3302632" y="1338367"/>
            <a:ext cx="5220882" cy="511365"/>
          </a:xfrm>
          <a:prstGeom prst="roundRect">
            <a:avLst/>
          </a:prstGeom>
          <a:solidFill>
            <a:srgbClr val="046A38"/>
          </a:solidFill>
          <a:ln w="19050" algn="ctr">
            <a:solidFill>
              <a:srgbClr val="00206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effectLst/>
                <a:ea typeface="Calibri" panose="020F0502020204030204" pitchFamily="34" charset="0"/>
              </a:rPr>
              <a:t>Key Considerations for determination of Tariff Range</a:t>
            </a:r>
            <a:endParaRPr lang="en-US" b="1" dirty="0">
              <a:solidFill>
                <a:schemeClr val="bg1"/>
              </a:solidFill>
            </a:endParaRPr>
          </a:p>
        </p:txBody>
      </p:sp>
      <p:sp>
        <p:nvSpPr>
          <p:cNvPr id="28" name="Rectangle 27">
            <a:extLst>
              <a:ext uri="{FF2B5EF4-FFF2-40B4-BE49-F238E27FC236}">
                <a16:creationId xmlns:a16="http://schemas.microsoft.com/office/drawing/2014/main" id="{5543C450-0BB6-4216-A7E1-A5891887289C}"/>
              </a:ext>
            </a:extLst>
          </p:cNvPr>
          <p:cNvSpPr/>
          <p:nvPr/>
        </p:nvSpPr>
        <p:spPr bwMode="gray">
          <a:xfrm rot="5400000">
            <a:off x="5972051" y="-568694"/>
            <a:ext cx="116693" cy="5790621"/>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rgbClr val="002060"/>
              </a:solidFill>
            </a:endParaRPr>
          </a:p>
        </p:txBody>
      </p:sp>
      <p:sp>
        <p:nvSpPr>
          <p:cNvPr id="29" name="Arrow: Right 28">
            <a:extLst>
              <a:ext uri="{FF2B5EF4-FFF2-40B4-BE49-F238E27FC236}">
                <a16:creationId xmlns:a16="http://schemas.microsoft.com/office/drawing/2014/main" id="{907DC568-ABBE-40DC-B66A-C5B25CB90091}"/>
              </a:ext>
            </a:extLst>
          </p:cNvPr>
          <p:cNvSpPr/>
          <p:nvPr/>
        </p:nvSpPr>
        <p:spPr bwMode="gray">
          <a:xfrm rot="5400000">
            <a:off x="5549649" y="1925990"/>
            <a:ext cx="421699" cy="30479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rgbClr val="002060"/>
              </a:solidFill>
            </a:endParaRPr>
          </a:p>
        </p:txBody>
      </p:sp>
      <p:sp>
        <p:nvSpPr>
          <p:cNvPr id="30" name="Rectangle 29">
            <a:extLst>
              <a:ext uri="{FF2B5EF4-FFF2-40B4-BE49-F238E27FC236}">
                <a16:creationId xmlns:a16="http://schemas.microsoft.com/office/drawing/2014/main" id="{D4440893-FEF3-4C08-A100-5CE280A1CB41}"/>
              </a:ext>
            </a:extLst>
          </p:cNvPr>
          <p:cNvSpPr/>
          <p:nvPr/>
        </p:nvSpPr>
        <p:spPr bwMode="gray">
          <a:xfrm>
            <a:off x="1679786" y="2786849"/>
            <a:ext cx="3185540" cy="582436"/>
          </a:xfrm>
          <a:prstGeom prst="rect">
            <a:avLst/>
          </a:prstGeom>
          <a:solidFill>
            <a:srgbClr val="004F59"/>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b="1" dirty="0">
                <a:ln w="0"/>
                <a:solidFill>
                  <a:schemeClr val="bg1"/>
                </a:solidFill>
                <a:effectLst>
                  <a:outerShdw blurRad="38100" dist="19050" dir="2700000" algn="tl" rotWithShape="0">
                    <a:schemeClr val="dk1">
                      <a:alpha val="40000"/>
                    </a:schemeClr>
                  </a:outerShdw>
                </a:effectLst>
              </a:rPr>
              <a:t>A. Recently Discovered Tariffs through Reverse Auctions</a:t>
            </a:r>
          </a:p>
        </p:txBody>
      </p:sp>
      <p:sp>
        <p:nvSpPr>
          <p:cNvPr id="31" name="Rectangle 30">
            <a:extLst>
              <a:ext uri="{FF2B5EF4-FFF2-40B4-BE49-F238E27FC236}">
                <a16:creationId xmlns:a16="http://schemas.microsoft.com/office/drawing/2014/main" id="{762B07F7-311B-4272-8C7F-21E0BBFA443A}"/>
              </a:ext>
            </a:extLst>
          </p:cNvPr>
          <p:cNvSpPr/>
          <p:nvPr/>
        </p:nvSpPr>
        <p:spPr bwMode="gray">
          <a:xfrm>
            <a:off x="7557437" y="2736704"/>
            <a:ext cx="2745361" cy="582436"/>
          </a:xfrm>
          <a:prstGeom prst="rect">
            <a:avLst/>
          </a:prstGeom>
          <a:solidFill>
            <a:srgbClr val="004F59"/>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b="1" dirty="0">
                <a:ln w="0"/>
                <a:solidFill>
                  <a:schemeClr val="bg1"/>
                </a:solidFill>
                <a:effectLst>
                  <a:outerShdw blurRad="38100" dist="19050" dir="2700000" algn="tl" rotWithShape="0">
                    <a:schemeClr val="dk1">
                      <a:alpha val="40000"/>
                    </a:schemeClr>
                  </a:outerShdw>
                </a:effectLst>
              </a:rPr>
              <a:t>B. Average ECR of RVUNL TPPS</a:t>
            </a:r>
          </a:p>
        </p:txBody>
      </p:sp>
      <p:sp>
        <p:nvSpPr>
          <p:cNvPr id="32" name="Arrow: Right 31">
            <a:extLst>
              <a:ext uri="{FF2B5EF4-FFF2-40B4-BE49-F238E27FC236}">
                <a16:creationId xmlns:a16="http://schemas.microsoft.com/office/drawing/2014/main" id="{418AE59B-3E2A-42E5-B3E2-A5BC3BF5E5D0}"/>
              </a:ext>
            </a:extLst>
          </p:cNvPr>
          <p:cNvSpPr/>
          <p:nvPr/>
        </p:nvSpPr>
        <p:spPr bwMode="gray">
          <a:xfrm rot="5400000">
            <a:off x="8650570" y="2356329"/>
            <a:ext cx="421699" cy="30479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rgbClr val="002060"/>
              </a:solidFill>
            </a:endParaRPr>
          </a:p>
        </p:txBody>
      </p:sp>
      <p:sp>
        <p:nvSpPr>
          <p:cNvPr id="10" name="Rectangle: Rounded Corners 9">
            <a:extLst>
              <a:ext uri="{FF2B5EF4-FFF2-40B4-BE49-F238E27FC236}">
                <a16:creationId xmlns:a16="http://schemas.microsoft.com/office/drawing/2014/main" id="{203112D2-57B8-4701-9D91-F56A857FB14B}"/>
              </a:ext>
            </a:extLst>
          </p:cNvPr>
          <p:cNvSpPr/>
          <p:nvPr/>
        </p:nvSpPr>
        <p:spPr bwMode="gray">
          <a:xfrm>
            <a:off x="1679786" y="3679371"/>
            <a:ext cx="3185540" cy="2351315"/>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600" dirty="0">
                <a:solidFill>
                  <a:schemeClr val="tx1"/>
                </a:solidFill>
              </a:rPr>
              <a:t>Based on recently discovered solar tariffs; a range is determined w.r.t probable tariffs that may be discovered</a:t>
            </a:r>
          </a:p>
        </p:txBody>
      </p:sp>
      <p:sp>
        <p:nvSpPr>
          <p:cNvPr id="11" name="Rectangle: Rounded Corners 10">
            <a:extLst>
              <a:ext uri="{FF2B5EF4-FFF2-40B4-BE49-F238E27FC236}">
                <a16:creationId xmlns:a16="http://schemas.microsoft.com/office/drawing/2014/main" id="{D2B1AA0B-8585-42D6-B400-13295938F9C5}"/>
              </a:ext>
            </a:extLst>
          </p:cNvPr>
          <p:cNvSpPr/>
          <p:nvPr/>
        </p:nvSpPr>
        <p:spPr bwMode="gray">
          <a:xfrm>
            <a:off x="7434075" y="3583128"/>
            <a:ext cx="3185540" cy="2447558"/>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600" dirty="0">
                <a:solidFill>
                  <a:schemeClr val="tx1"/>
                </a:solidFill>
              </a:rPr>
              <a:t>Cost of solar power  (tariff) has to be less than the Energy Charge Rate of existing TPPs of RVUNL with which solar power is proposed to be bundled. Thus, probable tariff range can be envisaged through prevalent ECR rates of current existing TPPS of RVUN:</a:t>
            </a:r>
          </a:p>
        </p:txBody>
      </p:sp>
    </p:spTree>
    <p:extLst>
      <p:ext uri="{BB962C8B-B14F-4D97-AF65-F5344CB8AC3E}">
        <p14:creationId xmlns:p14="http://schemas.microsoft.com/office/powerpoint/2010/main" val="220127062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Basis of Tariff Considered (2/3) - Recently Discovered Tariffs through Reverse Auctions</a:t>
            </a:r>
            <a:endParaRPr lang="en-GB" b="1" dirty="0"/>
          </a:p>
        </p:txBody>
      </p:sp>
      <p:sp>
        <p:nvSpPr>
          <p:cNvPr id="12" name="TextBox 11">
            <a:extLst>
              <a:ext uri="{FF2B5EF4-FFF2-40B4-BE49-F238E27FC236}">
                <a16:creationId xmlns:a16="http://schemas.microsoft.com/office/drawing/2014/main" id="{E1C6CB1F-0F86-403C-A40B-E08D2499EC97}"/>
              </a:ext>
            </a:extLst>
          </p:cNvPr>
          <p:cNvSpPr txBox="1"/>
          <p:nvPr/>
        </p:nvSpPr>
        <p:spPr>
          <a:xfrm>
            <a:off x="2852964" y="6607629"/>
            <a:ext cx="267698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Deloitte Research</a:t>
            </a:r>
          </a:p>
        </p:txBody>
      </p:sp>
      <p:sp>
        <p:nvSpPr>
          <p:cNvPr id="13" name="TextBox 12">
            <a:extLst>
              <a:ext uri="{FF2B5EF4-FFF2-40B4-BE49-F238E27FC236}">
                <a16:creationId xmlns:a16="http://schemas.microsoft.com/office/drawing/2014/main" id="{14B8FFE7-B260-43ED-A3FC-2C4EE250A6C9}"/>
              </a:ext>
            </a:extLst>
          </p:cNvPr>
          <p:cNvSpPr txBox="1"/>
          <p:nvPr/>
        </p:nvSpPr>
        <p:spPr>
          <a:xfrm>
            <a:off x="9433931" y="748870"/>
            <a:ext cx="2256419"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All figures are in Rs/kWh</a:t>
            </a:r>
          </a:p>
        </p:txBody>
      </p:sp>
      <p:graphicFrame>
        <p:nvGraphicFramePr>
          <p:cNvPr id="14" name="Chart 13">
            <a:extLst>
              <a:ext uri="{FF2B5EF4-FFF2-40B4-BE49-F238E27FC236}">
                <a16:creationId xmlns:a16="http://schemas.microsoft.com/office/drawing/2014/main" id="{FBA75729-99FD-4F45-8DDC-53854898771C}"/>
              </a:ext>
            </a:extLst>
          </p:cNvPr>
          <p:cNvGraphicFramePr>
            <a:graphicFrameLocks/>
          </p:cNvGraphicFramePr>
          <p:nvPr/>
        </p:nvGraphicFramePr>
        <p:xfrm>
          <a:off x="501650" y="517372"/>
          <a:ext cx="11032586" cy="57761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768812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Basis of Tariff Considered (3/3) - </a:t>
            </a:r>
            <a:r>
              <a:rPr lang="en-US" sz="2400" b="1" dirty="0">
                <a:latin typeface="Calibri" panose="020F0502020204030204" pitchFamily="34" charset="0"/>
              </a:rPr>
              <a:t>ECR and PLF of RVUNL Coal TPPs</a:t>
            </a:r>
            <a:endParaRPr lang="en-GB" b="1" dirty="0"/>
          </a:p>
        </p:txBody>
      </p:sp>
      <p:graphicFrame>
        <p:nvGraphicFramePr>
          <p:cNvPr id="7" name="Chart 6">
            <a:extLst>
              <a:ext uri="{FF2B5EF4-FFF2-40B4-BE49-F238E27FC236}">
                <a16:creationId xmlns:a16="http://schemas.microsoft.com/office/drawing/2014/main" id="{F57B976B-B92E-42C6-98C2-D7438DE7A614}"/>
              </a:ext>
            </a:extLst>
          </p:cNvPr>
          <p:cNvGraphicFramePr/>
          <p:nvPr>
            <p:extLst>
              <p:ext uri="{D42A27DB-BD31-4B8C-83A1-F6EECF244321}">
                <p14:modId xmlns:p14="http://schemas.microsoft.com/office/powerpoint/2010/main" val="2609823876"/>
              </p:ext>
            </p:extLst>
          </p:nvPr>
        </p:nvGraphicFramePr>
        <p:xfrm>
          <a:off x="323385" y="560003"/>
          <a:ext cx="11366965" cy="4781164"/>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9515BC8B-235B-410C-AB35-59D1FBE9C433}"/>
              </a:ext>
            </a:extLst>
          </p:cNvPr>
          <p:cNvSpPr txBox="1"/>
          <p:nvPr/>
        </p:nvSpPr>
        <p:spPr>
          <a:xfrm>
            <a:off x="10374086" y="1736468"/>
            <a:ext cx="3460750" cy="184666"/>
          </a:xfrm>
          <a:prstGeom prst="rect">
            <a:avLst/>
          </a:prstGeom>
          <a:noFill/>
        </p:spPr>
        <p:txBody>
          <a:bodyPr wrap="square" lIns="0" tIns="0" rIns="0" bIns="0" rtlCol="0">
            <a:spAutoFit/>
          </a:bodyPr>
          <a:lstStyle/>
          <a:p>
            <a:pPr>
              <a:spcBef>
                <a:spcPts val="600"/>
              </a:spcBef>
              <a:buSzPct val="100000"/>
            </a:pPr>
            <a:r>
              <a:rPr lang="en-US" sz="1200" i="1" dirty="0">
                <a:solidFill>
                  <a:srgbClr val="313131"/>
                </a:solidFill>
              </a:rPr>
              <a:t>ECR Figures in Rs/kWh</a:t>
            </a:r>
          </a:p>
        </p:txBody>
      </p:sp>
      <p:sp>
        <p:nvSpPr>
          <p:cNvPr id="10" name="TextBox 9">
            <a:extLst>
              <a:ext uri="{FF2B5EF4-FFF2-40B4-BE49-F238E27FC236}">
                <a16:creationId xmlns:a16="http://schemas.microsoft.com/office/drawing/2014/main" id="{02663BE9-3C55-414E-A392-57FA87843017}"/>
              </a:ext>
            </a:extLst>
          </p:cNvPr>
          <p:cNvSpPr txBox="1"/>
          <p:nvPr/>
        </p:nvSpPr>
        <p:spPr>
          <a:xfrm>
            <a:off x="2852963" y="6607629"/>
            <a:ext cx="4266293"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RVUNL website, National Power Portal</a:t>
            </a:r>
          </a:p>
        </p:txBody>
      </p:sp>
      <p:sp>
        <p:nvSpPr>
          <p:cNvPr id="11" name="Rectangle 10">
            <a:extLst>
              <a:ext uri="{FF2B5EF4-FFF2-40B4-BE49-F238E27FC236}">
                <a16:creationId xmlns:a16="http://schemas.microsoft.com/office/drawing/2014/main" id="{381D4C94-900B-4FA2-90AA-354057019B7B}"/>
              </a:ext>
            </a:extLst>
          </p:cNvPr>
          <p:cNvSpPr/>
          <p:nvPr/>
        </p:nvSpPr>
        <p:spPr bwMode="gray">
          <a:xfrm>
            <a:off x="468989" y="5551716"/>
            <a:ext cx="10939236" cy="57694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t>Range of Tariff Considered: Rs 2.50/kWh – Rs 2.90/kWh; based on tariffs discovered and ECR rates of RVUNL TPPs </a:t>
            </a:r>
          </a:p>
        </p:txBody>
      </p:sp>
    </p:spTree>
    <p:extLst>
      <p:ext uri="{BB962C8B-B14F-4D97-AF65-F5344CB8AC3E}">
        <p14:creationId xmlns:p14="http://schemas.microsoft.com/office/powerpoint/2010/main" val="238209476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Ranges considered for Financial Scenario Analysis</a:t>
            </a:r>
            <a:endParaRPr lang="en-GB" b="1" dirty="0"/>
          </a:p>
        </p:txBody>
      </p:sp>
      <p:sp>
        <p:nvSpPr>
          <p:cNvPr id="4" name="Rectangle 3">
            <a:extLst>
              <a:ext uri="{FF2B5EF4-FFF2-40B4-BE49-F238E27FC236}">
                <a16:creationId xmlns:a16="http://schemas.microsoft.com/office/drawing/2014/main" id="{3A07D17F-3368-4678-8BB6-58B8BC7E492A}"/>
              </a:ext>
            </a:extLst>
          </p:cNvPr>
          <p:cNvSpPr/>
          <p:nvPr/>
        </p:nvSpPr>
        <p:spPr bwMode="gray">
          <a:xfrm>
            <a:off x="501652" y="936171"/>
            <a:ext cx="3961491" cy="947059"/>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Range of Module Cost</a:t>
            </a:r>
          </a:p>
        </p:txBody>
      </p:sp>
      <p:sp>
        <p:nvSpPr>
          <p:cNvPr id="5" name="Rectangle: Rounded Corners 4">
            <a:extLst>
              <a:ext uri="{FF2B5EF4-FFF2-40B4-BE49-F238E27FC236}">
                <a16:creationId xmlns:a16="http://schemas.microsoft.com/office/drawing/2014/main" id="{8FD92EBB-D687-4CBA-983B-A6D743161099}"/>
              </a:ext>
            </a:extLst>
          </p:cNvPr>
          <p:cNvSpPr/>
          <p:nvPr/>
        </p:nvSpPr>
        <p:spPr bwMode="gray">
          <a:xfrm>
            <a:off x="4844142" y="936171"/>
            <a:ext cx="6346373" cy="947059"/>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600" dirty="0">
                <a:solidFill>
                  <a:srgbClr val="313131"/>
                </a:solidFill>
              </a:rPr>
              <a:t>Rs 21/Wp – Rs 26/Wp (excl GST) (including Transportation cost)</a:t>
            </a:r>
            <a:endParaRPr lang="en-US" sz="1600" b="1" dirty="0">
              <a:solidFill>
                <a:schemeClr val="bg1"/>
              </a:solidFill>
            </a:endParaRPr>
          </a:p>
        </p:txBody>
      </p:sp>
      <p:sp>
        <p:nvSpPr>
          <p:cNvPr id="7" name="Rectangle 6">
            <a:extLst>
              <a:ext uri="{FF2B5EF4-FFF2-40B4-BE49-F238E27FC236}">
                <a16:creationId xmlns:a16="http://schemas.microsoft.com/office/drawing/2014/main" id="{A27A0EF3-24F3-4342-9C6E-472CB48DACEC}"/>
              </a:ext>
            </a:extLst>
          </p:cNvPr>
          <p:cNvSpPr/>
          <p:nvPr/>
        </p:nvSpPr>
        <p:spPr bwMode="gray">
          <a:xfrm>
            <a:off x="501652" y="2046515"/>
            <a:ext cx="3961491" cy="947059"/>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Range of BOS Cost</a:t>
            </a:r>
          </a:p>
        </p:txBody>
      </p:sp>
      <p:sp>
        <p:nvSpPr>
          <p:cNvPr id="8" name="Rectangle: Rounded Corners 7">
            <a:extLst>
              <a:ext uri="{FF2B5EF4-FFF2-40B4-BE49-F238E27FC236}">
                <a16:creationId xmlns:a16="http://schemas.microsoft.com/office/drawing/2014/main" id="{2D395A18-6166-4B0D-A1E1-EB5EEDC210E9}"/>
              </a:ext>
            </a:extLst>
          </p:cNvPr>
          <p:cNvSpPr/>
          <p:nvPr/>
        </p:nvSpPr>
        <p:spPr bwMode="gray">
          <a:xfrm>
            <a:off x="4844142" y="2046515"/>
            <a:ext cx="6346373" cy="947059"/>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600" dirty="0">
                <a:solidFill>
                  <a:srgbClr val="313131"/>
                </a:solidFill>
              </a:rPr>
              <a:t>Rs 1.27 Cr/MWp – Rs 1.32 Cr/MWp (incl GST)</a:t>
            </a:r>
            <a:endParaRPr lang="en-US" sz="1600" b="1" dirty="0">
              <a:solidFill>
                <a:schemeClr val="bg1"/>
              </a:solidFill>
            </a:endParaRPr>
          </a:p>
        </p:txBody>
      </p:sp>
      <p:sp>
        <p:nvSpPr>
          <p:cNvPr id="9" name="Rectangle 8">
            <a:extLst>
              <a:ext uri="{FF2B5EF4-FFF2-40B4-BE49-F238E27FC236}">
                <a16:creationId xmlns:a16="http://schemas.microsoft.com/office/drawing/2014/main" id="{6CC2E475-8A39-4B28-A2A2-EB46AB165F6E}"/>
              </a:ext>
            </a:extLst>
          </p:cNvPr>
          <p:cNvSpPr/>
          <p:nvPr/>
        </p:nvSpPr>
        <p:spPr bwMode="gray">
          <a:xfrm>
            <a:off x="512536" y="3189511"/>
            <a:ext cx="3961491" cy="947059"/>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Scenarios for ECB Interest Rate (Post COD)</a:t>
            </a:r>
          </a:p>
        </p:txBody>
      </p:sp>
      <p:sp>
        <p:nvSpPr>
          <p:cNvPr id="10" name="Rectangle: Rounded Corners 9">
            <a:extLst>
              <a:ext uri="{FF2B5EF4-FFF2-40B4-BE49-F238E27FC236}">
                <a16:creationId xmlns:a16="http://schemas.microsoft.com/office/drawing/2014/main" id="{5F21D562-9B06-417C-A475-B2F08121E520}"/>
              </a:ext>
            </a:extLst>
          </p:cNvPr>
          <p:cNvSpPr/>
          <p:nvPr/>
        </p:nvSpPr>
        <p:spPr bwMode="gray">
          <a:xfrm>
            <a:off x="4855026" y="3189511"/>
            <a:ext cx="6346373" cy="947059"/>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600" dirty="0">
                <a:solidFill>
                  <a:srgbClr val="313131"/>
                </a:solidFill>
              </a:rPr>
              <a:t>5.5%, 6%, 6.5% (Pre COD Interest Rate for Commercial Loan considered at 8.5%)</a:t>
            </a:r>
            <a:endParaRPr lang="en-US" sz="1600" b="1" dirty="0">
              <a:solidFill>
                <a:schemeClr val="bg1"/>
              </a:solidFill>
            </a:endParaRPr>
          </a:p>
        </p:txBody>
      </p:sp>
      <p:sp>
        <p:nvSpPr>
          <p:cNvPr id="11" name="Rectangle 10">
            <a:extLst>
              <a:ext uri="{FF2B5EF4-FFF2-40B4-BE49-F238E27FC236}">
                <a16:creationId xmlns:a16="http://schemas.microsoft.com/office/drawing/2014/main" id="{13806F84-F160-467B-B8BE-5482F637EBEE}"/>
              </a:ext>
            </a:extLst>
          </p:cNvPr>
          <p:cNvSpPr/>
          <p:nvPr/>
        </p:nvSpPr>
        <p:spPr bwMode="gray">
          <a:xfrm>
            <a:off x="512536" y="4321626"/>
            <a:ext cx="3961491" cy="947059"/>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Range of Tariff Rates Considered*</a:t>
            </a:r>
          </a:p>
        </p:txBody>
      </p:sp>
      <p:sp>
        <p:nvSpPr>
          <p:cNvPr id="12" name="Rectangle: Rounded Corners 11">
            <a:extLst>
              <a:ext uri="{FF2B5EF4-FFF2-40B4-BE49-F238E27FC236}">
                <a16:creationId xmlns:a16="http://schemas.microsoft.com/office/drawing/2014/main" id="{F025499D-CC19-43C1-8664-960DA0F34EA6}"/>
              </a:ext>
            </a:extLst>
          </p:cNvPr>
          <p:cNvSpPr/>
          <p:nvPr/>
        </p:nvSpPr>
        <p:spPr bwMode="gray">
          <a:xfrm>
            <a:off x="4855026" y="4321626"/>
            <a:ext cx="6346373" cy="947059"/>
          </a:xfrm>
          <a:prstGeom prst="roundRect">
            <a:avLst/>
          </a:prstGeom>
          <a:noFill/>
          <a:ln w="12700">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600" dirty="0">
                <a:solidFill>
                  <a:srgbClr val="313131"/>
                </a:solidFill>
              </a:rPr>
              <a:t>Rs 2.50/kWh – Rs 2.90/kWh</a:t>
            </a:r>
            <a:endParaRPr lang="en-US" sz="1600" b="1" dirty="0">
              <a:solidFill>
                <a:schemeClr val="bg1"/>
              </a:solidFill>
            </a:endParaRPr>
          </a:p>
        </p:txBody>
      </p:sp>
      <p:sp>
        <p:nvSpPr>
          <p:cNvPr id="14" name="TextBox 13">
            <a:extLst>
              <a:ext uri="{FF2B5EF4-FFF2-40B4-BE49-F238E27FC236}">
                <a16:creationId xmlns:a16="http://schemas.microsoft.com/office/drawing/2014/main" id="{132F61FF-E009-4CD7-9BD6-A47CB988A564}"/>
              </a:ext>
            </a:extLst>
          </p:cNvPr>
          <p:cNvSpPr txBox="1"/>
          <p:nvPr/>
        </p:nvSpPr>
        <p:spPr>
          <a:xfrm>
            <a:off x="468989" y="6238898"/>
            <a:ext cx="10939236" cy="279820"/>
          </a:xfrm>
          <a:prstGeom prst="rect">
            <a:avLst/>
          </a:prstGeom>
          <a:noFill/>
        </p:spPr>
        <p:txBody>
          <a:bodyPr wrap="square">
            <a:spAutoFit/>
          </a:bodyPr>
          <a:lstStyle/>
          <a:p>
            <a:pPr>
              <a:lnSpc>
                <a:spcPct val="106000"/>
              </a:lnSpc>
              <a:buFont typeface="Wingdings 2" pitchFamily="18" charset="2"/>
              <a:buNone/>
            </a:pPr>
            <a:r>
              <a:rPr lang="en-US" sz="1200" dirty="0"/>
              <a:t>*ECR of RVUNL TPPs and latest tariffs discovered have been provided in </a:t>
            </a:r>
            <a:r>
              <a:rPr lang="en-US" sz="1200" dirty="0">
                <a:hlinkClick r:id="rId2" action="ppaction://hlinksldjump"/>
              </a:rPr>
              <a:t>Annexure 4</a:t>
            </a:r>
            <a:r>
              <a:rPr lang="en-US" sz="1200" dirty="0"/>
              <a:t> and </a:t>
            </a:r>
            <a:r>
              <a:rPr lang="en-US" sz="1200" dirty="0">
                <a:hlinkClick r:id="rId3" action="ppaction://hlinksldjump"/>
              </a:rPr>
              <a:t>Annexure 5</a:t>
            </a:r>
            <a:r>
              <a:rPr lang="en-US" sz="1200" dirty="0"/>
              <a:t> respectively</a:t>
            </a:r>
          </a:p>
        </p:txBody>
      </p:sp>
    </p:spTree>
    <p:extLst>
      <p:ext uri="{BB962C8B-B14F-4D97-AF65-F5344CB8AC3E}">
        <p14:creationId xmlns:p14="http://schemas.microsoft.com/office/powerpoint/2010/main" val="17917271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Scenarios of Equity IRR for varying Project Cost and Tariff (1/3)</a:t>
            </a:r>
            <a:endParaRPr lang="en-US" sz="2400" dirty="0">
              <a:effectLst/>
              <a:latin typeface="Calibri" panose="020F0502020204030204" pitchFamily="34" charset="0"/>
              <a:ea typeface="Calibri" panose="020F0502020204030204" pitchFamily="34" charset="0"/>
            </a:endParaRPr>
          </a:p>
        </p:txBody>
      </p:sp>
      <p:graphicFrame>
        <p:nvGraphicFramePr>
          <p:cNvPr id="2" name="Table 1">
            <a:extLst>
              <a:ext uri="{FF2B5EF4-FFF2-40B4-BE49-F238E27FC236}">
                <a16:creationId xmlns:a16="http://schemas.microsoft.com/office/drawing/2014/main" id="{E5D407E3-4455-463E-87F0-E6A8109D0458}"/>
              </a:ext>
            </a:extLst>
          </p:cNvPr>
          <p:cNvGraphicFramePr>
            <a:graphicFrameLocks noGrp="1"/>
          </p:cNvGraphicFramePr>
          <p:nvPr>
            <p:extLst>
              <p:ext uri="{D42A27DB-BD31-4B8C-83A1-F6EECF244321}">
                <p14:modId xmlns:p14="http://schemas.microsoft.com/office/powerpoint/2010/main" val="4108769858"/>
              </p:ext>
            </p:extLst>
          </p:nvPr>
        </p:nvGraphicFramePr>
        <p:xfrm>
          <a:off x="162560" y="1943506"/>
          <a:ext cx="11527792" cy="3626523"/>
        </p:xfrm>
        <a:graphic>
          <a:graphicData uri="http://schemas.openxmlformats.org/drawingml/2006/table">
            <a:tbl>
              <a:tblPr firstRow="1">
                <a:tableStyleId>{93296810-A885-4BE3-A3E7-6D5BEEA58F35}</a:tableStyleId>
              </a:tblPr>
              <a:tblGrid>
                <a:gridCol w="1657993">
                  <a:extLst>
                    <a:ext uri="{9D8B030D-6E8A-4147-A177-3AD203B41FA5}">
                      <a16:colId xmlns:a16="http://schemas.microsoft.com/office/drawing/2014/main" val="2553532155"/>
                    </a:ext>
                  </a:extLst>
                </a:gridCol>
                <a:gridCol w="1657993">
                  <a:extLst>
                    <a:ext uri="{9D8B030D-6E8A-4147-A177-3AD203B41FA5}">
                      <a16:colId xmlns:a16="http://schemas.microsoft.com/office/drawing/2014/main" val="4182503990"/>
                    </a:ext>
                  </a:extLst>
                </a:gridCol>
                <a:gridCol w="1892455">
                  <a:extLst>
                    <a:ext uri="{9D8B030D-6E8A-4147-A177-3AD203B41FA5}">
                      <a16:colId xmlns:a16="http://schemas.microsoft.com/office/drawing/2014/main" val="761876382"/>
                    </a:ext>
                  </a:extLst>
                </a:gridCol>
                <a:gridCol w="1825466">
                  <a:extLst>
                    <a:ext uri="{9D8B030D-6E8A-4147-A177-3AD203B41FA5}">
                      <a16:colId xmlns:a16="http://schemas.microsoft.com/office/drawing/2014/main" val="3346733042"/>
                    </a:ext>
                  </a:extLst>
                </a:gridCol>
                <a:gridCol w="898777">
                  <a:extLst>
                    <a:ext uri="{9D8B030D-6E8A-4147-A177-3AD203B41FA5}">
                      <a16:colId xmlns:a16="http://schemas.microsoft.com/office/drawing/2014/main" val="3801580730"/>
                    </a:ext>
                  </a:extLst>
                </a:gridCol>
                <a:gridCol w="898777">
                  <a:extLst>
                    <a:ext uri="{9D8B030D-6E8A-4147-A177-3AD203B41FA5}">
                      <a16:colId xmlns:a16="http://schemas.microsoft.com/office/drawing/2014/main" val="1943437216"/>
                    </a:ext>
                  </a:extLst>
                </a:gridCol>
                <a:gridCol w="898777">
                  <a:extLst>
                    <a:ext uri="{9D8B030D-6E8A-4147-A177-3AD203B41FA5}">
                      <a16:colId xmlns:a16="http://schemas.microsoft.com/office/drawing/2014/main" val="1182487536"/>
                    </a:ext>
                  </a:extLst>
                </a:gridCol>
                <a:gridCol w="898777">
                  <a:extLst>
                    <a:ext uri="{9D8B030D-6E8A-4147-A177-3AD203B41FA5}">
                      <a16:colId xmlns:a16="http://schemas.microsoft.com/office/drawing/2014/main" val="1439536141"/>
                    </a:ext>
                  </a:extLst>
                </a:gridCol>
                <a:gridCol w="898777">
                  <a:extLst>
                    <a:ext uri="{9D8B030D-6E8A-4147-A177-3AD203B41FA5}">
                      <a16:colId xmlns:a16="http://schemas.microsoft.com/office/drawing/2014/main" val="469060391"/>
                    </a:ext>
                  </a:extLst>
                </a:gridCol>
              </a:tblGrid>
              <a:tr h="643516">
                <a:tc rowSpan="2">
                  <a:txBody>
                    <a:bodyPr/>
                    <a:lstStyle/>
                    <a:p>
                      <a:pPr algn="ctr" fontAlgn="ctr"/>
                      <a:r>
                        <a:rPr lang="en-US" sz="1400" u="none" strike="noStrike" dirty="0">
                          <a:effectLst/>
                        </a:rPr>
                        <a:t>Module Price (Rs/Wp) (excl. GST)</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BOS Price (Rs Cr/MWp) (incl GST)</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Capex - hard cost excl. land, solar park charges (Rs Cr/MW)</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Upfront Charges for Land and Solar Park (Rs Cr/MW)</a:t>
                      </a:r>
                      <a:endParaRPr lang="en-US" sz="1400" b="1" i="0" u="none" strike="noStrike" dirty="0">
                        <a:solidFill>
                          <a:srgbClr val="000000"/>
                        </a:solidFill>
                        <a:effectLst/>
                        <a:latin typeface="Calibri" panose="020F0502020204030204" pitchFamily="34" charset="0"/>
                      </a:endParaRPr>
                    </a:p>
                  </a:txBody>
                  <a:tcPr marL="0" marR="0" marT="0" marB="0" anchor="ctr">
                    <a:lnR w="12700" cap="flat" cmpd="sng" algn="ctr">
                      <a:solidFill>
                        <a:schemeClr val="bg1"/>
                      </a:solidFill>
                      <a:prstDash val="solid"/>
                      <a:round/>
                      <a:headEnd type="none" w="med" len="med"/>
                      <a:tailEnd type="none" w="med" len="med"/>
                    </a:lnR>
                    <a:solidFill>
                      <a:srgbClr val="009A44"/>
                    </a:solidFill>
                  </a:tcPr>
                </a:tc>
                <a:tc gridSpan="5">
                  <a:txBody>
                    <a:bodyPr/>
                    <a:lstStyle/>
                    <a:p>
                      <a:pPr algn="ctr" fontAlgn="ctr"/>
                      <a:r>
                        <a:rPr lang="en-US" sz="1400" u="none" strike="noStrike">
                          <a:effectLst/>
                        </a:rPr>
                        <a:t>Tariff (Rs/kWh)</a:t>
                      </a:r>
                      <a:endParaRPr lang="en-US" sz="1400" b="1" i="0" u="none" strike="noStrike">
                        <a:solidFill>
                          <a:srgbClr val="000000"/>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009A4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756274"/>
                  </a:ext>
                </a:extLst>
              </a:tr>
              <a:tr h="5653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400" b="1" u="none" strike="noStrike" dirty="0">
                          <a:solidFill>
                            <a:schemeClr val="bg1"/>
                          </a:solidFill>
                          <a:effectLst/>
                        </a:rPr>
                        <a:t>2.50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2.60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2.70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2.80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2.90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extLst>
                  <a:ext uri="{0D108BD9-81ED-4DB2-BD59-A6C34878D82A}">
                    <a16:rowId xmlns:a16="http://schemas.microsoft.com/office/drawing/2014/main" val="1586637805"/>
                  </a:ext>
                </a:extLst>
              </a:tr>
              <a:tr h="402947">
                <a:tc>
                  <a:txBody>
                    <a:bodyPr/>
                    <a:lstStyle/>
                    <a:p>
                      <a:pPr algn="ctr" fontAlgn="ctr"/>
                      <a:r>
                        <a:rPr lang="en-US" sz="1400" u="none" strike="noStrike" dirty="0">
                          <a:effectLst/>
                        </a:rPr>
                        <a:t>21</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u="none" strike="noStrike" dirty="0">
                          <a:effectLst/>
                        </a:rPr>
                        <a:t>1.27</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5.08</a:t>
                      </a:r>
                    </a:p>
                  </a:txBody>
                  <a:tcPr marL="0" marR="0" marT="0" marB="0" anchor="ctr"/>
                </a:tc>
                <a:tc>
                  <a:txBody>
                    <a:bodyPr/>
                    <a:lstStyle/>
                    <a:p>
                      <a:pPr algn="ctr" fontAlgn="ctr"/>
                      <a:r>
                        <a:rPr lang="en-US" sz="1400" u="none" strike="noStrike" dirty="0">
                          <a:effectLst/>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5.48%</a:t>
                      </a:r>
                    </a:p>
                  </a:txBody>
                  <a:tcPr marL="0" marR="0" marT="0" marB="0" anchor="ctr">
                    <a:lnT w="38100" cap="flat" cmpd="sng" algn="ctr">
                      <a:solidFill>
                        <a:schemeClr val="bg1"/>
                      </a:solidFill>
                      <a:prstDash val="solid"/>
                      <a:round/>
                      <a:headEnd type="none" w="med" len="med"/>
                      <a:tailEnd type="none" w="med" len="med"/>
                    </a:lnT>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6.91</a:t>
                      </a:r>
                    </a:p>
                  </a:txBody>
                  <a:tcPr marL="0" marR="0" marT="0" marB="0" anchor="ctr">
                    <a:lnT w="38100" cap="flat" cmpd="sng" algn="ctr">
                      <a:solidFill>
                        <a:schemeClr val="bg1"/>
                      </a:solidFill>
                      <a:prstDash val="solid"/>
                      <a:round/>
                      <a:headEnd type="none" w="med" len="med"/>
                      <a:tailEnd type="none" w="med" len="med"/>
                    </a:lnT>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8.43%</a:t>
                      </a:r>
                    </a:p>
                  </a:txBody>
                  <a:tcPr marL="0" marR="0" marT="0" marB="0" anchor="ctr">
                    <a:lnT w="38100" cap="flat" cmpd="sng" algn="ctr">
                      <a:solidFill>
                        <a:schemeClr val="bg1"/>
                      </a:solidFill>
                      <a:prstDash val="solid"/>
                      <a:round/>
                      <a:headEnd type="none" w="med" len="med"/>
                      <a:tailEnd type="none" w="med" len="med"/>
                    </a:lnT>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10.05%</a:t>
                      </a:r>
                    </a:p>
                  </a:txBody>
                  <a:tcPr marL="0" marR="0" marT="0" marB="0" anchor="ctr">
                    <a:lnT w="38100" cap="flat" cmpd="sng" algn="ctr">
                      <a:solidFill>
                        <a:schemeClr val="bg1"/>
                      </a:solidFill>
                      <a:prstDash val="solid"/>
                      <a:round/>
                      <a:headEnd type="none" w="med" len="med"/>
                      <a:tailEnd type="none" w="med" len="med"/>
                    </a:lnT>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11.76%</a:t>
                      </a:r>
                    </a:p>
                  </a:txBody>
                  <a:tcPr marL="0" marR="0" marT="0" marB="0" anchor="ctr">
                    <a:lnT w="38100" cap="flat" cmpd="sng" algn="ctr">
                      <a:solidFill>
                        <a:schemeClr val="bg1"/>
                      </a:solidFill>
                      <a:prstDash val="solid"/>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4132371854"/>
                  </a:ext>
                </a:extLst>
              </a:tr>
              <a:tr h="402947">
                <a:tc>
                  <a:txBody>
                    <a:bodyPr/>
                    <a:lstStyle/>
                    <a:p>
                      <a:pPr algn="ctr" fontAlgn="ctr"/>
                      <a:r>
                        <a:rPr lang="en-US" sz="1400" b="0" i="0" u="none" strike="noStrike" dirty="0">
                          <a:solidFill>
                            <a:srgbClr val="000000"/>
                          </a:solidFill>
                          <a:effectLst/>
                          <a:latin typeface="Calibri" panose="020F0502020204030204" pitchFamily="34" charset="0"/>
                        </a:rPr>
                        <a:t>22</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1.28</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5.25</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4.64%</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5.97%</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7.38%</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8.88%</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10.47%</a:t>
                      </a:r>
                    </a:p>
                  </a:txBody>
                  <a:tcPr marL="0" marR="0" marT="0" marB="0" anchor="ctr">
                    <a:solidFill>
                      <a:schemeClr val="accent1">
                        <a:lumMod val="20000"/>
                        <a:lumOff val="80000"/>
                      </a:schemeClr>
                    </a:solidFill>
                  </a:tcPr>
                </a:tc>
                <a:extLst>
                  <a:ext uri="{0D108BD9-81ED-4DB2-BD59-A6C34878D82A}">
                    <a16:rowId xmlns:a16="http://schemas.microsoft.com/office/drawing/2014/main" val="3676467176"/>
                  </a:ext>
                </a:extLst>
              </a:tr>
              <a:tr h="402947">
                <a:tc>
                  <a:txBody>
                    <a:bodyPr/>
                    <a:lstStyle/>
                    <a:p>
                      <a:pPr algn="ctr" fontAlgn="ctr"/>
                      <a:r>
                        <a:rPr lang="en-US" sz="1400" b="0" i="0" u="none" strike="noStrike" dirty="0">
                          <a:solidFill>
                            <a:srgbClr val="000000"/>
                          </a:solidFill>
                          <a:effectLst/>
                          <a:latin typeface="Calibri" panose="020F0502020204030204" pitchFamily="34" charset="0"/>
                        </a:rPr>
                        <a:t>23</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1.29</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5.42</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3.89%</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5.12%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6.44%</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7.83%</a:t>
                      </a:r>
                    </a:p>
                  </a:txBody>
                  <a:tcPr marL="0" marR="0" marT="0" marB="0" anchor="ctr">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9.30%</a:t>
                      </a:r>
                    </a:p>
                  </a:txBody>
                  <a:tcPr marL="0" marR="0" marT="0" marB="0" anchor="ctr">
                    <a:solidFill>
                      <a:srgbClr val="EBFCCC"/>
                    </a:solidFill>
                  </a:tcPr>
                </a:tc>
                <a:extLst>
                  <a:ext uri="{0D108BD9-81ED-4DB2-BD59-A6C34878D82A}">
                    <a16:rowId xmlns:a16="http://schemas.microsoft.com/office/drawing/2014/main" val="4139180364"/>
                  </a:ext>
                </a:extLst>
              </a:tr>
              <a:tr h="402947">
                <a:tc>
                  <a:txBody>
                    <a:bodyPr/>
                    <a:lstStyle/>
                    <a:p>
                      <a:pPr algn="ctr" fontAlgn="ctr"/>
                      <a:r>
                        <a:rPr lang="en-US" sz="1400" b="0" i="0" u="none" strike="noStrike" dirty="0">
                          <a:solidFill>
                            <a:srgbClr val="000000"/>
                          </a:solidFill>
                          <a:effectLst/>
                          <a:latin typeface="Calibri" panose="020F0502020204030204" pitchFamily="34" charset="0"/>
                        </a:rPr>
                        <a:t>24</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1.30</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5.59</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3.21%</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4.36%</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5.59%</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6.88%</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8.26%</a:t>
                      </a:r>
                    </a:p>
                  </a:txBody>
                  <a:tcPr marL="0" marR="0" marT="0" marB="0" anchor="ctr">
                    <a:solidFill>
                      <a:srgbClr val="EBFCCC"/>
                    </a:solidFill>
                  </a:tcPr>
                </a:tc>
                <a:extLst>
                  <a:ext uri="{0D108BD9-81ED-4DB2-BD59-A6C34878D82A}">
                    <a16:rowId xmlns:a16="http://schemas.microsoft.com/office/drawing/2014/main" val="1455795527"/>
                  </a:ext>
                </a:extLst>
              </a:tr>
              <a:tr h="402947">
                <a:tc>
                  <a:txBody>
                    <a:bodyPr/>
                    <a:lstStyle/>
                    <a:p>
                      <a:pPr algn="ctr" fontAlgn="ctr"/>
                      <a:r>
                        <a:rPr lang="en-US" sz="1400" b="0" i="0" u="none" strike="noStrike" dirty="0">
                          <a:solidFill>
                            <a:srgbClr val="000000"/>
                          </a:solidFill>
                          <a:effectLst/>
                          <a:latin typeface="Calibri" panose="020F0502020204030204" pitchFamily="34" charset="0"/>
                        </a:rPr>
                        <a:t>25</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1.31</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5.76</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2.59%</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3.67%</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4.82%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6.03%</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7.31%</a:t>
                      </a:r>
                    </a:p>
                  </a:txBody>
                  <a:tcPr marL="0" marR="0" marT="0" marB="0" anchor="ctr">
                    <a:solidFill>
                      <a:srgbClr val="F9E1EC"/>
                    </a:solidFill>
                  </a:tcPr>
                </a:tc>
                <a:extLst>
                  <a:ext uri="{0D108BD9-81ED-4DB2-BD59-A6C34878D82A}">
                    <a16:rowId xmlns:a16="http://schemas.microsoft.com/office/drawing/2014/main" val="2404363628"/>
                  </a:ext>
                </a:extLst>
              </a:tr>
              <a:tr h="402947">
                <a:tc>
                  <a:txBody>
                    <a:bodyPr/>
                    <a:lstStyle/>
                    <a:p>
                      <a:pPr algn="ctr" fontAlgn="ctr"/>
                      <a:r>
                        <a:rPr lang="en-US" sz="1400" b="0" i="0" u="none" strike="noStrike" dirty="0">
                          <a:solidFill>
                            <a:srgbClr val="000000"/>
                          </a:solidFill>
                          <a:effectLst/>
                          <a:latin typeface="Calibri" panose="020F0502020204030204" pitchFamily="34" charset="0"/>
                        </a:rPr>
                        <a:t>26</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1.32</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5.94</a:t>
                      </a: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2.03%</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3.05%</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4.12%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5.25%</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6.45%</a:t>
                      </a:r>
                    </a:p>
                  </a:txBody>
                  <a:tcPr marL="0" marR="0" marT="0" marB="0" anchor="ctr">
                    <a:solidFill>
                      <a:srgbClr val="F9E1EC"/>
                    </a:solidFill>
                  </a:tcPr>
                </a:tc>
                <a:extLst>
                  <a:ext uri="{0D108BD9-81ED-4DB2-BD59-A6C34878D82A}">
                    <a16:rowId xmlns:a16="http://schemas.microsoft.com/office/drawing/2014/main" val="3992152732"/>
                  </a:ext>
                </a:extLst>
              </a:tr>
            </a:tbl>
          </a:graphicData>
        </a:graphic>
      </p:graphicFrame>
      <p:sp>
        <p:nvSpPr>
          <p:cNvPr id="3" name="TextBox 2">
            <a:extLst>
              <a:ext uri="{FF2B5EF4-FFF2-40B4-BE49-F238E27FC236}">
                <a16:creationId xmlns:a16="http://schemas.microsoft.com/office/drawing/2014/main" id="{72D46AB9-FCBF-4CEE-8E33-A7B63896B9A5}"/>
              </a:ext>
            </a:extLst>
          </p:cNvPr>
          <p:cNvSpPr txBox="1"/>
          <p:nvPr/>
        </p:nvSpPr>
        <p:spPr>
          <a:xfrm>
            <a:off x="162560" y="1625600"/>
            <a:ext cx="11836398" cy="276999"/>
          </a:xfrm>
          <a:prstGeom prst="rect">
            <a:avLst/>
          </a:prstGeom>
          <a:noFill/>
        </p:spPr>
        <p:txBody>
          <a:bodyPr wrap="square" lIns="0" tIns="0" rIns="0" bIns="0" rtlCol="0">
            <a:spAutoFit/>
          </a:bodyPr>
          <a:lstStyle/>
          <a:p>
            <a:pPr>
              <a:spcBef>
                <a:spcPts val="600"/>
              </a:spcBef>
              <a:buSzPct val="100000"/>
            </a:pPr>
            <a:r>
              <a:rPr lang="en-US" b="1" dirty="0">
                <a:solidFill>
                  <a:srgbClr val="313131"/>
                </a:solidFill>
              </a:rPr>
              <a:t>Scenario-1: Interest Rate on loan pre-COD – 8.5%; Refinanced ECB rate post COD: 6.5%</a:t>
            </a:r>
          </a:p>
        </p:txBody>
      </p:sp>
      <p:sp>
        <p:nvSpPr>
          <p:cNvPr id="6" name="TextBox 5">
            <a:extLst>
              <a:ext uri="{FF2B5EF4-FFF2-40B4-BE49-F238E27FC236}">
                <a16:creationId xmlns:a16="http://schemas.microsoft.com/office/drawing/2014/main" id="{4D889485-308A-4C70-9A6D-C655B8FE1E5C}"/>
              </a:ext>
            </a:extLst>
          </p:cNvPr>
          <p:cNvSpPr txBox="1"/>
          <p:nvPr/>
        </p:nvSpPr>
        <p:spPr>
          <a:xfrm>
            <a:off x="162560" y="5598160"/>
            <a:ext cx="11836398" cy="215444"/>
          </a:xfrm>
          <a:prstGeom prst="rect">
            <a:avLst/>
          </a:prstGeom>
          <a:noFill/>
        </p:spPr>
        <p:txBody>
          <a:bodyPr wrap="square" lIns="0" tIns="0" rIns="0" bIns="0" rtlCol="0">
            <a:spAutoFit/>
          </a:bodyPr>
          <a:lstStyle/>
          <a:p>
            <a:pPr>
              <a:spcBef>
                <a:spcPts val="600"/>
              </a:spcBef>
              <a:buSzPct val="100000"/>
            </a:pPr>
            <a:r>
              <a:rPr lang="en-US" sz="1400" dirty="0">
                <a:solidFill>
                  <a:srgbClr val="313131"/>
                </a:solidFill>
              </a:rPr>
              <a:t>Note: The above scenario analysis is based on preliminary study basis market inputs and is subject to change</a:t>
            </a:r>
          </a:p>
        </p:txBody>
      </p:sp>
    </p:spTree>
    <p:extLst>
      <p:ext uri="{BB962C8B-B14F-4D97-AF65-F5344CB8AC3E}">
        <p14:creationId xmlns:p14="http://schemas.microsoft.com/office/powerpoint/2010/main" val="37953053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Scenarios of Equity IRR for varying Project Cost and Tariff (2/3)</a:t>
            </a:r>
            <a:endParaRPr lang="en-US" sz="2400" dirty="0">
              <a:effectLst/>
              <a:latin typeface="Calibri" panose="020F0502020204030204" pitchFamily="34" charset="0"/>
              <a:ea typeface="Calibri" panose="020F0502020204030204" pitchFamily="34" charset="0"/>
            </a:endParaRPr>
          </a:p>
        </p:txBody>
      </p:sp>
      <p:sp>
        <p:nvSpPr>
          <p:cNvPr id="3" name="TextBox 2">
            <a:extLst>
              <a:ext uri="{FF2B5EF4-FFF2-40B4-BE49-F238E27FC236}">
                <a16:creationId xmlns:a16="http://schemas.microsoft.com/office/drawing/2014/main" id="{72D46AB9-FCBF-4CEE-8E33-A7B63896B9A5}"/>
              </a:ext>
            </a:extLst>
          </p:cNvPr>
          <p:cNvSpPr txBox="1"/>
          <p:nvPr/>
        </p:nvSpPr>
        <p:spPr>
          <a:xfrm>
            <a:off x="162560" y="1625600"/>
            <a:ext cx="11836398" cy="276999"/>
          </a:xfrm>
          <a:prstGeom prst="rect">
            <a:avLst/>
          </a:prstGeom>
          <a:noFill/>
        </p:spPr>
        <p:txBody>
          <a:bodyPr wrap="square" lIns="0" tIns="0" rIns="0" bIns="0" rtlCol="0">
            <a:spAutoFit/>
          </a:bodyPr>
          <a:lstStyle/>
          <a:p>
            <a:pPr>
              <a:spcBef>
                <a:spcPts val="600"/>
              </a:spcBef>
              <a:buSzPct val="100000"/>
            </a:pPr>
            <a:r>
              <a:rPr lang="en-US" b="1" dirty="0">
                <a:solidFill>
                  <a:srgbClr val="313131"/>
                </a:solidFill>
              </a:rPr>
              <a:t>Scenario-2: Interest Rate on loan pre-COD – 8.5%; Refinanced ECB rate post COD: 6.0%</a:t>
            </a:r>
          </a:p>
        </p:txBody>
      </p:sp>
      <p:sp>
        <p:nvSpPr>
          <p:cNvPr id="6" name="TextBox 5">
            <a:extLst>
              <a:ext uri="{FF2B5EF4-FFF2-40B4-BE49-F238E27FC236}">
                <a16:creationId xmlns:a16="http://schemas.microsoft.com/office/drawing/2014/main" id="{4D889485-308A-4C70-9A6D-C655B8FE1E5C}"/>
              </a:ext>
            </a:extLst>
          </p:cNvPr>
          <p:cNvSpPr txBox="1"/>
          <p:nvPr/>
        </p:nvSpPr>
        <p:spPr>
          <a:xfrm>
            <a:off x="162560" y="5598160"/>
            <a:ext cx="11836398" cy="215444"/>
          </a:xfrm>
          <a:prstGeom prst="rect">
            <a:avLst/>
          </a:prstGeom>
          <a:noFill/>
        </p:spPr>
        <p:txBody>
          <a:bodyPr wrap="square" lIns="0" tIns="0" rIns="0" bIns="0" rtlCol="0">
            <a:spAutoFit/>
          </a:bodyPr>
          <a:lstStyle/>
          <a:p>
            <a:pPr>
              <a:spcBef>
                <a:spcPts val="600"/>
              </a:spcBef>
              <a:buSzPct val="100000"/>
            </a:pPr>
            <a:r>
              <a:rPr lang="en-US" sz="1400" dirty="0">
                <a:solidFill>
                  <a:srgbClr val="313131"/>
                </a:solidFill>
              </a:rPr>
              <a:t>Note: The above scenario analysis is based on preliminary study basis market inputs and is subject to change</a:t>
            </a:r>
          </a:p>
        </p:txBody>
      </p:sp>
      <p:graphicFrame>
        <p:nvGraphicFramePr>
          <p:cNvPr id="7" name="Table 6">
            <a:extLst>
              <a:ext uri="{FF2B5EF4-FFF2-40B4-BE49-F238E27FC236}">
                <a16:creationId xmlns:a16="http://schemas.microsoft.com/office/drawing/2014/main" id="{B941B19A-8DDC-4344-9EC1-BAEE2829B8C2}"/>
              </a:ext>
            </a:extLst>
          </p:cNvPr>
          <p:cNvGraphicFramePr>
            <a:graphicFrameLocks noGrp="1"/>
          </p:cNvGraphicFramePr>
          <p:nvPr>
            <p:extLst>
              <p:ext uri="{D42A27DB-BD31-4B8C-83A1-F6EECF244321}">
                <p14:modId xmlns:p14="http://schemas.microsoft.com/office/powerpoint/2010/main" val="90515844"/>
              </p:ext>
            </p:extLst>
          </p:nvPr>
        </p:nvGraphicFramePr>
        <p:xfrm>
          <a:off x="162560" y="1943506"/>
          <a:ext cx="11527792" cy="3626523"/>
        </p:xfrm>
        <a:graphic>
          <a:graphicData uri="http://schemas.openxmlformats.org/drawingml/2006/table">
            <a:tbl>
              <a:tblPr firstRow="1">
                <a:tableStyleId>{93296810-A885-4BE3-A3E7-6D5BEEA58F35}</a:tableStyleId>
              </a:tblPr>
              <a:tblGrid>
                <a:gridCol w="1657993">
                  <a:extLst>
                    <a:ext uri="{9D8B030D-6E8A-4147-A177-3AD203B41FA5}">
                      <a16:colId xmlns:a16="http://schemas.microsoft.com/office/drawing/2014/main" val="2553532155"/>
                    </a:ext>
                  </a:extLst>
                </a:gridCol>
                <a:gridCol w="1657993">
                  <a:extLst>
                    <a:ext uri="{9D8B030D-6E8A-4147-A177-3AD203B41FA5}">
                      <a16:colId xmlns:a16="http://schemas.microsoft.com/office/drawing/2014/main" val="4182503990"/>
                    </a:ext>
                  </a:extLst>
                </a:gridCol>
                <a:gridCol w="1892455">
                  <a:extLst>
                    <a:ext uri="{9D8B030D-6E8A-4147-A177-3AD203B41FA5}">
                      <a16:colId xmlns:a16="http://schemas.microsoft.com/office/drawing/2014/main" val="761876382"/>
                    </a:ext>
                  </a:extLst>
                </a:gridCol>
                <a:gridCol w="1825466">
                  <a:extLst>
                    <a:ext uri="{9D8B030D-6E8A-4147-A177-3AD203B41FA5}">
                      <a16:colId xmlns:a16="http://schemas.microsoft.com/office/drawing/2014/main" val="3346733042"/>
                    </a:ext>
                  </a:extLst>
                </a:gridCol>
                <a:gridCol w="898777">
                  <a:extLst>
                    <a:ext uri="{9D8B030D-6E8A-4147-A177-3AD203B41FA5}">
                      <a16:colId xmlns:a16="http://schemas.microsoft.com/office/drawing/2014/main" val="3801580730"/>
                    </a:ext>
                  </a:extLst>
                </a:gridCol>
                <a:gridCol w="898777">
                  <a:extLst>
                    <a:ext uri="{9D8B030D-6E8A-4147-A177-3AD203B41FA5}">
                      <a16:colId xmlns:a16="http://schemas.microsoft.com/office/drawing/2014/main" val="1943437216"/>
                    </a:ext>
                  </a:extLst>
                </a:gridCol>
                <a:gridCol w="898777">
                  <a:extLst>
                    <a:ext uri="{9D8B030D-6E8A-4147-A177-3AD203B41FA5}">
                      <a16:colId xmlns:a16="http://schemas.microsoft.com/office/drawing/2014/main" val="1182487536"/>
                    </a:ext>
                  </a:extLst>
                </a:gridCol>
                <a:gridCol w="898777">
                  <a:extLst>
                    <a:ext uri="{9D8B030D-6E8A-4147-A177-3AD203B41FA5}">
                      <a16:colId xmlns:a16="http://schemas.microsoft.com/office/drawing/2014/main" val="1439536141"/>
                    </a:ext>
                  </a:extLst>
                </a:gridCol>
                <a:gridCol w="898777">
                  <a:extLst>
                    <a:ext uri="{9D8B030D-6E8A-4147-A177-3AD203B41FA5}">
                      <a16:colId xmlns:a16="http://schemas.microsoft.com/office/drawing/2014/main" val="469060391"/>
                    </a:ext>
                  </a:extLst>
                </a:gridCol>
              </a:tblGrid>
              <a:tr h="643516">
                <a:tc rowSpan="2">
                  <a:txBody>
                    <a:bodyPr/>
                    <a:lstStyle/>
                    <a:p>
                      <a:pPr algn="ctr" fontAlgn="ctr"/>
                      <a:r>
                        <a:rPr lang="en-US" sz="1400" u="none" strike="noStrike" dirty="0">
                          <a:effectLst/>
                        </a:rPr>
                        <a:t>Module Price (Rs/Wp) (excl. GST)</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BOS Price (Rs Cr/MWp) (incl GST)</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Capex - hard cost excl. land, solar park charges (Rs Cr/MW)</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Upfront Charges for Land and Solar Park (Rs Cr/MW)</a:t>
                      </a:r>
                      <a:endParaRPr lang="en-US" sz="1400" b="1" i="0" u="none" strike="noStrike" dirty="0">
                        <a:solidFill>
                          <a:srgbClr val="000000"/>
                        </a:solidFill>
                        <a:effectLst/>
                        <a:latin typeface="Calibri" panose="020F0502020204030204" pitchFamily="34" charset="0"/>
                      </a:endParaRPr>
                    </a:p>
                  </a:txBody>
                  <a:tcPr marL="0" marR="0" marT="0" marB="0" anchor="ctr">
                    <a:lnR w="12700" cap="flat" cmpd="sng" algn="ctr">
                      <a:solidFill>
                        <a:schemeClr val="bg1"/>
                      </a:solidFill>
                      <a:prstDash val="solid"/>
                      <a:round/>
                      <a:headEnd type="none" w="med" len="med"/>
                      <a:tailEnd type="none" w="med" len="med"/>
                    </a:lnR>
                    <a:solidFill>
                      <a:srgbClr val="009A44"/>
                    </a:solidFill>
                  </a:tcPr>
                </a:tc>
                <a:tc gridSpan="5">
                  <a:txBody>
                    <a:bodyPr/>
                    <a:lstStyle/>
                    <a:p>
                      <a:pPr algn="ctr" fontAlgn="ctr"/>
                      <a:r>
                        <a:rPr lang="en-US" sz="1400" u="none" strike="noStrike">
                          <a:effectLst/>
                        </a:rPr>
                        <a:t>Tariff (Rs/kWh)</a:t>
                      </a:r>
                      <a:endParaRPr lang="en-US" sz="1400" b="1" i="0" u="none" strike="noStrike">
                        <a:solidFill>
                          <a:srgbClr val="000000"/>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009A4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756274"/>
                  </a:ext>
                </a:extLst>
              </a:tr>
              <a:tr h="5653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400" b="1" u="none" strike="noStrike" dirty="0">
                          <a:solidFill>
                            <a:schemeClr val="bg1"/>
                          </a:solidFill>
                          <a:effectLst/>
                        </a:rPr>
                        <a:t>2.50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2.60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2.70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2.80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2.90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extLst>
                  <a:ext uri="{0D108BD9-81ED-4DB2-BD59-A6C34878D82A}">
                    <a16:rowId xmlns:a16="http://schemas.microsoft.com/office/drawing/2014/main" val="1586637805"/>
                  </a:ext>
                </a:extLst>
              </a:tr>
              <a:tr h="402947">
                <a:tc>
                  <a:txBody>
                    <a:bodyPr/>
                    <a:lstStyle/>
                    <a:p>
                      <a:pPr algn="ctr" fontAlgn="ctr"/>
                      <a:r>
                        <a:rPr lang="en-US" sz="1400" u="none" strike="noStrike" dirty="0">
                          <a:effectLst/>
                        </a:rPr>
                        <a:t>21</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u="none" strike="noStrike" dirty="0">
                          <a:effectLst/>
                        </a:rPr>
                        <a:t>1.27</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5.08</a:t>
                      </a:r>
                    </a:p>
                  </a:txBody>
                  <a:tcPr marL="0" marR="0" marT="0" marB="0" anchor="ctr"/>
                </a:tc>
                <a:tc>
                  <a:txBody>
                    <a:bodyPr/>
                    <a:lstStyle/>
                    <a:p>
                      <a:pPr algn="ctr" fontAlgn="ctr"/>
                      <a:r>
                        <a:rPr lang="en-US" sz="1400" u="none" strike="noStrike" dirty="0">
                          <a:effectLst/>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6.25%</a:t>
                      </a:r>
                    </a:p>
                  </a:txBody>
                  <a:tcPr marL="0" marR="0" marT="0" marB="0" anchor="ctr">
                    <a:lnT w="38100" cap="flat" cmpd="sng" algn="ctr">
                      <a:solidFill>
                        <a:schemeClr val="bg1"/>
                      </a:solidFill>
                      <a:prstDash val="solid"/>
                      <a:round/>
                      <a:headEnd type="none" w="med" len="med"/>
                      <a:tailEnd type="none" w="med" len="med"/>
                    </a:lnT>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7.77%</a:t>
                      </a:r>
                    </a:p>
                  </a:txBody>
                  <a:tcPr marL="0" marR="0" marT="0" marB="0" anchor="ctr">
                    <a:lnT w="38100" cap="flat" cmpd="sng" algn="ctr">
                      <a:solidFill>
                        <a:schemeClr val="bg1"/>
                      </a:solidFill>
                      <a:prstDash val="solid"/>
                      <a:round/>
                      <a:headEnd type="none" w="med" len="med"/>
                      <a:tailEnd type="none" w="med" len="med"/>
                    </a:lnT>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9.39%</a:t>
                      </a:r>
                    </a:p>
                  </a:txBody>
                  <a:tcPr marL="0" marR="0" marT="0" marB="0" anchor="ctr">
                    <a:lnT w="38100" cap="flat" cmpd="sng" algn="ctr">
                      <a:solidFill>
                        <a:schemeClr val="bg1"/>
                      </a:solidFill>
                      <a:prstDash val="solid"/>
                      <a:round/>
                      <a:headEnd type="none" w="med" len="med"/>
                      <a:tailEnd type="none" w="med" len="med"/>
                    </a:lnT>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11.10%</a:t>
                      </a:r>
                    </a:p>
                  </a:txBody>
                  <a:tcPr marL="0" marR="0" marT="0" marB="0" anchor="ctr">
                    <a:lnT w="38100" cap="flat" cmpd="sng" algn="ctr">
                      <a:solidFill>
                        <a:schemeClr val="bg1"/>
                      </a:solidFill>
                      <a:prstDash val="solid"/>
                      <a:round/>
                      <a:headEnd type="none" w="med" len="med"/>
                      <a:tailEnd type="none" w="med" len="med"/>
                    </a:lnT>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12.92%</a:t>
                      </a:r>
                    </a:p>
                  </a:txBody>
                  <a:tcPr marL="0" marR="0" marT="0" marB="0" anchor="ctr">
                    <a:lnT w="38100" cap="flat" cmpd="sng" algn="ctr">
                      <a:solidFill>
                        <a:schemeClr val="bg1"/>
                      </a:solidFill>
                      <a:prstDash val="solid"/>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4132371854"/>
                  </a:ext>
                </a:extLst>
              </a:tr>
              <a:tr h="402947">
                <a:tc>
                  <a:txBody>
                    <a:bodyPr/>
                    <a:lstStyle/>
                    <a:p>
                      <a:pPr algn="ctr" fontAlgn="ctr"/>
                      <a:r>
                        <a:rPr lang="en-US" sz="1400" b="0" i="0" u="none" strike="noStrike" dirty="0">
                          <a:solidFill>
                            <a:srgbClr val="000000"/>
                          </a:solidFill>
                          <a:effectLst/>
                          <a:latin typeface="Calibri" panose="020F0502020204030204" pitchFamily="34" charset="0"/>
                        </a:rPr>
                        <a:t>22</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1.28</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5.25</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5.36%</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6.77%</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8.26%</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9.86%</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11.54%</a:t>
                      </a:r>
                    </a:p>
                  </a:txBody>
                  <a:tcPr marL="0" marR="0" marT="0" marB="0" anchor="ctr">
                    <a:solidFill>
                      <a:schemeClr val="accent1">
                        <a:lumMod val="20000"/>
                        <a:lumOff val="80000"/>
                      </a:schemeClr>
                    </a:solidFill>
                  </a:tcPr>
                </a:tc>
                <a:extLst>
                  <a:ext uri="{0D108BD9-81ED-4DB2-BD59-A6C34878D82A}">
                    <a16:rowId xmlns:a16="http://schemas.microsoft.com/office/drawing/2014/main" val="3676467176"/>
                  </a:ext>
                </a:extLst>
              </a:tr>
              <a:tr h="402947">
                <a:tc>
                  <a:txBody>
                    <a:bodyPr/>
                    <a:lstStyle/>
                    <a:p>
                      <a:pPr algn="ctr" fontAlgn="ctr"/>
                      <a:r>
                        <a:rPr lang="en-US" sz="1400" b="0" i="0" u="none" strike="noStrike" dirty="0">
                          <a:solidFill>
                            <a:srgbClr val="000000"/>
                          </a:solidFill>
                          <a:effectLst/>
                          <a:latin typeface="Calibri" panose="020F0502020204030204" pitchFamily="34" charset="0"/>
                        </a:rPr>
                        <a:t>23</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1.29</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5.42</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4.55%</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5.87%</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7.26%</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8.74%</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10.30%</a:t>
                      </a:r>
                    </a:p>
                  </a:txBody>
                  <a:tcPr marL="0" marR="0" marT="0" marB="0" anchor="ctr">
                    <a:solidFill>
                      <a:srgbClr val="EBFCCC"/>
                    </a:solidFill>
                  </a:tcPr>
                </a:tc>
                <a:extLst>
                  <a:ext uri="{0D108BD9-81ED-4DB2-BD59-A6C34878D82A}">
                    <a16:rowId xmlns:a16="http://schemas.microsoft.com/office/drawing/2014/main" val="4139180364"/>
                  </a:ext>
                </a:extLst>
              </a:tr>
              <a:tr h="402947">
                <a:tc>
                  <a:txBody>
                    <a:bodyPr/>
                    <a:lstStyle/>
                    <a:p>
                      <a:pPr algn="ctr" fontAlgn="ctr"/>
                      <a:r>
                        <a:rPr lang="en-US" sz="1400" b="0" i="0" u="none" strike="noStrike" dirty="0">
                          <a:solidFill>
                            <a:srgbClr val="000000"/>
                          </a:solidFill>
                          <a:effectLst/>
                          <a:latin typeface="Calibri" panose="020F0502020204030204" pitchFamily="34" charset="0"/>
                        </a:rPr>
                        <a:t>24</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1.30</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5.59</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3.83%</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5.05%</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6.35%</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7.73%</a:t>
                      </a:r>
                    </a:p>
                  </a:txBody>
                  <a:tcPr marL="0" marR="0" marT="0" marB="0" anchor="ctr">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9.19%</a:t>
                      </a:r>
                    </a:p>
                  </a:txBody>
                  <a:tcPr marL="0" marR="0" marT="0" marB="0" anchor="ctr">
                    <a:solidFill>
                      <a:srgbClr val="EBFCCC"/>
                    </a:solidFill>
                  </a:tcPr>
                </a:tc>
                <a:extLst>
                  <a:ext uri="{0D108BD9-81ED-4DB2-BD59-A6C34878D82A}">
                    <a16:rowId xmlns:a16="http://schemas.microsoft.com/office/drawing/2014/main" val="1455795527"/>
                  </a:ext>
                </a:extLst>
              </a:tr>
              <a:tr h="402947">
                <a:tc>
                  <a:txBody>
                    <a:bodyPr/>
                    <a:lstStyle/>
                    <a:p>
                      <a:pPr algn="ctr" fontAlgn="ctr"/>
                      <a:r>
                        <a:rPr lang="en-US" sz="1400" b="0" i="0" u="none" strike="noStrike" dirty="0">
                          <a:solidFill>
                            <a:srgbClr val="000000"/>
                          </a:solidFill>
                          <a:effectLst/>
                          <a:latin typeface="Calibri" panose="020F0502020204030204" pitchFamily="34" charset="0"/>
                        </a:rPr>
                        <a:t>25</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1.31</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5.76</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3.17%</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4.32%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5.53%</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6.82%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8.18%</a:t>
                      </a:r>
                    </a:p>
                  </a:txBody>
                  <a:tcPr marL="0" marR="0" marT="0" marB="0" anchor="ctr">
                    <a:solidFill>
                      <a:srgbClr val="EBFCCC"/>
                    </a:solidFill>
                  </a:tcPr>
                </a:tc>
                <a:extLst>
                  <a:ext uri="{0D108BD9-81ED-4DB2-BD59-A6C34878D82A}">
                    <a16:rowId xmlns:a16="http://schemas.microsoft.com/office/drawing/2014/main" val="2404363628"/>
                  </a:ext>
                </a:extLst>
              </a:tr>
              <a:tr h="402947">
                <a:tc>
                  <a:txBody>
                    <a:bodyPr/>
                    <a:lstStyle/>
                    <a:p>
                      <a:pPr algn="ctr" fontAlgn="ctr"/>
                      <a:r>
                        <a:rPr lang="en-US" sz="1400" b="0" i="0" u="none" strike="noStrike" dirty="0">
                          <a:solidFill>
                            <a:srgbClr val="000000"/>
                          </a:solidFill>
                          <a:effectLst/>
                          <a:latin typeface="Calibri" panose="020F0502020204030204" pitchFamily="34" charset="0"/>
                        </a:rPr>
                        <a:t>26</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1.32</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5.94</a:t>
                      </a: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2.57%</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3.65%</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4.79%</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6.00%</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7.27%</a:t>
                      </a:r>
                    </a:p>
                  </a:txBody>
                  <a:tcPr marL="0" marR="0" marT="0" marB="0" anchor="ctr">
                    <a:solidFill>
                      <a:srgbClr val="F9E1EC"/>
                    </a:solidFill>
                  </a:tcPr>
                </a:tc>
                <a:extLst>
                  <a:ext uri="{0D108BD9-81ED-4DB2-BD59-A6C34878D82A}">
                    <a16:rowId xmlns:a16="http://schemas.microsoft.com/office/drawing/2014/main" val="3992152732"/>
                  </a:ext>
                </a:extLst>
              </a:tr>
            </a:tbl>
          </a:graphicData>
        </a:graphic>
      </p:graphicFrame>
    </p:spTree>
    <p:extLst>
      <p:ext uri="{BB962C8B-B14F-4D97-AF65-F5344CB8AC3E}">
        <p14:creationId xmlns:p14="http://schemas.microsoft.com/office/powerpoint/2010/main" val="160391688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Scenarios of Equity IRR for varying Project Cost and Tariff (3/3)</a:t>
            </a:r>
            <a:endParaRPr lang="en-US" sz="2400" dirty="0">
              <a:effectLst/>
              <a:latin typeface="Calibri" panose="020F0502020204030204" pitchFamily="34" charset="0"/>
              <a:ea typeface="Calibri" panose="020F0502020204030204" pitchFamily="34" charset="0"/>
            </a:endParaRPr>
          </a:p>
        </p:txBody>
      </p:sp>
      <p:sp>
        <p:nvSpPr>
          <p:cNvPr id="3" name="TextBox 2">
            <a:extLst>
              <a:ext uri="{FF2B5EF4-FFF2-40B4-BE49-F238E27FC236}">
                <a16:creationId xmlns:a16="http://schemas.microsoft.com/office/drawing/2014/main" id="{72D46AB9-FCBF-4CEE-8E33-A7B63896B9A5}"/>
              </a:ext>
            </a:extLst>
          </p:cNvPr>
          <p:cNvSpPr txBox="1"/>
          <p:nvPr/>
        </p:nvSpPr>
        <p:spPr>
          <a:xfrm>
            <a:off x="162560" y="1625600"/>
            <a:ext cx="11836398" cy="276999"/>
          </a:xfrm>
          <a:prstGeom prst="rect">
            <a:avLst/>
          </a:prstGeom>
          <a:noFill/>
        </p:spPr>
        <p:txBody>
          <a:bodyPr wrap="square" lIns="0" tIns="0" rIns="0" bIns="0" rtlCol="0">
            <a:spAutoFit/>
          </a:bodyPr>
          <a:lstStyle/>
          <a:p>
            <a:pPr>
              <a:spcBef>
                <a:spcPts val="600"/>
              </a:spcBef>
              <a:buSzPct val="100000"/>
            </a:pPr>
            <a:r>
              <a:rPr lang="en-US" b="1" dirty="0">
                <a:solidFill>
                  <a:srgbClr val="313131"/>
                </a:solidFill>
              </a:rPr>
              <a:t>Scenario-3: Interest Rate on loan pre-COD – 8.5%; Refinanced ECB rate post COD: 5.5%</a:t>
            </a:r>
          </a:p>
        </p:txBody>
      </p:sp>
      <p:sp>
        <p:nvSpPr>
          <p:cNvPr id="6" name="TextBox 5">
            <a:extLst>
              <a:ext uri="{FF2B5EF4-FFF2-40B4-BE49-F238E27FC236}">
                <a16:creationId xmlns:a16="http://schemas.microsoft.com/office/drawing/2014/main" id="{4D889485-308A-4C70-9A6D-C655B8FE1E5C}"/>
              </a:ext>
            </a:extLst>
          </p:cNvPr>
          <p:cNvSpPr txBox="1"/>
          <p:nvPr/>
        </p:nvSpPr>
        <p:spPr>
          <a:xfrm>
            <a:off x="162560" y="5598160"/>
            <a:ext cx="11836398" cy="215444"/>
          </a:xfrm>
          <a:prstGeom prst="rect">
            <a:avLst/>
          </a:prstGeom>
          <a:noFill/>
        </p:spPr>
        <p:txBody>
          <a:bodyPr wrap="square" lIns="0" tIns="0" rIns="0" bIns="0" rtlCol="0">
            <a:spAutoFit/>
          </a:bodyPr>
          <a:lstStyle/>
          <a:p>
            <a:pPr>
              <a:spcBef>
                <a:spcPts val="600"/>
              </a:spcBef>
              <a:buSzPct val="100000"/>
            </a:pPr>
            <a:r>
              <a:rPr lang="en-US" sz="1400" dirty="0">
                <a:solidFill>
                  <a:srgbClr val="313131"/>
                </a:solidFill>
              </a:rPr>
              <a:t>Note: The above scenario analysis is based on preliminary study basis market inputs and is subject to change</a:t>
            </a:r>
          </a:p>
        </p:txBody>
      </p:sp>
      <p:graphicFrame>
        <p:nvGraphicFramePr>
          <p:cNvPr id="7" name="Table 6">
            <a:extLst>
              <a:ext uri="{FF2B5EF4-FFF2-40B4-BE49-F238E27FC236}">
                <a16:creationId xmlns:a16="http://schemas.microsoft.com/office/drawing/2014/main" id="{404384FF-B2FD-40BB-BC63-34613984675E}"/>
              </a:ext>
            </a:extLst>
          </p:cNvPr>
          <p:cNvGraphicFramePr>
            <a:graphicFrameLocks noGrp="1"/>
          </p:cNvGraphicFramePr>
          <p:nvPr>
            <p:extLst>
              <p:ext uri="{D42A27DB-BD31-4B8C-83A1-F6EECF244321}">
                <p14:modId xmlns:p14="http://schemas.microsoft.com/office/powerpoint/2010/main" val="1959614663"/>
              </p:ext>
            </p:extLst>
          </p:nvPr>
        </p:nvGraphicFramePr>
        <p:xfrm>
          <a:off x="162560" y="1943506"/>
          <a:ext cx="11527792" cy="3626523"/>
        </p:xfrm>
        <a:graphic>
          <a:graphicData uri="http://schemas.openxmlformats.org/drawingml/2006/table">
            <a:tbl>
              <a:tblPr firstRow="1">
                <a:tableStyleId>{93296810-A885-4BE3-A3E7-6D5BEEA58F35}</a:tableStyleId>
              </a:tblPr>
              <a:tblGrid>
                <a:gridCol w="1657993">
                  <a:extLst>
                    <a:ext uri="{9D8B030D-6E8A-4147-A177-3AD203B41FA5}">
                      <a16:colId xmlns:a16="http://schemas.microsoft.com/office/drawing/2014/main" val="2553532155"/>
                    </a:ext>
                  </a:extLst>
                </a:gridCol>
                <a:gridCol w="1657993">
                  <a:extLst>
                    <a:ext uri="{9D8B030D-6E8A-4147-A177-3AD203B41FA5}">
                      <a16:colId xmlns:a16="http://schemas.microsoft.com/office/drawing/2014/main" val="4182503990"/>
                    </a:ext>
                  </a:extLst>
                </a:gridCol>
                <a:gridCol w="1892455">
                  <a:extLst>
                    <a:ext uri="{9D8B030D-6E8A-4147-A177-3AD203B41FA5}">
                      <a16:colId xmlns:a16="http://schemas.microsoft.com/office/drawing/2014/main" val="761876382"/>
                    </a:ext>
                  </a:extLst>
                </a:gridCol>
                <a:gridCol w="1825466">
                  <a:extLst>
                    <a:ext uri="{9D8B030D-6E8A-4147-A177-3AD203B41FA5}">
                      <a16:colId xmlns:a16="http://schemas.microsoft.com/office/drawing/2014/main" val="3346733042"/>
                    </a:ext>
                  </a:extLst>
                </a:gridCol>
                <a:gridCol w="898777">
                  <a:extLst>
                    <a:ext uri="{9D8B030D-6E8A-4147-A177-3AD203B41FA5}">
                      <a16:colId xmlns:a16="http://schemas.microsoft.com/office/drawing/2014/main" val="3801580730"/>
                    </a:ext>
                  </a:extLst>
                </a:gridCol>
                <a:gridCol w="898777">
                  <a:extLst>
                    <a:ext uri="{9D8B030D-6E8A-4147-A177-3AD203B41FA5}">
                      <a16:colId xmlns:a16="http://schemas.microsoft.com/office/drawing/2014/main" val="1943437216"/>
                    </a:ext>
                  </a:extLst>
                </a:gridCol>
                <a:gridCol w="898777">
                  <a:extLst>
                    <a:ext uri="{9D8B030D-6E8A-4147-A177-3AD203B41FA5}">
                      <a16:colId xmlns:a16="http://schemas.microsoft.com/office/drawing/2014/main" val="1182487536"/>
                    </a:ext>
                  </a:extLst>
                </a:gridCol>
                <a:gridCol w="898777">
                  <a:extLst>
                    <a:ext uri="{9D8B030D-6E8A-4147-A177-3AD203B41FA5}">
                      <a16:colId xmlns:a16="http://schemas.microsoft.com/office/drawing/2014/main" val="1439536141"/>
                    </a:ext>
                  </a:extLst>
                </a:gridCol>
                <a:gridCol w="898777">
                  <a:extLst>
                    <a:ext uri="{9D8B030D-6E8A-4147-A177-3AD203B41FA5}">
                      <a16:colId xmlns:a16="http://schemas.microsoft.com/office/drawing/2014/main" val="469060391"/>
                    </a:ext>
                  </a:extLst>
                </a:gridCol>
              </a:tblGrid>
              <a:tr h="643516">
                <a:tc rowSpan="2">
                  <a:txBody>
                    <a:bodyPr/>
                    <a:lstStyle/>
                    <a:p>
                      <a:pPr algn="ctr" fontAlgn="ctr"/>
                      <a:r>
                        <a:rPr lang="en-US" sz="1400" u="none" strike="noStrike" dirty="0">
                          <a:effectLst/>
                        </a:rPr>
                        <a:t>Module Price (Rs/Wp) (excl. GST)</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BOS Price (Rs Cr/MWp) (incl GST)</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Capex - hard cost excl. land, solar park charges (Rs Cr/MW)</a:t>
                      </a:r>
                      <a:endParaRPr lang="en-US" sz="1400" b="1" i="0" u="none" strike="noStrike" dirty="0">
                        <a:solidFill>
                          <a:srgbClr val="000000"/>
                        </a:solidFill>
                        <a:effectLst/>
                        <a:latin typeface="Calibri" panose="020F0502020204030204" pitchFamily="34" charset="0"/>
                      </a:endParaRPr>
                    </a:p>
                  </a:txBody>
                  <a:tcPr marL="0" marR="0" marT="0" marB="0" anchor="ctr">
                    <a:solidFill>
                      <a:srgbClr val="009A44"/>
                    </a:solidFill>
                  </a:tcPr>
                </a:tc>
                <a:tc rowSpan="2">
                  <a:txBody>
                    <a:bodyPr/>
                    <a:lstStyle/>
                    <a:p>
                      <a:pPr algn="ctr" fontAlgn="ctr"/>
                      <a:r>
                        <a:rPr lang="en-US" sz="1400" u="none" strike="noStrike" dirty="0">
                          <a:effectLst/>
                        </a:rPr>
                        <a:t>Upfront Charges for Land and Solar Park (Rs Cr/MW)</a:t>
                      </a:r>
                      <a:endParaRPr lang="en-US" sz="1400" b="1" i="0" u="none" strike="noStrike" dirty="0">
                        <a:solidFill>
                          <a:srgbClr val="000000"/>
                        </a:solidFill>
                        <a:effectLst/>
                        <a:latin typeface="Calibri" panose="020F0502020204030204" pitchFamily="34" charset="0"/>
                      </a:endParaRPr>
                    </a:p>
                  </a:txBody>
                  <a:tcPr marL="0" marR="0" marT="0" marB="0" anchor="ctr">
                    <a:lnR w="12700" cap="flat" cmpd="sng" algn="ctr">
                      <a:solidFill>
                        <a:schemeClr val="bg1"/>
                      </a:solidFill>
                      <a:prstDash val="solid"/>
                      <a:round/>
                      <a:headEnd type="none" w="med" len="med"/>
                      <a:tailEnd type="none" w="med" len="med"/>
                    </a:lnR>
                    <a:solidFill>
                      <a:srgbClr val="009A44"/>
                    </a:solidFill>
                  </a:tcPr>
                </a:tc>
                <a:tc gridSpan="5">
                  <a:txBody>
                    <a:bodyPr/>
                    <a:lstStyle/>
                    <a:p>
                      <a:pPr algn="ctr" fontAlgn="ctr"/>
                      <a:r>
                        <a:rPr lang="en-US" sz="1400" u="none" strike="noStrike">
                          <a:effectLst/>
                        </a:rPr>
                        <a:t>Tariff (Rs/kWh)</a:t>
                      </a:r>
                      <a:endParaRPr lang="en-US" sz="1400" b="1" i="0" u="none" strike="noStrike">
                        <a:solidFill>
                          <a:srgbClr val="000000"/>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009A4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756274"/>
                  </a:ext>
                </a:extLst>
              </a:tr>
              <a:tr h="5653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400" b="1" u="none" strike="noStrike" dirty="0">
                          <a:solidFill>
                            <a:schemeClr val="bg1"/>
                          </a:solidFill>
                          <a:effectLst/>
                        </a:rPr>
                        <a:t>2.50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2.60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2.70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2.80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tc>
                  <a:txBody>
                    <a:bodyPr/>
                    <a:lstStyle/>
                    <a:p>
                      <a:pPr algn="ctr" fontAlgn="ctr"/>
                      <a:r>
                        <a:rPr lang="en-US" sz="1400" b="1" u="none" strike="noStrike" dirty="0">
                          <a:solidFill>
                            <a:schemeClr val="bg1"/>
                          </a:solidFill>
                          <a:effectLst/>
                        </a:rPr>
                        <a:t>2.90</a:t>
                      </a:r>
                      <a:endParaRPr lang="en-US" sz="1400" b="1" i="0" u="none" strike="noStrike" dirty="0">
                        <a:solidFill>
                          <a:schemeClr val="bg1"/>
                        </a:solidFill>
                        <a:effectLst/>
                        <a:latin typeface="Calibri" panose="020F0502020204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9A44"/>
                    </a:solidFill>
                  </a:tcPr>
                </a:tc>
                <a:extLst>
                  <a:ext uri="{0D108BD9-81ED-4DB2-BD59-A6C34878D82A}">
                    <a16:rowId xmlns:a16="http://schemas.microsoft.com/office/drawing/2014/main" val="1586637805"/>
                  </a:ext>
                </a:extLst>
              </a:tr>
              <a:tr h="402947">
                <a:tc>
                  <a:txBody>
                    <a:bodyPr/>
                    <a:lstStyle/>
                    <a:p>
                      <a:pPr algn="ctr" fontAlgn="ctr"/>
                      <a:r>
                        <a:rPr lang="en-US" sz="1400" u="none" strike="noStrike" dirty="0">
                          <a:effectLst/>
                        </a:rPr>
                        <a:t>21</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u="none" strike="noStrike" dirty="0">
                          <a:effectLst/>
                        </a:rPr>
                        <a:t>1.27</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5.08</a:t>
                      </a:r>
                    </a:p>
                  </a:txBody>
                  <a:tcPr marL="0" marR="0" marT="0" marB="0" anchor="ctr"/>
                </a:tc>
                <a:tc>
                  <a:txBody>
                    <a:bodyPr/>
                    <a:lstStyle/>
                    <a:p>
                      <a:pPr algn="ctr" fontAlgn="ctr"/>
                      <a:r>
                        <a:rPr lang="en-US" sz="1400" u="none" strike="noStrike" dirty="0">
                          <a:effectLst/>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7.09%</a:t>
                      </a:r>
                    </a:p>
                  </a:txBody>
                  <a:tcPr marL="0" marR="0" marT="0" marB="0" anchor="ctr">
                    <a:lnT w="38100" cap="flat" cmpd="sng" algn="ctr">
                      <a:solidFill>
                        <a:schemeClr val="bg1"/>
                      </a:solidFill>
                      <a:prstDash val="solid"/>
                      <a:round/>
                      <a:headEnd type="none" w="med" len="med"/>
                      <a:tailEnd type="none" w="med" len="med"/>
                    </a:lnT>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8.71%</a:t>
                      </a:r>
                    </a:p>
                  </a:txBody>
                  <a:tcPr marL="0" marR="0" marT="0" marB="0" anchor="ctr">
                    <a:lnT w="38100" cap="flat" cmpd="sng" algn="ctr">
                      <a:solidFill>
                        <a:schemeClr val="bg1"/>
                      </a:solidFill>
                      <a:prstDash val="solid"/>
                      <a:round/>
                      <a:headEnd type="none" w="med" len="med"/>
                      <a:tailEnd type="none" w="med" len="med"/>
                    </a:lnT>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10.42%</a:t>
                      </a:r>
                    </a:p>
                  </a:txBody>
                  <a:tcPr marL="0" marR="0" marT="0" marB="0" anchor="ctr">
                    <a:lnT w="38100" cap="flat" cmpd="sng" algn="ctr">
                      <a:solidFill>
                        <a:schemeClr val="bg1"/>
                      </a:solidFill>
                      <a:prstDash val="solid"/>
                      <a:round/>
                      <a:headEnd type="none" w="med" len="med"/>
                      <a:tailEnd type="none" w="med" len="med"/>
                    </a:lnT>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12.24%</a:t>
                      </a:r>
                    </a:p>
                  </a:txBody>
                  <a:tcPr marL="0" marR="0" marT="0" marB="0" anchor="ctr">
                    <a:lnT w="38100" cap="flat" cmpd="sng" algn="ctr">
                      <a:solidFill>
                        <a:schemeClr val="bg1"/>
                      </a:solidFill>
                      <a:prstDash val="solid"/>
                      <a:round/>
                      <a:headEnd type="none" w="med" len="med"/>
                      <a:tailEnd type="none" w="med" len="med"/>
                    </a:lnT>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14.16%</a:t>
                      </a:r>
                    </a:p>
                  </a:txBody>
                  <a:tcPr marL="0" marR="0" marT="0" marB="0" anchor="ctr">
                    <a:lnT w="38100" cap="flat" cmpd="sng" algn="ctr">
                      <a:solidFill>
                        <a:schemeClr val="bg1"/>
                      </a:solidFill>
                      <a:prstDash val="solid"/>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4132371854"/>
                  </a:ext>
                </a:extLst>
              </a:tr>
              <a:tr h="402947">
                <a:tc>
                  <a:txBody>
                    <a:bodyPr/>
                    <a:lstStyle/>
                    <a:p>
                      <a:pPr algn="ctr" fontAlgn="ctr"/>
                      <a:r>
                        <a:rPr lang="en-US" sz="1400" b="0" i="0" u="none" strike="noStrike" dirty="0">
                          <a:solidFill>
                            <a:srgbClr val="000000"/>
                          </a:solidFill>
                          <a:effectLst/>
                          <a:latin typeface="Calibri" panose="020F0502020204030204" pitchFamily="34" charset="0"/>
                        </a:rPr>
                        <a:t>22</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1.28</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5.25</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6.14%</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7.64%</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9.23%</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10.92%</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12.70%</a:t>
                      </a:r>
                    </a:p>
                  </a:txBody>
                  <a:tcPr marL="0" marR="0" marT="0" marB="0" anchor="ctr">
                    <a:solidFill>
                      <a:schemeClr val="accent1">
                        <a:lumMod val="20000"/>
                        <a:lumOff val="80000"/>
                      </a:schemeClr>
                    </a:solidFill>
                  </a:tcPr>
                </a:tc>
                <a:extLst>
                  <a:ext uri="{0D108BD9-81ED-4DB2-BD59-A6C34878D82A}">
                    <a16:rowId xmlns:a16="http://schemas.microsoft.com/office/drawing/2014/main" val="3676467176"/>
                  </a:ext>
                </a:extLst>
              </a:tr>
              <a:tr h="402947">
                <a:tc>
                  <a:txBody>
                    <a:bodyPr/>
                    <a:lstStyle/>
                    <a:p>
                      <a:pPr algn="ctr" fontAlgn="ctr"/>
                      <a:r>
                        <a:rPr lang="en-US" sz="1400" b="0" i="0" u="none" strike="noStrike" dirty="0">
                          <a:solidFill>
                            <a:srgbClr val="000000"/>
                          </a:solidFill>
                          <a:effectLst/>
                          <a:latin typeface="Calibri" panose="020F0502020204030204" pitchFamily="34" charset="0"/>
                        </a:rPr>
                        <a:t>23</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1.29</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5.42</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5.28%</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6.68%</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8.16%</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9.73%</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11.39%</a:t>
                      </a:r>
                    </a:p>
                  </a:txBody>
                  <a:tcPr marL="0" marR="0" marT="0" marB="0" anchor="ctr">
                    <a:solidFill>
                      <a:srgbClr val="EBFCCC"/>
                    </a:solidFill>
                  </a:tcPr>
                </a:tc>
                <a:extLst>
                  <a:ext uri="{0D108BD9-81ED-4DB2-BD59-A6C34878D82A}">
                    <a16:rowId xmlns:a16="http://schemas.microsoft.com/office/drawing/2014/main" val="4139180364"/>
                  </a:ext>
                </a:extLst>
              </a:tr>
              <a:tr h="402947">
                <a:tc>
                  <a:txBody>
                    <a:bodyPr/>
                    <a:lstStyle/>
                    <a:p>
                      <a:pPr algn="ctr" fontAlgn="ctr"/>
                      <a:r>
                        <a:rPr lang="en-US" sz="1400" b="0" i="0" u="none" strike="noStrike" dirty="0">
                          <a:solidFill>
                            <a:srgbClr val="000000"/>
                          </a:solidFill>
                          <a:effectLst/>
                          <a:latin typeface="Calibri" panose="020F0502020204030204" pitchFamily="34" charset="0"/>
                        </a:rPr>
                        <a:t>24</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1.30</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5.59</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4.50%</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5.81%</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7.19%</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8.66%</a:t>
                      </a:r>
                    </a:p>
                  </a:txBody>
                  <a:tcPr marL="0" marR="0" marT="0" marB="0" anchor="ctr">
                    <a:solidFill>
                      <a:srgbClr val="EBFCCC"/>
                    </a:solidFill>
                  </a:tcPr>
                </a:tc>
                <a:tc>
                  <a:txBody>
                    <a:bodyPr/>
                    <a:lstStyle/>
                    <a:p>
                      <a:pPr algn="ctr" fontAlgn="ctr"/>
                      <a:r>
                        <a:rPr lang="en-US" sz="1400" b="0" i="0" u="none" strike="noStrike" dirty="0">
                          <a:solidFill>
                            <a:srgbClr val="000000"/>
                          </a:solidFill>
                          <a:effectLst/>
                          <a:latin typeface="Calibri" panose="020F0502020204030204" pitchFamily="34" charset="0"/>
                        </a:rPr>
                        <a:t>10.21%</a:t>
                      </a:r>
                    </a:p>
                  </a:txBody>
                  <a:tcPr marL="0" marR="0" marT="0" marB="0" anchor="ctr">
                    <a:solidFill>
                      <a:srgbClr val="EBFCCC"/>
                    </a:solidFill>
                  </a:tcPr>
                </a:tc>
                <a:extLst>
                  <a:ext uri="{0D108BD9-81ED-4DB2-BD59-A6C34878D82A}">
                    <a16:rowId xmlns:a16="http://schemas.microsoft.com/office/drawing/2014/main" val="1455795527"/>
                  </a:ext>
                </a:extLst>
              </a:tr>
              <a:tr h="402947">
                <a:tc>
                  <a:txBody>
                    <a:bodyPr/>
                    <a:lstStyle/>
                    <a:p>
                      <a:pPr algn="ctr" fontAlgn="ctr"/>
                      <a:r>
                        <a:rPr lang="en-US" sz="1400" b="0" i="0" u="none" strike="noStrike" dirty="0">
                          <a:solidFill>
                            <a:srgbClr val="000000"/>
                          </a:solidFill>
                          <a:effectLst/>
                          <a:latin typeface="Calibri" panose="020F0502020204030204" pitchFamily="34" charset="0"/>
                        </a:rPr>
                        <a:t>25</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1.31</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5.76</a:t>
                      </a:r>
                    </a:p>
                  </a:txBody>
                  <a:tcPr marL="0" marR="0" marT="0"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3.80%</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5.02%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6.32%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7.69%</a:t>
                      </a:r>
                    </a:p>
                  </a:txBody>
                  <a:tcPr marL="0" marR="0" marT="0" marB="0" anchor="ctr">
                    <a:solidFill>
                      <a:srgbClr val="F9E1F5"/>
                    </a:solidFill>
                  </a:tcPr>
                </a:tc>
                <a:tc>
                  <a:txBody>
                    <a:bodyPr/>
                    <a:lstStyle/>
                    <a:p>
                      <a:pPr algn="ctr" fontAlgn="ctr"/>
                      <a:r>
                        <a:rPr lang="en-US" sz="1400" b="0" i="0" u="none" strike="noStrike" dirty="0">
                          <a:solidFill>
                            <a:srgbClr val="000000"/>
                          </a:solidFill>
                          <a:effectLst/>
                          <a:latin typeface="Calibri" panose="020F0502020204030204" pitchFamily="34" charset="0"/>
                        </a:rPr>
                        <a:t>9.13</a:t>
                      </a:r>
                    </a:p>
                  </a:txBody>
                  <a:tcPr marL="0" marR="0" marT="0" marB="0" anchor="ctr">
                    <a:solidFill>
                      <a:srgbClr val="EBFCCC"/>
                    </a:solidFill>
                  </a:tcPr>
                </a:tc>
                <a:extLst>
                  <a:ext uri="{0D108BD9-81ED-4DB2-BD59-A6C34878D82A}">
                    <a16:rowId xmlns:a16="http://schemas.microsoft.com/office/drawing/2014/main" val="2404363628"/>
                  </a:ext>
                </a:extLst>
              </a:tr>
              <a:tr h="402947">
                <a:tc>
                  <a:txBody>
                    <a:bodyPr/>
                    <a:lstStyle/>
                    <a:p>
                      <a:pPr algn="ctr" fontAlgn="ctr"/>
                      <a:r>
                        <a:rPr lang="en-US" sz="1400" b="0" i="0" u="none" strike="noStrike" dirty="0">
                          <a:solidFill>
                            <a:srgbClr val="000000"/>
                          </a:solidFill>
                          <a:effectLst/>
                          <a:latin typeface="Calibri" panose="020F0502020204030204" pitchFamily="34" charset="0"/>
                        </a:rPr>
                        <a:t>26</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1.32</a:t>
                      </a: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5.94</a:t>
                      </a: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0.52</a:t>
                      </a:r>
                      <a:endParaRPr lang="en-US" sz="14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400" b="0" i="0" u="none" strike="noStrike" dirty="0">
                          <a:solidFill>
                            <a:srgbClr val="000000"/>
                          </a:solidFill>
                          <a:effectLst/>
                          <a:latin typeface="Calibri" panose="020F0502020204030204" pitchFamily="34" charset="0"/>
                        </a:rPr>
                        <a:t>3.16%</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4.31%</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5.52%</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6.81%</a:t>
                      </a:r>
                    </a:p>
                  </a:txBody>
                  <a:tcPr marL="0" marR="0" marT="0" marB="0" anchor="ctr">
                    <a:solidFill>
                      <a:srgbClr val="F9E1EC"/>
                    </a:solidFill>
                  </a:tcPr>
                </a:tc>
                <a:tc>
                  <a:txBody>
                    <a:bodyPr/>
                    <a:lstStyle/>
                    <a:p>
                      <a:pPr algn="ctr" fontAlgn="ctr"/>
                      <a:r>
                        <a:rPr lang="en-US" sz="1400" b="0" i="0" u="none" strike="noStrike" dirty="0">
                          <a:solidFill>
                            <a:srgbClr val="000000"/>
                          </a:solidFill>
                          <a:effectLst/>
                          <a:latin typeface="Calibri" panose="020F0502020204030204" pitchFamily="34" charset="0"/>
                        </a:rPr>
                        <a:t>8.16%</a:t>
                      </a:r>
                    </a:p>
                  </a:txBody>
                  <a:tcPr marL="0" marR="0" marT="0" marB="0" anchor="ctr">
                    <a:solidFill>
                      <a:srgbClr val="EBFCCC"/>
                    </a:solidFill>
                  </a:tcPr>
                </a:tc>
                <a:extLst>
                  <a:ext uri="{0D108BD9-81ED-4DB2-BD59-A6C34878D82A}">
                    <a16:rowId xmlns:a16="http://schemas.microsoft.com/office/drawing/2014/main" val="3992152732"/>
                  </a:ext>
                </a:extLst>
              </a:tr>
            </a:tbl>
          </a:graphicData>
        </a:graphic>
      </p:graphicFrame>
    </p:spTree>
    <p:extLst>
      <p:ext uri="{BB962C8B-B14F-4D97-AF65-F5344CB8AC3E}">
        <p14:creationId xmlns:p14="http://schemas.microsoft.com/office/powerpoint/2010/main" val="151951432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621393" y="2951841"/>
            <a:ext cx="11188700" cy="334099"/>
          </a:xfrm>
        </p:spPr>
        <p:txBody>
          <a:bodyPr/>
          <a:lstStyle/>
          <a:p>
            <a:pPr marL="0" marR="0">
              <a:spcBef>
                <a:spcPts val="0"/>
              </a:spcBef>
              <a:spcAft>
                <a:spcPts val="0"/>
              </a:spcAft>
            </a:pPr>
            <a:r>
              <a:rPr lang="en-US" sz="3200" b="1" dirty="0">
                <a:effectLst/>
                <a:latin typeface="Calibri" panose="020F0502020204030204" pitchFamily="34" charset="0"/>
                <a:ea typeface="Calibri" panose="020F0502020204030204" pitchFamily="34" charset="0"/>
              </a:rPr>
              <a:t>ANNEXURES</a:t>
            </a:r>
            <a:endParaRPr lang="en-US" sz="3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0374970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A: Illustrative benefit on further Discount on Cell Prices</a:t>
            </a:r>
            <a:endParaRPr lang="en-GB" sz="2400" b="1" dirty="0">
              <a:latin typeface="Calibri" panose="020F0502020204030204" pitchFamily="34" charset="0"/>
            </a:endParaRPr>
          </a:p>
        </p:txBody>
      </p:sp>
      <p:sp>
        <p:nvSpPr>
          <p:cNvPr id="7" name="Arrow: Right 6">
            <a:hlinkClick r:id="rId2" action="ppaction://hlinksldjump"/>
            <a:extLst>
              <a:ext uri="{FF2B5EF4-FFF2-40B4-BE49-F238E27FC236}">
                <a16:creationId xmlns:a16="http://schemas.microsoft.com/office/drawing/2014/main" id="{5E729843-7B0D-4DBB-A95D-C71527A953D2}"/>
              </a:ext>
            </a:extLst>
          </p:cNvPr>
          <p:cNvSpPr/>
          <p:nvPr/>
        </p:nvSpPr>
        <p:spPr bwMode="gray">
          <a:xfrm flipH="1">
            <a:off x="8806542" y="6133170"/>
            <a:ext cx="2727693"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graphicFrame>
        <p:nvGraphicFramePr>
          <p:cNvPr id="2" name="Table 1">
            <a:extLst>
              <a:ext uri="{FF2B5EF4-FFF2-40B4-BE49-F238E27FC236}">
                <a16:creationId xmlns:a16="http://schemas.microsoft.com/office/drawing/2014/main" id="{87EDD2CD-BCB8-4B11-9C12-CDFA1BECA168}"/>
              </a:ext>
            </a:extLst>
          </p:cNvPr>
          <p:cNvGraphicFramePr>
            <a:graphicFrameLocks noGrp="1"/>
          </p:cNvGraphicFramePr>
          <p:nvPr>
            <p:extLst>
              <p:ext uri="{D42A27DB-BD31-4B8C-83A1-F6EECF244321}">
                <p14:modId xmlns:p14="http://schemas.microsoft.com/office/powerpoint/2010/main" val="1006928504"/>
              </p:ext>
            </p:extLst>
          </p:nvPr>
        </p:nvGraphicFramePr>
        <p:xfrm>
          <a:off x="501651" y="1175431"/>
          <a:ext cx="11032584" cy="2237522"/>
        </p:xfrm>
        <a:graphic>
          <a:graphicData uri="http://schemas.openxmlformats.org/drawingml/2006/table">
            <a:tbl>
              <a:tblPr/>
              <a:tblGrid>
                <a:gridCol w="5563034">
                  <a:extLst>
                    <a:ext uri="{9D8B030D-6E8A-4147-A177-3AD203B41FA5}">
                      <a16:colId xmlns:a16="http://schemas.microsoft.com/office/drawing/2014/main" val="3356253683"/>
                    </a:ext>
                  </a:extLst>
                </a:gridCol>
                <a:gridCol w="2734775">
                  <a:extLst>
                    <a:ext uri="{9D8B030D-6E8A-4147-A177-3AD203B41FA5}">
                      <a16:colId xmlns:a16="http://schemas.microsoft.com/office/drawing/2014/main" val="2364987515"/>
                    </a:ext>
                  </a:extLst>
                </a:gridCol>
                <a:gridCol w="2734775">
                  <a:extLst>
                    <a:ext uri="{9D8B030D-6E8A-4147-A177-3AD203B41FA5}">
                      <a16:colId xmlns:a16="http://schemas.microsoft.com/office/drawing/2014/main" val="2886614961"/>
                    </a:ext>
                  </a:extLst>
                </a:gridCol>
              </a:tblGrid>
              <a:tr h="254929">
                <a:tc>
                  <a:txBody>
                    <a:bodyPr/>
                    <a:lstStyle/>
                    <a:p>
                      <a:pPr algn="ctr" fontAlgn="b"/>
                      <a:r>
                        <a:rPr lang="en-US" sz="1500" b="1" i="0" u="none" strike="noStrike" dirty="0">
                          <a:solidFill>
                            <a:srgbClr val="FFFFFF"/>
                          </a:solidFill>
                          <a:effectLst/>
                          <a:latin typeface="Calibri" panose="020F0502020204030204" pitchFamily="34" charset="0"/>
                        </a:rPr>
                        <a:t>Costs (Rs./Wp) (excl. GST)</a:t>
                      </a:r>
                    </a:p>
                  </a:txBody>
                  <a:tcPr marL="9144" marR="9144" marT="0" marB="0" anchor="ctr">
                    <a:lnL>
                      <a:noFill/>
                    </a:lnL>
                    <a:lnR>
                      <a:noFill/>
                    </a:lnR>
                    <a:lnT>
                      <a:noFill/>
                    </a:lnT>
                    <a:lnB>
                      <a:noFill/>
                    </a:lnB>
                    <a:solidFill>
                      <a:schemeClr val="tx1">
                        <a:lumMod val="65000"/>
                        <a:lumOff val="35000"/>
                      </a:schemeClr>
                    </a:solidFill>
                  </a:tcPr>
                </a:tc>
                <a:tc>
                  <a:txBody>
                    <a:bodyPr/>
                    <a:lstStyle/>
                    <a:p>
                      <a:pPr algn="ctr" fontAlgn="b"/>
                      <a:r>
                        <a:rPr lang="en-US" sz="1500" b="1" i="0" u="none" strike="noStrike" dirty="0">
                          <a:solidFill>
                            <a:srgbClr val="FFFFFF"/>
                          </a:solidFill>
                          <a:effectLst/>
                          <a:latin typeface="Calibri" panose="020F0502020204030204" pitchFamily="34" charset="0"/>
                        </a:rPr>
                        <a:t>2024 (Predicted)</a:t>
                      </a:r>
                    </a:p>
                  </a:txBody>
                  <a:tcPr marL="9144" marR="9144" marT="0" marB="0" anchor="ctr">
                    <a:lnL>
                      <a:noFill/>
                    </a:lnL>
                    <a:lnR>
                      <a:noFill/>
                    </a:lnR>
                    <a:lnT>
                      <a:noFill/>
                    </a:lnT>
                    <a:lnB>
                      <a:noFill/>
                    </a:lnB>
                    <a:solidFill>
                      <a:schemeClr val="tx1">
                        <a:lumMod val="65000"/>
                        <a:lumOff val="35000"/>
                      </a:schemeClr>
                    </a:solidFill>
                  </a:tcPr>
                </a:tc>
                <a:tc>
                  <a:txBody>
                    <a:bodyPr/>
                    <a:lstStyle/>
                    <a:p>
                      <a:pPr algn="ctr" fontAlgn="b"/>
                      <a:r>
                        <a:rPr lang="en-US" sz="1500" b="1" i="0" u="none" strike="noStrike" dirty="0">
                          <a:solidFill>
                            <a:srgbClr val="FFFFFF"/>
                          </a:solidFill>
                          <a:effectLst/>
                          <a:latin typeface="Calibri" panose="020F0502020204030204" pitchFamily="34" charset="0"/>
                        </a:rPr>
                        <a:t>2024 (Predicted) (with further discount of 5% on Cell price)</a:t>
                      </a:r>
                    </a:p>
                  </a:txBody>
                  <a:tcPr marL="9144" marR="9144" marT="0" marB="0" anchor="ctr">
                    <a:lnL>
                      <a:noFill/>
                    </a:lnL>
                    <a:lnR>
                      <a:noFill/>
                    </a:lnR>
                    <a:lnT>
                      <a:noFill/>
                    </a:lnT>
                    <a:lnB>
                      <a:noFill/>
                    </a:lnB>
                    <a:solidFill>
                      <a:schemeClr val="tx1">
                        <a:lumMod val="65000"/>
                        <a:lumOff val="35000"/>
                      </a:schemeClr>
                    </a:solidFill>
                  </a:tcPr>
                </a:tc>
                <a:extLst>
                  <a:ext uri="{0D108BD9-81ED-4DB2-BD59-A6C34878D82A}">
                    <a16:rowId xmlns:a16="http://schemas.microsoft.com/office/drawing/2014/main" val="3152967956"/>
                  </a:ext>
                </a:extLst>
              </a:tr>
              <a:tr h="127490">
                <a:tc>
                  <a:txBody>
                    <a:bodyPr/>
                    <a:lstStyle/>
                    <a:p>
                      <a:pPr algn="l" fontAlgn="b"/>
                      <a:r>
                        <a:rPr lang="en-US" sz="1500" b="1" i="0" u="none" strike="noStrike" dirty="0">
                          <a:solidFill>
                            <a:srgbClr val="000000"/>
                          </a:solidFill>
                          <a:effectLst/>
                          <a:latin typeface="Calibri" panose="020F0502020204030204" pitchFamily="34" charset="0"/>
                        </a:rPr>
                        <a:t>Cell Price</a:t>
                      </a:r>
                    </a:p>
                  </a:txBody>
                  <a:tcPr marL="9144" marR="9144" marT="0" marB="0" anchor="ctr">
                    <a:lnL>
                      <a:noFill/>
                    </a:lnL>
                    <a:lnR>
                      <a:noFill/>
                    </a:lnR>
                    <a:lnT>
                      <a:noFill/>
                    </a:lnT>
                    <a:lnB>
                      <a:noFill/>
                    </a:lnB>
                  </a:tcPr>
                </a:tc>
                <a:tc>
                  <a:txBody>
                    <a:bodyPr/>
                    <a:lstStyle/>
                    <a:p>
                      <a:pPr algn="ctr" fontAlgn="b"/>
                      <a:r>
                        <a:rPr lang="en-US" sz="1500" b="1" i="0" u="none" strike="noStrike" dirty="0">
                          <a:solidFill>
                            <a:srgbClr val="000000"/>
                          </a:solidFill>
                          <a:effectLst/>
                          <a:latin typeface="Calibri" panose="020F0502020204030204" pitchFamily="34" charset="0"/>
                        </a:rPr>
                        <a:t>7.59</a:t>
                      </a:r>
                    </a:p>
                  </a:txBody>
                  <a:tcPr marL="9144" marR="9144" marT="0" marB="0" anchor="ctr">
                    <a:lnL>
                      <a:noFill/>
                    </a:lnL>
                    <a:lnR>
                      <a:noFill/>
                    </a:lnR>
                    <a:lnT>
                      <a:noFill/>
                    </a:lnT>
                    <a:lnB>
                      <a:noFill/>
                    </a:lnB>
                  </a:tcPr>
                </a:tc>
                <a:tc>
                  <a:txBody>
                    <a:bodyPr/>
                    <a:lstStyle/>
                    <a:p>
                      <a:pPr algn="ctr" fontAlgn="b"/>
                      <a:r>
                        <a:rPr lang="en-US" sz="1500" b="1" i="0" u="none" strike="noStrike" dirty="0">
                          <a:solidFill>
                            <a:schemeClr val="accent3"/>
                          </a:solidFill>
                          <a:effectLst/>
                          <a:latin typeface="Calibri" panose="020F0502020204030204" pitchFamily="34" charset="0"/>
                        </a:rPr>
                        <a:t>7.20</a:t>
                      </a:r>
                    </a:p>
                  </a:txBody>
                  <a:tcPr marL="9144" marR="9144" marT="0" marB="0" anchor="ctr">
                    <a:lnL>
                      <a:noFill/>
                    </a:lnL>
                    <a:lnR>
                      <a:noFill/>
                    </a:lnR>
                    <a:lnT>
                      <a:noFill/>
                    </a:lnT>
                    <a:lnB>
                      <a:noFill/>
                    </a:lnB>
                  </a:tcPr>
                </a:tc>
                <a:extLst>
                  <a:ext uri="{0D108BD9-81ED-4DB2-BD59-A6C34878D82A}">
                    <a16:rowId xmlns:a16="http://schemas.microsoft.com/office/drawing/2014/main" val="275749832"/>
                  </a:ext>
                </a:extLst>
              </a:tr>
              <a:tr h="151967">
                <a:tc>
                  <a:txBody>
                    <a:bodyPr/>
                    <a:lstStyle/>
                    <a:p>
                      <a:pPr algn="l" fontAlgn="b"/>
                      <a:r>
                        <a:rPr lang="en-US" sz="1500" b="1" i="0" u="none" strike="noStrike" dirty="0" err="1">
                          <a:solidFill>
                            <a:srgbClr val="000000"/>
                          </a:solidFill>
                          <a:effectLst/>
                          <a:latin typeface="Calibri" panose="020F0502020204030204" pitchFamily="34" charset="0"/>
                        </a:rPr>
                        <a:t>Aluminium</a:t>
                      </a:r>
                      <a:r>
                        <a:rPr lang="en-US" sz="1500" b="1" i="0" u="none" strike="noStrike" dirty="0">
                          <a:solidFill>
                            <a:srgbClr val="000000"/>
                          </a:solidFill>
                          <a:effectLst/>
                          <a:latin typeface="Calibri" panose="020F0502020204030204" pitchFamily="34" charset="0"/>
                        </a:rPr>
                        <a:t> Price</a:t>
                      </a:r>
                    </a:p>
                  </a:txBody>
                  <a:tcPr marL="9144" marR="9144" marT="0" marB="0" anchor="ctr">
                    <a:lnL>
                      <a:noFill/>
                    </a:lnL>
                    <a:lnR>
                      <a:noFill/>
                    </a:lnR>
                    <a:lnT>
                      <a:noFill/>
                    </a:lnT>
                    <a:lnB>
                      <a:noFill/>
                    </a:lnB>
                  </a:tcPr>
                </a:tc>
                <a:tc>
                  <a:txBody>
                    <a:bodyPr/>
                    <a:lstStyle/>
                    <a:p>
                      <a:pPr algn="ctr" fontAlgn="b"/>
                      <a:r>
                        <a:rPr lang="en-US" sz="1500" b="1" i="0" u="none" strike="noStrike" dirty="0">
                          <a:solidFill>
                            <a:srgbClr val="000000"/>
                          </a:solidFill>
                          <a:effectLst/>
                          <a:latin typeface="Calibri" panose="020F0502020204030204" pitchFamily="34" charset="0"/>
                        </a:rPr>
                        <a:t>1.70</a:t>
                      </a:r>
                    </a:p>
                  </a:txBody>
                  <a:tcPr marL="9144" marR="9144" marT="0" marB="0" anchor="ctr">
                    <a:lnL>
                      <a:noFill/>
                    </a:lnL>
                    <a:lnR>
                      <a:noFill/>
                    </a:lnR>
                    <a:lnT>
                      <a:noFill/>
                    </a:lnT>
                    <a:lnB>
                      <a:noFill/>
                    </a:lnB>
                  </a:tcPr>
                </a:tc>
                <a:tc>
                  <a:txBody>
                    <a:bodyPr/>
                    <a:lstStyle/>
                    <a:p>
                      <a:pPr algn="ctr" fontAlgn="b"/>
                      <a:r>
                        <a:rPr lang="en-US" sz="1500" b="1" i="0" u="none" strike="noStrike" dirty="0">
                          <a:solidFill>
                            <a:srgbClr val="000000"/>
                          </a:solidFill>
                          <a:effectLst/>
                          <a:latin typeface="Calibri" panose="020F0502020204030204" pitchFamily="34" charset="0"/>
                        </a:rPr>
                        <a:t>1.70</a:t>
                      </a:r>
                    </a:p>
                  </a:txBody>
                  <a:tcPr marL="9144" marR="9144" marT="0" marB="0" anchor="ctr">
                    <a:lnL>
                      <a:noFill/>
                    </a:lnL>
                    <a:lnR>
                      <a:noFill/>
                    </a:lnR>
                    <a:lnT>
                      <a:noFill/>
                    </a:lnT>
                    <a:lnB>
                      <a:noFill/>
                    </a:lnB>
                  </a:tcPr>
                </a:tc>
                <a:extLst>
                  <a:ext uri="{0D108BD9-81ED-4DB2-BD59-A6C34878D82A}">
                    <a16:rowId xmlns:a16="http://schemas.microsoft.com/office/drawing/2014/main" val="470548981"/>
                  </a:ext>
                </a:extLst>
              </a:tr>
              <a:tr h="151967">
                <a:tc>
                  <a:txBody>
                    <a:bodyPr/>
                    <a:lstStyle/>
                    <a:p>
                      <a:pPr algn="l" fontAlgn="b"/>
                      <a:r>
                        <a:rPr lang="en-US" sz="1500" b="1" i="0" u="none" strike="noStrike" dirty="0">
                          <a:solidFill>
                            <a:srgbClr val="000000"/>
                          </a:solidFill>
                          <a:effectLst/>
                          <a:latin typeface="Calibri" panose="020F0502020204030204" pitchFamily="34" charset="0"/>
                        </a:rPr>
                        <a:t>Copper Price</a:t>
                      </a:r>
                    </a:p>
                  </a:txBody>
                  <a:tcPr marL="9144" marR="9144" marT="0" marB="0" anchor="ctr">
                    <a:lnL>
                      <a:noFill/>
                    </a:lnL>
                    <a:lnR>
                      <a:noFill/>
                    </a:lnR>
                    <a:lnT>
                      <a:noFill/>
                    </a:lnT>
                    <a:lnB>
                      <a:noFill/>
                    </a:lnB>
                  </a:tcPr>
                </a:tc>
                <a:tc>
                  <a:txBody>
                    <a:bodyPr/>
                    <a:lstStyle/>
                    <a:p>
                      <a:pPr algn="ctr" fontAlgn="b"/>
                      <a:r>
                        <a:rPr lang="en-US" sz="1500" b="1" i="0" u="none" strike="noStrike" dirty="0">
                          <a:solidFill>
                            <a:srgbClr val="000000"/>
                          </a:solidFill>
                          <a:effectLst/>
                          <a:latin typeface="Calibri" panose="020F0502020204030204" pitchFamily="34" charset="0"/>
                        </a:rPr>
                        <a:t>0.62</a:t>
                      </a:r>
                    </a:p>
                  </a:txBody>
                  <a:tcPr marL="9144" marR="9144" marT="0" marB="0" anchor="ctr">
                    <a:lnL>
                      <a:noFill/>
                    </a:lnL>
                    <a:lnR>
                      <a:noFill/>
                    </a:lnR>
                    <a:lnT>
                      <a:noFill/>
                    </a:lnT>
                    <a:lnB>
                      <a:noFill/>
                    </a:lnB>
                  </a:tcPr>
                </a:tc>
                <a:tc>
                  <a:txBody>
                    <a:bodyPr/>
                    <a:lstStyle/>
                    <a:p>
                      <a:pPr algn="ctr" fontAlgn="b"/>
                      <a:r>
                        <a:rPr lang="en-US" sz="1500" b="1" i="0" u="none" strike="noStrike" dirty="0">
                          <a:solidFill>
                            <a:srgbClr val="000000"/>
                          </a:solidFill>
                          <a:effectLst/>
                          <a:latin typeface="Calibri" panose="020F0502020204030204" pitchFamily="34" charset="0"/>
                        </a:rPr>
                        <a:t>0.62</a:t>
                      </a:r>
                    </a:p>
                  </a:txBody>
                  <a:tcPr marL="9144" marR="9144" marT="0" marB="0" anchor="ctr">
                    <a:lnL>
                      <a:noFill/>
                    </a:lnL>
                    <a:lnR>
                      <a:noFill/>
                    </a:lnR>
                    <a:lnT>
                      <a:noFill/>
                    </a:lnT>
                    <a:lnB>
                      <a:noFill/>
                    </a:lnB>
                  </a:tcPr>
                </a:tc>
                <a:extLst>
                  <a:ext uri="{0D108BD9-81ED-4DB2-BD59-A6C34878D82A}">
                    <a16:rowId xmlns:a16="http://schemas.microsoft.com/office/drawing/2014/main" val="1733325008"/>
                  </a:ext>
                </a:extLst>
              </a:tr>
              <a:tr h="127490">
                <a:tc>
                  <a:txBody>
                    <a:bodyPr/>
                    <a:lstStyle/>
                    <a:p>
                      <a:pPr algn="l" fontAlgn="b"/>
                      <a:r>
                        <a:rPr lang="en-US" sz="1500" b="1" i="0" u="none" strike="noStrike" dirty="0">
                          <a:solidFill>
                            <a:srgbClr val="000000"/>
                          </a:solidFill>
                          <a:effectLst/>
                          <a:latin typeface="Calibri" panose="020F0502020204030204" pitchFamily="34" charset="0"/>
                        </a:rPr>
                        <a:t>Glass Price</a:t>
                      </a:r>
                    </a:p>
                  </a:txBody>
                  <a:tcPr marL="9144" marR="9144" marT="0" marB="0" anchor="ctr">
                    <a:lnL>
                      <a:noFill/>
                    </a:lnL>
                    <a:lnR>
                      <a:noFill/>
                    </a:lnR>
                    <a:lnT>
                      <a:noFill/>
                    </a:lnT>
                    <a:lnB>
                      <a:noFill/>
                    </a:lnB>
                  </a:tcPr>
                </a:tc>
                <a:tc>
                  <a:txBody>
                    <a:bodyPr/>
                    <a:lstStyle/>
                    <a:p>
                      <a:pPr algn="ctr" fontAlgn="b"/>
                      <a:r>
                        <a:rPr lang="en-US" sz="1500" b="1" i="0" u="none" strike="noStrike" dirty="0">
                          <a:solidFill>
                            <a:srgbClr val="000000"/>
                          </a:solidFill>
                          <a:effectLst/>
                          <a:latin typeface="Calibri" panose="020F0502020204030204" pitchFamily="34" charset="0"/>
                        </a:rPr>
                        <a:t>3.15</a:t>
                      </a:r>
                    </a:p>
                  </a:txBody>
                  <a:tcPr marL="9144" marR="9144" marT="0" marB="0" anchor="ctr">
                    <a:lnL>
                      <a:noFill/>
                    </a:lnL>
                    <a:lnR>
                      <a:noFill/>
                    </a:lnR>
                    <a:lnT>
                      <a:noFill/>
                    </a:lnT>
                    <a:lnB>
                      <a:noFill/>
                    </a:lnB>
                  </a:tcPr>
                </a:tc>
                <a:tc>
                  <a:txBody>
                    <a:bodyPr/>
                    <a:lstStyle/>
                    <a:p>
                      <a:pPr algn="ctr" fontAlgn="b"/>
                      <a:r>
                        <a:rPr lang="en-US" sz="1500" b="1" i="0" u="none" strike="noStrike" dirty="0">
                          <a:solidFill>
                            <a:srgbClr val="000000"/>
                          </a:solidFill>
                          <a:effectLst/>
                          <a:latin typeface="Calibri" panose="020F0502020204030204" pitchFamily="34" charset="0"/>
                        </a:rPr>
                        <a:t>3.15</a:t>
                      </a:r>
                    </a:p>
                  </a:txBody>
                  <a:tcPr marL="9144" marR="9144" marT="0" marB="0" anchor="ctr">
                    <a:lnL>
                      <a:noFill/>
                    </a:lnL>
                    <a:lnR>
                      <a:noFill/>
                    </a:lnR>
                    <a:lnT>
                      <a:noFill/>
                    </a:lnT>
                    <a:lnB>
                      <a:noFill/>
                    </a:lnB>
                  </a:tcPr>
                </a:tc>
                <a:extLst>
                  <a:ext uri="{0D108BD9-81ED-4DB2-BD59-A6C34878D82A}">
                    <a16:rowId xmlns:a16="http://schemas.microsoft.com/office/drawing/2014/main" val="1561232119"/>
                  </a:ext>
                </a:extLst>
              </a:tr>
              <a:tr h="127490">
                <a:tc>
                  <a:txBody>
                    <a:bodyPr/>
                    <a:lstStyle/>
                    <a:p>
                      <a:pPr algn="l" fontAlgn="b"/>
                      <a:r>
                        <a:rPr lang="en-US" sz="1500" b="1" i="0" u="none" strike="noStrike" dirty="0">
                          <a:solidFill>
                            <a:srgbClr val="000000"/>
                          </a:solidFill>
                          <a:effectLst/>
                          <a:latin typeface="Calibri" panose="020F0502020204030204" pitchFamily="34" charset="0"/>
                        </a:rPr>
                        <a:t>Other Materials + assembly*</a:t>
                      </a:r>
                    </a:p>
                  </a:txBody>
                  <a:tcPr marL="9144" marR="9144"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ctr"/>
                      <a:r>
                        <a:rPr lang="en-US" sz="1500" b="1" i="0" u="none" strike="noStrike" dirty="0">
                          <a:solidFill>
                            <a:srgbClr val="000000"/>
                          </a:solidFill>
                          <a:effectLst/>
                          <a:latin typeface="Calibri" panose="020F0502020204030204" pitchFamily="34" charset="0"/>
                        </a:rPr>
                        <a:t>7.73</a:t>
                      </a:r>
                    </a:p>
                  </a:txBody>
                  <a:tcPr marL="9144" marR="9144"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ctr"/>
                      <a:r>
                        <a:rPr lang="en-US" sz="1500" b="1" i="0" u="none" strike="noStrike" dirty="0">
                          <a:solidFill>
                            <a:srgbClr val="000000"/>
                          </a:solidFill>
                          <a:effectLst/>
                          <a:latin typeface="Calibri" panose="020F0502020204030204" pitchFamily="34" charset="0"/>
                        </a:rPr>
                        <a:t>7.73</a:t>
                      </a:r>
                    </a:p>
                  </a:txBody>
                  <a:tcPr marL="9144" marR="9144" marT="0" marB="0" anchor="ctr">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4405311"/>
                  </a:ext>
                </a:extLst>
              </a:tr>
              <a:tr h="254929">
                <a:tc>
                  <a:txBody>
                    <a:bodyPr/>
                    <a:lstStyle/>
                    <a:p>
                      <a:pPr algn="l" fontAlgn="b"/>
                      <a:r>
                        <a:rPr lang="en-US" sz="1500" b="1" i="0" u="none" strike="noStrike" dirty="0">
                          <a:solidFill>
                            <a:srgbClr val="000000"/>
                          </a:solidFill>
                          <a:effectLst/>
                          <a:latin typeface="Calibri" panose="020F0502020204030204" pitchFamily="34" charset="0"/>
                        </a:rPr>
                        <a:t>Module Price (Rs/Wp)(excl GST)</a:t>
                      </a:r>
                    </a:p>
                  </a:txBody>
                  <a:tcPr marL="9144" marR="9144"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20.79</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20.38</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a16="http://schemas.microsoft.com/office/drawing/2014/main" val="3304061599"/>
                  </a:ext>
                </a:extLst>
              </a:tr>
              <a:tr h="382393">
                <a:tc>
                  <a:txBody>
                    <a:bodyPr/>
                    <a:lstStyle/>
                    <a:p>
                      <a:pPr algn="l" fontAlgn="b"/>
                      <a:r>
                        <a:rPr lang="en-US" sz="1500" b="1" i="0" u="none" strike="noStrike" dirty="0">
                          <a:solidFill>
                            <a:srgbClr val="000000"/>
                          </a:solidFill>
                          <a:effectLst/>
                          <a:latin typeface="Calibri" panose="020F0502020204030204" pitchFamily="34" charset="0"/>
                        </a:rPr>
                        <a:t>Total Cost (Rs./Wp) including Transportation Cost (~30p/Wp)</a:t>
                      </a:r>
                    </a:p>
                  </a:txBody>
                  <a:tcPr marL="9144" marR="9144"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~21.09</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b"/>
                      <a:r>
                        <a:rPr lang="en-US" sz="1500" b="1" i="0" u="none" strike="noStrike" dirty="0">
                          <a:solidFill>
                            <a:srgbClr val="000000"/>
                          </a:solidFill>
                          <a:effectLst/>
                          <a:latin typeface="Calibri" panose="020F0502020204030204" pitchFamily="34" charset="0"/>
                        </a:rPr>
                        <a:t>~20.68</a:t>
                      </a:r>
                    </a:p>
                  </a:txBody>
                  <a:tcPr marL="9144" marR="9144"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extLst>
                  <a:ext uri="{0D108BD9-81ED-4DB2-BD59-A6C34878D82A}">
                    <a16:rowId xmlns:a16="http://schemas.microsoft.com/office/drawing/2014/main" val="837744647"/>
                  </a:ext>
                </a:extLst>
              </a:tr>
            </a:tbl>
          </a:graphicData>
        </a:graphic>
      </p:graphicFrame>
      <p:sp>
        <p:nvSpPr>
          <p:cNvPr id="8" name="Rectangle 7">
            <a:extLst>
              <a:ext uri="{FF2B5EF4-FFF2-40B4-BE49-F238E27FC236}">
                <a16:creationId xmlns:a16="http://schemas.microsoft.com/office/drawing/2014/main" id="{587045FE-0792-49A6-918B-583AA731857D}"/>
              </a:ext>
            </a:extLst>
          </p:cNvPr>
          <p:cNvSpPr/>
          <p:nvPr/>
        </p:nvSpPr>
        <p:spPr bwMode="gray">
          <a:xfrm>
            <a:off x="501650" y="4006727"/>
            <a:ext cx="11032585" cy="1109559"/>
          </a:xfrm>
          <a:prstGeom prst="rect">
            <a:avLst/>
          </a:prstGeom>
          <a:noFill/>
          <a:ln w="19050" algn="ctr">
            <a:solidFill>
              <a:schemeClr val="bg2">
                <a:lumMod val="25000"/>
              </a:schemeClr>
            </a:solidFill>
            <a:prstDash val="lgDash"/>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600" i="1" dirty="0"/>
              <a:t>Thus, with 5% further discount in cell price, </a:t>
            </a:r>
            <a:r>
              <a:rPr lang="en-US" sz="1600" b="1" i="1" dirty="0"/>
              <a:t>there is opportunity for reduction in module price by almost Rs. 0.04 Cr/MWp which would resultantly improve the Equity IRR by further 0.35% </a:t>
            </a:r>
          </a:p>
          <a:p>
            <a:pPr marL="285750" indent="-285750">
              <a:lnSpc>
                <a:spcPct val="106000"/>
              </a:lnSpc>
              <a:buFont typeface="Arial" panose="020B0604020202020204" pitchFamily="34" charset="0"/>
              <a:buChar char="•"/>
            </a:pPr>
            <a:r>
              <a:rPr lang="en-US" sz="1600" i="1" dirty="0"/>
              <a:t>Thus, CIL may explore this opportunity to possibly further optimize the Capex and improve the Equity IRR</a:t>
            </a:r>
          </a:p>
        </p:txBody>
      </p:sp>
    </p:spTree>
    <p:extLst>
      <p:ext uri="{BB962C8B-B14F-4D97-AF65-F5344CB8AC3E}">
        <p14:creationId xmlns:p14="http://schemas.microsoft.com/office/powerpoint/2010/main" val="232268304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Annexure 1: </a:t>
            </a:r>
            <a:r>
              <a:rPr lang="en-US" sz="2400" b="1" dirty="0" err="1">
                <a:solidFill>
                  <a:srgbClr val="313131"/>
                </a:solidFill>
              </a:rPr>
              <a:t>Aluminium</a:t>
            </a:r>
            <a:r>
              <a:rPr lang="en-US" sz="2400" b="1" dirty="0">
                <a:solidFill>
                  <a:srgbClr val="313131"/>
                </a:solidFill>
              </a:rPr>
              <a:t> Price Forecast (1/2)</a:t>
            </a:r>
            <a:endParaRPr lang="en-GB" b="1" dirty="0"/>
          </a:p>
        </p:txBody>
      </p:sp>
      <p:graphicFrame>
        <p:nvGraphicFramePr>
          <p:cNvPr id="5" name="Table 4">
            <a:extLst>
              <a:ext uri="{FF2B5EF4-FFF2-40B4-BE49-F238E27FC236}">
                <a16:creationId xmlns:a16="http://schemas.microsoft.com/office/drawing/2014/main" id="{3006DDFE-C73C-42ED-9089-201FF4E587F2}"/>
              </a:ext>
            </a:extLst>
          </p:cNvPr>
          <p:cNvGraphicFramePr>
            <a:graphicFrameLocks noGrp="1"/>
          </p:cNvGraphicFramePr>
          <p:nvPr>
            <p:extLst>
              <p:ext uri="{D42A27DB-BD31-4B8C-83A1-F6EECF244321}">
                <p14:modId xmlns:p14="http://schemas.microsoft.com/office/powerpoint/2010/main" val="235880501"/>
              </p:ext>
            </p:extLst>
          </p:nvPr>
        </p:nvGraphicFramePr>
        <p:xfrm>
          <a:off x="606877" y="838419"/>
          <a:ext cx="10224409" cy="4572171"/>
        </p:xfrm>
        <a:graphic>
          <a:graphicData uri="http://schemas.openxmlformats.org/drawingml/2006/table">
            <a:tbl>
              <a:tblPr/>
              <a:tblGrid>
                <a:gridCol w="4546973">
                  <a:extLst>
                    <a:ext uri="{9D8B030D-6E8A-4147-A177-3AD203B41FA5}">
                      <a16:colId xmlns:a16="http://schemas.microsoft.com/office/drawing/2014/main" val="4072431114"/>
                    </a:ext>
                  </a:extLst>
                </a:gridCol>
                <a:gridCol w="2160440">
                  <a:extLst>
                    <a:ext uri="{9D8B030D-6E8A-4147-A177-3AD203B41FA5}">
                      <a16:colId xmlns:a16="http://schemas.microsoft.com/office/drawing/2014/main" val="2086807037"/>
                    </a:ext>
                  </a:extLst>
                </a:gridCol>
                <a:gridCol w="1758498">
                  <a:extLst>
                    <a:ext uri="{9D8B030D-6E8A-4147-A177-3AD203B41FA5}">
                      <a16:colId xmlns:a16="http://schemas.microsoft.com/office/drawing/2014/main" val="2463461712"/>
                    </a:ext>
                  </a:extLst>
                </a:gridCol>
                <a:gridCol w="1758498">
                  <a:extLst>
                    <a:ext uri="{9D8B030D-6E8A-4147-A177-3AD203B41FA5}">
                      <a16:colId xmlns:a16="http://schemas.microsoft.com/office/drawing/2014/main" val="3826190940"/>
                    </a:ext>
                  </a:extLst>
                </a:gridCol>
              </a:tblGrid>
              <a:tr h="304971">
                <a:tc>
                  <a:txBody>
                    <a:bodyPr/>
                    <a:lstStyle/>
                    <a:p>
                      <a:pPr algn="l" fontAlgn="ctr"/>
                      <a:r>
                        <a:rPr lang="en-US" sz="1400" b="0" i="0" u="none" strike="noStrike" dirty="0" err="1">
                          <a:solidFill>
                            <a:schemeClr val="accent3"/>
                          </a:solidFill>
                          <a:effectLst/>
                          <a:latin typeface="Calibri Light" panose="020F0302020204030204" pitchFamily="34" charset="0"/>
                        </a:rPr>
                        <a:t>Aluminium</a:t>
                      </a:r>
                      <a:r>
                        <a:rPr lang="en-US" sz="1400" b="0" i="0" u="none" strike="noStrike" dirty="0">
                          <a:solidFill>
                            <a:schemeClr val="accent3"/>
                          </a:solidFill>
                          <a:effectLst/>
                          <a:latin typeface="Calibri Light" panose="020F0302020204030204" pitchFamily="34" charset="0"/>
                        </a:rPr>
                        <a:t> </a:t>
                      </a:r>
                      <a:r>
                        <a:rPr lang="en-US" sz="1400" b="0" i="1" u="none" strike="noStrike" dirty="0">
                          <a:solidFill>
                            <a:schemeClr val="accent3"/>
                          </a:solidFill>
                          <a:effectLst/>
                          <a:latin typeface="Calibri Light" panose="020F0302020204030204" pitchFamily="34" charset="0"/>
                        </a:rPr>
                        <a:t>(US$/</a:t>
                      </a:r>
                      <a:r>
                        <a:rPr lang="en-US" sz="1400" b="0" i="1" u="none" strike="noStrike" dirty="0" err="1">
                          <a:solidFill>
                            <a:schemeClr val="accent3"/>
                          </a:solidFill>
                          <a:effectLst/>
                          <a:latin typeface="Calibri Light" panose="020F0302020204030204" pitchFamily="34" charset="0"/>
                        </a:rPr>
                        <a:t>lb</a:t>
                      </a:r>
                      <a:r>
                        <a:rPr lang="en-US" sz="1400" b="0" i="1" u="none" strike="noStrike" dirty="0">
                          <a:solidFill>
                            <a:schemeClr val="accent3"/>
                          </a:solidFill>
                          <a:effectLst/>
                          <a:latin typeface="Calibri Light" panose="020F0302020204030204" pitchFamily="34" charset="0"/>
                        </a:rPr>
                        <a:t>)</a:t>
                      </a:r>
                      <a:endParaRPr lang="en-US" sz="1400" b="0" i="0" u="none" strike="noStrike" dirty="0">
                        <a:solidFill>
                          <a:schemeClr val="accent3"/>
                        </a:solidFill>
                        <a:effectLst/>
                        <a:latin typeface="Calibri Light" panose="020F0302020204030204" pitchFamily="34" charset="0"/>
                      </a:endParaRPr>
                    </a:p>
                  </a:txBody>
                  <a:tcPr marL="0" marR="0" marT="0" marB="0" anchor="ctr">
                    <a:lnL>
                      <a:noFill/>
                    </a:lnL>
                    <a:lnR>
                      <a:noFill/>
                    </a:lnR>
                    <a:lnT>
                      <a:noFill/>
                    </a:lnT>
                    <a:lnB>
                      <a:noFill/>
                    </a:lnB>
                    <a:solidFill>
                      <a:srgbClr val="FFFFFF"/>
                    </a:solidFill>
                  </a:tcPr>
                </a:tc>
                <a:tc>
                  <a:txBody>
                    <a:bodyPr/>
                    <a:lstStyle/>
                    <a:p>
                      <a:pPr algn="ctr" fontAlgn="ctr"/>
                      <a:r>
                        <a:rPr lang="en-US" sz="1400" b="1" i="0" u="none" strike="noStrike">
                          <a:solidFill>
                            <a:schemeClr val="accent3"/>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tc>
                  <a:txBody>
                    <a:bodyPr/>
                    <a:lstStyle/>
                    <a:p>
                      <a:pPr algn="ctr" fontAlgn="ctr"/>
                      <a:r>
                        <a:rPr lang="en-US" sz="1400" b="1" i="0" u="none" strike="noStrike">
                          <a:solidFill>
                            <a:schemeClr val="accent3"/>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tc>
                  <a:txBody>
                    <a:bodyPr/>
                    <a:lstStyle/>
                    <a:p>
                      <a:pPr algn="ctr" fontAlgn="ctr"/>
                      <a:r>
                        <a:rPr lang="en-US" sz="1400" b="1" i="0" u="none" strike="noStrike">
                          <a:solidFill>
                            <a:schemeClr val="accent3"/>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741968021"/>
                  </a:ext>
                </a:extLst>
              </a:tr>
              <a:tr h="137843">
                <a:tc>
                  <a:txBody>
                    <a:bodyPr/>
                    <a:lstStyle/>
                    <a:p>
                      <a:pPr algn="l" fontAlgn="b"/>
                      <a:r>
                        <a:rPr lang="en-US" sz="1400" b="0" i="0" u="none" strike="noStrike" dirty="0">
                          <a:solidFill>
                            <a:schemeClr val="accent3"/>
                          </a:solidFill>
                          <a:effectLst/>
                          <a:latin typeface="Calibri Light" panose="020F03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en-US" sz="1400" b="0" i="0" u="none" strike="noStrike">
                          <a:solidFill>
                            <a:schemeClr val="accent3"/>
                          </a:solidFill>
                          <a:effectLst/>
                          <a:latin typeface="Calibri Light" panose="020F03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en-US" sz="1400" b="0" i="0" u="none" strike="noStrike">
                          <a:solidFill>
                            <a:schemeClr val="accent3"/>
                          </a:solidFill>
                          <a:effectLst/>
                          <a:latin typeface="Calibri Light" panose="020F03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en-US" sz="1400" b="0" i="0" u="none" strike="noStrike">
                          <a:solidFill>
                            <a:schemeClr val="accent3"/>
                          </a:solidFill>
                          <a:effectLst/>
                          <a:latin typeface="Calibri Light" panose="020F03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547624341"/>
                  </a:ext>
                </a:extLst>
              </a:tr>
              <a:tr h="145224">
                <a:tc>
                  <a:txBody>
                    <a:bodyPr/>
                    <a:lstStyle/>
                    <a:p>
                      <a:pPr algn="ctr" fontAlgn="ctr"/>
                      <a:r>
                        <a:rPr lang="en-US" sz="1400" b="1" i="0" u="none" strike="noStrike" dirty="0">
                          <a:solidFill>
                            <a:schemeClr val="accent3"/>
                          </a:solidFill>
                          <a:effectLst/>
                          <a:latin typeface="Calibri Light" panose="020F0302020204030204" pitchFamily="34" charset="0"/>
                        </a:rPr>
                        <a:t>Date </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tc>
                  <a:txBody>
                    <a:bodyPr/>
                    <a:lstStyle/>
                    <a:p>
                      <a:pPr algn="ctr" fontAlgn="ctr"/>
                      <a:r>
                        <a:rPr lang="en-US" sz="1400" b="1" i="0" u="none" strike="noStrike" dirty="0">
                          <a:solidFill>
                            <a:schemeClr val="accent3"/>
                          </a:solidFill>
                          <a:effectLst/>
                          <a:latin typeface="Calibri Light" panose="020F0302020204030204" pitchFamily="34" charset="0"/>
                        </a:rPr>
                        <a:t>Firm</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tc>
                  <a:txBody>
                    <a:bodyPr/>
                    <a:lstStyle/>
                    <a:p>
                      <a:pPr algn="ctr" fontAlgn="ctr"/>
                      <a:r>
                        <a:rPr lang="en-US" sz="1400" b="1" i="0" u="none" strike="noStrike" dirty="0">
                          <a:solidFill>
                            <a:schemeClr val="accent3"/>
                          </a:solidFill>
                          <a:effectLst/>
                          <a:latin typeface="Calibri Light" panose="020F0302020204030204" pitchFamily="34" charset="0"/>
                        </a:rPr>
                        <a:t>2023</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tc>
                  <a:txBody>
                    <a:bodyPr/>
                    <a:lstStyle/>
                    <a:p>
                      <a:pPr algn="ctr" fontAlgn="ctr"/>
                      <a:r>
                        <a:rPr lang="en-US" sz="1400" b="1" i="0" u="none" strike="noStrike" dirty="0">
                          <a:solidFill>
                            <a:schemeClr val="accent3"/>
                          </a:solidFill>
                          <a:effectLst/>
                          <a:latin typeface="Calibri Light" panose="020F0302020204030204" pitchFamily="34" charset="0"/>
                        </a:rPr>
                        <a:t>2024</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642719343"/>
                  </a:ext>
                </a:extLst>
              </a:tr>
              <a:tr h="137843">
                <a:tc>
                  <a:txBody>
                    <a:bodyPr/>
                    <a:lstStyle/>
                    <a:p>
                      <a:pPr algn="ctr" fontAlgn="b"/>
                      <a:r>
                        <a:rPr lang="en-US" sz="1400" b="0" i="0" u="none" strike="noStrike">
                          <a:solidFill>
                            <a:srgbClr val="000000"/>
                          </a:solidFill>
                          <a:effectLst/>
                          <a:latin typeface="Calibri Light" panose="020F0302020204030204" pitchFamily="34" charset="0"/>
                        </a:rPr>
                        <a:t> </a:t>
                      </a:r>
                    </a:p>
                  </a:txBody>
                  <a:tcPr marL="0" marR="0" marT="0" marB="0" anchor="b">
                    <a:lnL>
                      <a:noFill/>
                    </a:lnL>
                    <a:lnR>
                      <a:noFill/>
                    </a:lnR>
                    <a:lnT w="6350" cap="flat" cmpd="sng" algn="ctr">
                      <a:solidFill>
                        <a:srgbClr val="4472C4"/>
                      </a:solidFill>
                      <a:prstDash val="solid"/>
                      <a:round/>
                      <a:headEnd type="none" w="med" len="med"/>
                      <a:tailEnd type="none" w="med" len="med"/>
                    </a:lnT>
                    <a:lnB>
                      <a:noFill/>
                    </a:lnB>
                    <a:solidFill>
                      <a:srgbClr val="FFFFFF"/>
                    </a:solidFill>
                  </a:tcPr>
                </a:tc>
                <a:tc>
                  <a:txBody>
                    <a:bodyPr/>
                    <a:lstStyle/>
                    <a:p>
                      <a:pPr algn="ctr" fontAlgn="b"/>
                      <a:r>
                        <a:rPr lang="en-US" sz="1400" b="0" i="0" u="none" strike="noStrike">
                          <a:solidFill>
                            <a:srgbClr val="000000"/>
                          </a:solidFill>
                          <a:effectLst/>
                          <a:latin typeface="Calibri Light" panose="020F0302020204030204" pitchFamily="34" charset="0"/>
                        </a:rPr>
                        <a:t> </a:t>
                      </a:r>
                    </a:p>
                  </a:txBody>
                  <a:tcPr marL="0" marR="0" marT="0" marB="0" anchor="b">
                    <a:lnL>
                      <a:noFill/>
                    </a:lnL>
                    <a:lnR>
                      <a:noFill/>
                    </a:lnR>
                    <a:lnT w="6350" cap="flat" cmpd="sng" algn="ctr">
                      <a:solidFill>
                        <a:srgbClr val="4472C4"/>
                      </a:solidFill>
                      <a:prstDash val="solid"/>
                      <a:round/>
                      <a:headEnd type="none" w="med" len="med"/>
                      <a:tailEnd type="none" w="med" len="med"/>
                    </a:lnT>
                    <a:lnB>
                      <a:noFill/>
                    </a:lnB>
                    <a:solidFill>
                      <a:srgbClr val="FFFFFF"/>
                    </a:solidFill>
                  </a:tcPr>
                </a:tc>
                <a:tc>
                  <a:txBody>
                    <a:bodyPr/>
                    <a:lstStyle/>
                    <a:p>
                      <a:pPr algn="ctr" fontAlgn="b"/>
                      <a:r>
                        <a:rPr lang="en-US" sz="1400" b="0" i="0" u="none" strike="noStrike">
                          <a:solidFill>
                            <a:srgbClr val="0000FF"/>
                          </a:solidFill>
                          <a:effectLst/>
                          <a:latin typeface="Calibri Light" panose="020F0302020204030204" pitchFamily="34" charset="0"/>
                        </a:rPr>
                        <a:t> </a:t>
                      </a:r>
                    </a:p>
                  </a:txBody>
                  <a:tcPr marL="0" marR="0" marT="0" marB="0" anchor="b">
                    <a:lnL>
                      <a:noFill/>
                    </a:lnL>
                    <a:lnR>
                      <a:noFill/>
                    </a:lnR>
                    <a:lnT w="6350" cap="flat" cmpd="sng" algn="ctr">
                      <a:solidFill>
                        <a:srgbClr val="4472C4"/>
                      </a:solidFill>
                      <a:prstDash val="solid"/>
                      <a:round/>
                      <a:headEnd type="none" w="med" len="med"/>
                      <a:tailEnd type="none" w="med" len="med"/>
                    </a:lnT>
                    <a:lnB>
                      <a:noFill/>
                    </a:lnB>
                    <a:solidFill>
                      <a:srgbClr val="FFFFFF"/>
                    </a:solidFill>
                  </a:tcPr>
                </a:tc>
                <a:tc>
                  <a:txBody>
                    <a:bodyPr/>
                    <a:lstStyle/>
                    <a:p>
                      <a:pPr algn="ctr" fontAlgn="b"/>
                      <a:r>
                        <a:rPr lang="en-US" sz="1400" b="0" i="0" u="none" strike="noStrike">
                          <a:solidFill>
                            <a:srgbClr val="0000FF"/>
                          </a:solidFill>
                          <a:effectLst/>
                          <a:latin typeface="Calibri Light" panose="020F0302020204030204" pitchFamily="34" charset="0"/>
                        </a:rPr>
                        <a:t> </a:t>
                      </a:r>
                    </a:p>
                  </a:txBody>
                  <a:tcPr marL="0" marR="0" marT="0" marB="0" anchor="b">
                    <a:lnL>
                      <a:noFill/>
                    </a:lnL>
                    <a:lnR>
                      <a:noFill/>
                    </a:lnR>
                    <a:lnT w="6350" cap="flat" cmpd="sng" algn="ctr">
                      <a:solidFill>
                        <a:srgbClr val="4472C4"/>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195452269"/>
                  </a:ext>
                </a:extLst>
              </a:tr>
              <a:tr h="137843">
                <a:tc>
                  <a:txBody>
                    <a:bodyPr/>
                    <a:lstStyle/>
                    <a:p>
                      <a:pPr algn="ctr" fontAlgn="ctr"/>
                      <a:r>
                        <a:rPr lang="en-US" sz="1400" b="0" i="0" u="none" strike="noStrike" dirty="0">
                          <a:solidFill>
                            <a:srgbClr val="000000"/>
                          </a:solidFill>
                          <a:effectLst/>
                          <a:latin typeface="Calibri Light" panose="020F0302020204030204" pitchFamily="34" charset="0"/>
                        </a:rPr>
                        <a:t>28-Nov-22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CIBC</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$1.24</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034738425"/>
                  </a:ext>
                </a:extLst>
              </a:tr>
              <a:tr h="137843">
                <a:tc>
                  <a:txBody>
                    <a:bodyPr/>
                    <a:lstStyle/>
                    <a:p>
                      <a:pPr algn="ctr" fontAlgn="ctr"/>
                      <a:r>
                        <a:rPr lang="en-US" sz="1400" b="0" i="0" u="none" strike="noStrike" dirty="0">
                          <a:solidFill>
                            <a:srgbClr val="000000"/>
                          </a:solidFill>
                          <a:effectLst/>
                          <a:latin typeface="Calibri Light" panose="020F0302020204030204" pitchFamily="34" charset="0"/>
                        </a:rPr>
                        <a:t>25-Nov-22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Deutsche Bank</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$1.01</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$1.22</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649202954"/>
                  </a:ext>
                </a:extLst>
              </a:tr>
              <a:tr h="137843">
                <a:tc>
                  <a:txBody>
                    <a:bodyPr/>
                    <a:lstStyle/>
                    <a:p>
                      <a:pPr algn="ctr" fontAlgn="ctr"/>
                      <a:r>
                        <a:rPr lang="en-US" sz="1400" b="0" i="0" u="none" strike="noStrike" dirty="0">
                          <a:solidFill>
                            <a:srgbClr val="000000"/>
                          </a:solidFill>
                          <a:effectLst/>
                          <a:latin typeface="Calibri Light" panose="020F0302020204030204" pitchFamily="34" charset="0"/>
                        </a:rPr>
                        <a:t>24-Nov-22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Macquarie</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$1.04</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$1.02</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949648162"/>
                  </a:ext>
                </a:extLst>
              </a:tr>
              <a:tr h="137843">
                <a:tc>
                  <a:txBody>
                    <a:bodyPr/>
                    <a:lstStyle/>
                    <a:p>
                      <a:pPr algn="ctr" fontAlgn="ctr"/>
                      <a:r>
                        <a:rPr lang="en-US" sz="1400" b="0" i="0" u="none" strike="noStrike" dirty="0">
                          <a:solidFill>
                            <a:srgbClr val="000000"/>
                          </a:solidFill>
                          <a:effectLst/>
                          <a:latin typeface="Calibri Light" panose="020F0302020204030204" pitchFamily="34" charset="0"/>
                        </a:rPr>
                        <a:t>23-Nov-22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JP Morgan</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657736725"/>
                  </a:ext>
                </a:extLst>
              </a:tr>
              <a:tr h="137843">
                <a:tc>
                  <a:txBody>
                    <a:bodyPr/>
                    <a:lstStyle/>
                    <a:p>
                      <a:pPr algn="ctr" fontAlgn="ctr"/>
                      <a:r>
                        <a:rPr lang="en-US" sz="1400" b="0" i="0" u="none" strike="noStrike">
                          <a:solidFill>
                            <a:srgbClr val="000000"/>
                          </a:solidFill>
                          <a:effectLst/>
                          <a:latin typeface="Calibri Light" panose="020F0302020204030204" pitchFamily="34" charset="0"/>
                        </a:rPr>
                        <a:t>23-Nov-22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UBS</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$1.25</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919476497"/>
                  </a:ext>
                </a:extLst>
              </a:tr>
              <a:tr h="137843">
                <a:tc>
                  <a:txBody>
                    <a:bodyPr/>
                    <a:lstStyle/>
                    <a:p>
                      <a:pPr algn="ctr" fontAlgn="ctr"/>
                      <a:r>
                        <a:rPr lang="en-US" sz="14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Morgan Stanley</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241136147"/>
                  </a:ext>
                </a:extLst>
              </a:tr>
              <a:tr h="137843">
                <a:tc>
                  <a:txBody>
                    <a:bodyPr/>
                    <a:lstStyle/>
                    <a:p>
                      <a:pPr algn="ctr" fontAlgn="ctr"/>
                      <a:r>
                        <a:rPr lang="en-US" sz="14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RBC</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$1.15</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687576969"/>
                  </a:ext>
                </a:extLst>
              </a:tr>
              <a:tr h="137843">
                <a:tc>
                  <a:txBody>
                    <a:bodyPr/>
                    <a:lstStyle/>
                    <a:p>
                      <a:pPr algn="ctr" fontAlgn="ctr"/>
                      <a:r>
                        <a:rPr lang="en-US" sz="1400" b="0" i="0" u="none" strike="noStrike" dirty="0">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Credit Suisse</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$1.30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55091230"/>
                  </a:ext>
                </a:extLst>
              </a:tr>
              <a:tr h="137843">
                <a:tc>
                  <a:txBody>
                    <a:bodyPr/>
                    <a:lstStyle/>
                    <a:p>
                      <a:pPr algn="ctr" fontAlgn="ctr"/>
                      <a:r>
                        <a:rPr lang="en-US" sz="14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BMO</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$1.05</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$1.09</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32920270"/>
                  </a:ext>
                </a:extLst>
              </a:tr>
              <a:tr h="137843">
                <a:tc>
                  <a:txBody>
                    <a:bodyPr/>
                    <a:lstStyle/>
                    <a:p>
                      <a:pPr algn="ctr" fontAlgn="ctr"/>
                      <a:r>
                        <a:rPr lang="en-US" sz="14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BofA</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$1.24</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$1.59</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58164950"/>
                  </a:ext>
                </a:extLst>
              </a:tr>
              <a:tr h="137843">
                <a:tc>
                  <a:txBody>
                    <a:bodyPr/>
                    <a:lstStyle/>
                    <a:p>
                      <a:pPr algn="ctr" fontAlgn="ctr"/>
                      <a:r>
                        <a:rPr lang="en-US" sz="1400" b="0" i="0" u="none" strike="noStrike">
                          <a:solidFill>
                            <a:srgbClr val="000000"/>
                          </a:solidFill>
                          <a:effectLst/>
                          <a:latin typeface="Calibri Light" panose="020F0302020204030204" pitchFamily="34" charset="0"/>
                        </a:rPr>
                        <a:t>19-Nov-22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Jefferies</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$0.98</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492025801"/>
                  </a:ext>
                </a:extLst>
              </a:tr>
              <a:tr h="137843">
                <a:tc>
                  <a:txBody>
                    <a:bodyPr/>
                    <a:lstStyle/>
                    <a:p>
                      <a:pPr algn="ctr" fontAlgn="ctr"/>
                      <a:r>
                        <a:rPr lang="en-US" sz="1400" b="0" i="0" u="none" strike="noStrike">
                          <a:solidFill>
                            <a:srgbClr val="000000"/>
                          </a:solidFill>
                          <a:effectLst/>
                          <a:latin typeface="Calibri Light" panose="020F0302020204030204" pitchFamily="34" charset="0"/>
                        </a:rPr>
                        <a:t>16-Nov-22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Barclays</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$1.13</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$1.32</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465891117"/>
                  </a:ext>
                </a:extLst>
              </a:tr>
              <a:tr h="137843">
                <a:tc>
                  <a:txBody>
                    <a:bodyPr/>
                    <a:lstStyle/>
                    <a:p>
                      <a:pPr algn="ctr" fontAlgn="ctr"/>
                      <a:r>
                        <a:rPr lang="en-US" sz="1400" b="0" i="0" u="none" strike="noStrike">
                          <a:solidFill>
                            <a:srgbClr val="000000"/>
                          </a:solidFill>
                          <a:effectLst/>
                          <a:latin typeface="Calibri Light" panose="020F0302020204030204" pitchFamily="34" charset="0"/>
                        </a:rPr>
                        <a:t>13-Nov-22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HSBC</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$1.00</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$1.02</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46044396"/>
                  </a:ext>
                </a:extLst>
              </a:tr>
              <a:tr h="137843">
                <a:tc>
                  <a:txBody>
                    <a:bodyPr/>
                    <a:lstStyle/>
                    <a:p>
                      <a:pPr algn="ctr" fontAlgn="ctr"/>
                      <a:r>
                        <a:rPr lang="en-US" sz="1400" b="0" i="0" u="none" strike="noStrike">
                          <a:solidFill>
                            <a:srgbClr val="000000"/>
                          </a:solidFill>
                          <a:effectLst/>
                          <a:latin typeface="Calibri Light" panose="020F0302020204030204" pitchFamily="34" charset="0"/>
                        </a:rPr>
                        <a:t>09-Nov-22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BNP Paribas</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$1.00</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$1.04</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756107225"/>
                  </a:ext>
                </a:extLst>
              </a:tr>
              <a:tr h="137843">
                <a:tc>
                  <a:txBody>
                    <a:bodyPr/>
                    <a:lstStyle/>
                    <a:p>
                      <a:pPr algn="ctr" fontAlgn="ctr"/>
                      <a:r>
                        <a:rPr lang="en-US" sz="1400" b="0" i="0" u="none" strike="noStrike">
                          <a:solidFill>
                            <a:srgbClr val="000000"/>
                          </a:solidFill>
                          <a:effectLst/>
                          <a:latin typeface="Calibri Light" panose="020F0302020204030204" pitchFamily="34" charset="0"/>
                        </a:rPr>
                        <a:t>18-Oct-22</a:t>
                      </a:r>
                    </a:p>
                  </a:txBody>
                  <a:tcPr marL="0" marR="0" marT="0" marB="0" anchor="ctr">
                    <a:lnL>
                      <a:noFill/>
                    </a:lnL>
                    <a:lnR>
                      <a:noFill/>
                    </a:lnR>
                    <a:lnT>
                      <a:noFill/>
                    </a:lnT>
                    <a:lnB>
                      <a:noFill/>
                    </a:lnB>
                    <a:solidFill>
                      <a:srgbClr val="FFFFFF"/>
                    </a:solidFill>
                  </a:tcPr>
                </a:tc>
                <a:tc>
                  <a:txBody>
                    <a:bodyPr/>
                    <a:lstStyle/>
                    <a:p>
                      <a:pPr algn="l" fontAlgn="ctr"/>
                      <a:r>
                        <a:rPr lang="en-US" sz="1400" b="0" i="0" u="none" strike="noStrike">
                          <a:solidFill>
                            <a:srgbClr val="000000"/>
                          </a:solidFill>
                          <a:effectLst/>
                          <a:latin typeface="Calibri Light" panose="020F0302020204030204" pitchFamily="34" charset="0"/>
                        </a:rPr>
                        <a:t>Berenberg</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$0.85</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$0.94</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037715870"/>
                  </a:ext>
                </a:extLst>
              </a:tr>
              <a:tr h="137843">
                <a:tc>
                  <a:txBody>
                    <a:bodyPr/>
                    <a:lstStyle/>
                    <a:p>
                      <a:pPr algn="l" fontAlgn="ctr"/>
                      <a:r>
                        <a:rPr lang="en-US" sz="1400" b="0" i="0" u="none" strike="noStrike">
                          <a:solidFill>
                            <a:srgbClr val="000000"/>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tc>
                  <a:txBody>
                    <a:bodyPr/>
                    <a:lstStyle/>
                    <a:p>
                      <a:pPr algn="ctr" fontAlgn="ctr"/>
                      <a:r>
                        <a:rPr lang="en-US" sz="1400" b="0" i="0" u="none" strike="noStrike">
                          <a:solidFill>
                            <a:srgbClr val="000000"/>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685667263"/>
                  </a:ext>
                </a:extLst>
              </a:tr>
              <a:tr h="137843">
                <a:tc>
                  <a:txBody>
                    <a:bodyPr/>
                    <a:lstStyle/>
                    <a:p>
                      <a:pPr algn="l" fontAlgn="ctr"/>
                      <a:r>
                        <a:rPr lang="en-US" sz="1400" b="1" i="0" u="none" strike="noStrike">
                          <a:solidFill>
                            <a:srgbClr val="000000"/>
                          </a:solidFill>
                          <a:effectLst/>
                          <a:latin typeface="Calibri Light" panose="020F0302020204030204" pitchFamily="34" charset="0"/>
                        </a:rPr>
                        <a:t>Average</a:t>
                      </a:r>
                    </a:p>
                  </a:txBody>
                  <a:tcPr marL="95250" marR="0" marT="0" marB="0" anchor="ctr">
                    <a:lnL>
                      <a:noFill/>
                    </a:lnL>
                    <a:lnR>
                      <a:noFill/>
                    </a:lnR>
                    <a:lnT>
                      <a:noFill/>
                    </a:lnT>
                    <a:lnB>
                      <a:noFill/>
                    </a:lnB>
                    <a:solidFill>
                      <a:srgbClr val="FFF2CC"/>
                    </a:solidFill>
                  </a:tcPr>
                </a:tc>
                <a:tc>
                  <a:txBody>
                    <a:bodyPr/>
                    <a:lstStyle/>
                    <a:p>
                      <a:pPr algn="ctr" fontAlgn="ctr"/>
                      <a:r>
                        <a:rPr lang="en-US" sz="1400" b="0" i="0" u="none" strike="noStrike">
                          <a:solidFill>
                            <a:srgbClr val="000000"/>
                          </a:solidFill>
                          <a:effectLst/>
                          <a:latin typeface="Calibri Light" panose="020F0302020204030204" pitchFamily="34" charset="0"/>
                        </a:rPr>
                        <a:t> </a:t>
                      </a:r>
                    </a:p>
                  </a:txBody>
                  <a:tcPr marL="0" marR="0" marT="0" marB="0" anchor="ctr">
                    <a:lnL>
                      <a:noFill/>
                    </a:lnL>
                    <a:lnR>
                      <a:noFill/>
                    </a:lnR>
                    <a:lnT>
                      <a:noFill/>
                    </a:lnT>
                    <a:lnB>
                      <a:noFill/>
                    </a:lnB>
                    <a:solidFill>
                      <a:srgbClr val="FFF2CC"/>
                    </a:solidFill>
                  </a:tcPr>
                </a:tc>
                <a:tc>
                  <a:txBody>
                    <a:bodyPr/>
                    <a:lstStyle/>
                    <a:p>
                      <a:pPr algn="ctr" fontAlgn="ctr"/>
                      <a:r>
                        <a:rPr lang="en-US" sz="1400" b="1" i="0" u="none" strike="noStrike" dirty="0">
                          <a:solidFill>
                            <a:srgbClr val="000000"/>
                          </a:solidFill>
                          <a:effectLst/>
                          <a:latin typeface="Calibri Light" panose="020F0302020204030204" pitchFamily="34" charset="0"/>
                        </a:rPr>
                        <a:t>$1.08</a:t>
                      </a:r>
                    </a:p>
                  </a:txBody>
                  <a:tcPr marL="0" marR="0" marT="0" marB="0" anchor="ctr">
                    <a:lnL>
                      <a:noFill/>
                    </a:lnL>
                    <a:lnR>
                      <a:noFill/>
                    </a:lnR>
                    <a:lnT>
                      <a:noFill/>
                    </a:lnT>
                    <a:lnB>
                      <a:noFill/>
                    </a:lnB>
                    <a:solidFill>
                      <a:srgbClr val="FFF2CC"/>
                    </a:solidFill>
                  </a:tcPr>
                </a:tc>
                <a:tc>
                  <a:txBody>
                    <a:bodyPr/>
                    <a:lstStyle/>
                    <a:p>
                      <a:pPr algn="ctr" fontAlgn="ctr"/>
                      <a:r>
                        <a:rPr lang="en-US" sz="1400" b="1" i="0" u="none" strike="noStrike" dirty="0">
                          <a:solidFill>
                            <a:srgbClr val="000000"/>
                          </a:solidFill>
                          <a:effectLst/>
                          <a:latin typeface="Calibri Light" panose="020F0302020204030204" pitchFamily="34" charset="0"/>
                        </a:rPr>
                        <a:t>$1.18</a:t>
                      </a:r>
                    </a:p>
                  </a:txBody>
                  <a:tcPr marL="0" marR="0" marT="0" marB="0" anchor="ctr">
                    <a:lnL>
                      <a:noFill/>
                    </a:lnL>
                    <a:lnR>
                      <a:noFill/>
                    </a:lnR>
                    <a:lnT>
                      <a:noFill/>
                    </a:lnT>
                    <a:lnB>
                      <a:noFill/>
                    </a:lnB>
                    <a:solidFill>
                      <a:srgbClr val="FFF2CC"/>
                    </a:solidFill>
                  </a:tcPr>
                </a:tc>
                <a:extLst>
                  <a:ext uri="{0D108BD9-81ED-4DB2-BD59-A6C34878D82A}">
                    <a16:rowId xmlns:a16="http://schemas.microsoft.com/office/drawing/2014/main" val="1351569739"/>
                  </a:ext>
                </a:extLst>
              </a:tr>
            </a:tbl>
          </a:graphicData>
        </a:graphic>
      </p:graphicFrame>
      <p:sp>
        <p:nvSpPr>
          <p:cNvPr id="12" name="TextBox 11">
            <a:extLst>
              <a:ext uri="{FF2B5EF4-FFF2-40B4-BE49-F238E27FC236}">
                <a16:creationId xmlns:a16="http://schemas.microsoft.com/office/drawing/2014/main" id="{7CECF730-C156-43E0-8686-2D150F4A2E86}"/>
              </a:ext>
            </a:extLst>
          </p:cNvPr>
          <p:cNvSpPr txBox="1"/>
          <p:nvPr/>
        </p:nvSpPr>
        <p:spPr>
          <a:xfrm>
            <a:off x="606878" y="5650076"/>
            <a:ext cx="6096000" cy="307777"/>
          </a:xfrm>
          <a:prstGeom prst="rect">
            <a:avLst/>
          </a:prstGeom>
          <a:noFill/>
        </p:spPr>
        <p:txBody>
          <a:bodyPr wrap="square">
            <a:spAutoFit/>
          </a:bodyPr>
          <a:lstStyle/>
          <a:p>
            <a:r>
              <a:rPr lang="en-US" sz="1400" b="1" i="0" u="none" strike="noStrike" dirty="0">
                <a:solidFill>
                  <a:srgbClr val="000000"/>
                </a:solidFill>
                <a:effectLst/>
                <a:latin typeface="+mj-lt"/>
              </a:rPr>
              <a:t>Pound to Kg:</a:t>
            </a:r>
            <a:r>
              <a:rPr lang="en-US" sz="1400" b="1" dirty="0">
                <a:latin typeface="+mj-lt"/>
              </a:rPr>
              <a:t> </a:t>
            </a:r>
            <a:r>
              <a:rPr lang="en-US" sz="1400" b="1" i="0" u="none" strike="noStrike" dirty="0">
                <a:solidFill>
                  <a:srgbClr val="000000"/>
                </a:solidFill>
                <a:effectLst/>
                <a:latin typeface="+mj-lt"/>
              </a:rPr>
              <a:t>2.205</a:t>
            </a:r>
            <a:r>
              <a:rPr lang="en-US" sz="1400" b="1" dirty="0">
                <a:latin typeface="+mj-lt"/>
              </a:rPr>
              <a:t> </a:t>
            </a:r>
          </a:p>
        </p:txBody>
      </p:sp>
      <p:graphicFrame>
        <p:nvGraphicFramePr>
          <p:cNvPr id="11" name="Table 10">
            <a:extLst>
              <a:ext uri="{FF2B5EF4-FFF2-40B4-BE49-F238E27FC236}">
                <a16:creationId xmlns:a16="http://schemas.microsoft.com/office/drawing/2014/main" id="{30FC02DF-AD26-4485-BB83-DF22A81173E4}"/>
              </a:ext>
            </a:extLst>
          </p:cNvPr>
          <p:cNvGraphicFramePr>
            <a:graphicFrameLocks noGrp="1"/>
          </p:cNvGraphicFramePr>
          <p:nvPr>
            <p:extLst>
              <p:ext uri="{D42A27DB-BD31-4B8C-83A1-F6EECF244321}">
                <p14:modId xmlns:p14="http://schemas.microsoft.com/office/powerpoint/2010/main" val="301791776"/>
              </p:ext>
            </p:extLst>
          </p:nvPr>
        </p:nvGraphicFramePr>
        <p:xfrm>
          <a:off x="4849586" y="5650076"/>
          <a:ext cx="5981700" cy="426720"/>
        </p:xfrm>
        <a:graphic>
          <a:graphicData uri="http://schemas.openxmlformats.org/drawingml/2006/table">
            <a:tbl>
              <a:tblPr/>
              <a:tblGrid>
                <a:gridCol w="3222699">
                  <a:extLst>
                    <a:ext uri="{9D8B030D-6E8A-4147-A177-3AD203B41FA5}">
                      <a16:colId xmlns:a16="http://schemas.microsoft.com/office/drawing/2014/main" val="4060390568"/>
                    </a:ext>
                  </a:extLst>
                </a:gridCol>
                <a:gridCol w="1622942">
                  <a:extLst>
                    <a:ext uri="{9D8B030D-6E8A-4147-A177-3AD203B41FA5}">
                      <a16:colId xmlns:a16="http://schemas.microsoft.com/office/drawing/2014/main" val="2650234237"/>
                    </a:ext>
                  </a:extLst>
                </a:gridCol>
                <a:gridCol w="1136059">
                  <a:extLst>
                    <a:ext uri="{9D8B030D-6E8A-4147-A177-3AD203B41FA5}">
                      <a16:colId xmlns:a16="http://schemas.microsoft.com/office/drawing/2014/main" val="2902104523"/>
                    </a:ext>
                  </a:extLst>
                </a:gridCol>
              </a:tblGrid>
              <a:tr h="153889">
                <a:tc>
                  <a:txBody>
                    <a:bodyPr/>
                    <a:lstStyle/>
                    <a:p>
                      <a:pPr algn="l" fontAlgn="ctr"/>
                      <a:r>
                        <a:rPr lang="en-US" sz="1400" b="0" i="0" u="none" strike="noStrike">
                          <a:solidFill>
                            <a:srgbClr val="000000"/>
                          </a:solidFill>
                          <a:effectLst/>
                          <a:latin typeface="Calibri Light" panose="020F0302020204030204" pitchFamily="34" charset="0"/>
                        </a:rPr>
                        <a:t> </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ctr"/>
                      <a:r>
                        <a:rPr lang="en-US" sz="1400" b="0" i="0" u="none" strike="noStrike" dirty="0">
                          <a:solidFill>
                            <a:srgbClr val="000000"/>
                          </a:solidFill>
                          <a:effectLst/>
                          <a:latin typeface="Calibri Light" panose="020F0302020204030204" pitchFamily="34" charset="0"/>
                        </a:rPr>
                        <a:t>USD/Pound</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ctr"/>
                      <a:r>
                        <a:rPr lang="en-US" sz="1400" b="0" i="0" u="none" strike="noStrike">
                          <a:solidFill>
                            <a:srgbClr val="000000"/>
                          </a:solidFill>
                          <a:effectLst/>
                          <a:latin typeface="Calibri Light" panose="020F0302020204030204" pitchFamily="34" charset="0"/>
                        </a:rPr>
                        <a:t>USD/ton</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2D050"/>
                    </a:solidFill>
                  </a:tcPr>
                </a:tc>
                <a:extLst>
                  <a:ext uri="{0D108BD9-81ED-4DB2-BD59-A6C34878D82A}">
                    <a16:rowId xmlns:a16="http://schemas.microsoft.com/office/drawing/2014/main" val="3461831833"/>
                  </a:ext>
                </a:extLst>
              </a:tr>
              <a:tr h="153889">
                <a:tc>
                  <a:txBody>
                    <a:bodyPr/>
                    <a:lstStyle/>
                    <a:p>
                      <a:pPr algn="ctr" fontAlgn="b"/>
                      <a:r>
                        <a:rPr lang="en-US" sz="1400" b="1" i="0" u="none" strike="noStrike" dirty="0">
                          <a:solidFill>
                            <a:srgbClr val="000000"/>
                          </a:solidFill>
                          <a:effectLst/>
                          <a:latin typeface="Calibri Light" panose="020F0302020204030204" pitchFamily="34" charset="0"/>
                        </a:rPr>
                        <a:t>Average of 2023 and 2024 (Forecast)</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92D050"/>
                    </a:solidFill>
                  </a:tcPr>
                </a:tc>
                <a:tc>
                  <a:txBody>
                    <a:bodyPr/>
                    <a:lstStyle/>
                    <a:p>
                      <a:pPr algn="ctr" fontAlgn="b"/>
                      <a:r>
                        <a:rPr lang="en-US" sz="1400" b="1" i="0" u="none" strike="noStrike" dirty="0">
                          <a:solidFill>
                            <a:srgbClr val="000000"/>
                          </a:solidFill>
                          <a:effectLst/>
                          <a:latin typeface="Calibri Light" panose="020F0302020204030204" pitchFamily="34" charset="0"/>
                        </a:rPr>
                        <a:t>$1.13</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92D050"/>
                    </a:solidFill>
                  </a:tcPr>
                </a:tc>
                <a:tc>
                  <a:txBody>
                    <a:bodyPr/>
                    <a:lstStyle/>
                    <a:p>
                      <a:pPr algn="ctr" fontAlgn="b"/>
                      <a:r>
                        <a:rPr lang="en-US" sz="1400" b="1" i="0" u="none" strike="noStrike" dirty="0">
                          <a:solidFill>
                            <a:srgbClr val="000000"/>
                          </a:solidFill>
                          <a:effectLst/>
                          <a:latin typeface="Calibri Light" panose="020F0302020204030204" pitchFamily="34" charset="0"/>
                        </a:rPr>
                        <a:t>$2,488.27</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697885628"/>
                  </a:ext>
                </a:extLst>
              </a:tr>
            </a:tbl>
          </a:graphicData>
        </a:graphic>
      </p:graphicFrame>
      <p:sp>
        <p:nvSpPr>
          <p:cNvPr id="15" name="TextBox 14">
            <a:extLst>
              <a:ext uri="{FF2B5EF4-FFF2-40B4-BE49-F238E27FC236}">
                <a16:creationId xmlns:a16="http://schemas.microsoft.com/office/drawing/2014/main" id="{2CBD1062-5F18-48CC-B8CB-BC3DAB572E8B}"/>
              </a:ext>
            </a:extLst>
          </p:cNvPr>
          <p:cNvSpPr txBox="1"/>
          <p:nvPr/>
        </p:nvSpPr>
        <p:spPr>
          <a:xfrm>
            <a:off x="620486" y="6183086"/>
            <a:ext cx="1382485" cy="138499"/>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Source: Deloitte Research</a:t>
            </a:r>
          </a:p>
        </p:txBody>
      </p:sp>
      <p:sp>
        <p:nvSpPr>
          <p:cNvPr id="7" name="Arrow: Right 6">
            <a:hlinkClick r:id="rId2" action="ppaction://hlinksldjump"/>
            <a:extLst>
              <a:ext uri="{FF2B5EF4-FFF2-40B4-BE49-F238E27FC236}">
                <a16:creationId xmlns:a16="http://schemas.microsoft.com/office/drawing/2014/main" id="{9E377671-FC6E-479A-88B1-814159D49A4C}"/>
              </a:ext>
            </a:extLst>
          </p:cNvPr>
          <p:cNvSpPr/>
          <p:nvPr/>
        </p:nvSpPr>
        <p:spPr bwMode="gray">
          <a:xfrm flipH="1">
            <a:off x="6940465" y="69334"/>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265516835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solidFill>
                  <a:srgbClr val="313131"/>
                </a:solidFill>
              </a:rPr>
              <a:t>Annexure 1: </a:t>
            </a:r>
            <a:r>
              <a:rPr lang="en-US" sz="2400" b="1" dirty="0" err="1">
                <a:solidFill>
                  <a:srgbClr val="313131"/>
                </a:solidFill>
              </a:rPr>
              <a:t>Aluminium</a:t>
            </a:r>
            <a:r>
              <a:rPr lang="en-US" sz="2400" b="1" dirty="0">
                <a:solidFill>
                  <a:srgbClr val="313131"/>
                </a:solidFill>
              </a:rPr>
              <a:t> Price Forecast (2/2)</a:t>
            </a:r>
            <a:endParaRPr lang="en-GB" b="1" dirty="0"/>
          </a:p>
        </p:txBody>
      </p:sp>
      <p:sp>
        <p:nvSpPr>
          <p:cNvPr id="7" name="Arrow: Right 6">
            <a:hlinkClick r:id="rId2" action="ppaction://hlinksldjump"/>
            <a:extLst>
              <a:ext uri="{FF2B5EF4-FFF2-40B4-BE49-F238E27FC236}">
                <a16:creationId xmlns:a16="http://schemas.microsoft.com/office/drawing/2014/main" id="{9E377671-FC6E-479A-88B1-814159D49A4C}"/>
              </a:ext>
            </a:extLst>
          </p:cNvPr>
          <p:cNvSpPr/>
          <p:nvPr/>
        </p:nvSpPr>
        <p:spPr bwMode="gray">
          <a:xfrm flipH="1">
            <a:off x="6940465" y="69334"/>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graphicFrame>
        <p:nvGraphicFramePr>
          <p:cNvPr id="3" name="Table 2">
            <a:extLst>
              <a:ext uri="{FF2B5EF4-FFF2-40B4-BE49-F238E27FC236}">
                <a16:creationId xmlns:a16="http://schemas.microsoft.com/office/drawing/2014/main" id="{2EB3379B-E7B5-4DBE-9A6E-705719E8B228}"/>
              </a:ext>
            </a:extLst>
          </p:cNvPr>
          <p:cNvGraphicFramePr>
            <a:graphicFrameLocks noGrp="1"/>
          </p:cNvGraphicFramePr>
          <p:nvPr>
            <p:extLst>
              <p:ext uri="{D42A27DB-BD31-4B8C-83A1-F6EECF244321}">
                <p14:modId xmlns:p14="http://schemas.microsoft.com/office/powerpoint/2010/main" val="2289280907"/>
              </p:ext>
            </p:extLst>
          </p:nvPr>
        </p:nvGraphicFramePr>
        <p:xfrm>
          <a:off x="501650" y="1102066"/>
          <a:ext cx="10433872" cy="1564935"/>
        </p:xfrm>
        <a:graphic>
          <a:graphicData uri="http://schemas.openxmlformats.org/drawingml/2006/table">
            <a:tbl>
              <a:tblPr/>
              <a:tblGrid>
                <a:gridCol w="4665853">
                  <a:extLst>
                    <a:ext uri="{9D8B030D-6E8A-4147-A177-3AD203B41FA5}">
                      <a16:colId xmlns:a16="http://schemas.microsoft.com/office/drawing/2014/main" val="1555908897"/>
                    </a:ext>
                  </a:extLst>
                </a:gridCol>
                <a:gridCol w="1763470">
                  <a:extLst>
                    <a:ext uri="{9D8B030D-6E8A-4147-A177-3AD203B41FA5}">
                      <a16:colId xmlns:a16="http://schemas.microsoft.com/office/drawing/2014/main" val="4169749598"/>
                    </a:ext>
                  </a:extLst>
                </a:gridCol>
                <a:gridCol w="4004549">
                  <a:extLst>
                    <a:ext uri="{9D8B030D-6E8A-4147-A177-3AD203B41FA5}">
                      <a16:colId xmlns:a16="http://schemas.microsoft.com/office/drawing/2014/main" val="3475381929"/>
                    </a:ext>
                  </a:extLst>
                </a:gridCol>
              </a:tblGrid>
              <a:tr h="312987">
                <a:tc>
                  <a:txBody>
                    <a:bodyPr/>
                    <a:lstStyle/>
                    <a:p>
                      <a:pPr algn="ctr" fontAlgn="b"/>
                      <a:endParaRPr lang="en-US"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1" i="0" u="none" strike="noStrike" dirty="0">
                          <a:solidFill>
                            <a:srgbClr val="000000"/>
                          </a:solidFill>
                          <a:effectLst/>
                          <a:latin typeface="Calibri" panose="020F0502020204030204" pitchFamily="34" charset="0"/>
                        </a:rPr>
                        <a:t>Jan-23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Calibri" panose="020F0502020204030204" pitchFamily="34" charset="0"/>
                        </a:rPr>
                        <a:t>Average 2023-2024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06170"/>
                  </a:ext>
                </a:extLst>
              </a:tr>
              <a:tr h="312987">
                <a:tc>
                  <a:txBody>
                    <a:bodyPr/>
                    <a:lstStyle/>
                    <a:p>
                      <a:pPr algn="ctr" fontAlgn="b"/>
                      <a:r>
                        <a:rPr lang="en-US" sz="1800" b="0" i="0" u="none" strike="noStrike" dirty="0" err="1">
                          <a:solidFill>
                            <a:srgbClr val="000000"/>
                          </a:solidFill>
                          <a:effectLst/>
                          <a:latin typeface="Calibri" panose="020F0502020204030204" pitchFamily="34" charset="0"/>
                        </a:rPr>
                        <a:t>Aluminium</a:t>
                      </a:r>
                      <a:r>
                        <a:rPr lang="en-US" sz="1800" b="0" i="0" u="none" strike="noStrike" dirty="0">
                          <a:solidFill>
                            <a:srgbClr val="000000"/>
                          </a:solidFill>
                          <a:effectLst/>
                          <a:latin typeface="Calibri" panose="020F0502020204030204" pitchFamily="34" charset="0"/>
                        </a:rPr>
                        <a:t> Cost (USD/ton)</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2511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Calibri" panose="020F0502020204030204" pitchFamily="34" charset="0"/>
                        </a:rPr>
                        <a:t>2488.3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7747382"/>
                  </a:ext>
                </a:extLst>
              </a:tr>
              <a:tr h="312987">
                <a:tc>
                  <a:txBody>
                    <a:bodyPr/>
                    <a:lstStyle/>
                    <a:p>
                      <a:pPr algn="ctr" fontAlgn="b"/>
                      <a:r>
                        <a:rPr lang="en-US" sz="1800" b="0" i="0" u="none" strike="noStrike" dirty="0">
                          <a:solidFill>
                            <a:srgbClr val="000000"/>
                          </a:solidFill>
                          <a:effectLst/>
                          <a:latin typeface="Calibri" panose="020F0502020204030204" pitchFamily="34" charset="0"/>
                        </a:rPr>
                        <a:t>Unit Required per Wp (kg)</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0.008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0.008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916512"/>
                  </a:ext>
                </a:extLst>
              </a:tr>
              <a:tr h="312987">
                <a:tc>
                  <a:txBody>
                    <a:bodyPr/>
                    <a:lstStyle/>
                    <a:p>
                      <a:pPr algn="ctr" fontAlgn="b"/>
                      <a:r>
                        <a:rPr lang="en-US" sz="1800" b="0" i="0" u="none" strike="noStrike" dirty="0">
                          <a:solidFill>
                            <a:srgbClr val="000000"/>
                          </a:solidFill>
                          <a:effectLst/>
                          <a:latin typeface="Calibri" panose="020F0502020204030204" pitchFamily="34" charset="0"/>
                        </a:rPr>
                        <a:t>USD INR Exchange Rate</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81.71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85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020253"/>
                  </a:ext>
                </a:extLst>
              </a:tr>
              <a:tr h="312987">
                <a:tc>
                  <a:txBody>
                    <a:bodyPr/>
                    <a:lstStyle/>
                    <a:p>
                      <a:pPr algn="ctr" fontAlgn="b"/>
                      <a:r>
                        <a:rPr lang="en-US" sz="1800" b="0" i="0" u="none" strike="noStrike" dirty="0">
                          <a:solidFill>
                            <a:srgbClr val="000000"/>
                          </a:solidFill>
                          <a:effectLst/>
                          <a:latin typeface="Calibri" panose="020F0502020204030204" pitchFamily="34" charset="0"/>
                        </a:rPr>
                        <a:t>For Module (INR/Wp)</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1.71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1.70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062775"/>
                  </a:ext>
                </a:extLst>
              </a:tr>
            </a:tbl>
          </a:graphicData>
        </a:graphic>
      </p:graphicFrame>
    </p:spTree>
    <p:extLst>
      <p:ext uri="{BB962C8B-B14F-4D97-AF65-F5344CB8AC3E}">
        <p14:creationId xmlns:p14="http://schemas.microsoft.com/office/powerpoint/2010/main" val="120120930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3071"/>
            <a:ext cx="11188700" cy="334099"/>
          </a:xfrm>
        </p:spPr>
        <p:txBody>
          <a:bodyPr anchor="ctr"/>
          <a:lstStyle/>
          <a:p>
            <a:r>
              <a:rPr lang="en-US" sz="2400" b="1" dirty="0">
                <a:solidFill>
                  <a:srgbClr val="313131"/>
                </a:solidFill>
              </a:rPr>
              <a:t>Annexure 2: Copper Price Forecast (1/2)</a:t>
            </a:r>
            <a:endParaRPr lang="en-GB" b="1" dirty="0"/>
          </a:p>
        </p:txBody>
      </p:sp>
      <p:graphicFrame>
        <p:nvGraphicFramePr>
          <p:cNvPr id="3" name="Table 2">
            <a:extLst>
              <a:ext uri="{FF2B5EF4-FFF2-40B4-BE49-F238E27FC236}">
                <a16:creationId xmlns:a16="http://schemas.microsoft.com/office/drawing/2014/main" id="{43751FCE-997B-4353-BBEC-D9815B99218A}"/>
              </a:ext>
            </a:extLst>
          </p:cNvPr>
          <p:cNvGraphicFramePr>
            <a:graphicFrameLocks noGrp="1"/>
          </p:cNvGraphicFramePr>
          <p:nvPr/>
        </p:nvGraphicFramePr>
        <p:xfrm>
          <a:off x="501650" y="597170"/>
          <a:ext cx="10329636" cy="5303520"/>
        </p:xfrm>
        <a:graphic>
          <a:graphicData uri="http://schemas.openxmlformats.org/drawingml/2006/table">
            <a:tbl>
              <a:tblPr/>
              <a:tblGrid>
                <a:gridCol w="2329232">
                  <a:extLst>
                    <a:ext uri="{9D8B030D-6E8A-4147-A177-3AD203B41FA5}">
                      <a16:colId xmlns:a16="http://schemas.microsoft.com/office/drawing/2014/main" val="2260123312"/>
                    </a:ext>
                  </a:extLst>
                </a:gridCol>
                <a:gridCol w="2329232">
                  <a:extLst>
                    <a:ext uri="{9D8B030D-6E8A-4147-A177-3AD203B41FA5}">
                      <a16:colId xmlns:a16="http://schemas.microsoft.com/office/drawing/2014/main" val="3116295588"/>
                    </a:ext>
                  </a:extLst>
                </a:gridCol>
                <a:gridCol w="2835586">
                  <a:extLst>
                    <a:ext uri="{9D8B030D-6E8A-4147-A177-3AD203B41FA5}">
                      <a16:colId xmlns:a16="http://schemas.microsoft.com/office/drawing/2014/main" val="2479926446"/>
                    </a:ext>
                  </a:extLst>
                </a:gridCol>
                <a:gridCol w="2835586">
                  <a:extLst>
                    <a:ext uri="{9D8B030D-6E8A-4147-A177-3AD203B41FA5}">
                      <a16:colId xmlns:a16="http://schemas.microsoft.com/office/drawing/2014/main" val="3495763743"/>
                    </a:ext>
                  </a:extLst>
                </a:gridCol>
              </a:tblGrid>
              <a:tr h="103230">
                <a:tc gridSpan="2">
                  <a:txBody>
                    <a:bodyPr/>
                    <a:lstStyle/>
                    <a:p>
                      <a:pPr algn="l" fontAlgn="t"/>
                      <a:r>
                        <a:rPr lang="en-US" sz="1200" b="0" i="0" u="none" strike="noStrike" dirty="0">
                          <a:solidFill>
                            <a:schemeClr val="accent3"/>
                          </a:solidFill>
                          <a:effectLst/>
                          <a:latin typeface="Calibri Light" panose="020F0302020204030204" pitchFamily="34" charset="0"/>
                        </a:rPr>
                        <a:t>Copper </a:t>
                      </a:r>
                      <a:r>
                        <a:rPr lang="en-US" sz="1200" b="0" i="1" u="none" strike="noStrike" dirty="0">
                          <a:solidFill>
                            <a:schemeClr val="accent3"/>
                          </a:solidFill>
                          <a:effectLst/>
                          <a:latin typeface="Calibri Light" panose="020F0302020204030204" pitchFamily="34" charset="0"/>
                        </a:rPr>
                        <a:t>(US$/</a:t>
                      </a:r>
                      <a:r>
                        <a:rPr lang="en-US" sz="1200" b="0" i="1" u="none" strike="noStrike" dirty="0" err="1">
                          <a:solidFill>
                            <a:schemeClr val="accent3"/>
                          </a:solidFill>
                          <a:effectLst/>
                          <a:latin typeface="Calibri Light" panose="020F0302020204030204" pitchFamily="34" charset="0"/>
                        </a:rPr>
                        <a:t>lb</a:t>
                      </a:r>
                      <a:r>
                        <a:rPr lang="en-US" sz="1200" b="0" i="1" u="none" strike="noStrike" dirty="0">
                          <a:solidFill>
                            <a:schemeClr val="accent3"/>
                          </a:solidFill>
                          <a:effectLst/>
                          <a:latin typeface="Calibri Light" panose="020F0302020204030204" pitchFamily="34" charset="0"/>
                        </a:rPr>
                        <a:t>)</a:t>
                      </a:r>
                      <a:endParaRPr lang="en-US" sz="1200" b="0" i="0" u="none" strike="noStrike" dirty="0">
                        <a:solidFill>
                          <a:schemeClr val="accent3"/>
                        </a:solidFill>
                        <a:effectLst/>
                        <a:latin typeface="Calibri Light" panose="020F0302020204030204" pitchFamily="34" charset="0"/>
                      </a:endParaRPr>
                    </a:p>
                  </a:txBody>
                  <a:tcPr marL="0" marR="0" marT="0" marB="0" anchor="ctr">
                    <a:lnL>
                      <a:noFill/>
                    </a:lnL>
                    <a:lnR>
                      <a:noFill/>
                    </a:lnR>
                    <a:lnT>
                      <a:noFill/>
                    </a:lnT>
                    <a:lnB>
                      <a:noFill/>
                    </a:lnB>
                    <a:solidFill>
                      <a:srgbClr val="FFFFFF"/>
                    </a:solidFill>
                  </a:tcPr>
                </a:tc>
                <a:tc hMerge="1">
                  <a:txBody>
                    <a:bodyPr/>
                    <a:lstStyle/>
                    <a:p>
                      <a:endParaRPr lang="en-US"/>
                    </a:p>
                  </a:txBody>
                  <a:tcPr/>
                </a:tc>
                <a:tc>
                  <a:txBody>
                    <a:bodyPr/>
                    <a:lstStyle/>
                    <a:p>
                      <a:pPr algn="ctr" fontAlgn="ctr"/>
                      <a:r>
                        <a:rPr lang="en-US" sz="1200" b="0" i="0" u="sng" strike="noStrike">
                          <a:solidFill>
                            <a:schemeClr val="accent3"/>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tc>
                  <a:txBody>
                    <a:bodyPr/>
                    <a:lstStyle/>
                    <a:p>
                      <a:pPr algn="ctr" fontAlgn="ctr"/>
                      <a:r>
                        <a:rPr lang="en-US" sz="1200" b="0" i="0" u="sng" strike="noStrike">
                          <a:solidFill>
                            <a:schemeClr val="accent3"/>
                          </a:solidFill>
                          <a:effectLst/>
                          <a:latin typeface="Calibri Light" panose="020F0302020204030204" pitchFamily="34" charset="0"/>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389817940"/>
                  </a:ext>
                </a:extLst>
              </a:tr>
              <a:tr h="103230">
                <a:tc>
                  <a:txBody>
                    <a:bodyPr/>
                    <a:lstStyle/>
                    <a:p>
                      <a:pPr algn="ctr" fontAlgn="ctr"/>
                      <a:r>
                        <a:rPr lang="en-US" sz="1200" b="1" i="0" u="none" strike="noStrike" dirty="0">
                          <a:solidFill>
                            <a:schemeClr val="accent3"/>
                          </a:solidFill>
                          <a:effectLst/>
                          <a:latin typeface="Calibri Light" panose="020F0302020204030204" pitchFamily="34" charset="0"/>
                        </a:rPr>
                        <a:t>Date </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tc>
                  <a:txBody>
                    <a:bodyPr/>
                    <a:lstStyle/>
                    <a:p>
                      <a:pPr algn="ctr" fontAlgn="ctr"/>
                      <a:r>
                        <a:rPr lang="en-US" sz="1200" b="1" i="0" u="none" strike="noStrike" dirty="0">
                          <a:solidFill>
                            <a:schemeClr val="accent3"/>
                          </a:solidFill>
                          <a:effectLst/>
                          <a:latin typeface="Calibri Light" panose="020F0302020204030204" pitchFamily="34" charset="0"/>
                        </a:rPr>
                        <a:t>Firm</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tc>
                  <a:txBody>
                    <a:bodyPr/>
                    <a:lstStyle/>
                    <a:p>
                      <a:pPr algn="ctr" fontAlgn="ctr"/>
                      <a:r>
                        <a:rPr lang="en-US" sz="1200" b="1" i="0" u="none" strike="noStrike" dirty="0">
                          <a:solidFill>
                            <a:schemeClr val="accent3"/>
                          </a:solidFill>
                          <a:effectLst/>
                          <a:latin typeface="Calibri Light" panose="020F0302020204030204" pitchFamily="34" charset="0"/>
                        </a:rPr>
                        <a:t>2023</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tc>
                  <a:txBody>
                    <a:bodyPr/>
                    <a:lstStyle/>
                    <a:p>
                      <a:pPr algn="ctr" fontAlgn="ctr"/>
                      <a:r>
                        <a:rPr lang="en-US" sz="1200" b="1" i="0" u="none" strike="noStrike" dirty="0">
                          <a:solidFill>
                            <a:schemeClr val="accent3"/>
                          </a:solidFill>
                          <a:effectLst/>
                          <a:latin typeface="Calibri Light" panose="020F0302020204030204" pitchFamily="34" charset="0"/>
                        </a:rPr>
                        <a:t>2024</a:t>
                      </a:r>
                    </a:p>
                  </a:txBody>
                  <a:tcPr marL="0" marR="0" marT="0" marB="0" anchor="ctr">
                    <a:lnL>
                      <a:noFill/>
                    </a:lnL>
                    <a:lnR>
                      <a:noFill/>
                    </a:lnR>
                    <a:lnT>
                      <a:noFill/>
                    </a:lnT>
                    <a:lnB w="635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4088577223"/>
                  </a:ext>
                </a:extLst>
              </a:tr>
              <a:tr h="103230">
                <a:tc>
                  <a:txBody>
                    <a:bodyPr/>
                    <a:lstStyle/>
                    <a:p>
                      <a:pPr algn="ctr" fontAlgn="ctr"/>
                      <a:r>
                        <a:rPr lang="en-US" sz="1200" b="0" i="0" u="none" strike="noStrike">
                          <a:solidFill>
                            <a:srgbClr val="000000"/>
                          </a:solidFill>
                          <a:effectLst/>
                          <a:latin typeface="Calibri Light" panose="020F0302020204030204" pitchFamily="34" charset="0"/>
                        </a:rPr>
                        <a:t>28-Nov-22</a:t>
                      </a:r>
                    </a:p>
                  </a:txBody>
                  <a:tcPr marL="0" marR="0" marT="0" marB="0" anchor="ctr">
                    <a:lnL>
                      <a:noFill/>
                    </a:lnL>
                    <a:lnR>
                      <a:noFill/>
                    </a:lnR>
                    <a:lnT w="6350" cap="flat" cmpd="sng" algn="ctr">
                      <a:solidFill>
                        <a:srgbClr val="4472C4"/>
                      </a:solidFill>
                      <a:prstDash val="solid"/>
                      <a:round/>
                      <a:headEnd type="none" w="med" len="med"/>
                      <a:tailEnd type="none" w="med" len="med"/>
                    </a:lnT>
                    <a:lnB>
                      <a:noFill/>
                    </a:lnB>
                    <a:solidFill>
                      <a:srgbClr val="FFFFFF"/>
                    </a:solidFill>
                  </a:tcPr>
                </a:tc>
                <a:tc>
                  <a:txBody>
                    <a:bodyPr/>
                    <a:lstStyle/>
                    <a:p>
                      <a:pPr algn="l" fontAlgn="ctr"/>
                      <a:r>
                        <a:rPr lang="en-US" sz="1200" b="0" i="0" u="none" strike="noStrike" dirty="0">
                          <a:solidFill>
                            <a:srgbClr val="000000"/>
                          </a:solidFill>
                          <a:effectLst/>
                          <a:latin typeface="Calibri Light" panose="020F0302020204030204" pitchFamily="34" charset="0"/>
                        </a:rPr>
                        <a:t>CIBC</a:t>
                      </a:r>
                    </a:p>
                  </a:txBody>
                  <a:tcPr marL="0" marR="0" marT="0" marB="0" anchor="ctr">
                    <a:lnL>
                      <a:noFill/>
                    </a:lnL>
                    <a:lnR>
                      <a:noFill/>
                    </a:lnR>
                    <a:lnT w="6350" cap="flat" cmpd="sng" algn="ctr">
                      <a:solidFill>
                        <a:srgbClr val="4472C4"/>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rgbClr val="000000"/>
                          </a:solidFill>
                          <a:effectLst/>
                          <a:latin typeface="Calibri Light" panose="020F0302020204030204" pitchFamily="34" charset="0"/>
                        </a:rPr>
                        <a:t>$3.95</a:t>
                      </a:r>
                    </a:p>
                  </a:txBody>
                  <a:tcPr marL="0" marR="0" marT="0" marB="0" anchor="ctr">
                    <a:lnL>
                      <a:noFill/>
                    </a:lnL>
                    <a:lnR>
                      <a:noFill/>
                    </a:lnR>
                    <a:lnT w="6350" cap="flat" cmpd="sng" algn="ctr">
                      <a:solidFill>
                        <a:srgbClr val="4472C4"/>
                      </a:solidFill>
                      <a:prstDash val="solid"/>
                      <a:round/>
                      <a:headEnd type="none" w="med" len="med"/>
                      <a:tailEnd type="none" w="med" len="med"/>
                    </a:lnT>
                    <a:lnB>
                      <a:noFill/>
                    </a:lnB>
                    <a:solidFill>
                      <a:srgbClr val="FFFFFF"/>
                    </a:solidFill>
                  </a:tcPr>
                </a:tc>
                <a:tc>
                  <a:txBody>
                    <a:bodyPr/>
                    <a:lstStyle/>
                    <a:p>
                      <a:pPr algn="ctr" fontAlgn="ctr"/>
                      <a:r>
                        <a:rPr lang="en-US" sz="1200" b="0" i="0" u="none" strike="noStrike" dirty="0">
                          <a:solidFill>
                            <a:srgbClr val="000000"/>
                          </a:solidFill>
                          <a:effectLst/>
                          <a:latin typeface="Calibri Light" panose="020F0302020204030204" pitchFamily="34" charset="0"/>
                        </a:rPr>
                        <a:t>$3.75</a:t>
                      </a:r>
                    </a:p>
                  </a:txBody>
                  <a:tcPr marL="0" marR="0" marT="0" marB="0" anchor="ctr">
                    <a:lnL>
                      <a:noFill/>
                    </a:lnL>
                    <a:lnR>
                      <a:noFill/>
                    </a:lnR>
                    <a:lnT w="6350" cap="flat" cmpd="sng" algn="ctr">
                      <a:solidFill>
                        <a:srgbClr val="4472C4"/>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90274678"/>
                  </a:ext>
                </a:extLst>
              </a:tr>
              <a:tr h="103230">
                <a:tc>
                  <a:txBody>
                    <a:bodyPr/>
                    <a:lstStyle/>
                    <a:p>
                      <a:pPr algn="ctr" fontAlgn="ctr"/>
                      <a:r>
                        <a:rPr lang="en-US" sz="1200" b="0" i="0" u="none" strike="noStrike">
                          <a:solidFill>
                            <a:srgbClr val="000000"/>
                          </a:solidFill>
                          <a:effectLst/>
                          <a:latin typeface="Calibri Light" panose="020F0302020204030204" pitchFamily="34" charset="0"/>
                        </a:rPr>
                        <a:t>25-Nov-22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dirty="0">
                          <a:solidFill>
                            <a:srgbClr val="000000"/>
                          </a:solidFill>
                          <a:effectLst/>
                          <a:latin typeface="Calibri Light" panose="020F0302020204030204" pitchFamily="34" charset="0"/>
                        </a:rPr>
                        <a:t>Deutsche Bank</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$3.31</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$3.99</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035734429"/>
                  </a:ext>
                </a:extLst>
              </a:tr>
              <a:tr h="103230">
                <a:tc>
                  <a:txBody>
                    <a:bodyPr/>
                    <a:lstStyle/>
                    <a:p>
                      <a:pPr algn="ctr" fontAlgn="ctr"/>
                      <a:r>
                        <a:rPr lang="en-US" sz="1200" b="0" i="0" u="none" strike="noStrike">
                          <a:solidFill>
                            <a:srgbClr val="000000"/>
                          </a:solidFill>
                          <a:effectLst/>
                          <a:latin typeface="Calibri Light" panose="020F0302020204030204" pitchFamily="34" charset="0"/>
                        </a:rPr>
                        <a:t>23-Nov-22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dirty="0">
                          <a:solidFill>
                            <a:srgbClr val="000000"/>
                          </a:solidFill>
                          <a:effectLst/>
                          <a:latin typeface="Calibri Light" panose="020F0302020204030204" pitchFamily="34" charset="0"/>
                        </a:rPr>
                        <a:t>JP Morgan</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38246804"/>
                  </a:ext>
                </a:extLst>
              </a:tr>
              <a:tr h="103230">
                <a:tc>
                  <a:txBody>
                    <a:bodyPr/>
                    <a:lstStyle/>
                    <a:p>
                      <a:pPr algn="ctr" fontAlgn="ctr"/>
                      <a:r>
                        <a:rPr lang="en-US" sz="1200" b="0" i="0" u="none" strike="noStrike">
                          <a:solidFill>
                            <a:srgbClr val="000000"/>
                          </a:solidFill>
                          <a:effectLst/>
                          <a:latin typeface="Calibri Light" panose="020F0302020204030204" pitchFamily="34" charset="0"/>
                        </a:rPr>
                        <a:t>23-Nov-22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dirty="0">
                          <a:solidFill>
                            <a:srgbClr val="000000"/>
                          </a:solidFill>
                          <a:effectLst/>
                          <a:latin typeface="Calibri Light" panose="020F0302020204030204" pitchFamily="34" charset="0"/>
                        </a:rPr>
                        <a:t>UBS</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$3.00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$3.50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37880695"/>
                  </a:ext>
                </a:extLst>
              </a:tr>
              <a:tr h="103230">
                <a:tc>
                  <a:txBody>
                    <a:bodyPr/>
                    <a:lstStyle/>
                    <a:p>
                      <a:pPr algn="ctr" fontAlgn="ctr"/>
                      <a:r>
                        <a:rPr lang="en-US" sz="1200" b="0" i="0" u="none" strike="noStrike">
                          <a:solidFill>
                            <a:srgbClr val="000000"/>
                          </a:solidFill>
                          <a:effectLst/>
                          <a:latin typeface="Calibri Light" panose="020F0302020204030204" pitchFamily="34" charset="0"/>
                        </a:rPr>
                        <a:t>22-Nov-22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Canaccord</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$3.94</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$4.25</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812810382"/>
                  </a:ext>
                </a:extLst>
              </a:tr>
              <a:tr h="103230">
                <a:tc>
                  <a:txBody>
                    <a:bodyPr/>
                    <a:lstStyle/>
                    <a:p>
                      <a:pPr algn="ctr" fontAlgn="ctr"/>
                      <a:r>
                        <a:rPr lang="en-US" sz="1200" b="0" i="0" u="none" strike="noStrike">
                          <a:solidFill>
                            <a:srgbClr val="000000"/>
                          </a:solidFill>
                          <a:effectLst/>
                          <a:latin typeface="Calibri Light" panose="020F0302020204030204" pitchFamily="34" charset="0"/>
                        </a:rPr>
                        <a:t>22-Nov-22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Stifel</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$4.50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122048718"/>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Morgan Stanley</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703396835"/>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Raymond James</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$3.75</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093141605"/>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RBC</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$3.75</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$3.75</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188142393"/>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Credit Suisse</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$3.00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$3.00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798123789"/>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Eight Capital</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$4.25</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394204943"/>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BMO</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$3.28</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$3.40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926548898"/>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Desjardins</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$3.50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$3.80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893879888"/>
                  </a:ext>
                </a:extLst>
              </a:tr>
              <a:tr h="103230">
                <a:tc>
                  <a:txBody>
                    <a:bodyPr/>
                    <a:lstStyle/>
                    <a:p>
                      <a:pPr algn="ctr" fontAlgn="ctr"/>
                      <a:r>
                        <a:rPr lang="en-US" sz="1200" b="0" i="0" u="none" strike="noStrike">
                          <a:solidFill>
                            <a:srgbClr val="000000"/>
                          </a:solidFill>
                          <a:effectLst/>
                          <a:latin typeface="Calibri Light" panose="020F0302020204030204" pitchFamily="34" charset="0"/>
                        </a:rPr>
                        <a:t>21-Nov-22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BofA</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$3.91</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$4.48</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346425088"/>
                  </a:ext>
                </a:extLst>
              </a:tr>
              <a:tr h="103230">
                <a:tc>
                  <a:txBody>
                    <a:bodyPr/>
                    <a:lstStyle/>
                    <a:p>
                      <a:pPr algn="ctr" fontAlgn="ctr"/>
                      <a:r>
                        <a:rPr lang="en-US" sz="1200" b="0" i="0" u="none" strike="noStrike">
                          <a:solidFill>
                            <a:srgbClr val="000000"/>
                          </a:solidFill>
                          <a:effectLst/>
                          <a:latin typeface="Calibri Light" panose="020F0302020204030204" pitchFamily="34" charset="0"/>
                        </a:rPr>
                        <a:t>20-Nov-22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National Bank</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$3.40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$3.50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160244345"/>
                  </a:ext>
                </a:extLst>
              </a:tr>
              <a:tr h="103230">
                <a:tc>
                  <a:txBody>
                    <a:bodyPr/>
                    <a:lstStyle/>
                    <a:p>
                      <a:pPr algn="ctr" fontAlgn="ctr"/>
                      <a:r>
                        <a:rPr lang="en-US" sz="1200" b="0" i="0" u="none" strike="noStrike">
                          <a:solidFill>
                            <a:srgbClr val="000000"/>
                          </a:solidFill>
                          <a:effectLst/>
                          <a:latin typeface="Calibri Light" panose="020F0302020204030204" pitchFamily="34" charset="0"/>
                        </a:rPr>
                        <a:t>19-Nov-22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Jefferies</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$3.29</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$4.31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409776234"/>
                  </a:ext>
                </a:extLst>
              </a:tr>
              <a:tr h="103230">
                <a:tc>
                  <a:txBody>
                    <a:bodyPr/>
                    <a:lstStyle/>
                    <a:p>
                      <a:pPr algn="ctr" fontAlgn="ctr"/>
                      <a:r>
                        <a:rPr lang="en-US" sz="1200" b="0" i="0" u="none" strike="noStrike">
                          <a:solidFill>
                            <a:srgbClr val="000000"/>
                          </a:solidFill>
                          <a:effectLst/>
                          <a:latin typeface="Calibri Light" panose="020F0302020204030204" pitchFamily="34" charset="0"/>
                        </a:rPr>
                        <a:t>16-Nov-22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Barclays</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$3.03</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$3.00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2277971"/>
                  </a:ext>
                </a:extLst>
              </a:tr>
              <a:tr h="103230">
                <a:tc>
                  <a:txBody>
                    <a:bodyPr/>
                    <a:lstStyle/>
                    <a:p>
                      <a:pPr algn="ctr" fontAlgn="ctr"/>
                      <a:r>
                        <a:rPr lang="en-US" sz="1200" b="0" i="0" u="none" strike="noStrike">
                          <a:solidFill>
                            <a:srgbClr val="000000"/>
                          </a:solidFill>
                          <a:effectLst/>
                          <a:latin typeface="Calibri Light" panose="020F0302020204030204" pitchFamily="34" charset="0"/>
                        </a:rPr>
                        <a:t>15-Nov-22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Macquarie</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$3.28</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$3.45</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60107362"/>
                  </a:ext>
                </a:extLst>
              </a:tr>
              <a:tr h="103230">
                <a:tc>
                  <a:txBody>
                    <a:bodyPr/>
                    <a:lstStyle/>
                    <a:p>
                      <a:pPr algn="ctr" fontAlgn="ctr"/>
                      <a:r>
                        <a:rPr lang="en-US" sz="1200" b="0" i="0" u="none" strike="noStrike">
                          <a:solidFill>
                            <a:srgbClr val="000000"/>
                          </a:solidFill>
                          <a:effectLst/>
                          <a:latin typeface="Calibri Light" panose="020F0302020204030204" pitchFamily="34" charset="0"/>
                        </a:rPr>
                        <a:t>14-Nov-22</a:t>
                      </a:r>
                    </a:p>
                  </a:txBody>
                  <a:tcPr marL="0" marR="0" marT="0" marB="0" anchor="ctr">
                    <a:lnL>
                      <a:noFill/>
                    </a:lnL>
                    <a:lnR>
                      <a:noFill/>
                    </a:lnR>
                    <a:lnT>
                      <a:noFill/>
                    </a:lnT>
                    <a:lnB>
                      <a:noFill/>
                    </a:lnB>
                  </a:tcPr>
                </a:tc>
                <a:tc>
                  <a:txBody>
                    <a:bodyPr/>
                    <a:lstStyle/>
                    <a:p>
                      <a:pPr algn="l" fontAlgn="ctr"/>
                      <a:r>
                        <a:rPr lang="en-US" sz="1200" b="0" i="0" u="none" strike="noStrike">
                          <a:solidFill>
                            <a:srgbClr val="000000"/>
                          </a:solidFill>
                          <a:effectLst/>
                          <a:latin typeface="Calibri Light" panose="020F0302020204030204" pitchFamily="34" charset="0"/>
                        </a:rPr>
                        <a:t>Paradigm</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$4.00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29126655"/>
                  </a:ext>
                </a:extLst>
              </a:tr>
              <a:tr h="103230">
                <a:tc>
                  <a:txBody>
                    <a:bodyPr/>
                    <a:lstStyle/>
                    <a:p>
                      <a:pPr algn="ctr" fontAlgn="ctr"/>
                      <a:r>
                        <a:rPr lang="en-US" sz="1200" b="0" i="0" u="none" strike="noStrike">
                          <a:solidFill>
                            <a:srgbClr val="000000"/>
                          </a:solidFill>
                          <a:effectLst/>
                          <a:latin typeface="Calibri Light" panose="020F0302020204030204" pitchFamily="34" charset="0"/>
                        </a:rPr>
                        <a:t>14-Nov-22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Cormark</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$3.85</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$3.75</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283727454"/>
                  </a:ext>
                </a:extLst>
              </a:tr>
              <a:tr h="103230">
                <a:tc>
                  <a:txBody>
                    <a:bodyPr/>
                    <a:lstStyle/>
                    <a:p>
                      <a:pPr algn="ctr" fontAlgn="ctr"/>
                      <a:r>
                        <a:rPr lang="en-US" sz="1200" b="0" i="0" u="none" strike="noStrike">
                          <a:solidFill>
                            <a:srgbClr val="000000"/>
                          </a:solidFill>
                          <a:effectLst/>
                          <a:latin typeface="Calibri Light" panose="020F0302020204030204" pitchFamily="34" charset="0"/>
                        </a:rPr>
                        <a:t>13-Nov-22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HSBC</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$3.45</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$3.40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881285294"/>
                  </a:ext>
                </a:extLst>
              </a:tr>
              <a:tr h="103230">
                <a:tc>
                  <a:txBody>
                    <a:bodyPr/>
                    <a:lstStyle/>
                    <a:p>
                      <a:pPr algn="ctr" fontAlgn="ctr"/>
                      <a:r>
                        <a:rPr lang="en-US" sz="1200" b="0" i="0" u="none" strike="noStrike">
                          <a:solidFill>
                            <a:srgbClr val="000000"/>
                          </a:solidFill>
                          <a:effectLst/>
                          <a:latin typeface="Calibri Light" panose="020F0302020204030204" pitchFamily="34" charset="0"/>
                        </a:rPr>
                        <a:t>09-Nov-22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TD</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$3.50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$4.00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8589739"/>
                  </a:ext>
                </a:extLst>
              </a:tr>
              <a:tr h="103230">
                <a:tc>
                  <a:txBody>
                    <a:bodyPr/>
                    <a:lstStyle/>
                    <a:p>
                      <a:pPr algn="ctr" fontAlgn="ctr"/>
                      <a:r>
                        <a:rPr lang="en-US" sz="1200" b="0" i="0" u="none" strike="noStrike">
                          <a:solidFill>
                            <a:srgbClr val="000000"/>
                          </a:solidFill>
                          <a:effectLst/>
                          <a:latin typeface="Calibri Light" panose="020F0302020204030204" pitchFamily="34" charset="0"/>
                        </a:rPr>
                        <a:t>09-Nov-22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BNP Paribas</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$3.29</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$3.40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171642865"/>
                  </a:ext>
                </a:extLst>
              </a:tr>
              <a:tr h="103230">
                <a:tc>
                  <a:txBody>
                    <a:bodyPr/>
                    <a:lstStyle/>
                    <a:p>
                      <a:pPr algn="ctr" fontAlgn="ctr"/>
                      <a:r>
                        <a:rPr lang="en-US" sz="1200" b="0" i="0" u="none" strike="noStrike">
                          <a:solidFill>
                            <a:srgbClr val="000000"/>
                          </a:solidFill>
                          <a:effectLst/>
                          <a:latin typeface="Calibri Light" panose="020F0302020204030204" pitchFamily="34" charset="0"/>
                        </a:rPr>
                        <a:t>01-Nov-22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Scotia</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$3.50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$4.00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92097263"/>
                  </a:ext>
                </a:extLst>
              </a:tr>
              <a:tr h="103230">
                <a:tc>
                  <a:txBody>
                    <a:bodyPr/>
                    <a:lstStyle/>
                    <a:p>
                      <a:pPr algn="ctr" fontAlgn="ctr"/>
                      <a:r>
                        <a:rPr lang="en-US" sz="1200" b="0" i="0" u="none" strike="noStrike">
                          <a:solidFill>
                            <a:srgbClr val="000000"/>
                          </a:solidFill>
                          <a:effectLst/>
                          <a:latin typeface="Calibri Light" panose="020F0302020204030204" pitchFamily="34" charset="0"/>
                        </a:rPr>
                        <a:t>27-Oct-22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Berenberg</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$3.40</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$3.60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489365740"/>
                  </a:ext>
                </a:extLst>
              </a:tr>
              <a:tr h="103230">
                <a:tc>
                  <a:txBody>
                    <a:bodyPr/>
                    <a:lstStyle/>
                    <a:p>
                      <a:pPr algn="ctr" fontAlgn="ctr"/>
                      <a:r>
                        <a:rPr lang="en-US" sz="1200" b="0" i="0" u="none" strike="noStrike">
                          <a:solidFill>
                            <a:srgbClr val="000000"/>
                          </a:solidFill>
                          <a:effectLst/>
                          <a:latin typeface="Calibri Light" panose="020F0302020204030204" pitchFamily="34" charset="0"/>
                        </a:rPr>
                        <a:t>25-Oct-22</a:t>
                      </a:r>
                    </a:p>
                  </a:txBody>
                  <a:tcPr marL="0" marR="0" marT="0" marB="0" anchor="ctr">
                    <a:lnL>
                      <a:noFill/>
                    </a:lnL>
                    <a:lnR>
                      <a:noFill/>
                    </a:lnR>
                    <a:lnT>
                      <a:noFill/>
                    </a:lnT>
                    <a:lnB>
                      <a:noFill/>
                    </a:lnB>
                    <a:solidFill>
                      <a:srgbClr val="FFFFFF"/>
                    </a:solidFill>
                  </a:tcPr>
                </a:tc>
                <a:tc>
                  <a:txBody>
                    <a:bodyPr/>
                    <a:lstStyle/>
                    <a:p>
                      <a:pPr algn="l" fontAlgn="ctr"/>
                      <a:r>
                        <a:rPr lang="en-US" sz="1200" b="0" i="0" u="none" strike="noStrike">
                          <a:solidFill>
                            <a:srgbClr val="000000"/>
                          </a:solidFill>
                          <a:effectLst/>
                          <a:latin typeface="Calibri Light" panose="020F0302020204030204" pitchFamily="34" charset="0"/>
                        </a:rPr>
                        <a:t>Haywood</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$3.75</a:t>
                      </a:r>
                    </a:p>
                  </a:txBody>
                  <a:tcPr marL="0" marR="0" marT="0" marB="0" anchor="ctr">
                    <a:lnL>
                      <a:noFill/>
                    </a:lnL>
                    <a:lnR>
                      <a:noFill/>
                    </a:lnR>
                    <a:lnT>
                      <a:noFill/>
                    </a:lnT>
                    <a:lnB>
                      <a:noFill/>
                    </a:lnB>
                    <a:solidFill>
                      <a:srgbClr val="FFFFFF"/>
                    </a:solidFill>
                  </a:tcPr>
                </a:tc>
                <a:tc>
                  <a:txBody>
                    <a:bodyPr/>
                    <a:lstStyle/>
                    <a:p>
                      <a:pPr algn="ctr" fontAlgn="ctr"/>
                      <a:r>
                        <a:rPr lang="en-US" sz="1200" b="0" i="0" u="none" strike="noStrike">
                          <a:solidFill>
                            <a:srgbClr val="000000"/>
                          </a:solidFill>
                          <a:effectLst/>
                          <a:latin typeface="Calibri Light" panose="020F0302020204030204" pitchFamily="34" charset="0"/>
                        </a:rPr>
                        <a:t>$4.00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797040185"/>
                  </a:ext>
                </a:extLst>
              </a:tr>
              <a:tr h="103230">
                <a:tc>
                  <a:txBody>
                    <a:bodyPr/>
                    <a:lstStyle/>
                    <a:p>
                      <a:pPr algn="l" fontAlgn="ctr"/>
                      <a:r>
                        <a:rPr lang="en-US" sz="1200" b="1" i="0" u="none" strike="noStrike" dirty="0">
                          <a:solidFill>
                            <a:srgbClr val="000000"/>
                          </a:solidFill>
                          <a:effectLst/>
                          <a:latin typeface="Calibri Light" panose="020F0302020204030204" pitchFamily="34" charset="0"/>
                        </a:rPr>
                        <a:t>Average</a:t>
                      </a:r>
                    </a:p>
                  </a:txBody>
                  <a:tcPr marL="82745" marR="0" marT="0" marB="0" anchor="ctr">
                    <a:lnL>
                      <a:noFill/>
                    </a:lnL>
                    <a:lnR>
                      <a:noFill/>
                    </a:lnR>
                    <a:lnT>
                      <a:noFill/>
                    </a:lnT>
                    <a:lnB>
                      <a:noFill/>
                    </a:lnB>
                    <a:solidFill>
                      <a:srgbClr val="FFF2CC"/>
                    </a:solidFill>
                  </a:tcPr>
                </a:tc>
                <a:tc>
                  <a:txBody>
                    <a:bodyPr/>
                    <a:lstStyle/>
                    <a:p>
                      <a:pPr algn="ctr" fontAlgn="ctr"/>
                      <a:r>
                        <a:rPr lang="en-US" sz="1200" b="0" i="0" u="none" strike="noStrike" dirty="0">
                          <a:solidFill>
                            <a:srgbClr val="000000"/>
                          </a:solidFill>
                          <a:effectLst/>
                          <a:latin typeface="Calibri Light" panose="020F0302020204030204" pitchFamily="34" charset="0"/>
                        </a:rPr>
                        <a:t> </a:t>
                      </a:r>
                    </a:p>
                  </a:txBody>
                  <a:tcPr marL="0" marR="0" marT="0" marB="0" anchor="ctr">
                    <a:lnL>
                      <a:noFill/>
                    </a:lnL>
                    <a:lnR>
                      <a:noFill/>
                    </a:lnR>
                    <a:lnT>
                      <a:noFill/>
                    </a:lnT>
                    <a:lnB>
                      <a:noFill/>
                    </a:lnB>
                    <a:solidFill>
                      <a:srgbClr val="FFF2CC"/>
                    </a:solidFill>
                  </a:tcPr>
                </a:tc>
                <a:tc>
                  <a:txBody>
                    <a:bodyPr/>
                    <a:lstStyle/>
                    <a:p>
                      <a:pPr algn="ctr" fontAlgn="ctr"/>
                      <a:r>
                        <a:rPr lang="en-US" sz="1200" b="1" i="0" u="none" strike="noStrike" dirty="0">
                          <a:solidFill>
                            <a:srgbClr val="000000"/>
                          </a:solidFill>
                          <a:effectLst/>
                          <a:latin typeface="Calibri Light" panose="020F0302020204030204" pitchFamily="34" charset="0"/>
                        </a:rPr>
                        <a:t>$3.55</a:t>
                      </a:r>
                    </a:p>
                  </a:txBody>
                  <a:tcPr marL="0" marR="0" marT="0" marB="0" anchor="ctr">
                    <a:lnL>
                      <a:noFill/>
                    </a:lnL>
                    <a:lnR>
                      <a:noFill/>
                    </a:lnR>
                    <a:lnT>
                      <a:noFill/>
                    </a:lnT>
                    <a:lnB>
                      <a:noFill/>
                    </a:lnB>
                    <a:solidFill>
                      <a:srgbClr val="FFF2CC"/>
                    </a:solidFill>
                  </a:tcPr>
                </a:tc>
                <a:tc>
                  <a:txBody>
                    <a:bodyPr/>
                    <a:lstStyle/>
                    <a:p>
                      <a:pPr algn="ctr" fontAlgn="ctr"/>
                      <a:r>
                        <a:rPr lang="en-US" sz="1200" b="1" i="0" u="none" strike="noStrike" dirty="0">
                          <a:solidFill>
                            <a:srgbClr val="000000"/>
                          </a:solidFill>
                          <a:effectLst/>
                          <a:latin typeface="Calibri Light" panose="020F0302020204030204" pitchFamily="34" charset="0"/>
                        </a:rPr>
                        <a:t>$3.79</a:t>
                      </a:r>
                    </a:p>
                  </a:txBody>
                  <a:tcPr marL="0" marR="0" marT="0" marB="0" anchor="ctr">
                    <a:lnL>
                      <a:noFill/>
                    </a:lnL>
                    <a:lnR>
                      <a:noFill/>
                    </a:lnR>
                    <a:lnT>
                      <a:noFill/>
                    </a:lnT>
                    <a:lnB>
                      <a:noFill/>
                    </a:lnB>
                    <a:solidFill>
                      <a:srgbClr val="FFF2CC"/>
                    </a:solidFill>
                  </a:tcPr>
                </a:tc>
                <a:extLst>
                  <a:ext uri="{0D108BD9-81ED-4DB2-BD59-A6C34878D82A}">
                    <a16:rowId xmlns:a16="http://schemas.microsoft.com/office/drawing/2014/main" val="741547759"/>
                  </a:ext>
                </a:extLst>
              </a:tr>
            </a:tbl>
          </a:graphicData>
        </a:graphic>
      </p:graphicFrame>
      <p:sp>
        <p:nvSpPr>
          <p:cNvPr id="4" name="TextBox 3">
            <a:extLst>
              <a:ext uri="{FF2B5EF4-FFF2-40B4-BE49-F238E27FC236}">
                <a16:creationId xmlns:a16="http://schemas.microsoft.com/office/drawing/2014/main" id="{A7C30620-B033-46FF-80F5-567BF31825EC}"/>
              </a:ext>
            </a:extLst>
          </p:cNvPr>
          <p:cNvSpPr txBox="1"/>
          <p:nvPr/>
        </p:nvSpPr>
        <p:spPr>
          <a:xfrm>
            <a:off x="669471" y="6186408"/>
            <a:ext cx="1382485" cy="138499"/>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Source: Deloitte Research</a:t>
            </a:r>
          </a:p>
        </p:txBody>
      </p:sp>
      <p:sp>
        <p:nvSpPr>
          <p:cNvPr id="9" name="TextBox 8">
            <a:extLst>
              <a:ext uri="{FF2B5EF4-FFF2-40B4-BE49-F238E27FC236}">
                <a16:creationId xmlns:a16="http://schemas.microsoft.com/office/drawing/2014/main" id="{B64F3DEC-E282-4C96-84B4-35F2D891AE77}"/>
              </a:ext>
            </a:extLst>
          </p:cNvPr>
          <p:cNvSpPr txBox="1"/>
          <p:nvPr/>
        </p:nvSpPr>
        <p:spPr>
          <a:xfrm>
            <a:off x="2707821" y="6080900"/>
            <a:ext cx="6096000" cy="307777"/>
          </a:xfrm>
          <a:prstGeom prst="rect">
            <a:avLst/>
          </a:prstGeom>
          <a:noFill/>
        </p:spPr>
        <p:txBody>
          <a:bodyPr wrap="square">
            <a:spAutoFit/>
          </a:bodyPr>
          <a:lstStyle/>
          <a:p>
            <a:r>
              <a:rPr lang="en-US" sz="1400" b="1" i="0" u="none" strike="noStrike" dirty="0">
                <a:solidFill>
                  <a:srgbClr val="000000"/>
                </a:solidFill>
                <a:effectLst/>
                <a:latin typeface="+mj-lt"/>
              </a:rPr>
              <a:t>Pound to Kg:</a:t>
            </a:r>
            <a:r>
              <a:rPr lang="en-US" sz="1400" b="1" dirty="0">
                <a:latin typeface="+mj-lt"/>
              </a:rPr>
              <a:t> </a:t>
            </a:r>
            <a:r>
              <a:rPr lang="en-US" sz="1400" b="1" i="0" u="none" strike="noStrike" dirty="0">
                <a:solidFill>
                  <a:srgbClr val="000000"/>
                </a:solidFill>
                <a:effectLst/>
                <a:latin typeface="+mj-lt"/>
              </a:rPr>
              <a:t>2.205</a:t>
            </a:r>
            <a:r>
              <a:rPr lang="en-US" sz="1400" b="1" dirty="0">
                <a:latin typeface="+mj-lt"/>
              </a:rPr>
              <a:t> </a:t>
            </a:r>
          </a:p>
        </p:txBody>
      </p:sp>
      <p:graphicFrame>
        <p:nvGraphicFramePr>
          <p:cNvPr id="10" name="Table 9">
            <a:extLst>
              <a:ext uri="{FF2B5EF4-FFF2-40B4-BE49-F238E27FC236}">
                <a16:creationId xmlns:a16="http://schemas.microsoft.com/office/drawing/2014/main" id="{5AC9118D-C958-48FB-B455-B6F655A7C1BB}"/>
              </a:ext>
            </a:extLst>
          </p:cNvPr>
          <p:cNvGraphicFramePr>
            <a:graphicFrameLocks noGrp="1"/>
          </p:cNvGraphicFramePr>
          <p:nvPr/>
        </p:nvGraphicFramePr>
        <p:xfrm>
          <a:off x="4849586" y="6172590"/>
          <a:ext cx="5981700" cy="426720"/>
        </p:xfrm>
        <a:graphic>
          <a:graphicData uri="http://schemas.openxmlformats.org/drawingml/2006/table">
            <a:tbl>
              <a:tblPr/>
              <a:tblGrid>
                <a:gridCol w="3222699">
                  <a:extLst>
                    <a:ext uri="{9D8B030D-6E8A-4147-A177-3AD203B41FA5}">
                      <a16:colId xmlns:a16="http://schemas.microsoft.com/office/drawing/2014/main" val="4060390568"/>
                    </a:ext>
                  </a:extLst>
                </a:gridCol>
                <a:gridCol w="1622942">
                  <a:extLst>
                    <a:ext uri="{9D8B030D-6E8A-4147-A177-3AD203B41FA5}">
                      <a16:colId xmlns:a16="http://schemas.microsoft.com/office/drawing/2014/main" val="2650234237"/>
                    </a:ext>
                  </a:extLst>
                </a:gridCol>
                <a:gridCol w="1136059">
                  <a:extLst>
                    <a:ext uri="{9D8B030D-6E8A-4147-A177-3AD203B41FA5}">
                      <a16:colId xmlns:a16="http://schemas.microsoft.com/office/drawing/2014/main" val="2902104523"/>
                    </a:ext>
                  </a:extLst>
                </a:gridCol>
              </a:tblGrid>
              <a:tr h="153889">
                <a:tc>
                  <a:txBody>
                    <a:bodyPr/>
                    <a:lstStyle/>
                    <a:p>
                      <a:pPr algn="l" fontAlgn="ctr"/>
                      <a:r>
                        <a:rPr lang="en-US" sz="1400" b="0" i="0" u="none" strike="noStrike">
                          <a:solidFill>
                            <a:srgbClr val="000000"/>
                          </a:solidFill>
                          <a:effectLst/>
                          <a:latin typeface="Calibri Light" panose="020F0302020204030204" pitchFamily="34" charset="0"/>
                        </a:rPr>
                        <a:t> </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ctr"/>
                      <a:r>
                        <a:rPr lang="en-US" sz="1400" b="0" i="0" u="none" strike="noStrike" dirty="0">
                          <a:solidFill>
                            <a:srgbClr val="000000"/>
                          </a:solidFill>
                          <a:effectLst/>
                          <a:latin typeface="Calibri Light" panose="020F0302020204030204" pitchFamily="34" charset="0"/>
                        </a:rPr>
                        <a:t>USD/Pound</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ctr"/>
                      <a:r>
                        <a:rPr lang="en-US" sz="1400" b="0" i="0" u="none" strike="noStrike">
                          <a:solidFill>
                            <a:srgbClr val="000000"/>
                          </a:solidFill>
                          <a:effectLst/>
                          <a:latin typeface="Calibri Light" panose="020F0302020204030204" pitchFamily="34" charset="0"/>
                        </a:rPr>
                        <a:t>USD/ton</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92D050"/>
                    </a:solidFill>
                  </a:tcPr>
                </a:tc>
                <a:extLst>
                  <a:ext uri="{0D108BD9-81ED-4DB2-BD59-A6C34878D82A}">
                    <a16:rowId xmlns:a16="http://schemas.microsoft.com/office/drawing/2014/main" val="3461831833"/>
                  </a:ext>
                </a:extLst>
              </a:tr>
              <a:tr h="153889">
                <a:tc>
                  <a:txBody>
                    <a:bodyPr/>
                    <a:lstStyle/>
                    <a:p>
                      <a:pPr algn="ctr" fontAlgn="b"/>
                      <a:r>
                        <a:rPr lang="en-US" sz="1400" b="1" i="0" u="none" strike="noStrike" dirty="0">
                          <a:solidFill>
                            <a:srgbClr val="000000"/>
                          </a:solidFill>
                          <a:effectLst/>
                          <a:latin typeface="Calibri Light" panose="020F0302020204030204" pitchFamily="34" charset="0"/>
                        </a:rPr>
                        <a:t>Average of 2023 and 2024 (Forecast)</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92D050"/>
                    </a:solidFill>
                  </a:tcPr>
                </a:tc>
                <a:tc>
                  <a:txBody>
                    <a:bodyPr/>
                    <a:lstStyle/>
                    <a:p>
                      <a:pPr algn="ctr" fontAlgn="b"/>
                      <a:r>
                        <a:rPr lang="en-US" sz="1400" b="1" i="0" u="none" strike="noStrike">
                          <a:solidFill>
                            <a:srgbClr val="000000"/>
                          </a:solidFill>
                          <a:effectLst/>
                          <a:latin typeface="Calibri Light" panose="020F0302020204030204" pitchFamily="34" charset="0"/>
                        </a:rPr>
                        <a:t>$3.66</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92D050"/>
                    </a:solidFill>
                  </a:tcPr>
                </a:tc>
                <a:tc>
                  <a:txBody>
                    <a:bodyPr/>
                    <a:lstStyle/>
                    <a:p>
                      <a:pPr algn="ctr" fontAlgn="b"/>
                      <a:r>
                        <a:rPr lang="en-US" sz="1400" b="1" i="0" u="none" strike="noStrike" dirty="0">
                          <a:solidFill>
                            <a:srgbClr val="000000"/>
                          </a:solidFill>
                          <a:effectLst/>
                          <a:latin typeface="Calibri Light" panose="020F0302020204030204" pitchFamily="34" charset="0"/>
                        </a:rPr>
                        <a:t>$8,079.75</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697885628"/>
                  </a:ext>
                </a:extLst>
              </a:tr>
            </a:tbl>
          </a:graphicData>
        </a:graphic>
      </p:graphicFrame>
      <p:sp>
        <p:nvSpPr>
          <p:cNvPr id="7" name="Arrow: Right 6">
            <a:hlinkClick r:id="rId2" action="ppaction://hlinksldjump"/>
            <a:extLst>
              <a:ext uri="{FF2B5EF4-FFF2-40B4-BE49-F238E27FC236}">
                <a16:creationId xmlns:a16="http://schemas.microsoft.com/office/drawing/2014/main" id="{D3EF79D9-40E3-4311-A9C8-01DA92BAAE66}"/>
              </a:ext>
            </a:extLst>
          </p:cNvPr>
          <p:cNvSpPr/>
          <p:nvPr/>
        </p:nvSpPr>
        <p:spPr bwMode="gray">
          <a:xfrm flipH="1">
            <a:off x="6940465" y="69334"/>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376777502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3071"/>
            <a:ext cx="11188700" cy="334099"/>
          </a:xfrm>
        </p:spPr>
        <p:txBody>
          <a:bodyPr anchor="ctr"/>
          <a:lstStyle/>
          <a:p>
            <a:r>
              <a:rPr lang="en-US" sz="2400" b="1" dirty="0">
                <a:solidFill>
                  <a:srgbClr val="313131"/>
                </a:solidFill>
              </a:rPr>
              <a:t>Annexure 2: Copper Price Forecast (2/2)</a:t>
            </a:r>
            <a:endParaRPr lang="en-GB" b="1" dirty="0"/>
          </a:p>
        </p:txBody>
      </p:sp>
      <p:sp>
        <p:nvSpPr>
          <p:cNvPr id="7" name="Arrow: Right 6">
            <a:hlinkClick r:id="rId2" action="ppaction://hlinksldjump"/>
            <a:extLst>
              <a:ext uri="{FF2B5EF4-FFF2-40B4-BE49-F238E27FC236}">
                <a16:creationId xmlns:a16="http://schemas.microsoft.com/office/drawing/2014/main" id="{D3EF79D9-40E3-4311-A9C8-01DA92BAAE66}"/>
              </a:ext>
            </a:extLst>
          </p:cNvPr>
          <p:cNvSpPr/>
          <p:nvPr/>
        </p:nvSpPr>
        <p:spPr bwMode="gray">
          <a:xfrm flipH="1">
            <a:off x="6940465" y="69334"/>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graphicFrame>
        <p:nvGraphicFramePr>
          <p:cNvPr id="8" name="Table 7">
            <a:extLst>
              <a:ext uri="{FF2B5EF4-FFF2-40B4-BE49-F238E27FC236}">
                <a16:creationId xmlns:a16="http://schemas.microsoft.com/office/drawing/2014/main" id="{7C55C019-F0A1-49C3-BC47-D76E60C38392}"/>
              </a:ext>
            </a:extLst>
          </p:cNvPr>
          <p:cNvGraphicFramePr>
            <a:graphicFrameLocks noGrp="1"/>
          </p:cNvGraphicFramePr>
          <p:nvPr>
            <p:extLst>
              <p:ext uri="{D42A27DB-BD31-4B8C-83A1-F6EECF244321}">
                <p14:modId xmlns:p14="http://schemas.microsoft.com/office/powerpoint/2010/main" val="473780200"/>
              </p:ext>
            </p:extLst>
          </p:nvPr>
        </p:nvGraphicFramePr>
        <p:xfrm>
          <a:off x="501650" y="1102066"/>
          <a:ext cx="10433872" cy="1564935"/>
        </p:xfrm>
        <a:graphic>
          <a:graphicData uri="http://schemas.openxmlformats.org/drawingml/2006/table">
            <a:tbl>
              <a:tblPr/>
              <a:tblGrid>
                <a:gridCol w="4665853">
                  <a:extLst>
                    <a:ext uri="{9D8B030D-6E8A-4147-A177-3AD203B41FA5}">
                      <a16:colId xmlns:a16="http://schemas.microsoft.com/office/drawing/2014/main" val="1555908897"/>
                    </a:ext>
                  </a:extLst>
                </a:gridCol>
                <a:gridCol w="1763470">
                  <a:extLst>
                    <a:ext uri="{9D8B030D-6E8A-4147-A177-3AD203B41FA5}">
                      <a16:colId xmlns:a16="http://schemas.microsoft.com/office/drawing/2014/main" val="4169749598"/>
                    </a:ext>
                  </a:extLst>
                </a:gridCol>
                <a:gridCol w="4004549">
                  <a:extLst>
                    <a:ext uri="{9D8B030D-6E8A-4147-A177-3AD203B41FA5}">
                      <a16:colId xmlns:a16="http://schemas.microsoft.com/office/drawing/2014/main" val="3475381929"/>
                    </a:ext>
                  </a:extLst>
                </a:gridCol>
              </a:tblGrid>
              <a:tr h="312987">
                <a:tc>
                  <a:txBody>
                    <a:bodyPr/>
                    <a:lstStyle/>
                    <a:p>
                      <a:pPr algn="ctr" fontAlgn="b"/>
                      <a:endParaRPr lang="en-US"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1" i="0" u="none" strike="noStrike" dirty="0">
                          <a:solidFill>
                            <a:srgbClr val="000000"/>
                          </a:solidFill>
                          <a:effectLst/>
                          <a:latin typeface="Calibri" panose="020F0502020204030204" pitchFamily="34" charset="0"/>
                        </a:rPr>
                        <a:t>Jan-23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Calibri" panose="020F0502020204030204" pitchFamily="34" charset="0"/>
                        </a:rPr>
                        <a:t>Average 2023-2024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06170"/>
                  </a:ext>
                </a:extLst>
              </a:tr>
              <a:tr h="312987">
                <a:tc>
                  <a:txBody>
                    <a:bodyPr/>
                    <a:lstStyle/>
                    <a:p>
                      <a:pPr algn="ctr" fontAlgn="b"/>
                      <a:r>
                        <a:rPr lang="en-US" sz="1800" b="0" i="0" u="none" strike="noStrike" dirty="0">
                          <a:solidFill>
                            <a:srgbClr val="000000"/>
                          </a:solidFill>
                          <a:effectLst/>
                          <a:latin typeface="Calibri" panose="020F0502020204030204" pitchFamily="34" charset="0"/>
                        </a:rPr>
                        <a:t>Copper Cost (USD/ton)</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9107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8080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7747382"/>
                  </a:ext>
                </a:extLst>
              </a:tr>
              <a:tr h="312987">
                <a:tc>
                  <a:txBody>
                    <a:bodyPr/>
                    <a:lstStyle/>
                    <a:p>
                      <a:pPr algn="ctr" fontAlgn="b"/>
                      <a:r>
                        <a:rPr lang="en-US" sz="1800" b="0" i="0" u="none" strike="noStrike" dirty="0">
                          <a:solidFill>
                            <a:srgbClr val="000000"/>
                          </a:solidFill>
                          <a:effectLst/>
                          <a:latin typeface="Calibri" panose="020F0502020204030204" pitchFamily="34" charset="0"/>
                        </a:rPr>
                        <a:t>Unit Required per Wp (kg)</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0.0009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0.0009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916512"/>
                  </a:ext>
                </a:extLst>
              </a:tr>
              <a:tr h="312987">
                <a:tc>
                  <a:txBody>
                    <a:bodyPr/>
                    <a:lstStyle/>
                    <a:p>
                      <a:pPr algn="ctr" fontAlgn="b"/>
                      <a:r>
                        <a:rPr lang="en-US" sz="1800" b="0" i="0" u="none" strike="noStrike" dirty="0">
                          <a:solidFill>
                            <a:srgbClr val="000000"/>
                          </a:solidFill>
                          <a:effectLst/>
                          <a:latin typeface="Calibri" panose="020F0502020204030204" pitchFamily="34" charset="0"/>
                        </a:rPr>
                        <a:t>USD INR Exchange Rate</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81.71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85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020253"/>
                  </a:ext>
                </a:extLst>
              </a:tr>
              <a:tr h="312987">
                <a:tc>
                  <a:txBody>
                    <a:bodyPr/>
                    <a:lstStyle/>
                    <a:p>
                      <a:pPr algn="ctr" fontAlgn="b"/>
                      <a:r>
                        <a:rPr lang="en-US" sz="1800" b="0" i="0" u="none" strike="noStrike" dirty="0">
                          <a:solidFill>
                            <a:srgbClr val="000000"/>
                          </a:solidFill>
                          <a:effectLst/>
                          <a:latin typeface="Calibri" panose="020F0502020204030204" pitchFamily="34" charset="0"/>
                        </a:rPr>
                        <a:t>For Module (INR/Wp)</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0.70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0.62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062775"/>
                  </a:ext>
                </a:extLst>
              </a:tr>
            </a:tbl>
          </a:graphicData>
        </a:graphic>
      </p:graphicFrame>
    </p:spTree>
    <p:extLst>
      <p:ext uri="{BB962C8B-B14F-4D97-AF65-F5344CB8AC3E}">
        <p14:creationId xmlns:p14="http://schemas.microsoft.com/office/powerpoint/2010/main" val="61994686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3071"/>
            <a:ext cx="11188700" cy="334099"/>
          </a:xfrm>
        </p:spPr>
        <p:txBody>
          <a:bodyPr anchor="ctr"/>
          <a:lstStyle/>
          <a:p>
            <a:r>
              <a:rPr lang="en-US" sz="2400" b="1" dirty="0">
                <a:solidFill>
                  <a:srgbClr val="313131"/>
                </a:solidFill>
              </a:rPr>
              <a:t>Annexure 3: Glass Price Forecast</a:t>
            </a:r>
            <a:endParaRPr lang="en-GB" b="1" dirty="0"/>
          </a:p>
        </p:txBody>
      </p:sp>
      <p:graphicFrame>
        <p:nvGraphicFramePr>
          <p:cNvPr id="5" name="Table 4">
            <a:extLst>
              <a:ext uri="{FF2B5EF4-FFF2-40B4-BE49-F238E27FC236}">
                <a16:creationId xmlns:a16="http://schemas.microsoft.com/office/drawing/2014/main" id="{98DA1655-8923-4877-829D-3116F6200DB9}"/>
              </a:ext>
            </a:extLst>
          </p:cNvPr>
          <p:cNvGraphicFramePr>
            <a:graphicFrameLocks noGrp="1"/>
          </p:cNvGraphicFramePr>
          <p:nvPr>
            <p:extLst>
              <p:ext uri="{D42A27DB-BD31-4B8C-83A1-F6EECF244321}">
                <p14:modId xmlns:p14="http://schemas.microsoft.com/office/powerpoint/2010/main" val="480769439"/>
              </p:ext>
            </p:extLst>
          </p:nvPr>
        </p:nvGraphicFramePr>
        <p:xfrm>
          <a:off x="616858" y="1009083"/>
          <a:ext cx="10584541" cy="731520"/>
        </p:xfrm>
        <a:graphic>
          <a:graphicData uri="http://schemas.openxmlformats.org/drawingml/2006/table">
            <a:tbl>
              <a:tblPr/>
              <a:tblGrid>
                <a:gridCol w="3153613">
                  <a:extLst>
                    <a:ext uri="{9D8B030D-6E8A-4147-A177-3AD203B41FA5}">
                      <a16:colId xmlns:a16="http://schemas.microsoft.com/office/drawing/2014/main" val="1215181820"/>
                    </a:ext>
                  </a:extLst>
                </a:gridCol>
                <a:gridCol w="1739924">
                  <a:extLst>
                    <a:ext uri="{9D8B030D-6E8A-4147-A177-3AD203B41FA5}">
                      <a16:colId xmlns:a16="http://schemas.microsoft.com/office/drawing/2014/main" val="2536660491"/>
                    </a:ext>
                  </a:extLst>
                </a:gridCol>
                <a:gridCol w="3951080">
                  <a:extLst>
                    <a:ext uri="{9D8B030D-6E8A-4147-A177-3AD203B41FA5}">
                      <a16:colId xmlns:a16="http://schemas.microsoft.com/office/drawing/2014/main" val="3892331386"/>
                    </a:ext>
                  </a:extLst>
                </a:gridCol>
                <a:gridCol w="1739924">
                  <a:extLst>
                    <a:ext uri="{9D8B030D-6E8A-4147-A177-3AD203B41FA5}">
                      <a16:colId xmlns:a16="http://schemas.microsoft.com/office/drawing/2014/main" val="1605880658"/>
                    </a:ext>
                  </a:extLst>
                </a:gridCol>
              </a:tblGrid>
              <a:tr h="184150">
                <a:tc rowSpan="2">
                  <a:txBody>
                    <a:bodyPr/>
                    <a:lstStyle/>
                    <a:p>
                      <a:pPr algn="ctr" fontAlgn="b"/>
                      <a:r>
                        <a:rPr lang="en-US" sz="1600" b="1" i="0" u="none" strike="noStrike" dirty="0">
                          <a:solidFill>
                            <a:srgbClr val="000000"/>
                          </a:solidFill>
                          <a:effectLst/>
                          <a:latin typeface="Calibri" panose="020F0502020204030204" pitchFamily="34" charset="0"/>
                        </a:rPr>
                        <a:t>CAGR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b"/>
                      <a:r>
                        <a:rPr lang="en-US" sz="1600" b="1" i="0" u="none" strike="noStrike" dirty="0">
                          <a:solidFill>
                            <a:srgbClr val="000000"/>
                          </a:solidFill>
                          <a:effectLst/>
                          <a:latin typeface="Calibri" panose="020F0502020204030204" pitchFamily="34" charset="0"/>
                        </a:rPr>
                        <a:t>Glass Price (USD/sq. mm)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7901183"/>
                  </a:ext>
                </a:extLst>
              </a:tr>
              <a:tr h="184150">
                <a:tc vMerge="1">
                  <a:txBody>
                    <a:bodyPr/>
                    <a:lstStyle/>
                    <a:p>
                      <a:pPr algn="ctr" fontAlgn="b"/>
                      <a:r>
                        <a:rPr lang="en-US" sz="1600" b="1" i="0" u="none" strike="noStrike" dirty="0">
                          <a:solidFill>
                            <a:srgbClr val="000000"/>
                          </a:solidFill>
                          <a:effectLst/>
                          <a:latin typeface="Calibri" panose="020F0502020204030204" pitchFamily="34" charset="0"/>
                        </a:rPr>
                        <a:t>CAGR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panose="020F0502020204030204" pitchFamily="34" charset="0"/>
                        </a:rPr>
                        <a:t>2021 (Historical)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panose="020F0502020204030204" pitchFamily="34" charset="0"/>
                        </a:rPr>
                        <a:t>2023 (Current)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panose="020F0502020204030204" pitchFamily="34" charset="0"/>
                        </a:rPr>
                        <a:t>2024 (Predicted)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3263470"/>
                  </a:ext>
                </a:extLst>
              </a:tr>
              <a:tr h="184150">
                <a:tc>
                  <a:txBody>
                    <a:bodyPr/>
                    <a:lstStyle/>
                    <a:p>
                      <a:pPr algn="ctr" fontAlgn="b"/>
                      <a:r>
                        <a:rPr lang="en-US" sz="1600" b="0" i="0" u="none" strike="noStrike" dirty="0">
                          <a:solidFill>
                            <a:srgbClr val="000000"/>
                          </a:solidFill>
                          <a:effectLst/>
                          <a:latin typeface="Calibri" panose="020F0502020204030204" pitchFamily="34" charset="0"/>
                        </a:rPr>
                        <a:t>4.0%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3.7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4.0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4.2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2209168"/>
                  </a:ext>
                </a:extLst>
              </a:tr>
            </a:tbl>
          </a:graphicData>
        </a:graphic>
      </p:graphicFrame>
      <p:graphicFrame>
        <p:nvGraphicFramePr>
          <p:cNvPr id="8" name="Table 7">
            <a:extLst>
              <a:ext uri="{FF2B5EF4-FFF2-40B4-BE49-F238E27FC236}">
                <a16:creationId xmlns:a16="http://schemas.microsoft.com/office/drawing/2014/main" id="{D596697F-A013-402A-B80F-B5298311A6FB}"/>
              </a:ext>
            </a:extLst>
          </p:cNvPr>
          <p:cNvGraphicFramePr>
            <a:graphicFrameLocks noGrp="1"/>
          </p:cNvGraphicFramePr>
          <p:nvPr>
            <p:extLst>
              <p:ext uri="{D42A27DB-BD31-4B8C-83A1-F6EECF244321}">
                <p14:modId xmlns:p14="http://schemas.microsoft.com/office/powerpoint/2010/main" val="3053814889"/>
              </p:ext>
            </p:extLst>
          </p:nvPr>
        </p:nvGraphicFramePr>
        <p:xfrm>
          <a:off x="616859" y="2300401"/>
          <a:ext cx="10584540" cy="975360"/>
        </p:xfrm>
        <a:graphic>
          <a:graphicData uri="http://schemas.openxmlformats.org/drawingml/2006/table">
            <a:tbl>
              <a:tblPr/>
              <a:tblGrid>
                <a:gridCol w="3954976">
                  <a:extLst>
                    <a:ext uri="{9D8B030D-6E8A-4147-A177-3AD203B41FA5}">
                      <a16:colId xmlns:a16="http://schemas.microsoft.com/office/drawing/2014/main" val="2365354751"/>
                    </a:ext>
                  </a:extLst>
                </a:gridCol>
                <a:gridCol w="4011882">
                  <a:extLst>
                    <a:ext uri="{9D8B030D-6E8A-4147-A177-3AD203B41FA5}">
                      <a16:colId xmlns:a16="http://schemas.microsoft.com/office/drawing/2014/main" val="3410990290"/>
                    </a:ext>
                  </a:extLst>
                </a:gridCol>
                <a:gridCol w="2617682">
                  <a:extLst>
                    <a:ext uri="{9D8B030D-6E8A-4147-A177-3AD203B41FA5}">
                      <a16:colId xmlns:a16="http://schemas.microsoft.com/office/drawing/2014/main" val="3362598831"/>
                    </a:ext>
                  </a:extLst>
                </a:gridCol>
              </a:tblGrid>
              <a:tr h="184150">
                <a:tc>
                  <a:txBody>
                    <a:bodyPr/>
                    <a:lstStyle/>
                    <a:p>
                      <a:pPr algn="l" fontAlgn="b"/>
                      <a:endParaRPr lang="en-US" sz="16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2023 (Current)</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2024 (Predicted)</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6481923"/>
                  </a:ext>
                </a:extLst>
              </a:tr>
              <a:tr h="184150">
                <a:tc>
                  <a:txBody>
                    <a:bodyPr/>
                    <a:lstStyle/>
                    <a:p>
                      <a:pPr algn="l" fontAlgn="b"/>
                      <a:r>
                        <a:rPr lang="en-US" sz="1600" b="0" i="0" u="none" strike="noStrike">
                          <a:solidFill>
                            <a:srgbClr val="000000"/>
                          </a:solidFill>
                          <a:effectLst/>
                          <a:latin typeface="Calibri" panose="020F0502020204030204" pitchFamily="34" charset="0"/>
                        </a:rPr>
                        <a:t>Glass (USD/sq mm)</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4.00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4.16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7855066"/>
                  </a:ext>
                </a:extLst>
              </a:tr>
              <a:tr h="184150">
                <a:tc gridSpan="3">
                  <a:txBody>
                    <a:bodyPr/>
                    <a:lstStyle/>
                    <a:p>
                      <a:pPr algn="l" fontAlgn="b"/>
                      <a:r>
                        <a:rPr lang="en-US" sz="1600" b="1" i="0" u="none" strike="noStrike" dirty="0">
                          <a:solidFill>
                            <a:srgbClr val="000000"/>
                          </a:solidFill>
                          <a:effectLst/>
                          <a:latin typeface="Calibri" panose="020F0502020204030204" pitchFamily="34" charset="0"/>
                        </a:rPr>
                        <a:t>Unit required per Wp is 0.0089 sq. mm</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16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16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9178400"/>
                  </a:ext>
                </a:extLst>
              </a:tr>
              <a:tr h="184150">
                <a:tc>
                  <a:txBody>
                    <a:bodyPr/>
                    <a:lstStyle/>
                    <a:p>
                      <a:pPr algn="l" fontAlgn="b"/>
                      <a:r>
                        <a:rPr lang="en-US" sz="1600" b="1" i="0" u="none" strike="noStrike" dirty="0">
                          <a:solidFill>
                            <a:srgbClr val="000000"/>
                          </a:solidFill>
                          <a:effectLst/>
                          <a:latin typeface="Calibri" panose="020F0502020204030204" pitchFamily="34" charset="0"/>
                        </a:rPr>
                        <a:t>Glass (Rs/Wp)</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panose="020F0502020204030204" pitchFamily="34" charset="0"/>
                        </a:rPr>
                        <a:t>2.92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panose="020F0502020204030204" pitchFamily="34" charset="0"/>
                        </a:rPr>
                        <a:t>3.15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6358701"/>
                  </a:ext>
                </a:extLst>
              </a:tr>
            </a:tbl>
          </a:graphicData>
        </a:graphic>
      </p:graphicFrame>
      <p:sp>
        <p:nvSpPr>
          <p:cNvPr id="7" name="Arrow: Right 6">
            <a:hlinkClick r:id="rId2" action="ppaction://hlinksldjump"/>
            <a:extLst>
              <a:ext uri="{FF2B5EF4-FFF2-40B4-BE49-F238E27FC236}">
                <a16:creationId xmlns:a16="http://schemas.microsoft.com/office/drawing/2014/main" id="{669B208B-D2C4-4A72-9484-E4187EAA4ED2}"/>
              </a:ext>
            </a:extLst>
          </p:cNvPr>
          <p:cNvSpPr/>
          <p:nvPr/>
        </p:nvSpPr>
        <p:spPr bwMode="gray">
          <a:xfrm flipH="1">
            <a:off x="7539179" y="6133170"/>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
        <p:nvSpPr>
          <p:cNvPr id="9" name="TextBox 8">
            <a:extLst>
              <a:ext uri="{FF2B5EF4-FFF2-40B4-BE49-F238E27FC236}">
                <a16:creationId xmlns:a16="http://schemas.microsoft.com/office/drawing/2014/main" id="{2057ACDB-ED5B-49D1-A841-6C44CDCCA455}"/>
              </a:ext>
            </a:extLst>
          </p:cNvPr>
          <p:cNvSpPr txBox="1"/>
          <p:nvPr/>
        </p:nvSpPr>
        <p:spPr>
          <a:xfrm>
            <a:off x="669471" y="6186408"/>
            <a:ext cx="1382485" cy="138499"/>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Source: Deloitte Research</a:t>
            </a:r>
          </a:p>
        </p:txBody>
      </p:sp>
    </p:spTree>
    <p:extLst>
      <p:ext uri="{BB962C8B-B14F-4D97-AF65-F5344CB8AC3E}">
        <p14:creationId xmlns:p14="http://schemas.microsoft.com/office/powerpoint/2010/main" val="215659228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3071"/>
            <a:ext cx="11188700" cy="334099"/>
          </a:xfrm>
        </p:spPr>
        <p:txBody>
          <a:bodyPr anchor="ctr"/>
          <a:lstStyle/>
          <a:p>
            <a:r>
              <a:rPr lang="en-US" sz="2400" b="1" dirty="0">
                <a:solidFill>
                  <a:srgbClr val="313131"/>
                </a:solidFill>
              </a:rPr>
              <a:t>Annexure 4: Historical Trend of Repo Rate and SBI PLR</a:t>
            </a:r>
            <a:endParaRPr lang="en-GB" b="1" dirty="0"/>
          </a:p>
        </p:txBody>
      </p:sp>
      <p:sp>
        <p:nvSpPr>
          <p:cNvPr id="7" name="Arrow: Right 6">
            <a:hlinkClick r:id="rId2" action="ppaction://hlinksldjump"/>
            <a:extLst>
              <a:ext uri="{FF2B5EF4-FFF2-40B4-BE49-F238E27FC236}">
                <a16:creationId xmlns:a16="http://schemas.microsoft.com/office/drawing/2014/main" id="{669B208B-D2C4-4A72-9484-E4187EAA4ED2}"/>
              </a:ext>
            </a:extLst>
          </p:cNvPr>
          <p:cNvSpPr/>
          <p:nvPr/>
        </p:nvSpPr>
        <p:spPr bwMode="gray">
          <a:xfrm flipH="1">
            <a:off x="7539179" y="6133170"/>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
        <p:nvSpPr>
          <p:cNvPr id="9" name="TextBox 8">
            <a:extLst>
              <a:ext uri="{FF2B5EF4-FFF2-40B4-BE49-F238E27FC236}">
                <a16:creationId xmlns:a16="http://schemas.microsoft.com/office/drawing/2014/main" id="{2057ACDB-ED5B-49D1-A841-6C44CDCCA455}"/>
              </a:ext>
            </a:extLst>
          </p:cNvPr>
          <p:cNvSpPr txBox="1"/>
          <p:nvPr/>
        </p:nvSpPr>
        <p:spPr>
          <a:xfrm>
            <a:off x="669471" y="6186408"/>
            <a:ext cx="1382485" cy="138499"/>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Source: Deloitte Research</a:t>
            </a:r>
          </a:p>
        </p:txBody>
      </p:sp>
      <p:graphicFrame>
        <p:nvGraphicFramePr>
          <p:cNvPr id="10" name="Chart 9">
            <a:extLst>
              <a:ext uri="{FF2B5EF4-FFF2-40B4-BE49-F238E27FC236}">
                <a16:creationId xmlns:a16="http://schemas.microsoft.com/office/drawing/2014/main" id="{1DEAD0E6-49BF-4EDD-BFAA-F890420D878A}"/>
              </a:ext>
            </a:extLst>
          </p:cNvPr>
          <p:cNvGraphicFramePr>
            <a:graphicFrameLocks/>
          </p:cNvGraphicFramePr>
          <p:nvPr>
            <p:extLst>
              <p:ext uri="{D42A27DB-BD31-4B8C-83A1-F6EECF244321}">
                <p14:modId xmlns:p14="http://schemas.microsoft.com/office/powerpoint/2010/main" val="3676202030"/>
              </p:ext>
            </p:extLst>
          </p:nvPr>
        </p:nvGraphicFramePr>
        <p:xfrm>
          <a:off x="501650" y="931636"/>
          <a:ext cx="11032586" cy="5011964"/>
        </p:xfrm>
        <a:graphic>
          <a:graphicData uri="http://schemas.openxmlformats.org/drawingml/2006/chart">
            <c:chart xmlns:c="http://schemas.openxmlformats.org/drawingml/2006/chart" xmlns:r="http://schemas.openxmlformats.org/officeDocument/2006/relationships" r:id="rId4"/>
          </a:graphicData>
        </a:graphic>
      </p:graphicFrame>
      <p:sp>
        <p:nvSpPr>
          <p:cNvPr id="2" name="Arrow: Down 1">
            <a:extLst>
              <a:ext uri="{FF2B5EF4-FFF2-40B4-BE49-F238E27FC236}">
                <a16:creationId xmlns:a16="http://schemas.microsoft.com/office/drawing/2014/main" id="{EFD2A33A-8D12-4DC6-9906-0F9FE8B2F206}"/>
              </a:ext>
            </a:extLst>
          </p:cNvPr>
          <p:cNvSpPr/>
          <p:nvPr/>
        </p:nvSpPr>
        <p:spPr bwMode="gray">
          <a:xfrm>
            <a:off x="11220862" y="3180290"/>
            <a:ext cx="272142" cy="370114"/>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 name="Oval 2">
            <a:extLst>
              <a:ext uri="{FF2B5EF4-FFF2-40B4-BE49-F238E27FC236}">
                <a16:creationId xmlns:a16="http://schemas.microsoft.com/office/drawing/2014/main" id="{64FD08CF-CA77-4EA9-A522-03BE563B151A}"/>
              </a:ext>
            </a:extLst>
          </p:cNvPr>
          <p:cNvSpPr/>
          <p:nvPr/>
        </p:nvSpPr>
        <p:spPr bwMode="gray">
          <a:xfrm>
            <a:off x="10689771" y="2558143"/>
            <a:ext cx="1295400" cy="500743"/>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6.25%</a:t>
            </a:r>
          </a:p>
        </p:txBody>
      </p:sp>
    </p:spTree>
    <p:extLst>
      <p:ext uri="{BB962C8B-B14F-4D97-AF65-F5344CB8AC3E}">
        <p14:creationId xmlns:p14="http://schemas.microsoft.com/office/powerpoint/2010/main" val="230161475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3071"/>
            <a:ext cx="11188700" cy="334099"/>
          </a:xfrm>
        </p:spPr>
        <p:txBody>
          <a:bodyPr anchor="ctr"/>
          <a:lstStyle/>
          <a:p>
            <a:r>
              <a:rPr lang="en-US" sz="2400" b="1" dirty="0">
                <a:solidFill>
                  <a:srgbClr val="313131"/>
                </a:solidFill>
              </a:rPr>
              <a:t>Annexure 5: Details of Outstanding Balances against ECBs for Leading PSUs</a:t>
            </a:r>
            <a:endParaRPr lang="en-GB" b="1" dirty="0"/>
          </a:p>
        </p:txBody>
      </p:sp>
      <p:graphicFrame>
        <p:nvGraphicFramePr>
          <p:cNvPr id="8" name="Table 7">
            <a:extLst>
              <a:ext uri="{FF2B5EF4-FFF2-40B4-BE49-F238E27FC236}">
                <a16:creationId xmlns:a16="http://schemas.microsoft.com/office/drawing/2014/main" id="{4CA4ED2E-E053-4431-A4DF-AEF65577AF9D}"/>
              </a:ext>
            </a:extLst>
          </p:cNvPr>
          <p:cNvGraphicFramePr>
            <a:graphicFrameLocks noGrp="1"/>
          </p:cNvGraphicFramePr>
          <p:nvPr>
            <p:extLst>
              <p:ext uri="{D42A27DB-BD31-4B8C-83A1-F6EECF244321}">
                <p14:modId xmlns:p14="http://schemas.microsoft.com/office/powerpoint/2010/main" val="2942142503"/>
              </p:ext>
            </p:extLst>
          </p:nvPr>
        </p:nvGraphicFramePr>
        <p:xfrm>
          <a:off x="501650" y="716655"/>
          <a:ext cx="11188700" cy="5867400"/>
        </p:xfrm>
        <a:graphic>
          <a:graphicData uri="http://schemas.openxmlformats.org/drawingml/2006/table">
            <a:tbl>
              <a:tblPr/>
              <a:tblGrid>
                <a:gridCol w="5757636">
                  <a:extLst>
                    <a:ext uri="{9D8B030D-6E8A-4147-A177-3AD203B41FA5}">
                      <a16:colId xmlns:a16="http://schemas.microsoft.com/office/drawing/2014/main" val="2561878084"/>
                    </a:ext>
                  </a:extLst>
                </a:gridCol>
                <a:gridCol w="674914">
                  <a:extLst>
                    <a:ext uri="{9D8B030D-6E8A-4147-A177-3AD203B41FA5}">
                      <a16:colId xmlns:a16="http://schemas.microsoft.com/office/drawing/2014/main" val="2916763963"/>
                    </a:ext>
                  </a:extLst>
                </a:gridCol>
                <a:gridCol w="4756150">
                  <a:extLst>
                    <a:ext uri="{9D8B030D-6E8A-4147-A177-3AD203B41FA5}">
                      <a16:colId xmlns:a16="http://schemas.microsoft.com/office/drawing/2014/main" val="1758057528"/>
                    </a:ext>
                  </a:extLst>
                </a:gridCol>
              </a:tblGrid>
              <a:tr h="269447">
                <a:tc>
                  <a:txBody>
                    <a:bodyPr/>
                    <a:lstStyle/>
                    <a:p>
                      <a:pPr algn="l" fontAlgn="t"/>
                      <a:r>
                        <a:rPr lang="en-US" sz="1100" b="1" i="0" u="none" strike="noStrike" dirty="0">
                          <a:solidFill>
                            <a:schemeClr val="bg1"/>
                          </a:solidFill>
                          <a:effectLst/>
                          <a:latin typeface="Calibri" panose="020F0502020204030204" pitchFamily="34" charset="0"/>
                        </a:rPr>
                        <a:t>Particulars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9A44"/>
                    </a:solidFill>
                  </a:tcPr>
                </a:tc>
                <a:tc>
                  <a:txBody>
                    <a:bodyPr/>
                    <a:lstStyle/>
                    <a:p>
                      <a:pPr algn="ctr" fontAlgn="t"/>
                      <a:r>
                        <a:rPr lang="en-US" sz="1100" b="1" i="0" u="none" strike="noStrike" dirty="0">
                          <a:solidFill>
                            <a:schemeClr val="bg1"/>
                          </a:solidFill>
                          <a:effectLst/>
                          <a:latin typeface="Calibri" panose="020F0502020204030204" pitchFamily="34" charset="0"/>
                        </a:rPr>
                        <a:t> (Rs. Cr)*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9A44"/>
                    </a:solidFill>
                  </a:tcPr>
                </a:tc>
                <a:tc>
                  <a:txBody>
                    <a:bodyPr/>
                    <a:lstStyle/>
                    <a:p>
                      <a:pPr algn="ctr" fontAlgn="t"/>
                      <a:r>
                        <a:rPr lang="en-US" sz="1100" b="1" i="0" u="none" strike="noStrike" dirty="0">
                          <a:solidFill>
                            <a:schemeClr val="bg1"/>
                          </a:solidFill>
                          <a:effectLst/>
                          <a:latin typeface="Calibri" panose="020F0502020204030204" pitchFamily="34" charset="0"/>
                        </a:rPr>
                        <a:t>Details for FY 2021-22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9A44"/>
                    </a:solidFill>
                  </a:tcPr>
                </a:tc>
                <a:extLst>
                  <a:ext uri="{0D108BD9-81ED-4DB2-BD59-A6C34878D82A}">
                    <a16:rowId xmlns:a16="http://schemas.microsoft.com/office/drawing/2014/main" val="1133757997"/>
                  </a:ext>
                </a:extLst>
              </a:tr>
              <a:tr h="134723">
                <a:tc gridSpan="3">
                  <a:txBody>
                    <a:bodyPr/>
                    <a:lstStyle/>
                    <a:p>
                      <a:pPr algn="l" fontAlgn="t"/>
                      <a:r>
                        <a:rPr lang="en-US" sz="1100" b="1" i="0" u="none" strike="noStrike" dirty="0">
                          <a:solidFill>
                            <a:srgbClr val="000000"/>
                          </a:solidFill>
                          <a:effectLst/>
                          <a:latin typeface="Calibri" panose="020F0502020204030204" pitchFamily="34" charset="0"/>
                        </a:rPr>
                        <a:t>NTPC:</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l" fontAlgn="t"/>
                      <a:r>
                        <a:rPr lang="en-US" sz="1000" b="0" i="0" u="none" strike="noStrike" dirty="0">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t"/>
                      <a:r>
                        <a:rPr lang="en-US" sz="1000" b="0" i="0" u="none" strike="noStrike" dirty="0">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6577080"/>
                  </a:ext>
                </a:extLst>
              </a:tr>
              <a:tr h="269447">
                <a:tc>
                  <a:txBody>
                    <a:bodyPr/>
                    <a:lstStyle/>
                    <a:p>
                      <a:pPr algn="l" fontAlgn="t"/>
                      <a:r>
                        <a:rPr lang="en-US" sz="1100" b="0" i="0" u="none" strike="noStrike" dirty="0">
                          <a:solidFill>
                            <a:srgbClr val="000000"/>
                          </a:solidFill>
                          <a:effectLst/>
                          <a:latin typeface="Calibri" panose="020F0502020204030204" pitchFamily="34" charset="0"/>
                        </a:rPr>
                        <a:t>Unsecured Foreign Currency Loans from Banks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13194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Floating rate of interest linked to 6M USD LIBOR / 6M EURIBOR / 3M TONA / 6M TONA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9880595"/>
                  </a:ext>
                </a:extLst>
              </a:tr>
              <a:tr h="134723">
                <a:tc>
                  <a:txBody>
                    <a:bodyPr/>
                    <a:lstStyle/>
                    <a:p>
                      <a:pPr algn="l" fontAlgn="t"/>
                      <a:r>
                        <a:rPr lang="en-US" sz="1100" b="0" i="0" u="none" strike="noStrike" dirty="0">
                          <a:solidFill>
                            <a:srgbClr val="000000"/>
                          </a:solidFill>
                          <a:effectLst/>
                          <a:latin typeface="Calibri" panose="020F0502020204030204" pitchFamily="34" charset="0"/>
                        </a:rPr>
                        <a:t>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84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Fixed rate of interest of 1.88%</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7571608"/>
                  </a:ext>
                </a:extLst>
              </a:tr>
              <a:tr h="134723">
                <a:tc>
                  <a:txBody>
                    <a:bodyPr/>
                    <a:lstStyle/>
                    <a:p>
                      <a:pPr algn="l" fontAlgn="t"/>
                      <a:r>
                        <a:rPr lang="en-US" sz="1100" b="0" i="0" u="none" strike="noStrike" dirty="0">
                          <a:solidFill>
                            <a:srgbClr val="000000"/>
                          </a:solidFill>
                          <a:effectLst/>
                          <a:latin typeface="Calibri" panose="020F0502020204030204" pitchFamily="34" charset="0"/>
                        </a:rPr>
                        <a:t>Unsecured Foreign Currency Loans from other </a:t>
                      </a:r>
                      <a:r>
                        <a:rPr lang="en-US" sz="1100" b="0" i="0" u="none" strike="noStrike" dirty="0" err="1">
                          <a:solidFill>
                            <a:srgbClr val="000000"/>
                          </a:solidFill>
                          <a:effectLst/>
                          <a:latin typeface="Calibri" panose="020F0502020204030204" pitchFamily="34" charset="0"/>
                        </a:rPr>
                        <a:t>Fis</a:t>
                      </a:r>
                      <a:endParaRPr lang="en-US" sz="1100" b="0" i="0" u="none" strike="noStrike" dirty="0">
                        <a:solidFill>
                          <a:srgbClr val="000000"/>
                        </a:solidFill>
                        <a:effectLst/>
                        <a:latin typeface="Calibri" panose="020F0502020204030204" pitchFamily="34" charset="0"/>
                      </a:endParaRP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1863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Fixed rate of interest ranging from 1.88% p.a. to 4.13% p.a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1394750"/>
                  </a:ext>
                </a:extLst>
              </a:tr>
              <a:tr h="134723">
                <a:tc>
                  <a:txBody>
                    <a:bodyPr/>
                    <a:lstStyle/>
                    <a:p>
                      <a:pPr algn="l" fontAlgn="t"/>
                      <a:r>
                        <a:rPr lang="en-US" sz="1100" b="0" i="0" u="none" strike="noStrike" dirty="0">
                          <a:solidFill>
                            <a:srgbClr val="000000"/>
                          </a:solidFill>
                          <a:effectLst/>
                          <a:latin typeface="Calibri" panose="020F0502020204030204" pitchFamily="34" charset="0"/>
                        </a:rPr>
                        <a:t>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1540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Floating rate of interest linked to 3M TONA/6M TONA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0825911"/>
                  </a:ext>
                </a:extLst>
              </a:tr>
              <a:tr h="134723">
                <a:tc>
                  <a:txBody>
                    <a:bodyPr/>
                    <a:lstStyle/>
                    <a:p>
                      <a:pPr algn="l" fontAlgn="t"/>
                      <a:r>
                        <a:rPr lang="en-US" sz="1100" b="0" i="0" u="none" strike="noStrike" dirty="0">
                          <a:solidFill>
                            <a:srgbClr val="000000"/>
                          </a:solidFill>
                          <a:effectLst/>
                          <a:latin typeface="Calibri" panose="020F0502020204030204" pitchFamily="34" charset="0"/>
                        </a:rPr>
                        <a:t>Unsecured Foreign Currency Loans from other FIs and guaranteed by GOI</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1321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Fixed rate of interest ranging from 1.80% p.a. to 2.30% p.a.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1968029"/>
                  </a:ext>
                </a:extLst>
              </a:tr>
              <a:tr h="134723">
                <a:tc gridSpan="3">
                  <a:txBody>
                    <a:bodyPr/>
                    <a:lstStyle/>
                    <a:p>
                      <a:pPr algn="l" fontAlgn="t"/>
                      <a:r>
                        <a:rPr lang="en-US" sz="1100" b="1" i="0" u="none" strike="noStrike" dirty="0">
                          <a:solidFill>
                            <a:srgbClr val="000000"/>
                          </a:solidFill>
                          <a:effectLst/>
                          <a:latin typeface="Calibri" panose="020F0502020204030204" pitchFamily="34" charset="0"/>
                        </a:rPr>
                        <a:t>SJVN: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CCC"/>
                    </a:solidFill>
                  </a:tcPr>
                </a:tc>
                <a:tc hMerge="1">
                  <a:txBody>
                    <a:bodyPr/>
                    <a:lstStyle/>
                    <a:p>
                      <a:pPr algn="ctr" fontAlgn="t"/>
                      <a:r>
                        <a:rPr lang="en-US" sz="1000" b="0" i="0" u="none" strike="noStrike">
                          <a:solidFill>
                            <a:srgbClr val="000000"/>
                          </a:solidFill>
                          <a:effectLst/>
                          <a:latin typeface="Calibri" panose="020F0502020204030204" pitchFamily="34" charset="0"/>
                        </a:rPr>
                        <a:t>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CCC"/>
                    </a:solidFill>
                  </a:tcPr>
                </a:tc>
                <a:tc hMerge="1">
                  <a:txBody>
                    <a:bodyPr/>
                    <a:lstStyle/>
                    <a:p>
                      <a:pPr algn="l" fontAlgn="t"/>
                      <a:r>
                        <a:rPr lang="en-US" sz="1000" b="0" i="0" u="none" strike="noStrike">
                          <a:solidFill>
                            <a:srgbClr val="000000"/>
                          </a:solidFill>
                          <a:effectLst/>
                          <a:latin typeface="Calibri" panose="020F0502020204030204" pitchFamily="34" charset="0"/>
                        </a:rPr>
                        <a:t>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CCC"/>
                    </a:solidFill>
                  </a:tcPr>
                </a:tc>
                <a:extLst>
                  <a:ext uri="{0D108BD9-81ED-4DB2-BD59-A6C34878D82A}">
                    <a16:rowId xmlns:a16="http://schemas.microsoft.com/office/drawing/2014/main" val="3406061938"/>
                  </a:ext>
                </a:extLst>
              </a:tr>
              <a:tr h="269447">
                <a:tc>
                  <a:txBody>
                    <a:bodyPr/>
                    <a:lstStyle/>
                    <a:p>
                      <a:pPr algn="l" fontAlgn="t"/>
                      <a:r>
                        <a:rPr lang="en-US" sz="1100" b="0" i="0" u="none" strike="noStrike" dirty="0">
                          <a:solidFill>
                            <a:srgbClr val="000000"/>
                          </a:solidFill>
                          <a:effectLst/>
                          <a:latin typeface="Calibri" panose="020F0502020204030204" pitchFamily="34" charset="0"/>
                        </a:rPr>
                        <a:t>Unsecured Foreign Currency Loan - World Bank (IBRD) (Guaranteed by Govt of India) Repayable in 30 half yearly instalments from May 2013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1534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Interest@ 6M </a:t>
                      </a:r>
                      <a:r>
                        <a:rPr lang="en-US" sz="1100" b="0" i="0" u="none" strike="noStrike" dirty="0" err="1">
                          <a:solidFill>
                            <a:srgbClr val="000000"/>
                          </a:solidFill>
                          <a:effectLst/>
                          <a:latin typeface="Calibri" panose="020F0502020204030204" pitchFamily="34" charset="0"/>
                        </a:rPr>
                        <a:t>LIBOR+variable</a:t>
                      </a:r>
                      <a:r>
                        <a:rPr lang="en-US" sz="1100" b="0" i="0" u="none" strike="noStrike" dirty="0">
                          <a:solidFill>
                            <a:srgbClr val="000000"/>
                          </a:solidFill>
                          <a:effectLst/>
                          <a:latin typeface="Calibri" panose="020F0502020204030204" pitchFamily="34" charset="0"/>
                        </a:rPr>
                        <a:t> spread of 0.33% p.a. </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6800633"/>
                  </a:ext>
                </a:extLst>
              </a:tr>
              <a:tr h="269447">
                <a:tc>
                  <a:txBody>
                    <a:bodyPr/>
                    <a:lstStyle/>
                    <a:p>
                      <a:pPr algn="l" fontAlgn="t"/>
                      <a:r>
                        <a:rPr lang="en-US" sz="1100" b="0" i="0" u="none" strike="noStrike" dirty="0">
                          <a:solidFill>
                            <a:srgbClr val="000000"/>
                          </a:solidFill>
                          <a:effectLst/>
                          <a:latin typeface="Calibri" panose="020F0502020204030204" pitchFamily="34" charset="0"/>
                        </a:rPr>
                        <a:t>Unsecured Foreign Currency Loan - Punjab National Bank, Dubai Repayable after 5 years from the date of </a:t>
                      </a:r>
                      <a:r>
                        <a:rPr lang="en-US" sz="1100" b="0" i="0" u="none" strike="noStrike" dirty="0" err="1">
                          <a:solidFill>
                            <a:srgbClr val="000000"/>
                          </a:solidFill>
                          <a:effectLst/>
                          <a:latin typeface="Calibri" panose="020F0502020204030204" pitchFamily="34" charset="0"/>
                        </a:rPr>
                        <a:t>drawal</a:t>
                      </a:r>
                      <a:r>
                        <a:rPr lang="en-US" sz="1100" b="0" i="0" u="none" strike="noStrike" dirty="0">
                          <a:solidFill>
                            <a:srgbClr val="000000"/>
                          </a:solidFill>
                          <a:effectLst/>
                          <a:latin typeface="Calibri" panose="020F0502020204030204" pitchFamily="34" charset="0"/>
                        </a:rPr>
                        <a:t> starting w.e.f. </a:t>
                      </a:r>
                      <a:r>
                        <a:rPr lang="en-US" sz="1100" b="0" i="0" u="none" strike="noStrike" dirty="0" err="1">
                          <a:solidFill>
                            <a:srgbClr val="000000"/>
                          </a:solidFill>
                          <a:effectLst/>
                          <a:latin typeface="Calibri" panose="020F0502020204030204" pitchFamily="34" charset="0"/>
                        </a:rPr>
                        <a:t>september</a:t>
                      </a:r>
                      <a:r>
                        <a:rPr lang="en-US" sz="1100" b="0" i="0" u="none" strike="noStrike" dirty="0">
                          <a:solidFill>
                            <a:srgbClr val="000000"/>
                          </a:solidFill>
                          <a:effectLst/>
                          <a:latin typeface="Calibri" panose="020F0502020204030204" pitchFamily="34" charset="0"/>
                        </a:rPr>
                        <a:t> 2026</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2230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Interest @ 6M LIBOR+spread 1.30% p.a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6326177"/>
                  </a:ext>
                </a:extLst>
              </a:tr>
              <a:tr h="134723">
                <a:tc gridSpan="3">
                  <a:txBody>
                    <a:bodyPr/>
                    <a:lstStyle/>
                    <a:p>
                      <a:pPr algn="l" fontAlgn="t"/>
                      <a:r>
                        <a:rPr lang="en-US" sz="1100" b="1" i="0" u="none" strike="noStrike" dirty="0">
                          <a:solidFill>
                            <a:srgbClr val="000000"/>
                          </a:solidFill>
                          <a:effectLst/>
                          <a:latin typeface="Calibri" panose="020F0502020204030204" pitchFamily="34" charset="0"/>
                        </a:rPr>
                        <a:t>NHPC:</a:t>
                      </a:r>
                      <a:endParaRPr lang="en-US" sz="1100" b="0" i="0" u="none" strike="noStrike" dirty="0">
                        <a:solidFill>
                          <a:srgbClr val="000000"/>
                        </a:solidFill>
                        <a:effectLst/>
                        <a:latin typeface="Calibri" panose="020F0502020204030204" pitchFamily="34" charset="0"/>
                      </a:endParaRP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t"/>
                      <a:r>
                        <a:rPr lang="en-US" sz="10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t"/>
                      <a:r>
                        <a:rPr lang="en-US" sz="10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5321560"/>
                  </a:ext>
                </a:extLst>
              </a:tr>
              <a:tr h="404170">
                <a:tc>
                  <a:txBody>
                    <a:bodyPr/>
                    <a:lstStyle/>
                    <a:p>
                      <a:pPr algn="l" fontAlgn="t"/>
                      <a:r>
                        <a:rPr lang="en-US" sz="1100" b="0" i="0" u="none" strike="noStrike" dirty="0">
                          <a:solidFill>
                            <a:srgbClr val="000000"/>
                          </a:solidFill>
                          <a:effectLst/>
                          <a:latin typeface="Calibri" panose="020F0502020204030204" pitchFamily="34" charset="0"/>
                        </a:rPr>
                        <a:t>Unsecured Foreign Currency Loan - Japan International Cooperation Agency Tranche-I (guaranteed by Government of India)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(Repayable in 8 equal half yearly instalments of Rs. 7.60 Crore each </a:t>
                      </a:r>
                      <a:r>
                        <a:rPr lang="en-US" sz="1100" b="0" i="0" u="none" strike="noStrike" dirty="0" err="1">
                          <a:solidFill>
                            <a:srgbClr val="000000"/>
                          </a:solidFill>
                          <a:effectLst/>
                          <a:latin typeface="Calibri" panose="020F0502020204030204" pitchFamily="34" charset="0"/>
                        </a:rPr>
                        <a:t>upto</a:t>
                      </a:r>
                      <a:r>
                        <a:rPr lang="en-US" sz="1100" b="0" i="0" u="none" strike="noStrike" dirty="0">
                          <a:solidFill>
                            <a:srgbClr val="000000"/>
                          </a:solidFill>
                          <a:effectLst/>
                          <a:latin typeface="Calibri" panose="020F0502020204030204" pitchFamily="34" charset="0"/>
                        </a:rPr>
                        <a:t> 20.01.2026)</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61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Fixed interest rate of 2.3% as on 31.03.2022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2834858"/>
                  </a:ext>
                </a:extLst>
              </a:tr>
              <a:tr h="404170">
                <a:tc>
                  <a:txBody>
                    <a:bodyPr/>
                    <a:lstStyle/>
                    <a:p>
                      <a:pPr algn="l" fontAlgn="t"/>
                      <a:r>
                        <a:rPr lang="en-US" sz="1100" b="0" i="0" u="none" strike="noStrike" dirty="0">
                          <a:solidFill>
                            <a:srgbClr val="000000"/>
                          </a:solidFill>
                          <a:effectLst/>
                          <a:latin typeface="Calibri" panose="020F0502020204030204" pitchFamily="34" charset="0"/>
                        </a:rPr>
                        <a:t>Unsecured Foreign Currency Loan - Japan International Cooperation Agency Tranche-II (guaranteed by Government of India)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(Repayable in 12 equal half yearly instalments of Rs. 24.93 Crore each </a:t>
                      </a:r>
                      <a:r>
                        <a:rPr lang="en-US" sz="1100" b="0" i="0" u="none" strike="noStrike" dirty="0" err="1">
                          <a:solidFill>
                            <a:srgbClr val="000000"/>
                          </a:solidFill>
                          <a:effectLst/>
                          <a:latin typeface="Calibri" panose="020F0502020204030204" pitchFamily="34" charset="0"/>
                        </a:rPr>
                        <a:t>upto</a:t>
                      </a:r>
                      <a:r>
                        <a:rPr lang="en-US" sz="1100" b="0" i="0" u="none" strike="noStrike" dirty="0">
                          <a:solidFill>
                            <a:srgbClr val="000000"/>
                          </a:solidFill>
                          <a:effectLst/>
                          <a:latin typeface="Calibri" panose="020F0502020204030204" pitchFamily="34" charset="0"/>
                        </a:rPr>
                        <a:t> 20.12.2027)</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299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Fixed interest rate of 2.3% as on 31.03.2022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7675738"/>
                  </a:ext>
                </a:extLst>
              </a:tr>
              <a:tr h="404170">
                <a:tc>
                  <a:txBody>
                    <a:bodyPr/>
                    <a:lstStyle/>
                    <a:p>
                      <a:pPr algn="l" fontAlgn="t"/>
                      <a:r>
                        <a:rPr lang="en-US" sz="1100" b="0" i="0" u="none" strike="noStrike" dirty="0">
                          <a:solidFill>
                            <a:srgbClr val="000000"/>
                          </a:solidFill>
                          <a:effectLst/>
                          <a:latin typeface="Calibri" panose="020F0502020204030204" pitchFamily="34" charset="0"/>
                        </a:rPr>
                        <a:t>Unsecured Foreign Currency Loan - Japan International Cooperation Agency Tranche-III (guaranteed by Government of India)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(Repayable in 24 equal half yearly instalments of Rs. 18.42 Crore each </a:t>
                      </a:r>
                      <a:r>
                        <a:rPr lang="en-US" sz="1100" b="0" i="0" u="none" strike="noStrike" dirty="0" err="1">
                          <a:solidFill>
                            <a:srgbClr val="000000"/>
                          </a:solidFill>
                          <a:effectLst/>
                          <a:latin typeface="Calibri" panose="020F0502020204030204" pitchFamily="34" charset="0"/>
                        </a:rPr>
                        <a:t>upto</a:t>
                      </a:r>
                      <a:r>
                        <a:rPr lang="en-US" sz="1100" b="0" i="0" u="none" strike="noStrike" dirty="0">
                          <a:solidFill>
                            <a:srgbClr val="000000"/>
                          </a:solidFill>
                          <a:effectLst/>
                          <a:latin typeface="Calibri" panose="020F0502020204030204" pitchFamily="34" charset="0"/>
                        </a:rPr>
                        <a:t> 20.03.2034)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442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Fixed interest rate of 1.3% as on 31.03.2022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9434269"/>
                  </a:ext>
                </a:extLst>
              </a:tr>
              <a:tr h="404170">
                <a:tc>
                  <a:txBody>
                    <a:bodyPr/>
                    <a:lstStyle/>
                    <a:p>
                      <a:pPr algn="l" fontAlgn="t"/>
                      <a:r>
                        <a:rPr lang="en-US" sz="1100" b="0" i="0" u="none" strike="noStrike" dirty="0">
                          <a:solidFill>
                            <a:srgbClr val="000000"/>
                          </a:solidFill>
                          <a:effectLst/>
                          <a:latin typeface="Calibri" panose="020F0502020204030204" pitchFamily="34" charset="0"/>
                        </a:rPr>
                        <a:t>Unsecured Foreign Currency Loan - MUFG Bank Limited, Singapore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(Repayable in one installment bullet on 25.07.2024)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674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6 monthly compounded reference rate (CAS+ Tona + 0.75%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The loan is hedged at coupon only swap fixed rate of 0.931 % (INR) p.a. &amp; call spread coupan at fixed rate of 6.25% (INR) p.a. with JPY strike price of Rs. 0.90.)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0688322"/>
                  </a:ext>
                </a:extLst>
              </a:tr>
              <a:tr h="134723">
                <a:tc gridSpan="3">
                  <a:txBody>
                    <a:bodyPr/>
                    <a:lstStyle/>
                    <a:p>
                      <a:pPr algn="l" fontAlgn="t"/>
                      <a:r>
                        <a:rPr lang="en-US" sz="1100" b="1" i="0" u="none" strike="noStrike" dirty="0">
                          <a:solidFill>
                            <a:srgbClr val="000000"/>
                          </a:solidFill>
                          <a:effectLst/>
                          <a:latin typeface="Calibri" panose="020F0502020204030204" pitchFamily="34" charset="0"/>
                        </a:rPr>
                        <a:t>NLC:</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t"/>
                      <a:r>
                        <a:rPr lang="en-US" sz="10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l" fontAlgn="t"/>
                      <a:r>
                        <a:rPr lang="en-US" sz="10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61397379"/>
                  </a:ext>
                </a:extLst>
              </a:tr>
              <a:tr h="404170">
                <a:tc>
                  <a:txBody>
                    <a:bodyPr/>
                    <a:lstStyle/>
                    <a:p>
                      <a:pPr algn="l" fontAlgn="t"/>
                      <a:r>
                        <a:rPr lang="en-US" sz="1100" b="0" i="0" u="none" strike="noStrike">
                          <a:solidFill>
                            <a:srgbClr val="000000"/>
                          </a:solidFill>
                          <a:effectLst/>
                          <a:latin typeface="Calibri" panose="020F0502020204030204" pitchFamily="34" charset="0"/>
                        </a:rPr>
                        <a:t>Unsecured Foreign Currency Loan from KfW-Germany -  6.36 Million Euro (6.80 Million Euro) - 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Bi- annual equal repayment (€ 0.219 Million each) commenced from 30-12-2001, ending on 30-06-2036. This loan is unsecured but guaranteed by GoI @ guarantee fee of 1.20%.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Interest rate @ 0.75% </a:t>
                      </a:r>
                      <a:r>
                        <a:rPr lang="en-US" sz="1100" b="0" i="0" u="none" strike="noStrike" dirty="0" err="1">
                          <a:solidFill>
                            <a:srgbClr val="000000"/>
                          </a:solidFill>
                          <a:effectLst/>
                          <a:latin typeface="Calibri" panose="020F0502020204030204" pitchFamily="34" charset="0"/>
                        </a:rPr>
                        <a:t>p.a</a:t>
                      </a:r>
                      <a:endParaRPr lang="en-US" sz="1100" b="0" i="0" u="none" strike="noStrike" dirty="0">
                        <a:solidFill>
                          <a:srgbClr val="000000"/>
                        </a:solidFill>
                        <a:effectLst/>
                        <a:latin typeface="Calibri" panose="020F0502020204030204" pitchFamily="34" charset="0"/>
                      </a:endParaRP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2004352"/>
                  </a:ext>
                </a:extLst>
              </a:tr>
              <a:tr h="538893">
                <a:tc>
                  <a:txBody>
                    <a:bodyPr/>
                    <a:lstStyle/>
                    <a:p>
                      <a:pPr algn="l" fontAlgn="t"/>
                      <a:r>
                        <a:rPr lang="en-US" sz="1100" b="0" i="0" u="none" strike="noStrike" dirty="0">
                          <a:solidFill>
                            <a:srgbClr val="000000"/>
                          </a:solidFill>
                          <a:effectLst/>
                          <a:latin typeface="Calibri" panose="020F0502020204030204" pitchFamily="34" charset="0"/>
                        </a:rPr>
                        <a:t>Unsecured Foreign Currency Loan from </a:t>
                      </a:r>
                      <a:r>
                        <a:rPr lang="en-US" sz="1100" b="0" i="0" u="none" strike="noStrike" dirty="0" err="1">
                          <a:solidFill>
                            <a:srgbClr val="000000"/>
                          </a:solidFill>
                          <a:effectLst/>
                          <a:latin typeface="Calibri" panose="020F0502020204030204" pitchFamily="34" charset="0"/>
                        </a:rPr>
                        <a:t>KfW</a:t>
                      </a:r>
                      <a:r>
                        <a:rPr lang="en-US" sz="1100" b="0" i="0" u="none" strike="noStrike" dirty="0">
                          <a:solidFill>
                            <a:srgbClr val="000000"/>
                          </a:solidFill>
                          <a:effectLst/>
                          <a:latin typeface="Calibri" panose="020F0502020204030204" pitchFamily="34" charset="0"/>
                        </a:rPr>
                        <a:t>-Germany -  43.44 Million Euro (46.24 Million Euro) - II (Guaranteed by the Government of India)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Bi-annual equal repayment (€ 1.401 Million each) commenced from 30-06-2002, ending on 30-06-2037. This loan is unsecured but guaranteed by </a:t>
                      </a:r>
                      <a:r>
                        <a:rPr lang="en-US" sz="1100" b="0" i="0" u="none" strike="noStrike" dirty="0" err="1">
                          <a:solidFill>
                            <a:srgbClr val="000000"/>
                          </a:solidFill>
                          <a:effectLst/>
                          <a:latin typeface="Calibri" panose="020F0502020204030204" pitchFamily="34" charset="0"/>
                        </a:rPr>
                        <a:t>GoI</a:t>
                      </a:r>
                      <a:r>
                        <a:rPr lang="en-US" sz="1100" b="0" i="0" u="none" strike="noStrike" dirty="0">
                          <a:solidFill>
                            <a:srgbClr val="000000"/>
                          </a:solidFill>
                          <a:effectLst/>
                          <a:latin typeface="Calibri" panose="020F0502020204030204" pitchFamily="34" charset="0"/>
                        </a:rPr>
                        <a:t> @ guarantee fee of 1.20%.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342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Interest rate @ 0.75% </a:t>
                      </a:r>
                      <a:r>
                        <a:rPr lang="en-US" sz="1100" b="0" i="0" u="none" strike="noStrike" dirty="0" err="1">
                          <a:solidFill>
                            <a:srgbClr val="000000"/>
                          </a:solidFill>
                          <a:effectLst/>
                          <a:latin typeface="Calibri" panose="020F0502020204030204" pitchFamily="34" charset="0"/>
                        </a:rPr>
                        <a:t>p.a</a:t>
                      </a:r>
                      <a:endParaRPr lang="en-US" sz="1100" b="0" i="0" u="none" strike="noStrike" dirty="0">
                        <a:solidFill>
                          <a:srgbClr val="000000"/>
                        </a:solidFill>
                        <a:effectLst/>
                        <a:latin typeface="Calibri" panose="020F0502020204030204" pitchFamily="34" charset="0"/>
                      </a:endParaRP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6369087"/>
                  </a:ext>
                </a:extLst>
              </a:tr>
            </a:tbl>
          </a:graphicData>
        </a:graphic>
      </p:graphicFrame>
      <p:sp>
        <p:nvSpPr>
          <p:cNvPr id="11" name="TextBox 10">
            <a:extLst>
              <a:ext uri="{FF2B5EF4-FFF2-40B4-BE49-F238E27FC236}">
                <a16:creationId xmlns:a16="http://schemas.microsoft.com/office/drawing/2014/main" id="{786A41D0-6AB9-4AD5-9F1E-F4E685D1CF65}"/>
              </a:ext>
            </a:extLst>
          </p:cNvPr>
          <p:cNvSpPr txBox="1"/>
          <p:nvPr/>
        </p:nvSpPr>
        <p:spPr>
          <a:xfrm>
            <a:off x="10307865" y="533364"/>
            <a:ext cx="1382485"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*As on 31</a:t>
            </a:r>
            <a:r>
              <a:rPr lang="en-US" sz="1000" baseline="30000" dirty="0">
                <a:solidFill>
                  <a:srgbClr val="313131"/>
                </a:solidFill>
              </a:rPr>
              <a:t>st</a:t>
            </a:r>
            <a:r>
              <a:rPr lang="en-US" sz="1000" dirty="0">
                <a:solidFill>
                  <a:srgbClr val="313131"/>
                </a:solidFill>
              </a:rPr>
              <a:t> Mar 2022</a:t>
            </a:r>
          </a:p>
        </p:txBody>
      </p:sp>
      <p:sp>
        <p:nvSpPr>
          <p:cNvPr id="7" name="Arrow: Right 6">
            <a:hlinkClick r:id="rId2" action="ppaction://hlinksldjump"/>
            <a:extLst>
              <a:ext uri="{FF2B5EF4-FFF2-40B4-BE49-F238E27FC236}">
                <a16:creationId xmlns:a16="http://schemas.microsoft.com/office/drawing/2014/main" id="{669B208B-D2C4-4A72-9484-E4187EAA4ED2}"/>
              </a:ext>
            </a:extLst>
          </p:cNvPr>
          <p:cNvSpPr/>
          <p:nvPr/>
        </p:nvSpPr>
        <p:spPr bwMode="gray">
          <a:xfrm flipH="1">
            <a:off x="9329056" y="5834731"/>
            <a:ext cx="2205179"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105779196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3071"/>
            <a:ext cx="11188700" cy="334099"/>
          </a:xfrm>
        </p:spPr>
        <p:txBody>
          <a:bodyPr anchor="ctr"/>
          <a:lstStyle/>
          <a:p>
            <a:r>
              <a:rPr lang="en-US" sz="2400" b="1" dirty="0">
                <a:solidFill>
                  <a:srgbClr val="313131"/>
                </a:solidFill>
              </a:rPr>
              <a:t>Annexure 6: Historical Trend of ECB Benchmark Rates</a:t>
            </a:r>
            <a:endParaRPr lang="en-GB" b="1" dirty="0"/>
          </a:p>
        </p:txBody>
      </p:sp>
      <p:sp>
        <p:nvSpPr>
          <p:cNvPr id="7" name="Arrow: Right 6">
            <a:hlinkClick r:id="rId2" action="ppaction://hlinksldjump"/>
            <a:extLst>
              <a:ext uri="{FF2B5EF4-FFF2-40B4-BE49-F238E27FC236}">
                <a16:creationId xmlns:a16="http://schemas.microsoft.com/office/drawing/2014/main" id="{669B208B-D2C4-4A72-9484-E4187EAA4ED2}"/>
              </a:ext>
            </a:extLst>
          </p:cNvPr>
          <p:cNvSpPr/>
          <p:nvPr/>
        </p:nvSpPr>
        <p:spPr bwMode="gray">
          <a:xfrm flipH="1">
            <a:off x="9485171" y="5909356"/>
            <a:ext cx="2205179"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graphicFrame>
        <p:nvGraphicFramePr>
          <p:cNvPr id="9" name="Chart 8">
            <a:extLst>
              <a:ext uri="{FF2B5EF4-FFF2-40B4-BE49-F238E27FC236}">
                <a16:creationId xmlns:a16="http://schemas.microsoft.com/office/drawing/2014/main" id="{F989DDB9-27AA-485D-A125-F293D3C30BBD}"/>
              </a:ext>
            </a:extLst>
          </p:cNvPr>
          <p:cNvGraphicFramePr>
            <a:graphicFrameLocks/>
          </p:cNvGraphicFramePr>
          <p:nvPr>
            <p:extLst>
              <p:ext uri="{D42A27DB-BD31-4B8C-83A1-F6EECF244321}">
                <p14:modId xmlns:p14="http://schemas.microsoft.com/office/powerpoint/2010/main" val="3605879592"/>
              </p:ext>
            </p:extLst>
          </p:nvPr>
        </p:nvGraphicFramePr>
        <p:xfrm>
          <a:off x="501650" y="948644"/>
          <a:ext cx="11188700" cy="48860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491284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23734"/>
            <a:ext cx="11188700" cy="334099"/>
          </a:xfrm>
          <a:noFill/>
        </p:spPr>
        <p:txBody>
          <a:bodyPr/>
          <a:lstStyle/>
          <a:p>
            <a:r>
              <a:rPr lang="en-US" sz="2400" b="1" dirty="0">
                <a:latin typeface="Calibri" panose="020F0502020204030204" pitchFamily="34" charset="0"/>
              </a:rPr>
              <a:t>Annexure 7: Demand-Supply scenario for domestic modules in India - current landscape and projected scenario (1/3) </a:t>
            </a:r>
            <a:endParaRPr lang="en-GB" sz="2400" b="1" dirty="0">
              <a:latin typeface="Calibri" panose="020F0502020204030204" pitchFamily="34" charset="0"/>
            </a:endParaRPr>
          </a:p>
        </p:txBody>
      </p:sp>
      <p:sp>
        <p:nvSpPr>
          <p:cNvPr id="7" name="TextBox 6">
            <a:extLst>
              <a:ext uri="{FF2B5EF4-FFF2-40B4-BE49-F238E27FC236}">
                <a16:creationId xmlns:a16="http://schemas.microsoft.com/office/drawing/2014/main" id="{B4CC3750-C2AA-4048-98D8-BD70D3BC90D2}"/>
              </a:ext>
            </a:extLst>
          </p:cNvPr>
          <p:cNvSpPr txBox="1"/>
          <p:nvPr/>
        </p:nvSpPr>
        <p:spPr>
          <a:xfrm>
            <a:off x="2852964" y="6607629"/>
            <a:ext cx="267698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Deloitte Research</a:t>
            </a:r>
          </a:p>
        </p:txBody>
      </p:sp>
      <p:sp>
        <p:nvSpPr>
          <p:cNvPr id="8" name="Rectangle 7">
            <a:extLst>
              <a:ext uri="{FF2B5EF4-FFF2-40B4-BE49-F238E27FC236}">
                <a16:creationId xmlns:a16="http://schemas.microsoft.com/office/drawing/2014/main" id="{AA2DD83B-B72F-492C-9D72-94B04393EBDF}"/>
              </a:ext>
            </a:extLst>
          </p:cNvPr>
          <p:cNvSpPr/>
          <p:nvPr/>
        </p:nvSpPr>
        <p:spPr>
          <a:xfrm>
            <a:off x="501650" y="876516"/>
            <a:ext cx="11086374" cy="369332"/>
          </a:xfrm>
          <a:prstGeom prst="rect">
            <a:avLst/>
          </a:prstGeom>
        </p:spPr>
        <p:txBody>
          <a:bodyPr wrap="square">
            <a:spAutoFit/>
          </a:bodyPr>
          <a:lstStyle/>
          <a:p>
            <a:pPr lvl="0">
              <a:spcAft>
                <a:spcPts val="600"/>
              </a:spcAft>
              <a:defRPr/>
            </a:pPr>
            <a:r>
              <a:rPr lang="en-US" b="1" dirty="0">
                <a:solidFill>
                  <a:srgbClr val="000000"/>
                </a:solidFill>
              </a:rPr>
              <a:t>Current Demand Supply Scenario of Module in India</a:t>
            </a:r>
            <a:endParaRPr lang="en-US" b="1" dirty="0">
              <a:solidFill>
                <a:prstClr val="black"/>
              </a:solidFill>
            </a:endParaRPr>
          </a:p>
        </p:txBody>
      </p:sp>
      <p:graphicFrame>
        <p:nvGraphicFramePr>
          <p:cNvPr id="2" name="Table 2">
            <a:extLst>
              <a:ext uri="{FF2B5EF4-FFF2-40B4-BE49-F238E27FC236}">
                <a16:creationId xmlns:a16="http://schemas.microsoft.com/office/drawing/2014/main" id="{28A5EA9D-8D72-4F9A-91B5-6AC556A37873}"/>
              </a:ext>
            </a:extLst>
          </p:cNvPr>
          <p:cNvGraphicFramePr>
            <a:graphicFrameLocks noGrp="1"/>
          </p:cNvGraphicFramePr>
          <p:nvPr>
            <p:extLst>
              <p:ext uri="{D42A27DB-BD31-4B8C-83A1-F6EECF244321}">
                <p14:modId xmlns:p14="http://schemas.microsoft.com/office/powerpoint/2010/main" val="1681264413"/>
              </p:ext>
            </p:extLst>
          </p:nvPr>
        </p:nvGraphicFramePr>
        <p:xfrm>
          <a:off x="1884136" y="1773519"/>
          <a:ext cx="8128000" cy="994955"/>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053754147"/>
                    </a:ext>
                  </a:extLst>
                </a:gridCol>
                <a:gridCol w="4064000">
                  <a:extLst>
                    <a:ext uri="{9D8B030D-6E8A-4147-A177-3AD203B41FA5}">
                      <a16:colId xmlns:a16="http://schemas.microsoft.com/office/drawing/2014/main" val="632002385"/>
                    </a:ext>
                  </a:extLst>
                </a:gridCol>
              </a:tblGrid>
              <a:tr h="994955">
                <a:tc>
                  <a:txBody>
                    <a:bodyPr/>
                    <a:lstStyle/>
                    <a:p>
                      <a:r>
                        <a:rPr lang="en-US" dirty="0"/>
                        <a:t>Total Capacity of Modules in India as per latest ALMM list (August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a:r>
                        <a:rPr lang="en-US" dirty="0">
                          <a:solidFill>
                            <a:schemeClr val="tx1"/>
                          </a:solidFill>
                        </a:rPr>
                        <a:t>~18 GW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0152911"/>
                  </a:ext>
                </a:extLst>
              </a:tr>
            </a:tbl>
          </a:graphicData>
        </a:graphic>
      </p:graphicFrame>
      <p:sp>
        <p:nvSpPr>
          <p:cNvPr id="13" name="Rectangle 12">
            <a:extLst>
              <a:ext uri="{FF2B5EF4-FFF2-40B4-BE49-F238E27FC236}">
                <a16:creationId xmlns:a16="http://schemas.microsoft.com/office/drawing/2014/main" id="{65E7EC9A-8767-4FC6-97C4-7EFBF8D756FD}"/>
              </a:ext>
            </a:extLst>
          </p:cNvPr>
          <p:cNvSpPr/>
          <p:nvPr/>
        </p:nvSpPr>
        <p:spPr>
          <a:xfrm>
            <a:off x="501650" y="1323841"/>
            <a:ext cx="11086374" cy="369332"/>
          </a:xfrm>
          <a:prstGeom prst="rect">
            <a:avLst/>
          </a:prstGeom>
        </p:spPr>
        <p:txBody>
          <a:bodyPr wrap="square">
            <a:spAutoFit/>
          </a:bodyPr>
          <a:lstStyle/>
          <a:p>
            <a:pPr lvl="0">
              <a:spcAft>
                <a:spcPts val="600"/>
              </a:spcAft>
              <a:defRPr/>
            </a:pPr>
            <a:r>
              <a:rPr lang="en-US" dirty="0">
                <a:solidFill>
                  <a:srgbClr val="000000"/>
                </a:solidFill>
              </a:rPr>
              <a:t>Supply:</a:t>
            </a:r>
            <a:endParaRPr lang="en-US" dirty="0">
              <a:solidFill>
                <a:prstClr val="black"/>
              </a:solidFill>
            </a:endParaRPr>
          </a:p>
        </p:txBody>
      </p:sp>
      <p:sp>
        <p:nvSpPr>
          <p:cNvPr id="14" name="Rectangle 13">
            <a:extLst>
              <a:ext uri="{FF2B5EF4-FFF2-40B4-BE49-F238E27FC236}">
                <a16:creationId xmlns:a16="http://schemas.microsoft.com/office/drawing/2014/main" id="{2AD9AE49-E693-464E-A96E-036D83F07673}"/>
              </a:ext>
            </a:extLst>
          </p:cNvPr>
          <p:cNvSpPr/>
          <p:nvPr/>
        </p:nvSpPr>
        <p:spPr>
          <a:xfrm>
            <a:off x="501650" y="3124516"/>
            <a:ext cx="11086374" cy="369332"/>
          </a:xfrm>
          <a:prstGeom prst="rect">
            <a:avLst/>
          </a:prstGeom>
        </p:spPr>
        <p:txBody>
          <a:bodyPr wrap="square">
            <a:spAutoFit/>
          </a:bodyPr>
          <a:lstStyle/>
          <a:p>
            <a:pPr lvl="0">
              <a:spcAft>
                <a:spcPts val="600"/>
              </a:spcAft>
              <a:defRPr/>
            </a:pPr>
            <a:r>
              <a:rPr lang="en-US" dirty="0">
                <a:solidFill>
                  <a:srgbClr val="000000"/>
                </a:solidFill>
              </a:rPr>
              <a:t>Demand:</a:t>
            </a:r>
            <a:endParaRPr lang="en-US" dirty="0">
              <a:solidFill>
                <a:prstClr val="black"/>
              </a:solidFill>
            </a:endParaRPr>
          </a:p>
        </p:txBody>
      </p:sp>
      <p:graphicFrame>
        <p:nvGraphicFramePr>
          <p:cNvPr id="15" name="Table 2">
            <a:extLst>
              <a:ext uri="{FF2B5EF4-FFF2-40B4-BE49-F238E27FC236}">
                <a16:creationId xmlns:a16="http://schemas.microsoft.com/office/drawing/2014/main" id="{205A2BA8-4A1E-4E5D-BA3F-42D3CB31BAB1}"/>
              </a:ext>
            </a:extLst>
          </p:cNvPr>
          <p:cNvGraphicFramePr>
            <a:graphicFrameLocks noGrp="1"/>
          </p:cNvGraphicFramePr>
          <p:nvPr>
            <p:extLst>
              <p:ext uri="{D42A27DB-BD31-4B8C-83A1-F6EECF244321}">
                <p14:modId xmlns:p14="http://schemas.microsoft.com/office/powerpoint/2010/main" val="513696043"/>
              </p:ext>
            </p:extLst>
          </p:nvPr>
        </p:nvGraphicFramePr>
        <p:xfrm>
          <a:off x="1884136" y="3600665"/>
          <a:ext cx="8128000" cy="994955"/>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053754147"/>
                    </a:ext>
                  </a:extLst>
                </a:gridCol>
                <a:gridCol w="4064000">
                  <a:extLst>
                    <a:ext uri="{9D8B030D-6E8A-4147-A177-3AD203B41FA5}">
                      <a16:colId xmlns:a16="http://schemas.microsoft.com/office/drawing/2014/main" val="632002385"/>
                    </a:ext>
                  </a:extLst>
                </a:gridCol>
              </a:tblGrid>
              <a:tr h="994955">
                <a:tc>
                  <a:txBody>
                    <a:bodyPr/>
                    <a:lstStyle/>
                    <a:p>
                      <a:r>
                        <a:rPr lang="en-US" dirty="0"/>
                        <a:t>Total demand based on solar capacity awarded in from April 2021 onwards**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a:r>
                        <a:rPr lang="en-US" dirty="0">
                          <a:solidFill>
                            <a:schemeClr val="tx1"/>
                          </a:solidFill>
                        </a:rPr>
                        <a:t>~16.5 GW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0152911"/>
                  </a:ext>
                </a:extLst>
              </a:tr>
            </a:tbl>
          </a:graphicData>
        </a:graphic>
      </p:graphicFrame>
      <p:sp>
        <p:nvSpPr>
          <p:cNvPr id="16" name="Rectangle 15">
            <a:extLst>
              <a:ext uri="{FF2B5EF4-FFF2-40B4-BE49-F238E27FC236}">
                <a16:creationId xmlns:a16="http://schemas.microsoft.com/office/drawing/2014/main" id="{18B537D7-CE76-47DF-B611-038EE7441369}"/>
              </a:ext>
            </a:extLst>
          </p:cNvPr>
          <p:cNvSpPr/>
          <p:nvPr/>
        </p:nvSpPr>
        <p:spPr bwMode="gray">
          <a:xfrm>
            <a:off x="501650" y="4993844"/>
            <a:ext cx="10939236" cy="64008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t>Thus, as can be seen from above, supply of modules in India is barely aligned with the demand, and hence, price has not decreased substantially in recent times</a:t>
            </a:r>
            <a:endParaRPr lang="en-US" sz="1600" i="1" u="sng" dirty="0"/>
          </a:p>
        </p:txBody>
      </p:sp>
      <p:sp>
        <p:nvSpPr>
          <p:cNvPr id="10" name="Rectangle 9">
            <a:extLst>
              <a:ext uri="{FF2B5EF4-FFF2-40B4-BE49-F238E27FC236}">
                <a16:creationId xmlns:a16="http://schemas.microsoft.com/office/drawing/2014/main" id="{308F5FAF-FF98-478F-B376-ABAB9E0FAD18}"/>
              </a:ext>
            </a:extLst>
          </p:cNvPr>
          <p:cNvSpPr/>
          <p:nvPr/>
        </p:nvSpPr>
        <p:spPr bwMode="gray">
          <a:xfrm>
            <a:off x="478518" y="5800736"/>
            <a:ext cx="10939236" cy="640080"/>
          </a:xfrm>
          <a:prstGeom prst="rect">
            <a:avLst/>
          </a:prstGeom>
          <a:no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t>*Latest ALMM list (August 2022) is provided as </a:t>
            </a:r>
            <a:r>
              <a:rPr lang="en-US" sz="1600" i="1" dirty="0">
                <a:hlinkClick r:id="rId2" action="ppaction://hlinksldjump"/>
              </a:rPr>
              <a:t>Annexure 6A</a:t>
            </a:r>
            <a:endParaRPr lang="en-US" sz="1600" i="1" dirty="0"/>
          </a:p>
          <a:p>
            <a:pPr>
              <a:lnSpc>
                <a:spcPct val="106000"/>
              </a:lnSpc>
              <a:buFont typeface="Wingdings 2" pitchFamily="18" charset="2"/>
              <a:buNone/>
            </a:pPr>
            <a:r>
              <a:rPr lang="en-US" sz="1600" i="1" dirty="0"/>
              <a:t>**List of awarded capacities in various tenders since April 2021 is provided as </a:t>
            </a:r>
            <a:r>
              <a:rPr lang="en-US" sz="1600" i="1" dirty="0">
                <a:hlinkClick r:id="rId3" action="ppaction://hlinksldjump"/>
              </a:rPr>
              <a:t>Annexure 6B</a:t>
            </a:r>
            <a:endParaRPr lang="en-US" sz="1600" i="1" dirty="0"/>
          </a:p>
        </p:txBody>
      </p:sp>
    </p:spTree>
    <p:extLst>
      <p:ext uri="{BB962C8B-B14F-4D97-AF65-F5344CB8AC3E}">
        <p14:creationId xmlns:p14="http://schemas.microsoft.com/office/powerpoint/2010/main" val="76666176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 Demand-Supply scenario for domestic modules in India - current landscape and projected scenario (2/3) </a:t>
            </a:r>
            <a:endParaRPr lang="en-GB" sz="2400" b="1" dirty="0">
              <a:latin typeface="Calibri" panose="020F0502020204030204" pitchFamily="34" charset="0"/>
            </a:endParaRPr>
          </a:p>
        </p:txBody>
      </p:sp>
      <p:sp>
        <p:nvSpPr>
          <p:cNvPr id="11" name="Rectangle 10">
            <a:extLst>
              <a:ext uri="{FF2B5EF4-FFF2-40B4-BE49-F238E27FC236}">
                <a16:creationId xmlns:a16="http://schemas.microsoft.com/office/drawing/2014/main" id="{1863911B-B242-4C45-B908-5403AA3E32D8}"/>
              </a:ext>
            </a:extLst>
          </p:cNvPr>
          <p:cNvSpPr/>
          <p:nvPr/>
        </p:nvSpPr>
        <p:spPr>
          <a:xfrm>
            <a:off x="501650" y="920060"/>
            <a:ext cx="11086374" cy="369332"/>
          </a:xfrm>
          <a:prstGeom prst="rect">
            <a:avLst/>
          </a:prstGeom>
        </p:spPr>
        <p:txBody>
          <a:bodyPr wrap="square">
            <a:spAutoFit/>
          </a:bodyPr>
          <a:lstStyle/>
          <a:p>
            <a:pPr lvl="0">
              <a:spcAft>
                <a:spcPts val="600"/>
              </a:spcAft>
              <a:defRPr/>
            </a:pPr>
            <a:r>
              <a:rPr lang="en-US" b="1" dirty="0">
                <a:solidFill>
                  <a:srgbClr val="000000"/>
                </a:solidFill>
              </a:rPr>
              <a:t>Forecasted Demand Supply Scenario of Module in India</a:t>
            </a:r>
            <a:endParaRPr lang="en-US" b="1" dirty="0">
              <a:solidFill>
                <a:prstClr val="black"/>
              </a:solidFill>
            </a:endParaRPr>
          </a:p>
        </p:txBody>
      </p:sp>
      <p:sp>
        <p:nvSpPr>
          <p:cNvPr id="12" name="Rectangle 11">
            <a:extLst>
              <a:ext uri="{FF2B5EF4-FFF2-40B4-BE49-F238E27FC236}">
                <a16:creationId xmlns:a16="http://schemas.microsoft.com/office/drawing/2014/main" id="{ACE823A0-52E0-4B7F-8DCB-35C739EBC791}"/>
              </a:ext>
            </a:extLst>
          </p:cNvPr>
          <p:cNvSpPr/>
          <p:nvPr/>
        </p:nvSpPr>
        <p:spPr>
          <a:xfrm>
            <a:off x="501650" y="1277932"/>
            <a:ext cx="11086374" cy="369332"/>
          </a:xfrm>
          <a:prstGeom prst="rect">
            <a:avLst/>
          </a:prstGeom>
        </p:spPr>
        <p:txBody>
          <a:bodyPr wrap="square">
            <a:spAutoFit/>
          </a:bodyPr>
          <a:lstStyle/>
          <a:p>
            <a:pPr lvl="0">
              <a:spcAft>
                <a:spcPts val="600"/>
              </a:spcAft>
              <a:defRPr/>
            </a:pPr>
            <a:r>
              <a:rPr lang="en-US" dirty="0">
                <a:solidFill>
                  <a:srgbClr val="000000"/>
                </a:solidFill>
              </a:rPr>
              <a:t>Supply based on expansion plans of Leading Module Suppliers in India:</a:t>
            </a:r>
            <a:endParaRPr lang="en-US" dirty="0">
              <a:solidFill>
                <a:prstClr val="black"/>
              </a:solidFill>
            </a:endParaRPr>
          </a:p>
        </p:txBody>
      </p:sp>
      <p:graphicFrame>
        <p:nvGraphicFramePr>
          <p:cNvPr id="3" name="Table 2">
            <a:extLst>
              <a:ext uri="{FF2B5EF4-FFF2-40B4-BE49-F238E27FC236}">
                <a16:creationId xmlns:a16="http://schemas.microsoft.com/office/drawing/2014/main" id="{1E5E0542-7A26-4312-A68D-5EE55BCAB64A}"/>
              </a:ext>
            </a:extLst>
          </p:cNvPr>
          <p:cNvGraphicFramePr>
            <a:graphicFrameLocks noGrp="1"/>
          </p:cNvGraphicFramePr>
          <p:nvPr>
            <p:extLst>
              <p:ext uri="{D42A27DB-BD31-4B8C-83A1-F6EECF244321}">
                <p14:modId xmlns:p14="http://schemas.microsoft.com/office/powerpoint/2010/main" val="142435310"/>
              </p:ext>
            </p:extLst>
          </p:nvPr>
        </p:nvGraphicFramePr>
        <p:xfrm>
          <a:off x="501650" y="1730644"/>
          <a:ext cx="10994933" cy="4693920"/>
        </p:xfrm>
        <a:graphic>
          <a:graphicData uri="http://schemas.openxmlformats.org/drawingml/2006/table">
            <a:tbl>
              <a:tblPr>
                <a:tableStyleId>{5C22544A-7EE6-4342-B048-85BDC9FD1C3A}</a:tableStyleId>
              </a:tblPr>
              <a:tblGrid>
                <a:gridCol w="404041">
                  <a:extLst>
                    <a:ext uri="{9D8B030D-6E8A-4147-A177-3AD203B41FA5}">
                      <a16:colId xmlns:a16="http://schemas.microsoft.com/office/drawing/2014/main" val="3742406522"/>
                    </a:ext>
                  </a:extLst>
                </a:gridCol>
                <a:gridCol w="1950720">
                  <a:extLst>
                    <a:ext uri="{9D8B030D-6E8A-4147-A177-3AD203B41FA5}">
                      <a16:colId xmlns:a16="http://schemas.microsoft.com/office/drawing/2014/main" val="139277022"/>
                    </a:ext>
                  </a:extLst>
                </a:gridCol>
                <a:gridCol w="2274882">
                  <a:extLst>
                    <a:ext uri="{9D8B030D-6E8A-4147-A177-3AD203B41FA5}">
                      <a16:colId xmlns:a16="http://schemas.microsoft.com/office/drawing/2014/main" val="3786903786"/>
                    </a:ext>
                  </a:extLst>
                </a:gridCol>
                <a:gridCol w="1557898">
                  <a:extLst>
                    <a:ext uri="{9D8B030D-6E8A-4147-A177-3AD203B41FA5}">
                      <a16:colId xmlns:a16="http://schemas.microsoft.com/office/drawing/2014/main" val="1835731869"/>
                    </a:ext>
                  </a:extLst>
                </a:gridCol>
                <a:gridCol w="4807392">
                  <a:extLst>
                    <a:ext uri="{9D8B030D-6E8A-4147-A177-3AD203B41FA5}">
                      <a16:colId xmlns:a16="http://schemas.microsoft.com/office/drawing/2014/main" val="1581791949"/>
                    </a:ext>
                  </a:extLst>
                </a:gridCol>
              </a:tblGrid>
              <a:tr h="310335">
                <a:tc>
                  <a:txBody>
                    <a:bodyPr/>
                    <a:lstStyle/>
                    <a:p>
                      <a:pPr algn="ctr" fontAlgn="t"/>
                      <a:r>
                        <a:rPr lang="en-US" sz="1100" b="1" u="none" strike="noStrike" dirty="0">
                          <a:solidFill>
                            <a:schemeClr val="bg1"/>
                          </a:solidFill>
                          <a:effectLst/>
                          <a:latin typeface="+mj-lt"/>
                        </a:rPr>
                        <a:t>S. No.</a:t>
                      </a:r>
                      <a:endParaRPr lang="en-US" sz="1100" b="1" i="0" u="none" strike="noStrike" dirty="0">
                        <a:solidFill>
                          <a:schemeClr val="bg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t"/>
                      <a:r>
                        <a:rPr lang="en-US" sz="1100" b="1" u="none" strike="noStrike" dirty="0">
                          <a:solidFill>
                            <a:schemeClr val="bg1"/>
                          </a:solidFill>
                          <a:effectLst/>
                          <a:latin typeface="+mj-lt"/>
                        </a:rPr>
                        <a:t>Name of the Manufacturer</a:t>
                      </a:r>
                      <a:endParaRPr lang="en-US" sz="1100" b="1" i="0" u="none" strike="noStrike" dirty="0">
                        <a:solidFill>
                          <a:schemeClr val="bg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b"/>
                      <a:r>
                        <a:rPr lang="en-US" sz="1100" b="1" i="0" u="none" strike="noStrike" dirty="0">
                          <a:solidFill>
                            <a:schemeClr val="bg1"/>
                          </a:solidFill>
                          <a:effectLst/>
                          <a:latin typeface="+mj-lt"/>
                        </a:rPr>
                        <a:t>Expansion Plans</a:t>
                      </a: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b"/>
                      <a:r>
                        <a:rPr lang="en-US" sz="1100" b="1" i="0" u="none" strike="noStrike" dirty="0">
                          <a:solidFill>
                            <a:schemeClr val="bg1"/>
                          </a:solidFill>
                          <a:effectLst/>
                          <a:latin typeface="+mj-lt"/>
                        </a:rPr>
                        <a:t>Capacity expected to be added by 2023 (GW)*</a:t>
                      </a: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b"/>
                      <a:r>
                        <a:rPr lang="en-US" sz="1100" b="1" i="0" u="none" strike="noStrike" dirty="0">
                          <a:solidFill>
                            <a:schemeClr val="bg1"/>
                          </a:solidFill>
                          <a:effectLst/>
                          <a:latin typeface="+mj-lt"/>
                        </a:rPr>
                        <a:t>Reference</a:t>
                      </a: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extLst>
                  <a:ext uri="{0D108BD9-81ED-4DB2-BD59-A6C34878D82A}">
                    <a16:rowId xmlns:a16="http://schemas.microsoft.com/office/drawing/2014/main" val="2231679588"/>
                  </a:ext>
                </a:extLst>
              </a:tr>
              <a:tr h="103445">
                <a:tc>
                  <a:txBody>
                    <a:bodyPr/>
                    <a:lstStyle/>
                    <a:p>
                      <a:pPr algn="ctr" fontAlgn="ctr"/>
                      <a:r>
                        <a:rPr lang="en-US" sz="1100" u="none" strike="noStrike" dirty="0">
                          <a:effectLst/>
                          <a:latin typeface="+mj-lt"/>
                        </a:rPr>
                        <a:t>1</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a:effectLst/>
                          <a:latin typeface="+mj-lt"/>
                        </a:rPr>
                        <a:t>Waaree</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j-lt"/>
                        </a:rPr>
                        <a:t>12 GW by March 2023</a:t>
                      </a: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u="none" strike="noStrike" dirty="0">
                          <a:effectLst/>
                          <a:latin typeface="+mj-lt"/>
                        </a:rPr>
                        <a:t>3</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j-lt"/>
                        </a:rPr>
                        <a:t>As per discussion with Module Supplier</a:t>
                      </a: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8305400"/>
                  </a:ext>
                </a:extLst>
              </a:tr>
              <a:tr h="206890">
                <a:tc>
                  <a:txBody>
                    <a:bodyPr/>
                    <a:lstStyle/>
                    <a:p>
                      <a:pPr algn="ctr" fontAlgn="ctr"/>
                      <a:r>
                        <a:rPr lang="en-US" sz="1100" u="none" strike="noStrike" dirty="0">
                          <a:effectLst/>
                          <a:latin typeface="+mj-lt"/>
                        </a:rPr>
                        <a:t>2</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a:effectLst/>
                          <a:latin typeface="+mj-lt"/>
                        </a:rPr>
                        <a:t>Vikram Solar</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dirty="0">
                          <a:effectLst/>
                          <a:latin typeface="+mj-lt"/>
                        </a:rPr>
                        <a:t>6.3 GW by 2024</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mj-lt"/>
                        </a:rPr>
                        <a:t>2</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sng" strike="noStrike" dirty="0">
                          <a:effectLst/>
                          <a:latin typeface="+mj-lt"/>
                          <a:hlinkClick r:id="rId2"/>
                        </a:rPr>
                        <a:t>https://www.thehindu.com/business/vikram-solar-mulls-expansion-of-solar-module-production-capacity-to-63-gw/article65411527.ece</a:t>
                      </a:r>
                      <a:endParaRPr lang="en-US" sz="1100" b="0" i="0" u="sng" strike="noStrike" dirty="0">
                        <a:solidFill>
                          <a:srgbClr val="0563C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4932929"/>
                  </a:ext>
                </a:extLst>
              </a:tr>
              <a:tr h="413780">
                <a:tc>
                  <a:txBody>
                    <a:bodyPr/>
                    <a:lstStyle/>
                    <a:p>
                      <a:pPr algn="ctr" fontAlgn="ctr"/>
                      <a:r>
                        <a:rPr lang="en-US" sz="1100" u="none" strike="noStrike">
                          <a:effectLst/>
                          <a:latin typeface="+mj-lt"/>
                        </a:rPr>
                        <a:t>3</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a:effectLst/>
                          <a:latin typeface="+mj-lt"/>
                        </a:rPr>
                        <a:t>Adani (Mundra)</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a:effectLst/>
                          <a:latin typeface="+mj-lt"/>
                        </a:rPr>
                        <a:t>10 GW of polysilicon-to-solar module capacity by 2025</a:t>
                      </a:r>
                      <a:endParaRPr lang="en-US" sz="1100" b="0"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mj-lt"/>
                        </a:rPr>
                        <a:t>3</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sng" strike="noStrike" dirty="0">
                          <a:effectLst/>
                          <a:latin typeface="+mj-lt"/>
                          <a:hlinkClick r:id="rId3"/>
                        </a:rPr>
                        <a:t>https://www.pv-magazine-india.com/2022/09/29/adani-plans-to-have-10-gw-of-polysilicon-to-solar-module-capacity-by-2025/#:~:text=India's%20Adani%20Solar%20will%20expand,up%20to%20the%20polysilicon%20stage.</a:t>
                      </a:r>
                      <a:endParaRPr lang="en-US" sz="1100" b="0" i="0" u="sng" strike="noStrike" dirty="0">
                        <a:solidFill>
                          <a:srgbClr val="0563C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134559"/>
                  </a:ext>
                </a:extLst>
              </a:tr>
              <a:tr h="140775">
                <a:tc>
                  <a:txBody>
                    <a:bodyPr/>
                    <a:lstStyle/>
                    <a:p>
                      <a:pPr algn="ctr" fontAlgn="ctr"/>
                      <a:r>
                        <a:rPr lang="en-US" sz="1100" u="none" strike="noStrike">
                          <a:effectLst/>
                          <a:latin typeface="+mj-lt"/>
                        </a:rPr>
                        <a:t>4</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a:effectLst/>
                          <a:latin typeface="+mj-lt"/>
                        </a:rPr>
                        <a:t>RenewSys</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dirty="0">
                          <a:effectLst/>
                          <a:latin typeface="+mj-lt"/>
                        </a:rPr>
                        <a:t>4 GW by end of 2023 (540 Wp and above)</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mj-lt"/>
                        </a:rPr>
                        <a:t>2</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b="0" i="0" u="none" strike="noStrike" kern="1200" dirty="0">
                          <a:solidFill>
                            <a:srgbClr val="000000"/>
                          </a:solidFill>
                          <a:effectLst/>
                          <a:latin typeface="+mn-lt"/>
                          <a:ea typeface="+mn-ea"/>
                          <a:cs typeface="+mn-cs"/>
                        </a:rPr>
                        <a:t>As per discussion with Module Supplier</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4700053"/>
                  </a:ext>
                </a:extLst>
              </a:tr>
              <a:tr h="140775">
                <a:tc>
                  <a:txBody>
                    <a:bodyPr/>
                    <a:lstStyle/>
                    <a:p>
                      <a:pPr algn="ctr" fontAlgn="ctr"/>
                      <a:r>
                        <a:rPr lang="en-US" sz="1100" u="none" strike="noStrike">
                          <a:effectLst/>
                          <a:latin typeface="+mj-lt"/>
                        </a:rPr>
                        <a:t>5</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a:effectLst/>
                          <a:latin typeface="+mj-lt"/>
                        </a:rPr>
                        <a:t>Premier Energies</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pl-PL" sz="1100" u="none" strike="noStrike">
                          <a:effectLst/>
                          <a:latin typeface="+mj-lt"/>
                        </a:rPr>
                        <a:t>2.25 GW by Dec 2022</a:t>
                      </a:r>
                      <a:endParaRPr lang="pl-PL" sz="1100" b="0"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mj-lt"/>
                        </a:rPr>
                        <a:t>1.05</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sng" strike="noStrike" dirty="0">
                          <a:effectLst/>
                          <a:latin typeface="+mj-lt"/>
                          <a:hlinkClick r:id="rId4"/>
                        </a:rPr>
                        <a:t>http://investors.azurepower.com/press-releases/2022/06-13-2022-130204532</a:t>
                      </a:r>
                      <a:endParaRPr lang="en-US" sz="1100" b="0" i="0" u="sng" strike="noStrike" dirty="0">
                        <a:solidFill>
                          <a:srgbClr val="0563C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8071654"/>
                  </a:ext>
                </a:extLst>
              </a:tr>
              <a:tr h="211163">
                <a:tc>
                  <a:txBody>
                    <a:bodyPr/>
                    <a:lstStyle/>
                    <a:p>
                      <a:pPr algn="ctr" fontAlgn="ctr"/>
                      <a:r>
                        <a:rPr lang="en-US" sz="1100" u="none" strike="noStrike">
                          <a:effectLst/>
                          <a:latin typeface="+mj-lt"/>
                        </a:rPr>
                        <a:t>6</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a:effectLst/>
                          <a:latin typeface="+mj-lt"/>
                        </a:rPr>
                        <a:t>Tata Power Solar</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a:effectLst/>
                          <a:latin typeface="+mj-lt"/>
                        </a:rPr>
                        <a:t>Addition of 4 GW module capacity by end of 2023 (16 months from July 2022)</a:t>
                      </a:r>
                      <a:endParaRPr lang="en-US" sz="1100" b="0"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mj-lt"/>
                        </a:rPr>
                        <a:t>4</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sng" strike="noStrike">
                          <a:effectLst/>
                          <a:latin typeface="+mj-lt"/>
                          <a:hlinkClick r:id="rId5"/>
                        </a:rPr>
                        <a:t>https://www.tatapower.com/media/PressReleaseDetails/1957/tata-power-to-set-up-mega-solar-manufacturing-plant-in-tamil-nadu</a:t>
                      </a:r>
                      <a:endParaRPr lang="en-US" sz="1100" b="0" i="0" u="sng" strike="noStrike">
                        <a:solidFill>
                          <a:srgbClr val="0563C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7803818"/>
                  </a:ext>
                </a:extLst>
              </a:tr>
              <a:tr h="206890">
                <a:tc>
                  <a:txBody>
                    <a:bodyPr/>
                    <a:lstStyle/>
                    <a:p>
                      <a:pPr algn="ctr" fontAlgn="ctr"/>
                      <a:r>
                        <a:rPr lang="en-US" sz="1100" u="none" strike="noStrike">
                          <a:effectLst/>
                          <a:latin typeface="+mj-lt"/>
                        </a:rPr>
                        <a:t>7</a:t>
                      </a:r>
                      <a:endParaRPr lang="en-US" sz="1100" b="1"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err="1">
                          <a:effectLst/>
                          <a:latin typeface="+mj-lt"/>
                        </a:rPr>
                        <a:t>Jakson</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a:effectLst/>
                          <a:latin typeface="+mj-lt"/>
                        </a:rPr>
                        <a:t>1 GW by March 2023; 2 GW by end of 2024</a:t>
                      </a:r>
                      <a:endParaRPr lang="en-US" sz="1100" b="0"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mj-lt"/>
                        </a:rPr>
                        <a:t>1</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sng" strike="noStrike">
                          <a:effectLst/>
                          <a:latin typeface="+mj-lt"/>
                          <a:hlinkClick r:id="rId6"/>
                        </a:rPr>
                        <a:t>https://www.pv-magazine-india.com/2022/09/28/jakson-reveals-plans-to-manufacture-solar-cells-electrolyzers/</a:t>
                      </a:r>
                      <a:endParaRPr lang="en-US" sz="1100" b="0" i="0" u="sng" strike="noStrike">
                        <a:solidFill>
                          <a:srgbClr val="0563C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5828814"/>
                  </a:ext>
                </a:extLst>
              </a:tr>
              <a:tr h="413780">
                <a:tc>
                  <a:txBody>
                    <a:bodyPr/>
                    <a:lstStyle/>
                    <a:p>
                      <a:pPr algn="ctr" fontAlgn="ctr"/>
                      <a:r>
                        <a:rPr lang="en-US" sz="1100" u="none" strike="noStrike" dirty="0">
                          <a:effectLst/>
                          <a:latin typeface="+mj-lt"/>
                        </a:rPr>
                        <a:t>8</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err="1">
                          <a:effectLst/>
                          <a:latin typeface="+mj-lt"/>
                        </a:rPr>
                        <a:t>Saatvik</a:t>
                      </a:r>
                      <a:r>
                        <a:rPr lang="en-US" sz="1100" u="none" strike="noStrike" dirty="0">
                          <a:effectLst/>
                          <a:latin typeface="+mj-lt"/>
                        </a:rPr>
                        <a:t> Green Energy Pvt. Ltd.</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dirty="0">
                          <a:effectLst/>
                          <a:latin typeface="+mj-lt"/>
                        </a:rPr>
                        <a:t>3 GW by end of 2023</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u="none" strike="noStrike" dirty="0">
                          <a:effectLst/>
                          <a:latin typeface="+mj-lt"/>
                        </a:rPr>
                        <a:t>2.5</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sng" strike="noStrike">
                          <a:effectLst/>
                          <a:latin typeface="+mj-lt"/>
                          <a:hlinkClick r:id="rId7"/>
                        </a:rPr>
                        <a:t>https://saatvikgroup.com/saatvik-secures-solar-modules-supply-order-for-solar-project-in-mauritius/#:~:text=About%20Saatvik&amp;text=Saatvik%20is%20expanding%20its%20capacity,Modules%20utilising%20M10%20Cell%20technology.</a:t>
                      </a:r>
                      <a:endParaRPr lang="en-US" sz="1100" b="0" i="0" u="sng" strike="noStrike">
                        <a:solidFill>
                          <a:srgbClr val="0563C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8396590"/>
                  </a:ext>
                </a:extLst>
              </a:tr>
              <a:tr h="103445">
                <a:tc>
                  <a:txBody>
                    <a:bodyPr/>
                    <a:lstStyle/>
                    <a:p>
                      <a:pPr algn="ctr" fontAlgn="ctr"/>
                      <a:r>
                        <a:rPr lang="en-US" sz="1100" u="none" strike="noStrike" dirty="0">
                          <a:effectLst/>
                          <a:latin typeface="+mj-lt"/>
                        </a:rPr>
                        <a:t>9</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err="1">
                          <a:effectLst/>
                          <a:latin typeface="+mj-lt"/>
                        </a:rPr>
                        <a:t>Emmvee</a:t>
                      </a:r>
                      <a:r>
                        <a:rPr lang="en-US" sz="1100" u="none" strike="noStrike" dirty="0">
                          <a:effectLst/>
                          <a:latin typeface="+mj-lt"/>
                        </a:rPr>
                        <a:t> Photovoltaic</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a:effectLst/>
                          <a:latin typeface="+mj-lt"/>
                        </a:rPr>
                        <a:t>3 GW by July 2023</a:t>
                      </a:r>
                      <a:endParaRPr lang="en-US" sz="1100" b="0"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u="none" strike="noStrike" dirty="0">
                          <a:effectLst/>
                          <a:latin typeface="+mj-lt"/>
                        </a:rPr>
                        <a:t>1.75</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b="0" i="0" u="none" strike="noStrike" kern="1200" dirty="0">
                          <a:solidFill>
                            <a:srgbClr val="000000"/>
                          </a:solidFill>
                          <a:effectLst/>
                          <a:latin typeface="+mn-lt"/>
                          <a:ea typeface="+mn-ea"/>
                          <a:cs typeface="+mn-cs"/>
                        </a:rPr>
                        <a:t>As per discussion with Module Supplier</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9101685"/>
                  </a:ext>
                </a:extLst>
              </a:tr>
              <a:tr h="103445">
                <a:tc>
                  <a:txBody>
                    <a:bodyPr/>
                    <a:lstStyle/>
                    <a:p>
                      <a:pPr algn="ctr" fontAlgn="ctr"/>
                      <a:r>
                        <a:rPr lang="en-US" sz="1100" u="none" strike="noStrike" dirty="0">
                          <a:effectLst/>
                          <a:latin typeface="+mj-lt"/>
                        </a:rPr>
                        <a:t>10</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err="1">
                          <a:effectLst/>
                          <a:latin typeface="+mj-lt"/>
                        </a:rPr>
                        <a:t>Goldi</a:t>
                      </a:r>
                      <a:r>
                        <a:rPr lang="en-US" sz="1100" u="none" strike="noStrike" dirty="0">
                          <a:effectLst/>
                          <a:latin typeface="+mj-lt"/>
                        </a:rPr>
                        <a:t> Solar Pvt. Ltd.</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a:effectLst/>
                          <a:latin typeface="+mj-lt"/>
                        </a:rPr>
                        <a:t>4 GW by end of 2023</a:t>
                      </a:r>
                      <a:endParaRPr lang="en-US" sz="1100" b="0"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u="none" strike="noStrike" dirty="0">
                          <a:effectLst/>
                          <a:latin typeface="+mj-lt"/>
                        </a:rPr>
                        <a:t>1.5</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b="0" i="0" u="none" strike="noStrike" kern="1200" dirty="0">
                          <a:solidFill>
                            <a:srgbClr val="000000"/>
                          </a:solidFill>
                          <a:effectLst/>
                          <a:latin typeface="+mn-lt"/>
                          <a:ea typeface="+mn-ea"/>
                          <a:cs typeface="+mn-cs"/>
                        </a:rPr>
                        <a:t>As per discussion with Module Supplier</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8624530"/>
                  </a:ext>
                </a:extLst>
              </a:tr>
              <a:tr h="103445">
                <a:tc>
                  <a:txBody>
                    <a:bodyPr/>
                    <a:lstStyle/>
                    <a:p>
                      <a:pPr algn="ctr" fontAlgn="ctr"/>
                      <a:r>
                        <a:rPr lang="en-US" sz="1100" u="none" strike="noStrike" dirty="0">
                          <a:effectLst/>
                          <a:latin typeface="+mj-lt"/>
                        </a:rPr>
                        <a:t>11</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err="1">
                          <a:effectLst/>
                          <a:latin typeface="+mj-lt"/>
                        </a:rPr>
                        <a:t>Pixon</a:t>
                      </a:r>
                      <a:r>
                        <a:rPr lang="en-US" sz="1100" u="none" strike="noStrike" dirty="0">
                          <a:effectLst/>
                          <a:latin typeface="+mj-lt"/>
                        </a:rPr>
                        <a:t> Green Energy Pvt. Ltd.</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b="0" i="0" u="none" strike="noStrike" kern="1200" dirty="0">
                          <a:solidFill>
                            <a:srgbClr val="000000"/>
                          </a:solidFill>
                          <a:effectLst/>
                          <a:latin typeface="+mn-lt"/>
                          <a:ea typeface="+mn-ea"/>
                          <a:cs typeface="+mn-cs"/>
                        </a:rPr>
                        <a:t>As per discussion with Module Supplier</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0449939"/>
                  </a:ext>
                </a:extLst>
              </a:tr>
              <a:tr h="206890">
                <a:tc>
                  <a:txBody>
                    <a:bodyPr/>
                    <a:lstStyle/>
                    <a:p>
                      <a:pPr algn="ctr" fontAlgn="ctr"/>
                      <a:r>
                        <a:rPr lang="en-US" sz="1100" u="none" strike="noStrike" dirty="0">
                          <a:effectLst/>
                          <a:latin typeface="+mj-lt"/>
                        </a:rPr>
                        <a:t>12</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err="1">
                          <a:effectLst/>
                          <a:latin typeface="+mj-lt"/>
                        </a:rPr>
                        <a:t>Websol</a:t>
                      </a:r>
                      <a:r>
                        <a:rPr lang="en-US" sz="1100" u="none" strike="noStrike" dirty="0">
                          <a:effectLst/>
                          <a:latin typeface="+mj-lt"/>
                        </a:rPr>
                        <a:t> Energy System Ltd.</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none" strike="noStrike" dirty="0">
                          <a:effectLst/>
                          <a:latin typeface="+mj-lt"/>
                        </a:rPr>
                        <a:t>Additional 1.8 GW upcoming</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mj-lt"/>
                        </a:rPr>
                        <a:t>0.6*</a:t>
                      </a: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u="sng" strike="noStrike" dirty="0">
                          <a:effectLst/>
                          <a:latin typeface="+mj-lt"/>
                          <a:hlinkClick r:id="rId8"/>
                        </a:rPr>
                        <a:t>https://www.pv-magazine.com/2022/07/04/indias-websol-to-build-1-8-gw-solar-cell-module-factory/</a:t>
                      </a:r>
                      <a:endParaRPr lang="en-US" sz="1100" b="0" i="0" u="sng" strike="noStrike" dirty="0">
                        <a:solidFill>
                          <a:srgbClr val="0563C1"/>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560632"/>
                  </a:ext>
                </a:extLst>
              </a:tr>
              <a:tr h="103445">
                <a:tc>
                  <a:txBody>
                    <a:bodyPr/>
                    <a:lstStyle/>
                    <a:p>
                      <a:pPr algn="ctr" fontAlgn="ctr"/>
                      <a:r>
                        <a:rPr lang="en-US" sz="1100" u="none" strike="noStrike" dirty="0">
                          <a:effectLst/>
                          <a:latin typeface="+mj-lt"/>
                        </a:rPr>
                        <a:t>13</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100" u="none" strike="noStrike" dirty="0">
                          <a:effectLst/>
                          <a:latin typeface="+mj-lt"/>
                        </a:rPr>
                        <a:t>Sova Solar Ltd.</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u="none" strike="noStrike" dirty="0">
                          <a:effectLst/>
                          <a:latin typeface="+mj-lt"/>
                        </a:rPr>
                        <a:t>0.25</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100" b="0" i="0" u="none" strike="noStrike" kern="1200" dirty="0">
                          <a:solidFill>
                            <a:srgbClr val="000000"/>
                          </a:solidFill>
                          <a:effectLst/>
                          <a:latin typeface="+mn-lt"/>
                          <a:ea typeface="+mn-ea"/>
                          <a:cs typeface="+mn-cs"/>
                        </a:rPr>
                        <a:t>As per discussion with Module Supplier</a:t>
                      </a:r>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5536924"/>
                  </a:ext>
                </a:extLst>
              </a:tr>
              <a:tr h="140775">
                <a:tc gridSpan="3">
                  <a:txBody>
                    <a:bodyPr/>
                    <a:lstStyle/>
                    <a:p>
                      <a:pPr algn="ctr" fontAlgn="ctr"/>
                      <a:r>
                        <a:rPr lang="en-US" sz="1100" b="1" i="0" u="none" strike="noStrike" dirty="0">
                          <a:solidFill>
                            <a:srgbClr val="000000"/>
                          </a:solidFill>
                          <a:effectLst/>
                          <a:latin typeface="+mj-lt"/>
                        </a:rPr>
                        <a:t>TOTAL CAPACITY ADDITION EXPECTED BY END OF 2023</a:t>
                      </a: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l" fontAlgn="t"/>
                      <a:r>
                        <a:rPr lang="en-US" sz="1050" u="none" strike="noStrike" dirty="0">
                          <a:effectLst/>
                        </a:rPr>
                        <a:t>M/s. Novus Green Energy Systems Ltd</a:t>
                      </a:r>
                      <a:endParaRPr lang="en-US" sz="1050" b="1" i="0" u="none" strike="noStrike" dirty="0">
                        <a:solidFill>
                          <a:srgbClr val="000000"/>
                        </a:solidFill>
                        <a:effectLst/>
                        <a:latin typeface="Calibri Light" panose="020F03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105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23.65</a:t>
                      </a:r>
                      <a:endParaRPr lang="en-US" sz="1100" b="1"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fontAlgn="b"/>
                      <a:endParaRPr lang="en-US" sz="1100" b="0" i="0" u="none" strike="noStrike" dirty="0">
                        <a:solidFill>
                          <a:srgbClr val="000000"/>
                        </a:solidFill>
                        <a:effectLst/>
                        <a:latin typeface="+mj-lt"/>
                      </a:endParaRPr>
                    </a:p>
                  </a:txBody>
                  <a:tcPr marL="9144" marR="91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0305123"/>
                  </a:ext>
                </a:extLst>
              </a:tr>
            </a:tbl>
          </a:graphicData>
        </a:graphic>
      </p:graphicFrame>
    </p:spTree>
    <p:extLst>
      <p:ext uri="{BB962C8B-B14F-4D97-AF65-F5344CB8AC3E}">
        <p14:creationId xmlns:p14="http://schemas.microsoft.com/office/powerpoint/2010/main" val="285182652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 Demand-Supply scenario for domestic modules in India - current landscape and projected scenario (3/3) </a:t>
            </a:r>
            <a:endParaRPr lang="en-GB" sz="2400" b="1" dirty="0">
              <a:latin typeface="Calibri" panose="020F0502020204030204" pitchFamily="34" charset="0"/>
            </a:endParaRPr>
          </a:p>
        </p:txBody>
      </p:sp>
      <p:sp>
        <p:nvSpPr>
          <p:cNvPr id="11" name="Rectangle 10">
            <a:extLst>
              <a:ext uri="{FF2B5EF4-FFF2-40B4-BE49-F238E27FC236}">
                <a16:creationId xmlns:a16="http://schemas.microsoft.com/office/drawing/2014/main" id="{1863911B-B242-4C45-B908-5403AA3E32D8}"/>
              </a:ext>
            </a:extLst>
          </p:cNvPr>
          <p:cNvSpPr/>
          <p:nvPr/>
        </p:nvSpPr>
        <p:spPr>
          <a:xfrm>
            <a:off x="501650" y="920060"/>
            <a:ext cx="11086374" cy="369332"/>
          </a:xfrm>
          <a:prstGeom prst="rect">
            <a:avLst/>
          </a:prstGeom>
        </p:spPr>
        <p:txBody>
          <a:bodyPr wrap="square">
            <a:spAutoFit/>
          </a:bodyPr>
          <a:lstStyle/>
          <a:p>
            <a:pPr lvl="0">
              <a:spcAft>
                <a:spcPts val="600"/>
              </a:spcAft>
              <a:defRPr/>
            </a:pPr>
            <a:r>
              <a:rPr lang="en-US" b="1" dirty="0">
                <a:solidFill>
                  <a:srgbClr val="000000"/>
                </a:solidFill>
              </a:rPr>
              <a:t>Forecasted Demand Supply Scenario of Module in India</a:t>
            </a:r>
            <a:endParaRPr lang="en-US" b="1" dirty="0">
              <a:solidFill>
                <a:prstClr val="black"/>
              </a:solidFill>
            </a:endParaRPr>
          </a:p>
        </p:txBody>
      </p:sp>
      <p:sp>
        <p:nvSpPr>
          <p:cNvPr id="12" name="Rectangle 11">
            <a:extLst>
              <a:ext uri="{FF2B5EF4-FFF2-40B4-BE49-F238E27FC236}">
                <a16:creationId xmlns:a16="http://schemas.microsoft.com/office/drawing/2014/main" id="{ACE823A0-52E0-4B7F-8DCB-35C739EBC791}"/>
              </a:ext>
            </a:extLst>
          </p:cNvPr>
          <p:cNvSpPr/>
          <p:nvPr/>
        </p:nvSpPr>
        <p:spPr>
          <a:xfrm>
            <a:off x="501650" y="1277932"/>
            <a:ext cx="11086374" cy="369332"/>
          </a:xfrm>
          <a:prstGeom prst="rect">
            <a:avLst/>
          </a:prstGeom>
        </p:spPr>
        <p:txBody>
          <a:bodyPr wrap="square">
            <a:spAutoFit/>
          </a:bodyPr>
          <a:lstStyle/>
          <a:p>
            <a:pPr lvl="0">
              <a:spcAft>
                <a:spcPts val="600"/>
              </a:spcAft>
              <a:defRPr/>
            </a:pPr>
            <a:r>
              <a:rPr lang="en-US" dirty="0">
                <a:solidFill>
                  <a:srgbClr val="000000"/>
                </a:solidFill>
              </a:rPr>
              <a:t>Supply based on expansion plans of Leading Module Suppliers in India (contd.):</a:t>
            </a:r>
            <a:endParaRPr lang="en-US" dirty="0">
              <a:solidFill>
                <a:prstClr val="black"/>
              </a:solidFill>
            </a:endParaRPr>
          </a:p>
        </p:txBody>
      </p:sp>
      <p:graphicFrame>
        <p:nvGraphicFramePr>
          <p:cNvPr id="7" name="Table 2">
            <a:extLst>
              <a:ext uri="{FF2B5EF4-FFF2-40B4-BE49-F238E27FC236}">
                <a16:creationId xmlns:a16="http://schemas.microsoft.com/office/drawing/2014/main" id="{B5B61BC9-36B6-429A-9FC9-6BED212B03D6}"/>
              </a:ext>
            </a:extLst>
          </p:cNvPr>
          <p:cNvGraphicFramePr>
            <a:graphicFrameLocks noGrp="1"/>
          </p:cNvGraphicFramePr>
          <p:nvPr>
            <p:extLst>
              <p:ext uri="{D42A27DB-BD31-4B8C-83A1-F6EECF244321}">
                <p14:modId xmlns:p14="http://schemas.microsoft.com/office/powerpoint/2010/main" val="850618161"/>
              </p:ext>
            </p:extLst>
          </p:nvPr>
        </p:nvGraphicFramePr>
        <p:xfrm>
          <a:off x="741136" y="1872342"/>
          <a:ext cx="8128000" cy="138859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053754147"/>
                    </a:ext>
                  </a:extLst>
                </a:gridCol>
                <a:gridCol w="2032000">
                  <a:extLst>
                    <a:ext uri="{9D8B030D-6E8A-4147-A177-3AD203B41FA5}">
                      <a16:colId xmlns:a16="http://schemas.microsoft.com/office/drawing/2014/main" val="632002385"/>
                    </a:ext>
                  </a:extLst>
                </a:gridCol>
                <a:gridCol w="2032000">
                  <a:extLst>
                    <a:ext uri="{9D8B030D-6E8A-4147-A177-3AD203B41FA5}">
                      <a16:colId xmlns:a16="http://schemas.microsoft.com/office/drawing/2014/main" val="1684782050"/>
                    </a:ext>
                  </a:extLst>
                </a:gridCol>
                <a:gridCol w="2032000">
                  <a:extLst>
                    <a:ext uri="{9D8B030D-6E8A-4147-A177-3AD203B41FA5}">
                      <a16:colId xmlns:a16="http://schemas.microsoft.com/office/drawing/2014/main" val="2699835668"/>
                    </a:ext>
                  </a:extLst>
                </a:gridCol>
              </a:tblGrid>
              <a:tr h="657072">
                <a:tc>
                  <a:txBody>
                    <a:bodyPr/>
                    <a:lstStyle/>
                    <a:p>
                      <a:endParaRPr 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bg1"/>
                          </a:solidFill>
                        </a:rPr>
                        <a:t>Module capacity in current FY (as on August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400" dirty="0">
                          <a:solidFill>
                            <a:schemeClr val="bg1"/>
                          </a:solidFill>
                        </a:rPr>
                        <a:t>Estimated Module Capacity Addition by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400" dirty="0">
                          <a:solidFill>
                            <a:schemeClr val="bg1"/>
                          </a:solidFill>
                        </a:rPr>
                        <a:t>Estimated Total Module Manufacturing Capacity in India by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232608227"/>
                  </a:ext>
                </a:extLst>
              </a:tr>
              <a:tr h="657072">
                <a:tc>
                  <a:txBody>
                    <a:bodyPr/>
                    <a:lstStyle/>
                    <a:p>
                      <a:pPr algn="ctr"/>
                      <a:r>
                        <a:rPr lang="en-US" b="1" dirty="0">
                          <a:solidFill>
                            <a:schemeClr val="bg1"/>
                          </a:solidFill>
                        </a:rPr>
                        <a:t>FUTURE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a:r>
                        <a:rPr lang="en-US" dirty="0">
                          <a:solidFill>
                            <a:schemeClr val="tx1"/>
                          </a:solidFill>
                        </a:rPr>
                        <a:t>~18 GW</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~24 GW</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chemeClr val="tx1"/>
                          </a:solidFill>
                        </a:rPr>
                        <a:t>~42 GW</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152911"/>
                  </a:ext>
                </a:extLst>
              </a:tr>
            </a:tbl>
          </a:graphicData>
        </a:graphic>
      </p:graphicFrame>
      <p:sp>
        <p:nvSpPr>
          <p:cNvPr id="2" name="Plus Sign 1">
            <a:extLst>
              <a:ext uri="{FF2B5EF4-FFF2-40B4-BE49-F238E27FC236}">
                <a16:creationId xmlns:a16="http://schemas.microsoft.com/office/drawing/2014/main" id="{9EA87922-1F03-4D4B-9622-B59D5DA82805}"/>
              </a:ext>
            </a:extLst>
          </p:cNvPr>
          <p:cNvSpPr/>
          <p:nvPr/>
        </p:nvSpPr>
        <p:spPr bwMode="gray">
          <a:xfrm>
            <a:off x="4562474" y="2740809"/>
            <a:ext cx="441778" cy="435430"/>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 name="Equals 3">
            <a:extLst>
              <a:ext uri="{FF2B5EF4-FFF2-40B4-BE49-F238E27FC236}">
                <a16:creationId xmlns:a16="http://schemas.microsoft.com/office/drawing/2014/main" id="{0F6FC74D-A3AD-4143-B48D-CC55A3385306}"/>
              </a:ext>
            </a:extLst>
          </p:cNvPr>
          <p:cNvSpPr/>
          <p:nvPr/>
        </p:nvSpPr>
        <p:spPr bwMode="gray">
          <a:xfrm>
            <a:off x="6703790" y="2795238"/>
            <a:ext cx="348343" cy="326571"/>
          </a:xfrm>
          <a:prstGeom prst="mathEqual">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 name="Oval 8">
            <a:extLst>
              <a:ext uri="{FF2B5EF4-FFF2-40B4-BE49-F238E27FC236}">
                <a16:creationId xmlns:a16="http://schemas.microsoft.com/office/drawing/2014/main" id="{BA7FD149-09DE-4B2B-AF26-8F2841163D22}"/>
              </a:ext>
            </a:extLst>
          </p:cNvPr>
          <p:cNvSpPr/>
          <p:nvPr/>
        </p:nvSpPr>
        <p:spPr bwMode="gray">
          <a:xfrm>
            <a:off x="7187750" y="2673097"/>
            <a:ext cx="1371600" cy="587837"/>
          </a:xfrm>
          <a:prstGeom prst="ellipse">
            <a:avLst/>
          </a:prstGeom>
          <a:no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 name="Rectangle 9">
            <a:extLst>
              <a:ext uri="{FF2B5EF4-FFF2-40B4-BE49-F238E27FC236}">
                <a16:creationId xmlns:a16="http://schemas.microsoft.com/office/drawing/2014/main" id="{6FEEDB50-2A52-463D-B11E-59DA1E998949}"/>
              </a:ext>
            </a:extLst>
          </p:cNvPr>
          <p:cNvSpPr/>
          <p:nvPr/>
        </p:nvSpPr>
        <p:spPr>
          <a:xfrm>
            <a:off x="603976" y="3626165"/>
            <a:ext cx="11086374" cy="369332"/>
          </a:xfrm>
          <a:prstGeom prst="rect">
            <a:avLst/>
          </a:prstGeom>
        </p:spPr>
        <p:txBody>
          <a:bodyPr wrap="square">
            <a:spAutoFit/>
          </a:bodyPr>
          <a:lstStyle/>
          <a:p>
            <a:pPr lvl="0">
              <a:spcAft>
                <a:spcPts val="600"/>
              </a:spcAft>
              <a:defRPr/>
            </a:pPr>
            <a:r>
              <a:rPr lang="en-US" dirty="0">
                <a:solidFill>
                  <a:srgbClr val="000000"/>
                </a:solidFill>
              </a:rPr>
              <a:t>Demand of Solar Modules based on rate of Capacity awarded in two years from April 2021 onwards:</a:t>
            </a:r>
            <a:endParaRPr lang="en-US" dirty="0">
              <a:solidFill>
                <a:prstClr val="black"/>
              </a:solidFill>
            </a:endParaRPr>
          </a:p>
        </p:txBody>
      </p:sp>
      <p:graphicFrame>
        <p:nvGraphicFramePr>
          <p:cNvPr id="13" name="Table 2">
            <a:extLst>
              <a:ext uri="{FF2B5EF4-FFF2-40B4-BE49-F238E27FC236}">
                <a16:creationId xmlns:a16="http://schemas.microsoft.com/office/drawing/2014/main" id="{4AADD7C4-F44C-4790-8CA0-20C4E50741BB}"/>
              </a:ext>
            </a:extLst>
          </p:cNvPr>
          <p:cNvGraphicFramePr>
            <a:graphicFrameLocks noGrp="1"/>
          </p:cNvGraphicFramePr>
          <p:nvPr>
            <p:extLst>
              <p:ext uri="{D42A27DB-BD31-4B8C-83A1-F6EECF244321}">
                <p14:modId xmlns:p14="http://schemas.microsoft.com/office/powerpoint/2010/main" val="767277939"/>
              </p:ext>
            </p:extLst>
          </p:nvPr>
        </p:nvGraphicFramePr>
        <p:xfrm>
          <a:off x="741136" y="4209115"/>
          <a:ext cx="8128000" cy="138859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053754147"/>
                    </a:ext>
                  </a:extLst>
                </a:gridCol>
                <a:gridCol w="2032000">
                  <a:extLst>
                    <a:ext uri="{9D8B030D-6E8A-4147-A177-3AD203B41FA5}">
                      <a16:colId xmlns:a16="http://schemas.microsoft.com/office/drawing/2014/main" val="632002385"/>
                    </a:ext>
                  </a:extLst>
                </a:gridCol>
                <a:gridCol w="2032000">
                  <a:extLst>
                    <a:ext uri="{9D8B030D-6E8A-4147-A177-3AD203B41FA5}">
                      <a16:colId xmlns:a16="http://schemas.microsoft.com/office/drawing/2014/main" val="1684782050"/>
                    </a:ext>
                  </a:extLst>
                </a:gridCol>
                <a:gridCol w="2032000">
                  <a:extLst>
                    <a:ext uri="{9D8B030D-6E8A-4147-A177-3AD203B41FA5}">
                      <a16:colId xmlns:a16="http://schemas.microsoft.com/office/drawing/2014/main" val="2699835668"/>
                    </a:ext>
                  </a:extLst>
                </a:gridCol>
              </a:tblGrid>
              <a:tr h="657072">
                <a:tc>
                  <a:txBody>
                    <a:bodyPr/>
                    <a:lstStyle/>
                    <a:p>
                      <a:endParaRPr 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bg1"/>
                          </a:solidFill>
                        </a:rPr>
                        <a:t>Capacity awarded from April 2021 onwards till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400" dirty="0">
                          <a:solidFill>
                            <a:schemeClr val="bg1"/>
                          </a:solidFill>
                        </a:rPr>
                        <a:t>Estimated capacity further to be awarded by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400" dirty="0">
                          <a:solidFill>
                            <a:schemeClr val="bg1"/>
                          </a:solidFill>
                        </a:rPr>
                        <a:t>Estimated Total Module Manufacturing Capacity in India by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232608227"/>
                  </a:ext>
                </a:extLst>
              </a:tr>
              <a:tr h="657072">
                <a:tc>
                  <a:txBody>
                    <a:bodyPr/>
                    <a:lstStyle/>
                    <a:p>
                      <a:pPr algn="ctr"/>
                      <a:r>
                        <a:rPr lang="en-US" b="1" dirty="0">
                          <a:solidFill>
                            <a:schemeClr val="bg1"/>
                          </a:solidFill>
                        </a:rPr>
                        <a:t>FUTURE DEMAND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a:r>
                        <a:rPr lang="en-US" dirty="0">
                          <a:solidFill>
                            <a:schemeClr val="tx1"/>
                          </a:solidFill>
                        </a:rPr>
                        <a:t>~16.5 GW</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 GW</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chemeClr val="tx1"/>
                          </a:solidFill>
                        </a:rPr>
                        <a:t>~26.5 GW</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152911"/>
                  </a:ext>
                </a:extLst>
              </a:tr>
            </a:tbl>
          </a:graphicData>
        </a:graphic>
      </p:graphicFrame>
      <p:sp>
        <p:nvSpPr>
          <p:cNvPr id="14" name="Plus Sign 13">
            <a:extLst>
              <a:ext uri="{FF2B5EF4-FFF2-40B4-BE49-F238E27FC236}">
                <a16:creationId xmlns:a16="http://schemas.microsoft.com/office/drawing/2014/main" id="{806BDC35-80B5-416B-AF98-E675E622F45B}"/>
              </a:ext>
            </a:extLst>
          </p:cNvPr>
          <p:cNvSpPr/>
          <p:nvPr/>
        </p:nvSpPr>
        <p:spPr bwMode="gray">
          <a:xfrm>
            <a:off x="4562474" y="5077582"/>
            <a:ext cx="441778" cy="435430"/>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Equals 14">
            <a:extLst>
              <a:ext uri="{FF2B5EF4-FFF2-40B4-BE49-F238E27FC236}">
                <a16:creationId xmlns:a16="http://schemas.microsoft.com/office/drawing/2014/main" id="{C59A2C44-1FBF-43A8-A4C4-682406C28B13}"/>
              </a:ext>
            </a:extLst>
          </p:cNvPr>
          <p:cNvSpPr/>
          <p:nvPr/>
        </p:nvSpPr>
        <p:spPr bwMode="gray">
          <a:xfrm>
            <a:off x="6703790" y="5132011"/>
            <a:ext cx="348343" cy="326571"/>
          </a:xfrm>
          <a:prstGeom prst="mathEqual">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 name="Oval 15">
            <a:extLst>
              <a:ext uri="{FF2B5EF4-FFF2-40B4-BE49-F238E27FC236}">
                <a16:creationId xmlns:a16="http://schemas.microsoft.com/office/drawing/2014/main" id="{94BCC2CE-1CE0-4F20-95C1-619266175193}"/>
              </a:ext>
            </a:extLst>
          </p:cNvPr>
          <p:cNvSpPr/>
          <p:nvPr/>
        </p:nvSpPr>
        <p:spPr bwMode="gray">
          <a:xfrm>
            <a:off x="7155092" y="4988098"/>
            <a:ext cx="1371600" cy="587837"/>
          </a:xfrm>
          <a:prstGeom prst="ellipse">
            <a:avLst/>
          </a:prstGeom>
          <a:noFill/>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 name="Rectangle 16">
            <a:extLst>
              <a:ext uri="{FF2B5EF4-FFF2-40B4-BE49-F238E27FC236}">
                <a16:creationId xmlns:a16="http://schemas.microsoft.com/office/drawing/2014/main" id="{72624962-18B1-4DF3-AD68-DAC73EF1B3F0}"/>
              </a:ext>
            </a:extLst>
          </p:cNvPr>
          <p:cNvSpPr/>
          <p:nvPr/>
        </p:nvSpPr>
        <p:spPr bwMode="gray">
          <a:xfrm>
            <a:off x="501650" y="5778300"/>
            <a:ext cx="10939236" cy="64008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t>Thus, as can be seen from above, supply of modules in India will be ~59% higher than the expected demand by 2024; hence module prices are expected to decrease significantly with respect to current high rates</a:t>
            </a:r>
            <a:endParaRPr lang="en-US" sz="1600" i="1" u="sng" dirty="0"/>
          </a:p>
        </p:txBody>
      </p:sp>
    </p:spTree>
    <p:extLst>
      <p:ext uri="{BB962C8B-B14F-4D97-AF65-F5344CB8AC3E}">
        <p14:creationId xmlns:p14="http://schemas.microsoft.com/office/powerpoint/2010/main" val="292357521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7A: List of Module Manufacturers with Capacity as per latest ALMM list (Aug 2022) (1/3)</a:t>
            </a:r>
            <a:endParaRPr lang="en-GB" sz="2400" b="1" dirty="0">
              <a:latin typeface="Calibri" panose="020F0502020204030204" pitchFamily="34" charset="0"/>
            </a:endParaRPr>
          </a:p>
        </p:txBody>
      </p:sp>
      <p:graphicFrame>
        <p:nvGraphicFramePr>
          <p:cNvPr id="5" name="Table 4">
            <a:extLst>
              <a:ext uri="{FF2B5EF4-FFF2-40B4-BE49-F238E27FC236}">
                <a16:creationId xmlns:a16="http://schemas.microsoft.com/office/drawing/2014/main" id="{8B02F020-26C6-461A-9505-838BC34DA720}"/>
              </a:ext>
            </a:extLst>
          </p:cNvPr>
          <p:cNvGraphicFramePr>
            <a:graphicFrameLocks noGrp="1"/>
          </p:cNvGraphicFramePr>
          <p:nvPr>
            <p:extLst>
              <p:ext uri="{D42A27DB-BD31-4B8C-83A1-F6EECF244321}">
                <p14:modId xmlns:p14="http://schemas.microsoft.com/office/powerpoint/2010/main" val="646663658"/>
              </p:ext>
            </p:extLst>
          </p:nvPr>
        </p:nvGraphicFramePr>
        <p:xfrm>
          <a:off x="696686" y="979714"/>
          <a:ext cx="10744200" cy="5369628"/>
        </p:xfrm>
        <a:graphic>
          <a:graphicData uri="http://schemas.openxmlformats.org/drawingml/2006/table">
            <a:tbl>
              <a:tblPr/>
              <a:tblGrid>
                <a:gridCol w="712627">
                  <a:extLst>
                    <a:ext uri="{9D8B030D-6E8A-4147-A177-3AD203B41FA5}">
                      <a16:colId xmlns:a16="http://schemas.microsoft.com/office/drawing/2014/main" val="2247217353"/>
                    </a:ext>
                  </a:extLst>
                </a:gridCol>
                <a:gridCol w="6413629">
                  <a:extLst>
                    <a:ext uri="{9D8B030D-6E8A-4147-A177-3AD203B41FA5}">
                      <a16:colId xmlns:a16="http://schemas.microsoft.com/office/drawing/2014/main" val="3633365115"/>
                    </a:ext>
                  </a:extLst>
                </a:gridCol>
                <a:gridCol w="3617944">
                  <a:extLst>
                    <a:ext uri="{9D8B030D-6E8A-4147-A177-3AD203B41FA5}">
                      <a16:colId xmlns:a16="http://schemas.microsoft.com/office/drawing/2014/main" val="515161889"/>
                    </a:ext>
                  </a:extLst>
                </a:gridCol>
              </a:tblGrid>
              <a:tr h="113557">
                <a:tc>
                  <a:txBody>
                    <a:bodyPr/>
                    <a:lstStyle/>
                    <a:p>
                      <a:pPr algn="ctr" fontAlgn="ctr"/>
                      <a:r>
                        <a:rPr lang="en-US" sz="1200" b="1" i="0" u="none" strike="noStrike">
                          <a:solidFill>
                            <a:srgbClr val="FFFFFF"/>
                          </a:solidFill>
                          <a:effectLst/>
                          <a:latin typeface="+mj-lt"/>
                        </a:rPr>
                        <a:t>S. No.</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Name of the Manufacturer</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Enlisted Capacity (MWs /</a:t>
                      </a:r>
                      <a:br>
                        <a:rPr lang="en-US" sz="1200" b="1" i="0" u="none" strike="noStrike">
                          <a:solidFill>
                            <a:srgbClr val="FFFFFF"/>
                          </a:solidFill>
                          <a:effectLst/>
                          <a:latin typeface="+mj-lt"/>
                        </a:rPr>
                      </a:br>
                      <a:r>
                        <a:rPr lang="en-US" sz="1200" b="1" i="0" u="none" strike="noStrike">
                          <a:solidFill>
                            <a:srgbClr val="FFFFFF"/>
                          </a:solidFill>
                          <a:effectLst/>
                          <a:latin typeface="+mj-lt"/>
                        </a:rPr>
                        <a:t>Year)</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959350628"/>
                  </a:ext>
                </a:extLst>
              </a:tr>
              <a:tr h="78408">
                <a:tc>
                  <a:txBody>
                    <a:bodyPr/>
                    <a:lstStyle/>
                    <a:p>
                      <a:pPr algn="ctr" fontAlgn="t"/>
                      <a:r>
                        <a:rPr lang="en-US" sz="1200" b="0" i="0" u="none" strike="noStrike">
                          <a:solidFill>
                            <a:srgbClr val="000000"/>
                          </a:solidFill>
                          <a:effectLst/>
                          <a:latin typeface="+mj-lt"/>
                        </a:rPr>
                        <a:t>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Mundra Solar PV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6135789"/>
                  </a:ext>
                </a:extLst>
              </a:tr>
              <a:tr h="78408">
                <a:tc>
                  <a:txBody>
                    <a:bodyPr/>
                    <a:lstStyle/>
                    <a:p>
                      <a:pPr algn="ctr" fontAlgn="t"/>
                      <a:r>
                        <a:rPr lang="en-US" sz="1200" b="0" i="0" u="none" strike="noStrike">
                          <a:solidFill>
                            <a:srgbClr val="000000"/>
                          </a:solidFill>
                          <a:effectLst/>
                          <a:latin typeface="+mj-lt"/>
                        </a:rPr>
                        <a:t>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Vikram Solar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9227313"/>
                  </a:ext>
                </a:extLst>
              </a:tr>
              <a:tr h="78408">
                <a:tc>
                  <a:txBody>
                    <a:bodyPr/>
                    <a:lstStyle/>
                    <a:p>
                      <a:pPr algn="ctr" fontAlgn="t"/>
                      <a:r>
                        <a:rPr lang="en-US" sz="1200" b="0" i="0" u="none" strike="noStrike">
                          <a:solidFill>
                            <a:srgbClr val="000000"/>
                          </a:solidFill>
                          <a:effectLst/>
                          <a:latin typeface="+mj-lt"/>
                        </a:rPr>
                        <a:t>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Bharat Electronics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566491"/>
                  </a:ext>
                </a:extLst>
              </a:tr>
              <a:tr h="78408">
                <a:tc>
                  <a:txBody>
                    <a:bodyPr/>
                    <a:lstStyle/>
                    <a:p>
                      <a:pPr algn="ctr" fontAlgn="t"/>
                      <a:r>
                        <a:rPr lang="en-US" sz="1200" b="0" i="0" u="none" strike="noStrike">
                          <a:solidFill>
                            <a:srgbClr val="000000"/>
                          </a:solidFill>
                          <a:effectLst/>
                          <a:latin typeface="+mj-lt"/>
                        </a:rPr>
                        <a:t>4</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Emmvee Photovoltaic Power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4175978"/>
                  </a:ext>
                </a:extLst>
              </a:tr>
              <a:tr h="78408">
                <a:tc>
                  <a:txBody>
                    <a:bodyPr/>
                    <a:lstStyle/>
                    <a:p>
                      <a:pPr algn="ctr" fontAlgn="t"/>
                      <a:r>
                        <a:rPr lang="en-US" sz="1200" b="0" i="0" u="none" strike="noStrike">
                          <a:solidFill>
                            <a:srgbClr val="000000"/>
                          </a:solidFill>
                          <a:effectLst/>
                          <a:latin typeface="+mj-lt"/>
                        </a:rPr>
                        <a:t>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ORB 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9192771"/>
                  </a:ext>
                </a:extLst>
              </a:tr>
              <a:tr h="78408">
                <a:tc>
                  <a:txBody>
                    <a:bodyPr/>
                    <a:lstStyle/>
                    <a:p>
                      <a:pPr algn="ctr" fontAlgn="t"/>
                      <a:r>
                        <a:rPr lang="en-US" sz="1200" b="0" i="0" u="none" strike="noStrike">
                          <a:solidFill>
                            <a:srgbClr val="000000"/>
                          </a:solidFill>
                          <a:effectLst/>
                          <a:latin typeface="+mj-lt"/>
                        </a:rPr>
                        <a:t>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Tata Power Solar Systems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710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1216647"/>
                  </a:ext>
                </a:extLst>
              </a:tr>
              <a:tr h="78408">
                <a:tc>
                  <a:txBody>
                    <a:bodyPr/>
                    <a:lstStyle/>
                    <a:p>
                      <a:pPr algn="ctr" fontAlgn="t"/>
                      <a:r>
                        <a:rPr lang="en-US" sz="1200" b="0" i="0" u="none" strike="noStrike">
                          <a:solidFill>
                            <a:srgbClr val="000000"/>
                          </a:solidFill>
                          <a:effectLst/>
                          <a:latin typeface="+mj-lt"/>
                        </a:rPr>
                        <a:t>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Swelect Energy Systems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140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1213791"/>
                  </a:ext>
                </a:extLst>
              </a:tr>
              <a:tr h="78408">
                <a:tc>
                  <a:txBody>
                    <a:bodyPr/>
                    <a:lstStyle/>
                    <a:p>
                      <a:pPr algn="ctr" fontAlgn="t"/>
                      <a:r>
                        <a:rPr lang="en-US" sz="1200" b="0" i="0" u="none" strike="noStrike">
                          <a:solidFill>
                            <a:srgbClr val="000000"/>
                          </a:solidFill>
                          <a:effectLst/>
                          <a:latin typeface="+mj-lt"/>
                        </a:rPr>
                        <a:t>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RenewSys India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6216012"/>
                  </a:ext>
                </a:extLst>
              </a:tr>
              <a:tr h="78408">
                <a:tc>
                  <a:txBody>
                    <a:bodyPr/>
                    <a:lstStyle/>
                    <a:p>
                      <a:pPr algn="ctr" fontAlgn="t"/>
                      <a:r>
                        <a:rPr lang="en-US" sz="1200" b="0" i="0" u="none" strike="noStrike">
                          <a:solidFill>
                            <a:srgbClr val="000000"/>
                          </a:solidFill>
                          <a:effectLst/>
                          <a:latin typeface="+mj-lt"/>
                        </a:rPr>
                        <a:t>9</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Premier Energies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482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339086"/>
                  </a:ext>
                </a:extLst>
              </a:tr>
              <a:tr h="78408">
                <a:tc>
                  <a:txBody>
                    <a:bodyPr/>
                    <a:lstStyle/>
                    <a:p>
                      <a:pPr algn="ctr" fontAlgn="t"/>
                      <a:r>
                        <a:rPr lang="en-US" sz="1200" b="0" i="0" u="none" strike="noStrike">
                          <a:solidFill>
                            <a:srgbClr val="000000"/>
                          </a:solidFill>
                          <a:effectLst/>
                          <a:latin typeface="+mj-lt"/>
                        </a:rPr>
                        <a:t>10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Visaka Industries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30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579092"/>
                  </a:ext>
                </a:extLst>
              </a:tr>
              <a:tr h="78408">
                <a:tc>
                  <a:txBody>
                    <a:bodyPr/>
                    <a:lstStyle/>
                    <a:p>
                      <a:pPr algn="ctr" fontAlgn="t"/>
                      <a:r>
                        <a:rPr lang="en-US" sz="1200" b="0" i="0" u="none" strike="noStrike">
                          <a:solidFill>
                            <a:srgbClr val="000000"/>
                          </a:solidFill>
                          <a:effectLst/>
                          <a:latin typeface="+mj-lt"/>
                        </a:rPr>
                        <a:t>11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Websol Energy System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7268026"/>
                  </a:ext>
                </a:extLst>
              </a:tr>
              <a:tr h="78408">
                <a:tc>
                  <a:txBody>
                    <a:bodyPr/>
                    <a:lstStyle/>
                    <a:p>
                      <a:pPr algn="ctr" fontAlgn="t"/>
                      <a:r>
                        <a:rPr lang="en-US" sz="1200" b="0" i="0" u="none" strike="noStrike">
                          <a:solidFill>
                            <a:srgbClr val="000000"/>
                          </a:solidFill>
                          <a:effectLst/>
                          <a:latin typeface="+mj-lt"/>
                        </a:rPr>
                        <a:t>12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Sova Solar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240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2455867"/>
                  </a:ext>
                </a:extLst>
              </a:tr>
              <a:tr h="78408">
                <a:tc>
                  <a:txBody>
                    <a:bodyPr/>
                    <a:lstStyle/>
                    <a:p>
                      <a:pPr algn="ctr" fontAlgn="t"/>
                      <a:r>
                        <a:rPr lang="en-US" sz="1200" b="0" i="0" u="none" strike="noStrike">
                          <a:solidFill>
                            <a:srgbClr val="000000"/>
                          </a:solidFill>
                          <a:effectLst/>
                          <a:latin typeface="+mj-lt"/>
                        </a:rPr>
                        <a:t>13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Goldi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8915093"/>
                  </a:ext>
                </a:extLst>
              </a:tr>
              <a:tr h="78408">
                <a:tc>
                  <a:txBody>
                    <a:bodyPr/>
                    <a:lstStyle/>
                    <a:p>
                      <a:pPr algn="ctr" fontAlgn="t"/>
                      <a:r>
                        <a:rPr lang="en-US" sz="1200" b="0" i="0" u="none" strike="noStrike">
                          <a:solidFill>
                            <a:srgbClr val="000000"/>
                          </a:solidFill>
                          <a:effectLst/>
                          <a:latin typeface="+mj-lt"/>
                        </a:rPr>
                        <a:t>14</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Australian Premium Solar (India)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3925711"/>
                  </a:ext>
                </a:extLst>
              </a:tr>
              <a:tr h="78408">
                <a:tc>
                  <a:txBody>
                    <a:bodyPr/>
                    <a:lstStyle/>
                    <a:p>
                      <a:pPr algn="ctr" fontAlgn="t"/>
                      <a:r>
                        <a:rPr lang="en-US" sz="1200" b="0" i="0" u="none" strike="noStrike">
                          <a:solidFill>
                            <a:srgbClr val="000000"/>
                          </a:solidFill>
                          <a:effectLst/>
                          <a:latin typeface="+mj-lt"/>
                        </a:rPr>
                        <a:t>15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Solex Energy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8864401"/>
                  </a:ext>
                </a:extLst>
              </a:tr>
              <a:tr h="78408">
                <a:tc>
                  <a:txBody>
                    <a:bodyPr/>
                    <a:lstStyle/>
                    <a:p>
                      <a:pPr algn="ctr" fontAlgn="t"/>
                      <a:r>
                        <a:rPr lang="en-US" sz="1200" b="0" i="0" u="none" strike="noStrike">
                          <a:solidFill>
                            <a:srgbClr val="000000"/>
                          </a:solidFill>
                          <a:effectLst/>
                          <a:latin typeface="+mj-lt"/>
                        </a:rPr>
                        <a:t>16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Topsun Energy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703821"/>
                  </a:ext>
                </a:extLst>
              </a:tr>
              <a:tr h="78408">
                <a:tc>
                  <a:txBody>
                    <a:bodyPr/>
                    <a:lstStyle/>
                    <a:p>
                      <a:pPr algn="ctr" fontAlgn="t"/>
                      <a:r>
                        <a:rPr lang="en-US" sz="1200" b="0" i="0" u="none" strike="noStrike">
                          <a:solidFill>
                            <a:srgbClr val="000000"/>
                          </a:solidFill>
                          <a:effectLst/>
                          <a:latin typeface="+mj-lt"/>
                        </a:rPr>
                        <a:t>17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Waaree Energies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7644169"/>
                  </a:ext>
                </a:extLst>
              </a:tr>
              <a:tr h="78408">
                <a:tc>
                  <a:txBody>
                    <a:bodyPr/>
                    <a:lstStyle/>
                    <a:p>
                      <a:pPr algn="ctr" fontAlgn="t"/>
                      <a:r>
                        <a:rPr lang="en-US" sz="1200" b="0" i="0" u="none" strike="noStrike">
                          <a:solidFill>
                            <a:srgbClr val="000000"/>
                          </a:solidFill>
                          <a:effectLst/>
                          <a:latin typeface="+mj-lt"/>
                        </a:rPr>
                        <a:t>18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Waaree Energies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1935467"/>
                  </a:ext>
                </a:extLst>
              </a:tr>
              <a:tr h="78408">
                <a:tc>
                  <a:txBody>
                    <a:bodyPr/>
                    <a:lstStyle/>
                    <a:p>
                      <a:pPr algn="ctr" fontAlgn="t"/>
                      <a:r>
                        <a:rPr lang="en-US" sz="1200" b="0" i="0" u="none" strike="noStrike">
                          <a:solidFill>
                            <a:srgbClr val="000000"/>
                          </a:solidFill>
                          <a:effectLst/>
                          <a:latin typeface="+mj-lt"/>
                        </a:rPr>
                        <a:t>19</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Waaree Renewables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8251065"/>
                  </a:ext>
                </a:extLst>
              </a:tr>
              <a:tr h="78408">
                <a:tc>
                  <a:txBody>
                    <a:bodyPr/>
                    <a:lstStyle/>
                    <a:p>
                      <a:pPr algn="ctr" fontAlgn="t"/>
                      <a:r>
                        <a:rPr lang="en-US" sz="1200" b="0" i="0" u="none" strike="noStrike">
                          <a:solidFill>
                            <a:srgbClr val="000000"/>
                          </a:solidFill>
                          <a:effectLst/>
                          <a:latin typeface="+mj-lt"/>
                        </a:rPr>
                        <a:t>20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fr-FR" sz="1200" b="0" i="0" u="none" strike="noStrike">
                          <a:solidFill>
                            <a:srgbClr val="000000"/>
                          </a:solidFill>
                          <a:effectLst/>
                          <a:latin typeface="+mj-lt"/>
                        </a:rPr>
                        <a:t>Icon Solar-En Power Technologies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125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6725087"/>
                  </a:ext>
                </a:extLst>
              </a:tr>
              <a:tr h="78408">
                <a:tc>
                  <a:txBody>
                    <a:bodyPr/>
                    <a:lstStyle/>
                    <a:p>
                      <a:pPr algn="ctr" fontAlgn="t"/>
                      <a:r>
                        <a:rPr lang="en-US" sz="1200" b="0" i="0" u="none" strike="noStrike">
                          <a:solidFill>
                            <a:srgbClr val="000000"/>
                          </a:solidFill>
                          <a:effectLst/>
                          <a:latin typeface="+mj-lt"/>
                        </a:rPr>
                        <a:t>21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PV Power Technologies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0953284"/>
                  </a:ext>
                </a:extLst>
              </a:tr>
              <a:tr h="78408">
                <a:tc>
                  <a:txBody>
                    <a:bodyPr/>
                    <a:lstStyle/>
                    <a:p>
                      <a:pPr algn="ctr" fontAlgn="t"/>
                      <a:r>
                        <a:rPr lang="en-US" sz="1200" b="0" i="0" u="none" strike="noStrike">
                          <a:solidFill>
                            <a:srgbClr val="000000"/>
                          </a:solidFill>
                          <a:effectLst/>
                          <a:latin typeface="+mj-lt"/>
                        </a:rPr>
                        <a:t>22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Saatvik Green 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510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3712247"/>
                  </a:ext>
                </a:extLst>
              </a:tr>
              <a:tr h="78408">
                <a:tc>
                  <a:txBody>
                    <a:bodyPr/>
                    <a:lstStyle/>
                    <a:p>
                      <a:pPr algn="ctr" fontAlgn="t"/>
                      <a:r>
                        <a:rPr lang="en-US" sz="1200" b="0" i="0" u="none" strike="noStrike">
                          <a:solidFill>
                            <a:srgbClr val="000000"/>
                          </a:solidFill>
                          <a:effectLst/>
                          <a:latin typeface="+mj-lt"/>
                        </a:rPr>
                        <a:t>23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Navitas Green Solutions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7357980"/>
                  </a:ext>
                </a:extLst>
              </a:tr>
              <a:tr h="78408">
                <a:tc>
                  <a:txBody>
                    <a:bodyPr/>
                    <a:lstStyle/>
                    <a:p>
                      <a:pPr algn="ctr" fontAlgn="t"/>
                      <a:r>
                        <a:rPr lang="en-US" sz="1200" b="0" i="0" u="none" strike="noStrike">
                          <a:solidFill>
                            <a:srgbClr val="000000"/>
                          </a:solidFill>
                          <a:effectLst/>
                          <a:latin typeface="+mj-lt"/>
                        </a:rPr>
                        <a:t>24</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Central Electronics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35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4268994"/>
                  </a:ext>
                </a:extLst>
              </a:tr>
              <a:tr h="78408">
                <a:tc>
                  <a:txBody>
                    <a:bodyPr/>
                    <a:lstStyle/>
                    <a:p>
                      <a:pPr algn="ctr" fontAlgn="t"/>
                      <a:r>
                        <a:rPr lang="en-US" sz="1200" b="0" i="0" u="none" strike="noStrike">
                          <a:solidFill>
                            <a:srgbClr val="000000"/>
                          </a:solidFill>
                          <a:effectLst/>
                          <a:latin typeface="+mj-lt"/>
                        </a:rPr>
                        <a:t>25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Patanjali Renewable 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2831502"/>
                  </a:ext>
                </a:extLst>
              </a:tr>
              <a:tr h="78408">
                <a:tc>
                  <a:txBody>
                    <a:bodyPr/>
                    <a:lstStyle/>
                    <a:p>
                      <a:pPr algn="ctr" fontAlgn="t"/>
                      <a:r>
                        <a:rPr lang="en-US" sz="1200" b="0" i="0" u="none" strike="noStrike" dirty="0">
                          <a:solidFill>
                            <a:srgbClr val="000000"/>
                          </a:solidFill>
                          <a:effectLst/>
                          <a:latin typeface="+mj-lt"/>
                        </a:rPr>
                        <a:t>26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Jakson Engineers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583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1530879"/>
                  </a:ext>
                </a:extLst>
              </a:tr>
              <a:tr h="78408">
                <a:tc gridSpan="2">
                  <a:txBody>
                    <a:bodyPr/>
                    <a:lstStyle/>
                    <a:p>
                      <a:pPr algn="ctr" fontAlgn="t"/>
                      <a:r>
                        <a:rPr lang="en-US" sz="1200" b="1" i="0" u="none" strike="noStrike" dirty="0">
                          <a:solidFill>
                            <a:srgbClr val="000000"/>
                          </a:solidFill>
                          <a:effectLst/>
                          <a:latin typeface="+mj-lt"/>
                        </a:rPr>
                        <a:t>Sub-total (MW)</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t"/>
                      <a:endParaRPr lang="en-US" sz="1200" b="0" i="0" u="none" strike="noStrike" dirty="0">
                        <a:solidFill>
                          <a:srgbClr val="000000"/>
                        </a:solidFill>
                        <a:effectLst/>
                        <a:latin typeface="+mj-lt"/>
                      </a:endParaRP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1" i="0" u="none" strike="noStrike" dirty="0">
                          <a:solidFill>
                            <a:srgbClr val="000000"/>
                          </a:solidFill>
                          <a:effectLst/>
                          <a:latin typeface="+mj-lt"/>
                        </a:rPr>
                        <a:t>9,748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0940564"/>
                  </a:ext>
                </a:extLst>
              </a:tr>
            </a:tbl>
          </a:graphicData>
        </a:graphic>
      </p:graphicFrame>
      <p:sp>
        <p:nvSpPr>
          <p:cNvPr id="4" name="Arrow: Right 3">
            <a:hlinkClick r:id="rId2" action="ppaction://hlinksldjump"/>
            <a:extLst>
              <a:ext uri="{FF2B5EF4-FFF2-40B4-BE49-F238E27FC236}">
                <a16:creationId xmlns:a16="http://schemas.microsoft.com/office/drawing/2014/main" id="{D0DF95D7-8B62-4267-9865-7B92A2A1C8FB}"/>
              </a:ext>
            </a:extLst>
          </p:cNvPr>
          <p:cNvSpPr/>
          <p:nvPr/>
        </p:nvSpPr>
        <p:spPr bwMode="gray">
          <a:xfrm flipH="1">
            <a:off x="7750628" y="6349342"/>
            <a:ext cx="3537858" cy="48135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150293817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7A: List of Module Manufacturers with Capacity as per latest ALMM list (Aug 2022) (2/3)</a:t>
            </a:r>
            <a:endParaRPr lang="en-GB" sz="2400" b="1" dirty="0">
              <a:latin typeface="Calibri" panose="020F0502020204030204" pitchFamily="34" charset="0"/>
            </a:endParaRPr>
          </a:p>
        </p:txBody>
      </p:sp>
      <p:graphicFrame>
        <p:nvGraphicFramePr>
          <p:cNvPr id="5" name="Table 4">
            <a:extLst>
              <a:ext uri="{FF2B5EF4-FFF2-40B4-BE49-F238E27FC236}">
                <a16:creationId xmlns:a16="http://schemas.microsoft.com/office/drawing/2014/main" id="{8B02F020-26C6-461A-9505-838BC34DA720}"/>
              </a:ext>
            </a:extLst>
          </p:cNvPr>
          <p:cNvGraphicFramePr>
            <a:graphicFrameLocks noGrp="1"/>
          </p:cNvGraphicFramePr>
          <p:nvPr>
            <p:extLst>
              <p:ext uri="{D42A27DB-BD31-4B8C-83A1-F6EECF244321}">
                <p14:modId xmlns:p14="http://schemas.microsoft.com/office/powerpoint/2010/main" val="2577833074"/>
              </p:ext>
            </p:extLst>
          </p:nvPr>
        </p:nvGraphicFramePr>
        <p:xfrm>
          <a:off x="696686" y="979714"/>
          <a:ext cx="10744200" cy="5369628"/>
        </p:xfrm>
        <a:graphic>
          <a:graphicData uri="http://schemas.openxmlformats.org/drawingml/2006/table">
            <a:tbl>
              <a:tblPr/>
              <a:tblGrid>
                <a:gridCol w="712627">
                  <a:extLst>
                    <a:ext uri="{9D8B030D-6E8A-4147-A177-3AD203B41FA5}">
                      <a16:colId xmlns:a16="http://schemas.microsoft.com/office/drawing/2014/main" val="2247217353"/>
                    </a:ext>
                  </a:extLst>
                </a:gridCol>
                <a:gridCol w="6413629">
                  <a:extLst>
                    <a:ext uri="{9D8B030D-6E8A-4147-A177-3AD203B41FA5}">
                      <a16:colId xmlns:a16="http://schemas.microsoft.com/office/drawing/2014/main" val="3633365115"/>
                    </a:ext>
                  </a:extLst>
                </a:gridCol>
                <a:gridCol w="3617944">
                  <a:extLst>
                    <a:ext uri="{9D8B030D-6E8A-4147-A177-3AD203B41FA5}">
                      <a16:colId xmlns:a16="http://schemas.microsoft.com/office/drawing/2014/main" val="515161889"/>
                    </a:ext>
                  </a:extLst>
                </a:gridCol>
              </a:tblGrid>
              <a:tr h="113557">
                <a:tc>
                  <a:txBody>
                    <a:bodyPr/>
                    <a:lstStyle/>
                    <a:p>
                      <a:pPr algn="ctr" fontAlgn="ctr"/>
                      <a:r>
                        <a:rPr lang="en-US" sz="1200" b="1" i="0" u="none" strike="noStrike">
                          <a:solidFill>
                            <a:srgbClr val="FFFFFF"/>
                          </a:solidFill>
                          <a:effectLst/>
                          <a:latin typeface="+mj-lt"/>
                        </a:rPr>
                        <a:t>S. No.</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Name of the Manufacturer</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Enlisted Capacity (MWs /</a:t>
                      </a:r>
                      <a:br>
                        <a:rPr lang="en-US" sz="1200" b="1" i="0" u="none" strike="noStrike">
                          <a:solidFill>
                            <a:srgbClr val="FFFFFF"/>
                          </a:solidFill>
                          <a:effectLst/>
                          <a:latin typeface="+mj-lt"/>
                        </a:rPr>
                      </a:br>
                      <a:r>
                        <a:rPr lang="en-US" sz="1200" b="1" i="0" u="none" strike="noStrike">
                          <a:solidFill>
                            <a:srgbClr val="FFFFFF"/>
                          </a:solidFill>
                          <a:effectLst/>
                          <a:latin typeface="+mj-lt"/>
                        </a:rPr>
                        <a:t>Year)</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959350628"/>
                  </a:ext>
                </a:extLst>
              </a:tr>
              <a:tr h="78408">
                <a:tc>
                  <a:txBody>
                    <a:bodyPr/>
                    <a:lstStyle/>
                    <a:p>
                      <a:pPr algn="ctr" fontAlgn="t"/>
                      <a:r>
                        <a:rPr lang="en-US" sz="1200" b="0" i="0" u="none" strike="noStrike">
                          <a:solidFill>
                            <a:srgbClr val="000000"/>
                          </a:solidFill>
                          <a:effectLst/>
                          <a:latin typeface="+mj-lt"/>
                        </a:rPr>
                        <a:t>27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Himalayan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a:solidFill>
                            <a:srgbClr val="000000"/>
                          </a:solidFill>
                          <a:effectLst/>
                          <a:latin typeface="+mj-lt"/>
                        </a:rPr>
                        <a:t>41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0940564"/>
                  </a:ext>
                </a:extLst>
              </a:tr>
              <a:tr h="78408">
                <a:tc>
                  <a:txBody>
                    <a:bodyPr/>
                    <a:lstStyle/>
                    <a:p>
                      <a:pPr algn="ctr" fontAlgn="t"/>
                      <a:r>
                        <a:rPr lang="en-US" sz="1200" b="0" i="0" u="none" strike="noStrike" dirty="0">
                          <a:solidFill>
                            <a:srgbClr val="000000"/>
                          </a:solidFill>
                          <a:effectLst/>
                          <a:latin typeface="+mj-lt"/>
                        </a:rPr>
                        <a:t>28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Sun N Sand Exim (India)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0747986"/>
                  </a:ext>
                </a:extLst>
              </a:tr>
              <a:tr h="113557">
                <a:tc>
                  <a:txBody>
                    <a:bodyPr/>
                    <a:lstStyle/>
                    <a:p>
                      <a:pPr algn="ctr" fontAlgn="t"/>
                      <a:r>
                        <a:rPr lang="en-US" sz="1200" b="0" i="0" u="none" strike="noStrike" dirty="0">
                          <a:solidFill>
                            <a:srgbClr val="000000"/>
                          </a:solidFill>
                          <a:effectLst/>
                          <a:latin typeface="+mj-lt"/>
                        </a:rPr>
                        <a:t>29</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a:solidFill>
                            <a:srgbClr val="000000"/>
                          </a:solidFill>
                          <a:effectLst/>
                          <a:latin typeface="+mj-lt"/>
                        </a:rPr>
                        <a:t>Insolation 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98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1814023"/>
                  </a:ext>
                </a:extLst>
              </a:tr>
              <a:tr h="78408">
                <a:tc>
                  <a:txBody>
                    <a:bodyPr/>
                    <a:lstStyle/>
                    <a:p>
                      <a:pPr algn="ctr" fontAlgn="t"/>
                      <a:r>
                        <a:rPr lang="en-US" sz="1200" b="0" i="0" u="none" strike="noStrike" dirty="0">
                          <a:solidFill>
                            <a:srgbClr val="000000"/>
                          </a:solidFill>
                          <a:effectLst/>
                          <a:latin typeface="+mj-lt"/>
                        </a:rPr>
                        <a:t>30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Pennar Industries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6624502"/>
                  </a:ext>
                </a:extLst>
              </a:tr>
              <a:tr h="78408">
                <a:tc>
                  <a:txBody>
                    <a:bodyPr/>
                    <a:lstStyle/>
                    <a:p>
                      <a:pPr algn="ctr" fontAlgn="t"/>
                      <a:r>
                        <a:rPr lang="en-US" sz="1200" b="0" i="0" u="none" strike="noStrike" dirty="0">
                          <a:solidFill>
                            <a:srgbClr val="000000"/>
                          </a:solidFill>
                          <a:effectLst/>
                          <a:latin typeface="+mj-lt"/>
                        </a:rPr>
                        <a:t>31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GreenBrilliance Renewable Energy LLP.</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067009"/>
                  </a:ext>
                </a:extLst>
              </a:tr>
              <a:tr h="78408">
                <a:tc>
                  <a:txBody>
                    <a:bodyPr/>
                    <a:lstStyle/>
                    <a:p>
                      <a:pPr algn="ctr" fontAlgn="t"/>
                      <a:r>
                        <a:rPr lang="en-US" sz="1200" b="0" i="0" u="none" strike="noStrike" dirty="0">
                          <a:solidFill>
                            <a:srgbClr val="000000"/>
                          </a:solidFill>
                          <a:effectLst/>
                          <a:latin typeface="+mj-lt"/>
                        </a:rPr>
                        <a:t>32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Sanelite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6001108"/>
                  </a:ext>
                </a:extLst>
              </a:tr>
              <a:tr h="78408">
                <a:tc>
                  <a:txBody>
                    <a:bodyPr/>
                    <a:lstStyle/>
                    <a:p>
                      <a:pPr algn="ctr" fontAlgn="t"/>
                      <a:r>
                        <a:rPr lang="en-US" sz="1200" b="0" i="0" u="none" strike="noStrike" dirty="0">
                          <a:solidFill>
                            <a:srgbClr val="000000"/>
                          </a:solidFill>
                          <a:effectLst/>
                          <a:latin typeface="+mj-lt"/>
                        </a:rPr>
                        <a:t>33</a:t>
                      </a:r>
                    </a:p>
                  </a:txBody>
                  <a:tcPr marL="2361" marR="2361" marT="2361"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r>
                        <a:rPr lang="en-US" sz="1200" b="0" i="0" u="none" strike="noStrike">
                          <a:solidFill>
                            <a:srgbClr val="000000"/>
                          </a:solidFill>
                          <a:effectLst/>
                          <a:latin typeface="+mj-lt"/>
                        </a:rPr>
                        <a:t>Gautam Solar Pvt. Ltd.</a:t>
                      </a:r>
                    </a:p>
                  </a:txBody>
                  <a:tcPr marL="2361" marR="2361" marT="2361" marB="0">
                    <a:lnL w="1270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110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6960427"/>
                  </a:ext>
                </a:extLst>
              </a:tr>
              <a:tr h="78408">
                <a:tc>
                  <a:txBody>
                    <a:bodyPr/>
                    <a:lstStyle/>
                    <a:p>
                      <a:pPr algn="ctr" fontAlgn="t"/>
                      <a:r>
                        <a:rPr lang="en-US" sz="1200" b="0" i="0" u="none" strike="noStrike">
                          <a:solidFill>
                            <a:srgbClr val="000000"/>
                          </a:solidFill>
                          <a:effectLst/>
                          <a:latin typeface="+mj-lt"/>
                        </a:rPr>
                        <a:t>34</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Solarium Green Energy LLP.</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486757"/>
                  </a:ext>
                </a:extLst>
              </a:tr>
              <a:tr h="78408">
                <a:tc>
                  <a:txBody>
                    <a:bodyPr/>
                    <a:lstStyle/>
                    <a:p>
                      <a:pPr algn="ctr" fontAlgn="t"/>
                      <a:r>
                        <a:rPr lang="en-US" sz="1200" b="0" i="0" u="none" strike="noStrike">
                          <a:solidFill>
                            <a:srgbClr val="000000"/>
                          </a:solidFill>
                          <a:effectLst/>
                          <a:latin typeface="+mj-lt"/>
                        </a:rPr>
                        <a:t>35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Novasys Greenergy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0523343"/>
                  </a:ext>
                </a:extLst>
              </a:tr>
              <a:tr h="78408">
                <a:tc>
                  <a:txBody>
                    <a:bodyPr/>
                    <a:lstStyle/>
                    <a:p>
                      <a:pPr algn="ctr" fontAlgn="t"/>
                      <a:r>
                        <a:rPr lang="en-US" sz="1200" b="0" i="0" u="none" strike="noStrike">
                          <a:solidFill>
                            <a:srgbClr val="000000"/>
                          </a:solidFill>
                          <a:effectLst/>
                          <a:latin typeface="+mj-lt"/>
                        </a:rPr>
                        <a:t>36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Pahal Solar</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9663067"/>
                  </a:ext>
                </a:extLst>
              </a:tr>
              <a:tr h="78408">
                <a:tc>
                  <a:txBody>
                    <a:bodyPr/>
                    <a:lstStyle/>
                    <a:p>
                      <a:pPr algn="ctr" fontAlgn="t"/>
                      <a:r>
                        <a:rPr lang="en-US" sz="1200" b="0" i="0" u="none" strike="noStrike">
                          <a:solidFill>
                            <a:srgbClr val="000000"/>
                          </a:solidFill>
                          <a:effectLst/>
                          <a:latin typeface="+mj-lt"/>
                        </a:rPr>
                        <a:t>37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Pixon Green 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355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2284004"/>
                  </a:ext>
                </a:extLst>
              </a:tr>
              <a:tr h="78408">
                <a:tc>
                  <a:txBody>
                    <a:bodyPr/>
                    <a:lstStyle/>
                    <a:p>
                      <a:pPr algn="ctr" fontAlgn="t"/>
                      <a:r>
                        <a:rPr lang="en-US" sz="1200" b="0" i="0" u="none" strike="noStrike">
                          <a:solidFill>
                            <a:srgbClr val="000000"/>
                          </a:solidFill>
                          <a:effectLst/>
                          <a:latin typeface="+mj-lt"/>
                        </a:rPr>
                        <a:t>38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t"/>
                      <a:r>
                        <a:rPr lang="en-US" sz="1200" b="0" i="0" u="none" strike="noStrike">
                          <a:solidFill>
                            <a:srgbClr val="000000"/>
                          </a:solidFill>
                          <a:effectLst/>
                          <a:latin typeface="+mj-lt"/>
                        </a:rPr>
                        <a:t>Alpex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t"/>
                      <a:r>
                        <a:rPr lang="en-US" sz="1200" b="0" i="0" u="none" strike="noStrike">
                          <a:solidFill>
                            <a:srgbClr val="000000"/>
                          </a:solidFill>
                          <a:effectLst/>
                          <a:latin typeface="+mj-lt"/>
                        </a:rPr>
                        <a:t>240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47603213"/>
                  </a:ext>
                </a:extLst>
              </a:tr>
              <a:tr h="78408">
                <a:tc>
                  <a:txBody>
                    <a:bodyPr/>
                    <a:lstStyle/>
                    <a:p>
                      <a:pPr algn="ctr" fontAlgn="t"/>
                      <a:r>
                        <a:rPr lang="en-US" sz="1200" b="0" i="0" u="none" strike="noStrike">
                          <a:solidFill>
                            <a:srgbClr val="000000"/>
                          </a:solidFill>
                          <a:effectLst/>
                          <a:latin typeface="+mj-lt"/>
                        </a:rPr>
                        <a:t>39</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Vikram Solar Ltd. (Chennai, Kanchipuram, Tamil Nadu Plant)</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972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2654871"/>
                  </a:ext>
                </a:extLst>
              </a:tr>
              <a:tr h="78408">
                <a:tc>
                  <a:txBody>
                    <a:bodyPr/>
                    <a:lstStyle/>
                    <a:p>
                      <a:pPr algn="ctr" fontAlgn="t"/>
                      <a:r>
                        <a:rPr lang="en-US" sz="1200" b="0" i="0" u="none" strike="noStrike">
                          <a:solidFill>
                            <a:srgbClr val="000000"/>
                          </a:solidFill>
                          <a:effectLst/>
                          <a:latin typeface="+mj-lt"/>
                        </a:rPr>
                        <a:t>40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Contendre Greenergy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9764874"/>
                  </a:ext>
                </a:extLst>
              </a:tr>
              <a:tr h="78408">
                <a:tc>
                  <a:txBody>
                    <a:bodyPr/>
                    <a:lstStyle/>
                    <a:p>
                      <a:pPr algn="ctr" fontAlgn="t"/>
                      <a:r>
                        <a:rPr lang="en-US" sz="1200" b="0" i="0" u="none" strike="noStrike">
                          <a:solidFill>
                            <a:srgbClr val="000000"/>
                          </a:solidFill>
                          <a:effectLst/>
                          <a:latin typeface="+mj-lt"/>
                        </a:rPr>
                        <a:t>41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Ritika Systems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028501"/>
                  </a:ext>
                </a:extLst>
              </a:tr>
              <a:tr h="78408">
                <a:tc>
                  <a:txBody>
                    <a:bodyPr/>
                    <a:lstStyle/>
                    <a:p>
                      <a:pPr algn="ctr" fontAlgn="t"/>
                      <a:r>
                        <a:rPr lang="en-US" sz="1200" b="0" i="0" u="none" strike="noStrike">
                          <a:solidFill>
                            <a:srgbClr val="000000"/>
                          </a:solidFill>
                          <a:effectLst/>
                          <a:latin typeface="+mj-lt"/>
                        </a:rPr>
                        <a:t>42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ECE (India) Energies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5828319"/>
                  </a:ext>
                </a:extLst>
              </a:tr>
              <a:tr h="78408">
                <a:tc>
                  <a:txBody>
                    <a:bodyPr/>
                    <a:lstStyle/>
                    <a:p>
                      <a:pPr algn="ctr" fontAlgn="t"/>
                      <a:r>
                        <a:rPr lang="en-US" sz="1200" b="0" i="0" u="none" strike="noStrike">
                          <a:solidFill>
                            <a:srgbClr val="000000"/>
                          </a:solidFill>
                          <a:effectLst/>
                          <a:latin typeface="+mj-lt"/>
                        </a:rPr>
                        <a:t>43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nl-NL" sz="1200" b="0" i="0" u="none" strike="noStrike">
                          <a:solidFill>
                            <a:srgbClr val="000000"/>
                          </a:solidFill>
                          <a:effectLst/>
                          <a:latin typeface="+mj-lt"/>
                        </a:rPr>
                        <a:t>M/s. Rayzon Green Energies.</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8684680"/>
                  </a:ext>
                </a:extLst>
              </a:tr>
              <a:tr h="78408">
                <a:tc>
                  <a:txBody>
                    <a:bodyPr/>
                    <a:lstStyle/>
                    <a:p>
                      <a:pPr algn="ctr" fontAlgn="t"/>
                      <a:r>
                        <a:rPr lang="en-US" sz="1200" b="0" i="0" u="none" strike="noStrike">
                          <a:solidFill>
                            <a:srgbClr val="000000"/>
                          </a:solidFill>
                          <a:effectLst/>
                          <a:latin typeface="+mj-lt"/>
                        </a:rPr>
                        <a:t>44</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Lubi Electronics.</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125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1424273"/>
                  </a:ext>
                </a:extLst>
              </a:tr>
              <a:tr h="78408">
                <a:tc>
                  <a:txBody>
                    <a:bodyPr/>
                    <a:lstStyle/>
                    <a:p>
                      <a:pPr algn="ctr" fontAlgn="t"/>
                      <a:r>
                        <a:rPr lang="en-US" sz="1200" b="0" i="0" u="none" strike="noStrike">
                          <a:solidFill>
                            <a:srgbClr val="000000"/>
                          </a:solidFill>
                          <a:effectLst/>
                          <a:latin typeface="+mj-lt"/>
                        </a:rPr>
                        <a:t>45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nl-NL" sz="1200" b="0" i="0" u="none" strike="noStrike">
                          <a:solidFill>
                            <a:srgbClr val="000000"/>
                          </a:solidFill>
                          <a:effectLst/>
                          <a:latin typeface="+mj-lt"/>
                        </a:rPr>
                        <a:t>M/s. Kosol Energie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171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7001431"/>
                  </a:ext>
                </a:extLst>
              </a:tr>
              <a:tr h="78408">
                <a:tc>
                  <a:txBody>
                    <a:bodyPr/>
                    <a:lstStyle/>
                    <a:p>
                      <a:pPr algn="ctr" fontAlgn="t"/>
                      <a:r>
                        <a:rPr lang="en-US" sz="1200" b="0" i="0" u="none" strike="noStrike">
                          <a:solidFill>
                            <a:srgbClr val="000000"/>
                          </a:solidFill>
                          <a:effectLst/>
                          <a:latin typeface="+mj-lt"/>
                        </a:rPr>
                        <a:t>46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Citizen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9311521"/>
                  </a:ext>
                </a:extLst>
              </a:tr>
              <a:tr h="78408">
                <a:tc>
                  <a:txBody>
                    <a:bodyPr/>
                    <a:lstStyle/>
                    <a:p>
                      <a:pPr algn="ctr" fontAlgn="t"/>
                      <a:r>
                        <a:rPr lang="en-US" sz="1200" b="0" i="0" u="none" strike="noStrike">
                          <a:solidFill>
                            <a:srgbClr val="000000"/>
                          </a:solidFill>
                          <a:effectLst/>
                          <a:latin typeface="+mj-lt"/>
                        </a:rPr>
                        <a:t>47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The Wolt Techniques</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1343772"/>
                  </a:ext>
                </a:extLst>
              </a:tr>
              <a:tr h="78408">
                <a:tc>
                  <a:txBody>
                    <a:bodyPr/>
                    <a:lstStyle/>
                    <a:p>
                      <a:pPr algn="ctr" fontAlgn="t"/>
                      <a:r>
                        <a:rPr lang="en-US" sz="1200" b="0" i="0" u="none" strike="noStrike">
                          <a:solidFill>
                            <a:srgbClr val="000000"/>
                          </a:solidFill>
                          <a:effectLst/>
                          <a:latin typeface="+mj-lt"/>
                        </a:rPr>
                        <a:t>48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t"/>
                      <a:r>
                        <a:rPr lang="nb-NO" sz="1200" b="0" i="0" u="none" strike="noStrike">
                          <a:solidFill>
                            <a:srgbClr val="000000"/>
                          </a:solidFill>
                          <a:effectLst/>
                          <a:latin typeface="+mj-lt"/>
                        </a:rPr>
                        <a:t>M/s. Redren Energy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t"/>
                      <a:r>
                        <a:rPr lang="en-US" sz="1200" b="0" i="0" u="none" strike="noStrike">
                          <a:solidFill>
                            <a:srgbClr val="000000"/>
                          </a:solidFill>
                          <a:effectLst/>
                          <a:latin typeface="+mj-lt"/>
                        </a:rPr>
                        <a:t>71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131628031"/>
                  </a:ext>
                </a:extLst>
              </a:tr>
              <a:tr h="78408">
                <a:tc>
                  <a:txBody>
                    <a:bodyPr/>
                    <a:lstStyle/>
                    <a:p>
                      <a:pPr algn="ctr" fontAlgn="t"/>
                      <a:r>
                        <a:rPr lang="en-US" sz="1200" b="0" i="0" u="none" strike="noStrike">
                          <a:solidFill>
                            <a:srgbClr val="000000"/>
                          </a:solidFill>
                          <a:effectLst/>
                          <a:latin typeface="+mj-lt"/>
                        </a:rPr>
                        <a:t>49</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sv-SE" sz="1200" b="0" i="0" u="none" strike="noStrike">
                          <a:solidFill>
                            <a:srgbClr val="000000"/>
                          </a:solidFill>
                          <a:effectLst/>
                          <a:latin typeface="+mj-lt"/>
                        </a:rPr>
                        <a:t>M/s. Nyalkaran Energy LLP</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6100643"/>
                  </a:ext>
                </a:extLst>
              </a:tr>
              <a:tr h="78408">
                <a:tc>
                  <a:txBody>
                    <a:bodyPr/>
                    <a:lstStyle/>
                    <a:p>
                      <a:pPr algn="ctr" fontAlgn="t"/>
                      <a:r>
                        <a:rPr lang="en-US" sz="1200" b="0" i="0" u="none" strike="noStrike">
                          <a:solidFill>
                            <a:srgbClr val="000000"/>
                          </a:solidFill>
                          <a:effectLst/>
                          <a:latin typeface="+mj-lt"/>
                        </a:rPr>
                        <a:t>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JJ PV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6102260"/>
                  </a:ext>
                </a:extLst>
              </a:tr>
              <a:tr h="78408">
                <a:tc>
                  <a:txBody>
                    <a:bodyPr/>
                    <a:lstStyle/>
                    <a:p>
                      <a:pPr algn="ctr" fontAlgn="t"/>
                      <a:r>
                        <a:rPr lang="en-US" sz="1200" b="0" i="0" u="none" strike="noStrike">
                          <a:solidFill>
                            <a:srgbClr val="000000"/>
                          </a:solidFill>
                          <a:effectLst/>
                          <a:latin typeface="+mj-lt"/>
                        </a:rPr>
                        <a:t>51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Premier Energies Photovoltaic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711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2451155"/>
                  </a:ext>
                </a:extLst>
              </a:tr>
              <a:tr h="78408">
                <a:tc>
                  <a:txBody>
                    <a:bodyPr/>
                    <a:lstStyle/>
                    <a:p>
                      <a:pPr algn="ctr" fontAlgn="t"/>
                      <a:r>
                        <a:rPr lang="en-US" sz="1200" b="0" i="0" u="none" strike="noStrike" dirty="0">
                          <a:solidFill>
                            <a:srgbClr val="000000"/>
                          </a:solidFill>
                          <a:effectLst/>
                          <a:latin typeface="+mj-lt"/>
                        </a:rPr>
                        <a:t>52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a:solidFill>
                            <a:srgbClr val="000000"/>
                          </a:solidFill>
                          <a:effectLst/>
                          <a:latin typeface="+mj-lt"/>
                        </a:rPr>
                        <a:t>M/s. Sri Savitr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68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455490"/>
                  </a:ext>
                </a:extLst>
              </a:tr>
              <a:tr h="78408">
                <a:tc gridSpan="2">
                  <a:txBody>
                    <a:bodyPr/>
                    <a:lstStyle/>
                    <a:p>
                      <a:pPr algn="ctr" fontAlgn="b"/>
                      <a:r>
                        <a:rPr lang="en-US" sz="1200" b="1" i="0" u="none" strike="noStrike" dirty="0">
                          <a:solidFill>
                            <a:srgbClr val="000000"/>
                          </a:solidFill>
                          <a:effectLst/>
                          <a:latin typeface="+mj-lt"/>
                        </a:rPr>
                        <a:t>Subtotal (MW)</a:t>
                      </a:r>
                    </a:p>
                  </a:txBody>
                  <a:tcPr marL="2361" marR="2361" marT="236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b"/>
                      <a:r>
                        <a:rPr lang="en-US" sz="1200" b="1" i="0" u="none" strike="noStrike" dirty="0">
                          <a:solidFill>
                            <a:srgbClr val="000000"/>
                          </a:solidFill>
                          <a:effectLst/>
                          <a:latin typeface="+mj-lt"/>
                        </a:rPr>
                        <a:t>3,886</a:t>
                      </a:r>
                    </a:p>
                  </a:txBody>
                  <a:tcPr marL="2361" marR="2361" marT="236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4680411"/>
                  </a:ext>
                </a:extLst>
              </a:tr>
            </a:tbl>
          </a:graphicData>
        </a:graphic>
      </p:graphicFrame>
      <p:sp>
        <p:nvSpPr>
          <p:cNvPr id="18" name="Arrow: Right 17">
            <a:hlinkClick r:id="rId2" action="ppaction://hlinksldjump"/>
            <a:extLst>
              <a:ext uri="{FF2B5EF4-FFF2-40B4-BE49-F238E27FC236}">
                <a16:creationId xmlns:a16="http://schemas.microsoft.com/office/drawing/2014/main" id="{343C80B5-2E84-424F-949F-3F27D2CC5D06}"/>
              </a:ext>
            </a:extLst>
          </p:cNvPr>
          <p:cNvSpPr/>
          <p:nvPr/>
        </p:nvSpPr>
        <p:spPr bwMode="gray">
          <a:xfrm flipH="1">
            <a:off x="8518891" y="6532222"/>
            <a:ext cx="2540995" cy="348343"/>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3" action="ppaction://hlinksldjump"/>
              </a:rPr>
              <a:t>BACK TO MAIN SLIDE</a:t>
            </a:r>
            <a:endParaRPr lang="en-US" sz="1200" b="1" dirty="0">
              <a:solidFill>
                <a:schemeClr val="bg1"/>
              </a:solidFill>
            </a:endParaRPr>
          </a:p>
        </p:txBody>
      </p:sp>
    </p:spTree>
    <p:extLst>
      <p:ext uri="{BB962C8B-B14F-4D97-AF65-F5344CB8AC3E}">
        <p14:creationId xmlns:p14="http://schemas.microsoft.com/office/powerpoint/2010/main" val="174135353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7A: List of Module Manufacturers with Capacity as per latest ALMM list (Aug 2022) (3/3)</a:t>
            </a:r>
            <a:endParaRPr lang="en-GB" sz="2400" b="1" dirty="0">
              <a:latin typeface="Calibri" panose="020F0502020204030204" pitchFamily="34" charset="0"/>
            </a:endParaRPr>
          </a:p>
        </p:txBody>
      </p:sp>
      <p:graphicFrame>
        <p:nvGraphicFramePr>
          <p:cNvPr id="5" name="Table 4">
            <a:extLst>
              <a:ext uri="{FF2B5EF4-FFF2-40B4-BE49-F238E27FC236}">
                <a16:creationId xmlns:a16="http://schemas.microsoft.com/office/drawing/2014/main" id="{8B02F020-26C6-461A-9505-838BC34DA720}"/>
              </a:ext>
            </a:extLst>
          </p:cNvPr>
          <p:cNvGraphicFramePr>
            <a:graphicFrameLocks noGrp="1"/>
          </p:cNvGraphicFramePr>
          <p:nvPr>
            <p:extLst>
              <p:ext uri="{D42A27DB-BD31-4B8C-83A1-F6EECF244321}">
                <p14:modId xmlns:p14="http://schemas.microsoft.com/office/powerpoint/2010/main" val="3228176264"/>
              </p:ext>
            </p:extLst>
          </p:nvPr>
        </p:nvGraphicFramePr>
        <p:xfrm>
          <a:off x="696686" y="979714"/>
          <a:ext cx="10744200" cy="3331977"/>
        </p:xfrm>
        <a:graphic>
          <a:graphicData uri="http://schemas.openxmlformats.org/drawingml/2006/table">
            <a:tbl>
              <a:tblPr/>
              <a:tblGrid>
                <a:gridCol w="712627">
                  <a:extLst>
                    <a:ext uri="{9D8B030D-6E8A-4147-A177-3AD203B41FA5}">
                      <a16:colId xmlns:a16="http://schemas.microsoft.com/office/drawing/2014/main" val="2247217353"/>
                    </a:ext>
                  </a:extLst>
                </a:gridCol>
                <a:gridCol w="6413629">
                  <a:extLst>
                    <a:ext uri="{9D8B030D-6E8A-4147-A177-3AD203B41FA5}">
                      <a16:colId xmlns:a16="http://schemas.microsoft.com/office/drawing/2014/main" val="3633365115"/>
                    </a:ext>
                  </a:extLst>
                </a:gridCol>
                <a:gridCol w="3617944">
                  <a:extLst>
                    <a:ext uri="{9D8B030D-6E8A-4147-A177-3AD203B41FA5}">
                      <a16:colId xmlns:a16="http://schemas.microsoft.com/office/drawing/2014/main" val="515161889"/>
                    </a:ext>
                  </a:extLst>
                </a:gridCol>
              </a:tblGrid>
              <a:tr h="113557">
                <a:tc>
                  <a:txBody>
                    <a:bodyPr/>
                    <a:lstStyle/>
                    <a:p>
                      <a:pPr algn="ctr" fontAlgn="ctr"/>
                      <a:r>
                        <a:rPr lang="en-US" sz="1200" b="1" i="0" u="none" strike="noStrike">
                          <a:solidFill>
                            <a:srgbClr val="FFFFFF"/>
                          </a:solidFill>
                          <a:effectLst/>
                          <a:latin typeface="+mj-lt"/>
                        </a:rPr>
                        <a:t>S. No.</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Name of the Manufacturer</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a:solidFill>
                            <a:srgbClr val="FFFFFF"/>
                          </a:solidFill>
                          <a:effectLst/>
                          <a:latin typeface="+mj-lt"/>
                        </a:rPr>
                        <a:t>Enlisted Capacity (MWs /</a:t>
                      </a:r>
                      <a:br>
                        <a:rPr lang="en-US" sz="1200" b="1" i="0" u="none" strike="noStrike">
                          <a:solidFill>
                            <a:srgbClr val="FFFFFF"/>
                          </a:solidFill>
                          <a:effectLst/>
                          <a:latin typeface="+mj-lt"/>
                        </a:rPr>
                      </a:br>
                      <a:r>
                        <a:rPr lang="en-US" sz="1200" b="1" i="0" u="none" strike="noStrike">
                          <a:solidFill>
                            <a:srgbClr val="FFFFFF"/>
                          </a:solidFill>
                          <a:effectLst/>
                          <a:latin typeface="+mj-lt"/>
                        </a:rPr>
                        <a:t>Year)</a:t>
                      </a:r>
                    </a:p>
                  </a:txBody>
                  <a:tcPr marL="2361" marR="2361" marT="23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959350628"/>
                  </a:ext>
                </a:extLst>
              </a:tr>
              <a:tr h="78408">
                <a:tc>
                  <a:txBody>
                    <a:bodyPr/>
                    <a:lstStyle/>
                    <a:p>
                      <a:pPr algn="ctr" fontAlgn="t"/>
                      <a:r>
                        <a:rPr lang="en-US" sz="1200" b="0" i="0" u="none" strike="noStrike">
                          <a:solidFill>
                            <a:srgbClr val="000000"/>
                          </a:solidFill>
                          <a:effectLst/>
                          <a:latin typeface="+mj-lt"/>
                        </a:rPr>
                        <a:t>53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Novus Green Energy Systems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a:solidFill>
                            <a:srgbClr val="000000"/>
                          </a:solidFill>
                          <a:effectLst/>
                          <a:latin typeface="+mj-lt"/>
                        </a:rPr>
                        <a:t>215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3500389"/>
                  </a:ext>
                </a:extLst>
              </a:tr>
              <a:tr h="78408">
                <a:tc>
                  <a:txBody>
                    <a:bodyPr/>
                    <a:lstStyle/>
                    <a:p>
                      <a:pPr algn="ctr" fontAlgn="t"/>
                      <a:r>
                        <a:rPr lang="en-US" sz="1200" b="0" i="0" u="none" strike="noStrike">
                          <a:solidFill>
                            <a:srgbClr val="000000"/>
                          </a:solidFill>
                          <a:effectLst/>
                          <a:latin typeface="+mj-lt"/>
                        </a:rPr>
                        <a:t>54</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Sirius Solar Energy Systems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0607206"/>
                  </a:ext>
                </a:extLst>
              </a:tr>
              <a:tr h="78408">
                <a:tc>
                  <a:txBody>
                    <a:bodyPr/>
                    <a:lstStyle/>
                    <a:p>
                      <a:pPr algn="ctr" fontAlgn="t"/>
                      <a:r>
                        <a:rPr lang="en-US" sz="1200" b="0" i="0" u="none" strike="noStrike">
                          <a:solidFill>
                            <a:srgbClr val="000000"/>
                          </a:solidFill>
                          <a:effectLst/>
                          <a:latin typeface="+mj-lt"/>
                        </a:rPr>
                        <a:t>55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Tata Power Solar Systems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1007528"/>
                  </a:ext>
                </a:extLst>
              </a:tr>
              <a:tr h="78408">
                <a:tc>
                  <a:txBody>
                    <a:bodyPr/>
                    <a:lstStyle/>
                    <a:p>
                      <a:pPr algn="ctr" fontAlgn="t"/>
                      <a:r>
                        <a:rPr lang="en-US" sz="1200" b="0" i="0" u="none" strike="noStrike">
                          <a:solidFill>
                            <a:srgbClr val="000000"/>
                          </a:solidFill>
                          <a:effectLst/>
                          <a:latin typeface="+mj-lt"/>
                        </a:rPr>
                        <a:t>56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Integrated Batteries India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35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5695069"/>
                  </a:ext>
                </a:extLst>
              </a:tr>
              <a:tr h="78408">
                <a:tc>
                  <a:txBody>
                    <a:bodyPr/>
                    <a:lstStyle/>
                    <a:p>
                      <a:pPr algn="ctr" fontAlgn="t"/>
                      <a:r>
                        <a:rPr lang="en-US" sz="1200" b="0" i="0" u="none" strike="noStrike">
                          <a:solidFill>
                            <a:srgbClr val="000000"/>
                          </a:solidFill>
                          <a:effectLst/>
                          <a:latin typeface="+mj-lt"/>
                        </a:rPr>
                        <a:t>57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Bluebird Solar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8403586"/>
                  </a:ext>
                </a:extLst>
              </a:tr>
              <a:tr h="78408">
                <a:tc>
                  <a:txBody>
                    <a:bodyPr/>
                    <a:lstStyle/>
                    <a:p>
                      <a:pPr algn="ctr" fontAlgn="t"/>
                      <a:r>
                        <a:rPr lang="en-US" sz="1200" b="0" i="0" u="none" strike="noStrike">
                          <a:solidFill>
                            <a:srgbClr val="000000"/>
                          </a:solidFill>
                          <a:effectLst/>
                          <a:latin typeface="+mj-lt"/>
                        </a:rPr>
                        <a:t>58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Shanti Solar</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6072598"/>
                  </a:ext>
                </a:extLst>
              </a:tr>
              <a:tr h="78408">
                <a:tc>
                  <a:txBody>
                    <a:bodyPr/>
                    <a:lstStyle/>
                    <a:p>
                      <a:pPr algn="ctr" fontAlgn="t"/>
                      <a:r>
                        <a:rPr lang="en-US" sz="1200" b="0" i="0" u="none" strike="noStrike">
                          <a:solidFill>
                            <a:srgbClr val="000000"/>
                          </a:solidFill>
                          <a:effectLst/>
                          <a:latin typeface="+mj-lt"/>
                        </a:rPr>
                        <a:t>59</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Rajasthan Electronics and Instruments Limited (REIL)</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5772204"/>
                  </a:ext>
                </a:extLst>
              </a:tr>
              <a:tr h="78408">
                <a:tc>
                  <a:txBody>
                    <a:bodyPr/>
                    <a:lstStyle/>
                    <a:p>
                      <a:pPr algn="ctr" fontAlgn="t"/>
                      <a:r>
                        <a:rPr lang="en-US" sz="1200" b="0" i="0" u="none" strike="noStrike">
                          <a:solidFill>
                            <a:srgbClr val="000000"/>
                          </a:solidFill>
                          <a:effectLst/>
                          <a:latin typeface="+mj-lt"/>
                        </a:rPr>
                        <a:t>60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Neety Euro Asia Solar Energy</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28</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0554487"/>
                  </a:ext>
                </a:extLst>
              </a:tr>
              <a:tr h="78408">
                <a:tc>
                  <a:txBody>
                    <a:bodyPr/>
                    <a:lstStyle/>
                    <a:p>
                      <a:pPr algn="ctr" fontAlgn="t"/>
                      <a:r>
                        <a:rPr lang="en-US" sz="1200" b="0" i="0" u="none" strike="noStrike">
                          <a:solidFill>
                            <a:srgbClr val="000000"/>
                          </a:solidFill>
                          <a:effectLst/>
                          <a:latin typeface="+mj-lt"/>
                        </a:rPr>
                        <a:t>61</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Shivam Photovoltaics Private Limited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30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2320001"/>
                  </a:ext>
                </a:extLst>
              </a:tr>
              <a:tr h="78408">
                <a:tc>
                  <a:txBody>
                    <a:bodyPr/>
                    <a:lstStyle/>
                    <a:p>
                      <a:pPr algn="ctr" fontAlgn="t"/>
                      <a:r>
                        <a:rPr lang="en-US" sz="1200" b="0" i="0" u="none" strike="noStrike">
                          <a:solidFill>
                            <a:srgbClr val="000000"/>
                          </a:solidFill>
                          <a:effectLst/>
                          <a:latin typeface="+mj-lt"/>
                        </a:rPr>
                        <a:t>62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Sahaj Solar Private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100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6805197"/>
                  </a:ext>
                </a:extLst>
              </a:tr>
              <a:tr h="78408">
                <a:tc>
                  <a:txBody>
                    <a:bodyPr/>
                    <a:lstStyle/>
                    <a:p>
                      <a:pPr algn="ctr" fontAlgn="t"/>
                      <a:r>
                        <a:rPr lang="en-US" sz="1200" b="0" i="0" u="none" strike="noStrike">
                          <a:solidFill>
                            <a:srgbClr val="000000"/>
                          </a:solidFill>
                          <a:effectLst/>
                          <a:latin typeface="+mj-lt"/>
                        </a:rPr>
                        <a:t>63</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Raajratna Ventures Limited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96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4221456"/>
                  </a:ext>
                </a:extLst>
              </a:tr>
              <a:tr h="78408">
                <a:tc>
                  <a:txBody>
                    <a:bodyPr/>
                    <a:lstStyle/>
                    <a:p>
                      <a:pPr algn="ctr" fontAlgn="t"/>
                      <a:r>
                        <a:rPr lang="en-US" sz="1200" b="0" i="0" u="none" strike="noStrike">
                          <a:solidFill>
                            <a:srgbClr val="000000"/>
                          </a:solidFill>
                          <a:effectLst/>
                          <a:latin typeface="+mj-lt"/>
                        </a:rPr>
                        <a:t>64</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sv-SE" sz="1200" b="0" i="0" u="none" strike="noStrike">
                          <a:solidFill>
                            <a:srgbClr val="000000"/>
                          </a:solidFill>
                          <a:effectLst/>
                          <a:latin typeface="+mj-lt"/>
                        </a:rPr>
                        <a:t>M/s. Mundra Solar Energy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562</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1429973"/>
                  </a:ext>
                </a:extLst>
              </a:tr>
              <a:tr h="78408">
                <a:tc>
                  <a:txBody>
                    <a:bodyPr/>
                    <a:lstStyle/>
                    <a:p>
                      <a:pPr algn="ctr" fontAlgn="t"/>
                      <a:r>
                        <a:rPr lang="en-US" sz="1200" b="0" i="0" u="none" strike="noStrike">
                          <a:solidFill>
                            <a:srgbClr val="000000"/>
                          </a:solidFill>
                          <a:effectLst/>
                          <a:latin typeface="+mj-lt"/>
                        </a:rPr>
                        <a:t>65</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mj-lt"/>
                        </a:rPr>
                        <a:t>M/s. Renewsys India Pvt. Ltd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mj-lt"/>
                        </a:rPr>
                        <a:t>487</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2114849"/>
                  </a:ext>
                </a:extLst>
              </a:tr>
              <a:tr h="78408">
                <a:tc>
                  <a:txBody>
                    <a:bodyPr/>
                    <a:lstStyle/>
                    <a:p>
                      <a:pPr algn="ctr" fontAlgn="t"/>
                      <a:r>
                        <a:rPr lang="en-US" sz="1200" b="0" i="0" u="none" strike="noStrike">
                          <a:solidFill>
                            <a:srgbClr val="000000"/>
                          </a:solidFill>
                          <a:effectLst/>
                          <a:latin typeface="+mj-lt"/>
                        </a:rPr>
                        <a:t>66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a:solidFill>
                            <a:srgbClr val="000000"/>
                          </a:solidFill>
                          <a:effectLst/>
                          <a:latin typeface="+mj-lt"/>
                        </a:rPr>
                        <a:t>M/s. </a:t>
                      </a:r>
                      <a:r>
                        <a:rPr lang="en-US" sz="1200" b="0" i="0" u="none" strike="noStrike" dirty="0" err="1">
                          <a:solidFill>
                            <a:srgbClr val="000000"/>
                          </a:solidFill>
                          <a:effectLst/>
                          <a:latin typeface="+mj-lt"/>
                        </a:rPr>
                        <a:t>Waaree</a:t>
                      </a:r>
                      <a:r>
                        <a:rPr lang="en-US" sz="1200" b="0" i="0" u="none" strike="noStrike" dirty="0">
                          <a:solidFill>
                            <a:srgbClr val="000000"/>
                          </a:solidFill>
                          <a:effectLst/>
                          <a:latin typeface="+mj-lt"/>
                        </a:rPr>
                        <a:t> Energies Limited</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a:solidFill>
                            <a:srgbClr val="000000"/>
                          </a:solidFill>
                          <a:effectLst/>
                          <a:latin typeface="+mj-lt"/>
                        </a:rPr>
                        <a:t>2,650</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9887740"/>
                  </a:ext>
                </a:extLst>
              </a:tr>
              <a:tr h="78408">
                <a:tc gridSpan="2">
                  <a:txBody>
                    <a:bodyPr/>
                    <a:lstStyle/>
                    <a:p>
                      <a:pPr algn="ctr" fontAlgn="t"/>
                      <a:r>
                        <a:rPr lang="en-US" sz="1200" b="1" i="0" u="none" strike="noStrike" dirty="0">
                          <a:solidFill>
                            <a:srgbClr val="000000"/>
                          </a:solidFill>
                          <a:effectLst/>
                          <a:latin typeface="+mj-lt"/>
                        </a:rPr>
                        <a:t>Sub-total (MW)</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t"/>
                      <a:endParaRPr lang="en-US" sz="1200" b="0" i="0" u="none" strike="noStrike" dirty="0">
                        <a:solidFill>
                          <a:srgbClr val="000000"/>
                        </a:solidFill>
                        <a:effectLst/>
                        <a:latin typeface="+mj-lt"/>
                      </a:endParaRP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1" i="0" u="none" strike="noStrike" dirty="0">
                          <a:solidFill>
                            <a:srgbClr val="000000"/>
                          </a:solidFill>
                          <a:effectLst/>
                          <a:latin typeface="+mj-lt"/>
                        </a:rPr>
                        <a:t>4,416</a:t>
                      </a:r>
                    </a:p>
                  </a:txBody>
                  <a:tcPr marL="2361" marR="2361" marT="23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3587393"/>
                  </a:ext>
                </a:extLst>
              </a:tr>
              <a:tr h="78408">
                <a:tc gridSpan="2">
                  <a:txBody>
                    <a:bodyPr/>
                    <a:lstStyle/>
                    <a:p>
                      <a:pPr algn="ctr" fontAlgn="b"/>
                      <a:r>
                        <a:rPr lang="en-US" sz="1200" b="1" i="0" u="none" strike="noStrike" dirty="0">
                          <a:solidFill>
                            <a:srgbClr val="000000"/>
                          </a:solidFill>
                          <a:effectLst/>
                          <a:latin typeface="+mj-lt"/>
                        </a:rPr>
                        <a:t>Total Module Manufacturing Capacity (MW)</a:t>
                      </a:r>
                    </a:p>
                  </a:txBody>
                  <a:tcPr marL="2361" marR="2361" marT="236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a:txBody>
                    <a:bodyPr/>
                    <a:lstStyle/>
                    <a:p>
                      <a:pPr algn="ctr" fontAlgn="b"/>
                      <a:r>
                        <a:rPr lang="en-US" sz="1200" b="1" i="0" u="none" strike="noStrike" dirty="0">
                          <a:solidFill>
                            <a:srgbClr val="000000"/>
                          </a:solidFill>
                          <a:effectLst/>
                          <a:latin typeface="+mj-lt"/>
                        </a:rPr>
                        <a:t>18,050</a:t>
                      </a:r>
                    </a:p>
                  </a:txBody>
                  <a:tcPr marL="2361" marR="2361" marT="236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84680411"/>
                  </a:ext>
                </a:extLst>
              </a:tr>
            </a:tbl>
          </a:graphicData>
        </a:graphic>
      </p:graphicFrame>
      <p:sp>
        <p:nvSpPr>
          <p:cNvPr id="4" name="Arrow: Right 3">
            <a:hlinkClick r:id="rId2" action="ppaction://hlinksldjump"/>
            <a:extLst>
              <a:ext uri="{FF2B5EF4-FFF2-40B4-BE49-F238E27FC236}">
                <a16:creationId xmlns:a16="http://schemas.microsoft.com/office/drawing/2014/main" id="{9940EB06-E2A9-4D86-9F32-246F2021A8E0}"/>
              </a:ext>
            </a:extLst>
          </p:cNvPr>
          <p:cNvSpPr/>
          <p:nvPr/>
        </p:nvSpPr>
        <p:spPr bwMode="gray">
          <a:xfrm flipH="1">
            <a:off x="7539179" y="5939608"/>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156699362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7B: List of Solar Capacity Awarded since April 2021 (1/3)</a:t>
            </a:r>
            <a:endParaRPr lang="en-GB" sz="2400" b="1" dirty="0">
              <a:latin typeface="Calibri" panose="020F0502020204030204" pitchFamily="34" charset="0"/>
            </a:endParaRPr>
          </a:p>
        </p:txBody>
      </p:sp>
      <p:graphicFrame>
        <p:nvGraphicFramePr>
          <p:cNvPr id="4" name="Table 3">
            <a:extLst>
              <a:ext uri="{FF2B5EF4-FFF2-40B4-BE49-F238E27FC236}">
                <a16:creationId xmlns:a16="http://schemas.microsoft.com/office/drawing/2014/main" id="{937E8006-2983-4914-AA67-6DEC1ECE51EF}"/>
              </a:ext>
            </a:extLst>
          </p:cNvPr>
          <p:cNvGraphicFramePr>
            <a:graphicFrameLocks noGrp="1"/>
          </p:cNvGraphicFramePr>
          <p:nvPr>
            <p:extLst>
              <p:ext uri="{D42A27DB-BD31-4B8C-83A1-F6EECF244321}">
                <p14:modId xmlns:p14="http://schemas.microsoft.com/office/powerpoint/2010/main" val="3045006959"/>
              </p:ext>
            </p:extLst>
          </p:nvPr>
        </p:nvGraphicFramePr>
        <p:xfrm>
          <a:off x="501650" y="601579"/>
          <a:ext cx="11060698" cy="5669280"/>
        </p:xfrm>
        <a:graphic>
          <a:graphicData uri="http://schemas.openxmlformats.org/drawingml/2006/table">
            <a:tbl>
              <a:tblPr/>
              <a:tblGrid>
                <a:gridCol w="3892095">
                  <a:extLst>
                    <a:ext uri="{9D8B030D-6E8A-4147-A177-3AD203B41FA5}">
                      <a16:colId xmlns:a16="http://schemas.microsoft.com/office/drawing/2014/main" val="432392787"/>
                    </a:ext>
                  </a:extLst>
                </a:gridCol>
                <a:gridCol w="3137505">
                  <a:extLst>
                    <a:ext uri="{9D8B030D-6E8A-4147-A177-3AD203B41FA5}">
                      <a16:colId xmlns:a16="http://schemas.microsoft.com/office/drawing/2014/main" val="1885546844"/>
                    </a:ext>
                  </a:extLst>
                </a:gridCol>
                <a:gridCol w="873735">
                  <a:extLst>
                    <a:ext uri="{9D8B030D-6E8A-4147-A177-3AD203B41FA5}">
                      <a16:colId xmlns:a16="http://schemas.microsoft.com/office/drawing/2014/main" val="4139277188"/>
                    </a:ext>
                  </a:extLst>
                </a:gridCol>
                <a:gridCol w="1946046">
                  <a:extLst>
                    <a:ext uri="{9D8B030D-6E8A-4147-A177-3AD203B41FA5}">
                      <a16:colId xmlns:a16="http://schemas.microsoft.com/office/drawing/2014/main" val="3964048936"/>
                    </a:ext>
                  </a:extLst>
                </a:gridCol>
                <a:gridCol w="1211317">
                  <a:extLst>
                    <a:ext uri="{9D8B030D-6E8A-4147-A177-3AD203B41FA5}">
                      <a16:colId xmlns:a16="http://schemas.microsoft.com/office/drawing/2014/main" val="467650003"/>
                    </a:ext>
                  </a:extLst>
                </a:gridCol>
              </a:tblGrid>
              <a:tr h="75661">
                <a:tc>
                  <a:txBody>
                    <a:bodyPr/>
                    <a:lstStyle/>
                    <a:p>
                      <a:pPr algn="ctr" fontAlgn="ctr"/>
                      <a:r>
                        <a:rPr lang="en-US" sz="1200" b="1" i="0" u="none" strike="noStrike">
                          <a:solidFill>
                            <a:srgbClr val="000000"/>
                          </a:solidFill>
                          <a:effectLst/>
                          <a:latin typeface="+mj-lt"/>
                        </a:rPr>
                        <a:t>Tender</a:t>
                      </a:r>
                    </a:p>
                  </a:txBody>
                  <a:tcPr marT="0" marB="0" anchor="ctr">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Bidder</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en-US" sz="1200" b="1" i="0" u="none" strike="noStrike">
                          <a:solidFill>
                            <a:srgbClr val="000000"/>
                          </a:solidFill>
                          <a:effectLst/>
                          <a:latin typeface="+mj-lt"/>
                        </a:rPr>
                        <a:t>Capacity</a:t>
                      </a:r>
                    </a:p>
                  </a:txBody>
                  <a:tcPr marT="0" marB="0" anchor="ctr">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Tariff</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Month of RA</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181464097"/>
                  </a:ext>
                </a:extLst>
              </a:tr>
              <a:tr h="75661">
                <a:tc>
                  <a:txBody>
                    <a:bodyPr/>
                    <a:lstStyle/>
                    <a:p>
                      <a:pPr algn="l" fontAlgn="ctr"/>
                      <a:r>
                        <a:rPr lang="en-US" sz="1200" b="0" i="0" u="none" strike="noStrike">
                          <a:solidFill>
                            <a:srgbClr val="000000"/>
                          </a:solidFill>
                          <a:effectLst/>
                          <a:latin typeface="+mj-lt"/>
                        </a:rPr>
                        <a:t>MAHAGENCO 250 MW Solar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TP Saurya (Tata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May-21</a:t>
                      </a:r>
                    </a:p>
                  </a:txBody>
                  <a:tcPr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9111421"/>
                  </a:ext>
                </a:extLst>
              </a:tr>
              <a:tr h="75661">
                <a:tc>
                  <a:txBody>
                    <a:bodyPr/>
                    <a:lstStyle/>
                    <a:p>
                      <a:pPr algn="l" fontAlgn="ctr"/>
                      <a:r>
                        <a:rPr lang="en-US" sz="1200" b="0" i="0" u="none" strike="noStrike">
                          <a:solidFill>
                            <a:srgbClr val="000000"/>
                          </a:solidFill>
                          <a:effectLst/>
                          <a:latin typeface="+mj-lt"/>
                        </a:rPr>
                        <a:t>GUVNL R/T-X (100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SJVN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2.64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May-21</a:t>
                      </a:r>
                    </a:p>
                  </a:txBody>
                  <a:tcPr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4003631"/>
                  </a:ext>
                </a:extLst>
              </a:tr>
              <a:tr h="75661">
                <a:tc rowSpan="2">
                  <a:txBody>
                    <a:bodyPr/>
                    <a:lstStyle/>
                    <a:p>
                      <a:pPr algn="l" fontAlgn="ctr"/>
                      <a:r>
                        <a:rPr lang="en-US" sz="1200" b="0" i="0" u="none" strike="noStrike" dirty="0">
                          <a:solidFill>
                            <a:srgbClr val="000000"/>
                          </a:solidFill>
                          <a:effectLst/>
                          <a:latin typeface="+mj-lt"/>
                        </a:rPr>
                        <a:t>MSEDCL 500 MW Hybrid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Tata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2.62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1200" b="0" i="0" u="none" strike="noStrike">
                          <a:solidFill>
                            <a:srgbClr val="000000"/>
                          </a:solidFill>
                          <a:effectLst/>
                          <a:latin typeface="+mj-lt"/>
                        </a:rPr>
                        <a:t>Jul-21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4830834"/>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Azure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2.62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79340160"/>
                  </a:ext>
                </a:extLst>
              </a:tr>
              <a:tr h="75661">
                <a:tc rowSpan="2">
                  <a:txBody>
                    <a:bodyPr/>
                    <a:lstStyle/>
                    <a:p>
                      <a:pPr algn="l" fontAlgn="ctr"/>
                      <a:r>
                        <a:rPr lang="en-US" sz="1200" b="0" i="0" u="none" strike="noStrike">
                          <a:solidFill>
                            <a:srgbClr val="000000"/>
                          </a:solidFill>
                          <a:effectLst/>
                          <a:latin typeface="+mj-lt"/>
                        </a:rPr>
                        <a:t>MSEDCL (500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ACME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7">
                  <a:txBody>
                    <a:bodyPr/>
                    <a:lstStyle/>
                    <a:p>
                      <a:pPr algn="ctr" fontAlgn="ctr"/>
                      <a:r>
                        <a:rPr lang="en-US" sz="1200" b="0" i="0" u="none" strike="noStrike">
                          <a:solidFill>
                            <a:srgbClr val="000000"/>
                          </a:solidFill>
                          <a:effectLst/>
                          <a:latin typeface="+mj-lt"/>
                        </a:rPr>
                        <a:t>Jul-21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2207553"/>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ReNew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2680976"/>
                  </a:ext>
                </a:extLst>
              </a:tr>
              <a:tr h="75661">
                <a:tc rowSpan="2">
                  <a:txBody>
                    <a:bodyPr/>
                    <a:lstStyle/>
                    <a:p>
                      <a:pPr algn="l" fontAlgn="ctr"/>
                      <a:r>
                        <a:rPr lang="en-US" sz="1200" b="0" i="0" u="none" strike="noStrike">
                          <a:solidFill>
                            <a:srgbClr val="000000"/>
                          </a:solidFill>
                          <a:effectLst/>
                          <a:latin typeface="+mj-lt"/>
                        </a:rPr>
                        <a:t>RUMSL Agar (550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O2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2.444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407212877"/>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Avaada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2.459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871129720"/>
                  </a:ext>
                </a:extLst>
              </a:tr>
              <a:tr h="75661">
                <a:tc rowSpan="3">
                  <a:txBody>
                    <a:bodyPr/>
                    <a:lstStyle/>
                    <a:p>
                      <a:pPr algn="l" fontAlgn="ctr"/>
                      <a:r>
                        <a:rPr lang="en-US" sz="1200" b="0" i="0" u="none" strike="noStrike">
                          <a:solidFill>
                            <a:srgbClr val="000000"/>
                          </a:solidFill>
                          <a:effectLst/>
                          <a:latin typeface="+mj-lt"/>
                        </a:rPr>
                        <a:t>RUMSL Shahjapur (450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NTPC</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787204401"/>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NTPC</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156089276"/>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Solar Arise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125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2.339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01528403"/>
                  </a:ext>
                </a:extLst>
              </a:tr>
              <a:tr h="75661">
                <a:tc rowSpan="3">
                  <a:txBody>
                    <a:bodyPr/>
                    <a:lstStyle/>
                    <a:p>
                      <a:pPr algn="l" fontAlgn="ctr"/>
                      <a:r>
                        <a:rPr lang="en-US" sz="1200" b="0" i="0" u="none" strike="noStrike">
                          <a:solidFill>
                            <a:srgbClr val="000000"/>
                          </a:solidFill>
                          <a:effectLst/>
                          <a:latin typeface="+mj-lt"/>
                        </a:rPr>
                        <a:t>RUMSL Neemuch (500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Tata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170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j-lt"/>
                        </a:rPr>
                        <a:t>Aug-21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5265161"/>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Tata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160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2.149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125174945"/>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Aljomaih</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170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677928554"/>
                  </a:ext>
                </a:extLst>
              </a:tr>
              <a:tr h="75661">
                <a:tc>
                  <a:txBody>
                    <a:bodyPr/>
                    <a:lstStyle/>
                    <a:p>
                      <a:pPr algn="l" fontAlgn="ctr"/>
                      <a:r>
                        <a:rPr lang="en-US" sz="1200" b="0" i="0" u="none" strike="noStrike">
                          <a:solidFill>
                            <a:srgbClr val="000000"/>
                          </a:solidFill>
                          <a:effectLst/>
                          <a:latin typeface="+mj-lt"/>
                        </a:rPr>
                        <a:t>BREDA 200 MW Solar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SJVN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3.11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Aug-21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3574673"/>
                  </a:ext>
                </a:extLst>
              </a:tr>
              <a:tr h="75661">
                <a:tc rowSpan="4">
                  <a:txBody>
                    <a:bodyPr/>
                    <a:lstStyle/>
                    <a:p>
                      <a:pPr algn="l" fontAlgn="ctr"/>
                      <a:r>
                        <a:rPr lang="fr-FR" sz="1200" b="0" i="0" u="none" strike="noStrike">
                          <a:solidFill>
                            <a:srgbClr val="000000"/>
                          </a:solidFill>
                          <a:effectLst/>
                          <a:latin typeface="+mj-lt"/>
                        </a:rPr>
                        <a:t>SECI 1.2 GW (T-IV) Hybrid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NTPC</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ctr" fontAlgn="ctr"/>
                      <a:r>
                        <a:rPr lang="en-US" sz="1200" b="0" i="0" u="none" strike="noStrike">
                          <a:solidFill>
                            <a:srgbClr val="000000"/>
                          </a:solidFill>
                          <a:effectLst/>
                          <a:latin typeface="+mj-lt"/>
                        </a:rPr>
                        <a:t>Aug-21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5502641"/>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Ayana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847620127"/>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NLC India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75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634294350"/>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Azure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75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681754840"/>
                  </a:ext>
                </a:extLst>
              </a:tr>
              <a:tr h="75661">
                <a:tc rowSpan="5">
                  <a:txBody>
                    <a:bodyPr/>
                    <a:lstStyle/>
                    <a:p>
                      <a:pPr algn="l" fontAlgn="ctr"/>
                      <a:r>
                        <a:rPr lang="it-IT" sz="1200" b="0" i="0" u="none" strike="noStrike">
                          <a:solidFill>
                            <a:srgbClr val="000000"/>
                          </a:solidFill>
                          <a:effectLst/>
                          <a:latin typeface="+mj-lt"/>
                        </a:rPr>
                        <a:t>IREDA 5 GW TRANCHE III</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j-lt"/>
                        </a:rPr>
                        <a:t>SJVN Limited</a:t>
                      </a:r>
                    </a:p>
                  </a:txBody>
                  <a:tcPr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ctr" fontAlgn="ctr"/>
                      <a:r>
                        <a:rPr lang="en-US" sz="1200" b="0" i="0" u="none" strike="noStrike">
                          <a:solidFill>
                            <a:srgbClr val="000000"/>
                          </a:solidFill>
                          <a:effectLst/>
                          <a:latin typeface="+mj-lt"/>
                        </a:rPr>
                        <a:t>Sep-21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5994079"/>
                  </a:ext>
                </a:extLst>
              </a:tr>
              <a:tr h="75661">
                <a:tc vMerge="1">
                  <a:txBody>
                    <a:bodyPr/>
                    <a:lstStyle/>
                    <a:p>
                      <a:endParaRPr lang="en-US"/>
                    </a:p>
                  </a:txBody>
                  <a:tcPr/>
                </a:tc>
                <a:tc>
                  <a:txBody>
                    <a:bodyPr/>
                    <a:lstStyle/>
                    <a:p>
                      <a:pPr algn="l" fontAlgn="b"/>
                      <a:r>
                        <a:rPr lang="en-US" sz="1200" b="0" i="0" u="none" strike="noStrike">
                          <a:solidFill>
                            <a:srgbClr val="000000"/>
                          </a:solidFill>
                          <a:effectLst/>
                          <a:latin typeface="+mj-lt"/>
                        </a:rPr>
                        <a:t>NLC India Limited</a:t>
                      </a:r>
                    </a:p>
                  </a:txBody>
                  <a:tcPr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510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89303570"/>
                  </a:ext>
                </a:extLst>
              </a:tr>
              <a:tr h="75661">
                <a:tc vMerge="1">
                  <a:txBody>
                    <a:bodyPr/>
                    <a:lstStyle/>
                    <a:p>
                      <a:endParaRPr lang="en-US"/>
                    </a:p>
                  </a:txBody>
                  <a:tcPr/>
                </a:tc>
                <a:tc>
                  <a:txBody>
                    <a:bodyPr/>
                    <a:lstStyle/>
                    <a:p>
                      <a:pPr algn="l" fontAlgn="b"/>
                      <a:r>
                        <a:rPr lang="en-US" sz="1200" b="0" i="0" u="none" strike="noStrike">
                          <a:solidFill>
                            <a:srgbClr val="000000"/>
                          </a:solidFill>
                          <a:effectLst/>
                          <a:latin typeface="+mj-lt"/>
                        </a:rPr>
                        <a:t>NHPC Limited</a:t>
                      </a:r>
                    </a:p>
                  </a:txBody>
                  <a:tcPr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972762784"/>
                  </a:ext>
                </a:extLst>
              </a:tr>
              <a:tr h="75661">
                <a:tc vMerge="1">
                  <a:txBody>
                    <a:bodyPr/>
                    <a:lstStyle/>
                    <a:p>
                      <a:endParaRPr lang="en-US"/>
                    </a:p>
                  </a:txBody>
                  <a:tcPr/>
                </a:tc>
                <a:tc>
                  <a:txBody>
                    <a:bodyPr/>
                    <a:lstStyle/>
                    <a:p>
                      <a:pPr algn="l" fontAlgn="b"/>
                      <a:r>
                        <a:rPr lang="en-US" sz="1200" b="0" i="0" u="none" strike="noStrike">
                          <a:solidFill>
                            <a:srgbClr val="000000"/>
                          </a:solidFill>
                          <a:effectLst/>
                          <a:latin typeface="+mj-lt"/>
                        </a:rPr>
                        <a:t>IRCON International Limited</a:t>
                      </a:r>
                    </a:p>
                  </a:txBody>
                  <a:tcPr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500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181418643"/>
                  </a:ext>
                </a:extLst>
              </a:tr>
              <a:tr h="75661">
                <a:tc vMerge="1">
                  <a:txBody>
                    <a:bodyPr/>
                    <a:lstStyle/>
                    <a:p>
                      <a:endParaRPr lang="en-US"/>
                    </a:p>
                  </a:txBody>
                  <a:tcPr/>
                </a:tc>
                <a:tc>
                  <a:txBody>
                    <a:bodyPr/>
                    <a:lstStyle/>
                    <a:p>
                      <a:pPr algn="l" fontAlgn="b"/>
                      <a:r>
                        <a:rPr lang="en-US" sz="1200" b="0" i="0" u="none" strike="noStrike">
                          <a:solidFill>
                            <a:srgbClr val="000000"/>
                          </a:solidFill>
                          <a:effectLst/>
                          <a:latin typeface="+mj-lt"/>
                        </a:rPr>
                        <a:t>NTPC Limited</a:t>
                      </a:r>
                    </a:p>
                  </a:txBody>
                  <a:tcPr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1,990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357385737"/>
                  </a:ext>
                </a:extLst>
              </a:tr>
              <a:tr h="75661">
                <a:tc rowSpan="6">
                  <a:txBody>
                    <a:bodyPr/>
                    <a:lstStyle/>
                    <a:p>
                      <a:pPr algn="l" fontAlgn="ctr"/>
                      <a:r>
                        <a:rPr lang="fr-FR" sz="1200" b="0" i="0" u="none" strike="noStrike">
                          <a:solidFill>
                            <a:srgbClr val="000000"/>
                          </a:solidFill>
                          <a:effectLst/>
                          <a:latin typeface="+mj-lt"/>
                        </a:rPr>
                        <a:t>SECI RJ T-IV (1785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NTPC</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500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2.17</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a:txBody>
                    <a:bodyPr/>
                    <a:lstStyle/>
                    <a:p>
                      <a:pPr algn="ctr" fontAlgn="ctr"/>
                      <a:r>
                        <a:rPr lang="en-US" sz="1200" b="0" i="0" u="none" strike="noStrike">
                          <a:solidFill>
                            <a:srgbClr val="000000"/>
                          </a:solidFill>
                          <a:effectLst/>
                          <a:latin typeface="+mj-lt"/>
                        </a:rPr>
                        <a:t>Dec-21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3505065"/>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Sprng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2.17</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39389842"/>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UPC Renewables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90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2.17</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80134828"/>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Metka EGN Singapore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2.17</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229597991"/>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ReNew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600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2.18</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152309909"/>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ACME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375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mj-lt"/>
                        </a:rPr>
                        <a:t>2.18</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50520822"/>
                  </a:ext>
                </a:extLst>
              </a:tr>
            </a:tbl>
          </a:graphicData>
        </a:graphic>
      </p:graphicFrame>
      <p:sp>
        <p:nvSpPr>
          <p:cNvPr id="5" name="Arrow: Right 4">
            <a:hlinkClick r:id="rId2" action="ppaction://hlinksldjump"/>
            <a:extLst>
              <a:ext uri="{FF2B5EF4-FFF2-40B4-BE49-F238E27FC236}">
                <a16:creationId xmlns:a16="http://schemas.microsoft.com/office/drawing/2014/main" id="{B6524A54-43DD-4E15-B0F5-4D54513AFEF6}"/>
              </a:ext>
            </a:extLst>
          </p:cNvPr>
          <p:cNvSpPr/>
          <p:nvPr/>
        </p:nvSpPr>
        <p:spPr bwMode="gray">
          <a:xfrm flipH="1">
            <a:off x="7539179" y="6133170"/>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191415907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7B: List of Solar Capacity Awarded since April 2021 (2/3)</a:t>
            </a:r>
            <a:endParaRPr lang="en-GB" sz="2400" b="1" dirty="0">
              <a:latin typeface="Calibri" panose="020F0502020204030204" pitchFamily="34" charset="0"/>
            </a:endParaRPr>
          </a:p>
        </p:txBody>
      </p:sp>
      <p:graphicFrame>
        <p:nvGraphicFramePr>
          <p:cNvPr id="4" name="Table 3">
            <a:extLst>
              <a:ext uri="{FF2B5EF4-FFF2-40B4-BE49-F238E27FC236}">
                <a16:creationId xmlns:a16="http://schemas.microsoft.com/office/drawing/2014/main" id="{937E8006-2983-4914-AA67-6DEC1ECE51EF}"/>
              </a:ext>
            </a:extLst>
          </p:cNvPr>
          <p:cNvGraphicFramePr>
            <a:graphicFrameLocks noGrp="1"/>
          </p:cNvGraphicFramePr>
          <p:nvPr>
            <p:extLst>
              <p:ext uri="{D42A27DB-BD31-4B8C-83A1-F6EECF244321}">
                <p14:modId xmlns:p14="http://schemas.microsoft.com/office/powerpoint/2010/main" val="4215515739"/>
              </p:ext>
            </p:extLst>
          </p:nvPr>
        </p:nvGraphicFramePr>
        <p:xfrm>
          <a:off x="501650" y="601579"/>
          <a:ext cx="11060698" cy="5120640"/>
        </p:xfrm>
        <a:graphic>
          <a:graphicData uri="http://schemas.openxmlformats.org/drawingml/2006/table">
            <a:tbl>
              <a:tblPr/>
              <a:tblGrid>
                <a:gridCol w="3892095">
                  <a:extLst>
                    <a:ext uri="{9D8B030D-6E8A-4147-A177-3AD203B41FA5}">
                      <a16:colId xmlns:a16="http://schemas.microsoft.com/office/drawing/2014/main" val="432392787"/>
                    </a:ext>
                  </a:extLst>
                </a:gridCol>
                <a:gridCol w="3137505">
                  <a:extLst>
                    <a:ext uri="{9D8B030D-6E8A-4147-A177-3AD203B41FA5}">
                      <a16:colId xmlns:a16="http://schemas.microsoft.com/office/drawing/2014/main" val="1885546844"/>
                    </a:ext>
                  </a:extLst>
                </a:gridCol>
                <a:gridCol w="873735">
                  <a:extLst>
                    <a:ext uri="{9D8B030D-6E8A-4147-A177-3AD203B41FA5}">
                      <a16:colId xmlns:a16="http://schemas.microsoft.com/office/drawing/2014/main" val="4139277188"/>
                    </a:ext>
                  </a:extLst>
                </a:gridCol>
                <a:gridCol w="1946046">
                  <a:extLst>
                    <a:ext uri="{9D8B030D-6E8A-4147-A177-3AD203B41FA5}">
                      <a16:colId xmlns:a16="http://schemas.microsoft.com/office/drawing/2014/main" val="3964048936"/>
                    </a:ext>
                  </a:extLst>
                </a:gridCol>
                <a:gridCol w="1211317">
                  <a:extLst>
                    <a:ext uri="{9D8B030D-6E8A-4147-A177-3AD203B41FA5}">
                      <a16:colId xmlns:a16="http://schemas.microsoft.com/office/drawing/2014/main" val="467650003"/>
                    </a:ext>
                  </a:extLst>
                </a:gridCol>
              </a:tblGrid>
              <a:tr h="75661">
                <a:tc>
                  <a:txBody>
                    <a:bodyPr/>
                    <a:lstStyle/>
                    <a:p>
                      <a:pPr algn="ctr" fontAlgn="ctr"/>
                      <a:r>
                        <a:rPr lang="en-US" sz="1200" b="1" i="0" u="none" strike="noStrike">
                          <a:solidFill>
                            <a:srgbClr val="000000"/>
                          </a:solidFill>
                          <a:effectLst/>
                          <a:latin typeface="+mj-lt"/>
                        </a:rPr>
                        <a:t>Tender</a:t>
                      </a:r>
                    </a:p>
                  </a:txBody>
                  <a:tcPr marT="0" marB="0" anchor="ctr">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Bidder</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en-US" sz="1200" b="1" i="0" u="none" strike="noStrike">
                          <a:solidFill>
                            <a:srgbClr val="000000"/>
                          </a:solidFill>
                          <a:effectLst/>
                          <a:latin typeface="+mj-lt"/>
                        </a:rPr>
                        <a:t>Capacity</a:t>
                      </a:r>
                    </a:p>
                  </a:txBody>
                  <a:tcPr marT="0" marB="0" anchor="ctr">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Tariff</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Month of RA</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181464097"/>
                  </a:ext>
                </a:extLst>
              </a:tr>
              <a:tr h="75661">
                <a:tc rowSpan="2">
                  <a:txBody>
                    <a:bodyPr/>
                    <a:lstStyle/>
                    <a:p>
                      <a:pPr algn="l" fontAlgn="ctr"/>
                      <a:r>
                        <a:rPr lang="en-US" sz="1200" b="0" i="0" u="none" strike="noStrike">
                          <a:solidFill>
                            <a:srgbClr val="000000"/>
                          </a:solidFill>
                          <a:effectLst/>
                          <a:latin typeface="+mj-lt"/>
                        </a:rPr>
                        <a:t>SECI ISTS-X KTK Koppal</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Ayana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2.36</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ctr" fontAlgn="ctr"/>
                      <a:r>
                        <a:rPr lang="en-US" sz="1200" b="0" i="0" u="none" strike="noStrike" dirty="0">
                          <a:solidFill>
                            <a:srgbClr val="000000"/>
                          </a:solidFill>
                          <a:effectLst/>
                          <a:latin typeface="+mj-lt"/>
                        </a:rPr>
                        <a:t>Feb-22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9098480"/>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Fortum</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2.37</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57218626"/>
                  </a:ext>
                </a:extLst>
              </a:tr>
              <a:tr h="75661">
                <a:tc rowSpan="2">
                  <a:txBody>
                    <a:bodyPr/>
                    <a:lstStyle/>
                    <a:p>
                      <a:pPr algn="l" fontAlgn="ctr"/>
                      <a:r>
                        <a:rPr lang="en-US" sz="1200" b="0" i="0" u="none" strike="noStrike">
                          <a:solidFill>
                            <a:srgbClr val="000000"/>
                          </a:solidFill>
                          <a:effectLst/>
                          <a:latin typeface="+mj-lt"/>
                        </a:rPr>
                        <a:t>SECI ISTS-X KTK Gadag</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Ayana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62453174"/>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Fortum</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2.36</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828405415"/>
                  </a:ext>
                </a:extLst>
              </a:tr>
              <a:tr h="75661">
                <a:tc rowSpan="2">
                  <a:txBody>
                    <a:bodyPr/>
                    <a:lstStyle/>
                    <a:p>
                      <a:pPr algn="l" fontAlgn="ctr"/>
                      <a:r>
                        <a:rPr lang="en-US" sz="1200" b="0" i="0" u="none" strike="noStrike">
                          <a:solidFill>
                            <a:srgbClr val="000000"/>
                          </a:solidFill>
                          <a:effectLst/>
                          <a:latin typeface="+mj-lt"/>
                        </a:rPr>
                        <a:t>PSPCL 250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mj-lt"/>
                        </a:rPr>
                        <a:t>Renew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1200" b="0" i="0" u="none" strike="noStrike">
                          <a:solidFill>
                            <a:srgbClr val="000000"/>
                          </a:solidFill>
                          <a:effectLst/>
                          <a:latin typeface="+mj-lt"/>
                        </a:rPr>
                        <a:t>Mar-22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3822169"/>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Adani</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799671622"/>
                  </a:ext>
                </a:extLst>
              </a:tr>
              <a:tr h="75661">
                <a:tc rowSpan="4">
                  <a:txBody>
                    <a:bodyPr/>
                    <a:lstStyle/>
                    <a:p>
                      <a:pPr algn="l" fontAlgn="ctr"/>
                      <a:r>
                        <a:rPr lang="en-US" sz="1200" b="0" i="0" u="none" strike="noStrike">
                          <a:solidFill>
                            <a:srgbClr val="000000"/>
                          </a:solidFill>
                          <a:effectLst/>
                          <a:latin typeface="+mj-lt"/>
                        </a:rPr>
                        <a:t>GUVNL T-XIII (500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SJVN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ctr" fontAlgn="ctr"/>
                      <a:r>
                        <a:rPr lang="en-US" sz="1200" b="0" i="0" u="none" strike="noStrike">
                          <a:solidFill>
                            <a:srgbClr val="000000"/>
                          </a:solidFill>
                          <a:effectLst/>
                          <a:latin typeface="+mj-lt"/>
                        </a:rPr>
                        <a:t>Mar-22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0665447"/>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Fortum</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099404608"/>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UPC Renewables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80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932657500"/>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Hinduja Renewables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120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240245755"/>
                  </a:ext>
                </a:extLst>
              </a:tr>
              <a:tr h="75661">
                <a:tc rowSpan="4">
                  <a:txBody>
                    <a:bodyPr/>
                    <a:lstStyle/>
                    <a:p>
                      <a:pPr algn="l" fontAlgn="ctr"/>
                      <a:r>
                        <a:rPr lang="fr-FR" sz="1200" b="0" i="0" u="none" strike="noStrike">
                          <a:solidFill>
                            <a:srgbClr val="000000"/>
                          </a:solidFill>
                          <a:effectLst/>
                          <a:latin typeface="+mj-lt"/>
                        </a:rPr>
                        <a:t>SECI 1.2 GW (T-V) Hybrid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TP Saurya (Tata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ctr" fontAlgn="ctr"/>
                      <a:r>
                        <a:rPr lang="en-US" sz="1200" b="0" i="0" u="none" strike="noStrike">
                          <a:solidFill>
                            <a:srgbClr val="000000"/>
                          </a:solidFill>
                          <a:effectLst/>
                          <a:latin typeface="+mj-lt"/>
                        </a:rPr>
                        <a:t>May-22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9195538"/>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NTPC Renewable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225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511458976"/>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Amp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60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239650021"/>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SJVN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710926309"/>
                  </a:ext>
                </a:extLst>
              </a:tr>
              <a:tr h="75661">
                <a:tc rowSpan="3">
                  <a:txBody>
                    <a:bodyPr/>
                    <a:lstStyle/>
                    <a:p>
                      <a:pPr algn="l" fontAlgn="ctr"/>
                      <a:r>
                        <a:rPr lang="sv-SE" sz="1200" b="0" i="0" u="none" strike="noStrike">
                          <a:solidFill>
                            <a:srgbClr val="000000"/>
                          </a:solidFill>
                          <a:effectLst/>
                          <a:latin typeface="+mj-lt"/>
                        </a:rPr>
                        <a:t>RUMSL Omkareshwar Floating (300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NHDC Ltd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j-lt"/>
                        </a:rPr>
                        <a:t>May-22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5605123"/>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AMP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3.21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794792644"/>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SJVN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3.26</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4056623489"/>
                  </a:ext>
                </a:extLst>
              </a:tr>
              <a:tr h="75661">
                <a:tc rowSpan="3">
                  <a:txBody>
                    <a:bodyPr/>
                    <a:lstStyle/>
                    <a:p>
                      <a:pPr algn="l" fontAlgn="ctr"/>
                      <a:r>
                        <a:rPr lang="en-US" sz="1200" b="0" i="0" u="none" strike="noStrike">
                          <a:solidFill>
                            <a:srgbClr val="000000"/>
                          </a:solidFill>
                          <a:effectLst/>
                          <a:latin typeface="+mj-lt"/>
                        </a:rPr>
                        <a:t>GUVNL T-XIV (500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Aditya Birla</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j-lt"/>
                        </a:rPr>
                        <a:t>Jun-22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1596732"/>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Hinduja Renewables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120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460278556"/>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SJVN</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80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2.31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921572937"/>
                  </a:ext>
                </a:extLst>
              </a:tr>
              <a:tr h="75661">
                <a:tc rowSpan="5">
                  <a:txBody>
                    <a:bodyPr/>
                    <a:lstStyle/>
                    <a:p>
                      <a:pPr algn="l" fontAlgn="ctr"/>
                      <a:r>
                        <a:rPr lang="en-US" sz="1200" b="0" i="0" u="none" strike="noStrike">
                          <a:solidFill>
                            <a:srgbClr val="000000"/>
                          </a:solidFill>
                          <a:effectLst/>
                          <a:latin typeface="+mj-lt"/>
                        </a:rPr>
                        <a:t>MSEDCL 500 MW Ph-VII (Aug '22)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SJVN Green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ctr" fontAlgn="ctr"/>
                      <a:r>
                        <a:rPr lang="en-US" sz="1200" b="0" i="0" u="none" strike="noStrike">
                          <a:solidFill>
                            <a:srgbClr val="000000"/>
                          </a:solidFill>
                          <a:effectLst/>
                          <a:latin typeface="+mj-lt"/>
                        </a:rPr>
                        <a:t>Aug-22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8664941"/>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Juniper Green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75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524562753"/>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Tata Power Renewable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6974717"/>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Sukhbir Agro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438773562"/>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Avaada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2.91</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855124908"/>
                  </a:ext>
                </a:extLst>
              </a:tr>
              <a:tr h="75661">
                <a:tc rowSpan="2">
                  <a:txBody>
                    <a:bodyPr/>
                    <a:lstStyle/>
                    <a:p>
                      <a:pPr algn="l" fontAlgn="ctr"/>
                      <a:r>
                        <a:rPr lang="en-US" sz="1200" b="0" i="0" u="none" strike="noStrike">
                          <a:solidFill>
                            <a:srgbClr val="000000"/>
                          </a:solidFill>
                          <a:effectLst/>
                          <a:latin typeface="+mj-lt"/>
                        </a:rPr>
                        <a:t>MSEDCL 500 MW Ph-VIII (Sep '22)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NTPC Renewable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2.82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1200" b="0" i="0" u="none" strike="noStrike">
                          <a:solidFill>
                            <a:srgbClr val="000000"/>
                          </a:solidFill>
                          <a:effectLst/>
                          <a:latin typeface="+mj-lt"/>
                        </a:rPr>
                        <a:t>Sep-22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6257583"/>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Avaada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mj-lt"/>
                        </a:rPr>
                        <a:t>2.83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833609183"/>
                  </a:ext>
                </a:extLst>
              </a:tr>
            </a:tbl>
          </a:graphicData>
        </a:graphic>
      </p:graphicFrame>
      <p:sp>
        <p:nvSpPr>
          <p:cNvPr id="7" name="Arrow: Right 6">
            <a:hlinkClick r:id="rId2" action="ppaction://hlinksldjump"/>
            <a:extLst>
              <a:ext uri="{FF2B5EF4-FFF2-40B4-BE49-F238E27FC236}">
                <a16:creationId xmlns:a16="http://schemas.microsoft.com/office/drawing/2014/main" id="{1DA7AC42-C021-48A6-8849-1AA11B0A1FDA}"/>
              </a:ext>
            </a:extLst>
          </p:cNvPr>
          <p:cNvSpPr/>
          <p:nvPr/>
        </p:nvSpPr>
        <p:spPr bwMode="gray">
          <a:xfrm flipH="1">
            <a:off x="7539179" y="6133170"/>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274547541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7B: List of Solar Capacity Awarded since April 2021 (3/3)</a:t>
            </a:r>
            <a:endParaRPr lang="en-GB" sz="2400" b="1" dirty="0">
              <a:latin typeface="Calibri" panose="020F0502020204030204" pitchFamily="34" charset="0"/>
            </a:endParaRPr>
          </a:p>
        </p:txBody>
      </p:sp>
      <p:graphicFrame>
        <p:nvGraphicFramePr>
          <p:cNvPr id="4" name="Table 3">
            <a:extLst>
              <a:ext uri="{FF2B5EF4-FFF2-40B4-BE49-F238E27FC236}">
                <a16:creationId xmlns:a16="http://schemas.microsoft.com/office/drawing/2014/main" id="{937E8006-2983-4914-AA67-6DEC1ECE51EF}"/>
              </a:ext>
            </a:extLst>
          </p:cNvPr>
          <p:cNvGraphicFramePr>
            <a:graphicFrameLocks noGrp="1"/>
          </p:cNvGraphicFramePr>
          <p:nvPr>
            <p:extLst>
              <p:ext uri="{D42A27DB-BD31-4B8C-83A1-F6EECF244321}">
                <p14:modId xmlns:p14="http://schemas.microsoft.com/office/powerpoint/2010/main" val="1841907244"/>
              </p:ext>
            </p:extLst>
          </p:nvPr>
        </p:nvGraphicFramePr>
        <p:xfrm>
          <a:off x="501650" y="601579"/>
          <a:ext cx="11060698" cy="3474720"/>
        </p:xfrm>
        <a:graphic>
          <a:graphicData uri="http://schemas.openxmlformats.org/drawingml/2006/table">
            <a:tbl>
              <a:tblPr/>
              <a:tblGrid>
                <a:gridCol w="3892095">
                  <a:extLst>
                    <a:ext uri="{9D8B030D-6E8A-4147-A177-3AD203B41FA5}">
                      <a16:colId xmlns:a16="http://schemas.microsoft.com/office/drawing/2014/main" val="432392787"/>
                    </a:ext>
                  </a:extLst>
                </a:gridCol>
                <a:gridCol w="3137505">
                  <a:extLst>
                    <a:ext uri="{9D8B030D-6E8A-4147-A177-3AD203B41FA5}">
                      <a16:colId xmlns:a16="http://schemas.microsoft.com/office/drawing/2014/main" val="1885546844"/>
                    </a:ext>
                  </a:extLst>
                </a:gridCol>
                <a:gridCol w="873735">
                  <a:extLst>
                    <a:ext uri="{9D8B030D-6E8A-4147-A177-3AD203B41FA5}">
                      <a16:colId xmlns:a16="http://schemas.microsoft.com/office/drawing/2014/main" val="4139277188"/>
                    </a:ext>
                  </a:extLst>
                </a:gridCol>
                <a:gridCol w="1946046">
                  <a:extLst>
                    <a:ext uri="{9D8B030D-6E8A-4147-A177-3AD203B41FA5}">
                      <a16:colId xmlns:a16="http://schemas.microsoft.com/office/drawing/2014/main" val="3964048936"/>
                    </a:ext>
                  </a:extLst>
                </a:gridCol>
                <a:gridCol w="1211317">
                  <a:extLst>
                    <a:ext uri="{9D8B030D-6E8A-4147-A177-3AD203B41FA5}">
                      <a16:colId xmlns:a16="http://schemas.microsoft.com/office/drawing/2014/main" val="467650003"/>
                    </a:ext>
                  </a:extLst>
                </a:gridCol>
              </a:tblGrid>
              <a:tr h="75661">
                <a:tc>
                  <a:txBody>
                    <a:bodyPr/>
                    <a:lstStyle/>
                    <a:p>
                      <a:pPr algn="ctr" fontAlgn="ctr"/>
                      <a:r>
                        <a:rPr lang="en-US" sz="1200" b="1" i="0" u="none" strike="noStrike">
                          <a:solidFill>
                            <a:srgbClr val="000000"/>
                          </a:solidFill>
                          <a:effectLst/>
                          <a:latin typeface="+mj-lt"/>
                        </a:rPr>
                        <a:t>Tender</a:t>
                      </a:r>
                    </a:p>
                  </a:txBody>
                  <a:tcPr marT="0" marB="0" anchor="ctr">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Bidder</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en-US" sz="1200" b="1" i="0" u="none" strike="noStrike" dirty="0">
                          <a:solidFill>
                            <a:srgbClr val="000000"/>
                          </a:solidFill>
                          <a:effectLst/>
                          <a:latin typeface="+mj-lt"/>
                        </a:rPr>
                        <a:t>Capacity (MW)</a:t>
                      </a:r>
                    </a:p>
                  </a:txBody>
                  <a:tcPr marT="0" marB="0" anchor="ctr">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Tariff</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tc>
                  <a:txBody>
                    <a:bodyPr/>
                    <a:lstStyle/>
                    <a:p>
                      <a:pPr algn="ctr" fontAlgn="b"/>
                      <a:r>
                        <a:rPr lang="en-US" sz="1200" b="1" i="0" u="none" strike="noStrike">
                          <a:solidFill>
                            <a:srgbClr val="000000"/>
                          </a:solidFill>
                          <a:effectLst/>
                          <a:latin typeface="+mj-lt"/>
                        </a:rPr>
                        <a:t>Month of RA</a:t>
                      </a:r>
                    </a:p>
                  </a:txBody>
                  <a:tcPr marT="0" marB="0" anchor="b">
                    <a:lnL>
                      <a:noFill/>
                    </a:lnL>
                    <a:lnR>
                      <a:noFill/>
                    </a:lnR>
                    <a:lnT>
                      <a:noFill/>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181464097"/>
                  </a:ext>
                </a:extLst>
              </a:tr>
              <a:tr h="75661">
                <a:tc rowSpan="4">
                  <a:txBody>
                    <a:bodyPr/>
                    <a:lstStyle/>
                    <a:p>
                      <a:pPr algn="l" fontAlgn="ctr"/>
                      <a:r>
                        <a:rPr lang="en-US" sz="1200" b="0" i="0" u="none" strike="noStrike" dirty="0">
                          <a:solidFill>
                            <a:srgbClr val="000000"/>
                          </a:solidFill>
                          <a:effectLst/>
                          <a:latin typeface="+mj-lt"/>
                        </a:rPr>
                        <a:t>GUVNL 750 MW Ph-XVI (Sep '22) with </a:t>
                      </a:r>
                      <a:r>
                        <a:rPr lang="en-US" sz="1200" b="0" i="0" u="none" strike="noStrike" dirty="0" err="1">
                          <a:solidFill>
                            <a:srgbClr val="000000"/>
                          </a:solidFill>
                          <a:effectLst/>
                          <a:latin typeface="+mj-lt"/>
                        </a:rPr>
                        <a:t>Greenshoe</a:t>
                      </a:r>
                      <a:endParaRPr lang="en-US" sz="1200" b="0" i="0" u="none" strike="noStrike" dirty="0">
                        <a:solidFill>
                          <a:srgbClr val="000000"/>
                        </a:solidFill>
                        <a:effectLst/>
                        <a:latin typeface="+mj-lt"/>
                      </a:endParaRP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Solarcraft (Blupine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120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2.49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endParaRPr lang="en-US" dirty="0"/>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2226839123"/>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Solairedirect (Engie)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676505359"/>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Tata Power Renewable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2.65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88366606"/>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Utkrrisht Solar (UPC Renewables)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130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2.66</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156629095"/>
                  </a:ext>
                </a:extLst>
              </a:tr>
              <a:tr h="75661">
                <a:tc rowSpan="4">
                  <a:txBody>
                    <a:bodyPr/>
                    <a:lstStyle/>
                    <a:p>
                      <a:pPr algn="l" fontAlgn="ctr"/>
                      <a:r>
                        <a:rPr lang="en-US" sz="1200" b="0" i="0" u="none" strike="noStrike">
                          <a:solidFill>
                            <a:srgbClr val="000000"/>
                          </a:solidFill>
                          <a:effectLst/>
                          <a:latin typeface="+mj-lt"/>
                        </a:rPr>
                        <a:t>RUMSL 750 MW Hybrid Project</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Sprng Ojas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80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ctr" fontAlgn="ctr"/>
                      <a:r>
                        <a:rPr lang="en-US" sz="1200" b="0" i="0" u="none" strike="noStrike">
                          <a:solidFill>
                            <a:srgbClr val="000000"/>
                          </a:solidFill>
                          <a:effectLst/>
                          <a:latin typeface="+mj-lt"/>
                        </a:rPr>
                        <a:t>Sep-22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3190375"/>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Tata Power Renewable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458551218"/>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Renew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150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922566113"/>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O2 Power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45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3.04</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83427372"/>
                  </a:ext>
                </a:extLst>
              </a:tr>
              <a:tr h="75661">
                <a:tc rowSpan="3">
                  <a:txBody>
                    <a:bodyPr/>
                    <a:lstStyle/>
                    <a:p>
                      <a:pPr algn="l" fontAlgn="ctr"/>
                      <a:r>
                        <a:rPr lang="en-US" sz="1200" b="0" i="0" u="none" strike="noStrike">
                          <a:solidFill>
                            <a:srgbClr val="000000"/>
                          </a:solidFill>
                          <a:effectLst/>
                          <a:latin typeface="+mj-lt"/>
                        </a:rPr>
                        <a:t>RUMSL Ph II 300 MW Floating Solar</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NTPC Renewable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90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3.69</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j-lt"/>
                        </a:rPr>
                        <a:t>Nov-22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1962457"/>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SJVN Green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83</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3.70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993941166"/>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Hinduja Renewables</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80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3.70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707408915"/>
                  </a:ext>
                </a:extLst>
              </a:tr>
              <a:tr h="226982">
                <a:tc>
                  <a:txBody>
                    <a:bodyPr/>
                    <a:lstStyle/>
                    <a:p>
                      <a:pPr algn="l" fontAlgn="ctr"/>
                      <a:r>
                        <a:rPr lang="en-US" sz="1200" b="0" i="0" u="none" strike="noStrike">
                          <a:solidFill>
                            <a:srgbClr val="000000"/>
                          </a:solidFill>
                          <a:effectLst/>
                          <a:latin typeface="+mj-lt"/>
                        </a:rPr>
                        <a:t>TPDDL 255 MW Hybrid</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Tata Power Renewable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127.5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3 (for entire hybrid capacity of 225 MW)</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Dec-22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5546217"/>
                  </a:ext>
                </a:extLst>
              </a:tr>
              <a:tr h="75661">
                <a:tc rowSpan="3">
                  <a:txBody>
                    <a:bodyPr/>
                    <a:lstStyle/>
                    <a:p>
                      <a:pPr algn="l" fontAlgn="ctr"/>
                      <a:r>
                        <a:rPr lang="it-IT" sz="1200" b="0" i="0" u="none" strike="noStrike" dirty="0">
                          <a:solidFill>
                            <a:srgbClr val="000000"/>
                          </a:solidFill>
                          <a:effectLst/>
                          <a:latin typeface="+mj-lt"/>
                        </a:rPr>
                        <a:t>MSEDCL Solar Ph-IX (Intra State) (Dec '22)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SolarArise</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j-lt"/>
                        </a:rPr>
                        <a:t>Dec-22</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8282712"/>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SJVN Green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2.95</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094537234"/>
                  </a:ext>
                </a:extLst>
              </a:tr>
              <a:tr h="75661">
                <a:tc vMerge="1">
                  <a:txBody>
                    <a:bodyPr/>
                    <a:lstStyle/>
                    <a:p>
                      <a:endParaRPr lang="en-US"/>
                    </a:p>
                  </a:txBody>
                  <a:tcPr/>
                </a:tc>
                <a:tc>
                  <a:txBody>
                    <a:bodyPr/>
                    <a:lstStyle/>
                    <a:p>
                      <a:pPr algn="l" fontAlgn="ctr"/>
                      <a:r>
                        <a:rPr lang="en-US" sz="1200" b="0" i="0" u="none" strike="noStrike">
                          <a:solidFill>
                            <a:srgbClr val="000000"/>
                          </a:solidFill>
                          <a:effectLst/>
                          <a:latin typeface="+mj-lt"/>
                        </a:rPr>
                        <a:t>Tata Power Renewable Energy</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mj-lt"/>
                        </a:rPr>
                        <a:t>200</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2.97</a:t>
                      </a:r>
                    </a:p>
                  </a:txBody>
                  <a:tcPr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82072775"/>
                  </a:ext>
                </a:extLst>
              </a:tr>
              <a:tr h="75661">
                <a:tc>
                  <a:txBody>
                    <a:bodyPr/>
                    <a:lstStyle/>
                    <a:p>
                      <a:pPr algn="l" fontAlgn="b"/>
                      <a:endParaRPr lang="en-US" sz="1200" b="0" i="0" u="none" strike="noStrike">
                        <a:solidFill>
                          <a:srgbClr val="000000"/>
                        </a:solidFill>
                        <a:effectLst/>
                        <a:latin typeface="+mj-lt"/>
                      </a:endParaRPr>
                    </a:p>
                  </a:txBody>
                  <a:tcPr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200" b="0" i="0" u="none" strike="noStrike">
                        <a:solidFill>
                          <a:srgbClr val="000000"/>
                        </a:solidFill>
                        <a:effectLst/>
                        <a:latin typeface="+mj-lt"/>
                      </a:endParaRPr>
                    </a:p>
                  </a:txBody>
                  <a:tcPr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US" sz="1200" b="1" i="0" u="none" strike="noStrike" dirty="0">
                          <a:solidFill>
                            <a:srgbClr val="000000"/>
                          </a:solidFill>
                          <a:effectLst/>
                          <a:latin typeface="+mj-lt"/>
                        </a:rPr>
                        <a:t>16.5 GW</a:t>
                      </a:r>
                    </a:p>
                  </a:txBody>
                  <a:tcPr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200" b="0" i="0" u="none" strike="noStrike" dirty="0">
                        <a:solidFill>
                          <a:srgbClr val="000000"/>
                        </a:solidFill>
                        <a:effectLst/>
                        <a:latin typeface="+mj-lt"/>
                      </a:endParaRPr>
                    </a:p>
                  </a:txBody>
                  <a:tcPr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200" b="0" i="0" u="none" strike="noStrike" dirty="0">
                        <a:solidFill>
                          <a:srgbClr val="000000"/>
                        </a:solidFill>
                        <a:effectLst/>
                        <a:latin typeface="+mj-lt"/>
                      </a:endParaRPr>
                    </a:p>
                  </a:txBody>
                  <a:tcPr marT="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75966514"/>
                  </a:ext>
                </a:extLst>
              </a:tr>
            </a:tbl>
          </a:graphicData>
        </a:graphic>
      </p:graphicFrame>
      <p:sp>
        <p:nvSpPr>
          <p:cNvPr id="5" name="Rectangle 4">
            <a:extLst>
              <a:ext uri="{FF2B5EF4-FFF2-40B4-BE49-F238E27FC236}">
                <a16:creationId xmlns:a16="http://schemas.microsoft.com/office/drawing/2014/main" id="{8E5A3BF8-058C-4D91-94EF-19C92507EF0E}"/>
              </a:ext>
            </a:extLst>
          </p:cNvPr>
          <p:cNvSpPr/>
          <p:nvPr/>
        </p:nvSpPr>
        <p:spPr bwMode="gray">
          <a:xfrm>
            <a:off x="501650" y="4209159"/>
            <a:ext cx="10939236" cy="64008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b="1" i="1" dirty="0"/>
              <a:t>Note:</a:t>
            </a:r>
            <a:r>
              <a:rPr lang="en-US" sz="1400" i="1" dirty="0"/>
              <a:t> For Hybrid Tenders, total hybrid capacity awarded to each developer is double of figures mentioned above (It has been assumed that 50% of hybrid capacity will be solar), and corresponding tariffs are for entire hybrid capacity</a:t>
            </a:r>
            <a:endParaRPr lang="en-US" sz="1400" i="1" u="sng" dirty="0"/>
          </a:p>
        </p:txBody>
      </p:sp>
      <p:sp>
        <p:nvSpPr>
          <p:cNvPr id="7" name="Arrow: Right 6">
            <a:hlinkClick r:id="rId2" action="ppaction://hlinksldjump"/>
            <a:extLst>
              <a:ext uri="{FF2B5EF4-FFF2-40B4-BE49-F238E27FC236}">
                <a16:creationId xmlns:a16="http://schemas.microsoft.com/office/drawing/2014/main" id="{5E729843-7B0D-4DBB-A95D-C71527A953D2}"/>
              </a:ext>
            </a:extLst>
          </p:cNvPr>
          <p:cNvSpPr/>
          <p:nvPr/>
        </p:nvSpPr>
        <p:spPr bwMode="gray">
          <a:xfrm flipH="1">
            <a:off x="7539179" y="6133170"/>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320245842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spcAft>
                <a:spcPts val="600"/>
              </a:spcAft>
            </a:pPr>
            <a:r>
              <a:rPr lang="en-US" sz="1000"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spcAft>
                <a:spcPts val="600"/>
              </a:spcAft>
            </a:pPr>
            <a:r>
              <a:rPr lang="en-US" sz="1000" dirty="0"/>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spcAft>
                <a:spcPts val="600"/>
              </a:spcAft>
            </a:pPr>
            <a:r>
              <a:rPr lang="en-US" sz="1000" dirty="0"/>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spcAft>
                <a:spcPts val="600"/>
              </a:spcAft>
            </a:pPr>
            <a:r>
              <a:rPr lang="en-US" sz="1000" dirty="0"/>
              <a:t>©2022 Deloitte Touche Tohmatsu India LLP. Member of Deloitte Touche Tohmatsu Limited</a:t>
            </a:r>
          </a:p>
          <a:p>
            <a:pPr>
              <a:spcAft>
                <a:spcPts val="600"/>
              </a:spcAft>
            </a:pPr>
            <a:r>
              <a:rPr lang="en-US" sz="1000"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398245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E808E739-C179-4110-A865-948D8BF4F74B}"/>
</file>

<file path=customXml/itemProps2.xml><?xml version="1.0" encoding="utf-8"?>
<ds:datastoreItem xmlns:ds="http://schemas.openxmlformats.org/officeDocument/2006/customXml" ds:itemID="{C942F533-2B78-458F-B31C-4B714EA0A338}"/>
</file>

<file path=customXml/itemProps3.xml><?xml version="1.0" encoding="utf-8"?>
<ds:datastoreItem xmlns:ds="http://schemas.openxmlformats.org/officeDocument/2006/customXml" ds:itemID="{6E2660AA-0699-4FF2-85A9-9C223D6F55CA}"/>
</file>

<file path=docProps/app.xml><?xml version="1.0" encoding="utf-8"?>
<Properties xmlns="http://schemas.openxmlformats.org/officeDocument/2006/extended-properties" xmlns:vt="http://schemas.openxmlformats.org/officeDocument/2006/docPropsVTypes">
  <Template/>
  <TotalTime>10717</TotalTime>
  <Words>6154</Words>
  <Application>Microsoft Office PowerPoint</Application>
  <PresentationFormat>Widescreen</PresentationFormat>
  <Paragraphs>1351</Paragraphs>
  <Slides>36</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4" baseType="lpstr">
      <vt:lpstr>Arial</vt:lpstr>
      <vt:lpstr>Calibri</vt:lpstr>
      <vt:lpstr>Calibri Light</vt:lpstr>
      <vt:lpstr>Verdana</vt:lpstr>
      <vt:lpstr>Wingdings</vt:lpstr>
      <vt:lpstr>Wingdings 2</vt:lpstr>
      <vt:lpstr>Theme1</vt:lpstr>
      <vt:lpstr>think-cell Slide</vt:lpstr>
      <vt:lpstr>PowerPoint Presentation</vt:lpstr>
      <vt:lpstr>Salient Points of RVUNL 810 MW Tender</vt:lpstr>
      <vt:lpstr>Approach for Estimation of Bid Tariff</vt:lpstr>
      <vt:lpstr>Key driving factors for Equity IRR for solar generation project</vt:lpstr>
      <vt:lpstr>Module Procurement Modalities</vt:lpstr>
      <vt:lpstr>Basis of Module Price Forecast</vt:lpstr>
      <vt:lpstr>Basis of BOS Cost Forecast</vt:lpstr>
      <vt:lpstr>Basis of Interest Rate Considered (1/2)</vt:lpstr>
      <vt:lpstr>Basis of Interest Rate Considered (2/2)</vt:lpstr>
      <vt:lpstr>Basis of Tariff Considered (1/3)</vt:lpstr>
      <vt:lpstr>Basis of Tariff Considered (2/3) - Recently Discovered Tariffs through Reverse Auctions</vt:lpstr>
      <vt:lpstr>Basis of Tariff Considered (3/3) - ECR and PLF of RVUNL Coal TPPs</vt:lpstr>
      <vt:lpstr>Ranges considered for Financial Scenario Analysis</vt:lpstr>
      <vt:lpstr>Scenarios of Equity IRR for varying Project Cost and Tariff (1/3)</vt:lpstr>
      <vt:lpstr>Scenarios of Equity IRR for varying Project Cost and Tariff (2/3)</vt:lpstr>
      <vt:lpstr>Scenarios of Equity IRR for varying Project Cost and Tariff (3/3)</vt:lpstr>
      <vt:lpstr>ANNEXURES</vt:lpstr>
      <vt:lpstr>Annexure A: Illustrative benefit on further Discount on Cell Prices</vt:lpstr>
      <vt:lpstr>Annexure 1: Aluminium Price Forecast (1/2)</vt:lpstr>
      <vt:lpstr>Annexure 1: Aluminium Price Forecast (2/2)</vt:lpstr>
      <vt:lpstr>Annexure 2: Copper Price Forecast (1/2)</vt:lpstr>
      <vt:lpstr>Annexure 2: Copper Price Forecast (2/2)</vt:lpstr>
      <vt:lpstr>Annexure 3: Glass Price Forecast</vt:lpstr>
      <vt:lpstr>Annexure 4: Historical Trend of Repo Rate and SBI PLR</vt:lpstr>
      <vt:lpstr>Annexure 5: Details of Outstanding Balances against ECBs for Leading PSUs</vt:lpstr>
      <vt:lpstr>Annexure 6: Historical Trend of ECB Benchmark Rates</vt:lpstr>
      <vt:lpstr>Annexure 7: Demand-Supply scenario for domestic modules in India - current landscape and projected scenario (1/3) </vt:lpstr>
      <vt:lpstr>Annexure 7: Demand-Supply scenario for domestic modules in India - current landscape and projected scenario (2/3) </vt:lpstr>
      <vt:lpstr>Annexure 7: Demand-Supply scenario for domestic modules in India - current landscape and projected scenario (3/3) </vt:lpstr>
      <vt:lpstr>Annexure 7A: List of Module Manufacturers with Capacity as per latest ALMM list (Aug 2022) (1/3)</vt:lpstr>
      <vt:lpstr>Annexure 7A: List of Module Manufacturers with Capacity as per latest ALMM list (Aug 2022) (2/3)</vt:lpstr>
      <vt:lpstr>Annexure 7A: List of Module Manufacturers with Capacity as per latest ALMM list (Aug 2022) (3/3)</vt:lpstr>
      <vt:lpstr>Annexure 7B: List of Solar Capacity Awarded since April 2021 (1/3)</vt:lpstr>
      <vt:lpstr>Annexure 7B: List of Solar Capacity Awarded since April 2021 (2/3)</vt:lpstr>
      <vt:lpstr>Annexure 7B: List of Solar Capacity Awarded since April 2021 (3/3)</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Kulkarni, Rajeev</dc:creator>
  <cp:lastModifiedBy>Banerjee, Rajeswar</cp:lastModifiedBy>
  <cp:revision>1131</cp:revision>
  <dcterms:created xsi:type="dcterms:W3CDTF">2020-08-21T09:31:26Z</dcterms:created>
  <dcterms:modified xsi:type="dcterms:W3CDTF">2023-01-16T15:19:38Z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2022-07-25T05:57:06Z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5f51cd9e-c0af-445e-b60f-aa0c78d958dc</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