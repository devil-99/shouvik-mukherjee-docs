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xml" ContentType="application/vnd.openxmlformats-officedocument.presentationml.notesSlide+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100" r:id="rId5"/>
  </p:sldMasterIdLst>
  <p:notesMasterIdLst>
    <p:notesMasterId r:id="rId21"/>
  </p:notesMasterIdLst>
  <p:handoutMasterIdLst>
    <p:handoutMasterId r:id="rId22"/>
  </p:handoutMasterIdLst>
  <p:sldIdLst>
    <p:sldId id="1625" r:id="rId6"/>
    <p:sldId id="2147472111" r:id="rId7"/>
    <p:sldId id="2147472104" r:id="rId8"/>
    <p:sldId id="2147472089" r:id="rId9"/>
    <p:sldId id="2147472093" r:id="rId10"/>
    <p:sldId id="2147472091" r:id="rId11"/>
    <p:sldId id="2147472092" r:id="rId12"/>
    <p:sldId id="2147472110" r:id="rId13"/>
    <p:sldId id="2147472107" r:id="rId14"/>
    <p:sldId id="2147472013" r:id="rId15"/>
    <p:sldId id="6406" r:id="rId16"/>
    <p:sldId id="6407" r:id="rId17"/>
    <p:sldId id="6408" r:id="rId18"/>
    <p:sldId id="2147472058" r:id="rId19"/>
    <p:sldId id="2147472105" r:id="rId20"/>
  </p:sldIdLst>
  <p:sldSz cx="12192000" cy="6858000"/>
  <p:notesSz cx="7315200" cy="9601200"/>
  <p:custDataLst>
    <p:tags r:id="rId23"/>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1008"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0A7711-F94C-73EA-B932-7D39831E90DF}" name="Moitra, Meghna" initials="MM" userId="S::memoitra@deloitte.com::141e915a-c98c-4fb8-acba-976ccf0ac07a" providerId="AD"/>
  <p188:author id="{E27EBC48-AA79-795E-5D8C-9DCFC230DACA}" name="Khiroria, Adit" initials="KA" userId="S::akhiroria@deloitte.com::125b7d01-0557-4756-b3b5-aac8221948e3" providerId="AD"/>
  <p188:author id="{43894866-CCC8-3B44-E319-ED606C4580A4}" name="Banerjee, Rajeswar" initials="BR" userId="S::rajbanerjee@deloitte.com::b4ff5a26-7e17-4c5f-975b-d63f3f91df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2"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E"/>
    <a:srgbClr val="F2F2F2"/>
    <a:srgbClr val="FFFFFF"/>
    <a:srgbClr val="E6E6E6"/>
    <a:srgbClr val="EBF9FF"/>
    <a:srgbClr val="27950D"/>
    <a:srgbClr val="E2FCDC"/>
    <a:srgbClr val="E3E48D"/>
    <a:srgbClr val="595959"/>
    <a:srgbClr val="2689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E8D122-2022-49F2-BCE4-B51A8CD6B531}" v="2" dt="2024-02-24T17:52:22.2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548" y="-272"/>
      </p:cViewPr>
      <p:guideLst>
        <p:guide pos="1008"/>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erjee, Rajeswar" userId="b4ff5a26-7e17-4c5f-975b-d63f3f91df5b" providerId="ADAL" clId="{D7E8D122-2022-49F2-BCE4-B51A8CD6B531}"/>
    <pc:docChg chg="undo custSel addSld delSld modSld">
      <pc:chgData name="Banerjee, Rajeswar" userId="b4ff5a26-7e17-4c5f-975b-d63f3f91df5b" providerId="ADAL" clId="{D7E8D122-2022-49F2-BCE4-B51A8CD6B531}" dt="2024-02-25T03:04:26.902" v="132" actId="20577"/>
      <pc:docMkLst>
        <pc:docMk/>
      </pc:docMkLst>
      <pc:sldChg chg="modSp mod">
        <pc:chgData name="Banerjee, Rajeswar" userId="b4ff5a26-7e17-4c5f-975b-d63f3f91df5b" providerId="ADAL" clId="{D7E8D122-2022-49F2-BCE4-B51A8CD6B531}" dt="2024-02-25T03:04:26.902" v="132" actId="20577"/>
        <pc:sldMkLst>
          <pc:docMk/>
          <pc:sldMk cId="3842287517" sldId="2147472089"/>
        </pc:sldMkLst>
        <pc:spChg chg="mod">
          <ac:chgData name="Banerjee, Rajeswar" userId="b4ff5a26-7e17-4c5f-975b-d63f3f91df5b" providerId="ADAL" clId="{D7E8D122-2022-49F2-BCE4-B51A8CD6B531}" dt="2024-02-25T03:04:26.902" v="132" actId="20577"/>
          <ac:spMkLst>
            <pc:docMk/>
            <pc:sldMk cId="3842287517" sldId="2147472089"/>
            <ac:spMk id="28" creationId="{695E9215-2D3F-607B-F0B7-64F84FF6050F}"/>
          </ac:spMkLst>
        </pc:spChg>
      </pc:sldChg>
      <pc:sldChg chg="addSp modSp">
        <pc:chgData name="Banerjee, Rajeswar" userId="b4ff5a26-7e17-4c5f-975b-d63f3f91df5b" providerId="ADAL" clId="{D7E8D122-2022-49F2-BCE4-B51A8CD6B531}" dt="2024-02-24T14:53:16.394" v="8" actId="164"/>
        <pc:sldMkLst>
          <pc:docMk/>
          <pc:sldMk cId="4235830768" sldId="2147472091"/>
        </pc:sldMkLst>
        <pc:spChg chg="mod">
          <ac:chgData name="Banerjee, Rajeswar" userId="b4ff5a26-7e17-4c5f-975b-d63f3f91df5b" providerId="ADAL" clId="{D7E8D122-2022-49F2-BCE4-B51A8CD6B531}" dt="2024-02-24T14:53:16.394" v="8" actId="164"/>
          <ac:spMkLst>
            <pc:docMk/>
            <pc:sldMk cId="4235830768" sldId="2147472091"/>
            <ac:spMk id="4" creationId="{BC3D9AA7-4F0D-DD65-EDF4-47DB0EAB53E9}"/>
          </ac:spMkLst>
        </pc:spChg>
        <pc:spChg chg="mod">
          <ac:chgData name="Banerjee, Rajeswar" userId="b4ff5a26-7e17-4c5f-975b-d63f3f91df5b" providerId="ADAL" clId="{D7E8D122-2022-49F2-BCE4-B51A8CD6B531}" dt="2024-02-24T14:53:16.394" v="8" actId="164"/>
          <ac:spMkLst>
            <pc:docMk/>
            <pc:sldMk cId="4235830768" sldId="2147472091"/>
            <ac:spMk id="19" creationId="{E403EB43-2F15-F48A-D53C-11FE2630DB46}"/>
          </ac:spMkLst>
        </pc:spChg>
        <pc:grpChg chg="mod">
          <ac:chgData name="Banerjee, Rajeswar" userId="b4ff5a26-7e17-4c5f-975b-d63f3f91df5b" providerId="ADAL" clId="{D7E8D122-2022-49F2-BCE4-B51A8CD6B531}" dt="2024-02-24T14:53:16.394" v="8" actId="164"/>
          <ac:grpSpMkLst>
            <pc:docMk/>
            <pc:sldMk cId="4235830768" sldId="2147472091"/>
            <ac:grpSpMk id="6" creationId="{7130F629-27D4-BB76-3735-AE3A5241C83B}"/>
          </ac:grpSpMkLst>
        </pc:grpChg>
        <pc:grpChg chg="add mod">
          <ac:chgData name="Banerjee, Rajeswar" userId="b4ff5a26-7e17-4c5f-975b-d63f3f91df5b" providerId="ADAL" clId="{D7E8D122-2022-49F2-BCE4-B51A8CD6B531}" dt="2024-02-24T14:53:16.394" v="8" actId="164"/>
          <ac:grpSpMkLst>
            <pc:docMk/>
            <pc:sldMk cId="4235830768" sldId="2147472091"/>
            <ac:grpSpMk id="9" creationId="{F3195B8A-FCEA-9A5A-67F0-96E6B5D1DAAE}"/>
          </ac:grpSpMkLst>
        </pc:grpChg>
        <pc:grpChg chg="mod">
          <ac:chgData name="Banerjee, Rajeswar" userId="b4ff5a26-7e17-4c5f-975b-d63f3f91df5b" providerId="ADAL" clId="{D7E8D122-2022-49F2-BCE4-B51A8CD6B531}" dt="2024-02-24T14:53:16.394" v="8" actId="164"/>
          <ac:grpSpMkLst>
            <pc:docMk/>
            <pc:sldMk cId="4235830768" sldId="2147472091"/>
            <ac:grpSpMk id="12" creationId="{9613A74F-3456-117C-B92F-56564D73102F}"/>
          </ac:grpSpMkLst>
        </pc:grpChg>
        <pc:cxnChg chg="mod">
          <ac:chgData name="Banerjee, Rajeswar" userId="b4ff5a26-7e17-4c5f-975b-d63f3f91df5b" providerId="ADAL" clId="{D7E8D122-2022-49F2-BCE4-B51A8CD6B531}" dt="2024-02-24T14:53:16.394" v="8" actId="164"/>
          <ac:cxnSpMkLst>
            <pc:docMk/>
            <pc:sldMk cId="4235830768" sldId="2147472091"/>
            <ac:cxnSpMk id="11" creationId="{F373B5D6-0613-D17C-03CE-12B481B037F4}"/>
          </ac:cxnSpMkLst>
        </pc:cxnChg>
      </pc:sldChg>
      <pc:sldChg chg="addSp modSp">
        <pc:chgData name="Banerjee, Rajeswar" userId="b4ff5a26-7e17-4c5f-975b-d63f3f91df5b" providerId="ADAL" clId="{D7E8D122-2022-49F2-BCE4-B51A8CD6B531}" dt="2024-02-24T17:52:22.242" v="9" actId="164"/>
        <pc:sldMkLst>
          <pc:docMk/>
          <pc:sldMk cId="3729042763" sldId="2147472092"/>
        </pc:sldMkLst>
        <pc:spChg chg="mod">
          <ac:chgData name="Banerjee, Rajeswar" userId="b4ff5a26-7e17-4c5f-975b-d63f3f91df5b" providerId="ADAL" clId="{D7E8D122-2022-49F2-BCE4-B51A8CD6B531}" dt="2024-02-24T17:52:22.242" v="9" actId="164"/>
          <ac:spMkLst>
            <pc:docMk/>
            <pc:sldMk cId="3729042763" sldId="2147472092"/>
            <ac:spMk id="3" creationId="{9A8289F8-C05C-367F-EF2E-63BCE2DB79CE}"/>
          </ac:spMkLst>
        </pc:spChg>
        <pc:spChg chg="mod">
          <ac:chgData name="Banerjee, Rajeswar" userId="b4ff5a26-7e17-4c5f-975b-d63f3f91df5b" providerId="ADAL" clId="{D7E8D122-2022-49F2-BCE4-B51A8CD6B531}" dt="2024-02-24T17:52:22.242" v="9" actId="164"/>
          <ac:spMkLst>
            <pc:docMk/>
            <pc:sldMk cId="3729042763" sldId="2147472092"/>
            <ac:spMk id="12" creationId="{DFA54AEA-980B-37C3-E730-1B75E9C57D33}"/>
          </ac:spMkLst>
        </pc:spChg>
        <pc:spChg chg="mod">
          <ac:chgData name="Banerjee, Rajeswar" userId="b4ff5a26-7e17-4c5f-975b-d63f3f91df5b" providerId="ADAL" clId="{D7E8D122-2022-49F2-BCE4-B51A8CD6B531}" dt="2024-02-24T17:52:22.242" v="9" actId="164"/>
          <ac:spMkLst>
            <pc:docMk/>
            <pc:sldMk cId="3729042763" sldId="2147472092"/>
            <ac:spMk id="19" creationId="{16424D95-B60B-988B-32FE-C5D00026F0E8}"/>
          </ac:spMkLst>
        </pc:spChg>
        <pc:spChg chg="mod">
          <ac:chgData name="Banerjee, Rajeswar" userId="b4ff5a26-7e17-4c5f-975b-d63f3f91df5b" providerId="ADAL" clId="{D7E8D122-2022-49F2-BCE4-B51A8CD6B531}" dt="2024-02-24T17:52:22.242" v="9" actId="164"/>
          <ac:spMkLst>
            <pc:docMk/>
            <pc:sldMk cId="3729042763" sldId="2147472092"/>
            <ac:spMk id="24" creationId="{4F1DB460-30AE-E0CF-7490-F506F537D666}"/>
          </ac:spMkLst>
        </pc:spChg>
        <pc:spChg chg="mod">
          <ac:chgData name="Banerjee, Rajeswar" userId="b4ff5a26-7e17-4c5f-975b-d63f3f91df5b" providerId="ADAL" clId="{D7E8D122-2022-49F2-BCE4-B51A8CD6B531}" dt="2024-02-24T17:52:22.242" v="9" actId="164"/>
          <ac:spMkLst>
            <pc:docMk/>
            <pc:sldMk cId="3729042763" sldId="2147472092"/>
            <ac:spMk id="25" creationId="{D7F3C6F8-7FF1-1987-07D1-D8461397FE8C}"/>
          </ac:spMkLst>
        </pc:spChg>
        <pc:spChg chg="mod">
          <ac:chgData name="Banerjee, Rajeswar" userId="b4ff5a26-7e17-4c5f-975b-d63f3f91df5b" providerId="ADAL" clId="{D7E8D122-2022-49F2-BCE4-B51A8CD6B531}" dt="2024-02-24T17:52:22.242" v="9" actId="164"/>
          <ac:spMkLst>
            <pc:docMk/>
            <pc:sldMk cId="3729042763" sldId="2147472092"/>
            <ac:spMk id="26" creationId="{22841E10-1694-094F-C86F-26565C71CC02}"/>
          </ac:spMkLst>
        </pc:spChg>
        <pc:spChg chg="mod">
          <ac:chgData name="Banerjee, Rajeswar" userId="b4ff5a26-7e17-4c5f-975b-d63f3f91df5b" providerId="ADAL" clId="{D7E8D122-2022-49F2-BCE4-B51A8CD6B531}" dt="2024-02-24T17:52:22.242" v="9" actId="164"/>
          <ac:spMkLst>
            <pc:docMk/>
            <pc:sldMk cId="3729042763" sldId="2147472092"/>
            <ac:spMk id="29" creationId="{56A0B2F1-D17E-F645-9B92-7EF6C877A183}"/>
          </ac:spMkLst>
        </pc:spChg>
        <pc:spChg chg="mod">
          <ac:chgData name="Banerjee, Rajeswar" userId="b4ff5a26-7e17-4c5f-975b-d63f3f91df5b" providerId="ADAL" clId="{D7E8D122-2022-49F2-BCE4-B51A8CD6B531}" dt="2024-02-24T17:52:22.242" v="9" actId="164"/>
          <ac:spMkLst>
            <pc:docMk/>
            <pc:sldMk cId="3729042763" sldId="2147472092"/>
            <ac:spMk id="30" creationId="{B77E7F1D-0EDB-38B8-9DD6-2B0479895455}"/>
          </ac:spMkLst>
        </pc:spChg>
        <pc:spChg chg="mod">
          <ac:chgData name="Banerjee, Rajeswar" userId="b4ff5a26-7e17-4c5f-975b-d63f3f91df5b" providerId="ADAL" clId="{D7E8D122-2022-49F2-BCE4-B51A8CD6B531}" dt="2024-02-24T17:52:22.242" v="9" actId="164"/>
          <ac:spMkLst>
            <pc:docMk/>
            <pc:sldMk cId="3729042763" sldId="2147472092"/>
            <ac:spMk id="31" creationId="{46F30095-9018-4C70-21DF-C7A4AC1BEA1D}"/>
          </ac:spMkLst>
        </pc:spChg>
        <pc:spChg chg="mod">
          <ac:chgData name="Banerjee, Rajeswar" userId="b4ff5a26-7e17-4c5f-975b-d63f3f91df5b" providerId="ADAL" clId="{D7E8D122-2022-49F2-BCE4-B51A8CD6B531}" dt="2024-02-24T17:52:22.242" v="9" actId="164"/>
          <ac:spMkLst>
            <pc:docMk/>
            <pc:sldMk cId="3729042763" sldId="2147472092"/>
            <ac:spMk id="32" creationId="{FC58D457-F72D-FB92-47D5-82D5010329D6}"/>
          </ac:spMkLst>
        </pc:spChg>
        <pc:spChg chg="mod">
          <ac:chgData name="Banerjee, Rajeswar" userId="b4ff5a26-7e17-4c5f-975b-d63f3f91df5b" providerId="ADAL" clId="{D7E8D122-2022-49F2-BCE4-B51A8CD6B531}" dt="2024-02-24T17:52:22.242" v="9" actId="164"/>
          <ac:spMkLst>
            <pc:docMk/>
            <pc:sldMk cId="3729042763" sldId="2147472092"/>
            <ac:spMk id="35" creationId="{E7D39B8F-9A25-7E9A-59AC-80BA68770E3D}"/>
          </ac:spMkLst>
        </pc:spChg>
        <pc:spChg chg="mod">
          <ac:chgData name="Banerjee, Rajeswar" userId="b4ff5a26-7e17-4c5f-975b-d63f3f91df5b" providerId="ADAL" clId="{D7E8D122-2022-49F2-BCE4-B51A8CD6B531}" dt="2024-02-24T17:52:22.242" v="9" actId="164"/>
          <ac:spMkLst>
            <pc:docMk/>
            <pc:sldMk cId="3729042763" sldId="2147472092"/>
            <ac:spMk id="36" creationId="{24BB129F-BF54-1F61-07C9-0AB16A26128E}"/>
          </ac:spMkLst>
        </pc:spChg>
        <pc:spChg chg="mod">
          <ac:chgData name="Banerjee, Rajeswar" userId="b4ff5a26-7e17-4c5f-975b-d63f3f91df5b" providerId="ADAL" clId="{D7E8D122-2022-49F2-BCE4-B51A8CD6B531}" dt="2024-02-24T17:52:22.242" v="9" actId="164"/>
          <ac:spMkLst>
            <pc:docMk/>
            <pc:sldMk cId="3729042763" sldId="2147472092"/>
            <ac:spMk id="39" creationId="{790AA253-0C86-EFC8-ABC8-A5EB30FA9E40}"/>
          </ac:spMkLst>
        </pc:spChg>
        <pc:grpChg chg="add mod">
          <ac:chgData name="Banerjee, Rajeswar" userId="b4ff5a26-7e17-4c5f-975b-d63f3f91df5b" providerId="ADAL" clId="{D7E8D122-2022-49F2-BCE4-B51A8CD6B531}" dt="2024-02-24T17:52:22.242" v="9" actId="164"/>
          <ac:grpSpMkLst>
            <pc:docMk/>
            <pc:sldMk cId="3729042763" sldId="2147472092"/>
            <ac:grpSpMk id="4" creationId="{CD3196B8-391D-A842-2FE8-86F5F856BCB8}"/>
          </ac:grpSpMkLst>
        </pc:grpChg>
        <pc:picChg chg="mod">
          <ac:chgData name="Banerjee, Rajeswar" userId="b4ff5a26-7e17-4c5f-975b-d63f3f91df5b" providerId="ADAL" clId="{D7E8D122-2022-49F2-BCE4-B51A8CD6B531}" dt="2024-02-24T17:52:22.242" v="9" actId="164"/>
          <ac:picMkLst>
            <pc:docMk/>
            <pc:sldMk cId="3729042763" sldId="2147472092"/>
            <ac:picMk id="41" creationId="{4F2317EE-7F30-9CA4-DAAC-838833C2FC44}"/>
          </ac:picMkLst>
        </pc:picChg>
        <pc:picChg chg="mod">
          <ac:chgData name="Banerjee, Rajeswar" userId="b4ff5a26-7e17-4c5f-975b-d63f3f91df5b" providerId="ADAL" clId="{D7E8D122-2022-49F2-BCE4-B51A8CD6B531}" dt="2024-02-24T17:52:22.242" v="9" actId="164"/>
          <ac:picMkLst>
            <pc:docMk/>
            <pc:sldMk cId="3729042763" sldId="2147472092"/>
            <ac:picMk id="42" creationId="{BB878130-5CDE-4035-4140-39455C28B077}"/>
          </ac:picMkLst>
        </pc:picChg>
        <pc:picChg chg="mod">
          <ac:chgData name="Banerjee, Rajeswar" userId="b4ff5a26-7e17-4c5f-975b-d63f3f91df5b" providerId="ADAL" clId="{D7E8D122-2022-49F2-BCE4-B51A8CD6B531}" dt="2024-02-24T17:52:22.242" v="9" actId="164"/>
          <ac:picMkLst>
            <pc:docMk/>
            <pc:sldMk cId="3729042763" sldId="2147472092"/>
            <ac:picMk id="43" creationId="{2EE9B065-D79C-2D86-E3A3-E8BEBC77B63C}"/>
          </ac:picMkLst>
        </pc:picChg>
      </pc:sldChg>
      <pc:sldChg chg="modSp mod">
        <pc:chgData name="Banerjee, Rajeswar" userId="b4ff5a26-7e17-4c5f-975b-d63f3f91df5b" providerId="ADAL" clId="{D7E8D122-2022-49F2-BCE4-B51A8CD6B531}" dt="2024-02-24T12:17:18.240" v="7" actId="20577"/>
        <pc:sldMkLst>
          <pc:docMk/>
          <pc:sldMk cId="384670645" sldId="2147472093"/>
        </pc:sldMkLst>
        <pc:spChg chg="mod">
          <ac:chgData name="Banerjee, Rajeswar" userId="b4ff5a26-7e17-4c5f-975b-d63f3f91df5b" providerId="ADAL" clId="{D7E8D122-2022-49F2-BCE4-B51A8CD6B531}" dt="2024-02-24T12:17:18.240" v="7" actId="20577"/>
          <ac:spMkLst>
            <pc:docMk/>
            <pc:sldMk cId="384670645" sldId="2147472093"/>
            <ac:spMk id="38" creationId="{30B2EE6C-DCA6-4AFD-634E-9BCD55EC4EEE}"/>
          </ac:spMkLst>
        </pc:spChg>
      </pc:sldChg>
      <pc:sldChg chg="modSp mod">
        <pc:chgData name="Banerjee, Rajeswar" userId="b4ff5a26-7e17-4c5f-975b-d63f3f91df5b" providerId="ADAL" clId="{D7E8D122-2022-49F2-BCE4-B51A8CD6B531}" dt="2024-02-24T06:51:01.693" v="1" actId="207"/>
        <pc:sldMkLst>
          <pc:docMk/>
          <pc:sldMk cId="2409933220" sldId="2147472104"/>
        </pc:sldMkLst>
        <pc:spChg chg="mod">
          <ac:chgData name="Banerjee, Rajeswar" userId="b4ff5a26-7e17-4c5f-975b-d63f3f91df5b" providerId="ADAL" clId="{D7E8D122-2022-49F2-BCE4-B51A8CD6B531}" dt="2024-02-24T06:51:01.693" v="1" actId="207"/>
          <ac:spMkLst>
            <pc:docMk/>
            <pc:sldMk cId="2409933220" sldId="2147472104"/>
            <ac:spMk id="2" creationId="{901FB2E1-F003-3B33-0413-0566BB898828}"/>
          </ac:spMkLst>
        </pc:spChg>
      </pc:sldChg>
      <pc:sldChg chg="modSp add del mod">
        <pc:chgData name="Banerjee, Rajeswar" userId="b4ff5a26-7e17-4c5f-975b-d63f3f91df5b" providerId="ADAL" clId="{D7E8D122-2022-49F2-BCE4-B51A8CD6B531}" dt="2024-02-24T07:13:07.297" v="5" actId="47"/>
        <pc:sldMkLst>
          <pc:docMk/>
          <pc:sldMk cId="254954369" sldId="2147472112"/>
        </pc:sldMkLst>
        <pc:spChg chg="mod">
          <ac:chgData name="Banerjee, Rajeswar" userId="b4ff5a26-7e17-4c5f-975b-d63f3f91df5b" providerId="ADAL" clId="{D7E8D122-2022-49F2-BCE4-B51A8CD6B531}" dt="2024-02-24T06:55:05.156" v="3" actId="207"/>
          <ac:spMkLst>
            <pc:docMk/>
            <pc:sldMk cId="254954369" sldId="2147472112"/>
            <ac:spMk id="2" creationId="{8DB2130B-BB17-0233-D8F9-6E37B45BD266}"/>
          </ac:spMkLst>
        </pc:spChg>
        <pc:spChg chg="mod">
          <ac:chgData name="Banerjee, Rajeswar" userId="b4ff5a26-7e17-4c5f-975b-d63f3f91df5b" providerId="ADAL" clId="{D7E8D122-2022-49F2-BCE4-B51A8CD6B531}" dt="2024-02-24T06:55:11.608" v="4" actId="207"/>
          <ac:spMkLst>
            <pc:docMk/>
            <pc:sldMk cId="254954369" sldId="2147472112"/>
            <ac:spMk id="24" creationId="{19ECD62D-44AB-8C33-193A-55679E56626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2/24/2024</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2/24/2024</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4</a:t>
            </a:fld>
            <a:endParaRPr lang="en-US"/>
          </a:p>
        </p:txBody>
      </p:sp>
    </p:spTree>
    <p:extLst>
      <p:ext uri="{BB962C8B-B14F-4D97-AF65-F5344CB8AC3E}">
        <p14:creationId xmlns:p14="http://schemas.microsoft.com/office/powerpoint/2010/main" val="2909075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5</a:t>
            </a:fld>
            <a:endParaRPr lang="en-US"/>
          </a:p>
        </p:txBody>
      </p:sp>
    </p:spTree>
    <p:extLst>
      <p:ext uri="{BB962C8B-B14F-4D97-AF65-F5344CB8AC3E}">
        <p14:creationId xmlns:p14="http://schemas.microsoft.com/office/powerpoint/2010/main" val="337413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6</a:t>
            </a:fld>
            <a:endParaRPr lang="en-US"/>
          </a:p>
        </p:txBody>
      </p:sp>
    </p:spTree>
    <p:extLst>
      <p:ext uri="{BB962C8B-B14F-4D97-AF65-F5344CB8AC3E}">
        <p14:creationId xmlns:p14="http://schemas.microsoft.com/office/powerpoint/2010/main" val="1576853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7</a:t>
            </a:fld>
            <a:endParaRPr lang="en-US"/>
          </a:p>
        </p:txBody>
      </p:sp>
    </p:spTree>
    <p:extLst>
      <p:ext uri="{BB962C8B-B14F-4D97-AF65-F5344CB8AC3E}">
        <p14:creationId xmlns:p14="http://schemas.microsoft.com/office/powerpoint/2010/main" val="3972654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98B4-3751-1360-83CB-B0E7D53B4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C008C-659A-3D80-3FF0-7A3E49DD6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15F2C8-B6B3-84CB-0DF1-1A78B97499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2DB44-9C50-117C-D488-B39DC8B2C869}"/>
              </a:ext>
            </a:extLst>
          </p:cNvPr>
          <p:cNvSpPr>
            <a:spLocks noGrp="1"/>
          </p:cNvSpPr>
          <p:nvPr>
            <p:ph type="sldNum" sz="quarter" idx="5"/>
          </p:nvPr>
        </p:nvSpPr>
        <p:spPr/>
        <p:txBody>
          <a:bodyPr/>
          <a:lstStyle/>
          <a:p>
            <a:fld id="{C0F4A2C8-6C88-4E71-83EE-698B9D4FE22F}" type="slidenum">
              <a:rPr lang="en-US" smtClean="0"/>
              <a:pPr/>
              <a:t>8</a:t>
            </a:fld>
            <a:endParaRPr lang="en-US"/>
          </a:p>
        </p:txBody>
      </p:sp>
    </p:spTree>
    <p:extLst>
      <p:ext uri="{BB962C8B-B14F-4D97-AF65-F5344CB8AC3E}">
        <p14:creationId xmlns:p14="http://schemas.microsoft.com/office/powerpoint/2010/main" val="189778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9</a:t>
            </a:fld>
            <a:endParaRPr lang="en-US"/>
          </a:p>
        </p:txBody>
      </p:sp>
    </p:spTree>
    <p:extLst>
      <p:ext uri="{BB962C8B-B14F-4D97-AF65-F5344CB8AC3E}">
        <p14:creationId xmlns:p14="http://schemas.microsoft.com/office/powerpoint/2010/main" val="2299356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Master" Target="../slideMasters/slideMaster1.xml"/><Relationship Id="rId4" Type="http://schemas.openxmlformats.org/officeDocument/2006/relationships/tags" Target="../tags/tag8.xml"/><Relationship Id="rId9"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136983089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97791" y="905046"/>
            <a:ext cx="6596417" cy="4947313"/>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00" b="1">
                <a:solidFill>
                  <a:schemeClr val="tx1"/>
                </a:solidFill>
              </a:defRPr>
            </a:lvl1pPr>
            <a:lvl2pPr marL="0" indent="0" algn="l">
              <a:buNone/>
              <a:defRPr sz="1400"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1820923" cy="3492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308760266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ctr"/>
          <a:lstStyle>
            <a:lvl1pPr>
              <a:lnSpc>
                <a:spcPct val="95000"/>
              </a:lnSpc>
              <a:defRPr sz="24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180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699304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406629"/>
            <a:ext cx="11200721" cy="1975121"/>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©2023 Deloitte Touche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617071-6782-40A4-8EE9-750D2DFA04DE}" type="datetimeFigureOut">
              <a:rPr lang="en-IN" smtClean="0"/>
              <a:t>24-02-2024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84811-8B0C-4694-81BC-C68F47EE42BA}" type="slidenum">
              <a:rPr lang="en-IN" smtClean="0"/>
              <a:t>‹#›</a:t>
            </a:fld>
            <a:endParaRPr lang="en-IN"/>
          </a:p>
        </p:txBody>
      </p:sp>
    </p:spTree>
    <p:extLst>
      <p:ext uri="{BB962C8B-B14F-4D97-AF65-F5344CB8AC3E}">
        <p14:creationId xmlns:p14="http://schemas.microsoft.com/office/powerpoint/2010/main" val="3275059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6461738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Full Page">
    <p:spTree>
      <p:nvGrpSpPr>
        <p:cNvPr id="1" name=""/>
        <p:cNvGrpSpPr/>
        <p:nvPr/>
      </p:nvGrpSpPr>
      <p:grpSpPr>
        <a:xfrm>
          <a:off x="0" y="0"/>
          <a:ext cx="0" cy="0"/>
          <a:chOff x="0" y="0"/>
          <a:chExt cx="0" cy="0"/>
        </a:xfrm>
      </p:grpSpPr>
      <p:sp>
        <p:nvSpPr>
          <p:cNvPr id="4" name="Freeform 1682"/>
          <p:cNvSpPr>
            <a:spLocks/>
          </p:cNvSpPr>
          <p:nvPr/>
        </p:nvSpPr>
        <p:spPr bwMode="auto">
          <a:xfrm flipH="1">
            <a:off x="8506884" y="615957"/>
            <a:ext cx="1352549" cy="1895475"/>
          </a:xfrm>
          <a:custGeom>
            <a:avLst/>
            <a:gdLst>
              <a:gd name="T0" fmla="*/ 0 w 638"/>
              <a:gd name="T1" fmla="*/ 0 h 1194"/>
              <a:gd name="T2" fmla="*/ 60420 w 638"/>
              <a:gd name="T3" fmla="*/ 174625 h 1194"/>
              <a:gd name="T4" fmla="*/ 124019 w 638"/>
              <a:gd name="T5" fmla="*/ 342900 h 1194"/>
              <a:gd name="T6" fmla="*/ 168539 w 638"/>
              <a:gd name="T7" fmla="*/ 482600 h 1194"/>
              <a:gd name="T8" fmla="*/ 216238 w 638"/>
              <a:gd name="T9" fmla="*/ 631825 h 1194"/>
              <a:gd name="T10" fmla="*/ 260758 w 638"/>
              <a:gd name="T11" fmla="*/ 803275 h 1194"/>
              <a:gd name="T12" fmla="*/ 327537 w 638"/>
              <a:gd name="T13" fmla="*/ 1066800 h 1194"/>
              <a:gd name="T14" fmla="*/ 375237 w 638"/>
              <a:gd name="T15" fmla="*/ 1250950 h 1194"/>
              <a:gd name="T16" fmla="*/ 432477 w 638"/>
              <a:gd name="T17" fmla="*/ 1571625 h 1194"/>
              <a:gd name="T18" fmla="*/ 454736 w 638"/>
              <a:gd name="T19" fmla="*/ 1724025 h 1194"/>
              <a:gd name="T20" fmla="*/ 480176 w 638"/>
              <a:gd name="T21" fmla="*/ 1895475 h 1194"/>
              <a:gd name="T22" fmla="*/ 1014412 w 638"/>
              <a:gd name="T23" fmla="*/ 1895475 h 1194"/>
              <a:gd name="T24" fmla="*/ 992152 w 638"/>
              <a:gd name="T25" fmla="*/ 1812925 h 1194"/>
              <a:gd name="T26" fmla="*/ 950813 w 638"/>
              <a:gd name="T27" fmla="*/ 1682750 h 1194"/>
              <a:gd name="T28" fmla="*/ 909473 w 638"/>
              <a:gd name="T29" fmla="*/ 1555750 h 1194"/>
              <a:gd name="T30" fmla="*/ 871313 w 638"/>
              <a:gd name="T31" fmla="*/ 1447800 h 1194"/>
              <a:gd name="T32" fmla="*/ 785454 w 638"/>
              <a:gd name="T33" fmla="*/ 1244600 h 1194"/>
              <a:gd name="T34" fmla="*/ 725034 w 638"/>
              <a:gd name="T35" fmla="*/ 1108075 h 1194"/>
              <a:gd name="T36" fmla="*/ 674155 w 638"/>
              <a:gd name="T37" fmla="*/ 993775 h 1194"/>
              <a:gd name="T38" fmla="*/ 601015 w 638"/>
              <a:gd name="T39" fmla="*/ 844550 h 1194"/>
              <a:gd name="T40" fmla="*/ 540596 w 638"/>
              <a:gd name="T41" fmla="*/ 746125 h 1194"/>
              <a:gd name="T42" fmla="*/ 486536 w 638"/>
              <a:gd name="T43" fmla="*/ 657225 h 1194"/>
              <a:gd name="T44" fmla="*/ 426117 w 638"/>
              <a:gd name="T45" fmla="*/ 542925 h 1194"/>
              <a:gd name="T46" fmla="*/ 362517 w 638"/>
              <a:gd name="T47" fmla="*/ 454025 h 1194"/>
              <a:gd name="T48" fmla="*/ 276658 w 638"/>
              <a:gd name="T49" fmla="*/ 333375 h 1194"/>
              <a:gd name="T50" fmla="*/ 193978 w 638"/>
              <a:gd name="T51" fmla="*/ 222250 h 1194"/>
              <a:gd name="T52" fmla="*/ 92219 w 638"/>
              <a:gd name="T53" fmla="*/ 82550 h 1194"/>
              <a:gd name="T54" fmla="*/ 47700 w 638"/>
              <a:gd name="T55" fmla="*/ 31750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5" name="Freeform 1683"/>
          <p:cNvSpPr>
            <a:spLocks/>
          </p:cNvSpPr>
          <p:nvPr/>
        </p:nvSpPr>
        <p:spPr bwMode="auto">
          <a:xfrm flipH="1">
            <a:off x="9880600" y="3175"/>
            <a:ext cx="950384" cy="584200"/>
          </a:xfrm>
          <a:custGeom>
            <a:avLst/>
            <a:gdLst>
              <a:gd name="T0" fmla="*/ 712788 w 448"/>
              <a:gd name="T1" fmla="*/ 584200 h 372"/>
              <a:gd name="T2" fmla="*/ 617325 w 448"/>
              <a:gd name="T3" fmla="*/ 474270 h 372"/>
              <a:gd name="T4" fmla="*/ 445493 w 448"/>
              <a:gd name="T5" fmla="*/ 326649 h 372"/>
              <a:gd name="T6" fmla="*/ 334119 w 448"/>
              <a:gd name="T7" fmla="*/ 223001 h 372"/>
              <a:gd name="T8" fmla="*/ 222746 w 448"/>
              <a:gd name="T9" fmla="*/ 147620 h 372"/>
              <a:gd name="T10" fmla="*/ 101827 w 448"/>
              <a:gd name="T11" fmla="*/ 69099 h 372"/>
              <a:gd name="T12" fmla="*/ 0 w 448"/>
              <a:gd name="T13" fmla="*/ 0 h 372"/>
              <a:gd name="T14" fmla="*/ 445493 w 448"/>
              <a:gd name="T15" fmla="*/ 0 h 372"/>
              <a:gd name="T16" fmla="*/ 477313 w 448"/>
              <a:gd name="T17" fmla="*/ 56535 h 372"/>
              <a:gd name="T18" fmla="*/ 515498 w 448"/>
              <a:gd name="T19" fmla="*/ 128775 h 372"/>
              <a:gd name="T20" fmla="*/ 550501 w 448"/>
              <a:gd name="T21" fmla="*/ 210438 h 372"/>
              <a:gd name="T22" fmla="*/ 601415 w 448"/>
              <a:gd name="T23" fmla="*/ 323509 h 372"/>
              <a:gd name="T24" fmla="*/ 649146 w 448"/>
              <a:gd name="T25" fmla="*/ 414594 h 372"/>
              <a:gd name="T26" fmla="*/ 690513 w 448"/>
              <a:gd name="T27" fmla="*/ 524524 h 372"/>
              <a:gd name="T28" fmla="*/ 712788 w 448"/>
              <a:gd name="T29" fmla="*/ 584200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6" name="Line 1086"/>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7" name="Line 1087"/>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8" name="Rectangle 1088"/>
          <p:cNvSpPr>
            <a:spLocks noChangeArrowheads="1"/>
          </p:cNvSpPr>
          <p:nvPr/>
        </p:nvSpPr>
        <p:spPr bwMode="auto">
          <a:xfrm>
            <a:off x="645587" y="617545"/>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9" name="Rectangle 1089"/>
          <p:cNvSpPr>
            <a:spLocks noChangeArrowheads="1"/>
          </p:cNvSpPr>
          <p:nvPr/>
        </p:nvSpPr>
        <p:spPr bwMode="auto">
          <a:xfrm>
            <a:off x="645587" y="617545"/>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10" name="Freeform 1098"/>
          <p:cNvSpPr>
            <a:spLocks/>
          </p:cNvSpPr>
          <p:nvPr/>
        </p:nvSpPr>
        <p:spPr bwMode="auto">
          <a:xfrm>
            <a:off x="649822" y="617545"/>
            <a:ext cx="4233" cy="1587"/>
          </a:xfrm>
          <a:custGeom>
            <a:avLst/>
            <a:gdLst>
              <a:gd name="T0" fmla="*/ 0 w 2"/>
              <a:gd name="T1" fmla="*/ 0 h 1587"/>
              <a:gd name="T2" fmla="*/ 3175 w 2"/>
              <a:gd name="T3" fmla="*/ 0 h 1587"/>
              <a:gd name="T4" fmla="*/ 3175 w 2"/>
              <a:gd name="T5" fmla="*/ 0 h 1587"/>
              <a:gd name="T6" fmla="*/ 3175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3175 w 2"/>
              <a:gd name="T35" fmla="*/ 0 h 1587"/>
              <a:gd name="T36" fmla="*/ 3175 w 2"/>
              <a:gd name="T37" fmla="*/ 0 h 1587"/>
              <a:gd name="T38" fmla="*/ 3175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1" name="Freeform 1115"/>
          <p:cNvSpPr>
            <a:spLocks/>
          </p:cNvSpPr>
          <p:nvPr/>
        </p:nvSpPr>
        <p:spPr bwMode="auto">
          <a:xfrm>
            <a:off x="611722" y="473075"/>
            <a:ext cx="4233" cy="3175"/>
          </a:xfrm>
          <a:custGeom>
            <a:avLst/>
            <a:gdLst>
              <a:gd name="T0" fmla="*/ 0 w 2"/>
              <a:gd name="T1" fmla="*/ 3175 h 2"/>
              <a:gd name="T2" fmla="*/ 0 w 2"/>
              <a:gd name="T3" fmla="*/ 3175 h 2"/>
              <a:gd name="T4" fmla="*/ 0 w 2"/>
              <a:gd name="T5" fmla="*/ 3175 h 2"/>
              <a:gd name="T6" fmla="*/ 0 w 2"/>
              <a:gd name="T7" fmla="*/ 3175 h 2"/>
              <a:gd name="T8" fmla="*/ 0 w 2"/>
              <a:gd name="T9" fmla="*/ 3175 h 2"/>
              <a:gd name="T10" fmla="*/ 0 w 2"/>
              <a:gd name="T11" fmla="*/ 3175 h 2"/>
              <a:gd name="T12" fmla="*/ 3175 w 2"/>
              <a:gd name="T13" fmla="*/ 3175 h 2"/>
              <a:gd name="T14" fmla="*/ 3175 w 2"/>
              <a:gd name="T15" fmla="*/ 3175 h 2"/>
              <a:gd name="T16" fmla="*/ 3175 w 2"/>
              <a:gd name="T17" fmla="*/ 0 h 2"/>
              <a:gd name="T18" fmla="*/ 0 w 2"/>
              <a:gd name="T19" fmla="*/ 3175 h 2"/>
              <a:gd name="T20" fmla="*/ 0 w 2"/>
              <a:gd name="T21" fmla="*/ 3175 h 2"/>
              <a:gd name="T22" fmla="*/ 0 w 2"/>
              <a:gd name="T23" fmla="*/ 3175 h 2"/>
              <a:gd name="T24" fmla="*/ 0 w 2"/>
              <a:gd name="T25" fmla="*/ 3175 h 2"/>
              <a:gd name="T26" fmla="*/ 0 w 2"/>
              <a:gd name="T27" fmla="*/ 3175 h 2"/>
              <a:gd name="T28" fmla="*/ 3175 w 2"/>
              <a:gd name="T29" fmla="*/ 3175 h 2"/>
              <a:gd name="T30" fmla="*/ 3175 w 2"/>
              <a:gd name="T31" fmla="*/ 3175 h 2"/>
              <a:gd name="T32" fmla="*/ 3175 w 2"/>
              <a:gd name="T33" fmla="*/ 3175 h 2"/>
              <a:gd name="T34" fmla="*/ 3175 w 2"/>
              <a:gd name="T35" fmla="*/ 3175 h 2"/>
              <a:gd name="T36" fmla="*/ 3175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3175 w 2"/>
              <a:gd name="T55" fmla="*/ 3175 h 2"/>
              <a:gd name="T56" fmla="*/ 0 w 2"/>
              <a:gd name="T57" fmla="*/ 3175 h 2"/>
              <a:gd name="T58" fmla="*/ 3175 w 2"/>
              <a:gd name="T59" fmla="*/ 3175 h 2"/>
              <a:gd name="T60" fmla="*/ 3175 w 2"/>
              <a:gd name="T61" fmla="*/ 3175 h 2"/>
              <a:gd name="T62" fmla="*/ 3175 w 2"/>
              <a:gd name="T63" fmla="*/ 3175 h 2"/>
              <a:gd name="T64" fmla="*/ 0 w 2"/>
              <a:gd name="T65" fmla="*/ 3175 h 2"/>
              <a:gd name="T66" fmla="*/ 0 w 2"/>
              <a:gd name="T67" fmla="*/ 3175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2" name="Freeform 1120"/>
          <p:cNvSpPr>
            <a:spLocks/>
          </p:cNvSpPr>
          <p:nvPr/>
        </p:nvSpPr>
        <p:spPr bwMode="auto">
          <a:xfrm>
            <a:off x="611722" y="463554"/>
            <a:ext cx="4233" cy="3175"/>
          </a:xfrm>
          <a:custGeom>
            <a:avLst/>
            <a:gdLst>
              <a:gd name="T0" fmla="*/ 0 w 2"/>
              <a:gd name="T1" fmla="*/ 0 h 2"/>
              <a:gd name="T2" fmla="*/ 0 w 2"/>
              <a:gd name="T3" fmla="*/ 3175 h 2"/>
              <a:gd name="T4" fmla="*/ 0 w 2"/>
              <a:gd name="T5" fmla="*/ 3175 h 2"/>
              <a:gd name="T6" fmla="*/ 0 w 2"/>
              <a:gd name="T7" fmla="*/ 3175 h 2"/>
              <a:gd name="T8" fmla="*/ 3175 w 2"/>
              <a:gd name="T9" fmla="*/ 3175 h 2"/>
              <a:gd name="T10" fmla="*/ 3175 w 2"/>
              <a:gd name="T11" fmla="*/ 0 h 2"/>
              <a:gd name="T12" fmla="*/ 3175 w 2"/>
              <a:gd name="T13" fmla="*/ 0 h 2"/>
              <a:gd name="T14" fmla="*/ 3175 w 2"/>
              <a:gd name="T15" fmla="*/ 0 h 2"/>
              <a:gd name="T16" fmla="*/ 0 w 2"/>
              <a:gd name="T17" fmla="*/ 0 h 2"/>
              <a:gd name="T18" fmla="*/ 0 w 2"/>
              <a:gd name="T19" fmla="*/ 3175 h 2"/>
              <a:gd name="T20" fmla="*/ 0 w 2"/>
              <a:gd name="T21" fmla="*/ 3175 h 2"/>
              <a:gd name="T22" fmla="*/ 3175 w 2"/>
              <a:gd name="T23" fmla="*/ 0 h 2"/>
              <a:gd name="T24" fmla="*/ 3175 w 2"/>
              <a:gd name="T25" fmla="*/ 0 h 2"/>
              <a:gd name="T26" fmla="*/ 3175 w 2"/>
              <a:gd name="T27" fmla="*/ 0 h 2"/>
              <a:gd name="T28" fmla="*/ 3175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3175 w 2"/>
              <a:gd name="T47" fmla="*/ 3175 h 2"/>
              <a:gd name="T48" fmla="*/ 0 w 2"/>
              <a:gd name="T49" fmla="*/ 3175 h 2"/>
              <a:gd name="T50" fmla="*/ 0 w 2"/>
              <a:gd name="T51" fmla="*/ 3175 h 2"/>
              <a:gd name="T52" fmla="*/ 3175 w 2"/>
              <a:gd name="T53" fmla="*/ 3175 h 2"/>
              <a:gd name="T54" fmla="*/ 3175 w 2"/>
              <a:gd name="T55" fmla="*/ 3175 h 2"/>
              <a:gd name="T56" fmla="*/ 3175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3" name="Freeform 1134"/>
          <p:cNvSpPr>
            <a:spLocks/>
          </p:cNvSpPr>
          <p:nvPr/>
        </p:nvSpPr>
        <p:spPr bwMode="auto">
          <a:xfrm>
            <a:off x="937689" y="514350"/>
            <a:ext cx="4233" cy="6350"/>
          </a:xfrm>
          <a:custGeom>
            <a:avLst/>
            <a:gdLst>
              <a:gd name="T0" fmla="*/ 3175 w 2"/>
              <a:gd name="T1" fmla="*/ 6350 h 4"/>
              <a:gd name="T2" fmla="*/ 3175 w 2"/>
              <a:gd name="T3" fmla="*/ 6350 h 4"/>
              <a:gd name="T4" fmla="*/ 3175 w 2"/>
              <a:gd name="T5" fmla="*/ 6350 h 4"/>
              <a:gd name="T6" fmla="*/ 3175 w 2"/>
              <a:gd name="T7" fmla="*/ 3175 h 4"/>
              <a:gd name="T8" fmla="*/ 3175 w 2"/>
              <a:gd name="T9" fmla="*/ 0 h 4"/>
              <a:gd name="T10" fmla="*/ 3175 w 2"/>
              <a:gd name="T11" fmla="*/ 0 h 4"/>
              <a:gd name="T12" fmla="*/ 3175 w 2"/>
              <a:gd name="T13" fmla="*/ 0 h 4"/>
              <a:gd name="T14" fmla="*/ 0 w 2"/>
              <a:gd name="T15" fmla="*/ 3175 h 4"/>
              <a:gd name="T16" fmla="*/ 3175 w 2"/>
              <a:gd name="T17" fmla="*/ 6350 h 4"/>
              <a:gd name="T18" fmla="*/ 3175 w 2"/>
              <a:gd name="T19" fmla="*/ 3175 h 4"/>
              <a:gd name="T20" fmla="*/ 3175 w 2"/>
              <a:gd name="T21" fmla="*/ 3175 h 4"/>
              <a:gd name="T22" fmla="*/ 3175 w 2"/>
              <a:gd name="T23" fmla="*/ 0 h 4"/>
              <a:gd name="T24" fmla="*/ 3175 w 2"/>
              <a:gd name="T25" fmla="*/ 3175 h 4"/>
              <a:gd name="T26" fmla="*/ 3175 w 2"/>
              <a:gd name="T27" fmla="*/ 3175 h 4"/>
              <a:gd name="T28" fmla="*/ 3175 w 2"/>
              <a:gd name="T29" fmla="*/ 3175 h 4"/>
              <a:gd name="T30" fmla="*/ 3175 w 2"/>
              <a:gd name="T31" fmla="*/ 3175 h 4"/>
              <a:gd name="T32" fmla="*/ 3175 w 2"/>
              <a:gd name="T33" fmla="*/ 3175 h 4"/>
              <a:gd name="T34" fmla="*/ 3175 w 2"/>
              <a:gd name="T35" fmla="*/ 3175 h 4"/>
              <a:gd name="T36" fmla="*/ 3175 w 2"/>
              <a:gd name="T37" fmla="*/ 3175 h 4"/>
              <a:gd name="T38" fmla="*/ 3175 w 2"/>
              <a:gd name="T39" fmla="*/ 3175 h 4"/>
              <a:gd name="T40" fmla="*/ 3175 w 2"/>
              <a:gd name="T41" fmla="*/ 3175 h 4"/>
              <a:gd name="T42" fmla="*/ 3175 w 2"/>
              <a:gd name="T43" fmla="*/ 3175 h 4"/>
              <a:gd name="T44" fmla="*/ 3175 w 2"/>
              <a:gd name="T45" fmla="*/ 3175 h 4"/>
              <a:gd name="T46" fmla="*/ 3175 w 2"/>
              <a:gd name="T47" fmla="*/ 3175 h 4"/>
              <a:gd name="T48" fmla="*/ 3175 w 2"/>
              <a:gd name="T49" fmla="*/ 3175 h 4"/>
              <a:gd name="T50" fmla="*/ 3175 w 2"/>
              <a:gd name="T51" fmla="*/ 3175 h 4"/>
              <a:gd name="T52" fmla="*/ 0 w 2"/>
              <a:gd name="T53" fmla="*/ 3175 h 4"/>
              <a:gd name="T54" fmla="*/ 3175 w 2"/>
              <a:gd name="T55" fmla="*/ 6350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4" name="Freeform 1141"/>
          <p:cNvSpPr>
            <a:spLocks/>
          </p:cNvSpPr>
          <p:nvPr/>
        </p:nvSpPr>
        <p:spPr bwMode="auto">
          <a:xfrm>
            <a:off x="941919" y="479425"/>
            <a:ext cx="2116" cy="6350"/>
          </a:xfrm>
          <a:custGeom>
            <a:avLst/>
            <a:gdLst>
              <a:gd name="T0" fmla="*/ 0 w 1587"/>
              <a:gd name="T1" fmla="*/ 6350 h 4"/>
              <a:gd name="T2" fmla="*/ 0 w 1587"/>
              <a:gd name="T3" fmla="*/ 3175 h 4"/>
              <a:gd name="T4" fmla="*/ 0 w 1587"/>
              <a:gd name="T5" fmla="*/ 0 h 4"/>
              <a:gd name="T6" fmla="*/ 0 w 1587"/>
              <a:gd name="T7" fmla="*/ 0 h 4"/>
              <a:gd name="T8" fmla="*/ 0 w 1587"/>
              <a:gd name="T9" fmla="*/ 3175 h 4"/>
              <a:gd name="T10" fmla="*/ 0 w 1587"/>
              <a:gd name="T11" fmla="*/ 3175 h 4"/>
              <a:gd name="T12" fmla="*/ 0 w 1587"/>
              <a:gd name="T13" fmla="*/ 6350 h 4"/>
              <a:gd name="T14" fmla="*/ 0 w 1587"/>
              <a:gd name="T15" fmla="*/ 3175 h 4"/>
              <a:gd name="T16" fmla="*/ 0 w 1587"/>
              <a:gd name="T17" fmla="*/ 3175 h 4"/>
              <a:gd name="T18" fmla="*/ 0 w 1587"/>
              <a:gd name="T19" fmla="*/ 3175 h 4"/>
              <a:gd name="T20" fmla="*/ 0 w 1587"/>
              <a:gd name="T21" fmla="*/ 3175 h 4"/>
              <a:gd name="T22" fmla="*/ 0 w 1587"/>
              <a:gd name="T23" fmla="*/ 3175 h 4"/>
              <a:gd name="T24" fmla="*/ 0 w 1587"/>
              <a:gd name="T25" fmla="*/ 3175 h 4"/>
              <a:gd name="T26" fmla="*/ 0 w 1587"/>
              <a:gd name="T27" fmla="*/ 3175 h 4"/>
              <a:gd name="T28" fmla="*/ 0 w 1587"/>
              <a:gd name="T29" fmla="*/ 635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5" name="Freeform 1148"/>
          <p:cNvSpPr>
            <a:spLocks/>
          </p:cNvSpPr>
          <p:nvPr/>
        </p:nvSpPr>
        <p:spPr bwMode="auto">
          <a:xfrm>
            <a:off x="924989" y="460376"/>
            <a:ext cx="4233" cy="3175"/>
          </a:xfrm>
          <a:custGeom>
            <a:avLst/>
            <a:gdLst>
              <a:gd name="T0" fmla="*/ 3175 w 2"/>
              <a:gd name="T1" fmla="*/ 3175 h 2"/>
              <a:gd name="T2" fmla="*/ 3175 w 2"/>
              <a:gd name="T3" fmla="*/ 0 h 2"/>
              <a:gd name="T4" fmla="*/ 3175 w 2"/>
              <a:gd name="T5" fmla="*/ 0 h 2"/>
              <a:gd name="T6" fmla="*/ 3175 w 2"/>
              <a:gd name="T7" fmla="*/ 0 h 2"/>
              <a:gd name="T8" fmla="*/ 3175 w 2"/>
              <a:gd name="T9" fmla="*/ 0 h 2"/>
              <a:gd name="T10" fmla="*/ 0 w 2"/>
              <a:gd name="T11" fmla="*/ 0 h 2"/>
              <a:gd name="T12" fmla="*/ 0 w 2"/>
              <a:gd name="T13" fmla="*/ 0 h 2"/>
              <a:gd name="T14" fmla="*/ 0 w 2"/>
              <a:gd name="T15" fmla="*/ 3175 h 2"/>
              <a:gd name="T16" fmla="*/ 0 w 2"/>
              <a:gd name="T17" fmla="*/ 3175 h 2"/>
              <a:gd name="T18" fmla="*/ 0 w 2"/>
              <a:gd name="T19" fmla="*/ 3175 h 2"/>
              <a:gd name="T20" fmla="*/ 3175 w 2"/>
              <a:gd name="T21" fmla="*/ 3175 h 2"/>
              <a:gd name="T22" fmla="*/ 3175 w 2"/>
              <a:gd name="T23" fmla="*/ 3175 h 2"/>
              <a:gd name="T24" fmla="*/ 3175 w 2"/>
              <a:gd name="T25" fmla="*/ 0 h 2"/>
              <a:gd name="T26" fmla="*/ 3175 w 2"/>
              <a:gd name="T27" fmla="*/ 0 h 2"/>
              <a:gd name="T28" fmla="*/ 3175 w 2"/>
              <a:gd name="T29" fmla="*/ 0 h 2"/>
              <a:gd name="T30" fmla="*/ 0 w 2"/>
              <a:gd name="T31" fmla="*/ 3175 h 2"/>
              <a:gd name="T32" fmla="*/ 3175 w 2"/>
              <a:gd name="T33" fmla="*/ 3175 h 2"/>
              <a:gd name="T34" fmla="*/ 3175 w 2"/>
              <a:gd name="T35" fmla="*/ 0 h 2"/>
              <a:gd name="T36" fmla="*/ 0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3175 w 2"/>
              <a:gd name="T59" fmla="*/ 3175 h 2"/>
              <a:gd name="T60" fmla="*/ 3175 w 2"/>
              <a:gd name="T61" fmla="*/ 3175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6" name="Freeform 1150"/>
          <p:cNvSpPr>
            <a:spLocks/>
          </p:cNvSpPr>
          <p:nvPr/>
        </p:nvSpPr>
        <p:spPr bwMode="auto">
          <a:xfrm>
            <a:off x="912287" y="447677"/>
            <a:ext cx="2116" cy="3175"/>
          </a:xfrm>
          <a:custGeom>
            <a:avLst/>
            <a:gdLst>
              <a:gd name="T0" fmla="*/ 0 w 1587"/>
              <a:gd name="T1" fmla="*/ 3175 h 2"/>
              <a:gd name="T2" fmla="*/ 0 w 1587"/>
              <a:gd name="T3" fmla="*/ 0 h 2"/>
              <a:gd name="T4" fmla="*/ 0 w 1587"/>
              <a:gd name="T5" fmla="*/ 3175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7" name="Freeform 1152"/>
          <p:cNvSpPr>
            <a:spLocks/>
          </p:cNvSpPr>
          <p:nvPr/>
        </p:nvSpPr>
        <p:spPr bwMode="auto">
          <a:xfrm>
            <a:off x="912289" y="447677"/>
            <a:ext cx="4233" cy="3175"/>
          </a:xfrm>
          <a:custGeom>
            <a:avLst/>
            <a:gdLst>
              <a:gd name="T0" fmla="*/ 3175 w 2"/>
              <a:gd name="T1" fmla="*/ 0 h 2"/>
              <a:gd name="T2" fmla="*/ 0 w 2"/>
              <a:gd name="T3" fmla="*/ 0 h 2"/>
              <a:gd name="T4" fmla="*/ 0 w 2"/>
              <a:gd name="T5" fmla="*/ 0 h 2"/>
              <a:gd name="T6" fmla="*/ 0 w 2"/>
              <a:gd name="T7" fmla="*/ 0 h 2"/>
              <a:gd name="T8" fmla="*/ 0 w 2"/>
              <a:gd name="T9" fmla="*/ 3175 h 2"/>
              <a:gd name="T10" fmla="*/ 3175 w 2"/>
              <a:gd name="T11" fmla="*/ 3175 h 2"/>
              <a:gd name="T12" fmla="*/ 3175 w 2"/>
              <a:gd name="T13" fmla="*/ 0 h 2"/>
              <a:gd name="T14" fmla="*/ 0 w 2"/>
              <a:gd name="T15" fmla="*/ 0 h 2"/>
              <a:gd name="T16" fmla="*/ 0 w 2"/>
              <a:gd name="T17" fmla="*/ 0 h 2"/>
              <a:gd name="T18" fmla="*/ 0 w 2"/>
              <a:gd name="T19" fmla="*/ 0 h 2"/>
              <a:gd name="T20" fmla="*/ 0 w 2"/>
              <a:gd name="T21" fmla="*/ 3175 h 2"/>
              <a:gd name="T22" fmla="*/ 3175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8" name="Freeform 1154"/>
          <p:cNvSpPr>
            <a:spLocks/>
          </p:cNvSpPr>
          <p:nvPr/>
        </p:nvSpPr>
        <p:spPr bwMode="auto">
          <a:xfrm>
            <a:off x="886887" y="43497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9" name="Freeform 1156"/>
          <p:cNvSpPr>
            <a:spLocks/>
          </p:cNvSpPr>
          <p:nvPr/>
        </p:nvSpPr>
        <p:spPr bwMode="auto">
          <a:xfrm>
            <a:off x="886887" y="431801"/>
            <a:ext cx="4233" cy="3175"/>
          </a:xfrm>
          <a:custGeom>
            <a:avLst/>
            <a:gdLst>
              <a:gd name="T0" fmla="*/ 3175 w 2"/>
              <a:gd name="T1" fmla="*/ 3175 h 2"/>
              <a:gd name="T2" fmla="*/ 0 w 2"/>
              <a:gd name="T3" fmla="*/ 0 h 2"/>
              <a:gd name="T4" fmla="*/ 0 w 2"/>
              <a:gd name="T5" fmla="*/ 0 h 2"/>
              <a:gd name="T6" fmla="*/ 0 w 2"/>
              <a:gd name="T7" fmla="*/ 3175 h 2"/>
              <a:gd name="T8" fmla="*/ 3175 w 2"/>
              <a:gd name="T9" fmla="*/ 3175 h 2"/>
              <a:gd name="T10" fmla="*/ 3175 w 2"/>
              <a:gd name="T11" fmla="*/ 3175 h 2"/>
              <a:gd name="T12" fmla="*/ 3175 w 2"/>
              <a:gd name="T13" fmla="*/ 3175 h 2"/>
              <a:gd name="T14" fmla="*/ 0 w 2"/>
              <a:gd name="T15" fmla="*/ 0 h 2"/>
              <a:gd name="T16" fmla="*/ 0 w 2"/>
              <a:gd name="T17" fmla="*/ 0 h 2"/>
              <a:gd name="T18" fmla="*/ 0 w 2"/>
              <a:gd name="T19" fmla="*/ 3175 h 2"/>
              <a:gd name="T20" fmla="*/ 3175 w 2"/>
              <a:gd name="T21" fmla="*/ 3175 h 2"/>
              <a:gd name="T22" fmla="*/ 3175 w 2"/>
              <a:gd name="T23" fmla="*/ 3175 h 2"/>
              <a:gd name="T24" fmla="*/ 3175 w 2"/>
              <a:gd name="T25" fmla="*/ 3175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0" name="Freeform 1163"/>
          <p:cNvSpPr>
            <a:spLocks/>
          </p:cNvSpPr>
          <p:nvPr/>
        </p:nvSpPr>
        <p:spPr bwMode="auto">
          <a:xfrm>
            <a:off x="814917" y="415932"/>
            <a:ext cx="8467" cy="3175"/>
          </a:xfrm>
          <a:custGeom>
            <a:avLst/>
            <a:gdLst>
              <a:gd name="T0" fmla="*/ 3175 w 4"/>
              <a:gd name="T1" fmla="*/ 3175 h 2"/>
              <a:gd name="T2" fmla="*/ 3175 w 4"/>
              <a:gd name="T3" fmla="*/ 3175 h 2"/>
              <a:gd name="T4" fmla="*/ 6350 w 4"/>
              <a:gd name="T5" fmla="*/ 3175 h 2"/>
              <a:gd name="T6" fmla="*/ 6350 w 4"/>
              <a:gd name="T7" fmla="*/ 0 h 2"/>
              <a:gd name="T8" fmla="*/ 6350 w 4"/>
              <a:gd name="T9" fmla="*/ 0 h 2"/>
              <a:gd name="T10" fmla="*/ 3175 w 4"/>
              <a:gd name="T11" fmla="*/ 0 h 2"/>
              <a:gd name="T12" fmla="*/ 3175 w 4"/>
              <a:gd name="T13" fmla="*/ 0 h 2"/>
              <a:gd name="T14" fmla="*/ 0 w 4"/>
              <a:gd name="T15" fmla="*/ 3175 h 2"/>
              <a:gd name="T16" fmla="*/ 3175 w 4"/>
              <a:gd name="T17" fmla="*/ 3175 h 2"/>
              <a:gd name="T18" fmla="*/ 3175 w 4"/>
              <a:gd name="T19" fmla="*/ 0 h 2"/>
              <a:gd name="T20" fmla="*/ 6350 w 4"/>
              <a:gd name="T21" fmla="*/ 3175 h 2"/>
              <a:gd name="T22" fmla="*/ 6350 w 4"/>
              <a:gd name="T23" fmla="*/ 0 h 2"/>
              <a:gd name="T24" fmla="*/ 6350 w 4"/>
              <a:gd name="T25" fmla="*/ 0 h 2"/>
              <a:gd name="T26" fmla="*/ 3175 w 4"/>
              <a:gd name="T27" fmla="*/ 0 h 2"/>
              <a:gd name="T28" fmla="*/ 3175 w 4"/>
              <a:gd name="T29" fmla="*/ 0 h 2"/>
              <a:gd name="T30" fmla="*/ 0 w 4"/>
              <a:gd name="T31" fmla="*/ 0 h 2"/>
              <a:gd name="T32" fmla="*/ 3175 w 4"/>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1" name="Freeform 1172"/>
          <p:cNvSpPr>
            <a:spLocks/>
          </p:cNvSpPr>
          <p:nvPr/>
        </p:nvSpPr>
        <p:spPr bwMode="auto">
          <a:xfrm>
            <a:off x="776822" y="476253"/>
            <a:ext cx="4233" cy="3175"/>
          </a:xfrm>
          <a:custGeom>
            <a:avLst/>
            <a:gdLst>
              <a:gd name="T0" fmla="*/ 0 w 2"/>
              <a:gd name="T1" fmla="*/ 3175 h 2"/>
              <a:gd name="T2" fmla="*/ 0 w 2"/>
              <a:gd name="T3" fmla="*/ 3175 h 2"/>
              <a:gd name="T4" fmla="*/ 3175 w 2"/>
              <a:gd name="T5" fmla="*/ 3175 h 2"/>
              <a:gd name="T6" fmla="*/ 0 w 2"/>
              <a:gd name="T7" fmla="*/ 0 h 2"/>
              <a:gd name="T8" fmla="*/ 0 w 2"/>
              <a:gd name="T9" fmla="*/ 0 h 2"/>
              <a:gd name="T10" fmla="*/ 0 w 2"/>
              <a:gd name="T11" fmla="*/ 0 h 2"/>
              <a:gd name="T12" fmla="*/ 0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0 w 2"/>
              <a:gd name="T59" fmla="*/ 3175 h 2"/>
              <a:gd name="T60" fmla="*/ 0 w 2"/>
              <a:gd name="T61" fmla="*/ 3175 h 2"/>
              <a:gd name="T62" fmla="*/ 0 w 2"/>
              <a:gd name="T63" fmla="*/ 3175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2" name="Freeform 1177"/>
          <p:cNvSpPr>
            <a:spLocks/>
          </p:cNvSpPr>
          <p:nvPr/>
        </p:nvSpPr>
        <p:spPr bwMode="auto">
          <a:xfrm>
            <a:off x="742956" y="534995"/>
            <a:ext cx="4233" cy="3175"/>
          </a:xfrm>
          <a:custGeom>
            <a:avLst/>
            <a:gdLst>
              <a:gd name="T0" fmla="*/ 0 w 2"/>
              <a:gd name="T1" fmla="*/ 3175 h 2"/>
              <a:gd name="T2" fmla="*/ 3175 w 2"/>
              <a:gd name="T3" fmla="*/ 3175 h 2"/>
              <a:gd name="T4" fmla="*/ 3175 w 2"/>
              <a:gd name="T5" fmla="*/ 3175 h 2"/>
              <a:gd name="T6" fmla="*/ 3175 w 2"/>
              <a:gd name="T7" fmla="*/ 0 h 2"/>
              <a:gd name="T8" fmla="*/ 3175 w 2"/>
              <a:gd name="T9" fmla="*/ 0 h 2"/>
              <a:gd name="T10" fmla="*/ 3175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3175 h 2"/>
              <a:gd name="T40" fmla="*/ 0 w 2"/>
              <a:gd name="T41" fmla="*/ 3175 h 2"/>
              <a:gd name="T42" fmla="*/ 3175 w 2"/>
              <a:gd name="T43" fmla="*/ 3175 h 2"/>
              <a:gd name="T44" fmla="*/ 3175 w 2"/>
              <a:gd name="T45" fmla="*/ 0 h 2"/>
              <a:gd name="T46" fmla="*/ 3175 w 2"/>
              <a:gd name="T47" fmla="*/ 0 h 2"/>
              <a:gd name="T48" fmla="*/ 3175 w 2"/>
              <a:gd name="T49" fmla="*/ 0 h 2"/>
              <a:gd name="T50" fmla="*/ 3175 w 2"/>
              <a:gd name="T51" fmla="*/ 0 h 2"/>
              <a:gd name="T52" fmla="*/ 3175 w 2"/>
              <a:gd name="T53" fmla="*/ 0 h 2"/>
              <a:gd name="T54" fmla="*/ 3175 w 2"/>
              <a:gd name="T55" fmla="*/ 0 h 2"/>
              <a:gd name="T56" fmla="*/ 3175 w 2"/>
              <a:gd name="T57" fmla="*/ 0 h 2"/>
              <a:gd name="T58" fmla="*/ 3175 w 2"/>
              <a:gd name="T59" fmla="*/ 0 h 2"/>
              <a:gd name="T60" fmla="*/ 3175 w 2"/>
              <a:gd name="T61" fmla="*/ 0 h 2"/>
              <a:gd name="T62" fmla="*/ 3175 w 2"/>
              <a:gd name="T63" fmla="*/ 0 h 2"/>
              <a:gd name="T64" fmla="*/ 3175 w 2"/>
              <a:gd name="T65" fmla="*/ 0 h 2"/>
              <a:gd name="T66" fmla="*/ 3175 w 2"/>
              <a:gd name="T67" fmla="*/ 3175 h 2"/>
              <a:gd name="T68" fmla="*/ 3175 w 2"/>
              <a:gd name="T69" fmla="*/ 0 h 2"/>
              <a:gd name="T70" fmla="*/ 3175 w 2"/>
              <a:gd name="T71" fmla="*/ 0 h 2"/>
              <a:gd name="T72" fmla="*/ 0 w 2"/>
              <a:gd name="T73" fmla="*/ 0 h 2"/>
              <a:gd name="T74" fmla="*/ 0 w 2"/>
              <a:gd name="T75" fmla="*/ 0 h 2"/>
              <a:gd name="T76" fmla="*/ 0 w 2"/>
              <a:gd name="T77" fmla="*/ 3175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3" name="Freeform 1180"/>
          <p:cNvSpPr>
            <a:spLocks/>
          </p:cNvSpPr>
          <p:nvPr/>
        </p:nvSpPr>
        <p:spPr bwMode="auto">
          <a:xfrm>
            <a:off x="747189" y="530232"/>
            <a:ext cx="4233" cy="4763"/>
          </a:xfrm>
          <a:custGeom>
            <a:avLst/>
            <a:gdLst>
              <a:gd name="T0" fmla="*/ 0 w 2"/>
              <a:gd name="T1" fmla="*/ 4763 h 3"/>
              <a:gd name="T2" fmla="*/ 0 w 2"/>
              <a:gd name="T3" fmla="*/ 4763 h 3"/>
              <a:gd name="T4" fmla="*/ 3175 w 2"/>
              <a:gd name="T5" fmla="*/ 4763 h 3"/>
              <a:gd name="T6" fmla="*/ 3175 w 2"/>
              <a:gd name="T7" fmla="*/ 4763 h 3"/>
              <a:gd name="T8" fmla="*/ 0 w 2"/>
              <a:gd name="T9" fmla="*/ 0 h 3"/>
              <a:gd name="T10" fmla="*/ 0 w 2"/>
              <a:gd name="T11" fmla="*/ 0 h 3"/>
              <a:gd name="T12" fmla="*/ 0 w 2"/>
              <a:gd name="T13" fmla="*/ 0 h 3"/>
              <a:gd name="T14" fmla="*/ 0 w 2"/>
              <a:gd name="T15" fmla="*/ 4763 h 3"/>
              <a:gd name="T16" fmla="*/ 0 w 2"/>
              <a:gd name="T17" fmla="*/ 4763 h 3"/>
              <a:gd name="T18" fmla="*/ 0 w 2"/>
              <a:gd name="T19" fmla="*/ 4763 h 3"/>
              <a:gd name="T20" fmla="*/ 0 w 2"/>
              <a:gd name="T21" fmla="*/ 4763 h 3"/>
              <a:gd name="T22" fmla="*/ 0 w 2"/>
              <a:gd name="T23" fmla="*/ 0 h 3"/>
              <a:gd name="T24" fmla="*/ 0 w 2"/>
              <a:gd name="T25" fmla="*/ 4763 h 3"/>
              <a:gd name="T26" fmla="*/ 0 w 2"/>
              <a:gd name="T27" fmla="*/ 4763 h 3"/>
              <a:gd name="T28" fmla="*/ 0 w 2"/>
              <a:gd name="T29" fmla="*/ 4763 h 3"/>
              <a:gd name="T30" fmla="*/ 0 w 2"/>
              <a:gd name="T31" fmla="*/ 4763 h 3"/>
              <a:gd name="T32" fmla="*/ 0 w 2"/>
              <a:gd name="T33" fmla="*/ 4763 h 3"/>
              <a:gd name="T34" fmla="*/ 0 w 2"/>
              <a:gd name="T35" fmla="*/ 4763 h 3"/>
              <a:gd name="T36" fmla="*/ 0 w 2"/>
              <a:gd name="T37" fmla="*/ 4763 h 3"/>
              <a:gd name="T38" fmla="*/ 0 w 2"/>
              <a:gd name="T39" fmla="*/ 4763 h 3"/>
              <a:gd name="T40" fmla="*/ 0 w 2"/>
              <a:gd name="T41" fmla="*/ 4763 h 3"/>
              <a:gd name="T42" fmla="*/ 0 w 2"/>
              <a:gd name="T43" fmla="*/ 4763 h 3"/>
              <a:gd name="T44" fmla="*/ 0 w 2"/>
              <a:gd name="T45" fmla="*/ 4763 h 3"/>
              <a:gd name="T46" fmla="*/ 0 w 2"/>
              <a:gd name="T47" fmla="*/ 4763 h 3"/>
              <a:gd name="T48" fmla="*/ 0 w 2"/>
              <a:gd name="T49" fmla="*/ 4763 h 3"/>
              <a:gd name="T50" fmla="*/ 0 w 2"/>
              <a:gd name="T51" fmla="*/ 4763 h 3"/>
              <a:gd name="T52" fmla="*/ 0 w 2"/>
              <a:gd name="T53" fmla="*/ 4763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4" name="Line 1187"/>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5" name="Line 1188"/>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6" name="Freeform 1208"/>
          <p:cNvSpPr>
            <a:spLocks/>
          </p:cNvSpPr>
          <p:nvPr/>
        </p:nvSpPr>
        <p:spPr bwMode="auto">
          <a:xfrm>
            <a:off x="793751" y="557220"/>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7" name="Freeform 1210"/>
          <p:cNvSpPr>
            <a:spLocks/>
          </p:cNvSpPr>
          <p:nvPr/>
        </p:nvSpPr>
        <p:spPr bwMode="auto">
          <a:xfrm>
            <a:off x="793756" y="557220"/>
            <a:ext cx="4233" cy="3175"/>
          </a:xfrm>
          <a:custGeom>
            <a:avLst/>
            <a:gdLst>
              <a:gd name="T0" fmla="*/ 0 w 2"/>
              <a:gd name="T1" fmla="*/ 3175 h 2"/>
              <a:gd name="T2" fmla="*/ 0 w 2"/>
              <a:gd name="T3" fmla="*/ 3175 h 2"/>
              <a:gd name="T4" fmla="*/ 3175 w 2"/>
              <a:gd name="T5" fmla="*/ 3175 h 2"/>
              <a:gd name="T6" fmla="*/ 3175 w 2"/>
              <a:gd name="T7" fmla="*/ 0 h 2"/>
              <a:gd name="T8" fmla="*/ 3175 w 2"/>
              <a:gd name="T9" fmla="*/ 0 h 2"/>
              <a:gd name="T10" fmla="*/ 0 w 2"/>
              <a:gd name="T11" fmla="*/ 0 h 2"/>
              <a:gd name="T12" fmla="*/ 0 w 2"/>
              <a:gd name="T13" fmla="*/ 0 h 2"/>
              <a:gd name="T14" fmla="*/ 0 w 2"/>
              <a:gd name="T15" fmla="*/ 0 h 2"/>
              <a:gd name="T16" fmla="*/ 0 w 2"/>
              <a:gd name="T17" fmla="*/ 3175 h 2"/>
              <a:gd name="T18" fmla="*/ 0 w 2"/>
              <a:gd name="T19" fmla="*/ 3175 h 2"/>
              <a:gd name="T20" fmla="*/ 3175 w 2"/>
              <a:gd name="T21" fmla="*/ 3175 h 2"/>
              <a:gd name="T22" fmla="*/ 3175 w 2"/>
              <a:gd name="T23" fmla="*/ 0 h 2"/>
              <a:gd name="T24" fmla="*/ 3175 w 2"/>
              <a:gd name="T25" fmla="*/ 0 h 2"/>
              <a:gd name="T26" fmla="*/ 0 w 2"/>
              <a:gd name="T27" fmla="*/ 0 h 2"/>
              <a:gd name="T28" fmla="*/ 0 w 2"/>
              <a:gd name="T29" fmla="*/ 0 h 2"/>
              <a:gd name="T30" fmla="*/ 0 w 2"/>
              <a:gd name="T31" fmla="*/ 0 h 2"/>
              <a:gd name="T32" fmla="*/ 0 w 2"/>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8" name="Freeform 1214"/>
          <p:cNvSpPr>
            <a:spLocks/>
          </p:cNvSpPr>
          <p:nvPr/>
        </p:nvSpPr>
        <p:spPr bwMode="auto">
          <a:xfrm>
            <a:off x="793756" y="557220"/>
            <a:ext cx="4233" cy="3175"/>
          </a:xfrm>
          <a:custGeom>
            <a:avLst/>
            <a:gdLst>
              <a:gd name="T0" fmla="*/ 0 w 2"/>
              <a:gd name="T1" fmla="*/ 3175 h 2"/>
              <a:gd name="T2" fmla="*/ 3175 w 2"/>
              <a:gd name="T3" fmla="*/ 3175 h 2"/>
              <a:gd name="T4" fmla="*/ 0 w 2"/>
              <a:gd name="T5" fmla="*/ 0 h 2"/>
              <a:gd name="T6" fmla="*/ 0 w 2"/>
              <a:gd name="T7" fmla="*/ 3175 h 2"/>
              <a:gd name="T8" fmla="*/ 0 w 2"/>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9" name="Rectangle 1215"/>
          <p:cNvSpPr>
            <a:spLocks noChangeArrowheads="1"/>
          </p:cNvSpPr>
          <p:nvPr/>
        </p:nvSpPr>
        <p:spPr bwMode="auto">
          <a:xfrm>
            <a:off x="793751" y="627070"/>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0" name="Freeform 1217"/>
          <p:cNvSpPr>
            <a:spLocks/>
          </p:cNvSpPr>
          <p:nvPr/>
        </p:nvSpPr>
        <p:spPr bwMode="auto">
          <a:xfrm>
            <a:off x="793751" y="6270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1" name="Freeform 1219"/>
          <p:cNvSpPr>
            <a:spLocks/>
          </p:cNvSpPr>
          <p:nvPr/>
        </p:nvSpPr>
        <p:spPr bwMode="auto">
          <a:xfrm>
            <a:off x="975787" y="541345"/>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2" name="Freeform 1221"/>
          <p:cNvSpPr>
            <a:spLocks/>
          </p:cNvSpPr>
          <p:nvPr/>
        </p:nvSpPr>
        <p:spPr bwMode="auto">
          <a:xfrm>
            <a:off x="975789" y="541345"/>
            <a:ext cx="4233" cy="3175"/>
          </a:xfrm>
          <a:custGeom>
            <a:avLst/>
            <a:gdLst>
              <a:gd name="T0" fmla="*/ 3175 w 2"/>
              <a:gd name="T1" fmla="*/ 0 h 2"/>
              <a:gd name="T2" fmla="*/ 3175 w 2"/>
              <a:gd name="T3" fmla="*/ 0 h 2"/>
              <a:gd name="T4" fmla="*/ 3175 w 2"/>
              <a:gd name="T5" fmla="*/ 0 h 2"/>
              <a:gd name="T6" fmla="*/ 0 w 2"/>
              <a:gd name="T7" fmla="*/ 0 h 2"/>
              <a:gd name="T8" fmla="*/ 0 w 2"/>
              <a:gd name="T9" fmla="*/ 0 h 2"/>
              <a:gd name="T10" fmla="*/ 0 w 2"/>
              <a:gd name="T11" fmla="*/ 3175 h 2"/>
              <a:gd name="T12" fmla="*/ 3175 w 2"/>
              <a:gd name="T13" fmla="*/ 0 h 2"/>
              <a:gd name="T14" fmla="*/ 3175 w 2"/>
              <a:gd name="T15" fmla="*/ 0 h 2"/>
              <a:gd name="T16" fmla="*/ 3175 w 2"/>
              <a:gd name="T17" fmla="*/ 0 h 2"/>
              <a:gd name="T18" fmla="*/ 0 w 2"/>
              <a:gd name="T19" fmla="*/ 0 h 2"/>
              <a:gd name="T20" fmla="*/ 0 w 2"/>
              <a:gd name="T21" fmla="*/ 0 h 2"/>
              <a:gd name="T22" fmla="*/ 0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3" name="Freeform 1234"/>
          <p:cNvSpPr>
            <a:spLocks/>
          </p:cNvSpPr>
          <p:nvPr/>
        </p:nvSpPr>
        <p:spPr bwMode="auto">
          <a:xfrm>
            <a:off x="963089" y="550870"/>
            <a:ext cx="4233" cy="1587"/>
          </a:xfrm>
          <a:custGeom>
            <a:avLst/>
            <a:gdLst>
              <a:gd name="T0" fmla="*/ 0 w 2"/>
              <a:gd name="T1" fmla="*/ 0 h 1587"/>
              <a:gd name="T2" fmla="*/ 0 w 2"/>
              <a:gd name="T3" fmla="*/ 0 h 1587"/>
              <a:gd name="T4" fmla="*/ 3175 w 2"/>
              <a:gd name="T5" fmla="*/ 0 h 1587"/>
              <a:gd name="T6" fmla="*/ 3175 w 2"/>
              <a:gd name="T7" fmla="*/ 0 h 1587"/>
              <a:gd name="T8" fmla="*/ 3175 w 2"/>
              <a:gd name="T9" fmla="*/ 0 h 1587"/>
              <a:gd name="T10" fmla="*/ 3175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3175 w 2"/>
              <a:gd name="T25" fmla="*/ 0 h 1587"/>
              <a:gd name="T26" fmla="*/ 3175 w 2"/>
              <a:gd name="T27" fmla="*/ 0 h 1587"/>
              <a:gd name="T28" fmla="*/ 3175 w 2"/>
              <a:gd name="T29" fmla="*/ 0 h 1587"/>
              <a:gd name="T30" fmla="*/ 0 w 2"/>
              <a:gd name="T31" fmla="*/ 0 h 1587"/>
              <a:gd name="T32" fmla="*/ 0 w 2"/>
              <a:gd name="T33" fmla="*/ 0 h 1587"/>
              <a:gd name="T34" fmla="*/ 3175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4" name="Line 1237"/>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5" name="Line 1238"/>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6" name="Freeform 1240"/>
          <p:cNvSpPr>
            <a:spLocks/>
          </p:cNvSpPr>
          <p:nvPr/>
        </p:nvSpPr>
        <p:spPr bwMode="auto">
          <a:xfrm>
            <a:off x="971551" y="541345"/>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7" name="Freeform 1243"/>
          <p:cNvSpPr>
            <a:spLocks/>
          </p:cNvSpPr>
          <p:nvPr/>
        </p:nvSpPr>
        <p:spPr bwMode="auto">
          <a:xfrm>
            <a:off x="971556" y="538170"/>
            <a:ext cx="4233" cy="3175"/>
          </a:xfrm>
          <a:custGeom>
            <a:avLst/>
            <a:gdLst>
              <a:gd name="T0" fmla="*/ 3175 w 2"/>
              <a:gd name="T1" fmla="*/ 3175 h 2"/>
              <a:gd name="T2" fmla="*/ 3175 w 2"/>
              <a:gd name="T3" fmla="*/ 3175 h 2"/>
              <a:gd name="T4" fmla="*/ 3175 w 2"/>
              <a:gd name="T5" fmla="*/ 3175 h 2"/>
              <a:gd name="T6" fmla="*/ 3175 w 2"/>
              <a:gd name="T7" fmla="*/ 3175 h 2"/>
              <a:gd name="T8" fmla="*/ 0 w 2"/>
              <a:gd name="T9" fmla="*/ 3175 h 2"/>
              <a:gd name="T10" fmla="*/ 0 w 2"/>
              <a:gd name="T11" fmla="*/ 3175 h 2"/>
              <a:gd name="T12" fmla="*/ 3175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3175 w 2"/>
              <a:gd name="T39" fmla="*/ 3175 h 2"/>
              <a:gd name="T40" fmla="*/ 3175 w 2"/>
              <a:gd name="T41" fmla="*/ 3175 h 2"/>
              <a:gd name="T42" fmla="*/ 3175 w 2"/>
              <a:gd name="T43" fmla="*/ 3175 h 2"/>
              <a:gd name="T44" fmla="*/ 3175 w 2"/>
              <a:gd name="T45" fmla="*/ 3175 h 2"/>
              <a:gd name="T46" fmla="*/ 3175 w 2"/>
              <a:gd name="T47" fmla="*/ 3175 h 2"/>
              <a:gd name="T48" fmla="*/ 0 w 2"/>
              <a:gd name="T49" fmla="*/ 0 h 2"/>
              <a:gd name="T50" fmla="*/ 0 w 2"/>
              <a:gd name="T51" fmla="*/ 3175 h 2"/>
              <a:gd name="T52" fmla="*/ 0 w 2"/>
              <a:gd name="T53" fmla="*/ 3175 h 2"/>
              <a:gd name="T54" fmla="*/ 0 w 2"/>
              <a:gd name="T55" fmla="*/ 3175 h 2"/>
              <a:gd name="T56" fmla="*/ 3175 w 2"/>
              <a:gd name="T57" fmla="*/ 3175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8" name="Freeform 1246"/>
          <p:cNvSpPr>
            <a:spLocks/>
          </p:cNvSpPr>
          <p:nvPr/>
        </p:nvSpPr>
        <p:spPr bwMode="auto">
          <a:xfrm>
            <a:off x="967322" y="547695"/>
            <a:ext cx="4233" cy="3175"/>
          </a:xfrm>
          <a:custGeom>
            <a:avLst/>
            <a:gdLst>
              <a:gd name="T0" fmla="*/ 0 w 2"/>
              <a:gd name="T1" fmla="*/ 3175 h 2"/>
              <a:gd name="T2" fmla="*/ 0 w 2"/>
              <a:gd name="T3" fmla="*/ 3175 h 2"/>
              <a:gd name="T4" fmla="*/ 3175 w 2"/>
              <a:gd name="T5" fmla="*/ 0 h 2"/>
              <a:gd name="T6" fmla="*/ 3175 w 2"/>
              <a:gd name="T7" fmla="*/ 0 h 2"/>
              <a:gd name="T8" fmla="*/ 0 w 2"/>
              <a:gd name="T9" fmla="*/ 0 h 2"/>
              <a:gd name="T10" fmla="*/ 0 w 2"/>
              <a:gd name="T11" fmla="*/ 0 h 2"/>
              <a:gd name="T12" fmla="*/ 0 w 2"/>
              <a:gd name="T13" fmla="*/ 3175 h 2"/>
              <a:gd name="T14" fmla="*/ 0 w 2"/>
              <a:gd name="T15" fmla="*/ 3175 h 2"/>
              <a:gd name="T16" fmla="*/ 3175 w 2"/>
              <a:gd name="T17" fmla="*/ 0 h 2"/>
              <a:gd name="T18" fmla="*/ 3175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3175 h 2"/>
              <a:gd name="T48" fmla="*/ 0 w 2"/>
              <a:gd name="T49" fmla="*/ 3175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9" name="Freeform 1250"/>
          <p:cNvSpPr>
            <a:spLocks/>
          </p:cNvSpPr>
          <p:nvPr/>
        </p:nvSpPr>
        <p:spPr bwMode="auto">
          <a:xfrm>
            <a:off x="975789" y="53022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0" name="Freeform 1252"/>
          <p:cNvSpPr>
            <a:spLocks/>
          </p:cNvSpPr>
          <p:nvPr/>
        </p:nvSpPr>
        <p:spPr bwMode="auto">
          <a:xfrm>
            <a:off x="975789" y="527050"/>
            <a:ext cx="4233" cy="7938"/>
          </a:xfrm>
          <a:custGeom>
            <a:avLst/>
            <a:gdLst>
              <a:gd name="T0" fmla="*/ 3175 w 2"/>
              <a:gd name="T1" fmla="*/ 3175 h 5"/>
              <a:gd name="T2" fmla="*/ 3175 w 2"/>
              <a:gd name="T3" fmla="*/ 3175 h 5"/>
              <a:gd name="T4" fmla="*/ 0 w 2"/>
              <a:gd name="T5" fmla="*/ 0 h 5"/>
              <a:gd name="T6" fmla="*/ 0 w 2"/>
              <a:gd name="T7" fmla="*/ 3175 h 5"/>
              <a:gd name="T8" fmla="*/ 0 w 2"/>
              <a:gd name="T9" fmla="*/ 3175 h 5"/>
              <a:gd name="T10" fmla="*/ 3175 w 2"/>
              <a:gd name="T11" fmla="*/ 7938 h 5"/>
              <a:gd name="T12" fmla="*/ 3175 w 2"/>
              <a:gd name="T13" fmla="*/ 3175 h 5"/>
              <a:gd name="T14" fmla="*/ 3175 w 2"/>
              <a:gd name="T15" fmla="*/ 3175 h 5"/>
              <a:gd name="T16" fmla="*/ 0 w 2"/>
              <a:gd name="T17" fmla="*/ 0 h 5"/>
              <a:gd name="T18" fmla="*/ 0 w 2"/>
              <a:gd name="T19" fmla="*/ 3175 h 5"/>
              <a:gd name="T20" fmla="*/ 0 w 2"/>
              <a:gd name="T21" fmla="*/ 3175 h 5"/>
              <a:gd name="T22" fmla="*/ 3175 w 2"/>
              <a:gd name="T23" fmla="*/ 7938 h 5"/>
              <a:gd name="T24" fmla="*/ 3175 w 2"/>
              <a:gd name="T25" fmla="*/ 3175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1" name="Freeform 1255"/>
          <p:cNvSpPr>
            <a:spLocks/>
          </p:cNvSpPr>
          <p:nvPr/>
        </p:nvSpPr>
        <p:spPr bwMode="auto">
          <a:xfrm>
            <a:off x="950389" y="550870"/>
            <a:ext cx="4233" cy="1587"/>
          </a:xfrm>
          <a:custGeom>
            <a:avLst/>
            <a:gdLst>
              <a:gd name="T0" fmla="*/ 0 w 2"/>
              <a:gd name="T1" fmla="*/ 0 h 1587"/>
              <a:gd name="T2" fmla="*/ 3175 w 2"/>
              <a:gd name="T3" fmla="*/ 0 h 1587"/>
              <a:gd name="T4" fmla="*/ 3175 w 2"/>
              <a:gd name="T5" fmla="*/ 0 h 1587"/>
              <a:gd name="T6" fmla="*/ 3175 w 2"/>
              <a:gd name="T7" fmla="*/ 0 h 1587"/>
              <a:gd name="T8" fmla="*/ 3175 w 2"/>
              <a:gd name="T9" fmla="*/ 0 h 1587"/>
              <a:gd name="T10" fmla="*/ 0 w 2"/>
              <a:gd name="T11" fmla="*/ 0 h 1587"/>
              <a:gd name="T12" fmla="*/ 0 w 2"/>
              <a:gd name="T13" fmla="*/ 0 h 1587"/>
              <a:gd name="T14" fmla="*/ 0 w 2"/>
              <a:gd name="T15" fmla="*/ 0 h 1587"/>
              <a:gd name="T16" fmla="*/ 0 w 2"/>
              <a:gd name="T17" fmla="*/ 0 h 1587"/>
              <a:gd name="T18" fmla="*/ 3175 w 2"/>
              <a:gd name="T19" fmla="*/ 0 h 1587"/>
              <a:gd name="T20" fmla="*/ 3175 w 2"/>
              <a:gd name="T21" fmla="*/ 0 h 1587"/>
              <a:gd name="T22" fmla="*/ 3175 w 2"/>
              <a:gd name="T23" fmla="*/ 0 h 1587"/>
              <a:gd name="T24" fmla="*/ 3175 w 2"/>
              <a:gd name="T25" fmla="*/ 0 h 1587"/>
              <a:gd name="T26" fmla="*/ 3175 w 2"/>
              <a:gd name="T27" fmla="*/ 0 h 1587"/>
              <a:gd name="T28" fmla="*/ 3175 w 2"/>
              <a:gd name="T29" fmla="*/ 0 h 1587"/>
              <a:gd name="T30" fmla="*/ 3175 w 2"/>
              <a:gd name="T31" fmla="*/ 0 h 1587"/>
              <a:gd name="T32" fmla="*/ 3175 w 2"/>
              <a:gd name="T33" fmla="*/ 0 h 1587"/>
              <a:gd name="T34" fmla="*/ 3175 w 2"/>
              <a:gd name="T35" fmla="*/ 0 h 1587"/>
              <a:gd name="T36" fmla="*/ 3175 w 2"/>
              <a:gd name="T37" fmla="*/ 0 h 1587"/>
              <a:gd name="T38" fmla="*/ 3175 w 2"/>
              <a:gd name="T39" fmla="*/ 0 h 1587"/>
              <a:gd name="T40" fmla="*/ 3175 w 2"/>
              <a:gd name="T41" fmla="*/ 0 h 1587"/>
              <a:gd name="T42" fmla="*/ 3175 w 2"/>
              <a:gd name="T43" fmla="*/ 0 h 1587"/>
              <a:gd name="T44" fmla="*/ 3175 w 2"/>
              <a:gd name="T45" fmla="*/ 0 h 1587"/>
              <a:gd name="T46" fmla="*/ 3175 w 2"/>
              <a:gd name="T47" fmla="*/ 0 h 1587"/>
              <a:gd name="T48" fmla="*/ 3175 w 2"/>
              <a:gd name="T49" fmla="*/ 0 h 1587"/>
              <a:gd name="T50" fmla="*/ 3175 w 2"/>
              <a:gd name="T51" fmla="*/ 0 h 1587"/>
              <a:gd name="T52" fmla="*/ 3175 w 2"/>
              <a:gd name="T53" fmla="*/ 0 h 1587"/>
              <a:gd name="T54" fmla="*/ 3175 w 2"/>
              <a:gd name="T55" fmla="*/ 0 h 1587"/>
              <a:gd name="T56" fmla="*/ 3175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2" name="Rectangle 1256"/>
          <p:cNvSpPr>
            <a:spLocks noChangeArrowheads="1"/>
          </p:cNvSpPr>
          <p:nvPr/>
        </p:nvSpPr>
        <p:spPr bwMode="auto">
          <a:xfrm>
            <a:off x="963087" y="550870"/>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3" name="Freeform 1258"/>
          <p:cNvSpPr>
            <a:spLocks/>
          </p:cNvSpPr>
          <p:nvPr/>
        </p:nvSpPr>
        <p:spPr bwMode="auto">
          <a:xfrm>
            <a:off x="963087" y="5508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4" name="Freeform 1266"/>
          <p:cNvSpPr>
            <a:spLocks/>
          </p:cNvSpPr>
          <p:nvPr/>
        </p:nvSpPr>
        <p:spPr bwMode="auto">
          <a:xfrm>
            <a:off x="971551" y="534995"/>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5" name="Freeform 1269"/>
          <p:cNvSpPr>
            <a:spLocks/>
          </p:cNvSpPr>
          <p:nvPr/>
        </p:nvSpPr>
        <p:spPr bwMode="auto">
          <a:xfrm>
            <a:off x="971556" y="530232"/>
            <a:ext cx="4233" cy="4763"/>
          </a:xfrm>
          <a:custGeom>
            <a:avLst/>
            <a:gdLst>
              <a:gd name="T0" fmla="*/ 0 w 2"/>
              <a:gd name="T1" fmla="*/ 4763 h 3"/>
              <a:gd name="T2" fmla="*/ 3175 w 2"/>
              <a:gd name="T3" fmla="*/ 0 h 3"/>
              <a:gd name="T4" fmla="*/ 3175 w 2"/>
              <a:gd name="T5" fmla="*/ 0 h 3"/>
              <a:gd name="T6" fmla="*/ 3175 w 2"/>
              <a:gd name="T7" fmla="*/ 0 h 3"/>
              <a:gd name="T8" fmla="*/ 3175 w 2"/>
              <a:gd name="T9" fmla="*/ 0 h 3"/>
              <a:gd name="T10" fmla="*/ 0 w 2"/>
              <a:gd name="T11" fmla="*/ 0 h 3"/>
              <a:gd name="T12" fmla="*/ 0 w 2"/>
              <a:gd name="T13" fmla="*/ 0 h 3"/>
              <a:gd name="T14" fmla="*/ 0 w 2"/>
              <a:gd name="T15" fmla="*/ 4763 h 3"/>
              <a:gd name="T16" fmla="*/ 0 w 2"/>
              <a:gd name="T17" fmla="*/ 4763 h 3"/>
              <a:gd name="T18" fmla="*/ 3175 w 2"/>
              <a:gd name="T19" fmla="*/ 0 h 3"/>
              <a:gd name="T20" fmla="*/ 3175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4763 h 3"/>
              <a:gd name="T40" fmla="*/ 0 w 2"/>
              <a:gd name="T41" fmla="*/ 4763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6"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7"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8"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9"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0"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1"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2" name="Freeform 1277"/>
          <p:cNvSpPr>
            <a:spLocks/>
          </p:cNvSpPr>
          <p:nvPr/>
        </p:nvSpPr>
        <p:spPr bwMode="auto">
          <a:xfrm>
            <a:off x="971551" y="523882"/>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3" name="Freeform 1287"/>
          <p:cNvSpPr>
            <a:spLocks/>
          </p:cNvSpPr>
          <p:nvPr/>
        </p:nvSpPr>
        <p:spPr bwMode="auto">
          <a:xfrm>
            <a:off x="958856" y="514350"/>
            <a:ext cx="4233" cy="3175"/>
          </a:xfrm>
          <a:custGeom>
            <a:avLst/>
            <a:gdLst>
              <a:gd name="T0" fmla="*/ 0 w 2"/>
              <a:gd name="T1" fmla="*/ 0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3175 h 2"/>
              <a:gd name="T18" fmla="*/ 0 w 2"/>
              <a:gd name="T19" fmla="*/ 3175 h 2"/>
              <a:gd name="T20" fmla="*/ 0 w 2"/>
              <a:gd name="T21" fmla="*/ 3175 h 2"/>
              <a:gd name="T22" fmla="*/ 0 w 2"/>
              <a:gd name="T23" fmla="*/ 3175 h 2"/>
              <a:gd name="T24" fmla="*/ 3175 w 2"/>
              <a:gd name="T25" fmla="*/ 3175 h 2"/>
              <a:gd name="T26" fmla="*/ 3175 w 2"/>
              <a:gd name="T27" fmla="*/ 3175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4" name="Freeform 1290"/>
          <p:cNvSpPr>
            <a:spLocks/>
          </p:cNvSpPr>
          <p:nvPr/>
        </p:nvSpPr>
        <p:spPr bwMode="auto">
          <a:xfrm>
            <a:off x="958856" y="517527"/>
            <a:ext cx="4233" cy="3175"/>
          </a:xfrm>
          <a:custGeom>
            <a:avLst/>
            <a:gdLst>
              <a:gd name="T0" fmla="*/ 0 w 2"/>
              <a:gd name="T1" fmla="*/ 3175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0 h 2"/>
              <a:gd name="T18" fmla="*/ 0 w 2"/>
              <a:gd name="T19" fmla="*/ 0 h 2"/>
              <a:gd name="T20" fmla="*/ 3175 w 2"/>
              <a:gd name="T21" fmla="*/ 0 h 2"/>
              <a:gd name="T22" fmla="*/ 0 w 2"/>
              <a:gd name="T23" fmla="*/ 0 h 2"/>
              <a:gd name="T24" fmla="*/ 0 w 2"/>
              <a:gd name="T25" fmla="*/ 0 h 2"/>
              <a:gd name="T26" fmla="*/ 0 w 2"/>
              <a:gd name="T27" fmla="*/ 0 h 2"/>
              <a:gd name="T28" fmla="*/ 0 w 2"/>
              <a:gd name="T29" fmla="*/ 0 h 2"/>
              <a:gd name="T30" fmla="*/ 0 w 2"/>
              <a:gd name="T31" fmla="*/ 3175 h 2"/>
              <a:gd name="T32" fmla="*/ 0 w 2"/>
              <a:gd name="T33" fmla="*/ 3175 h 2"/>
              <a:gd name="T34" fmla="*/ 0 w 2"/>
              <a:gd name="T35" fmla="*/ 3175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3175 h 2"/>
              <a:gd name="T50" fmla="*/ 3175 w 2"/>
              <a:gd name="T51" fmla="*/ 3175 h 2"/>
              <a:gd name="T52" fmla="*/ 3175 w 2"/>
              <a:gd name="T53" fmla="*/ 0 h 2"/>
              <a:gd name="T54" fmla="*/ 3175 w 2"/>
              <a:gd name="T55" fmla="*/ 0 h 2"/>
              <a:gd name="T56" fmla="*/ 0 w 2"/>
              <a:gd name="T57" fmla="*/ 0 h 2"/>
              <a:gd name="T58" fmla="*/ 0 w 2"/>
              <a:gd name="T59" fmla="*/ 0 h 2"/>
              <a:gd name="T60" fmla="*/ 0 w 2"/>
              <a:gd name="T61" fmla="*/ 3175 h 2"/>
              <a:gd name="T62" fmla="*/ 0 w 2"/>
              <a:gd name="T63" fmla="*/ 3175 h 2"/>
              <a:gd name="T64" fmla="*/ 3175 w 2"/>
              <a:gd name="T65" fmla="*/ 3175 h 2"/>
              <a:gd name="T66" fmla="*/ 3175 w 2"/>
              <a:gd name="T67" fmla="*/ 3175 h 2"/>
              <a:gd name="T68" fmla="*/ 0 w 2"/>
              <a:gd name="T69" fmla="*/ 3175 h 2"/>
              <a:gd name="T70" fmla="*/ 0 w 2"/>
              <a:gd name="T71" fmla="*/ 3175 h 2"/>
              <a:gd name="T72" fmla="*/ 0 w 2"/>
              <a:gd name="T73" fmla="*/ 3175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5"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6" name="Rectangle 1336"/>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7" name="Rectangle 1337"/>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8"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9"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0"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1"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2" name="Rectangle 1344"/>
          <p:cNvSpPr>
            <a:spLocks noChangeArrowheads="1"/>
          </p:cNvSpPr>
          <p:nvPr/>
        </p:nvSpPr>
        <p:spPr bwMode="auto">
          <a:xfrm>
            <a:off x="620187" y="485780"/>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24" name="Title 323"/>
          <p:cNvSpPr>
            <a:spLocks noGrp="1"/>
          </p:cNvSpPr>
          <p:nvPr>
            <p:ph type="title"/>
          </p:nvPr>
        </p:nvSpPr>
        <p:spPr>
          <a:xfrm>
            <a:off x="457868" y="301632"/>
            <a:ext cx="11252869" cy="1031875"/>
          </a:xfrm>
        </p:spPr>
        <p:txBody>
          <a:bodyPr/>
          <a:lstStyle>
            <a:lvl1pPr>
              <a:defRPr b="0" i="0" cap="none" baseline="0">
                <a:solidFill>
                  <a:srgbClr val="021F43"/>
                </a:solidFill>
                <a:latin typeface="+mn-lt"/>
                <a:cs typeface="Andes ExtraLight"/>
              </a:defRPr>
            </a:lvl1pPr>
          </a:lstStyle>
          <a:p>
            <a:r>
              <a:rPr lang="en-US"/>
              <a:t>Click to edit Master title style</a:t>
            </a:r>
          </a:p>
        </p:txBody>
      </p:sp>
      <p:sp>
        <p:nvSpPr>
          <p:cNvPr id="331" name="Content Placeholder 330"/>
          <p:cNvSpPr>
            <a:spLocks noGrp="1"/>
          </p:cNvSpPr>
          <p:nvPr>
            <p:ph sz="quarter" idx="10"/>
          </p:nvPr>
        </p:nvSpPr>
        <p:spPr>
          <a:xfrm>
            <a:off x="457871" y="1460504"/>
            <a:ext cx="11253740" cy="4600863"/>
          </a:xfrm>
        </p:spPr>
        <p:txBody>
          <a:bodyPr>
            <a:normAutofit/>
          </a:bodyPr>
          <a:lstStyle>
            <a:lvl1pPr>
              <a:lnSpc>
                <a:spcPct val="130000"/>
              </a:lnSpc>
              <a:spcBef>
                <a:spcPts val="1200"/>
              </a:spcBef>
              <a:defRPr>
                <a:solidFill>
                  <a:srgbClr val="7F7F7F"/>
                </a:solidFill>
              </a:defRPr>
            </a:lvl1pPr>
            <a:lvl2pPr>
              <a:lnSpc>
                <a:spcPct val="130000"/>
              </a:lnSpc>
              <a:spcBef>
                <a:spcPts val="1200"/>
              </a:spcBef>
              <a:buClr>
                <a:schemeClr val="tx2">
                  <a:lumMod val="50000"/>
                  <a:lumOff val="50000"/>
                </a:schemeClr>
              </a:buClr>
              <a:defRPr>
                <a:solidFill>
                  <a:srgbClr val="7F7F7F"/>
                </a:solidFill>
              </a:defRPr>
            </a:lvl2pPr>
            <a:lvl3pPr marL="557770">
              <a:lnSpc>
                <a:spcPct val="130000"/>
              </a:lnSpc>
              <a:spcBef>
                <a:spcPts val="0"/>
              </a:spcBef>
              <a:buClr>
                <a:schemeClr val="tx2">
                  <a:lumMod val="50000"/>
                  <a:lumOff val="50000"/>
                </a:schemeClr>
              </a:buClr>
              <a:defRPr>
                <a:solidFill>
                  <a:srgbClr val="7F7F7F"/>
                </a:solidFill>
              </a:defRPr>
            </a:lvl3pPr>
            <a:lvl4pPr>
              <a:lnSpc>
                <a:spcPct val="130000"/>
              </a:lnSpc>
              <a:spcBef>
                <a:spcPts val="0"/>
              </a:spcBef>
              <a:buClr>
                <a:schemeClr val="tx2">
                  <a:lumMod val="50000"/>
                  <a:lumOff val="50000"/>
                </a:schemeClr>
              </a:buClr>
              <a:defRPr>
                <a:solidFill>
                  <a:srgbClr val="7F7F7F"/>
                </a:solidFill>
              </a:defRPr>
            </a:lvl4pPr>
            <a:lvl5pPr>
              <a:lnSpc>
                <a:spcPct val="130000"/>
              </a:lnSpc>
              <a:spcBef>
                <a:spcPts val="0"/>
              </a:spcBef>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3" name="Footer Placeholder 6"/>
          <p:cNvSpPr>
            <a:spLocks noGrp="1"/>
          </p:cNvSpPr>
          <p:nvPr>
            <p:ph type="ftr" sz="quarter" idx="11"/>
          </p:nvPr>
        </p:nvSpPr>
        <p:spPr/>
        <p:txBody>
          <a:bodyPr/>
          <a:lstStyle>
            <a:lvl1pPr>
              <a:defRPr dirty="0"/>
            </a:lvl1pPr>
          </a:lstStyle>
          <a:p>
            <a:pPr>
              <a:defRPr/>
            </a:pPr>
            <a:r>
              <a:rPr lang="en-US"/>
              <a:t>Footer</a:t>
            </a:r>
          </a:p>
        </p:txBody>
      </p:sp>
      <p:sp>
        <p:nvSpPr>
          <p:cNvPr id="64" name="Slide Number Placeholder 7"/>
          <p:cNvSpPr>
            <a:spLocks noGrp="1"/>
          </p:cNvSpPr>
          <p:nvPr>
            <p:ph type="sldNum" sz="quarter" idx="12"/>
          </p:nvPr>
        </p:nvSpPr>
        <p:spPr/>
        <p:txBody>
          <a:bodyPr/>
          <a:lstStyle>
            <a:lvl1pPr>
              <a:defRPr smtClean="0"/>
            </a:lvl1pPr>
          </a:lstStyle>
          <a:p>
            <a:pPr>
              <a:defRPr/>
            </a:pPr>
            <a:fld id="{61903BDA-C71E-4227-8D99-52DC2D06BE02}" type="slidenum">
              <a:rPr lang="en-US"/>
              <a:pPr>
                <a:defRPr/>
              </a:pPr>
              <a:t>‹#›</a:t>
            </a:fld>
            <a:endParaRPr lang="en-US"/>
          </a:p>
        </p:txBody>
      </p:sp>
    </p:spTree>
    <p:extLst>
      <p:ext uri="{BB962C8B-B14F-4D97-AF65-F5344CB8AC3E}">
        <p14:creationId xmlns:p14="http://schemas.microsoft.com/office/powerpoint/2010/main" val="2681855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Section Divider Title"/>
          <p:cNvSpPr>
            <a:spLocks noGrp="1"/>
          </p:cNvSpPr>
          <p:nvPr>
            <p:ph type="title" hasCustomPrompt="1"/>
            <p:custDataLst>
              <p:tags r:id="rId1"/>
            </p:custDataLst>
          </p:nvPr>
        </p:nvSpPr>
        <p:spPr>
          <a:xfrm>
            <a:off x="641455" y="886235"/>
            <a:ext cx="3504394" cy="1303525"/>
          </a:xfrm>
        </p:spPr>
        <p:txBody>
          <a:bodyPr wrap="square" tIns="0" bIns="0" anchor="t">
            <a:spAutoFit/>
          </a:bodyPr>
          <a:lstStyle>
            <a:lvl1pPr algn="l">
              <a:defRPr sz="2824" b="1" i="1" cap="none">
                <a:solidFill>
                  <a:schemeClr val="tx2"/>
                </a:solidFill>
              </a:defRPr>
            </a:lvl1pPr>
          </a:lstStyle>
          <a:p>
            <a:r>
              <a:rPr lang="en-GB" noProof="0"/>
              <a:t>Click to add Section Divider Title</a:t>
            </a:r>
          </a:p>
        </p:txBody>
      </p:sp>
      <p:sp>
        <p:nvSpPr>
          <p:cNvPr id="25" name="DividerTOCPlaceholder"/>
          <p:cNvSpPr txBox="1"/>
          <p:nvPr userDrawn="1">
            <p:custDataLst>
              <p:tags r:id="rId2"/>
            </p:custDataLst>
          </p:nvPr>
        </p:nvSpPr>
        <p:spPr>
          <a:xfrm>
            <a:off x="4350545" y="908471"/>
            <a:ext cx="7204364" cy="5209941"/>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3" name="Page Number"/>
          <p:cNvSpPr txBox="1"/>
          <p:nvPr userDrawn="1">
            <p:custDataLst>
              <p:tags r:id="rId3"/>
            </p:custDataLst>
          </p:nvPr>
        </p:nvSpPr>
        <p:spPr>
          <a:xfrm>
            <a:off x="11172306" y="6454588"/>
            <a:ext cx="387927" cy="137160"/>
          </a:xfrm>
          <a:prstGeom prst="rect">
            <a:avLst/>
          </a:prstGeom>
          <a:noFill/>
        </p:spPr>
        <p:txBody>
          <a:bodyPr wrap="none" lIns="0" tIns="0" rIns="0" bIns="0" rtlCol="0">
            <a:noAutofit/>
          </a:bodyPr>
          <a:lstStyle/>
          <a:p>
            <a:pPr algn="r">
              <a:lnSpc>
                <a:spcPts val="882"/>
              </a:lnSpc>
            </a:pPr>
            <a:endParaRPr lang="en-GB" sz="971" noProof="1"/>
          </a:p>
        </p:txBody>
      </p:sp>
      <p:sp>
        <p:nvSpPr>
          <p:cNvPr id="24" name="HeaderTOCPlaceholder"/>
          <p:cNvSpPr txBox="1"/>
          <p:nvPr userDrawn="1">
            <p:custDataLst>
              <p:tags r:id="rId4"/>
            </p:custDataLst>
          </p:nvPr>
        </p:nvSpPr>
        <p:spPr>
          <a:xfrm>
            <a:off x="4341090" y="621255"/>
            <a:ext cx="7204364"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28" name="Straight Connector 27"/>
          <p:cNvCxnSpPr/>
          <p:nvPr userDrawn="1"/>
        </p:nvCxnSpPr>
        <p:spPr>
          <a:xfrm>
            <a:off x="642851" y="6252882"/>
            <a:ext cx="1090629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ection Footer"/>
          <p:cNvSpPr txBox="1"/>
          <p:nvPr userDrawn="1">
            <p:custDataLst>
              <p:tags r:id="rId5"/>
            </p:custDataLst>
          </p:nvPr>
        </p:nvSpPr>
        <p:spPr>
          <a:xfrm>
            <a:off x="642851" y="6290233"/>
            <a:ext cx="3513513" cy="149400"/>
          </a:xfrm>
          <a:prstGeom prst="rect">
            <a:avLst/>
          </a:prstGeom>
          <a:noFill/>
          <a:ln>
            <a:noFill/>
          </a:ln>
        </p:spPr>
        <p:txBody>
          <a:bodyPr wrap="square" lIns="0" tIns="0" rIns="0" bIns="0" rtlCol="0" anchor="b" anchorCtr="0">
            <a:spAutoFit/>
          </a:bodyPr>
          <a:lstStyle/>
          <a:p>
            <a:endParaRPr lang="en-GB" sz="971" noProof="1">
              <a:solidFill>
                <a:schemeClr val="tx1"/>
              </a:solidFill>
            </a:endParaRPr>
          </a:p>
        </p:txBody>
      </p:sp>
      <p:sp>
        <p:nvSpPr>
          <p:cNvPr id="29" name="Section Header"/>
          <p:cNvSpPr txBox="1"/>
          <p:nvPr userDrawn="1">
            <p:custDataLst>
              <p:tags r:id="rId6"/>
            </p:custDataLst>
          </p:nvPr>
        </p:nvSpPr>
        <p:spPr>
          <a:xfrm>
            <a:off x="642850" y="621254"/>
            <a:ext cx="3678035"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raft stamp" hidden="1"/>
          <p:cNvSpPr txBox="1"/>
          <p:nvPr userDrawn="1">
            <p:custDataLst>
              <p:tags r:id="rId7"/>
            </p:custDataLst>
          </p:nvPr>
        </p:nvSpPr>
        <p:spPr>
          <a:xfrm>
            <a:off x="4344786" y="6442386"/>
            <a:ext cx="2582487" cy="149400"/>
          </a:xfrm>
          <a:prstGeom prst="rect">
            <a:avLst/>
          </a:prstGeom>
          <a:noFill/>
          <a:ln>
            <a:noFill/>
          </a:ln>
        </p:spPr>
        <p:txBody>
          <a:bodyPr wrap="square" lIns="0" tIns="0" rIns="0" bIns="0" rtlCol="0">
            <a:spAutoFit/>
          </a:bodyPr>
          <a:lstStyle/>
          <a:p>
            <a:pPr algn="l"/>
            <a:r>
              <a:rPr lang="en-GB" sz="971" noProof="1"/>
              <a:t>Final</a:t>
            </a:r>
          </a:p>
        </p:txBody>
      </p:sp>
      <p:sp>
        <p:nvSpPr>
          <p:cNvPr id="14" name="Date/Filepath" hidden="1"/>
          <p:cNvSpPr txBox="1"/>
          <p:nvPr userDrawn="1">
            <p:custDataLst>
              <p:tags r:id="rId8"/>
            </p:custDataLst>
          </p:nvPr>
        </p:nvSpPr>
        <p:spPr>
          <a:xfrm>
            <a:off x="3999350" y="145213"/>
            <a:ext cx="7536873" cy="244426"/>
          </a:xfrm>
          <a:prstGeom prst="rect">
            <a:avLst/>
          </a:prstGeom>
          <a:noFill/>
        </p:spPr>
        <p:txBody>
          <a:bodyPr wrap="square" lIns="0" tIns="0" rIns="0" bIns="0" rtlCol="0" anchor="b" anchorCtr="0">
            <a:spAutoFit/>
          </a:bodyPr>
          <a:lstStyle/>
          <a:p>
            <a:pPr algn="r"/>
            <a:r>
              <a:rPr lang="en-GB" sz="794" noProof="1"/>
              <a:t>04/09/2018 C:\PwC Works\1. RUMSL\Agar-Shajapur-Neemuch Solar Park\Conference 4th Sep\RUMSL Solar Parks - Railway Transaction under Optimum Scheduling R06.pptx</a:t>
            </a:r>
          </a:p>
        </p:txBody>
      </p:sp>
      <p:sp>
        <p:nvSpPr>
          <p:cNvPr id="11" name="Slide Tags" hidden="1"/>
          <p:cNvSpPr txBox="1"/>
          <p:nvPr userDrawn="1">
            <p:custDataLst>
              <p:tags r:id="rId9"/>
            </p:custDataLst>
          </p:nvPr>
        </p:nvSpPr>
        <p:spPr>
          <a:xfrm>
            <a:off x="0" y="201706"/>
            <a:ext cx="1939636" cy="336695"/>
          </a:xfrm>
          <a:prstGeom prst="rect">
            <a:avLst/>
          </a:prstGeom>
          <a:noFill/>
        </p:spPr>
        <p:txBody>
          <a:bodyPr wrap="square" rtlCol="0">
            <a:spAutoFit/>
          </a:bodyPr>
          <a:lstStyle/>
          <a:p>
            <a:r>
              <a:rPr lang="en-GB" sz="1588" noProof="1"/>
              <a:t>Slide Tags</a:t>
            </a:r>
          </a:p>
        </p:txBody>
      </p:sp>
      <p:cxnSp>
        <p:nvCxnSpPr>
          <p:cNvPr id="20" name="Frame Line"/>
          <p:cNvCxnSpPr/>
          <p:nvPr userDrawn="1"/>
        </p:nvCxnSpPr>
        <p:spPr>
          <a:xfrm flipV="1">
            <a:off x="461818" y="823408"/>
            <a:ext cx="1108363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14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901915"/>
            <a:ext cx="11136000" cy="436410"/>
          </a:xfrm>
          <a:prstGeom prst="rect">
            <a:avLst/>
          </a:prstGeom>
        </p:spPr>
        <p:txBody>
          <a:bodyPr lIns="0" tIns="0" rIns="0" bIns="0">
            <a:noAutofit/>
          </a:bodyPr>
          <a:lstStyle>
            <a:lvl1pPr marL="0" indent="0">
              <a:buNone/>
              <a:defRPr sz="1632"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28000" y="295684"/>
            <a:ext cx="1113600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57581294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34137635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342558"/>
            <a:ext cx="11252200" cy="520597"/>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5" name="Text Placeholder 8"/>
          <p:cNvSpPr>
            <a:spLocks noGrp="1"/>
          </p:cNvSpPr>
          <p:nvPr>
            <p:ph type="body" sz="quarter" idx="13" hasCustomPrompt="1"/>
          </p:nvPr>
        </p:nvSpPr>
        <p:spPr>
          <a:xfrm>
            <a:off x="469902" y="863156"/>
            <a:ext cx="11252200" cy="440356"/>
          </a:xfrm>
          <a:prstGeom prst="rect">
            <a:avLst/>
          </a:prstGeom>
        </p:spPr>
        <p:txBody>
          <a:bodyPr lIns="0" tIns="0" rIns="0" bIns="0">
            <a:noAutofit/>
          </a:bodyPr>
          <a:lstStyle>
            <a:lvl1pPr marL="0" indent="0">
              <a:buNone/>
              <a:defRPr sz="16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400785"/>
            <a:ext cx="11252197" cy="5005423"/>
          </a:xfrm>
          <a:prstGeom prst="rect">
            <a:avLst/>
          </a:prstGeom>
        </p:spPr>
        <p:txBody>
          <a:bodyPr/>
          <a:lstStyle>
            <a:lvl1pPr>
              <a:tabLst>
                <a:tab pos="6729406" algn="r"/>
              </a:tabLst>
              <a:defRPr sz="1400"/>
            </a:lvl1pPr>
            <a:lvl2pPr>
              <a:tabLst>
                <a:tab pos="6729406" algn="r"/>
              </a:tabLst>
              <a:defRPr sz="1400"/>
            </a:lvl2pPr>
            <a:lvl3pPr>
              <a:tabLst>
                <a:tab pos="6729406" algn="r"/>
              </a:tabLst>
              <a:defRPr sz="1400"/>
            </a:lvl3pPr>
            <a:lvl4pPr>
              <a:tabLst>
                <a:tab pos="6729406" algn="r"/>
              </a:tabLst>
              <a:defRPr sz="1400"/>
            </a:lvl4pPr>
            <a:lvl5pPr marL="475212" indent="0">
              <a:buNone/>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32183842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469902" y="884427"/>
            <a:ext cx="11252200" cy="221599"/>
          </a:xfrm>
          <a:noFill/>
          <a:ln w="9525">
            <a:noFill/>
            <a:miter lim="800000"/>
            <a:headEnd/>
            <a:tailEnd/>
          </a:ln>
        </p:spPr>
        <p:txBody>
          <a:bodyPr wrap="square"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469902" y="1177432"/>
            <a:ext cx="11185650" cy="5105034"/>
          </a:xfrm>
        </p:spPr>
        <p:txBody>
          <a:bodyPr>
            <a:noAutofit/>
          </a:bodyPr>
          <a:lstStyle>
            <a:lvl5pPr marL="475212"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495548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370610234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415334131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04745705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19518486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97791" y="905046"/>
            <a:ext cx="6596417" cy="4947313"/>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00" b="1">
                <a:solidFill>
                  <a:schemeClr val="tx1"/>
                </a:solidFill>
              </a:defRPr>
            </a:lvl1pPr>
            <a:lvl2pPr marL="0" indent="0" algn="l">
              <a:buNone/>
              <a:defRPr sz="1400"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1820923" cy="3492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353856608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22048407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44317583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1142612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8738749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787017"/>
            <a:ext cx="11188700" cy="463778"/>
          </a:xfrm>
          <a:prstGeom prst="rect">
            <a:avLst/>
          </a:prstGeom>
        </p:spPr>
        <p:txBody>
          <a:bodyPr lIns="0" tIns="0" rIns="0" bIns="0">
            <a:noAutofit/>
          </a:bodyPr>
          <a:lstStyle>
            <a:lvl1pPr marL="0" indent="0">
              <a:buNone/>
              <a:defRPr sz="1451" b="0">
                <a:solidFill>
                  <a:schemeClr val="bg1">
                    <a:lumMod val="50000"/>
                  </a:schemeClr>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189274"/>
            <a:ext cx="11188700" cy="334101"/>
          </a:xfrm>
          <a:prstGeom prst="rect">
            <a:avLst/>
          </a:prstGeom>
        </p:spPr>
        <p:txBody>
          <a:bodyPr vert="horz" lIns="0" tIns="0" rIns="0" bIns="0" rtlCol="0" anchor="ctr" anchorCtr="0">
            <a:noAutofit/>
          </a:bodyPr>
          <a:lstStyle>
            <a:lvl1pPr>
              <a:defRPr sz="1814" b="1">
                <a:solidFill>
                  <a:schemeClr val="tx1"/>
                </a:solidFill>
              </a:defRPr>
            </a:lvl1pPr>
          </a:lstStyle>
          <a:p>
            <a:r>
              <a:rPr lang="en-US" noProof="0"/>
              <a:t>Click to add title</a:t>
            </a:r>
          </a:p>
        </p:txBody>
      </p:sp>
    </p:spTree>
    <p:extLst>
      <p:ext uri="{BB962C8B-B14F-4D97-AF65-F5344CB8AC3E}">
        <p14:creationId xmlns:p14="http://schemas.microsoft.com/office/powerpoint/2010/main" val="370711877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26045023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999835768"/>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5068904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24452"/>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3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62" b="1">
                <a:solidFill>
                  <a:schemeClr val="tx1"/>
                </a:solidFill>
              </a:defRPr>
            </a:lvl1pPr>
            <a:lvl2pPr marL="0" indent="0" algn="l">
              <a:buNone/>
              <a:defRPr sz="1477"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92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304000" cy="4320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148077728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283554453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Tree>
    <p:extLst>
      <p:ext uri="{BB962C8B-B14F-4D97-AF65-F5344CB8AC3E}">
        <p14:creationId xmlns:p14="http://schemas.microsoft.com/office/powerpoint/2010/main" val="176393770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C2EC3A3-3532-4113-8972-17E73BC4F431}" type="datetimeFigureOut">
              <a:rPr kumimoji="0" lang="en-IN" sz="1800" b="0" i="0" u="none" strike="noStrike" kern="1200" cap="none" spc="0" normalizeH="0" baseline="0" noProof="0" smtClean="0">
                <a:ln>
                  <a:noFill/>
                </a:ln>
                <a:solidFill>
                  <a:prstClr val="black"/>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24-02-2024</a:t>
            </a:fld>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BAAD82-4669-4875-BCDA-307B5D1AB10A}" type="slidenum">
              <a:rPr kumimoji="0" lang="en-IN" sz="1800" b="0" i="0" u="none" strike="noStrike" kern="1200" cap="none" spc="0" normalizeH="0" baseline="0" noProof="0" smtClean="0">
                <a:ln>
                  <a:noFill/>
                </a:ln>
                <a:solidFill>
                  <a:prstClr val="black"/>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7" name="TextBox 6"/>
          <p:cNvSpPr txBox="1"/>
          <p:nvPr userDrawn="1"/>
        </p:nvSpPr>
        <p:spPr>
          <a:xfrm>
            <a:off x="469900" y="6477000"/>
            <a:ext cx="5355167" cy="92333"/>
          </a:xfrm>
          <a:prstGeom prst="rect">
            <a:avLst/>
          </a:prstGeom>
          <a:noFill/>
        </p:spPr>
        <p:txBody>
          <a:bodyPr wrap="square" lIns="0" tIns="0" rIns="0" bIns="0" rtlCol="0">
            <a:spAutoFit/>
          </a:bodyPr>
          <a:lstStyle/>
          <a:p>
            <a:pPr defTabSz="531944">
              <a:spcBef>
                <a:spcPts val="425"/>
              </a:spcBef>
              <a:buSzPct val="100000"/>
              <a:buFont typeface="Arial"/>
              <a:buNone/>
            </a:pPr>
            <a:r>
              <a:rPr lang="fr-FR" sz="600" dirty="0">
                <a:solidFill>
                  <a:prstClr val="black"/>
                </a:solidFill>
              </a:rPr>
              <a:t>© 2017 Deloitte Touche </a:t>
            </a:r>
            <a:r>
              <a:rPr lang="fr-FR" sz="600" dirty="0" err="1">
                <a:solidFill>
                  <a:prstClr val="black"/>
                </a:solidFill>
              </a:rPr>
              <a:t>Tohmatsu</a:t>
            </a:r>
            <a:r>
              <a:rPr lang="fr-FR" sz="600" dirty="0">
                <a:solidFill>
                  <a:prstClr val="black"/>
                </a:solidFill>
              </a:rPr>
              <a:t> India LLP</a:t>
            </a:r>
          </a:p>
        </p:txBody>
      </p:sp>
    </p:spTree>
    <p:extLst>
      <p:ext uri="{BB962C8B-B14F-4D97-AF65-F5344CB8AC3E}">
        <p14:creationId xmlns:p14="http://schemas.microsoft.com/office/powerpoint/2010/main" val="122763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theme" Target="../theme/theme2.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image" Target="../media/image1.emf"/><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oleObject" Target="../embeddings/oleObject3.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5.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6"/>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4" name="Object 3" hidden="1"/>
                      <p:cNvPicPr/>
                      <p:nvPr/>
                    </p:nvPicPr>
                    <p:blipFill>
                      <a:blip r:embed="rId19"/>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17"/>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a:solidFill>
                  <a:prstClr val="black"/>
                </a:solidFill>
              </a:rPr>
              <a:t>© 2024 Deloitte Touche </a:t>
            </a:r>
            <a:r>
              <a:rPr lang="fr-FR" sz="700" err="1">
                <a:solidFill>
                  <a:prstClr val="black"/>
                </a:solidFill>
              </a:rPr>
              <a:t>Tohmatsu</a:t>
            </a:r>
            <a:r>
              <a:rPr lang="fr-FR" sz="700">
                <a:solidFill>
                  <a:prstClr val="black"/>
                </a:solidFill>
              </a:rPr>
              <a:t> </a:t>
            </a:r>
            <a:r>
              <a:rPr lang="fr-FR" sz="700" err="1">
                <a:solidFill>
                  <a:prstClr val="black"/>
                </a:solidFill>
              </a:rPr>
              <a:t>India</a:t>
            </a:r>
            <a:r>
              <a:rPr lang="fr-FR" sz="700">
                <a:solidFill>
                  <a:prstClr val="black"/>
                </a:solidFill>
              </a:rPr>
              <a:t>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4092" r:id="rId1"/>
    <p:sldLayoutId id="2147484057" r:id="rId2"/>
    <p:sldLayoutId id="2147484063" r:id="rId3"/>
    <p:sldLayoutId id="2147483770" r:id="rId4"/>
    <p:sldLayoutId id="2147484089" r:id="rId5"/>
    <p:sldLayoutId id="2147483775" r:id="rId6"/>
    <p:sldLayoutId id="2147484090" r:id="rId7"/>
    <p:sldLayoutId id="2147483766" r:id="rId8"/>
    <p:sldLayoutId id="2147484094" r:id="rId9"/>
    <p:sldLayoutId id="2147484096" r:id="rId10"/>
    <p:sldLayoutId id="2147484097" r:id="rId11"/>
    <p:sldLayoutId id="2147484098" r:id="rId12"/>
    <p:sldLayoutId id="2147484099" r:id="rId13"/>
    <p:sldLayoutId id="2147484121" r:id="rId14"/>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2"/>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4" name="Object 3" hidden="1"/>
                      <p:cNvPicPr/>
                      <p:nvPr/>
                    </p:nvPicPr>
                    <p:blipFill>
                      <a:blip r:embed="rId25"/>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23"/>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dirty="0">
                <a:solidFill>
                  <a:prstClr val="black"/>
                </a:solidFill>
              </a:rPr>
              <a:t>© 2024 Deloitte Touche </a:t>
            </a:r>
            <a:r>
              <a:rPr lang="fr-FR" sz="700" dirty="0" err="1">
                <a:solidFill>
                  <a:prstClr val="black"/>
                </a:solidFill>
              </a:rPr>
              <a:t>Tohmatsu</a:t>
            </a:r>
            <a:r>
              <a:rPr lang="fr-FR" sz="700" dirty="0">
                <a:solidFill>
                  <a:prstClr val="black"/>
                </a:solidFill>
              </a:rPr>
              <a:t> </a:t>
            </a:r>
            <a:r>
              <a:rPr lang="fr-FR" sz="700" dirty="0" err="1">
                <a:solidFill>
                  <a:prstClr val="black"/>
                </a:solidFill>
              </a:rPr>
              <a:t>India</a:t>
            </a:r>
            <a:r>
              <a:rPr lang="fr-FR" sz="700" dirty="0">
                <a:solidFill>
                  <a:prstClr val="black"/>
                </a:solidFill>
              </a:rPr>
              <a:t>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2285153906"/>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tags" Target="../tags/tag18.xml"/><Relationship Id="rId5" Type="http://schemas.openxmlformats.org/officeDocument/2006/relationships/slide" Target="slide15.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oleObject" Target="../embeddings/oleObject7.bin"/><Relationship Id="rId7" Type="http://schemas.openxmlformats.org/officeDocument/2006/relationships/slide" Target="slide5.xml"/><Relationship Id="rId2" Type="http://schemas.openxmlformats.org/officeDocument/2006/relationships/slideLayout" Target="../slideLayouts/slideLayout7.xml"/><Relationship Id="rId1" Type="http://schemas.openxmlformats.org/officeDocument/2006/relationships/tags" Target="../tags/tag19.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slide" Target="slide3.x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21.xml"/><Relationship Id="rId6" Type="http://schemas.openxmlformats.org/officeDocument/2006/relationships/slide" Target="slide14.xml"/><Relationship Id="rId5" Type="http://schemas.openxmlformats.org/officeDocument/2006/relationships/image" Target="../media/image3.emf"/><Relationship Id="rId4" Type="http://schemas.openxmlformats.org/officeDocument/2006/relationships/oleObject" Target="../embeddings/oleObject9.bin"/><Relationship Id="rId9"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3.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22.xml"/><Relationship Id="rId6" Type="http://schemas.openxmlformats.org/officeDocument/2006/relationships/slide" Target="slide11.xml"/><Relationship Id="rId5" Type="http://schemas.openxmlformats.org/officeDocument/2006/relationships/image" Target="../media/image3.emf"/><Relationship Id="rId4" Type="http://schemas.openxmlformats.org/officeDocument/2006/relationships/oleObject" Target="../embeddings/oleObject10.bin"/><Relationship Id="rId9" Type="http://schemas.openxmlformats.org/officeDocument/2006/relationships/slide" Target="slide3.xml"/></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23.xml"/><Relationship Id="rId6" Type="http://schemas.openxmlformats.org/officeDocument/2006/relationships/slide" Target="slide3.xml"/><Relationship Id="rId5" Type="http://schemas.openxmlformats.org/officeDocument/2006/relationships/image" Target="../media/image3.emf"/><Relationship Id="rId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4.xml"/><Relationship Id="rId5" Type="http://schemas.openxmlformats.org/officeDocument/2006/relationships/image" Target="../media/image3.e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6.svg"/><Relationship Id="rId2" Type="http://schemas.openxmlformats.org/officeDocument/2006/relationships/slideLayout" Target="../slideLayouts/slideLayout7.xml"/><Relationship Id="rId1" Type="http://schemas.openxmlformats.org/officeDocument/2006/relationships/tags" Target="../tags/tag25.xml"/><Relationship Id="rId6" Type="http://schemas.openxmlformats.org/officeDocument/2006/relationships/image" Target="../media/image5.png"/><Relationship Id="rId5" Type="http://schemas.openxmlformats.org/officeDocument/2006/relationships/image" Target="../media/image3.e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2.xml"/><Relationship Id="rId1" Type="http://schemas.openxmlformats.org/officeDocument/2006/relationships/tags" Target="../tags/tag26.xm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tags" Target="../tags/tag2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tags" Target="../tags/tag28.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tags" Target="../tags/tag29.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4.xml"/><Relationship Id="rId1" Type="http://schemas.openxmlformats.org/officeDocument/2006/relationships/tags" Target="../tags/tag30.xml"/><Relationship Id="rId5" Type="http://schemas.openxmlformats.org/officeDocument/2006/relationships/slide" Target="slide2.xml"/><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4.xml"/><Relationship Id="rId1" Type="http://schemas.openxmlformats.org/officeDocument/2006/relationships/tags" Target="../tags/tag31.xml"/><Relationship Id="rId5" Type="http://schemas.openxmlformats.org/officeDocument/2006/relationships/slide" Target="slide2.xml"/><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28A567-3530-939A-85E6-01F14D882D90}"/>
              </a:ext>
            </a:extLst>
          </p:cNvPr>
          <p:cNvGraphicFramePr>
            <a:graphicFrameLocks noChangeAspect="1"/>
          </p:cNvGraphicFramePr>
          <p:nvPr>
            <p:custDataLst>
              <p:tags r:id="rId1"/>
            </p:custDataLst>
            <p:extLst>
              <p:ext uri="{D42A27DB-BD31-4B8C-83A1-F6EECF244321}">
                <p14:modId xmlns:p14="http://schemas.microsoft.com/office/powerpoint/2010/main" val="12748287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828A567-3530-939A-85E6-01F14D882D9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descr="A field of solar panels&#10;&#10;Description automatically generated">
            <a:extLst>
              <a:ext uri="{FF2B5EF4-FFF2-40B4-BE49-F238E27FC236}">
                <a16:creationId xmlns:a16="http://schemas.microsoft.com/office/drawing/2014/main" id="{DD7BA362-546F-1DB5-AD09-7C36EAD4AB68}"/>
              </a:ext>
            </a:extLst>
          </p:cNvPr>
          <p:cNvPicPr>
            <a:picLocks noChangeAspect="1"/>
          </p:cNvPicPr>
          <p:nvPr/>
        </p:nvPicPr>
        <p:blipFill>
          <a:blip r:embed="rId5"/>
          <a:stretch>
            <a:fillRect/>
          </a:stretch>
        </p:blipFill>
        <p:spPr>
          <a:xfrm>
            <a:off x="0" y="6775"/>
            <a:ext cx="12204067" cy="6851225"/>
          </a:xfrm>
          <a:prstGeom prst="rect">
            <a:avLst/>
          </a:prstGeom>
        </p:spPr>
      </p:pic>
      <p:grpSp>
        <p:nvGrpSpPr>
          <p:cNvPr id="6" name="Group 5">
            <a:extLst>
              <a:ext uri="{FF2B5EF4-FFF2-40B4-BE49-F238E27FC236}">
                <a16:creationId xmlns:a16="http://schemas.microsoft.com/office/drawing/2014/main" id="{CAA5F2E7-0C46-DC38-4A10-5D63AE2B03D5}"/>
              </a:ext>
            </a:extLst>
          </p:cNvPr>
          <p:cNvGrpSpPr>
            <a:grpSpLocks noChangeAspect="1"/>
          </p:cNvGrpSpPr>
          <p:nvPr/>
        </p:nvGrpSpPr>
        <p:grpSpPr>
          <a:xfrm>
            <a:off x="469900" y="457761"/>
            <a:ext cx="1998000" cy="374400"/>
            <a:chOff x="398463" y="404813"/>
            <a:chExt cx="1627187" cy="307976"/>
          </a:xfrm>
          <a:solidFill>
            <a:schemeClr val="tx1"/>
          </a:solidFill>
        </p:grpSpPr>
        <p:sp>
          <p:nvSpPr>
            <p:cNvPr id="8" name="Oval 5">
              <a:extLst>
                <a:ext uri="{FF2B5EF4-FFF2-40B4-BE49-F238E27FC236}">
                  <a16:creationId xmlns:a16="http://schemas.microsoft.com/office/drawing/2014/main" id="{D9317977-20B8-9789-D32D-3C717276124B}"/>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Freeform 6">
              <a:extLst>
                <a:ext uri="{FF2B5EF4-FFF2-40B4-BE49-F238E27FC236}">
                  <a16:creationId xmlns:a16="http://schemas.microsoft.com/office/drawing/2014/main" id="{97DA608D-1CE0-1CF5-A3C7-A42C53708F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Rectangle 7">
              <a:extLst>
                <a:ext uri="{FF2B5EF4-FFF2-40B4-BE49-F238E27FC236}">
                  <a16:creationId xmlns:a16="http://schemas.microsoft.com/office/drawing/2014/main" id="{05CE68D8-B5A8-5390-391E-C3888951010B}"/>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Freeform 8">
              <a:extLst>
                <a:ext uri="{FF2B5EF4-FFF2-40B4-BE49-F238E27FC236}">
                  <a16:creationId xmlns:a16="http://schemas.microsoft.com/office/drawing/2014/main" id="{623399E5-C650-0286-6AD5-1C3087D2AFC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9">
              <a:extLst>
                <a:ext uri="{FF2B5EF4-FFF2-40B4-BE49-F238E27FC236}">
                  <a16:creationId xmlns:a16="http://schemas.microsoft.com/office/drawing/2014/main" id="{49FF400D-96F6-9E4A-F4F3-C10E47CB0DBC}"/>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Rectangle 10">
              <a:extLst>
                <a:ext uri="{FF2B5EF4-FFF2-40B4-BE49-F238E27FC236}">
                  <a16:creationId xmlns:a16="http://schemas.microsoft.com/office/drawing/2014/main" id="{AAA1C33D-11A6-EC86-14C8-A63E5CBD98F7}"/>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1">
              <a:extLst>
                <a:ext uri="{FF2B5EF4-FFF2-40B4-BE49-F238E27FC236}">
                  <a16:creationId xmlns:a16="http://schemas.microsoft.com/office/drawing/2014/main" id="{B93AAE51-A64E-7AB8-BDCD-C72A45BD26D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2">
              <a:extLst>
                <a:ext uri="{FF2B5EF4-FFF2-40B4-BE49-F238E27FC236}">
                  <a16:creationId xmlns:a16="http://schemas.microsoft.com/office/drawing/2014/main" id="{81D1C34F-36B2-ED18-6F82-19C6A0B0FE7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3">
              <a:extLst>
                <a:ext uri="{FF2B5EF4-FFF2-40B4-BE49-F238E27FC236}">
                  <a16:creationId xmlns:a16="http://schemas.microsoft.com/office/drawing/2014/main" id="{DD1E9E2D-E68D-8D72-D25A-9DBF29B94893}"/>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Freeform 14">
              <a:extLst>
                <a:ext uri="{FF2B5EF4-FFF2-40B4-BE49-F238E27FC236}">
                  <a16:creationId xmlns:a16="http://schemas.microsoft.com/office/drawing/2014/main" id="{65694FD2-8E33-1DBC-8028-64F16F56F405}"/>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20" name="Rectangle 19">
            <a:extLst>
              <a:ext uri="{FF2B5EF4-FFF2-40B4-BE49-F238E27FC236}">
                <a16:creationId xmlns:a16="http://schemas.microsoft.com/office/drawing/2014/main" id="{6202C60A-0F77-0648-F010-DD3D0C33EE6A}"/>
              </a:ext>
            </a:extLst>
          </p:cNvPr>
          <p:cNvSpPr/>
          <p:nvPr/>
        </p:nvSpPr>
        <p:spPr bwMode="gray">
          <a:xfrm>
            <a:off x="0" y="4312227"/>
            <a:ext cx="12192000" cy="1683328"/>
          </a:xfrm>
          <a:prstGeom prst="rect">
            <a:avLst/>
          </a:prstGeom>
          <a:solidFill>
            <a:schemeClr val="tx1">
              <a:alpha val="6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 name="TextBox 18">
            <a:extLst>
              <a:ext uri="{FF2B5EF4-FFF2-40B4-BE49-F238E27FC236}">
                <a16:creationId xmlns:a16="http://schemas.microsoft.com/office/drawing/2014/main" id="{42A68B90-E10E-E845-A6E6-7B0D55AD8988}"/>
              </a:ext>
            </a:extLst>
          </p:cNvPr>
          <p:cNvSpPr txBox="1"/>
          <p:nvPr/>
        </p:nvSpPr>
        <p:spPr>
          <a:xfrm>
            <a:off x="469900" y="4338283"/>
            <a:ext cx="8081818" cy="2062103"/>
          </a:xfrm>
          <a:prstGeom prst="rect">
            <a:avLst/>
          </a:prstGeom>
          <a:noFill/>
        </p:spPr>
        <p:txBody>
          <a:bodyPr wrap="square">
            <a:spAutoFit/>
          </a:bodyPr>
          <a:lstStyle/>
          <a:p>
            <a:r>
              <a:rPr lang="en-US" sz="2800">
                <a:solidFill>
                  <a:schemeClr val="bg1"/>
                </a:solidFill>
              </a:rPr>
              <a:t>PPP options for implementation of 250 MW solar project in Assam</a:t>
            </a:r>
          </a:p>
          <a:p>
            <a:endParaRPr lang="en-US" sz="1800" b="0" i="1">
              <a:solidFill>
                <a:schemeClr val="bg1"/>
              </a:solidFill>
            </a:endParaRPr>
          </a:p>
          <a:p>
            <a:endParaRPr lang="en-US" sz="1800" b="0" i="1">
              <a:solidFill>
                <a:schemeClr val="bg1"/>
              </a:solidFill>
            </a:endParaRPr>
          </a:p>
          <a:p>
            <a:endParaRPr lang="en-US" sz="1800" b="0" i="1">
              <a:solidFill>
                <a:schemeClr val="bg1"/>
              </a:solidFill>
            </a:endParaRPr>
          </a:p>
          <a:p>
            <a:r>
              <a:rPr lang="en-US" b="0">
                <a:solidFill>
                  <a:schemeClr val="bg1"/>
                </a:solidFill>
              </a:rPr>
              <a:t>February 2024</a:t>
            </a:r>
          </a:p>
        </p:txBody>
      </p:sp>
    </p:spTree>
    <p:extLst>
      <p:ext uri="{BB962C8B-B14F-4D97-AF65-F5344CB8AC3E}">
        <p14:creationId xmlns:p14="http://schemas.microsoft.com/office/powerpoint/2010/main" val="316054311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FCDB-2A42-9619-E016-F0FCB47BD76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25B06AB-6CD6-CD5F-BF16-6F810A622E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E25B06AB-6CD6-CD5F-BF16-6F810A622E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9606787A-7E32-C6A7-6B9F-6D7E1F07EC2E}"/>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Total Project capacity envisaged is 750 MW out of which 250 MW is proposed to be developed under PPP model</a:t>
            </a:r>
          </a:p>
        </p:txBody>
      </p:sp>
      <p:sp>
        <p:nvSpPr>
          <p:cNvPr id="6" name="Title 2">
            <a:extLst>
              <a:ext uri="{FF2B5EF4-FFF2-40B4-BE49-F238E27FC236}">
                <a16:creationId xmlns:a16="http://schemas.microsoft.com/office/drawing/2014/main" id="{5EB8F244-6265-6D80-D709-4AE0A4479F4B}"/>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cs typeface="+mj-cs"/>
              </a:rPr>
              <a:t>Basic Project details</a:t>
            </a:r>
          </a:p>
        </p:txBody>
      </p:sp>
      <p:sp>
        <p:nvSpPr>
          <p:cNvPr id="2" name="Rectangle 1">
            <a:extLst>
              <a:ext uri="{FF2B5EF4-FFF2-40B4-BE49-F238E27FC236}">
                <a16:creationId xmlns:a16="http://schemas.microsoft.com/office/drawing/2014/main" id="{935D42C6-CBB9-1554-4ABD-AD1FFE97371B}"/>
              </a:ext>
            </a:extLst>
          </p:cNvPr>
          <p:cNvSpPr/>
          <p:nvPr/>
        </p:nvSpPr>
        <p:spPr bwMode="gray">
          <a:xfrm>
            <a:off x="6148725" y="1948938"/>
            <a:ext cx="1403268" cy="495754"/>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bg1"/>
                </a:solidFill>
              </a:rPr>
              <a:t>Project Capacity</a:t>
            </a:r>
          </a:p>
        </p:txBody>
      </p:sp>
      <p:sp>
        <p:nvSpPr>
          <p:cNvPr id="7" name="Rectangle 6">
            <a:extLst>
              <a:ext uri="{FF2B5EF4-FFF2-40B4-BE49-F238E27FC236}">
                <a16:creationId xmlns:a16="http://schemas.microsoft.com/office/drawing/2014/main" id="{56244131-752D-6181-9A97-EF0FA43543D9}"/>
              </a:ext>
            </a:extLst>
          </p:cNvPr>
          <p:cNvSpPr/>
          <p:nvPr/>
        </p:nvSpPr>
        <p:spPr bwMode="gray">
          <a:xfrm>
            <a:off x="7728859" y="1937921"/>
            <a:ext cx="4025339" cy="495753"/>
          </a:xfrm>
          <a:prstGeom prst="rect">
            <a:avLst/>
          </a:prstGeom>
          <a:noFill/>
          <a:ln w="19050" algn="ctr">
            <a:solidFill>
              <a:schemeClr val="tx1"/>
            </a:solidFill>
            <a:prstDash val="dash"/>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100" dirty="0"/>
              <a:t>250 MW AC under PPP Mode</a:t>
            </a:r>
          </a:p>
        </p:txBody>
      </p:sp>
      <p:sp>
        <p:nvSpPr>
          <p:cNvPr id="8" name="Rectangle 7">
            <a:extLst>
              <a:ext uri="{FF2B5EF4-FFF2-40B4-BE49-F238E27FC236}">
                <a16:creationId xmlns:a16="http://schemas.microsoft.com/office/drawing/2014/main" id="{6654E1FA-D591-0BBC-ADBA-75C7491A1243}"/>
              </a:ext>
            </a:extLst>
          </p:cNvPr>
          <p:cNvSpPr/>
          <p:nvPr/>
        </p:nvSpPr>
        <p:spPr bwMode="gray">
          <a:xfrm>
            <a:off x="6157905" y="2586343"/>
            <a:ext cx="1403268" cy="495754"/>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Project Cost as per DPR</a:t>
            </a:r>
          </a:p>
        </p:txBody>
      </p:sp>
      <p:sp>
        <p:nvSpPr>
          <p:cNvPr id="9" name="Rectangle 8">
            <a:extLst>
              <a:ext uri="{FF2B5EF4-FFF2-40B4-BE49-F238E27FC236}">
                <a16:creationId xmlns:a16="http://schemas.microsoft.com/office/drawing/2014/main" id="{5D6FFF04-54AA-72EE-F521-BAB3BDDA9117}"/>
              </a:ext>
            </a:extLst>
          </p:cNvPr>
          <p:cNvSpPr/>
          <p:nvPr/>
        </p:nvSpPr>
        <p:spPr bwMode="gray">
          <a:xfrm>
            <a:off x="7738039" y="2575326"/>
            <a:ext cx="4025339" cy="495753"/>
          </a:xfrm>
          <a:prstGeom prst="rect">
            <a:avLst/>
          </a:prstGeom>
          <a:noFill/>
          <a:ln w="19050" algn="ctr">
            <a:solidFill>
              <a:schemeClr val="tx1"/>
            </a:solidFill>
            <a:prstDash val="dash"/>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100" dirty="0"/>
              <a:t>Rs 6.01 Cr/MW (incl. of taxes)</a:t>
            </a:r>
          </a:p>
        </p:txBody>
      </p:sp>
      <p:sp>
        <p:nvSpPr>
          <p:cNvPr id="10" name="Rectangle 9">
            <a:extLst>
              <a:ext uri="{FF2B5EF4-FFF2-40B4-BE49-F238E27FC236}">
                <a16:creationId xmlns:a16="http://schemas.microsoft.com/office/drawing/2014/main" id="{30CE496B-CEE9-00BE-14C9-7FE615A209A4}"/>
              </a:ext>
            </a:extLst>
          </p:cNvPr>
          <p:cNvSpPr/>
          <p:nvPr/>
        </p:nvSpPr>
        <p:spPr bwMode="gray">
          <a:xfrm>
            <a:off x="6144783" y="3164534"/>
            <a:ext cx="5654861" cy="31121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Total Project Cost for 250 MW (pro-rated)</a:t>
            </a:r>
          </a:p>
        </p:txBody>
      </p:sp>
      <p:sp>
        <p:nvSpPr>
          <p:cNvPr id="11" name="Rectangle 10">
            <a:extLst>
              <a:ext uri="{FF2B5EF4-FFF2-40B4-BE49-F238E27FC236}">
                <a16:creationId xmlns:a16="http://schemas.microsoft.com/office/drawing/2014/main" id="{0AEA9558-BB18-4D09-1A5C-6E6F4D09C536}"/>
              </a:ext>
            </a:extLst>
          </p:cNvPr>
          <p:cNvSpPr/>
          <p:nvPr/>
        </p:nvSpPr>
        <p:spPr bwMode="gray">
          <a:xfrm>
            <a:off x="6196974" y="4067263"/>
            <a:ext cx="2696656" cy="1605477"/>
          </a:xfrm>
          <a:prstGeom prst="rect">
            <a:avLst/>
          </a:prstGeom>
          <a:noFill/>
          <a:ln w="19050" algn="ctr">
            <a:solidFill>
              <a:schemeClr val="tx1"/>
            </a:solidFill>
            <a:prstDash val="dash"/>
            <a:miter lim="800000"/>
            <a:headEnd/>
            <a:tailEnd/>
          </a:ln>
        </p:spPr>
        <p:txBody>
          <a:bodyPr wrap="square" lIns="88900" tIns="88900" rIns="88900" bIns="88900" rtlCol="0" anchor="t"/>
          <a:lstStyle/>
          <a:p>
            <a:pPr marL="285750" indent="-285750">
              <a:lnSpc>
                <a:spcPct val="106000"/>
              </a:lnSpc>
              <a:buFont typeface="Arial" panose="020B0604020202020204" pitchFamily="34" charset="0"/>
              <a:buChar char="•"/>
            </a:pPr>
            <a:r>
              <a:rPr lang="en-US" sz="1100" b="1" dirty="0"/>
              <a:t>Rs 1,503 Cr (incl. of taxes), i.e. USD 181 Mn </a:t>
            </a:r>
            <a:endParaRPr lang="en-US" sz="1100" dirty="0"/>
          </a:p>
          <a:p>
            <a:pPr marL="285750" lvl="1" indent="-285750">
              <a:lnSpc>
                <a:spcPct val="106000"/>
              </a:lnSpc>
              <a:buFont typeface="Wingdings" panose="05000000000000000000" pitchFamily="2" charset="2"/>
              <a:buChar char="q"/>
            </a:pPr>
            <a:r>
              <a:rPr lang="en-US" sz="1100" dirty="0"/>
              <a:t>Debt Component (considering 70%) – </a:t>
            </a:r>
            <a:r>
              <a:rPr lang="en-US" sz="1100" b="1" dirty="0"/>
              <a:t>Rs 1,052 Cr (~USD 127 Mn)</a:t>
            </a:r>
            <a:endParaRPr lang="en-US" sz="1100" dirty="0"/>
          </a:p>
          <a:p>
            <a:pPr marL="285750" lvl="1" indent="-285750">
              <a:lnSpc>
                <a:spcPct val="106000"/>
              </a:lnSpc>
              <a:buFont typeface="Wingdings" panose="05000000000000000000" pitchFamily="2" charset="2"/>
              <a:buChar char="q"/>
            </a:pPr>
            <a:r>
              <a:rPr lang="en-US" sz="1100" dirty="0"/>
              <a:t>Equity Component (considering 30%) – </a:t>
            </a:r>
            <a:r>
              <a:rPr lang="en-US" sz="1100" b="1" dirty="0"/>
              <a:t>Rs 451 Cr (~USD 54 Mn)</a:t>
            </a:r>
          </a:p>
        </p:txBody>
      </p:sp>
      <p:cxnSp>
        <p:nvCxnSpPr>
          <p:cNvPr id="17" name="Straight Connector 16">
            <a:extLst>
              <a:ext uri="{FF2B5EF4-FFF2-40B4-BE49-F238E27FC236}">
                <a16:creationId xmlns:a16="http://schemas.microsoft.com/office/drawing/2014/main" id="{AD9D85F0-7293-2119-215D-173CC5D9BEAF}"/>
              </a:ext>
            </a:extLst>
          </p:cNvPr>
          <p:cNvCxnSpPr/>
          <p:nvPr/>
        </p:nvCxnSpPr>
        <p:spPr>
          <a:xfrm>
            <a:off x="5849959" y="1520197"/>
            <a:ext cx="0" cy="4362678"/>
          </a:xfrm>
          <a:prstGeom prst="line">
            <a:avLst/>
          </a:prstGeom>
          <a:ln w="38100">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C8320D1-18C3-FC12-6807-4DAD9F7215DE}"/>
              </a:ext>
            </a:extLst>
          </p:cNvPr>
          <p:cNvCxnSpPr>
            <a:cxnSpLocks/>
          </p:cNvCxnSpPr>
          <p:nvPr/>
        </p:nvCxnSpPr>
        <p:spPr>
          <a:xfrm>
            <a:off x="598095" y="1336310"/>
            <a:ext cx="4811187" cy="7353"/>
          </a:xfrm>
          <a:prstGeom prst="line">
            <a:avLst/>
          </a:prstGeom>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E22007BF-C6F5-C517-C871-53D27CDA34A2}"/>
              </a:ext>
            </a:extLst>
          </p:cNvPr>
          <p:cNvSpPr/>
          <p:nvPr/>
        </p:nvSpPr>
        <p:spPr>
          <a:xfrm>
            <a:off x="1517396" y="1223557"/>
            <a:ext cx="2972584" cy="263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Project Modality for Solar Project</a:t>
            </a:r>
            <a:endParaRPr kumimoji="0" lang="en-IN"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a:extLst>
              <a:ext uri="{FF2B5EF4-FFF2-40B4-BE49-F238E27FC236}">
                <a16:creationId xmlns:a16="http://schemas.microsoft.com/office/drawing/2014/main" id="{0FD543E5-EC6C-E0DC-EA3E-03BC7C3EA455}"/>
              </a:ext>
            </a:extLst>
          </p:cNvPr>
          <p:cNvCxnSpPr>
            <a:cxnSpLocks/>
          </p:cNvCxnSpPr>
          <p:nvPr/>
        </p:nvCxnSpPr>
        <p:spPr>
          <a:xfrm>
            <a:off x="6105181" y="1335754"/>
            <a:ext cx="5605483" cy="0"/>
          </a:xfrm>
          <a:prstGeom prst="line">
            <a:avLst/>
          </a:prstGeom>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09DBB3C1-6B47-B16E-295B-27F58696B7D4}"/>
              </a:ext>
            </a:extLst>
          </p:cNvPr>
          <p:cNvSpPr/>
          <p:nvPr/>
        </p:nvSpPr>
        <p:spPr>
          <a:xfrm>
            <a:off x="8186015" y="1262349"/>
            <a:ext cx="1795932" cy="1468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Financial Details</a:t>
            </a:r>
            <a:endParaRPr kumimoji="0" lang="en-IN"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1" name="Rectangle 20">
            <a:extLst>
              <a:ext uri="{FF2B5EF4-FFF2-40B4-BE49-F238E27FC236}">
                <a16:creationId xmlns:a16="http://schemas.microsoft.com/office/drawing/2014/main" id="{D241CCCA-C871-30FD-65FC-6C50B8B475C9}"/>
              </a:ext>
            </a:extLst>
          </p:cNvPr>
          <p:cNvSpPr/>
          <p:nvPr/>
        </p:nvSpPr>
        <p:spPr bwMode="gray">
          <a:xfrm>
            <a:off x="2700259" y="1644884"/>
            <a:ext cx="1786185" cy="523772"/>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Project Modality</a:t>
            </a:r>
          </a:p>
        </p:txBody>
      </p:sp>
      <p:cxnSp>
        <p:nvCxnSpPr>
          <p:cNvPr id="37" name="Straight Arrow Connector 36">
            <a:extLst>
              <a:ext uri="{FF2B5EF4-FFF2-40B4-BE49-F238E27FC236}">
                <a16:creationId xmlns:a16="http://schemas.microsoft.com/office/drawing/2014/main" id="{4989D531-4615-7FDF-F4AE-B8BF20235444}"/>
              </a:ext>
            </a:extLst>
          </p:cNvPr>
          <p:cNvCxnSpPr>
            <a:cxnSpLocks/>
          </p:cNvCxnSpPr>
          <p:nvPr/>
        </p:nvCxnSpPr>
        <p:spPr>
          <a:xfrm flipH="1">
            <a:off x="3580021" y="2162119"/>
            <a:ext cx="1" cy="285182"/>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E1A68C4-3069-F981-646F-8B28231CB7BF}"/>
              </a:ext>
            </a:extLst>
          </p:cNvPr>
          <p:cNvCxnSpPr>
            <a:cxnSpLocks/>
          </p:cNvCxnSpPr>
          <p:nvPr/>
        </p:nvCxnSpPr>
        <p:spPr>
          <a:xfrm flipV="1">
            <a:off x="2178820" y="2444692"/>
            <a:ext cx="2789344" cy="765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3E36EFE-16EA-DF98-AB47-904C4F6B285F}"/>
              </a:ext>
            </a:extLst>
          </p:cNvPr>
          <p:cNvCxnSpPr>
            <a:cxnSpLocks/>
          </p:cNvCxnSpPr>
          <p:nvPr/>
        </p:nvCxnSpPr>
        <p:spPr>
          <a:xfrm flipH="1">
            <a:off x="2178820" y="2444692"/>
            <a:ext cx="1" cy="18288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FD6D153-4486-B0D2-1779-9BCB8A8E4684}"/>
              </a:ext>
            </a:extLst>
          </p:cNvPr>
          <p:cNvCxnSpPr>
            <a:cxnSpLocks/>
          </p:cNvCxnSpPr>
          <p:nvPr/>
        </p:nvCxnSpPr>
        <p:spPr>
          <a:xfrm flipH="1">
            <a:off x="4968164" y="2450740"/>
            <a:ext cx="1" cy="18288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1021BA3-D7A2-2563-A89C-BA925187A970}"/>
              </a:ext>
            </a:extLst>
          </p:cNvPr>
          <p:cNvSpPr/>
          <p:nvPr/>
        </p:nvSpPr>
        <p:spPr bwMode="gray">
          <a:xfrm>
            <a:off x="1594515" y="2627572"/>
            <a:ext cx="1911650" cy="383839"/>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500 MW AC</a:t>
            </a:r>
          </a:p>
        </p:txBody>
      </p:sp>
      <p:sp>
        <p:nvSpPr>
          <p:cNvPr id="50" name="Rectangle 49">
            <a:extLst>
              <a:ext uri="{FF2B5EF4-FFF2-40B4-BE49-F238E27FC236}">
                <a16:creationId xmlns:a16="http://schemas.microsoft.com/office/drawing/2014/main" id="{9893EACB-C188-DF32-D82C-C3BE0B0E5F69}"/>
              </a:ext>
            </a:extLst>
          </p:cNvPr>
          <p:cNvSpPr/>
          <p:nvPr/>
        </p:nvSpPr>
        <p:spPr bwMode="gray">
          <a:xfrm>
            <a:off x="286444" y="3269683"/>
            <a:ext cx="1086747" cy="895963"/>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Project Contour</a:t>
            </a:r>
          </a:p>
        </p:txBody>
      </p:sp>
      <p:sp>
        <p:nvSpPr>
          <p:cNvPr id="52" name="Rectangle 51">
            <a:extLst>
              <a:ext uri="{FF2B5EF4-FFF2-40B4-BE49-F238E27FC236}">
                <a16:creationId xmlns:a16="http://schemas.microsoft.com/office/drawing/2014/main" id="{411D5A4F-D981-9BCD-4A1F-DDC34F01487D}"/>
              </a:ext>
            </a:extLst>
          </p:cNvPr>
          <p:cNvSpPr/>
          <p:nvPr/>
        </p:nvSpPr>
        <p:spPr bwMode="gray">
          <a:xfrm>
            <a:off x="1606381" y="3269684"/>
            <a:ext cx="1911650" cy="895965"/>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Funded under Sovereign Model as 1</a:t>
            </a:r>
            <a:r>
              <a:rPr lang="en-US" sz="1100" baseline="30000" dirty="0"/>
              <a:t>st</a:t>
            </a:r>
            <a:r>
              <a:rPr lang="en-US" sz="1100" dirty="0"/>
              <a:t> demonstration project for large scale solar</a:t>
            </a:r>
          </a:p>
        </p:txBody>
      </p:sp>
      <p:sp>
        <p:nvSpPr>
          <p:cNvPr id="53" name="Rectangle 52">
            <a:extLst>
              <a:ext uri="{FF2B5EF4-FFF2-40B4-BE49-F238E27FC236}">
                <a16:creationId xmlns:a16="http://schemas.microsoft.com/office/drawing/2014/main" id="{5F89E00B-2589-9C3E-34AE-C55D834B285A}"/>
              </a:ext>
            </a:extLst>
          </p:cNvPr>
          <p:cNvSpPr/>
          <p:nvPr/>
        </p:nvSpPr>
        <p:spPr bwMode="gray">
          <a:xfrm>
            <a:off x="3655424" y="2627571"/>
            <a:ext cx="1911650" cy="383839"/>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250 MW AC</a:t>
            </a:r>
          </a:p>
        </p:txBody>
      </p:sp>
      <p:sp>
        <p:nvSpPr>
          <p:cNvPr id="54" name="Rectangle 53">
            <a:extLst>
              <a:ext uri="{FF2B5EF4-FFF2-40B4-BE49-F238E27FC236}">
                <a16:creationId xmlns:a16="http://schemas.microsoft.com/office/drawing/2014/main" id="{DFDB31C1-7945-5B9E-CBEA-E9A19A6064E0}"/>
              </a:ext>
            </a:extLst>
          </p:cNvPr>
          <p:cNvSpPr/>
          <p:nvPr/>
        </p:nvSpPr>
        <p:spPr bwMode="gray">
          <a:xfrm>
            <a:off x="3657695" y="3269685"/>
            <a:ext cx="1911650" cy="895966"/>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PPP based project to come up in the same land block; APDCL to support in land and connectivity</a:t>
            </a:r>
          </a:p>
        </p:txBody>
      </p:sp>
      <p:sp>
        <p:nvSpPr>
          <p:cNvPr id="55" name="Rectangle 54">
            <a:extLst>
              <a:ext uri="{FF2B5EF4-FFF2-40B4-BE49-F238E27FC236}">
                <a16:creationId xmlns:a16="http://schemas.microsoft.com/office/drawing/2014/main" id="{8052A918-AAA8-8905-4387-499E38BB34EF}"/>
              </a:ext>
            </a:extLst>
          </p:cNvPr>
          <p:cNvSpPr/>
          <p:nvPr/>
        </p:nvSpPr>
        <p:spPr bwMode="gray">
          <a:xfrm>
            <a:off x="286444" y="4354737"/>
            <a:ext cx="1086747" cy="668955"/>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Private Sector Participation</a:t>
            </a:r>
          </a:p>
        </p:txBody>
      </p:sp>
      <p:sp>
        <p:nvSpPr>
          <p:cNvPr id="56" name="Rectangle 55">
            <a:extLst>
              <a:ext uri="{FF2B5EF4-FFF2-40B4-BE49-F238E27FC236}">
                <a16:creationId xmlns:a16="http://schemas.microsoft.com/office/drawing/2014/main" id="{D811A036-0DEF-3529-DC6F-A952F81CC34B}"/>
              </a:ext>
            </a:extLst>
          </p:cNvPr>
          <p:cNvSpPr/>
          <p:nvPr/>
        </p:nvSpPr>
        <p:spPr bwMode="gray">
          <a:xfrm>
            <a:off x="1606381" y="4354739"/>
            <a:ext cx="1911650" cy="66895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EPC + O&amp;M</a:t>
            </a:r>
          </a:p>
        </p:txBody>
      </p:sp>
      <p:sp>
        <p:nvSpPr>
          <p:cNvPr id="57" name="Rectangle 56">
            <a:extLst>
              <a:ext uri="{FF2B5EF4-FFF2-40B4-BE49-F238E27FC236}">
                <a16:creationId xmlns:a16="http://schemas.microsoft.com/office/drawing/2014/main" id="{FE4AB6E7-E96A-44E9-1B7A-284DB833AD82}"/>
              </a:ext>
            </a:extLst>
          </p:cNvPr>
          <p:cNvSpPr/>
          <p:nvPr/>
        </p:nvSpPr>
        <p:spPr bwMode="gray">
          <a:xfrm>
            <a:off x="3657695" y="4354739"/>
            <a:ext cx="1911650" cy="668957"/>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Private/ Joint Ownership </a:t>
            </a:r>
          </a:p>
        </p:txBody>
      </p:sp>
      <p:sp>
        <p:nvSpPr>
          <p:cNvPr id="58" name="Rectangle 57">
            <a:extLst>
              <a:ext uri="{FF2B5EF4-FFF2-40B4-BE49-F238E27FC236}">
                <a16:creationId xmlns:a16="http://schemas.microsoft.com/office/drawing/2014/main" id="{6FC2F2A3-6109-2FB8-EBAB-3C8C31EF9D4E}"/>
              </a:ext>
            </a:extLst>
          </p:cNvPr>
          <p:cNvSpPr/>
          <p:nvPr/>
        </p:nvSpPr>
        <p:spPr bwMode="gray">
          <a:xfrm>
            <a:off x="286444" y="5187210"/>
            <a:ext cx="1086747" cy="668955"/>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Direct Local Benefit</a:t>
            </a:r>
          </a:p>
        </p:txBody>
      </p:sp>
      <p:sp>
        <p:nvSpPr>
          <p:cNvPr id="59" name="Rectangle 58">
            <a:extLst>
              <a:ext uri="{FF2B5EF4-FFF2-40B4-BE49-F238E27FC236}">
                <a16:creationId xmlns:a16="http://schemas.microsoft.com/office/drawing/2014/main" id="{A157C635-C079-8A46-F1C2-8DF339AA22E2}"/>
              </a:ext>
            </a:extLst>
          </p:cNvPr>
          <p:cNvSpPr/>
          <p:nvPr/>
        </p:nvSpPr>
        <p:spPr bwMode="gray">
          <a:xfrm>
            <a:off x="1606381" y="5187212"/>
            <a:ext cx="1911650" cy="66895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O&amp;M by local community women</a:t>
            </a:r>
          </a:p>
        </p:txBody>
      </p:sp>
      <p:sp>
        <p:nvSpPr>
          <p:cNvPr id="60" name="Rectangle 59">
            <a:extLst>
              <a:ext uri="{FF2B5EF4-FFF2-40B4-BE49-F238E27FC236}">
                <a16:creationId xmlns:a16="http://schemas.microsoft.com/office/drawing/2014/main" id="{CECF3498-69CC-EC84-5C18-B531F4632986}"/>
              </a:ext>
            </a:extLst>
          </p:cNvPr>
          <p:cNvSpPr/>
          <p:nvPr/>
        </p:nvSpPr>
        <p:spPr bwMode="gray">
          <a:xfrm>
            <a:off x="3657695" y="5187212"/>
            <a:ext cx="1911650" cy="668957"/>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t>O&amp;M by Developer/ Company</a:t>
            </a:r>
          </a:p>
        </p:txBody>
      </p:sp>
      <p:sp>
        <p:nvSpPr>
          <p:cNvPr id="61" name="Rectangle 60">
            <a:extLst>
              <a:ext uri="{FF2B5EF4-FFF2-40B4-BE49-F238E27FC236}">
                <a16:creationId xmlns:a16="http://schemas.microsoft.com/office/drawing/2014/main" id="{0E25EDDC-D738-4BA3-43F3-984F3817490E}"/>
              </a:ext>
            </a:extLst>
          </p:cNvPr>
          <p:cNvSpPr/>
          <p:nvPr/>
        </p:nvSpPr>
        <p:spPr bwMode="gray">
          <a:xfrm>
            <a:off x="286443" y="5958667"/>
            <a:ext cx="11424219" cy="590567"/>
          </a:xfrm>
          <a:prstGeom prst="rect">
            <a:avLst/>
          </a:prstGeom>
          <a:solidFill>
            <a:srgbClr val="DDEFE8"/>
          </a:solidFill>
          <a:ln w="19050" algn="ctr">
            <a:no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100" dirty="0"/>
              <a:t>Costs associated with land, basic infrastructure and transmission evacuation infrastructure would be part of APDCL’s contribution</a:t>
            </a:r>
          </a:p>
          <a:p>
            <a:pPr marL="171450" indent="-171450">
              <a:lnSpc>
                <a:spcPct val="106000"/>
              </a:lnSpc>
              <a:buFont typeface="Arial" panose="020B0604020202020204" pitchFamily="34" charset="0"/>
              <a:buChar char="•"/>
            </a:pPr>
            <a:r>
              <a:rPr lang="en-US" sz="1100" dirty="0"/>
              <a:t>Lease charges can be levied on Developer with respect to above, which can be earned by APDCL as Non-Tariff Income</a:t>
            </a:r>
          </a:p>
        </p:txBody>
      </p:sp>
      <p:cxnSp>
        <p:nvCxnSpPr>
          <p:cNvPr id="18" name="Straight Connector 17">
            <a:extLst>
              <a:ext uri="{FF2B5EF4-FFF2-40B4-BE49-F238E27FC236}">
                <a16:creationId xmlns:a16="http://schemas.microsoft.com/office/drawing/2014/main" id="{4A2419F4-5639-9EA5-599F-A6C00AC6BE9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B9D20FC-A1BE-169A-3925-4374C064FA94}"/>
              </a:ext>
            </a:extLst>
          </p:cNvPr>
          <p:cNvSpPr/>
          <p:nvPr/>
        </p:nvSpPr>
        <p:spPr bwMode="gray">
          <a:xfrm>
            <a:off x="6144784" y="3557634"/>
            <a:ext cx="2748846" cy="433837"/>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Including Solar Park Infra and evacuation costs:</a:t>
            </a:r>
          </a:p>
        </p:txBody>
      </p:sp>
      <p:sp>
        <p:nvSpPr>
          <p:cNvPr id="15" name="Rectangle 14">
            <a:extLst>
              <a:ext uri="{FF2B5EF4-FFF2-40B4-BE49-F238E27FC236}">
                <a16:creationId xmlns:a16="http://schemas.microsoft.com/office/drawing/2014/main" id="{9830954E-7958-8F0E-AA29-C4E2F0D17CE0}"/>
              </a:ext>
            </a:extLst>
          </p:cNvPr>
          <p:cNvSpPr/>
          <p:nvPr/>
        </p:nvSpPr>
        <p:spPr bwMode="gray">
          <a:xfrm>
            <a:off x="9050798" y="3544937"/>
            <a:ext cx="2748846" cy="433837"/>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Excluding Solar Park Infra and evacuation costs:</a:t>
            </a:r>
          </a:p>
        </p:txBody>
      </p:sp>
      <p:sp>
        <p:nvSpPr>
          <p:cNvPr id="20" name="TextBox 19">
            <a:extLst>
              <a:ext uri="{FF2B5EF4-FFF2-40B4-BE49-F238E27FC236}">
                <a16:creationId xmlns:a16="http://schemas.microsoft.com/office/drawing/2014/main" id="{8D5EA881-1FC4-9906-BAED-3D7052625174}"/>
              </a:ext>
            </a:extLst>
          </p:cNvPr>
          <p:cNvSpPr txBox="1"/>
          <p:nvPr/>
        </p:nvSpPr>
        <p:spPr>
          <a:xfrm>
            <a:off x="6054988" y="5649158"/>
            <a:ext cx="6096000" cy="261610"/>
          </a:xfrm>
          <a:prstGeom prst="rect">
            <a:avLst/>
          </a:prstGeom>
          <a:noFill/>
        </p:spPr>
        <p:txBody>
          <a:bodyPr wrap="square">
            <a:spAutoFit/>
          </a:bodyPr>
          <a:lstStyle/>
          <a:p>
            <a:r>
              <a:rPr lang="en-US" sz="1100" i="1" dirty="0"/>
              <a:t>Detailed Break-up of Capex is provided in </a:t>
            </a:r>
            <a:r>
              <a:rPr lang="en-US" sz="1100" i="1" dirty="0">
                <a:hlinkClick r:id="rId5" action="ppaction://hlinksldjump"/>
              </a:rPr>
              <a:t>Annexure</a:t>
            </a:r>
            <a:endParaRPr lang="en-US" sz="1100" dirty="0"/>
          </a:p>
        </p:txBody>
      </p:sp>
      <p:sp>
        <p:nvSpPr>
          <p:cNvPr id="19" name="Rectangle 18">
            <a:extLst>
              <a:ext uri="{FF2B5EF4-FFF2-40B4-BE49-F238E27FC236}">
                <a16:creationId xmlns:a16="http://schemas.microsoft.com/office/drawing/2014/main" id="{FBDBE90A-2732-EB7D-1ED1-83C2B968F286}"/>
              </a:ext>
            </a:extLst>
          </p:cNvPr>
          <p:cNvSpPr/>
          <p:nvPr/>
        </p:nvSpPr>
        <p:spPr bwMode="gray">
          <a:xfrm>
            <a:off x="9082377" y="4054567"/>
            <a:ext cx="2696656" cy="1605477"/>
          </a:xfrm>
          <a:prstGeom prst="rect">
            <a:avLst/>
          </a:prstGeom>
          <a:noFill/>
          <a:ln w="19050" algn="ctr">
            <a:solidFill>
              <a:schemeClr val="tx1"/>
            </a:solidFill>
            <a:prstDash val="dash"/>
            <a:miter lim="800000"/>
            <a:headEnd/>
            <a:tailEnd/>
          </a:ln>
        </p:spPr>
        <p:txBody>
          <a:bodyPr wrap="square" lIns="88900" tIns="88900" rIns="88900" bIns="88900" rtlCol="0" anchor="t"/>
          <a:lstStyle/>
          <a:p>
            <a:pPr marL="285750" indent="-285750">
              <a:lnSpc>
                <a:spcPct val="106000"/>
              </a:lnSpc>
              <a:buFont typeface="Arial" panose="020B0604020202020204" pitchFamily="34" charset="0"/>
              <a:buChar char="•"/>
            </a:pPr>
            <a:r>
              <a:rPr lang="en-US" sz="1100" b="1" dirty="0"/>
              <a:t>Rs 1,221 Cr (incl. of taxes), i.e. USD 147 Mn </a:t>
            </a:r>
            <a:endParaRPr lang="en-US" sz="1100" dirty="0"/>
          </a:p>
          <a:p>
            <a:pPr marL="285750" lvl="1" indent="-285750">
              <a:lnSpc>
                <a:spcPct val="106000"/>
              </a:lnSpc>
              <a:buFont typeface="Wingdings" panose="05000000000000000000" pitchFamily="2" charset="2"/>
              <a:buChar char="q"/>
            </a:pPr>
            <a:r>
              <a:rPr lang="en-US" sz="1100" dirty="0"/>
              <a:t>Debt Component (considering 70%) – </a:t>
            </a:r>
            <a:r>
              <a:rPr lang="en-US" sz="1100" b="1" dirty="0"/>
              <a:t>Rs 855 Cr (~USD 103 Mn)</a:t>
            </a:r>
            <a:endParaRPr lang="en-US" sz="1100" dirty="0"/>
          </a:p>
          <a:p>
            <a:pPr marL="285750" lvl="1" indent="-285750">
              <a:lnSpc>
                <a:spcPct val="106000"/>
              </a:lnSpc>
              <a:buFont typeface="Wingdings" panose="05000000000000000000" pitchFamily="2" charset="2"/>
              <a:buChar char="q"/>
            </a:pPr>
            <a:r>
              <a:rPr lang="en-US" sz="1100" dirty="0"/>
              <a:t>Equity Component (considering 30%) – </a:t>
            </a:r>
            <a:r>
              <a:rPr lang="en-US" sz="1100" b="1" dirty="0"/>
              <a:t>Rs 366 Cr (~USD 44 Mn)</a:t>
            </a:r>
          </a:p>
        </p:txBody>
      </p:sp>
      <p:sp>
        <p:nvSpPr>
          <p:cNvPr id="22" name="Rectangle 21">
            <a:extLst>
              <a:ext uri="{FF2B5EF4-FFF2-40B4-BE49-F238E27FC236}">
                <a16:creationId xmlns:a16="http://schemas.microsoft.com/office/drawing/2014/main" id="{A9F7169E-7A0D-14EA-0D2A-3DF5EA5D9960}"/>
              </a:ext>
            </a:extLst>
          </p:cNvPr>
          <p:cNvSpPr/>
          <p:nvPr/>
        </p:nvSpPr>
        <p:spPr bwMode="gray">
          <a:xfrm>
            <a:off x="8591676" y="6485833"/>
            <a:ext cx="3559312" cy="211533"/>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000" i="1" dirty="0"/>
              <a:t>Note: USD/INR exchange rate of 83 considered</a:t>
            </a:r>
            <a:endParaRPr lang="en-US" sz="1000" b="1" i="1" dirty="0">
              <a:highlight>
                <a:srgbClr val="00FF00"/>
              </a:highlight>
            </a:endParaRPr>
          </a:p>
        </p:txBody>
      </p:sp>
    </p:spTree>
    <p:extLst>
      <p:ext uri="{BB962C8B-B14F-4D97-AF65-F5344CB8AC3E}">
        <p14:creationId xmlns:p14="http://schemas.microsoft.com/office/powerpoint/2010/main" val="3480141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5A4D874A-04C7-50E6-8F30-377FE7B9C0D5}"/>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Possible PPP options for execution of 250 MW solar project in Assam</a:t>
            </a:r>
          </a:p>
        </p:txBody>
      </p:sp>
      <p:sp>
        <p:nvSpPr>
          <p:cNvPr id="6" name="Title 2">
            <a:extLst>
              <a:ext uri="{FF2B5EF4-FFF2-40B4-BE49-F238E27FC236}">
                <a16:creationId xmlns:a16="http://schemas.microsoft.com/office/drawing/2014/main" id="{D9C5C51A-1B90-0F6A-8469-16FD72E19DED}"/>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cs typeface="+mj-cs"/>
              </a:rPr>
              <a:t>Options for PPP</a:t>
            </a:r>
          </a:p>
        </p:txBody>
      </p:sp>
      <p:sp>
        <p:nvSpPr>
          <p:cNvPr id="2" name="Rectangle: Rounded Corners 1">
            <a:extLst>
              <a:ext uri="{FF2B5EF4-FFF2-40B4-BE49-F238E27FC236}">
                <a16:creationId xmlns:a16="http://schemas.microsoft.com/office/drawing/2014/main" id="{901FB2E1-F003-3B33-0413-0566BB898828}"/>
              </a:ext>
            </a:extLst>
          </p:cNvPr>
          <p:cNvSpPr/>
          <p:nvPr/>
        </p:nvSpPr>
        <p:spPr bwMode="gray">
          <a:xfrm>
            <a:off x="4143738" y="1261810"/>
            <a:ext cx="3437681" cy="659750"/>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SUGGESTED PPP OPTIONS FOR 250 MW SPV PROJECT</a:t>
            </a:r>
          </a:p>
        </p:txBody>
      </p:sp>
      <p:cxnSp>
        <p:nvCxnSpPr>
          <p:cNvPr id="8" name="Straight Arrow Connector 7">
            <a:extLst>
              <a:ext uri="{FF2B5EF4-FFF2-40B4-BE49-F238E27FC236}">
                <a16:creationId xmlns:a16="http://schemas.microsoft.com/office/drawing/2014/main" id="{D97895E8-FA22-DE1F-7500-FB92AF152125}"/>
              </a:ext>
            </a:extLst>
          </p:cNvPr>
          <p:cNvCxnSpPr>
            <a:cxnSpLocks/>
          </p:cNvCxnSpPr>
          <p:nvPr/>
        </p:nvCxnSpPr>
        <p:spPr>
          <a:xfrm>
            <a:off x="5862579" y="1932966"/>
            <a:ext cx="0" cy="548640"/>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E7B6648-4F72-468C-6FEE-EE482A3D3228}"/>
              </a:ext>
            </a:extLst>
          </p:cNvPr>
          <p:cNvCxnSpPr/>
          <p:nvPr/>
        </p:nvCxnSpPr>
        <p:spPr>
          <a:xfrm>
            <a:off x="2013995" y="2488691"/>
            <a:ext cx="7581417"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B01E57C-728A-90D0-E29F-5073DE903D75}"/>
              </a:ext>
            </a:extLst>
          </p:cNvPr>
          <p:cNvCxnSpPr>
            <a:cxnSpLocks/>
          </p:cNvCxnSpPr>
          <p:nvPr/>
        </p:nvCxnSpPr>
        <p:spPr>
          <a:xfrm>
            <a:off x="2021714" y="2467404"/>
            <a:ext cx="0" cy="548640"/>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38F6019-C00E-5F00-F700-00E1F233B241}"/>
              </a:ext>
            </a:extLst>
          </p:cNvPr>
          <p:cNvCxnSpPr>
            <a:cxnSpLocks/>
          </p:cNvCxnSpPr>
          <p:nvPr/>
        </p:nvCxnSpPr>
        <p:spPr>
          <a:xfrm>
            <a:off x="9595412" y="2467404"/>
            <a:ext cx="0" cy="548640"/>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FE270C5-F55D-EDB4-34BB-382763F005D2}"/>
              </a:ext>
            </a:extLst>
          </p:cNvPr>
          <p:cNvCxnSpPr>
            <a:cxnSpLocks/>
          </p:cNvCxnSpPr>
          <p:nvPr/>
        </p:nvCxnSpPr>
        <p:spPr>
          <a:xfrm>
            <a:off x="5852933" y="2488691"/>
            <a:ext cx="0" cy="548640"/>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hlinkClick r:id="rId5" action="ppaction://hlinksldjump"/>
            <a:extLst>
              <a:ext uri="{FF2B5EF4-FFF2-40B4-BE49-F238E27FC236}">
                <a16:creationId xmlns:a16="http://schemas.microsoft.com/office/drawing/2014/main" id="{9412BB5F-7C98-FFE1-6F97-FFE1FD562EB5}"/>
              </a:ext>
            </a:extLst>
          </p:cNvPr>
          <p:cNvSpPr/>
          <p:nvPr/>
        </p:nvSpPr>
        <p:spPr bwMode="gray">
          <a:xfrm>
            <a:off x="648183" y="3023123"/>
            <a:ext cx="2789498" cy="1247935"/>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t"/>
          <a:lstStyle/>
          <a:p>
            <a:pPr algn="ctr">
              <a:lnSpc>
                <a:spcPct val="106000"/>
              </a:lnSpc>
            </a:pPr>
            <a:r>
              <a:rPr lang="en-US" sz="1400" b="1" u="sng" dirty="0"/>
              <a:t>Option 1: </a:t>
            </a:r>
          </a:p>
          <a:p>
            <a:pPr algn="ctr">
              <a:lnSpc>
                <a:spcPct val="106000"/>
              </a:lnSpc>
            </a:pPr>
            <a:endParaRPr lang="en-US" sz="1400" b="1" dirty="0"/>
          </a:p>
          <a:p>
            <a:pPr algn="ctr">
              <a:lnSpc>
                <a:spcPct val="106000"/>
              </a:lnSpc>
            </a:pPr>
            <a:r>
              <a:rPr lang="en-US" sz="1400" b="1" dirty="0"/>
              <a:t>Joint-Ownership PPP model (JV)</a:t>
            </a:r>
          </a:p>
        </p:txBody>
      </p:sp>
      <p:sp>
        <p:nvSpPr>
          <p:cNvPr id="21" name="Rectangle: Rounded Corners 20">
            <a:hlinkClick r:id="rId6" action="ppaction://hlinksldjump"/>
            <a:extLst>
              <a:ext uri="{FF2B5EF4-FFF2-40B4-BE49-F238E27FC236}">
                <a16:creationId xmlns:a16="http://schemas.microsoft.com/office/drawing/2014/main" id="{476872F7-0BE9-0BC2-E7F1-E55F688FA807}"/>
              </a:ext>
            </a:extLst>
          </p:cNvPr>
          <p:cNvSpPr/>
          <p:nvPr/>
        </p:nvSpPr>
        <p:spPr bwMode="gray">
          <a:xfrm>
            <a:off x="8200663" y="3016044"/>
            <a:ext cx="2789498" cy="1247935"/>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t"/>
          <a:lstStyle/>
          <a:p>
            <a:pPr algn="ctr">
              <a:lnSpc>
                <a:spcPct val="106000"/>
              </a:lnSpc>
              <a:buFont typeface="Wingdings 2" pitchFamily="18" charset="2"/>
              <a:buNone/>
            </a:pPr>
            <a:r>
              <a:rPr lang="en-US" sz="1400" b="1" u="sng" dirty="0"/>
              <a:t>Option 3: </a:t>
            </a:r>
          </a:p>
          <a:p>
            <a:pPr algn="ctr">
              <a:lnSpc>
                <a:spcPct val="106000"/>
              </a:lnSpc>
              <a:buFont typeface="Wingdings 2" pitchFamily="18" charset="2"/>
              <a:buNone/>
            </a:pPr>
            <a:endParaRPr lang="en-US" sz="1400" b="1" dirty="0"/>
          </a:p>
          <a:p>
            <a:pPr algn="ctr">
              <a:lnSpc>
                <a:spcPct val="106000"/>
              </a:lnSpc>
              <a:buFont typeface="Wingdings 2" pitchFamily="18" charset="2"/>
              <a:buNone/>
            </a:pPr>
            <a:r>
              <a:rPr lang="en-US" sz="1400" b="1" dirty="0"/>
              <a:t>Solar park model (Infrastructure Funding)</a:t>
            </a:r>
          </a:p>
        </p:txBody>
      </p:sp>
      <p:sp>
        <p:nvSpPr>
          <p:cNvPr id="22" name="Rectangle: Rounded Corners 21">
            <a:hlinkClick r:id="rId7" action="ppaction://hlinksldjump"/>
            <a:extLst>
              <a:ext uri="{FF2B5EF4-FFF2-40B4-BE49-F238E27FC236}">
                <a16:creationId xmlns:a16="http://schemas.microsoft.com/office/drawing/2014/main" id="{C25C8D96-B4F8-18BC-2D26-AFDFB5E5978F}"/>
              </a:ext>
            </a:extLst>
          </p:cNvPr>
          <p:cNvSpPr/>
          <p:nvPr/>
        </p:nvSpPr>
        <p:spPr bwMode="gray">
          <a:xfrm>
            <a:off x="4467829" y="3016044"/>
            <a:ext cx="2789498" cy="1247935"/>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t"/>
          <a:lstStyle/>
          <a:p>
            <a:pPr algn="ctr">
              <a:lnSpc>
                <a:spcPct val="106000"/>
              </a:lnSpc>
              <a:buFont typeface="Wingdings 2" pitchFamily="18" charset="2"/>
              <a:buNone/>
            </a:pPr>
            <a:r>
              <a:rPr lang="en-US" sz="1400" b="1" u="sng" dirty="0"/>
              <a:t>Option 2: </a:t>
            </a:r>
          </a:p>
          <a:p>
            <a:pPr algn="ctr">
              <a:lnSpc>
                <a:spcPct val="106000"/>
              </a:lnSpc>
              <a:buFont typeface="Wingdings 2" pitchFamily="18" charset="2"/>
              <a:buNone/>
            </a:pPr>
            <a:endParaRPr lang="en-US" sz="1400" b="1" dirty="0"/>
          </a:p>
          <a:p>
            <a:pPr algn="ctr">
              <a:lnSpc>
                <a:spcPct val="106000"/>
              </a:lnSpc>
              <a:buFont typeface="Wingdings 2" pitchFamily="18" charset="2"/>
              <a:buNone/>
            </a:pPr>
            <a:r>
              <a:rPr lang="en-US" sz="1400" b="1" dirty="0"/>
              <a:t>VGF based Competitive Bidding Model</a:t>
            </a:r>
          </a:p>
        </p:txBody>
      </p:sp>
      <p:sp>
        <p:nvSpPr>
          <p:cNvPr id="24" name="Arrow: Left-Right 23">
            <a:hlinkClick r:id="rId8" action="ppaction://hlinksldjump"/>
            <a:extLst>
              <a:ext uri="{FF2B5EF4-FFF2-40B4-BE49-F238E27FC236}">
                <a16:creationId xmlns:a16="http://schemas.microsoft.com/office/drawing/2014/main" id="{183996B2-A8CE-97DB-A52B-4A20B6BCB482}"/>
              </a:ext>
            </a:extLst>
          </p:cNvPr>
          <p:cNvSpPr/>
          <p:nvPr/>
        </p:nvSpPr>
        <p:spPr bwMode="gray">
          <a:xfrm>
            <a:off x="514664" y="4369309"/>
            <a:ext cx="10764455" cy="1095419"/>
          </a:xfrm>
          <a:prstGeom prst="leftRightArrow">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State Govt. funding for additional layer of payment risk guarantee in addition to implementation of the above-mentioned PPP options can be considered</a:t>
            </a:r>
          </a:p>
        </p:txBody>
      </p:sp>
      <p:sp>
        <p:nvSpPr>
          <p:cNvPr id="25" name="Rectangle 24">
            <a:extLst>
              <a:ext uri="{FF2B5EF4-FFF2-40B4-BE49-F238E27FC236}">
                <a16:creationId xmlns:a16="http://schemas.microsoft.com/office/drawing/2014/main" id="{99166009-11B0-D383-366A-A91FA4506FDC}"/>
              </a:ext>
            </a:extLst>
          </p:cNvPr>
          <p:cNvSpPr/>
          <p:nvPr/>
        </p:nvSpPr>
        <p:spPr bwMode="gray">
          <a:xfrm>
            <a:off x="625155" y="5660348"/>
            <a:ext cx="10653964" cy="610023"/>
          </a:xfrm>
          <a:prstGeom prst="rect">
            <a:avLst/>
          </a:prstGeom>
          <a:solidFill>
            <a:schemeClr val="accent1">
              <a:lumMod val="20000"/>
              <a:lumOff val="80000"/>
            </a:schemeClr>
          </a:solidFill>
          <a:ln w="19050" algn="ctr">
            <a:solidFill>
              <a:schemeClr val="tx1"/>
            </a:solidFill>
            <a:prstDash val="dash"/>
            <a:miter lim="800000"/>
            <a:headEnd/>
            <a:tailEnd/>
          </a:ln>
        </p:spPr>
        <p:txBody>
          <a:bodyPr wrap="square" lIns="88900" tIns="88900" rIns="88900" bIns="88900" rtlCol="0" anchor="ctr"/>
          <a:lstStyle/>
          <a:p>
            <a:pPr algn="just">
              <a:lnSpc>
                <a:spcPct val="106000"/>
              </a:lnSpc>
            </a:pPr>
            <a:r>
              <a:rPr lang="en-US" sz="1200" b="1" dirty="0"/>
              <a:t>Note:</a:t>
            </a:r>
            <a:r>
              <a:rPr lang="en-US" sz="1200" dirty="0"/>
              <a:t> Direct debt or grant to private player through government may not be feasible as options owing to the high associated risks on part of state govt. and regulatory challenges</a:t>
            </a:r>
          </a:p>
        </p:txBody>
      </p:sp>
      <p:cxnSp>
        <p:nvCxnSpPr>
          <p:cNvPr id="29" name="Straight Connector 28">
            <a:extLst>
              <a:ext uri="{FF2B5EF4-FFF2-40B4-BE49-F238E27FC236}">
                <a16:creationId xmlns:a16="http://schemas.microsoft.com/office/drawing/2014/main" id="{C0FB2008-EB73-0311-A5A1-B71CB11ADA82}"/>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933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4E2349-DA10-E2F7-F8F7-DDA8BB55F1F7}"/>
              </a:ext>
            </a:extLst>
          </p:cNvPr>
          <p:cNvSpPr/>
          <p:nvPr/>
        </p:nvSpPr>
        <p:spPr bwMode="gray">
          <a:xfrm>
            <a:off x="769075" y="4000735"/>
            <a:ext cx="5574827" cy="1758913"/>
          </a:xfrm>
          <a:prstGeom prst="rect">
            <a:avLst/>
          </a:prstGeom>
          <a:solidFill>
            <a:srgbClr val="DDEFE8"/>
          </a:solidFill>
          <a:ln w="19050" algn="ctr">
            <a:noFill/>
            <a:prstDash val="dash"/>
            <a:miter lim="800000"/>
            <a:headEnd/>
            <a:tailEnd/>
          </a:ln>
        </p:spPr>
        <p:txBody>
          <a:bodyPr wrap="square" lIns="88900" tIns="88900" rIns="88900" bIns="88900" rtlCol="0" anchor="ctr"/>
          <a:lstStyle/>
          <a:p>
            <a:pPr algn="just">
              <a:lnSpc>
                <a:spcPct val="106000"/>
              </a:lnSpc>
            </a:pPr>
            <a:r>
              <a:rPr lang="en-US" sz="1100" dirty="0"/>
              <a:t>Considering separate funding for solar park common infrastructure and evacuation costs, </a:t>
            </a:r>
            <a:r>
              <a:rPr lang="en-US" sz="1100" b="1" i="1" dirty="0"/>
              <a:t>estimated equity requirement from Govt </a:t>
            </a:r>
            <a:r>
              <a:rPr lang="en-US" sz="1100" dirty="0"/>
              <a:t>towards JV (</a:t>
            </a:r>
            <a:r>
              <a:rPr lang="en-US" sz="1100" b="1" dirty="0"/>
              <a:t>incl taxes</a:t>
            </a:r>
            <a:r>
              <a:rPr lang="en-US" sz="1100" dirty="0"/>
              <a:t>) out of total INR 366 Cr equity contribution (~USD 44 Mn)</a:t>
            </a:r>
            <a:r>
              <a:rPr lang="en-US" sz="1100" b="1" dirty="0"/>
              <a:t> </a:t>
            </a:r>
            <a:r>
              <a:rPr lang="en-US" sz="1100" dirty="0"/>
              <a:t>:</a:t>
            </a:r>
          </a:p>
          <a:p>
            <a:pPr algn="just">
              <a:lnSpc>
                <a:spcPct val="106000"/>
              </a:lnSpc>
            </a:pPr>
            <a:endParaRPr lang="en-US" sz="1100" b="1" dirty="0"/>
          </a:p>
          <a:p>
            <a:pPr algn="just">
              <a:lnSpc>
                <a:spcPct val="106000"/>
              </a:lnSpc>
            </a:pPr>
            <a:endParaRPr lang="en-US" sz="1100" b="1" dirty="0"/>
          </a:p>
          <a:p>
            <a:pPr algn="just">
              <a:lnSpc>
                <a:spcPct val="106000"/>
              </a:lnSpc>
            </a:pPr>
            <a:r>
              <a:rPr lang="en-US" sz="1100" b="1" dirty="0"/>
              <a:t>If additional funding for solar park infra and evacuation is carried out, total estimated fund utilization opportunity (Govt. Equity requirement in JV + Solar Park Development cost): </a:t>
            </a:r>
          </a:p>
          <a:p>
            <a:pPr algn="ctr">
              <a:lnSpc>
                <a:spcPct val="106000"/>
              </a:lnSpc>
            </a:pPr>
            <a:r>
              <a:rPr lang="en-US" sz="1100" b="1" dirty="0">
                <a:highlight>
                  <a:srgbClr val="E3E48D"/>
                </a:highlight>
              </a:rPr>
              <a:t>Rs 377 Cr (~USD 45 Mn) to Rs 462 Cr (~ USD 56 Mn)**</a:t>
            </a:r>
          </a:p>
        </p:txBody>
      </p:sp>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extLst>
              <p:ext uri="{D42A27DB-BD31-4B8C-83A1-F6EECF244321}">
                <p14:modId xmlns:p14="http://schemas.microsoft.com/office/powerpoint/2010/main" val="20007384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Rectangle 27">
            <a:extLst>
              <a:ext uri="{FF2B5EF4-FFF2-40B4-BE49-F238E27FC236}">
                <a16:creationId xmlns:a16="http://schemas.microsoft.com/office/drawing/2014/main" id="{695E9215-2D3F-607B-F0B7-64F84FF6050F}"/>
              </a:ext>
            </a:extLst>
          </p:cNvPr>
          <p:cNvSpPr/>
          <p:nvPr/>
        </p:nvSpPr>
        <p:spPr>
          <a:xfrm>
            <a:off x="582330" y="5914291"/>
            <a:ext cx="5761572" cy="68255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R="0" lvl="0" algn="just" defTabSz="457200" rtl="0" eaLnBrk="1" fontAlgn="auto" latinLnBrk="0" hangingPunct="1">
              <a:lnSpc>
                <a:spcPct val="100000"/>
              </a:lnSpc>
              <a:spcBef>
                <a:spcPts val="0"/>
              </a:spcBef>
              <a:buClrTx/>
              <a:buSzTx/>
              <a:tabLst/>
              <a:defRPr/>
            </a:pPr>
            <a:r>
              <a:rPr lang="en-US" sz="800" b="1" dirty="0">
                <a:solidFill>
                  <a:schemeClr val="tx1"/>
                </a:solidFill>
                <a:latin typeface="Verdana" panose="020B0604030504040204" pitchFamily="34" charset="0"/>
                <a:ea typeface="Verdana" panose="020B0604030504040204" pitchFamily="34" charset="0"/>
                <a:cs typeface="Verdana" panose="020B0604030504040204" pitchFamily="34" charset="0"/>
              </a:rPr>
              <a:t>Use case:</a:t>
            </a: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192088" lvl="1" indent="-171450" algn="just" defTabSz="457200">
              <a:buFont typeface="Wingdings" panose="05000000000000000000" pitchFamily="2" charset="2"/>
              <a:buChar char="q"/>
              <a:defRPr/>
            </a:pP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51% stake with Sikkim government in 1200 MW Teesta III HPP in Sikkim</a:t>
            </a:r>
          </a:p>
          <a:p>
            <a:pPr marL="192088" lvl="1" indent="-171450" algn="just" defTabSz="457200">
              <a:buFont typeface="Wingdings" panose="05000000000000000000" pitchFamily="2" charset="2"/>
              <a:buChar char="q"/>
              <a:defRPr/>
            </a:pP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Formation of 50:50 JV (</a:t>
            </a:r>
            <a:r>
              <a:rPr lang="en-US" sz="800" dirty="0" err="1">
                <a:solidFill>
                  <a:schemeClr val="tx1"/>
                </a:solidFill>
                <a:latin typeface="Verdana" panose="020B0604030504040204" pitchFamily="34" charset="0"/>
                <a:ea typeface="Verdana" panose="020B0604030504040204" pitchFamily="34" charset="0"/>
                <a:cs typeface="Verdana" panose="020B0604030504040204" pitchFamily="34" charset="0"/>
              </a:rPr>
              <a:t>Saurya</a:t>
            </a: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800" dirty="0" err="1">
                <a:solidFill>
                  <a:schemeClr val="tx1"/>
                </a:solidFill>
                <a:latin typeface="Verdana" panose="020B0604030504040204" pitchFamily="34" charset="0"/>
                <a:ea typeface="Verdana" panose="020B0604030504040204" pitchFamily="34" charset="0"/>
                <a:cs typeface="Verdana" panose="020B0604030504040204" pitchFamily="34" charset="0"/>
              </a:rPr>
              <a:t>Urja</a:t>
            </a: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 Company of Rajasthan Limited) b/w Govt. of Rajasthan and IL&amp;FS for setting up of </a:t>
            </a:r>
            <a:r>
              <a:rPr lang="en-US" sz="800" dirty="0" err="1">
                <a:solidFill>
                  <a:schemeClr val="tx1"/>
                </a:solidFill>
                <a:latin typeface="Verdana" panose="020B0604030504040204" pitchFamily="34" charset="0"/>
                <a:ea typeface="Verdana" panose="020B0604030504040204" pitchFamily="34" charset="0"/>
                <a:cs typeface="Verdana" panose="020B0604030504040204" pitchFamily="34" charset="0"/>
              </a:rPr>
              <a:t>Bhadla</a:t>
            </a:r>
            <a:r>
              <a:rPr lang="en-US" sz="800">
                <a:solidFill>
                  <a:schemeClr val="tx1"/>
                </a:solidFill>
                <a:latin typeface="Verdana" panose="020B0604030504040204" pitchFamily="34" charset="0"/>
                <a:ea typeface="Verdana" panose="020B0604030504040204" pitchFamily="34" charset="0"/>
                <a:cs typeface="Verdana" panose="020B0604030504040204" pitchFamily="34" charset="0"/>
              </a:rPr>
              <a:t> Solar Park(s) </a:t>
            </a: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192088" lvl="1" indent="-171450" algn="just" defTabSz="457200">
              <a:buFont typeface="Wingdings" panose="05000000000000000000" pitchFamily="2" charset="2"/>
              <a:buChar char="q"/>
              <a:defRPr/>
            </a:pPr>
            <a:r>
              <a:rPr lang="en-US" sz="800" dirty="0">
                <a:solidFill>
                  <a:schemeClr val="tx1"/>
                </a:solidFill>
                <a:latin typeface="Verdana" panose="020B0604030504040204" pitchFamily="34" charset="0"/>
                <a:ea typeface="Verdana" panose="020B0604030504040204" pitchFamily="34" charset="0"/>
                <a:cs typeface="Verdana" panose="020B0604030504040204" pitchFamily="34" charset="0"/>
              </a:rPr>
              <a:t>APDCL has already entered in JV with players like NLC and ONGC for development of solar projects</a:t>
            </a:r>
          </a:p>
        </p:txBody>
      </p:sp>
      <p:sp>
        <p:nvSpPr>
          <p:cNvPr id="8" name="Text Placeholder 2">
            <a:extLst>
              <a:ext uri="{FF2B5EF4-FFF2-40B4-BE49-F238E27FC236}">
                <a16:creationId xmlns:a16="http://schemas.microsoft.com/office/drawing/2014/main" id="{1F60B1E4-88F9-5A27-8D90-E5B4937C5B24}"/>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Joint Ownership through formation of JV</a:t>
            </a:r>
          </a:p>
        </p:txBody>
      </p:sp>
      <p:sp>
        <p:nvSpPr>
          <p:cNvPr id="10" name="Title 2">
            <a:extLst>
              <a:ext uri="{FF2B5EF4-FFF2-40B4-BE49-F238E27FC236}">
                <a16:creationId xmlns:a16="http://schemas.microsoft.com/office/drawing/2014/main" id="{230778C4-12F7-B010-6A93-841EAAB522F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1. Joint Ownership – PPP Model</a:t>
            </a:r>
          </a:p>
        </p:txBody>
      </p:sp>
      <p:cxnSp>
        <p:nvCxnSpPr>
          <p:cNvPr id="13" name="Straight Connector 12">
            <a:extLst>
              <a:ext uri="{FF2B5EF4-FFF2-40B4-BE49-F238E27FC236}">
                <a16:creationId xmlns:a16="http://schemas.microsoft.com/office/drawing/2014/main" id="{74F6AB2A-E750-8EA7-5E51-1FAD08C528B4}"/>
              </a:ext>
            </a:extLst>
          </p:cNvPr>
          <p:cNvCxnSpPr/>
          <p:nvPr/>
        </p:nvCxnSpPr>
        <p:spPr>
          <a:xfrm>
            <a:off x="681600" y="1200239"/>
            <a:ext cx="5031524" cy="0"/>
          </a:xfrm>
          <a:prstGeom prst="line">
            <a:avLst/>
          </a:prstGeom>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98451258-8ECC-82CC-A14C-5E2A9C43B561}"/>
              </a:ext>
            </a:extLst>
          </p:cNvPr>
          <p:cNvSpPr/>
          <p:nvPr/>
        </p:nvSpPr>
        <p:spPr>
          <a:xfrm>
            <a:off x="2373211" y="1007480"/>
            <a:ext cx="1648301"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Project Overview</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5" name="Straight Connector 14">
            <a:extLst>
              <a:ext uri="{FF2B5EF4-FFF2-40B4-BE49-F238E27FC236}">
                <a16:creationId xmlns:a16="http://schemas.microsoft.com/office/drawing/2014/main" id="{082A8599-A4C0-F501-B7DB-2EDFFED98079}"/>
              </a:ext>
            </a:extLst>
          </p:cNvPr>
          <p:cNvCxnSpPr/>
          <p:nvPr/>
        </p:nvCxnSpPr>
        <p:spPr>
          <a:xfrm>
            <a:off x="7429956" y="1207592"/>
            <a:ext cx="3212784" cy="0"/>
          </a:xfrm>
          <a:prstGeom prst="line">
            <a:avLst/>
          </a:prstGeom>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802913D4-CECE-2502-0B67-F23A1C32922B}"/>
              </a:ext>
            </a:extLst>
          </p:cNvPr>
          <p:cNvSpPr/>
          <p:nvPr/>
        </p:nvSpPr>
        <p:spPr>
          <a:xfrm>
            <a:off x="8417151" y="1147358"/>
            <a:ext cx="1238393" cy="1495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Key Highlights</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34" name="Group 33">
            <a:extLst>
              <a:ext uri="{FF2B5EF4-FFF2-40B4-BE49-F238E27FC236}">
                <a16:creationId xmlns:a16="http://schemas.microsoft.com/office/drawing/2014/main" id="{62AE2CA7-3E3F-DE32-F755-809FF86573B3}"/>
              </a:ext>
            </a:extLst>
          </p:cNvPr>
          <p:cNvGrpSpPr/>
          <p:nvPr/>
        </p:nvGrpSpPr>
        <p:grpSpPr>
          <a:xfrm>
            <a:off x="6620199" y="1455708"/>
            <a:ext cx="5000485" cy="2140280"/>
            <a:chOff x="5567680" y="1777535"/>
            <a:chExt cx="3212784" cy="1738733"/>
          </a:xfrm>
          <a:solidFill>
            <a:srgbClr val="86BC25"/>
          </a:solidFill>
        </p:grpSpPr>
        <p:sp>
          <p:nvSpPr>
            <p:cNvPr id="37" name="Rectangle 36">
              <a:extLst>
                <a:ext uri="{FF2B5EF4-FFF2-40B4-BE49-F238E27FC236}">
                  <a16:creationId xmlns:a16="http://schemas.microsoft.com/office/drawing/2014/main" id="{31C730EC-2E8F-3341-A27E-734C7D244AEB}"/>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Key Features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8" name="Rectangle 37">
              <a:extLst>
                <a:ext uri="{FF2B5EF4-FFF2-40B4-BE49-F238E27FC236}">
                  <a16:creationId xmlns:a16="http://schemas.microsoft.com/office/drawing/2014/main" id="{30B2EE6C-DCA6-4AFD-634E-9BCD55EC4EEE}"/>
                </a:ext>
              </a:extLst>
            </p:cNvPr>
            <p:cNvSpPr/>
            <p:nvPr/>
          </p:nvSpPr>
          <p:spPr>
            <a:xfrm>
              <a:off x="6680473" y="1777535"/>
              <a:ext cx="2099991" cy="1738733"/>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Joint funding by Utility (partly/fully through external agency) and by Private developer</a:t>
              </a:r>
            </a:p>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Ownership of state govt. may range from 26%-49% (indicative)</a:t>
              </a:r>
            </a:p>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Partial Equity contribution in terms of land and/or funds by Govt. entity</a:t>
              </a:r>
            </a:p>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Part-funding, Design, engineering, manufacture, supply, erection, testing and commissioning of the project</a:t>
              </a: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 along with O&amp;M to be carried out by Developer</a:t>
              </a:r>
              <a:endParaRPr kumimoji="0" lang="en-US" sz="1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61" name="TextBox 60">
            <a:extLst>
              <a:ext uri="{FF2B5EF4-FFF2-40B4-BE49-F238E27FC236}">
                <a16:creationId xmlns:a16="http://schemas.microsoft.com/office/drawing/2014/main" id="{DAFA6251-55DE-B9C3-DF8A-B55395A75975}"/>
              </a:ext>
            </a:extLst>
          </p:cNvPr>
          <p:cNvSpPr txBox="1"/>
          <p:nvPr/>
        </p:nvSpPr>
        <p:spPr>
          <a:xfrm>
            <a:off x="2638598" y="6613165"/>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Deloitte Research</a:t>
            </a:r>
            <a:endParaRPr lang="en-IN" sz="800">
              <a:solidFill>
                <a:prstClr val="black"/>
              </a:solidFill>
              <a:latin typeface="Verdana"/>
            </a:endParaRPr>
          </a:p>
        </p:txBody>
      </p:sp>
      <p:grpSp>
        <p:nvGrpSpPr>
          <p:cNvPr id="132" name="Group 131">
            <a:extLst>
              <a:ext uri="{FF2B5EF4-FFF2-40B4-BE49-F238E27FC236}">
                <a16:creationId xmlns:a16="http://schemas.microsoft.com/office/drawing/2014/main" id="{8DE28539-13F4-D2A0-F4D9-9445AB84534D}"/>
              </a:ext>
            </a:extLst>
          </p:cNvPr>
          <p:cNvGrpSpPr/>
          <p:nvPr/>
        </p:nvGrpSpPr>
        <p:grpSpPr>
          <a:xfrm>
            <a:off x="6620199" y="3676586"/>
            <a:ext cx="5000485" cy="455658"/>
            <a:chOff x="5567680" y="1777535"/>
            <a:chExt cx="3212784" cy="1738734"/>
          </a:xfrm>
          <a:solidFill>
            <a:srgbClr val="86BC25"/>
          </a:solidFill>
        </p:grpSpPr>
        <p:sp>
          <p:nvSpPr>
            <p:cNvPr id="133" name="Rectangle 132">
              <a:extLst>
                <a:ext uri="{FF2B5EF4-FFF2-40B4-BE49-F238E27FC236}">
                  <a16:creationId xmlns:a16="http://schemas.microsoft.com/office/drawing/2014/main" id="{9C6844FA-52AF-AC7C-BFEB-D4176688B095}"/>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Pros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4" name="Rectangle 133">
              <a:extLst>
                <a:ext uri="{FF2B5EF4-FFF2-40B4-BE49-F238E27FC236}">
                  <a16:creationId xmlns:a16="http://schemas.microsoft.com/office/drawing/2014/main" id="{87CFA36A-A73A-8AB3-A1E2-23DFCAA406CB}"/>
                </a:ext>
              </a:extLst>
            </p:cNvPr>
            <p:cNvSpPr/>
            <p:nvPr/>
          </p:nvSpPr>
          <p:spPr>
            <a:xfrm>
              <a:off x="6680473" y="1777535"/>
              <a:ext cx="2099991" cy="1738734"/>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Sharing of risks</a:t>
              </a:r>
            </a:p>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Synergy</a:t>
              </a:r>
            </a:p>
          </p:txBody>
        </p:sp>
      </p:grpSp>
      <p:grpSp>
        <p:nvGrpSpPr>
          <p:cNvPr id="135" name="Group 134">
            <a:extLst>
              <a:ext uri="{FF2B5EF4-FFF2-40B4-BE49-F238E27FC236}">
                <a16:creationId xmlns:a16="http://schemas.microsoft.com/office/drawing/2014/main" id="{7AE0A8EA-57D2-DB55-0703-24CB2395E319}"/>
              </a:ext>
            </a:extLst>
          </p:cNvPr>
          <p:cNvGrpSpPr/>
          <p:nvPr/>
        </p:nvGrpSpPr>
        <p:grpSpPr>
          <a:xfrm>
            <a:off x="6620199" y="4213267"/>
            <a:ext cx="5000485" cy="1730468"/>
            <a:chOff x="5567680" y="1777535"/>
            <a:chExt cx="3212784" cy="1738734"/>
          </a:xfrm>
          <a:solidFill>
            <a:srgbClr val="86BC25"/>
          </a:solidFill>
        </p:grpSpPr>
        <p:sp>
          <p:nvSpPr>
            <p:cNvPr id="136" name="Rectangle 135">
              <a:extLst>
                <a:ext uri="{FF2B5EF4-FFF2-40B4-BE49-F238E27FC236}">
                  <a16:creationId xmlns:a16="http://schemas.microsoft.com/office/drawing/2014/main" id="{73BAF641-B0DC-AE19-6A71-16A013E7DD68}"/>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Verdana" panose="020B0604030504040204" pitchFamily="34" charset="0"/>
                  <a:ea typeface="Verdana" panose="020B0604030504040204" pitchFamily="34" charset="0"/>
                  <a:cs typeface="Verdana" panose="020B0604030504040204" pitchFamily="34" charset="0"/>
                </a:rPr>
                <a:t>Cons</a:t>
              </a:r>
              <a:endParaRPr kumimoji="0" lang="en-IN"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7" name="Rectangle 136">
              <a:extLst>
                <a:ext uri="{FF2B5EF4-FFF2-40B4-BE49-F238E27FC236}">
                  <a16:creationId xmlns:a16="http://schemas.microsoft.com/office/drawing/2014/main" id="{3A0679B8-08A6-846D-633C-44B63C325CF3}"/>
                </a:ext>
              </a:extLst>
            </p:cNvPr>
            <p:cNvSpPr/>
            <p:nvPr/>
          </p:nvSpPr>
          <p:spPr>
            <a:xfrm>
              <a:off x="6680473" y="1777535"/>
              <a:ext cx="2099991" cy="1738734"/>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Joint ownership may not be an attractive proposition for private players as decision making authority and control of project would also have to be shared</a:t>
              </a:r>
            </a:p>
            <a:p>
              <a:pPr marL="88900" marR="0" lvl="0" indent="-88900" algn="just"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Total Fund requirement solely through equity contribution on behalf of state govt. may be low</a:t>
              </a:r>
              <a:endParaRPr kumimoji="0" lang="en-US" sz="1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139" name="Arrow: Right 138">
            <a:hlinkClick r:id="rId6" action="ppaction://hlinksldjump"/>
            <a:extLst>
              <a:ext uri="{FF2B5EF4-FFF2-40B4-BE49-F238E27FC236}">
                <a16:creationId xmlns:a16="http://schemas.microsoft.com/office/drawing/2014/main" id="{868E7CB6-DA35-83C4-131F-EDA3985B0E2C}"/>
              </a:ext>
            </a:extLst>
          </p:cNvPr>
          <p:cNvSpPr/>
          <p:nvPr/>
        </p:nvSpPr>
        <p:spPr bwMode="gray">
          <a:xfrm rot="10800000" flipV="1">
            <a:off x="10828730" y="6458522"/>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6" action="ppaction://hlinksldjump"/>
              </a:rPr>
              <a:t>Back</a:t>
            </a:r>
            <a:endParaRPr lang="en-US" sz="1000" b="1" dirty="0">
              <a:solidFill>
                <a:schemeClr val="bg1"/>
              </a:solidFill>
            </a:endParaRPr>
          </a:p>
        </p:txBody>
      </p:sp>
      <p:grpSp>
        <p:nvGrpSpPr>
          <p:cNvPr id="27" name="Group 26">
            <a:extLst>
              <a:ext uri="{FF2B5EF4-FFF2-40B4-BE49-F238E27FC236}">
                <a16:creationId xmlns:a16="http://schemas.microsoft.com/office/drawing/2014/main" id="{127D45AD-54BD-12DA-AD74-BE5EE7FA06EF}"/>
              </a:ext>
            </a:extLst>
          </p:cNvPr>
          <p:cNvGrpSpPr/>
          <p:nvPr/>
        </p:nvGrpSpPr>
        <p:grpSpPr>
          <a:xfrm>
            <a:off x="290368" y="1428509"/>
            <a:ext cx="5942045" cy="2618461"/>
            <a:chOff x="290368" y="2193282"/>
            <a:chExt cx="5942045" cy="2847077"/>
          </a:xfrm>
        </p:grpSpPr>
        <p:sp>
          <p:nvSpPr>
            <p:cNvPr id="2" name="Rectangle 1">
              <a:extLst>
                <a:ext uri="{FF2B5EF4-FFF2-40B4-BE49-F238E27FC236}">
                  <a16:creationId xmlns:a16="http://schemas.microsoft.com/office/drawing/2014/main" id="{0A10657C-6FB1-6183-7DF2-8C9A0AC47ACC}"/>
                </a:ext>
              </a:extLst>
            </p:cNvPr>
            <p:cNvSpPr/>
            <p:nvPr/>
          </p:nvSpPr>
          <p:spPr>
            <a:xfrm>
              <a:off x="694318" y="2193282"/>
              <a:ext cx="1944280" cy="6230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mj-lt"/>
                  <a:ea typeface="Verdana" panose="020B0604030504040204" pitchFamily="34" charset="0"/>
                </a:rPr>
                <a:t>State Power Utility</a:t>
              </a:r>
            </a:p>
          </p:txBody>
        </p:sp>
        <p:sp>
          <p:nvSpPr>
            <p:cNvPr id="6" name="Rectangle 5">
              <a:extLst>
                <a:ext uri="{FF2B5EF4-FFF2-40B4-BE49-F238E27FC236}">
                  <a16:creationId xmlns:a16="http://schemas.microsoft.com/office/drawing/2014/main" id="{7D181DBF-A826-BC70-97AD-A92CAC1A7746}"/>
                </a:ext>
              </a:extLst>
            </p:cNvPr>
            <p:cNvSpPr/>
            <p:nvPr/>
          </p:nvSpPr>
          <p:spPr>
            <a:xfrm>
              <a:off x="2375680" y="4417293"/>
              <a:ext cx="1944279" cy="62306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latin typeface="+mj-lt"/>
                  <a:ea typeface="Verdana" panose="020B0604030504040204" pitchFamily="34" charset="0"/>
                </a:rPr>
                <a:t>Solar Project</a:t>
              </a:r>
            </a:p>
          </p:txBody>
        </p:sp>
        <p:sp>
          <p:nvSpPr>
            <p:cNvPr id="7" name="Rectangle 6">
              <a:extLst>
                <a:ext uri="{FF2B5EF4-FFF2-40B4-BE49-F238E27FC236}">
                  <a16:creationId xmlns:a16="http://schemas.microsoft.com/office/drawing/2014/main" id="{6D73F014-A46E-D742-71A0-6EB63A6829FF}"/>
                </a:ext>
              </a:extLst>
            </p:cNvPr>
            <p:cNvSpPr/>
            <p:nvPr/>
          </p:nvSpPr>
          <p:spPr>
            <a:xfrm>
              <a:off x="3918178" y="2198567"/>
              <a:ext cx="1944279" cy="62306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mj-lt"/>
                  <a:ea typeface="Verdana" panose="020B0604030504040204" pitchFamily="34" charset="0"/>
                </a:rPr>
                <a:t>Developer</a:t>
              </a:r>
            </a:p>
          </p:txBody>
        </p:sp>
        <p:cxnSp>
          <p:nvCxnSpPr>
            <p:cNvPr id="17" name="Connector: Elbow 16">
              <a:extLst>
                <a:ext uri="{FF2B5EF4-FFF2-40B4-BE49-F238E27FC236}">
                  <a16:creationId xmlns:a16="http://schemas.microsoft.com/office/drawing/2014/main" id="{816556CB-51ED-7BA8-BEFA-AED0A29ADA3B}"/>
                </a:ext>
              </a:extLst>
            </p:cNvPr>
            <p:cNvCxnSpPr>
              <a:cxnSpLocks/>
            </p:cNvCxnSpPr>
            <p:nvPr/>
          </p:nvCxnSpPr>
          <p:spPr>
            <a:xfrm rot="16200000" flipH="1">
              <a:off x="1064828" y="3417974"/>
              <a:ext cx="1912483" cy="7092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55E62EC0-3B54-A463-112C-E9F08422EF8E}"/>
                </a:ext>
              </a:extLst>
            </p:cNvPr>
            <p:cNvCxnSpPr>
              <a:cxnSpLocks/>
              <a:endCxn id="6" idx="3"/>
            </p:cNvCxnSpPr>
            <p:nvPr/>
          </p:nvCxnSpPr>
          <p:spPr>
            <a:xfrm rot="5400000">
              <a:off x="3687250" y="3437624"/>
              <a:ext cx="1923912" cy="6584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E2B1FED-1F60-5B5B-8761-9E24929BE22C}"/>
                </a:ext>
              </a:extLst>
            </p:cNvPr>
            <p:cNvSpPr/>
            <p:nvPr/>
          </p:nvSpPr>
          <p:spPr>
            <a:xfrm>
              <a:off x="4907721" y="3387932"/>
              <a:ext cx="1324692" cy="66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Develop, O&amp;M and Part Finance with joint Ownership</a:t>
              </a:r>
              <a:endParaRPr kumimoji="0" lang="en-IN" sz="1000" b="0" i="0" u="none" strike="noStrike" kern="120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p:txBody>
        </p:sp>
        <p:sp>
          <p:nvSpPr>
            <p:cNvPr id="23" name="Rectangle 22">
              <a:extLst>
                <a:ext uri="{FF2B5EF4-FFF2-40B4-BE49-F238E27FC236}">
                  <a16:creationId xmlns:a16="http://schemas.microsoft.com/office/drawing/2014/main" id="{45B9EFA4-7ECF-37D1-03DD-1674FE2A0A37}"/>
                </a:ext>
              </a:extLst>
            </p:cNvPr>
            <p:cNvSpPr/>
            <p:nvPr/>
          </p:nvSpPr>
          <p:spPr>
            <a:xfrm>
              <a:off x="290368" y="3474788"/>
              <a:ext cx="1324692" cy="66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Part Finance with joint Ownership</a:t>
              </a:r>
              <a:endParaRPr kumimoji="0" lang="en-IN" sz="1000" b="0" i="0" u="none" strike="noStrike" kern="120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p:txBody>
        </p:sp>
      </p:grpSp>
      <p:pic>
        <p:nvPicPr>
          <p:cNvPr id="25" name="Graphic 24" descr="Right pointing backhand index with solid fill">
            <a:extLst>
              <a:ext uri="{FF2B5EF4-FFF2-40B4-BE49-F238E27FC236}">
                <a16:creationId xmlns:a16="http://schemas.microsoft.com/office/drawing/2014/main" id="{C325B218-18B2-A754-E03C-0B967FF0643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8045" y="3982742"/>
            <a:ext cx="461050" cy="461050"/>
          </a:xfrm>
          <a:prstGeom prst="rect">
            <a:avLst/>
          </a:prstGeom>
        </p:spPr>
      </p:pic>
      <p:cxnSp>
        <p:nvCxnSpPr>
          <p:cNvPr id="32" name="Straight Arrow Connector 31">
            <a:extLst>
              <a:ext uri="{FF2B5EF4-FFF2-40B4-BE49-F238E27FC236}">
                <a16:creationId xmlns:a16="http://schemas.microsoft.com/office/drawing/2014/main" id="{82FD20D7-07D6-4E8D-1FCC-3582BC107FEC}"/>
              </a:ext>
            </a:extLst>
          </p:cNvPr>
          <p:cNvCxnSpPr>
            <a:cxnSpLocks/>
            <a:stCxn id="7" idx="1"/>
            <a:endCxn id="2" idx="3"/>
          </p:cNvCxnSpPr>
          <p:nvPr/>
        </p:nvCxnSpPr>
        <p:spPr>
          <a:xfrm flipH="1" flipV="1">
            <a:off x="2638598" y="1715024"/>
            <a:ext cx="1279580" cy="4864"/>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B7841508-6C52-B054-CB7D-B2BA96625297}"/>
              </a:ext>
            </a:extLst>
          </p:cNvPr>
          <p:cNvSpPr/>
          <p:nvPr/>
        </p:nvSpPr>
        <p:spPr>
          <a:xfrm>
            <a:off x="2616042" y="1599917"/>
            <a:ext cx="1324692" cy="66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Joint Venture Agreement</a:t>
            </a:r>
            <a:endParaRPr kumimoji="0" lang="en-IN" sz="1000" b="0" i="0" u="none" strike="noStrike" kern="120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p:txBody>
      </p:sp>
      <p:sp>
        <p:nvSpPr>
          <p:cNvPr id="4" name="Oval 3">
            <a:extLst>
              <a:ext uri="{FF2B5EF4-FFF2-40B4-BE49-F238E27FC236}">
                <a16:creationId xmlns:a16="http://schemas.microsoft.com/office/drawing/2014/main" id="{769796CE-DEF6-48D1-9374-9041B0431935}"/>
              </a:ext>
            </a:extLst>
          </p:cNvPr>
          <p:cNvSpPr/>
          <p:nvPr/>
        </p:nvSpPr>
        <p:spPr bwMode="gray">
          <a:xfrm>
            <a:off x="1920305" y="2523145"/>
            <a:ext cx="2902613" cy="5817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Equity requirement from Govt. can range from 26%-49%</a:t>
            </a:r>
          </a:p>
        </p:txBody>
      </p:sp>
      <p:sp>
        <p:nvSpPr>
          <p:cNvPr id="12" name="Rectangle 11">
            <a:extLst>
              <a:ext uri="{FF2B5EF4-FFF2-40B4-BE49-F238E27FC236}">
                <a16:creationId xmlns:a16="http://schemas.microsoft.com/office/drawing/2014/main" id="{31ED5CFC-72BF-7149-4DEB-1A03179AB3AF}"/>
              </a:ext>
            </a:extLst>
          </p:cNvPr>
          <p:cNvSpPr/>
          <p:nvPr/>
        </p:nvSpPr>
        <p:spPr bwMode="gray">
          <a:xfrm>
            <a:off x="6531116" y="5943735"/>
            <a:ext cx="5179548" cy="582241"/>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100" i="1" dirty="0"/>
              <a:t>*Including GST</a:t>
            </a:r>
          </a:p>
          <a:p>
            <a:pPr algn="just">
              <a:lnSpc>
                <a:spcPct val="106000"/>
              </a:lnSpc>
            </a:pPr>
            <a:r>
              <a:rPr lang="en-US" sz="1100" i="1" dirty="0"/>
              <a:t>**Further opportunity for fund contribution in the form of payment guarantees</a:t>
            </a:r>
            <a:endParaRPr lang="en-US" sz="1100" b="1" i="1" dirty="0">
              <a:highlight>
                <a:srgbClr val="00FF00"/>
              </a:highlight>
            </a:endParaRPr>
          </a:p>
        </p:txBody>
      </p:sp>
      <p:cxnSp>
        <p:nvCxnSpPr>
          <p:cNvPr id="18" name="Straight Connector 17">
            <a:extLst>
              <a:ext uri="{FF2B5EF4-FFF2-40B4-BE49-F238E27FC236}">
                <a16:creationId xmlns:a16="http://schemas.microsoft.com/office/drawing/2014/main" id="{28B17D35-4A0B-2D19-9FAE-68D82550617C}"/>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Arrow: Left-Right 10">
            <a:extLst>
              <a:ext uri="{FF2B5EF4-FFF2-40B4-BE49-F238E27FC236}">
                <a16:creationId xmlns:a16="http://schemas.microsoft.com/office/drawing/2014/main" id="{52FB3D05-ADB6-AAD3-68A5-DE9DFE2B8EB8}"/>
              </a:ext>
            </a:extLst>
          </p:cNvPr>
          <p:cNvSpPr/>
          <p:nvPr/>
        </p:nvSpPr>
        <p:spPr bwMode="gray">
          <a:xfrm>
            <a:off x="2586420" y="4532162"/>
            <a:ext cx="1858547" cy="415292"/>
          </a:xfrm>
          <a:prstGeom prst="leftRightArrow">
            <a:avLst/>
          </a:prstGeom>
          <a:solidFill>
            <a:schemeClr val="tx1"/>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900" b="1" dirty="0">
                <a:solidFill>
                  <a:schemeClr val="bg1"/>
                </a:solidFill>
              </a:rPr>
              <a:t>26%                     49%</a:t>
            </a:r>
            <a:endParaRPr lang="en-US" b="1" dirty="0">
              <a:solidFill>
                <a:schemeClr val="bg1"/>
              </a:solidFill>
            </a:endParaRPr>
          </a:p>
        </p:txBody>
      </p:sp>
      <p:sp>
        <p:nvSpPr>
          <p:cNvPr id="21" name="Rectangle: Rounded Corners 20">
            <a:extLst>
              <a:ext uri="{FF2B5EF4-FFF2-40B4-BE49-F238E27FC236}">
                <a16:creationId xmlns:a16="http://schemas.microsoft.com/office/drawing/2014/main" id="{CD8D7DAB-56E1-9FC7-5738-CFC862874837}"/>
              </a:ext>
            </a:extLst>
          </p:cNvPr>
          <p:cNvSpPr/>
          <p:nvPr/>
        </p:nvSpPr>
        <p:spPr bwMode="gray">
          <a:xfrm>
            <a:off x="842516" y="4634512"/>
            <a:ext cx="1713908" cy="224328"/>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i="1" dirty="0">
                <a:solidFill>
                  <a:schemeClr val="bg1"/>
                </a:solidFill>
              </a:rPr>
              <a:t>Rs 95 Cr / USD 11 Mn</a:t>
            </a:r>
          </a:p>
        </p:txBody>
      </p:sp>
      <p:sp>
        <p:nvSpPr>
          <p:cNvPr id="24" name="Rectangle: Rounded Corners 23">
            <a:extLst>
              <a:ext uri="{FF2B5EF4-FFF2-40B4-BE49-F238E27FC236}">
                <a16:creationId xmlns:a16="http://schemas.microsoft.com/office/drawing/2014/main" id="{E0E47829-4208-5393-CBAE-30075D3CB403}"/>
              </a:ext>
            </a:extLst>
          </p:cNvPr>
          <p:cNvSpPr/>
          <p:nvPr/>
        </p:nvSpPr>
        <p:spPr bwMode="gray">
          <a:xfrm>
            <a:off x="4474962" y="4614307"/>
            <a:ext cx="1811847" cy="25689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i="1" dirty="0">
                <a:solidFill>
                  <a:schemeClr val="bg1"/>
                </a:solidFill>
              </a:rPr>
              <a:t>Rs 180 Cr / USD 22 Mn</a:t>
            </a:r>
          </a:p>
        </p:txBody>
      </p:sp>
      <p:sp>
        <p:nvSpPr>
          <p:cNvPr id="31" name="Rectangle 30">
            <a:extLst>
              <a:ext uri="{FF2B5EF4-FFF2-40B4-BE49-F238E27FC236}">
                <a16:creationId xmlns:a16="http://schemas.microsoft.com/office/drawing/2014/main" id="{C997BE5E-CDD5-D314-A953-F734D4839073}"/>
              </a:ext>
            </a:extLst>
          </p:cNvPr>
          <p:cNvSpPr/>
          <p:nvPr/>
        </p:nvSpPr>
        <p:spPr bwMode="gray">
          <a:xfrm>
            <a:off x="6531116" y="6458522"/>
            <a:ext cx="3559312" cy="211533"/>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000" i="1" dirty="0"/>
              <a:t>Note: USD/INR exchange rate of 83 considered</a:t>
            </a:r>
            <a:endParaRPr lang="en-US" sz="1000" b="1" i="1" dirty="0">
              <a:highlight>
                <a:srgbClr val="00FF00"/>
              </a:highlight>
            </a:endParaRPr>
          </a:p>
        </p:txBody>
      </p:sp>
    </p:spTree>
    <p:extLst>
      <p:ext uri="{BB962C8B-B14F-4D97-AF65-F5344CB8AC3E}">
        <p14:creationId xmlns:p14="http://schemas.microsoft.com/office/powerpoint/2010/main" val="3842287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extLst>
              <p:ext uri="{D42A27DB-BD31-4B8C-83A1-F6EECF244321}">
                <p14:modId xmlns:p14="http://schemas.microsoft.com/office/powerpoint/2010/main" val="1332272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1F60B1E4-88F9-5A27-8D90-E5B4937C5B24}"/>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Pre-set tariff, competitive bidding based on quoted VGF</a:t>
            </a:r>
          </a:p>
        </p:txBody>
      </p:sp>
      <p:sp>
        <p:nvSpPr>
          <p:cNvPr id="10" name="Title 2">
            <a:extLst>
              <a:ext uri="{FF2B5EF4-FFF2-40B4-BE49-F238E27FC236}">
                <a16:creationId xmlns:a16="http://schemas.microsoft.com/office/drawing/2014/main" id="{230778C4-12F7-B010-6A93-841EAAB522F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2. Viability Gap Funding (VGF) based Competitive Bidding Model</a:t>
            </a:r>
          </a:p>
        </p:txBody>
      </p:sp>
      <p:cxnSp>
        <p:nvCxnSpPr>
          <p:cNvPr id="15" name="Straight Connector 14">
            <a:extLst>
              <a:ext uri="{FF2B5EF4-FFF2-40B4-BE49-F238E27FC236}">
                <a16:creationId xmlns:a16="http://schemas.microsoft.com/office/drawing/2014/main" id="{082A8599-A4C0-F501-B7DB-2EDFFED98079}"/>
              </a:ext>
            </a:extLst>
          </p:cNvPr>
          <p:cNvCxnSpPr/>
          <p:nvPr/>
        </p:nvCxnSpPr>
        <p:spPr>
          <a:xfrm>
            <a:off x="7429956" y="1103419"/>
            <a:ext cx="3212784" cy="0"/>
          </a:xfrm>
          <a:prstGeom prst="line">
            <a:avLst/>
          </a:prstGeom>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802913D4-CECE-2502-0B67-F23A1C32922B}"/>
              </a:ext>
            </a:extLst>
          </p:cNvPr>
          <p:cNvSpPr/>
          <p:nvPr/>
        </p:nvSpPr>
        <p:spPr>
          <a:xfrm>
            <a:off x="8417151" y="1043185"/>
            <a:ext cx="1238393" cy="1495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Key Highlights</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34" name="Group 33">
            <a:extLst>
              <a:ext uri="{FF2B5EF4-FFF2-40B4-BE49-F238E27FC236}">
                <a16:creationId xmlns:a16="http://schemas.microsoft.com/office/drawing/2014/main" id="{62AE2CA7-3E3F-DE32-F755-809FF86573B3}"/>
              </a:ext>
            </a:extLst>
          </p:cNvPr>
          <p:cNvGrpSpPr/>
          <p:nvPr/>
        </p:nvGrpSpPr>
        <p:grpSpPr>
          <a:xfrm>
            <a:off x="6620199" y="1308766"/>
            <a:ext cx="5000485" cy="1200335"/>
            <a:chOff x="5567680" y="1777535"/>
            <a:chExt cx="3212784" cy="1746779"/>
          </a:xfrm>
          <a:solidFill>
            <a:srgbClr val="86BC25"/>
          </a:solidFill>
        </p:grpSpPr>
        <p:sp>
          <p:nvSpPr>
            <p:cNvPr id="37" name="Rectangle 36">
              <a:extLst>
                <a:ext uri="{FF2B5EF4-FFF2-40B4-BE49-F238E27FC236}">
                  <a16:creationId xmlns:a16="http://schemas.microsoft.com/office/drawing/2014/main" id="{31C730EC-2E8F-3341-A27E-734C7D244AEB}"/>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Verdana" panose="020B0604030504040204" pitchFamily="34" charset="0"/>
                  <a:ea typeface="Verdana" panose="020B0604030504040204" pitchFamily="34" charset="0"/>
                  <a:cs typeface="Verdana" panose="020B0604030504040204" pitchFamily="34" charset="0"/>
                </a:rPr>
                <a:t>Key Features</a:t>
              </a:r>
              <a:endParaRPr kumimoji="0" lang="en-IN"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8" name="Rectangle 37">
              <a:extLst>
                <a:ext uri="{FF2B5EF4-FFF2-40B4-BE49-F238E27FC236}">
                  <a16:creationId xmlns:a16="http://schemas.microsoft.com/office/drawing/2014/main" id="{30B2EE6C-DCA6-4AFD-634E-9BCD55EC4EEE}"/>
                </a:ext>
              </a:extLst>
            </p:cNvPr>
            <p:cNvSpPr/>
            <p:nvPr/>
          </p:nvSpPr>
          <p:spPr>
            <a:xfrm>
              <a:off x="6680473" y="1777535"/>
              <a:ext cx="2099991" cy="1746779"/>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Grant routed through state govt. can be provided as VGF to reduce capex requirement</a:t>
              </a:r>
            </a:p>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Suitable Fixed Tariff would have to be ascertained; and same would have to be approved by Regulator</a:t>
              </a:r>
            </a:p>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Selection of private players through competitive bidding basis quoted VGF requirement</a:t>
              </a:r>
            </a:p>
          </p:txBody>
        </p:sp>
      </p:grpSp>
      <p:sp>
        <p:nvSpPr>
          <p:cNvPr id="61" name="TextBox 60">
            <a:extLst>
              <a:ext uri="{FF2B5EF4-FFF2-40B4-BE49-F238E27FC236}">
                <a16:creationId xmlns:a16="http://schemas.microsoft.com/office/drawing/2014/main" id="{DAFA6251-55DE-B9C3-DF8A-B55395A75975}"/>
              </a:ext>
            </a:extLst>
          </p:cNvPr>
          <p:cNvSpPr txBox="1"/>
          <p:nvPr/>
        </p:nvSpPr>
        <p:spPr>
          <a:xfrm>
            <a:off x="2638598" y="6613165"/>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Deloitte Research</a:t>
            </a:r>
            <a:endParaRPr lang="en-IN" sz="800">
              <a:solidFill>
                <a:prstClr val="black"/>
              </a:solidFill>
              <a:latin typeface="Verdana"/>
            </a:endParaRPr>
          </a:p>
        </p:txBody>
      </p:sp>
      <p:grpSp>
        <p:nvGrpSpPr>
          <p:cNvPr id="132" name="Group 131">
            <a:extLst>
              <a:ext uri="{FF2B5EF4-FFF2-40B4-BE49-F238E27FC236}">
                <a16:creationId xmlns:a16="http://schemas.microsoft.com/office/drawing/2014/main" id="{8DE28539-13F4-D2A0-F4D9-9445AB84534D}"/>
              </a:ext>
            </a:extLst>
          </p:cNvPr>
          <p:cNvGrpSpPr/>
          <p:nvPr/>
        </p:nvGrpSpPr>
        <p:grpSpPr>
          <a:xfrm>
            <a:off x="6630756" y="2559562"/>
            <a:ext cx="5000485" cy="636797"/>
            <a:chOff x="5567680" y="1777535"/>
            <a:chExt cx="3212784" cy="1738734"/>
          </a:xfrm>
          <a:solidFill>
            <a:srgbClr val="86BC25"/>
          </a:solidFill>
        </p:grpSpPr>
        <p:sp>
          <p:nvSpPr>
            <p:cNvPr id="133" name="Rectangle 132">
              <a:extLst>
                <a:ext uri="{FF2B5EF4-FFF2-40B4-BE49-F238E27FC236}">
                  <a16:creationId xmlns:a16="http://schemas.microsoft.com/office/drawing/2014/main" id="{9C6844FA-52AF-AC7C-BFEB-D4176688B095}"/>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Pros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4" name="Rectangle 133">
              <a:extLst>
                <a:ext uri="{FF2B5EF4-FFF2-40B4-BE49-F238E27FC236}">
                  <a16:creationId xmlns:a16="http://schemas.microsoft.com/office/drawing/2014/main" id="{87CFA36A-A73A-8AB3-A1E2-23DFCAA406CB}"/>
                </a:ext>
              </a:extLst>
            </p:cNvPr>
            <p:cNvSpPr/>
            <p:nvPr/>
          </p:nvSpPr>
          <p:spPr>
            <a:xfrm>
              <a:off x="6680473" y="1777535"/>
              <a:ext cx="2099991" cy="1738734"/>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VGF encourages private participation and significantly brings down tariff</a:t>
              </a:r>
            </a:p>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Gives flexibility for optimal utilization of funds</a:t>
              </a:r>
            </a:p>
          </p:txBody>
        </p:sp>
      </p:grpSp>
      <p:grpSp>
        <p:nvGrpSpPr>
          <p:cNvPr id="135" name="Group 134">
            <a:extLst>
              <a:ext uri="{FF2B5EF4-FFF2-40B4-BE49-F238E27FC236}">
                <a16:creationId xmlns:a16="http://schemas.microsoft.com/office/drawing/2014/main" id="{7AE0A8EA-57D2-DB55-0703-24CB2395E319}"/>
              </a:ext>
            </a:extLst>
          </p:cNvPr>
          <p:cNvGrpSpPr/>
          <p:nvPr/>
        </p:nvGrpSpPr>
        <p:grpSpPr>
          <a:xfrm>
            <a:off x="6630756" y="3254936"/>
            <a:ext cx="5000485" cy="706983"/>
            <a:chOff x="5567680" y="1726680"/>
            <a:chExt cx="3212784" cy="2020318"/>
          </a:xfrm>
          <a:solidFill>
            <a:srgbClr val="86BC25"/>
          </a:solidFill>
        </p:grpSpPr>
        <p:sp>
          <p:nvSpPr>
            <p:cNvPr id="136" name="Rectangle 135">
              <a:extLst>
                <a:ext uri="{FF2B5EF4-FFF2-40B4-BE49-F238E27FC236}">
                  <a16:creationId xmlns:a16="http://schemas.microsoft.com/office/drawing/2014/main" id="{73BAF641-B0DC-AE19-6A71-16A013E7DD68}"/>
                </a:ext>
              </a:extLst>
            </p:cNvPr>
            <p:cNvSpPr/>
            <p:nvPr/>
          </p:nvSpPr>
          <p:spPr>
            <a:xfrm>
              <a:off x="5567680" y="1777535"/>
              <a:ext cx="1058308" cy="1969463"/>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Cons</a:t>
              </a:r>
              <a:endParaRPr kumimoji="0" lang="en-IN"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7" name="Rectangle 136">
              <a:extLst>
                <a:ext uri="{FF2B5EF4-FFF2-40B4-BE49-F238E27FC236}">
                  <a16:creationId xmlns:a16="http://schemas.microsoft.com/office/drawing/2014/main" id="{3A0679B8-08A6-846D-633C-44B63C325CF3}"/>
                </a:ext>
              </a:extLst>
            </p:cNvPr>
            <p:cNvSpPr/>
            <p:nvPr/>
          </p:nvSpPr>
          <p:spPr>
            <a:xfrm>
              <a:off x="6680473" y="1726680"/>
              <a:ext cx="2099991" cy="2020318"/>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Risk of players quoting aggressively low/nil VGF amounts</a:t>
              </a:r>
            </a:p>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Regulatory challenge with respect to determination of pre-set tariff</a:t>
              </a:r>
            </a:p>
          </p:txBody>
        </p:sp>
      </p:grpSp>
      <p:cxnSp>
        <p:nvCxnSpPr>
          <p:cNvPr id="2" name="Straight Connector 1">
            <a:extLst>
              <a:ext uri="{FF2B5EF4-FFF2-40B4-BE49-F238E27FC236}">
                <a16:creationId xmlns:a16="http://schemas.microsoft.com/office/drawing/2014/main" id="{A2FD1E07-BCA1-DD43-A53E-639C9169BCCA}"/>
              </a:ext>
            </a:extLst>
          </p:cNvPr>
          <p:cNvCxnSpPr/>
          <p:nvPr/>
        </p:nvCxnSpPr>
        <p:spPr>
          <a:xfrm>
            <a:off x="739484" y="1140791"/>
            <a:ext cx="5031524" cy="0"/>
          </a:xfrm>
          <a:prstGeom prst="line">
            <a:avLst/>
          </a:prstGeom>
        </p:spPr>
        <p:style>
          <a:lnRef idx="1">
            <a:schemeClr val="dk1"/>
          </a:lnRef>
          <a:fillRef idx="0">
            <a:schemeClr val="dk1"/>
          </a:fillRef>
          <a:effectRef idx="0">
            <a:schemeClr val="dk1"/>
          </a:effectRef>
          <a:fontRef idx="minor">
            <a:schemeClr val="tx1"/>
          </a:fontRef>
        </p:style>
      </p:cxnSp>
      <p:sp>
        <p:nvSpPr>
          <p:cNvPr id="4" name="Rectangle 3">
            <a:extLst>
              <a:ext uri="{FF2B5EF4-FFF2-40B4-BE49-F238E27FC236}">
                <a16:creationId xmlns:a16="http://schemas.microsoft.com/office/drawing/2014/main" id="{B2E8879A-7FAC-CA40-A686-1A7F096223C6}"/>
              </a:ext>
            </a:extLst>
          </p:cNvPr>
          <p:cNvSpPr/>
          <p:nvPr/>
        </p:nvSpPr>
        <p:spPr>
          <a:xfrm>
            <a:off x="2431095" y="948032"/>
            <a:ext cx="1648301"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Project Overview</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7" name="Group 6">
            <a:extLst>
              <a:ext uri="{FF2B5EF4-FFF2-40B4-BE49-F238E27FC236}">
                <a16:creationId xmlns:a16="http://schemas.microsoft.com/office/drawing/2014/main" id="{6E4EFF8B-1B47-37FF-82DE-AAFE622521FA}"/>
              </a:ext>
            </a:extLst>
          </p:cNvPr>
          <p:cNvGrpSpPr/>
          <p:nvPr/>
        </p:nvGrpSpPr>
        <p:grpSpPr>
          <a:xfrm>
            <a:off x="805703" y="1432864"/>
            <a:ext cx="4949853" cy="2083298"/>
            <a:chOff x="274412" y="1401616"/>
            <a:chExt cx="4949853" cy="2083298"/>
          </a:xfrm>
        </p:grpSpPr>
        <p:sp>
          <p:nvSpPr>
            <p:cNvPr id="22" name="Rectangle 21">
              <a:extLst>
                <a:ext uri="{FF2B5EF4-FFF2-40B4-BE49-F238E27FC236}">
                  <a16:creationId xmlns:a16="http://schemas.microsoft.com/office/drawing/2014/main" id="{752DF2C7-AC87-1C2B-2693-11BBA4EB40A1}"/>
                </a:ext>
              </a:extLst>
            </p:cNvPr>
            <p:cNvSpPr/>
            <p:nvPr/>
          </p:nvSpPr>
          <p:spPr>
            <a:xfrm>
              <a:off x="2242158" y="1401616"/>
              <a:ext cx="1299728" cy="450937"/>
            </a:xfrm>
            <a:prstGeom prst="rect">
              <a:avLst/>
            </a:prstGeom>
            <a:solidFill>
              <a:srgbClr val="009A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Utility</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3" name="Rectangle 22">
              <a:extLst>
                <a:ext uri="{FF2B5EF4-FFF2-40B4-BE49-F238E27FC236}">
                  <a16:creationId xmlns:a16="http://schemas.microsoft.com/office/drawing/2014/main" id="{2DD31878-2D26-622D-4E1F-A7D1C4C8ED38}"/>
                </a:ext>
              </a:extLst>
            </p:cNvPr>
            <p:cNvSpPr/>
            <p:nvPr/>
          </p:nvSpPr>
          <p:spPr>
            <a:xfrm>
              <a:off x="2147462" y="2852198"/>
              <a:ext cx="1299729" cy="431707"/>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Independent Power Producer</a:t>
              </a:r>
              <a:endParaRPr kumimoji="0" lang="en-IN" sz="1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7" name="Rectangle 26">
              <a:extLst>
                <a:ext uri="{FF2B5EF4-FFF2-40B4-BE49-F238E27FC236}">
                  <a16:creationId xmlns:a16="http://schemas.microsoft.com/office/drawing/2014/main" id="{3B357600-5774-8DB9-F464-22B37384769C}"/>
                </a:ext>
              </a:extLst>
            </p:cNvPr>
            <p:cNvSpPr/>
            <p:nvPr/>
          </p:nvSpPr>
          <p:spPr>
            <a:xfrm>
              <a:off x="4322391" y="2832968"/>
              <a:ext cx="901874" cy="450937"/>
            </a:xfrm>
            <a:prstGeom prst="rect">
              <a:avLst/>
            </a:prstGeom>
            <a:solidFill>
              <a:schemeClr val="accent1"/>
            </a:solid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Bank</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3" name="Rectangle 32">
              <a:extLst>
                <a:ext uri="{FF2B5EF4-FFF2-40B4-BE49-F238E27FC236}">
                  <a16:creationId xmlns:a16="http://schemas.microsoft.com/office/drawing/2014/main" id="{168FEA93-A2DD-E716-B172-842186CE3B16}"/>
                </a:ext>
              </a:extLst>
            </p:cNvPr>
            <p:cNvSpPr/>
            <p:nvPr/>
          </p:nvSpPr>
          <p:spPr>
            <a:xfrm>
              <a:off x="274412" y="2884129"/>
              <a:ext cx="901874" cy="400076"/>
            </a:xfrm>
            <a:prstGeom prst="rect">
              <a:avLst/>
            </a:prstGeom>
            <a:solidFill>
              <a:srgbClr val="C4D6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Power Plant</a:t>
              </a:r>
              <a:endParaRPr kumimoji="0" lang="en-IN" sz="10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40" name="Straight Arrow Connector 39">
              <a:extLst>
                <a:ext uri="{FF2B5EF4-FFF2-40B4-BE49-F238E27FC236}">
                  <a16:creationId xmlns:a16="http://schemas.microsoft.com/office/drawing/2014/main" id="{46335A64-1E98-94F2-89E4-5A2270EC5BB8}"/>
                </a:ext>
              </a:extLst>
            </p:cNvPr>
            <p:cNvCxnSpPr>
              <a:cxnSpLocks/>
            </p:cNvCxnSpPr>
            <p:nvPr/>
          </p:nvCxnSpPr>
          <p:spPr>
            <a:xfrm>
              <a:off x="2417523" y="1852553"/>
              <a:ext cx="0" cy="980415"/>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266DBE7-5D32-A0A8-2A90-1CF9D1490A7E}"/>
                </a:ext>
              </a:extLst>
            </p:cNvPr>
            <p:cNvCxnSpPr>
              <a:cxnSpLocks/>
            </p:cNvCxnSpPr>
            <p:nvPr/>
          </p:nvCxnSpPr>
          <p:spPr>
            <a:xfrm>
              <a:off x="2702431" y="1852553"/>
              <a:ext cx="0" cy="980415"/>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6961AA3-28FD-82AB-E104-49D13DA591B7}"/>
                </a:ext>
              </a:extLst>
            </p:cNvPr>
            <p:cNvCxnSpPr>
              <a:cxnSpLocks/>
            </p:cNvCxnSpPr>
            <p:nvPr/>
          </p:nvCxnSpPr>
          <p:spPr>
            <a:xfrm flipV="1">
              <a:off x="2904291" y="1852553"/>
              <a:ext cx="0" cy="980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3A8C09A3-3567-431A-8846-1C544F776905}"/>
                </a:ext>
              </a:extLst>
            </p:cNvPr>
            <p:cNvSpPr/>
            <p:nvPr/>
          </p:nvSpPr>
          <p:spPr>
            <a:xfrm>
              <a:off x="1958580" y="2086987"/>
              <a:ext cx="436706"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PPA</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8" name="Rectangle 47">
              <a:extLst>
                <a:ext uri="{FF2B5EF4-FFF2-40B4-BE49-F238E27FC236}">
                  <a16:creationId xmlns:a16="http://schemas.microsoft.com/office/drawing/2014/main" id="{C5E13F10-096E-F430-B2A0-846502048BB6}"/>
                </a:ext>
              </a:extLst>
            </p:cNvPr>
            <p:cNvSpPr/>
            <p:nvPr/>
          </p:nvSpPr>
          <p:spPr>
            <a:xfrm rot="16200000">
              <a:off x="2092009" y="2225794"/>
              <a:ext cx="1042027" cy="2746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Fixed Tariff</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9" name="Rectangle 48">
              <a:extLst>
                <a:ext uri="{FF2B5EF4-FFF2-40B4-BE49-F238E27FC236}">
                  <a16:creationId xmlns:a16="http://schemas.microsoft.com/office/drawing/2014/main" id="{B4F49DDC-3692-D1C3-D0EE-01F465C28346}"/>
                </a:ext>
              </a:extLst>
            </p:cNvPr>
            <p:cNvSpPr/>
            <p:nvPr/>
          </p:nvSpPr>
          <p:spPr>
            <a:xfrm rot="16200000">
              <a:off x="2484450" y="2219560"/>
              <a:ext cx="631534"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Energy</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50" name="Straight Arrow Connector 49">
              <a:extLst>
                <a:ext uri="{FF2B5EF4-FFF2-40B4-BE49-F238E27FC236}">
                  <a16:creationId xmlns:a16="http://schemas.microsoft.com/office/drawing/2014/main" id="{56B1CD02-F784-590C-3B0F-4EC6B976E4A6}"/>
                </a:ext>
              </a:extLst>
            </p:cNvPr>
            <p:cNvCxnSpPr/>
            <p:nvPr/>
          </p:nvCxnSpPr>
          <p:spPr>
            <a:xfrm flipH="1">
              <a:off x="3435579" y="2921022"/>
              <a:ext cx="886813" cy="0"/>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D4C79E1-41F1-3ACB-9830-850A5E651CA2}"/>
                </a:ext>
              </a:extLst>
            </p:cNvPr>
            <p:cNvCxnSpPr/>
            <p:nvPr/>
          </p:nvCxnSpPr>
          <p:spPr>
            <a:xfrm>
              <a:off x="3435579" y="3190240"/>
              <a:ext cx="890412" cy="0"/>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1421B181-CD3C-2CB7-83FF-260C9490C991}"/>
                </a:ext>
              </a:extLst>
            </p:cNvPr>
            <p:cNvSpPr/>
            <p:nvPr/>
          </p:nvSpPr>
          <p:spPr>
            <a:xfrm>
              <a:off x="3464526" y="3202333"/>
              <a:ext cx="821600" cy="282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Debt service</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3" name="Rectangle 52">
              <a:extLst>
                <a:ext uri="{FF2B5EF4-FFF2-40B4-BE49-F238E27FC236}">
                  <a16:creationId xmlns:a16="http://schemas.microsoft.com/office/drawing/2014/main" id="{CDD6451E-9B5D-3D42-A8CE-0C60C3226B15}"/>
                </a:ext>
              </a:extLst>
            </p:cNvPr>
            <p:cNvSpPr/>
            <p:nvPr/>
          </p:nvSpPr>
          <p:spPr>
            <a:xfrm>
              <a:off x="3484358" y="2689411"/>
              <a:ext cx="778944"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Debt</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60" name="Straight Arrow Connector 59">
              <a:extLst>
                <a:ext uri="{FF2B5EF4-FFF2-40B4-BE49-F238E27FC236}">
                  <a16:creationId xmlns:a16="http://schemas.microsoft.com/office/drawing/2014/main" id="{7599EEE8-8A1D-C3DA-DA58-6A93CDB4A838}"/>
                </a:ext>
              </a:extLst>
            </p:cNvPr>
            <p:cNvCxnSpPr>
              <a:cxnSpLocks/>
            </p:cNvCxnSpPr>
            <p:nvPr/>
          </p:nvCxnSpPr>
          <p:spPr>
            <a:xfrm flipH="1">
              <a:off x="1183101" y="2921022"/>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9831F73-5F54-E8C0-8AC5-09B23AF3B5FC}"/>
                </a:ext>
              </a:extLst>
            </p:cNvPr>
            <p:cNvCxnSpPr>
              <a:cxnSpLocks/>
            </p:cNvCxnSpPr>
            <p:nvPr/>
          </p:nvCxnSpPr>
          <p:spPr>
            <a:xfrm>
              <a:off x="1196472" y="3182187"/>
              <a:ext cx="909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47595000-5CE7-799A-7D03-2648D52B4D70}"/>
                </a:ext>
              </a:extLst>
            </p:cNvPr>
            <p:cNvSpPr/>
            <p:nvPr/>
          </p:nvSpPr>
          <p:spPr>
            <a:xfrm>
              <a:off x="1399395" y="2708641"/>
              <a:ext cx="514169"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Own</a:t>
              </a:r>
              <a:endParaRPr kumimoji="0" lang="en-IN"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28" name="Rectangle 127">
              <a:extLst>
                <a:ext uri="{FF2B5EF4-FFF2-40B4-BE49-F238E27FC236}">
                  <a16:creationId xmlns:a16="http://schemas.microsoft.com/office/drawing/2014/main" id="{2F029C6B-7F18-5C33-B9C7-85548A19D546}"/>
                </a:ext>
              </a:extLst>
            </p:cNvPr>
            <p:cNvSpPr/>
            <p:nvPr/>
          </p:nvSpPr>
          <p:spPr>
            <a:xfrm>
              <a:off x="1310317" y="3078711"/>
              <a:ext cx="765493" cy="329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Energy</a:t>
              </a:r>
              <a:endParaRPr kumimoji="0" lang="en-IN"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26" name="Group 25">
            <a:extLst>
              <a:ext uri="{FF2B5EF4-FFF2-40B4-BE49-F238E27FC236}">
                <a16:creationId xmlns:a16="http://schemas.microsoft.com/office/drawing/2014/main" id="{824F3A19-419A-D7FA-CEF1-85488A93859D}"/>
              </a:ext>
            </a:extLst>
          </p:cNvPr>
          <p:cNvGrpSpPr/>
          <p:nvPr/>
        </p:nvGrpSpPr>
        <p:grpSpPr>
          <a:xfrm>
            <a:off x="771333" y="1374279"/>
            <a:ext cx="1611471" cy="1037498"/>
            <a:chOff x="736685" y="1963349"/>
            <a:chExt cx="1611471" cy="1037498"/>
          </a:xfrm>
        </p:grpSpPr>
        <p:sp>
          <p:nvSpPr>
            <p:cNvPr id="11" name="Rectangle 10">
              <a:extLst>
                <a:ext uri="{FF2B5EF4-FFF2-40B4-BE49-F238E27FC236}">
                  <a16:creationId xmlns:a16="http://schemas.microsoft.com/office/drawing/2014/main" id="{7E572F20-E8B8-5E13-8A04-CFAF5C9E967D}"/>
                </a:ext>
              </a:extLst>
            </p:cNvPr>
            <p:cNvSpPr/>
            <p:nvPr/>
          </p:nvSpPr>
          <p:spPr bwMode="gray">
            <a:xfrm>
              <a:off x="736685" y="1963349"/>
              <a:ext cx="1494581" cy="1037498"/>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r>
                <a:rPr lang="en-US" sz="1400" b="1">
                  <a:solidFill>
                    <a:sysClr val="windowText" lastClr="000000"/>
                  </a:solidFill>
                  <a:latin typeface="Verdana" panose="020B0604030504040204" pitchFamily="34" charset="0"/>
                  <a:ea typeface="Verdana" panose="020B0604030504040204" pitchFamily="34" charset="0"/>
                </a:rPr>
                <a:t>Legend: </a:t>
              </a:r>
            </a:p>
          </p:txBody>
        </p:sp>
        <p:sp>
          <p:nvSpPr>
            <p:cNvPr id="17" name="Rectangle 16">
              <a:extLst>
                <a:ext uri="{FF2B5EF4-FFF2-40B4-BE49-F238E27FC236}">
                  <a16:creationId xmlns:a16="http://schemas.microsoft.com/office/drawing/2014/main" id="{1207EFD3-E27E-45E9-222F-F1A1A1612E2E}"/>
                </a:ext>
              </a:extLst>
            </p:cNvPr>
            <p:cNvSpPr/>
            <p:nvPr/>
          </p:nvSpPr>
          <p:spPr>
            <a:xfrm>
              <a:off x="1349266" y="2285101"/>
              <a:ext cx="782301" cy="4264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Financial</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8" name="Straight Arrow Connector 17">
              <a:extLst>
                <a:ext uri="{FF2B5EF4-FFF2-40B4-BE49-F238E27FC236}">
                  <a16:creationId xmlns:a16="http://schemas.microsoft.com/office/drawing/2014/main" id="{33D31288-AA00-FDF0-7EA1-3D79C949A75B}"/>
                </a:ext>
              </a:extLst>
            </p:cNvPr>
            <p:cNvCxnSpPr>
              <a:cxnSpLocks/>
            </p:cNvCxnSpPr>
            <p:nvPr/>
          </p:nvCxnSpPr>
          <p:spPr>
            <a:xfrm>
              <a:off x="884486" y="2498800"/>
              <a:ext cx="442407" cy="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1947486-4A09-FB1A-E9D3-2499A75EBE06}"/>
                </a:ext>
              </a:extLst>
            </p:cNvPr>
            <p:cNvCxnSpPr>
              <a:cxnSpLocks/>
            </p:cNvCxnSpPr>
            <p:nvPr/>
          </p:nvCxnSpPr>
          <p:spPr>
            <a:xfrm>
              <a:off x="854205" y="2730538"/>
              <a:ext cx="508272" cy="0"/>
            </a:xfrm>
            <a:prstGeom prst="straightConnector1">
              <a:avLst/>
            </a:prstGeom>
            <a:ln w="28575">
              <a:solidFill>
                <a:schemeClr val="tx1">
                  <a:lumMod val="75000"/>
                  <a:lumOff val="2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8EB6ED5-AFA7-6978-D7EE-B3D57EACBC53}"/>
                </a:ext>
              </a:extLst>
            </p:cNvPr>
            <p:cNvSpPr/>
            <p:nvPr/>
          </p:nvSpPr>
          <p:spPr>
            <a:xfrm>
              <a:off x="1231289" y="2555289"/>
              <a:ext cx="1116867" cy="347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Commercial</a:t>
              </a:r>
              <a:endParaRPr kumimoji="0" lang="en-IN"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cxnSp>
        <p:nvCxnSpPr>
          <p:cNvPr id="130" name="Straight Arrow Connector 129">
            <a:extLst>
              <a:ext uri="{FF2B5EF4-FFF2-40B4-BE49-F238E27FC236}">
                <a16:creationId xmlns:a16="http://schemas.microsoft.com/office/drawing/2014/main" id="{044E2757-98AD-782B-A4BB-342F3B0E3D7E}"/>
              </a:ext>
            </a:extLst>
          </p:cNvPr>
          <p:cNvCxnSpPr>
            <a:cxnSpLocks/>
            <a:endCxn id="22" idx="3"/>
          </p:cNvCxnSpPr>
          <p:nvPr/>
        </p:nvCxnSpPr>
        <p:spPr>
          <a:xfrm flipH="1">
            <a:off x="4073177" y="1658332"/>
            <a:ext cx="796695" cy="1"/>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sp>
        <p:nvSpPr>
          <p:cNvPr id="143" name="Rectangle 142">
            <a:extLst>
              <a:ext uri="{FF2B5EF4-FFF2-40B4-BE49-F238E27FC236}">
                <a16:creationId xmlns:a16="http://schemas.microsoft.com/office/drawing/2014/main" id="{8AEE617F-FA47-41D0-6A73-31C7F2FD134D}"/>
              </a:ext>
            </a:extLst>
          </p:cNvPr>
          <p:cNvSpPr/>
          <p:nvPr/>
        </p:nvSpPr>
        <p:spPr>
          <a:xfrm rot="16200000">
            <a:off x="3048634" y="2236688"/>
            <a:ext cx="1279127" cy="2746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VGF</a:t>
            </a:r>
            <a:endParaRPr kumimoji="0" lang="en-IN"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44" name="Straight Arrow Connector 143">
            <a:extLst>
              <a:ext uri="{FF2B5EF4-FFF2-40B4-BE49-F238E27FC236}">
                <a16:creationId xmlns:a16="http://schemas.microsoft.com/office/drawing/2014/main" id="{48EFE332-0D9D-EAA8-6EB5-355ED66F496B}"/>
              </a:ext>
            </a:extLst>
          </p:cNvPr>
          <p:cNvCxnSpPr>
            <a:cxnSpLocks/>
          </p:cNvCxnSpPr>
          <p:nvPr/>
        </p:nvCxnSpPr>
        <p:spPr>
          <a:xfrm>
            <a:off x="3583480" y="1904641"/>
            <a:ext cx="0" cy="980415"/>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0FEAE5DB-F83C-6AE4-8992-33E2E26E6A6B}"/>
              </a:ext>
            </a:extLst>
          </p:cNvPr>
          <p:cNvSpPr/>
          <p:nvPr/>
        </p:nvSpPr>
        <p:spPr>
          <a:xfrm>
            <a:off x="4129549" y="1496770"/>
            <a:ext cx="778944"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Grant, through state govt.</a:t>
            </a:r>
            <a:endParaRPr kumimoji="0" lang="en-IN"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2" name="Rectangle 11">
            <a:extLst>
              <a:ext uri="{FF2B5EF4-FFF2-40B4-BE49-F238E27FC236}">
                <a16:creationId xmlns:a16="http://schemas.microsoft.com/office/drawing/2014/main" id="{EEABE661-EE3F-24B0-7DB7-BB9B725B60A4}"/>
              </a:ext>
            </a:extLst>
          </p:cNvPr>
          <p:cNvSpPr/>
          <p:nvPr/>
        </p:nvSpPr>
        <p:spPr>
          <a:xfrm>
            <a:off x="4896009" y="1430624"/>
            <a:ext cx="1064125" cy="450937"/>
          </a:xfrm>
          <a:prstGeom prst="rect">
            <a:avLst/>
          </a:prstGeom>
          <a:solidFill>
            <a:schemeClr val="tx2">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State Govt.</a:t>
            </a:r>
            <a:endParaRPr kumimoji="0" lang="en-IN"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a:extLst>
              <a:ext uri="{FF2B5EF4-FFF2-40B4-BE49-F238E27FC236}">
                <a16:creationId xmlns:a16="http://schemas.microsoft.com/office/drawing/2014/main" id="{9DD74337-C70B-8B7A-8F28-0C7739C640D5}"/>
              </a:ext>
            </a:extLst>
          </p:cNvPr>
          <p:cNvSpPr txBox="1"/>
          <p:nvPr/>
        </p:nvSpPr>
        <p:spPr>
          <a:xfrm>
            <a:off x="554729" y="6421247"/>
            <a:ext cx="5840672" cy="246221"/>
          </a:xfrm>
          <a:prstGeom prst="rect">
            <a:avLst/>
          </a:prstGeom>
          <a:noFill/>
        </p:spPr>
        <p:txBody>
          <a:bodyPr wrap="square">
            <a:spAutoFit/>
          </a:bodyPr>
          <a:lstStyle/>
          <a:p>
            <a:pPr marR="0" lvl="0" algn="just" defTabSz="457200" rtl="0" eaLnBrk="1" fontAlgn="auto" latinLnBrk="0" hangingPunct="1">
              <a:lnSpc>
                <a:spcPct val="100000"/>
              </a:lnSpc>
              <a:spcBef>
                <a:spcPts val="0"/>
              </a:spcBef>
              <a:spcAft>
                <a:spcPts val="600"/>
              </a:spcAft>
              <a:buClrTx/>
              <a:buSzTx/>
              <a:tabLst/>
              <a:defRPr/>
            </a:pPr>
            <a:r>
              <a:rPr lang="en-US" sz="1000" b="1" dirty="0">
                <a:solidFill>
                  <a:schemeClr val="tx1"/>
                </a:solidFill>
                <a:latin typeface="Verdana" panose="020B0604030504040204" pitchFamily="34" charset="0"/>
                <a:ea typeface="Verdana" panose="020B0604030504040204" pitchFamily="34" charset="0"/>
                <a:cs typeface="Verdana" panose="020B0604030504040204" pitchFamily="34" charset="0"/>
              </a:rPr>
              <a:t>Use case:</a:t>
            </a: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 Details of CPSU projects under VGF sche</a:t>
            </a:r>
            <a:r>
              <a:rPr lang="en-US" sz="1000" dirty="0">
                <a:latin typeface="Verdana" panose="020B0604030504040204" pitchFamily="34" charset="0"/>
                <a:ea typeface="Verdana" panose="020B0604030504040204" pitchFamily="34" charset="0"/>
                <a:cs typeface="Verdana" panose="020B0604030504040204" pitchFamily="34" charset="0"/>
              </a:rPr>
              <a:t>me is provided</a:t>
            </a: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 in </a:t>
            </a: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hlinkClick r:id="rId6" action="ppaction://hlinksldjump"/>
              </a:rPr>
              <a:t>Annexure</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4" name="Graphic 13" descr="Right pointing backhand index with solid fill">
            <a:extLst>
              <a:ext uri="{FF2B5EF4-FFF2-40B4-BE49-F238E27FC236}">
                <a16:creationId xmlns:a16="http://schemas.microsoft.com/office/drawing/2014/main" id="{BB7ACC0D-8236-79B4-98EB-2EE7AD0F001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32674" y="5120771"/>
            <a:ext cx="360204" cy="360204"/>
          </a:xfrm>
          <a:prstGeom prst="rect">
            <a:avLst/>
          </a:prstGeom>
        </p:spPr>
      </p:pic>
      <p:sp>
        <p:nvSpPr>
          <p:cNvPr id="3" name="Arrow: Right 2">
            <a:hlinkClick r:id="rId9" action="ppaction://hlinksldjump"/>
            <a:extLst>
              <a:ext uri="{FF2B5EF4-FFF2-40B4-BE49-F238E27FC236}">
                <a16:creationId xmlns:a16="http://schemas.microsoft.com/office/drawing/2014/main" id="{9D45C4FE-13AB-98D8-81C3-25D997A0A4A7}"/>
              </a:ext>
            </a:extLst>
          </p:cNvPr>
          <p:cNvSpPr/>
          <p:nvPr/>
        </p:nvSpPr>
        <p:spPr bwMode="gray">
          <a:xfrm rot="10800000" flipV="1">
            <a:off x="10828730" y="6458523"/>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9" action="ppaction://hlinksldjump"/>
              </a:rPr>
              <a:t>Back</a:t>
            </a:r>
            <a:endParaRPr lang="en-US" sz="1000" b="1" dirty="0">
              <a:solidFill>
                <a:schemeClr val="bg1"/>
              </a:solidFill>
            </a:endParaRPr>
          </a:p>
        </p:txBody>
      </p:sp>
      <p:cxnSp>
        <p:nvCxnSpPr>
          <p:cNvPr id="25" name="Straight Connector 24">
            <a:extLst>
              <a:ext uri="{FF2B5EF4-FFF2-40B4-BE49-F238E27FC236}">
                <a16:creationId xmlns:a16="http://schemas.microsoft.com/office/drawing/2014/main" id="{ED23176E-93DD-7398-335A-6F43E60CB750}"/>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D7B97277-E854-D9D1-B7F6-DE42A99A0ADD}"/>
              </a:ext>
            </a:extLst>
          </p:cNvPr>
          <p:cNvSpPr/>
          <p:nvPr/>
        </p:nvSpPr>
        <p:spPr bwMode="gray">
          <a:xfrm>
            <a:off x="634010" y="3920206"/>
            <a:ext cx="5504040" cy="315665"/>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Scenario 1: Assuming no additional grant for Solar Park and evacuation infrastructure costs (Total Capex: ~Rs 1,503 Cr* (~USD 181 Mn))</a:t>
            </a:r>
          </a:p>
        </p:txBody>
      </p:sp>
      <p:sp>
        <p:nvSpPr>
          <p:cNvPr id="129" name="Rectangle 128">
            <a:extLst>
              <a:ext uri="{FF2B5EF4-FFF2-40B4-BE49-F238E27FC236}">
                <a16:creationId xmlns:a16="http://schemas.microsoft.com/office/drawing/2014/main" id="{AE06E61E-4B91-C201-03FA-9A4F53071291}"/>
              </a:ext>
            </a:extLst>
          </p:cNvPr>
          <p:cNvSpPr/>
          <p:nvPr/>
        </p:nvSpPr>
        <p:spPr bwMode="gray">
          <a:xfrm>
            <a:off x="645584" y="5027679"/>
            <a:ext cx="5538877" cy="29751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Scenario 2: Assuming separate grant by State Govt. for Solar Park and evacuation infrastructure costs (Total Capex: ~Rs 1,221** Cr (~USD 147 Mn))</a:t>
            </a:r>
          </a:p>
        </p:txBody>
      </p:sp>
      <p:graphicFrame>
        <p:nvGraphicFramePr>
          <p:cNvPr id="131" name="Table 41">
            <a:extLst>
              <a:ext uri="{FF2B5EF4-FFF2-40B4-BE49-F238E27FC236}">
                <a16:creationId xmlns:a16="http://schemas.microsoft.com/office/drawing/2014/main" id="{DF3326DF-8626-63B4-A55C-D323B02FEE1F}"/>
              </a:ext>
            </a:extLst>
          </p:cNvPr>
          <p:cNvGraphicFramePr>
            <a:graphicFrameLocks noGrp="1"/>
          </p:cNvGraphicFramePr>
          <p:nvPr>
            <p:extLst>
              <p:ext uri="{D42A27DB-BD31-4B8C-83A1-F6EECF244321}">
                <p14:modId xmlns:p14="http://schemas.microsoft.com/office/powerpoint/2010/main" val="3540906167"/>
              </p:ext>
            </p:extLst>
          </p:nvPr>
        </p:nvGraphicFramePr>
        <p:xfrm>
          <a:off x="645584" y="4244071"/>
          <a:ext cx="5504040" cy="731520"/>
        </p:xfrm>
        <a:graphic>
          <a:graphicData uri="http://schemas.openxmlformats.org/drawingml/2006/table">
            <a:tbl>
              <a:tblPr firstRow="1" bandRow="1">
                <a:tableStyleId>{5C22544A-7EE6-4342-B048-85BDC9FD1C3A}</a:tableStyleId>
              </a:tblPr>
              <a:tblGrid>
                <a:gridCol w="1834680">
                  <a:extLst>
                    <a:ext uri="{9D8B030D-6E8A-4147-A177-3AD203B41FA5}">
                      <a16:colId xmlns:a16="http://schemas.microsoft.com/office/drawing/2014/main" val="3354921983"/>
                    </a:ext>
                  </a:extLst>
                </a:gridCol>
                <a:gridCol w="1834680">
                  <a:extLst>
                    <a:ext uri="{9D8B030D-6E8A-4147-A177-3AD203B41FA5}">
                      <a16:colId xmlns:a16="http://schemas.microsoft.com/office/drawing/2014/main" val="3292803634"/>
                    </a:ext>
                  </a:extLst>
                </a:gridCol>
                <a:gridCol w="1834680">
                  <a:extLst>
                    <a:ext uri="{9D8B030D-6E8A-4147-A177-3AD203B41FA5}">
                      <a16:colId xmlns:a16="http://schemas.microsoft.com/office/drawing/2014/main" val="3850940814"/>
                    </a:ext>
                  </a:extLst>
                </a:gridCol>
              </a:tblGrid>
              <a:tr h="0">
                <a:tc>
                  <a:txBody>
                    <a:bodyPr/>
                    <a:lstStyle/>
                    <a:p>
                      <a:pPr algn="ctr"/>
                      <a:r>
                        <a:rPr lang="en-US" sz="900" dirty="0"/>
                        <a:t>Levelized Tariff with no VGF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680"/>
                    </a:solidFill>
                  </a:tcPr>
                </a:tc>
                <a:tc>
                  <a:txBody>
                    <a:bodyPr/>
                    <a:lstStyle/>
                    <a:p>
                      <a:pPr algn="ctr"/>
                      <a:r>
                        <a:rPr lang="en-US" sz="900" dirty="0"/>
                        <a:t>Levelized Tariff with VGF of USD 40 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680"/>
                    </a:solidFill>
                  </a:tcPr>
                </a:tc>
                <a:tc>
                  <a:txBody>
                    <a:bodyPr/>
                    <a:lstStyle/>
                    <a:p>
                      <a:pPr algn="ctr"/>
                      <a:r>
                        <a:rPr lang="en-US" sz="900" dirty="0"/>
                        <a:t>Levelized Tariff with VGF of USD 100 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680"/>
                    </a:solidFill>
                  </a:tcPr>
                </a:tc>
                <a:extLst>
                  <a:ext uri="{0D108BD9-81ED-4DB2-BD59-A6C34878D82A}">
                    <a16:rowId xmlns:a16="http://schemas.microsoft.com/office/drawing/2014/main" val="2920181566"/>
                  </a:ext>
                </a:extLst>
              </a:tr>
              <a:tr h="249507">
                <a:tc>
                  <a:txBody>
                    <a:bodyPr/>
                    <a:lstStyle/>
                    <a:p>
                      <a:pPr algn="ctr"/>
                      <a:r>
                        <a:rPr lang="en-US" sz="900" b="1" dirty="0"/>
                        <a:t>Rs 5.0/unit </a:t>
                      </a:r>
                    </a:p>
                    <a:p>
                      <a:pPr algn="ctr"/>
                      <a:r>
                        <a:rPr lang="en-US" sz="900" b="0" dirty="0"/>
                        <a:t>(~ US 6.0 cents/unit)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t>Rs 4.4/unit</a:t>
                      </a:r>
                    </a:p>
                    <a:p>
                      <a:pPr algn="ctr"/>
                      <a:r>
                        <a:rPr lang="en-US" sz="900" b="0" dirty="0"/>
                        <a:t>(~ US 5.3 cents/unit)</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t>Rs 3.2/unit</a:t>
                      </a:r>
                    </a:p>
                    <a:p>
                      <a:pPr algn="ctr"/>
                      <a:r>
                        <a:rPr lang="en-US" sz="900" b="0" dirty="0"/>
                        <a:t>(~ US 3.9 cents/unit)</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1193644"/>
                  </a:ext>
                </a:extLst>
              </a:tr>
            </a:tbl>
          </a:graphicData>
        </a:graphic>
      </p:graphicFrame>
      <p:graphicFrame>
        <p:nvGraphicFramePr>
          <p:cNvPr id="138" name="Table 41">
            <a:extLst>
              <a:ext uri="{FF2B5EF4-FFF2-40B4-BE49-F238E27FC236}">
                <a16:creationId xmlns:a16="http://schemas.microsoft.com/office/drawing/2014/main" id="{D5427A1C-EA1A-0DD8-E769-7F419EDDDA2D}"/>
              </a:ext>
            </a:extLst>
          </p:cNvPr>
          <p:cNvGraphicFramePr>
            <a:graphicFrameLocks noGrp="1"/>
          </p:cNvGraphicFramePr>
          <p:nvPr>
            <p:extLst>
              <p:ext uri="{D42A27DB-BD31-4B8C-83A1-F6EECF244321}">
                <p14:modId xmlns:p14="http://schemas.microsoft.com/office/powerpoint/2010/main" val="2587801520"/>
              </p:ext>
            </p:extLst>
          </p:nvPr>
        </p:nvGraphicFramePr>
        <p:xfrm>
          <a:off x="657158" y="5325729"/>
          <a:ext cx="5504040" cy="731520"/>
        </p:xfrm>
        <a:graphic>
          <a:graphicData uri="http://schemas.openxmlformats.org/drawingml/2006/table">
            <a:tbl>
              <a:tblPr firstRow="1" bandRow="1">
                <a:tableStyleId>{5C22544A-7EE6-4342-B048-85BDC9FD1C3A}</a:tableStyleId>
              </a:tblPr>
              <a:tblGrid>
                <a:gridCol w="1834680">
                  <a:extLst>
                    <a:ext uri="{9D8B030D-6E8A-4147-A177-3AD203B41FA5}">
                      <a16:colId xmlns:a16="http://schemas.microsoft.com/office/drawing/2014/main" val="3354921983"/>
                    </a:ext>
                  </a:extLst>
                </a:gridCol>
                <a:gridCol w="1834680">
                  <a:extLst>
                    <a:ext uri="{9D8B030D-6E8A-4147-A177-3AD203B41FA5}">
                      <a16:colId xmlns:a16="http://schemas.microsoft.com/office/drawing/2014/main" val="3292803634"/>
                    </a:ext>
                  </a:extLst>
                </a:gridCol>
                <a:gridCol w="1834680">
                  <a:extLst>
                    <a:ext uri="{9D8B030D-6E8A-4147-A177-3AD203B41FA5}">
                      <a16:colId xmlns:a16="http://schemas.microsoft.com/office/drawing/2014/main" val="3850940814"/>
                    </a:ext>
                  </a:extLst>
                </a:gridCol>
              </a:tblGrid>
              <a:tr h="204214">
                <a:tc>
                  <a:txBody>
                    <a:bodyPr/>
                    <a:lstStyle/>
                    <a:p>
                      <a:pPr algn="ctr"/>
                      <a:r>
                        <a:rPr lang="en-US" sz="900" dirty="0">
                          <a:solidFill>
                            <a:schemeClr val="tx1"/>
                          </a:solidFill>
                        </a:rPr>
                        <a:t>Levelized Tariff with no VGF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900" dirty="0">
                          <a:solidFill>
                            <a:schemeClr val="tx1"/>
                          </a:solidFill>
                        </a:rPr>
                        <a:t>Levelized Tariff with VGF of USD 40 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900" dirty="0">
                          <a:solidFill>
                            <a:schemeClr val="tx1"/>
                          </a:solidFill>
                        </a:rPr>
                        <a:t>Levelized Tariff with VGF of USD 100 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0181566"/>
                  </a:ext>
                </a:extLst>
              </a:tr>
              <a:tr h="286794">
                <a:tc>
                  <a:txBody>
                    <a:bodyPr/>
                    <a:lstStyle/>
                    <a:p>
                      <a:pPr algn="ctr"/>
                      <a:r>
                        <a:rPr lang="en-US" sz="900" b="1" dirty="0"/>
                        <a:t>Rs 4.2/unit</a:t>
                      </a:r>
                    </a:p>
                    <a:p>
                      <a:pPr algn="ctr"/>
                      <a:r>
                        <a:rPr lang="en-US" sz="900" b="0" dirty="0"/>
                        <a:t>(~ US 5.1 cents/unit)</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t>Rs 3.6/unit</a:t>
                      </a:r>
                    </a:p>
                    <a:p>
                      <a:pPr algn="ctr"/>
                      <a:r>
                        <a:rPr lang="en-US" sz="900" b="0" dirty="0"/>
                        <a:t>(~ US 4.3 cents/unit)</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t>Rs 2.2/unit</a:t>
                      </a:r>
                    </a:p>
                    <a:p>
                      <a:pPr algn="ctr"/>
                      <a:r>
                        <a:rPr lang="en-US" sz="900" b="0" dirty="0"/>
                        <a:t>(~ US 2.7 cents/unit)</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1193644"/>
                  </a:ext>
                </a:extLst>
              </a:tr>
            </a:tbl>
          </a:graphicData>
        </a:graphic>
      </p:graphicFrame>
      <p:sp>
        <p:nvSpPr>
          <p:cNvPr id="142" name="Rectangle 141">
            <a:extLst>
              <a:ext uri="{FF2B5EF4-FFF2-40B4-BE49-F238E27FC236}">
                <a16:creationId xmlns:a16="http://schemas.microsoft.com/office/drawing/2014/main" id="{42CE4F8C-ED9F-F1FF-C401-A4BD4E8C8DB6}"/>
              </a:ext>
            </a:extLst>
          </p:cNvPr>
          <p:cNvSpPr/>
          <p:nvPr/>
        </p:nvSpPr>
        <p:spPr bwMode="gray">
          <a:xfrm>
            <a:off x="6620199" y="3993604"/>
            <a:ext cx="5011042" cy="1046330"/>
          </a:xfrm>
          <a:prstGeom prst="rect">
            <a:avLst/>
          </a:prstGeom>
          <a:solidFill>
            <a:srgbClr val="DDEFE8"/>
          </a:solidFill>
          <a:ln w="19050" algn="ctr">
            <a:noFill/>
            <a:prstDash val="dash"/>
            <a:miter lim="800000"/>
            <a:headEnd/>
            <a:tailEnd/>
          </a:ln>
        </p:spPr>
        <p:txBody>
          <a:bodyPr wrap="square" lIns="88900" tIns="88900" rIns="88900" bIns="88900" rtlCol="0" anchor="t"/>
          <a:lstStyle/>
          <a:p>
            <a:pPr algn="just">
              <a:lnSpc>
                <a:spcPct val="106000"/>
              </a:lnSpc>
              <a:spcAft>
                <a:spcPts val="600"/>
              </a:spcAft>
            </a:pPr>
            <a:r>
              <a:rPr lang="en-US" sz="1000" b="1" dirty="0"/>
              <a:t>Key Considerations</a:t>
            </a:r>
            <a:endParaRPr lang="en-US" sz="1000" dirty="0"/>
          </a:p>
          <a:p>
            <a:pPr marL="171450" indent="-171450" algn="just">
              <a:lnSpc>
                <a:spcPct val="106000"/>
              </a:lnSpc>
              <a:spcAft>
                <a:spcPts val="600"/>
              </a:spcAft>
              <a:buFont typeface="Arial" panose="020B0604020202020204" pitchFamily="34" charset="0"/>
              <a:buChar char="•"/>
            </a:pPr>
            <a:r>
              <a:rPr lang="en-US" sz="1000" b="1" dirty="0"/>
              <a:t>VGF contribution range of USD 40 Mn – 100 Mn assumed</a:t>
            </a:r>
            <a:r>
              <a:rPr lang="en-US" sz="1000" dirty="0"/>
              <a:t>, however, same is illustrative and is subject to change</a:t>
            </a:r>
          </a:p>
          <a:p>
            <a:pPr marL="171450" indent="-171450" algn="just">
              <a:lnSpc>
                <a:spcPct val="106000"/>
              </a:lnSpc>
              <a:spcAft>
                <a:spcPts val="600"/>
              </a:spcAft>
              <a:buFont typeface="Arial" panose="020B0604020202020204" pitchFamily="34" charset="0"/>
              <a:buChar char="•"/>
            </a:pPr>
            <a:r>
              <a:rPr lang="en-US" sz="1000" dirty="0"/>
              <a:t>VGF assumed to be provided during construction period, however, same can be structured in tranche-wise manner</a:t>
            </a:r>
          </a:p>
        </p:txBody>
      </p:sp>
      <p:sp>
        <p:nvSpPr>
          <p:cNvPr id="145" name="Oval 144">
            <a:extLst>
              <a:ext uri="{FF2B5EF4-FFF2-40B4-BE49-F238E27FC236}">
                <a16:creationId xmlns:a16="http://schemas.microsoft.com/office/drawing/2014/main" id="{1308569C-AF16-47FA-906C-280750F33B5B}"/>
              </a:ext>
            </a:extLst>
          </p:cNvPr>
          <p:cNvSpPr/>
          <p:nvPr/>
        </p:nvSpPr>
        <p:spPr bwMode="gray">
          <a:xfrm>
            <a:off x="4104556" y="2072226"/>
            <a:ext cx="2430841" cy="619803"/>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Addl. option for infusion of funds for payment security fund</a:t>
            </a:r>
          </a:p>
        </p:txBody>
      </p:sp>
      <p:sp>
        <p:nvSpPr>
          <p:cNvPr id="147" name="TextBox 146">
            <a:extLst>
              <a:ext uri="{FF2B5EF4-FFF2-40B4-BE49-F238E27FC236}">
                <a16:creationId xmlns:a16="http://schemas.microsoft.com/office/drawing/2014/main" id="{2F965526-12F2-2C91-253F-91A7F6EF42C4}"/>
              </a:ext>
            </a:extLst>
          </p:cNvPr>
          <p:cNvSpPr txBox="1"/>
          <p:nvPr/>
        </p:nvSpPr>
        <p:spPr>
          <a:xfrm>
            <a:off x="634010" y="6071812"/>
            <a:ext cx="5515613" cy="400110"/>
          </a:xfrm>
          <a:prstGeom prst="rect">
            <a:avLst/>
          </a:prstGeom>
          <a:solidFill>
            <a:schemeClr val="accent2">
              <a:lumMod val="20000"/>
              <a:lumOff val="80000"/>
            </a:schemeClr>
          </a:solidFill>
        </p:spPr>
        <p:txBody>
          <a:bodyPr wrap="square">
            <a:spAutoFit/>
          </a:bodyPr>
          <a:lstStyle/>
          <a:p>
            <a:r>
              <a:rPr lang="en-US" sz="1000" b="1" i="1" dirty="0"/>
              <a:t>Decrease in tariff by ~17 paise/unit (~US 0.2 cents/unit)  for every infusion of USD 10 Mn as VGF</a:t>
            </a:r>
            <a:endParaRPr lang="en-US" sz="1000" dirty="0"/>
          </a:p>
        </p:txBody>
      </p:sp>
      <p:cxnSp>
        <p:nvCxnSpPr>
          <p:cNvPr id="148" name="Straight Connector 147">
            <a:extLst>
              <a:ext uri="{FF2B5EF4-FFF2-40B4-BE49-F238E27FC236}">
                <a16:creationId xmlns:a16="http://schemas.microsoft.com/office/drawing/2014/main" id="{B894F22C-F222-8D64-DC50-CFC8D6D8E57E}"/>
              </a:ext>
            </a:extLst>
          </p:cNvPr>
          <p:cNvCxnSpPr/>
          <p:nvPr/>
        </p:nvCxnSpPr>
        <p:spPr>
          <a:xfrm>
            <a:off x="891884" y="3677347"/>
            <a:ext cx="5031524" cy="0"/>
          </a:xfrm>
          <a:prstGeom prst="line">
            <a:avLst/>
          </a:prstGeom>
        </p:spPr>
        <p:style>
          <a:lnRef idx="1">
            <a:schemeClr val="dk1"/>
          </a:lnRef>
          <a:fillRef idx="0">
            <a:schemeClr val="dk1"/>
          </a:fillRef>
          <a:effectRef idx="0">
            <a:schemeClr val="dk1"/>
          </a:effectRef>
          <a:fontRef idx="minor">
            <a:schemeClr val="tx1"/>
          </a:fontRef>
        </p:style>
      </p:cxnSp>
      <p:sp>
        <p:nvSpPr>
          <p:cNvPr id="150" name="Rectangle 149">
            <a:extLst>
              <a:ext uri="{FF2B5EF4-FFF2-40B4-BE49-F238E27FC236}">
                <a16:creationId xmlns:a16="http://schemas.microsoft.com/office/drawing/2014/main" id="{BB779E3A-9DC5-FEF2-2701-4DD388058B58}"/>
              </a:ext>
            </a:extLst>
          </p:cNvPr>
          <p:cNvSpPr/>
          <p:nvPr/>
        </p:nvSpPr>
        <p:spPr>
          <a:xfrm>
            <a:off x="2052883" y="3531301"/>
            <a:ext cx="2740859" cy="338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Scenario Analysis on effect of VGF with respect to Tariff</a:t>
            </a:r>
            <a:endParaRPr kumimoji="0" lang="en-IN" sz="10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52" name="TextBox 151">
            <a:extLst>
              <a:ext uri="{FF2B5EF4-FFF2-40B4-BE49-F238E27FC236}">
                <a16:creationId xmlns:a16="http://schemas.microsoft.com/office/drawing/2014/main" id="{562FCB77-3181-89B0-3692-6E552B3EB43E}"/>
              </a:ext>
            </a:extLst>
          </p:cNvPr>
          <p:cNvSpPr txBox="1"/>
          <p:nvPr/>
        </p:nvSpPr>
        <p:spPr>
          <a:xfrm>
            <a:off x="6620199" y="6147933"/>
            <a:ext cx="5840672" cy="400110"/>
          </a:xfrm>
          <a:prstGeom prst="rect">
            <a:avLst/>
          </a:prstGeom>
          <a:noFill/>
        </p:spPr>
        <p:txBody>
          <a:bodyPr wrap="square">
            <a:spAutoFit/>
          </a:bodyPr>
          <a:lstStyle/>
          <a:p>
            <a:pPr marR="0" lvl="0" algn="just" defTabSz="457200" rtl="0" eaLnBrk="1" fontAlgn="auto" latinLnBrk="0" hangingPunct="1">
              <a:lnSpc>
                <a:spcPct val="100000"/>
              </a:lnSpc>
              <a:spcBef>
                <a:spcPts val="0"/>
              </a:spcBef>
              <a:buClrTx/>
              <a:buSzTx/>
              <a:tabLst/>
              <a:defRPr/>
            </a:pPr>
            <a:r>
              <a:rPr lang="en-US" sz="1000" i="1" dirty="0">
                <a:solidFill>
                  <a:schemeClr val="tx1"/>
                </a:solidFill>
                <a:latin typeface="Verdana" panose="020B0604030504040204" pitchFamily="34" charset="0"/>
                <a:ea typeface="Verdana" panose="020B0604030504040204" pitchFamily="34" charset="0"/>
                <a:cs typeface="Verdana" panose="020B0604030504040204" pitchFamily="34" charset="0"/>
              </a:rPr>
              <a:t>*Pro-rated capex for 250 MW based on DPR (incl GST)</a:t>
            </a:r>
          </a:p>
          <a:p>
            <a:pPr marR="0" lvl="0" algn="just" defTabSz="457200" rtl="0" eaLnBrk="1" fontAlgn="auto" latinLnBrk="0" hangingPunct="1">
              <a:lnSpc>
                <a:spcPct val="100000"/>
              </a:lnSpc>
              <a:spcBef>
                <a:spcPts val="0"/>
              </a:spcBef>
              <a:buClrTx/>
              <a:buSzTx/>
              <a:tabLst/>
              <a:defRPr/>
            </a:pPr>
            <a:r>
              <a:rPr lang="en-US" sz="1000" i="1" dirty="0">
                <a:solidFill>
                  <a:schemeClr val="tx1"/>
                </a:solidFill>
                <a:latin typeface="Verdana" panose="020B0604030504040204" pitchFamily="34" charset="0"/>
                <a:ea typeface="Verdana" panose="020B0604030504040204" pitchFamily="34" charset="0"/>
                <a:cs typeface="Verdana" panose="020B0604030504040204" pitchFamily="34" charset="0"/>
              </a:rPr>
              <a:t>**Solar Park </a:t>
            </a:r>
            <a:r>
              <a:rPr lang="en-US" sz="1000" i="1" dirty="0">
                <a:latin typeface="Verdana" panose="020B0604030504040204" pitchFamily="34" charset="0"/>
                <a:ea typeface="Verdana" panose="020B0604030504040204" pitchFamily="34" charset="0"/>
                <a:cs typeface="Verdana" panose="020B0604030504040204" pitchFamily="34" charset="0"/>
              </a:rPr>
              <a:t>and evacuation infra costs deducted from total capex (incl GST)</a:t>
            </a:r>
          </a:p>
        </p:txBody>
      </p:sp>
      <p:sp>
        <p:nvSpPr>
          <p:cNvPr id="6" name="Rectangle 5">
            <a:extLst>
              <a:ext uri="{FF2B5EF4-FFF2-40B4-BE49-F238E27FC236}">
                <a16:creationId xmlns:a16="http://schemas.microsoft.com/office/drawing/2014/main" id="{2492860B-9AE2-09D5-9C1D-F4D84EB836F5}"/>
              </a:ext>
            </a:extLst>
          </p:cNvPr>
          <p:cNvSpPr/>
          <p:nvPr/>
        </p:nvSpPr>
        <p:spPr bwMode="gray">
          <a:xfrm>
            <a:off x="6620199" y="6541927"/>
            <a:ext cx="3559312" cy="211533"/>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000" i="1" dirty="0"/>
              <a:t>Note: USD/INR exchange rate of 83 considered</a:t>
            </a:r>
            <a:endParaRPr lang="en-US" sz="1000" b="1" i="1" dirty="0">
              <a:highlight>
                <a:srgbClr val="00FF00"/>
              </a:highlight>
            </a:endParaRPr>
          </a:p>
        </p:txBody>
      </p:sp>
      <p:sp>
        <p:nvSpPr>
          <p:cNvPr id="9" name="Rectangle 8">
            <a:extLst>
              <a:ext uri="{FF2B5EF4-FFF2-40B4-BE49-F238E27FC236}">
                <a16:creationId xmlns:a16="http://schemas.microsoft.com/office/drawing/2014/main" id="{9DB79941-6F49-AE96-6123-E0C1F0CB9831}"/>
              </a:ext>
            </a:extLst>
          </p:cNvPr>
          <p:cNvSpPr/>
          <p:nvPr/>
        </p:nvSpPr>
        <p:spPr bwMode="gray">
          <a:xfrm>
            <a:off x="6621412" y="5105056"/>
            <a:ext cx="4999271" cy="1042876"/>
          </a:xfrm>
          <a:prstGeom prst="rect">
            <a:avLst/>
          </a:prstGeom>
          <a:solidFill>
            <a:schemeClr val="accent2">
              <a:lumMod val="40000"/>
              <a:lumOff val="60000"/>
            </a:schemeClr>
          </a:solidFill>
          <a:ln w="19050" algn="ctr">
            <a:solidFill>
              <a:schemeClr val="tx1"/>
            </a:solidFill>
            <a:prstDash val="dash"/>
            <a:miter lim="800000"/>
            <a:headEnd/>
            <a:tailEnd/>
          </a:ln>
        </p:spPr>
        <p:txBody>
          <a:bodyPr wrap="square" lIns="88900" tIns="88900" rIns="88900" bIns="88900" rtlCol="0" anchor="t"/>
          <a:lstStyle/>
          <a:p>
            <a:pPr algn="ctr">
              <a:lnSpc>
                <a:spcPct val="106000"/>
              </a:lnSpc>
              <a:spcBef>
                <a:spcPts val="600"/>
              </a:spcBef>
            </a:pPr>
            <a:r>
              <a:rPr lang="en-US" sz="1100" b="1" dirty="0"/>
              <a:t>Alternatively Tariff Based VGF Model may be evaluated</a:t>
            </a:r>
            <a:endParaRPr lang="en-US" sz="1100" dirty="0"/>
          </a:p>
          <a:p>
            <a:pPr marL="171450" indent="-171450" algn="just">
              <a:lnSpc>
                <a:spcPct val="106000"/>
              </a:lnSpc>
              <a:spcBef>
                <a:spcPts val="1200"/>
              </a:spcBef>
              <a:buFont typeface="Arial" panose="020B0604020202020204" pitchFamily="34" charset="0"/>
              <a:buChar char="•"/>
            </a:pPr>
            <a:r>
              <a:rPr lang="en-US" sz="1100" dirty="0"/>
              <a:t>Fixed tariff based Financial Assistance (Capital Grant) to be defined with bidding conducted on offered tariffs by private player (lowest bids are awarded contract)</a:t>
            </a:r>
          </a:p>
        </p:txBody>
      </p:sp>
    </p:spTree>
    <p:extLst>
      <p:ext uri="{BB962C8B-B14F-4D97-AF65-F5344CB8AC3E}">
        <p14:creationId xmlns:p14="http://schemas.microsoft.com/office/powerpoint/2010/main" val="38467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1F60B1E4-88F9-5A27-8D90-E5B4937C5B24}"/>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Land, Connectivity, Basic infrastructure to be provided by State Govt. Utility; project execution through Private Developer</a:t>
            </a:r>
          </a:p>
        </p:txBody>
      </p:sp>
      <p:sp>
        <p:nvSpPr>
          <p:cNvPr id="10" name="Title 2">
            <a:extLst>
              <a:ext uri="{FF2B5EF4-FFF2-40B4-BE49-F238E27FC236}">
                <a16:creationId xmlns:a16="http://schemas.microsoft.com/office/drawing/2014/main" id="{230778C4-12F7-B010-6A93-841EAAB522F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3. Tariff-Based Competitive Bidding – Solar park model</a:t>
            </a:r>
          </a:p>
        </p:txBody>
      </p:sp>
      <p:cxnSp>
        <p:nvCxnSpPr>
          <p:cNvPr id="13" name="Straight Connector 12">
            <a:extLst>
              <a:ext uri="{FF2B5EF4-FFF2-40B4-BE49-F238E27FC236}">
                <a16:creationId xmlns:a16="http://schemas.microsoft.com/office/drawing/2014/main" id="{74F6AB2A-E750-8EA7-5E51-1FAD08C528B4}"/>
              </a:ext>
            </a:extLst>
          </p:cNvPr>
          <p:cNvCxnSpPr/>
          <p:nvPr/>
        </p:nvCxnSpPr>
        <p:spPr>
          <a:xfrm>
            <a:off x="846855" y="1177089"/>
            <a:ext cx="5031524" cy="0"/>
          </a:xfrm>
          <a:prstGeom prst="line">
            <a:avLst/>
          </a:prstGeom>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98451258-8ECC-82CC-A14C-5E2A9C43B561}"/>
              </a:ext>
            </a:extLst>
          </p:cNvPr>
          <p:cNvSpPr/>
          <p:nvPr/>
        </p:nvSpPr>
        <p:spPr>
          <a:xfrm>
            <a:off x="2538466" y="984330"/>
            <a:ext cx="1648301"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Project Overview</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5" name="Straight Connector 14">
            <a:extLst>
              <a:ext uri="{FF2B5EF4-FFF2-40B4-BE49-F238E27FC236}">
                <a16:creationId xmlns:a16="http://schemas.microsoft.com/office/drawing/2014/main" id="{082A8599-A4C0-F501-B7DB-2EDFFED98079}"/>
              </a:ext>
            </a:extLst>
          </p:cNvPr>
          <p:cNvCxnSpPr/>
          <p:nvPr/>
        </p:nvCxnSpPr>
        <p:spPr>
          <a:xfrm>
            <a:off x="7429956" y="1184442"/>
            <a:ext cx="3212784" cy="0"/>
          </a:xfrm>
          <a:prstGeom prst="line">
            <a:avLst/>
          </a:prstGeom>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802913D4-CECE-2502-0B67-F23A1C32922B}"/>
              </a:ext>
            </a:extLst>
          </p:cNvPr>
          <p:cNvSpPr/>
          <p:nvPr/>
        </p:nvSpPr>
        <p:spPr>
          <a:xfrm>
            <a:off x="8417151" y="1124208"/>
            <a:ext cx="1238393" cy="1495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Key Highlights</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34" name="Group 33">
            <a:extLst>
              <a:ext uri="{FF2B5EF4-FFF2-40B4-BE49-F238E27FC236}">
                <a16:creationId xmlns:a16="http://schemas.microsoft.com/office/drawing/2014/main" id="{62AE2CA7-3E3F-DE32-F755-809FF86573B3}"/>
              </a:ext>
            </a:extLst>
          </p:cNvPr>
          <p:cNvGrpSpPr/>
          <p:nvPr/>
        </p:nvGrpSpPr>
        <p:grpSpPr>
          <a:xfrm>
            <a:off x="6620199" y="1432558"/>
            <a:ext cx="5000485" cy="2102327"/>
            <a:chOff x="5567680" y="1777535"/>
            <a:chExt cx="3212784" cy="1738733"/>
          </a:xfrm>
          <a:solidFill>
            <a:srgbClr val="86BC25"/>
          </a:solidFill>
        </p:grpSpPr>
        <p:sp>
          <p:nvSpPr>
            <p:cNvPr id="37" name="Rectangle 36">
              <a:extLst>
                <a:ext uri="{FF2B5EF4-FFF2-40B4-BE49-F238E27FC236}">
                  <a16:creationId xmlns:a16="http://schemas.microsoft.com/office/drawing/2014/main" id="{31C730EC-2E8F-3341-A27E-734C7D244AEB}"/>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Key Features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8" name="Rectangle 37">
              <a:extLst>
                <a:ext uri="{FF2B5EF4-FFF2-40B4-BE49-F238E27FC236}">
                  <a16:creationId xmlns:a16="http://schemas.microsoft.com/office/drawing/2014/main" id="{30B2EE6C-DCA6-4AFD-634E-9BCD55EC4EEE}"/>
                </a:ext>
              </a:extLst>
            </p:cNvPr>
            <p:cNvSpPr/>
            <p:nvPr/>
          </p:nvSpPr>
          <p:spPr>
            <a:xfrm>
              <a:off x="6680473" y="1777535"/>
              <a:ext cx="2099991" cy="1738733"/>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In case of solar park tenders, developers establish solar projects in pre-identified lands with clear demarcations; wherein responsibility of land and connectivity lies with Solar Park Implementing Agency (Public / JV with State Govt.)</a:t>
              </a:r>
            </a:p>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Since land is govt. owned, post PPA term, assets are transferred by Developer to Govt. entity/PPA party</a:t>
              </a:r>
            </a:p>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State Govt. can provide grant-based funding for  the associated solar park infrastructure costs including transmission evacuation costs</a:t>
              </a:r>
              <a:endParaRPr kumimoji="0" lang="en-US" sz="1000" b="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61" name="TextBox 60">
            <a:extLst>
              <a:ext uri="{FF2B5EF4-FFF2-40B4-BE49-F238E27FC236}">
                <a16:creationId xmlns:a16="http://schemas.microsoft.com/office/drawing/2014/main" id="{DAFA6251-55DE-B9C3-DF8A-B55395A75975}"/>
              </a:ext>
            </a:extLst>
          </p:cNvPr>
          <p:cNvSpPr txBox="1"/>
          <p:nvPr/>
        </p:nvSpPr>
        <p:spPr>
          <a:xfrm>
            <a:off x="2638598" y="6647889"/>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Deloitte Research</a:t>
            </a:r>
            <a:endParaRPr lang="en-IN" sz="800">
              <a:solidFill>
                <a:prstClr val="black"/>
              </a:solidFill>
              <a:latin typeface="Verdana"/>
            </a:endParaRPr>
          </a:p>
        </p:txBody>
      </p:sp>
      <p:grpSp>
        <p:nvGrpSpPr>
          <p:cNvPr id="132" name="Group 131">
            <a:extLst>
              <a:ext uri="{FF2B5EF4-FFF2-40B4-BE49-F238E27FC236}">
                <a16:creationId xmlns:a16="http://schemas.microsoft.com/office/drawing/2014/main" id="{8DE28539-13F4-D2A0-F4D9-9445AB84534D}"/>
              </a:ext>
            </a:extLst>
          </p:cNvPr>
          <p:cNvGrpSpPr/>
          <p:nvPr/>
        </p:nvGrpSpPr>
        <p:grpSpPr>
          <a:xfrm>
            <a:off x="6620199" y="3650505"/>
            <a:ext cx="5000485" cy="991610"/>
            <a:chOff x="5567680" y="1777535"/>
            <a:chExt cx="3212784" cy="1738734"/>
          </a:xfrm>
          <a:solidFill>
            <a:srgbClr val="86BC25"/>
          </a:solidFill>
        </p:grpSpPr>
        <p:sp>
          <p:nvSpPr>
            <p:cNvPr id="133" name="Rectangle 132">
              <a:extLst>
                <a:ext uri="{FF2B5EF4-FFF2-40B4-BE49-F238E27FC236}">
                  <a16:creationId xmlns:a16="http://schemas.microsoft.com/office/drawing/2014/main" id="{9C6844FA-52AF-AC7C-BFEB-D4176688B095}"/>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Pros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4" name="Rectangle 133">
              <a:extLst>
                <a:ext uri="{FF2B5EF4-FFF2-40B4-BE49-F238E27FC236}">
                  <a16:creationId xmlns:a16="http://schemas.microsoft.com/office/drawing/2014/main" id="{87CFA36A-A73A-8AB3-A1E2-23DFCAA406CB}"/>
                </a:ext>
              </a:extLst>
            </p:cNvPr>
            <p:cNvSpPr/>
            <p:nvPr/>
          </p:nvSpPr>
          <p:spPr>
            <a:xfrm>
              <a:off x="6680473" y="1777535"/>
              <a:ext cx="2099991" cy="1738734"/>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Ready land and basic infrastructure at the outset</a:t>
              </a:r>
            </a:p>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Shorter TAT for project execution</a:t>
              </a:r>
            </a:p>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Deemed tariff approval by Regulator u/s 63 of EA 2003</a:t>
              </a:r>
              <a:endParaRPr lang="en-IN" sz="1000" dirty="0">
                <a:solidFill>
                  <a:srgbClr val="000000"/>
                </a:solidFill>
                <a:latin typeface="Verdana" panose="020B0604030504040204" pitchFamily="34" charset="0"/>
                <a:ea typeface="Verdana" panose="020B0604030504040204" pitchFamily="34" charset="0"/>
              </a:endParaRPr>
            </a:p>
          </p:txBody>
        </p:sp>
      </p:grpSp>
      <p:grpSp>
        <p:nvGrpSpPr>
          <p:cNvPr id="135" name="Group 134">
            <a:extLst>
              <a:ext uri="{FF2B5EF4-FFF2-40B4-BE49-F238E27FC236}">
                <a16:creationId xmlns:a16="http://schemas.microsoft.com/office/drawing/2014/main" id="{7AE0A8EA-57D2-DB55-0703-24CB2395E319}"/>
              </a:ext>
            </a:extLst>
          </p:cNvPr>
          <p:cNvGrpSpPr/>
          <p:nvPr/>
        </p:nvGrpSpPr>
        <p:grpSpPr>
          <a:xfrm>
            <a:off x="6620199" y="4757735"/>
            <a:ext cx="5000485" cy="981741"/>
            <a:chOff x="5567680" y="1777535"/>
            <a:chExt cx="3212784" cy="1738734"/>
          </a:xfrm>
          <a:solidFill>
            <a:srgbClr val="86BC25"/>
          </a:solidFill>
        </p:grpSpPr>
        <p:sp>
          <p:nvSpPr>
            <p:cNvPr id="136" name="Rectangle 135">
              <a:extLst>
                <a:ext uri="{FF2B5EF4-FFF2-40B4-BE49-F238E27FC236}">
                  <a16:creationId xmlns:a16="http://schemas.microsoft.com/office/drawing/2014/main" id="{73BAF641-B0DC-AE19-6A71-16A013E7DD68}"/>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Cons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7" name="Rectangle 136">
              <a:extLst>
                <a:ext uri="{FF2B5EF4-FFF2-40B4-BE49-F238E27FC236}">
                  <a16:creationId xmlns:a16="http://schemas.microsoft.com/office/drawing/2014/main" id="{3A0679B8-08A6-846D-633C-44B63C325CF3}"/>
                </a:ext>
              </a:extLst>
            </p:cNvPr>
            <p:cNvSpPr/>
            <p:nvPr/>
          </p:nvSpPr>
          <p:spPr>
            <a:xfrm>
              <a:off x="6680473" y="1777535"/>
              <a:ext cx="2099991" cy="1738734"/>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Fund requirement may be on lower side</a:t>
              </a:r>
            </a:p>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Risk on part of state government since responsibility of solar park infrastructure and  connectivity/ power evacuation on part of govt. utility/ SPPD</a:t>
              </a:r>
            </a:p>
          </p:txBody>
        </p:sp>
      </p:grpSp>
      <p:grpSp>
        <p:nvGrpSpPr>
          <p:cNvPr id="9" name="Group 8">
            <a:extLst>
              <a:ext uri="{FF2B5EF4-FFF2-40B4-BE49-F238E27FC236}">
                <a16:creationId xmlns:a16="http://schemas.microsoft.com/office/drawing/2014/main" id="{F3195B8A-FCEA-9A5A-67F0-96E6B5D1DAAE}"/>
              </a:ext>
            </a:extLst>
          </p:cNvPr>
          <p:cNvGrpSpPr/>
          <p:nvPr/>
        </p:nvGrpSpPr>
        <p:grpSpPr>
          <a:xfrm>
            <a:off x="630312" y="1423438"/>
            <a:ext cx="5653210" cy="3645586"/>
            <a:chOff x="630312" y="1423438"/>
            <a:chExt cx="5653210" cy="3645586"/>
          </a:xfrm>
        </p:grpSpPr>
        <p:grpSp>
          <p:nvGrpSpPr>
            <p:cNvPr id="6" name="Group 5">
              <a:extLst>
                <a:ext uri="{FF2B5EF4-FFF2-40B4-BE49-F238E27FC236}">
                  <a16:creationId xmlns:a16="http://schemas.microsoft.com/office/drawing/2014/main" id="{7130F629-27D4-BB76-3735-AE3A5241C83B}"/>
                </a:ext>
              </a:extLst>
            </p:cNvPr>
            <p:cNvGrpSpPr/>
            <p:nvPr/>
          </p:nvGrpSpPr>
          <p:grpSpPr>
            <a:xfrm>
              <a:off x="630312" y="1423438"/>
              <a:ext cx="5653210" cy="3553207"/>
              <a:chOff x="1034143" y="1585374"/>
              <a:chExt cx="5583494" cy="3711483"/>
            </a:xfrm>
          </p:grpSpPr>
          <p:sp>
            <p:nvSpPr>
              <p:cNvPr id="52" name="Rectangle 51">
                <a:extLst>
                  <a:ext uri="{FF2B5EF4-FFF2-40B4-BE49-F238E27FC236}">
                    <a16:creationId xmlns:a16="http://schemas.microsoft.com/office/drawing/2014/main" id="{ECAC7E12-7D45-81F7-54A3-5635B5812B1C}"/>
                  </a:ext>
                </a:extLst>
              </p:cNvPr>
              <p:cNvSpPr/>
              <p:nvPr/>
            </p:nvSpPr>
            <p:spPr>
              <a:xfrm>
                <a:off x="3417177" y="1585374"/>
                <a:ext cx="1426751" cy="567577"/>
              </a:xfrm>
              <a:prstGeom prst="rect">
                <a:avLst/>
              </a:prstGeom>
              <a:solidFill>
                <a:srgbClr val="009A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Utility</a:t>
                </a:r>
                <a:endParaRPr kumimoji="0" lang="en-IN" sz="9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3" name="Rectangle 52">
                <a:extLst>
                  <a:ext uri="{FF2B5EF4-FFF2-40B4-BE49-F238E27FC236}">
                    <a16:creationId xmlns:a16="http://schemas.microsoft.com/office/drawing/2014/main" id="{EDDEDF5A-83DE-BC2E-6F09-0A41838F9C53}"/>
                  </a:ext>
                </a:extLst>
              </p:cNvPr>
              <p:cNvSpPr/>
              <p:nvPr/>
            </p:nvSpPr>
            <p:spPr>
              <a:xfrm>
                <a:off x="3540834" y="3165345"/>
                <a:ext cx="1299729" cy="450937"/>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Independent Power Producer</a:t>
                </a:r>
                <a:endParaRPr kumimoji="0" lang="en-IN" sz="9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4" name="Rectangle 53">
                <a:extLst>
                  <a:ext uri="{FF2B5EF4-FFF2-40B4-BE49-F238E27FC236}">
                    <a16:creationId xmlns:a16="http://schemas.microsoft.com/office/drawing/2014/main" id="{43A38979-7A99-35F9-5CE2-8D00F5BB9506}"/>
                  </a:ext>
                </a:extLst>
              </p:cNvPr>
              <p:cNvSpPr/>
              <p:nvPr/>
            </p:nvSpPr>
            <p:spPr>
              <a:xfrm>
                <a:off x="5715763" y="3165345"/>
                <a:ext cx="901874" cy="450937"/>
              </a:xfrm>
              <a:prstGeom prst="rect">
                <a:avLst/>
              </a:prstGeom>
              <a:solidFill>
                <a:schemeClr val="accent1"/>
              </a:solid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Bank</a:t>
                </a:r>
                <a:endParaRPr kumimoji="0" lang="en-IN" sz="9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6" name="Rectangle 55">
                <a:extLst>
                  <a:ext uri="{FF2B5EF4-FFF2-40B4-BE49-F238E27FC236}">
                    <a16:creationId xmlns:a16="http://schemas.microsoft.com/office/drawing/2014/main" id="{AE18A83B-D8F0-1E55-B0CB-FBDA2B9F7618}"/>
                  </a:ext>
                </a:extLst>
              </p:cNvPr>
              <p:cNvSpPr/>
              <p:nvPr/>
            </p:nvSpPr>
            <p:spPr>
              <a:xfrm>
                <a:off x="3635530" y="4845920"/>
                <a:ext cx="901874" cy="450937"/>
              </a:xfrm>
              <a:prstGeom prst="rect">
                <a:avLst/>
              </a:prstGeom>
              <a:solidFill>
                <a:srgbClr val="C4D6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Power Plant</a:t>
                </a:r>
                <a:endParaRPr kumimoji="0" lang="en-IN" sz="9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57" name="Straight Arrow Connector 56">
                <a:extLst>
                  <a:ext uri="{FF2B5EF4-FFF2-40B4-BE49-F238E27FC236}">
                    <a16:creationId xmlns:a16="http://schemas.microsoft.com/office/drawing/2014/main" id="{122ACADA-9672-7814-6BD7-6CA4EAB54853}"/>
                  </a:ext>
                </a:extLst>
              </p:cNvPr>
              <p:cNvCxnSpPr/>
              <p:nvPr/>
            </p:nvCxnSpPr>
            <p:spPr>
              <a:xfrm>
                <a:off x="3810895" y="2171142"/>
                <a:ext cx="0" cy="954064"/>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0B8F78D-E578-C2F2-4529-4671E9630A56}"/>
                  </a:ext>
                </a:extLst>
              </p:cNvPr>
              <p:cNvCxnSpPr>
                <a:cxnSpLocks/>
                <a:stCxn id="52" idx="2"/>
              </p:cNvCxnSpPr>
              <p:nvPr/>
            </p:nvCxnSpPr>
            <p:spPr>
              <a:xfrm>
                <a:off x="4130553" y="2152951"/>
                <a:ext cx="0" cy="956628"/>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E857092-79D6-B47A-AD9E-9EFAD1FFC404}"/>
                  </a:ext>
                </a:extLst>
              </p:cNvPr>
              <p:cNvCxnSpPr>
                <a:cxnSpLocks/>
              </p:cNvCxnSpPr>
              <p:nvPr/>
            </p:nvCxnSpPr>
            <p:spPr>
              <a:xfrm flipV="1">
                <a:off x="4537404" y="2138884"/>
                <a:ext cx="0" cy="967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8C900AE2-DC15-4CA7-CD2D-9E54D8BA051B}"/>
                  </a:ext>
                </a:extLst>
              </p:cNvPr>
              <p:cNvSpPr/>
              <p:nvPr/>
            </p:nvSpPr>
            <p:spPr>
              <a:xfrm>
                <a:off x="3417177" y="2559467"/>
                <a:ext cx="436706"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PPA</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2" name="Rectangle 61">
                <a:extLst>
                  <a:ext uri="{FF2B5EF4-FFF2-40B4-BE49-F238E27FC236}">
                    <a16:creationId xmlns:a16="http://schemas.microsoft.com/office/drawing/2014/main" id="{0BA1469E-51BD-0D30-B7C2-E66C9A1FFA78}"/>
                  </a:ext>
                </a:extLst>
              </p:cNvPr>
              <p:cNvSpPr/>
              <p:nvPr/>
            </p:nvSpPr>
            <p:spPr>
              <a:xfrm>
                <a:off x="4042967" y="2640853"/>
                <a:ext cx="547584" cy="334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Tariff</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3" name="Rectangle 62">
                <a:extLst>
                  <a:ext uri="{FF2B5EF4-FFF2-40B4-BE49-F238E27FC236}">
                    <a16:creationId xmlns:a16="http://schemas.microsoft.com/office/drawing/2014/main" id="{AA675E35-B62B-F438-41DB-CF8B3691CE18}"/>
                  </a:ext>
                </a:extLst>
              </p:cNvPr>
              <p:cNvSpPr/>
              <p:nvPr/>
            </p:nvSpPr>
            <p:spPr>
              <a:xfrm>
                <a:off x="4496768" y="2278674"/>
                <a:ext cx="631534"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Energy</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28" name="Straight Arrow Connector 127">
                <a:extLst>
                  <a:ext uri="{FF2B5EF4-FFF2-40B4-BE49-F238E27FC236}">
                    <a16:creationId xmlns:a16="http://schemas.microsoft.com/office/drawing/2014/main" id="{B59FFC40-AB8C-8043-B205-98F1F59283CB}"/>
                  </a:ext>
                </a:extLst>
              </p:cNvPr>
              <p:cNvCxnSpPr/>
              <p:nvPr/>
            </p:nvCxnSpPr>
            <p:spPr>
              <a:xfrm flipH="1">
                <a:off x="4828951" y="3253399"/>
                <a:ext cx="886813" cy="0"/>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8CB3FB71-2D9A-EFAA-0BD4-649095E5BE07}"/>
                  </a:ext>
                </a:extLst>
              </p:cNvPr>
              <p:cNvCxnSpPr/>
              <p:nvPr/>
            </p:nvCxnSpPr>
            <p:spPr>
              <a:xfrm>
                <a:off x="4828951" y="3522617"/>
                <a:ext cx="890412" cy="0"/>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626C55E0-A1B7-189C-5CB1-4B41841D151F}"/>
                  </a:ext>
                </a:extLst>
              </p:cNvPr>
              <p:cNvSpPr/>
              <p:nvPr/>
            </p:nvSpPr>
            <p:spPr>
              <a:xfrm>
                <a:off x="4922530" y="3547417"/>
                <a:ext cx="604956"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Debt service</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1" name="Rectangle 130">
                <a:extLst>
                  <a:ext uri="{FF2B5EF4-FFF2-40B4-BE49-F238E27FC236}">
                    <a16:creationId xmlns:a16="http://schemas.microsoft.com/office/drawing/2014/main" id="{BE97033C-CE4D-1B0A-85F7-2AF87DC43319}"/>
                  </a:ext>
                </a:extLst>
              </p:cNvPr>
              <p:cNvSpPr/>
              <p:nvPr/>
            </p:nvSpPr>
            <p:spPr>
              <a:xfrm>
                <a:off x="4877730" y="3021788"/>
                <a:ext cx="778944"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Debt</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45" name="Straight Arrow Connector 144">
                <a:extLst>
                  <a:ext uri="{FF2B5EF4-FFF2-40B4-BE49-F238E27FC236}">
                    <a16:creationId xmlns:a16="http://schemas.microsoft.com/office/drawing/2014/main" id="{0AF5F88E-0EFF-33EA-7D08-B42FB00A2D04}"/>
                  </a:ext>
                </a:extLst>
              </p:cNvPr>
              <p:cNvCxnSpPr/>
              <p:nvPr/>
            </p:nvCxnSpPr>
            <p:spPr>
              <a:xfrm>
                <a:off x="3853883" y="3616281"/>
                <a:ext cx="0" cy="1229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1A32DF24-CF10-5D29-EFE1-152A085DB646}"/>
                  </a:ext>
                </a:extLst>
              </p:cNvPr>
              <p:cNvCxnSpPr/>
              <p:nvPr/>
            </p:nvCxnSpPr>
            <p:spPr>
              <a:xfrm flipV="1">
                <a:off x="4316760" y="3616281"/>
                <a:ext cx="0" cy="1229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Rectangle 146">
                <a:extLst>
                  <a:ext uri="{FF2B5EF4-FFF2-40B4-BE49-F238E27FC236}">
                    <a16:creationId xmlns:a16="http://schemas.microsoft.com/office/drawing/2014/main" id="{526758CE-157C-3CBF-ED19-8FDA8FE61A9F}"/>
                  </a:ext>
                </a:extLst>
              </p:cNvPr>
              <p:cNvSpPr/>
              <p:nvPr/>
            </p:nvSpPr>
            <p:spPr>
              <a:xfrm>
                <a:off x="3428968" y="4352151"/>
                <a:ext cx="514169"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Own</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8" name="Rectangle 147">
                <a:extLst>
                  <a:ext uri="{FF2B5EF4-FFF2-40B4-BE49-F238E27FC236}">
                    <a16:creationId xmlns:a16="http://schemas.microsoft.com/office/drawing/2014/main" id="{4C681266-5EB8-262F-FF98-7E28C2D22EBF}"/>
                  </a:ext>
                </a:extLst>
              </p:cNvPr>
              <p:cNvSpPr/>
              <p:nvPr/>
            </p:nvSpPr>
            <p:spPr>
              <a:xfrm>
                <a:off x="3771910" y="3672050"/>
                <a:ext cx="623928" cy="287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Energy</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50" name="Straight Arrow Connector 149">
                <a:extLst>
                  <a:ext uri="{FF2B5EF4-FFF2-40B4-BE49-F238E27FC236}">
                    <a16:creationId xmlns:a16="http://schemas.microsoft.com/office/drawing/2014/main" id="{DC255A18-FE14-480A-0E36-DC09D79DBF98}"/>
                  </a:ext>
                </a:extLst>
              </p:cNvPr>
              <p:cNvCxnSpPr/>
              <p:nvPr/>
            </p:nvCxnSpPr>
            <p:spPr>
              <a:xfrm>
                <a:off x="2545382" y="3230489"/>
                <a:ext cx="8904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78951553-6BF1-14F0-F069-A065705E493C}"/>
                  </a:ext>
                </a:extLst>
              </p:cNvPr>
              <p:cNvSpPr/>
              <p:nvPr/>
            </p:nvSpPr>
            <p:spPr>
              <a:xfrm>
                <a:off x="2417596" y="3232485"/>
                <a:ext cx="1054074" cy="3539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Land, Basic Facilities</a:t>
                </a:r>
                <a:endParaRPr kumimoji="0" lang="en-IN"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53" name="Rectangle 152">
                <a:extLst>
                  <a:ext uri="{FF2B5EF4-FFF2-40B4-BE49-F238E27FC236}">
                    <a16:creationId xmlns:a16="http://schemas.microsoft.com/office/drawing/2014/main" id="{55B4EAF4-7416-9EFF-E490-9B179888B4AB}"/>
                  </a:ext>
                </a:extLst>
              </p:cNvPr>
              <p:cNvSpPr/>
              <p:nvPr/>
            </p:nvSpPr>
            <p:spPr>
              <a:xfrm>
                <a:off x="1034143" y="3196137"/>
                <a:ext cx="1442075" cy="467101"/>
              </a:xfrm>
              <a:prstGeom prst="rect">
                <a:avLst/>
              </a:prstGeom>
              <a:solidFill>
                <a:schemeClr val="accent4">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Solar Power Park Developer (SPPD)</a:t>
                </a:r>
                <a:endParaRPr kumimoji="0" lang="en-IN"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67" name="Straight Arrow Connector 166">
                <a:extLst>
                  <a:ext uri="{FF2B5EF4-FFF2-40B4-BE49-F238E27FC236}">
                    <a16:creationId xmlns:a16="http://schemas.microsoft.com/office/drawing/2014/main" id="{54FB1590-1B4F-5B94-36DD-671787983B9C}"/>
                  </a:ext>
                </a:extLst>
              </p:cNvPr>
              <p:cNvCxnSpPr>
                <a:cxnSpLocks/>
              </p:cNvCxnSpPr>
              <p:nvPr/>
            </p:nvCxnSpPr>
            <p:spPr>
              <a:xfrm flipH="1">
                <a:off x="2479308" y="3611820"/>
                <a:ext cx="1061526" cy="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68" name="Rectangle 167">
                <a:extLst>
                  <a:ext uri="{FF2B5EF4-FFF2-40B4-BE49-F238E27FC236}">
                    <a16:creationId xmlns:a16="http://schemas.microsoft.com/office/drawing/2014/main" id="{9E53D877-5A91-C3EB-B5D6-3BADD85DC10C}"/>
                  </a:ext>
                </a:extLst>
              </p:cNvPr>
              <p:cNvSpPr/>
              <p:nvPr/>
            </p:nvSpPr>
            <p:spPr>
              <a:xfrm>
                <a:off x="2412337" y="3614391"/>
                <a:ext cx="1010579" cy="2363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ISA</a:t>
                </a:r>
                <a:endParaRPr kumimoji="0" lang="en-IN"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12" name="Group 11">
              <a:extLst>
                <a:ext uri="{FF2B5EF4-FFF2-40B4-BE49-F238E27FC236}">
                  <a16:creationId xmlns:a16="http://schemas.microsoft.com/office/drawing/2014/main" id="{9613A74F-3456-117C-B92F-56564D73102F}"/>
                </a:ext>
              </a:extLst>
            </p:cNvPr>
            <p:cNvGrpSpPr/>
            <p:nvPr/>
          </p:nvGrpSpPr>
          <p:grpSpPr>
            <a:xfrm>
              <a:off x="968463" y="3811162"/>
              <a:ext cx="1587948" cy="1257862"/>
              <a:chOff x="968463" y="3811162"/>
              <a:chExt cx="1587948" cy="1257862"/>
            </a:xfrm>
          </p:grpSpPr>
          <p:sp>
            <p:nvSpPr>
              <p:cNvPr id="7" name="Rectangle 6">
                <a:extLst>
                  <a:ext uri="{FF2B5EF4-FFF2-40B4-BE49-F238E27FC236}">
                    <a16:creationId xmlns:a16="http://schemas.microsoft.com/office/drawing/2014/main" id="{135F6B41-6CC5-6405-C1ED-7358C8279DBD}"/>
                  </a:ext>
                </a:extLst>
              </p:cNvPr>
              <p:cNvSpPr/>
              <p:nvPr/>
            </p:nvSpPr>
            <p:spPr bwMode="gray">
              <a:xfrm>
                <a:off x="968463" y="3811162"/>
                <a:ext cx="1552706" cy="1257862"/>
              </a:xfrm>
              <a:prstGeom prst="rect">
                <a:avLst/>
              </a:prstGeom>
              <a:no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r>
                  <a:rPr lang="en-US" sz="1200" b="1" dirty="0">
                    <a:solidFill>
                      <a:sysClr val="windowText" lastClr="000000"/>
                    </a:solidFill>
                    <a:latin typeface="Verdana" panose="020B0604030504040204" pitchFamily="34" charset="0"/>
                    <a:ea typeface="Verdana" panose="020B0604030504040204" pitchFamily="34" charset="0"/>
                  </a:rPr>
                  <a:t>Legend: </a:t>
                </a:r>
              </a:p>
            </p:txBody>
          </p:sp>
          <p:sp>
            <p:nvSpPr>
              <p:cNvPr id="17" name="Rectangle 16">
                <a:extLst>
                  <a:ext uri="{FF2B5EF4-FFF2-40B4-BE49-F238E27FC236}">
                    <a16:creationId xmlns:a16="http://schemas.microsoft.com/office/drawing/2014/main" id="{43D6A9EA-A95B-1FD9-37F9-38FFE66ED6C6}"/>
                  </a:ext>
                </a:extLst>
              </p:cNvPr>
              <p:cNvSpPr/>
              <p:nvPr/>
            </p:nvSpPr>
            <p:spPr>
              <a:xfrm>
                <a:off x="1578641" y="3956382"/>
                <a:ext cx="812725" cy="5170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Financial</a:t>
                </a:r>
                <a:endParaRPr kumimoji="0" lang="en-IN"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20" name="Straight Arrow Connector 19">
                <a:extLst>
                  <a:ext uri="{FF2B5EF4-FFF2-40B4-BE49-F238E27FC236}">
                    <a16:creationId xmlns:a16="http://schemas.microsoft.com/office/drawing/2014/main" id="{E7C2808D-3925-08D5-960C-0428400C57F3}"/>
                  </a:ext>
                </a:extLst>
              </p:cNvPr>
              <p:cNvCxnSpPr>
                <a:cxnSpLocks/>
              </p:cNvCxnSpPr>
              <p:nvPr/>
            </p:nvCxnSpPr>
            <p:spPr>
              <a:xfrm>
                <a:off x="1167871" y="4211957"/>
                <a:ext cx="459612" cy="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3D12B56-528F-E1EF-49C0-54AEA6CD1D30}"/>
                  </a:ext>
                </a:extLst>
              </p:cNvPr>
              <p:cNvCxnSpPr>
                <a:cxnSpLocks/>
              </p:cNvCxnSpPr>
              <p:nvPr/>
            </p:nvCxnSpPr>
            <p:spPr>
              <a:xfrm>
                <a:off x="1136412" y="4492916"/>
                <a:ext cx="528039" cy="0"/>
              </a:xfrm>
              <a:prstGeom prst="straightConnector1">
                <a:avLst/>
              </a:prstGeom>
              <a:ln w="28575">
                <a:solidFill>
                  <a:schemeClr val="tx1">
                    <a:lumMod val="75000"/>
                    <a:lumOff val="2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4478B7C-43D1-3B0F-3EAE-2B5B34B54320}"/>
                  </a:ext>
                </a:extLst>
              </p:cNvPr>
              <p:cNvSpPr/>
              <p:nvPr/>
            </p:nvSpPr>
            <p:spPr>
              <a:xfrm>
                <a:off x="1617806" y="4280442"/>
                <a:ext cx="938605" cy="4487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Commercial</a:t>
                </a:r>
                <a:endParaRPr kumimoji="0" lang="en-IN" sz="9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4" name="Rectangle 3">
              <a:extLst>
                <a:ext uri="{FF2B5EF4-FFF2-40B4-BE49-F238E27FC236}">
                  <a16:creationId xmlns:a16="http://schemas.microsoft.com/office/drawing/2014/main" id="{BC3D9AA7-4F0D-DD65-EDF4-47DB0EAB53E9}"/>
                </a:ext>
              </a:extLst>
            </p:cNvPr>
            <p:cNvSpPr/>
            <p:nvPr/>
          </p:nvSpPr>
          <p:spPr>
            <a:xfrm>
              <a:off x="825083" y="1523611"/>
              <a:ext cx="1064125" cy="450937"/>
            </a:xfrm>
            <a:prstGeom prst="rect">
              <a:avLst/>
            </a:prstGeom>
            <a:solidFill>
              <a:schemeClr val="tx2">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State Govt.</a:t>
              </a:r>
              <a:endParaRPr kumimoji="0" lang="en-IN" sz="10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1" name="Straight Arrow Connector 10">
              <a:extLst>
                <a:ext uri="{FF2B5EF4-FFF2-40B4-BE49-F238E27FC236}">
                  <a16:creationId xmlns:a16="http://schemas.microsoft.com/office/drawing/2014/main" id="{F373B5D6-0613-D17C-03CE-12B481B037F4}"/>
                </a:ext>
              </a:extLst>
            </p:cNvPr>
            <p:cNvCxnSpPr>
              <a:cxnSpLocks/>
              <a:stCxn id="4" idx="2"/>
              <a:endCxn id="153" idx="0"/>
            </p:cNvCxnSpPr>
            <p:nvPr/>
          </p:nvCxnSpPr>
          <p:spPr>
            <a:xfrm>
              <a:off x="1357146" y="1974548"/>
              <a:ext cx="3207" cy="990962"/>
            </a:xfrm>
            <a:prstGeom prst="straightConnector1">
              <a:avLst/>
            </a:prstGeom>
            <a:ln w="19050">
              <a:solidFill>
                <a:srgbClr val="009A44"/>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403EB43-2F15-F48A-D53C-11FE2630DB46}"/>
                </a:ext>
              </a:extLst>
            </p:cNvPr>
            <p:cNvSpPr/>
            <p:nvPr/>
          </p:nvSpPr>
          <p:spPr>
            <a:xfrm>
              <a:off x="1272199" y="2268373"/>
              <a:ext cx="1067235" cy="364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Land lease charges and solar park charges through grant via state govt.</a:t>
              </a:r>
              <a:endParaRPr kumimoji="0" lang="en-IN"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21" name="TextBox 20">
            <a:extLst>
              <a:ext uri="{FF2B5EF4-FFF2-40B4-BE49-F238E27FC236}">
                <a16:creationId xmlns:a16="http://schemas.microsoft.com/office/drawing/2014/main" id="{CFBB5FC6-D3E7-78CC-26DE-8F5D4CADF2C6}"/>
              </a:ext>
            </a:extLst>
          </p:cNvPr>
          <p:cNvSpPr txBox="1"/>
          <p:nvPr/>
        </p:nvSpPr>
        <p:spPr>
          <a:xfrm>
            <a:off x="721022" y="6216161"/>
            <a:ext cx="5840672" cy="246221"/>
          </a:xfrm>
          <a:prstGeom prst="rect">
            <a:avLst/>
          </a:prstGeom>
          <a:noFill/>
        </p:spPr>
        <p:txBody>
          <a:bodyPr wrap="square">
            <a:spAutoFit/>
          </a:bodyPr>
          <a:lstStyle/>
          <a:p>
            <a:pPr marR="0" lvl="0" algn="just" defTabSz="457200" rtl="0" eaLnBrk="1" fontAlgn="auto" latinLnBrk="0" hangingPunct="1">
              <a:lnSpc>
                <a:spcPct val="100000"/>
              </a:lnSpc>
              <a:spcBef>
                <a:spcPts val="0"/>
              </a:spcBef>
              <a:spcAft>
                <a:spcPts val="600"/>
              </a:spcAft>
              <a:buClrTx/>
              <a:buSzTx/>
              <a:tabLst/>
              <a:defRPr/>
            </a:pPr>
            <a:r>
              <a:rPr lang="en-US" sz="1000" b="1" dirty="0">
                <a:solidFill>
                  <a:schemeClr val="tx1"/>
                </a:solidFill>
                <a:latin typeface="Verdana" panose="020B0604030504040204" pitchFamily="34" charset="0"/>
                <a:ea typeface="Verdana" panose="020B0604030504040204" pitchFamily="34" charset="0"/>
                <a:cs typeface="Verdana" panose="020B0604030504040204" pitchFamily="34" charset="0"/>
              </a:rPr>
              <a:t>Use case:</a:t>
            </a: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rPr>
              <a:t> State-wise details of solar parks  provided in </a:t>
            </a:r>
            <a:r>
              <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hlinkClick r:id="rId6" action="ppaction://hlinksldjump"/>
              </a:rPr>
              <a:t>Annexure</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24" name="Graphic 23" descr="Right pointing backhand index with solid fill">
            <a:extLst>
              <a:ext uri="{FF2B5EF4-FFF2-40B4-BE49-F238E27FC236}">
                <a16:creationId xmlns:a16="http://schemas.microsoft.com/office/drawing/2014/main" id="{A537FA00-663F-D353-4800-D70EE472BC5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1481" y="5145883"/>
            <a:ext cx="461050" cy="461050"/>
          </a:xfrm>
          <a:prstGeom prst="rect">
            <a:avLst/>
          </a:prstGeom>
        </p:spPr>
      </p:pic>
      <p:sp>
        <p:nvSpPr>
          <p:cNvPr id="2" name="Arrow: Right 1">
            <a:hlinkClick r:id="rId9" action="ppaction://hlinksldjump"/>
            <a:extLst>
              <a:ext uri="{FF2B5EF4-FFF2-40B4-BE49-F238E27FC236}">
                <a16:creationId xmlns:a16="http://schemas.microsoft.com/office/drawing/2014/main" id="{299275E8-9A4F-F5FE-3EE1-4373E5B138F9}"/>
              </a:ext>
            </a:extLst>
          </p:cNvPr>
          <p:cNvSpPr/>
          <p:nvPr/>
        </p:nvSpPr>
        <p:spPr bwMode="gray">
          <a:xfrm rot="10800000" flipV="1">
            <a:off x="10828730" y="6284901"/>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9" action="ppaction://hlinksldjump"/>
              </a:rPr>
              <a:t>Back</a:t>
            </a:r>
            <a:endParaRPr lang="en-US" sz="1000" b="1" dirty="0">
              <a:solidFill>
                <a:schemeClr val="bg1"/>
              </a:solidFill>
            </a:endParaRPr>
          </a:p>
        </p:txBody>
      </p:sp>
      <p:sp>
        <p:nvSpPr>
          <p:cNvPr id="3" name="Rectangle 2">
            <a:extLst>
              <a:ext uri="{FF2B5EF4-FFF2-40B4-BE49-F238E27FC236}">
                <a16:creationId xmlns:a16="http://schemas.microsoft.com/office/drawing/2014/main" id="{A3087D17-5CC6-1D5B-1D2A-72EA426DC440}"/>
              </a:ext>
            </a:extLst>
          </p:cNvPr>
          <p:cNvSpPr/>
          <p:nvPr/>
        </p:nvSpPr>
        <p:spPr bwMode="gray">
          <a:xfrm>
            <a:off x="630312" y="5069024"/>
            <a:ext cx="5840671" cy="1085593"/>
          </a:xfrm>
          <a:prstGeom prst="rect">
            <a:avLst/>
          </a:prstGeom>
          <a:solidFill>
            <a:srgbClr val="DDEFE8"/>
          </a:solidFill>
          <a:ln w="19050" algn="ctr">
            <a:noFill/>
            <a:prstDash val="dash"/>
            <a:miter lim="800000"/>
            <a:headEnd/>
            <a:tailEnd/>
          </a:ln>
        </p:spPr>
        <p:txBody>
          <a:bodyPr wrap="square" lIns="88900" tIns="88900" rIns="88900" bIns="88900" rtlCol="0" anchor="ctr"/>
          <a:lstStyle/>
          <a:p>
            <a:pPr algn="just">
              <a:lnSpc>
                <a:spcPct val="106000"/>
              </a:lnSpc>
            </a:pPr>
            <a:r>
              <a:rPr lang="en-US" sz="1100" dirty="0"/>
              <a:t>As per available DPR, solar park infrastructure and connectivity related costs , add up to ~</a:t>
            </a:r>
            <a:r>
              <a:rPr lang="en-US" sz="1100" b="1" dirty="0"/>
              <a:t>Rs 847 Cr </a:t>
            </a:r>
            <a:r>
              <a:rPr lang="en-US" sz="1100" dirty="0"/>
              <a:t>(incl GST)</a:t>
            </a:r>
            <a:r>
              <a:rPr lang="en-US" sz="1100" b="1" dirty="0"/>
              <a:t> (~USD 102 Mn) which pro-rated for 250 MW can be estimated at ~ 282 Cr </a:t>
            </a:r>
            <a:r>
              <a:rPr lang="en-US" sz="1100" dirty="0"/>
              <a:t>(incl. GST) </a:t>
            </a:r>
            <a:r>
              <a:rPr lang="en-US" sz="1100" b="1" dirty="0"/>
              <a:t>(~USD 34 Mn)</a:t>
            </a:r>
            <a:endParaRPr lang="en-US" sz="1100" dirty="0"/>
          </a:p>
          <a:p>
            <a:pPr algn="just">
              <a:lnSpc>
                <a:spcPct val="106000"/>
              </a:lnSpc>
            </a:pPr>
            <a:endParaRPr lang="en-US" sz="1100" b="1" dirty="0"/>
          </a:p>
          <a:p>
            <a:pPr algn="ctr">
              <a:lnSpc>
                <a:spcPct val="106000"/>
              </a:lnSpc>
            </a:pPr>
            <a:r>
              <a:rPr lang="en-US" sz="1100" b="1" dirty="0">
                <a:highlight>
                  <a:srgbClr val="E3E48D"/>
                </a:highlight>
              </a:rPr>
              <a:t>Indicative fund utilization opportunity : ~ Rs. 282 Cr i.e. ~USD 34 Mn</a:t>
            </a:r>
            <a:r>
              <a:rPr lang="en-US" sz="1100" b="1" dirty="0"/>
              <a:t>*</a:t>
            </a:r>
          </a:p>
        </p:txBody>
      </p:sp>
      <p:sp>
        <p:nvSpPr>
          <p:cNvPr id="18" name="Rectangle 17">
            <a:extLst>
              <a:ext uri="{FF2B5EF4-FFF2-40B4-BE49-F238E27FC236}">
                <a16:creationId xmlns:a16="http://schemas.microsoft.com/office/drawing/2014/main" id="{3931E977-F462-0468-1C86-BE3CD43D6425}"/>
              </a:ext>
            </a:extLst>
          </p:cNvPr>
          <p:cNvSpPr/>
          <p:nvPr/>
        </p:nvSpPr>
        <p:spPr bwMode="gray">
          <a:xfrm>
            <a:off x="6531116" y="5998834"/>
            <a:ext cx="5179548" cy="346708"/>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100" i="1" dirty="0"/>
              <a:t>*Further opportunity for fund contribution in the form of payment guarantees</a:t>
            </a:r>
            <a:endParaRPr lang="en-US" sz="1100" b="1" i="1" dirty="0">
              <a:highlight>
                <a:srgbClr val="00FF00"/>
              </a:highlight>
            </a:endParaRPr>
          </a:p>
        </p:txBody>
      </p:sp>
      <p:cxnSp>
        <p:nvCxnSpPr>
          <p:cNvPr id="25" name="Straight Connector 24">
            <a:extLst>
              <a:ext uri="{FF2B5EF4-FFF2-40B4-BE49-F238E27FC236}">
                <a16:creationId xmlns:a16="http://schemas.microsoft.com/office/drawing/2014/main" id="{BC62D68E-F832-81B6-94C6-FB8310AFABC8}"/>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DCB6907-ABFD-9A2A-A10E-8F0A57C23E39}"/>
              </a:ext>
            </a:extLst>
          </p:cNvPr>
          <p:cNvSpPr/>
          <p:nvPr/>
        </p:nvSpPr>
        <p:spPr bwMode="gray">
          <a:xfrm>
            <a:off x="6568694" y="6383366"/>
            <a:ext cx="3559312" cy="211533"/>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000" i="1" dirty="0"/>
              <a:t>Note: USD/INR exchange rate of 83 considered</a:t>
            </a:r>
            <a:endParaRPr lang="en-US" sz="1000" b="1" i="1" dirty="0">
              <a:highlight>
                <a:srgbClr val="00FF00"/>
              </a:highlight>
            </a:endParaRPr>
          </a:p>
        </p:txBody>
      </p:sp>
    </p:spTree>
    <p:extLst>
      <p:ext uri="{BB962C8B-B14F-4D97-AF65-F5344CB8AC3E}">
        <p14:creationId xmlns:p14="http://schemas.microsoft.com/office/powerpoint/2010/main" val="4235830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1F60B1E4-88F9-5A27-8D90-E5B4937C5B24}"/>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State Govt. guarantee as part of payment security mechanism to minimize payment risks for the project  </a:t>
            </a:r>
          </a:p>
        </p:txBody>
      </p:sp>
      <p:sp>
        <p:nvSpPr>
          <p:cNvPr id="10" name="Title 2">
            <a:extLst>
              <a:ext uri="{FF2B5EF4-FFF2-40B4-BE49-F238E27FC236}">
                <a16:creationId xmlns:a16="http://schemas.microsoft.com/office/drawing/2014/main" id="{230778C4-12F7-B010-6A93-841EAAB522F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Case-Study: Three tier payment security mechanism as adopted by RUMSL</a:t>
            </a:r>
          </a:p>
        </p:txBody>
      </p:sp>
      <p:cxnSp>
        <p:nvCxnSpPr>
          <p:cNvPr id="13" name="Straight Connector 12">
            <a:extLst>
              <a:ext uri="{FF2B5EF4-FFF2-40B4-BE49-F238E27FC236}">
                <a16:creationId xmlns:a16="http://schemas.microsoft.com/office/drawing/2014/main" id="{74F6AB2A-E750-8EA7-5E51-1FAD08C528B4}"/>
              </a:ext>
            </a:extLst>
          </p:cNvPr>
          <p:cNvCxnSpPr/>
          <p:nvPr/>
        </p:nvCxnSpPr>
        <p:spPr>
          <a:xfrm>
            <a:off x="895075" y="1085737"/>
            <a:ext cx="5031524" cy="0"/>
          </a:xfrm>
          <a:prstGeom prst="line">
            <a:avLst/>
          </a:prstGeom>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98451258-8ECC-82CC-A14C-5E2A9C43B561}"/>
              </a:ext>
            </a:extLst>
          </p:cNvPr>
          <p:cNvSpPr/>
          <p:nvPr/>
        </p:nvSpPr>
        <p:spPr>
          <a:xfrm>
            <a:off x="2432448" y="892978"/>
            <a:ext cx="1648301"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rgbClr val="000000"/>
                </a:solidFill>
                <a:latin typeface="Verdana" panose="020B0604030504040204" pitchFamily="34" charset="0"/>
                <a:ea typeface="Verdana" panose="020B0604030504040204" pitchFamily="34" charset="0"/>
                <a:cs typeface="Verdana" panose="020B0604030504040204" pitchFamily="34" charset="0"/>
              </a:rPr>
              <a:t>Broad overview</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5" name="Straight Connector 14">
            <a:extLst>
              <a:ext uri="{FF2B5EF4-FFF2-40B4-BE49-F238E27FC236}">
                <a16:creationId xmlns:a16="http://schemas.microsoft.com/office/drawing/2014/main" id="{082A8599-A4C0-F501-B7DB-2EDFFED98079}"/>
              </a:ext>
            </a:extLst>
          </p:cNvPr>
          <p:cNvCxnSpPr/>
          <p:nvPr/>
        </p:nvCxnSpPr>
        <p:spPr>
          <a:xfrm>
            <a:off x="7323938" y="1093090"/>
            <a:ext cx="3212784" cy="0"/>
          </a:xfrm>
          <a:prstGeom prst="line">
            <a:avLst/>
          </a:prstGeom>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802913D4-CECE-2502-0B67-F23A1C32922B}"/>
              </a:ext>
            </a:extLst>
          </p:cNvPr>
          <p:cNvSpPr/>
          <p:nvPr/>
        </p:nvSpPr>
        <p:spPr>
          <a:xfrm>
            <a:off x="8311133" y="1032856"/>
            <a:ext cx="1238393" cy="1495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Key Highlights</a:t>
            </a:r>
            <a:endParaRPr kumimoji="0" lang="en-IN"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34" name="Group 33">
            <a:extLst>
              <a:ext uri="{FF2B5EF4-FFF2-40B4-BE49-F238E27FC236}">
                <a16:creationId xmlns:a16="http://schemas.microsoft.com/office/drawing/2014/main" id="{62AE2CA7-3E3F-DE32-F755-809FF86573B3}"/>
              </a:ext>
            </a:extLst>
          </p:cNvPr>
          <p:cNvGrpSpPr/>
          <p:nvPr/>
        </p:nvGrpSpPr>
        <p:grpSpPr>
          <a:xfrm>
            <a:off x="6514181" y="1396411"/>
            <a:ext cx="5000485" cy="2824210"/>
            <a:chOff x="5567680" y="1777535"/>
            <a:chExt cx="3212784" cy="1738733"/>
          </a:xfrm>
          <a:solidFill>
            <a:srgbClr val="86BC25"/>
          </a:solidFill>
        </p:grpSpPr>
        <p:sp>
          <p:nvSpPr>
            <p:cNvPr id="37" name="Rectangle 36">
              <a:extLst>
                <a:ext uri="{FF2B5EF4-FFF2-40B4-BE49-F238E27FC236}">
                  <a16:creationId xmlns:a16="http://schemas.microsoft.com/office/drawing/2014/main" id="{31C730EC-2E8F-3341-A27E-734C7D244AEB}"/>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Key Features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8" name="Rectangle 37">
              <a:extLst>
                <a:ext uri="{FF2B5EF4-FFF2-40B4-BE49-F238E27FC236}">
                  <a16:creationId xmlns:a16="http://schemas.microsoft.com/office/drawing/2014/main" id="{30B2EE6C-DCA6-4AFD-634E-9BCD55EC4EEE}"/>
                </a:ext>
              </a:extLst>
            </p:cNvPr>
            <p:cNvSpPr/>
            <p:nvPr/>
          </p:nvSpPr>
          <p:spPr>
            <a:xfrm>
              <a:off x="6680473" y="1777535"/>
              <a:ext cx="2099991" cy="1738733"/>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First Tier payment security:</a:t>
              </a:r>
              <a:r>
                <a:rPr kumimoji="0" lang="en-US" sz="1000" b="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Procurer shall set up and maintain in </a:t>
              </a:r>
              <a:r>
                <a:rPr kumimoji="0" lang="en-US" sz="1000" b="0" u="none" strike="noStrike" kern="1200" cap="none" spc="0" normalizeH="0" baseline="0" noProof="0" dirty="0" err="1">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favour</a:t>
              </a:r>
              <a:r>
                <a:rPr kumimoji="0" lang="en-US" sz="1000" b="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of the SPD, a monthly unconditional, revolving and irrevocable Letter of Credit (LC) equivalent to guaranteed energy offtake/12 * Tariff for first 12 months and average of last 12 months billing for subsequent 12 months</a:t>
              </a:r>
            </a:p>
            <a:p>
              <a:pPr marL="88900" marR="0" lvl="0" indent="-88900" algn="just"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Second Tier payment security: </a:t>
              </a: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RUMSL shall set up a Payment Security Fund on behalf of Procurer towards Developer equivalent to 3 months average billing</a:t>
              </a:r>
              <a:endParaRPr kumimoji="0" lang="en-US" sz="1000" b="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88900" indent="-88900" algn="just" defTabSz="457200">
                <a:spcAft>
                  <a:spcPts val="300"/>
                </a:spcAft>
                <a:buFont typeface="Arial" panose="020B0604020202020204" pitchFamily="34" charset="0"/>
                <a:buChar char="•"/>
                <a:defRPr/>
              </a:pPr>
              <a:r>
                <a:rPr kumimoji="0" lang="en-US" sz="1000" b="1"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Third Tier payment security: </a:t>
              </a:r>
              <a:r>
                <a:rPr lang="en-US" sz="1000" dirty="0">
                  <a:solidFill>
                    <a:srgbClr val="000000"/>
                  </a:solidFill>
                  <a:latin typeface="Verdana" panose="020B0604030504040204" pitchFamily="34" charset="0"/>
                  <a:ea typeface="Verdana" panose="020B0604030504040204" pitchFamily="34" charset="0"/>
                  <a:cs typeface="Verdana" panose="020B0604030504040204" pitchFamily="34" charset="0"/>
                </a:rPr>
                <a:t>If first and second tier payment measures fail wherein there is no default on part of developer and wherein the bill is not disputed, state govt. will provide guarantee for payment</a:t>
              </a:r>
            </a:p>
          </p:txBody>
        </p:sp>
      </p:grpSp>
      <p:sp>
        <p:nvSpPr>
          <p:cNvPr id="61" name="TextBox 60">
            <a:extLst>
              <a:ext uri="{FF2B5EF4-FFF2-40B4-BE49-F238E27FC236}">
                <a16:creationId xmlns:a16="http://schemas.microsoft.com/office/drawing/2014/main" id="{DAFA6251-55DE-B9C3-DF8A-B55395A75975}"/>
              </a:ext>
            </a:extLst>
          </p:cNvPr>
          <p:cNvSpPr txBox="1"/>
          <p:nvPr/>
        </p:nvSpPr>
        <p:spPr>
          <a:xfrm>
            <a:off x="2638598" y="6647889"/>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Deloitte Research</a:t>
            </a:r>
            <a:endParaRPr lang="en-IN" sz="800">
              <a:solidFill>
                <a:prstClr val="black"/>
              </a:solidFill>
              <a:latin typeface="Verdana"/>
            </a:endParaRPr>
          </a:p>
        </p:txBody>
      </p:sp>
      <p:grpSp>
        <p:nvGrpSpPr>
          <p:cNvPr id="132" name="Group 131">
            <a:extLst>
              <a:ext uri="{FF2B5EF4-FFF2-40B4-BE49-F238E27FC236}">
                <a16:creationId xmlns:a16="http://schemas.microsoft.com/office/drawing/2014/main" id="{8DE28539-13F4-D2A0-F4D9-9445AB84534D}"/>
              </a:ext>
            </a:extLst>
          </p:cNvPr>
          <p:cNvGrpSpPr/>
          <p:nvPr/>
        </p:nvGrpSpPr>
        <p:grpSpPr>
          <a:xfrm>
            <a:off x="6514181" y="4362747"/>
            <a:ext cx="5000485" cy="700261"/>
            <a:chOff x="5567680" y="1777535"/>
            <a:chExt cx="3212784" cy="1738734"/>
          </a:xfrm>
          <a:solidFill>
            <a:srgbClr val="86BC25"/>
          </a:solidFill>
        </p:grpSpPr>
        <p:sp>
          <p:nvSpPr>
            <p:cNvPr id="133" name="Rectangle 132">
              <a:extLst>
                <a:ext uri="{FF2B5EF4-FFF2-40B4-BE49-F238E27FC236}">
                  <a16:creationId xmlns:a16="http://schemas.microsoft.com/office/drawing/2014/main" id="{9C6844FA-52AF-AC7C-BFEB-D4176688B095}"/>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Pros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4" name="Rectangle 133">
              <a:extLst>
                <a:ext uri="{FF2B5EF4-FFF2-40B4-BE49-F238E27FC236}">
                  <a16:creationId xmlns:a16="http://schemas.microsoft.com/office/drawing/2014/main" id="{87CFA36A-A73A-8AB3-A1E2-23DFCAA406CB}"/>
                </a:ext>
              </a:extLst>
            </p:cNvPr>
            <p:cNvSpPr/>
            <p:nvPr/>
          </p:nvSpPr>
          <p:spPr>
            <a:xfrm>
              <a:off x="6680473" y="1777535"/>
              <a:ext cx="2099991" cy="1738734"/>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Strong payment guarantees would attract best market players for participation</a:t>
              </a:r>
            </a:p>
          </p:txBody>
        </p:sp>
      </p:grpSp>
      <p:grpSp>
        <p:nvGrpSpPr>
          <p:cNvPr id="135" name="Group 134">
            <a:extLst>
              <a:ext uri="{FF2B5EF4-FFF2-40B4-BE49-F238E27FC236}">
                <a16:creationId xmlns:a16="http://schemas.microsoft.com/office/drawing/2014/main" id="{7AE0A8EA-57D2-DB55-0703-24CB2395E319}"/>
              </a:ext>
            </a:extLst>
          </p:cNvPr>
          <p:cNvGrpSpPr/>
          <p:nvPr/>
        </p:nvGrpSpPr>
        <p:grpSpPr>
          <a:xfrm>
            <a:off x="6514181" y="5178213"/>
            <a:ext cx="5000485" cy="357341"/>
            <a:chOff x="5567680" y="1777535"/>
            <a:chExt cx="3212784" cy="1738733"/>
          </a:xfrm>
          <a:solidFill>
            <a:srgbClr val="86BC25"/>
          </a:solidFill>
        </p:grpSpPr>
        <p:sp>
          <p:nvSpPr>
            <p:cNvPr id="136" name="Rectangle 135">
              <a:extLst>
                <a:ext uri="{FF2B5EF4-FFF2-40B4-BE49-F238E27FC236}">
                  <a16:creationId xmlns:a16="http://schemas.microsoft.com/office/drawing/2014/main" id="{73BAF641-B0DC-AE19-6A71-16A013E7DD68}"/>
                </a:ext>
              </a:extLst>
            </p:cNvPr>
            <p:cNvSpPr/>
            <p:nvPr/>
          </p:nvSpPr>
          <p:spPr>
            <a:xfrm>
              <a:off x="5567680" y="1777536"/>
              <a:ext cx="1058308" cy="1738732"/>
            </a:xfrm>
            <a:prstGeom prst="rect">
              <a:avLst/>
            </a:prstGeom>
            <a:grp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Verdana" panose="020B0604030504040204" pitchFamily="34" charset="0"/>
                  <a:ea typeface="Verdana" panose="020B0604030504040204" pitchFamily="34" charset="0"/>
                  <a:cs typeface="Verdana" panose="020B0604030504040204" pitchFamily="34" charset="0"/>
                </a:rPr>
                <a:t>Cons</a:t>
              </a:r>
              <a:endParaRPr kumimoji="0" lang="en-IN"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7" name="Rectangle 136">
              <a:extLst>
                <a:ext uri="{FF2B5EF4-FFF2-40B4-BE49-F238E27FC236}">
                  <a16:creationId xmlns:a16="http://schemas.microsoft.com/office/drawing/2014/main" id="{3A0679B8-08A6-846D-633C-44B63C325CF3}"/>
                </a:ext>
              </a:extLst>
            </p:cNvPr>
            <p:cNvSpPr/>
            <p:nvPr/>
          </p:nvSpPr>
          <p:spPr>
            <a:xfrm>
              <a:off x="6680473" y="1777535"/>
              <a:ext cx="2099991" cy="1738733"/>
            </a:xfrm>
            <a:prstGeom prst="rect">
              <a:avLst/>
            </a:prstGeom>
            <a:solidFill>
              <a:schemeClr val="bg1"/>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88900" indent="-88900" algn="just" defTabSz="457200">
                <a:spcAft>
                  <a:spcPts val="300"/>
                </a:spcAft>
                <a:buFont typeface="Arial" panose="020B0604020202020204" pitchFamily="34" charset="0"/>
                <a:buChar char="•"/>
              </a:pPr>
              <a:r>
                <a:rPr lang="en-US" sz="1000" dirty="0">
                  <a:solidFill>
                    <a:srgbClr val="000000"/>
                  </a:solidFill>
                  <a:latin typeface="Verdana" panose="020B0604030504040204" pitchFamily="34" charset="0"/>
                  <a:ea typeface="Verdana" panose="020B0604030504040204" pitchFamily="34" charset="0"/>
                </a:rPr>
                <a:t>Risk on part of state govt.</a:t>
              </a:r>
            </a:p>
          </p:txBody>
        </p:sp>
      </p:grpSp>
      <p:sp>
        <p:nvSpPr>
          <p:cNvPr id="139" name="Arrow: Right 138">
            <a:hlinkClick r:id="rId6" action="ppaction://hlinksldjump"/>
            <a:extLst>
              <a:ext uri="{FF2B5EF4-FFF2-40B4-BE49-F238E27FC236}">
                <a16:creationId xmlns:a16="http://schemas.microsoft.com/office/drawing/2014/main" id="{868E7CB6-DA35-83C4-131F-EDA3985B0E2C}"/>
              </a:ext>
            </a:extLst>
          </p:cNvPr>
          <p:cNvSpPr/>
          <p:nvPr/>
        </p:nvSpPr>
        <p:spPr bwMode="gray">
          <a:xfrm rot="10800000" flipV="1">
            <a:off x="10828730" y="6523437"/>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6" action="ppaction://hlinksldjump"/>
              </a:rPr>
              <a:t>Back</a:t>
            </a:r>
            <a:endParaRPr lang="en-US" sz="1000" b="1" dirty="0">
              <a:solidFill>
                <a:schemeClr val="bg1"/>
              </a:solidFill>
            </a:endParaRPr>
          </a:p>
        </p:txBody>
      </p:sp>
      <p:grpSp>
        <p:nvGrpSpPr>
          <p:cNvPr id="4" name="Group 3">
            <a:extLst>
              <a:ext uri="{FF2B5EF4-FFF2-40B4-BE49-F238E27FC236}">
                <a16:creationId xmlns:a16="http://schemas.microsoft.com/office/drawing/2014/main" id="{CD3196B8-391D-A842-2FE8-86F5F856BCB8}"/>
              </a:ext>
            </a:extLst>
          </p:cNvPr>
          <p:cNvGrpSpPr/>
          <p:nvPr/>
        </p:nvGrpSpPr>
        <p:grpSpPr>
          <a:xfrm>
            <a:off x="281617" y="1462514"/>
            <a:ext cx="5939722" cy="4328686"/>
            <a:chOff x="281617" y="1462514"/>
            <a:chExt cx="5939722" cy="4328686"/>
          </a:xfrm>
        </p:grpSpPr>
        <p:sp>
          <p:nvSpPr>
            <p:cNvPr id="3" name="Isosceles Triangle 2">
              <a:extLst>
                <a:ext uri="{FF2B5EF4-FFF2-40B4-BE49-F238E27FC236}">
                  <a16:creationId xmlns:a16="http://schemas.microsoft.com/office/drawing/2014/main" id="{9A8289F8-C05C-367F-EF2E-63BCE2DB79CE}"/>
                </a:ext>
              </a:extLst>
            </p:cNvPr>
            <p:cNvSpPr/>
            <p:nvPr/>
          </p:nvSpPr>
          <p:spPr bwMode="gray">
            <a:xfrm>
              <a:off x="832647" y="1462514"/>
              <a:ext cx="5388692" cy="4328686"/>
            </a:xfrm>
            <a:prstGeom prst="triangle">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DFA54AEA-980B-37C3-E730-1B75E9C57D33}"/>
                </a:ext>
              </a:extLst>
            </p:cNvPr>
            <p:cNvSpPr/>
            <p:nvPr/>
          </p:nvSpPr>
          <p:spPr bwMode="gray">
            <a:xfrm>
              <a:off x="2394816" y="3005761"/>
              <a:ext cx="2247441" cy="7454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 name="Rectangle 18">
              <a:extLst>
                <a:ext uri="{FF2B5EF4-FFF2-40B4-BE49-F238E27FC236}">
                  <a16:creationId xmlns:a16="http://schemas.microsoft.com/office/drawing/2014/main" id="{16424D95-B60B-988B-32FE-C5D00026F0E8}"/>
                </a:ext>
              </a:extLst>
            </p:cNvPr>
            <p:cNvSpPr/>
            <p:nvPr/>
          </p:nvSpPr>
          <p:spPr bwMode="gray">
            <a:xfrm>
              <a:off x="3031234" y="2295344"/>
              <a:ext cx="994076" cy="29169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a:solidFill>
                    <a:schemeClr val="bg1"/>
                  </a:solidFill>
                </a:rPr>
                <a:t>State Govt. Guarantee</a:t>
              </a:r>
            </a:p>
          </p:txBody>
        </p:sp>
        <p:sp>
          <p:nvSpPr>
            <p:cNvPr id="24" name="Rectangle 23">
              <a:extLst>
                <a:ext uri="{FF2B5EF4-FFF2-40B4-BE49-F238E27FC236}">
                  <a16:creationId xmlns:a16="http://schemas.microsoft.com/office/drawing/2014/main" id="{4F1DB460-30AE-E0CF-7490-F506F537D666}"/>
                </a:ext>
              </a:extLst>
            </p:cNvPr>
            <p:cNvSpPr/>
            <p:nvPr/>
          </p:nvSpPr>
          <p:spPr bwMode="gray">
            <a:xfrm>
              <a:off x="2848142" y="3670337"/>
              <a:ext cx="1463964" cy="24186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a:solidFill>
                    <a:schemeClr val="bg1"/>
                  </a:solidFill>
                </a:rPr>
                <a:t>Payment Security Fund</a:t>
              </a:r>
            </a:p>
          </p:txBody>
        </p:sp>
        <p:sp>
          <p:nvSpPr>
            <p:cNvPr id="25" name="Rectangle 24">
              <a:extLst>
                <a:ext uri="{FF2B5EF4-FFF2-40B4-BE49-F238E27FC236}">
                  <a16:creationId xmlns:a16="http://schemas.microsoft.com/office/drawing/2014/main" id="{D7F3C6F8-7FF1-1987-07D1-D8461397FE8C}"/>
                </a:ext>
              </a:extLst>
            </p:cNvPr>
            <p:cNvSpPr/>
            <p:nvPr/>
          </p:nvSpPr>
          <p:spPr bwMode="gray">
            <a:xfrm>
              <a:off x="2440528" y="5117261"/>
              <a:ext cx="2279191" cy="213142"/>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a:solidFill>
                    <a:schemeClr val="bg1"/>
                  </a:solidFill>
                </a:rPr>
                <a:t>Letter of Credit</a:t>
              </a:r>
            </a:p>
          </p:txBody>
        </p:sp>
        <p:sp>
          <p:nvSpPr>
            <p:cNvPr id="26" name="Rectangle 25">
              <a:extLst>
                <a:ext uri="{FF2B5EF4-FFF2-40B4-BE49-F238E27FC236}">
                  <a16:creationId xmlns:a16="http://schemas.microsoft.com/office/drawing/2014/main" id="{22841E10-1694-094F-C86F-26565C71CC02}"/>
                </a:ext>
              </a:extLst>
            </p:cNvPr>
            <p:cNvSpPr/>
            <p:nvPr/>
          </p:nvSpPr>
          <p:spPr bwMode="gray">
            <a:xfrm>
              <a:off x="1566711" y="4447135"/>
              <a:ext cx="3931920" cy="7454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9" name="Rectangle 28">
              <a:extLst>
                <a:ext uri="{FF2B5EF4-FFF2-40B4-BE49-F238E27FC236}">
                  <a16:creationId xmlns:a16="http://schemas.microsoft.com/office/drawing/2014/main" id="{56A0B2F1-D17E-F645-9B92-7EF6C877A183}"/>
                </a:ext>
              </a:extLst>
            </p:cNvPr>
            <p:cNvSpPr/>
            <p:nvPr/>
          </p:nvSpPr>
          <p:spPr bwMode="gray">
            <a:xfrm>
              <a:off x="2265916" y="2048217"/>
              <a:ext cx="994076" cy="29169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a:t>Tier 3</a:t>
              </a:r>
            </a:p>
          </p:txBody>
        </p:sp>
        <p:sp>
          <p:nvSpPr>
            <p:cNvPr id="30" name="Rectangle 29">
              <a:extLst>
                <a:ext uri="{FF2B5EF4-FFF2-40B4-BE49-F238E27FC236}">
                  <a16:creationId xmlns:a16="http://schemas.microsoft.com/office/drawing/2014/main" id="{B77E7F1D-0EDB-38B8-9DD6-2B0479895455}"/>
                </a:ext>
              </a:extLst>
            </p:cNvPr>
            <p:cNvSpPr/>
            <p:nvPr/>
          </p:nvSpPr>
          <p:spPr bwMode="gray">
            <a:xfrm>
              <a:off x="1329867" y="3419069"/>
              <a:ext cx="994076" cy="29169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a:t>Tier 2</a:t>
              </a:r>
            </a:p>
          </p:txBody>
        </p:sp>
        <p:sp>
          <p:nvSpPr>
            <p:cNvPr id="31" name="Rectangle 30">
              <a:extLst>
                <a:ext uri="{FF2B5EF4-FFF2-40B4-BE49-F238E27FC236}">
                  <a16:creationId xmlns:a16="http://schemas.microsoft.com/office/drawing/2014/main" id="{46F30095-9018-4C70-21DF-C7A4AC1BEA1D}"/>
                </a:ext>
              </a:extLst>
            </p:cNvPr>
            <p:cNvSpPr/>
            <p:nvPr/>
          </p:nvSpPr>
          <p:spPr bwMode="gray">
            <a:xfrm>
              <a:off x="475156" y="4901686"/>
              <a:ext cx="994076" cy="29169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a:t>Tier 1</a:t>
              </a:r>
            </a:p>
          </p:txBody>
        </p:sp>
        <p:sp>
          <p:nvSpPr>
            <p:cNvPr id="32" name="Arrow: Down 31">
              <a:extLst>
                <a:ext uri="{FF2B5EF4-FFF2-40B4-BE49-F238E27FC236}">
                  <a16:creationId xmlns:a16="http://schemas.microsoft.com/office/drawing/2014/main" id="{FC58D457-F72D-FB92-47D5-82D5010329D6}"/>
                </a:ext>
              </a:extLst>
            </p:cNvPr>
            <p:cNvSpPr/>
            <p:nvPr/>
          </p:nvSpPr>
          <p:spPr bwMode="gray">
            <a:xfrm rot="12642483">
              <a:off x="1392204" y="3943068"/>
              <a:ext cx="203435" cy="810917"/>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5" name="Rectangle 34">
              <a:extLst>
                <a:ext uri="{FF2B5EF4-FFF2-40B4-BE49-F238E27FC236}">
                  <a16:creationId xmlns:a16="http://schemas.microsoft.com/office/drawing/2014/main" id="{E7D39B8F-9A25-7E9A-59AC-80BA68770E3D}"/>
                </a:ext>
              </a:extLst>
            </p:cNvPr>
            <p:cNvSpPr/>
            <p:nvPr/>
          </p:nvSpPr>
          <p:spPr bwMode="gray">
            <a:xfrm>
              <a:off x="518992" y="4142979"/>
              <a:ext cx="994076" cy="29169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i="1"/>
                <a:t>In the event of default in payment</a:t>
              </a:r>
            </a:p>
          </p:txBody>
        </p:sp>
        <p:sp>
          <p:nvSpPr>
            <p:cNvPr id="36" name="Rectangle 35">
              <a:extLst>
                <a:ext uri="{FF2B5EF4-FFF2-40B4-BE49-F238E27FC236}">
                  <a16:creationId xmlns:a16="http://schemas.microsoft.com/office/drawing/2014/main" id="{24BB129F-BF54-1F61-07C9-0AB16A26128E}"/>
                </a:ext>
              </a:extLst>
            </p:cNvPr>
            <p:cNvSpPr/>
            <p:nvPr/>
          </p:nvSpPr>
          <p:spPr bwMode="gray">
            <a:xfrm>
              <a:off x="1358339" y="2747290"/>
              <a:ext cx="994076" cy="29169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i="1"/>
                <a:t>In the event of default in payment</a:t>
              </a:r>
            </a:p>
          </p:txBody>
        </p:sp>
        <p:sp>
          <p:nvSpPr>
            <p:cNvPr id="39" name="Arrow: Down 38">
              <a:extLst>
                <a:ext uri="{FF2B5EF4-FFF2-40B4-BE49-F238E27FC236}">
                  <a16:creationId xmlns:a16="http://schemas.microsoft.com/office/drawing/2014/main" id="{790AA253-0C86-EFC8-ABC8-A5EB30FA9E40}"/>
                </a:ext>
              </a:extLst>
            </p:cNvPr>
            <p:cNvSpPr/>
            <p:nvPr/>
          </p:nvSpPr>
          <p:spPr bwMode="gray">
            <a:xfrm rot="12642483">
              <a:off x="2250698" y="2548069"/>
              <a:ext cx="203435" cy="810917"/>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41" name="Graphic 40" descr="Right pointing backhand index with solid fill">
              <a:extLst>
                <a:ext uri="{FF2B5EF4-FFF2-40B4-BE49-F238E27FC236}">
                  <a16:creationId xmlns:a16="http://schemas.microsoft.com/office/drawing/2014/main" id="{4F2317EE-7F30-9CA4-DAAC-838833C2FC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32915" y="1998444"/>
              <a:ext cx="461050" cy="461050"/>
            </a:xfrm>
            <a:prstGeom prst="rect">
              <a:avLst/>
            </a:prstGeom>
          </p:spPr>
        </p:pic>
        <p:pic>
          <p:nvPicPr>
            <p:cNvPr id="42" name="Graphic 41" descr="Right pointing backhand index with solid fill">
              <a:extLst>
                <a:ext uri="{FF2B5EF4-FFF2-40B4-BE49-F238E27FC236}">
                  <a16:creationId xmlns:a16="http://schemas.microsoft.com/office/drawing/2014/main" id="{BB878130-5CDE-4035-4140-39455C28B07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5661" y="3360456"/>
              <a:ext cx="461050" cy="461050"/>
            </a:xfrm>
            <a:prstGeom prst="rect">
              <a:avLst/>
            </a:prstGeom>
          </p:spPr>
        </p:pic>
        <p:pic>
          <p:nvPicPr>
            <p:cNvPr id="43" name="Graphic 42" descr="Right pointing backhand index with solid fill">
              <a:extLst>
                <a:ext uri="{FF2B5EF4-FFF2-40B4-BE49-F238E27FC236}">
                  <a16:creationId xmlns:a16="http://schemas.microsoft.com/office/drawing/2014/main" id="{2EE9B065-D79C-2D86-E3A3-E8BEBC77B6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1617" y="4867505"/>
              <a:ext cx="461050" cy="461050"/>
            </a:xfrm>
            <a:prstGeom prst="rect">
              <a:avLst/>
            </a:prstGeom>
          </p:spPr>
        </p:pic>
      </p:grpSp>
      <p:sp>
        <p:nvSpPr>
          <p:cNvPr id="44" name="Rectangle: Rounded Corners 43">
            <a:extLst>
              <a:ext uri="{FF2B5EF4-FFF2-40B4-BE49-F238E27FC236}">
                <a16:creationId xmlns:a16="http://schemas.microsoft.com/office/drawing/2014/main" id="{69125EFF-1EA5-3902-5ED0-5979227B1CB9}"/>
              </a:ext>
            </a:extLst>
          </p:cNvPr>
          <p:cNvSpPr/>
          <p:nvPr/>
        </p:nvSpPr>
        <p:spPr bwMode="gray">
          <a:xfrm>
            <a:off x="716844" y="5979082"/>
            <a:ext cx="10758311" cy="545932"/>
          </a:xfrm>
          <a:prstGeom prst="roundRect">
            <a:avLst/>
          </a:prstGeom>
          <a:noFill/>
          <a:ln w="12700" algn="ctr">
            <a:solidFill>
              <a:schemeClr val="tx1"/>
            </a:solidFill>
            <a:prstDash val="dash"/>
            <a:miter lim="800000"/>
            <a:headEnd/>
            <a:tailEnd/>
          </a:ln>
        </p:spPr>
        <p:txBody>
          <a:bodyPr wrap="square" lIns="88900" tIns="88900" rIns="88900" bIns="88900" rtlCol="0" anchor="ctr"/>
          <a:lstStyle/>
          <a:p>
            <a:pPr>
              <a:lnSpc>
                <a:spcPct val="106000"/>
              </a:lnSpc>
            </a:pPr>
            <a:r>
              <a:rPr lang="en-US" sz="1000" b="1" dirty="0"/>
              <a:t>Note: </a:t>
            </a:r>
            <a:r>
              <a:rPr lang="en-US" sz="1000" dirty="0">
                <a:solidFill>
                  <a:srgbClr val="000000"/>
                </a:solidFill>
                <a:latin typeface="Verdana" panose="020B0604030504040204" pitchFamily="34" charset="0"/>
                <a:ea typeface="Verdana" panose="020B0604030504040204" pitchFamily="34" charset="0"/>
              </a:rPr>
              <a:t>As per latest Standard Bidding Guidelines, dated 28</a:t>
            </a:r>
            <a:r>
              <a:rPr lang="en-US" sz="1000" baseline="30000" dirty="0">
                <a:solidFill>
                  <a:srgbClr val="000000"/>
                </a:solidFill>
                <a:latin typeface="Verdana" panose="020B0604030504040204" pitchFamily="34" charset="0"/>
                <a:ea typeface="Verdana" panose="020B0604030504040204" pitchFamily="34" charset="0"/>
              </a:rPr>
              <a:t>th</a:t>
            </a:r>
            <a:r>
              <a:rPr lang="en-US" sz="1000" dirty="0">
                <a:solidFill>
                  <a:srgbClr val="000000"/>
                </a:solidFill>
                <a:latin typeface="Verdana" panose="020B0604030504040204" pitchFamily="34" charset="0"/>
                <a:ea typeface="Verdana" panose="020B0604030504040204" pitchFamily="34" charset="0"/>
              </a:rPr>
              <a:t> Jul ’23 and its amendments thereof, two tier payment security mechanism (PSM) is provided wherein procurer will maintain LC for term of 12 months (to be renewed after every 12 months till PPA tenure) with additional option of payment security fund coverage if Developer undertakes to pay PSM charges at the rate of 2 paise/unit</a:t>
            </a:r>
            <a:endParaRPr lang="en-US" sz="1000" dirty="0"/>
          </a:p>
        </p:txBody>
      </p:sp>
      <p:cxnSp>
        <p:nvCxnSpPr>
          <p:cNvPr id="2" name="Straight Connector 1">
            <a:extLst>
              <a:ext uri="{FF2B5EF4-FFF2-40B4-BE49-F238E27FC236}">
                <a16:creationId xmlns:a16="http://schemas.microsoft.com/office/drawing/2014/main" id="{10254408-0BF7-9959-D36C-2C44CE35FC5F}"/>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04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587E3-8235-72C1-BDD0-6F2566A8623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D241546-4EEB-41A9-A0FB-94A0E3245E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ED241546-4EEB-41A9-A0FB-94A0E3245E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5F74D503-F1B0-3773-166D-5DA013FADE58}"/>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Key Takeaways/ Summary</a:t>
            </a:r>
          </a:p>
        </p:txBody>
      </p:sp>
      <p:cxnSp>
        <p:nvCxnSpPr>
          <p:cNvPr id="6" name="Straight Connector 5">
            <a:extLst>
              <a:ext uri="{FF2B5EF4-FFF2-40B4-BE49-F238E27FC236}">
                <a16:creationId xmlns:a16="http://schemas.microsoft.com/office/drawing/2014/main" id="{967A9E67-F6FF-5839-6C72-F379392D7553}"/>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E300F58-A585-E4DC-A992-38B809E8873E}"/>
              </a:ext>
            </a:extLst>
          </p:cNvPr>
          <p:cNvSpPr/>
          <p:nvPr/>
        </p:nvSpPr>
        <p:spPr bwMode="gray">
          <a:xfrm>
            <a:off x="518402" y="5701507"/>
            <a:ext cx="11211011" cy="666715"/>
          </a:xfrm>
          <a:prstGeom prst="rect">
            <a:avLst/>
          </a:prstGeom>
          <a:solidFill>
            <a:srgbClr val="00B050"/>
          </a:solidFill>
          <a:ln w="19050" algn="ctr">
            <a:solidFill>
              <a:schemeClr val="tx1"/>
            </a:solidFill>
            <a:prstDash val="dash"/>
            <a:miter lim="800000"/>
            <a:headEnd/>
            <a:tailEnd/>
          </a:ln>
        </p:spPr>
        <p:txBody>
          <a:bodyPr wrap="square" lIns="88900" tIns="88900" rIns="88900" bIns="88900" rtlCol="0" anchor="ctr"/>
          <a:lstStyle/>
          <a:p>
            <a:pPr marL="171450" marR="0" lvl="0" indent="-171450"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i="1" dirty="0">
                <a:solidFill>
                  <a:schemeClr val="bg1"/>
                </a:solidFill>
                <a:latin typeface="Verdana" panose="020B0604030504040204" pitchFamily="34" charset="0"/>
                <a:ea typeface="Verdana" panose="020B0604030504040204" pitchFamily="34" charset="0"/>
                <a:cs typeface="Verdana" panose="020B0604030504040204" pitchFamily="34" charset="0"/>
              </a:rPr>
              <a:t>Payment risk guarantee may also  be provided through state govt. grants in addition to above suggested PPP options</a:t>
            </a:r>
          </a:p>
          <a:p>
            <a:pPr marL="171450" marR="0" lvl="0" indent="-171450"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i="1" dirty="0">
                <a:solidFill>
                  <a:schemeClr val="bg1"/>
                </a:solidFill>
                <a:latin typeface="Verdana" panose="020B0604030504040204" pitchFamily="34" charset="0"/>
                <a:ea typeface="Verdana" panose="020B0604030504040204" pitchFamily="34" charset="0"/>
                <a:cs typeface="Verdana" panose="020B0604030504040204" pitchFamily="34" charset="0"/>
              </a:rPr>
              <a:t>Suggested PPP models can be executed in standalone  basis or in combination thereof to ensure optimal utilization of funds, and minimizing project risks and maximizing project viability for both state utility and private developer(s)</a:t>
            </a:r>
          </a:p>
        </p:txBody>
      </p:sp>
      <p:sp>
        <p:nvSpPr>
          <p:cNvPr id="21" name="Rectangle 20">
            <a:extLst>
              <a:ext uri="{FF2B5EF4-FFF2-40B4-BE49-F238E27FC236}">
                <a16:creationId xmlns:a16="http://schemas.microsoft.com/office/drawing/2014/main" id="{A6BAB929-7ACA-5F36-72EB-AFA7D4E2C521}"/>
              </a:ext>
            </a:extLst>
          </p:cNvPr>
          <p:cNvSpPr/>
          <p:nvPr/>
        </p:nvSpPr>
        <p:spPr bwMode="gray">
          <a:xfrm>
            <a:off x="8472646" y="6408418"/>
            <a:ext cx="3559312" cy="211533"/>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000" i="1" dirty="0"/>
              <a:t>Note: USD/INR exchange rate of 83 considered</a:t>
            </a:r>
            <a:endParaRPr lang="en-US" sz="1000" b="1" i="1" dirty="0">
              <a:highlight>
                <a:srgbClr val="00FF00"/>
              </a:highlight>
            </a:endParaRPr>
          </a:p>
        </p:txBody>
      </p:sp>
      <p:graphicFrame>
        <p:nvGraphicFramePr>
          <p:cNvPr id="7" name="Table 8">
            <a:extLst>
              <a:ext uri="{FF2B5EF4-FFF2-40B4-BE49-F238E27FC236}">
                <a16:creationId xmlns:a16="http://schemas.microsoft.com/office/drawing/2014/main" id="{73FA2326-77B7-B550-2B3D-0C0369470F89}"/>
              </a:ext>
            </a:extLst>
          </p:cNvPr>
          <p:cNvGraphicFramePr>
            <a:graphicFrameLocks noGrp="1"/>
          </p:cNvGraphicFramePr>
          <p:nvPr>
            <p:extLst>
              <p:ext uri="{D42A27DB-BD31-4B8C-83A1-F6EECF244321}">
                <p14:modId xmlns:p14="http://schemas.microsoft.com/office/powerpoint/2010/main" val="2782118735"/>
              </p:ext>
            </p:extLst>
          </p:nvPr>
        </p:nvGraphicFramePr>
        <p:xfrm>
          <a:off x="514663" y="1099963"/>
          <a:ext cx="11211011" cy="4577387"/>
        </p:xfrm>
        <a:graphic>
          <a:graphicData uri="http://schemas.openxmlformats.org/drawingml/2006/table">
            <a:tbl>
              <a:tblPr firstRow="1" bandRow="1">
                <a:tableStyleId>{5C22544A-7EE6-4342-B048-85BDC9FD1C3A}</a:tableStyleId>
              </a:tblPr>
              <a:tblGrid>
                <a:gridCol w="1341569">
                  <a:extLst>
                    <a:ext uri="{9D8B030D-6E8A-4147-A177-3AD203B41FA5}">
                      <a16:colId xmlns:a16="http://schemas.microsoft.com/office/drawing/2014/main" val="957719138"/>
                    </a:ext>
                  </a:extLst>
                </a:gridCol>
                <a:gridCol w="3289814">
                  <a:extLst>
                    <a:ext uri="{9D8B030D-6E8A-4147-A177-3AD203B41FA5}">
                      <a16:colId xmlns:a16="http://schemas.microsoft.com/office/drawing/2014/main" val="978830806"/>
                    </a:ext>
                  </a:extLst>
                </a:gridCol>
                <a:gridCol w="3289814">
                  <a:extLst>
                    <a:ext uri="{9D8B030D-6E8A-4147-A177-3AD203B41FA5}">
                      <a16:colId xmlns:a16="http://schemas.microsoft.com/office/drawing/2014/main" val="3219882075"/>
                    </a:ext>
                  </a:extLst>
                </a:gridCol>
                <a:gridCol w="3289814">
                  <a:extLst>
                    <a:ext uri="{9D8B030D-6E8A-4147-A177-3AD203B41FA5}">
                      <a16:colId xmlns:a16="http://schemas.microsoft.com/office/drawing/2014/main" val="1110340395"/>
                    </a:ext>
                  </a:extLst>
                </a:gridCol>
              </a:tblGrid>
              <a:tr h="476453">
                <a:tc>
                  <a:txBody>
                    <a:bodyPr/>
                    <a:lstStyle/>
                    <a:p>
                      <a:r>
                        <a:rPr lang="en-US" sz="1100" dirty="0"/>
                        <a:t>Aspect </a:t>
                      </a:r>
                    </a:p>
                  </a:txBody>
                  <a:tcPr>
                    <a:solidFill>
                      <a:schemeClr val="tx1"/>
                    </a:solidFill>
                  </a:tcPr>
                </a:tc>
                <a:tc>
                  <a:txBody>
                    <a:bodyPr/>
                    <a:lstStyle/>
                    <a:p>
                      <a:pPr algn="ctr"/>
                      <a:r>
                        <a:rPr lang="en-US" sz="1100" dirty="0"/>
                        <a:t>Joint Ownership Model</a:t>
                      </a:r>
                    </a:p>
                  </a:txBody>
                  <a:tcPr>
                    <a:solidFill>
                      <a:schemeClr val="tx1"/>
                    </a:solidFill>
                  </a:tcPr>
                </a:tc>
                <a:tc>
                  <a:txBody>
                    <a:bodyPr/>
                    <a:lstStyle/>
                    <a:p>
                      <a:pPr algn="ctr"/>
                      <a:r>
                        <a:rPr lang="en-US" sz="1100" dirty="0"/>
                        <a:t>Viability Gap Funding (VGF) based Competitive Bidding Model</a:t>
                      </a:r>
                    </a:p>
                  </a:txBody>
                  <a:tcPr>
                    <a:solidFill>
                      <a:schemeClr val="tx1"/>
                    </a:solidFill>
                  </a:tcPr>
                </a:tc>
                <a:tc>
                  <a:txBody>
                    <a:bodyPr/>
                    <a:lstStyle/>
                    <a:p>
                      <a:pPr algn="ctr"/>
                      <a:r>
                        <a:rPr lang="en-US" sz="1100" dirty="0"/>
                        <a:t>Tariff-Based Competitive Bidding – Solar park model</a:t>
                      </a:r>
                    </a:p>
                  </a:txBody>
                  <a:tcPr>
                    <a:solidFill>
                      <a:schemeClr val="tx1"/>
                    </a:solidFill>
                  </a:tcPr>
                </a:tc>
                <a:extLst>
                  <a:ext uri="{0D108BD9-81ED-4DB2-BD59-A6C34878D82A}">
                    <a16:rowId xmlns:a16="http://schemas.microsoft.com/office/drawing/2014/main" val="3707305068"/>
                  </a:ext>
                </a:extLst>
              </a:tr>
              <a:tr h="1123067">
                <a:tc>
                  <a:txBody>
                    <a:bodyPr/>
                    <a:lstStyle/>
                    <a:p>
                      <a:pPr algn="ctr"/>
                      <a:r>
                        <a:rPr lang="en-US" sz="1100" b="1" dirty="0"/>
                        <a:t>Pro</a:t>
                      </a:r>
                    </a:p>
                  </a:txBody>
                  <a:tcPr anchor="ctr"/>
                </a:tc>
                <a:tc>
                  <a:txBody>
                    <a:bodyPr/>
                    <a:lstStyle/>
                    <a:p>
                      <a:pPr marL="88900" marR="0" lvl="0" indent="-88900" algn="ctr"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Sharing of risks</a:t>
                      </a:r>
                    </a:p>
                    <a:p>
                      <a:pPr marL="88900" marR="0" lvl="0" indent="-88900" algn="ctr"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Synergy</a:t>
                      </a:r>
                    </a:p>
                  </a:txBody>
                  <a:tcPr anchor="ctr"/>
                </a:tc>
                <a:tc>
                  <a:txBody>
                    <a:bodyPr/>
                    <a:lstStyle/>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VGF encourages private participation and significantly brings down tariff</a:t>
                      </a:r>
                    </a:p>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Gives flexibility for optimal utilization of funds</a:t>
                      </a:r>
                    </a:p>
                  </a:txBody>
                  <a:tcPr anchor="ctr"/>
                </a:tc>
                <a:tc>
                  <a:txBody>
                    <a:bodyPr/>
                    <a:lstStyle/>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Ready land and basic infrastructure at the outset</a:t>
                      </a:r>
                    </a:p>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Shorter TAT for project execution</a:t>
                      </a:r>
                    </a:p>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Deemed tariff approval by Regulator u/s 63 of EA 2003</a:t>
                      </a:r>
                      <a:endParaRPr lang="en-IN" sz="1100" dirty="0">
                        <a:solidFill>
                          <a:srgbClr val="000000"/>
                        </a:solidFill>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3165457030"/>
                  </a:ext>
                </a:extLst>
              </a:tr>
              <a:tr h="1325081">
                <a:tc>
                  <a:txBody>
                    <a:bodyPr/>
                    <a:lstStyle/>
                    <a:p>
                      <a:pPr algn="ctr"/>
                      <a:r>
                        <a:rPr lang="en-US" sz="1100" b="1" dirty="0"/>
                        <a:t>Cons</a:t>
                      </a:r>
                    </a:p>
                  </a:txBody>
                  <a:tcPr anchor="ctr">
                    <a:solidFill>
                      <a:schemeClr val="bg1">
                        <a:lumMod val="95000"/>
                      </a:schemeClr>
                    </a:solidFill>
                  </a:tcPr>
                </a:tc>
                <a:tc>
                  <a:txBody>
                    <a:bodyPr/>
                    <a:lstStyle/>
                    <a:p>
                      <a:pPr marL="88900" marR="0" lvl="0" indent="-88900" algn="ctr"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Joint ownership may not be an attractive proposition for private players as decision making authority and control of project would also have to be shared</a:t>
                      </a:r>
                    </a:p>
                    <a:p>
                      <a:pPr marL="88900" marR="0" lvl="0" indent="-88900" algn="ctr"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dirty="0">
                          <a:latin typeface="Verdana" panose="020B0604030504040204" pitchFamily="34" charset="0"/>
                          <a:ea typeface="Verdana" panose="020B0604030504040204" pitchFamily="34" charset="0"/>
                          <a:cs typeface="Verdana" panose="020B0604030504040204" pitchFamily="34" charset="0"/>
                        </a:rPr>
                        <a:t>Fund requirement/ utilization solely though equity contribution in JV would be low</a:t>
                      </a: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solidFill>
                      <a:schemeClr val="bg1">
                        <a:lumMod val="95000"/>
                      </a:schemeClr>
                    </a:solidFill>
                  </a:tcPr>
                </a:tc>
                <a:tc>
                  <a:txBody>
                    <a:bodyPr/>
                    <a:lstStyle/>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Risk of players quoting aggressively low/nil VGF amounts</a:t>
                      </a:r>
                    </a:p>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Regulatory challenge with respect to determination of pre-set tariff</a:t>
                      </a:r>
                    </a:p>
                  </a:txBody>
                  <a:tcPr anchor="ctr">
                    <a:solidFill>
                      <a:schemeClr val="bg1">
                        <a:lumMod val="95000"/>
                      </a:schemeClr>
                    </a:solidFill>
                  </a:tcPr>
                </a:tc>
                <a:tc>
                  <a:txBody>
                    <a:bodyPr/>
                    <a:lstStyle/>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Fund requirement may be on lower side</a:t>
                      </a:r>
                    </a:p>
                    <a:p>
                      <a:pPr marL="88900" indent="-88900" algn="ctr" defTabSz="457200">
                        <a:spcAft>
                          <a:spcPts val="300"/>
                        </a:spcAft>
                        <a:buFont typeface="Arial" panose="020B0604020202020204" pitchFamily="34" charset="0"/>
                        <a:buChar char="•"/>
                      </a:pPr>
                      <a:r>
                        <a:rPr lang="en-US" sz="1100" dirty="0">
                          <a:solidFill>
                            <a:srgbClr val="000000"/>
                          </a:solidFill>
                          <a:latin typeface="Verdana" panose="020B0604030504040204" pitchFamily="34" charset="0"/>
                          <a:ea typeface="Verdana" panose="020B0604030504040204" pitchFamily="34" charset="0"/>
                        </a:rPr>
                        <a:t>Risk on part of state government since responsibility of solar park infrastructure and  connectivity/ power evacuation on part of govt. utility/ SPPD</a:t>
                      </a:r>
                    </a:p>
                  </a:txBody>
                  <a:tcPr anchor="ctr">
                    <a:solidFill>
                      <a:schemeClr val="bg1">
                        <a:lumMod val="95000"/>
                      </a:schemeClr>
                    </a:solidFill>
                  </a:tcPr>
                </a:tc>
                <a:extLst>
                  <a:ext uri="{0D108BD9-81ED-4DB2-BD59-A6C34878D82A}">
                    <a16:rowId xmlns:a16="http://schemas.microsoft.com/office/drawing/2014/main" val="2371585174"/>
                  </a:ext>
                </a:extLst>
              </a:tr>
              <a:tr h="1636747">
                <a:tc>
                  <a:txBody>
                    <a:bodyPr/>
                    <a:lstStyle/>
                    <a:p>
                      <a:pPr algn="ctr"/>
                      <a:r>
                        <a:rPr lang="en-US" sz="1100" b="1" dirty="0"/>
                        <a:t>Probable Fund Requirement from State Govt.</a:t>
                      </a:r>
                    </a:p>
                  </a:txBody>
                  <a:tcPr anchor="ctr">
                    <a:solidFill>
                      <a:srgbClr val="EBF9FF"/>
                    </a:solidFill>
                  </a:tcPr>
                </a:tc>
                <a:tc>
                  <a:txBody>
                    <a:bodyPr/>
                    <a:lstStyle/>
                    <a:p>
                      <a:pPr marL="88900" marR="0" lvl="0" indent="-88900" algn="ctr"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Rs 95 Cr (USD 11 Mn) to  Rs 180 Cr (USD 22 Mn)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(equity infusion in JV on behalf of govt.)</a:t>
                      </a:r>
                    </a:p>
                    <a:p>
                      <a:pPr marL="88900" marR="0" lvl="0" indent="-88900" algn="ctr"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Additional Rs 282 Cr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(incl GST) </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(~USD 34 Mn)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grant-based funding opportunity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w.r.t.</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solar park and evacuation infrastructure</a:t>
                      </a:r>
                    </a:p>
                  </a:txBody>
                  <a:tcPr anchor="ctr">
                    <a:solidFill>
                      <a:srgbClr val="EBF9FF"/>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VGF ceiling amount may be fixed as some suitable percentage of project cost wherein it is estimated that for each $ US 10 Mn VGF contribution, tariff reduction of </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~17 paise/unit (US 0.2 cents/unit)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can be achieved</a:t>
                      </a:r>
                    </a:p>
                    <a:p>
                      <a:pPr marL="0" marR="0" lvl="0" indent="0" algn="ctr" defTabSz="1219231" rtl="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Total VGF can be USD 40 Mn to USD 100 Mn based on fund availability</a:t>
                      </a:r>
                    </a:p>
                  </a:txBody>
                  <a:tcPr anchor="ctr">
                    <a:solidFill>
                      <a:srgbClr val="EBF9FF"/>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Rs 282 Cr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(incl GST) </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(~USD 34 Mn)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grant-based funding of solar park and evacuation infrastructure</a:t>
                      </a:r>
                    </a:p>
                  </a:txBody>
                  <a:tcPr anchor="ctr">
                    <a:solidFill>
                      <a:srgbClr val="EBF9FF"/>
                    </a:solidFill>
                  </a:tcPr>
                </a:tc>
                <a:extLst>
                  <a:ext uri="{0D108BD9-81ED-4DB2-BD59-A6C34878D82A}">
                    <a16:rowId xmlns:a16="http://schemas.microsoft.com/office/drawing/2014/main" val="288869256"/>
                  </a:ext>
                </a:extLst>
              </a:tr>
            </a:tbl>
          </a:graphicData>
        </a:graphic>
      </p:graphicFrame>
    </p:spTree>
    <p:extLst>
      <p:ext uri="{BB962C8B-B14F-4D97-AF65-F5344CB8AC3E}">
        <p14:creationId xmlns:p14="http://schemas.microsoft.com/office/powerpoint/2010/main" val="2690251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230778C4-12F7-B010-6A93-841EAAB522F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Key Points for Discussion</a:t>
            </a:r>
          </a:p>
        </p:txBody>
      </p:sp>
      <p:cxnSp>
        <p:nvCxnSpPr>
          <p:cNvPr id="6" name="Straight Connector 5">
            <a:extLst>
              <a:ext uri="{FF2B5EF4-FFF2-40B4-BE49-F238E27FC236}">
                <a16:creationId xmlns:a16="http://schemas.microsoft.com/office/drawing/2014/main" id="{57443967-D118-3264-ECCE-ADE584CF4B9A}"/>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DD436CDE-87E7-DF23-D96B-A255574E9AF1}"/>
              </a:ext>
            </a:extLst>
          </p:cNvPr>
          <p:cNvSpPr/>
          <p:nvPr/>
        </p:nvSpPr>
        <p:spPr bwMode="gray">
          <a:xfrm>
            <a:off x="1484243" y="1431235"/>
            <a:ext cx="10058400" cy="3869635"/>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err="1">
                <a:solidFill>
                  <a:schemeClr val="tx1"/>
                </a:solidFill>
              </a:rPr>
              <a:t>Debt+Equity</a:t>
            </a:r>
            <a:r>
              <a:rPr lang="en-US" b="1" dirty="0">
                <a:solidFill>
                  <a:schemeClr val="tx1"/>
                </a:solidFill>
              </a:rPr>
              <a:t> based financing option</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Overall funding pool considered to minimize project risks</a:t>
            </a:r>
          </a:p>
          <a:p>
            <a:pPr>
              <a:lnSpc>
                <a:spcPct val="106000"/>
              </a:lnSpc>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VGF quantum and disbursement methodology</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Amount of funds that can be considered as corpus for payment risk guarantee option</a:t>
            </a:r>
          </a:p>
        </p:txBody>
      </p:sp>
      <p:pic>
        <p:nvPicPr>
          <p:cNvPr id="4" name="Graphic 3" descr="Right pointing backhand index with solid fill">
            <a:extLst>
              <a:ext uri="{FF2B5EF4-FFF2-40B4-BE49-F238E27FC236}">
                <a16:creationId xmlns:a16="http://schemas.microsoft.com/office/drawing/2014/main" id="{C9188A78-A1D7-FB4A-A566-6D376E639F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9961" y="2366414"/>
            <a:ext cx="673067" cy="673067"/>
          </a:xfrm>
          <a:prstGeom prst="rect">
            <a:avLst/>
          </a:prstGeom>
        </p:spPr>
      </p:pic>
      <p:pic>
        <p:nvPicPr>
          <p:cNvPr id="8" name="Graphic 7" descr="Right pointing backhand index with solid fill">
            <a:extLst>
              <a:ext uri="{FF2B5EF4-FFF2-40B4-BE49-F238E27FC236}">
                <a16:creationId xmlns:a16="http://schemas.microsoft.com/office/drawing/2014/main" id="{D6A6C018-54DD-4BA9-2208-FBB64344DB0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1167" y="2912682"/>
            <a:ext cx="673067" cy="673067"/>
          </a:xfrm>
          <a:prstGeom prst="rect">
            <a:avLst/>
          </a:prstGeom>
        </p:spPr>
      </p:pic>
      <p:pic>
        <p:nvPicPr>
          <p:cNvPr id="21" name="Graphic 20" descr="Right pointing backhand index with solid fill">
            <a:extLst>
              <a:ext uri="{FF2B5EF4-FFF2-40B4-BE49-F238E27FC236}">
                <a16:creationId xmlns:a16="http://schemas.microsoft.com/office/drawing/2014/main" id="{88475C88-BB62-3AEC-B625-E9BC6622E4B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4543" y="3475900"/>
            <a:ext cx="673067" cy="673067"/>
          </a:xfrm>
          <a:prstGeom prst="rect">
            <a:avLst/>
          </a:prstGeom>
        </p:spPr>
      </p:pic>
      <p:pic>
        <p:nvPicPr>
          <p:cNvPr id="23" name="Graphic 22" descr="Right pointing backhand index with solid fill">
            <a:extLst>
              <a:ext uri="{FF2B5EF4-FFF2-40B4-BE49-F238E27FC236}">
                <a16:creationId xmlns:a16="http://schemas.microsoft.com/office/drawing/2014/main" id="{A3F614CC-CE01-E636-AABC-18D508B937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4664" y="4092124"/>
            <a:ext cx="673067" cy="673067"/>
          </a:xfrm>
          <a:prstGeom prst="rect">
            <a:avLst/>
          </a:prstGeom>
        </p:spPr>
      </p:pic>
    </p:spTree>
    <p:extLst>
      <p:ext uri="{BB962C8B-B14F-4D97-AF65-F5344CB8AC3E}">
        <p14:creationId xmlns:p14="http://schemas.microsoft.com/office/powerpoint/2010/main" val="53407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797246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86BC25"/>
            </a:solidFill>
          </a:ln>
        </p:spPr>
        <p:style>
          <a:lnRef idx="1">
            <a:schemeClr val="accent1"/>
          </a:lnRef>
          <a:fillRef idx="0">
            <a:schemeClr val="accent1"/>
          </a:fillRef>
          <a:effectRef idx="0">
            <a:schemeClr val="accent1"/>
          </a:effectRef>
          <a:fontRef idx="minor">
            <a:schemeClr val="tx1"/>
          </a:fontRef>
        </p:style>
      </p:cxnSp>
      <p:sp>
        <p:nvSpPr>
          <p:cNvPr id="5" name="Title 3">
            <a:extLst>
              <a:ext uri="{FF2B5EF4-FFF2-40B4-BE49-F238E27FC236}">
                <a16:creationId xmlns:a16="http://schemas.microsoft.com/office/drawing/2014/main" id="{65527A5E-F1EB-8B46-2365-FE82507EED67}"/>
              </a:ext>
            </a:extLst>
          </p:cNvPr>
          <p:cNvSpPr>
            <a:spLocks noGrp="1"/>
          </p:cNvSpPr>
          <p:nvPr>
            <p:ph type="title"/>
          </p:nvPr>
        </p:nvSpPr>
        <p:spPr>
          <a:xfrm>
            <a:off x="219528" y="2736849"/>
            <a:ext cx="11252200" cy="692151"/>
          </a:xfrm>
        </p:spPr>
        <p:txBody>
          <a:bodyPr vert="horz"/>
          <a:lstStyle/>
          <a:p>
            <a:pPr marL="990600" indent="-990600"/>
            <a:r>
              <a:rPr lang="en-US" sz="2800" i="0" dirty="0">
                <a:solidFill>
                  <a:schemeClr val="bg1"/>
                </a:solidFill>
              </a:rPr>
              <a:t>Annexures</a:t>
            </a:r>
            <a:endParaRPr lang="en-US" i="0" dirty="0">
              <a:solidFill>
                <a:schemeClr val="bg1"/>
              </a:solidFill>
            </a:endParaRPr>
          </a:p>
        </p:txBody>
      </p:sp>
    </p:spTree>
    <p:extLst>
      <p:ext uri="{BB962C8B-B14F-4D97-AF65-F5344CB8AC3E}">
        <p14:creationId xmlns:p14="http://schemas.microsoft.com/office/powerpoint/2010/main" val="1172142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2" name="Table 21">
            <a:extLst>
              <a:ext uri="{FF2B5EF4-FFF2-40B4-BE49-F238E27FC236}">
                <a16:creationId xmlns:a16="http://schemas.microsoft.com/office/drawing/2014/main" id="{7713854C-F8C9-20C4-08B9-0E6980A5AAD1}"/>
              </a:ext>
            </a:extLst>
          </p:cNvPr>
          <p:cNvGraphicFramePr>
            <a:graphicFrameLocks noGrp="1"/>
          </p:cNvGraphicFramePr>
          <p:nvPr/>
        </p:nvGraphicFramePr>
        <p:xfrm>
          <a:off x="569912" y="998772"/>
          <a:ext cx="11140751" cy="5275104"/>
        </p:xfrm>
        <a:graphic>
          <a:graphicData uri="http://schemas.openxmlformats.org/drawingml/2006/table">
            <a:tbl>
              <a:tblPr/>
              <a:tblGrid>
                <a:gridCol w="298691">
                  <a:extLst>
                    <a:ext uri="{9D8B030D-6E8A-4147-A177-3AD203B41FA5}">
                      <a16:colId xmlns:a16="http://schemas.microsoft.com/office/drawing/2014/main" val="1478154645"/>
                    </a:ext>
                  </a:extLst>
                </a:gridCol>
                <a:gridCol w="1429755">
                  <a:extLst>
                    <a:ext uri="{9D8B030D-6E8A-4147-A177-3AD203B41FA5}">
                      <a16:colId xmlns:a16="http://schemas.microsoft.com/office/drawing/2014/main" val="1137950966"/>
                    </a:ext>
                  </a:extLst>
                </a:gridCol>
                <a:gridCol w="4477265">
                  <a:extLst>
                    <a:ext uri="{9D8B030D-6E8A-4147-A177-3AD203B41FA5}">
                      <a16:colId xmlns:a16="http://schemas.microsoft.com/office/drawing/2014/main" val="1473724018"/>
                    </a:ext>
                  </a:extLst>
                </a:gridCol>
                <a:gridCol w="2920803">
                  <a:extLst>
                    <a:ext uri="{9D8B030D-6E8A-4147-A177-3AD203B41FA5}">
                      <a16:colId xmlns:a16="http://schemas.microsoft.com/office/drawing/2014/main" val="2642336511"/>
                    </a:ext>
                  </a:extLst>
                </a:gridCol>
                <a:gridCol w="2014237">
                  <a:extLst>
                    <a:ext uri="{9D8B030D-6E8A-4147-A177-3AD203B41FA5}">
                      <a16:colId xmlns:a16="http://schemas.microsoft.com/office/drawing/2014/main" val="892573371"/>
                    </a:ext>
                  </a:extLst>
                </a:gridCol>
              </a:tblGrid>
              <a:tr h="274320">
                <a:tc>
                  <a:txBody>
                    <a:bodyPr/>
                    <a:lstStyle/>
                    <a:p>
                      <a:pPr algn="ctr" fontAlgn="ctr"/>
                      <a:r>
                        <a:rPr lang="en-US" sz="1200" b="1" i="0" u="none" strike="noStrike">
                          <a:solidFill>
                            <a:srgbClr val="FFFFFF"/>
                          </a:solidFill>
                          <a:effectLst/>
                          <a:latin typeface="+mj-lt"/>
                        </a:rPr>
                        <a:t>#</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State</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Name of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Approved Capacity (MW)</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Status</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585284594"/>
                  </a:ext>
                </a:extLst>
              </a:tr>
              <a:tr h="42646">
                <a:tc>
                  <a:txBody>
                    <a:bodyPr/>
                    <a:lstStyle/>
                    <a:p>
                      <a:pPr algn="ctr" fontAlgn="t"/>
                      <a:r>
                        <a:rPr lang="en-US" sz="1200" b="0" i="0" u="none" strike="noStrike">
                          <a:solidFill>
                            <a:srgbClr val="000000"/>
                          </a:solidFill>
                          <a:effectLst/>
                          <a:latin typeface="+mj-lt"/>
                        </a:rPr>
                        <a:t>1</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ctr" fontAlgn="ctr"/>
                      <a:r>
                        <a:rPr lang="en-US" sz="1200" b="0" i="0" u="none" strike="noStrike">
                          <a:solidFill>
                            <a:srgbClr val="000000"/>
                          </a:solidFill>
                          <a:effectLst/>
                          <a:latin typeface="+mj-lt"/>
                        </a:rPr>
                        <a:t>Andhra Pradesh</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Ananthapuramu-I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1400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86667520"/>
                  </a:ext>
                </a:extLst>
              </a:tr>
              <a:tr h="42646">
                <a:tc>
                  <a:txBody>
                    <a:bodyPr/>
                    <a:lstStyle/>
                    <a:p>
                      <a:pPr algn="ctr" fontAlgn="t"/>
                      <a:r>
                        <a:rPr lang="en-US" sz="1200" b="0" i="0" u="none" strike="noStrike">
                          <a:solidFill>
                            <a:srgbClr val="000000"/>
                          </a:solidFill>
                          <a:effectLst/>
                          <a:latin typeface="+mj-lt"/>
                        </a:rPr>
                        <a:t>2</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Kurnool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1000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35249629"/>
                  </a:ext>
                </a:extLst>
              </a:tr>
              <a:tr h="42646">
                <a:tc>
                  <a:txBody>
                    <a:bodyPr/>
                    <a:lstStyle/>
                    <a:p>
                      <a:pPr algn="ctr" fontAlgn="t"/>
                      <a:r>
                        <a:rPr lang="en-US" sz="1200" b="0" i="0" u="none" strike="noStrike">
                          <a:solidFill>
                            <a:srgbClr val="000000"/>
                          </a:solidFill>
                          <a:effectLst/>
                          <a:latin typeface="+mj-lt"/>
                        </a:rPr>
                        <a:t>3</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Kadapa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2727895"/>
                  </a:ext>
                </a:extLst>
              </a:tr>
              <a:tr h="42646">
                <a:tc>
                  <a:txBody>
                    <a:bodyPr/>
                    <a:lstStyle/>
                    <a:p>
                      <a:pPr algn="ctr" fontAlgn="t"/>
                      <a:r>
                        <a:rPr lang="en-US" sz="1200" b="0" i="0" u="none" strike="noStrike">
                          <a:solidFill>
                            <a:srgbClr val="000000"/>
                          </a:solidFill>
                          <a:effectLst/>
                          <a:latin typeface="+mj-lt"/>
                        </a:rPr>
                        <a:t>4</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err="1">
                          <a:solidFill>
                            <a:srgbClr val="000000"/>
                          </a:solidFill>
                          <a:effectLst/>
                          <a:latin typeface="+mj-lt"/>
                        </a:rPr>
                        <a:t>Anathapuramu</a:t>
                      </a:r>
                      <a:r>
                        <a:rPr lang="en-US" sz="1200" b="0" i="0" u="none" strike="noStrike">
                          <a:solidFill>
                            <a:srgbClr val="000000"/>
                          </a:solidFill>
                          <a:effectLst/>
                          <a:latin typeface="+mj-lt"/>
                        </a:rPr>
                        <a:t>-II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500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52170198"/>
                  </a:ext>
                </a:extLst>
              </a:tr>
              <a:tr h="42646">
                <a:tc>
                  <a:txBody>
                    <a:bodyPr/>
                    <a:lstStyle/>
                    <a:p>
                      <a:pPr algn="ctr" fontAlgn="t"/>
                      <a:r>
                        <a:rPr lang="en-US" sz="1200" b="0" i="0" u="none" strike="noStrike">
                          <a:solidFill>
                            <a:srgbClr val="000000"/>
                          </a:solidFill>
                          <a:effectLst/>
                          <a:latin typeface="+mj-lt"/>
                        </a:rPr>
                        <a:t>5</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Solar-Wind Hybrid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5087821"/>
                  </a:ext>
                </a:extLst>
              </a:tr>
              <a:tr h="42646">
                <a:tc>
                  <a:txBody>
                    <a:bodyPr/>
                    <a:lstStyle/>
                    <a:p>
                      <a:pPr algn="ctr" fontAlgn="t"/>
                      <a:r>
                        <a:rPr lang="en-US" sz="1200" b="0" i="0" u="none" strike="noStrike">
                          <a:solidFill>
                            <a:srgbClr val="000000"/>
                          </a:solidFill>
                          <a:effectLst/>
                          <a:latin typeface="+mj-lt"/>
                        </a:rPr>
                        <a:t>6</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Chhattisgarh</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Rajnandgaon</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1199795"/>
                  </a:ext>
                </a:extLst>
              </a:tr>
              <a:tr h="42646">
                <a:tc>
                  <a:txBody>
                    <a:bodyPr/>
                    <a:lstStyle/>
                    <a:p>
                      <a:pPr algn="ctr" fontAlgn="t"/>
                      <a:r>
                        <a:rPr lang="en-US" sz="1200" b="0" i="0" u="none" strike="noStrike">
                          <a:solidFill>
                            <a:srgbClr val="000000"/>
                          </a:solidFill>
                          <a:effectLst/>
                          <a:latin typeface="+mj-lt"/>
                        </a:rPr>
                        <a:t>7</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7">
                  <a:txBody>
                    <a:bodyPr/>
                    <a:lstStyle/>
                    <a:p>
                      <a:pPr algn="ctr" fontAlgn="ctr"/>
                      <a:r>
                        <a:rPr lang="en-US" sz="1200" b="0" i="0" u="none" strike="noStrike">
                          <a:solidFill>
                            <a:srgbClr val="000000"/>
                          </a:solidFill>
                          <a:effectLst/>
                          <a:latin typeface="+mj-lt"/>
                        </a:rPr>
                        <a:t>Gujarat</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Radhanesda</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4202836"/>
                  </a:ext>
                </a:extLst>
              </a:tr>
              <a:tr h="42646">
                <a:tc>
                  <a:txBody>
                    <a:bodyPr/>
                    <a:lstStyle/>
                    <a:p>
                      <a:pPr algn="ctr" fontAlgn="t"/>
                      <a:r>
                        <a:rPr lang="en-US" sz="1200" b="0" i="0" u="none" strike="noStrike">
                          <a:solidFill>
                            <a:srgbClr val="000000"/>
                          </a:solidFill>
                          <a:effectLst/>
                          <a:latin typeface="+mj-lt"/>
                        </a:rPr>
                        <a:t>8</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err="1">
                          <a:solidFill>
                            <a:srgbClr val="000000"/>
                          </a:solidFill>
                          <a:effectLst/>
                          <a:latin typeface="+mj-lt"/>
                        </a:rPr>
                        <a:t>Dholera</a:t>
                      </a:r>
                      <a:r>
                        <a:rPr lang="en-US" sz="1200" b="0" i="0" u="none" strike="noStrike">
                          <a:solidFill>
                            <a:srgbClr val="000000"/>
                          </a:solidFill>
                          <a:effectLst/>
                          <a:latin typeface="+mj-lt"/>
                        </a:rPr>
                        <a:t> Ph-I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6812128"/>
                  </a:ext>
                </a:extLst>
              </a:tr>
              <a:tr h="42646">
                <a:tc>
                  <a:txBody>
                    <a:bodyPr/>
                    <a:lstStyle/>
                    <a:p>
                      <a:pPr algn="ctr" fontAlgn="t"/>
                      <a:r>
                        <a:rPr lang="en-US" sz="1200" b="0" i="0" u="none" strike="noStrike">
                          <a:solidFill>
                            <a:srgbClr val="000000"/>
                          </a:solidFill>
                          <a:effectLst/>
                          <a:latin typeface="+mj-lt"/>
                        </a:rPr>
                        <a:t>9</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NTPC RE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4750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5410847"/>
                  </a:ext>
                </a:extLst>
              </a:tr>
              <a:tr h="42646">
                <a:tc>
                  <a:txBody>
                    <a:bodyPr/>
                    <a:lstStyle/>
                    <a:p>
                      <a:pPr algn="ctr" fontAlgn="t"/>
                      <a:r>
                        <a:rPr lang="en-US" sz="1200" b="0" i="0" u="none" strike="noStrike">
                          <a:solidFill>
                            <a:srgbClr val="000000"/>
                          </a:solidFill>
                          <a:effectLst/>
                          <a:latin typeface="+mj-lt"/>
                        </a:rPr>
                        <a:t>10</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GSECL RE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3325</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9067608"/>
                  </a:ext>
                </a:extLst>
              </a:tr>
              <a:tr h="42646">
                <a:tc>
                  <a:txBody>
                    <a:bodyPr/>
                    <a:lstStyle/>
                    <a:p>
                      <a:pPr algn="ctr" fontAlgn="t"/>
                      <a:r>
                        <a:rPr lang="en-US" sz="1200" b="0" i="0" u="none" strike="noStrike">
                          <a:solidFill>
                            <a:srgbClr val="000000"/>
                          </a:solidFill>
                          <a:effectLst/>
                          <a:latin typeface="+mj-lt"/>
                        </a:rPr>
                        <a:t>11</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GIPCL RE Park Ph-I</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26338"/>
                  </a:ext>
                </a:extLst>
              </a:tr>
              <a:tr h="42646">
                <a:tc>
                  <a:txBody>
                    <a:bodyPr/>
                    <a:lstStyle/>
                    <a:p>
                      <a:pPr algn="ctr" fontAlgn="t"/>
                      <a:r>
                        <a:rPr lang="en-US" sz="1200" b="0" i="0" u="none" strike="noStrike">
                          <a:solidFill>
                            <a:srgbClr val="000000"/>
                          </a:solidFill>
                          <a:effectLst/>
                          <a:latin typeface="+mj-lt"/>
                        </a:rPr>
                        <a:t>12</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GIPCL RE Park-Ph-II</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1200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7839383"/>
                  </a:ext>
                </a:extLst>
              </a:tr>
              <a:tr h="42646">
                <a:tc>
                  <a:txBody>
                    <a:bodyPr/>
                    <a:lstStyle/>
                    <a:p>
                      <a:pPr algn="ctr" fontAlgn="t"/>
                      <a:r>
                        <a:rPr lang="en-US" sz="1200" b="0" i="0" u="none" strike="noStrike">
                          <a:solidFill>
                            <a:srgbClr val="000000"/>
                          </a:solidFill>
                          <a:effectLst/>
                          <a:latin typeface="+mj-lt"/>
                        </a:rPr>
                        <a:t>13</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GIPCL RE Park-Ph-III</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450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8504771"/>
                  </a:ext>
                </a:extLst>
              </a:tr>
              <a:tr h="42646">
                <a:tc>
                  <a:txBody>
                    <a:bodyPr/>
                    <a:lstStyle/>
                    <a:p>
                      <a:pPr algn="ctr" fontAlgn="t"/>
                      <a:r>
                        <a:rPr lang="en-US" sz="1200" b="0" i="0" u="none" strike="noStrike">
                          <a:solidFill>
                            <a:srgbClr val="000000"/>
                          </a:solidFill>
                          <a:effectLst/>
                          <a:latin typeface="+mj-lt"/>
                        </a:rPr>
                        <a:t>14</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t"/>
                      <a:r>
                        <a:rPr lang="en-US" sz="1200" b="0" i="0" u="none" strike="noStrike">
                          <a:solidFill>
                            <a:srgbClr val="000000"/>
                          </a:solidFill>
                          <a:effectLst/>
                          <a:latin typeface="+mj-lt"/>
                        </a:rPr>
                        <a:t>Himachal Pradesh</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Kaza</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880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6577396"/>
                  </a:ext>
                </a:extLst>
              </a:tr>
              <a:tr h="42646">
                <a:tc>
                  <a:txBody>
                    <a:bodyPr/>
                    <a:lstStyle/>
                    <a:p>
                      <a:pPr algn="ctr" fontAlgn="t"/>
                      <a:r>
                        <a:rPr lang="en-US" sz="1200" b="0" i="0" u="none" strike="noStrike">
                          <a:solidFill>
                            <a:srgbClr val="000000"/>
                          </a:solidFill>
                          <a:effectLst/>
                          <a:latin typeface="+mj-lt"/>
                        </a:rPr>
                        <a:t>15</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Kinnaur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227495"/>
                  </a:ext>
                </a:extLst>
              </a:tr>
              <a:tr h="42646">
                <a:tc>
                  <a:txBody>
                    <a:bodyPr/>
                    <a:lstStyle/>
                    <a:p>
                      <a:pPr algn="ctr" fontAlgn="t"/>
                      <a:r>
                        <a:rPr lang="en-US" sz="1200" b="0" i="0" u="none" strike="noStrike">
                          <a:solidFill>
                            <a:srgbClr val="000000"/>
                          </a:solidFill>
                          <a:effectLst/>
                          <a:latin typeface="+mj-lt"/>
                        </a:rPr>
                        <a:t>16</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ctr" fontAlgn="ctr"/>
                      <a:r>
                        <a:rPr lang="en-US" sz="1200" b="0" i="0" u="none" strike="noStrike">
                          <a:solidFill>
                            <a:srgbClr val="000000"/>
                          </a:solidFill>
                          <a:effectLst/>
                          <a:latin typeface="+mj-lt"/>
                        </a:rPr>
                        <a:t>Jharkhand</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Floating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6073780"/>
                  </a:ext>
                </a:extLst>
              </a:tr>
              <a:tr h="42646">
                <a:tc>
                  <a:txBody>
                    <a:bodyPr/>
                    <a:lstStyle/>
                    <a:p>
                      <a:pPr algn="ctr" fontAlgn="t"/>
                      <a:r>
                        <a:rPr lang="en-US" sz="1200" b="0" i="0" u="none" strike="noStrike">
                          <a:solidFill>
                            <a:srgbClr val="000000"/>
                          </a:solidFill>
                          <a:effectLst/>
                          <a:latin typeface="+mj-lt"/>
                        </a:rPr>
                        <a:t>17</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Deogarh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3623008"/>
                  </a:ext>
                </a:extLst>
              </a:tr>
              <a:tr h="42646">
                <a:tc>
                  <a:txBody>
                    <a:bodyPr/>
                    <a:lstStyle/>
                    <a:p>
                      <a:pPr algn="ctr" fontAlgn="t"/>
                      <a:r>
                        <a:rPr lang="en-US" sz="1200" b="0" i="0" u="none" strike="noStrike">
                          <a:solidFill>
                            <a:srgbClr val="000000"/>
                          </a:solidFill>
                          <a:effectLst/>
                          <a:latin typeface="+mj-lt"/>
                        </a:rPr>
                        <a:t>18</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err="1">
                          <a:solidFill>
                            <a:srgbClr val="000000"/>
                          </a:solidFill>
                          <a:effectLst/>
                          <a:latin typeface="+mj-lt"/>
                        </a:rPr>
                        <a:t>Palamu</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0971"/>
                  </a:ext>
                </a:extLst>
              </a:tr>
              <a:tr h="42646">
                <a:tc>
                  <a:txBody>
                    <a:bodyPr/>
                    <a:lstStyle/>
                    <a:p>
                      <a:pPr algn="ctr" fontAlgn="t"/>
                      <a:r>
                        <a:rPr lang="en-US" sz="1200" b="0" i="0" u="none" strike="noStrike">
                          <a:solidFill>
                            <a:srgbClr val="000000"/>
                          </a:solidFill>
                          <a:effectLst/>
                          <a:latin typeface="+mj-lt"/>
                        </a:rPr>
                        <a:t>19</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err="1">
                          <a:solidFill>
                            <a:srgbClr val="000000"/>
                          </a:solidFill>
                          <a:effectLst/>
                          <a:latin typeface="+mj-lt"/>
                        </a:rPr>
                        <a:t>Garwha</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9495197"/>
                  </a:ext>
                </a:extLst>
              </a:tr>
              <a:tr h="42646">
                <a:tc>
                  <a:txBody>
                    <a:bodyPr/>
                    <a:lstStyle/>
                    <a:p>
                      <a:pPr algn="ctr" fontAlgn="t"/>
                      <a:r>
                        <a:rPr lang="en-US" sz="1200" b="0" i="0" u="none" strike="noStrike">
                          <a:solidFill>
                            <a:srgbClr val="000000"/>
                          </a:solidFill>
                          <a:effectLst/>
                          <a:latin typeface="+mj-lt"/>
                        </a:rPr>
                        <a:t>20</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err="1">
                          <a:solidFill>
                            <a:srgbClr val="000000"/>
                          </a:solidFill>
                          <a:effectLst/>
                          <a:latin typeface="+mj-lt"/>
                        </a:rPr>
                        <a:t>Simdega</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6054138"/>
                  </a:ext>
                </a:extLst>
              </a:tr>
              <a:tr h="42646">
                <a:tc>
                  <a:txBody>
                    <a:bodyPr/>
                    <a:lstStyle/>
                    <a:p>
                      <a:pPr algn="ctr" fontAlgn="t"/>
                      <a:r>
                        <a:rPr lang="en-US" sz="1200" b="0" i="0" u="none" strike="noStrike">
                          <a:solidFill>
                            <a:srgbClr val="000000"/>
                          </a:solidFill>
                          <a:effectLst/>
                          <a:latin typeface="+mj-lt"/>
                        </a:rPr>
                        <a:t>21</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t"/>
                      <a:r>
                        <a:rPr lang="en-US" sz="1200" b="0" i="0" u="none" strike="noStrike">
                          <a:solidFill>
                            <a:srgbClr val="000000"/>
                          </a:solidFill>
                          <a:effectLst/>
                          <a:latin typeface="+mj-lt"/>
                        </a:rPr>
                        <a:t>Jharkhand &amp; West Bengal</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DVC Floating Solar Park Ph-I</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755</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2411655"/>
                  </a:ext>
                </a:extLst>
              </a:tr>
              <a:tr h="85291">
                <a:tc>
                  <a:txBody>
                    <a:bodyPr/>
                    <a:lstStyle/>
                    <a:p>
                      <a:pPr algn="ctr" fontAlgn="t"/>
                      <a:r>
                        <a:rPr lang="en-US" sz="1200" b="0" i="0" u="none" strike="noStrike">
                          <a:solidFill>
                            <a:srgbClr val="000000"/>
                          </a:solidFill>
                          <a:effectLst/>
                          <a:latin typeface="+mj-lt"/>
                        </a:rPr>
                        <a:t>22</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DVC Floating Solar Park Ph-</a:t>
                      </a:r>
                      <a:br>
                        <a:rPr lang="en-US" sz="1200" b="0" i="0" u="none" strike="noStrike">
                          <a:solidFill>
                            <a:srgbClr val="000000"/>
                          </a:solidFill>
                          <a:effectLst/>
                          <a:latin typeface="+mj-lt"/>
                        </a:rPr>
                      </a:br>
                      <a:r>
                        <a:rPr lang="en-US" sz="1200" b="0" i="0" u="none" strike="noStrike">
                          <a:solidFill>
                            <a:srgbClr val="000000"/>
                          </a:solidFill>
                          <a:effectLst/>
                          <a:latin typeface="+mj-lt"/>
                        </a:rPr>
                        <a:t>II</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234</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5974893"/>
                  </a:ext>
                </a:extLst>
              </a:tr>
              <a:tr h="42646">
                <a:tc>
                  <a:txBody>
                    <a:bodyPr/>
                    <a:lstStyle/>
                    <a:p>
                      <a:pPr algn="ctr" fontAlgn="t"/>
                      <a:r>
                        <a:rPr lang="en-US" sz="1200" b="0" i="0" u="none" strike="noStrike">
                          <a:solidFill>
                            <a:srgbClr val="000000"/>
                          </a:solidFill>
                          <a:effectLst/>
                          <a:latin typeface="+mj-lt"/>
                        </a:rPr>
                        <a:t>23</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t"/>
                      <a:r>
                        <a:rPr lang="en-US" sz="1200" b="0" i="0" u="none" strike="noStrike">
                          <a:solidFill>
                            <a:srgbClr val="000000"/>
                          </a:solidFill>
                          <a:effectLst/>
                          <a:latin typeface="+mj-lt"/>
                        </a:rPr>
                        <a:t>Karnataka</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Pavagada</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2000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34619650"/>
                  </a:ext>
                </a:extLst>
              </a:tr>
              <a:tr h="42646">
                <a:tc>
                  <a:txBody>
                    <a:bodyPr/>
                    <a:lstStyle/>
                    <a:p>
                      <a:pPr algn="ctr" fontAlgn="t"/>
                      <a:r>
                        <a:rPr lang="en-US" sz="1200" b="0" i="0" u="none" strike="noStrike">
                          <a:solidFill>
                            <a:srgbClr val="000000"/>
                          </a:solidFill>
                          <a:effectLst/>
                          <a:latin typeface="+mj-lt"/>
                        </a:rPr>
                        <a:t>24</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Kalburgi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8028026"/>
                  </a:ext>
                </a:extLst>
              </a:tr>
              <a:tr h="42646">
                <a:tc>
                  <a:txBody>
                    <a:bodyPr/>
                    <a:lstStyle/>
                    <a:p>
                      <a:pPr algn="ctr" fontAlgn="t"/>
                      <a:r>
                        <a:rPr lang="en-US" sz="1200" b="0" i="0" u="none" strike="noStrike">
                          <a:solidFill>
                            <a:srgbClr val="000000"/>
                          </a:solidFill>
                          <a:effectLst/>
                          <a:latin typeface="+mj-lt"/>
                        </a:rPr>
                        <a:t>25</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t"/>
                      <a:r>
                        <a:rPr lang="en-US" sz="1200" b="0" i="0" u="none" strike="noStrike">
                          <a:solidFill>
                            <a:srgbClr val="000000"/>
                          </a:solidFill>
                          <a:effectLst/>
                          <a:latin typeface="+mj-lt"/>
                        </a:rPr>
                        <a:t>Kerala</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Kasargod</a:t>
                      </a:r>
                      <a:r>
                        <a:rPr lang="en-US" sz="1200" b="0" i="0" u="none" strike="noStrike">
                          <a:solidFill>
                            <a:srgbClr val="000000"/>
                          </a:solidFill>
                          <a:effectLst/>
                          <a:latin typeface="+mj-lt"/>
                        </a:rPr>
                        <a:t>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105</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5924800"/>
                  </a:ext>
                </a:extLst>
              </a:tr>
              <a:tr h="42646">
                <a:tc>
                  <a:txBody>
                    <a:bodyPr/>
                    <a:lstStyle/>
                    <a:p>
                      <a:pPr algn="ctr" fontAlgn="t"/>
                      <a:r>
                        <a:rPr lang="en-US" sz="1200" b="0" i="0" u="none" strike="noStrike">
                          <a:solidFill>
                            <a:srgbClr val="000000"/>
                          </a:solidFill>
                          <a:effectLst/>
                          <a:latin typeface="+mj-lt"/>
                        </a:rPr>
                        <a:t>26</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algn="l" fontAlgn="t"/>
                      <a:r>
                        <a:rPr lang="en-US" sz="1200" b="0" i="0" u="none" strike="noStrike">
                          <a:solidFill>
                            <a:srgbClr val="000000"/>
                          </a:solidFill>
                          <a:effectLst/>
                          <a:latin typeface="+mj-lt"/>
                        </a:rPr>
                        <a:t>Floating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68732"/>
                  </a:ext>
                </a:extLst>
              </a:tr>
            </a:tbl>
          </a:graphicData>
        </a:graphic>
      </p:graphicFrame>
      <p:sp>
        <p:nvSpPr>
          <p:cNvPr id="3" name="TextBox 2">
            <a:extLst>
              <a:ext uri="{FF2B5EF4-FFF2-40B4-BE49-F238E27FC236}">
                <a16:creationId xmlns:a16="http://schemas.microsoft.com/office/drawing/2014/main" id="{6288F4D0-96FA-4973-414D-2A8C31E6F087}"/>
              </a:ext>
            </a:extLst>
          </p:cNvPr>
          <p:cNvSpPr txBox="1"/>
          <p:nvPr/>
        </p:nvSpPr>
        <p:spPr>
          <a:xfrm>
            <a:off x="2563442" y="6558737"/>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Lok Sabha Unstarred Question No. 440 for 08.12.2022</a:t>
            </a:r>
            <a:endParaRPr lang="en-IN" sz="800">
              <a:solidFill>
                <a:prstClr val="black"/>
              </a:solidFill>
              <a:latin typeface="Verdana"/>
            </a:endParaRPr>
          </a:p>
        </p:txBody>
      </p:sp>
      <p:sp>
        <p:nvSpPr>
          <p:cNvPr id="4" name="Text Placeholder 1">
            <a:extLst>
              <a:ext uri="{FF2B5EF4-FFF2-40B4-BE49-F238E27FC236}">
                <a16:creationId xmlns:a16="http://schemas.microsoft.com/office/drawing/2014/main" id="{15FE4F99-5CFD-4EA6-9827-D44FBF4DE209}"/>
              </a:ext>
            </a:extLst>
          </p:cNvPr>
          <p:cNvSpPr txBox="1">
            <a:spLocks/>
          </p:cNvSpPr>
          <p:nvPr/>
        </p:nvSpPr>
        <p:spPr>
          <a:xfrm>
            <a:off x="514665" y="588076"/>
            <a:ext cx="11196000" cy="326188"/>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~39.28 GW approval for solar parks have been accorded out of which, ~8 GW solar parks have been completed</a:t>
            </a:r>
          </a:p>
        </p:txBody>
      </p:sp>
      <p:cxnSp>
        <p:nvCxnSpPr>
          <p:cNvPr id="6" name="Straight Connector 5">
            <a:extLst>
              <a:ext uri="{FF2B5EF4-FFF2-40B4-BE49-F238E27FC236}">
                <a16:creationId xmlns:a16="http://schemas.microsoft.com/office/drawing/2014/main" id="{5B3A2EE3-9ED3-B196-C5F7-10C4CA77E8A8}"/>
              </a:ext>
            </a:extLst>
          </p:cNvPr>
          <p:cNvCxnSpPr/>
          <p:nvPr/>
        </p:nvCxnSpPr>
        <p:spPr>
          <a:xfrm flipV="1">
            <a:off x="514664" y="91426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0E9F6327-CB65-9029-0ABD-33DC81247AE5}"/>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cs typeface="+mj-cs"/>
              </a:rPr>
              <a:t>State-wise Details Of Solar Parks (1/3)</a:t>
            </a:r>
          </a:p>
        </p:txBody>
      </p:sp>
      <p:sp>
        <p:nvSpPr>
          <p:cNvPr id="2" name="Arrow: Right 1">
            <a:hlinkClick r:id="rId5" action="ppaction://hlinksldjump"/>
            <a:extLst>
              <a:ext uri="{FF2B5EF4-FFF2-40B4-BE49-F238E27FC236}">
                <a16:creationId xmlns:a16="http://schemas.microsoft.com/office/drawing/2014/main" id="{69064559-ADAC-9F4E-2CEB-30B18FCCC04C}"/>
              </a:ext>
            </a:extLst>
          </p:cNvPr>
          <p:cNvSpPr/>
          <p:nvPr/>
        </p:nvSpPr>
        <p:spPr bwMode="gray">
          <a:xfrm rot="10800000" flipV="1">
            <a:off x="10828730" y="6284901"/>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6" action="ppaction://hlinksldjump"/>
              </a:rPr>
              <a:t>Back</a:t>
            </a:r>
            <a:endParaRPr lang="en-US" sz="1000" b="1" dirty="0">
              <a:solidFill>
                <a:schemeClr val="bg1"/>
              </a:solidFill>
            </a:endParaRPr>
          </a:p>
        </p:txBody>
      </p:sp>
    </p:spTree>
    <p:extLst>
      <p:ext uri="{BB962C8B-B14F-4D97-AF65-F5344CB8AC3E}">
        <p14:creationId xmlns:p14="http://schemas.microsoft.com/office/powerpoint/2010/main" val="726600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2" name="Table 21">
            <a:extLst>
              <a:ext uri="{FF2B5EF4-FFF2-40B4-BE49-F238E27FC236}">
                <a16:creationId xmlns:a16="http://schemas.microsoft.com/office/drawing/2014/main" id="{7713854C-F8C9-20C4-08B9-0E6980A5AAD1}"/>
              </a:ext>
            </a:extLst>
          </p:cNvPr>
          <p:cNvGraphicFramePr>
            <a:graphicFrameLocks noGrp="1"/>
          </p:cNvGraphicFramePr>
          <p:nvPr/>
        </p:nvGraphicFramePr>
        <p:xfrm>
          <a:off x="574154" y="998874"/>
          <a:ext cx="11136508" cy="5334528"/>
        </p:xfrm>
        <a:graphic>
          <a:graphicData uri="http://schemas.openxmlformats.org/drawingml/2006/table">
            <a:tbl>
              <a:tblPr/>
              <a:tblGrid>
                <a:gridCol w="386854">
                  <a:extLst>
                    <a:ext uri="{9D8B030D-6E8A-4147-A177-3AD203B41FA5}">
                      <a16:colId xmlns:a16="http://schemas.microsoft.com/office/drawing/2014/main" val="1478154645"/>
                    </a:ext>
                  </a:extLst>
                </a:gridCol>
                <a:gridCol w="1417570">
                  <a:extLst>
                    <a:ext uri="{9D8B030D-6E8A-4147-A177-3AD203B41FA5}">
                      <a16:colId xmlns:a16="http://schemas.microsoft.com/office/drawing/2014/main" val="1137950966"/>
                    </a:ext>
                  </a:extLst>
                </a:gridCol>
                <a:gridCol w="4450177">
                  <a:extLst>
                    <a:ext uri="{9D8B030D-6E8A-4147-A177-3AD203B41FA5}">
                      <a16:colId xmlns:a16="http://schemas.microsoft.com/office/drawing/2014/main" val="1473724018"/>
                    </a:ext>
                  </a:extLst>
                </a:gridCol>
                <a:gridCol w="2884837">
                  <a:extLst>
                    <a:ext uri="{9D8B030D-6E8A-4147-A177-3AD203B41FA5}">
                      <a16:colId xmlns:a16="http://schemas.microsoft.com/office/drawing/2014/main" val="2642336511"/>
                    </a:ext>
                  </a:extLst>
                </a:gridCol>
                <a:gridCol w="1997070">
                  <a:extLst>
                    <a:ext uri="{9D8B030D-6E8A-4147-A177-3AD203B41FA5}">
                      <a16:colId xmlns:a16="http://schemas.microsoft.com/office/drawing/2014/main" val="892573371"/>
                    </a:ext>
                  </a:extLst>
                </a:gridCol>
              </a:tblGrid>
              <a:tr h="274320">
                <a:tc>
                  <a:txBody>
                    <a:bodyPr/>
                    <a:lstStyle/>
                    <a:p>
                      <a:pPr algn="ctr" fontAlgn="ctr"/>
                      <a:r>
                        <a:rPr lang="en-US" sz="1200" b="1" i="0" u="none" strike="noStrike">
                          <a:solidFill>
                            <a:srgbClr val="FFFFFF"/>
                          </a:solidFill>
                          <a:effectLst/>
                          <a:latin typeface="+mj-lt"/>
                        </a:rPr>
                        <a:t>#</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State</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Name of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Approved Capacity (MW)</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Status</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585284594"/>
                  </a:ext>
                </a:extLst>
              </a:tr>
              <a:tr h="210842">
                <a:tc>
                  <a:txBody>
                    <a:bodyPr/>
                    <a:lstStyle/>
                    <a:p>
                      <a:pPr algn="ctr" fontAlgn="t"/>
                      <a:r>
                        <a:rPr lang="en-US" sz="1200" b="0" i="0" u="none" strike="noStrike">
                          <a:solidFill>
                            <a:srgbClr val="000000"/>
                          </a:solidFill>
                          <a:effectLst/>
                          <a:latin typeface="+mj-lt"/>
                        </a:rPr>
                        <a:t>27</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9">
                  <a:txBody>
                    <a:bodyPr/>
                    <a:lstStyle/>
                    <a:p>
                      <a:pPr algn="ctr" fontAlgn="ctr"/>
                      <a:r>
                        <a:rPr lang="en-US" sz="1200" b="0" i="0" u="none" strike="noStrike">
                          <a:solidFill>
                            <a:srgbClr val="000000"/>
                          </a:solidFill>
                          <a:effectLst/>
                          <a:latin typeface="+mj-lt"/>
                        </a:rPr>
                        <a:t>Madhya Pradesh</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Rewa Solar Park</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750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38876371"/>
                  </a:ext>
                </a:extLst>
              </a:tr>
              <a:tr h="210842">
                <a:tc>
                  <a:txBody>
                    <a:bodyPr/>
                    <a:lstStyle/>
                    <a:p>
                      <a:pPr algn="ctr" fontAlgn="t"/>
                      <a:r>
                        <a:rPr lang="en-US" sz="1200" b="0" i="0" u="none" strike="noStrike">
                          <a:solidFill>
                            <a:srgbClr val="000000"/>
                          </a:solidFill>
                          <a:effectLst/>
                          <a:latin typeface="+mj-lt"/>
                        </a:rPr>
                        <a:t>28</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t"/>
                      <a:r>
                        <a:rPr lang="en-US" sz="1200" b="0" i="0" u="none" strike="noStrike">
                          <a:solidFill>
                            <a:srgbClr val="000000"/>
                          </a:solidFill>
                          <a:effectLst/>
                          <a:latin typeface="+mj-lt"/>
                        </a:rPr>
                        <a:t>Mandsaur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250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0923096"/>
                  </a:ext>
                </a:extLst>
              </a:tr>
              <a:tr h="210842">
                <a:tc>
                  <a:txBody>
                    <a:bodyPr/>
                    <a:lstStyle/>
                    <a:p>
                      <a:pPr algn="ctr" fontAlgn="t"/>
                      <a:r>
                        <a:rPr lang="en-US" sz="1200" b="0" i="0" u="none" strike="noStrike">
                          <a:solidFill>
                            <a:srgbClr val="000000"/>
                          </a:solidFill>
                          <a:effectLst/>
                          <a:latin typeface="+mj-lt"/>
                        </a:rPr>
                        <a:t>29</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err="1">
                          <a:solidFill>
                            <a:srgbClr val="000000"/>
                          </a:solidFill>
                          <a:effectLst/>
                          <a:latin typeface="+mj-lt"/>
                        </a:rPr>
                        <a:t>Neemuch</a:t>
                      </a:r>
                      <a:r>
                        <a:rPr lang="en-US" sz="1200" b="0" i="0" u="none" strike="noStrike">
                          <a:solidFill>
                            <a:srgbClr val="000000"/>
                          </a:solidFill>
                          <a:effectLst/>
                          <a:latin typeface="+mj-lt"/>
                        </a:rPr>
                        <a:t>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7487792"/>
                  </a:ext>
                </a:extLst>
              </a:tr>
              <a:tr h="210842">
                <a:tc>
                  <a:txBody>
                    <a:bodyPr/>
                    <a:lstStyle/>
                    <a:p>
                      <a:pPr algn="ctr" fontAlgn="t"/>
                      <a:r>
                        <a:rPr lang="en-US" sz="1200" b="0" i="0" u="none" strike="noStrike">
                          <a:solidFill>
                            <a:srgbClr val="000000"/>
                          </a:solidFill>
                          <a:effectLst/>
                          <a:latin typeface="+mj-lt"/>
                        </a:rPr>
                        <a:t>30</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Agar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4693590"/>
                  </a:ext>
                </a:extLst>
              </a:tr>
              <a:tr h="210842">
                <a:tc>
                  <a:txBody>
                    <a:bodyPr/>
                    <a:lstStyle/>
                    <a:p>
                      <a:pPr algn="ctr" fontAlgn="t"/>
                      <a:r>
                        <a:rPr lang="en-US" sz="1200" b="0" i="0" u="none" strike="noStrike">
                          <a:solidFill>
                            <a:srgbClr val="000000"/>
                          </a:solidFill>
                          <a:effectLst/>
                          <a:latin typeface="+mj-lt"/>
                        </a:rPr>
                        <a:t>31</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err="1">
                          <a:solidFill>
                            <a:srgbClr val="000000"/>
                          </a:solidFill>
                          <a:effectLst/>
                          <a:latin typeface="+mj-lt"/>
                        </a:rPr>
                        <a:t>Shajapur</a:t>
                      </a:r>
                      <a:r>
                        <a:rPr lang="en-US" sz="1200" b="0" i="0" u="none" strike="noStrike">
                          <a:solidFill>
                            <a:srgbClr val="000000"/>
                          </a:solidFill>
                          <a:effectLst/>
                          <a:latin typeface="+mj-lt"/>
                        </a:rPr>
                        <a:t>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1382552"/>
                  </a:ext>
                </a:extLst>
              </a:tr>
              <a:tr h="210842">
                <a:tc>
                  <a:txBody>
                    <a:bodyPr/>
                    <a:lstStyle/>
                    <a:p>
                      <a:pPr algn="ctr" fontAlgn="t"/>
                      <a:r>
                        <a:rPr lang="en-US" sz="1200" b="0" i="0" u="none" strike="noStrike">
                          <a:solidFill>
                            <a:srgbClr val="000000"/>
                          </a:solidFill>
                          <a:effectLst/>
                          <a:latin typeface="+mj-lt"/>
                        </a:rPr>
                        <a:t>32</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Chhatarpur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950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043409"/>
                  </a:ext>
                </a:extLst>
              </a:tr>
              <a:tr h="210842">
                <a:tc>
                  <a:txBody>
                    <a:bodyPr/>
                    <a:lstStyle/>
                    <a:p>
                      <a:pPr algn="ctr" fontAlgn="t"/>
                      <a:r>
                        <a:rPr lang="en-US" sz="1200" b="0" i="0" u="none" strike="noStrike">
                          <a:solidFill>
                            <a:srgbClr val="000000"/>
                          </a:solidFill>
                          <a:effectLst/>
                          <a:latin typeface="+mj-lt"/>
                        </a:rPr>
                        <a:t>33</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err="1">
                          <a:solidFill>
                            <a:srgbClr val="000000"/>
                          </a:solidFill>
                          <a:effectLst/>
                          <a:latin typeface="+mj-lt"/>
                        </a:rPr>
                        <a:t>Omkareshwar</a:t>
                      </a:r>
                      <a:r>
                        <a:rPr lang="en-US" sz="1200" b="0" i="0" u="none" strike="noStrike">
                          <a:solidFill>
                            <a:srgbClr val="000000"/>
                          </a:solidFill>
                          <a:effectLst/>
                          <a:latin typeface="+mj-lt"/>
                        </a:rPr>
                        <a:t> Floating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394630"/>
                  </a:ext>
                </a:extLst>
              </a:tr>
              <a:tr h="210842">
                <a:tc>
                  <a:txBody>
                    <a:bodyPr/>
                    <a:lstStyle/>
                    <a:p>
                      <a:pPr algn="ctr" fontAlgn="t"/>
                      <a:r>
                        <a:rPr lang="en-US" sz="1200" b="0" i="0" u="none" strike="noStrike">
                          <a:solidFill>
                            <a:srgbClr val="000000"/>
                          </a:solidFill>
                          <a:effectLst/>
                          <a:latin typeface="+mj-lt"/>
                        </a:rPr>
                        <a:t>34</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Morena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1400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4305644"/>
                  </a:ext>
                </a:extLst>
              </a:tr>
              <a:tr h="210842">
                <a:tc>
                  <a:txBody>
                    <a:bodyPr/>
                    <a:lstStyle/>
                    <a:p>
                      <a:pPr algn="ctr" fontAlgn="t"/>
                      <a:r>
                        <a:rPr lang="en-US" sz="1200" b="0" i="0" u="none" strike="noStrike">
                          <a:solidFill>
                            <a:srgbClr val="000000"/>
                          </a:solidFill>
                          <a:effectLst/>
                          <a:latin typeface="+mj-lt"/>
                        </a:rPr>
                        <a:t>35</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err="1">
                          <a:solidFill>
                            <a:srgbClr val="000000"/>
                          </a:solidFill>
                          <a:effectLst/>
                          <a:latin typeface="+mj-lt"/>
                        </a:rPr>
                        <a:t>Barethi</a:t>
                      </a:r>
                      <a:r>
                        <a:rPr lang="en-US" sz="1200" b="0" i="0" u="none" strike="noStrike">
                          <a:solidFill>
                            <a:srgbClr val="000000"/>
                          </a:solidFill>
                          <a:effectLst/>
                          <a:latin typeface="+mj-lt"/>
                        </a:rPr>
                        <a:t>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630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1433310"/>
                  </a:ext>
                </a:extLst>
              </a:tr>
              <a:tr h="210842">
                <a:tc>
                  <a:txBody>
                    <a:bodyPr/>
                    <a:lstStyle/>
                    <a:p>
                      <a:pPr algn="ctr" fontAlgn="t"/>
                      <a:r>
                        <a:rPr lang="en-US" sz="1200" b="0" i="0" u="none" strike="noStrike">
                          <a:solidFill>
                            <a:srgbClr val="000000"/>
                          </a:solidFill>
                          <a:effectLst/>
                          <a:latin typeface="+mj-lt"/>
                        </a:rPr>
                        <a:t>36</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t"/>
                      <a:r>
                        <a:rPr lang="en-US" sz="1200" b="0" i="0" u="none" strike="noStrike">
                          <a:solidFill>
                            <a:srgbClr val="000000"/>
                          </a:solidFill>
                          <a:effectLst/>
                          <a:latin typeface="+mj-lt"/>
                        </a:rPr>
                        <a:t>Maharashtra</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Sai Guru Solar Park</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6092775"/>
                  </a:ext>
                </a:extLst>
              </a:tr>
              <a:tr h="210842">
                <a:tc>
                  <a:txBody>
                    <a:bodyPr/>
                    <a:lstStyle/>
                    <a:p>
                      <a:pPr algn="ctr" fontAlgn="t"/>
                      <a:r>
                        <a:rPr lang="en-US" sz="1200" b="0" i="0" u="none" strike="noStrike">
                          <a:solidFill>
                            <a:srgbClr val="000000"/>
                          </a:solidFill>
                          <a:effectLst/>
                          <a:latin typeface="+mj-lt"/>
                        </a:rPr>
                        <a:t>37</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t"/>
                      <a:r>
                        <a:rPr lang="en-US" sz="1200" b="0" i="0" u="none" strike="noStrike" err="1">
                          <a:solidFill>
                            <a:srgbClr val="000000"/>
                          </a:solidFill>
                          <a:effectLst/>
                          <a:latin typeface="+mj-lt"/>
                        </a:rPr>
                        <a:t>Dondaicha</a:t>
                      </a:r>
                      <a:r>
                        <a:rPr lang="en-US" sz="1200" b="0" i="0" u="none" strike="noStrike">
                          <a:solidFill>
                            <a:srgbClr val="000000"/>
                          </a:solidFill>
                          <a:effectLst/>
                          <a:latin typeface="+mj-lt"/>
                        </a:rPr>
                        <a:t>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8172190"/>
                  </a:ext>
                </a:extLst>
              </a:tr>
              <a:tr h="210842">
                <a:tc>
                  <a:txBody>
                    <a:bodyPr/>
                    <a:lstStyle/>
                    <a:p>
                      <a:pPr algn="ctr" fontAlgn="t"/>
                      <a:r>
                        <a:rPr lang="en-US" sz="1200" b="0" i="0" u="none" strike="noStrike">
                          <a:solidFill>
                            <a:srgbClr val="000000"/>
                          </a:solidFill>
                          <a:effectLst/>
                          <a:latin typeface="+mj-lt"/>
                        </a:rPr>
                        <a:t>38</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Mizoram</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Vankal</a:t>
                      </a:r>
                      <a:r>
                        <a:rPr lang="en-US" sz="1200" b="0" i="0" u="none" strike="noStrike">
                          <a:solidFill>
                            <a:srgbClr val="000000"/>
                          </a:solidFill>
                          <a:effectLst/>
                          <a:latin typeface="+mj-lt"/>
                        </a:rPr>
                        <a:t> Solar Park</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1531458"/>
                  </a:ext>
                </a:extLst>
              </a:tr>
              <a:tr h="210842">
                <a:tc>
                  <a:txBody>
                    <a:bodyPr/>
                    <a:lstStyle/>
                    <a:p>
                      <a:pPr algn="ctr" fontAlgn="t"/>
                      <a:r>
                        <a:rPr lang="en-US" sz="1200" b="0" i="0" u="none" strike="noStrike">
                          <a:solidFill>
                            <a:srgbClr val="000000"/>
                          </a:solidFill>
                          <a:effectLst/>
                          <a:latin typeface="+mj-lt"/>
                        </a:rPr>
                        <a:t>39</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j-lt"/>
                        </a:rPr>
                        <a:t>Odisha</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Solar park by NHPC</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9123541"/>
                  </a:ext>
                </a:extLst>
              </a:tr>
              <a:tr h="210842">
                <a:tc>
                  <a:txBody>
                    <a:bodyPr/>
                    <a:lstStyle/>
                    <a:p>
                      <a:pPr algn="ctr" fontAlgn="t"/>
                      <a:r>
                        <a:rPr lang="en-US" sz="1200" b="0" i="0" u="none" strike="noStrike">
                          <a:solidFill>
                            <a:srgbClr val="000000"/>
                          </a:solidFill>
                          <a:effectLst/>
                          <a:latin typeface="+mj-lt"/>
                        </a:rPr>
                        <a:t>40</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t"/>
                      <a:r>
                        <a:rPr lang="en-US" sz="1200" b="0" i="0" u="none" strike="noStrike">
                          <a:solidFill>
                            <a:srgbClr val="000000"/>
                          </a:solidFill>
                          <a:effectLst/>
                          <a:latin typeface="+mj-lt"/>
                        </a:rPr>
                        <a:t>Floating Solar Park Ph-I</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818258"/>
                  </a:ext>
                </a:extLst>
              </a:tr>
              <a:tr h="210842">
                <a:tc>
                  <a:txBody>
                    <a:bodyPr/>
                    <a:lstStyle/>
                    <a:p>
                      <a:pPr algn="ctr" fontAlgn="t"/>
                      <a:r>
                        <a:rPr lang="en-US" sz="1200" b="0" i="0" u="none" strike="noStrike">
                          <a:solidFill>
                            <a:srgbClr val="000000"/>
                          </a:solidFill>
                          <a:effectLst/>
                          <a:latin typeface="+mj-lt"/>
                        </a:rPr>
                        <a:t>41</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Floating Solar Park Ph-II</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0043099"/>
                  </a:ext>
                </a:extLst>
              </a:tr>
              <a:tr h="210842">
                <a:tc>
                  <a:txBody>
                    <a:bodyPr/>
                    <a:lstStyle/>
                    <a:p>
                      <a:pPr algn="ctr" fontAlgn="t"/>
                      <a:r>
                        <a:rPr lang="en-US" sz="1200" b="0" i="0" u="none" strike="noStrike">
                          <a:solidFill>
                            <a:srgbClr val="000000"/>
                          </a:solidFill>
                          <a:effectLst/>
                          <a:latin typeface="+mj-lt"/>
                        </a:rPr>
                        <a:t>42</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9">
                  <a:txBody>
                    <a:bodyPr/>
                    <a:lstStyle/>
                    <a:p>
                      <a:pPr algn="ctr" fontAlgn="ctr"/>
                      <a:r>
                        <a:rPr lang="en-US" sz="1200" b="0" i="0" u="none" strike="noStrike">
                          <a:solidFill>
                            <a:srgbClr val="000000"/>
                          </a:solidFill>
                          <a:effectLst/>
                          <a:latin typeface="+mj-lt"/>
                        </a:rPr>
                        <a:t>Rajasthan</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200" b="0" i="0" u="none" strike="noStrike" err="1">
                          <a:solidFill>
                            <a:srgbClr val="000000"/>
                          </a:solidFill>
                          <a:effectLst/>
                          <a:latin typeface="+mj-lt"/>
                        </a:rPr>
                        <a:t>Bhadla</a:t>
                      </a:r>
                      <a:r>
                        <a:rPr lang="en-US" sz="1200" b="0" i="0" u="none" strike="noStrike">
                          <a:solidFill>
                            <a:srgbClr val="000000"/>
                          </a:solidFill>
                          <a:effectLst/>
                          <a:latin typeface="+mj-lt"/>
                        </a:rPr>
                        <a:t> Phase-II Solar Park</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680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60882886"/>
                  </a:ext>
                </a:extLst>
              </a:tr>
              <a:tr h="210842">
                <a:tc>
                  <a:txBody>
                    <a:bodyPr/>
                    <a:lstStyle/>
                    <a:p>
                      <a:pPr algn="ctr" fontAlgn="t"/>
                      <a:r>
                        <a:rPr lang="en-US" sz="1200" b="0" i="0" u="none" strike="noStrike">
                          <a:solidFill>
                            <a:srgbClr val="000000"/>
                          </a:solidFill>
                          <a:effectLst/>
                          <a:latin typeface="+mj-lt"/>
                        </a:rPr>
                        <a:t>43</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t"/>
                      <a:r>
                        <a:rPr lang="en-US" sz="1200" b="0" i="0" u="none" strike="noStrike" err="1">
                          <a:solidFill>
                            <a:srgbClr val="000000"/>
                          </a:solidFill>
                          <a:effectLst/>
                          <a:latin typeface="+mj-lt"/>
                        </a:rPr>
                        <a:t>Bhadla</a:t>
                      </a:r>
                      <a:r>
                        <a:rPr lang="en-US" sz="1200" b="0" i="0" u="none" strike="noStrike">
                          <a:solidFill>
                            <a:srgbClr val="000000"/>
                          </a:solidFill>
                          <a:effectLst/>
                          <a:latin typeface="+mj-lt"/>
                        </a:rPr>
                        <a:t> III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1000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47424050"/>
                  </a:ext>
                </a:extLst>
              </a:tr>
              <a:tr h="210842">
                <a:tc>
                  <a:txBody>
                    <a:bodyPr/>
                    <a:lstStyle/>
                    <a:p>
                      <a:pPr algn="ctr" fontAlgn="t"/>
                      <a:r>
                        <a:rPr lang="en-US" sz="1200" b="0" i="0" u="none" strike="noStrike">
                          <a:solidFill>
                            <a:srgbClr val="000000"/>
                          </a:solidFill>
                          <a:effectLst/>
                          <a:latin typeface="+mj-lt"/>
                        </a:rPr>
                        <a:t>44</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err="1">
                          <a:solidFill>
                            <a:srgbClr val="000000"/>
                          </a:solidFill>
                          <a:effectLst/>
                          <a:latin typeface="+mj-lt"/>
                        </a:rPr>
                        <a:t>Bhadla</a:t>
                      </a:r>
                      <a:r>
                        <a:rPr lang="en-US" sz="1200" b="0" i="0" u="none" strike="noStrike">
                          <a:solidFill>
                            <a:srgbClr val="000000"/>
                          </a:solidFill>
                          <a:effectLst/>
                          <a:latin typeface="+mj-lt"/>
                        </a:rPr>
                        <a:t> IV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500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t"/>
                      <a:r>
                        <a:rPr lang="en-US" sz="1200" b="0" i="0" u="none" strike="noStrike">
                          <a:solidFill>
                            <a:srgbClr val="000000"/>
                          </a:solidFill>
                          <a:effectLst/>
                          <a:latin typeface="+mj-lt"/>
                        </a:rPr>
                        <a:t>Completed</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96490114"/>
                  </a:ext>
                </a:extLst>
              </a:tr>
              <a:tr h="210842">
                <a:tc>
                  <a:txBody>
                    <a:bodyPr/>
                    <a:lstStyle/>
                    <a:p>
                      <a:pPr algn="ctr" fontAlgn="t"/>
                      <a:r>
                        <a:rPr lang="en-US" sz="1200" b="0" i="0" u="none" strike="noStrike">
                          <a:solidFill>
                            <a:srgbClr val="000000"/>
                          </a:solidFill>
                          <a:effectLst/>
                          <a:latin typeface="+mj-lt"/>
                        </a:rPr>
                        <a:t>45</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err="1">
                          <a:solidFill>
                            <a:srgbClr val="000000"/>
                          </a:solidFill>
                          <a:effectLst/>
                          <a:latin typeface="+mj-lt"/>
                        </a:rPr>
                        <a:t>Phalodi-Pokaran</a:t>
                      </a:r>
                      <a:r>
                        <a:rPr lang="en-US" sz="1200" b="0" i="0" u="none" strike="noStrike">
                          <a:solidFill>
                            <a:srgbClr val="000000"/>
                          </a:solidFill>
                          <a:effectLst/>
                          <a:latin typeface="+mj-lt"/>
                        </a:rPr>
                        <a:t>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8090653"/>
                  </a:ext>
                </a:extLst>
              </a:tr>
              <a:tr h="210842">
                <a:tc>
                  <a:txBody>
                    <a:bodyPr/>
                    <a:lstStyle/>
                    <a:p>
                      <a:pPr algn="ctr" fontAlgn="t"/>
                      <a:r>
                        <a:rPr lang="en-US" sz="1200" b="0" i="0" u="none" strike="noStrike">
                          <a:solidFill>
                            <a:srgbClr val="000000"/>
                          </a:solidFill>
                          <a:effectLst/>
                          <a:latin typeface="+mj-lt"/>
                        </a:rPr>
                        <a:t>46</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Fatehgarh Phase 1B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421</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8012166"/>
                  </a:ext>
                </a:extLst>
              </a:tr>
              <a:tr h="210842">
                <a:tc>
                  <a:txBody>
                    <a:bodyPr/>
                    <a:lstStyle/>
                    <a:p>
                      <a:pPr algn="ctr" fontAlgn="t"/>
                      <a:r>
                        <a:rPr lang="en-US" sz="1200" b="0" i="0" u="none" strike="noStrike">
                          <a:solidFill>
                            <a:srgbClr val="000000"/>
                          </a:solidFill>
                          <a:effectLst/>
                          <a:latin typeface="+mj-lt"/>
                        </a:rPr>
                        <a:t>47</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Nokh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925</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4875251"/>
                  </a:ext>
                </a:extLst>
              </a:tr>
              <a:tr h="210842">
                <a:tc>
                  <a:txBody>
                    <a:bodyPr/>
                    <a:lstStyle/>
                    <a:p>
                      <a:pPr algn="ctr" fontAlgn="t"/>
                      <a:r>
                        <a:rPr lang="en-US" sz="1200" b="0" i="0" u="none" strike="noStrike">
                          <a:solidFill>
                            <a:srgbClr val="000000"/>
                          </a:solidFill>
                          <a:effectLst/>
                          <a:latin typeface="+mj-lt"/>
                        </a:rPr>
                        <a:t>48</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Pugal Solar Park Phase-I</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5538188"/>
                  </a:ext>
                </a:extLst>
              </a:tr>
              <a:tr h="210842">
                <a:tc>
                  <a:txBody>
                    <a:bodyPr/>
                    <a:lstStyle/>
                    <a:p>
                      <a:pPr algn="ctr" fontAlgn="t"/>
                      <a:r>
                        <a:rPr lang="en-US" sz="1200" b="0" i="0" u="none" strike="noStrike">
                          <a:solidFill>
                            <a:srgbClr val="000000"/>
                          </a:solidFill>
                          <a:effectLst/>
                          <a:latin typeface="+mj-lt"/>
                        </a:rPr>
                        <a:t>49</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Pugal Solar Park Phase-II</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450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2965852"/>
                  </a:ext>
                </a:extLst>
              </a:tr>
              <a:tr h="210842">
                <a:tc>
                  <a:txBody>
                    <a:bodyPr/>
                    <a:lstStyle/>
                    <a:p>
                      <a:pPr algn="ctr" fontAlgn="t"/>
                      <a:r>
                        <a:rPr lang="en-US" sz="1200" b="0" i="0" u="none" strike="noStrike">
                          <a:solidFill>
                            <a:srgbClr val="000000"/>
                          </a:solidFill>
                          <a:effectLst/>
                          <a:latin typeface="+mj-lt"/>
                        </a:rPr>
                        <a:t>50</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RVUN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1310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447048"/>
                  </a:ext>
                </a:extLst>
              </a:tr>
            </a:tbl>
          </a:graphicData>
        </a:graphic>
      </p:graphicFrame>
      <p:sp>
        <p:nvSpPr>
          <p:cNvPr id="3" name="TextBox 2">
            <a:extLst>
              <a:ext uri="{FF2B5EF4-FFF2-40B4-BE49-F238E27FC236}">
                <a16:creationId xmlns:a16="http://schemas.microsoft.com/office/drawing/2014/main" id="{383DAC0F-B617-AF3D-26B6-60F7DFC7F1EC}"/>
              </a:ext>
            </a:extLst>
          </p:cNvPr>
          <p:cNvSpPr txBox="1"/>
          <p:nvPr/>
        </p:nvSpPr>
        <p:spPr>
          <a:xfrm>
            <a:off x="2563442" y="6558737"/>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Lok Sabha Unstarred Question No. 440 for 08.12.2022</a:t>
            </a:r>
            <a:endParaRPr lang="en-IN" sz="800">
              <a:solidFill>
                <a:prstClr val="black"/>
              </a:solidFill>
              <a:latin typeface="Verdana"/>
            </a:endParaRPr>
          </a:p>
        </p:txBody>
      </p:sp>
      <p:sp>
        <p:nvSpPr>
          <p:cNvPr id="4" name="Text Placeholder 1">
            <a:extLst>
              <a:ext uri="{FF2B5EF4-FFF2-40B4-BE49-F238E27FC236}">
                <a16:creationId xmlns:a16="http://schemas.microsoft.com/office/drawing/2014/main" id="{2A31E342-ADC9-DA77-AA83-65D4D89A8F55}"/>
              </a:ext>
            </a:extLst>
          </p:cNvPr>
          <p:cNvSpPr txBox="1">
            <a:spLocks/>
          </p:cNvSpPr>
          <p:nvPr/>
        </p:nvSpPr>
        <p:spPr>
          <a:xfrm>
            <a:off x="514665" y="588076"/>
            <a:ext cx="11196000" cy="326188"/>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~39.28 GW approval for solar parks have been accorded out of which, ~8 GW solar parks have been completed</a:t>
            </a:r>
          </a:p>
        </p:txBody>
      </p:sp>
      <p:cxnSp>
        <p:nvCxnSpPr>
          <p:cNvPr id="6" name="Straight Connector 5">
            <a:extLst>
              <a:ext uri="{FF2B5EF4-FFF2-40B4-BE49-F238E27FC236}">
                <a16:creationId xmlns:a16="http://schemas.microsoft.com/office/drawing/2014/main" id="{EA7BF69E-3FE8-44F4-ACD9-494F1DFC7555}"/>
              </a:ext>
            </a:extLst>
          </p:cNvPr>
          <p:cNvCxnSpPr/>
          <p:nvPr/>
        </p:nvCxnSpPr>
        <p:spPr>
          <a:xfrm flipV="1">
            <a:off x="514664" y="91426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9C6DA6A-E89E-155B-F7C2-870ADB3E08AA}"/>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cs typeface="+mj-cs"/>
              </a:rPr>
              <a:t>State-wise Details Of Solar Parks (2/3)</a:t>
            </a:r>
          </a:p>
        </p:txBody>
      </p:sp>
      <p:sp>
        <p:nvSpPr>
          <p:cNvPr id="2" name="Arrow: Right 1">
            <a:hlinkClick r:id="rId5" action="ppaction://hlinksldjump"/>
            <a:extLst>
              <a:ext uri="{FF2B5EF4-FFF2-40B4-BE49-F238E27FC236}">
                <a16:creationId xmlns:a16="http://schemas.microsoft.com/office/drawing/2014/main" id="{8F4D8973-8FA9-1D8B-727A-BB345E0282B7}"/>
              </a:ext>
            </a:extLst>
          </p:cNvPr>
          <p:cNvSpPr/>
          <p:nvPr/>
        </p:nvSpPr>
        <p:spPr bwMode="gray">
          <a:xfrm rot="10800000" flipV="1">
            <a:off x="10828730" y="6284901"/>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6" action="ppaction://hlinksldjump"/>
              </a:rPr>
              <a:t>Back</a:t>
            </a:r>
            <a:endParaRPr lang="en-US" sz="1000" b="1" dirty="0">
              <a:solidFill>
                <a:schemeClr val="bg1"/>
              </a:solidFill>
            </a:endParaRPr>
          </a:p>
        </p:txBody>
      </p:sp>
    </p:spTree>
    <p:extLst>
      <p:ext uri="{BB962C8B-B14F-4D97-AF65-F5344CB8AC3E}">
        <p14:creationId xmlns:p14="http://schemas.microsoft.com/office/powerpoint/2010/main" val="208404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2" name="Table 21">
            <a:extLst>
              <a:ext uri="{FF2B5EF4-FFF2-40B4-BE49-F238E27FC236}">
                <a16:creationId xmlns:a16="http://schemas.microsoft.com/office/drawing/2014/main" id="{7713854C-F8C9-20C4-08B9-0E6980A5AAD1}"/>
              </a:ext>
            </a:extLst>
          </p:cNvPr>
          <p:cNvGraphicFramePr>
            <a:graphicFrameLocks noGrp="1"/>
          </p:cNvGraphicFramePr>
          <p:nvPr/>
        </p:nvGraphicFramePr>
        <p:xfrm>
          <a:off x="569910" y="1003919"/>
          <a:ext cx="11140753" cy="2593170"/>
        </p:xfrm>
        <a:graphic>
          <a:graphicData uri="http://schemas.openxmlformats.org/drawingml/2006/table">
            <a:tbl>
              <a:tblPr/>
              <a:tblGrid>
                <a:gridCol w="418086">
                  <a:extLst>
                    <a:ext uri="{9D8B030D-6E8A-4147-A177-3AD203B41FA5}">
                      <a16:colId xmlns:a16="http://schemas.microsoft.com/office/drawing/2014/main" val="1478154645"/>
                    </a:ext>
                  </a:extLst>
                </a:gridCol>
                <a:gridCol w="1414011">
                  <a:extLst>
                    <a:ext uri="{9D8B030D-6E8A-4147-A177-3AD203B41FA5}">
                      <a16:colId xmlns:a16="http://schemas.microsoft.com/office/drawing/2014/main" val="1137950966"/>
                    </a:ext>
                  </a:extLst>
                </a:gridCol>
                <a:gridCol w="4439006">
                  <a:extLst>
                    <a:ext uri="{9D8B030D-6E8A-4147-A177-3AD203B41FA5}">
                      <a16:colId xmlns:a16="http://schemas.microsoft.com/office/drawing/2014/main" val="1473724018"/>
                    </a:ext>
                  </a:extLst>
                </a:gridCol>
                <a:gridCol w="2877595">
                  <a:extLst>
                    <a:ext uri="{9D8B030D-6E8A-4147-A177-3AD203B41FA5}">
                      <a16:colId xmlns:a16="http://schemas.microsoft.com/office/drawing/2014/main" val="2642336511"/>
                    </a:ext>
                  </a:extLst>
                </a:gridCol>
                <a:gridCol w="1992055">
                  <a:extLst>
                    <a:ext uri="{9D8B030D-6E8A-4147-A177-3AD203B41FA5}">
                      <a16:colId xmlns:a16="http://schemas.microsoft.com/office/drawing/2014/main" val="892573371"/>
                    </a:ext>
                  </a:extLst>
                </a:gridCol>
              </a:tblGrid>
              <a:tr h="288130">
                <a:tc>
                  <a:txBody>
                    <a:bodyPr/>
                    <a:lstStyle/>
                    <a:p>
                      <a:pPr algn="ctr" fontAlgn="ctr"/>
                      <a:r>
                        <a:rPr lang="en-US" sz="1200" b="1" i="0" u="none" strike="noStrike">
                          <a:solidFill>
                            <a:srgbClr val="FFFFFF"/>
                          </a:solidFill>
                          <a:effectLst/>
                          <a:latin typeface="+mj-lt"/>
                        </a:rPr>
                        <a:t>#</a:t>
                      </a:r>
                    </a:p>
                  </a:txBody>
                  <a:tcPr marL="2424" marR="2424" marT="242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State</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Name of Solar Park</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Approved Capacity (MW)</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Status</a:t>
                      </a:r>
                    </a:p>
                  </a:txBody>
                  <a:tcPr marL="2424" marR="2424" marT="242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585284594"/>
                  </a:ext>
                </a:extLst>
              </a:tr>
              <a:tr h="288130">
                <a:tc>
                  <a:txBody>
                    <a:bodyPr/>
                    <a:lstStyle/>
                    <a:p>
                      <a:pPr algn="ctr" fontAlgn="t"/>
                      <a:r>
                        <a:rPr lang="en-US" sz="1200" b="0" i="0" u="none" strike="noStrike">
                          <a:solidFill>
                            <a:srgbClr val="000000"/>
                          </a:solidFill>
                          <a:effectLst/>
                          <a:latin typeface="+mj-lt"/>
                        </a:rPr>
                        <a:t>51</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7">
                  <a:txBody>
                    <a:bodyPr/>
                    <a:lstStyle/>
                    <a:p>
                      <a:pPr algn="ctr" fontAlgn="ctr"/>
                      <a:r>
                        <a:rPr lang="en-US" sz="1200" b="0" i="0" u="none" strike="noStrike">
                          <a:solidFill>
                            <a:srgbClr val="000000"/>
                          </a:solidFill>
                          <a:effectLst/>
                          <a:latin typeface="+mj-lt"/>
                        </a:rPr>
                        <a:t>Uttar Pradesh</a:t>
                      </a:r>
                    </a:p>
                  </a:txBody>
                  <a:tcPr marL="2424" marR="2424" marT="2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Solar Park in UP</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365</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359408"/>
                  </a:ext>
                </a:extLst>
              </a:tr>
              <a:tr h="288130">
                <a:tc>
                  <a:txBody>
                    <a:bodyPr/>
                    <a:lstStyle/>
                    <a:p>
                      <a:pPr algn="ctr" fontAlgn="t"/>
                      <a:r>
                        <a:rPr lang="en-US" sz="1200" b="0" i="0" u="none" strike="noStrike">
                          <a:solidFill>
                            <a:srgbClr val="000000"/>
                          </a:solidFill>
                          <a:effectLst/>
                          <a:latin typeface="+mj-lt"/>
                        </a:rPr>
                        <a:t>52</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t"/>
                      <a:r>
                        <a:rPr lang="en-US" sz="1200" b="0" i="0" u="none" strike="noStrike">
                          <a:solidFill>
                            <a:srgbClr val="000000"/>
                          </a:solidFill>
                          <a:effectLst/>
                          <a:latin typeface="+mj-lt"/>
                        </a:rPr>
                        <a:t>Jalaun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1200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6150875"/>
                  </a:ext>
                </a:extLst>
              </a:tr>
              <a:tr h="288130">
                <a:tc>
                  <a:txBody>
                    <a:bodyPr/>
                    <a:lstStyle/>
                    <a:p>
                      <a:pPr algn="ctr" fontAlgn="t"/>
                      <a:r>
                        <a:rPr lang="en-US" sz="1200" b="0" i="0" u="none" strike="noStrike">
                          <a:solidFill>
                            <a:srgbClr val="000000"/>
                          </a:solidFill>
                          <a:effectLst/>
                          <a:latin typeface="+mj-lt"/>
                        </a:rPr>
                        <a:t>53</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Kalpi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65</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1147601"/>
                  </a:ext>
                </a:extLst>
              </a:tr>
              <a:tr h="288130">
                <a:tc>
                  <a:txBody>
                    <a:bodyPr/>
                    <a:lstStyle/>
                    <a:p>
                      <a:pPr algn="ctr" fontAlgn="t"/>
                      <a:r>
                        <a:rPr lang="en-US" sz="1200" b="0" i="0" u="none" strike="noStrike">
                          <a:solidFill>
                            <a:srgbClr val="000000"/>
                          </a:solidFill>
                          <a:effectLst/>
                          <a:latin typeface="+mj-lt"/>
                        </a:rPr>
                        <a:t>54</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Mirzapur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8997518"/>
                  </a:ext>
                </a:extLst>
              </a:tr>
              <a:tr h="288130">
                <a:tc>
                  <a:txBody>
                    <a:bodyPr/>
                    <a:lstStyle/>
                    <a:p>
                      <a:pPr algn="ctr" fontAlgn="t"/>
                      <a:r>
                        <a:rPr lang="en-US" sz="1200" b="0" i="0" u="none" strike="noStrike">
                          <a:solidFill>
                            <a:srgbClr val="000000"/>
                          </a:solidFill>
                          <a:effectLst/>
                          <a:latin typeface="+mj-lt"/>
                        </a:rPr>
                        <a:t>55</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Lalitpur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6501058"/>
                  </a:ext>
                </a:extLst>
              </a:tr>
              <a:tr h="288130">
                <a:tc>
                  <a:txBody>
                    <a:bodyPr/>
                    <a:lstStyle/>
                    <a:p>
                      <a:pPr algn="ctr" fontAlgn="t"/>
                      <a:r>
                        <a:rPr lang="en-US" sz="1200" b="0" i="0" u="none" strike="noStrike">
                          <a:solidFill>
                            <a:srgbClr val="000000"/>
                          </a:solidFill>
                          <a:effectLst/>
                          <a:latin typeface="+mj-lt"/>
                        </a:rPr>
                        <a:t>56</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Jhansi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0375808"/>
                  </a:ext>
                </a:extLst>
              </a:tr>
              <a:tr h="288130">
                <a:tc>
                  <a:txBody>
                    <a:bodyPr/>
                    <a:lstStyle/>
                    <a:p>
                      <a:pPr algn="ctr" fontAlgn="t"/>
                      <a:r>
                        <a:rPr lang="en-US" sz="1200" b="0" i="0" u="none" strike="noStrike">
                          <a:solidFill>
                            <a:srgbClr val="000000"/>
                          </a:solidFill>
                          <a:effectLst/>
                          <a:latin typeface="+mj-lt"/>
                        </a:rPr>
                        <a:t>57</a:t>
                      </a:r>
                    </a:p>
                  </a:txBody>
                  <a:tcPr marL="2424" marR="2424" marT="2424"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tcPr>
                </a:tc>
                <a:tc>
                  <a:txBody>
                    <a:bodyPr/>
                    <a:lstStyle/>
                    <a:p>
                      <a:pPr algn="l" fontAlgn="t"/>
                      <a:r>
                        <a:rPr lang="en-US" sz="1200" b="0" i="0" u="none" strike="noStrike">
                          <a:solidFill>
                            <a:srgbClr val="000000"/>
                          </a:solidFill>
                          <a:effectLst/>
                          <a:latin typeface="+mj-lt"/>
                        </a:rPr>
                        <a:t>Chitrakoot Solar Park</a:t>
                      </a:r>
                    </a:p>
                  </a:txBody>
                  <a:tcPr marL="2424" marR="2424" marT="2424" marB="0">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800</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8365032"/>
                  </a:ext>
                </a:extLst>
              </a:tr>
              <a:tr h="288130">
                <a:tc>
                  <a:txBody>
                    <a:bodyPr/>
                    <a:lstStyle/>
                    <a:p>
                      <a:pPr algn="ctr" fontAlgn="b"/>
                      <a:endParaRPr lang="en-US" sz="1200" b="0" i="0" u="none" strike="noStrike">
                        <a:solidFill>
                          <a:srgbClr val="000000"/>
                        </a:solidFill>
                        <a:effectLst/>
                        <a:latin typeface="+mj-lt"/>
                      </a:endParaRPr>
                    </a:p>
                  </a:txBody>
                  <a:tcPr marL="2424" marR="2424" marT="2424" marB="0" anchor="b">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1" i="0" u="none" strike="noStrike">
                          <a:solidFill>
                            <a:srgbClr val="000000"/>
                          </a:solidFill>
                          <a:effectLst/>
                          <a:latin typeface="+mj-lt"/>
                        </a:rPr>
                        <a:t> </a:t>
                      </a:r>
                    </a:p>
                  </a:txBody>
                  <a:tcPr marL="2424" marR="2424" marT="2424" marB="0">
                    <a:lnL>
                      <a:noFill/>
                    </a:lnL>
                    <a:lnR>
                      <a:noFill/>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1" i="0" u="none" strike="noStrike">
                          <a:solidFill>
                            <a:srgbClr val="000000"/>
                          </a:solidFill>
                          <a:effectLst/>
                          <a:latin typeface="+mj-lt"/>
                        </a:rPr>
                        <a:t> </a:t>
                      </a:r>
                    </a:p>
                  </a:txBody>
                  <a:tcPr marL="2424" marR="2424" marT="2424"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1" i="0" u="none" strike="noStrike">
                          <a:solidFill>
                            <a:srgbClr val="000000"/>
                          </a:solidFill>
                          <a:effectLst/>
                          <a:latin typeface="+mj-lt"/>
                        </a:rPr>
                        <a:t>39285</a:t>
                      </a:r>
                    </a:p>
                  </a:txBody>
                  <a:tcPr marL="2424" marR="2424" marT="24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200" b="1" i="0" u="none" strike="noStrike">
                          <a:solidFill>
                            <a:srgbClr val="000000"/>
                          </a:solidFill>
                          <a:effectLst/>
                          <a:latin typeface="+mj-lt"/>
                        </a:rPr>
                        <a:t> </a:t>
                      </a:r>
                    </a:p>
                  </a:txBody>
                  <a:tcPr marL="2424" marR="2424" marT="2424" marB="0">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0697284"/>
                  </a:ext>
                </a:extLst>
              </a:tr>
            </a:tbl>
          </a:graphicData>
        </a:graphic>
      </p:graphicFrame>
      <p:sp>
        <p:nvSpPr>
          <p:cNvPr id="3" name="TextBox 2">
            <a:extLst>
              <a:ext uri="{FF2B5EF4-FFF2-40B4-BE49-F238E27FC236}">
                <a16:creationId xmlns:a16="http://schemas.microsoft.com/office/drawing/2014/main" id="{8C205E7C-CC21-02E1-C8F2-7DB43E93478B}"/>
              </a:ext>
            </a:extLst>
          </p:cNvPr>
          <p:cNvSpPr txBox="1"/>
          <p:nvPr/>
        </p:nvSpPr>
        <p:spPr>
          <a:xfrm>
            <a:off x="2563442" y="6558737"/>
            <a:ext cx="6096000" cy="211533"/>
          </a:xfrm>
          <a:prstGeom prst="rect">
            <a:avLst/>
          </a:prstGeom>
          <a:noFill/>
        </p:spPr>
        <p:txBody>
          <a:bodyPr wrap="square">
            <a:spAutoFit/>
          </a:bodyPr>
          <a:lstStyle/>
          <a:p>
            <a:pPr defTabSz="945677">
              <a:lnSpc>
                <a:spcPct val="106000"/>
              </a:lnSpc>
              <a:defRPr/>
            </a:pPr>
            <a:r>
              <a:rPr lang="en-US" sz="800">
                <a:solidFill>
                  <a:prstClr val="black"/>
                </a:solidFill>
                <a:latin typeface="Verdana"/>
              </a:rPr>
              <a:t>Source: Lok Sabha Unstarred Question No. 440 for 08.12.2022</a:t>
            </a:r>
            <a:endParaRPr lang="en-IN" sz="800">
              <a:solidFill>
                <a:prstClr val="black"/>
              </a:solidFill>
              <a:latin typeface="Verdana"/>
            </a:endParaRPr>
          </a:p>
        </p:txBody>
      </p:sp>
      <p:sp>
        <p:nvSpPr>
          <p:cNvPr id="4" name="Text Placeholder 1">
            <a:extLst>
              <a:ext uri="{FF2B5EF4-FFF2-40B4-BE49-F238E27FC236}">
                <a16:creationId xmlns:a16="http://schemas.microsoft.com/office/drawing/2014/main" id="{1A84A81A-068F-2B11-65DF-A1FE80A22D0E}"/>
              </a:ext>
            </a:extLst>
          </p:cNvPr>
          <p:cNvSpPr txBox="1">
            <a:spLocks/>
          </p:cNvSpPr>
          <p:nvPr/>
        </p:nvSpPr>
        <p:spPr>
          <a:xfrm>
            <a:off x="514665" y="588076"/>
            <a:ext cx="11196000" cy="326188"/>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~39.28 GW approval for solar parks have been accorded out of which, ~8 GW solar parks have been completed</a:t>
            </a:r>
          </a:p>
        </p:txBody>
      </p:sp>
      <p:cxnSp>
        <p:nvCxnSpPr>
          <p:cNvPr id="6" name="Straight Connector 5">
            <a:extLst>
              <a:ext uri="{FF2B5EF4-FFF2-40B4-BE49-F238E27FC236}">
                <a16:creationId xmlns:a16="http://schemas.microsoft.com/office/drawing/2014/main" id="{0E66301B-94DB-F71D-132B-FC89E939ECC9}"/>
              </a:ext>
            </a:extLst>
          </p:cNvPr>
          <p:cNvCxnSpPr/>
          <p:nvPr/>
        </p:nvCxnSpPr>
        <p:spPr>
          <a:xfrm flipV="1">
            <a:off x="514664" y="91426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882DC80E-5893-85E3-A3C0-4C4B7E6EF7DA}"/>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cs typeface="+mj-cs"/>
              </a:rPr>
              <a:t>State-wise Details Of Solar Parks (3/3)</a:t>
            </a:r>
          </a:p>
        </p:txBody>
      </p:sp>
      <p:sp>
        <p:nvSpPr>
          <p:cNvPr id="2" name="Arrow: Right 1">
            <a:hlinkClick r:id="rId5" action="ppaction://hlinksldjump"/>
            <a:extLst>
              <a:ext uri="{FF2B5EF4-FFF2-40B4-BE49-F238E27FC236}">
                <a16:creationId xmlns:a16="http://schemas.microsoft.com/office/drawing/2014/main" id="{B24B6943-3587-CEA1-3D94-0B69FE752654}"/>
              </a:ext>
            </a:extLst>
          </p:cNvPr>
          <p:cNvSpPr/>
          <p:nvPr/>
        </p:nvSpPr>
        <p:spPr bwMode="gray">
          <a:xfrm rot="10800000" flipV="1">
            <a:off x="10828729" y="6296664"/>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6" action="ppaction://hlinksldjump"/>
              </a:rPr>
              <a:t>Back</a:t>
            </a:r>
            <a:endParaRPr lang="en-US" sz="1000" b="1" dirty="0">
              <a:solidFill>
                <a:schemeClr val="bg1"/>
              </a:solidFill>
            </a:endParaRPr>
          </a:p>
        </p:txBody>
      </p:sp>
    </p:spTree>
    <p:extLst>
      <p:ext uri="{BB962C8B-B14F-4D97-AF65-F5344CB8AC3E}">
        <p14:creationId xmlns:p14="http://schemas.microsoft.com/office/powerpoint/2010/main" val="641559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787852A-B126-ED19-1692-8603052110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B787852A-B126-ED19-1692-8603052110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 name="Rectangle 38">
            <a:extLst>
              <a:ext uri="{FF2B5EF4-FFF2-40B4-BE49-F238E27FC236}">
                <a16:creationId xmlns:a16="http://schemas.microsoft.com/office/drawing/2014/main" id="{4CEBD729-3E4E-49AB-AB9A-D185008B1A59}"/>
              </a:ext>
            </a:extLst>
          </p:cNvPr>
          <p:cNvSpPr/>
          <p:nvPr/>
        </p:nvSpPr>
        <p:spPr bwMode="gray">
          <a:xfrm>
            <a:off x="501649" y="1028318"/>
            <a:ext cx="11188700" cy="1018692"/>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171450" marR="0" lvl="0" indent="-171450" algn="just"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w="0"/>
                <a:solidFill>
                  <a:prstClr val="black"/>
                </a:solidFill>
                <a:effectLst/>
                <a:uLnTx/>
                <a:uFillTx/>
                <a:latin typeface="Verdana" panose="020B0604030504040204" pitchFamily="34" charset="0"/>
                <a:ea typeface="Verdana" panose="020B0604030504040204" pitchFamily="34" charset="0"/>
              </a:rPr>
              <a:t>Under CPSU scheme, Government/ Government entities can participate in tenders wherein tariff would be capped, and basis of bid participation would be quantum of Viability Gap Funding (VGF) quoted</a:t>
            </a:r>
          </a:p>
          <a:p>
            <a:pPr marL="171450" marR="0" lvl="0" indent="-171450" algn="just"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w="0"/>
                <a:solidFill>
                  <a:prstClr val="black"/>
                </a:solidFill>
                <a:effectLst/>
                <a:uLnTx/>
                <a:uFillTx/>
                <a:latin typeface="Verdana" panose="020B0604030504040204" pitchFamily="34" charset="0"/>
                <a:ea typeface="Verdana" panose="020B0604030504040204" pitchFamily="34" charset="0"/>
              </a:rPr>
              <a:t>Responsibility of finding buyers with the Bid winners</a:t>
            </a:r>
          </a:p>
          <a:p>
            <a:pPr marL="171450" marR="0" lvl="0" indent="-171450" algn="just"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w="0"/>
                <a:solidFill>
                  <a:prstClr val="black"/>
                </a:solidFill>
                <a:effectLst/>
                <a:uLnTx/>
                <a:uFillTx/>
                <a:latin typeface="Verdana" panose="020B0604030504040204" pitchFamily="34" charset="0"/>
                <a:ea typeface="Verdana" panose="020B0604030504040204" pitchFamily="34" charset="0"/>
              </a:rPr>
              <a:t>Results of tenders under CPSU scheme</a:t>
            </a:r>
          </a:p>
        </p:txBody>
      </p:sp>
      <p:sp>
        <p:nvSpPr>
          <p:cNvPr id="9" name="TextBox 8">
            <a:extLst>
              <a:ext uri="{FF2B5EF4-FFF2-40B4-BE49-F238E27FC236}">
                <a16:creationId xmlns:a16="http://schemas.microsoft.com/office/drawing/2014/main" id="{8ECF2850-5022-408F-83E5-B4C35CBC0743}"/>
              </a:ext>
            </a:extLst>
          </p:cNvPr>
          <p:cNvSpPr txBox="1"/>
          <p:nvPr/>
        </p:nvSpPr>
        <p:spPr>
          <a:xfrm>
            <a:off x="409443" y="2306508"/>
            <a:ext cx="3705357" cy="1038746"/>
          </a:xfrm>
          <a:prstGeom prst="rect">
            <a:avLst/>
          </a:prstGeom>
          <a:noFill/>
          <a:ln>
            <a:solidFill>
              <a:schemeClr val="accent4"/>
            </a:solidFill>
          </a:ln>
        </p:spPr>
        <p:txBody>
          <a:bodyPr wrap="square" lIns="91440" tIns="91440" rIns="0" bIns="91440" rtlCol="0">
            <a:spAutoFit/>
          </a:bodyPr>
          <a:lstStyle/>
          <a:p>
            <a:pPr marL="0" marR="0" lvl="0" indent="0" algn="l" defTabSz="914400" rtl="0" eaLnBrk="1" fontAlgn="auto" latinLnBrk="0" hangingPunct="1">
              <a:lnSpc>
                <a:spcPct val="100000"/>
              </a:lnSpc>
              <a:spcAft>
                <a:spcPts val="300"/>
              </a:spcAft>
              <a:buClrTx/>
              <a:buSzPct val="100000"/>
              <a:buFontTx/>
              <a:buNone/>
              <a:tabLst/>
              <a:defRPr/>
            </a:pPr>
            <a:r>
              <a:rPr kumimoji="0" lang="it-IT" sz="1200" b="1"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rPr>
              <a:t>SECI TRANCHE I (Aug 2019)</a:t>
            </a:r>
          </a:p>
          <a:p>
            <a:pPr marL="285750" marR="0" lvl="0" indent="-285750" algn="l" defTabSz="914400" rtl="0" eaLnBrk="1" fontAlgn="auto" latinLnBrk="0" hangingPunct="1">
              <a:lnSpc>
                <a:spcPct val="100000"/>
              </a:lnSpc>
              <a:spcAft>
                <a:spcPts val="300"/>
              </a:spcAft>
              <a:buClrTx/>
              <a:buSzPct val="100000"/>
              <a:buFont typeface="Arial" panose="020B0604020202020204" pitchFamily="34" charset="0"/>
              <a:buChar char="•"/>
              <a:tabLst/>
              <a:defRPr/>
            </a:pPr>
            <a:r>
              <a:rPr kumimoji="0" lang="it-IT" sz="1200"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rPr>
              <a:t>Targeted Capacity : 2 GW</a:t>
            </a:r>
          </a:p>
          <a:p>
            <a:pPr marL="285750" marR="0" lvl="0" indent="-285750" algn="l" defTabSz="914400" rtl="0" eaLnBrk="1" fontAlgn="auto" latinLnBrk="0" hangingPunct="1">
              <a:lnSpc>
                <a:spcPct val="100000"/>
              </a:lnSpc>
              <a:spcAft>
                <a:spcPts val="300"/>
              </a:spcAft>
              <a:buClrTx/>
              <a:buSzPct val="100000"/>
              <a:buFont typeface="Arial" panose="020B0604020202020204" pitchFamily="34" charset="0"/>
              <a:buChar char="•"/>
              <a:tabLst/>
              <a:defRPr/>
            </a:pPr>
            <a:r>
              <a:rPr kumimoji="0" lang="it-IT" sz="1200"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rPr>
              <a:t>Awarded Capacity: 922.4 MW </a:t>
            </a:r>
          </a:p>
          <a:p>
            <a:pPr marL="285750" marR="0" lvl="0" indent="-285750" algn="l" defTabSz="914400" rtl="0" eaLnBrk="1" fontAlgn="auto" latinLnBrk="0" hangingPunct="1">
              <a:lnSpc>
                <a:spcPct val="100000"/>
              </a:lnSpc>
              <a:spcAft>
                <a:spcPts val="300"/>
              </a:spcAft>
              <a:buClrTx/>
              <a:buSzPct val="100000"/>
              <a:buFont typeface="Arial" panose="020B0604020202020204" pitchFamily="34" charset="0"/>
              <a:buChar char="•"/>
              <a:tabLst/>
              <a:defRPr/>
            </a:pPr>
            <a:r>
              <a:rPr kumimoji="0" lang="it-IT" sz="1200"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rPr>
              <a:t>Capped Tariff: Rs 3.50 per kWh</a:t>
            </a:r>
          </a:p>
        </p:txBody>
      </p:sp>
      <p:graphicFrame>
        <p:nvGraphicFramePr>
          <p:cNvPr id="10" name="Table 2">
            <a:extLst>
              <a:ext uri="{FF2B5EF4-FFF2-40B4-BE49-F238E27FC236}">
                <a16:creationId xmlns:a16="http://schemas.microsoft.com/office/drawing/2014/main" id="{6156FF21-0C1E-4D3C-BD09-9F84540A540D}"/>
              </a:ext>
            </a:extLst>
          </p:cNvPr>
          <p:cNvGraphicFramePr>
            <a:graphicFrameLocks noGrp="1"/>
          </p:cNvGraphicFramePr>
          <p:nvPr/>
        </p:nvGraphicFramePr>
        <p:xfrm>
          <a:off x="409443" y="3429000"/>
          <a:ext cx="3705357" cy="2898546"/>
        </p:xfrm>
        <a:graphic>
          <a:graphicData uri="http://schemas.openxmlformats.org/drawingml/2006/table">
            <a:tbl>
              <a:tblPr firstRow="1" bandRow="1">
                <a:tableStyleId>{5C22544A-7EE6-4342-B048-85BDC9FD1C3A}</a:tableStyleId>
              </a:tblPr>
              <a:tblGrid>
                <a:gridCol w="1622839">
                  <a:extLst>
                    <a:ext uri="{9D8B030D-6E8A-4147-A177-3AD203B41FA5}">
                      <a16:colId xmlns:a16="http://schemas.microsoft.com/office/drawing/2014/main" val="4160867982"/>
                    </a:ext>
                  </a:extLst>
                </a:gridCol>
                <a:gridCol w="1126554">
                  <a:extLst>
                    <a:ext uri="{9D8B030D-6E8A-4147-A177-3AD203B41FA5}">
                      <a16:colId xmlns:a16="http://schemas.microsoft.com/office/drawing/2014/main" val="1814405210"/>
                    </a:ext>
                  </a:extLst>
                </a:gridCol>
                <a:gridCol w="955964">
                  <a:extLst>
                    <a:ext uri="{9D8B030D-6E8A-4147-A177-3AD203B41FA5}">
                      <a16:colId xmlns:a16="http://schemas.microsoft.com/office/drawing/2014/main" val="478897792"/>
                    </a:ext>
                  </a:extLst>
                </a:gridCol>
              </a:tblGrid>
              <a:tr h="535835">
                <a:tc>
                  <a:txBody>
                    <a:bodyPr/>
                    <a:lstStyle/>
                    <a:p>
                      <a:pPr algn="ctr"/>
                      <a:r>
                        <a:rPr lang="en-US" sz="1100" b="1" dirty="0">
                          <a:latin typeface="Verdana" panose="020B0604030504040204" pitchFamily="34" charset="0"/>
                          <a:ea typeface="Verdana" panose="020B0604030504040204" pitchFamily="34" charset="0"/>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sz="1100" b="1" dirty="0">
                          <a:latin typeface="Verdana" panose="020B0604030504040204" pitchFamily="34" charset="0"/>
                          <a:ea typeface="Verdana" panose="020B0604030504040204" pitchFamily="34" charset="0"/>
                        </a:rPr>
                        <a:t>VGF Quoted (Rs L/MW)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sz="1100" b="1" dirty="0">
                          <a:latin typeface="Verdana" panose="020B0604030504040204" pitchFamily="34" charset="0"/>
                          <a:ea typeface="Verdana" panose="020B0604030504040204" pitchFamily="34" charset="0"/>
                        </a:rPr>
                        <a:t>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074984821"/>
                  </a:ext>
                </a:extLst>
              </a:tr>
              <a:tr h="325329">
                <a:tc>
                  <a:txBody>
                    <a:bodyPr/>
                    <a:lstStyle/>
                    <a:p>
                      <a:pPr algn="l" fontAlgn="ctr"/>
                      <a:r>
                        <a:rPr lang="en-US" sz="1100" u="none" strike="noStrike" dirty="0">
                          <a:effectLst/>
                          <a:latin typeface="Verdana" panose="020B0604030504040204" pitchFamily="34" charset="0"/>
                          <a:ea typeface="Verdana" panose="020B0604030504040204" pitchFamily="34" charset="0"/>
                        </a:rPr>
                        <a:t>NHDC Limited</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55.00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a:effectLst/>
                          <a:latin typeface="Verdana" panose="020B0604030504040204" pitchFamily="34" charset="0"/>
                          <a:ea typeface="Verdana" panose="020B0604030504040204" pitchFamily="34" charset="0"/>
                        </a:rPr>
                        <a:t>25</a:t>
                      </a:r>
                      <a:endParaRPr lang="en-US" sz="1100" b="0" i="0" u="none" strike="noStrike">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480002">
                <a:tc>
                  <a:txBody>
                    <a:bodyPr/>
                    <a:lstStyle/>
                    <a:p>
                      <a:pPr algn="l" fontAlgn="ctr"/>
                      <a:r>
                        <a:rPr lang="en-US" sz="1100" u="none" strike="noStrike" dirty="0" err="1">
                          <a:effectLst/>
                          <a:latin typeface="Verdana" panose="020B0604030504040204" pitchFamily="34" charset="0"/>
                          <a:ea typeface="Verdana" panose="020B0604030504040204" pitchFamily="34" charset="0"/>
                        </a:rPr>
                        <a:t>Singreni</a:t>
                      </a:r>
                      <a:r>
                        <a:rPr lang="en-US" sz="1100" u="none" strike="noStrike" dirty="0">
                          <a:effectLst/>
                          <a:latin typeface="Verdana" panose="020B0604030504040204" pitchFamily="34" charset="0"/>
                          <a:ea typeface="Verdana" panose="020B0604030504040204" pitchFamily="34" charset="0"/>
                        </a:rPr>
                        <a:t> Collieries Company</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60.00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90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342161">
                <a:tc>
                  <a:txBody>
                    <a:bodyPr/>
                    <a:lstStyle/>
                    <a:p>
                      <a:pPr algn="l" fontAlgn="ctr"/>
                      <a:r>
                        <a:rPr lang="en-US" sz="1100" u="none" strike="noStrike" dirty="0">
                          <a:effectLst/>
                          <a:latin typeface="Verdana" panose="020B0604030504040204" pitchFamily="34" charset="0"/>
                          <a:ea typeface="Verdana" panose="020B0604030504040204" pitchFamily="34" charset="0"/>
                        </a:rPr>
                        <a:t>Assam Power Distribution (APDCL)</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68.00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30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480002">
                <a:tc>
                  <a:txBody>
                    <a:bodyPr/>
                    <a:lstStyle/>
                    <a:p>
                      <a:pPr algn="l" fontAlgn="ctr"/>
                      <a:r>
                        <a:rPr lang="it-IT" sz="1100" u="none" strike="noStrike" dirty="0">
                          <a:effectLst/>
                          <a:latin typeface="Verdana" panose="020B0604030504040204" pitchFamily="34" charset="0"/>
                          <a:ea typeface="Verdana" panose="020B0604030504040204" pitchFamily="34" charset="0"/>
                        </a:rPr>
                        <a:t>Delhi Metro Rail Corporation (DMRC)</a:t>
                      </a:r>
                      <a:endParaRPr lang="it-IT"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69.75</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a:effectLst/>
                          <a:latin typeface="Verdana" panose="020B0604030504040204" pitchFamily="34" charset="0"/>
                          <a:ea typeface="Verdana" panose="020B0604030504040204" pitchFamily="34" charset="0"/>
                        </a:rPr>
                        <a:t>3</a:t>
                      </a:r>
                      <a:endParaRPr lang="en-US" sz="1100" b="0" i="0" u="none" strike="noStrike">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325329">
                <a:tc>
                  <a:txBody>
                    <a:bodyPr/>
                    <a:lstStyle/>
                    <a:p>
                      <a:pPr algn="l" fontAlgn="ctr"/>
                      <a:r>
                        <a:rPr lang="en-US" sz="1100" u="none" strike="noStrike" dirty="0">
                          <a:effectLst/>
                          <a:latin typeface="Verdana" panose="020B0604030504040204" pitchFamily="34" charset="0"/>
                          <a:ea typeface="Verdana" panose="020B0604030504040204" pitchFamily="34" charset="0"/>
                        </a:rPr>
                        <a:t>Nalanda University</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69.96</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a:effectLst/>
                          <a:latin typeface="Verdana" panose="020B0604030504040204" pitchFamily="34" charset="0"/>
                          <a:ea typeface="Verdana" panose="020B0604030504040204" pitchFamily="34" charset="0"/>
                        </a:rPr>
                        <a:t>5</a:t>
                      </a:r>
                      <a:endParaRPr lang="en-US" sz="1100" b="0" i="0" u="none" strike="noStrike">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1177975"/>
                  </a:ext>
                </a:extLst>
              </a:tr>
              <a:tr h="325329">
                <a:tc>
                  <a:txBody>
                    <a:bodyPr/>
                    <a:lstStyle/>
                    <a:p>
                      <a:pPr algn="l" fontAlgn="ctr"/>
                      <a:r>
                        <a:rPr lang="en-US" sz="1100" u="none" strike="noStrike" dirty="0">
                          <a:effectLst/>
                          <a:latin typeface="Verdana" panose="020B0604030504040204" pitchFamily="34" charset="0"/>
                          <a:ea typeface="Verdana" panose="020B0604030504040204" pitchFamily="34" charset="0"/>
                        </a:rPr>
                        <a:t>NTPC Limited</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70.00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769</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231662"/>
                  </a:ext>
                </a:extLst>
              </a:tr>
            </a:tbl>
          </a:graphicData>
        </a:graphic>
      </p:graphicFrame>
      <p:sp>
        <p:nvSpPr>
          <p:cNvPr id="4" name="Text Placeholder 1">
            <a:extLst>
              <a:ext uri="{FF2B5EF4-FFF2-40B4-BE49-F238E27FC236}">
                <a16:creationId xmlns:a16="http://schemas.microsoft.com/office/drawing/2014/main" id="{AFC0BF77-8AE0-B8B0-AC4E-244266B1EFC0}"/>
              </a:ext>
            </a:extLst>
          </p:cNvPr>
          <p:cNvSpPr txBox="1">
            <a:spLocks/>
          </p:cNvSpPr>
          <p:nvPr/>
        </p:nvSpPr>
        <p:spPr>
          <a:xfrm>
            <a:off x="514665" y="588076"/>
            <a:ext cx="11196000" cy="326188"/>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Case: 7 GW already bid out under this scheme</a:t>
            </a:r>
          </a:p>
        </p:txBody>
      </p:sp>
      <p:cxnSp>
        <p:nvCxnSpPr>
          <p:cNvPr id="7" name="Straight Connector 6">
            <a:extLst>
              <a:ext uri="{FF2B5EF4-FFF2-40B4-BE49-F238E27FC236}">
                <a16:creationId xmlns:a16="http://schemas.microsoft.com/office/drawing/2014/main" id="{C8A7A619-6BCE-5839-BF26-E2D113BD5432}"/>
              </a:ext>
            </a:extLst>
          </p:cNvPr>
          <p:cNvCxnSpPr/>
          <p:nvPr/>
        </p:nvCxnSpPr>
        <p:spPr>
          <a:xfrm flipV="1">
            <a:off x="514664" y="91426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2">
            <a:extLst>
              <a:ext uri="{FF2B5EF4-FFF2-40B4-BE49-F238E27FC236}">
                <a16:creationId xmlns:a16="http://schemas.microsoft.com/office/drawing/2014/main" id="{C2BEB98A-7D1C-23C5-22BA-5D8933F81D80}"/>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Solar Projects under CPSU scheme (with VGF)</a:t>
            </a:r>
          </a:p>
        </p:txBody>
      </p:sp>
      <p:sp>
        <p:nvSpPr>
          <p:cNvPr id="2" name="TextBox 1">
            <a:extLst>
              <a:ext uri="{FF2B5EF4-FFF2-40B4-BE49-F238E27FC236}">
                <a16:creationId xmlns:a16="http://schemas.microsoft.com/office/drawing/2014/main" id="{99368610-0FC7-6B23-171A-27FCA848041B}"/>
              </a:ext>
            </a:extLst>
          </p:cNvPr>
          <p:cNvSpPr txBox="1"/>
          <p:nvPr/>
        </p:nvSpPr>
        <p:spPr>
          <a:xfrm>
            <a:off x="4306088" y="2296023"/>
            <a:ext cx="3613152" cy="1038746"/>
          </a:xfrm>
          <a:prstGeom prst="rect">
            <a:avLst/>
          </a:prstGeom>
          <a:noFill/>
          <a:ln>
            <a:solidFill>
              <a:schemeClr val="accent6"/>
            </a:solidFill>
          </a:ln>
        </p:spPr>
        <p:txBody>
          <a:bodyPr wrap="square" lIns="91440" tIns="91440" rIns="0" bIns="91440" rtlCol="0">
            <a:spAutoFit/>
          </a:bodyPr>
          <a:lstStyle>
            <a:defPPr>
              <a:defRPr lang="en-US"/>
            </a:defPPr>
            <a:lvl1pPr marR="0" lvl="0" indent="0" defTabSz="914400" fontAlgn="auto">
              <a:lnSpc>
                <a:spcPct val="100000"/>
              </a:lnSpc>
              <a:spcAft>
                <a:spcPts val="300"/>
              </a:spcAft>
              <a:buClrTx/>
              <a:buSzPct val="100000"/>
              <a:buFontTx/>
              <a:buNone/>
              <a:tabLst/>
              <a:defRPr kumimoji="0" sz="1400" b="1" i="0" u="none" strike="noStrike" cap="none" spc="0" normalizeH="0" baseline="0">
                <a:ln>
                  <a:noFill/>
                </a:ln>
                <a:solidFill>
                  <a:srgbClr val="313131"/>
                </a:solidFill>
                <a:effectLst/>
                <a:uLnTx/>
                <a:uFillTx/>
                <a:latin typeface="Verdana" panose="020B0604030504040204" pitchFamily="34" charset="0"/>
                <a:ea typeface="Verdana" panose="020B0604030504040204" pitchFamily="34" charset="0"/>
              </a:defRPr>
            </a:lvl1pPr>
          </a:lstStyle>
          <a:p>
            <a:r>
              <a:rPr lang="it-IT" sz="1200" dirty="0">
                <a:solidFill>
                  <a:schemeClr val="accent6"/>
                </a:solidFill>
              </a:rPr>
              <a:t>SECI TRANCHE II (Nov 2019)</a:t>
            </a:r>
          </a:p>
          <a:p>
            <a:pPr marL="285750" indent="-285750">
              <a:buFont typeface="Arial" panose="020B0604020202020204" pitchFamily="34" charset="0"/>
              <a:buChar char="•"/>
            </a:pPr>
            <a:r>
              <a:rPr lang="it-IT" sz="1200" b="0" dirty="0">
                <a:solidFill>
                  <a:schemeClr val="accent6"/>
                </a:solidFill>
              </a:rPr>
              <a:t>Target Capacity: 1.5 GW</a:t>
            </a:r>
          </a:p>
          <a:p>
            <a:pPr marL="285750" indent="-285750">
              <a:buFont typeface="Arial" panose="020B0604020202020204" pitchFamily="34" charset="0"/>
              <a:buChar char="•"/>
            </a:pPr>
            <a:r>
              <a:rPr lang="it-IT" sz="1200" b="0" dirty="0">
                <a:solidFill>
                  <a:schemeClr val="accent6"/>
                </a:solidFill>
              </a:rPr>
              <a:t>Awarded Capacity: 1104.8 MW</a:t>
            </a:r>
          </a:p>
          <a:p>
            <a:pPr marL="285750" indent="-285750">
              <a:buFont typeface="Arial" panose="020B0604020202020204" pitchFamily="34" charset="0"/>
              <a:buChar char="•"/>
            </a:pPr>
            <a:r>
              <a:rPr kumimoji="0" lang="it-IT" sz="1200" b="0" i="0" u="none" strike="noStrike" kern="1200" cap="none" spc="0" normalizeH="0" baseline="0" noProof="0" dirty="0">
                <a:ln>
                  <a:noFill/>
                </a:ln>
                <a:solidFill>
                  <a:schemeClr val="accent6"/>
                </a:solidFill>
                <a:effectLst/>
                <a:uLnTx/>
                <a:uFillTx/>
                <a:latin typeface="Verdana" panose="020B0604030504040204" pitchFamily="34" charset="0"/>
                <a:ea typeface="Verdana" panose="020B0604030504040204" pitchFamily="34" charset="0"/>
              </a:rPr>
              <a:t>Capped Tariff: Rs 3.50 per kWh</a:t>
            </a:r>
          </a:p>
        </p:txBody>
      </p:sp>
      <p:graphicFrame>
        <p:nvGraphicFramePr>
          <p:cNvPr id="6" name="Table 2">
            <a:extLst>
              <a:ext uri="{FF2B5EF4-FFF2-40B4-BE49-F238E27FC236}">
                <a16:creationId xmlns:a16="http://schemas.microsoft.com/office/drawing/2014/main" id="{04EB6FDF-816A-7139-1B86-FC01B13D6991}"/>
              </a:ext>
            </a:extLst>
          </p:cNvPr>
          <p:cNvGraphicFramePr>
            <a:graphicFrameLocks noGrp="1"/>
          </p:cNvGraphicFramePr>
          <p:nvPr/>
        </p:nvGraphicFramePr>
        <p:xfrm>
          <a:off x="4306088" y="3429001"/>
          <a:ext cx="3613152" cy="2898540"/>
        </p:xfrm>
        <a:graphic>
          <a:graphicData uri="http://schemas.openxmlformats.org/drawingml/2006/table">
            <a:tbl>
              <a:tblPr firstRow="1" bandRow="1">
                <a:tableStyleId>{5C22544A-7EE6-4342-B048-85BDC9FD1C3A}</a:tableStyleId>
              </a:tblPr>
              <a:tblGrid>
                <a:gridCol w="1582456">
                  <a:extLst>
                    <a:ext uri="{9D8B030D-6E8A-4147-A177-3AD203B41FA5}">
                      <a16:colId xmlns:a16="http://schemas.microsoft.com/office/drawing/2014/main" val="4160867982"/>
                    </a:ext>
                  </a:extLst>
                </a:gridCol>
                <a:gridCol w="1135711">
                  <a:extLst>
                    <a:ext uri="{9D8B030D-6E8A-4147-A177-3AD203B41FA5}">
                      <a16:colId xmlns:a16="http://schemas.microsoft.com/office/drawing/2014/main" val="1814405210"/>
                    </a:ext>
                  </a:extLst>
                </a:gridCol>
                <a:gridCol w="894985">
                  <a:extLst>
                    <a:ext uri="{9D8B030D-6E8A-4147-A177-3AD203B41FA5}">
                      <a16:colId xmlns:a16="http://schemas.microsoft.com/office/drawing/2014/main" val="478897792"/>
                    </a:ext>
                  </a:extLst>
                </a:gridCol>
              </a:tblGrid>
              <a:tr h="552586">
                <a:tc>
                  <a:txBody>
                    <a:bodyPr/>
                    <a:lstStyle/>
                    <a:p>
                      <a:pPr algn="ctr"/>
                      <a:r>
                        <a:rPr lang="en-US" sz="1100" b="1" dirty="0">
                          <a:latin typeface="Verdana" panose="020B0604030504040204" pitchFamily="34" charset="0"/>
                          <a:ea typeface="Verdana" panose="020B0604030504040204" pitchFamily="34" charset="0"/>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100" b="1" dirty="0">
                          <a:latin typeface="Verdana" panose="020B0604030504040204" pitchFamily="34" charset="0"/>
                          <a:ea typeface="Verdana" panose="020B0604030504040204" pitchFamily="34" charset="0"/>
                        </a:rPr>
                        <a:t>VGF Quoted (Rs L/MW)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100" b="1" dirty="0">
                          <a:latin typeface="Verdana" panose="020B0604030504040204" pitchFamily="34" charset="0"/>
                          <a:ea typeface="Verdana" panose="020B0604030504040204" pitchFamily="34" charset="0"/>
                        </a:rPr>
                        <a:t>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74984821"/>
                  </a:ext>
                </a:extLst>
              </a:tr>
              <a:tr h="859580">
                <a:tc>
                  <a:txBody>
                    <a:bodyPr/>
                    <a:lstStyle/>
                    <a:p>
                      <a:pPr algn="l" fontAlgn="ctr"/>
                      <a:r>
                        <a:rPr lang="en-US" sz="1100" u="none" strike="noStrike" dirty="0" err="1">
                          <a:effectLst/>
                          <a:latin typeface="Verdana" panose="020B0604030504040204" pitchFamily="34" charset="0"/>
                          <a:ea typeface="Verdana" panose="020B0604030504040204" pitchFamily="34" charset="0"/>
                        </a:rPr>
                        <a:t>Singreni</a:t>
                      </a:r>
                      <a:r>
                        <a:rPr lang="en-US" sz="1100" u="none" strike="noStrike" dirty="0">
                          <a:effectLst/>
                          <a:latin typeface="Verdana" panose="020B0604030504040204" pitchFamily="34" charset="0"/>
                          <a:ea typeface="Verdana" panose="020B0604030504040204" pitchFamily="34" charset="0"/>
                        </a:rPr>
                        <a:t> Collieries Company</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68.00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 81</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743187">
                <a:tc>
                  <a:txBody>
                    <a:bodyPr/>
                    <a:lstStyle/>
                    <a:p>
                      <a:pPr marL="0" algn="l" rtl="0" eaLnBrk="1" fontAlgn="ctr" latinLnBrk="0" hangingPunct="1">
                        <a:spcBef>
                          <a:spcPts val="0"/>
                        </a:spcBef>
                        <a:spcAft>
                          <a:spcPts val="0"/>
                        </a:spcAft>
                      </a:pPr>
                      <a:r>
                        <a:rPr lang="en-US" sz="1200" b="0" i="0" u="none" strike="noStrike" kern="1200" dirty="0">
                          <a:solidFill>
                            <a:srgbClr val="000000"/>
                          </a:solidFill>
                          <a:effectLst/>
                          <a:latin typeface="Verdana" panose="020B0604030504040204" pitchFamily="34" charset="0"/>
                          <a:ea typeface="Verdana" panose="020B0604030504040204" pitchFamily="34" charset="0"/>
                        </a:rPr>
                        <a:t>Indore Municipal Corporation</a:t>
                      </a:r>
                      <a:endParaRPr lang="en-US" sz="1800" b="0" i="0" u="none" strike="noStrike" dirty="0">
                        <a:effectLst/>
                        <a:latin typeface="Arial" panose="020B060402020202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68.80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Verdana" panose="020B0604030504040204" pitchFamily="34" charset="0"/>
                          <a:ea typeface="Verdana" panose="020B0604030504040204" pitchFamily="34" charset="0"/>
                        </a:rPr>
                        <a:t>100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743187">
                <a:tc>
                  <a:txBody>
                    <a:bodyPr/>
                    <a:lstStyle/>
                    <a:p>
                      <a:pPr algn="l" fontAlgn="ctr"/>
                      <a:r>
                        <a:rPr lang="en-US" sz="1100" u="none" strike="noStrike" dirty="0">
                          <a:effectLst/>
                          <a:latin typeface="Verdana" panose="020B0604030504040204" pitchFamily="34" charset="0"/>
                          <a:ea typeface="Verdana" panose="020B0604030504040204" pitchFamily="34" charset="0"/>
                        </a:rPr>
                        <a:t>NTPC Limited</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panose="020B0604030504040204" pitchFamily="34" charset="0"/>
                          <a:ea typeface="Verdana" panose="020B0604030504040204" pitchFamily="34" charset="0"/>
                        </a:rPr>
                        <a:t>70.00</a:t>
                      </a:r>
                      <a:endParaRPr lang="en-US" sz="1100" b="0" i="0" u="none" strike="noStrike" dirty="0">
                        <a:solidFill>
                          <a:srgbClr val="000000"/>
                        </a:solidFill>
                        <a:effectLst/>
                        <a:latin typeface="Verdana" panose="020B0604030504040204" pitchFamily="34" charset="0"/>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Verdana" panose="020B0604030504040204" pitchFamily="34" charset="0"/>
                          <a:ea typeface="Verdana" panose="020B0604030504040204" pitchFamily="34" charset="0"/>
                        </a:rPr>
                        <a:t>923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bl>
          </a:graphicData>
        </a:graphic>
      </p:graphicFrame>
      <p:sp>
        <p:nvSpPr>
          <p:cNvPr id="11" name="TextBox 10">
            <a:extLst>
              <a:ext uri="{FF2B5EF4-FFF2-40B4-BE49-F238E27FC236}">
                <a16:creationId xmlns:a16="http://schemas.microsoft.com/office/drawing/2014/main" id="{D8450811-8A57-A073-620D-1EB5298A37FD}"/>
              </a:ext>
            </a:extLst>
          </p:cNvPr>
          <p:cNvSpPr txBox="1"/>
          <p:nvPr/>
        </p:nvSpPr>
        <p:spPr>
          <a:xfrm>
            <a:off x="8110528" y="2275550"/>
            <a:ext cx="3600136" cy="1038746"/>
          </a:xfrm>
          <a:prstGeom prst="rect">
            <a:avLst/>
          </a:prstGeom>
          <a:noFill/>
          <a:ln>
            <a:solidFill>
              <a:schemeClr val="accent1"/>
            </a:solidFill>
          </a:ln>
        </p:spPr>
        <p:txBody>
          <a:bodyPr wrap="square" lIns="91440" tIns="91440" rIns="0" bIns="91440" rtlCol="0">
            <a:spAutoFit/>
          </a:bodyPr>
          <a:lstStyle>
            <a:defPPr>
              <a:defRPr lang="en-US"/>
            </a:defPPr>
            <a:lvl1pPr marR="0" lvl="0" indent="0" defTabSz="914400" fontAlgn="auto">
              <a:lnSpc>
                <a:spcPct val="100000"/>
              </a:lnSpc>
              <a:spcAft>
                <a:spcPts val="300"/>
              </a:spcAft>
              <a:buClrTx/>
              <a:buSzPct val="100000"/>
              <a:buFontTx/>
              <a:buNone/>
              <a:tabLst/>
              <a:defRPr kumimoji="0" sz="1400" b="1" i="0" u="none" strike="noStrike" cap="none" spc="0" normalizeH="0" baseline="0">
                <a:ln>
                  <a:noFill/>
                </a:ln>
                <a:solidFill>
                  <a:srgbClr val="313131"/>
                </a:solidFill>
                <a:effectLst/>
                <a:uLnTx/>
                <a:uFillTx/>
                <a:latin typeface="Verdana" panose="020B0604030504040204" pitchFamily="34" charset="0"/>
                <a:ea typeface="Verdana" panose="020B0604030504040204" pitchFamily="34" charset="0"/>
              </a:defRPr>
            </a:lvl1pPr>
          </a:lstStyle>
          <a:p>
            <a:r>
              <a:rPr lang="it-IT" sz="1200" dirty="0">
                <a:solidFill>
                  <a:schemeClr val="accent1"/>
                </a:solidFill>
              </a:rPr>
              <a:t>IREDA TRANCHE III (Sep 2021)</a:t>
            </a:r>
          </a:p>
          <a:p>
            <a:pPr marL="285750" indent="-285750">
              <a:buFont typeface="Arial" panose="020B0604020202020204" pitchFamily="34" charset="0"/>
              <a:buChar char="•"/>
            </a:pPr>
            <a:r>
              <a:rPr lang="it-IT" sz="1200" b="0" dirty="0">
                <a:solidFill>
                  <a:schemeClr val="accent1"/>
                </a:solidFill>
              </a:rPr>
              <a:t>Target Capacity: 5 GW</a:t>
            </a:r>
          </a:p>
          <a:p>
            <a:pPr marL="285750" indent="-285750">
              <a:buFont typeface="Arial" panose="020B0604020202020204" pitchFamily="34" charset="0"/>
              <a:buChar char="•"/>
            </a:pPr>
            <a:r>
              <a:rPr lang="it-IT" sz="1200" b="0" dirty="0">
                <a:solidFill>
                  <a:schemeClr val="accent1"/>
                </a:solidFill>
              </a:rPr>
              <a:t>Awarded Capacity: 5 GW</a:t>
            </a:r>
          </a:p>
          <a:p>
            <a:pPr marL="285750" indent="-285750">
              <a:buFont typeface="Arial" panose="020B0604020202020204" pitchFamily="34" charset="0"/>
              <a:buChar char="•"/>
            </a:pPr>
            <a:r>
              <a:rPr kumimoji="0" lang="it-IT" sz="1200" b="0" i="0" u="none" strike="noStrike" kern="1200" cap="none" spc="0" normalizeH="0" baseline="0" noProof="0" dirty="0">
                <a:ln>
                  <a:noFill/>
                </a:ln>
                <a:solidFill>
                  <a:schemeClr val="accent1"/>
                </a:solidFill>
                <a:effectLst/>
                <a:uLnTx/>
                <a:uFillTx/>
                <a:latin typeface="Verdana" panose="020B0604030504040204" pitchFamily="34" charset="0"/>
                <a:ea typeface="Verdana" panose="020B0604030504040204" pitchFamily="34" charset="0"/>
              </a:rPr>
              <a:t>Capped Tariff: Rs 3.50 per kWh</a:t>
            </a:r>
          </a:p>
        </p:txBody>
      </p:sp>
      <p:graphicFrame>
        <p:nvGraphicFramePr>
          <p:cNvPr id="12" name="Table 2">
            <a:extLst>
              <a:ext uri="{FF2B5EF4-FFF2-40B4-BE49-F238E27FC236}">
                <a16:creationId xmlns:a16="http://schemas.microsoft.com/office/drawing/2014/main" id="{D38E92D1-178B-976B-1961-04AB90DF64E7}"/>
              </a:ext>
            </a:extLst>
          </p:cNvPr>
          <p:cNvGraphicFramePr>
            <a:graphicFrameLocks noGrp="1"/>
          </p:cNvGraphicFramePr>
          <p:nvPr/>
        </p:nvGraphicFramePr>
        <p:xfrm>
          <a:off x="8110528" y="3428999"/>
          <a:ext cx="3613152" cy="2898543"/>
        </p:xfrm>
        <a:graphic>
          <a:graphicData uri="http://schemas.openxmlformats.org/drawingml/2006/table">
            <a:tbl>
              <a:tblPr firstRow="1" bandRow="1">
                <a:tableStyleId>{5C22544A-7EE6-4342-B048-85BDC9FD1C3A}</a:tableStyleId>
              </a:tblPr>
              <a:tblGrid>
                <a:gridCol w="1542627">
                  <a:extLst>
                    <a:ext uri="{9D8B030D-6E8A-4147-A177-3AD203B41FA5}">
                      <a16:colId xmlns:a16="http://schemas.microsoft.com/office/drawing/2014/main" val="4160867982"/>
                    </a:ext>
                  </a:extLst>
                </a:gridCol>
                <a:gridCol w="1101436">
                  <a:extLst>
                    <a:ext uri="{9D8B030D-6E8A-4147-A177-3AD203B41FA5}">
                      <a16:colId xmlns:a16="http://schemas.microsoft.com/office/drawing/2014/main" val="1814405210"/>
                    </a:ext>
                  </a:extLst>
                </a:gridCol>
                <a:gridCol w="969089">
                  <a:extLst>
                    <a:ext uri="{9D8B030D-6E8A-4147-A177-3AD203B41FA5}">
                      <a16:colId xmlns:a16="http://schemas.microsoft.com/office/drawing/2014/main" val="478897792"/>
                    </a:ext>
                  </a:extLst>
                </a:gridCol>
              </a:tblGrid>
              <a:tr h="661561">
                <a:tc>
                  <a:txBody>
                    <a:bodyPr/>
                    <a:lstStyle/>
                    <a:p>
                      <a:pPr algn="ctr"/>
                      <a:r>
                        <a:rPr lang="en-US" sz="1100" b="1" dirty="0">
                          <a:latin typeface="Verdana (Body)"/>
                          <a:ea typeface="Verdana" panose="020B0604030504040204" pitchFamily="34" charset="0"/>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Verdana (Body)"/>
                          <a:ea typeface="Verdana" panose="020B0604030504040204" pitchFamily="34" charset="0"/>
                        </a:rPr>
                        <a:t>VGF Quoted (Rs L/MW)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Verdana (Body)"/>
                          <a:ea typeface="Verdana" panose="020B0604030504040204" pitchFamily="34" charset="0"/>
                        </a:rPr>
                        <a:t>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324118">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Verdana (Body)"/>
                          <a:ea typeface="Verdana" panose="020B0604030504040204" pitchFamily="34" charset="0"/>
                        </a:rPr>
                        <a:t>SJVN Limited</a:t>
                      </a:r>
                      <a:endParaRPr lang="en-US" sz="1100" b="0" i="0" u="none" strike="noStrike" dirty="0">
                        <a:solidFill>
                          <a:schemeClr val="tx1"/>
                        </a:solidFill>
                        <a:effectLst/>
                        <a:latin typeface="Verdana (Body)"/>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44.72</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a:effectLst/>
                          <a:latin typeface="Verdana (Body)"/>
                          <a:ea typeface="Verdana" panose="020B0604030504040204" pitchFamily="34" charset="0"/>
                        </a:rPr>
                        <a:t>1,000</a:t>
                      </a:r>
                      <a:endParaRPr lang="en-US" sz="1100" b="0" i="0" u="none" strike="noStrike">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478216">
                <a:tc>
                  <a:txBody>
                    <a:bodyPr/>
                    <a:lstStyle/>
                    <a:p>
                      <a:pPr marL="0" algn="l" rtl="0" eaLnBrk="1" fontAlgn="ctr" latinLnBrk="0" hangingPunct="1">
                        <a:spcBef>
                          <a:spcPts val="0"/>
                        </a:spcBef>
                        <a:spcAft>
                          <a:spcPts val="0"/>
                        </a:spcAft>
                      </a:pPr>
                      <a:r>
                        <a:rPr lang="en-US" sz="1100" b="0" i="0" u="none" strike="noStrike" kern="1200">
                          <a:solidFill>
                            <a:schemeClr val="tx1"/>
                          </a:solidFill>
                          <a:effectLst/>
                          <a:latin typeface="Verdana (Body)"/>
                          <a:ea typeface="Verdana" panose="020B0604030504040204" pitchFamily="34" charset="0"/>
                        </a:rPr>
                        <a:t>NLC India Limited</a:t>
                      </a:r>
                      <a:endParaRPr lang="en-US" sz="1100" b="0" i="0" u="none" strike="noStrike">
                        <a:solidFill>
                          <a:schemeClr val="tx1"/>
                        </a:solidFill>
                        <a:effectLst/>
                        <a:latin typeface="Verdana (Body)"/>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44.75</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   510</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478216">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Verdana (Body)"/>
                          <a:ea typeface="Verdana" panose="020B0604030504040204" pitchFamily="34" charset="0"/>
                        </a:rPr>
                        <a:t>NHPC Limited</a:t>
                      </a:r>
                      <a:endParaRPr lang="en-US" sz="1100" b="0" i="0" u="none" strike="noStrike" dirty="0">
                        <a:solidFill>
                          <a:schemeClr val="tx1"/>
                        </a:solidFill>
                        <a:effectLst/>
                        <a:latin typeface="Verdana (Body)"/>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44.90</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1,000</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478216">
                <a:tc>
                  <a:txBody>
                    <a:bodyPr/>
                    <a:lstStyle/>
                    <a:p>
                      <a:pPr algn="l" fontAlgn="ctr"/>
                      <a:r>
                        <a:rPr lang="en-US" sz="1100" u="none" strike="noStrike" dirty="0">
                          <a:effectLst/>
                          <a:latin typeface="Verdana (Body)"/>
                          <a:ea typeface="Verdana" panose="020B0604030504040204" pitchFamily="34" charset="0"/>
                        </a:rPr>
                        <a:t>IRCON International Ltd</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44.94</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  500</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083939"/>
                  </a:ext>
                </a:extLst>
              </a:tr>
              <a:tr h="478216">
                <a:tc>
                  <a:txBody>
                    <a:bodyPr/>
                    <a:lstStyle/>
                    <a:p>
                      <a:pPr algn="l" fontAlgn="ctr"/>
                      <a:r>
                        <a:rPr lang="en-US" sz="1100" u="none" strike="noStrike" dirty="0">
                          <a:effectLst/>
                          <a:latin typeface="Verdana (Body)"/>
                          <a:ea typeface="Verdana" panose="020B0604030504040204" pitchFamily="34" charset="0"/>
                        </a:rPr>
                        <a:t>NTPC Limited</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44.95</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Verdana (Body)"/>
                          <a:ea typeface="Verdana" panose="020B0604030504040204" pitchFamily="34" charset="0"/>
                        </a:rPr>
                        <a:t>1,990</a:t>
                      </a:r>
                      <a:endParaRPr lang="en-US" sz="1100" b="0" i="0" u="none" strike="noStrike" dirty="0">
                        <a:solidFill>
                          <a:srgbClr val="000000"/>
                        </a:solidFill>
                        <a:effectLst/>
                        <a:latin typeface="Verdana (Body)"/>
                        <a:ea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9888734"/>
                  </a:ext>
                </a:extLst>
              </a:tr>
            </a:tbl>
          </a:graphicData>
        </a:graphic>
      </p:graphicFrame>
      <p:sp>
        <p:nvSpPr>
          <p:cNvPr id="3" name="Arrow: Right 2">
            <a:hlinkClick r:id="rId5" action="ppaction://hlinksldjump"/>
            <a:extLst>
              <a:ext uri="{FF2B5EF4-FFF2-40B4-BE49-F238E27FC236}">
                <a16:creationId xmlns:a16="http://schemas.microsoft.com/office/drawing/2014/main" id="{304AD6B8-F75D-D245-BABF-57B7E2B2843E}"/>
              </a:ext>
            </a:extLst>
          </p:cNvPr>
          <p:cNvSpPr/>
          <p:nvPr/>
        </p:nvSpPr>
        <p:spPr bwMode="gray">
          <a:xfrm rot="10800000" flipV="1">
            <a:off x="10828729" y="6331389"/>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5" action="ppaction://hlinksldjump"/>
              </a:rPr>
              <a:t>Back</a:t>
            </a:r>
            <a:endParaRPr lang="en-US" sz="1000" b="1" dirty="0">
              <a:solidFill>
                <a:schemeClr val="bg1"/>
              </a:solidFill>
            </a:endParaRPr>
          </a:p>
        </p:txBody>
      </p:sp>
    </p:spTree>
    <p:extLst>
      <p:ext uri="{BB962C8B-B14F-4D97-AF65-F5344CB8AC3E}">
        <p14:creationId xmlns:p14="http://schemas.microsoft.com/office/powerpoint/2010/main" val="71200171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787852A-B126-ED19-1692-8603052110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B787852A-B126-ED19-1692-8603052110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AFC0BF77-8AE0-B8B0-AC4E-244266B1EFC0}"/>
              </a:ext>
            </a:extLst>
          </p:cNvPr>
          <p:cNvSpPr txBox="1">
            <a:spLocks/>
          </p:cNvSpPr>
          <p:nvPr/>
        </p:nvSpPr>
        <p:spPr>
          <a:xfrm>
            <a:off x="514665" y="588076"/>
            <a:ext cx="11196000" cy="326188"/>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solidFill>
                  <a:schemeClr val="bg2">
                    <a:lumMod val="50000"/>
                  </a:schemeClr>
                </a:solidFill>
              </a:rPr>
              <a:t>Capex breakup of 250 MW as per pro-rata basis</a:t>
            </a:r>
            <a:endParaRPr lang="en-US" dirty="0">
              <a:solidFill>
                <a:schemeClr val="bg2">
                  <a:lumMod val="50000"/>
                </a:schemeClr>
              </a:solidFill>
            </a:endParaRPr>
          </a:p>
        </p:txBody>
      </p:sp>
      <p:cxnSp>
        <p:nvCxnSpPr>
          <p:cNvPr id="7" name="Straight Connector 6">
            <a:extLst>
              <a:ext uri="{FF2B5EF4-FFF2-40B4-BE49-F238E27FC236}">
                <a16:creationId xmlns:a16="http://schemas.microsoft.com/office/drawing/2014/main" id="{C8A7A619-6BCE-5839-BF26-E2D113BD5432}"/>
              </a:ext>
            </a:extLst>
          </p:cNvPr>
          <p:cNvCxnSpPr/>
          <p:nvPr/>
        </p:nvCxnSpPr>
        <p:spPr>
          <a:xfrm flipV="1">
            <a:off x="514664" y="91426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2">
            <a:extLst>
              <a:ext uri="{FF2B5EF4-FFF2-40B4-BE49-F238E27FC236}">
                <a16:creationId xmlns:a16="http://schemas.microsoft.com/office/drawing/2014/main" id="{C2BEB98A-7D1C-23C5-22BA-5D8933F81D80}"/>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cs typeface="+mj-cs"/>
              </a:rPr>
              <a:t>Breakup of Capex Cost as per DPR</a:t>
            </a:r>
            <a:endParaRPr lang="en-US" sz="1800" b="1" dirty="0">
              <a:latin typeface="Verdana" panose="020B0604030504040204" pitchFamily="34" charset="0"/>
              <a:ea typeface="Verdana" panose="020B0604030504040204" pitchFamily="34" charset="0"/>
              <a:cs typeface="+mj-cs"/>
            </a:endParaRPr>
          </a:p>
        </p:txBody>
      </p:sp>
      <p:sp>
        <p:nvSpPr>
          <p:cNvPr id="3" name="Arrow: Right 2">
            <a:hlinkClick r:id="rId5" action="ppaction://hlinksldjump"/>
            <a:extLst>
              <a:ext uri="{FF2B5EF4-FFF2-40B4-BE49-F238E27FC236}">
                <a16:creationId xmlns:a16="http://schemas.microsoft.com/office/drawing/2014/main" id="{304AD6B8-F75D-D245-BABF-57B7E2B2843E}"/>
              </a:ext>
            </a:extLst>
          </p:cNvPr>
          <p:cNvSpPr/>
          <p:nvPr/>
        </p:nvSpPr>
        <p:spPr bwMode="gray">
          <a:xfrm rot="10800000" flipV="1">
            <a:off x="10828729" y="6331389"/>
            <a:ext cx="881934" cy="294936"/>
          </a:xfrm>
          <a:prstGeom prst="rightArrow">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5" action="ppaction://hlinksldjump"/>
              </a:rPr>
              <a:t>Back</a:t>
            </a:r>
            <a:endParaRPr lang="en-US" sz="1000" b="1" dirty="0">
              <a:solidFill>
                <a:schemeClr val="bg1"/>
              </a:solidFill>
            </a:endParaRPr>
          </a:p>
        </p:txBody>
      </p:sp>
      <p:graphicFrame>
        <p:nvGraphicFramePr>
          <p:cNvPr id="14" name="Table 13">
            <a:extLst>
              <a:ext uri="{FF2B5EF4-FFF2-40B4-BE49-F238E27FC236}">
                <a16:creationId xmlns:a16="http://schemas.microsoft.com/office/drawing/2014/main" id="{F37AC5E8-3F54-A198-4367-336D74A8854F}"/>
              </a:ext>
            </a:extLst>
          </p:cNvPr>
          <p:cNvGraphicFramePr>
            <a:graphicFrameLocks noGrp="1"/>
          </p:cNvGraphicFramePr>
          <p:nvPr>
            <p:extLst>
              <p:ext uri="{D42A27DB-BD31-4B8C-83A1-F6EECF244321}">
                <p14:modId xmlns:p14="http://schemas.microsoft.com/office/powerpoint/2010/main" val="2358222012"/>
              </p:ext>
            </p:extLst>
          </p:nvPr>
        </p:nvGraphicFramePr>
        <p:xfrm>
          <a:off x="514663" y="1226184"/>
          <a:ext cx="10955846" cy="4491895"/>
        </p:xfrm>
        <a:graphic>
          <a:graphicData uri="http://schemas.openxmlformats.org/drawingml/2006/table">
            <a:tbl>
              <a:tblPr/>
              <a:tblGrid>
                <a:gridCol w="560292">
                  <a:extLst>
                    <a:ext uri="{9D8B030D-6E8A-4147-A177-3AD203B41FA5}">
                      <a16:colId xmlns:a16="http://schemas.microsoft.com/office/drawing/2014/main" val="2540982832"/>
                    </a:ext>
                  </a:extLst>
                </a:gridCol>
                <a:gridCol w="4699346">
                  <a:extLst>
                    <a:ext uri="{9D8B030D-6E8A-4147-A177-3AD203B41FA5}">
                      <a16:colId xmlns:a16="http://schemas.microsoft.com/office/drawing/2014/main" val="2247525437"/>
                    </a:ext>
                  </a:extLst>
                </a:gridCol>
                <a:gridCol w="1517603">
                  <a:extLst>
                    <a:ext uri="{9D8B030D-6E8A-4147-A177-3AD203B41FA5}">
                      <a16:colId xmlns:a16="http://schemas.microsoft.com/office/drawing/2014/main" val="1264550177"/>
                    </a:ext>
                  </a:extLst>
                </a:gridCol>
                <a:gridCol w="1517603">
                  <a:extLst>
                    <a:ext uri="{9D8B030D-6E8A-4147-A177-3AD203B41FA5}">
                      <a16:colId xmlns:a16="http://schemas.microsoft.com/office/drawing/2014/main" val="3490020822"/>
                    </a:ext>
                  </a:extLst>
                </a:gridCol>
                <a:gridCol w="1330501">
                  <a:extLst>
                    <a:ext uri="{9D8B030D-6E8A-4147-A177-3AD203B41FA5}">
                      <a16:colId xmlns:a16="http://schemas.microsoft.com/office/drawing/2014/main" val="977118135"/>
                    </a:ext>
                  </a:extLst>
                </a:gridCol>
                <a:gridCol w="1330501">
                  <a:extLst>
                    <a:ext uri="{9D8B030D-6E8A-4147-A177-3AD203B41FA5}">
                      <a16:colId xmlns:a16="http://schemas.microsoft.com/office/drawing/2014/main" val="1483628826"/>
                    </a:ext>
                  </a:extLst>
                </a:gridCol>
              </a:tblGrid>
              <a:tr h="373510">
                <a:tc>
                  <a:txBody>
                    <a:bodyPr/>
                    <a:lstStyle/>
                    <a:p>
                      <a:pPr algn="l" fontAlgn="b"/>
                      <a:r>
                        <a:rPr lang="en-US" sz="1100" b="0" i="0" u="none" strike="noStrike">
                          <a:solidFill>
                            <a:srgbClr val="000000"/>
                          </a:solidFill>
                          <a:effectLst/>
                          <a:latin typeface="+mj-lt"/>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mj-lt"/>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t"/>
                      <a:r>
                        <a:rPr lang="en-US" sz="1100" b="1" i="0" u="none" strike="noStrike" dirty="0">
                          <a:solidFill>
                            <a:srgbClr val="000000"/>
                          </a:solidFill>
                          <a:effectLst/>
                          <a:latin typeface="+mj-lt"/>
                        </a:rPr>
                        <a:t>For 750 MW (As per DPR)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t"/>
                      <a:endParaRPr lang="en-US" sz="1100" b="1" i="0" u="none" strike="noStrike" dirty="0">
                        <a:solidFill>
                          <a:srgbClr val="000000"/>
                        </a:solidFill>
                        <a:effectLst/>
                        <a:latin typeface="+mj-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t"/>
                      <a:r>
                        <a:rPr lang="en-US" sz="1100" b="1" i="0" u="none" strike="noStrike" dirty="0">
                          <a:solidFill>
                            <a:srgbClr val="000000"/>
                          </a:solidFill>
                          <a:effectLst/>
                          <a:latin typeface="+mj-lt"/>
                        </a:rPr>
                        <a:t>For 250 MW (pro-rated)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t"/>
                      <a:endParaRPr lang="en-US" sz="1100" b="1" i="0" u="none" strike="noStrike" dirty="0">
                        <a:solidFill>
                          <a:srgbClr val="000000"/>
                        </a:solidFill>
                        <a:effectLst/>
                        <a:latin typeface="+mj-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7822305"/>
                  </a:ext>
                </a:extLst>
              </a:tr>
              <a:tr h="444325">
                <a:tc>
                  <a:txBody>
                    <a:bodyPr/>
                    <a:lstStyle/>
                    <a:p>
                      <a:pPr algn="ctr" fontAlgn="ctr"/>
                      <a:r>
                        <a:rPr lang="en-US" sz="1100" b="1" i="0" u="none" strike="noStrike" dirty="0" err="1">
                          <a:solidFill>
                            <a:srgbClr val="FFFFFF"/>
                          </a:solidFill>
                          <a:effectLst/>
                          <a:latin typeface="+mj-lt"/>
                        </a:rPr>
                        <a:t>S.No</a:t>
                      </a:r>
                      <a:endParaRPr lang="en-US" sz="1100" b="1" i="0" u="none" strike="noStrike" dirty="0">
                        <a:solidFill>
                          <a:srgbClr val="FFFFFF"/>
                        </a:solidFill>
                        <a:effectLst/>
                        <a:latin typeface="+mj-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Description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Cost in ₹ Crores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Cost in USD Mn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Cost in ₹ Crores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100" b="1" i="0" u="none" strike="noStrike" kern="1200" dirty="0">
                          <a:solidFill>
                            <a:srgbClr val="FFFFFF"/>
                          </a:solidFill>
                          <a:effectLst/>
                          <a:latin typeface="+mn-lt"/>
                          <a:ea typeface="+mn-ea"/>
                          <a:cs typeface="+mn-cs"/>
                        </a:rPr>
                        <a:t>Cost in USD Mn</a:t>
                      </a:r>
                      <a:endParaRPr lang="en-US" sz="1100" b="1" i="0" u="none" strike="noStrike" dirty="0">
                        <a:solidFill>
                          <a:srgbClr val="FFFFFF"/>
                        </a:solidFill>
                        <a:effectLst/>
                        <a:latin typeface="+mj-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1794624785"/>
                  </a:ext>
                </a:extLst>
              </a:tr>
              <a:tr h="222162">
                <a:tc>
                  <a:txBody>
                    <a:bodyPr/>
                    <a:lstStyle/>
                    <a:p>
                      <a:pPr algn="ctr" fontAlgn="t"/>
                      <a:r>
                        <a:rPr lang="en-US" sz="1100" b="0" i="0" u="none" strike="noStrike">
                          <a:solidFill>
                            <a:srgbClr val="000000"/>
                          </a:solidFill>
                          <a:effectLst/>
                          <a:latin typeface="+mj-lt"/>
                        </a:rPr>
                        <a:t>A</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400/33 kV Pooling Substation</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304.69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36.71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101.56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12.24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1784725"/>
                  </a:ext>
                </a:extLst>
              </a:tr>
              <a:tr h="222162">
                <a:tc>
                  <a:txBody>
                    <a:bodyPr/>
                    <a:lstStyle/>
                    <a:p>
                      <a:pPr algn="ctr" fontAlgn="t"/>
                      <a:r>
                        <a:rPr lang="en-US" sz="1100" b="0" i="0" u="none" strike="noStrike">
                          <a:solidFill>
                            <a:srgbClr val="000000"/>
                          </a:solidFill>
                          <a:effectLst/>
                          <a:latin typeface="+mj-lt"/>
                        </a:rPr>
                        <a: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Building</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14.49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1.75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4.83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0.58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3130436"/>
                  </a:ext>
                </a:extLst>
              </a:tr>
              <a:tr h="222162">
                <a:tc>
                  <a:txBody>
                    <a:bodyPr/>
                    <a:lstStyle/>
                    <a:p>
                      <a:pPr algn="ctr" fontAlgn="t"/>
                      <a:r>
                        <a:rPr lang="en-US" sz="1100" b="0" i="0" u="none" strike="noStrike">
                          <a:solidFill>
                            <a:srgbClr val="000000"/>
                          </a:solidFill>
                          <a:effectLst/>
                          <a:latin typeface="+mj-lt"/>
                        </a:rPr>
                        <a:t>C</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Al59 Twin Moose conductor (S/C)</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0.04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0.00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0.01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a:solidFill>
                            <a:srgbClr val="000000"/>
                          </a:solidFill>
                          <a:effectLst/>
                          <a:latin typeface="+mj-lt"/>
                          <a:ea typeface="+mn-ea"/>
                          <a:cs typeface="+mn-cs"/>
                        </a:rPr>
                        <a:t>0.00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6789472"/>
                  </a:ext>
                </a:extLst>
              </a:tr>
              <a:tr h="222162">
                <a:tc>
                  <a:txBody>
                    <a:bodyPr/>
                    <a:lstStyle/>
                    <a:p>
                      <a:pPr algn="ctr" fontAlgn="t"/>
                      <a:r>
                        <a:rPr lang="en-US" sz="1100" b="0" i="0" u="none" strike="noStrike">
                          <a:solidFill>
                            <a:srgbClr val="000000"/>
                          </a:solidFill>
                          <a:effectLst/>
                          <a:latin typeface="+mj-lt"/>
                        </a:rPr>
                        <a:t>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Site development</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103.36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12.45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34.45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4.15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225146"/>
                  </a:ext>
                </a:extLst>
              </a:tr>
              <a:tr h="222162">
                <a:tc>
                  <a:txBody>
                    <a:bodyPr/>
                    <a:lstStyle/>
                    <a:p>
                      <a:pPr algn="ctr" fontAlgn="t"/>
                      <a:r>
                        <a:rPr lang="en-US" sz="1100" b="0" i="0" u="none" strike="noStrike">
                          <a:solidFill>
                            <a:srgbClr val="000000"/>
                          </a:solidFill>
                          <a:effectLst/>
                          <a:latin typeface="+mj-lt"/>
                        </a:rPr>
                        <a:t>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Illumination System</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4.33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0.52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1.44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a:solidFill>
                            <a:srgbClr val="000000"/>
                          </a:solidFill>
                          <a:effectLst/>
                          <a:latin typeface="+mj-lt"/>
                          <a:ea typeface="+mn-ea"/>
                          <a:cs typeface="+mn-cs"/>
                        </a:rPr>
                        <a:t>0.17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6667144"/>
                  </a:ext>
                </a:extLst>
              </a:tr>
              <a:tr h="222162">
                <a:tc>
                  <a:txBody>
                    <a:bodyPr/>
                    <a:lstStyle/>
                    <a:p>
                      <a:pPr algn="ctr" fontAlgn="t"/>
                      <a:r>
                        <a:rPr lang="en-US" sz="1100" b="0" i="0" u="none" strike="noStrike">
                          <a:solidFill>
                            <a:srgbClr val="000000"/>
                          </a:solidFill>
                          <a:effectLst/>
                          <a:latin typeface="+mj-lt"/>
                        </a:rPr>
                        <a:t>F</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Statutory charges</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20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2.41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0.80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6103119"/>
                  </a:ext>
                </a:extLst>
              </a:tr>
              <a:tr h="222162">
                <a:tc>
                  <a:txBody>
                    <a:bodyPr/>
                    <a:lstStyle/>
                    <a:p>
                      <a:pPr algn="ctr" fontAlgn="t"/>
                      <a:r>
                        <a:rPr lang="en-US" sz="1100" b="0" i="0" u="none" strike="noStrike">
                          <a:solidFill>
                            <a:srgbClr val="000000"/>
                          </a:solidFill>
                          <a:effectLst/>
                          <a:latin typeface="+mj-lt"/>
                        </a:rPr>
                        <a:t>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mj-lt"/>
                        </a:rPr>
                        <a:t>Miscellaneous charges</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246.09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29.65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82.03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9.88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8519022"/>
                  </a:ext>
                </a:extLst>
              </a:tr>
              <a:tr h="222162">
                <a:tc>
                  <a:txBody>
                    <a:bodyPr/>
                    <a:lstStyle/>
                    <a:p>
                      <a:pPr algn="ctr" fontAlgn="t"/>
                      <a:r>
                        <a:rPr lang="en-US" sz="1100" b="0" i="0" u="none" strike="noStrike">
                          <a:solidFill>
                            <a:srgbClr val="000000"/>
                          </a:solidFill>
                          <a:effectLst/>
                          <a:latin typeface="+mj-lt"/>
                        </a:rPr>
                        <a:t>H</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mj-lt"/>
                        </a:rPr>
                        <a:t>Engineering Fee</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50.96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6.14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16.99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a:solidFill>
                            <a:srgbClr val="000000"/>
                          </a:solidFill>
                          <a:effectLst/>
                          <a:latin typeface="+mj-lt"/>
                          <a:ea typeface="+mn-ea"/>
                          <a:cs typeface="+mn-cs"/>
                        </a:rPr>
                        <a:t>2.05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2505462"/>
                  </a:ext>
                </a:extLst>
              </a:tr>
              <a:tr h="222162">
                <a:tc>
                  <a:txBody>
                    <a:bodyPr/>
                    <a:lstStyle/>
                    <a:p>
                      <a:pPr algn="l" fontAlgn="ctr"/>
                      <a:r>
                        <a:rPr lang="en-US" sz="1100" b="0" i="0" u="none" strike="noStrike" dirty="0">
                          <a:solidFill>
                            <a:srgbClr val="000000"/>
                          </a:solidFill>
                          <a:effectLst/>
                          <a:latin typeface="+mj-lt"/>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en-US" sz="1100" b="1" i="0" u="none" strike="noStrike" dirty="0">
                          <a:solidFill>
                            <a:srgbClr val="005AAE"/>
                          </a:solidFill>
                          <a:effectLst/>
                          <a:latin typeface="+mj-lt"/>
                        </a:rPr>
                        <a:t>Total – 1 (excl GST)</a:t>
                      </a:r>
                      <a:endParaRPr lang="en-US" sz="1100" b="1" i="0" u="none" strike="noStrike" dirty="0">
                        <a:solidFill>
                          <a:srgbClr val="000000"/>
                        </a:solidFill>
                        <a:effectLst/>
                        <a:latin typeface="+mj-lt"/>
                      </a:endParaRP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sz="1100" b="1" i="0" u="none" strike="noStrike" dirty="0">
                          <a:solidFill>
                            <a:srgbClr val="005AAE"/>
                          </a:solidFill>
                          <a:effectLst/>
                          <a:latin typeface="+mj-lt"/>
                        </a:rPr>
                        <a:t>743.95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algn="ctr" defTabSz="1219231" rtl="0" eaLnBrk="1" fontAlgn="t" latinLnBrk="0" hangingPunct="1"/>
                      <a:r>
                        <a:rPr lang="en-US" sz="1100" b="1" i="0" u="none" strike="noStrike" kern="1200" dirty="0">
                          <a:solidFill>
                            <a:srgbClr val="005AAE"/>
                          </a:solidFill>
                          <a:effectLst/>
                          <a:latin typeface="+mj-lt"/>
                          <a:ea typeface="+mn-ea"/>
                          <a:cs typeface="+mn-cs"/>
                        </a:rPr>
                        <a:t>89.63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sz="1100" b="1" i="0" u="none" strike="noStrike" dirty="0">
                          <a:solidFill>
                            <a:srgbClr val="005AAE"/>
                          </a:solidFill>
                          <a:effectLst/>
                          <a:latin typeface="+mj-lt"/>
                        </a:rPr>
                        <a:t>247.98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algn="ctr" defTabSz="1219231" rtl="0" eaLnBrk="1" fontAlgn="t" latinLnBrk="0" hangingPunct="1"/>
                      <a:r>
                        <a:rPr lang="en-US" sz="1100" b="1" i="0" u="none" strike="noStrike" kern="1200" dirty="0">
                          <a:solidFill>
                            <a:srgbClr val="005AAE"/>
                          </a:solidFill>
                          <a:effectLst/>
                          <a:latin typeface="+mj-lt"/>
                          <a:ea typeface="+mn-ea"/>
                          <a:cs typeface="+mn-cs"/>
                        </a:rPr>
                        <a:t>29.88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29346253"/>
                  </a:ext>
                </a:extLst>
              </a:tr>
              <a:tr h="222162">
                <a:tc>
                  <a:txBody>
                    <a:bodyPr/>
                    <a:lstStyle/>
                    <a:p>
                      <a:pPr algn="ctr" fontAlgn="t"/>
                      <a:r>
                        <a:rPr lang="en-US" sz="1100" b="0" i="0" u="none" strike="noStrike" dirty="0">
                          <a:solidFill>
                            <a:srgbClr val="000000"/>
                          </a:solidFill>
                          <a:effectLst/>
                          <a:latin typeface="+mj-lt"/>
                        </a:rPr>
                        <a:t>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mj-lt"/>
                        </a:rPr>
                        <a:t>Mono PERC Modules</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2317.44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279.21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772.48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93.07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8918612"/>
                  </a:ext>
                </a:extLst>
              </a:tr>
              <a:tr h="222162">
                <a:tc>
                  <a:txBody>
                    <a:bodyPr/>
                    <a:lstStyle/>
                    <a:p>
                      <a:pPr algn="ctr" fontAlgn="t"/>
                      <a:r>
                        <a:rPr lang="en-US" sz="1100" b="0" i="0" u="none" strike="noStrike" dirty="0">
                          <a:solidFill>
                            <a:srgbClr val="000000"/>
                          </a:solidFill>
                          <a:effectLst/>
                          <a:latin typeface="+mj-lt"/>
                        </a:rPr>
                        <a:t>J</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mj-lt"/>
                        </a:rPr>
                        <a:t>Solar PV blocks</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586.94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70.72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195.65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23.57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2313144"/>
                  </a:ext>
                </a:extLst>
              </a:tr>
              <a:tr h="222162">
                <a:tc>
                  <a:txBody>
                    <a:bodyPr/>
                    <a:lstStyle/>
                    <a:p>
                      <a:pPr algn="ctr" fontAlgn="t"/>
                      <a:r>
                        <a:rPr lang="en-US" sz="1100" b="0" i="0" u="none" strike="noStrike" dirty="0">
                          <a:solidFill>
                            <a:srgbClr val="000000"/>
                          </a:solidFill>
                          <a:effectLst/>
                          <a:latin typeface="+mj-lt"/>
                        </a:rPr>
                        <a:t>K</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mj-lt"/>
                        </a:rPr>
                        <a:t>Civil &amp; Erection</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17.61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2.12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5.87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0.71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9984485"/>
                  </a:ext>
                </a:extLst>
              </a:tr>
              <a:tr h="222162">
                <a:tc>
                  <a:txBody>
                    <a:bodyPr/>
                    <a:lstStyle/>
                    <a:p>
                      <a:pPr algn="ctr" fontAlgn="t"/>
                      <a:r>
                        <a:rPr lang="en-US" sz="1100" b="0" i="0" u="none" strike="noStrike" dirty="0">
                          <a:solidFill>
                            <a:srgbClr val="000000"/>
                          </a:solidFill>
                          <a:effectLst/>
                          <a:latin typeface="+mj-lt"/>
                        </a:rPr>
                        <a:t>L</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mj-lt"/>
                        </a:rPr>
                        <a:t>Engineering Fee</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mj-lt"/>
                        </a:rPr>
                        <a:t>297.50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35.84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mj-lt"/>
                        </a:rPr>
                        <a:t>99.17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1219231" rtl="0" eaLnBrk="1" fontAlgn="t" latinLnBrk="0" hangingPunct="1"/>
                      <a:r>
                        <a:rPr lang="en-US" sz="1100" b="0" i="0" u="none" strike="noStrike" kern="1200" dirty="0">
                          <a:solidFill>
                            <a:srgbClr val="000000"/>
                          </a:solidFill>
                          <a:effectLst/>
                          <a:latin typeface="+mj-lt"/>
                          <a:ea typeface="+mn-ea"/>
                          <a:cs typeface="+mn-cs"/>
                        </a:rPr>
                        <a:t>11.95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3666589"/>
                  </a:ext>
                </a:extLst>
              </a:tr>
              <a:tr h="222162">
                <a:tc>
                  <a:txBody>
                    <a:bodyPr/>
                    <a:lstStyle/>
                    <a:p>
                      <a:pPr algn="l" fontAlgn="ctr"/>
                      <a:r>
                        <a:rPr lang="en-US" sz="1100" b="0" i="0" u="none" strike="noStrike" dirty="0">
                          <a:solidFill>
                            <a:srgbClr val="000000"/>
                          </a:solidFill>
                          <a:effectLst/>
                          <a:latin typeface="+mj-lt"/>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en-US" sz="1100" b="1" i="0" u="none" strike="noStrike" dirty="0">
                          <a:solidFill>
                            <a:srgbClr val="005AAE"/>
                          </a:solidFill>
                          <a:effectLst/>
                          <a:latin typeface="+mj-lt"/>
                        </a:rPr>
                        <a:t>Total - 2 </a:t>
                      </a:r>
                      <a:r>
                        <a:rPr lang="en-US" sz="1100" b="1" i="0" u="none" strike="noStrike" kern="1200" dirty="0">
                          <a:solidFill>
                            <a:srgbClr val="005AAE"/>
                          </a:solidFill>
                          <a:effectLst/>
                          <a:latin typeface="+mn-lt"/>
                          <a:ea typeface="+mn-ea"/>
                          <a:cs typeface="+mn-cs"/>
                        </a:rPr>
                        <a:t>(excl GST)</a:t>
                      </a:r>
                      <a:endParaRPr lang="en-US" sz="1100" b="1" i="0" u="none" strike="noStrike" dirty="0">
                        <a:solidFill>
                          <a:srgbClr val="000000"/>
                        </a:solidFill>
                        <a:effectLst/>
                        <a:latin typeface="+mj-lt"/>
                      </a:endParaRP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sz="1100" b="1" i="0" u="none" strike="noStrike" dirty="0">
                          <a:solidFill>
                            <a:srgbClr val="005AAE"/>
                          </a:solidFill>
                          <a:effectLst/>
                          <a:latin typeface="+mj-lt"/>
                        </a:rPr>
                        <a:t>3219.48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algn="ctr" defTabSz="1219231" rtl="0" eaLnBrk="1" fontAlgn="t" latinLnBrk="0" hangingPunct="1"/>
                      <a:r>
                        <a:rPr lang="en-US" sz="1100" b="1" i="0" u="none" strike="noStrike" kern="1200" dirty="0">
                          <a:solidFill>
                            <a:srgbClr val="005AAE"/>
                          </a:solidFill>
                          <a:effectLst/>
                          <a:latin typeface="+mj-lt"/>
                          <a:ea typeface="+mn-ea"/>
                          <a:cs typeface="+mn-cs"/>
                        </a:rPr>
                        <a:t>387.89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sz="1100" b="1" i="0" u="none" strike="noStrike" dirty="0">
                          <a:solidFill>
                            <a:srgbClr val="005AAE"/>
                          </a:solidFill>
                          <a:effectLst/>
                          <a:latin typeface="+mj-lt"/>
                        </a:rPr>
                        <a:t>1073.16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algn="ctr" defTabSz="1219231" rtl="0" eaLnBrk="1" fontAlgn="t" latinLnBrk="0" hangingPunct="1"/>
                      <a:r>
                        <a:rPr lang="en-US" sz="1100" b="1" i="0" u="none" strike="noStrike" kern="1200" dirty="0">
                          <a:solidFill>
                            <a:srgbClr val="005AAE"/>
                          </a:solidFill>
                          <a:effectLst/>
                          <a:latin typeface="+mj-lt"/>
                          <a:ea typeface="+mn-ea"/>
                          <a:cs typeface="+mn-cs"/>
                        </a:rPr>
                        <a:t>129.30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58007983"/>
                  </a:ext>
                </a:extLst>
              </a:tr>
              <a:tr h="222162">
                <a:tc>
                  <a:txBody>
                    <a:bodyPr/>
                    <a:lstStyle/>
                    <a:p>
                      <a:pPr algn="l" fontAlgn="ctr"/>
                      <a:r>
                        <a:rPr lang="en-US" sz="1100" b="0" i="0" u="none" strike="noStrike" dirty="0">
                          <a:solidFill>
                            <a:srgbClr val="000000"/>
                          </a:solidFill>
                          <a:effectLst/>
                          <a:latin typeface="+mj-lt"/>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t"/>
                      <a:r>
                        <a:rPr lang="en-US" sz="1100" b="1" i="0" u="none" strike="noStrike" dirty="0">
                          <a:solidFill>
                            <a:srgbClr val="005AAE"/>
                          </a:solidFill>
                          <a:effectLst/>
                          <a:latin typeface="+mj-lt"/>
                        </a:rPr>
                        <a:t>Total (1+2) </a:t>
                      </a:r>
                      <a:r>
                        <a:rPr lang="en-US" sz="1100" b="1" i="0" u="none" strike="noStrike" kern="1200" dirty="0">
                          <a:solidFill>
                            <a:srgbClr val="005AAE"/>
                          </a:solidFill>
                          <a:effectLst/>
                          <a:latin typeface="+mn-lt"/>
                          <a:ea typeface="+mn-ea"/>
                          <a:cs typeface="+mn-cs"/>
                        </a:rPr>
                        <a:t>(excl GST)</a:t>
                      </a:r>
                      <a:endParaRPr lang="en-US" sz="1100" b="1" i="0" u="none" strike="noStrike" dirty="0">
                        <a:solidFill>
                          <a:srgbClr val="000000"/>
                        </a:solidFill>
                        <a:effectLst/>
                        <a:latin typeface="+mj-lt"/>
                      </a:endParaRP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t"/>
                      <a:r>
                        <a:rPr lang="en-US" sz="1100" b="1" i="0" u="none" strike="noStrike" dirty="0">
                          <a:solidFill>
                            <a:srgbClr val="005AAE"/>
                          </a:solidFill>
                          <a:effectLst/>
                          <a:latin typeface="+mj-lt"/>
                        </a:rPr>
                        <a:t>3963.44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algn="ctr" defTabSz="1219231" rtl="0" eaLnBrk="1" fontAlgn="t" latinLnBrk="0" hangingPunct="1"/>
                      <a:r>
                        <a:rPr lang="en-US" sz="1100" b="1" i="0" u="none" strike="noStrike" kern="1200" dirty="0">
                          <a:solidFill>
                            <a:srgbClr val="005AAE"/>
                          </a:solidFill>
                          <a:effectLst/>
                          <a:latin typeface="+mj-lt"/>
                          <a:ea typeface="+mn-ea"/>
                          <a:cs typeface="+mn-cs"/>
                        </a:rPr>
                        <a:t>477.52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t"/>
                      <a:r>
                        <a:rPr lang="en-US" sz="1100" b="1" i="0" u="none" strike="noStrike" dirty="0">
                          <a:solidFill>
                            <a:srgbClr val="005AAE"/>
                          </a:solidFill>
                          <a:effectLst/>
                          <a:latin typeface="+mj-lt"/>
                        </a:rPr>
                        <a:t>1321.15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algn="ctr" defTabSz="1219231" rtl="0" eaLnBrk="1" fontAlgn="t" latinLnBrk="0" hangingPunct="1"/>
                      <a:r>
                        <a:rPr lang="en-US" sz="1100" b="1" i="0" u="none" strike="noStrike" kern="1200" dirty="0">
                          <a:solidFill>
                            <a:srgbClr val="005AAE"/>
                          </a:solidFill>
                          <a:effectLst/>
                          <a:latin typeface="+mj-lt"/>
                          <a:ea typeface="+mn-ea"/>
                          <a:cs typeface="+mn-cs"/>
                        </a:rPr>
                        <a:t>159.17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17718810"/>
                  </a:ext>
                </a:extLst>
              </a:tr>
              <a:tr h="326257">
                <a:tc>
                  <a:txBody>
                    <a:bodyPr/>
                    <a:lstStyle/>
                    <a:p>
                      <a:pPr algn="l" fontAlgn="t"/>
                      <a:r>
                        <a:rPr lang="en-US" sz="1100" b="0" i="0" u="none" strike="noStrike" dirty="0">
                          <a:solidFill>
                            <a:srgbClr val="000000"/>
                          </a:solidFill>
                          <a:effectLst/>
                          <a:latin typeface="+mj-lt"/>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t"/>
                      <a:r>
                        <a:rPr lang="en-US" sz="1100" b="1" i="0" u="none" strike="noStrike" dirty="0">
                          <a:solidFill>
                            <a:srgbClr val="000000"/>
                          </a:solidFill>
                          <a:effectLst/>
                          <a:latin typeface="+mj-lt"/>
                        </a:rPr>
                        <a:t>Total Project Cost incl. taxes (considering average 13.8% GST)</a:t>
                      </a:r>
                    </a:p>
                  </a:txBody>
                  <a:tcPr marL="30480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t"/>
                      <a:r>
                        <a:rPr lang="en-US" sz="1100" b="1" i="0" u="none" strike="noStrike" dirty="0">
                          <a:solidFill>
                            <a:srgbClr val="000000"/>
                          </a:solidFill>
                          <a:effectLst/>
                          <a:latin typeface="+mj-lt"/>
                        </a:rPr>
                        <a:t>4510.40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algn="ctr" defTabSz="1219231" rtl="0" eaLnBrk="1" fontAlgn="t" latinLnBrk="0" hangingPunct="1"/>
                      <a:r>
                        <a:rPr lang="en-US" sz="1100" b="1" i="0" u="none" strike="noStrike" kern="1200" dirty="0">
                          <a:solidFill>
                            <a:srgbClr val="000000"/>
                          </a:solidFill>
                          <a:effectLst/>
                          <a:latin typeface="+mj-lt"/>
                          <a:ea typeface="+mn-ea"/>
                          <a:cs typeface="+mn-cs"/>
                        </a:rPr>
                        <a:t>543.42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t"/>
                      <a:r>
                        <a:rPr lang="en-US" sz="1100" b="1" i="0" u="none" strike="noStrike" dirty="0">
                          <a:solidFill>
                            <a:srgbClr val="000000"/>
                          </a:solidFill>
                          <a:effectLst/>
                          <a:latin typeface="+mj-lt"/>
                        </a:rPr>
                        <a:t>1503.47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algn="ctr" defTabSz="1219231" rtl="0" eaLnBrk="1" fontAlgn="t" latinLnBrk="0" hangingPunct="1"/>
                      <a:r>
                        <a:rPr lang="en-US" sz="1100" b="1" i="0" u="none" strike="noStrike" kern="1200" dirty="0">
                          <a:solidFill>
                            <a:srgbClr val="000000"/>
                          </a:solidFill>
                          <a:effectLst/>
                          <a:latin typeface="+mj-lt"/>
                          <a:ea typeface="+mn-ea"/>
                          <a:cs typeface="+mn-cs"/>
                        </a:rPr>
                        <a:t>181.14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19868301"/>
                  </a:ext>
                </a:extLst>
              </a:tr>
            </a:tbl>
          </a:graphicData>
        </a:graphic>
      </p:graphicFrame>
      <p:sp>
        <p:nvSpPr>
          <p:cNvPr id="2" name="Rectangle 1">
            <a:extLst>
              <a:ext uri="{FF2B5EF4-FFF2-40B4-BE49-F238E27FC236}">
                <a16:creationId xmlns:a16="http://schemas.microsoft.com/office/drawing/2014/main" id="{A88F1660-78DD-D533-4A08-454466B3609A}"/>
              </a:ext>
            </a:extLst>
          </p:cNvPr>
          <p:cNvSpPr/>
          <p:nvPr/>
        </p:nvSpPr>
        <p:spPr bwMode="gray">
          <a:xfrm>
            <a:off x="8355701" y="5797573"/>
            <a:ext cx="3559312" cy="211533"/>
          </a:xfrm>
          <a:prstGeom prst="rect">
            <a:avLst/>
          </a:prstGeom>
          <a:noFill/>
          <a:ln w="19050" algn="ctr">
            <a:noFill/>
            <a:prstDash val="dash"/>
            <a:miter lim="800000"/>
            <a:headEnd/>
            <a:tailEnd/>
          </a:ln>
        </p:spPr>
        <p:txBody>
          <a:bodyPr wrap="square" lIns="88900" tIns="88900" rIns="88900" bIns="88900" rtlCol="0" anchor="ctr"/>
          <a:lstStyle/>
          <a:p>
            <a:pPr algn="just">
              <a:lnSpc>
                <a:spcPct val="106000"/>
              </a:lnSpc>
            </a:pPr>
            <a:r>
              <a:rPr lang="en-US" sz="1000" i="1" dirty="0"/>
              <a:t>Note: USD/INR exchange rate of 83 considered</a:t>
            </a:r>
            <a:endParaRPr lang="en-US" sz="1000" b="1" i="1" dirty="0">
              <a:highlight>
                <a:srgbClr val="00FF00"/>
              </a:highlight>
            </a:endParaRPr>
          </a:p>
        </p:txBody>
      </p:sp>
    </p:spTree>
    <p:extLst>
      <p:ext uri="{BB962C8B-B14F-4D97-AF65-F5344CB8AC3E}">
        <p14:creationId xmlns:p14="http://schemas.microsoft.com/office/powerpoint/2010/main" val="121331028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0C&quot; g=&quot;0C&quot; b=&quot;0C&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6.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0.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3.xml><?xml version="1.0" encoding="utf-8"?>
<p:tagLst xmlns:a="http://schemas.openxmlformats.org/drawingml/2006/main" xmlns:r="http://schemas.openxmlformats.org/officeDocument/2006/relationships" xmlns:p="http://schemas.openxmlformats.org/presentationml/2006/main">
  <p:tag name="SMARTSLIDETYPE" val="Divider"/>
  <p:tag name="SMARTDIVIDERTYPE" val="Section"/>
  <p:tag name="SMARTDIVIDERTEXT" val="Section"/>
  <p:tag name="SMARTDIVIDERLEVEL" val="0"/>
  <p:tag name="SMARTDIVIDERTOCSTYLE" val="Section TOC"/>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2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54D36E-9EF4-45FB-A110-F5062C6023D7}">
  <ds:schemaRefs>
    <ds:schemaRef ds:uri="http://purl.org/dc/terms/"/>
    <ds:schemaRef ds:uri="http://purl.org/dc/dcmitype/"/>
    <ds:schemaRef ds:uri="7518fb0e-e0d4-4297-8650-5cb3d7ca851b"/>
    <ds:schemaRef ds:uri="http://schemas.microsoft.com/office/2006/metadata/properties"/>
    <ds:schemaRef ds:uri="http://purl.org/dc/elements/1.1/"/>
    <ds:schemaRef ds:uri="517c78d7-84d7-45d0-9b54-3b4747108a63"/>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3.xml><?xml version="1.0" encoding="utf-8"?>
<ds:datastoreItem xmlns:ds="http://schemas.openxmlformats.org/officeDocument/2006/customXml" ds:itemID="{CDDD8F00-492C-4AE3-81FD-46C581DF4825}"/>
</file>

<file path=docProps/app.xml><?xml version="1.0" encoding="utf-8"?>
<Properties xmlns="http://schemas.openxmlformats.org/officeDocument/2006/extended-properties" xmlns:vt="http://schemas.openxmlformats.org/officeDocument/2006/docPropsVTypes">
  <Template/>
  <TotalTime>2748</TotalTime>
  <Words>3318</Words>
  <Application>Microsoft Office PowerPoint</Application>
  <PresentationFormat>Widescreen</PresentationFormat>
  <Paragraphs>719</Paragraphs>
  <Slides>15</Slides>
  <Notes>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4" baseType="lpstr">
      <vt:lpstr>Arial</vt:lpstr>
      <vt:lpstr>Georgia</vt:lpstr>
      <vt:lpstr>Verdana</vt:lpstr>
      <vt:lpstr>Verdana (Body)</vt:lpstr>
      <vt:lpstr>Wingdings</vt:lpstr>
      <vt:lpstr>Wingdings 2</vt:lpstr>
      <vt:lpstr>1_Deloitte 16_9 onscreen</vt:lpstr>
      <vt:lpstr>2_Deloitte 16_9 onscreen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Annexures</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Banerjee, Rajeswar</dc:creator>
  <cp:keywords/>
  <cp:lastModifiedBy>Banerjee, Rajeswar</cp:lastModifiedBy>
  <cp:revision>19</cp:revision>
  <cp:lastPrinted>2014-06-25T02:16:22Z</cp:lastPrinted>
  <dcterms:created xsi:type="dcterms:W3CDTF">2016-11-09T03:29:25Z</dcterms:created>
  <dcterms:modified xsi:type="dcterms:W3CDTF">2024-02-25T03:04:28Z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