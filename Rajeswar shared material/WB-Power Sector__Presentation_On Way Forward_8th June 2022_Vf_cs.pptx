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theme/theme4.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theme/theme5.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theme/theme6.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7.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notesSlides/notesSlide1.xml" ContentType="application/vnd.openxmlformats-officedocument.presentationml.notesSlide+xml"/>
  <Override PartName="/ppt/tags/tag28.xml" ContentType="application/vnd.openxmlformats-officedocument.presentationml.tags+xml"/>
  <Override PartName="/ppt/notesSlides/notesSlide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31.xml" ContentType="application/vnd.openxmlformats-officedocument.presentationml.tags+xml"/>
  <Override PartName="/ppt/tags/tag32.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3.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4.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rawings/drawing5.xml" ContentType="application/vnd.openxmlformats-officedocument.drawingml.chartshapes+xml"/>
  <Override PartName="/ppt/tags/tag33.xml" ContentType="application/vnd.openxmlformats-officedocument.presentationml.tags+xml"/>
  <Override PartName="/ppt/notesSlides/notesSlide3.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rawings/drawing6.xml" ContentType="application/vnd.openxmlformats-officedocument.drawingml.chartshapes+xml"/>
  <Override PartName="/ppt/tags/tag34.xml" ContentType="application/vnd.openxmlformats-officedocument.presentationml.tags+xml"/>
  <Override PartName="/ppt/charts/chartEx1.xml" ContentType="application/vnd.ms-office.chartex+xml"/>
  <Override PartName="/ppt/charts/style14.xml" ContentType="application/vnd.ms-office.chartstyle+xml"/>
  <Override PartName="/ppt/charts/colors14.xml" ContentType="application/vnd.ms-office.chartcolorstyle+xml"/>
  <Override PartName="/ppt/charts/chart14.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5.xml" ContentType="application/vnd.openxmlformats-officedocument.presentationml.tags+xml"/>
  <Override PartName="/ppt/notesSlides/notesSlide6.xml" ContentType="application/vnd.openxmlformats-officedocument.presentationml.notesSlide+xml"/>
  <Override PartName="/ppt/tags/tag36.xml" ContentType="application/vnd.openxmlformats-officedocument.presentationml.tags+xml"/>
  <Override PartName="/ppt/charts/chart15.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7.xml" ContentType="application/vnd.openxmlformats-officedocument.presentationml.notesSlide+xml"/>
  <Override PartName="/ppt/tags/tag37.xml" ContentType="application/vnd.openxmlformats-officedocument.presentationml.tags+xml"/>
  <Override PartName="/ppt/notesSlides/notesSlide8.xml" ContentType="application/vnd.openxmlformats-officedocument.presentationml.notesSlide+xml"/>
  <Override PartName="/ppt/charts/chart16.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9.xml" ContentType="application/vnd.openxmlformats-officedocument.presentationml.notesSlide+xml"/>
  <Override PartName="/ppt/charts/chart17.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8.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19.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0.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1.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2.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10.xml" ContentType="application/vnd.openxmlformats-officedocument.presentationml.notesSlide+xml"/>
  <Override PartName="/ppt/charts/chart23.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11.xml" ContentType="application/vnd.openxmlformats-officedocument.presentationml.notesSlide+xml"/>
  <Override PartName="/ppt/charts/chart24.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12.xml" ContentType="application/vnd.openxmlformats-officedocument.presentationml.notesSlide+xml"/>
  <Override PartName="/ppt/charts/chart25.xml" ContentType="application/vnd.openxmlformats-officedocument.drawingml.chart+xml"/>
  <Override PartName="/ppt/charts/style26.xml" ContentType="application/vnd.ms-office.chartstyle+xml"/>
  <Override PartName="/ppt/charts/colors26.xml" ContentType="application/vnd.ms-office.chartcolorstyle+xml"/>
  <Override PartName="/ppt/drawings/drawing7.xml" ContentType="application/vnd.openxmlformats-officedocument.drawingml.chartshapes+xml"/>
  <Override PartName="/ppt/charts/chart26.xml" ContentType="application/vnd.openxmlformats-officedocument.drawingml.chart+xml"/>
  <Override PartName="/ppt/charts/style27.xml" ContentType="application/vnd.ms-office.chartstyle+xml"/>
  <Override PartName="/ppt/charts/colors27.xml" ContentType="application/vnd.ms-office.chartcolorstyle+xml"/>
  <Override PartName="/ppt/notesSlides/notesSlide13.xml" ContentType="application/vnd.openxmlformats-officedocument.presentationml.notesSlide+xml"/>
  <Override PartName="/ppt/charts/chart27.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8.xml" ContentType="application/vnd.openxmlformats-officedocument.drawingml.chart+xml"/>
  <Override PartName="/ppt/charts/style29.xml" ContentType="application/vnd.ms-office.chartstyle+xml"/>
  <Override PartName="/ppt/charts/colors29.xml" ContentType="application/vnd.ms-office.chartcolorstyle+xml"/>
  <Override PartName="/ppt/tags/tag38.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9.xml" ContentType="application/vnd.openxmlformats-officedocument.drawingml.chart+xml"/>
  <Override PartName="/ppt/drawings/drawing8.xml" ContentType="application/vnd.openxmlformats-officedocument.drawingml.chartshapes+xml"/>
  <Override PartName="/ppt/notesSlides/notesSlide16.xml" ContentType="application/vnd.openxmlformats-officedocument.presentationml.notesSlide+xml"/>
  <Override PartName="/ppt/tags/tag39.xml" ContentType="application/vnd.openxmlformats-officedocument.presentationml.tags+xml"/>
  <Override PartName="/ppt/notesSlides/notesSlide17.xml" ContentType="application/vnd.openxmlformats-officedocument.presentationml.notesSlid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theme/themeOverride1.xml" ContentType="application/vnd.openxmlformats-officedocument.themeOverride+xml"/>
  <Override PartName="/ppt/tags/tag40.xml" ContentType="application/vnd.openxmlformats-officedocument.presentationml.tags+xml"/>
  <Override PartName="/ppt/notesSlides/notesSlide18.xml" ContentType="application/vnd.openxmlformats-officedocument.presentationml.notesSlid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drawings/drawing9.xml" ContentType="application/vnd.openxmlformats-officedocument.drawingml.chartshapes+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notesSlides/notesSlide25.xml" ContentType="application/vnd.openxmlformats-officedocument.presentationml.notesSlid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notesSlides/notesSlide26.xml" ContentType="application/vnd.openxmlformats-officedocument.presentationml.notesSlid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notesSlides/notesSlide27.xml" ContentType="application/vnd.openxmlformats-officedocument.presentationml.notesSlid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notesSlides/notesSlide28.xml" ContentType="application/vnd.openxmlformats-officedocument.presentationml.notesSlid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tags/tag41.xml" ContentType="application/vnd.openxmlformats-officedocument.presentationml.tags+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tags/tag42.xml" ContentType="application/vnd.openxmlformats-officedocument.presentationml.tags+xml"/>
  <Override PartName="/ppt/notesSlides/notesSlide29.xml" ContentType="application/vnd.openxmlformats-officedocument.presentationml.notesSlide+xml"/>
  <Override PartName="/ppt/charts/chartEx2.xml" ContentType="application/vnd.ms-office.chartex+xml"/>
  <Override PartName="/ppt/charts/style46.xml" ContentType="application/vnd.ms-office.chartstyle+xml"/>
  <Override PartName="/ppt/charts/colors46.xml" ContentType="application/vnd.ms-office.chartcolorstyle+xml"/>
  <Override PartName="/ppt/tags/tag43.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46.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7.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8.xml" ContentType="application/vnd.openxmlformats-officedocument.drawingml.chart+xml"/>
  <Override PartName="/ppt/charts/style49.xml" ContentType="application/vnd.ms-office.chartstyle+xml"/>
  <Override PartName="/ppt/charts/colors49.xml" ContentType="application/vnd.ms-office.chartcolorstyl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charts/chart49.xml" ContentType="application/vnd.openxmlformats-officedocument.drawingml.chart+xml"/>
  <Override PartName="/ppt/charts/style50.xml" ContentType="application/vnd.ms-office.chartstyle+xml"/>
  <Override PartName="/ppt/charts/colors50.xml" ContentType="application/vnd.ms-office.chartcolorstyle+xml"/>
  <Override PartName="/ppt/tags/tag49.xml" ContentType="application/vnd.openxmlformats-officedocument.presentationml.tags+xml"/>
  <Override PartName="/ppt/charts/chart50.xml" ContentType="application/vnd.openxmlformats-officedocument.drawingml.chart+xml"/>
  <Override PartName="/ppt/charts/style51.xml" ContentType="application/vnd.ms-office.chartstyle+xml"/>
  <Override PartName="/ppt/charts/colors51.xml" ContentType="application/vnd.ms-office.chartcolorstyl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charts/chart51.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2.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3.xml" ContentType="application/vnd.openxmlformats-officedocument.drawingml.chart+xml"/>
  <Override PartName="/ppt/charts/style54.xml" ContentType="application/vnd.ms-office.chartstyle+xml"/>
  <Override PartName="/ppt/charts/colors54.xml" ContentType="application/vnd.ms-office.chartcolorstyle+xml"/>
  <Override PartName="/ppt/tags/tag63.xml" ContentType="application/vnd.openxmlformats-officedocument.presentationml.tags+xml"/>
  <Override PartName="/ppt/charts/chart54.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5.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6.xml" ContentType="application/vnd.openxmlformats-officedocument.drawingml.chart+xml"/>
  <Override PartName="/ppt/charts/style57.xml" ContentType="application/vnd.ms-office.chartstyle+xml"/>
  <Override PartName="/ppt/charts/colors57.xml" ContentType="application/vnd.ms-office.chartcolorstyle+xml"/>
  <Override PartName="/ppt/tags/tag64.xml" ContentType="application/vnd.openxmlformats-officedocument.presentationml.tags+xml"/>
  <Override PartName="/ppt/charts/chart57.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8.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59.xml" ContentType="application/vnd.openxmlformats-officedocument.drawingml.chart+xml"/>
  <Override PartName="/ppt/charts/style60.xml" ContentType="application/vnd.ms-office.chartstyle+xml"/>
  <Override PartName="/ppt/charts/colors60.xml" ContentType="application/vnd.ms-office.chartcolorstyle+xml"/>
  <Override PartName="/ppt/tags/tag65.xml" ContentType="application/vnd.openxmlformats-officedocument.presentationml.tags+xml"/>
  <Override PartName="/ppt/charts/chart60.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61.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62.xml" ContentType="application/vnd.openxmlformats-officedocument.drawingml.chart+xml"/>
  <Override PartName="/ppt/charts/style63.xml" ContentType="application/vnd.ms-office.chartstyle+xml"/>
  <Override PartName="/ppt/charts/colors63.xml" ContentType="application/vnd.ms-office.chartcolorstyle+xml"/>
  <Override PartName="/ppt/tags/tag66.xml" ContentType="application/vnd.openxmlformats-officedocument.presentationml.tags+xml"/>
  <Override PartName="/ppt/charts/chart63.xml" ContentType="application/vnd.openxmlformats-officedocument.drawingml.chart+xml"/>
  <Override PartName="/ppt/charts/style64.xml" ContentType="application/vnd.ms-office.chartstyle+xml"/>
  <Override PartName="/ppt/charts/colors64.xml" ContentType="application/vnd.ms-office.chartcolorstyle+xml"/>
  <Override PartName="/ppt/tags/tag67.xml" ContentType="application/vnd.openxmlformats-officedocument.presentationml.tags+xml"/>
  <Override PartName="/ppt/charts/chart64.xml" ContentType="application/vnd.openxmlformats-officedocument.drawingml.chart+xml"/>
  <Override PartName="/ppt/charts/style65.xml" ContentType="application/vnd.ms-office.chartstyle+xml"/>
  <Override PartName="/ppt/charts/colors65.xml" ContentType="application/vnd.ms-office.chartcolorstyle+xml"/>
  <Override PartName="/ppt/tags/tag68.xml" ContentType="application/vnd.openxmlformats-officedocument.presentationml.tags+xml"/>
  <Override PartName="/ppt/charts/chart65.xml" ContentType="application/vnd.openxmlformats-officedocument.drawingml.chart+xml"/>
  <Override PartName="/ppt/charts/style66.xml" ContentType="application/vnd.ms-office.chartstyle+xml"/>
  <Override PartName="/ppt/charts/colors66.xml" ContentType="application/vnd.ms-office.chartcolorstyle+xml"/>
  <Override PartName="/ppt/notesSlides/notesSlide35.xml" ContentType="application/vnd.openxmlformats-officedocument.presentationml.notesSlide+xml"/>
  <Override PartName="/ppt/charts/chart66.xml" ContentType="application/vnd.openxmlformats-officedocument.drawingml.chart+xml"/>
  <Override PartName="/ppt/charts/style67.xml" ContentType="application/vnd.ms-office.chartstyle+xml"/>
  <Override PartName="/ppt/charts/colors67.xml" ContentType="application/vnd.ms-office.chartcolorstyle+xml"/>
  <Override PartName="/ppt/notesSlides/notesSlide36.xml" ContentType="application/vnd.openxmlformats-officedocument.presentationml.notesSlide+xml"/>
  <Override PartName="/ppt/charts/chart67.xml" ContentType="application/vnd.openxmlformats-officedocument.drawingml.chart+xml"/>
  <Override PartName="/ppt/charts/style68.xml" ContentType="application/vnd.ms-office.chartstyle+xml"/>
  <Override PartName="/ppt/charts/colors68.xml" ContentType="application/vnd.ms-office.chartcolorstyle+xml"/>
  <Override PartName="/ppt/notesSlides/notesSlide37.xml" ContentType="application/vnd.openxmlformats-officedocument.presentationml.notesSlide+xml"/>
  <Override PartName="/ppt/charts/chart68.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69.xml" ContentType="application/vnd.openxmlformats-officedocument.drawingml.chart+xml"/>
  <Override PartName="/ppt/charts/style70.xml" ContentType="application/vnd.ms-office.chartstyle+xml"/>
  <Override PartName="/ppt/charts/colors70.xml" ContentType="application/vnd.ms-office.chartcolorstyle+xml"/>
  <Override PartName="/ppt/tags/tag69.xml" ContentType="application/vnd.openxmlformats-officedocument.presentationml.tags+xml"/>
  <Override PartName="/ppt/charts/chart70.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71.xml" ContentType="application/vnd.openxmlformats-officedocument.drawingml.chart+xml"/>
  <Override PartName="/ppt/charts/style72.xml" ContentType="application/vnd.ms-office.chartstyle+xml"/>
  <Override PartName="/ppt/charts/colors72.xml" ContentType="application/vnd.ms-office.chartcolorstyle+xml"/>
  <Override PartName="/ppt/charts/chart72.xml" ContentType="application/vnd.openxmlformats-officedocument.drawingml.chart+xml"/>
  <Override PartName="/ppt/charts/style73.xml" ContentType="application/vnd.ms-office.chartstyle+xml"/>
  <Override PartName="/ppt/charts/colors73.xml" ContentType="application/vnd.ms-office.chartcolorstyle+xml"/>
  <Override PartName="/ppt/charts/chart73.xml" ContentType="application/vnd.openxmlformats-officedocument.drawingml.chart+xml"/>
  <Override PartName="/ppt/charts/style74.xml" ContentType="application/vnd.ms-office.chartstyle+xml"/>
  <Override PartName="/ppt/charts/colors74.xml" ContentType="application/vnd.ms-office.chartcolorstyle+xml"/>
  <Override PartName="/ppt/charts/chart74.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75.xml" ContentType="application/vnd.openxmlformats-officedocument.drawingml.chart+xml"/>
  <Override PartName="/ppt/charts/style76.xml" ContentType="application/vnd.ms-office.chartstyle+xml"/>
  <Override PartName="/ppt/charts/colors76.xml" ContentType="application/vnd.ms-office.chartcolorstyle+xml"/>
  <Override PartName="/ppt/charts/chartEx3.xml" ContentType="application/vnd.ms-office.chartex+xml"/>
  <Override PartName="/ppt/charts/style77.xml" ContentType="application/vnd.ms-office.chartstyle+xml"/>
  <Override PartName="/ppt/charts/colors77.xml" ContentType="application/vnd.ms-office.chartcolorstyle+xml"/>
  <Override PartName="/ppt/tags/tag70.xml" ContentType="application/vnd.openxmlformats-officedocument.presentationml.tags+xml"/>
  <Override PartName="/ppt/tags/tag71.xml" ContentType="application/vnd.openxmlformats-officedocument.presentationml.tags+xml"/>
  <Override PartName="/ppt/notesSlides/notesSlide38.xml" ContentType="application/vnd.openxmlformats-officedocument.presentationml.notesSlide+xml"/>
  <Override PartName="/ppt/charts/chart76.xml" ContentType="application/vnd.openxmlformats-officedocument.drawingml.chart+xml"/>
  <Override PartName="/ppt/charts/style78.xml" ContentType="application/vnd.ms-office.chartstyle+xml"/>
  <Override PartName="/ppt/charts/colors78.xml" ContentType="application/vnd.ms-office.chartcolorstyle+xml"/>
  <Override PartName="/ppt/charts/chart77.xml" ContentType="application/vnd.openxmlformats-officedocument.drawingml.chart+xml"/>
  <Override PartName="/ppt/charts/style79.xml" ContentType="application/vnd.ms-office.chartstyle+xml"/>
  <Override PartName="/ppt/charts/colors79.xml" ContentType="application/vnd.ms-office.chartcolorstyle+xml"/>
  <Override PartName="/ppt/charts/chart78.xml" ContentType="application/vnd.openxmlformats-officedocument.drawingml.chart+xml"/>
  <Override PartName="/ppt/charts/style80.xml" ContentType="application/vnd.ms-office.chartstyle+xml"/>
  <Override PartName="/ppt/charts/colors80.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3" r:id="rId1"/>
    <p:sldMasterId id="2147484303" r:id="rId2"/>
    <p:sldMasterId id="2147484387" r:id="rId3"/>
    <p:sldMasterId id="2147484666" r:id="rId4"/>
    <p:sldMasterId id="2147484939" r:id="rId5"/>
    <p:sldMasterId id="2147484990" r:id="rId6"/>
  </p:sldMasterIdLst>
  <p:notesMasterIdLst>
    <p:notesMasterId r:id="rId101"/>
  </p:notesMasterIdLst>
  <p:sldIdLst>
    <p:sldId id="954" r:id="rId7"/>
    <p:sldId id="6238" r:id="rId8"/>
    <p:sldId id="4033" r:id="rId9"/>
    <p:sldId id="573" r:id="rId10"/>
    <p:sldId id="6190" r:id="rId11"/>
    <p:sldId id="6237" r:id="rId12"/>
    <p:sldId id="4038" r:id="rId13"/>
    <p:sldId id="6239" r:id="rId14"/>
    <p:sldId id="4040" r:id="rId15"/>
    <p:sldId id="6228" r:id="rId16"/>
    <p:sldId id="6232" r:id="rId17"/>
    <p:sldId id="4028" r:id="rId18"/>
    <p:sldId id="3998" r:id="rId19"/>
    <p:sldId id="6226" r:id="rId20"/>
    <p:sldId id="4029" r:id="rId21"/>
    <p:sldId id="4001" r:id="rId22"/>
    <p:sldId id="6188" r:id="rId23"/>
    <p:sldId id="6205" r:id="rId24"/>
    <p:sldId id="6206" r:id="rId25"/>
    <p:sldId id="6191" r:id="rId26"/>
    <p:sldId id="6240" r:id="rId27"/>
    <p:sldId id="6217" r:id="rId28"/>
    <p:sldId id="6218" r:id="rId29"/>
    <p:sldId id="4030" r:id="rId30"/>
    <p:sldId id="6233" r:id="rId31"/>
    <p:sldId id="6227" r:id="rId32"/>
    <p:sldId id="6222" r:id="rId33"/>
    <p:sldId id="6230" r:id="rId34"/>
    <p:sldId id="6210" r:id="rId35"/>
    <p:sldId id="6176" r:id="rId36"/>
    <p:sldId id="261" r:id="rId37"/>
    <p:sldId id="260" r:id="rId38"/>
    <p:sldId id="258" r:id="rId39"/>
    <p:sldId id="259" r:id="rId40"/>
    <p:sldId id="6175" r:id="rId41"/>
    <p:sldId id="4005" r:id="rId42"/>
    <p:sldId id="6177" r:id="rId43"/>
    <p:sldId id="4256" r:id="rId44"/>
    <p:sldId id="4257" r:id="rId45"/>
    <p:sldId id="6187" r:id="rId46"/>
    <p:sldId id="4031" r:id="rId47"/>
    <p:sldId id="4011" r:id="rId48"/>
    <p:sldId id="4012" r:id="rId49"/>
    <p:sldId id="6185" r:id="rId50"/>
    <p:sldId id="6203" r:id="rId51"/>
    <p:sldId id="6178" r:id="rId52"/>
    <p:sldId id="6180" r:id="rId53"/>
    <p:sldId id="6234" r:id="rId54"/>
    <p:sldId id="6219" r:id="rId55"/>
    <p:sldId id="3940" r:id="rId56"/>
    <p:sldId id="512" r:id="rId57"/>
    <p:sldId id="4083" r:id="rId58"/>
    <p:sldId id="4032" r:id="rId59"/>
    <p:sldId id="6204" r:id="rId60"/>
    <p:sldId id="4042" r:id="rId61"/>
    <p:sldId id="454" r:id="rId62"/>
    <p:sldId id="447" r:id="rId63"/>
    <p:sldId id="4043" r:id="rId64"/>
    <p:sldId id="4045" r:id="rId65"/>
    <p:sldId id="4047" r:id="rId66"/>
    <p:sldId id="4048" r:id="rId67"/>
    <p:sldId id="6174" r:id="rId68"/>
    <p:sldId id="4002" r:id="rId69"/>
    <p:sldId id="4003" r:id="rId70"/>
    <p:sldId id="4004" r:id="rId71"/>
    <p:sldId id="4008" r:id="rId72"/>
    <p:sldId id="4009" r:id="rId73"/>
    <p:sldId id="4010" r:id="rId74"/>
    <p:sldId id="6212" r:id="rId75"/>
    <p:sldId id="6213" r:id="rId76"/>
    <p:sldId id="3999" r:id="rId77"/>
    <p:sldId id="6214" r:id="rId78"/>
    <p:sldId id="6215" r:id="rId79"/>
    <p:sldId id="6216" r:id="rId80"/>
    <p:sldId id="4006" r:id="rId81"/>
    <p:sldId id="4007" r:id="rId82"/>
    <p:sldId id="4013" r:id="rId83"/>
    <p:sldId id="6192" r:id="rId84"/>
    <p:sldId id="6193" r:id="rId85"/>
    <p:sldId id="3990" r:id="rId86"/>
    <p:sldId id="3991" r:id="rId87"/>
    <p:sldId id="3992" r:id="rId88"/>
    <p:sldId id="3993" r:id="rId89"/>
    <p:sldId id="6207" r:id="rId90"/>
    <p:sldId id="6208" r:id="rId91"/>
    <p:sldId id="6209" r:id="rId92"/>
    <p:sldId id="6181" r:id="rId93"/>
    <p:sldId id="6182" r:id="rId94"/>
    <p:sldId id="6184" r:id="rId95"/>
    <p:sldId id="6211" r:id="rId96"/>
    <p:sldId id="6220" r:id="rId97"/>
    <p:sldId id="256" r:id="rId98"/>
    <p:sldId id="6229" r:id="rId99"/>
    <p:sldId id="3847" r:id="rId100"/>
  </p:sldIdLst>
  <p:sldSz cx="12192000" cy="6858000"/>
  <p:notesSz cx="6858000" cy="9144000"/>
  <p:custDataLst>
    <p:tags r:id="rId10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tni, Surbhi" initials="PS" lastIdx="2" clrIdx="0">
    <p:extLst>
      <p:ext uri="{19B8F6BF-5375-455C-9EA6-DF929625EA0E}">
        <p15:presenceInfo xmlns:p15="http://schemas.microsoft.com/office/powerpoint/2012/main" userId="S-1-5-21-776561741-1482476501-682003330-7805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626C"/>
    <a:srgbClr val="005D84"/>
    <a:srgbClr val="86BC25"/>
    <a:srgbClr val="F6FA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05E879-FEA9-4C30-AA2D-B797D0B1AB2B}" v="19" dt="2025-06-19T16:37:05.2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59" d="100"/>
          <a:sy n="59" d="100"/>
        </p:scale>
        <p:origin x="756" y="52"/>
      </p:cViewPr>
      <p:guideLst/>
    </p:cSldViewPr>
  </p:slideViewPr>
  <p:notesTextViewPr>
    <p:cViewPr>
      <p:scale>
        <a:sx n="1" d="1"/>
        <a:sy n="1" d="1"/>
      </p:scale>
      <p:origin x="0" y="0"/>
    </p:cViewPr>
  </p:notesTextViewPr>
  <p:sorterViewPr>
    <p:cViewPr varScale="1">
      <p:scale>
        <a:sx n="1" d="1"/>
        <a:sy n="1" d="1"/>
      </p:scale>
      <p:origin x="0" y="-18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customXml" Target="../customXml/item3.xml"/><Relationship Id="rId16" Type="http://schemas.openxmlformats.org/officeDocument/2006/relationships/slide" Target="slides/slide10.xml"/><Relationship Id="rId107" Type="http://schemas.openxmlformats.org/officeDocument/2006/relationships/tableStyles" Target="tableStyles.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tags" Target="tags/tag1.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commentAuthors" Target="commentAuthors.xml"/><Relationship Id="rId108" Type="http://schemas.microsoft.com/office/2016/11/relationships/changesInfo" Target="changesInfos/changesInfo1.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microsoft.com/office/2015/10/relationships/revisionInfo" Target="revisionInfo.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presProps" Target="presProp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customXml" Target="../customXml/item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herjee, Shouvik" userId="8a0946e8-3a6b-4d5c-947d-73f4cd578335" providerId="ADAL" clId="{6305E879-FEA9-4C30-AA2D-B797D0B1AB2B}"/>
    <pc:docChg chg="undo custSel addSld modSld">
      <pc:chgData name="Mukherjee, Shouvik" userId="8a0946e8-3a6b-4d5c-947d-73f4cd578335" providerId="ADAL" clId="{6305E879-FEA9-4C30-AA2D-B797D0B1AB2B}" dt="2025-06-19T16:39:19.359" v="105" actId="113"/>
      <pc:docMkLst>
        <pc:docMk/>
      </pc:docMkLst>
      <pc:sldChg chg="modSp add mod">
        <pc:chgData name="Mukherjee, Shouvik" userId="8a0946e8-3a6b-4d5c-947d-73f4cd578335" providerId="ADAL" clId="{6305E879-FEA9-4C30-AA2D-B797D0B1AB2B}" dt="2025-06-19T16:39:19.359" v="105" actId="113"/>
        <pc:sldMkLst>
          <pc:docMk/>
          <pc:sldMk cId="3743794390" sldId="6240"/>
        </pc:sldMkLst>
        <pc:graphicFrameChg chg="mod modGraphic">
          <ac:chgData name="Mukherjee, Shouvik" userId="8a0946e8-3a6b-4d5c-947d-73f4cd578335" providerId="ADAL" clId="{6305E879-FEA9-4C30-AA2D-B797D0B1AB2B}" dt="2025-06-19T16:39:19.359" v="105" actId="113"/>
          <ac:graphicFrameMkLst>
            <pc:docMk/>
            <pc:sldMk cId="3743794390" sldId="6240"/>
            <ac:graphicFrameMk id="9" creationId="{6FD10A7E-2222-4785-AD53-FB57916B5BE5}"/>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3.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4.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chartUserShapes" Target="../drawings/drawing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chartUserShapes" Target="../drawings/drawing6.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 Id="rId4" Type="http://schemas.openxmlformats.org/officeDocument/2006/relationships/chartUserShapes" Target="../drawings/drawing7.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29.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oleObject" Target="file:///C:\Users\acer\Downloads\Annexure1%20RPO_Compliance_State_Wise_Details_FY_2021-22_MNRE.xlsx" TargetMode="Externa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1.xml"/><Relationship Id="rId1" Type="http://schemas.microsoft.com/office/2011/relationships/chartStyle" Target="style31.xml"/><Relationship Id="rId4"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5.xml"/><Relationship Id="rId1" Type="http://schemas.microsoft.com/office/2011/relationships/chartStyle" Target="style35.xml"/><Relationship Id="rId4" Type="http://schemas.openxmlformats.org/officeDocument/2006/relationships/chartUserShapes" Target="../drawings/drawing9.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oleObject" Target="file:///C:\Users\rajbanerjee\Downloads\Backup%20sheet.xlsx" TargetMode="External"/><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oleObject" Target="file:///C:\Users\rajbanerjee\Downloads\Backup%20sheet.xlsx" TargetMode="External"/><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7.xml"/><Relationship Id="rId1" Type="http://schemas.microsoft.com/office/2011/relationships/chartStyle" Target="style47.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8.xml"/><Relationship Id="rId1" Type="http://schemas.microsoft.com/office/2011/relationships/chartStyle" Target="style48.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49.xml"/><Relationship Id="rId1" Type="http://schemas.microsoft.com/office/2011/relationships/chartStyle" Target="style49.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47.xlsx"/><Relationship Id="rId2" Type="http://schemas.microsoft.com/office/2011/relationships/chartColorStyle" Target="colors50.xml"/><Relationship Id="rId1" Type="http://schemas.microsoft.com/office/2011/relationships/chartStyle" Target="style50.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51.xml"/><Relationship Id="rId1" Type="http://schemas.microsoft.com/office/2011/relationships/chartStyle" Target="style51.xml"/></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52.xml"/><Relationship Id="rId1" Type="http://schemas.microsoft.com/office/2011/relationships/chartStyle" Target="style52.xml"/></Relationships>
</file>

<file path=ppt/charts/_rels/chart52.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53.xml"/><Relationship Id="rId1" Type="http://schemas.microsoft.com/office/2011/relationships/chartStyle" Target="style53.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54.xml"/><Relationship Id="rId1" Type="http://schemas.microsoft.com/office/2011/relationships/chartStyle" Target="style54.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55.xml"/><Relationship Id="rId1" Type="http://schemas.microsoft.com/office/2011/relationships/chartStyle" Target="style55.xml"/></Relationships>
</file>

<file path=ppt/charts/_rels/chart55.xml.rels><?xml version="1.0" encoding="UTF-8" standalone="yes"?>
<Relationships xmlns="http://schemas.openxmlformats.org/package/2006/relationships"><Relationship Id="rId3" Type="http://schemas.openxmlformats.org/officeDocument/2006/relationships/package" Target="../embeddings/Microsoft_Excel_Worksheet53.xlsx"/><Relationship Id="rId2" Type="http://schemas.microsoft.com/office/2011/relationships/chartColorStyle" Target="colors56.xml"/><Relationship Id="rId1" Type="http://schemas.microsoft.com/office/2011/relationships/chartStyle" Target="style56.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54.xlsx"/><Relationship Id="rId2" Type="http://schemas.microsoft.com/office/2011/relationships/chartColorStyle" Target="colors57.xml"/><Relationship Id="rId1" Type="http://schemas.microsoft.com/office/2011/relationships/chartStyle" Target="style57.xml"/></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55.xlsx"/><Relationship Id="rId2" Type="http://schemas.microsoft.com/office/2011/relationships/chartColorStyle" Target="colors58.xml"/><Relationship Id="rId1" Type="http://schemas.microsoft.com/office/2011/relationships/chartStyle" Target="style58.xml"/></Relationships>
</file>

<file path=ppt/charts/_rels/chart58.xml.rels><?xml version="1.0" encoding="UTF-8" standalone="yes"?>
<Relationships xmlns="http://schemas.openxmlformats.org/package/2006/relationships"><Relationship Id="rId3" Type="http://schemas.openxmlformats.org/officeDocument/2006/relationships/package" Target="../embeddings/Microsoft_Excel_Worksheet56.xlsx"/><Relationship Id="rId2" Type="http://schemas.microsoft.com/office/2011/relationships/chartColorStyle" Target="colors59.xml"/><Relationship Id="rId1" Type="http://schemas.microsoft.com/office/2011/relationships/chartStyle" Target="style59.xml"/></Relationships>
</file>

<file path=ppt/charts/_rels/chart59.xml.rels><?xml version="1.0" encoding="UTF-8" standalone="yes"?>
<Relationships xmlns="http://schemas.openxmlformats.org/package/2006/relationships"><Relationship Id="rId3" Type="http://schemas.openxmlformats.org/officeDocument/2006/relationships/package" Target="../embeddings/Microsoft_Excel_Worksheet57.xlsx"/><Relationship Id="rId2" Type="http://schemas.microsoft.com/office/2011/relationships/chartColorStyle" Target="colors60.xml"/><Relationship Id="rId1" Type="http://schemas.microsoft.com/office/2011/relationships/chartStyle" Target="style60.xml"/></Relationships>
</file>

<file path=ppt/charts/_rels/chart60.xml.rels><?xml version="1.0" encoding="UTF-8" standalone="yes"?>
<Relationships xmlns="http://schemas.openxmlformats.org/package/2006/relationships"><Relationship Id="rId3" Type="http://schemas.openxmlformats.org/officeDocument/2006/relationships/package" Target="../embeddings/Microsoft_Excel_Worksheet58.xlsx"/><Relationship Id="rId2" Type="http://schemas.microsoft.com/office/2011/relationships/chartColorStyle" Target="colors61.xml"/><Relationship Id="rId1" Type="http://schemas.microsoft.com/office/2011/relationships/chartStyle" Target="style61.xml"/></Relationships>
</file>

<file path=ppt/charts/_rels/chart61.xml.rels><?xml version="1.0" encoding="UTF-8" standalone="yes"?>
<Relationships xmlns="http://schemas.openxmlformats.org/package/2006/relationships"><Relationship Id="rId3" Type="http://schemas.openxmlformats.org/officeDocument/2006/relationships/package" Target="../embeddings/Microsoft_Excel_Worksheet59.xlsx"/><Relationship Id="rId2" Type="http://schemas.microsoft.com/office/2011/relationships/chartColorStyle" Target="colors62.xml"/><Relationship Id="rId1" Type="http://schemas.microsoft.com/office/2011/relationships/chartStyle" Target="style62.xml"/></Relationships>
</file>

<file path=ppt/charts/_rels/chart62.xml.rels><?xml version="1.0" encoding="UTF-8" standalone="yes"?>
<Relationships xmlns="http://schemas.openxmlformats.org/package/2006/relationships"><Relationship Id="rId3" Type="http://schemas.openxmlformats.org/officeDocument/2006/relationships/package" Target="../embeddings/Microsoft_Excel_Worksheet60.xlsx"/><Relationship Id="rId2" Type="http://schemas.microsoft.com/office/2011/relationships/chartColorStyle" Target="colors63.xml"/><Relationship Id="rId1" Type="http://schemas.microsoft.com/office/2011/relationships/chartStyle" Target="style63.xml"/></Relationships>
</file>

<file path=ppt/charts/_rels/chart63.xml.rels><?xml version="1.0" encoding="UTF-8" standalone="yes"?>
<Relationships xmlns="http://schemas.openxmlformats.org/package/2006/relationships"><Relationship Id="rId3" Type="http://schemas.openxmlformats.org/officeDocument/2006/relationships/package" Target="../embeddings/Microsoft_Excel_Worksheet61.xlsx"/><Relationship Id="rId2" Type="http://schemas.microsoft.com/office/2011/relationships/chartColorStyle" Target="colors64.xml"/><Relationship Id="rId1" Type="http://schemas.microsoft.com/office/2011/relationships/chartStyle" Target="style64.xml"/></Relationships>
</file>

<file path=ppt/charts/_rels/chart64.xml.rels><?xml version="1.0" encoding="UTF-8" standalone="yes"?>
<Relationships xmlns="http://schemas.openxmlformats.org/package/2006/relationships"><Relationship Id="rId3" Type="http://schemas.openxmlformats.org/officeDocument/2006/relationships/package" Target="../embeddings/Microsoft_Excel_Worksheet62.xlsx"/><Relationship Id="rId2" Type="http://schemas.microsoft.com/office/2011/relationships/chartColorStyle" Target="colors65.xml"/><Relationship Id="rId1" Type="http://schemas.microsoft.com/office/2011/relationships/chartStyle" Target="style65.xml"/></Relationships>
</file>

<file path=ppt/charts/_rels/chart65.xml.rels><?xml version="1.0" encoding="UTF-8" standalone="yes"?>
<Relationships xmlns="http://schemas.openxmlformats.org/package/2006/relationships"><Relationship Id="rId3" Type="http://schemas.openxmlformats.org/officeDocument/2006/relationships/package" Target="../embeddings/Microsoft_Excel_Worksheet63.xlsx"/><Relationship Id="rId2" Type="http://schemas.microsoft.com/office/2011/relationships/chartColorStyle" Target="colors66.xml"/><Relationship Id="rId1" Type="http://schemas.microsoft.com/office/2011/relationships/chartStyle" Target="style66.xml"/></Relationships>
</file>

<file path=ppt/charts/_rels/chart66.xml.rels><?xml version="1.0" encoding="UTF-8" standalone="yes"?>
<Relationships xmlns="http://schemas.openxmlformats.org/package/2006/relationships"><Relationship Id="rId3" Type="http://schemas.openxmlformats.org/officeDocument/2006/relationships/oleObject" Target="file:///C:\Users\rajbanerjee\Downloads\Backup%20sheet.xlsx" TargetMode="External"/><Relationship Id="rId2" Type="http://schemas.microsoft.com/office/2011/relationships/chartColorStyle" Target="colors67.xml"/><Relationship Id="rId1" Type="http://schemas.microsoft.com/office/2011/relationships/chartStyle" Target="style67.xml"/></Relationships>
</file>

<file path=ppt/charts/_rels/chart67.xml.rels><?xml version="1.0" encoding="UTF-8" standalone="yes"?>
<Relationships xmlns="http://schemas.openxmlformats.org/package/2006/relationships"><Relationship Id="rId3" Type="http://schemas.openxmlformats.org/officeDocument/2006/relationships/oleObject" Target="file:///C:\Users\rajbanerjee\Downloads\Backup%20sheet.xlsx" TargetMode="External"/><Relationship Id="rId2" Type="http://schemas.microsoft.com/office/2011/relationships/chartColorStyle" Target="colors68.xml"/><Relationship Id="rId1" Type="http://schemas.microsoft.com/office/2011/relationships/chartStyle" Target="style68.xml"/></Relationships>
</file>

<file path=ppt/charts/_rels/chart68.xml.rels><?xml version="1.0" encoding="UTF-8" standalone="yes"?>
<Relationships xmlns="http://schemas.openxmlformats.org/package/2006/relationships"><Relationship Id="rId3" Type="http://schemas.openxmlformats.org/officeDocument/2006/relationships/oleObject" Target="file:///C:\Users\rajbanerjee\Downloads\Backup%20sheet.xlsx" TargetMode="External"/><Relationship Id="rId2" Type="http://schemas.microsoft.com/office/2011/relationships/chartColorStyle" Target="colors69.xml"/><Relationship Id="rId1" Type="http://schemas.microsoft.com/office/2011/relationships/chartStyle" Target="style69.xml"/></Relationships>
</file>

<file path=ppt/charts/_rels/chart69.xml.rels><?xml version="1.0" encoding="UTF-8" standalone="yes"?>
<Relationships xmlns="http://schemas.openxmlformats.org/package/2006/relationships"><Relationship Id="rId3" Type="http://schemas.openxmlformats.org/officeDocument/2006/relationships/oleObject" Target="file:///C:\Users\rajbanerjee\Downloads\Backup%20sheet.xlsx" TargetMode="External"/><Relationship Id="rId2" Type="http://schemas.microsoft.com/office/2011/relationships/chartColorStyle" Target="colors70.xml"/><Relationship Id="rId1" Type="http://schemas.microsoft.com/office/2011/relationships/chartStyle" Target="style70.xml"/></Relationships>
</file>

<file path=ppt/charts/_rels/chart70.xml.rels><?xml version="1.0" encoding="UTF-8" standalone="yes"?>
<Relationships xmlns="http://schemas.openxmlformats.org/package/2006/relationships"><Relationship Id="rId3" Type="http://schemas.openxmlformats.org/officeDocument/2006/relationships/package" Target="../embeddings/Microsoft_Excel_Worksheet64.xlsx"/><Relationship Id="rId2" Type="http://schemas.microsoft.com/office/2011/relationships/chartColorStyle" Target="colors71.xml"/><Relationship Id="rId1" Type="http://schemas.microsoft.com/office/2011/relationships/chartStyle" Target="style71.xml"/></Relationships>
</file>

<file path=ppt/charts/_rels/chart71.xml.rels><?xml version="1.0" encoding="UTF-8" standalone="yes"?>
<Relationships xmlns="http://schemas.openxmlformats.org/package/2006/relationships"><Relationship Id="rId3" Type="http://schemas.openxmlformats.org/officeDocument/2006/relationships/package" Target="../embeddings/Microsoft_Excel_Worksheet65.xlsx"/><Relationship Id="rId2" Type="http://schemas.microsoft.com/office/2011/relationships/chartColorStyle" Target="colors72.xml"/><Relationship Id="rId1" Type="http://schemas.microsoft.com/office/2011/relationships/chartStyle" Target="style72.xml"/></Relationships>
</file>

<file path=ppt/charts/_rels/chart72.xml.rels><?xml version="1.0" encoding="UTF-8" standalone="yes"?>
<Relationships xmlns="http://schemas.openxmlformats.org/package/2006/relationships"><Relationship Id="rId3" Type="http://schemas.openxmlformats.org/officeDocument/2006/relationships/package" Target="../embeddings/Microsoft_Excel_Worksheet66.xlsx"/><Relationship Id="rId2" Type="http://schemas.microsoft.com/office/2011/relationships/chartColorStyle" Target="colors73.xml"/><Relationship Id="rId1" Type="http://schemas.microsoft.com/office/2011/relationships/chartStyle" Target="style73.xml"/></Relationships>
</file>

<file path=ppt/charts/_rels/chart73.xml.rels><?xml version="1.0" encoding="UTF-8" standalone="yes"?>
<Relationships xmlns="http://schemas.openxmlformats.org/package/2006/relationships"><Relationship Id="rId3" Type="http://schemas.openxmlformats.org/officeDocument/2006/relationships/package" Target="../embeddings/Microsoft_Excel_Worksheet67.xlsx"/><Relationship Id="rId2" Type="http://schemas.microsoft.com/office/2011/relationships/chartColorStyle" Target="colors74.xml"/><Relationship Id="rId1" Type="http://schemas.microsoft.com/office/2011/relationships/chartStyle" Target="style74.xml"/></Relationships>
</file>

<file path=ppt/charts/_rels/chart74.xml.rels><?xml version="1.0" encoding="UTF-8" standalone="yes"?>
<Relationships xmlns="http://schemas.openxmlformats.org/package/2006/relationships"><Relationship Id="rId3" Type="http://schemas.openxmlformats.org/officeDocument/2006/relationships/package" Target="../embeddings/Microsoft_Excel_Worksheet68.xlsx"/><Relationship Id="rId2" Type="http://schemas.microsoft.com/office/2011/relationships/chartColorStyle" Target="colors75.xml"/><Relationship Id="rId1" Type="http://schemas.microsoft.com/office/2011/relationships/chartStyle" Target="style75.xml"/></Relationships>
</file>

<file path=ppt/charts/_rels/chart75.xml.rels><?xml version="1.0" encoding="UTF-8" standalone="yes"?>
<Relationships xmlns="http://schemas.openxmlformats.org/package/2006/relationships"><Relationship Id="rId3" Type="http://schemas.openxmlformats.org/officeDocument/2006/relationships/package" Target="../embeddings/Microsoft_Excel_Worksheet69.xlsx"/><Relationship Id="rId2" Type="http://schemas.microsoft.com/office/2011/relationships/chartColorStyle" Target="colors76.xml"/><Relationship Id="rId1" Type="http://schemas.microsoft.com/office/2011/relationships/chartStyle" Target="style76.xml"/></Relationships>
</file>

<file path=ppt/charts/_rels/chart76.xml.rels><?xml version="1.0" encoding="UTF-8" standalone="yes"?>
<Relationships xmlns="http://schemas.openxmlformats.org/package/2006/relationships"><Relationship Id="rId3" Type="http://schemas.openxmlformats.org/officeDocument/2006/relationships/package" Target="../embeddings/Microsoft_Excel_Worksheet71.xlsx"/><Relationship Id="rId2" Type="http://schemas.microsoft.com/office/2011/relationships/chartColorStyle" Target="colors78.xml"/><Relationship Id="rId1" Type="http://schemas.microsoft.com/office/2011/relationships/chartStyle" Target="style78.xml"/></Relationships>
</file>

<file path=ppt/charts/_rels/chart77.xml.rels><?xml version="1.0" encoding="UTF-8" standalone="yes"?>
<Relationships xmlns="http://schemas.openxmlformats.org/package/2006/relationships"><Relationship Id="rId3" Type="http://schemas.openxmlformats.org/officeDocument/2006/relationships/package" Target="../embeddings/Microsoft_Excel_Worksheet72.xlsx"/><Relationship Id="rId2" Type="http://schemas.microsoft.com/office/2011/relationships/chartColorStyle" Target="colors79.xml"/><Relationship Id="rId1" Type="http://schemas.microsoft.com/office/2011/relationships/chartStyle" Target="style79.xml"/></Relationships>
</file>

<file path=ppt/charts/_rels/chart78.xml.rels><?xml version="1.0" encoding="UTF-8" standalone="yes"?>
<Relationships xmlns="http://schemas.openxmlformats.org/package/2006/relationships"><Relationship Id="rId3" Type="http://schemas.openxmlformats.org/officeDocument/2006/relationships/package" Target="../embeddings/Microsoft_Excel_Worksheet73.xlsx"/><Relationship Id="rId2" Type="http://schemas.microsoft.com/office/2011/relationships/chartColorStyle" Target="colors80.xml"/><Relationship Id="rId1" Type="http://schemas.microsoft.com/office/2011/relationships/chartStyle" Target="style80.xml"/></Relationships>
</file>

<file path=ppt/charts/_rels/chartEx1.xml.rels><?xml version="1.0" encoding="UTF-8" standalone="yes"?>
<Relationships xmlns="http://schemas.openxmlformats.org/package/2006/relationships"><Relationship Id="rId3" Type="http://schemas.microsoft.com/office/2011/relationships/chartColorStyle" Target="colors14.xml"/><Relationship Id="rId2" Type="http://schemas.microsoft.com/office/2011/relationships/chartStyle" Target="style14.xml"/><Relationship Id="rId1" Type="http://schemas.openxmlformats.org/officeDocument/2006/relationships/package" Target="../embeddings/Microsoft_Excel_Worksheet13.xlsx"/></Relationships>
</file>

<file path=ppt/charts/_rels/chartEx2.xml.rels><?xml version="1.0" encoding="UTF-8" standalone="yes"?>
<Relationships xmlns="http://schemas.openxmlformats.org/package/2006/relationships"><Relationship Id="rId3" Type="http://schemas.microsoft.com/office/2011/relationships/chartColorStyle" Target="colors46.xml"/><Relationship Id="rId2" Type="http://schemas.microsoft.com/office/2011/relationships/chartStyle" Target="style46.xml"/><Relationship Id="rId1" Type="http://schemas.openxmlformats.org/officeDocument/2006/relationships/package" Target="../embeddings/Microsoft_Excel_Worksheet43.xlsx"/></Relationships>
</file>

<file path=ppt/charts/_rels/chartEx3.xml.rels><?xml version="1.0" encoding="UTF-8" standalone="yes"?>
<Relationships xmlns="http://schemas.openxmlformats.org/package/2006/relationships"><Relationship Id="rId3" Type="http://schemas.microsoft.com/office/2011/relationships/chartColorStyle" Target="colors77.xml"/><Relationship Id="rId2" Type="http://schemas.microsoft.com/office/2011/relationships/chartStyle" Target="style77.xml"/><Relationship Id="rId1" Type="http://schemas.openxmlformats.org/officeDocument/2006/relationships/package" Target="../embeddings/Microsoft_Excel_Worksheet7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64279973340322"/>
          <c:y val="6.0923631029220798E-2"/>
          <c:w val="0.54579850918963191"/>
          <c:h val="0.71733210142873105"/>
        </c:manualLayout>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0EC-494D-852A-ACE7908F37F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0EC-494D-852A-ACE7908F37F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1-8FDF-47DC-A658-685329C858DD}"/>
              </c:ext>
            </c:extLst>
          </c:dPt>
          <c:dLbls>
            <c:dLbl>
              <c:idx val="2"/>
              <c:layout>
                <c:manualLayout>
                  <c:x val="0.19337738583245828"/>
                  <c:y val="3.8077260172407791E-2"/>
                </c:manualLayout>
              </c:layout>
              <c:spPr>
                <a:solidFill>
                  <a:schemeClr val="accent3"/>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31916788863534912"/>
                      <c:h val="0.1737541772536273"/>
                    </c:manualLayout>
                  </c15:layout>
                </c:ext>
                <c:ext xmlns:c16="http://schemas.microsoft.com/office/drawing/2014/chart" uri="{C3380CC4-5D6E-409C-BE32-E72D297353CC}">
                  <c16:uniqueId val="{00000001-8FDF-47DC-A658-685329C858DD}"/>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Pumped Storage</c:v>
                </c:pt>
                <c:pt idx="1">
                  <c:v>Hydropower</c:v>
                </c:pt>
                <c:pt idx="2">
                  <c:v>Solar</c:v>
                </c:pt>
              </c:strCache>
            </c:strRef>
          </c:cat>
          <c:val>
            <c:numRef>
              <c:f>Sheet1!$B$2:$B$4</c:f>
              <c:numCache>
                <c:formatCode>General</c:formatCode>
                <c:ptCount val="3"/>
                <c:pt idx="0">
                  <c:v>900</c:v>
                </c:pt>
                <c:pt idx="1">
                  <c:v>177</c:v>
                </c:pt>
                <c:pt idx="2">
                  <c:v>100</c:v>
                </c:pt>
              </c:numCache>
            </c:numRef>
          </c:val>
          <c:extLst>
            <c:ext xmlns:c16="http://schemas.microsoft.com/office/drawing/2014/chart" uri="{C3380CC4-5D6E-409C-BE32-E72D297353CC}">
              <c16:uniqueId val="{00000000-8FDF-47DC-A658-685329C858DD}"/>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
          <c:y val="0.75805115378323751"/>
          <c:w val="1"/>
          <c:h val="0.20539466759922995"/>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sz="105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b="1" i="0" u="none" strike="noStrike" baseline="0" dirty="0">
                <a:solidFill>
                  <a:schemeClr val="tx1"/>
                </a:solidFill>
                <a:effectLst/>
              </a:rPr>
              <a:t>Discom-wise consumer mix in West Bengal (FY20)</a:t>
            </a:r>
            <a:endParaRPr lang="en-US" sz="1000" dirty="0">
              <a:solidFill>
                <a:schemeClr val="tx1"/>
              </a:solidFill>
            </a:endParaRPr>
          </a:p>
        </c:rich>
      </c:tx>
      <c:layout>
        <c:manualLayout>
          <c:xMode val="edge"/>
          <c:yMode val="edge"/>
          <c:x val="0.15914573745342975"/>
          <c:y val="1.9004701144975909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2497908874405016"/>
          <c:y val="0.21310153015637076"/>
          <c:w val="0.63677639289670618"/>
          <c:h val="0.7073900647509605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5-94C6-43EB-B51C-A0F5D7FD63A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94C6-43EB-B51C-A0F5D7FD63A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4-94C6-43EB-B51C-A0F5D7FD63A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3-94C6-43EB-B51C-A0F5D7FD63A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2-94C6-43EB-B51C-A0F5D7FD63AA}"/>
              </c:ext>
            </c:extLst>
          </c:dPt>
          <c:dLbls>
            <c:dLbl>
              <c:idx val="0"/>
              <c:layout>
                <c:manualLayout>
                  <c:x val="-0.12549900873931036"/>
                  <c:y val="3.6969139032203127E-2"/>
                </c:manualLayout>
              </c:layout>
              <c:showLegendKey val="0"/>
              <c:showVal val="1"/>
              <c:showCatName val="0"/>
              <c:showSerName val="0"/>
              <c:showPercent val="0"/>
              <c:showBubbleSize val="0"/>
              <c:extLst>
                <c:ext xmlns:c15="http://schemas.microsoft.com/office/drawing/2012/chart" uri="{CE6537A1-D6FC-4f65-9D91-7224C49458BB}">
                  <c15:layout>
                    <c:manualLayout>
                      <c:w val="0.25210811816272571"/>
                      <c:h val="0.15314007422174242"/>
                    </c:manualLayout>
                  </c15:layout>
                </c:ext>
                <c:ext xmlns:c16="http://schemas.microsoft.com/office/drawing/2014/chart" uri="{C3380CC4-5D6E-409C-BE32-E72D297353CC}">
                  <c16:uniqueId val="{00000005-94C6-43EB-B51C-A0F5D7FD63AA}"/>
                </c:ext>
              </c:extLst>
            </c:dLbl>
            <c:dLbl>
              <c:idx val="1"/>
              <c:layout>
                <c:manualLayout>
                  <c:x val="-3.6979906104480625E-2"/>
                  <c:y val="1.5110151512141061E-2"/>
                </c:manualLayout>
              </c:layout>
              <c:numFmt formatCode="0.0%" sourceLinked="0"/>
              <c:spPr>
                <a:solidFill>
                  <a:schemeClr val="accent2"/>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6725127464836873"/>
                      <c:h val="9.7065349131393669E-2"/>
                    </c:manualLayout>
                  </c15:layout>
                </c:ext>
                <c:ext xmlns:c16="http://schemas.microsoft.com/office/drawing/2014/chart" uri="{C3380CC4-5D6E-409C-BE32-E72D297353CC}">
                  <c16:uniqueId val="{00000001-94C6-43EB-B51C-A0F5D7FD63AA}"/>
                </c:ext>
              </c:extLst>
            </c:dLbl>
            <c:dLbl>
              <c:idx val="2"/>
              <c:layout>
                <c:manualLayout>
                  <c:x val="2.3592719838091438E-2"/>
                  <c:y val="-3.1361666523168352E-2"/>
                </c:manualLayout>
              </c:layout>
              <c:numFmt formatCode="0.0%" sourceLinked="0"/>
              <c:spPr>
                <a:solidFill>
                  <a:schemeClr val="accent3"/>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4C6-43EB-B51C-A0F5D7FD63AA}"/>
                </c:ext>
              </c:extLst>
            </c:dLbl>
            <c:dLbl>
              <c:idx val="3"/>
              <c:delete val="1"/>
              <c:extLst>
                <c:ext xmlns:c15="http://schemas.microsoft.com/office/drawing/2012/chart" uri="{CE6537A1-D6FC-4f65-9D91-7224C49458BB}"/>
                <c:ext xmlns:c16="http://schemas.microsoft.com/office/drawing/2014/chart" uri="{C3380CC4-5D6E-409C-BE32-E72D297353CC}">
                  <c16:uniqueId val="{00000003-94C6-43EB-B51C-A0F5D7FD63AA}"/>
                </c:ext>
              </c:extLst>
            </c:dLbl>
            <c:dLbl>
              <c:idx val="4"/>
              <c:delete val="1"/>
              <c:extLst>
                <c:ext xmlns:c15="http://schemas.microsoft.com/office/drawing/2012/chart" uri="{CE6537A1-D6FC-4f65-9D91-7224C49458BB}"/>
                <c:ext xmlns:c16="http://schemas.microsoft.com/office/drawing/2014/chart" uri="{C3380CC4-5D6E-409C-BE32-E72D297353CC}">
                  <c16:uniqueId val="{00000002-94C6-43EB-B51C-A0F5D7FD63AA}"/>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WBSEDCL</c:v>
                </c:pt>
                <c:pt idx="1">
                  <c:v>CESC</c:v>
                </c:pt>
                <c:pt idx="2">
                  <c:v>DPL</c:v>
                </c:pt>
                <c:pt idx="3">
                  <c:v>IPCL</c:v>
                </c:pt>
                <c:pt idx="4">
                  <c:v>DVC</c:v>
                </c:pt>
              </c:strCache>
            </c:strRef>
          </c:cat>
          <c:val>
            <c:numRef>
              <c:f>Sheet1!$B$2:$B$6</c:f>
              <c:numCache>
                <c:formatCode>0%</c:formatCode>
                <c:ptCount val="5"/>
                <c:pt idx="0">
                  <c:v>0.85399999999999998</c:v>
                </c:pt>
                <c:pt idx="1">
                  <c:v>0.14269999999999999</c:v>
                </c:pt>
                <c:pt idx="2" formatCode="0.00%">
                  <c:v>3.0000000000000001E-3</c:v>
                </c:pt>
                <c:pt idx="3" formatCode="0.00%">
                  <c:v>2.9999999999999997E-4</c:v>
                </c:pt>
                <c:pt idx="4" formatCode="0.00%">
                  <c:v>1.0000000000000001E-5</c:v>
                </c:pt>
              </c:numCache>
            </c:numRef>
          </c:val>
          <c:extLst>
            <c:ext xmlns:c16="http://schemas.microsoft.com/office/drawing/2014/chart" uri="{C3380CC4-5D6E-409C-BE32-E72D297353CC}">
              <c16:uniqueId val="{00000000-94C6-43EB-B51C-A0F5D7FD63AA}"/>
            </c:ext>
          </c:extLst>
        </c:ser>
        <c:dLbls>
          <c:showLegendKey val="0"/>
          <c:showVal val="0"/>
          <c:showCatName val="0"/>
          <c:showSerName val="0"/>
          <c:showPercent val="0"/>
          <c:showBubbleSize val="0"/>
          <c:showLeaderLines val="1"/>
        </c:dLbls>
        <c:firstSliceAng val="0"/>
        <c:holeSize val="66"/>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b="1" i="0" u="none" strike="noStrike" baseline="0" dirty="0" err="1">
                <a:solidFill>
                  <a:schemeClr val="tx1"/>
                </a:solidFill>
                <a:effectLst/>
              </a:rPr>
              <a:t>Discom</a:t>
            </a:r>
            <a:r>
              <a:rPr lang="en-US" sz="1000" b="1" i="0" u="none" strike="noStrike" baseline="0" dirty="0">
                <a:solidFill>
                  <a:schemeClr val="tx1"/>
                </a:solidFill>
                <a:effectLst/>
              </a:rPr>
              <a:t>-wise sales mix in West Bengal (FY20)</a:t>
            </a:r>
            <a:endParaRPr lang="en-US" sz="1000" dirty="0">
              <a:solidFill>
                <a:schemeClr val="tx1"/>
              </a:solidFill>
            </a:endParaRPr>
          </a:p>
        </c:rich>
      </c:tx>
      <c:layout>
        <c:manualLayout>
          <c:xMode val="edge"/>
          <c:yMode val="edge"/>
          <c:x val="0.15409830257615748"/>
          <c:y val="3.0220023184547969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993137487142228"/>
          <c:y val="0.21870908918309723"/>
          <c:w val="0.63677639289670618"/>
          <c:h val="0.7073900647509605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850-4FDB-81D1-7F0CAD3BDE5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850-4FDB-81D1-7F0CAD3BDE5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850-4FDB-81D1-7F0CAD3BDE5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850-4FDB-81D1-7F0CAD3BDE5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850-4FDB-81D1-7F0CAD3BDE5B}"/>
              </c:ext>
            </c:extLst>
          </c:dPt>
          <c:dLbls>
            <c:dLbl>
              <c:idx val="0"/>
              <c:layout>
                <c:manualLayout>
                  <c:x val="-0.23219506611319291"/>
                  <c:y val="0.2242989003613949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850-4FDB-81D1-7F0CAD3BDE5B}"/>
                </c:ext>
              </c:extLst>
            </c:dLbl>
            <c:dLbl>
              <c:idx val="1"/>
              <c:layout>
                <c:manualLayout>
                  <c:x val="-0.12114525188514412"/>
                  <c:y val="0"/>
                </c:manualLayout>
              </c:layout>
              <c:numFmt formatCode="0%" sourceLinked="0"/>
              <c:spPr>
                <a:solidFill>
                  <a:schemeClr val="accent2"/>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850-4FDB-81D1-7F0CAD3BDE5B}"/>
                </c:ext>
              </c:extLst>
            </c:dLbl>
            <c:dLbl>
              <c:idx val="2"/>
              <c:layout>
                <c:manualLayout>
                  <c:x val="-6.5620344771119749E-2"/>
                  <c:y val="5.6074725090348816E-3"/>
                </c:manualLayout>
              </c:layout>
              <c:numFmt formatCode="0%" sourceLinked="0"/>
              <c:spPr>
                <a:solidFill>
                  <a:schemeClr val="accent3"/>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5009411809595274"/>
                      <c:h val="9.8411142533562063E-2"/>
                    </c:manualLayout>
                  </c15:layout>
                </c:ext>
                <c:ext xmlns:c16="http://schemas.microsoft.com/office/drawing/2014/chart" uri="{C3380CC4-5D6E-409C-BE32-E72D297353CC}">
                  <c16:uniqueId val="{00000005-A850-4FDB-81D1-7F0CAD3BDE5B}"/>
                </c:ext>
              </c:extLst>
            </c:dLbl>
            <c:dLbl>
              <c:idx val="3"/>
              <c:layout>
                <c:manualLayout>
                  <c:x val="-8.0763501256762779E-2"/>
                  <c:y val="-4.4859780072278997E-2"/>
                </c:manualLayout>
              </c:layout>
              <c:numFmt formatCode="0%" sourceLinked="0"/>
              <c:spPr>
                <a:solidFill>
                  <a:schemeClr val="accent4"/>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850-4FDB-81D1-7F0CAD3BDE5B}"/>
                </c:ext>
              </c:extLst>
            </c:dLbl>
            <c:dLbl>
              <c:idx val="4"/>
              <c:layout>
                <c:manualLayout>
                  <c:x val="2.5238594142738359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850-4FDB-81D1-7F0CAD3BDE5B}"/>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WBSEDCL</c:v>
                </c:pt>
                <c:pt idx="1">
                  <c:v>CESC</c:v>
                </c:pt>
                <c:pt idx="2">
                  <c:v>DPL</c:v>
                </c:pt>
                <c:pt idx="3">
                  <c:v>IPCL</c:v>
                </c:pt>
                <c:pt idx="4">
                  <c:v>DVC</c:v>
                </c:pt>
              </c:strCache>
            </c:strRef>
          </c:cat>
          <c:val>
            <c:numRef>
              <c:f>Sheet1!$B$2:$B$6</c:f>
              <c:numCache>
                <c:formatCode>0%</c:formatCode>
                <c:ptCount val="5"/>
                <c:pt idx="0">
                  <c:v>0.57999999999999996</c:v>
                </c:pt>
                <c:pt idx="1">
                  <c:v>0.21</c:v>
                </c:pt>
                <c:pt idx="2" formatCode="0.00%">
                  <c:v>4.2000000000000003E-2</c:v>
                </c:pt>
                <c:pt idx="3" formatCode="0.00%">
                  <c:v>1.9E-3</c:v>
                </c:pt>
                <c:pt idx="4" formatCode="0.00%">
                  <c:v>0.1661</c:v>
                </c:pt>
              </c:numCache>
            </c:numRef>
          </c:val>
          <c:extLst>
            <c:ext xmlns:c16="http://schemas.microsoft.com/office/drawing/2014/chart" uri="{C3380CC4-5D6E-409C-BE32-E72D297353CC}">
              <c16:uniqueId val="{0000000A-A850-4FDB-81D1-7F0CAD3BDE5B}"/>
            </c:ext>
          </c:extLst>
        </c:ser>
        <c:dLbls>
          <c:showLegendKey val="0"/>
          <c:showVal val="1"/>
          <c:showCatName val="0"/>
          <c:showSerName val="0"/>
          <c:showPercent val="0"/>
          <c:showBubbleSize val="0"/>
          <c:showLeaderLines val="1"/>
        </c:dLbls>
        <c:firstSliceAng val="0"/>
        <c:holeSize val="66"/>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74940763995209E-2"/>
          <c:y val="0.1255161100275794"/>
          <c:w val="0.90885011847200958"/>
          <c:h val="0.63445324588381946"/>
        </c:manualLayout>
      </c:layout>
      <c:barChart>
        <c:barDir val="col"/>
        <c:grouping val="clustered"/>
        <c:varyColors val="0"/>
        <c:ser>
          <c:idx val="0"/>
          <c:order val="0"/>
          <c:tx>
            <c:strRef>
              <c:f>Sheet1!$B$1</c:f>
              <c:strCache>
                <c:ptCount val="1"/>
                <c:pt idx="0">
                  <c:v>Sales (MUs)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FY15</c:v>
                </c:pt>
                <c:pt idx="1">
                  <c:v>FY16</c:v>
                </c:pt>
                <c:pt idx="2">
                  <c:v>FY17</c:v>
                </c:pt>
                <c:pt idx="3">
                  <c:v>FY18</c:v>
                </c:pt>
                <c:pt idx="4">
                  <c:v>FY19</c:v>
                </c:pt>
                <c:pt idx="5">
                  <c:v>FY 20</c:v>
                </c:pt>
                <c:pt idx="6">
                  <c:v>FY 21</c:v>
                </c:pt>
              </c:strCache>
            </c:strRef>
          </c:cat>
          <c:val>
            <c:numRef>
              <c:f>Sheet1!$B$2:$B$8</c:f>
              <c:numCache>
                <c:formatCode>#,##0</c:formatCode>
                <c:ptCount val="7"/>
                <c:pt idx="0">
                  <c:v>22509.43</c:v>
                </c:pt>
                <c:pt idx="1">
                  <c:v>22990.86</c:v>
                </c:pt>
                <c:pt idx="2">
                  <c:v>24290.3</c:v>
                </c:pt>
                <c:pt idx="3">
                  <c:v>25526.76</c:v>
                </c:pt>
                <c:pt idx="4">
                  <c:v>27678.127</c:v>
                </c:pt>
                <c:pt idx="5" formatCode="General">
                  <c:v>31109</c:v>
                </c:pt>
                <c:pt idx="6" formatCode="General">
                  <c:v>29556</c:v>
                </c:pt>
              </c:numCache>
            </c:numRef>
          </c:val>
          <c:extLst>
            <c:ext xmlns:c16="http://schemas.microsoft.com/office/drawing/2014/chart" uri="{C3380CC4-5D6E-409C-BE32-E72D297353CC}">
              <c16:uniqueId val="{00000000-EA4B-41B4-935A-B282F250F1BA}"/>
            </c:ext>
          </c:extLst>
        </c:ser>
        <c:dLbls>
          <c:showLegendKey val="0"/>
          <c:showVal val="0"/>
          <c:showCatName val="0"/>
          <c:showSerName val="0"/>
          <c:showPercent val="0"/>
          <c:showBubbleSize val="0"/>
        </c:dLbls>
        <c:gapWidth val="109"/>
        <c:overlap val="-27"/>
        <c:axId val="1528155384"/>
        <c:axId val="1528153744"/>
      </c:barChart>
      <c:catAx>
        <c:axId val="15281553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1528153744"/>
        <c:crosses val="autoZero"/>
        <c:auto val="1"/>
        <c:lblAlgn val="ctr"/>
        <c:lblOffset val="100"/>
        <c:noMultiLvlLbl val="0"/>
      </c:catAx>
      <c:valAx>
        <c:axId val="1528153744"/>
        <c:scaling>
          <c:orientation val="minMax"/>
        </c:scaling>
        <c:delete val="1"/>
        <c:axPos val="l"/>
        <c:numFmt formatCode="#,##0" sourceLinked="1"/>
        <c:majorTickMark val="none"/>
        <c:minorTickMark val="none"/>
        <c:tickLblPos val="nextTo"/>
        <c:crossAx val="1528155384"/>
        <c:crosses val="autoZero"/>
        <c:crossBetween val="between"/>
      </c:valAx>
      <c:spPr>
        <a:noFill/>
        <a:ln>
          <a:noFill/>
        </a:ln>
        <a:effectLst/>
      </c:spPr>
    </c:plotArea>
    <c:plotVisOnly val="1"/>
    <c:dispBlanksAs val="gap"/>
    <c:showDLblsOverMax val="0"/>
  </c:chart>
  <c:spPr>
    <a:noFill/>
    <a:ln>
      <a:noFill/>
    </a:ln>
    <a:effectLst/>
  </c:spPr>
  <c:txPr>
    <a:bodyPr/>
    <a:lstStyle/>
    <a:p>
      <a:pPr>
        <a:defRPr sz="1050">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74940763995209E-2"/>
          <c:y val="0.1255161100275794"/>
          <c:w val="0.90885011847200958"/>
          <c:h val="0.63445324588381946"/>
        </c:manualLayout>
      </c:layout>
      <c:barChart>
        <c:barDir val="col"/>
        <c:grouping val="clustered"/>
        <c:varyColors val="0"/>
        <c:ser>
          <c:idx val="0"/>
          <c:order val="0"/>
          <c:tx>
            <c:strRef>
              <c:f>Sheet1!$B$1</c:f>
              <c:strCache>
                <c:ptCount val="1"/>
                <c:pt idx="0">
                  <c:v>Consumers (Mn)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FY15</c:v>
                </c:pt>
                <c:pt idx="1">
                  <c:v>FY16</c:v>
                </c:pt>
                <c:pt idx="2">
                  <c:v>FY17</c:v>
                </c:pt>
                <c:pt idx="3">
                  <c:v>FY18</c:v>
                </c:pt>
                <c:pt idx="4">
                  <c:v>FY19</c:v>
                </c:pt>
                <c:pt idx="5">
                  <c:v>FY 20</c:v>
                </c:pt>
                <c:pt idx="6">
                  <c:v>FY 21</c:v>
                </c:pt>
              </c:strCache>
            </c:strRef>
          </c:cat>
          <c:val>
            <c:numRef>
              <c:f>Sheet1!$B$2:$B$8</c:f>
              <c:numCache>
                <c:formatCode>#,##0.00</c:formatCode>
                <c:ptCount val="7"/>
                <c:pt idx="0">
                  <c:v>15.103459000000001</c:v>
                </c:pt>
                <c:pt idx="1">
                  <c:v>16.364128999999998</c:v>
                </c:pt>
                <c:pt idx="2">
                  <c:v>17.424638000000002</c:v>
                </c:pt>
                <c:pt idx="3">
                  <c:v>18.112995000000002</c:v>
                </c:pt>
                <c:pt idx="4">
                  <c:v>19.13</c:v>
                </c:pt>
                <c:pt idx="5">
                  <c:v>20.059999999999999</c:v>
                </c:pt>
                <c:pt idx="6">
                  <c:v>20.77</c:v>
                </c:pt>
              </c:numCache>
            </c:numRef>
          </c:val>
          <c:extLst>
            <c:ext xmlns:c16="http://schemas.microsoft.com/office/drawing/2014/chart" uri="{C3380CC4-5D6E-409C-BE32-E72D297353CC}">
              <c16:uniqueId val="{00000000-AD6B-4F74-BEE6-E10313505A34}"/>
            </c:ext>
          </c:extLst>
        </c:ser>
        <c:dLbls>
          <c:showLegendKey val="0"/>
          <c:showVal val="0"/>
          <c:showCatName val="0"/>
          <c:showSerName val="0"/>
          <c:showPercent val="0"/>
          <c:showBubbleSize val="0"/>
        </c:dLbls>
        <c:gapWidth val="109"/>
        <c:overlap val="-27"/>
        <c:axId val="1528155384"/>
        <c:axId val="1528153744"/>
      </c:barChart>
      <c:catAx>
        <c:axId val="15281553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1528153744"/>
        <c:crosses val="autoZero"/>
        <c:auto val="1"/>
        <c:lblAlgn val="ctr"/>
        <c:lblOffset val="100"/>
        <c:noMultiLvlLbl val="0"/>
      </c:catAx>
      <c:valAx>
        <c:axId val="1528153744"/>
        <c:scaling>
          <c:orientation val="minMax"/>
        </c:scaling>
        <c:delete val="1"/>
        <c:axPos val="l"/>
        <c:numFmt formatCode="#,##0.00" sourceLinked="1"/>
        <c:majorTickMark val="none"/>
        <c:minorTickMark val="none"/>
        <c:tickLblPos val="nextTo"/>
        <c:crossAx val="1528155384"/>
        <c:crosses val="autoZero"/>
        <c:crossBetween val="between"/>
      </c:valAx>
      <c:spPr>
        <a:noFill/>
        <a:ln>
          <a:noFill/>
        </a:ln>
        <a:effectLst/>
      </c:spPr>
    </c:plotArea>
    <c:plotVisOnly val="1"/>
    <c:dispBlanksAs val="gap"/>
    <c:showDLblsOverMax val="0"/>
  </c:chart>
  <c:spPr>
    <a:noFill/>
    <a:ln>
      <a:noFill/>
    </a:ln>
    <a:effectLst/>
  </c:spPr>
  <c:txPr>
    <a:bodyPr/>
    <a:lstStyle/>
    <a:p>
      <a:pPr>
        <a:defRPr sz="1050">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7908874405016"/>
          <c:y val="0.21310153015637076"/>
          <c:w val="0.63677639289670618"/>
          <c:h val="0.7073900647509605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96A-4DE0-9DC7-39D6883F6DF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96A-4DE0-9DC7-39D6883F6DF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96A-4DE0-9DC7-39D6883F6DF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96A-4DE0-9DC7-39D6883F6DF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396A-4DE0-9DC7-39D6883F6DF3}"/>
              </c:ext>
            </c:extLst>
          </c:dPt>
          <c:dLbls>
            <c:dLbl>
              <c:idx val="0"/>
              <c:layout>
                <c:manualLayout>
                  <c:x val="-0.10530813342511967"/>
                  <c:y val="2.5754194014133376E-2"/>
                </c:manualLayout>
              </c:layout>
              <c:showLegendKey val="0"/>
              <c:showVal val="1"/>
              <c:showCatName val="0"/>
              <c:showSerName val="0"/>
              <c:showPercent val="0"/>
              <c:showBubbleSize val="0"/>
              <c:extLst>
                <c:ext xmlns:c15="http://schemas.microsoft.com/office/drawing/2012/chart" uri="{CE6537A1-D6FC-4f65-9D91-7224C49458BB}">
                  <c15:layout>
                    <c:manualLayout>
                      <c:w val="0.25210811816272571"/>
                      <c:h val="0.15314007422174242"/>
                    </c:manualLayout>
                  </c15:layout>
                </c:ext>
                <c:ext xmlns:c16="http://schemas.microsoft.com/office/drawing/2014/chart" uri="{C3380CC4-5D6E-409C-BE32-E72D297353CC}">
                  <c16:uniqueId val="{00000001-396A-4DE0-9DC7-39D6883F6DF3}"/>
                </c:ext>
              </c:extLst>
            </c:dLbl>
            <c:dLbl>
              <c:idx val="1"/>
              <c:layout>
                <c:manualLayout>
                  <c:x val="-0.15560109984626319"/>
                  <c:y val="3.8954272607055261E-3"/>
                </c:manualLayout>
              </c:layout>
              <c:numFmt formatCode="0%" sourceLinked="0"/>
              <c:spPr>
                <a:solidFill>
                  <a:schemeClr val="accent2"/>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7134461690596295"/>
                      <c:h val="9.7065349131393669E-2"/>
                    </c:manualLayout>
                  </c15:layout>
                </c:ext>
                <c:ext xmlns:c16="http://schemas.microsoft.com/office/drawing/2014/chart" uri="{C3380CC4-5D6E-409C-BE32-E72D297353CC}">
                  <c16:uniqueId val="{00000003-396A-4DE0-9DC7-39D6883F6DF3}"/>
                </c:ext>
              </c:extLst>
            </c:dLbl>
            <c:dLbl>
              <c:idx val="2"/>
              <c:layout>
                <c:manualLayout>
                  <c:x val="-8.745709438995744E-2"/>
                  <c:y val="-7.061397408641247E-2"/>
                </c:manualLayout>
              </c:layout>
              <c:numFmt formatCode="0%" sourceLinked="0"/>
              <c:spPr>
                <a:solidFill>
                  <a:schemeClr val="accent3"/>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96A-4DE0-9DC7-39D6883F6DF3}"/>
                </c:ext>
              </c:extLst>
            </c:dLbl>
            <c:dLbl>
              <c:idx val="3"/>
              <c:layout>
                <c:manualLayout>
                  <c:x val="2.5238594142738359E-2"/>
                  <c:y val="-8.4112087635523122E-2"/>
                </c:manualLayout>
              </c:layout>
              <c:numFmt formatCode="0%" sourceLinked="0"/>
              <c:spPr>
                <a:solidFill>
                  <a:schemeClr val="accent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96A-4DE0-9DC7-39D6883F6DF3}"/>
                </c:ext>
              </c:extLst>
            </c:dLbl>
            <c:dLbl>
              <c:idx val="4"/>
              <c:delete val="1"/>
              <c:extLst>
                <c:ext xmlns:c15="http://schemas.microsoft.com/office/drawing/2012/chart" uri="{CE6537A1-D6FC-4f65-9D91-7224C49458BB}"/>
                <c:ext xmlns:c16="http://schemas.microsoft.com/office/drawing/2014/chart" uri="{C3380CC4-5D6E-409C-BE32-E72D297353CC}">
                  <c16:uniqueId val="{00000009-396A-4DE0-9DC7-39D6883F6DF3}"/>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Domestic</c:v>
                </c:pt>
                <c:pt idx="1">
                  <c:v>Commercial</c:v>
                </c:pt>
                <c:pt idx="2">
                  <c:v>Agricultural</c:v>
                </c:pt>
                <c:pt idx="3">
                  <c:v>Industrial</c:v>
                </c:pt>
                <c:pt idx="4">
                  <c:v>Others</c:v>
                </c:pt>
              </c:strCache>
            </c:strRef>
          </c:cat>
          <c:val>
            <c:numRef>
              <c:f>Sheet1!$B$2:$B$6</c:f>
              <c:numCache>
                <c:formatCode>0%</c:formatCode>
                <c:ptCount val="5"/>
                <c:pt idx="0">
                  <c:v>0.89</c:v>
                </c:pt>
                <c:pt idx="1">
                  <c:v>0.09</c:v>
                </c:pt>
                <c:pt idx="2" formatCode="0.00%">
                  <c:v>0.02</c:v>
                </c:pt>
                <c:pt idx="3" formatCode="0.00%">
                  <c:v>0.01</c:v>
                </c:pt>
                <c:pt idx="4" formatCode="0.00%">
                  <c:v>2E-3</c:v>
                </c:pt>
              </c:numCache>
            </c:numRef>
          </c:val>
          <c:extLst>
            <c:ext xmlns:c16="http://schemas.microsoft.com/office/drawing/2014/chart" uri="{C3380CC4-5D6E-409C-BE32-E72D297353CC}">
              <c16:uniqueId val="{0000000A-396A-4DE0-9DC7-39D6883F6DF3}"/>
            </c:ext>
          </c:extLst>
        </c:ser>
        <c:dLbls>
          <c:showLegendKey val="0"/>
          <c:showVal val="0"/>
          <c:showCatName val="0"/>
          <c:showSerName val="0"/>
          <c:showPercent val="0"/>
          <c:showBubbleSize val="0"/>
          <c:showLeaderLines val="1"/>
        </c:dLbls>
        <c:firstSliceAng val="0"/>
        <c:holeSize val="66"/>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7908874405016"/>
          <c:y val="0.21310153015637076"/>
          <c:w val="0.63677639289670618"/>
          <c:h val="0.7073900647509605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AB8-447D-8297-ACE058EE2DA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AB8-447D-8297-ACE058EE2DA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AB8-447D-8297-ACE058EE2DA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AB8-447D-8297-ACE058EE2DA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AB8-447D-8297-ACE058EE2DAF}"/>
              </c:ext>
            </c:extLst>
          </c:dPt>
          <c:dLbls>
            <c:dLbl>
              <c:idx val="0"/>
              <c:layout>
                <c:manualLayout>
                  <c:x val="-0.11792723176740112"/>
                  <c:y val="-0.18732954056255754"/>
                </c:manualLayout>
              </c:layout>
              <c:numFmt formatCode="0%" sourceLinked="0"/>
              <c:spPr>
                <a:solidFill>
                  <a:schemeClr val="accent1"/>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8648777339160597"/>
                      <c:h val="9.7065349131393669E-2"/>
                    </c:manualLayout>
                  </c15:layout>
                </c:ext>
                <c:ext xmlns:c16="http://schemas.microsoft.com/office/drawing/2014/chart" uri="{C3380CC4-5D6E-409C-BE32-E72D297353CC}">
                  <c16:uniqueId val="{00000001-BAB8-447D-8297-ACE058EE2DAF}"/>
                </c:ext>
              </c:extLst>
            </c:dLbl>
            <c:dLbl>
              <c:idx val="1"/>
              <c:layout>
                <c:manualLayout>
                  <c:x val="-9.2174525474684361E-3"/>
                  <c:y val="3.7540262314914773E-2"/>
                </c:manualLayout>
              </c:layout>
              <c:numFmt formatCode="0%" sourceLinked="0"/>
              <c:spPr>
                <a:solidFill>
                  <a:schemeClr val="accent2"/>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0163092987724898"/>
                      <c:h val="9.7065349131393669E-2"/>
                    </c:manualLayout>
                  </c15:layout>
                </c:ext>
                <c:ext xmlns:c16="http://schemas.microsoft.com/office/drawing/2014/chart" uri="{C3380CC4-5D6E-409C-BE32-E72D297353CC}">
                  <c16:uniqueId val="{00000003-BAB8-447D-8297-ACE058EE2DAF}"/>
                </c:ext>
              </c:extLst>
            </c:dLbl>
            <c:dLbl>
              <c:idx val="2"/>
              <c:layout>
                <c:manualLayout>
                  <c:x val="-5.2123062590123642E-2"/>
                  <c:y val="6.3965366130424514E-2"/>
                </c:manualLayout>
              </c:layout>
              <c:numFmt formatCode="0%" sourceLinked="0"/>
              <c:spPr>
                <a:solidFill>
                  <a:schemeClr val="accent3"/>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AB8-447D-8297-ACE058EE2DAF}"/>
                </c:ext>
              </c:extLst>
            </c:dLbl>
            <c:dLbl>
              <c:idx val="3"/>
              <c:layout>
                <c:manualLayout>
                  <c:x val="-6.5620344771119735E-2"/>
                  <c:y val="-6.7289670108418548E-2"/>
                </c:manualLayout>
              </c:layout>
              <c:numFmt formatCode="0%" sourceLinked="0"/>
              <c:spPr>
                <a:solidFill>
                  <a:schemeClr val="accent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AB8-447D-8297-ACE058EE2DAF}"/>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Domestic</c:v>
                </c:pt>
                <c:pt idx="1">
                  <c:v>Commercial</c:v>
                </c:pt>
                <c:pt idx="2">
                  <c:v>Agricultural</c:v>
                </c:pt>
                <c:pt idx="3">
                  <c:v>Industrial</c:v>
                </c:pt>
                <c:pt idx="4">
                  <c:v>Others</c:v>
                </c:pt>
              </c:strCache>
            </c:strRef>
          </c:cat>
          <c:val>
            <c:numRef>
              <c:f>Sheet1!$B$2:$B$6</c:f>
              <c:numCache>
                <c:formatCode>0%</c:formatCode>
                <c:ptCount val="5"/>
                <c:pt idx="0">
                  <c:v>0.39</c:v>
                </c:pt>
                <c:pt idx="1">
                  <c:v>0.15</c:v>
                </c:pt>
                <c:pt idx="2">
                  <c:v>0.04</c:v>
                </c:pt>
                <c:pt idx="3">
                  <c:v>0.32</c:v>
                </c:pt>
                <c:pt idx="4">
                  <c:v>9.9999999999999978E-2</c:v>
                </c:pt>
              </c:numCache>
            </c:numRef>
          </c:val>
          <c:extLst>
            <c:ext xmlns:c16="http://schemas.microsoft.com/office/drawing/2014/chart" uri="{C3380CC4-5D6E-409C-BE32-E72D297353CC}">
              <c16:uniqueId val="{0000000A-BAB8-447D-8297-ACE058EE2DAF}"/>
            </c:ext>
          </c:extLst>
        </c:ser>
        <c:dLbls>
          <c:showLegendKey val="0"/>
          <c:showVal val="0"/>
          <c:showCatName val="0"/>
          <c:showSerName val="0"/>
          <c:showPercent val="0"/>
          <c:showBubbleSize val="0"/>
          <c:showLeaderLines val="1"/>
        </c:dLbls>
        <c:firstSliceAng val="0"/>
        <c:holeSize val="66"/>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74940763995209E-2"/>
          <c:y val="0.1255161100275794"/>
          <c:w val="0.90885011847200958"/>
          <c:h val="0.63445324588381946"/>
        </c:manualLayout>
      </c:layout>
      <c:barChart>
        <c:barDir val="col"/>
        <c:grouping val="clustered"/>
        <c:varyColors val="0"/>
        <c:ser>
          <c:idx val="0"/>
          <c:order val="0"/>
          <c:tx>
            <c:strRef>
              <c:f>Sheet1!$B$1</c:f>
              <c:strCache>
                <c:ptCount val="1"/>
                <c:pt idx="0">
                  <c:v>Sales (MUs)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FY16</c:v>
                </c:pt>
                <c:pt idx="1">
                  <c:v>FY17</c:v>
                </c:pt>
                <c:pt idx="2">
                  <c:v>FY18</c:v>
                </c:pt>
                <c:pt idx="3">
                  <c:v>FY19</c:v>
                </c:pt>
                <c:pt idx="4">
                  <c:v>FY 20</c:v>
                </c:pt>
                <c:pt idx="5">
                  <c:v>FY 21</c:v>
                </c:pt>
              </c:strCache>
            </c:strRef>
          </c:cat>
          <c:val>
            <c:numRef>
              <c:f>Sheet1!$B$2:$B$7</c:f>
              <c:numCache>
                <c:formatCode>0.00%</c:formatCode>
                <c:ptCount val="6"/>
                <c:pt idx="0">
                  <c:v>0.27739999999999998</c:v>
                </c:pt>
                <c:pt idx="1">
                  <c:v>0.2802</c:v>
                </c:pt>
                <c:pt idx="2">
                  <c:v>0.2666</c:v>
                </c:pt>
                <c:pt idx="3">
                  <c:v>0.22965110049937676</c:v>
                </c:pt>
                <c:pt idx="4">
                  <c:v>0.18479999999999999</c:v>
                </c:pt>
                <c:pt idx="5">
                  <c:v>0.2089</c:v>
                </c:pt>
              </c:numCache>
            </c:numRef>
          </c:val>
          <c:extLst>
            <c:ext xmlns:c16="http://schemas.microsoft.com/office/drawing/2014/chart" uri="{C3380CC4-5D6E-409C-BE32-E72D297353CC}">
              <c16:uniqueId val="{00000000-BF1B-4BD0-9D5E-ECF415D5D69B}"/>
            </c:ext>
          </c:extLst>
        </c:ser>
        <c:dLbls>
          <c:showLegendKey val="0"/>
          <c:showVal val="0"/>
          <c:showCatName val="0"/>
          <c:showSerName val="0"/>
          <c:showPercent val="0"/>
          <c:showBubbleSize val="0"/>
        </c:dLbls>
        <c:gapWidth val="109"/>
        <c:overlap val="-27"/>
        <c:axId val="1528155384"/>
        <c:axId val="1528153744"/>
      </c:barChart>
      <c:catAx>
        <c:axId val="15281553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1528153744"/>
        <c:crosses val="autoZero"/>
        <c:auto val="1"/>
        <c:lblAlgn val="ctr"/>
        <c:lblOffset val="100"/>
        <c:noMultiLvlLbl val="0"/>
      </c:catAx>
      <c:valAx>
        <c:axId val="1528153744"/>
        <c:scaling>
          <c:orientation val="minMax"/>
        </c:scaling>
        <c:delete val="1"/>
        <c:axPos val="l"/>
        <c:numFmt formatCode="0.00%" sourceLinked="1"/>
        <c:majorTickMark val="none"/>
        <c:minorTickMark val="none"/>
        <c:tickLblPos val="nextTo"/>
        <c:crossAx val="1528155384"/>
        <c:crosses val="autoZero"/>
        <c:crossBetween val="between"/>
      </c:valAx>
      <c:spPr>
        <a:noFill/>
        <a:ln>
          <a:noFill/>
        </a:ln>
        <a:effectLst/>
      </c:spPr>
    </c:plotArea>
    <c:plotVisOnly val="1"/>
    <c:dispBlanksAs val="gap"/>
    <c:showDLblsOverMax val="0"/>
  </c:chart>
  <c:spPr>
    <a:noFill/>
    <a:ln>
      <a:noFill/>
    </a:ln>
    <a:effectLst/>
  </c:spPr>
  <c:txPr>
    <a:bodyPr/>
    <a:lstStyle/>
    <a:p>
      <a:pPr>
        <a:defRPr sz="1050">
          <a:solidFill>
            <a:schemeClr val="tx1"/>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74940763995209E-2"/>
          <c:y val="0.1255161100275794"/>
          <c:w val="0.90885011847200958"/>
          <c:h val="0.63445324588381946"/>
        </c:manualLayout>
      </c:layout>
      <c:barChart>
        <c:barDir val="col"/>
        <c:grouping val="clustered"/>
        <c:varyColors val="0"/>
        <c:ser>
          <c:idx val="0"/>
          <c:order val="0"/>
          <c:tx>
            <c:strRef>
              <c:f>Sheet1!$B$1</c:f>
              <c:strCache>
                <c:ptCount val="1"/>
                <c:pt idx="0">
                  <c:v>Sales (MUs)</c:v>
                </c:pt>
              </c:strCache>
            </c:strRef>
          </c:tx>
          <c:spPr>
            <a:solidFill>
              <a:srgbClr val="009A4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FY16</c:v>
                </c:pt>
                <c:pt idx="1">
                  <c:v>FY17</c:v>
                </c:pt>
                <c:pt idx="2">
                  <c:v>FY18</c:v>
                </c:pt>
                <c:pt idx="3">
                  <c:v>FY19</c:v>
                </c:pt>
                <c:pt idx="4">
                  <c:v>FY 20</c:v>
                </c:pt>
                <c:pt idx="5">
                  <c:v>FY 21</c:v>
                </c:pt>
              </c:strCache>
            </c:strRef>
          </c:cat>
          <c:val>
            <c:numRef>
              <c:f>Sheet1!$B$2:$B$7</c:f>
              <c:numCache>
                <c:formatCode>0.00%</c:formatCode>
                <c:ptCount val="6"/>
                <c:pt idx="0">
                  <c:v>0.2984</c:v>
                </c:pt>
                <c:pt idx="1">
                  <c:v>0.30120000000000002</c:v>
                </c:pt>
                <c:pt idx="2">
                  <c:v>0.27350000000000002</c:v>
                </c:pt>
                <c:pt idx="3">
                  <c:v>0.22965110049937676</c:v>
                </c:pt>
                <c:pt idx="4">
                  <c:v>0.20100000000000001</c:v>
                </c:pt>
                <c:pt idx="5">
                  <c:v>0.2135</c:v>
                </c:pt>
              </c:numCache>
            </c:numRef>
          </c:val>
          <c:extLst>
            <c:ext xmlns:c16="http://schemas.microsoft.com/office/drawing/2014/chart" uri="{C3380CC4-5D6E-409C-BE32-E72D297353CC}">
              <c16:uniqueId val="{00000000-0378-4E1F-9A31-85BCCD16453A}"/>
            </c:ext>
          </c:extLst>
        </c:ser>
        <c:dLbls>
          <c:showLegendKey val="0"/>
          <c:showVal val="0"/>
          <c:showCatName val="0"/>
          <c:showSerName val="0"/>
          <c:showPercent val="0"/>
          <c:showBubbleSize val="0"/>
        </c:dLbls>
        <c:gapWidth val="109"/>
        <c:overlap val="-27"/>
        <c:axId val="1528155384"/>
        <c:axId val="1528153744"/>
      </c:barChart>
      <c:catAx>
        <c:axId val="15281553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1528153744"/>
        <c:crosses val="autoZero"/>
        <c:auto val="1"/>
        <c:lblAlgn val="ctr"/>
        <c:lblOffset val="100"/>
        <c:noMultiLvlLbl val="0"/>
      </c:catAx>
      <c:valAx>
        <c:axId val="1528153744"/>
        <c:scaling>
          <c:orientation val="minMax"/>
        </c:scaling>
        <c:delete val="1"/>
        <c:axPos val="l"/>
        <c:numFmt formatCode="0.00%" sourceLinked="1"/>
        <c:majorTickMark val="none"/>
        <c:minorTickMark val="none"/>
        <c:tickLblPos val="nextTo"/>
        <c:crossAx val="1528155384"/>
        <c:crosses val="autoZero"/>
        <c:crossBetween val="between"/>
      </c:valAx>
      <c:spPr>
        <a:noFill/>
        <a:ln>
          <a:noFill/>
        </a:ln>
        <a:effectLst/>
      </c:spPr>
    </c:plotArea>
    <c:plotVisOnly val="1"/>
    <c:dispBlanksAs val="gap"/>
    <c:showDLblsOverMax val="0"/>
  </c:chart>
  <c:spPr>
    <a:noFill/>
    <a:ln>
      <a:noFill/>
    </a:ln>
    <a:effectLst/>
  </c:spPr>
  <c:txPr>
    <a:bodyPr/>
    <a:lstStyle/>
    <a:p>
      <a:pPr>
        <a:defRPr sz="1050">
          <a:solidFill>
            <a:schemeClr val="tx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7908874405016"/>
          <c:y val="0.21310153015637076"/>
          <c:w val="0.63677639289670618"/>
          <c:h val="0.70739006475096056"/>
        </c:manualLayout>
      </c:layout>
      <c:doughnutChart>
        <c:varyColors val="1"/>
        <c:ser>
          <c:idx val="0"/>
          <c:order val="0"/>
          <c:tx>
            <c:strRef>
              <c:f>Sheet1!$B$1</c:f>
              <c:strCache>
                <c:ptCount val="1"/>
                <c:pt idx="0">
                  <c:v>Revenue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419-460C-9F69-6E932D46946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419-460C-9F69-6E932D46946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419-460C-9F69-6E932D46946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419-460C-9F69-6E932D46946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5419-460C-9F69-6E932D46946C}"/>
              </c:ext>
            </c:extLst>
          </c:dPt>
          <c:dLbls>
            <c:dLbl>
              <c:idx val="0"/>
              <c:layout>
                <c:manualLayout>
                  <c:x val="-0.11792723176740112"/>
                  <c:y val="-0.18732954056255754"/>
                </c:manualLayout>
              </c:layout>
              <c:numFmt formatCode="0%" sourceLinked="0"/>
              <c:spPr>
                <a:solidFill>
                  <a:schemeClr val="accent1"/>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8648777339160597"/>
                      <c:h val="9.7065349131393669E-2"/>
                    </c:manualLayout>
                  </c15:layout>
                </c:ext>
                <c:ext xmlns:c16="http://schemas.microsoft.com/office/drawing/2014/chart" uri="{C3380CC4-5D6E-409C-BE32-E72D297353CC}">
                  <c16:uniqueId val="{00000001-5419-460C-9F69-6E932D46946C}"/>
                </c:ext>
              </c:extLst>
            </c:dLbl>
            <c:dLbl>
              <c:idx val="1"/>
              <c:layout>
                <c:manualLayout>
                  <c:x val="-9.2174525474684361E-3"/>
                  <c:y val="3.7540262314914773E-2"/>
                </c:manualLayout>
              </c:layout>
              <c:numFmt formatCode="0%" sourceLinked="0"/>
              <c:spPr>
                <a:solidFill>
                  <a:schemeClr val="accent2"/>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0163092987724898"/>
                      <c:h val="9.7065349131393669E-2"/>
                    </c:manualLayout>
                  </c15:layout>
                </c:ext>
                <c:ext xmlns:c16="http://schemas.microsoft.com/office/drawing/2014/chart" uri="{C3380CC4-5D6E-409C-BE32-E72D297353CC}">
                  <c16:uniqueId val="{00000003-5419-460C-9F69-6E932D46946C}"/>
                </c:ext>
              </c:extLst>
            </c:dLbl>
            <c:dLbl>
              <c:idx val="2"/>
              <c:layout>
                <c:manualLayout>
                  <c:x val="-5.2123062590123642E-2"/>
                  <c:y val="6.3965366130424514E-2"/>
                </c:manualLayout>
              </c:layout>
              <c:numFmt formatCode="0%" sourceLinked="0"/>
              <c:spPr>
                <a:solidFill>
                  <a:schemeClr val="accent3"/>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419-460C-9F69-6E932D46946C}"/>
                </c:ext>
              </c:extLst>
            </c:dLbl>
            <c:dLbl>
              <c:idx val="3"/>
              <c:layout>
                <c:manualLayout>
                  <c:x val="-6.5620344771119735E-2"/>
                  <c:y val="-6.7289670108418548E-2"/>
                </c:manualLayout>
              </c:layout>
              <c:numFmt formatCode="0%" sourceLinked="0"/>
              <c:spPr>
                <a:solidFill>
                  <a:schemeClr val="accent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419-460C-9F69-6E932D46946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Domestic</c:v>
                </c:pt>
                <c:pt idx="1">
                  <c:v>Commercial</c:v>
                </c:pt>
                <c:pt idx="2">
                  <c:v>Agricultural</c:v>
                </c:pt>
                <c:pt idx="3">
                  <c:v>Industrial</c:v>
                </c:pt>
                <c:pt idx="4">
                  <c:v>Others</c:v>
                </c:pt>
              </c:strCache>
            </c:strRef>
          </c:cat>
          <c:val>
            <c:numRef>
              <c:f>Sheet1!$B$2:$B$6</c:f>
              <c:numCache>
                <c:formatCode>0%</c:formatCode>
                <c:ptCount val="5"/>
                <c:pt idx="0">
                  <c:v>0.37</c:v>
                </c:pt>
                <c:pt idx="1">
                  <c:v>0.18621771734456791</c:v>
                </c:pt>
                <c:pt idx="2">
                  <c:v>0.03</c:v>
                </c:pt>
                <c:pt idx="3">
                  <c:v>0.32</c:v>
                </c:pt>
                <c:pt idx="4">
                  <c:v>9.3782282655432037E-2</c:v>
                </c:pt>
              </c:numCache>
            </c:numRef>
          </c:val>
          <c:extLst>
            <c:ext xmlns:c16="http://schemas.microsoft.com/office/drawing/2014/chart" uri="{C3380CC4-5D6E-409C-BE32-E72D297353CC}">
              <c16:uniqueId val="{0000000A-5419-460C-9F69-6E932D46946C}"/>
            </c:ext>
          </c:extLst>
        </c:ser>
        <c:dLbls>
          <c:showLegendKey val="0"/>
          <c:showVal val="0"/>
          <c:showCatName val="0"/>
          <c:showSerName val="0"/>
          <c:showPercent val="0"/>
          <c:showBubbleSize val="0"/>
          <c:showLeaderLines val="1"/>
        </c:dLbls>
        <c:firstSliceAng val="0"/>
        <c:holeSize val="66"/>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0" i="0" u="none" strike="noStrike" kern="1200" spc="0" baseline="0">
                <a:solidFill>
                  <a:schemeClr val="tx1">
                    <a:lumMod val="65000"/>
                    <a:lumOff val="35000"/>
                  </a:schemeClr>
                </a:solidFill>
                <a:latin typeface="+mn-lt"/>
                <a:ea typeface="+mn-ea"/>
                <a:cs typeface="+mn-cs"/>
              </a:defRPr>
            </a:pPr>
            <a:r>
              <a:rPr lang="en-US" b="1" dirty="0"/>
              <a:t>Trend of Short term Borrowing and  Interest Cost</a:t>
            </a:r>
            <a:r>
              <a:rPr lang="en-US" b="1" baseline="0" dirty="0"/>
              <a:t> (Rs. Lakhs)</a:t>
            </a:r>
            <a:endParaRPr lang="en-US" b="1" dirty="0"/>
          </a:p>
        </c:rich>
      </c:tx>
      <c:overlay val="0"/>
      <c:spPr>
        <a:noFill/>
        <a:ln>
          <a:noFill/>
        </a:ln>
        <a:effectLst/>
      </c:spPr>
      <c:txPr>
        <a:bodyPr rot="0" spcFirstLastPara="1" vertOverflow="ellipsis" vert="horz" wrap="square" anchor="ctr" anchorCtr="1"/>
        <a:lstStyle/>
        <a:p>
          <a:pPr>
            <a:defRPr sz="108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3889808875098027E-2"/>
          <c:y val="0.30873699111592612"/>
          <c:w val="0.9755998254507402"/>
          <c:h val="0.54494911644647404"/>
        </c:manualLayout>
      </c:layout>
      <c:barChart>
        <c:barDir val="col"/>
        <c:grouping val="clustered"/>
        <c:varyColors val="0"/>
        <c:ser>
          <c:idx val="0"/>
          <c:order val="0"/>
          <c:tx>
            <c:strRef>
              <c:f>Sheet1!$B$1</c:f>
              <c:strCache>
                <c:ptCount val="1"/>
                <c:pt idx="0">
                  <c:v>Short Term Borrowings as on year end</c:v>
                </c:pt>
              </c:strCache>
            </c:strRef>
          </c:tx>
          <c:spPr>
            <a:solidFill>
              <a:schemeClr val="accent2"/>
            </a:solidFill>
            <a:ln>
              <a:noFill/>
            </a:ln>
            <a:effectLst/>
          </c:spPr>
          <c:invertIfNegative val="0"/>
          <c:dPt>
            <c:idx val="5"/>
            <c:invertIfNegative val="0"/>
            <c:bubble3D val="0"/>
            <c:spPr>
              <a:solidFill>
                <a:schemeClr val="tx1"/>
              </a:solidFill>
              <a:ln>
                <a:noFill/>
              </a:ln>
              <a:effectLst/>
            </c:spPr>
            <c:extLst>
              <c:ext xmlns:c16="http://schemas.microsoft.com/office/drawing/2014/chart" uri="{C3380CC4-5D6E-409C-BE32-E72D297353CC}">
                <c16:uniqueId val="{00000000-2DEC-43C0-A4F8-9D3512238A32}"/>
              </c:ext>
            </c:extLst>
          </c:dPt>
          <c:dLbls>
            <c:dLbl>
              <c:idx val="5"/>
              <c:tx>
                <c:rich>
                  <a:bodyPr rot="0" spcFirstLastPara="1" vertOverflow="ellipsis" vert="horz" wrap="square" anchor="ctr" anchorCtr="1"/>
                  <a:lstStyle/>
                  <a:p>
                    <a:pPr>
                      <a:defRPr sz="800" b="1" i="0" u="none" strike="noStrike" kern="1200" baseline="0">
                        <a:solidFill>
                          <a:schemeClr val="bg1"/>
                        </a:solidFill>
                        <a:latin typeface="+mn-lt"/>
                        <a:ea typeface="+mn-ea"/>
                        <a:cs typeface="+mn-cs"/>
                      </a:defRPr>
                    </a:pPr>
                    <a:fld id="{9DE63408-B7A9-486F-BD7E-DE952CB7FD81}" type="VALUE">
                      <a:rPr lang="en-US">
                        <a:solidFill>
                          <a:schemeClr val="bg1"/>
                        </a:solidFill>
                      </a:rPr>
                      <a:pPr>
                        <a:defRPr sz="800" b="1">
                          <a:solidFill>
                            <a:schemeClr val="bg1"/>
                          </a:solidFill>
                        </a:defRPr>
                      </a:pPr>
                      <a:t>[VALUE]</a:t>
                    </a:fld>
                    <a:endParaRPr lang="en-IN"/>
                  </a:p>
                </c:rich>
              </c:tx>
              <c:numFmt formatCode="_(* #,##0_);_(* \(#,##0\);_(* &quot;-&quot;??_);_(@_)" sourceLinked="0"/>
              <c:spPr>
                <a:solidFill>
                  <a:schemeClr val="tx1"/>
                </a:solidFill>
                <a:ln>
                  <a:noFill/>
                </a:ln>
                <a:effectLst/>
              </c:spPr>
              <c:txPr>
                <a:bodyPr rot="0" spcFirstLastPara="1" vertOverflow="ellipsis" vert="horz" wrap="square" anchor="ctr" anchorCtr="1"/>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DEC-43C0-A4F8-9D3512238A32}"/>
                </c:ext>
              </c:extLst>
            </c:dLbl>
            <c:numFmt formatCode="_(* #,##0_);_(* \(#,##0\);_(* &quot;-&quot;??_);_(@_)" sourceLinked="0"/>
            <c:spPr>
              <a:solidFill>
                <a:schemeClr val="accent2"/>
              </a:solidFill>
              <a:ln>
                <a:noFill/>
              </a:ln>
              <a:effectLst/>
            </c:spPr>
            <c:txPr>
              <a:bodyPr rot="0" spcFirstLastPara="1" vertOverflow="ellipsis" vert="horz" wrap="square" anchor="ctr" anchorCtr="1"/>
              <a:lstStyle/>
              <a:p>
                <a:pPr>
                  <a:defRPr sz="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2016</c:v>
                </c:pt>
                <c:pt idx="1">
                  <c:v>FY 2017</c:v>
                </c:pt>
                <c:pt idx="2">
                  <c:v>FY 2018</c:v>
                </c:pt>
                <c:pt idx="3">
                  <c:v>FY 2019</c:v>
                </c:pt>
                <c:pt idx="4">
                  <c:v>FY 2020</c:v>
                </c:pt>
                <c:pt idx="5">
                  <c:v>FY 2021</c:v>
                </c:pt>
              </c:strCache>
            </c:strRef>
          </c:cat>
          <c:val>
            <c:numRef>
              <c:f>Sheet1!$B$2:$B$7</c:f>
              <c:numCache>
                <c:formatCode>General</c:formatCode>
                <c:ptCount val="6"/>
                <c:pt idx="0">
                  <c:v>430597</c:v>
                </c:pt>
                <c:pt idx="1">
                  <c:v>471359</c:v>
                </c:pt>
                <c:pt idx="2">
                  <c:v>575261</c:v>
                </c:pt>
                <c:pt idx="3">
                  <c:v>510393</c:v>
                </c:pt>
                <c:pt idx="4">
                  <c:v>586037</c:v>
                </c:pt>
                <c:pt idx="5">
                  <c:v>589670</c:v>
                </c:pt>
              </c:numCache>
            </c:numRef>
          </c:val>
          <c:extLst>
            <c:ext xmlns:c16="http://schemas.microsoft.com/office/drawing/2014/chart" uri="{C3380CC4-5D6E-409C-BE32-E72D297353CC}">
              <c16:uniqueId val="{00000000-197D-493F-A6CC-B86F561D80B5}"/>
            </c:ext>
          </c:extLst>
        </c:ser>
        <c:dLbls>
          <c:showLegendKey val="0"/>
          <c:showVal val="0"/>
          <c:showCatName val="0"/>
          <c:showSerName val="0"/>
          <c:showPercent val="0"/>
          <c:showBubbleSize val="0"/>
        </c:dLbls>
        <c:gapWidth val="144"/>
        <c:overlap val="-27"/>
        <c:axId val="1352863711"/>
        <c:axId val="1352851647"/>
      </c:barChart>
      <c:lineChart>
        <c:grouping val="standard"/>
        <c:varyColors val="0"/>
        <c:ser>
          <c:idx val="1"/>
          <c:order val="1"/>
          <c:tx>
            <c:strRef>
              <c:f>Sheet1!$C$1</c:f>
              <c:strCache>
                <c:ptCount val="1"/>
                <c:pt idx="0">
                  <c:v>Interest on Short Term Borrowings</c:v>
                </c:pt>
              </c:strCache>
            </c:strRef>
          </c:tx>
          <c:spPr>
            <a:ln w="28575" cap="rnd">
              <a:solidFill>
                <a:schemeClr val="accent5"/>
              </a:solidFill>
              <a:prstDash val="dash"/>
              <a:round/>
            </a:ln>
            <a:effectLst/>
          </c:spPr>
          <c:marker>
            <c:symbol val="circle"/>
            <c:size val="5"/>
            <c:spPr>
              <a:solidFill>
                <a:schemeClr val="accent2"/>
              </a:solidFill>
              <a:ln w="9525">
                <a:solidFill>
                  <a:schemeClr val="accent5"/>
                </a:solidFill>
                <a:prstDash val="dash"/>
              </a:ln>
              <a:effectLst/>
            </c:spPr>
          </c:marker>
          <c:dLbls>
            <c:numFmt formatCode="#,##0" sourceLinked="0"/>
            <c:spPr>
              <a:noFill/>
              <a:ln>
                <a:noFill/>
              </a:ln>
              <a:effectLst/>
            </c:spPr>
            <c:txPr>
              <a:bodyPr rot="0" spcFirstLastPara="1" vertOverflow="ellipsis" vert="horz" wrap="square" anchor="ctr" anchorCtr="1"/>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2016</c:v>
                </c:pt>
                <c:pt idx="1">
                  <c:v>FY 2017</c:v>
                </c:pt>
                <c:pt idx="2">
                  <c:v>FY 2018</c:v>
                </c:pt>
                <c:pt idx="3">
                  <c:v>FY 2019</c:v>
                </c:pt>
                <c:pt idx="4">
                  <c:v>FY 2020</c:v>
                </c:pt>
                <c:pt idx="5">
                  <c:v>FY 2021</c:v>
                </c:pt>
              </c:strCache>
            </c:strRef>
          </c:cat>
          <c:val>
            <c:numRef>
              <c:f>Sheet1!$C$2:$C$7</c:f>
              <c:numCache>
                <c:formatCode>General</c:formatCode>
                <c:ptCount val="6"/>
                <c:pt idx="0">
                  <c:v>67851</c:v>
                </c:pt>
                <c:pt idx="1">
                  <c:v>77293</c:v>
                </c:pt>
                <c:pt idx="2">
                  <c:v>78351</c:v>
                </c:pt>
                <c:pt idx="3">
                  <c:v>71161</c:v>
                </c:pt>
                <c:pt idx="4">
                  <c:v>60519</c:v>
                </c:pt>
                <c:pt idx="5">
                  <c:v>62545</c:v>
                </c:pt>
              </c:numCache>
            </c:numRef>
          </c:val>
          <c:smooth val="0"/>
          <c:extLst>
            <c:ext xmlns:c16="http://schemas.microsoft.com/office/drawing/2014/chart" uri="{C3380CC4-5D6E-409C-BE32-E72D297353CC}">
              <c16:uniqueId val="{00000001-197D-493F-A6CC-B86F561D80B5}"/>
            </c:ext>
          </c:extLst>
        </c:ser>
        <c:dLbls>
          <c:showLegendKey val="0"/>
          <c:showVal val="0"/>
          <c:showCatName val="0"/>
          <c:showSerName val="0"/>
          <c:showPercent val="0"/>
          <c:showBubbleSize val="0"/>
        </c:dLbls>
        <c:marker val="1"/>
        <c:smooth val="0"/>
        <c:axId val="1893676527"/>
        <c:axId val="1893681103"/>
      </c:lineChart>
      <c:catAx>
        <c:axId val="1352863711"/>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52851647"/>
        <c:crosses val="autoZero"/>
        <c:auto val="1"/>
        <c:lblAlgn val="ctr"/>
        <c:lblOffset val="100"/>
        <c:noMultiLvlLbl val="0"/>
      </c:catAx>
      <c:valAx>
        <c:axId val="1352851647"/>
        <c:scaling>
          <c:orientation val="minMax"/>
          <c:max val="1000000"/>
        </c:scaling>
        <c:delete val="0"/>
        <c:axPos val="l"/>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2863711"/>
        <c:crosses val="autoZero"/>
        <c:crossBetween val="between"/>
      </c:valAx>
      <c:valAx>
        <c:axId val="1893681103"/>
        <c:scaling>
          <c:orientation val="minMax"/>
          <c:max val="100000"/>
        </c:scaling>
        <c:delete val="0"/>
        <c:axPos val="r"/>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3676527"/>
        <c:crosses val="max"/>
        <c:crossBetween val="between"/>
      </c:valAx>
      <c:catAx>
        <c:axId val="1893676527"/>
        <c:scaling>
          <c:orientation val="minMax"/>
        </c:scaling>
        <c:delete val="1"/>
        <c:axPos val="b"/>
        <c:numFmt formatCode="General" sourceLinked="1"/>
        <c:majorTickMark val="out"/>
        <c:minorTickMark val="none"/>
        <c:tickLblPos val="nextTo"/>
        <c:crossAx val="1893681103"/>
        <c:crosses val="autoZero"/>
        <c:auto val="1"/>
        <c:lblAlgn val="ctr"/>
        <c:lblOffset val="100"/>
        <c:noMultiLvlLbl val="0"/>
      </c:catAx>
      <c:spPr>
        <a:noFill/>
        <a:ln>
          <a:noFill/>
        </a:ln>
        <a:effectLst/>
      </c:spPr>
    </c:plotArea>
    <c:legend>
      <c:legendPos val="tr"/>
      <c:layout>
        <c:manualLayout>
          <c:xMode val="edge"/>
          <c:yMode val="edge"/>
          <c:x val="0.4722646487707019"/>
          <c:y val="0.19797320065253135"/>
          <c:w val="0.52546664737375204"/>
          <c:h val="0.1332727571607378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b="1" dirty="0"/>
              <a:t>Trend</a:t>
            </a:r>
            <a:r>
              <a:rPr lang="en-US" b="1" baseline="0" dirty="0"/>
              <a:t> of Net Profit Margin and Gross Profit Margin</a:t>
            </a:r>
            <a:endParaRPr lang="en-US" b="1" dirty="0"/>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147258493066119E-2"/>
          <c:y val="0.12451659606096895"/>
          <c:w val="0.96366638554020723"/>
          <c:h val="0.85659130781093507"/>
        </c:manualLayout>
      </c:layout>
      <c:lineChart>
        <c:grouping val="standard"/>
        <c:varyColors val="0"/>
        <c:ser>
          <c:idx val="0"/>
          <c:order val="0"/>
          <c:tx>
            <c:strRef>
              <c:f>Sheet1!$B$1</c:f>
              <c:strCache>
                <c:ptCount val="1"/>
                <c:pt idx="0">
                  <c:v>Net Profit Margin</c:v>
                </c:pt>
              </c:strCache>
            </c:strRef>
          </c:tx>
          <c:spPr>
            <a:ln w="28575" cap="rnd">
              <a:solidFill>
                <a:srgbClr val="007CB0"/>
              </a:solidFill>
              <a:round/>
            </a:ln>
            <a:effectLst/>
          </c:spPr>
          <c:marker>
            <c:symbol val="circle"/>
            <c:size val="5"/>
            <c:spPr>
              <a:solidFill>
                <a:schemeClr val="accent1"/>
              </a:solidFill>
              <a:ln w="9525">
                <a:solidFill>
                  <a:srgbClr val="007CB0"/>
                </a:solidFill>
              </a:ln>
              <a:effectLst/>
            </c:spPr>
          </c:marker>
          <c:dLbls>
            <c:dLbl>
              <c:idx val="0"/>
              <c:numFmt formatCode="0.00%" sourceLinked="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7-A942-4B8C-BD34-A8C60BDC4868}"/>
                </c:ext>
              </c:extLst>
            </c:dLbl>
            <c:dLbl>
              <c:idx val="1"/>
              <c:layout>
                <c:manualLayout>
                  <c:x val="-7.4265851069344052E-2"/>
                  <c:y val="-7.10377309994548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942-4B8C-BD34-A8C60BDC4868}"/>
                </c:ext>
              </c:extLst>
            </c:dLbl>
            <c:dLbl>
              <c:idx val="3"/>
              <c:layout>
                <c:manualLayout>
                  <c:x val="-7.4265851069344052E-2"/>
                  <c:y val="-7.638898837639480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942-4B8C-BD34-A8C60BDC4868}"/>
                </c:ext>
              </c:extLst>
            </c:dLbl>
            <c:dLbl>
              <c:idx val="4"/>
              <c:numFmt formatCode="0.00%" sourceLinked="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3-A942-4B8C-BD34-A8C60BDC4868}"/>
                </c:ext>
              </c:extLst>
            </c:dLbl>
            <c:numFmt formatCode="0.00%" sourceLinked="0"/>
            <c:spPr>
              <a:noFill/>
              <a:ln>
                <a:noFill/>
              </a:ln>
              <a:effectLst/>
            </c:spPr>
            <c:txPr>
              <a:bodyPr rot="0" spcFirstLastPara="1" vertOverflow="ellipsis" vert="horz" wrap="square" anchor="ctr" anchorCtr="1"/>
              <a:lstStyle/>
              <a:p>
                <a:pPr>
                  <a:defRPr sz="1000" b="1" i="0" u="none" strike="noStrike" kern="1200" baseline="0">
                    <a:solidFill>
                      <a:srgbClr val="DA291C"/>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16</c:v>
                </c:pt>
                <c:pt idx="1">
                  <c:v>FY 17</c:v>
                </c:pt>
                <c:pt idx="2">
                  <c:v>FY 18</c:v>
                </c:pt>
                <c:pt idx="3">
                  <c:v>FY 19</c:v>
                </c:pt>
                <c:pt idx="4">
                  <c:v>FY 20</c:v>
                </c:pt>
                <c:pt idx="5">
                  <c:v>FY 21</c:v>
                </c:pt>
              </c:strCache>
            </c:strRef>
          </c:cat>
          <c:val>
            <c:numRef>
              <c:f>Sheet1!$B$2:$B$7</c:f>
              <c:numCache>
                <c:formatCode>0%</c:formatCode>
                <c:ptCount val="6"/>
                <c:pt idx="0">
                  <c:v>1.4E-3</c:v>
                </c:pt>
                <c:pt idx="1">
                  <c:v>-1.2999999999999999E-3</c:v>
                </c:pt>
                <c:pt idx="2">
                  <c:v>-1.9E-3</c:v>
                </c:pt>
                <c:pt idx="3">
                  <c:v>-2.0999999999999999E-3</c:v>
                </c:pt>
                <c:pt idx="4">
                  <c:v>2.3800000000000002E-2</c:v>
                </c:pt>
                <c:pt idx="5">
                  <c:v>-8.3000000000000001E-3</c:v>
                </c:pt>
              </c:numCache>
            </c:numRef>
          </c:val>
          <c:smooth val="0"/>
          <c:extLst>
            <c:ext xmlns:c16="http://schemas.microsoft.com/office/drawing/2014/chart" uri="{C3380CC4-5D6E-409C-BE32-E72D297353CC}">
              <c16:uniqueId val="{00000004-A942-4B8C-BD34-A8C60BDC4868}"/>
            </c:ext>
          </c:extLst>
        </c:ser>
        <c:ser>
          <c:idx val="1"/>
          <c:order val="1"/>
          <c:tx>
            <c:strRef>
              <c:f>Sheet1!$C$1</c:f>
              <c:strCache>
                <c:ptCount val="1"/>
                <c:pt idx="0">
                  <c:v>Gross Profit Margin</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16</c:v>
                </c:pt>
                <c:pt idx="1">
                  <c:v>FY 17</c:v>
                </c:pt>
                <c:pt idx="2">
                  <c:v>FY 18</c:v>
                </c:pt>
                <c:pt idx="3">
                  <c:v>FY 19</c:v>
                </c:pt>
                <c:pt idx="4">
                  <c:v>FY 20</c:v>
                </c:pt>
                <c:pt idx="5">
                  <c:v>FY 21</c:v>
                </c:pt>
              </c:strCache>
            </c:strRef>
          </c:cat>
          <c:val>
            <c:numRef>
              <c:f>Sheet1!$C$2:$C$7</c:f>
              <c:numCache>
                <c:formatCode>0%</c:formatCode>
                <c:ptCount val="6"/>
                <c:pt idx="0">
                  <c:v>0.16</c:v>
                </c:pt>
                <c:pt idx="1">
                  <c:v>0.2</c:v>
                </c:pt>
                <c:pt idx="2">
                  <c:v>0.19</c:v>
                </c:pt>
                <c:pt idx="3">
                  <c:v>0.16</c:v>
                </c:pt>
                <c:pt idx="4">
                  <c:v>0.15</c:v>
                </c:pt>
                <c:pt idx="5">
                  <c:v>6.9199999999999998E-2</c:v>
                </c:pt>
              </c:numCache>
            </c:numRef>
          </c:val>
          <c:smooth val="0"/>
          <c:extLst>
            <c:ext xmlns:c16="http://schemas.microsoft.com/office/drawing/2014/chart" uri="{C3380CC4-5D6E-409C-BE32-E72D297353CC}">
              <c16:uniqueId val="{00000005-A942-4B8C-BD34-A8C60BDC4868}"/>
            </c:ext>
          </c:extLst>
        </c:ser>
        <c:dLbls>
          <c:showLegendKey val="0"/>
          <c:showVal val="0"/>
          <c:showCatName val="0"/>
          <c:showSerName val="0"/>
          <c:showPercent val="0"/>
          <c:showBubbleSize val="0"/>
        </c:dLbls>
        <c:marker val="1"/>
        <c:smooth val="0"/>
        <c:axId val="265882656"/>
        <c:axId val="265876416"/>
      </c:lineChart>
      <c:catAx>
        <c:axId val="26588265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265876416"/>
        <c:crosses val="autoZero"/>
        <c:auto val="1"/>
        <c:lblAlgn val="ctr"/>
        <c:lblOffset val="100"/>
        <c:noMultiLvlLbl val="0"/>
      </c:catAx>
      <c:valAx>
        <c:axId val="265876416"/>
        <c:scaling>
          <c:orientation val="minMax"/>
        </c:scaling>
        <c:delete val="1"/>
        <c:axPos val="l"/>
        <c:numFmt formatCode="0%" sourceLinked="1"/>
        <c:majorTickMark val="out"/>
        <c:minorTickMark val="none"/>
        <c:tickLblPos val="nextTo"/>
        <c:crossAx val="265882656"/>
        <c:crosses val="autoZero"/>
        <c:crossBetween val="between"/>
      </c:valAx>
      <c:spPr>
        <a:noFill/>
        <a:ln>
          <a:noFill/>
        </a:ln>
        <a:effectLst/>
      </c:spPr>
    </c:plotArea>
    <c:legend>
      <c:legendPos val="b"/>
      <c:layout>
        <c:manualLayout>
          <c:xMode val="edge"/>
          <c:yMode val="edge"/>
          <c:x val="2.4990002763859202E-2"/>
          <c:y val="0.15370431141572893"/>
          <c:w val="0.94526679287728965"/>
          <c:h val="0.1091896679439457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2.377571749553014E-2"/>
          <c:w val="1"/>
          <c:h val="0.84909052954791364"/>
        </c:manualLayout>
      </c:layout>
      <c:barChart>
        <c:barDir val="col"/>
        <c:grouping val="clustered"/>
        <c:varyColors val="0"/>
        <c:ser>
          <c:idx val="0"/>
          <c:order val="0"/>
          <c:tx>
            <c:strRef>
              <c:f>Sheet1!$B$1</c:f>
              <c:strCache>
                <c:ptCount val="1"/>
                <c:pt idx="0">
                  <c:v>Debt to Equity Ratio</c:v>
                </c:pt>
              </c:strCache>
            </c:strRef>
          </c:tx>
          <c:spPr>
            <a:solidFill>
              <a:schemeClr val="accent2"/>
            </a:solidFill>
            <a:ln>
              <a:noFill/>
            </a:ln>
            <a:effectLst/>
          </c:spPr>
          <c:invertIfNegative val="0"/>
          <c:dPt>
            <c:idx val="5"/>
            <c:invertIfNegative val="0"/>
            <c:bubble3D val="0"/>
            <c:spPr>
              <a:solidFill>
                <a:schemeClr val="accent2"/>
              </a:solidFill>
              <a:ln>
                <a:noFill/>
              </a:ln>
              <a:effectLst/>
            </c:spPr>
            <c:extLst>
              <c:ext xmlns:c16="http://schemas.microsoft.com/office/drawing/2014/chart" uri="{C3380CC4-5D6E-409C-BE32-E72D297353CC}">
                <c16:uniqueId val="{00000002-FEFF-44D5-82EE-CB0B2A24F9E7}"/>
              </c:ext>
            </c:extLst>
          </c:dPt>
          <c:dPt>
            <c:idx val="6"/>
            <c:invertIfNegative val="0"/>
            <c:bubble3D val="0"/>
            <c:spPr>
              <a:solidFill>
                <a:schemeClr val="tx1"/>
              </a:solidFill>
              <a:ln>
                <a:noFill/>
              </a:ln>
              <a:effectLst/>
            </c:spPr>
            <c:extLst>
              <c:ext xmlns:c16="http://schemas.microsoft.com/office/drawing/2014/chart" uri="{C3380CC4-5D6E-409C-BE32-E72D297353CC}">
                <c16:uniqueId val="{00000003-4A6F-4FFA-99E4-C567EBAA3256}"/>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15</c:v>
                </c:pt>
                <c:pt idx="1">
                  <c:v>FY 16</c:v>
                </c:pt>
                <c:pt idx="2">
                  <c:v>FY 17</c:v>
                </c:pt>
                <c:pt idx="3">
                  <c:v>FY 18</c:v>
                </c:pt>
                <c:pt idx="4">
                  <c:v>FY 19</c:v>
                </c:pt>
                <c:pt idx="5">
                  <c:v>FY 20</c:v>
                </c:pt>
                <c:pt idx="6">
                  <c:v>FY 21*</c:v>
                </c:pt>
              </c:strCache>
            </c:strRef>
          </c:cat>
          <c:val>
            <c:numRef>
              <c:f>Sheet1!$B$2:$B$8</c:f>
              <c:numCache>
                <c:formatCode>General</c:formatCode>
                <c:ptCount val="7"/>
                <c:pt idx="0">
                  <c:v>7.53</c:v>
                </c:pt>
                <c:pt idx="1">
                  <c:v>5.5</c:v>
                </c:pt>
                <c:pt idx="2">
                  <c:v>4.6500000000000004</c:v>
                </c:pt>
                <c:pt idx="3">
                  <c:v>4.93</c:v>
                </c:pt>
                <c:pt idx="4">
                  <c:v>4.1500000000000004</c:v>
                </c:pt>
                <c:pt idx="5">
                  <c:v>4.96</c:v>
                </c:pt>
                <c:pt idx="6">
                  <c:v>4.8</c:v>
                </c:pt>
              </c:numCache>
            </c:numRef>
          </c:val>
          <c:extLst>
            <c:ext xmlns:c16="http://schemas.microsoft.com/office/drawing/2014/chart" uri="{C3380CC4-5D6E-409C-BE32-E72D297353CC}">
              <c16:uniqueId val="{00000000-FEFF-44D5-82EE-CB0B2A24F9E7}"/>
            </c:ext>
          </c:extLst>
        </c:ser>
        <c:dLbls>
          <c:showLegendKey val="0"/>
          <c:showVal val="0"/>
          <c:showCatName val="0"/>
          <c:showSerName val="0"/>
          <c:showPercent val="0"/>
          <c:showBubbleSize val="0"/>
        </c:dLbls>
        <c:gapWidth val="75"/>
        <c:axId val="995526544"/>
        <c:axId val="995536112"/>
      </c:barChart>
      <c:catAx>
        <c:axId val="995526544"/>
        <c:scaling>
          <c:orientation val="minMax"/>
        </c:scaling>
        <c:delete val="0"/>
        <c:axPos val="b"/>
        <c:numFmt formatCode="General" sourceLinked="1"/>
        <c:majorTickMark val="none"/>
        <c:minorTickMark val="out"/>
        <c:tickLblPos val="nextTo"/>
        <c:spPr>
          <a:noFill/>
          <a:ln w="9525" cap="flat" cmpd="sng" algn="ctr">
            <a:solidFill>
              <a:schemeClr val="tx1"/>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995536112"/>
        <c:crosses val="autoZero"/>
        <c:auto val="1"/>
        <c:lblAlgn val="ctr"/>
        <c:lblOffset val="100"/>
        <c:noMultiLvlLbl val="0"/>
      </c:catAx>
      <c:valAx>
        <c:axId val="995536112"/>
        <c:scaling>
          <c:orientation val="minMax"/>
          <c:max val="10"/>
          <c:min val="2"/>
        </c:scaling>
        <c:delete val="0"/>
        <c:axPos val="l"/>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95526544"/>
        <c:crosses val="autoZero"/>
        <c:crossBetween val="between"/>
        <c:majorUnit val="0.5"/>
        <c:min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626543307958762"/>
          <c:y val="0.20859015695876937"/>
          <c:w val="0.40829510392185181"/>
          <c:h val="0.74171712502558096"/>
        </c:manualLayout>
      </c:layout>
      <c:pieChart>
        <c:varyColors val="1"/>
        <c:ser>
          <c:idx val="0"/>
          <c:order val="0"/>
          <c:tx>
            <c:strRef>
              <c:f>Sheet1!$B$1</c:f>
              <c:strCache>
                <c:ptCount val="1"/>
                <c:pt idx="0">
                  <c:v>Series 1</c:v>
                </c:pt>
              </c:strCache>
            </c:strRef>
          </c:tx>
          <c:explosion val="1"/>
          <c:dPt>
            <c:idx val="0"/>
            <c:bubble3D val="0"/>
            <c:spPr>
              <a:solidFill>
                <a:schemeClr val="accent5">
                  <a:lumMod val="75000"/>
                </a:schemeClr>
              </a:solidFill>
              <a:ln>
                <a:noFill/>
              </a:ln>
              <a:effectLst/>
            </c:spPr>
            <c:extLst>
              <c:ext xmlns:c16="http://schemas.microsoft.com/office/drawing/2014/chart" uri="{C3380CC4-5D6E-409C-BE32-E72D297353CC}">
                <c16:uniqueId val="{00000001-59D5-4647-B201-F54447434340}"/>
              </c:ext>
            </c:extLst>
          </c:dPt>
          <c:dPt>
            <c:idx val="1"/>
            <c:bubble3D val="0"/>
            <c:spPr>
              <a:solidFill>
                <a:schemeClr val="accent5">
                  <a:lumMod val="50000"/>
                </a:schemeClr>
              </a:solidFill>
              <a:ln>
                <a:noFill/>
              </a:ln>
              <a:effectLst/>
            </c:spPr>
            <c:extLst>
              <c:ext xmlns:c16="http://schemas.microsoft.com/office/drawing/2014/chart" uri="{C3380CC4-5D6E-409C-BE32-E72D297353CC}">
                <c16:uniqueId val="{00000003-59D5-4647-B201-F54447434340}"/>
              </c:ext>
            </c:extLst>
          </c:dPt>
          <c:dPt>
            <c:idx val="2"/>
            <c:bubble3D val="0"/>
            <c:spPr>
              <a:solidFill>
                <a:schemeClr val="accent5">
                  <a:lumMod val="20000"/>
                  <a:lumOff val="80000"/>
                </a:schemeClr>
              </a:solidFill>
              <a:ln>
                <a:noFill/>
              </a:ln>
              <a:effectLst/>
            </c:spPr>
            <c:extLst>
              <c:ext xmlns:c16="http://schemas.microsoft.com/office/drawing/2014/chart" uri="{C3380CC4-5D6E-409C-BE32-E72D297353CC}">
                <c16:uniqueId val="{00000005-59D5-4647-B201-F54447434340}"/>
              </c:ext>
            </c:extLst>
          </c:dPt>
          <c:dPt>
            <c:idx val="3"/>
            <c:bubble3D val="0"/>
            <c:spPr>
              <a:solidFill>
                <a:schemeClr val="accent5">
                  <a:lumMod val="60000"/>
                  <a:lumOff val="40000"/>
                </a:schemeClr>
              </a:solidFill>
              <a:ln>
                <a:noFill/>
              </a:ln>
              <a:effectLst/>
            </c:spPr>
            <c:extLst>
              <c:ext xmlns:c16="http://schemas.microsoft.com/office/drawing/2014/chart" uri="{C3380CC4-5D6E-409C-BE32-E72D297353CC}">
                <c16:uniqueId val="{00000007-59D5-4647-B201-F54447434340}"/>
              </c:ext>
            </c:extLst>
          </c:dPt>
          <c:dLbls>
            <c:dLbl>
              <c:idx val="0"/>
              <c:layout>
                <c:manualLayout>
                  <c:x val="-0.1885928467086137"/>
                  <c:y val="-9.2921614114124928E-3"/>
                </c:manualLayout>
              </c:layout>
              <c:showLegendKey val="0"/>
              <c:showVal val="1"/>
              <c:showCatName val="0"/>
              <c:showSerName val="0"/>
              <c:showPercent val="0"/>
              <c:showBubbleSize val="0"/>
              <c:extLst>
                <c:ext xmlns:c15="http://schemas.microsoft.com/office/drawing/2012/chart" uri="{CE6537A1-D6FC-4f65-9D91-7224C49458BB}">
                  <c15:layout>
                    <c:manualLayout>
                      <c:w val="0.16149379036614531"/>
                      <c:h val="8.4453291850384693E-2"/>
                    </c:manualLayout>
                  </c15:layout>
                </c:ext>
                <c:ext xmlns:c16="http://schemas.microsoft.com/office/drawing/2014/chart" uri="{C3380CC4-5D6E-409C-BE32-E72D297353CC}">
                  <c16:uniqueId val="{00000001-59D5-4647-B201-F54447434340}"/>
                </c:ext>
              </c:extLst>
            </c:dLbl>
            <c:dLbl>
              <c:idx val="2"/>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59D5-4647-B201-F544474343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95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Outsourced Jobs: Manpower Related</c:v>
                </c:pt>
                <c:pt idx="1">
                  <c:v>Repair &amp; maintenance Expenses</c:v>
                </c:pt>
                <c:pt idx="2">
                  <c:v>Administrative &amp; General Expenses</c:v>
                </c:pt>
                <c:pt idx="3">
                  <c:v>Other Debits</c:v>
                </c:pt>
              </c:strCache>
            </c:strRef>
          </c:cat>
          <c:val>
            <c:numRef>
              <c:f>Sheet1!$B$2:$B$5</c:f>
              <c:numCache>
                <c:formatCode>General</c:formatCode>
                <c:ptCount val="4"/>
                <c:pt idx="0">
                  <c:v>67051</c:v>
                </c:pt>
                <c:pt idx="1">
                  <c:v>22062</c:v>
                </c:pt>
                <c:pt idx="2">
                  <c:v>33289</c:v>
                </c:pt>
                <c:pt idx="3">
                  <c:v>18011</c:v>
                </c:pt>
              </c:numCache>
            </c:numRef>
          </c:val>
          <c:extLst>
            <c:ext xmlns:c16="http://schemas.microsoft.com/office/drawing/2014/chart" uri="{C3380CC4-5D6E-409C-BE32-E72D297353CC}">
              <c16:uniqueId val="{00000008-59D5-4647-B201-F54447434340}"/>
            </c:ext>
          </c:extLst>
        </c:ser>
        <c:ser>
          <c:idx val="1"/>
          <c:order val="1"/>
          <c:tx>
            <c:strRef>
              <c:f>Sheet1!$C$1</c:f>
              <c:strCache>
                <c:ptCount val="1"/>
                <c:pt idx="0">
                  <c:v>Series 2</c:v>
                </c:pt>
              </c:strCache>
            </c:strRef>
          </c:tx>
          <c:dPt>
            <c:idx val="0"/>
            <c:bubble3D val="0"/>
            <c:spPr>
              <a:solidFill>
                <a:schemeClr val="accent1"/>
              </a:solidFill>
              <a:ln>
                <a:noFill/>
              </a:ln>
              <a:effectLst/>
            </c:spPr>
            <c:extLst>
              <c:ext xmlns:c16="http://schemas.microsoft.com/office/drawing/2014/chart" uri="{C3380CC4-5D6E-409C-BE32-E72D297353CC}">
                <c16:uniqueId val="{0000000A-59D5-4647-B201-F54447434340}"/>
              </c:ext>
            </c:extLst>
          </c:dPt>
          <c:dPt>
            <c:idx val="1"/>
            <c:bubble3D val="0"/>
            <c:spPr>
              <a:solidFill>
                <a:schemeClr val="accent2"/>
              </a:solidFill>
              <a:ln>
                <a:noFill/>
              </a:ln>
              <a:effectLst/>
            </c:spPr>
            <c:extLst>
              <c:ext xmlns:c16="http://schemas.microsoft.com/office/drawing/2014/chart" uri="{C3380CC4-5D6E-409C-BE32-E72D297353CC}">
                <c16:uniqueId val="{0000000C-59D5-4647-B201-F54447434340}"/>
              </c:ext>
            </c:extLst>
          </c:dPt>
          <c:dPt>
            <c:idx val="2"/>
            <c:bubble3D val="0"/>
            <c:spPr>
              <a:solidFill>
                <a:schemeClr val="accent3"/>
              </a:solidFill>
              <a:ln>
                <a:noFill/>
              </a:ln>
              <a:effectLst/>
            </c:spPr>
            <c:extLst>
              <c:ext xmlns:c16="http://schemas.microsoft.com/office/drawing/2014/chart" uri="{C3380CC4-5D6E-409C-BE32-E72D297353CC}">
                <c16:uniqueId val="{0000000E-59D5-4647-B201-F54447434340}"/>
              </c:ext>
            </c:extLst>
          </c:dPt>
          <c:dPt>
            <c:idx val="3"/>
            <c:bubble3D val="0"/>
            <c:spPr>
              <a:solidFill>
                <a:schemeClr val="accent4"/>
              </a:solidFill>
              <a:ln>
                <a:noFill/>
              </a:ln>
              <a:effectLst/>
            </c:spPr>
            <c:extLst>
              <c:ext xmlns:c16="http://schemas.microsoft.com/office/drawing/2014/chart" uri="{C3380CC4-5D6E-409C-BE32-E72D297353CC}">
                <c16:uniqueId val="{00000010-59D5-4647-B201-F54447434340}"/>
              </c:ext>
            </c:extLst>
          </c:dPt>
          <c:cat>
            <c:strRef>
              <c:f>Sheet1!$A$2:$A$5</c:f>
              <c:strCache>
                <c:ptCount val="4"/>
                <c:pt idx="0">
                  <c:v>Outsourced Jobs: Manpower Related</c:v>
                </c:pt>
                <c:pt idx="1">
                  <c:v>Repair &amp; maintenance Expenses</c:v>
                </c:pt>
                <c:pt idx="2">
                  <c:v>Administrative &amp; General Expenses</c:v>
                </c:pt>
                <c:pt idx="3">
                  <c:v>Other Debits</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59D5-4647-B201-F54447434340}"/>
            </c:ext>
          </c:extLst>
        </c:ser>
        <c:ser>
          <c:idx val="2"/>
          <c:order val="2"/>
          <c:tx>
            <c:strRef>
              <c:f>Sheet1!$D$1</c:f>
              <c:strCache>
                <c:ptCount val="1"/>
                <c:pt idx="0">
                  <c:v>Series 3</c:v>
                </c:pt>
              </c:strCache>
            </c:strRef>
          </c:tx>
          <c:dPt>
            <c:idx val="0"/>
            <c:bubble3D val="0"/>
            <c:spPr>
              <a:solidFill>
                <a:schemeClr val="accent1"/>
              </a:solidFill>
              <a:ln>
                <a:noFill/>
              </a:ln>
              <a:effectLst/>
            </c:spPr>
            <c:extLst>
              <c:ext xmlns:c16="http://schemas.microsoft.com/office/drawing/2014/chart" uri="{C3380CC4-5D6E-409C-BE32-E72D297353CC}">
                <c16:uniqueId val="{00000013-59D5-4647-B201-F54447434340}"/>
              </c:ext>
            </c:extLst>
          </c:dPt>
          <c:dPt>
            <c:idx val="1"/>
            <c:bubble3D val="0"/>
            <c:spPr>
              <a:solidFill>
                <a:schemeClr val="accent2"/>
              </a:solidFill>
              <a:ln>
                <a:noFill/>
              </a:ln>
              <a:effectLst/>
            </c:spPr>
            <c:extLst>
              <c:ext xmlns:c16="http://schemas.microsoft.com/office/drawing/2014/chart" uri="{C3380CC4-5D6E-409C-BE32-E72D297353CC}">
                <c16:uniqueId val="{00000015-59D5-4647-B201-F54447434340}"/>
              </c:ext>
            </c:extLst>
          </c:dPt>
          <c:dPt>
            <c:idx val="2"/>
            <c:bubble3D val="0"/>
            <c:spPr>
              <a:solidFill>
                <a:schemeClr val="accent3"/>
              </a:solidFill>
              <a:ln>
                <a:noFill/>
              </a:ln>
              <a:effectLst/>
            </c:spPr>
            <c:extLst>
              <c:ext xmlns:c16="http://schemas.microsoft.com/office/drawing/2014/chart" uri="{C3380CC4-5D6E-409C-BE32-E72D297353CC}">
                <c16:uniqueId val="{00000017-59D5-4647-B201-F54447434340}"/>
              </c:ext>
            </c:extLst>
          </c:dPt>
          <c:dPt>
            <c:idx val="3"/>
            <c:bubble3D val="0"/>
            <c:spPr>
              <a:solidFill>
                <a:schemeClr val="accent4"/>
              </a:solidFill>
              <a:ln>
                <a:noFill/>
              </a:ln>
              <a:effectLst/>
            </c:spPr>
            <c:extLst>
              <c:ext xmlns:c16="http://schemas.microsoft.com/office/drawing/2014/chart" uri="{C3380CC4-5D6E-409C-BE32-E72D297353CC}">
                <c16:uniqueId val="{00000019-59D5-4647-B201-F54447434340}"/>
              </c:ext>
            </c:extLst>
          </c:dPt>
          <c:cat>
            <c:strRef>
              <c:f>Sheet1!$A$2:$A$5</c:f>
              <c:strCache>
                <c:ptCount val="4"/>
                <c:pt idx="0">
                  <c:v>Outsourced Jobs: Manpower Related</c:v>
                </c:pt>
                <c:pt idx="1">
                  <c:v>Repair &amp; maintenance Expenses</c:v>
                </c:pt>
                <c:pt idx="2">
                  <c:v>Administrative &amp; General Expenses</c:v>
                </c:pt>
                <c:pt idx="3">
                  <c:v>Other Debits</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59D5-4647-B201-F54447434340}"/>
            </c:ext>
          </c:extLst>
        </c:ser>
        <c:dLbls>
          <c:showLegendKey val="0"/>
          <c:showVal val="0"/>
          <c:showCatName val="0"/>
          <c:showSerName val="0"/>
          <c:showPercent val="0"/>
          <c:showBubbleSize val="0"/>
          <c:showLeaderLines val="1"/>
        </c:dLbls>
        <c:firstSliceAng val="0"/>
      </c:pieChart>
      <c:spPr>
        <a:noFill/>
        <a:ln>
          <a:noFill/>
        </a:ln>
        <a:effectLst/>
      </c:spPr>
    </c:plotArea>
    <c:legend>
      <c:legendPos val="l"/>
      <c:layout>
        <c:manualLayout>
          <c:xMode val="edge"/>
          <c:yMode val="edge"/>
          <c:x val="2.3510021532341243E-2"/>
          <c:y val="5.1151013484343477E-2"/>
          <c:w val="0.41716311789782151"/>
          <c:h val="0.89769749599648518"/>
        </c:manualLayout>
      </c:layout>
      <c:overlay val="0"/>
      <c:spPr>
        <a:noFill/>
        <a:ln>
          <a:solidFill>
            <a:schemeClr val="tx1"/>
          </a:solid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100" b="1" dirty="0"/>
              <a:t>Plant-wise</a:t>
            </a:r>
            <a:r>
              <a:rPr lang="en-US" sz="1100" b="1" baseline="0" dirty="0"/>
              <a:t> share of coal from non-captive and captive sources vis a vis their price (INR/MT) FY 2019 -20 Tariff Order Basis</a:t>
            </a:r>
            <a:endParaRPr lang="en-US" sz="1100" b="1" dirty="0"/>
          </a:p>
        </c:rich>
      </c:tx>
      <c:layout>
        <c:manualLayout>
          <c:xMode val="edge"/>
          <c:yMode val="edge"/>
          <c:x val="0.15167569935812958"/>
          <c:y val="1.2328092013754051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2310094180702251E-2"/>
          <c:y val="0.1896875790435627"/>
          <c:w val="0.97360997239770963"/>
          <c:h val="0.59589008939188715"/>
        </c:manualLayout>
      </c:layout>
      <c:barChart>
        <c:barDir val="col"/>
        <c:grouping val="stacked"/>
        <c:varyColors val="0"/>
        <c:ser>
          <c:idx val="0"/>
          <c:order val="0"/>
          <c:tx>
            <c:strRef>
              <c:f>Sheet1!$B$1</c:f>
              <c:strCache>
                <c:ptCount val="1"/>
                <c:pt idx="0">
                  <c:v>Non-Captive Share</c:v>
                </c:pt>
              </c:strCache>
            </c:strRef>
          </c:tx>
          <c:spPr>
            <a:solidFill>
              <a:schemeClr val="bg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Kolaghat</c:v>
                </c:pt>
                <c:pt idx="1">
                  <c:v>Bandel</c:v>
                </c:pt>
                <c:pt idx="2">
                  <c:v>Bakreswar</c:v>
                </c:pt>
                <c:pt idx="3">
                  <c:v>Santaldih</c:v>
                </c:pt>
                <c:pt idx="4">
                  <c:v>Sagardighi I</c:v>
                </c:pt>
                <c:pt idx="5">
                  <c:v>Sagardighi II</c:v>
                </c:pt>
              </c:strCache>
            </c:strRef>
          </c:cat>
          <c:val>
            <c:numRef>
              <c:f>Sheet1!$B$2:$B$7</c:f>
              <c:numCache>
                <c:formatCode>0%</c:formatCode>
                <c:ptCount val="6"/>
                <c:pt idx="0">
                  <c:v>0.866530368878761</c:v>
                </c:pt>
                <c:pt idx="1">
                  <c:v>0.76750702152863592</c:v>
                </c:pt>
                <c:pt idx="2">
                  <c:v>0.81739103772624755</c:v>
                </c:pt>
                <c:pt idx="3">
                  <c:v>0.7426008211472177</c:v>
                </c:pt>
                <c:pt idx="4">
                  <c:v>0.75002463214835358</c:v>
                </c:pt>
                <c:pt idx="5">
                  <c:v>0.75002451483800958</c:v>
                </c:pt>
              </c:numCache>
            </c:numRef>
          </c:val>
          <c:extLst>
            <c:ext xmlns:c16="http://schemas.microsoft.com/office/drawing/2014/chart" uri="{C3380CC4-5D6E-409C-BE32-E72D297353CC}">
              <c16:uniqueId val="{00000000-E3AD-43D9-A016-7788B0224BE4}"/>
            </c:ext>
          </c:extLst>
        </c:ser>
        <c:ser>
          <c:idx val="1"/>
          <c:order val="1"/>
          <c:tx>
            <c:strRef>
              <c:f>Sheet1!$C$1</c:f>
              <c:strCache>
                <c:ptCount val="1"/>
                <c:pt idx="0">
                  <c:v>Captive Share</c:v>
                </c:pt>
              </c:strCache>
            </c:strRef>
          </c:tx>
          <c:spPr>
            <a:solidFill>
              <a:schemeClr val="accent3">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Kolaghat</c:v>
                </c:pt>
                <c:pt idx="1">
                  <c:v>Bandel</c:v>
                </c:pt>
                <c:pt idx="2">
                  <c:v>Bakreswar</c:v>
                </c:pt>
                <c:pt idx="3">
                  <c:v>Santaldih</c:v>
                </c:pt>
                <c:pt idx="4">
                  <c:v>Sagardighi I</c:v>
                </c:pt>
                <c:pt idx="5">
                  <c:v>Sagardighi II</c:v>
                </c:pt>
              </c:strCache>
            </c:strRef>
          </c:cat>
          <c:val>
            <c:numRef>
              <c:f>Sheet1!$C$2:$C$7</c:f>
              <c:numCache>
                <c:formatCode>0%</c:formatCode>
                <c:ptCount val="6"/>
                <c:pt idx="0">
                  <c:v>0.13346963112123897</c:v>
                </c:pt>
                <c:pt idx="1">
                  <c:v>0.23249297847136413</c:v>
                </c:pt>
                <c:pt idx="2">
                  <c:v>0.1826089622737524</c:v>
                </c:pt>
                <c:pt idx="3">
                  <c:v>0.25739917885278241</c:v>
                </c:pt>
                <c:pt idx="4">
                  <c:v>0.24997536785164648</c:v>
                </c:pt>
                <c:pt idx="5">
                  <c:v>0.24997548516199042</c:v>
                </c:pt>
              </c:numCache>
            </c:numRef>
          </c:val>
          <c:extLst>
            <c:ext xmlns:c16="http://schemas.microsoft.com/office/drawing/2014/chart" uri="{C3380CC4-5D6E-409C-BE32-E72D297353CC}">
              <c16:uniqueId val="{00000001-E3AD-43D9-A016-7788B0224BE4}"/>
            </c:ext>
          </c:extLst>
        </c:ser>
        <c:dLbls>
          <c:showLegendKey val="0"/>
          <c:showVal val="0"/>
          <c:showCatName val="0"/>
          <c:showSerName val="0"/>
          <c:showPercent val="0"/>
          <c:showBubbleSize val="0"/>
        </c:dLbls>
        <c:gapWidth val="219"/>
        <c:overlap val="100"/>
        <c:axId val="738254928"/>
        <c:axId val="738257424"/>
      </c:barChart>
      <c:lineChart>
        <c:grouping val="standard"/>
        <c:varyColors val="0"/>
        <c:ser>
          <c:idx val="2"/>
          <c:order val="2"/>
          <c:tx>
            <c:strRef>
              <c:f>Sheet1!$D$1</c:f>
              <c:strCache>
                <c:ptCount val="1"/>
                <c:pt idx="0">
                  <c:v>Non-Captive Wt. Avg. Price</c:v>
                </c:pt>
              </c:strCache>
            </c:strRef>
          </c:tx>
          <c:spPr>
            <a:ln w="28575" cap="rnd">
              <a:solidFill>
                <a:srgbClr val="FFCC00"/>
              </a:solidFill>
              <a:round/>
            </a:ln>
            <a:effectLst/>
          </c:spPr>
          <c:marker>
            <c:symbol val="none"/>
          </c:marker>
          <c:dLbls>
            <c:dLbl>
              <c:idx val="0"/>
              <c:layout>
                <c:manualLayout>
                  <c:x val="-3.5003570180412629E-3"/>
                  <c:y val="-8.45428484738491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3AD-43D9-A016-7788B0224BE4}"/>
                </c:ext>
              </c:extLst>
            </c:dLbl>
            <c:dLbl>
              <c:idx val="1"/>
              <c:layout>
                <c:manualLayout>
                  <c:x val="-1.9835356435567154E-2"/>
                  <c:y val="-8.89924720777360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3AD-43D9-A016-7788B0224BE4}"/>
                </c:ext>
              </c:extLst>
            </c:dLbl>
            <c:dLbl>
              <c:idx val="2"/>
              <c:layout>
                <c:manualLayout>
                  <c:x val="-4.1194260661710579E-2"/>
                  <c:y val="-6.4519542256358586E-2"/>
                </c:manualLayout>
              </c:layout>
              <c:numFmt formatCode="[$₹-4009]\ #,##0" sourceLinked="0"/>
              <c:spPr>
                <a:noFill/>
                <a:ln>
                  <a:noFill/>
                </a:ln>
                <a:effectLst/>
              </c:spPr>
              <c:txPr>
                <a:bodyPr rot="0" spcFirstLastPara="1" vertOverflow="ellipsis" vert="horz" wrap="square" lIns="38100" tIns="19050" rIns="38100" bIns="19050" anchor="ctr" anchorCtr="1">
                  <a:noAutofit/>
                </a:bodyPr>
                <a:lstStyle/>
                <a:p>
                  <a:pPr>
                    <a:defRPr sz="7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753055161984464"/>
                      <c:h val="7.1193977662188782E-2"/>
                    </c:manualLayout>
                  </c15:layout>
                </c:ext>
                <c:ext xmlns:c16="http://schemas.microsoft.com/office/drawing/2014/chart" uri="{C3380CC4-5D6E-409C-BE32-E72D297353CC}">
                  <c16:uniqueId val="{00000004-E3AD-43D9-A016-7788B0224BE4}"/>
                </c:ext>
              </c:extLst>
            </c:dLbl>
            <c:dLbl>
              <c:idx val="3"/>
              <c:layout>
                <c:manualLayout>
                  <c:x val="-4.903460929005566E-2"/>
                  <c:y val="-7.56437013962876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3AD-43D9-A016-7788B0224BE4}"/>
                </c:ext>
              </c:extLst>
            </c:dLbl>
            <c:dLbl>
              <c:idx val="4"/>
              <c:layout>
                <c:manualLayout>
                  <c:x val="-3.38515727415978E-2"/>
                  <c:y val="-5.42729087710857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3AD-43D9-A016-7788B0224BE4}"/>
                </c:ext>
              </c:extLst>
            </c:dLbl>
            <c:dLbl>
              <c:idx val="5"/>
              <c:layout>
                <c:manualLayout>
                  <c:x val="-6.3044471385504494E-2"/>
                  <c:y val="-5.42729087710857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3AD-43D9-A016-7788B0224BE4}"/>
                </c:ext>
              </c:extLst>
            </c:dLbl>
            <c:numFmt formatCode="[$₹-4009]\ #,##0" sourceLinked="0"/>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Kolaghat</c:v>
                </c:pt>
                <c:pt idx="1">
                  <c:v>Bandel</c:v>
                </c:pt>
                <c:pt idx="2">
                  <c:v>Bakreswar</c:v>
                </c:pt>
                <c:pt idx="3">
                  <c:v>Santaldih</c:v>
                </c:pt>
                <c:pt idx="4">
                  <c:v>Sagardighi I</c:v>
                </c:pt>
                <c:pt idx="5">
                  <c:v>Sagardighi II</c:v>
                </c:pt>
              </c:strCache>
            </c:strRef>
          </c:cat>
          <c:val>
            <c:numRef>
              <c:f>Sheet1!$D$2:$D$7</c:f>
              <c:numCache>
                <c:formatCode>0.00</c:formatCode>
                <c:ptCount val="6"/>
                <c:pt idx="0">
                  <c:v>2417.3416278837403</c:v>
                </c:pt>
                <c:pt idx="1">
                  <c:v>2636.7291738842246</c:v>
                </c:pt>
                <c:pt idx="2">
                  <c:v>4211.4087191464805</c:v>
                </c:pt>
                <c:pt idx="3">
                  <c:v>4024.7310112324035</c:v>
                </c:pt>
                <c:pt idx="4">
                  <c:v>4577.9128139767236</c:v>
                </c:pt>
                <c:pt idx="5">
                  <c:v>4577.9126791861363</c:v>
                </c:pt>
              </c:numCache>
            </c:numRef>
          </c:val>
          <c:smooth val="0"/>
          <c:extLst>
            <c:ext xmlns:c16="http://schemas.microsoft.com/office/drawing/2014/chart" uri="{C3380CC4-5D6E-409C-BE32-E72D297353CC}">
              <c16:uniqueId val="{00000008-E3AD-43D9-A016-7788B0224BE4}"/>
            </c:ext>
          </c:extLst>
        </c:ser>
        <c:ser>
          <c:idx val="3"/>
          <c:order val="3"/>
          <c:tx>
            <c:strRef>
              <c:f>Sheet1!$E$1</c:f>
              <c:strCache>
                <c:ptCount val="1"/>
                <c:pt idx="0">
                  <c:v>Captive Wt. Avg. Price</c:v>
                </c:pt>
              </c:strCache>
            </c:strRef>
          </c:tx>
          <c:spPr>
            <a:ln w="28575" cap="rnd">
              <a:solidFill>
                <a:srgbClr val="6FC2B4"/>
              </a:solidFill>
              <a:round/>
            </a:ln>
            <a:effectLst/>
          </c:spPr>
          <c:marker>
            <c:symbol val="none"/>
          </c:marker>
          <c:dLbls>
            <c:dLbl>
              <c:idx val="0"/>
              <c:layout>
                <c:manualLayout>
                  <c:x val="1.4715063648443612E-2"/>
                  <c:y val="0.102341342889396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3AD-43D9-A016-7788B0224BE4}"/>
                </c:ext>
              </c:extLst>
            </c:dLbl>
            <c:dLbl>
              <c:idx val="1"/>
              <c:layout>
                <c:manualLayout>
                  <c:x val="1.9620084864591481E-2"/>
                  <c:y val="8.89924720777359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3AD-43D9-A016-7788B0224BE4}"/>
                </c:ext>
              </c:extLst>
            </c:dLbl>
            <c:dLbl>
              <c:idx val="2"/>
              <c:layout>
                <c:manualLayout>
                  <c:x val="2.9430127296887224E-2"/>
                  <c:y val="-8.899247207773679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3AD-43D9-A016-7788B0224BE4}"/>
                </c:ext>
              </c:extLst>
            </c:dLbl>
            <c:dLbl>
              <c:idx val="3"/>
              <c:layout>
                <c:manualLayout>
                  <c:x val="7.3575318242218059E-3"/>
                  <c:y val="-8.89924720777359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3AD-43D9-A016-7788B0224BE4}"/>
                </c:ext>
              </c:extLst>
            </c:dLbl>
            <c:dLbl>
              <c:idx val="4"/>
              <c:layout>
                <c:manualLayout>
                  <c:x val="0"/>
                  <c:y val="-6.67443540583020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3AD-43D9-A016-7788B0224BE4}"/>
                </c:ext>
              </c:extLst>
            </c:dLbl>
            <c:dLbl>
              <c:idx val="5"/>
              <c:layout>
                <c:manualLayout>
                  <c:x val="-4.9049322247610418E-2"/>
                  <c:y val="-7.51332550154188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3AD-43D9-A016-7788B0224BE4}"/>
                </c:ext>
              </c:extLst>
            </c:dLbl>
            <c:numFmt formatCode="[$₹-4009]\ #,##0" sourceLinked="0"/>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Kolaghat</c:v>
                </c:pt>
                <c:pt idx="1">
                  <c:v>Bandel</c:v>
                </c:pt>
                <c:pt idx="2">
                  <c:v>Bakreswar</c:v>
                </c:pt>
                <c:pt idx="3">
                  <c:v>Santaldih</c:v>
                </c:pt>
                <c:pt idx="4">
                  <c:v>Sagardighi I</c:v>
                </c:pt>
                <c:pt idx="5">
                  <c:v>Sagardighi II</c:v>
                </c:pt>
              </c:strCache>
            </c:strRef>
          </c:cat>
          <c:val>
            <c:numRef>
              <c:f>Sheet1!$E$2:$E$7</c:f>
              <c:numCache>
                <c:formatCode>0.00</c:formatCode>
                <c:ptCount val="6"/>
                <c:pt idx="0">
                  <c:v>2290.7036870324982</c:v>
                </c:pt>
                <c:pt idx="1">
                  <c:v>2126.23875</c:v>
                </c:pt>
                <c:pt idx="2">
                  <c:v>2452.243553593652</c:v>
                </c:pt>
                <c:pt idx="3">
                  <c:v>1677.63</c:v>
                </c:pt>
                <c:pt idx="4">
                  <c:v>2031.12</c:v>
                </c:pt>
                <c:pt idx="5">
                  <c:v>2086.4189999999994</c:v>
                </c:pt>
              </c:numCache>
            </c:numRef>
          </c:val>
          <c:smooth val="0"/>
          <c:extLst>
            <c:ext xmlns:c16="http://schemas.microsoft.com/office/drawing/2014/chart" uri="{C3380CC4-5D6E-409C-BE32-E72D297353CC}">
              <c16:uniqueId val="{0000000F-E3AD-43D9-A016-7788B0224BE4}"/>
            </c:ext>
          </c:extLst>
        </c:ser>
        <c:dLbls>
          <c:showLegendKey val="0"/>
          <c:showVal val="0"/>
          <c:showCatName val="0"/>
          <c:showSerName val="0"/>
          <c:showPercent val="0"/>
          <c:showBubbleSize val="0"/>
        </c:dLbls>
        <c:marker val="1"/>
        <c:smooth val="0"/>
        <c:axId val="1253088256"/>
        <c:axId val="1253087840"/>
      </c:lineChart>
      <c:catAx>
        <c:axId val="738254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mn-lt"/>
                <a:ea typeface="+mn-ea"/>
                <a:cs typeface="+mn-cs"/>
              </a:defRPr>
            </a:pPr>
            <a:endParaRPr lang="en-US"/>
          </a:p>
        </c:txPr>
        <c:crossAx val="738257424"/>
        <c:crosses val="autoZero"/>
        <c:auto val="1"/>
        <c:lblAlgn val="ctr"/>
        <c:lblOffset val="100"/>
        <c:noMultiLvlLbl val="0"/>
      </c:catAx>
      <c:valAx>
        <c:axId val="738257424"/>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738254928"/>
        <c:crosses val="autoZero"/>
        <c:crossBetween val="between"/>
      </c:valAx>
      <c:valAx>
        <c:axId val="1253087840"/>
        <c:scaling>
          <c:orientation val="minMax"/>
          <c:max val="550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1253088256"/>
        <c:crosses val="max"/>
        <c:crossBetween val="between"/>
      </c:valAx>
      <c:catAx>
        <c:axId val="1253088256"/>
        <c:scaling>
          <c:orientation val="minMax"/>
        </c:scaling>
        <c:delete val="1"/>
        <c:axPos val="b"/>
        <c:numFmt formatCode="General" sourceLinked="1"/>
        <c:majorTickMark val="out"/>
        <c:minorTickMark val="none"/>
        <c:tickLblPos val="nextTo"/>
        <c:crossAx val="12530878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INR Crores</c:v>
                </c:pt>
              </c:strCache>
            </c:strRef>
          </c:tx>
          <c:spPr>
            <a:solidFill>
              <a:schemeClr val="accent1"/>
            </a:solidFill>
            <a:ln>
              <a:noFill/>
            </a:ln>
            <a:effectLst/>
          </c:spPr>
          <c:invertIfNegative val="0"/>
          <c:dPt>
            <c:idx val="0"/>
            <c:invertIfNegative val="0"/>
            <c:bubble3D val="0"/>
            <c:spPr>
              <a:solidFill>
                <a:srgbClr val="009A44"/>
              </a:solidFill>
              <a:ln>
                <a:noFill/>
              </a:ln>
              <a:effectLst/>
            </c:spPr>
            <c:extLst>
              <c:ext xmlns:c16="http://schemas.microsoft.com/office/drawing/2014/chart" uri="{C3380CC4-5D6E-409C-BE32-E72D297353CC}">
                <c16:uniqueId val="{00000001-C613-4DA2-926E-1140565AC8A3}"/>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3-C613-4DA2-926E-1140565AC8A3}"/>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5-C613-4DA2-926E-1140565AC8A3}"/>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7-C613-4DA2-926E-1140565AC8A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Admitted ROE at 15.5%</c:v>
                </c:pt>
                <c:pt idx="1">
                  <c:v>ROE at 10%</c:v>
                </c:pt>
                <c:pt idx="2">
                  <c:v>ROE at 7.5%</c:v>
                </c:pt>
                <c:pt idx="3">
                  <c:v>Total Equity required as per planned CAPEX for FY 21</c:v>
                </c:pt>
                <c:pt idx="4">
                  <c:v>Total Equity required as per planned CAPEX for FY 22</c:v>
                </c:pt>
                <c:pt idx="5">
                  <c:v>Total Equity required as per planned CAPEX for FY 23</c:v>
                </c:pt>
              </c:strCache>
            </c:strRef>
          </c:cat>
          <c:val>
            <c:numRef>
              <c:f>Sheet1!$B$2:$B$7</c:f>
              <c:numCache>
                <c:formatCode>0</c:formatCode>
                <c:ptCount val="6"/>
                <c:pt idx="0">
                  <c:v>450.85778449999998</c:v>
                </c:pt>
                <c:pt idx="1">
                  <c:v>290.87599</c:v>
                </c:pt>
                <c:pt idx="2">
                  <c:v>218.1569925</c:v>
                </c:pt>
                <c:pt idx="3">
                  <c:v>119.34218999999999</c:v>
                </c:pt>
                <c:pt idx="4">
                  <c:v>202.94727</c:v>
                </c:pt>
                <c:pt idx="5">
                  <c:v>227.9802</c:v>
                </c:pt>
              </c:numCache>
            </c:numRef>
          </c:val>
          <c:extLst>
            <c:ext xmlns:c16="http://schemas.microsoft.com/office/drawing/2014/chart" uri="{C3380CC4-5D6E-409C-BE32-E72D297353CC}">
              <c16:uniqueId val="{00000008-C613-4DA2-926E-1140565AC8A3}"/>
            </c:ext>
          </c:extLst>
        </c:ser>
        <c:dLbls>
          <c:showLegendKey val="0"/>
          <c:showVal val="0"/>
          <c:showCatName val="0"/>
          <c:showSerName val="0"/>
          <c:showPercent val="0"/>
          <c:showBubbleSize val="0"/>
        </c:dLbls>
        <c:gapWidth val="219"/>
        <c:overlap val="-27"/>
        <c:axId val="58602319"/>
        <c:axId val="58596079"/>
      </c:barChart>
      <c:catAx>
        <c:axId val="586023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96079"/>
        <c:crosses val="autoZero"/>
        <c:auto val="1"/>
        <c:lblAlgn val="ctr"/>
        <c:lblOffset val="100"/>
        <c:noMultiLvlLbl val="0"/>
      </c:catAx>
      <c:valAx>
        <c:axId val="58596079"/>
        <c:scaling>
          <c:orientation val="minMax"/>
        </c:scaling>
        <c:delete val="0"/>
        <c:axPos val="l"/>
        <c:majorGridlines>
          <c:spPr>
            <a:ln w="9525" cap="flat" cmpd="sng" algn="ctr">
              <a:solidFill>
                <a:schemeClr val="bg1"/>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5860231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43B02A"/>
      </a:solid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dirty="0">
                <a:solidFill>
                  <a:schemeClr val="tx1"/>
                </a:solidFill>
              </a:rPr>
              <a:t>Summer</a:t>
            </a:r>
          </a:p>
        </c:rich>
      </c:tx>
      <c:layout>
        <c:manualLayout>
          <c:xMode val="edge"/>
          <c:yMode val="edge"/>
          <c:x val="0.46826614962114899"/>
          <c:y val="2.271908713396032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8321591248611809E-2"/>
          <c:y val="4.6024934943506395E-2"/>
          <c:w val="0.93887075156858657"/>
          <c:h val="0.88568852678365351"/>
        </c:manualLayout>
      </c:layout>
      <c:lineChart>
        <c:grouping val="standard"/>
        <c:varyColors val="0"/>
        <c:ser>
          <c:idx val="2"/>
          <c:order val="0"/>
          <c:tx>
            <c:strRef>
              <c:f>Sheet1!$D$1</c:f>
              <c:strCache>
                <c:ptCount val="1"/>
                <c:pt idx="0">
                  <c:v>FY 2020-21</c:v>
                </c:pt>
              </c:strCache>
            </c:strRef>
          </c:tx>
          <c:spPr>
            <a:ln w="28575" cap="rnd">
              <a:solidFill>
                <a:srgbClr val="7030A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4300</c:v>
                </c:pt>
                <c:pt idx="1">
                  <c:v>4270</c:v>
                </c:pt>
                <c:pt idx="2">
                  <c:v>4240</c:v>
                </c:pt>
                <c:pt idx="3">
                  <c:v>4210</c:v>
                </c:pt>
                <c:pt idx="4">
                  <c:v>4180</c:v>
                </c:pt>
                <c:pt idx="5">
                  <c:v>4150</c:v>
                </c:pt>
                <c:pt idx="6">
                  <c:v>4120</c:v>
                </c:pt>
                <c:pt idx="7">
                  <c:v>4100</c:v>
                </c:pt>
                <c:pt idx="8">
                  <c:v>4150</c:v>
                </c:pt>
                <c:pt idx="9">
                  <c:v>4200</c:v>
                </c:pt>
                <c:pt idx="10">
                  <c:v>4250</c:v>
                </c:pt>
                <c:pt idx="11">
                  <c:v>4300</c:v>
                </c:pt>
                <c:pt idx="12">
                  <c:v>4350</c:v>
                </c:pt>
                <c:pt idx="13">
                  <c:v>4450</c:v>
                </c:pt>
                <c:pt idx="14">
                  <c:v>4220</c:v>
                </c:pt>
                <c:pt idx="15">
                  <c:v>4490</c:v>
                </c:pt>
                <c:pt idx="16">
                  <c:v>4760</c:v>
                </c:pt>
                <c:pt idx="17">
                  <c:v>5030</c:v>
                </c:pt>
                <c:pt idx="18">
                  <c:v>5300</c:v>
                </c:pt>
                <c:pt idx="19">
                  <c:v>5570</c:v>
                </c:pt>
                <c:pt idx="20">
                  <c:v>5600</c:v>
                </c:pt>
                <c:pt idx="21">
                  <c:v>5300</c:v>
                </c:pt>
                <c:pt idx="22">
                  <c:v>5000</c:v>
                </c:pt>
                <c:pt idx="23">
                  <c:v>4700</c:v>
                </c:pt>
              </c:numCache>
            </c:numRef>
          </c:val>
          <c:smooth val="0"/>
          <c:extLst>
            <c:ext xmlns:c16="http://schemas.microsoft.com/office/drawing/2014/chart" uri="{C3380CC4-5D6E-409C-BE32-E72D297353CC}">
              <c16:uniqueId val="{00000000-C9CA-4589-BE79-FF856AA2B253}"/>
            </c:ext>
          </c:extLst>
        </c:ser>
        <c:ser>
          <c:idx val="3"/>
          <c:order val="1"/>
          <c:tx>
            <c:strRef>
              <c:f>Sheet1!$E$1</c:f>
              <c:strCache>
                <c:ptCount val="1"/>
                <c:pt idx="0">
                  <c:v>FY 2021-22</c:v>
                </c:pt>
              </c:strCache>
            </c:strRef>
          </c:tx>
          <c:spPr>
            <a:ln w="28575" cap="rnd">
              <a:solidFill>
                <a:srgbClr val="046A38"/>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Sheet1!$E$2:$E$25</c:f>
              <c:numCache>
                <c:formatCode>General</c:formatCode>
                <c:ptCount val="24"/>
                <c:pt idx="0">
                  <c:v>4150</c:v>
                </c:pt>
                <c:pt idx="1">
                  <c:v>4130</c:v>
                </c:pt>
                <c:pt idx="2">
                  <c:v>4110</c:v>
                </c:pt>
                <c:pt idx="3">
                  <c:v>4090</c:v>
                </c:pt>
                <c:pt idx="4">
                  <c:v>4070</c:v>
                </c:pt>
                <c:pt idx="5">
                  <c:v>4050</c:v>
                </c:pt>
                <c:pt idx="6">
                  <c:v>4030</c:v>
                </c:pt>
                <c:pt idx="7">
                  <c:v>4000</c:v>
                </c:pt>
                <c:pt idx="8">
                  <c:v>4150</c:v>
                </c:pt>
                <c:pt idx="9">
                  <c:v>4300</c:v>
                </c:pt>
                <c:pt idx="10">
                  <c:v>4450</c:v>
                </c:pt>
                <c:pt idx="11">
                  <c:v>4600</c:v>
                </c:pt>
                <c:pt idx="12">
                  <c:v>4750</c:v>
                </c:pt>
                <c:pt idx="13">
                  <c:v>4750</c:v>
                </c:pt>
                <c:pt idx="14">
                  <c:v>4600</c:v>
                </c:pt>
                <c:pt idx="15">
                  <c:v>4450</c:v>
                </c:pt>
                <c:pt idx="16">
                  <c:v>4550</c:v>
                </c:pt>
                <c:pt idx="17">
                  <c:v>4650</c:v>
                </c:pt>
                <c:pt idx="18">
                  <c:v>5330</c:v>
                </c:pt>
                <c:pt idx="19">
                  <c:v>6010</c:v>
                </c:pt>
                <c:pt idx="20">
                  <c:v>6700</c:v>
                </c:pt>
                <c:pt idx="21">
                  <c:v>6270</c:v>
                </c:pt>
                <c:pt idx="22">
                  <c:v>5840</c:v>
                </c:pt>
                <c:pt idx="23">
                  <c:v>5400</c:v>
                </c:pt>
              </c:numCache>
            </c:numRef>
          </c:val>
          <c:smooth val="0"/>
          <c:extLst>
            <c:ext xmlns:c16="http://schemas.microsoft.com/office/drawing/2014/chart" uri="{C3380CC4-5D6E-409C-BE32-E72D297353CC}">
              <c16:uniqueId val="{00000001-C9CA-4589-BE79-FF856AA2B253}"/>
            </c:ext>
          </c:extLst>
        </c:ser>
        <c:ser>
          <c:idx val="4"/>
          <c:order val="2"/>
          <c:tx>
            <c:strRef>
              <c:f>Sheet1!$F$1</c:f>
              <c:strCache>
                <c:ptCount val="1"/>
                <c:pt idx="0">
                  <c:v>FY 2022-23</c:v>
                </c:pt>
              </c:strCache>
            </c:strRef>
          </c:tx>
          <c:spPr>
            <a:ln w="28575" cap="rnd">
              <a:solidFill>
                <a:srgbClr val="FFCD0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Sheet1!$F$2:$F$25</c:f>
              <c:numCache>
                <c:formatCode>General</c:formatCode>
                <c:ptCount val="24"/>
                <c:pt idx="0">
                  <c:v>4350</c:v>
                </c:pt>
                <c:pt idx="1">
                  <c:v>4325</c:v>
                </c:pt>
                <c:pt idx="2">
                  <c:v>4300</c:v>
                </c:pt>
                <c:pt idx="3">
                  <c:v>4275</c:v>
                </c:pt>
                <c:pt idx="4">
                  <c:v>4250</c:v>
                </c:pt>
                <c:pt idx="5">
                  <c:v>4225</c:v>
                </c:pt>
                <c:pt idx="6">
                  <c:v>4200</c:v>
                </c:pt>
                <c:pt idx="7">
                  <c:v>4150</c:v>
                </c:pt>
                <c:pt idx="8">
                  <c:v>4280</c:v>
                </c:pt>
                <c:pt idx="9">
                  <c:v>4410</c:v>
                </c:pt>
                <c:pt idx="10">
                  <c:v>4540</c:v>
                </c:pt>
                <c:pt idx="11">
                  <c:v>4670</c:v>
                </c:pt>
                <c:pt idx="12">
                  <c:v>4800</c:v>
                </c:pt>
                <c:pt idx="13">
                  <c:v>4950</c:v>
                </c:pt>
                <c:pt idx="14">
                  <c:v>4850</c:v>
                </c:pt>
                <c:pt idx="15">
                  <c:v>4750</c:v>
                </c:pt>
                <c:pt idx="16">
                  <c:v>4800</c:v>
                </c:pt>
                <c:pt idx="17">
                  <c:v>4850</c:v>
                </c:pt>
                <c:pt idx="18">
                  <c:v>5500</c:v>
                </c:pt>
                <c:pt idx="19">
                  <c:v>6150</c:v>
                </c:pt>
                <c:pt idx="20">
                  <c:v>6800</c:v>
                </c:pt>
                <c:pt idx="21">
                  <c:v>6450</c:v>
                </c:pt>
                <c:pt idx="22">
                  <c:v>6100</c:v>
                </c:pt>
                <c:pt idx="23">
                  <c:v>5750</c:v>
                </c:pt>
              </c:numCache>
            </c:numRef>
          </c:val>
          <c:smooth val="0"/>
          <c:extLst>
            <c:ext xmlns:c16="http://schemas.microsoft.com/office/drawing/2014/chart" uri="{C3380CC4-5D6E-409C-BE32-E72D297353CC}">
              <c16:uniqueId val="{00000002-C9CA-4589-BE79-FF856AA2B253}"/>
            </c:ext>
          </c:extLst>
        </c:ser>
        <c:dLbls>
          <c:showLegendKey val="0"/>
          <c:showVal val="0"/>
          <c:showCatName val="0"/>
          <c:showSerName val="0"/>
          <c:showPercent val="0"/>
          <c:showBubbleSize val="0"/>
        </c:dLbls>
        <c:smooth val="0"/>
        <c:axId val="546461936"/>
        <c:axId val="546461520"/>
      </c:lineChart>
      <c:catAx>
        <c:axId val="546461936"/>
        <c:scaling>
          <c:orientation val="minMax"/>
        </c:scaling>
        <c:delete val="1"/>
        <c:axPos val="b"/>
        <c:numFmt formatCode="General" sourceLinked="1"/>
        <c:majorTickMark val="none"/>
        <c:minorTickMark val="none"/>
        <c:tickLblPos val="nextTo"/>
        <c:crossAx val="546461520"/>
        <c:crosses val="autoZero"/>
        <c:auto val="1"/>
        <c:lblAlgn val="ctr"/>
        <c:lblOffset val="100"/>
        <c:noMultiLvlLbl val="0"/>
      </c:catAx>
      <c:valAx>
        <c:axId val="546461520"/>
        <c:scaling>
          <c:orientation val="minMax"/>
          <c:max val="7000"/>
          <c:min val="3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46461936"/>
        <c:crosses val="autoZero"/>
        <c:crossBetween val="between"/>
        <c:majorUnit val="1000"/>
      </c:valAx>
      <c:spPr>
        <a:solidFill>
          <a:srgbClr val="43B02A">
            <a:alpha val="8000"/>
          </a:srgb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alpha val="15000"/>
      </a:schemeClr>
    </a:solid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dirty="0">
                <a:solidFill>
                  <a:schemeClr val="tx1"/>
                </a:solidFill>
              </a:rPr>
              <a:t>Monsoon</a:t>
            </a:r>
          </a:p>
        </c:rich>
      </c:tx>
      <c:layout>
        <c:manualLayout>
          <c:xMode val="edge"/>
          <c:yMode val="edge"/>
          <c:x val="0.45129475821090537"/>
          <c:y val="4.8648627942699321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1635168709573478E-2"/>
          <c:y val="5.0291955610999951E-2"/>
          <c:w val="0.94498287960021088"/>
          <c:h val="0.90043148348383595"/>
        </c:manualLayout>
      </c:layout>
      <c:lineChart>
        <c:grouping val="standard"/>
        <c:varyColors val="0"/>
        <c:ser>
          <c:idx val="2"/>
          <c:order val="0"/>
          <c:tx>
            <c:strRef>
              <c:f>Sheet1!$D$1</c:f>
              <c:strCache>
                <c:ptCount val="1"/>
                <c:pt idx="0">
                  <c:v>FY 2020-21</c:v>
                </c:pt>
              </c:strCache>
            </c:strRef>
          </c:tx>
          <c:spPr>
            <a:ln w="28575" cap="rnd">
              <a:solidFill>
                <a:srgbClr val="7030A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4200</c:v>
                </c:pt>
                <c:pt idx="1">
                  <c:v>4250</c:v>
                </c:pt>
                <c:pt idx="2">
                  <c:v>4300</c:v>
                </c:pt>
                <c:pt idx="3">
                  <c:v>4350</c:v>
                </c:pt>
                <c:pt idx="4">
                  <c:v>4225</c:v>
                </c:pt>
                <c:pt idx="5">
                  <c:v>4100</c:v>
                </c:pt>
                <c:pt idx="6">
                  <c:v>4125</c:v>
                </c:pt>
                <c:pt idx="7">
                  <c:v>4150</c:v>
                </c:pt>
                <c:pt idx="8">
                  <c:v>4175</c:v>
                </c:pt>
                <c:pt idx="9">
                  <c:v>4200</c:v>
                </c:pt>
                <c:pt idx="10">
                  <c:v>4225</c:v>
                </c:pt>
                <c:pt idx="11">
                  <c:v>4250</c:v>
                </c:pt>
                <c:pt idx="12">
                  <c:v>4275</c:v>
                </c:pt>
                <c:pt idx="13">
                  <c:v>4300</c:v>
                </c:pt>
                <c:pt idx="14">
                  <c:v>4200</c:v>
                </c:pt>
                <c:pt idx="15">
                  <c:v>4100</c:v>
                </c:pt>
                <c:pt idx="16">
                  <c:v>4600</c:v>
                </c:pt>
                <c:pt idx="17">
                  <c:v>5100</c:v>
                </c:pt>
                <c:pt idx="18">
                  <c:v>5600</c:v>
                </c:pt>
                <c:pt idx="19">
                  <c:v>6000</c:v>
                </c:pt>
                <c:pt idx="20">
                  <c:v>5950</c:v>
                </c:pt>
                <c:pt idx="21">
                  <c:v>5650</c:v>
                </c:pt>
                <c:pt idx="22">
                  <c:v>5350</c:v>
                </c:pt>
                <c:pt idx="23">
                  <c:v>4950</c:v>
                </c:pt>
              </c:numCache>
            </c:numRef>
          </c:val>
          <c:smooth val="0"/>
          <c:extLst>
            <c:ext xmlns:c16="http://schemas.microsoft.com/office/drawing/2014/chart" uri="{C3380CC4-5D6E-409C-BE32-E72D297353CC}">
              <c16:uniqueId val="{00000000-033D-4C6D-A4E3-EBC35AC01C7D}"/>
            </c:ext>
          </c:extLst>
        </c:ser>
        <c:ser>
          <c:idx val="3"/>
          <c:order val="1"/>
          <c:tx>
            <c:strRef>
              <c:f>Sheet1!$E$1</c:f>
              <c:strCache>
                <c:ptCount val="1"/>
                <c:pt idx="0">
                  <c:v>FY 2021-22</c:v>
                </c:pt>
              </c:strCache>
            </c:strRef>
          </c:tx>
          <c:spPr>
            <a:ln w="28575" cap="rnd">
              <a:solidFill>
                <a:srgbClr val="046A38"/>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Sheet1!$E$2:$E$25</c:f>
              <c:numCache>
                <c:formatCode>General</c:formatCode>
                <c:ptCount val="24"/>
                <c:pt idx="0">
                  <c:v>4750</c:v>
                </c:pt>
                <c:pt idx="1">
                  <c:v>4650</c:v>
                </c:pt>
                <c:pt idx="2">
                  <c:v>4550</c:v>
                </c:pt>
                <c:pt idx="3">
                  <c:v>4450</c:v>
                </c:pt>
                <c:pt idx="4">
                  <c:v>4350</c:v>
                </c:pt>
                <c:pt idx="5">
                  <c:v>4450</c:v>
                </c:pt>
                <c:pt idx="6">
                  <c:v>5000</c:v>
                </c:pt>
                <c:pt idx="7">
                  <c:v>5060</c:v>
                </c:pt>
                <c:pt idx="8">
                  <c:v>5120</c:v>
                </c:pt>
                <c:pt idx="9">
                  <c:v>5180</c:v>
                </c:pt>
                <c:pt idx="10">
                  <c:v>5240</c:v>
                </c:pt>
                <c:pt idx="11">
                  <c:v>5300</c:v>
                </c:pt>
                <c:pt idx="12">
                  <c:v>5360</c:v>
                </c:pt>
                <c:pt idx="13">
                  <c:v>4950</c:v>
                </c:pt>
                <c:pt idx="14">
                  <c:v>4875</c:v>
                </c:pt>
                <c:pt idx="15">
                  <c:v>4800</c:v>
                </c:pt>
                <c:pt idx="16">
                  <c:v>4840</c:v>
                </c:pt>
                <c:pt idx="17">
                  <c:v>4880</c:v>
                </c:pt>
                <c:pt idx="18">
                  <c:v>5330</c:v>
                </c:pt>
                <c:pt idx="19">
                  <c:v>5780</c:v>
                </c:pt>
                <c:pt idx="20">
                  <c:v>6250</c:v>
                </c:pt>
                <c:pt idx="21">
                  <c:v>5970</c:v>
                </c:pt>
                <c:pt idx="22">
                  <c:v>5690</c:v>
                </c:pt>
                <c:pt idx="23">
                  <c:v>5400</c:v>
                </c:pt>
              </c:numCache>
            </c:numRef>
          </c:val>
          <c:smooth val="0"/>
          <c:extLst>
            <c:ext xmlns:c16="http://schemas.microsoft.com/office/drawing/2014/chart" uri="{C3380CC4-5D6E-409C-BE32-E72D297353CC}">
              <c16:uniqueId val="{00000001-033D-4C6D-A4E3-EBC35AC01C7D}"/>
            </c:ext>
          </c:extLst>
        </c:ser>
        <c:ser>
          <c:idx val="4"/>
          <c:order val="2"/>
          <c:tx>
            <c:strRef>
              <c:f>Sheet1!$F$1</c:f>
              <c:strCache>
                <c:ptCount val="1"/>
                <c:pt idx="0">
                  <c:v>FY 2022-23</c:v>
                </c:pt>
              </c:strCache>
            </c:strRef>
          </c:tx>
          <c:spPr>
            <a:ln w="28575" cap="rnd">
              <a:solidFill>
                <a:srgbClr val="FFCD0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Sheet1!$F$2:$F$25</c:f>
              <c:numCache>
                <c:formatCode>General</c:formatCode>
                <c:ptCount val="24"/>
                <c:pt idx="0">
                  <c:v>4850</c:v>
                </c:pt>
                <c:pt idx="1">
                  <c:v>4832</c:v>
                </c:pt>
                <c:pt idx="2">
                  <c:v>4814</c:v>
                </c:pt>
                <c:pt idx="3">
                  <c:v>4796</c:v>
                </c:pt>
                <c:pt idx="4">
                  <c:v>4778</c:v>
                </c:pt>
                <c:pt idx="5">
                  <c:v>4760</c:v>
                </c:pt>
                <c:pt idx="6">
                  <c:v>4742</c:v>
                </c:pt>
                <c:pt idx="7">
                  <c:v>4700</c:v>
                </c:pt>
                <c:pt idx="8">
                  <c:v>4775</c:v>
                </c:pt>
                <c:pt idx="9">
                  <c:v>4850</c:v>
                </c:pt>
                <c:pt idx="10">
                  <c:v>4925</c:v>
                </c:pt>
                <c:pt idx="11">
                  <c:v>5000</c:v>
                </c:pt>
                <c:pt idx="12">
                  <c:v>5075</c:v>
                </c:pt>
                <c:pt idx="13">
                  <c:v>5150</c:v>
                </c:pt>
                <c:pt idx="14">
                  <c:v>5050</c:v>
                </c:pt>
                <c:pt idx="15">
                  <c:v>4950</c:v>
                </c:pt>
                <c:pt idx="16">
                  <c:v>5000</c:v>
                </c:pt>
                <c:pt idx="17">
                  <c:v>5050</c:v>
                </c:pt>
                <c:pt idx="18">
                  <c:v>5630</c:v>
                </c:pt>
                <c:pt idx="19">
                  <c:v>6215</c:v>
                </c:pt>
                <c:pt idx="20">
                  <c:v>6800</c:v>
                </c:pt>
                <c:pt idx="21">
                  <c:v>6485</c:v>
                </c:pt>
                <c:pt idx="22">
                  <c:v>6170</c:v>
                </c:pt>
                <c:pt idx="23">
                  <c:v>5850</c:v>
                </c:pt>
              </c:numCache>
            </c:numRef>
          </c:val>
          <c:smooth val="0"/>
          <c:extLst>
            <c:ext xmlns:c16="http://schemas.microsoft.com/office/drawing/2014/chart" uri="{C3380CC4-5D6E-409C-BE32-E72D297353CC}">
              <c16:uniqueId val="{00000002-033D-4C6D-A4E3-EBC35AC01C7D}"/>
            </c:ext>
          </c:extLst>
        </c:ser>
        <c:dLbls>
          <c:showLegendKey val="0"/>
          <c:showVal val="0"/>
          <c:showCatName val="0"/>
          <c:showSerName val="0"/>
          <c:showPercent val="0"/>
          <c:showBubbleSize val="0"/>
        </c:dLbls>
        <c:smooth val="0"/>
        <c:axId val="546461936"/>
        <c:axId val="546461520"/>
      </c:lineChart>
      <c:catAx>
        <c:axId val="546461936"/>
        <c:scaling>
          <c:orientation val="minMax"/>
        </c:scaling>
        <c:delete val="1"/>
        <c:axPos val="b"/>
        <c:numFmt formatCode="General" sourceLinked="1"/>
        <c:majorTickMark val="none"/>
        <c:minorTickMark val="none"/>
        <c:tickLblPos val="nextTo"/>
        <c:crossAx val="546461520"/>
        <c:crosses val="autoZero"/>
        <c:auto val="1"/>
        <c:lblAlgn val="ctr"/>
        <c:lblOffset val="100"/>
        <c:noMultiLvlLbl val="0"/>
      </c:catAx>
      <c:valAx>
        <c:axId val="546461520"/>
        <c:scaling>
          <c:orientation val="minMax"/>
          <c:min val="3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46461936"/>
        <c:crosses val="autoZero"/>
        <c:crossBetween val="between"/>
        <c:majorUnit val="1000"/>
      </c:valAx>
      <c:spPr>
        <a:solidFill>
          <a:srgbClr val="00B0F0">
            <a:alpha val="8000"/>
          </a:srgb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0845673084400441E-2"/>
          <c:y val="4.5814304331243526E-2"/>
          <c:w val="0.93555698841623525"/>
          <c:h val="0.54915132064921757"/>
        </c:manualLayout>
      </c:layout>
      <c:lineChart>
        <c:grouping val="standard"/>
        <c:varyColors val="0"/>
        <c:ser>
          <c:idx val="2"/>
          <c:order val="0"/>
          <c:tx>
            <c:strRef>
              <c:f>Sheet1!$D$1</c:f>
              <c:strCache>
                <c:ptCount val="1"/>
                <c:pt idx="0">
                  <c:v>FY 2020-21</c:v>
                </c:pt>
              </c:strCache>
            </c:strRef>
          </c:tx>
          <c:spPr>
            <a:ln w="28575" cap="rnd">
              <a:solidFill>
                <a:srgbClr val="7030A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4150</c:v>
                </c:pt>
                <c:pt idx="1">
                  <c:v>4130</c:v>
                </c:pt>
                <c:pt idx="2">
                  <c:v>4110</c:v>
                </c:pt>
                <c:pt idx="3">
                  <c:v>4090</c:v>
                </c:pt>
                <c:pt idx="4">
                  <c:v>4070</c:v>
                </c:pt>
                <c:pt idx="5">
                  <c:v>4050</c:v>
                </c:pt>
                <c:pt idx="6">
                  <c:v>4030</c:v>
                </c:pt>
                <c:pt idx="7">
                  <c:v>4000</c:v>
                </c:pt>
                <c:pt idx="8">
                  <c:v>4060</c:v>
                </c:pt>
                <c:pt idx="9">
                  <c:v>4120</c:v>
                </c:pt>
                <c:pt idx="10">
                  <c:v>4180</c:v>
                </c:pt>
                <c:pt idx="11">
                  <c:v>4240</c:v>
                </c:pt>
                <c:pt idx="12">
                  <c:v>4300</c:v>
                </c:pt>
                <c:pt idx="13">
                  <c:v>4400</c:v>
                </c:pt>
                <c:pt idx="14">
                  <c:v>4335</c:v>
                </c:pt>
                <c:pt idx="15">
                  <c:v>4270</c:v>
                </c:pt>
                <c:pt idx="16">
                  <c:v>4200</c:v>
                </c:pt>
                <c:pt idx="17">
                  <c:v>4360</c:v>
                </c:pt>
                <c:pt idx="18">
                  <c:v>4520</c:v>
                </c:pt>
                <c:pt idx="19">
                  <c:v>4680</c:v>
                </c:pt>
                <c:pt idx="20">
                  <c:v>4750</c:v>
                </c:pt>
                <c:pt idx="21">
                  <c:v>4550</c:v>
                </c:pt>
                <c:pt idx="22">
                  <c:v>4350</c:v>
                </c:pt>
                <c:pt idx="23">
                  <c:v>4150</c:v>
                </c:pt>
              </c:numCache>
            </c:numRef>
          </c:val>
          <c:smooth val="0"/>
          <c:extLst>
            <c:ext xmlns:c16="http://schemas.microsoft.com/office/drawing/2014/chart" uri="{C3380CC4-5D6E-409C-BE32-E72D297353CC}">
              <c16:uniqueId val="{00000000-39A7-4F72-BE99-E3DB058CC71F}"/>
            </c:ext>
          </c:extLst>
        </c:ser>
        <c:ser>
          <c:idx val="3"/>
          <c:order val="1"/>
          <c:tx>
            <c:strRef>
              <c:f>Sheet1!$E$1</c:f>
              <c:strCache>
                <c:ptCount val="1"/>
                <c:pt idx="0">
                  <c:v>FY 2021-22</c:v>
                </c:pt>
              </c:strCache>
            </c:strRef>
          </c:tx>
          <c:spPr>
            <a:ln w="28575" cap="rnd">
              <a:solidFill>
                <a:srgbClr val="046A38"/>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Sheet1!$E$2:$E$25</c:f>
              <c:numCache>
                <c:formatCode>General</c:formatCode>
                <c:ptCount val="24"/>
                <c:pt idx="0">
                  <c:v>4750</c:v>
                </c:pt>
                <c:pt idx="1">
                  <c:v>4670</c:v>
                </c:pt>
                <c:pt idx="2">
                  <c:v>4590</c:v>
                </c:pt>
                <c:pt idx="3">
                  <c:v>4510</c:v>
                </c:pt>
                <c:pt idx="4">
                  <c:v>4430</c:v>
                </c:pt>
                <c:pt idx="5">
                  <c:v>4350</c:v>
                </c:pt>
                <c:pt idx="6">
                  <c:v>4270</c:v>
                </c:pt>
                <c:pt idx="7">
                  <c:v>4250</c:v>
                </c:pt>
                <c:pt idx="8">
                  <c:v>4355</c:v>
                </c:pt>
                <c:pt idx="9">
                  <c:v>4460</c:v>
                </c:pt>
                <c:pt idx="10">
                  <c:v>4565</c:v>
                </c:pt>
                <c:pt idx="11">
                  <c:v>4670</c:v>
                </c:pt>
                <c:pt idx="12">
                  <c:v>4775</c:v>
                </c:pt>
                <c:pt idx="13">
                  <c:v>4900</c:v>
                </c:pt>
                <c:pt idx="14">
                  <c:v>4825</c:v>
                </c:pt>
                <c:pt idx="15">
                  <c:v>4750</c:v>
                </c:pt>
                <c:pt idx="16">
                  <c:v>4800</c:v>
                </c:pt>
                <c:pt idx="17">
                  <c:v>4850</c:v>
                </c:pt>
                <c:pt idx="18">
                  <c:v>4900</c:v>
                </c:pt>
                <c:pt idx="19">
                  <c:v>4950</c:v>
                </c:pt>
                <c:pt idx="20">
                  <c:v>5000</c:v>
                </c:pt>
                <c:pt idx="21">
                  <c:v>4770</c:v>
                </c:pt>
                <c:pt idx="22">
                  <c:v>4540</c:v>
                </c:pt>
                <c:pt idx="23">
                  <c:v>4300</c:v>
                </c:pt>
              </c:numCache>
            </c:numRef>
          </c:val>
          <c:smooth val="0"/>
          <c:extLst>
            <c:ext xmlns:c16="http://schemas.microsoft.com/office/drawing/2014/chart" uri="{C3380CC4-5D6E-409C-BE32-E72D297353CC}">
              <c16:uniqueId val="{00000001-39A7-4F72-BE99-E3DB058CC71F}"/>
            </c:ext>
          </c:extLst>
        </c:ser>
        <c:ser>
          <c:idx val="4"/>
          <c:order val="2"/>
          <c:tx>
            <c:strRef>
              <c:f>Sheet1!$F$1</c:f>
              <c:strCache>
                <c:ptCount val="1"/>
                <c:pt idx="0">
                  <c:v>FY 2022-23</c:v>
                </c:pt>
              </c:strCache>
            </c:strRef>
          </c:tx>
          <c:spPr>
            <a:ln w="28575" cap="rnd">
              <a:solidFill>
                <a:srgbClr val="FFCD0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Sheet1!$F$2:$F$25</c:f>
              <c:numCache>
                <c:formatCode>General</c:formatCode>
                <c:ptCount val="24"/>
                <c:pt idx="0">
                  <c:v>4800</c:v>
                </c:pt>
                <c:pt idx="1">
                  <c:v>4750</c:v>
                </c:pt>
                <c:pt idx="2">
                  <c:v>4700</c:v>
                </c:pt>
                <c:pt idx="3">
                  <c:v>4650</c:v>
                </c:pt>
                <c:pt idx="4">
                  <c:v>4600</c:v>
                </c:pt>
                <c:pt idx="5">
                  <c:v>4550</c:v>
                </c:pt>
                <c:pt idx="6">
                  <c:v>4500</c:v>
                </c:pt>
                <c:pt idx="7">
                  <c:v>4400</c:v>
                </c:pt>
                <c:pt idx="8">
                  <c:v>4555</c:v>
                </c:pt>
                <c:pt idx="9">
                  <c:v>4710</c:v>
                </c:pt>
                <c:pt idx="10">
                  <c:v>4865</c:v>
                </c:pt>
                <c:pt idx="11">
                  <c:v>5020</c:v>
                </c:pt>
                <c:pt idx="12">
                  <c:v>5175</c:v>
                </c:pt>
                <c:pt idx="13">
                  <c:v>5350</c:v>
                </c:pt>
                <c:pt idx="14">
                  <c:v>5225</c:v>
                </c:pt>
                <c:pt idx="15">
                  <c:v>5100</c:v>
                </c:pt>
                <c:pt idx="16">
                  <c:v>5000</c:v>
                </c:pt>
                <c:pt idx="17">
                  <c:v>4900</c:v>
                </c:pt>
                <c:pt idx="18">
                  <c:v>5015</c:v>
                </c:pt>
                <c:pt idx="19">
                  <c:v>5130</c:v>
                </c:pt>
                <c:pt idx="20">
                  <c:v>5250</c:v>
                </c:pt>
                <c:pt idx="21">
                  <c:v>5050</c:v>
                </c:pt>
                <c:pt idx="22">
                  <c:v>4850</c:v>
                </c:pt>
                <c:pt idx="23">
                  <c:v>4650</c:v>
                </c:pt>
              </c:numCache>
            </c:numRef>
          </c:val>
          <c:smooth val="0"/>
          <c:extLst>
            <c:ext xmlns:c16="http://schemas.microsoft.com/office/drawing/2014/chart" uri="{C3380CC4-5D6E-409C-BE32-E72D297353CC}">
              <c16:uniqueId val="{00000002-39A7-4F72-BE99-E3DB058CC71F}"/>
            </c:ext>
          </c:extLst>
        </c:ser>
        <c:dLbls>
          <c:showLegendKey val="0"/>
          <c:showVal val="0"/>
          <c:showCatName val="0"/>
          <c:showSerName val="0"/>
          <c:showPercent val="0"/>
          <c:showBubbleSize val="0"/>
        </c:dLbls>
        <c:smooth val="0"/>
        <c:axId val="2078184032"/>
        <c:axId val="2078181952"/>
      </c:lineChart>
      <c:catAx>
        <c:axId val="2078184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078181952"/>
        <c:crosses val="autoZero"/>
        <c:auto val="1"/>
        <c:lblAlgn val="ctr"/>
        <c:lblOffset val="100"/>
        <c:noMultiLvlLbl val="0"/>
      </c:catAx>
      <c:valAx>
        <c:axId val="2078181952"/>
        <c:scaling>
          <c:orientation val="minMax"/>
          <c:max val="7000"/>
          <c:min val="3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078184032"/>
        <c:crosses val="autoZero"/>
        <c:crossBetween val="between"/>
        <c:majorUnit val="1000"/>
      </c:valAx>
      <c:spPr>
        <a:solidFill>
          <a:srgbClr val="012169">
            <a:alpha val="8000"/>
          </a:srgbClr>
        </a:solid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154060182128185"/>
          <c:y val="0.11685536827703426"/>
          <c:w val="0.88231542369033622"/>
          <c:h val="0.5825954841893774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5850</c:v>
                </c:pt>
                <c:pt idx="1">
                  <c:v>5800</c:v>
                </c:pt>
                <c:pt idx="2">
                  <c:v>5750</c:v>
                </c:pt>
                <c:pt idx="3">
                  <c:v>5700</c:v>
                </c:pt>
                <c:pt idx="4">
                  <c:v>5650</c:v>
                </c:pt>
                <c:pt idx="5">
                  <c:v>5600</c:v>
                </c:pt>
                <c:pt idx="6">
                  <c:v>5550</c:v>
                </c:pt>
                <c:pt idx="7">
                  <c:v>5450</c:v>
                </c:pt>
                <c:pt idx="8">
                  <c:v>5580</c:v>
                </c:pt>
                <c:pt idx="9">
                  <c:v>5710</c:v>
                </c:pt>
                <c:pt idx="10">
                  <c:v>5840</c:v>
                </c:pt>
                <c:pt idx="11">
                  <c:v>5970</c:v>
                </c:pt>
                <c:pt idx="12">
                  <c:v>6100</c:v>
                </c:pt>
                <c:pt idx="13">
                  <c:v>6250</c:v>
                </c:pt>
                <c:pt idx="14" formatCode="0">
                  <c:v>6100</c:v>
                </c:pt>
                <c:pt idx="15">
                  <c:v>5950</c:v>
                </c:pt>
                <c:pt idx="16">
                  <c:v>5980</c:v>
                </c:pt>
                <c:pt idx="17">
                  <c:v>6010</c:v>
                </c:pt>
                <c:pt idx="18">
                  <c:v>6050</c:v>
                </c:pt>
                <c:pt idx="19">
                  <c:v>6425</c:v>
                </c:pt>
                <c:pt idx="20">
                  <c:v>6800</c:v>
                </c:pt>
                <c:pt idx="21">
                  <c:v>6534</c:v>
                </c:pt>
                <c:pt idx="22">
                  <c:v>6268</c:v>
                </c:pt>
                <c:pt idx="23">
                  <c:v>6000</c:v>
                </c:pt>
              </c:numCache>
            </c:numRef>
          </c:val>
          <c:smooth val="0"/>
          <c:extLst>
            <c:ext xmlns:c16="http://schemas.microsoft.com/office/drawing/2014/chart" uri="{C3380CC4-5D6E-409C-BE32-E72D297353CC}">
              <c16:uniqueId val="{00000000-CB76-41E5-9CF3-B82C19DB2F5D}"/>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4350</c:v>
                </c:pt>
                <c:pt idx="1">
                  <c:v>4325</c:v>
                </c:pt>
                <c:pt idx="2">
                  <c:v>4300</c:v>
                </c:pt>
                <c:pt idx="3">
                  <c:v>4275</c:v>
                </c:pt>
                <c:pt idx="4">
                  <c:v>4250</c:v>
                </c:pt>
                <c:pt idx="5">
                  <c:v>4225</c:v>
                </c:pt>
                <c:pt idx="6">
                  <c:v>4200</c:v>
                </c:pt>
                <c:pt idx="7">
                  <c:v>4150</c:v>
                </c:pt>
                <c:pt idx="8">
                  <c:v>4280</c:v>
                </c:pt>
                <c:pt idx="9">
                  <c:v>4410</c:v>
                </c:pt>
                <c:pt idx="10">
                  <c:v>4540</c:v>
                </c:pt>
                <c:pt idx="11">
                  <c:v>4670</c:v>
                </c:pt>
                <c:pt idx="12">
                  <c:v>4800</c:v>
                </c:pt>
                <c:pt idx="13">
                  <c:v>4950</c:v>
                </c:pt>
                <c:pt idx="14" formatCode="0">
                  <c:v>4850</c:v>
                </c:pt>
                <c:pt idx="15">
                  <c:v>4750</c:v>
                </c:pt>
                <c:pt idx="16">
                  <c:v>4800</c:v>
                </c:pt>
                <c:pt idx="17">
                  <c:v>4850</c:v>
                </c:pt>
                <c:pt idx="18">
                  <c:v>5500</c:v>
                </c:pt>
                <c:pt idx="19">
                  <c:v>6150</c:v>
                </c:pt>
                <c:pt idx="20">
                  <c:v>6800</c:v>
                </c:pt>
                <c:pt idx="21">
                  <c:v>6450</c:v>
                </c:pt>
                <c:pt idx="22">
                  <c:v>6100</c:v>
                </c:pt>
                <c:pt idx="23">
                  <c:v>5750</c:v>
                </c:pt>
              </c:numCache>
            </c:numRef>
          </c:val>
          <c:smooth val="0"/>
          <c:extLst>
            <c:ext xmlns:c16="http://schemas.microsoft.com/office/drawing/2014/chart" uri="{C3380CC4-5D6E-409C-BE32-E72D297353CC}">
              <c16:uniqueId val="{00000001-CB76-41E5-9CF3-B82C19DB2F5D}"/>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rgbClr val="00ABAB">
        <a:alpha val="13000"/>
      </a:srgbClr>
    </a:solid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0.11290752560748374"/>
          <c:w val="0.8311150615513353"/>
          <c:h val="0.59026820573520467"/>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6000</c:v>
                </c:pt>
                <c:pt idx="1">
                  <c:v>5975</c:v>
                </c:pt>
                <c:pt idx="2">
                  <c:v>5950</c:v>
                </c:pt>
                <c:pt idx="3">
                  <c:v>5925</c:v>
                </c:pt>
                <c:pt idx="4">
                  <c:v>5900</c:v>
                </c:pt>
                <c:pt idx="5">
                  <c:v>5875</c:v>
                </c:pt>
                <c:pt idx="6">
                  <c:v>5850</c:v>
                </c:pt>
                <c:pt idx="7">
                  <c:v>5800</c:v>
                </c:pt>
                <c:pt idx="8">
                  <c:v>5950</c:v>
                </c:pt>
                <c:pt idx="9">
                  <c:v>6100</c:v>
                </c:pt>
                <c:pt idx="10">
                  <c:v>6250</c:v>
                </c:pt>
                <c:pt idx="11">
                  <c:v>6400</c:v>
                </c:pt>
                <c:pt idx="12">
                  <c:v>6550</c:v>
                </c:pt>
                <c:pt idx="13">
                  <c:v>6700</c:v>
                </c:pt>
                <c:pt idx="14" formatCode="0">
                  <c:v>6475</c:v>
                </c:pt>
                <c:pt idx="15">
                  <c:v>6250</c:v>
                </c:pt>
                <c:pt idx="16">
                  <c:v>6430</c:v>
                </c:pt>
                <c:pt idx="17">
                  <c:v>6610</c:v>
                </c:pt>
                <c:pt idx="18">
                  <c:v>6910</c:v>
                </c:pt>
                <c:pt idx="19">
                  <c:v>7210</c:v>
                </c:pt>
                <c:pt idx="20">
                  <c:v>7450</c:v>
                </c:pt>
                <c:pt idx="21">
                  <c:v>7120</c:v>
                </c:pt>
                <c:pt idx="22">
                  <c:v>6790</c:v>
                </c:pt>
                <c:pt idx="23">
                  <c:v>6450</c:v>
                </c:pt>
              </c:numCache>
            </c:numRef>
          </c:val>
          <c:smooth val="0"/>
          <c:extLst>
            <c:ext xmlns:c16="http://schemas.microsoft.com/office/drawing/2014/chart" uri="{C3380CC4-5D6E-409C-BE32-E72D297353CC}">
              <c16:uniqueId val="{00000000-5B95-46A7-993B-8DBFA124C312}"/>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4850</c:v>
                </c:pt>
                <c:pt idx="1">
                  <c:v>4832</c:v>
                </c:pt>
                <c:pt idx="2">
                  <c:v>4814</c:v>
                </c:pt>
                <c:pt idx="3">
                  <c:v>4796</c:v>
                </c:pt>
                <c:pt idx="4">
                  <c:v>4778</c:v>
                </c:pt>
                <c:pt idx="5">
                  <c:v>4760</c:v>
                </c:pt>
                <c:pt idx="6">
                  <c:v>4742</c:v>
                </c:pt>
                <c:pt idx="7">
                  <c:v>4700</c:v>
                </c:pt>
                <c:pt idx="8">
                  <c:v>4775</c:v>
                </c:pt>
                <c:pt idx="9">
                  <c:v>4850</c:v>
                </c:pt>
                <c:pt idx="10">
                  <c:v>4925</c:v>
                </c:pt>
                <c:pt idx="11">
                  <c:v>5000</c:v>
                </c:pt>
                <c:pt idx="12">
                  <c:v>5075</c:v>
                </c:pt>
                <c:pt idx="13">
                  <c:v>5150</c:v>
                </c:pt>
                <c:pt idx="14">
                  <c:v>5050</c:v>
                </c:pt>
                <c:pt idx="15">
                  <c:v>4950</c:v>
                </c:pt>
                <c:pt idx="16" formatCode="General">
                  <c:v>5000</c:v>
                </c:pt>
                <c:pt idx="17">
                  <c:v>5050</c:v>
                </c:pt>
                <c:pt idx="18">
                  <c:v>5630</c:v>
                </c:pt>
                <c:pt idx="19" formatCode="General">
                  <c:v>6215</c:v>
                </c:pt>
                <c:pt idx="20">
                  <c:v>6800</c:v>
                </c:pt>
                <c:pt idx="21">
                  <c:v>6485</c:v>
                </c:pt>
                <c:pt idx="22">
                  <c:v>6170</c:v>
                </c:pt>
                <c:pt idx="23">
                  <c:v>5850</c:v>
                </c:pt>
              </c:numCache>
            </c:numRef>
          </c:val>
          <c:smooth val="0"/>
          <c:extLst>
            <c:ext xmlns:c16="http://schemas.microsoft.com/office/drawing/2014/chart" uri="{C3380CC4-5D6E-409C-BE32-E72D297353CC}">
              <c16:uniqueId val="{00000001-5B95-46A7-993B-8DBFA124C312}"/>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rgbClr val="2C5234">
        <a:alpha val="10000"/>
      </a:srgbClr>
    </a:solid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1457527196794282"/>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5000</c:v>
                </c:pt>
                <c:pt idx="1">
                  <c:v>4950</c:v>
                </c:pt>
                <c:pt idx="2">
                  <c:v>4900</c:v>
                </c:pt>
                <c:pt idx="3">
                  <c:v>4850</c:v>
                </c:pt>
                <c:pt idx="4">
                  <c:v>4800</c:v>
                </c:pt>
                <c:pt idx="5">
                  <c:v>4750</c:v>
                </c:pt>
                <c:pt idx="6">
                  <c:v>4700</c:v>
                </c:pt>
                <c:pt idx="7">
                  <c:v>4600</c:v>
                </c:pt>
                <c:pt idx="8">
                  <c:v>4766</c:v>
                </c:pt>
                <c:pt idx="9">
                  <c:v>4932</c:v>
                </c:pt>
                <c:pt idx="10">
                  <c:v>5098</c:v>
                </c:pt>
                <c:pt idx="11">
                  <c:v>5264</c:v>
                </c:pt>
                <c:pt idx="12">
                  <c:v>5430</c:v>
                </c:pt>
                <c:pt idx="13">
                  <c:v>5600</c:v>
                </c:pt>
                <c:pt idx="14" formatCode="0">
                  <c:v>5538</c:v>
                </c:pt>
                <c:pt idx="15" formatCode="0">
                  <c:v>5476</c:v>
                </c:pt>
                <c:pt idx="16" formatCode="0">
                  <c:v>5414</c:v>
                </c:pt>
                <c:pt idx="17">
                  <c:v>5350</c:v>
                </c:pt>
                <c:pt idx="18">
                  <c:v>5565</c:v>
                </c:pt>
                <c:pt idx="19">
                  <c:v>5780</c:v>
                </c:pt>
                <c:pt idx="20">
                  <c:v>6000</c:v>
                </c:pt>
                <c:pt idx="21">
                  <c:v>5884</c:v>
                </c:pt>
                <c:pt idx="22">
                  <c:v>5768</c:v>
                </c:pt>
                <c:pt idx="23">
                  <c:v>5650</c:v>
                </c:pt>
              </c:numCache>
            </c:numRef>
          </c:val>
          <c:smooth val="0"/>
          <c:extLst>
            <c:ext xmlns:c16="http://schemas.microsoft.com/office/drawing/2014/chart" uri="{C3380CC4-5D6E-409C-BE32-E72D297353CC}">
              <c16:uniqueId val="{00000000-E354-40D8-933A-2A28C934B4E1}"/>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4800</c:v>
                </c:pt>
                <c:pt idx="1">
                  <c:v>4750</c:v>
                </c:pt>
                <c:pt idx="2">
                  <c:v>4700</c:v>
                </c:pt>
                <c:pt idx="3">
                  <c:v>4650</c:v>
                </c:pt>
                <c:pt idx="4">
                  <c:v>4600</c:v>
                </c:pt>
                <c:pt idx="5">
                  <c:v>4550</c:v>
                </c:pt>
                <c:pt idx="6">
                  <c:v>4500</c:v>
                </c:pt>
                <c:pt idx="7">
                  <c:v>4400</c:v>
                </c:pt>
                <c:pt idx="8">
                  <c:v>4555</c:v>
                </c:pt>
                <c:pt idx="9">
                  <c:v>4710</c:v>
                </c:pt>
                <c:pt idx="10">
                  <c:v>4865</c:v>
                </c:pt>
                <c:pt idx="11">
                  <c:v>5020</c:v>
                </c:pt>
                <c:pt idx="12">
                  <c:v>5175</c:v>
                </c:pt>
                <c:pt idx="13">
                  <c:v>5350</c:v>
                </c:pt>
                <c:pt idx="14" formatCode="0">
                  <c:v>5225</c:v>
                </c:pt>
                <c:pt idx="15">
                  <c:v>5100</c:v>
                </c:pt>
                <c:pt idx="16">
                  <c:v>5000</c:v>
                </c:pt>
                <c:pt idx="17">
                  <c:v>4900</c:v>
                </c:pt>
                <c:pt idx="18">
                  <c:v>5015</c:v>
                </c:pt>
                <c:pt idx="19">
                  <c:v>5130</c:v>
                </c:pt>
                <c:pt idx="20">
                  <c:v>5250</c:v>
                </c:pt>
                <c:pt idx="21">
                  <c:v>5050</c:v>
                </c:pt>
                <c:pt idx="22">
                  <c:v>4850</c:v>
                </c:pt>
                <c:pt idx="23">
                  <c:v>4650</c:v>
                </c:pt>
              </c:numCache>
            </c:numRef>
          </c:val>
          <c:smooth val="0"/>
          <c:extLst>
            <c:ext xmlns:c16="http://schemas.microsoft.com/office/drawing/2014/chart" uri="{C3380CC4-5D6E-409C-BE32-E72D297353CC}">
              <c16:uniqueId val="{00000001-E354-40D8-933A-2A28C934B4E1}"/>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rgbClr val="0070C0">
        <a:alpha val="10000"/>
      </a:srgbClr>
    </a:solid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35073881243923E-2"/>
          <c:y val="0.26454810441248544"/>
          <c:w val="0.9750283746126337"/>
          <c:h val="0.59893451753819293"/>
        </c:manualLayout>
      </c:layout>
      <c:lineChart>
        <c:grouping val="standard"/>
        <c:varyColors val="0"/>
        <c:ser>
          <c:idx val="0"/>
          <c:order val="0"/>
          <c:tx>
            <c:strRef>
              <c:f>Sheet1!$B$1</c:f>
              <c:strCache>
                <c:ptCount val="1"/>
                <c:pt idx="0">
                  <c:v>Total Power Purchase Cost</c:v>
                </c:pt>
              </c:strCache>
            </c:strRef>
          </c:tx>
          <c:spPr>
            <a:ln w="28575" cap="rnd">
              <a:solidFill>
                <a:schemeClr val="accent5"/>
              </a:solidFill>
              <a:round/>
            </a:ln>
            <a:effectLst/>
          </c:spPr>
          <c:marker>
            <c:symbol val="circle"/>
            <c:size val="5"/>
            <c:spPr>
              <a:solidFill>
                <a:schemeClr val="accent1"/>
              </a:solidFill>
              <a:ln w="9525">
                <a:solidFill>
                  <a:schemeClr val="accent5"/>
                </a:solidFill>
              </a:ln>
              <a:effectLst/>
            </c:spPr>
          </c:marker>
          <c:dLbls>
            <c:dLbl>
              <c:idx val="0"/>
              <c:layout>
                <c:manualLayout>
                  <c:x val="-5.0065338248888466E-2"/>
                  <c:y val="-4.80660727811932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687-45A7-B8DC-423F588843F7}"/>
                </c:ext>
              </c:extLst>
            </c:dLbl>
            <c:dLbl>
              <c:idx val="1"/>
              <c:layout>
                <c:manualLayout>
                  <c:x val="-2.3958638980278224E-2"/>
                  <c:y val="-4.14861505589825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687-45A7-B8DC-423F588843F7}"/>
                </c:ext>
              </c:extLst>
            </c:dLbl>
            <c:dLbl>
              <c:idx val="2"/>
              <c:layout>
                <c:manualLayout>
                  <c:x val="-4.098474719893707E-2"/>
                  <c:y val="-4.80660727811932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687-45A7-B8DC-423F588843F7}"/>
                </c:ext>
              </c:extLst>
            </c:dLbl>
            <c:dLbl>
              <c:idx val="3"/>
              <c:layout>
                <c:manualLayout>
                  <c:x val="-6.3686224823815529E-2"/>
                  <c:y val="3.08929938853352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687-45A7-B8DC-423F588843F7}"/>
                </c:ext>
              </c:extLst>
            </c:dLbl>
            <c:dLbl>
              <c:idx val="4"/>
              <c:layout>
                <c:manualLayout>
                  <c:x val="-5.2335486011376386E-2"/>
                  <c:y val="6.5376449266727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687-45A7-B8DC-423F588843F7}"/>
                </c:ext>
              </c:extLst>
            </c:dLbl>
            <c:dLbl>
              <c:idx val="5"/>
              <c:layout>
                <c:manualLayout>
                  <c:x val="-3.1904156148985688E-2"/>
                  <c:y val="-0.1102712067784597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687-45A7-B8DC-423F588843F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5587"/>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 2015-16</c:v>
                </c:pt>
                <c:pt idx="1">
                  <c:v>FY 2016-17</c:v>
                </c:pt>
                <c:pt idx="2">
                  <c:v>FY 2017-18</c:v>
                </c:pt>
                <c:pt idx="3">
                  <c:v>FY 2018-19</c:v>
                </c:pt>
                <c:pt idx="4">
                  <c:v>FY 2019-20</c:v>
                </c:pt>
                <c:pt idx="5">
                  <c:v>FY 2020-21</c:v>
                </c:pt>
              </c:strCache>
            </c:strRef>
          </c:cat>
          <c:val>
            <c:numRef>
              <c:f>Sheet1!$B$2:$B$7</c:f>
              <c:numCache>
                <c:formatCode>0.00</c:formatCode>
                <c:ptCount val="6"/>
                <c:pt idx="0">
                  <c:v>3.4</c:v>
                </c:pt>
                <c:pt idx="1">
                  <c:v>3.5</c:v>
                </c:pt>
                <c:pt idx="2">
                  <c:v>3.7</c:v>
                </c:pt>
                <c:pt idx="3">
                  <c:v>4.0575285650714168</c:v>
                </c:pt>
                <c:pt idx="4">
                  <c:v>4.2297359910680488</c:v>
                </c:pt>
                <c:pt idx="5">
                  <c:v>4.3980551300234598</c:v>
                </c:pt>
              </c:numCache>
            </c:numRef>
          </c:val>
          <c:smooth val="0"/>
          <c:extLst>
            <c:ext xmlns:c16="http://schemas.microsoft.com/office/drawing/2014/chart" uri="{C3380CC4-5D6E-409C-BE32-E72D297353CC}">
              <c16:uniqueId val="{00000006-C687-45A7-B8DC-423F588843F7}"/>
            </c:ext>
          </c:extLst>
        </c:ser>
        <c:ser>
          <c:idx val="1"/>
          <c:order val="1"/>
          <c:tx>
            <c:strRef>
              <c:f>Sheet1!$C$1</c:f>
              <c:strCache>
                <c:ptCount val="1"/>
                <c:pt idx="0">
                  <c:v>Sale to Person other than licensees and consumers</c:v>
                </c:pt>
              </c:strCache>
            </c:strRef>
          </c:tx>
          <c:spPr>
            <a:ln w="28575" cap="rnd">
              <a:solidFill>
                <a:schemeClr val="accent1">
                  <a:lumMod val="60000"/>
                  <a:lumOff val="40000"/>
                </a:schemeClr>
              </a:solidFill>
              <a:round/>
            </a:ln>
            <a:effectLst/>
          </c:spPr>
          <c:marker>
            <c:symbol val="circle"/>
            <c:size val="5"/>
            <c:spPr>
              <a:solidFill>
                <a:schemeClr val="accent2"/>
              </a:solidFill>
              <a:ln w="9525">
                <a:solidFill>
                  <a:schemeClr val="accent1">
                    <a:lumMod val="60000"/>
                    <a:lumOff val="40000"/>
                  </a:schemeClr>
                </a:solidFill>
              </a:ln>
              <a:effectLst/>
            </c:spPr>
          </c:marker>
          <c:dLbls>
            <c:dLbl>
              <c:idx val="0"/>
              <c:layout>
                <c:manualLayout>
                  <c:x val="-1.0320681609184409E-2"/>
                  <c:y val="-9.392813067000187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ED5-45D0-A8E0-868D9DFA5B86}"/>
                </c:ext>
              </c:extLst>
            </c:dLbl>
            <c:dLbl>
              <c:idx val="3"/>
              <c:layout>
                <c:manualLayout>
                  <c:x val="-2.2255983470464261E-2"/>
                  <c:y val="-6.5999987565501378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accent4">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8836597534708903E-2"/>
                      <c:h val="8.2972819222077027E-2"/>
                    </c:manualLayout>
                  </c15:layout>
                </c:ext>
                <c:ext xmlns:c16="http://schemas.microsoft.com/office/drawing/2014/chart" uri="{C3380CC4-5D6E-409C-BE32-E72D297353CC}">
                  <c16:uniqueId val="{00000007-C687-45A7-B8DC-423F588843F7}"/>
                </c:ext>
              </c:extLst>
            </c:dLbl>
            <c:dLbl>
              <c:idx val="4"/>
              <c:layout>
                <c:manualLayout>
                  <c:x val="-2.5093712861522233E-2"/>
                  <c:y val="-6.96290478179009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687-45A7-B8DC-423F588843F7}"/>
                </c:ext>
              </c:extLst>
            </c:dLbl>
            <c:dLbl>
              <c:idx val="5"/>
              <c:layout>
                <c:manualLayout>
                  <c:x val="-3.1904156148985688E-2"/>
                  <c:y val="8.689227682924416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687-45A7-B8DC-423F588843F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4">
                        <a:lumMod val="7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 2015-16</c:v>
                </c:pt>
                <c:pt idx="1">
                  <c:v>FY 2016-17</c:v>
                </c:pt>
                <c:pt idx="2">
                  <c:v>FY 2017-18</c:v>
                </c:pt>
                <c:pt idx="3">
                  <c:v>FY 2018-19</c:v>
                </c:pt>
                <c:pt idx="4">
                  <c:v>FY 2019-20</c:v>
                </c:pt>
                <c:pt idx="5">
                  <c:v>FY 2020-21</c:v>
                </c:pt>
              </c:strCache>
            </c:strRef>
          </c:cat>
          <c:val>
            <c:numRef>
              <c:f>Sheet1!$C$2:$C$7</c:f>
              <c:numCache>
                <c:formatCode>0.00</c:formatCode>
                <c:ptCount val="6"/>
                <c:pt idx="0">
                  <c:v>5.0885703412406444</c:v>
                </c:pt>
                <c:pt idx="1">
                  <c:v>5.1893549103986096</c:v>
                </c:pt>
                <c:pt idx="2">
                  <c:v>4.9181151852900138</c:v>
                </c:pt>
                <c:pt idx="3">
                  <c:v>5.2139386103742673</c:v>
                </c:pt>
                <c:pt idx="4">
                  <c:v>4.4804196959682745</c:v>
                </c:pt>
                <c:pt idx="5">
                  <c:v>3.5497691317841196</c:v>
                </c:pt>
              </c:numCache>
            </c:numRef>
          </c:val>
          <c:smooth val="0"/>
          <c:extLst>
            <c:ext xmlns:c16="http://schemas.microsoft.com/office/drawing/2014/chart" uri="{C3380CC4-5D6E-409C-BE32-E72D297353CC}">
              <c16:uniqueId val="{0000000A-C687-45A7-B8DC-423F588843F7}"/>
            </c:ext>
          </c:extLst>
        </c:ser>
        <c:ser>
          <c:idx val="2"/>
          <c:order val="2"/>
          <c:tx>
            <c:strRef>
              <c:f>Sheet1!$D$1</c:f>
              <c:strCache>
                <c:ptCount val="1"/>
                <c:pt idx="0">
                  <c:v>Margin realised on Sale to person other than licensee</c:v>
                </c:pt>
              </c:strCache>
            </c:strRef>
          </c:tx>
          <c:spPr>
            <a:ln w="28575" cap="rnd">
              <a:solidFill>
                <a:srgbClr val="012169"/>
              </a:solidFill>
              <a:round/>
            </a:ln>
            <a:effectLst/>
          </c:spPr>
          <c:marker>
            <c:symbol val="triangle"/>
            <c:size val="12"/>
            <c:spPr>
              <a:solidFill>
                <a:srgbClr val="012169"/>
              </a:solidFill>
              <a:ln w="9525">
                <a:solidFill>
                  <a:srgbClr val="012169"/>
                </a:solidFill>
              </a:ln>
              <a:effectLst/>
            </c:spPr>
          </c:marker>
          <c:dLbls>
            <c:dLbl>
              <c:idx val="0"/>
              <c:layout>
                <c:manualLayout>
                  <c:x val="-2.5760546422778922E-2"/>
                  <c:y val="8.425616310746411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687-45A7-B8DC-423F588843F7}"/>
                </c:ext>
              </c:extLst>
            </c:dLbl>
            <c:dLbl>
              <c:idx val="1"/>
              <c:layout>
                <c:manualLayout>
                  <c:x val="-2.5760546422778911E-2"/>
                  <c:y val="9.08360853296747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687-45A7-B8DC-423F588843F7}"/>
                </c:ext>
              </c:extLst>
            </c:dLbl>
            <c:dLbl>
              <c:idx val="2"/>
              <c:layout>
                <c:manualLayout>
                  <c:x val="-7.8892103541269019E-4"/>
                  <c:y val="-4.734228133675005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687-45A7-B8DC-423F588843F7}"/>
                </c:ext>
              </c:extLst>
            </c:dLbl>
            <c:dLbl>
              <c:idx val="3"/>
              <c:layout>
                <c:manualLayout>
                  <c:x val="-2.9597721772655666E-3"/>
                  <c:y val="-7.153204422122216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687-45A7-B8DC-423F588843F7}"/>
                </c:ext>
              </c:extLst>
            </c:dLbl>
            <c:dLbl>
              <c:idx val="4"/>
              <c:layout>
                <c:manualLayout>
                  <c:x val="2.4282000972588501E-2"/>
                  <c:y val="-8.16236761144679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687-45A7-B8DC-423F588843F7}"/>
                </c:ext>
              </c:extLst>
            </c:dLbl>
            <c:dLbl>
              <c:idx val="5"/>
              <c:layout>
                <c:manualLayout>
                  <c:x val="7.4460846609601351E-3"/>
                  <c:y val="3.29638560209395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687-45A7-B8DC-423F588843F7}"/>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12169"/>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2015-16</c:v>
                </c:pt>
                <c:pt idx="1">
                  <c:v>FY 2016-17</c:v>
                </c:pt>
                <c:pt idx="2">
                  <c:v>FY 2017-18</c:v>
                </c:pt>
                <c:pt idx="3">
                  <c:v>FY 2018-19</c:v>
                </c:pt>
                <c:pt idx="4">
                  <c:v>FY 2019-20</c:v>
                </c:pt>
                <c:pt idx="5">
                  <c:v>FY 2020-21</c:v>
                </c:pt>
              </c:strCache>
            </c:strRef>
          </c:cat>
          <c:val>
            <c:numRef>
              <c:f>Sheet1!$D$2:$D$7</c:f>
              <c:numCache>
                <c:formatCode>0.00</c:formatCode>
                <c:ptCount val="6"/>
                <c:pt idx="0">
                  <c:v>1.6885703412406445</c:v>
                </c:pt>
                <c:pt idx="1">
                  <c:v>1.6893549103986096</c:v>
                </c:pt>
                <c:pt idx="2">
                  <c:v>1.2181151852900136</c:v>
                </c:pt>
                <c:pt idx="3">
                  <c:v>1.1564100453028505</c:v>
                </c:pt>
                <c:pt idx="4">
                  <c:v>0.25068370490022573</c:v>
                </c:pt>
                <c:pt idx="5">
                  <c:v>-0.84828599823934026</c:v>
                </c:pt>
              </c:numCache>
            </c:numRef>
          </c:val>
          <c:smooth val="0"/>
          <c:extLst>
            <c:ext xmlns:c16="http://schemas.microsoft.com/office/drawing/2014/chart" uri="{C3380CC4-5D6E-409C-BE32-E72D297353CC}">
              <c16:uniqueId val="{00000011-C687-45A7-B8DC-423F588843F7}"/>
            </c:ext>
          </c:extLst>
        </c:ser>
        <c:dLbls>
          <c:showLegendKey val="0"/>
          <c:showVal val="0"/>
          <c:showCatName val="0"/>
          <c:showSerName val="0"/>
          <c:showPercent val="0"/>
          <c:showBubbleSize val="0"/>
        </c:dLbls>
        <c:marker val="1"/>
        <c:smooth val="0"/>
        <c:axId val="1201921600"/>
        <c:axId val="1201928256"/>
      </c:lineChart>
      <c:catAx>
        <c:axId val="120192160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201928256"/>
        <c:crosses val="autoZero"/>
        <c:auto val="1"/>
        <c:lblAlgn val="ctr"/>
        <c:lblOffset val="300"/>
        <c:noMultiLvlLbl val="0"/>
      </c:catAx>
      <c:valAx>
        <c:axId val="1201928256"/>
        <c:scaling>
          <c:orientation val="minMax"/>
        </c:scaling>
        <c:delete val="1"/>
        <c:axPos val="l"/>
        <c:numFmt formatCode="0.00" sourceLinked="1"/>
        <c:majorTickMark val="none"/>
        <c:minorTickMark val="none"/>
        <c:tickLblPos val="nextTo"/>
        <c:crossAx val="1201921600"/>
        <c:crosses val="autoZero"/>
        <c:crossBetween val="between"/>
      </c:valAx>
      <c:spPr>
        <a:noFill/>
        <a:ln>
          <a:noFill/>
        </a:ln>
        <a:effectLst/>
      </c:spPr>
    </c:plotArea>
    <c:legend>
      <c:legendPos val="b"/>
      <c:layout>
        <c:manualLayout>
          <c:xMode val="edge"/>
          <c:yMode val="edge"/>
          <c:x val="5.7321231002818111E-3"/>
          <c:y val="4.981989625775814E-3"/>
          <c:w val="0.99307604932441196"/>
          <c:h val="0.16613676695912158"/>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35073881243923E-2"/>
          <c:y val="0.26454810441248544"/>
          <c:w val="0.9750283746126337"/>
          <c:h val="0.59893451753819293"/>
        </c:manualLayout>
      </c:layout>
      <c:lineChart>
        <c:grouping val="standard"/>
        <c:varyColors val="0"/>
        <c:ser>
          <c:idx val="0"/>
          <c:order val="0"/>
          <c:tx>
            <c:strRef>
              <c:f>Sheet1!$B$1</c:f>
              <c:strCache>
                <c:ptCount val="1"/>
                <c:pt idx="0">
                  <c:v>Total Power Purchase Cost</c:v>
                </c:pt>
              </c:strCache>
            </c:strRef>
          </c:tx>
          <c:spPr>
            <a:ln w="28575" cap="rnd">
              <a:solidFill>
                <a:schemeClr val="accent5"/>
              </a:solidFill>
              <a:round/>
            </a:ln>
            <a:effectLst/>
          </c:spPr>
          <c:marker>
            <c:symbol val="circle"/>
            <c:size val="5"/>
            <c:spPr>
              <a:solidFill>
                <a:schemeClr val="accent1"/>
              </a:solidFill>
              <a:ln w="9525">
                <a:solidFill>
                  <a:schemeClr val="accent5"/>
                </a:solidFill>
              </a:ln>
              <a:effectLst/>
            </c:spPr>
          </c:marker>
          <c:dLbls>
            <c:dLbl>
              <c:idx val="0"/>
              <c:layout>
                <c:manualLayout>
                  <c:x val="-5.0065338248888466E-2"/>
                  <c:y val="-4.80660727811932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687-45A7-B8DC-423F588843F7}"/>
                </c:ext>
              </c:extLst>
            </c:dLbl>
            <c:dLbl>
              <c:idx val="1"/>
              <c:layout>
                <c:manualLayout>
                  <c:x val="-2.3958638980278224E-2"/>
                  <c:y val="-4.14861505589825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687-45A7-B8DC-423F588843F7}"/>
                </c:ext>
              </c:extLst>
            </c:dLbl>
            <c:dLbl>
              <c:idx val="2"/>
              <c:layout>
                <c:manualLayout>
                  <c:x val="-4.098474719893707E-2"/>
                  <c:y val="-4.80660727811932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687-45A7-B8DC-423F588843F7}"/>
                </c:ext>
              </c:extLst>
            </c:dLbl>
            <c:dLbl>
              <c:idx val="3"/>
              <c:layout>
                <c:manualLayout>
                  <c:x val="-6.3686224823815529E-2"/>
                  <c:y val="3.08929938853352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687-45A7-B8DC-423F588843F7}"/>
                </c:ext>
              </c:extLst>
            </c:dLbl>
            <c:dLbl>
              <c:idx val="4"/>
              <c:layout>
                <c:manualLayout>
                  <c:x val="-5.2335486011376386E-2"/>
                  <c:y val="6.5376449266727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687-45A7-B8DC-423F588843F7}"/>
                </c:ext>
              </c:extLst>
            </c:dLbl>
            <c:dLbl>
              <c:idx val="5"/>
              <c:layout>
                <c:manualLayout>
                  <c:x val="-3.1904156148985688E-2"/>
                  <c:y val="-0.1102712067784597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687-45A7-B8DC-423F588843F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5587"/>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 2015-16</c:v>
                </c:pt>
                <c:pt idx="1">
                  <c:v>FY 2016-17</c:v>
                </c:pt>
                <c:pt idx="2">
                  <c:v>FY 2017-18</c:v>
                </c:pt>
                <c:pt idx="3">
                  <c:v>FY 2018-19</c:v>
                </c:pt>
                <c:pt idx="4">
                  <c:v>FY 2019-20</c:v>
                </c:pt>
                <c:pt idx="5">
                  <c:v>FY 2020-21</c:v>
                </c:pt>
              </c:strCache>
            </c:strRef>
          </c:cat>
          <c:val>
            <c:numRef>
              <c:f>Sheet1!$B$2:$B$7</c:f>
              <c:numCache>
                <c:formatCode>0.00</c:formatCode>
                <c:ptCount val="6"/>
                <c:pt idx="0">
                  <c:v>3.4</c:v>
                </c:pt>
                <c:pt idx="1">
                  <c:v>3.5</c:v>
                </c:pt>
                <c:pt idx="2">
                  <c:v>3.7</c:v>
                </c:pt>
                <c:pt idx="3">
                  <c:v>4.0575285650714168</c:v>
                </c:pt>
                <c:pt idx="4">
                  <c:v>4.2297359910680488</c:v>
                </c:pt>
                <c:pt idx="5">
                  <c:v>4.3980551300234598</c:v>
                </c:pt>
              </c:numCache>
            </c:numRef>
          </c:val>
          <c:smooth val="0"/>
          <c:extLst>
            <c:ext xmlns:c16="http://schemas.microsoft.com/office/drawing/2014/chart" uri="{C3380CC4-5D6E-409C-BE32-E72D297353CC}">
              <c16:uniqueId val="{00000006-C687-45A7-B8DC-423F588843F7}"/>
            </c:ext>
          </c:extLst>
        </c:ser>
        <c:ser>
          <c:idx val="1"/>
          <c:order val="1"/>
          <c:tx>
            <c:strRef>
              <c:f>Sheet1!$C$1</c:f>
              <c:strCache>
                <c:ptCount val="1"/>
                <c:pt idx="0">
                  <c:v>Sale to Person other than licensees and consumers</c:v>
                </c:pt>
              </c:strCache>
            </c:strRef>
          </c:tx>
          <c:spPr>
            <a:ln w="28575" cap="rnd">
              <a:solidFill>
                <a:schemeClr val="accent1">
                  <a:lumMod val="60000"/>
                  <a:lumOff val="40000"/>
                </a:schemeClr>
              </a:solidFill>
              <a:round/>
            </a:ln>
            <a:effectLst/>
          </c:spPr>
          <c:marker>
            <c:symbol val="circle"/>
            <c:size val="5"/>
            <c:spPr>
              <a:solidFill>
                <a:schemeClr val="accent2"/>
              </a:solidFill>
              <a:ln w="9525">
                <a:solidFill>
                  <a:schemeClr val="accent1">
                    <a:lumMod val="60000"/>
                    <a:lumOff val="40000"/>
                  </a:schemeClr>
                </a:solidFill>
              </a:ln>
              <a:effectLst/>
            </c:spPr>
          </c:marker>
          <c:dLbls>
            <c:dLbl>
              <c:idx val="0"/>
              <c:layout>
                <c:manualLayout>
                  <c:x val="-1.0320681609184409E-2"/>
                  <c:y val="-9.392813067000187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ED5-45D0-A8E0-868D9DFA5B86}"/>
                </c:ext>
              </c:extLst>
            </c:dLbl>
            <c:dLbl>
              <c:idx val="3"/>
              <c:layout>
                <c:manualLayout>
                  <c:x val="-2.2255983470464261E-2"/>
                  <c:y val="-6.5999987565501378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accent4">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8836597534708903E-2"/>
                      <c:h val="8.2972819222077027E-2"/>
                    </c:manualLayout>
                  </c15:layout>
                </c:ext>
                <c:ext xmlns:c16="http://schemas.microsoft.com/office/drawing/2014/chart" uri="{C3380CC4-5D6E-409C-BE32-E72D297353CC}">
                  <c16:uniqueId val="{00000007-C687-45A7-B8DC-423F588843F7}"/>
                </c:ext>
              </c:extLst>
            </c:dLbl>
            <c:dLbl>
              <c:idx val="4"/>
              <c:layout>
                <c:manualLayout>
                  <c:x val="-2.5093712861522233E-2"/>
                  <c:y val="-6.96290478179009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687-45A7-B8DC-423F588843F7}"/>
                </c:ext>
              </c:extLst>
            </c:dLbl>
            <c:dLbl>
              <c:idx val="5"/>
              <c:layout>
                <c:manualLayout>
                  <c:x val="-3.1904156148985688E-2"/>
                  <c:y val="8.689227682924416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687-45A7-B8DC-423F588843F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4">
                        <a:lumMod val="7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 2015-16</c:v>
                </c:pt>
                <c:pt idx="1">
                  <c:v>FY 2016-17</c:v>
                </c:pt>
                <c:pt idx="2">
                  <c:v>FY 2017-18</c:v>
                </c:pt>
                <c:pt idx="3">
                  <c:v>FY 2018-19</c:v>
                </c:pt>
                <c:pt idx="4">
                  <c:v>FY 2019-20</c:v>
                </c:pt>
                <c:pt idx="5">
                  <c:v>FY 2020-21</c:v>
                </c:pt>
              </c:strCache>
            </c:strRef>
          </c:cat>
          <c:val>
            <c:numRef>
              <c:f>Sheet1!$C$2:$C$7</c:f>
              <c:numCache>
                <c:formatCode>0.00</c:formatCode>
                <c:ptCount val="6"/>
                <c:pt idx="0">
                  <c:v>5.0885703412406444</c:v>
                </c:pt>
                <c:pt idx="1">
                  <c:v>5.1893549103986096</c:v>
                </c:pt>
                <c:pt idx="2">
                  <c:v>4.9181151852900138</c:v>
                </c:pt>
                <c:pt idx="3">
                  <c:v>5.2139386103742673</c:v>
                </c:pt>
                <c:pt idx="4">
                  <c:v>4.4804196959682745</c:v>
                </c:pt>
                <c:pt idx="5">
                  <c:v>3.5497691317841196</c:v>
                </c:pt>
              </c:numCache>
            </c:numRef>
          </c:val>
          <c:smooth val="0"/>
          <c:extLst>
            <c:ext xmlns:c16="http://schemas.microsoft.com/office/drawing/2014/chart" uri="{C3380CC4-5D6E-409C-BE32-E72D297353CC}">
              <c16:uniqueId val="{0000000A-C687-45A7-B8DC-423F588843F7}"/>
            </c:ext>
          </c:extLst>
        </c:ser>
        <c:ser>
          <c:idx val="2"/>
          <c:order val="2"/>
          <c:tx>
            <c:strRef>
              <c:f>Sheet1!$D$1</c:f>
              <c:strCache>
                <c:ptCount val="1"/>
                <c:pt idx="0">
                  <c:v>Margin realised on Sale to person other than licensee</c:v>
                </c:pt>
              </c:strCache>
            </c:strRef>
          </c:tx>
          <c:spPr>
            <a:ln w="28575" cap="rnd">
              <a:solidFill>
                <a:srgbClr val="012169"/>
              </a:solidFill>
              <a:round/>
            </a:ln>
            <a:effectLst/>
          </c:spPr>
          <c:marker>
            <c:symbol val="triangle"/>
            <c:size val="12"/>
            <c:spPr>
              <a:solidFill>
                <a:srgbClr val="012169"/>
              </a:solidFill>
              <a:ln w="9525">
                <a:solidFill>
                  <a:srgbClr val="012169"/>
                </a:solidFill>
              </a:ln>
              <a:effectLst/>
            </c:spPr>
          </c:marker>
          <c:dLbls>
            <c:dLbl>
              <c:idx val="0"/>
              <c:layout>
                <c:manualLayout>
                  <c:x val="-2.5760546422778922E-2"/>
                  <c:y val="8.425616310746411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687-45A7-B8DC-423F588843F7}"/>
                </c:ext>
              </c:extLst>
            </c:dLbl>
            <c:dLbl>
              <c:idx val="1"/>
              <c:layout>
                <c:manualLayout>
                  <c:x val="-2.5760546422778911E-2"/>
                  <c:y val="9.08360853296747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687-45A7-B8DC-423F588843F7}"/>
                </c:ext>
              </c:extLst>
            </c:dLbl>
            <c:dLbl>
              <c:idx val="2"/>
              <c:layout>
                <c:manualLayout>
                  <c:x val="-7.8892103541269019E-4"/>
                  <c:y val="-4.734228133675005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687-45A7-B8DC-423F588843F7}"/>
                </c:ext>
              </c:extLst>
            </c:dLbl>
            <c:dLbl>
              <c:idx val="3"/>
              <c:layout>
                <c:manualLayout>
                  <c:x val="-2.9597721772655666E-3"/>
                  <c:y val="-7.153204422122216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687-45A7-B8DC-423F588843F7}"/>
                </c:ext>
              </c:extLst>
            </c:dLbl>
            <c:dLbl>
              <c:idx val="4"/>
              <c:layout>
                <c:manualLayout>
                  <c:x val="2.4282000972588501E-2"/>
                  <c:y val="-8.16236761144679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687-45A7-B8DC-423F588843F7}"/>
                </c:ext>
              </c:extLst>
            </c:dLbl>
            <c:dLbl>
              <c:idx val="5"/>
              <c:layout>
                <c:manualLayout>
                  <c:x val="7.4460846609601351E-3"/>
                  <c:y val="3.29638560209395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687-45A7-B8DC-423F588843F7}"/>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12169"/>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2015-16</c:v>
                </c:pt>
                <c:pt idx="1">
                  <c:v>FY 2016-17</c:v>
                </c:pt>
                <c:pt idx="2">
                  <c:v>FY 2017-18</c:v>
                </c:pt>
                <c:pt idx="3">
                  <c:v>FY 2018-19</c:v>
                </c:pt>
                <c:pt idx="4">
                  <c:v>FY 2019-20</c:v>
                </c:pt>
                <c:pt idx="5">
                  <c:v>FY 2020-21</c:v>
                </c:pt>
              </c:strCache>
            </c:strRef>
          </c:cat>
          <c:val>
            <c:numRef>
              <c:f>Sheet1!$D$2:$D$7</c:f>
              <c:numCache>
                <c:formatCode>0.00</c:formatCode>
                <c:ptCount val="6"/>
                <c:pt idx="0">
                  <c:v>1.6885703412406445</c:v>
                </c:pt>
                <c:pt idx="1">
                  <c:v>1.6893549103986096</c:v>
                </c:pt>
                <c:pt idx="2">
                  <c:v>1.2181151852900136</c:v>
                </c:pt>
                <c:pt idx="3">
                  <c:v>1.1564100453028505</c:v>
                </c:pt>
                <c:pt idx="4">
                  <c:v>0.25068370490022573</c:v>
                </c:pt>
                <c:pt idx="5">
                  <c:v>-0.84828599823934026</c:v>
                </c:pt>
              </c:numCache>
            </c:numRef>
          </c:val>
          <c:smooth val="0"/>
          <c:extLst>
            <c:ext xmlns:c16="http://schemas.microsoft.com/office/drawing/2014/chart" uri="{C3380CC4-5D6E-409C-BE32-E72D297353CC}">
              <c16:uniqueId val="{00000011-C687-45A7-B8DC-423F588843F7}"/>
            </c:ext>
          </c:extLst>
        </c:ser>
        <c:dLbls>
          <c:showLegendKey val="0"/>
          <c:showVal val="0"/>
          <c:showCatName val="0"/>
          <c:showSerName val="0"/>
          <c:showPercent val="0"/>
          <c:showBubbleSize val="0"/>
        </c:dLbls>
        <c:marker val="1"/>
        <c:smooth val="0"/>
        <c:axId val="1201921600"/>
        <c:axId val="1201928256"/>
      </c:lineChart>
      <c:catAx>
        <c:axId val="120192160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201928256"/>
        <c:crosses val="autoZero"/>
        <c:auto val="1"/>
        <c:lblAlgn val="ctr"/>
        <c:lblOffset val="300"/>
        <c:noMultiLvlLbl val="0"/>
      </c:catAx>
      <c:valAx>
        <c:axId val="1201928256"/>
        <c:scaling>
          <c:orientation val="minMax"/>
        </c:scaling>
        <c:delete val="1"/>
        <c:axPos val="l"/>
        <c:numFmt formatCode="0.00" sourceLinked="1"/>
        <c:majorTickMark val="none"/>
        <c:minorTickMark val="none"/>
        <c:tickLblPos val="nextTo"/>
        <c:crossAx val="1201921600"/>
        <c:crosses val="autoZero"/>
        <c:crossBetween val="between"/>
      </c:valAx>
      <c:spPr>
        <a:noFill/>
        <a:ln>
          <a:noFill/>
        </a:ln>
        <a:effectLst/>
      </c:spPr>
    </c:plotArea>
    <c:legend>
      <c:legendPos val="b"/>
      <c:layout>
        <c:manualLayout>
          <c:xMode val="edge"/>
          <c:yMode val="edge"/>
          <c:x val="5.7321231002818111E-3"/>
          <c:y val="4.981989625775814E-3"/>
          <c:w val="0.99307604932441196"/>
          <c:h val="0.16613676695912158"/>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9685702999743599E-2"/>
          <c:y val="4.2828950848878701E-2"/>
          <c:w val="0.80047993892786218"/>
          <c:h val="0.45596042645126433"/>
        </c:manualLayout>
      </c:layout>
      <c:lineChart>
        <c:grouping val="standard"/>
        <c:varyColors val="0"/>
        <c:ser>
          <c:idx val="0"/>
          <c:order val="0"/>
          <c:tx>
            <c:strRef>
              <c:f>Sheet1!$B$1</c:f>
              <c:strCache>
                <c:ptCount val="1"/>
                <c:pt idx="0">
                  <c:v>Quantum of energy approved by WBERC (MU)</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18"/>
              <c:layout>
                <c:manualLayout>
                  <c:x val="-3.2142928180092338E-2"/>
                  <c:y val="4.4988370756128722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5.4181696830129134E-2"/>
                      <c:h val="5.2992184240146144E-2"/>
                    </c:manualLayout>
                  </c15:layout>
                </c:ext>
                <c:ext xmlns:c16="http://schemas.microsoft.com/office/drawing/2014/chart" uri="{C3380CC4-5D6E-409C-BE32-E72D297353CC}">
                  <c16:uniqueId val="{00000010-0627-4EB2-9E16-E6FF3FE944D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Sheet1!$A$2:$A$20</c:f>
              <c:strCache>
                <c:ptCount val="19"/>
                <c:pt idx="0">
                  <c:v>DVC (RTPS)</c:v>
                </c:pt>
                <c:pt idx="1">
                  <c:v>Kolaghat TPS</c:v>
                </c:pt>
                <c:pt idx="2">
                  <c:v>DVC (Mejia V)</c:v>
                </c:pt>
                <c:pt idx="3">
                  <c:v>Farakka TPS stage I &amp; Il</c:v>
                </c:pt>
                <c:pt idx="4">
                  <c:v>Bandel TPS (U#l&amp;II)</c:v>
                </c:pt>
                <c:pt idx="5">
                  <c:v>Farakka TPS stage Ill</c:v>
                </c:pt>
                <c:pt idx="6">
                  <c:v>Kanti Bijlee</c:v>
                </c:pt>
                <c:pt idx="7">
                  <c:v>TPTCL (Maithon Right Bank)</c:v>
                </c:pt>
                <c:pt idx="8">
                  <c:v>PTC (Adhunik)</c:v>
                </c:pt>
                <c:pt idx="9">
                  <c:v>Kahalgaon Stage I</c:v>
                </c:pt>
                <c:pt idx="10">
                  <c:v>Bandel TPS (U#5)</c:v>
                </c:pt>
                <c:pt idx="11">
                  <c:v>DPL (U#8)</c:v>
                </c:pt>
                <c:pt idx="12">
                  <c:v>DPL (U#7)</c:v>
                </c:pt>
                <c:pt idx="13">
                  <c:v>Santaldih TPS</c:v>
                </c:pt>
                <c:pt idx="14">
                  <c:v>Talcher STPS</c:v>
                </c:pt>
                <c:pt idx="15">
                  <c:v>Bakreswar TPS (U# 4&amp;5)</c:v>
                </c:pt>
                <c:pt idx="16">
                  <c:v>Bakreswar TPS (U# 1,2&amp;3)</c:v>
                </c:pt>
                <c:pt idx="17">
                  <c:v>Sagardighi TPS (U#l&amp;2)</c:v>
                </c:pt>
                <c:pt idx="18">
                  <c:v>Sagardighi TPS (U#3&amp;4)</c:v>
                </c:pt>
              </c:strCache>
            </c:strRef>
          </c:cat>
          <c:val>
            <c:numRef>
              <c:f>Sheet1!$B$2:$B$20</c:f>
              <c:numCache>
                <c:formatCode>General</c:formatCode>
                <c:ptCount val="19"/>
                <c:pt idx="0">
                  <c:v>1432</c:v>
                </c:pt>
                <c:pt idx="1">
                  <c:v>1710</c:v>
                </c:pt>
                <c:pt idx="2">
                  <c:v>339</c:v>
                </c:pt>
                <c:pt idx="3">
                  <c:v>3546</c:v>
                </c:pt>
                <c:pt idx="4">
                  <c:v>221</c:v>
                </c:pt>
                <c:pt idx="5">
                  <c:v>1248</c:v>
                </c:pt>
                <c:pt idx="6">
                  <c:v>255</c:v>
                </c:pt>
                <c:pt idx="7">
                  <c:v>2105</c:v>
                </c:pt>
                <c:pt idx="8">
                  <c:v>470</c:v>
                </c:pt>
                <c:pt idx="9">
                  <c:v>345</c:v>
                </c:pt>
                <c:pt idx="10">
                  <c:v>1371</c:v>
                </c:pt>
                <c:pt idx="11">
                  <c:v>1594</c:v>
                </c:pt>
                <c:pt idx="12">
                  <c:v>1924</c:v>
                </c:pt>
                <c:pt idx="13">
                  <c:v>3189</c:v>
                </c:pt>
                <c:pt idx="14">
                  <c:v>637</c:v>
                </c:pt>
                <c:pt idx="15">
                  <c:v>2678</c:v>
                </c:pt>
                <c:pt idx="16">
                  <c:v>4018</c:v>
                </c:pt>
                <c:pt idx="17">
                  <c:v>3826</c:v>
                </c:pt>
                <c:pt idx="18">
                  <c:v>6640</c:v>
                </c:pt>
              </c:numCache>
            </c:numRef>
          </c:val>
          <c:smooth val="0"/>
          <c:extLst>
            <c:ext xmlns:c16="http://schemas.microsoft.com/office/drawing/2014/chart" uri="{C3380CC4-5D6E-409C-BE32-E72D297353CC}">
              <c16:uniqueId val="{00000000-0627-4EB2-9E16-E6FF3FE944D7}"/>
            </c:ext>
          </c:extLst>
        </c:ser>
        <c:dLbls>
          <c:showLegendKey val="0"/>
          <c:showVal val="0"/>
          <c:showCatName val="0"/>
          <c:showSerName val="0"/>
          <c:showPercent val="0"/>
          <c:showBubbleSize val="0"/>
        </c:dLbls>
        <c:marker val="1"/>
        <c:smooth val="0"/>
        <c:axId val="1881137184"/>
        <c:axId val="1881129696"/>
      </c:lineChart>
      <c:lineChart>
        <c:grouping val="standard"/>
        <c:varyColors val="0"/>
        <c:ser>
          <c:idx val="1"/>
          <c:order val="1"/>
          <c:tx>
            <c:strRef>
              <c:f>Sheet1!$C$1</c:f>
              <c:strCache>
                <c:ptCount val="1"/>
                <c:pt idx="0">
                  <c:v>Approved Energy Rate ( Rs/KWh)</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dLbl>
              <c:idx val="9"/>
              <c:delete val="1"/>
              <c:extLst>
                <c:ext xmlns:c15="http://schemas.microsoft.com/office/drawing/2012/chart" uri="{CE6537A1-D6FC-4f65-9D91-7224C49458BB}"/>
                <c:ext xmlns:c16="http://schemas.microsoft.com/office/drawing/2014/chart" uri="{C3380CC4-5D6E-409C-BE32-E72D297353CC}">
                  <c16:uniqueId val="{00000007-0627-4EB2-9E16-E6FF3FE944D7}"/>
                </c:ext>
              </c:extLst>
            </c:dLbl>
            <c:dLbl>
              <c:idx val="10"/>
              <c:layout>
                <c:manualLayout>
                  <c:x val="-2.0903346884501829E-2"/>
                  <c:y val="4.1472745972395059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3.7517556554508946E-2"/>
                      <c:h val="4.1968340297458634E-2"/>
                    </c:manualLayout>
                  </c15:layout>
                </c:ext>
                <c:ext xmlns:c16="http://schemas.microsoft.com/office/drawing/2014/chart" uri="{C3380CC4-5D6E-409C-BE32-E72D297353CC}">
                  <c16:uniqueId val="{00000008-0627-4EB2-9E16-E6FF3FE944D7}"/>
                </c:ext>
              </c:extLst>
            </c:dLbl>
            <c:dLbl>
              <c:idx val="11"/>
              <c:layout>
                <c:manualLayout>
                  <c:x val="-2.1452133690182305E-2"/>
                  <c:y val="3.6785338534366475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4.1273434961033771E-2"/>
                    </c:manualLayout>
                  </c15:layout>
                </c:ext>
                <c:ext xmlns:c16="http://schemas.microsoft.com/office/drawing/2014/chart" uri="{C3380CC4-5D6E-409C-BE32-E72D297353CC}">
                  <c16:uniqueId val="{00000009-0627-4EB2-9E16-E6FF3FE944D7}"/>
                </c:ext>
              </c:extLst>
            </c:dLbl>
            <c:dLbl>
              <c:idx val="12"/>
              <c:layout>
                <c:manualLayout>
                  <c:x val="-2.1452133690182305E-2"/>
                  <c:y val="3.209774654910516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627-4EB2-9E16-E6FF3FE944D7}"/>
                </c:ext>
              </c:extLst>
            </c:dLbl>
            <c:dLbl>
              <c:idx val="13"/>
              <c:layout>
                <c:manualLayout>
                  <c:x val="-2.1452133690182389E-2"/>
                  <c:y val="4.1472838246011424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4.1273434961033771E-2"/>
                    </c:manualLayout>
                  </c15:layout>
                </c:ext>
                <c:ext xmlns:c16="http://schemas.microsoft.com/office/drawing/2014/chart" uri="{C3380CC4-5D6E-409C-BE32-E72D297353CC}">
                  <c16:uniqueId val="{0000000B-0627-4EB2-9E16-E6FF3FE944D7}"/>
                </c:ext>
              </c:extLst>
            </c:dLbl>
            <c:dLbl>
              <c:idx val="14"/>
              <c:layout>
                <c:manualLayout>
                  <c:x val="-2.3697541764369175E-2"/>
                  <c:y val="3.2097746549105161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3.6585935249388829E-2"/>
                    </c:manualLayout>
                  </c15:layout>
                </c:ext>
                <c:ext xmlns:c16="http://schemas.microsoft.com/office/drawing/2014/chart" uri="{C3380CC4-5D6E-409C-BE32-E72D297353CC}">
                  <c16:uniqueId val="{0000000C-0627-4EB2-9E16-E6FF3FE944D7}"/>
                </c:ext>
              </c:extLst>
            </c:dLbl>
            <c:dLbl>
              <c:idx val="15"/>
              <c:layout>
                <c:manualLayout>
                  <c:x val="-2.4820245801462772E-2"/>
                  <c:y val="3.0925963894810293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2.9554685681921398E-2"/>
                    </c:manualLayout>
                  </c15:layout>
                </c:ext>
                <c:ext xmlns:c16="http://schemas.microsoft.com/office/drawing/2014/chart" uri="{C3380CC4-5D6E-409C-BE32-E72D297353CC}">
                  <c16:uniqueId val="{0000000D-0627-4EB2-9E16-E6FF3FE944D7}"/>
                </c:ext>
              </c:extLst>
            </c:dLbl>
            <c:dLbl>
              <c:idx val="16"/>
              <c:layout>
                <c:manualLayout>
                  <c:x val="-2.257483772727574E-2"/>
                  <c:y val="3.5613463606455238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4.3617184816856246E-2"/>
                    </c:manualLayout>
                  </c15:layout>
                </c:ext>
                <c:ext xmlns:c16="http://schemas.microsoft.com/office/drawing/2014/chart" uri="{C3380CC4-5D6E-409C-BE32-E72D297353CC}">
                  <c16:uniqueId val="{0000000E-0627-4EB2-9E16-E6FF3FE944D7}"/>
                </c:ext>
              </c:extLst>
            </c:dLbl>
            <c:dLbl>
              <c:idx val="17"/>
              <c:layout>
                <c:manualLayout>
                  <c:x val="-2.5942949838556044E-2"/>
                  <c:y val="2.8582214038987773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3.8929685105211297E-2"/>
                    </c:manualLayout>
                  </c15:layout>
                </c:ext>
                <c:ext xmlns:c16="http://schemas.microsoft.com/office/drawing/2014/chart" uri="{C3380CC4-5D6E-409C-BE32-E72D297353CC}">
                  <c16:uniqueId val="{0000000F-0627-4EB2-9E16-E6FF3FE944D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Sheet1!$A$2:$A$20</c:f>
              <c:strCache>
                <c:ptCount val="19"/>
                <c:pt idx="0">
                  <c:v>DVC (RTPS)</c:v>
                </c:pt>
                <c:pt idx="1">
                  <c:v>Kolaghat TPS</c:v>
                </c:pt>
                <c:pt idx="2">
                  <c:v>DVC (Mejia V)</c:v>
                </c:pt>
                <c:pt idx="3">
                  <c:v>Farakka TPS stage I &amp; Il</c:v>
                </c:pt>
                <c:pt idx="4">
                  <c:v>Bandel TPS (U#l&amp;II)</c:v>
                </c:pt>
                <c:pt idx="5">
                  <c:v>Farakka TPS stage Ill</c:v>
                </c:pt>
                <c:pt idx="6">
                  <c:v>Kanti Bijlee</c:v>
                </c:pt>
                <c:pt idx="7">
                  <c:v>TPTCL (Maithon Right Bank)</c:v>
                </c:pt>
                <c:pt idx="8">
                  <c:v>PTC (Adhunik)</c:v>
                </c:pt>
                <c:pt idx="9">
                  <c:v>Kahalgaon Stage I</c:v>
                </c:pt>
                <c:pt idx="10">
                  <c:v>Bandel TPS (U#5)</c:v>
                </c:pt>
                <c:pt idx="11">
                  <c:v>DPL (U#8)</c:v>
                </c:pt>
                <c:pt idx="12">
                  <c:v>DPL (U#7)</c:v>
                </c:pt>
                <c:pt idx="13">
                  <c:v>Santaldih TPS</c:v>
                </c:pt>
                <c:pt idx="14">
                  <c:v>Talcher STPS</c:v>
                </c:pt>
                <c:pt idx="15">
                  <c:v>Bakreswar TPS (U# 4&amp;5)</c:v>
                </c:pt>
                <c:pt idx="16">
                  <c:v>Bakreswar TPS (U# 1,2&amp;3)</c:v>
                </c:pt>
                <c:pt idx="17">
                  <c:v>Sagardighi TPS (U#l&amp;2)</c:v>
                </c:pt>
                <c:pt idx="18">
                  <c:v>Sagardighi TPS (U#3&amp;4)</c:v>
                </c:pt>
              </c:strCache>
            </c:strRef>
          </c:cat>
          <c:val>
            <c:numRef>
              <c:f>Sheet1!$C$2:$C$20</c:f>
              <c:numCache>
                <c:formatCode>0.00</c:formatCode>
                <c:ptCount val="19"/>
                <c:pt idx="0">
                  <c:v>2.9086731843575415</c:v>
                </c:pt>
                <c:pt idx="1">
                  <c:v>2.8600818713450291</c:v>
                </c:pt>
                <c:pt idx="2">
                  <c:v>2.792693215339233</c:v>
                </c:pt>
                <c:pt idx="3">
                  <c:v>2.7090403271291597</c:v>
                </c:pt>
                <c:pt idx="4">
                  <c:v>2.7506334841628957</c:v>
                </c:pt>
                <c:pt idx="5">
                  <c:v>2.666965544871795</c:v>
                </c:pt>
                <c:pt idx="6">
                  <c:v>2.6323019607843139</c:v>
                </c:pt>
                <c:pt idx="7">
                  <c:v>2.5475315914489314</c:v>
                </c:pt>
                <c:pt idx="8">
                  <c:v>2.4822574468085108</c:v>
                </c:pt>
                <c:pt idx="9">
                  <c:v>2.2630927536231886</c:v>
                </c:pt>
                <c:pt idx="10">
                  <c:v>2.1994850474106489</c:v>
                </c:pt>
                <c:pt idx="11">
                  <c:v>2.1534322459222084</c:v>
                </c:pt>
                <c:pt idx="12">
                  <c:v>2.071872661122661</c:v>
                </c:pt>
                <c:pt idx="13">
                  <c:v>2.0506685481342113</c:v>
                </c:pt>
                <c:pt idx="14">
                  <c:v>2.0038492935635794</c:v>
                </c:pt>
                <c:pt idx="15">
                  <c:v>1.9819387602688574</c:v>
                </c:pt>
                <c:pt idx="16">
                  <c:v>1.9814452463912395</c:v>
                </c:pt>
                <c:pt idx="17">
                  <c:v>1.7912723470987977</c:v>
                </c:pt>
                <c:pt idx="18">
                  <c:v>1.7392209337349398</c:v>
                </c:pt>
              </c:numCache>
            </c:numRef>
          </c:val>
          <c:smooth val="0"/>
          <c:extLst>
            <c:ext xmlns:c16="http://schemas.microsoft.com/office/drawing/2014/chart" uri="{C3380CC4-5D6E-409C-BE32-E72D297353CC}">
              <c16:uniqueId val="{00000001-0627-4EB2-9E16-E6FF3FE944D7}"/>
            </c:ext>
          </c:extLst>
        </c:ser>
        <c:ser>
          <c:idx val="2"/>
          <c:order val="2"/>
          <c:tx>
            <c:strRef>
              <c:f>Sheet1!$D$1</c:f>
              <c:strCache>
                <c:ptCount val="1"/>
                <c:pt idx="0">
                  <c:v>Average Energy Rate ( Rs/KWh)</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Sheet1!$A$2:$A$20</c:f>
              <c:strCache>
                <c:ptCount val="19"/>
                <c:pt idx="0">
                  <c:v>DVC (RTPS)</c:v>
                </c:pt>
                <c:pt idx="1">
                  <c:v>Kolaghat TPS</c:v>
                </c:pt>
                <c:pt idx="2">
                  <c:v>DVC (Mejia V)</c:v>
                </c:pt>
                <c:pt idx="3">
                  <c:v>Farakka TPS stage I &amp; Il</c:v>
                </c:pt>
                <c:pt idx="4">
                  <c:v>Bandel TPS (U#l&amp;II)</c:v>
                </c:pt>
                <c:pt idx="5">
                  <c:v>Farakka TPS stage Ill</c:v>
                </c:pt>
                <c:pt idx="6">
                  <c:v>Kanti Bijlee</c:v>
                </c:pt>
                <c:pt idx="7">
                  <c:v>TPTCL (Maithon Right Bank)</c:v>
                </c:pt>
                <c:pt idx="8">
                  <c:v>PTC (Adhunik)</c:v>
                </c:pt>
                <c:pt idx="9">
                  <c:v>Kahalgaon Stage I</c:v>
                </c:pt>
                <c:pt idx="10">
                  <c:v>Bandel TPS (U#5)</c:v>
                </c:pt>
                <c:pt idx="11">
                  <c:v>DPL (U#8)</c:v>
                </c:pt>
                <c:pt idx="12">
                  <c:v>DPL (U#7)</c:v>
                </c:pt>
                <c:pt idx="13">
                  <c:v>Santaldih TPS</c:v>
                </c:pt>
                <c:pt idx="14">
                  <c:v>Talcher STPS</c:v>
                </c:pt>
                <c:pt idx="15">
                  <c:v>Bakreswar TPS (U# 4&amp;5)</c:v>
                </c:pt>
                <c:pt idx="16">
                  <c:v>Bakreswar TPS (U# 1,2&amp;3)</c:v>
                </c:pt>
                <c:pt idx="17">
                  <c:v>Sagardighi TPS (U#l&amp;2)</c:v>
                </c:pt>
                <c:pt idx="18">
                  <c:v>Sagardighi TPS (U#3&amp;4)</c:v>
                </c:pt>
              </c:strCache>
            </c:strRef>
          </c:cat>
          <c:val>
            <c:numRef>
              <c:f>Sheet1!$D$2:$D$20</c:f>
              <c:numCache>
                <c:formatCode>General</c:formatCode>
                <c:ptCount val="19"/>
                <c:pt idx="0">
                  <c:v>2.34</c:v>
                </c:pt>
                <c:pt idx="1">
                  <c:v>2.34</c:v>
                </c:pt>
                <c:pt idx="2">
                  <c:v>2.34</c:v>
                </c:pt>
                <c:pt idx="3">
                  <c:v>2.34</c:v>
                </c:pt>
                <c:pt idx="4">
                  <c:v>2.34</c:v>
                </c:pt>
                <c:pt idx="5">
                  <c:v>2.34</c:v>
                </c:pt>
                <c:pt idx="6">
                  <c:v>2.34</c:v>
                </c:pt>
                <c:pt idx="7">
                  <c:v>2.34</c:v>
                </c:pt>
                <c:pt idx="8">
                  <c:v>2.34</c:v>
                </c:pt>
                <c:pt idx="9">
                  <c:v>2.34</c:v>
                </c:pt>
                <c:pt idx="10">
                  <c:v>2.34</c:v>
                </c:pt>
                <c:pt idx="11">
                  <c:v>2.34</c:v>
                </c:pt>
                <c:pt idx="12">
                  <c:v>2.34</c:v>
                </c:pt>
                <c:pt idx="13">
                  <c:v>2.34</c:v>
                </c:pt>
                <c:pt idx="14">
                  <c:v>2.34</c:v>
                </c:pt>
                <c:pt idx="15">
                  <c:v>2.34</c:v>
                </c:pt>
                <c:pt idx="16">
                  <c:v>2.34</c:v>
                </c:pt>
                <c:pt idx="17">
                  <c:v>2.34</c:v>
                </c:pt>
                <c:pt idx="18">
                  <c:v>2.34</c:v>
                </c:pt>
              </c:numCache>
            </c:numRef>
          </c:val>
          <c:smooth val="0"/>
          <c:extLst>
            <c:ext xmlns:c16="http://schemas.microsoft.com/office/drawing/2014/chart" uri="{C3380CC4-5D6E-409C-BE32-E72D297353CC}">
              <c16:uniqueId val="{00000002-0627-4EB2-9E16-E6FF3FE944D7}"/>
            </c:ext>
          </c:extLst>
        </c:ser>
        <c:dLbls>
          <c:showLegendKey val="0"/>
          <c:showVal val="0"/>
          <c:showCatName val="0"/>
          <c:showSerName val="0"/>
          <c:showPercent val="0"/>
          <c:showBubbleSize val="0"/>
        </c:dLbls>
        <c:marker val="1"/>
        <c:smooth val="0"/>
        <c:axId val="1863784752"/>
        <c:axId val="1863783504"/>
      </c:lineChart>
      <c:catAx>
        <c:axId val="18811371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5400000" spcFirstLastPara="1" vertOverflow="ellipsis" wrap="square" anchor="ctr" anchorCtr="1"/>
          <a:lstStyle/>
          <a:p>
            <a:pPr>
              <a:defRPr sz="105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881129696"/>
        <c:crosses val="autoZero"/>
        <c:auto val="0"/>
        <c:lblAlgn val="ctr"/>
        <c:lblOffset val="100"/>
        <c:noMultiLvlLbl val="0"/>
      </c:catAx>
      <c:valAx>
        <c:axId val="1881129696"/>
        <c:scaling>
          <c:orientation val="minMax"/>
          <c:max val="13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400" b="1" dirty="0">
                    <a:solidFill>
                      <a:schemeClr val="tx1"/>
                    </a:solidFill>
                    <a:latin typeface="Calibri" panose="020F0502020204030204" pitchFamily="34" charset="0"/>
                    <a:cs typeface="Calibri" panose="020F0502020204030204" pitchFamily="34" charset="0"/>
                  </a:rPr>
                  <a:t>Approved</a:t>
                </a:r>
                <a:r>
                  <a:rPr lang="en-US" sz="1400" b="1" baseline="0" dirty="0">
                    <a:solidFill>
                      <a:schemeClr val="tx1"/>
                    </a:solidFill>
                    <a:latin typeface="Calibri" panose="020F0502020204030204" pitchFamily="34" charset="0"/>
                    <a:cs typeface="Calibri" panose="020F0502020204030204" pitchFamily="34" charset="0"/>
                  </a:rPr>
                  <a:t> Quantum of Energy ( In MU)</a:t>
                </a:r>
                <a:endParaRPr lang="en-US" sz="1400" b="1" dirty="0">
                  <a:solidFill>
                    <a:schemeClr val="tx1"/>
                  </a:solidFill>
                  <a:latin typeface="Calibri" panose="020F0502020204030204" pitchFamily="34" charset="0"/>
                  <a:cs typeface="Calibri" panose="020F0502020204030204" pitchFamily="34" charset="0"/>
                </a:endParaRP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881137184"/>
        <c:crosses val="autoZero"/>
        <c:crossBetween val="between"/>
        <c:majorUnit val="4000"/>
      </c:valAx>
      <c:valAx>
        <c:axId val="1863783504"/>
        <c:scaling>
          <c:orientation val="minMax"/>
          <c:max val="3"/>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400" b="1" dirty="0">
                    <a:solidFill>
                      <a:schemeClr val="tx1"/>
                    </a:solidFill>
                    <a:latin typeface="Calibri" panose="020F0502020204030204" pitchFamily="34" charset="0"/>
                    <a:cs typeface="Calibri" panose="020F0502020204030204" pitchFamily="34" charset="0"/>
                  </a:rPr>
                  <a:t>Approved</a:t>
                </a:r>
                <a:r>
                  <a:rPr lang="en-US" sz="1400" b="1" baseline="0" dirty="0">
                    <a:solidFill>
                      <a:schemeClr val="tx1"/>
                    </a:solidFill>
                    <a:latin typeface="Calibri" panose="020F0502020204030204" pitchFamily="34" charset="0"/>
                    <a:cs typeface="Calibri" panose="020F0502020204030204" pitchFamily="34" charset="0"/>
                  </a:rPr>
                  <a:t> Energy Rate of each source ( Rs/KWh)</a:t>
                </a:r>
                <a:endParaRPr lang="en-US" sz="1400" b="1" dirty="0">
                  <a:solidFill>
                    <a:schemeClr val="tx1"/>
                  </a:solidFill>
                  <a:latin typeface="Calibri" panose="020F0502020204030204" pitchFamily="34" charset="0"/>
                  <a:cs typeface="Calibri" panose="020F0502020204030204" pitchFamily="34" charset="0"/>
                </a:endParaRPr>
              </a:p>
            </c:rich>
          </c:tx>
          <c:layout>
            <c:manualLayout>
              <c:xMode val="edge"/>
              <c:yMode val="edge"/>
              <c:x val="0.96349809439063927"/>
              <c:y val="4.7827921613907087E-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863784752"/>
        <c:crosses val="max"/>
        <c:crossBetween val="between"/>
        <c:majorUnit val="1"/>
      </c:valAx>
      <c:catAx>
        <c:axId val="1863784752"/>
        <c:scaling>
          <c:orientation val="minMax"/>
        </c:scaling>
        <c:delete val="1"/>
        <c:axPos val="b"/>
        <c:numFmt formatCode="General" sourceLinked="1"/>
        <c:majorTickMark val="out"/>
        <c:minorTickMark val="none"/>
        <c:tickLblPos val="nextTo"/>
        <c:crossAx val="1863783504"/>
        <c:crosses val="autoZero"/>
        <c:auto val="1"/>
        <c:lblAlgn val="ctr"/>
        <c:lblOffset val="100"/>
        <c:noMultiLvlLbl val="0"/>
      </c:catAx>
      <c:spPr>
        <a:noFill/>
        <a:ln>
          <a:noFill/>
        </a:ln>
        <a:effectLst/>
      </c:spPr>
    </c:plotArea>
    <c:legend>
      <c:legendPos val="b"/>
      <c:layout>
        <c:manualLayout>
          <c:xMode val="edge"/>
          <c:yMode val="edge"/>
          <c:x val="6.1652275575220065E-2"/>
          <c:y val="0.93797515145330024"/>
          <c:w val="0.84975046355742456"/>
          <c:h val="4.7962349411764922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657999940883899E-3"/>
          <c:y val="8.7216996990594584E-2"/>
          <c:w val="0.99463033363093356"/>
          <c:h val="0.5008454215217587"/>
        </c:manualLayout>
      </c:layout>
      <c:barChart>
        <c:barDir val="col"/>
        <c:grouping val="clustered"/>
        <c:varyColors val="0"/>
        <c:ser>
          <c:idx val="0"/>
          <c:order val="0"/>
          <c:tx>
            <c:strRef>
              <c:f>Sheet1!$B$1</c:f>
              <c:strCache>
                <c:ptCount val="1"/>
                <c:pt idx="0">
                  <c:v>Average Rate ( RS/KWh)</c:v>
                </c:pt>
              </c:strCache>
            </c:strRef>
          </c:tx>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4-0B75-497D-8327-D8D7A17CCED3}"/>
              </c:ext>
            </c:extLst>
          </c:dPt>
          <c:dPt>
            <c:idx val="1"/>
            <c:invertIfNegative val="0"/>
            <c:bubble3D val="0"/>
            <c:spPr>
              <a:solidFill>
                <a:srgbClr val="FF0000"/>
              </a:solidFill>
              <a:ln>
                <a:noFill/>
              </a:ln>
              <a:effectLst/>
            </c:spPr>
            <c:extLst>
              <c:ext xmlns:c16="http://schemas.microsoft.com/office/drawing/2014/chart" uri="{C3380CC4-5D6E-409C-BE32-E72D297353CC}">
                <c16:uniqueId val="{00000005-0B75-497D-8327-D8D7A17CCED3}"/>
              </c:ext>
            </c:extLst>
          </c:dPt>
          <c:dPt>
            <c:idx val="2"/>
            <c:invertIfNegative val="0"/>
            <c:bubble3D val="0"/>
            <c:spPr>
              <a:solidFill>
                <a:srgbClr val="FF0000"/>
              </a:solidFill>
              <a:ln>
                <a:noFill/>
              </a:ln>
              <a:effectLst/>
            </c:spPr>
            <c:extLst>
              <c:ext xmlns:c16="http://schemas.microsoft.com/office/drawing/2014/chart" uri="{C3380CC4-5D6E-409C-BE32-E72D297353CC}">
                <c16:uniqueId val="{00000006-0B75-497D-8327-D8D7A17CCED3}"/>
              </c:ext>
            </c:extLst>
          </c:dPt>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Sheet1!$A$2:$A$11</c:f>
              <c:strCache>
                <c:ptCount val="10"/>
                <c:pt idx="0">
                  <c:v>Kolaghat</c:v>
                </c:pt>
                <c:pt idx="1">
                  <c:v>DVC</c:v>
                </c:pt>
                <c:pt idx="2">
                  <c:v>Farakka U#1 &amp; 2</c:v>
                </c:pt>
                <c:pt idx="3">
                  <c:v>WBPDCL excluding Kolaghat</c:v>
                </c:pt>
                <c:pt idx="4">
                  <c:v>DPL</c:v>
                </c:pt>
                <c:pt idx="5">
                  <c:v>NTPC Excluding Farakka U#1&amp;2</c:v>
                </c:pt>
                <c:pt idx="6">
                  <c:v>PTC- Themal</c:v>
                </c:pt>
                <c:pt idx="7">
                  <c:v>PTC- Hydro</c:v>
                </c:pt>
                <c:pt idx="8">
                  <c:v>NHPC</c:v>
                </c:pt>
                <c:pt idx="9">
                  <c:v>HMEL</c:v>
                </c:pt>
              </c:strCache>
            </c:strRef>
          </c:cat>
          <c:val>
            <c:numRef>
              <c:f>Sheet1!$B$2:$B$11</c:f>
              <c:numCache>
                <c:formatCode>0.00</c:formatCode>
                <c:ptCount val="10"/>
                <c:pt idx="0">
                  <c:v>3.4765099415204679</c:v>
                </c:pt>
                <c:pt idx="1">
                  <c:v>4.4935928853754943</c:v>
                </c:pt>
                <c:pt idx="2">
                  <c:v>3.540551043429216</c:v>
                </c:pt>
                <c:pt idx="3">
                  <c:v>3.1363207856719679</c:v>
                </c:pt>
                <c:pt idx="4">
                  <c:v>3.8442760090960775</c:v>
                </c:pt>
                <c:pt idx="5">
                  <c:v>3.6506298913043467</c:v>
                </c:pt>
                <c:pt idx="6">
                  <c:v>4.6515917874396138</c:v>
                </c:pt>
                <c:pt idx="7">
                  <c:v>3.0031998786775866</c:v>
                </c:pt>
                <c:pt idx="8">
                  <c:v>4.2618471849865962</c:v>
                </c:pt>
                <c:pt idx="9">
                  <c:v>5.174520895522388</c:v>
                </c:pt>
              </c:numCache>
            </c:numRef>
          </c:val>
          <c:extLst>
            <c:ext xmlns:c16="http://schemas.microsoft.com/office/drawing/2014/chart" uri="{C3380CC4-5D6E-409C-BE32-E72D297353CC}">
              <c16:uniqueId val="{00000000-0B75-497D-8327-D8D7A17CCED3}"/>
            </c:ext>
          </c:extLst>
        </c:ser>
        <c:ser>
          <c:idx val="1"/>
          <c:order val="1"/>
          <c:tx>
            <c:strRef>
              <c:f>Sheet1!$C$1</c:f>
              <c:strCache>
                <c:ptCount val="1"/>
                <c:pt idx="0">
                  <c:v>Utilization Factor (%)</c:v>
                </c:pt>
              </c:strCache>
            </c:strRef>
          </c:tx>
          <c:spPr>
            <a:solidFill>
              <a:schemeClr val="accent2"/>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7-0B75-497D-8327-D8D7A17CCED3}"/>
              </c:ext>
            </c:extLst>
          </c:dPt>
          <c:dPt>
            <c:idx val="1"/>
            <c:invertIfNegative val="0"/>
            <c:bubble3D val="0"/>
            <c:spPr>
              <a:solidFill>
                <a:srgbClr val="FF0000"/>
              </a:solidFill>
              <a:ln>
                <a:noFill/>
              </a:ln>
              <a:effectLst/>
            </c:spPr>
            <c:extLst>
              <c:ext xmlns:c16="http://schemas.microsoft.com/office/drawing/2014/chart" uri="{C3380CC4-5D6E-409C-BE32-E72D297353CC}">
                <c16:uniqueId val="{00000008-0B75-497D-8327-D8D7A17CCED3}"/>
              </c:ext>
            </c:extLst>
          </c:dPt>
          <c:dPt>
            <c:idx val="2"/>
            <c:invertIfNegative val="0"/>
            <c:bubble3D val="0"/>
            <c:spPr>
              <a:solidFill>
                <a:srgbClr val="FF0000"/>
              </a:solidFill>
              <a:ln>
                <a:noFill/>
              </a:ln>
              <a:effectLst/>
            </c:spPr>
            <c:extLst>
              <c:ext xmlns:c16="http://schemas.microsoft.com/office/drawing/2014/chart" uri="{C3380CC4-5D6E-409C-BE32-E72D297353CC}">
                <c16:uniqueId val="{00000009-0B75-497D-8327-D8D7A17CCED3}"/>
              </c:ext>
            </c:extLst>
          </c:dPt>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Sheet1!$A$2:$A$11</c:f>
              <c:strCache>
                <c:ptCount val="10"/>
                <c:pt idx="0">
                  <c:v>Kolaghat</c:v>
                </c:pt>
                <c:pt idx="1">
                  <c:v>DVC</c:v>
                </c:pt>
                <c:pt idx="2">
                  <c:v>Farakka U#1 &amp; 2</c:v>
                </c:pt>
                <c:pt idx="3">
                  <c:v>WBPDCL excluding Kolaghat</c:v>
                </c:pt>
                <c:pt idx="4">
                  <c:v>DPL</c:v>
                </c:pt>
                <c:pt idx="5">
                  <c:v>NTPC Excluding Farakka U#1&amp;2</c:v>
                </c:pt>
                <c:pt idx="6">
                  <c:v>PTC- Themal</c:v>
                </c:pt>
                <c:pt idx="7">
                  <c:v>PTC- Hydro</c:v>
                </c:pt>
                <c:pt idx="8">
                  <c:v>NHPC</c:v>
                </c:pt>
                <c:pt idx="9">
                  <c:v>HMEL</c:v>
                </c:pt>
              </c:strCache>
            </c:strRef>
          </c:cat>
          <c:val>
            <c:numRef>
              <c:f>Sheet1!$C$2:$C$11</c:f>
              <c:numCache>
                <c:formatCode>0%</c:formatCode>
                <c:ptCount val="10"/>
                <c:pt idx="0">
                  <c:v>0.17137719434967588</c:v>
                </c:pt>
                <c:pt idx="1">
                  <c:v>0.81029639187049896</c:v>
                </c:pt>
                <c:pt idx="2">
                  <c:v>0.84997592601247707</c:v>
                </c:pt>
                <c:pt idx="3">
                  <c:v>0.79027427959348651</c:v>
                </c:pt>
                <c:pt idx="4">
                  <c:v>0.79999636158562104</c:v>
                </c:pt>
                <c:pt idx="5">
                  <c:v>0.67986295486018633</c:v>
                </c:pt>
                <c:pt idx="6">
                  <c:v>0.4726027397260274</c:v>
                </c:pt>
                <c:pt idx="7">
                  <c:v>0.38227059186980084</c:v>
                </c:pt>
                <c:pt idx="8">
                  <c:v>0.49961597162198534</c:v>
                </c:pt>
                <c:pt idx="9">
                  <c:v>0.84982242516489093</c:v>
                </c:pt>
              </c:numCache>
            </c:numRef>
          </c:val>
          <c:extLst>
            <c:ext xmlns:c16="http://schemas.microsoft.com/office/drawing/2014/chart" uri="{C3380CC4-5D6E-409C-BE32-E72D297353CC}">
              <c16:uniqueId val="{00000001-0B75-497D-8327-D8D7A17CCED3}"/>
            </c:ext>
          </c:extLst>
        </c:ser>
        <c:dLbls>
          <c:dLblPos val="outEnd"/>
          <c:showLegendKey val="0"/>
          <c:showVal val="1"/>
          <c:showCatName val="0"/>
          <c:showSerName val="0"/>
          <c:showPercent val="0"/>
          <c:showBubbleSize val="0"/>
        </c:dLbls>
        <c:gapWidth val="444"/>
        <c:overlap val="-90"/>
        <c:axId val="471357952"/>
        <c:axId val="471354208"/>
      </c:barChart>
      <c:catAx>
        <c:axId val="4713579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1" i="0" u="none" strike="noStrike" kern="1200" cap="all" spc="120" normalizeH="0" baseline="0">
                <a:solidFill>
                  <a:schemeClr val="tx1"/>
                </a:solidFill>
                <a:latin typeface="Calibri" panose="020F0502020204030204" pitchFamily="34" charset="0"/>
                <a:ea typeface="+mn-ea"/>
                <a:cs typeface="Calibri" panose="020F0502020204030204" pitchFamily="34" charset="0"/>
              </a:defRPr>
            </a:pPr>
            <a:endParaRPr lang="en-US"/>
          </a:p>
        </c:txPr>
        <c:crossAx val="471354208"/>
        <c:crosses val="autoZero"/>
        <c:auto val="1"/>
        <c:lblAlgn val="ctr"/>
        <c:lblOffset val="100"/>
        <c:noMultiLvlLbl val="0"/>
      </c:catAx>
      <c:valAx>
        <c:axId val="471354208"/>
        <c:scaling>
          <c:orientation val="minMax"/>
        </c:scaling>
        <c:delete val="1"/>
        <c:axPos val="l"/>
        <c:numFmt formatCode="0.00" sourceLinked="1"/>
        <c:majorTickMark val="none"/>
        <c:minorTickMark val="none"/>
        <c:tickLblPos val="nextTo"/>
        <c:crossAx val="471357952"/>
        <c:crosses val="autoZero"/>
        <c:crossBetween val="between"/>
      </c:valAx>
      <c:spPr>
        <a:noFill/>
        <a:ln>
          <a:noFill/>
        </a:ln>
        <a:effectLst/>
      </c:spPr>
    </c:plotArea>
    <c:legend>
      <c:legendPos val="t"/>
      <c:layout>
        <c:manualLayout>
          <c:xMode val="edge"/>
          <c:yMode val="edge"/>
          <c:x val="3.4783238894005447E-3"/>
          <c:y val="0.85833818500873305"/>
          <c:w val="0.99461005113785406"/>
          <c:h val="0.1416620406019256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alpha val="10000"/>
      </a:schemeClr>
    </a:solid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2.0101430231421656E-2"/>
          <c:w val="1"/>
          <c:h val="0.65190692525092198"/>
        </c:manualLayout>
      </c:layout>
      <c:barChart>
        <c:barDir val="col"/>
        <c:grouping val="clustered"/>
        <c:varyColors val="0"/>
        <c:ser>
          <c:idx val="0"/>
          <c:order val="0"/>
          <c:tx>
            <c:strRef>
              <c:f>Sheet1!$B$1</c:f>
              <c:strCache>
                <c:ptCount val="1"/>
                <c:pt idx="0">
                  <c:v>Billing Efficiency (%)</c:v>
                </c:pt>
              </c:strCache>
            </c:strRef>
          </c:tx>
          <c:spPr>
            <a:solidFill>
              <a:srgbClr val="0076A8"/>
            </a:solidFill>
            <a:ln>
              <a:noFill/>
            </a:ln>
            <a:effectLst/>
          </c:spPr>
          <c:invertIfNegative val="0"/>
          <c:dLbls>
            <c:spPr>
              <a:noFill/>
              <a:ln>
                <a:noFill/>
              </a:ln>
              <a:effectLst/>
            </c:spPr>
            <c:txPr>
              <a:bodyPr rot="5400000" spcFirstLastPara="1" vertOverflow="ellipsis"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16</c:v>
                </c:pt>
                <c:pt idx="1">
                  <c:v>FY 17</c:v>
                </c:pt>
                <c:pt idx="2">
                  <c:v>FY 18</c:v>
                </c:pt>
                <c:pt idx="3">
                  <c:v>FY 19</c:v>
                </c:pt>
                <c:pt idx="4">
                  <c:v>FY 20</c:v>
                </c:pt>
                <c:pt idx="5">
                  <c:v>FY 21</c:v>
                </c:pt>
                <c:pt idx="6">
                  <c:v>FY 22</c:v>
                </c:pt>
              </c:strCache>
            </c:strRef>
          </c:cat>
          <c:val>
            <c:numRef>
              <c:f>Sheet1!$B$2:$B$8</c:f>
              <c:numCache>
                <c:formatCode>0.00%</c:formatCode>
                <c:ptCount val="7"/>
                <c:pt idx="0">
                  <c:v>0.72260000000000002</c:v>
                </c:pt>
                <c:pt idx="1">
                  <c:v>0.7198</c:v>
                </c:pt>
                <c:pt idx="2">
                  <c:v>0.73360000000000003</c:v>
                </c:pt>
                <c:pt idx="3">
                  <c:v>0.77039999999999997</c:v>
                </c:pt>
                <c:pt idx="4">
                  <c:v>0.81430000000000002</c:v>
                </c:pt>
                <c:pt idx="5">
                  <c:v>0.79020000000000001</c:v>
                </c:pt>
                <c:pt idx="6">
                  <c:v>0.84830000000000005</c:v>
                </c:pt>
              </c:numCache>
            </c:numRef>
          </c:val>
          <c:extLst>
            <c:ext xmlns:c16="http://schemas.microsoft.com/office/drawing/2014/chart" uri="{C3380CC4-5D6E-409C-BE32-E72D297353CC}">
              <c16:uniqueId val="{00000000-AB33-4014-A2F1-84816339582E}"/>
            </c:ext>
          </c:extLst>
        </c:ser>
        <c:ser>
          <c:idx val="1"/>
          <c:order val="1"/>
          <c:tx>
            <c:strRef>
              <c:f>Sheet1!$C$1</c:f>
              <c:strCache>
                <c:ptCount val="1"/>
                <c:pt idx="0">
                  <c:v>Collection Efficiency (%)</c:v>
                </c:pt>
              </c:strCache>
            </c:strRef>
          </c:tx>
          <c:spPr>
            <a:solidFill>
              <a:schemeClr val="accent2"/>
            </a:solidFill>
            <a:ln>
              <a:noFill/>
            </a:ln>
            <a:effectLst/>
          </c:spPr>
          <c:invertIfNegative val="0"/>
          <c:dLbls>
            <c:spPr>
              <a:noFill/>
              <a:ln>
                <a:noFill/>
              </a:ln>
              <a:effectLst/>
            </c:spPr>
            <c:txPr>
              <a:bodyPr rot="5400000" spcFirstLastPara="1" vertOverflow="ellipsis"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16</c:v>
                </c:pt>
                <c:pt idx="1">
                  <c:v>FY 17</c:v>
                </c:pt>
                <c:pt idx="2">
                  <c:v>FY 18</c:v>
                </c:pt>
                <c:pt idx="3">
                  <c:v>FY 19</c:v>
                </c:pt>
                <c:pt idx="4">
                  <c:v>FY 20</c:v>
                </c:pt>
                <c:pt idx="5">
                  <c:v>FY 21</c:v>
                </c:pt>
                <c:pt idx="6">
                  <c:v>FY 22</c:v>
                </c:pt>
              </c:strCache>
            </c:strRef>
          </c:cat>
          <c:val>
            <c:numRef>
              <c:f>Sheet1!$C$2:$C$8</c:f>
              <c:numCache>
                <c:formatCode>0.00%</c:formatCode>
                <c:ptCount val="7"/>
                <c:pt idx="0">
                  <c:v>0.9709382784389704</c:v>
                </c:pt>
                <c:pt idx="1">
                  <c:v>0.97082522923034176</c:v>
                </c:pt>
                <c:pt idx="2">
                  <c:v>0.9905917643850557</c:v>
                </c:pt>
                <c:pt idx="3">
                  <c:v>1</c:v>
                </c:pt>
                <c:pt idx="4">
                  <c:v>0.98119999999999996</c:v>
                </c:pt>
                <c:pt idx="5">
                  <c:v>0.99539999999999995</c:v>
                </c:pt>
                <c:pt idx="6">
                  <c:v>0.98250000000000004</c:v>
                </c:pt>
              </c:numCache>
            </c:numRef>
          </c:val>
          <c:extLst>
            <c:ext xmlns:c16="http://schemas.microsoft.com/office/drawing/2014/chart" uri="{C3380CC4-5D6E-409C-BE32-E72D297353CC}">
              <c16:uniqueId val="{00000001-AB33-4014-A2F1-84816339582E}"/>
            </c:ext>
          </c:extLst>
        </c:ser>
        <c:dLbls>
          <c:showLegendKey val="0"/>
          <c:showVal val="0"/>
          <c:showCatName val="0"/>
          <c:showSerName val="0"/>
          <c:showPercent val="0"/>
          <c:showBubbleSize val="0"/>
        </c:dLbls>
        <c:gapWidth val="219"/>
        <c:overlap val="-27"/>
        <c:axId val="1795916080"/>
        <c:axId val="1795924400"/>
      </c:barChart>
      <c:catAx>
        <c:axId val="179591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dk1"/>
                </a:solidFill>
                <a:latin typeface="Calibri" panose="020F0502020204030204" pitchFamily="34" charset="0"/>
                <a:ea typeface="+mn-ea"/>
                <a:cs typeface="Calibri" panose="020F0502020204030204" pitchFamily="34" charset="0"/>
              </a:defRPr>
            </a:pPr>
            <a:endParaRPr lang="en-US"/>
          </a:p>
        </c:txPr>
        <c:crossAx val="1795924400"/>
        <c:crosses val="autoZero"/>
        <c:auto val="1"/>
        <c:lblAlgn val="ctr"/>
        <c:lblOffset val="100"/>
        <c:noMultiLvlLbl val="0"/>
      </c:catAx>
      <c:valAx>
        <c:axId val="1795924400"/>
        <c:scaling>
          <c:orientation val="minMax"/>
          <c:max val="1"/>
        </c:scaling>
        <c:delete val="1"/>
        <c:axPos val="l"/>
        <c:numFmt formatCode="0.00%" sourceLinked="1"/>
        <c:majorTickMark val="none"/>
        <c:minorTickMark val="none"/>
        <c:tickLblPos val="nextTo"/>
        <c:crossAx val="1795916080"/>
        <c:crosses val="autoZero"/>
        <c:crossBetween val="between"/>
      </c:valAx>
      <c:spPr>
        <a:noFill/>
        <a:ln>
          <a:solidFill>
            <a:schemeClr val="bg1"/>
          </a:solidFill>
        </a:ln>
        <a:effectLst/>
      </c:spPr>
    </c:plotArea>
    <c:legend>
      <c:legendPos val="b"/>
      <c:layout>
        <c:manualLayout>
          <c:xMode val="edge"/>
          <c:yMode val="edge"/>
          <c:x val="0"/>
          <c:y val="0.85027215663035949"/>
          <c:w val="0.99948022692823923"/>
          <c:h val="0.1497275651952914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dk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3175" cap="flat" cmpd="sng" algn="ctr">
      <a:solidFill>
        <a:srgbClr val="046A38"/>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8134613842710436E-3"/>
          <c:w val="1"/>
          <c:h val="0.66059137337429563"/>
        </c:manualLayout>
      </c:layout>
      <c:barChart>
        <c:barDir val="col"/>
        <c:grouping val="clustered"/>
        <c:varyColors val="0"/>
        <c:ser>
          <c:idx val="0"/>
          <c:order val="0"/>
          <c:tx>
            <c:strRef>
              <c:f>Sheet1!$B$1</c:f>
              <c:strCache>
                <c:ptCount val="1"/>
                <c:pt idx="0">
                  <c:v>Distribution Loss (%)</c:v>
                </c:pt>
              </c:strCache>
            </c:strRef>
          </c:tx>
          <c:spPr>
            <a:solidFill>
              <a:srgbClr val="0076A8"/>
            </a:solidFill>
            <a:ln>
              <a:noFill/>
            </a:ln>
            <a:effectLst/>
          </c:spPr>
          <c:invertIfNegative val="0"/>
          <c:dLbls>
            <c:spPr>
              <a:noFill/>
              <a:ln>
                <a:noFill/>
              </a:ln>
              <a:effectLst/>
            </c:spPr>
            <c:txPr>
              <a:bodyPr rot="5400000" spcFirstLastPara="1" vertOverflow="ellipsis" wrap="square" anchor="ctr" anchorCtr="1"/>
              <a:lstStyle/>
              <a:p>
                <a:pPr>
                  <a:defRPr sz="12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16</c:v>
                </c:pt>
                <c:pt idx="1">
                  <c:v>FY 17</c:v>
                </c:pt>
                <c:pt idx="2">
                  <c:v>FY 18</c:v>
                </c:pt>
                <c:pt idx="3">
                  <c:v>FY 19</c:v>
                </c:pt>
                <c:pt idx="4">
                  <c:v>FY 20</c:v>
                </c:pt>
                <c:pt idx="5">
                  <c:v>FY 21</c:v>
                </c:pt>
                <c:pt idx="6">
                  <c:v>FY 22</c:v>
                </c:pt>
              </c:strCache>
            </c:strRef>
          </c:cat>
          <c:val>
            <c:numRef>
              <c:f>Sheet1!$B$2:$B$8</c:f>
              <c:numCache>
                <c:formatCode>0.00%</c:formatCode>
                <c:ptCount val="7"/>
                <c:pt idx="0">
                  <c:v>0.27739999999999998</c:v>
                </c:pt>
                <c:pt idx="1">
                  <c:v>0.2802</c:v>
                </c:pt>
                <c:pt idx="2">
                  <c:v>0.2666</c:v>
                </c:pt>
                <c:pt idx="3">
                  <c:v>0.22969999999999999</c:v>
                </c:pt>
                <c:pt idx="4">
                  <c:v>0.18479999999999999</c:v>
                </c:pt>
                <c:pt idx="5">
                  <c:v>0.2089</c:v>
                </c:pt>
              </c:numCache>
            </c:numRef>
          </c:val>
          <c:extLst>
            <c:ext xmlns:c16="http://schemas.microsoft.com/office/drawing/2014/chart" uri="{C3380CC4-5D6E-409C-BE32-E72D297353CC}">
              <c16:uniqueId val="{00000001-9B21-4175-B3C9-6A89441CE571}"/>
            </c:ext>
          </c:extLst>
        </c:ser>
        <c:ser>
          <c:idx val="1"/>
          <c:order val="1"/>
          <c:tx>
            <c:strRef>
              <c:f>Sheet1!$C$1</c:f>
              <c:strCache>
                <c:ptCount val="1"/>
                <c:pt idx="0">
                  <c:v>AT&amp;C Loss (%)</c:v>
                </c:pt>
              </c:strCache>
            </c:strRef>
          </c:tx>
          <c:spPr>
            <a:solidFill>
              <a:schemeClr val="accent2"/>
            </a:solidFill>
            <a:ln>
              <a:noFill/>
            </a:ln>
            <a:effectLst/>
          </c:spPr>
          <c:invertIfNegative val="0"/>
          <c:dLbls>
            <c:spPr>
              <a:noFill/>
              <a:ln>
                <a:noFill/>
              </a:ln>
              <a:effectLst/>
            </c:spPr>
            <c:txPr>
              <a:bodyPr rot="5400000" spcFirstLastPara="1" vertOverflow="ellipsis" wrap="square" anchor="ctr" anchorCtr="1"/>
              <a:lstStyle/>
              <a:p>
                <a:pPr>
                  <a:defRPr sz="12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16</c:v>
                </c:pt>
                <c:pt idx="1">
                  <c:v>FY 17</c:v>
                </c:pt>
                <c:pt idx="2">
                  <c:v>FY 18</c:v>
                </c:pt>
                <c:pt idx="3">
                  <c:v>FY 19</c:v>
                </c:pt>
                <c:pt idx="4">
                  <c:v>FY 20</c:v>
                </c:pt>
                <c:pt idx="5">
                  <c:v>FY 21</c:v>
                </c:pt>
                <c:pt idx="6">
                  <c:v>FY 22</c:v>
                </c:pt>
              </c:strCache>
            </c:strRef>
          </c:cat>
          <c:val>
            <c:numRef>
              <c:f>Sheet1!$C$2:$C$8</c:f>
              <c:numCache>
                <c:formatCode>0.00%</c:formatCode>
                <c:ptCount val="7"/>
                <c:pt idx="0">
                  <c:v>0.2984</c:v>
                </c:pt>
                <c:pt idx="1">
                  <c:v>0.30120000000000002</c:v>
                </c:pt>
                <c:pt idx="2">
                  <c:v>0.27350000000000002</c:v>
                </c:pt>
                <c:pt idx="3">
                  <c:v>0.22969999999999999</c:v>
                </c:pt>
                <c:pt idx="4">
                  <c:v>0.20100000000000001</c:v>
                </c:pt>
                <c:pt idx="5">
                  <c:v>0.2135</c:v>
                </c:pt>
                <c:pt idx="6">
                  <c:v>0.2</c:v>
                </c:pt>
              </c:numCache>
            </c:numRef>
          </c:val>
          <c:extLst>
            <c:ext xmlns:c16="http://schemas.microsoft.com/office/drawing/2014/chart" uri="{C3380CC4-5D6E-409C-BE32-E72D297353CC}">
              <c16:uniqueId val="{00000003-9B21-4175-B3C9-6A89441CE571}"/>
            </c:ext>
          </c:extLst>
        </c:ser>
        <c:dLbls>
          <c:showLegendKey val="0"/>
          <c:showVal val="0"/>
          <c:showCatName val="0"/>
          <c:showSerName val="0"/>
          <c:showPercent val="0"/>
          <c:showBubbleSize val="0"/>
        </c:dLbls>
        <c:gapWidth val="219"/>
        <c:overlap val="-27"/>
        <c:axId val="1795916080"/>
        <c:axId val="1795924400"/>
      </c:barChart>
      <c:catAx>
        <c:axId val="179591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n-US"/>
          </a:p>
        </c:txPr>
        <c:crossAx val="1795924400"/>
        <c:crosses val="autoZero"/>
        <c:auto val="1"/>
        <c:lblAlgn val="ctr"/>
        <c:lblOffset val="100"/>
        <c:noMultiLvlLbl val="0"/>
      </c:catAx>
      <c:valAx>
        <c:axId val="1795924400"/>
        <c:scaling>
          <c:orientation val="minMax"/>
          <c:max val="0.30000000000000004"/>
        </c:scaling>
        <c:delete val="1"/>
        <c:axPos val="l"/>
        <c:numFmt formatCode="0.00%" sourceLinked="1"/>
        <c:majorTickMark val="none"/>
        <c:minorTickMark val="none"/>
        <c:tickLblPos val="nextTo"/>
        <c:crossAx val="1795916080"/>
        <c:crosses val="autoZero"/>
        <c:crossBetween val="between"/>
      </c:valAx>
      <c:spPr>
        <a:noFill/>
        <a:ln>
          <a:noFill/>
        </a:ln>
        <a:effectLst/>
      </c:spPr>
    </c:plotArea>
    <c:legend>
      <c:legendPos val="b"/>
      <c:layout>
        <c:manualLayout>
          <c:xMode val="edge"/>
          <c:yMode val="edge"/>
          <c:x val="6.4641671886868813E-4"/>
          <c:y val="0.81317549529913502"/>
          <c:w val="0.99935358328113133"/>
          <c:h val="0.1586379905477348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dk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3175" cap="flat" cmpd="sng" algn="ctr">
      <a:solidFill>
        <a:srgbClr val="046A38"/>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'FY 2021-22'!$C$3</c:f>
              <c:strCache>
                <c:ptCount val="1"/>
                <c:pt idx="0">
                  <c:v>Energy Supplied (MU)</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2021-22'!$C$4:$C$40</c:f>
            </c:numRef>
          </c:val>
          <c:extLst>
            <c:ext xmlns:c16="http://schemas.microsoft.com/office/drawing/2014/chart" uri="{C3380CC4-5D6E-409C-BE32-E72D297353CC}">
              <c16:uniqueId val="{00000000-7A1C-4A29-BCE2-8E576263607A}"/>
            </c:ext>
          </c:extLst>
        </c:ser>
        <c:ser>
          <c:idx val="1"/>
          <c:order val="1"/>
          <c:tx>
            <c:strRef>
              <c:f>'FY 2021-22'!$D$3</c:f>
              <c:strCache>
                <c:ptCount val="1"/>
                <c:pt idx="0">
                  <c:v>Hydro (MU)</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2021-22'!$D$4:$D$40</c:f>
            </c:numRef>
          </c:val>
          <c:extLst>
            <c:ext xmlns:c16="http://schemas.microsoft.com/office/drawing/2014/chart" uri="{C3380CC4-5D6E-409C-BE32-E72D297353CC}">
              <c16:uniqueId val="{00000001-7A1C-4A29-BCE2-8E576263607A}"/>
            </c:ext>
          </c:extLst>
        </c:ser>
        <c:ser>
          <c:idx val="2"/>
          <c:order val="2"/>
          <c:tx>
            <c:strRef>
              <c:f>'FY 2021-22'!$E$3</c:f>
              <c:strCache>
                <c:ptCount val="1"/>
                <c:pt idx="0">
                  <c:v>Energy Supplied excl. Hydro (MU)</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2021-22'!$E$4:$E$40</c:f>
            </c:numRef>
          </c:val>
          <c:extLst>
            <c:ext xmlns:c16="http://schemas.microsoft.com/office/drawing/2014/chart" uri="{C3380CC4-5D6E-409C-BE32-E72D297353CC}">
              <c16:uniqueId val="{00000002-7A1C-4A29-BCE2-8E576263607A}"/>
            </c:ext>
          </c:extLst>
        </c:ser>
        <c:ser>
          <c:idx val="3"/>
          <c:order val="3"/>
          <c:tx>
            <c:strRef>
              <c:f>'FY 2021-22'!$F$3</c:f>
              <c:strCache>
                <c:ptCount val="1"/>
                <c:pt idx="0">
                  <c:v>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2021-22'!$F$4:$F$40</c:f>
            </c:numRef>
          </c:val>
          <c:extLst>
            <c:ext xmlns:c16="http://schemas.microsoft.com/office/drawing/2014/chart" uri="{C3380CC4-5D6E-409C-BE32-E72D297353CC}">
              <c16:uniqueId val="{00000003-7A1C-4A29-BCE2-8E576263607A}"/>
            </c:ext>
          </c:extLst>
        </c:ser>
        <c:ser>
          <c:idx val="4"/>
          <c:order val="4"/>
          <c:tx>
            <c:strRef>
              <c:f>'FY 2021-22'!$G$3</c:f>
              <c:strCache>
                <c:ptCount val="1"/>
                <c:pt idx="0">
                  <c:v>HPO</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2021-22'!$G$4:$G$40</c:f>
            </c:numRef>
          </c:val>
          <c:extLst>
            <c:ext xmlns:c16="http://schemas.microsoft.com/office/drawing/2014/chart" uri="{C3380CC4-5D6E-409C-BE32-E72D297353CC}">
              <c16:uniqueId val="{00000004-7A1C-4A29-BCE2-8E576263607A}"/>
            </c:ext>
          </c:extLst>
        </c:ser>
        <c:ser>
          <c:idx val="5"/>
          <c:order val="5"/>
          <c:tx>
            <c:strRef>
              <c:f>'FY 2021-22'!$H$3</c:f>
              <c:strCache>
                <c:ptCount val="1"/>
                <c:pt idx="0">
                  <c:v>Other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2021-22'!$H$4:$H$40</c:f>
            </c:numRef>
          </c:val>
          <c:extLst>
            <c:ext xmlns:c16="http://schemas.microsoft.com/office/drawing/2014/chart" uri="{C3380CC4-5D6E-409C-BE32-E72D297353CC}">
              <c16:uniqueId val="{00000005-7A1C-4A29-BCE2-8E576263607A}"/>
            </c:ext>
          </c:extLst>
        </c:ser>
        <c:ser>
          <c:idx val="6"/>
          <c:order val="6"/>
          <c:tx>
            <c:strRef>
              <c:f>'FY 2021-22'!$I$3</c:f>
              <c:strCache>
                <c:ptCount val="1"/>
                <c:pt idx="0">
                  <c:v>Total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2021-22'!$I$4:$I$40</c:f>
            </c:numRef>
          </c:val>
          <c:extLst>
            <c:ext xmlns:c16="http://schemas.microsoft.com/office/drawing/2014/chart" uri="{C3380CC4-5D6E-409C-BE32-E72D297353CC}">
              <c16:uniqueId val="{00000006-7A1C-4A29-BCE2-8E576263607A}"/>
            </c:ext>
          </c:extLst>
        </c:ser>
        <c:ser>
          <c:idx val="7"/>
          <c:order val="7"/>
          <c:tx>
            <c:strRef>
              <c:f>'FY 2021-22'!$J$3</c:f>
              <c:strCache>
                <c:ptCount val="1"/>
                <c:pt idx="0">
                  <c:v>Total</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2021-22'!$J$4:$J$40</c:f>
            </c:numRef>
          </c:val>
          <c:extLst>
            <c:ext xmlns:c16="http://schemas.microsoft.com/office/drawing/2014/chart" uri="{C3380CC4-5D6E-409C-BE32-E72D297353CC}">
              <c16:uniqueId val="{00000007-7A1C-4A29-BCE2-8E576263607A}"/>
            </c:ext>
          </c:extLst>
        </c:ser>
        <c:ser>
          <c:idx val="8"/>
          <c:order val="8"/>
          <c:tx>
            <c:strRef>
              <c:f>'FY 2021-22'!$K$3</c:f>
              <c:strCache>
                <c:ptCount val="1"/>
                <c:pt idx="0">
                  <c:v>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2021-22'!$K$4:$K$40</c:f>
            </c:numRef>
          </c:val>
          <c:extLst>
            <c:ext xmlns:c16="http://schemas.microsoft.com/office/drawing/2014/chart" uri="{C3380CC4-5D6E-409C-BE32-E72D297353CC}">
              <c16:uniqueId val="{00000008-7A1C-4A29-BCE2-8E576263607A}"/>
            </c:ext>
          </c:extLst>
        </c:ser>
        <c:ser>
          <c:idx val="9"/>
          <c:order val="9"/>
          <c:tx>
            <c:strRef>
              <c:f>'FY 2021-22'!$L$3</c:f>
              <c:strCache>
                <c:ptCount val="1"/>
                <c:pt idx="0">
                  <c:v>HPO</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2021-22'!$L$4:$L$40</c:f>
            </c:numRef>
          </c:val>
          <c:extLst>
            <c:ext xmlns:c16="http://schemas.microsoft.com/office/drawing/2014/chart" uri="{C3380CC4-5D6E-409C-BE32-E72D297353CC}">
              <c16:uniqueId val="{00000009-7A1C-4A29-BCE2-8E576263607A}"/>
            </c:ext>
          </c:extLst>
        </c:ser>
        <c:ser>
          <c:idx val="10"/>
          <c:order val="10"/>
          <c:tx>
            <c:strRef>
              <c:f>'FY 2021-22'!$M$3</c:f>
              <c:strCache>
                <c:ptCount val="1"/>
                <c:pt idx="0">
                  <c:v>Other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2021-22'!$M$4:$M$40</c:f>
            </c:numRef>
          </c:val>
          <c:extLst>
            <c:ext xmlns:c16="http://schemas.microsoft.com/office/drawing/2014/chart" uri="{C3380CC4-5D6E-409C-BE32-E72D297353CC}">
              <c16:uniqueId val="{0000000A-7A1C-4A29-BCE2-8E576263607A}"/>
            </c:ext>
          </c:extLst>
        </c:ser>
        <c:ser>
          <c:idx val="11"/>
          <c:order val="11"/>
          <c:tx>
            <c:strRef>
              <c:f>'FY 2021-22'!$N$3</c:f>
              <c:strCache>
                <c:ptCount val="1"/>
                <c:pt idx="0">
                  <c:v>Total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2021-22'!$N$4:$N$40</c:f>
            </c:numRef>
          </c:val>
          <c:extLst>
            <c:ext xmlns:c16="http://schemas.microsoft.com/office/drawing/2014/chart" uri="{C3380CC4-5D6E-409C-BE32-E72D297353CC}">
              <c16:uniqueId val="{0000000B-7A1C-4A29-BCE2-8E576263607A}"/>
            </c:ext>
          </c:extLst>
        </c:ser>
        <c:ser>
          <c:idx val="12"/>
          <c:order val="12"/>
          <c:tx>
            <c:strRef>
              <c:f>'FY 2021-22'!$O$3</c:f>
              <c:strCache>
                <c:ptCount val="1"/>
                <c:pt idx="0">
                  <c:v>Total</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2021-22'!$O$4:$O$40</c:f>
            </c:numRef>
          </c:val>
          <c:extLst>
            <c:ext xmlns:c16="http://schemas.microsoft.com/office/drawing/2014/chart" uri="{C3380CC4-5D6E-409C-BE32-E72D297353CC}">
              <c16:uniqueId val="{0000000C-7A1C-4A29-BCE2-8E576263607A}"/>
            </c:ext>
          </c:extLst>
        </c:ser>
        <c:ser>
          <c:idx val="13"/>
          <c:order val="13"/>
          <c:tx>
            <c:strRef>
              <c:f>'FY 2021-22'!$P$3</c:f>
              <c:strCache>
                <c:ptCount val="1"/>
                <c:pt idx="0">
                  <c:v>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2021-22'!$P$4:$P$40</c:f>
            </c:numRef>
          </c:val>
          <c:extLst>
            <c:ext xmlns:c16="http://schemas.microsoft.com/office/drawing/2014/chart" uri="{C3380CC4-5D6E-409C-BE32-E72D297353CC}">
              <c16:uniqueId val="{0000000D-7A1C-4A29-BCE2-8E576263607A}"/>
            </c:ext>
          </c:extLst>
        </c:ser>
        <c:ser>
          <c:idx val="14"/>
          <c:order val="14"/>
          <c:tx>
            <c:strRef>
              <c:f>'FY 2021-22'!$Q$3</c:f>
              <c:strCache>
                <c:ptCount val="1"/>
                <c:pt idx="0">
                  <c:v>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2021-22'!$Q$4:$Q$40</c:f>
            </c:numRef>
          </c:val>
          <c:extLst>
            <c:ext xmlns:c16="http://schemas.microsoft.com/office/drawing/2014/chart" uri="{C3380CC4-5D6E-409C-BE32-E72D297353CC}">
              <c16:uniqueId val="{0000000E-7A1C-4A29-BCE2-8E576263607A}"/>
            </c:ext>
          </c:extLst>
        </c:ser>
        <c:ser>
          <c:idx val="15"/>
          <c:order val="15"/>
          <c:tx>
            <c:strRef>
              <c:f>'FY 2021-22'!$R$3</c:f>
              <c:strCache>
                <c:ptCount val="1"/>
                <c:pt idx="0">
                  <c:v>Total (MU)</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2021-22'!$R$4:$R$40</c:f>
            </c:numRef>
          </c:val>
          <c:extLst>
            <c:ext xmlns:c16="http://schemas.microsoft.com/office/drawing/2014/chart" uri="{C3380CC4-5D6E-409C-BE32-E72D297353CC}">
              <c16:uniqueId val="{0000000F-7A1C-4A29-BCE2-8E576263607A}"/>
            </c:ext>
          </c:extLst>
        </c:ser>
        <c:ser>
          <c:idx val="16"/>
          <c:order val="16"/>
          <c:tx>
            <c:strRef>
              <c:f>'FY 2021-22'!$S$3</c:f>
              <c:strCache>
                <c:ptCount val="1"/>
                <c:pt idx="0">
                  <c:v>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2021-22'!$S$4:$S$40</c:f>
            </c:numRef>
          </c:val>
          <c:extLst>
            <c:ext xmlns:c16="http://schemas.microsoft.com/office/drawing/2014/chart" uri="{C3380CC4-5D6E-409C-BE32-E72D297353CC}">
              <c16:uniqueId val="{00000010-7A1C-4A29-BCE2-8E576263607A}"/>
            </c:ext>
          </c:extLst>
        </c:ser>
        <c:ser>
          <c:idx val="17"/>
          <c:order val="17"/>
          <c:tx>
            <c:strRef>
              <c:f>'FY 2021-22'!$T$3</c:f>
              <c:strCache>
                <c:ptCount val="1"/>
                <c:pt idx="0">
                  <c:v>HPO</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2021-22'!$T$4:$T$40</c:f>
            </c:numRef>
          </c:val>
          <c:extLst>
            <c:ext xmlns:c16="http://schemas.microsoft.com/office/drawing/2014/chart" uri="{C3380CC4-5D6E-409C-BE32-E72D297353CC}">
              <c16:uniqueId val="{00000011-7A1C-4A29-BCE2-8E576263607A}"/>
            </c:ext>
          </c:extLst>
        </c:ser>
        <c:ser>
          <c:idx val="18"/>
          <c:order val="18"/>
          <c:tx>
            <c:strRef>
              <c:f>'FY 2021-22'!$U$3</c:f>
              <c:strCache>
                <c:ptCount val="1"/>
                <c:pt idx="0">
                  <c:v>Other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2021-22'!$U$4:$U$40</c:f>
            </c:numRef>
          </c:val>
          <c:extLst>
            <c:ext xmlns:c16="http://schemas.microsoft.com/office/drawing/2014/chart" uri="{C3380CC4-5D6E-409C-BE32-E72D297353CC}">
              <c16:uniqueId val="{00000012-7A1C-4A29-BCE2-8E576263607A}"/>
            </c:ext>
          </c:extLst>
        </c:ser>
        <c:ser>
          <c:idx val="19"/>
          <c:order val="19"/>
          <c:tx>
            <c:strRef>
              <c:f>'FY 2021-22'!$V$3</c:f>
              <c:strCache>
                <c:ptCount val="1"/>
                <c:pt idx="0">
                  <c:v>Total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2021-22'!$V$4:$V$40</c:f>
            </c:numRef>
          </c:val>
          <c:extLst>
            <c:ext xmlns:c16="http://schemas.microsoft.com/office/drawing/2014/chart" uri="{C3380CC4-5D6E-409C-BE32-E72D297353CC}">
              <c16:uniqueId val="{00000013-7A1C-4A29-BCE2-8E576263607A}"/>
            </c:ext>
          </c:extLst>
        </c:ser>
        <c:ser>
          <c:idx val="20"/>
          <c:order val="20"/>
          <c:tx>
            <c:strRef>
              <c:f>'FY 2021-22'!$W$3</c:f>
              <c:strCache>
                <c:ptCount val="1"/>
                <c:pt idx="0">
                  <c:v>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2021-22'!$W$4:$W$40</c:f>
            </c:numRef>
          </c:val>
          <c:extLst>
            <c:ext xmlns:c16="http://schemas.microsoft.com/office/drawing/2014/chart" uri="{C3380CC4-5D6E-409C-BE32-E72D297353CC}">
              <c16:uniqueId val="{00000014-7A1C-4A29-BCE2-8E576263607A}"/>
            </c:ext>
          </c:extLst>
        </c:ser>
        <c:ser>
          <c:idx val="21"/>
          <c:order val="21"/>
          <c:tx>
            <c:strRef>
              <c:f>'FY 2021-22'!$X$3</c:f>
              <c:strCache>
                <c:ptCount val="1"/>
                <c:pt idx="0">
                  <c:v>HPO</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2021-22'!$X$4:$X$40</c:f>
            </c:numRef>
          </c:val>
          <c:extLst>
            <c:ext xmlns:c16="http://schemas.microsoft.com/office/drawing/2014/chart" uri="{C3380CC4-5D6E-409C-BE32-E72D297353CC}">
              <c16:uniqueId val="{00000015-7A1C-4A29-BCE2-8E576263607A}"/>
            </c:ext>
          </c:extLst>
        </c:ser>
        <c:ser>
          <c:idx val="22"/>
          <c:order val="22"/>
          <c:tx>
            <c:strRef>
              <c:f>'FY 2021-22'!$Y$3</c:f>
              <c:strCache>
                <c:ptCount val="1"/>
                <c:pt idx="0">
                  <c:v>Other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2021-22'!$Y$4:$Y$40</c:f>
            </c:numRef>
          </c:val>
          <c:extLst>
            <c:ext xmlns:c16="http://schemas.microsoft.com/office/drawing/2014/chart" uri="{C3380CC4-5D6E-409C-BE32-E72D297353CC}">
              <c16:uniqueId val="{00000016-7A1C-4A29-BCE2-8E576263607A}"/>
            </c:ext>
          </c:extLst>
        </c:ser>
        <c:ser>
          <c:idx val="23"/>
          <c:order val="23"/>
          <c:tx>
            <c:strRef>
              <c:f>'FY 2021-22'!$Z$3</c:f>
              <c:strCache>
                <c:ptCount val="1"/>
                <c:pt idx="0">
                  <c:v>Total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2021-22'!$Z$4:$Z$40</c:f>
            </c:numRef>
          </c:val>
          <c:extLst>
            <c:ext xmlns:c16="http://schemas.microsoft.com/office/drawing/2014/chart" uri="{C3380CC4-5D6E-409C-BE32-E72D297353CC}">
              <c16:uniqueId val="{00000017-7A1C-4A29-BCE2-8E576263607A}"/>
            </c:ext>
          </c:extLst>
        </c:ser>
        <c:ser>
          <c:idx val="24"/>
          <c:order val="24"/>
          <c:tx>
            <c:strRef>
              <c:f>'FY 2021-22'!$AA$3</c:f>
              <c:strCache>
                <c:ptCount val="1"/>
                <c:pt idx="0">
                  <c:v>Total RE Generation</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2021-22'!$AA$4:$AA$40</c:f>
            </c:numRef>
          </c:val>
          <c:extLst>
            <c:ext xmlns:c16="http://schemas.microsoft.com/office/drawing/2014/chart" uri="{C3380CC4-5D6E-409C-BE32-E72D297353CC}">
              <c16:uniqueId val="{00000018-7A1C-4A29-BCE2-8E576263607A}"/>
            </c:ext>
          </c:extLst>
        </c:ser>
        <c:ser>
          <c:idx val="25"/>
          <c:order val="25"/>
          <c:tx>
            <c:strRef>
              <c:f>'FY 2021-22'!$AB$3</c:f>
              <c:strCache>
                <c:ptCount val="1"/>
                <c:pt idx="0">
                  <c:v>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2021-22'!$AB$4:$AB$40</c:f>
            </c:numRef>
          </c:val>
          <c:extLst>
            <c:ext xmlns:c16="http://schemas.microsoft.com/office/drawing/2014/chart" uri="{C3380CC4-5D6E-409C-BE32-E72D297353CC}">
              <c16:uniqueId val="{00000019-7A1C-4A29-BCE2-8E576263607A}"/>
            </c:ext>
          </c:extLst>
        </c:ser>
        <c:ser>
          <c:idx val="26"/>
          <c:order val="26"/>
          <c:tx>
            <c:strRef>
              <c:f>'FY 2021-22'!$AC$3</c:f>
              <c:strCache>
                <c:ptCount val="1"/>
                <c:pt idx="0">
                  <c:v>HPO</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2021-22'!$AC$4:$AC$40</c:f>
            </c:numRef>
          </c:val>
          <c:extLst>
            <c:ext xmlns:c16="http://schemas.microsoft.com/office/drawing/2014/chart" uri="{C3380CC4-5D6E-409C-BE32-E72D297353CC}">
              <c16:uniqueId val="{0000001A-7A1C-4A29-BCE2-8E576263607A}"/>
            </c:ext>
          </c:extLst>
        </c:ser>
        <c:ser>
          <c:idx val="27"/>
          <c:order val="27"/>
          <c:tx>
            <c:strRef>
              <c:f>'FY 2021-22'!$AD$3</c:f>
              <c:strCache>
                <c:ptCount val="1"/>
                <c:pt idx="0">
                  <c:v>Other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2021-22'!$AD$4:$AD$40</c:f>
            </c:numRef>
          </c:val>
          <c:extLst>
            <c:ext xmlns:c16="http://schemas.microsoft.com/office/drawing/2014/chart" uri="{C3380CC4-5D6E-409C-BE32-E72D297353CC}">
              <c16:uniqueId val="{0000001B-7A1C-4A29-BCE2-8E576263607A}"/>
            </c:ext>
          </c:extLst>
        </c:ser>
        <c:ser>
          <c:idx val="28"/>
          <c:order val="28"/>
          <c:tx>
            <c:strRef>
              <c:f>'FY 2021-22'!$AE$3</c:f>
              <c:strCache>
                <c:ptCount val="1"/>
                <c:pt idx="0">
                  <c:v>Total Non-solar</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2021-22'!$AE$4:$AE$40</c:f>
            </c:numRef>
          </c:val>
          <c:extLst>
            <c:ext xmlns:c16="http://schemas.microsoft.com/office/drawing/2014/chart" uri="{C3380CC4-5D6E-409C-BE32-E72D297353CC}">
              <c16:uniqueId val="{0000001C-7A1C-4A29-BCE2-8E576263607A}"/>
            </c:ext>
          </c:extLst>
        </c:ser>
        <c:ser>
          <c:idx val="29"/>
          <c:order val="29"/>
          <c:tx>
            <c:strRef>
              <c:f>'FY 2021-22'!$AF$3</c:f>
              <c:strCache>
                <c:ptCount val="1"/>
                <c:pt idx="0">
                  <c:v>Total RE</c:v>
                </c:pt>
              </c:strCache>
            </c:strRef>
          </c:tx>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2021-22'!$AF$4:$AF$40</c:f>
            </c:numRef>
          </c:val>
          <c:extLst>
            <c:ext xmlns:c16="http://schemas.microsoft.com/office/drawing/2014/chart" uri="{C3380CC4-5D6E-409C-BE32-E72D297353CC}">
              <c16:uniqueId val="{0000001D-7A1C-4A29-BCE2-8E576263607A}"/>
            </c:ext>
          </c:extLst>
        </c:ser>
        <c:ser>
          <c:idx val="30"/>
          <c:order val="30"/>
          <c:tx>
            <c:strRef>
              <c:f>'FY 2021-22'!$AG$3</c:f>
              <c:strCache>
                <c:ptCount val="1"/>
                <c:pt idx="0">
                  <c:v>Actual RPO Achieved (%)</c:v>
                </c:pt>
              </c:strCache>
            </c:strRef>
          </c:tx>
          <c:spPr>
            <a:solidFill>
              <a:schemeClr val="accent1">
                <a:lumMod val="75000"/>
              </a:schemeClr>
            </a:solidFill>
          </c:spPr>
          <c:invertIfNegative val="0"/>
          <c:cat>
            <c:strRef>
              <c:f>'FY 2021-22'!$B$4:$B$40</c:f>
              <c:strCache>
                <c:ptCount val="37"/>
                <c:pt idx="0">
                  <c:v>Karnataka</c:v>
                </c:pt>
                <c:pt idx="1">
                  <c:v>Andhra Pradesh</c:v>
                </c:pt>
                <c:pt idx="2">
                  <c:v>Rajasthan</c:v>
                </c:pt>
                <c:pt idx="3">
                  <c:v>Himachal Pradesh</c:v>
                </c:pt>
                <c:pt idx="4">
                  <c:v>Tamil Nadu</c:v>
                </c:pt>
                <c:pt idx="5">
                  <c:v>Odisha</c:v>
                </c:pt>
                <c:pt idx="6">
                  <c:v>Gujarat</c:v>
                </c:pt>
                <c:pt idx="7">
                  <c:v>Mizoram</c:v>
                </c:pt>
                <c:pt idx="8">
                  <c:v>Nagaland</c:v>
                </c:pt>
                <c:pt idx="9">
                  <c:v>Jharkhand</c:v>
                </c:pt>
                <c:pt idx="10">
                  <c:v>Chhattisgarh</c:v>
                </c:pt>
                <c:pt idx="11">
                  <c:v>Andaman &amp; Nicobar</c:v>
                </c:pt>
                <c:pt idx="12">
                  <c:v>Madhya Pradesh</c:v>
                </c:pt>
                <c:pt idx="13">
                  <c:v>Telangana</c:v>
                </c:pt>
                <c:pt idx="14">
                  <c:v>Assam</c:v>
                </c:pt>
                <c:pt idx="15">
                  <c:v>Arunachal Pradesh</c:v>
                </c:pt>
                <c:pt idx="16">
                  <c:v>Meghalaya</c:v>
                </c:pt>
                <c:pt idx="17">
                  <c:v>Chandigarh</c:v>
                </c:pt>
                <c:pt idx="18">
                  <c:v>Kerala</c:v>
                </c:pt>
                <c:pt idx="19">
                  <c:v>Bihar</c:v>
                </c:pt>
                <c:pt idx="20">
                  <c:v>Maharashtra</c:v>
                </c:pt>
                <c:pt idx="21">
                  <c:v>Goa</c:v>
                </c:pt>
                <c:pt idx="22">
                  <c:v>Uttar Pradesh</c:v>
                </c:pt>
                <c:pt idx="23">
                  <c:v>Uttarakhand</c:v>
                </c:pt>
                <c:pt idx="24">
                  <c:v>Delhi</c:v>
                </c:pt>
                <c:pt idx="25">
                  <c:v>Punjab</c:v>
                </c:pt>
                <c:pt idx="26">
                  <c:v>West Bengal</c:v>
                </c:pt>
                <c:pt idx="27">
                  <c:v>Sikkim</c:v>
                </c:pt>
                <c:pt idx="28">
                  <c:v>Haryana</c:v>
                </c:pt>
                <c:pt idx="29">
                  <c:v>DVC</c:v>
                </c:pt>
                <c:pt idx="30">
                  <c:v>Jammu &amp; Kashmir&amp; Ladakh (UT)</c:v>
                </c:pt>
                <c:pt idx="31">
                  <c:v>Manipur</c:v>
                </c:pt>
                <c:pt idx="32">
                  <c:v>Dadra &amp; Nagar Naveli</c:v>
                </c:pt>
                <c:pt idx="33">
                  <c:v>Tripura</c:v>
                </c:pt>
                <c:pt idx="34">
                  <c:v>Lakshadweep</c:v>
                </c:pt>
                <c:pt idx="35">
                  <c:v>Daman &amp; Diu</c:v>
                </c:pt>
                <c:pt idx="36">
                  <c:v>Puducherry</c:v>
                </c:pt>
              </c:strCache>
            </c:strRef>
          </c:cat>
          <c:val>
            <c:numRef>
              <c:f>'FY 2021-22'!$AG$4:$AG$40</c:f>
              <c:numCache>
                <c:formatCode>0.0%</c:formatCode>
                <c:ptCount val="37"/>
                <c:pt idx="0">
                  <c:v>0.53105376118940961</c:v>
                </c:pt>
                <c:pt idx="1">
                  <c:v>0.28544503991190612</c:v>
                </c:pt>
                <c:pt idx="2">
                  <c:v>0.24605435059369415</c:v>
                </c:pt>
                <c:pt idx="3">
                  <c:v>0.24375226365233693</c:v>
                </c:pt>
                <c:pt idx="4">
                  <c:v>0.22496475053790527</c:v>
                </c:pt>
                <c:pt idx="5">
                  <c:v>0.20204699023683195</c:v>
                </c:pt>
                <c:pt idx="6">
                  <c:v>0.19660739113030568</c:v>
                </c:pt>
                <c:pt idx="7">
                  <c:v>0.18758211110188244</c:v>
                </c:pt>
                <c:pt idx="8">
                  <c:v>0.1532718557073762</c:v>
                </c:pt>
                <c:pt idx="9">
                  <c:v>0.13858229393526597</c:v>
                </c:pt>
                <c:pt idx="10">
                  <c:v>0.13623108515700005</c:v>
                </c:pt>
                <c:pt idx="11">
                  <c:v>0.13037781481481481</c:v>
                </c:pt>
                <c:pt idx="12">
                  <c:v>0.12710126616897746</c:v>
                </c:pt>
                <c:pt idx="13">
                  <c:v>0.11491845984142159</c:v>
                </c:pt>
                <c:pt idx="14">
                  <c:v>9.8717760123285064E-2</c:v>
                </c:pt>
                <c:pt idx="15">
                  <c:v>9.594931915110777E-2</c:v>
                </c:pt>
                <c:pt idx="16">
                  <c:v>9.5902848313540665E-2</c:v>
                </c:pt>
                <c:pt idx="17">
                  <c:v>9.2974958353428033E-2</c:v>
                </c:pt>
                <c:pt idx="18">
                  <c:v>8.9558661989550162E-2</c:v>
                </c:pt>
                <c:pt idx="19">
                  <c:v>8.5768039414164068E-2</c:v>
                </c:pt>
                <c:pt idx="20">
                  <c:v>8.2326681712529298E-2</c:v>
                </c:pt>
                <c:pt idx="21">
                  <c:v>7.836220867315373E-2</c:v>
                </c:pt>
                <c:pt idx="22">
                  <c:v>7.4795125910426363E-2</c:v>
                </c:pt>
                <c:pt idx="23">
                  <c:v>7.4011850580809127E-2</c:v>
                </c:pt>
                <c:pt idx="24">
                  <c:v>6.0307249029455973E-2</c:v>
                </c:pt>
                <c:pt idx="25">
                  <c:v>5.5515893173253165E-2</c:v>
                </c:pt>
                <c:pt idx="26">
                  <c:v>5.2178958904930753E-2</c:v>
                </c:pt>
                <c:pt idx="27">
                  <c:v>3.8924606769406414E-2</c:v>
                </c:pt>
                <c:pt idx="28">
                  <c:v>3.655428986711351E-2</c:v>
                </c:pt>
                <c:pt idx="29">
                  <c:v>3.3149091753459266E-2</c:v>
                </c:pt>
                <c:pt idx="30">
                  <c:v>2.1487770864163834E-2</c:v>
                </c:pt>
                <c:pt idx="31">
                  <c:v>1.3955979469798289E-2</c:v>
                </c:pt>
                <c:pt idx="32">
                  <c:v>8.8889736990130745E-3</c:v>
                </c:pt>
                <c:pt idx="33">
                  <c:v>6.8543033475663463E-3</c:v>
                </c:pt>
                <c:pt idx="34">
                  <c:v>5.1948518518518515E-3</c:v>
                </c:pt>
                <c:pt idx="35">
                  <c:v>3.7776277561790339E-3</c:v>
                </c:pt>
                <c:pt idx="36">
                  <c:v>3.5359116022099448E-3</c:v>
                </c:pt>
              </c:numCache>
            </c:numRef>
          </c:val>
          <c:extLst>
            <c:ext xmlns:c16="http://schemas.microsoft.com/office/drawing/2014/chart" uri="{C3380CC4-5D6E-409C-BE32-E72D297353CC}">
              <c16:uniqueId val="{0000001E-7A1C-4A29-BCE2-8E576263607A}"/>
            </c:ext>
          </c:extLst>
        </c:ser>
        <c:dLbls>
          <c:showLegendKey val="0"/>
          <c:showVal val="0"/>
          <c:showCatName val="0"/>
          <c:showSerName val="0"/>
          <c:showPercent val="0"/>
          <c:showBubbleSize val="0"/>
        </c:dLbls>
        <c:gapWidth val="150"/>
        <c:overlap val="100"/>
        <c:axId val="346208408"/>
        <c:axId val="346225184"/>
      </c:barChart>
      <c:catAx>
        <c:axId val="346208408"/>
        <c:scaling>
          <c:orientation val="minMax"/>
        </c:scaling>
        <c:delete val="0"/>
        <c:axPos val="b"/>
        <c:numFmt formatCode="General" sourceLinked="0"/>
        <c:majorTickMark val="out"/>
        <c:minorTickMark val="none"/>
        <c:tickLblPos val="nextTo"/>
        <c:crossAx val="346225184"/>
        <c:crosses val="autoZero"/>
        <c:auto val="1"/>
        <c:lblAlgn val="ctr"/>
        <c:lblOffset val="100"/>
        <c:noMultiLvlLbl val="0"/>
      </c:catAx>
      <c:valAx>
        <c:axId val="346225184"/>
        <c:scaling>
          <c:orientation val="minMax"/>
        </c:scaling>
        <c:delete val="0"/>
        <c:axPos val="l"/>
        <c:majorGridlines/>
        <c:numFmt formatCode="0.0%" sourceLinked="1"/>
        <c:majorTickMark val="out"/>
        <c:minorTickMark val="none"/>
        <c:tickLblPos val="nextTo"/>
        <c:crossAx val="346208408"/>
        <c:crosses val="autoZero"/>
        <c:crossBetween val="between"/>
      </c:valAx>
    </c:plotArea>
    <c:plotVisOnly val="1"/>
    <c:dispBlanksAs val="gap"/>
    <c:showDLblsOverMax val="0"/>
  </c:chart>
  <c:externalData r:id="rId1">
    <c:autoUpdate val="0"/>
  </c:externalData>
  <c:userShapes r:id="rId2"/>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dirty="0"/>
              <a:t>RE Potential vs Installed Capacity as on January 2022 (in MW)</a:t>
            </a:r>
          </a:p>
        </c:rich>
      </c:tx>
      <c:layout>
        <c:manualLayout>
          <c:xMode val="edge"/>
          <c:yMode val="edge"/>
          <c:x val="0.16559623708843152"/>
          <c:y val="0"/>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Potential</c:v>
                </c:pt>
              </c:strCache>
            </c:strRef>
          </c:tx>
          <c:spPr>
            <a:solidFill>
              <a:srgbClr val="0D8390"/>
            </a:solidFill>
            <a:ln>
              <a:noFill/>
            </a:ln>
            <a:effectLst/>
          </c:spPr>
          <c:invertIfNegative val="0"/>
          <c:dLbls>
            <c:dLbl>
              <c:idx val="5"/>
              <c:tx>
                <c:rich>
                  <a:bodyPr/>
                  <a:lstStyle/>
                  <a:p>
                    <a:fld id="{64A16B9E-68A3-41C0-8DF4-6A07ED7B9F68}" type="VALUE">
                      <a:rPr lang="en-US" b="1"/>
                      <a:pPr/>
                      <a:t>[VALUE]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EC30-47C1-A2FE-198E13C328BE}"/>
                </c:ext>
              </c:extLst>
            </c:dLbl>
            <c:numFmt formatCode="#,##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Solar</c:v>
                </c:pt>
                <c:pt idx="1">
                  <c:v>Bio-Mass</c:v>
                </c:pt>
                <c:pt idx="2">
                  <c:v>Waste to Energy</c:v>
                </c:pt>
                <c:pt idx="3">
                  <c:v>Small Hydro Power</c:v>
                </c:pt>
                <c:pt idx="4">
                  <c:v>Wind</c:v>
                </c:pt>
                <c:pt idx="5">
                  <c:v>Total</c:v>
                </c:pt>
              </c:strCache>
            </c:strRef>
          </c:cat>
          <c:val>
            <c:numRef>
              <c:f>Sheet1!$B$2:$B$7</c:f>
              <c:numCache>
                <c:formatCode>General</c:formatCode>
                <c:ptCount val="6"/>
                <c:pt idx="0">
                  <c:v>6260</c:v>
                </c:pt>
                <c:pt idx="1">
                  <c:v>396</c:v>
                </c:pt>
                <c:pt idx="2">
                  <c:v>148</c:v>
                </c:pt>
                <c:pt idx="3">
                  <c:v>392.06</c:v>
                </c:pt>
                <c:pt idx="4">
                  <c:v>2</c:v>
                </c:pt>
                <c:pt idx="5">
                  <c:v>7198.06</c:v>
                </c:pt>
              </c:numCache>
            </c:numRef>
          </c:val>
          <c:extLst>
            <c:ext xmlns:c16="http://schemas.microsoft.com/office/drawing/2014/chart" uri="{C3380CC4-5D6E-409C-BE32-E72D297353CC}">
              <c16:uniqueId val="{00000001-EC30-47C1-A2FE-198E13C328BE}"/>
            </c:ext>
          </c:extLst>
        </c:ser>
        <c:ser>
          <c:idx val="1"/>
          <c:order val="1"/>
          <c:tx>
            <c:strRef>
              <c:f>Sheet1!$C$1</c:f>
              <c:strCache>
                <c:ptCount val="1"/>
                <c:pt idx="0">
                  <c:v>Actual Installed Capacity</c:v>
                </c:pt>
              </c:strCache>
            </c:strRef>
          </c:tx>
          <c:spPr>
            <a:solidFill>
              <a:schemeClr val="accent2"/>
            </a:solidFill>
            <a:ln>
              <a:noFill/>
            </a:ln>
            <a:effectLst/>
          </c:spPr>
          <c:invertIfNegative val="0"/>
          <c:dLbls>
            <c:dLbl>
              <c:idx val="5"/>
              <c:tx>
                <c:rich>
                  <a:bodyPr/>
                  <a:lstStyle/>
                  <a:p>
                    <a:fld id="{4AD8A229-B4BA-4000-A9C4-7697419F2F40}" type="VALUE">
                      <a:rPr lang="en-US" b="1"/>
                      <a:pPr/>
                      <a:t>[VALUE]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EC30-47C1-A2FE-198E13C328BE}"/>
                </c:ext>
              </c:extLst>
            </c:dLbl>
            <c:numFmt formatCode="#,##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Solar</c:v>
                </c:pt>
                <c:pt idx="1">
                  <c:v>Bio-Mass</c:v>
                </c:pt>
                <c:pt idx="2">
                  <c:v>Waste to Energy</c:v>
                </c:pt>
                <c:pt idx="3">
                  <c:v>Small Hydro Power</c:v>
                </c:pt>
                <c:pt idx="4">
                  <c:v>Wind</c:v>
                </c:pt>
                <c:pt idx="5">
                  <c:v>Total</c:v>
                </c:pt>
              </c:strCache>
            </c:strRef>
          </c:cat>
          <c:val>
            <c:numRef>
              <c:f>Sheet1!$C$2:$C$7</c:f>
              <c:numCache>
                <c:formatCode>General</c:formatCode>
                <c:ptCount val="6"/>
                <c:pt idx="0">
                  <c:v>165.99</c:v>
                </c:pt>
                <c:pt idx="1">
                  <c:v>319.92</c:v>
                </c:pt>
                <c:pt idx="2">
                  <c:v>1.17</c:v>
                </c:pt>
                <c:pt idx="3">
                  <c:v>2.8</c:v>
                </c:pt>
                <c:pt idx="4">
                  <c:v>0</c:v>
                </c:pt>
                <c:pt idx="5">
                  <c:v>586.94000000000005</c:v>
                </c:pt>
              </c:numCache>
            </c:numRef>
          </c:val>
          <c:extLst>
            <c:ext xmlns:c16="http://schemas.microsoft.com/office/drawing/2014/chart" uri="{C3380CC4-5D6E-409C-BE32-E72D297353CC}">
              <c16:uniqueId val="{00000003-EC30-47C1-A2FE-198E13C328BE}"/>
            </c:ext>
          </c:extLst>
        </c:ser>
        <c:dLbls>
          <c:showLegendKey val="0"/>
          <c:showVal val="0"/>
          <c:showCatName val="0"/>
          <c:showSerName val="0"/>
          <c:showPercent val="0"/>
          <c:showBubbleSize val="0"/>
        </c:dLbls>
        <c:gapWidth val="219"/>
        <c:overlap val="-27"/>
        <c:axId val="171986720"/>
        <c:axId val="172002944"/>
      </c:barChart>
      <c:catAx>
        <c:axId val="171986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72002944"/>
        <c:crosses val="autoZero"/>
        <c:auto val="1"/>
        <c:lblAlgn val="ctr"/>
        <c:lblOffset val="100"/>
        <c:noMultiLvlLbl val="0"/>
      </c:catAx>
      <c:valAx>
        <c:axId val="172002944"/>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71986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lumMod val="75000"/>
          <a:lumOff val="25000"/>
        </a:schemeClr>
      </a:solidFill>
    </a:ln>
    <a:effectLst/>
  </c:spPr>
  <c:txPr>
    <a:bodyPr/>
    <a:lstStyle/>
    <a:p>
      <a:pPr>
        <a:defRPr sz="1600"/>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i="0" u="none" strike="noStrike" baseline="0" dirty="0">
                <a:effectLst/>
              </a:rPr>
              <a:t>WEST BENGAL RPO TARGET vs ACHIEVEMENT</a:t>
            </a:r>
            <a:endParaRPr lang="en-US" sz="1400" b="1" dirty="0"/>
          </a:p>
        </c:rich>
      </c:tx>
      <c:layout>
        <c:manualLayout>
          <c:xMode val="edge"/>
          <c:yMode val="edge"/>
          <c:x val="0.13335121197431218"/>
          <c:y val="1.9524141331723231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264693832445E-2"/>
          <c:y val="6.2300781130506924E-2"/>
          <c:w val="0.97448759466138768"/>
          <c:h val="0.67046318293326335"/>
        </c:manualLayout>
      </c:layout>
      <c:barChart>
        <c:barDir val="col"/>
        <c:grouping val="clustered"/>
        <c:varyColors val="0"/>
        <c:ser>
          <c:idx val="0"/>
          <c:order val="0"/>
          <c:tx>
            <c:strRef>
              <c:f>Sheet1!$B$1</c:f>
              <c:strCache>
                <c:ptCount val="1"/>
                <c:pt idx="0">
                  <c:v>Solar RPO Target</c:v>
                </c:pt>
              </c:strCache>
            </c:strRef>
          </c:tx>
          <c:spPr>
            <a:solidFill>
              <a:srgbClr val="FFC000"/>
            </a:solidFill>
            <a:ln>
              <a:noFill/>
            </a:ln>
            <a:effectLst/>
          </c:spPr>
          <c:invertIfNegative val="0"/>
          <c:dLbls>
            <c:dLbl>
              <c:idx val="0"/>
              <c:layout>
                <c:manualLayout>
                  <c:x val="-3.4225682185949166E-2"/>
                  <c:y val="4.801019577793009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FD4-489D-AA45-6E581CCDB1AC}"/>
                </c:ext>
              </c:extLst>
            </c:dLbl>
            <c:dLbl>
              <c:idx val="1"/>
              <c:layout>
                <c:manualLayout>
                  <c:x val="-3.8634504125898292E-2"/>
                  <c:y val="3.192989316246821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FD4-489D-AA45-6E581CCDB1AC}"/>
                </c:ext>
              </c:extLst>
            </c:dLbl>
            <c:dLbl>
              <c:idx val="2"/>
              <c:layout>
                <c:manualLayout>
                  <c:x val="-3.7684913242274139E-2"/>
                  <c:y val="4.60346913083965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FD4-489D-AA45-6E581CCDB1AC}"/>
                </c:ext>
              </c:extLst>
            </c:dLbl>
            <c:dLbl>
              <c:idx val="3"/>
              <c:layout>
                <c:manualLayout>
                  <c:x val="6.2345509691282682E-3"/>
                  <c:y val="-1.02650196742307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FD4-489D-AA45-6E581CCDB1AC}"/>
                </c:ext>
              </c:extLst>
            </c:dLbl>
            <c:dLbl>
              <c:idx val="4"/>
              <c:layout>
                <c:manualLayout>
                  <c:x val="-4.6377418197691749E-2"/>
                  <c:y val="-4.47188965883227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FD4-489D-AA45-6E581CCDB1AC}"/>
                </c:ext>
              </c:extLst>
            </c:dLbl>
            <c:dLbl>
              <c:idx val="5"/>
              <c:layout>
                <c:manualLayout>
                  <c:x val="-3.2450897514180475E-2"/>
                  <c:y val="4.219797955803608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FD4-489D-AA45-6E581CCDB1AC}"/>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Sheet1!$B$2:$B$5</c:f>
              <c:numCache>
                <c:formatCode>0.00%</c:formatCode>
                <c:ptCount val="4"/>
                <c:pt idx="0">
                  <c:v>3.0000000000000001E-3</c:v>
                </c:pt>
                <c:pt idx="1">
                  <c:v>4.0000000000000001E-3</c:v>
                </c:pt>
                <c:pt idx="2">
                  <c:v>5.0000000000000001E-3</c:v>
                </c:pt>
                <c:pt idx="3">
                  <c:v>0.03</c:v>
                </c:pt>
              </c:numCache>
            </c:numRef>
          </c:val>
          <c:extLst>
            <c:ext xmlns:c16="http://schemas.microsoft.com/office/drawing/2014/chart" uri="{C3380CC4-5D6E-409C-BE32-E72D297353CC}">
              <c16:uniqueId val="{00000006-CFD4-489D-AA45-6E581CCDB1AC}"/>
            </c:ext>
          </c:extLst>
        </c:ser>
        <c:ser>
          <c:idx val="1"/>
          <c:order val="1"/>
          <c:tx>
            <c:strRef>
              <c:f>Sheet1!$C$1</c:f>
              <c:strCache>
                <c:ptCount val="1"/>
                <c:pt idx="0">
                  <c:v>Solar RPO Achieved</c:v>
                </c:pt>
              </c:strCache>
            </c:strRef>
          </c:tx>
          <c:spPr>
            <a:solidFill>
              <a:schemeClr val="tx2"/>
            </a:solidFill>
            <a:ln>
              <a:noFill/>
            </a:ln>
            <a:effectLst/>
          </c:spPr>
          <c:invertIfNegative val="0"/>
          <c:dLbls>
            <c:dLbl>
              <c:idx val="0"/>
              <c:layout>
                <c:manualLayout>
                  <c:x val="-6.8267879935613174E-3"/>
                  <c:y val="-9.59813435588672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FD4-489D-AA45-6E581CCDB1AC}"/>
                </c:ext>
              </c:extLst>
            </c:dLbl>
            <c:dLbl>
              <c:idx val="1"/>
              <c:layout>
                <c:manualLayout>
                  <c:x val="-4.6774065512929074E-3"/>
                  <c:y val="-0.1071438745688274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FD4-489D-AA45-6E581CCDB1AC}"/>
                </c:ext>
              </c:extLst>
            </c:dLbl>
            <c:dLbl>
              <c:idx val="2"/>
              <c:layout>
                <c:manualLayout>
                  <c:x val="2.3401010812574181E-3"/>
                  <c:y val="-0.1271200378599075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FD4-489D-AA45-6E581CCDB1AC}"/>
                </c:ext>
              </c:extLst>
            </c:dLbl>
            <c:dLbl>
              <c:idx val="3"/>
              <c:layout>
                <c:manualLayout>
                  <c:x val="1.6375009922747968E-2"/>
                  <c:y val="-3.01136902441337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FD4-489D-AA45-6E581CCDB1AC}"/>
                </c:ext>
              </c:extLst>
            </c:dLbl>
            <c:dLbl>
              <c:idx val="4"/>
              <c:layout>
                <c:manualLayout>
                  <c:x val="-1.7002464900499649E-2"/>
                  <c:y val="-3.88279983373310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FD4-489D-AA45-6E581CCDB1AC}"/>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Sheet1!$C$2:$C$5</c:f>
              <c:numCache>
                <c:formatCode>0.00%</c:formatCode>
                <c:ptCount val="4"/>
                <c:pt idx="0">
                  <c:v>3.8E-3</c:v>
                </c:pt>
                <c:pt idx="1">
                  <c:v>4.4000000000000003E-3</c:v>
                </c:pt>
                <c:pt idx="2">
                  <c:v>5.1000000000000004E-3</c:v>
                </c:pt>
                <c:pt idx="3">
                  <c:v>4.7000000000000002E-3</c:v>
                </c:pt>
              </c:numCache>
            </c:numRef>
          </c:val>
          <c:extLst>
            <c:ext xmlns:c16="http://schemas.microsoft.com/office/drawing/2014/chart" uri="{C3380CC4-5D6E-409C-BE32-E72D297353CC}">
              <c16:uniqueId val="{0000000C-CFD4-489D-AA45-6E581CCDB1AC}"/>
            </c:ext>
          </c:extLst>
        </c:ser>
        <c:ser>
          <c:idx val="2"/>
          <c:order val="2"/>
          <c:tx>
            <c:strRef>
              <c:f>Sheet1!$D$1</c:f>
              <c:strCache>
                <c:ptCount val="1"/>
                <c:pt idx="0">
                  <c:v>Column2</c:v>
                </c:pt>
              </c:strCache>
            </c:strRef>
          </c:tx>
          <c:spPr>
            <a:solidFill>
              <a:schemeClr val="accent3"/>
            </a:solidFill>
            <a:ln>
              <a:noFill/>
            </a:ln>
            <a:effectLst/>
          </c:spPr>
          <c:invertIfNegative val="0"/>
          <c:dLbls>
            <c:dLbl>
              <c:idx val="2"/>
              <c:layout>
                <c:manualLayout>
                  <c:x val="3.9822929962441023E-2"/>
                  <c:y val="1.82821606778794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FD4-489D-AA45-6E581CCDB1AC}"/>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Sheet1!$D$2:$D$5</c:f>
              <c:numCache>
                <c:formatCode>General</c:formatCode>
                <c:ptCount val="4"/>
              </c:numCache>
            </c:numRef>
          </c:val>
          <c:extLst>
            <c:ext xmlns:c16="http://schemas.microsoft.com/office/drawing/2014/chart" uri="{C3380CC4-5D6E-409C-BE32-E72D297353CC}">
              <c16:uniqueId val="{0000000E-CFD4-489D-AA45-6E581CCDB1AC}"/>
            </c:ext>
          </c:extLst>
        </c:ser>
        <c:ser>
          <c:idx val="3"/>
          <c:order val="3"/>
          <c:tx>
            <c:strRef>
              <c:f>Sheet1!$E$1</c:f>
              <c:strCache>
                <c:ptCount val="1"/>
                <c:pt idx="0">
                  <c:v>Non-Solar RPO Target</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Sheet1!$E$2:$E$5</c:f>
              <c:numCache>
                <c:formatCode>0.00%</c:formatCode>
                <c:ptCount val="4"/>
                <c:pt idx="0">
                  <c:v>5.7000000000000002E-2</c:v>
                </c:pt>
                <c:pt idx="1">
                  <c:v>5.7000000000000002E-2</c:v>
                </c:pt>
                <c:pt idx="2">
                  <c:v>5.7000000000000002E-2</c:v>
                </c:pt>
                <c:pt idx="3">
                  <c:v>0.09</c:v>
                </c:pt>
              </c:numCache>
            </c:numRef>
          </c:val>
          <c:extLst>
            <c:ext xmlns:c16="http://schemas.microsoft.com/office/drawing/2014/chart" uri="{C3380CC4-5D6E-409C-BE32-E72D297353CC}">
              <c16:uniqueId val="{0000000F-CFD4-489D-AA45-6E581CCDB1AC}"/>
            </c:ext>
          </c:extLst>
        </c:ser>
        <c:ser>
          <c:idx val="4"/>
          <c:order val="4"/>
          <c:tx>
            <c:strRef>
              <c:f>Sheet1!$F$1</c:f>
              <c:strCache>
                <c:ptCount val="1"/>
                <c:pt idx="0">
                  <c:v>Non-Solar RPO Achieved</c:v>
                </c:pt>
              </c:strCache>
            </c:strRef>
          </c:tx>
          <c:spPr>
            <a:solidFill>
              <a:schemeClr val="accent5"/>
            </a:solidFill>
            <a:ln>
              <a:noFill/>
            </a:ln>
            <a:effectLst/>
          </c:spPr>
          <c:invertIfNegative val="0"/>
          <c:dLbls>
            <c:dLbl>
              <c:idx val="0"/>
              <c:layout>
                <c:manualLayout>
                  <c:x val="4.3919457938945E-2"/>
                  <c:y val="-4.956118836022365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FD4-489D-AA45-6E581CCDB1AC}"/>
                </c:ext>
              </c:extLst>
            </c:dLbl>
            <c:dLbl>
              <c:idx val="1"/>
              <c:layout>
                <c:manualLayout>
                  <c:x val="2.5952406963922068E-2"/>
                  <c:y val="-1.4868356508067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FD4-489D-AA45-6E581CCDB1AC}"/>
                </c:ext>
              </c:extLst>
            </c:dLbl>
            <c:dLbl>
              <c:idx val="2"/>
              <c:layout>
                <c:manualLayout>
                  <c:x val="3.6098368907991653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FD4-489D-AA45-6E581CCDB1AC}"/>
                </c:ext>
              </c:extLst>
            </c:dLbl>
            <c:dLbl>
              <c:idx val="3"/>
              <c:layout>
                <c:manualLayout>
                  <c:x val="2.0928863525078813E-2"/>
                  <c:y val="-1.48683565080670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FD4-489D-AA45-6E581CCDB1A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Sheet1!$F$2:$F$5</c:f>
              <c:numCache>
                <c:formatCode>0.00%</c:formatCode>
                <c:ptCount val="4"/>
                <c:pt idx="0">
                  <c:v>3.6400000000000002E-2</c:v>
                </c:pt>
                <c:pt idx="1">
                  <c:v>3.4500000000000003E-2</c:v>
                </c:pt>
                <c:pt idx="2">
                  <c:v>3.1099999999999999E-2</c:v>
                </c:pt>
                <c:pt idx="3">
                  <c:v>1.06E-2</c:v>
                </c:pt>
              </c:numCache>
            </c:numRef>
          </c:val>
          <c:extLst>
            <c:ext xmlns:c16="http://schemas.microsoft.com/office/drawing/2014/chart" uri="{C3380CC4-5D6E-409C-BE32-E72D297353CC}">
              <c16:uniqueId val="{00000014-CFD4-489D-AA45-6E581CCDB1AC}"/>
            </c:ext>
          </c:extLst>
        </c:ser>
        <c:dLbls>
          <c:showLegendKey val="0"/>
          <c:showVal val="0"/>
          <c:showCatName val="0"/>
          <c:showSerName val="0"/>
          <c:showPercent val="0"/>
          <c:showBubbleSize val="0"/>
        </c:dLbls>
        <c:gapWidth val="219"/>
        <c:axId val="144511792"/>
        <c:axId val="144505968"/>
      </c:barChart>
      <c:catAx>
        <c:axId val="144511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44505968"/>
        <c:crosses val="autoZero"/>
        <c:auto val="1"/>
        <c:lblAlgn val="ctr"/>
        <c:lblOffset val="100"/>
        <c:noMultiLvlLbl val="0"/>
      </c:catAx>
      <c:valAx>
        <c:axId val="144505968"/>
        <c:scaling>
          <c:orientation val="minMax"/>
        </c:scaling>
        <c:delete val="1"/>
        <c:axPos val="l"/>
        <c:numFmt formatCode="0.00%" sourceLinked="1"/>
        <c:majorTickMark val="none"/>
        <c:minorTickMark val="none"/>
        <c:tickLblPos val="nextTo"/>
        <c:crossAx val="144511792"/>
        <c:crosses val="autoZero"/>
        <c:crossBetween val="between"/>
      </c:valAx>
      <c:spPr>
        <a:noFill/>
        <a:ln>
          <a:noFill/>
        </a:ln>
        <a:effectLst/>
      </c:spPr>
    </c:plotArea>
    <c:legend>
      <c:legendPos val="b"/>
      <c:legendEntry>
        <c:idx val="2"/>
        <c:delete val="1"/>
      </c:legendEntry>
      <c:layout>
        <c:manualLayout>
          <c:xMode val="edge"/>
          <c:yMode val="edge"/>
          <c:x val="0.1957898785005647"/>
          <c:y val="0.84225031870854727"/>
          <c:w val="0.6562068089766695"/>
          <c:h val="0.15774968129145275"/>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46A38"/>
      </a:solidFill>
    </a:ln>
    <a:effectLst/>
  </c:spPr>
  <c:txPr>
    <a:bodyPr/>
    <a:lstStyle/>
    <a:p>
      <a:pPr>
        <a:defRPr/>
      </a:pPr>
      <a:endParaRPr lang="en-US"/>
    </a:p>
  </c:txPr>
  <c:externalData r:id="rId4">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Utility-wise</a:t>
            </a:r>
            <a:r>
              <a:rPr lang="en-US" b="1" baseline="0" dirty="0"/>
              <a:t> Solar Portfolio</a:t>
            </a:r>
            <a:endParaRPr lang="en-US"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5670949874759943E-2"/>
          <c:y val="0.14695463279460022"/>
          <c:w val="0.94865810025048014"/>
          <c:h val="0.66180139337923649"/>
        </c:manualLayout>
      </c:layout>
      <c:barChart>
        <c:barDir val="col"/>
        <c:grouping val="clustered"/>
        <c:varyColors val="0"/>
        <c:ser>
          <c:idx val="0"/>
          <c:order val="0"/>
          <c:tx>
            <c:strRef>
              <c:f>Sheet1!$B$1</c:f>
              <c:strCache>
                <c:ptCount val="1"/>
                <c:pt idx="0">
                  <c:v>Commissioned</c:v>
                </c:pt>
              </c:strCache>
            </c:strRef>
          </c:tx>
          <c:spPr>
            <a:solidFill>
              <a:schemeClr val="tx1">
                <a:lumMod val="75000"/>
                <a:lumOff val="25000"/>
              </a:schemeClr>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WBSEDCL</c:v>
                </c:pt>
                <c:pt idx="1">
                  <c:v>WBPDCL</c:v>
                </c:pt>
                <c:pt idx="2">
                  <c:v>DPL</c:v>
                </c:pt>
              </c:strCache>
            </c:strRef>
          </c:cat>
          <c:val>
            <c:numRef>
              <c:f>Sheet1!$B$2:$B$4</c:f>
              <c:numCache>
                <c:formatCode>General</c:formatCode>
                <c:ptCount val="3"/>
                <c:pt idx="0">
                  <c:v>112.54</c:v>
                </c:pt>
                <c:pt idx="1">
                  <c:v>32.619999999999997</c:v>
                </c:pt>
                <c:pt idx="2">
                  <c:v>0.5</c:v>
                </c:pt>
              </c:numCache>
            </c:numRef>
          </c:val>
          <c:extLst>
            <c:ext xmlns:c16="http://schemas.microsoft.com/office/drawing/2014/chart" uri="{C3380CC4-5D6E-409C-BE32-E72D297353CC}">
              <c16:uniqueId val="{00000000-D135-45DA-AC7F-DF1F35B7C7D6}"/>
            </c:ext>
          </c:extLst>
        </c:ser>
        <c:ser>
          <c:idx val="1"/>
          <c:order val="1"/>
          <c:tx>
            <c:strRef>
              <c:f>Sheet1!$C$1</c:f>
              <c:strCache>
                <c:ptCount val="1"/>
                <c:pt idx="0">
                  <c:v>Under Construction</c:v>
                </c:pt>
              </c:strCache>
            </c:strRef>
          </c:tx>
          <c:spPr>
            <a:solidFill>
              <a:schemeClr val="accent2"/>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WBSEDCL</c:v>
                </c:pt>
                <c:pt idx="1">
                  <c:v>WBPDCL</c:v>
                </c:pt>
                <c:pt idx="2">
                  <c:v>DPL</c:v>
                </c:pt>
              </c:strCache>
            </c:strRef>
          </c:cat>
          <c:val>
            <c:numRef>
              <c:f>Sheet1!$C$2:$C$4</c:f>
              <c:numCache>
                <c:formatCode>General</c:formatCode>
                <c:ptCount val="3"/>
                <c:pt idx="0">
                  <c:v>297</c:v>
                </c:pt>
                <c:pt idx="1">
                  <c:v>10</c:v>
                </c:pt>
                <c:pt idx="2">
                  <c:v>0</c:v>
                </c:pt>
              </c:numCache>
            </c:numRef>
          </c:val>
          <c:extLst>
            <c:ext xmlns:c16="http://schemas.microsoft.com/office/drawing/2014/chart" uri="{C3380CC4-5D6E-409C-BE32-E72D297353CC}">
              <c16:uniqueId val="{00000001-D135-45DA-AC7F-DF1F35B7C7D6}"/>
            </c:ext>
          </c:extLst>
        </c:ser>
        <c:ser>
          <c:idx val="2"/>
          <c:order val="2"/>
          <c:tx>
            <c:strRef>
              <c:f>Sheet1!$D$1</c:f>
              <c:strCache>
                <c:ptCount val="1"/>
                <c:pt idx="0">
                  <c:v>Proposed Pipeline</c:v>
                </c:pt>
              </c:strCache>
            </c:strRef>
          </c:tx>
          <c:spPr>
            <a:solidFill>
              <a:srgbClr val="0D8390"/>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WBSEDCL</c:v>
                </c:pt>
                <c:pt idx="1">
                  <c:v>WBPDCL</c:v>
                </c:pt>
                <c:pt idx="2">
                  <c:v>DPL</c:v>
                </c:pt>
              </c:strCache>
            </c:strRef>
          </c:cat>
          <c:val>
            <c:numRef>
              <c:f>Sheet1!$D$2:$D$4</c:f>
              <c:numCache>
                <c:formatCode>General</c:formatCode>
                <c:ptCount val="3"/>
                <c:pt idx="0">
                  <c:v>2217</c:v>
                </c:pt>
                <c:pt idx="1">
                  <c:v>47.5</c:v>
                </c:pt>
                <c:pt idx="2">
                  <c:v>27</c:v>
                </c:pt>
              </c:numCache>
            </c:numRef>
          </c:val>
          <c:extLst>
            <c:ext xmlns:c16="http://schemas.microsoft.com/office/drawing/2014/chart" uri="{C3380CC4-5D6E-409C-BE32-E72D297353CC}">
              <c16:uniqueId val="{00000002-D135-45DA-AC7F-DF1F35B7C7D6}"/>
            </c:ext>
          </c:extLst>
        </c:ser>
        <c:dLbls>
          <c:showLegendKey val="0"/>
          <c:showVal val="0"/>
          <c:showCatName val="0"/>
          <c:showSerName val="0"/>
          <c:showPercent val="0"/>
          <c:showBubbleSize val="0"/>
        </c:dLbls>
        <c:gapWidth val="219"/>
        <c:overlap val="-27"/>
        <c:axId val="28047584"/>
        <c:axId val="28051328"/>
      </c:barChart>
      <c:catAx>
        <c:axId val="28047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28051328"/>
        <c:crosses val="autoZero"/>
        <c:auto val="1"/>
        <c:lblAlgn val="ctr"/>
        <c:lblOffset val="100"/>
        <c:noMultiLvlLbl val="0"/>
      </c:catAx>
      <c:valAx>
        <c:axId val="28051328"/>
        <c:scaling>
          <c:orientation val="minMax"/>
          <c:max val="2500"/>
          <c:min val="0"/>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8047584"/>
        <c:crosses val="autoZero"/>
        <c:crossBetween val="between"/>
        <c:majorUnit val="1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Lifeline and Domestic Consumer Subsidy</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2020-21</c:v>
                </c:pt>
                <c:pt idx="1">
                  <c:v>2021-22</c:v>
                </c:pt>
                <c:pt idx="3">
                  <c:v>2020-21</c:v>
                </c:pt>
                <c:pt idx="4">
                  <c:v>2021-22</c:v>
                </c:pt>
                <c:pt idx="6">
                  <c:v>2020-21</c:v>
                </c:pt>
                <c:pt idx="7">
                  <c:v>2021-22</c:v>
                </c:pt>
                <c:pt idx="9">
                  <c:v>2020-21</c:v>
                </c:pt>
                <c:pt idx="10">
                  <c:v>2021-22</c:v>
                </c:pt>
                <c:pt idx="12">
                  <c:v>2020-21</c:v>
                </c:pt>
                <c:pt idx="13">
                  <c:v>2021-22</c:v>
                </c:pt>
                <c:pt idx="15">
                  <c:v>2020-21</c:v>
                </c:pt>
                <c:pt idx="16">
                  <c:v>2021-22</c:v>
                </c:pt>
              </c:strCache>
            </c:strRef>
          </c:cat>
          <c:val>
            <c:numRef>
              <c:f>Sheet1!$B$2:$B$18</c:f>
              <c:numCache>
                <c:formatCode>General</c:formatCode>
                <c:ptCount val="17"/>
                <c:pt idx="0">
                  <c:v>316.16106500000001</c:v>
                </c:pt>
                <c:pt idx="1">
                  <c:v>340.50414799999999</c:v>
                </c:pt>
                <c:pt idx="3">
                  <c:v>2234.7888321672231</c:v>
                </c:pt>
                <c:pt idx="4">
                  <c:v>2343.7171502946944</c:v>
                </c:pt>
                <c:pt idx="6">
                  <c:v>2960.2030668193511</c:v>
                </c:pt>
                <c:pt idx="7">
                  <c:v>3106.0535695394524</c:v>
                </c:pt>
                <c:pt idx="9">
                  <c:v>316.16106500000001</c:v>
                </c:pt>
                <c:pt idx="10">
                  <c:v>340.50414799999999</c:v>
                </c:pt>
                <c:pt idx="12">
                  <c:v>2234.7888321672231</c:v>
                </c:pt>
                <c:pt idx="13">
                  <c:v>2343.7171502946944</c:v>
                </c:pt>
                <c:pt idx="15">
                  <c:v>2960.2030668193511</c:v>
                </c:pt>
                <c:pt idx="16">
                  <c:v>3106.0535695394524</c:v>
                </c:pt>
              </c:numCache>
            </c:numRef>
          </c:val>
          <c:extLst>
            <c:ext xmlns:c16="http://schemas.microsoft.com/office/drawing/2014/chart" uri="{C3380CC4-5D6E-409C-BE32-E72D297353CC}">
              <c16:uniqueId val="{00000000-AF63-48C9-9AB6-1780E1CF4A2B}"/>
            </c:ext>
          </c:extLst>
        </c:ser>
        <c:ser>
          <c:idx val="1"/>
          <c:order val="1"/>
          <c:tx>
            <c:strRef>
              <c:f>Sheet1!$C$1</c:f>
              <c:strCache>
                <c:ptCount val="1"/>
                <c:pt idx="0">
                  <c:v>Other domestic consumer subsidy</c:v>
                </c:pt>
              </c:strCache>
            </c:strRef>
          </c:tx>
          <c:spPr>
            <a:solidFill>
              <a:schemeClr val="accent2"/>
            </a:solidFill>
            <a:ln>
              <a:noFill/>
            </a:ln>
            <a:effectLst/>
          </c:spPr>
          <c:invertIfNegative val="0"/>
          <c:dLbls>
            <c:dLbl>
              <c:idx val="3"/>
              <c:layout>
                <c:manualLayout>
                  <c:x val="0"/>
                  <c:y val="2.06353661741665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F63-48C9-9AB6-1780E1CF4A2B}"/>
                </c:ext>
              </c:extLst>
            </c:dLbl>
            <c:dLbl>
              <c:idx val="4"/>
              <c:layout>
                <c:manualLayout>
                  <c:x val="0"/>
                  <c:y val="2.06353661741665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F63-48C9-9AB6-1780E1CF4A2B}"/>
                </c:ext>
              </c:extLst>
            </c:dLbl>
            <c:dLbl>
              <c:idx val="6"/>
              <c:layout>
                <c:manualLayout>
                  <c:x val="0"/>
                  <c:y val="2.57942077177081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F63-48C9-9AB6-1780E1CF4A2B}"/>
                </c:ext>
              </c:extLst>
            </c:dLbl>
            <c:dLbl>
              <c:idx val="7"/>
              <c:layout>
                <c:manualLayout>
                  <c:x val="0"/>
                  <c:y val="2.06353661741665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F63-48C9-9AB6-1780E1CF4A2B}"/>
                </c:ext>
              </c:extLst>
            </c:dLbl>
            <c:dLbl>
              <c:idx val="12"/>
              <c:layout>
                <c:manualLayout>
                  <c:x val="0"/>
                  <c:y val="4.64295738918747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F63-48C9-9AB6-1780E1CF4A2B}"/>
                </c:ext>
              </c:extLst>
            </c:dLbl>
            <c:dLbl>
              <c:idx val="13"/>
              <c:layout>
                <c:manualLayout>
                  <c:x val="0"/>
                  <c:y val="2.06353661741665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F63-48C9-9AB6-1780E1CF4A2B}"/>
                </c:ext>
              </c:extLst>
            </c:dLbl>
            <c:dLbl>
              <c:idx val="15"/>
              <c:layout>
                <c:manualLayout>
                  <c:x val="0"/>
                  <c:y val="4.6429573891874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F63-48C9-9AB6-1780E1CF4A2B}"/>
                </c:ext>
              </c:extLst>
            </c:dLbl>
            <c:dLbl>
              <c:idx val="16"/>
              <c:layout>
                <c:manualLayout>
                  <c:x val="0"/>
                  <c:y val="4.12707323483331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F63-48C9-9AB6-1780E1CF4A2B}"/>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2020-21</c:v>
                </c:pt>
                <c:pt idx="1">
                  <c:v>2021-22</c:v>
                </c:pt>
                <c:pt idx="3">
                  <c:v>2020-21</c:v>
                </c:pt>
                <c:pt idx="4">
                  <c:v>2021-22</c:v>
                </c:pt>
                <c:pt idx="6">
                  <c:v>2020-21</c:v>
                </c:pt>
                <c:pt idx="7">
                  <c:v>2021-22</c:v>
                </c:pt>
                <c:pt idx="9">
                  <c:v>2020-21</c:v>
                </c:pt>
                <c:pt idx="10">
                  <c:v>2021-22</c:v>
                </c:pt>
                <c:pt idx="12">
                  <c:v>2020-21</c:v>
                </c:pt>
                <c:pt idx="13">
                  <c:v>2021-22</c:v>
                </c:pt>
                <c:pt idx="15">
                  <c:v>2020-21</c:v>
                </c:pt>
                <c:pt idx="16">
                  <c:v>2021-22</c:v>
                </c:pt>
              </c:strCache>
            </c:strRef>
          </c:cat>
          <c:val>
            <c:numRef>
              <c:f>Sheet1!$C$2:$C$18</c:f>
              <c:numCache>
                <c:formatCode>General</c:formatCode>
                <c:ptCount val="17"/>
                <c:pt idx="0">
                  <c:v>1000.0201444761307</c:v>
                </c:pt>
                <c:pt idx="1">
                  <c:v>1047.6714537157379</c:v>
                </c:pt>
                <c:pt idx="3">
                  <c:v>657.17600001790402</c:v>
                </c:pt>
                <c:pt idx="4">
                  <c:v>690.25593142329012</c:v>
                </c:pt>
                <c:pt idx="6">
                  <c:v>539.13908267440354</c:v>
                </c:pt>
                <c:pt idx="7">
                  <c:v>566.64536222528841</c:v>
                </c:pt>
                <c:pt idx="9">
                  <c:v>858.47645572052818</c:v>
                </c:pt>
                <c:pt idx="10">
                  <c:v>898.34273296098331</c:v>
                </c:pt>
                <c:pt idx="12">
                  <c:v>515.63231126230119</c:v>
                </c:pt>
                <c:pt idx="13">
                  <c:v>540.92721066853551</c:v>
                </c:pt>
                <c:pt idx="15">
                  <c:v>397.59539391880071</c:v>
                </c:pt>
                <c:pt idx="16">
                  <c:v>417.31664147053363</c:v>
                </c:pt>
              </c:numCache>
            </c:numRef>
          </c:val>
          <c:extLst>
            <c:ext xmlns:c16="http://schemas.microsoft.com/office/drawing/2014/chart" uri="{C3380CC4-5D6E-409C-BE32-E72D297353CC}">
              <c16:uniqueId val="{00000001-AF63-48C9-9AB6-1780E1CF4A2B}"/>
            </c:ext>
          </c:extLst>
        </c:ser>
        <c:ser>
          <c:idx val="2"/>
          <c:order val="2"/>
          <c:tx>
            <c:strRef>
              <c:f>Sheet1!$D$1</c:f>
              <c:strCache>
                <c:ptCount val="1"/>
                <c:pt idx="0">
                  <c:v>Agricultural consumer subsidy</c:v>
                </c:pt>
              </c:strCache>
            </c:strRef>
          </c:tx>
          <c:spPr>
            <a:solidFill>
              <a:schemeClr val="accent6"/>
            </a:solidFill>
            <a:ln>
              <a:noFill/>
            </a:ln>
            <a:effectLst/>
          </c:spPr>
          <c:invertIfNegative val="0"/>
          <c:dLbls>
            <c:dLbl>
              <c:idx val="7"/>
              <c:layout>
                <c:manualLayout>
                  <c:x val="0"/>
                  <c:y val="-9.0313549894100985E-1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F63-48C9-9AB6-1780E1CF4A2B}"/>
                </c:ext>
              </c:extLst>
            </c:dLbl>
            <c:dLbl>
              <c:idx val="12"/>
              <c:layout>
                <c:manualLayout>
                  <c:x val="-8.3434274558267612E-17"/>
                  <c:y val="-4.72888345311465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F63-48C9-9AB6-1780E1CF4A2B}"/>
                </c:ext>
              </c:extLst>
            </c:dLbl>
            <c:numFmt formatCode="#,##0" sourceLinked="0"/>
            <c:spPr>
              <a:solidFill>
                <a:schemeClr val="accent5"/>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j-lt"/>
                    <a:ea typeface="Verdana" panose="020B0604030504040204" pitchFamily="34"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2020-21</c:v>
                </c:pt>
                <c:pt idx="1">
                  <c:v>2021-22</c:v>
                </c:pt>
                <c:pt idx="3">
                  <c:v>2020-21</c:v>
                </c:pt>
                <c:pt idx="4">
                  <c:v>2021-22</c:v>
                </c:pt>
                <c:pt idx="6">
                  <c:v>2020-21</c:v>
                </c:pt>
                <c:pt idx="7">
                  <c:v>2021-22</c:v>
                </c:pt>
                <c:pt idx="9">
                  <c:v>2020-21</c:v>
                </c:pt>
                <c:pt idx="10">
                  <c:v>2021-22</c:v>
                </c:pt>
                <c:pt idx="12">
                  <c:v>2020-21</c:v>
                </c:pt>
                <c:pt idx="13">
                  <c:v>2021-22</c:v>
                </c:pt>
                <c:pt idx="15">
                  <c:v>2020-21</c:v>
                </c:pt>
                <c:pt idx="16">
                  <c:v>2021-22</c:v>
                </c:pt>
              </c:strCache>
            </c:strRef>
          </c:cat>
          <c:val>
            <c:numRef>
              <c:f>Sheet1!$D$2:$D$18</c:f>
              <c:numCache>
                <c:formatCode>General</c:formatCode>
                <c:ptCount val="17"/>
                <c:pt idx="0">
                  <c:v>24.169861321238283</c:v>
                </c:pt>
                <c:pt idx="1">
                  <c:v>23.652177501692705</c:v>
                </c:pt>
                <c:pt idx="3">
                  <c:v>24.169861321238283</c:v>
                </c:pt>
                <c:pt idx="4">
                  <c:v>23.652177501692705</c:v>
                </c:pt>
                <c:pt idx="6">
                  <c:v>24.169861321238283</c:v>
                </c:pt>
                <c:pt idx="7">
                  <c:v>23.652177501692705</c:v>
                </c:pt>
                <c:pt idx="9">
                  <c:v>24.169861321238283</c:v>
                </c:pt>
                <c:pt idx="10">
                  <c:v>23.652177501692705</c:v>
                </c:pt>
                <c:pt idx="12">
                  <c:v>24.169861321238283</c:v>
                </c:pt>
                <c:pt idx="13">
                  <c:v>23.652177501692705</c:v>
                </c:pt>
                <c:pt idx="15">
                  <c:v>24.169861321238283</c:v>
                </c:pt>
                <c:pt idx="16">
                  <c:v>23.652177501692705</c:v>
                </c:pt>
              </c:numCache>
            </c:numRef>
          </c:val>
          <c:extLst>
            <c:ext xmlns:c16="http://schemas.microsoft.com/office/drawing/2014/chart" uri="{C3380CC4-5D6E-409C-BE32-E72D297353CC}">
              <c16:uniqueId val="{00000002-AF63-48C9-9AB6-1780E1CF4A2B}"/>
            </c:ext>
          </c:extLst>
        </c:ser>
        <c:dLbls>
          <c:showLegendKey val="0"/>
          <c:showVal val="0"/>
          <c:showCatName val="0"/>
          <c:showSerName val="0"/>
          <c:showPercent val="0"/>
          <c:showBubbleSize val="0"/>
        </c:dLbls>
        <c:gapWidth val="164"/>
        <c:overlap val="100"/>
        <c:axId val="1726942416"/>
        <c:axId val="1726956560"/>
      </c:barChart>
      <c:lineChart>
        <c:grouping val="standard"/>
        <c:varyColors val="0"/>
        <c:ser>
          <c:idx val="3"/>
          <c:order val="3"/>
          <c:tx>
            <c:strRef>
              <c:f>Sheet1!$E$1</c:f>
              <c:strCache>
                <c:ptCount val="1"/>
                <c:pt idx="0">
                  <c:v>Total Subsidy</c:v>
                </c:pt>
              </c:strCache>
            </c:strRef>
          </c:tx>
          <c:spPr>
            <a:ln w="28575" cap="rnd">
              <a:noFill/>
              <a:round/>
            </a:ln>
            <a:effectLst/>
          </c:spPr>
          <c:marker>
            <c:symbol val="none"/>
          </c:marker>
          <c:dLbls>
            <c:dLbl>
              <c:idx val="7"/>
              <c:layout>
                <c:manualLayout>
                  <c:x val="-2.6414755192042935E-2"/>
                  <c:y val="-6.13219577349229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F63-48C9-9AB6-1780E1CF4A2B}"/>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2020-21</c:v>
                </c:pt>
                <c:pt idx="1">
                  <c:v>2021-22</c:v>
                </c:pt>
                <c:pt idx="3">
                  <c:v>2020-21</c:v>
                </c:pt>
                <c:pt idx="4">
                  <c:v>2021-22</c:v>
                </c:pt>
                <c:pt idx="6">
                  <c:v>2020-21</c:v>
                </c:pt>
                <c:pt idx="7">
                  <c:v>2021-22</c:v>
                </c:pt>
                <c:pt idx="9">
                  <c:v>2020-21</c:v>
                </c:pt>
                <c:pt idx="10">
                  <c:v>2021-22</c:v>
                </c:pt>
                <c:pt idx="12">
                  <c:v>2020-21</c:v>
                </c:pt>
                <c:pt idx="13">
                  <c:v>2021-22</c:v>
                </c:pt>
                <c:pt idx="15">
                  <c:v>2020-21</c:v>
                </c:pt>
                <c:pt idx="16">
                  <c:v>2021-22</c:v>
                </c:pt>
              </c:strCache>
            </c:strRef>
          </c:cat>
          <c:val>
            <c:numRef>
              <c:f>Sheet1!$E$2:$E$18</c:f>
              <c:numCache>
                <c:formatCode>General</c:formatCode>
                <c:ptCount val="17"/>
                <c:pt idx="0">
                  <c:v>1340.3510707973692</c:v>
                </c:pt>
                <c:pt idx="1">
                  <c:v>1411.8277792174306</c:v>
                </c:pt>
                <c:pt idx="3">
                  <c:v>2916.1346935063657</c:v>
                </c:pt>
                <c:pt idx="4">
                  <c:v>3057.625259219677</c:v>
                </c:pt>
                <c:pt idx="6">
                  <c:v>3523.5120108149931</c:v>
                </c:pt>
                <c:pt idx="7">
                  <c:v>3696.3511092664335</c:v>
                </c:pt>
                <c:pt idx="9">
                  <c:v>1198.8073820417667</c:v>
                </c:pt>
                <c:pt idx="10">
                  <c:v>1262.499058462676</c:v>
                </c:pt>
                <c:pt idx="12">
                  <c:v>2774.5910047507627</c:v>
                </c:pt>
                <c:pt idx="13">
                  <c:v>2908.2965384649224</c:v>
                </c:pt>
                <c:pt idx="15">
                  <c:v>3381.9683220593902</c:v>
                </c:pt>
                <c:pt idx="16">
                  <c:v>3547.0223885116789</c:v>
                </c:pt>
              </c:numCache>
            </c:numRef>
          </c:val>
          <c:smooth val="0"/>
          <c:extLst>
            <c:ext xmlns:c16="http://schemas.microsoft.com/office/drawing/2014/chart" uri="{C3380CC4-5D6E-409C-BE32-E72D297353CC}">
              <c16:uniqueId val="{00000004-AF63-48C9-9AB6-1780E1CF4A2B}"/>
            </c:ext>
          </c:extLst>
        </c:ser>
        <c:dLbls>
          <c:showLegendKey val="0"/>
          <c:showVal val="0"/>
          <c:showCatName val="0"/>
          <c:showSerName val="0"/>
          <c:showPercent val="0"/>
          <c:showBubbleSize val="0"/>
        </c:dLbls>
        <c:marker val="1"/>
        <c:smooth val="0"/>
        <c:axId val="1726942416"/>
        <c:axId val="1726956560"/>
      </c:lineChart>
      <c:catAx>
        <c:axId val="172694241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726956560"/>
        <c:crosses val="autoZero"/>
        <c:auto val="1"/>
        <c:lblAlgn val="ctr"/>
        <c:lblOffset val="100"/>
        <c:noMultiLvlLbl val="0"/>
      </c:catAx>
      <c:valAx>
        <c:axId val="1726956560"/>
        <c:scaling>
          <c:orientation val="minMax"/>
          <c:max val="4000"/>
        </c:scaling>
        <c:delete val="1"/>
        <c:axPos val="l"/>
        <c:numFmt formatCode="General" sourceLinked="1"/>
        <c:majorTickMark val="out"/>
        <c:minorTickMark val="none"/>
        <c:tickLblPos val="nextTo"/>
        <c:crossAx val="1726942416"/>
        <c:crosses val="autoZero"/>
        <c:crossBetween val="between"/>
      </c:valAx>
      <c:spPr>
        <a:noFill/>
        <a:ln>
          <a:noFill/>
        </a:ln>
        <a:effectLst/>
      </c:spPr>
    </c:plotArea>
    <c:legend>
      <c:legendPos val="b"/>
      <c:legendEntry>
        <c:idx val="3"/>
        <c:delete val="1"/>
      </c:legendEntry>
      <c:layout>
        <c:manualLayout>
          <c:xMode val="edge"/>
          <c:yMode val="edge"/>
          <c:x val="0.16490320989740337"/>
          <c:y val="0.85690010401706851"/>
          <c:w val="0.81955905625717362"/>
          <c:h val="0.11065576736963698"/>
        </c:manualLayout>
      </c:layout>
      <c:overlay val="0"/>
      <c:spPr>
        <a:noFill/>
        <a:ln>
          <a:noFill/>
        </a:ln>
        <a:effectLst/>
      </c:spPr>
      <c:txPr>
        <a:bodyPr rot="0" spcFirstLastPara="1" vertOverflow="ellipsis" vert="horz" wrap="square" anchor="ctr" anchorCtr="1"/>
        <a:lstStyle/>
        <a:p>
          <a:pPr algn="just">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AT &amp; C Loss reduction</c:v>
                </c:pt>
              </c:strCache>
            </c:strRef>
          </c:tx>
          <c:spPr>
            <a:ln w="28575" cap="rnd">
              <a:noFill/>
              <a:round/>
            </a:ln>
            <a:effectLst/>
          </c:spPr>
          <c:marker>
            <c:symbol val="square"/>
            <c:size val="37"/>
            <c:spPr>
              <a:solidFill>
                <a:srgbClr val="046A38"/>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2020-21</c:v>
                </c:pt>
                <c:pt idx="1">
                  <c:v>2021-22</c:v>
                </c:pt>
                <c:pt idx="3">
                  <c:v>2020-21</c:v>
                </c:pt>
                <c:pt idx="4">
                  <c:v>2021-22</c:v>
                </c:pt>
                <c:pt idx="6">
                  <c:v>2020-21</c:v>
                </c:pt>
                <c:pt idx="7">
                  <c:v>2021-22</c:v>
                </c:pt>
                <c:pt idx="9">
                  <c:v>2020-21</c:v>
                </c:pt>
                <c:pt idx="10">
                  <c:v>2021-22</c:v>
                </c:pt>
                <c:pt idx="12">
                  <c:v>2020-21</c:v>
                </c:pt>
                <c:pt idx="13">
                  <c:v>2021-22</c:v>
                </c:pt>
                <c:pt idx="15">
                  <c:v>2020-21</c:v>
                </c:pt>
                <c:pt idx="16">
                  <c:v>2021-22</c:v>
                </c:pt>
              </c:strCache>
            </c:strRef>
          </c:cat>
          <c:val>
            <c:numRef>
              <c:f>Sheet1!$B$2:$B$18</c:f>
              <c:numCache>
                <c:formatCode>0%</c:formatCode>
                <c:ptCount val="17"/>
                <c:pt idx="0">
                  <c:v>0</c:v>
                </c:pt>
                <c:pt idx="1">
                  <c:v>0</c:v>
                </c:pt>
                <c:pt idx="3" formatCode="0.00%">
                  <c:v>2.3300000000000001E-2</c:v>
                </c:pt>
                <c:pt idx="4" formatCode="0.00%">
                  <c:v>2.4400000000000002E-2</c:v>
                </c:pt>
                <c:pt idx="6" formatCode="0.00%">
                  <c:v>3.2300000000000002E-2</c:v>
                </c:pt>
                <c:pt idx="7" formatCode="0.00%">
                  <c:v>3.3799999999999997E-2</c:v>
                </c:pt>
                <c:pt idx="9">
                  <c:v>0</c:v>
                </c:pt>
                <c:pt idx="10">
                  <c:v>0</c:v>
                </c:pt>
                <c:pt idx="12" formatCode="0.00%">
                  <c:v>2.12E-2</c:v>
                </c:pt>
                <c:pt idx="13" formatCode="0.00%">
                  <c:v>2.2200000000000001E-2</c:v>
                </c:pt>
                <c:pt idx="15" formatCode="0.00%">
                  <c:v>3.0200000000000001E-2</c:v>
                </c:pt>
                <c:pt idx="16" formatCode="0.00%">
                  <c:v>3.1600000000000003E-2</c:v>
                </c:pt>
              </c:numCache>
            </c:numRef>
          </c:val>
          <c:smooth val="0"/>
          <c:extLst>
            <c:ext xmlns:c16="http://schemas.microsoft.com/office/drawing/2014/chart" uri="{C3380CC4-5D6E-409C-BE32-E72D297353CC}">
              <c16:uniqueId val="{00000000-6A77-4F39-BD90-6CAA7CCBDE87}"/>
            </c:ext>
          </c:extLst>
        </c:ser>
        <c:dLbls>
          <c:showLegendKey val="0"/>
          <c:showVal val="0"/>
          <c:showCatName val="0"/>
          <c:showSerName val="0"/>
          <c:showPercent val="0"/>
          <c:showBubbleSize val="0"/>
        </c:dLbls>
        <c:marker val="1"/>
        <c:smooth val="0"/>
        <c:axId val="1899483632"/>
        <c:axId val="1899484048"/>
      </c:lineChart>
      <c:catAx>
        <c:axId val="1899483632"/>
        <c:scaling>
          <c:orientation val="minMax"/>
        </c:scaling>
        <c:delete val="1"/>
        <c:axPos val="b"/>
        <c:numFmt formatCode="General" sourceLinked="1"/>
        <c:majorTickMark val="none"/>
        <c:minorTickMark val="none"/>
        <c:tickLblPos val="nextTo"/>
        <c:crossAx val="1899484048"/>
        <c:crosses val="autoZero"/>
        <c:auto val="1"/>
        <c:lblAlgn val="ctr"/>
        <c:lblOffset val="100"/>
        <c:noMultiLvlLbl val="0"/>
      </c:catAx>
      <c:valAx>
        <c:axId val="1899484048"/>
        <c:scaling>
          <c:orientation val="minMax"/>
          <c:max val="7.0000000000000007E-2"/>
        </c:scaling>
        <c:delete val="1"/>
        <c:axPos val="l"/>
        <c:numFmt formatCode="0%" sourceLinked="1"/>
        <c:majorTickMark val="none"/>
        <c:minorTickMark val="none"/>
        <c:tickLblPos val="nextTo"/>
        <c:crossAx val="18994836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1954671625160029"/>
          <c:w val="0.99923794052350923"/>
          <c:h val="0.61426967253715625"/>
        </c:manualLayout>
      </c:layout>
      <c:barChart>
        <c:barDir val="col"/>
        <c:grouping val="clustered"/>
        <c:varyColors val="0"/>
        <c:ser>
          <c:idx val="0"/>
          <c:order val="0"/>
          <c:tx>
            <c:strRef>
              <c:f>Sheet1!$B$1</c:f>
              <c:strCache>
                <c:ptCount val="1"/>
                <c:pt idx="0">
                  <c:v>Power Purchase in MU (%)</c:v>
                </c:pt>
              </c:strCache>
            </c:strRef>
          </c:tx>
          <c:spPr>
            <a:solidFill>
              <a:schemeClr val="accent1"/>
            </a:solidFill>
            <a:ln>
              <a:noFill/>
            </a:ln>
            <a:effectLst/>
          </c:spPr>
          <c:invertIfNegative val="0"/>
          <c:dLbls>
            <c:dLbl>
              <c:idx val="4"/>
              <c:delete val="1"/>
              <c:extLst>
                <c:ext xmlns:c15="http://schemas.microsoft.com/office/drawing/2012/chart" uri="{CE6537A1-D6FC-4f65-9D91-7224C49458BB}"/>
                <c:ext xmlns:c16="http://schemas.microsoft.com/office/drawing/2014/chart" uri="{C3380CC4-5D6E-409C-BE32-E72D297353CC}">
                  <c16:uniqueId val="{00000004-CBE6-41A5-86CA-202F2E5D5648}"/>
                </c:ext>
              </c:extLst>
            </c:dLbl>
            <c:spPr>
              <a:solidFill>
                <a:schemeClr val="accent5">
                  <a:lumMod val="20000"/>
                  <a:lumOff val="80000"/>
                </a:schemeClr>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Private</c:v>
                </c:pt>
                <c:pt idx="1">
                  <c:v>Central</c:v>
                </c:pt>
                <c:pt idx="2">
                  <c:v>State</c:v>
                </c:pt>
                <c:pt idx="3">
                  <c:v>Renewable</c:v>
                </c:pt>
                <c:pt idx="4">
                  <c:v>Total</c:v>
                </c:pt>
              </c:strCache>
            </c:strRef>
          </c:cat>
          <c:val>
            <c:numRef>
              <c:f>Sheet1!$B$2:$B$6</c:f>
              <c:numCache>
                <c:formatCode>0%</c:formatCode>
                <c:ptCount val="5"/>
                <c:pt idx="0">
                  <c:v>0.22</c:v>
                </c:pt>
                <c:pt idx="1">
                  <c:v>0.35</c:v>
                </c:pt>
                <c:pt idx="2">
                  <c:v>0.27</c:v>
                </c:pt>
                <c:pt idx="3">
                  <c:v>0.16</c:v>
                </c:pt>
                <c:pt idx="4">
                  <c:v>1</c:v>
                </c:pt>
              </c:numCache>
            </c:numRef>
          </c:val>
          <c:extLst>
            <c:ext xmlns:c16="http://schemas.microsoft.com/office/drawing/2014/chart" uri="{C3380CC4-5D6E-409C-BE32-E72D297353CC}">
              <c16:uniqueId val="{00000000-CBE6-41A5-86CA-202F2E5D5648}"/>
            </c:ext>
          </c:extLst>
        </c:ser>
        <c:dLbls>
          <c:showLegendKey val="0"/>
          <c:showVal val="0"/>
          <c:showCatName val="0"/>
          <c:showSerName val="0"/>
          <c:showPercent val="0"/>
          <c:showBubbleSize val="0"/>
        </c:dLbls>
        <c:gapWidth val="219"/>
        <c:axId val="339442095"/>
        <c:axId val="339442511"/>
      </c:barChart>
      <c:lineChart>
        <c:grouping val="standard"/>
        <c:varyColors val="0"/>
        <c:ser>
          <c:idx val="1"/>
          <c:order val="1"/>
          <c:tx>
            <c:strRef>
              <c:f>Sheet1!$C$1</c:f>
              <c:strCache>
                <c:ptCount val="1"/>
                <c:pt idx="0">
                  <c:v>Average Power Purchase  rate ( Rs / KWh)</c:v>
                </c:pt>
              </c:strCache>
            </c:strRef>
          </c:tx>
          <c:spPr>
            <a:ln w="28575" cap="rnd">
              <a:solidFill>
                <a:srgbClr val="012169"/>
              </a:solidFill>
              <a:round/>
            </a:ln>
            <a:effectLst/>
          </c:spPr>
          <c:marker>
            <c:symbol val="circle"/>
            <c:size val="5"/>
            <c:spPr>
              <a:solidFill>
                <a:schemeClr val="accent2"/>
              </a:solidFill>
              <a:ln w="9525">
                <a:solidFill>
                  <a:srgbClr val="012169"/>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Private</c:v>
                </c:pt>
                <c:pt idx="1">
                  <c:v>Central</c:v>
                </c:pt>
                <c:pt idx="2">
                  <c:v>State</c:v>
                </c:pt>
                <c:pt idx="3">
                  <c:v>Renewable</c:v>
                </c:pt>
                <c:pt idx="4">
                  <c:v>Total</c:v>
                </c:pt>
              </c:strCache>
            </c:strRef>
          </c:cat>
          <c:val>
            <c:numRef>
              <c:f>Sheet1!$C$2:$C$6</c:f>
              <c:numCache>
                <c:formatCode>0.0</c:formatCode>
                <c:ptCount val="5"/>
                <c:pt idx="0">
                  <c:v>4</c:v>
                </c:pt>
                <c:pt idx="1">
                  <c:v>3.3</c:v>
                </c:pt>
                <c:pt idx="2">
                  <c:v>3.3</c:v>
                </c:pt>
                <c:pt idx="3">
                  <c:v>4</c:v>
                </c:pt>
                <c:pt idx="4">
                  <c:v>3.5084633586886556</c:v>
                </c:pt>
              </c:numCache>
            </c:numRef>
          </c:val>
          <c:smooth val="0"/>
          <c:extLst>
            <c:ext xmlns:c16="http://schemas.microsoft.com/office/drawing/2014/chart" uri="{C3380CC4-5D6E-409C-BE32-E72D297353CC}">
              <c16:uniqueId val="{00000001-CBE6-41A5-86CA-202F2E5D5648}"/>
            </c:ext>
          </c:extLst>
        </c:ser>
        <c:dLbls>
          <c:showLegendKey val="0"/>
          <c:showVal val="0"/>
          <c:showCatName val="0"/>
          <c:showSerName val="0"/>
          <c:showPercent val="0"/>
          <c:showBubbleSize val="0"/>
        </c:dLbls>
        <c:marker val="1"/>
        <c:smooth val="0"/>
        <c:axId val="346839487"/>
        <c:axId val="346844479"/>
      </c:lineChart>
      <c:catAx>
        <c:axId val="339442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39442511"/>
        <c:crosses val="autoZero"/>
        <c:auto val="1"/>
        <c:lblAlgn val="ctr"/>
        <c:lblOffset val="100"/>
        <c:noMultiLvlLbl val="0"/>
      </c:catAx>
      <c:valAx>
        <c:axId val="339442511"/>
        <c:scaling>
          <c:orientation val="minMax"/>
          <c:max val="1"/>
          <c:min val="0"/>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39442095"/>
        <c:crosses val="autoZero"/>
        <c:crossBetween val="between"/>
        <c:majorUnit val="0.5"/>
      </c:valAx>
      <c:valAx>
        <c:axId val="346844479"/>
        <c:scaling>
          <c:orientation val="minMax"/>
          <c:max val="5"/>
          <c:min val="1"/>
        </c:scaling>
        <c:delete val="0"/>
        <c:axPos val="r"/>
        <c:numFmt formatCode="0" sourceLinked="0"/>
        <c:majorTickMark val="out"/>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46839487"/>
        <c:crosses val="max"/>
        <c:crossBetween val="between"/>
        <c:majorUnit val="2"/>
      </c:valAx>
      <c:catAx>
        <c:axId val="346839487"/>
        <c:scaling>
          <c:orientation val="minMax"/>
        </c:scaling>
        <c:delete val="1"/>
        <c:axPos val="b"/>
        <c:numFmt formatCode="General" sourceLinked="1"/>
        <c:majorTickMark val="out"/>
        <c:minorTickMark val="none"/>
        <c:tickLblPos val="nextTo"/>
        <c:crossAx val="346844479"/>
        <c:crosses val="autoZero"/>
        <c:auto val="1"/>
        <c:lblAlgn val="ctr"/>
        <c:lblOffset val="100"/>
        <c:noMultiLvlLbl val="0"/>
      </c:catAx>
      <c:spPr>
        <a:noFill/>
        <a:ln>
          <a:noFill/>
        </a:ln>
        <a:effectLst/>
      </c:spPr>
    </c:plotArea>
    <c:legend>
      <c:legendPos val="b"/>
      <c:layout>
        <c:manualLayout>
          <c:xMode val="edge"/>
          <c:yMode val="edge"/>
          <c:x val="0"/>
          <c:y val="0.87209738910637258"/>
          <c:w val="0.99939511349796073"/>
          <c:h val="9.597148156249658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alpha val="50000"/>
      </a:schemeClr>
    </a:solidFill>
    <a:ln>
      <a:solidFill>
        <a:srgbClr val="00B0F0"/>
      </a:solidFill>
    </a:ln>
    <a:effectLst/>
  </c:spPr>
  <c:txPr>
    <a:bodyPr/>
    <a:lstStyle/>
    <a:p>
      <a:pPr>
        <a:defRPr/>
      </a:pPr>
      <a:endParaRPr lang="en-US"/>
    </a:p>
  </c:txPr>
  <c:externalData r:id="rId3">
    <c:autoUpdate val="0"/>
  </c:externalData>
  <c:userShapes r:id="rId4"/>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0460503908602191E-4"/>
          <c:y val="5.0324728512167412E-2"/>
          <c:w val="0.98821934062208661"/>
          <c:h val="0.66570983169075493"/>
        </c:manualLayout>
      </c:layout>
      <c:barChart>
        <c:barDir val="col"/>
        <c:grouping val="clustered"/>
        <c:varyColors val="0"/>
        <c:ser>
          <c:idx val="0"/>
          <c:order val="0"/>
          <c:tx>
            <c:strRef>
              <c:f>Sheet1!$B$1</c:f>
              <c:strCache>
                <c:ptCount val="1"/>
                <c:pt idx="0">
                  <c:v>Energy Sale in MU (%)</c:v>
                </c:pt>
              </c:strCache>
            </c:strRef>
          </c:tx>
          <c:spPr>
            <a:solidFill>
              <a:srgbClr val="0076A8"/>
            </a:solidFill>
            <a:ln>
              <a:noFill/>
            </a:ln>
            <a:effectLst/>
          </c:spPr>
          <c:invertIfNegative val="0"/>
          <c:dLbls>
            <c:dLbl>
              <c:idx val="0"/>
              <c:layout>
                <c:manualLayout>
                  <c:x val="0"/>
                  <c:y val="9.57933879933925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5D97-4F34-BF9B-AD8C57AB043F}"/>
                </c:ext>
              </c:extLst>
            </c:dLbl>
            <c:dLbl>
              <c:idx val="1"/>
              <c:layout>
                <c:manualLayout>
                  <c:x val="0"/>
                  <c:y val="0.1117589526589579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5D97-4F34-BF9B-AD8C57AB043F}"/>
                </c:ext>
              </c:extLst>
            </c:dLbl>
            <c:dLbl>
              <c:idx val="2"/>
              <c:layout>
                <c:manualLayout>
                  <c:x val="1.8212561820533416E-3"/>
                  <c:y val="0.13975744444738025"/>
                </c:manualLayout>
              </c:layout>
              <c:spPr>
                <a:solidFill>
                  <a:schemeClr val="bg1">
                    <a:lumMod val="85000"/>
                  </a:schemeClr>
                </a:solid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4637685461600249E-2"/>
                      <c:h val="5.3689856527597959E-2"/>
                    </c:manualLayout>
                  </c15:layout>
                </c:ext>
                <c:ext xmlns:c16="http://schemas.microsoft.com/office/drawing/2014/chart" uri="{C3380CC4-5D6E-409C-BE32-E72D297353CC}">
                  <c16:uniqueId val="{00000015-5D97-4F34-BF9B-AD8C57AB043F}"/>
                </c:ext>
              </c:extLst>
            </c:dLbl>
            <c:dLbl>
              <c:idx val="3"/>
              <c:layout>
                <c:manualLayout>
                  <c:x val="-1.8212561820534084E-3"/>
                  <c:y val="0.20223048576382854"/>
                </c:manualLayout>
              </c:layout>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5D97-4F34-BF9B-AD8C57AB043F}"/>
                </c:ext>
              </c:extLst>
            </c:dLbl>
            <c:dLbl>
              <c:idx val="5"/>
              <c:delete val="1"/>
              <c:extLst>
                <c:ext xmlns:c15="http://schemas.microsoft.com/office/drawing/2012/chart" uri="{CE6537A1-D6FC-4f65-9D91-7224C49458BB}"/>
                <c:ext xmlns:c16="http://schemas.microsoft.com/office/drawing/2014/chart" uri="{C3380CC4-5D6E-409C-BE32-E72D297353CC}">
                  <c16:uniqueId val="{00000013-5D97-4F34-BF9B-AD8C57AB043F}"/>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Domestic</c:v>
                </c:pt>
                <c:pt idx="1">
                  <c:v>Non Domestic</c:v>
                </c:pt>
                <c:pt idx="2">
                  <c:v>Agricultural</c:v>
                </c:pt>
                <c:pt idx="3">
                  <c:v>Industrial</c:v>
                </c:pt>
                <c:pt idx="4">
                  <c:v>Other </c:v>
                </c:pt>
                <c:pt idx="5">
                  <c:v>Total</c:v>
                </c:pt>
              </c:strCache>
            </c:strRef>
          </c:cat>
          <c:val>
            <c:numRef>
              <c:f>Sheet1!$B$2:$B$7</c:f>
              <c:numCache>
                <c:formatCode>0%</c:formatCode>
                <c:ptCount val="6"/>
                <c:pt idx="0">
                  <c:v>0.15421589996558449</c:v>
                </c:pt>
                <c:pt idx="1">
                  <c:v>0.17107949982792245</c:v>
                </c:pt>
                <c:pt idx="2">
                  <c:v>0.23089365607433751</c:v>
                </c:pt>
                <c:pt idx="3">
                  <c:v>0.41112768154181484</c:v>
                </c:pt>
                <c:pt idx="4">
                  <c:v>3.2683262590340711E-2</c:v>
                </c:pt>
                <c:pt idx="5">
                  <c:v>1</c:v>
                </c:pt>
              </c:numCache>
            </c:numRef>
          </c:val>
          <c:extLst>
            <c:ext xmlns:c16="http://schemas.microsoft.com/office/drawing/2014/chart" uri="{C3380CC4-5D6E-409C-BE32-E72D297353CC}">
              <c16:uniqueId val="{00000000-5D97-4F34-BF9B-AD8C57AB043F}"/>
            </c:ext>
          </c:extLst>
        </c:ser>
        <c:ser>
          <c:idx val="1"/>
          <c:order val="1"/>
          <c:tx>
            <c:strRef>
              <c:f>Sheet1!$C$1</c:f>
              <c:strCache>
                <c:ptCount val="1"/>
                <c:pt idx="0">
                  <c:v>Revenue in Crore (% )</c:v>
                </c:pt>
              </c:strCache>
            </c:strRef>
          </c:tx>
          <c:spPr>
            <a:solidFill>
              <a:schemeClr val="accent2"/>
            </a:solidFill>
            <a:ln>
              <a:noFill/>
            </a:ln>
            <a:effectLst/>
          </c:spPr>
          <c:invertIfNegative val="0"/>
          <c:dLbls>
            <c:dLbl>
              <c:idx val="0"/>
              <c:layout>
                <c:manualLayout>
                  <c:x val="0"/>
                  <c:y val="-1.5965564665565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5D97-4F34-BF9B-AD8C57AB043F}"/>
                </c:ext>
              </c:extLst>
            </c:dLbl>
            <c:dLbl>
              <c:idx val="2"/>
              <c:layout>
                <c:manualLayout>
                  <c:x val="1.2748793274373324E-2"/>
                  <c:y val="5.32185488852180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5D97-4F34-BF9B-AD8C57AB043F}"/>
                </c:ext>
              </c:extLst>
            </c:dLbl>
            <c:dLbl>
              <c:idx val="3"/>
              <c:layout>
                <c:manualLayout>
                  <c:x val="3.6425123641066794E-3"/>
                  <c:y val="0.15402788420042099"/>
                </c:manualLayout>
              </c:layout>
              <c:spPr>
                <a:solidFill>
                  <a:schemeClr val="accent5">
                    <a:lumMod val="40000"/>
                    <a:lumOff val="60000"/>
                  </a:schemeClr>
                </a:solid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7.2850247282133657E-2"/>
                      <c:h val="5.3689856527597959E-2"/>
                    </c:manualLayout>
                  </c15:layout>
                </c:ext>
                <c:ext xmlns:c16="http://schemas.microsoft.com/office/drawing/2014/chart" uri="{C3380CC4-5D6E-409C-BE32-E72D297353CC}">
                  <c16:uniqueId val="{00000019-5D97-4F34-BF9B-AD8C57AB043F}"/>
                </c:ext>
              </c:extLst>
            </c:dLbl>
            <c:dLbl>
              <c:idx val="4"/>
              <c:layout>
                <c:manualLayout>
                  <c:x val="5.4637685461600251E-3"/>
                  <c:y val="-9.756621252968699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5D97-4F34-BF9B-AD8C57AB043F}"/>
                </c:ext>
              </c:extLst>
            </c:dLbl>
            <c:dLbl>
              <c:idx val="5"/>
              <c:delete val="1"/>
              <c:extLst>
                <c:ext xmlns:c15="http://schemas.microsoft.com/office/drawing/2012/chart" uri="{CE6537A1-D6FC-4f65-9D91-7224C49458BB}"/>
                <c:ext xmlns:c16="http://schemas.microsoft.com/office/drawing/2014/chart" uri="{C3380CC4-5D6E-409C-BE32-E72D297353CC}">
                  <c16:uniqueId val="{00000014-5D97-4F34-BF9B-AD8C57AB043F}"/>
                </c:ext>
              </c:extLst>
            </c:dLbl>
            <c:spPr>
              <a:solidFill>
                <a:schemeClr val="accent5">
                  <a:lumMod val="40000"/>
                  <a:lumOff val="60000"/>
                </a:schemeClr>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Domestic</c:v>
                </c:pt>
                <c:pt idx="1">
                  <c:v>Non Domestic</c:v>
                </c:pt>
                <c:pt idx="2">
                  <c:v>Agricultural</c:v>
                </c:pt>
                <c:pt idx="3">
                  <c:v>Industrial</c:v>
                </c:pt>
                <c:pt idx="4">
                  <c:v>Other </c:v>
                </c:pt>
                <c:pt idx="5">
                  <c:v>Total</c:v>
                </c:pt>
              </c:strCache>
            </c:strRef>
          </c:cat>
          <c:val>
            <c:numRef>
              <c:f>Sheet1!$C$2:$C$7</c:f>
              <c:numCache>
                <c:formatCode>0%</c:formatCode>
                <c:ptCount val="6"/>
                <c:pt idx="0">
                  <c:v>0.13712222229008461</c:v>
                </c:pt>
                <c:pt idx="1">
                  <c:v>0.21899789003765346</c:v>
                </c:pt>
                <c:pt idx="2">
                  <c:v>6.9323158630865009E-2</c:v>
                </c:pt>
                <c:pt idx="3">
                  <c:v>0.54560293270151539</c:v>
                </c:pt>
                <c:pt idx="4">
                  <c:v>2.8953796339881537E-2</c:v>
                </c:pt>
                <c:pt idx="5">
                  <c:v>1</c:v>
                </c:pt>
              </c:numCache>
            </c:numRef>
          </c:val>
          <c:extLst>
            <c:ext xmlns:c16="http://schemas.microsoft.com/office/drawing/2014/chart" uri="{C3380CC4-5D6E-409C-BE32-E72D297353CC}">
              <c16:uniqueId val="{00000001-5D97-4F34-BF9B-AD8C57AB043F}"/>
            </c:ext>
          </c:extLst>
        </c:ser>
        <c:dLbls>
          <c:showLegendKey val="0"/>
          <c:showVal val="0"/>
          <c:showCatName val="0"/>
          <c:showSerName val="0"/>
          <c:showPercent val="0"/>
          <c:showBubbleSize val="0"/>
        </c:dLbls>
        <c:gapWidth val="219"/>
        <c:overlap val="-27"/>
        <c:axId val="807611151"/>
        <c:axId val="807602415"/>
      </c:barChart>
      <c:lineChart>
        <c:grouping val="stacked"/>
        <c:varyColors val="0"/>
        <c:ser>
          <c:idx val="2"/>
          <c:order val="2"/>
          <c:tx>
            <c:strRef>
              <c:f>Sheet1!$D$1</c:f>
              <c:strCache>
                <c:ptCount val="1"/>
                <c:pt idx="0">
                  <c:v>Average Triff Rate ( Rs/KWh)</c:v>
                </c:pt>
              </c:strCache>
            </c:strRef>
          </c:tx>
          <c:spPr>
            <a:ln w="28575" cap="rnd">
              <a:solidFill>
                <a:srgbClr val="012169"/>
              </a:solidFill>
              <a:round/>
            </a:ln>
            <a:effectLst/>
          </c:spPr>
          <c:marker>
            <c:symbol val="circle"/>
            <c:size val="5"/>
            <c:spPr>
              <a:solidFill>
                <a:schemeClr val="accent3"/>
              </a:solidFill>
              <a:ln w="9525">
                <a:solidFill>
                  <a:srgbClr val="012169"/>
                </a:solidFill>
              </a:ln>
              <a:effectLst/>
            </c:spPr>
          </c:marker>
          <c:dLbls>
            <c:dLbl>
              <c:idx val="0"/>
              <c:layout>
                <c:manualLayout>
                  <c:x val="-3.251401184160696E-2"/>
                  <c:y val="4.9095158955843694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D97-4F34-BF9B-AD8C57AB043F}"/>
                </c:ext>
              </c:extLst>
            </c:dLbl>
            <c:dLbl>
              <c:idx val="1"/>
              <c:layout>
                <c:manualLayout>
                  <c:x val="-3.433526802366027E-2"/>
                  <c:y val="2.087508056114979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D97-4F34-BF9B-AD8C57AB043F}"/>
                </c:ext>
              </c:extLst>
            </c:dLbl>
            <c:dLbl>
              <c:idx val="2"/>
              <c:layout>
                <c:manualLayout>
                  <c:x val="-3.433526802366027E-2"/>
                  <c:y val="-8.024016232076454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D97-4F34-BF9B-AD8C57AB043F}"/>
                </c:ext>
              </c:extLst>
            </c:dLbl>
            <c:dLbl>
              <c:idx val="3"/>
              <c:layout>
                <c:manualLayout>
                  <c:x val="-2.7050243295446971E-2"/>
                  <c:y val="2.17508818774498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D97-4F34-BF9B-AD8C57AB043F}"/>
                </c:ext>
              </c:extLst>
            </c:dLbl>
            <c:dLbl>
              <c:idx val="4"/>
              <c:layout>
                <c:manualLayout>
                  <c:x val="-3.6156524205713608E-2"/>
                  <c:y val="-4.1233899293743762E-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D97-4F34-BF9B-AD8C57AB043F}"/>
                </c:ext>
              </c:extLst>
            </c:dLbl>
            <c:dLbl>
              <c:idx val="5"/>
              <c:layout>
                <c:manualLayout>
                  <c:x val="-3.6156524205713608E-2"/>
                  <c:y val="-1.63779036585028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5D97-4F34-BF9B-AD8C57AB043F}"/>
                </c:ext>
              </c:extLst>
            </c:dLbl>
            <c:spPr>
              <a:solidFill>
                <a:srgbClr val="E3E48D"/>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Domestic</c:v>
                </c:pt>
                <c:pt idx="1">
                  <c:v>Non Domestic</c:v>
                </c:pt>
                <c:pt idx="2">
                  <c:v>Agricultural</c:v>
                </c:pt>
                <c:pt idx="3">
                  <c:v>Industrial</c:v>
                </c:pt>
                <c:pt idx="4">
                  <c:v>Other </c:v>
                </c:pt>
                <c:pt idx="5">
                  <c:v>Total</c:v>
                </c:pt>
              </c:strCache>
            </c:strRef>
          </c:cat>
          <c:val>
            <c:numRef>
              <c:f>Sheet1!$D$2:$D$7</c:f>
              <c:numCache>
                <c:formatCode>0.00</c:formatCode>
                <c:ptCount val="6"/>
                <c:pt idx="0">
                  <c:v>3.741003496243398</c:v>
                </c:pt>
                <c:pt idx="1">
                  <c:v>5.3858143901294167</c:v>
                </c:pt>
                <c:pt idx="2">
                  <c:v>1.263210612609927</c:v>
                </c:pt>
                <c:pt idx="3">
                  <c:v>5.5835370277359226</c:v>
                </c:pt>
                <c:pt idx="4">
                  <c:v>3.7272586872586642</c:v>
                </c:pt>
                <c:pt idx="5">
                  <c:v>4.2073575771481009</c:v>
                </c:pt>
              </c:numCache>
            </c:numRef>
          </c:val>
          <c:smooth val="0"/>
          <c:extLst>
            <c:ext xmlns:c16="http://schemas.microsoft.com/office/drawing/2014/chart" uri="{C3380CC4-5D6E-409C-BE32-E72D297353CC}">
              <c16:uniqueId val="{00000002-5D97-4F34-BF9B-AD8C57AB043F}"/>
            </c:ext>
          </c:extLst>
        </c:ser>
        <c:dLbls>
          <c:showLegendKey val="0"/>
          <c:showVal val="0"/>
          <c:showCatName val="0"/>
          <c:showSerName val="0"/>
          <c:showPercent val="0"/>
          <c:showBubbleSize val="0"/>
        </c:dLbls>
        <c:marker val="1"/>
        <c:smooth val="0"/>
        <c:axId val="807579535"/>
        <c:axId val="807583279"/>
      </c:lineChart>
      <c:catAx>
        <c:axId val="8076111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807602415"/>
        <c:crosses val="autoZero"/>
        <c:auto val="1"/>
        <c:lblAlgn val="ctr"/>
        <c:lblOffset val="100"/>
        <c:noMultiLvlLbl val="0"/>
      </c:catAx>
      <c:valAx>
        <c:axId val="807602415"/>
        <c:scaling>
          <c:orientation val="minMax"/>
          <c:max val="1"/>
          <c:min val="0"/>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807611151"/>
        <c:crosses val="autoZero"/>
        <c:crossBetween val="between"/>
        <c:majorUnit val="0.5"/>
      </c:valAx>
      <c:valAx>
        <c:axId val="807583279"/>
        <c:scaling>
          <c:orientation val="minMax"/>
          <c:max val="5.7"/>
          <c:min val="0"/>
        </c:scaling>
        <c:delete val="0"/>
        <c:axPos val="r"/>
        <c:numFmt formatCode="0" sourceLinked="0"/>
        <c:majorTickMark val="out"/>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807579535"/>
        <c:crosses val="max"/>
        <c:crossBetween val="between"/>
        <c:majorUnit val="1.9"/>
      </c:valAx>
      <c:catAx>
        <c:axId val="807579535"/>
        <c:scaling>
          <c:orientation val="minMax"/>
        </c:scaling>
        <c:delete val="1"/>
        <c:axPos val="b"/>
        <c:numFmt formatCode="General" sourceLinked="1"/>
        <c:majorTickMark val="out"/>
        <c:minorTickMark val="none"/>
        <c:tickLblPos val="nextTo"/>
        <c:crossAx val="807583279"/>
        <c:crosses val="autoZero"/>
        <c:auto val="1"/>
        <c:lblAlgn val="ctr"/>
        <c:lblOffset val="100"/>
        <c:noMultiLvlLbl val="0"/>
      </c:catAx>
      <c:spPr>
        <a:noFill/>
        <a:ln>
          <a:noFill/>
        </a:ln>
        <a:effectLst/>
      </c:spPr>
    </c:plotArea>
    <c:legend>
      <c:legendPos val="b"/>
      <c:layout>
        <c:manualLayout>
          <c:xMode val="edge"/>
          <c:yMode val="edge"/>
          <c:x val="4.4986461756703192E-4"/>
          <c:y val="0.87209738910637258"/>
          <c:w val="0.98999384644860078"/>
          <c:h val="9.597148156249658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alpha val="50000"/>
      </a:schemeClr>
    </a:solidFill>
    <a:ln>
      <a:solidFill>
        <a:srgbClr val="00B0F0"/>
      </a:solid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156903433190756"/>
          <c:y val="8.1341931354424399E-2"/>
          <c:w val="0.64212795842265136"/>
          <c:h val="0.84786408078974485"/>
        </c:manualLayout>
      </c:layout>
      <c:pieChart>
        <c:varyColors val="1"/>
        <c:ser>
          <c:idx val="0"/>
          <c:order val="0"/>
          <c:tx>
            <c:strRef>
              <c:f>Sheet1!$B$1</c:f>
              <c:strCache>
                <c:ptCount val="1"/>
                <c:pt idx="0">
                  <c:v>Installed Capacity (MW)</c:v>
                </c:pt>
              </c:strCache>
            </c:strRef>
          </c:tx>
          <c:dPt>
            <c:idx val="0"/>
            <c:bubble3D val="0"/>
            <c:spPr>
              <a:solidFill>
                <a:srgbClr val="012169">
                  <a:alpha val="56000"/>
                </a:srgb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8BD3-46E1-B27A-C6ED9C8D4FC4}"/>
              </c:ext>
            </c:extLst>
          </c:dPt>
          <c:dPt>
            <c:idx val="1"/>
            <c:bubble3D val="0"/>
            <c:spPr>
              <a:solidFill>
                <a:srgbClr val="00A3E0"/>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8BD3-46E1-B27A-C6ED9C8D4FC4}"/>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8BD3-46E1-B27A-C6ED9C8D4FC4}"/>
              </c:ext>
            </c:extLst>
          </c:dPt>
          <c:dPt>
            <c:idx val="3"/>
            <c:bubble3D val="0"/>
            <c:spPr>
              <a:solidFill>
                <a:srgbClr val="00ABAB"/>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8BD3-46E1-B27A-C6ED9C8D4FC4}"/>
              </c:ext>
            </c:extLst>
          </c:dPt>
          <c:dLbls>
            <c:dLbl>
              <c:idx val="1"/>
              <c:layout>
                <c:manualLayout>
                  <c:x val="0.21429876964583364"/>
                  <c:y val="-0.15149618289572658"/>
                </c:manualLayout>
              </c:layout>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BD3-46E1-B27A-C6ED9C8D4FC4}"/>
                </c:ext>
              </c:extLst>
            </c:dLbl>
            <c:dLbl>
              <c:idx val="2"/>
              <c:layout>
                <c:manualLayout>
                  <c:x val="0.19293991667842122"/>
                  <c:y val="7.9443380221097634E-2"/>
                </c:manualLayout>
              </c:layout>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BD3-46E1-B27A-C6ED9C8D4FC4}"/>
                </c:ext>
              </c:extLst>
            </c:dLbl>
            <c:dLbl>
              <c:idx val="3"/>
              <c:layout>
                <c:manualLayout>
                  <c:x val="7.5243219939962372E-2"/>
                  <c:y val="0.14575232793847515"/>
                </c:manualLayout>
              </c:layout>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BD3-46E1-B27A-C6ED9C8D4FC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Thermal</c:v>
                </c:pt>
                <c:pt idx="1">
                  <c:v>Hydro</c:v>
                </c:pt>
                <c:pt idx="2">
                  <c:v>RES</c:v>
                </c:pt>
                <c:pt idx="3">
                  <c:v>Nuclear</c:v>
                </c:pt>
              </c:strCache>
            </c:strRef>
          </c:cat>
          <c:val>
            <c:numRef>
              <c:f>Sheet1!$B$2:$B$5</c:f>
              <c:numCache>
                <c:formatCode>General</c:formatCode>
                <c:ptCount val="4"/>
                <c:pt idx="0">
                  <c:v>18134</c:v>
                </c:pt>
                <c:pt idx="1">
                  <c:v>779</c:v>
                </c:pt>
                <c:pt idx="2">
                  <c:v>8757</c:v>
                </c:pt>
                <c:pt idx="3">
                  <c:v>559</c:v>
                </c:pt>
              </c:numCache>
            </c:numRef>
          </c:val>
          <c:extLst>
            <c:ext xmlns:c16="http://schemas.microsoft.com/office/drawing/2014/chart" uri="{C3380CC4-5D6E-409C-BE32-E72D297353CC}">
              <c16:uniqueId val="{0000000E-8BD3-46E1-B27A-C6ED9C8D4FC4}"/>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D0D0CE">
        <a:alpha val="20000"/>
      </a:srgbClr>
    </a:solidFill>
    <a:ln w="9525" cap="flat" cmpd="sng" algn="ctr">
      <a:solidFill>
        <a:srgbClr val="00B0F0"/>
      </a:solidFill>
      <a:round/>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487467835231104"/>
          <c:y val="0.12714980584937374"/>
          <c:w val="0.63536317830283728"/>
          <c:h val="0.76220106017193856"/>
        </c:manualLayout>
      </c:layout>
      <c:pieChart>
        <c:varyColors val="1"/>
        <c:ser>
          <c:idx val="0"/>
          <c:order val="0"/>
          <c:tx>
            <c:strRef>
              <c:f>Sheet1!$B$1</c:f>
              <c:strCache>
                <c:ptCount val="1"/>
                <c:pt idx="0">
                  <c:v>Installed Capacity (MW)</c:v>
                </c:pt>
              </c:strCache>
            </c:strRef>
          </c:tx>
          <c:dPt>
            <c:idx val="0"/>
            <c:bubble3D val="0"/>
            <c:spPr>
              <a:solidFill>
                <a:srgbClr val="002060">
                  <a:alpha val="60000"/>
                </a:srgb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85A4-4BC0-9951-4EFC696B02A7}"/>
              </c:ext>
            </c:extLst>
          </c:dPt>
          <c:dPt>
            <c:idx val="1"/>
            <c:bubble3D val="0"/>
            <c:spPr>
              <a:solidFill>
                <a:srgbClr val="00B0F0"/>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2-85A4-4BC0-9951-4EFC696B02A7}"/>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4-21CD-44A1-AE8E-7408E8343B6D}"/>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85A4-4BC0-9951-4EFC696B02A7}"/>
              </c:ext>
            </c:extLst>
          </c:dPt>
          <c:dLbls>
            <c:dLbl>
              <c:idx val="0"/>
              <c:layout>
                <c:manualLayout>
                  <c:x val="-0.26910006733964981"/>
                  <c:y val="-8.4504215832801585E-2"/>
                </c:manualLayout>
              </c:layout>
              <c:dLblPos val="bestFit"/>
              <c:showLegendKey val="0"/>
              <c:showVal val="1"/>
              <c:showCatName val="1"/>
              <c:showSerName val="0"/>
              <c:showPercent val="1"/>
              <c:showBubbleSize val="0"/>
              <c:extLst>
                <c:ext xmlns:c15="http://schemas.microsoft.com/office/drawing/2012/chart" uri="{CE6537A1-D6FC-4f65-9D91-7224C49458BB}">
                  <c15:layout>
                    <c:manualLayout>
                      <c:w val="0.25677750576624819"/>
                      <c:h val="0.1942670313808533"/>
                    </c:manualLayout>
                  </c15:layout>
                </c:ext>
                <c:ext xmlns:c16="http://schemas.microsoft.com/office/drawing/2014/chart" uri="{C3380CC4-5D6E-409C-BE32-E72D297353CC}">
                  <c16:uniqueId val="{00000001-85A4-4BC0-9951-4EFC696B02A7}"/>
                </c:ext>
              </c:extLst>
            </c:dLbl>
            <c:dLbl>
              <c:idx val="1"/>
              <c:layout>
                <c:manualLayout>
                  <c:x val="0.20327969417566294"/>
                  <c:y val="-0.22200866709905978"/>
                </c:manualLayout>
              </c:layout>
              <c:dLblPos val="bestFit"/>
              <c:showLegendKey val="0"/>
              <c:showVal val="1"/>
              <c:showCatName val="1"/>
              <c:showSerName val="0"/>
              <c:showPercent val="1"/>
              <c:showBubbleSize val="0"/>
              <c:extLst>
                <c:ext xmlns:c15="http://schemas.microsoft.com/office/drawing/2012/chart" uri="{CE6537A1-D6FC-4f65-9D91-7224C49458BB}">
                  <c15:layout>
                    <c:manualLayout>
                      <c:w val="0.19618060669768528"/>
                      <c:h val="0.16434632458207279"/>
                    </c:manualLayout>
                  </c15:layout>
                </c:ext>
                <c:ext xmlns:c16="http://schemas.microsoft.com/office/drawing/2014/chart" uri="{C3380CC4-5D6E-409C-BE32-E72D297353CC}">
                  <c16:uniqueId val="{00000002-85A4-4BC0-9951-4EFC696B02A7}"/>
                </c:ext>
              </c:extLst>
            </c:dLbl>
            <c:dLbl>
              <c:idx val="2"/>
              <c:layout>
                <c:manualLayout>
                  <c:x val="0.2428465188295201"/>
                  <c:y val="0.11763344125672937"/>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layout>
                    <c:manualLayout>
                      <c:w val="0.20674771197648331"/>
                      <c:h val="0.17386170546946678"/>
                    </c:manualLayout>
                  </c15:layout>
                </c:ext>
                <c:ext xmlns:c16="http://schemas.microsoft.com/office/drawing/2014/chart" uri="{C3380CC4-5D6E-409C-BE32-E72D297353CC}">
                  <c16:uniqueId val="{00000004-21CD-44A1-AE8E-7408E8343B6D}"/>
                </c:ext>
              </c:extLst>
            </c:dLbl>
            <c:dLbl>
              <c:idx val="3"/>
              <c:layout>
                <c:manualLayout>
                  <c:x val="3.854729822265697E-2"/>
                  <c:y val="0.14367015182506837"/>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layout>
                    <c:manualLayout>
                      <c:w val="0.22578162831717541"/>
                      <c:h val="0.24346901689153075"/>
                    </c:manualLayout>
                  </c15:layout>
                </c:ext>
                <c:ext xmlns:c16="http://schemas.microsoft.com/office/drawing/2014/chart" uri="{C3380CC4-5D6E-409C-BE32-E72D297353CC}">
                  <c16:uniqueId val="{00000003-85A4-4BC0-9951-4EFC696B02A7}"/>
                </c:ext>
              </c:extLst>
            </c:dLbl>
            <c:dLbl>
              <c:idx val="6"/>
              <c:tx>
                <c:rich>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fld id="{5C1884B7-7002-48B2-82D7-5D2F2B1C11FF}" type="CATEGORYNAME">
                      <a:rPr lang="en-US" sz="1000"/>
                      <a:pPr>
                        <a:defRPr sz="1000"/>
                      </a:pPr>
                      <a:t>[CATEGORY NAME]</a:t>
                    </a:fld>
                    <a:r>
                      <a:rPr lang="en-US" sz="1000"/>
                      <a:t>
</a:t>
                    </a:r>
                    <a:fld id="{55AC4EBB-D6AB-47B6-8659-3680E0556C43}" type="PERCENTAGE">
                      <a:rPr lang="en-US" sz="1000"/>
                      <a:pPr>
                        <a:defRPr sz="1000"/>
                      </a:pPr>
                      <a:t>[PERCENTAGE]</a:t>
                    </a:fld>
                    <a:endParaRPr lang="en-US" sz="1000"/>
                  </a:p>
                </c:rich>
              </c:tx>
              <c:numFmt formatCode="#\ ??/??"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1CD-44A1-AE8E-7408E8343B6D}"/>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bestFit"/>
            <c:showLegendKey val="0"/>
            <c:showVal val="1"/>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Thermal</c:v>
                </c:pt>
                <c:pt idx="1">
                  <c:v>Hydro</c:v>
                </c:pt>
                <c:pt idx="2">
                  <c:v>RES</c:v>
                </c:pt>
                <c:pt idx="3">
                  <c:v>Nuclear</c:v>
                </c:pt>
              </c:strCache>
            </c:strRef>
          </c:cat>
          <c:val>
            <c:numRef>
              <c:f>Sheet1!$B$2:$B$5</c:f>
              <c:numCache>
                <c:formatCode>General</c:formatCode>
                <c:ptCount val="4"/>
                <c:pt idx="0">
                  <c:v>14714.46</c:v>
                </c:pt>
                <c:pt idx="1">
                  <c:v>1673.6</c:v>
                </c:pt>
                <c:pt idx="2">
                  <c:v>9196.25</c:v>
                </c:pt>
                <c:pt idx="3">
                  <c:v>127.27</c:v>
                </c:pt>
              </c:numCache>
            </c:numRef>
          </c:val>
          <c:extLst>
            <c:ext xmlns:c16="http://schemas.microsoft.com/office/drawing/2014/chart" uri="{C3380CC4-5D6E-409C-BE32-E72D297353CC}">
              <c16:uniqueId val="{00000000-21CD-44A1-AE8E-7408E8343B6D}"/>
            </c:ext>
          </c:extLst>
        </c:ser>
        <c:dLbls>
          <c:dLblPos val="inEnd"/>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D0D0CE">
        <a:alpha val="21000"/>
      </a:srgb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6229714450876881"/>
          <c:w val="0.99923794052350923"/>
          <c:h val="0.51321212430339957"/>
        </c:manualLayout>
      </c:layout>
      <c:barChart>
        <c:barDir val="col"/>
        <c:grouping val="clustered"/>
        <c:varyColors val="0"/>
        <c:ser>
          <c:idx val="0"/>
          <c:order val="0"/>
          <c:tx>
            <c:strRef>
              <c:f>Sheet1!$B$1</c:f>
              <c:strCache>
                <c:ptCount val="1"/>
                <c:pt idx="0">
                  <c:v>Power Purchase in MU ( in %)</c:v>
                </c:pt>
              </c:strCache>
            </c:strRef>
          </c:tx>
          <c:spPr>
            <a:solidFill>
              <a:schemeClr val="accent1"/>
            </a:solidFill>
            <a:ln>
              <a:noFill/>
            </a:ln>
            <a:effectLst/>
          </c:spPr>
          <c:invertIfNegative val="0"/>
          <c:dLbls>
            <c:dLbl>
              <c:idx val="4"/>
              <c:layout>
                <c:manualLayout>
                  <c:x val="0"/>
                  <c:y val="9.017756815240719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BE6-41A5-86CA-202F2E5D5648}"/>
                </c:ext>
              </c:extLst>
            </c:dLbl>
            <c:dLbl>
              <c:idx val="5"/>
              <c:delete val="1"/>
              <c:extLst>
                <c:ext xmlns:c15="http://schemas.microsoft.com/office/drawing/2012/chart" uri="{CE6537A1-D6FC-4f65-9D91-7224C49458BB}"/>
                <c:ext xmlns:c16="http://schemas.microsoft.com/office/drawing/2014/chart" uri="{C3380CC4-5D6E-409C-BE32-E72D297353CC}">
                  <c16:uniqueId val="{00000001-905C-47FE-B18E-576603F5C401}"/>
                </c:ext>
              </c:extLst>
            </c:dLbl>
            <c:spPr>
              <a:solidFill>
                <a:schemeClr val="accent5">
                  <a:lumMod val="20000"/>
                  <a:lumOff val="80000"/>
                </a:schemeClr>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APGENCO - Thermal</c:v>
                </c:pt>
                <c:pt idx="1">
                  <c:v>APGENCO - Hydel</c:v>
                </c:pt>
                <c:pt idx="2">
                  <c:v>Central </c:v>
                </c:pt>
                <c:pt idx="3">
                  <c:v>Renewable</c:v>
                </c:pt>
                <c:pt idx="4">
                  <c:v>Other</c:v>
                </c:pt>
                <c:pt idx="5">
                  <c:v>Total</c:v>
                </c:pt>
              </c:strCache>
            </c:strRef>
          </c:cat>
          <c:val>
            <c:numRef>
              <c:f>Sheet1!$B$2:$B$7</c:f>
              <c:numCache>
                <c:formatCode>0%</c:formatCode>
                <c:ptCount val="6"/>
                <c:pt idx="0">
                  <c:v>0.29542199885205722</c:v>
                </c:pt>
                <c:pt idx="1">
                  <c:v>4.7416176783779559E-2</c:v>
                </c:pt>
                <c:pt idx="2">
                  <c:v>0.19931699027643168</c:v>
                </c:pt>
                <c:pt idx="3">
                  <c:v>0.23527853404547705</c:v>
                </c:pt>
                <c:pt idx="4">
                  <c:v>0.22256630004225461</c:v>
                </c:pt>
                <c:pt idx="5">
                  <c:v>1</c:v>
                </c:pt>
              </c:numCache>
            </c:numRef>
          </c:val>
          <c:extLst>
            <c:ext xmlns:c16="http://schemas.microsoft.com/office/drawing/2014/chart" uri="{C3380CC4-5D6E-409C-BE32-E72D297353CC}">
              <c16:uniqueId val="{00000000-CBE6-41A5-86CA-202F2E5D5648}"/>
            </c:ext>
          </c:extLst>
        </c:ser>
        <c:dLbls>
          <c:showLegendKey val="0"/>
          <c:showVal val="0"/>
          <c:showCatName val="0"/>
          <c:showSerName val="0"/>
          <c:showPercent val="0"/>
          <c:showBubbleSize val="0"/>
        </c:dLbls>
        <c:gapWidth val="219"/>
        <c:overlap val="-27"/>
        <c:axId val="339442095"/>
        <c:axId val="339442511"/>
      </c:barChart>
      <c:lineChart>
        <c:grouping val="standard"/>
        <c:varyColors val="0"/>
        <c:ser>
          <c:idx val="1"/>
          <c:order val="1"/>
          <c:tx>
            <c:strRef>
              <c:f>Sheet1!$C$1</c:f>
              <c:strCache>
                <c:ptCount val="1"/>
                <c:pt idx="0">
                  <c:v>Average Power Purchase Cost ( Rs / KWh)</c:v>
                </c:pt>
              </c:strCache>
            </c:strRef>
          </c:tx>
          <c:spPr>
            <a:ln w="28575" cap="rnd">
              <a:solidFill>
                <a:srgbClr val="012169"/>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APGENCO - Thermal</c:v>
                </c:pt>
                <c:pt idx="1">
                  <c:v>APGENCO - Hydel</c:v>
                </c:pt>
                <c:pt idx="2">
                  <c:v>Central </c:v>
                </c:pt>
                <c:pt idx="3">
                  <c:v>Renewable</c:v>
                </c:pt>
                <c:pt idx="4">
                  <c:v>Other</c:v>
                </c:pt>
                <c:pt idx="5">
                  <c:v>Total</c:v>
                </c:pt>
              </c:strCache>
            </c:strRef>
          </c:cat>
          <c:val>
            <c:numRef>
              <c:f>Sheet1!$C$2:$C$7</c:f>
              <c:numCache>
                <c:formatCode>0.00</c:formatCode>
                <c:ptCount val="6"/>
                <c:pt idx="0">
                  <c:v>4.7275287873421137</c:v>
                </c:pt>
                <c:pt idx="1">
                  <c:v>1.9119564980561707</c:v>
                </c:pt>
                <c:pt idx="2">
                  <c:v>4.0423934388356244</c:v>
                </c:pt>
                <c:pt idx="3">
                  <c:v>2.5496862597253838</c:v>
                </c:pt>
                <c:pt idx="4">
                  <c:v>4.4188671237781989</c:v>
                </c:pt>
                <c:pt idx="5">
                  <c:v>3.8763687166256453</c:v>
                </c:pt>
              </c:numCache>
            </c:numRef>
          </c:val>
          <c:smooth val="0"/>
          <c:extLst>
            <c:ext xmlns:c16="http://schemas.microsoft.com/office/drawing/2014/chart" uri="{C3380CC4-5D6E-409C-BE32-E72D297353CC}">
              <c16:uniqueId val="{00000001-CBE6-41A5-86CA-202F2E5D5648}"/>
            </c:ext>
          </c:extLst>
        </c:ser>
        <c:dLbls>
          <c:showLegendKey val="0"/>
          <c:showVal val="0"/>
          <c:showCatName val="0"/>
          <c:showSerName val="0"/>
          <c:showPercent val="0"/>
          <c:showBubbleSize val="0"/>
        </c:dLbls>
        <c:marker val="1"/>
        <c:smooth val="0"/>
        <c:axId val="346839487"/>
        <c:axId val="346844479"/>
      </c:lineChart>
      <c:catAx>
        <c:axId val="339442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39442511"/>
        <c:crosses val="autoZero"/>
        <c:auto val="1"/>
        <c:lblAlgn val="ctr"/>
        <c:lblOffset val="100"/>
        <c:noMultiLvlLbl val="0"/>
      </c:catAx>
      <c:valAx>
        <c:axId val="339442511"/>
        <c:scaling>
          <c:orientation val="minMax"/>
          <c:max val="1"/>
          <c:min val="0"/>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39442095"/>
        <c:crosses val="autoZero"/>
        <c:crossBetween val="between"/>
        <c:majorUnit val="0.5"/>
      </c:valAx>
      <c:valAx>
        <c:axId val="346844479"/>
        <c:scaling>
          <c:orientation val="minMax"/>
          <c:max val="6"/>
          <c:min val="1"/>
        </c:scaling>
        <c:delete val="0"/>
        <c:axPos val="r"/>
        <c:numFmt formatCode="0" sourceLinked="0"/>
        <c:majorTickMark val="out"/>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46839487"/>
        <c:crosses val="max"/>
        <c:crossBetween val="between"/>
        <c:majorUnit val="2.5"/>
      </c:valAx>
      <c:catAx>
        <c:axId val="346839487"/>
        <c:scaling>
          <c:orientation val="minMax"/>
        </c:scaling>
        <c:delete val="1"/>
        <c:axPos val="b"/>
        <c:numFmt formatCode="General" sourceLinked="1"/>
        <c:majorTickMark val="out"/>
        <c:minorTickMark val="none"/>
        <c:tickLblPos val="nextTo"/>
        <c:crossAx val="346844479"/>
        <c:crosses val="autoZero"/>
        <c:auto val="1"/>
        <c:lblAlgn val="ctr"/>
        <c:lblOffset val="100"/>
        <c:noMultiLvlLbl val="0"/>
      </c:catAx>
      <c:spPr>
        <a:noFill/>
        <a:ln>
          <a:noFill/>
        </a:ln>
        <a:effectLst/>
      </c:spPr>
    </c:plotArea>
    <c:legend>
      <c:legendPos val="b"/>
      <c:layout>
        <c:manualLayout>
          <c:xMode val="edge"/>
          <c:yMode val="edge"/>
          <c:x val="0"/>
          <c:y val="0.87209738910637258"/>
          <c:w val="0.99939511349796073"/>
          <c:h val="9.597148156249658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alpha val="50000"/>
      </a:schemeClr>
    </a:solidFill>
    <a:ln>
      <a:solidFill>
        <a:srgbClr val="00B0F0"/>
      </a:solid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0460503908602538E-4"/>
          <c:y val="6.8221347354700063E-2"/>
          <c:w val="0.99186185298619334"/>
          <c:h val="0.67913229582265433"/>
        </c:manualLayout>
      </c:layout>
      <c:barChart>
        <c:barDir val="col"/>
        <c:grouping val="clustered"/>
        <c:varyColors val="0"/>
        <c:ser>
          <c:idx val="0"/>
          <c:order val="0"/>
          <c:tx>
            <c:strRef>
              <c:f>Sheet1!$B$1</c:f>
              <c:strCache>
                <c:ptCount val="1"/>
                <c:pt idx="0">
                  <c:v>Energy Sale in MU (%)</c:v>
                </c:pt>
              </c:strCache>
            </c:strRef>
          </c:tx>
          <c:spPr>
            <a:solidFill>
              <a:srgbClr val="0076A8"/>
            </a:solidFill>
            <a:ln>
              <a:noFill/>
            </a:ln>
            <a:effectLst/>
          </c:spPr>
          <c:invertIfNegative val="0"/>
          <c:dLbls>
            <c:dLbl>
              <c:idx val="0"/>
              <c:layout>
                <c:manualLayout>
                  <c:x val="0"/>
                  <c:y val="0.167379889203019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5D97-4F34-BF9B-AD8C57AB043F}"/>
                </c:ext>
              </c:extLst>
            </c:dLbl>
            <c:dLbl>
              <c:idx val="1"/>
              <c:layout>
                <c:manualLayout>
                  <c:x val="0"/>
                  <c:y val="3.1224315445521799E-2"/>
                </c:manualLayout>
              </c:layout>
              <c:showLegendKey val="0"/>
              <c:showVal val="1"/>
              <c:showCatName val="0"/>
              <c:showSerName val="0"/>
              <c:showPercent val="0"/>
              <c:showBubbleSize val="0"/>
              <c:extLst>
                <c:ext xmlns:c15="http://schemas.microsoft.com/office/drawing/2012/chart" uri="{CE6537A1-D6FC-4f65-9D91-7224C49458BB}">
                  <c15:layout>
                    <c:manualLayout>
                      <c:w val="4.2098408351162284E-2"/>
                      <c:h val="6.7805990787468851E-2"/>
                    </c:manualLayout>
                  </c15:layout>
                </c:ext>
                <c:ext xmlns:c16="http://schemas.microsoft.com/office/drawing/2014/chart" uri="{C3380CC4-5D6E-409C-BE32-E72D297353CC}">
                  <c16:uniqueId val="{00000017-5D97-4F34-BF9B-AD8C57AB043F}"/>
                </c:ext>
              </c:extLst>
            </c:dLbl>
            <c:dLbl>
              <c:idx val="2"/>
              <c:layout>
                <c:manualLayout>
                  <c:x val="0"/>
                  <c:y val="0.1330463722130450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5D97-4F34-BF9B-AD8C57AB043F}"/>
                </c:ext>
              </c:extLst>
            </c:dLbl>
            <c:dLbl>
              <c:idx val="3"/>
              <c:layout>
                <c:manualLayout>
                  <c:x val="-1.8212561820534084E-3"/>
                  <c:y val="0.2022304857638285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5D97-4F34-BF9B-AD8C57AB043F}"/>
                </c:ext>
              </c:extLst>
            </c:dLbl>
            <c:dLbl>
              <c:idx val="5"/>
              <c:delete val="1"/>
              <c:extLst>
                <c:ext xmlns:c15="http://schemas.microsoft.com/office/drawing/2012/chart" uri="{CE6537A1-D6FC-4f65-9D91-7224C49458BB}"/>
                <c:ext xmlns:c16="http://schemas.microsoft.com/office/drawing/2014/chart" uri="{C3380CC4-5D6E-409C-BE32-E72D297353CC}">
                  <c16:uniqueId val="{00000013-5D97-4F34-BF9B-AD8C57AB043F}"/>
                </c:ext>
              </c:extLst>
            </c:dLbl>
            <c:spPr>
              <a:solidFill>
                <a:schemeClr val="bg1">
                  <a:lumMod val="85000"/>
                </a:schemeClr>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Domestic</c:v>
                </c:pt>
                <c:pt idx="1">
                  <c:v>Commercial</c:v>
                </c:pt>
                <c:pt idx="2">
                  <c:v>Industrial</c:v>
                </c:pt>
                <c:pt idx="3">
                  <c:v>Agricultural</c:v>
                </c:pt>
                <c:pt idx="4">
                  <c:v>Other </c:v>
                </c:pt>
                <c:pt idx="5">
                  <c:v>Total</c:v>
                </c:pt>
              </c:strCache>
            </c:strRef>
          </c:cat>
          <c:val>
            <c:numRef>
              <c:f>Sheet1!$B$2:$B$7</c:f>
              <c:numCache>
                <c:formatCode>0%</c:formatCode>
                <c:ptCount val="6"/>
                <c:pt idx="0">
                  <c:v>0.28737975400951238</c:v>
                </c:pt>
                <c:pt idx="1">
                  <c:v>7.8891674332196446E-2</c:v>
                </c:pt>
                <c:pt idx="2">
                  <c:v>0.26399936859881773</c:v>
                </c:pt>
                <c:pt idx="3">
                  <c:v>0.31337713979858828</c:v>
                </c:pt>
                <c:pt idx="4">
                  <c:v>5.6352063260885196E-2</c:v>
                </c:pt>
                <c:pt idx="5">
                  <c:v>1</c:v>
                </c:pt>
              </c:numCache>
            </c:numRef>
          </c:val>
          <c:extLst>
            <c:ext xmlns:c16="http://schemas.microsoft.com/office/drawing/2014/chart" uri="{C3380CC4-5D6E-409C-BE32-E72D297353CC}">
              <c16:uniqueId val="{00000000-5D97-4F34-BF9B-AD8C57AB043F}"/>
            </c:ext>
          </c:extLst>
        </c:ser>
        <c:ser>
          <c:idx val="1"/>
          <c:order val="1"/>
          <c:tx>
            <c:strRef>
              <c:f>Sheet1!$C$1</c:f>
              <c:strCache>
                <c:ptCount val="1"/>
                <c:pt idx="0">
                  <c:v>Revenue in Crore (% )</c:v>
                </c:pt>
              </c:strCache>
            </c:strRef>
          </c:tx>
          <c:spPr>
            <a:solidFill>
              <a:schemeClr val="accent2"/>
            </a:solidFill>
            <a:ln>
              <a:noFill/>
            </a:ln>
            <a:effectLst/>
          </c:spPr>
          <c:invertIfNegative val="0"/>
          <c:dLbls>
            <c:dLbl>
              <c:idx val="0"/>
              <c:layout>
                <c:manualLayout>
                  <c:x val="-3.6425123641066997E-3"/>
                  <c:y val="6.0094943676733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5D97-4F34-BF9B-AD8C57AB043F}"/>
                </c:ext>
              </c:extLst>
            </c:dLbl>
            <c:dLbl>
              <c:idx val="1"/>
              <c:layout>
                <c:manualLayout>
                  <c:x val="-3.6425123641066499E-3"/>
                  <c:y val="-8.202522213257576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5BB-4544-94DC-B12122EE9292}"/>
                </c:ext>
              </c:extLst>
            </c:dLbl>
            <c:dLbl>
              <c:idx val="2"/>
              <c:layout>
                <c:manualLayout>
                  <c:x val="1.8212561820533416E-3"/>
                  <c:y val="0.1024341867695369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5D97-4F34-BF9B-AD8C57AB043F}"/>
                </c:ext>
              </c:extLst>
            </c:dLbl>
            <c:dLbl>
              <c:idx val="3"/>
              <c:layout>
                <c:manualLayout>
                  <c:x val="5.4637685461600251E-3"/>
                  <c:y val="3.99369390792752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5D97-4F34-BF9B-AD8C57AB043F}"/>
                </c:ext>
              </c:extLst>
            </c:dLbl>
            <c:dLbl>
              <c:idx val="4"/>
              <c:layout>
                <c:manualLayout>
                  <c:x val="5.4637685461600251E-3"/>
                  <c:y val="-9.756621252968699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5D97-4F34-BF9B-AD8C57AB043F}"/>
                </c:ext>
              </c:extLst>
            </c:dLbl>
            <c:dLbl>
              <c:idx val="5"/>
              <c:delete val="1"/>
              <c:extLst>
                <c:ext xmlns:c15="http://schemas.microsoft.com/office/drawing/2012/chart" uri="{CE6537A1-D6FC-4f65-9D91-7224C49458BB}"/>
                <c:ext xmlns:c16="http://schemas.microsoft.com/office/drawing/2014/chart" uri="{C3380CC4-5D6E-409C-BE32-E72D297353CC}">
                  <c16:uniqueId val="{00000014-5D97-4F34-BF9B-AD8C57AB043F}"/>
                </c:ext>
              </c:extLst>
            </c:dLbl>
            <c:spPr>
              <a:solidFill>
                <a:schemeClr val="accent5">
                  <a:lumMod val="40000"/>
                  <a:lumOff val="60000"/>
                </a:schemeClr>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Domestic</c:v>
                </c:pt>
                <c:pt idx="1">
                  <c:v>Commercial</c:v>
                </c:pt>
                <c:pt idx="2">
                  <c:v>Industrial</c:v>
                </c:pt>
                <c:pt idx="3">
                  <c:v>Agricultural</c:v>
                </c:pt>
                <c:pt idx="4">
                  <c:v>Other </c:v>
                </c:pt>
                <c:pt idx="5">
                  <c:v>Total</c:v>
                </c:pt>
              </c:strCache>
            </c:strRef>
          </c:cat>
          <c:val>
            <c:numRef>
              <c:f>Sheet1!$C$2:$C$7</c:f>
              <c:numCache>
                <c:formatCode>0%</c:formatCode>
                <c:ptCount val="6"/>
                <c:pt idx="0">
                  <c:v>0.23398063847691339</c:v>
                </c:pt>
                <c:pt idx="1">
                  <c:v>0.16778097723040528</c:v>
                </c:pt>
                <c:pt idx="2">
                  <c:v>0.38870204735874453</c:v>
                </c:pt>
                <c:pt idx="3">
                  <c:v>0.12127489245167064</c:v>
                </c:pt>
                <c:pt idx="4">
                  <c:v>8.8261444482266291E-2</c:v>
                </c:pt>
                <c:pt idx="5">
                  <c:v>1</c:v>
                </c:pt>
              </c:numCache>
            </c:numRef>
          </c:val>
          <c:extLst>
            <c:ext xmlns:c16="http://schemas.microsoft.com/office/drawing/2014/chart" uri="{C3380CC4-5D6E-409C-BE32-E72D297353CC}">
              <c16:uniqueId val="{00000001-5D97-4F34-BF9B-AD8C57AB043F}"/>
            </c:ext>
          </c:extLst>
        </c:ser>
        <c:dLbls>
          <c:showLegendKey val="0"/>
          <c:showVal val="0"/>
          <c:showCatName val="0"/>
          <c:showSerName val="0"/>
          <c:showPercent val="0"/>
          <c:showBubbleSize val="0"/>
        </c:dLbls>
        <c:gapWidth val="219"/>
        <c:overlap val="-27"/>
        <c:axId val="807611151"/>
        <c:axId val="807602415"/>
      </c:barChart>
      <c:lineChart>
        <c:grouping val="stacked"/>
        <c:varyColors val="0"/>
        <c:ser>
          <c:idx val="2"/>
          <c:order val="2"/>
          <c:tx>
            <c:strRef>
              <c:f>Sheet1!$D$1</c:f>
              <c:strCache>
                <c:ptCount val="1"/>
                <c:pt idx="0">
                  <c:v>Average Triff Rate ( Rs/KWh)</c:v>
                </c:pt>
              </c:strCache>
            </c:strRef>
          </c:tx>
          <c:spPr>
            <a:ln w="28575" cap="rnd">
              <a:solidFill>
                <a:srgbClr val="041E42"/>
              </a:solidFill>
              <a:round/>
            </a:ln>
            <a:effectLst/>
          </c:spPr>
          <c:marker>
            <c:symbol val="circle"/>
            <c:size val="5"/>
            <c:spPr>
              <a:solidFill>
                <a:schemeClr val="accent3"/>
              </a:solidFill>
              <a:ln w="9525">
                <a:solidFill>
                  <a:schemeClr val="accent3"/>
                </a:solidFill>
              </a:ln>
              <a:effectLst/>
            </c:spPr>
          </c:marker>
          <c:dLbls>
            <c:dLbl>
              <c:idx val="0"/>
              <c:layout>
                <c:manualLayout>
                  <c:x val="-2.887149947750026E-2"/>
                  <c:y val="-4.87802643978827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D97-4F34-BF9B-AD8C57AB043F}"/>
                </c:ext>
              </c:extLst>
            </c:dLbl>
            <c:dLbl>
              <c:idx val="1"/>
              <c:layout>
                <c:manualLayout>
                  <c:x val="-3.433526802366027E-2"/>
                  <c:y val="2.087508056114979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D97-4F34-BF9B-AD8C57AB043F}"/>
                </c:ext>
              </c:extLst>
            </c:dLbl>
            <c:dLbl>
              <c:idx val="2"/>
              <c:layout>
                <c:manualLayout>
                  <c:x val="-3.433526802366027E-2"/>
                  <c:y val="-8.024016232076454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D97-4F34-BF9B-AD8C57AB043F}"/>
                </c:ext>
              </c:extLst>
            </c:dLbl>
            <c:dLbl>
              <c:idx val="3"/>
              <c:layout>
                <c:manualLayout>
                  <c:x val="-2.7050243295446971E-2"/>
                  <c:y val="-0.1393188363674795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D97-4F34-BF9B-AD8C57AB043F}"/>
                </c:ext>
              </c:extLst>
            </c:dLbl>
            <c:dLbl>
              <c:idx val="4"/>
              <c:layout>
                <c:manualLayout>
                  <c:x val="-3.6156524205713608E-2"/>
                  <c:y val="-4.1233899293743762E-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D97-4F34-BF9B-AD8C57AB043F}"/>
                </c:ext>
              </c:extLst>
            </c:dLbl>
            <c:dLbl>
              <c:idx val="5"/>
              <c:layout>
                <c:manualLayout>
                  <c:x val="-3.7977780387766953E-2"/>
                  <c:y val="-6.111941941677456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5D97-4F34-BF9B-AD8C57AB043F}"/>
                </c:ext>
              </c:extLst>
            </c:dLbl>
            <c:spPr>
              <a:solidFill>
                <a:srgbClr val="E3E48D"/>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Domestic</c:v>
                </c:pt>
                <c:pt idx="1">
                  <c:v>Commercial</c:v>
                </c:pt>
                <c:pt idx="2">
                  <c:v>Industrial</c:v>
                </c:pt>
                <c:pt idx="3">
                  <c:v>Agricultural</c:v>
                </c:pt>
                <c:pt idx="4">
                  <c:v>Other </c:v>
                </c:pt>
                <c:pt idx="5">
                  <c:v>Total</c:v>
                </c:pt>
              </c:strCache>
            </c:strRef>
          </c:cat>
          <c:val>
            <c:numRef>
              <c:f>Sheet1!$D$2:$D$7</c:f>
              <c:numCache>
                <c:formatCode>0.0</c:formatCode>
                <c:ptCount val="6"/>
                <c:pt idx="0">
                  <c:v>4.1633468501235011</c:v>
                </c:pt>
                <c:pt idx="1">
                  <c:v>10.875028078436593</c:v>
                </c:pt>
                <c:pt idx="2">
                  <c:v>7.528921700551864</c:v>
                </c:pt>
                <c:pt idx="3">
                  <c:v>1.9788935198760103</c:v>
                </c:pt>
                <c:pt idx="4">
                  <c:v>8.0090323820505418</c:v>
                </c:pt>
                <c:pt idx="5">
                  <c:v>5.1135068330144051</c:v>
                </c:pt>
              </c:numCache>
            </c:numRef>
          </c:val>
          <c:smooth val="0"/>
          <c:extLst>
            <c:ext xmlns:c16="http://schemas.microsoft.com/office/drawing/2014/chart" uri="{C3380CC4-5D6E-409C-BE32-E72D297353CC}">
              <c16:uniqueId val="{00000002-5D97-4F34-BF9B-AD8C57AB043F}"/>
            </c:ext>
          </c:extLst>
        </c:ser>
        <c:dLbls>
          <c:showLegendKey val="0"/>
          <c:showVal val="0"/>
          <c:showCatName val="0"/>
          <c:showSerName val="0"/>
          <c:showPercent val="0"/>
          <c:showBubbleSize val="0"/>
        </c:dLbls>
        <c:marker val="1"/>
        <c:smooth val="0"/>
        <c:axId val="807579535"/>
        <c:axId val="807583279"/>
      </c:lineChart>
      <c:catAx>
        <c:axId val="8076111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807602415"/>
        <c:crosses val="autoZero"/>
        <c:auto val="1"/>
        <c:lblAlgn val="ctr"/>
        <c:lblOffset val="100"/>
        <c:noMultiLvlLbl val="0"/>
      </c:catAx>
      <c:valAx>
        <c:axId val="807602415"/>
        <c:scaling>
          <c:orientation val="minMax"/>
          <c:max val="1"/>
          <c:min val="0"/>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807611151"/>
        <c:crosses val="autoZero"/>
        <c:crossBetween val="between"/>
        <c:majorUnit val="0.5"/>
      </c:valAx>
      <c:valAx>
        <c:axId val="807583279"/>
        <c:scaling>
          <c:orientation val="minMax"/>
          <c:max val="11"/>
          <c:min val="1"/>
        </c:scaling>
        <c:delete val="0"/>
        <c:axPos val="r"/>
        <c:numFmt formatCode="0" sourceLinked="0"/>
        <c:majorTickMark val="out"/>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807579535"/>
        <c:crosses val="max"/>
        <c:crossBetween val="between"/>
        <c:majorUnit val="2.5"/>
      </c:valAx>
      <c:catAx>
        <c:axId val="807579535"/>
        <c:scaling>
          <c:orientation val="minMax"/>
        </c:scaling>
        <c:delete val="1"/>
        <c:axPos val="b"/>
        <c:numFmt formatCode="General" sourceLinked="1"/>
        <c:majorTickMark val="out"/>
        <c:minorTickMark val="none"/>
        <c:tickLblPos val="nextTo"/>
        <c:crossAx val="807583279"/>
        <c:crosses val="autoZero"/>
        <c:auto val="1"/>
        <c:lblAlgn val="ctr"/>
        <c:lblOffset val="100"/>
        <c:noMultiLvlLbl val="0"/>
      </c:catAx>
      <c:spPr>
        <a:noFill/>
        <a:ln>
          <a:noFill/>
        </a:ln>
        <a:effectLst/>
      </c:spPr>
    </c:plotArea>
    <c:legend>
      <c:legendPos val="b"/>
      <c:layout>
        <c:manualLayout>
          <c:xMode val="edge"/>
          <c:yMode val="edge"/>
          <c:x val="4.4986461756703192E-4"/>
          <c:y val="0.87209738910637258"/>
          <c:w val="0.98999384644860078"/>
          <c:h val="9.597148156249658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alpha val="50000"/>
      </a:schemeClr>
    </a:solidFill>
    <a:ln>
      <a:solidFill>
        <a:srgbClr val="00B0F0"/>
      </a:solid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0.99444176598836953"/>
          <c:h val="0.7503692247449586"/>
        </c:manualLayout>
      </c:layout>
      <c:barChart>
        <c:barDir val="col"/>
        <c:grouping val="clustered"/>
        <c:varyColors val="0"/>
        <c:ser>
          <c:idx val="0"/>
          <c:order val="0"/>
          <c:tx>
            <c:strRef>
              <c:f>Sheet1!$B$1</c:f>
              <c:strCache>
                <c:ptCount val="1"/>
                <c:pt idx="0">
                  <c:v>Industrial Average Tariff ( Rs/KWh)*</c:v>
                </c:pt>
              </c:strCache>
            </c:strRef>
          </c:tx>
          <c:spPr>
            <a:solidFill>
              <a:srgbClr val="0076A8"/>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Chandigarh</c:v>
                </c:pt>
                <c:pt idx="1">
                  <c:v>Haryana</c:v>
                </c:pt>
                <c:pt idx="2">
                  <c:v>Gujarat</c:v>
                </c:pt>
                <c:pt idx="3">
                  <c:v>Andhra Pradesh</c:v>
                </c:pt>
                <c:pt idx="4">
                  <c:v>Maharshtra </c:v>
                </c:pt>
                <c:pt idx="5">
                  <c:v>West Bengal</c:v>
                </c:pt>
              </c:strCache>
            </c:strRef>
          </c:cat>
          <c:val>
            <c:numRef>
              <c:f>Sheet1!$B$2:$B$7</c:f>
              <c:numCache>
                <c:formatCode>General</c:formatCode>
                <c:ptCount val="6"/>
                <c:pt idx="0">
                  <c:v>5.79</c:v>
                </c:pt>
                <c:pt idx="1">
                  <c:v>6.44</c:v>
                </c:pt>
                <c:pt idx="2">
                  <c:v>5.26</c:v>
                </c:pt>
                <c:pt idx="3">
                  <c:v>8.44</c:v>
                </c:pt>
                <c:pt idx="4">
                  <c:v>9.4700000000000006</c:v>
                </c:pt>
                <c:pt idx="5">
                  <c:v>9.9499999999999993</c:v>
                </c:pt>
              </c:numCache>
            </c:numRef>
          </c:val>
          <c:extLst>
            <c:ext xmlns:c16="http://schemas.microsoft.com/office/drawing/2014/chart" uri="{C3380CC4-5D6E-409C-BE32-E72D297353CC}">
              <c16:uniqueId val="{00000000-5CA8-4BA8-BBB3-DAA788C18DEC}"/>
            </c:ext>
          </c:extLst>
        </c:ser>
        <c:ser>
          <c:idx val="1"/>
          <c:order val="1"/>
          <c:tx>
            <c:strRef>
              <c:f>Sheet1!$C$1</c:f>
              <c:strCache>
                <c:ptCount val="1"/>
                <c:pt idx="0">
                  <c:v>Average Billing Rate considering  all consumer categories  ( Rs /KWh)</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Chandigarh</c:v>
                </c:pt>
                <c:pt idx="1">
                  <c:v>Haryana</c:v>
                </c:pt>
                <c:pt idx="2">
                  <c:v>Gujarat</c:v>
                </c:pt>
                <c:pt idx="3">
                  <c:v>Andhra Pradesh</c:v>
                </c:pt>
                <c:pt idx="4">
                  <c:v>Maharshtra </c:v>
                </c:pt>
                <c:pt idx="5">
                  <c:v>West Bengal</c:v>
                </c:pt>
              </c:strCache>
            </c:strRef>
          </c:cat>
          <c:val>
            <c:numRef>
              <c:f>Sheet1!$C$2:$C$7</c:f>
              <c:numCache>
                <c:formatCode>General</c:formatCode>
                <c:ptCount val="6"/>
                <c:pt idx="0">
                  <c:v>5.22</c:v>
                </c:pt>
                <c:pt idx="1">
                  <c:v>5.0999999999999996</c:v>
                </c:pt>
                <c:pt idx="2">
                  <c:v>4.7</c:v>
                </c:pt>
                <c:pt idx="3">
                  <c:v>5.1100000000000003</c:v>
                </c:pt>
                <c:pt idx="4">
                  <c:v>7.26</c:v>
                </c:pt>
                <c:pt idx="5">
                  <c:v>6.98</c:v>
                </c:pt>
              </c:numCache>
            </c:numRef>
          </c:val>
          <c:extLst>
            <c:ext xmlns:c16="http://schemas.microsoft.com/office/drawing/2014/chart" uri="{C3380CC4-5D6E-409C-BE32-E72D297353CC}">
              <c16:uniqueId val="{00000001-5CA8-4BA8-BBB3-DAA788C18DEC}"/>
            </c:ext>
          </c:extLst>
        </c:ser>
        <c:dLbls>
          <c:showLegendKey val="0"/>
          <c:showVal val="0"/>
          <c:showCatName val="0"/>
          <c:showSerName val="0"/>
          <c:showPercent val="0"/>
          <c:showBubbleSize val="0"/>
        </c:dLbls>
        <c:gapWidth val="219"/>
        <c:overlap val="-27"/>
        <c:axId val="1674033184"/>
        <c:axId val="1674049824"/>
      </c:barChart>
      <c:catAx>
        <c:axId val="1674033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74049824"/>
        <c:crosses val="autoZero"/>
        <c:auto val="1"/>
        <c:lblAlgn val="ctr"/>
        <c:lblOffset val="100"/>
        <c:noMultiLvlLbl val="0"/>
      </c:catAx>
      <c:valAx>
        <c:axId val="1674049824"/>
        <c:scaling>
          <c:orientation val="minMax"/>
          <c:max val="10"/>
          <c:min val="0"/>
        </c:scaling>
        <c:delete val="1"/>
        <c:axPos val="l"/>
        <c:numFmt formatCode="General" sourceLinked="1"/>
        <c:majorTickMark val="none"/>
        <c:minorTickMark val="none"/>
        <c:tickLblPos val="nextTo"/>
        <c:crossAx val="1674033184"/>
        <c:crosses val="autoZero"/>
        <c:crossBetween val="between"/>
      </c:valAx>
      <c:spPr>
        <a:noFill/>
        <a:ln>
          <a:noFill/>
        </a:ln>
        <a:effectLst/>
      </c:spPr>
    </c:plotArea>
    <c:legend>
      <c:legendPos val="b"/>
      <c:layout>
        <c:manualLayout>
          <c:xMode val="edge"/>
          <c:yMode val="edge"/>
          <c:x val="1.4641876417787329E-2"/>
          <c:y val="0.91012988963243779"/>
          <c:w val="0.98405600879233845"/>
          <c:h val="5.8834774628691154E-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85000"/>
      </a:schemeClr>
    </a:solid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232936046521806E-3"/>
          <c:y val="0"/>
          <c:w val="0.99444176598836953"/>
          <c:h val="0.67982000530556563"/>
        </c:manualLayout>
      </c:layout>
      <c:barChart>
        <c:barDir val="col"/>
        <c:grouping val="clustered"/>
        <c:varyColors val="0"/>
        <c:ser>
          <c:idx val="0"/>
          <c:order val="0"/>
          <c:tx>
            <c:strRef>
              <c:f>Sheet1!$B$1</c:f>
              <c:strCache>
                <c:ptCount val="1"/>
                <c:pt idx="0">
                  <c:v>Industrial Average Tariff ( Rs/KWh)*</c:v>
                </c:pt>
              </c:strCache>
            </c:strRef>
          </c:tx>
          <c:spPr>
            <a:solidFill>
              <a:srgbClr val="0076A8"/>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Chandigarh</c:v>
                </c:pt>
                <c:pt idx="1">
                  <c:v>Haryana</c:v>
                </c:pt>
                <c:pt idx="2">
                  <c:v>Gujarat</c:v>
                </c:pt>
                <c:pt idx="3">
                  <c:v>Andhra Pradesh</c:v>
                </c:pt>
                <c:pt idx="4">
                  <c:v>Maharshtra </c:v>
                </c:pt>
                <c:pt idx="5">
                  <c:v>West Bengal</c:v>
                </c:pt>
              </c:strCache>
            </c:strRef>
          </c:cat>
          <c:val>
            <c:numRef>
              <c:f>Sheet1!$B$2:$B$7</c:f>
              <c:numCache>
                <c:formatCode>General</c:formatCode>
                <c:ptCount val="6"/>
                <c:pt idx="0">
                  <c:v>5.79</c:v>
                </c:pt>
                <c:pt idx="1">
                  <c:v>6.35</c:v>
                </c:pt>
                <c:pt idx="2">
                  <c:v>6.81</c:v>
                </c:pt>
                <c:pt idx="3">
                  <c:v>7.95</c:v>
                </c:pt>
                <c:pt idx="4">
                  <c:v>9.7200000000000006</c:v>
                </c:pt>
                <c:pt idx="5">
                  <c:v>9.9</c:v>
                </c:pt>
              </c:numCache>
            </c:numRef>
          </c:val>
          <c:extLst>
            <c:ext xmlns:c16="http://schemas.microsoft.com/office/drawing/2014/chart" uri="{C3380CC4-5D6E-409C-BE32-E72D297353CC}">
              <c16:uniqueId val="{00000000-35C4-4DA9-9FC7-EED981C5C553}"/>
            </c:ext>
          </c:extLst>
        </c:ser>
        <c:ser>
          <c:idx val="1"/>
          <c:order val="1"/>
          <c:tx>
            <c:strRef>
              <c:f>Sheet1!$C$1</c:f>
              <c:strCache>
                <c:ptCount val="1"/>
                <c:pt idx="0">
                  <c:v>Average Billing Rate considering  all consumer categories  ( Rs /KWh)</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Chandigarh</c:v>
                </c:pt>
                <c:pt idx="1">
                  <c:v>Haryana</c:v>
                </c:pt>
                <c:pt idx="2">
                  <c:v>Gujarat</c:v>
                </c:pt>
                <c:pt idx="3">
                  <c:v>Andhra Pradesh</c:v>
                </c:pt>
                <c:pt idx="4">
                  <c:v>Maharshtra </c:v>
                </c:pt>
                <c:pt idx="5">
                  <c:v>West Bengal</c:v>
                </c:pt>
              </c:strCache>
            </c:strRef>
          </c:cat>
          <c:val>
            <c:numRef>
              <c:f>Sheet1!$C$2:$C$7</c:f>
              <c:numCache>
                <c:formatCode>General</c:formatCode>
                <c:ptCount val="6"/>
                <c:pt idx="0">
                  <c:v>5.22</c:v>
                </c:pt>
                <c:pt idx="1">
                  <c:v>5.0999999999999996</c:v>
                </c:pt>
                <c:pt idx="2">
                  <c:v>4.7</c:v>
                </c:pt>
                <c:pt idx="3">
                  <c:v>5.1100000000000003</c:v>
                </c:pt>
                <c:pt idx="4">
                  <c:v>7.26</c:v>
                </c:pt>
                <c:pt idx="5">
                  <c:v>6.98</c:v>
                </c:pt>
              </c:numCache>
            </c:numRef>
          </c:val>
          <c:extLst>
            <c:ext xmlns:c16="http://schemas.microsoft.com/office/drawing/2014/chart" uri="{C3380CC4-5D6E-409C-BE32-E72D297353CC}">
              <c16:uniqueId val="{00000001-35C4-4DA9-9FC7-EED981C5C553}"/>
            </c:ext>
          </c:extLst>
        </c:ser>
        <c:dLbls>
          <c:showLegendKey val="0"/>
          <c:showVal val="0"/>
          <c:showCatName val="0"/>
          <c:showSerName val="0"/>
          <c:showPercent val="0"/>
          <c:showBubbleSize val="0"/>
        </c:dLbls>
        <c:gapWidth val="219"/>
        <c:overlap val="-27"/>
        <c:axId val="1674033184"/>
        <c:axId val="1674049824"/>
      </c:barChart>
      <c:catAx>
        <c:axId val="1674033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74049824"/>
        <c:crosses val="autoZero"/>
        <c:auto val="1"/>
        <c:lblAlgn val="ctr"/>
        <c:lblOffset val="100"/>
        <c:noMultiLvlLbl val="0"/>
      </c:catAx>
      <c:valAx>
        <c:axId val="1674049824"/>
        <c:scaling>
          <c:orientation val="minMax"/>
          <c:max val="10"/>
          <c:min val="0"/>
        </c:scaling>
        <c:delete val="1"/>
        <c:axPos val="l"/>
        <c:numFmt formatCode="General" sourceLinked="1"/>
        <c:majorTickMark val="none"/>
        <c:minorTickMark val="none"/>
        <c:tickLblPos val="nextTo"/>
        <c:crossAx val="1674033184"/>
        <c:crosses val="autoZero"/>
        <c:crossBetween val="between"/>
      </c:valAx>
      <c:spPr>
        <a:noFill/>
        <a:ln>
          <a:noFill/>
        </a:ln>
        <a:effectLst/>
      </c:spPr>
    </c:plotArea>
    <c:legend>
      <c:legendPos val="b"/>
      <c:layout>
        <c:manualLayout>
          <c:xMode val="edge"/>
          <c:yMode val="edge"/>
          <c:x val="1.4641876417787329E-2"/>
          <c:y val="0.81123450964268418"/>
          <c:w val="0.98405600879233845"/>
          <c:h val="0.1577300069200775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85000"/>
      </a:schemeClr>
    </a:solid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dirty="0">
                <a:latin typeface="Verdana" panose="020B0604030504040204" pitchFamily="34" charset="0"/>
                <a:ea typeface="Verdana" panose="020B0604030504040204" pitchFamily="34" charset="0"/>
              </a:rPr>
              <a:t>Domestic LV Fixed Charge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4"/>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2-0E91-4EDF-AF20-AE5F2CDE522E}"/>
              </c:ext>
            </c:extLst>
          </c:dPt>
          <c:dPt>
            <c:idx val="5"/>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3-0E91-4EDF-AF20-AE5F2CDE522E}"/>
              </c:ext>
            </c:extLst>
          </c:dPt>
          <c:dPt>
            <c:idx val="6"/>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4-0E91-4EDF-AF20-AE5F2CDE522E}"/>
              </c:ext>
            </c:extLst>
          </c:dPt>
          <c:dPt>
            <c:idx val="7"/>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5-0E91-4EDF-AF20-AE5F2CDE522E}"/>
              </c:ext>
            </c:extLst>
          </c:dPt>
          <c:dPt>
            <c:idx val="8"/>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6-0E91-4EDF-AF20-AE5F2CDE522E}"/>
              </c:ext>
            </c:extLst>
          </c:dPt>
          <c:dPt>
            <c:idx val="9"/>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7-0E91-4EDF-AF20-AE5F2CDE522E}"/>
              </c:ext>
            </c:extLst>
          </c:dPt>
          <c:dPt>
            <c:idx val="10"/>
            <c:invertIfNegative val="0"/>
            <c:bubble3D val="0"/>
            <c:spPr>
              <a:solidFill>
                <a:srgbClr val="FFC000"/>
              </a:solidFill>
              <a:ln>
                <a:noFill/>
              </a:ln>
              <a:effectLst/>
            </c:spPr>
            <c:extLst>
              <c:ext xmlns:c16="http://schemas.microsoft.com/office/drawing/2014/chart" uri="{C3380CC4-5D6E-409C-BE32-E72D297353CC}">
                <c16:uniqueId val="{00000008-0E91-4EDF-AF20-AE5F2CDE522E}"/>
              </c:ext>
            </c:extLst>
          </c:dPt>
          <c:dPt>
            <c:idx val="11"/>
            <c:invertIfNegative val="0"/>
            <c:bubble3D val="0"/>
            <c:spPr>
              <a:solidFill>
                <a:srgbClr val="FFC000"/>
              </a:solidFill>
              <a:ln>
                <a:noFill/>
              </a:ln>
              <a:effectLst/>
            </c:spPr>
            <c:extLst>
              <c:ext xmlns:c16="http://schemas.microsoft.com/office/drawing/2014/chart" uri="{C3380CC4-5D6E-409C-BE32-E72D297353CC}">
                <c16:uniqueId val="{00000009-0E91-4EDF-AF20-AE5F2CDE522E}"/>
              </c:ext>
            </c:extLst>
          </c:dPt>
          <c:dPt>
            <c:idx val="12"/>
            <c:invertIfNegative val="0"/>
            <c:bubble3D val="0"/>
            <c:spPr>
              <a:solidFill>
                <a:srgbClr val="FFC000"/>
              </a:solidFill>
              <a:ln>
                <a:noFill/>
              </a:ln>
              <a:effectLst/>
            </c:spPr>
            <c:extLst>
              <c:ext xmlns:c16="http://schemas.microsoft.com/office/drawing/2014/chart" uri="{C3380CC4-5D6E-409C-BE32-E72D297353CC}">
                <c16:uniqueId val="{0000000A-0E91-4EDF-AF20-AE5F2CDE522E}"/>
              </c:ext>
            </c:extLst>
          </c:dPt>
          <c:dPt>
            <c:idx val="13"/>
            <c:invertIfNegative val="0"/>
            <c:bubble3D val="0"/>
            <c:spPr>
              <a:solidFill>
                <a:srgbClr val="FFC000"/>
              </a:solidFill>
              <a:ln>
                <a:noFill/>
              </a:ln>
              <a:effectLst/>
            </c:spPr>
            <c:extLst>
              <c:ext xmlns:c16="http://schemas.microsoft.com/office/drawing/2014/chart" uri="{C3380CC4-5D6E-409C-BE32-E72D297353CC}">
                <c16:uniqueId val="{0000000B-0E91-4EDF-AF20-AE5F2CDE522E}"/>
              </c:ext>
            </c:extLst>
          </c:dPt>
          <c:dPt>
            <c:idx val="14"/>
            <c:invertIfNegative val="0"/>
            <c:bubble3D val="0"/>
            <c:spPr>
              <a:solidFill>
                <a:srgbClr val="FFC000"/>
              </a:solidFill>
              <a:ln>
                <a:noFill/>
              </a:ln>
              <a:effectLst/>
            </c:spPr>
            <c:extLst>
              <c:ext xmlns:c16="http://schemas.microsoft.com/office/drawing/2014/chart" uri="{C3380CC4-5D6E-409C-BE32-E72D297353CC}">
                <c16:uniqueId val="{0000000C-0E91-4EDF-AF20-AE5F2CDE522E}"/>
              </c:ext>
            </c:extLst>
          </c:dPt>
          <c:dPt>
            <c:idx val="15"/>
            <c:invertIfNegative val="0"/>
            <c:bubble3D val="0"/>
            <c:spPr>
              <a:solidFill>
                <a:srgbClr val="FFC000"/>
              </a:solidFill>
              <a:ln>
                <a:noFill/>
              </a:ln>
              <a:effectLst/>
            </c:spPr>
            <c:extLst>
              <c:ext xmlns:c16="http://schemas.microsoft.com/office/drawing/2014/chart" uri="{C3380CC4-5D6E-409C-BE32-E72D297353CC}">
                <c16:uniqueId val="{0000000D-0E91-4EDF-AF20-AE5F2CDE522E}"/>
              </c:ext>
            </c:extLst>
          </c:dPt>
          <c:dPt>
            <c:idx val="16"/>
            <c:invertIfNegative val="0"/>
            <c:bubble3D val="0"/>
            <c:spPr>
              <a:solidFill>
                <a:srgbClr val="009A44"/>
              </a:solidFill>
              <a:ln>
                <a:noFill/>
              </a:ln>
              <a:effectLst/>
            </c:spPr>
            <c:extLst>
              <c:ext xmlns:c16="http://schemas.microsoft.com/office/drawing/2014/chart" uri="{C3380CC4-5D6E-409C-BE32-E72D297353CC}">
                <c16:uniqueId val="{0000000E-0E91-4EDF-AF20-AE5F2CDE522E}"/>
              </c:ext>
            </c:extLst>
          </c:dPt>
          <c:dPt>
            <c:idx val="17"/>
            <c:invertIfNegative val="0"/>
            <c:bubble3D val="0"/>
            <c:spPr>
              <a:solidFill>
                <a:srgbClr val="009A44"/>
              </a:solidFill>
              <a:ln>
                <a:noFill/>
              </a:ln>
              <a:effectLst/>
            </c:spPr>
            <c:extLst>
              <c:ext xmlns:c16="http://schemas.microsoft.com/office/drawing/2014/chart" uri="{C3380CC4-5D6E-409C-BE32-E72D297353CC}">
                <c16:uniqueId val="{0000000F-0E91-4EDF-AF20-AE5F2CDE522E}"/>
              </c:ext>
            </c:extLst>
          </c:dPt>
          <c:dPt>
            <c:idx val="18"/>
            <c:invertIfNegative val="0"/>
            <c:bubble3D val="0"/>
            <c:spPr>
              <a:solidFill>
                <a:schemeClr val="accent5"/>
              </a:solidFill>
              <a:ln>
                <a:noFill/>
              </a:ln>
              <a:effectLst/>
            </c:spPr>
            <c:extLst>
              <c:ext xmlns:c16="http://schemas.microsoft.com/office/drawing/2014/chart" uri="{C3380CC4-5D6E-409C-BE32-E72D297353CC}">
                <c16:uniqueId val="{00000010-0E91-4EDF-AF20-AE5F2CDE522E}"/>
              </c:ext>
            </c:extLst>
          </c:dPt>
          <c:dPt>
            <c:idx val="19"/>
            <c:invertIfNegative val="0"/>
            <c:bubble3D val="0"/>
            <c:spPr>
              <a:solidFill>
                <a:schemeClr val="accent5"/>
              </a:solidFill>
              <a:ln>
                <a:noFill/>
              </a:ln>
              <a:effectLst/>
            </c:spPr>
            <c:extLst>
              <c:ext xmlns:c16="http://schemas.microsoft.com/office/drawing/2014/chart" uri="{C3380CC4-5D6E-409C-BE32-E72D297353CC}">
                <c16:uniqueId val="{00000011-0E91-4EDF-AF20-AE5F2CDE522E}"/>
              </c:ext>
            </c:extLst>
          </c:dPt>
          <c:dPt>
            <c:idx val="20"/>
            <c:invertIfNegative val="0"/>
            <c:bubble3D val="0"/>
            <c:spPr>
              <a:solidFill>
                <a:schemeClr val="accent5"/>
              </a:solidFill>
              <a:ln>
                <a:noFill/>
              </a:ln>
              <a:effectLst/>
            </c:spPr>
            <c:extLst>
              <c:ext xmlns:c16="http://schemas.microsoft.com/office/drawing/2014/chart" uri="{C3380CC4-5D6E-409C-BE32-E72D297353CC}">
                <c16:uniqueId val="{00000012-0E91-4EDF-AF20-AE5F2CDE522E}"/>
              </c:ext>
            </c:extLst>
          </c:dPt>
          <c:dPt>
            <c:idx val="21"/>
            <c:invertIfNegative val="0"/>
            <c:bubble3D val="0"/>
            <c:spPr>
              <a:solidFill>
                <a:schemeClr val="accent5"/>
              </a:solidFill>
              <a:ln>
                <a:noFill/>
              </a:ln>
              <a:effectLst/>
            </c:spPr>
            <c:extLst>
              <c:ext xmlns:c16="http://schemas.microsoft.com/office/drawing/2014/chart" uri="{C3380CC4-5D6E-409C-BE32-E72D297353CC}">
                <c16:uniqueId val="{00000013-0E91-4EDF-AF20-AE5F2CDE522E}"/>
              </c:ext>
            </c:extLst>
          </c:dPt>
          <c:dPt>
            <c:idx val="22"/>
            <c:invertIfNegative val="0"/>
            <c:bubble3D val="0"/>
            <c:spPr>
              <a:solidFill>
                <a:schemeClr val="accent5"/>
              </a:solidFill>
              <a:ln>
                <a:noFill/>
              </a:ln>
              <a:effectLst/>
            </c:spPr>
            <c:extLst>
              <c:ext xmlns:c16="http://schemas.microsoft.com/office/drawing/2014/chart" uri="{C3380CC4-5D6E-409C-BE32-E72D297353CC}">
                <c16:uniqueId val="{00000014-0E91-4EDF-AF20-AE5F2CDE522E}"/>
              </c:ext>
            </c:extLst>
          </c:dPt>
          <c:dPt>
            <c:idx val="23"/>
            <c:invertIfNegative val="0"/>
            <c:bubble3D val="0"/>
            <c:spPr>
              <a:solidFill>
                <a:schemeClr val="accent5"/>
              </a:solidFill>
              <a:ln>
                <a:noFill/>
              </a:ln>
              <a:effectLst/>
            </c:spPr>
            <c:extLst>
              <c:ext xmlns:c16="http://schemas.microsoft.com/office/drawing/2014/chart" uri="{C3380CC4-5D6E-409C-BE32-E72D297353CC}">
                <c16:uniqueId val="{00000015-0E91-4EDF-AF20-AE5F2CDE522E}"/>
              </c:ext>
            </c:extLst>
          </c:dPt>
          <c:dPt>
            <c:idx val="24"/>
            <c:invertIfNegative val="0"/>
            <c:bubble3D val="0"/>
            <c:spPr>
              <a:solidFill>
                <a:schemeClr val="accent5"/>
              </a:solidFill>
              <a:ln>
                <a:noFill/>
              </a:ln>
              <a:effectLst/>
            </c:spPr>
            <c:extLst>
              <c:ext xmlns:c16="http://schemas.microsoft.com/office/drawing/2014/chart" uri="{C3380CC4-5D6E-409C-BE32-E72D297353CC}">
                <c16:uniqueId val="{00000016-0E91-4EDF-AF20-AE5F2CDE522E}"/>
              </c:ext>
            </c:extLst>
          </c:dPt>
          <c:dPt>
            <c:idx val="25"/>
            <c:invertIfNegative val="0"/>
            <c:bubble3D val="0"/>
            <c:spPr>
              <a:solidFill>
                <a:schemeClr val="accent5"/>
              </a:solidFill>
              <a:ln>
                <a:noFill/>
              </a:ln>
              <a:effectLst/>
            </c:spPr>
            <c:extLst>
              <c:ext xmlns:c16="http://schemas.microsoft.com/office/drawing/2014/chart" uri="{C3380CC4-5D6E-409C-BE32-E72D297353CC}">
                <c16:uniqueId val="{00000017-0E91-4EDF-AF20-AE5F2CDE522E}"/>
              </c:ext>
            </c:extLst>
          </c:dPt>
          <c:dPt>
            <c:idx val="26"/>
            <c:invertIfNegative val="0"/>
            <c:bubble3D val="0"/>
            <c:spPr>
              <a:solidFill>
                <a:schemeClr val="accent5"/>
              </a:solidFill>
              <a:ln>
                <a:noFill/>
              </a:ln>
              <a:effectLst/>
            </c:spPr>
            <c:extLst>
              <c:ext xmlns:c16="http://schemas.microsoft.com/office/drawing/2014/chart" uri="{C3380CC4-5D6E-409C-BE32-E72D297353CC}">
                <c16:uniqueId val="{00000018-0E91-4EDF-AF20-AE5F2CDE522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'FC - LV Domestic'!$C$6:$D$32</c:f>
              <c:multiLvlStrCache>
                <c:ptCount val="27"/>
                <c:lvl>
                  <c:pt idx="0">
                    <c:v>WBSEDCL erstwhile DPL Rs/KVA/month </c:v>
                  </c:pt>
                  <c:pt idx="1">
                    <c:v>WBSEDCL  Rs/KVA/month </c:v>
                  </c:pt>
                  <c:pt idx="2">
                    <c:v>IPCL  Rs/KVA/month </c:v>
                  </c:pt>
                  <c:pt idx="3">
                    <c:v>CESC Rs/KVA/month </c:v>
                  </c:pt>
                  <c:pt idx="4">
                    <c:v>TPDDL (0-2 kW connection)</c:v>
                  </c:pt>
                  <c:pt idx="5">
                    <c:v>TPDDL (2-5 kW connection)</c:v>
                  </c:pt>
                  <c:pt idx="6">
                    <c:v>TPDDL (5-15 kW connection)</c:v>
                  </c:pt>
                  <c:pt idx="7">
                    <c:v>BRPL (0-2 kW connection)</c:v>
                  </c:pt>
                  <c:pt idx="8">
                    <c:v>BRPL (2-5 kW connection)</c:v>
                  </c:pt>
                  <c:pt idx="9">
                    <c:v>BRPL (5-15 kW connection)</c:v>
                  </c:pt>
                  <c:pt idx="10">
                    <c:v>BESCOM Urban (0-1 kW)</c:v>
                  </c:pt>
                  <c:pt idx="11">
                    <c:v>BESCOM Urban (1-50 kW)</c:v>
                  </c:pt>
                  <c:pt idx="12">
                    <c:v>BESCOM Urban (above 50 kW)</c:v>
                  </c:pt>
                  <c:pt idx="13">
                    <c:v>BESCOM Rural (0-1 kW)</c:v>
                  </c:pt>
                  <c:pt idx="14">
                    <c:v>BESCOM Rural (1-50 kW)</c:v>
                  </c:pt>
                  <c:pt idx="15">
                    <c:v>BESCOM Rural (above 50 kW)</c:v>
                  </c:pt>
                  <c:pt idx="16">
                    <c:v>JBVNL rural per KW connnection</c:v>
                  </c:pt>
                  <c:pt idx="17">
                    <c:v>JBVNL Urban per KW connnection</c:v>
                  </c:pt>
                  <c:pt idx="18">
                    <c:v>MAHADISCOM</c:v>
                  </c:pt>
                  <c:pt idx="19">
                    <c:v>Tata Power - 0-100 KWh</c:v>
                  </c:pt>
                  <c:pt idx="20">
                    <c:v>Tata Power - 100-300  KWh</c:v>
                  </c:pt>
                  <c:pt idx="21">
                    <c:v>Tata Power - 301-500  KWh</c:v>
                  </c:pt>
                  <c:pt idx="22">
                    <c:v>Tata Power - above 500  KWh</c:v>
                  </c:pt>
                  <c:pt idx="23">
                    <c:v>Adani - 0-100 KWh</c:v>
                  </c:pt>
                  <c:pt idx="24">
                    <c:v>Adani - 100-300  KWh</c:v>
                  </c:pt>
                  <c:pt idx="25">
                    <c:v>Adani - 301-500  KWh</c:v>
                  </c:pt>
                  <c:pt idx="26">
                    <c:v>Adani - above 500  KWh</c:v>
                  </c:pt>
                </c:lvl>
                <c:lvl>
                  <c:pt idx="0">
                    <c:v>West Bengal</c:v>
                  </c:pt>
                  <c:pt idx="4">
                    <c:v>Delhi</c:v>
                  </c:pt>
                  <c:pt idx="10">
                    <c:v>Karnataka</c:v>
                  </c:pt>
                  <c:pt idx="16">
                    <c:v>Jharkhand</c:v>
                  </c:pt>
                  <c:pt idx="18">
                    <c:v>Maharashtra</c:v>
                  </c:pt>
                </c:lvl>
              </c:multiLvlStrCache>
            </c:multiLvlStrRef>
          </c:cat>
          <c:val>
            <c:numRef>
              <c:f>'FC - LV Domestic'!$E$6:$E$33</c:f>
              <c:numCache>
                <c:formatCode>General</c:formatCode>
                <c:ptCount val="28"/>
                <c:pt idx="0">
                  <c:v>15</c:v>
                </c:pt>
                <c:pt idx="1">
                  <c:v>15</c:v>
                </c:pt>
                <c:pt idx="2">
                  <c:v>15</c:v>
                </c:pt>
                <c:pt idx="3">
                  <c:v>15</c:v>
                </c:pt>
                <c:pt idx="4">
                  <c:v>20</c:v>
                </c:pt>
                <c:pt idx="5">
                  <c:v>50</c:v>
                </c:pt>
                <c:pt idx="6">
                  <c:v>100</c:v>
                </c:pt>
                <c:pt idx="7">
                  <c:v>20</c:v>
                </c:pt>
                <c:pt idx="8">
                  <c:v>50</c:v>
                </c:pt>
                <c:pt idx="9">
                  <c:v>100</c:v>
                </c:pt>
                <c:pt idx="10">
                  <c:v>85</c:v>
                </c:pt>
                <c:pt idx="11">
                  <c:v>95</c:v>
                </c:pt>
                <c:pt idx="12">
                  <c:v>150</c:v>
                </c:pt>
                <c:pt idx="13">
                  <c:v>70</c:v>
                </c:pt>
                <c:pt idx="14">
                  <c:v>85</c:v>
                </c:pt>
                <c:pt idx="15">
                  <c:v>140</c:v>
                </c:pt>
                <c:pt idx="16">
                  <c:v>75</c:v>
                </c:pt>
                <c:pt idx="17">
                  <c:v>150</c:v>
                </c:pt>
                <c:pt idx="18">
                  <c:v>105</c:v>
                </c:pt>
                <c:pt idx="19">
                  <c:v>115</c:v>
                </c:pt>
                <c:pt idx="20">
                  <c:v>165</c:v>
                </c:pt>
                <c:pt idx="21">
                  <c:v>175</c:v>
                </c:pt>
                <c:pt idx="22">
                  <c:v>185</c:v>
                </c:pt>
                <c:pt idx="23">
                  <c:v>80</c:v>
                </c:pt>
                <c:pt idx="24">
                  <c:v>120</c:v>
                </c:pt>
                <c:pt idx="25">
                  <c:v>120</c:v>
                </c:pt>
                <c:pt idx="26">
                  <c:v>145</c:v>
                </c:pt>
              </c:numCache>
            </c:numRef>
          </c:val>
          <c:extLst>
            <c:ext xmlns:c16="http://schemas.microsoft.com/office/drawing/2014/chart" uri="{C3380CC4-5D6E-409C-BE32-E72D297353CC}">
              <c16:uniqueId val="{00000000-0E91-4EDF-AF20-AE5F2CDE522E}"/>
            </c:ext>
          </c:extLst>
        </c:ser>
        <c:dLbls>
          <c:showLegendKey val="0"/>
          <c:showVal val="0"/>
          <c:showCatName val="0"/>
          <c:showSerName val="0"/>
          <c:showPercent val="0"/>
          <c:showBubbleSize val="0"/>
        </c:dLbls>
        <c:gapWidth val="219"/>
        <c:overlap val="-27"/>
        <c:axId val="373015503"/>
        <c:axId val="373008015"/>
      </c:barChart>
      <c:catAx>
        <c:axId val="373015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373008015"/>
        <c:crosses val="autoZero"/>
        <c:auto val="1"/>
        <c:lblAlgn val="ctr"/>
        <c:lblOffset val="100"/>
        <c:noMultiLvlLbl val="0"/>
      </c:catAx>
      <c:valAx>
        <c:axId val="37300801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3730155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800" dirty="0">
                <a:latin typeface="Verdana" panose="020B0604030504040204" pitchFamily="34" charset="0"/>
                <a:ea typeface="Verdana" panose="020B0604030504040204" pitchFamily="34" charset="0"/>
              </a:rPr>
              <a:t>HV (including Group Housing Society) Fixed Charge Comparison</a:t>
            </a:r>
          </a:p>
        </c:rich>
      </c:tx>
      <c:layout>
        <c:manualLayout>
          <c:xMode val="edge"/>
          <c:yMode val="edge"/>
          <c:x val="0.14957487890765647"/>
          <c:y val="3.0977938253008375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4"/>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2-C88D-4FE7-BBBF-62C1C2DC0DDC}"/>
              </c:ext>
            </c:extLst>
          </c:dPt>
          <c:dPt>
            <c:idx val="5"/>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3-C88D-4FE7-BBBF-62C1C2DC0DDC}"/>
              </c:ext>
            </c:extLst>
          </c:dPt>
          <c:dPt>
            <c:idx val="6"/>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4-C88D-4FE7-BBBF-62C1C2DC0DDC}"/>
              </c:ext>
            </c:extLst>
          </c:dPt>
          <c:dPt>
            <c:idx val="7"/>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5-C88D-4FE7-BBBF-62C1C2DC0DDC}"/>
              </c:ext>
            </c:extLst>
          </c:dPt>
          <c:dPt>
            <c:idx val="8"/>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6-C88D-4FE7-BBBF-62C1C2DC0DDC}"/>
              </c:ext>
            </c:extLst>
          </c:dPt>
          <c:dPt>
            <c:idx val="9"/>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7-C88D-4FE7-BBBF-62C1C2DC0DDC}"/>
              </c:ext>
            </c:extLst>
          </c:dPt>
          <c:dPt>
            <c:idx val="10"/>
            <c:invertIfNegative val="0"/>
            <c:bubble3D val="0"/>
            <c:spPr>
              <a:solidFill>
                <a:srgbClr val="ED8B00"/>
              </a:solidFill>
              <a:ln>
                <a:noFill/>
              </a:ln>
              <a:effectLst/>
            </c:spPr>
            <c:extLst>
              <c:ext xmlns:c16="http://schemas.microsoft.com/office/drawing/2014/chart" uri="{C3380CC4-5D6E-409C-BE32-E72D297353CC}">
                <c16:uniqueId val="{00000008-C88D-4FE7-BBBF-62C1C2DC0DDC}"/>
              </c:ext>
            </c:extLst>
          </c:dPt>
          <c:dPt>
            <c:idx val="11"/>
            <c:invertIfNegative val="0"/>
            <c:bubble3D val="0"/>
            <c:spPr>
              <a:solidFill>
                <a:srgbClr val="43B02A"/>
              </a:solidFill>
              <a:ln>
                <a:noFill/>
              </a:ln>
              <a:effectLst/>
            </c:spPr>
            <c:extLst>
              <c:ext xmlns:c16="http://schemas.microsoft.com/office/drawing/2014/chart" uri="{C3380CC4-5D6E-409C-BE32-E72D297353CC}">
                <c16:uniqueId val="{00000009-C88D-4FE7-BBBF-62C1C2DC0DDC}"/>
              </c:ext>
            </c:extLst>
          </c:dPt>
          <c:dPt>
            <c:idx val="12"/>
            <c:invertIfNegative val="0"/>
            <c:bubble3D val="0"/>
            <c:spPr>
              <a:solidFill>
                <a:schemeClr val="accent5"/>
              </a:solidFill>
              <a:ln>
                <a:noFill/>
              </a:ln>
              <a:effectLst/>
            </c:spPr>
            <c:extLst>
              <c:ext xmlns:c16="http://schemas.microsoft.com/office/drawing/2014/chart" uri="{C3380CC4-5D6E-409C-BE32-E72D297353CC}">
                <c16:uniqueId val="{0000000A-C88D-4FE7-BBBF-62C1C2DC0DDC}"/>
              </c:ext>
            </c:extLst>
          </c:dPt>
          <c:dPt>
            <c:idx val="13"/>
            <c:invertIfNegative val="0"/>
            <c:bubble3D val="0"/>
            <c:spPr>
              <a:solidFill>
                <a:schemeClr val="accent5"/>
              </a:solidFill>
              <a:ln>
                <a:noFill/>
              </a:ln>
              <a:effectLst/>
            </c:spPr>
            <c:extLst>
              <c:ext xmlns:c16="http://schemas.microsoft.com/office/drawing/2014/chart" uri="{C3380CC4-5D6E-409C-BE32-E72D297353CC}">
                <c16:uniqueId val="{0000000B-C88D-4FE7-BBBF-62C1C2DC0DDC}"/>
              </c:ext>
            </c:extLst>
          </c:dPt>
          <c:dPt>
            <c:idx val="14"/>
            <c:invertIfNegative val="0"/>
            <c:bubble3D val="0"/>
            <c:spPr>
              <a:solidFill>
                <a:schemeClr val="accent5"/>
              </a:solidFill>
              <a:ln>
                <a:noFill/>
              </a:ln>
              <a:effectLst/>
            </c:spPr>
            <c:extLst>
              <c:ext xmlns:c16="http://schemas.microsoft.com/office/drawing/2014/chart" uri="{C3380CC4-5D6E-409C-BE32-E72D297353CC}">
                <c16:uniqueId val="{0000000C-C88D-4FE7-BBBF-62C1C2DC0DDC}"/>
              </c:ext>
            </c:extLst>
          </c:dPt>
          <c:dPt>
            <c:idx val="15"/>
            <c:invertIfNegative val="0"/>
            <c:bubble3D val="0"/>
            <c:spPr>
              <a:solidFill>
                <a:schemeClr val="accent5"/>
              </a:solidFill>
              <a:ln>
                <a:noFill/>
              </a:ln>
              <a:effectLst/>
            </c:spPr>
            <c:extLst>
              <c:ext xmlns:c16="http://schemas.microsoft.com/office/drawing/2014/chart" uri="{C3380CC4-5D6E-409C-BE32-E72D297353CC}">
                <c16:uniqueId val="{0000000D-C88D-4FE7-BBBF-62C1C2DC0DDC}"/>
              </c:ext>
            </c:extLst>
          </c:dPt>
          <c:dPt>
            <c:idx val="16"/>
            <c:invertIfNegative val="0"/>
            <c:bubble3D val="0"/>
            <c:spPr>
              <a:solidFill>
                <a:schemeClr val="accent5"/>
              </a:solidFill>
              <a:ln>
                <a:noFill/>
              </a:ln>
              <a:effectLst/>
            </c:spPr>
            <c:extLst>
              <c:ext xmlns:c16="http://schemas.microsoft.com/office/drawing/2014/chart" uri="{C3380CC4-5D6E-409C-BE32-E72D297353CC}">
                <c16:uniqueId val="{0000000E-C88D-4FE7-BBBF-62C1C2DC0DDC}"/>
              </c:ext>
            </c:extLst>
          </c:dPt>
          <c:dPt>
            <c:idx val="17"/>
            <c:invertIfNegative val="0"/>
            <c:bubble3D val="0"/>
            <c:spPr>
              <a:solidFill>
                <a:schemeClr val="accent5"/>
              </a:solidFill>
              <a:ln>
                <a:noFill/>
              </a:ln>
              <a:effectLst/>
            </c:spPr>
            <c:extLst>
              <c:ext xmlns:c16="http://schemas.microsoft.com/office/drawing/2014/chart" uri="{C3380CC4-5D6E-409C-BE32-E72D297353CC}">
                <c16:uniqueId val="{0000000F-C88D-4FE7-BBBF-62C1C2DC0DDC}"/>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'FC - HV Domestic'!$D$6:$E$23</c:f>
              <c:multiLvlStrCache>
                <c:ptCount val="18"/>
                <c:lvl>
                  <c:pt idx="0">
                    <c:v>WBSEDCL erstwhile DPL Rs/KVA/month </c:v>
                  </c:pt>
                  <c:pt idx="1">
                    <c:v>WBSEDCL  Rs/KVA/month </c:v>
                  </c:pt>
                  <c:pt idx="2">
                    <c:v>IPCL  Rs/KVA/month </c:v>
                  </c:pt>
                  <c:pt idx="3">
                    <c:v>CESC Rs/KVA/month </c:v>
                  </c:pt>
                  <c:pt idx="4">
                    <c:v>TPDDL (15-25 kW connection)</c:v>
                  </c:pt>
                  <c:pt idx="5">
                    <c:v>TPDDL (above 25 kW connection)</c:v>
                  </c:pt>
                  <c:pt idx="6">
                    <c:v>TPDDL - Group Housing Society</c:v>
                  </c:pt>
                  <c:pt idx="7">
                    <c:v>BRPL (15-25 kW connection)</c:v>
                  </c:pt>
                  <c:pt idx="8">
                    <c:v>BRPL (above 25 kW connection)</c:v>
                  </c:pt>
                  <c:pt idx="9">
                    <c:v>BRPL - Group Housing Society</c:v>
                  </c:pt>
                  <c:pt idx="10">
                    <c:v>BESCOM</c:v>
                  </c:pt>
                  <c:pt idx="11">
                    <c:v>JBVNL</c:v>
                  </c:pt>
                  <c:pt idx="12">
                    <c:v>MAHADISCOM - All Units</c:v>
                  </c:pt>
                  <c:pt idx="13">
                    <c:v>MAHADISCOM - Group Housing Society</c:v>
                  </c:pt>
                  <c:pt idx="14">
                    <c:v>Tata Power - All Units</c:v>
                  </c:pt>
                  <c:pt idx="15">
                    <c:v>Tata Power - Group Housing Society</c:v>
                  </c:pt>
                  <c:pt idx="16">
                    <c:v>Adani - All units</c:v>
                  </c:pt>
                  <c:pt idx="17">
                    <c:v>Adani - Group Housing Society</c:v>
                  </c:pt>
                </c:lvl>
                <c:lvl>
                  <c:pt idx="0">
                    <c:v>West Bengal</c:v>
                  </c:pt>
                  <c:pt idx="4">
                    <c:v>Delhi</c:v>
                  </c:pt>
                  <c:pt idx="10">
                    <c:v>Ktk</c:v>
                  </c:pt>
                  <c:pt idx="11">
                    <c:v>JH</c:v>
                  </c:pt>
                  <c:pt idx="12">
                    <c:v>Maharashtra</c:v>
                  </c:pt>
                </c:lvl>
              </c:multiLvlStrCache>
            </c:multiLvlStrRef>
          </c:cat>
          <c:val>
            <c:numRef>
              <c:f>'FC - HV Domestic'!$F$6:$F$23</c:f>
              <c:numCache>
                <c:formatCode>General</c:formatCode>
                <c:ptCount val="18"/>
                <c:pt idx="0">
                  <c:v>25</c:v>
                </c:pt>
                <c:pt idx="1">
                  <c:v>35</c:v>
                </c:pt>
                <c:pt idx="2">
                  <c:v>36</c:v>
                </c:pt>
                <c:pt idx="3">
                  <c:v>26</c:v>
                </c:pt>
                <c:pt idx="4">
                  <c:v>200</c:v>
                </c:pt>
                <c:pt idx="5">
                  <c:v>250</c:v>
                </c:pt>
                <c:pt idx="6">
                  <c:v>150</c:v>
                </c:pt>
                <c:pt idx="7">
                  <c:v>200</c:v>
                </c:pt>
                <c:pt idx="8">
                  <c:v>250</c:v>
                </c:pt>
                <c:pt idx="9">
                  <c:v>150</c:v>
                </c:pt>
                <c:pt idx="10">
                  <c:v>155</c:v>
                </c:pt>
                <c:pt idx="11">
                  <c:v>300</c:v>
                </c:pt>
                <c:pt idx="12">
                  <c:v>362</c:v>
                </c:pt>
                <c:pt idx="13">
                  <c:v>362</c:v>
                </c:pt>
                <c:pt idx="14">
                  <c:v>500</c:v>
                </c:pt>
                <c:pt idx="15">
                  <c:v>500</c:v>
                </c:pt>
                <c:pt idx="16">
                  <c:v>355</c:v>
                </c:pt>
                <c:pt idx="17">
                  <c:v>355</c:v>
                </c:pt>
              </c:numCache>
            </c:numRef>
          </c:val>
          <c:extLst>
            <c:ext xmlns:c16="http://schemas.microsoft.com/office/drawing/2014/chart" uri="{C3380CC4-5D6E-409C-BE32-E72D297353CC}">
              <c16:uniqueId val="{00000000-C88D-4FE7-BBBF-62C1C2DC0DDC}"/>
            </c:ext>
          </c:extLst>
        </c:ser>
        <c:dLbls>
          <c:showLegendKey val="0"/>
          <c:showVal val="0"/>
          <c:showCatName val="0"/>
          <c:showSerName val="0"/>
          <c:showPercent val="0"/>
          <c:showBubbleSize val="0"/>
        </c:dLbls>
        <c:gapWidth val="219"/>
        <c:overlap val="-27"/>
        <c:axId val="1150166895"/>
        <c:axId val="1150166063"/>
      </c:barChart>
      <c:catAx>
        <c:axId val="11501668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1150166063"/>
        <c:crosses val="autoZero"/>
        <c:auto val="1"/>
        <c:lblAlgn val="ctr"/>
        <c:lblOffset val="100"/>
        <c:noMultiLvlLbl val="0"/>
      </c:catAx>
      <c:valAx>
        <c:axId val="1150166063"/>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501668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lumMod val="85000"/>
          <a:lumOff val="15000"/>
        </a:schemeClr>
      </a:solidFill>
    </a:ln>
    <a:effectLst/>
  </c:spPr>
  <c:txPr>
    <a:bodyPr/>
    <a:lstStyle/>
    <a:p>
      <a:pPr>
        <a:defRPr b="1"/>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412862977825844E-2"/>
          <c:y val="3.7318257149237768E-2"/>
          <c:w val="0.89504911205055104"/>
          <c:h val="0.90735241791319088"/>
        </c:manualLayout>
      </c:layout>
      <c:barChart>
        <c:barDir val="bar"/>
        <c:grouping val="stacked"/>
        <c:varyColors val="0"/>
        <c:ser>
          <c:idx val="0"/>
          <c:order val="0"/>
          <c:tx>
            <c:strRef>
              <c:f>Sheet1!$B$1</c:f>
              <c:strCache>
                <c:ptCount val="1"/>
                <c:pt idx="0">
                  <c:v>Column1</c:v>
                </c:pt>
              </c:strCache>
            </c:strRef>
          </c:tx>
          <c:spPr>
            <a:solidFill>
              <a:schemeClr val="bg1">
                <a:lumMod val="65000"/>
                <a:alpha val="7000"/>
              </a:schemeClr>
            </a:solidFill>
            <a:ln>
              <a:no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Sheet1!$B$2:$B$28</c:f>
              <c:numCache>
                <c:formatCode>0</c:formatCode>
                <c:ptCount val="27"/>
                <c:pt idx="0">
                  <c:v>40633</c:v>
                </c:pt>
                <c:pt idx="1">
                  <c:v>40999</c:v>
                </c:pt>
                <c:pt idx="2">
                  <c:v>41364</c:v>
                </c:pt>
                <c:pt idx="3">
                  <c:v>41729</c:v>
                </c:pt>
                <c:pt idx="4">
                  <c:v>42094</c:v>
                </c:pt>
                <c:pt idx="5">
                  <c:v>42460</c:v>
                </c:pt>
                <c:pt idx="6">
                  <c:v>42825</c:v>
                </c:pt>
                <c:pt idx="7">
                  <c:v>43190</c:v>
                </c:pt>
                <c:pt idx="8">
                  <c:v>43555</c:v>
                </c:pt>
                <c:pt idx="9">
                  <c:v>43921</c:v>
                </c:pt>
                <c:pt idx="11" formatCode="General">
                  <c:v>41364</c:v>
                </c:pt>
                <c:pt idx="12" formatCode="General">
                  <c:v>41729</c:v>
                </c:pt>
                <c:pt idx="13" formatCode="General">
                  <c:v>42094</c:v>
                </c:pt>
                <c:pt idx="14" formatCode="General">
                  <c:v>42460</c:v>
                </c:pt>
                <c:pt idx="15" formatCode="General">
                  <c:v>42825</c:v>
                </c:pt>
                <c:pt idx="16" formatCode="General">
                  <c:v>43190</c:v>
                </c:pt>
                <c:pt idx="17" formatCode="General">
                  <c:v>43555</c:v>
                </c:pt>
                <c:pt idx="19" formatCode="General">
                  <c:v>41364</c:v>
                </c:pt>
                <c:pt idx="20" formatCode="General">
                  <c:v>41729</c:v>
                </c:pt>
                <c:pt idx="21" formatCode="General">
                  <c:v>42094</c:v>
                </c:pt>
                <c:pt idx="22" formatCode="General">
                  <c:v>42460</c:v>
                </c:pt>
                <c:pt idx="23" formatCode="General">
                  <c:v>42825</c:v>
                </c:pt>
                <c:pt idx="24" formatCode="General">
                  <c:v>43190</c:v>
                </c:pt>
                <c:pt idx="25" formatCode="General">
                  <c:v>43555</c:v>
                </c:pt>
              </c:numCache>
            </c:numRef>
          </c:val>
          <c:extLst>
            <c:ext xmlns:c16="http://schemas.microsoft.com/office/drawing/2014/chart" uri="{C3380CC4-5D6E-409C-BE32-E72D297353CC}">
              <c16:uniqueId val="{00000000-C14B-4B8A-837B-E5A0BD59FEE1}"/>
            </c:ext>
          </c:extLst>
        </c:ser>
        <c:ser>
          <c:idx val="1"/>
          <c:order val="1"/>
          <c:tx>
            <c:strRef>
              <c:f>Sheet1!$C$1</c:f>
              <c:strCache>
                <c:ptCount val="1"/>
                <c:pt idx="0">
                  <c:v>Notional date for order issuance</c:v>
                </c:pt>
              </c:strCache>
            </c:strRef>
          </c:tx>
          <c:spPr>
            <a:solidFill>
              <a:schemeClr val="accent2"/>
            </a:solidFill>
            <a:ln>
              <a:no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Sheet1!$C$2:$C$27</c:f>
              <c:numCache>
                <c:formatCode>0</c:formatCode>
                <c:ptCount val="26"/>
                <c:pt idx="0">
                  <c:v>25</c:v>
                </c:pt>
                <c:pt idx="1">
                  <c:v>25</c:v>
                </c:pt>
                <c:pt idx="2">
                  <c:v>25</c:v>
                </c:pt>
                <c:pt idx="3">
                  <c:v>25</c:v>
                </c:pt>
                <c:pt idx="4">
                  <c:v>25</c:v>
                </c:pt>
                <c:pt idx="5">
                  <c:v>25</c:v>
                </c:pt>
                <c:pt idx="6">
                  <c:v>25</c:v>
                </c:pt>
                <c:pt idx="7">
                  <c:v>25</c:v>
                </c:pt>
                <c:pt idx="8">
                  <c:v>25</c:v>
                </c:pt>
                <c:pt idx="9">
                  <c:v>25</c:v>
                </c:pt>
                <c:pt idx="11">
                  <c:v>25</c:v>
                </c:pt>
                <c:pt idx="12">
                  <c:v>25</c:v>
                </c:pt>
                <c:pt idx="13">
                  <c:v>25</c:v>
                </c:pt>
                <c:pt idx="14">
                  <c:v>25</c:v>
                </c:pt>
                <c:pt idx="15">
                  <c:v>25</c:v>
                </c:pt>
                <c:pt idx="16">
                  <c:v>25</c:v>
                </c:pt>
                <c:pt idx="17">
                  <c:v>25</c:v>
                </c:pt>
                <c:pt idx="19">
                  <c:v>25</c:v>
                </c:pt>
                <c:pt idx="20">
                  <c:v>25</c:v>
                </c:pt>
                <c:pt idx="21">
                  <c:v>25</c:v>
                </c:pt>
                <c:pt idx="22">
                  <c:v>25</c:v>
                </c:pt>
                <c:pt idx="23">
                  <c:v>25</c:v>
                </c:pt>
                <c:pt idx="24">
                  <c:v>25</c:v>
                </c:pt>
                <c:pt idx="25">
                  <c:v>25</c:v>
                </c:pt>
              </c:numCache>
            </c:numRef>
          </c:val>
          <c:extLst>
            <c:ext xmlns:c16="http://schemas.microsoft.com/office/drawing/2014/chart" uri="{C3380CC4-5D6E-409C-BE32-E72D297353CC}">
              <c16:uniqueId val="{00000001-C14B-4B8A-837B-E5A0BD59FEE1}"/>
            </c:ext>
          </c:extLst>
        </c:ser>
        <c:ser>
          <c:idx val="2"/>
          <c:order val="2"/>
          <c:tx>
            <c:strRef>
              <c:f>Sheet1!$D$1</c:f>
              <c:strCache>
                <c:ptCount val="1"/>
                <c:pt idx="0">
                  <c:v>Delay in issuance of order (days)</c:v>
                </c:pt>
              </c:strCache>
            </c:strRef>
          </c:tx>
          <c:spPr>
            <a:pattFill prst="ltDnDiag">
              <a:fgClr>
                <a:schemeClr val="bg1">
                  <a:lumMod val="50000"/>
                </a:schemeClr>
              </a:fgClr>
              <a:bgClr>
                <a:schemeClr val="bg1"/>
              </a:bgClr>
            </a:pattFill>
            <a:ln>
              <a:solidFill>
                <a:schemeClr val="bg1">
                  <a:lumMod val="85000"/>
                </a:schemeClr>
              </a:solidFill>
            </a:ln>
            <a:effectLst/>
          </c:spPr>
          <c:invertIfNegative val="0"/>
          <c:dLbls>
            <c:dLbl>
              <c:idx val="0"/>
              <c:layout>
                <c:manualLayout>
                  <c:x val="0.1523743744036741"/>
                  <c:y val="5.4187560486338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14B-4B8A-837B-E5A0BD59FEE1}"/>
                </c:ext>
              </c:extLst>
            </c:dLbl>
            <c:dLbl>
              <c:idx val="1"/>
              <c:layout>
                <c:manualLayout>
                  <c:x val="0.11498093409480498"/>
                  <c:y val="3.3930444124858255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14B-4B8A-837B-E5A0BD59FEE1}"/>
                </c:ext>
              </c:extLst>
            </c:dLbl>
            <c:dLbl>
              <c:idx val="2"/>
              <c:layout>
                <c:manualLayout>
                  <c:x val="0.11592381946945939"/>
                  <c:y val="3.612504032667901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14B-4B8A-837B-E5A0BD59FEE1}"/>
                </c:ext>
              </c:extLst>
            </c:dLbl>
            <c:dLbl>
              <c:idx val="3"/>
              <c:layout>
                <c:manualLayout>
                  <c:x val="0.1227983093024716"/>
                  <c:y val="3.612504032667901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14B-4B8A-837B-E5A0BD59FEE1}"/>
                </c:ext>
              </c:extLst>
            </c:dLbl>
            <c:dLbl>
              <c:idx val="4"/>
              <c:layout>
                <c:manualLayout>
                  <c:x val="9.9025908575243168E-2"/>
                  <c:y val="1.099465602278478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14B-4B8A-837B-E5A0BD59FEE1}"/>
                </c:ext>
              </c:extLst>
            </c:dLbl>
            <c:dLbl>
              <c:idx val="5"/>
              <c:layout>
                <c:manualLayout>
                  <c:x val="0.11165713568116756"/>
                  <c:y val="5.418756048686439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14B-4B8A-837B-E5A0BD59FEE1}"/>
                </c:ext>
              </c:extLst>
            </c:dLbl>
            <c:dLbl>
              <c:idx val="6"/>
              <c:layout>
                <c:manualLayout>
                  <c:x val="0.13262958418528359"/>
                  <c:y val="7.225008064915252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14B-4B8A-837B-E5A0BD59FEE1}"/>
                </c:ext>
              </c:extLst>
            </c:dLbl>
            <c:dLbl>
              <c:idx val="7"/>
              <c:layout>
                <c:manualLayout>
                  <c:x val="0.20486502793201142"/>
                  <c:y val="9.0312600811440661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14B-4B8A-837B-E5A0BD59FEE1}"/>
                </c:ext>
              </c:extLst>
            </c:dLbl>
            <c:dLbl>
              <c:idx val="8"/>
              <c:layout>
                <c:manualLayout>
                  <c:x val="0.17079179804917338"/>
                  <c:y val="4.746649673447739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14B-4B8A-837B-E5A0BD59FEE1}"/>
                </c:ext>
              </c:extLst>
            </c:dLbl>
            <c:dLbl>
              <c:idx val="9"/>
              <c:layout>
                <c:manualLayout>
                  <c:x val="0.11197231206616627"/>
                  <c:y val="1.814581259030166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14B-4B8A-837B-E5A0BD59FEE1}"/>
                </c:ext>
              </c:extLst>
            </c:dLbl>
            <c:dLbl>
              <c:idx val="10"/>
              <c:layout>
                <c:manualLayout>
                  <c:x val="-9.9528887785215514E-2"/>
                  <c:y val="7.9294463512444901E-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14B-4B8A-837B-E5A0BD59FEE1}"/>
                </c:ext>
              </c:extLst>
            </c:dLbl>
            <c:dLbl>
              <c:idx val="11"/>
              <c:layout>
                <c:manualLayout>
                  <c:x val="-9.7130648542922957E-2"/>
                  <c:y val="2.8999376120553594E-4"/>
                </c:manualLayout>
              </c:layout>
              <c:numFmt formatCode="&quot;Order delay: &quot;###0&quot; days&quot;" sourceLinked="0"/>
              <c:spPr>
                <a:noFill/>
                <a:ln>
                  <a:noFill/>
                </a:ln>
                <a:effectLst/>
              </c:spPr>
              <c:txPr>
                <a:bodyPr rot="0" spcFirstLastPara="1" vertOverflow="ellipsis" vert="horz" wrap="square" lIns="38100" tIns="19050" rIns="38100" bIns="19050" anchor="ctr" anchorCtr="1">
                  <a:noAutofit/>
                </a:bodyPr>
                <a:lstStyle/>
                <a:p>
                  <a:pP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18858330669882004"/>
                      <c:h val="5.1315439155858948E-2"/>
                    </c:manualLayout>
                  </c15:layout>
                </c:ext>
                <c:ext xmlns:c16="http://schemas.microsoft.com/office/drawing/2014/chart" uri="{C3380CC4-5D6E-409C-BE32-E72D297353CC}">
                  <c16:uniqueId val="{0000000D-C14B-4B8A-837B-E5A0BD59FEE1}"/>
                </c:ext>
              </c:extLst>
            </c:dLbl>
            <c:dLbl>
              <c:idx val="12"/>
              <c:layout>
                <c:manualLayout>
                  <c:x val="-9.2527968599443206E-2"/>
                  <c:y val="1.083751209821398E-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14B-4B8A-837B-E5A0BD59FEE1}"/>
                </c:ext>
              </c:extLst>
            </c:dLbl>
            <c:dLbl>
              <c:idx val="13"/>
              <c:layout>
                <c:manualLayout>
                  <c:x val="-0.32487311034619831"/>
                  <c:y val="-2.134989883182457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14B-4B8A-837B-E5A0BD59FEE1}"/>
                </c:ext>
              </c:extLst>
            </c:dLbl>
            <c:dLbl>
              <c:idx val="14"/>
              <c:layout>
                <c:manualLayout>
                  <c:x val="-0.29602087453421078"/>
                  <c:y val="-2.293398185005724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14B-4B8A-837B-E5A0BD59FEE1}"/>
                </c:ext>
              </c:extLst>
            </c:dLbl>
            <c:dLbl>
              <c:idx val="15"/>
              <c:layout>
                <c:manualLayout>
                  <c:x val="-0.26980722592377704"/>
                  <c:y val="-2.293398185005724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14B-4B8A-837B-E5A0BD59FEE1}"/>
                </c:ext>
              </c:extLst>
            </c:dLbl>
            <c:dLbl>
              <c:idx val="16"/>
              <c:layout>
                <c:manualLayout>
                  <c:x val="-0.23383292913394005"/>
                  <c:y val="-2.450361485216007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14B-4B8A-837B-E5A0BD59FEE1}"/>
                </c:ext>
              </c:extLst>
            </c:dLbl>
            <c:dLbl>
              <c:idx val="17"/>
              <c:layout>
                <c:manualLayout>
                  <c:x val="-0.19905777557043103"/>
                  <c:y val="-2.2926756841992325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14B-4B8A-837B-E5A0BD59FEE1}"/>
                </c:ext>
              </c:extLst>
            </c:dLbl>
            <c:dLbl>
              <c:idx val="18"/>
              <c:layout>
                <c:manualLayout>
                  <c:x val="-9.7130601332559713E-2"/>
                  <c:y val="-2.2135618458882424E-3"/>
                </c:manualLayout>
              </c:layout>
              <c:numFmt formatCode="&quot;Order delay: &quot;###0&quot; days&quot;" sourceLinked="0"/>
              <c:spPr>
                <a:noFill/>
                <a:ln>
                  <a:noFill/>
                </a:ln>
                <a:effectLst/>
              </c:spPr>
              <c:txPr>
                <a:bodyPr rot="0" spcFirstLastPara="1" vertOverflow="ellipsis" vert="horz" wrap="square" lIns="38100" tIns="19050" rIns="38100" bIns="19050" anchor="ctr" anchorCtr="0">
                  <a:spAutoFit/>
                </a:bodyPr>
                <a:lstStyle/>
                <a:p>
                  <a:pPr algn="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C14B-4B8A-837B-E5A0BD59FEE1}"/>
                </c:ext>
              </c:extLst>
            </c:dLbl>
            <c:dLbl>
              <c:idx val="19"/>
              <c:layout>
                <c:manualLayout>
                  <c:x val="-0.10005556659753496"/>
                  <c:y val="7.225008064915252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14B-4B8A-837B-E5A0BD59FEE1}"/>
                </c:ext>
              </c:extLst>
            </c:dLbl>
            <c:dLbl>
              <c:idx val="20"/>
              <c:layout>
                <c:manualLayout>
                  <c:x val="-7.8470988523632795E-2"/>
                  <c:y val="1.5895017742821967E-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14B-4B8A-837B-E5A0BD59FEE1}"/>
                </c:ext>
              </c:extLst>
            </c:dLbl>
            <c:dLbl>
              <c:idx val="21"/>
              <c:layout>
                <c:manualLayout>
                  <c:x val="-0.3225695278822045"/>
                  <c:y val="3.6125040332987276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C14B-4B8A-837B-E5A0BD59FEE1}"/>
                </c:ext>
              </c:extLst>
            </c:dLbl>
            <c:dLbl>
              <c:idx val="22"/>
              <c:layout>
                <c:manualLayout>
                  <c:x val="-0.29738752012931863"/>
                  <c:y val="-2.293217559804101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C14B-4B8A-837B-E5A0BD59FEE1}"/>
                </c:ext>
              </c:extLst>
            </c:dLbl>
            <c:dLbl>
              <c:idx val="23"/>
              <c:layout>
                <c:manualLayout>
                  <c:x val="-0.27220551237643281"/>
                  <c:y val="3.612504034139829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C14B-4B8A-837B-E5A0BD59FEE1}"/>
                </c:ext>
              </c:extLst>
            </c:dLbl>
            <c:dLbl>
              <c:idx val="24"/>
              <c:layout>
                <c:manualLayout>
                  <c:x val="-0.23503207236026794"/>
                  <c:y val="3.612504032457626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C14B-4B8A-837B-E5A0BD59FEE1}"/>
                </c:ext>
              </c:extLst>
            </c:dLbl>
            <c:dLbl>
              <c:idx val="25"/>
              <c:layout>
                <c:manualLayout>
                  <c:x val="-0.19905777557043103"/>
                  <c:y val="1.806252016228813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C14B-4B8A-837B-E5A0BD59FEE1}"/>
                </c:ext>
              </c:extLst>
            </c:dLbl>
            <c:numFmt formatCode="&quot;Order delay: &quot;###0&quot; days&quot;" sourceLinked="0"/>
            <c:spPr>
              <a:noFill/>
              <a:ln>
                <a:noFill/>
              </a:ln>
              <a:effectLst/>
            </c:spPr>
            <c:txPr>
              <a:bodyPr rot="0" spcFirstLastPara="1" vertOverflow="ellipsis" vert="horz" wrap="square" lIns="38100" tIns="19050" rIns="38100" bIns="19050" anchor="ctr" anchorCtr="1">
                <a:spAutoFit/>
              </a:bodyPr>
              <a:lstStyle/>
              <a:p>
                <a:pP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Sheet1!$D$2:$D$27</c:f>
              <c:numCache>
                <c:formatCode>0</c:formatCode>
                <c:ptCount val="26"/>
                <c:pt idx="0">
                  <c:v>611</c:v>
                </c:pt>
                <c:pt idx="1">
                  <c:v>245</c:v>
                </c:pt>
                <c:pt idx="2">
                  <c:v>270</c:v>
                </c:pt>
                <c:pt idx="3">
                  <c:v>338</c:v>
                </c:pt>
                <c:pt idx="4">
                  <c:v>132</c:v>
                </c:pt>
                <c:pt idx="5">
                  <c:v>211</c:v>
                </c:pt>
                <c:pt idx="6">
                  <c:v>460</c:v>
                </c:pt>
                <c:pt idx="7">
                  <c:v>1243</c:v>
                </c:pt>
                <c:pt idx="8">
                  <c:v>878</c:v>
                </c:pt>
                <c:pt idx="9">
                  <c:v>727</c:v>
                </c:pt>
                <c:pt idx="11" formatCode="General">
                  <c:v>162</c:v>
                </c:pt>
                <c:pt idx="12" formatCode="General">
                  <c:v>73</c:v>
                </c:pt>
                <c:pt idx="13" formatCode="General">
                  <c:v>2297</c:v>
                </c:pt>
                <c:pt idx="14" formatCode="General">
                  <c:v>2043</c:v>
                </c:pt>
                <c:pt idx="15" formatCode="General">
                  <c:v>1770</c:v>
                </c:pt>
                <c:pt idx="16" formatCode="General">
                  <c:v>1411</c:v>
                </c:pt>
                <c:pt idx="17" formatCode="General">
                  <c:v>1081</c:v>
                </c:pt>
                <c:pt idx="19" formatCode="General">
                  <c:v>114</c:v>
                </c:pt>
                <c:pt idx="20" formatCode="General">
                  <c:v>0</c:v>
                </c:pt>
                <c:pt idx="21" formatCode="General">
                  <c:v>2297</c:v>
                </c:pt>
                <c:pt idx="22" formatCode="General">
                  <c:v>2043</c:v>
                </c:pt>
                <c:pt idx="23" formatCode="General">
                  <c:v>1770</c:v>
                </c:pt>
                <c:pt idx="24" formatCode="General">
                  <c:v>1411</c:v>
                </c:pt>
                <c:pt idx="25" formatCode="General">
                  <c:v>1081</c:v>
                </c:pt>
              </c:numCache>
            </c:numRef>
          </c:val>
          <c:extLst>
            <c:ext xmlns:c16="http://schemas.microsoft.com/office/drawing/2014/chart" uri="{C3380CC4-5D6E-409C-BE32-E72D297353CC}">
              <c16:uniqueId val="{0000001B-C14B-4B8A-837B-E5A0BD59FEE1}"/>
            </c:ext>
          </c:extLst>
        </c:ser>
        <c:ser>
          <c:idx val="3"/>
          <c:order val="3"/>
          <c:tx>
            <c:strRef>
              <c:f>Sheet1!$E$1</c:f>
              <c:strCache>
                <c:ptCount val="1"/>
                <c:pt idx="0">
                  <c:v>Actual Order Issuance Date</c:v>
                </c:pt>
              </c:strCache>
            </c:strRef>
          </c:tx>
          <c:spPr>
            <a:solidFill>
              <a:srgbClr val="012169"/>
            </a:solidFill>
            <a:ln>
              <a:no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Sheet1!$E$2:$E$27</c:f>
              <c:numCache>
                <c:formatCode>0</c:formatCode>
                <c:ptCount val="26"/>
                <c:pt idx="0">
                  <c:v>25</c:v>
                </c:pt>
                <c:pt idx="1">
                  <c:v>25</c:v>
                </c:pt>
                <c:pt idx="2">
                  <c:v>25</c:v>
                </c:pt>
                <c:pt idx="3">
                  <c:v>25</c:v>
                </c:pt>
                <c:pt idx="4">
                  <c:v>25</c:v>
                </c:pt>
                <c:pt idx="5">
                  <c:v>25</c:v>
                </c:pt>
                <c:pt idx="6">
                  <c:v>25</c:v>
                </c:pt>
                <c:pt idx="7">
                  <c:v>25</c:v>
                </c:pt>
                <c:pt idx="8">
                  <c:v>25</c:v>
                </c:pt>
                <c:pt idx="9">
                  <c:v>25</c:v>
                </c:pt>
                <c:pt idx="11">
                  <c:v>25</c:v>
                </c:pt>
                <c:pt idx="12">
                  <c:v>25</c:v>
                </c:pt>
                <c:pt idx="13">
                  <c:v>25</c:v>
                </c:pt>
                <c:pt idx="14">
                  <c:v>25</c:v>
                </c:pt>
                <c:pt idx="15">
                  <c:v>25</c:v>
                </c:pt>
                <c:pt idx="16">
                  <c:v>25</c:v>
                </c:pt>
                <c:pt idx="17">
                  <c:v>25</c:v>
                </c:pt>
                <c:pt idx="19">
                  <c:v>25</c:v>
                </c:pt>
                <c:pt idx="20">
                  <c:v>25</c:v>
                </c:pt>
                <c:pt idx="21">
                  <c:v>25</c:v>
                </c:pt>
                <c:pt idx="22">
                  <c:v>25</c:v>
                </c:pt>
                <c:pt idx="23">
                  <c:v>25</c:v>
                </c:pt>
                <c:pt idx="24">
                  <c:v>25</c:v>
                </c:pt>
                <c:pt idx="25">
                  <c:v>25</c:v>
                </c:pt>
              </c:numCache>
            </c:numRef>
          </c:val>
          <c:extLst>
            <c:ext xmlns:c16="http://schemas.microsoft.com/office/drawing/2014/chart" uri="{C3380CC4-5D6E-409C-BE32-E72D297353CC}">
              <c16:uniqueId val="{0000001C-C14B-4B8A-837B-E5A0BD59FEE1}"/>
            </c:ext>
          </c:extLst>
        </c:ser>
        <c:ser>
          <c:idx val="4"/>
          <c:order val="4"/>
          <c:tx>
            <c:strRef>
              <c:f>Sheet1!$F$1</c:f>
              <c:strCache>
                <c:ptCount val="1"/>
                <c:pt idx="0">
                  <c:v>Column2</c:v>
                </c:pt>
              </c:strCache>
            </c:strRef>
          </c:tx>
          <c:spPr>
            <a:pattFill prst="ltDnDiag">
              <a:fgClr>
                <a:schemeClr val="bg1">
                  <a:lumMod val="50000"/>
                </a:schemeClr>
              </a:fgClr>
              <a:bgClr>
                <a:schemeClr val="bg1"/>
              </a:bgClr>
            </a:pattFill>
            <a:ln>
              <a:solidFill>
                <a:schemeClr val="bg1">
                  <a:lumMod val="85000"/>
                </a:schemeClr>
              </a:solid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Sheet1!$F$2:$F$27</c:f>
              <c:numCache>
                <c:formatCode>General</c:formatCode>
                <c:ptCount val="26"/>
                <c:pt idx="11" formatCode="0">
                  <c:v>3097</c:v>
                </c:pt>
                <c:pt idx="12" formatCode="0">
                  <c:v>2824</c:v>
                </c:pt>
                <c:pt idx="13" formatCode="0">
                  <c:v>232</c:v>
                </c:pt>
                <c:pt idx="14" formatCode="0">
                  <c:v>120</c:v>
                </c:pt>
                <c:pt idx="15" formatCode="0">
                  <c:v>28</c:v>
                </c:pt>
                <c:pt idx="16" formatCode="0">
                  <c:v>22</c:v>
                </c:pt>
                <c:pt idx="17" formatCode="0">
                  <c:v>0</c:v>
                </c:pt>
                <c:pt idx="19" formatCode="0">
                  <c:v>3145</c:v>
                </c:pt>
                <c:pt idx="20" formatCode="0">
                  <c:v>2897</c:v>
                </c:pt>
                <c:pt idx="21" formatCode="0">
                  <c:v>232</c:v>
                </c:pt>
                <c:pt idx="22" formatCode="0">
                  <c:v>120</c:v>
                </c:pt>
                <c:pt idx="23" formatCode="0">
                  <c:v>28</c:v>
                </c:pt>
                <c:pt idx="24" formatCode="0">
                  <c:v>22</c:v>
                </c:pt>
                <c:pt idx="25" formatCode="0">
                  <c:v>0</c:v>
                </c:pt>
              </c:numCache>
            </c:numRef>
          </c:val>
          <c:extLst>
            <c:ext xmlns:c16="http://schemas.microsoft.com/office/drawing/2014/chart" uri="{C3380CC4-5D6E-409C-BE32-E72D297353CC}">
              <c16:uniqueId val="{0000001D-C14B-4B8A-837B-E5A0BD59FEE1}"/>
            </c:ext>
          </c:extLst>
        </c:ser>
        <c:ser>
          <c:idx val="5"/>
          <c:order val="5"/>
          <c:tx>
            <c:strRef>
              <c:f>Sheet1!$G$1</c:f>
              <c:strCache>
                <c:ptCount val="1"/>
                <c:pt idx="0">
                  <c:v>Column3</c:v>
                </c:pt>
              </c:strCache>
            </c:strRef>
          </c:tx>
          <c:spPr>
            <a:solidFill>
              <a:srgbClr val="00ABAB"/>
            </a:solidFill>
            <a:ln>
              <a:no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Sheet1!$G$2:$G$27</c:f>
              <c:numCache>
                <c:formatCode>General</c:formatCode>
                <c:ptCount val="26"/>
                <c:pt idx="11" formatCode="0">
                  <c:v>25</c:v>
                </c:pt>
                <c:pt idx="12" formatCode="0">
                  <c:v>25</c:v>
                </c:pt>
                <c:pt idx="13" formatCode="0">
                  <c:v>25</c:v>
                </c:pt>
                <c:pt idx="14" formatCode="0">
                  <c:v>25</c:v>
                </c:pt>
                <c:pt idx="15" formatCode="0">
                  <c:v>25</c:v>
                </c:pt>
                <c:pt idx="16" formatCode="0">
                  <c:v>25</c:v>
                </c:pt>
                <c:pt idx="17" formatCode="0">
                  <c:v>25</c:v>
                </c:pt>
                <c:pt idx="19" formatCode="0">
                  <c:v>25</c:v>
                </c:pt>
                <c:pt idx="20" formatCode="0">
                  <c:v>25</c:v>
                </c:pt>
                <c:pt idx="21" formatCode="0">
                  <c:v>25</c:v>
                </c:pt>
                <c:pt idx="22" formatCode="0">
                  <c:v>25</c:v>
                </c:pt>
                <c:pt idx="23" formatCode="0">
                  <c:v>25</c:v>
                </c:pt>
                <c:pt idx="24" formatCode="0">
                  <c:v>25</c:v>
                </c:pt>
                <c:pt idx="25" formatCode="0">
                  <c:v>25</c:v>
                </c:pt>
              </c:numCache>
            </c:numRef>
          </c:val>
          <c:extLst>
            <c:ext xmlns:c16="http://schemas.microsoft.com/office/drawing/2014/chart" uri="{C3380CC4-5D6E-409C-BE32-E72D297353CC}">
              <c16:uniqueId val="{0000001E-C14B-4B8A-837B-E5A0BD59FEE1}"/>
            </c:ext>
          </c:extLst>
        </c:ser>
        <c:dLbls>
          <c:showLegendKey val="0"/>
          <c:showVal val="0"/>
          <c:showCatName val="0"/>
          <c:showSerName val="0"/>
          <c:showPercent val="0"/>
          <c:showBubbleSize val="0"/>
        </c:dLbls>
        <c:gapWidth val="50"/>
        <c:overlap val="100"/>
        <c:axId val="1024476239"/>
        <c:axId val="1024497871"/>
      </c:barChart>
      <c:catAx>
        <c:axId val="1024476239"/>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024497871"/>
        <c:crosses val="autoZero"/>
        <c:auto val="1"/>
        <c:lblAlgn val="ctr"/>
        <c:lblOffset val="100"/>
        <c:noMultiLvlLbl val="0"/>
      </c:catAx>
      <c:valAx>
        <c:axId val="1024497871"/>
        <c:scaling>
          <c:orientation val="minMax"/>
          <c:max val="45014"/>
          <c:min val="40634"/>
        </c:scaling>
        <c:delete val="1"/>
        <c:axPos val="t"/>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024476239"/>
        <c:crosses val="autoZero"/>
        <c:crossBetween val="between"/>
        <c:majorUnit val="36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197841309321069"/>
          <c:y val="5.3696032028510789E-2"/>
          <c:w val="0.38892255720391083"/>
          <c:h val="0.89260793594297838"/>
        </c:manualLayout>
      </c:layout>
      <c:barChart>
        <c:barDir val="bar"/>
        <c:grouping val="clustered"/>
        <c:varyColors val="0"/>
        <c:ser>
          <c:idx val="0"/>
          <c:order val="0"/>
          <c:tx>
            <c:strRef>
              <c:f>Sheet1!$B$1</c:f>
              <c:strCache>
                <c:ptCount val="1"/>
                <c:pt idx="0">
                  <c:v>FY 20 Tariff Order</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35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WBPDCL</c:v>
                </c:pt>
                <c:pt idx="1">
                  <c:v>DPL</c:v>
                </c:pt>
                <c:pt idx="2">
                  <c:v>WBSETCL</c:v>
                </c:pt>
                <c:pt idx="3">
                  <c:v>WBSEDCL</c:v>
                </c:pt>
              </c:strCache>
            </c:strRef>
          </c:cat>
          <c:val>
            <c:numRef>
              <c:f>Sheet1!$B$2:$B$5</c:f>
              <c:numCache>
                <c:formatCode>General</c:formatCode>
                <c:ptCount val="4"/>
                <c:pt idx="0">
                  <c:v>836</c:v>
                </c:pt>
                <c:pt idx="1">
                  <c:v>593</c:v>
                </c:pt>
                <c:pt idx="2">
                  <c:v>626</c:v>
                </c:pt>
                <c:pt idx="3">
                  <c:v>878</c:v>
                </c:pt>
              </c:numCache>
            </c:numRef>
          </c:val>
          <c:extLst>
            <c:ext xmlns:c16="http://schemas.microsoft.com/office/drawing/2014/chart" uri="{C3380CC4-5D6E-409C-BE32-E72D297353CC}">
              <c16:uniqueId val="{00000000-38F1-4532-8BCA-6FF9BFD56DB0}"/>
            </c:ext>
          </c:extLst>
        </c:ser>
        <c:ser>
          <c:idx val="1"/>
          <c:order val="1"/>
          <c:tx>
            <c:strRef>
              <c:f>Sheet1!$C$1</c:f>
              <c:strCache>
                <c:ptCount val="1"/>
                <c:pt idx="0">
                  <c:v>FY 21 Tariff Order</c:v>
                </c:pt>
              </c:strCache>
            </c:strRef>
          </c:tx>
          <c:spPr>
            <a:solidFill>
              <a:srgbClr val="00A3E0"/>
            </a:solidFill>
            <a:ln>
              <a:noFill/>
            </a:ln>
            <a:effectLst/>
          </c:spPr>
          <c:invertIfNegative val="0"/>
          <c:dLbls>
            <c:spPr>
              <a:noFill/>
              <a:ln>
                <a:noFill/>
              </a:ln>
              <a:effectLst/>
            </c:spPr>
            <c:txPr>
              <a:bodyPr rot="0" spcFirstLastPara="1" vertOverflow="ellipsis" vert="horz" wrap="square" anchor="ctr" anchorCtr="1"/>
              <a:lstStyle/>
              <a:p>
                <a:pPr>
                  <a:defRPr sz="135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WBPDCL</c:v>
                </c:pt>
                <c:pt idx="1">
                  <c:v>DPL</c:v>
                </c:pt>
                <c:pt idx="2">
                  <c:v>WBSETCL</c:v>
                </c:pt>
                <c:pt idx="3">
                  <c:v>WBSEDCL</c:v>
                </c:pt>
              </c:strCache>
            </c:strRef>
          </c:cat>
          <c:val>
            <c:numRef>
              <c:f>Sheet1!$C$2:$C$5</c:f>
              <c:numCache>
                <c:formatCode>General</c:formatCode>
                <c:ptCount val="4"/>
                <c:pt idx="0">
                  <c:v>556</c:v>
                </c:pt>
                <c:pt idx="1">
                  <c:v>472</c:v>
                </c:pt>
                <c:pt idx="2">
                  <c:v>451</c:v>
                </c:pt>
                <c:pt idx="3">
                  <c:v>727</c:v>
                </c:pt>
              </c:numCache>
            </c:numRef>
          </c:val>
          <c:extLst>
            <c:ext xmlns:c16="http://schemas.microsoft.com/office/drawing/2014/chart" uri="{C3380CC4-5D6E-409C-BE32-E72D297353CC}">
              <c16:uniqueId val="{00000001-38F1-4532-8BCA-6FF9BFD56DB0}"/>
            </c:ext>
          </c:extLst>
        </c:ser>
        <c:ser>
          <c:idx val="2"/>
          <c:order val="2"/>
          <c:tx>
            <c:strRef>
              <c:f>Sheet1!$D$1</c:f>
              <c:strCache>
                <c:ptCount val="1"/>
                <c:pt idx="0">
                  <c:v>FY 22 Tariff Order</c:v>
                </c:pt>
              </c:strCache>
            </c:strRef>
          </c:tx>
          <c:spPr>
            <a:solidFill>
              <a:srgbClr val="012169"/>
            </a:solidFill>
            <a:ln>
              <a:noFill/>
            </a:ln>
            <a:effectLst/>
          </c:spPr>
          <c:invertIfNegative val="0"/>
          <c:dLbls>
            <c:spPr>
              <a:noFill/>
              <a:ln>
                <a:noFill/>
              </a:ln>
              <a:effectLst/>
            </c:spPr>
            <c:txPr>
              <a:bodyPr rot="0" spcFirstLastPara="1" vertOverflow="ellipsis" vert="horz" wrap="square" anchor="ctr" anchorCtr="1"/>
              <a:lstStyle/>
              <a:p>
                <a:pPr>
                  <a:defRPr sz="135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WBPDCL</c:v>
                </c:pt>
                <c:pt idx="1">
                  <c:v>DPL</c:v>
                </c:pt>
                <c:pt idx="2">
                  <c:v>WBSETCL</c:v>
                </c:pt>
                <c:pt idx="3">
                  <c:v>WBSEDCL</c:v>
                </c:pt>
              </c:strCache>
            </c:strRef>
          </c:cat>
          <c:val>
            <c:numRef>
              <c:f>Sheet1!$D$2:$D$5</c:f>
              <c:numCache>
                <c:formatCode>General</c:formatCode>
                <c:ptCount val="4"/>
                <c:pt idx="0">
                  <c:v>191</c:v>
                </c:pt>
                <c:pt idx="1">
                  <c:v>107</c:v>
                </c:pt>
                <c:pt idx="2">
                  <c:v>86</c:v>
                </c:pt>
                <c:pt idx="3">
                  <c:v>362</c:v>
                </c:pt>
              </c:numCache>
            </c:numRef>
          </c:val>
          <c:extLst>
            <c:ext xmlns:c16="http://schemas.microsoft.com/office/drawing/2014/chart" uri="{C3380CC4-5D6E-409C-BE32-E72D297353CC}">
              <c16:uniqueId val="{00000002-38F1-4532-8BCA-6FF9BFD56DB0}"/>
            </c:ext>
          </c:extLst>
        </c:ser>
        <c:dLbls>
          <c:showLegendKey val="0"/>
          <c:showVal val="0"/>
          <c:showCatName val="0"/>
          <c:showSerName val="0"/>
          <c:showPercent val="0"/>
          <c:showBubbleSize val="0"/>
        </c:dLbls>
        <c:gapWidth val="100"/>
        <c:overlap val="-10"/>
        <c:axId val="132585680"/>
        <c:axId val="132590256"/>
      </c:barChart>
      <c:catAx>
        <c:axId val="132585680"/>
        <c:scaling>
          <c:orientation val="maxMin"/>
        </c:scaling>
        <c:delete val="0"/>
        <c:axPos val="l"/>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132590256"/>
        <c:crosses val="autoZero"/>
        <c:auto val="1"/>
        <c:lblAlgn val="ctr"/>
        <c:lblOffset val="100"/>
        <c:noMultiLvlLbl val="0"/>
      </c:catAx>
      <c:valAx>
        <c:axId val="132590256"/>
        <c:scaling>
          <c:orientation val="minMax"/>
        </c:scaling>
        <c:delete val="1"/>
        <c:axPos val="t"/>
        <c:numFmt formatCode="General" sourceLinked="1"/>
        <c:majorTickMark val="none"/>
        <c:minorTickMark val="none"/>
        <c:tickLblPos val="nextTo"/>
        <c:crossAx val="132585680"/>
        <c:crosses val="autoZero"/>
        <c:crossBetween val="between"/>
      </c:valAx>
      <c:spPr>
        <a:noFill/>
        <a:ln>
          <a:noFill/>
        </a:ln>
        <a:effectLst/>
      </c:spPr>
    </c:plotArea>
    <c:legend>
      <c:legendPos val="r"/>
      <c:layout>
        <c:manualLayout>
          <c:xMode val="edge"/>
          <c:yMode val="edge"/>
          <c:x val="0.61268745852687467"/>
          <c:y val="0.30213300472540455"/>
          <c:w val="0.3731687555974218"/>
          <c:h val="0.4347856502062896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sz="1400">
          <a:solidFill>
            <a:schemeClr val="tx1"/>
          </a:solidFill>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0161059169974661E-2"/>
          <c:y val="5.9957313790667474E-2"/>
          <c:w val="0.95071741091783968"/>
          <c:h val="0.51644209544660424"/>
        </c:manualLayout>
      </c:layout>
      <c:barChart>
        <c:barDir val="col"/>
        <c:grouping val="clustered"/>
        <c:varyColors val="0"/>
        <c:ser>
          <c:idx val="0"/>
          <c:order val="0"/>
          <c:tx>
            <c:strRef>
              <c:f>Sheet1!$B$1</c:f>
              <c:strCache>
                <c:ptCount val="1"/>
                <c:pt idx="0">
                  <c:v>As on FY 19 end</c:v>
                </c:pt>
              </c:strCache>
            </c:strRef>
          </c:tx>
          <c:spPr>
            <a:solidFill>
              <a:schemeClr val="accent1"/>
            </a:solidFill>
            <a:ln>
              <a:noFill/>
            </a:ln>
            <a:effectLst/>
          </c:spPr>
          <c:invertIfNegative val="0"/>
          <c:dLbls>
            <c:dLbl>
              <c:idx val="0"/>
              <c:layout>
                <c:manualLayout>
                  <c:x val="-2.593607509394170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860-446C-A06E-6A2ACCF23A30}"/>
                </c:ext>
              </c:extLst>
            </c:dLbl>
            <c:dLbl>
              <c:idx val="2"/>
              <c:layout>
                <c:manualLayout>
                  <c:x val="-3.300955011956223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860-446C-A06E-6A2ACCF23A3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35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WBPDCL</c:v>
                </c:pt>
                <c:pt idx="1">
                  <c:v>DPL</c:v>
                </c:pt>
                <c:pt idx="2">
                  <c:v>WBSEDCL</c:v>
                </c:pt>
              </c:strCache>
            </c:strRef>
          </c:cat>
          <c:val>
            <c:numRef>
              <c:f>Sheet1!$B$2:$B$4</c:f>
              <c:numCache>
                <c:formatCode>General</c:formatCode>
                <c:ptCount val="3"/>
                <c:pt idx="0">
                  <c:v>5208.3162000000002</c:v>
                </c:pt>
                <c:pt idx="1">
                  <c:v>594.47</c:v>
                </c:pt>
                <c:pt idx="2">
                  <c:v>13140.72</c:v>
                </c:pt>
              </c:numCache>
            </c:numRef>
          </c:val>
          <c:extLst>
            <c:ext xmlns:c16="http://schemas.microsoft.com/office/drawing/2014/chart" uri="{C3380CC4-5D6E-409C-BE32-E72D297353CC}">
              <c16:uniqueId val="{00000002-4860-446C-A06E-6A2ACCF23A30}"/>
            </c:ext>
          </c:extLst>
        </c:ser>
        <c:ser>
          <c:idx val="1"/>
          <c:order val="1"/>
          <c:tx>
            <c:strRef>
              <c:f>Sheet1!$C$1</c:f>
              <c:strCache>
                <c:ptCount val="1"/>
                <c:pt idx="0">
                  <c:v>As on FY 20 end</c:v>
                </c:pt>
              </c:strCache>
            </c:strRef>
          </c:tx>
          <c:spPr>
            <a:solidFill>
              <a:srgbClr val="00A3E0"/>
            </a:solidFill>
            <a:ln>
              <a:noFill/>
            </a:ln>
            <a:effectLst/>
          </c:spPr>
          <c:invertIfNegative val="0"/>
          <c:dLbls>
            <c:dLbl>
              <c:idx val="0"/>
              <c:layout>
                <c:manualLayout>
                  <c:x val="0"/>
                  <c:y val="-3.44077243083347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860-446C-A06E-6A2ACCF23A30}"/>
                </c:ext>
              </c:extLst>
            </c:dLbl>
            <c:dLbl>
              <c:idx val="2"/>
              <c:layout>
                <c:manualLayout>
                  <c:x val="1.1789125042700768E-2"/>
                  <c:y val="-2.46421129659076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860-446C-A06E-6A2ACCF23A3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35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WBPDCL</c:v>
                </c:pt>
                <c:pt idx="1">
                  <c:v>DPL</c:v>
                </c:pt>
                <c:pt idx="2">
                  <c:v>WBSEDCL</c:v>
                </c:pt>
              </c:strCache>
            </c:strRef>
          </c:cat>
          <c:val>
            <c:numRef>
              <c:f>Sheet1!$C$2:$C$4</c:f>
              <c:numCache>
                <c:formatCode>General</c:formatCode>
                <c:ptCount val="3"/>
                <c:pt idx="0">
                  <c:v>6254.1908000000003</c:v>
                </c:pt>
                <c:pt idx="1">
                  <c:v>747.65840000000003</c:v>
                </c:pt>
                <c:pt idx="2">
                  <c:v>15519.14</c:v>
                </c:pt>
              </c:numCache>
            </c:numRef>
          </c:val>
          <c:extLst>
            <c:ext xmlns:c16="http://schemas.microsoft.com/office/drawing/2014/chart" uri="{C3380CC4-5D6E-409C-BE32-E72D297353CC}">
              <c16:uniqueId val="{00000005-4860-446C-A06E-6A2ACCF23A30}"/>
            </c:ext>
          </c:extLst>
        </c:ser>
        <c:dLbls>
          <c:showLegendKey val="0"/>
          <c:showVal val="0"/>
          <c:showCatName val="0"/>
          <c:showSerName val="0"/>
          <c:showPercent val="0"/>
          <c:showBubbleSize val="0"/>
        </c:dLbls>
        <c:gapWidth val="219"/>
        <c:overlap val="-27"/>
        <c:axId val="248039136"/>
        <c:axId val="248037056"/>
      </c:barChart>
      <c:catAx>
        <c:axId val="24803913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48037056"/>
        <c:crosses val="autoZero"/>
        <c:auto val="1"/>
        <c:lblAlgn val="ctr"/>
        <c:lblOffset val="100"/>
        <c:noMultiLvlLbl val="0"/>
      </c:catAx>
      <c:valAx>
        <c:axId val="248037056"/>
        <c:scaling>
          <c:orientation val="minMax"/>
        </c:scaling>
        <c:delete val="1"/>
        <c:axPos val="l"/>
        <c:numFmt formatCode="General" sourceLinked="1"/>
        <c:majorTickMark val="none"/>
        <c:minorTickMark val="none"/>
        <c:tickLblPos val="nextTo"/>
        <c:crossAx val="248039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641294541080144E-2"/>
          <c:y val="5.9957210208605595E-2"/>
          <c:w val="0.95071741091783968"/>
          <c:h val="0.56996232669843561"/>
        </c:manualLayout>
      </c:layout>
      <c:barChart>
        <c:barDir val="col"/>
        <c:grouping val="clustered"/>
        <c:varyColors val="0"/>
        <c:ser>
          <c:idx val="0"/>
          <c:order val="0"/>
          <c:tx>
            <c:strRef>
              <c:f>Sheet1!$B$1</c:f>
              <c:strCache>
                <c:ptCount val="1"/>
                <c:pt idx="0">
                  <c:v>FY 2019-20</c:v>
                </c:pt>
              </c:strCache>
            </c:strRef>
          </c:tx>
          <c:spPr>
            <a:solidFill>
              <a:srgbClr val="012169"/>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WBPDCL</c:v>
                </c:pt>
                <c:pt idx="1">
                  <c:v>DPL</c:v>
                </c:pt>
                <c:pt idx="2">
                  <c:v>WBSEDCL</c:v>
                </c:pt>
              </c:strCache>
            </c:strRef>
          </c:cat>
          <c:val>
            <c:numRef>
              <c:f>Sheet1!$B$2:$B$4</c:f>
              <c:numCache>
                <c:formatCode>General</c:formatCode>
                <c:ptCount val="3"/>
                <c:pt idx="0">
                  <c:v>306.71050000000002</c:v>
                </c:pt>
                <c:pt idx="1">
                  <c:v>4.5350999999999999</c:v>
                </c:pt>
                <c:pt idx="2">
                  <c:v>605.19000000000005</c:v>
                </c:pt>
              </c:numCache>
            </c:numRef>
          </c:val>
          <c:extLst>
            <c:ext xmlns:c16="http://schemas.microsoft.com/office/drawing/2014/chart" uri="{C3380CC4-5D6E-409C-BE32-E72D297353CC}">
              <c16:uniqueId val="{00000000-FD94-46B9-9AEF-4A4C10DF893F}"/>
            </c:ext>
          </c:extLst>
        </c:ser>
        <c:dLbls>
          <c:showLegendKey val="0"/>
          <c:showVal val="0"/>
          <c:showCatName val="0"/>
          <c:showSerName val="0"/>
          <c:showPercent val="0"/>
          <c:showBubbleSize val="0"/>
        </c:dLbls>
        <c:gapWidth val="219"/>
        <c:overlap val="-27"/>
        <c:axId val="248039136"/>
        <c:axId val="248037056"/>
      </c:barChart>
      <c:catAx>
        <c:axId val="24803913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48037056"/>
        <c:crosses val="autoZero"/>
        <c:auto val="1"/>
        <c:lblAlgn val="ctr"/>
        <c:lblOffset val="100"/>
        <c:noMultiLvlLbl val="0"/>
      </c:catAx>
      <c:valAx>
        <c:axId val="248037056"/>
        <c:scaling>
          <c:orientation val="minMax"/>
        </c:scaling>
        <c:delete val="1"/>
        <c:axPos val="l"/>
        <c:numFmt formatCode="General" sourceLinked="1"/>
        <c:majorTickMark val="none"/>
        <c:minorTickMark val="none"/>
        <c:tickLblPos val="nextTo"/>
        <c:crossAx val="248039136"/>
        <c:crosses val="autoZero"/>
        <c:crossBetween val="between"/>
      </c:valAx>
      <c:spPr>
        <a:noFill/>
        <a:ln>
          <a:noFill/>
        </a:ln>
        <a:effectLst/>
      </c:spPr>
    </c:plotArea>
    <c:legend>
      <c:legendPos val="b"/>
      <c:layout>
        <c:manualLayout>
          <c:xMode val="edge"/>
          <c:yMode val="edge"/>
          <c:x val="0.1523475815989325"/>
          <c:y val="0.84067285348016718"/>
          <c:w val="0.58553889382283142"/>
          <c:h val="0.1408857762824617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22631652785721E-2"/>
          <c:y val="5.7329543099546167E-2"/>
          <c:w val="0.88989695262777591"/>
          <c:h val="0.73712988691265435"/>
        </c:manualLayout>
      </c:layout>
      <c:barChart>
        <c:barDir val="col"/>
        <c:grouping val="clustered"/>
        <c:varyColors val="0"/>
        <c:ser>
          <c:idx val="0"/>
          <c:order val="0"/>
          <c:tx>
            <c:strRef>
              <c:f>Sheet1!$B$1</c:f>
              <c:strCache>
                <c:ptCount val="1"/>
                <c:pt idx="0">
                  <c:v>Admitted Fixed Cost (INR Crores)</c:v>
                </c:pt>
              </c:strCache>
            </c:strRef>
          </c:tx>
          <c:spPr>
            <a:solidFill>
              <a:schemeClr val="tx1">
                <a:lumMod val="65000"/>
                <a:lumOff val="3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Santaldih (Unit 5-6)</c:v>
                </c:pt>
                <c:pt idx="1">
                  <c:v>Sagardighi (Unit 1-2)</c:v>
                </c:pt>
                <c:pt idx="2">
                  <c:v>Sagardighi (Unit 3-4)</c:v>
                </c:pt>
                <c:pt idx="3">
                  <c:v>Bakreswar (Unit 1-5)</c:v>
                </c:pt>
                <c:pt idx="4">
                  <c:v>Kolaghat (Unit 1-6)</c:v>
                </c:pt>
                <c:pt idx="5">
                  <c:v>Bandel I (Unit 1-2)</c:v>
                </c:pt>
                <c:pt idx="6">
                  <c:v>Bandel II (Unit -5)</c:v>
                </c:pt>
              </c:strCache>
            </c:strRef>
          </c:cat>
          <c:val>
            <c:numRef>
              <c:f>Sheet1!$B$2:$B$8</c:f>
              <c:numCache>
                <c:formatCode>0</c:formatCode>
                <c:ptCount val="7"/>
                <c:pt idx="0">
                  <c:v>442.1925</c:v>
                </c:pt>
                <c:pt idx="1">
                  <c:v>389.05889999999999</c:v>
                </c:pt>
                <c:pt idx="2">
                  <c:v>1028.3069</c:v>
                </c:pt>
                <c:pt idx="3">
                  <c:v>776.75070000000005</c:v>
                </c:pt>
                <c:pt idx="4">
                  <c:v>534.17309999999998</c:v>
                </c:pt>
                <c:pt idx="5">
                  <c:v>50.016099999999994</c:v>
                </c:pt>
                <c:pt idx="6">
                  <c:v>140.02590000000001</c:v>
                </c:pt>
              </c:numCache>
            </c:numRef>
          </c:val>
          <c:extLst>
            <c:ext xmlns:c16="http://schemas.microsoft.com/office/drawing/2014/chart" uri="{C3380CC4-5D6E-409C-BE32-E72D297353CC}">
              <c16:uniqueId val="{00000000-B8DF-49F3-9B25-9301F1F954E5}"/>
            </c:ext>
          </c:extLst>
        </c:ser>
        <c:ser>
          <c:idx val="1"/>
          <c:order val="1"/>
          <c:tx>
            <c:strRef>
              <c:f>Sheet1!$C$1</c:f>
              <c:strCache>
                <c:ptCount val="1"/>
                <c:pt idx="0">
                  <c:v>Fixed Cost Obligation (INR Crores)</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Santaldih (Unit 5-6)</c:v>
                </c:pt>
                <c:pt idx="1">
                  <c:v>Sagardighi (Unit 1-2)</c:v>
                </c:pt>
                <c:pt idx="2">
                  <c:v>Sagardighi (Unit 3-4)</c:v>
                </c:pt>
                <c:pt idx="3">
                  <c:v>Bakreswar (Unit 1-5)</c:v>
                </c:pt>
                <c:pt idx="4">
                  <c:v>Kolaghat (Unit 1-6)</c:v>
                </c:pt>
                <c:pt idx="5">
                  <c:v>Bandel I (Unit 1-2)</c:v>
                </c:pt>
                <c:pt idx="6">
                  <c:v>Bandel II (Unit -5)</c:v>
                </c:pt>
              </c:strCache>
            </c:strRef>
          </c:cat>
          <c:val>
            <c:numRef>
              <c:f>Sheet1!$C$2:$C$8</c:f>
              <c:numCache>
                <c:formatCode>0</c:formatCode>
                <c:ptCount val="7"/>
                <c:pt idx="0">
                  <c:v>442.1925</c:v>
                </c:pt>
                <c:pt idx="1">
                  <c:v>276.73530698823532</c:v>
                </c:pt>
                <c:pt idx="2">
                  <c:v>623.87984509411774</c:v>
                </c:pt>
                <c:pt idx="3">
                  <c:v>739.46666640000012</c:v>
                </c:pt>
                <c:pt idx="4">
                  <c:v>317.01392908000003</c:v>
                </c:pt>
                <c:pt idx="5">
                  <c:v>39.805670442857142</c:v>
                </c:pt>
                <c:pt idx="6">
                  <c:v>91.77462222352942</c:v>
                </c:pt>
              </c:numCache>
            </c:numRef>
          </c:val>
          <c:extLst>
            <c:ext xmlns:c16="http://schemas.microsoft.com/office/drawing/2014/chart" uri="{C3380CC4-5D6E-409C-BE32-E72D297353CC}">
              <c16:uniqueId val="{00000001-B8DF-49F3-9B25-9301F1F954E5}"/>
            </c:ext>
          </c:extLst>
        </c:ser>
        <c:dLbls>
          <c:showLegendKey val="0"/>
          <c:showVal val="0"/>
          <c:showCatName val="0"/>
          <c:showSerName val="0"/>
          <c:showPercent val="0"/>
          <c:showBubbleSize val="0"/>
        </c:dLbls>
        <c:gapWidth val="219"/>
        <c:overlap val="-27"/>
        <c:axId val="18336655"/>
        <c:axId val="18330831"/>
      </c:barChart>
      <c:lineChart>
        <c:grouping val="standard"/>
        <c:varyColors val="0"/>
        <c:ser>
          <c:idx val="2"/>
          <c:order val="2"/>
          <c:tx>
            <c:strRef>
              <c:f>Sheet1!$D$1</c:f>
              <c:strCache>
                <c:ptCount val="1"/>
                <c:pt idx="0">
                  <c:v>Normative PAF</c:v>
                </c:pt>
              </c:strCache>
            </c:strRef>
          </c:tx>
          <c:spPr>
            <a:ln w="28575" cap="rnd">
              <a:solidFill>
                <a:schemeClr val="accent3"/>
              </a:solidFill>
              <a:round/>
            </a:ln>
            <a:effectLst/>
          </c:spPr>
          <c:marker>
            <c:symbol val="none"/>
          </c:marker>
          <c:dLbls>
            <c:dLbl>
              <c:idx val="0"/>
              <c:layout>
                <c:manualLayout>
                  <c:x val="-2.2127470959001105E-3"/>
                  <c:y val="-4.50235043963896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8DF-49F3-9B25-9301F1F954E5}"/>
                </c:ext>
              </c:extLst>
            </c:dLbl>
            <c:dLbl>
              <c:idx val="1"/>
              <c:layout>
                <c:manualLayout>
                  <c:x val="0"/>
                  <c:y val="-5.50287275955873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8DF-49F3-9B25-9301F1F954E5}"/>
                </c:ext>
              </c:extLst>
            </c:dLbl>
            <c:dLbl>
              <c:idx val="2"/>
              <c:layout>
                <c:manualLayout>
                  <c:x val="0"/>
                  <c:y val="-4.50235043963896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8DF-49F3-9B25-9301F1F954E5}"/>
                </c:ext>
              </c:extLst>
            </c:dLbl>
            <c:dLbl>
              <c:idx val="3"/>
              <c:layout>
                <c:manualLayout>
                  <c:x val="0"/>
                  <c:y val="-4.00208927967908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8DF-49F3-9B25-9301F1F954E5}"/>
                </c:ext>
              </c:extLst>
            </c:dLbl>
            <c:dLbl>
              <c:idx val="4"/>
              <c:layout>
                <c:manualLayout>
                  <c:x val="0"/>
                  <c:y val="-4.50235043963896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8DF-49F3-9B25-9301F1F954E5}"/>
                </c:ext>
              </c:extLst>
            </c:dLbl>
            <c:dLbl>
              <c:idx val="5"/>
              <c:layout>
                <c:manualLayout>
                  <c:x val="-8.850988383600605E-3"/>
                  <c:y val="-5.00261159959885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8DF-49F3-9B25-9301F1F954E5}"/>
                </c:ext>
              </c:extLst>
            </c:dLbl>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Santaldih (Unit 5-6)</c:v>
                </c:pt>
                <c:pt idx="1">
                  <c:v>Sagardighi (Unit 1-2)</c:v>
                </c:pt>
                <c:pt idx="2">
                  <c:v>Sagardighi (Unit 3-4)</c:v>
                </c:pt>
                <c:pt idx="3">
                  <c:v>Bakreswar (Unit 1-5)</c:v>
                </c:pt>
                <c:pt idx="4">
                  <c:v>Kolaghat (Unit 1-6)</c:v>
                </c:pt>
                <c:pt idx="5">
                  <c:v>Bandel I (Unit 1-2)</c:v>
                </c:pt>
                <c:pt idx="6">
                  <c:v>Bandel II (Unit -5)</c:v>
                </c:pt>
              </c:strCache>
            </c:strRef>
          </c:cat>
          <c:val>
            <c:numRef>
              <c:f>Sheet1!$D$2:$D$8</c:f>
              <c:numCache>
                <c:formatCode>0%</c:formatCode>
                <c:ptCount val="7"/>
                <c:pt idx="0">
                  <c:v>0.85</c:v>
                </c:pt>
                <c:pt idx="1">
                  <c:v>0.85</c:v>
                </c:pt>
                <c:pt idx="2">
                  <c:v>0.85</c:v>
                </c:pt>
                <c:pt idx="3">
                  <c:v>0.85</c:v>
                </c:pt>
                <c:pt idx="4">
                  <c:v>0.75</c:v>
                </c:pt>
                <c:pt idx="5">
                  <c:v>0.7</c:v>
                </c:pt>
                <c:pt idx="6">
                  <c:v>0.85</c:v>
                </c:pt>
              </c:numCache>
            </c:numRef>
          </c:val>
          <c:smooth val="0"/>
          <c:extLst>
            <c:ext xmlns:c16="http://schemas.microsoft.com/office/drawing/2014/chart" uri="{C3380CC4-5D6E-409C-BE32-E72D297353CC}">
              <c16:uniqueId val="{00000002-B8DF-49F3-9B25-9301F1F954E5}"/>
            </c:ext>
          </c:extLst>
        </c:ser>
        <c:ser>
          <c:idx val="3"/>
          <c:order val="3"/>
          <c:tx>
            <c:strRef>
              <c:f>Sheet1!$E$1</c:f>
              <c:strCache>
                <c:ptCount val="1"/>
                <c:pt idx="0">
                  <c:v>Actual PAF</c:v>
                </c:pt>
              </c:strCache>
            </c:strRef>
          </c:tx>
          <c:spPr>
            <a:ln w="28575" cap="rnd">
              <a:solidFill>
                <a:srgbClr val="FFC000"/>
              </a:solidFill>
              <a:round/>
            </a:ln>
            <a:effectLst/>
          </c:spPr>
          <c:marker>
            <c:symbol val="none"/>
          </c:marker>
          <c:dLbls>
            <c:dLbl>
              <c:idx val="0"/>
              <c:layout>
                <c:manualLayout>
                  <c:x val="-2.4905754873668556E-2"/>
                  <c:y val="6.77530963903727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8DF-49F3-9B25-9301F1F954E5}"/>
                </c:ext>
              </c:extLst>
            </c:dLbl>
            <c:dLbl>
              <c:idx val="1"/>
              <c:layout>
                <c:manualLayout>
                  <c:x val="-4.2148200555439067E-2"/>
                  <c:y val="4.1694213163306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8DF-49F3-9B25-9301F1F954E5}"/>
                </c:ext>
              </c:extLst>
            </c:dLbl>
            <c:dLbl>
              <c:idx val="2"/>
              <c:layout>
                <c:manualLayout>
                  <c:x val="3.8316545959490057E-2"/>
                  <c:y val="-3.12706598724797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8DF-49F3-9B25-9301F1F954E5}"/>
                </c:ext>
              </c:extLst>
            </c:dLbl>
            <c:dLbl>
              <c:idx val="3"/>
              <c:layout>
                <c:manualLayout>
                  <c:x val="-6.7053955429107595E-2"/>
                  <c:y val="1.04235532908265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8DF-49F3-9B25-9301F1F954E5}"/>
                </c:ext>
              </c:extLst>
            </c:dLbl>
            <c:dLbl>
              <c:idx val="4"/>
              <c:layout>
                <c:manualLayout>
                  <c:x val="3.4484891363541194E-2"/>
                  <c:y val="1.04235532908265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B8DF-49F3-9B25-9301F1F954E5}"/>
                </c:ext>
              </c:extLst>
            </c:dLbl>
            <c:dLbl>
              <c:idx val="5"/>
              <c:layout>
                <c:manualLayout>
                  <c:x val="-7.6633091918980115E-3"/>
                  <c:y val="5.21177664541327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B8DF-49F3-9B25-9301F1F954E5}"/>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Santaldih (Unit 5-6)</c:v>
                </c:pt>
                <c:pt idx="1">
                  <c:v>Sagardighi (Unit 1-2)</c:v>
                </c:pt>
                <c:pt idx="2">
                  <c:v>Sagardighi (Unit 3-4)</c:v>
                </c:pt>
                <c:pt idx="3">
                  <c:v>Bakreswar (Unit 1-5)</c:v>
                </c:pt>
                <c:pt idx="4">
                  <c:v>Kolaghat (Unit 1-6)</c:v>
                </c:pt>
                <c:pt idx="5">
                  <c:v>Bandel I (Unit 1-2)</c:v>
                </c:pt>
                <c:pt idx="6">
                  <c:v>Bandel II (Unit -5)</c:v>
                </c:pt>
              </c:strCache>
            </c:strRef>
          </c:cat>
          <c:val>
            <c:numRef>
              <c:f>Sheet1!$E$2:$E$8</c:f>
              <c:numCache>
                <c:formatCode>0.00%</c:formatCode>
                <c:ptCount val="7"/>
                <c:pt idx="0">
                  <c:v>0.86160000000000003</c:v>
                </c:pt>
                <c:pt idx="1">
                  <c:v>0.60460000000000003</c:v>
                </c:pt>
                <c:pt idx="2">
                  <c:v>0.51570000000000005</c:v>
                </c:pt>
                <c:pt idx="3">
                  <c:v>0.80920000000000003</c:v>
                </c:pt>
                <c:pt idx="4">
                  <c:v>0.4451</c:v>
                </c:pt>
                <c:pt idx="5">
                  <c:v>0.55710000000000004</c:v>
                </c:pt>
                <c:pt idx="6">
                  <c:v>0.55710000000000004</c:v>
                </c:pt>
              </c:numCache>
            </c:numRef>
          </c:val>
          <c:smooth val="0"/>
          <c:extLst>
            <c:ext xmlns:c16="http://schemas.microsoft.com/office/drawing/2014/chart" uri="{C3380CC4-5D6E-409C-BE32-E72D297353CC}">
              <c16:uniqueId val="{00000005-B8DF-49F3-9B25-9301F1F954E5}"/>
            </c:ext>
          </c:extLst>
        </c:ser>
        <c:dLbls>
          <c:showLegendKey val="0"/>
          <c:showVal val="0"/>
          <c:showCatName val="0"/>
          <c:showSerName val="0"/>
          <c:showPercent val="0"/>
          <c:showBubbleSize val="0"/>
        </c:dLbls>
        <c:marker val="1"/>
        <c:smooth val="0"/>
        <c:axId val="18331663"/>
        <c:axId val="18331247"/>
      </c:lineChart>
      <c:catAx>
        <c:axId val="18336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8330831"/>
        <c:crosses val="autoZero"/>
        <c:auto val="1"/>
        <c:lblAlgn val="ctr"/>
        <c:lblOffset val="100"/>
        <c:noMultiLvlLbl val="0"/>
      </c:catAx>
      <c:valAx>
        <c:axId val="18330831"/>
        <c:scaling>
          <c:orientation val="minMax"/>
          <c:max val="14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8336655"/>
        <c:crosses val="autoZero"/>
        <c:crossBetween val="between"/>
      </c:valAx>
      <c:valAx>
        <c:axId val="18331247"/>
        <c:scaling>
          <c:orientation val="minMax"/>
          <c:max val="1.2"/>
          <c:min val="0"/>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8331663"/>
        <c:crosses val="max"/>
        <c:crossBetween val="between"/>
      </c:valAx>
      <c:catAx>
        <c:axId val="18331663"/>
        <c:scaling>
          <c:orientation val="minMax"/>
        </c:scaling>
        <c:delete val="1"/>
        <c:axPos val="b"/>
        <c:numFmt formatCode="General" sourceLinked="1"/>
        <c:majorTickMark val="out"/>
        <c:minorTickMark val="none"/>
        <c:tickLblPos val="nextTo"/>
        <c:crossAx val="1833124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86BC25"/>
      </a:solidFill>
    </a:ln>
    <a:effectLst/>
  </c:spPr>
  <c:txPr>
    <a:bodyPr/>
    <a:lstStyle/>
    <a:p>
      <a:pPr>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747566371347672E-2"/>
          <c:y val="5.7329543099546167E-2"/>
          <c:w val="0.88989695262777591"/>
          <c:h val="0.73712988691265435"/>
        </c:manualLayout>
      </c:layout>
      <c:barChart>
        <c:barDir val="col"/>
        <c:grouping val="clustered"/>
        <c:varyColors val="0"/>
        <c:ser>
          <c:idx val="0"/>
          <c:order val="0"/>
          <c:tx>
            <c:strRef>
              <c:f>Sheet1!$B$1</c:f>
              <c:strCache>
                <c:ptCount val="1"/>
                <c:pt idx="0">
                  <c:v>Admitted Energy Charge (INR Paisa /kWh)</c:v>
                </c:pt>
              </c:strCache>
            </c:strRef>
          </c:tx>
          <c:spPr>
            <a:solidFill>
              <a:srgbClr val="0076A8"/>
            </a:solidFill>
            <a:ln>
              <a:noFill/>
            </a:ln>
            <a:effectLst/>
          </c:spPr>
          <c:invertIfNegative val="0"/>
          <c:dLbls>
            <c:dLbl>
              <c:idx val="4"/>
              <c:layout>
                <c:manualLayout>
                  <c:x val="-1.5120321177117265E-16"/>
                  <c:y val="0"/>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DA291C"/>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7497-437F-A0CE-12DDBBF93B82}"/>
                </c:ext>
              </c:extLst>
            </c:dLbl>
            <c:dLbl>
              <c:idx val="5"/>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DA291C"/>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18-7497-437F-A0CE-12DDBBF93B82}"/>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Santaldih (Unit 5-6)</c:v>
                </c:pt>
                <c:pt idx="1">
                  <c:v>Sagardighi (Unit 1-2)</c:v>
                </c:pt>
                <c:pt idx="2">
                  <c:v>Sagardighi (Unit 3-4)</c:v>
                </c:pt>
                <c:pt idx="3">
                  <c:v>Bakreswar (Unit 1-5)</c:v>
                </c:pt>
                <c:pt idx="4">
                  <c:v>Kolaghat (Unit 1-6)</c:v>
                </c:pt>
                <c:pt idx="5">
                  <c:v>Bandel (Unit 1-2,5)</c:v>
                </c:pt>
              </c:strCache>
            </c:strRef>
          </c:cat>
          <c:val>
            <c:numRef>
              <c:f>Sheet1!$B$2:$B$7</c:f>
              <c:numCache>
                <c:formatCode>0.00</c:formatCode>
                <c:ptCount val="6"/>
                <c:pt idx="0">
                  <c:v>286.79000000000002</c:v>
                </c:pt>
                <c:pt idx="1">
                  <c:v>268.5</c:v>
                </c:pt>
                <c:pt idx="2">
                  <c:v>261.7</c:v>
                </c:pt>
                <c:pt idx="3">
                  <c:v>255.73</c:v>
                </c:pt>
                <c:pt idx="4">
                  <c:v>349.81</c:v>
                </c:pt>
                <c:pt idx="5">
                  <c:v>317.45</c:v>
                </c:pt>
              </c:numCache>
            </c:numRef>
          </c:val>
          <c:extLst>
            <c:ext xmlns:c16="http://schemas.microsoft.com/office/drawing/2014/chart" uri="{C3380CC4-5D6E-409C-BE32-E72D297353CC}">
              <c16:uniqueId val="{00000000-7497-437F-A0CE-12DDBBF93B82}"/>
            </c:ext>
          </c:extLst>
        </c:ser>
        <c:dLbls>
          <c:showLegendKey val="0"/>
          <c:showVal val="0"/>
          <c:showCatName val="0"/>
          <c:showSerName val="0"/>
          <c:showPercent val="0"/>
          <c:showBubbleSize val="0"/>
        </c:dLbls>
        <c:gapWidth val="219"/>
        <c:overlap val="-27"/>
        <c:axId val="18336655"/>
        <c:axId val="18330831"/>
      </c:barChart>
      <c:lineChart>
        <c:grouping val="standard"/>
        <c:varyColors val="0"/>
        <c:ser>
          <c:idx val="1"/>
          <c:order val="1"/>
          <c:tx>
            <c:strRef>
              <c:f>Sheet1!$C$1</c:f>
              <c:strCache>
                <c:ptCount val="1"/>
                <c:pt idx="0">
                  <c:v>Normative PLF</c:v>
                </c:pt>
              </c:strCache>
            </c:strRef>
          </c:tx>
          <c:spPr>
            <a:ln w="28575" cap="rnd">
              <a:solidFill>
                <a:schemeClr val="accent2"/>
              </a:solidFill>
              <a:round/>
            </a:ln>
            <a:effectLst/>
          </c:spPr>
          <c:marker>
            <c:symbol val="none"/>
          </c:marker>
          <c:dLbls>
            <c:dLbl>
              <c:idx val="0"/>
              <c:layout>
                <c:manualLayout>
                  <c:x val="-1.1494963787847017E-2"/>
                  <c:y val="-8.338842632661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497-437F-A0CE-12DDBBF93B82}"/>
                </c:ext>
              </c:extLst>
            </c:dLbl>
            <c:dLbl>
              <c:idx val="1"/>
              <c:layout>
                <c:manualLayout>
                  <c:x val="-3.8316545959490409E-3"/>
                  <c:y val="-5.21177664541329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497-437F-A0CE-12DDBBF93B82}"/>
                </c:ext>
              </c:extLst>
            </c:dLbl>
            <c:dLbl>
              <c:idx val="2"/>
              <c:layout>
                <c:manualLayout>
                  <c:x val="-5.7474818939235086E-3"/>
                  <c:y val="-5.21177664541329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497-437F-A0CE-12DDBBF93B82}"/>
                </c:ext>
              </c:extLst>
            </c:dLbl>
            <c:dLbl>
              <c:idx val="3"/>
              <c:layout>
                <c:manualLayout>
                  <c:x val="0"/>
                  <c:y val="-4.69059898087195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7497-437F-A0CE-12DDBBF93B82}"/>
                </c:ext>
              </c:extLst>
            </c:dLbl>
            <c:dLbl>
              <c:idx val="4"/>
              <c:layout>
                <c:manualLayout>
                  <c:x val="2.4905754873668539E-2"/>
                  <c:y val="-4.169421316330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497-437F-A0CE-12DDBBF93B82}"/>
                </c:ext>
              </c:extLst>
            </c:dLbl>
            <c:dLbl>
              <c:idx val="5"/>
              <c:layout>
                <c:manualLayout>
                  <c:x val="1.7242445681770528E-2"/>
                  <c:y val="-6.77530963903727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7497-437F-A0CE-12DDBBF93B82}"/>
                </c:ext>
              </c:extLst>
            </c:dLbl>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rgbClr val="046A38"/>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Santaldih (Unit 5-6)</c:v>
                </c:pt>
                <c:pt idx="1">
                  <c:v>Sagardighi (Unit 1-2)</c:v>
                </c:pt>
                <c:pt idx="2">
                  <c:v>Sagardighi (Unit 3-4)</c:v>
                </c:pt>
                <c:pt idx="3">
                  <c:v>Bakreswar (Unit 1-5)</c:v>
                </c:pt>
                <c:pt idx="4">
                  <c:v>Kolaghat (Unit 1-6)</c:v>
                </c:pt>
                <c:pt idx="5">
                  <c:v>Bandel (Unit 1-2,5)</c:v>
                </c:pt>
              </c:strCache>
            </c:strRef>
          </c:cat>
          <c:val>
            <c:numRef>
              <c:f>Sheet1!$C$2:$C$7</c:f>
              <c:numCache>
                <c:formatCode>0%</c:formatCode>
                <c:ptCount val="6"/>
                <c:pt idx="0">
                  <c:v>0.8</c:v>
                </c:pt>
                <c:pt idx="1">
                  <c:v>0.8</c:v>
                </c:pt>
                <c:pt idx="2">
                  <c:v>0.8</c:v>
                </c:pt>
                <c:pt idx="3">
                  <c:v>0.8</c:v>
                </c:pt>
                <c:pt idx="4">
                  <c:v>0.7</c:v>
                </c:pt>
                <c:pt idx="5">
                  <c:v>0.7</c:v>
                </c:pt>
              </c:numCache>
            </c:numRef>
          </c:val>
          <c:smooth val="0"/>
          <c:extLst>
            <c:ext xmlns:c16="http://schemas.microsoft.com/office/drawing/2014/chart" uri="{C3380CC4-5D6E-409C-BE32-E72D297353CC}">
              <c16:uniqueId val="{00000001-7497-437F-A0CE-12DDBBF93B82}"/>
            </c:ext>
          </c:extLst>
        </c:ser>
        <c:ser>
          <c:idx val="2"/>
          <c:order val="2"/>
          <c:tx>
            <c:strRef>
              <c:f>Sheet1!$D$1</c:f>
              <c:strCache>
                <c:ptCount val="1"/>
                <c:pt idx="0">
                  <c:v>Actual PLF</c:v>
                </c:pt>
              </c:strCache>
            </c:strRef>
          </c:tx>
          <c:spPr>
            <a:ln w="28575" cap="rnd">
              <a:solidFill>
                <a:srgbClr val="FFCD00"/>
              </a:solidFill>
              <a:round/>
            </a:ln>
            <a:effectLst/>
          </c:spPr>
          <c:marker>
            <c:symbol val="none"/>
          </c:marker>
          <c:dLbls>
            <c:dLbl>
              <c:idx val="0"/>
              <c:layout>
                <c:manualLayout>
                  <c:x val="-2.9687780491447413E-4"/>
                  <c:y val="0.1061179281423216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497-437F-A0CE-12DDBBF93B82}"/>
                </c:ext>
              </c:extLst>
            </c:dLbl>
            <c:dLbl>
              <c:idx val="1"/>
              <c:layout>
                <c:manualLayout>
                  <c:x val="0"/>
                  <c:y val="-5.50287275955873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497-437F-A0CE-12DDBBF93B82}"/>
                </c:ext>
              </c:extLst>
            </c:dLbl>
            <c:dLbl>
              <c:idx val="2"/>
              <c:layout>
                <c:manualLayout>
                  <c:x val="0"/>
                  <c:y val="-4.50235043963896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497-437F-A0CE-12DDBBF93B82}"/>
                </c:ext>
              </c:extLst>
            </c:dLbl>
            <c:dLbl>
              <c:idx val="3"/>
              <c:layout>
                <c:manualLayout>
                  <c:x val="-2.4905754873668539E-2"/>
                  <c:y val="7.46383868279116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497-437F-A0CE-12DDBBF93B82}"/>
                </c:ext>
              </c:extLst>
            </c:dLbl>
            <c:dLbl>
              <c:idx val="4"/>
              <c:layout>
                <c:manualLayout>
                  <c:x val="2.4905754873668539E-2"/>
                  <c:y val="3.8364831751948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497-437F-A0CE-12DDBBF93B82}"/>
                </c:ext>
              </c:extLst>
            </c:dLbl>
            <c:dLbl>
              <c:idx val="5"/>
              <c:layout>
                <c:manualLayout>
                  <c:x val="1.9886438205518487E-2"/>
                  <c:y val="4.37859002154063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497-437F-A0CE-12DDBBF93B82}"/>
                </c:ext>
              </c:extLst>
            </c:dLbl>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Santaldih (Unit 5-6)</c:v>
                </c:pt>
                <c:pt idx="1">
                  <c:v>Sagardighi (Unit 1-2)</c:v>
                </c:pt>
                <c:pt idx="2">
                  <c:v>Sagardighi (Unit 3-4)</c:v>
                </c:pt>
                <c:pt idx="3">
                  <c:v>Bakreswar (Unit 1-5)</c:v>
                </c:pt>
                <c:pt idx="4">
                  <c:v>Kolaghat (Unit 1-6)</c:v>
                </c:pt>
                <c:pt idx="5">
                  <c:v>Bandel (Unit 1-2,5)</c:v>
                </c:pt>
              </c:strCache>
            </c:strRef>
          </c:cat>
          <c:val>
            <c:numRef>
              <c:f>Sheet1!$D$2:$D$7</c:f>
              <c:numCache>
                <c:formatCode>0%</c:formatCode>
                <c:ptCount val="6"/>
                <c:pt idx="0">
                  <c:v>0.84099999999999997</c:v>
                </c:pt>
                <c:pt idx="1">
                  <c:v>0.51300000000000001</c:v>
                </c:pt>
                <c:pt idx="2">
                  <c:v>0.45440000000000003</c:v>
                </c:pt>
                <c:pt idx="3">
                  <c:v>0.75860000000000005</c:v>
                </c:pt>
                <c:pt idx="4">
                  <c:v>0.25950000000000001</c:v>
                </c:pt>
                <c:pt idx="5">
                  <c:v>0.29239999999999999</c:v>
                </c:pt>
              </c:numCache>
            </c:numRef>
          </c:val>
          <c:smooth val="0"/>
          <c:extLst>
            <c:ext xmlns:c16="http://schemas.microsoft.com/office/drawing/2014/chart" uri="{C3380CC4-5D6E-409C-BE32-E72D297353CC}">
              <c16:uniqueId val="{00000008-7497-437F-A0CE-12DDBBF93B82}"/>
            </c:ext>
          </c:extLst>
        </c:ser>
        <c:dLbls>
          <c:showLegendKey val="0"/>
          <c:showVal val="0"/>
          <c:showCatName val="0"/>
          <c:showSerName val="0"/>
          <c:showPercent val="0"/>
          <c:showBubbleSize val="0"/>
        </c:dLbls>
        <c:marker val="1"/>
        <c:smooth val="0"/>
        <c:axId val="18331663"/>
        <c:axId val="18331247"/>
      </c:lineChart>
      <c:catAx>
        <c:axId val="18336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8330831"/>
        <c:crosses val="autoZero"/>
        <c:auto val="1"/>
        <c:lblAlgn val="ctr"/>
        <c:lblOffset val="100"/>
        <c:noMultiLvlLbl val="0"/>
      </c:catAx>
      <c:valAx>
        <c:axId val="18330831"/>
        <c:scaling>
          <c:orientation val="minMax"/>
          <c:max val="500"/>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8336655"/>
        <c:crosses val="autoZero"/>
        <c:crossBetween val="between"/>
      </c:valAx>
      <c:valAx>
        <c:axId val="18331247"/>
        <c:scaling>
          <c:orientation val="minMax"/>
          <c:max val="1.2"/>
          <c:min val="0"/>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8331663"/>
        <c:crosses val="max"/>
        <c:crossBetween val="between"/>
      </c:valAx>
      <c:catAx>
        <c:axId val="18331663"/>
        <c:scaling>
          <c:orientation val="minMax"/>
        </c:scaling>
        <c:delete val="1"/>
        <c:axPos val="b"/>
        <c:numFmt formatCode="General" sourceLinked="1"/>
        <c:majorTickMark val="out"/>
        <c:minorTickMark val="none"/>
        <c:tickLblPos val="nextTo"/>
        <c:crossAx val="1833124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86BC25"/>
      </a:solidFill>
    </a:ln>
    <a:effectLst/>
  </c:spPr>
  <c:txPr>
    <a:bodyPr/>
    <a:lstStyle/>
    <a:p>
      <a:pPr>
        <a:defRPr/>
      </a:pPr>
      <a:endParaRPr lang="en-US"/>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8457630966379"/>
          <c:y val="0.10213499706652548"/>
          <c:w val="0.88231542369033622"/>
          <c:h val="0.6179241783117167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4408.6985202019996</c:v>
                </c:pt>
                <c:pt idx="1">
                  <c:v>4222.9339448839992</c:v>
                </c:pt>
                <c:pt idx="2">
                  <c:v>4132.572714848</c:v>
                </c:pt>
                <c:pt idx="3">
                  <c:v>4100.3538617479999</c:v>
                </c:pt>
                <c:pt idx="4">
                  <c:v>4065.4755111499994</c:v>
                </c:pt>
                <c:pt idx="5">
                  <c:v>4050.6351777260002</c:v>
                </c:pt>
                <c:pt idx="6">
                  <c:v>4021.6504742719999</c:v>
                </c:pt>
                <c:pt idx="7">
                  <c:v>4015.7097207119987</c:v>
                </c:pt>
                <c:pt idx="8">
                  <c:v>4053.116746075998</c:v>
                </c:pt>
                <c:pt idx="9">
                  <c:v>4100.1356173060003</c:v>
                </c:pt>
                <c:pt idx="10">
                  <c:v>4172.7099344939998</c:v>
                </c:pt>
                <c:pt idx="11">
                  <c:v>4159.7603721899995</c:v>
                </c:pt>
                <c:pt idx="12">
                  <c:v>4174.1736447419989</c:v>
                </c:pt>
                <c:pt idx="13">
                  <c:v>4137.0072431079989</c:v>
                </c:pt>
                <c:pt idx="14">
                  <c:v>4206.0461244440003</c:v>
                </c:pt>
                <c:pt idx="15">
                  <c:v>4171.8140087760003</c:v>
                </c:pt>
                <c:pt idx="16">
                  <c:v>4096.0374836979991</c:v>
                </c:pt>
                <c:pt idx="17">
                  <c:v>5179.3474893619987</c:v>
                </c:pt>
                <c:pt idx="18">
                  <c:v>6845.9402355019984</c:v>
                </c:pt>
                <c:pt idx="19">
                  <c:v>7208.1990425240019</c:v>
                </c:pt>
                <c:pt idx="20">
                  <c:v>7036.1523820460006</c:v>
                </c:pt>
                <c:pt idx="21">
                  <c:v>6308.133585044</c:v>
                </c:pt>
                <c:pt idx="22">
                  <c:v>5790.5630030120001</c:v>
                </c:pt>
                <c:pt idx="23">
                  <c:v>5485.2389000119992</c:v>
                </c:pt>
              </c:numCache>
            </c:numRef>
          </c:val>
          <c:smooth val="0"/>
          <c:extLst>
            <c:ext xmlns:c16="http://schemas.microsoft.com/office/drawing/2014/chart" uri="{C3380CC4-5D6E-409C-BE32-E72D297353CC}">
              <c16:uniqueId val="{00000001-E307-43ED-9E3E-7CE148A2F4D8}"/>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0.00</c:formatCode>
                <c:ptCount val="24"/>
                <c:pt idx="0">
                  <c:v>3907.0453814951534</c:v>
                </c:pt>
                <c:pt idx="1">
                  <c:v>3748.0950709361468</c:v>
                </c:pt>
                <c:pt idx="2">
                  <c:v>3673.3000398802469</c:v>
                </c:pt>
                <c:pt idx="3">
                  <c:v>3649.2834767332488</c:v>
                </c:pt>
                <c:pt idx="4">
                  <c:v>3622.9874104806609</c:v>
                </c:pt>
                <c:pt idx="5">
                  <c:v>3626.9480730065407</c:v>
                </c:pt>
                <c:pt idx="6">
                  <c:v>3611.2876175199981</c:v>
                </c:pt>
                <c:pt idx="7">
                  <c:v>3608.779335946499</c:v>
                </c:pt>
                <c:pt idx="8">
                  <c:v>3642.3383421576791</c:v>
                </c:pt>
                <c:pt idx="9">
                  <c:v>3671.0940357394597</c:v>
                </c:pt>
                <c:pt idx="10">
                  <c:v>3721.3621516814892</c:v>
                </c:pt>
                <c:pt idx="11">
                  <c:v>3697.7586320127516</c:v>
                </c:pt>
                <c:pt idx="12">
                  <c:v>3703.8083214537455</c:v>
                </c:pt>
                <c:pt idx="13">
                  <c:v>3667.3331661742427</c:v>
                </c:pt>
                <c:pt idx="14">
                  <c:v>3725.0557334620271</c:v>
                </c:pt>
                <c:pt idx="15">
                  <c:v>3695.0909301493975</c:v>
                </c:pt>
                <c:pt idx="16">
                  <c:v>3629.915981909232</c:v>
                </c:pt>
                <c:pt idx="17">
                  <c:v>4592.1364788036426</c:v>
                </c:pt>
                <c:pt idx="18">
                  <c:v>6054.7565616193779</c:v>
                </c:pt>
                <c:pt idx="19">
                  <c:v>6370.236892882318</c:v>
                </c:pt>
                <c:pt idx="20">
                  <c:v>6218.111634083145</c:v>
                </c:pt>
                <c:pt idx="21">
                  <c:v>5576.6406195903919</c:v>
                </c:pt>
                <c:pt idx="22">
                  <c:v>5120.6499363605781</c:v>
                </c:pt>
                <c:pt idx="23">
                  <c:v>4852.9625657601637</c:v>
                </c:pt>
              </c:numCache>
            </c:numRef>
          </c:val>
          <c:smooth val="0"/>
          <c:extLst>
            <c:ext xmlns:c16="http://schemas.microsoft.com/office/drawing/2014/chart" uri="{C3380CC4-5D6E-409C-BE32-E72D297353CC}">
              <c16:uniqueId val="{00000002-E307-43ED-9E3E-7CE148A2F4D8}"/>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9.8369272837179889E-2"/>
          <c:w val="0.8311150615513353"/>
          <c:h val="0.62541494961067556"/>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4716.3503007260006</c:v>
                </c:pt>
                <c:pt idx="1">
                  <c:v>4432.4122485800044</c:v>
                </c:pt>
                <c:pt idx="2">
                  <c:v>4269.4984863379996</c:v>
                </c:pt>
                <c:pt idx="3">
                  <c:v>4222.126734092004</c:v>
                </c:pt>
                <c:pt idx="4">
                  <c:v>4211.7291815000044</c:v>
                </c:pt>
                <c:pt idx="5">
                  <c:v>4210.228040684</c:v>
                </c:pt>
                <c:pt idx="6">
                  <c:v>4136.3646136340003</c:v>
                </c:pt>
                <c:pt idx="7">
                  <c:v>4178.0345192079994</c:v>
                </c:pt>
                <c:pt idx="8">
                  <c:v>4254.2238605760003</c:v>
                </c:pt>
                <c:pt idx="9">
                  <c:v>4291.195642136001</c:v>
                </c:pt>
                <c:pt idx="10">
                  <c:v>4323.7941755780002</c:v>
                </c:pt>
                <c:pt idx="11">
                  <c:v>4274.9880321499986</c:v>
                </c:pt>
                <c:pt idx="12">
                  <c:v>4272.250952293999</c:v>
                </c:pt>
                <c:pt idx="13">
                  <c:v>4269.3130232480007</c:v>
                </c:pt>
                <c:pt idx="14">
                  <c:v>4371.1632112260013</c:v>
                </c:pt>
                <c:pt idx="15">
                  <c:v>4348.5043135660007</c:v>
                </c:pt>
                <c:pt idx="16">
                  <c:v>4329.0167214220055</c:v>
                </c:pt>
                <c:pt idx="17">
                  <c:v>6127.2506260640039</c:v>
                </c:pt>
                <c:pt idx="18">
                  <c:v>7403.3171872459998</c:v>
                </c:pt>
                <c:pt idx="19">
                  <c:v>7698.5428508600007</c:v>
                </c:pt>
                <c:pt idx="20">
                  <c:v>7688.2962937280008</c:v>
                </c:pt>
                <c:pt idx="21">
                  <c:v>7631.5953163039994</c:v>
                </c:pt>
                <c:pt idx="22">
                  <c:v>6879.1859959279991</c:v>
                </c:pt>
                <c:pt idx="23">
                  <c:v>5825.527739186</c:v>
                </c:pt>
              </c:numCache>
            </c:numRef>
          </c:val>
          <c:smooth val="0"/>
          <c:extLst>
            <c:ext xmlns:c16="http://schemas.microsoft.com/office/drawing/2014/chart" uri="{C3380CC4-5D6E-409C-BE32-E72D297353CC}">
              <c16:uniqueId val="{00000001-762B-4CEB-9E86-4476FF693975}"/>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4130.5030787819705</c:v>
                </c:pt>
                <c:pt idx="1">
                  <c:v>3896.6883789890053</c:v>
                </c:pt>
                <c:pt idx="2">
                  <c:v>3777.3736791960446</c:v>
                </c:pt>
                <c:pt idx="3">
                  <c:v>3752.8612568357998</c:v>
                </c:pt>
                <c:pt idx="4">
                  <c:v>3748.0620849931447</c:v>
                </c:pt>
                <c:pt idx="5">
                  <c:v>3741.1873437923177</c:v>
                </c:pt>
                <c:pt idx="6">
                  <c:v>3677.7794762974963</c:v>
                </c:pt>
                <c:pt idx="7">
                  <c:v>3719.4181926536016</c:v>
                </c:pt>
                <c:pt idx="8">
                  <c:v>3784.8736791960446</c:v>
                </c:pt>
                <c:pt idx="9">
                  <c:v>3799.3467640821732</c:v>
                </c:pt>
                <c:pt idx="10">
                  <c:v>3813.401629506604</c:v>
                </c:pt>
                <c:pt idx="11">
                  <c:v>3764.0227475190259</c:v>
                </c:pt>
                <c:pt idx="12">
                  <c:v>3756.2556667736844</c:v>
                </c:pt>
                <c:pt idx="13">
                  <c:v>3748.4564949310352</c:v>
                </c:pt>
                <c:pt idx="14">
                  <c:v>3829.3281305418022</c:v>
                </c:pt>
                <c:pt idx="15">
                  <c:v>3808.4585653244089</c:v>
                </c:pt>
                <c:pt idx="16">
                  <c:v>3791.4575301277218</c:v>
                </c:pt>
                <c:pt idx="17">
                  <c:v>5356.5589794030884</c:v>
                </c:pt>
                <c:pt idx="18">
                  <c:v>6463.4016295066103</c:v>
                </c:pt>
                <c:pt idx="19">
                  <c:v>6719.3364121152999</c:v>
                </c:pt>
                <c:pt idx="20">
                  <c:v>6710.756701970372</c:v>
                </c:pt>
                <c:pt idx="21">
                  <c:v>6661.6542174983224</c:v>
                </c:pt>
                <c:pt idx="22">
                  <c:v>6006.6521471049518</c:v>
                </c:pt>
                <c:pt idx="23">
                  <c:v>5092.9140518668528</c:v>
                </c:pt>
              </c:numCache>
            </c:numRef>
          </c:val>
          <c:smooth val="0"/>
          <c:extLst>
            <c:ext xmlns:c16="http://schemas.microsoft.com/office/drawing/2014/chart" uri="{C3380CC4-5D6E-409C-BE32-E72D297353CC}">
              <c16:uniqueId val="{00000002-762B-4CEB-9E86-4476FF693975}"/>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3560833026708441"/>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3427.3472532500014</c:v>
                </c:pt>
                <c:pt idx="1">
                  <c:v>3362.0964271759999</c:v>
                </c:pt>
                <c:pt idx="2">
                  <c:v>3335.5676009779995</c:v>
                </c:pt>
                <c:pt idx="3">
                  <c:v>3316.8261171259996</c:v>
                </c:pt>
                <c:pt idx="4">
                  <c:v>3309.1488717319976</c:v>
                </c:pt>
                <c:pt idx="5">
                  <c:v>3372.3271602620002</c:v>
                </c:pt>
                <c:pt idx="6">
                  <c:v>3500.3653607480001</c:v>
                </c:pt>
                <c:pt idx="7">
                  <c:v>3568.7697717219985</c:v>
                </c:pt>
                <c:pt idx="8">
                  <c:v>3623.5922559659998</c:v>
                </c:pt>
                <c:pt idx="9">
                  <c:v>3682.493432778002</c:v>
                </c:pt>
                <c:pt idx="10">
                  <c:v>3681.2240856739986</c:v>
                </c:pt>
                <c:pt idx="11">
                  <c:v>3607.7673861619987</c:v>
                </c:pt>
                <c:pt idx="12">
                  <c:v>3547.9619378300026</c:v>
                </c:pt>
                <c:pt idx="13">
                  <c:v>3494.4681648740002</c:v>
                </c:pt>
                <c:pt idx="14">
                  <c:v>3453.4308512880002</c:v>
                </c:pt>
                <c:pt idx="15">
                  <c:v>3451.578085425997</c:v>
                </c:pt>
                <c:pt idx="16">
                  <c:v>3547.880388262</c:v>
                </c:pt>
                <c:pt idx="17">
                  <c:v>4983.2312380520034</c:v>
                </c:pt>
                <c:pt idx="18">
                  <c:v>5070.7322889200004</c:v>
                </c:pt>
                <c:pt idx="19">
                  <c:v>5048.639401376</c:v>
                </c:pt>
                <c:pt idx="20">
                  <c:v>4794.6218970620002</c:v>
                </c:pt>
                <c:pt idx="21">
                  <c:v>4318.9111311680044</c:v>
                </c:pt>
                <c:pt idx="22">
                  <c:v>3960.7424686099985</c:v>
                </c:pt>
                <c:pt idx="23">
                  <c:v>3459.3548160680002</c:v>
                </c:pt>
              </c:numCache>
            </c:numRef>
          </c:val>
          <c:smooth val="0"/>
          <c:extLst>
            <c:ext xmlns:c16="http://schemas.microsoft.com/office/drawing/2014/chart" uri="{C3380CC4-5D6E-409C-BE32-E72D297353CC}">
              <c16:uniqueId val="{00000001-912E-4F90-8CF1-1651BB3C4E09}"/>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3101.1290527833949</c:v>
                </c:pt>
                <c:pt idx="1">
                  <c:v>3054.4603157233514</c:v>
                </c:pt>
                <c:pt idx="2">
                  <c:v>3034.3443736943682</c:v>
                </c:pt>
                <c:pt idx="3">
                  <c:v>3019.835056924182</c:v>
                </c:pt>
                <c:pt idx="4">
                  <c:v>3008.4458229697284</c:v>
                </c:pt>
                <c:pt idx="5">
                  <c:v>3042.9696324935376</c:v>
                </c:pt>
                <c:pt idx="6">
                  <c:v>3122.0452018517158</c:v>
                </c:pt>
                <c:pt idx="7">
                  <c:v>3166.0607298020263</c:v>
                </c:pt>
                <c:pt idx="8">
                  <c:v>3210.9603157233514</c:v>
                </c:pt>
                <c:pt idx="9">
                  <c:v>3261.8961335287363</c:v>
                </c:pt>
                <c:pt idx="10">
                  <c:v>3260.4975828040992</c:v>
                </c:pt>
                <c:pt idx="11">
                  <c:v>3195.5628001953992</c:v>
                </c:pt>
                <c:pt idx="12">
                  <c:v>3142.8360921208673</c:v>
                </c:pt>
                <c:pt idx="13">
                  <c:v>3100.2812266964365</c:v>
                </c:pt>
                <c:pt idx="14">
                  <c:v>3067.5100051643453</c:v>
                </c:pt>
                <c:pt idx="15">
                  <c:v>3064.5493426384674</c:v>
                </c:pt>
                <c:pt idx="16">
                  <c:v>3145.4106262823607</c:v>
                </c:pt>
                <c:pt idx="17">
                  <c:v>4408.7501707958199</c:v>
                </c:pt>
                <c:pt idx="18">
                  <c:v>4485.1435455370174</c:v>
                </c:pt>
                <c:pt idx="19">
                  <c:v>4466.1435455370174</c:v>
                </c:pt>
                <c:pt idx="20">
                  <c:v>4242.1435455370174</c:v>
                </c:pt>
                <c:pt idx="21">
                  <c:v>3805.0400258682794</c:v>
                </c:pt>
                <c:pt idx="22">
                  <c:v>3513.5617649987139</c:v>
                </c:pt>
                <c:pt idx="23">
                  <c:v>3100.8278105473705</c:v>
                </c:pt>
              </c:numCache>
            </c:numRef>
          </c:val>
          <c:smooth val="0"/>
          <c:extLst>
            <c:ext xmlns:c16="http://schemas.microsoft.com/office/drawing/2014/chart" uri="{C3380CC4-5D6E-409C-BE32-E72D297353CC}">
              <c16:uniqueId val="{00000002-912E-4F90-8CF1-1651BB3C4E09}"/>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minorUnit val="1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8457630966379"/>
          <c:y val="0.10213499706652548"/>
          <c:w val="0.88231542369033622"/>
          <c:h val="0.6179241783117167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4853.6221281891994</c:v>
                </c:pt>
                <c:pt idx="1">
                  <c:v>4687.350730589199</c:v>
                </c:pt>
                <c:pt idx="2">
                  <c:v>4609.6901748891987</c:v>
                </c:pt>
                <c:pt idx="3">
                  <c:v>4581.4253452611993</c:v>
                </c:pt>
                <c:pt idx="4">
                  <c:v>4554.3748491171982</c:v>
                </c:pt>
                <c:pt idx="5">
                  <c:v>4543.8302896792002</c:v>
                </c:pt>
                <c:pt idx="6">
                  <c:v>4543.8102867171983</c:v>
                </c:pt>
                <c:pt idx="7">
                  <c:v>4546.7822089312003</c:v>
                </c:pt>
                <c:pt idx="8">
                  <c:v>4592.2834369251996</c:v>
                </c:pt>
                <c:pt idx="9">
                  <c:v>4617.849526935197</c:v>
                </c:pt>
                <c:pt idx="10">
                  <c:v>4684.0864744871988</c:v>
                </c:pt>
                <c:pt idx="11">
                  <c:v>4694.4582628931994</c:v>
                </c:pt>
                <c:pt idx="12">
                  <c:v>4672.6592238551993</c:v>
                </c:pt>
                <c:pt idx="13">
                  <c:v>4618.5241835991992</c:v>
                </c:pt>
                <c:pt idx="14">
                  <c:v>4696.6827676631992</c:v>
                </c:pt>
                <c:pt idx="15">
                  <c:v>4704.3988979472006</c:v>
                </c:pt>
                <c:pt idx="16">
                  <c:v>4618.7479527992</c:v>
                </c:pt>
                <c:pt idx="17">
                  <c:v>4810.3389912292005</c:v>
                </c:pt>
                <c:pt idx="18">
                  <c:v>6616.2310094391996</c:v>
                </c:pt>
                <c:pt idx="19">
                  <c:v>7228.0828881471989</c:v>
                </c:pt>
                <c:pt idx="20">
                  <c:v>7110.7629454911976</c:v>
                </c:pt>
                <c:pt idx="21">
                  <c:v>6608.4515960211993</c:v>
                </c:pt>
                <c:pt idx="22">
                  <c:v>6218.2222676931979</c:v>
                </c:pt>
                <c:pt idx="23">
                  <c:v>5550.5110830851991</c:v>
                </c:pt>
              </c:numCache>
            </c:numRef>
          </c:val>
          <c:smooth val="0"/>
          <c:extLst>
            <c:ext xmlns:c16="http://schemas.microsoft.com/office/drawing/2014/chart" uri="{C3380CC4-5D6E-409C-BE32-E72D297353CC}">
              <c16:uniqueId val="{00000001-E307-43ED-9E3E-7CE148A2F4D8}"/>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4433.7273377079518</c:v>
                </c:pt>
                <c:pt idx="1">
                  <c:v>4285.7770271489462</c:v>
                </c:pt>
                <c:pt idx="2">
                  <c:v>4218.9819960930445</c:v>
                </c:pt>
                <c:pt idx="3">
                  <c:v>4196.9654329460473</c:v>
                </c:pt>
                <c:pt idx="4">
                  <c:v>4175.6693666934589</c:v>
                </c:pt>
                <c:pt idx="5">
                  <c:v>4178.6300292193382</c:v>
                </c:pt>
                <c:pt idx="6">
                  <c:v>4186.9695737327957</c:v>
                </c:pt>
                <c:pt idx="7">
                  <c:v>4191.461292159297</c:v>
                </c:pt>
                <c:pt idx="8">
                  <c:v>4233.0202983704776</c:v>
                </c:pt>
                <c:pt idx="9">
                  <c:v>4246.7759919522578</c:v>
                </c:pt>
                <c:pt idx="10">
                  <c:v>4296.0441078942868</c:v>
                </c:pt>
                <c:pt idx="11">
                  <c:v>4296.4405882255505</c:v>
                </c:pt>
                <c:pt idx="12">
                  <c:v>4270.490277666544</c:v>
                </c:pt>
                <c:pt idx="13">
                  <c:v>4219.0151223870407</c:v>
                </c:pt>
                <c:pt idx="14">
                  <c:v>4287.7376896748256</c:v>
                </c:pt>
                <c:pt idx="15">
                  <c:v>4294.7728863621969</c:v>
                </c:pt>
                <c:pt idx="16">
                  <c:v>4217.5979381220313</c:v>
                </c:pt>
                <c:pt idx="17">
                  <c:v>4397.8184350164411</c:v>
                </c:pt>
                <c:pt idx="18">
                  <c:v>6035.4385178321763</c:v>
                </c:pt>
                <c:pt idx="19">
                  <c:v>6587.9188490951165</c:v>
                </c:pt>
                <c:pt idx="20">
                  <c:v>6480.7935902959434</c:v>
                </c:pt>
                <c:pt idx="21">
                  <c:v>6024.3225758031904</c:v>
                </c:pt>
                <c:pt idx="22">
                  <c:v>5670.3318925733765</c:v>
                </c:pt>
                <c:pt idx="23">
                  <c:v>5063.6445219729621</c:v>
                </c:pt>
              </c:numCache>
            </c:numRef>
          </c:val>
          <c:smooth val="0"/>
          <c:extLst>
            <c:ext xmlns:c16="http://schemas.microsoft.com/office/drawing/2014/chart" uri="{C3380CC4-5D6E-409C-BE32-E72D297353CC}">
              <c16:uniqueId val="{00000002-E307-43ED-9E3E-7CE148A2F4D8}"/>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9.8369272837179889E-2"/>
          <c:w val="0.8311150615513353"/>
          <c:h val="0.62541494961067556"/>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5110.4469340000005</c:v>
                </c:pt>
                <c:pt idx="1">
                  <c:v>5070.7559260000016</c:v>
                </c:pt>
                <c:pt idx="2">
                  <c:v>5012.493567999999</c:v>
                </c:pt>
                <c:pt idx="3">
                  <c:v>4953.2941899999978</c:v>
                </c:pt>
                <c:pt idx="4">
                  <c:v>4933.3598139999995</c:v>
                </c:pt>
                <c:pt idx="5">
                  <c:v>4916.0143179999995</c:v>
                </c:pt>
                <c:pt idx="6">
                  <c:v>4935.2058399999996</c:v>
                </c:pt>
                <c:pt idx="7">
                  <c:v>4961.1080419999989</c:v>
                </c:pt>
                <c:pt idx="8">
                  <c:v>5001.5092779999986</c:v>
                </c:pt>
                <c:pt idx="9">
                  <c:v>5054.1420399999997</c:v>
                </c:pt>
                <c:pt idx="10">
                  <c:v>5065.4096820000004</c:v>
                </c:pt>
                <c:pt idx="11">
                  <c:v>5035.3641840000009</c:v>
                </c:pt>
                <c:pt idx="12">
                  <c:v>4983.5585699999992</c:v>
                </c:pt>
                <c:pt idx="13">
                  <c:v>4953.7375579999998</c:v>
                </c:pt>
                <c:pt idx="14">
                  <c:v>4955.1940680000007</c:v>
                </c:pt>
                <c:pt idx="15">
                  <c:v>4953.9196619999993</c:v>
                </c:pt>
                <c:pt idx="16">
                  <c:v>4945.5664419999994</c:v>
                </c:pt>
                <c:pt idx="17">
                  <c:v>5479.5487720000001</c:v>
                </c:pt>
                <c:pt idx="18">
                  <c:v>6674.9747379999981</c:v>
                </c:pt>
                <c:pt idx="19">
                  <c:v>7239.4046740000003</c:v>
                </c:pt>
                <c:pt idx="20">
                  <c:v>7592.4264760000005</c:v>
                </c:pt>
                <c:pt idx="21">
                  <c:v>7142.5525479999997</c:v>
                </c:pt>
                <c:pt idx="22">
                  <c:v>6510.4755639999994</c:v>
                </c:pt>
                <c:pt idx="23">
                  <c:v>6025.947963999999</c:v>
                </c:pt>
              </c:numCache>
            </c:numRef>
          </c:val>
          <c:smooth val="0"/>
          <c:extLst>
            <c:ext xmlns:c16="http://schemas.microsoft.com/office/drawing/2014/chart" uri="{C3380CC4-5D6E-409C-BE32-E72D297353CC}">
              <c16:uniqueId val="{00000001-762B-4CEB-9E86-4476FF693975}"/>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4573.8443357499627</c:v>
                </c:pt>
                <c:pt idx="1">
                  <c:v>4548.8950603876438</c:v>
                </c:pt>
                <c:pt idx="2">
                  <c:v>4516.0534454808112</c:v>
                </c:pt>
                <c:pt idx="3">
                  <c:v>4477.4582073855736</c:v>
                </c:pt>
                <c:pt idx="4">
                  <c:v>4462.7149361640422</c:v>
                </c:pt>
                <c:pt idx="5">
                  <c:v>4406.2563440315362</c:v>
                </c:pt>
                <c:pt idx="6">
                  <c:v>4460.5669030377476</c:v>
                </c:pt>
                <c:pt idx="7">
                  <c:v>4483.5669030377476</c:v>
                </c:pt>
                <c:pt idx="8">
                  <c:v>4519.5669030377476</c:v>
                </c:pt>
                <c:pt idx="9">
                  <c:v>4566.5669030377476</c:v>
                </c:pt>
                <c:pt idx="10">
                  <c:v>4576.5669030377476</c:v>
                </c:pt>
                <c:pt idx="11">
                  <c:v>4549.5669030377476</c:v>
                </c:pt>
                <c:pt idx="12">
                  <c:v>4470.6010645284305</c:v>
                </c:pt>
                <c:pt idx="13">
                  <c:v>4440.0472343006868</c:v>
                </c:pt>
                <c:pt idx="14">
                  <c:v>4435.7366752944754</c:v>
                </c:pt>
                <c:pt idx="15">
                  <c:v>4432.3319133897139</c:v>
                </c:pt>
                <c:pt idx="16">
                  <c:v>4425.3629692903351</c:v>
                </c:pt>
                <c:pt idx="17">
                  <c:v>4900.3360541764632</c:v>
                </c:pt>
                <c:pt idx="18">
                  <c:v>5961.341230159901</c:v>
                </c:pt>
                <c:pt idx="19">
                  <c:v>6462.4654537623846</c:v>
                </c:pt>
                <c:pt idx="20">
                  <c:v>6776.8722860605212</c:v>
                </c:pt>
                <c:pt idx="21">
                  <c:v>6377.5855365781199</c:v>
                </c:pt>
                <c:pt idx="22">
                  <c:v>5814.520319186815</c:v>
                </c:pt>
                <c:pt idx="23">
                  <c:v>5386.0244599735643</c:v>
                </c:pt>
              </c:numCache>
            </c:numRef>
          </c:val>
          <c:smooth val="0"/>
          <c:extLst>
            <c:ext xmlns:c16="http://schemas.microsoft.com/office/drawing/2014/chart" uri="{C3380CC4-5D6E-409C-BE32-E72D297353CC}">
              <c16:uniqueId val="{00000002-762B-4CEB-9E86-4476FF693975}"/>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3560833026708441"/>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5110.4469340000005</c:v>
                </c:pt>
                <c:pt idx="1">
                  <c:v>5070.7559260000016</c:v>
                </c:pt>
                <c:pt idx="2">
                  <c:v>5012.493567999999</c:v>
                </c:pt>
                <c:pt idx="3">
                  <c:v>4953.2941899999978</c:v>
                </c:pt>
                <c:pt idx="4">
                  <c:v>4933.3598139999995</c:v>
                </c:pt>
                <c:pt idx="5">
                  <c:v>4916.0143179999995</c:v>
                </c:pt>
                <c:pt idx="6">
                  <c:v>4935.2058399999996</c:v>
                </c:pt>
                <c:pt idx="7">
                  <c:v>4961.1080419999989</c:v>
                </c:pt>
                <c:pt idx="8">
                  <c:v>5001.5092779999986</c:v>
                </c:pt>
                <c:pt idx="9">
                  <c:v>5054.1420399999997</c:v>
                </c:pt>
                <c:pt idx="10">
                  <c:v>5065.4096820000004</c:v>
                </c:pt>
                <c:pt idx="11">
                  <c:v>5035.3641840000009</c:v>
                </c:pt>
                <c:pt idx="12">
                  <c:v>4983.5585699999992</c:v>
                </c:pt>
                <c:pt idx="13">
                  <c:v>4953.7375579999998</c:v>
                </c:pt>
                <c:pt idx="14">
                  <c:v>4955.1940680000007</c:v>
                </c:pt>
                <c:pt idx="15">
                  <c:v>4953.9196619999993</c:v>
                </c:pt>
                <c:pt idx="16">
                  <c:v>4945.5664419999994</c:v>
                </c:pt>
                <c:pt idx="17">
                  <c:v>5479.5487720000001</c:v>
                </c:pt>
                <c:pt idx="18">
                  <c:v>6674.9747379999981</c:v>
                </c:pt>
                <c:pt idx="19">
                  <c:v>7239.4046740000003</c:v>
                </c:pt>
                <c:pt idx="20">
                  <c:v>7592.4264760000005</c:v>
                </c:pt>
                <c:pt idx="21">
                  <c:v>7142.5525479999997</c:v>
                </c:pt>
                <c:pt idx="22">
                  <c:v>6510.4755639999994</c:v>
                </c:pt>
                <c:pt idx="23">
                  <c:v>6025.947963999999</c:v>
                </c:pt>
              </c:numCache>
            </c:numRef>
          </c:val>
          <c:smooth val="0"/>
          <c:extLst>
            <c:ext xmlns:c16="http://schemas.microsoft.com/office/drawing/2014/chart" uri="{C3380CC4-5D6E-409C-BE32-E72D297353CC}">
              <c16:uniqueId val="{00000001-912E-4F90-8CF1-1651BB3C4E09}"/>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4573.8443357499627</c:v>
                </c:pt>
                <c:pt idx="1">
                  <c:v>4548.8950603876438</c:v>
                </c:pt>
                <c:pt idx="2">
                  <c:v>4516.0534454808112</c:v>
                </c:pt>
                <c:pt idx="3">
                  <c:v>4477.4582073855736</c:v>
                </c:pt>
                <c:pt idx="4">
                  <c:v>4462.7149361640422</c:v>
                </c:pt>
                <c:pt idx="5">
                  <c:v>4406.2563440315362</c:v>
                </c:pt>
                <c:pt idx="6">
                  <c:v>4460.5669030377476</c:v>
                </c:pt>
                <c:pt idx="7">
                  <c:v>4483.5669030377476</c:v>
                </c:pt>
                <c:pt idx="8">
                  <c:v>4519.5669030377476</c:v>
                </c:pt>
                <c:pt idx="9">
                  <c:v>4566.5669030377476</c:v>
                </c:pt>
                <c:pt idx="10">
                  <c:v>4576.5669030377476</c:v>
                </c:pt>
                <c:pt idx="11">
                  <c:v>4549.5669030377476</c:v>
                </c:pt>
                <c:pt idx="12">
                  <c:v>4470.6010645284305</c:v>
                </c:pt>
                <c:pt idx="13">
                  <c:v>4440.0472343006868</c:v>
                </c:pt>
                <c:pt idx="14">
                  <c:v>4435.7366752944754</c:v>
                </c:pt>
                <c:pt idx="15">
                  <c:v>4432.3319133897139</c:v>
                </c:pt>
                <c:pt idx="16">
                  <c:v>4425.3629692903351</c:v>
                </c:pt>
                <c:pt idx="17">
                  <c:v>4900.3360541764632</c:v>
                </c:pt>
                <c:pt idx="18">
                  <c:v>5961.341230159901</c:v>
                </c:pt>
                <c:pt idx="19">
                  <c:v>6462.4654537623846</c:v>
                </c:pt>
                <c:pt idx="20">
                  <c:v>6776.8722860605212</c:v>
                </c:pt>
                <c:pt idx="21">
                  <c:v>6377.5855365781199</c:v>
                </c:pt>
                <c:pt idx="22">
                  <c:v>5814.520319186815</c:v>
                </c:pt>
                <c:pt idx="23">
                  <c:v>5386.0244599735643</c:v>
                </c:pt>
              </c:numCache>
            </c:numRef>
          </c:val>
          <c:smooth val="0"/>
          <c:extLst>
            <c:ext xmlns:c16="http://schemas.microsoft.com/office/drawing/2014/chart" uri="{C3380CC4-5D6E-409C-BE32-E72D297353CC}">
              <c16:uniqueId val="{00000002-912E-4F90-8CF1-1651BB3C4E09}"/>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8457630966379"/>
          <c:y val="0.10213499706652548"/>
          <c:w val="0.88231542369033622"/>
          <c:h val="0.6179241783117167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5100</c:v>
                </c:pt>
                <c:pt idx="1">
                  <c:v>5070</c:v>
                </c:pt>
                <c:pt idx="2">
                  <c:v>5040</c:v>
                </c:pt>
                <c:pt idx="3">
                  <c:v>5010</c:v>
                </c:pt>
                <c:pt idx="4">
                  <c:v>4980</c:v>
                </c:pt>
                <c:pt idx="5">
                  <c:v>4950</c:v>
                </c:pt>
                <c:pt idx="6">
                  <c:v>4920</c:v>
                </c:pt>
                <c:pt idx="7">
                  <c:v>4900</c:v>
                </c:pt>
                <c:pt idx="8">
                  <c:v>5050</c:v>
                </c:pt>
                <c:pt idx="9">
                  <c:v>5200</c:v>
                </c:pt>
                <c:pt idx="10">
                  <c:v>5350</c:v>
                </c:pt>
                <c:pt idx="11">
                  <c:v>5500</c:v>
                </c:pt>
                <c:pt idx="12">
                  <c:v>5650</c:v>
                </c:pt>
                <c:pt idx="13">
                  <c:v>5700</c:v>
                </c:pt>
                <c:pt idx="14">
                  <c:v>5550</c:v>
                </c:pt>
                <c:pt idx="15">
                  <c:v>5390</c:v>
                </c:pt>
                <c:pt idx="16">
                  <c:v>5550</c:v>
                </c:pt>
                <c:pt idx="17">
                  <c:v>5710</c:v>
                </c:pt>
                <c:pt idx="18">
                  <c:v>5870</c:v>
                </c:pt>
                <c:pt idx="19">
                  <c:v>6030</c:v>
                </c:pt>
                <c:pt idx="20">
                  <c:v>6180</c:v>
                </c:pt>
                <c:pt idx="21">
                  <c:v>5880</c:v>
                </c:pt>
                <c:pt idx="22">
                  <c:v>5580</c:v>
                </c:pt>
                <c:pt idx="23">
                  <c:v>5280</c:v>
                </c:pt>
              </c:numCache>
            </c:numRef>
          </c:val>
          <c:smooth val="0"/>
          <c:extLst>
            <c:ext xmlns:c16="http://schemas.microsoft.com/office/drawing/2014/chart" uri="{C3380CC4-5D6E-409C-BE32-E72D297353CC}">
              <c16:uniqueId val="{00000001-E307-43ED-9E3E-7CE148A2F4D8}"/>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4300</c:v>
                </c:pt>
                <c:pt idx="1">
                  <c:v>4270</c:v>
                </c:pt>
                <c:pt idx="2">
                  <c:v>4240</c:v>
                </c:pt>
                <c:pt idx="3">
                  <c:v>4210</c:v>
                </c:pt>
                <c:pt idx="4">
                  <c:v>4180</c:v>
                </c:pt>
                <c:pt idx="5">
                  <c:v>4150</c:v>
                </c:pt>
                <c:pt idx="6">
                  <c:v>4120</c:v>
                </c:pt>
                <c:pt idx="7">
                  <c:v>4100</c:v>
                </c:pt>
                <c:pt idx="8">
                  <c:v>4150</c:v>
                </c:pt>
                <c:pt idx="9">
                  <c:v>4200</c:v>
                </c:pt>
                <c:pt idx="10">
                  <c:v>4250</c:v>
                </c:pt>
                <c:pt idx="11">
                  <c:v>4300</c:v>
                </c:pt>
                <c:pt idx="12">
                  <c:v>4350</c:v>
                </c:pt>
                <c:pt idx="13">
                  <c:v>4450</c:v>
                </c:pt>
                <c:pt idx="14">
                  <c:v>4220</c:v>
                </c:pt>
                <c:pt idx="15">
                  <c:v>4490</c:v>
                </c:pt>
                <c:pt idx="16">
                  <c:v>4760</c:v>
                </c:pt>
                <c:pt idx="17">
                  <c:v>5030</c:v>
                </c:pt>
                <c:pt idx="18">
                  <c:v>5300</c:v>
                </c:pt>
                <c:pt idx="19">
                  <c:v>5570</c:v>
                </c:pt>
                <c:pt idx="20">
                  <c:v>5600</c:v>
                </c:pt>
                <c:pt idx="21">
                  <c:v>5300</c:v>
                </c:pt>
                <c:pt idx="22">
                  <c:v>5000</c:v>
                </c:pt>
                <c:pt idx="23">
                  <c:v>4700</c:v>
                </c:pt>
              </c:numCache>
            </c:numRef>
          </c:val>
          <c:smooth val="0"/>
          <c:extLst>
            <c:ext xmlns:c16="http://schemas.microsoft.com/office/drawing/2014/chart" uri="{C3380CC4-5D6E-409C-BE32-E72D297353CC}">
              <c16:uniqueId val="{00000002-E307-43ED-9E3E-7CE148A2F4D8}"/>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9.8369272837179889E-2"/>
          <c:w val="0.8311150615513353"/>
          <c:h val="0.62541494961067556"/>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5950</c:v>
                </c:pt>
                <c:pt idx="1">
                  <c:v>5920</c:v>
                </c:pt>
                <c:pt idx="2">
                  <c:v>5890</c:v>
                </c:pt>
                <c:pt idx="3">
                  <c:v>5860</c:v>
                </c:pt>
                <c:pt idx="4">
                  <c:v>5830</c:v>
                </c:pt>
                <c:pt idx="5">
                  <c:v>5790</c:v>
                </c:pt>
                <c:pt idx="6">
                  <c:v>5750</c:v>
                </c:pt>
                <c:pt idx="7">
                  <c:v>5700</c:v>
                </c:pt>
                <c:pt idx="8">
                  <c:v>5770</c:v>
                </c:pt>
                <c:pt idx="9">
                  <c:v>5840</c:v>
                </c:pt>
                <c:pt idx="10">
                  <c:v>5910</c:v>
                </c:pt>
                <c:pt idx="11">
                  <c:v>5980</c:v>
                </c:pt>
                <c:pt idx="12">
                  <c:v>6050</c:v>
                </c:pt>
                <c:pt idx="13">
                  <c:v>6100</c:v>
                </c:pt>
                <c:pt idx="14">
                  <c:v>6075</c:v>
                </c:pt>
                <c:pt idx="15">
                  <c:v>6050</c:v>
                </c:pt>
                <c:pt idx="16">
                  <c:v>6275</c:v>
                </c:pt>
                <c:pt idx="17">
                  <c:v>6500</c:v>
                </c:pt>
                <c:pt idx="18">
                  <c:v>6725</c:v>
                </c:pt>
                <c:pt idx="19">
                  <c:v>6940</c:v>
                </c:pt>
                <c:pt idx="20">
                  <c:v>7150</c:v>
                </c:pt>
                <c:pt idx="21">
                  <c:v>6875</c:v>
                </c:pt>
                <c:pt idx="22">
                  <c:v>6600</c:v>
                </c:pt>
                <c:pt idx="23">
                  <c:v>6350</c:v>
                </c:pt>
              </c:numCache>
            </c:numRef>
          </c:val>
          <c:smooth val="0"/>
          <c:extLst>
            <c:ext xmlns:c16="http://schemas.microsoft.com/office/drawing/2014/chart" uri="{C3380CC4-5D6E-409C-BE32-E72D297353CC}">
              <c16:uniqueId val="{00000001-762B-4CEB-9E86-4476FF693975}"/>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4200</c:v>
                </c:pt>
                <c:pt idx="1">
                  <c:v>4250</c:v>
                </c:pt>
                <c:pt idx="2">
                  <c:v>4300</c:v>
                </c:pt>
                <c:pt idx="3">
                  <c:v>4350</c:v>
                </c:pt>
                <c:pt idx="4">
                  <c:v>4225</c:v>
                </c:pt>
                <c:pt idx="5">
                  <c:v>4100</c:v>
                </c:pt>
                <c:pt idx="6">
                  <c:v>4125</c:v>
                </c:pt>
                <c:pt idx="7">
                  <c:v>4150</c:v>
                </c:pt>
                <c:pt idx="8">
                  <c:v>4175</c:v>
                </c:pt>
                <c:pt idx="9">
                  <c:v>4200</c:v>
                </c:pt>
                <c:pt idx="10">
                  <c:v>4225</c:v>
                </c:pt>
                <c:pt idx="11">
                  <c:v>4250</c:v>
                </c:pt>
                <c:pt idx="12">
                  <c:v>4275</c:v>
                </c:pt>
                <c:pt idx="13">
                  <c:v>4300</c:v>
                </c:pt>
                <c:pt idx="14">
                  <c:v>4200</c:v>
                </c:pt>
                <c:pt idx="15">
                  <c:v>4100</c:v>
                </c:pt>
                <c:pt idx="16">
                  <c:v>4600</c:v>
                </c:pt>
                <c:pt idx="17">
                  <c:v>5100</c:v>
                </c:pt>
                <c:pt idx="18">
                  <c:v>5600</c:v>
                </c:pt>
                <c:pt idx="19">
                  <c:v>6000</c:v>
                </c:pt>
                <c:pt idx="20">
                  <c:v>5950</c:v>
                </c:pt>
                <c:pt idx="21">
                  <c:v>5650</c:v>
                </c:pt>
                <c:pt idx="22">
                  <c:v>5350</c:v>
                </c:pt>
                <c:pt idx="23">
                  <c:v>4950</c:v>
                </c:pt>
              </c:numCache>
            </c:numRef>
          </c:val>
          <c:smooth val="0"/>
          <c:extLst>
            <c:ext xmlns:c16="http://schemas.microsoft.com/office/drawing/2014/chart" uri="{C3380CC4-5D6E-409C-BE32-E72D297353CC}">
              <c16:uniqueId val="{00000002-762B-4CEB-9E86-4476FF693975}"/>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3560833026708441"/>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5000</c:v>
                </c:pt>
                <c:pt idx="1">
                  <c:v>4972</c:v>
                </c:pt>
                <c:pt idx="2">
                  <c:v>4944</c:v>
                </c:pt>
                <c:pt idx="3">
                  <c:v>4916</c:v>
                </c:pt>
                <c:pt idx="4">
                  <c:v>4888</c:v>
                </c:pt>
                <c:pt idx="5">
                  <c:v>4860</c:v>
                </c:pt>
                <c:pt idx="6">
                  <c:v>4832</c:v>
                </c:pt>
                <c:pt idx="7">
                  <c:v>4800</c:v>
                </c:pt>
                <c:pt idx="8">
                  <c:v>4855</c:v>
                </c:pt>
                <c:pt idx="9">
                  <c:v>4910</c:v>
                </c:pt>
                <c:pt idx="10">
                  <c:v>4965</c:v>
                </c:pt>
                <c:pt idx="11">
                  <c:v>5020</c:v>
                </c:pt>
                <c:pt idx="12">
                  <c:v>5075</c:v>
                </c:pt>
                <c:pt idx="13">
                  <c:v>5150</c:v>
                </c:pt>
                <c:pt idx="14">
                  <c:v>5105</c:v>
                </c:pt>
                <c:pt idx="15">
                  <c:v>5060</c:v>
                </c:pt>
                <c:pt idx="16">
                  <c:v>5000</c:v>
                </c:pt>
                <c:pt idx="17">
                  <c:v>5200</c:v>
                </c:pt>
                <c:pt idx="18">
                  <c:v>5400</c:v>
                </c:pt>
                <c:pt idx="19">
                  <c:v>5600</c:v>
                </c:pt>
                <c:pt idx="20">
                  <c:v>5650</c:v>
                </c:pt>
                <c:pt idx="21">
                  <c:v>5450</c:v>
                </c:pt>
                <c:pt idx="22">
                  <c:v>5250</c:v>
                </c:pt>
                <c:pt idx="23">
                  <c:v>5200</c:v>
                </c:pt>
              </c:numCache>
            </c:numRef>
          </c:val>
          <c:smooth val="0"/>
          <c:extLst>
            <c:ext xmlns:c16="http://schemas.microsoft.com/office/drawing/2014/chart" uri="{C3380CC4-5D6E-409C-BE32-E72D297353CC}">
              <c16:uniqueId val="{00000001-912E-4F90-8CF1-1651BB3C4E09}"/>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4150</c:v>
                </c:pt>
                <c:pt idx="1">
                  <c:v>4130</c:v>
                </c:pt>
                <c:pt idx="2">
                  <c:v>4110</c:v>
                </c:pt>
                <c:pt idx="3">
                  <c:v>4090</c:v>
                </c:pt>
                <c:pt idx="4">
                  <c:v>4070</c:v>
                </c:pt>
                <c:pt idx="5">
                  <c:v>4050</c:v>
                </c:pt>
                <c:pt idx="6">
                  <c:v>4030</c:v>
                </c:pt>
                <c:pt idx="7">
                  <c:v>4000</c:v>
                </c:pt>
                <c:pt idx="8">
                  <c:v>4060</c:v>
                </c:pt>
                <c:pt idx="9">
                  <c:v>4120</c:v>
                </c:pt>
                <c:pt idx="10">
                  <c:v>4180</c:v>
                </c:pt>
                <c:pt idx="11">
                  <c:v>4240</c:v>
                </c:pt>
                <c:pt idx="12">
                  <c:v>4300</c:v>
                </c:pt>
                <c:pt idx="13">
                  <c:v>4400</c:v>
                </c:pt>
                <c:pt idx="14">
                  <c:v>4335</c:v>
                </c:pt>
                <c:pt idx="15">
                  <c:v>4270</c:v>
                </c:pt>
                <c:pt idx="16">
                  <c:v>4200</c:v>
                </c:pt>
                <c:pt idx="17">
                  <c:v>4360</c:v>
                </c:pt>
                <c:pt idx="18">
                  <c:v>4520</c:v>
                </c:pt>
                <c:pt idx="19">
                  <c:v>4680</c:v>
                </c:pt>
                <c:pt idx="20">
                  <c:v>4750</c:v>
                </c:pt>
                <c:pt idx="21">
                  <c:v>4550</c:v>
                </c:pt>
                <c:pt idx="22">
                  <c:v>4350</c:v>
                </c:pt>
                <c:pt idx="23">
                  <c:v>4150</c:v>
                </c:pt>
              </c:numCache>
            </c:numRef>
          </c:val>
          <c:smooth val="0"/>
          <c:extLst>
            <c:ext xmlns:c16="http://schemas.microsoft.com/office/drawing/2014/chart" uri="{C3380CC4-5D6E-409C-BE32-E72D297353CC}">
              <c16:uniqueId val="{00000002-912E-4F90-8CF1-1651BB3C4E09}"/>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8457630966379"/>
          <c:y val="0.10213499706652548"/>
          <c:w val="0.88231542369033622"/>
          <c:h val="0.6179241783117167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5850</c:v>
                </c:pt>
                <c:pt idx="1">
                  <c:v>5800</c:v>
                </c:pt>
                <c:pt idx="2">
                  <c:v>5750</c:v>
                </c:pt>
                <c:pt idx="3">
                  <c:v>5700</c:v>
                </c:pt>
                <c:pt idx="4">
                  <c:v>5650</c:v>
                </c:pt>
                <c:pt idx="5">
                  <c:v>5600</c:v>
                </c:pt>
                <c:pt idx="6">
                  <c:v>5550</c:v>
                </c:pt>
                <c:pt idx="7">
                  <c:v>5500</c:v>
                </c:pt>
                <c:pt idx="8" formatCode="0">
                  <c:v>5608</c:v>
                </c:pt>
                <c:pt idx="9" formatCode="0">
                  <c:v>5716</c:v>
                </c:pt>
                <c:pt idx="10" formatCode="0">
                  <c:v>5824</c:v>
                </c:pt>
                <c:pt idx="11" formatCode="0">
                  <c:v>5932</c:v>
                </c:pt>
                <c:pt idx="12" formatCode="0">
                  <c:v>6040</c:v>
                </c:pt>
                <c:pt idx="13">
                  <c:v>6150</c:v>
                </c:pt>
                <c:pt idx="14">
                  <c:v>6025</c:v>
                </c:pt>
                <c:pt idx="15">
                  <c:v>5900</c:v>
                </c:pt>
                <c:pt idx="16">
                  <c:v>5975</c:v>
                </c:pt>
                <c:pt idx="17">
                  <c:v>6050</c:v>
                </c:pt>
                <c:pt idx="18">
                  <c:v>6110</c:v>
                </c:pt>
                <c:pt idx="19">
                  <c:v>6170</c:v>
                </c:pt>
                <c:pt idx="20">
                  <c:v>6850</c:v>
                </c:pt>
                <c:pt idx="21">
                  <c:v>6600</c:v>
                </c:pt>
                <c:pt idx="22">
                  <c:v>6350</c:v>
                </c:pt>
                <c:pt idx="23">
                  <c:v>6100</c:v>
                </c:pt>
              </c:numCache>
            </c:numRef>
          </c:val>
          <c:smooth val="0"/>
          <c:extLst>
            <c:ext xmlns:c16="http://schemas.microsoft.com/office/drawing/2014/chart" uri="{C3380CC4-5D6E-409C-BE32-E72D297353CC}">
              <c16:uniqueId val="{00000001-E307-43ED-9E3E-7CE148A2F4D8}"/>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4150</c:v>
                </c:pt>
                <c:pt idx="1">
                  <c:v>4130</c:v>
                </c:pt>
                <c:pt idx="2">
                  <c:v>4110</c:v>
                </c:pt>
                <c:pt idx="3">
                  <c:v>4090</c:v>
                </c:pt>
                <c:pt idx="4">
                  <c:v>4070</c:v>
                </c:pt>
                <c:pt idx="5">
                  <c:v>4050</c:v>
                </c:pt>
                <c:pt idx="6">
                  <c:v>4030</c:v>
                </c:pt>
                <c:pt idx="7">
                  <c:v>4000</c:v>
                </c:pt>
                <c:pt idx="8" formatCode="0">
                  <c:v>4150</c:v>
                </c:pt>
                <c:pt idx="9" formatCode="0">
                  <c:v>4300</c:v>
                </c:pt>
                <c:pt idx="10" formatCode="0">
                  <c:v>4450</c:v>
                </c:pt>
                <c:pt idx="11" formatCode="0">
                  <c:v>4600</c:v>
                </c:pt>
                <c:pt idx="12" formatCode="0">
                  <c:v>4750</c:v>
                </c:pt>
                <c:pt idx="13">
                  <c:v>4750</c:v>
                </c:pt>
                <c:pt idx="14">
                  <c:v>4600</c:v>
                </c:pt>
                <c:pt idx="15">
                  <c:v>4450</c:v>
                </c:pt>
                <c:pt idx="16">
                  <c:v>4550</c:v>
                </c:pt>
                <c:pt idx="17">
                  <c:v>4650</c:v>
                </c:pt>
                <c:pt idx="18">
                  <c:v>5330</c:v>
                </c:pt>
                <c:pt idx="19">
                  <c:v>6010</c:v>
                </c:pt>
                <c:pt idx="20">
                  <c:v>6550</c:v>
                </c:pt>
                <c:pt idx="21">
                  <c:v>6270</c:v>
                </c:pt>
                <c:pt idx="22">
                  <c:v>5840</c:v>
                </c:pt>
                <c:pt idx="23">
                  <c:v>5400</c:v>
                </c:pt>
              </c:numCache>
            </c:numRef>
          </c:val>
          <c:smooth val="0"/>
          <c:extLst>
            <c:ext xmlns:c16="http://schemas.microsoft.com/office/drawing/2014/chart" uri="{C3380CC4-5D6E-409C-BE32-E72D297353CC}">
              <c16:uniqueId val="{00000002-E307-43ED-9E3E-7CE148A2F4D8}"/>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9.8369272837179889E-2"/>
          <c:w val="0.8311150615513353"/>
          <c:h val="0.62541494961067556"/>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6150</c:v>
                </c:pt>
                <c:pt idx="1">
                  <c:v>6110</c:v>
                </c:pt>
                <c:pt idx="2">
                  <c:v>6070</c:v>
                </c:pt>
                <c:pt idx="3">
                  <c:v>6030</c:v>
                </c:pt>
                <c:pt idx="4">
                  <c:v>5990</c:v>
                </c:pt>
                <c:pt idx="5">
                  <c:v>5950</c:v>
                </c:pt>
                <c:pt idx="6">
                  <c:v>5910</c:v>
                </c:pt>
                <c:pt idx="7">
                  <c:v>5900</c:v>
                </c:pt>
                <c:pt idx="8" formatCode="0">
                  <c:v>6040</c:v>
                </c:pt>
                <c:pt idx="9" formatCode="0">
                  <c:v>6180</c:v>
                </c:pt>
                <c:pt idx="10" formatCode="0">
                  <c:v>6320</c:v>
                </c:pt>
                <c:pt idx="11" formatCode="0">
                  <c:v>6460</c:v>
                </c:pt>
                <c:pt idx="12" formatCode="0">
                  <c:v>6600</c:v>
                </c:pt>
                <c:pt idx="13">
                  <c:v>6750</c:v>
                </c:pt>
                <c:pt idx="14">
                  <c:v>6575</c:v>
                </c:pt>
                <c:pt idx="15">
                  <c:v>6400</c:v>
                </c:pt>
                <c:pt idx="16">
                  <c:v>6525</c:v>
                </c:pt>
                <c:pt idx="17">
                  <c:v>6650</c:v>
                </c:pt>
                <c:pt idx="18">
                  <c:v>6910</c:v>
                </c:pt>
                <c:pt idx="19">
                  <c:v>7170</c:v>
                </c:pt>
                <c:pt idx="20">
                  <c:v>7450</c:v>
                </c:pt>
                <c:pt idx="21">
                  <c:v>7335</c:v>
                </c:pt>
                <c:pt idx="22">
                  <c:v>7220</c:v>
                </c:pt>
                <c:pt idx="23">
                  <c:v>7100</c:v>
                </c:pt>
              </c:numCache>
            </c:numRef>
          </c:val>
          <c:smooth val="0"/>
          <c:extLst>
            <c:ext xmlns:c16="http://schemas.microsoft.com/office/drawing/2014/chart" uri="{C3380CC4-5D6E-409C-BE32-E72D297353CC}">
              <c16:uniqueId val="{00000001-762B-4CEB-9E86-4476FF693975}"/>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4750</c:v>
                </c:pt>
                <c:pt idx="1">
                  <c:v>4650</c:v>
                </c:pt>
                <c:pt idx="2">
                  <c:v>4550</c:v>
                </c:pt>
                <c:pt idx="3">
                  <c:v>4450</c:v>
                </c:pt>
                <c:pt idx="4">
                  <c:v>4350</c:v>
                </c:pt>
                <c:pt idx="5">
                  <c:v>4450</c:v>
                </c:pt>
                <c:pt idx="6">
                  <c:v>5000</c:v>
                </c:pt>
                <c:pt idx="7">
                  <c:v>5060</c:v>
                </c:pt>
                <c:pt idx="8">
                  <c:v>5120</c:v>
                </c:pt>
                <c:pt idx="9">
                  <c:v>5180</c:v>
                </c:pt>
                <c:pt idx="10">
                  <c:v>5240</c:v>
                </c:pt>
                <c:pt idx="11">
                  <c:v>5300</c:v>
                </c:pt>
                <c:pt idx="12">
                  <c:v>5360</c:v>
                </c:pt>
                <c:pt idx="13">
                  <c:v>4950</c:v>
                </c:pt>
                <c:pt idx="14" formatCode="General">
                  <c:v>4875</c:v>
                </c:pt>
                <c:pt idx="15">
                  <c:v>4800</c:v>
                </c:pt>
                <c:pt idx="16" formatCode="General">
                  <c:v>4840</c:v>
                </c:pt>
                <c:pt idx="17">
                  <c:v>4880</c:v>
                </c:pt>
                <c:pt idx="18">
                  <c:v>5330</c:v>
                </c:pt>
                <c:pt idx="19">
                  <c:v>5780</c:v>
                </c:pt>
                <c:pt idx="20">
                  <c:v>6250</c:v>
                </c:pt>
                <c:pt idx="21">
                  <c:v>5970</c:v>
                </c:pt>
                <c:pt idx="22">
                  <c:v>5690</c:v>
                </c:pt>
                <c:pt idx="23">
                  <c:v>5400</c:v>
                </c:pt>
              </c:numCache>
            </c:numRef>
          </c:val>
          <c:smooth val="0"/>
          <c:extLst>
            <c:ext xmlns:c16="http://schemas.microsoft.com/office/drawing/2014/chart" uri="{C3380CC4-5D6E-409C-BE32-E72D297353CC}">
              <c16:uniqueId val="{00000002-762B-4CEB-9E86-4476FF693975}"/>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3560833026708441"/>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5050</c:v>
                </c:pt>
                <c:pt idx="1">
                  <c:v>5035</c:v>
                </c:pt>
                <c:pt idx="2">
                  <c:v>5020</c:v>
                </c:pt>
                <c:pt idx="3">
                  <c:v>5005</c:v>
                </c:pt>
                <c:pt idx="4">
                  <c:v>4990</c:v>
                </c:pt>
                <c:pt idx="5">
                  <c:v>4975</c:v>
                </c:pt>
                <c:pt idx="6">
                  <c:v>4960</c:v>
                </c:pt>
                <c:pt idx="7">
                  <c:v>4950</c:v>
                </c:pt>
                <c:pt idx="8" formatCode="0">
                  <c:v>5060</c:v>
                </c:pt>
                <c:pt idx="9" formatCode="0">
                  <c:v>5170</c:v>
                </c:pt>
                <c:pt idx="10" formatCode="0">
                  <c:v>5280</c:v>
                </c:pt>
                <c:pt idx="11" formatCode="0">
                  <c:v>5390</c:v>
                </c:pt>
                <c:pt idx="12" formatCode="0">
                  <c:v>5500</c:v>
                </c:pt>
                <c:pt idx="13">
                  <c:v>5650</c:v>
                </c:pt>
                <c:pt idx="14">
                  <c:v>5500</c:v>
                </c:pt>
                <c:pt idx="15">
                  <c:v>5350</c:v>
                </c:pt>
                <c:pt idx="16">
                  <c:v>5400</c:v>
                </c:pt>
                <c:pt idx="17">
                  <c:v>5450</c:v>
                </c:pt>
                <c:pt idx="18">
                  <c:v>5660</c:v>
                </c:pt>
                <c:pt idx="19">
                  <c:v>5870</c:v>
                </c:pt>
                <c:pt idx="20">
                  <c:v>6100</c:v>
                </c:pt>
                <c:pt idx="21">
                  <c:v>5840</c:v>
                </c:pt>
                <c:pt idx="22">
                  <c:v>5580</c:v>
                </c:pt>
                <c:pt idx="23">
                  <c:v>5300</c:v>
                </c:pt>
              </c:numCache>
            </c:numRef>
          </c:val>
          <c:smooth val="0"/>
          <c:extLst>
            <c:ext xmlns:c16="http://schemas.microsoft.com/office/drawing/2014/chart" uri="{C3380CC4-5D6E-409C-BE32-E72D297353CC}">
              <c16:uniqueId val="{00000001-912E-4F90-8CF1-1651BB3C4E09}"/>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4750</c:v>
                </c:pt>
                <c:pt idx="1">
                  <c:v>4670</c:v>
                </c:pt>
                <c:pt idx="2">
                  <c:v>4590</c:v>
                </c:pt>
                <c:pt idx="3">
                  <c:v>4510</c:v>
                </c:pt>
                <c:pt idx="4">
                  <c:v>4430</c:v>
                </c:pt>
                <c:pt idx="5">
                  <c:v>4350</c:v>
                </c:pt>
                <c:pt idx="6">
                  <c:v>4270</c:v>
                </c:pt>
                <c:pt idx="7">
                  <c:v>4250</c:v>
                </c:pt>
                <c:pt idx="8" formatCode="0">
                  <c:v>4355</c:v>
                </c:pt>
                <c:pt idx="9" formatCode="0">
                  <c:v>4460</c:v>
                </c:pt>
                <c:pt idx="10" formatCode="0">
                  <c:v>4565</c:v>
                </c:pt>
                <c:pt idx="11" formatCode="0">
                  <c:v>4670</c:v>
                </c:pt>
                <c:pt idx="12" formatCode="0">
                  <c:v>4775</c:v>
                </c:pt>
                <c:pt idx="13">
                  <c:v>4900</c:v>
                </c:pt>
                <c:pt idx="14">
                  <c:v>4825</c:v>
                </c:pt>
                <c:pt idx="15">
                  <c:v>4750</c:v>
                </c:pt>
                <c:pt idx="16">
                  <c:v>4800</c:v>
                </c:pt>
                <c:pt idx="17">
                  <c:v>4850</c:v>
                </c:pt>
                <c:pt idx="18">
                  <c:v>4900</c:v>
                </c:pt>
                <c:pt idx="19">
                  <c:v>4950</c:v>
                </c:pt>
                <c:pt idx="20">
                  <c:v>5000</c:v>
                </c:pt>
                <c:pt idx="21">
                  <c:v>4770</c:v>
                </c:pt>
                <c:pt idx="22">
                  <c:v>4540</c:v>
                </c:pt>
                <c:pt idx="23">
                  <c:v>4300</c:v>
                </c:pt>
              </c:numCache>
            </c:numRef>
          </c:val>
          <c:smooth val="0"/>
          <c:extLst>
            <c:ext xmlns:c16="http://schemas.microsoft.com/office/drawing/2014/chart" uri="{C3380CC4-5D6E-409C-BE32-E72D297353CC}">
              <c16:uniqueId val="{00000002-912E-4F90-8CF1-1651BB3C4E09}"/>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412862977825844E-2"/>
          <c:y val="3.7318257149237768E-2"/>
          <c:w val="0.89504911205055104"/>
          <c:h val="0.90735241791319088"/>
        </c:manualLayout>
      </c:layout>
      <c:barChart>
        <c:barDir val="bar"/>
        <c:grouping val="stacked"/>
        <c:varyColors val="0"/>
        <c:ser>
          <c:idx val="0"/>
          <c:order val="0"/>
          <c:tx>
            <c:strRef>
              <c:f>Sheet1!$B$1</c:f>
              <c:strCache>
                <c:ptCount val="1"/>
                <c:pt idx="0">
                  <c:v>Column1</c:v>
                </c:pt>
              </c:strCache>
            </c:strRef>
          </c:tx>
          <c:spPr>
            <a:solidFill>
              <a:schemeClr val="bg1">
                <a:lumMod val="65000"/>
                <a:alpha val="7000"/>
              </a:schemeClr>
            </a:solidFill>
            <a:ln>
              <a:noFill/>
            </a:ln>
            <a:effectLst/>
          </c:spPr>
          <c:invertIfNegative val="0"/>
          <c:cat>
            <c:strRef>
              <c:f>Sheet1!$A$2:$A$20</c:f>
              <c:strCache>
                <c:ptCount val="18"/>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5">
                  <c:v>FY 12</c:v>
                </c:pt>
                <c:pt idx="16">
                  <c:v>FY 13</c:v>
                </c:pt>
                <c:pt idx="17">
                  <c:v>FY 14</c:v>
                </c:pt>
              </c:strCache>
            </c:strRef>
          </c:cat>
          <c:val>
            <c:numRef>
              <c:f>Sheet1!$B$2:$B$20</c:f>
              <c:numCache>
                <c:formatCode>0</c:formatCode>
                <c:ptCount val="19"/>
                <c:pt idx="0">
                  <c:v>40633</c:v>
                </c:pt>
                <c:pt idx="1">
                  <c:v>40999</c:v>
                </c:pt>
                <c:pt idx="2">
                  <c:v>41364</c:v>
                </c:pt>
                <c:pt idx="3">
                  <c:v>41729</c:v>
                </c:pt>
                <c:pt idx="4">
                  <c:v>42094</c:v>
                </c:pt>
                <c:pt idx="5">
                  <c:v>42460</c:v>
                </c:pt>
                <c:pt idx="6">
                  <c:v>42825</c:v>
                </c:pt>
                <c:pt idx="7">
                  <c:v>43190</c:v>
                </c:pt>
                <c:pt idx="8">
                  <c:v>43555</c:v>
                </c:pt>
                <c:pt idx="9">
                  <c:v>43921</c:v>
                </c:pt>
                <c:pt idx="11" formatCode="General">
                  <c:v>41364</c:v>
                </c:pt>
                <c:pt idx="12" formatCode="General">
                  <c:v>41729</c:v>
                </c:pt>
                <c:pt idx="13" formatCode="General">
                  <c:v>42094</c:v>
                </c:pt>
                <c:pt idx="15" formatCode="General">
                  <c:v>41364</c:v>
                </c:pt>
                <c:pt idx="16" formatCode="General">
                  <c:v>41729</c:v>
                </c:pt>
                <c:pt idx="17" formatCode="General">
                  <c:v>42094</c:v>
                </c:pt>
              </c:numCache>
            </c:numRef>
          </c:val>
          <c:extLst>
            <c:ext xmlns:c16="http://schemas.microsoft.com/office/drawing/2014/chart" uri="{C3380CC4-5D6E-409C-BE32-E72D297353CC}">
              <c16:uniqueId val="{00000000-E2DE-4691-9B61-FE6B5B732998}"/>
            </c:ext>
          </c:extLst>
        </c:ser>
        <c:ser>
          <c:idx val="1"/>
          <c:order val="1"/>
          <c:tx>
            <c:strRef>
              <c:f>Sheet1!$C$1</c:f>
              <c:strCache>
                <c:ptCount val="1"/>
                <c:pt idx="0">
                  <c:v>Notional date for order issuance</c:v>
                </c:pt>
              </c:strCache>
            </c:strRef>
          </c:tx>
          <c:spPr>
            <a:solidFill>
              <a:schemeClr val="accent2"/>
            </a:solidFill>
            <a:ln>
              <a:noFill/>
            </a:ln>
            <a:effectLst/>
          </c:spPr>
          <c:invertIfNegative val="0"/>
          <c:cat>
            <c:strRef>
              <c:f>Sheet1!$A$2:$A$20</c:f>
              <c:strCache>
                <c:ptCount val="18"/>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5">
                  <c:v>FY 12</c:v>
                </c:pt>
                <c:pt idx="16">
                  <c:v>FY 13</c:v>
                </c:pt>
                <c:pt idx="17">
                  <c:v>FY 14</c:v>
                </c:pt>
              </c:strCache>
            </c:strRef>
          </c:cat>
          <c:val>
            <c:numRef>
              <c:f>Sheet1!$C$2:$C$20</c:f>
              <c:numCache>
                <c:formatCode>0</c:formatCode>
                <c:ptCount val="19"/>
                <c:pt idx="0">
                  <c:v>25</c:v>
                </c:pt>
                <c:pt idx="1">
                  <c:v>25</c:v>
                </c:pt>
                <c:pt idx="2">
                  <c:v>25</c:v>
                </c:pt>
                <c:pt idx="3">
                  <c:v>25</c:v>
                </c:pt>
                <c:pt idx="4">
                  <c:v>25</c:v>
                </c:pt>
                <c:pt idx="5">
                  <c:v>25</c:v>
                </c:pt>
                <c:pt idx="6">
                  <c:v>25</c:v>
                </c:pt>
                <c:pt idx="7">
                  <c:v>25</c:v>
                </c:pt>
                <c:pt idx="8">
                  <c:v>25</c:v>
                </c:pt>
                <c:pt idx="9">
                  <c:v>25</c:v>
                </c:pt>
                <c:pt idx="11">
                  <c:v>25</c:v>
                </c:pt>
                <c:pt idx="12">
                  <c:v>25</c:v>
                </c:pt>
                <c:pt idx="13">
                  <c:v>25</c:v>
                </c:pt>
                <c:pt idx="15">
                  <c:v>25</c:v>
                </c:pt>
                <c:pt idx="16">
                  <c:v>25</c:v>
                </c:pt>
                <c:pt idx="17">
                  <c:v>25</c:v>
                </c:pt>
              </c:numCache>
            </c:numRef>
          </c:val>
          <c:extLst>
            <c:ext xmlns:c16="http://schemas.microsoft.com/office/drawing/2014/chart" uri="{C3380CC4-5D6E-409C-BE32-E72D297353CC}">
              <c16:uniqueId val="{00000001-E2DE-4691-9B61-FE6B5B732998}"/>
            </c:ext>
          </c:extLst>
        </c:ser>
        <c:ser>
          <c:idx val="2"/>
          <c:order val="2"/>
          <c:tx>
            <c:strRef>
              <c:f>Sheet1!$D$1</c:f>
              <c:strCache>
                <c:ptCount val="1"/>
                <c:pt idx="0">
                  <c:v>Delay in issuance of order (days)</c:v>
                </c:pt>
              </c:strCache>
            </c:strRef>
          </c:tx>
          <c:spPr>
            <a:pattFill prst="ltDnDiag">
              <a:fgClr>
                <a:schemeClr val="bg1">
                  <a:lumMod val="50000"/>
                </a:schemeClr>
              </a:fgClr>
              <a:bgClr>
                <a:schemeClr val="bg1"/>
              </a:bgClr>
            </a:pattFill>
            <a:ln>
              <a:solidFill>
                <a:schemeClr val="bg1">
                  <a:lumMod val="85000"/>
                </a:schemeClr>
              </a:solidFill>
            </a:ln>
            <a:effectLst/>
          </c:spPr>
          <c:invertIfNegative val="0"/>
          <c:dLbls>
            <c:dLbl>
              <c:idx val="0"/>
              <c:layout>
                <c:manualLayout>
                  <c:x val="0.1427812285930509"/>
                  <c:y val="3.736781834959992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2DE-4691-9B61-FE6B5B732998}"/>
                </c:ext>
              </c:extLst>
            </c:dLbl>
            <c:dLbl>
              <c:idx val="1"/>
              <c:layout>
                <c:manualLayout>
                  <c:x val="0.10538778828418181"/>
                  <c:y val="3.39299790609429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2DE-4691-9B61-FE6B5B732998}"/>
                </c:ext>
              </c:extLst>
            </c:dLbl>
            <c:dLbl>
              <c:idx val="2"/>
              <c:layout>
                <c:manualLayout>
                  <c:x val="0.11232638979047568"/>
                  <c:y val="5.605172752358423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2DE-4691-9B61-FE6B5B732998}"/>
                </c:ext>
              </c:extLst>
            </c:dLbl>
            <c:dLbl>
              <c:idx val="3"/>
              <c:layout>
                <c:manualLayout>
                  <c:x val="0.11680259317083212"/>
                  <c:y val="3.7367818351231249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2DE-4691-9B61-FE6B5B732998}"/>
                </c:ext>
              </c:extLst>
            </c:dLbl>
            <c:dLbl>
              <c:idx val="4"/>
              <c:layout>
                <c:manualLayout>
                  <c:x val="9.0631905990947878E-2"/>
                  <c:y val="-1.351780828777062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2DE-4691-9B61-FE6B5B732998}"/>
                </c:ext>
              </c:extLst>
            </c:dLbl>
            <c:dLbl>
              <c:idx val="5"/>
              <c:layout>
                <c:manualLayout>
                  <c:x val="-0.1833320035747687"/>
                  <c:y val="1.1890439798669667E-3"/>
                </c:manualLayout>
              </c:layout>
              <c:numFmt formatCode="&quot;Order delay: &quot;###0&quot; days (for existing units)&quot;" sourceLinked="0"/>
              <c:spPr>
                <a:noFill/>
                <a:ln>
                  <a:noFill/>
                </a:ln>
                <a:effectLst/>
              </c:spPr>
              <c:txPr>
                <a:bodyPr rot="0" spcFirstLastPara="1" vertOverflow="overflow" horzOverflow="overflow" vert="horz" wrap="square" lIns="38100" tIns="19050" rIns="38100" bIns="19050" anchor="ctr" anchorCtr="0">
                  <a:noAutofit/>
                </a:bodyPr>
                <a:lstStyle/>
                <a:p>
                  <a:pPr algn="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31368991950160963"/>
                      <c:h val="3.4975904296533071E-2"/>
                    </c:manualLayout>
                  </c15:layout>
                </c:ext>
                <c:ext xmlns:c16="http://schemas.microsoft.com/office/drawing/2014/chart" uri="{C3380CC4-5D6E-409C-BE32-E72D297353CC}">
                  <c16:uniqueId val="{0000000C-E2DE-4691-9B61-FE6B5B732998}"/>
                </c:ext>
              </c:extLst>
            </c:dLbl>
            <c:dLbl>
              <c:idx val="6"/>
              <c:layout>
                <c:manualLayout>
                  <c:x val="0.13622701386426736"/>
                  <c:y val="1.3078736422604672E-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2DE-4691-9B61-FE6B5B732998}"/>
                </c:ext>
              </c:extLst>
            </c:dLbl>
            <c:dLbl>
              <c:idx val="7"/>
              <c:layout>
                <c:manualLayout>
                  <c:x val="0.20899990038613356"/>
                  <c:y val="7.4735636702462499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2DE-4691-9B61-FE6B5B732998}"/>
                </c:ext>
              </c:extLst>
            </c:dLbl>
            <c:dLbl>
              <c:idx val="8"/>
              <c:layout>
                <c:manualLayout>
                  <c:x val="0.16599522514386178"/>
                  <c:y val="4.746273447605367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E2DE-4691-9B61-FE6B5B732998}"/>
                </c:ext>
              </c:extLst>
            </c:dLbl>
            <c:dLbl>
              <c:idx val="9"/>
              <c:layout>
                <c:manualLayout>
                  <c:x val="0.1298737264414386"/>
                  <c:y val="1.8143944199384215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2DE-4691-9B61-FE6B5B732998}"/>
                </c:ext>
              </c:extLst>
            </c:dLbl>
            <c:dLbl>
              <c:idx val="11"/>
              <c:layout>
                <c:manualLayout>
                  <c:x val="-0.11092079564569378"/>
                  <c:y val="-9.760474152772597E-4"/>
                </c:manualLayout>
              </c:layout>
              <c:numFmt formatCode="&quot;Order delay: &quot;###0&quot; days&quot;" sourceLinked="0"/>
              <c:spPr>
                <a:noFill/>
                <a:ln>
                  <a:noFill/>
                </a:ln>
                <a:effectLst/>
              </c:spPr>
              <c:txPr>
                <a:bodyPr rot="0" spcFirstLastPara="1" vertOverflow="ellipsis" vert="horz" wrap="square" lIns="38100" tIns="19050" rIns="38100" bIns="19050" anchor="ctr" anchorCtr="0">
                  <a:noAutofit/>
                </a:bodyPr>
                <a:lstStyle/>
                <a:p>
                  <a:pPr algn="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18021328697905131"/>
                      <c:h val="3.972161722686321E-2"/>
                    </c:manualLayout>
                  </c15:layout>
                </c:ext>
                <c:ext xmlns:c16="http://schemas.microsoft.com/office/drawing/2014/chart" uri="{C3380CC4-5D6E-409C-BE32-E72D297353CC}">
                  <c16:uniqueId val="{00000012-E2DE-4691-9B61-FE6B5B732998}"/>
                </c:ext>
              </c:extLst>
            </c:dLbl>
            <c:dLbl>
              <c:idx val="12"/>
              <c:layout>
                <c:manualLayout>
                  <c:x val="-0.14629552082236677"/>
                  <c:y val="-4.7449655739631507E-3"/>
                </c:manualLayout>
              </c:layout>
              <c:numFmt formatCode="&quot;Order delay: &quot;###0&quot; days&quot;" sourceLinked="0"/>
              <c:spPr>
                <a:noFill/>
                <a:ln>
                  <a:noFill/>
                </a:ln>
                <a:effectLst/>
              </c:spPr>
              <c:txPr>
                <a:bodyPr rot="0" spcFirstLastPara="1" vertOverflow="ellipsis" vert="horz" wrap="square" lIns="38100" tIns="19050" rIns="38100" bIns="19050" anchor="ctr" anchorCtr="0">
                  <a:noAutofit/>
                </a:bodyPr>
                <a:lstStyle/>
                <a:p>
                  <a:pPr algn="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24856445087974147"/>
                      <c:h val="4.68401866223584E-2"/>
                    </c:manualLayout>
                  </c15:layout>
                </c:ext>
                <c:ext xmlns:c16="http://schemas.microsoft.com/office/drawing/2014/chart" uri="{C3380CC4-5D6E-409C-BE32-E72D297353CC}">
                  <c16:uniqueId val="{00000013-E2DE-4691-9B61-FE6B5B732998}"/>
                </c:ext>
              </c:extLst>
            </c:dLbl>
            <c:dLbl>
              <c:idx val="13"/>
              <c:layout>
                <c:manualLayout>
                  <c:x val="0.17267662459121727"/>
                  <c:y val="1.868390918322845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E2DE-4691-9B61-FE6B5B732998}"/>
                </c:ext>
              </c:extLst>
            </c:dLbl>
            <c:dLbl>
              <c:idx val="15"/>
              <c:layout>
                <c:manualLayout>
                  <c:x val="-8.8736598748264423E-2"/>
                  <c:y val="1.8683909174528077E-7"/>
                </c:manualLayout>
              </c:layout>
              <c:numFmt formatCode="&quot;Order delay: &quot;###0&quot; days&quot;" sourceLinked="0"/>
              <c:spPr>
                <a:noFill/>
                <a:ln>
                  <a:noFill/>
                </a:ln>
                <a:effectLst/>
              </c:spPr>
              <c:txPr>
                <a:bodyPr rot="0" spcFirstLastPara="1" vertOverflow="ellipsis" vert="horz" wrap="square" lIns="38100" tIns="19050" rIns="38100" bIns="19050" anchor="ctr" anchorCtr="0">
                  <a:spAutoFit/>
                </a:bodyPr>
                <a:lstStyle/>
                <a:p>
                  <a:pPr algn="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2DE-4691-9B61-FE6B5B732998}"/>
                </c:ext>
              </c:extLst>
            </c:dLbl>
            <c:dLbl>
              <c:idx val="16"/>
              <c:layout>
                <c:manualLayout>
                  <c:x val="-8.6338312295608649E-2"/>
                  <c:y val="2.3730433042568112E-3"/>
                </c:manualLayout>
              </c:layout>
              <c:numFmt formatCode="&quot;Order delay: &quot;###0&quot; days&quot;" sourceLinked="0"/>
              <c:spPr>
                <a:noFill/>
                <a:ln>
                  <a:noFill/>
                </a:ln>
                <a:effectLst/>
              </c:spPr>
              <c:txPr>
                <a:bodyPr rot="0" spcFirstLastPara="1" vertOverflow="ellipsis" vert="horz" wrap="square" lIns="38100" tIns="19050" rIns="38100" bIns="19050" anchor="ctr" anchorCtr="0">
                  <a:spAutoFit/>
                </a:bodyPr>
                <a:lstStyle/>
                <a:p>
                  <a:pPr algn="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2DE-4691-9B61-FE6B5B732998}"/>
                </c:ext>
              </c:extLst>
            </c:dLbl>
            <c:dLbl>
              <c:idx val="17"/>
              <c:layout>
                <c:manualLayout>
                  <c:x val="0.17267662459121727"/>
                  <c:y val="3.736781834905615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2DE-4691-9B61-FE6B5B732998}"/>
                </c:ext>
              </c:extLst>
            </c:dLbl>
            <c:numFmt formatCode="&quot;Order delay: &quot;###0&quot; days&quot;" sourceLinked="0"/>
            <c:spPr>
              <a:noFill/>
              <a:ln>
                <a:noFill/>
              </a:ln>
              <a:effectLst/>
            </c:spPr>
            <c:txPr>
              <a:bodyPr rot="0" spcFirstLastPara="1" vertOverflow="ellipsis" vert="horz" wrap="square" lIns="38100" tIns="19050" rIns="38100" bIns="19050" anchor="ctr" anchorCtr="1">
                <a:spAutoFit/>
              </a:bodyPr>
              <a:lstStyle/>
              <a:p>
                <a:pP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Sheet1!$A$2:$A$20</c:f>
              <c:strCache>
                <c:ptCount val="18"/>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5">
                  <c:v>FY 12</c:v>
                </c:pt>
                <c:pt idx="16">
                  <c:v>FY 13</c:v>
                </c:pt>
                <c:pt idx="17">
                  <c:v>FY 14</c:v>
                </c:pt>
              </c:strCache>
            </c:strRef>
          </c:cat>
          <c:val>
            <c:numRef>
              <c:f>Sheet1!$D$2:$D$20</c:f>
              <c:numCache>
                <c:formatCode>0</c:formatCode>
                <c:ptCount val="19"/>
                <c:pt idx="0">
                  <c:v>611</c:v>
                </c:pt>
                <c:pt idx="1">
                  <c:v>245</c:v>
                </c:pt>
                <c:pt idx="2">
                  <c:v>270</c:v>
                </c:pt>
                <c:pt idx="3">
                  <c:v>338</c:v>
                </c:pt>
                <c:pt idx="4">
                  <c:v>80</c:v>
                </c:pt>
                <c:pt idx="5">
                  <c:v>211</c:v>
                </c:pt>
                <c:pt idx="6">
                  <c:v>531</c:v>
                </c:pt>
                <c:pt idx="7">
                  <c:v>1201</c:v>
                </c:pt>
                <c:pt idx="8">
                  <c:v>836</c:v>
                </c:pt>
                <c:pt idx="9">
                  <c:v>556</c:v>
                </c:pt>
                <c:pt idx="11" formatCode="General">
                  <c:v>158</c:v>
                </c:pt>
                <c:pt idx="12" formatCode="General">
                  <c:v>112</c:v>
                </c:pt>
                <c:pt idx="13" formatCode="General">
                  <c:v>877</c:v>
                </c:pt>
                <c:pt idx="15" formatCode="General">
                  <c:v>95</c:v>
                </c:pt>
                <c:pt idx="16" formatCode="General">
                  <c:v>67</c:v>
                </c:pt>
                <c:pt idx="17" formatCode="General">
                  <c:v>877</c:v>
                </c:pt>
              </c:numCache>
            </c:numRef>
          </c:val>
          <c:extLst>
            <c:ext xmlns:c16="http://schemas.microsoft.com/office/drawing/2014/chart" uri="{C3380CC4-5D6E-409C-BE32-E72D297353CC}">
              <c16:uniqueId val="{00000002-E2DE-4691-9B61-FE6B5B732998}"/>
            </c:ext>
          </c:extLst>
        </c:ser>
        <c:ser>
          <c:idx val="3"/>
          <c:order val="3"/>
          <c:tx>
            <c:strRef>
              <c:f>Sheet1!$E$1</c:f>
              <c:strCache>
                <c:ptCount val="1"/>
                <c:pt idx="0">
                  <c:v>Actual Order Issuance Date</c:v>
                </c:pt>
              </c:strCache>
            </c:strRef>
          </c:tx>
          <c:spPr>
            <a:solidFill>
              <a:srgbClr val="012169"/>
            </a:solidFill>
            <a:ln>
              <a:noFill/>
            </a:ln>
            <a:effectLst/>
          </c:spPr>
          <c:invertIfNegative val="0"/>
          <c:cat>
            <c:strRef>
              <c:f>Sheet1!$A$2:$A$20</c:f>
              <c:strCache>
                <c:ptCount val="18"/>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5">
                  <c:v>FY 12</c:v>
                </c:pt>
                <c:pt idx="16">
                  <c:v>FY 13</c:v>
                </c:pt>
                <c:pt idx="17">
                  <c:v>FY 14</c:v>
                </c:pt>
              </c:strCache>
            </c:strRef>
          </c:cat>
          <c:val>
            <c:numRef>
              <c:f>Sheet1!$E$2:$E$20</c:f>
              <c:numCache>
                <c:formatCode>0</c:formatCode>
                <c:ptCount val="19"/>
                <c:pt idx="0">
                  <c:v>25</c:v>
                </c:pt>
                <c:pt idx="1">
                  <c:v>25</c:v>
                </c:pt>
                <c:pt idx="2">
                  <c:v>25</c:v>
                </c:pt>
                <c:pt idx="3">
                  <c:v>25</c:v>
                </c:pt>
                <c:pt idx="4">
                  <c:v>25</c:v>
                </c:pt>
                <c:pt idx="5">
                  <c:v>25</c:v>
                </c:pt>
                <c:pt idx="6">
                  <c:v>25</c:v>
                </c:pt>
                <c:pt idx="7">
                  <c:v>25</c:v>
                </c:pt>
                <c:pt idx="8">
                  <c:v>25</c:v>
                </c:pt>
                <c:pt idx="9">
                  <c:v>25</c:v>
                </c:pt>
                <c:pt idx="11">
                  <c:v>25</c:v>
                </c:pt>
                <c:pt idx="12">
                  <c:v>25</c:v>
                </c:pt>
                <c:pt idx="13">
                  <c:v>25</c:v>
                </c:pt>
                <c:pt idx="15">
                  <c:v>25</c:v>
                </c:pt>
                <c:pt idx="16">
                  <c:v>25</c:v>
                </c:pt>
                <c:pt idx="17">
                  <c:v>25</c:v>
                </c:pt>
              </c:numCache>
            </c:numRef>
          </c:val>
          <c:extLst>
            <c:ext xmlns:c16="http://schemas.microsoft.com/office/drawing/2014/chart" uri="{C3380CC4-5D6E-409C-BE32-E72D297353CC}">
              <c16:uniqueId val="{00000004-E2DE-4691-9B61-FE6B5B732998}"/>
            </c:ext>
          </c:extLst>
        </c:ser>
        <c:ser>
          <c:idx val="4"/>
          <c:order val="4"/>
          <c:tx>
            <c:strRef>
              <c:f>Sheet1!$F$1</c:f>
              <c:strCache>
                <c:ptCount val="1"/>
                <c:pt idx="0">
                  <c:v>Delay in issuance of order (days)2</c:v>
                </c:pt>
              </c:strCache>
            </c:strRef>
          </c:tx>
          <c:spPr>
            <a:pattFill prst="ltDnDiag">
              <a:fgClr>
                <a:schemeClr val="bg1">
                  <a:lumMod val="50000"/>
                </a:schemeClr>
              </a:fgClr>
              <a:bgClr>
                <a:schemeClr val="bg1"/>
              </a:bgClr>
            </a:pattFill>
            <a:ln>
              <a:solidFill>
                <a:schemeClr val="bg1">
                  <a:lumMod val="85000"/>
                </a:schemeClr>
              </a:solidFill>
            </a:ln>
            <a:effectLst/>
          </c:spPr>
          <c:invertIfNegative val="0"/>
          <c:dLbls>
            <c:dLbl>
              <c:idx val="5"/>
              <c:delete val="1"/>
              <c:extLst>
                <c:ext xmlns:c15="http://schemas.microsoft.com/office/drawing/2012/chart" uri="{CE6537A1-D6FC-4f65-9D91-7224C49458BB}">
                  <c15:layout>
                    <c:manualLayout>
                      <c:w val="0.35518018071182844"/>
                      <c:h val="3.2603047831367998E-2"/>
                    </c:manualLayout>
                  </c15:layout>
                </c:ext>
                <c:ext xmlns:c16="http://schemas.microsoft.com/office/drawing/2014/chart" uri="{C3380CC4-5D6E-409C-BE32-E72D297353CC}">
                  <c16:uniqueId val="{00000011-E2DE-4691-9B61-FE6B5B732998}"/>
                </c:ext>
              </c:extLst>
            </c:dLbl>
            <c:dLbl>
              <c:idx val="11"/>
              <c:delete val="1"/>
              <c:extLst>
                <c:ext xmlns:c15="http://schemas.microsoft.com/office/drawing/2012/chart" uri="{CE6537A1-D6FC-4f65-9D91-7224C49458BB}">
                  <c15:layout>
                    <c:manualLayout>
                      <c:w val="0.34426797735224451"/>
                      <c:h val="2.7857334901037867E-2"/>
                    </c:manualLayout>
                  </c15:layout>
                </c:ext>
                <c:ext xmlns:c16="http://schemas.microsoft.com/office/drawing/2014/chart" uri="{C3380CC4-5D6E-409C-BE32-E72D297353CC}">
                  <c16:uniqueId val="{00000005-2B99-4754-B937-2F4A1DAEF6B6}"/>
                </c:ext>
              </c:extLst>
            </c:dLbl>
            <c:dLbl>
              <c:idx val="12"/>
              <c:delete val="1"/>
              <c:extLst>
                <c:ext xmlns:c15="http://schemas.microsoft.com/office/drawing/2012/chart" uri="{CE6537A1-D6FC-4f65-9D91-7224C49458BB}">
                  <c15:layout>
                    <c:manualLayout>
                      <c:w val="0.33467492596234782"/>
                      <c:h val="3.4975904296533064E-2"/>
                    </c:manualLayout>
                  </c15:layout>
                </c:ext>
                <c:ext xmlns:c16="http://schemas.microsoft.com/office/drawing/2014/chart" uri="{C3380CC4-5D6E-409C-BE32-E72D297353CC}">
                  <c16:uniqueId val="{00000003-2B99-4754-B937-2F4A1DAEF6B6}"/>
                </c:ext>
              </c:extLst>
            </c:dLbl>
            <c:dLbl>
              <c:idx val="15"/>
              <c:delete val="1"/>
              <c:extLst>
                <c:ext xmlns:c15="http://schemas.microsoft.com/office/drawing/2012/chart" uri="{CE6537A1-D6FC-4f65-9D91-7224C49458BB}">
                  <c15:layout>
                    <c:manualLayout>
                      <c:w val="0.3538192003603095"/>
                      <c:h val="3.2603047831368005E-2"/>
                    </c:manualLayout>
                  </c15:layout>
                </c:ext>
                <c:ext xmlns:c16="http://schemas.microsoft.com/office/drawing/2014/chart" uri="{C3380CC4-5D6E-409C-BE32-E72D297353CC}">
                  <c16:uniqueId val="{00000006-2B99-4754-B937-2F4A1DAEF6B6}"/>
                </c:ext>
              </c:extLst>
            </c:dLbl>
            <c:dLbl>
              <c:idx val="16"/>
              <c:delete val="1"/>
              <c:extLst>
                <c:ext xmlns:c15="http://schemas.microsoft.com/office/drawing/2012/chart" uri="{CE6537A1-D6FC-4f65-9D91-7224C49458BB}">
                  <c15:layout>
                    <c:manualLayout>
                      <c:w val="0.34182776809703053"/>
                      <c:h val="3.023019136620294E-2"/>
                    </c:manualLayout>
                  </c15:layout>
                </c:ext>
                <c:ext xmlns:c16="http://schemas.microsoft.com/office/drawing/2014/chart" uri="{C3380CC4-5D6E-409C-BE32-E72D297353CC}">
                  <c16:uniqueId val="{00000007-2B99-4754-B937-2F4A1DAEF6B6}"/>
                </c:ext>
              </c:extLst>
            </c:dLbl>
            <c:numFmt formatCode="&quot;Delay in release of admitted amount: &quot;###0&quot; days&quot;" sourceLinked="0"/>
            <c:spPr>
              <a:noFill/>
              <a:ln>
                <a:noFill/>
              </a:ln>
              <a:effectLst/>
            </c:spPr>
            <c:txPr>
              <a:bodyPr rot="0" spcFirstLastPara="1" vertOverflow="ellipsis" vert="horz" wrap="square" lIns="38100" tIns="19050" rIns="38100" bIns="19050" anchor="ctr" anchorCtr="1">
                <a:spAutoFit/>
              </a:bodyPr>
              <a:lstStyle/>
              <a:p>
                <a:pPr>
                  <a:defRPr sz="1197" b="0" i="1" u="none" strike="noStrike" kern="1200" baseline="0">
                    <a:solidFill>
                      <a:srgbClr val="00ABAB"/>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Sheet1!$A$2:$A$20</c:f>
              <c:strCache>
                <c:ptCount val="18"/>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5">
                  <c:v>FY 12</c:v>
                </c:pt>
                <c:pt idx="16">
                  <c:v>FY 13</c:v>
                </c:pt>
                <c:pt idx="17">
                  <c:v>FY 14</c:v>
                </c:pt>
              </c:strCache>
            </c:strRef>
          </c:cat>
          <c:val>
            <c:numRef>
              <c:f>Sheet1!$F$2:$F$20</c:f>
              <c:numCache>
                <c:formatCode>General</c:formatCode>
                <c:ptCount val="19"/>
                <c:pt idx="5" formatCode="0">
                  <c:v>227</c:v>
                </c:pt>
                <c:pt idx="11" formatCode="0">
                  <c:v>520</c:v>
                </c:pt>
                <c:pt idx="12" formatCode="0">
                  <c:v>201</c:v>
                </c:pt>
                <c:pt idx="15" formatCode="0">
                  <c:v>521</c:v>
                </c:pt>
                <c:pt idx="16" formatCode="0">
                  <c:v>457</c:v>
                </c:pt>
              </c:numCache>
            </c:numRef>
          </c:val>
          <c:extLst>
            <c:ext xmlns:c16="http://schemas.microsoft.com/office/drawing/2014/chart" uri="{C3380CC4-5D6E-409C-BE32-E72D297353CC}">
              <c16:uniqueId val="{00000005-E2DE-4691-9B61-FE6B5B732998}"/>
            </c:ext>
          </c:extLst>
        </c:ser>
        <c:ser>
          <c:idx val="5"/>
          <c:order val="5"/>
          <c:tx>
            <c:strRef>
              <c:f>Sheet1!$G$1</c:f>
              <c:strCache>
                <c:ptCount val="1"/>
                <c:pt idx="0">
                  <c:v>Actual Order Issuance Date2</c:v>
                </c:pt>
              </c:strCache>
            </c:strRef>
          </c:tx>
          <c:spPr>
            <a:solidFill>
              <a:srgbClr val="00ABAB"/>
            </a:solidFill>
            <a:ln>
              <a:noFill/>
            </a:ln>
            <a:effectLst/>
          </c:spPr>
          <c:invertIfNegative val="0"/>
          <c:dPt>
            <c:idx val="5"/>
            <c:invertIfNegative val="0"/>
            <c:bubble3D val="0"/>
            <c:spPr>
              <a:solidFill>
                <a:srgbClr val="012169"/>
              </a:solidFill>
              <a:ln>
                <a:noFill/>
              </a:ln>
              <a:effectLst/>
            </c:spPr>
            <c:extLst>
              <c:ext xmlns:c16="http://schemas.microsoft.com/office/drawing/2014/chart" uri="{C3380CC4-5D6E-409C-BE32-E72D297353CC}">
                <c16:uniqueId val="{00000004-2B99-4754-B937-2F4A1DAEF6B6}"/>
              </c:ext>
            </c:extLst>
          </c:dPt>
          <c:cat>
            <c:strRef>
              <c:f>Sheet1!$A$2:$A$20</c:f>
              <c:strCache>
                <c:ptCount val="18"/>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5">
                  <c:v>FY 12</c:v>
                </c:pt>
                <c:pt idx="16">
                  <c:v>FY 13</c:v>
                </c:pt>
                <c:pt idx="17">
                  <c:v>FY 14</c:v>
                </c:pt>
              </c:strCache>
            </c:strRef>
          </c:cat>
          <c:val>
            <c:numRef>
              <c:f>Sheet1!$G$2:$G$20</c:f>
              <c:numCache>
                <c:formatCode>0</c:formatCode>
                <c:ptCount val="19"/>
                <c:pt idx="0">
                  <c:v>0</c:v>
                </c:pt>
                <c:pt idx="1">
                  <c:v>0</c:v>
                </c:pt>
                <c:pt idx="2">
                  <c:v>0</c:v>
                </c:pt>
                <c:pt idx="3">
                  <c:v>0</c:v>
                </c:pt>
                <c:pt idx="4">
                  <c:v>0</c:v>
                </c:pt>
                <c:pt idx="5">
                  <c:v>25</c:v>
                </c:pt>
                <c:pt idx="6">
                  <c:v>0</c:v>
                </c:pt>
                <c:pt idx="7">
                  <c:v>0</c:v>
                </c:pt>
                <c:pt idx="8">
                  <c:v>0</c:v>
                </c:pt>
                <c:pt idx="9">
                  <c:v>0</c:v>
                </c:pt>
                <c:pt idx="11">
                  <c:v>25</c:v>
                </c:pt>
                <c:pt idx="12">
                  <c:v>25</c:v>
                </c:pt>
                <c:pt idx="15">
                  <c:v>25</c:v>
                </c:pt>
                <c:pt idx="16">
                  <c:v>25</c:v>
                </c:pt>
              </c:numCache>
            </c:numRef>
          </c:val>
          <c:extLst>
            <c:ext xmlns:c16="http://schemas.microsoft.com/office/drawing/2014/chart" uri="{C3380CC4-5D6E-409C-BE32-E72D297353CC}">
              <c16:uniqueId val="{00000006-E2DE-4691-9B61-FE6B5B732998}"/>
            </c:ext>
          </c:extLst>
        </c:ser>
        <c:dLbls>
          <c:showLegendKey val="0"/>
          <c:showVal val="0"/>
          <c:showCatName val="0"/>
          <c:showSerName val="0"/>
          <c:showPercent val="0"/>
          <c:showBubbleSize val="0"/>
        </c:dLbls>
        <c:gapWidth val="50"/>
        <c:overlap val="100"/>
        <c:axId val="1024476239"/>
        <c:axId val="1024497871"/>
      </c:barChart>
      <c:catAx>
        <c:axId val="1024476239"/>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024497871"/>
        <c:crosses val="autoZero"/>
        <c:auto val="1"/>
        <c:lblAlgn val="ctr"/>
        <c:lblOffset val="100"/>
        <c:noMultiLvlLbl val="0"/>
      </c:catAx>
      <c:valAx>
        <c:axId val="1024497871"/>
        <c:scaling>
          <c:orientation val="minMax"/>
          <c:min val="40634"/>
        </c:scaling>
        <c:delete val="1"/>
        <c:axPos val="t"/>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024476239"/>
        <c:crosses val="autoZero"/>
        <c:crossBetween val="between"/>
        <c:majorUnit val="36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412862977825844E-2"/>
          <c:y val="3.7318257149237768E-2"/>
          <c:w val="0.89504911205055104"/>
          <c:h val="0.90735241791319088"/>
        </c:manualLayout>
      </c:layout>
      <c:barChart>
        <c:barDir val="bar"/>
        <c:grouping val="stacked"/>
        <c:varyColors val="0"/>
        <c:ser>
          <c:idx val="0"/>
          <c:order val="0"/>
          <c:tx>
            <c:strRef>
              <c:f>Sheet1!$B$1</c:f>
              <c:strCache>
                <c:ptCount val="1"/>
                <c:pt idx="0">
                  <c:v>Column1</c:v>
                </c:pt>
              </c:strCache>
            </c:strRef>
          </c:tx>
          <c:spPr>
            <a:solidFill>
              <a:schemeClr val="bg1">
                <a:lumMod val="65000"/>
                <a:alpha val="7000"/>
              </a:schemeClr>
            </a:solidFill>
            <a:ln>
              <a:noFill/>
            </a:ln>
            <a:effectLst/>
          </c:spPr>
          <c:invertIfNegative val="0"/>
          <c:cat>
            <c:strRef>
              <c:f>Sheet1!$A$2:$A$17</c:f>
              <c:strCache>
                <c:ptCount val="15"/>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strCache>
            </c:strRef>
          </c:cat>
          <c:val>
            <c:numRef>
              <c:f>Sheet1!$B$2:$B$17</c:f>
              <c:numCache>
                <c:formatCode>0</c:formatCode>
                <c:ptCount val="16"/>
                <c:pt idx="0">
                  <c:v>40633</c:v>
                </c:pt>
                <c:pt idx="1">
                  <c:v>40999</c:v>
                </c:pt>
                <c:pt idx="2">
                  <c:v>41364</c:v>
                </c:pt>
                <c:pt idx="3">
                  <c:v>41729</c:v>
                </c:pt>
                <c:pt idx="4">
                  <c:v>42094</c:v>
                </c:pt>
                <c:pt idx="5">
                  <c:v>42460</c:v>
                </c:pt>
                <c:pt idx="6">
                  <c:v>42825</c:v>
                </c:pt>
                <c:pt idx="7">
                  <c:v>43190</c:v>
                </c:pt>
                <c:pt idx="8">
                  <c:v>43555</c:v>
                </c:pt>
                <c:pt idx="9">
                  <c:v>43921</c:v>
                </c:pt>
                <c:pt idx="11" formatCode="General">
                  <c:v>41364</c:v>
                </c:pt>
                <c:pt idx="12" formatCode="General">
                  <c:v>41729</c:v>
                </c:pt>
                <c:pt idx="13" formatCode="General">
                  <c:v>42094</c:v>
                </c:pt>
                <c:pt idx="14" formatCode="General">
                  <c:v>42460</c:v>
                </c:pt>
              </c:numCache>
            </c:numRef>
          </c:val>
          <c:extLst>
            <c:ext xmlns:c16="http://schemas.microsoft.com/office/drawing/2014/chart" uri="{C3380CC4-5D6E-409C-BE32-E72D297353CC}">
              <c16:uniqueId val="{00000000-E2DE-4691-9B61-FE6B5B732998}"/>
            </c:ext>
          </c:extLst>
        </c:ser>
        <c:ser>
          <c:idx val="1"/>
          <c:order val="1"/>
          <c:tx>
            <c:strRef>
              <c:f>Sheet1!$C$1</c:f>
              <c:strCache>
                <c:ptCount val="1"/>
                <c:pt idx="0">
                  <c:v>Notional date for order issuance</c:v>
                </c:pt>
              </c:strCache>
            </c:strRef>
          </c:tx>
          <c:spPr>
            <a:solidFill>
              <a:schemeClr val="accent2"/>
            </a:solidFill>
            <a:ln>
              <a:noFill/>
            </a:ln>
            <a:effectLst/>
          </c:spPr>
          <c:invertIfNegative val="0"/>
          <c:cat>
            <c:strRef>
              <c:f>Sheet1!$A$2:$A$17</c:f>
              <c:strCache>
                <c:ptCount val="15"/>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strCache>
            </c:strRef>
          </c:cat>
          <c:val>
            <c:numRef>
              <c:f>Sheet1!$C$2:$C$17</c:f>
              <c:numCache>
                <c:formatCode>0</c:formatCode>
                <c:ptCount val="16"/>
                <c:pt idx="0">
                  <c:v>25</c:v>
                </c:pt>
                <c:pt idx="1">
                  <c:v>25</c:v>
                </c:pt>
                <c:pt idx="2">
                  <c:v>25</c:v>
                </c:pt>
                <c:pt idx="3">
                  <c:v>25</c:v>
                </c:pt>
                <c:pt idx="4">
                  <c:v>25</c:v>
                </c:pt>
                <c:pt idx="5">
                  <c:v>25</c:v>
                </c:pt>
                <c:pt idx="6">
                  <c:v>25</c:v>
                </c:pt>
                <c:pt idx="7">
                  <c:v>25</c:v>
                </c:pt>
                <c:pt idx="8">
                  <c:v>25</c:v>
                </c:pt>
                <c:pt idx="9">
                  <c:v>25</c:v>
                </c:pt>
                <c:pt idx="11">
                  <c:v>25</c:v>
                </c:pt>
                <c:pt idx="12">
                  <c:v>25</c:v>
                </c:pt>
                <c:pt idx="13">
                  <c:v>25</c:v>
                </c:pt>
                <c:pt idx="14">
                  <c:v>25</c:v>
                </c:pt>
              </c:numCache>
            </c:numRef>
          </c:val>
          <c:extLst>
            <c:ext xmlns:c16="http://schemas.microsoft.com/office/drawing/2014/chart" uri="{C3380CC4-5D6E-409C-BE32-E72D297353CC}">
              <c16:uniqueId val="{00000001-E2DE-4691-9B61-FE6B5B732998}"/>
            </c:ext>
          </c:extLst>
        </c:ser>
        <c:ser>
          <c:idx val="2"/>
          <c:order val="2"/>
          <c:tx>
            <c:strRef>
              <c:f>Sheet1!$D$1</c:f>
              <c:strCache>
                <c:ptCount val="1"/>
                <c:pt idx="0">
                  <c:v>Delay in issuance of order (days)</c:v>
                </c:pt>
              </c:strCache>
            </c:strRef>
          </c:tx>
          <c:spPr>
            <a:pattFill prst="ltDnDiag">
              <a:fgClr>
                <a:schemeClr val="bg1">
                  <a:lumMod val="50000"/>
                </a:schemeClr>
              </a:fgClr>
              <a:bgClr>
                <a:schemeClr val="bg1"/>
              </a:bgClr>
            </a:pattFill>
            <a:ln>
              <a:solidFill>
                <a:schemeClr val="bg1">
                  <a:lumMod val="85000"/>
                </a:schemeClr>
              </a:solidFill>
            </a:ln>
            <a:effectLst/>
          </c:spPr>
          <c:invertIfNegative val="0"/>
          <c:dLbls>
            <c:dLbl>
              <c:idx val="0"/>
              <c:layout>
                <c:manualLayout>
                  <c:x val="0.1523743744036741"/>
                  <c:y val="3.736781834959992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2DE-4691-9B61-FE6B5B732998}"/>
                </c:ext>
              </c:extLst>
            </c:dLbl>
            <c:dLbl>
              <c:idx val="1"/>
              <c:layout>
                <c:manualLayout>
                  <c:x val="0.11498093409480498"/>
                  <c:y val="3.39299790609429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2DE-4691-9B61-FE6B5B732998}"/>
                </c:ext>
              </c:extLst>
            </c:dLbl>
            <c:dLbl>
              <c:idx val="2"/>
              <c:layout>
                <c:manualLayout>
                  <c:x val="0.11232638979047568"/>
                  <c:y val="5.605172752358423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2DE-4691-9B61-FE6B5B732998}"/>
                </c:ext>
              </c:extLst>
            </c:dLbl>
            <c:dLbl>
              <c:idx val="3"/>
              <c:layout>
                <c:manualLayout>
                  <c:x val="0.1227983093024716"/>
                  <c:y val="-2.3724827869815754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2DE-4691-9B61-FE6B5B732998}"/>
                </c:ext>
              </c:extLst>
            </c:dLbl>
            <c:dLbl>
              <c:idx val="4"/>
              <c:layout>
                <c:manualLayout>
                  <c:x val="9.0631905990947878E-2"/>
                  <c:y val="3.39299790609429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2DE-4691-9B61-FE6B5B732998}"/>
                </c:ext>
              </c:extLst>
            </c:dLbl>
            <c:dLbl>
              <c:idx val="5"/>
              <c:layout>
                <c:manualLayout>
                  <c:x val="0.11165713568116756"/>
                  <c:y val="2.373603821532047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2DE-4691-9B61-FE6B5B732998}"/>
                </c:ext>
              </c:extLst>
            </c:dLbl>
            <c:dLbl>
              <c:idx val="6"/>
              <c:layout>
                <c:manualLayout>
                  <c:x val="0.13023129773262779"/>
                  <c:y val="1.1210345505151865E-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2DE-4691-9B61-FE6B5B732998}"/>
                </c:ext>
              </c:extLst>
            </c:dLbl>
            <c:dLbl>
              <c:idx val="7"/>
              <c:layout>
                <c:manualLayout>
                  <c:x val="0.19101275199121509"/>
                  <c:y val="1.6815518257039599E-6"/>
                </c:manualLayout>
              </c:layout>
              <c:numFmt formatCode="&quot;Order delay: &quot;###0&quot; days&quot;" sourceLinked="0"/>
              <c:spPr>
                <a:noFill/>
                <a:ln>
                  <a:noFill/>
                </a:ln>
                <a:effectLst/>
              </c:spPr>
              <c:txPr>
                <a:bodyPr rot="0" spcFirstLastPara="1" vertOverflow="ellipsis" vert="horz" wrap="square" lIns="38100" tIns="19050" rIns="38100" bIns="19050" anchor="ctr" anchorCtr="1">
                  <a:noAutofit/>
                </a:bodyPr>
                <a:lstStyle/>
                <a:p>
                  <a:pP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15620039666147195"/>
                      <c:h val="5.3080799125742512E-2"/>
                    </c:manualLayout>
                  </c15:layout>
                </c:ext>
                <c:ext xmlns:c16="http://schemas.microsoft.com/office/drawing/2014/chart" uri="{C3380CC4-5D6E-409C-BE32-E72D297353CC}">
                  <c16:uniqueId val="{0000000E-E2DE-4691-9B61-FE6B5B732998}"/>
                </c:ext>
              </c:extLst>
            </c:dLbl>
            <c:dLbl>
              <c:idx val="8"/>
              <c:layout>
                <c:manualLayout>
                  <c:x val="0.15280464965425491"/>
                  <c:y val="5.9331687779172635E-3"/>
                </c:manualLayout>
              </c:layout>
              <c:numFmt formatCode="&quot;Order delay: &quot;###0&quot; days&quot;" sourceLinked="0"/>
              <c:spPr>
                <a:noFill/>
                <a:ln>
                  <a:noFill/>
                </a:ln>
                <a:effectLst/>
              </c:spPr>
              <c:txPr>
                <a:bodyPr rot="0" spcFirstLastPara="1" vertOverflow="ellipsis" vert="horz" wrap="square" lIns="38100" tIns="19050" rIns="38100" bIns="19050" anchor="ctr" anchorCtr="1">
                  <a:noAutofit/>
                </a:bodyPr>
                <a:lstStyle/>
                <a:p>
                  <a:pP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15620039666147195"/>
                      <c:h val="4.5962229730247321E-2"/>
                    </c:manualLayout>
                  </c15:layout>
                </c:ext>
                <c:ext xmlns:c16="http://schemas.microsoft.com/office/drawing/2014/chart" uri="{C3380CC4-5D6E-409C-BE32-E72D297353CC}">
                  <c16:uniqueId val="{0000000F-E2DE-4691-9B61-FE6B5B732998}"/>
                </c:ext>
              </c:extLst>
            </c:dLbl>
            <c:dLbl>
              <c:idx val="9"/>
              <c:layout>
                <c:manualLayout>
                  <c:x val="0.13355689014006844"/>
                  <c:y val="4.187811402378722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2DE-4691-9B61-FE6B5B732998}"/>
                </c:ext>
              </c:extLst>
            </c:dLbl>
            <c:dLbl>
              <c:idx val="11"/>
              <c:layout>
                <c:manualLayout>
                  <c:x val="-0.1019271742378713"/>
                  <c:y val="2.5823030870115254E-3"/>
                </c:manualLayout>
              </c:layout>
              <c:numFmt formatCode="&quot;Order delay: &quot;###0&quot; days&quot;" sourceLinked="0"/>
              <c:spPr>
                <a:noFill/>
                <a:ln>
                  <a:noFill/>
                </a:ln>
                <a:effectLst/>
              </c:spPr>
              <c:txPr>
                <a:bodyPr rot="0" spcFirstLastPara="1" vertOverflow="ellipsis" vert="horz" wrap="square" lIns="38100" tIns="19050" rIns="38100" bIns="19050" anchor="ctr" anchorCtr="0">
                  <a:spAutoFit/>
                </a:bodyPr>
                <a:lstStyle/>
                <a:p>
                  <a:pPr algn="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2DE-4691-9B61-FE6B5B732998}"/>
                </c:ext>
              </c:extLst>
            </c:dLbl>
            <c:dLbl>
              <c:idx val="12"/>
              <c:layout>
                <c:manualLayout>
                  <c:x val="-8.9935741974592351E-2"/>
                  <c:y val="2.373416982440301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2DE-4691-9B61-FE6B5B732998}"/>
                </c:ext>
              </c:extLst>
            </c:dLbl>
            <c:dLbl>
              <c:idx val="13"/>
              <c:layout>
                <c:manualLayout>
                  <c:x val="-0.28419694463971179"/>
                  <c:y val="2.3736038215321337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E2DE-4691-9B61-FE6B5B732998}"/>
                </c:ext>
              </c:extLst>
            </c:dLbl>
            <c:dLbl>
              <c:idx val="14"/>
              <c:layout>
                <c:manualLayout>
                  <c:x val="-0.29259094722400703"/>
                  <c:y val="3.736781834905615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BF4-4FC5-BE1C-AA2B48A09A4D}"/>
                </c:ext>
              </c:extLst>
            </c:dLbl>
            <c:dLbl>
              <c:idx val="15"/>
              <c:layout>
                <c:manualLayout>
                  <c:x val="7.6745166484985458E-2"/>
                  <c:y val="-9.467438965983904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2DE-4691-9B61-FE6B5B732998}"/>
                </c:ext>
              </c:extLst>
            </c:dLbl>
            <c:dLbl>
              <c:idx val="16"/>
              <c:layout>
                <c:manualLayout>
                  <c:x val="6.7152020674362267E-2"/>
                  <c:y val="2.373043304256811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2DE-4691-9B61-FE6B5B732998}"/>
                </c:ext>
              </c:extLst>
            </c:dLbl>
            <c:dLbl>
              <c:idx val="17"/>
              <c:layout>
                <c:manualLayout>
                  <c:x val="0.13550318457505234"/>
                  <c:y val="3.736781834905615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2DE-4691-9B61-FE6B5B732998}"/>
                </c:ext>
              </c:extLst>
            </c:dLbl>
            <c:numFmt formatCode="&quot;Order delay: &quot;###0&quot; days&quot;" sourceLinked="0"/>
            <c:spPr>
              <a:noFill/>
              <a:ln>
                <a:noFill/>
              </a:ln>
              <a:effectLst/>
            </c:spPr>
            <c:txPr>
              <a:bodyPr rot="0" spcFirstLastPara="1" vertOverflow="ellipsis" vert="horz" wrap="square" lIns="38100" tIns="19050" rIns="38100" bIns="19050" anchor="ctr" anchorCtr="1">
                <a:spAutoFit/>
              </a:bodyPr>
              <a:lstStyle/>
              <a:p>
                <a:pP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5"/>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strCache>
            </c:strRef>
          </c:cat>
          <c:val>
            <c:numRef>
              <c:f>Sheet1!$D$2:$D$17</c:f>
              <c:numCache>
                <c:formatCode>0</c:formatCode>
                <c:ptCount val="16"/>
                <c:pt idx="0">
                  <c:v>611</c:v>
                </c:pt>
                <c:pt idx="1">
                  <c:v>245</c:v>
                </c:pt>
                <c:pt idx="2">
                  <c:v>270</c:v>
                </c:pt>
                <c:pt idx="3">
                  <c:v>338</c:v>
                </c:pt>
                <c:pt idx="4">
                  <c:v>83</c:v>
                </c:pt>
                <c:pt idx="5">
                  <c:v>211</c:v>
                </c:pt>
                <c:pt idx="6">
                  <c:v>460</c:v>
                </c:pt>
                <c:pt idx="7">
                  <c:v>991</c:v>
                </c:pt>
                <c:pt idx="8">
                  <c:v>626</c:v>
                </c:pt>
                <c:pt idx="9">
                  <c:v>451</c:v>
                </c:pt>
                <c:pt idx="11" formatCode="General">
                  <c:v>162</c:v>
                </c:pt>
                <c:pt idx="12" formatCode="General">
                  <c:v>71</c:v>
                </c:pt>
                <c:pt idx="13" formatCode="General">
                  <c:v>1938</c:v>
                </c:pt>
                <c:pt idx="14" formatCode="General">
                  <c:v>1915</c:v>
                </c:pt>
              </c:numCache>
            </c:numRef>
          </c:val>
          <c:extLst>
            <c:ext xmlns:c16="http://schemas.microsoft.com/office/drawing/2014/chart" uri="{C3380CC4-5D6E-409C-BE32-E72D297353CC}">
              <c16:uniqueId val="{00000002-E2DE-4691-9B61-FE6B5B732998}"/>
            </c:ext>
          </c:extLst>
        </c:ser>
        <c:ser>
          <c:idx val="3"/>
          <c:order val="3"/>
          <c:tx>
            <c:strRef>
              <c:f>Sheet1!$E$1</c:f>
              <c:strCache>
                <c:ptCount val="1"/>
                <c:pt idx="0">
                  <c:v>Actual Order Issuance Date</c:v>
                </c:pt>
              </c:strCache>
            </c:strRef>
          </c:tx>
          <c:spPr>
            <a:solidFill>
              <a:srgbClr val="012169"/>
            </a:solidFill>
            <a:ln>
              <a:noFill/>
            </a:ln>
            <a:effectLst/>
          </c:spPr>
          <c:invertIfNegative val="0"/>
          <c:cat>
            <c:strRef>
              <c:f>Sheet1!$A$2:$A$17</c:f>
              <c:strCache>
                <c:ptCount val="15"/>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strCache>
            </c:strRef>
          </c:cat>
          <c:val>
            <c:numRef>
              <c:f>Sheet1!$E$2:$E$17</c:f>
              <c:numCache>
                <c:formatCode>0</c:formatCode>
                <c:ptCount val="16"/>
                <c:pt idx="0">
                  <c:v>25</c:v>
                </c:pt>
                <c:pt idx="1">
                  <c:v>25</c:v>
                </c:pt>
                <c:pt idx="2">
                  <c:v>25</c:v>
                </c:pt>
                <c:pt idx="3">
                  <c:v>25</c:v>
                </c:pt>
                <c:pt idx="4">
                  <c:v>25</c:v>
                </c:pt>
                <c:pt idx="5">
                  <c:v>25</c:v>
                </c:pt>
                <c:pt idx="6">
                  <c:v>25</c:v>
                </c:pt>
                <c:pt idx="7">
                  <c:v>25</c:v>
                </c:pt>
                <c:pt idx="8">
                  <c:v>25</c:v>
                </c:pt>
                <c:pt idx="9">
                  <c:v>25</c:v>
                </c:pt>
                <c:pt idx="11">
                  <c:v>25</c:v>
                </c:pt>
                <c:pt idx="12">
                  <c:v>25</c:v>
                </c:pt>
                <c:pt idx="13">
                  <c:v>25</c:v>
                </c:pt>
                <c:pt idx="14">
                  <c:v>25</c:v>
                </c:pt>
              </c:numCache>
            </c:numRef>
          </c:val>
          <c:extLst>
            <c:ext xmlns:c16="http://schemas.microsoft.com/office/drawing/2014/chart" uri="{C3380CC4-5D6E-409C-BE32-E72D297353CC}">
              <c16:uniqueId val="{00000004-E2DE-4691-9B61-FE6B5B732998}"/>
            </c:ext>
          </c:extLst>
        </c:ser>
        <c:ser>
          <c:idx val="4"/>
          <c:order val="4"/>
          <c:tx>
            <c:strRef>
              <c:f>Sheet1!$F$1</c:f>
              <c:strCache>
                <c:ptCount val="1"/>
                <c:pt idx="0">
                  <c:v>Column2</c:v>
                </c:pt>
              </c:strCache>
            </c:strRef>
          </c:tx>
          <c:spPr>
            <a:pattFill prst="ltDnDiag">
              <a:fgClr>
                <a:schemeClr val="bg1">
                  <a:lumMod val="50000"/>
                </a:schemeClr>
              </a:fgClr>
              <a:bgClr>
                <a:schemeClr val="bg1"/>
              </a:bgClr>
            </a:pattFill>
            <a:ln>
              <a:solidFill>
                <a:schemeClr val="bg1">
                  <a:lumMod val="85000"/>
                </a:schemeClr>
              </a:solidFill>
            </a:ln>
            <a:effectLst/>
          </c:spPr>
          <c:invertIfNegative val="0"/>
          <c:cat>
            <c:strRef>
              <c:f>Sheet1!$A$2:$A$17</c:f>
              <c:strCache>
                <c:ptCount val="15"/>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strCache>
            </c:strRef>
          </c:cat>
          <c:val>
            <c:numRef>
              <c:f>Sheet1!$F$2:$F$17</c:f>
              <c:numCache>
                <c:formatCode>General</c:formatCode>
                <c:ptCount val="16"/>
                <c:pt idx="11" formatCode="0">
                  <c:v>516</c:v>
                </c:pt>
                <c:pt idx="12" formatCode="0">
                  <c:v>242</c:v>
                </c:pt>
                <c:pt idx="13" formatCode="0">
                  <c:v>124</c:v>
                </c:pt>
              </c:numCache>
            </c:numRef>
          </c:val>
          <c:extLst>
            <c:ext xmlns:c16="http://schemas.microsoft.com/office/drawing/2014/chart" uri="{C3380CC4-5D6E-409C-BE32-E72D297353CC}">
              <c16:uniqueId val="{00000001-B8A8-45E8-BAAC-64E2673BBBAF}"/>
            </c:ext>
          </c:extLst>
        </c:ser>
        <c:ser>
          <c:idx val="5"/>
          <c:order val="5"/>
          <c:tx>
            <c:strRef>
              <c:f>Sheet1!$G$1</c:f>
              <c:strCache>
                <c:ptCount val="1"/>
                <c:pt idx="0">
                  <c:v>Column3</c:v>
                </c:pt>
              </c:strCache>
            </c:strRef>
          </c:tx>
          <c:spPr>
            <a:solidFill>
              <a:srgbClr val="00ABAB"/>
            </a:solidFill>
            <a:ln>
              <a:noFill/>
            </a:ln>
            <a:effectLst/>
          </c:spPr>
          <c:invertIfNegative val="0"/>
          <c:cat>
            <c:strRef>
              <c:f>Sheet1!$A$2:$A$17</c:f>
              <c:strCache>
                <c:ptCount val="15"/>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strCache>
            </c:strRef>
          </c:cat>
          <c:val>
            <c:numRef>
              <c:f>Sheet1!$G$2:$G$17</c:f>
              <c:numCache>
                <c:formatCode>General</c:formatCode>
                <c:ptCount val="16"/>
                <c:pt idx="11" formatCode="0">
                  <c:v>25</c:v>
                </c:pt>
                <c:pt idx="12" formatCode="0">
                  <c:v>25</c:v>
                </c:pt>
                <c:pt idx="13" formatCode="0">
                  <c:v>25</c:v>
                </c:pt>
              </c:numCache>
            </c:numRef>
          </c:val>
          <c:extLst>
            <c:ext xmlns:c16="http://schemas.microsoft.com/office/drawing/2014/chart" uri="{C3380CC4-5D6E-409C-BE32-E72D297353CC}">
              <c16:uniqueId val="{00000002-B8A8-45E8-BAAC-64E2673BBBAF}"/>
            </c:ext>
          </c:extLst>
        </c:ser>
        <c:dLbls>
          <c:showLegendKey val="0"/>
          <c:showVal val="0"/>
          <c:showCatName val="0"/>
          <c:showSerName val="0"/>
          <c:showPercent val="0"/>
          <c:showBubbleSize val="0"/>
        </c:dLbls>
        <c:gapWidth val="50"/>
        <c:overlap val="100"/>
        <c:axId val="1024476239"/>
        <c:axId val="1024497871"/>
      </c:barChart>
      <c:catAx>
        <c:axId val="1024476239"/>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024497871"/>
        <c:crosses val="autoZero"/>
        <c:auto val="1"/>
        <c:lblAlgn val="ctr"/>
        <c:lblOffset val="100"/>
        <c:noMultiLvlLbl val="0"/>
      </c:catAx>
      <c:valAx>
        <c:axId val="1024497871"/>
        <c:scaling>
          <c:orientation val="minMax"/>
          <c:max val="45014"/>
          <c:min val="40634"/>
        </c:scaling>
        <c:delete val="1"/>
        <c:axPos val="t"/>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024476239"/>
        <c:crosses val="autoZero"/>
        <c:crossBetween val="between"/>
        <c:majorUnit val="36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412862977825844E-2"/>
          <c:y val="3.7318257149237768E-2"/>
          <c:w val="0.89504911205055104"/>
          <c:h val="0.90735241791319088"/>
        </c:manualLayout>
      </c:layout>
      <c:barChart>
        <c:barDir val="bar"/>
        <c:grouping val="stacked"/>
        <c:varyColors val="0"/>
        <c:ser>
          <c:idx val="0"/>
          <c:order val="0"/>
          <c:tx>
            <c:strRef>
              <c:f>Sheet1!$B$1</c:f>
              <c:strCache>
                <c:ptCount val="1"/>
                <c:pt idx="0">
                  <c:v>Column1</c:v>
                </c:pt>
              </c:strCache>
            </c:strRef>
          </c:tx>
          <c:spPr>
            <a:solidFill>
              <a:schemeClr val="bg1">
                <a:lumMod val="65000"/>
                <a:alpha val="7000"/>
              </a:schemeClr>
            </a:solidFill>
            <a:ln>
              <a:no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Sheet1!$B$2:$B$28</c:f>
              <c:numCache>
                <c:formatCode>0</c:formatCode>
                <c:ptCount val="27"/>
                <c:pt idx="0">
                  <c:v>40633</c:v>
                </c:pt>
                <c:pt idx="1">
                  <c:v>40999</c:v>
                </c:pt>
                <c:pt idx="2">
                  <c:v>41364</c:v>
                </c:pt>
                <c:pt idx="3">
                  <c:v>41729</c:v>
                </c:pt>
                <c:pt idx="4">
                  <c:v>42094</c:v>
                </c:pt>
                <c:pt idx="5">
                  <c:v>42460</c:v>
                </c:pt>
                <c:pt idx="6">
                  <c:v>42825</c:v>
                </c:pt>
                <c:pt idx="7">
                  <c:v>43190</c:v>
                </c:pt>
                <c:pt idx="8">
                  <c:v>43555</c:v>
                </c:pt>
                <c:pt idx="9">
                  <c:v>43921</c:v>
                </c:pt>
                <c:pt idx="11" formatCode="General">
                  <c:v>41364</c:v>
                </c:pt>
                <c:pt idx="12" formatCode="General">
                  <c:v>41729</c:v>
                </c:pt>
                <c:pt idx="13" formatCode="General">
                  <c:v>42094</c:v>
                </c:pt>
                <c:pt idx="14" formatCode="General">
                  <c:v>42460</c:v>
                </c:pt>
                <c:pt idx="15" formatCode="General">
                  <c:v>42825</c:v>
                </c:pt>
                <c:pt idx="16" formatCode="General">
                  <c:v>43190</c:v>
                </c:pt>
                <c:pt idx="17" formatCode="General">
                  <c:v>43555</c:v>
                </c:pt>
                <c:pt idx="19" formatCode="General">
                  <c:v>41364</c:v>
                </c:pt>
                <c:pt idx="20" formatCode="General">
                  <c:v>41729</c:v>
                </c:pt>
                <c:pt idx="21" formatCode="General">
                  <c:v>42094</c:v>
                </c:pt>
                <c:pt idx="22" formatCode="General">
                  <c:v>42460</c:v>
                </c:pt>
                <c:pt idx="23" formatCode="General">
                  <c:v>42825</c:v>
                </c:pt>
                <c:pt idx="24" formatCode="General">
                  <c:v>43190</c:v>
                </c:pt>
                <c:pt idx="25" formatCode="General">
                  <c:v>43555</c:v>
                </c:pt>
              </c:numCache>
            </c:numRef>
          </c:val>
          <c:extLst>
            <c:ext xmlns:c16="http://schemas.microsoft.com/office/drawing/2014/chart" uri="{C3380CC4-5D6E-409C-BE32-E72D297353CC}">
              <c16:uniqueId val="{00000000-C14B-4B8A-837B-E5A0BD59FEE1}"/>
            </c:ext>
          </c:extLst>
        </c:ser>
        <c:ser>
          <c:idx val="1"/>
          <c:order val="1"/>
          <c:tx>
            <c:strRef>
              <c:f>Sheet1!$C$1</c:f>
              <c:strCache>
                <c:ptCount val="1"/>
                <c:pt idx="0">
                  <c:v>Notional date for order issuance</c:v>
                </c:pt>
              </c:strCache>
            </c:strRef>
          </c:tx>
          <c:spPr>
            <a:solidFill>
              <a:schemeClr val="accent2"/>
            </a:solidFill>
            <a:ln>
              <a:no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Sheet1!$C$2:$C$27</c:f>
              <c:numCache>
                <c:formatCode>0</c:formatCode>
                <c:ptCount val="26"/>
                <c:pt idx="0">
                  <c:v>25</c:v>
                </c:pt>
                <c:pt idx="1">
                  <c:v>25</c:v>
                </c:pt>
                <c:pt idx="2">
                  <c:v>25</c:v>
                </c:pt>
                <c:pt idx="3">
                  <c:v>25</c:v>
                </c:pt>
                <c:pt idx="4">
                  <c:v>25</c:v>
                </c:pt>
                <c:pt idx="5">
                  <c:v>25</c:v>
                </c:pt>
                <c:pt idx="6">
                  <c:v>25</c:v>
                </c:pt>
                <c:pt idx="7">
                  <c:v>25</c:v>
                </c:pt>
                <c:pt idx="8">
                  <c:v>25</c:v>
                </c:pt>
                <c:pt idx="9">
                  <c:v>25</c:v>
                </c:pt>
                <c:pt idx="11">
                  <c:v>25</c:v>
                </c:pt>
                <c:pt idx="12">
                  <c:v>25</c:v>
                </c:pt>
                <c:pt idx="13">
                  <c:v>25</c:v>
                </c:pt>
                <c:pt idx="14">
                  <c:v>25</c:v>
                </c:pt>
                <c:pt idx="15">
                  <c:v>25</c:v>
                </c:pt>
                <c:pt idx="16">
                  <c:v>25</c:v>
                </c:pt>
                <c:pt idx="17">
                  <c:v>25</c:v>
                </c:pt>
                <c:pt idx="19">
                  <c:v>25</c:v>
                </c:pt>
                <c:pt idx="20">
                  <c:v>25</c:v>
                </c:pt>
                <c:pt idx="21">
                  <c:v>25</c:v>
                </c:pt>
                <c:pt idx="22">
                  <c:v>25</c:v>
                </c:pt>
                <c:pt idx="23">
                  <c:v>25</c:v>
                </c:pt>
                <c:pt idx="24">
                  <c:v>25</c:v>
                </c:pt>
                <c:pt idx="25">
                  <c:v>25</c:v>
                </c:pt>
              </c:numCache>
            </c:numRef>
          </c:val>
          <c:extLst>
            <c:ext xmlns:c16="http://schemas.microsoft.com/office/drawing/2014/chart" uri="{C3380CC4-5D6E-409C-BE32-E72D297353CC}">
              <c16:uniqueId val="{00000001-C14B-4B8A-837B-E5A0BD59FEE1}"/>
            </c:ext>
          </c:extLst>
        </c:ser>
        <c:ser>
          <c:idx val="2"/>
          <c:order val="2"/>
          <c:tx>
            <c:strRef>
              <c:f>Sheet1!$D$1</c:f>
              <c:strCache>
                <c:ptCount val="1"/>
                <c:pt idx="0">
                  <c:v>Delay in issuance of order (days)</c:v>
                </c:pt>
              </c:strCache>
            </c:strRef>
          </c:tx>
          <c:spPr>
            <a:pattFill prst="ltDnDiag">
              <a:fgClr>
                <a:schemeClr val="bg1">
                  <a:lumMod val="50000"/>
                </a:schemeClr>
              </a:fgClr>
              <a:bgClr>
                <a:schemeClr val="bg1"/>
              </a:bgClr>
            </a:pattFill>
            <a:ln>
              <a:solidFill>
                <a:schemeClr val="bg1">
                  <a:lumMod val="85000"/>
                </a:schemeClr>
              </a:solidFill>
            </a:ln>
            <a:effectLst/>
          </c:spPr>
          <c:invertIfNegative val="0"/>
          <c:dLbls>
            <c:dLbl>
              <c:idx val="0"/>
              <c:layout>
                <c:manualLayout>
                  <c:x val="0.1523743744036741"/>
                  <c:y val="5.4187560486338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14B-4B8A-837B-E5A0BD59FEE1}"/>
                </c:ext>
              </c:extLst>
            </c:dLbl>
            <c:dLbl>
              <c:idx val="1"/>
              <c:layout>
                <c:manualLayout>
                  <c:x val="0.11498093409480498"/>
                  <c:y val="3.3930444124858255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14B-4B8A-837B-E5A0BD59FEE1}"/>
                </c:ext>
              </c:extLst>
            </c:dLbl>
            <c:dLbl>
              <c:idx val="2"/>
              <c:layout>
                <c:manualLayout>
                  <c:x val="0.11592381946945939"/>
                  <c:y val="3.612504032667901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14B-4B8A-837B-E5A0BD59FEE1}"/>
                </c:ext>
              </c:extLst>
            </c:dLbl>
            <c:dLbl>
              <c:idx val="3"/>
              <c:layout>
                <c:manualLayout>
                  <c:x val="0.1227983093024716"/>
                  <c:y val="3.6125040326679014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14B-4B8A-837B-E5A0BD59FEE1}"/>
                </c:ext>
              </c:extLst>
            </c:dLbl>
            <c:dLbl>
              <c:idx val="4"/>
              <c:layout>
                <c:manualLayout>
                  <c:x val="9.9025908575243168E-2"/>
                  <c:y val="1.099465602278478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14B-4B8A-837B-E5A0BD59FEE1}"/>
                </c:ext>
              </c:extLst>
            </c:dLbl>
            <c:dLbl>
              <c:idx val="5"/>
              <c:layout>
                <c:manualLayout>
                  <c:x val="0.11165713568116756"/>
                  <c:y val="5.418756048686439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14B-4B8A-837B-E5A0BD59FEE1}"/>
                </c:ext>
              </c:extLst>
            </c:dLbl>
            <c:dLbl>
              <c:idx val="6"/>
              <c:layout>
                <c:manualLayout>
                  <c:x val="0.13262958418528359"/>
                  <c:y val="7.225008064915252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14B-4B8A-837B-E5A0BD59FEE1}"/>
                </c:ext>
              </c:extLst>
            </c:dLbl>
            <c:dLbl>
              <c:idx val="7"/>
              <c:layout>
                <c:manualLayout>
                  <c:x val="0.20486502793201142"/>
                  <c:y val="9.0312600811440661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14B-4B8A-837B-E5A0BD59FEE1}"/>
                </c:ext>
              </c:extLst>
            </c:dLbl>
            <c:dLbl>
              <c:idx val="8"/>
              <c:layout>
                <c:manualLayout>
                  <c:x val="0.17079179804917338"/>
                  <c:y val="4.746649673447739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14B-4B8A-837B-E5A0BD59FEE1}"/>
                </c:ext>
              </c:extLst>
            </c:dLbl>
            <c:dLbl>
              <c:idx val="9"/>
              <c:layout>
                <c:manualLayout>
                  <c:x val="0.11197231206616627"/>
                  <c:y val="1.814581259030166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14B-4B8A-837B-E5A0BD59FEE1}"/>
                </c:ext>
              </c:extLst>
            </c:dLbl>
            <c:dLbl>
              <c:idx val="10"/>
              <c:layout>
                <c:manualLayout>
                  <c:x val="-9.9528887785215514E-2"/>
                  <c:y val="7.9294463512444901E-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14B-4B8A-837B-E5A0BD59FEE1}"/>
                </c:ext>
              </c:extLst>
            </c:dLbl>
            <c:dLbl>
              <c:idx val="11"/>
              <c:layout>
                <c:manualLayout>
                  <c:x val="-9.7130648542922957E-2"/>
                  <c:y val="2.8999376120553594E-4"/>
                </c:manualLayout>
              </c:layout>
              <c:numFmt formatCode="&quot;Order delay: &quot;###0&quot; days&quot;" sourceLinked="0"/>
              <c:spPr>
                <a:noFill/>
                <a:ln>
                  <a:noFill/>
                </a:ln>
                <a:effectLst/>
              </c:spPr>
              <c:txPr>
                <a:bodyPr rot="0" spcFirstLastPara="1" vertOverflow="ellipsis" vert="horz" wrap="square" lIns="38100" tIns="19050" rIns="38100" bIns="19050" anchor="ctr" anchorCtr="1">
                  <a:noAutofit/>
                </a:bodyPr>
                <a:lstStyle/>
                <a:p>
                  <a:pP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18858330669882004"/>
                      <c:h val="5.1315439155858948E-2"/>
                    </c:manualLayout>
                  </c15:layout>
                </c:ext>
                <c:ext xmlns:c16="http://schemas.microsoft.com/office/drawing/2014/chart" uri="{C3380CC4-5D6E-409C-BE32-E72D297353CC}">
                  <c16:uniqueId val="{0000000D-C14B-4B8A-837B-E5A0BD59FEE1}"/>
                </c:ext>
              </c:extLst>
            </c:dLbl>
            <c:dLbl>
              <c:idx val="12"/>
              <c:layout>
                <c:manualLayout>
                  <c:x val="-9.2527968599443206E-2"/>
                  <c:y val="1.083751209821398E-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14B-4B8A-837B-E5A0BD59FEE1}"/>
                </c:ext>
              </c:extLst>
            </c:dLbl>
            <c:dLbl>
              <c:idx val="13"/>
              <c:layout>
                <c:manualLayout>
                  <c:x val="-0.32487311034619831"/>
                  <c:y val="-2.134989883182457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14B-4B8A-837B-E5A0BD59FEE1}"/>
                </c:ext>
              </c:extLst>
            </c:dLbl>
            <c:dLbl>
              <c:idx val="14"/>
              <c:layout>
                <c:manualLayout>
                  <c:x val="-0.29602087453421078"/>
                  <c:y val="-2.293398185005724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14B-4B8A-837B-E5A0BD59FEE1}"/>
                </c:ext>
              </c:extLst>
            </c:dLbl>
            <c:dLbl>
              <c:idx val="15"/>
              <c:layout>
                <c:manualLayout>
                  <c:x val="-0.26980722592377704"/>
                  <c:y val="-2.2933981850057242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14B-4B8A-837B-E5A0BD59FEE1}"/>
                </c:ext>
              </c:extLst>
            </c:dLbl>
            <c:dLbl>
              <c:idx val="16"/>
              <c:layout>
                <c:manualLayout>
                  <c:x val="-0.23383292913394005"/>
                  <c:y val="-2.450361485216007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14B-4B8A-837B-E5A0BD59FEE1}"/>
                </c:ext>
              </c:extLst>
            </c:dLbl>
            <c:dLbl>
              <c:idx val="17"/>
              <c:layout>
                <c:manualLayout>
                  <c:x val="-0.19905777557043103"/>
                  <c:y val="-2.2926756841992325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14B-4B8A-837B-E5A0BD59FEE1}"/>
                </c:ext>
              </c:extLst>
            </c:dLbl>
            <c:dLbl>
              <c:idx val="18"/>
              <c:layout>
                <c:manualLayout>
                  <c:x val="-9.7130601332559713E-2"/>
                  <c:y val="-2.2135618458882424E-3"/>
                </c:manualLayout>
              </c:layout>
              <c:numFmt formatCode="&quot;Order delay: &quot;###0&quot; days&quot;" sourceLinked="0"/>
              <c:spPr>
                <a:noFill/>
                <a:ln>
                  <a:noFill/>
                </a:ln>
                <a:effectLst/>
              </c:spPr>
              <c:txPr>
                <a:bodyPr rot="0" spcFirstLastPara="1" vertOverflow="ellipsis" vert="horz" wrap="square" lIns="38100" tIns="19050" rIns="38100" bIns="19050" anchor="ctr" anchorCtr="0">
                  <a:spAutoFit/>
                </a:bodyPr>
                <a:lstStyle/>
                <a:p>
                  <a:pPr algn="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C14B-4B8A-837B-E5A0BD59FEE1}"/>
                </c:ext>
              </c:extLst>
            </c:dLbl>
            <c:dLbl>
              <c:idx val="19"/>
              <c:layout>
                <c:manualLayout>
                  <c:x val="-0.10005556659753496"/>
                  <c:y val="7.225008064915252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14B-4B8A-837B-E5A0BD59FEE1}"/>
                </c:ext>
              </c:extLst>
            </c:dLbl>
            <c:dLbl>
              <c:idx val="20"/>
              <c:layout>
                <c:manualLayout>
                  <c:x val="-7.8470988523632795E-2"/>
                  <c:y val="1.5895017742821967E-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14B-4B8A-837B-E5A0BD59FEE1}"/>
                </c:ext>
              </c:extLst>
            </c:dLbl>
            <c:dLbl>
              <c:idx val="21"/>
              <c:layout>
                <c:manualLayout>
                  <c:x val="-0.3225695278822045"/>
                  <c:y val="3.6125040332987276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C14B-4B8A-837B-E5A0BD59FEE1}"/>
                </c:ext>
              </c:extLst>
            </c:dLbl>
            <c:dLbl>
              <c:idx val="22"/>
              <c:layout>
                <c:manualLayout>
                  <c:x val="-0.29738752012931863"/>
                  <c:y val="-2.293217559804101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C14B-4B8A-837B-E5A0BD59FEE1}"/>
                </c:ext>
              </c:extLst>
            </c:dLbl>
            <c:dLbl>
              <c:idx val="23"/>
              <c:layout>
                <c:manualLayout>
                  <c:x val="-0.27220551237643281"/>
                  <c:y val="3.6125040341398297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C14B-4B8A-837B-E5A0BD59FEE1}"/>
                </c:ext>
              </c:extLst>
            </c:dLbl>
            <c:dLbl>
              <c:idx val="24"/>
              <c:layout>
                <c:manualLayout>
                  <c:x val="-0.23503207236026794"/>
                  <c:y val="3.612504032457626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C14B-4B8A-837B-E5A0BD59FEE1}"/>
                </c:ext>
              </c:extLst>
            </c:dLbl>
            <c:dLbl>
              <c:idx val="25"/>
              <c:layout>
                <c:manualLayout>
                  <c:x val="-0.19905777557043103"/>
                  <c:y val="1.806252016228813E-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C14B-4B8A-837B-E5A0BD59FEE1}"/>
                </c:ext>
              </c:extLst>
            </c:dLbl>
            <c:numFmt formatCode="&quot;Order delay: &quot;###0&quot; days&quot;" sourceLinked="0"/>
            <c:spPr>
              <a:noFill/>
              <a:ln>
                <a:noFill/>
              </a:ln>
              <a:effectLst/>
            </c:spPr>
            <c:txPr>
              <a:bodyPr rot="0" spcFirstLastPara="1" vertOverflow="ellipsis" vert="horz" wrap="square" lIns="38100" tIns="19050" rIns="38100" bIns="19050" anchor="ctr" anchorCtr="1">
                <a:spAutoFit/>
              </a:bodyPr>
              <a:lstStyle/>
              <a:p>
                <a:pPr>
                  <a:defRPr sz="1100" b="0" i="1" u="none" strike="noStrike" kern="1200" baseline="0">
                    <a:solidFill>
                      <a:srgbClr val="012169"/>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Sheet1!$D$2:$D$27</c:f>
              <c:numCache>
                <c:formatCode>0</c:formatCode>
                <c:ptCount val="26"/>
                <c:pt idx="0">
                  <c:v>611</c:v>
                </c:pt>
                <c:pt idx="1">
                  <c:v>245</c:v>
                </c:pt>
                <c:pt idx="2">
                  <c:v>270</c:v>
                </c:pt>
                <c:pt idx="3">
                  <c:v>338</c:v>
                </c:pt>
                <c:pt idx="4">
                  <c:v>132</c:v>
                </c:pt>
                <c:pt idx="5">
                  <c:v>211</c:v>
                </c:pt>
                <c:pt idx="6">
                  <c:v>460</c:v>
                </c:pt>
                <c:pt idx="7">
                  <c:v>1243</c:v>
                </c:pt>
                <c:pt idx="8">
                  <c:v>878</c:v>
                </c:pt>
                <c:pt idx="9">
                  <c:v>727</c:v>
                </c:pt>
                <c:pt idx="11" formatCode="General">
                  <c:v>162</c:v>
                </c:pt>
                <c:pt idx="12" formatCode="General">
                  <c:v>73</c:v>
                </c:pt>
                <c:pt idx="13" formatCode="General">
                  <c:v>2297</c:v>
                </c:pt>
                <c:pt idx="14" formatCode="General">
                  <c:v>2043</c:v>
                </c:pt>
                <c:pt idx="15" formatCode="General">
                  <c:v>1770</c:v>
                </c:pt>
                <c:pt idx="16" formatCode="General">
                  <c:v>1411</c:v>
                </c:pt>
                <c:pt idx="17" formatCode="General">
                  <c:v>1081</c:v>
                </c:pt>
                <c:pt idx="19" formatCode="General">
                  <c:v>114</c:v>
                </c:pt>
                <c:pt idx="20" formatCode="General">
                  <c:v>0</c:v>
                </c:pt>
                <c:pt idx="21" formatCode="General">
                  <c:v>2297</c:v>
                </c:pt>
                <c:pt idx="22" formatCode="General">
                  <c:v>2043</c:v>
                </c:pt>
                <c:pt idx="23" formatCode="General">
                  <c:v>1770</c:v>
                </c:pt>
                <c:pt idx="24" formatCode="General">
                  <c:v>1411</c:v>
                </c:pt>
                <c:pt idx="25" formatCode="General">
                  <c:v>1081</c:v>
                </c:pt>
              </c:numCache>
            </c:numRef>
          </c:val>
          <c:extLst>
            <c:ext xmlns:c16="http://schemas.microsoft.com/office/drawing/2014/chart" uri="{C3380CC4-5D6E-409C-BE32-E72D297353CC}">
              <c16:uniqueId val="{0000001B-C14B-4B8A-837B-E5A0BD59FEE1}"/>
            </c:ext>
          </c:extLst>
        </c:ser>
        <c:ser>
          <c:idx val="3"/>
          <c:order val="3"/>
          <c:tx>
            <c:strRef>
              <c:f>Sheet1!$E$1</c:f>
              <c:strCache>
                <c:ptCount val="1"/>
                <c:pt idx="0">
                  <c:v>Actual Order Issuance Date</c:v>
                </c:pt>
              </c:strCache>
            </c:strRef>
          </c:tx>
          <c:spPr>
            <a:solidFill>
              <a:srgbClr val="012169"/>
            </a:solidFill>
            <a:ln>
              <a:no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Sheet1!$E$2:$E$27</c:f>
              <c:numCache>
                <c:formatCode>0</c:formatCode>
                <c:ptCount val="26"/>
                <c:pt idx="0">
                  <c:v>25</c:v>
                </c:pt>
                <c:pt idx="1">
                  <c:v>25</c:v>
                </c:pt>
                <c:pt idx="2">
                  <c:v>25</c:v>
                </c:pt>
                <c:pt idx="3">
                  <c:v>25</c:v>
                </c:pt>
                <c:pt idx="4">
                  <c:v>25</c:v>
                </c:pt>
                <c:pt idx="5">
                  <c:v>25</c:v>
                </c:pt>
                <c:pt idx="6">
                  <c:v>25</c:v>
                </c:pt>
                <c:pt idx="7">
                  <c:v>25</c:v>
                </c:pt>
                <c:pt idx="8">
                  <c:v>25</c:v>
                </c:pt>
                <c:pt idx="9">
                  <c:v>25</c:v>
                </c:pt>
                <c:pt idx="11">
                  <c:v>25</c:v>
                </c:pt>
                <c:pt idx="12">
                  <c:v>25</c:v>
                </c:pt>
                <c:pt idx="13">
                  <c:v>25</c:v>
                </c:pt>
                <c:pt idx="14">
                  <c:v>25</c:v>
                </c:pt>
                <c:pt idx="15">
                  <c:v>25</c:v>
                </c:pt>
                <c:pt idx="16">
                  <c:v>25</c:v>
                </c:pt>
                <c:pt idx="17">
                  <c:v>25</c:v>
                </c:pt>
                <c:pt idx="19">
                  <c:v>25</c:v>
                </c:pt>
                <c:pt idx="20">
                  <c:v>25</c:v>
                </c:pt>
                <c:pt idx="21">
                  <c:v>25</c:v>
                </c:pt>
                <c:pt idx="22">
                  <c:v>25</c:v>
                </c:pt>
                <c:pt idx="23">
                  <c:v>25</c:v>
                </c:pt>
                <c:pt idx="24">
                  <c:v>25</c:v>
                </c:pt>
                <c:pt idx="25">
                  <c:v>25</c:v>
                </c:pt>
              </c:numCache>
            </c:numRef>
          </c:val>
          <c:extLst>
            <c:ext xmlns:c16="http://schemas.microsoft.com/office/drawing/2014/chart" uri="{C3380CC4-5D6E-409C-BE32-E72D297353CC}">
              <c16:uniqueId val="{0000001C-C14B-4B8A-837B-E5A0BD59FEE1}"/>
            </c:ext>
          </c:extLst>
        </c:ser>
        <c:ser>
          <c:idx val="4"/>
          <c:order val="4"/>
          <c:tx>
            <c:strRef>
              <c:f>Sheet1!$F$1</c:f>
              <c:strCache>
                <c:ptCount val="1"/>
                <c:pt idx="0">
                  <c:v>Column2</c:v>
                </c:pt>
              </c:strCache>
            </c:strRef>
          </c:tx>
          <c:spPr>
            <a:pattFill prst="ltDnDiag">
              <a:fgClr>
                <a:schemeClr val="bg1">
                  <a:lumMod val="50000"/>
                </a:schemeClr>
              </a:fgClr>
              <a:bgClr>
                <a:schemeClr val="bg1"/>
              </a:bgClr>
            </a:pattFill>
            <a:ln>
              <a:solidFill>
                <a:schemeClr val="bg1">
                  <a:lumMod val="85000"/>
                </a:schemeClr>
              </a:solid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Sheet1!$F$2:$F$27</c:f>
              <c:numCache>
                <c:formatCode>General</c:formatCode>
                <c:ptCount val="26"/>
                <c:pt idx="11" formatCode="0">
                  <c:v>3097</c:v>
                </c:pt>
                <c:pt idx="12" formatCode="0">
                  <c:v>2824</c:v>
                </c:pt>
                <c:pt idx="13" formatCode="0">
                  <c:v>232</c:v>
                </c:pt>
                <c:pt idx="14" formatCode="0">
                  <c:v>120</c:v>
                </c:pt>
                <c:pt idx="15" formatCode="0">
                  <c:v>28</c:v>
                </c:pt>
                <c:pt idx="16" formatCode="0">
                  <c:v>22</c:v>
                </c:pt>
                <c:pt idx="17" formatCode="0">
                  <c:v>0</c:v>
                </c:pt>
                <c:pt idx="19" formatCode="0">
                  <c:v>3145</c:v>
                </c:pt>
                <c:pt idx="20" formatCode="0">
                  <c:v>2897</c:v>
                </c:pt>
                <c:pt idx="21" formatCode="0">
                  <c:v>232</c:v>
                </c:pt>
                <c:pt idx="22" formatCode="0">
                  <c:v>120</c:v>
                </c:pt>
                <c:pt idx="23" formatCode="0">
                  <c:v>28</c:v>
                </c:pt>
                <c:pt idx="24" formatCode="0">
                  <c:v>22</c:v>
                </c:pt>
                <c:pt idx="25" formatCode="0">
                  <c:v>0</c:v>
                </c:pt>
              </c:numCache>
            </c:numRef>
          </c:val>
          <c:extLst>
            <c:ext xmlns:c16="http://schemas.microsoft.com/office/drawing/2014/chart" uri="{C3380CC4-5D6E-409C-BE32-E72D297353CC}">
              <c16:uniqueId val="{0000001D-C14B-4B8A-837B-E5A0BD59FEE1}"/>
            </c:ext>
          </c:extLst>
        </c:ser>
        <c:ser>
          <c:idx val="5"/>
          <c:order val="5"/>
          <c:tx>
            <c:strRef>
              <c:f>Sheet1!$G$1</c:f>
              <c:strCache>
                <c:ptCount val="1"/>
                <c:pt idx="0">
                  <c:v>Column3</c:v>
                </c:pt>
              </c:strCache>
            </c:strRef>
          </c:tx>
          <c:spPr>
            <a:solidFill>
              <a:srgbClr val="00ABAB"/>
            </a:solidFill>
            <a:ln>
              <a:noFill/>
            </a:ln>
            <a:effectLst/>
          </c:spPr>
          <c:invertIfNegative val="0"/>
          <c:cat>
            <c:strRef>
              <c:f>Sheet1!$A$2:$A$28</c:f>
              <c:strCache>
                <c:ptCount val="26"/>
                <c:pt idx="0">
                  <c:v>FY 12</c:v>
                </c:pt>
                <c:pt idx="1">
                  <c:v>FY 13</c:v>
                </c:pt>
                <c:pt idx="2">
                  <c:v>FY 14</c:v>
                </c:pt>
                <c:pt idx="3">
                  <c:v>FY 15</c:v>
                </c:pt>
                <c:pt idx="4">
                  <c:v>FY 16</c:v>
                </c:pt>
                <c:pt idx="5">
                  <c:v>FY 17</c:v>
                </c:pt>
                <c:pt idx="6">
                  <c:v>FY 18</c:v>
                </c:pt>
                <c:pt idx="7">
                  <c:v>FY 19</c:v>
                </c:pt>
                <c:pt idx="8">
                  <c:v>FY 20</c:v>
                </c:pt>
                <c:pt idx="9">
                  <c:v>FY 21</c:v>
                </c:pt>
                <c:pt idx="11">
                  <c:v>FY 12</c:v>
                </c:pt>
                <c:pt idx="12">
                  <c:v>FY 13</c:v>
                </c:pt>
                <c:pt idx="13">
                  <c:v>FY 14</c:v>
                </c:pt>
                <c:pt idx="14">
                  <c:v>FY 15</c:v>
                </c:pt>
                <c:pt idx="15">
                  <c:v>FY 16</c:v>
                </c:pt>
                <c:pt idx="16">
                  <c:v>FY 17</c:v>
                </c:pt>
                <c:pt idx="17">
                  <c:v>FY 18</c:v>
                </c:pt>
                <c:pt idx="19">
                  <c:v>FY 12</c:v>
                </c:pt>
                <c:pt idx="20">
                  <c:v>FY 13</c:v>
                </c:pt>
                <c:pt idx="21">
                  <c:v>FY 14</c:v>
                </c:pt>
                <c:pt idx="22">
                  <c:v>FY 15</c:v>
                </c:pt>
                <c:pt idx="23">
                  <c:v>FY 16</c:v>
                </c:pt>
                <c:pt idx="24">
                  <c:v>FY 17</c:v>
                </c:pt>
                <c:pt idx="25">
                  <c:v>FY 18</c:v>
                </c:pt>
              </c:strCache>
            </c:strRef>
          </c:cat>
          <c:val>
            <c:numRef>
              <c:f>Sheet1!$G$2:$G$27</c:f>
              <c:numCache>
                <c:formatCode>General</c:formatCode>
                <c:ptCount val="26"/>
                <c:pt idx="11" formatCode="0">
                  <c:v>25</c:v>
                </c:pt>
                <c:pt idx="12" formatCode="0">
                  <c:v>25</c:v>
                </c:pt>
                <c:pt idx="13" formatCode="0">
                  <c:v>25</c:v>
                </c:pt>
                <c:pt idx="14" formatCode="0">
                  <c:v>25</c:v>
                </c:pt>
                <c:pt idx="15" formatCode="0">
                  <c:v>25</c:v>
                </c:pt>
                <c:pt idx="16" formatCode="0">
                  <c:v>25</c:v>
                </c:pt>
                <c:pt idx="17" formatCode="0">
                  <c:v>25</c:v>
                </c:pt>
                <c:pt idx="19" formatCode="0">
                  <c:v>25</c:v>
                </c:pt>
                <c:pt idx="20" formatCode="0">
                  <c:v>25</c:v>
                </c:pt>
                <c:pt idx="21" formatCode="0">
                  <c:v>25</c:v>
                </c:pt>
                <c:pt idx="22" formatCode="0">
                  <c:v>25</c:v>
                </c:pt>
                <c:pt idx="23" formatCode="0">
                  <c:v>25</c:v>
                </c:pt>
                <c:pt idx="24" formatCode="0">
                  <c:v>25</c:v>
                </c:pt>
                <c:pt idx="25" formatCode="0">
                  <c:v>25</c:v>
                </c:pt>
              </c:numCache>
            </c:numRef>
          </c:val>
          <c:extLst>
            <c:ext xmlns:c16="http://schemas.microsoft.com/office/drawing/2014/chart" uri="{C3380CC4-5D6E-409C-BE32-E72D297353CC}">
              <c16:uniqueId val="{0000001E-C14B-4B8A-837B-E5A0BD59FEE1}"/>
            </c:ext>
          </c:extLst>
        </c:ser>
        <c:dLbls>
          <c:showLegendKey val="0"/>
          <c:showVal val="0"/>
          <c:showCatName val="0"/>
          <c:showSerName val="0"/>
          <c:showPercent val="0"/>
          <c:showBubbleSize val="0"/>
        </c:dLbls>
        <c:gapWidth val="50"/>
        <c:overlap val="100"/>
        <c:axId val="1024476239"/>
        <c:axId val="1024497871"/>
      </c:barChart>
      <c:catAx>
        <c:axId val="1024476239"/>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024497871"/>
        <c:crosses val="autoZero"/>
        <c:auto val="1"/>
        <c:lblAlgn val="ctr"/>
        <c:lblOffset val="100"/>
        <c:noMultiLvlLbl val="0"/>
      </c:catAx>
      <c:valAx>
        <c:axId val="1024497871"/>
        <c:scaling>
          <c:orientation val="minMax"/>
          <c:max val="45014"/>
          <c:min val="40634"/>
        </c:scaling>
        <c:delete val="1"/>
        <c:axPos val="t"/>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024476239"/>
        <c:crosses val="autoZero"/>
        <c:crossBetween val="between"/>
        <c:majorUnit val="36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dirty="0">
                <a:latin typeface="Verdana" panose="020B0604030504040204" pitchFamily="34" charset="0"/>
                <a:ea typeface="Verdana" panose="020B0604030504040204" pitchFamily="34" charset="0"/>
              </a:rPr>
              <a:t>LV &amp; MV Energy Charge Rate</a:t>
            </a:r>
            <a:r>
              <a:rPr lang="en-US" sz="2000" b="1" baseline="0" dirty="0">
                <a:latin typeface="Verdana" panose="020B0604030504040204" pitchFamily="34" charset="0"/>
                <a:ea typeface="Verdana" panose="020B0604030504040204" pitchFamily="34" charset="0"/>
              </a:rPr>
              <a:t> Comparison (INR Paisa/kWh)</a:t>
            </a:r>
            <a:endParaRPr lang="en-US" sz="2000" b="1" dirty="0">
              <a:latin typeface="Verdana" panose="020B0604030504040204" pitchFamily="34" charset="0"/>
              <a:ea typeface="Verdana" panose="020B0604030504040204" pitchFamily="34" charset="0"/>
            </a:endParaRPr>
          </a:p>
        </c:rich>
      </c:tx>
      <c:layout>
        <c:manualLayout>
          <c:xMode val="edge"/>
          <c:yMode val="edge"/>
          <c:x val="0.16512786286041919"/>
          <c:y val="3.155066652932921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32"/>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7-E3E9-4F67-B1F4-B64F81CA9048}"/>
              </c:ext>
            </c:extLst>
          </c:dPt>
          <c:dPt>
            <c:idx val="33"/>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8-E3E9-4F67-B1F4-B64F81CA9048}"/>
              </c:ext>
            </c:extLst>
          </c:dPt>
          <c:dPt>
            <c:idx val="34"/>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52-E3E9-4F67-B1F4-B64F81CA9048}"/>
              </c:ext>
            </c:extLst>
          </c:dPt>
          <c:dPt>
            <c:idx val="35"/>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53-E3E9-4F67-B1F4-B64F81CA9048}"/>
              </c:ext>
            </c:extLst>
          </c:dPt>
          <c:dPt>
            <c:idx val="36"/>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54-E3E9-4F67-B1F4-B64F81CA9048}"/>
              </c:ext>
            </c:extLst>
          </c:dPt>
          <c:dPt>
            <c:idx val="37"/>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6-E3E9-4F67-B1F4-B64F81CA9048}"/>
              </c:ext>
            </c:extLst>
          </c:dPt>
          <c:dPt>
            <c:idx val="38"/>
            <c:invertIfNegative val="0"/>
            <c:bubble3D val="0"/>
            <c:spPr>
              <a:solidFill>
                <a:srgbClr val="FFC000"/>
              </a:solidFill>
              <a:ln>
                <a:noFill/>
              </a:ln>
              <a:effectLst/>
            </c:spPr>
            <c:extLst>
              <c:ext xmlns:c16="http://schemas.microsoft.com/office/drawing/2014/chart" uri="{C3380CC4-5D6E-409C-BE32-E72D297353CC}">
                <c16:uniqueId val="{00000011-E3E9-4F67-B1F4-B64F81CA9048}"/>
              </c:ext>
            </c:extLst>
          </c:dPt>
          <c:dPt>
            <c:idx val="39"/>
            <c:invertIfNegative val="0"/>
            <c:bubble3D val="0"/>
            <c:spPr>
              <a:solidFill>
                <a:srgbClr val="FFC000"/>
              </a:solidFill>
              <a:ln>
                <a:noFill/>
              </a:ln>
              <a:effectLst/>
            </c:spPr>
            <c:extLst>
              <c:ext xmlns:c16="http://schemas.microsoft.com/office/drawing/2014/chart" uri="{C3380CC4-5D6E-409C-BE32-E72D297353CC}">
                <c16:uniqueId val="{00000012-E3E9-4F67-B1F4-B64F81CA9048}"/>
              </c:ext>
            </c:extLst>
          </c:dPt>
          <c:dPt>
            <c:idx val="40"/>
            <c:invertIfNegative val="0"/>
            <c:bubble3D val="0"/>
            <c:spPr>
              <a:solidFill>
                <a:srgbClr val="FFC000"/>
              </a:solidFill>
              <a:ln>
                <a:noFill/>
              </a:ln>
              <a:effectLst/>
            </c:spPr>
            <c:extLst>
              <c:ext xmlns:c16="http://schemas.microsoft.com/office/drawing/2014/chart" uri="{C3380CC4-5D6E-409C-BE32-E72D297353CC}">
                <c16:uniqueId val="{00000013-E3E9-4F67-B1F4-B64F81CA9048}"/>
              </c:ext>
            </c:extLst>
          </c:dPt>
          <c:dPt>
            <c:idx val="41"/>
            <c:invertIfNegative val="0"/>
            <c:bubble3D val="0"/>
            <c:spPr>
              <a:solidFill>
                <a:srgbClr val="FFC000"/>
              </a:solidFill>
              <a:ln>
                <a:noFill/>
              </a:ln>
              <a:effectLst/>
            </c:spPr>
            <c:extLst>
              <c:ext xmlns:c16="http://schemas.microsoft.com/office/drawing/2014/chart" uri="{C3380CC4-5D6E-409C-BE32-E72D297353CC}">
                <c16:uniqueId val="{00000014-E3E9-4F67-B1F4-B64F81CA9048}"/>
              </c:ext>
            </c:extLst>
          </c:dPt>
          <c:dPt>
            <c:idx val="42"/>
            <c:invertIfNegative val="0"/>
            <c:bubble3D val="0"/>
            <c:spPr>
              <a:solidFill>
                <a:srgbClr val="FFC000"/>
              </a:solidFill>
              <a:ln>
                <a:noFill/>
              </a:ln>
              <a:effectLst/>
            </c:spPr>
            <c:extLst>
              <c:ext xmlns:c16="http://schemas.microsoft.com/office/drawing/2014/chart" uri="{C3380CC4-5D6E-409C-BE32-E72D297353CC}">
                <c16:uniqueId val="{00000015-E3E9-4F67-B1F4-B64F81CA9048}"/>
              </c:ext>
            </c:extLst>
          </c:dPt>
          <c:dPt>
            <c:idx val="43"/>
            <c:invertIfNegative val="0"/>
            <c:bubble3D val="0"/>
            <c:spPr>
              <a:solidFill>
                <a:srgbClr val="FFC000"/>
              </a:solidFill>
              <a:ln>
                <a:noFill/>
              </a:ln>
              <a:effectLst/>
            </c:spPr>
            <c:extLst>
              <c:ext xmlns:c16="http://schemas.microsoft.com/office/drawing/2014/chart" uri="{C3380CC4-5D6E-409C-BE32-E72D297353CC}">
                <c16:uniqueId val="{00000010-E3E9-4F67-B1F4-B64F81CA9048}"/>
              </c:ext>
            </c:extLst>
          </c:dPt>
          <c:dPt>
            <c:idx val="44"/>
            <c:invertIfNegative val="0"/>
            <c:bubble3D val="0"/>
            <c:spPr>
              <a:solidFill>
                <a:srgbClr val="009A44"/>
              </a:solidFill>
              <a:ln>
                <a:noFill/>
              </a:ln>
              <a:effectLst/>
            </c:spPr>
            <c:extLst>
              <c:ext xmlns:c16="http://schemas.microsoft.com/office/drawing/2014/chart" uri="{C3380CC4-5D6E-409C-BE32-E72D297353CC}">
                <c16:uniqueId val="{0000000F-E3E9-4F67-B1F4-B64F81CA9048}"/>
              </c:ext>
            </c:extLst>
          </c:dPt>
          <c:dPt>
            <c:idx val="45"/>
            <c:invertIfNegative val="0"/>
            <c:bubble3D val="0"/>
            <c:spPr>
              <a:solidFill>
                <a:srgbClr val="009A44"/>
              </a:solidFill>
              <a:ln>
                <a:noFill/>
              </a:ln>
              <a:effectLst/>
            </c:spPr>
            <c:extLst>
              <c:ext xmlns:c16="http://schemas.microsoft.com/office/drawing/2014/chart" uri="{C3380CC4-5D6E-409C-BE32-E72D297353CC}">
                <c16:uniqueId val="{0000000E-E3E9-4F67-B1F4-B64F81CA9048}"/>
              </c:ext>
            </c:extLst>
          </c:dPt>
          <c:dPt>
            <c:idx val="46"/>
            <c:invertIfNegative val="0"/>
            <c:bubble3D val="0"/>
            <c:spPr>
              <a:solidFill>
                <a:schemeClr val="accent5"/>
              </a:solidFill>
              <a:ln>
                <a:noFill/>
              </a:ln>
              <a:effectLst/>
            </c:spPr>
            <c:extLst>
              <c:ext xmlns:c16="http://schemas.microsoft.com/office/drawing/2014/chart" uri="{C3380CC4-5D6E-409C-BE32-E72D297353CC}">
                <c16:uniqueId val="{00000008-E3E9-4F67-B1F4-B64F81CA9048}"/>
              </c:ext>
            </c:extLst>
          </c:dPt>
          <c:dPt>
            <c:idx val="47"/>
            <c:invertIfNegative val="0"/>
            <c:bubble3D val="0"/>
            <c:spPr>
              <a:solidFill>
                <a:schemeClr val="accent5"/>
              </a:solidFill>
              <a:ln>
                <a:noFill/>
              </a:ln>
              <a:effectLst/>
            </c:spPr>
            <c:extLst>
              <c:ext xmlns:c16="http://schemas.microsoft.com/office/drawing/2014/chart" uri="{C3380CC4-5D6E-409C-BE32-E72D297353CC}">
                <c16:uniqueId val="{00000009-E3E9-4F67-B1F4-B64F81CA9048}"/>
              </c:ext>
            </c:extLst>
          </c:dPt>
          <c:dPt>
            <c:idx val="48"/>
            <c:invertIfNegative val="0"/>
            <c:bubble3D val="0"/>
            <c:spPr>
              <a:solidFill>
                <a:schemeClr val="accent5"/>
              </a:solidFill>
              <a:ln>
                <a:noFill/>
              </a:ln>
              <a:effectLst/>
            </c:spPr>
            <c:extLst>
              <c:ext xmlns:c16="http://schemas.microsoft.com/office/drawing/2014/chart" uri="{C3380CC4-5D6E-409C-BE32-E72D297353CC}">
                <c16:uniqueId val="{0000000A-E3E9-4F67-B1F4-B64F81CA9048}"/>
              </c:ext>
            </c:extLst>
          </c:dPt>
          <c:dPt>
            <c:idx val="49"/>
            <c:invertIfNegative val="0"/>
            <c:bubble3D val="0"/>
            <c:spPr>
              <a:solidFill>
                <a:schemeClr val="accent5"/>
              </a:solidFill>
              <a:ln>
                <a:noFill/>
              </a:ln>
              <a:effectLst/>
            </c:spPr>
            <c:extLst>
              <c:ext xmlns:c16="http://schemas.microsoft.com/office/drawing/2014/chart" uri="{C3380CC4-5D6E-409C-BE32-E72D297353CC}">
                <c16:uniqueId val="{0000000B-E3E9-4F67-B1F4-B64F81CA9048}"/>
              </c:ext>
            </c:extLst>
          </c:dPt>
          <c:dPt>
            <c:idx val="50"/>
            <c:invertIfNegative val="0"/>
            <c:bubble3D val="0"/>
            <c:spPr>
              <a:solidFill>
                <a:schemeClr val="accent5"/>
              </a:solidFill>
              <a:ln>
                <a:noFill/>
              </a:ln>
              <a:effectLst/>
            </c:spPr>
            <c:extLst>
              <c:ext xmlns:c16="http://schemas.microsoft.com/office/drawing/2014/chart" uri="{C3380CC4-5D6E-409C-BE32-E72D297353CC}">
                <c16:uniqueId val="{0000000C-E3E9-4F67-B1F4-B64F81CA9048}"/>
              </c:ext>
            </c:extLst>
          </c:dPt>
          <c:dPt>
            <c:idx val="51"/>
            <c:invertIfNegative val="0"/>
            <c:bubble3D val="0"/>
            <c:spPr>
              <a:solidFill>
                <a:schemeClr val="accent5"/>
              </a:solidFill>
              <a:ln>
                <a:noFill/>
              </a:ln>
              <a:effectLst/>
            </c:spPr>
            <c:extLst>
              <c:ext xmlns:c16="http://schemas.microsoft.com/office/drawing/2014/chart" uri="{C3380CC4-5D6E-409C-BE32-E72D297353CC}">
                <c16:uniqueId val="{0000000D-E3E9-4F67-B1F4-B64F81CA9048}"/>
              </c:ext>
            </c:extLst>
          </c:dPt>
          <c:dPt>
            <c:idx val="52"/>
            <c:invertIfNegative val="0"/>
            <c:bubble3D val="0"/>
            <c:spPr>
              <a:solidFill>
                <a:schemeClr val="accent5"/>
              </a:solidFill>
              <a:ln>
                <a:noFill/>
              </a:ln>
              <a:effectLst/>
            </c:spPr>
            <c:extLst>
              <c:ext xmlns:c16="http://schemas.microsoft.com/office/drawing/2014/chart" uri="{C3380CC4-5D6E-409C-BE32-E72D297353CC}">
                <c16:uniqueId val="{00000007-E3E9-4F67-B1F4-B64F81CA9048}"/>
              </c:ext>
            </c:extLst>
          </c:dPt>
          <c:dPt>
            <c:idx val="53"/>
            <c:invertIfNegative val="0"/>
            <c:bubble3D val="0"/>
            <c:spPr>
              <a:solidFill>
                <a:schemeClr val="accent5"/>
              </a:solidFill>
              <a:ln>
                <a:noFill/>
              </a:ln>
              <a:effectLst/>
            </c:spPr>
            <c:extLst>
              <c:ext xmlns:c16="http://schemas.microsoft.com/office/drawing/2014/chart" uri="{C3380CC4-5D6E-409C-BE32-E72D297353CC}">
                <c16:uniqueId val="{00000006-E3E9-4F67-B1F4-B64F81CA9048}"/>
              </c:ext>
            </c:extLst>
          </c:dPt>
          <c:dPt>
            <c:idx val="54"/>
            <c:invertIfNegative val="0"/>
            <c:bubble3D val="0"/>
            <c:spPr>
              <a:solidFill>
                <a:schemeClr val="accent5"/>
              </a:solidFill>
              <a:ln>
                <a:noFill/>
              </a:ln>
              <a:effectLst/>
            </c:spPr>
            <c:extLst>
              <c:ext xmlns:c16="http://schemas.microsoft.com/office/drawing/2014/chart" uri="{C3380CC4-5D6E-409C-BE32-E72D297353CC}">
                <c16:uniqueId val="{00000005-E3E9-4F67-B1F4-B64F81CA9048}"/>
              </c:ext>
            </c:extLst>
          </c:dPt>
          <c:dPt>
            <c:idx val="55"/>
            <c:invertIfNegative val="0"/>
            <c:bubble3D val="0"/>
            <c:spPr>
              <a:solidFill>
                <a:schemeClr val="accent5"/>
              </a:solidFill>
              <a:ln>
                <a:noFill/>
              </a:ln>
              <a:effectLst/>
            </c:spPr>
            <c:extLst>
              <c:ext xmlns:c16="http://schemas.microsoft.com/office/drawing/2014/chart" uri="{C3380CC4-5D6E-409C-BE32-E72D297353CC}">
                <c16:uniqueId val="{00000004-E3E9-4F67-B1F4-B64F81CA9048}"/>
              </c:ext>
            </c:extLst>
          </c:dPt>
          <c:dPt>
            <c:idx val="56"/>
            <c:invertIfNegative val="0"/>
            <c:bubble3D val="0"/>
            <c:spPr>
              <a:solidFill>
                <a:schemeClr val="accent5"/>
              </a:solidFill>
              <a:ln>
                <a:noFill/>
              </a:ln>
              <a:effectLst/>
            </c:spPr>
            <c:extLst>
              <c:ext xmlns:c16="http://schemas.microsoft.com/office/drawing/2014/chart" uri="{C3380CC4-5D6E-409C-BE32-E72D297353CC}">
                <c16:uniqueId val="{00000003-E3E9-4F67-B1F4-B64F81CA9048}"/>
              </c:ext>
            </c:extLst>
          </c:dPt>
          <c:dPt>
            <c:idx val="57"/>
            <c:invertIfNegative val="0"/>
            <c:bubble3D val="0"/>
            <c:spPr>
              <a:solidFill>
                <a:schemeClr val="accent5"/>
              </a:solidFill>
              <a:ln>
                <a:noFill/>
              </a:ln>
              <a:effectLst/>
            </c:spPr>
            <c:extLst>
              <c:ext xmlns:c16="http://schemas.microsoft.com/office/drawing/2014/chart" uri="{C3380CC4-5D6E-409C-BE32-E72D297353CC}">
                <c16:uniqueId val="{00000002-E3E9-4F67-B1F4-B64F81CA904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'EC - L&amp;MV Domestic'!$C$4:$D$61</c:f>
              <c:multiLvlStrCache>
                <c:ptCount val="58"/>
                <c:lvl>
                  <c:pt idx="0">
                    <c:v>WBSEDCL erstwhile DPL(Domestic) - 0-25 kWh</c:v>
                  </c:pt>
                  <c:pt idx="1">
                    <c:v>WBSEDCL erstwhile DPL(Domestic) - 26-50 kWh</c:v>
                  </c:pt>
                  <c:pt idx="2">
                    <c:v>WBSEDCL erstwhile DPL(Domestic) - 51-100 kWh</c:v>
                  </c:pt>
                  <c:pt idx="3">
                    <c:v>WBSEDCL erstwhile DPL(Domestic) - 101-200 kWh</c:v>
                  </c:pt>
                  <c:pt idx="4">
                    <c:v>WBSEDCL erstwhile DPL(Domestic) - 201-300 kWh</c:v>
                  </c:pt>
                  <c:pt idx="5">
                    <c:v>WBSEDCL erstwhile DPL(Domestic) - above 300 kWh</c:v>
                  </c:pt>
                  <c:pt idx="6">
                    <c:v>WBSEDCL(Domestic Rural) - 0-102 kWh</c:v>
                  </c:pt>
                  <c:pt idx="7">
                    <c:v>WBSEDCL(Domestic Rural) - 103-180 kWh</c:v>
                  </c:pt>
                  <c:pt idx="8">
                    <c:v>WBSEDCL(Domestic Rural) - 181-300 kWh</c:v>
                  </c:pt>
                  <c:pt idx="9">
                    <c:v>WBSEDCL(Domestic Rural) - 301-600 kWh</c:v>
                  </c:pt>
                  <c:pt idx="10">
                    <c:v>WBSEDCL(Domestic Rural) - 601-900 kWh</c:v>
                  </c:pt>
                  <c:pt idx="11">
                    <c:v>WBSEDCL(Domestic Rural) - Above 900 kWh</c:v>
                  </c:pt>
                  <c:pt idx="12">
                    <c:v>WBSEDCL(Domestic Urban) - 0-102 kWh</c:v>
                  </c:pt>
                  <c:pt idx="13">
                    <c:v>WBSEDCL(Domestic Urban) - 103-180 kWh</c:v>
                  </c:pt>
                  <c:pt idx="14">
                    <c:v>WBSEDCL(Domestic Urban) - 181-300 kWh</c:v>
                  </c:pt>
                  <c:pt idx="15">
                    <c:v>WBSEDCL(Domestic Urban) - 301-600 kWh</c:v>
                  </c:pt>
                  <c:pt idx="16">
                    <c:v>WBSEDCL(Domestic Urban) - 601-900 kWh</c:v>
                  </c:pt>
                  <c:pt idx="17">
                    <c:v>WBSEDCL(Domestic Urban) - Above 900 kWh</c:v>
                  </c:pt>
                  <c:pt idx="18">
                    <c:v>WBSEDCL(Domestic, above 50 kVA) - All Units</c:v>
                  </c:pt>
                  <c:pt idx="19">
                    <c:v>IPCL (Domestic) - 0-34 kWh</c:v>
                  </c:pt>
                  <c:pt idx="20">
                    <c:v>IPCL (Domestic) - 35-60 kWh</c:v>
                  </c:pt>
                  <c:pt idx="21">
                    <c:v>IPCL (Domestic) - 61-100 kWh</c:v>
                  </c:pt>
                  <c:pt idx="22">
                    <c:v>IPCL (Domestic) - 101-200 kWh</c:v>
                  </c:pt>
                  <c:pt idx="23">
                    <c:v>IPCL (Domestic) - 201-300 kWh</c:v>
                  </c:pt>
                  <c:pt idx="24">
                    <c:v>IPCL (Domestic) - Above 300 kWh</c:v>
                  </c:pt>
                  <c:pt idx="25">
                    <c:v>CESC (Domestic) - 0-25 kWh</c:v>
                  </c:pt>
                  <c:pt idx="26">
                    <c:v>CESC (Domestic) - 25-60 kWh</c:v>
                  </c:pt>
                  <c:pt idx="27">
                    <c:v>CESC (Domestic) - 61-100 kWh</c:v>
                  </c:pt>
                  <c:pt idx="28">
                    <c:v>CESC (Domestic) - 101-150 kWh</c:v>
                  </c:pt>
                  <c:pt idx="29">
                    <c:v>CESC (Domestic) - 151-200 kWh</c:v>
                  </c:pt>
                  <c:pt idx="30">
                    <c:v>CESC (Domestic) - 201-300 kWh</c:v>
                  </c:pt>
                  <c:pt idx="31">
                    <c:v>CESC (Domestic) - Above 300 kWh</c:v>
                  </c:pt>
                  <c:pt idx="32">
                    <c:v>TPDDL (0-2 kW connection)</c:v>
                  </c:pt>
                  <c:pt idx="33">
                    <c:v>TPDDL (2-5 kW connection)</c:v>
                  </c:pt>
                  <c:pt idx="34">
                    <c:v>TPDDL (5-15 kW connection)</c:v>
                  </c:pt>
                  <c:pt idx="35">
                    <c:v>BRPL (0-2 kW connection)</c:v>
                  </c:pt>
                  <c:pt idx="36">
                    <c:v>BRPL (2-5 kW connection)</c:v>
                  </c:pt>
                  <c:pt idx="37">
                    <c:v>BRPL (5-15 kW connection)</c:v>
                  </c:pt>
                  <c:pt idx="38">
                    <c:v>BESCOM Urban (0-1 kW)</c:v>
                  </c:pt>
                  <c:pt idx="39">
                    <c:v>BESCOM Urban (1-50 kW)</c:v>
                  </c:pt>
                  <c:pt idx="40">
                    <c:v>BESCOM Urban (above 50 kW)</c:v>
                  </c:pt>
                  <c:pt idx="41">
                    <c:v>BESCOM Rural (0-1 kW)</c:v>
                  </c:pt>
                  <c:pt idx="42">
                    <c:v>BESCOM Rural (1-50 kW)</c:v>
                  </c:pt>
                  <c:pt idx="43">
                    <c:v>BESCOM Rural (above 50 kW)</c:v>
                  </c:pt>
                  <c:pt idx="44">
                    <c:v>JBVNL LT Rural</c:v>
                  </c:pt>
                  <c:pt idx="45">
                    <c:v>JBVNL LT Urban</c:v>
                  </c:pt>
                  <c:pt idx="46">
                    <c:v>MAHADISCOM (LT Residential) 0-100 kWh</c:v>
                  </c:pt>
                  <c:pt idx="47">
                    <c:v>MAHADISCOM (LT Residential) 101-300 kWh</c:v>
                  </c:pt>
                  <c:pt idx="48">
                    <c:v>MAHADISCOM (LT Residential) 301-500 kWh</c:v>
                  </c:pt>
                  <c:pt idx="49">
                    <c:v>MAHADISCOM (LT Residential) Above 500 kWh, 3 Ph</c:v>
                  </c:pt>
                  <c:pt idx="50">
                    <c:v>Tata Power (LT Residential) 0-100 kWh</c:v>
                  </c:pt>
                  <c:pt idx="51">
                    <c:v>Tata Power (LT Residential) 101-300 kWh</c:v>
                  </c:pt>
                  <c:pt idx="52">
                    <c:v>Tata Power (LT Residential) 301-500 kWh</c:v>
                  </c:pt>
                  <c:pt idx="53">
                    <c:v>Tata Power (LT Residential) Above 500 kWh</c:v>
                  </c:pt>
                  <c:pt idx="54">
                    <c:v>Adani (LT Residential) 0-100 kWh</c:v>
                  </c:pt>
                  <c:pt idx="55">
                    <c:v>Adani (LT Residential) 101-300 kWh</c:v>
                  </c:pt>
                  <c:pt idx="56">
                    <c:v>Adani (LT Residential) 301-500 kWh</c:v>
                  </c:pt>
                  <c:pt idx="57">
                    <c:v>Adani (LT Residential) Above 500 kWh</c:v>
                  </c:pt>
                </c:lvl>
                <c:lvl>
                  <c:pt idx="0">
                    <c:v>West Bengal</c:v>
                  </c:pt>
                  <c:pt idx="32">
                    <c:v>Delhi</c:v>
                  </c:pt>
                  <c:pt idx="38">
                    <c:v>KTK</c:v>
                  </c:pt>
                  <c:pt idx="44">
                    <c:v>JH</c:v>
                  </c:pt>
                  <c:pt idx="46">
                    <c:v>Maharashtra</c:v>
                  </c:pt>
                </c:lvl>
              </c:multiLvlStrCache>
            </c:multiLvlStrRef>
          </c:cat>
          <c:val>
            <c:numRef>
              <c:f>'EC - L&amp;MV Domestic'!$E$4:$E$61</c:f>
              <c:numCache>
                <c:formatCode>General</c:formatCode>
                <c:ptCount val="58"/>
                <c:pt idx="0">
                  <c:v>345</c:v>
                </c:pt>
                <c:pt idx="1">
                  <c:v>420</c:v>
                </c:pt>
                <c:pt idx="2">
                  <c:v>435</c:v>
                </c:pt>
                <c:pt idx="3">
                  <c:v>467</c:v>
                </c:pt>
                <c:pt idx="4">
                  <c:v>486</c:v>
                </c:pt>
                <c:pt idx="5">
                  <c:v>499</c:v>
                </c:pt>
                <c:pt idx="6">
                  <c:v>549</c:v>
                </c:pt>
                <c:pt idx="7">
                  <c:v>609</c:v>
                </c:pt>
                <c:pt idx="8">
                  <c:v>696</c:v>
                </c:pt>
                <c:pt idx="9">
                  <c:v>746</c:v>
                </c:pt>
                <c:pt idx="10">
                  <c:v>755</c:v>
                </c:pt>
                <c:pt idx="11">
                  <c:v>922</c:v>
                </c:pt>
                <c:pt idx="12">
                  <c:v>553</c:v>
                </c:pt>
                <c:pt idx="13">
                  <c:v>620</c:v>
                </c:pt>
                <c:pt idx="14">
                  <c:v>720</c:v>
                </c:pt>
                <c:pt idx="15">
                  <c:v>754</c:v>
                </c:pt>
                <c:pt idx="16">
                  <c:v>781</c:v>
                </c:pt>
                <c:pt idx="17">
                  <c:v>922</c:v>
                </c:pt>
                <c:pt idx="18">
                  <c:v>707</c:v>
                </c:pt>
                <c:pt idx="19">
                  <c:v>349</c:v>
                </c:pt>
                <c:pt idx="20">
                  <c:v>408</c:v>
                </c:pt>
                <c:pt idx="21">
                  <c:v>507</c:v>
                </c:pt>
                <c:pt idx="22">
                  <c:v>526</c:v>
                </c:pt>
                <c:pt idx="23">
                  <c:v>550</c:v>
                </c:pt>
                <c:pt idx="24">
                  <c:v>579</c:v>
                </c:pt>
                <c:pt idx="25">
                  <c:v>518</c:v>
                </c:pt>
                <c:pt idx="26">
                  <c:v>569</c:v>
                </c:pt>
                <c:pt idx="27">
                  <c:v>670</c:v>
                </c:pt>
                <c:pt idx="28">
                  <c:v>745</c:v>
                </c:pt>
                <c:pt idx="29">
                  <c:v>762</c:v>
                </c:pt>
                <c:pt idx="30">
                  <c:v>762</c:v>
                </c:pt>
                <c:pt idx="31">
                  <c:v>921</c:v>
                </c:pt>
                <c:pt idx="32">
                  <c:v>300</c:v>
                </c:pt>
                <c:pt idx="33">
                  <c:v>450</c:v>
                </c:pt>
                <c:pt idx="34">
                  <c:v>650</c:v>
                </c:pt>
                <c:pt idx="35">
                  <c:v>300</c:v>
                </c:pt>
                <c:pt idx="36">
                  <c:v>450</c:v>
                </c:pt>
                <c:pt idx="37">
                  <c:v>650</c:v>
                </c:pt>
                <c:pt idx="38">
                  <c:v>555</c:v>
                </c:pt>
                <c:pt idx="39">
                  <c:v>710</c:v>
                </c:pt>
                <c:pt idx="40">
                  <c:v>815</c:v>
                </c:pt>
                <c:pt idx="41">
                  <c:v>525</c:v>
                </c:pt>
                <c:pt idx="42">
                  <c:v>680</c:v>
                </c:pt>
                <c:pt idx="43">
                  <c:v>765</c:v>
                </c:pt>
                <c:pt idx="44">
                  <c:v>575</c:v>
                </c:pt>
                <c:pt idx="45">
                  <c:v>625</c:v>
                </c:pt>
                <c:pt idx="46">
                  <c:v>336</c:v>
                </c:pt>
                <c:pt idx="47">
                  <c:v>734</c:v>
                </c:pt>
                <c:pt idx="48">
                  <c:v>1037</c:v>
                </c:pt>
                <c:pt idx="49">
                  <c:v>1186</c:v>
                </c:pt>
                <c:pt idx="50">
                  <c:v>235</c:v>
                </c:pt>
                <c:pt idx="51">
                  <c:v>385</c:v>
                </c:pt>
                <c:pt idx="52">
                  <c:v>599</c:v>
                </c:pt>
                <c:pt idx="53">
                  <c:v>670</c:v>
                </c:pt>
                <c:pt idx="54">
                  <c:v>305</c:v>
                </c:pt>
                <c:pt idx="55">
                  <c:v>500</c:v>
                </c:pt>
                <c:pt idx="56">
                  <c:v>670</c:v>
                </c:pt>
                <c:pt idx="57">
                  <c:v>780</c:v>
                </c:pt>
              </c:numCache>
            </c:numRef>
          </c:val>
          <c:extLst>
            <c:ext xmlns:c16="http://schemas.microsoft.com/office/drawing/2014/chart" uri="{C3380CC4-5D6E-409C-BE32-E72D297353CC}">
              <c16:uniqueId val="{00000000-E3E9-4F67-B1F4-B64F81CA9048}"/>
            </c:ext>
          </c:extLst>
        </c:ser>
        <c:dLbls>
          <c:showLegendKey val="0"/>
          <c:showVal val="0"/>
          <c:showCatName val="0"/>
          <c:showSerName val="0"/>
          <c:showPercent val="0"/>
          <c:showBubbleSize val="0"/>
        </c:dLbls>
        <c:gapWidth val="219"/>
        <c:overlap val="-27"/>
        <c:axId val="1194369823"/>
        <c:axId val="1194370239"/>
      </c:barChart>
      <c:catAx>
        <c:axId val="1194369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4370239"/>
        <c:crosses val="autoZero"/>
        <c:auto val="1"/>
        <c:lblAlgn val="ctr"/>
        <c:lblOffset val="100"/>
        <c:noMultiLvlLbl val="0"/>
      </c:catAx>
      <c:valAx>
        <c:axId val="1194370239"/>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943698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lumMod val="85000"/>
          <a:lumOff val="15000"/>
        </a:schemeClr>
      </a:solidFill>
    </a:ln>
    <a:effectLst/>
  </c:spPr>
  <c:txPr>
    <a:bodyPr/>
    <a:lstStyle/>
    <a:p>
      <a:pPr>
        <a:defRPr/>
      </a:pPr>
      <a:endParaRPr lang="en-US"/>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dirty="0">
                <a:latin typeface="Verdana" panose="020B0604030504040204" pitchFamily="34" charset="0"/>
                <a:ea typeface="Verdana" panose="020B0604030504040204" pitchFamily="34" charset="0"/>
              </a:rPr>
              <a:t>HV &amp;</a:t>
            </a:r>
            <a:r>
              <a:rPr lang="en-US" sz="2000" b="1" baseline="0" dirty="0">
                <a:latin typeface="Verdana" panose="020B0604030504040204" pitchFamily="34" charset="0"/>
                <a:ea typeface="Verdana" panose="020B0604030504040204" pitchFamily="34" charset="0"/>
              </a:rPr>
              <a:t> EHV Domestic Energy Charge Rate Comparison (Paisa/kWh)</a:t>
            </a:r>
            <a:endParaRPr lang="en-US" sz="2000" b="1" dirty="0">
              <a:latin typeface="Verdana" panose="020B0604030504040204" pitchFamily="34" charset="0"/>
              <a:ea typeface="Verdana" panose="020B060403050404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4"/>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2-1FE3-431D-AAA5-5A4B0BE72302}"/>
              </c:ext>
            </c:extLst>
          </c:dPt>
          <c:dPt>
            <c:idx val="5"/>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3-1FE3-431D-AAA5-5A4B0BE72302}"/>
              </c:ext>
            </c:extLst>
          </c:dPt>
          <c:dPt>
            <c:idx val="6"/>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4-1FE3-431D-AAA5-5A4B0BE72302}"/>
              </c:ext>
            </c:extLst>
          </c:dPt>
          <c:dPt>
            <c:idx val="7"/>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5-1FE3-431D-AAA5-5A4B0BE72302}"/>
              </c:ext>
            </c:extLst>
          </c:dPt>
          <c:dPt>
            <c:idx val="8"/>
            <c:invertIfNegative val="0"/>
            <c:bubble3D val="0"/>
            <c:spPr>
              <a:solidFill>
                <a:srgbClr val="FFCD00"/>
              </a:solidFill>
              <a:ln>
                <a:noFill/>
              </a:ln>
              <a:effectLst/>
            </c:spPr>
            <c:extLst>
              <c:ext xmlns:c16="http://schemas.microsoft.com/office/drawing/2014/chart" uri="{C3380CC4-5D6E-409C-BE32-E72D297353CC}">
                <c16:uniqueId val="{00000006-1FE3-431D-AAA5-5A4B0BE72302}"/>
              </c:ext>
            </c:extLst>
          </c:dPt>
          <c:dPt>
            <c:idx val="9"/>
            <c:invertIfNegative val="0"/>
            <c:bubble3D val="0"/>
            <c:spPr>
              <a:solidFill>
                <a:srgbClr val="009A44"/>
              </a:solidFill>
              <a:ln>
                <a:noFill/>
              </a:ln>
              <a:effectLst/>
            </c:spPr>
            <c:extLst>
              <c:ext xmlns:c16="http://schemas.microsoft.com/office/drawing/2014/chart" uri="{C3380CC4-5D6E-409C-BE32-E72D297353CC}">
                <c16:uniqueId val="{00000007-1FE3-431D-AAA5-5A4B0BE72302}"/>
              </c:ext>
            </c:extLst>
          </c:dPt>
          <c:dPt>
            <c:idx val="10"/>
            <c:invertIfNegative val="0"/>
            <c:bubble3D val="0"/>
            <c:spPr>
              <a:solidFill>
                <a:schemeClr val="accent5"/>
              </a:solidFill>
              <a:ln>
                <a:noFill/>
              </a:ln>
              <a:effectLst/>
            </c:spPr>
            <c:extLst>
              <c:ext xmlns:c16="http://schemas.microsoft.com/office/drawing/2014/chart" uri="{C3380CC4-5D6E-409C-BE32-E72D297353CC}">
                <c16:uniqueId val="{00000008-1FE3-431D-AAA5-5A4B0BE72302}"/>
              </c:ext>
            </c:extLst>
          </c:dPt>
          <c:dPt>
            <c:idx val="11"/>
            <c:invertIfNegative val="0"/>
            <c:bubble3D val="0"/>
            <c:spPr>
              <a:solidFill>
                <a:schemeClr val="accent5"/>
              </a:solidFill>
              <a:ln>
                <a:noFill/>
              </a:ln>
              <a:effectLst/>
            </c:spPr>
            <c:extLst>
              <c:ext xmlns:c16="http://schemas.microsoft.com/office/drawing/2014/chart" uri="{C3380CC4-5D6E-409C-BE32-E72D297353CC}">
                <c16:uniqueId val="{00000009-1FE3-431D-AAA5-5A4B0BE72302}"/>
              </c:ext>
            </c:extLst>
          </c:dPt>
          <c:dPt>
            <c:idx val="12"/>
            <c:invertIfNegative val="0"/>
            <c:bubble3D val="0"/>
            <c:spPr>
              <a:solidFill>
                <a:schemeClr val="accent5"/>
              </a:solidFill>
              <a:ln>
                <a:noFill/>
              </a:ln>
              <a:effectLst/>
            </c:spPr>
            <c:extLst>
              <c:ext xmlns:c16="http://schemas.microsoft.com/office/drawing/2014/chart" uri="{C3380CC4-5D6E-409C-BE32-E72D297353CC}">
                <c16:uniqueId val="{0000000A-1FE3-431D-AAA5-5A4B0BE72302}"/>
              </c:ext>
            </c:extLst>
          </c:dPt>
          <c:dPt>
            <c:idx val="13"/>
            <c:invertIfNegative val="0"/>
            <c:bubble3D val="0"/>
            <c:spPr>
              <a:solidFill>
                <a:schemeClr val="accent5"/>
              </a:solidFill>
              <a:ln>
                <a:noFill/>
              </a:ln>
              <a:effectLst/>
            </c:spPr>
            <c:extLst>
              <c:ext xmlns:c16="http://schemas.microsoft.com/office/drawing/2014/chart" uri="{C3380CC4-5D6E-409C-BE32-E72D297353CC}">
                <c16:uniqueId val="{0000000B-1FE3-431D-AAA5-5A4B0BE72302}"/>
              </c:ext>
            </c:extLst>
          </c:dPt>
          <c:dPt>
            <c:idx val="14"/>
            <c:invertIfNegative val="0"/>
            <c:bubble3D val="0"/>
            <c:spPr>
              <a:solidFill>
                <a:schemeClr val="accent5"/>
              </a:solidFill>
              <a:ln>
                <a:noFill/>
              </a:ln>
              <a:effectLst/>
            </c:spPr>
            <c:extLst>
              <c:ext xmlns:c16="http://schemas.microsoft.com/office/drawing/2014/chart" uri="{C3380CC4-5D6E-409C-BE32-E72D297353CC}">
                <c16:uniqueId val="{0000000C-1FE3-431D-AAA5-5A4B0BE7230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'EC - H&amp;EHV Domestic'!$E$6:$F$20</c:f>
              <c:multiLvlStrCache>
                <c:ptCount val="15"/>
                <c:lvl>
                  <c:pt idx="0">
                    <c:v>WBSEDCL erstwhile DPL - All Units</c:v>
                  </c:pt>
                  <c:pt idx="1">
                    <c:v>WBSEDCL - All Units</c:v>
                  </c:pt>
                  <c:pt idx="2">
                    <c:v>IPCL- All Units</c:v>
                  </c:pt>
                  <c:pt idx="3">
                    <c:v>CESC- All Units</c:v>
                  </c:pt>
                  <c:pt idx="4">
                    <c:v>TPDDL (15-25 kW connection)</c:v>
                  </c:pt>
                  <c:pt idx="5">
                    <c:v>TPDDL (above 25 kW connection)</c:v>
                  </c:pt>
                  <c:pt idx="6">
                    <c:v>BRPL (15-25 kW connection)</c:v>
                  </c:pt>
                  <c:pt idx="7">
                    <c:v>BRPL (above 25 kW connection)</c:v>
                  </c:pt>
                  <c:pt idx="8">
                    <c:v>BESCOM HT</c:v>
                  </c:pt>
                  <c:pt idx="9">
                    <c:v>JBVNL Domestic Paisa/kVah</c:v>
                  </c:pt>
                  <c:pt idx="10">
                    <c:v>MAHADISCOM (HT) - Group Housing Society</c:v>
                  </c:pt>
                  <c:pt idx="11">
                    <c:v>MAHADISCOM (EHV) - Group Housing Society</c:v>
                  </c:pt>
                  <c:pt idx="12">
                    <c:v>Tata Power - Group Housing Society</c:v>
                  </c:pt>
                  <c:pt idx="13">
                    <c:v>Adani - All units</c:v>
                  </c:pt>
                  <c:pt idx="14">
                    <c:v>Adani - Group Housing Society</c:v>
                  </c:pt>
                </c:lvl>
                <c:lvl>
                  <c:pt idx="0">
                    <c:v>West Bengal</c:v>
                  </c:pt>
                  <c:pt idx="4">
                    <c:v>Delhi</c:v>
                  </c:pt>
                  <c:pt idx="8">
                    <c:v>Karnataka</c:v>
                  </c:pt>
                  <c:pt idx="9">
                    <c:v>JH</c:v>
                  </c:pt>
                  <c:pt idx="10">
                    <c:v>Maharashtra</c:v>
                  </c:pt>
                </c:lvl>
              </c:multiLvlStrCache>
            </c:multiLvlStrRef>
          </c:cat>
          <c:val>
            <c:numRef>
              <c:f>'EC - H&amp;EHV Domestic'!$G$6:$G$20</c:f>
              <c:numCache>
                <c:formatCode>General</c:formatCode>
                <c:ptCount val="15"/>
                <c:pt idx="0">
                  <c:v>463</c:v>
                </c:pt>
                <c:pt idx="1">
                  <c:v>749</c:v>
                </c:pt>
                <c:pt idx="2">
                  <c:v>556</c:v>
                </c:pt>
                <c:pt idx="3">
                  <c:v>739</c:v>
                </c:pt>
                <c:pt idx="4">
                  <c:v>700</c:v>
                </c:pt>
                <c:pt idx="5">
                  <c:v>800</c:v>
                </c:pt>
                <c:pt idx="6">
                  <c:v>700</c:v>
                </c:pt>
                <c:pt idx="7">
                  <c:v>800</c:v>
                </c:pt>
                <c:pt idx="8">
                  <c:v>705</c:v>
                </c:pt>
                <c:pt idx="9">
                  <c:v>600</c:v>
                </c:pt>
                <c:pt idx="10">
                  <c:v>570</c:v>
                </c:pt>
                <c:pt idx="11">
                  <c:v>570</c:v>
                </c:pt>
                <c:pt idx="12">
                  <c:v>553</c:v>
                </c:pt>
                <c:pt idx="13">
                  <c:v>585</c:v>
                </c:pt>
                <c:pt idx="14">
                  <c:v>599</c:v>
                </c:pt>
              </c:numCache>
            </c:numRef>
          </c:val>
          <c:extLst>
            <c:ext xmlns:c16="http://schemas.microsoft.com/office/drawing/2014/chart" uri="{C3380CC4-5D6E-409C-BE32-E72D297353CC}">
              <c16:uniqueId val="{00000000-1FE3-431D-AAA5-5A4B0BE72302}"/>
            </c:ext>
          </c:extLst>
        </c:ser>
        <c:dLbls>
          <c:showLegendKey val="0"/>
          <c:showVal val="0"/>
          <c:showCatName val="0"/>
          <c:showSerName val="0"/>
          <c:showPercent val="0"/>
          <c:showBubbleSize val="0"/>
        </c:dLbls>
        <c:gapWidth val="219"/>
        <c:overlap val="-27"/>
        <c:axId val="1156832991"/>
        <c:axId val="1156840479"/>
      </c:barChart>
      <c:catAx>
        <c:axId val="1156832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1156840479"/>
        <c:crosses val="autoZero"/>
        <c:auto val="1"/>
        <c:lblAlgn val="ctr"/>
        <c:lblOffset val="100"/>
        <c:noMultiLvlLbl val="0"/>
      </c:catAx>
      <c:valAx>
        <c:axId val="1156840479"/>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5683299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lumMod val="85000"/>
          <a:lumOff val="15000"/>
        </a:schemeClr>
      </a:solidFill>
    </a:ln>
    <a:effectLst/>
  </c:spPr>
  <c:txPr>
    <a:bodyPr/>
    <a:lstStyle/>
    <a:p>
      <a:pPr>
        <a:defRPr/>
      </a:pPr>
      <a:endParaRPr lang="en-US"/>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Sheet1!$E$3</c:f>
              <c:strCache>
                <c:ptCount val="1"/>
                <c:pt idx="0">
                  <c:v>No. of FIRs</c:v>
                </c:pt>
              </c:strCache>
            </c:strRef>
          </c:tx>
          <c:spPr>
            <a:solidFill>
              <a:srgbClr val="009A44"/>
            </a:solidFill>
            <a:ln>
              <a:noFill/>
            </a:ln>
            <a:effectLst/>
          </c:spPr>
          <c:invertIfNegative val="0"/>
          <c:dLbls>
            <c:dLbl>
              <c:idx val="0"/>
              <c:layout>
                <c:manualLayout>
                  <c:x val="-2.1014662024934877E-2"/>
                  <c:y val="-7.679842955145448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4E1-4B72-B8F4-ECD1878FFFDF}"/>
                </c:ext>
              </c:extLst>
            </c:dLbl>
            <c:dLbl>
              <c:idx val="1"/>
              <c:layout>
                <c:manualLayout>
                  <c:x val="-6.7321838320862595E-2"/>
                  <c:y val="-9.599803693931811E-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4E1-4B72-B8F4-ECD1878FFFDF}"/>
                </c:ext>
              </c:extLst>
            </c:dLbl>
            <c:dLbl>
              <c:idx val="2"/>
              <c:layout>
                <c:manualLayout>
                  <c:x val="-2.6928735328345079E-2"/>
                  <c:y val="2.5134321840043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4E1-4B72-B8F4-ECD1878FFFDF}"/>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Sheet1!$D$4:$D$7</c:f>
              <c:numCache>
                <c:formatCode>General</c:formatCode>
                <c:ptCount val="4"/>
                <c:pt idx="0">
                  <c:v>2017</c:v>
                </c:pt>
                <c:pt idx="1">
                  <c:v>2018</c:v>
                </c:pt>
                <c:pt idx="2">
                  <c:v>2019</c:v>
                </c:pt>
                <c:pt idx="3">
                  <c:v>2020</c:v>
                </c:pt>
              </c:numCache>
            </c:numRef>
          </c:cat>
          <c:val>
            <c:numRef>
              <c:f>Sheet1!$E$4:$E$7</c:f>
              <c:numCache>
                <c:formatCode>General</c:formatCode>
                <c:ptCount val="4"/>
                <c:pt idx="0">
                  <c:v>113341</c:v>
                </c:pt>
                <c:pt idx="1">
                  <c:v>174414</c:v>
                </c:pt>
                <c:pt idx="2">
                  <c:v>100820</c:v>
                </c:pt>
                <c:pt idx="3">
                  <c:v>176007</c:v>
                </c:pt>
              </c:numCache>
            </c:numRef>
          </c:val>
          <c:extLst>
            <c:ext xmlns:c16="http://schemas.microsoft.com/office/drawing/2014/chart" uri="{C3380CC4-5D6E-409C-BE32-E72D297353CC}">
              <c16:uniqueId val="{00000003-34E1-4B72-B8F4-ECD1878FFFDF}"/>
            </c:ext>
          </c:extLst>
        </c:ser>
        <c:ser>
          <c:idx val="1"/>
          <c:order val="1"/>
          <c:tx>
            <c:strRef>
              <c:f>Sheet1!$F$3</c:f>
              <c:strCache>
                <c:ptCount val="1"/>
                <c:pt idx="0">
                  <c:v>No. of Cases disposed off</c:v>
                </c:pt>
              </c:strCache>
            </c:strRef>
          </c:tx>
          <c:spPr>
            <a:solidFill>
              <a:srgbClr val="FFC000"/>
            </a:solidFill>
            <a:ln>
              <a:noFill/>
            </a:ln>
            <a:effectLst/>
          </c:spPr>
          <c:invertIfNegative val="0"/>
          <c:dLbls>
            <c:dLbl>
              <c:idx val="0"/>
              <c:layout>
                <c:manualLayout>
                  <c:x val="1.1220306386810432E-2"/>
                  <c:y val="-7.95920191601376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E1-4B72-B8F4-ECD1878FFFDF}"/>
                </c:ext>
              </c:extLst>
            </c:dLbl>
            <c:dLbl>
              <c:idx val="1"/>
              <c:layout>
                <c:manualLayout>
                  <c:x val="4.0393102992517554E-2"/>
                  <c:y val="-4.18905364000724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4E1-4B72-B8F4-ECD1878FFFDF}"/>
                </c:ext>
              </c:extLst>
            </c:dLbl>
            <c:dLbl>
              <c:idx val="2"/>
              <c:layout>
                <c:manualLayout>
                  <c:x val="8.9762451094483053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4E1-4B72-B8F4-ECD1878FFFDF}"/>
                </c:ext>
              </c:extLst>
            </c:dLbl>
            <c:dLbl>
              <c:idx val="3"/>
              <c:layout>
                <c:manualLayout>
                  <c:x val="2.0196551496258777E-2"/>
                  <c:y val="-3.35124291200579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4E1-4B72-B8F4-ECD1878FFFDF}"/>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Sheet1!$D$4:$D$7</c:f>
              <c:numCache>
                <c:formatCode>General</c:formatCode>
                <c:ptCount val="4"/>
                <c:pt idx="0">
                  <c:v>2017</c:v>
                </c:pt>
                <c:pt idx="1">
                  <c:v>2018</c:v>
                </c:pt>
                <c:pt idx="2">
                  <c:v>2019</c:v>
                </c:pt>
                <c:pt idx="3">
                  <c:v>2020</c:v>
                </c:pt>
              </c:numCache>
            </c:numRef>
          </c:cat>
          <c:val>
            <c:numRef>
              <c:f>Sheet1!$F$4:$F$7</c:f>
              <c:numCache>
                <c:formatCode>General</c:formatCode>
                <c:ptCount val="4"/>
                <c:pt idx="0">
                  <c:v>113316</c:v>
                </c:pt>
                <c:pt idx="1">
                  <c:v>174285</c:v>
                </c:pt>
                <c:pt idx="2">
                  <c:v>72458</c:v>
                </c:pt>
                <c:pt idx="3">
                  <c:v>22774</c:v>
                </c:pt>
              </c:numCache>
            </c:numRef>
          </c:val>
          <c:extLst>
            <c:ext xmlns:c16="http://schemas.microsoft.com/office/drawing/2014/chart" uri="{C3380CC4-5D6E-409C-BE32-E72D297353CC}">
              <c16:uniqueId val="{00000008-34E1-4B72-B8F4-ECD1878FFFDF}"/>
            </c:ext>
          </c:extLst>
        </c:ser>
        <c:ser>
          <c:idx val="2"/>
          <c:order val="2"/>
          <c:tx>
            <c:strRef>
              <c:f>Sheet1!$G$3</c:f>
              <c:strCache>
                <c:ptCount val="1"/>
                <c:pt idx="0">
                  <c:v>No. of charge sheet submitted</c:v>
                </c:pt>
              </c:strCache>
            </c:strRef>
          </c:tx>
          <c:spPr>
            <a:solidFill>
              <a:schemeClr val="tx1">
                <a:lumMod val="75000"/>
                <a:lumOff val="25000"/>
              </a:schemeClr>
            </a:solidFill>
            <a:ln>
              <a:noFill/>
            </a:ln>
            <a:effectLst/>
          </c:spPr>
          <c:invertIfNegative val="0"/>
          <c:dLbls>
            <c:dLbl>
              <c:idx val="1"/>
              <c:layout>
                <c:manualLayout>
                  <c:x val="2.9172796605707124E-2"/>
                  <c:y val="-5.445769732009416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4E1-4B72-B8F4-ECD1878FFFDF}"/>
                </c:ext>
              </c:extLst>
            </c:dLbl>
            <c:dLbl>
              <c:idx val="2"/>
              <c:layout>
                <c:manualLayout>
                  <c:x val="3.3660919160431298E-2"/>
                  <c:y val="-8.378107280014486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4E1-4B72-B8F4-ECD1878FFFDF}"/>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Sheet1!$D$4:$D$7</c:f>
              <c:numCache>
                <c:formatCode>General</c:formatCode>
                <c:ptCount val="4"/>
                <c:pt idx="0">
                  <c:v>2017</c:v>
                </c:pt>
                <c:pt idx="1">
                  <c:v>2018</c:v>
                </c:pt>
                <c:pt idx="2">
                  <c:v>2019</c:v>
                </c:pt>
                <c:pt idx="3">
                  <c:v>2020</c:v>
                </c:pt>
              </c:numCache>
            </c:numRef>
          </c:cat>
          <c:val>
            <c:numRef>
              <c:f>Sheet1!$G$4:$G$7</c:f>
              <c:numCache>
                <c:formatCode>General</c:formatCode>
                <c:ptCount val="4"/>
                <c:pt idx="0">
                  <c:v>76192</c:v>
                </c:pt>
                <c:pt idx="1">
                  <c:v>119425</c:v>
                </c:pt>
                <c:pt idx="2">
                  <c:v>49863</c:v>
                </c:pt>
                <c:pt idx="3">
                  <c:v>990</c:v>
                </c:pt>
              </c:numCache>
            </c:numRef>
          </c:val>
          <c:extLst>
            <c:ext xmlns:c16="http://schemas.microsoft.com/office/drawing/2014/chart" uri="{C3380CC4-5D6E-409C-BE32-E72D297353CC}">
              <c16:uniqueId val="{0000000B-34E1-4B72-B8F4-ECD1878FFFDF}"/>
            </c:ext>
          </c:extLst>
        </c:ser>
        <c:ser>
          <c:idx val="4"/>
          <c:order val="4"/>
          <c:tx>
            <c:strRef>
              <c:f>Sheet1!$I$3</c:f>
              <c:strCache>
                <c:ptCount val="1"/>
                <c:pt idx="0">
                  <c:v>No. of Final Report submitted </c:v>
                </c:pt>
              </c:strCache>
            </c:strRef>
          </c:tx>
          <c:spPr>
            <a:solidFill>
              <a:schemeClr val="accent5"/>
            </a:solidFill>
            <a:ln>
              <a:noFill/>
            </a:ln>
            <a:effectLst/>
          </c:spPr>
          <c:invertIfNegative val="0"/>
          <c:dLbls>
            <c:dLbl>
              <c:idx val="1"/>
              <c:layout>
                <c:manualLayout>
                  <c:x val="3.3660919160431298E-2"/>
                  <c:y val="0.125671609200217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4E1-4B72-B8F4-ECD1878FFFDF}"/>
                </c:ext>
              </c:extLst>
            </c:dLbl>
            <c:dLbl>
              <c:idx val="2"/>
              <c:layout>
                <c:manualLayout>
                  <c:x val="1.7952490218896694E-2"/>
                  <c:y val="4.189053640007089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4E1-4B72-B8F4-ECD1878FFFDF}"/>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Sheet1!$D$4:$D$7</c:f>
              <c:numCache>
                <c:formatCode>General</c:formatCode>
                <c:ptCount val="4"/>
                <c:pt idx="0">
                  <c:v>2017</c:v>
                </c:pt>
                <c:pt idx="1">
                  <c:v>2018</c:v>
                </c:pt>
                <c:pt idx="2">
                  <c:v>2019</c:v>
                </c:pt>
                <c:pt idx="3">
                  <c:v>2020</c:v>
                </c:pt>
              </c:numCache>
            </c:numRef>
          </c:cat>
          <c:val>
            <c:numRef>
              <c:f>Sheet1!$I$4:$I$7</c:f>
              <c:numCache>
                <c:formatCode>General</c:formatCode>
                <c:ptCount val="4"/>
                <c:pt idx="0">
                  <c:v>37124</c:v>
                </c:pt>
                <c:pt idx="1">
                  <c:v>54860</c:v>
                </c:pt>
                <c:pt idx="2">
                  <c:v>22595</c:v>
                </c:pt>
                <c:pt idx="3">
                  <c:v>21784</c:v>
                </c:pt>
              </c:numCache>
            </c:numRef>
          </c:val>
          <c:extLst>
            <c:ext xmlns:c16="http://schemas.microsoft.com/office/drawing/2014/chart" uri="{C3380CC4-5D6E-409C-BE32-E72D297353CC}">
              <c16:uniqueId val="{0000000E-34E1-4B72-B8F4-ECD1878FFFDF}"/>
            </c:ext>
          </c:extLst>
        </c:ser>
        <c:dLbls>
          <c:showLegendKey val="0"/>
          <c:showVal val="0"/>
          <c:showCatName val="0"/>
          <c:showSerName val="0"/>
          <c:showPercent val="0"/>
          <c:showBubbleSize val="0"/>
        </c:dLbls>
        <c:gapWidth val="150"/>
        <c:axId val="740386959"/>
        <c:axId val="740388623"/>
      </c:barChart>
      <c:lineChart>
        <c:grouping val="standard"/>
        <c:varyColors val="0"/>
        <c:ser>
          <c:idx val="3"/>
          <c:order val="3"/>
          <c:tx>
            <c:strRef>
              <c:f>Sheet1!$H$3</c:f>
              <c:strCache>
                <c:ptCount val="1"/>
                <c:pt idx="0">
                  <c:v>% of cases disposed off resulting in charge sheet</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dLbl>
              <c:idx val="0"/>
              <c:layout>
                <c:manualLayout>
                  <c:x val="-1.1220306386810432E-2"/>
                  <c:y val="-4.18905364000724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4E1-4B72-B8F4-ECD1878FFFDF}"/>
                </c:ext>
              </c:extLst>
            </c:dLbl>
            <c:dLbl>
              <c:idx val="1"/>
              <c:layout>
                <c:manualLayout>
                  <c:x val="-1.1220306386810432E-2"/>
                  <c:y val="-5.86467509601014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34E1-4B72-B8F4-ECD1878FFFDF}"/>
                </c:ext>
              </c:extLst>
            </c:dLbl>
            <c:dLbl>
              <c:idx val="3"/>
              <c:layout>
                <c:manualLayout>
                  <c:x val="1.7952490218896694E-2"/>
                  <c:y val="7.54029655201303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4E1-4B72-B8F4-ECD1878FFFDF}"/>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Sheet1!$D$4:$D$7</c:f>
              <c:numCache>
                <c:formatCode>General</c:formatCode>
                <c:ptCount val="4"/>
                <c:pt idx="0">
                  <c:v>2017</c:v>
                </c:pt>
                <c:pt idx="1">
                  <c:v>2018</c:v>
                </c:pt>
                <c:pt idx="2">
                  <c:v>2019</c:v>
                </c:pt>
                <c:pt idx="3">
                  <c:v>2020</c:v>
                </c:pt>
              </c:numCache>
            </c:numRef>
          </c:cat>
          <c:val>
            <c:numRef>
              <c:f>Sheet1!$H$4:$H$7</c:f>
              <c:numCache>
                <c:formatCode>0.00%</c:formatCode>
                <c:ptCount val="4"/>
                <c:pt idx="0">
                  <c:v>0.67230000000000001</c:v>
                </c:pt>
                <c:pt idx="1">
                  <c:v>0.68520000000000003</c:v>
                </c:pt>
                <c:pt idx="2">
                  <c:v>0.68810000000000004</c:v>
                </c:pt>
                <c:pt idx="3">
                  <c:v>4.3499999999999997E-2</c:v>
                </c:pt>
              </c:numCache>
            </c:numRef>
          </c:val>
          <c:smooth val="0"/>
          <c:extLst>
            <c:ext xmlns:c16="http://schemas.microsoft.com/office/drawing/2014/chart" uri="{C3380CC4-5D6E-409C-BE32-E72D297353CC}">
              <c16:uniqueId val="{00000012-34E1-4B72-B8F4-ECD1878FFFDF}"/>
            </c:ext>
          </c:extLst>
        </c:ser>
        <c:ser>
          <c:idx val="5"/>
          <c:order val="5"/>
          <c:tx>
            <c:strRef>
              <c:f>Sheet1!$J$3</c:f>
              <c:strCache>
                <c:ptCount val="1"/>
                <c:pt idx="0">
                  <c:v>% of cases disposed off resulting in Final Report</c:v>
                </c:pt>
              </c:strCache>
            </c:strRef>
          </c:tx>
          <c:spPr>
            <a:ln w="28575" cap="rnd">
              <a:solidFill>
                <a:srgbClr val="C00000"/>
              </a:solidFill>
              <a:round/>
            </a:ln>
            <a:effectLst/>
          </c:spPr>
          <c:marker>
            <c:symbol val="none"/>
          </c:marker>
          <c:dLbls>
            <c:dLbl>
              <c:idx val="0"/>
              <c:layout>
                <c:manualLayout>
                  <c:x val="1.3464367664172519E-2"/>
                  <c:y val="-1.675621456002904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34E1-4B72-B8F4-ECD1878FFFDF}"/>
                </c:ext>
              </c:extLst>
            </c:dLbl>
            <c:dLbl>
              <c:idx val="1"/>
              <c:layout>
                <c:manualLayout>
                  <c:x val="1.3464367664172479E-2"/>
                  <c:y val="-4.18905364000725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34E1-4B72-B8F4-ECD1878FFFDF}"/>
                </c:ext>
              </c:extLst>
            </c:dLbl>
            <c:dLbl>
              <c:idx val="2"/>
              <c:layout>
                <c:manualLayout>
                  <c:x val="6.7321838320862594E-3"/>
                  <c:y val="8.378107280014486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4E1-4B72-B8F4-ECD1878FFFDF}"/>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Sheet1!$D$4:$D$7</c:f>
              <c:numCache>
                <c:formatCode>General</c:formatCode>
                <c:ptCount val="4"/>
                <c:pt idx="0">
                  <c:v>2017</c:v>
                </c:pt>
                <c:pt idx="1">
                  <c:v>2018</c:v>
                </c:pt>
                <c:pt idx="2">
                  <c:v>2019</c:v>
                </c:pt>
                <c:pt idx="3">
                  <c:v>2020</c:v>
                </c:pt>
              </c:numCache>
            </c:numRef>
          </c:cat>
          <c:val>
            <c:numRef>
              <c:f>Sheet1!$J$4:$J$7</c:f>
              <c:numCache>
                <c:formatCode>0.00%</c:formatCode>
                <c:ptCount val="4"/>
                <c:pt idx="0">
                  <c:v>0.32769999999999999</c:v>
                </c:pt>
                <c:pt idx="1">
                  <c:v>0.31480000000000002</c:v>
                </c:pt>
                <c:pt idx="2">
                  <c:v>0.31190000000000001</c:v>
                </c:pt>
                <c:pt idx="3">
                  <c:v>0.95650000000000002</c:v>
                </c:pt>
              </c:numCache>
            </c:numRef>
          </c:val>
          <c:smooth val="0"/>
          <c:extLst>
            <c:ext xmlns:c16="http://schemas.microsoft.com/office/drawing/2014/chart" uri="{C3380CC4-5D6E-409C-BE32-E72D297353CC}">
              <c16:uniqueId val="{00000016-34E1-4B72-B8F4-ECD1878FFFDF}"/>
            </c:ext>
          </c:extLst>
        </c:ser>
        <c:dLbls>
          <c:showLegendKey val="0"/>
          <c:showVal val="0"/>
          <c:showCatName val="0"/>
          <c:showSerName val="0"/>
          <c:showPercent val="0"/>
          <c:showBubbleSize val="0"/>
        </c:dLbls>
        <c:marker val="1"/>
        <c:smooth val="0"/>
        <c:axId val="802944143"/>
        <c:axId val="802934575"/>
      </c:lineChart>
      <c:catAx>
        <c:axId val="74038695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0388623"/>
        <c:crosses val="autoZero"/>
        <c:auto val="1"/>
        <c:lblAlgn val="ctr"/>
        <c:lblOffset val="100"/>
        <c:noMultiLvlLbl val="0"/>
      </c:catAx>
      <c:valAx>
        <c:axId val="7403886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740386959"/>
        <c:crosses val="autoZero"/>
        <c:crossBetween val="between"/>
      </c:valAx>
      <c:valAx>
        <c:axId val="802934575"/>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200" b="0" i="0" u="none" strike="noStrike" kern="1200" baseline="0">
                <a:solidFill>
                  <a:schemeClr val="bg1"/>
                </a:solidFill>
                <a:latin typeface="+mn-lt"/>
                <a:ea typeface="+mn-ea"/>
                <a:cs typeface="+mn-cs"/>
              </a:defRPr>
            </a:pPr>
            <a:endParaRPr lang="en-US"/>
          </a:p>
        </c:txPr>
        <c:crossAx val="802944143"/>
        <c:crosses val="max"/>
        <c:crossBetween val="between"/>
      </c:valAx>
      <c:catAx>
        <c:axId val="802944143"/>
        <c:scaling>
          <c:orientation val="minMax"/>
        </c:scaling>
        <c:delete val="1"/>
        <c:axPos val="b"/>
        <c:numFmt formatCode="General" sourceLinked="1"/>
        <c:majorTickMark val="out"/>
        <c:minorTickMark val="none"/>
        <c:tickLblPos val="nextTo"/>
        <c:crossAx val="802934575"/>
        <c:crosses val="autoZero"/>
        <c:auto val="1"/>
        <c:lblAlgn val="ctr"/>
        <c:lblOffset val="100"/>
        <c:noMultiLvlLbl val="0"/>
      </c:catAx>
      <c:spPr>
        <a:noFill/>
        <a:ln>
          <a:noFill/>
        </a:ln>
        <a:effectLst/>
      </c:spPr>
    </c:plotArea>
    <c:legend>
      <c:legendPos val="r"/>
      <c:layout>
        <c:manualLayout>
          <c:xMode val="edge"/>
          <c:yMode val="edge"/>
          <c:x val="0.65335826420623311"/>
          <c:y val="0.14706909728532833"/>
          <c:w val="0.33317736812959436"/>
          <c:h val="0.6974833683025856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Year-wise percentage theft cases against raid conducted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3.3333333333333333E-2"/>
                  <c:y val="7.4074074074074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AB4-4288-BF12-14953A7CFC8C}"/>
                </c:ext>
              </c:extLst>
            </c:dLbl>
            <c:dLbl>
              <c:idx val="1"/>
              <c:layout>
                <c:manualLayout>
                  <c:x val="-5.2777777777777778E-2"/>
                  <c:y val="-7.21426709078583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AB4-4288-BF12-14953A7CFC8C}"/>
                </c:ext>
              </c:extLst>
            </c:dLbl>
            <c:dLbl>
              <c:idx val="2"/>
              <c:layout>
                <c:manualLayout>
                  <c:x val="-1.3888888888888888E-2"/>
                  <c:y val="6.9444444444444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AB4-4288-BF12-14953A7CFC8C}"/>
                </c:ext>
              </c:extLst>
            </c:dLbl>
            <c:dLbl>
              <c:idx val="3"/>
              <c:layout>
                <c:manualLayout>
                  <c:x val="2.777777777777676E-3"/>
                  <c:y val="6.48148148148148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AB4-4288-BF12-14953A7CFC8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Sheet1!$D$29:$D$32</c:f>
              <c:numCache>
                <c:formatCode>General</c:formatCode>
                <c:ptCount val="4"/>
                <c:pt idx="0">
                  <c:v>2017</c:v>
                </c:pt>
                <c:pt idx="1">
                  <c:v>2018</c:v>
                </c:pt>
                <c:pt idx="2">
                  <c:v>2019</c:v>
                </c:pt>
                <c:pt idx="3">
                  <c:v>2020</c:v>
                </c:pt>
              </c:numCache>
            </c:numRef>
          </c:cat>
          <c:val>
            <c:numRef>
              <c:f>Sheet1!$E$29:$E$32</c:f>
              <c:numCache>
                <c:formatCode>0.00%</c:formatCode>
                <c:ptCount val="4"/>
                <c:pt idx="0">
                  <c:v>0.65969999999999995</c:v>
                </c:pt>
                <c:pt idx="1">
                  <c:v>0.67600000000000005</c:v>
                </c:pt>
                <c:pt idx="2">
                  <c:v>0.4461</c:v>
                </c:pt>
                <c:pt idx="3">
                  <c:v>0.47920000000000001</c:v>
                </c:pt>
              </c:numCache>
            </c:numRef>
          </c:val>
          <c:smooth val="0"/>
          <c:extLst>
            <c:ext xmlns:c16="http://schemas.microsoft.com/office/drawing/2014/chart" uri="{C3380CC4-5D6E-409C-BE32-E72D297353CC}">
              <c16:uniqueId val="{00000004-7AB4-4288-BF12-14953A7CFC8C}"/>
            </c:ext>
          </c:extLst>
        </c:ser>
        <c:dLbls>
          <c:showLegendKey val="0"/>
          <c:showVal val="0"/>
          <c:showCatName val="0"/>
          <c:showSerName val="0"/>
          <c:showPercent val="0"/>
          <c:showBubbleSize val="0"/>
        </c:dLbls>
        <c:marker val="1"/>
        <c:smooth val="0"/>
        <c:axId val="799124495"/>
        <c:axId val="799126159"/>
      </c:lineChart>
      <c:catAx>
        <c:axId val="799124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799126159"/>
        <c:crosses val="autoZero"/>
        <c:auto val="1"/>
        <c:lblAlgn val="ctr"/>
        <c:lblOffset val="100"/>
        <c:noMultiLvlLbl val="0"/>
      </c:catAx>
      <c:valAx>
        <c:axId val="799126159"/>
        <c:scaling>
          <c:orientation val="minMax"/>
        </c:scaling>
        <c:delete val="1"/>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799124495"/>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Verdana" panose="020B0604030504040204" pitchFamily="34" charset="0"/>
                <a:ea typeface="Verdana" panose="020B0604030504040204" pitchFamily="34" charset="0"/>
                <a:cs typeface="+mn-cs"/>
              </a:defRPr>
            </a:pPr>
            <a:r>
              <a:rPr lang="en-US" sz="1000" b="1" dirty="0">
                <a:solidFill>
                  <a:schemeClr val="tx1"/>
                </a:solidFill>
                <a:latin typeface="Verdana" panose="020B0604030504040204" pitchFamily="34" charset="0"/>
                <a:ea typeface="Verdana" panose="020B0604030504040204" pitchFamily="34" charset="0"/>
              </a:rPr>
              <a:t>Summer</a:t>
            </a:r>
            <a:r>
              <a:rPr lang="en-US" sz="1000" b="1" baseline="0" dirty="0">
                <a:solidFill>
                  <a:schemeClr val="tx1"/>
                </a:solidFill>
                <a:latin typeface="Verdana" panose="020B0604030504040204" pitchFamily="34" charset="0"/>
                <a:ea typeface="Verdana" panose="020B0604030504040204" pitchFamily="34" charset="0"/>
              </a:rPr>
              <a:t> Season (March, April, May, June)</a:t>
            </a:r>
            <a:endParaRPr lang="en-US" sz="1000" b="1" dirty="0">
              <a:solidFill>
                <a:schemeClr val="tx1"/>
              </a:solidFill>
              <a:latin typeface="Verdana" panose="020B0604030504040204" pitchFamily="34" charset="0"/>
              <a:ea typeface="Verdana" panose="020B0604030504040204" pitchFamily="34" charset="0"/>
            </a:endParaRPr>
          </a:p>
        </c:rich>
      </c:tx>
      <c:layout>
        <c:manualLayout>
          <c:xMode val="edge"/>
          <c:yMode val="edge"/>
          <c:x val="0.24756475863454688"/>
          <c:y val="2.0611235544618224E-2"/>
        </c:manualLayout>
      </c:layout>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Verdana" panose="020B0604030504040204" pitchFamily="34" charset="0"/>
              <a:ea typeface="Verdana" panose="020B0604030504040204" pitchFamily="34" charset="0"/>
              <a:cs typeface="+mn-cs"/>
            </a:defRPr>
          </a:pPr>
          <a:endParaRPr lang="en-US"/>
        </a:p>
      </c:txPr>
    </c:title>
    <c:autoTitleDeleted val="0"/>
    <c:plotArea>
      <c:layout/>
      <c:barChart>
        <c:barDir val="col"/>
        <c:grouping val="clustered"/>
        <c:varyColors val="0"/>
        <c:ser>
          <c:idx val="0"/>
          <c:order val="0"/>
          <c:tx>
            <c:strRef>
              <c:f>Sheet1!$B$1</c:f>
              <c:strCache>
                <c:ptCount val="1"/>
                <c:pt idx="0">
                  <c:v>Actual Peak Demand</c:v>
                </c:pt>
              </c:strCache>
            </c:strRef>
          </c:tx>
          <c:spPr>
            <a:solidFill>
              <a:schemeClr val="accent6"/>
            </a:solidFill>
            <a:ln>
              <a:noFill/>
            </a:ln>
            <a:effectLst/>
          </c:spPr>
          <c:invertIfNegative val="0"/>
          <c:dLbls>
            <c:dLbl>
              <c:idx val="0"/>
              <c:layout>
                <c:manualLayout>
                  <c:x val="-2.371563939978144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1F1-4B8E-BBB8-E77A81CE4626}"/>
                </c:ext>
              </c:extLst>
            </c:dLbl>
            <c:dLbl>
              <c:idx val="1"/>
              <c:layout>
                <c:manualLayout>
                  <c:x val="-9.4862557599125329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1F1-4B8E-BBB8-E77A81CE4626}"/>
                </c:ext>
              </c:extLst>
            </c:dLbl>
            <c:dLbl>
              <c:idx val="2"/>
              <c:layout>
                <c:manualLayout>
                  <c:x val="-2.1344075459803297E-2"/>
                  <c:y val="-6.99429726338683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1F1-4B8E-BBB8-E77A81CE4626}"/>
                </c:ext>
              </c:extLst>
            </c:dLbl>
            <c:dLbl>
              <c:idx val="3"/>
              <c:layout>
                <c:manualLayout>
                  <c:x val="-2.3715639399781444E-2"/>
                  <c:y val="-3.49714863169341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1F1-4B8E-BBB8-E77A81CE4626}"/>
                </c:ext>
              </c:extLst>
            </c:dLbl>
            <c:dLbl>
              <c:idx val="4"/>
              <c:layout>
                <c:manualLayout>
                  <c:x val="-2.845876727973773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1F1-4B8E-BBB8-E77A81CE4626}"/>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Sheet1!$B$2:$B$6</c:f>
              <c:numCache>
                <c:formatCode>0</c:formatCode>
                <c:ptCount val="5"/>
                <c:pt idx="0">
                  <c:v>7169</c:v>
                </c:pt>
                <c:pt idx="1">
                  <c:v>7169</c:v>
                </c:pt>
                <c:pt idx="2">
                  <c:v>6626</c:v>
                </c:pt>
                <c:pt idx="3">
                  <c:v>7495</c:v>
                </c:pt>
                <c:pt idx="4">
                  <c:v>7645</c:v>
                </c:pt>
              </c:numCache>
            </c:numRef>
          </c:val>
          <c:extLst>
            <c:ext xmlns:c16="http://schemas.microsoft.com/office/drawing/2014/chart" uri="{C3380CC4-5D6E-409C-BE32-E72D297353CC}">
              <c16:uniqueId val="{00000000-6A91-4268-B187-994274F94478}"/>
            </c:ext>
          </c:extLst>
        </c:ser>
        <c:ser>
          <c:idx val="1"/>
          <c:order val="1"/>
          <c:tx>
            <c:strRef>
              <c:f>Sheet1!$C$1</c:f>
              <c:strCache>
                <c:ptCount val="1"/>
                <c:pt idx="0">
                  <c:v>Unrestricted Peak Demand</c:v>
                </c:pt>
              </c:strCache>
            </c:strRef>
          </c:tx>
          <c:spPr>
            <a:solidFill>
              <a:schemeClr val="accent2"/>
            </a:solidFill>
            <a:ln>
              <a:solidFill>
                <a:schemeClr val="accent5">
                  <a:lumMod val="40000"/>
                  <a:lumOff val="60000"/>
                </a:schemeClr>
              </a:solidFill>
            </a:ln>
            <a:effectLst/>
          </c:spPr>
          <c:invertIfNegative val="0"/>
          <c:dLbls>
            <c:dLbl>
              <c:idx val="0"/>
              <c:layout>
                <c:manualLayout>
                  <c:x val="2.371563939978144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1F1-4B8E-BBB8-E77A81CE4626}"/>
                </c:ext>
              </c:extLst>
            </c:dLbl>
            <c:dLbl>
              <c:idx val="1"/>
              <c:layout>
                <c:manualLayout>
                  <c:x val="2.6087203339759543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1F1-4B8E-BBB8-E77A81CE4626}"/>
                </c:ext>
              </c:extLst>
            </c:dLbl>
            <c:dLbl>
              <c:idx val="2"/>
              <c:layout>
                <c:manualLayout>
                  <c:x val="1.4229383639868866E-2"/>
                  <c:y val="-6.99429726338683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1F1-4B8E-BBB8-E77A81CE4626}"/>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Sheet1!$C$2:$C$6</c:f>
              <c:numCache>
                <c:formatCode>0</c:formatCode>
                <c:ptCount val="5"/>
                <c:pt idx="0">
                  <c:v>7185</c:v>
                </c:pt>
                <c:pt idx="1">
                  <c:v>7185</c:v>
                </c:pt>
                <c:pt idx="2">
                  <c:v>6639</c:v>
                </c:pt>
                <c:pt idx="3">
                  <c:v>7513.2662561189209</c:v>
                </c:pt>
                <c:pt idx="4">
                  <c:v>7663.6318249538563</c:v>
                </c:pt>
              </c:numCache>
            </c:numRef>
          </c:val>
          <c:extLst>
            <c:ext xmlns:c16="http://schemas.microsoft.com/office/drawing/2014/chart" uri="{C3380CC4-5D6E-409C-BE32-E72D297353CC}">
              <c16:uniqueId val="{00000001-6A91-4268-B187-994274F94478}"/>
            </c:ext>
          </c:extLst>
        </c:ser>
        <c:dLbls>
          <c:showLegendKey val="0"/>
          <c:showVal val="0"/>
          <c:showCatName val="0"/>
          <c:showSerName val="0"/>
          <c:showPercent val="0"/>
          <c:showBubbleSize val="0"/>
        </c:dLbls>
        <c:gapWidth val="219"/>
        <c:axId val="1964151359"/>
        <c:axId val="1964170495"/>
      </c:barChart>
      <c:catAx>
        <c:axId val="1964151359"/>
        <c:scaling>
          <c:orientation val="minMax"/>
        </c:scaling>
        <c:delete val="1"/>
        <c:axPos val="b"/>
        <c:numFmt formatCode="General" sourceLinked="1"/>
        <c:majorTickMark val="out"/>
        <c:minorTickMark val="none"/>
        <c:tickLblPos val="nextTo"/>
        <c:crossAx val="1964170495"/>
        <c:crosses val="autoZero"/>
        <c:auto val="1"/>
        <c:lblAlgn val="ctr"/>
        <c:lblOffset val="100"/>
        <c:noMultiLvlLbl val="0"/>
      </c:catAx>
      <c:valAx>
        <c:axId val="1964170495"/>
        <c:scaling>
          <c:orientation val="minMax"/>
          <c:max val="7800"/>
          <c:min val="65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41513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50" b="1" i="0" u="none" strike="noStrike" kern="1200" spc="0" baseline="0">
                <a:solidFill>
                  <a:schemeClr val="tx1"/>
                </a:solidFill>
                <a:latin typeface="Verdana" panose="020B0604030504040204" pitchFamily="34" charset="0"/>
                <a:ea typeface="Verdana" panose="020B0604030504040204" pitchFamily="34" charset="0"/>
                <a:cs typeface="+mn-cs"/>
              </a:defRPr>
            </a:pPr>
            <a:r>
              <a:rPr lang="en-US" sz="1050" b="1" i="0" u="none" strike="noStrike" baseline="0" dirty="0">
                <a:effectLst/>
              </a:rPr>
              <a:t>Summer Season (March, April, May, June)</a:t>
            </a:r>
            <a:endParaRPr lang="en-US" sz="1050" b="1" dirty="0">
              <a:solidFill>
                <a:schemeClr val="tx1"/>
              </a:solidFill>
              <a:latin typeface="Verdana" panose="020B0604030504040204" pitchFamily="34" charset="0"/>
              <a:ea typeface="Verdana" panose="020B0604030504040204" pitchFamily="34" charset="0"/>
            </a:endParaRPr>
          </a:p>
        </c:rich>
      </c:tx>
      <c:layout>
        <c:manualLayout>
          <c:xMode val="edge"/>
          <c:yMode val="edge"/>
          <c:x val="0.25477450054182382"/>
          <c:y val="1.9792079926968086E-2"/>
        </c:manualLayout>
      </c:layout>
      <c:overlay val="0"/>
      <c:spPr>
        <a:noFill/>
        <a:ln>
          <a:noFill/>
        </a:ln>
        <a:effectLst/>
      </c:spPr>
      <c:txPr>
        <a:bodyPr rot="0" spcFirstLastPara="1" vertOverflow="ellipsis" vert="horz" wrap="square" anchor="ctr" anchorCtr="1"/>
        <a:lstStyle/>
        <a:p>
          <a:pPr>
            <a:defRPr sz="1050" b="1" i="0" u="none" strike="noStrike" kern="1200" spc="0" baseline="0">
              <a:solidFill>
                <a:schemeClr val="tx1"/>
              </a:solidFill>
              <a:latin typeface="Verdana" panose="020B0604030504040204" pitchFamily="34" charset="0"/>
              <a:ea typeface="Verdana" panose="020B0604030504040204" pitchFamily="34" charset="0"/>
              <a:cs typeface="+mn-cs"/>
            </a:defRPr>
          </a:pPr>
          <a:endParaRPr lang="en-US"/>
        </a:p>
      </c:txPr>
    </c:title>
    <c:autoTitleDeleted val="0"/>
    <c:plotArea>
      <c:layout>
        <c:manualLayout>
          <c:layoutTarget val="inner"/>
          <c:xMode val="edge"/>
          <c:yMode val="edge"/>
          <c:x val="9.7091556008550461E-2"/>
          <c:y val="0.26375135541200539"/>
          <c:w val="0.87726595321315548"/>
          <c:h val="0.48433991103290758"/>
        </c:manualLayout>
      </c:layout>
      <c:barChart>
        <c:barDir val="col"/>
        <c:grouping val="clustered"/>
        <c:varyColors val="0"/>
        <c:ser>
          <c:idx val="0"/>
          <c:order val="0"/>
          <c:tx>
            <c:strRef>
              <c:f>Sheet1!$B$1</c:f>
              <c:strCache>
                <c:ptCount val="1"/>
                <c:pt idx="0">
                  <c:v>Net Energy Consumption</c:v>
                </c:pt>
              </c:strCache>
            </c:strRef>
          </c:tx>
          <c:spPr>
            <a:solidFill>
              <a:schemeClr val="accent5"/>
            </a:solidFill>
            <a:ln>
              <a:noFill/>
            </a:ln>
            <a:effectLst/>
          </c:spPr>
          <c:invertIfNegative val="0"/>
          <c:dLbls>
            <c:dLbl>
              <c:idx val="0"/>
              <c:layout>
                <c:manualLayout>
                  <c:x val="-2.564249077829401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28F-4FD4-B921-7B3CD5C02D4E}"/>
                </c:ext>
              </c:extLst>
            </c:dLbl>
            <c:dLbl>
              <c:idx val="1"/>
              <c:layout>
                <c:manualLayout>
                  <c:x val="-2.5642490778294016E-2"/>
                  <c:y val="-6.987206921162076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28F-4FD4-B921-7B3CD5C02D4E}"/>
                </c:ext>
              </c:extLst>
            </c:dLbl>
            <c:dLbl>
              <c:idx val="2"/>
              <c:layout>
                <c:manualLayout>
                  <c:x val="-2.82067398561235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28F-4FD4-B921-7B3CD5C02D4E}"/>
                </c:ext>
              </c:extLst>
            </c:dLbl>
            <c:dLbl>
              <c:idx val="3"/>
              <c:layout>
                <c:manualLayout>
                  <c:x val="-3.8463736167441115E-2"/>
                  <c:y val="7.622495605061027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28F-4FD4-B921-7B3CD5C02D4E}"/>
                </c:ext>
              </c:extLst>
            </c:dLbl>
            <c:dLbl>
              <c:idx val="4"/>
              <c:layout>
                <c:manualLayout>
                  <c:x val="-2.051399262263521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28F-4FD4-B921-7B3CD5C02D4E}"/>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Sheet1!$B$2:$B$6</c:f>
              <c:numCache>
                <c:formatCode>0</c:formatCode>
                <c:ptCount val="5"/>
                <c:pt idx="0">
                  <c:v>3975.5</c:v>
                </c:pt>
                <c:pt idx="1">
                  <c:v>3884</c:v>
                </c:pt>
                <c:pt idx="2">
                  <c:v>3128.5</c:v>
                </c:pt>
                <c:pt idx="3">
                  <c:v>4238</c:v>
                </c:pt>
                <c:pt idx="4">
                  <c:v>4481</c:v>
                </c:pt>
              </c:numCache>
            </c:numRef>
          </c:val>
          <c:extLst>
            <c:ext xmlns:c16="http://schemas.microsoft.com/office/drawing/2014/chart" uri="{C3380CC4-5D6E-409C-BE32-E72D297353CC}">
              <c16:uniqueId val="{00000000-71F7-4DA3-94A7-169B08DBECFF}"/>
            </c:ext>
          </c:extLst>
        </c:ser>
        <c:ser>
          <c:idx val="1"/>
          <c:order val="1"/>
          <c:tx>
            <c:strRef>
              <c:f>Sheet1!$C$1</c:f>
              <c:strCache>
                <c:ptCount val="1"/>
                <c:pt idx="0">
                  <c:v>Unrestricted Energy Requirement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Sheet1!$C$2:$C$6</c:f>
              <c:numCache>
                <c:formatCode>0</c:formatCode>
                <c:ptCount val="5"/>
                <c:pt idx="0">
                  <c:v>3991.4976383881467</c:v>
                </c:pt>
                <c:pt idx="1">
                  <c:v>3902.25</c:v>
                </c:pt>
                <c:pt idx="2">
                  <c:v>3148.75</c:v>
                </c:pt>
                <c:pt idx="3">
                  <c:v>4248.1301206240669</c:v>
                </c:pt>
                <c:pt idx="4">
                  <c:v>4492.2094087398273</c:v>
                </c:pt>
              </c:numCache>
            </c:numRef>
          </c:val>
          <c:extLst>
            <c:ext xmlns:c16="http://schemas.microsoft.com/office/drawing/2014/chart" uri="{C3380CC4-5D6E-409C-BE32-E72D297353CC}">
              <c16:uniqueId val="{00000001-71F7-4DA3-94A7-169B08DBECFF}"/>
            </c:ext>
          </c:extLst>
        </c:ser>
        <c:dLbls>
          <c:showLegendKey val="0"/>
          <c:showVal val="0"/>
          <c:showCatName val="0"/>
          <c:showSerName val="0"/>
          <c:showPercent val="0"/>
          <c:showBubbleSize val="0"/>
        </c:dLbls>
        <c:gapWidth val="150"/>
        <c:axId val="1964151359"/>
        <c:axId val="1964170495"/>
      </c:barChart>
      <c:catAx>
        <c:axId val="1964151359"/>
        <c:scaling>
          <c:orientation val="minMax"/>
        </c:scaling>
        <c:delete val="1"/>
        <c:axPos val="b"/>
        <c:numFmt formatCode="General" sourceLinked="1"/>
        <c:majorTickMark val="out"/>
        <c:minorTickMark val="none"/>
        <c:tickLblPos val="nextTo"/>
        <c:crossAx val="1964170495"/>
        <c:crosses val="autoZero"/>
        <c:auto val="1"/>
        <c:lblAlgn val="ctr"/>
        <c:lblOffset val="100"/>
        <c:noMultiLvlLbl val="0"/>
      </c:catAx>
      <c:valAx>
        <c:axId val="1964170495"/>
        <c:scaling>
          <c:orientation val="minMax"/>
          <c:min val="20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41513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Verdana" panose="020B0604030504040204" pitchFamily="34" charset="0"/>
                <a:ea typeface="Verdana" panose="020B0604030504040204" pitchFamily="34" charset="0"/>
                <a:cs typeface="+mn-cs"/>
              </a:defRPr>
            </a:pPr>
            <a:r>
              <a:rPr lang="en-US" sz="1000" b="1" dirty="0">
                <a:solidFill>
                  <a:schemeClr val="tx1"/>
                </a:solidFill>
                <a:latin typeface="Verdana" panose="020B0604030504040204" pitchFamily="34" charset="0"/>
                <a:ea typeface="Verdana" panose="020B0604030504040204" pitchFamily="34" charset="0"/>
              </a:rPr>
              <a:t>Monsoon</a:t>
            </a:r>
            <a:r>
              <a:rPr lang="en-US" sz="1000" b="1" baseline="0" dirty="0">
                <a:solidFill>
                  <a:schemeClr val="tx1"/>
                </a:solidFill>
                <a:latin typeface="Verdana" panose="020B0604030504040204" pitchFamily="34" charset="0"/>
                <a:ea typeface="Verdana" panose="020B0604030504040204" pitchFamily="34" charset="0"/>
              </a:rPr>
              <a:t> Season (July, Aug, Sept, Oct)</a:t>
            </a:r>
            <a:endParaRPr lang="en-US" sz="1000" b="1" dirty="0">
              <a:solidFill>
                <a:schemeClr val="tx1"/>
              </a:solidFill>
              <a:latin typeface="Verdana" panose="020B0604030504040204" pitchFamily="34" charset="0"/>
              <a:ea typeface="Verdana" panose="020B0604030504040204" pitchFamily="34" charset="0"/>
            </a:endParaRPr>
          </a:p>
        </c:rich>
      </c:tx>
      <c:layout>
        <c:manualLayout>
          <c:xMode val="edge"/>
          <c:yMode val="edge"/>
          <c:x val="0.2805770106279637"/>
          <c:y val="4.7272649927150134E-2"/>
        </c:manualLayout>
      </c:layout>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Verdana" panose="020B0604030504040204" pitchFamily="34" charset="0"/>
              <a:ea typeface="Verdana" panose="020B0604030504040204" pitchFamily="34" charset="0"/>
              <a:cs typeface="+mn-cs"/>
            </a:defRPr>
          </a:pPr>
          <a:endParaRPr lang="en-US"/>
        </a:p>
      </c:txPr>
    </c:title>
    <c:autoTitleDeleted val="0"/>
    <c:plotArea>
      <c:layout/>
      <c:barChart>
        <c:barDir val="col"/>
        <c:grouping val="clustered"/>
        <c:varyColors val="0"/>
        <c:ser>
          <c:idx val="0"/>
          <c:order val="0"/>
          <c:tx>
            <c:strRef>
              <c:f>Sheet1!$B$1</c:f>
              <c:strCache>
                <c:ptCount val="1"/>
                <c:pt idx="0">
                  <c:v>Actual Peak Demand</c:v>
                </c:pt>
              </c:strCache>
            </c:strRef>
          </c:tx>
          <c:spPr>
            <a:solidFill>
              <a:schemeClr val="accent6"/>
            </a:solidFill>
            <a:ln>
              <a:noFill/>
            </a:ln>
            <a:effectLst/>
          </c:spPr>
          <c:invertIfNegative val="0"/>
          <c:dLbls>
            <c:dLbl>
              <c:idx val="0"/>
              <c:layout>
                <c:manualLayout>
                  <c:x val="-1.185781527129747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F23-4D05-A055-EA4BD74D0641}"/>
                </c:ext>
              </c:extLst>
            </c:dLbl>
            <c:dLbl>
              <c:idx val="1"/>
              <c:layout>
                <c:manualLayout>
                  <c:x val="-1.8972504434075964E-2"/>
                  <c:y val="-6.190394549922620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F23-4D05-A055-EA4BD74D0641}"/>
                </c:ext>
              </c:extLst>
            </c:dLbl>
            <c:dLbl>
              <c:idx val="2"/>
              <c:layout>
                <c:manualLayout>
                  <c:x val="-2.6087193596854449E-2"/>
                  <c:y val="-6.190394549922620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F23-4D05-A055-EA4BD74D0641}"/>
                </c:ext>
              </c:extLst>
            </c:dLbl>
            <c:dLbl>
              <c:idx val="3"/>
              <c:layout>
                <c:manualLayout>
                  <c:x val="-2.6087193596854449E-2"/>
                  <c:y val="-3.0951972749613104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F23-4D05-A055-EA4BD74D0641}"/>
                </c:ext>
              </c:extLst>
            </c:dLbl>
            <c:dLbl>
              <c:idx val="4"/>
              <c:layout>
                <c:manualLayout>
                  <c:x val="-3.0830319705373439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F23-4D05-A055-EA4BD74D0641}"/>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Sheet1!$B$2:$B$6</c:f>
              <c:numCache>
                <c:formatCode>0</c:formatCode>
                <c:ptCount val="5"/>
                <c:pt idx="0">
                  <c:v>7297</c:v>
                </c:pt>
                <c:pt idx="1">
                  <c:v>7269</c:v>
                </c:pt>
                <c:pt idx="2">
                  <c:v>7044</c:v>
                </c:pt>
                <c:pt idx="3">
                  <c:v>7600</c:v>
                </c:pt>
                <c:pt idx="4">
                  <c:v>7675</c:v>
                </c:pt>
              </c:numCache>
            </c:numRef>
          </c:val>
          <c:extLst>
            <c:ext xmlns:c16="http://schemas.microsoft.com/office/drawing/2014/chart" uri="{C3380CC4-5D6E-409C-BE32-E72D297353CC}">
              <c16:uniqueId val="{00000000-E027-4265-ADE9-6FA3F1124B40}"/>
            </c:ext>
          </c:extLst>
        </c:ser>
        <c:ser>
          <c:idx val="1"/>
          <c:order val="1"/>
          <c:tx>
            <c:strRef>
              <c:f>Sheet1!$C$1</c:f>
              <c:strCache>
                <c:ptCount val="1"/>
                <c:pt idx="0">
                  <c:v>Unrestricted Peak Demand</c:v>
                </c:pt>
              </c:strCache>
            </c:strRef>
          </c:tx>
          <c:spPr>
            <a:solidFill>
              <a:schemeClr val="accent2"/>
            </a:solidFill>
            <a:ln>
              <a:solidFill>
                <a:schemeClr val="accent5">
                  <a:lumMod val="40000"/>
                  <a:lumOff val="60000"/>
                </a:schemeClr>
              </a:solidFill>
            </a:ln>
            <a:effectLst/>
          </c:spPr>
          <c:invertIfNegative val="0"/>
          <c:dLbls>
            <c:dLbl>
              <c:idx val="0"/>
              <c:layout>
                <c:manualLayout>
                  <c:x val="1.422937832555697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F23-4D05-A055-EA4BD74D0641}"/>
                </c:ext>
              </c:extLst>
            </c:dLbl>
            <c:dLbl>
              <c:idx val="1"/>
              <c:layout>
                <c:manualLayout>
                  <c:x val="9.4862522170379385E-3"/>
                  <c:y val="6.753235703878590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F23-4D05-A055-EA4BD74D0641}"/>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Sheet1!$C$2:$C$6</c:f>
              <c:numCache>
                <c:formatCode>0</c:formatCode>
                <c:ptCount val="5"/>
                <c:pt idx="0">
                  <c:v>7303</c:v>
                </c:pt>
                <c:pt idx="1">
                  <c:v>7292</c:v>
                </c:pt>
                <c:pt idx="2">
                  <c:v>7049</c:v>
                </c:pt>
                <c:pt idx="3">
                  <c:v>7620.6012408991082</c:v>
                </c:pt>
                <c:pt idx="4">
                  <c:v>7695.8045426185072</c:v>
                </c:pt>
              </c:numCache>
            </c:numRef>
          </c:val>
          <c:extLst>
            <c:ext xmlns:c16="http://schemas.microsoft.com/office/drawing/2014/chart" uri="{C3380CC4-5D6E-409C-BE32-E72D297353CC}">
              <c16:uniqueId val="{00000001-E027-4265-ADE9-6FA3F1124B40}"/>
            </c:ext>
          </c:extLst>
        </c:ser>
        <c:dLbls>
          <c:showLegendKey val="0"/>
          <c:showVal val="0"/>
          <c:showCatName val="0"/>
          <c:showSerName val="0"/>
          <c:showPercent val="0"/>
          <c:showBubbleSize val="0"/>
        </c:dLbls>
        <c:gapWidth val="219"/>
        <c:axId val="1964151359"/>
        <c:axId val="1964170495"/>
      </c:barChart>
      <c:catAx>
        <c:axId val="1964151359"/>
        <c:scaling>
          <c:orientation val="minMax"/>
        </c:scaling>
        <c:delete val="1"/>
        <c:axPos val="b"/>
        <c:numFmt formatCode="General" sourceLinked="1"/>
        <c:majorTickMark val="out"/>
        <c:minorTickMark val="none"/>
        <c:tickLblPos val="nextTo"/>
        <c:crossAx val="1964170495"/>
        <c:crosses val="autoZero"/>
        <c:auto val="1"/>
        <c:lblAlgn val="ctr"/>
        <c:lblOffset val="100"/>
        <c:noMultiLvlLbl val="0"/>
      </c:catAx>
      <c:valAx>
        <c:axId val="1964170495"/>
        <c:scaling>
          <c:orientation val="minMax"/>
          <c:max val="7800"/>
          <c:min val="65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41513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50" b="1" i="0" u="none" strike="noStrike" kern="1200" spc="0" baseline="0">
                <a:solidFill>
                  <a:schemeClr val="tx1"/>
                </a:solidFill>
                <a:latin typeface="Verdana" panose="020B0604030504040204" pitchFamily="34" charset="0"/>
                <a:ea typeface="Verdana" panose="020B0604030504040204" pitchFamily="34" charset="0"/>
                <a:cs typeface="+mn-cs"/>
              </a:defRPr>
            </a:pPr>
            <a:r>
              <a:rPr lang="en-US" sz="1000" b="1" i="0" baseline="0" dirty="0">
                <a:effectLst/>
              </a:rPr>
              <a:t>Monsoon Season (July, Aug, Sept, Oct)</a:t>
            </a:r>
            <a:endParaRPr lang="en-US" sz="1000" dirty="0">
              <a:effectLst/>
            </a:endParaRPr>
          </a:p>
        </c:rich>
      </c:tx>
      <c:layout>
        <c:manualLayout>
          <c:xMode val="edge"/>
          <c:yMode val="edge"/>
          <c:x val="0.24273398369473084"/>
          <c:y val="3.2218000873475462E-2"/>
        </c:manualLayout>
      </c:layout>
      <c:overlay val="0"/>
      <c:spPr>
        <a:noFill/>
        <a:ln>
          <a:noFill/>
        </a:ln>
        <a:effectLst/>
      </c:spPr>
      <c:txPr>
        <a:bodyPr rot="0" spcFirstLastPara="1" vertOverflow="ellipsis" vert="horz" wrap="square" anchor="ctr" anchorCtr="1"/>
        <a:lstStyle/>
        <a:p>
          <a:pPr>
            <a:defRPr sz="1050" b="1" i="0" u="none" strike="noStrike" kern="1200" spc="0" baseline="0">
              <a:solidFill>
                <a:schemeClr val="tx1"/>
              </a:solidFill>
              <a:latin typeface="Verdana" panose="020B0604030504040204" pitchFamily="34" charset="0"/>
              <a:ea typeface="Verdana" panose="020B0604030504040204" pitchFamily="34" charset="0"/>
              <a:cs typeface="+mn-cs"/>
            </a:defRPr>
          </a:pPr>
          <a:endParaRPr lang="en-US"/>
        </a:p>
      </c:txPr>
    </c:title>
    <c:autoTitleDeleted val="0"/>
    <c:plotArea>
      <c:layout>
        <c:manualLayout>
          <c:layoutTarget val="inner"/>
          <c:xMode val="edge"/>
          <c:yMode val="edge"/>
          <c:x val="8.9753686215344894E-2"/>
          <c:y val="0.18734710272075764"/>
          <c:w val="0.88666277377881741"/>
          <c:h val="0.5672571050758628"/>
        </c:manualLayout>
      </c:layout>
      <c:barChart>
        <c:barDir val="col"/>
        <c:grouping val="clustered"/>
        <c:varyColors val="0"/>
        <c:ser>
          <c:idx val="0"/>
          <c:order val="0"/>
          <c:tx>
            <c:strRef>
              <c:f>Sheet1!$B$1</c:f>
              <c:strCache>
                <c:ptCount val="1"/>
                <c:pt idx="0">
                  <c:v>Net Energy Consumption</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Sheet1!$B$2:$B$6</c:f>
              <c:numCache>
                <c:formatCode>0</c:formatCode>
                <c:ptCount val="5"/>
                <c:pt idx="0">
                  <c:v>3873.25</c:v>
                </c:pt>
                <c:pt idx="1">
                  <c:v>3990.25</c:v>
                </c:pt>
                <c:pt idx="2">
                  <c:v>4041</c:v>
                </c:pt>
                <c:pt idx="3">
                  <c:v>4190</c:v>
                </c:pt>
                <c:pt idx="4">
                  <c:v>4473.75</c:v>
                </c:pt>
              </c:numCache>
            </c:numRef>
          </c:val>
          <c:extLst>
            <c:ext xmlns:c16="http://schemas.microsoft.com/office/drawing/2014/chart" uri="{C3380CC4-5D6E-409C-BE32-E72D297353CC}">
              <c16:uniqueId val="{00000000-CDA4-45AF-8864-8F752EE74330}"/>
            </c:ext>
          </c:extLst>
        </c:ser>
        <c:ser>
          <c:idx val="1"/>
          <c:order val="1"/>
          <c:tx>
            <c:strRef>
              <c:f>Sheet1!$C$1</c:f>
              <c:strCache>
                <c:ptCount val="1"/>
                <c:pt idx="0">
                  <c:v>Unrestricted Energy Requirement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Sheet1!$C$2:$C$6</c:f>
              <c:numCache>
                <c:formatCode>0</c:formatCode>
                <c:ptCount val="5"/>
                <c:pt idx="0">
                  <c:v>3891</c:v>
                </c:pt>
                <c:pt idx="1">
                  <c:v>4001.5</c:v>
                </c:pt>
                <c:pt idx="2">
                  <c:v>4046.25</c:v>
                </c:pt>
                <c:pt idx="3">
                  <c:v>4195.0534259466031</c:v>
                </c:pt>
                <c:pt idx="4">
                  <c:v>4479.1505119993699</c:v>
                </c:pt>
              </c:numCache>
            </c:numRef>
          </c:val>
          <c:extLst>
            <c:ext xmlns:c16="http://schemas.microsoft.com/office/drawing/2014/chart" uri="{C3380CC4-5D6E-409C-BE32-E72D297353CC}">
              <c16:uniqueId val="{00000001-CDA4-45AF-8864-8F752EE74330}"/>
            </c:ext>
          </c:extLst>
        </c:ser>
        <c:dLbls>
          <c:showLegendKey val="0"/>
          <c:showVal val="0"/>
          <c:showCatName val="0"/>
          <c:showSerName val="0"/>
          <c:showPercent val="0"/>
          <c:showBubbleSize val="0"/>
        </c:dLbls>
        <c:gapWidth val="150"/>
        <c:axId val="1964151359"/>
        <c:axId val="1964170495"/>
      </c:barChart>
      <c:catAx>
        <c:axId val="1964151359"/>
        <c:scaling>
          <c:orientation val="minMax"/>
        </c:scaling>
        <c:delete val="1"/>
        <c:axPos val="b"/>
        <c:numFmt formatCode="General" sourceLinked="1"/>
        <c:majorTickMark val="out"/>
        <c:minorTickMark val="none"/>
        <c:tickLblPos val="nextTo"/>
        <c:crossAx val="1964170495"/>
        <c:crosses val="autoZero"/>
        <c:auto val="1"/>
        <c:lblAlgn val="ctr"/>
        <c:lblOffset val="100"/>
        <c:noMultiLvlLbl val="0"/>
      </c:catAx>
      <c:valAx>
        <c:axId val="1964170495"/>
        <c:scaling>
          <c:orientation val="minMax"/>
          <c:min val="20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41513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Verdana" panose="020B0604030504040204" pitchFamily="34" charset="0"/>
                <a:ea typeface="Verdana" panose="020B0604030504040204" pitchFamily="34" charset="0"/>
                <a:cs typeface="+mn-cs"/>
              </a:defRPr>
            </a:pPr>
            <a:r>
              <a:rPr lang="en-US" sz="1000" b="1" baseline="0" dirty="0">
                <a:solidFill>
                  <a:schemeClr val="tx1"/>
                </a:solidFill>
                <a:latin typeface="Verdana" panose="020B0604030504040204" pitchFamily="34" charset="0"/>
                <a:ea typeface="Verdana" panose="020B0604030504040204" pitchFamily="34" charset="0"/>
              </a:rPr>
              <a:t>Winter Season (Nov, Dec, Jan, Feb)</a:t>
            </a:r>
            <a:endParaRPr lang="en-US" sz="1000" b="1" dirty="0">
              <a:solidFill>
                <a:schemeClr val="tx1"/>
              </a:solidFill>
              <a:latin typeface="Verdana" panose="020B0604030504040204" pitchFamily="34" charset="0"/>
              <a:ea typeface="Verdana" panose="020B0604030504040204" pitchFamily="34" charset="0"/>
            </a:endParaRPr>
          </a:p>
        </c:rich>
      </c:tx>
      <c:layout>
        <c:manualLayout>
          <c:xMode val="edge"/>
          <c:yMode val="edge"/>
          <c:x val="0.30295272782139548"/>
          <c:y val="2.0259707111635772E-2"/>
        </c:manualLayout>
      </c:layout>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Verdana" panose="020B0604030504040204" pitchFamily="34" charset="0"/>
              <a:ea typeface="Verdana" panose="020B0604030504040204" pitchFamily="34" charset="0"/>
              <a:cs typeface="+mn-cs"/>
            </a:defRPr>
          </a:pPr>
          <a:endParaRPr lang="en-US"/>
        </a:p>
      </c:txPr>
    </c:title>
    <c:autoTitleDeleted val="0"/>
    <c:plotArea>
      <c:layout/>
      <c:barChart>
        <c:barDir val="col"/>
        <c:grouping val="clustered"/>
        <c:varyColors val="0"/>
        <c:ser>
          <c:idx val="0"/>
          <c:order val="0"/>
          <c:tx>
            <c:strRef>
              <c:f>Sheet1!$B$1</c:f>
              <c:strCache>
                <c:ptCount val="1"/>
                <c:pt idx="0">
                  <c:v>Actual Peak Demand</c:v>
                </c:pt>
              </c:strCache>
            </c:strRef>
          </c:tx>
          <c:spPr>
            <a:solidFill>
              <a:schemeClr val="accent6"/>
            </a:solidFill>
            <a:ln>
              <a:noFill/>
            </a:ln>
            <a:effectLst/>
          </c:spPr>
          <c:invertIfNegative val="0"/>
          <c:dLbls>
            <c:dLbl>
              <c:idx val="0"/>
              <c:layout>
                <c:manualLayout>
                  <c:x val="-2.3715639399781444E-2"/>
                  <c:y val="-1.35064714077571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8D7-48FB-BB1A-7D439DD74086}"/>
                </c:ext>
              </c:extLst>
            </c:dLbl>
            <c:dLbl>
              <c:idx val="1"/>
              <c:layout>
                <c:manualLayout>
                  <c:x val="-4.5059714859584744E-2"/>
                  <c:y val="1.35064714077571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8D7-48FB-BB1A-7D439DD74086}"/>
                </c:ext>
              </c:extLst>
            </c:dLbl>
            <c:dLbl>
              <c:idx val="2"/>
              <c:layout>
                <c:manualLayout>
                  <c:x val="-3.083033121971587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8D7-48FB-BB1A-7D439DD74086}"/>
                </c:ext>
              </c:extLst>
            </c:dLbl>
            <c:dLbl>
              <c:idx val="3"/>
              <c:layout>
                <c:manualLayout>
                  <c:x val="-3.3201895159694017E-2"/>
                  <c:y val="-6.190394549922620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8D7-48FB-BB1A-7D439DD74086}"/>
                </c:ext>
              </c:extLst>
            </c:dLbl>
            <c:dLbl>
              <c:idx val="4"/>
              <c:layout>
                <c:manualLayout>
                  <c:x val="-4.9802842739541033E-2"/>
                  <c:y val="6.75323570387852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8D7-48FB-BB1A-7D439DD74086}"/>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Sheet1!$B$2:$B$6</c:f>
              <c:numCache>
                <c:formatCode>0</c:formatCode>
                <c:ptCount val="5"/>
                <c:pt idx="0">
                  <c:v>5900</c:v>
                </c:pt>
                <c:pt idx="1">
                  <c:v>6597</c:v>
                </c:pt>
                <c:pt idx="2">
                  <c:v>5788</c:v>
                </c:pt>
                <c:pt idx="3">
                  <c:v>5495</c:v>
                </c:pt>
                <c:pt idx="4">
                  <c:v>5660</c:v>
                </c:pt>
              </c:numCache>
            </c:numRef>
          </c:val>
          <c:extLst>
            <c:ext xmlns:c16="http://schemas.microsoft.com/office/drawing/2014/chart" uri="{C3380CC4-5D6E-409C-BE32-E72D297353CC}">
              <c16:uniqueId val="{00000000-2164-48B6-B117-08390A3BD509}"/>
            </c:ext>
          </c:extLst>
        </c:ser>
        <c:ser>
          <c:idx val="1"/>
          <c:order val="1"/>
          <c:tx>
            <c:strRef>
              <c:f>Sheet1!$C$1</c:f>
              <c:strCache>
                <c:ptCount val="1"/>
                <c:pt idx="0">
                  <c:v>Unrestricted Peak Demand</c:v>
                </c:pt>
              </c:strCache>
            </c:strRef>
          </c:tx>
          <c:spPr>
            <a:solidFill>
              <a:schemeClr val="accent2"/>
            </a:solidFill>
            <a:ln>
              <a:solidFill>
                <a:schemeClr val="accent5">
                  <a:lumMod val="40000"/>
                  <a:lumOff val="60000"/>
                </a:schemeClr>
              </a:solidFill>
            </a:ln>
            <a:effectLst/>
          </c:spPr>
          <c:invertIfNegative val="0"/>
          <c:dLbls>
            <c:dLbl>
              <c:idx val="0"/>
              <c:layout>
                <c:manualLayout>
                  <c:x val="1.8972511519825153E-2"/>
                  <c:y val="-6.190394549922620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8D7-48FB-BB1A-7D439DD74086}"/>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Sheet1!$C$2:$C$6</c:f>
              <c:numCache>
                <c:formatCode>0</c:formatCode>
                <c:ptCount val="5"/>
                <c:pt idx="0">
                  <c:v>5903</c:v>
                </c:pt>
                <c:pt idx="1">
                  <c:v>6597</c:v>
                </c:pt>
                <c:pt idx="2">
                  <c:v>5788</c:v>
                </c:pt>
                <c:pt idx="3">
                  <c:v>5495.9313559322036</c:v>
                </c:pt>
                <c:pt idx="4">
                  <c:v>5660.9593220338984</c:v>
                </c:pt>
              </c:numCache>
            </c:numRef>
          </c:val>
          <c:extLst>
            <c:ext xmlns:c16="http://schemas.microsoft.com/office/drawing/2014/chart" uri="{C3380CC4-5D6E-409C-BE32-E72D297353CC}">
              <c16:uniqueId val="{00000001-2164-48B6-B117-08390A3BD509}"/>
            </c:ext>
          </c:extLst>
        </c:ser>
        <c:dLbls>
          <c:showLegendKey val="0"/>
          <c:showVal val="0"/>
          <c:showCatName val="0"/>
          <c:showSerName val="0"/>
          <c:showPercent val="0"/>
          <c:showBubbleSize val="0"/>
        </c:dLbls>
        <c:gapWidth val="219"/>
        <c:axId val="1964151359"/>
        <c:axId val="1964170495"/>
      </c:barChart>
      <c:catAx>
        <c:axId val="1964151359"/>
        <c:scaling>
          <c:orientation val="minMax"/>
        </c:scaling>
        <c:delete val="1"/>
        <c:axPos val="b"/>
        <c:numFmt formatCode="General" sourceLinked="1"/>
        <c:majorTickMark val="out"/>
        <c:minorTickMark val="none"/>
        <c:tickLblPos val="nextTo"/>
        <c:crossAx val="1964170495"/>
        <c:crosses val="autoZero"/>
        <c:auto val="1"/>
        <c:lblAlgn val="ctr"/>
        <c:lblOffset val="100"/>
        <c:noMultiLvlLbl val="0"/>
      </c:catAx>
      <c:valAx>
        <c:axId val="1964170495"/>
        <c:scaling>
          <c:orientation val="minMax"/>
          <c:max val="7000"/>
          <c:min val="50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41513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Verdana" panose="020B0604030504040204" pitchFamily="34" charset="0"/>
                <a:ea typeface="Verdana" panose="020B0604030504040204" pitchFamily="34" charset="0"/>
                <a:cs typeface="+mn-cs"/>
              </a:defRPr>
            </a:pPr>
            <a:r>
              <a:rPr lang="en-US" sz="1000" b="1" i="0" u="none" strike="noStrike" baseline="0" dirty="0">
                <a:effectLst/>
              </a:rPr>
              <a:t>Winter Season (Nov, Dec, Jan, Feb)</a:t>
            </a:r>
            <a:endParaRPr lang="en-US" sz="1000" b="1" dirty="0">
              <a:solidFill>
                <a:schemeClr val="tx1"/>
              </a:solidFill>
              <a:latin typeface="Verdana" panose="020B0604030504040204" pitchFamily="34" charset="0"/>
              <a:ea typeface="Verdana" panose="020B0604030504040204" pitchFamily="34" charset="0"/>
            </a:endParaRPr>
          </a:p>
        </c:rich>
      </c:tx>
      <c:layout>
        <c:manualLayout>
          <c:xMode val="edge"/>
          <c:yMode val="edge"/>
          <c:x val="0.27144035455285948"/>
          <c:y val="5.14768956252954E-2"/>
        </c:manualLayout>
      </c:layout>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Verdana" panose="020B0604030504040204" pitchFamily="34" charset="0"/>
              <a:ea typeface="Verdana" panose="020B0604030504040204" pitchFamily="34" charset="0"/>
              <a:cs typeface="+mn-cs"/>
            </a:defRPr>
          </a:pPr>
          <a:endParaRPr lang="en-US"/>
        </a:p>
      </c:txPr>
    </c:title>
    <c:autoTitleDeleted val="0"/>
    <c:plotArea>
      <c:layout>
        <c:manualLayout>
          <c:layoutTarget val="inner"/>
          <c:xMode val="edge"/>
          <c:yMode val="edge"/>
          <c:x val="8.9753686215344894E-2"/>
          <c:y val="0.18734710272075764"/>
          <c:w val="0.88666277377881741"/>
          <c:h val="0.56725681833690955"/>
        </c:manualLayout>
      </c:layout>
      <c:barChart>
        <c:barDir val="col"/>
        <c:grouping val="clustered"/>
        <c:varyColors val="0"/>
        <c:ser>
          <c:idx val="0"/>
          <c:order val="0"/>
          <c:tx>
            <c:strRef>
              <c:f>Sheet1!$B$1</c:f>
              <c:strCache>
                <c:ptCount val="1"/>
                <c:pt idx="0">
                  <c:v>Net Energy Consumption</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Sheet1!$B$2:$B$6</c:f>
              <c:numCache>
                <c:formatCode>0</c:formatCode>
                <c:ptCount val="5"/>
                <c:pt idx="0">
                  <c:v>2817.5</c:v>
                </c:pt>
                <c:pt idx="1">
                  <c:v>2787.25</c:v>
                </c:pt>
                <c:pt idx="2">
                  <c:v>2989.25</c:v>
                </c:pt>
                <c:pt idx="3">
                  <c:v>2926.5</c:v>
                </c:pt>
                <c:pt idx="4">
                  <c:v>2922.5</c:v>
                </c:pt>
              </c:numCache>
            </c:numRef>
          </c:val>
          <c:extLst>
            <c:ext xmlns:c16="http://schemas.microsoft.com/office/drawing/2014/chart" uri="{C3380CC4-5D6E-409C-BE32-E72D297353CC}">
              <c16:uniqueId val="{00000000-C62D-4458-9C8C-BE3C62AED14B}"/>
            </c:ext>
          </c:extLst>
        </c:ser>
        <c:ser>
          <c:idx val="1"/>
          <c:order val="1"/>
          <c:tx>
            <c:strRef>
              <c:f>Sheet1!$C$1</c:f>
              <c:strCache>
                <c:ptCount val="1"/>
                <c:pt idx="0">
                  <c:v>Unrestricted Energy Requirement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accent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2018-19</c:v>
                </c:pt>
                <c:pt idx="1">
                  <c:v>2019-20</c:v>
                </c:pt>
                <c:pt idx="2">
                  <c:v>2020-21</c:v>
                </c:pt>
                <c:pt idx="3">
                  <c:v>2021-22 Estimated</c:v>
                </c:pt>
                <c:pt idx="4">
                  <c:v>2022-23 Estimated</c:v>
                </c:pt>
              </c:strCache>
            </c:strRef>
          </c:cat>
          <c:val>
            <c:numRef>
              <c:f>Sheet1!$C$2:$C$6</c:f>
              <c:numCache>
                <c:formatCode>0</c:formatCode>
                <c:ptCount val="5"/>
                <c:pt idx="0">
                  <c:v>2826.25</c:v>
                </c:pt>
                <c:pt idx="1">
                  <c:v>2791</c:v>
                </c:pt>
                <c:pt idx="2">
                  <c:v>2991.75</c:v>
                </c:pt>
                <c:pt idx="3">
                  <c:v>2929.4535691602478</c:v>
                </c:pt>
                <c:pt idx="4">
                  <c:v>2925.4346488188835</c:v>
                </c:pt>
              </c:numCache>
            </c:numRef>
          </c:val>
          <c:extLst>
            <c:ext xmlns:c16="http://schemas.microsoft.com/office/drawing/2014/chart" uri="{C3380CC4-5D6E-409C-BE32-E72D297353CC}">
              <c16:uniqueId val="{00000001-C62D-4458-9C8C-BE3C62AED14B}"/>
            </c:ext>
          </c:extLst>
        </c:ser>
        <c:dLbls>
          <c:showLegendKey val="0"/>
          <c:showVal val="0"/>
          <c:showCatName val="0"/>
          <c:showSerName val="0"/>
          <c:showPercent val="0"/>
          <c:showBubbleSize val="0"/>
        </c:dLbls>
        <c:gapWidth val="150"/>
        <c:axId val="1964151359"/>
        <c:axId val="1964170495"/>
      </c:barChart>
      <c:catAx>
        <c:axId val="1964151359"/>
        <c:scaling>
          <c:orientation val="minMax"/>
        </c:scaling>
        <c:delete val="1"/>
        <c:axPos val="b"/>
        <c:numFmt formatCode="General" sourceLinked="1"/>
        <c:majorTickMark val="out"/>
        <c:minorTickMark val="none"/>
        <c:tickLblPos val="nextTo"/>
        <c:crossAx val="1964170495"/>
        <c:crosses val="autoZero"/>
        <c:auto val="1"/>
        <c:lblAlgn val="ctr"/>
        <c:lblOffset val="100"/>
        <c:noMultiLvlLbl val="0"/>
      </c:catAx>
      <c:valAx>
        <c:axId val="1964170495"/>
        <c:scaling>
          <c:orientation val="minMax"/>
          <c:min val="20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41513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8641631270369655"/>
          <c:w val="1"/>
          <c:h val="0.59461773087783543"/>
        </c:manualLayout>
      </c:layout>
      <c:barChart>
        <c:barDir val="col"/>
        <c:grouping val="clustered"/>
        <c:varyColors val="0"/>
        <c:ser>
          <c:idx val="0"/>
          <c:order val="0"/>
          <c:tx>
            <c:strRef>
              <c:f>Sheet1!$B$1</c:f>
              <c:strCache>
                <c:ptCount val="1"/>
                <c:pt idx="0">
                  <c:v>33 KV</c:v>
                </c:pt>
              </c:strCache>
            </c:strRef>
          </c:tx>
          <c:spPr>
            <a:solidFill>
              <a:srgbClr val="00A3E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DVC </c:v>
                </c:pt>
                <c:pt idx="1">
                  <c:v>India Power</c:v>
                </c:pt>
                <c:pt idx="2">
                  <c:v>WBSEDCL</c:v>
                </c:pt>
              </c:strCache>
            </c:strRef>
          </c:cat>
          <c:val>
            <c:numRef>
              <c:f>Sheet1!$B$2:$B$4</c:f>
              <c:numCache>
                <c:formatCode>General</c:formatCode>
                <c:ptCount val="3"/>
                <c:pt idx="0">
                  <c:v>4.33</c:v>
                </c:pt>
                <c:pt idx="1">
                  <c:v>5.86</c:v>
                </c:pt>
                <c:pt idx="2">
                  <c:v>7.17</c:v>
                </c:pt>
              </c:numCache>
            </c:numRef>
          </c:val>
          <c:extLst>
            <c:ext xmlns:c16="http://schemas.microsoft.com/office/drawing/2014/chart" uri="{C3380CC4-5D6E-409C-BE32-E72D297353CC}">
              <c16:uniqueId val="{00000000-4A05-4BAB-806E-21784104D8CA}"/>
            </c:ext>
          </c:extLst>
        </c:ser>
        <c:ser>
          <c:idx val="1"/>
          <c:order val="1"/>
          <c:tx>
            <c:strRef>
              <c:f>Sheet1!$C$1</c:f>
              <c:strCache>
                <c:ptCount val="1"/>
                <c:pt idx="0">
                  <c:v>132 KV</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DVC </c:v>
                </c:pt>
                <c:pt idx="1">
                  <c:v>India Power</c:v>
                </c:pt>
                <c:pt idx="2">
                  <c:v>WBSEDCL</c:v>
                </c:pt>
              </c:strCache>
            </c:strRef>
          </c:cat>
          <c:val>
            <c:numRef>
              <c:f>Sheet1!$C$2:$C$4</c:f>
              <c:numCache>
                <c:formatCode>General</c:formatCode>
                <c:ptCount val="3"/>
                <c:pt idx="0">
                  <c:v>4.1900000000000004</c:v>
                </c:pt>
                <c:pt idx="1">
                  <c:v>5.82</c:v>
                </c:pt>
                <c:pt idx="2">
                  <c:v>7.13</c:v>
                </c:pt>
              </c:numCache>
            </c:numRef>
          </c:val>
          <c:extLst>
            <c:ext xmlns:c16="http://schemas.microsoft.com/office/drawing/2014/chart" uri="{C3380CC4-5D6E-409C-BE32-E72D297353CC}">
              <c16:uniqueId val="{00000001-4A05-4BAB-806E-21784104D8CA}"/>
            </c:ext>
          </c:extLst>
        </c:ser>
        <c:dLbls>
          <c:dLblPos val="outEnd"/>
          <c:showLegendKey val="0"/>
          <c:showVal val="1"/>
          <c:showCatName val="0"/>
          <c:showSerName val="0"/>
          <c:showPercent val="0"/>
          <c:showBubbleSize val="0"/>
        </c:dLbls>
        <c:gapWidth val="115"/>
        <c:overlap val="-22"/>
        <c:axId val="654306064"/>
        <c:axId val="654315632"/>
      </c:barChart>
      <c:lineChart>
        <c:grouping val="stacked"/>
        <c:varyColors val="0"/>
        <c:ser>
          <c:idx val="2"/>
          <c:order val="2"/>
          <c:tx>
            <c:strRef>
              <c:f>Sheet1!$D$1</c:f>
              <c:strCache>
                <c:ptCount val="1"/>
                <c:pt idx="0">
                  <c:v>ABR ( Rs /KWh)</c:v>
                </c:pt>
              </c:strCache>
            </c:strRef>
          </c:tx>
          <c:spPr>
            <a:ln w="22225" cap="rnd">
              <a:solidFill>
                <a:srgbClr val="FFCD00"/>
              </a:solidFill>
              <a:round/>
            </a:ln>
            <a:effectLst/>
          </c:spPr>
          <c:marker>
            <c:symbol val="triangle"/>
            <c:size val="6"/>
            <c:spPr>
              <a:solidFill>
                <a:schemeClr val="accent3"/>
              </a:solidFill>
              <a:ln w="9525">
                <a:solidFill>
                  <a:schemeClr val="accent3"/>
                </a:solidFill>
                <a:round/>
              </a:ln>
              <a:effectLst/>
            </c:spPr>
          </c:marker>
          <c:dLbls>
            <c:dLbl>
              <c:idx val="0"/>
              <c:layout>
                <c:manualLayout>
                  <c:x val="-5.9789934890173285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4E3-48E6-A57B-EFE76CF98A01}"/>
                </c:ext>
              </c:extLst>
            </c:dLbl>
            <c:dLbl>
              <c:idx val="1"/>
              <c:layout>
                <c:manualLayout>
                  <c:x val="-7.9719913186897681E-2"/>
                  <c:y val="5.0689959713288823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4E3-48E6-A57B-EFE76CF98A01}"/>
                </c:ext>
              </c:extLst>
            </c:dLbl>
            <c:dLbl>
              <c:idx val="2"/>
              <c:layout>
                <c:manualLayout>
                  <c:x val="-5.1817943571483498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4E3-48E6-A57B-EFE76CF98A01}"/>
                </c:ext>
              </c:extLst>
            </c:dLbl>
            <c:spPr>
              <a:solidFill>
                <a:srgbClr val="FFCD00"/>
              </a:solid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DVC </c:v>
                </c:pt>
                <c:pt idx="1">
                  <c:v>India Power</c:v>
                </c:pt>
                <c:pt idx="2">
                  <c:v>WBSEDCL</c:v>
                </c:pt>
              </c:strCache>
            </c:strRef>
          </c:cat>
          <c:val>
            <c:numRef>
              <c:f>Sheet1!$D$2:$D$4</c:f>
              <c:numCache>
                <c:formatCode>General</c:formatCode>
                <c:ptCount val="3"/>
                <c:pt idx="0">
                  <c:v>4.9000000000000004</c:v>
                </c:pt>
                <c:pt idx="1">
                  <c:v>5.29</c:v>
                </c:pt>
                <c:pt idx="2">
                  <c:v>6.98</c:v>
                </c:pt>
              </c:numCache>
            </c:numRef>
          </c:val>
          <c:smooth val="0"/>
          <c:extLst>
            <c:ext xmlns:c16="http://schemas.microsoft.com/office/drawing/2014/chart" uri="{C3380CC4-5D6E-409C-BE32-E72D297353CC}">
              <c16:uniqueId val="{00000001-F4E3-48E6-A57B-EFE76CF98A01}"/>
            </c:ext>
          </c:extLst>
        </c:ser>
        <c:dLbls>
          <c:showLegendKey val="0"/>
          <c:showVal val="0"/>
          <c:showCatName val="0"/>
          <c:showSerName val="0"/>
          <c:showPercent val="0"/>
          <c:showBubbleSize val="0"/>
        </c:dLbls>
        <c:marker val="1"/>
        <c:smooth val="0"/>
        <c:axId val="654306064"/>
        <c:axId val="654315632"/>
      </c:lineChart>
      <c:catAx>
        <c:axId val="6543060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cap="all" spc="120" normalizeH="0" baseline="0">
                <a:solidFill>
                  <a:schemeClr val="tx1"/>
                </a:solidFill>
                <a:latin typeface="+mn-lt"/>
                <a:ea typeface="+mn-ea"/>
                <a:cs typeface="+mn-cs"/>
              </a:defRPr>
            </a:pPr>
            <a:endParaRPr lang="en-US"/>
          </a:p>
        </c:txPr>
        <c:crossAx val="654315632"/>
        <c:crosses val="autoZero"/>
        <c:auto val="1"/>
        <c:lblAlgn val="ctr"/>
        <c:lblOffset val="100"/>
        <c:noMultiLvlLbl val="0"/>
      </c:catAx>
      <c:valAx>
        <c:axId val="654315632"/>
        <c:scaling>
          <c:orientation val="minMax"/>
        </c:scaling>
        <c:delete val="1"/>
        <c:axPos val="l"/>
        <c:numFmt formatCode="General" sourceLinked="1"/>
        <c:majorTickMark val="none"/>
        <c:minorTickMark val="none"/>
        <c:tickLblPos val="nextTo"/>
        <c:crossAx val="654306064"/>
        <c:crosses val="autoZero"/>
        <c:crossBetween val="between"/>
      </c:valAx>
      <c:spPr>
        <a:solidFill>
          <a:srgbClr val="012169">
            <a:alpha val="10000"/>
          </a:srgbClr>
        </a:solidFill>
        <a:ln>
          <a:noFill/>
        </a:ln>
        <a:effectLst/>
      </c:spPr>
    </c:plotArea>
    <c:legend>
      <c:legendPos val="t"/>
      <c:layout>
        <c:manualLayout>
          <c:xMode val="edge"/>
          <c:yMode val="edge"/>
          <c:x val="0"/>
          <c:y val="0.17416110231797668"/>
          <c:w val="1"/>
          <c:h val="0.135852112783379"/>
        </c:manualLayout>
      </c:layout>
      <c:overlay val="0"/>
      <c:spPr>
        <a:solidFill>
          <a:srgbClr val="DDEFE8"/>
        </a:solid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12169"/>
      </a:solidFill>
    </a:ln>
    <a:effectLst/>
  </c:spPr>
  <c:txPr>
    <a:bodyPr/>
    <a:lstStyle/>
    <a:p>
      <a:pPr>
        <a:defRPr/>
      </a:pPr>
      <a:endParaRPr lang="en-US"/>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1030484475502824E-4"/>
          <c:y val="0.13329999446349466"/>
          <c:w val="0.99939532174663093"/>
          <c:h val="0.59984871678905693"/>
        </c:manualLayout>
      </c:layout>
      <c:barChart>
        <c:barDir val="col"/>
        <c:grouping val="clustered"/>
        <c:varyColors val="0"/>
        <c:ser>
          <c:idx val="0"/>
          <c:order val="0"/>
          <c:tx>
            <c:strRef>
              <c:f>Sheet1!$B$1</c:f>
              <c:strCache>
                <c:ptCount val="1"/>
                <c:pt idx="0">
                  <c:v>No. of Consumer (%)</c:v>
                </c:pt>
              </c:strCache>
            </c:strRef>
          </c:tx>
          <c:spPr>
            <a:solidFill>
              <a:schemeClr val="accent1"/>
            </a:solidFill>
            <a:ln>
              <a:noFill/>
            </a:ln>
            <a:effectLst/>
          </c:spPr>
          <c:invertIfNegative val="0"/>
          <c:dPt>
            <c:idx val="0"/>
            <c:invertIfNegative val="0"/>
            <c:bubble3D val="0"/>
            <c:spPr>
              <a:solidFill>
                <a:srgbClr val="00A3E0"/>
              </a:solidFill>
              <a:ln>
                <a:noFill/>
              </a:ln>
              <a:effectLst/>
            </c:spPr>
            <c:extLst>
              <c:ext xmlns:c16="http://schemas.microsoft.com/office/drawing/2014/chart" uri="{C3380CC4-5D6E-409C-BE32-E72D297353CC}">
                <c16:uniqueId val="{00000000-22DE-44A5-8FB3-DFF2246A1360}"/>
              </c:ext>
            </c:extLst>
          </c:dPt>
          <c:dLbls>
            <c:dLbl>
              <c:idx val="0"/>
              <c:layout>
                <c:manualLayout>
                  <c:x val="0"/>
                  <c:y val="0.2838749641385449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2DE-44A5-8FB3-DFF2246A1360}"/>
                </c:ext>
              </c:extLst>
            </c:dLbl>
            <c:dLbl>
              <c:idx val="1"/>
              <c:layout>
                <c:manualLayout>
                  <c:x val="-1.8238463603314853E-2"/>
                  <c:y val="6.176575984015612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94B-45D7-9278-00B8A1F088D1}"/>
                </c:ext>
              </c:extLst>
            </c:dLbl>
            <c:spPr>
              <a:solidFill>
                <a:schemeClr val="tx2">
                  <a:lumMod val="40000"/>
                  <a:lumOff val="60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Domestic</c:v>
                </c:pt>
                <c:pt idx="1">
                  <c:v>Commercial</c:v>
                </c:pt>
                <c:pt idx="2">
                  <c:v>Agriculture</c:v>
                </c:pt>
                <c:pt idx="3">
                  <c:v>Induatrial</c:v>
                </c:pt>
                <c:pt idx="4">
                  <c:v>Other</c:v>
                </c:pt>
              </c:strCache>
            </c:strRef>
          </c:cat>
          <c:val>
            <c:numRef>
              <c:f>Sheet1!$B$2:$B$6</c:f>
              <c:numCache>
                <c:formatCode>0.00%</c:formatCode>
                <c:ptCount val="5"/>
                <c:pt idx="0">
                  <c:v>0.88387512411227331</c:v>
                </c:pt>
                <c:pt idx="1">
                  <c:v>9.168622224171688E-2</c:v>
                </c:pt>
                <c:pt idx="2">
                  <c:v>1.6288464835852796E-2</c:v>
                </c:pt>
                <c:pt idx="3">
                  <c:v>5.5971146139460323E-3</c:v>
                </c:pt>
                <c:pt idx="4">
                  <c:v>2.5530741962110368E-3</c:v>
                </c:pt>
              </c:numCache>
            </c:numRef>
          </c:val>
          <c:extLst>
            <c:ext xmlns:c16="http://schemas.microsoft.com/office/drawing/2014/chart" uri="{C3380CC4-5D6E-409C-BE32-E72D297353CC}">
              <c16:uniqueId val="{00000000-594B-45D7-9278-00B8A1F088D1}"/>
            </c:ext>
          </c:extLst>
        </c:ser>
        <c:ser>
          <c:idx val="1"/>
          <c:order val="1"/>
          <c:tx>
            <c:strRef>
              <c:f>Sheet1!$C$1</c:f>
              <c:strCache>
                <c:ptCount val="1"/>
                <c:pt idx="0">
                  <c:v>Energy Sale in MU (%)</c:v>
                </c:pt>
              </c:strCache>
            </c:strRef>
          </c:tx>
          <c:spPr>
            <a:solidFill>
              <a:schemeClr val="accent2"/>
            </a:solidFill>
            <a:ln>
              <a:noFill/>
            </a:ln>
            <a:effectLst/>
          </c:spPr>
          <c:invertIfNegative val="0"/>
          <c:dLbls>
            <c:dLbl>
              <c:idx val="1"/>
              <c:layout>
                <c:manualLayout>
                  <c:x val="9.1074642051557422E-3"/>
                  <c:y val="1.1847761921641912E-2"/>
                </c:manualLayout>
              </c:layout>
              <c:spPr>
                <a:solidFill>
                  <a:schemeClr val="accent5">
                    <a:lumMod val="40000"/>
                    <a:lumOff val="60000"/>
                  </a:schemeClr>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9.4717627733619719E-2"/>
                      <c:h val="7.7618928808450574E-2"/>
                    </c:manualLayout>
                  </c15:layout>
                </c:ext>
                <c:ext xmlns:c16="http://schemas.microsoft.com/office/drawing/2014/chart" uri="{C3380CC4-5D6E-409C-BE32-E72D297353CC}">
                  <c16:uniqueId val="{00000009-594B-45D7-9278-00B8A1F088D1}"/>
                </c:ext>
              </c:extLst>
            </c:dLbl>
            <c:dLbl>
              <c:idx val="2"/>
              <c:layout>
                <c:manualLayout>
                  <c:x val="1.0815651585996764E-3"/>
                  <c:y val="-7.7328981304587693E-2"/>
                </c:manualLayout>
              </c:layout>
              <c:spPr>
                <a:solidFill>
                  <a:schemeClr val="accent5">
                    <a:lumMod val="40000"/>
                    <a:lumOff val="60000"/>
                  </a:schemeClr>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9.7873830210763929E-2"/>
                      <c:h val="6.2539142014238158E-2"/>
                    </c:manualLayout>
                  </c15:layout>
                </c:ext>
                <c:ext xmlns:c16="http://schemas.microsoft.com/office/drawing/2014/chart" uri="{C3380CC4-5D6E-409C-BE32-E72D297353CC}">
                  <c16:uniqueId val="{0000000B-594B-45D7-9278-00B8A1F088D1}"/>
                </c:ext>
              </c:extLst>
            </c:dLbl>
            <c:dLbl>
              <c:idx val="3"/>
              <c:layout>
                <c:manualLayout>
                  <c:x val="6.1305425194516077E-3"/>
                  <c:y val="5.4692763499905447E-3"/>
                </c:manualLayout>
              </c:layout>
              <c:spPr>
                <a:solidFill>
                  <a:schemeClr val="accent5">
                    <a:lumMod val="40000"/>
                    <a:lumOff val="60000"/>
                  </a:schemeClr>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9.6539120574650875E-2"/>
                      <c:h val="5.4789832100082758E-2"/>
                    </c:manualLayout>
                  </c15:layout>
                </c:ext>
                <c:ext xmlns:c16="http://schemas.microsoft.com/office/drawing/2014/chart" uri="{C3380CC4-5D6E-409C-BE32-E72D297353CC}">
                  <c16:uniqueId val="{0000000C-594B-45D7-9278-00B8A1F088D1}"/>
                </c:ext>
              </c:extLst>
            </c:dLbl>
            <c:dLbl>
              <c:idx val="4"/>
              <c:layout>
                <c:manualLayout>
                  <c:x val="3.2190645687356582E-3"/>
                  <c:y val="-2.936855143820039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94B-45D7-9278-00B8A1F088D1}"/>
                </c:ext>
              </c:extLst>
            </c:dLbl>
            <c:spPr>
              <a:solidFill>
                <a:schemeClr val="accent5">
                  <a:lumMod val="40000"/>
                  <a:lumOff val="60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Domestic</c:v>
                </c:pt>
                <c:pt idx="1">
                  <c:v>Commercial</c:v>
                </c:pt>
                <c:pt idx="2">
                  <c:v>Agriculture</c:v>
                </c:pt>
                <c:pt idx="3">
                  <c:v>Induatrial</c:v>
                </c:pt>
                <c:pt idx="4">
                  <c:v>Other</c:v>
                </c:pt>
              </c:strCache>
            </c:strRef>
          </c:cat>
          <c:val>
            <c:numRef>
              <c:f>Sheet1!$C$2:$C$6</c:f>
              <c:numCache>
                <c:formatCode>0.00%</c:formatCode>
                <c:ptCount val="5"/>
                <c:pt idx="0">
                  <c:v>0.39267946004925613</c:v>
                </c:pt>
                <c:pt idx="1">
                  <c:v>0.14903735254205119</c:v>
                </c:pt>
                <c:pt idx="2">
                  <c:v>4.4962764722264868E-2</c:v>
                </c:pt>
                <c:pt idx="3">
                  <c:v>0.32492495469508575</c:v>
                </c:pt>
                <c:pt idx="4">
                  <c:v>8.8395467991341972E-2</c:v>
                </c:pt>
              </c:numCache>
            </c:numRef>
          </c:val>
          <c:extLst>
            <c:ext xmlns:c16="http://schemas.microsoft.com/office/drawing/2014/chart" uri="{C3380CC4-5D6E-409C-BE32-E72D297353CC}">
              <c16:uniqueId val="{00000001-594B-45D7-9278-00B8A1F088D1}"/>
            </c:ext>
          </c:extLst>
        </c:ser>
        <c:dLbls>
          <c:showLegendKey val="0"/>
          <c:showVal val="0"/>
          <c:showCatName val="0"/>
          <c:showSerName val="0"/>
          <c:showPercent val="0"/>
          <c:showBubbleSize val="0"/>
        </c:dLbls>
        <c:gapWidth val="219"/>
        <c:overlap val="-27"/>
        <c:axId val="1801695904"/>
        <c:axId val="1801688416"/>
      </c:barChart>
      <c:lineChart>
        <c:grouping val="standard"/>
        <c:varyColors val="0"/>
        <c:ser>
          <c:idx val="2"/>
          <c:order val="2"/>
          <c:tx>
            <c:strRef>
              <c:f>Sheet1!$D$1</c:f>
              <c:strCache>
                <c:ptCount val="1"/>
                <c:pt idx="0">
                  <c:v>Average Revenue Rate  (Rs./ KWh)</c:v>
                </c:pt>
              </c:strCache>
            </c:strRef>
          </c:tx>
          <c:spPr>
            <a:ln w="28575" cap="rnd">
              <a:solidFill>
                <a:schemeClr val="accent3"/>
              </a:solidFill>
              <a:round/>
            </a:ln>
            <a:effectLst/>
          </c:spPr>
          <c:marker>
            <c:symbol val="none"/>
          </c:marker>
          <c:dLbls>
            <c:dLbl>
              <c:idx val="0"/>
              <c:layout>
                <c:manualLayout>
                  <c:x val="-1.0639103768600331E-2"/>
                  <c:y val="-4.92531363001048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94B-45D7-9278-00B8A1F088D1}"/>
                </c:ext>
              </c:extLst>
            </c:dLbl>
            <c:dLbl>
              <c:idx val="1"/>
              <c:layout>
                <c:manualLayout>
                  <c:x val="-4.0780102702341822E-2"/>
                  <c:y val="4.1210730072881712E-3"/>
                </c:manualLayout>
              </c:layout>
              <c:spPr>
                <a:solidFill>
                  <a:schemeClr val="accent6">
                    <a:lumMod val="60000"/>
                    <a:lumOff val="40000"/>
                  </a:schemeClr>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7.0172066273074263E-2"/>
                      <c:h val="7.7102554475526025E-2"/>
                    </c:manualLayout>
                  </c15:layout>
                </c:ext>
                <c:ext xmlns:c16="http://schemas.microsoft.com/office/drawing/2014/chart" uri="{C3380CC4-5D6E-409C-BE32-E72D297353CC}">
                  <c16:uniqueId val="{00000005-594B-45D7-9278-00B8A1F088D1}"/>
                </c:ext>
              </c:extLst>
            </c:dLbl>
            <c:dLbl>
              <c:idx val="2"/>
              <c:layout>
                <c:manualLayout>
                  <c:x val="-2.8877567371915238E-2"/>
                  <c:y val="4.925313630010440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94B-45D7-9278-00B8A1F088D1}"/>
                </c:ext>
              </c:extLst>
            </c:dLbl>
            <c:dLbl>
              <c:idx val="3"/>
              <c:layout>
                <c:manualLayout>
                  <c:x val="-2.1278207537200774E-2"/>
                  <c:y val="4.514818671939007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94B-45D7-9278-00B8A1F088D1}"/>
                </c:ext>
              </c:extLst>
            </c:dLbl>
            <c:dLbl>
              <c:idx val="4"/>
              <c:layout>
                <c:manualLayout>
                  <c:x val="-3.0084033926810121E-2"/>
                  <c:y val="8.7721253493570402E-3"/>
                </c:manualLayout>
              </c:layout>
              <c:spPr>
                <a:solidFill>
                  <a:schemeClr val="accent6">
                    <a:lumMod val="60000"/>
                    <a:lumOff val="40000"/>
                  </a:schemeClr>
                </a:solid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6.5573742277121344E-2"/>
                      <c:h val="5.9355651441756321E-2"/>
                    </c:manualLayout>
                  </c15:layout>
                </c:ext>
                <c:ext xmlns:c16="http://schemas.microsoft.com/office/drawing/2014/chart" uri="{C3380CC4-5D6E-409C-BE32-E72D297353CC}">
                  <c16:uniqueId val="{00000008-594B-45D7-9278-00B8A1F088D1}"/>
                </c:ext>
              </c:extLst>
            </c:dLbl>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Domestic</c:v>
                </c:pt>
                <c:pt idx="1">
                  <c:v>Commercial</c:v>
                </c:pt>
                <c:pt idx="2">
                  <c:v>Agriculture</c:v>
                </c:pt>
                <c:pt idx="3">
                  <c:v>Induatrial</c:v>
                </c:pt>
                <c:pt idx="4">
                  <c:v>Other</c:v>
                </c:pt>
              </c:strCache>
            </c:strRef>
          </c:cat>
          <c:val>
            <c:numRef>
              <c:f>Sheet1!$D$2:$D$6</c:f>
              <c:numCache>
                <c:formatCode>0.00</c:formatCode>
                <c:ptCount val="5"/>
                <c:pt idx="0">
                  <c:v>6.508705383217527</c:v>
                </c:pt>
                <c:pt idx="1">
                  <c:v>8.8430030493262723</c:v>
                </c:pt>
                <c:pt idx="2">
                  <c:v>4.761373677753661</c:v>
                </c:pt>
                <c:pt idx="3">
                  <c:v>6.877613112102126</c:v>
                </c:pt>
                <c:pt idx="4">
                  <c:v>7.3420504575962946</c:v>
                </c:pt>
              </c:numCache>
            </c:numRef>
          </c:val>
          <c:smooth val="0"/>
          <c:extLst>
            <c:ext xmlns:c16="http://schemas.microsoft.com/office/drawing/2014/chart" uri="{C3380CC4-5D6E-409C-BE32-E72D297353CC}">
              <c16:uniqueId val="{00000002-594B-45D7-9278-00B8A1F088D1}"/>
            </c:ext>
          </c:extLst>
        </c:ser>
        <c:dLbls>
          <c:showLegendKey val="0"/>
          <c:showVal val="0"/>
          <c:showCatName val="0"/>
          <c:showSerName val="0"/>
          <c:showPercent val="0"/>
          <c:showBubbleSize val="0"/>
        </c:dLbls>
        <c:marker val="1"/>
        <c:smooth val="0"/>
        <c:axId val="1801635584"/>
        <c:axId val="1801635168"/>
      </c:lineChart>
      <c:catAx>
        <c:axId val="1801695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801688416"/>
        <c:crosses val="autoZero"/>
        <c:auto val="1"/>
        <c:lblAlgn val="ctr"/>
        <c:lblOffset val="100"/>
        <c:noMultiLvlLbl val="0"/>
      </c:catAx>
      <c:valAx>
        <c:axId val="1801688416"/>
        <c:scaling>
          <c:orientation val="minMax"/>
        </c:scaling>
        <c:delete val="0"/>
        <c:axPos val="l"/>
        <c:numFmt formatCode="0%" sourceLinked="0"/>
        <c:majorTickMark val="none"/>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801695904"/>
        <c:crosses val="autoZero"/>
        <c:crossBetween val="between"/>
        <c:majorUnit val="0.5"/>
      </c:valAx>
      <c:valAx>
        <c:axId val="1801635168"/>
        <c:scaling>
          <c:orientation val="minMax"/>
          <c:max val="10"/>
        </c:scaling>
        <c:delete val="0"/>
        <c:axPos val="r"/>
        <c:numFmt formatCode="0" sourceLinked="0"/>
        <c:majorTickMark val="out"/>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801635584"/>
        <c:crosses val="max"/>
        <c:crossBetween val="between"/>
        <c:majorUnit val="5"/>
      </c:valAx>
      <c:catAx>
        <c:axId val="1801635584"/>
        <c:scaling>
          <c:orientation val="minMax"/>
        </c:scaling>
        <c:delete val="1"/>
        <c:axPos val="b"/>
        <c:numFmt formatCode="General" sourceLinked="1"/>
        <c:majorTickMark val="out"/>
        <c:minorTickMark val="none"/>
        <c:tickLblPos val="nextTo"/>
        <c:crossAx val="1801635168"/>
        <c:crosses val="autoZero"/>
        <c:auto val="1"/>
        <c:lblAlgn val="ctr"/>
        <c:lblOffset val="100"/>
        <c:noMultiLvlLbl val="0"/>
      </c:catAx>
      <c:spPr>
        <a:solidFill>
          <a:srgbClr val="DDEFE8"/>
        </a:solidFill>
        <a:ln>
          <a:noFill/>
        </a:ln>
        <a:effectLst/>
      </c:spPr>
    </c:plotArea>
    <c:legend>
      <c:legendPos val="b"/>
      <c:layout>
        <c:manualLayout>
          <c:xMode val="edge"/>
          <c:yMode val="edge"/>
          <c:x val="7.2400754815159338E-4"/>
          <c:y val="0.90096018821242063"/>
          <c:w val="0.99855195611689829"/>
          <c:h val="7.431429829488393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lumMod val="20000"/>
        <a:lumOff val="80000"/>
        <a:alpha val="30000"/>
      </a:schemeClr>
    </a:solidFill>
    <a:ln>
      <a:solidFill>
        <a:srgbClr val="009A44"/>
      </a:solidFill>
    </a:ln>
    <a:effectLst/>
  </c:spPr>
  <c:txPr>
    <a:bodyPr/>
    <a:lstStyle/>
    <a:p>
      <a:pPr>
        <a:defRPr/>
      </a:pPr>
      <a:endParaRPr lang="en-US"/>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6296615368550207"/>
          <c:w val="1"/>
          <c:h val="0.65875993190086468"/>
        </c:manualLayout>
      </c:layout>
      <c:pieChart>
        <c:varyColors val="1"/>
        <c:ser>
          <c:idx val="0"/>
          <c:order val="0"/>
          <c:tx>
            <c:strRef>
              <c:f>Sheet1!$B$1</c:f>
              <c:strCache>
                <c:ptCount val="1"/>
                <c:pt idx="0">
                  <c:v>State Sector</c:v>
                </c:pt>
              </c:strCache>
            </c:strRef>
          </c:tx>
          <c:spPr>
            <a:solidFill>
              <a:srgbClr val="63666A"/>
            </a:solidFill>
          </c:spPr>
          <c:dPt>
            <c:idx val="0"/>
            <c:bubble3D val="0"/>
            <c:spPr>
              <a:solidFill>
                <a:srgbClr val="63666A"/>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A558-4784-A366-99E7FFF52FF8}"/>
              </c:ext>
            </c:extLst>
          </c:dPt>
          <c:dPt>
            <c:idx val="1"/>
            <c:bubble3D val="0"/>
            <c:spPr>
              <a:solidFill>
                <a:srgbClr val="00B0F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2-A558-4784-A366-99E7FFF52FF8}"/>
              </c:ext>
            </c:extLst>
          </c:dPt>
          <c:dPt>
            <c:idx val="2"/>
            <c:bubble3D val="0"/>
            <c:spPr>
              <a:solidFill>
                <a:srgbClr val="00B05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A558-4784-A366-99E7FFF52FF8}"/>
              </c:ext>
            </c:extLst>
          </c:dPt>
          <c:dLbls>
            <c:dLbl>
              <c:idx val="0"/>
              <c:layout>
                <c:manualLayout>
                  <c:x val="-0.18216478934981856"/>
                  <c:y val="-0.23136725694064697"/>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558-4784-A366-99E7FFF52FF8}"/>
                </c:ext>
              </c:extLst>
            </c:dLbl>
            <c:dLbl>
              <c:idx val="1"/>
              <c:layout>
                <c:manualLayout>
                  <c:x val="0.11089071237227587"/>
                  <c:y val="0.19007205260006638"/>
                </c:manualLayout>
              </c:layout>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14452137018562805"/>
                      <c:h val="0.1890640205981089"/>
                    </c:manualLayout>
                  </c15:layout>
                </c:ext>
                <c:ext xmlns:c16="http://schemas.microsoft.com/office/drawing/2014/chart" uri="{C3380CC4-5D6E-409C-BE32-E72D297353CC}">
                  <c16:uniqueId val="{00000002-A558-4784-A366-99E7FFF52FF8}"/>
                </c:ext>
              </c:extLst>
            </c:dLbl>
            <c:dLbl>
              <c:idx val="2"/>
              <c:layout>
                <c:manualLayout>
                  <c:x val="9.6123117337716682E-2"/>
                  <c:y val="0.17556662409378146"/>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558-4784-A366-99E7FFF52FF8}"/>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Sheet1!$A$2:$A$4</c:f>
              <c:strCache>
                <c:ptCount val="3"/>
                <c:pt idx="0">
                  <c:v>Thermal</c:v>
                </c:pt>
                <c:pt idx="1">
                  <c:v>Hydro</c:v>
                </c:pt>
                <c:pt idx="2">
                  <c:v>RES</c:v>
                </c:pt>
              </c:strCache>
            </c:strRef>
          </c:cat>
          <c:val>
            <c:numRef>
              <c:f>Sheet1!$B$2:$B$4</c:f>
              <c:numCache>
                <c:formatCode>General</c:formatCode>
                <c:ptCount val="3"/>
                <c:pt idx="0">
                  <c:v>5390</c:v>
                </c:pt>
                <c:pt idx="1">
                  <c:v>986</c:v>
                </c:pt>
                <c:pt idx="2">
                  <c:v>122</c:v>
                </c:pt>
              </c:numCache>
            </c:numRef>
          </c:val>
          <c:extLst>
            <c:ext xmlns:c16="http://schemas.microsoft.com/office/drawing/2014/chart" uri="{C3380CC4-5D6E-409C-BE32-E72D297353CC}">
              <c16:uniqueId val="{00000000-0420-434E-B684-CF60D34B1C20}"/>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Entry>
      <c:layout>
        <c:manualLayout>
          <c:xMode val="edge"/>
          <c:yMode val="edge"/>
          <c:x val="4.1877822730992408E-2"/>
          <c:y val="0.87567840108848183"/>
          <c:w val="0.87117892368137895"/>
          <c:h val="9.6071492788252111E-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Sheet1!$A$2:$A$10</cx:f>
        <cx:lvl ptCount="9"/>
      </cx:strDim>
      <cx:numDim type="val">
        <cx:f>Sheet1!$B$2:$B$10</cx:f>
        <cx:lvl ptCount="9" formatCode="General">
          <cx:pt idx="0">2283136</cx:pt>
          <cx:pt idx="1">-1862702</cx:pt>
          <cx:pt idx="2">-262521</cx:pt>
          <cx:pt idx="3">-174789</cx:pt>
          <cx:pt idx="4">-159404</cx:pt>
          <cx:pt idx="5">-108469</cx:pt>
          <cx:pt idx="6">-140413</cx:pt>
          <cx:pt idx="7">406143</cx:pt>
          <cx:pt idx="8">-19019</cx:pt>
        </cx:lvl>
      </cx:numDim>
    </cx:data>
  </cx:chartData>
  <cx:chart>
    <cx:plotArea>
      <cx:plotAreaRegion>
        <cx:series layoutId="waterfall" uniqueId="{01F2C870-7F8C-4ADC-94C6-E13B61F54E2A}">
          <cx:tx>
            <cx:txData>
              <cx:f>Sheet1!$B$1</cx:f>
              <cx:v>Series1</cx:v>
            </cx:txData>
          </cx:tx>
          <cx:dataLabels>
            <cx:numFmt formatCode="#,##0" sourceLinked="0"/>
            <cx:txPr>
              <a:bodyPr spcFirstLastPara="1" vertOverflow="ellipsis" horzOverflow="overflow" wrap="square" lIns="0" tIns="0" rIns="0" bIns="0" anchor="ctr" anchorCtr="1"/>
              <a:lstStyle/>
              <a:p>
                <a:pPr algn="ctr" rtl="0">
                  <a:defRPr b="1">
                    <a:solidFill>
                      <a:schemeClr val="tx1"/>
                    </a:solidFill>
                  </a:defRPr>
                </a:pPr>
                <a:endParaRPr lang="en-US" sz="1197" b="1" i="0" u="none" strike="noStrike" baseline="0">
                  <a:solidFill>
                    <a:schemeClr val="tx1"/>
                  </a:solidFill>
                  <a:latin typeface="Calibri"/>
                </a:endParaRPr>
              </a:p>
            </cx:txPr>
            <cx:visibility seriesName="0" categoryName="0" value="1"/>
            <cx:separator>, </cx:separator>
            <cx:dataLabel idx="8">
              <cx:numFmt formatCode="#,##0" sourceLinked="0"/>
              <cx:txPr>
                <a:bodyPr spcFirstLastPara="1" vertOverflow="ellipsis" horzOverflow="overflow" wrap="square" lIns="0" tIns="0" rIns="0" bIns="0" anchor="ctr" anchorCtr="1"/>
                <a:lstStyle/>
                <a:p>
                  <a:pPr algn="ctr" rtl="0">
                    <a:defRPr b="1">
                      <a:solidFill>
                        <a:schemeClr val="tx1"/>
                      </a:solidFill>
                    </a:defRPr>
                  </a:pPr>
                  <a:r>
                    <a:rPr lang="en-US" sz="1197" b="1" i="0" u="none" strike="noStrike" baseline="0">
                      <a:solidFill>
                        <a:schemeClr val="tx1"/>
                      </a:solidFill>
                      <a:latin typeface="Calibri"/>
                    </a:rPr>
                    <a:t>-19,019</a:t>
                  </a:r>
                </a:p>
              </cx:txPr>
              <cx:visibility seriesName="0" categoryName="0" value="1"/>
              <cx:separator>, </cx:separator>
            </cx:dataLabel>
          </cx:dataLabels>
          <cx:dataId val="0"/>
          <cx:layoutPr>
            <cx:subtotals/>
          </cx:layoutPr>
        </cx:series>
      </cx:plotAreaRegion>
      <cx:axis id="0">
        <cx:catScaling gapWidth="0.5"/>
        <cx:majorTickMarks type="out"/>
        <cx:tickLabels/>
        <cx:spPr>
          <a:ln>
            <a:solidFill>
              <a:schemeClr val="tx1"/>
            </a:solidFill>
          </a:ln>
        </cx:spPr>
        <cx:txPr>
          <a:bodyPr vertOverflow="overflow" horzOverflow="overflow" wrap="square" lIns="0" tIns="0" rIns="0" bIns="0"/>
          <a:lstStyle/>
          <a:p>
            <a:pPr algn="ctr" rtl="0">
              <a:defRPr sz="900" b="0" i="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sz="900">
              <a:solidFill>
                <a:schemeClr val="tx1"/>
              </a:solidFill>
              <a:latin typeface="Verdana" panose="020B0604030504040204" pitchFamily="34" charset="0"/>
              <a:ea typeface="Verdana" panose="020B0604030504040204" pitchFamily="34" charset="0"/>
            </a:endParaRPr>
          </a:p>
        </cx:txPr>
      </cx:axis>
      <cx:axis id="1" hidden="1">
        <cx:valScaling/>
        <cx:tickLabels/>
        <cx:numFmt formatCode="#,##0" sourceLinked="0"/>
        <cx:txPr>
          <a:bodyPr vertOverflow="overflow" horzOverflow="overflow" wrap="square" lIns="0" tIns="0" rIns="0" bIns="0"/>
          <a:lstStyle/>
          <a:p>
            <a:pPr algn="ctr" rtl="0">
              <a:defRPr sz="900" b="0" i="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sz="900">
              <a:solidFill>
                <a:schemeClr val="tx1"/>
              </a:solidFill>
              <a:latin typeface="Verdana" panose="020B0604030504040204" pitchFamily="34" charset="0"/>
              <a:ea typeface="Verdana" panose="020B0604030504040204" pitchFamily="34" charset="0"/>
            </a:endParaRPr>
          </a:p>
        </cx:txPr>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FY 19</cx:pt>
          <cx:pt idx="1">FY 20</cx:pt>
          <cx:pt idx="2">Total Claim</cx:pt>
          <cx:pt idx="3">Carrying Cost</cx:pt>
          <cx:pt idx="4">Total</cx:pt>
        </cx:lvl>
      </cx:strDim>
      <cx:numDim type="val">
        <cx:f>Sheet1!$B$2:$B$6</cx:f>
        <cx:lvl ptCount="5" formatCode="#,##0.00">
          <cx:pt idx="0">1919.1600000000001</cx:pt>
          <cx:pt idx="1">3480.8099999999999</cx:pt>
          <cx:pt idx="2">5399.9700000000003</cx:pt>
          <cx:pt idx="3">2066.9099999999999</cx:pt>
          <cx:pt idx="4">7466.8800000000001</cx:pt>
        </cx:lvl>
      </cx:numDim>
    </cx:data>
  </cx:chartData>
  <cx:chart>
    <cx:plotArea>
      <cx:plotAreaRegion>
        <cx:series layoutId="waterfall" uniqueId="{719AD9A1-BDD5-4FC9-B279-BE0767257522}">
          <cx:tx>
            <cx:txData>
              <cx:f>Sheet1!$B$1</cx:f>
              <cx:v>APR and FPPCA Claim of WBSEDCL (Rs. Cr.)</cx:v>
            </cx:txData>
          </cx:tx>
          <cx:dataPt idx="2">
            <cx:spPr>
              <a:solidFill>
                <a:srgbClr val="003E58"/>
              </a:solidFill>
            </cx:spPr>
          </cx:dataPt>
          <cx:dataPt idx="4">
            <cx:spPr>
              <a:solidFill>
                <a:srgbClr val="00ABAB"/>
              </a:solidFill>
            </cx:spPr>
          </cx:dataPt>
          <cx:dataLabels>
            <cx:numFmt formatCode="#,##0" sourceLinked="0"/>
            <cx:txPr>
              <a:bodyPr spcFirstLastPara="1" vertOverflow="ellipsis" horzOverflow="overflow" wrap="square" lIns="0" tIns="0" rIns="0" bIns="0" anchor="ctr" anchorCtr="1"/>
              <a:lstStyle/>
              <a:p>
                <a:pPr algn="ctr" rtl="0">
                  <a:defRPr>
                    <a:solidFill>
                      <a:schemeClr val="tx1"/>
                    </a:solidFill>
                  </a:defRPr>
                </a:pPr>
                <a:endParaRPr lang="en-US" sz="1197" b="0" i="0" u="none" strike="noStrike" kern="1200" baseline="0">
                  <a:solidFill>
                    <a:schemeClr val="tx1"/>
                  </a:solidFill>
                  <a:latin typeface="Verdana"/>
                </a:endParaRPr>
              </a:p>
            </cx:txPr>
            <cx:visibility seriesName="0" categoryName="0" value="1"/>
            <cx:separator>, </cx:separator>
            <cx:dataLabel idx="2">
              <cx:numFmt formatCode="#,##0" sourceLinked="0"/>
              <cx:txPr>
                <a:bodyPr spcFirstLastPara="1" vertOverflow="ellipsis" horzOverflow="overflow" wrap="square" lIns="0" tIns="0" rIns="0" bIns="0" anchor="ctr" anchorCtr="1"/>
                <a:lstStyle/>
                <a:p>
                  <a:pPr algn="ctr" rtl="0">
                    <a:defRPr b="1"/>
                  </a:pPr>
                  <a:r>
                    <a:rPr lang="en-US" sz="1197" b="1" i="0" u="none" strike="noStrike" kern="1200" baseline="0">
                      <a:solidFill>
                        <a:prstClr val="black">
                          <a:lumMod val="75000"/>
                          <a:lumOff val="25000"/>
                        </a:prstClr>
                      </a:solidFill>
                      <a:latin typeface="Verdana"/>
                    </a:rPr>
                    <a:t>5,400</a:t>
                  </a:r>
                </a:p>
              </cx:txPr>
              <cx:visibility seriesName="0" categoryName="0" value="1"/>
              <cx:separator>, </cx:separator>
            </cx:dataLabel>
            <cx:dataLabel idx="4">
              <cx:numFmt formatCode="#,##0" sourceLinked="0"/>
              <cx:txPr>
                <a:bodyPr spcFirstLastPara="1" vertOverflow="ellipsis" horzOverflow="overflow" wrap="square" lIns="0" tIns="0" rIns="0" bIns="0" anchor="ctr" anchorCtr="1"/>
                <a:lstStyle/>
                <a:p>
                  <a:pPr algn="ctr" rtl="0">
                    <a:defRPr b="1"/>
                  </a:pPr>
                  <a:r>
                    <a:rPr lang="en-US" sz="1197" b="1" i="0" u="none" strike="noStrike" kern="1200" baseline="0">
                      <a:solidFill>
                        <a:prstClr val="black">
                          <a:lumMod val="75000"/>
                          <a:lumOff val="25000"/>
                        </a:prstClr>
                      </a:solidFill>
                      <a:latin typeface="Verdana"/>
                    </a:rPr>
                    <a:t>7,467</a:t>
                  </a:r>
                </a:p>
              </cx:txPr>
              <cx:visibility seriesName="0" categoryName="0" value="1"/>
              <cx:separator>, </cx:separator>
            </cx:dataLabel>
          </cx:dataLabels>
          <cx:dataId val="0"/>
          <cx:layoutPr>
            <cx:visibility connectorLines="0"/>
            <cx:subtotals>
              <cx:idx val="2"/>
              <cx:idx val="4"/>
            </cx:subtotals>
          </cx:layoutPr>
        </cx:series>
      </cx:plotAreaRegion>
      <cx:axis id="0">
        <cx:catScaling gapWidth="2.19000006"/>
        <cx:majorTickMarks type="out"/>
        <cx:tickLabels/>
        <cx:spPr>
          <a:ln>
            <a:solidFill>
              <a:schemeClr val="tx1"/>
            </a:solidFill>
          </a:ln>
        </cx:spPr>
        <cx:txPr>
          <a:bodyPr spcFirstLastPara="1" vertOverflow="ellipsis" horzOverflow="overflow" wrap="square" lIns="0" tIns="0" rIns="0" bIns="0" anchor="ctr" anchorCtr="1"/>
          <a:lstStyle/>
          <a:p>
            <a:pPr algn="ctr" rtl="0">
              <a:defRPr sz="100">
                <a:solidFill>
                  <a:schemeClr val="bg1"/>
                </a:solidFill>
              </a:defRPr>
            </a:pPr>
            <a:endParaRPr lang="en-US" sz="100" b="0" i="0" u="none" strike="noStrike" kern="1200" baseline="0">
              <a:solidFill>
                <a:schemeClr val="bg1"/>
              </a:solidFill>
              <a:latin typeface="Verdana"/>
            </a:endParaRPr>
          </a:p>
        </cx:txPr>
      </cx:axis>
      <cx:axis id="1" hidden="1">
        <cx:valScaling max="9000"/>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Sheet1!$A$2:$A$8</cx:f>
        <cx:lvl ptCount="7"/>
      </cx:strDim>
      <cx:numDim type="val">
        <cx:f>Sheet1!$B$2:$B$8</cx:f>
        <cx:lvl ptCount="7" formatCode="General">
          <cx:pt idx="0">2.4199999999999999</cx:pt>
          <cx:pt idx="1">3.25</cx:pt>
          <cx:pt idx="2">0.45000000000000001</cx:pt>
          <cx:pt idx="3">0.35999999999999999</cx:pt>
          <cx:pt idx="4">0.55000000000000004</cx:pt>
          <cx:pt idx="5">-0.059999999999999998</cx:pt>
          <cx:pt idx="6">6.9700000000000006</cx:pt>
        </cx:lvl>
      </cx:numDim>
    </cx:data>
  </cx:chartData>
  <cx:chart>
    <cx:plotArea>
      <cx:plotAreaRegion>
        <cx:series layoutId="waterfall" uniqueId="{928DA898-141F-48A3-882A-0DB77A401AF1}">
          <cx:tx>
            <cx:txData>
              <cx:f>Sheet1!$B$1</cx:f>
              <cx:v/>
            </cx:txData>
          </cx:tx>
          <cx:spPr>
            <a:solidFill>
              <a:schemeClr val="accent2"/>
            </a:solidFill>
          </cx:spPr>
          <cx:dataPt idx="5">
            <cx:spPr>
              <a:solidFill>
                <a:srgbClr val="0D8390"/>
              </a:solidFill>
            </cx:spPr>
          </cx:dataPt>
          <cx:dataPt idx="6">
            <cx:spPr>
              <a:solidFill>
                <a:prstClr val="black"/>
              </a:solidFill>
            </cx:spPr>
          </cx:dataPt>
          <cx:dataLabels pos="outEnd">
            <cx:numFmt formatCode="#,##0.00" sourceLinked="0"/>
            <cx:txPr>
              <a:bodyPr vertOverflow="overflow" horzOverflow="overflow" wrap="square" lIns="0" tIns="0" rIns="0" bIns="0"/>
              <a:lstStyle/>
              <a:p>
                <a:pPr algn="ctr" rtl="0">
                  <a:defRPr sz="1200" b="0" i="0">
                    <a:solidFill>
                      <a:schemeClr val="tx1"/>
                    </a:solidFill>
                    <a:latin typeface="+mn-lt"/>
                    <a:ea typeface="Verdana" panose="020B0604030504040204" pitchFamily="34" charset="0"/>
                    <a:cs typeface="Verdana" panose="020B0604030504040204" pitchFamily="34" charset="0"/>
                  </a:defRPr>
                </a:pPr>
                <a:endParaRPr lang="en-US" sz="1200">
                  <a:solidFill>
                    <a:schemeClr val="tx1"/>
                  </a:solidFill>
                  <a:latin typeface="+mn-lt"/>
                </a:endParaRPr>
              </a:p>
            </cx:txPr>
            <cx:visibility seriesName="0" categoryName="0" value="1"/>
            <cx:separator>, </cx:separator>
            <cx:dataLabelHidden idx="6"/>
          </cx:dataLabels>
          <cx:dataId val="0"/>
          <cx:layoutPr>
            <cx:visibility connectorLines="0"/>
            <cx:subtotals>
              <cx:idx val="0"/>
              <cx:idx val="6"/>
            </cx:subtotals>
          </cx:layoutPr>
        </cx:series>
      </cx:plotAreaRegion>
      <cx:axis id="0" hidden="1">
        <cx:catScaling gapWidth="0.5"/>
        <cx:tickLabels/>
        <cx:txPr>
          <a:bodyPr vertOverflow="overflow" horzOverflow="overflow" wrap="square" lIns="0" tIns="0" rIns="0" bIns="0"/>
          <a:lstStyle/>
          <a:p>
            <a:pPr algn="ctr" rtl="0">
              <a:defRPr sz="1200" b="0" i="0">
                <a:solidFill>
                  <a:schemeClr val="tx1"/>
                </a:solidFill>
                <a:latin typeface="+mn-lt"/>
                <a:ea typeface="Verdana" panose="020B0604030504040204" pitchFamily="34" charset="0"/>
                <a:cs typeface="Verdana" panose="020B0604030504040204" pitchFamily="34" charset="0"/>
              </a:defRPr>
            </a:pPr>
            <a:endParaRPr lang="en-US" sz="1200">
              <a:solidFill>
                <a:schemeClr val="tx1"/>
              </a:solidFill>
              <a:latin typeface="+mn-lt"/>
            </a:endParaRPr>
          </a:p>
        </cx:txPr>
      </cx:axis>
      <cx:axis id="1" hidden="1">
        <cx:valScaling/>
        <cx:tickLabels/>
        <cx:txPr>
          <a:bodyPr vertOverflow="overflow" horzOverflow="overflow" wrap="square" lIns="0" tIns="0" rIns="0" bIns="0"/>
          <a:lstStyle/>
          <a:p>
            <a:pPr algn="ctr" rtl="0">
              <a:defRPr sz="1200" b="0" i="0">
                <a:solidFill>
                  <a:schemeClr val="tx1"/>
                </a:solidFill>
                <a:latin typeface="+mn-lt"/>
                <a:ea typeface="Verdana" panose="020B0604030504040204" pitchFamily="34" charset="0"/>
                <a:cs typeface="Verdana" panose="020B0604030504040204" pitchFamily="34" charset="0"/>
              </a:defRPr>
            </a:pPr>
            <a:endParaRPr lang="en-US" sz="1200">
              <a:solidFill>
                <a:schemeClr val="tx1"/>
              </a:solidFill>
              <a:latin typeface="+mn-lt"/>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38.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78.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7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EAD7CD-8428-48A1-A534-E750A00BDA67}"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30219519-95DB-47D0-98A5-C9C022F70221}">
      <dgm:prSet custT="1"/>
      <dgm:spPr/>
      <dgm:t>
        <a:bodyPr anchor="t"/>
        <a:lstStyle/>
        <a:p>
          <a:pPr algn="just"/>
          <a:endParaRPr lang="en-US" sz="1400" dirty="0"/>
        </a:p>
        <a:p>
          <a:pPr algn="just"/>
          <a:r>
            <a:rPr lang="en-US" sz="1400" dirty="0"/>
            <a:t>As per order of Govt. of West Bengal, State Govt. subsidy for electricity consumption is provided to the following consumer category through their energy bills. </a:t>
          </a:r>
        </a:p>
        <a:p>
          <a:pPr algn="just"/>
          <a:endParaRPr lang="en-US" sz="1400" dirty="0"/>
        </a:p>
        <a:p>
          <a:pPr algn="just"/>
          <a:r>
            <a:rPr lang="en-US" sz="1400" dirty="0"/>
            <a:t>The amount payable by consumer is determined after deducting the eligible amount of Govt. subsidy from Gross bill amount of respective consumers (Based on Tariff approved by WBERC &amp; consumption slab)</a:t>
          </a:r>
        </a:p>
        <a:p>
          <a:pPr algn="just"/>
          <a:endParaRPr lang="en-US" sz="1400" dirty="0"/>
        </a:p>
        <a:p>
          <a:pPr algn="just"/>
          <a:r>
            <a:rPr lang="en-US" sz="1400" dirty="0"/>
            <a:t>Presently Domestic consumers are under Quarterly billing system and agriculture consumers are monthly billing system. Govt. subsidy is extended to only following consumer category ( Details set along side)</a:t>
          </a:r>
        </a:p>
      </dgm:t>
    </dgm:pt>
    <dgm:pt modelId="{1F0FFBD9-5465-4E09-A336-F4E793E2D7EC}" type="parTrans" cxnId="{8FEEB093-CDF2-4782-B32C-F19E4D785F06}">
      <dgm:prSet/>
      <dgm:spPr/>
      <dgm:t>
        <a:bodyPr/>
        <a:lstStyle/>
        <a:p>
          <a:endParaRPr lang="en-US" sz="1400"/>
        </a:p>
      </dgm:t>
    </dgm:pt>
    <dgm:pt modelId="{5404366C-4E22-45D4-855B-3B0B5639BC9A}" type="sibTrans" cxnId="{8FEEB093-CDF2-4782-B32C-F19E4D785F06}">
      <dgm:prSet/>
      <dgm:spPr/>
      <dgm:t>
        <a:bodyPr/>
        <a:lstStyle/>
        <a:p>
          <a:endParaRPr lang="en-US" sz="1400"/>
        </a:p>
      </dgm:t>
    </dgm:pt>
    <dgm:pt modelId="{33C7078D-8C15-4F60-BFF8-93E5C1C49FE9}">
      <dgm:prSet custT="1"/>
      <dgm:spPr>
        <a:solidFill>
          <a:schemeClr val="accent1">
            <a:lumMod val="20000"/>
            <a:lumOff val="80000"/>
          </a:schemeClr>
        </a:solidFill>
      </dgm:spPr>
      <dgm:t>
        <a:bodyPr/>
        <a:lstStyle/>
        <a:p>
          <a:r>
            <a:rPr lang="en-US" sz="1400" dirty="0"/>
            <a:t>.  </a:t>
          </a:r>
        </a:p>
      </dgm:t>
    </dgm:pt>
    <dgm:pt modelId="{7A82F9E4-842C-40A6-8506-422C77CF564C}" type="parTrans" cxnId="{88B48B57-5362-4922-9ED9-8E1FD5B6D2C1}">
      <dgm:prSet/>
      <dgm:spPr/>
      <dgm:t>
        <a:bodyPr/>
        <a:lstStyle/>
        <a:p>
          <a:endParaRPr lang="en-US" sz="1400"/>
        </a:p>
      </dgm:t>
    </dgm:pt>
    <dgm:pt modelId="{0BD38F75-ABB2-4DA3-902B-1E4F76602405}" type="sibTrans" cxnId="{88B48B57-5362-4922-9ED9-8E1FD5B6D2C1}">
      <dgm:prSet/>
      <dgm:spPr/>
      <dgm:t>
        <a:bodyPr/>
        <a:lstStyle/>
        <a:p>
          <a:endParaRPr lang="en-US" sz="1400"/>
        </a:p>
      </dgm:t>
    </dgm:pt>
    <dgm:pt modelId="{599AE92A-9D39-4421-A51C-9A1E74B993FE}">
      <dgm:prSet custT="1"/>
      <dgm:spPr>
        <a:solidFill>
          <a:srgbClr val="004F59"/>
        </a:solidFill>
      </dgm:spPr>
      <dgm:t>
        <a:bodyPr/>
        <a:lstStyle/>
        <a:p>
          <a:pPr algn="just"/>
          <a:r>
            <a:rPr lang="en-US" sz="1400" b="1" dirty="0"/>
            <a:t>Life Line (Domestic) Consumer </a:t>
          </a:r>
          <a:r>
            <a:rPr lang="en-US" sz="1400" dirty="0"/>
            <a:t>(means Domestic consumers having contract demand </a:t>
          </a:r>
          <a:r>
            <a:rPr lang="en-US" sz="1400" dirty="0" err="1"/>
            <a:t>upto</a:t>
          </a:r>
          <a:r>
            <a:rPr lang="en-US" sz="1400" dirty="0"/>
            <a:t> 0.3 KW and quarterly consumption of electricity </a:t>
          </a:r>
          <a:r>
            <a:rPr lang="en-US" sz="1400" dirty="0" err="1"/>
            <a:t>upto</a:t>
          </a:r>
          <a:r>
            <a:rPr lang="en-US" sz="1400" dirty="0"/>
            <a:t> 75 units or monthly consumption </a:t>
          </a:r>
          <a:r>
            <a:rPr lang="en-US" sz="1400" dirty="0" err="1"/>
            <a:t>upto</a:t>
          </a:r>
          <a:r>
            <a:rPr lang="en-US" sz="1400" dirty="0"/>
            <a:t> 25 units) :  Govt. subsidy is provided against entire energy bill including meter rent (</a:t>
          </a:r>
          <a:r>
            <a:rPr lang="en-US" sz="1400" dirty="0" err="1"/>
            <a:t>i.e</a:t>
          </a:r>
          <a:r>
            <a:rPr lang="en-US" sz="1400" dirty="0"/>
            <a:t> Zero Bill)</a:t>
          </a:r>
        </a:p>
      </dgm:t>
    </dgm:pt>
    <dgm:pt modelId="{5444CE1A-B5FF-43A6-A94E-04480AFDF93C}" type="parTrans" cxnId="{3974C6D4-B885-472C-B688-5B859D21CB68}">
      <dgm:prSet/>
      <dgm:spPr/>
      <dgm:t>
        <a:bodyPr/>
        <a:lstStyle/>
        <a:p>
          <a:endParaRPr lang="en-US" sz="1400"/>
        </a:p>
      </dgm:t>
    </dgm:pt>
    <dgm:pt modelId="{A0BBCCDB-6301-4702-80D0-F2FB524575EA}" type="sibTrans" cxnId="{3974C6D4-B885-472C-B688-5B859D21CB68}">
      <dgm:prSet/>
      <dgm:spPr/>
      <dgm:t>
        <a:bodyPr/>
        <a:lstStyle/>
        <a:p>
          <a:endParaRPr lang="en-US" sz="1400"/>
        </a:p>
      </dgm:t>
    </dgm:pt>
    <dgm:pt modelId="{5D89B207-5522-406E-A259-2C7E75C5A0E2}">
      <dgm:prSet custT="1"/>
      <dgm:spPr>
        <a:solidFill>
          <a:srgbClr val="004F59"/>
        </a:solidFill>
      </dgm:spPr>
      <dgm:t>
        <a:bodyPr/>
        <a:lstStyle/>
        <a:p>
          <a:pPr algn="just"/>
          <a:r>
            <a:rPr lang="en-US" sz="1400" dirty="0"/>
            <a:t>[In any quarter, if consumption &gt; 75 unit, then treated as Domestic (Rural / Urban)]</a:t>
          </a:r>
        </a:p>
      </dgm:t>
    </dgm:pt>
    <dgm:pt modelId="{2D7796A7-4EB2-4623-AB69-A4AFC6EE6D68}" type="parTrans" cxnId="{ED2EDC58-2775-434D-ABEF-A893C1BD7E7C}">
      <dgm:prSet/>
      <dgm:spPr/>
      <dgm:t>
        <a:bodyPr/>
        <a:lstStyle/>
        <a:p>
          <a:endParaRPr lang="en-US" sz="1400"/>
        </a:p>
      </dgm:t>
    </dgm:pt>
    <dgm:pt modelId="{F1A665AA-4359-4D80-8E03-C1740500F61C}" type="sibTrans" cxnId="{ED2EDC58-2775-434D-ABEF-A893C1BD7E7C}">
      <dgm:prSet/>
      <dgm:spPr/>
      <dgm:t>
        <a:bodyPr/>
        <a:lstStyle/>
        <a:p>
          <a:endParaRPr lang="en-US" sz="1400"/>
        </a:p>
      </dgm:t>
    </dgm:pt>
    <dgm:pt modelId="{A434ED0C-1E76-4BD0-99E9-BE5044CCFA82}">
      <dgm:prSet custT="1"/>
      <dgm:spPr>
        <a:solidFill>
          <a:srgbClr val="004F59"/>
        </a:solidFill>
      </dgm:spPr>
      <dgm:t>
        <a:bodyPr/>
        <a:lstStyle/>
        <a:p>
          <a:pPr algn="l"/>
          <a:endParaRPr lang="en-US" sz="1400" dirty="0"/>
        </a:p>
      </dgm:t>
    </dgm:pt>
    <dgm:pt modelId="{20D362BB-B9FC-4ABD-9161-F43D17D614F1}" type="parTrans" cxnId="{5BC56FEB-B998-4A53-B1D9-232EB9F49866}">
      <dgm:prSet/>
      <dgm:spPr/>
      <dgm:t>
        <a:bodyPr/>
        <a:lstStyle/>
        <a:p>
          <a:endParaRPr lang="en-US" sz="1400"/>
        </a:p>
      </dgm:t>
    </dgm:pt>
    <dgm:pt modelId="{FC823EFE-5EC2-4AA8-B4D0-B5777489CD49}" type="sibTrans" cxnId="{5BC56FEB-B998-4A53-B1D9-232EB9F49866}">
      <dgm:prSet/>
      <dgm:spPr/>
      <dgm:t>
        <a:bodyPr/>
        <a:lstStyle/>
        <a:p>
          <a:endParaRPr lang="en-US" sz="1400"/>
        </a:p>
      </dgm:t>
    </dgm:pt>
    <dgm:pt modelId="{B7922427-DC66-4645-A40D-1F84C9BC7406}">
      <dgm:prSet custT="1"/>
      <dgm:spPr/>
      <dgm:t>
        <a:bodyPr/>
        <a:lstStyle/>
        <a:p>
          <a:pPr algn="just"/>
          <a:r>
            <a:rPr lang="en-US" sz="1400" b="1" dirty="0"/>
            <a:t>Domestic (Rural/Urban) Consumer </a:t>
          </a:r>
          <a:r>
            <a:rPr lang="en-US" sz="1400" dirty="0"/>
            <a:t>: Domestic consumer having monthly consumption of electricity </a:t>
          </a:r>
          <a:r>
            <a:rPr lang="en-US" sz="1400" dirty="0" err="1"/>
            <a:t>upto</a:t>
          </a:r>
          <a:r>
            <a:rPr lang="en-US" sz="1400" dirty="0"/>
            <a:t> 300 units has been provided Govt subsidy on energy Charge (</a:t>
          </a:r>
          <a:r>
            <a:rPr lang="en-US" sz="1400" dirty="0" err="1"/>
            <a:t>slabwise</a:t>
          </a:r>
          <a:r>
            <a:rPr lang="en-US" sz="1400" dirty="0"/>
            <a:t>), Fixed Charge &amp; MVCA.</a:t>
          </a:r>
        </a:p>
      </dgm:t>
    </dgm:pt>
    <dgm:pt modelId="{A7988332-6CD9-4393-B514-F0569B510DC1}" type="parTrans" cxnId="{B13D7EF2-ADEA-418B-A33B-91E25F8A8506}">
      <dgm:prSet/>
      <dgm:spPr/>
      <dgm:t>
        <a:bodyPr/>
        <a:lstStyle/>
        <a:p>
          <a:endParaRPr lang="en-US" sz="1400"/>
        </a:p>
      </dgm:t>
    </dgm:pt>
    <dgm:pt modelId="{1BF96C21-A2DA-42AD-9648-900139571B44}" type="sibTrans" cxnId="{B13D7EF2-ADEA-418B-A33B-91E25F8A8506}">
      <dgm:prSet/>
      <dgm:spPr/>
      <dgm:t>
        <a:bodyPr/>
        <a:lstStyle/>
        <a:p>
          <a:endParaRPr lang="en-US" sz="1400"/>
        </a:p>
      </dgm:t>
    </dgm:pt>
    <dgm:pt modelId="{3F597DF2-F9DE-44B5-96B7-9D39CD2D9C05}">
      <dgm:prSet custT="1"/>
      <dgm:spPr/>
      <dgm:t>
        <a:bodyPr/>
        <a:lstStyle/>
        <a:p>
          <a:pPr algn="just"/>
          <a:r>
            <a:rPr lang="en-US" sz="1400" dirty="0"/>
            <a:t>[In any quarter, if consumption &gt; 900 unit, no govt. subsidy is provided)]</a:t>
          </a:r>
        </a:p>
      </dgm:t>
    </dgm:pt>
    <dgm:pt modelId="{5DA929BB-32DD-434C-95BE-F3EBD4B54A52}" type="parTrans" cxnId="{0D3E498E-0286-438B-8FE6-F7D55614A702}">
      <dgm:prSet/>
      <dgm:spPr/>
      <dgm:t>
        <a:bodyPr/>
        <a:lstStyle/>
        <a:p>
          <a:endParaRPr lang="en-US" sz="1400"/>
        </a:p>
      </dgm:t>
    </dgm:pt>
    <dgm:pt modelId="{8DC08BD0-8E64-450E-A95F-6CFD25FBB978}" type="sibTrans" cxnId="{0D3E498E-0286-438B-8FE6-F7D55614A702}">
      <dgm:prSet/>
      <dgm:spPr/>
      <dgm:t>
        <a:bodyPr/>
        <a:lstStyle/>
        <a:p>
          <a:endParaRPr lang="en-US" sz="1400"/>
        </a:p>
      </dgm:t>
    </dgm:pt>
    <dgm:pt modelId="{E463564F-D3D1-40DE-892E-44287236571A}">
      <dgm:prSet custT="1"/>
      <dgm:spPr/>
      <dgm:t>
        <a:bodyPr/>
        <a:lstStyle/>
        <a:p>
          <a:pPr algn="l"/>
          <a:endParaRPr lang="en-US" sz="1400" dirty="0"/>
        </a:p>
      </dgm:t>
    </dgm:pt>
    <dgm:pt modelId="{355C9B59-6BE7-4FF3-AF93-55585303A645}" type="parTrans" cxnId="{832E1200-8DC5-4379-A4AA-97EEED374284}">
      <dgm:prSet/>
      <dgm:spPr/>
      <dgm:t>
        <a:bodyPr/>
        <a:lstStyle/>
        <a:p>
          <a:endParaRPr lang="en-US" sz="1400"/>
        </a:p>
      </dgm:t>
    </dgm:pt>
    <dgm:pt modelId="{E120351F-E49F-4D52-A794-4D4A36E36F06}" type="sibTrans" cxnId="{832E1200-8DC5-4379-A4AA-97EEED374284}">
      <dgm:prSet/>
      <dgm:spPr/>
      <dgm:t>
        <a:bodyPr/>
        <a:lstStyle/>
        <a:p>
          <a:endParaRPr lang="en-US" sz="1400"/>
        </a:p>
      </dgm:t>
    </dgm:pt>
    <dgm:pt modelId="{B6985FF0-7AA2-4D80-BBF4-A5F0673B7F9F}">
      <dgm:prSet custT="1"/>
      <dgm:spPr>
        <a:solidFill>
          <a:srgbClr val="046A38"/>
        </a:solidFill>
      </dgm:spPr>
      <dgm:t>
        <a:bodyPr/>
        <a:lstStyle/>
        <a:p>
          <a:pPr algn="just"/>
          <a:r>
            <a:rPr lang="en-US" sz="1400" b="1" dirty="0"/>
            <a:t>Agriculture Consumer: </a:t>
          </a:r>
          <a:r>
            <a:rPr lang="en-US" sz="1400" dirty="0"/>
            <a:t>Agriculture consumer having monthly consumption of electricity </a:t>
          </a:r>
          <a:r>
            <a:rPr lang="en-US" sz="1400" dirty="0" err="1"/>
            <a:t>upto</a:t>
          </a:r>
          <a:r>
            <a:rPr lang="en-US" sz="1400" dirty="0"/>
            <a:t> 300 units has been provided Govt subsidy on energy Charge, Fixed Charge &amp; MVCA</a:t>
          </a:r>
        </a:p>
      </dgm:t>
    </dgm:pt>
    <dgm:pt modelId="{5961CEB6-89DA-4191-805F-D958B5FDD227}" type="parTrans" cxnId="{601DA9E3-ED70-4D24-A84B-7418A3F8D2CD}">
      <dgm:prSet/>
      <dgm:spPr/>
      <dgm:t>
        <a:bodyPr/>
        <a:lstStyle/>
        <a:p>
          <a:endParaRPr lang="en-US" sz="1400"/>
        </a:p>
      </dgm:t>
    </dgm:pt>
    <dgm:pt modelId="{3DC4E592-9C7D-48CC-B2CE-6F5AB40A2053}" type="sibTrans" cxnId="{601DA9E3-ED70-4D24-A84B-7418A3F8D2CD}">
      <dgm:prSet/>
      <dgm:spPr/>
      <dgm:t>
        <a:bodyPr/>
        <a:lstStyle/>
        <a:p>
          <a:endParaRPr lang="en-US" sz="1400"/>
        </a:p>
      </dgm:t>
    </dgm:pt>
    <dgm:pt modelId="{B1F3A043-7E95-4839-B5D2-CA2A971B20FA}">
      <dgm:prSet custT="1"/>
      <dgm:spPr>
        <a:solidFill>
          <a:srgbClr val="046A38"/>
        </a:solidFill>
      </dgm:spPr>
      <dgm:t>
        <a:bodyPr/>
        <a:lstStyle/>
        <a:p>
          <a:pPr algn="just"/>
          <a:r>
            <a:rPr lang="en-US" sz="1400" dirty="0"/>
            <a:t>[In any month, if consumption &gt; 300 unit, no govt. subsidy is provided)]</a:t>
          </a:r>
        </a:p>
      </dgm:t>
    </dgm:pt>
    <dgm:pt modelId="{731DB3D3-9101-4DC4-862A-C4C41BCBBE58}" type="parTrans" cxnId="{AE962CA2-4889-4EEA-B261-931BABE6B3A6}">
      <dgm:prSet/>
      <dgm:spPr/>
      <dgm:t>
        <a:bodyPr/>
        <a:lstStyle/>
        <a:p>
          <a:endParaRPr lang="en-US" sz="1400"/>
        </a:p>
      </dgm:t>
    </dgm:pt>
    <dgm:pt modelId="{86397EFC-E136-41BB-BBEA-EEEC85BB4DF8}" type="sibTrans" cxnId="{AE962CA2-4889-4EEA-B261-931BABE6B3A6}">
      <dgm:prSet/>
      <dgm:spPr/>
      <dgm:t>
        <a:bodyPr/>
        <a:lstStyle/>
        <a:p>
          <a:endParaRPr lang="en-US" sz="1400"/>
        </a:p>
      </dgm:t>
    </dgm:pt>
    <dgm:pt modelId="{C95FB990-7C02-4CF0-A6E1-ECFC98DD43A6}" type="pres">
      <dgm:prSet presAssocID="{06EAD7CD-8428-48A1-A534-E750A00BDA67}" presName="theList" presStyleCnt="0">
        <dgm:presLayoutVars>
          <dgm:dir/>
          <dgm:animLvl val="lvl"/>
          <dgm:resizeHandles val="exact"/>
        </dgm:presLayoutVars>
      </dgm:prSet>
      <dgm:spPr/>
    </dgm:pt>
    <dgm:pt modelId="{53EEBFD4-DDC2-40A2-BFE7-ADEDC54D932E}" type="pres">
      <dgm:prSet presAssocID="{30219519-95DB-47D0-98A5-C9C022F70221}" presName="compNode" presStyleCnt="0"/>
      <dgm:spPr/>
    </dgm:pt>
    <dgm:pt modelId="{468C4495-678E-4576-9164-5518E14AE64F}" type="pres">
      <dgm:prSet presAssocID="{30219519-95DB-47D0-98A5-C9C022F70221}" presName="aNode" presStyleLbl="bgShp" presStyleIdx="0" presStyleCnt="2" custScaleX="62294"/>
      <dgm:spPr/>
    </dgm:pt>
    <dgm:pt modelId="{0478B917-47E8-4501-8656-D629774D4308}" type="pres">
      <dgm:prSet presAssocID="{30219519-95DB-47D0-98A5-C9C022F70221}" presName="textNode" presStyleLbl="bgShp" presStyleIdx="0" presStyleCnt="2"/>
      <dgm:spPr/>
    </dgm:pt>
    <dgm:pt modelId="{C6D4EC0E-D73B-4F90-B647-53720E8A3D3D}" type="pres">
      <dgm:prSet presAssocID="{30219519-95DB-47D0-98A5-C9C022F70221}" presName="compChildNode" presStyleCnt="0"/>
      <dgm:spPr/>
    </dgm:pt>
    <dgm:pt modelId="{2A27CAB0-2284-48A2-BF4F-82A4AD349D70}" type="pres">
      <dgm:prSet presAssocID="{30219519-95DB-47D0-98A5-C9C022F70221}" presName="theInnerList" presStyleCnt="0"/>
      <dgm:spPr/>
    </dgm:pt>
    <dgm:pt modelId="{97E59D4F-2674-4CC6-ADC8-54068F013A16}" type="pres">
      <dgm:prSet presAssocID="{30219519-95DB-47D0-98A5-C9C022F70221}" presName="aSpace" presStyleCnt="0"/>
      <dgm:spPr/>
    </dgm:pt>
    <dgm:pt modelId="{B085363F-5A40-4C3F-B80A-CABB11117240}" type="pres">
      <dgm:prSet presAssocID="{33C7078D-8C15-4F60-BFF8-93E5C1C49FE9}" presName="compNode" presStyleCnt="0"/>
      <dgm:spPr/>
    </dgm:pt>
    <dgm:pt modelId="{CE59360E-969D-44BF-ADF0-7FC23910DA7F}" type="pres">
      <dgm:prSet presAssocID="{33C7078D-8C15-4F60-BFF8-93E5C1C49FE9}" presName="aNode" presStyleLbl="bgShp" presStyleIdx="1" presStyleCnt="2" custScaleX="167229" custLinFactNeighborY="-3324"/>
      <dgm:spPr/>
    </dgm:pt>
    <dgm:pt modelId="{8E59188B-1114-4B30-9B7F-396350B15BCD}" type="pres">
      <dgm:prSet presAssocID="{33C7078D-8C15-4F60-BFF8-93E5C1C49FE9}" presName="textNode" presStyleLbl="bgShp" presStyleIdx="1" presStyleCnt="2"/>
      <dgm:spPr/>
    </dgm:pt>
    <dgm:pt modelId="{0719A7B1-4276-4FC4-903D-060306E409C1}" type="pres">
      <dgm:prSet presAssocID="{33C7078D-8C15-4F60-BFF8-93E5C1C49FE9}" presName="compChildNode" presStyleCnt="0"/>
      <dgm:spPr/>
    </dgm:pt>
    <dgm:pt modelId="{48CA3D88-E0CB-4F82-9089-455517E5C937}" type="pres">
      <dgm:prSet presAssocID="{33C7078D-8C15-4F60-BFF8-93E5C1C49FE9}" presName="theInnerList" presStyleCnt="0"/>
      <dgm:spPr/>
    </dgm:pt>
    <dgm:pt modelId="{A841BD08-6744-42E6-87FC-3DFA1BDD9743}" type="pres">
      <dgm:prSet presAssocID="{599AE92A-9D39-4421-A51C-9A1E74B993FE}" presName="childNode" presStyleLbl="node1" presStyleIdx="0" presStyleCnt="3" custScaleX="200800" custScaleY="2000000" custLinFactY="-1886782" custLinFactNeighborX="0" custLinFactNeighborY="-1900000">
        <dgm:presLayoutVars>
          <dgm:bulletEnabled val="1"/>
        </dgm:presLayoutVars>
      </dgm:prSet>
      <dgm:spPr/>
    </dgm:pt>
    <dgm:pt modelId="{DAFD2598-CEA5-4CAA-9454-954667746D08}" type="pres">
      <dgm:prSet presAssocID="{599AE92A-9D39-4421-A51C-9A1E74B993FE}" presName="aSpace2" presStyleCnt="0"/>
      <dgm:spPr/>
    </dgm:pt>
    <dgm:pt modelId="{33574C0F-A607-41AC-AD19-D9F6B660C060}" type="pres">
      <dgm:prSet presAssocID="{B7922427-DC66-4645-A40D-1F84C9BC7406}" presName="childNode" presStyleLbl="node1" presStyleIdx="1" presStyleCnt="3" custScaleX="183826" custScaleY="2000000" custLinFactY="-909272" custLinFactNeighborX="-1604" custLinFactNeighborY="-1000000">
        <dgm:presLayoutVars>
          <dgm:bulletEnabled val="1"/>
        </dgm:presLayoutVars>
      </dgm:prSet>
      <dgm:spPr/>
    </dgm:pt>
    <dgm:pt modelId="{23556CAA-5301-463A-BEB2-FB8B6C3EAFFF}" type="pres">
      <dgm:prSet presAssocID="{B7922427-DC66-4645-A40D-1F84C9BC7406}" presName="aSpace2" presStyleCnt="0"/>
      <dgm:spPr/>
    </dgm:pt>
    <dgm:pt modelId="{DC1406D6-8BEF-407F-9815-1F6B4F85520F}" type="pres">
      <dgm:prSet presAssocID="{B6985FF0-7AA2-4D80-BBF4-A5F0673B7F9F}" presName="childNode" presStyleLbl="node1" presStyleIdx="2" presStyleCnt="3" custScaleX="192433" custScaleY="2000000" custLinFactY="-383098" custLinFactNeighborX="669" custLinFactNeighborY="-400000">
        <dgm:presLayoutVars>
          <dgm:bulletEnabled val="1"/>
        </dgm:presLayoutVars>
      </dgm:prSet>
      <dgm:spPr/>
    </dgm:pt>
  </dgm:ptLst>
  <dgm:cxnLst>
    <dgm:cxn modelId="{832E1200-8DC5-4379-A4AA-97EEED374284}" srcId="{B7922427-DC66-4645-A40D-1F84C9BC7406}" destId="{E463564F-D3D1-40DE-892E-44287236571A}" srcOrd="1" destOrd="0" parTransId="{355C9B59-6BE7-4FF3-AF93-55585303A645}" sibTransId="{E120351F-E49F-4D52-A794-4D4A36E36F06}"/>
    <dgm:cxn modelId="{7952A204-D76B-479E-98CE-0757E6A229FA}" type="presOf" srcId="{599AE92A-9D39-4421-A51C-9A1E74B993FE}" destId="{A841BD08-6744-42E6-87FC-3DFA1BDD9743}" srcOrd="0" destOrd="0" presId="urn:microsoft.com/office/officeart/2005/8/layout/lProcess2"/>
    <dgm:cxn modelId="{1BD4850A-1700-461E-A560-70632C9FF487}" type="presOf" srcId="{A434ED0C-1E76-4BD0-99E9-BE5044CCFA82}" destId="{A841BD08-6744-42E6-87FC-3DFA1BDD9743}" srcOrd="0" destOrd="2" presId="urn:microsoft.com/office/officeart/2005/8/layout/lProcess2"/>
    <dgm:cxn modelId="{E7D8C514-BE83-4335-81FF-83F1D1E949DD}" type="presOf" srcId="{B6985FF0-7AA2-4D80-BBF4-A5F0673B7F9F}" destId="{DC1406D6-8BEF-407F-9815-1F6B4F85520F}" srcOrd="0" destOrd="0" presId="urn:microsoft.com/office/officeart/2005/8/layout/lProcess2"/>
    <dgm:cxn modelId="{88AD781A-20B7-4D1C-97CC-BB9B828F2414}" type="presOf" srcId="{33C7078D-8C15-4F60-BFF8-93E5C1C49FE9}" destId="{8E59188B-1114-4B30-9B7F-396350B15BCD}" srcOrd="1" destOrd="0" presId="urn:microsoft.com/office/officeart/2005/8/layout/lProcess2"/>
    <dgm:cxn modelId="{D4AAB324-7B01-4E79-802E-46A543BE370F}" type="presOf" srcId="{3F597DF2-F9DE-44B5-96B7-9D39CD2D9C05}" destId="{33574C0F-A607-41AC-AD19-D9F6B660C060}" srcOrd="0" destOrd="1" presId="urn:microsoft.com/office/officeart/2005/8/layout/lProcess2"/>
    <dgm:cxn modelId="{C9C90064-DB59-405D-8585-238EFC6235FB}" type="presOf" srcId="{E463564F-D3D1-40DE-892E-44287236571A}" destId="{33574C0F-A607-41AC-AD19-D9F6B660C060}" srcOrd="0" destOrd="2" presId="urn:microsoft.com/office/officeart/2005/8/layout/lProcess2"/>
    <dgm:cxn modelId="{0136A956-18B0-4BFB-9B9A-B68747DE39FA}" type="presOf" srcId="{33C7078D-8C15-4F60-BFF8-93E5C1C49FE9}" destId="{CE59360E-969D-44BF-ADF0-7FC23910DA7F}" srcOrd="0" destOrd="0" presId="urn:microsoft.com/office/officeart/2005/8/layout/lProcess2"/>
    <dgm:cxn modelId="{88B48B57-5362-4922-9ED9-8E1FD5B6D2C1}" srcId="{06EAD7CD-8428-48A1-A534-E750A00BDA67}" destId="{33C7078D-8C15-4F60-BFF8-93E5C1C49FE9}" srcOrd="1" destOrd="0" parTransId="{7A82F9E4-842C-40A6-8506-422C77CF564C}" sibTransId="{0BD38F75-ABB2-4DA3-902B-1E4F76602405}"/>
    <dgm:cxn modelId="{ED2EDC58-2775-434D-ABEF-A893C1BD7E7C}" srcId="{599AE92A-9D39-4421-A51C-9A1E74B993FE}" destId="{5D89B207-5522-406E-A259-2C7E75C5A0E2}" srcOrd="0" destOrd="0" parTransId="{2D7796A7-4EB2-4623-AB69-A4AFC6EE6D68}" sibTransId="{F1A665AA-4359-4D80-8E03-C1740500F61C}"/>
    <dgm:cxn modelId="{0D3E498E-0286-438B-8FE6-F7D55614A702}" srcId="{B7922427-DC66-4645-A40D-1F84C9BC7406}" destId="{3F597DF2-F9DE-44B5-96B7-9D39CD2D9C05}" srcOrd="0" destOrd="0" parTransId="{5DA929BB-32DD-434C-95BE-F3EBD4B54A52}" sibTransId="{8DC08BD0-8E64-450E-A95F-6CFD25FBB978}"/>
    <dgm:cxn modelId="{8FEEB093-CDF2-4782-B32C-F19E4D785F06}" srcId="{06EAD7CD-8428-48A1-A534-E750A00BDA67}" destId="{30219519-95DB-47D0-98A5-C9C022F70221}" srcOrd="0" destOrd="0" parTransId="{1F0FFBD9-5465-4E09-A336-F4E793E2D7EC}" sibTransId="{5404366C-4E22-45D4-855B-3B0B5639BC9A}"/>
    <dgm:cxn modelId="{A7A95696-E0B5-4338-B56F-74717FD1C9D4}" type="presOf" srcId="{B7922427-DC66-4645-A40D-1F84C9BC7406}" destId="{33574C0F-A607-41AC-AD19-D9F6B660C060}" srcOrd="0" destOrd="0" presId="urn:microsoft.com/office/officeart/2005/8/layout/lProcess2"/>
    <dgm:cxn modelId="{C689E39A-0D07-44C0-8919-1770F7AC1ACF}" type="presOf" srcId="{06EAD7CD-8428-48A1-A534-E750A00BDA67}" destId="{C95FB990-7C02-4CF0-A6E1-ECFC98DD43A6}" srcOrd="0" destOrd="0" presId="urn:microsoft.com/office/officeart/2005/8/layout/lProcess2"/>
    <dgm:cxn modelId="{AE962CA2-4889-4EEA-B261-931BABE6B3A6}" srcId="{B6985FF0-7AA2-4D80-BBF4-A5F0673B7F9F}" destId="{B1F3A043-7E95-4839-B5D2-CA2A971B20FA}" srcOrd="0" destOrd="0" parTransId="{731DB3D3-9101-4DC4-862A-C4C41BCBBE58}" sibTransId="{86397EFC-E136-41BB-BBEA-EEEC85BB4DF8}"/>
    <dgm:cxn modelId="{9B7400AA-628F-47CA-8D47-E1C37AA40E61}" type="presOf" srcId="{30219519-95DB-47D0-98A5-C9C022F70221}" destId="{468C4495-678E-4576-9164-5518E14AE64F}" srcOrd="0" destOrd="0" presId="urn:microsoft.com/office/officeart/2005/8/layout/lProcess2"/>
    <dgm:cxn modelId="{DD1FE5AF-A560-4C2A-B69C-CC6C2C2C76E1}" type="presOf" srcId="{30219519-95DB-47D0-98A5-C9C022F70221}" destId="{0478B917-47E8-4501-8656-D629774D4308}" srcOrd="1" destOrd="0" presId="urn:microsoft.com/office/officeart/2005/8/layout/lProcess2"/>
    <dgm:cxn modelId="{9D4985BD-7309-463A-97CD-52BAA75F214A}" type="presOf" srcId="{B1F3A043-7E95-4839-B5D2-CA2A971B20FA}" destId="{DC1406D6-8BEF-407F-9815-1F6B4F85520F}" srcOrd="0" destOrd="1" presId="urn:microsoft.com/office/officeart/2005/8/layout/lProcess2"/>
    <dgm:cxn modelId="{3974C6D4-B885-472C-B688-5B859D21CB68}" srcId="{33C7078D-8C15-4F60-BFF8-93E5C1C49FE9}" destId="{599AE92A-9D39-4421-A51C-9A1E74B993FE}" srcOrd="0" destOrd="0" parTransId="{5444CE1A-B5FF-43A6-A94E-04480AFDF93C}" sibTransId="{A0BBCCDB-6301-4702-80D0-F2FB524575EA}"/>
    <dgm:cxn modelId="{601DA9E3-ED70-4D24-A84B-7418A3F8D2CD}" srcId="{33C7078D-8C15-4F60-BFF8-93E5C1C49FE9}" destId="{B6985FF0-7AA2-4D80-BBF4-A5F0673B7F9F}" srcOrd="2" destOrd="0" parTransId="{5961CEB6-89DA-4191-805F-D958B5FDD227}" sibTransId="{3DC4E592-9C7D-48CC-B2CE-6F5AB40A2053}"/>
    <dgm:cxn modelId="{5BC56FEB-B998-4A53-B1D9-232EB9F49866}" srcId="{599AE92A-9D39-4421-A51C-9A1E74B993FE}" destId="{A434ED0C-1E76-4BD0-99E9-BE5044CCFA82}" srcOrd="1" destOrd="0" parTransId="{20D362BB-B9FC-4ABD-9161-F43D17D614F1}" sibTransId="{FC823EFE-5EC2-4AA8-B4D0-B5777489CD49}"/>
    <dgm:cxn modelId="{B13D7EF2-ADEA-418B-A33B-91E25F8A8506}" srcId="{33C7078D-8C15-4F60-BFF8-93E5C1C49FE9}" destId="{B7922427-DC66-4645-A40D-1F84C9BC7406}" srcOrd="1" destOrd="0" parTransId="{A7988332-6CD9-4393-B514-F0569B510DC1}" sibTransId="{1BF96C21-A2DA-42AD-9648-900139571B44}"/>
    <dgm:cxn modelId="{E7300AFD-979B-4758-8C55-A67C0BA9DBBA}" type="presOf" srcId="{5D89B207-5522-406E-A259-2C7E75C5A0E2}" destId="{A841BD08-6744-42E6-87FC-3DFA1BDD9743}" srcOrd="0" destOrd="1" presId="urn:microsoft.com/office/officeart/2005/8/layout/lProcess2"/>
    <dgm:cxn modelId="{428320C1-D52D-468B-885B-2E59237FAB07}" type="presParOf" srcId="{C95FB990-7C02-4CF0-A6E1-ECFC98DD43A6}" destId="{53EEBFD4-DDC2-40A2-BFE7-ADEDC54D932E}" srcOrd="0" destOrd="0" presId="urn:microsoft.com/office/officeart/2005/8/layout/lProcess2"/>
    <dgm:cxn modelId="{2E812022-D3B0-4F22-ADE7-1F7AEEF439BF}" type="presParOf" srcId="{53EEBFD4-DDC2-40A2-BFE7-ADEDC54D932E}" destId="{468C4495-678E-4576-9164-5518E14AE64F}" srcOrd="0" destOrd="0" presId="urn:microsoft.com/office/officeart/2005/8/layout/lProcess2"/>
    <dgm:cxn modelId="{B34546A6-22E6-4628-B878-FE372453F41C}" type="presParOf" srcId="{53EEBFD4-DDC2-40A2-BFE7-ADEDC54D932E}" destId="{0478B917-47E8-4501-8656-D629774D4308}" srcOrd="1" destOrd="0" presId="urn:microsoft.com/office/officeart/2005/8/layout/lProcess2"/>
    <dgm:cxn modelId="{8EC61724-1C29-473E-BC96-1CE8D5B7AB54}" type="presParOf" srcId="{53EEBFD4-DDC2-40A2-BFE7-ADEDC54D932E}" destId="{C6D4EC0E-D73B-4F90-B647-53720E8A3D3D}" srcOrd="2" destOrd="0" presId="urn:microsoft.com/office/officeart/2005/8/layout/lProcess2"/>
    <dgm:cxn modelId="{9E7542BE-F0FE-4996-9D70-EFD2B8F6AF0C}" type="presParOf" srcId="{C6D4EC0E-D73B-4F90-B647-53720E8A3D3D}" destId="{2A27CAB0-2284-48A2-BF4F-82A4AD349D70}" srcOrd="0" destOrd="0" presId="urn:microsoft.com/office/officeart/2005/8/layout/lProcess2"/>
    <dgm:cxn modelId="{7934074D-D2B4-4689-A2BE-86A5A89E4307}" type="presParOf" srcId="{C95FB990-7C02-4CF0-A6E1-ECFC98DD43A6}" destId="{97E59D4F-2674-4CC6-ADC8-54068F013A16}" srcOrd="1" destOrd="0" presId="urn:microsoft.com/office/officeart/2005/8/layout/lProcess2"/>
    <dgm:cxn modelId="{60AB8A47-4237-480E-8CFF-18ADB13FB372}" type="presParOf" srcId="{C95FB990-7C02-4CF0-A6E1-ECFC98DD43A6}" destId="{B085363F-5A40-4C3F-B80A-CABB11117240}" srcOrd="2" destOrd="0" presId="urn:microsoft.com/office/officeart/2005/8/layout/lProcess2"/>
    <dgm:cxn modelId="{D3F54822-8976-4376-95EA-A71513858676}" type="presParOf" srcId="{B085363F-5A40-4C3F-B80A-CABB11117240}" destId="{CE59360E-969D-44BF-ADF0-7FC23910DA7F}" srcOrd="0" destOrd="0" presId="urn:microsoft.com/office/officeart/2005/8/layout/lProcess2"/>
    <dgm:cxn modelId="{2AD35B8B-12DF-4AF4-AE7F-0BB533F67F38}" type="presParOf" srcId="{B085363F-5A40-4C3F-B80A-CABB11117240}" destId="{8E59188B-1114-4B30-9B7F-396350B15BCD}" srcOrd="1" destOrd="0" presId="urn:microsoft.com/office/officeart/2005/8/layout/lProcess2"/>
    <dgm:cxn modelId="{D55B1CAB-6AB6-432A-A2E0-D8BBDD8FF5D1}" type="presParOf" srcId="{B085363F-5A40-4C3F-B80A-CABB11117240}" destId="{0719A7B1-4276-4FC4-903D-060306E409C1}" srcOrd="2" destOrd="0" presId="urn:microsoft.com/office/officeart/2005/8/layout/lProcess2"/>
    <dgm:cxn modelId="{394BAD69-5AD6-4F80-B84E-48B802AFDC98}" type="presParOf" srcId="{0719A7B1-4276-4FC4-903D-060306E409C1}" destId="{48CA3D88-E0CB-4F82-9089-455517E5C937}" srcOrd="0" destOrd="0" presId="urn:microsoft.com/office/officeart/2005/8/layout/lProcess2"/>
    <dgm:cxn modelId="{659061A9-1C8E-40B2-8A01-DCB54F59F215}" type="presParOf" srcId="{48CA3D88-E0CB-4F82-9089-455517E5C937}" destId="{A841BD08-6744-42E6-87FC-3DFA1BDD9743}" srcOrd="0" destOrd="0" presId="urn:microsoft.com/office/officeart/2005/8/layout/lProcess2"/>
    <dgm:cxn modelId="{8F65CC73-87AB-4F3C-A085-6DFDE07D4566}" type="presParOf" srcId="{48CA3D88-E0CB-4F82-9089-455517E5C937}" destId="{DAFD2598-CEA5-4CAA-9454-954667746D08}" srcOrd="1" destOrd="0" presId="urn:microsoft.com/office/officeart/2005/8/layout/lProcess2"/>
    <dgm:cxn modelId="{6EC8E391-18CE-4B4B-B966-314DB57E821D}" type="presParOf" srcId="{48CA3D88-E0CB-4F82-9089-455517E5C937}" destId="{33574C0F-A607-41AC-AD19-D9F6B660C060}" srcOrd="2" destOrd="0" presId="urn:microsoft.com/office/officeart/2005/8/layout/lProcess2"/>
    <dgm:cxn modelId="{5DECA409-4F56-4613-86C6-65AD2BAA5445}" type="presParOf" srcId="{48CA3D88-E0CB-4F82-9089-455517E5C937}" destId="{23556CAA-5301-463A-BEB2-FB8B6C3EAFFF}" srcOrd="3" destOrd="0" presId="urn:microsoft.com/office/officeart/2005/8/layout/lProcess2"/>
    <dgm:cxn modelId="{283560D4-4452-4A27-85C1-010E75FFCF42}" type="presParOf" srcId="{48CA3D88-E0CB-4F82-9089-455517E5C937}" destId="{DC1406D6-8BEF-407F-9815-1F6B4F85520F}"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8C4495-678E-4576-9164-5518E14AE64F}">
      <dsp:nvSpPr>
        <dsp:cNvPr id="0" name=""/>
        <dsp:cNvSpPr/>
      </dsp:nvSpPr>
      <dsp:spPr>
        <a:xfrm>
          <a:off x="348" y="0"/>
          <a:ext cx="3095710" cy="57508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just" defTabSz="622300">
            <a:lnSpc>
              <a:spcPct val="90000"/>
            </a:lnSpc>
            <a:spcBef>
              <a:spcPct val="0"/>
            </a:spcBef>
            <a:spcAft>
              <a:spcPct val="35000"/>
            </a:spcAft>
            <a:buNone/>
          </a:pPr>
          <a:endParaRPr lang="en-US" sz="1400" kern="1200" dirty="0"/>
        </a:p>
        <a:p>
          <a:pPr marL="0" lvl="0" indent="0" algn="just" defTabSz="622300">
            <a:lnSpc>
              <a:spcPct val="90000"/>
            </a:lnSpc>
            <a:spcBef>
              <a:spcPct val="0"/>
            </a:spcBef>
            <a:spcAft>
              <a:spcPct val="35000"/>
            </a:spcAft>
            <a:buNone/>
          </a:pPr>
          <a:r>
            <a:rPr lang="en-US" sz="1400" kern="1200" dirty="0"/>
            <a:t>As per order of Govt. of West Bengal, State Govt. subsidy for electricity consumption is provided to the following consumer category through their energy bills. </a:t>
          </a:r>
        </a:p>
        <a:p>
          <a:pPr marL="0" lvl="0" indent="0" algn="just" defTabSz="622300">
            <a:lnSpc>
              <a:spcPct val="90000"/>
            </a:lnSpc>
            <a:spcBef>
              <a:spcPct val="0"/>
            </a:spcBef>
            <a:spcAft>
              <a:spcPct val="35000"/>
            </a:spcAft>
            <a:buNone/>
          </a:pPr>
          <a:endParaRPr lang="en-US" sz="1400" kern="1200" dirty="0"/>
        </a:p>
        <a:p>
          <a:pPr marL="0" lvl="0" indent="0" algn="just" defTabSz="622300">
            <a:lnSpc>
              <a:spcPct val="90000"/>
            </a:lnSpc>
            <a:spcBef>
              <a:spcPct val="0"/>
            </a:spcBef>
            <a:spcAft>
              <a:spcPct val="35000"/>
            </a:spcAft>
            <a:buNone/>
          </a:pPr>
          <a:r>
            <a:rPr lang="en-US" sz="1400" kern="1200" dirty="0"/>
            <a:t>The amount payable by consumer is determined after deducting the eligible amount of Govt. subsidy from Gross bill amount of respective consumers (Based on Tariff approved by WBERC &amp; consumption slab)</a:t>
          </a:r>
        </a:p>
        <a:p>
          <a:pPr marL="0" lvl="0" indent="0" algn="just" defTabSz="622300">
            <a:lnSpc>
              <a:spcPct val="90000"/>
            </a:lnSpc>
            <a:spcBef>
              <a:spcPct val="0"/>
            </a:spcBef>
            <a:spcAft>
              <a:spcPct val="35000"/>
            </a:spcAft>
            <a:buNone/>
          </a:pPr>
          <a:endParaRPr lang="en-US" sz="1400" kern="1200" dirty="0"/>
        </a:p>
        <a:p>
          <a:pPr marL="0" lvl="0" indent="0" algn="just" defTabSz="622300">
            <a:lnSpc>
              <a:spcPct val="90000"/>
            </a:lnSpc>
            <a:spcBef>
              <a:spcPct val="0"/>
            </a:spcBef>
            <a:spcAft>
              <a:spcPct val="35000"/>
            </a:spcAft>
            <a:buNone/>
          </a:pPr>
          <a:r>
            <a:rPr lang="en-US" sz="1400" kern="1200" dirty="0"/>
            <a:t>Presently Domestic consumers are under Quarterly billing system and agriculture consumers are monthly billing system. Govt. subsidy is extended to only following consumer category ( Details set along side)</a:t>
          </a:r>
        </a:p>
      </dsp:txBody>
      <dsp:txXfrm>
        <a:off x="348" y="0"/>
        <a:ext cx="3095710" cy="1725241"/>
      </dsp:txXfrm>
    </dsp:sp>
    <dsp:sp modelId="{CE59360E-969D-44BF-ADF0-7FC23910DA7F}">
      <dsp:nvSpPr>
        <dsp:cNvPr id="0" name=""/>
        <dsp:cNvSpPr/>
      </dsp:nvSpPr>
      <dsp:spPr>
        <a:xfrm>
          <a:off x="3468772" y="0"/>
          <a:ext cx="8310472" cy="5750804"/>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  </a:t>
          </a:r>
        </a:p>
      </dsp:txBody>
      <dsp:txXfrm>
        <a:off x="3468772" y="0"/>
        <a:ext cx="8310472" cy="1725241"/>
      </dsp:txXfrm>
    </dsp:sp>
    <dsp:sp modelId="{A841BD08-6744-42E6-87FC-3DFA1BDD9743}">
      <dsp:nvSpPr>
        <dsp:cNvPr id="0" name=""/>
        <dsp:cNvSpPr/>
      </dsp:nvSpPr>
      <dsp:spPr>
        <a:xfrm>
          <a:off x="3632493" y="376642"/>
          <a:ext cx="7983030" cy="1238858"/>
        </a:xfrm>
        <a:prstGeom prst="roundRect">
          <a:avLst>
            <a:gd name="adj" fmla="val 10000"/>
          </a:avLst>
        </a:prstGeom>
        <a:solidFill>
          <a:srgbClr val="004F5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t" anchorCtr="0">
          <a:noAutofit/>
        </a:bodyPr>
        <a:lstStyle/>
        <a:p>
          <a:pPr marL="0" lvl="0" indent="0" algn="just" defTabSz="622300">
            <a:lnSpc>
              <a:spcPct val="90000"/>
            </a:lnSpc>
            <a:spcBef>
              <a:spcPct val="0"/>
            </a:spcBef>
            <a:spcAft>
              <a:spcPct val="35000"/>
            </a:spcAft>
            <a:buNone/>
          </a:pPr>
          <a:r>
            <a:rPr lang="en-US" sz="1400" b="1" kern="1200" dirty="0"/>
            <a:t>Life Line (Domestic) Consumer </a:t>
          </a:r>
          <a:r>
            <a:rPr lang="en-US" sz="1400" kern="1200" dirty="0"/>
            <a:t>(means Domestic consumers having contract demand </a:t>
          </a:r>
          <a:r>
            <a:rPr lang="en-US" sz="1400" kern="1200" dirty="0" err="1"/>
            <a:t>upto</a:t>
          </a:r>
          <a:r>
            <a:rPr lang="en-US" sz="1400" kern="1200" dirty="0"/>
            <a:t> 0.3 KW and quarterly consumption of electricity </a:t>
          </a:r>
          <a:r>
            <a:rPr lang="en-US" sz="1400" kern="1200" dirty="0" err="1"/>
            <a:t>upto</a:t>
          </a:r>
          <a:r>
            <a:rPr lang="en-US" sz="1400" kern="1200" dirty="0"/>
            <a:t> 75 units or monthly consumption </a:t>
          </a:r>
          <a:r>
            <a:rPr lang="en-US" sz="1400" kern="1200" dirty="0" err="1"/>
            <a:t>upto</a:t>
          </a:r>
          <a:r>
            <a:rPr lang="en-US" sz="1400" kern="1200" dirty="0"/>
            <a:t> 25 units) :  Govt. subsidy is provided against entire energy bill including meter rent (</a:t>
          </a:r>
          <a:r>
            <a:rPr lang="en-US" sz="1400" kern="1200" dirty="0" err="1"/>
            <a:t>i.e</a:t>
          </a:r>
          <a:r>
            <a:rPr lang="en-US" sz="1400" kern="1200" dirty="0"/>
            <a:t> Zero Bill)</a:t>
          </a:r>
        </a:p>
        <a:p>
          <a:pPr marL="114300" lvl="1" indent="-114300" algn="just" defTabSz="622300">
            <a:lnSpc>
              <a:spcPct val="90000"/>
            </a:lnSpc>
            <a:spcBef>
              <a:spcPct val="0"/>
            </a:spcBef>
            <a:spcAft>
              <a:spcPct val="15000"/>
            </a:spcAft>
            <a:buChar char="•"/>
          </a:pPr>
          <a:r>
            <a:rPr lang="en-US" sz="1400" kern="1200" dirty="0"/>
            <a:t>[In any quarter, if consumption &gt; 75 unit, then treated as Domestic (Rural / Urban)]</a:t>
          </a:r>
        </a:p>
        <a:p>
          <a:pPr marL="114300" lvl="1" indent="-114300" algn="l" defTabSz="622300">
            <a:lnSpc>
              <a:spcPct val="90000"/>
            </a:lnSpc>
            <a:spcBef>
              <a:spcPct val="0"/>
            </a:spcBef>
            <a:spcAft>
              <a:spcPct val="15000"/>
            </a:spcAft>
            <a:buChar char="•"/>
          </a:pPr>
          <a:endParaRPr lang="en-US" sz="1400" kern="1200" dirty="0"/>
        </a:p>
      </dsp:txBody>
      <dsp:txXfrm>
        <a:off x="3668778" y="412927"/>
        <a:ext cx="7910460" cy="1166288"/>
      </dsp:txXfrm>
    </dsp:sp>
    <dsp:sp modelId="{33574C0F-A607-41AC-AD19-D9F6B660C060}">
      <dsp:nvSpPr>
        <dsp:cNvPr id="0" name=""/>
        <dsp:cNvSpPr/>
      </dsp:nvSpPr>
      <dsp:spPr>
        <a:xfrm>
          <a:off x="3906135" y="2316296"/>
          <a:ext cx="7308210" cy="12388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t" anchorCtr="0">
          <a:noAutofit/>
        </a:bodyPr>
        <a:lstStyle/>
        <a:p>
          <a:pPr marL="0" lvl="0" indent="0" algn="just" defTabSz="622300">
            <a:lnSpc>
              <a:spcPct val="90000"/>
            </a:lnSpc>
            <a:spcBef>
              <a:spcPct val="0"/>
            </a:spcBef>
            <a:spcAft>
              <a:spcPct val="35000"/>
            </a:spcAft>
            <a:buNone/>
          </a:pPr>
          <a:r>
            <a:rPr lang="en-US" sz="1400" b="1" kern="1200" dirty="0"/>
            <a:t>Domestic (Rural/Urban) Consumer </a:t>
          </a:r>
          <a:r>
            <a:rPr lang="en-US" sz="1400" kern="1200" dirty="0"/>
            <a:t>: Domestic consumer having monthly consumption of electricity </a:t>
          </a:r>
          <a:r>
            <a:rPr lang="en-US" sz="1400" kern="1200" dirty="0" err="1"/>
            <a:t>upto</a:t>
          </a:r>
          <a:r>
            <a:rPr lang="en-US" sz="1400" kern="1200" dirty="0"/>
            <a:t> 300 units has been provided Govt subsidy on energy Charge (</a:t>
          </a:r>
          <a:r>
            <a:rPr lang="en-US" sz="1400" kern="1200" dirty="0" err="1"/>
            <a:t>slabwise</a:t>
          </a:r>
          <a:r>
            <a:rPr lang="en-US" sz="1400" kern="1200" dirty="0"/>
            <a:t>), Fixed Charge &amp; MVCA.</a:t>
          </a:r>
        </a:p>
        <a:p>
          <a:pPr marL="114300" lvl="1" indent="-114300" algn="just" defTabSz="622300">
            <a:lnSpc>
              <a:spcPct val="90000"/>
            </a:lnSpc>
            <a:spcBef>
              <a:spcPct val="0"/>
            </a:spcBef>
            <a:spcAft>
              <a:spcPct val="15000"/>
            </a:spcAft>
            <a:buChar char="•"/>
          </a:pPr>
          <a:r>
            <a:rPr lang="en-US" sz="1400" kern="1200" dirty="0"/>
            <a:t>[In any quarter, if consumption &gt; 900 unit, no govt. subsidy is provided)]</a:t>
          </a:r>
        </a:p>
        <a:p>
          <a:pPr marL="114300" lvl="1" indent="-114300" algn="l" defTabSz="622300">
            <a:lnSpc>
              <a:spcPct val="90000"/>
            </a:lnSpc>
            <a:spcBef>
              <a:spcPct val="0"/>
            </a:spcBef>
            <a:spcAft>
              <a:spcPct val="15000"/>
            </a:spcAft>
            <a:buChar char="•"/>
          </a:pPr>
          <a:endParaRPr lang="en-US" sz="1400" kern="1200" dirty="0"/>
        </a:p>
      </dsp:txBody>
      <dsp:txXfrm>
        <a:off x="3942420" y="2352581"/>
        <a:ext cx="7235640" cy="1166288"/>
      </dsp:txXfrm>
    </dsp:sp>
    <dsp:sp modelId="{DC1406D6-8BEF-407F-9815-1F6B4F85520F}">
      <dsp:nvSpPr>
        <dsp:cNvPr id="0" name=""/>
        <dsp:cNvSpPr/>
      </dsp:nvSpPr>
      <dsp:spPr>
        <a:xfrm>
          <a:off x="3825410" y="3947790"/>
          <a:ext cx="7650391" cy="1238858"/>
        </a:xfrm>
        <a:prstGeom prst="roundRect">
          <a:avLst>
            <a:gd name="adj" fmla="val 10000"/>
          </a:avLst>
        </a:prstGeom>
        <a:solidFill>
          <a:srgbClr val="046A3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t" anchorCtr="0">
          <a:noAutofit/>
        </a:bodyPr>
        <a:lstStyle/>
        <a:p>
          <a:pPr marL="0" lvl="0" indent="0" algn="just" defTabSz="622300">
            <a:lnSpc>
              <a:spcPct val="90000"/>
            </a:lnSpc>
            <a:spcBef>
              <a:spcPct val="0"/>
            </a:spcBef>
            <a:spcAft>
              <a:spcPct val="35000"/>
            </a:spcAft>
            <a:buNone/>
          </a:pPr>
          <a:r>
            <a:rPr lang="en-US" sz="1400" b="1" kern="1200" dirty="0"/>
            <a:t>Agriculture Consumer: </a:t>
          </a:r>
          <a:r>
            <a:rPr lang="en-US" sz="1400" kern="1200" dirty="0"/>
            <a:t>Agriculture consumer having monthly consumption of electricity </a:t>
          </a:r>
          <a:r>
            <a:rPr lang="en-US" sz="1400" kern="1200" dirty="0" err="1"/>
            <a:t>upto</a:t>
          </a:r>
          <a:r>
            <a:rPr lang="en-US" sz="1400" kern="1200" dirty="0"/>
            <a:t> 300 units has been provided Govt subsidy on energy Charge, Fixed Charge &amp; MVCA</a:t>
          </a:r>
        </a:p>
        <a:p>
          <a:pPr marL="114300" lvl="1" indent="-114300" algn="just" defTabSz="622300">
            <a:lnSpc>
              <a:spcPct val="90000"/>
            </a:lnSpc>
            <a:spcBef>
              <a:spcPct val="0"/>
            </a:spcBef>
            <a:spcAft>
              <a:spcPct val="15000"/>
            </a:spcAft>
            <a:buChar char="•"/>
          </a:pPr>
          <a:r>
            <a:rPr lang="en-US" sz="1400" kern="1200" dirty="0"/>
            <a:t>[In any month, if consumption &gt; 300 unit, no govt. subsidy is provided)]</a:t>
          </a:r>
        </a:p>
      </dsp:txBody>
      <dsp:txXfrm>
        <a:off x="3861695" y="3984075"/>
        <a:ext cx="7577821" cy="116628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0.40669</cdr:x>
      <cdr:y>0.42413</cdr:y>
    </cdr:from>
    <cdr:to>
      <cdr:x>0.72621</cdr:x>
      <cdr:y>0.65809</cdr:y>
    </cdr:to>
    <cdr:sp macro="" textlink="">
      <cdr:nvSpPr>
        <cdr:cNvPr id="2" name="Rectangle 1"/>
        <cdr:cNvSpPr/>
      </cdr:nvSpPr>
      <cdr:spPr bwMode="gray">
        <a:xfrm xmlns:a="http://schemas.openxmlformats.org/drawingml/2006/main">
          <a:off x="1139178" y="1069441"/>
          <a:ext cx="895029" cy="589935"/>
        </a:xfrm>
        <a:prstGeom xmlns:a="http://schemas.openxmlformats.org/drawingml/2006/main" prst="rect">
          <a:avLst/>
        </a:prstGeom>
        <a:noFill xmlns:a="http://schemas.openxmlformats.org/drawingml/2006/main"/>
        <a:ln xmlns:a="http://schemas.openxmlformats.org/drawingml/2006/main" w="19050" algn="ctr">
          <a:noFill/>
          <a:miter lim="800000"/>
          <a:headEnd/>
          <a:tailEnd/>
        </a:ln>
      </cdr:spPr>
      <cdr:txBody>
        <a:bodyPr xmlns:a="http://schemas.openxmlformats.org/drawingml/2006/main" vertOverflow="clip" wrap="square" lIns="36000" tIns="36000" rIns="36000" bIns="36000" rtlCol="0" anchor="ctr"/>
        <a:lstStyle xmlns:a="http://schemas.openxmlformats.org/drawingml/2006/main"/>
        <a:p xmlns:a="http://schemas.openxmlformats.org/drawingml/2006/main">
          <a:pPr algn="ctr"/>
          <a:r>
            <a:rPr lang="en-US" sz="1000" b="1" dirty="0"/>
            <a:t>Total </a:t>
          </a:r>
        </a:p>
        <a:p xmlns:a="http://schemas.openxmlformats.org/drawingml/2006/main">
          <a:pPr algn="ctr"/>
          <a:r>
            <a:rPr lang="en-US" sz="1000" b="1" dirty="0"/>
            <a:t>23 Mn Consumers</a:t>
          </a:r>
        </a:p>
      </cdr:txBody>
    </cdr:sp>
  </cdr:relSizeAnchor>
</c:userShapes>
</file>

<file path=ppt/drawings/drawing2.xml><?xml version="1.0" encoding="utf-8"?>
<c:userShapes xmlns:c="http://schemas.openxmlformats.org/drawingml/2006/chart">
  <cdr:relSizeAnchor xmlns:cdr="http://schemas.openxmlformats.org/drawingml/2006/chartDrawing">
    <cdr:from>
      <cdr:x>0.32297</cdr:x>
      <cdr:y>0.39642</cdr:y>
    </cdr:from>
    <cdr:to>
      <cdr:x>0.68931</cdr:x>
      <cdr:y>0.72609</cdr:y>
    </cdr:to>
    <cdr:sp macro="" textlink="">
      <cdr:nvSpPr>
        <cdr:cNvPr id="2" name="Rectangle 1"/>
        <cdr:cNvSpPr/>
      </cdr:nvSpPr>
      <cdr:spPr bwMode="gray">
        <a:xfrm xmlns:a="http://schemas.openxmlformats.org/drawingml/2006/main">
          <a:off x="812579" y="897827"/>
          <a:ext cx="921722" cy="746648"/>
        </a:xfrm>
        <a:prstGeom xmlns:a="http://schemas.openxmlformats.org/drawingml/2006/main" prst="rect">
          <a:avLst/>
        </a:prstGeom>
        <a:noFill xmlns:a="http://schemas.openxmlformats.org/drawingml/2006/main"/>
        <a:ln xmlns:a="http://schemas.openxmlformats.org/drawingml/2006/main" w="19050" algn="ctr">
          <a:noFill/>
          <a:miter lim="800000"/>
          <a:headEnd/>
          <a:tailEnd/>
        </a:ln>
      </cdr:spPr>
      <cdr:txBody>
        <a:bodyPr xmlns:a="http://schemas.openxmlformats.org/drawingml/2006/main" vertOverflow="clip" wrap="square" lIns="36000" tIns="36000" rIns="36000" bIns="36000" rtlCol="0" anchor="ctr"/>
        <a:lstStyle xmlns:a="http://schemas.openxmlformats.org/drawingml/2006/main"/>
        <a:p xmlns:a="http://schemas.openxmlformats.org/drawingml/2006/main">
          <a:pPr algn="ctr"/>
          <a:r>
            <a:rPr lang="en-US" sz="1000" b="1" dirty="0"/>
            <a:t>Total </a:t>
          </a:r>
        </a:p>
        <a:p xmlns:a="http://schemas.openxmlformats.org/drawingml/2006/main">
          <a:pPr algn="ctr"/>
          <a:r>
            <a:rPr lang="en-US" sz="1000" b="1" dirty="0"/>
            <a:t>Retail Sale:</a:t>
          </a:r>
        </a:p>
        <a:p xmlns:a="http://schemas.openxmlformats.org/drawingml/2006/main">
          <a:pPr algn="ctr"/>
          <a:r>
            <a:rPr lang="en-US" sz="1000" b="1" dirty="0"/>
            <a:t>50,043 MU</a:t>
          </a:r>
        </a:p>
      </cdr:txBody>
    </cdr:sp>
  </cdr:relSizeAnchor>
</c:userShapes>
</file>

<file path=ppt/drawings/drawing3.xml><?xml version="1.0" encoding="utf-8"?>
<c:userShapes xmlns:c="http://schemas.openxmlformats.org/drawingml/2006/chart">
  <cdr:relSizeAnchor xmlns:cdr="http://schemas.openxmlformats.org/drawingml/2006/chartDrawing">
    <cdr:from>
      <cdr:x>0.38852</cdr:x>
      <cdr:y>0.43989</cdr:y>
    </cdr:from>
    <cdr:to>
      <cdr:x>0.75014</cdr:x>
      <cdr:y>0.71927</cdr:y>
    </cdr:to>
    <cdr:sp macro="" textlink="">
      <cdr:nvSpPr>
        <cdr:cNvPr id="2" name="Rectangle 1"/>
        <cdr:cNvSpPr/>
      </cdr:nvSpPr>
      <cdr:spPr bwMode="gray">
        <a:xfrm xmlns:a="http://schemas.openxmlformats.org/drawingml/2006/main">
          <a:off x="977512" y="996278"/>
          <a:ext cx="909831" cy="632750"/>
        </a:xfrm>
        <a:prstGeom xmlns:a="http://schemas.openxmlformats.org/drawingml/2006/main" prst="rect">
          <a:avLst/>
        </a:prstGeom>
        <a:noFill xmlns:a="http://schemas.openxmlformats.org/drawingml/2006/main"/>
        <a:ln xmlns:a="http://schemas.openxmlformats.org/drawingml/2006/main" w="19050" algn="ctr">
          <a:noFill/>
          <a:miter lim="800000"/>
          <a:headEnd/>
          <a:tailEnd/>
        </a:ln>
      </cdr:spPr>
      <cdr:txBody>
        <a:bodyPr xmlns:a="http://schemas.openxmlformats.org/drawingml/2006/main" vertOverflow="clip" wrap="square" lIns="36000" tIns="36000" rIns="36000" bIns="36000" rtlCol="0" anchor="ctr"/>
        <a:lstStyle xmlns:a="http://schemas.openxmlformats.org/drawingml/2006/main"/>
        <a:p xmlns:a="http://schemas.openxmlformats.org/drawingml/2006/main">
          <a:pPr algn="ctr"/>
          <a:r>
            <a:rPr lang="en-US" sz="1000" b="1" dirty="0"/>
            <a:t>Total </a:t>
          </a:r>
        </a:p>
        <a:p xmlns:a="http://schemas.openxmlformats.org/drawingml/2006/main">
          <a:pPr algn="ctr"/>
          <a:r>
            <a:rPr lang="en-US" sz="1000" b="1" dirty="0"/>
            <a:t>20.77 Mn Consumers</a:t>
          </a:r>
        </a:p>
      </cdr:txBody>
    </cdr:sp>
  </cdr:relSizeAnchor>
</c:userShapes>
</file>

<file path=ppt/drawings/drawing4.xml><?xml version="1.0" encoding="utf-8"?>
<c:userShapes xmlns:c="http://schemas.openxmlformats.org/drawingml/2006/chart">
  <cdr:relSizeAnchor xmlns:cdr="http://schemas.openxmlformats.org/drawingml/2006/chartDrawing">
    <cdr:from>
      <cdr:x>0.38852</cdr:x>
      <cdr:y>0.43989</cdr:y>
    </cdr:from>
    <cdr:to>
      <cdr:x>0.78077</cdr:x>
      <cdr:y>0.72861</cdr:y>
    </cdr:to>
    <cdr:sp macro="" textlink="">
      <cdr:nvSpPr>
        <cdr:cNvPr id="2" name="Rectangle 1"/>
        <cdr:cNvSpPr/>
      </cdr:nvSpPr>
      <cdr:spPr bwMode="gray">
        <a:xfrm xmlns:a="http://schemas.openxmlformats.org/drawingml/2006/main">
          <a:off x="886408" y="903426"/>
          <a:ext cx="894928" cy="592956"/>
        </a:xfrm>
        <a:prstGeom xmlns:a="http://schemas.openxmlformats.org/drawingml/2006/main" prst="rect">
          <a:avLst/>
        </a:prstGeom>
        <a:noFill xmlns:a="http://schemas.openxmlformats.org/drawingml/2006/main"/>
        <a:ln xmlns:a="http://schemas.openxmlformats.org/drawingml/2006/main" w="19050" algn="ctr">
          <a:noFill/>
          <a:miter lim="800000"/>
          <a:headEnd/>
          <a:tailEnd/>
        </a:ln>
      </cdr:spPr>
      <cdr:txBody>
        <a:bodyPr xmlns:a="http://schemas.openxmlformats.org/drawingml/2006/main" vertOverflow="clip" wrap="square" lIns="36000" tIns="36000" rIns="36000" bIns="36000" rtlCol="0" anchor="ctr"/>
        <a:lstStyle xmlns:a="http://schemas.openxmlformats.org/drawingml/2006/main"/>
        <a:p xmlns:a="http://schemas.openxmlformats.org/drawingml/2006/main">
          <a:pPr algn="ctr"/>
          <a:r>
            <a:rPr lang="en-US" sz="1000" b="1" dirty="0"/>
            <a:t>Total Retail Sale:</a:t>
          </a:r>
        </a:p>
        <a:p xmlns:a="http://schemas.openxmlformats.org/drawingml/2006/main">
          <a:pPr algn="ctr"/>
          <a:r>
            <a:rPr lang="en-US" sz="1000" b="1" dirty="0"/>
            <a:t>31,109 MU</a:t>
          </a:r>
        </a:p>
      </cdr:txBody>
    </cdr:sp>
  </cdr:relSizeAnchor>
</c:userShapes>
</file>

<file path=ppt/drawings/drawing5.xml><?xml version="1.0" encoding="utf-8"?>
<c:userShapes xmlns:c="http://schemas.openxmlformats.org/drawingml/2006/chart">
  <cdr:relSizeAnchor xmlns:cdr="http://schemas.openxmlformats.org/drawingml/2006/chartDrawing">
    <cdr:from>
      <cdr:x>0.38852</cdr:x>
      <cdr:y>0.36603</cdr:y>
    </cdr:from>
    <cdr:to>
      <cdr:x>0.75014</cdr:x>
      <cdr:y>0.79019</cdr:y>
    </cdr:to>
    <cdr:sp macro="" textlink="">
      <cdr:nvSpPr>
        <cdr:cNvPr id="2" name="Rectangle 1"/>
        <cdr:cNvSpPr/>
      </cdr:nvSpPr>
      <cdr:spPr bwMode="gray">
        <a:xfrm xmlns:a="http://schemas.openxmlformats.org/drawingml/2006/main">
          <a:off x="977512" y="828999"/>
          <a:ext cx="909831" cy="960654"/>
        </a:xfrm>
        <a:prstGeom xmlns:a="http://schemas.openxmlformats.org/drawingml/2006/main" prst="rect">
          <a:avLst/>
        </a:prstGeom>
        <a:noFill xmlns:a="http://schemas.openxmlformats.org/drawingml/2006/main"/>
        <a:ln xmlns:a="http://schemas.openxmlformats.org/drawingml/2006/main" w="19050" algn="ctr">
          <a:noFill/>
          <a:miter lim="800000"/>
          <a:headEnd/>
          <a:tailEnd/>
        </a:ln>
      </cdr:spPr>
      <cdr:txBody>
        <a:bodyPr xmlns:a="http://schemas.openxmlformats.org/drawingml/2006/main" vertOverflow="clip" wrap="square" lIns="36000" tIns="36000" rIns="36000" bIns="36000" rtlCol="0" anchor="ctr"/>
        <a:lstStyle xmlns:a="http://schemas.openxmlformats.org/drawingml/2006/main"/>
        <a:p xmlns:a="http://schemas.openxmlformats.org/drawingml/2006/main">
          <a:pPr algn="ctr"/>
          <a:r>
            <a:rPr lang="en-US" sz="1000" b="1" dirty="0"/>
            <a:t>Retail Revenue </a:t>
          </a:r>
        </a:p>
        <a:p xmlns:a="http://schemas.openxmlformats.org/drawingml/2006/main">
          <a:pPr algn="ctr"/>
          <a:r>
            <a:rPr lang="en-US" sz="1000" b="1" dirty="0"/>
            <a:t>Rs. 21,688  Crore </a:t>
          </a:r>
        </a:p>
      </cdr:txBody>
    </cdr:sp>
  </cdr:relSizeAnchor>
</c:userShapes>
</file>

<file path=ppt/drawings/drawing6.xml><?xml version="1.0" encoding="utf-8"?>
<c:userShapes xmlns:c="http://schemas.openxmlformats.org/drawingml/2006/chart">
  <cdr:relSizeAnchor xmlns:cdr="http://schemas.openxmlformats.org/drawingml/2006/chartDrawing">
    <cdr:from>
      <cdr:x>0.14224</cdr:x>
      <cdr:y>0.27129</cdr:y>
    </cdr:from>
    <cdr:to>
      <cdr:x>0.81076</cdr:x>
      <cdr:y>0.59921</cdr:y>
    </cdr:to>
    <cdr:sp macro="" textlink="">
      <cdr:nvSpPr>
        <cdr:cNvPr id="2" name="Freeform: Shape 1">
          <a:extLst xmlns:a="http://schemas.openxmlformats.org/drawingml/2006/main">
            <a:ext uri="{FF2B5EF4-FFF2-40B4-BE49-F238E27FC236}">
              <a16:creationId xmlns:a16="http://schemas.microsoft.com/office/drawing/2014/main" id="{7ACC5B6A-EDBE-4793-9C59-284E259303C5}"/>
            </a:ext>
          </a:extLst>
        </cdr:cNvPr>
        <cdr:cNvSpPr/>
      </cdr:nvSpPr>
      <cdr:spPr bwMode="gray">
        <a:xfrm xmlns:a="http://schemas.openxmlformats.org/drawingml/2006/main">
          <a:off x="760103" y="643850"/>
          <a:ext cx="3572554" cy="778242"/>
        </a:xfrm>
        <a:custGeom xmlns:a="http://schemas.openxmlformats.org/drawingml/2006/main">
          <a:avLst/>
          <a:gdLst>
            <a:gd name="connsiteX0" fmla="*/ 0 w 3572554"/>
            <a:gd name="connsiteY0" fmla="*/ 778242 h 778242"/>
            <a:gd name="connsiteX1" fmla="*/ 2530763 w 3572554"/>
            <a:gd name="connsiteY1" fmla="*/ 464206 h 778242"/>
            <a:gd name="connsiteX2" fmla="*/ 3556000 w 3572554"/>
            <a:gd name="connsiteY2" fmla="*/ 2388 h 778242"/>
          </a:gdLst>
          <a:ahLst/>
          <a:cxnLst>
            <a:cxn ang="0">
              <a:pos x="connsiteX0" y="connsiteY0"/>
            </a:cxn>
            <a:cxn ang="0">
              <a:pos x="connsiteX1" y="connsiteY1"/>
            </a:cxn>
            <a:cxn ang="0">
              <a:pos x="connsiteX2" y="connsiteY2"/>
            </a:cxn>
          </a:cxnLst>
          <a:rect l="l" t="t" r="r" b="b"/>
          <a:pathLst>
            <a:path w="3572554" h="778242">
              <a:moveTo>
                <a:pt x="0" y="778242"/>
              </a:moveTo>
              <a:cubicBezTo>
                <a:pt x="969048" y="685878"/>
                <a:pt x="1938096" y="593515"/>
                <a:pt x="2530763" y="464206"/>
              </a:cubicBezTo>
              <a:cubicBezTo>
                <a:pt x="3123430" y="334897"/>
                <a:pt x="3676073" y="-33018"/>
                <a:pt x="3556000" y="2388"/>
              </a:cubicBezTo>
            </a:path>
          </a:pathLst>
        </a:custGeom>
        <a:noFill xmlns:a="http://schemas.openxmlformats.org/drawingml/2006/main"/>
        <a:ln xmlns:a="http://schemas.openxmlformats.org/drawingml/2006/main" w="19050" algn="ctr">
          <a:noFill/>
          <a:miter lim="800000"/>
          <a:headEnd/>
          <a:tailEnd/>
        </a:ln>
      </cdr:spPr>
      <cdr:txBody>
        <a:bodyPr xmlns:a="http://schemas.openxmlformats.org/drawingml/2006/main" vertOverflow="clip" wrap="square" lIns="88900" tIns="88900" rIns="88900" bIns="88900" rtlCol="0" anchor="ctr"/>
        <a:lstStyle xmlns:a="http://schemas.openxmlformats.org/drawingml/2006/main"/>
        <a:p xmlns:a="http://schemas.openxmlformats.org/drawingml/2006/main">
          <a:endParaRPr lang="en-US"/>
        </a:p>
      </cdr:txBody>
    </cdr:sp>
  </cdr:relSizeAnchor>
</c:userShapes>
</file>

<file path=ppt/drawings/drawing7.xml><?xml version="1.0" encoding="utf-8"?>
<c:userShapes xmlns:c="http://schemas.openxmlformats.org/drawingml/2006/chart">
  <cdr:relSizeAnchor xmlns:cdr="http://schemas.openxmlformats.org/drawingml/2006/chartDrawing">
    <cdr:from>
      <cdr:x>0.07795</cdr:x>
      <cdr:y>0.50873</cdr:y>
    </cdr:from>
    <cdr:to>
      <cdr:x>0.25609</cdr:x>
      <cdr:y>0.86309</cdr:y>
    </cdr:to>
    <cdr:sp macro="" textlink="">
      <cdr:nvSpPr>
        <cdr:cNvPr id="3" name="Rectangle: Rounded Corners 2">
          <a:extLst xmlns:a="http://schemas.openxmlformats.org/drawingml/2006/main">
            <a:ext uri="{FF2B5EF4-FFF2-40B4-BE49-F238E27FC236}">
              <a16:creationId xmlns:a16="http://schemas.microsoft.com/office/drawing/2014/main" id="{F8CDE05D-B3D7-4E0D-A764-0641A7988EDC}"/>
            </a:ext>
          </a:extLst>
        </cdr:cNvPr>
        <cdr:cNvSpPr/>
      </cdr:nvSpPr>
      <cdr:spPr bwMode="gray">
        <a:xfrm xmlns:a="http://schemas.openxmlformats.org/drawingml/2006/main">
          <a:off x="902029" y="1904008"/>
          <a:ext cx="2061416" cy="1326264"/>
        </a:xfrm>
        <a:prstGeom xmlns:a="http://schemas.openxmlformats.org/drawingml/2006/main" prst="roundRect">
          <a:avLst/>
        </a:prstGeom>
        <a:solidFill xmlns:a="http://schemas.openxmlformats.org/drawingml/2006/main">
          <a:srgbClr val="FFC000">
            <a:alpha val="20000"/>
          </a:srgbClr>
        </a:solidFill>
        <a:ln xmlns:a="http://schemas.openxmlformats.org/drawingml/2006/main" w="19050" algn="ctr">
          <a:noFill/>
          <a:miter lim="800000"/>
          <a:headEnd/>
          <a:tailEnd/>
        </a:ln>
      </cdr:spPr>
      <cdr:txBody>
        <a:bodyPr xmlns:a="http://schemas.openxmlformats.org/drawingml/2006/main" vertOverflow="clip" wrap="square" lIns="88900" tIns="88900" rIns="88900" bIns="88900"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0.58776</cdr:x>
      <cdr:y>0.0648</cdr:y>
    </cdr:from>
    <cdr:to>
      <cdr:x>0.87402</cdr:x>
      <cdr:y>0.09957</cdr:y>
    </cdr:to>
    <cdr:sp macro="" textlink="">
      <cdr:nvSpPr>
        <cdr:cNvPr id="2" name="TextBox 1">
          <a:extLst xmlns:a="http://schemas.openxmlformats.org/drawingml/2006/main">
            <a:ext uri="{FF2B5EF4-FFF2-40B4-BE49-F238E27FC236}">
              <a16:creationId xmlns:a16="http://schemas.microsoft.com/office/drawing/2014/main" id="{C2051A9F-3931-473C-AF2B-BD47475D0455}"/>
            </a:ext>
          </a:extLst>
        </cdr:cNvPr>
        <cdr:cNvSpPr txBox="1"/>
      </cdr:nvSpPr>
      <cdr:spPr>
        <a:xfrm xmlns:a="http://schemas.openxmlformats.org/drawingml/2006/main">
          <a:off x="6801493" y="217788"/>
          <a:ext cx="3312569" cy="116854"/>
        </a:xfrm>
        <a:prstGeom xmlns:a="http://schemas.openxmlformats.org/drawingml/2006/main" prst="rect">
          <a:avLst/>
        </a:prstGeom>
        <a:solidFill xmlns:a="http://schemas.openxmlformats.org/drawingml/2006/main">
          <a:schemeClr val="accent1">
            <a:lumMod val="20000"/>
            <a:lumOff val="80000"/>
          </a:schemeClr>
        </a:solidFill>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algn="ctr">
            <a:spcBef>
              <a:spcPts val="600"/>
            </a:spcBef>
            <a:buSzPct val="100000"/>
          </a:pPr>
          <a:r>
            <a:rPr lang="en-US" sz="1200" dirty="0">
              <a:solidFill>
                <a:srgbClr val="313131"/>
              </a:solidFill>
              <a:latin typeface="Calibri" panose="020F0502020204030204" pitchFamily="34" charset="0"/>
              <a:cs typeface="Calibri" panose="020F0502020204030204" pitchFamily="34" charset="0"/>
            </a:rPr>
            <a:t>Average Energy Rate of Portfolio= Rs. 2.34/ KWh</a:t>
          </a:r>
          <a:endParaRPr lang="en-US" sz="1100" dirty="0">
            <a:solidFill>
              <a:srgbClr val="313131"/>
            </a:solidFill>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0.46937</cdr:x>
      <cdr:y>0.13683</cdr:y>
    </cdr:from>
    <cdr:to>
      <cdr:x>0.48775</cdr:x>
      <cdr:y>0.17287</cdr:y>
    </cdr:to>
    <cdr:sp macro="" textlink="">
      <cdr:nvSpPr>
        <cdr:cNvPr id="5" name="Oval 4">
          <a:extLst xmlns:a="http://schemas.openxmlformats.org/drawingml/2006/main">
            <a:ext uri="{FF2B5EF4-FFF2-40B4-BE49-F238E27FC236}">
              <a16:creationId xmlns:a16="http://schemas.microsoft.com/office/drawing/2014/main" id="{0AEDADDB-368B-44AA-934A-A90B41446BA0}"/>
            </a:ext>
          </a:extLst>
        </cdr:cNvPr>
        <cdr:cNvSpPr/>
      </cdr:nvSpPr>
      <cdr:spPr bwMode="gray">
        <a:xfrm xmlns:a="http://schemas.openxmlformats.org/drawingml/2006/main">
          <a:off x="5431526" y="726681"/>
          <a:ext cx="212652" cy="191386"/>
        </a:xfrm>
        <a:prstGeom xmlns:a="http://schemas.openxmlformats.org/drawingml/2006/main" prst="ellipse">
          <a:avLst/>
        </a:prstGeom>
        <a:solidFill xmlns:a="http://schemas.openxmlformats.org/drawingml/2006/main">
          <a:srgbClr val="004F59"/>
        </a:solidFill>
        <a:ln xmlns:a="http://schemas.openxmlformats.org/drawingml/2006/main" w="19050" algn="ctr">
          <a:noFill/>
          <a:miter lim="800000"/>
          <a:headEnd/>
          <a:tailEnd/>
        </a:ln>
      </cdr:spPr>
      <cdr:txBody>
        <a:bodyPr xmlns:a="http://schemas.openxmlformats.org/drawingml/2006/main" vertOverflow="clip" wrap="square" lIns="88900" tIns="88900" rIns="88900" bIns="88900" rtlCol="0" anchor="ctr"/>
        <a:lstStyle xmlns:a="http://schemas.openxmlformats.org/drawingml/2006/main"/>
        <a:p xmlns:a="http://schemas.openxmlformats.org/drawingml/2006/main">
          <a:endParaRPr lang="en-US"/>
        </a:p>
      </cdr:txBody>
    </cdr:sp>
  </cdr:relSizeAnchor>
</c:userShapes>
</file>

<file path=ppt/drawings/drawing8.xml><?xml version="1.0" encoding="utf-8"?>
<c:userShapes xmlns:c="http://schemas.openxmlformats.org/drawingml/2006/chart">
  <cdr:relSizeAnchor xmlns:cdr="http://schemas.openxmlformats.org/drawingml/2006/chartDrawing">
    <cdr:from>
      <cdr:x>0.7205</cdr:x>
      <cdr:y>0.49315</cdr:y>
    </cdr:from>
    <cdr:to>
      <cdr:x>0.97516</cdr:x>
      <cdr:y>0.56397</cdr:y>
    </cdr:to>
    <cdr:sp macro="" textlink="">
      <cdr:nvSpPr>
        <cdr:cNvPr id="2" name="TextBox 17"/>
        <cdr:cNvSpPr txBox="1"/>
      </cdr:nvSpPr>
      <cdr:spPr>
        <a:xfrm xmlns:a="http://schemas.openxmlformats.org/drawingml/2006/main">
          <a:off x="8286808" y="2571768"/>
          <a:ext cx="2928958"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ysClr val="windowText" lastClr="000000"/>
              </a:solidFill>
              <a:latin typeface="Calibri"/>
            </a:defRPr>
          </a:lvl1pPr>
          <a:lvl2pPr marL="457200" algn="l" defTabSz="914400" rtl="0" eaLnBrk="1" latinLnBrk="0" hangingPunct="1">
            <a:defRPr sz="1800" kern="1200">
              <a:solidFill>
                <a:sysClr val="windowText" lastClr="000000"/>
              </a:solidFill>
              <a:latin typeface="Calibri"/>
            </a:defRPr>
          </a:lvl2pPr>
          <a:lvl3pPr marL="914400" algn="l" defTabSz="914400" rtl="0" eaLnBrk="1" latinLnBrk="0" hangingPunct="1">
            <a:defRPr sz="1800" kern="1200">
              <a:solidFill>
                <a:sysClr val="windowText" lastClr="000000"/>
              </a:solidFill>
              <a:latin typeface="Calibri"/>
            </a:defRPr>
          </a:lvl3pPr>
          <a:lvl4pPr marL="1371600" algn="l" defTabSz="914400" rtl="0" eaLnBrk="1" latinLnBrk="0" hangingPunct="1">
            <a:defRPr sz="1800" kern="1200">
              <a:solidFill>
                <a:sysClr val="windowText" lastClr="000000"/>
              </a:solidFill>
              <a:latin typeface="Calibri"/>
            </a:defRPr>
          </a:lvl4pPr>
          <a:lvl5pPr marL="1828800" algn="l" defTabSz="914400" rtl="0" eaLnBrk="1" latinLnBrk="0" hangingPunct="1">
            <a:defRPr sz="1800" kern="1200">
              <a:solidFill>
                <a:sysClr val="windowText" lastClr="000000"/>
              </a:solidFill>
              <a:latin typeface="Calibri"/>
            </a:defRPr>
          </a:lvl5pPr>
          <a:lvl6pPr marL="2286000" algn="l" defTabSz="914400" rtl="0" eaLnBrk="1" latinLnBrk="0" hangingPunct="1">
            <a:defRPr sz="1800" kern="1200">
              <a:solidFill>
                <a:sysClr val="windowText" lastClr="000000"/>
              </a:solidFill>
              <a:latin typeface="Calibri"/>
            </a:defRPr>
          </a:lvl6pPr>
          <a:lvl7pPr marL="2743200" algn="l" defTabSz="914400" rtl="0" eaLnBrk="1" latinLnBrk="0" hangingPunct="1">
            <a:defRPr sz="1800" kern="1200">
              <a:solidFill>
                <a:sysClr val="windowText" lastClr="000000"/>
              </a:solidFill>
              <a:latin typeface="Calibri"/>
            </a:defRPr>
          </a:lvl7pPr>
          <a:lvl8pPr marL="3200400" algn="l" defTabSz="914400" rtl="0" eaLnBrk="1" latinLnBrk="0" hangingPunct="1">
            <a:defRPr sz="1800" kern="1200">
              <a:solidFill>
                <a:sysClr val="windowText" lastClr="000000"/>
              </a:solidFill>
              <a:latin typeface="Calibri"/>
            </a:defRPr>
          </a:lvl8pPr>
          <a:lvl9pPr marL="3657600" algn="l" defTabSz="914400" rtl="0" eaLnBrk="1" latinLnBrk="0" hangingPunct="1">
            <a:defRPr sz="1800" kern="1200">
              <a:solidFill>
                <a:sysClr val="windowText" lastClr="000000"/>
              </a:solidFill>
              <a:latin typeface="Calibri"/>
            </a:defRPr>
          </a:lvl9pPr>
        </a:lstStyle>
        <a:p xmlns:a="http://schemas.openxmlformats.org/drawingml/2006/main">
          <a:r>
            <a:rPr lang="en-US" dirty="0"/>
            <a:t>RPO Achievement: 15.1%</a:t>
          </a:r>
        </a:p>
      </cdr:txBody>
    </cdr:sp>
  </cdr:relSizeAnchor>
</c:userShapes>
</file>

<file path=ppt/drawings/drawing9.xml><?xml version="1.0" encoding="utf-8"?>
<c:userShapes xmlns:c="http://schemas.openxmlformats.org/drawingml/2006/chart">
  <cdr:relSizeAnchor xmlns:cdr="http://schemas.openxmlformats.org/drawingml/2006/chartDrawing">
    <cdr:from>
      <cdr:x>0.58195</cdr:x>
      <cdr:y>0.34798</cdr:y>
    </cdr:from>
    <cdr:to>
      <cdr:x>0.85479</cdr:x>
      <cdr:y>0.61404</cdr:y>
    </cdr:to>
    <cdr:sp macro="" textlink="">
      <cdr:nvSpPr>
        <cdr:cNvPr id="2" name="TextBox 1">
          <a:extLst xmlns:a="http://schemas.openxmlformats.org/drawingml/2006/main">
            <a:ext uri="{FF2B5EF4-FFF2-40B4-BE49-F238E27FC236}">
              <a16:creationId xmlns:a16="http://schemas.microsoft.com/office/drawing/2014/main" id="{0F2342A3-5CFA-4470-B88F-172FB65D751A}"/>
            </a:ext>
          </a:extLst>
        </cdr:cNvPr>
        <cdr:cNvSpPr txBox="1"/>
      </cdr:nvSpPr>
      <cdr:spPr>
        <a:xfrm xmlns:a="http://schemas.openxmlformats.org/drawingml/2006/main">
          <a:off x="4058066" y="805096"/>
          <a:ext cx="1902594" cy="615553"/>
        </a:xfrm>
        <a:prstGeom xmlns:a="http://schemas.openxmlformats.org/drawingml/2006/main" prst="rect">
          <a:avLst/>
        </a:prstGeom>
        <a:solidFill xmlns:a="http://schemas.openxmlformats.org/drawingml/2006/main">
          <a:schemeClr val="tx2">
            <a:lumMod val="20000"/>
            <a:lumOff val="80000"/>
          </a:schemeClr>
        </a:solidFill>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algn="just">
            <a:buSzPct val="100000"/>
          </a:pPr>
          <a:r>
            <a:rPr lang="en-US" sz="800" dirty="0">
              <a:solidFill>
                <a:schemeClr val="tx1"/>
              </a:solidFill>
            </a:rPr>
            <a:t>**RES have higher rate because of old PPA signed at higher rates i.e. Rs. 7.82 /KWh for Solar</a:t>
          </a:r>
        </a:p>
        <a:p xmlns:a="http://schemas.openxmlformats.org/drawingml/2006/main">
          <a:pPr algn="just">
            <a:buSzPct val="100000"/>
          </a:pPr>
          <a:r>
            <a:rPr lang="en-US" sz="800" dirty="0">
              <a:solidFill>
                <a:schemeClr val="tx1"/>
              </a:solidFill>
            </a:rPr>
            <a:t>New Solar PPA have average purchase rate of Rs. 2.62 /KWh</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6169E-EE23-4732-980F-F30C5AE2B0ED}" type="datetimeFigureOut">
              <a:rPr lang="en-US" smtClean="0"/>
              <a:t>6/19/2025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1298-3354-461E-8A08-CECE510DEEBF}" type="slidenum">
              <a:rPr lang="en-US" smtClean="0"/>
              <a:t>‹#›</a:t>
            </a:fld>
            <a:endParaRPr lang="en-US"/>
          </a:p>
        </p:txBody>
      </p:sp>
    </p:spTree>
    <p:extLst>
      <p:ext uri="{BB962C8B-B14F-4D97-AF65-F5344CB8AC3E}">
        <p14:creationId xmlns:p14="http://schemas.microsoft.com/office/powerpoint/2010/main" val="399750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r>
              <a:rPr lang="en-GB" dirty="0"/>
              <a:t>To be picked from</a:t>
            </a:r>
            <a:r>
              <a:rPr lang="en-GB" baseline="0" dirty="0"/>
              <a:t> https://consulting.deloitteresources.com/brand/Pages/Imagery.aspx</a:t>
            </a:r>
          </a:p>
          <a:p>
            <a:r>
              <a:rPr lang="en-GB" dirty="0"/>
              <a:t>https://brandspace.deloitte.com/content/index/guid/image_library?search_term=&amp;list_size=25&amp;assettag%5B16%5D%5B%5D=43&amp;assettag%5B19%5D%5B%5D=50</a:t>
            </a:r>
          </a:p>
        </p:txBody>
      </p:sp>
      <p:sp>
        <p:nvSpPr>
          <p:cNvPr id="4" name="Slide Number Placeholder 3"/>
          <p:cNvSpPr>
            <a:spLocks noGrp="1"/>
          </p:cNvSpPr>
          <p:nvPr>
            <p:ph type="sldNum" sz="quarter" idx="10"/>
          </p:nvPr>
        </p:nvSpPr>
        <p:spPr/>
        <p:txBody>
          <a:bodyPr/>
          <a:lstStyle/>
          <a:p>
            <a:pPr marL="0" marR="0" lvl="0" indent="0" algn="r" defTabSz="914342"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fld id="{B1FEB637-BC42-497E-9119-65CA0380A6EE}" type="slidenum">
              <a:rPr lang="en-GB" smtClean="0">
                <a:solidFill>
                  <a:prstClr val="black"/>
                </a:solidFill>
              </a:rPr>
              <a:pPr/>
              <a:t>3</a:t>
            </a:fld>
            <a:endParaRPr lang="en-GB" dirty="0">
              <a:solidFill>
                <a:prstClr val="black"/>
              </a:solidFill>
            </a:endParaRPr>
          </a:p>
        </p:txBody>
      </p:sp>
    </p:spTree>
    <p:extLst>
      <p:ext uri="{BB962C8B-B14F-4D97-AF65-F5344CB8AC3E}">
        <p14:creationId xmlns:p14="http://schemas.microsoft.com/office/powerpoint/2010/main" val="3211907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342"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42"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28407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6110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fld id="{B1FEB637-BC42-497E-9119-65CA0380A6EE}" type="slidenum">
              <a:rPr lang="en-GB" smtClean="0">
                <a:solidFill>
                  <a:prstClr val="black"/>
                </a:solidFill>
              </a:rPr>
              <a:pPr/>
              <a:t>12</a:t>
            </a:fld>
            <a:endParaRPr lang="en-GB" dirty="0">
              <a:solidFill>
                <a:prstClr val="black"/>
              </a:solidFill>
            </a:endParaRPr>
          </a:p>
        </p:txBody>
      </p:sp>
    </p:spTree>
    <p:extLst>
      <p:ext uri="{BB962C8B-B14F-4D97-AF65-F5344CB8AC3E}">
        <p14:creationId xmlns:p14="http://schemas.microsoft.com/office/powerpoint/2010/main" val="389257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1855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fld id="{B1FEB637-BC42-497E-9119-65CA0380A6EE}" type="slidenum">
              <a:rPr lang="en-GB" smtClean="0">
                <a:solidFill>
                  <a:prstClr val="black"/>
                </a:solidFill>
              </a:rPr>
              <a:pPr/>
              <a:t>15</a:t>
            </a:fld>
            <a:endParaRPr lang="en-GB" dirty="0">
              <a:solidFill>
                <a:prstClr val="black"/>
              </a:solidFill>
            </a:endParaRPr>
          </a:p>
        </p:txBody>
      </p:sp>
    </p:spTree>
    <p:extLst>
      <p:ext uri="{BB962C8B-B14F-4D97-AF65-F5344CB8AC3E}">
        <p14:creationId xmlns:p14="http://schemas.microsoft.com/office/powerpoint/2010/main" val="4056702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1350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0897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4145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0691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2088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fld id="{B1FEB637-BC42-497E-9119-65CA0380A6EE}" type="slidenum">
              <a:rPr lang="en-GB" smtClean="0">
                <a:solidFill>
                  <a:prstClr val="black"/>
                </a:solidFill>
              </a:rPr>
              <a:pPr/>
              <a:t>24</a:t>
            </a:fld>
            <a:endParaRPr lang="en-GB" dirty="0">
              <a:solidFill>
                <a:prstClr val="black"/>
              </a:solidFill>
            </a:endParaRPr>
          </a:p>
        </p:txBody>
      </p:sp>
    </p:spTree>
    <p:extLst>
      <p:ext uri="{BB962C8B-B14F-4D97-AF65-F5344CB8AC3E}">
        <p14:creationId xmlns:p14="http://schemas.microsoft.com/office/powerpoint/2010/main" val="39854216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2945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6228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9512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4204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47356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6037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D23889-4079-4C18-B57D-02EFE4118489}" type="slidenum">
              <a:rPr lang="en-US" smtClean="0"/>
              <a:t>38</a:t>
            </a:fld>
            <a:endParaRPr lang="en-US"/>
          </a:p>
        </p:txBody>
      </p:sp>
    </p:spTree>
    <p:extLst>
      <p:ext uri="{BB962C8B-B14F-4D97-AF65-F5344CB8AC3E}">
        <p14:creationId xmlns:p14="http://schemas.microsoft.com/office/powerpoint/2010/main" val="1648495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D23889-4079-4C18-B57D-02EFE4118489}" type="slidenum">
              <a:rPr lang="en-US" smtClean="0"/>
              <a:t>39</a:t>
            </a:fld>
            <a:endParaRPr lang="en-US"/>
          </a:p>
        </p:txBody>
      </p:sp>
    </p:spTree>
    <p:extLst>
      <p:ext uri="{BB962C8B-B14F-4D97-AF65-F5344CB8AC3E}">
        <p14:creationId xmlns:p14="http://schemas.microsoft.com/office/powerpoint/2010/main" val="2543648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88726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7448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0171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92071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73553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41918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75282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50</a:t>
            </a:fld>
            <a:endParaRPr lang="en-US" dirty="0"/>
          </a:p>
        </p:txBody>
      </p:sp>
    </p:spTree>
    <p:extLst>
      <p:ext uri="{BB962C8B-B14F-4D97-AF65-F5344CB8AC3E}">
        <p14:creationId xmlns:p14="http://schemas.microsoft.com/office/powerpoint/2010/main" val="41591486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1228876"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1228876"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99440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8541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23003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042873"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042873"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41974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850247" y="9378051"/>
            <a:ext cx="2945955" cy="4946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81460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30836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46003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31907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94</a:t>
            </a:fld>
            <a:endParaRPr lang="en-US"/>
          </a:p>
        </p:txBody>
      </p:sp>
    </p:spTree>
    <p:extLst>
      <p:ext uri="{BB962C8B-B14F-4D97-AF65-F5344CB8AC3E}">
        <p14:creationId xmlns:p14="http://schemas.microsoft.com/office/powerpoint/2010/main" val="2386038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6.emf"/><Relationship Id="rId4" Type="http://schemas.openxmlformats.org/officeDocument/2006/relationships/oleObject" Target="../embeddings/oleObject2.bin"/></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6.emf"/><Relationship Id="rId4" Type="http://schemas.openxmlformats.org/officeDocument/2006/relationships/oleObject" Target="../embeddings/oleObject6.bin"/></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7.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6.emf"/><Relationship Id="rId4" Type="http://schemas.openxmlformats.org/officeDocument/2006/relationships/oleObject" Target="../embeddings/oleObject8.bin"/></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4.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8.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37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37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1.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6.emf"/><Relationship Id="rId4" Type="http://schemas.openxmlformats.org/officeDocument/2006/relationships/oleObject" Target="../embeddings/oleObject12.bin"/></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637216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47458879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dirty="0"/>
              <a:t>Click to edit </a:t>
            </a:r>
            <a:br>
              <a:rPr lang="en-US" noProof="0" dirty="0"/>
            </a:br>
            <a:r>
              <a:rPr lang="en-US" noProof="0" dirty="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28" name="Title 1">
            <a:extLst>
              <a:ext uri="{FF2B5EF4-FFF2-40B4-BE49-F238E27FC236}">
                <a16:creationId xmlns:a16="http://schemas.microsoft.com/office/drawing/2014/main" id="{BF939DF8-C67D-4ED5-9DBC-98F2B43BDAEA}"/>
              </a:ext>
            </a:extLst>
          </p:cNvPr>
          <p:cNvSpPr txBox="1">
            <a:spLocks/>
          </p:cNvSpPr>
          <p:nvPr/>
        </p:nvSpPr>
        <p:spPr bwMode="gray">
          <a:xfrm>
            <a:off x="3417931" y="725455"/>
            <a:ext cx="5356735" cy="5356735"/>
          </a:xfrm>
          <a:prstGeom prst="ellipse">
            <a:avLst/>
          </a:prstGeom>
          <a:ln w="25400">
            <a:solidFill>
              <a:schemeClr val="accent1"/>
            </a:solidFill>
          </a:ln>
        </p:spPr>
        <p:txBody>
          <a:bodyPr vert="horz" lIns="108000" tIns="108000" rIns="108000" bIns="108000" rtlCol="0" anchor="ctr" anchorCtr="0">
            <a:normAutofit/>
          </a:bodyPr>
          <a:lstStyle>
            <a:lvl1pPr algn="ctr" defTabSz="914400" rtl="0" eaLnBrk="1" latinLnBrk="0" hangingPunct="1">
              <a:lnSpc>
                <a:spcPts val="4200"/>
              </a:lnSpc>
              <a:spcBef>
                <a:spcPct val="0"/>
              </a:spcBef>
              <a:buNone/>
              <a:defRPr sz="3600" b="0" kern="1200">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Tree>
    <p:extLst>
      <p:ext uri="{BB962C8B-B14F-4D97-AF65-F5344CB8AC3E}">
        <p14:creationId xmlns:p14="http://schemas.microsoft.com/office/powerpoint/2010/main" val="283496265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42837381"/>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Portfolio and program management support to RECPDCL</a:t>
            </a:r>
          </a:p>
          <a:p>
            <a:pPr marL="0" indent="0" algn="r">
              <a:spcBef>
                <a:spcPts val="0"/>
              </a:spcBef>
              <a:buSzPct val="100000"/>
              <a:buFont typeface="Arial"/>
              <a:buNone/>
            </a:pPr>
            <a:endParaRPr lang="en-US" sz="900" noProof="0" dirty="0">
              <a:solidFill>
                <a:schemeClr val="bg1"/>
              </a:solidFill>
              <a:latin typeface="Calibri" panose="020F0502020204030204" pitchFamily="34" charset="0"/>
              <a:cs typeface="Calibri" panose="020F0502020204030204" pitchFamily="34" charset="0"/>
            </a:endParaRPr>
          </a:p>
        </p:txBody>
      </p:sp>
      <p:sp>
        <p:nvSpPr>
          <p:cNvPr id="8"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4F2D29F-D256-48DF-93EB-3649C0F15C8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4414701"/>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C15CF50B-B21A-4219-A2F3-42CE64720300}"/>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D56403AF-FAB8-425F-B7B3-1CED91E5B09F}"/>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4"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11" name="TextBox 10">
            <a:extLst>
              <a:ext uri="{FF2B5EF4-FFF2-40B4-BE49-F238E27FC236}">
                <a16:creationId xmlns:a16="http://schemas.microsoft.com/office/drawing/2014/main" id="{1CB26A2C-1AF0-484A-A53B-19D8461F8871}"/>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a:extLst>
              <a:ext uri="{FF2B5EF4-FFF2-40B4-BE49-F238E27FC236}">
                <a16:creationId xmlns:a16="http://schemas.microsoft.com/office/drawing/2014/main" id="{BD9B918C-7ACC-492B-B7AE-007D7C072FCF}"/>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a:extLst>
              <a:ext uri="{FF2B5EF4-FFF2-40B4-BE49-F238E27FC236}">
                <a16:creationId xmlns:a16="http://schemas.microsoft.com/office/drawing/2014/main" id="{1CB04656-0501-4B97-9912-1D2325A897C2}"/>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11558708"/>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39989073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8" name="TextBox 7">
            <a:extLst>
              <a:ext uri="{FF2B5EF4-FFF2-40B4-BE49-F238E27FC236}">
                <a16:creationId xmlns:a16="http://schemas.microsoft.com/office/drawing/2014/main" id="{4C89C390-0020-48A6-B5AC-4316D5612D4A}"/>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0" name="TextBox 9">
            <a:extLst>
              <a:ext uri="{FF2B5EF4-FFF2-40B4-BE49-F238E27FC236}">
                <a16:creationId xmlns:a16="http://schemas.microsoft.com/office/drawing/2014/main" id="{DD45942B-7143-43CC-A732-5FE81F65D404}"/>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a:extLst>
              <a:ext uri="{FF2B5EF4-FFF2-40B4-BE49-F238E27FC236}">
                <a16:creationId xmlns:a16="http://schemas.microsoft.com/office/drawing/2014/main" id="{652D3C7A-D55F-4FEA-BDC6-5973327611BA}"/>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3379469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8816651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4000749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noProof="0"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61542625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425736785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grpSp>
        <p:nvGrpSpPr>
          <p:cNvPr id="20" name="Group 19">
            <a:extLst>
              <a:ext uri="{FF2B5EF4-FFF2-40B4-BE49-F238E27FC236}">
                <a16:creationId xmlns:a16="http://schemas.microsoft.com/office/drawing/2014/main" id="{A475D951-68C7-4A6F-ADC6-AB9C10E42F07}"/>
              </a:ext>
            </a:extLst>
          </p:cNvPr>
          <p:cNvGrpSpPr>
            <a:grpSpLocks noChangeAspect="1"/>
          </p:cNvGrpSpPr>
          <p:nvPr/>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0549B55-8335-4CC4-9417-E768B8E137DA}"/>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0C08EAE3-1065-497F-B8AA-86005E1B7A68}"/>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966AA8D-FE19-49A0-B249-C78D2E85CC91}"/>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2289C80D-1FA5-42CC-A523-8259B7FD08F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6261A9E2-F698-4343-96EA-AA0015AC51BC}"/>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1D1108B0-A2B5-43FD-8CC1-CC36168B9031}"/>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AFA473B9-98DD-4132-83C3-26DCC5D0CC8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E1286E94-0A74-4D64-8FE5-E2FC7038DCB5}"/>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DB23453-5417-4773-B5E0-516CE48D969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2DF2930F-8858-4645-96D1-C2224669578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5259220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7532071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8316813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950006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7339467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1844357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66123051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7879181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0193569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3096486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Rectangle 23">
            <a:extLst>
              <a:ext uri="{FF2B5EF4-FFF2-40B4-BE49-F238E27FC236}">
                <a16:creationId xmlns:a16="http://schemas.microsoft.com/office/drawing/2014/main" id="{56C776D0-A1AC-41AD-A930-68E62E311F28}"/>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5" name="Rectangle 24">
            <a:extLst>
              <a:ext uri="{FF2B5EF4-FFF2-40B4-BE49-F238E27FC236}">
                <a16:creationId xmlns:a16="http://schemas.microsoft.com/office/drawing/2014/main" id="{8676016B-595B-4B09-8A9C-981F4092254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6" name="Rectangle 25">
            <a:extLst>
              <a:ext uri="{FF2B5EF4-FFF2-40B4-BE49-F238E27FC236}">
                <a16:creationId xmlns:a16="http://schemas.microsoft.com/office/drawing/2014/main" id="{E8772A29-A091-45EF-9E05-7D38B8B671A6}"/>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7" name="Rectangle 26">
            <a:extLst>
              <a:ext uri="{FF2B5EF4-FFF2-40B4-BE49-F238E27FC236}">
                <a16:creationId xmlns:a16="http://schemas.microsoft.com/office/drawing/2014/main" id="{331A621E-F4F0-40C4-8952-5BF179427ED7}"/>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Tree>
    <p:extLst>
      <p:ext uri="{BB962C8B-B14F-4D97-AF65-F5344CB8AC3E}">
        <p14:creationId xmlns:p14="http://schemas.microsoft.com/office/powerpoint/2010/main" val="103272733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Rectangle 13">
            <a:extLst>
              <a:ext uri="{FF2B5EF4-FFF2-40B4-BE49-F238E27FC236}">
                <a16:creationId xmlns:a16="http://schemas.microsoft.com/office/drawing/2014/main" id="{D360E003-ECB4-492B-8A94-28433C076FF8}"/>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5" name="Rectangle 14">
            <a:extLst>
              <a:ext uri="{FF2B5EF4-FFF2-40B4-BE49-F238E27FC236}">
                <a16:creationId xmlns:a16="http://schemas.microsoft.com/office/drawing/2014/main" id="{2D54539A-8172-4D14-BE07-3622A53C73DF}"/>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Tree>
    <p:extLst>
      <p:ext uri="{BB962C8B-B14F-4D97-AF65-F5344CB8AC3E}">
        <p14:creationId xmlns:p14="http://schemas.microsoft.com/office/powerpoint/2010/main" val="268421845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0693492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8403231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806867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74949086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4973847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79B02A5E-1924-4491-A063-D5EB632DEA83}"/>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0741955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57761301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500923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84889433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32502727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42320178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99554694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78970286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11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2556855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7391809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6758479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99530406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9155513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103275566"/>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626077341"/>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_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C0C507E7-B81B-4C48-A5AA-EB2302302973}"/>
              </a:ext>
            </a:extLst>
          </p:cNvPr>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A4B9D944-7F4E-42D4-8A84-43402BC40F0D}"/>
              </a:ext>
            </a:extLst>
          </p:cNvPr>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D3B7D15E-E3BF-4AE0-B657-86BF4076BE3E}"/>
              </a:ext>
            </a:extLst>
          </p:cNvPr>
          <p:cNvSpPr>
            <a:spLocks noGrp="1"/>
          </p:cNvSpPr>
          <p:nvPr>
            <p:ph type="body" sz="quarter" idx="26"/>
          </p:nvPr>
        </p:nvSpPr>
        <p:spPr>
          <a:xfrm>
            <a:off x="547075" y="4251853"/>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60D4485-EAA8-48B3-931F-31B5CEB3E678}"/>
              </a:ext>
            </a:extLst>
          </p:cNvPr>
          <p:cNvSpPr>
            <a:spLocks noGrp="1"/>
          </p:cNvSpPr>
          <p:nvPr>
            <p:ph type="body" sz="quarter" idx="27"/>
          </p:nvPr>
        </p:nvSpPr>
        <p:spPr>
          <a:xfrm>
            <a:off x="6280396" y="4251853"/>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6322421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68D44A10-A1BE-4B60-89A4-889D08B8B34B}"/>
              </a:ext>
            </a:extLst>
          </p:cNvPr>
          <p:cNvSpPr>
            <a:spLocks noGrp="1"/>
          </p:cNvSpPr>
          <p:nvPr>
            <p:ph type="body" sz="quarter" idx="17"/>
          </p:nvPr>
        </p:nvSpPr>
        <p:spPr>
          <a:xfrm>
            <a:off x="512874" y="1857892"/>
            <a:ext cx="3584464" cy="4265506"/>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9F52FC78-7A4E-4367-9DA3-28A234B39DF1}"/>
              </a:ext>
            </a:extLst>
          </p:cNvPr>
          <p:cNvSpPr>
            <a:spLocks noGrp="1"/>
          </p:cNvSpPr>
          <p:nvPr>
            <p:ph type="body" sz="quarter" idx="22"/>
          </p:nvPr>
        </p:nvSpPr>
        <p:spPr>
          <a:xfrm>
            <a:off x="4320000"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2D6B6D6E-986C-4D4B-8630-4EBB5F79C2AC}"/>
              </a:ext>
            </a:extLst>
          </p:cNvPr>
          <p:cNvSpPr>
            <a:spLocks noGrp="1"/>
          </p:cNvSpPr>
          <p:nvPr>
            <p:ph type="body" sz="quarter" idx="23"/>
          </p:nvPr>
        </p:nvSpPr>
        <p:spPr>
          <a:xfrm>
            <a:off x="8177084"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8828755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40378277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1826562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44745709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78AECE1A-98D7-4D85-82F1-4323CE05BE9C}"/>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591450523"/>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grpSp>
    </p:spTree>
    <p:extLst>
      <p:ext uri="{BB962C8B-B14F-4D97-AF65-F5344CB8AC3E}">
        <p14:creationId xmlns:p14="http://schemas.microsoft.com/office/powerpoint/2010/main" val="147218816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9436717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36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8" name="TextBox 7">
            <a:extLst>
              <a:ext uri="{FF2B5EF4-FFF2-40B4-BE49-F238E27FC236}">
                <a16:creationId xmlns:a16="http://schemas.microsoft.com/office/drawing/2014/main" id="{48E7A1D6-FD3E-4165-B102-6C7996E8698D}"/>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2022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India LLP. </a:t>
            </a:r>
          </a:p>
        </p:txBody>
      </p:sp>
    </p:spTree>
    <p:extLst>
      <p:ext uri="{BB962C8B-B14F-4D97-AF65-F5344CB8AC3E}">
        <p14:creationId xmlns:p14="http://schemas.microsoft.com/office/powerpoint/2010/main" val="10572344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A921-5BB3-4E61-A946-E5724F7E60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926783-14DB-41C1-AB1A-2DA649809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D6E522-A494-44B3-95F3-7F3FB4167B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91DDA1D-B82C-4B60-9CDF-28C8E1760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29DF7-22D2-4492-86DB-CC99B3F66A01}"/>
              </a:ext>
            </a:extLst>
          </p:cNvPr>
          <p:cNvSpPr>
            <a:spLocks noGrp="1"/>
          </p:cNvSpPr>
          <p:nvPr>
            <p:ph type="sldNum" sz="quarter" idx="12"/>
          </p:nvPr>
        </p:nvSpPr>
        <p:spPr/>
        <p:txBody>
          <a:bodyPr/>
          <a:lstStyle/>
          <a:p>
            <a:fld id="{7C48625B-2C8B-4704-8124-4FBE0795A41C}" type="slidenum">
              <a:rPr lang="en-US" smtClean="0"/>
              <a:t>‹#›</a:t>
            </a:fld>
            <a:endParaRPr lang="en-US"/>
          </a:p>
        </p:txBody>
      </p:sp>
    </p:spTree>
    <p:extLst>
      <p:ext uri="{BB962C8B-B14F-4D97-AF65-F5344CB8AC3E}">
        <p14:creationId xmlns:p14="http://schemas.microsoft.com/office/powerpoint/2010/main" val="37818067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Tree>
    <p:extLst>
      <p:ext uri="{BB962C8B-B14F-4D97-AF65-F5344CB8AC3E}">
        <p14:creationId xmlns:p14="http://schemas.microsoft.com/office/powerpoint/2010/main" val="2456522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70898649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1776400696"/>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1051490271"/>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575862524"/>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71828348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496634648"/>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87692591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_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28628377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55485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1292741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0907625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5632475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486558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7648157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347901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355517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506567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9217927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330624600"/>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9231661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8502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07094468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4371854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022894576"/>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45641771"/>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82843648"/>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82243747"/>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053934229"/>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600390978"/>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69078836"/>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93931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070872781"/>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215866289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86976298"/>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454540525"/>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4253375208"/>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5796092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1990387863"/>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3301603"/>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Tree>
    <p:extLst>
      <p:ext uri="{BB962C8B-B14F-4D97-AF65-F5344CB8AC3E}">
        <p14:creationId xmlns:p14="http://schemas.microsoft.com/office/powerpoint/2010/main" val="8965803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1495166547"/>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858009552"/>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22648967"/>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69926384"/>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30015677"/>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3932734581"/>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11244116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62153825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6560273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3602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09461601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63773692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89173440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4378276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95249418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381098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82172920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79243639"/>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90784574"/>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739116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23291637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134519120"/>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892015310"/>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1677880"/>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46251060"/>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759854265"/>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134526114"/>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473573978"/>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09214684"/>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310640304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2497323964"/>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1563106077"/>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127653784"/>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736211757"/>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979653564"/>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83650845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8304602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2240335784"/>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775419893"/>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dirty="0"/>
              <a:t>BREADCRUMBS</a:t>
            </a:r>
          </a:p>
        </p:txBody>
      </p:sp>
    </p:spTree>
    <p:extLst>
      <p:ext uri="{BB962C8B-B14F-4D97-AF65-F5344CB8AC3E}">
        <p14:creationId xmlns:p14="http://schemas.microsoft.com/office/powerpoint/2010/main" val="45580398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59BAF-C980-46A5-B3DC-BB060FA6A5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6A9E6D-25E9-4841-9483-F2B0B7AD55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402838-67ED-4117-B9E0-2A7B984783DB}"/>
              </a:ext>
            </a:extLst>
          </p:cNvPr>
          <p:cNvSpPr>
            <a:spLocks noGrp="1"/>
          </p:cNvSpPr>
          <p:nvPr>
            <p:ph type="dt" sz="half" idx="10"/>
          </p:nvPr>
        </p:nvSpPr>
        <p:spPr/>
        <p:txBody>
          <a:bodyPr/>
          <a:lstStyle/>
          <a:p>
            <a:fld id="{89E54CCB-2707-49A4-B794-FEB7362D1E6D}" type="datetimeFigureOut">
              <a:rPr lang="en-US" smtClean="0"/>
              <a:t>6/19/2025</a:t>
            </a:fld>
            <a:endParaRPr lang="en-US"/>
          </a:p>
        </p:txBody>
      </p:sp>
      <p:sp>
        <p:nvSpPr>
          <p:cNvPr id="5" name="Footer Placeholder 4">
            <a:extLst>
              <a:ext uri="{FF2B5EF4-FFF2-40B4-BE49-F238E27FC236}">
                <a16:creationId xmlns:a16="http://schemas.microsoft.com/office/drawing/2014/main" id="{EAEA06CF-567A-439F-A664-AA0D0E48B1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DF00D-76CE-442F-8AA8-097637474622}"/>
              </a:ext>
            </a:extLst>
          </p:cNvPr>
          <p:cNvSpPr>
            <a:spLocks noGrp="1"/>
          </p:cNvSpPr>
          <p:nvPr>
            <p:ph type="sldNum" sz="quarter" idx="12"/>
          </p:nvPr>
        </p:nvSpPr>
        <p:spPr/>
        <p:txBody>
          <a:bodyPr/>
          <a:lstStyle/>
          <a:p>
            <a:fld id="{0E8D11E0-135A-4B31-A6A4-237A1E81EFE1}" type="slidenum">
              <a:rPr lang="en-US" smtClean="0"/>
              <a:t>‹#›</a:t>
            </a:fld>
            <a:endParaRPr lang="en-US"/>
          </a:p>
        </p:txBody>
      </p:sp>
    </p:spTree>
    <p:extLst>
      <p:ext uri="{BB962C8B-B14F-4D97-AF65-F5344CB8AC3E}">
        <p14:creationId xmlns:p14="http://schemas.microsoft.com/office/powerpoint/2010/main" val="280667121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GB" dirty="0"/>
          </a:p>
        </p:txBody>
      </p:sp>
    </p:spTree>
    <p:extLst>
      <p:ext uri="{BB962C8B-B14F-4D97-AF65-F5344CB8AC3E}">
        <p14:creationId xmlns:p14="http://schemas.microsoft.com/office/powerpoint/2010/main" val="404267924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Section Header with Image">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EBEE4DB5-5DEF-4DDB-9764-FD834B9DCAEC}"/>
              </a:ext>
            </a:extLst>
          </p:cNvPr>
          <p:cNvCxnSpPr>
            <a:cxnSpLocks/>
          </p:cNvCxnSpPr>
          <p:nvPr userDrawn="1"/>
        </p:nvCxnSpPr>
        <p:spPr>
          <a:xfrm>
            <a:off x="0" y="1312451"/>
            <a:ext cx="12192000" cy="8351"/>
          </a:xfrm>
          <a:prstGeom prst="line">
            <a:avLst/>
          </a:prstGeom>
          <a:ln w="31750">
            <a:solidFill>
              <a:srgbClr val="66A3C2"/>
            </a:solidFill>
          </a:ln>
        </p:spPr>
        <p:style>
          <a:lnRef idx="1">
            <a:schemeClr val="accent1"/>
          </a:lnRef>
          <a:fillRef idx="0">
            <a:schemeClr val="accent1"/>
          </a:fillRef>
          <a:effectRef idx="0">
            <a:schemeClr val="accent1"/>
          </a:effectRef>
          <a:fontRef idx="minor">
            <a:schemeClr val="tx1"/>
          </a:fontRef>
        </p:style>
      </p:cxnSp>
      <p:sp>
        <p:nvSpPr>
          <p:cNvPr id="24" name="Slide Number Placeholder 23"/>
          <p:cNvSpPr>
            <a:spLocks noGrp="1"/>
          </p:cNvSpPr>
          <p:nvPr>
            <p:ph type="sldNum" sz="quarter" idx="11"/>
          </p:nvPr>
        </p:nvSpPr>
        <p:spPr/>
        <p:txBody>
          <a:bodyPr anchor="b"/>
          <a:lstStyle>
            <a:lvl1pPr>
              <a:defRPr sz="1100"/>
            </a:lvl1pPr>
          </a:lstStyle>
          <a:p>
            <a:fld id="{8699F50C-BE38-4BD0-BA84-9B090E1F2B9B}" type="slidenum">
              <a:rPr lang="en-IN" smtClean="0"/>
              <a:pPr/>
              <a:t>‹#›</a:t>
            </a:fld>
            <a:endParaRPr lang="en-IN" dirty="0"/>
          </a:p>
        </p:txBody>
      </p:sp>
      <p:sp useBgFill="1">
        <p:nvSpPr>
          <p:cNvPr id="26" name="Content Placeholder 25"/>
          <p:cNvSpPr>
            <a:spLocks noGrp="1"/>
          </p:cNvSpPr>
          <p:nvPr>
            <p:ph sz="quarter" idx="12"/>
          </p:nvPr>
        </p:nvSpPr>
        <p:spPr>
          <a:xfrm>
            <a:off x="338667" y="1441452"/>
            <a:ext cx="11548532" cy="4799173"/>
          </a:xfrm>
          <a:prstGeom prst="rect">
            <a:avLst/>
          </a:prstGeom>
        </p:spPr>
        <p:txBody>
          <a:bodyPr/>
          <a:lstStyle>
            <a:lvl1pPr>
              <a:buClr>
                <a:srgbClr val="010301"/>
              </a:buClr>
              <a:defRPr sz="2400">
                <a:solidFill>
                  <a:srgbClr val="000000"/>
                </a:solidFill>
              </a:defRPr>
            </a:lvl1pPr>
            <a:lvl2pPr>
              <a:buClr>
                <a:srgbClr val="010301"/>
              </a:buClr>
              <a:defRPr sz="1800">
                <a:solidFill>
                  <a:srgbClr val="000000"/>
                </a:solidFill>
              </a:defRPr>
            </a:lvl2pPr>
            <a:lvl3pPr>
              <a:buClr>
                <a:srgbClr val="010301"/>
              </a:buClr>
              <a:defRPr sz="1600">
                <a:solidFill>
                  <a:srgbClr val="000000"/>
                </a:solidFill>
              </a:defRPr>
            </a:lvl3pPr>
            <a:lvl4pPr>
              <a:buClr>
                <a:srgbClr val="010301"/>
              </a:buClr>
              <a:defRPr sz="1600">
                <a:solidFill>
                  <a:srgbClr val="000000"/>
                </a:solidFill>
              </a:defRPr>
            </a:lvl4pPr>
            <a:lvl5pPr>
              <a:buClr>
                <a:srgbClr val="010301"/>
              </a:buClr>
              <a:defRPr sz="16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21989943"/>
      </p:ext>
    </p:extLst>
  </p:cSld>
  <p:clrMapOvr>
    <a:masterClrMapping/>
  </p:clrMapOvr>
  <p:extLst>
    <p:ext uri="{DCECCB84-F9BA-43D5-87BE-67443E8EF086}">
      <p15:sldGuideLst xmlns:p15="http://schemas.microsoft.com/office/powerpoint/2012/main">
        <p15:guide id="1" orient="horz" pos="2183">
          <p15:clr>
            <a:srgbClr val="FBAE40"/>
          </p15:clr>
        </p15:guide>
        <p15:guide id="2" pos="5120">
          <p15:clr>
            <a:srgbClr val="FBAE40"/>
          </p15:clr>
        </p15:guide>
        <p15:guide id="3" pos="191">
          <p15:clr>
            <a:srgbClr val="FBAE40"/>
          </p15:clr>
        </p15:guide>
        <p15:guide id="4" orient="horz" pos="4156">
          <p15:clr>
            <a:srgbClr val="FBAE40"/>
          </p15:clr>
        </p15:guide>
        <p15:guide id="5" pos="10049">
          <p15:clr>
            <a:srgbClr val="FBAE40"/>
          </p15:clr>
        </p15:guide>
        <p15:guide id="6" orient="horz" pos="142">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5C73DF-1810-4E1C-AC79-37A8743E96AC}" type="datetimeFigureOut">
              <a:rPr lang="en-IN" smtClean="0"/>
              <a:t>19-06-2025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8A40D5-3E8C-4817-BE7B-BA14428C2C42}" type="slidenum">
              <a:rPr lang="en-IN" smtClean="0"/>
              <a:t>‹#›</a:t>
            </a:fld>
            <a:endParaRPr lang="en-IN"/>
          </a:p>
        </p:txBody>
      </p:sp>
    </p:spTree>
    <p:extLst>
      <p:ext uri="{BB962C8B-B14F-4D97-AF65-F5344CB8AC3E}">
        <p14:creationId xmlns:p14="http://schemas.microsoft.com/office/powerpoint/2010/main" val="389416169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7_Images and Contents Layout">
  <p:cSld name="7_Images and Contents Layout">
    <p:bg>
      <p:bgPr>
        <a:solidFill>
          <a:schemeClr val="lt1"/>
        </a:solidFill>
        <a:effectLst/>
      </p:bgPr>
    </p:bg>
    <p:spTree>
      <p:nvGrpSpPr>
        <p:cNvPr id="1" name="Shape 31"/>
        <p:cNvGrpSpPr/>
        <p:nvPr/>
      </p:nvGrpSpPr>
      <p:grpSpPr>
        <a:xfrm>
          <a:off x="0" y="0"/>
          <a:ext cx="0" cy="0"/>
          <a:chOff x="0" y="0"/>
          <a:chExt cx="0" cy="0"/>
        </a:xfrm>
      </p:grpSpPr>
      <p:sp>
        <p:nvSpPr>
          <p:cNvPr id="32" name="Google Shape;32;p5"/>
          <p:cNvSpPr>
            <a:spLocks noGrp="1"/>
          </p:cNvSpPr>
          <p:nvPr>
            <p:ph type="pic" idx="2"/>
          </p:nvPr>
        </p:nvSpPr>
        <p:spPr>
          <a:xfrm>
            <a:off x="211516" y="216000"/>
            <a:ext cx="5228944" cy="6426000"/>
          </a:xfrm>
          <a:prstGeom prst="rect">
            <a:avLst/>
          </a:prstGeom>
          <a:solidFill>
            <a:srgbClr val="F2F2F2"/>
          </a:solidFill>
          <a:ln>
            <a:noFill/>
          </a:ln>
        </p:spPr>
      </p:sp>
      <p:sp>
        <p:nvSpPr>
          <p:cNvPr id="33" name="Google Shape;33;p5"/>
          <p:cNvSpPr/>
          <p:nvPr/>
        </p:nvSpPr>
        <p:spPr>
          <a:xfrm>
            <a:off x="0" y="0"/>
            <a:ext cx="21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 name="Google Shape;34;p5"/>
          <p:cNvSpPr/>
          <p:nvPr/>
        </p:nvSpPr>
        <p:spPr>
          <a:xfrm>
            <a:off x="11976000" y="0"/>
            <a:ext cx="21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 name="Google Shape;35;p5"/>
          <p:cNvSpPr/>
          <p:nvPr/>
        </p:nvSpPr>
        <p:spPr>
          <a:xfrm>
            <a:off x="0" y="0"/>
            <a:ext cx="12192000" cy="21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 name="Google Shape;36;p5"/>
          <p:cNvSpPr/>
          <p:nvPr/>
        </p:nvSpPr>
        <p:spPr>
          <a:xfrm>
            <a:off x="0" y="6642000"/>
            <a:ext cx="12192000" cy="21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78166938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76794728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26939432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dirty="0"/>
              <a:t>Click to edit </a:t>
            </a:r>
            <a:br>
              <a:rPr lang="en-US" noProof="0" dirty="0"/>
            </a:br>
            <a:r>
              <a:rPr lang="en-US" noProof="0" dirty="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28" name="Title 1">
            <a:extLst>
              <a:ext uri="{FF2B5EF4-FFF2-40B4-BE49-F238E27FC236}">
                <a16:creationId xmlns:a16="http://schemas.microsoft.com/office/drawing/2014/main" id="{BF939DF8-C67D-4ED5-9DBC-98F2B43BDAEA}"/>
              </a:ext>
            </a:extLst>
          </p:cNvPr>
          <p:cNvSpPr txBox="1">
            <a:spLocks/>
          </p:cNvSpPr>
          <p:nvPr/>
        </p:nvSpPr>
        <p:spPr bwMode="gray">
          <a:xfrm>
            <a:off x="3417931" y="725455"/>
            <a:ext cx="5356735" cy="5356735"/>
          </a:xfrm>
          <a:prstGeom prst="ellipse">
            <a:avLst/>
          </a:prstGeom>
          <a:ln w="25400">
            <a:solidFill>
              <a:schemeClr val="accent1"/>
            </a:solidFill>
          </a:ln>
        </p:spPr>
        <p:txBody>
          <a:bodyPr vert="horz" lIns="108000" tIns="108000" rIns="108000" bIns="108000" rtlCol="0" anchor="ctr" anchorCtr="0">
            <a:normAutofit/>
          </a:bodyPr>
          <a:lstStyle>
            <a:lvl1pPr algn="ctr" defTabSz="914400" rtl="0" eaLnBrk="1" latinLnBrk="0" hangingPunct="1">
              <a:lnSpc>
                <a:spcPts val="4200"/>
              </a:lnSpc>
              <a:spcBef>
                <a:spcPct val="0"/>
              </a:spcBef>
              <a:buNone/>
              <a:defRPr sz="3600" b="0" kern="1200">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Tree>
    <p:extLst>
      <p:ext uri="{BB962C8B-B14F-4D97-AF65-F5344CB8AC3E}">
        <p14:creationId xmlns:p14="http://schemas.microsoft.com/office/powerpoint/2010/main" val="2980576800"/>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882399237"/>
      </p:ext>
    </p:extLst>
  </p:cSld>
  <p:clrMapOvr>
    <a:masterClrMapping/>
  </p:clrMapOvr>
  <p:transition>
    <p:fade/>
  </p:transition>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Portfolio and program management support to RECPDCL</a:t>
            </a:r>
          </a:p>
          <a:p>
            <a:pPr marL="0" indent="0" algn="r">
              <a:spcBef>
                <a:spcPts val="0"/>
              </a:spcBef>
              <a:buSzPct val="100000"/>
              <a:buFont typeface="Arial"/>
              <a:buNone/>
            </a:pPr>
            <a:endParaRPr lang="en-US" sz="900" noProof="0" dirty="0">
              <a:solidFill>
                <a:schemeClr val="bg1"/>
              </a:solidFill>
              <a:latin typeface="Calibri" panose="020F0502020204030204" pitchFamily="34" charset="0"/>
              <a:cs typeface="Calibri" panose="020F0502020204030204" pitchFamily="34" charset="0"/>
            </a:endParaRPr>
          </a:p>
        </p:txBody>
      </p:sp>
      <p:sp>
        <p:nvSpPr>
          <p:cNvPr id="8"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4F2D29F-D256-48DF-93EB-3649C0F15C8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1843361"/>
      </p:ext>
    </p:extLst>
  </p:cSld>
  <p:clrMapOvr>
    <a:masterClrMapping/>
  </p:clrMapOvr>
  <p:transition>
    <p:fade/>
  </p:transition>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C15CF50B-B21A-4219-A2F3-42CE64720300}"/>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D56403AF-FAB8-425F-B7B3-1CED91E5B09F}"/>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4"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11" name="TextBox 10">
            <a:extLst>
              <a:ext uri="{FF2B5EF4-FFF2-40B4-BE49-F238E27FC236}">
                <a16:creationId xmlns:a16="http://schemas.microsoft.com/office/drawing/2014/main" id="{1CB26A2C-1AF0-484A-A53B-19D8461F8871}"/>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a:extLst>
              <a:ext uri="{FF2B5EF4-FFF2-40B4-BE49-F238E27FC236}">
                <a16:creationId xmlns:a16="http://schemas.microsoft.com/office/drawing/2014/main" id="{BD9B918C-7ACC-492B-B7AE-007D7C072FCF}"/>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a:extLst>
              <a:ext uri="{FF2B5EF4-FFF2-40B4-BE49-F238E27FC236}">
                <a16:creationId xmlns:a16="http://schemas.microsoft.com/office/drawing/2014/main" id="{1CB04656-0501-4B97-9912-1D2325A897C2}"/>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6092862"/>
      </p:ext>
    </p:extLst>
  </p:cSld>
  <p:clrMapOvr>
    <a:masterClrMapping/>
  </p:clrMapOvr>
  <p:transition>
    <p:fade/>
  </p:transition>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154829022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8" name="TextBox 7">
            <a:extLst>
              <a:ext uri="{FF2B5EF4-FFF2-40B4-BE49-F238E27FC236}">
                <a16:creationId xmlns:a16="http://schemas.microsoft.com/office/drawing/2014/main" id="{4C89C390-0020-48A6-B5AC-4316D5612D4A}"/>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0" name="TextBox 9">
            <a:extLst>
              <a:ext uri="{FF2B5EF4-FFF2-40B4-BE49-F238E27FC236}">
                <a16:creationId xmlns:a16="http://schemas.microsoft.com/office/drawing/2014/main" id="{DD45942B-7143-43CC-A732-5FE81F65D404}"/>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a:extLst>
              <a:ext uri="{FF2B5EF4-FFF2-40B4-BE49-F238E27FC236}">
                <a16:creationId xmlns:a16="http://schemas.microsoft.com/office/drawing/2014/main" id="{652D3C7A-D55F-4FEA-BDC6-5973327611BA}"/>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1712698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54376152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44076558"/>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881899711"/>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966465878"/>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grpSp>
        <p:nvGrpSpPr>
          <p:cNvPr id="20" name="Group 19">
            <a:extLst>
              <a:ext uri="{FF2B5EF4-FFF2-40B4-BE49-F238E27FC236}">
                <a16:creationId xmlns:a16="http://schemas.microsoft.com/office/drawing/2014/main" id="{A475D951-68C7-4A6F-ADC6-AB9C10E42F07}"/>
              </a:ext>
            </a:extLst>
          </p:cNvPr>
          <p:cNvGrpSpPr>
            <a:grpSpLocks noChangeAspect="1"/>
          </p:cNvGrpSpPr>
          <p:nvPr/>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0549B55-8335-4CC4-9417-E768B8E137DA}"/>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0C08EAE3-1065-497F-B8AA-86005E1B7A68}"/>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966AA8D-FE19-49A0-B249-C78D2E85CC91}"/>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2289C80D-1FA5-42CC-A523-8259B7FD08F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6261A9E2-F698-4343-96EA-AA0015AC51BC}"/>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1D1108B0-A2B5-43FD-8CC1-CC36168B9031}"/>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AFA473B9-98DD-4132-83C3-26DCC5D0CC8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E1286E94-0A74-4D64-8FE5-E2FC7038DCB5}"/>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DB23453-5417-4773-B5E0-516CE48D969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2DF2930F-8858-4645-96D1-C2224669578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845725528"/>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07253190"/>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12621554"/>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782519225"/>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19981805"/>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055401978"/>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673205591"/>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44705928"/>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551271272"/>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91048453"/>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Rectangle 23">
            <a:extLst>
              <a:ext uri="{FF2B5EF4-FFF2-40B4-BE49-F238E27FC236}">
                <a16:creationId xmlns:a16="http://schemas.microsoft.com/office/drawing/2014/main" id="{56C776D0-A1AC-41AD-A930-68E62E311F28}"/>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5" name="Rectangle 24">
            <a:extLst>
              <a:ext uri="{FF2B5EF4-FFF2-40B4-BE49-F238E27FC236}">
                <a16:creationId xmlns:a16="http://schemas.microsoft.com/office/drawing/2014/main" id="{8676016B-595B-4B09-8A9C-981F4092254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6" name="Rectangle 25">
            <a:extLst>
              <a:ext uri="{FF2B5EF4-FFF2-40B4-BE49-F238E27FC236}">
                <a16:creationId xmlns:a16="http://schemas.microsoft.com/office/drawing/2014/main" id="{E8772A29-A091-45EF-9E05-7D38B8B671A6}"/>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7" name="Rectangle 26">
            <a:extLst>
              <a:ext uri="{FF2B5EF4-FFF2-40B4-BE49-F238E27FC236}">
                <a16:creationId xmlns:a16="http://schemas.microsoft.com/office/drawing/2014/main" id="{331A621E-F4F0-40C4-8952-5BF179427ED7}"/>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Tree>
    <p:extLst>
      <p:ext uri="{BB962C8B-B14F-4D97-AF65-F5344CB8AC3E}">
        <p14:creationId xmlns:p14="http://schemas.microsoft.com/office/powerpoint/2010/main" val="539593261"/>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Rectangle 13">
            <a:extLst>
              <a:ext uri="{FF2B5EF4-FFF2-40B4-BE49-F238E27FC236}">
                <a16:creationId xmlns:a16="http://schemas.microsoft.com/office/drawing/2014/main" id="{D360E003-ECB4-492B-8A94-28433C076FF8}"/>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5" name="Rectangle 14">
            <a:extLst>
              <a:ext uri="{FF2B5EF4-FFF2-40B4-BE49-F238E27FC236}">
                <a16:creationId xmlns:a16="http://schemas.microsoft.com/office/drawing/2014/main" id="{2D54539A-8172-4D14-BE07-3622A53C73DF}"/>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Tree>
    <p:extLst>
      <p:ext uri="{BB962C8B-B14F-4D97-AF65-F5344CB8AC3E}">
        <p14:creationId xmlns:p14="http://schemas.microsoft.com/office/powerpoint/2010/main" val="3265171303"/>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10847405"/>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98822919"/>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383289436"/>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124111966"/>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246514484"/>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79B02A5E-1924-4491-A063-D5EB632DEA83}"/>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64267824"/>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964387535"/>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1158477"/>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158781625"/>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852540613"/>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34992247"/>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251886669"/>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206055728"/>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11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737665429"/>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512717461"/>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611905725"/>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1055641"/>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733654983"/>
      </p:ext>
    </p:extLst>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1_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11914468"/>
      </p:ext>
    </p:extLst>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70932899"/>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2_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C0C507E7-B81B-4C48-A5AA-EB2302302973}"/>
              </a:ext>
            </a:extLst>
          </p:cNvPr>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A4B9D944-7F4E-42D4-8A84-43402BC40F0D}"/>
              </a:ext>
            </a:extLst>
          </p:cNvPr>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D3B7D15E-E3BF-4AE0-B657-86BF4076BE3E}"/>
              </a:ext>
            </a:extLst>
          </p:cNvPr>
          <p:cNvSpPr>
            <a:spLocks noGrp="1"/>
          </p:cNvSpPr>
          <p:nvPr>
            <p:ph type="body" sz="quarter" idx="26"/>
          </p:nvPr>
        </p:nvSpPr>
        <p:spPr>
          <a:xfrm>
            <a:off x="547075" y="4251853"/>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60D4485-EAA8-48B3-931F-31B5CEB3E678}"/>
              </a:ext>
            </a:extLst>
          </p:cNvPr>
          <p:cNvSpPr>
            <a:spLocks noGrp="1"/>
          </p:cNvSpPr>
          <p:nvPr>
            <p:ph type="body" sz="quarter" idx="27"/>
          </p:nvPr>
        </p:nvSpPr>
        <p:spPr>
          <a:xfrm>
            <a:off x="6280396" y="4251853"/>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02142358"/>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2_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68D44A10-A1BE-4B60-89A4-889D08B8B34B}"/>
              </a:ext>
            </a:extLst>
          </p:cNvPr>
          <p:cNvSpPr>
            <a:spLocks noGrp="1"/>
          </p:cNvSpPr>
          <p:nvPr>
            <p:ph type="body" sz="quarter" idx="17"/>
          </p:nvPr>
        </p:nvSpPr>
        <p:spPr>
          <a:xfrm>
            <a:off x="512874" y="1857892"/>
            <a:ext cx="3584464" cy="4265506"/>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9F52FC78-7A4E-4367-9DA3-28A234B39DF1}"/>
              </a:ext>
            </a:extLst>
          </p:cNvPr>
          <p:cNvSpPr>
            <a:spLocks noGrp="1"/>
          </p:cNvSpPr>
          <p:nvPr>
            <p:ph type="body" sz="quarter" idx="22"/>
          </p:nvPr>
        </p:nvSpPr>
        <p:spPr>
          <a:xfrm>
            <a:off x="4320000"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2D6B6D6E-986C-4D4B-8630-4EBB5F79C2AC}"/>
              </a:ext>
            </a:extLst>
          </p:cNvPr>
          <p:cNvSpPr>
            <a:spLocks noGrp="1"/>
          </p:cNvSpPr>
          <p:nvPr>
            <p:ph type="body" sz="quarter" idx="23"/>
          </p:nvPr>
        </p:nvSpPr>
        <p:spPr>
          <a:xfrm>
            <a:off x="8177084"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080085337"/>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423492003"/>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18899397"/>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918776236"/>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78AECE1A-98D7-4D85-82F1-4323CE05BE9C}"/>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87872994"/>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grpSp>
    </p:spTree>
    <p:extLst>
      <p:ext uri="{BB962C8B-B14F-4D97-AF65-F5344CB8AC3E}">
        <p14:creationId xmlns:p14="http://schemas.microsoft.com/office/powerpoint/2010/main" val="1019722220"/>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10851277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A921-5BB3-4E61-A946-E5724F7E60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926783-14DB-41C1-AB1A-2DA649809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D6E522-A494-44B3-95F3-7F3FB4167B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91DDA1D-B82C-4B60-9CDF-28C8E1760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29DF7-22D2-4492-86DB-CC99B3F66A01}"/>
              </a:ext>
            </a:extLst>
          </p:cNvPr>
          <p:cNvSpPr>
            <a:spLocks noGrp="1"/>
          </p:cNvSpPr>
          <p:nvPr>
            <p:ph type="sldNum" sz="quarter" idx="12"/>
          </p:nvPr>
        </p:nvSpPr>
        <p:spPr/>
        <p:txBody>
          <a:bodyPr/>
          <a:lstStyle/>
          <a:p>
            <a:fld id="{7C48625B-2C8B-4704-8124-4FBE0795A41C}" type="slidenum">
              <a:rPr lang="en-US" smtClean="0"/>
              <a:t>‹#›</a:t>
            </a:fld>
            <a:endParaRPr lang="en-US"/>
          </a:p>
        </p:txBody>
      </p:sp>
    </p:spTree>
    <p:extLst>
      <p:ext uri="{BB962C8B-B14F-4D97-AF65-F5344CB8AC3E}">
        <p14:creationId xmlns:p14="http://schemas.microsoft.com/office/powerpoint/2010/main" val="3708671324"/>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2069910541"/>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2806873533"/>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368104665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47011640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351226980"/>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85269136"/>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4096026039"/>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userDrawn="1">
  <p:cSld name="1_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6315866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98754212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297340479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3232217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99604228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20090806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7482577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9356573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85781139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38510785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4507272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2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298210519"/>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2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19492318"/>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549624"/>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6985426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394639543"/>
      </p:ext>
    </p:extLst>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250923907"/>
      </p:ext>
    </p:extLst>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672963970"/>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475053"/>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02972627"/>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546169889"/>
      </p:ext>
    </p:extLst>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712653150"/>
      </p:ext>
    </p:extLst>
  </p:cSld>
  <p:clrMapOvr>
    <a:masterClrMapping/>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084541518"/>
      </p:ext>
    </p:extLst>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8523343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1746372194"/>
      </p:ext>
    </p:extLst>
  </p:cSld>
  <p:clrMapOvr>
    <a:masterClrMapping/>
  </p:clrMapOvr>
  <p:transition>
    <p:fade/>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2827436347"/>
      </p:ext>
    </p:extLst>
  </p:cSld>
  <p:clrMapOvr>
    <a:masterClrMapping/>
  </p:clrMapOvr>
  <p:transition>
    <p:fade/>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82553780"/>
      </p:ext>
    </p:extLst>
  </p:cSld>
  <p:clrMapOvr>
    <a:masterClrMapping/>
  </p:clrMapOvr>
  <p:transition>
    <p:fade/>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2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655502881"/>
      </p:ext>
    </p:extLst>
  </p:cSld>
  <p:clrMapOvr>
    <a:masterClrMapping/>
  </p:clrMapOvr>
  <p:transition>
    <p:fade/>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210998442"/>
      </p:ext>
    </p:extLst>
  </p:cSld>
  <p:clrMapOvr>
    <a:masterClrMapping/>
  </p:clrMapOvr>
  <p:transition>
    <p:fade/>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3203348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3310250856"/>
      </p:ext>
    </p:extLst>
  </p:cSld>
  <p:clrMapOvr>
    <a:masterClrMapping/>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208815670"/>
      </p:ext>
    </p:extLst>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96178413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35581749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dirty="0"/>
              <a:t>Click to edit </a:t>
            </a:r>
            <a:br>
              <a:rPr lang="en-US" noProof="0" dirty="0"/>
            </a:br>
            <a:r>
              <a:rPr lang="en-US" noProof="0" dirty="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28" name="Title 1">
            <a:extLst>
              <a:ext uri="{FF2B5EF4-FFF2-40B4-BE49-F238E27FC236}">
                <a16:creationId xmlns:a16="http://schemas.microsoft.com/office/drawing/2014/main" id="{BF939DF8-C67D-4ED5-9DBC-98F2B43BDAEA}"/>
              </a:ext>
            </a:extLst>
          </p:cNvPr>
          <p:cNvSpPr txBox="1">
            <a:spLocks/>
          </p:cNvSpPr>
          <p:nvPr/>
        </p:nvSpPr>
        <p:spPr bwMode="gray">
          <a:xfrm>
            <a:off x="3417931" y="725455"/>
            <a:ext cx="5356735" cy="5356735"/>
          </a:xfrm>
          <a:prstGeom prst="ellipse">
            <a:avLst/>
          </a:prstGeom>
          <a:ln w="25400">
            <a:solidFill>
              <a:schemeClr val="accent1"/>
            </a:solidFill>
          </a:ln>
        </p:spPr>
        <p:txBody>
          <a:bodyPr vert="horz" lIns="108000" tIns="108000" rIns="108000" bIns="108000" rtlCol="0" anchor="ctr" anchorCtr="0">
            <a:normAutofit/>
          </a:bodyPr>
          <a:lstStyle>
            <a:lvl1pPr algn="ctr" defTabSz="914400" rtl="0" eaLnBrk="1" latinLnBrk="0" hangingPunct="1">
              <a:lnSpc>
                <a:spcPts val="4200"/>
              </a:lnSpc>
              <a:spcBef>
                <a:spcPct val="0"/>
              </a:spcBef>
              <a:buNone/>
              <a:defRPr sz="3600" b="0" kern="1200">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Tree>
    <p:extLst>
      <p:ext uri="{BB962C8B-B14F-4D97-AF65-F5344CB8AC3E}">
        <p14:creationId xmlns:p14="http://schemas.microsoft.com/office/powerpoint/2010/main" val="3863594960"/>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781259294"/>
      </p:ext>
    </p:extLst>
  </p:cSld>
  <p:clrMapOvr>
    <a:masterClrMapping/>
  </p:clrMapOvr>
  <p:transition>
    <p:fade/>
  </p:transition>
  <p:extLst>
    <p:ext uri="{DCECCB84-F9BA-43D5-87BE-67443E8EF086}">
      <p15:sldGuideLst xmlns:p15="http://schemas.microsoft.com/office/powerpoint/2012/main"/>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Portfolio and program management support to RECPDCL</a:t>
            </a:r>
          </a:p>
          <a:p>
            <a:pPr marL="0" indent="0" algn="r">
              <a:spcBef>
                <a:spcPts val="0"/>
              </a:spcBef>
              <a:buSzPct val="100000"/>
              <a:buFont typeface="Arial"/>
              <a:buNone/>
            </a:pPr>
            <a:endParaRPr lang="en-US" sz="900" noProof="0" dirty="0">
              <a:solidFill>
                <a:schemeClr val="bg1"/>
              </a:solidFill>
              <a:latin typeface="Calibri" panose="020F0502020204030204" pitchFamily="34" charset="0"/>
              <a:cs typeface="Calibri" panose="020F0502020204030204" pitchFamily="34" charset="0"/>
            </a:endParaRPr>
          </a:p>
        </p:txBody>
      </p:sp>
      <p:sp>
        <p:nvSpPr>
          <p:cNvPr id="8"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4F2D29F-D256-48DF-93EB-3649C0F15C8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1816202"/>
      </p:ext>
    </p:extLst>
  </p:cSld>
  <p:clrMapOvr>
    <a:masterClrMapping/>
  </p:clrMapOvr>
  <p:transition>
    <p:fade/>
  </p:transition>
  <p:extLst>
    <p:ext uri="{DCECCB84-F9BA-43D5-87BE-67443E8EF086}">
      <p15:sldGuideLst xmlns:p15="http://schemas.microsoft.com/office/powerpoint/2012/main"/>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C15CF50B-B21A-4219-A2F3-42CE64720300}"/>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D56403AF-FAB8-425F-B7B3-1CED91E5B09F}"/>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4"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11" name="TextBox 10">
            <a:extLst>
              <a:ext uri="{FF2B5EF4-FFF2-40B4-BE49-F238E27FC236}">
                <a16:creationId xmlns:a16="http://schemas.microsoft.com/office/drawing/2014/main" id="{B6F9F04E-7502-4EFB-AB5C-196D635FC13D}"/>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a:extLst>
              <a:ext uri="{FF2B5EF4-FFF2-40B4-BE49-F238E27FC236}">
                <a16:creationId xmlns:a16="http://schemas.microsoft.com/office/drawing/2014/main" id="{317E469B-5B3C-4FC3-A3F5-B4D3FA19D4B3}"/>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a:extLst>
              <a:ext uri="{FF2B5EF4-FFF2-40B4-BE49-F238E27FC236}">
                <a16:creationId xmlns:a16="http://schemas.microsoft.com/office/drawing/2014/main" id="{4A50726A-56B3-46DA-B48D-F2FDD631FE69}"/>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285485898"/>
      </p:ext>
    </p:extLst>
  </p:cSld>
  <p:clrMapOvr>
    <a:masterClrMapping/>
  </p:clrMapOvr>
  <p:transition>
    <p:fade/>
  </p:transition>
  <p:extLst>
    <p:ext uri="{DCECCB84-F9BA-43D5-87BE-67443E8EF086}">
      <p15:sldGuideLst xmlns:p15="http://schemas.microsoft.com/office/powerpoint/2012/main"/>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preserve="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41191410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381760746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17043303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41311500"/>
      </p:ext>
    </p:extLst>
  </p:cSld>
  <p:clrMapOvr>
    <a:masterClrMapping/>
  </p:clrMapOvr>
  <p:transition>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905421439"/>
      </p:ext>
    </p:extLst>
  </p:cSld>
  <p:clrMapOvr>
    <a:masterClrMapping/>
  </p:clrMapOvr>
  <p:transition>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586614049"/>
      </p:ext>
    </p:extLst>
  </p:cSld>
  <p:clrMapOvr>
    <a:masterClrMapping/>
  </p:clrMapOvr>
  <p:transition>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grpSp>
        <p:nvGrpSpPr>
          <p:cNvPr id="20" name="Group 19">
            <a:extLst>
              <a:ext uri="{FF2B5EF4-FFF2-40B4-BE49-F238E27FC236}">
                <a16:creationId xmlns:a16="http://schemas.microsoft.com/office/drawing/2014/main" id="{A475D951-68C7-4A6F-ADC6-AB9C10E42F07}"/>
              </a:ext>
            </a:extLst>
          </p:cNvPr>
          <p:cNvGrpSpPr>
            <a:grpSpLocks noChangeAspect="1"/>
          </p:cNvGrpSpPr>
          <p:nvPr/>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0549B55-8335-4CC4-9417-E768B8E137DA}"/>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0C08EAE3-1065-497F-B8AA-86005E1B7A68}"/>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966AA8D-FE19-49A0-B249-C78D2E85CC91}"/>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2289C80D-1FA5-42CC-A523-8259B7FD08F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6261A9E2-F698-4343-96EA-AA0015AC51BC}"/>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1D1108B0-A2B5-43FD-8CC1-CC36168B9031}"/>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AFA473B9-98DD-4132-83C3-26DCC5D0CC8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E1286E94-0A74-4D64-8FE5-E2FC7038DCB5}"/>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DB23453-5417-4773-B5E0-516CE48D969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2DF2930F-8858-4645-96D1-C2224669578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30365535"/>
      </p:ext>
    </p:extLst>
  </p:cSld>
  <p:clrMapOvr>
    <a:masterClrMapping/>
  </p:clrMapOvr>
  <p:transition>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13144810"/>
      </p:ext>
    </p:extLst>
  </p:cSld>
  <p:clrMapOvr>
    <a:masterClrMapping/>
  </p:clrMapOvr>
  <p:transition>
    <p:fad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042067450"/>
      </p:ext>
    </p:extLst>
  </p:cSld>
  <p:clrMapOvr>
    <a:masterClrMapping/>
  </p:clrMapOvr>
  <p:transition>
    <p:fade/>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23839002"/>
      </p:ext>
    </p:extLst>
  </p:cSld>
  <p:clrMapOvr>
    <a:masterClrMapping/>
  </p:clrMapOvr>
  <p:transition>
    <p:fade/>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99437986"/>
      </p:ext>
    </p:extLst>
  </p:cSld>
  <p:clrMapOvr>
    <a:masterClrMapping/>
  </p:clrMapOvr>
  <p:transition>
    <p:fade/>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110626846"/>
      </p:ext>
    </p:extLst>
  </p:cSld>
  <p:clrMapOvr>
    <a:masterClrMapping/>
  </p:clrMapOvr>
  <p:transition>
    <p:fade/>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41309920"/>
      </p:ext>
    </p:extLst>
  </p:cSld>
  <p:clrMapOvr>
    <a:masterClrMapping/>
  </p:clrMapOvr>
  <p:transition>
    <p:fade/>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67247130"/>
      </p:ext>
    </p:extLst>
  </p:cSld>
  <p:clrMapOvr>
    <a:masterClrMapping/>
  </p:clrMapOvr>
  <p:transition>
    <p:fade/>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875393849"/>
      </p:ext>
    </p:extLst>
  </p:cSld>
  <p:clrMapOvr>
    <a:masterClrMapping/>
  </p:clrMapOvr>
  <p:transition>
    <p:fade/>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834527305"/>
      </p:ext>
    </p:extLst>
  </p:cSld>
  <p:clrMapOvr>
    <a:masterClrMapping/>
  </p:clrMapOvr>
  <p:transition>
    <p:fade/>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Rectangle 23">
            <a:extLst>
              <a:ext uri="{FF2B5EF4-FFF2-40B4-BE49-F238E27FC236}">
                <a16:creationId xmlns:a16="http://schemas.microsoft.com/office/drawing/2014/main" id="{56C776D0-A1AC-41AD-A930-68E62E311F28}"/>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5" name="Rectangle 24">
            <a:extLst>
              <a:ext uri="{FF2B5EF4-FFF2-40B4-BE49-F238E27FC236}">
                <a16:creationId xmlns:a16="http://schemas.microsoft.com/office/drawing/2014/main" id="{8676016B-595B-4B09-8A9C-981F4092254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6" name="Rectangle 25">
            <a:extLst>
              <a:ext uri="{FF2B5EF4-FFF2-40B4-BE49-F238E27FC236}">
                <a16:creationId xmlns:a16="http://schemas.microsoft.com/office/drawing/2014/main" id="{E8772A29-A091-45EF-9E05-7D38B8B671A6}"/>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7" name="Rectangle 26">
            <a:extLst>
              <a:ext uri="{FF2B5EF4-FFF2-40B4-BE49-F238E27FC236}">
                <a16:creationId xmlns:a16="http://schemas.microsoft.com/office/drawing/2014/main" id="{331A621E-F4F0-40C4-8952-5BF179427ED7}"/>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Tree>
    <p:extLst>
      <p:ext uri="{BB962C8B-B14F-4D97-AF65-F5344CB8AC3E}">
        <p14:creationId xmlns:p14="http://schemas.microsoft.com/office/powerpoint/2010/main" val="273102626"/>
      </p:ext>
    </p:extLst>
  </p:cSld>
  <p:clrMapOvr>
    <a:masterClrMapping/>
  </p:clrMapOvr>
  <p:transition>
    <p:fade/>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Rectangle 13">
            <a:extLst>
              <a:ext uri="{FF2B5EF4-FFF2-40B4-BE49-F238E27FC236}">
                <a16:creationId xmlns:a16="http://schemas.microsoft.com/office/drawing/2014/main" id="{D360E003-ECB4-492B-8A94-28433C076FF8}"/>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5" name="Rectangle 14">
            <a:extLst>
              <a:ext uri="{FF2B5EF4-FFF2-40B4-BE49-F238E27FC236}">
                <a16:creationId xmlns:a16="http://schemas.microsoft.com/office/drawing/2014/main" id="{2D54539A-8172-4D14-BE07-3622A53C73DF}"/>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Tree>
    <p:extLst>
      <p:ext uri="{BB962C8B-B14F-4D97-AF65-F5344CB8AC3E}">
        <p14:creationId xmlns:p14="http://schemas.microsoft.com/office/powerpoint/2010/main" val="2231511615"/>
      </p:ext>
    </p:extLst>
  </p:cSld>
  <p:clrMapOvr>
    <a:masterClrMapping/>
  </p:clrMapOvr>
  <p:transition>
    <p:fade/>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05652705"/>
      </p:ext>
    </p:extLst>
  </p:cSld>
  <p:clrMapOvr>
    <a:masterClrMapping/>
  </p:clrMapOvr>
  <p:transition>
    <p:fade/>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65231986"/>
      </p:ext>
    </p:extLst>
  </p:cSld>
  <p:clrMapOvr>
    <a:masterClrMapping/>
  </p:clrMapOvr>
  <p:transition>
    <p:fade/>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798230278"/>
      </p:ext>
    </p:extLst>
  </p:cSld>
  <p:clrMapOvr>
    <a:masterClrMapping/>
  </p:clrMapOvr>
  <p:transition>
    <p:fade/>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728271916"/>
      </p:ext>
    </p:extLst>
  </p:cSld>
  <p:clrMapOvr>
    <a:masterClrMapping/>
  </p:clrMapOvr>
  <p:transition>
    <p:fade/>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65659721"/>
      </p:ext>
    </p:extLst>
  </p:cSld>
  <p:clrMapOvr>
    <a:masterClrMapping/>
  </p:clrMapOvr>
  <p:transition>
    <p:fade/>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5EF0725B-5DAD-40E2-B756-D371075D7345}"/>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538616593"/>
      </p:ext>
    </p:extLst>
  </p:cSld>
  <p:clrMapOvr>
    <a:masterClrMapping/>
  </p:clrMapOvr>
  <p:transition>
    <p:fade/>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936718737"/>
      </p:ext>
    </p:extLst>
  </p:cSld>
  <p:clrMapOvr>
    <a:masterClrMapping/>
  </p:clrMapOvr>
  <p:transition>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527119"/>
      </p:ext>
    </p:extLst>
  </p:cSld>
  <p:clrMapOvr>
    <a:masterClrMapping/>
  </p:clrMapOvr>
  <p:transition>
    <p:fade/>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78043668"/>
      </p:ext>
    </p:extLst>
  </p:cSld>
  <p:clrMapOvr>
    <a:masterClrMapping/>
  </p:clrMapOvr>
  <p:transition>
    <p:fade/>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528809816"/>
      </p:ext>
    </p:extLst>
  </p:cSld>
  <p:clrMapOvr>
    <a:masterClrMapping/>
  </p:clrMapOvr>
  <p:transition>
    <p:fade/>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595757224"/>
      </p:ext>
    </p:extLst>
  </p:cSld>
  <p:clrMapOvr>
    <a:masterClrMapping/>
  </p:clrMapOvr>
  <p:transition>
    <p:fade/>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932949"/>
      </p:ext>
    </p:extLst>
  </p:cSld>
  <p:clrMapOvr>
    <a:masterClrMapping/>
  </p:clrMapOvr>
  <p:transition>
    <p:fade/>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568359458"/>
      </p:ext>
    </p:extLst>
  </p:cSld>
  <p:clrMapOvr>
    <a:masterClrMapping/>
  </p:clrMapOvr>
  <p:transition>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11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37372232"/>
      </p:ext>
    </p:extLst>
  </p:cSld>
  <p:clrMapOvr>
    <a:masterClrMapping/>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929117054"/>
      </p:ext>
    </p:extLst>
  </p:cSld>
  <p:clrMapOvr>
    <a:masterClrMapping/>
  </p:clrMapOvr>
  <p:transition>
    <p:fade/>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964323003"/>
      </p:ext>
    </p:extLst>
  </p:cSld>
  <p:clrMapOvr>
    <a:masterClrMapping/>
  </p:clrMapOvr>
  <p:transition>
    <p:fade/>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68349541"/>
      </p:ext>
    </p:extLst>
  </p:cSld>
  <p:clrMapOvr>
    <a:masterClrMapping/>
  </p:clrMapOvr>
  <p:transition>
    <p:fade/>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899416467"/>
      </p:ext>
    </p:extLst>
  </p:cSld>
  <p:clrMapOvr>
    <a:masterClrMapping/>
  </p:clrMapOvr>
  <p:transition>
    <p:fade/>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1_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52667442"/>
      </p:ext>
    </p:extLst>
  </p:cSld>
  <p:clrMapOvr>
    <a:masterClrMapping/>
  </p:clrMapOvr>
  <p:transition>
    <p:fade/>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79395365"/>
      </p:ext>
    </p:extLst>
  </p:cSld>
  <p:clrMapOvr>
    <a:masterClrMapping/>
  </p:clrMapOvr>
  <p:transition>
    <p:fade/>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p:cSld name="2_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C0C507E7-B81B-4C48-A5AA-EB2302302973}"/>
              </a:ext>
            </a:extLst>
          </p:cNvPr>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A4B9D944-7F4E-42D4-8A84-43402BC40F0D}"/>
              </a:ext>
            </a:extLst>
          </p:cNvPr>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D3B7D15E-E3BF-4AE0-B657-86BF4076BE3E}"/>
              </a:ext>
            </a:extLst>
          </p:cNvPr>
          <p:cNvSpPr>
            <a:spLocks noGrp="1"/>
          </p:cNvSpPr>
          <p:nvPr>
            <p:ph type="body" sz="quarter" idx="26"/>
          </p:nvPr>
        </p:nvSpPr>
        <p:spPr>
          <a:xfrm>
            <a:off x="547075" y="4251853"/>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60D4485-EAA8-48B3-931F-31B5CEB3E678}"/>
              </a:ext>
            </a:extLst>
          </p:cNvPr>
          <p:cNvSpPr>
            <a:spLocks noGrp="1"/>
          </p:cNvSpPr>
          <p:nvPr>
            <p:ph type="body" sz="quarter" idx="27"/>
          </p:nvPr>
        </p:nvSpPr>
        <p:spPr>
          <a:xfrm>
            <a:off x="6280396" y="4251853"/>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165652953"/>
      </p:ext>
    </p:extLst>
  </p:cSld>
  <p:clrMapOvr>
    <a:masterClrMapping/>
  </p:clrMapOvr>
  <p:transition>
    <p:fade/>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p:cSld name="2_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68D44A10-A1BE-4B60-89A4-889D08B8B34B}"/>
              </a:ext>
            </a:extLst>
          </p:cNvPr>
          <p:cNvSpPr>
            <a:spLocks noGrp="1"/>
          </p:cNvSpPr>
          <p:nvPr>
            <p:ph type="body" sz="quarter" idx="17"/>
          </p:nvPr>
        </p:nvSpPr>
        <p:spPr>
          <a:xfrm>
            <a:off x="512874" y="1857892"/>
            <a:ext cx="3584464" cy="4265506"/>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9F52FC78-7A4E-4367-9DA3-28A234B39DF1}"/>
              </a:ext>
            </a:extLst>
          </p:cNvPr>
          <p:cNvSpPr>
            <a:spLocks noGrp="1"/>
          </p:cNvSpPr>
          <p:nvPr>
            <p:ph type="body" sz="quarter" idx="22"/>
          </p:nvPr>
        </p:nvSpPr>
        <p:spPr>
          <a:xfrm>
            <a:off x="4320000"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2D6B6D6E-986C-4D4B-8630-4EBB5F79C2AC}"/>
              </a:ext>
            </a:extLst>
          </p:cNvPr>
          <p:cNvSpPr>
            <a:spLocks noGrp="1"/>
          </p:cNvSpPr>
          <p:nvPr>
            <p:ph type="body" sz="quarter" idx="23"/>
          </p:nvPr>
        </p:nvSpPr>
        <p:spPr>
          <a:xfrm>
            <a:off x="8177084"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446501010"/>
      </p:ext>
    </p:extLst>
  </p:cSld>
  <p:clrMapOvr>
    <a:masterClrMapping/>
  </p:clrMapOvr>
  <p:transition>
    <p:fade/>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529280574"/>
      </p:ext>
    </p:extLst>
  </p:cSld>
  <p:clrMapOvr>
    <a:masterClrMapping/>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042324724"/>
      </p:ext>
    </p:extLst>
  </p:cSld>
  <p:clrMapOvr>
    <a:masterClrMapping/>
  </p:clrMapOvr>
  <p:transition>
    <p:fade/>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443885427"/>
      </p:ext>
    </p:extLst>
  </p:cSld>
  <p:clrMapOvr>
    <a:masterClrMapping/>
  </p:clrMapOvr>
  <p:transition>
    <p:fade/>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27472420"/>
      </p:ext>
    </p:extLst>
  </p:cSld>
  <p:clrMapOvr>
    <a:masterClrMapping/>
  </p:clrMapOvr>
  <p:transition>
    <p:fade/>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grpSp>
    </p:spTree>
    <p:extLst>
      <p:ext uri="{BB962C8B-B14F-4D97-AF65-F5344CB8AC3E}">
        <p14:creationId xmlns:p14="http://schemas.microsoft.com/office/powerpoint/2010/main" val="224411223"/>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742222752"/>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36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6" name="CaseCode">
            <a:extLst>
              <a:ext uri="{FF2B5EF4-FFF2-40B4-BE49-F238E27FC236}">
                <a16:creationId xmlns:a16="http://schemas.microsoft.com/office/drawing/2014/main" id="{662556F3-FB07-45E1-9730-3CF5E862F61B}"/>
              </a:ext>
            </a:extLst>
          </p:cNvPr>
          <p:cNvSpPr txBox="1"/>
          <p:nvPr/>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Portfolio and program management support to RECPDCL</a:t>
            </a:r>
          </a:p>
        </p:txBody>
      </p:sp>
      <p:sp>
        <p:nvSpPr>
          <p:cNvPr id="8" name="TextBox 7">
            <a:extLst>
              <a:ext uri="{FF2B5EF4-FFF2-40B4-BE49-F238E27FC236}">
                <a16:creationId xmlns:a16="http://schemas.microsoft.com/office/drawing/2014/main" id="{48E7A1D6-FD3E-4165-B102-6C7996E8698D}"/>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3704382045"/>
      </p:ext>
    </p:extLst>
  </p:cSld>
  <p:clrMapOvr>
    <a:masterClrMapping/>
  </p:clrMapOvr>
  <p:transition>
    <p:fade/>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A921-5BB3-4E61-A946-E5724F7E60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926783-14DB-41C1-AB1A-2DA649809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D6E522-A494-44B3-95F3-7F3FB4167B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91DDA1D-B82C-4B60-9CDF-28C8E1760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29DF7-22D2-4492-86DB-CC99B3F66A01}"/>
              </a:ext>
            </a:extLst>
          </p:cNvPr>
          <p:cNvSpPr>
            <a:spLocks noGrp="1"/>
          </p:cNvSpPr>
          <p:nvPr>
            <p:ph type="sldNum" sz="quarter" idx="12"/>
          </p:nvPr>
        </p:nvSpPr>
        <p:spPr/>
        <p:txBody>
          <a:bodyPr/>
          <a:lstStyle/>
          <a:p>
            <a:fld id="{7C48625B-2C8B-4704-8124-4FBE0795A41C}" type="slidenum">
              <a:rPr lang="en-US" smtClean="0"/>
              <a:t>‹#›</a:t>
            </a:fld>
            <a:endParaRPr lang="en-US"/>
          </a:p>
        </p:txBody>
      </p:sp>
    </p:spTree>
    <p:extLst>
      <p:ext uri="{BB962C8B-B14F-4D97-AF65-F5344CB8AC3E}">
        <p14:creationId xmlns:p14="http://schemas.microsoft.com/office/powerpoint/2010/main" val="4266347899"/>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Tree>
    <p:extLst>
      <p:ext uri="{BB962C8B-B14F-4D97-AF65-F5344CB8AC3E}">
        <p14:creationId xmlns:p14="http://schemas.microsoft.com/office/powerpoint/2010/main" val="28449639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606654578"/>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428121610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448680250"/>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56826482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3270791897"/>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18920480"/>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8531860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455462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00403137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426683440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2385284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6260344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9455543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0004984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3655503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2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55830148"/>
      </p:ext>
    </p:extLst>
  </p:cSld>
  <p:clrMapOvr>
    <a:masterClrMapping/>
  </p:clrMapOvr>
  <p:transition>
    <p:fade/>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2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33055181"/>
      </p:ext>
    </p:extLst>
  </p:cSld>
  <p:clrMapOvr>
    <a:masterClrMapping/>
  </p:clrMapOvr>
  <p:transition>
    <p:fade/>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4122167"/>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285707680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2529772"/>
      </p:ext>
    </p:extLst>
  </p:cSld>
  <p:clrMapOvr>
    <a:masterClrMapping/>
  </p:clrMapOvr>
  <p:transition>
    <p:fade/>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179532857"/>
      </p:ext>
    </p:extLst>
  </p:cSld>
  <p:clrMapOvr>
    <a:masterClrMapping/>
  </p:clrMapOvr>
  <p:transition>
    <p:fade/>
  </p:transition>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81100402"/>
      </p:ext>
    </p:extLst>
  </p:cSld>
  <p:clrMapOvr>
    <a:masterClrMapping/>
  </p:clrMapOvr>
  <p:transition>
    <p:fade/>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360347296"/>
      </p:ext>
    </p:extLst>
  </p:cSld>
  <p:clrMapOvr>
    <a:masterClrMapping/>
  </p:clrMapOvr>
  <p:transition>
    <p:fade/>
  </p:transition>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988851051"/>
      </p:ext>
    </p:extLst>
  </p:cSld>
  <p:clrMapOvr>
    <a:masterClrMapping/>
  </p:clrMapOvr>
  <p:transition>
    <p:fade/>
  </p:transition>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645881000"/>
      </p:ext>
    </p:extLst>
  </p:cSld>
  <p:clrMapOvr>
    <a:masterClrMapping/>
  </p:clrMapOvr>
  <p:transition>
    <p:fade/>
  </p:transition>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917344969"/>
      </p:ext>
    </p:extLst>
  </p:cSld>
  <p:clrMapOvr>
    <a:masterClrMapping/>
  </p:clrMapOvr>
  <p:transition>
    <p:fade/>
  </p:transition>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810713698"/>
      </p:ext>
    </p:extLst>
  </p:cSld>
  <p:clrMapOvr>
    <a:masterClrMapping/>
  </p:clrMapOvr>
  <p:transition>
    <p:fade/>
  </p:transition>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25031325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1880713175"/>
      </p:ext>
    </p:extLst>
  </p:cSld>
  <p:clrMapOvr>
    <a:masterClrMapping/>
  </p:clrMapOvr>
  <p:transition>
    <p:fade/>
  </p:transition>
</p:sldLayout>
</file>

<file path=ppt/slideLayouts/slideLayout317.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720656479"/>
      </p:ext>
    </p:extLst>
  </p:cSld>
  <p:clrMapOvr>
    <a:masterClrMapping/>
  </p:clrMapOvr>
  <p:transition>
    <p:fade/>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14957357"/>
      </p:ext>
    </p:extLst>
  </p:cSld>
  <p:clrMapOvr>
    <a:masterClrMapping/>
  </p:clrMapOvr>
  <p:transition>
    <p:fade/>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userDrawn="1">
  <p:cSld name="2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232245139"/>
      </p:ext>
    </p:extLst>
  </p:cSld>
  <p:clrMapOvr>
    <a:masterClrMapping/>
  </p:clrMapOvr>
  <p:transition>
    <p:fade/>
  </p:transition>
</p:sldLayout>
</file>

<file path=ppt/slideLayouts/slideLayout320.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837430795"/>
      </p:ext>
    </p:extLst>
  </p:cSld>
  <p:clrMapOvr>
    <a:masterClrMapping/>
  </p:clrMapOvr>
  <p:transition>
    <p:fade/>
  </p:transition>
</p:sldLayout>
</file>

<file path=ppt/slideLayouts/slideLayout321.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3161711"/>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2558895892"/>
      </p:ext>
    </p:extLst>
  </p:cSld>
  <p:clrMapOvr>
    <a:masterClrMapping/>
  </p:clrMapOvr>
  <p:transition>
    <p:fade/>
  </p:transition>
</p:sldLayout>
</file>

<file path=ppt/slideLayouts/slideLayout323.xml><?xml version="1.0" encoding="utf-8"?>
<p:sldLayout xmlns:a="http://schemas.openxmlformats.org/drawingml/2006/main" xmlns:r="http://schemas.openxmlformats.org/officeDocument/2006/relationships" xmlns:p="http://schemas.openxmlformats.org/presentationml/2006/main"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943237411"/>
      </p:ext>
    </p:extLst>
  </p:cSld>
  <p:clrMapOvr>
    <a:masterClrMapping/>
  </p:clrMapOvr>
  <p:transition>
    <p:fade/>
  </p:transition>
</p:sldLayout>
</file>

<file path=ppt/slideLayouts/slideLayout324.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03433000"/>
      </p:ext>
    </p:extLst>
  </p:cSld>
  <p:clrMapOvr>
    <a:masterClrMapping/>
  </p:clrMapOvr>
  <p:transition>
    <p:fade/>
  </p:transition>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601" y="4102100"/>
            <a:ext cx="2319503" cy="1725448"/>
          </a:xfrm>
        </p:spPr>
        <p:txBody>
          <a:bodyPr anchor="ctr" anchorCtr="0"/>
          <a:lstStyle>
            <a:lvl1pPr algn="ctr">
              <a:defRPr sz="1043"/>
            </a:lvl1pPr>
          </a:lstStyle>
          <a:p>
            <a:r>
              <a:rPr lang="en-GB" sz="1043" noProof="0" dirty="0"/>
              <a:t>Insert sponsorship mark here</a:t>
            </a:r>
            <a:endParaRPr lang="en-GB" noProof="0" dirty="0"/>
          </a:p>
        </p:txBody>
      </p:sp>
      <p:sp>
        <p:nvSpPr>
          <p:cNvPr id="8" name="Text Placeholder 7"/>
          <p:cNvSpPr>
            <a:spLocks noGrp="1"/>
          </p:cNvSpPr>
          <p:nvPr>
            <p:ph type="body" sz="quarter" idx="15"/>
          </p:nvPr>
        </p:nvSpPr>
        <p:spPr>
          <a:xfrm>
            <a:off x="9402602" y="5935484"/>
            <a:ext cx="2319501" cy="363723"/>
          </a:xfrm>
        </p:spPr>
        <p:txBody>
          <a:bodyPr anchor="b" anchorCtr="0"/>
          <a:lstStyle>
            <a:lvl1pPr>
              <a:lnSpc>
                <a:spcPct val="100000"/>
              </a:lnSpc>
              <a:defRPr sz="1101"/>
            </a:lvl1pPr>
          </a:lstStyle>
          <a:p>
            <a:pPr lvl="0"/>
            <a:r>
              <a:rPr lang="en-GB" noProof="0"/>
              <a:t>Edit Master text styles</a:t>
            </a:r>
            <a:endParaRPr lang="en-GB"/>
          </a:p>
        </p:txBody>
      </p:sp>
      <p:sp>
        <p:nvSpPr>
          <p:cNvPr id="20" name="SD_ART_Logo"/>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1037916276" name="LogoDisclaimerPag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205" y="464408"/>
            <a:ext cx="1655999" cy="725867"/>
          </a:xfrm>
          <a:prstGeom prst="rect">
            <a:avLst/>
          </a:prstGeom>
        </p:spPr>
      </p:pic>
      <p:sp>
        <p:nvSpPr>
          <p:cNvPr id="2" name="Footer Placeholder 1"/>
          <p:cNvSpPr>
            <a:spLocks noGrp="1"/>
          </p:cNvSpPr>
          <p:nvPr>
            <p:ph type="ftr" sz="quarter" idx="16"/>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4276626654"/>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Tree>
    <p:extLst>
      <p:ext uri="{BB962C8B-B14F-4D97-AF65-F5344CB8AC3E}">
        <p14:creationId xmlns:p14="http://schemas.microsoft.com/office/powerpoint/2010/main" val="11188364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3242686004"/>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997139142"/>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264252399"/>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1598603080"/>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502510190"/>
      </p:ext>
    </p:extLst>
  </p:cSld>
  <p:clrMapOvr>
    <a:masterClrMapping/>
  </p:clrMapOvr>
  <p:transition>
    <p:fade/>
  </p:transition>
</p:sldLayout>
</file>

<file path=ppt/slideLayouts/slideLayout332.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2293355208"/>
      </p:ext>
    </p:extLst>
  </p:cSld>
  <p:clrMapOvr>
    <a:masterClrMapping/>
  </p:clrMapOvr>
  <p:transition>
    <p:fade/>
  </p:transition>
</p:sldLayout>
</file>

<file path=ppt/slideLayouts/slideLayout333.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178803204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668109635"/>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221130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3439323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74683152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79509395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08988019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9574343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3119714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5780731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07350954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06673925"/>
      </p:ext>
    </p:extLst>
  </p:cSld>
  <p:clrMapOvr>
    <a:masterClrMapping/>
  </p:clrMapOvr>
  <p:transition>
    <p:fade/>
  </p:transition>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931301015"/>
      </p:ext>
    </p:extLst>
  </p:cSld>
  <p:clrMapOvr>
    <a:masterClrMapping/>
  </p:clrMapOvr>
  <p:transition>
    <p:fade/>
  </p:transition>
</p:sldLayout>
</file>

<file path=ppt/slideLayouts/slideLayout34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207165"/>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2611445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53940745"/>
      </p:ext>
    </p:extLst>
  </p:cSld>
  <p:clrMapOvr>
    <a:masterClrMapping/>
  </p:clrMapOvr>
  <p:transition>
    <p:fade/>
  </p:transition>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816846269"/>
      </p:ext>
    </p:extLst>
  </p:cSld>
  <p:clrMapOvr>
    <a:masterClrMapping/>
  </p:clrMapOvr>
  <p:transition>
    <p:fade/>
  </p:transition>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66960210"/>
      </p:ext>
    </p:extLst>
  </p:cSld>
  <p:clrMapOvr>
    <a:masterClrMapping/>
  </p:clrMapOvr>
  <p:transition>
    <p:fade/>
  </p:transition>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34979219"/>
      </p:ext>
    </p:extLst>
  </p:cSld>
  <p:clrMapOvr>
    <a:masterClrMapping/>
  </p:clrMapOvr>
  <p:transition>
    <p:fade/>
  </p:transition>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511083210"/>
      </p:ext>
    </p:extLst>
  </p:cSld>
  <p:clrMapOvr>
    <a:masterClrMapping/>
  </p:clrMapOvr>
  <p:transition>
    <p:fade/>
  </p:transition>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96271621"/>
      </p:ext>
    </p:extLst>
  </p:cSld>
  <p:clrMapOvr>
    <a:masterClrMapping/>
  </p:clrMapOvr>
  <p:transition>
    <p:fade/>
  </p:transition>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407414025"/>
      </p:ext>
    </p:extLst>
  </p:cSld>
  <p:clrMapOvr>
    <a:masterClrMapping/>
  </p:clrMapOvr>
  <p:transition>
    <p:fade/>
  </p:transition>
</p:sldLayout>
</file>

<file path=ppt/slideLayouts/slideLayout355.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46191804"/>
      </p:ext>
    </p:extLst>
  </p:cSld>
  <p:clrMapOvr>
    <a:masterClrMapping/>
  </p:clrMapOvr>
  <p:transition>
    <p:fade/>
  </p:transition>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22934750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733274457"/>
      </p:ext>
    </p:extLst>
  </p:cSld>
  <p:clrMapOvr>
    <a:masterClrMapping/>
  </p:clrMapOvr>
  <p:transition>
    <p:fade/>
  </p:transition>
</p:sldLayout>
</file>

<file path=ppt/slideLayouts/slideLayout358.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583206518"/>
      </p:ext>
    </p:extLst>
  </p:cSld>
  <p:clrMapOvr>
    <a:masterClrMapping/>
  </p:clrMapOvr>
  <p:transition>
    <p:fade/>
  </p:transition>
</p:sldLayout>
</file>

<file path=ppt/slideLayouts/slideLayout359.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131698130"/>
      </p:ext>
    </p:extLst>
  </p:cSld>
  <p:clrMapOvr>
    <a:masterClrMapping/>
  </p:clrMapOvr>
  <p:transition>
    <p:fade/>
  </p:transition>
</p:sldLayout>
</file>

<file path=ppt/slideLayouts/slideLayout360.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86627673"/>
      </p:ext>
    </p:extLst>
  </p:cSld>
  <p:clrMapOvr>
    <a:masterClrMapping/>
  </p:clrMapOvr>
  <p:transition>
    <p:fade/>
  </p:transition>
</p:sldLayout>
</file>

<file path=ppt/slideLayouts/slideLayout361.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988706745"/>
      </p:ext>
    </p:extLst>
  </p:cSld>
  <p:clrMapOvr>
    <a:masterClrMapping/>
  </p:clrMapOvr>
  <p:transition>
    <p:fade/>
  </p:transition>
</p:sldLayout>
</file>

<file path=ppt/slideLayouts/slideLayout362.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671484605"/>
      </p:ext>
    </p:extLst>
  </p:cSld>
  <p:clrMapOvr>
    <a:masterClrMapping/>
  </p:clrMapOvr>
  <p:transition>
    <p:fade/>
  </p:transition>
</p:sldLayout>
</file>

<file path=ppt/slideLayouts/slideLayout363.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42703026"/>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1061768588"/>
      </p:ext>
    </p:extLst>
  </p:cSld>
  <p:clrMapOvr>
    <a:masterClrMapping/>
  </p:clrMapOvr>
  <p:transition>
    <p:fade/>
  </p:transition>
</p:sldLayout>
</file>

<file path=ppt/slideLayouts/slideLayout365.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105256192"/>
      </p:ext>
    </p:extLst>
  </p:cSld>
  <p:clrMapOvr>
    <a:masterClrMapping/>
  </p:clrMapOvr>
  <p:transition>
    <p:fade/>
  </p:transition>
</p:sldLayout>
</file>

<file path=ppt/slideLayouts/slideLayout366.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dirty="0"/>
              <a:t>BREADCRUMBS</a:t>
            </a:r>
          </a:p>
        </p:txBody>
      </p:sp>
    </p:spTree>
    <p:extLst>
      <p:ext uri="{BB962C8B-B14F-4D97-AF65-F5344CB8AC3E}">
        <p14:creationId xmlns:p14="http://schemas.microsoft.com/office/powerpoint/2010/main" val="558888835"/>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cSld name="2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800178085"/>
      </p:ext>
    </p:extLst>
  </p:cSld>
  <p:clrMapOvr>
    <a:masterClrMapping/>
  </p:clrMapOvr>
  <p:transition>
    <p:fade/>
  </p:transition>
</p:sldLayout>
</file>

<file path=ppt/slideLayouts/slideLayout36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GB" dirty="0"/>
          </a:p>
        </p:txBody>
      </p:sp>
    </p:spTree>
    <p:extLst>
      <p:ext uri="{BB962C8B-B14F-4D97-AF65-F5344CB8AC3E}">
        <p14:creationId xmlns:p14="http://schemas.microsoft.com/office/powerpoint/2010/main" val="2650457600"/>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grpSp>
        <p:nvGrpSpPr>
          <p:cNvPr id="33" name="Group 32"/>
          <p:cNvGrpSpPr>
            <a:grpSpLocks noChangeAspect="1"/>
          </p:cNvGrpSpPr>
          <p:nvPr userDrawn="1"/>
        </p:nvGrpSpPr>
        <p:grpSpPr>
          <a:xfrm>
            <a:off x="501652" y="403413"/>
            <a:ext cx="1762941" cy="330353"/>
            <a:chOff x="398463" y="404813"/>
            <a:chExt cx="1627187" cy="307976"/>
          </a:xfrm>
          <a:solidFill>
            <a:schemeClr val="tx1"/>
          </a:solidFill>
        </p:grpSpPr>
        <p:sp>
          <p:nvSpPr>
            <p:cNvPr id="34"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5"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6"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7"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8"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9"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0"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1"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2"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3"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40543705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2511671466"/>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3923710326"/>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273752085"/>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817402313"/>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88239056"/>
      </p:ext>
    </p:extLst>
  </p:cSld>
  <p:clrMapOvr>
    <a:masterClrMapping/>
  </p:clrMapOvr>
  <p:transition>
    <p:fade/>
  </p:transition>
</p:sldLayout>
</file>

<file path=ppt/slideLayouts/slideLayout375.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1175637828"/>
      </p:ext>
    </p:extLst>
  </p:cSld>
  <p:clrMapOvr>
    <a:masterClrMapping/>
  </p:clrMapOvr>
  <p:transition>
    <p:fade/>
  </p:transition>
</p:sldLayout>
</file>

<file path=ppt/slideLayouts/slideLayout376.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416312572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690593988"/>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41776174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0181351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932536530"/>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55208205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89731895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8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48619238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8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45064103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2446432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81196236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87.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652148287"/>
      </p:ext>
    </p:extLst>
  </p:cSld>
  <p:clrMapOvr>
    <a:masterClrMapping/>
  </p:clrMapOvr>
  <p:transition>
    <p:fade/>
  </p:transition>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010093863"/>
      </p:ext>
    </p:extLst>
  </p:cSld>
  <p:clrMapOvr>
    <a:masterClrMapping/>
  </p:clrMapOvr>
  <p:transition>
    <p:fade/>
  </p:transition>
</p:sldLayout>
</file>

<file path=ppt/slideLayouts/slideLayout38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9140560"/>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9638864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150779929"/>
      </p:ext>
    </p:extLst>
  </p:cSld>
  <p:clrMapOvr>
    <a:masterClrMapping/>
  </p:clrMapOvr>
  <p:transition>
    <p:fade/>
  </p:transition>
</p:sldLayout>
</file>

<file path=ppt/slideLayouts/slideLayout39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96585304"/>
      </p:ext>
    </p:extLst>
  </p:cSld>
  <p:clrMapOvr>
    <a:masterClrMapping/>
  </p:clrMapOvr>
  <p:transition>
    <p:fade/>
  </p:transition>
</p:sldLayout>
</file>

<file path=ppt/slideLayouts/slideLayout393.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6822702"/>
      </p:ext>
    </p:extLst>
  </p:cSld>
  <p:clrMapOvr>
    <a:masterClrMapping/>
  </p:clrMapOvr>
  <p:transition>
    <p:fade/>
  </p:transition>
</p:sldLayout>
</file>

<file path=ppt/slideLayouts/slideLayout394.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437702539"/>
      </p:ext>
    </p:extLst>
  </p:cSld>
  <p:clrMapOvr>
    <a:masterClrMapping/>
  </p:clrMapOvr>
  <p:transition>
    <p:fade/>
  </p:transition>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367035616"/>
      </p:ext>
    </p:extLst>
  </p:cSld>
  <p:clrMapOvr>
    <a:masterClrMapping/>
  </p:clrMapOvr>
  <p:transition>
    <p:fade/>
  </p:transition>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03750139"/>
      </p:ext>
    </p:extLst>
  </p:cSld>
  <p:clrMapOvr>
    <a:masterClrMapping/>
  </p:clrMapOvr>
  <p:transition>
    <p:fade/>
  </p:transition>
</p:sldLayout>
</file>

<file path=ppt/slideLayouts/slideLayout397.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797084201"/>
      </p:ext>
    </p:extLst>
  </p:cSld>
  <p:clrMapOvr>
    <a:masterClrMapping/>
  </p:clrMapOvr>
  <p:transition>
    <p:fade/>
  </p:transition>
</p:sldLayout>
</file>

<file path=ppt/slideLayouts/slideLayout398.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801654519"/>
      </p:ext>
    </p:extLst>
  </p:cSld>
  <p:clrMapOvr>
    <a:masterClrMapping/>
  </p:clrMapOvr>
  <p:transition>
    <p:fade/>
  </p:transition>
</p:sldLayout>
</file>

<file path=ppt/slideLayouts/slideLayout399.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3105243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00.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1355497365"/>
      </p:ext>
    </p:extLst>
  </p:cSld>
  <p:clrMapOvr>
    <a:masterClrMapping/>
  </p:clrMapOvr>
  <p:transition>
    <p:fade/>
  </p:transition>
</p:sldLayout>
</file>

<file path=ppt/slideLayouts/slideLayout401.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173237670"/>
      </p:ext>
    </p:extLst>
  </p:cSld>
  <p:clrMapOvr>
    <a:masterClrMapping/>
  </p:clrMapOvr>
  <p:transition>
    <p:fade/>
  </p:transition>
</p:sldLayout>
</file>

<file path=ppt/slideLayouts/slideLayout402.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561126032"/>
      </p:ext>
    </p:extLst>
  </p:cSld>
  <p:clrMapOvr>
    <a:masterClrMapping/>
  </p:clrMapOvr>
  <p:transition>
    <p:fade/>
  </p:transition>
</p:sldLayout>
</file>

<file path=ppt/slideLayouts/slideLayout403.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13779024"/>
      </p:ext>
    </p:extLst>
  </p:cSld>
  <p:clrMapOvr>
    <a:masterClrMapping/>
  </p:clrMapOvr>
  <p:transition>
    <p:fade/>
  </p:transition>
</p:sldLayout>
</file>

<file path=ppt/slideLayouts/slideLayout40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508923822"/>
      </p:ext>
    </p:extLst>
  </p:cSld>
  <p:clrMapOvr>
    <a:masterClrMapping/>
  </p:clrMapOvr>
  <p:transition>
    <p:fade/>
  </p:transition>
</p:sldLayout>
</file>

<file path=ppt/slideLayouts/slideLayout405.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763449473"/>
      </p:ext>
    </p:extLst>
  </p:cSld>
  <p:clrMapOvr>
    <a:masterClrMapping/>
  </p:clrMapOvr>
  <p:transition>
    <p:fade/>
  </p:transition>
</p:sldLayout>
</file>

<file path=ppt/slideLayouts/slideLayout406.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3363566"/>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1098211482"/>
      </p:ext>
    </p:extLst>
  </p:cSld>
  <p:clrMapOvr>
    <a:masterClrMapping/>
  </p:clrMapOvr>
  <p:transition>
    <p:fade/>
  </p:transition>
</p:sldLayout>
</file>

<file path=ppt/slideLayouts/slideLayout408.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458252122"/>
      </p:ext>
    </p:extLst>
  </p:cSld>
  <p:clrMapOvr>
    <a:masterClrMapping/>
  </p:clrMapOvr>
  <p:transition>
    <p:fade/>
  </p:transition>
</p:sldLayout>
</file>

<file path=ppt/slideLayouts/slideLayout409.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dirty="0"/>
              <a:t>BREADCRUMBS</a:t>
            </a:r>
          </a:p>
        </p:txBody>
      </p:sp>
    </p:spTree>
    <p:extLst>
      <p:ext uri="{BB962C8B-B14F-4D97-AF65-F5344CB8AC3E}">
        <p14:creationId xmlns:p14="http://schemas.microsoft.com/office/powerpoint/2010/main" val="1525869646"/>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19/06/2025</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2845563664"/>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cSld name="2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86057740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theme" Target="../theme/theme1.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tags" Target="../tags/tag3.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26" Type="http://schemas.openxmlformats.org/officeDocument/2006/relationships/slideLayout" Target="../slideLayouts/slideLayout120.xml"/><Relationship Id="rId39" Type="http://schemas.openxmlformats.org/officeDocument/2006/relationships/slideLayout" Target="../slideLayouts/slideLayout133.xml"/><Relationship Id="rId21" Type="http://schemas.openxmlformats.org/officeDocument/2006/relationships/slideLayout" Target="../slideLayouts/slideLayout115.xml"/><Relationship Id="rId34" Type="http://schemas.openxmlformats.org/officeDocument/2006/relationships/slideLayout" Target="../slideLayouts/slideLayout128.xml"/><Relationship Id="rId42" Type="http://schemas.openxmlformats.org/officeDocument/2006/relationships/slideLayout" Target="../slideLayouts/slideLayout136.xml"/><Relationship Id="rId47" Type="http://schemas.openxmlformats.org/officeDocument/2006/relationships/theme" Target="../theme/theme2.xml"/><Relationship Id="rId50" Type="http://schemas.openxmlformats.org/officeDocument/2006/relationships/oleObject" Target="../embeddings/oleObject3.bin"/><Relationship Id="rId7" Type="http://schemas.openxmlformats.org/officeDocument/2006/relationships/slideLayout" Target="../slideLayouts/slideLayout10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9" Type="http://schemas.openxmlformats.org/officeDocument/2006/relationships/slideLayout" Target="../slideLayouts/slideLayout123.xml"/><Relationship Id="rId11" Type="http://schemas.openxmlformats.org/officeDocument/2006/relationships/slideLayout" Target="../slideLayouts/slideLayout105.xml"/><Relationship Id="rId24" Type="http://schemas.openxmlformats.org/officeDocument/2006/relationships/slideLayout" Target="../slideLayouts/slideLayout118.xml"/><Relationship Id="rId32" Type="http://schemas.openxmlformats.org/officeDocument/2006/relationships/slideLayout" Target="../slideLayouts/slideLayout126.xml"/><Relationship Id="rId37" Type="http://schemas.openxmlformats.org/officeDocument/2006/relationships/slideLayout" Target="../slideLayouts/slideLayout131.xml"/><Relationship Id="rId40" Type="http://schemas.openxmlformats.org/officeDocument/2006/relationships/slideLayout" Target="../slideLayouts/slideLayout134.xml"/><Relationship Id="rId45" Type="http://schemas.openxmlformats.org/officeDocument/2006/relationships/slideLayout" Target="../slideLayouts/slideLayout139.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23" Type="http://schemas.openxmlformats.org/officeDocument/2006/relationships/slideLayout" Target="../slideLayouts/slideLayout117.xml"/><Relationship Id="rId28" Type="http://schemas.openxmlformats.org/officeDocument/2006/relationships/slideLayout" Target="../slideLayouts/slideLayout122.xml"/><Relationship Id="rId36" Type="http://schemas.openxmlformats.org/officeDocument/2006/relationships/slideLayout" Target="../slideLayouts/slideLayout130.xml"/><Relationship Id="rId49" Type="http://schemas.openxmlformats.org/officeDocument/2006/relationships/tags" Target="../tags/tag7.xml"/><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31" Type="http://schemas.openxmlformats.org/officeDocument/2006/relationships/slideLayout" Target="../slideLayouts/slideLayout125.xml"/><Relationship Id="rId44" Type="http://schemas.openxmlformats.org/officeDocument/2006/relationships/slideLayout" Target="../slideLayouts/slideLayout138.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 Id="rId22" Type="http://schemas.openxmlformats.org/officeDocument/2006/relationships/slideLayout" Target="../slideLayouts/slideLayout116.xml"/><Relationship Id="rId27" Type="http://schemas.openxmlformats.org/officeDocument/2006/relationships/slideLayout" Target="../slideLayouts/slideLayout121.xml"/><Relationship Id="rId30" Type="http://schemas.openxmlformats.org/officeDocument/2006/relationships/slideLayout" Target="../slideLayouts/slideLayout124.xml"/><Relationship Id="rId35" Type="http://schemas.openxmlformats.org/officeDocument/2006/relationships/slideLayout" Target="../slideLayouts/slideLayout129.xml"/><Relationship Id="rId43" Type="http://schemas.openxmlformats.org/officeDocument/2006/relationships/slideLayout" Target="../slideLayouts/slideLayout137.xml"/><Relationship Id="rId48" Type="http://schemas.openxmlformats.org/officeDocument/2006/relationships/tags" Target="../tags/tag6.xml"/><Relationship Id="rId8" Type="http://schemas.openxmlformats.org/officeDocument/2006/relationships/slideLayout" Target="../slideLayouts/slideLayout102.xml"/><Relationship Id="rId51" Type="http://schemas.openxmlformats.org/officeDocument/2006/relationships/image" Target="../media/image1.emf"/><Relationship Id="rId3" Type="http://schemas.openxmlformats.org/officeDocument/2006/relationships/slideLayout" Target="../slideLayouts/slideLayout97.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5" Type="http://schemas.openxmlformats.org/officeDocument/2006/relationships/slideLayout" Target="../slideLayouts/slideLayout119.xml"/><Relationship Id="rId33" Type="http://schemas.openxmlformats.org/officeDocument/2006/relationships/slideLayout" Target="../slideLayouts/slideLayout127.xml"/><Relationship Id="rId38" Type="http://schemas.openxmlformats.org/officeDocument/2006/relationships/slideLayout" Target="../slideLayouts/slideLayout132.xml"/><Relationship Id="rId46" Type="http://schemas.openxmlformats.org/officeDocument/2006/relationships/slideLayout" Target="../slideLayouts/slideLayout140.xml"/><Relationship Id="rId20" Type="http://schemas.openxmlformats.org/officeDocument/2006/relationships/slideLayout" Target="../slideLayouts/slideLayout114.xml"/><Relationship Id="rId41" Type="http://schemas.openxmlformats.org/officeDocument/2006/relationships/slideLayout" Target="../slideLayouts/slideLayout135.xml"/><Relationship Id="rId1" Type="http://schemas.openxmlformats.org/officeDocument/2006/relationships/slideLayout" Target="../slideLayouts/slideLayout95.xml"/><Relationship Id="rId6" Type="http://schemas.openxmlformats.org/officeDocument/2006/relationships/slideLayout" Target="../slideLayouts/slideLayout100.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66.xml"/><Relationship Id="rId21" Type="http://schemas.openxmlformats.org/officeDocument/2006/relationships/slideLayout" Target="../slideLayouts/slideLayout161.xml"/><Relationship Id="rId42" Type="http://schemas.openxmlformats.org/officeDocument/2006/relationships/slideLayout" Target="../slideLayouts/slideLayout182.xml"/><Relationship Id="rId47" Type="http://schemas.openxmlformats.org/officeDocument/2006/relationships/slideLayout" Target="../slideLayouts/slideLayout187.xml"/><Relationship Id="rId63" Type="http://schemas.openxmlformats.org/officeDocument/2006/relationships/slideLayout" Target="../slideLayouts/slideLayout203.xml"/><Relationship Id="rId68" Type="http://schemas.openxmlformats.org/officeDocument/2006/relationships/slideLayout" Target="../slideLayouts/slideLayout208.xml"/><Relationship Id="rId84" Type="http://schemas.openxmlformats.org/officeDocument/2006/relationships/slideLayout" Target="../slideLayouts/slideLayout224.xml"/><Relationship Id="rId89" Type="http://schemas.openxmlformats.org/officeDocument/2006/relationships/slideLayout" Target="../slideLayouts/slideLayout229.xml"/><Relationship Id="rId16" Type="http://schemas.openxmlformats.org/officeDocument/2006/relationships/slideLayout" Target="../slideLayouts/slideLayout156.xml"/><Relationship Id="rId11" Type="http://schemas.openxmlformats.org/officeDocument/2006/relationships/slideLayout" Target="../slideLayouts/slideLayout151.xml"/><Relationship Id="rId32" Type="http://schemas.openxmlformats.org/officeDocument/2006/relationships/slideLayout" Target="../slideLayouts/slideLayout172.xml"/><Relationship Id="rId37" Type="http://schemas.openxmlformats.org/officeDocument/2006/relationships/slideLayout" Target="../slideLayouts/slideLayout177.xml"/><Relationship Id="rId53" Type="http://schemas.openxmlformats.org/officeDocument/2006/relationships/slideLayout" Target="../slideLayouts/slideLayout193.xml"/><Relationship Id="rId58" Type="http://schemas.openxmlformats.org/officeDocument/2006/relationships/slideLayout" Target="../slideLayouts/slideLayout198.xml"/><Relationship Id="rId74" Type="http://schemas.openxmlformats.org/officeDocument/2006/relationships/slideLayout" Target="../slideLayouts/slideLayout214.xml"/><Relationship Id="rId79" Type="http://schemas.openxmlformats.org/officeDocument/2006/relationships/slideLayout" Target="../slideLayouts/slideLayout219.xml"/><Relationship Id="rId5" Type="http://schemas.openxmlformats.org/officeDocument/2006/relationships/slideLayout" Target="../slideLayouts/slideLayout145.xml"/><Relationship Id="rId90" Type="http://schemas.openxmlformats.org/officeDocument/2006/relationships/slideLayout" Target="../slideLayouts/slideLayout230.xml"/><Relationship Id="rId95" Type="http://schemas.openxmlformats.org/officeDocument/2006/relationships/tags" Target="../tags/tag11.xml"/><Relationship Id="rId22" Type="http://schemas.openxmlformats.org/officeDocument/2006/relationships/slideLayout" Target="../slideLayouts/slideLayout162.xml"/><Relationship Id="rId27" Type="http://schemas.openxmlformats.org/officeDocument/2006/relationships/slideLayout" Target="../slideLayouts/slideLayout167.xml"/><Relationship Id="rId43" Type="http://schemas.openxmlformats.org/officeDocument/2006/relationships/slideLayout" Target="../slideLayouts/slideLayout183.xml"/><Relationship Id="rId48" Type="http://schemas.openxmlformats.org/officeDocument/2006/relationships/slideLayout" Target="../slideLayouts/slideLayout188.xml"/><Relationship Id="rId64" Type="http://schemas.openxmlformats.org/officeDocument/2006/relationships/slideLayout" Target="../slideLayouts/slideLayout204.xml"/><Relationship Id="rId69" Type="http://schemas.openxmlformats.org/officeDocument/2006/relationships/slideLayout" Target="../slideLayouts/slideLayout209.xml"/><Relationship Id="rId80" Type="http://schemas.openxmlformats.org/officeDocument/2006/relationships/slideLayout" Target="../slideLayouts/slideLayout220.xml"/><Relationship Id="rId85" Type="http://schemas.openxmlformats.org/officeDocument/2006/relationships/slideLayout" Target="../slideLayouts/slideLayout225.xml"/><Relationship Id="rId3" Type="http://schemas.openxmlformats.org/officeDocument/2006/relationships/slideLayout" Target="../slideLayouts/slideLayout143.xml"/><Relationship Id="rId12" Type="http://schemas.openxmlformats.org/officeDocument/2006/relationships/slideLayout" Target="../slideLayouts/slideLayout152.xml"/><Relationship Id="rId17" Type="http://schemas.openxmlformats.org/officeDocument/2006/relationships/slideLayout" Target="../slideLayouts/slideLayout157.xml"/><Relationship Id="rId25" Type="http://schemas.openxmlformats.org/officeDocument/2006/relationships/slideLayout" Target="../slideLayouts/slideLayout165.xml"/><Relationship Id="rId33" Type="http://schemas.openxmlformats.org/officeDocument/2006/relationships/slideLayout" Target="../slideLayouts/slideLayout173.xml"/><Relationship Id="rId38" Type="http://schemas.openxmlformats.org/officeDocument/2006/relationships/slideLayout" Target="../slideLayouts/slideLayout178.xml"/><Relationship Id="rId46" Type="http://schemas.openxmlformats.org/officeDocument/2006/relationships/slideLayout" Target="../slideLayouts/slideLayout186.xml"/><Relationship Id="rId59" Type="http://schemas.openxmlformats.org/officeDocument/2006/relationships/slideLayout" Target="../slideLayouts/slideLayout199.xml"/><Relationship Id="rId67" Type="http://schemas.openxmlformats.org/officeDocument/2006/relationships/slideLayout" Target="../slideLayouts/slideLayout207.xml"/><Relationship Id="rId20" Type="http://schemas.openxmlformats.org/officeDocument/2006/relationships/slideLayout" Target="../slideLayouts/slideLayout160.xml"/><Relationship Id="rId41" Type="http://schemas.openxmlformats.org/officeDocument/2006/relationships/slideLayout" Target="../slideLayouts/slideLayout181.xml"/><Relationship Id="rId54" Type="http://schemas.openxmlformats.org/officeDocument/2006/relationships/slideLayout" Target="../slideLayouts/slideLayout194.xml"/><Relationship Id="rId62" Type="http://schemas.openxmlformats.org/officeDocument/2006/relationships/slideLayout" Target="../slideLayouts/slideLayout202.xml"/><Relationship Id="rId70" Type="http://schemas.openxmlformats.org/officeDocument/2006/relationships/slideLayout" Target="../slideLayouts/slideLayout210.xml"/><Relationship Id="rId75" Type="http://schemas.openxmlformats.org/officeDocument/2006/relationships/slideLayout" Target="../slideLayouts/slideLayout215.xml"/><Relationship Id="rId83" Type="http://schemas.openxmlformats.org/officeDocument/2006/relationships/slideLayout" Target="../slideLayouts/slideLayout223.xml"/><Relationship Id="rId88" Type="http://schemas.openxmlformats.org/officeDocument/2006/relationships/slideLayout" Target="../slideLayouts/slideLayout228.xml"/><Relationship Id="rId91" Type="http://schemas.openxmlformats.org/officeDocument/2006/relationships/slideLayout" Target="../slideLayouts/slideLayout231.xml"/><Relationship Id="rId96" Type="http://schemas.openxmlformats.org/officeDocument/2006/relationships/oleObject" Target="../embeddings/oleObject5.bin"/><Relationship Id="rId1" Type="http://schemas.openxmlformats.org/officeDocument/2006/relationships/slideLayout" Target="../slideLayouts/slideLayout141.xml"/><Relationship Id="rId6" Type="http://schemas.openxmlformats.org/officeDocument/2006/relationships/slideLayout" Target="../slideLayouts/slideLayout146.xml"/><Relationship Id="rId15" Type="http://schemas.openxmlformats.org/officeDocument/2006/relationships/slideLayout" Target="../slideLayouts/slideLayout155.xml"/><Relationship Id="rId23" Type="http://schemas.openxmlformats.org/officeDocument/2006/relationships/slideLayout" Target="../slideLayouts/slideLayout163.xml"/><Relationship Id="rId28" Type="http://schemas.openxmlformats.org/officeDocument/2006/relationships/slideLayout" Target="../slideLayouts/slideLayout168.xml"/><Relationship Id="rId36" Type="http://schemas.openxmlformats.org/officeDocument/2006/relationships/slideLayout" Target="../slideLayouts/slideLayout176.xml"/><Relationship Id="rId49" Type="http://schemas.openxmlformats.org/officeDocument/2006/relationships/slideLayout" Target="../slideLayouts/slideLayout189.xml"/><Relationship Id="rId57" Type="http://schemas.openxmlformats.org/officeDocument/2006/relationships/slideLayout" Target="../slideLayouts/slideLayout197.xml"/><Relationship Id="rId10" Type="http://schemas.openxmlformats.org/officeDocument/2006/relationships/slideLayout" Target="../slideLayouts/slideLayout150.xml"/><Relationship Id="rId31" Type="http://schemas.openxmlformats.org/officeDocument/2006/relationships/slideLayout" Target="../slideLayouts/slideLayout171.xml"/><Relationship Id="rId44" Type="http://schemas.openxmlformats.org/officeDocument/2006/relationships/slideLayout" Target="../slideLayouts/slideLayout184.xml"/><Relationship Id="rId52" Type="http://schemas.openxmlformats.org/officeDocument/2006/relationships/slideLayout" Target="../slideLayouts/slideLayout192.xml"/><Relationship Id="rId60" Type="http://schemas.openxmlformats.org/officeDocument/2006/relationships/slideLayout" Target="../slideLayouts/slideLayout200.xml"/><Relationship Id="rId65" Type="http://schemas.openxmlformats.org/officeDocument/2006/relationships/slideLayout" Target="../slideLayouts/slideLayout205.xml"/><Relationship Id="rId73" Type="http://schemas.openxmlformats.org/officeDocument/2006/relationships/slideLayout" Target="../slideLayouts/slideLayout213.xml"/><Relationship Id="rId78" Type="http://schemas.openxmlformats.org/officeDocument/2006/relationships/slideLayout" Target="../slideLayouts/slideLayout218.xml"/><Relationship Id="rId81" Type="http://schemas.openxmlformats.org/officeDocument/2006/relationships/slideLayout" Target="../slideLayouts/slideLayout221.xml"/><Relationship Id="rId86" Type="http://schemas.openxmlformats.org/officeDocument/2006/relationships/slideLayout" Target="../slideLayouts/slideLayout226.xml"/><Relationship Id="rId94" Type="http://schemas.openxmlformats.org/officeDocument/2006/relationships/tags" Target="../tags/tag10.xml"/><Relationship Id="rId4" Type="http://schemas.openxmlformats.org/officeDocument/2006/relationships/slideLayout" Target="../slideLayouts/slideLayout144.xml"/><Relationship Id="rId9" Type="http://schemas.openxmlformats.org/officeDocument/2006/relationships/slideLayout" Target="../slideLayouts/slideLayout149.xml"/><Relationship Id="rId13" Type="http://schemas.openxmlformats.org/officeDocument/2006/relationships/slideLayout" Target="../slideLayouts/slideLayout153.xml"/><Relationship Id="rId18" Type="http://schemas.openxmlformats.org/officeDocument/2006/relationships/slideLayout" Target="../slideLayouts/slideLayout158.xml"/><Relationship Id="rId39" Type="http://schemas.openxmlformats.org/officeDocument/2006/relationships/slideLayout" Target="../slideLayouts/slideLayout179.xml"/><Relationship Id="rId34" Type="http://schemas.openxmlformats.org/officeDocument/2006/relationships/slideLayout" Target="../slideLayouts/slideLayout174.xml"/><Relationship Id="rId50" Type="http://schemas.openxmlformats.org/officeDocument/2006/relationships/slideLayout" Target="../slideLayouts/slideLayout190.xml"/><Relationship Id="rId55" Type="http://schemas.openxmlformats.org/officeDocument/2006/relationships/slideLayout" Target="../slideLayouts/slideLayout195.xml"/><Relationship Id="rId76" Type="http://schemas.openxmlformats.org/officeDocument/2006/relationships/slideLayout" Target="../slideLayouts/slideLayout216.xml"/><Relationship Id="rId97" Type="http://schemas.openxmlformats.org/officeDocument/2006/relationships/image" Target="../media/image1.emf"/><Relationship Id="rId7" Type="http://schemas.openxmlformats.org/officeDocument/2006/relationships/slideLayout" Target="../slideLayouts/slideLayout147.xml"/><Relationship Id="rId71" Type="http://schemas.openxmlformats.org/officeDocument/2006/relationships/slideLayout" Target="../slideLayouts/slideLayout211.xml"/><Relationship Id="rId92" Type="http://schemas.openxmlformats.org/officeDocument/2006/relationships/slideLayout" Target="../slideLayouts/slideLayout232.xml"/><Relationship Id="rId2" Type="http://schemas.openxmlformats.org/officeDocument/2006/relationships/slideLayout" Target="../slideLayouts/slideLayout142.xml"/><Relationship Id="rId29" Type="http://schemas.openxmlformats.org/officeDocument/2006/relationships/slideLayout" Target="../slideLayouts/slideLayout169.xml"/><Relationship Id="rId24" Type="http://schemas.openxmlformats.org/officeDocument/2006/relationships/slideLayout" Target="../slideLayouts/slideLayout164.xml"/><Relationship Id="rId40" Type="http://schemas.openxmlformats.org/officeDocument/2006/relationships/slideLayout" Target="../slideLayouts/slideLayout180.xml"/><Relationship Id="rId45" Type="http://schemas.openxmlformats.org/officeDocument/2006/relationships/slideLayout" Target="../slideLayouts/slideLayout185.xml"/><Relationship Id="rId66" Type="http://schemas.openxmlformats.org/officeDocument/2006/relationships/slideLayout" Target="../slideLayouts/slideLayout206.xml"/><Relationship Id="rId87" Type="http://schemas.openxmlformats.org/officeDocument/2006/relationships/slideLayout" Target="../slideLayouts/slideLayout227.xml"/><Relationship Id="rId61" Type="http://schemas.openxmlformats.org/officeDocument/2006/relationships/slideLayout" Target="../slideLayouts/slideLayout201.xml"/><Relationship Id="rId82" Type="http://schemas.openxmlformats.org/officeDocument/2006/relationships/slideLayout" Target="../slideLayouts/slideLayout222.xml"/><Relationship Id="rId19" Type="http://schemas.openxmlformats.org/officeDocument/2006/relationships/slideLayout" Target="../slideLayouts/slideLayout159.xml"/><Relationship Id="rId14" Type="http://schemas.openxmlformats.org/officeDocument/2006/relationships/slideLayout" Target="../slideLayouts/slideLayout154.xml"/><Relationship Id="rId30" Type="http://schemas.openxmlformats.org/officeDocument/2006/relationships/slideLayout" Target="../slideLayouts/slideLayout170.xml"/><Relationship Id="rId35" Type="http://schemas.openxmlformats.org/officeDocument/2006/relationships/slideLayout" Target="../slideLayouts/slideLayout175.xml"/><Relationship Id="rId56" Type="http://schemas.openxmlformats.org/officeDocument/2006/relationships/slideLayout" Target="../slideLayouts/slideLayout196.xml"/><Relationship Id="rId77" Type="http://schemas.openxmlformats.org/officeDocument/2006/relationships/slideLayout" Target="../slideLayouts/slideLayout217.xml"/><Relationship Id="rId8" Type="http://schemas.openxmlformats.org/officeDocument/2006/relationships/slideLayout" Target="../slideLayouts/slideLayout148.xml"/><Relationship Id="rId51" Type="http://schemas.openxmlformats.org/officeDocument/2006/relationships/slideLayout" Target="../slideLayouts/slideLayout191.xml"/><Relationship Id="rId72" Type="http://schemas.openxmlformats.org/officeDocument/2006/relationships/slideLayout" Target="../slideLayouts/slideLayout212.xml"/><Relationship Id="rId9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58.xml"/><Relationship Id="rId21" Type="http://schemas.openxmlformats.org/officeDocument/2006/relationships/slideLayout" Target="../slideLayouts/slideLayout253.xml"/><Relationship Id="rId42" Type="http://schemas.openxmlformats.org/officeDocument/2006/relationships/slideLayout" Target="../slideLayouts/slideLayout274.xml"/><Relationship Id="rId47" Type="http://schemas.openxmlformats.org/officeDocument/2006/relationships/slideLayout" Target="../slideLayouts/slideLayout279.xml"/><Relationship Id="rId63" Type="http://schemas.openxmlformats.org/officeDocument/2006/relationships/slideLayout" Target="../slideLayouts/slideLayout295.xml"/><Relationship Id="rId68" Type="http://schemas.openxmlformats.org/officeDocument/2006/relationships/slideLayout" Target="../slideLayouts/slideLayout300.xml"/><Relationship Id="rId84" Type="http://schemas.openxmlformats.org/officeDocument/2006/relationships/slideLayout" Target="../slideLayouts/slideLayout316.xml"/><Relationship Id="rId89" Type="http://schemas.openxmlformats.org/officeDocument/2006/relationships/slideLayout" Target="../slideLayouts/slideLayout321.xml"/><Relationship Id="rId16" Type="http://schemas.openxmlformats.org/officeDocument/2006/relationships/slideLayout" Target="../slideLayouts/slideLayout248.xml"/><Relationship Id="rId11" Type="http://schemas.openxmlformats.org/officeDocument/2006/relationships/slideLayout" Target="../slideLayouts/slideLayout243.xml"/><Relationship Id="rId32" Type="http://schemas.openxmlformats.org/officeDocument/2006/relationships/slideLayout" Target="../slideLayouts/slideLayout264.xml"/><Relationship Id="rId37" Type="http://schemas.openxmlformats.org/officeDocument/2006/relationships/slideLayout" Target="../slideLayouts/slideLayout269.xml"/><Relationship Id="rId53" Type="http://schemas.openxmlformats.org/officeDocument/2006/relationships/slideLayout" Target="../slideLayouts/slideLayout285.xml"/><Relationship Id="rId58" Type="http://schemas.openxmlformats.org/officeDocument/2006/relationships/slideLayout" Target="../slideLayouts/slideLayout290.xml"/><Relationship Id="rId74" Type="http://schemas.openxmlformats.org/officeDocument/2006/relationships/slideLayout" Target="../slideLayouts/slideLayout306.xml"/><Relationship Id="rId79" Type="http://schemas.openxmlformats.org/officeDocument/2006/relationships/slideLayout" Target="../slideLayouts/slideLayout311.xml"/><Relationship Id="rId5" Type="http://schemas.openxmlformats.org/officeDocument/2006/relationships/slideLayout" Target="../slideLayouts/slideLayout237.xml"/><Relationship Id="rId90" Type="http://schemas.openxmlformats.org/officeDocument/2006/relationships/slideLayout" Target="../slideLayouts/slideLayout322.xml"/><Relationship Id="rId95" Type="http://schemas.openxmlformats.org/officeDocument/2006/relationships/tags" Target="../tags/tag14.xml"/><Relationship Id="rId22" Type="http://schemas.openxmlformats.org/officeDocument/2006/relationships/slideLayout" Target="../slideLayouts/slideLayout254.xml"/><Relationship Id="rId27" Type="http://schemas.openxmlformats.org/officeDocument/2006/relationships/slideLayout" Target="../slideLayouts/slideLayout259.xml"/><Relationship Id="rId43" Type="http://schemas.openxmlformats.org/officeDocument/2006/relationships/slideLayout" Target="../slideLayouts/slideLayout275.xml"/><Relationship Id="rId48" Type="http://schemas.openxmlformats.org/officeDocument/2006/relationships/slideLayout" Target="../slideLayouts/slideLayout280.xml"/><Relationship Id="rId64" Type="http://schemas.openxmlformats.org/officeDocument/2006/relationships/slideLayout" Target="../slideLayouts/slideLayout296.xml"/><Relationship Id="rId69" Type="http://schemas.openxmlformats.org/officeDocument/2006/relationships/slideLayout" Target="../slideLayouts/slideLayout301.xml"/><Relationship Id="rId80" Type="http://schemas.openxmlformats.org/officeDocument/2006/relationships/slideLayout" Target="../slideLayouts/slideLayout312.xml"/><Relationship Id="rId85" Type="http://schemas.openxmlformats.org/officeDocument/2006/relationships/slideLayout" Target="../slideLayouts/slideLayout317.xml"/><Relationship Id="rId3" Type="http://schemas.openxmlformats.org/officeDocument/2006/relationships/slideLayout" Target="../slideLayouts/slideLayout235.xml"/><Relationship Id="rId12" Type="http://schemas.openxmlformats.org/officeDocument/2006/relationships/slideLayout" Target="../slideLayouts/slideLayout244.xml"/><Relationship Id="rId17" Type="http://schemas.openxmlformats.org/officeDocument/2006/relationships/slideLayout" Target="../slideLayouts/slideLayout249.xml"/><Relationship Id="rId25" Type="http://schemas.openxmlformats.org/officeDocument/2006/relationships/slideLayout" Target="../slideLayouts/slideLayout257.xml"/><Relationship Id="rId33" Type="http://schemas.openxmlformats.org/officeDocument/2006/relationships/slideLayout" Target="../slideLayouts/slideLayout265.xml"/><Relationship Id="rId38" Type="http://schemas.openxmlformats.org/officeDocument/2006/relationships/slideLayout" Target="../slideLayouts/slideLayout270.xml"/><Relationship Id="rId46" Type="http://schemas.openxmlformats.org/officeDocument/2006/relationships/slideLayout" Target="../slideLayouts/slideLayout278.xml"/><Relationship Id="rId59" Type="http://schemas.openxmlformats.org/officeDocument/2006/relationships/slideLayout" Target="../slideLayouts/slideLayout291.xml"/><Relationship Id="rId67" Type="http://schemas.openxmlformats.org/officeDocument/2006/relationships/slideLayout" Target="../slideLayouts/slideLayout299.xml"/><Relationship Id="rId20" Type="http://schemas.openxmlformats.org/officeDocument/2006/relationships/slideLayout" Target="../slideLayouts/slideLayout252.xml"/><Relationship Id="rId41" Type="http://schemas.openxmlformats.org/officeDocument/2006/relationships/slideLayout" Target="../slideLayouts/slideLayout273.xml"/><Relationship Id="rId54" Type="http://schemas.openxmlformats.org/officeDocument/2006/relationships/slideLayout" Target="../slideLayouts/slideLayout286.xml"/><Relationship Id="rId62" Type="http://schemas.openxmlformats.org/officeDocument/2006/relationships/slideLayout" Target="../slideLayouts/slideLayout294.xml"/><Relationship Id="rId70" Type="http://schemas.openxmlformats.org/officeDocument/2006/relationships/slideLayout" Target="../slideLayouts/slideLayout302.xml"/><Relationship Id="rId75" Type="http://schemas.openxmlformats.org/officeDocument/2006/relationships/slideLayout" Target="../slideLayouts/slideLayout307.xml"/><Relationship Id="rId83" Type="http://schemas.openxmlformats.org/officeDocument/2006/relationships/slideLayout" Target="../slideLayouts/slideLayout315.xml"/><Relationship Id="rId88" Type="http://schemas.openxmlformats.org/officeDocument/2006/relationships/slideLayout" Target="../slideLayouts/slideLayout320.xml"/><Relationship Id="rId91" Type="http://schemas.openxmlformats.org/officeDocument/2006/relationships/slideLayout" Target="../slideLayouts/slideLayout323.xml"/><Relationship Id="rId96" Type="http://schemas.openxmlformats.org/officeDocument/2006/relationships/tags" Target="../tags/tag15.xml"/><Relationship Id="rId1" Type="http://schemas.openxmlformats.org/officeDocument/2006/relationships/slideLayout" Target="../slideLayouts/slideLayout233.xml"/><Relationship Id="rId6" Type="http://schemas.openxmlformats.org/officeDocument/2006/relationships/slideLayout" Target="../slideLayouts/slideLayout238.xml"/><Relationship Id="rId15" Type="http://schemas.openxmlformats.org/officeDocument/2006/relationships/slideLayout" Target="../slideLayouts/slideLayout247.xml"/><Relationship Id="rId23" Type="http://schemas.openxmlformats.org/officeDocument/2006/relationships/slideLayout" Target="../slideLayouts/slideLayout255.xml"/><Relationship Id="rId28" Type="http://schemas.openxmlformats.org/officeDocument/2006/relationships/slideLayout" Target="../slideLayouts/slideLayout260.xml"/><Relationship Id="rId36" Type="http://schemas.openxmlformats.org/officeDocument/2006/relationships/slideLayout" Target="../slideLayouts/slideLayout268.xml"/><Relationship Id="rId49" Type="http://schemas.openxmlformats.org/officeDocument/2006/relationships/slideLayout" Target="../slideLayouts/slideLayout281.xml"/><Relationship Id="rId57" Type="http://schemas.openxmlformats.org/officeDocument/2006/relationships/slideLayout" Target="../slideLayouts/slideLayout289.xml"/><Relationship Id="rId10" Type="http://schemas.openxmlformats.org/officeDocument/2006/relationships/slideLayout" Target="../slideLayouts/slideLayout242.xml"/><Relationship Id="rId31" Type="http://schemas.openxmlformats.org/officeDocument/2006/relationships/slideLayout" Target="../slideLayouts/slideLayout263.xml"/><Relationship Id="rId44" Type="http://schemas.openxmlformats.org/officeDocument/2006/relationships/slideLayout" Target="../slideLayouts/slideLayout276.xml"/><Relationship Id="rId52" Type="http://schemas.openxmlformats.org/officeDocument/2006/relationships/slideLayout" Target="../slideLayouts/slideLayout284.xml"/><Relationship Id="rId60" Type="http://schemas.openxmlformats.org/officeDocument/2006/relationships/slideLayout" Target="../slideLayouts/slideLayout292.xml"/><Relationship Id="rId65" Type="http://schemas.openxmlformats.org/officeDocument/2006/relationships/slideLayout" Target="../slideLayouts/slideLayout297.xml"/><Relationship Id="rId73" Type="http://schemas.openxmlformats.org/officeDocument/2006/relationships/slideLayout" Target="../slideLayouts/slideLayout305.xml"/><Relationship Id="rId78" Type="http://schemas.openxmlformats.org/officeDocument/2006/relationships/slideLayout" Target="../slideLayouts/slideLayout310.xml"/><Relationship Id="rId81" Type="http://schemas.openxmlformats.org/officeDocument/2006/relationships/slideLayout" Target="../slideLayouts/slideLayout313.xml"/><Relationship Id="rId86" Type="http://schemas.openxmlformats.org/officeDocument/2006/relationships/slideLayout" Target="../slideLayouts/slideLayout318.xml"/><Relationship Id="rId94" Type="http://schemas.openxmlformats.org/officeDocument/2006/relationships/theme" Target="../theme/theme4.xml"/><Relationship Id="rId4" Type="http://schemas.openxmlformats.org/officeDocument/2006/relationships/slideLayout" Target="../slideLayouts/slideLayout236.xml"/><Relationship Id="rId9" Type="http://schemas.openxmlformats.org/officeDocument/2006/relationships/slideLayout" Target="../slideLayouts/slideLayout241.xml"/><Relationship Id="rId13" Type="http://schemas.openxmlformats.org/officeDocument/2006/relationships/slideLayout" Target="../slideLayouts/slideLayout245.xml"/><Relationship Id="rId18" Type="http://schemas.openxmlformats.org/officeDocument/2006/relationships/slideLayout" Target="../slideLayouts/slideLayout250.xml"/><Relationship Id="rId39" Type="http://schemas.openxmlformats.org/officeDocument/2006/relationships/slideLayout" Target="../slideLayouts/slideLayout271.xml"/><Relationship Id="rId34" Type="http://schemas.openxmlformats.org/officeDocument/2006/relationships/slideLayout" Target="../slideLayouts/slideLayout266.xml"/><Relationship Id="rId50" Type="http://schemas.openxmlformats.org/officeDocument/2006/relationships/slideLayout" Target="../slideLayouts/slideLayout282.xml"/><Relationship Id="rId55" Type="http://schemas.openxmlformats.org/officeDocument/2006/relationships/slideLayout" Target="../slideLayouts/slideLayout287.xml"/><Relationship Id="rId76" Type="http://schemas.openxmlformats.org/officeDocument/2006/relationships/slideLayout" Target="../slideLayouts/slideLayout308.xml"/><Relationship Id="rId97" Type="http://schemas.openxmlformats.org/officeDocument/2006/relationships/oleObject" Target="../embeddings/oleObject7.bin"/><Relationship Id="rId7" Type="http://schemas.openxmlformats.org/officeDocument/2006/relationships/slideLayout" Target="../slideLayouts/slideLayout239.xml"/><Relationship Id="rId71" Type="http://schemas.openxmlformats.org/officeDocument/2006/relationships/slideLayout" Target="../slideLayouts/slideLayout303.xml"/><Relationship Id="rId92" Type="http://schemas.openxmlformats.org/officeDocument/2006/relationships/slideLayout" Target="../slideLayouts/slideLayout324.xml"/><Relationship Id="rId2" Type="http://schemas.openxmlformats.org/officeDocument/2006/relationships/slideLayout" Target="../slideLayouts/slideLayout234.xml"/><Relationship Id="rId29" Type="http://schemas.openxmlformats.org/officeDocument/2006/relationships/slideLayout" Target="../slideLayouts/slideLayout261.xml"/><Relationship Id="rId24" Type="http://schemas.openxmlformats.org/officeDocument/2006/relationships/slideLayout" Target="../slideLayouts/slideLayout256.xml"/><Relationship Id="rId40" Type="http://schemas.openxmlformats.org/officeDocument/2006/relationships/slideLayout" Target="../slideLayouts/slideLayout272.xml"/><Relationship Id="rId45" Type="http://schemas.openxmlformats.org/officeDocument/2006/relationships/slideLayout" Target="../slideLayouts/slideLayout277.xml"/><Relationship Id="rId66" Type="http://schemas.openxmlformats.org/officeDocument/2006/relationships/slideLayout" Target="../slideLayouts/slideLayout298.xml"/><Relationship Id="rId87" Type="http://schemas.openxmlformats.org/officeDocument/2006/relationships/slideLayout" Target="../slideLayouts/slideLayout319.xml"/><Relationship Id="rId61" Type="http://schemas.openxmlformats.org/officeDocument/2006/relationships/slideLayout" Target="../slideLayouts/slideLayout293.xml"/><Relationship Id="rId82" Type="http://schemas.openxmlformats.org/officeDocument/2006/relationships/slideLayout" Target="../slideLayouts/slideLayout314.xml"/><Relationship Id="rId19" Type="http://schemas.openxmlformats.org/officeDocument/2006/relationships/slideLayout" Target="../slideLayouts/slideLayout251.xml"/><Relationship Id="rId14" Type="http://schemas.openxmlformats.org/officeDocument/2006/relationships/slideLayout" Target="../slideLayouts/slideLayout246.xml"/><Relationship Id="rId30" Type="http://schemas.openxmlformats.org/officeDocument/2006/relationships/slideLayout" Target="../slideLayouts/slideLayout262.xml"/><Relationship Id="rId35" Type="http://schemas.openxmlformats.org/officeDocument/2006/relationships/slideLayout" Target="../slideLayouts/slideLayout267.xml"/><Relationship Id="rId56" Type="http://schemas.openxmlformats.org/officeDocument/2006/relationships/slideLayout" Target="../slideLayouts/slideLayout288.xml"/><Relationship Id="rId77" Type="http://schemas.openxmlformats.org/officeDocument/2006/relationships/slideLayout" Target="../slideLayouts/slideLayout309.xml"/><Relationship Id="rId8" Type="http://schemas.openxmlformats.org/officeDocument/2006/relationships/slideLayout" Target="../slideLayouts/slideLayout240.xml"/><Relationship Id="rId51" Type="http://schemas.openxmlformats.org/officeDocument/2006/relationships/slideLayout" Target="../slideLayouts/slideLayout283.xml"/><Relationship Id="rId72" Type="http://schemas.openxmlformats.org/officeDocument/2006/relationships/slideLayout" Target="../slideLayouts/slideLayout304.xml"/><Relationship Id="rId93" Type="http://schemas.openxmlformats.org/officeDocument/2006/relationships/slideLayout" Target="../slideLayouts/slideLayout325.xml"/><Relationship Id="rId98" Type="http://schemas.openxmlformats.org/officeDocument/2006/relationships/image" Target="../media/image1.emf"/></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338.xml"/><Relationship Id="rId18" Type="http://schemas.openxmlformats.org/officeDocument/2006/relationships/slideLayout" Target="../slideLayouts/slideLayout343.xml"/><Relationship Id="rId26" Type="http://schemas.openxmlformats.org/officeDocument/2006/relationships/slideLayout" Target="../slideLayouts/slideLayout351.xml"/><Relationship Id="rId39" Type="http://schemas.openxmlformats.org/officeDocument/2006/relationships/slideLayout" Target="../slideLayouts/slideLayout364.xml"/><Relationship Id="rId21" Type="http://schemas.openxmlformats.org/officeDocument/2006/relationships/slideLayout" Target="../slideLayouts/slideLayout346.xml"/><Relationship Id="rId34" Type="http://schemas.openxmlformats.org/officeDocument/2006/relationships/slideLayout" Target="../slideLayouts/slideLayout359.xml"/><Relationship Id="rId42" Type="http://schemas.openxmlformats.org/officeDocument/2006/relationships/slideLayout" Target="../slideLayouts/slideLayout367.xml"/><Relationship Id="rId47" Type="http://schemas.openxmlformats.org/officeDocument/2006/relationships/oleObject" Target="../embeddings/oleObject9.bin"/><Relationship Id="rId7" Type="http://schemas.openxmlformats.org/officeDocument/2006/relationships/slideLayout" Target="../slideLayouts/slideLayout332.xml"/><Relationship Id="rId2" Type="http://schemas.openxmlformats.org/officeDocument/2006/relationships/slideLayout" Target="../slideLayouts/slideLayout327.xml"/><Relationship Id="rId16" Type="http://schemas.openxmlformats.org/officeDocument/2006/relationships/slideLayout" Target="../slideLayouts/slideLayout341.xml"/><Relationship Id="rId29" Type="http://schemas.openxmlformats.org/officeDocument/2006/relationships/slideLayout" Target="../slideLayouts/slideLayout354.xml"/><Relationship Id="rId1" Type="http://schemas.openxmlformats.org/officeDocument/2006/relationships/slideLayout" Target="../slideLayouts/slideLayout326.xml"/><Relationship Id="rId6" Type="http://schemas.openxmlformats.org/officeDocument/2006/relationships/slideLayout" Target="../slideLayouts/slideLayout331.xml"/><Relationship Id="rId11" Type="http://schemas.openxmlformats.org/officeDocument/2006/relationships/slideLayout" Target="../slideLayouts/slideLayout336.xml"/><Relationship Id="rId24" Type="http://schemas.openxmlformats.org/officeDocument/2006/relationships/slideLayout" Target="../slideLayouts/slideLayout349.xml"/><Relationship Id="rId32" Type="http://schemas.openxmlformats.org/officeDocument/2006/relationships/slideLayout" Target="../slideLayouts/slideLayout357.xml"/><Relationship Id="rId37" Type="http://schemas.openxmlformats.org/officeDocument/2006/relationships/slideLayout" Target="../slideLayouts/slideLayout362.xml"/><Relationship Id="rId40" Type="http://schemas.openxmlformats.org/officeDocument/2006/relationships/slideLayout" Target="../slideLayouts/slideLayout365.xml"/><Relationship Id="rId45" Type="http://schemas.openxmlformats.org/officeDocument/2006/relationships/tags" Target="../tags/tag18.xml"/><Relationship Id="rId5" Type="http://schemas.openxmlformats.org/officeDocument/2006/relationships/slideLayout" Target="../slideLayouts/slideLayout330.xml"/><Relationship Id="rId15" Type="http://schemas.openxmlformats.org/officeDocument/2006/relationships/slideLayout" Target="../slideLayouts/slideLayout340.xml"/><Relationship Id="rId23" Type="http://schemas.openxmlformats.org/officeDocument/2006/relationships/slideLayout" Target="../slideLayouts/slideLayout348.xml"/><Relationship Id="rId28" Type="http://schemas.openxmlformats.org/officeDocument/2006/relationships/slideLayout" Target="../slideLayouts/slideLayout353.xml"/><Relationship Id="rId36" Type="http://schemas.openxmlformats.org/officeDocument/2006/relationships/slideLayout" Target="../slideLayouts/slideLayout361.xml"/><Relationship Id="rId10" Type="http://schemas.openxmlformats.org/officeDocument/2006/relationships/slideLayout" Target="../slideLayouts/slideLayout335.xml"/><Relationship Id="rId19" Type="http://schemas.openxmlformats.org/officeDocument/2006/relationships/slideLayout" Target="../slideLayouts/slideLayout344.xml"/><Relationship Id="rId31" Type="http://schemas.openxmlformats.org/officeDocument/2006/relationships/slideLayout" Target="../slideLayouts/slideLayout356.xml"/><Relationship Id="rId44" Type="http://schemas.openxmlformats.org/officeDocument/2006/relationships/theme" Target="../theme/theme5.xml"/><Relationship Id="rId4" Type="http://schemas.openxmlformats.org/officeDocument/2006/relationships/slideLayout" Target="../slideLayouts/slideLayout329.xml"/><Relationship Id="rId9" Type="http://schemas.openxmlformats.org/officeDocument/2006/relationships/slideLayout" Target="../slideLayouts/slideLayout334.xml"/><Relationship Id="rId14" Type="http://schemas.openxmlformats.org/officeDocument/2006/relationships/slideLayout" Target="../slideLayouts/slideLayout339.xml"/><Relationship Id="rId22" Type="http://schemas.openxmlformats.org/officeDocument/2006/relationships/slideLayout" Target="../slideLayouts/slideLayout347.xml"/><Relationship Id="rId27" Type="http://schemas.openxmlformats.org/officeDocument/2006/relationships/slideLayout" Target="../slideLayouts/slideLayout352.xml"/><Relationship Id="rId30" Type="http://schemas.openxmlformats.org/officeDocument/2006/relationships/slideLayout" Target="../slideLayouts/slideLayout355.xml"/><Relationship Id="rId35" Type="http://schemas.openxmlformats.org/officeDocument/2006/relationships/slideLayout" Target="../slideLayouts/slideLayout360.xml"/><Relationship Id="rId43" Type="http://schemas.openxmlformats.org/officeDocument/2006/relationships/slideLayout" Target="../slideLayouts/slideLayout368.xml"/><Relationship Id="rId48" Type="http://schemas.openxmlformats.org/officeDocument/2006/relationships/image" Target="../media/image1.emf"/><Relationship Id="rId8" Type="http://schemas.openxmlformats.org/officeDocument/2006/relationships/slideLayout" Target="../slideLayouts/slideLayout333.xml"/><Relationship Id="rId3" Type="http://schemas.openxmlformats.org/officeDocument/2006/relationships/slideLayout" Target="../slideLayouts/slideLayout328.xml"/><Relationship Id="rId12" Type="http://schemas.openxmlformats.org/officeDocument/2006/relationships/slideLayout" Target="../slideLayouts/slideLayout337.xml"/><Relationship Id="rId17" Type="http://schemas.openxmlformats.org/officeDocument/2006/relationships/slideLayout" Target="../slideLayouts/slideLayout342.xml"/><Relationship Id="rId25" Type="http://schemas.openxmlformats.org/officeDocument/2006/relationships/slideLayout" Target="../slideLayouts/slideLayout350.xml"/><Relationship Id="rId33" Type="http://schemas.openxmlformats.org/officeDocument/2006/relationships/slideLayout" Target="../slideLayouts/slideLayout358.xml"/><Relationship Id="rId38" Type="http://schemas.openxmlformats.org/officeDocument/2006/relationships/slideLayout" Target="../slideLayouts/slideLayout363.xml"/><Relationship Id="rId46" Type="http://schemas.openxmlformats.org/officeDocument/2006/relationships/tags" Target="../tags/tag19.xml"/><Relationship Id="rId20" Type="http://schemas.openxmlformats.org/officeDocument/2006/relationships/slideLayout" Target="../slideLayouts/slideLayout345.xml"/><Relationship Id="rId41" Type="http://schemas.openxmlformats.org/officeDocument/2006/relationships/slideLayout" Target="../slideLayouts/slideLayout366.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381.xml"/><Relationship Id="rId18" Type="http://schemas.openxmlformats.org/officeDocument/2006/relationships/slideLayout" Target="../slideLayouts/slideLayout386.xml"/><Relationship Id="rId26" Type="http://schemas.openxmlformats.org/officeDocument/2006/relationships/slideLayout" Target="../slideLayouts/slideLayout394.xml"/><Relationship Id="rId39" Type="http://schemas.openxmlformats.org/officeDocument/2006/relationships/slideLayout" Target="../slideLayouts/slideLayout407.xml"/><Relationship Id="rId21" Type="http://schemas.openxmlformats.org/officeDocument/2006/relationships/slideLayout" Target="../slideLayouts/slideLayout389.xml"/><Relationship Id="rId34" Type="http://schemas.openxmlformats.org/officeDocument/2006/relationships/slideLayout" Target="../slideLayouts/slideLayout402.xml"/><Relationship Id="rId42" Type="http://schemas.openxmlformats.org/officeDocument/2006/relationships/slideLayout" Target="../slideLayouts/slideLayout410.xml"/><Relationship Id="rId47" Type="http://schemas.openxmlformats.org/officeDocument/2006/relationships/oleObject" Target="../embeddings/oleObject11.bin"/><Relationship Id="rId7" Type="http://schemas.openxmlformats.org/officeDocument/2006/relationships/slideLayout" Target="../slideLayouts/slideLayout375.xml"/><Relationship Id="rId2" Type="http://schemas.openxmlformats.org/officeDocument/2006/relationships/slideLayout" Target="../slideLayouts/slideLayout370.xml"/><Relationship Id="rId16" Type="http://schemas.openxmlformats.org/officeDocument/2006/relationships/slideLayout" Target="../slideLayouts/slideLayout384.xml"/><Relationship Id="rId29" Type="http://schemas.openxmlformats.org/officeDocument/2006/relationships/slideLayout" Target="../slideLayouts/slideLayout397.xml"/><Relationship Id="rId1" Type="http://schemas.openxmlformats.org/officeDocument/2006/relationships/slideLayout" Target="../slideLayouts/slideLayout369.xml"/><Relationship Id="rId6" Type="http://schemas.openxmlformats.org/officeDocument/2006/relationships/slideLayout" Target="../slideLayouts/slideLayout374.xml"/><Relationship Id="rId11" Type="http://schemas.openxmlformats.org/officeDocument/2006/relationships/slideLayout" Target="../slideLayouts/slideLayout379.xml"/><Relationship Id="rId24" Type="http://schemas.openxmlformats.org/officeDocument/2006/relationships/slideLayout" Target="../slideLayouts/slideLayout392.xml"/><Relationship Id="rId32" Type="http://schemas.openxmlformats.org/officeDocument/2006/relationships/slideLayout" Target="../slideLayouts/slideLayout400.xml"/><Relationship Id="rId37" Type="http://schemas.openxmlformats.org/officeDocument/2006/relationships/slideLayout" Target="../slideLayouts/slideLayout405.xml"/><Relationship Id="rId40" Type="http://schemas.openxmlformats.org/officeDocument/2006/relationships/slideLayout" Target="../slideLayouts/slideLayout408.xml"/><Relationship Id="rId45" Type="http://schemas.openxmlformats.org/officeDocument/2006/relationships/tags" Target="../tags/tag22.xml"/><Relationship Id="rId5" Type="http://schemas.openxmlformats.org/officeDocument/2006/relationships/slideLayout" Target="../slideLayouts/slideLayout373.xml"/><Relationship Id="rId15" Type="http://schemas.openxmlformats.org/officeDocument/2006/relationships/slideLayout" Target="../slideLayouts/slideLayout383.xml"/><Relationship Id="rId23" Type="http://schemas.openxmlformats.org/officeDocument/2006/relationships/slideLayout" Target="../slideLayouts/slideLayout391.xml"/><Relationship Id="rId28" Type="http://schemas.openxmlformats.org/officeDocument/2006/relationships/slideLayout" Target="../slideLayouts/slideLayout396.xml"/><Relationship Id="rId36" Type="http://schemas.openxmlformats.org/officeDocument/2006/relationships/slideLayout" Target="../slideLayouts/slideLayout404.xml"/><Relationship Id="rId10" Type="http://schemas.openxmlformats.org/officeDocument/2006/relationships/slideLayout" Target="../slideLayouts/slideLayout378.xml"/><Relationship Id="rId19" Type="http://schemas.openxmlformats.org/officeDocument/2006/relationships/slideLayout" Target="../slideLayouts/slideLayout387.xml"/><Relationship Id="rId31" Type="http://schemas.openxmlformats.org/officeDocument/2006/relationships/slideLayout" Target="../slideLayouts/slideLayout399.xml"/><Relationship Id="rId44" Type="http://schemas.openxmlformats.org/officeDocument/2006/relationships/theme" Target="../theme/theme6.xml"/><Relationship Id="rId4" Type="http://schemas.openxmlformats.org/officeDocument/2006/relationships/slideLayout" Target="../slideLayouts/slideLayout372.xml"/><Relationship Id="rId9" Type="http://schemas.openxmlformats.org/officeDocument/2006/relationships/slideLayout" Target="../slideLayouts/slideLayout377.xml"/><Relationship Id="rId14" Type="http://schemas.openxmlformats.org/officeDocument/2006/relationships/slideLayout" Target="../slideLayouts/slideLayout382.xml"/><Relationship Id="rId22" Type="http://schemas.openxmlformats.org/officeDocument/2006/relationships/slideLayout" Target="../slideLayouts/slideLayout390.xml"/><Relationship Id="rId27" Type="http://schemas.openxmlformats.org/officeDocument/2006/relationships/slideLayout" Target="../slideLayouts/slideLayout395.xml"/><Relationship Id="rId30" Type="http://schemas.openxmlformats.org/officeDocument/2006/relationships/slideLayout" Target="../slideLayouts/slideLayout398.xml"/><Relationship Id="rId35" Type="http://schemas.openxmlformats.org/officeDocument/2006/relationships/slideLayout" Target="../slideLayouts/slideLayout403.xml"/><Relationship Id="rId43" Type="http://schemas.openxmlformats.org/officeDocument/2006/relationships/slideLayout" Target="../slideLayouts/slideLayout411.xml"/><Relationship Id="rId48" Type="http://schemas.openxmlformats.org/officeDocument/2006/relationships/image" Target="../media/image1.emf"/><Relationship Id="rId8" Type="http://schemas.openxmlformats.org/officeDocument/2006/relationships/slideLayout" Target="../slideLayouts/slideLayout376.xml"/><Relationship Id="rId3" Type="http://schemas.openxmlformats.org/officeDocument/2006/relationships/slideLayout" Target="../slideLayouts/slideLayout371.xml"/><Relationship Id="rId12" Type="http://schemas.openxmlformats.org/officeDocument/2006/relationships/slideLayout" Target="../slideLayouts/slideLayout380.xml"/><Relationship Id="rId17" Type="http://schemas.openxmlformats.org/officeDocument/2006/relationships/slideLayout" Target="../slideLayouts/slideLayout385.xml"/><Relationship Id="rId25" Type="http://schemas.openxmlformats.org/officeDocument/2006/relationships/slideLayout" Target="../slideLayouts/slideLayout393.xml"/><Relationship Id="rId33" Type="http://schemas.openxmlformats.org/officeDocument/2006/relationships/slideLayout" Target="../slideLayouts/slideLayout401.xml"/><Relationship Id="rId38" Type="http://schemas.openxmlformats.org/officeDocument/2006/relationships/slideLayout" Target="../slideLayouts/slideLayout406.xml"/><Relationship Id="rId46" Type="http://schemas.openxmlformats.org/officeDocument/2006/relationships/tags" Target="../tags/tag23.xml"/><Relationship Id="rId20" Type="http://schemas.openxmlformats.org/officeDocument/2006/relationships/slideLayout" Target="../slideLayouts/slideLayout388.xml"/><Relationship Id="rId41" Type="http://schemas.openxmlformats.org/officeDocument/2006/relationships/slideLayout" Target="../slideLayouts/slideLayout40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6"/>
            </p:custDataLst>
            <p:extLst>
              <p:ext uri="{D42A27DB-BD31-4B8C-83A1-F6EECF244321}">
                <p14:modId xmlns:p14="http://schemas.microsoft.com/office/powerpoint/2010/main" val="232720069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98" imgW="270" imgH="270" progId="TCLayout.ActiveDocument.1">
                  <p:embed/>
                </p:oleObj>
              </mc:Choice>
              <mc:Fallback>
                <p:oleObj name="think-cell Slide" r:id="rId98" imgW="270" imgH="270" progId="TCLayout.ActiveDocument.1">
                  <p:embed/>
                  <p:pic>
                    <p:nvPicPr>
                      <p:cNvPr id="4" name="Object 3" hidden="1"/>
                      <p:cNvPicPr/>
                      <p:nvPr/>
                    </p:nvPicPr>
                    <p:blipFill>
                      <a:blip r:embed="rId99"/>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Rectangle 7" hidden="1">
            <a:extLst>
              <a:ext uri="{FF2B5EF4-FFF2-40B4-BE49-F238E27FC236}">
                <a16:creationId xmlns:a16="http://schemas.microsoft.com/office/drawing/2014/main" id="{A6CE6B83-4079-49DB-8365-10A4A52AD9C5}"/>
              </a:ext>
            </a:extLst>
          </p:cNvPr>
          <p:cNvSpPr/>
          <p:nvPr userDrawn="1">
            <p:custDataLst>
              <p:tags r:id="rId97"/>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Box 8">
            <a:extLst>
              <a:ext uri="{FF2B5EF4-FFF2-40B4-BE49-F238E27FC236}">
                <a16:creationId xmlns:a16="http://schemas.microsoft.com/office/drawing/2014/main" id="{CA348FB2-B3BC-42AD-BB5B-EF819A32AC2D}"/>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0" name="TextBox 9">
            <a:extLst>
              <a:ext uri="{FF2B5EF4-FFF2-40B4-BE49-F238E27FC236}">
                <a16:creationId xmlns:a16="http://schemas.microsoft.com/office/drawing/2014/main" id="{AFFAF1E6-2DC2-4C5F-BED9-82722A4F6D8D}"/>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1638713669"/>
      </p:ext>
    </p:extLst>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 id="2147484155" r:id="rId12"/>
    <p:sldLayoutId id="2147484156" r:id="rId13"/>
    <p:sldLayoutId id="2147484157" r:id="rId14"/>
    <p:sldLayoutId id="2147484158" r:id="rId15"/>
    <p:sldLayoutId id="2147484159" r:id="rId16"/>
    <p:sldLayoutId id="2147484160" r:id="rId17"/>
    <p:sldLayoutId id="2147484161" r:id="rId18"/>
    <p:sldLayoutId id="2147484162" r:id="rId19"/>
    <p:sldLayoutId id="2147484163" r:id="rId20"/>
    <p:sldLayoutId id="2147484164" r:id="rId21"/>
    <p:sldLayoutId id="2147484165" r:id="rId22"/>
    <p:sldLayoutId id="2147484166" r:id="rId23"/>
    <p:sldLayoutId id="2147484167" r:id="rId24"/>
    <p:sldLayoutId id="2147484168" r:id="rId25"/>
    <p:sldLayoutId id="2147484169" r:id="rId26"/>
    <p:sldLayoutId id="2147484170" r:id="rId27"/>
    <p:sldLayoutId id="2147484171" r:id="rId28"/>
    <p:sldLayoutId id="2147484172" r:id="rId29"/>
    <p:sldLayoutId id="2147484173" r:id="rId30"/>
    <p:sldLayoutId id="2147484174" r:id="rId31"/>
    <p:sldLayoutId id="2147484175" r:id="rId32"/>
    <p:sldLayoutId id="2147484176" r:id="rId33"/>
    <p:sldLayoutId id="2147484177" r:id="rId34"/>
    <p:sldLayoutId id="2147484178" r:id="rId35"/>
    <p:sldLayoutId id="2147484179" r:id="rId36"/>
    <p:sldLayoutId id="2147484180" r:id="rId37"/>
    <p:sldLayoutId id="2147484181" r:id="rId38"/>
    <p:sldLayoutId id="2147484182" r:id="rId39"/>
    <p:sldLayoutId id="2147484183" r:id="rId40"/>
    <p:sldLayoutId id="2147484184" r:id="rId41"/>
    <p:sldLayoutId id="2147484185" r:id="rId42"/>
    <p:sldLayoutId id="2147484186" r:id="rId43"/>
    <p:sldLayoutId id="2147484187" r:id="rId44"/>
    <p:sldLayoutId id="2147484188" r:id="rId45"/>
    <p:sldLayoutId id="2147484189" r:id="rId46"/>
    <p:sldLayoutId id="2147484190" r:id="rId47"/>
    <p:sldLayoutId id="2147484191" r:id="rId48"/>
    <p:sldLayoutId id="2147484192" r:id="rId49"/>
    <p:sldLayoutId id="2147484193" r:id="rId50"/>
    <p:sldLayoutId id="2147484195" r:id="rId51"/>
    <p:sldLayoutId id="2147484196" r:id="rId52"/>
    <p:sldLayoutId id="2147484197" r:id="rId53"/>
    <p:sldLayoutId id="2147484198" r:id="rId54"/>
    <p:sldLayoutId id="2147484199" r:id="rId55"/>
    <p:sldLayoutId id="2147484200"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8" r:id="rId90"/>
    <p:sldLayoutId id="2147483739" r:id="rId91"/>
    <p:sldLayoutId id="2147483740" r:id="rId92"/>
    <p:sldLayoutId id="2147483741" r:id="rId93"/>
    <p:sldLayoutId id="2147483742" r:id="rId94"/>
  </p:sldLayoutIdLst>
  <p:transition>
    <p:fade/>
  </p:transition>
  <p:hf hdr="0" ft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8"/>
            </p:custDataLst>
            <p:extLst>
              <p:ext uri="{D42A27DB-BD31-4B8C-83A1-F6EECF244321}">
                <p14:modId xmlns:p14="http://schemas.microsoft.com/office/powerpoint/2010/main" val="599882535"/>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50" imgW="270" imgH="270" progId="TCLayout.ActiveDocument.1">
                  <p:embed/>
                </p:oleObj>
              </mc:Choice>
              <mc:Fallback>
                <p:oleObj name="think-cell Slide" r:id="rId50" imgW="270" imgH="270" progId="TCLayout.ActiveDocument.1">
                  <p:embed/>
                  <p:pic>
                    <p:nvPicPr>
                      <p:cNvPr id="4" name="Object 3" hidden="1"/>
                      <p:cNvPicPr/>
                      <p:nvPr/>
                    </p:nvPicPr>
                    <p:blipFill>
                      <a:blip r:embed="rId51"/>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9"/>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2899693676"/>
      </p:ext>
    </p:extLst>
  </p:cSld>
  <p:clrMap bg1="lt1" tx1="dk1" bg2="lt2" tx2="dk2" accent1="accent1" accent2="accent2" accent3="accent3" accent4="accent4" accent5="accent5" accent6="accent6" hlink="hlink" folHlink="folHlink"/>
  <p:sldLayoutIdLst>
    <p:sldLayoutId id="2147484304" r:id="rId1"/>
    <p:sldLayoutId id="2147484305" r:id="rId2"/>
    <p:sldLayoutId id="2147484306" r:id="rId3"/>
    <p:sldLayoutId id="2147484307" r:id="rId4"/>
    <p:sldLayoutId id="2147484308" r:id="rId5"/>
    <p:sldLayoutId id="2147484309" r:id="rId6"/>
    <p:sldLayoutId id="2147484310" r:id="rId7"/>
    <p:sldLayoutId id="2147484311" r:id="rId8"/>
    <p:sldLayoutId id="2147484312" r:id="rId9"/>
    <p:sldLayoutId id="2147484313" r:id="rId10"/>
    <p:sldLayoutId id="2147484314" r:id="rId11"/>
    <p:sldLayoutId id="2147484315" r:id="rId12"/>
    <p:sldLayoutId id="2147484316" r:id="rId13"/>
    <p:sldLayoutId id="2147484317" r:id="rId14"/>
    <p:sldLayoutId id="2147484318" r:id="rId15"/>
    <p:sldLayoutId id="2147484319" r:id="rId16"/>
    <p:sldLayoutId id="2147484320" r:id="rId17"/>
    <p:sldLayoutId id="2147484321" r:id="rId18"/>
    <p:sldLayoutId id="2147484322" r:id="rId19"/>
    <p:sldLayoutId id="2147484323" r:id="rId20"/>
    <p:sldLayoutId id="2147484324" r:id="rId21"/>
    <p:sldLayoutId id="2147484325" r:id="rId22"/>
    <p:sldLayoutId id="2147484326" r:id="rId23"/>
    <p:sldLayoutId id="2147484327" r:id="rId24"/>
    <p:sldLayoutId id="2147484328" r:id="rId25"/>
    <p:sldLayoutId id="2147484329" r:id="rId26"/>
    <p:sldLayoutId id="2147484330" r:id="rId27"/>
    <p:sldLayoutId id="2147484331" r:id="rId28"/>
    <p:sldLayoutId id="2147484332" r:id="rId29"/>
    <p:sldLayoutId id="2147484333" r:id="rId30"/>
    <p:sldLayoutId id="2147484334" r:id="rId31"/>
    <p:sldLayoutId id="2147484335" r:id="rId32"/>
    <p:sldLayoutId id="2147484336" r:id="rId33"/>
    <p:sldLayoutId id="2147484337" r:id="rId34"/>
    <p:sldLayoutId id="2147484338" r:id="rId35"/>
    <p:sldLayoutId id="2147484339" r:id="rId36"/>
    <p:sldLayoutId id="2147484340" r:id="rId37"/>
    <p:sldLayoutId id="2147484341" r:id="rId38"/>
    <p:sldLayoutId id="2147484342" r:id="rId39"/>
    <p:sldLayoutId id="2147484343" r:id="rId40"/>
    <p:sldLayoutId id="2147484344" r:id="rId41"/>
    <p:sldLayoutId id="2147484985" r:id="rId42"/>
    <p:sldLayoutId id="2147484986" r:id="rId43"/>
    <p:sldLayoutId id="2147484987" r:id="rId44"/>
    <p:sldLayoutId id="2147484988" r:id="rId45"/>
    <p:sldLayoutId id="2147484989" r:id="rId46"/>
  </p:sldLayoutIdLst>
  <p:transition>
    <p:fade/>
  </p:transition>
  <p:hf hdr="0" ft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4"/>
            </p:custDataLst>
            <p:extLst>
              <p:ext uri="{D42A27DB-BD31-4B8C-83A1-F6EECF244321}">
                <p14:modId xmlns:p14="http://schemas.microsoft.com/office/powerpoint/2010/main" val="25602112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96" imgW="270" imgH="270" progId="TCLayout.ActiveDocument.1">
                  <p:embed/>
                </p:oleObj>
              </mc:Choice>
              <mc:Fallback>
                <p:oleObj name="think-cell Slide" r:id="rId96" imgW="270" imgH="270" progId="TCLayout.ActiveDocument.1">
                  <p:embed/>
                  <p:pic>
                    <p:nvPicPr>
                      <p:cNvPr id="4" name="Object 3" hidden="1"/>
                      <p:cNvPicPr/>
                      <p:nvPr/>
                    </p:nvPicPr>
                    <p:blipFill>
                      <a:blip r:embed="rId97"/>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[Put deliverable name]</a:t>
            </a:r>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2020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a:t>
            </a:r>
            <a:r>
              <a:rPr lang="fr-FR" sz="900" noProof="0" dirty="0" err="1">
                <a:solidFill>
                  <a:schemeClr val="tx1"/>
                </a:solidFill>
                <a:latin typeface="Calibri" panose="020F0502020204030204" pitchFamily="34" charset="0"/>
                <a:cs typeface="Calibri" panose="020F0502020204030204" pitchFamily="34" charset="0"/>
              </a:rPr>
              <a:t>India</a:t>
            </a:r>
            <a:r>
              <a:rPr lang="fr-FR" sz="900" noProof="0" dirty="0">
                <a:solidFill>
                  <a:schemeClr val="tx1"/>
                </a:solidFill>
                <a:latin typeface="Calibri" panose="020F0502020204030204" pitchFamily="34" charset="0"/>
                <a:cs typeface="Calibri" panose="020F0502020204030204" pitchFamily="34" charset="0"/>
              </a:rPr>
              <a:t>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Rectangle 2">
            <a:extLst>
              <a:ext uri="{FF2B5EF4-FFF2-40B4-BE49-F238E27FC236}">
                <a16:creationId xmlns:a16="http://schemas.microsoft.com/office/drawing/2014/main" id="{C69DBDC7-DF0D-40FE-8DE0-1C33F8DF42EC}"/>
              </a:ext>
            </a:extLst>
          </p:cNvPr>
          <p:cNvSpPr/>
          <p:nvPr/>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
        <p:nvSpPr>
          <p:cNvPr id="8" name="Rectangle 7" hidden="1">
            <a:extLst>
              <a:ext uri="{FF2B5EF4-FFF2-40B4-BE49-F238E27FC236}">
                <a16:creationId xmlns:a16="http://schemas.microsoft.com/office/drawing/2014/main" id="{A6CE6B83-4079-49DB-8365-10A4A52AD9C5}"/>
              </a:ext>
            </a:extLst>
          </p:cNvPr>
          <p:cNvSpPr/>
          <p:nvPr userDrawn="1">
            <p:custDataLst>
              <p:tags r:id="rId95"/>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Box 8">
            <a:extLst>
              <a:ext uri="{FF2B5EF4-FFF2-40B4-BE49-F238E27FC236}">
                <a16:creationId xmlns:a16="http://schemas.microsoft.com/office/drawing/2014/main" id="{CA348FB2-B3BC-42AD-BB5B-EF819A32AC2D}"/>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0" name="TextBox 9">
            <a:extLst>
              <a:ext uri="{FF2B5EF4-FFF2-40B4-BE49-F238E27FC236}">
                <a16:creationId xmlns:a16="http://schemas.microsoft.com/office/drawing/2014/main" id="{AFFAF1E6-2DC2-4C5F-BED9-82722A4F6D8D}"/>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4283044937"/>
      </p:ext>
    </p:extLst>
  </p:cSld>
  <p:clrMap bg1="lt1" tx1="dk1" bg2="lt2" tx2="dk2" accent1="accent1" accent2="accent2" accent3="accent3" accent4="accent4" accent5="accent5" accent6="accent6" hlink="hlink" folHlink="folHlink"/>
  <p:sldLayoutIdLst>
    <p:sldLayoutId id="2147484388" r:id="rId1"/>
    <p:sldLayoutId id="2147484389" r:id="rId2"/>
    <p:sldLayoutId id="2147484390" r:id="rId3"/>
    <p:sldLayoutId id="2147484391" r:id="rId4"/>
    <p:sldLayoutId id="2147484392" r:id="rId5"/>
    <p:sldLayoutId id="2147484393" r:id="rId6"/>
    <p:sldLayoutId id="2147484394" r:id="rId7"/>
    <p:sldLayoutId id="2147484395" r:id="rId8"/>
    <p:sldLayoutId id="2147484396" r:id="rId9"/>
    <p:sldLayoutId id="2147484397" r:id="rId10"/>
    <p:sldLayoutId id="2147484398" r:id="rId11"/>
    <p:sldLayoutId id="2147484399" r:id="rId12"/>
    <p:sldLayoutId id="2147484400" r:id="rId13"/>
    <p:sldLayoutId id="2147484401" r:id="rId14"/>
    <p:sldLayoutId id="2147484402" r:id="rId15"/>
    <p:sldLayoutId id="2147484403" r:id="rId16"/>
    <p:sldLayoutId id="2147484404" r:id="rId17"/>
    <p:sldLayoutId id="2147484405" r:id="rId18"/>
    <p:sldLayoutId id="2147484406" r:id="rId19"/>
    <p:sldLayoutId id="2147484407" r:id="rId20"/>
    <p:sldLayoutId id="2147484408" r:id="rId21"/>
    <p:sldLayoutId id="2147484409" r:id="rId22"/>
    <p:sldLayoutId id="2147484410" r:id="rId23"/>
    <p:sldLayoutId id="2147484411" r:id="rId24"/>
    <p:sldLayoutId id="2147484412" r:id="rId25"/>
    <p:sldLayoutId id="2147484413" r:id="rId26"/>
    <p:sldLayoutId id="2147484414" r:id="rId27"/>
    <p:sldLayoutId id="2147484415" r:id="rId28"/>
    <p:sldLayoutId id="2147484416" r:id="rId29"/>
    <p:sldLayoutId id="2147484417" r:id="rId30"/>
    <p:sldLayoutId id="2147484418" r:id="rId31"/>
    <p:sldLayoutId id="2147484419" r:id="rId32"/>
    <p:sldLayoutId id="2147484420" r:id="rId33"/>
    <p:sldLayoutId id="2147484421" r:id="rId34"/>
    <p:sldLayoutId id="2147484422" r:id="rId35"/>
    <p:sldLayoutId id="2147484423" r:id="rId36"/>
    <p:sldLayoutId id="2147484424" r:id="rId37"/>
    <p:sldLayoutId id="2147484425" r:id="rId38"/>
    <p:sldLayoutId id="2147484426" r:id="rId39"/>
    <p:sldLayoutId id="2147484427" r:id="rId40"/>
    <p:sldLayoutId id="2147484428" r:id="rId41"/>
    <p:sldLayoutId id="2147484429" r:id="rId42"/>
    <p:sldLayoutId id="2147484430" r:id="rId43"/>
    <p:sldLayoutId id="2147484431" r:id="rId44"/>
    <p:sldLayoutId id="2147484432" r:id="rId45"/>
    <p:sldLayoutId id="2147484433" r:id="rId46"/>
    <p:sldLayoutId id="2147484434" r:id="rId47"/>
    <p:sldLayoutId id="2147484435" r:id="rId48"/>
    <p:sldLayoutId id="2147484436" r:id="rId49"/>
    <p:sldLayoutId id="2147484437" r:id="rId50"/>
    <p:sldLayoutId id="2147484438" r:id="rId51"/>
    <p:sldLayoutId id="2147484439" r:id="rId52"/>
    <p:sldLayoutId id="2147484440" r:id="rId53"/>
    <p:sldLayoutId id="2147484441" r:id="rId54"/>
    <p:sldLayoutId id="2147484442" r:id="rId55"/>
    <p:sldLayoutId id="2147484443" r:id="rId56"/>
    <p:sldLayoutId id="2147484444" r:id="rId57"/>
    <p:sldLayoutId id="2147484445" r:id="rId58"/>
    <p:sldLayoutId id="2147484446" r:id="rId59"/>
    <p:sldLayoutId id="2147484447" r:id="rId60"/>
    <p:sldLayoutId id="2147484448" r:id="rId61"/>
    <p:sldLayoutId id="2147484449" r:id="rId62"/>
    <p:sldLayoutId id="2147484450" r:id="rId63"/>
    <p:sldLayoutId id="2147484451" r:id="rId64"/>
    <p:sldLayoutId id="2147484452" r:id="rId65"/>
    <p:sldLayoutId id="2147484453" r:id="rId66"/>
    <p:sldLayoutId id="2147484454" r:id="rId67"/>
    <p:sldLayoutId id="2147484455" r:id="rId68"/>
    <p:sldLayoutId id="2147484456" r:id="rId69"/>
    <p:sldLayoutId id="2147484457" r:id="rId70"/>
    <p:sldLayoutId id="2147484458" r:id="rId71"/>
    <p:sldLayoutId id="2147484459" r:id="rId72"/>
    <p:sldLayoutId id="2147484460" r:id="rId73"/>
    <p:sldLayoutId id="2147484461" r:id="rId74"/>
    <p:sldLayoutId id="2147484462" r:id="rId75"/>
    <p:sldLayoutId id="2147484463" r:id="rId76"/>
    <p:sldLayoutId id="2147484464" r:id="rId77"/>
    <p:sldLayoutId id="2147484465" r:id="rId78"/>
    <p:sldLayoutId id="2147484466" r:id="rId79"/>
    <p:sldLayoutId id="2147484467" r:id="rId80"/>
    <p:sldLayoutId id="2147484468" r:id="rId81"/>
    <p:sldLayoutId id="2147484469" r:id="rId82"/>
    <p:sldLayoutId id="2147484470" r:id="rId83"/>
    <p:sldLayoutId id="2147484471" r:id="rId84"/>
    <p:sldLayoutId id="2147484472" r:id="rId85"/>
    <p:sldLayoutId id="2147484473" r:id="rId86"/>
    <p:sldLayoutId id="2147484474" r:id="rId87"/>
    <p:sldLayoutId id="2147484475" r:id="rId88"/>
    <p:sldLayoutId id="2147484476" r:id="rId89"/>
    <p:sldLayoutId id="2147484477" r:id="rId90"/>
    <p:sldLayoutId id="2147484478" r:id="rId91"/>
    <p:sldLayoutId id="2147484479" r:id="rId92"/>
  </p:sldLayoutIdLst>
  <p:transition>
    <p:fade/>
  </p:transition>
  <p:hf hdr="0" ft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5"/>
            </p:custDataLst>
            <p:extLst>
              <p:ext uri="{D42A27DB-BD31-4B8C-83A1-F6EECF244321}">
                <p14:modId xmlns:p14="http://schemas.microsoft.com/office/powerpoint/2010/main" val="392705574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97" imgW="270" imgH="270" progId="TCLayout.ActiveDocument.1">
                  <p:embed/>
                </p:oleObj>
              </mc:Choice>
              <mc:Fallback>
                <p:oleObj name="think-cell Slide" r:id="rId97" imgW="270" imgH="270" progId="TCLayout.ActiveDocument.1">
                  <p:embed/>
                  <p:pic>
                    <p:nvPicPr>
                      <p:cNvPr id="4" name="Object 3" hidden="1"/>
                      <p:cNvPicPr/>
                      <p:nvPr/>
                    </p:nvPicPr>
                    <p:blipFill>
                      <a:blip r:embed="rId98"/>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Rectangle 7" hidden="1">
            <a:extLst>
              <a:ext uri="{FF2B5EF4-FFF2-40B4-BE49-F238E27FC236}">
                <a16:creationId xmlns:a16="http://schemas.microsoft.com/office/drawing/2014/main" id="{2066BE3A-5F33-429F-987A-C35D6B8274D7}"/>
              </a:ext>
            </a:extLst>
          </p:cNvPr>
          <p:cNvSpPr/>
          <p:nvPr userDrawn="1">
            <p:custDataLst>
              <p:tags r:id="rId9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Box 8">
            <a:extLst>
              <a:ext uri="{FF2B5EF4-FFF2-40B4-BE49-F238E27FC236}">
                <a16:creationId xmlns:a16="http://schemas.microsoft.com/office/drawing/2014/main" id="{E08C8A40-09E2-4C95-BCFB-B39D61B6D646}"/>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0" name="TextBox 9">
            <a:extLst>
              <a:ext uri="{FF2B5EF4-FFF2-40B4-BE49-F238E27FC236}">
                <a16:creationId xmlns:a16="http://schemas.microsoft.com/office/drawing/2014/main" id="{F8ACF70C-BDDB-4422-AF18-EE683870CC90}"/>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167706759"/>
      </p:ext>
    </p:extLst>
  </p:cSld>
  <p:clrMap bg1="lt1" tx1="dk1" bg2="lt2" tx2="dk2" accent1="accent1" accent2="accent2" accent3="accent3" accent4="accent4" accent5="accent5" accent6="accent6" hlink="hlink" folHlink="folHlink"/>
  <p:sldLayoutIdLst>
    <p:sldLayoutId id="2147484667" r:id="rId1"/>
    <p:sldLayoutId id="2147484668" r:id="rId2"/>
    <p:sldLayoutId id="2147484669" r:id="rId3"/>
    <p:sldLayoutId id="2147484670" r:id="rId4"/>
    <p:sldLayoutId id="2147484671" r:id="rId5"/>
    <p:sldLayoutId id="2147484672" r:id="rId6"/>
    <p:sldLayoutId id="2147484673" r:id="rId7"/>
    <p:sldLayoutId id="2147484674" r:id="rId8"/>
    <p:sldLayoutId id="2147484675" r:id="rId9"/>
    <p:sldLayoutId id="2147484676" r:id="rId10"/>
    <p:sldLayoutId id="2147484677" r:id="rId11"/>
    <p:sldLayoutId id="2147484678" r:id="rId12"/>
    <p:sldLayoutId id="2147484679" r:id="rId13"/>
    <p:sldLayoutId id="2147484680" r:id="rId14"/>
    <p:sldLayoutId id="2147484681" r:id="rId15"/>
    <p:sldLayoutId id="2147484682" r:id="rId16"/>
    <p:sldLayoutId id="2147484683" r:id="rId17"/>
    <p:sldLayoutId id="2147484684" r:id="rId18"/>
    <p:sldLayoutId id="2147484685" r:id="rId19"/>
    <p:sldLayoutId id="2147484686" r:id="rId20"/>
    <p:sldLayoutId id="2147484687" r:id="rId21"/>
    <p:sldLayoutId id="2147484688" r:id="rId22"/>
    <p:sldLayoutId id="2147484689" r:id="rId23"/>
    <p:sldLayoutId id="2147484690" r:id="rId24"/>
    <p:sldLayoutId id="2147484691" r:id="rId25"/>
    <p:sldLayoutId id="2147484692" r:id="rId26"/>
    <p:sldLayoutId id="2147484693" r:id="rId27"/>
    <p:sldLayoutId id="2147484694" r:id="rId28"/>
    <p:sldLayoutId id="2147484695" r:id="rId29"/>
    <p:sldLayoutId id="2147484696" r:id="rId30"/>
    <p:sldLayoutId id="2147484697" r:id="rId31"/>
    <p:sldLayoutId id="2147484698" r:id="rId32"/>
    <p:sldLayoutId id="2147484699" r:id="rId33"/>
    <p:sldLayoutId id="2147484700" r:id="rId34"/>
    <p:sldLayoutId id="2147484701" r:id="rId35"/>
    <p:sldLayoutId id="2147484702" r:id="rId36"/>
    <p:sldLayoutId id="2147484703" r:id="rId37"/>
    <p:sldLayoutId id="2147484704" r:id="rId38"/>
    <p:sldLayoutId id="2147484705" r:id="rId39"/>
    <p:sldLayoutId id="2147484706" r:id="rId40"/>
    <p:sldLayoutId id="2147484707" r:id="rId41"/>
    <p:sldLayoutId id="2147484708" r:id="rId42"/>
    <p:sldLayoutId id="2147484709" r:id="rId43"/>
    <p:sldLayoutId id="2147484710" r:id="rId44"/>
    <p:sldLayoutId id="2147484711" r:id="rId45"/>
    <p:sldLayoutId id="2147484712" r:id="rId46"/>
    <p:sldLayoutId id="2147484713" r:id="rId47"/>
    <p:sldLayoutId id="2147484714" r:id="rId48"/>
    <p:sldLayoutId id="2147484715" r:id="rId49"/>
    <p:sldLayoutId id="2147484716" r:id="rId50"/>
    <p:sldLayoutId id="2147484717" r:id="rId51"/>
    <p:sldLayoutId id="2147484718" r:id="rId52"/>
    <p:sldLayoutId id="2147484719" r:id="rId53"/>
    <p:sldLayoutId id="2147484720" r:id="rId54"/>
    <p:sldLayoutId id="2147484722" r:id="rId55"/>
    <p:sldLayoutId id="2147484723" r:id="rId56"/>
    <p:sldLayoutId id="2147484724" r:id="rId57"/>
    <p:sldLayoutId id="2147484725" r:id="rId58"/>
    <p:sldLayoutId id="2147484726" r:id="rId59"/>
    <p:sldLayoutId id="2147484727" r:id="rId60"/>
    <p:sldLayoutId id="2147484728" r:id="rId61"/>
    <p:sldLayoutId id="2147484729" r:id="rId62"/>
    <p:sldLayoutId id="2147484730" r:id="rId63"/>
    <p:sldLayoutId id="2147484731" r:id="rId64"/>
    <p:sldLayoutId id="2147484732" r:id="rId65"/>
    <p:sldLayoutId id="2147484733" r:id="rId66"/>
    <p:sldLayoutId id="2147484734" r:id="rId67"/>
    <p:sldLayoutId id="2147484735" r:id="rId68"/>
    <p:sldLayoutId id="2147484736" r:id="rId69"/>
    <p:sldLayoutId id="2147484737" r:id="rId70"/>
    <p:sldLayoutId id="2147484738" r:id="rId71"/>
    <p:sldLayoutId id="2147484739" r:id="rId72"/>
    <p:sldLayoutId id="2147484740" r:id="rId73"/>
    <p:sldLayoutId id="2147484741" r:id="rId74"/>
    <p:sldLayoutId id="2147484742" r:id="rId75"/>
    <p:sldLayoutId id="2147484743" r:id="rId76"/>
    <p:sldLayoutId id="2147484744" r:id="rId77"/>
    <p:sldLayoutId id="2147484745" r:id="rId78"/>
    <p:sldLayoutId id="2147484746" r:id="rId79"/>
    <p:sldLayoutId id="2147484747" r:id="rId80"/>
    <p:sldLayoutId id="2147484748" r:id="rId81"/>
    <p:sldLayoutId id="2147484749" r:id="rId82"/>
    <p:sldLayoutId id="2147484750" r:id="rId83"/>
    <p:sldLayoutId id="2147484751" r:id="rId84"/>
    <p:sldLayoutId id="2147484752" r:id="rId85"/>
    <p:sldLayoutId id="2147484753" r:id="rId86"/>
    <p:sldLayoutId id="2147484754" r:id="rId87"/>
    <p:sldLayoutId id="2147484755" r:id="rId88"/>
    <p:sldLayoutId id="2147484756" r:id="rId89"/>
    <p:sldLayoutId id="2147484757" r:id="rId90"/>
    <p:sldLayoutId id="2147484759" r:id="rId91"/>
    <p:sldLayoutId id="2147484981" r:id="rId92"/>
    <p:sldLayoutId id="2147484984" r:id="rId93"/>
  </p:sldLayoutIdLst>
  <p:transition>
    <p:fade/>
  </p:transition>
  <p:hf hdr="0" ft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712895752"/>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847316188"/>
      </p:ext>
    </p:extLst>
  </p:cSld>
  <p:clrMap bg1="lt1" tx1="dk1" bg2="lt2" tx2="dk2" accent1="accent1" accent2="accent2" accent3="accent3" accent4="accent4" accent5="accent5" accent6="accent6" hlink="hlink" folHlink="folHlink"/>
  <p:sldLayoutIdLst>
    <p:sldLayoutId id="2147484940" r:id="rId1"/>
    <p:sldLayoutId id="2147484941" r:id="rId2"/>
    <p:sldLayoutId id="2147484942" r:id="rId3"/>
    <p:sldLayoutId id="2147484943" r:id="rId4"/>
    <p:sldLayoutId id="2147484944" r:id="rId5"/>
    <p:sldLayoutId id="2147484945" r:id="rId6"/>
    <p:sldLayoutId id="2147484946" r:id="rId7"/>
    <p:sldLayoutId id="2147484947" r:id="rId8"/>
    <p:sldLayoutId id="2147484948" r:id="rId9"/>
    <p:sldLayoutId id="2147484949" r:id="rId10"/>
    <p:sldLayoutId id="2147484950" r:id="rId11"/>
    <p:sldLayoutId id="2147484951" r:id="rId12"/>
    <p:sldLayoutId id="2147484952" r:id="rId13"/>
    <p:sldLayoutId id="2147484953" r:id="rId14"/>
    <p:sldLayoutId id="2147484954" r:id="rId15"/>
    <p:sldLayoutId id="2147484955" r:id="rId16"/>
    <p:sldLayoutId id="2147484956" r:id="rId17"/>
    <p:sldLayoutId id="2147484957" r:id="rId18"/>
    <p:sldLayoutId id="2147484958" r:id="rId19"/>
    <p:sldLayoutId id="2147484959" r:id="rId20"/>
    <p:sldLayoutId id="2147484960" r:id="rId21"/>
    <p:sldLayoutId id="2147484961" r:id="rId22"/>
    <p:sldLayoutId id="2147484962" r:id="rId23"/>
    <p:sldLayoutId id="2147484963" r:id="rId24"/>
    <p:sldLayoutId id="2147484964" r:id="rId25"/>
    <p:sldLayoutId id="2147484965" r:id="rId26"/>
    <p:sldLayoutId id="2147484966" r:id="rId27"/>
    <p:sldLayoutId id="2147484967" r:id="rId28"/>
    <p:sldLayoutId id="2147484968" r:id="rId29"/>
    <p:sldLayoutId id="2147484969" r:id="rId30"/>
    <p:sldLayoutId id="2147484970" r:id="rId31"/>
    <p:sldLayoutId id="2147484971" r:id="rId32"/>
    <p:sldLayoutId id="2147484972" r:id="rId33"/>
    <p:sldLayoutId id="2147484973" r:id="rId34"/>
    <p:sldLayoutId id="2147484974" r:id="rId35"/>
    <p:sldLayoutId id="2147484975" r:id="rId36"/>
    <p:sldLayoutId id="2147484976" r:id="rId37"/>
    <p:sldLayoutId id="2147484977" r:id="rId38"/>
    <p:sldLayoutId id="2147484978" r:id="rId39"/>
    <p:sldLayoutId id="2147484979" r:id="rId40"/>
    <p:sldLayoutId id="2147484980" r:id="rId41"/>
    <p:sldLayoutId id="2147484982" r:id="rId42"/>
    <p:sldLayoutId id="2147485034" r:id="rId43"/>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2" y="6477004"/>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2021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477001"/>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1410988151"/>
      </p:ext>
    </p:extLst>
  </p:cSld>
  <p:clrMap bg1="lt1" tx1="dk1" bg2="lt2" tx2="dk2" accent1="accent1" accent2="accent2" accent3="accent3" accent4="accent4" accent5="accent5" accent6="accent6" hlink="hlink" folHlink="folHlink"/>
  <p:sldLayoutIdLst>
    <p:sldLayoutId id="2147484991" r:id="rId1"/>
    <p:sldLayoutId id="2147484992" r:id="rId2"/>
    <p:sldLayoutId id="2147484993" r:id="rId3"/>
    <p:sldLayoutId id="2147484994" r:id="rId4"/>
    <p:sldLayoutId id="2147484995" r:id="rId5"/>
    <p:sldLayoutId id="2147484996" r:id="rId6"/>
    <p:sldLayoutId id="2147484997" r:id="rId7"/>
    <p:sldLayoutId id="2147484998" r:id="rId8"/>
    <p:sldLayoutId id="2147484999" r:id="rId9"/>
    <p:sldLayoutId id="2147485000" r:id="rId10"/>
    <p:sldLayoutId id="2147485001" r:id="rId11"/>
    <p:sldLayoutId id="2147485002" r:id="rId12"/>
    <p:sldLayoutId id="2147485003" r:id="rId13"/>
    <p:sldLayoutId id="2147485004" r:id="rId14"/>
    <p:sldLayoutId id="2147485005" r:id="rId15"/>
    <p:sldLayoutId id="2147485006" r:id="rId16"/>
    <p:sldLayoutId id="2147485007" r:id="rId17"/>
    <p:sldLayoutId id="2147485008" r:id="rId18"/>
    <p:sldLayoutId id="2147485009" r:id="rId19"/>
    <p:sldLayoutId id="2147485010" r:id="rId20"/>
    <p:sldLayoutId id="2147485011" r:id="rId21"/>
    <p:sldLayoutId id="2147485012" r:id="rId22"/>
    <p:sldLayoutId id="2147485013" r:id="rId23"/>
    <p:sldLayoutId id="2147485014" r:id="rId24"/>
    <p:sldLayoutId id="2147485015" r:id="rId25"/>
    <p:sldLayoutId id="2147485016" r:id="rId26"/>
    <p:sldLayoutId id="2147485017" r:id="rId27"/>
    <p:sldLayoutId id="2147485018" r:id="rId28"/>
    <p:sldLayoutId id="2147485019" r:id="rId29"/>
    <p:sldLayoutId id="2147485020" r:id="rId30"/>
    <p:sldLayoutId id="2147485021" r:id="rId31"/>
    <p:sldLayoutId id="2147485022" r:id="rId32"/>
    <p:sldLayoutId id="2147485023" r:id="rId33"/>
    <p:sldLayoutId id="2147485024" r:id="rId34"/>
    <p:sldLayoutId id="2147485025" r:id="rId35"/>
    <p:sldLayoutId id="2147485026" r:id="rId36"/>
    <p:sldLayoutId id="2147485027" r:id="rId37"/>
    <p:sldLayoutId id="2147485028" r:id="rId38"/>
    <p:sldLayoutId id="2147485029" r:id="rId39"/>
    <p:sldLayoutId id="2147485030" r:id="rId40"/>
    <p:sldLayoutId id="2147485031" r:id="rId41"/>
    <p:sldLayoutId id="2147485032" r:id="rId42"/>
    <p:sldLayoutId id="2147485033" r:id="rId43"/>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10.emf"/><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oleObject" Target="../embeddings/oleObject13.bin"/><Relationship Id="rId5" Type="http://schemas.openxmlformats.org/officeDocument/2006/relationships/image" Target="../media/image9.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56.xml"/><Relationship Id="rId1" Type="http://schemas.openxmlformats.org/officeDocument/2006/relationships/tags" Target="../tags/tag28.xml"/><Relationship Id="rId5" Type="http://schemas.openxmlformats.org/officeDocument/2006/relationships/image" Target="../media/image12.emf"/><Relationship Id="rId4" Type="http://schemas.openxmlformats.org/officeDocument/2006/relationships/oleObject" Target="../embeddings/oleObject14.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slideLayout" Target="../slideLayouts/slideLayout56.xml"/><Relationship Id="rId7" Type="http://schemas.openxmlformats.org/officeDocument/2006/relationships/chart" Target="../charts/chart2.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chart" Target="../charts/chart1.xml"/><Relationship Id="rId5" Type="http://schemas.openxmlformats.org/officeDocument/2006/relationships/image" Target="../media/image10.emf"/><Relationship Id="rId10" Type="http://schemas.openxmlformats.org/officeDocument/2006/relationships/chart" Target="../charts/chart5.xml"/><Relationship Id="rId4" Type="http://schemas.openxmlformats.org/officeDocument/2006/relationships/oleObject" Target="../embeddings/oleObject15.bin"/><Relationship Id="rId9" Type="http://schemas.openxmlformats.org/officeDocument/2006/relationships/chart" Target="../charts/chart4.xml"/></Relationships>
</file>

<file path=ppt/slides/_rels/slide5.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slideLayout" Target="../slideLayouts/slideLayout56.xml"/><Relationship Id="rId7" Type="http://schemas.openxmlformats.org/officeDocument/2006/relationships/chart" Target="../charts/chart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chart" Target="../charts/chart6.xml"/><Relationship Id="rId5" Type="http://schemas.openxmlformats.org/officeDocument/2006/relationships/image" Target="../media/image10.emf"/><Relationship Id="rId10" Type="http://schemas.openxmlformats.org/officeDocument/2006/relationships/chart" Target="../charts/chart10.xml"/><Relationship Id="rId4" Type="http://schemas.openxmlformats.org/officeDocument/2006/relationships/oleObject" Target="../embeddings/oleObject16.bin"/><Relationship Id="rId9" Type="http://schemas.openxmlformats.org/officeDocument/2006/relationships/chart" Target="../charts/chart9.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3.xml"/><Relationship Id="rId7" Type="http://schemas.openxmlformats.org/officeDocument/2006/relationships/chart" Target="../charts/chart12.xml"/><Relationship Id="rId2" Type="http://schemas.openxmlformats.org/officeDocument/2006/relationships/slideLayout" Target="../slideLayouts/slideLayout403.xml"/><Relationship Id="rId1" Type="http://schemas.openxmlformats.org/officeDocument/2006/relationships/tags" Target="../tags/tag33.xml"/><Relationship Id="rId6" Type="http://schemas.openxmlformats.org/officeDocument/2006/relationships/chart" Target="../charts/chart11.xml"/><Relationship Id="rId5" Type="http://schemas.openxmlformats.org/officeDocument/2006/relationships/image" Target="../media/image12.emf"/><Relationship Id="rId4" Type="http://schemas.openxmlformats.org/officeDocument/2006/relationships/oleObject" Target="../embeddings/oleObject17.bin"/><Relationship Id="rId9" Type="http://schemas.openxmlformats.org/officeDocument/2006/relationships/chart" Target="../charts/chart13.xml"/></Relationships>
</file>

<file path=ppt/slides/_rels/slide7.xml.rels><?xml version="1.0" encoding="UTF-8" standalone="yes"?>
<Relationships xmlns="http://schemas.openxmlformats.org/package/2006/relationships"><Relationship Id="rId8" Type="http://schemas.openxmlformats.org/officeDocument/2006/relationships/chart" Target="../charts/chart14.xml"/><Relationship Id="rId3" Type="http://schemas.openxmlformats.org/officeDocument/2006/relationships/oleObject" Target="../embeddings/oleObject18.bin"/><Relationship Id="rId7" Type="http://schemas.openxmlformats.org/officeDocument/2006/relationships/image" Target="../media/image14.png"/><Relationship Id="rId2" Type="http://schemas.openxmlformats.org/officeDocument/2006/relationships/slideLayout" Target="../slideLayouts/slideLayout194.xml"/><Relationship Id="rId1" Type="http://schemas.openxmlformats.org/officeDocument/2006/relationships/tags" Target="../tags/tag34.xml"/><Relationship Id="rId5" Type="http://schemas.microsoft.com/office/2014/relationships/chartEx" Target="../charts/chartEx1.xml"/><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9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0.xml"/></Relationships>
</file>

<file path=ppt/slides/_rels/slide10.xml.rels><?xml version="1.0" encoding="UTF-8" standalone="yes"?>
<Relationships xmlns="http://schemas.openxmlformats.org/package/2006/relationships"><Relationship Id="rId3" Type="http://schemas.openxmlformats.org/officeDocument/2006/relationships/slide" Target="slide16.xml"/><Relationship Id="rId7" Type="http://schemas.openxmlformats.org/officeDocument/2006/relationships/slide" Target="slide18.xml"/><Relationship Id="rId2" Type="http://schemas.openxmlformats.org/officeDocument/2006/relationships/slide" Target="slide13.xml"/><Relationship Id="rId1" Type="http://schemas.openxmlformats.org/officeDocument/2006/relationships/slideLayout" Target="../slideLayouts/slideLayout367.xml"/><Relationship Id="rId6" Type="http://schemas.openxmlformats.org/officeDocument/2006/relationships/slide" Target="slide45.xml"/><Relationship Id="rId5" Type="http://schemas.openxmlformats.org/officeDocument/2006/relationships/slide" Target="slide38.xml"/><Relationship Id="rId4" Type="http://schemas.openxmlformats.org/officeDocument/2006/relationships/slide" Target="slide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6.xml"/><Relationship Id="rId1" Type="http://schemas.openxmlformats.org/officeDocument/2006/relationships/tags" Target="../tags/tag35.xml"/><Relationship Id="rId6" Type="http://schemas.openxmlformats.org/officeDocument/2006/relationships/slide" Target="slide10.xml"/><Relationship Id="rId5" Type="http://schemas.openxmlformats.org/officeDocument/2006/relationships/image" Target="../media/image12.emf"/><Relationship Id="rId4" Type="http://schemas.openxmlformats.org/officeDocument/2006/relationships/oleObject" Target="../embeddings/oleObject19.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56.xml"/><Relationship Id="rId1" Type="http://schemas.openxmlformats.org/officeDocument/2006/relationships/tags" Target="../tags/tag36.xml"/><Relationship Id="rId6" Type="http://schemas.openxmlformats.org/officeDocument/2006/relationships/slide" Target="slide10.xml"/><Relationship Id="rId5" Type="http://schemas.openxmlformats.org/officeDocument/2006/relationships/chart" Target="../charts/chart15.xml"/><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slide" Target="slide10.xml"/><Relationship Id="rId2" Type="http://schemas.openxmlformats.org/officeDocument/2006/relationships/slideLayout" Target="../slideLayouts/slideLayout129.xml"/><Relationship Id="rId1" Type="http://schemas.openxmlformats.org/officeDocument/2006/relationships/tags" Target="../tags/tag37.xml"/><Relationship Id="rId6" Type="http://schemas.openxmlformats.org/officeDocument/2006/relationships/chart" Target="../charts/chart16.xml"/><Relationship Id="rId5" Type="http://schemas.openxmlformats.org/officeDocument/2006/relationships/image" Target="../media/image12.emf"/><Relationship Id="rId4" Type="http://schemas.openxmlformats.org/officeDocument/2006/relationships/oleObject" Target="../embeddings/oleObject21.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9.xml"/></Relationships>
</file>

<file path=ppt/slides/_rels/slide1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129.xml"/><Relationship Id="rId5" Type="http://schemas.openxmlformats.org/officeDocument/2006/relationships/slide" Target="slide10.xml"/><Relationship Id="rId4" Type="http://schemas.openxmlformats.org/officeDocument/2006/relationships/chart" Target="../charts/chart19.xml"/></Relationships>
</file>

<file path=ppt/slides/_rels/slide19.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129.xml"/><Relationship Id="rId5" Type="http://schemas.openxmlformats.org/officeDocument/2006/relationships/slide" Target="slide10.xml"/><Relationship Id="rId4" Type="http://schemas.openxmlformats.org/officeDocument/2006/relationships/chart" Target="../charts/chart22.xml"/></Relationships>
</file>

<file path=ppt/slides/_rels/slide20.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10.xml"/><Relationship Id="rId1" Type="http://schemas.openxmlformats.org/officeDocument/2006/relationships/slideLayout" Target="../slideLayouts/slideLayout137.xml"/><Relationship Id="rId4" Type="http://schemas.openxmlformats.org/officeDocument/2006/relationships/slide" Target="slide10.xml"/></Relationships>
</file>

<file path=ppt/slides/_rels/slide21.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11.xml"/><Relationship Id="rId1" Type="http://schemas.openxmlformats.org/officeDocument/2006/relationships/slideLayout" Target="../slideLayouts/slideLayout137.xml"/><Relationship Id="rId4" Type="http://schemas.openxmlformats.org/officeDocument/2006/relationships/slide" Target="slide10.xml"/></Relationships>
</file>

<file path=ppt/slides/_rels/slide22.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12.xml"/><Relationship Id="rId1" Type="http://schemas.openxmlformats.org/officeDocument/2006/relationships/slideLayout" Target="../slideLayouts/slideLayout100.xml"/><Relationship Id="rId4" Type="http://schemas.openxmlformats.org/officeDocument/2006/relationships/slide" Target="slide10.xml"/></Relationships>
</file>

<file path=ppt/slides/_rels/slide23.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chart" Target="../charts/chart26.xml"/><Relationship Id="rId1" Type="http://schemas.openxmlformats.org/officeDocument/2006/relationships/slideLayout" Target="../slideLayouts/slideLayout12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25.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56.xml"/></Relationships>
</file>

<file path=ppt/slides/_rels/slide26.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chart" Target="../charts/chart27.xml"/><Relationship Id="rId1" Type="http://schemas.openxmlformats.org/officeDocument/2006/relationships/slideLayout" Target="../slideLayouts/slideLayout56.xml"/><Relationship Id="rId4" Type="http://schemas.openxmlformats.org/officeDocument/2006/relationships/slide" Target="slide10.xml"/></Relationships>
</file>

<file path=ppt/slides/_rels/slide27.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12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9.xml"/><Relationship Id="rId1" Type="http://schemas.openxmlformats.org/officeDocument/2006/relationships/tags" Target="../tags/tag38.xml"/><Relationship Id="rId5" Type="http://schemas.openxmlformats.org/officeDocument/2006/relationships/image" Target="../media/image12.emf"/><Relationship Id="rId4" Type="http://schemas.openxmlformats.org/officeDocument/2006/relationships/oleObject" Target="../embeddings/oleObject22.bin"/></Relationships>
</file>

<file path=ppt/slides/_rels/slide29.xml.rels><?xml version="1.0" encoding="UTF-8" standalone="yes"?>
<Relationships xmlns="http://schemas.openxmlformats.org/package/2006/relationships"><Relationship Id="rId3" Type="http://schemas.openxmlformats.org/officeDocument/2006/relationships/hyperlink" Target="https://www.deccanchronicle.com/nation/current-affairs/161119/telangana-gets-first-anti-power-theft-police-station.html" TargetMode="External"/><Relationship Id="rId7" Type="http://schemas.openxmlformats.org/officeDocument/2006/relationships/slide" Target="slide10.xml"/><Relationship Id="rId2" Type="http://schemas.openxmlformats.org/officeDocument/2006/relationships/hyperlink" Target="https://www.linkedin.com/pulse/impact-analysis-anti-power-theft-police-stations-uttar-kamal-saksena/" TargetMode="External"/><Relationship Id="rId1" Type="http://schemas.openxmlformats.org/officeDocument/2006/relationships/slideLayout" Target="../slideLayouts/slideLayout129.xml"/><Relationship Id="rId6" Type="http://schemas.openxmlformats.org/officeDocument/2006/relationships/hyperlink" Target="https://timesofindia.indiatimes.com/city/indore/madhya-pradesh-discom-set-to-have-police-station-to-check-power-theft/articleshow/80110639.cms" TargetMode="External"/><Relationship Id="rId5" Type="http://schemas.openxmlformats.org/officeDocument/2006/relationships/hyperlink" Target="https://timesofindia.indiatimes.com/city/vadodara/Gujarat-to-get-11-new-police-stations-to-curb-power-theft/articleshow/55323546.cms" TargetMode="External"/><Relationship Id="rId4" Type="http://schemas.openxmlformats.org/officeDocument/2006/relationships/hyperlink" Target="https://www.guvnl.com/vigilance.html"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9.xml"/></Relationships>
</file>

<file path=ppt/slides/_rels/slide3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138.xml"/><Relationship Id="rId4" Type="http://schemas.openxmlformats.org/officeDocument/2006/relationships/chart" Target="../charts/chart29.xml"/></Relationships>
</file>

<file path=ppt/slides/_rels/slide32.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33.xml"/><Relationship Id="rId1" Type="http://schemas.openxmlformats.org/officeDocument/2006/relationships/slideLayout" Target="../slideLayouts/slideLayout139.xml"/><Relationship Id="rId5" Type="http://schemas.openxmlformats.org/officeDocument/2006/relationships/slide" Target="slide34.xml"/><Relationship Id="rId4" Type="http://schemas.openxmlformats.org/officeDocument/2006/relationships/slide" Target="slide3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0.xml"/></Relationships>
</file>

<file path=ppt/slides/_rels/slide34.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4.xml"/><Relationship Id="rId1" Type="http://schemas.openxmlformats.org/officeDocument/2006/relationships/slideLayout" Target="../slideLayouts/slideLayout13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chart" Target="../charts/chart31.xml"/><Relationship Id="rId2" Type="http://schemas.openxmlformats.org/officeDocument/2006/relationships/slideLayout" Target="../slideLayouts/slideLayout129.xml"/><Relationship Id="rId1" Type="http://schemas.openxmlformats.org/officeDocument/2006/relationships/tags" Target="../tags/tag39.xml"/><Relationship Id="rId6" Type="http://schemas.openxmlformats.org/officeDocument/2006/relationships/chart" Target="../charts/chart30.xml"/><Relationship Id="rId5" Type="http://schemas.openxmlformats.org/officeDocument/2006/relationships/image" Target="../media/image12.emf"/><Relationship Id="rId4" Type="http://schemas.openxmlformats.org/officeDocument/2006/relationships/oleObject" Target="../embeddings/oleObject23.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9.xml"/><Relationship Id="rId1" Type="http://schemas.openxmlformats.org/officeDocument/2006/relationships/tags" Target="../tags/tag40.xml"/><Relationship Id="rId6" Type="http://schemas.openxmlformats.org/officeDocument/2006/relationships/chart" Target="../charts/chart32.xml"/><Relationship Id="rId5" Type="http://schemas.openxmlformats.org/officeDocument/2006/relationships/image" Target="../media/image12.emf"/><Relationship Id="rId4" Type="http://schemas.openxmlformats.org/officeDocument/2006/relationships/oleObject" Target="../embeddings/oleObject24.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3.xml"/></Relationships>
</file>

<file path=ppt/slides/_rels/slide38.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22.xml"/><Relationship Id="rId1" Type="http://schemas.openxmlformats.org/officeDocument/2006/relationships/slideLayout" Target="../slideLayouts/slideLayout323.xml"/><Relationship Id="rId5" Type="http://schemas.openxmlformats.org/officeDocument/2006/relationships/slide" Target="slide78.xml"/><Relationship Id="rId4" Type="http://schemas.openxmlformats.org/officeDocument/2006/relationships/chart" Target="../charts/char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9.xml"/></Relationships>
</file>

<file path=ppt/slides/_rels/slide42.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notesSlide" Target="../notesSlides/notesSlide24.xml"/><Relationship Id="rId1" Type="http://schemas.openxmlformats.org/officeDocument/2006/relationships/slideLayout" Target="../slideLayouts/slideLayout137.xml"/><Relationship Id="rId5" Type="http://schemas.openxmlformats.org/officeDocument/2006/relationships/chart" Target="../charts/chart37.xml"/><Relationship Id="rId4" Type="http://schemas.openxmlformats.org/officeDocument/2006/relationships/chart" Target="../charts/chart36.xml"/></Relationships>
</file>

<file path=ppt/slides/_rels/slide43.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notesSlide" Target="../notesSlides/notesSlide25.xml"/><Relationship Id="rId1" Type="http://schemas.openxmlformats.org/officeDocument/2006/relationships/slideLayout" Target="../slideLayouts/slideLayout137.xml"/><Relationship Id="rId5" Type="http://schemas.openxmlformats.org/officeDocument/2006/relationships/chart" Target="../charts/chart40.xml"/><Relationship Id="rId4" Type="http://schemas.openxmlformats.org/officeDocument/2006/relationships/chart" Target="../charts/chart3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3.xml"/></Relationships>
</file>

<file path=ppt/slides/_rels/slide45.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Layout" Target="../slideLayouts/slideLayout129.xml"/><Relationship Id="rId4" Type="http://schemas.openxmlformats.org/officeDocument/2006/relationships/slide" Target="slide10.xml"/></Relationships>
</file>

<file path=ppt/slides/_rels/slide46.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notesSlide" Target="../notesSlides/notesSlide27.xml"/><Relationship Id="rId1" Type="http://schemas.openxmlformats.org/officeDocument/2006/relationships/slideLayout" Target="../slideLayouts/slideLayout100.xml"/><Relationship Id="rId4" Type="http://schemas.openxmlformats.org/officeDocument/2006/relationships/slide" Target="slide10.xml"/></Relationships>
</file>

<file path=ppt/slides/_rels/slide47.xml.rels><?xml version="1.0" encoding="UTF-8" standalone="yes"?>
<Relationships xmlns="http://schemas.openxmlformats.org/package/2006/relationships"><Relationship Id="rId3" Type="http://schemas.openxmlformats.org/officeDocument/2006/relationships/chart" Target="../charts/chart44.xml"/><Relationship Id="rId2" Type="http://schemas.openxmlformats.org/officeDocument/2006/relationships/notesSlide" Target="../notesSlides/notesSlide28.xml"/><Relationship Id="rId1" Type="http://schemas.openxmlformats.org/officeDocument/2006/relationships/slideLayout" Target="../slideLayouts/slideLayout100.xml"/><Relationship Id="rId4" Type="http://schemas.openxmlformats.org/officeDocument/2006/relationships/slide" Target="slide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360.xml"/><Relationship Id="rId1" Type="http://schemas.openxmlformats.org/officeDocument/2006/relationships/tags" Target="../tags/tag41.xml"/><Relationship Id="rId5" Type="http://schemas.openxmlformats.org/officeDocument/2006/relationships/chart" Target="../charts/chart45.xml"/><Relationship Id="rId4" Type="http://schemas.openxmlformats.org/officeDocument/2006/relationships/image" Target="../media/image12.emf"/></Relationships>
</file>

<file path=ppt/slides/_rels/slide50.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notesSlide" Target="../notesSlides/notesSlide29.xml"/><Relationship Id="rId2" Type="http://schemas.openxmlformats.org/officeDocument/2006/relationships/slideLayout" Target="../slideLayouts/slideLayout360.xml"/><Relationship Id="rId1" Type="http://schemas.openxmlformats.org/officeDocument/2006/relationships/tags" Target="../tags/tag42.xml"/><Relationship Id="rId6" Type="http://schemas.microsoft.com/office/2014/relationships/chartEx" Target="../charts/chartEx2.xml"/><Relationship Id="rId5" Type="http://schemas.openxmlformats.org/officeDocument/2006/relationships/image" Target="../media/image12.emf"/><Relationship Id="rId4" Type="http://schemas.openxmlformats.org/officeDocument/2006/relationships/oleObject" Target="../embeddings/oleObject26.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25.xml"/><Relationship Id="rId1" Type="http://schemas.openxmlformats.org/officeDocument/2006/relationships/tags" Target="../tags/tag43.xml"/><Relationship Id="rId4" Type="http://schemas.openxmlformats.org/officeDocument/2006/relationships/image" Target="../media/image17.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5.xml"/></Relationships>
</file>

<file path=ppt/slides/_rels/slide54.xml.rels><?xml version="1.0" encoding="UTF-8" standalone="yes"?>
<Relationships xmlns="http://schemas.openxmlformats.org/package/2006/relationships"><Relationship Id="rId3" Type="http://schemas.openxmlformats.org/officeDocument/2006/relationships/chart" Target="../charts/chart47.xml"/><Relationship Id="rId2" Type="http://schemas.openxmlformats.org/officeDocument/2006/relationships/chart" Target="../charts/chart46.xml"/><Relationship Id="rId1" Type="http://schemas.openxmlformats.org/officeDocument/2006/relationships/slideLayout" Target="../slideLayouts/slideLayout324.xml"/><Relationship Id="rId4" Type="http://schemas.openxmlformats.org/officeDocument/2006/relationships/chart" Target="../charts/chart4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3.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56.xml"/><Relationship Id="rId1" Type="http://schemas.openxmlformats.org/officeDocument/2006/relationships/tags" Target="../tags/tag44.xml"/><Relationship Id="rId4" Type="http://schemas.openxmlformats.org/officeDocument/2006/relationships/image" Target="../media/image12.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56.xml"/><Relationship Id="rId1" Type="http://schemas.openxmlformats.org/officeDocument/2006/relationships/tags" Target="../tags/tag45.xml"/><Relationship Id="rId4" Type="http://schemas.openxmlformats.org/officeDocument/2006/relationships/image" Target="../media/image12.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56.xml"/><Relationship Id="rId1" Type="http://schemas.openxmlformats.org/officeDocument/2006/relationships/tags" Target="../tags/tag46.xml"/><Relationship Id="rId4" Type="http://schemas.openxmlformats.org/officeDocument/2006/relationships/image" Target="../media/image12.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56.xml"/><Relationship Id="rId1" Type="http://schemas.openxmlformats.org/officeDocument/2006/relationships/tags" Target="../tags/tag47.xml"/><Relationship Id="rId4" Type="http://schemas.openxmlformats.org/officeDocument/2006/relationships/image" Target="../media/image12.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56.xml"/><Relationship Id="rId1" Type="http://schemas.openxmlformats.org/officeDocument/2006/relationships/tags" Target="../tags/tag48.xml"/><Relationship Id="rId5" Type="http://schemas.openxmlformats.org/officeDocument/2006/relationships/chart" Target="../charts/chart49.xml"/><Relationship Id="rId4" Type="http://schemas.openxmlformats.org/officeDocument/2006/relationships/image" Target="../media/image12.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56.xml"/><Relationship Id="rId1" Type="http://schemas.openxmlformats.org/officeDocument/2006/relationships/tags" Target="../tags/tag49.xml"/><Relationship Id="rId5" Type="http://schemas.openxmlformats.org/officeDocument/2006/relationships/chart" Target="../charts/chart50.xml"/><Relationship Id="rId4" Type="http://schemas.openxmlformats.org/officeDocument/2006/relationships/image" Target="../media/image12.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56.xml"/><Relationship Id="rId1" Type="http://schemas.openxmlformats.org/officeDocument/2006/relationships/tags" Target="../tags/tag50.xml"/><Relationship Id="rId4" Type="http://schemas.openxmlformats.org/officeDocument/2006/relationships/image" Target="../media/image12.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56.xml"/><Relationship Id="rId1" Type="http://schemas.openxmlformats.org/officeDocument/2006/relationships/tags" Target="../tags/tag51.xml"/><Relationship Id="rId4" Type="http://schemas.openxmlformats.org/officeDocument/2006/relationships/image" Target="../media/image12.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56.xml"/><Relationship Id="rId1" Type="http://schemas.openxmlformats.org/officeDocument/2006/relationships/tags" Target="../tags/tag52.xml"/><Relationship Id="rId4" Type="http://schemas.openxmlformats.org/officeDocument/2006/relationships/image" Target="../media/image12.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56.xml"/><Relationship Id="rId1" Type="http://schemas.openxmlformats.org/officeDocument/2006/relationships/tags" Target="../tags/tag53.xml"/><Relationship Id="rId4" Type="http://schemas.openxmlformats.org/officeDocument/2006/relationships/image" Target="../media/image12.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56.xml"/><Relationship Id="rId1" Type="http://schemas.openxmlformats.org/officeDocument/2006/relationships/tags" Target="../tags/tag54.xml"/><Relationship Id="rId4" Type="http://schemas.openxmlformats.org/officeDocument/2006/relationships/image" Target="../media/image12.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56.xml"/><Relationship Id="rId1" Type="http://schemas.openxmlformats.org/officeDocument/2006/relationships/tags" Target="../tags/tag55.xml"/><Relationship Id="rId4" Type="http://schemas.openxmlformats.org/officeDocument/2006/relationships/image" Target="../media/image12.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56.xml"/><Relationship Id="rId1" Type="http://schemas.openxmlformats.org/officeDocument/2006/relationships/tags" Target="../tags/tag56.xml"/><Relationship Id="rId4" Type="http://schemas.openxmlformats.org/officeDocument/2006/relationships/image" Target="../media/image12.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56.xml"/><Relationship Id="rId1" Type="http://schemas.openxmlformats.org/officeDocument/2006/relationships/tags" Target="../tags/tag57.xml"/><Relationship Id="rId4" Type="http://schemas.openxmlformats.org/officeDocument/2006/relationships/image" Target="../media/image12.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56.xml"/><Relationship Id="rId1" Type="http://schemas.openxmlformats.org/officeDocument/2006/relationships/tags" Target="../tags/tag58.xml"/><Relationship Id="rId4" Type="http://schemas.openxmlformats.org/officeDocument/2006/relationships/image" Target="../media/image12.e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56.xml"/><Relationship Id="rId1" Type="http://schemas.openxmlformats.org/officeDocument/2006/relationships/tags" Target="../tags/tag59.xml"/><Relationship Id="rId4" Type="http://schemas.openxmlformats.org/officeDocument/2006/relationships/image" Target="../media/image12.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56.xml"/><Relationship Id="rId1" Type="http://schemas.openxmlformats.org/officeDocument/2006/relationships/tags" Target="../tags/tag60.xml"/><Relationship Id="rId4" Type="http://schemas.openxmlformats.org/officeDocument/2006/relationships/image" Target="../media/image12.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56.xml"/><Relationship Id="rId1" Type="http://schemas.openxmlformats.org/officeDocument/2006/relationships/tags" Target="../tags/tag6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2.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chart" Target="../charts/chart53.xml"/><Relationship Id="rId2" Type="http://schemas.openxmlformats.org/officeDocument/2006/relationships/slideLayout" Target="../slideLayouts/slideLayout56.xml"/><Relationship Id="rId1" Type="http://schemas.openxmlformats.org/officeDocument/2006/relationships/tags" Target="../tags/tag62.xml"/><Relationship Id="rId6" Type="http://schemas.openxmlformats.org/officeDocument/2006/relationships/chart" Target="../charts/chart52.xml"/><Relationship Id="rId5" Type="http://schemas.openxmlformats.org/officeDocument/2006/relationships/chart" Target="../charts/chart51.xml"/><Relationship Id="rId4" Type="http://schemas.openxmlformats.org/officeDocument/2006/relationships/image" Target="../media/image12.e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45.bin"/><Relationship Id="rId7" Type="http://schemas.openxmlformats.org/officeDocument/2006/relationships/chart" Target="../charts/chart56.xml"/><Relationship Id="rId2" Type="http://schemas.openxmlformats.org/officeDocument/2006/relationships/slideLayout" Target="../slideLayouts/slideLayout56.xml"/><Relationship Id="rId1" Type="http://schemas.openxmlformats.org/officeDocument/2006/relationships/tags" Target="../tags/tag63.xml"/><Relationship Id="rId6" Type="http://schemas.openxmlformats.org/officeDocument/2006/relationships/chart" Target="../charts/chart55.xml"/><Relationship Id="rId5" Type="http://schemas.openxmlformats.org/officeDocument/2006/relationships/chart" Target="../charts/chart54.xml"/><Relationship Id="rId4" Type="http://schemas.openxmlformats.org/officeDocument/2006/relationships/image" Target="../media/image12.e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46.bin"/><Relationship Id="rId7" Type="http://schemas.openxmlformats.org/officeDocument/2006/relationships/chart" Target="../charts/chart59.xml"/><Relationship Id="rId2" Type="http://schemas.openxmlformats.org/officeDocument/2006/relationships/slideLayout" Target="../slideLayouts/slideLayout56.xml"/><Relationship Id="rId1" Type="http://schemas.openxmlformats.org/officeDocument/2006/relationships/tags" Target="../tags/tag64.xml"/><Relationship Id="rId6" Type="http://schemas.openxmlformats.org/officeDocument/2006/relationships/chart" Target="../charts/chart58.xml"/><Relationship Id="rId5" Type="http://schemas.openxmlformats.org/officeDocument/2006/relationships/chart" Target="../charts/chart57.xml"/><Relationship Id="rId4" Type="http://schemas.openxmlformats.org/officeDocument/2006/relationships/image" Target="../media/image12.e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47.bin"/><Relationship Id="rId7" Type="http://schemas.openxmlformats.org/officeDocument/2006/relationships/chart" Target="../charts/chart62.xml"/><Relationship Id="rId2" Type="http://schemas.openxmlformats.org/officeDocument/2006/relationships/slideLayout" Target="../slideLayouts/slideLayout56.xml"/><Relationship Id="rId1" Type="http://schemas.openxmlformats.org/officeDocument/2006/relationships/tags" Target="../tags/tag65.xml"/><Relationship Id="rId6" Type="http://schemas.openxmlformats.org/officeDocument/2006/relationships/chart" Target="../charts/chart61.xml"/><Relationship Id="rId5" Type="http://schemas.openxmlformats.org/officeDocument/2006/relationships/chart" Target="../charts/chart60.xml"/><Relationship Id="rId4" Type="http://schemas.openxmlformats.org/officeDocument/2006/relationships/image" Target="../media/image12.e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56.xml"/><Relationship Id="rId1" Type="http://schemas.openxmlformats.org/officeDocument/2006/relationships/tags" Target="../tags/tag66.xml"/><Relationship Id="rId5" Type="http://schemas.openxmlformats.org/officeDocument/2006/relationships/chart" Target="../charts/chart63.xml"/><Relationship Id="rId4" Type="http://schemas.openxmlformats.org/officeDocument/2006/relationships/image" Target="../media/image12.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56.xml"/><Relationship Id="rId1" Type="http://schemas.openxmlformats.org/officeDocument/2006/relationships/tags" Target="../tags/tag67.xml"/><Relationship Id="rId5" Type="http://schemas.openxmlformats.org/officeDocument/2006/relationships/chart" Target="../charts/chart64.xml"/><Relationship Id="rId4" Type="http://schemas.openxmlformats.org/officeDocument/2006/relationships/image" Target="../media/image12.e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56.xml"/><Relationship Id="rId1" Type="http://schemas.openxmlformats.org/officeDocument/2006/relationships/tags" Target="../tags/tag68.xml"/><Relationship Id="rId5" Type="http://schemas.openxmlformats.org/officeDocument/2006/relationships/chart" Target="../charts/chart65.xml"/><Relationship Id="rId4" Type="http://schemas.openxmlformats.org/officeDocument/2006/relationships/image" Target="../media/image12.emf"/></Relationships>
</file>

<file path=ppt/slides/_rels/slide87.xml.rels><?xml version="1.0" encoding="UTF-8" standalone="yes"?>
<Relationships xmlns="http://schemas.openxmlformats.org/package/2006/relationships"><Relationship Id="rId3" Type="http://schemas.openxmlformats.org/officeDocument/2006/relationships/chart" Target="../charts/chart66.xml"/><Relationship Id="rId2" Type="http://schemas.openxmlformats.org/officeDocument/2006/relationships/notesSlide" Target="../notesSlides/notesSlide35.xml"/><Relationship Id="rId1" Type="http://schemas.openxmlformats.org/officeDocument/2006/relationships/slideLayout" Target="../slideLayouts/slideLayout61.xml"/></Relationships>
</file>

<file path=ppt/slides/_rels/slide88.xml.rels><?xml version="1.0" encoding="UTF-8" standalone="yes"?>
<Relationships xmlns="http://schemas.openxmlformats.org/package/2006/relationships"><Relationship Id="rId3" Type="http://schemas.openxmlformats.org/officeDocument/2006/relationships/chart" Target="../charts/chart67.xml"/><Relationship Id="rId2" Type="http://schemas.openxmlformats.org/officeDocument/2006/relationships/notesSlide" Target="../notesSlides/notesSlide36.xml"/><Relationship Id="rId1" Type="http://schemas.openxmlformats.org/officeDocument/2006/relationships/slideLayout" Target="../slideLayouts/slideLayout6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1.xml"/></Relationships>
</file>

<file path=ppt/slides/_rels/slide90.xml.rels><?xml version="1.0" encoding="UTF-8" standalone="yes"?>
<Relationships xmlns="http://schemas.openxmlformats.org/package/2006/relationships"><Relationship Id="rId3" Type="http://schemas.openxmlformats.org/officeDocument/2006/relationships/chart" Target="../charts/chart68.xml"/><Relationship Id="rId2" Type="http://schemas.openxmlformats.org/officeDocument/2006/relationships/image" Target="../media/image21.png"/><Relationship Id="rId1" Type="http://schemas.openxmlformats.org/officeDocument/2006/relationships/slideLayout" Target="../slideLayouts/slideLayout129.xml"/><Relationship Id="rId6" Type="http://schemas.openxmlformats.org/officeDocument/2006/relationships/chart" Target="../charts/chart69.xml"/><Relationship Id="rId5" Type="http://schemas.openxmlformats.org/officeDocument/2006/relationships/hyperlink" Target="https://www.guvnl.com/vigilance.html" TargetMode="External"/><Relationship Id="rId4" Type="http://schemas.openxmlformats.org/officeDocument/2006/relationships/hyperlink" Target="https://www.linkedin.com/pulse/impact-analysis-anti-power-theft-police-stations-uttar-kamal-saksena/" TargetMode="Externa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29.xml"/><Relationship Id="rId1" Type="http://schemas.openxmlformats.org/officeDocument/2006/relationships/tags" Target="../tags/tag69.xml"/><Relationship Id="rId4" Type="http://schemas.openxmlformats.org/officeDocument/2006/relationships/image" Target="../media/image12.emf"/></Relationships>
</file>

<file path=ppt/slides/_rels/slide92.xml.rels><?xml version="1.0" encoding="UTF-8" standalone="yes"?>
<Relationships xmlns="http://schemas.openxmlformats.org/package/2006/relationships"><Relationship Id="rId3" Type="http://schemas.openxmlformats.org/officeDocument/2006/relationships/chart" Target="../charts/chart71.xml"/><Relationship Id="rId7" Type="http://schemas.openxmlformats.org/officeDocument/2006/relationships/chart" Target="../charts/chart75.xml"/><Relationship Id="rId2" Type="http://schemas.openxmlformats.org/officeDocument/2006/relationships/chart" Target="../charts/chart70.xml"/><Relationship Id="rId1" Type="http://schemas.openxmlformats.org/officeDocument/2006/relationships/slideLayout" Target="../slideLayouts/slideLayout136.xml"/><Relationship Id="rId6" Type="http://schemas.openxmlformats.org/officeDocument/2006/relationships/chart" Target="../charts/chart74.xml"/><Relationship Id="rId5" Type="http://schemas.openxmlformats.org/officeDocument/2006/relationships/chart" Target="../charts/chart73.xml"/><Relationship Id="rId4" Type="http://schemas.openxmlformats.org/officeDocument/2006/relationships/chart" Target="../charts/chart72.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4/relationships/chartEx" Target="../charts/chartEx3.xml"/><Relationship Id="rId1" Type="http://schemas.openxmlformats.org/officeDocument/2006/relationships/slideLayout" Target="../slideLayouts/slideLayout360.xml"/></Relationships>
</file>

<file path=ppt/slides/_rels/slide94.xml.rels><?xml version="1.0" encoding="UTF-8" standalone="yes"?>
<Relationships xmlns="http://schemas.openxmlformats.org/package/2006/relationships"><Relationship Id="rId8" Type="http://schemas.openxmlformats.org/officeDocument/2006/relationships/chart" Target="../charts/chart77.xml"/><Relationship Id="rId3" Type="http://schemas.openxmlformats.org/officeDocument/2006/relationships/slideLayout" Target="../slideLayouts/slideLayout368.xml"/><Relationship Id="rId7" Type="http://schemas.openxmlformats.org/officeDocument/2006/relationships/chart" Target="../charts/chart76.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6.emf"/><Relationship Id="rId5" Type="http://schemas.openxmlformats.org/officeDocument/2006/relationships/oleObject" Target="../embeddings/oleObject51.bin"/><Relationship Id="rId4" Type="http://schemas.openxmlformats.org/officeDocument/2006/relationships/notesSlide" Target="../notesSlides/notesSlide38.xml"/><Relationship Id="rId9" Type="http://schemas.openxmlformats.org/officeDocument/2006/relationships/chart" Target="../charts/chart7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l="-1000" r="-1000"/>
          </a:stretch>
        </a:blip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name="think-cell Slide" r:id="rId6" imgW="530" imgH="531" progId="TCLayout.ActiveDocument.1">
                  <p:embed/>
                </p:oleObj>
              </mc:Choice>
              <mc:Fallback>
                <p:oleObj name="think-cell Slide" r:id="rId6" imgW="530" imgH="531" progId="TCLayout.ActiveDocument.1">
                  <p:embed/>
                  <p:pic>
                    <p:nvPicPr>
                      <p:cNvPr id="8" name="Object 7" hidden="1"/>
                      <p:cNvPicPr/>
                      <p:nvPr/>
                    </p:nvPicPr>
                    <p:blipFill>
                      <a:blip r:embed="rId7"/>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342" rtl="0" eaLnBrk="1" fontAlgn="auto" latinLnBrk="0" hangingPunct="1">
              <a:lnSpc>
                <a:spcPct val="100000"/>
              </a:lnSpc>
              <a:spcBef>
                <a:spcPct val="0"/>
              </a:spcBef>
              <a:spcAft>
                <a:spcPct val="0"/>
              </a:spcAft>
              <a:buClrTx/>
              <a:buSzTx/>
              <a:buFont typeface="Wingdings 2" pitchFamily="18" charset="2"/>
              <a:buNone/>
              <a:tabLst/>
              <a:defRPr/>
            </a:pPr>
            <a:endParaRPr kumimoji="0" lang="en-US" sz="1739"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4" name="Subtitle 3"/>
          <p:cNvSpPr>
            <a:spLocks noGrp="1"/>
          </p:cNvSpPr>
          <p:nvPr>
            <p:ph type="subTitle" idx="1"/>
          </p:nvPr>
        </p:nvSpPr>
        <p:spPr>
          <a:xfrm>
            <a:off x="262166" y="4253417"/>
            <a:ext cx="6084205" cy="1316001"/>
          </a:xfrm>
        </p:spPr>
        <p:txBody>
          <a:bodyPr anchor="ctr" anchorCtr="0">
            <a:spAutoFit/>
          </a:bodyPr>
          <a:lstStyle/>
          <a:p>
            <a:pPr>
              <a:lnSpc>
                <a:spcPct val="114000"/>
              </a:lnSpc>
              <a:spcAft>
                <a:spcPts val="600"/>
              </a:spcAft>
            </a:pPr>
            <a:r>
              <a:rPr lang="en-IN" sz="2400" b="0" dirty="0"/>
              <a:t>Way forward for the Power Sector of West Bengal </a:t>
            </a:r>
          </a:p>
          <a:p>
            <a:pPr>
              <a:lnSpc>
                <a:spcPct val="114000"/>
              </a:lnSpc>
              <a:spcAft>
                <a:spcPts val="600"/>
              </a:spcAft>
            </a:pPr>
            <a:r>
              <a:rPr lang="en-IN" sz="2400" b="0" dirty="0"/>
              <a:t>Key Drivers and Imperatives</a:t>
            </a:r>
          </a:p>
        </p:txBody>
      </p:sp>
      <p:sp>
        <p:nvSpPr>
          <p:cNvPr id="5" name="Text Placeholder 4"/>
          <p:cNvSpPr>
            <a:spLocks noGrp="1"/>
          </p:cNvSpPr>
          <p:nvPr>
            <p:ph type="body" sz="quarter" idx="10"/>
          </p:nvPr>
        </p:nvSpPr>
        <p:spPr>
          <a:xfrm>
            <a:off x="262165" y="6400252"/>
            <a:ext cx="6084205" cy="169277"/>
          </a:xfrm>
        </p:spPr>
        <p:txBody>
          <a:bodyPr anchor="ctr" anchorCtr="0">
            <a:spAutoFit/>
          </a:bodyPr>
          <a:lstStyle/>
          <a:p>
            <a:r>
              <a:rPr lang="en-US" sz="1100" dirty="0"/>
              <a:t>Deloitte </a:t>
            </a:r>
            <a:r>
              <a:rPr lang="en-US" sz="1100" dirty="0" err="1"/>
              <a:t>Touche</a:t>
            </a:r>
            <a:r>
              <a:rPr lang="en-US" sz="1100" dirty="0"/>
              <a:t> Tohmatsu India LLP, January 2022</a:t>
            </a:r>
            <a:endParaRPr lang="en-US" sz="1050" dirty="0"/>
          </a:p>
        </p:txBody>
      </p:sp>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40000"/>
            <a:lum/>
          </a:blip>
          <a:srcRect/>
          <a:stretch>
            <a:fillRect l="-1000" r="-1000"/>
          </a:stretch>
        </a:blipFill>
        <a:effectLst/>
      </p:bgPr>
    </p:bg>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sz="1800" b="1" i="0" dirty="0">
                <a:solidFill>
                  <a:schemeClr val="tx1"/>
                </a:solidFill>
                <a:latin typeface="Verdana" panose="020B0604030504040204" pitchFamily="34" charset="0"/>
                <a:ea typeface="Verdana" panose="020B0604030504040204" pitchFamily="34" charset="0"/>
              </a:rPr>
              <a:t>Contents</a:t>
            </a:r>
            <a:endParaRPr lang="en-US" sz="1800" b="1" i="0" dirty="0">
              <a:solidFill>
                <a:schemeClr val="tx1"/>
              </a:solidFill>
              <a:highlight>
                <a:srgbClr val="FFFF00"/>
              </a:highlight>
              <a:latin typeface="Verdana" panose="020B0604030504040204" pitchFamily="34" charset="0"/>
              <a:ea typeface="Verdana" panose="020B0604030504040204" pitchFamily="34" charset="0"/>
            </a:endParaRPr>
          </a:p>
        </p:txBody>
      </p:sp>
      <p:sp>
        <p:nvSpPr>
          <p:cNvPr id="25" name="Oval 24">
            <a:extLst>
              <a:ext uri="{FF2B5EF4-FFF2-40B4-BE49-F238E27FC236}">
                <a16:creationId xmlns:a16="http://schemas.microsoft.com/office/drawing/2014/main" id="{A9FBFFD1-1922-4B81-AF78-AB9D908A727D}"/>
              </a:ext>
            </a:extLst>
          </p:cNvPr>
          <p:cNvSpPr/>
          <p:nvPr/>
        </p:nvSpPr>
        <p:spPr bwMode="gray">
          <a:xfrm>
            <a:off x="501650" y="983895"/>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1</a:t>
            </a: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5BA4FCD5-4905-46D3-A784-8731C575D565}"/>
              </a:ext>
            </a:extLst>
          </p:cNvPr>
          <p:cNvSpPr txBox="1"/>
          <p:nvPr/>
        </p:nvSpPr>
        <p:spPr>
          <a:xfrm>
            <a:off x="1127760" y="1008634"/>
            <a:ext cx="8255726"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b="1" dirty="0">
                <a:solidFill>
                  <a:srgbClr val="313131"/>
                </a:solidFill>
                <a:latin typeface="Calibri"/>
              </a:rPr>
              <a:t>Overview of West Bengal power market and average tariff rate</a:t>
            </a:r>
            <a:endParaRPr kumimoji="0" lang="en-IN" sz="1800" b="1" i="0" u="none" strike="noStrike" kern="1200" cap="none" spc="0" normalizeH="0" baseline="0" noProof="0" dirty="0">
              <a:ln>
                <a:noFill/>
              </a:ln>
              <a:solidFill>
                <a:srgbClr val="313131"/>
              </a:solidFill>
              <a:effectLst/>
              <a:uLnTx/>
              <a:uFillTx/>
              <a:latin typeface="Calibri"/>
              <a:ea typeface="+mn-ea"/>
              <a:cs typeface="+mn-cs"/>
            </a:endParaRPr>
          </a:p>
        </p:txBody>
      </p:sp>
      <p:sp>
        <p:nvSpPr>
          <p:cNvPr id="27" name="Oval 26">
            <a:extLst>
              <a:ext uri="{FF2B5EF4-FFF2-40B4-BE49-F238E27FC236}">
                <a16:creationId xmlns:a16="http://schemas.microsoft.com/office/drawing/2014/main" id="{1B0C322B-64AC-42FE-A1C4-61FF5DFDAECA}"/>
              </a:ext>
            </a:extLst>
          </p:cNvPr>
          <p:cNvSpPr/>
          <p:nvPr/>
        </p:nvSpPr>
        <p:spPr bwMode="gray">
          <a:xfrm>
            <a:off x="501650" y="2099519"/>
            <a:ext cx="334099" cy="334099"/>
          </a:xfrm>
          <a:prstGeom prst="ellipse">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ea typeface="+mn-ea"/>
                <a:cs typeface="+mn-cs"/>
              </a:rPr>
              <a:t>3</a:t>
            </a:r>
            <a:endParaRPr kumimoji="0" lang="en-IN" sz="1600" b="1" i="0" u="none" strike="noStrike" kern="0" cap="none" spc="0" normalizeH="0" baseline="0" noProof="0" dirty="0">
              <a:ln>
                <a:noFill/>
              </a:ln>
              <a:solidFill>
                <a:prstClr val="white"/>
              </a:solidFill>
              <a:effectLst/>
              <a:uLnTx/>
              <a:uFillTx/>
              <a:latin typeface="Calibri"/>
              <a:ea typeface="+mn-ea"/>
              <a:cs typeface="+mn-cs"/>
            </a:endParaRPr>
          </a:p>
        </p:txBody>
      </p:sp>
      <p:sp>
        <p:nvSpPr>
          <p:cNvPr id="28" name="Rectangle 27">
            <a:extLst>
              <a:ext uri="{FF2B5EF4-FFF2-40B4-BE49-F238E27FC236}">
                <a16:creationId xmlns:a16="http://schemas.microsoft.com/office/drawing/2014/main" id="{A44F4B57-6219-4542-8BF2-D297602A3CF1}"/>
              </a:ext>
            </a:extLst>
          </p:cNvPr>
          <p:cNvSpPr/>
          <p:nvPr/>
        </p:nvSpPr>
        <p:spPr bwMode="gray">
          <a:xfrm>
            <a:off x="933450" y="2063652"/>
            <a:ext cx="83820" cy="400751"/>
          </a:xfrm>
          <a:prstGeom prst="rect">
            <a:avLst/>
          </a:prstGeom>
          <a:solidFill>
            <a:srgbClr val="43B02A">
              <a:lumMod val="40000"/>
              <a:lumOff val="60000"/>
            </a:srgb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29" name="TextBox 28">
            <a:extLst>
              <a:ext uri="{FF2B5EF4-FFF2-40B4-BE49-F238E27FC236}">
                <a16:creationId xmlns:a16="http://schemas.microsoft.com/office/drawing/2014/main" id="{CC652346-BBC4-49DD-A7C8-BBCF7F7DA393}"/>
              </a:ext>
            </a:extLst>
          </p:cNvPr>
          <p:cNvSpPr txBox="1"/>
          <p:nvPr/>
        </p:nvSpPr>
        <p:spPr>
          <a:xfrm>
            <a:off x="1128686" y="1540998"/>
            <a:ext cx="8254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b="1" dirty="0">
                <a:solidFill>
                  <a:srgbClr val="313131"/>
                </a:solidFill>
                <a:latin typeface="Calibri"/>
              </a:rPr>
              <a:t>Key Imperatives</a:t>
            </a:r>
            <a:endParaRPr kumimoji="0" lang="en-IN" sz="1800" b="1" i="0" u="none" strike="noStrike" kern="1200" cap="none" spc="0" normalizeH="0" baseline="0" noProof="0" dirty="0">
              <a:ln>
                <a:noFill/>
              </a:ln>
              <a:solidFill>
                <a:srgbClr val="313131"/>
              </a:solidFill>
              <a:effectLst/>
              <a:uLnTx/>
              <a:uFillTx/>
              <a:latin typeface="Calibri"/>
              <a:ea typeface="+mn-ea"/>
              <a:cs typeface="+mn-cs"/>
            </a:endParaRPr>
          </a:p>
        </p:txBody>
      </p:sp>
      <p:sp>
        <p:nvSpPr>
          <p:cNvPr id="31" name="Rectangle 30">
            <a:extLst>
              <a:ext uri="{FF2B5EF4-FFF2-40B4-BE49-F238E27FC236}">
                <a16:creationId xmlns:a16="http://schemas.microsoft.com/office/drawing/2014/main" id="{F15C2EF2-1C62-40E8-ABE5-264100F36F3B}"/>
              </a:ext>
            </a:extLst>
          </p:cNvPr>
          <p:cNvSpPr/>
          <p:nvPr/>
        </p:nvSpPr>
        <p:spPr bwMode="gray">
          <a:xfrm>
            <a:off x="933450" y="946758"/>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32" name="Oval 31">
            <a:extLst>
              <a:ext uri="{FF2B5EF4-FFF2-40B4-BE49-F238E27FC236}">
                <a16:creationId xmlns:a16="http://schemas.microsoft.com/office/drawing/2014/main" id="{47E110A6-BD2B-445A-AE1B-315CA8FFF138}"/>
              </a:ext>
            </a:extLst>
          </p:cNvPr>
          <p:cNvSpPr/>
          <p:nvPr/>
        </p:nvSpPr>
        <p:spPr bwMode="gray">
          <a:xfrm>
            <a:off x="501650" y="2670701"/>
            <a:ext cx="334099" cy="334099"/>
          </a:xfrm>
          <a:prstGeom prst="ellipse">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ea typeface="+mn-ea"/>
                <a:cs typeface="+mn-cs"/>
              </a:rPr>
              <a:t>4</a:t>
            </a:r>
          </a:p>
        </p:txBody>
      </p:sp>
      <p:sp>
        <p:nvSpPr>
          <p:cNvPr id="33" name="Rectangle 32">
            <a:extLst>
              <a:ext uri="{FF2B5EF4-FFF2-40B4-BE49-F238E27FC236}">
                <a16:creationId xmlns:a16="http://schemas.microsoft.com/office/drawing/2014/main" id="{68891175-ECF2-4DC4-9EC6-F8A597D7E66D}"/>
              </a:ext>
            </a:extLst>
          </p:cNvPr>
          <p:cNvSpPr/>
          <p:nvPr/>
        </p:nvSpPr>
        <p:spPr bwMode="gray">
          <a:xfrm>
            <a:off x="933450" y="2634834"/>
            <a:ext cx="83820" cy="400751"/>
          </a:xfrm>
          <a:prstGeom prst="rect">
            <a:avLst/>
          </a:prstGeom>
          <a:solidFill>
            <a:srgbClr val="26890D">
              <a:lumMod val="40000"/>
              <a:lumOff val="60000"/>
            </a:srgb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B2C77052-D024-44B6-9AF8-15000940C6EE}"/>
              </a:ext>
            </a:extLst>
          </p:cNvPr>
          <p:cNvSpPr txBox="1"/>
          <p:nvPr/>
        </p:nvSpPr>
        <p:spPr>
          <a:xfrm>
            <a:off x="1127760" y="2111083"/>
            <a:ext cx="8254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b="1" dirty="0">
                <a:solidFill>
                  <a:srgbClr val="313131"/>
                </a:solidFill>
                <a:latin typeface="Calibri"/>
              </a:rPr>
              <a:t>Opportunity: Reduction of power purchase cost from WBPDCL</a:t>
            </a:r>
            <a:endParaRPr kumimoji="0" lang="en-IN" sz="1800" b="1" i="0" u="none" strike="noStrike" kern="1200" cap="none" spc="0" normalizeH="0" baseline="0" noProof="0" dirty="0">
              <a:ln>
                <a:noFill/>
              </a:ln>
              <a:solidFill>
                <a:srgbClr val="313131"/>
              </a:solidFill>
              <a:effectLst/>
              <a:uLnTx/>
              <a:uFillTx/>
              <a:latin typeface="Calibri"/>
              <a:ea typeface="+mn-ea"/>
              <a:cs typeface="+mn-cs"/>
            </a:endParaRPr>
          </a:p>
        </p:txBody>
      </p:sp>
      <p:sp>
        <p:nvSpPr>
          <p:cNvPr id="38" name="Oval 37">
            <a:extLst>
              <a:ext uri="{FF2B5EF4-FFF2-40B4-BE49-F238E27FC236}">
                <a16:creationId xmlns:a16="http://schemas.microsoft.com/office/drawing/2014/main" id="{3632D40D-B0E0-4DCD-88BB-74D5754B1607}"/>
              </a:ext>
            </a:extLst>
          </p:cNvPr>
          <p:cNvSpPr/>
          <p:nvPr/>
        </p:nvSpPr>
        <p:spPr bwMode="gray">
          <a:xfrm>
            <a:off x="501650" y="3221904"/>
            <a:ext cx="334099" cy="334099"/>
          </a:xfrm>
          <a:prstGeom prst="ellipse">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ea typeface="+mn-ea"/>
                <a:cs typeface="+mn-cs"/>
              </a:rPr>
              <a:t>5</a:t>
            </a:r>
            <a:endParaRPr kumimoji="0" lang="en-IN" sz="1600" b="1" i="0" u="none" strike="noStrike" kern="0" cap="none" spc="0" normalizeH="0" baseline="0" noProof="0" dirty="0">
              <a:ln>
                <a:noFill/>
              </a:ln>
              <a:solidFill>
                <a:prstClr val="white"/>
              </a:solidFill>
              <a:effectLst/>
              <a:uLnTx/>
              <a:uFillTx/>
              <a:latin typeface="Calibri"/>
              <a:ea typeface="+mn-ea"/>
              <a:cs typeface="+mn-cs"/>
            </a:endParaRPr>
          </a:p>
        </p:txBody>
      </p:sp>
      <p:sp>
        <p:nvSpPr>
          <p:cNvPr id="39" name="Rectangle 38">
            <a:extLst>
              <a:ext uri="{FF2B5EF4-FFF2-40B4-BE49-F238E27FC236}">
                <a16:creationId xmlns:a16="http://schemas.microsoft.com/office/drawing/2014/main" id="{D781BB71-6629-4F02-BC41-036521A83030}"/>
              </a:ext>
            </a:extLst>
          </p:cNvPr>
          <p:cNvSpPr/>
          <p:nvPr/>
        </p:nvSpPr>
        <p:spPr bwMode="gray">
          <a:xfrm>
            <a:off x="933450" y="3186037"/>
            <a:ext cx="83820" cy="400751"/>
          </a:xfrm>
          <a:prstGeom prst="rect">
            <a:avLst/>
          </a:prstGeom>
          <a:solidFill>
            <a:srgbClr val="046A38">
              <a:lumMod val="40000"/>
              <a:lumOff val="60000"/>
            </a:srgb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40" name="TextBox 39">
            <a:extLst>
              <a:ext uri="{FF2B5EF4-FFF2-40B4-BE49-F238E27FC236}">
                <a16:creationId xmlns:a16="http://schemas.microsoft.com/office/drawing/2014/main" id="{10159DDF-261E-4654-83E5-BDCED961F61D}"/>
              </a:ext>
            </a:extLst>
          </p:cNvPr>
          <p:cNvSpPr txBox="1"/>
          <p:nvPr/>
        </p:nvSpPr>
        <p:spPr>
          <a:xfrm>
            <a:off x="1127760" y="2682840"/>
            <a:ext cx="8254800" cy="276999"/>
          </a:xfrm>
          <a:prstGeom prst="rect">
            <a:avLst/>
          </a:prstGeom>
          <a:noFill/>
        </p:spPr>
        <p:txBody>
          <a:bodyPr wrap="square" lIns="0" tIns="0" rIns="0" bIns="0" rtlCol="0">
            <a:spAutoFit/>
          </a:bodyPr>
          <a:lstStyle/>
          <a:p>
            <a:pPr>
              <a:spcBef>
                <a:spcPts val="600"/>
              </a:spcBef>
              <a:buSzPct val="100000"/>
              <a:defRPr/>
            </a:pPr>
            <a:r>
              <a:rPr lang="en-US" b="1" dirty="0">
                <a:solidFill>
                  <a:srgbClr val="313131"/>
                </a:solidFill>
                <a:latin typeface="Calibri"/>
              </a:rPr>
              <a:t>Opportunity: Reduction of fixed cost for WBSETCL</a:t>
            </a:r>
            <a:endParaRPr kumimoji="0" lang="en-IN" sz="1800" b="1" i="0" u="none" strike="noStrike" kern="1200" cap="none" spc="0" normalizeH="0" baseline="0" noProof="0" dirty="0">
              <a:ln>
                <a:noFill/>
              </a:ln>
              <a:solidFill>
                <a:srgbClr val="313131"/>
              </a:solidFill>
              <a:effectLst/>
              <a:uLnTx/>
              <a:uFillTx/>
              <a:latin typeface="Calibri"/>
              <a:ea typeface="+mn-ea"/>
              <a:cs typeface="+mn-cs"/>
            </a:endParaRPr>
          </a:p>
        </p:txBody>
      </p:sp>
      <p:sp>
        <p:nvSpPr>
          <p:cNvPr id="41" name="Oval 40">
            <a:extLst>
              <a:ext uri="{FF2B5EF4-FFF2-40B4-BE49-F238E27FC236}">
                <a16:creationId xmlns:a16="http://schemas.microsoft.com/office/drawing/2014/main" id="{DF04AEDF-625F-4846-9781-E6DF368BBDF3}"/>
              </a:ext>
            </a:extLst>
          </p:cNvPr>
          <p:cNvSpPr/>
          <p:nvPr/>
        </p:nvSpPr>
        <p:spPr bwMode="gray">
          <a:xfrm>
            <a:off x="501650" y="3767514"/>
            <a:ext cx="334099" cy="334099"/>
          </a:xfrm>
          <a:prstGeom prst="ellipse">
            <a:avLst/>
          </a:prstGeom>
          <a:solidFill>
            <a:srgbClr val="0D839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ea typeface="+mn-ea"/>
                <a:cs typeface="+mn-cs"/>
              </a:rPr>
              <a:t>6</a:t>
            </a:r>
          </a:p>
        </p:txBody>
      </p:sp>
      <p:sp>
        <p:nvSpPr>
          <p:cNvPr id="42" name="Rectangle 41">
            <a:extLst>
              <a:ext uri="{FF2B5EF4-FFF2-40B4-BE49-F238E27FC236}">
                <a16:creationId xmlns:a16="http://schemas.microsoft.com/office/drawing/2014/main" id="{EFA52845-FE84-43B7-8E5C-99E381D2F06E}"/>
              </a:ext>
            </a:extLst>
          </p:cNvPr>
          <p:cNvSpPr/>
          <p:nvPr/>
        </p:nvSpPr>
        <p:spPr bwMode="gray">
          <a:xfrm>
            <a:off x="933450" y="3731647"/>
            <a:ext cx="83820" cy="400751"/>
          </a:xfrm>
          <a:prstGeom prst="rect">
            <a:avLst/>
          </a:prstGeom>
          <a:solidFill>
            <a:srgbClr val="0D8390">
              <a:lumMod val="40000"/>
              <a:lumOff val="60000"/>
            </a:srgb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43" name="TextBox 42">
            <a:extLst>
              <a:ext uri="{FF2B5EF4-FFF2-40B4-BE49-F238E27FC236}">
                <a16:creationId xmlns:a16="http://schemas.microsoft.com/office/drawing/2014/main" id="{04E4A496-5C49-4B07-9DB6-F58218621319}"/>
              </a:ext>
            </a:extLst>
          </p:cNvPr>
          <p:cNvSpPr txBox="1"/>
          <p:nvPr/>
        </p:nvSpPr>
        <p:spPr>
          <a:xfrm>
            <a:off x="1128672" y="3824614"/>
            <a:ext cx="8254800" cy="276999"/>
          </a:xfrm>
          <a:prstGeom prst="rect">
            <a:avLst/>
          </a:prstGeom>
          <a:noFill/>
        </p:spPr>
        <p:txBody>
          <a:bodyPr wrap="square" lIns="0" tIns="0" rIns="0" bIns="0" rtlCol="0">
            <a:spAutoFit/>
          </a:bodyPr>
          <a:lstStyle/>
          <a:p>
            <a:pPr>
              <a:spcBef>
                <a:spcPts val="600"/>
              </a:spcBef>
              <a:buSzPct val="100000"/>
              <a:defRPr/>
            </a:pPr>
            <a:r>
              <a:rPr lang="en-US" b="1" dirty="0">
                <a:solidFill>
                  <a:srgbClr val="313131"/>
                </a:solidFill>
                <a:latin typeface="Calibri"/>
              </a:rPr>
              <a:t>Opportunity: Reduction of cost of supply for WBSEDCL</a:t>
            </a:r>
            <a:endParaRPr kumimoji="0" lang="en-IN" sz="1800" b="1" i="0" u="none" strike="noStrike" kern="1200" cap="none" spc="0" normalizeH="0" baseline="0" noProof="0" dirty="0">
              <a:ln>
                <a:noFill/>
              </a:ln>
              <a:solidFill>
                <a:srgbClr val="313131"/>
              </a:solidFill>
              <a:effectLst/>
              <a:uLnTx/>
              <a:uFillTx/>
              <a:latin typeface="Calibri"/>
              <a:ea typeface="+mn-ea"/>
              <a:cs typeface="+mn-cs"/>
            </a:endParaRPr>
          </a:p>
        </p:txBody>
      </p:sp>
      <p:sp>
        <p:nvSpPr>
          <p:cNvPr id="44" name="Oval 43">
            <a:extLst>
              <a:ext uri="{FF2B5EF4-FFF2-40B4-BE49-F238E27FC236}">
                <a16:creationId xmlns:a16="http://schemas.microsoft.com/office/drawing/2014/main" id="{9738B50D-611A-40E6-BCC0-26F1444AFEB6}"/>
              </a:ext>
            </a:extLst>
          </p:cNvPr>
          <p:cNvSpPr/>
          <p:nvPr/>
        </p:nvSpPr>
        <p:spPr bwMode="gray">
          <a:xfrm>
            <a:off x="501650" y="1541989"/>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ea typeface="+mn-ea"/>
                <a:cs typeface="+mn-cs"/>
              </a:rPr>
              <a:t>2</a:t>
            </a:r>
            <a:endParaRPr kumimoji="0" lang="en-IN" sz="1600" b="1" i="0" u="none" strike="noStrike" kern="0" cap="none" spc="0" normalizeH="0" baseline="0" noProof="0" dirty="0">
              <a:ln>
                <a:noFill/>
              </a:ln>
              <a:solidFill>
                <a:prstClr val="white"/>
              </a:solidFill>
              <a:effectLst/>
              <a:uLnTx/>
              <a:uFillTx/>
              <a:latin typeface="Calibri"/>
              <a:ea typeface="+mn-ea"/>
              <a:cs typeface="+mn-cs"/>
            </a:endParaRPr>
          </a:p>
        </p:txBody>
      </p:sp>
      <p:sp>
        <p:nvSpPr>
          <p:cNvPr id="45" name="TextBox 44">
            <a:extLst>
              <a:ext uri="{FF2B5EF4-FFF2-40B4-BE49-F238E27FC236}">
                <a16:creationId xmlns:a16="http://schemas.microsoft.com/office/drawing/2014/main" id="{70ABCDB0-9ED1-47BF-97F2-257E6385E498}"/>
              </a:ext>
            </a:extLst>
          </p:cNvPr>
          <p:cNvSpPr txBox="1"/>
          <p:nvPr/>
        </p:nvSpPr>
        <p:spPr>
          <a:xfrm>
            <a:off x="1137492" y="4313124"/>
            <a:ext cx="8255726"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b="1" dirty="0">
                <a:solidFill>
                  <a:srgbClr val="313131"/>
                </a:solidFill>
                <a:latin typeface="Calibri"/>
              </a:rPr>
              <a:t>Marginal Renewables in Purchase, Capacity Addition far below Estimated Potential</a:t>
            </a:r>
            <a:endParaRPr kumimoji="0" lang="en-IN" sz="1800" b="1" i="0" u="none" strike="noStrike" kern="1200" cap="none" spc="0" normalizeH="0" baseline="0" noProof="0" dirty="0">
              <a:ln>
                <a:noFill/>
              </a:ln>
              <a:solidFill>
                <a:srgbClr val="313131"/>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E0DA58F7-26E9-40F5-826A-243D5A63D21E}"/>
              </a:ext>
            </a:extLst>
          </p:cNvPr>
          <p:cNvSpPr/>
          <p:nvPr/>
        </p:nvSpPr>
        <p:spPr bwMode="gray">
          <a:xfrm>
            <a:off x="933450" y="1504852"/>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24" name="Oval 23">
            <a:extLst>
              <a:ext uri="{FF2B5EF4-FFF2-40B4-BE49-F238E27FC236}">
                <a16:creationId xmlns:a16="http://schemas.microsoft.com/office/drawing/2014/main" id="{A81DECC0-CF81-497B-90A7-638C532210A2}"/>
              </a:ext>
            </a:extLst>
          </p:cNvPr>
          <p:cNvSpPr/>
          <p:nvPr/>
        </p:nvSpPr>
        <p:spPr bwMode="gray">
          <a:xfrm>
            <a:off x="501650" y="4287116"/>
            <a:ext cx="334099" cy="334099"/>
          </a:xfrm>
          <a:prstGeom prst="ellipse">
            <a:avLst/>
          </a:prstGeom>
          <a:solidFill>
            <a:srgbClr val="1D670A"/>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ea typeface="+mn-ea"/>
                <a:cs typeface="+mn-cs"/>
              </a:rPr>
              <a:t>7</a:t>
            </a:r>
          </a:p>
        </p:txBody>
      </p:sp>
      <p:sp>
        <p:nvSpPr>
          <p:cNvPr id="30" name="Rectangle 29">
            <a:extLst>
              <a:ext uri="{FF2B5EF4-FFF2-40B4-BE49-F238E27FC236}">
                <a16:creationId xmlns:a16="http://schemas.microsoft.com/office/drawing/2014/main" id="{D198880C-DE9E-410A-B682-56E58DF759D8}"/>
              </a:ext>
            </a:extLst>
          </p:cNvPr>
          <p:cNvSpPr/>
          <p:nvPr/>
        </p:nvSpPr>
        <p:spPr bwMode="gray">
          <a:xfrm>
            <a:off x="933450" y="4251249"/>
            <a:ext cx="83820" cy="400751"/>
          </a:xfrm>
          <a:prstGeom prst="rect">
            <a:avLst/>
          </a:prstGeom>
          <a:solidFill>
            <a:srgbClr val="AEE8A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35" name="TextBox 34">
            <a:extLst>
              <a:ext uri="{FF2B5EF4-FFF2-40B4-BE49-F238E27FC236}">
                <a16:creationId xmlns:a16="http://schemas.microsoft.com/office/drawing/2014/main" id="{E69162A4-B3E9-4CE9-A925-B8083336FBE5}"/>
              </a:ext>
            </a:extLst>
          </p:cNvPr>
          <p:cNvSpPr txBox="1"/>
          <p:nvPr/>
        </p:nvSpPr>
        <p:spPr>
          <a:xfrm>
            <a:off x="1137492" y="4816137"/>
            <a:ext cx="8254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b="1" dirty="0">
                <a:solidFill>
                  <a:srgbClr val="313131"/>
                </a:solidFill>
                <a:latin typeface="Calibri"/>
              </a:rPr>
              <a:t>Adopting restructured Subsidy Model for WBSEDCL</a:t>
            </a:r>
            <a:endParaRPr kumimoji="0" lang="en-IN" sz="1800" b="1" i="0" u="none" strike="noStrike" kern="1200" cap="none" spc="0" normalizeH="0" baseline="0" noProof="0" dirty="0">
              <a:ln>
                <a:noFill/>
              </a:ln>
              <a:solidFill>
                <a:srgbClr val="313131"/>
              </a:solidFill>
              <a:effectLst/>
              <a:uLnTx/>
              <a:uFillTx/>
              <a:latin typeface="Calibri"/>
              <a:ea typeface="+mn-ea"/>
              <a:cs typeface="+mn-cs"/>
            </a:endParaRPr>
          </a:p>
        </p:txBody>
      </p:sp>
      <p:sp>
        <p:nvSpPr>
          <p:cNvPr id="47" name="Oval 46">
            <a:extLst>
              <a:ext uri="{FF2B5EF4-FFF2-40B4-BE49-F238E27FC236}">
                <a16:creationId xmlns:a16="http://schemas.microsoft.com/office/drawing/2014/main" id="{17240338-35CD-415F-A56C-03D499B39883}"/>
              </a:ext>
            </a:extLst>
          </p:cNvPr>
          <p:cNvSpPr/>
          <p:nvPr/>
        </p:nvSpPr>
        <p:spPr bwMode="gray">
          <a:xfrm>
            <a:off x="501650" y="4774012"/>
            <a:ext cx="334099" cy="334099"/>
          </a:xfrm>
          <a:prstGeom prst="ellipse">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ea typeface="+mn-ea"/>
                <a:cs typeface="+mn-cs"/>
              </a:rPr>
              <a:t>8</a:t>
            </a:r>
          </a:p>
        </p:txBody>
      </p:sp>
      <p:sp>
        <p:nvSpPr>
          <p:cNvPr id="48" name="Rectangle 47">
            <a:extLst>
              <a:ext uri="{FF2B5EF4-FFF2-40B4-BE49-F238E27FC236}">
                <a16:creationId xmlns:a16="http://schemas.microsoft.com/office/drawing/2014/main" id="{8065B9DB-A516-465F-B181-1C9807BC9379}"/>
              </a:ext>
            </a:extLst>
          </p:cNvPr>
          <p:cNvSpPr/>
          <p:nvPr/>
        </p:nvSpPr>
        <p:spPr bwMode="gray">
          <a:xfrm>
            <a:off x="933450" y="4738143"/>
            <a:ext cx="83820" cy="400751"/>
          </a:xfrm>
          <a:prstGeom prst="rect">
            <a:avLst/>
          </a:prstGeom>
          <a:solidFill>
            <a:schemeClr val="accent5">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49" name="TextBox 48">
            <a:extLst>
              <a:ext uri="{FF2B5EF4-FFF2-40B4-BE49-F238E27FC236}">
                <a16:creationId xmlns:a16="http://schemas.microsoft.com/office/drawing/2014/main" id="{D4BFD981-AE00-4C48-90D1-31738F2F86A0}"/>
              </a:ext>
            </a:extLst>
          </p:cNvPr>
          <p:cNvSpPr txBox="1"/>
          <p:nvPr/>
        </p:nvSpPr>
        <p:spPr>
          <a:xfrm>
            <a:off x="1137492" y="5770400"/>
            <a:ext cx="8254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b="1" dirty="0">
                <a:solidFill>
                  <a:srgbClr val="313131"/>
                </a:solidFill>
                <a:latin typeface="Calibri"/>
              </a:rPr>
              <a:t>Rationalization of Tariff Structure</a:t>
            </a:r>
            <a:endParaRPr kumimoji="0" lang="en-IN" sz="1800" b="1" i="0" u="none" strike="noStrike" kern="1200" cap="none" spc="0" normalizeH="0" baseline="0" noProof="0" dirty="0">
              <a:ln>
                <a:noFill/>
              </a:ln>
              <a:solidFill>
                <a:srgbClr val="313131"/>
              </a:solidFill>
              <a:effectLst/>
              <a:uLnTx/>
              <a:uFillTx/>
              <a:latin typeface="Calibri"/>
              <a:ea typeface="+mn-ea"/>
              <a:cs typeface="+mn-cs"/>
            </a:endParaRPr>
          </a:p>
        </p:txBody>
      </p:sp>
      <p:sp>
        <p:nvSpPr>
          <p:cNvPr id="50" name="TextBox 49">
            <a:extLst>
              <a:ext uri="{FF2B5EF4-FFF2-40B4-BE49-F238E27FC236}">
                <a16:creationId xmlns:a16="http://schemas.microsoft.com/office/drawing/2014/main" id="{FD802EAC-A790-4DE3-B264-5B1AF2D61F64}"/>
              </a:ext>
            </a:extLst>
          </p:cNvPr>
          <p:cNvSpPr txBox="1"/>
          <p:nvPr/>
        </p:nvSpPr>
        <p:spPr>
          <a:xfrm>
            <a:off x="469902" y="6619619"/>
            <a:ext cx="4470400" cy="107722"/>
          </a:xfrm>
          <a:prstGeom prst="rect">
            <a:avLst/>
          </a:prstGeom>
          <a:noFill/>
        </p:spPr>
        <p:txBody>
          <a:bodyPr wrap="square" lIns="0" tIns="0" rIns="0" bIns="0" rtlCol="0">
            <a:spAutoFit/>
          </a:bodyPr>
          <a:lstStyle/>
          <a:p>
            <a:pPr>
              <a:spcBef>
                <a:spcPts val="600"/>
              </a:spcBef>
              <a:buSzPct val="100000"/>
            </a:pPr>
            <a:r>
              <a:rPr lang="en-US" sz="700" dirty="0">
                <a:solidFill>
                  <a:srgbClr val="313131"/>
                </a:solidFill>
                <a:latin typeface="Verdana" panose="020B0604030504040204" pitchFamily="34" charset="0"/>
                <a:ea typeface="Verdana" panose="020B0604030504040204" pitchFamily="34" charset="0"/>
              </a:rPr>
              <a:t>@ 2020 Deloitte </a:t>
            </a:r>
            <a:r>
              <a:rPr lang="en-US" sz="700" dirty="0" err="1">
                <a:solidFill>
                  <a:srgbClr val="313131"/>
                </a:solidFill>
                <a:latin typeface="Verdana" panose="020B0604030504040204" pitchFamily="34" charset="0"/>
                <a:ea typeface="Verdana" panose="020B0604030504040204" pitchFamily="34" charset="0"/>
              </a:rPr>
              <a:t>Touche</a:t>
            </a:r>
            <a:r>
              <a:rPr lang="en-US" sz="700" dirty="0">
                <a:solidFill>
                  <a:srgbClr val="313131"/>
                </a:solidFill>
                <a:latin typeface="Verdana" panose="020B0604030504040204" pitchFamily="34" charset="0"/>
                <a:ea typeface="Verdana" panose="020B0604030504040204" pitchFamily="34" charset="0"/>
              </a:rPr>
              <a:t> Tohmatsu India LLP </a:t>
            </a:r>
          </a:p>
        </p:txBody>
      </p:sp>
      <p:sp>
        <p:nvSpPr>
          <p:cNvPr id="51" name="Oval 50">
            <a:extLst>
              <a:ext uri="{FF2B5EF4-FFF2-40B4-BE49-F238E27FC236}">
                <a16:creationId xmlns:a16="http://schemas.microsoft.com/office/drawing/2014/main" id="{507663EE-CE81-49DB-93EF-DDF1A01D8F5C}"/>
              </a:ext>
            </a:extLst>
          </p:cNvPr>
          <p:cNvSpPr/>
          <p:nvPr/>
        </p:nvSpPr>
        <p:spPr bwMode="gray">
          <a:xfrm>
            <a:off x="505190" y="5245392"/>
            <a:ext cx="334099" cy="334099"/>
          </a:xfrm>
          <a:prstGeom prst="ellipse">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IN" sz="1600" b="1" kern="0" dirty="0">
                <a:solidFill>
                  <a:prstClr val="white"/>
                </a:solidFill>
                <a:latin typeface="Calibri"/>
              </a:rPr>
              <a:t>9</a:t>
            </a:r>
            <a:endParaRPr kumimoji="0" lang="en-IN" sz="1600" b="1" i="0" u="none" strike="noStrike" kern="0" cap="none" spc="0" normalizeH="0" baseline="0" noProof="0" dirty="0">
              <a:ln>
                <a:noFill/>
              </a:ln>
              <a:solidFill>
                <a:prstClr val="white"/>
              </a:solidFill>
              <a:effectLst/>
              <a:uLnTx/>
              <a:uFillTx/>
              <a:latin typeface="Calibri"/>
              <a:ea typeface="+mn-ea"/>
              <a:cs typeface="+mn-cs"/>
            </a:endParaRPr>
          </a:p>
        </p:txBody>
      </p:sp>
      <p:sp>
        <p:nvSpPr>
          <p:cNvPr id="52" name="Rectangle 51">
            <a:extLst>
              <a:ext uri="{FF2B5EF4-FFF2-40B4-BE49-F238E27FC236}">
                <a16:creationId xmlns:a16="http://schemas.microsoft.com/office/drawing/2014/main" id="{25493F8B-94D0-4204-BEDC-D68D95819CBE}"/>
              </a:ext>
            </a:extLst>
          </p:cNvPr>
          <p:cNvSpPr/>
          <p:nvPr/>
        </p:nvSpPr>
        <p:spPr bwMode="gray">
          <a:xfrm>
            <a:off x="936990" y="5209523"/>
            <a:ext cx="83820" cy="400751"/>
          </a:xfrm>
          <a:prstGeom prst="rect">
            <a:avLst/>
          </a:prstGeom>
          <a:solidFill>
            <a:srgbClr val="7DE8F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53" name="TextBox 52">
            <a:extLst>
              <a:ext uri="{FF2B5EF4-FFF2-40B4-BE49-F238E27FC236}">
                <a16:creationId xmlns:a16="http://schemas.microsoft.com/office/drawing/2014/main" id="{967B2CF9-AEB3-4E9F-9024-31963FE7BDFE}"/>
              </a:ext>
            </a:extLst>
          </p:cNvPr>
          <p:cNvSpPr txBox="1"/>
          <p:nvPr/>
        </p:nvSpPr>
        <p:spPr>
          <a:xfrm>
            <a:off x="1137492" y="3288598"/>
            <a:ext cx="8254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IN" sz="1800" b="1" i="0" u="none" strike="noStrike" kern="1200" cap="none" spc="0" normalizeH="0" baseline="0" noProof="0" dirty="0">
                <a:ln>
                  <a:noFill/>
                </a:ln>
                <a:solidFill>
                  <a:srgbClr val="313131"/>
                </a:solidFill>
                <a:effectLst/>
                <a:uLnTx/>
                <a:uFillTx/>
                <a:latin typeface="Calibri"/>
                <a:ea typeface="+mn-ea"/>
                <a:cs typeface="+mn-cs"/>
              </a:rPr>
              <a:t>Power Purchase Portfolio optimization</a:t>
            </a:r>
          </a:p>
        </p:txBody>
      </p:sp>
      <p:sp>
        <p:nvSpPr>
          <p:cNvPr id="54" name="Oval 53">
            <a:extLst>
              <a:ext uri="{FF2B5EF4-FFF2-40B4-BE49-F238E27FC236}">
                <a16:creationId xmlns:a16="http://schemas.microsoft.com/office/drawing/2014/main" id="{4900C2EA-80A1-41A7-971D-E495D39AEAC1}"/>
              </a:ext>
            </a:extLst>
          </p:cNvPr>
          <p:cNvSpPr/>
          <p:nvPr/>
        </p:nvSpPr>
        <p:spPr bwMode="gray">
          <a:xfrm>
            <a:off x="508730" y="5695493"/>
            <a:ext cx="334099" cy="334099"/>
          </a:xfrm>
          <a:prstGeom prst="ellipse">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Calibri"/>
              <a:ea typeface="+mn-ea"/>
              <a:cs typeface="+mn-cs"/>
            </a:endParaRPr>
          </a:p>
        </p:txBody>
      </p:sp>
      <p:sp>
        <p:nvSpPr>
          <p:cNvPr id="55" name="Rectangle 54">
            <a:extLst>
              <a:ext uri="{FF2B5EF4-FFF2-40B4-BE49-F238E27FC236}">
                <a16:creationId xmlns:a16="http://schemas.microsoft.com/office/drawing/2014/main" id="{8FDF0B2C-FD18-448F-A200-76563DD4DB89}"/>
              </a:ext>
            </a:extLst>
          </p:cNvPr>
          <p:cNvSpPr/>
          <p:nvPr/>
        </p:nvSpPr>
        <p:spPr bwMode="gray">
          <a:xfrm>
            <a:off x="940530" y="5659624"/>
            <a:ext cx="83820" cy="400751"/>
          </a:xfrm>
          <a:prstGeom prst="rect">
            <a:avLst/>
          </a:prstGeom>
          <a:solidFill>
            <a:srgbClr val="7DE8F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57" name="Oval 56">
            <a:extLst>
              <a:ext uri="{FF2B5EF4-FFF2-40B4-BE49-F238E27FC236}">
                <a16:creationId xmlns:a16="http://schemas.microsoft.com/office/drawing/2014/main" id="{51324075-9EA4-4F0E-8E54-7EF3FA988051}"/>
              </a:ext>
            </a:extLst>
          </p:cNvPr>
          <p:cNvSpPr/>
          <p:nvPr/>
        </p:nvSpPr>
        <p:spPr bwMode="gray">
          <a:xfrm>
            <a:off x="501636" y="6113713"/>
            <a:ext cx="334099" cy="334099"/>
          </a:xfrm>
          <a:prstGeom prst="ellipse">
            <a:avLst/>
          </a:prstGeom>
          <a:solidFill>
            <a:srgbClr val="005587"/>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Calibri"/>
              <a:ea typeface="+mn-ea"/>
              <a:cs typeface="+mn-cs"/>
            </a:endParaRPr>
          </a:p>
        </p:txBody>
      </p:sp>
      <p:sp>
        <p:nvSpPr>
          <p:cNvPr id="58" name="Rectangle 57">
            <a:extLst>
              <a:ext uri="{FF2B5EF4-FFF2-40B4-BE49-F238E27FC236}">
                <a16:creationId xmlns:a16="http://schemas.microsoft.com/office/drawing/2014/main" id="{D04CD229-51F5-4DAE-9CF2-3521806E8742}"/>
              </a:ext>
            </a:extLst>
          </p:cNvPr>
          <p:cNvSpPr/>
          <p:nvPr/>
        </p:nvSpPr>
        <p:spPr bwMode="gray">
          <a:xfrm>
            <a:off x="944069" y="6141642"/>
            <a:ext cx="83820" cy="400751"/>
          </a:xfrm>
          <a:prstGeom prst="rect">
            <a:avLst/>
          </a:prstGeom>
          <a:solidFill>
            <a:schemeClr val="accent6">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a typeface="+mn-ea"/>
              <a:cs typeface="+mn-cs"/>
            </a:endParaRPr>
          </a:p>
        </p:txBody>
      </p:sp>
      <p:sp>
        <p:nvSpPr>
          <p:cNvPr id="59" name="TextBox 58">
            <a:extLst>
              <a:ext uri="{FF2B5EF4-FFF2-40B4-BE49-F238E27FC236}">
                <a16:creationId xmlns:a16="http://schemas.microsoft.com/office/drawing/2014/main" id="{B8C857AA-BDA3-4680-A409-FFF3F793E52D}"/>
              </a:ext>
            </a:extLst>
          </p:cNvPr>
          <p:cNvSpPr txBox="1"/>
          <p:nvPr/>
        </p:nvSpPr>
        <p:spPr>
          <a:xfrm>
            <a:off x="1127746" y="6139721"/>
            <a:ext cx="8254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IN" sz="1800" b="1" i="0" u="none" strike="noStrike" kern="1200" cap="none" spc="0" normalizeH="0" baseline="0" noProof="0" dirty="0">
                <a:ln>
                  <a:noFill/>
                </a:ln>
                <a:solidFill>
                  <a:srgbClr val="313131"/>
                </a:solidFill>
                <a:effectLst/>
                <a:uLnTx/>
                <a:uFillTx/>
                <a:latin typeface="Calibri"/>
                <a:ea typeface="+mn-ea"/>
                <a:cs typeface="+mn-cs"/>
              </a:rPr>
              <a:t>Annexure</a:t>
            </a:r>
          </a:p>
        </p:txBody>
      </p:sp>
      <p:sp>
        <p:nvSpPr>
          <p:cNvPr id="3" name="TextBox 2">
            <a:extLst>
              <a:ext uri="{FF2B5EF4-FFF2-40B4-BE49-F238E27FC236}">
                <a16:creationId xmlns:a16="http://schemas.microsoft.com/office/drawing/2014/main" id="{1FA65235-3AC6-4A17-AA24-05513D0B4927}"/>
              </a:ext>
            </a:extLst>
          </p:cNvPr>
          <p:cNvSpPr txBox="1"/>
          <p:nvPr/>
        </p:nvSpPr>
        <p:spPr>
          <a:xfrm>
            <a:off x="566131" y="5736888"/>
            <a:ext cx="321310" cy="246221"/>
          </a:xfrm>
          <a:prstGeom prst="rect">
            <a:avLst/>
          </a:prstGeom>
          <a:noFill/>
        </p:spPr>
        <p:txBody>
          <a:bodyPr wrap="square" lIns="0" tIns="0" rIns="0" bIns="0" rtlCol="0">
            <a:spAutoFit/>
          </a:bodyPr>
          <a:lstStyle/>
          <a:p>
            <a:pPr>
              <a:spcBef>
                <a:spcPts val="600"/>
              </a:spcBef>
              <a:buSzPct val="100000"/>
            </a:pPr>
            <a:r>
              <a:rPr lang="en-US" sz="1600" b="1" dirty="0">
                <a:solidFill>
                  <a:schemeClr val="bg1"/>
                </a:solidFill>
              </a:rPr>
              <a:t>10</a:t>
            </a:r>
            <a:endParaRPr lang="en-US" b="1" dirty="0">
              <a:solidFill>
                <a:schemeClr val="bg1"/>
              </a:solidFill>
            </a:endParaRPr>
          </a:p>
        </p:txBody>
      </p:sp>
      <p:sp>
        <p:nvSpPr>
          <p:cNvPr id="60" name="TextBox 59">
            <a:extLst>
              <a:ext uri="{FF2B5EF4-FFF2-40B4-BE49-F238E27FC236}">
                <a16:creationId xmlns:a16="http://schemas.microsoft.com/office/drawing/2014/main" id="{615196F1-A93A-4C20-AF95-A8F2F2DA8966}"/>
              </a:ext>
            </a:extLst>
          </p:cNvPr>
          <p:cNvSpPr txBox="1"/>
          <p:nvPr/>
        </p:nvSpPr>
        <p:spPr>
          <a:xfrm>
            <a:off x="559038" y="6144474"/>
            <a:ext cx="321310" cy="246221"/>
          </a:xfrm>
          <a:prstGeom prst="rect">
            <a:avLst/>
          </a:prstGeom>
          <a:noFill/>
        </p:spPr>
        <p:txBody>
          <a:bodyPr wrap="square" lIns="0" tIns="0" rIns="0" bIns="0" rtlCol="0">
            <a:spAutoFit/>
          </a:bodyPr>
          <a:lstStyle/>
          <a:p>
            <a:pPr>
              <a:spcBef>
                <a:spcPts val="600"/>
              </a:spcBef>
              <a:buSzPct val="100000"/>
            </a:pPr>
            <a:r>
              <a:rPr lang="en-US" sz="1600" b="1" dirty="0">
                <a:solidFill>
                  <a:schemeClr val="bg1"/>
                </a:solidFill>
              </a:rPr>
              <a:t>11</a:t>
            </a:r>
            <a:endParaRPr lang="en-US" b="1" dirty="0">
              <a:solidFill>
                <a:schemeClr val="bg1"/>
              </a:solidFill>
            </a:endParaRPr>
          </a:p>
        </p:txBody>
      </p:sp>
      <p:sp>
        <p:nvSpPr>
          <p:cNvPr id="61" name="TextBox 60">
            <a:extLst>
              <a:ext uri="{FF2B5EF4-FFF2-40B4-BE49-F238E27FC236}">
                <a16:creationId xmlns:a16="http://schemas.microsoft.com/office/drawing/2014/main" id="{7BED11F5-2FC6-4810-A390-441EB706B792}"/>
              </a:ext>
            </a:extLst>
          </p:cNvPr>
          <p:cNvSpPr txBox="1"/>
          <p:nvPr/>
        </p:nvSpPr>
        <p:spPr>
          <a:xfrm>
            <a:off x="1103129" y="5266759"/>
            <a:ext cx="8254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IN" sz="1800" b="1" i="0" u="none" strike="noStrike" kern="1200" cap="none" spc="0" normalizeH="0" baseline="0" noProof="0" dirty="0">
                <a:ln>
                  <a:noFill/>
                </a:ln>
                <a:solidFill>
                  <a:srgbClr val="313131"/>
                </a:solidFill>
                <a:effectLst/>
                <a:uLnTx/>
                <a:uFillTx/>
                <a:latin typeface="Calibri"/>
                <a:ea typeface="+mn-ea"/>
                <a:cs typeface="+mn-cs"/>
              </a:rPr>
              <a:t>Benchmarking: States with high industrial energy consumption and RE energy portfolio</a:t>
            </a:r>
          </a:p>
        </p:txBody>
      </p:sp>
    </p:spTree>
    <p:extLst>
      <p:ext uri="{BB962C8B-B14F-4D97-AF65-F5344CB8AC3E}">
        <p14:creationId xmlns:p14="http://schemas.microsoft.com/office/powerpoint/2010/main" val="236485944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95000"/>
              </a:lnSpc>
              <a:spcAft>
                <a:spcPts val="0"/>
              </a:spcAft>
            </a:pPr>
            <a:r>
              <a:rPr lang="en-GB" sz="3990" b="1" dirty="0">
                <a:solidFill>
                  <a:prstClr val="white"/>
                </a:solidFill>
                <a:latin typeface="Arial" panose="020B0604020202020204" pitchFamily="34" charset="0"/>
                <a:cs typeface="Arial" panose="020B0604020202020204" pitchFamily="34" charset="0"/>
              </a:rPr>
              <a:t>Overview of West Bengal power market and average tariff rate</a:t>
            </a:r>
          </a:p>
        </p:txBody>
      </p:sp>
    </p:spTree>
    <p:extLst>
      <p:ext uri="{BB962C8B-B14F-4D97-AF65-F5344CB8AC3E}">
        <p14:creationId xmlns:p14="http://schemas.microsoft.com/office/powerpoint/2010/main" val="6691348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Box 9"/>
          <p:cNvSpPr txBox="1"/>
          <p:nvPr/>
        </p:nvSpPr>
        <p:spPr>
          <a:xfrm>
            <a:off x="622134" y="892961"/>
            <a:ext cx="5200689" cy="5697949"/>
          </a:xfrm>
          <a:prstGeom prst="rect">
            <a:avLst/>
          </a:prstGeom>
          <a:solidFill>
            <a:schemeClr val="accent3">
              <a:lumMod val="60000"/>
              <a:lumOff val="40000"/>
              <a:alpha val="12000"/>
            </a:schemeClr>
          </a:solidFill>
        </p:spPr>
        <p:txBody>
          <a:bodyPr wrap="square" lIns="65290" tIns="0" rIns="65290" bIns="0" rtlCol="0" anchor="t">
            <a:noAutofit/>
          </a:bodyPr>
          <a:lstStyle/>
          <a:p>
            <a:pPr marL="155471" indent="-155471">
              <a:lnSpc>
                <a:spcPct val="114000"/>
              </a:lnSpc>
              <a:spcAft>
                <a:spcPts val="544"/>
              </a:spcAft>
              <a:buFont typeface="Arial" panose="020B0604020202020204" pitchFamily="34" charset="0"/>
              <a:buChar char="•"/>
            </a:pPr>
            <a:endParaRPr lang="en-IN" sz="1088" dirty="0"/>
          </a:p>
        </p:txBody>
      </p:sp>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2500466495"/>
              </p:ext>
            </p:ext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5" name="Rectangle 4"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defRPr/>
            </a:pPr>
            <a:endParaRPr lang="en-US" sz="2176" dirty="0">
              <a:solidFill>
                <a:prstClr val="white"/>
              </a:solidFill>
              <a:latin typeface="Verdana" panose="020B0604030504040204" pitchFamily="34" charset="0"/>
              <a:ea typeface="+mj-ea"/>
              <a:cs typeface="+mj-cs"/>
              <a:sym typeface="Verdana" panose="020B0604030504040204" pitchFamily="34" charset="0"/>
            </a:endParaRPr>
          </a:p>
        </p:txBody>
      </p:sp>
      <p:cxnSp>
        <p:nvCxnSpPr>
          <p:cNvPr id="17" name="Straight Connector 16"/>
          <p:cNvCxnSpPr/>
          <p:nvPr/>
        </p:nvCxnSpPr>
        <p:spPr>
          <a:xfrm>
            <a:off x="625064" y="1528933"/>
            <a:ext cx="52006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bwMode="gray">
          <a:xfrm>
            <a:off x="1093814" y="1421307"/>
            <a:ext cx="4276474" cy="204622"/>
          </a:xfrm>
          <a:prstGeom prst="rect">
            <a:avLst/>
          </a:prstGeom>
          <a:solidFill>
            <a:srgbClr val="F4FAFD"/>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000" b="1" dirty="0">
                <a:latin typeface="Verdana" panose="020B0604030504040204" pitchFamily="34" charset="0"/>
                <a:ea typeface="Verdana" panose="020B0604030504040204" pitchFamily="34" charset="0"/>
              </a:rPr>
              <a:t>WBSEDCL’s Generation mix (MW, %) as on FY21 end</a:t>
            </a:r>
            <a:endParaRPr lang="en-IN" sz="1000" b="1" dirty="0">
              <a:latin typeface="Verdana" panose="020B0604030504040204" pitchFamily="34" charset="0"/>
              <a:ea typeface="Verdana" panose="020B0604030504040204" pitchFamily="34" charset="0"/>
            </a:endParaRPr>
          </a:p>
        </p:txBody>
      </p:sp>
      <p:sp>
        <p:nvSpPr>
          <p:cNvPr id="3" name="Title 2"/>
          <p:cNvSpPr>
            <a:spLocks noGrp="1"/>
          </p:cNvSpPr>
          <p:nvPr>
            <p:ph type="title"/>
          </p:nvPr>
        </p:nvSpPr>
        <p:spPr/>
        <p:txBody>
          <a:bodyPr vert="horz"/>
          <a:lstStyle/>
          <a:p>
            <a:r>
              <a:rPr lang="en-US" sz="1800" b="1" dirty="0">
                <a:latin typeface="Verdana" panose="020B0604030504040204" pitchFamily="34" charset="0"/>
                <a:ea typeface="Verdana" panose="020B0604030504040204" pitchFamily="34" charset="0"/>
              </a:rPr>
              <a:t>WBSEDCL is a key player in the West Bengal power sector</a:t>
            </a:r>
            <a:endParaRPr lang="en-IN" sz="1800" b="1" dirty="0">
              <a:latin typeface="Verdana" panose="020B0604030504040204" pitchFamily="34" charset="0"/>
              <a:ea typeface="Verdana" panose="020B0604030504040204" pitchFamily="34" charset="0"/>
            </a:endParaRPr>
          </a:p>
        </p:txBody>
      </p:sp>
      <p:sp>
        <p:nvSpPr>
          <p:cNvPr id="12" name="TextBox 11"/>
          <p:cNvSpPr txBox="1"/>
          <p:nvPr/>
        </p:nvSpPr>
        <p:spPr>
          <a:xfrm>
            <a:off x="6463094" y="892961"/>
            <a:ext cx="5200689" cy="5697949"/>
          </a:xfrm>
          <a:prstGeom prst="rect">
            <a:avLst/>
          </a:prstGeom>
          <a:solidFill>
            <a:schemeClr val="accent3">
              <a:lumMod val="60000"/>
              <a:lumOff val="40000"/>
              <a:alpha val="12000"/>
            </a:schemeClr>
          </a:solidFill>
        </p:spPr>
        <p:txBody>
          <a:bodyPr wrap="square" lIns="65290" tIns="0" rIns="65290" bIns="0" rtlCol="0" anchor="t">
            <a:noAutofit/>
          </a:bodyPr>
          <a:lstStyle/>
          <a:p>
            <a:pPr marL="155471" indent="-155471">
              <a:lnSpc>
                <a:spcPct val="114000"/>
              </a:lnSpc>
              <a:spcAft>
                <a:spcPts val="544"/>
              </a:spcAft>
              <a:buFont typeface="Arial" panose="020B0604020202020204" pitchFamily="34" charset="0"/>
              <a:buChar char="•"/>
            </a:pPr>
            <a:endParaRPr lang="en-IN" sz="1088" dirty="0"/>
          </a:p>
        </p:txBody>
      </p:sp>
      <p:sp>
        <p:nvSpPr>
          <p:cNvPr id="15" name="Rectangle 14"/>
          <p:cNvSpPr/>
          <p:nvPr/>
        </p:nvSpPr>
        <p:spPr bwMode="gray">
          <a:xfrm>
            <a:off x="625064" y="892961"/>
            <a:ext cx="5200689" cy="456657"/>
          </a:xfrm>
          <a:prstGeom prst="rect">
            <a:avLst/>
          </a:prstGeom>
          <a:solidFill>
            <a:schemeClr val="accent5"/>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rPr>
              <a:t>WBSEDCL is present across Generation &amp; Distribution Segments in West Bengal</a:t>
            </a:r>
            <a:endParaRPr lang="en-IN" sz="1200" b="1" dirty="0">
              <a:solidFill>
                <a:schemeClr val="bg1"/>
              </a:solidFill>
              <a:latin typeface="Verdana" panose="020B0604030504040204" pitchFamily="34" charset="0"/>
              <a:ea typeface="Verdana" panose="020B0604030504040204" pitchFamily="34" charset="0"/>
            </a:endParaRPr>
          </a:p>
        </p:txBody>
      </p:sp>
      <p:graphicFrame>
        <p:nvGraphicFramePr>
          <p:cNvPr id="24" name="Chart 23"/>
          <p:cNvGraphicFramePr/>
          <p:nvPr>
            <p:extLst>
              <p:ext uri="{D42A27DB-BD31-4B8C-83A1-F6EECF244321}">
                <p14:modId xmlns:p14="http://schemas.microsoft.com/office/powerpoint/2010/main" val="4061202205"/>
              </p:ext>
            </p:extLst>
          </p:nvPr>
        </p:nvGraphicFramePr>
        <p:xfrm>
          <a:off x="759515" y="1645869"/>
          <a:ext cx="2484379" cy="1890297"/>
        </p:xfrm>
        <a:graphic>
          <a:graphicData uri="http://schemas.openxmlformats.org/drawingml/2006/chart">
            <c:chart xmlns:c="http://schemas.openxmlformats.org/drawingml/2006/chart" xmlns:r="http://schemas.openxmlformats.org/officeDocument/2006/relationships" r:id="rId6"/>
          </a:graphicData>
        </a:graphic>
      </p:graphicFrame>
      <p:sp>
        <p:nvSpPr>
          <p:cNvPr id="25" name="Rectangle 24"/>
          <p:cNvSpPr/>
          <p:nvPr/>
        </p:nvSpPr>
        <p:spPr bwMode="gray">
          <a:xfrm>
            <a:off x="3378344" y="1727770"/>
            <a:ext cx="2266690" cy="1609799"/>
          </a:xfrm>
          <a:prstGeom prst="rect">
            <a:avLst/>
          </a:prstGeom>
          <a:solidFill>
            <a:schemeClr val="accent5"/>
          </a:solidFill>
          <a:ln w="19050" algn="ctr">
            <a:noFill/>
            <a:miter lim="800000"/>
            <a:headEnd/>
            <a:tailEnd/>
          </a:ln>
        </p:spPr>
        <p:txBody>
          <a:bodyPr wrap="square" lIns="80615" tIns="80615" rIns="80615" bIns="80615" rtlCol="0" anchor="ctr"/>
          <a:lstStyle/>
          <a:p>
            <a:pPr marL="155471" indent="-155471" algn="just">
              <a:lnSpc>
                <a:spcPct val="114000"/>
              </a:lnSpc>
              <a:spcAft>
                <a:spcPts val="1088"/>
              </a:spcAft>
              <a:buFont typeface="Arial" panose="020B0604020202020204" pitchFamily="34" charset="0"/>
              <a:buChar char="•"/>
            </a:pPr>
            <a:r>
              <a:rPr lang="en-US" sz="997" dirty="0">
                <a:solidFill>
                  <a:schemeClr val="bg1"/>
                </a:solidFill>
              </a:rPr>
              <a:t>The total installed capacity of WBSEDCL is 1,147 MW</a:t>
            </a:r>
          </a:p>
          <a:p>
            <a:pPr marL="155471" indent="-155471" algn="just">
              <a:lnSpc>
                <a:spcPct val="114000"/>
              </a:lnSpc>
              <a:spcAft>
                <a:spcPts val="1088"/>
              </a:spcAft>
              <a:buFont typeface="Arial" panose="020B0604020202020204" pitchFamily="34" charset="0"/>
              <a:buChar char="•"/>
            </a:pPr>
            <a:r>
              <a:rPr lang="en-US" sz="997" dirty="0">
                <a:solidFill>
                  <a:schemeClr val="bg1"/>
                </a:solidFill>
              </a:rPr>
              <a:t>The 900 MW pumped storage plant is </a:t>
            </a:r>
            <a:r>
              <a:rPr lang="en-US" sz="997" b="1" i="1" dirty="0">
                <a:solidFill>
                  <a:schemeClr val="bg1"/>
                </a:solidFill>
              </a:rPr>
              <a:t>primarily used for meeting peak as well as emergency power</a:t>
            </a:r>
            <a:r>
              <a:rPr lang="en-US" sz="997" dirty="0">
                <a:solidFill>
                  <a:schemeClr val="bg1"/>
                </a:solidFill>
              </a:rPr>
              <a:t> demand of the state</a:t>
            </a:r>
            <a:endParaRPr lang="en-IN" sz="997" dirty="0">
              <a:solidFill>
                <a:schemeClr val="bg1"/>
              </a:solidFill>
            </a:endParaRPr>
          </a:p>
        </p:txBody>
      </p:sp>
      <p:cxnSp>
        <p:nvCxnSpPr>
          <p:cNvPr id="26" name="Straight Connector 25"/>
          <p:cNvCxnSpPr/>
          <p:nvPr/>
        </p:nvCxnSpPr>
        <p:spPr>
          <a:xfrm>
            <a:off x="622134" y="3633699"/>
            <a:ext cx="52006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bwMode="gray">
          <a:xfrm>
            <a:off x="1572643" y="3526073"/>
            <a:ext cx="3461501" cy="204622"/>
          </a:xfrm>
          <a:prstGeom prst="rect">
            <a:avLst/>
          </a:prstGeom>
          <a:solidFill>
            <a:srgbClr val="F4FAFD"/>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000" b="1" dirty="0">
                <a:latin typeface="Verdana" panose="020B0604030504040204" pitchFamily="34" charset="0"/>
                <a:ea typeface="Verdana" panose="020B0604030504040204" pitchFamily="34" charset="0"/>
              </a:rPr>
              <a:t>Distribution market share in West Bengal</a:t>
            </a:r>
            <a:endParaRPr lang="en-IN" sz="1000" b="1" dirty="0">
              <a:latin typeface="Verdana" panose="020B0604030504040204" pitchFamily="34" charset="0"/>
              <a:ea typeface="Verdana" panose="020B0604030504040204" pitchFamily="34" charset="0"/>
            </a:endParaRPr>
          </a:p>
        </p:txBody>
      </p:sp>
      <p:graphicFrame>
        <p:nvGraphicFramePr>
          <p:cNvPr id="31" name="Chart 30"/>
          <p:cNvGraphicFramePr/>
          <p:nvPr>
            <p:extLst>
              <p:ext uri="{D42A27DB-BD31-4B8C-83A1-F6EECF244321}">
                <p14:modId xmlns:p14="http://schemas.microsoft.com/office/powerpoint/2010/main" val="23236993"/>
              </p:ext>
            </p:extLst>
          </p:nvPr>
        </p:nvGraphicFramePr>
        <p:xfrm>
          <a:off x="595106" y="3704969"/>
          <a:ext cx="2281500" cy="205375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3" name="Chart 32"/>
          <p:cNvGraphicFramePr/>
          <p:nvPr>
            <p:extLst>
              <p:ext uri="{D42A27DB-BD31-4B8C-83A1-F6EECF244321}">
                <p14:modId xmlns:p14="http://schemas.microsoft.com/office/powerpoint/2010/main" val="133311588"/>
              </p:ext>
            </p:extLst>
          </p:nvPr>
        </p:nvGraphicFramePr>
        <p:xfrm>
          <a:off x="3356932" y="3704969"/>
          <a:ext cx="2281500" cy="2053755"/>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5" name="Table 34"/>
          <p:cNvGraphicFramePr>
            <a:graphicFrameLocks noGrp="1"/>
          </p:cNvGraphicFramePr>
          <p:nvPr/>
        </p:nvGraphicFramePr>
        <p:xfrm>
          <a:off x="759515" y="5683451"/>
          <a:ext cx="4594331" cy="193475"/>
        </p:xfrm>
        <a:graphic>
          <a:graphicData uri="http://schemas.openxmlformats.org/drawingml/2006/table">
            <a:tbl>
              <a:tblPr firstRow="1" bandRow="1">
                <a:tableStyleId>{5C22544A-7EE6-4342-B048-85BDC9FD1C3A}</a:tableStyleId>
              </a:tblPr>
              <a:tblGrid>
                <a:gridCol w="709811">
                  <a:extLst>
                    <a:ext uri="{9D8B030D-6E8A-4147-A177-3AD203B41FA5}">
                      <a16:colId xmlns:a16="http://schemas.microsoft.com/office/drawing/2014/main" val="2307858314"/>
                    </a:ext>
                  </a:extLst>
                </a:gridCol>
                <a:gridCol w="279397">
                  <a:extLst>
                    <a:ext uri="{9D8B030D-6E8A-4147-A177-3AD203B41FA5}">
                      <a16:colId xmlns:a16="http://schemas.microsoft.com/office/drawing/2014/main" val="334080716"/>
                    </a:ext>
                  </a:extLst>
                </a:gridCol>
                <a:gridCol w="477679">
                  <a:extLst>
                    <a:ext uri="{9D8B030D-6E8A-4147-A177-3AD203B41FA5}">
                      <a16:colId xmlns:a16="http://schemas.microsoft.com/office/drawing/2014/main" val="4017238488"/>
                    </a:ext>
                  </a:extLst>
                </a:gridCol>
                <a:gridCol w="370846">
                  <a:extLst>
                    <a:ext uri="{9D8B030D-6E8A-4147-A177-3AD203B41FA5}">
                      <a16:colId xmlns:a16="http://schemas.microsoft.com/office/drawing/2014/main" val="2263500062"/>
                    </a:ext>
                  </a:extLst>
                </a:gridCol>
                <a:gridCol w="459433">
                  <a:extLst>
                    <a:ext uri="{9D8B030D-6E8A-4147-A177-3AD203B41FA5}">
                      <a16:colId xmlns:a16="http://schemas.microsoft.com/office/drawing/2014/main" val="363118609"/>
                    </a:ext>
                  </a:extLst>
                </a:gridCol>
                <a:gridCol w="459433">
                  <a:extLst>
                    <a:ext uri="{9D8B030D-6E8A-4147-A177-3AD203B41FA5}">
                      <a16:colId xmlns:a16="http://schemas.microsoft.com/office/drawing/2014/main" val="2741833925"/>
                    </a:ext>
                  </a:extLst>
                </a:gridCol>
                <a:gridCol w="459433">
                  <a:extLst>
                    <a:ext uri="{9D8B030D-6E8A-4147-A177-3AD203B41FA5}">
                      <a16:colId xmlns:a16="http://schemas.microsoft.com/office/drawing/2014/main" val="4192754574"/>
                    </a:ext>
                  </a:extLst>
                </a:gridCol>
                <a:gridCol w="459433">
                  <a:extLst>
                    <a:ext uri="{9D8B030D-6E8A-4147-A177-3AD203B41FA5}">
                      <a16:colId xmlns:a16="http://schemas.microsoft.com/office/drawing/2014/main" val="994063669"/>
                    </a:ext>
                  </a:extLst>
                </a:gridCol>
                <a:gridCol w="459433">
                  <a:extLst>
                    <a:ext uri="{9D8B030D-6E8A-4147-A177-3AD203B41FA5}">
                      <a16:colId xmlns:a16="http://schemas.microsoft.com/office/drawing/2014/main" val="1162535093"/>
                    </a:ext>
                  </a:extLst>
                </a:gridCol>
                <a:gridCol w="459433">
                  <a:extLst>
                    <a:ext uri="{9D8B030D-6E8A-4147-A177-3AD203B41FA5}">
                      <a16:colId xmlns:a16="http://schemas.microsoft.com/office/drawing/2014/main" val="1855393150"/>
                    </a:ext>
                  </a:extLst>
                </a:gridCol>
              </a:tblGrid>
              <a:tr h="193475">
                <a:tc>
                  <a:txBody>
                    <a:bodyPr/>
                    <a:lstStyle/>
                    <a:p>
                      <a:pPr algn="ctr"/>
                      <a:r>
                        <a:rPr lang="en-US" sz="700" dirty="0">
                          <a:solidFill>
                            <a:schemeClr val="tx1"/>
                          </a:solidFill>
                        </a:rPr>
                        <a:t>WBSEDCL</a:t>
                      </a: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ctr"/>
                      <a:r>
                        <a:rPr lang="en-US" sz="700" dirty="0">
                          <a:solidFill>
                            <a:schemeClr val="tx1"/>
                          </a:solidFill>
                        </a:rPr>
                        <a:t>CESC</a:t>
                      </a: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sz="700" dirty="0">
                          <a:solidFill>
                            <a:schemeClr val="tx1"/>
                          </a:solidFill>
                        </a:rPr>
                        <a:t>DPL</a:t>
                      </a: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US" sz="700" dirty="0">
                          <a:solidFill>
                            <a:schemeClr val="tx1"/>
                          </a:solidFill>
                        </a:rPr>
                        <a:t>IPCL</a:t>
                      </a: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tc>
                  <a:txBody>
                    <a:bodyPr/>
                    <a:lstStyle/>
                    <a:p>
                      <a:pPr algn="ctr"/>
                      <a:r>
                        <a:rPr lang="en-US" sz="700" dirty="0">
                          <a:solidFill>
                            <a:schemeClr val="tx1"/>
                          </a:solidFill>
                        </a:rPr>
                        <a:t>DVC</a:t>
                      </a: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82918" marR="82918" marT="41459" marB="41459">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519586596"/>
                  </a:ext>
                </a:extLst>
              </a:tr>
            </a:tbl>
          </a:graphicData>
        </a:graphic>
      </p:graphicFrame>
      <p:sp>
        <p:nvSpPr>
          <p:cNvPr id="36" name="Rectangle 35"/>
          <p:cNvSpPr/>
          <p:nvPr/>
        </p:nvSpPr>
        <p:spPr bwMode="gray">
          <a:xfrm>
            <a:off x="759516" y="6091514"/>
            <a:ext cx="4885518" cy="558881"/>
          </a:xfrm>
          <a:prstGeom prst="rect">
            <a:avLst/>
          </a:prstGeom>
          <a:solidFill>
            <a:schemeClr val="accent5"/>
          </a:solidFill>
          <a:ln w="19050" algn="ctr">
            <a:noFill/>
            <a:miter lim="800000"/>
            <a:headEnd/>
            <a:tailEnd/>
          </a:ln>
        </p:spPr>
        <p:txBody>
          <a:bodyPr wrap="square" lIns="80615" tIns="80615" rIns="80615" bIns="80615" rtlCol="0" anchor="ctr"/>
          <a:lstStyle/>
          <a:p>
            <a:pPr algn="ctr">
              <a:lnSpc>
                <a:spcPct val="114000"/>
              </a:lnSpc>
              <a:spcAft>
                <a:spcPts val="1088"/>
              </a:spcAft>
            </a:pPr>
            <a:r>
              <a:rPr lang="en-US" sz="1000" b="1" dirty="0">
                <a:solidFill>
                  <a:schemeClr val="bg1"/>
                </a:solidFill>
                <a:latin typeface="Verdana" panose="020B0604030504040204" pitchFamily="34" charset="0"/>
                <a:ea typeface="Verdana" panose="020B0604030504040204" pitchFamily="34" charset="0"/>
              </a:rPr>
              <a:t>WBSEDCL is the largest distribution utility in West Bengal with consumer share of ~85% and sales share of 58% as per FY 2020 data set</a:t>
            </a:r>
            <a:endParaRPr lang="en-IN" sz="1000" b="1" dirty="0">
              <a:solidFill>
                <a:schemeClr val="bg1"/>
              </a:solidFill>
              <a:latin typeface="Verdana" panose="020B0604030504040204" pitchFamily="34" charset="0"/>
              <a:ea typeface="Verdana" panose="020B0604030504040204" pitchFamily="34" charset="0"/>
            </a:endParaRPr>
          </a:p>
        </p:txBody>
      </p:sp>
      <p:sp>
        <p:nvSpPr>
          <p:cNvPr id="37" name="Rectangle 36"/>
          <p:cNvSpPr/>
          <p:nvPr/>
        </p:nvSpPr>
        <p:spPr bwMode="gray">
          <a:xfrm>
            <a:off x="6466025" y="892961"/>
            <a:ext cx="5200689" cy="456657"/>
          </a:xfrm>
          <a:prstGeom prst="rect">
            <a:avLst/>
          </a:prstGeom>
          <a:solidFill>
            <a:schemeClr val="accent5"/>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rPr>
              <a:t>It has witnessed gradual increase in Consumers &amp; Retail Sales </a:t>
            </a:r>
            <a:endParaRPr lang="en-IN" sz="1200" b="1" dirty="0">
              <a:solidFill>
                <a:schemeClr val="bg1"/>
              </a:solidFill>
              <a:latin typeface="Verdana" panose="020B0604030504040204" pitchFamily="34" charset="0"/>
              <a:ea typeface="Verdana" panose="020B0604030504040204" pitchFamily="34" charset="0"/>
            </a:endParaRPr>
          </a:p>
        </p:txBody>
      </p:sp>
      <p:sp>
        <p:nvSpPr>
          <p:cNvPr id="38" name="Rectangle 37"/>
          <p:cNvSpPr/>
          <p:nvPr/>
        </p:nvSpPr>
        <p:spPr bwMode="gray">
          <a:xfrm>
            <a:off x="6662914" y="1451065"/>
            <a:ext cx="4801048" cy="547650"/>
          </a:xfrm>
          <a:prstGeom prst="rect">
            <a:avLst/>
          </a:prstGeom>
          <a:solidFill>
            <a:srgbClr val="009A44">
              <a:alpha val="16000"/>
            </a:srgbClr>
          </a:solidFill>
          <a:ln w="19050" algn="ctr">
            <a:noFill/>
            <a:miter lim="800000"/>
            <a:headEnd/>
            <a:tailEnd/>
          </a:ln>
        </p:spPr>
        <p:txBody>
          <a:bodyPr wrap="square" lIns="80615" tIns="80615" rIns="80615" bIns="80615" rtlCol="0" anchor="ctr"/>
          <a:lstStyle/>
          <a:p>
            <a:pPr marL="155471" indent="-155471" algn="just">
              <a:lnSpc>
                <a:spcPct val="114000"/>
              </a:lnSpc>
              <a:spcAft>
                <a:spcPts val="544"/>
              </a:spcAft>
              <a:buFont typeface="Arial" panose="020B0604020202020204" pitchFamily="34" charset="0"/>
              <a:buChar char="•"/>
            </a:pPr>
            <a:r>
              <a:rPr lang="en-US" sz="997" dirty="0">
                <a:latin typeface="Verdana" panose="020B0604030504040204" pitchFamily="34" charset="0"/>
                <a:ea typeface="Verdana" panose="020B0604030504040204" pitchFamily="34" charset="0"/>
              </a:rPr>
              <a:t>Electrification works undertaken by WBSEDCL has resulted in gradual increase in consumer strength and retail sales</a:t>
            </a:r>
          </a:p>
        </p:txBody>
      </p:sp>
      <p:graphicFrame>
        <p:nvGraphicFramePr>
          <p:cNvPr id="41" name="Chart 40"/>
          <p:cNvGraphicFramePr/>
          <p:nvPr>
            <p:extLst>
              <p:ext uri="{D42A27DB-BD31-4B8C-83A1-F6EECF244321}">
                <p14:modId xmlns:p14="http://schemas.microsoft.com/office/powerpoint/2010/main" val="19134476"/>
              </p:ext>
            </p:extLst>
          </p:nvPr>
        </p:nvGraphicFramePr>
        <p:xfrm>
          <a:off x="6662914" y="2337687"/>
          <a:ext cx="4801048" cy="1488610"/>
        </p:xfrm>
        <a:graphic>
          <a:graphicData uri="http://schemas.openxmlformats.org/drawingml/2006/chart">
            <c:chart xmlns:c="http://schemas.openxmlformats.org/drawingml/2006/chart" xmlns:r="http://schemas.openxmlformats.org/officeDocument/2006/relationships" r:id="rId9"/>
          </a:graphicData>
        </a:graphic>
      </p:graphicFrame>
      <p:cxnSp>
        <p:nvCxnSpPr>
          <p:cNvPr id="42" name="Straight Connector 41"/>
          <p:cNvCxnSpPr/>
          <p:nvPr/>
        </p:nvCxnSpPr>
        <p:spPr>
          <a:xfrm>
            <a:off x="6485505" y="2261785"/>
            <a:ext cx="52006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bwMode="gray">
          <a:xfrm>
            <a:off x="8189803" y="2091696"/>
            <a:ext cx="1953927" cy="329546"/>
          </a:xfrm>
          <a:prstGeom prst="rect">
            <a:avLst/>
          </a:prstGeom>
          <a:solidFill>
            <a:srgbClr val="F4FAFD"/>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088" b="1" dirty="0"/>
              <a:t>Growth in Sales (MUs) </a:t>
            </a:r>
            <a:endParaRPr lang="en-IN" sz="1088" b="1" dirty="0"/>
          </a:p>
        </p:txBody>
      </p:sp>
      <p:sp>
        <p:nvSpPr>
          <p:cNvPr id="44" name="Rectangle 43"/>
          <p:cNvSpPr/>
          <p:nvPr/>
        </p:nvSpPr>
        <p:spPr bwMode="gray">
          <a:xfrm>
            <a:off x="6662914" y="3927744"/>
            <a:ext cx="4796311" cy="279822"/>
          </a:xfrm>
          <a:prstGeom prst="rect">
            <a:avLst/>
          </a:prstGeom>
          <a:solidFill>
            <a:schemeClr val="accent1">
              <a:alpha val="16000"/>
            </a:schemeClr>
          </a:solidFill>
          <a:ln w="19050" algn="ctr">
            <a:noFill/>
            <a:miter lim="800000"/>
            <a:headEnd/>
            <a:tailEnd/>
          </a:ln>
        </p:spPr>
        <p:txBody>
          <a:bodyPr wrap="square" lIns="80615" tIns="80615" rIns="80615" bIns="80615" rtlCol="0" anchor="ctr"/>
          <a:lstStyle/>
          <a:p>
            <a:pPr algn="ctr">
              <a:lnSpc>
                <a:spcPct val="114000"/>
              </a:lnSpc>
              <a:spcAft>
                <a:spcPts val="544"/>
              </a:spcAft>
            </a:pPr>
            <a:r>
              <a:rPr lang="en-US" sz="1000" b="1" i="1" dirty="0">
                <a:latin typeface="Verdana" panose="020B0604030504040204" pitchFamily="34" charset="0"/>
                <a:ea typeface="Verdana" panose="020B0604030504040204" pitchFamily="34" charset="0"/>
              </a:rPr>
              <a:t>The electricity sales has increased at a CAGR of ~7% </a:t>
            </a:r>
          </a:p>
        </p:txBody>
      </p:sp>
      <p:graphicFrame>
        <p:nvGraphicFramePr>
          <p:cNvPr id="49" name="Chart 48"/>
          <p:cNvGraphicFramePr/>
          <p:nvPr>
            <p:extLst>
              <p:ext uri="{D42A27DB-BD31-4B8C-83A1-F6EECF244321}">
                <p14:modId xmlns:p14="http://schemas.microsoft.com/office/powerpoint/2010/main" val="3775523759"/>
              </p:ext>
            </p:extLst>
          </p:nvPr>
        </p:nvGraphicFramePr>
        <p:xfrm>
          <a:off x="6658177" y="4581314"/>
          <a:ext cx="4801048" cy="1486789"/>
        </p:xfrm>
        <a:graphic>
          <a:graphicData uri="http://schemas.openxmlformats.org/drawingml/2006/chart">
            <c:chart xmlns:c="http://schemas.openxmlformats.org/drawingml/2006/chart" xmlns:r="http://schemas.openxmlformats.org/officeDocument/2006/relationships" r:id="rId10"/>
          </a:graphicData>
        </a:graphic>
      </p:graphicFrame>
      <p:cxnSp>
        <p:nvCxnSpPr>
          <p:cNvPr id="50" name="Straight Connector 49"/>
          <p:cNvCxnSpPr/>
          <p:nvPr/>
        </p:nvCxnSpPr>
        <p:spPr>
          <a:xfrm>
            <a:off x="6480768" y="4505412"/>
            <a:ext cx="52006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bwMode="gray">
          <a:xfrm>
            <a:off x="7979903" y="4335323"/>
            <a:ext cx="2364251" cy="329546"/>
          </a:xfrm>
          <a:prstGeom prst="rect">
            <a:avLst/>
          </a:prstGeom>
          <a:solidFill>
            <a:srgbClr val="F4FAFD"/>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088" b="1" dirty="0"/>
              <a:t>Growth in Consumers (</a:t>
            </a:r>
            <a:r>
              <a:rPr lang="en-US" sz="1088" b="1" dirty="0" err="1"/>
              <a:t>Mn</a:t>
            </a:r>
            <a:r>
              <a:rPr lang="en-US" sz="1088" b="1" dirty="0"/>
              <a:t>)</a:t>
            </a:r>
            <a:endParaRPr lang="en-IN" sz="1088" b="1" dirty="0"/>
          </a:p>
        </p:txBody>
      </p:sp>
      <p:sp>
        <p:nvSpPr>
          <p:cNvPr id="52" name="Rectangle 51"/>
          <p:cNvSpPr/>
          <p:nvPr/>
        </p:nvSpPr>
        <p:spPr bwMode="gray">
          <a:xfrm>
            <a:off x="6662914" y="6189595"/>
            <a:ext cx="4796311" cy="279822"/>
          </a:xfrm>
          <a:prstGeom prst="rect">
            <a:avLst/>
          </a:prstGeom>
          <a:solidFill>
            <a:schemeClr val="accent2">
              <a:alpha val="16000"/>
            </a:schemeClr>
          </a:solidFill>
          <a:ln w="19050" algn="ctr">
            <a:noFill/>
            <a:miter lim="800000"/>
            <a:headEnd/>
            <a:tailEnd/>
          </a:ln>
        </p:spPr>
        <p:txBody>
          <a:bodyPr wrap="square" lIns="80615" tIns="80615" rIns="80615" bIns="80615" rtlCol="0" anchor="ctr"/>
          <a:lstStyle/>
          <a:p>
            <a:pPr algn="ctr">
              <a:lnSpc>
                <a:spcPct val="114000"/>
              </a:lnSpc>
              <a:spcAft>
                <a:spcPts val="544"/>
              </a:spcAft>
            </a:pPr>
            <a:r>
              <a:rPr lang="en-US" sz="1000" b="1" i="1" dirty="0">
                <a:latin typeface="Verdana" panose="020B0604030504040204" pitchFamily="34" charset="0"/>
                <a:ea typeface="Verdana" panose="020B0604030504040204" pitchFamily="34" charset="0"/>
              </a:rPr>
              <a:t>The consumer growth has increased at a CAGR of ~6% </a:t>
            </a:r>
          </a:p>
        </p:txBody>
      </p:sp>
      <p:sp>
        <p:nvSpPr>
          <p:cNvPr id="28" name="TextBox 27"/>
          <p:cNvSpPr txBox="1"/>
          <p:nvPr/>
        </p:nvSpPr>
        <p:spPr>
          <a:xfrm>
            <a:off x="6560776" y="6650396"/>
            <a:ext cx="4927072" cy="139590"/>
          </a:xfrm>
          <a:prstGeom prst="rect">
            <a:avLst/>
          </a:prstGeom>
          <a:noFill/>
        </p:spPr>
        <p:txBody>
          <a:bodyPr wrap="square" lIns="0" tIns="0" rIns="0" bIns="0" rtlCol="0">
            <a:spAutoFit/>
          </a:bodyPr>
          <a:lstStyle/>
          <a:p>
            <a:pPr algn="r">
              <a:spcBef>
                <a:spcPts val="544"/>
              </a:spcBef>
              <a:buSzPct val="100000"/>
            </a:pPr>
            <a:r>
              <a:rPr lang="en-GB" sz="907" i="1" dirty="0">
                <a:solidFill>
                  <a:srgbClr val="313131"/>
                </a:solidFill>
              </a:rPr>
              <a:t>Data source: WBSEDCL’s Annual Reports</a:t>
            </a:r>
          </a:p>
        </p:txBody>
      </p:sp>
      <p:sp>
        <p:nvSpPr>
          <p:cNvPr id="2" name="TextBox 1">
            <a:extLst>
              <a:ext uri="{FF2B5EF4-FFF2-40B4-BE49-F238E27FC236}">
                <a16:creationId xmlns:a16="http://schemas.microsoft.com/office/drawing/2014/main" id="{39214C10-2C3B-42D0-989E-1FE1C161056A}"/>
              </a:ext>
            </a:extLst>
          </p:cNvPr>
          <p:cNvSpPr txBox="1"/>
          <p:nvPr/>
        </p:nvSpPr>
        <p:spPr>
          <a:xfrm>
            <a:off x="469902" y="6619619"/>
            <a:ext cx="4470400" cy="107722"/>
          </a:xfrm>
          <a:prstGeom prst="rect">
            <a:avLst/>
          </a:prstGeom>
          <a:noFill/>
        </p:spPr>
        <p:txBody>
          <a:bodyPr wrap="square" lIns="0" tIns="0" rIns="0" bIns="0" rtlCol="0">
            <a:spAutoFit/>
          </a:bodyPr>
          <a:lstStyle/>
          <a:p>
            <a:pPr>
              <a:spcBef>
                <a:spcPts val="600"/>
              </a:spcBef>
              <a:buSzPct val="100000"/>
            </a:pPr>
            <a:r>
              <a:rPr lang="en-US" sz="700" dirty="0">
                <a:solidFill>
                  <a:srgbClr val="313131"/>
                </a:solidFill>
                <a:latin typeface="Verdana" panose="020B0604030504040204" pitchFamily="34" charset="0"/>
                <a:ea typeface="Verdana" panose="020B0604030504040204" pitchFamily="34" charset="0"/>
              </a:rPr>
              <a:t>@ 2020 Deloitte </a:t>
            </a:r>
            <a:r>
              <a:rPr lang="en-US" sz="700" dirty="0" err="1">
                <a:solidFill>
                  <a:srgbClr val="313131"/>
                </a:solidFill>
                <a:latin typeface="Verdana" panose="020B0604030504040204" pitchFamily="34" charset="0"/>
                <a:ea typeface="Verdana" panose="020B0604030504040204" pitchFamily="34" charset="0"/>
              </a:rPr>
              <a:t>Touche</a:t>
            </a:r>
            <a:r>
              <a:rPr lang="en-US" sz="700" dirty="0">
                <a:solidFill>
                  <a:srgbClr val="313131"/>
                </a:solidFill>
                <a:latin typeface="Verdana" panose="020B0604030504040204" pitchFamily="34" charset="0"/>
                <a:ea typeface="Verdana" panose="020B0604030504040204" pitchFamily="34" charset="0"/>
              </a:rPr>
              <a:t> Tohmatsu India LLP </a:t>
            </a:r>
          </a:p>
        </p:txBody>
      </p:sp>
    </p:spTree>
    <p:extLst>
      <p:ext uri="{BB962C8B-B14F-4D97-AF65-F5344CB8AC3E}">
        <p14:creationId xmlns:p14="http://schemas.microsoft.com/office/powerpoint/2010/main" val="236988173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239431034"/>
              </p:ext>
            </p:ext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5" name="Rectangle 4"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defRPr/>
            </a:pPr>
            <a:endParaRPr lang="en-US" sz="2176" dirty="0">
              <a:solidFill>
                <a:prstClr val="white"/>
              </a:solidFill>
              <a:latin typeface="Verdana" panose="020B0604030504040204" pitchFamily="34" charset="0"/>
              <a:ea typeface="+mj-ea"/>
              <a:cs typeface="+mj-cs"/>
              <a:sym typeface="Verdana" panose="020B0604030504040204" pitchFamily="34" charset="0"/>
            </a:endParaRPr>
          </a:p>
        </p:txBody>
      </p:sp>
      <p:sp>
        <p:nvSpPr>
          <p:cNvPr id="14" name="TextBox 13"/>
          <p:cNvSpPr txBox="1"/>
          <p:nvPr/>
        </p:nvSpPr>
        <p:spPr>
          <a:xfrm>
            <a:off x="524256" y="1515044"/>
            <a:ext cx="5200689" cy="4258114"/>
          </a:xfrm>
          <a:prstGeom prst="rect">
            <a:avLst/>
          </a:prstGeom>
          <a:solidFill>
            <a:schemeClr val="bg1">
              <a:alpha val="12000"/>
            </a:schemeClr>
          </a:solidFill>
        </p:spPr>
        <p:txBody>
          <a:bodyPr wrap="square" lIns="65290" tIns="0" rIns="65290" bIns="0" rtlCol="0" anchor="t">
            <a:noAutofit/>
          </a:bodyPr>
          <a:lstStyle/>
          <a:p>
            <a:pPr marL="155471" indent="-155471">
              <a:lnSpc>
                <a:spcPct val="114000"/>
              </a:lnSpc>
              <a:spcAft>
                <a:spcPts val="544"/>
              </a:spcAft>
              <a:buFont typeface="Arial" panose="020B0604020202020204" pitchFamily="34" charset="0"/>
              <a:buChar char="•"/>
            </a:pPr>
            <a:endParaRPr lang="en-IN" sz="1088" dirty="0"/>
          </a:p>
        </p:txBody>
      </p:sp>
      <p:sp>
        <p:nvSpPr>
          <p:cNvPr id="3" name="Title 2"/>
          <p:cNvSpPr>
            <a:spLocks noGrp="1"/>
          </p:cNvSpPr>
          <p:nvPr>
            <p:ph type="title"/>
          </p:nvPr>
        </p:nvSpPr>
        <p:spPr/>
        <p:txBody>
          <a:bodyPr vert="horz"/>
          <a:lstStyle/>
          <a:p>
            <a:r>
              <a:rPr lang="en-IN" sz="1800" b="1" dirty="0">
                <a:latin typeface="Verdana" panose="020B0604030504040204" pitchFamily="34" charset="0"/>
                <a:ea typeface="Verdana" panose="020B0604030504040204" pitchFamily="34" charset="0"/>
              </a:rPr>
              <a:t>Industrial and domestic revenue comprises of ~70% with reducing trend in Dist. And AT&amp;C Loss</a:t>
            </a:r>
          </a:p>
        </p:txBody>
      </p:sp>
      <p:sp>
        <p:nvSpPr>
          <p:cNvPr id="8" name="Rectangle 7"/>
          <p:cNvSpPr/>
          <p:nvPr/>
        </p:nvSpPr>
        <p:spPr bwMode="gray">
          <a:xfrm>
            <a:off x="2741011" y="2352886"/>
            <a:ext cx="2895243" cy="530786"/>
          </a:xfrm>
          <a:prstGeom prst="rect">
            <a:avLst/>
          </a:prstGeom>
          <a:solidFill>
            <a:schemeClr val="accent5"/>
          </a:solidFill>
          <a:ln w="19050" algn="ctr">
            <a:noFill/>
            <a:miter lim="800000"/>
            <a:headEnd/>
            <a:tailEnd/>
          </a:ln>
        </p:spPr>
        <p:txBody>
          <a:bodyPr wrap="square" lIns="80615" tIns="80615" rIns="80615" bIns="80615" rtlCol="0" anchor="ctr"/>
          <a:lstStyle/>
          <a:p>
            <a:pPr algn="ctr">
              <a:lnSpc>
                <a:spcPct val="114000"/>
              </a:lnSpc>
              <a:spcAft>
                <a:spcPts val="544"/>
              </a:spcAft>
            </a:pPr>
            <a:r>
              <a:rPr lang="en-US" sz="1000" b="1" i="1" dirty="0">
                <a:solidFill>
                  <a:schemeClr val="bg1"/>
                </a:solidFill>
                <a:latin typeface="Verdana" panose="020B0604030504040204" pitchFamily="34" charset="0"/>
                <a:ea typeface="Verdana" panose="020B0604030504040204" pitchFamily="34" charset="0"/>
              </a:rPr>
              <a:t>High proportion (~90%) of low voltage domestic consumers</a:t>
            </a:r>
          </a:p>
        </p:txBody>
      </p:sp>
      <p:sp>
        <p:nvSpPr>
          <p:cNvPr id="9" name="Rectangle 8"/>
          <p:cNvSpPr/>
          <p:nvPr/>
        </p:nvSpPr>
        <p:spPr bwMode="gray">
          <a:xfrm>
            <a:off x="501871" y="1160851"/>
            <a:ext cx="5221418" cy="445122"/>
          </a:xfrm>
          <a:prstGeom prst="rect">
            <a:avLst/>
          </a:prstGeom>
          <a:solidFill>
            <a:schemeClr val="accent5"/>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rPr>
              <a:t>WBSEDCL’s consumer &amp; sales mix are dominated by low voltage domestic consumers</a:t>
            </a:r>
            <a:endParaRPr lang="en-IN" sz="1200" b="1" dirty="0">
              <a:solidFill>
                <a:schemeClr val="bg1"/>
              </a:solidFill>
              <a:latin typeface="Verdana" panose="020B0604030504040204" pitchFamily="34" charset="0"/>
              <a:ea typeface="Verdana" panose="020B0604030504040204" pitchFamily="34" charset="0"/>
            </a:endParaRPr>
          </a:p>
        </p:txBody>
      </p:sp>
      <p:cxnSp>
        <p:nvCxnSpPr>
          <p:cNvPr id="15" name="Straight Connector 14"/>
          <p:cNvCxnSpPr/>
          <p:nvPr/>
        </p:nvCxnSpPr>
        <p:spPr>
          <a:xfrm>
            <a:off x="520507" y="1775561"/>
            <a:ext cx="52006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gray">
          <a:xfrm>
            <a:off x="986584" y="1658203"/>
            <a:ext cx="4243829" cy="225084"/>
          </a:xfrm>
          <a:prstGeom prst="rect">
            <a:avLst/>
          </a:prstGeom>
          <a:solidFill>
            <a:srgbClr val="F4FAFD"/>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000" b="1" dirty="0">
                <a:latin typeface="Verdana" panose="020B0604030504040204" pitchFamily="34" charset="0"/>
                <a:ea typeface="Verdana" panose="020B0604030504040204" pitchFamily="34" charset="0"/>
              </a:rPr>
              <a:t>WBSEDCL’s Consumer, Sales &amp; Revenue  Mix (FY21)</a:t>
            </a:r>
            <a:endParaRPr lang="en-IN" sz="1000" b="1" dirty="0">
              <a:latin typeface="Verdana" panose="020B0604030504040204" pitchFamily="34" charset="0"/>
              <a:ea typeface="Verdana" panose="020B0604030504040204" pitchFamily="34" charset="0"/>
            </a:endParaRPr>
          </a:p>
        </p:txBody>
      </p:sp>
      <p:graphicFrame>
        <p:nvGraphicFramePr>
          <p:cNvPr id="19" name="Chart 18"/>
          <p:cNvGraphicFramePr/>
          <p:nvPr/>
        </p:nvGraphicFramePr>
        <p:xfrm>
          <a:off x="436276" y="1588055"/>
          <a:ext cx="2281500" cy="205375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 name="Table 19"/>
          <p:cNvGraphicFramePr>
            <a:graphicFrameLocks noGrp="1"/>
          </p:cNvGraphicFramePr>
          <p:nvPr/>
        </p:nvGraphicFramePr>
        <p:xfrm>
          <a:off x="525681" y="3546728"/>
          <a:ext cx="5173798" cy="282042"/>
        </p:xfrm>
        <a:graphic>
          <a:graphicData uri="http://schemas.openxmlformats.org/drawingml/2006/table">
            <a:tbl>
              <a:tblPr firstRow="1" bandRow="1">
                <a:tableStyleId>{5C22544A-7EE6-4342-B048-85BDC9FD1C3A}</a:tableStyleId>
              </a:tblPr>
              <a:tblGrid>
                <a:gridCol w="692747">
                  <a:extLst>
                    <a:ext uri="{9D8B030D-6E8A-4147-A177-3AD203B41FA5}">
                      <a16:colId xmlns:a16="http://schemas.microsoft.com/office/drawing/2014/main" val="2307858314"/>
                    </a:ext>
                  </a:extLst>
                </a:gridCol>
                <a:gridCol w="338488">
                  <a:extLst>
                    <a:ext uri="{9D8B030D-6E8A-4147-A177-3AD203B41FA5}">
                      <a16:colId xmlns:a16="http://schemas.microsoft.com/office/drawing/2014/main" val="334080716"/>
                    </a:ext>
                  </a:extLst>
                </a:gridCol>
                <a:gridCol w="772309">
                  <a:extLst>
                    <a:ext uri="{9D8B030D-6E8A-4147-A177-3AD203B41FA5}">
                      <a16:colId xmlns:a16="http://schemas.microsoft.com/office/drawing/2014/main" val="4017238488"/>
                    </a:ext>
                  </a:extLst>
                </a:gridCol>
                <a:gridCol w="348203">
                  <a:extLst>
                    <a:ext uri="{9D8B030D-6E8A-4147-A177-3AD203B41FA5}">
                      <a16:colId xmlns:a16="http://schemas.microsoft.com/office/drawing/2014/main" val="2263500062"/>
                    </a:ext>
                  </a:extLst>
                </a:gridCol>
                <a:gridCol w="740095">
                  <a:extLst>
                    <a:ext uri="{9D8B030D-6E8A-4147-A177-3AD203B41FA5}">
                      <a16:colId xmlns:a16="http://schemas.microsoft.com/office/drawing/2014/main" val="363118609"/>
                    </a:ext>
                  </a:extLst>
                </a:gridCol>
                <a:gridCol w="352401">
                  <a:extLst>
                    <a:ext uri="{9D8B030D-6E8A-4147-A177-3AD203B41FA5}">
                      <a16:colId xmlns:a16="http://schemas.microsoft.com/office/drawing/2014/main" val="2741833925"/>
                    </a:ext>
                  </a:extLst>
                </a:gridCol>
                <a:gridCol w="693319">
                  <a:extLst>
                    <a:ext uri="{9D8B030D-6E8A-4147-A177-3AD203B41FA5}">
                      <a16:colId xmlns:a16="http://schemas.microsoft.com/office/drawing/2014/main" val="4192754574"/>
                    </a:ext>
                  </a:extLst>
                </a:gridCol>
                <a:gridCol w="385176">
                  <a:extLst>
                    <a:ext uri="{9D8B030D-6E8A-4147-A177-3AD203B41FA5}">
                      <a16:colId xmlns:a16="http://schemas.microsoft.com/office/drawing/2014/main" val="994063669"/>
                    </a:ext>
                  </a:extLst>
                </a:gridCol>
                <a:gridCol w="478552">
                  <a:extLst>
                    <a:ext uri="{9D8B030D-6E8A-4147-A177-3AD203B41FA5}">
                      <a16:colId xmlns:a16="http://schemas.microsoft.com/office/drawing/2014/main" val="1162535093"/>
                    </a:ext>
                  </a:extLst>
                </a:gridCol>
                <a:gridCol w="372508">
                  <a:extLst>
                    <a:ext uri="{9D8B030D-6E8A-4147-A177-3AD203B41FA5}">
                      <a16:colId xmlns:a16="http://schemas.microsoft.com/office/drawing/2014/main" val="1855393150"/>
                    </a:ext>
                  </a:extLst>
                </a:gridCol>
              </a:tblGrid>
              <a:tr h="282042">
                <a:tc>
                  <a:txBody>
                    <a:bodyPr/>
                    <a:lstStyle/>
                    <a:p>
                      <a:pPr algn="ctr"/>
                      <a:r>
                        <a:rPr lang="en-US" sz="700" dirty="0">
                          <a:solidFill>
                            <a:schemeClr val="tx1"/>
                          </a:solidFill>
                        </a:rPr>
                        <a:t>Domestic</a:t>
                      </a: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ctr"/>
                      <a:r>
                        <a:rPr lang="en-US" sz="700" dirty="0">
                          <a:solidFill>
                            <a:schemeClr val="tx1"/>
                          </a:solidFill>
                        </a:rPr>
                        <a:t>Commercial</a:t>
                      </a: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sz="700" dirty="0">
                          <a:solidFill>
                            <a:schemeClr val="tx1"/>
                          </a:solidFill>
                        </a:rPr>
                        <a:t>Agricultural</a:t>
                      </a: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US" sz="700" dirty="0">
                          <a:solidFill>
                            <a:schemeClr val="tx1"/>
                          </a:solidFill>
                        </a:rPr>
                        <a:t>Industrial</a:t>
                      </a: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tc>
                  <a:txBody>
                    <a:bodyPr/>
                    <a:lstStyle/>
                    <a:p>
                      <a:pPr algn="ctr"/>
                      <a:r>
                        <a:rPr lang="en-US" sz="700" dirty="0">
                          <a:solidFill>
                            <a:schemeClr val="tx1"/>
                          </a:solidFill>
                        </a:rPr>
                        <a:t>Others</a:t>
                      </a: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dirty="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519586596"/>
                  </a:ext>
                </a:extLst>
              </a:tr>
            </a:tbl>
          </a:graphicData>
        </a:graphic>
      </p:graphicFrame>
      <p:graphicFrame>
        <p:nvGraphicFramePr>
          <p:cNvPr id="24" name="Chart 23"/>
          <p:cNvGraphicFramePr/>
          <p:nvPr/>
        </p:nvGraphicFramePr>
        <p:xfrm>
          <a:off x="468704" y="3468609"/>
          <a:ext cx="2281500" cy="2053755"/>
        </p:xfrm>
        <a:graphic>
          <a:graphicData uri="http://schemas.openxmlformats.org/drawingml/2006/chart">
            <c:chart xmlns:c="http://schemas.openxmlformats.org/drawingml/2006/chart" xmlns:r="http://schemas.openxmlformats.org/officeDocument/2006/relationships" r:id="rId7"/>
          </a:graphicData>
        </a:graphic>
      </p:graphicFrame>
      <p:sp>
        <p:nvSpPr>
          <p:cNvPr id="25" name="TextBox 24"/>
          <p:cNvSpPr txBox="1"/>
          <p:nvPr/>
        </p:nvSpPr>
        <p:spPr>
          <a:xfrm>
            <a:off x="6463094" y="1160851"/>
            <a:ext cx="5200689" cy="4612307"/>
          </a:xfrm>
          <a:prstGeom prst="rect">
            <a:avLst/>
          </a:prstGeom>
          <a:solidFill>
            <a:schemeClr val="bg1">
              <a:alpha val="12000"/>
            </a:schemeClr>
          </a:solidFill>
        </p:spPr>
        <p:txBody>
          <a:bodyPr wrap="square" lIns="65290" tIns="0" rIns="65290" bIns="0" rtlCol="0" anchor="t">
            <a:noAutofit/>
          </a:bodyPr>
          <a:lstStyle/>
          <a:p>
            <a:pPr marL="155471" indent="-155471">
              <a:lnSpc>
                <a:spcPct val="114000"/>
              </a:lnSpc>
              <a:spcAft>
                <a:spcPts val="544"/>
              </a:spcAft>
              <a:buFont typeface="Arial" panose="020B0604020202020204" pitchFamily="34" charset="0"/>
              <a:buChar char="•"/>
            </a:pPr>
            <a:endParaRPr lang="en-IN" sz="1088" dirty="0"/>
          </a:p>
        </p:txBody>
      </p:sp>
      <p:sp>
        <p:nvSpPr>
          <p:cNvPr id="26" name="Rectangle 25"/>
          <p:cNvSpPr/>
          <p:nvPr/>
        </p:nvSpPr>
        <p:spPr bwMode="gray">
          <a:xfrm>
            <a:off x="6463094" y="1160850"/>
            <a:ext cx="5200689" cy="445122"/>
          </a:xfrm>
          <a:prstGeom prst="rect">
            <a:avLst/>
          </a:prstGeom>
          <a:solidFill>
            <a:schemeClr val="accent5"/>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IN" sz="1200" b="1" dirty="0">
                <a:solidFill>
                  <a:schemeClr val="bg1"/>
                </a:solidFill>
                <a:latin typeface="Verdana" panose="020B0604030504040204" pitchFamily="34" charset="0"/>
                <a:ea typeface="Verdana" panose="020B0604030504040204" pitchFamily="34" charset="0"/>
              </a:rPr>
              <a:t>There has been a decreasing trend in Dist. &amp; AT&amp;C loss over last few years</a:t>
            </a:r>
          </a:p>
        </p:txBody>
      </p:sp>
      <p:graphicFrame>
        <p:nvGraphicFramePr>
          <p:cNvPr id="27" name="Chart 26"/>
          <p:cNvGraphicFramePr/>
          <p:nvPr/>
        </p:nvGraphicFramePr>
        <p:xfrm>
          <a:off x="6716939" y="1902876"/>
          <a:ext cx="4801048" cy="1565733"/>
        </p:xfrm>
        <a:graphic>
          <a:graphicData uri="http://schemas.openxmlformats.org/drawingml/2006/chart">
            <c:chart xmlns:c="http://schemas.openxmlformats.org/drawingml/2006/chart" xmlns:r="http://schemas.openxmlformats.org/officeDocument/2006/relationships" r:id="rId8"/>
          </a:graphicData>
        </a:graphic>
      </p:graphicFrame>
      <p:cxnSp>
        <p:nvCxnSpPr>
          <p:cNvPr id="28" name="Straight Connector 27"/>
          <p:cNvCxnSpPr/>
          <p:nvPr/>
        </p:nvCxnSpPr>
        <p:spPr>
          <a:xfrm>
            <a:off x="6455595" y="1780876"/>
            <a:ext cx="52006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bwMode="gray">
          <a:xfrm>
            <a:off x="7954730" y="1610788"/>
            <a:ext cx="2364251" cy="329546"/>
          </a:xfrm>
          <a:prstGeom prst="rect">
            <a:avLst/>
          </a:prstGeom>
          <a:solidFill>
            <a:srgbClr val="F4FAFD"/>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000" b="1" dirty="0">
                <a:latin typeface="Verdana" panose="020B0604030504040204" pitchFamily="34" charset="0"/>
                <a:ea typeface="Verdana" panose="020B0604030504040204" pitchFamily="34" charset="0"/>
              </a:rPr>
              <a:t>WBSEDCL’s Dist. Losses</a:t>
            </a:r>
            <a:endParaRPr lang="en-IN" sz="1000" b="1" dirty="0">
              <a:latin typeface="Verdana" panose="020B0604030504040204" pitchFamily="34" charset="0"/>
              <a:ea typeface="Verdana" panose="020B0604030504040204" pitchFamily="34" charset="0"/>
            </a:endParaRPr>
          </a:p>
        </p:txBody>
      </p:sp>
      <p:graphicFrame>
        <p:nvGraphicFramePr>
          <p:cNvPr id="43" name="Chart 42"/>
          <p:cNvGraphicFramePr/>
          <p:nvPr/>
        </p:nvGraphicFramePr>
        <p:xfrm>
          <a:off x="6716939" y="3911884"/>
          <a:ext cx="4801048" cy="1524180"/>
        </p:xfrm>
        <a:graphic>
          <a:graphicData uri="http://schemas.openxmlformats.org/drawingml/2006/chart">
            <c:chart xmlns:c="http://schemas.openxmlformats.org/drawingml/2006/chart" xmlns:r="http://schemas.openxmlformats.org/officeDocument/2006/relationships" r:id="rId9"/>
          </a:graphicData>
        </a:graphic>
      </p:graphicFrame>
      <p:cxnSp>
        <p:nvCxnSpPr>
          <p:cNvPr id="44" name="Straight Connector 43"/>
          <p:cNvCxnSpPr/>
          <p:nvPr/>
        </p:nvCxnSpPr>
        <p:spPr>
          <a:xfrm>
            <a:off x="6455595" y="3795078"/>
            <a:ext cx="52006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bwMode="gray">
          <a:xfrm>
            <a:off x="7954730" y="3625882"/>
            <a:ext cx="2364251" cy="329546"/>
          </a:xfrm>
          <a:prstGeom prst="rect">
            <a:avLst/>
          </a:prstGeom>
          <a:solidFill>
            <a:srgbClr val="F4FAFD"/>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r>
              <a:rPr lang="en-US" sz="1000" b="1" dirty="0">
                <a:latin typeface="Verdana" panose="020B0604030504040204" pitchFamily="34" charset="0"/>
                <a:ea typeface="Verdana" panose="020B0604030504040204" pitchFamily="34" charset="0"/>
              </a:rPr>
              <a:t>WBSEDCL’s AT&amp;C Losses</a:t>
            </a:r>
            <a:endParaRPr lang="en-IN" sz="1000" b="1" dirty="0">
              <a:latin typeface="Verdana" panose="020B0604030504040204" pitchFamily="34" charset="0"/>
              <a:ea typeface="Verdana" panose="020B0604030504040204" pitchFamily="34" charset="0"/>
            </a:endParaRPr>
          </a:p>
        </p:txBody>
      </p:sp>
      <p:sp>
        <p:nvSpPr>
          <p:cNvPr id="47" name="Rectangle 46"/>
          <p:cNvSpPr/>
          <p:nvPr/>
        </p:nvSpPr>
        <p:spPr bwMode="gray">
          <a:xfrm>
            <a:off x="528217" y="5679091"/>
            <a:ext cx="11135778" cy="816121"/>
          </a:xfrm>
          <a:prstGeom prst="rect">
            <a:avLst/>
          </a:prstGeom>
          <a:solidFill>
            <a:schemeClr val="accent5"/>
          </a:solidFill>
          <a:ln w="19050" algn="ctr">
            <a:noFill/>
            <a:miter lim="800000"/>
            <a:headEnd/>
            <a:tailEnd/>
          </a:ln>
        </p:spPr>
        <p:txBody>
          <a:bodyPr wrap="square" lIns="80615" tIns="80615" rIns="80615" bIns="80615" rtlCol="0" anchor="ctr"/>
          <a:lstStyle/>
          <a:p>
            <a:pPr marL="171450" indent="-171450">
              <a:lnSpc>
                <a:spcPct val="114000"/>
              </a:lnSpc>
              <a:spcAft>
                <a:spcPts val="544"/>
              </a:spcAft>
              <a:buFont typeface="Arial" panose="020B0604020202020204" pitchFamily="34" charset="0"/>
              <a:buChar char="•"/>
            </a:pPr>
            <a:r>
              <a:rPr lang="en-US" sz="1050" b="1" dirty="0">
                <a:solidFill>
                  <a:schemeClr val="bg1"/>
                </a:solidFill>
                <a:latin typeface="Verdana" panose="020B0604030504040204" pitchFamily="34" charset="0"/>
                <a:ea typeface="Verdana" panose="020B0604030504040204" pitchFamily="34" charset="0"/>
              </a:rPr>
              <a:t>Industrial consumers comprises of ~1% of total no. of consumers which contributes to ~32% of total revenue whereas ~89% of Domestic consumers comprises of ~37% of total revenue.</a:t>
            </a:r>
          </a:p>
          <a:p>
            <a:pPr marL="171450" indent="-171450" algn="just">
              <a:lnSpc>
                <a:spcPct val="114000"/>
              </a:lnSpc>
              <a:spcAft>
                <a:spcPts val="544"/>
              </a:spcAft>
              <a:buFont typeface="Arial" panose="020B0604020202020204" pitchFamily="34" charset="0"/>
              <a:buChar char="•"/>
            </a:pPr>
            <a:r>
              <a:rPr lang="en-US" sz="1050" b="1" dirty="0">
                <a:solidFill>
                  <a:schemeClr val="bg1"/>
                </a:solidFill>
                <a:latin typeface="Verdana" panose="020B0604030504040204" pitchFamily="34" charset="0"/>
                <a:ea typeface="Verdana" panose="020B0604030504040204" pitchFamily="34" charset="0"/>
              </a:rPr>
              <a:t>There has been a decreasing trend in Distribution and AT&amp;C Losses over last few years.</a:t>
            </a:r>
          </a:p>
        </p:txBody>
      </p:sp>
      <p:sp>
        <p:nvSpPr>
          <p:cNvPr id="31" name="TextBox 30"/>
          <p:cNvSpPr txBox="1"/>
          <p:nvPr/>
        </p:nvSpPr>
        <p:spPr>
          <a:xfrm>
            <a:off x="6560776" y="6650396"/>
            <a:ext cx="4927072" cy="139590"/>
          </a:xfrm>
          <a:prstGeom prst="rect">
            <a:avLst/>
          </a:prstGeom>
          <a:noFill/>
        </p:spPr>
        <p:txBody>
          <a:bodyPr wrap="square" lIns="0" tIns="0" rIns="0" bIns="0" rtlCol="0">
            <a:spAutoFit/>
          </a:bodyPr>
          <a:lstStyle/>
          <a:p>
            <a:pPr algn="r">
              <a:spcBef>
                <a:spcPts val="544"/>
              </a:spcBef>
              <a:buSzPct val="100000"/>
            </a:pPr>
            <a:r>
              <a:rPr lang="en-GB" sz="907" i="1" dirty="0">
                <a:solidFill>
                  <a:srgbClr val="313131"/>
                </a:solidFill>
              </a:rPr>
              <a:t>Data source: WBSEDCL’s Annual Reports</a:t>
            </a:r>
          </a:p>
        </p:txBody>
      </p:sp>
      <p:graphicFrame>
        <p:nvGraphicFramePr>
          <p:cNvPr id="30" name="Chart 29"/>
          <p:cNvGraphicFramePr/>
          <p:nvPr/>
        </p:nvGraphicFramePr>
        <p:xfrm>
          <a:off x="2884431" y="3484883"/>
          <a:ext cx="2281500" cy="2053755"/>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209136169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2A0BDC2-1237-481E-8BDA-3F44FD8D8B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5" name="Object 4" hidden="1">
                        <a:extLst>
                          <a:ext uri="{FF2B5EF4-FFF2-40B4-BE49-F238E27FC236}">
                            <a16:creationId xmlns:a16="http://schemas.microsoft.com/office/drawing/2014/main" id="{02A0BDC2-1237-481E-8BDA-3F44FD8D8B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3">
            <a:extLst>
              <a:ext uri="{FF2B5EF4-FFF2-40B4-BE49-F238E27FC236}">
                <a16:creationId xmlns:a16="http://schemas.microsoft.com/office/drawing/2014/main" id="{AA0CE329-4C1B-404A-AC50-BAF3942CD6BF}"/>
              </a:ext>
            </a:extLst>
          </p:cNvPr>
          <p:cNvSpPr>
            <a:spLocks noGrp="1"/>
          </p:cNvSpPr>
          <p:nvPr>
            <p:ph type="title"/>
          </p:nvPr>
        </p:nvSpPr>
        <p:spPr>
          <a:xfrm>
            <a:off x="501652" y="317504"/>
            <a:ext cx="9695896" cy="497505"/>
          </a:xfrm>
        </p:spPr>
        <p:txBody>
          <a:bodyPr vert="horz"/>
          <a:lstStyle/>
          <a:p>
            <a:pPr algn="just"/>
            <a:r>
              <a:rPr lang="en-US" sz="1800" b="0" i="0" dirty="0">
                <a:solidFill>
                  <a:schemeClr val="tx1"/>
                </a:solidFill>
              </a:rPr>
              <a:t>Financial Health of WBSEDCL</a:t>
            </a:r>
          </a:p>
        </p:txBody>
      </p:sp>
      <p:graphicFrame>
        <p:nvGraphicFramePr>
          <p:cNvPr id="6" name="Chart 5">
            <a:extLst>
              <a:ext uri="{FF2B5EF4-FFF2-40B4-BE49-F238E27FC236}">
                <a16:creationId xmlns:a16="http://schemas.microsoft.com/office/drawing/2014/main" id="{E13B1235-EF3C-48DE-8DCD-149A6630C3A4}"/>
              </a:ext>
            </a:extLst>
          </p:cNvPr>
          <p:cNvGraphicFramePr/>
          <p:nvPr>
            <p:extLst>
              <p:ext uri="{D42A27DB-BD31-4B8C-83A1-F6EECF244321}">
                <p14:modId xmlns:p14="http://schemas.microsoft.com/office/powerpoint/2010/main" val="246495156"/>
              </p:ext>
            </p:extLst>
          </p:nvPr>
        </p:nvGraphicFramePr>
        <p:xfrm>
          <a:off x="380087" y="805601"/>
          <a:ext cx="5597910" cy="231774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7" name="Chart 16">
            <a:extLst>
              <a:ext uri="{FF2B5EF4-FFF2-40B4-BE49-F238E27FC236}">
                <a16:creationId xmlns:a16="http://schemas.microsoft.com/office/drawing/2014/main" id="{915D139F-EA44-463E-9EE3-36C69D47C48B}"/>
              </a:ext>
            </a:extLst>
          </p:cNvPr>
          <p:cNvGraphicFramePr/>
          <p:nvPr>
            <p:extLst>
              <p:ext uri="{D42A27DB-BD31-4B8C-83A1-F6EECF244321}">
                <p14:modId xmlns:p14="http://schemas.microsoft.com/office/powerpoint/2010/main" val="2430059011"/>
              </p:ext>
            </p:extLst>
          </p:nvPr>
        </p:nvGraphicFramePr>
        <p:xfrm>
          <a:off x="6214005" y="780007"/>
          <a:ext cx="5343977" cy="2343337"/>
        </p:xfrm>
        <a:graphic>
          <a:graphicData uri="http://schemas.openxmlformats.org/drawingml/2006/chart">
            <c:chart xmlns:c="http://schemas.openxmlformats.org/drawingml/2006/chart" xmlns:r="http://schemas.openxmlformats.org/officeDocument/2006/relationships" r:id="rId7"/>
          </a:graphicData>
        </a:graphic>
      </p:graphicFrame>
      <p:pic>
        <p:nvPicPr>
          <p:cNvPr id="3" name="Picture 2">
            <a:extLst>
              <a:ext uri="{FF2B5EF4-FFF2-40B4-BE49-F238E27FC236}">
                <a16:creationId xmlns:a16="http://schemas.microsoft.com/office/drawing/2014/main" id="{B1DF1DCD-A4F4-4F26-8B42-9B2FD9F2B3FE}"/>
              </a:ext>
            </a:extLst>
          </p:cNvPr>
          <p:cNvPicPr>
            <a:picLocks noChangeAspect="1"/>
          </p:cNvPicPr>
          <p:nvPr/>
        </p:nvPicPr>
        <p:blipFill>
          <a:blip r:embed="rId8"/>
          <a:stretch>
            <a:fillRect/>
          </a:stretch>
        </p:blipFill>
        <p:spPr>
          <a:xfrm>
            <a:off x="478743" y="3174982"/>
            <a:ext cx="5594348" cy="2404806"/>
          </a:xfrm>
          <a:prstGeom prst="rect">
            <a:avLst/>
          </a:prstGeom>
        </p:spPr>
      </p:pic>
      <p:sp>
        <p:nvSpPr>
          <p:cNvPr id="19" name="Rectangle 18">
            <a:extLst>
              <a:ext uri="{FF2B5EF4-FFF2-40B4-BE49-F238E27FC236}">
                <a16:creationId xmlns:a16="http://schemas.microsoft.com/office/drawing/2014/main" id="{64B407E0-B243-4938-B67D-640D2375CFE7}"/>
              </a:ext>
            </a:extLst>
          </p:cNvPr>
          <p:cNvSpPr/>
          <p:nvPr/>
        </p:nvSpPr>
        <p:spPr bwMode="gray">
          <a:xfrm>
            <a:off x="478743" y="5692937"/>
            <a:ext cx="11367360" cy="742369"/>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171450" marR="0" lvl="0" indent="-171450" algn="l" defTabSz="914342" rtl="0" eaLnBrk="1" fontAlgn="auto" latinLnBrk="0" hangingPunct="1">
              <a:lnSpc>
                <a:spcPct val="108000"/>
              </a:lnSpc>
              <a:spcBef>
                <a:spcPts val="0"/>
              </a:spcBef>
              <a:spcAft>
                <a:spcPts val="300"/>
              </a:spcAft>
              <a:buClrTx/>
              <a:buSzTx/>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Verdana"/>
                <a:ea typeface="+mn-ea"/>
                <a:cs typeface="+mn-cs"/>
              </a:rPr>
              <a:t>There has been an increasing trend in short term borrowings which led to decline in profitability of WBSEDCL.</a:t>
            </a:r>
          </a:p>
          <a:p>
            <a:pPr marL="171450" marR="0" lvl="0" indent="-171450" algn="l" defTabSz="914342" rtl="0" eaLnBrk="1" fontAlgn="auto" latinLnBrk="0" hangingPunct="1">
              <a:lnSpc>
                <a:spcPct val="108000"/>
              </a:lnSpc>
              <a:spcBef>
                <a:spcPts val="0"/>
              </a:spcBef>
              <a:spcAft>
                <a:spcPts val="300"/>
              </a:spcAft>
              <a:buClrTx/>
              <a:buSzTx/>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Verdana"/>
                <a:ea typeface="+mn-ea"/>
                <a:cs typeface="+mn-cs"/>
              </a:rPr>
              <a:t>This resulted in a migration of credit rating from ACUITE A2+ (Stable) in FY 2016-17 to ACUITE BBB (Stable) in FY 2020-21</a:t>
            </a:r>
          </a:p>
          <a:p>
            <a:pPr marL="171450" marR="0" lvl="0" indent="-171450" algn="l" defTabSz="914342" rtl="0" eaLnBrk="1" fontAlgn="auto" latinLnBrk="0" hangingPunct="1">
              <a:lnSpc>
                <a:spcPct val="108000"/>
              </a:lnSpc>
              <a:spcBef>
                <a:spcPts val="0"/>
              </a:spcBef>
              <a:spcAft>
                <a:spcPts val="300"/>
              </a:spcAft>
              <a:buClrTx/>
              <a:buSzTx/>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Verdana"/>
                <a:ea typeface="+mn-ea"/>
                <a:cs typeface="+mn-cs"/>
              </a:rPr>
              <a:t>Debt to Equity ratio has been higher than normative ratio admissible by WBERC. </a:t>
            </a:r>
          </a:p>
        </p:txBody>
      </p:sp>
      <p:graphicFrame>
        <p:nvGraphicFramePr>
          <p:cNvPr id="20" name="Chart 19">
            <a:extLst>
              <a:ext uri="{FF2B5EF4-FFF2-40B4-BE49-F238E27FC236}">
                <a16:creationId xmlns:a16="http://schemas.microsoft.com/office/drawing/2014/main" id="{42661DA4-8473-457F-8B0E-6810367A4C36}"/>
              </a:ext>
            </a:extLst>
          </p:cNvPr>
          <p:cNvGraphicFramePr/>
          <p:nvPr/>
        </p:nvGraphicFramePr>
        <p:xfrm>
          <a:off x="6214005" y="3174982"/>
          <a:ext cx="5343977" cy="2404806"/>
        </p:xfrm>
        <a:graphic>
          <a:graphicData uri="http://schemas.openxmlformats.org/drawingml/2006/chart">
            <c:chart xmlns:c="http://schemas.openxmlformats.org/drawingml/2006/chart" xmlns:r="http://schemas.openxmlformats.org/officeDocument/2006/relationships" r:id="rId9"/>
          </a:graphicData>
        </a:graphic>
      </p:graphicFrame>
      <p:sp>
        <p:nvSpPr>
          <p:cNvPr id="21" name="TextBox 20">
            <a:extLst>
              <a:ext uri="{FF2B5EF4-FFF2-40B4-BE49-F238E27FC236}">
                <a16:creationId xmlns:a16="http://schemas.microsoft.com/office/drawing/2014/main" id="{129289D3-CA66-4370-991F-9B08805319CC}"/>
              </a:ext>
            </a:extLst>
          </p:cNvPr>
          <p:cNvSpPr txBox="1"/>
          <p:nvPr/>
        </p:nvSpPr>
        <p:spPr>
          <a:xfrm>
            <a:off x="6736215" y="3174982"/>
            <a:ext cx="4299555" cy="184666"/>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prstClr val="black"/>
                </a:solidFill>
                <a:effectLst/>
                <a:uLnTx/>
                <a:uFillTx/>
                <a:latin typeface="Verdana"/>
                <a:ea typeface="+mn-ea"/>
                <a:cs typeface="+mn-cs"/>
              </a:rPr>
              <a:t>Debt to Equity Ratio</a:t>
            </a:r>
          </a:p>
        </p:txBody>
      </p:sp>
      <p:sp>
        <p:nvSpPr>
          <p:cNvPr id="4" name="TextBox 3">
            <a:extLst>
              <a:ext uri="{FF2B5EF4-FFF2-40B4-BE49-F238E27FC236}">
                <a16:creationId xmlns:a16="http://schemas.microsoft.com/office/drawing/2014/main" id="{967D724C-9EAA-4490-A893-D0DDE8E5BBB9}"/>
              </a:ext>
            </a:extLst>
          </p:cNvPr>
          <p:cNvSpPr txBox="1"/>
          <p:nvPr/>
        </p:nvSpPr>
        <p:spPr>
          <a:xfrm>
            <a:off x="6924782" y="6688510"/>
            <a:ext cx="4921321" cy="138499"/>
          </a:xfrm>
          <a:prstGeom prst="rect">
            <a:avLst/>
          </a:prstGeom>
          <a:noFill/>
        </p:spPr>
        <p:txBody>
          <a:bodyPr wrap="square" lIns="0" tIns="0" rIns="0" bIns="0" rtlCol="0">
            <a:spAutoFit/>
          </a:bodyPr>
          <a:lstStyle/>
          <a:p>
            <a:pPr marL="0" marR="0" lvl="0" indent="0" algn="r" defTabSz="914342"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srgbClr val="313131"/>
                </a:solidFill>
                <a:effectLst/>
                <a:uLnTx/>
                <a:uFillTx/>
                <a:latin typeface="Verdana"/>
                <a:ea typeface="+mn-ea"/>
                <a:cs typeface="+mn-cs"/>
              </a:rPr>
              <a:t>Data source: Annual Report of WBSEDCL</a:t>
            </a:r>
          </a:p>
        </p:txBody>
      </p:sp>
      <p:sp>
        <p:nvSpPr>
          <p:cNvPr id="11" name="TextBox 10">
            <a:extLst>
              <a:ext uri="{FF2B5EF4-FFF2-40B4-BE49-F238E27FC236}">
                <a16:creationId xmlns:a16="http://schemas.microsoft.com/office/drawing/2014/main" id="{87C0ED21-1EDC-4B32-8BAD-83CFA5E67727}"/>
              </a:ext>
            </a:extLst>
          </p:cNvPr>
          <p:cNvSpPr txBox="1"/>
          <p:nvPr/>
        </p:nvSpPr>
        <p:spPr>
          <a:xfrm>
            <a:off x="6924782" y="6688509"/>
            <a:ext cx="4921321" cy="138499"/>
          </a:xfrm>
          <a:prstGeom prst="rect">
            <a:avLst/>
          </a:prstGeom>
          <a:noFill/>
        </p:spPr>
        <p:txBody>
          <a:bodyPr wrap="square" lIns="0" tIns="0" rIns="0" bIns="0" rtlCol="0">
            <a:spAutoFit/>
          </a:bodyPr>
          <a:lstStyle/>
          <a:p>
            <a:pPr marL="0" marR="0" lvl="0" indent="0" algn="r" defTabSz="914342"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srgbClr val="313131"/>
                </a:solidFill>
                <a:effectLst/>
                <a:uLnTx/>
                <a:uFillTx/>
                <a:latin typeface="Verdana"/>
                <a:ea typeface="+mn-ea"/>
                <a:cs typeface="+mn-cs"/>
              </a:rPr>
              <a:t>Data source: Annual Report of WBSEDCL</a:t>
            </a:r>
          </a:p>
        </p:txBody>
      </p:sp>
      <p:sp>
        <p:nvSpPr>
          <p:cNvPr id="12" name="TextBox 11">
            <a:extLst>
              <a:ext uri="{FF2B5EF4-FFF2-40B4-BE49-F238E27FC236}">
                <a16:creationId xmlns:a16="http://schemas.microsoft.com/office/drawing/2014/main" id="{F6C09D64-E983-44AB-B330-61551BB73D4F}"/>
              </a:ext>
            </a:extLst>
          </p:cNvPr>
          <p:cNvSpPr txBox="1"/>
          <p:nvPr/>
        </p:nvSpPr>
        <p:spPr>
          <a:xfrm>
            <a:off x="478742" y="6678271"/>
            <a:ext cx="6682345" cy="138499"/>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srgbClr val="313131"/>
                </a:solidFill>
                <a:effectLst/>
                <a:uLnTx/>
                <a:uFillTx/>
                <a:latin typeface="Verdana"/>
                <a:ea typeface="+mn-ea"/>
                <a:cs typeface="+mn-cs"/>
              </a:rPr>
              <a:t>*</a:t>
            </a:r>
            <a:r>
              <a:rPr kumimoji="0" lang="en-US" sz="900" b="0" i="0" u="none" strike="noStrike" kern="1200" cap="none" spc="0" normalizeH="0" baseline="0" noProof="0" dirty="0" err="1">
                <a:ln>
                  <a:noFill/>
                </a:ln>
                <a:solidFill>
                  <a:srgbClr val="313131"/>
                </a:solidFill>
                <a:effectLst/>
                <a:uLnTx/>
                <a:uFillTx/>
                <a:latin typeface="Verdana"/>
                <a:ea typeface="+mn-ea"/>
                <a:cs typeface="+mn-cs"/>
              </a:rPr>
              <a:t>Debt:Equity</a:t>
            </a:r>
            <a:r>
              <a:rPr kumimoji="0" lang="en-US" sz="900" b="0" i="0" u="none" strike="noStrike" kern="1200" cap="none" spc="0" normalizeH="0" baseline="0" noProof="0" dirty="0">
                <a:ln>
                  <a:noFill/>
                </a:ln>
                <a:solidFill>
                  <a:srgbClr val="313131"/>
                </a:solidFill>
                <a:effectLst/>
                <a:uLnTx/>
                <a:uFillTx/>
                <a:latin typeface="Verdana"/>
                <a:ea typeface="+mn-ea"/>
                <a:cs typeface="+mn-cs"/>
              </a:rPr>
              <a:t> for FY 2021- (Long term Borrowings + Current portion of Long-term borrowings)/ Average Equity</a:t>
            </a:r>
          </a:p>
        </p:txBody>
      </p:sp>
      <p:sp>
        <p:nvSpPr>
          <p:cNvPr id="2" name="Rectangle 1">
            <a:extLst>
              <a:ext uri="{FF2B5EF4-FFF2-40B4-BE49-F238E27FC236}">
                <a16:creationId xmlns:a16="http://schemas.microsoft.com/office/drawing/2014/main" id="{9BAEE041-E5A7-4E63-A223-115701A84A80}"/>
              </a:ext>
            </a:extLst>
          </p:cNvPr>
          <p:cNvSpPr/>
          <p:nvPr/>
        </p:nvSpPr>
        <p:spPr bwMode="gray">
          <a:xfrm>
            <a:off x="11179629" y="1001485"/>
            <a:ext cx="751114" cy="1328057"/>
          </a:xfrm>
          <a:prstGeom prst="rect">
            <a:avLst/>
          </a:prstGeom>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100" dirty="0">
                <a:ln w="0"/>
                <a:solidFill>
                  <a:schemeClr val="tx1"/>
                </a:solidFill>
                <a:effectLst>
                  <a:outerShdw blurRad="38100" dist="19050" dir="2700000" algn="tl" rotWithShape="0">
                    <a:schemeClr val="dk1">
                      <a:alpha val="40000"/>
                    </a:schemeClr>
                  </a:outerShdw>
                </a:effectLst>
              </a:rPr>
              <a:t>The figures exclude Other Comprehensive Income</a:t>
            </a:r>
          </a:p>
        </p:txBody>
      </p:sp>
    </p:spTree>
    <p:extLst>
      <p:ext uri="{BB962C8B-B14F-4D97-AF65-F5344CB8AC3E}">
        <p14:creationId xmlns:p14="http://schemas.microsoft.com/office/powerpoint/2010/main" val="312576467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8FA78162-039E-4DE6-A867-671CA726517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11" name="Object 10" hidden="1">
                        <a:extLst>
                          <a:ext uri="{FF2B5EF4-FFF2-40B4-BE49-F238E27FC236}">
                            <a16:creationId xmlns:a16="http://schemas.microsoft.com/office/drawing/2014/main" id="{8FA78162-039E-4DE6-A867-671CA72651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3" name="Rectangle 32">
            <a:extLst>
              <a:ext uri="{FF2B5EF4-FFF2-40B4-BE49-F238E27FC236}">
                <a16:creationId xmlns:a16="http://schemas.microsoft.com/office/drawing/2014/main" id="{61448B1B-0EF1-4DDE-9CD3-E3B5447FA9A1}"/>
              </a:ext>
            </a:extLst>
          </p:cNvPr>
          <p:cNvSpPr/>
          <p:nvPr/>
        </p:nvSpPr>
        <p:spPr bwMode="gray">
          <a:xfrm>
            <a:off x="10392937" y="985936"/>
            <a:ext cx="1207373" cy="3871783"/>
          </a:xfrm>
          <a:prstGeom prst="rect">
            <a:avLst/>
          </a:prstGeom>
          <a:solidFill>
            <a:srgbClr val="2C5234">
              <a:alpha val="10000"/>
            </a:srgbClr>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70" b="0" i="0" u="none" strike="noStrike" kern="1200" cap="none" spc="0" normalizeH="0" baseline="0" noProof="0" dirty="0">
              <a:ln>
                <a:noFill/>
              </a:ln>
              <a:solidFill>
                <a:prstClr val="white"/>
              </a:solidFill>
              <a:effectLst/>
              <a:uLnTx/>
              <a:uFillTx/>
              <a:latin typeface="Calibri"/>
              <a:ea typeface="+mn-ea"/>
              <a:cs typeface="+mn-cs"/>
            </a:endParaRPr>
          </a:p>
        </p:txBody>
      </p:sp>
      <p:sp>
        <p:nvSpPr>
          <p:cNvPr id="28" name="Rectangle 27">
            <a:extLst>
              <a:ext uri="{FF2B5EF4-FFF2-40B4-BE49-F238E27FC236}">
                <a16:creationId xmlns:a16="http://schemas.microsoft.com/office/drawing/2014/main" id="{F48DCDC8-B195-4EC3-A319-5646AF0E2532}"/>
              </a:ext>
            </a:extLst>
          </p:cNvPr>
          <p:cNvSpPr/>
          <p:nvPr/>
        </p:nvSpPr>
        <p:spPr bwMode="gray">
          <a:xfrm>
            <a:off x="9185564" y="985937"/>
            <a:ext cx="1207373" cy="3871783"/>
          </a:xfrm>
          <a:prstGeom prst="rect">
            <a:avLst/>
          </a:prstGeom>
          <a:solidFill>
            <a:srgbClr val="002060">
              <a:alpha val="10000"/>
            </a:srgbClr>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7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95E2A879-1331-495E-8FD1-148422E3BC1B}"/>
              </a:ext>
            </a:extLst>
          </p:cNvPr>
          <p:cNvSpPr/>
          <p:nvPr/>
        </p:nvSpPr>
        <p:spPr bwMode="gray">
          <a:xfrm>
            <a:off x="1844299" y="996242"/>
            <a:ext cx="7337444" cy="3861498"/>
          </a:xfrm>
          <a:prstGeom prst="rect">
            <a:avLst/>
          </a:prstGeom>
          <a:solidFill>
            <a:schemeClr val="accent6">
              <a:lumMod val="40000"/>
              <a:lumOff val="60000"/>
              <a:alpha val="10000"/>
            </a:schemeClr>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70" b="0" i="0" u="none" strike="noStrike" kern="1200" cap="none" spc="0" normalizeH="0" baseline="0" noProof="0" dirty="0">
              <a:ln>
                <a:noFill/>
              </a:ln>
              <a:solidFill>
                <a:prstClr val="white"/>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6362D642-2B49-43E0-8D04-E1E7D39342E5}"/>
              </a:ext>
            </a:extLst>
          </p:cNvPr>
          <p:cNvSpPr/>
          <p:nvPr/>
        </p:nvSpPr>
        <p:spPr bwMode="gray">
          <a:xfrm>
            <a:off x="782212" y="996242"/>
            <a:ext cx="1076567" cy="3861495"/>
          </a:xfrm>
          <a:prstGeom prst="rect">
            <a:avLst/>
          </a:prstGeom>
          <a:solidFill>
            <a:schemeClr val="accent1">
              <a:lumMod val="40000"/>
              <a:lumOff val="60000"/>
              <a:alpha val="50000"/>
            </a:schemeClr>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70" b="0" i="0" u="none" strike="noStrike" kern="120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cx1="http://schemas.microsoft.com/office/drawing/2015/9/8/chartex">
        <mc:Choice Requires="cx1">
          <p:graphicFrame>
            <p:nvGraphicFramePr>
              <p:cNvPr id="16" name="Chart 15">
                <a:extLst>
                  <a:ext uri="{FF2B5EF4-FFF2-40B4-BE49-F238E27FC236}">
                    <a16:creationId xmlns:a16="http://schemas.microsoft.com/office/drawing/2014/main" id="{88C49339-9551-45F8-B912-7D9CE3CAE355}"/>
                  </a:ext>
                </a:extLst>
              </p:cNvPr>
              <p:cNvGraphicFramePr/>
              <p:nvPr>
                <p:extLst>
                  <p:ext uri="{D42A27DB-BD31-4B8C-83A1-F6EECF244321}">
                    <p14:modId xmlns:p14="http://schemas.microsoft.com/office/powerpoint/2010/main" val="2533798963"/>
                  </p:ext>
                </p:extLst>
              </p:nvPr>
            </p:nvGraphicFramePr>
            <p:xfrm>
              <a:off x="619760" y="1326995"/>
              <a:ext cx="11070589" cy="3818675"/>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6" name="Chart 15">
                <a:extLst>
                  <a:ext uri="{FF2B5EF4-FFF2-40B4-BE49-F238E27FC236}">
                    <a16:creationId xmlns:a16="http://schemas.microsoft.com/office/drawing/2014/main" id="{88C49339-9551-45F8-B912-7D9CE3CAE355}"/>
                  </a:ext>
                </a:extLst>
              </p:cNvPr>
              <p:cNvPicPr>
                <a:picLocks noGrp="1" noRot="1" noChangeAspect="1" noMove="1" noResize="1" noEditPoints="1" noAdjustHandles="1" noChangeArrowheads="1" noChangeShapeType="1"/>
              </p:cNvPicPr>
              <p:nvPr/>
            </p:nvPicPr>
            <p:blipFill>
              <a:blip r:embed="rId7"/>
              <a:stretch>
                <a:fillRect/>
              </a:stretch>
            </p:blipFill>
            <p:spPr>
              <a:xfrm>
                <a:off x="619760" y="1326995"/>
                <a:ext cx="11070589" cy="3818675"/>
              </a:xfrm>
              <a:prstGeom prst="rect">
                <a:avLst/>
              </a:prstGeom>
            </p:spPr>
          </p:pic>
        </mc:Fallback>
      </mc:AlternateContent>
      <p:cxnSp>
        <p:nvCxnSpPr>
          <p:cNvPr id="18" name="Straight Connector 17">
            <a:extLst>
              <a:ext uri="{FF2B5EF4-FFF2-40B4-BE49-F238E27FC236}">
                <a16:creationId xmlns:a16="http://schemas.microsoft.com/office/drawing/2014/main" id="{0A9FFED0-E94C-41B9-9753-BCCEA848382A}"/>
              </a:ext>
            </a:extLst>
          </p:cNvPr>
          <p:cNvCxnSpPr>
            <a:cxnSpLocks/>
          </p:cNvCxnSpPr>
          <p:nvPr/>
        </p:nvCxnSpPr>
        <p:spPr>
          <a:xfrm>
            <a:off x="900033" y="3872635"/>
            <a:ext cx="10709044"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EAD7C30-5DB0-440E-ACB1-A877EAA8A975}"/>
              </a:ext>
            </a:extLst>
          </p:cNvPr>
          <p:cNvCxnSpPr>
            <a:cxnSpLocks/>
          </p:cNvCxnSpPr>
          <p:nvPr/>
        </p:nvCxnSpPr>
        <p:spPr>
          <a:xfrm>
            <a:off x="764510" y="1078966"/>
            <a:ext cx="1094269"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EDFFE96-C1EC-4659-BBA0-C949B2F9148A}"/>
              </a:ext>
            </a:extLst>
          </p:cNvPr>
          <p:cNvSpPr/>
          <p:nvPr/>
        </p:nvSpPr>
        <p:spPr bwMode="gray">
          <a:xfrm>
            <a:off x="990741" y="1015830"/>
            <a:ext cx="587607" cy="145789"/>
          </a:xfrm>
          <a:prstGeom prst="rect">
            <a:avLst/>
          </a:prstGeom>
          <a:solidFill>
            <a:srgbClr val="F3FAE7"/>
          </a:solidFill>
          <a:ln w="19050" algn="ctr">
            <a:noFill/>
            <a:miter lim="800000"/>
            <a:headEnd/>
            <a:tailEnd/>
          </a:ln>
        </p:spPr>
        <p:txBody>
          <a:bodyPr wrap="square" lIns="0" tIns="80615" rIns="0"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Revenue</a:t>
            </a:r>
            <a:endParaRPr kumimoji="0" lang="en-IN" sz="90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cxnSp>
        <p:nvCxnSpPr>
          <p:cNvPr id="21" name="Straight Arrow Connector 20">
            <a:extLst>
              <a:ext uri="{FF2B5EF4-FFF2-40B4-BE49-F238E27FC236}">
                <a16:creationId xmlns:a16="http://schemas.microsoft.com/office/drawing/2014/main" id="{BDC1F7E9-496B-4BC9-8EDC-63CD2E05E870}"/>
              </a:ext>
            </a:extLst>
          </p:cNvPr>
          <p:cNvCxnSpPr>
            <a:cxnSpLocks/>
          </p:cNvCxnSpPr>
          <p:nvPr/>
        </p:nvCxnSpPr>
        <p:spPr>
          <a:xfrm>
            <a:off x="1858779" y="1078966"/>
            <a:ext cx="7347997"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33DCB02-661D-4430-A363-7ACC760AB388}"/>
              </a:ext>
            </a:extLst>
          </p:cNvPr>
          <p:cNvSpPr/>
          <p:nvPr/>
        </p:nvSpPr>
        <p:spPr bwMode="gray">
          <a:xfrm>
            <a:off x="5289971" y="1020986"/>
            <a:ext cx="587607" cy="145789"/>
          </a:xfrm>
          <a:prstGeom prst="rect">
            <a:avLst/>
          </a:prstGeom>
          <a:solidFill>
            <a:srgbClr val="EFF4FF"/>
          </a:solidFill>
          <a:ln w="19050" algn="ctr">
            <a:noFill/>
            <a:miter lim="800000"/>
            <a:headEnd/>
            <a:tailEnd/>
          </a:ln>
        </p:spPr>
        <p:txBody>
          <a:bodyPr wrap="square" lIns="0" tIns="80615" rIns="0"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Cost</a:t>
            </a:r>
            <a:endParaRPr kumimoji="0" lang="en-IN" sz="90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0" name="Title 3">
            <a:extLst>
              <a:ext uri="{FF2B5EF4-FFF2-40B4-BE49-F238E27FC236}">
                <a16:creationId xmlns:a16="http://schemas.microsoft.com/office/drawing/2014/main" id="{4A718F25-E476-4FB3-9171-D22D6B49D9C5}"/>
              </a:ext>
            </a:extLst>
          </p:cNvPr>
          <p:cNvSpPr txBox="1">
            <a:spLocks/>
          </p:cNvSpPr>
          <p:nvPr/>
        </p:nvSpPr>
        <p:spPr bwMode="gray">
          <a:xfrm>
            <a:off x="497829" y="311630"/>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WBSEDCL Financial Cost Bridge FY 20-21</a:t>
            </a:r>
          </a:p>
        </p:txBody>
      </p:sp>
      <p:sp>
        <p:nvSpPr>
          <p:cNvPr id="4" name="TextBox 3">
            <a:extLst>
              <a:ext uri="{FF2B5EF4-FFF2-40B4-BE49-F238E27FC236}">
                <a16:creationId xmlns:a16="http://schemas.microsoft.com/office/drawing/2014/main" id="{106DF1A3-6255-4738-ACFB-B21BCC71E3DE}"/>
              </a:ext>
            </a:extLst>
          </p:cNvPr>
          <p:cNvSpPr txBox="1"/>
          <p:nvPr/>
        </p:nvSpPr>
        <p:spPr>
          <a:xfrm>
            <a:off x="2238092" y="3667469"/>
            <a:ext cx="61071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7CB0"/>
                </a:solidFill>
                <a:effectLst/>
                <a:uLnTx/>
                <a:uFillTx/>
                <a:latin typeface="Verdana" panose="020B0604030504040204" pitchFamily="34" charset="0"/>
                <a:ea typeface="Verdana" panose="020B0604030504040204" pitchFamily="34" charset="0"/>
                <a:cs typeface="+mn-cs"/>
              </a:rPr>
              <a:t>(69%)</a:t>
            </a:r>
          </a:p>
        </p:txBody>
      </p:sp>
      <p:sp>
        <p:nvSpPr>
          <p:cNvPr id="15" name="TextBox 14">
            <a:extLst>
              <a:ext uri="{FF2B5EF4-FFF2-40B4-BE49-F238E27FC236}">
                <a16:creationId xmlns:a16="http://schemas.microsoft.com/office/drawing/2014/main" id="{E6D09B87-3013-4E67-BC4B-134B621F68B8}"/>
              </a:ext>
            </a:extLst>
          </p:cNvPr>
          <p:cNvSpPr txBox="1"/>
          <p:nvPr/>
        </p:nvSpPr>
        <p:spPr>
          <a:xfrm>
            <a:off x="3401035" y="3921093"/>
            <a:ext cx="61071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7CB0"/>
                </a:solidFill>
                <a:effectLst/>
                <a:uLnTx/>
                <a:uFillTx/>
                <a:latin typeface="Verdana" panose="020B0604030504040204" pitchFamily="34" charset="0"/>
                <a:ea typeface="Verdana" panose="020B0604030504040204" pitchFamily="34" charset="0"/>
                <a:cs typeface="+mn-cs"/>
              </a:rPr>
              <a:t>(10%)</a:t>
            </a:r>
          </a:p>
        </p:txBody>
      </p:sp>
      <p:sp>
        <p:nvSpPr>
          <p:cNvPr id="17" name="TextBox 16">
            <a:extLst>
              <a:ext uri="{FF2B5EF4-FFF2-40B4-BE49-F238E27FC236}">
                <a16:creationId xmlns:a16="http://schemas.microsoft.com/office/drawing/2014/main" id="{0C3D5413-C174-43DB-8746-A7460AD3C666}"/>
              </a:ext>
            </a:extLst>
          </p:cNvPr>
          <p:cNvSpPr txBox="1"/>
          <p:nvPr/>
        </p:nvSpPr>
        <p:spPr>
          <a:xfrm>
            <a:off x="4721594" y="4123466"/>
            <a:ext cx="61071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7CB0"/>
                </a:solidFill>
                <a:effectLst/>
                <a:uLnTx/>
                <a:uFillTx/>
                <a:latin typeface="Verdana" panose="020B0604030504040204" pitchFamily="34" charset="0"/>
                <a:ea typeface="Verdana" panose="020B0604030504040204" pitchFamily="34" charset="0"/>
                <a:cs typeface="+mn-cs"/>
              </a:rPr>
              <a:t>(6%)</a:t>
            </a:r>
          </a:p>
        </p:txBody>
      </p:sp>
      <p:sp>
        <p:nvSpPr>
          <p:cNvPr id="25" name="TextBox 24">
            <a:extLst>
              <a:ext uri="{FF2B5EF4-FFF2-40B4-BE49-F238E27FC236}">
                <a16:creationId xmlns:a16="http://schemas.microsoft.com/office/drawing/2014/main" id="{1E925D32-CAF8-4D42-B91F-DE2A28BD35E1}"/>
              </a:ext>
            </a:extLst>
          </p:cNvPr>
          <p:cNvSpPr txBox="1"/>
          <p:nvPr/>
        </p:nvSpPr>
        <p:spPr>
          <a:xfrm>
            <a:off x="5939364" y="4280130"/>
            <a:ext cx="61071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7CB0"/>
                </a:solidFill>
                <a:effectLst/>
                <a:uLnTx/>
                <a:uFillTx/>
                <a:latin typeface="Verdana" panose="020B0604030504040204" pitchFamily="34" charset="0"/>
                <a:ea typeface="Verdana" panose="020B0604030504040204" pitchFamily="34" charset="0"/>
                <a:cs typeface="+mn-cs"/>
              </a:rPr>
              <a:t>(6%)</a:t>
            </a:r>
          </a:p>
        </p:txBody>
      </p:sp>
      <p:sp>
        <p:nvSpPr>
          <p:cNvPr id="26" name="TextBox 25">
            <a:extLst>
              <a:ext uri="{FF2B5EF4-FFF2-40B4-BE49-F238E27FC236}">
                <a16:creationId xmlns:a16="http://schemas.microsoft.com/office/drawing/2014/main" id="{50DC8ACF-BFF5-4B02-9D26-75B775C8BA7B}"/>
              </a:ext>
            </a:extLst>
          </p:cNvPr>
          <p:cNvSpPr txBox="1"/>
          <p:nvPr/>
        </p:nvSpPr>
        <p:spPr>
          <a:xfrm>
            <a:off x="7175691" y="4361108"/>
            <a:ext cx="61071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7CB0"/>
                </a:solidFill>
                <a:effectLst/>
                <a:uLnTx/>
                <a:uFillTx/>
                <a:latin typeface="Verdana" panose="020B0604030504040204" pitchFamily="34" charset="0"/>
                <a:ea typeface="Verdana" panose="020B0604030504040204" pitchFamily="34" charset="0"/>
                <a:cs typeface="+mn-cs"/>
              </a:rPr>
              <a:t>(4%)</a:t>
            </a:r>
          </a:p>
        </p:txBody>
      </p:sp>
      <p:sp>
        <p:nvSpPr>
          <p:cNvPr id="27" name="TextBox 26">
            <a:extLst>
              <a:ext uri="{FF2B5EF4-FFF2-40B4-BE49-F238E27FC236}">
                <a16:creationId xmlns:a16="http://schemas.microsoft.com/office/drawing/2014/main" id="{EFEE2824-92B0-4FD3-8E53-57D8AB946A47}"/>
              </a:ext>
            </a:extLst>
          </p:cNvPr>
          <p:cNvSpPr txBox="1"/>
          <p:nvPr/>
        </p:nvSpPr>
        <p:spPr>
          <a:xfrm>
            <a:off x="8267598" y="4504509"/>
            <a:ext cx="61071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7CB0"/>
                </a:solidFill>
                <a:effectLst/>
                <a:uLnTx/>
                <a:uFillTx/>
                <a:latin typeface="Verdana" panose="020B0604030504040204" pitchFamily="34" charset="0"/>
                <a:ea typeface="Verdana" panose="020B0604030504040204" pitchFamily="34" charset="0"/>
                <a:cs typeface="+mn-cs"/>
              </a:rPr>
              <a:t>(5%)</a:t>
            </a:r>
          </a:p>
        </p:txBody>
      </p:sp>
      <p:sp>
        <p:nvSpPr>
          <p:cNvPr id="5" name="TextBox 4">
            <a:extLst>
              <a:ext uri="{FF2B5EF4-FFF2-40B4-BE49-F238E27FC236}">
                <a16:creationId xmlns:a16="http://schemas.microsoft.com/office/drawing/2014/main" id="{B710435F-9F4E-47E4-95BC-B1F5DB55C867}"/>
              </a:ext>
            </a:extLst>
          </p:cNvPr>
          <p:cNvSpPr txBox="1"/>
          <p:nvPr/>
        </p:nvSpPr>
        <p:spPr>
          <a:xfrm>
            <a:off x="9708353" y="694709"/>
            <a:ext cx="1891957"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600"/>
              </a:spcBef>
              <a:spcAft>
                <a:spcPts val="0"/>
              </a:spcAft>
              <a:buClrTx/>
              <a:buSzPct val="100000"/>
              <a:buFontTx/>
              <a:buNone/>
              <a:tabLst/>
              <a:defRPr/>
            </a:pPr>
            <a:r>
              <a:rPr kumimoji="0" lang="en-US" sz="1200" b="0" i="1"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(Figures in Rs. Lakhs)</a:t>
            </a:r>
            <a:endParaRPr kumimoji="0" lang="en-US" sz="1800" b="0" i="1"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7" name="Rectangle: Rounded Corners 6">
            <a:extLst>
              <a:ext uri="{FF2B5EF4-FFF2-40B4-BE49-F238E27FC236}">
                <a16:creationId xmlns:a16="http://schemas.microsoft.com/office/drawing/2014/main" id="{65606861-6EF6-4929-89C4-66ABD6C2711A}"/>
              </a:ext>
            </a:extLst>
          </p:cNvPr>
          <p:cNvSpPr/>
          <p:nvPr/>
        </p:nvSpPr>
        <p:spPr bwMode="gray">
          <a:xfrm>
            <a:off x="1578348" y="6024600"/>
            <a:ext cx="8945918" cy="495065"/>
          </a:xfrm>
          <a:prstGeom prst="roundRect">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schemeClr val="bg1">
                    <a:lumMod val="95000"/>
                  </a:schemeClr>
                </a:solidFill>
                <a:effectLst/>
                <a:uLnTx/>
                <a:uFillTx/>
                <a:latin typeface="Verdana" panose="020B0604030504040204" pitchFamily="34" charset="0"/>
                <a:ea typeface="Verdana" panose="020B0604030504040204" pitchFamily="34" charset="0"/>
                <a:cs typeface="+mn-cs"/>
              </a:rPr>
              <a:t>Power Purchase and Transmission costs contribute ~80% of the total costs for WBSEDCL followed by ~Employee and Finance Costs.</a:t>
            </a:r>
          </a:p>
        </p:txBody>
      </p:sp>
      <p:sp>
        <p:nvSpPr>
          <p:cNvPr id="8" name="TextBox 7">
            <a:extLst>
              <a:ext uri="{FF2B5EF4-FFF2-40B4-BE49-F238E27FC236}">
                <a16:creationId xmlns:a16="http://schemas.microsoft.com/office/drawing/2014/main" id="{F382E80E-DB03-4B2B-8D0F-56B3D276B054}"/>
              </a:ext>
            </a:extLst>
          </p:cNvPr>
          <p:cNvSpPr txBox="1"/>
          <p:nvPr/>
        </p:nvSpPr>
        <p:spPr>
          <a:xfrm>
            <a:off x="7481046" y="6616564"/>
            <a:ext cx="4470400"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Data Source: Financial statement of WBSEDCL for FY 2020-21</a:t>
            </a:r>
          </a:p>
        </p:txBody>
      </p:sp>
      <p:sp>
        <p:nvSpPr>
          <p:cNvPr id="31" name="Rectangle 30">
            <a:extLst>
              <a:ext uri="{FF2B5EF4-FFF2-40B4-BE49-F238E27FC236}">
                <a16:creationId xmlns:a16="http://schemas.microsoft.com/office/drawing/2014/main" id="{0ECA7952-BD60-40CA-8BEA-FC2648748751}"/>
              </a:ext>
            </a:extLst>
          </p:cNvPr>
          <p:cNvSpPr/>
          <p:nvPr/>
        </p:nvSpPr>
        <p:spPr bwMode="gray">
          <a:xfrm>
            <a:off x="9327302" y="1078946"/>
            <a:ext cx="946349" cy="526525"/>
          </a:xfrm>
          <a:prstGeom prst="rect">
            <a:avLst/>
          </a:prstGeom>
          <a:solidFill>
            <a:srgbClr val="E5E8EF"/>
          </a:solidFill>
          <a:ln w="19050" algn="ctr">
            <a:noFill/>
            <a:miter lim="800000"/>
            <a:headEnd/>
            <a:tailEnd/>
          </a:ln>
        </p:spPr>
        <p:txBody>
          <a:bodyPr wrap="square" lIns="0" tIns="80615" rIns="0"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Regulatory Asset Movement</a:t>
            </a:r>
            <a:endParaRPr kumimoji="0" lang="en-IN" sz="90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cxnSp>
        <p:nvCxnSpPr>
          <p:cNvPr id="32" name="Straight Arrow Connector 31">
            <a:extLst>
              <a:ext uri="{FF2B5EF4-FFF2-40B4-BE49-F238E27FC236}">
                <a16:creationId xmlns:a16="http://schemas.microsoft.com/office/drawing/2014/main" id="{72A9F27F-C712-482A-98D9-F055AD3FF306}"/>
              </a:ext>
            </a:extLst>
          </p:cNvPr>
          <p:cNvCxnSpPr>
            <a:cxnSpLocks/>
          </p:cNvCxnSpPr>
          <p:nvPr/>
        </p:nvCxnSpPr>
        <p:spPr>
          <a:xfrm>
            <a:off x="9206776" y="1078966"/>
            <a:ext cx="1186161"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058EA88-F440-41AB-A78E-D7F3762FEA23}"/>
              </a:ext>
            </a:extLst>
          </p:cNvPr>
          <p:cNvCxnSpPr>
            <a:cxnSpLocks/>
          </p:cNvCxnSpPr>
          <p:nvPr/>
        </p:nvCxnSpPr>
        <p:spPr>
          <a:xfrm>
            <a:off x="10391697" y="1078966"/>
            <a:ext cx="1186161"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39712A9-5FCF-4ABB-8322-10FC606341F0}"/>
              </a:ext>
            </a:extLst>
          </p:cNvPr>
          <p:cNvSpPr/>
          <p:nvPr/>
        </p:nvSpPr>
        <p:spPr bwMode="gray">
          <a:xfrm>
            <a:off x="10553999" y="985308"/>
            <a:ext cx="860317" cy="199592"/>
          </a:xfrm>
          <a:prstGeom prst="rect">
            <a:avLst/>
          </a:prstGeom>
          <a:solidFill>
            <a:srgbClr val="E9EDEA"/>
          </a:solidFill>
          <a:ln w="19050" algn="ctr">
            <a:noFill/>
            <a:miter lim="800000"/>
            <a:headEnd/>
            <a:tailEnd/>
          </a:ln>
        </p:spPr>
        <p:txBody>
          <a:bodyPr wrap="square" lIns="0" tIns="80615" rIns="0"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Profit / Loss</a:t>
            </a:r>
            <a:endParaRPr kumimoji="0" lang="en-IN" sz="90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aphicFrame>
        <p:nvGraphicFramePr>
          <p:cNvPr id="2" name="Table 2">
            <a:extLst>
              <a:ext uri="{FF2B5EF4-FFF2-40B4-BE49-F238E27FC236}">
                <a16:creationId xmlns:a16="http://schemas.microsoft.com/office/drawing/2014/main" id="{477BEBF7-678E-496A-9F71-6BCA15F2D024}"/>
              </a:ext>
            </a:extLst>
          </p:cNvPr>
          <p:cNvGraphicFramePr>
            <a:graphicFrameLocks noGrp="1"/>
          </p:cNvGraphicFramePr>
          <p:nvPr>
            <p:extLst>
              <p:ext uri="{D42A27DB-BD31-4B8C-83A1-F6EECF244321}">
                <p14:modId xmlns:p14="http://schemas.microsoft.com/office/powerpoint/2010/main" val="3910368190"/>
              </p:ext>
            </p:extLst>
          </p:nvPr>
        </p:nvGraphicFramePr>
        <p:xfrm>
          <a:off x="752393" y="4902655"/>
          <a:ext cx="10934136" cy="1005840"/>
        </p:xfrm>
        <a:graphic>
          <a:graphicData uri="http://schemas.openxmlformats.org/drawingml/2006/table">
            <a:tbl>
              <a:tblPr firstRow="1" bandRow="1">
                <a:tableStyleId>{5C22544A-7EE6-4342-B048-85BDC9FD1C3A}</a:tableStyleId>
              </a:tblPr>
              <a:tblGrid>
                <a:gridCol w="1214904">
                  <a:extLst>
                    <a:ext uri="{9D8B030D-6E8A-4147-A177-3AD203B41FA5}">
                      <a16:colId xmlns:a16="http://schemas.microsoft.com/office/drawing/2014/main" val="116419050"/>
                    </a:ext>
                  </a:extLst>
                </a:gridCol>
                <a:gridCol w="1214904">
                  <a:extLst>
                    <a:ext uri="{9D8B030D-6E8A-4147-A177-3AD203B41FA5}">
                      <a16:colId xmlns:a16="http://schemas.microsoft.com/office/drawing/2014/main" val="1112559999"/>
                    </a:ext>
                  </a:extLst>
                </a:gridCol>
                <a:gridCol w="1214904">
                  <a:extLst>
                    <a:ext uri="{9D8B030D-6E8A-4147-A177-3AD203B41FA5}">
                      <a16:colId xmlns:a16="http://schemas.microsoft.com/office/drawing/2014/main" val="4227292476"/>
                    </a:ext>
                  </a:extLst>
                </a:gridCol>
                <a:gridCol w="1214904">
                  <a:extLst>
                    <a:ext uri="{9D8B030D-6E8A-4147-A177-3AD203B41FA5}">
                      <a16:colId xmlns:a16="http://schemas.microsoft.com/office/drawing/2014/main" val="2992324919"/>
                    </a:ext>
                  </a:extLst>
                </a:gridCol>
                <a:gridCol w="1214904">
                  <a:extLst>
                    <a:ext uri="{9D8B030D-6E8A-4147-A177-3AD203B41FA5}">
                      <a16:colId xmlns:a16="http://schemas.microsoft.com/office/drawing/2014/main" val="4050001081"/>
                    </a:ext>
                  </a:extLst>
                </a:gridCol>
                <a:gridCol w="1214904">
                  <a:extLst>
                    <a:ext uri="{9D8B030D-6E8A-4147-A177-3AD203B41FA5}">
                      <a16:colId xmlns:a16="http://schemas.microsoft.com/office/drawing/2014/main" val="1002254282"/>
                    </a:ext>
                  </a:extLst>
                </a:gridCol>
                <a:gridCol w="1214904">
                  <a:extLst>
                    <a:ext uri="{9D8B030D-6E8A-4147-A177-3AD203B41FA5}">
                      <a16:colId xmlns:a16="http://schemas.microsoft.com/office/drawing/2014/main" val="384426658"/>
                    </a:ext>
                  </a:extLst>
                </a:gridCol>
                <a:gridCol w="1214904">
                  <a:extLst>
                    <a:ext uri="{9D8B030D-6E8A-4147-A177-3AD203B41FA5}">
                      <a16:colId xmlns:a16="http://schemas.microsoft.com/office/drawing/2014/main" val="1298294622"/>
                    </a:ext>
                  </a:extLst>
                </a:gridCol>
                <a:gridCol w="1214904">
                  <a:extLst>
                    <a:ext uri="{9D8B030D-6E8A-4147-A177-3AD203B41FA5}">
                      <a16:colId xmlns:a16="http://schemas.microsoft.com/office/drawing/2014/main" val="3402736556"/>
                    </a:ext>
                  </a:extLst>
                </a:gridCol>
              </a:tblGrid>
              <a:tr h="835991">
                <a:tc>
                  <a:txBody>
                    <a:bodyPr/>
                    <a:lstStyle/>
                    <a:p>
                      <a:pPr algn="ctr"/>
                      <a:r>
                        <a:rPr lang="en-US" sz="1000" u="none" dirty="0">
                          <a:solidFill>
                            <a:schemeClr val="tx1"/>
                          </a:solidFill>
                          <a:latin typeface="Verdana" panose="020B0604030504040204" pitchFamily="34" charset="0"/>
                          <a:ea typeface="Verdana" panose="020B0604030504040204" pitchFamily="34" charset="0"/>
                        </a:rPr>
                        <a:t>Total Revenue</a:t>
                      </a:r>
                    </a:p>
                  </a:txBody>
                  <a:tcPr>
                    <a:solidFill>
                      <a:schemeClr val="bg1"/>
                    </a:solidFill>
                  </a:tcPr>
                </a:tc>
                <a:tc>
                  <a:txBody>
                    <a:bodyPr/>
                    <a:lstStyle/>
                    <a:p>
                      <a:pPr algn="ctr"/>
                      <a:r>
                        <a:rPr lang="en-US" sz="1000" u="none" dirty="0">
                          <a:solidFill>
                            <a:schemeClr val="tx1"/>
                          </a:solidFill>
                          <a:latin typeface="Verdana" panose="020B0604030504040204" pitchFamily="34" charset="0"/>
                          <a:ea typeface="Verdana" panose="020B0604030504040204" pitchFamily="34" charset="0"/>
                        </a:rPr>
                        <a:t>Power Purchase Cost</a:t>
                      </a:r>
                    </a:p>
                  </a:txBody>
                  <a:tcPr>
                    <a:solidFill>
                      <a:schemeClr val="bg1"/>
                    </a:solidFill>
                  </a:tcPr>
                </a:tc>
                <a:tc>
                  <a:txBody>
                    <a:bodyPr/>
                    <a:lstStyle/>
                    <a:p>
                      <a:pPr algn="ctr"/>
                      <a:r>
                        <a:rPr lang="en-US" sz="1000" u="none" dirty="0">
                          <a:solidFill>
                            <a:schemeClr val="tx1"/>
                          </a:solidFill>
                          <a:latin typeface="Verdana" panose="020B0604030504040204" pitchFamily="34" charset="0"/>
                          <a:ea typeface="Verdana" panose="020B0604030504040204" pitchFamily="34" charset="0"/>
                        </a:rPr>
                        <a:t>Transmission &amp; System Operating Charges</a:t>
                      </a:r>
                    </a:p>
                  </a:txBody>
                  <a:tcPr>
                    <a:solidFill>
                      <a:schemeClr val="bg1"/>
                    </a:solidFill>
                  </a:tcPr>
                </a:tc>
                <a:tc>
                  <a:txBody>
                    <a:bodyPr/>
                    <a:lstStyle/>
                    <a:p>
                      <a:pPr algn="ctr"/>
                      <a:r>
                        <a:rPr lang="en-US" sz="1000" u="none" dirty="0">
                          <a:solidFill>
                            <a:schemeClr val="tx1"/>
                          </a:solidFill>
                          <a:latin typeface="Verdana" panose="020B0604030504040204" pitchFamily="34" charset="0"/>
                          <a:ea typeface="Verdana" panose="020B0604030504040204" pitchFamily="34" charset="0"/>
                        </a:rPr>
                        <a:t>Employee Benefit Expense</a:t>
                      </a:r>
                    </a:p>
                  </a:txBody>
                  <a:tcPr>
                    <a:solidFill>
                      <a:schemeClr val="bg1"/>
                    </a:solidFill>
                  </a:tcPr>
                </a:tc>
                <a:tc>
                  <a:txBody>
                    <a:bodyPr/>
                    <a:lstStyle/>
                    <a:p>
                      <a:pPr algn="ctr"/>
                      <a:r>
                        <a:rPr lang="en-US" sz="1000" u="none" dirty="0">
                          <a:solidFill>
                            <a:schemeClr val="tx1"/>
                          </a:solidFill>
                          <a:latin typeface="Verdana" panose="020B0604030504040204" pitchFamily="34" charset="0"/>
                          <a:ea typeface="Verdana" panose="020B0604030504040204" pitchFamily="34" charset="0"/>
                        </a:rPr>
                        <a:t>Finance Cost</a:t>
                      </a:r>
                    </a:p>
                  </a:txBody>
                  <a:tcPr>
                    <a:solidFill>
                      <a:schemeClr val="bg1"/>
                    </a:solidFill>
                  </a:tcPr>
                </a:tc>
                <a:tc>
                  <a:txBody>
                    <a:bodyPr/>
                    <a:lstStyle/>
                    <a:p>
                      <a:pPr algn="ctr"/>
                      <a:r>
                        <a:rPr lang="en-US" sz="1000" u="none" dirty="0">
                          <a:solidFill>
                            <a:schemeClr val="tx1"/>
                          </a:solidFill>
                          <a:latin typeface="Verdana" panose="020B0604030504040204" pitchFamily="34" charset="0"/>
                          <a:ea typeface="Verdana" panose="020B0604030504040204" pitchFamily="34" charset="0"/>
                        </a:rPr>
                        <a:t>Depreciation &amp; Amortization</a:t>
                      </a:r>
                    </a:p>
                  </a:txBody>
                  <a:tcPr>
                    <a:solidFill>
                      <a:schemeClr val="bg1"/>
                    </a:solidFill>
                  </a:tcPr>
                </a:tc>
                <a:tc>
                  <a:txBody>
                    <a:bodyPr/>
                    <a:lstStyle/>
                    <a:p>
                      <a:pPr algn="ctr"/>
                      <a:r>
                        <a:rPr lang="en-US" sz="1000" u="none" dirty="0">
                          <a:solidFill>
                            <a:schemeClr val="tx1"/>
                          </a:solidFill>
                          <a:latin typeface="Verdana" panose="020B0604030504040204" pitchFamily="34" charset="0"/>
                          <a:ea typeface="Verdana" panose="020B0604030504040204" pitchFamily="34" charset="0"/>
                        </a:rPr>
                        <a:t>Other Expenses*</a:t>
                      </a:r>
                    </a:p>
                  </a:txBody>
                  <a:tcPr>
                    <a:solidFill>
                      <a:schemeClr val="bg1"/>
                    </a:solidFill>
                  </a:tcPr>
                </a:tc>
                <a:tc>
                  <a:txBody>
                    <a:bodyPr/>
                    <a:lstStyle/>
                    <a:p>
                      <a:pPr algn="ctr"/>
                      <a:r>
                        <a:rPr lang="en-US" sz="1000" u="none" dirty="0">
                          <a:solidFill>
                            <a:schemeClr val="tx1"/>
                          </a:solidFill>
                          <a:latin typeface="Verdana" panose="020B0604030504040204" pitchFamily="34" charset="0"/>
                          <a:ea typeface="Verdana" panose="020B0604030504040204" pitchFamily="34" charset="0"/>
                        </a:rPr>
                        <a:t>Net movement in Regulatory Deferral Account Balance</a:t>
                      </a:r>
                    </a:p>
                  </a:txBody>
                  <a:tcPr>
                    <a:solidFill>
                      <a:schemeClr val="bg1"/>
                    </a:solidFill>
                  </a:tcPr>
                </a:tc>
                <a:tc>
                  <a:txBody>
                    <a:bodyPr/>
                    <a:lstStyle/>
                    <a:p>
                      <a:pPr algn="l"/>
                      <a:r>
                        <a:rPr lang="en-US" sz="1000" u="none" dirty="0">
                          <a:solidFill>
                            <a:schemeClr val="tx1"/>
                          </a:solidFill>
                          <a:latin typeface="Verdana" panose="020B0604030504040204" pitchFamily="34" charset="0"/>
                          <a:ea typeface="Verdana" panose="020B0604030504040204" pitchFamily="34" charset="0"/>
                        </a:rPr>
                        <a:t>Net Profit/Loss for the period</a:t>
                      </a:r>
                    </a:p>
                  </a:txBody>
                  <a:tcPr>
                    <a:solidFill>
                      <a:schemeClr val="bg1"/>
                    </a:solidFill>
                  </a:tcPr>
                </a:tc>
                <a:extLst>
                  <a:ext uri="{0D108BD9-81ED-4DB2-BD59-A6C34878D82A}">
                    <a16:rowId xmlns:a16="http://schemas.microsoft.com/office/drawing/2014/main" val="2411863590"/>
                  </a:ext>
                </a:extLst>
              </a:tr>
            </a:tbl>
          </a:graphicData>
        </a:graphic>
      </p:graphicFrame>
      <p:sp>
        <p:nvSpPr>
          <p:cNvPr id="6" name="TextBox 5">
            <a:extLst>
              <a:ext uri="{FF2B5EF4-FFF2-40B4-BE49-F238E27FC236}">
                <a16:creationId xmlns:a16="http://schemas.microsoft.com/office/drawing/2014/main" id="{B3F54B0E-F563-49B7-8BD7-D29006E3A62A}"/>
              </a:ext>
            </a:extLst>
          </p:cNvPr>
          <p:cNvSpPr txBox="1"/>
          <p:nvPr/>
        </p:nvSpPr>
        <p:spPr>
          <a:xfrm>
            <a:off x="748569" y="5601414"/>
            <a:ext cx="7909791" cy="369332"/>
          </a:xfrm>
          <a:prstGeom prst="rect">
            <a:avLst/>
          </a:prstGeom>
          <a:noFill/>
        </p:spPr>
        <p:txBody>
          <a:bodyPr wrap="square" lIns="0" tIns="0" rIns="0" bIns="0" rtlCol="0">
            <a:spAutoFit/>
          </a:bodyPr>
          <a:lstStyle/>
          <a:p>
            <a:pPr>
              <a:spcBef>
                <a:spcPts val="600"/>
              </a:spcBef>
              <a:buSzPct val="100000"/>
            </a:pPr>
            <a:r>
              <a:rPr lang="en-US" sz="1200" b="1" dirty="0">
                <a:solidFill>
                  <a:schemeClr val="accent5"/>
                </a:solidFill>
                <a:latin typeface="Verdana" panose="020B0604030504040204" pitchFamily="34" charset="0"/>
                <a:ea typeface="Verdana" panose="020B0604030504040204" pitchFamily="34" charset="0"/>
              </a:rPr>
              <a:t>*Other Expenses include Outsourced Jobs, R&amp;M expense, A&amp;G expense, other debits, expenditure on CSR. </a:t>
            </a:r>
          </a:p>
        </p:txBody>
      </p:sp>
      <p:graphicFrame>
        <p:nvGraphicFramePr>
          <p:cNvPr id="36" name="Chart 35">
            <a:extLst>
              <a:ext uri="{FF2B5EF4-FFF2-40B4-BE49-F238E27FC236}">
                <a16:creationId xmlns:a16="http://schemas.microsoft.com/office/drawing/2014/main" id="{75B377B0-187F-4753-B749-2E8A85A243B6}"/>
              </a:ext>
            </a:extLst>
          </p:cNvPr>
          <p:cNvGraphicFramePr/>
          <p:nvPr>
            <p:extLst>
              <p:ext uri="{D42A27DB-BD31-4B8C-83A1-F6EECF244321}">
                <p14:modId xmlns:p14="http://schemas.microsoft.com/office/powerpoint/2010/main" val="734082154"/>
              </p:ext>
            </p:extLst>
          </p:nvPr>
        </p:nvGraphicFramePr>
        <p:xfrm>
          <a:off x="5960654" y="1615776"/>
          <a:ext cx="3930238" cy="2096283"/>
        </p:xfrm>
        <a:graphic>
          <a:graphicData uri="http://schemas.openxmlformats.org/drawingml/2006/chart">
            <c:chart xmlns:c="http://schemas.openxmlformats.org/drawingml/2006/chart" xmlns:r="http://schemas.openxmlformats.org/officeDocument/2006/relationships" r:id="rId8"/>
          </a:graphicData>
        </a:graphic>
      </p:graphicFrame>
      <p:cxnSp>
        <p:nvCxnSpPr>
          <p:cNvPr id="10" name="Straight Connector 9">
            <a:extLst>
              <a:ext uri="{FF2B5EF4-FFF2-40B4-BE49-F238E27FC236}">
                <a16:creationId xmlns:a16="http://schemas.microsoft.com/office/drawing/2014/main" id="{051AD082-543B-452C-A90D-93F9CAD96329}"/>
              </a:ext>
            </a:extLst>
          </p:cNvPr>
          <p:cNvCxnSpPr>
            <a:cxnSpLocks/>
          </p:cNvCxnSpPr>
          <p:nvPr/>
        </p:nvCxnSpPr>
        <p:spPr>
          <a:xfrm flipH="1" flipV="1">
            <a:off x="7778267" y="2921827"/>
            <a:ext cx="403207" cy="129397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EF2CCB2-A2D0-4889-AB47-A9C1DF5C73C4}"/>
              </a:ext>
            </a:extLst>
          </p:cNvPr>
          <p:cNvCxnSpPr>
            <a:cxnSpLocks/>
          </p:cNvCxnSpPr>
          <p:nvPr/>
        </p:nvCxnSpPr>
        <p:spPr>
          <a:xfrm flipV="1">
            <a:off x="8989461" y="2921827"/>
            <a:ext cx="399386" cy="134270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F52A45A-D5C0-403B-829D-4802924663D3}"/>
              </a:ext>
            </a:extLst>
          </p:cNvPr>
          <p:cNvSpPr txBox="1"/>
          <p:nvPr/>
        </p:nvSpPr>
        <p:spPr>
          <a:xfrm>
            <a:off x="469902" y="6619619"/>
            <a:ext cx="4470400" cy="107722"/>
          </a:xfrm>
          <a:prstGeom prst="rect">
            <a:avLst/>
          </a:prstGeom>
          <a:noFill/>
        </p:spPr>
        <p:txBody>
          <a:bodyPr wrap="square" lIns="0" tIns="0" rIns="0" bIns="0" rtlCol="0">
            <a:spAutoFit/>
          </a:bodyPr>
          <a:lstStyle/>
          <a:p>
            <a:pPr>
              <a:spcBef>
                <a:spcPts val="600"/>
              </a:spcBef>
              <a:buSzPct val="100000"/>
            </a:pPr>
            <a:r>
              <a:rPr lang="en-US" sz="700" dirty="0">
                <a:solidFill>
                  <a:srgbClr val="313131"/>
                </a:solidFill>
                <a:latin typeface="Verdana" panose="020B0604030504040204" pitchFamily="34" charset="0"/>
                <a:ea typeface="Verdana" panose="020B0604030504040204" pitchFamily="34" charset="0"/>
              </a:rPr>
              <a:t>@ 2020 Deloitte </a:t>
            </a:r>
            <a:r>
              <a:rPr lang="en-US" sz="700" dirty="0" err="1">
                <a:solidFill>
                  <a:srgbClr val="313131"/>
                </a:solidFill>
                <a:latin typeface="Verdana" panose="020B0604030504040204" pitchFamily="34" charset="0"/>
                <a:ea typeface="Verdana" panose="020B0604030504040204" pitchFamily="34" charset="0"/>
              </a:rPr>
              <a:t>Touche</a:t>
            </a:r>
            <a:r>
              <a:rPr lang="en-US" sz="700" dirty="0">
                <a:solidFill>
                  <a:srgbClr val="313131"/>
                </a:solidFill>
                <a:latin typeface="Verdana" panose="020B0604030504040204" pitchFamily="34" charset="0"/>
                <a:ea typeface="Verdana" panose="020B0604030504040204" pitchFamily="34" charset="0"/>
              </a:rPr>
              <a:t> Tohmatsu India LLP </a:t>
            </a:r>
          </a:p>
        </p:txBody>
      </p:sp>
      <p:sp>
        <p:nvSpPr>
          <p:cNvPr id="3" name="Rectangle 2">
            <a:extLst>
              <a:ext uri="{FF2B5EF4-FFF2-40B4-BE49-F238E27FC236}">
                <a16:creationId xmlns:a16="http://schemas.microsoft.com/office/drawing/2014/main" id="{40D4B967-6F24-4E18-8BF8-905B1F4D0A69}"/>
              </a:ext>
            </a:extLst>
          </p:cNvPr>
          <p:cNvSpPr/>
          <p:nvPr/>
        </p:nvSpPr>
        <p:spPr bwMode="gray">
          <a:xfrm>
            <a:off x="9664089" y="2468375"/>
            <a:ext cx="1602625" cy="99676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b="1" i="1" dirty="0">
                <a:ln w="0"/>
                <a:solidFill>
                  <a:schemeClr val="tx1"/>
                </a:solidFill>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cs typeface="Vani" panose="02040502050405020303" pitchFamily="18" charset="0"/>
              </a:rPr>
              <a:t>Other Comprehensive Income:</a:t>
            </a:r>
            <a:r>
              <a:rPr lang="en-US" sz="1200" i="1" dirty="0">
                <a:ln w="0"/>
                <a:solidFill>
                  <a:schemeClr val="tx1"/>
                </a:solidFill>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cs typeface="Vani" panose="02040502050405020303" pitchFamily="18" charset="0"/>
              </a:rPr>
              <a:t>  Rs. 23,825 Lakhs</a:t>
            </a:r>
          </a:p>
        </p:txBody>
      </p:sp>
    </p:spTree>
    <p:extLst>
      <p:ext uri="{BB962C8B-B14F-4D97-AF65-F5344CB8AC3E}">
        <p14:creationId xmlns:p14="http://schemas.microsoft.com/office/powerpoint/2010/main" val="2813989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Group 110">
            <a:extLst>
              <a:ext uri="{FF2B5EF4-FFF2-40B4-BE49-F238E27FC236}">
                <a16:creationId xmlns:a16="http://schemas.microsoft.com/office/drawing/2014/main" id="{37C8D540-614C-49BB-85E2-A88DA29F99A6}"/>
              </a:ext>
            </a:extLst>
          </p:cNvPr>
          <p:cNvGrpSpPr/>
          <p:nvPr/>
        </p:nvGrpSpPr>
        <p:grpSpPr>
          <a:xfrm>
            <a:off x="705640" y="1134581"/>
            <a:ext cx="10780720" cy="4588838"/>
            <a:chOff x="241304" y="1978024"/>
            <a:chExt cx="10780720" cy="4588838"/>
          </a:xfrm>
        </p:grpSpPr>
        <p:grpSp>
          <p:nvGrpSpPr>
            <p:cNvPr id="110" name="Group 109">
              <a:extLst>
                <a:ext uri="{FF2B5EF4-FFF2-40B4-BE49-F238E27FC236}">
                  <a16:creationId xmlns:a16="http://schemas.microsoft.com/office/drawing/2014/main" id="{BF46A0B0-482E-42E4-A824-C13D6A5ADBFF}"/>
                </a:ext>
              </a:extLst>
            </p:cNvPr>
            <p:cNvGrpSpPr/>
            <p:nvPr/>
          </p:nvGrpSpPr>
          <p:grpSpPr>
            <a:xfrm>
              <a:off x="1630059" y="1978024"/>
              <a:ext cx="8374422" cy="3983039"/>
              <a:chOff x="1630059" y="1978024"/>
              <a:chExt cx="8374422" cy="3983039"/>
            </a:xfrm>
          </p:grpSpPr>
          <p:sp>
            <p:nvSpPr>
              <p:cNvPr id="52" name="Oval 51">
                <a:extLst>
                  <a:ext uri="{FF2B5EF4-FFF2-40B4-BE49-F238E27FC236}">
                    <a16:creationId xmlns:a16="http://schemas.microsoft.com/office/drawing/2014/main" id="{F12D4C29-54AE-4A72-A8FC-3E871E62C452}"/>
                  </a:ext>
                </a:extLst>
              </p:cNvPr>
              <p:cNvSpPr/>
              <p:nvPr/>
            </p:nvSpPr>
            <p:spPr>
              <a:xfrm>
                <a:off x="6044918" y="3551841"/>
                <a:ext cx="1403089" cy="772664"/>
              </a:xfrm>
              <a:prstGeom prst="ellipse">
                <a:avLst/>
              </a:prstGeom>
              <a:solidFill>
                <a:srgbClr val="81BC00"/>
              </a:solidFill>
              <a:ln w="25400" cap="flat" cmpd="sng" algn="ctr">
                <a:noFill/>
                <a:prstDash val="solid"/>
              </a:ln>
              <a:effectLst/>
            </p:spPr>
            <p:txBody>
              <a:bodyPr lIns="88900" tIns="88900" rIns="88900" bIns="88900" anchor="ctr"/>
              <a:lstStyle/>
              <a:p>
                <a:pPr marL="0" marR="0" lvl="0" indent="0" algn="ctr" defTabSz="914400" eaLnBrk="1" fontAlgn="auto" latinLnBrk="0" hangingPunct="1">
                  <a:lnSpc>
                    <a:spcPct val="100000"/>
                  </a:lnSpc>
                  <a:spcBef>
                    <a:spcPct val="2000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rPr>
                  <a:t>Commission’s Assessment</a:t>
                </a:r>
              </a:p>
            </p:txBody>
          </p:sp>
          <p:sp>
            <p:nvSpPr>
              <p:cNvPr id="53" name="AutoShape 9">
                <a:extLst>
                  <a:ext uri="{FF2B5EF4-FFF2-40B4-BE49-F238E27FC236}">
                    <a16:creationId xmlns:a16="http://schemas.microsoft.com/office/drawing/2014/main" id="{65AD3B6D-750C-48C2-B513-C7CCB8FFBC40}"/>
                  </a:ext>
                </a:extLst>
              </p:cNvPr>
              <p:cNvSpPr>
                <a:spLocks noChangeArrowheads="1"/>
              </p:cNvSpPr>
              <p:nvPr/>
            </p:nvSpPr>
            <p:spPr bwMode="auto">
              <a:xfrm>
                <a:off x="9680481" y="3798103"/>
                <a:ext cx="324000" cy="342882"/>
              </a:xfrm>
              <a:prstGeom prst="rightArrow">
                <a:avLst>
                  <a:gd name="adj1" fmla="val 50000"/>
                  <a:gd name="adj2" fmla="val 49002"/>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54" name="AutoShape 10">
                <a:extLst>
                  <a:ext uri="{FF2B5EF4-FFF2-40B4-BE49-F238E27FC236}">
                    <a16:creationId xmlns:a16="http://schemas.microsoft.com/office/drawing/2014/main" id="{751DAC7F-EA1E-40D2-A54C-06C16AFBC799}"/>
                  </a:ext>
                </a:extLst>
              </p:cNvPr>
              <p:cNvSpPr>
                <a:spLocks noChangeArrowheads="1"/>
              </p:cNvSpPr>
              <p:nvPr/>
            </p:nvSpPr>
            <p:spPr bwMode="auto">
              <a:xfrm>
                <a:off x="3673139" y="1978024"/>
                <a:ext cx="2160000" cy="548640"/>
              </a:xfrm>
              <a:prstGeom prst="chevron">
                <a:avLst>
                  <a:gd name="adj" fmla="val 32490"/>
                </a:avLst>
              </a:prstGeom>
              <a:solidFill>
                <a:srgbClr val="43B02A"/>
              </a:solidFill>
              <a:ln w="6350" algn="ctr">
                <a:noFill/>
                <a:miter lim="800000"/>
                <a:headEnd type="none" w="sm" len="sm"/>
                <a:tailEnd type="none" w="sm" len="sm"/>
              </a:ln>
            </p:spPr>
            <p:txBody>
              <a:bodyPr lIns="88900" tIns="88900" rIns="88900" bIns="88900" anchor="ctr"/>
              <a:lstStyle/>
              <a:p>
                <a:pPr marL="171450" marR="0" lvl="0" indent="-171450"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prstClr val="white"/>
                    </a:solidFill>
                    <a:effectLst/>
                    <a:uLnTx/>
                    <a:uFillTx/>
                    <a:cs typeface="Arial" pitchFamily="34" charset="0"/>
                  </a:rPr>
                  <a:t>2. Issuance of Public Notice</a:t>
                </a:r>
                <a:endParaRPr kumimoji="0" lang="en-GB" altLang="ja-JP" sz="1200" b="0" i="0" u="none" strike="noStrike" kern="0" cap="none" spc="0" normalizeH="0" baseline="0" noProof="0" dirty="0">
                  <a:ln>
                    <a:noFill/>
                  </a:ln>
                  <a:solidFill>
                    <a:prstClr val="white"/>
                  </a:solidFill>
                  <a:effectLst/>
                  <a:uLnTx/>
                  <a:uFillTx/>
                  <a:ea typeface="ＭＳ Ｐゴシック" panose="020B0600070205080204" pitchFamily="34" charset="-128"/>
                  <a:cs typeface="Arial" pitchFamily="34" charset="0"/>
                </a:endParaRPr>
              </a:p>
            </p:txBody>
          </p:sp>
          <p:sp>
            <p:nvSpPr>
              <p:cNvPr id="55" name="AutoShape 11">
                <a:extLst>
                  <a:ext uri="{FF2B5EF4-FFF2-40B4-BE49-F238E27FC236}">
                    <a16:creationId xmlns:a16="http://schemas.microsoft.com/office/drawing/2014/main" id="{DE1DB7A2-094C-45A9-9CB3-41E1D4A429BF}"/>
                  </a:ext>
                </a:extLst>
              </p:cNvPr>
              <p:cNvSpPr>
                <a:spLocks noChangeArrowheads="1"/>
              </p:cNvSpPr>
              <p:nvPr/>
            </p:nvSpPr>
            <p:spPr bwMode="auto">
              <a:xfrm>
                <a:off x="1630059" y="1978024"/>
                <a:ext cx="2160000" cy="548640"/>
              </a:xfrm>
              <a:prstGeom prst="homePlate">
                <a:avLst>
                  <a:gd name="adj" fmla="val 31290"/>
                </a:avLst>
              </a:prstGeom>
              <a:solidFill>
                <a:srgbClr val="43B02A"/>
              </a:solidFill>
              <a:ln w="6350" algn="ctr">
                <a:noFill/>
                <a:miter lim="800000"/>
                <a:headEnd type="none" w="sm" len="sm"/>
                <a:tailEnd type="none" w="sm" len="sm"/>
              </a:ln>
            </p:spPr>
            <p:txBody>
              <a:bodyPr lIns="88900" tIns="88900" rIns="88900" bIns="88900" anchor="ctr"/>
              <a:lstStyle/>
              <a:p>
                <a:pPr marL="171450" marR="0" lvl="0" indent="-171450"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prstClr val="white"/>
                    </a:solidFill>
                    <a:effectLst/>
                    <a:uLnTx/>
                    <a:uFillTx/>
                    <a:cs typeface="Arial" pitchFamily="34" charset="0"/>
                  </a:rPr>
                  <a:t>1. Technical Validation Session (TVS)</a:t>
                </a:r>
                <a:endParaRPr kumimoji="0" lang="en-GB" altLang="ja-JP" sz="1200" b="0" i="0" u="none" strike="noStrike" kern="0" cap="none" spc="0" normalizeH="0" baseline="0" noProof="0" dirty="0">
                  <a:ln>
                    <a:noFill/>
                  </a:ln>
                  <a:solidFill>
                    <a:prstClr val="white"/>
                  </a:solidFill>
                  <a:effectLst/>
                  <a:uLnTx/>
                  <a:uFillTx/>
                  <a:ea typeface="ＭＳ Ｐゴシック" pitchFamily="50" charset="-128"/>
                  <a:cs typeface="Arial" pitchFamily="34" charset="0"/>
                </a:endParaRPr>
              </a:p>
            </p:txBody>
          </p:sp>
          <p:sp>
            <p:nvSpPr>
              <p:cNvPr id="56" name="Rectangle 12">
                <a:extLst>
                  <a:ext uri="{FF2B5EF4-FFF2-40B4-BE49-F238E27FC236}">
                    <a16:creationId xmlns:a16="http://schemas.microsoft.com/office/drawing/2014/main" id="{4DA591F9-400B-433D-B238-4B73999C867A}"/>
                  </a:ext>
                </a:extLst>
              </p:cNvPr>
              <p:cNvSpPr>
                <a:spLocks noChangeArrowheads="1"/>
              </p:cNvSpPr>
              <p:nvPr/>
            </p:nvSpPr>
            <p:spPr bwMode="auto">
              <a:xfrm>
                <a:off x="1630060" y="2643664"/>
                <a:ext cx="1826947" cy="2651760"/>
              </a:xfrm>
              <a:prstGeom prst="rect">
                <a:avLst/>
              </a:prstGeom>
              <a:solidFill>
                <a:sysClr val="windowText" lastClr="000000"/>
              </a:solidFill>
              <a:ln w="6350" algn="ctr">
                <a:noFill/>
                <a:miter lim="800000"/>
                <a:headEnd type="none" w="sm" len="sm"/>
                <a:tailEnd type="none" w="sm" len="sm"/>
              </a:ln>
            </p:spPr>
            <p:txBody>
              <a:bodyPr wrap="square" lIns="88900" tIns="88900" rIns="88900" bIns="8890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solidFill>
                    <a:srgbClr val="313131"/>
                  </a:solidFill>
                  <a:effectLst/>
                  <a:uLnTx/>
                  <a:uFillTx/>
                  <a:ea typeface="ＭＳ Ｐゴシック" charset="-128"/>
                  <a:cs typeface="Arial" pitchFamily="34" charset="0"/>
                </a:endParaRPr>
              </a:p>
            </p:txBody>
          </p:sp>
          <p:sp>
            <p:nvSpPr>
              <p:cNvPr id="57" name="AutoShape 13">
                <a:extLst>
                  <a:ext uri="{FF2B5EF4-FFF2-40B4-BE49-F238E27FC236}">
                    <a16:creationId xmlns:a16="http://schemas.microsoft.com/office/drawing/2014/main" id="{E49162F4-1418-47F3-83B0-FCA7C855677B}"/>
                  </a:ext>
                </a:extLst>
              </p:cNvPr>
              <p:cNvSpPr>
                <a:spLocks noChangeArrowheads="1"/>
              </p:cNvSpPr>
              <p:nvPr/>
            </p:nvSpPr>
            <p:spPr bwMode="auto">
              <a:xfrm flipV="1">
                <a:off x="2199498" y="3486455"/>
                <a:ext cx="688072" cy="130773"/>
              </a:xfrm>
              <a:prstGeom prst="triangle">
                <a:avLst>
                  <a:gd name="adj" fmla="val 50000"/>
                </a:avLst>
              </a:prstGeom>
              <a:solidFill>
                <a:srgbClr val="53565A"/>
              </a:solidFill>
              <a:ln w="6350" algn="ctr">
                <a:noFill/>
                <a:miter lim="800000"/>
                <a:headEnd type="none" w="sm" len="sm"/>
                <a:tailEnd type="none" w="sm" len="sm"/>
              </a:ln>
            </p:spPr>
            <p:txBody>
              <a:bodyPr rot="10800000"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58" name="AutoShape 14">
                <a:extLst>
                  <a:ext uri="{FF2B5EF4-FFF2-40B4-BE49-F238E27FC236}">
                    <a16:creationId xmlns:a16="http://schemas.microsoft.com/office/drawing/2014/main" id="{AE6A4B8D-F17B-495B-9495-6EBA5535DE5A}"/>
                  </a:ext>
                </a:extLst>
              </p:cNvPr>
              <p:cNvSpPr>
                <a:spLocks noChangeArrowheads="1"/>
              </p:cNvSpPr>
              <p:nvPr/>
            </p:nvSpPr>
            <p:spPr bwMode="auto">
              <a:xfrm>
                <a:off x="2199498" y="4327559"/>
                <a:ext cx="688072" cy="132369"/>
              </a:xfrm>
              <a:prstGeom prst="triangle">
                <a:avLst>
                  <a:gd name="adj" fmla="val 50000"/>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59" name="Rectangle 16">
                <a:extLst>
                  <a:ext uri="{FF2B5EF4-FFF2-40B4-BE49-F238E27FC236}">
                    <a16:creationId xmlns:a16="http://schemas.microsoft.com/office/drawing/2014/main" id="{9764DB3C-58E9-4079-9CC5-FDACECF8A63C}"/>
                  </a:ext>
                </a:extLst>
              </p:cNvPr>
              <p:cNvSpPr>
                <a:spLocks noChangeArrowheads="1"/>
              </p:cNvSpPr>
              <p:nvPr/>
            </p:nvSpPr>
            <p:spPr bwMode="auto">
              <a:xfrm>
                <a:off x="1751542" y="4562319"/>
                <a:ext cx="1583985" cy="621971"/>
              </a:xfrm>
              <a:prstGeom prst="rect">
                <a:avLst/>
              </a:prstGeom>
              <a:solidFill>
                <a:sysClr val="window" lastClr="FFFFFF"/>
              </a:solidFill>
              <a:ln w="12700">
                <a:noFill/>
                <a:miter lim="800000"/>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Commission Scrutinizes the Petition and seek for additional information </a:t>
                </a:r>
              </a:p>
              <a:p>
                <a:pPr marL="0" marR="0" lvl="0" indent="0" algn="ctr" defTabSz="914400" eaLnBrk="1" fontAlgn="auto" latinLnBrk="0" hangingPunct="1">
                  <a:lnSpc>
                    <a:spcPct val="100000"/>
                  </a:lnSpc>
                  <a:spcBef>
                    <a:spcPts val="0"/>
                  </a:spcBef>
                  <a:spcAft>
                    <a:spcPts val="0"/>
                  </a:spcAft>
                  <a:buClrTx/>
                  <a:buSzTx/>
                  <a:buFontTx/>
                  <a:buNone/>
                  <a:tabLst/>
                  <a:defRPr/>
                </a:pPr>
                <a:r>
                  <a:rPr lang="en-US" altLang="ja-JP" sz="1100" kern="0" dirty="0">
                    <a:solidFill>
                      <a:prstClr val="black"/>
                    </a:solidFill>
                    <a:ea typeface="ＭＳ Ｐゴシック" charset="-128"/>
                    <a:cs typeface="Arial" pitchFamily="34" charset="0"/>
                  </a:rPr>
                  <a:t>(</a:t>
                </a:r>
                <a:r>
                  <a:rPr kumimoji="0" lang="en-US"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if any)</a:t>
                </a:r>
              </a:p>
            </p:txBody>
          </p:sp>
          <p:sp>
            <p:nvSpPr>
              <p:cNvPr id="60" name="Oval 17">
                <a:extLst>
                  <a:ext uri="{FF2B5EF4-FFF2-40B4-BE49-F238E27FC236}">
                    <a16:creationId xmlns:a16="http://schemas.microsoft.com/office/drawing/2014/main" id="{494EB41D-AEBB-47EB-B2B3-3F91A525D1FE}"/>
                  </a:ext>
                </a:extLst>
              </p:cNvPr>
              <p:cNvSpPr>
                <a:spLocks noChangeArrowheads="1"/>
              </p:cNvSpPr>
              <p:nvPr/>
            </p:nvSpPr>
            <p:spPr bwMode="auto">
              <a:xfrm>
                <a:off x="1742806" y="3716770"/>
                <a:ext cx="1601457" cy="505551"/>
              </a:xfrm>
              <a:prstGeom prst="ellipse">
                <a:avLst/>
              </a:prstGeom>
              <a:solidFill>
                <a:srgbClr val="53565A"/>
              </a:solidFill>
              <a:ln w="6350" algn="ctr">
                <a:noFill/>
                <a:round/>
                <a:headEnd type="none" w="sm" len="sm"/>
                <a:tailEnd type="none" w="sm" len="sm"/>
              </a:ln>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100" b="0" i="0" u="none" strike="noStrike" kern="0" cap="none" spc="0" normalizeH="0" baseline="0" noProof="0" dirty="0">
                    <a:ln>
                      <a:noFill/>
                    </a:ln>
                    <a:solidFill>
                      <a:prstClr val="white"/>
                    </a:solidFill>
                    <a:effectLst/>
                    <a:uLnTx/>
                    <a:uFillTx/>
                    <a:ea typeface="ＭＳ Ｐゴシック" charset="-128"/>
                    <a:cs typeface="Arial" pitchFamily="34" charset="0"/>
                  </a:rPr>
                  <a:t>TVS</a:t>
                </a:r>
              </a:p>
            </p:txBody>
          </p:sp>
          <p:sp>
            <p:nvSpPr>
              <p:cNvPr id="61" name="Rectangle 18">
                <a:extLst>
                  <a:ext uri="{FF2B5EF4-FFF2-40B4-BE49-F238E27FC236}">
                    <a16:creationId xmlns:a16="http://schemas.microsoft.com/office/drawing/2014/main" id="{67EDC384-1C7C-450F-80B8-8662228B0C12}"/>
                  </a:ext>
                </a:extLst>
              </p:cNvPr>
              <p:cNvSpPr>
                <a:spLocks noChangeArrowheads="1"/>
              </p:cNvSpPr>
              <p:nvPr/>
            </p:nvSpPr>
            <p:spPr bwMode="auto">
              <a:xfrm>
                <a:off x="3839861" y="2643664"/>
                <a:ext cx="1822203" cy="2651760"/>
              </a:xfrm>
              <a:prstGeom prst="rect">
                <a:avLst/>
              </a:prstGeom>
              <a:solidFill>
                <a:sysClr val="windowText" lastClr="000000"/>
              </a:solidFill>
              <a:ln w="6350" algn="ctr">
                <a:noFill/>
                <a:miter lim="800000"/>
                <a:headEnd type="none" w="sm" len="sm"/>
                <a:tailEnd type="none" w="sm" len="sm"/>
              </a:ln>
            </p:spPr>
            <p:txBody>
              <a:bodyPr wrap="square" lIns="88900" tIns="88900" rIns="88900" bIns="8890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solidFill>
                    <a:srgbClr val="313131"/>
                  </a:solidFill>
                  <a:effectLst/>
                  <a:uLnTx/>
                  <a:uFillTx/>
                  <a:ea typeface="ＭＳ Ｐゴシック" charset="-128"/>
                  <a:cs typeface="Arial" pitchFamily="34" charset="0"/>
                </a:endParaRPr>
              </a:p>
            </p:txBody>
          </p:sp>
          <p:sp>
            <p:nvSpPr>
              <p:cNvPr id="62" name="AutoShape 19">
                <a:extLst>
                  <a:ext uri="{FF2B5EF4-FFF2-40B4-BE49-F238E27FC236}">
                    <a16:creationId xmlns:a16="http://schemas.microsoft.com/office/drawing/2014/main" id="{76987ED2-9A93-46BD-8769-F38DA6DDF48F}"/>
                  </a:ext>
                </a:extLst>
              </p:cNvPr>
              <p:cNvSpPr>
                <a:spLocks noChangeArrowheads="1"/>
              </p:cNvSpPr>
              <p:nvPr/>
            </p:nvSpPr>
            <p:spPr bwMode="auto">
              <a:xfrm flipV="1">
                <a:off x="4409299" y="3486455"/>
                <a:ext cx="683326" cy="130773"/>
              </a:xfrm>
              <a:prstGeom prst="triangle">
                <a:avLst>
                  <a:gd name="adj" fmla="val 50000"/>
                </a:avLst>
              </a:prstGeom>
              <a:solidFill>
                <a:srgbClr val="53565A"/>
              </a:solidFill>
              <a:ln w="6350" algn="ctr">
                <a:noFill/>
                <a:miter lim="800000"/>
                <a:headEnd type="none" w="sm" len="sm"/>
                <a:tailEnd type="none" w="sm" len="sm"/>
              </a:ln>
            </p:spPr>
            <p:txBody>
              <a:bodyPr rot="10800000"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63" name="AutoShape 20">
                <a:extLst>
                  <a:ext uri="{FF2B5EF4-FFF2-40B4-BE49-F238E27FC236}">
                    <a16:creationId xmlns:a16="http://schemas.microsoft.com/office/drawing/2014/main" id="{DBF4DBDB-FB95-4771-9679-506D4931A513}"/>
                  </a:ext>
                </a:extLst>
              </p:cNvPr>
              <p:cNvSpPr>
                <a:spLocks noChangeArrowheads="1"/>
              </p:cNvSpPr>
              <p:nvPr/>
            </p:nvSpPr>
            <p:spPr bwMode="auto">
              <a:xfrm>
                <a:off x="4409299" y="4327559"/>
                <a:ext cx="683326" cy="132369"/>
              </a:xfrm>
              <a:prstGeom prst="triangle">
                <a:avLst>
                  <a:gd name="adj" fmla="val 50000"/>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64" name="Rectangle 22">
                <a:extLst>
                  <a:ext uri="{FF2B5EF4-FFF2-40B4-BE49-F238E27FC236}">
                    <a16:creationId xmlns:a16="http://schemas.microsoft.com/office/drawing/2014/main" id="{2A182692-4326-4EDD-9D1F-6906986BBEAB}"/>
                  </a:ext>
                </a:extLst>
              </p:cNvPr>
              <p:cNvSpPr>
                <a:spLocks noChangeArrowheads="1"/>
              </p:cNvSpPr>
              <p:nvPr/>
            </p:nvSpPr>
            <p:spPr bwMode="auto">
              <a:xfrm>
                <a:off x="3958970" y="4562319"/>
                <a:ext cx="1583985" cy="621971"/>
              </a:xfrm>
              <a:prstGeom prst="rect">
                <a:avLst/>
              </a:prstGeom>
              <a:solidFill>
                <a:sysClr val="window" lastClr="FFFFFF"/>
              </a:solidFill>
              <a:ln w="12700">
                <a:noFill/>
                <a:miter lim="800000"/>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Utilities publish tariff proposal in their website</a:t>
                </a:r>
              </a:p>
            </p:txBody>
          </p:sp>
          <p:sp>
            <p:nvSpPr>
              <p:cNvPr id="65" name="Oval 23">
                <a:extLst>
                  <a:ext uri="{FF2B5EF4-FFF2-40B4-BE49-F238E27FC236}">
                    <a16:creationId xmlns:a16="http://schemas.microsoft.com/office/drawing/2014/main" id="{60D0F0B8-1828-4432-A212-A5C82C5D015A}"/>
                  </a:ext>
                </a:extLst>
              </p:cNvPr>
              <p:cNvSpPr>
                <a:spLocks noChangeArrowheads="1"/>
              </p:cNvSpPr>
              <p:nvPr/>
            </p:nvSpPr>
            <p:spPr bwMode="auto">
              <a:xfrm>
                <a:off x="3916975" y="3716770"/>
                <a:ext cx="1667980" cy="505551"/>
              </a:xfrm>
              <a:prstGeom prst="ellipse">
                <a:avLst/>
              </a:prstGeom>
              <a:solidFill>
                <a:srgbClr val="53565A"/>
              </a:solidFill>
              <a:ln w="6350" algn="ctr">
                <a:noFill/>
                <a:round/>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100" b="0" i="0" u="none" strike="noStrike" kern="0" cap="none" spc="0" normalizeH="0" baseline="0" noProof="0" dirty="0">
                    <a:ln>
                      <a:noFill/>
                    </a:ln>
                    <a:solidFill>
                      <a:prstClr val="white"/>
                    </a:solidFill>
                    <a:effectLst/>
                    <a:uLnTx/>
                    <a:uFillTx/>
                    <a:ea typeface="ＭＳ Ｐゴシック" charset="-128"/>
                    <a:cs typeface="Arial" pitchFamily="34" charset="0"/>
                  </a:rPr>
                  <a:t>Public Notice</a:t>
                </a:r>
              </a:p>
            </p:txBody>
          </p:sp>
          <p:sp>
            <p:nvSpPr>
              <p:cNvPr id="66" name="Rectangle 26">
                <a:extLst>
                  <a:ext uri="{FF2B5EF4-FFF2-40B4-BE49-F238E27FC236}">
                    <a16:creationId xmlns:a16="http://schemas.microsoft.com/office/drawing/2014/main" id="{399A45C2-DE66-4AFE-BBDD-8A3481C0A7D5}"/>
                  </a:ext>
                </a:extLst>
              </p:cNvPr>
              <p:cNvSpPr>
                <a:spLocks noChangeArrowheads="1"/>
              </p:cNvSpPr>
              <p:nvPr/>
            </p:nvSpPr>
            <p:spPr bwMode="auto">
              <a:xfrm>
                <a:off x="6022829" y="2674646"/>
                <a:ext cx="1520346" cy="507831"/>
              </a:xfrm>
              <a:prstGeom prst="rect">
                <a:avLst/>
              </a:prstGeom>
              <a:noFill/>
              <a:ln w="6350" algn="ctr">
                <a:noFill/>
                <a:miter lim="800000"/>
                <a:headEnd type="none" w="sm" len="sm"/>
                <a:tailEnd type="none" w="sm" len="sm"/>
              </a:ln>
            </p:spPr>
            <p:txBody>
              <a:bodyPr wrap="square" lIns="0" tIns="0" rIns="0" bIns="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Comments &amp; suggestions from various stakeholders and public filed </a:t>
                </a:r>
              </a:p>
            </p:txBody>
          </p:sp>
          <p:sp>
            <p:nvSpPr>
              <p:cNvPr id="67" name="AutoShape 28">
                <a:extLst>
                  <a:ext uri="{FF2B5EF4-FFF2-40B4-BE49-F238E27FC236}">
                    <a16:creationId xmlns:a16="http://schemas.microsoft.com/office/drawing/2014/main" id="{D6D172A3-2C37-490C-8721-1FA4A99E8F10}"/>
                  </a:ext>
                </a:extLst>
              </p:cNvPr>
              <p:cNvSpPr>
                <a:spLocks noChangeArrowheads="1"/>
              </p:cNvSpPr>
              <p:nvPr/>
            </p:nvSpPr>
            <p:spPr bwMode="auto">
              <a:xfrm>
                <a:off x="5714633" y="1978024"/>
                <a:ext cx="2160000" cy="548640"/>
              </a:xfrm>
              <a:prstGeom prst="chevron">
                <a:avLst>
                  <a:gd name="adj" fmla="val 32358"/>
                </a:avLst>
              </a:prstGeom>
              <a:solidFill>
                <a:srgbClr val="43B02A"/>
              </a:solidFill>
              <a:ln w="6350" algn="ctr">
                <a:noFill/>
                <a:miter lim="800000"/>
                <a:headEnd type="none" w="sm" len="sm"/>
                <a:tailEnd type="none" w="sm" len="sm"/>
              </a:ln>
            </p:spPr>
            <p:txBody>
              <a:bodyPr lIns="88900" tIns="88900" rIns="88900" bIns="88900" anchor="ctr"/>
              <a:lstStyle/>
              <a:p>
                <a:pPr marL="171450" marR="0" lvl="0" indent="-171450"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prstClr val="white"/>
                    </a:solidFill>
                    <a:effectLst/>
                    <a:uLnTx/>
                    <a:uFillTx/>
                    <a:cs typeface="Arial" pitchFamily="34" charset="0"/>
                  </a:rPr>
                  <a:t>3. Conduct of Public Hearing</a:t>
                </a:r>
                <a:endParaRPr kumimoji="0" lang="en-GB" altLang="ja-JP" sz="1200" b="0" i="0" u="none" strike="noStrike" kern="0" cap="none" spc="0" normalizeH="0" baseline="0" noProof="0" dirty="0">
                  <a:ln>
                    <a:noFill/>
                  </a:ln>
                  <a:solidFill>
                    <a:prstClr val="white"/>
                  </a:solidFill>
                  <a:effectLst/>
                  <a:uLnTx/>
                  <a:uFillTx/>
                  <a:ea typeface="ＭＳ Ｐゴシック" panose="020B0600070205080204" pitchFamily="34" charset="-128"/>
                  <a:cs typeface="Arial" pitchFamily="34" charset="0"/>
                </a:endParaRPr>
              </a:p>
            </p:txBody>
          </p:sp>
          <p:sp>
            <p:nvSpPr>
              <p:cNvPr id="68" name="AutoShape 29">
                <a:extLst>
                  <a:ext uri="{FF2B5EF4-FFF2-40B4-BE49-F238E27FC236}">
                    <a16:creationId xmlns:a16="http://schemas.microsoft.com/office/drawing/2014/main" id="{2C29D174-7C07-410B-B3DB-A359CEC93EFB}"/>
                  </a:ext>
                </a:extLst>
              </p:cNvPr>
              <p:cNvSpPr>
                <a:spLocks noChangeArrowheads="1"/>
              </p:cNvSpPr>
              <p:nvPr/>
            </p:nvSpPr>
            <p:spPr bwMode="auto">
              <a:xfrm>
                <a:off x="7756127" y="1978024"/>
                <a:ext cx="2160000" cy="548640"/>
              </a:xfrm>
              <a:prstGeom prst="chevron">
                <a:avLst>
                  <a:gd name="adj" fmla="val 30967"/>
                </a:avLst>
              </a:prstGeom>
              <a:solidFill>
                <a:srgbClr val="43B02A"/>
              </a:solidFill>
              <a:ln w="6350" algn="ctr">
                <a:noFill/>
                <a:miter lim="800000"/>
                <a:headEnd type="none" w="sm" len="sm"/>
                <a:tailEnd type="none" w="sm" len="sm"/>
              </a:ln>
            </p:spPr>
            <p:txBody>
              <a:bodyPr lIns="88900" tIns="88900" rIns="88900" bIns="88900" anchor="ctr"/>
              <a:lstStyle/>
              <a:p>
                <a:pPr marL="171450" marR="0" lvl="0" indent="-171450"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prstClr val="white"/>
                    </a:solidFill>
                    <a:effectLst/>
                    <a:uLnTx/>
                    <a:uFillTx/>
                    <a:cs typeface="Arial" pitchFamily="34" charset="0"/>
                  </a:rPr>
                  <a:t>4. Inputs towards drafting of Order</a:t>
                </a:r>
                <a:endParaRPr kumimoji="0" lang="en-GB" altLang="ja-JP" sz="1200" b="0" i="0" u="none" strike="noStrike" kern="0" cap="none" spc="0" normalizeH="0" baseline="0" noProof="0" dirty="0">
                  <a:ln>
                    <a:noFill/>
                  </a:ln>
                  <a:solidFill>
                    <a:prstClr val="white"/>
                  </a:solidFill>
                  <a:effectLst/>
                  <a:uLnTx/>
                  <a:uFillTx/>
                  <a:ea typeface="ＭＳ Ｐゴシック" panose="020B0600070205080204" pitchFamily="34" charset="-128"/>
                  <a:cs typeface="Arial" pitchFamily="34" charset="0"/>
                </a:endParaRPr>
              </a:p>
            </p:txBody>
          </p:sp>
          <p:sp>
            <p:nvSpPr>
              <p:cNvPr id="74" name="Rectangle 36">
                <a:extLst>
                  <a:ext uri="{FF2B5EF4-FFF2-40B4-BE49-F238E27FC236}">
                    <a16:creationId xmlns:a16="http://schemas.microsoft.com/office/drawing/2014/main" id="{6CB25040-E5F9-4C31-837C-D97F56C50178}"/>
                  </a:ext>
                </a:extLst>
              </p:cNvPr>
              <p:cNvSpPr>
                <a:spLocks noChangeArrowheads="1"/>
              </p:cNvSpPr>
              <p:nvPr/>
            </p:nvSpPr>
            <p:spPr bwMode="auto">
              <a:xfrm>
                <a:off x="7835844" y="2643664"/>
                <a:ext cx="1822203" cy="2651760"/>
              </a:xfrm>
              <a:prstGeom prst="rect">
                <a:avLst/>
              </a:prstGeom>
              <a:solidFill>
                <a:sysClr val="windowText" lastClr="000000"/>
              </a:solidFill>
              <a:ln w="6350" algn="ctr">
                <a:noFill/>
                <a:miter lim="800000"/>
                <a:headEnd type="none" w="sm" len="sm"/>
                <a:tailEnd type="none" w="sm" len="sm"/>
              </a:ln>
            </p:spPr>
            <p:txBody>
              <a:bodyPr wrap="square" lIns="88900" tIns="88900" rIns="88900" bIns="8890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altLang="ja-JP" sz="1100" b="0" i="0" u="none" strike="noStrike" kern="0" cap="none" spc="0" normalizeH="0" baseline="0" noProof="0" dirty="0">
                  <a:ln>
                    <a:noFill/>
                  </a:ln>
                  <a:solidFill>
                    <a:srgbClr val="313131"/>
                  </a:solidFill>
                  <a:effectLst/>
                  <a:uLnTx/>
                  <a:uFillTx/>
                  <a:ea typeface="ＭＳ Ｐゴシック" charset="-128"/>
                  <a:cs typeface="Arial" pitchFamily="34" charset="0"/>
                </a:endParaRPr>
              </a:p>
            </p:txBody>
          </p:sp>
          <p:sp>
            <p:nvSpPr>
              <p:cNvPr id="75" name="AutoShape 37">
                <a:extLst>
                  <a:ext uri="{FF2B5EF4-FFF2-40B4-BE49-F238E27FC236}">
                    <a16:creationId xmlns:a16="http://schemas.microsoft.com/office/drawing/2014/main" id="{72B76A12-0FE4-45EE-B278-CA49E69488DE}"/>
                  </a:ext>
                </a:extLst>
              </p:cNvPr>
              <p:cNvSpPr>
                <a:spLocks noChangeArrowheads="1"/>
              </p:cNvSpPr>
              <p:nvPr/>
            </p:nvSpPr>
            <p:spPr bwMode="auto">
              <a:xfrm flipV="1">
                <a:off x="8405283" y="3486455"/>
                <a:ext cx="683326" cy="130773"/>
              </a:xfrm>
              <a:prstGeom prst="triangle">
                <a:avLst>
                  <a:gd name="adj" fmla="val 50000"/>
                </a:avLst>
              </a:prstGeom>
              <a:solidFill>
                <a:srgbClr val="53565A"/>
              </a:solidFill>
              <a:ln w="6350" algn="ctr">
                <a:noFill/>
                <a:miter lim="800000"/>
                <a:headEnd type="none" w="sm" len="sm"/>
                <a:tailEnd type="none" w="sm" len="sm"/>
              </a:ln>
            </p:spPr>
            <p:txBody>
              <a:bodyPr rot="10800000"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76" name="AutoShape 38">
                <a:extLst>
                  <a:ext uri="{FF2B5EF4-FFF2-40B4-BE49-F238E27FC236}">
                    <a16:creationId xmlns:a16="http://schemas.microsoft.com/office/drawing/2014/main" id="{304FC561-A9CA-48A7-859B-D448DBD2A083}"/>
                  </a:ext>
                </a:extLst>
              </p:cNvPr>
              <p:cNvSpPr>
                <a:spLocks noChangeArrowheads="1"/>
              </p:cNvSpPr>
              <p:nvPr/>
            </p:nvSpPr>
            <p:spPr bwMode="auto">
              <a:xfrm>
                <a:off x="8405283" y="4327559"/>
                <a:ext cx="683326" cy="132369"/>
              </a:xfrm>
              <a:prstGeom prst="triangle">
                <a:avLst>
                  <a:gd name="adj" fmla="val 50000"/>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77" name="Rectangle 40">
                <a:extLst>
                  <a:ext uri="{FF2B5EF4-FFF2-40B4-BE49-F238E27FC236}">
                    <a16:creationId xmlns:a16="http://schemas.microsoft.com/office/drawing/2014/main" id="{9EA20252-C2C7-4480-BDC2-F5B4F57BD12C}"/>
                  </a:ext>
                </a:extLst>
              </p:cNvPr>
              <p:cNvSpPr>
                <a:spLocks noChangeArrowheads="1"/>
              </p:cNvSpPr>
              <p:nvPr/>
            </p:nvSpPr>
            <p:spPr bwMode="auto">
              <a:xfrm>
                <a:off x="7954953" y="4562319"/>
                <a:ext cx="1583985" cy="621971"/>
              </a:xfrm>
              <a:prstGeom prst="rect">
                <a:avLst/>
              </a:prstGeom>
              <a:solidFill>
                <a:sysClr val="window" lastClr="FFFFFF"/>
              </a:solidFill>
              <a:ln w="12700">
                <a:noFill/>
                <a:miter lim="800000"/>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Inputs from Legal as per prevailing Regulatory Provisions</a:t>
                </a:r>
              </a:p>
            </p:txBody>
          </p:sp>
          <p:sp>
            <p:nvSpPr>
              <p:cNvPr id="78" name="Oval 41">
                <a:extLst>
                  <a:ext uri="{FF2B5EF4-FFF2-40B4-BE49-F238E27FC236}">
                    <a16:creationId xmlns:a16="http://schemas.microsoft.com/office/drawing/2014/main" id="{BFB3D5E4-2046-456B-8B1A-B289C3D46C92}"/>
                  </a:ext>
                </a:extLst>
              </p:cNvPr>
              <p:cNvSpPr>
                <a:spLocks noChangeArrowheads="1"/>
              </p:cNvSpPr>
              <p:nvPr/>
            </p:nvSpPr>
            <p:spPr bwMode="auto">
              <a:xfrm>
                <a:off x="7912956" y="3716770"/>
                <a:ext cx="1667978" cy="505551"/>
              </a:xfrm>
              <a:prstGeom prst="ellipse">
                <a:avLst/>
              </a:prstGeom>
              <a:solidFill>
                <a:srgbClr val="53565A"/>
              </a:solidFill>
              <a:ln w="6350" algn="ctr">
                <a:noFill/>
                <a:round/>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100" b="0" i="0" u="none" strike="noStrike" kern="0" cap="none" spc="0" normalizeH="0" baseline="0" noProof="0" dirty="0">
                    <a:ln>
                      <a:noFill/>
                    </a:ln>
                    <a:solidFill>
                      <a:prstClr val="white"/>
                    </a:solidFill>
                    <a:effectLst/>
                    <a:uLnTx/>
                    <a:uFillTx/>
                    <a:ea typeface="ＭＳ Ｐゴシック" charset="-128"/>
                    <a:cs typeface="Arial" pitchFamily="34" charset="0"/>
                  </a:rPr>
                  <a:t>Comments from Commission</a:t>
                </a:r>
              </a:p>
            </p:txBody>
          </p:sp>
          <p:sp>
            <p:nvSpPr>
              <p:cNvPr id="80" name="AutoShape 43">
                <a:extLst>
                  <a:ext uri="{FF2B5EF4-FFF2-40B4-BE49-F238E27FC236}">
                    <a16:creationId xmlns:a16="http://schemas.microsoft.com/office/drawing/2014/main" id="{9C13626D-4C55-452B-B76C-B8E836E499F0}"/>
                  </a:ext>
                </a:extLst>
              </p:cNvPr>
              <p:cNvSpPr>
                <a:spLocks noChangeArrowheads="1"/>
              </p:cNvSpPr>
              <p:nvPr/>
            </p:nvSpPr>
            <p:spPr bwMode="auto">
              <a:xfrm>
                <a:off x="1630062" y="5412423"/>
                <a:ext cx="8050420" cy="548640"/>
              </a:xfrm>
              <a:prstGeom prst="homePlate">
                <a:avLst>
                  <a:gd name="adj" fmla="val 31290"/>
                </a:avLst>
              </a:prstGeom>
              <a:solidFill>
                <a:srgbClr val="43B02A"/>
              </a:solidFill>
              <a:ln w="6350" algn="ctr">
                <a:noFill/>
                <a:miter lim="800000"/>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ct val="20000"/>
                  </a:spcBef>
                  <a:spcAft>
                    <a:spcPts val="0"/>
                  </a:spcAft>
                  <a:buClrTx/>
                  <a:buSzTx/>
                  <a:buFontTx/>
                  <a:buNone/>
                  <a:tabLst/>
                  <a:defRPr/>
                </a:pPr>
                <a:r>
                  <a:rPr kumimoji="0" lang="en-GB" altLang="ja-JP" sz="1400" b="0" i="1" u="none" strike="noStrike" kern="0" cap="none" spc="0" normalizeH="0" baseline="0" noProof="0" dirty="0">
                    <a:ln>
                      <a:noFill/>
                    </a:ln>
                    <a:solidFill>
                      <a:prstClr val="white"/>
                    </a:solidFill>
                    <a:effectLst/>
                    <a:uLnTx/>
                    <a:uFillTx/>
                    <a:ea typeface="ＭＳ Ｐゴシック" pitchFamily="50" charset="-128"/>
                    <a:cs typeface="Arial" pitchFamily="34" charset="0"/>
                  </a:rPr>
                  <a:t>The Regulatory Commission has to issue Order within 120 days of filing of the Petition by the Utilities</a:t>
                </a:r>
              </a:p>
            </p:txBody>
          </p:sp>
          <p:sp>
            <p:nvSpPr>
              <p:cNvPr id="83" name="AutoShape 9">
                <a:extLst>
                  <a:ext uri="{FF2B5EF4-FFF2-40B4-BE49-F238E27FC236}">
                    <a16:creationId xmlns:a16="http://schemas.microsoft.com/office/drawing/2014/main" id="{7F9C3FD8-B520-48D8-9196-FC8ECE10C825}"/>
                  </a:ext>
                </a:extLst>
              </p:cNvPr>
              <p:cNvSpPr>
                <a:spLocks noChangeArrowheads="1"/>
              </p:cNvSpPr>
              <p:nvPr/>
            </p:nvSpPr>
            <p:spPr bwMode="auto">
              <a:xfrm>
                <a:off x="5682801" y="3798103"/>
                <a:ext cx="324000" cy="342882"/>
              </a:xfrm>
              <a:prstGeom prst="rightArrow">
                <a:avLst>
                  <a:gd name="adj1" fmla="val 50000"/>
                  <a:gd name="adj2" fmla="val 49002"/>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84" name="AutoShape 9">
                <a:extLst>
                  <a:ext uri="{FF2B5EF4-FFF2-40B4-BE49-F238E27FC236}">
                    <a16:creationId xmlns:a16="http://schemas.microsoft.com/office/drawing/2014/main" id="{0A42A1EF-883B-4B60-9C94-8B8134A28CAA}"/>
                  </a:ext>
                </a:extLst>
              </p:cNvPr>
              <p:cNvSpPr>
                <a:spLocks noChangeArrowheads="1"/>
              </p:cNvSpPr>
              <p:nvPr/>
            </p:nvSpPr>
            <p:spPr bwMode="auto">
              <a:xfrm>
                <a:off x="7486912" y="3798103"/>
                <a:ext cx="324000" cy="342882"/>
              </a:xfrm>
              <a:prstGeom prst="rightArrow">
                <a:avLst>
                  <a:gd name="adj1" fmla="val 50000"/>
                  <a:gd name="adj2" fmla="val 49002"/>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85" name="AutoShape 9">
                <a:extLst>
                  <a:ext uri="{FF2B5EF4-FFF2-40B4-BE49-F238E27FC236}">
                    <a16:creationId xmlns:a16="http://schemas.microsoft.com/office/drawing/2014/main" id="{14B715B4-37D3-409C-9C5B-08E325796497}"/>
                  </a:ext>
                </a:extLst>
              </p:cNvPr>
              <p:cNvSpPr>
                <a:spLocks noChangeArrowheads="1"/>
              </p:cNvSpPr>
              <p:nvPr/>
            </p:nvSpPr>
            <p:spPr bwMode="auto">
              <a:xfrm>
                <a:off x="3485776" y="3798103"/>
                <a:ext cx="324000" cy="342882"/>
              </a:xfrm>
              <a:prstGeom prst="rightArrow">
                <a:avLst>
                  <a:gd name="adj1" fmla="val 50000"/>
                  <a:gd name="adj2" fmla="val 49002"/>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86" name="Rectangle 16">
                <a:extLst>
                  <a:ext uri="{FF2B5EF4-FFF2-40B4-BE49-F238E27FC236}">
                    <a16:creationId xmlns:a16="http://schemas.microsoft.com/office/drawing/2014/main" id="{C7F7EE95-82E9-40CC-A25A-3A602FA26AC1}"/>
                  </a:ext>
                </a:extLst>
              </p:cNvPr>
              <p:cNvSpPr>
                <a:spLocks noChangeArrowheads="1"/>
              </p:cNvSpPr>
              <p:nvPr/>
            </p:nvSpPr>
            <p:spPr bwMode="auto">
              <a:xfrm>
                <a:off x="1751542" y="2762094"/>
                <a:ext cx="1583985" cy="621971"/>
              </a:xfrm>
              <a:prstGeom prst="rect">
                <a:avLst/>
              </a:prstGeom>
              <a:solidFill>
                <a:sysClr val="window" lastClr="FFFFFF"/>
              </a:solidFill>
              <a:ln w="12700">
                <a:noFill/>
                <a:miter lim="800000"/>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Compliance to Tariff Regulations in terms of MYT Formats, fees etc.</a:t>
                </a:r>
                <a:endParaRPr kumimoji="0" lang="en-GB" sz="1100" b="0" i="0" u="none" strike="noStrike" kern="0" cap="none" spc="0" normalizeH="0" baseline="0" noProof="0" dirty="0">
                  <a:ln>
                    <a:noFill/>
                  </a:ln>
                  <a:solidFill>
                    <a:prstClr val="black"/>
                  </a:solidFill>
                  <a:effectLst/>
                  <a:uLnTx/>
                  <a:uFillTx/>
                  <a:ea typeface="ＭＳ Ｐゴシック" charset="-128"/>
                  <a:cs typeface="Arial" pitchFamily="34" charset="0"/>
                </a:endParaRPr>
              </a:p>
            </p:txBody>
          </p:sp>
          <p:sp>
            <p:nvSpPr>
              <p:cNvPr id="87" name="Rectangle 22">
                <a:extLst>
                  <a:ext uri="{FF2B5EF4-FFF2-40B4-BE49-F238E27FC236}">
                    <a16:creationId xmlns:a16="http://schemas.microsoft.com/office/drawing/2014/main" id="{890E6421-E742-4FF5-BDF6-CB0246316735}"/>
                  </a:ext>
                </a:extLst>
              </p:cNvPr>
              <p:cNvSpPr>
                <a:spLocks noChangeArrowheads="1"/>
              </p:cNvSpPr>
              <p:nvPr/>
            </p:nvSpPr>
            <p:spPr bwMode="auto">
              <a:xfrm>
                <a:off x="3958970" y="2762094"/>
                <a:ext cx="1583985" cy="621971"/>
              </a:xfrm>
              <a:prstGeom prst="rect">
                <a:avLst/>
              </a:prstGeom>
              <a:solidFill>
                <a:sysClr val="window" lastClr="FFFFFF"/>
              </a:solidFill>
              <a:ln w="12700">
                <a:noFill/>
                <a:miter lim="800000"/>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Utilities publish notice in leading newspapers</a:t>
                </a:r>
              </a:p>
            </p:txBody>
          </p:sp>
          <p:sp>
            <p:nvSpPr>
              <p:cNvPr id="89" name="Rectangle 40">
                <a:extLst>
                  <a:ext uri="{FF2B5EF4-FFF2-40B4-BE49-F238E27FC236}">
                    <a16:creationId xmlns:a16="http://schemas.microsoft.com/office/drawing/2014/main" id="{FF09CCC8-08DF-4858-B864-8797F06C13E4}"/>
                  </a:ext>
                </a:extLst>
              </p:cNvPr>
              <p:cNvSpPr>
                <a:spLocks noChangeArrowheads="1"/>
              </p:cNvSpPr>
              <p:nvPr/>
            </p:nvSpPr>
            <p:spPr bwMode="auto">
              <a:xfrm>
                <a:off x="7954953" y="2762094"/>
                <a:ext cx="1583985" cy="621971"/>
              </a:xfrm>
              <a:prstGeom prst="rect">
                <a:avLst/>
              </a:prstGeom>
              <a:solidFill>
                <a:sysClr val="window" lastClr="FFFFFF"/>
              </a:solidFill>
              <a:ln w="12700">
                <a:noFill/>
                <a:miter lim="800000"/>
                <a:headEnd type="none" w="sm" len="sm"/>
                <a:tailEnd type="none" w="sm" len="sm"/>
              </a:ln>
            </p:spPr>
            <p:txBody>
              <a:bodyPr lIns="88900" tIns="88900" rIns="88900" bIns="889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Technical &amp; Financial inputs as per prevailing Regulatory Provisions</a:t>
                </a:r>
              </a:p>
            </p:txBody>
          </p:sp>
        </p:grpSp>
        <p:sp>
          <p:nvSpPr>
            <p:cNvPr id="92" name="Rectangle 91">
              <a:hlinkClick r:id="rId2" action="ppaction://hlinksldjump"/>
              <a:extLst>
                <a:ext uri="{FF2B5EF4-FFF2-40B4-BE49-F238E27FC236}">
                  <a16:creationId xmlns:a16="http://schemas.microsoft.com/office/drawing/2014/main" id="{39E3E395-2B53-4F7B-990D-1B417954264C}"/>
                </a:ext>
              </a:extLst>
            </p:cNvPr>
            <p:cNvSpPr/>
            <p:nvPr/>
          </p:nvSpPr>
          <p:spPr bwMode="gray">
            <a:xfrm>
              <a:off x="241304" y="2643664"/>
              <a:ext cx="1013131" cy="2651760"/>
            </a:xfrm>
            <a:prstGeom prst="rect">
              <a:avLst/>
            </a:prstGeom>
            <a:solidFill>
              <a:srgbClr val="86BC25"/>
            </a:solidFill>
            <a:ln w="19050" algn="ctr">
              <a:noFill/>
              <a:miter lim="800000"/>
              <a:headEnd/>
              <a:tailEnd/>
            </a:ln>
          </p:spPr>
          <p:txBody>
            <a:bodyPr wrap="square" lIns="88900" tIns="88900" rIns="88900" bIns="88900" rtlCol="0" anchor="ctr"/>
            <a:lstStyle/>
            <a:p>
              <a:pPr marL="0" marR="0" lvl="0" indent="0" algn="just"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0" cap="none" spc="0" normalizeH="0" baseline="0" noProof="0" dirty="0">
                  <a:ln>
                    <a:noFill/>
                  </a:ln>
                  <a:solidFill>
                    <a:prstClr val="black"/>
                  </a:solidFill>
                  <a:effectLst/>
                  <a:uLnTx/>
                  <a:uFillTx/>
                </a:rPr>
                <a:t>Submission of MYT ARR  petition and tariff proposal before Commission along with requisite fees  by </a:t>
              </a:r>
              <a:r>
                <a:rPr kumimoji="0" lang="en-US" sz="1200" b="1" i="0" u="none" strike="noStrike" kern="0" cap="none" spc="0" normalizeH="0" baseline="0" noProof="0" dirty="0">
                  <a:ln>
                    <a:noFill/>
                  </a:ln>
                  <a:solidFill>
                    <a:prstClr val="black"/>
                  </a:solidFill>
                  <a:effectLst/>
                  <a:uLnTx/>
                  <a:uFillTx/>
                </a:rPr>
                <a:t>November 30th</a:t>
              </a:r>
              <a:r>
                <a:rPr kumimoji="0" lang="en-US" sz="1200" b="0" i="0" u="none" strike="noStrike" kern="0" cap="none" spc="0" normalizeH="0" baseline="0" noProof="0" dirty="0">
                  <a:ln>
                    <a:noFill/>
                  </a:ln>
                  <a:solidFill>
                    <a:prstClr val="black"/>
                  </a:solidFill>
                  <a:effectLst/>
                  <a:uLnTx/>
                  <a:uFillTx/>
                </a:rPr>
                <a:t>.</a:t>
              </a:r>
            </a:p>
          </p:txBody>
        </p:sp>
        <p:sp>
          <p:nvSpPr>
            <p:cNvPr id="94" name="AutoShape 9">
              <a:extLst>
                <a:ext uri="{FF2B5EF4-FFF2-40B4-BE49-F238E27FC236}">
                  <a16:creationId xmlns:a16="http://schemas.microsoft.com/office/drawing/2014/main" id="{89371388-5E7C-4A8E-999F-62CA508A4620}"/>
                </a:ext>
              </a:extLst>
            </p:cNvPr>
            <p:cNvSpPr>
              <a:spLocks noChangeArrowheads="1"/>
            </p:cNvSpPr>
            <p:nvPr/>
          </p:nvSpPr>
          <p:spPr bwMode="auto">
            <a:xfrm rot="5400000">
              <a:off x="6614795" y="3188973"/>
              <a:ext cx="336414" cy="342882"/>
            </a:xfrm>
            <a:prstGeom prst="rightArrow">
              <a:avLst>
                <a:gd name="adj1" fmla="val 50000"/>
                <a:gd name="adj2" fmla="val 49002"/>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95" name="Rectangle 26">
              <a:extLst>
                <a:ext uri="{FF2B5EF4-FFF2-40B4-BE49-F238E27FC236}">
                  <a16:creationId xmlns:a16="http://schemas.microsoft.com/office/drawing/2014/main" id="{F609FCB4-3D1F-4014-ACF7-DAD212957D23}"/>
                </a:ext>
              </a:extLst>
            </p:cNvPr>
            <p:cNvSpPr>
              <a:spLocks noChangeArrowheads="1"/>
            </p:cNvSpPr>
            <p:nvPr/>
          </p:nvSpPr>
          <p:spPr bwMode="auto">
            <a:xfrm>
              <a:off x="6022829" y="4676460"/>
              <a:ext cx="1628892" cy="507831"/>
            </a:xfrm>
            <a:prstGeom prst="rect">
              <a:avLst/>
            </a:prstGeom>
            <a:noFill/>
            <a:ln w="6350" algn="ctr">
              <a:noFill/>
              <a:miter lim="800000"/>
              <a:headEnd type="none" w="sm" len="sm"/>
              <a:tailEnd type="none" w="sm" len="sm"/>
            </a:ln>
          </p:spPr>
          <p:txBody>
            <a:bodyPr wrap="square" lIns="0" tIns="0" rIns="0" bIns="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ea typeface="ＭＳ Ｐゴシック" charset="-128"/>
                  <a:cs typeface="Arial" pitchFamily="34" charset="0"/>
                </a:rPr>
                <a:t>Utilities files their responses &amp; replies against comments &amp; Suggestions</a:t>
              </a:r>
            </a:p>
          </p:txBody>
        </p:sp>
        <p:sp>
          <p:nvSpPr>
            <p:cNvPr id="96" name="AutoShape 9">
              <a:extLst>
                <a:ext uri="{FF2B5EF4-FFF2-40B4-BE49-F238E27FC236}">
                  <a16:creationId xmlns:a16="http://schemas.microsoft.com/office/drawing/2014/main" id="{8A589914-9D9F-4760-A47E-C19196A92C0D}"/>
                </a:ext>
              </a:extLst>
            </p:cNvPr>
            <p:cNvSpPr>
              <a:spLocks noChangeArrowheads="1"/>
            </p:cNvSpPr>
            <p:nvPr/>
          </p:nvSpPr>
          <p:spPr bwMode="auto">
            <a:xfrm rot="16200000">
              <a:off x="6614795" y="4330561"/>
              <a:ext cx="336414" cy="342882"/>
            </a:xfrm>
            <a:prstGeom prst="rightArrow">
              <a:avLst>
                <a:gd name="adj1" fmla="val 50000"/>
                <a:gd name="adj2" fmla="val 49002"/>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97" name="Rectangle 96">
              <a:hlinkClick r:id="rId2" action="ppaction://hlinksldjump"/>
              <a:extLst>
                <a:ext uri="{FF2B5EF4-FFF2-40B4-BE49-F238E27FC236}">
                  <a16:creationId xmlns:a16="http://schemas.microsoft.com/office/drawing/2014/main" id="{ABBA8ABB-5877-485D-B6A8-CFCE25E4387D}"/>
                </a:ext>
              </a:extLst>
            </p:cNvPr>
            <p:cNvSpPr/>
            <p:nvPr/>
          </p:nvSpPr>
          <p:spPr bwMode="gray">
            <a:xfrm>
              <a:off x="10008893" y="2635173"/>
              <a:ext cx="1013131" cy="2651760"/>
            </a:xfrm>
            <a:prstGeom prst="rect">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prstClr val="black"/>
                  </a:solidFill>
                  <a:effectLst/>
                  <a:uLnTx/>
                  <a:uFillTx/>
                </a:rPr>
                <a:t>Issuance of Final Tariff/APR Order by the Commission</a:t>
              </a:r>
            </a:p>
          </p:txBody>
        </p:sp>
        <p:sp>
          <p:nvSpPr>
            <p:cNvPr id="98" name="AutoShape 9">
              <a:extLst>
                <a:ext uri="{FF2B5EF4-FFF2-40B4-BE49-F238E27FC236}">
                  <a16:creationId xmlns:a16="http://schemas.microsoft.com/office/drawing/2014/main" id="{80FAED17-7F4C-4FDE-B8D9-EA5FB935E90A}"/>
                </a:ext>
              </a:extLst>
            </p:cNvPr>
            <p:cNvSpPr>
              <a:spLocks noChangeArrowheads="1"/>
            </p:cNvSpPr>
            <p:nvPr/>
          </p:nvSpPr>
          <p:spPr bwMode="auto">
            <a:xfrm>
              <a:off x="1293992" y="3798103"/>
              <a:ext cx="324000" cy="342882"/>
            </a:xfrm>
            <a:prstGeom prst="rightArrow">
              <a:avLst>
                <a:gd name="adj1" fmla="val 50000"/>
                <a:gd name="adj2" fmla="val 49002"/>
              </a:avLst>
            </a:prstGeom>
            <a:solidFill>
              <a:srgbClr val="53565A"/>
            </a:solidFill>
            <a:ln w="6350" algn="ctr">
              <a:noFill/>
              <a:miter lim="800000"/>
              <a:headEnd type="none" w="sm" len="sm"/>
              <a:tailEnd type="none" w="sm" len="sm"/>
            </a:ln>
          </p:spPr>
          <p:txBody>
            <a:bodyPr lIns="44450" tIns="44450" rIns="44450" bIns="4445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100" b="0" i="0" u="none" strike="noStrike" kern="0" cap="none" spc="0" normalizeH="0" baseline="0" noProof="0" dirty="0">
                <a:ln>
                  <a:noFill/>
                </a:ln>
                <a:solidFill>
                  <a:srgbClr val="002776"/>
                </a:solidFill>
                <a:effectLst/>
                <a:uLnTx/>
                <a:uFillTx/>
                <a:cs typeface="Arial" pitchFamily="34" charset="0"/>
              </a:endParaRPr>
            </a:p>
          </p:txBody>
        </p:sp>
        <p:sp>
          <p:nvSpPr>
            <p:cNvPr id="3" name="Rectangle 2">
              <a:extLst>
                <a:ext uri="{FF2B5EF4-FFF2-40B4-BE49-F238E27FC236}">
                  <a16:creationId xmlns:a16="http://schemas.microsoft.com/office/drawing/2014/main" id="{9AD74EE6-FFD4-42F2-9B2F-7D598039251F}"/>
                </a:ext>
              </a:extLst>
            </p:cNvPr>
            <p:cNvSpPr/>
            <p:nvPr/>
          </p:nvSpPr>
          <p:spPr>
            <a:xfrm>
              <a:off x="1630059" y="6157609"/>
              <a:ext cx="8050421" cy="409253"/>
            </a:xfrm>
            <a:prstGeom prst="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i="1" dirty="0">
                  <a:solidFill>
                    <a:schemeClr val="tx1"/>
                  </a:solidFill>
                </a:rPr>
                <a:t>Utilities file Annual Performance Review  (APR) Petition / True-Up Petition for previous years as per prevailing Tariff Regulation based on actual vs approved expenses by the Commission</a:t>
              </a:r>
            </a:p>
          </p:txBody>
        </p:sp>
        <p:cxnSp>
          <p:nvCxnSpPr>
            <p:cNvPr id="102" name="Connector: Elbow 101">
              <a:extLst>
                <a:ext uri="{FF2B5EF4-FFF2-40B4-BE49-F238E27FC236}">
                  <a16:creationId xmlns:a16="http://schemas.microsoft.com/office/drawing/2014/main" id="{B42996D3-B8E0-4750-9DF1-291A6C62EEC1}"/>
                </a:ext>
              </a:extLst>
            </p:cNvPr>
            <p:cNvCxnSpPr>
              <a:cxnSpLocks/>
              <a:stCxn id="3" idx="1"/>
              <a:endCxn id="92" idx="2"/>
            </p:cNvCxnSpPr>
            <p:nvPr/>
          </p:nvCxnSpPr>
          <p:spPr>
            <a:xfrm rot="10800000">
              <a:off x="747871" y="5295424"/>
              <a:ext cx="882189" cy="1066812"/>
            </a:xfrm>
            <a:prstGeom prst="bentConnector2">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41" name="Title 3">
            <a:extLst>
              <a:ext uri="{FF2B5EF4-FFF2-40B4-BE49-F238E27FC236}">
                <a16:creationId xmlns:a16="http://schemas.microsoft.com/office/drawing/2014/main" id="{6DD3B54A-6B94-4BD9-B240-8902EBD008D2}"/>
              </a:ext>
            </a:extLst>
          </p:cNvPr>
          <p:cNvSpPr txBox="1">
            <a:spLocks/>
          </p:cNvSpPr>
          <p:nvPr/>
        </p:nvSpPr>
        <p:spPr bwMode="gray">
          <a:xfrm>
            <a:off x="497829" y="311630"/>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Regulatory process for MYT and APR petitions/orders</a:t>
            </a:r>
          </a:p>
        </p:txBody>
      </p:sp>
    </p:spTree>
    <p:extLst>
      <p:ext uri="{BB962C8B-B14F-4D97-AF65-F5344CB8AC3E}">
        <p14:creationId xmlns:p14="http://schemas.microsoft.com/office/powerpoint/2010/main" val="4005062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Key Imperatives</a:t>
            </a:r>
          </a:p>
        </p:txBody>
      </p:sp>
    </p:spTree>
    <p:extLst>
      <p:ext uri="{BB962C8B-B14F-4D97-AF65-F5344CB8AC3E}">
        <p14:creationId xmlns:p14="http://schemas.microsoft.com/office/powerpoint/2010/main" val="426964645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9B3C1F-D0AC-415E-A2A5-DDB26F280EC3}"/>
              </a:ext>
            </a:extLst>
          </p:cNvPr>
          <p:cNvSpPr>
            <a:spLocks noGrp="1"/>
          </p:cNvSpPr>
          <p:nvPr>
            <p:ph type="title"/>
          </p:nvPr>
        </p:nvSpPr>
        <p:spPr/>
        <p:txBody>
          <a:bodyPr/>
          <a:lstStyle/>
          <a:p>
            <a:r>
              <a:rPr lang="en-US" dirty="0"/>
              <a:t>Key Imperatives and Net estimated Benefits</a:t>
            </a:r>
          </a:p>
        </p:txBody>
      </p:sp>
      <p:grpSp>
        <p:nvGrpSpPr>
          <p:cNvPr id="6" name="Group 5">
            <a:extLst>
              <a:ext uri="{FF2B5EF4-FFF2-40B4-BE49-F238E27FC236}">
                <a16:creationId xmlns:a16="http://schemas.microsoft.com/office/drawing/2014/main" id="{B3E054B1-EB66-43BB-95AF-D6EE4DAAA314}"/>
              </a:ext>
            </a:extLst>
          </p:cNvPr>
          <p:cNvGrpSpPr/>
          <p:nvPr/>
        </p:nvGrpSpPr>
        <p:grpSpPr>
          <a:xfrm>
            <a:off x="573976" y="1703234"/>
            <a:ext cx="1806128" cy="1721727"/>
            <a:chOff x="590368" y="2371031"/>
            <a:chExt cx="2175328" cy="1356269"/>
          </a:xfrm>
        </p:grpSpPr>
        <p:sp>
          <p:nvSpPr>
            <p:cNvPr id="7" name="Rounded Rectangle 101">
              <a:extLst>
                <a:ext uri="{FF2B5EF4-FFF2-40B4-BE49-F238E27FC236}">
                  <a16:creationId xmlns:a16="http://schemas.microsoft.com/office/drawing/2014/main" id="{963EA8A2-F4AD-4B91-9B71-6EE25E104F99}"/>
                </a:ext>
              </a:extLst>
            </p:cNvPr>
            <p:cNvSpPr/>
            <p:nvPr/>
          </p:nvSpPr>
          <p:spPr bwMode="gray">
            <a:xfrm>
              <a:off x="1638801" y="2872388"/>
              <a:ext cx="78461" cy="854912"/>
            </a:xfrm>
            <a:prstGeom prst="roundRect">
              <a:avLst/>
            </a:prstGeom>
            <a:solidFill>
              <a:srgbClr val="046A38"/>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Verdana"/>
              </a:endParaRPr>
            </a:p>
          </p:txBody>
        </p:sp>
        <p:grpSp>
          <p:nvGrpSpPr>
            <p:cNvPr id="8" name="Group 7">
              <a:extLst>
                <a:ext uri="{FF2B5EF4-FFF2-40B4-BE49-F238E27FC236}">
                  <a16:creationId xmlns:a16="http://schemas.microsoft.com/office/drawing/2014/main" id="{58859646-5FFF-47CC-8175-0489856245BB}"/>
                </a:ext>
              </a:extLst>
            </p:cNvPr>
            <p:cNvGrpSpPr/>
            <p:nvPr/>
          </p:nvGrpSpPr>
          <p:grpSpPr>
            <a:xfrm>
              <a:off x="590368" y="2371031"/>
              <a:ext cx="2175328" cy="695639"/>
              <a:chOff x="590368" y="2371031"/>
              <a:chExt cx="2175328" cy="695639"/>
            </a:xfrm>
          </p:grpSpPr>
          <p:sp>
            <p:nvSpPr>
              <p:cNvPr id="9" name="Isosceles Triangle 19">
                <a:extLst>
                  <a:ext uri="{FF2B5EF4-FFF2-40B4-BE49-F238E27FC236}">
                    <a16:creationId xmlns:a16="http://schemas.microsoft.com/office/drawing/2014/main" id="{23609DFB-AC4C-409C-B164-AC76AFB824BE}"/>
                  </a:ext>
                </a:extLst>
              </p:cNvPr>
              <p:cNvSpPr/>
              <p:nvPr/>
            </p:nvSpPr>
            <p:spPr bwMode="gray">
              <a:xfrm rot="5400000">
                <a:off x="2381547" y="2682522"/>
                <a:ext cx="695639" cy="72658"/>
              </a:xfrm>
              <a:prstGeom prst="triangle">
                <a:avLst/>
              </a:prstGeom>
              <a:solidFill>
                <a:srgbClr val="046A38"/>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mj-lt"/>
                </a:endParaRPr>
              </a:p>
            </p:txBody>
          </p:sp>
          <p:sp>
            <p:nvSpPr>
              <p:cNvPr id="11" name="Chevron 116">
                <a:extLst>
                  <a:ext uri="{FF2B5EF4-FFF2-40B4-BE49-F238E27FC236}">
                    <a16:creationId xmlns:a16="http://schemas.microsoft.com/office/drawing/2014/main" id="{0C7395B4-9E49-4975-B8E3-13DEC18F39B4}"/>
                  </a:ext>
                </a:extLst>
              </p:cNvPr>
              <p:cNvSpPr/>
              <p:nvPr/>
            </p:nvSpPr>
            <p:spPr bwMode="gray">
              <a:xfrm>
                <a:off x="590368" y="2461681"/>
                <a:ext cx="2175328" cy="514338"/>
              </a:xfrm>
              <a:prstGeom prst="chevron">
                <a:avLst>
                  <a:gd name="adj" fmla="val 13377"/>
                </a:avLst>
              </a:prstGeom>
              <a:solidFill>
                <a:srgbClr val="046A38"/>
              </a:solidFill>
              <a:ln w="19050" algn="ctr">
                <a:noFill/>
                <a:miter lim="800000"/>
                <a:headEnd/>
                <a:tailEnd/>
              </a:ln>
            </p:spPr>
            <p:txBody>
              <a:bodyPr wrap="square" lIns="88900" tIns="88900" rIns="88900" bIns="88900" rtlCol="0" anchor="ctr"/>
              <a:lstStyle/>
              <a:p>
                <a:pPr algn="ctr">
                  <a:defRPr/>
                </a:pPr>
                <a:r>
                  <a:rPr lang="da-DK" sz="1100" kern="0" dirty="0">
                    <a:solidFill>
                      <a:srgbClr val="FFFFFF"/>
                    </a:solidFill>
                    <a:latin typeface="+mj-lt"/>
                  </a:rPr>
                  <a:t>Power Purchase Cost Optimization from WBPDCL</a:t>
                </a:r>
                <a:endParaRPr lang="en-US" sz="1100" kern="0" dirty="0">
                  <a:solidFill>
                    <a:srgbClr val="FFFFFF"/>
                  </a:solidFill>
                  <a:latin typeface="+mj-lt"/>
                </a:endParaRPr>
              </a:p>
            </p:txBody>
          </p:sp>
        </p:grpSp>
      </p:grpSp>
      <p:grpSp>
        <p:nvGrpSpPr>
          <p:cNvPr id="12" name="Group 11">
            <a:extLst>
              <a:ext uri="{FF2B5EF4-FFF2-40B4-BE49-F238E27FC236}">
                <a16:creationId xmlns:a16="http://schemas.microsoft.com/office/drawing/2014/main" id="{8FA70082-722B-4968-9E81-2F012D7FD44F}"/>
              </a:ext>
            </a:extLst>
          </p:cNvPr>
          <p:cNvGrpSpPr/>
          <p:nvPr/>
        </p:nvGrpSpPr>
        <p:grpSpPr>
          <a:xfrm>
            <a:off x="2380795" y="1703231"/>
            <a:ext cx="1806128" cy="1721727"/>
            <a:chOff x="2794838" y="2371031"/>
            <a:chExt cx="2175328" cy="1356269"/>
          </a:xfrm>
          <a:solidFill>
            <a:srgbClr val="43B02A"/>
          </a:solidFill>
        </p:grpSpPr>
        <p:sp>
          <p:nvSpPr>
            <p:cNvPr id="13" name="Rounded Rectangle 104">
              <a:extLst>
                <a:ext uri="{FF2B5EF4-FFF2-40B4-BE49-F238E27FC236}">
                  <a16:creationId xmlns:a16="http://schemas.microsoft.com/office/drawing/2014/main" id="{97524B78-A2AF-46C0-B7A4-4A430EAB7D4C}"/>
                </a:ext>
              </a:extLst>
            </p:cNvPr>
            <p:cNvSpPr/>
            <p:nvPr/>
          </p:nvSpPr>
          <p:spPr bwMode="gray">
            <a:xfrm>
              <a:off x="3843272" y="2872388"/>
              <a:ext cx="78461" cy="854912"/>
            </a:xfrm>
            <a:prstGeom prst="roundRect">
              <a:avLst/>
            </a:prstGeom>
            <a:grp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Verdana"/>
              </a:endParaRPr>
            </a:p>
          </p:txBody>
        </p:sp>
        <p:grpSp>
          <p:nvGrpSpPr>
            <p:cNvPr id="14" name="Group 13">
              <a:extLst>
                <a:ext uri="{FF2B5EF4-FFF2-40B4-BE49-F238E27FC236}">
                  <a16:creationId xmlns:a16="http://schemas.microsoft.com/office/drawing/2014/main" id="{935C38EB-D0A0-4AD9-B013-16B89B9C56A6}"/>
                </a:ext>
              </a:extLst>
            </p:cNvPr>
            <p:cNvGrpSpPr/>
            <p:nvPr/>
          </p:nvGrpSpPr>
          <p:grpSpPr>
            <a:xfrm>
              <a:off x="2794838" y="2371031"/>
              <a:ext cx="2175328" cy="695639"/>
              <a:chOff x="2794838" y="2371031"/>
              <a:chExt cx="2175328" cy="695639"/>
            </a:xfrm>
            <a:grpFill/>
          </p:grpSpPr>
          <p:sp>
            <p:nvSpPr>
              <p:cNvPr id="15" name="Isosceles Triangle 21">
                <a:extLst>
                  <a:ext uri="{FF2B5EF4-FFF2-40B4-BE49-F238E27FC236}">
                    <a16:creationId xmlns:a16="http://schemas.microsoft.com/office/drawing/2014/main" id="{7A232C3D-27A7-49C8-B867-DFD13D546DD9}"/>
                  </a:ext>
                </a:extLst>
              </p:cNvPr>
              <p:cNvSpPr/>
              <p:nvPr/>
            </p:nvSpPr>
            <p:spPr bwMode="gray">
              <a:xfrm rot="5400000">
                <a:off x="4586017" y="2682522"/>
                <a:ext cx="695639" cy="72658"/>
              </a:xfrm>
              <a:prstGeom prst="triangle">
                <a:avLst/>
              </a:prstGeom>
              <a:grp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mj-lt"/>
                </a:endParaRPr>
              </a:p>
            </p:txBody>
          </p:sp>
          <p:sp>
            <p:nvSpPr>
              <p:cNvPr id="16" name="Chevron 118">
                <a:extLst>
                  <a:ext uri="{FF2B5EF4-FFF2-40B4-BE49-F238E27FC236}">
                    <a16:creationId xmlns:a16="http://schemas.microsoft.com/office/drawing/2014/main" id="{012B25F2-7694-4F0A-A306-54F2A1A5D1F4}"/>
                  </a:ext>
                </a:extLst>
              </p:cNvPr>
              <p:cNvSpPr/>
              <p:nvPr/>
            </p:nvSpPr>
            <p:spPr bwMode="gray">
              <a:xfrm>
                <a:off x="2794838" y="2461681"/>
                <a:ext cx="2175328" cy="514338"/>
              </a:xfrm>
              <a:prstGeom prst="chevron">
                <a:avLst>
                  <a:gd name="adj" fmla="val 13377"/>
                </a:avLst>
              </a:prstGeom>
              <a:grpFill/>
              <a:ln w="19050" algn="ctr">
                <a:noFill/>
                <a:miter lim="800000"/>
                <a:headEnd/>
                <a:tailEnd/>
              </a:ln>
            </p:spPr>
            <p:txBody>
              <a:bodyPr wrap="square" lIns="88900" tIns="88900" rIns="88900" bIns="88900" rtlCol="0" anchor="ctr"/>
              <a:lstStyle/>
              <a:p>
                <a:pPr algn="ctr">
                  <a:defRPr/>
                </a:pPr>
                <a:r>
                  <a:rPr lang="da-DK" sz="1100" kern="0" dirty="0">
                    <a:solidFill>
                      <a:srgbClr val="FFFFFF"/>
                    </a:solidFill>
                    <a:latin typeface="+mj-lt"/>
                  </a:rPr>
                  <a:t>Reduction in Fixed Cost from WBSETCL</a:t>
                </a:r>
                <a:endParaRPr lang="en-US" sz="1100" kern="0" dirty="0">
                  <a:solidFill>
                    <a:srgbClr val="FFFFFF"/>
                  </a:solidFill>
                  <a:latin typeface="+mj-lt"/>
                </a:endParaRPr>
              </a:p>
            </p:txBody>
          </p:sp>
        </p:grpSp>
      </p:grpSp>
      <p:grpSp>
        <p:nvGrpSpPr>
          <p:cNvPr id="17" name="Group 16">
            <a:extLst>
              <a:ext uri="{FF2B5EF4-FFF2-40B4-BE49-F238E27FC236}">
                <a16:creationId xmlns:a16="http://schemas.microsoft.com/office/drawing/2014/main" id="{D19C3B6C-8863-4687-9DF0-17A36EA33872}"/>
              </a:ext>
            </a:extLst>
          </p:cNvPr>
          <p:cNvGrpSpPr/>
          <p:nvPr/>
        </p:nvGrpSpPr>
        <p:grpSpPr>
          <a:xfrm>
            <a:off x="6150511" y="1703231"/>
            <a:ext cx="1806128" cy="1721727"/>
            <a:chOff x="4999309" y="2371031"/>
            <a:chExt cx="2175328" cy="1356269"/>
          </a:xfrm>
        </p:grpSpPr>
        <p:sp>
          <p:nvSpPr>
            <p:cNvPr id="18" name="Rounded Rectangle 107">
              <a:extLst>
                <a:ext uri="{FF2B5EF4-FFF2-40B4-BE49-F238E27FC236}">
                  <a16:creationId xmlns:a16="http://schemas.microsoft.com/office/drawing/2014/main" id="{390CEACE-92DF-4B43-AD04-46AF9FCC2631}"/>
                </a:ext>
              </a:extLst>
            </p:cNvPr>
            <p:cNvSpPr/>
            <p:nvPr/>
          </p:nvSpPr>
          <p:spPr bwMode="gray">
            <a:xfrm>
              <a:off x="6047742" y="2872388"/>
              <a:ext cx="78461" cy="854912"/>
            </a:xfrm>
            <a:prstGeom prst="roundRect">
              <a:avLst/>
            </a:prstGeom>
            <a:solidFill>
              <a:srgbClr val="86BC25"/>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Verdana"/>
              </a:endParaRPr>
            </a:p>
          </p:txBody>
        </p:sp>
        <p:grpSp>
          <p:nvGrpSpPr>
            <p:cNvPr id="19" name="Group 18">
              <a:extLst>
                <a:ext uri="{FF2B5EF4-FFF2-40B4-BE49-F238E27FC236}">
                  <a16:creationId xmlns:a16="http://schemas.microsoft.com/office/drawing/2014/main" id="{71C345C1-4FFA-46F3-B1E0-DBA1B9F3DDA4}"/>
                </a:ext>
              </a:extLst>
            </p:cNvPr>
            <p:cNvGrpSpPr/>
            <p:nvPr/>
          </p:nvGrpSpPr>
          <p:grpSpPr>
            <a:xfrm>
              <a:off x="4999309" y="2371031"/>
              <a:ext cx="2175328" cy="695639"/>
              <a:chOff x="4999309" y="2371031"/>
              <a:chExt cx="2175328" cy="695639"/>
            </a:xfrm>
          </p:grpSpPr>
          <p:sp>
            <p:nvSpPr>
              <p:cNvPr id="20" name="Isosceles Triangle 23">
                <a:extLst>
                  <a:ext uri="{FF2B5EF4-FFF2-40B4-BE49-F238E27FC236}">
                    <a16:creationId xmlns:a16="http://schemas.microsoft.com/office/drawing/2014/main" id="{4347DBA1-7E62-47C5-A1DD-896F33889FA4}"/>
                  </a:ext>
                </a:extLst>
              </p:cNvPr>
              <p:cNvSpPr/>
              <p:nvPr/>
            </p:nvSpPr>
            <p:spPr bwMode="gray">
              <a:xfrm rot="5400000">
                <a:off x="6790488" y="2682522"/>
                <a:ext cx="695639" cy="72658"/>
              </a:xfrm>
              <a:prstGeom prst="triangle">
                <a:avLst/>
              </a:prstGeom>
              <a:solidFill>
                <a:srgbClr val="43B02A"/>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mj-lt"/>
                </a:endParaRPr>
              </a:p>
            </p:txBody>
          </p:sp>
          <p:sp>
            <p:nvSpPr>
              <p:cNvPr id="21" name="Chevron 120">
                <a:extLst>
                  <a:ext uri="{FF2B5EF4-FFF2-40B4-BE49-F238E27FC236}">
                    <a16:creationId xmlns:a16="http://schemas.microsoft.com/office/drawing/2014/main" id="{D0168D71-51A3-45FC-8D65-3EB2FE6779DD}"/>
                  </a:ext>
                </a:extLst>
              </p:cNvPr>
              <p:cNvSpPr/>
              <p:nvPr/>
            </p:nvSpPr>
            <p:spPr bwMode="gray">
              <a:xfrm>
                <a:off x="4999309" y="2461681"/>
                <a:ext cx="2175328" cy="514338"/>
              </a:xfrm>
              <a:prstGeom prst="chevron">
                <a:avLst>
                  <a:gd name="adj" fmla="val 13377"/>
                </a:avLst>
              </a:prstGeom>
              <a:solidFill>
                <a:schemeClr val="accent1"/>
              </a:solidFill>
              <a:ln w="19050" algn="ctr">
                <a:noFill/>
                <a:miter lim="800000"/>
                <a:headEnd/>
                <a:tailEnd/>
              </a:ln>
            </p:spPr>
            <p:txBody>
              <a:bodyPr wrap="square" lIns="88900" tIns="88900" rIns="88900" bIns="88900" rtlCol="0" anchor="ctr"/>
              <a:lstStyle/>
              <a:p>
                <a:pPr algn="ctr">
                  <a:defRPr/>
                </a:pPr>
                <a:r>
                  <a:rPr lang="da-DK" sz="1100" kern="0" dirty="0">
                    <a:solidFill>
                      <a:srgbClr val="FFFFFF"/>
                    </a:solidFill>
                    <a:latin typeface="+mj-lt"/>
                  </a:rPr>
                  <a:t>Reduction in ACOS of WBSEDCL</a:t>
                </a:r>
                <a:endParaRPr lang="en-US" sz="1100" kern="0" dirty="0">
                  <a:solidFill>
                    <a:srgbClr val="FFFFFF"/>
                  </a:solidFill>
                  <a:latin typeface="+mj-lt"/>
                </a:endParaRPr>
              </a:p>
            </p:txBody>
          </p:sp>
        </p:grpSp>
      </p:grpSp>
      <p:grpSp>
        <p:nvGrpSpPr>
          <p:cNvPr id="22" name="Group 21">
            <a:extLst>
              <a:ext uri="{FF2B5EF4-FFF2-40B4-BE49-F238E27FC236}">
                <a16:creationId xmlns:a16="http://schemas.microsoft.com/office/drawing/2014/main" id="{E6423884-452A-474F-A4C0-9F16C47CF590}"/>
              </a:ext>
            </a:extLst>
          </p:cNvPr>
          <p:cNvGrpSpPr/>
          <p:nvPr/>
        </p:nvGrpSpPr>
        <p:grpSpPr>
          <a:xfrm>
            <a:off x="7980836" y="1703234"/>
            <a:ext cx="1806128" cy="1721727"/>
            <a:chOff x="7203779" y="2371031"/>
            <a:chExt cx="2175328" cy="1356269"/>
          </a:xfrm>
        </p:grpSpPr>
        <p:sp>
          <p:nvSpPr>
            <p:cNvPr id="23" name="Rounded Rectangle 110">
              <a:extLst>
                <a:ext uri="{FF2B5EF4-FFF2-40B4-BE49-F238E27FC236}">
                  <a16:creationId xmlns:a16="http://schemas.microsoft.com/office/drawing/2014/main" id="{FE7BEA64-2E83-4E26-B619-85CF9D2647A3}"/>
                </a:ext>
              </a:extLst>
            </p:cNvPr>
            <p:cNvSpPr/>
            <p:nvPr/>
          </p:nvSpPr>
          <p:spPr bwMode="gray">
            <a:xfrm>
              <a:off x="8252213" y="2872388"/>
              <a:ext cx="78461" cy="854912"/>
            </a:xfrm>
            <a:prstGeom prst="roundRect">
              <a:avLst/>
            </a:prstGeom>
            <a:solidFill>
              <a:srgbClr val="C4D600"/>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Verdana"/>
              </a:endParaRPr>
            </a:p>
          </p:txBody>
        </p:sp>
        <p:grpSp>
          <p:nvGrpSpPr>
            <p:cNvPr id="24" name="Group 23">
              <a:extLst>
                <a:ext uri="{FF2B5EF4-FFF2-40B4-BE49-F238E27FC236}">
                  <a16:creationId xmlns:a16="http://schemas.microsoft.com/office/drawing/2014/main" id="{05BABC4E-2F56-4C1F-89EA-F5911AF163AB}"/>
                </a:ext>
              </a:extLst>
            </p:cNvPr>
            <p:cNvGrpSpPr/>
            <p:nvPr/>
          </p:nvGrpSpPr>
          <p:grpSpPr>
            <a:xfrm>
              <a:off x="7203779" y="2371031"/>
              <a:ext cx="2175328" cy="695639"/>
              <a:chOff x="7203779" y="2371031"/>
              <a:chExt cx="2175328" cy="695639"/>
            </a:xfrm>
          </p:grpSpPr>
          <p:sp>
            <p:nvSpPr>
              <p:cNvPr id="25" name="Isosceles Triangle 25">
                <a:extLst>
                  <a:ext uri="{FF2B5EF4-FFF2-40B4-BE49-F238E27FC236}">
                    <a16:creationId xmlns:a16="http://schemas.microsoft.com/office/drawing/2014/main" id="{89D1DD09-EAA5-4A0C-8F05-41B3808DC464}"/>
                  </a:ext>
                </a:extLst>
              </p:cNvPr>
              <p:cNvSpPr/>
              <p:nvPr/>
            </p:nvSpPr>
            <p:spPr bwMode="gray">
              <a:xfrm rot="5400000">
                <a:off x="8994958" y="2682522"/>
                <a:ext cx="695639" cy="72658"/>
              </a:xfrm>
              <a:prstGeom prst="triangle">
                <a:avLst/>
              </a:prstGeom>
              <a:solidFill>
                <a:srgbClr val="86BC25"/>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mj-lt"/>
                </a:endParaRPr>
              </a:p>
            </p:txBody>
          </p:sp>
          <p:sp>
            <p:nvSpPr>
              <p:cNvPr id="26" name="Chevron 122">
                <a:extLst>
                  <a:ext uri="{FF2B5EF4-FFF2-40B4-BE49-F238E27FC236}">
                    <a16:creationId xmlns:a16="http://schemas.microsoft.com/office/drawing/2014/main" id="{E067B55F-7C33-4D37-9BBE-5E7DEF66094C}"/>
                  </a:ext>
                </a:extLst>
              </p:cNvPr>
              <p:cNvSpPr/>
              <p:nvPr/>
            </p:nvSpPr>
            <p:spPr bwMode="gray">
              <a:xfrm>
                <a:off x="7203779" y="2461681"/>
                <a:ext cx="2175328" cy="514338"/>
              </a:xfrm>
              <a:prstGeom prst="chevron">
                <a:avLst>
                  <a:gd name="adj" fmla="val 13377"/>
                </a:avLst>
              </a:prstGeom>
              <a:solidFill>
                <a:srgbClr val="C4D600"/>
              </a:solidFill>
              <a:ln w="19050" algn="ctr">
                <a:noFill/>
                <a:miter lim="800000"/>
                <a:headEnd/>
                <a:tailEnd/>
              </a:ln>
            </p:spPr>
            <p:txBody>
              <a:bodyPr wrap="square" lIns="88900" tIns="88900" rIns="88900" bIns="88900" rtlCol="0" anchor="ctr"/>
              <a:lstStyle/>
              <a:p>
                <a:pPr algn="ctr">
                  <a:defRPr/>
                </a:pPr>
                <a:r>
                  <a:rPr lang="da-DK" sz="1100" kern="0" dirty="0">
                    <a:solidFill>
                      <a:srgbClr val="000000"/>
                    </a:solidFill>
                    <a:latin typeface="+mj-lt"/>
                  </a:rPr>
                  <a:t>Structured Subsidy Model for WBSEDCL</a:t>
                </a:r>
                <a:endParaRPr lang="en-US" sz="1100" kern="0" dirty="0">
                  <a:solidFill>
                    <a:srgbClr val="000000"/>
                  </a:solidFill>
                  <a:latin typeface="+mj-lt"/>
                </a:endParaRPr>
              </a:p>
            </p:txBody>
          </p:sp>
        </p:grpSp>
      </p:grpSp>
      <p:grpSp>
        <p:nvGrpSpPr>
          <p:cNvPr id="27" name="Group 26">
            <a:extLst>
              <a:ext uri="{FF2B5EF4-FFF2-40B4-BE49-F238E27FC236}">
                <a16:creationId xmlns:a16="http://schemas.microsoft.com/office/drawing/2014/main" id="{0D3E82FA-54DE-4D0A-AC1A-A5DACE200F0C}"/>
              </a:ext>
            </a:extLst>
          </p:cNvPr>
          <p:cNvGrpSpPr/>
          <p:nvPr/>
        </p:nvGrpSpPr>
        <p:grpSpPr>
          <a:xfrm>
            <a:off x="9811159" y="1703234"/>
            <a:ext cx="1806128" cy="1721727"/>
            <a:chOff x="9408248" y="2371031"/>
            <a:chExt cx="2175328" cy="1356269"/>
          </a:xfrm>
        </p:grpSpPr>
        <p:sp>
          <p:nvSpPr>
            <p:cNvPr id="28" name="Rounded Rectangle 113">
              <a:extLst>
                <a:ext uri="{FF2B5EF4-FFF2-40B4-BE49-F238E27FC236}">
                  <a16:creationId xmlns:a16="http://schemas.microsoft.com/office/drawing/2014/main" id="{363CD9BB-BEE6-424A-BFC0-DAE791DEF58F}"/>
                </a:ext>
              </a:extLst>
            </p:cNvPr>
            <p:cNvSpPr/>
            <p:nvPr/>
          </p:nvSpPr>
          <p:spPr bwMode="gray">
            <a:xfrm>
              <a:off x="10456682" y="2872388"/>
              <a:ext cx="78461" cy="854912"/>
            </a:xfrm>
            <a:prstGeom prst="roundRect">
              <a:avLst/>
            </a:prstGeom>
            <a:solidFill>
              <a:srgbClr val="E3E48D"/>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Verdana"/>
              </a:endParaRPr>
            </a:p>
          </p:txBody>
        </p:sp>
        <p:grpSp>
          <p:nvGrpSpPr>
            <p:cNvPr id="29" name="Group 28">
              <a:extLst>
                <a:ext uri="{FF2B5EF4-FFF2-40B4-BE49-F238E27FC236}">
                  <a16:creationId xmlns:a16="http://schemas.microsoft.com/office/drawing/2014/main" id="{61FF7287-159B-4F9D-9980-1BE153918AD6}"/>
                </a:ext>
              </a:extLst>
            </p:cNvPr>
            <p:cNvGrpSpPr/>
            <p:nvPr/>
          </p:nvGrpSpPr>
          <p:grpSpPr>
            <a:xfrm>
              <a:off x="9408248" y="2371031"/>
              <a:ext cx="2175328" cy="695639"/>
              <a:chOff x="9408248" y="2371031"/>
              <a:chExt cx="2175328" cy="695639"/>
            </a:xfrm>
          </p:grpSpPr>
          <p:sp>
            <p:nvSpPr>
              <p:cNvPr id="30" name="Isosceles Triangle 27">
                <a:extLst>
                  <a:ext uri="{FF2B5EF4-FFF2-40B4-BE49-F238E27FC236}">
                    <a16:creationId xmlns:a16="http://schemas.microsoft.com/office/drawing/2014/main" id="{68E4630F-48A5-41CC-B1B9-05027FA58504}"/>
                  </a:ext>
                </a:extLst>
              </p:cNvPr>
              <p:cNvSpPr/>
              <p:nvPr/>
            </p:nvSpPr>
            <p:spPr bwMode="gray">
              <a:xfrm rot="5400000">
                <a:off x="11199427" y="2682522"/>
                <a:ext cx="695639" cy="72658"/>
              </a:xfrm>
              <a:prstGeom prst="triangle">
                <a:avLst/>
              </a:prstGeom>
              <a:solidFill>
                <a:srgbClr val="C4D600"/>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mj-lt"/>
                </a:endParaRPr>
              </a:p>
            </p:txBody>
          </p:sp>
          <p:sp>
            <p:nvSpPr>
              <p:cNvPr id="31" name="Chevron 124">
                <a:extLst>
                  <a:ext uri="{FF2B5EF4-FFF2-40B4-BE49-F238E27FC236}">
                    <a16:creationId xmlns:a16="http://schemas.microsoft.com/office/drawing/2014/main" id="{9EC39202-AB59-42A2-A0E4-1E6A78C05601}"/>
                  </a:ext>
                </a:extLst>
              </p:cNvPr>
              <p:cNvSpPr/>
              <p:nvPr/>
            </p:nvSpPr>
            <p:spPr bwMode="gray">
              <a:xfrm>
                <a:off x="9408248" y="2461681"/>
                <a:ext cx="2175328" cy="514338"/>
              </a:xfrm>
              <a:prstGeom prst="chevron">
                <a:avLst>
                  <a:gd name="adj" fmla="val 13377"/>
                </a:avLst>
              </a:prstGeom>
              <a:solidFill>
                <a:srgbClr val="E3E48D"/>
              </a:solidFill>
              <a:ln w="19050" algn="ctr">
                <a:noFill/>
                <a:miter lim="800000"/>
                <a:headEnd/>
                <a:tailEnd/>
              </a:ln>
            </p:spPr>
            <p:txBody>
              <a:bodyPr wrap="square" lIns="88900" tIns="88900" rIns="88900" bIns="88900" rtlCol="0" anchor="ctr"/>
              <a:lstStyle/>
              <a:p>
                <a:pPr algn="ctr">
                  <a:defRPr/>
                </a:pPr>
                <a:r>
                  <a:rPr lang="da-DK" sz="1100" kern="0" dirty="0">
                    <a:solidFill>
                      <a:srgbClr val="000000"/>
                    </a:solidFill>
                    <a:latin typeface="+mj-lt"/>
                  </a:rPr>
                  <a:t>Rationalization of Tariff Structure for WBSEDCL</a:t>
                </a:r>
                <a:endParaRPr lang="en-US" sz="1100" kern="0" dirty="0">
                  <a:solidFill>
                    <a:srgbClr val="000000"/>
                  </a:solidFill>
                  <a:latin typeface="+mj-lt"/>
                </a:endParaRPr>
              </a:p>
            </p:txBody>
          </p:sp>
        </p:grpSp>
      </p:grpSp>
      <p:sp>
        <p:nvSpPr>
          <p:cNvPr id="34" name="Round Single Corner Rectangle 100">
            <a:extLst>
              <a:ext uri="{FF2B5EF4-FFF2-40B4-BE49-F238E27FC236}">
                <a16:creationId xmlns:a16="http://schemas.microsoft.com/office/drawing/2014/main" id="{FF4A1F85-B151-4A65-9E6A-4F3005ACF9C6}"/>
              </a:ext>
            </a:extLst>
          </p:cNvPr>
          <p:cNvSpPr/>
          <p:nvPr/>
        </p:nvSpPr>
        <p:spPr>
          <a:xfrm>
            <a:off x="652359" y="3424958"/>
            <a:ext cx="1649361" cy="2538011"/>
          </a:xfrm>
          <a:prstGeom prst="round1Rect">
            <a:avLst>
              <a:gd name="adj" fmla="val 11091"/>
            </a:avLst>
          </a:prstGeom>
          <a:noFill/>
          <a:ln w="6350" cap="flat" cmpd="sng" algn="ctr">
            <a:solidFill>
              <a:srgbClr val="046A38"/>
            </a:solidFill>
            <a:prstDash val="solid"/>
          </a:ln>
          <a:effectLst/>
        </p:spPr>
        <p:txBody>
          <a:bodyPr lIns="73152" tIns="91440" rIns="73152" bIns="73152" rtlCol="0" anchor="t"/>
          <a:lstStyle/>
          <a:p>
            <a:pPr marL="171450" indent="-171450" defTabSz="965149">
              <a:buFont typeface="Arial" panose="020B0604020202020204" pitchFamily="34" charset="0"/>
              <a:buChar char="•"/>
              <a:defRPr/>
            </a:pPr>
            <a:r>
              <a:rPr lang="en-US" sz="1100" kern="0" dirty="0">
                <a:solidFill>
                  <a:prstClr val="black"/>
                </a:solidFill>
              </a:rPr>
              <a:t>Potential for reduction of fixed cost obligation and energy charges through </a:t>
            </a:r>
            <a:r>
              <a:rPr lang="en-US" sz="1100" b="1" kern="0" dirty="0">
                <a:solidFill>
                  <a:prstClr val="black"/>
                </a:solidFill>
              </a:rPr>
              <a:t>decommissioning of older plants of WBPDCL</a:t>
            </a:r>
          </a:p>
          <a:p>
            <a:pPr marL="171450" indent="-171450" defTabSz="965149">
              <a:buFont typeface="Arial" panose="020B0604020202020204" pitchFamily="34" charset="0"/>
              <a:buChar char="•"/>
              <a:defRPr/>
            </a:pPr>
            <a:r>
              <a:rPr lang="en-US" sz="1100" kern="0" dirty="0">
                <a:solidFill>
                  <a:prstClr val="black"/>
                </a:solidFill>
              </a:rPr>
              <a:t>Reduction of cost of </a:t>
            </a:r>
            <a:r>
              <a:rPr lang="en-US" sz="1100" b="1" kern="0" dirty="0">
                <a:solidFill>
                  <a:prstClr val="black"/>
                </a:solidFill>
              </a:rPr>
              <a:t>coal procurement through captive sources</a:t>
            </a:r>
          </a:p>
        </p:txBody>
      </p:sp>
      <p:sp>
        <p:nvSpPr>
          <p:cNvPr id="35" name="Rounded Rectangle 102">
            <a:extLst>
              <a:ext uri="{FF2B5EF4-FFF2-40B4-BE49-F238E27FC236}">
                <a16:creationId xmlns:a16="http://schemas.microsoft.com/office/drawing/2014/main" id="{E695D71E-24CD-4B82-99FA-2D466A856AD1}"/>
              </a:ext>
            </a:extLst>
          </p:cNvPr>
          <p:cNvSpPr/>
          <p:nvPr/>
        </p:nvSpPr>
        <p:spPr bwMode="gray">
          <a:xfrm>
            <a:off x="975045" y="2646065"/>
            <a:ext cx="1003992" cy="602162"/>
          </a:xfrm>
          <a:prstGeom prst="roundRect">
            <a:avLst/>
          </a:prstGeom>
          <a:solidFill>
            <a:sysClr val="window" lastClr="FFFFFF"/>
          </a:solidFill>
          <a:ln w="28575" cap="flat" cmpd="sng" algn="ctr">
            <a:solidFill>
              <a:srgbClr val="046A38"/>
            </a:solidFill>
            <a:prstDash val="solid"/>
          </a:ln>
          <a:effectLst/>
        </p:spPr>
        <p:txBody>
          <a:bodyPr lIns="73152" tIns="91440" rIns="73152" bIns="73152" rtlCol="0" anchor="t"/>
          <a:lstStyle/>
          <a:p>
            <a:pPr defTabSz="965149">
              <a:defRPr/>
            </a:pPr>
            <a:endParaRPr lang="en-GB" sz="1100" kern="0" dirty="0">
              <a:solidFill>
                <a:prstClr val="black"/>
              </a:solidFill>
              <a:latin typeface="Verdana"/>
            </a:endParaRPr>
          </a:p>
        </p:txBody>
      </p:sp>
      <p:sp>
        <p:nvSpPr>
          <p:cNvPr id="36" name="Round Single Corner Rectangle 103">
            <a:extLst>
              <a:ext uri="{FF2B5EF4-FFF2-40B4-BE49-F238E27FC236}">
                <a16:creationId xmlns:a16="http://schemas.microsoft.com/office/drawing/2014/main" id="{EEB6AE8F-C91B-4839-96A6-033702E86739}"/>
              </a:ext>
            </a:extLst>
          </p:cNvPr>
          <p:cNvSpPr/>
          <p:nvPr/>
        </p:nvSpPr>
        <p:spPr>
          <a:xfrm>
            <a:off x="2459106" y="3424958"/>
            <a:ext cx="1649361" cy="2538011"/>
          </a:xfrm>
          <a:prstGeom prst="round1Rect">
            <a:avLst>
              <a:gd name="adj" fmla="val 11091"/>
            </a:avLst>
          </a:prstGeom>
          <a:noFill/>
          <a:ln w="6350" cap="flat" cmpd="sng" algn="ctr">
            <a:solidFill>
              <a:srgbClr val="43B02A"/>
            </a:solidFill>
            <a:prstDash val="solid"/>
          </a:ln>
          <a:effectLst/>
        </p:spPr>
        <p:txBody>
          <a:bodyPr lIns="73152" tIns="91440" rIns="73152" bIns="73152" rtlCol="0" anchor="t"/>
          <a:lstStyle/>
          <a:p>
            <a:pPr marL="171450" indent="-171450" defTabSz="965149">
              <a:buFont typeface="Arial" panose="020B0604020202020204" pitchFamily="34" charset="0"/>
              <a:buChar char="•"/>
              <a:defRPr/>
            </a:pPr>
            <a:r>
              <a:rPr lang="en-US" sz="1100" kern="0" dirty="0">
                <a:solidFill>
                  <a:prstClr val="black"/>
                </a:solidFill>
              </a:rPr>
              <a:t>Fixed Cost optimization by way of </a:t>
            </a:r>
            <a:r>
              <a:rPr lang="en-US" sz="1100" b="1" kern="0" dirty="0">
                <a:solidFill>
                  <a:prstClr val="black"/>
                </a:solidFill>
              </a:rPr>
              <a:t>sustainable reduction of Return on Equity</a:t>
            </a:r>
            <a:r>
              <a:rPr lang="en-US" sz="1100" kern="0" dirty="0">
                <a:solidFill>
                  <a:prstClr val="black"/>
                </a:solidFill>
              </a:rPr>
              <a:t> of WBSETCL</a:t>
            </a:r>
          </a:p>
        </p:txBody>
      </p:sp>
      <p:sp>
        <p:nvSpPr>
          <p:cNvPr id="37" name="Rounded Rectangle 105">
            <a:extLst>
              <a:ext uri="{FF2B5EF4-FFF2-40B4-BE49-F238E27FC236}">
                <a16:creationId xmlns:a16="http://schemas.microsoft.com/office/drawing/2014/main" id="{CF7EE086-C059-41DC-9B5A-F301E66B492F}"/>
              </a:ext>
            </a:extLst>
          </p:cNvPr>
          <p:cNvSpPr/>
          <p:nvPr/>
        </p:nvSpPr>
        <p:spPr bwMode="gray">
          <a:xfrm>
            <a:off x="2781791" y="2646065"/>
            <a:ext cx="1003992" cy="602162"/>
          </a:xfrm>
          <a:prstGeom prst="roundRect">
            <a:avLst/>
          </a:prstGeom>
          <a:solidFill>
            <a:sysClr val="window" lastClr="FFFFFF"/>
          </a:solidFill>
          <a:ln w="28575" cap="flat" cmpd="sng" algn="ctr">
            <a:solidFill>
              <a:srgbClr val="43B02A"/>
            </a:solidFill>
            <a:prstDash val="solid"/>
          </a:ln>
          <a:effectLst/>
        </p:spPr>
        <p:txBody>
          <a:bodyPr lIns="73152" tIns="91440" rIns="73152" bIns="73152" rtlCol="0" anchor="t"/>
          <a:lstStyle/>
          <a:p>
            <a:pPr defTabSz="965149">
              <a:defRPr/>
            </a:pPr>
            <a:endParaRPr lang="en-GB" sz="1100" kern="0" dirty="0">
              <a:solidFill>
                <a:prstClr val="black"/>
              </a:solidFill>
              <a:latin typeface="Verdana"/>
            </a:endParaRPr>
          </a:p>
        </p:txBody>
      </p:sp>
      <p:sp>
        <p:nvSpPr>
          <p:cNvPr id="38" name="Round Single Corner Rectangle 106">
            <a:extLst>
              <a:ext uri="{FF2B5EF4-FFF2-40B4-BE49-F238E27FC236}">
                <a16:creationId xmlns:a16="http://schemas.microsoft.com/office/drawing/2014/main" id="{864602C9-0D98-46FB-B782-70E6D774DED5}"/>
              </a:ext>
            </a:extLst>
          </p:cNvPr>
          <p:cNvSpPr/>
          <p:nvPr/>
        </p:nvSpPr>
        <p:spPr>
          <a:xfrm>
            <a:off x="6228895" y="3424959"/>
            <a:ext cx="1649361" cy="2538010"/>
          </a:xfrm>
          <a:prstGeom prst="round1Rect">
            <a:avLst>
              <a:gd name="adj" fmla="val 11091"/>
            </a:avLst>
          </a:prstGeom>
          <a:noFill/>
          <a:ln w="6350" cap="flat" cmpd="sng" algn="ctr">
            <a:solidFill>
              <a:srgbClr val="86BC25"/>
            </a:solidFill>
            <a:prstDash val="solid"/>
          </a:ln>
          <a:effectLst/>
        </p:spPr>
        <p:txBody>
          <a:bodyPr lIns="73152" tIns="91440" rIns="73152" bIns="73152" rtlCol="0" anchor="t"/>
          <a:lstStyle/>
          <a:p>
            <a:pPr marL="171450" indent="-171450" defTabSz="965149">
              <a:buFont typeface="Arial" panose="020B0604020202020204" pitchFamily="34" charset="0"/>
              <a:buChar char="•"/>
              <a:defRPr/>
            </a:pPr>
            <a:r>
              <a:rPr lang="en-US" sz="1100" b="1" kern="0" dirty="0">
                <a:solidFill>
                  <a:prstClr val="black"/>
                </a:solidFill>
              </a:rPr>
              <a:t>ACOS </a:t>
            </a:r>
            <a:r>
              <a:rPr lang="en-US" sz="1100" kern="0" dirty="0">
                <a:solidFill>
                  <a:prstClr val="black"/>
                </a:solidFill>
              </a:rPr>
              <a:t>options by leveraging RDSS and Grid Modernization Investments</a:t>
            </a:r>
          </a:p>
          <a:p>
            <a:pPr marL="171450" indent="-171450" defTabSz="965149">
              <a:buFont typeface="Arial" panose="020B0604020202020204" pitchFamily="34" charset="0"/>
              <a:buChar char="•"/>
              <a:defRPr/>
            </a:pPr>
            <a:r>
              <a:rPr lang="en-US" sz="1100" kern="0" dirty="0">
                <a:solidFill>
                  <a:prstClr val="black"/>
                </a:solidFill>
              </a:rPr>
              <a:t>Setting up of </a:t>
            </a:r>
            <a:r>
              <a:rPr lang="en-US" sz="1100" b="1" kern="0" dirty="0">
                <a:solidFill>
                  <a:prstClr val="black"/>
                </a:solidFill>
              </a:rPr>
              <a:t>Anti Power Theft Police Stations</a:t>
            </a:r>
          </a:p>
          <a:p>
            <a:pPr marL="171450" indent="-171450" defTabSz="965149">
              <a:buFont typeface="Arial" panose="020B0604020202020204" pitchFamily="34" charset="0"/>
              <a:buChar char="•"/>
              <a:defRPr/>
            </a:pPr>
            <a:endParaRPr lang="en-US" sz="1100" kern="0" dirty="0">
              <a:solidFill>
                <a:prstClr val="black"/>
              </a:solidFill>
            </a:endParaRPr>
          </a:p>
          <a:p>
            <a:pPr marL="171450" indent="-171450" defTabSz="965149">
              <a:buFont typeface="Arial" panose="020B0604020202020204" pitchFamily="34" charset="0"/>
              <a:buChar char="•"/>
              <a:defRPr/>
            </a:pPr>
            <a:endParaRPr lang="en-US" sz="1100" kern="0" dirty="0">
              <a:solidFill>
                <a:prstClr val="black"/>
              </a:solidFill>
            </a:endParaRPr>
          </a:p>
        </p:txBody>
      </p:sp>
      <p:sp>
        <p:nvSpPr>
          <p:cNvPr id="39" name="Rounded Rectangle 108">
            <a:extLst>
              <a:ext uri="{FF2B5EF4-FFF2-40B4-BE49-F238E27FC236}">
                <a16:creationId xmlns:a16="http://schemas.microsoft.com/office/drawing/2014/main" id="{1B0AB6A3-F518-4A52-8379-E52F8AD3F967}"/>
              </a:ext>
            </a:extLst>
          </p:cNvPr>
          <p:cNvSpPr/>
          <p:nvPr/>
        </p:nvSpPr>
        <p:spPr bwMode="gray">
          <a:xfrm>
            <a:off x="6551580" y="2646065"/>
            <a:ext cx="1003992" cy="602162"/>
          </a:xfrm>
          <a:prstGeom prst="roundRect">
            <a:avLst/>
          </a:prstGeom>
          <a:solidFill>
            <a:sysClr val="window" lastClr="FFFFFF"/>
          </a:solidFill>
          <a:ln w="28575" cap="flat" cmpd="sng" algn="ctr">
            <a:solidFill>
              <a:srgbClr val="86BC25"/>
            </a:solidFill>
            <a:prstDash val="solid"/>
          </a:ln>
          <a:effectLst/>
        </p:spPr>
        <p:txBody>
          <a:bodyPr lIns="73152" tIns="91440" rIns="73152" bIns="73152" rtlCol="0" anchor="t"/>
          <a:lstStyle/>
          <a:p>
            <a:pPr defTabSz="965149">
              <a:defRPr/>
            </a:pPr>
            <a:endParaRPr lang="en-GB" sz="1100" kern="0" dirty="0">
              <a:solidFill>
                <a:prstClr val="black"/>
              </a:solidFill>
              <a:latin typeface="Verdana"/>
            </a:endParaRPr>
          </a:p>
        </p:txBody>
      </p:sp>
      <p:sp>
        <p:nvSpPr>
          <p:cNvPr id="40" name="Round Single Corner Rectangle 109">
            <a:extLst>
              <a:ext uri="{FF2B5EF4-FFF2-40B4-BE49-F238E27FC236}">
                <a16:creationId xmlns:a16="http://schemas.microsoft.com/office/drawing/2014/main" id="{85FDCBAD-8C90-4E1F-9BBA-B98B728C6A7F}"/>
              </a:ext>
            </a:extLst>
          </p:cNvPr>
          <p:cNvSpPr/>
          <p:nvPr/>
        </p:nvSpPr>
        <p:spPr>
          <a:xfrm>
            <a:off x="8059221" y="3424958"/>
            <a:ext cx="1649361" cy="2538011"/>
          </a:xfrm>
          <a:prstGeom prst="round1Rect">
            <a:avLst>
              <a:gd name="adj" fmla="val 11091"/>
            </a:avLst>
          </a:prstGeom>
          <a:noFill/>
          <a:ln w="6350" cap="flat" cmpd="sng" algn="ctr">
            <a:solidFill>
              <a:srgbClr val="C4D600"/>
            </a:solidFill>
            <a:prstDash val="solid"/>
          </a:ln>
          <a:effectLst/>
        </p:spPr>
        <p:txBody>
          <a:bodyPr lIns="73152" tIns="91440" rIns="73152" bIns="73152" rtlCol="0" anchor="t"/>
          <a:lstStyle/>
          <a:p>
            <a:pPr marL="171450" indent="-171450" defTabSz="965149">
              <a:buFont typeface="Arial" panose="020B0604020202020204" pitchFamily="34" charset="0"/>
              <a:buChar char="•"/>
              <a:defRPr/>
            </a:pPr>
            <a:r>
              <a:rPr lang="en-US" sz="1100" b="1" kern="0" dirty="0">
                <a:solidFill>
                  <a:prstClr val="black"/>
                </a:solidFill>
              </a:rPr>
              <a:t>Reduction of commercial losses through restructuring of subsidy for lifeline and other domestic consumers;</a:t>
            </a:r>
            <a:r>
              <a:rPr lang="en-US" sz="1100" kern="0" dirty="0">
                <a:solidFill>
                  <a:prstClr val="black"/>
                </a:solidFill>
              </a:rPr>
              <a:t> especially due to improvement in collection efficiency</a:t>
            </a:r>
          </a:p>
        </p:txBody>
      </p:sp>
      <p:sp>
        <p:nvSpPr>
          <p:cNvPr id="41" name="Rounded Rectangle 111">
            <a:extLst>
              <a:ext uri="{FF2B5EF4-FFF2-40B4-BE49-F238E27FC236}">
                <a16:creationId xmlns:a16="http://schemas.microsoft.com/office/drawing/2014/main" id="{0D1B7F2A-7772-4F90-A082-86580C06C401}"/>
              </a:ext>
            </a:extLst>
          </p:cNvPr>
          <p:cNvSpPr/>
          <p:nvPr/>
        </p:nvSpPr>
        <p:spPr bwMode="gray">
          <a:xfrm>
            <a:off x="8381905" y="2646065"/>
            <a:ext cx="1003992" cy="602162"/>
          </a:xfrm>
          <a:prstGeom prst="roundRect">
            <a:avLst/>
          </a:prstGeom>
          <a:solidFill>
            <a:sysClr val="window" lastClr="FFFFFF"/>
          </a:solidFill>
          <a:ln w="28575" cap="flat" cmpd="sng" algn="ctr">
            <a:solidFill>
              <a:srgbClr val="C4D600"/>
            </a:solidFill>
            <a:prstDash val="solid"/>
          </a:ln>
          <a:effectLst/>
        </p:spPr>
        <p:txBody>
          <a:bodyPr lIns="73152" tIns="91440" rIns="73152" bIns="73152" rtlCol="0" anchor="t"/>
          <a:lstStyle/>
          <a:p>
            <a:pPr defTabSz="965149">
              <a:defRPr/>
            </a:pPr>
            <a:endParaRPr lang="en-GB" sz="1100" kern="0" dirty="0">
              <a:solidFill>
                <a:prstClr val="black"/>
              </a:solidFill>
              <a:latin typeface="Verdana"/>
            </a:endParaRPr>
          </a:p>
        </p:txBody>
      </p:sp>
      <p:sp>
        <p:nvSpPr>
          <p:cNvPr id="42" name="Round Single Corner Rectangle 112">
            <a:extLst>
              <a:ext uri="{FF2B5EF4-FFF2-40B4-BE49-F238E27FC236}">
                <a16:creationId xmlns:a16="http://schemas.microsoft.com/office/drawing/2014/main" id="{A470FFDF-9E6D-4940-BDC7-DFF7410CC227}"/>
              </a:ext>
            </a:extLst>
          </p:cNvPr>
          <p:cNvSpPr/>
          <p:nvPr/>
        </p:nvSpPr>
        <p:spPr>
          <a:xfrm>
            <a:off x="9889544" y="3424958"/>
            <a:ext cx="1649361" cy="2538011"/>
          </a:xfrm>
          <a:prstGeom prst="round1Rect">
            <a:avLst>
              <a:gd name="adj" fmla="val 11091"/>
            </a:avLst>
          </a:prstGeom>
          <a:noFill/>
          <a:ln w="6350" cap="flat" cmpd="sng" algn="ctr">
            <a:solidFill>
              <a:srgbClr val="E3E48D"/>
            </a:solidFill>
            <a:prstDash val="solid"/>
          </a:ln>
          <a:effectLst/>
        </p:spPr>
        <p:txBody>
          <a:bodyPr lIns="73152" tIns="91440" rIns="73152" bIns="73152" rtlCol="0" anchor="t"/>
          <a:lstStyle/>
          <a:p>
            <a:pPr marL="171450" indent="-171450" defTabSz="965149">
              <a:buFont typeface="Arial" panose="020B0604020202020204" pitchFamily="34" charset="0"/>
              <a:buChar char="•"/>
              <a:defRPr/>
            </a:pPr>
            <a:r>
              <a:rPr lang="en-US" sz="1100" kern="0" dirty="0">
                <a:solidFill>
                  <a:prstClr val="black"/>
                </a:solidFill>
              </a:rPr>
              <a:t>A </a:t>
            </a:r>
            <a:r>
              <a:rPr lang="en-US" sz="1100" b="1" kern="0" dirty="0">
                <a:solidFill>
                  <a:prstClr val="black"/>
                </a:solidFill>
              </a:rPr>
              <a:t>relook at the tariff slabs </a:t>
            </a:r>
            <a:r>
              <a:rPr lang="en-US" sz="1100" kern="0" dirty="0">
                <a:solidFill>
                  <a:prstClr val="black"/>
                </a:solidFill>
              </a:rPr>
              <a:t>especially for Domestic, HV and LV fixed charges is required </a:t>
            </a:r>
          </a:p>
          <a:p>
            <a:pPr marL="171450" indent="-171450" defTabSz="965149">
              <a:buFont typeface="Arial" panose="020B0604020202020204" pitchFamily="34" charset="0"/>
              <a:buChar char="•"/>
              <a:defRPr/>
            </a:pPr>
            <a:r>
              <a:rPr lang="en-US" sz="1100" b="1" kern="0" dirty="0">
                <a:solidFill>
                  <a:prstClr val="black"/>
                </a:solidFill>
              </a:rPr>
              <a:t>Simplifying the existing tariff slabs </a:t>
            </a:r>
            <a:r>
              <a:rPr lang="en-US" sz="1100" kern="0" dirty="0">
                <a:solidFill>
                  <a:prstClr val="black"/>
                </a:solidFill>
              </a:rPr>
              <a:t>may smoothen the billing process </a:t>
            </a:r>
          </a:p>
        </p:txBody>
      </p:sp>
      <p:sp>
        <p:nvSpPr>
          <p:cNvPr id="43" name="Rounded Rectangle 114">
            <a:extLst>
              <a:ext uri="{FF2B5EF4-FFF2-40B4-BE49-F238E27FC236}">
                <a16:creationId xmlns:a16="http://schemas.microsoft.com/office/drawing/2014/main" id="{4D540F35-DF7C-4D59-B76B-C2E0367E2A60}"/>
              </a:ext>
            </a:extLst>
          </p:cNvPr>
          <p:cNvSpPr/>
          <p:nvPr/>
        </p:nvSpPr>
        <p:spPr bwMode="gray">
          <a:xfrm>
            <a:off x="10212228" y="2646065"/>
            <a:ext cx="1003992" cy="602162"/>
          </a:xfrm>
          <a:prstGeom prst="roundRect">
            <a:avLst/>
          </a:prstGeom>
          <a:solidFill>
            <a:sysClr val="window" lastClr="FFFFFF"/>
          </a:solidFill>
          <a:ln w="28575" cap="flat" cmpd="sng" algn="ctr">
            <a:solidFill>
              <a:srgbClr val="E3E48D"/>
            </a:solidFill>
            <a:prstDash val="solid"/>
          </a:ln>
          <a:effectLst/>
        </p:spPr>
        <p:txBody>
          <a:bodyPr lIns="73152" tIns="91440" rIns="73152" bIns="73152" rtlCol="0" anchor="t"/>
          <a:lstStyle/>
          <a:p>
            <a:pPr defTabSz="965149">
              <a:defRPr/>
            </a:pPr>
            <a:endParaRPr lang="en-GB" sz="1100" kern="0" dirty="0">
              <a:solidFill>
                <a:prstClr val="black"/>
              </a:solidFill>
              <a:latin typeface="Verdana"/>
            </a:endParaRPr>
          </a:p>
        </p:txBody>
      </p:sp>
      <p:sp>
        <p:nvSpPr>
          <p:cNvPr id="44" name="Freeform 624">
            <a:extLst>
              <a:ext uri="{FF2B5EF4-FFF2-40B4-BE49-F238E27FC236}">
                <a16:creationId xmlns:a16="http://schemas.microsoft.com/office/drawing/2014/main" id="{6B1EB070-D7D3-4F51-ACA7-5F7AC10B589C}"/>
              </a:ext>
            </a:extLst>
          </p:cNvPr>
          <p:cNvSpPr>
            <a:spLocks noChangeAspect="1" noEditPoints="1"/>
          </p:cNvSpPr>
          <p:nvPr/>
        </p:nvSpPr>
        <p:spPr bwMode="auto">
          <a:xfrm>
            <a:off x="1324134" y="2713359"/>
            <a:ext cx="305813" cy="467574"/>
          </a:xfrm>
          <a:custGeom>
            <a:avLst/>
            <a:gdLst>
              <a:gd name="T0" fmla="*/ 379 w 512"/>
              <a:gd name="T1" fmla="*/ 223 h 512"/>
              <a:gd name="T2" fmla="*/ 353 w 512"/>
              <a:gd name="T3" fmla="*/ 181 h 512"/>
              <a:gd name="T4" fmla="*/ 314 w 512"/>
              <a:gd name="T5" fmla="*/ 149 h 512"/>
              <a:gd name="T6" fmla="*/ 284 w 512"/>
              <a:gd name="T7" fmla="*/ 151 h 512"/>
              <a:gd name="T8" fmla="*/ 228 w 512"/>
              <a:gd name="T9" fmla="*/ 151 h 512"/>
              <a:gd name="T10" fmla="*/ 176 w 512"/>
              <a:gd name="T11" fmla="*/ 160 h 512"/>
              <a:gd name="T12" fmla="*/ 144 w 512"/>
              <a:gd name="T13" fmla="*/ 206 h 512"/>
              <a:gd name="T14" fmla="*/ 181 w 512"/>
              <a:gd name="T15" fmla="*/ 282 h 512"/>
              <a:gd name="T16" fmla="*/ 239 w 512"/>
              <a:gd name="T17" fmla="*/ 288 h 512"/>
              <a:gd name="T18" fmla="*/ 279 w 512"/>
              <a:gd name="T19" fmla="*/ 309 h 512"/>
              <a:gd name="T20" fmla="*/ 332 w 512"/>
              <a:gd name="T21" fmla="*/ 373 h 512"/>
              <a:gd name="T22" fmla="*/ 370 w 512"/>
              <a:gd name="T23" fmla="*/ 302 h 512"/>
              <a:gd name="T24" fmla="*/ 394 w 512"/>
              <a:gd name="T25" fmla="*/ 261 h 512"/>
              <a:gd name="T26" fmla="*/ 185 w 512"/>
              <a:gd name="T27" fmla="*/ 242 h 512"/>
              <a:gd name="T28" fmla="*/ 140 w 512"/>
              <a:gd name="T29" fmla="*/ 251 h 512"/>
              <a:gd name="T30" fmla="*/ 172 w 512"/>
              <a:gd name="T31" fmla="*/ 197 h 512"/>
              <a:gd name="T32" fmla="*/ 202 w 512"/>
              <a:gd name="T33" fmla="*/ 233 h 512"/>
              <a:gd name="T34" fmla="*/ 234 w 512"/>
              <a:gd name="T35" fmla="*/ 185 h 512"/>
              <a:gd name="T36" fmla="*/ 255 w 512"/>
              <a:gd name="T37" fmla="*/ 177 h 512"/>
              <a:gd name="T38" fmla="*/ 259 w 512"/>
              <a:gd name="T39" fmla="*/ 198 h 512"/>
              <a:gd name="T40" fmla="*/ 234 w 512"/>
              <a:gd name="T41" fmla="*/ 213 h 512"/>
              <a:gd name="T42" fmla="*/ 284 w 512"/>
              <a:gd name="T43" fmla="*/ 248 h 512"/>
              <a:gd name="T44" fmla="*/ 273 w 512"/>
              <a:gd name="T45" fmla="*/ 266 h 512"/>
              <a:gd name="T46" fmla="*/ 230 w 512"/>
              <a:gd name="T47" fmla="*/ 246 h 512"/>
              <a:gd name="T48" fmla="*/ 283 w 512"/>
              <a:gd name="T49" fmla="*/ 215 h 512"/>
              <a:gd name="T50" fmla="*/ 320 w 512"/>
              <a:gd name="T51" fmla="*/ 192 h 512"/>
              <a:gd name="T52" fmla="*/ 347 w 512"/>
              <a:gd name="T53" fmla="*/ 233 h 512"/>
              <a:gd name="T54" fmla="*/ 318 w 512"/>
              <a:gd name="T55" fmla="*/ 213 h 512"/>
              <a:gd name="T56" fmla="*/ 362 w 512"/>
              <a:gd name="T57" fmla="*/ 266 h 512"/>
              <a:gd name="T58" fmla="*/ 340 w 512"/>
              <a:gd name="T59" fmla="*/ 281 h 512"/>
              <a:gd name="T60" fmla="*/ 340 w 512"/>
              <a:gd name="T61" fmla="*/ 324 h 512"/>
              <a:gd name="T62" fmla="*/ 308 w 512"/>
              <a:gd name="T63" fmla="*/ 311 h 512"/>
              <a:gd name="T64" fmla="*/ 313 w 512"/>
              <a:gd name="T65" fmla="*/ 264 h 512"/>
              <a:gd name="T66" fmla="*/ 334 w 512"/>
              <a:gd name="T67" fmla="*/ 255 h 512"/>
              <a:gd name="T68" fmla="*/ 362 w 512"/>
              <a:gd name="T69" fmla="*/ 266 h 512"/>
              <a:gd name="T70" fmla="*/ 256 w 512"/>
              <a:gd name="T71" fmla="*/ 512 h 512"/>
              <a:gd name="T72" fmla="*/ 393 w 512"/>
              <a:gd name="T73" fmla="*/ 302 h 512"/>
              <a:gd name="T74" fmla="*/ 352 w 512"/>
              <a:gd name="T75" fmla="*/ 384 h 512"/>
              <a:gd name="T76" fmla="*/ 266 w 512"/>
              <a:gd name="T77" fmla="*/ 384 h 512"/>
              <a:gd name="T78" fmla="*/ 218 w 512"/>
              <a:gd name="T79" fmla="*/ 320 h 512"/>
              <a:gd name="T80" fmla="*/ 96 w 512"/>
              <a:gd name="T81" fmla="*/ 245 h 512"/>
              <a:gd name="T82" fmla="*/ 176 w 512"/>
              <a:gd name="T83" fmla="*/ 138 h 512"/>
              <a:gd name="T84" fmla="*/ 261 w 512"/>
              <a:gd name="T85" fmla="*/ 117 h 512"/>
              <a:gd name="T86" fmla="*/ 359 w 512"/>
              <a:gd name="T87" fmla="*/ 160 h 512"/>
              <a:gd name="T88" fmla="*/ 416 w 512"/>
              <a:gd name="T89" fmla="*/ 2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382" y="238"/>
                </a:moveTo>
                <a:cubicBezTo>
                  <a:pt x="379" y="237"/>
                  <a:pt x="377" y="234"/>
                  <a:pt x="377" y="231"/>
                </a:cubicBezTo>
                <a:cubicBezTo>
                  <a:pt x="376" y="229"/>
                  <a:pt x="377" y="226"/>
                  <a:pt x="379" y="223"/>
                </a:cubicBezTo>
                <a:cubicBezTo>
                  <a:pt x="382" y="219"/>
                  <a:pt x="384" y="213"/>
                  <a:pt x="384" y="208"/>
                </a:cubicBezTo>
                <a:cubicBezTo>
                  <a:pt x="384" y="193"/>
                  <a:pt x="372" y="181"/>
                  <a:pt x="357" y="181"/>
                </a:cubicBezTo>
                <a:cubicBezTo>
                  <a:pt x="356" y="181"/>
                  <a:pt x="354" y="181"/>
                  <a:pt x="353" y="181"/>
                </a:cubicBezTo>
                <a:cubicBezTo>
                  <a:pt x="350" y="182"/>
                  <a:pt x="347" y="181"/>
                  <a:pt x="345" y="179"/>
                </a:cubicBezTo>
                <a:cubicBezTo>
                  <a:pt x="342" y="178"/>
                  <a:pt x="341" y="175"/>
                  <a:pt x="341" y="172"/>
                </a:cubicBezTo>
                <a:cubicBezTo>
                  <a:pt x="339" y="159"/>
                  <a:pt x="328" y="149"/>
                  <a:pt x="314" y="149"/>
                </a:cubicBezTo>
                <a:cubicBezTo>
                  <a:pt x="309" y="149"/>
                  <a:pt x="303" y="151"/>
                  <a:pt x="299" y="154"/>
                </a:cubicBezTo>
                <a:cubicBezTo>
                  <a:pt x="296" y="156"/>
                  <a:pt x="293" y="156"/>
                  <a:pt x="291" y="156"/>
                </a:cubicBezTo>
                <a:cubicBezTo>
                  <a:pt x="288" y="155"/>
                  <a:pt x="285" y="154"/>
                  <a:pt x="284" y="151"/>
                </a:cubicBezTo>
                <a:cubicBezTo>
                  <a:pt x="279" y="143"/>
                  <a:pt x="270" y="138"/>
                  <a:pt x="261" y="138"/>
                </a:cubicBezTo>
                <a:cubicBezTo>
                  <a:pt x="253" y="138"/>
                  <a:pt x="246" y="142"/>
                  <a:pt x="241" y="148"/>
                </a:cubicBezTo>
                <a:cubicBezTo>
                  <a:pt x="238" y="152"/>
                  <a:pt x="233" y="153"/>
                  <a:pt x="228" y="151"/>
                </a:cubicBezTo>
                <a:cubicBezTo>
                  <a:pt x="218" y="147"/>
                  <a:pt x="205" y="150"/>
                  <a:pt x="198" y="159"/>
                </a:cubicBezTo>
                <a:cubicBezTo>
                  <a:pt x="195" y="162"/>
                  <a:pt x="190" y="163"/>
                  <a:pt x="186" y="162"/>
                </a:cubicBezTo>
                <a:cubicBezTo>
                  <a:pt x="183" y="160"/>
                  <a:pt x="179" y="160"/>
                  <a:pt x="176" y="160"/>
                </a:cubicBezTo>
                <a:cubicBezTo>
                  <a:pt x="161" y="160"/>
                  <a:pt x="149" y="172"/>
                  <a:pt x="149" y="186"/>
                </a:cubicBezTo>
                <a:cubicBezTo>
                  <a:pt x="149" y="188"/>
                  <a:pt x="149" y="190"/>
                  <a:pt x="150" y="193"/>
                </a:cubicBezTo>
                <a:cubicBezTo>
                  <a:pt x="151" y="198"/>
                  <a:pt x="149" y="203"/>
                  <a:pt x="144" y="206"/>
                </a:cubicBezTo>
                <a:cubicBezTo>
                  <a:pt x="127" y="212"/>
                  <a:pt x="117" y="228"/>
                  <a:pt x="117" y="245"/>
                </a:cubicBezTo>
                <a:cubicBezTo>
                  <a:pt x="117" y="269"/>
                  <a:pt x="136" y="288"/>
                  <a:pt x="160" y="288"/>
                </a:cubicBezTo>
                <a:cubicBezTo>
                  <a:pt x="167" y="288"/>
                  <a:pt x="174" y="286"/>
                  <a:pt x="181" y="282"/>
                </a:cubicBezTo>
                <a:cubicBezTo>
                  <a:pt x="186" y="279"/>
                  <a:pt x="193" y="280"/>
                  <a:pt x="196" y="285"/>
                </a:cubicBezTo>
                <a:cubicBezTo>
                  <a:pt x="201" y="293"/>
                  <a:pt x="209" y="298"/>
                  <a:pt x="218" y="298"/>
                </a:cubicBezTo>
                <a:cubicBezTo>
                  <a:pt x="226" y="298"/>
                  <a:pt x="234" y="295"/>
                  <a:pt x="239" y="288"/>
                </a:cubicBezTo>
                <a:cubicBezTo>
                  <a:pt x="241" y="285"/>
                  <a:pt x="245" y="284"/>
                  <a:pt x="249" y="284"/>
                </a:cubicBezTo>
                <a:cubicBezTo>
                  <a:pt x="253" y="285"/>
                  <a:pt x="256" y="288"/>
                  <a:pt x="257" y="291"/>
                </a:cubicBezTo>
                <a:cubicBezTo>
                  <a:pt x="261" y="301"/>
                  <a:pt x="269" y="307"/>
                  <a:pt x="279" y="309"/>
                </a:cubicBezTo>
                <a:cubicBezTo>
                  <a:pt x="284" y="309"/>
                  <a:pt x="288" y="314"/>
                  <a:pt x="288" y="319"/>
                </a:cubicBezTo>
                <a:cubicBezTo>
                  <a:pt x="288" y="373"/>
                  <a:pt x="288" y="373"/>
                  <a:pt x="288" y="373"/>
                </a:cubicBezTo>
                <a:cubicBezTo>
                  <a:pt x="332" y="373"/>
                  <a:pt x="332" y="373"/>
                  <a:pt x="332" y="373"/>
                </a:cubicBezTo>
                <a:cubicBezTo>
                  <a:pt x="334" y="363"/>
                  <a:pt x="339" y="349"/>
                  <a:pt x="353" y="340"/>
                </a:cubicBezTo>
                <a:cubicBezTo>
                  <a:pt x="370" y="330"/>
                  <a:pt x="373" y="322"/>
                  <a:pt x="373" y="315"/>
                </a:cubicBezTo>
                <a:cubicBezTo>
                  <a:pt x="373" y="310"/>
                  <a:pt x="372" y="306"/>
                  <a:pt x="370" y="302"/>
                </a:cubicBezTo>
                <a:cubicBezTo>
                  <a:pt x="368" y="299"/>
                  <a:pt x="368" y="295"/>
                  <a:pt x="369" y="292"/>
                </a:cubicBezTo>
                <a:cubicBezTo>
                  <a:pt x="370" y="290"/>
                  <a:pt x="373" y="287"/>
                  <a:pt x="376" y="286"/>
                </a:cubicBezTo>
                <a:cubicBezTo>
                  <a:pt x="387" y="283"/>
                  <a:pt x="394" y="273"/>
                  <a:pt x="394" y="261"/>
                </a:cubicBezTo>
                <a:cubicBezTo>
                  <a:pt x="394" y="252"/>
                  <a:pt x="390" y="243"/>
                  <a:pt x="382" y="238"/>
                </a:cubicBezTo>
                <a:close/>
                <a:moveTo>
                  <a:pt x="196" y="244"/>
                </a:moveTo>
                <a:cubicBezTo>
                  <a:pt x="193" y="246"/>
                  <a:pt x="188" y="245"/>
                  <a:pt x="185" y="242"/>
                </a:cubicBezTo>
                <a:cubicBezTo>
                  <a:pt x="182" y="240"/>
                  <a:pt x="168" y="245"/>
                  <a:pt x="155" y="254"/>
                </a:cubicBezTo>
                <a:cubicBezTo>
                  <a:pt x="153" y="255"/>
                  <a:pt x="151" y="256"/>
                  <a:pt x="149" y="256"/>
                </a:cubicBezTo>
                <a:cubicBezTo>
                  <a:pt x="146" y="256"/>
                  <a:pt x="142" y="254"/>
                  <a:pt x="140" y="251"/>
                </a:cubicBezTo>
                <a:cubicBezTo>
                  <a:pt x="137" y="247"/>
                  <a:pt x="138" y="240"/>
                  <a:pt x="143" y="236"/>
                </a:cubicBezTo>
                <a:cubicBezTo>
                  <a:pt x="147" y="233"/>
                  <a:pt x="163" y="222"/>
                  <a:pt x="179" y="221"/>
                </a:cubicBezTo>
                <a:cubicBezTo>
                  <a:pt x="177" y="212"/>
                  <a:pt x="175" y="203"/>
                  <a:pt x="172" y="197"/>
                </a:cubicBezTo>
                <a:cubicBezTo>
                  <a:pt x="169" y="192"/>
                  <a:pt x="171" y="185"/>
                  <a:pt x="176" y="182"/>
                </a:cubicBezTo>
                <a:cubicBezTo>
                  <a:pt x="181" y="179"/>
                  <a:pt x="188" y="181"/>
                  <a:pt x="190" y="187"/>
                </a:cubicBezTo>
                <a:cubicBezTo>
                  <a:pt x="199" y="203"/>
                  <a:pt x="202" y="230"/>
                  <a:pt x="202" y="233"/>
                </a:cubicBezTo>
                <a:cubicBezTo>
                  <a:pt x="203" y="238"/>
                  <a:pt x="200" y="242"/>
                  <a:pt x="196" y="244"/>
                </a:cubicBezTo>
                <a:close/>
                <a:moveTo>
                  <a:pt x="223" y="197"/>
                </a:moveTo>
                <a:cubicBezTo>
                  <a:pt x="224" y="195"/>
                  <a:pt x="225" y="191"/>
                  <a:pt x="234" y="185"/>
                </a:cubicBezTo>
                <a:cubicBezTo>
                  <a:pt x="233" y="182"/>
                  <a:pt x="234" y="178"/>
                  <a:pt x="236" y="176"/>
                </a:cubicBezTo>
                <a:cubicBezTo>
                  <a:pt x="239" y="171"/>
                  <a:pt x="245" y="169"/>
                  <a:pt x="250" y="172"/>
                </a:cubicBezTo>
                <a:cubicBezTo>
                  <a:pt x="253" y="173"/>
                  <a:pt x="254" y="175"/>
                  <a:pt x="255" y="177"/>
                </a:cubicBezTo>
                <a:cubicBezTo>
                  <a:pt x="255" y="177"/>
                  <a:pt x="256" y="177"/>
                  <a:pt x="257" y="177"/>
                </a:cubicBezTo>
                <a:cubicBezTo>
                  <a:pt x="262" y="178"/>
                  <a:pt x="266" y="182"/>
                  <a:pt x="266" y="187"/>
                </a:cubicBezTo>
                <a:cubicBezTo>
                  <a:pt x="267" y="192"/>
                  <a:pt x="264" y="197"/>
                  <a:pt x="259" y="198"/>
                </a:cubicBezTo>
                <a:cubicBezTo>
                  <a:pt x="254" y="200"/>
                  <a:pt x="248" y="202"/>
                  <a:pt x="245" y="204"/>
                </a:cubicBezTo>
                <a:cubicBezTo>
                  <a:pt x="245" y="206"/>
                  <a:pt x="244" y="208"/>
                  <a:pt x="242" y="210"/>
                </a:cubicBezTo>
                <a:cubicBezTo>
                  <a:pt x="240" y="212"/>
                  <a:pt x="237" y="213"/>
                  <a:pt x="234" y="213"/>
                </a:cubicBezTo>
                <a:cubicBezTo>
                  <a:pt x="232" y="213"/>
                  <a:pt x="229" y="212"/>
                  <a:pt x="227" y="210"/>
                </a:cubicBezTo>
                <a:cubicBezTo>
                  <a:pt x="223" y="207"/>
                  <a:pt x="222" y="202"/>
                  <a:pt x="223" y="197"/>
                </a:cubicBezTo>
                <a:close/>
                <a:moveTo>
                  <a:pt x="284" y="248"/>
                </a:moveTo>
                <a:cubicBezTo>
                  <a:pt x="288" y="251"/>
                  <a:pt x="289" y="257"/>
                  <a:pt x="286" y="261"/>
                </a:cubicBezTo>
                <a:cubicBezTo>
                  <a:pt x="284" y="265"/>
                  <a:pt x="281" y="266"/>
                  <a:pt x="277" y="266"/>
                </a:cubicBezTo>
                <a:cubicBezTo>
                  <a:pt x="276" y="266"/>
                  <a:pt x="274" y="266"/>
                  <a:pt x="273" y="266"/>
                </a:cubicBezTo>
                <a:cubicBezTo>
                  <a:pt x="255" y="258"/>
                  <a:pt x="239" y="265"/>
                  <a:pt x="239" y="265"/>
                </a:cubicBezTo>
                <a:cubicBezTo>
                  <a:pt x="233" y="268"/>
                  <a:pt x="227" y="265"/>
                  <a:pt x="225" y="260"/>
                </a:cubicBezTo>
                <a:cubicBezTo>
                  <a:pt x="222" y="255"/>
                  <a:pt x="224" y="249"/>
                  <a:pt x="230" y="246"/>
                </a:cubicBezTo>
                <a:cubicBezTo>
                  <a:pt x="230" y="246"/>
                  <a:pt x="243" y="240"/>
                  <a:pt x="260" y="241"/>
                </a:cubicBezTo>
                <a:cubicBezTo>
                  <a:pt x="260" y="234"/>
                  <a:pt x="262" y="226"/>
                  <a:pt x="268" y="217"/>
                </a:cubicBezTo>
                <a:cubicBezTo>
                  <a:pt x="272" y="213"/>
                  <a:pt x="279" y="212"/>
                  <a:pt x="283" y="215"/>
                </a:cubicBezTo>
                <a:cubicBezTo>
                  <a:pt x="288" y="219"/>
                  <a:pt x="289" y="225"/>
                  <a:pt x="286" y="230"/>
                </a:cubicBezTo>
                <a:cubicBezTo>
                  <a:pt x="277" y="241"/>
                  <a:pt x="283" y="247"/>
                  <a:pt x="284" y="248"/>
                </a:cubicBezTo>
                <a:close/>
                <a:moveTo>
                  <a:pt x="320" y="192"/>
                </a:moveTo>
                <a:cubicBezTo>
                  <a:pt x="320" y="192"/>
                  <a:pt x="320" y="192"/>
                  <a:pt x="320" y="192"/>
                </a:cubicBezTo>
                <a:cubicBezTo>
                  <a:pt x="325" y="192"/>
                  <a:pt x="336" y="195"/>
                  <a:pt x="350" y="218"/>
                </a:cubicBezTo>
                <a:cubicBezTo>
                  <a:pt x="353" y="223"/>
                  <a:pt x="352" y="230"/>
                  <a:pt x="347" y="233"/>
                </a:cubicBezTo>
                <a:cubicBezTo>
                  <a:pt x="345" y="234"/>
                  <a:pt x="343" y="234"/>
                  <a:pt x="341" y="234"/>
                </a:cubicBezTo>
                <a:cubicBezTo>
                  <a:pt x="337" y="234"/>
                  <a:pt x="334" y="233"/>
                  <a:pt x="332" y="229"/>
                </a:cubicBezTo>
                <a:cubicBezTo>
                  <a:pt x="324" y="217"/>
                  <a:pt x="319" y="213"/>
                  <a:pt x="318" y="213"/>
                </a:cubicBezTo>
                <a:cubicBezTo>
                  <a:pt x="313" y="212"/>
                  <a:pt x="309" y="208"/>
                  <a:pt x="309" y="202"/>
                </a:cubicBezTo>
                <a:cubicBezTo>
                  <a:pt x="309" y="196"/>
                  <a:pt x="314" y="192"/>
                  <a:pt x="320" y="192"/>
                </a:cubicBezTo>
                <a:close/>
                <a:moveTo>
                  <a:pt x="362" y="266"/>
                </a:moveTo>
                <a:cubicBezTo>
                  <a:pt x="346" y="266"/>
                  <a:pt x="341" y="279"/>
                  <a:pt x="340" y="280"/>
                </a:cubicBezTo>
                <a:cubicBezTo>
                  <a:pt x="340" y="280"/>
                  <a:pt x="340" y="281"/>
                  <a:pt x="340" y="281"/>
                </a:cubicBezTo>
                <a:cubicBezTo>
                  <a:pt x="340" y="281"/>
                  <a:pt x="340" y="281"/>
                  <a:pt x="340" y="281"/>
                </a:cubicBezTo>
                <a:cubicBezTo>
                  <a:pt x="340" y="282"/>
                  <a:pt x="335" y="294"/>
                  <a:pt x="329" y="304"/>
                </a:cubicBezTo>
                <a:cubicBezTo>
                  <a:pt x="329" y="306"/>
                  <a:pt x="332" y="309"/>
                  <a:pt x="335" y="310"/>
                </a:cubicBezTo>
                <a:cubicBezTo>
                  <a:pt x="340" y="313"/>
                  <a:pt x="342" y="319"/>
                  <a:pt x="340" y="324"/>
                </a:cubicBezTo>
                <a:cubicBezTo>
                  <a:pt x="338" y="328"/>
                  <a:pt x="334" y="330"/>
                  <a:pt x="330" y="330"/>
                </a:cubicBezTo>
                <a:cubicBezTo>
                  <a:pt x="329" y="330"/>
                  <a:pt x="327" y="330"/>
                  <a:pt x="326" y="329"/>
                </a:cubicBezTo>
                <a:cubicBezTo>
                  <a:pt x="323" y="328"/>
                  <a:pt x="311" y="322"/>
                  <a:pt x="308" y="311"/>
                </a:cubicBezTo>
                <a:cubicBezTo>
                  <a:pt x="306" y="305"/>
                  <a:pt x="307" y="298"/>
                  <a:pt x="311" y="293"/>
                </a:cubicBezTo>
                <a:cubicBezTo>
                  <a:pt x="315" y="286"/>
                  <a:pt x="319" y="277"/>
                  <a:pt x="320" y="274"/>
                </a:cubicBezTo>
                <a:cubicBezTo>
                  <a:pt x="320" y="272"/>
                  <a:pt x="317" y="267"/>
                  <a:pt x="313" y="264"/>
                </a:cubicBezTo>
                <a:cubicBezTo>
                  <a:pt x="308" y="261"/>
                  <a:pt x="308" y="254"/>
                  <a:pt x="311" y="249"/>
                </a:cubicBezTo>
                <a:cubicBezTo>
                  <a:pt x="315" y="244"/>
                  <a:pt x="321" y="244"/>
                  <a:pt x="326" y="247"/>
                </a:cubicBezTo>
                <a:cubicBezTo>
                  <a:pt x="327" y="248"/>
                  <a:pt x="330" y="250"/>
                  <a:pt x="334" y="255"/>
                </a:cubicBezTo>
                <a:cubicBezTo>
                  <a:pt x="341" y="249"/>
                  <a:pt x="350" y="245"/>
                  <a:pt x="363" y="245"/>
                </a:cubicBezTo>
                <a:cubicBezTo>
                  <a:pt x="369" y="245"/>
                  <a:pt x="373" y="250"/>
                  <a:pt x="373" y="256"/>
                </a:cubicBezTo>
                <a:cubicBezTo>
                  <a:pt x="373" y="262"/>
                  <a:pt x="368" y="266"/>
                  <a:pt x="362" y="26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3" y="302"/>
                </a:moveTo>
                <a:cubicBezTo>
                  <a:pt x="394" y="306"/>
                  <a:pt x="394" y="310"/>
                  <a:pt x="394" y="314"/>
                </a:cubicBezTo>
                <a:cubicBezTo>
                  <a:pt x="395" y="336"/>
                  <a:pt x="379" y="349"/>
                  <a:pt x="365" y="358"/>
                </a:cubicBezTo>
                <a:cubicBezTo>
                  <a:pt x="352" y="366"/>
                  <a:pt x="352" y="384"/>
                  <a:pt x="352" y="384"/>
                </a:cubicBezTo>
                <a:cubicBezTo>
                  <a:pt x="352" y="390"/>
                  <a:pt x="347" y="394"/>
                  <a:pt x="341" y="394"/>
                </a:cubicBezTo>
                <a:cubicBezTo>
                  <a:pt x="277" y="394"/>
                  <a:pt x="277" y="394"/>
                  <a:pt x="277" y="394"/>
                </a:cubicBezTo>
                <a:cubicBezTo>
                  <a:pt x="271" y="394"/>
                  <a:pt x="266" y="390"/>
                  <a:pt x="266" y="384"/>
                </a:cubicBezTo>
                <a:cubicBezTo>
                  <a:pt x="266" y="328"/>
                  <a:pt x="266" y="328"/>
                  <a:pt x="266" y="328"/>
                </a:cubicBezTo>
                <a:cubicBezTo>
                  <a:pt x="258" y="324"/>
                  <a:pt x="250" y="319"/>
                  <a:pt x="245" y="312"/>
                </a:cubicBezTo>
                <a:cubicBezTo>
                  <a:pt x="237" y="317"/>
                  <a:pt x="228" y="320"/>
                  <a:pt x="218" y="320"/>
                </a:cubicBezTo>
                <a:cubicBezTo>
                  <a:pt x="205" y="320"/>
                  <a:pt x="192" y="314"/>
                  <a:pt x="183" y="304"/>
                </a:cubicBezTo>
                <a:cubicBezTo>
                  <a:pt x="176" y="307"/>
                  <a:pt x="168" y="309"/>
                  <a:pt x="160" y="309"/>
                </a:cubicBezTo>
                <a:cubicBezTo>
                  <a:pt x="124" y="309"/>
                  <a:pt x="96" y="280"/>
                  <a:pt x="96" y="245"/>
                </a:cubicBezTo>
                <a:cubicBezTo>
                  <a:pt x="96" y="222"/>
                  <a:pt x="108" y="201"/>
                  <a:pt x="128" y="190"/>
                </a:cubicBezTo>
                <a:cubicBezTo>
                  <a:pt x="128" y="188"/>
                  <a:pt x="128" y="187"/>
                  <a:pt x="128" y="186"/>
                </a:cubicBezTo>
                <a:cubicBezTo>
                  <a:pt x="128" y="160"/>
                  <a:pt x="149" y="138"/>
                  <a:pt x="176" y="138"/>
                </a:cubicBezTo>
                <a:cubicBezTo>
                  <a:pt x="179" y="138"/>
                  <a:pt x="183" y="139"/>
                  <a:pt x="187" y="140"/>
                </a:cubicBezTo>
                <a:cubicBezTo>
                  <a:pt x="198" y="129"/>
                  <a:pt x="215" y="125"/>
                  <a:pt x="229" y="129"/>
                </a:cubicBezTo>
                <a:cubicBezTo>
                  <a:pt x="238" y="121"/>
                  <a:pt x="249" y="117"/>
                  <a:pt x="261" y="117"/>
                </a:cubicBezTo>
                <a:cubicBezTo>
                  <a:pt x="274" y="117"/>
                  <a:pt x="286" y="122"/>
                  <a:pt x="295" y="132"/>
                </a:cubicBezTo>
                <a:cubicBezTo>
                  <a:pt x="301" y="129"/>
                  <a:pt x="308" y="128"/>
                  <a:pt x="314" y="128"/>
                </a:cubicBezTo>
                <a:cubicBezTo>
                  <a:pt x="335" y="128"/>
                  <a:pt x="353" y="141"/>
                  <a:pt x="359" y="160"/>
                </a:cubicBezTo>
                <a:cubicBezTo>
                  <a:pt x="385" y="161"/>
                  <a:pt x="405" y="182"/>
                  <a:pt x="405" y="208"/>
                </a:cubicBezTo>
                <a:cubicBezTo>
                  <a:pt x="405" y="214"/>
                  <a:pt x="404" y="221"/>
                  <a:pt x="401" y="227"/>
                </a:cubicBezTo>
                <a:cubicBezTo>
                  <a:pt x="410" y="236"/>
                  <a:pt x="416" y="248"/>
                  <a:pt x="416" y="261"/>
                </a:cubicBezTo>
                <a:cubicBezTo>
                  <a:pt x="416" y="278"/>
                  <a:pt x="407" y="293"/>
                  <a:pt x="393" y="302"/>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sz="1100" dirty="0"/>
          </a:p>
        </p:txBody>
      </p:sp>
      <p:sp>
        <p:nvSpPr>
          <p:cNvPr id="45" name="Freeform 189">
            <a:extLst>
              <a:ext uri="{FF2B5EF4-FFF2-40B4-BE49-F238E27FC236}">
                <a16:creationId xmlns:a16="http://schemas.microsoft.com/office/drawing/2014/main" id="{BA8E1959-EDD9-43CB-8680-AA9A15F06F1E}"/>
              </a:ext>
            </a:extLst>
          </p:cNvPr>
          <p:cNvSpPr>
            <a:spLocks noChangeAspect="1" noEditPoints="1"/>
          </p:cNvSpPr>
          <p:nvPr/>
        </p:nvSpPr>
        <p:spPr bwMode="auto">
          <a:xfrm>
            <a:off x="3131270" y="2713957"/>
            <a:ext cx="305032" cy="466379"/>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sz="1100" dirty="0"/>
          </a:p>
        </p:txBody>
      </p:sp>
      <p:sp>
        <p:nvSpPr>
          <p:cNvPr id="46" name="Freeform 774">
            <a:extLst>
              <a:ext uri="{FF2B5EF4-FFF2-40B4-BE49-F238E27FC236}">
                <a16:creationId xmlns:a16="http://schemas.microsoft.com/office/drawing/2014/main" id="{94F890A6-8781-4AED-BB0B-1763E2A2E495}"/>
              </a:ext>
            </a:extLst>
          </p:cNvPr>
          <p:cNvSpPr>
            <a:spLocks noChangeAspect="1" noEditPoints="1"/>
          </p:cNvSpPr>
          <p:nvPr/>
        </p:nvSpPr>
        <p:spPr bwMode="auto">
          <a:xfrm>
            <a:off x="6900237" y="2712699"/>
            <a:ext cx="306677" cy="468895"/>
          </a:xfrm>
          <a:custGeom>
            <a:avLst/>
            <a:gdLst>
              <a:gd name="T0" fmla="*/ 216 w 512"/>
              <a:gd name="T1" fmla="*/ 171 h 512"/>
              <a:gd name="T2" fmla="*/ 320 w 512"/>
              <a:gd name="T3" fmla="*/ 275 h 512"/>
              <a:gd name="T4" fmla="*/ 223 w 512"/>
              <a:gd name="T5" fmla="*/ 268 h 512"/>
              <a:gd name="T6" fmla="*/ 216 w 512"/>
              <a:gd name="T7" fmla="*/ 171 h 512"/>
              <a:gd name="T8" fmla="*/ 197 w 512"/>
              <a:gd name="T9" fmla="*/ 395 h 512"/>
              <a:gd name="T10" fmla="*/ 251 w 512"/>
              <a:gd name="T11" fmla="*/ 395 h 512"/>
              <a:gd name="T12" fmla="*/ 224 w 512"/>
              <a:gd name="T13" fmla="*/ 320 h 512"/>
              <a:gd name="T14" fmla="*/ 197 w 512"/>
              <a:gd name="T15" fmla="*/ 395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47 w 512"/>
              <a:gd name="T27" fmla="*/ 276 h 512"/>
              <a:gd name="T28" fmla="*/ 343 w 512"/>
              <a:gd name="T29" fmla="*/ 268 h 512"/>
              <a:gd name="T30" fmla="*/ 291 w 512"/>
              <a:gd name="T31" fmla="*/ 215 h 512"/>
              <a:gd name="T32" fmla="*/ 296 w 512"/>
              <a:gd name="T33" fmla="*/ 211 h 512"/>
              <a:gd name="T34" fmla="*/ 296 w 512"/>
              <a:gd name="T35" fmla="*/ 195 h 512"/>
              <a:gd name="T36" fmla="*/ 280 w 512"/>
              <a:gd name="T37" fmla="*/ 195 h 512"/>
              <a:gd name="T38" fmla="*/ 276 w 512"/>
              <a:gd name="T39" fmla="*/ 200 h 512"/>
              <a:gd name="T40" fmla="*/ 223 w 512"/>
              <a:gd name="T41" fmla="*/ 148 h 512"/>
              <a:gd name="T42" fmla="*/ 208 w 512"/>
              <a:gd name="T43" fmla="*/ 148 h 512"/>
              <a:gd name="T44" fmla="*/ 208 w 512"/>
              <a:gd name="T45" fmla="*/ 283 h 512"/>
              <a:gd name="T46" fmla="*/ 213 w 512"/>
              <a:gd name="T47" fmla="*/ 288 h 512"/>
              <a:gd name="T48" fmla="*/ 174 w 512"/>
              <a:gd name="T49" fmla="*/ 395 h 512"/>
              <a:gd name="T50" fmla="*/ 160 w 512"/>
              <a:gd name="T51" fmla="*/ 395 h 512"/>
              <a:gd name="T52" fmla="*/ 149 w 512"/>
              <a:gd name="T53" fmla="*/ 406 h 512"/>
              <a:gd name="T54" fmla="*/ 160 w 512"/>
              <a:gd name="T55" fmla="*/ 416 h 512"/>
              <a:gd name="T56" fmla="*/ 288 w 512"/>
              <a:gd name="T57" fmla="*/ 416 h 512"/>
              <a:gd name="T58" fmla="*/ 299 w 512"/>
              <a:gd name="T59" fmla="*/ 406 h 512"/>
              <a:gd name="T60" fmla="*/ 288 w 512"/>
              <a:gd name="T61" fmla="*/ 395 h 512"/>
              <a:gd name="T62" fmla="*/ 274 w 512"/>
              <a:gd name="T63" fmla="*/ 395 h 512"/>
              <a:gd name="T64" fmla="*/ 241 w 512"/>
              <a:gd name="T65" fmla="*/ 305 h 512"/>
              <a:gd name="T66" fmla="*/ 276 w 512"/>
              <a:gd name="T67" fmla="*/ 311 h 512"/>
              <a:gd name="T68" fmla="*/ 343 w 512"/>
              <a:gd name="T69" fmla="*/ 283 h 512"/>
              <a:gd name="T70" fmla="*/ 347 w 512"/>
              <a:gd name="T71" fmla="*/ 276 h 512"/>
              <a:gd name="T72" fmla="*/ 288 w 512"/>
              <a:gd name="T73" fmla="*/ 182 h 512"/>
              <a:gd name="T74" fmla="*/ 309 w 512"/>
              <a:gd name="T75" fmla="*/ 203 h 512"/>
              <a:gd name="T76" fmla="*/ 320 w 512"/>
              <a:gd name="T77" fmla="*/ 214 h 512"/>
              <a:gd name="T78" fmla="*/ 331 w 512"/>
              <a:gd name="T79" fmla="*/ 203 h 512"/>
              <a:gd name="T80" fmla="*/ 288 w 512"/>
              <a:gd name="T81" fmla="*/ 160 h 512"/>
              <a:gd name="T82" fmla="*/ 277 w 512"/>
              <a:gd name="T83" fmla="*/ 171 h 512"/>
              <a:gd name="T84" fmla="*/ 288 w 512"/>
              <a:gd name="T85" fmla="*/ 182 h 512"/>
              <a:gd name="T86" fmla="*/ 373 w 512"/>
              <a:gd name="T87" fmla="*/ 203 h 512"/>
              <a:gd name="T88" fmla="*/ 288 w 512"/>
              <a:gd name="T89" fmla="*/ 118 h 512"/>
              <a:gd name="T90" fmla="*/ 277 w 512"/>
              <a:gd name="T91" fmla="*/ 128 h 512"/>
              <a:gd name="T92" fmla="*/ 288 w 512"/>
              <a:gd name="T93" fmla="*/ 139 h 512"/>
              <a:gd name="T94" fmla="*/ 352 w 512"/>
              <a:gd name="T95" fmla="*/ 203 h 512"/>
              <a:gd name="T96" fmla="*/ 363 w 512"/>
              <a:gd name="T97" fmla="*/ 214 h 512"/>
              <a:gd name="T98" fmla="*/ 373 w 512"/>
              <a:gd name="T99" fmla="*/ 20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2" h="512">
                <a:moveTo>
                  <a:pt x="216" y="171"/>
                </a:moveTo>
                <a:cubicBezTo>
                  <a:pt x="320" y="275"/>
                  <a:pt x="320" y="275"/>
                  <a:pt x="320" y="275"/>
                </a:cubicBezTo>
                <a:cubicBezTo>
                  <a:pt x="291" y="297"/>
                  <a:pt x="249" y="295"/>
                  <a:pt x="223" y="268"/>
                </a:cubicBezTo>
                <a:cubicBezTo>
                  <a:pt x="196" y="242"/>
                  <a:pt x="194" y="200"/>
                  <a:pt x="216" y="171"/>
                </a:cubicBezTo>
                <a:close/>
                <a:moveTo>
                  <a:pt x="197" y="395"/>
                </a:moveTo>
                <a:cubicBezTo>
                  <a:pt x="251" y="395"/>
                  <a:pt x="251" y="395"/>
                  <a:pt x="251" y="395"/>
                </a:cubicBezTo>
                <a:cubicBezTo>
                  <a:pt x="224" y="320"/>
                  <a:pt x="224" y="320"/>
                  <a:pt x="224" y="320"/>
                </a:cubicBezTo>
                <a:lnTo>
                  <a:pt x="197" y="395"/>
                </a:ln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47" y="276"/>
                </a:moveTo>
                <a:cubicBezTo>
                  <a:pt x="347" y="273"/>
                  <a:pt x="345" y="270"/>
                  <a:pt x="343" y="268"/>
                </a:cubicBezTo>
                <a:cubicBezTo>
                  <a:pt x="291" y="215"/>
                  <a:pt x="291" y="215"/>
                  <a:pt x="291" y="215"/>
                </a:cubicBezTo>
                <a:cubicBezTo>
                  <a:pt x="296" y="211"/>
                  <a:pt x="296" y="211"/>
                  <a:pt x="296" y="211"/>
                </a:cubicBezTo>
                <a:cubicBezTo>
                  <a:pt x="300" y="206"/>
                  <a:pt x="300" y="200"/>
                  <a:pt x="296" y="195"/>
                </a:cubicBezTo>
                <a:cubicBezTo>
                  <a:pt x="291" y="191"/>
                  <a:pt x="285" y="191"/>
                  <a:pt x="280" y="195"/>
                </a:cubicBezTo>
                <a:cubicBezTo>
                  <a:pt x="276" y="200"/>
                  <a:pt x="276" y="200"/>
                  <a:pt x="276" y="200"/>
                </a:cubicBezTo>
                <a:cubicBezTo>
                  <a:pt x="223" y="148"/>
                  <a:pt x="223" y="148"/>
                  <a:pt x="223" y="148"/>
                </a:cubicBezTo>
                <a:cubicBezTo>
                  <a:pt x="219" y="143"/>
                  <a:pt x="212" y="143"/>
                  <a:pt x="208" y="148"/>
                </a:cubicBezTo>
                <a:cubicBezTo>
                  <a:pt x="170" y="185"/>
                  <a:pt x="170" y="246"/>
                  <a:pt x="208" y="283"/>
                </a:cubicBezTo>
                <a:cubicBezTo>
                  <a:pt x="209" y="285"/>
                  <a:pt x="211" y="287"/>
                  <a:pt x="213" y="288"/>
                </a:cubicBezTo>
                <a:cubicBezTo>
                  <a:pt x="174" y="395"/>
                  <a:pt x="174" y="395"/>
                  <a:pt x="174" y="395"/>
                </a:cubicBezTo>
                <a:cubicBezTo>
                  <a:pt x="160" y="395"/>
                  <a:pt x="160" y="395"/>
                  <a:pt x="160" y="395"/>
                </a:cubicBezTo>
                <a:cubicBezTo>
                  <a:pt x="154" y="395"/>
                  <a:pt x="149" y="400"/>
                  <a:pt x="149" y="406"/>
                </a:cubicBezTo>
                <a:cubicBezTo>
                  <a:pt x="149" y="412"/>
                  <a:pt x="154" y="416"/>
                  <a:pt x="160" y="416"/>
                </a:cubicBezTo>
                <a:cubicBezTo>
                  <a:pt x="288" y="416"/>
                  <a:pt x="288" y="416"/>
                  <a:pt x="288" y="416"/>
                </a:cubicBezTo>
                <a:cubicBezTo>
                  <a:pt x="294" y="416"/>
                  <a:pt x="299" y="412"/>
                  <a:pt x="299" y="406"/>
                </a:cubicBezTo>
                <a:cubicBezTo>
                  <a:pt x="299" y="400"/>
                  <a:pt x="294" y="395"/>
                  <a:pt x="288" y="395"/>
                </a:cubicBezTo>
                <a:cubicBezTo>
                  <a:pt x="274" y="395"/>
                  <a:pt x="274" y="395"/>
                  <a:pt x="274" y="395"/>
                </a:cubicBezTo>
                <a:cubicBezTo>
                  <a:pt x="241" y="305"/>
                  <a:pt x="241" y="305"/>
                  <a:pt x="241" y="305"/>
                </a:cubicBezTo>
                <a:cubicBezTo>
                  <a:pt x="252" y="309"/>
                  <a:pt x="264" y="311"/>
                  <a:pt x="276" y="311"/>
                </a:cubicBezTo>
                <a:cubicBezTo>
                  <a:pt x="300" y="311"/>
                  <a:pt x="325" y="302"/>
                  <a:pt x="343" y="283"/>
                </a:cubicBezTo>
                <a:cubicBezTo>
                  <a:pt x="345" y="281"/>
                  <a:pt x="347" y="279"/>
                  <a:pt x="347" y="276"/>
                </a:cubicBezTo>
                <a:close/>
                <a:moveTo>
                  <a:pt x="288" y="182"/>
                </a:moveTo>
                <a:cubicBezTo>
                  <a:pt x="300" y="182"/>
                  <a:pt x="309" y="191"/>
                  <a:pt x="309" y="203"/>
                </a:cubicBezTo>
                <a:cubicBezTo>
                  <a:pt x="309" y="209"/>
                  <a:pt x="314" y="214"/>
                  <a:pt x="320" y="214"/>
                </a:cubicBezTo>
                <a:cubicBezTo>
                  <a:pt x="326" y="214"/>
                  <a:pt x="331" y="209"/>
                  <a:pt x="331" y="203"/>
                </a:cubicBezTo>
                <a:cubicBezTo>
                  <a:pt x="331" y="179"/>
                  <a:pt x="312" y="160"/>
                  <a:pt x="288" y="160"/>
                </a:cubicBezTo>
                <a:cubicBezTo>
                  <a:pt x="282" y="160"/>
                  <a:pt x="277" y="165"/>
                  <a:pt x="277" y="171"/>
                </a:cubicBezTo>
                <a:cubicBezTo>
                  <a:pt x="277" y="177"/>
                  <a:pt x="282" y="182"/>
                  <a:pt x="288" y="182"/>
                </a:cubicBezTo>
                <a:close/>
                <a:moveTo>
                  <a:pt x="373" y="203"/>
                </a:moveTo>
                <a:cubicBezTo>
                  <a:pt x="373" y="156"/>
                  <a:pt x="335" y="118"/>
                  <a:pt x="288" y="118"/>
                </a:cubicBezTo>
                <a:cubicBezTo>
                  <a:pt x="282" y="118"/>
                  <a:pt x="277" y="122"/>
                  <a:pt x="277" y="128"/>
                </a:cubicBezTo>
                <a:cubicBezTo>
                  <a:pt x="277" y="134"/>
                  <a:pt x="282" y="139"/>
                  <a:pt x="288" y="139"/>
                </a:cubicBezTo>
                <a:cubicBezTo>
                  <a:pt x="323" y="139"/>
                  <a:pt x="352" y="168"/>
                  <a:pt x="352" y="203"/>
                </a:cubicBezTo>
                <a:cubicBezTo>
                  <a:pt x="352" y="209"/>
                  <a:pt x="357" y="214"/>
                  <a:pt x="363" y="214"/>
                </a:cubicBezTo>
                <a:cubicBezTo>
                  <a:pt x="369" y="214"/>
                  <a:pt x="373" y="209"/>
                  <a:pt x="373" y="20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sz="1100" dirty="0"/>
          </a:p>
        </p:txBody>
      </p:sp>
      <p:sp>
        <p:nvSpPr>
          <p:cNvPr id="47" name="Freeform 756">
            <a:extLst>
              <a:ext uri="{FF2B5EF4-FFF2-40B4-BE49-F238E27FC236}">
                <a16:creationId xmlns:a16="http://schemas.microsoft.com/office/drawing/2014/main" id="{BF79888C-3E8D-4806-81C3-6D4878C9BB14}"/>
              </a:ext>
            </a:extLst>
          </p:cNvPr>
          <p:cNvSpPr>
            <a:spLocks noChangeAspect="1" noEditPoints="1"/>
          </p:cNvSpPr>
          <p:nvPr/>
        </p:nvSpPr>
        <p:spPr bwMode="auto">
          <a:xfrm>
            <a:off x="8730290" y="2712283"/>
            <a:ext cx="307221" cy="469727"/>
          </a:xfrm>
          <a:custGeom>
            <a:avLst/>
            <a:gdLst>
              <a:gd name="T0" fmla="*/ 0 w 512"/>
              <a:gd name="T1" fmla="*/ 256 h 512"/>
              <a:gd name="T2" fmla="*/ 512 w 512"/>
              <a:gd name="T3" fmla="*/ 256 h 512"/>
              <a:gd name="T4" fmla="*/ 308 w 512"/>
              <a:gd name="T5" fmla="*/ 356 h 512"/>
              <a:gd name="T6" fmla="*/ 294 w 512"/>
              <a:gd name="T7" fmla="*/ 361 h 512"/>
              <a:gd name="T8" fmla="*/ 240 w 512"/>
              <a:gd name="T9" fmla="*/ 350 h 512"/>
              <a:gd name="T10" fmla="*/ 221 w 512"/>
              <a:gd name="T11" fmla="*/ 290 h 512"/>
              <a:gd name="T12" fmla="*/ 235 w 512"/>
              <a:gd name="T13" fmla="*/ 191 h 512"/>
              <a:gd name="T14" fmla="*/ 202 w 512"/>
              <a:gd name="T15" fmla="*/ 176 h 512"/>
              <a:gd name="T16" fmla="*/ 170 w 512"/>
              <a:gd name="T17" fmla="*/ 191 h 512"/>
              <a:gd name="T18" fmla="*/ 184 w 512"/>
              <a:gd name="T19" fmla="*/ 290 h 512"/>
              <a:gd name="T20" fmla="*/ 165 w 512"/>
              <a:gd name="T21" fmla="*/ 350 h 512"/>
              <a:gd name="T22" fmla="*/ 111 w 512"/>
              <a:gd name="T23" fmla="*/ 361 h 512"/>
              <a:gd name="T24" fmla="*/ 97 w 512"/>
              <a:gd name="T25" fmla="*/ 356 h 512"/>
              <a:gd name="T26" fmla="*/ 139 w 512"/>
              <a:gd name="T27" fmla="*/ 334 h 512"/>
              <a:gd name="T28" fmla="*/ 166 w 512"/>
              <a:gd name="T29" fmla="*/ 302 h 512"/>
              <a:gd name="T30" fmla="*/ 153 w 512"/>
              <a:gd name="T31" fmla="*/ 177 h 512"/>
              <a:gd name="T32" fmla="*/ 251 w 512"/>
              <a:gd name="T33" fmla="*/ 177 h 512"/>
              <a:gd name="T34" fmla="*/ 239 w 512"/>
              <a:gd name="T35" fmla="*/ 302 h 512"/>
              <a:gd name="T36" fmla="*/ 265 w 512"/>
              <a:gd name="T37" fmla="*/ 334 h 512"/>
              <a:gd name="T38" fmla="*/ 308 w 512"/>
              <a:gd name="T39" fmla="*/ 356 h 512"/>
              <a:gd name="T40" fmla="*/ 405 w 512"/>
              <a:gd name="T41" fmla="*/ 342 h 512"/>
              <a:gd name="T42" fmla="*/ 380 w 512"/>
              <a:gd name="T43" fmla="*/ 335 h 512"/>
              <a:gd name="T44" fmla="*/ 356 w 512"/>
              <a:gd name="T45" fmla="*/ 328 h 512"/>
              <a:gd name="T46" fmla="*/ 360 w 512"/>
              <a:gd name="T47" fmla="*/ 248 h 512"/>
              <a:gd name="T48" fmla="*/ 330 w 512"/>
              <a:gd name="T49" fmla="*/ 197 h 512"/>
              <a:gd name="T50" fmla="*/ 301 w 512"/>
              <a:gd name="T51" fmla="*/ 248 h 512"/>
              <a:gd name="T52" fmla="*/ 305 w 512"/>
              <a:gd name="T53" fmla="*/ 328 h 512"/>
              <a:gd name="T54" fmla="*/ 290 w 512"/>
              <a:gd name="T55" fmla="*/ 326 h 512"/>
              <a:gd name="T56" fmla="*/ 298 w 512"/>
              <a:gd name="T57" fmla="*/ 293 h 512"/>
              <a:gd name="T58" fmla="*/ 288 w 512"/>
              <a:gd name="T59" fmla="*/ 195 h 512"/>
              <a:gd name="T60" fmla="*/ 373 w 512"/>
              <a:gd name="T61" fmla="*/ 195 h 512"/>
              <a:gd name="T62" fmla="*/ 363 w 512"/>
              <a:gd name="T63" fmla="*/ 293 h 512"/>
              <a:gd name="T64" fmla="*/ 383 w 512"/>
              <a:gd name="T65" fmla="*/ 314 h 512"/>
              <a:gd name="T66" fmla="*/ 414 w 512"/>
              <a:gd name="T67" fmla="*/ 33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08" y="356"/>
                </a:moveTo>
                <a:cubicBezTo>
                  <a:pt x="306" y="360"/>
                  <a:pt x="302" y="362"/>
                  <a:pt x="298" y="362"/>
                </a:cubicBezTo>
                <a:cubicBezTo>
                  <a:pt x="297" y="362"/>
                  <a:pt x="295" y="362"/>
                  <a:pt x="294" y="361"/>
                </a:cubicBezTo>
                <a:cubicBezTo>
                  <a:pt x="283" y="356"/>
                  <a:pt x="273" y="356"/>
                  <a:pt x="264" y="355"/>
                </a:cubicBezTo>
                <a:cubicBezTo>
                  <a:pt x="256" y="355"/>
                  <a:pt x="248" y="355"/>
                  <a:pt x="240" y="350"/>
                </a:cubicBezTo>
                <a:cubicBezTo>
                  <a:pt x="226" y="343"/>
                  <a:pt x="220" y="323"/>
                  <a:pt x="219" y="317"/>
                </a:cubicBezTo>
                <a:cubicBezTo>
                  <a:pt x="217" y="308"/>
                  <a:pt x="216" y="297"/>
                  <a:pt x="221" y="290"/>
                </a:cubicBezTo>
                <a:cubicBezTo>
                  <a:pt x="228" y="280"/>
                  <a:pt x="236" y="261"/>
                  <a:pt x="240" y="246"/>
                </a:cubicBezTo>
                <a:cubicBezTo>
                  <a:pt x="246" y="221"/>
                  <a:pt x="244" y="202"/>
                  <a:pt x="235" y="191"/>
                </a:cubicBezTo>
                <a:cubicBezTo>
                  <a:pt x="223" y="176"/>
                  <a:pt x="203" y="177"/>
                  <a:pt x="203" y="177"/>
                </a:cubicBezTo>
                <a:cubicBezTo>
                  <a:pt x="202" y="177"/>
                  <a:pt x="202" y="176"/>
                  <a:pt x="202" y="176"/>
                </a:cubicBezTo>
                <a:cubicBezTo>
                  <a:pt x="202" y="176"/>
                  <a:pt x="202" y="177"/>
                  <a:pt x="202" y="177"/>
                </a:cubicBezTo>
                <a:cubicBezTo>
                  <a:pt x="202" y="177"/>
                  <a:pt x="181" y="176"/>
                  <a:pt x="170" y="191"/>
                </a:cubicBezTo>
                <a:cubicBezTo>
                  <a:pt x="160" y="202"/>
                  <a:pt x="159" y="221"/>
                  <a:pt x="165" y="246"/>
                </a:cubicBezTo>
                <a:cubicBezTo>
                  <a:pt x="168" y="261"/>
                  <a:pt x="176" y="280"/>
                  <a:pt x="184" y="290"/>
                </a:cubicBezTo>
                <a:cubicBezTo>
                  <a:pt x="189" y="297"/>
                  <a:pt x="187" y="308"/>
                  <a:pt x="185" y="317"/>
                </a:cubicBezTo>
                <a:cubicBezTo>
                  <a:pt x="184" y="323"/>
                  <a:pt x="179" y="343"/>
                  <a:pt x="165" y="350"/>
                </a:cubicBezTo>
                <a:cubicBezTo>
                  <a:pt x="157" y="355"/>
                  <a:pt x="149" y="355"/>
                  <a:pt x="140" y="355"/>
                </a:cubicBezTo>
                <a:cubicBezTo>
                  <a:pt x="131" y="356"/>
                  <a:pt x="122" y="356"/>
                  <a:pt x="111" y="361"/>
                </a:cubicBezTo>
                <a:cubicBezTo>
                  <a:pt x="109" y="362"/>
                  <a:pt x="108" y="362"/>
                  <a:pt x="106" y="362"/>
                </a:cubicBezTo>
                <a:cubicBezTo>
                  <a:pt x="102" y="362"/>
                  <a:pt x="98" y="360"/>
                  <a:pt x="97" y="356"/>
                </a:cubicBezTo>
                <a:cubicBezTo>
                  <a:pt x="94" y="351"/>
                  <a:pt x="96" y="344"/>
                  <a:pt x="102" y="342"/>
                </a:cubicBezTo>
                <a:cubicBezTo>
                  <a:pt x="116" y="335"/>
                  <a:pt x="129" y="335"/>
                  <a:pt x="139" y="334"/>
                </a:cubicBezTo>
                <a:cubicBezTo>
                  <a:pt x="146" y="334"/>
                  <a:pt x="151" y="334"/>
                  <a:pt x="155" y="332"/>
                </a:cubicBezTo>
                <a:cubicBezTo>
                  <a:pt x="161" y="328"/>
                  <a:pt x="167" y="308"/>
                  <a:pt x="166" y="302"/>
                </a:cubicBezTo>
                <a:cubicBezTo>
                  <a:pt x="157" y="289"/>
                  <a:pt x="148" y="269"/>
                  <a:pt x="144" y="251"/>
                </a:cubicBezTo>
                <a:cubicBezTo>
                  <a:pt x="136" y="219"/>
                  <a:pt x="139" y="194"/>
                  <a:pt x="153" y="177"/>
                </a:cubicBezTo>
                <a:cubicBezTo>
                  <a:pt x="171" y="155"/>
                  <a:pt x="200" y="155"/>
                  <a:pt x="202" y="155"/>
                </a:cubicBezTo>
                <a:cubicBezTo>
                  <a:pt x="205" y="155"/>
                  <a:pt x="233" y="155"/>
                  <a:pt x="251" y="177"/>
                </a:cubicBezTo>
                <a:cubicBezTo>
                  <a:pt x="265" y="194"/>
                  <a:pt x="268" y="219"/>
                  <a:pt x="261" y="251"/>
                </a:cubicBezTo>
                <a:cubicBezTo>
                  <a:pt x="256" y="269"/>
                  <a:pt x="247" y="289"/>
                  <a:pt x="239" y="302"/>
                </a:cubicBezTo>
                <a:cubicBezTo>
                  <a:pt x="237" y="308"/>
                  <a:pt x="243" y="328"/>
                  <a:pt x="250" y="332"/>
                </a:cubicBezTo>
                <a:cubicBezTo>
                  <a:pt x="253" y="334"/>
                  <a:pt x="259" y="334"/>
                  <a:pt x="265" y="334"/>
                </a:cubicBezTo>
                <a:cubicBezTo>
                  <a:pt x="276" y="335"/>
                  <a:pt x="288" y="335"/>
                  <a:pt x="303" y="342"/>
                </a:cubicBezTo>
                <a:cubicBezTo>
                  <a:pt x="308" y="344"/>
                  <a:pt x="310" y="351"/>
                  <a:pt x="308" y="356"/>
                </a:cubicBezTo>
                <a:close/>
                <a:moveTo>
                  <a:pt x="414" y="337"/>
                </a:moveTo>
                <a:cubicBezTo>
                  <a:pt x="412" y="340"/>
                  <a:pt x="408" y="342"/>
                  <a:pt x="405" y="342"/>
                </a:cubicBezTo>
                <a:cubicBezTo>
                  <a:pt x="403" y="342"/>
                  <a:pt x="401" y="341"/>
                  <a:pt x="399" y="340"/>
                </a:cubicBezTo>
                <a:cubicBezTo>
                  <a:pt x="395" y="337"/>
                  <a:pt x="387" y="336"/>
                  <a:pt x="380" y="335"/>
                </a:cubicBezTo>
                <a:cubicBezTo>
                  <a:pt x="372" y="334"/>
                  <a:pt x="364" y="333"/>
                  <a:pt x="357" y="329"/>
                </a:cubicBezTo>
                <a:cubicBezTo>
                  <a:pt x="357" y="329"/>
                  <a:pt x="356" y="328"/>
                  <a:pt x="356" y="328"/>
                </a:cubicBezTo>
                <a:cubicBezTo>
                  <a:pt x="341" y="317"/>
                  <a:pt x="337" y="293"/>
                  <a:pt x="345" y="282"/>
                </a:cubicBezTo>
                <a:cubicBezTo>
                  <a:pt x="351" y="274"/>
                  <a:pt x="357" y="260"/>
                  <a:pt x="360" y="248"/>
                </a:cubicBezTo>
                <a:cubicBezTo>
                  <a:pt x="364" y="230"/>
                  <a:pt x="363" y="217"/>
                  <a:pt x="356" y="208"/>
                </a:cubicBezTo>
                <a:cubicBezTo>
                  <a:pt x="347" y="197"/>
                  <a:pt x="332" y="197"/>
                  <a:pt x="330" y="197"/>
                </a:cubicBezTo>
                <a:cubicBezTo>
                  <a:pt x="329" y="197"/>
                  <a:pt x="313" y="197"/>
                  <a:pt x="305" y="208"/>
                </a:cubicBezTo>
                <a:cubicBezTo>
                  <a:pt x="298" y="217"/>
                  <a:pt x="297" y="230"/>
                  <a:pt x="301" y="248"/>
                </a:cubicBezTo>
                <a:cubicBezTo>
                  <a:pt x="304" y="260"/>
                  <a:pt x="310" y="274"/>
                  <a:pt x="315" y="282"/>
                </a:cubicBezTo>
                <a:cubicBezTo>
                  <a:pt x="323" y="293"/>
                  <a:pt x="319" y="317"/>
                  <a:pt x="305" y="328"/>
                </a:cubicBezTo>
                <a:cubicBezTo>
                  <a:pt x="303" y="330"/>
                  <a:pt x="300" y="330"/>
                  <a:pt x="298" y="330"/>
                </a:cubicBezTo>
                <a:cubicBezTo>
                  <a:pt x="295" y="330"/>
                  <a:pt x="292" y="329"/>
                  <a:pt x="290" y="326"/>
                </a:cubicBezTo>
                <a:cubicBezTo>
                  <a:pt x="286" y="321"/>
                  <a:pt x="287" y="315"/>
                  <a:pt x="292" y="311"/>
                </a:cubicBezTo>
                <a:cubicBezTo>
                  <a:pt x="298" y="307"/>
                  <a:pt x="299" y="296"/>
                  <a:pt x="298" y="293"/>
                </a:cubicBezTo>
                <a:cubicBezTo>
                  <a:pt x="291" y="284"/>
                  <a:pt x="284" y="268"/>
                  <a:pt x="280" y="253"/>
                </a:cubicBezTo>
                <a:cubicBezTo>
                  <a:pt x="274" y="228"/>
                  <a:pt x="277" y="209"/>
                  <a:pt x="288" y="195"/>
                </a:cubicBezTo>
                <a:cubicBezTo>
                  <a:pt x="304" y="175"/>
                  <a:pt x="328" y="176"/>
                  <a:pt x="330" y="176"/>
                </a:cubicBezTo>
                <a:cubicBezTo>
                  <a:pt x="332" y="176"/>
                  <a:pt x="357" y="175"/>
                  <a:pt x="373" y="195"/>
                </a:cubicBezTo>
                <a:cubicBezTo>
                  <a:pt x="384" y="209"/>
                  <a:pt x="386" y="228"/>
                  <a:pt x="380" y="253"/>
                </a:cubicBezTo>
                <a:cubicBezTo>
                  <a:pt x="377" y="268"/>
                  <a:pt x="370" y="284"/>
                  <a:pt x="363" y="293"/>
                </a:cubicBezTo>
                <a:cubicBezTo>
                  <a:pt x="362" y="296"/>
                  <a:pt x="363" y="306"/>
                  <a:pt x="369" y="311"/>
                </a:cubicBezTo>
                <a:cubicBezTo>
                  <a:pt x="372" y="312"/>
                  <a:pt x="378" y="313"/>
                  <a:pt x="383" y="314"/>
                </a:cubicBezTo>
                <a:cubicBezTo>
                  <a:pt x="392" y="315"/>
                  <a:pt x="402" y="317"/>
                  <a:pt x="410" y="322"/>
                </a:cubicBezTo>
                <a:cubicBezTo>
                  <a:pt x="415" y="325"/>
                  <a:pt x="417" y="332"/>
                  <a:pt x="414" y="337"/>
                </a:cubicBezTo>
                <a:close/>
              </a:path>
            </a:pathLst>
          </a:custGeom>
          <a:solidFill>
            <a:srgbClr val="C4D600"/>
          </a:solidFill>
          <a:ln>
            <a:noFill/>
          </a:ln>
        </p:spPr>
        <p:txBody>
          <a:bodyPr vert="horz" wrap="square" lIns="91440" tIns="45720" rIns="91440" bIns="45720" numCol="1" anchor="t" anchorCtr="0" compatLnSpc="1">
            <a:prstTxWarp prst="textNoShape">
              <a:avLst/>
            </a:prstTxWarp>
          </a:bodyPr>
          <a:lstStyle/>
          <a:p>
            <a:endParaRPr lang="en-GB" sz="1100" dirty="0"/>
          </a:p>
        </p:txBody>
      </p:sp>
      <p:sp>
        <p:nvSpPr>
          <p:cNvPr id="48" name="Freeform 96">
            <a:extLst>
              <a:ext uri="{FF2B5EF4-FFF2-40B4-BE49-F238E27FC236}">
                <a16:creationId xmlns:a16="http://schemas.microsoft.com/office/drawing/2014/main" id="{922847AF-FB05-499F-BEBC-8F424C36D5BE}"/>
              </a:ext>
            </a:extLst>
          </p:cNvPr>
          <p:cNvSpPr>
            <a:spLocks noChangeAspect="1" noEditPoints="1"/>
          </p:cNvSpPr>
          <p:nvPr/>
        </p:nvSpPr>
        <p:spPr bwMode="auto">
          <a:xfrm>
            <a:off x="10561708" y="2713957"/>
            <a:ext cx="305031" cy="466379"/>
          </a:xfrm>
          <a:custGeom>
            <a:avLst/>
            <a:gdLst>
              <a:gd name="T0" fmla="*/ 340 w 512"/>
              <a:gd name="T1" fmla="*/ 232 h 512"/>
              <a:gd name="T2" fmla="*/ 258 w 512"/>
              <a:gd name="T3" fmla="*/ 315 h 512"/>
              <a:gd name="T4" fmla="*/ 175 w 512"/>
              <a:gd name="T5" fmla="*/ 232 h 512"/>
              <a:gd name="T6" fmla="*/ 258 w 512"/>
              <a:gd name="T7" fmla="*/ 150 h 512"/>
              <a:gd name="T8" fmla="*/ 340 w 512"/>
              <a:gd name="T9" fmla="*/ 232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55 w 512"/>
              <a:gd name="T21" fmla="*/ 320 h 512"/>
              <a:gd name="T22" fmla="*/ 340 w 512"/>
              <a:gd name="T23" fmla="*/ 319 h 512"/>
              <a:gd name="T24" fmla="*/ 258 w 512"/>
              <a:gd name="T25" fmla="*/ 352 h 512"/>
              <a:gd name="T26" fmla="*/ 138 w 512"/>
              <a:gd name="T27" fmla="*/ 232 h 512"/>
              <a:gd name="T28" fmla="*/ 171 w 512"/>
              <a:gd name="T29" fmla="*/ 150 h 512"/>
              <a:gd name="T30" fmla="*/ 170 w 512"/>
              <a:gd name="T31" fmla="*/ 135 h 512"/>
              <a:gd name="T32" fmla="*/ 155 w 512"/>
              <a:gd name="T33" fmla="*/ 136 h 512"/>
              <a:gd name="T34" fmla="*/ 117 w 512"/>
              <a:gd name="T35" fmla="*/ 232 h 512"/>
              <a:gd name="T36" fmla="*/ 245 w 512"/>
              <a:gd name="T37" fmla="*/ 372 h 512"/>
              <a:gd name="T38" fmla="*/ 245 w 512"/>
              <a:gd name="T39" fmla="*/ 394 h 512"/>
              <a:gd name="T40" fmla="*/ 192 w 512"/>
              <a:gd name="T41" fmla="*/ 394 h 512"/>
              <a:gd name="T42" fmla="*/ 181 w 512"/>
              <a:gd name="T43" fmla="*/ 405 h 512"/>
              <a:gd name="T44" fmla="*/ 192 w 512"/>
              <a:gd name="T45" fmla="*/ 416 h 512"/>
              <a:gd name="T46" fmla="*/ 320 w 512"/>
              <a:gd name="T47" fmla="*/ 416 h 512"/>
              <a:gd name="T48" fmla="*/ 330 w 512"/>
              <a:gd name="T49" fmla="*/ 405 h 512"/>
              <a:gd name="T50" fmla="*/ 320 w 512"/>
              <a:gd name="T51" fmla="*/ 394 h 512"/>
              <a:gd name="T52" fmla="*/ 266 w 512"/>
              <a:gd name="T53" fmla="*/ 394 h 512"/>
              <a:gd name="T54" fmla="*/ 266 w 512"/>
              <a:gd name="T55" fmla="*/ 373 h 512"/>
              <a:gd name="T56" fmla="*/ 354 w 512"/>
              <a:gd name="T57" fmla="*/ 335 h 512"/>
              <a:gd name="T58" fmla="*/ 355 w 512"/>
              <a:gd name="T59" fmla="*/ 320 h 512"/>
              <a:gd name="T60" fmla="*/ 362 w 512"/>
              <a:gd name="T61" fmla="*/ 232 h 512"/>
              <a:gd name="T62" fmla="*/ 258 w 512"/>
              <a:gd name="T63" fmla="*/ 128 h 512"/>
              <a:gd name="T64" fmla="*/ 154 w 512"/>
              <a:gd name="T65" fmla="*/ 232 h 512"/>
              <a:gd name="T66" fmla="*/ 258 w 512"/>
              <a:gd name="T67" fmla="*/ 336 h 512"/>
              <a:gd name="T68" fmla="*/ 362 w 512"/>
              <a:gd name="T69" fmla="*/ 23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340" y="232"/>
                </a:moveTo>
                <a:cubicBezTo>
                  <a:pt x="340" y="278"/>
                  <a:pt x="303" y="315"/>
                  <a:pt x="258" y="315"/>
                </a:cubicBezTo>
                <a:cubicBezTo>
                  <a:pt x="212" y="315"/>
                  <a:pt x="175" y="278"/>
                  <a:pt x="175" y="232"/>
                </a:cubicBezTo>
                <a:cubicBezTo>
                  <a:pt x="175" y="187"/>
                  <a:pt x="212" y="150"/>
                  <a:pt x="258" y="150"/>
                </a:cubicBezTo>
                <a:cubicBezTo>
                  <a:pt x="303" y="150"/>
                  <a:pt x="340" y="187"/>
                  <a:pt x="340" y="232"/>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5" y="320"/>
                </a:moveTo>
                <a:cubicBezTo>
                  <a:pt x="351" y="315"/>
                  <a:pt x="344" y="315"/>
                  <a:pt x="340" y="319"/>
                </a:cubicBezTo>
                <a:cubicBezTo>
                  <a:pt x="317" y="340"/>
                  <a:pt x="288" y="352"/>
                  <a:pt x="258" y="352"/>
                </a:cubicBezTo>
                <a:cubicBezTo>
                  <a:pt x="192" y="352"/>
                  <a:pt x="138" y="298"/>
                  <a:pt x="138" y="232"/>
                </a:cubicBezTo>
                <a:cubicBezTo>
                  <a:pt x="138" y="202"/>
                  <a:pt x="150" y="173"/>
                  <a:pt x="171" y="150"/>
                </a:cubicBezTo>
                <a:cubicBezTo>
                  <a:pt x="175" y="146"/>
                  <a:pt x="175" y="139"/>
                  <a:pt x="170" y="135"/>
                </a:cubicBezTo>
                <a:cubicBezTo>
                  <a:pt x="166" y="131"/>
                  <a:pt x="159" y="132"/>
                  <a:pt x="155" y="136"/>
                </a:cubicBezTo>
                <a:cubicBezTo>
                  <a:pt x="131" y="162"/>
                  <a:pt x="117" y="196"/>
                  <a:pt x="117" y="232"/>
                </a:cubicBezTo>
                <a:cubicBezTo>
                  <a:pt x="117" y="306"/>
                  <a:pt x="173" y="366"/>
                  <a:pt x="245" y="372"/>
                </a:cubicBezTo>
                <a:cubicBezTo>
                  <a:pt x="245" y="394"/>
                  <a:pt x="245" y="394"/>
                  <a:pt x="245" y="394"/>
                </a:cubicBezTo>
                <a:cubicBezTo>
                  <a:pt x="192" y="394"/>
                  <a:pt x="192" y="394"/>
                  <a:pt x="192" y="394"/>
                </a:cubicBezTo>
                <a:cubicBezTo>
                  <a:pt x="186" y="394"/>
                  <a:pt x="181" y="399"/>
                  <a:pt x="181" y="405"/>
                </a:cubicBezTo>
                <a:cubicBezTo>
                  <a:pt x="181" y="411"/>
                  <a:pt x="186" y="416"/>
                  <a:pt x="192" y="416"/>
                </a:cubicBezTo>
                <a:cubicBezTo>
                  <a:pt x="320" y="416"/>
                  <a:pt x="320" y="416"/>
                  <a:pt x="320" y="416"/>
                </a:cubicBezTo>
                <a:cubicBezTo>
                  <a:pt x="326" y="416"/>
                  <a:pt x="330" y="411"/>
                  <a:pt x="330" y="405"/>
                </a:cubicBezTo>
                <a:cubicBezTo>
                  <a:pt x="330" y="399"/>
                  <a:pt x="326" y="394"/>
                  <a:pt x="320" y="394"/>
                </a:cubicBezTo>
                <a:cubicBezTo>
                  <a:pt x="266" y="394"/>
                  <a:pt x="266" y="394"/>
                  <a:pt x="266" y="394"/>
                </a:cubicBezTo>
                <a:cubicBezTo>
                  <a:pt x="266" y="373"/>
                  <a:pt x="266" y="373"/>
                  <a:pt x="266" y="373"/>
                </a:cubicBezTo>
                <a:cubicBezTo>
                  <a:pt x="299" y="371"/>
                  <a:pt x="330" y="357"/>
                  <a:pt x="354" y="335"/>
                </a:cubicBezTo>
                <a:cubicBezTo>
                  <a:pt x="358" y="331"/>
                  <a:pt x="359" y="324"/>
                  <a:pt x="355" y="320"/>
                </a:cubicBezTo>
                <a:close/>
                <a:moveTo>
                  <a:pt x="362" y="232"/>
                </a:moveTo>
                <a:cubicBezTo>
                  <a:pt x="362" y="175"/>
                  <a:pt x="315" y="128"/>
                  <a:pt x="258" y="128"/>
                </a:cubicBezTo>
                <a:cubicBezTo>
                  <a:pt x="200" y="128"/>
                  <a:pt x="154" y="175"/>
                  <a:pt x="154" y="232"/>
                </a:cubicBezTo>
                <a:cubicBezTo>
                  <a:pt x="154" y="290"/>
                  <a:pt x="200" y="336"/>
                  <a:pt x="258" y="336"/>
                </a:cubicBezTo>
                <a:cubicBezTo>
                  <a:pt x="315" y="336"/>
                  <a:pt x="362" y="290"/>
                  <a:pt x="362" y="232"/>
                </a:cubicBezTo>
                <a:close/>
              </a:path>
            </a:pathLst>
          </a:custGeom>
          <a:solidFill>
            <a:srgbClr val="E3E48D"/>
          </a:solidFill>
          <a:ln>
            <a:noFill/>
          </a:ln>
        </p:spPr>
        <p:txBody>
          <a:bodyPr vert="horz" wrap="square" lIns="91440" tIns="45720" rIns="91440" bIns="45720" numCol="1" anchor="t" anchorCtr="0" compatLnSpc="1">
            <a:prstTxWarp prst="textNoShape">
              <a:avLst/>
            </a:prstTxWarp>
          </a:bodyPr>
          <a:lstStyle/>
          <a:p>
            <a:endParaRPr lang="en-GB" sz="1100" dirty="0"/>
          </a:p>
        </p:txBody>
      </p:sp>
      <p:grpSp>
        <p:nvGrpSpPr>
          <p:cNvPr id="49" name="Group 48">
            <a:extLst>
              <a:ext uri="{FF2B5EF4-FFF2-40B4-BE49-F238E27FC236}">
                <a16:creationId xmlns:a16="http://schemas.microsoft.com/office/drawing/2014/main" id="{AB36A4BC-5DFD-49B2-924D-6341B762F221}"/>
              </a:ext>
            </a:extLst>
          </p:cNvPr>
          <p:cNvGrpSpPr/>
          <p:nvPr/>
        </p:nvGrpSpPr>
        <p:grpSpPr>
          <a:xfrm>
            <a:off x="470565" y="869795"/>
            <a:ext cx="11000831" cy="810623"/>
            <a:chOff x="529404" y="1578244"/>
            <a:chExt cx="11260364" cy="774814"/>
          </a:xfrm>
        </p:grpSpPr>
        <p:sp>
          <p:nvSpPr>
            <p:cNvPr id="50" name="Isosceles Triangle 1">
              <a:extLst>
                <a:ext uri="{FF2B5EF4-FFF2-40B4-BE49-F238E27FC236}">
                  <a16:creationId xmlns:a16="http://schemas.microsoft.com/office/drawing/2014/main" id="{C5AB7FBF-4A02-47B0-967B-423F964E3FEF}"/>
                </a:ext>
              </a:extLst>
            </p:cNvPr>
            <p:cNvSpPr/>
            <p:nvPr/>
          </p:nvSpPr>
          <p:spPr bwMode="gray">
            <a:xfrm>
              <a:off x="529404" y="1578244"/>
              <a:ext cx="11260364" cy="774814"/>
            </a:xfrm>
            <a:prstGeom prst="triangle">
              <a:avLst/>
            </a:prstGeom>
            <a:solidFill>
              <a:srgbClr val="53565A"/>
            </a:solidFill>
            <a:ln w="19050" algn="ctr">
              <a:noFill/>
              <a:miter lim="800000"/>
              <a:headEnd/>
              <a:tailEnd/>
            </a:ln>
          </p:spPr>
          <p:txBody>
            <a:bodyPr wrap="square" lIns="93834" tIns="93834" rIns="93834" bIns="93834" rtlCol="0" anchor="ctr"/>
            <a:lstStyle/>
            <a:p>
              <a:pPr defTabSz="965149">
                <a:defRPr/>
              </a:pPr>
              <a:endParaRPr lang="en-US" sz="1100" kern="0" dirty="0">
                <a:solidFill>
                  <a:prstClr val="white"/>
                </a:solidFill>
                <a:latin typeface="Verdana"/>
              </a:endParaRPr>
            </a:p>
          </p:txBody>
        </p:sp>
        <p:sp>
          <p:nvSpPr>
            <p:cNvPr id="51" name="Isosceles Triangle 1">
              <a:extLst>
                <a:ext uri="{FF2B5EF4-FFF2-40B4-BE49-F238E27FC236}">
                  <a16:creationId xmlns:a16="http://schemas.microsoft.com/office/drawing/2014/main" id="{8CD9D77D-C6C0-45A5-B239-9DE796E02C28}"/>
                </a:ext>
              </a:extLst>
            </p:cNvPr>
            <p:cNvSpPr/>
            <p:nvPr/>
          </p:nvSpPr>
          <p:spPr bwMode="gray">
            <a:xfrm>
              <a:off x="1587586" y="1578470"/>
              <a:ext cx="9144000" cy="629189"/>
            </a:xfrm>
            <a:prstGeom prst="triangle">
              <a:avLst/>
            </a:prstGeom>
            <a:solidFill>
              <a:srgbClr val="000000"/>
            </a:solidFill>
            <a:ln w="19050" algn="ctr">
              <a:noFill/>
              <a:miter lim="800000"/>
              <a:headEnd/>
              <a:tailEnd/>
            </a:ln>
          </p:spPr>
          <p:txBody>
            <a:bodyPr wrap="square" lIns="93834" tIns="93834" rIns="93834" bIns="93834" rtlCol="0" anchor="ctr"/>
            <a:lstStyle/>
            <a:p>
              <a:pPr defTabSz="965149">
                <a:defRPr/>
              </a:pPr>
              <a:endParaRPr lang="en-US" sz="1100" kern="0" dirty="0">
                <a:solidFill>
                  <a:prstClr val="white"/>
                </a:solidFill>
                <a:latin typeface="Verdana"/>
              </a:endParaRPr>
            </a:p>
          </p:txBody>
        </p:sp>
      </p:grpSp>
      <p:sp>
        <p:nvSpPr>
          <p:cNvPr id="2" name="Rectangle 1">
            <a:extLst>
              <a:ext uri="{FF2B5EF4-FFF2-40B4-BE49-F238E27FC236}">
                <a16:creationId xmlns:a16="http://schemas.microsoft.com/office/drawing/2014/main" id="{78FFF835-B159-4789-A0B2-54DE67D78AA1}"/>
              </a:ext>
            </a:extLst>
          </p:cNvPr>
          <p:cNvSpPr/>
          <p:nvPr/>
        </p:nvSpPr>
        <p:spPr bwMode="gray">
          <a:xfrm>
            <a:off x="652359" y="6077527"/>
            <a:ext cx="1649361" cy="258618"/>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i="1" dirty="0">
                <a:solidFill>
                  <a:schemeClr val="bg1"/>
                </a:solidFill>
                <a:hlinkClick r:id="rId2" action="ppaction://hlinksldjump"/>
              </a:rPr>
              <a:t>Link to Detailed Slide</a:t>
            </a:r>
            <a:endParaRPr lang="en-US" sz="900" b="1" i="1" dirty="0">
              <a:solidFill>
                <a:schemeClr val="bg1"/>
              </a:solidFill>
            </a:endParaRPr>
          </a:p>
        </p:txBody>
      </p:sp>
      <p:sp>
        <p:nvSpPr>
          <p:cNvPr id="69" name="Rectangle 68">
            <a:extLst>
              <a:ext uri="{FF2B5EF4-FFF2-40B4-BE49-F238E27FC236}">
                <a16:creationId xmlns:a16="http://schemas.microsoft.com/office/drawing/2014/main" id="{872F52AB-D22D-4D5D-8825-C7DFCD244778}"/>
              </a:ext>
            </a:extLst>
          </p:cNvPr>
          <p:cNvSpPr/>
          <p:nvPr/>
        </p:nvSpPr>
        <p:spPr bwMode="gray">
          <a:xfrm>
            <a:off x="2459106" y="6077527"/>
            <a:ext cx="1649361" cy="258618"/>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i="1" dirty="0">
                <a:solidFill>
                  <a:schemeClr val="bg1"/>
                </a:solidFill>
                <a:hlinkClick r:id="rId3" action="ppaction://hlinksldjump"/>
              </a:rPr>
              <a:t>Link to Detailed Slide</a:t>
            </a:r>
            <a:endParaRPr lang="en-US" sz="900" b="1" i="1" dirty="0">
              <a:solidFill>
                <a:schemeClr val="bg1"/>
              </a:solidFill>
            </a:endParaRPr>
          </a:p>
        </p:txBody>
      </p:sp>
      <p:sp>
        <p:nvSpPr>
          <p:cNvPr id="70" name="Rectangle 69">
            <a:extLst>
              <a:ext uri="{FF2B5EF4-FFF2-40B4-BE49-F238E27FC236}">
                <a16:creationId xmlns:a16="http://schemas.microsoft.com/office/drawing/2014/main" id="{7B0278E7-D20C-4779-9F37-EC1EFF30DBC4}"/>
              </a:ext>
            </a:extLst>
          </p:cNvPr>
          <p:cNvSpPr/>
          <p:nvPr/>
        </p:nvSpPr>
        <p:spPr bwMode="gray">
          <a:xfrm>
            <a:off x="6228895" y="6077527"/>
            <a:ext cx="1649361" cy="258618"/>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i="1" dirty="0">
                <a:solidFill>
                  <a:schemeClr val="bg1"/>
                </a:solidFill>
                <a:hlinkClick r:id="rId4" action="ppaction://hlinksldjump"/>
              </a:rPr>
              <a:t>Link to Detailed Slide</a:t>
            </a:r>
            <a:endParaRPr lang="en-US" sz="900" b="1" i="1" dirty="0">
              <a:solidFill>
                <a:schemeClr val="bg1"/>
              </a:solidFill>
            </a:endParaRPr>
          </a:p>
        </p:txBody>
      </p:sp>
      <p:sp>
        <p:nvSpPr>
          <p:cNvPr id="71" name="Rectangle 70">
            <a:extLst>
              <a:ext uri="{FF2B5EF4-FFF2-40B4-BE49-F238E27FC236}">
                <a16:creationId xmlns:a16="http://schemas.microsoft.com/office/drawing/2014/main" id="{B283D9A7-4247-4BC6-A645-4690C0A59B14}"/>
              </a:ext>
            </a:extLst>
          </p:cNvPr>
          <p:cNvSpPr/>
          <p:nvPr/>
        </p:nvSpPr>
        <p:spPr bwMode="gray">
          <a:xfrm>
            <a:off x="8077276" y="6077527"/>
            <a:ext cx="1649361" cy="258618"/>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i="1" dirty="0">
                <a:hlinkClick r:id="rId5" action="ppaction://hlinksldjump"/>
              </a:rPr>
              <a:t>Link to Detailed Slide</a:t>
            </a:r>
            <a:endParaRPr lang="en-US" sz="900" b="1" i="1" dirty="0"/>
          </a:p>
        </p:txBody>
      </p:sp>
      <p:sp>
        <p:nvSpPr>
          <p:cNvPr id="72" name="Rectangle 71">
            <a:extLst>
              <a:ext uri="{FF2B5EF4-FFF2-40B4-BE49-F238E27FC236}">
                <a16:creationId xmlns:a16="http://schemas.microsoft.com/office/drawing/2014/main" id="{577D1799-7629-44BA-AB19-3F58E42B8446}"/>
              </a:ext>
            </a:extLst>
          </p:cNvPr>
          <p:cNvSpPr/>
          <p:nvPr/>
        </p:nvSpPr>
        <p:spPr bwMode="gray">
          <a:xfrm>
            <a:off x="9907599" y="6077527"/>
            <a:ext cx="1649361" cy="258618"/>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i="1" dirty="0">
                <a:hlinkClick r:id="rId6" action="ppaction://hlinksldjump"/>
              </a:rPr>
              <a:t>Link to Detailed Slide</a:t>
            </a:r>
            <a:endParaRPr lang="en-US" sz="900" b="1" i="1" dirty="0"/>
          </a:p>
        </p:txBody>
      </p:sp>
      <p:grpSp>
        <p:nvGrpSpPr>
          <p:cNvPr id="73" name="Group 72">
            <a:extLst>
              <a:ext uri="{FF2B5EF4-FFF2-40B4-BE49-F238E27FC236}">
                <a16:creationId xmlns:a16="http://schemas.microsoft.com/office/drawing/2014/main" id="{34BDBBB8-723B-4525-B1D7-67DCF8C5A5C4}"/>
              </a:ext>
            </a:extLst>
          </p:cNvPr>
          <p:cNvGrpSpPr/>
          <p:nvPr/>
        </p:nvGrpSpPr>
        <p:grpSpPr>
          <a:xfrm>
            <a:off x="4248196" y="1703231"/>
            <a:ext cx="1806128" cy="1721727"/>
            <a:chOff x="9408248" y="2371031"/>
            <a:chExt cx="2175328" cy="1356269"/>
          </a:xfrm>
          <a:solidFill>
            <a:schemeClr val="accent1">
              <a:lumMod val="20000"/>
              <a:lumOff val="80000"/>
            </a:schemeClr>
          </a:solidFill>
        </p:grpSpPr>
        <p:sp>
          <p:nvSpPr>
            <p:cNvPr id="74" name="Rounded Rectangle 113">
              <a:extLst>
                <a:ext uri="{FF2B5EF4-FFF2-40B4-BE49-F238E27FC236}">
                  <a16:creationId xmlns:a16="http://schemas.microsoft.com/office/drawing/2014/main" id="{C41695C9-0034-4E6C-8159-3D90CC711EF4}"/>
                </a:ext>
              </a:extLst>
            </p:cNvPr>
            <p:cNvSpPr/>
            <p:nvPr/>
          </p:nvSpPr>
          <p:spPr bwMode="gray">
            <a:xfrm>
              <a:off x="10456682" y="2872388"/>
              <a:ext cx="78461" cy="854912"/>
            </a:xfrm>
            <a:prstGeom prst="roundRect">
              <a:avLst/>
            </a:prstGeom>
            <a:solidFill>
              <a:srgbClr val="009A44"/>
            </a:solid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Verdana"/>
              </a:endParaRPr>
            </a:p>
          </p:txBody>
        </p:sp>
        <p:grpSp>
          <p:nvGrpSpPr>
            <p:cNvPr id="75" name="Group 74">
              <a:extLst>
                <a:ext uri="{FF2B5EF4-FFF2-40B4-BE49-F238E27FC236}">
                  <a16:creationId xmlns:a16="http://schemas.microsoft.com/office/drawing/2014/main" id="{9B7A002E-F357-4CA5-A1FE-8043E7E35152}"/>
                </a:ext>
              </a:extLst>
            </p:cNvPr>
            <p:cNvGrpSpPr/>
            <p:nvPr/>
          </p:nvGrpSpPr>
          <p:grpSpPr>
            <a:xfrm>
              <a:off x="9408248" y="2371031"/>
              <a:ext cx="2175328" cy="695639"/>
              <a:chOff x="9408248" y="2371031"/>
              <a:chExt cx="2175328" cy="695639"/>
            </a:xfrm>
            <a:grpFill/>
          </p:grpSpPr>
          <p:sp>
            <p:nvSpPr>
              <p:cNvPr id="76" name="Isosceles Triangle 27">
                <a:extLst>
                  <a:ext uri="{FF2B5EF4-FFF2-40B4-BE49-F238E27FC236}">
                    <a16:creationId xmlns:a16="http://schemas.microsoft.com/office/drawing/2014/main" id="{1FD8CAAB-8ACB-4CB6-828E-B59F23737F10}"/>
                  </a:ext>
                </a:extLst>
              </p:cNvPr>
              <p:cNvSpPr/>
              <p:nvPr/>
            </p:nvSpPr>
            <p:spPr bwMode="gray">
              <a:xfrm rot="5400000">
                <a:off x="11199427" y="2682522"/>
                <a:ext cx="695639" cy="72658"/>
              </a:xfrm>
              <a:prstGeom prst="triangle">
                <a:avLst/>
              </a:prstGeom>
              <a:grpFill/>
              <a:ln w="19050" algn="ctr">
                <a:noFill/>
                <a:miter lim="800000"/>
                <a:headEnd/>
                <a:tailEnd/>
              </a:ln>
            </p:spPr>
            <p:txBody>
              <a:bodyPr wrap="square" lIns="88900" tIns="88900" rIns="88900" bIns="88900" rtlCol="0" anchor="ctr"/>
              <a:lstStyle/>
              <a:p>
                <a:pPr algn="ctr">
                  <a:defRPr/>
                </a:pPr>
                <a:endParaRPr lang="en-GB" sz="1100" kern="0" dirty="0">
                  <a:solidFill>
                    <a:prstClr val="white"/>
                  </a:solidFill>
                  <a:latin typeface="+mj-lt"/>
                </a:endParaRPr>
              </a:p>
            </p:txBody>
          </p:sp>
          <p:sp>
            <p:nvSpPr>
              <p:cNvPr id="77" name="Chevron 124">
                <a:extLst>
                  <a:ext uri="{FF2B5EF4-FFF2-40B4-BE49-F238E27FC236}">
                    <a16:creationId xmlns:a16="http://schemas.microsoft.com/office/drawing/2014/main" id="{142987B3-7CD2-42DB-AD1B-02FBE3B98DA4}"/>
                  </a:ext>
                </a:extLst>
              </p:cNvPr>
              <p:cNvSpPr/>
              <p:nvPr/>
            </p:nvSpPr>
            <p:spPr bwMode="gray">
              <a:xfrm>
                <a:off x="9408248" y="2461681"/>
                <a:ext cx="2175328" cy="514338"/>
              </a:xfrm>
              <a:prstGeom prst="chevron">
                <a:avLst>
                  <a:gd name="adj" fmla="val 13377"/>
                </a:avLst>
              </a:prstGeom>
              <a:solidFill>
                <a:srgbClr val="009A44"/>
              </a:solidFill>
              <a:ln w="19050" algn="ctr">
                <a:noFill/>
                <a:miter lim="800000"/>
                <a:headEnd/>
                <a:tailEnd/>
              </a:ln>
            </p:spPr>
            <p:txBody>
              <a:bodyPr wrap="square" lIns="88900" tIns="88900" rIns="88900" bIns="88900" rtlCol="0" anchor="ctr"/>
              <a:lstStyle/>
              <a:p>
                <a:pPr algn="ctr">
                  <a:defRPr/>
                </a:pPr>
                <a:r>
                  <a:rPr lang="da-DK" sz="1100" kern="0" dirty="0">
                    <a:solidFill>
                      <a:schemeClr val="bg1"/>
                    </a:solidFill>
                    <a:latin typeface="+mj-lt"/>
                  </a:rPr>
                  <a:t>Power Purchase Portfolio Optimization for WBSEDCL</a:t>
                </a:r>
                <a:endParaRPr lang="en-US" sz="1100" kern="0" dirty="0">
                  <a:solidFill>
                    <a:schemeClr val="bg1"/>
                  </a:solidFill>
                  <a:latin typeface="+mj-lt"/>
                </a:endParaRPr>
              </a:p>
            </p:txBody>
          </p:sp>
        </p:grpSp>
      </p:grpSp>
      <p:sp>
        <p:nvSpPr>
          <p:cNvPr id="78" name="Round Single Corner Rectangle 112">
            <a:extLst>
              <a:ext uri="{FF2B5EF4-FFF2-40B4-BE49-F238E27FC236}">
                <a16:creationId xmlns:a16="http://schemas.microsoft.com/office/drawing/2014/main" id="{37641ED0-DA67-41CA-85A6-64405AAA14F6}"/>
              </a:ext>
            </a:extLst>
          </p:cNvPr>
          <p:cNvSpPr/>
          <p:nvPr/>
        </p:nvSpPr>
        <p:spPr>
          <a:xfrm>
            <a:off x="4326579" y="3424957"/>
            <a:ext cx="1649361" cy="2538011"/>
          </a:xfrm>
          <a:prstGeom prst="round1Rect">
            <a:avLst>
              <a:gd name="adj" fmla="val 11091"/>
            </a:avLst>
          </a:prstGeom>
          <a:noFill/>
          <a:ln w="6350" cap="flat" cmpd="sng" algn="ctr">
            <a:solidFill>
              <a:srgbClr val="009A44"/>
            </a:solidFill>
            <a:prstDash val="solid"/>
          </a:ln>
          <a:effectLst/>
        </p:spPr>
        <p:txBody>
          <a:bodyPr lIns="73152" tIns="91440" rIns="73152" bIns="73152" rtlCol="0" anchor="t"/>
          <a:lstStyle/>
          <a:p>
            <a:pPr marL="171450" indent="-171450" defTabSz="965149">
              <a:buFont typeface="Arial" panose="020B0604020202020204" pitchFamily="34" charset="0"/>
              <a:buChar char="•"/>
              <a:defRPr/>
            </a:pPr>
            <a:r>
              <a:rPr lang="en-US" sz="1100" kern="0" dirty="0">
                <a:solidFill>
                  <a:prstClr val="black"/>
                </a:solidFill>
              </a:rPr>
              <a:t>PPA cost optimization through retirement of PPAs of higher cost </a:t>
            </a:r>
          </a:p>
          <a:p>
            <a:pPr marL="171450" indent="-171450" defTabSz="965149">
              <a:buFont typeface="Arial" panose="020B0604020202020204" pitchFamily="34" charset="0"/>
              <a:buChar char="•"/>
              <a:defRPr/>
            </a:pPr>
            <a:r>
              <a:rPr lang="en-US" sz="1100" kern="0" dirty="0">
                <a:solidFill>
                  <a:prstClr val="black"/>
                </a:solidFill>
              </a:rPr>
              <a:t>Power Purchase Cost reduction through RE portfolio addition</a:t>
            </a:r>
          </a:p>
          <a:p>
            <a:pPr marL="171450" indent="-171450" defTabSz="965149">
              <a:buFont typeface="Arial" panose="020B0604020202020204" pitchFamily="34" charset="0"/>
              <a:buChar char="•"/>
              <a:defRPr/>
            </a:pPr>
            <a:r>
              <a:rPr lang="en-US" sz="1100" kern="0" dirty="0">
                <a:solidFill>
                  <a:prstClr val="black"/>
                </a:solidFill>
              </a:rPr>
              <a:t>Real time management of power surplus</a:t>
            </a:r>
          </a:p>
        </p:txBody>
      </p:sp>
      <p:sp>
        <p:nvSpPr>
          <p:cNvPr id="79" name="Rounded Rectangle 114">
            <a:extLst>
              <a:ext uri="{FF2B5EF4-FFF2-40B4-BE49-F238E27FC236}">
                <a16:creationId xmlns:a16="http://schemas.microsoft.com/office/drawing/2014/main" id="{FFD8DFDF-FA30-4CFD-8834-45A5CEE24C47}"/>
              </a:ext>
            </a:extLst>
          </p:cNvPr>
          <p:cNvSpPr/>
          <p:nvPr/>
        </p:nvSpPr>
        <p:spPr bwMode="gray">
          <a:xfrm>
            <a:off x="4649265" y="2646063"/>
            <a:ext cx="1003992" cy="602162"/>
          </a:xfrm>
          <a:prstGeom prst="roundRect">
            <a:avLst/>
          </a:prstGeom>
          <a:solidFill>
            <a:sysClr val="window" lastClr="FFFFFF"/>
          </a:solidFill>
          <a:ln w="28575" cap="flat" cmpd="sng" algn="ctr">
            <a:solidFill>
              <a:srgbClr val="009A44"/>
            </a:solidFill>
            <a:prstDash val="solid"/>
          </a:ln>
          <a:effectLst/>
        </p:spPr>
        <p:txBody>
          <a:bodyPr lIns="73152" tIns="91440" rIns="73152" bIns="73152" rtlCol="0" anchor="t"/>
          <a:lstStyle/>
          <a:p>
            <a:pPr defTabSz="965149">
              <a:defRPr/>
            </a:pPr>
            <a:endParaRPr lang="en-GB" sz="1100" kern="0" dirty="0">
              <a:solidFill>
                <a:prstClr val="black"/>
              </a:solidFill>
              <a:latin typeface="Verdana"/>
            </a:endParaRPr>
          </a:p>
        </p:txBody>
      </p:sp>
      <p:sp>
        <p:nvSpPr>
          <p:cNvPr id="80" name="Freeform 96">
            <a:extLst>
              <a:ext uri="{FF2B5EF4-FFF2-40B4-BE49-F238E27FC236}">
                <a16:creationId xmlns:a16="http://schemas.microsoft.com/office/drawing/2014/main" id="{CB4BBACA-E153-4608-A43F-6FC121C22C62}"/>
              </a:ext>
            </a:extLst>
          </p:cNvPr>
          <p:cNvSpPr>
            <a:spLocks noChangeAspect="1" noEditPoints="1"/>
          </p:cNvSpPr>
          <p:nvPr/>
        </p:nvSpPr>
        <p:spPr bwMode="auto">
          <a:xfrm>
            <a:off x="4998745" y="2713955"/>
            <a:ext cx="305031" cy="466379"/>
          </a:xfrm>
          <a:custGeom>
            <a:avLst/>
            <a:gdLst>
              <a:gd name="T0" fmla="*/ 340 w 512"/>
              <a:gd name="T1" fmla="*/ 232 h 512"/>
              <a:gd name="T2" fmla="*/ 258 w 512"/>
              <a:gd name="T3" fmla="*/ 315 h 512"/>
              <a:gd name="T4" fmla="*/ 175 w 512"/>
              <a:gd name="T5" fmla="*/ 232 h 512"/>
              <a:gd name="T6" fmla="*/ 258 w 512"/>
              <a:gd name="T7" fmla="*/ 150 h 512"/>
              <a:gd name="T8" fmla="*/ 340 w 512"/>
              <a:gd name="T9" fmla="*/ 232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55 w 512"/>
              <a:gd name="T21" fmla="*/ 320 h 512"/>
              <a:gd name="T22" fmla="*/ 340 w 512"/>
              <a:gd name="T23" fmla="*/ 319 h 512"/>
              <a:gd name="T24" fmla="*/ 258 w 512"/>
              <a:gd name="T25" fmla="*/ 352 h 512"/>
              <a:gd name="T26" fmla="*/ 138 w 512"/>
              <a:gd name="T27" fmla="*/ 232 h 512"/>
              <a:gd name="T28" fmla="*/ 171 w 512"/>
              <a:gd name="T29" fmla="*/ 150 h 512"/>
              <a:gd name="T30" fmla="*/ 170 w 512"/>
              <a:gd name="T31" fmla="*/ 135 h 512"/>
              <a:gd name="T32" fmla="*/ 155 w 512"/>
              <a:gd name="T33" fmla="*/ 136 h 512"/>
              <a:gd name="T34" fmla="*/ 117 w 512"/>
              <a:gd name="T35" fmla="*/ 232 h 512"/>
              <a:gd name="T36" fmla="*/ 245 w 512"/>
              <a:gd name="T37" fmla="*/ 372 h 512"/>
              <a:gd name="T38" fmla="*/ 245 w 512"/>
              <a:gd name="T39" fmla="*/ 394 h 512"/>
              <a:gd name="T40" fmla="*/ 192 w 512"/>
              <a:gd name="T41" fmla="*/ 394 h 512"/>
              <a:gd name="T42" fmla="*/ 181 w 512"/>
              <a:gd name="T43" fmla="*/ 405 h 512"/>
              <a:gd name="T44" fmla="*/ 192 w 512"/>
              <a:gd name="T45" fmla="*/ 416 h 512"/>
              <a:gd name="T46" fmla="*/ 320 w 512"/>
              <a:gd name="T47" fmla="*/ 416 h 512"/>
              <a:gd name="T48" fmla="*/ 330 w 512"/>
              <a:gd name="T49" fmla="*/ 405 h 512"/>
              <a:gd name="T50" fmla="*/ 320 w 512"/>
              <a:gd name="T51" fmla="*/ 394 h 512"/>
              <a:gd name="T52" fmla="*/ 266 w 512"/>
              <a:gd name="T53" fmla="*/ 394 h 512"/>
              <a:gd name="T54" fmla="*/ 266 w 512"/>
              <a:gd name="T55" fmla="*/ 373 h 512"/>
              <a:gd name="T56" fmla="*/ 354 w 512"/>
              <a:gd name="T57" fmla="*/ 335 h 512"/>
              <a:gd name="T58" fmla="*/ 355 w 512"/>
              <a:gd name="T59" fmla="*/ 320 h 512"/>
              <a:gd name="T60" fmla="*/ 362 w 512"/>
              <a:gd name="T61" fmla="*/ 232 h 512"/>
              <a:gd name="T62" fmla="*/ 258 w 512"/>
              <a:gd name="T63" fmla="*/ 128 h 512"/>
              <a:gd name="T64" fmla="*/ 154 w 512"/>
              <a:gd name="T65" fmla="*/ 232 h 512"/>
              <a:gd name="T66" fmla="*/ 258 w 512"/>
              <a:gd name="T67" fmla="*/ 336 h 512"/>
              <a:gd name="T68" fmla="*/ 362 w 512"/>
              <a:gd name="T69" fmla="*/ 23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340" y="232"/>
                </a:moveTo>
                <a:cubicBezTo>
                  <a:pt x="340" y="278"/>
                  <a:pt x="303" y="315"/>
                  <a:pt x="258" y="315"/>
                </a:cubicBezTo>
                <a:cubicBezTo>
                  <a:pt x="212" y="315"/>
                  <a:pt x="175" y="278"/>
                  <a:pt x="175" y="232"/>
                </a:cubicBezTo>
                <a:cubicBezTo>
                  <a:pt x="175" y="187"/>
                  <a:pt x="212" y="150"/>
                  <a:pt x="258" y="150"/>
                </a:cubicBezTo>
                <a:cubicBezTo>
                  <a:pt x="303" y="150"/>
                  <a:pt x="340" y="187"/>
                  <a:pt x="340" y="232"/>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5" y="320"/>
                </a:moveTo>
                <a:cubicBezTo>
                  <a:pt x="351" y="315"/>
                  <a:pt x="344" y="315"/>
                  <a:pt x="340" y="319"/>
                </a:cubicBezTo>
                <a:cubicBezTo>
                  <a:pt x="317" y="340"/>
                  <a:pt x="288" y="352"/>
                  <a:pt x="258" y="352"/>
                </a:cubicBezTo>
                <a:cubicBezTo>
                  <a:pt x="192" y="352"/>
                  <a:pt x="138" y="298"/>
                  <a:pt x="138" y="232"/>
                </a:cubicBezTo>
                <a:cubicBezTo>
                  <a:pt x="138" y="202"/>
                  <a:pt x="150" y="173"/>
                  <a:pt x="171" y="150"/>
                </a:cubicBezTo>
                <a:cubicBezTo>
                  <a:pt x="175" y="146"/>
                  <a:pt x="175" y="139"/>
                  <a:pt x="170" y="135"/>
                </a:cubicBezTo>
                <a:cubicBezTo>
                  <a:pt x="166" y="131"/>
                  <a:pt x="159" y="132"/>
                  <a:pt x="155" y="136"/>
                </a:cubicBezTo>
                <a:cubicBezTo>
                  <a:pt x="131" y="162"/>
                  <a:pt x="117" y="196"/>
                  <a:pt x="117" y="232"/>
                </a:cubicBezTo>
                <a:cubicBezTo>
                  <a:pt x="117" y="306"/>
                  <a:pt x="173" y="366"/>
                  <a:pt x="245" y="372"/>
                </a:cubicBezTo>
                <a:cubicBezTo>
                  <a:pt x="245" y="394"/>
                  <a:pt x="245" y="394"/>
                  <a:pt x="245" y="394"/>
                </a:cubicBezTo>
                <a:cubicBezTo>
                  <a:pt x="192" y="394"/>
                  <a:pt x="192" y="394"/>
                  <a:pt x="192" y="394"/>
                </a:cubicBezTo>
                <a:cubicBezTo>
                  <a:pt x="186" y="394"/>
                  <a:pt x="181" y="399"/>
                  <a:pt x="181" y="405"/>
                </a:cubicBezTo>
                <a:cubicBezTo>
                  <a:pt x="181" y="411"/>
                  <a:pt x="186" y="416"/>
                  <a:pt x="192" y="416"/>
                </a:cubicBezTo>
                <a:cubicBezTo>
                  <a:pt x="320" y="416"/>
                  <a:pt x="320" y="416"/>
                  <a:pt x="320" y="416"/>
                </a:cubicBezTo>
                <a:cubicBezTo>
                  <a:pt x="326" y="416"/>
                  <a:pt x="330" y="411"/>
                  <a:pt x="330" y="405"/>
                </a:cubicBezTo>
                <a:cubicBezTo>
                  <a:pt x="330" y="399"/>
                  <a:pt x="326" y="394"/>
                  <a:pt x="320" y="394"/>
                </a:cubicBezTo>
                <a:cubicBezTo>
                  <a:pt x="266" y="394"/>
                  <a:pt x="266" y="394"/>
                  <a:pt x="266" y="394"/>
                </a:cubicBezTo>
                <a:cubicBezTo>
                  <a:pt x="266" y="373"/>
                  <a:pt x="266" y="373"/>
                  <a:pt x="266" y="373"/>
                </a:cubicBezTo>
                <a:cubicBezTo>
                  <a:pt x="299" y="371"/>
                  <a:pt x="330" y="357"/>
                  <a:pt x="354" y="335"/>
                </a:cubicBezTo>
                <a:cubicBezTo>
                  <a:pt x="358" y="331"/>
                  <a:pt x="359" y="324"/>
                  <a:pt x="355" y="320"/>
                </a:cubicBezTo>
                <a:close/>
                <a:moveTo>
                  <a:pt x="362" y="232"/>
                </a:moveTo>
                <a:cubicBezTo>
                  <a:pt x="362" y="175"/>
                  <a:pt x="315" y="128"/>
                  <a:pt x="258" y="128"/>
                </a:cubicBezTo>
                <a:cubicBezTo>
                  <a:pt x="200" y="128"/>
                  <a:pt x="154" y="175"/>
                  <a:pt x="154" y="232"/>
                </a:cubicBezTo>
                <a:cubicBezTo>
                  <a:pt x="154" y="290"/>
                  <a:pt x="200" y="336"/>
                  <a:pt x="258" y="336"/>
                </a:cubicBezTo>
                <a:cubicBezTo>
                  <a:pt x="315" y="336"/>
                  <a:pt x="362" y="290"/>
                  <a:pt x="362" y="232"/>
                </a:cubicBezTo>
                <a:close/>
              </a:path>
            </a:pathLst>
          </a:custGeom>
          <a:solidFill>
            <a:srgbClr val="009A44"/>
          </a:solidFill>
          <a:ln>
            <a:noFill/>
          </a:ln>
        </p:spPr>
        <p:txBody>
          <a:bodyPr vert="horz" wrap="square" lIns="91440" tIns="45720" rIns="91440" bIns="45720" numCol="1" anchor="t" anchorCtr="0" compatLnSpc="1">
            <a:prstTxWarp prst="textNoShape">
              <a:avLst/>
            </a:prstTxWarp>
          </a:bodyPr>
          <a:lstStyle/>
          <a:p>
            <a:endParaRPr lang="en-GB" sz="1100" dirty="0"/>
          </a:p>
        </p:txBody>
      </p:sp>
      <p:sp>
        <p:nvSpPr>
          <p:cNvPr id="81" name="Rectangle 80">
            <a:extLst>
              <a:ext uri="{FF2B5EF4-FFF2-40B4-BE49-F238E27FC236}">
                <a16:creationId xmlns:a16="http://schemas.microsoft.com/office/drawing/2014/main" id="{65A884B8-C89A-4911-A8B6-E67F8D90C1E6}"/>
              </a:ext>
            </a:extLst>
          </p:cNvPr>
          <p:cNvSpPr/>
          <p:nvPr/>
        </p:nvSpPr>
        <p:spPr bwMode="gray">
          <a:xfrm>
            <a:off x="4344636" y="6077527"/>
            <a:ext cx="1649361" cy="258618"/>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i="1" dirty="0">
                <a:solidFill>
                  <a:schemeClr val="bg1"/>
                </a:solidFill>
                <a:hlinkClick r:id="rId7" action="ppaction://hlinksldjump"/>
              </a:rPr>
              <a:t>Link to Detailed Slide</a:t>
            </a:r>
            <a:endParaRPr lang="en-US" sz="900" b="1" i="1" dirty="0">
              <a:solidFill>
                <a:schemeClr val="bg1"/>
              </a:solidFill>
            </a:endParaRPr>
          </a:p>
        </p:txBody>
      </p:sp>
      <p:sp>
        <p:nvSpPr>
          <p:cNvPr id="60" name="Oval 59">
            <a:extLst>
              <a:ext uri="{FF2B5EF4-FFF2-40B4-BE49-F238E27FC236}">
                <a16:creationId xmlns:a16="http://schemas.microsoft.com/office/drawing/2014/main" id="{46F01A2C-6368-4D75-943F-DFF25F57E07A}"/>
              </a:ext>
            </a:extLst>
          </p:cNvPr>
          <p:cNvSpPr/>
          <p:nvPr/>
        </p:nvSpPr>
        <p:spPr bwMode="gray">
          <a:xfrm>
            <a:off x="487888" y="1806024"/>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1</a:t>
            </a:r>
          </a:p>
        </p:txBody>
      </p:sp>
      <p:sp>
        <p:nvSpPr>
          <p:cNvPr id="61" name="Oval 60">
            <a:extLst>
              <a:ext uri="{FF2B5EF4-FFF2-40B4-BE49-F238E27FC236}">
                <a16:creationId xmlns:a16="http://schemas.microsoft.com/office/drawing/2014/main" id="{561DA78B-0C71-4E3E-87BB-7CA51E5497E4}"/>
              </a:ext>
            </a:extLst>
          </p:cNvPr>
          <p:cNvSpPr/>
          <p:nvPr/>
        </p:nvSpPr>
        <p:spPr bwMode="gray">
          <a:xfrm>
            <a:off x="2313147" y="1806024"/>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2</a:t>
            </a:r>
          </a:p>
        </p:txBody>
      </p:sp>
      <p:sp>
        <p:nvSpPr>
          <p:cNvPr id="62" name="Oval 61">
            <a:extLst>
              <a:ext uri="{FF2B5EF4-FFF2-40B4-BE49-F238E27FC236}">
                <a16:creationId xmlns:a16="http://schemas.microsoft.com/office/drawing/2014/main" id="{970484FE-12B8-4203-9CBC-B889E9B08E40}"/>
              </a:ext>
            </a:extLst>
          </p:cNvPr>
          <p:cNvSpPr/>
          <p:nvPr/>
        </p:nvSpPr>
        <p:spPr bwMode="gray">
          <a:xfrm>
            <a:off x="4244812" y="1794977"/>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3</a:t>
            </a:r>
          </a:p>
        </p:txBody>
      </p:sp>
      <p:sp>
        <p:nvSpPr>
          <p:cNvPr id="63" name="Oval 62">
            <a:extLst>
              <a:ext uri="{FF2B5EF4-FFF2-40B4-BE49-F238E27FC236}">
                <a16:creationId xmlns:a16="http://schemas.microsoft.com/office/drawing/2014/main" id="{F1A39E89-A789-430D-A00B-7498FFADDE5B}"/>
              </a:ext>
            </a:extLst>
          </p:cNvPr>
          <p:cNvSpPr/>
          <p:nvPr/>
        </p:nvSpPr>
        <p:spPr bwMode="gray">
          <a:xfrm>
            <a:off x="6088384" y="1794977"/>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4</a:t>
            </a:r>
          </a:p>
        </p:txBody>
      </p:sp>
      <p:sp>
        <p:nvSpPr>
          <p:cNvPr id="64" name="Oval 63">
            <a:extLst>
              <a:ext uri="{FF2B5EF4-FFF2-40B4-BE49-F238E27FC236}">
                <a16:creationId xmlns:a16="http://schemas.microsoft.com/office/drawing/2014/main" id="{F4DA310C-A2F7-4ABC-832C-0D8E4B0EA921}"/>
              </a:ext>
            </a:extLst>
          </p:cNvPr>
          <p:cNvSpPr/>
          <p:nvPr/>
        </p:nvSpPr>
        <p:spPr bwMode="gray">
          <a:xfrm>
            <a:off x="7937369" y="1766552"/>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5</a:t>
            </a:r>
          </a:p>
        </p:txBody>
      </p:sp>
      <p:sp>
        <p:nvSpPr>
          <p:cNvPr id="65" name="Oval 64">
            <a:extLst>
              <a:ext uri="{FF2B5EF4-FFF2-40B4-BE49-F238E27FC236}">
                <a16:creationId xmlns:a16="http://schemas.microsoft.com/office/drawing/2014/main" id="{98CFE9D2-7C7E-4218-95AC-2822A53FA350}"/>
              </a:ext>
            </a:extLst>
          </p:cNvPr>
          <p:cNvSpPr/>
          <p:nvPr/>
        </p:nvSpPr>
        <p:spPr bwMode="gray">
          <a:xfrm>
            <a:off x="9737426" y="1766552"/>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6</a:t>
            </a:r>
          </a:p>
        </p:txBody>
      </p:sp>
    </p:spTree>
    <p:extLst>
      <p:ext uri="{BB962C8B-B14F-4D97-AF65-F5344CB8AC3E}">
        <p14:creationId xmlns:p14="http://schemas.microsoft.com/office/powerpoint/2010/main" val="295823090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55E6373-473D-4239-AA11-40903D8562A2}"/>
              </a:ext>
            </a:extLst>
          </p:cNvPr>
          <p:cNvSpPr/>
          <p:nvPr/>
        </p:nvSpPr>
        <p:spPr>
          <a:xfrm>
            <a:off x="5899983" y="604139"/>
            <a:ext cx="6141330" cy="609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2E62A8D-4E02-4F4A-8EFC-8971C56A55AC}"/>
              </a:ext>
            </a:extLst>
          </p:cNvPr>
          <p:cNvSpPr/>
          <p:nvPr/>
        </p:nvSpPr>
        <p:spPr>
          <a:xfrm>
            <a:off x="3672114" y="587022"/>
            <a:ext cx="2116045" cy="609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FC0A247-5583-43C5-85C8-2CC1AB11FD01}"/>
              </a:ext>
            </a:extLst>
          </p:cNvPr>
          <p:cNvSpPr/>
          <p:nvPr/>
        </p:nvSpPr>
        <p:spPr>
          <a:xfrm>
            <a:off x="249096" y="604139"/>
            <a:ext cx="3276773" cy="609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C0A585B-C1F6-43C2-92A6-10F5C59F9A4D}"/>
              </a:ext>
            </a:extLst>
          </p:cNvPr>
          <p:cNvSpPr/>
          <p:nvPr/>
        </p:nvSpPr>
        <p:spPr>
          <a:xfrm>
            <a:off x="8037870" y="728277"/>
            <a:ext cx="1828800" cy="63794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Distribution (WBSEDCL)</a:t>
            </a:r>
          </a:p>
        </p:txBody>
      </p:sp>
      <p:sp>
        <p:nvSpPr>
          <p:cNvPr id="5" name="Rectangle 4">
            <a:extLst>
              <a:ext uri="{FF2B5EF4-FFF2-40B4-BE49-F238E27FC236}">
                <a16:creationId xmlns:a16="http://schemas.microsoft.com/office/drawing/2014/main" id="{1014B0A8-A7E5-4D0B-947A-2F77E5EC867B}"/>
              </a:ext>
            </a:extLst>
          </p:cNvPr>
          <p:cNvSpPr/>
          <p:nvPr/>
        </p:nvSpPr>
        <p:spPr>
          <a:xfrm>
            <a:off x="984361" y="728276"/>
            <a:ext cx="1828800" cy="63794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Generation (WBPDCL)</a:t>
            </a:r>
          </a:p>
        </p:txBody>
      </p:sp>
      <p:sp>
        <p:nvSpPr>
          <p:cNvPr id="8" name="Oval 7">
            <a:extLst>
              <a:ext uri="{FF2B5EF4-FFF2-40B4-BE49-F238E27FC236}">
                <a16:creationId xmlns:a16="http://schemas.microsoft.com/office/drawing/2014/main" id="{72836CFE-D36C-47D2-9BC7-4D6BC822A323}"/>
              </a:ext>
            </a:extLst>
          </p:cNvPr>
          <p:cNvSpPr/>
          <p:nvPr/>
        </p:nvSpPr>
        <p:spPr>
          <a:xfrm>
            <a:off x="442627" y="3494917"/>
            <a:ext cx="1323656" cy="10274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17 </a:t>
            </a:r>
            <a:r>
              <a:rPr lang="en-US" sz="1600" dirty="0"/>
              <a:t>p/kWh </a:t>
            </a:r>
          </a:p>
        </p:txBody>
      </p:sp>
      <p:sp>
        <p:nvSpPr>
          <p:cNvPr id="10" name="Oval 9">
            <a:extLst>
              <a:ext uri="{FF2B5EF4-FFF2-40B4-BE49-F238E27FC236}">
                <a16:creationId xmlns:a16="http://schemas.microsoft.com/office/drawing/2014/main" id="{39579CC1-F3C6-4B61-B544-17CE482DC0B1}"/>
              </a:ext>
            </a:extLst>
          </p:cNvPr>
          <p:cNvSpPr/>
          <p:nvPr/>
        </p:nvSpPr>
        <p:spPr>
          <a:xfrm>
            <a:off x="2042178" y="3491402"/>
            <a:ext cx="1323656" cy="10274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35 </a:t>
            </a:r>
            <a:r>
              <a:rPr lang="en-US" sz="1600" dirty="0"/>
              <a:t>p/kWh</a:t>
            </a:r>
          </a:p>
        </p:txBody>
      </p:sp>
      <p:sp>
        <p:nvSpPr>
          <p:cNvPr id="11" name="Rectangle: Rounded Corners 10">
            <a:extLst>
              <a:ext uri="{FF2B5EF4-FFF2-40B4-BE49-F238E27FC236}">
                <a16:creationId xmlns:a16="http://schemas.microsoft.com/office/drawing/2014/main" id="{D7C6BEED-4E18-412C-A850-4588E8F35E37}"/>
              </a:ext>
            </a:extLst>
          </p:cNvPr>
          <p:cNvSpPr/>
          <p:nvPr/>
        </p:nvSpPr>
        <p:spPr>
          <a:xfrm>
            <a:off x="1984638" y="1470586"/>
            <a:ext cx="1476000" cy="19512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Coal Supply share maximum @ Captive Mine</a:t>
            </a:r>
          </a:p>
        </p:txBody>
      </p:sp>
      <p:sp>
        <p:nvSpPr>
          <p:cNvPr id="12" name="Oval 11">
            <a:extLst>
              <a:ext uri="{FF2B5EF4-FFF2-40B4-BE49-F238E27FC236}">
                <a16:creationId xmlns:a16="http://schemas.microsoft.com/office/drawing/2014/main" id="{13A63D58-F98E-4C67-B06F-9A7FF81197F8}"/>
              </a:ext>
            </a:extLst>
          </p:cNvPr>
          <p:cNvSpPr/>
          <p:nvPr/>
        </p:nvSpPr>
        <p:spPr>
          <a:xfrm>
            <a:off x="1225654" y="4791404"/>
            <a:ext cx="1323656" cy="1027416"/>
          </a:xfrm>
          <a:prstGeom prst="ellipse">
            <a:avLst/>
          </a:prstGeom>
          <a:solidFill>
            <a:srgbClr val="2C52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52 </a:t>
            </a:r>
            <a:r>
              <a:rPr lang="en-US" sz="1600" dirty="0"/>
              <a:t>p/kWh</a:t>
            </a:r>
          </a:p>
        </p:txBody>
      </p:sp>
      <p:sp>
        <p:nvSpPr>
          <p:cNvPr id="13" name="Rectangle: Rounded Corners 12">
            <a:extLst>
              <a:ext uri="{FF2B5EF4-FFF2-40B4-BE49-F238E27FC236}">
                <a16:creationId xmlns:a16="http://schemas.microsoft.com/office/drawing/2014/main" id="{FBAC2F74-A7E9-4C25-BEE8-D9086DBC04DC}"/>
              </a:ext>
            </a:extLst>
          </p:cNvPr>
          <p:cNvSpPr/>
          <p:nvPr/>
        </p:nvSpPr>
        <p:spPr>
          <a:xfrm>
            <a:off x="639881" y="5998945"/>
            <a:ext cx="2342899" cy="570407"/>
          </a:xfrm>
          <a:prstGeom prst="roundRect">
            <a:avLst/>
          </a:prstGeom>
          <a:solidFill>
            <a:srgbClr val="2C52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Total Savings Incl. Captive+ Generation</a:t>
            </a:r>
          </a:p>
        </p:txBody>
      </p:sp>
      <p:sp>
        <p:nvSpPr>
          <p:cNvPr id="6" name="Rectangle 5">
            <a:extLst>
              <a:ext uri="{FF2B5EF4-FFF2-40B4-BE49-F238E27FC236}">
                <a16:creationId xmlns:a16="http://schemas.microsoft.com/office/drawing/2014/main" id="{97DA48D1-4606-4A8D-A8DE-59E60D7C5097}"/>
              </a:ext>
            </a:extLst>
          </p:cNvPr>
          <p:cNvSpPr/>
          <p:nvPr/>
        </p:nvSpPr>
        <p:spPr>
          <a:xfrm>
            <a:off x="3813184" y="728278"/>
            <a:ext cx="1828800" cy="63794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Transmission (WBSETCL)</a:t>
            </a:r>
          </a:p>
        </p:txBody>
      </p:sp>
      <p:sp>
        <p:nvSpPr>
          <p:cNvPr id="16" name="Oval 15">
            <a:extLst>
              <a:ext uri="{FF2B5EF4-FFF2-40B4-BE49-F238E27FC236}">
                <a16:creationId xmlns:a16="http://schemas.microsoft.com/office/drawing/2014/main" id="{776BE2CF-F73E-45E0-8635-428A3DC20307}"/>
              </a:ext>
            </a:extLst>
          </p:cNvPr>
          <p:cNvSpPr/>
          <p:nvPr/>
        </p:nvSpPr>
        <p:spPr>
          <a:xfrm>
            <a:off x="4036049" y="3500226"/>
            <a:ext cx="1323656" cy="10274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 / 6 </a:t>
            </a:r>
            <a:r>
              <a:rPr lang="en-US" sz="1600" dirty="0"/>
              <a:t>p/kWh</a:t>
            </a:r>
          </a:p>
        </p:txBody>
      </p:sp>
      <p:sp>
        <p:nvSpPr>
          <p:cNvPr id="17" name="Rectangle: Rounded Corners 16">
            <a:extLst>
              <a:ext uri="{FF2B5EF4-FFF2-40B4-BE49-F238E27FC236}">
                <a16:creationId xmlns:a16="http://schemas.microsoft.com/office/drawing/2014/main" id="{4E0F4AEA-C085-41F1-AE2C-3208BABFFA83}"/>
              </a:ext>
            </a:extLst>
          </p:cNvPr>
          <p:cNvSpPr/>
          <p:nvPr/>
        </p:nvSpPr>
        <p:spPr>
          <a:xfrm>
            <a:off x="3800527" y="1485919"/>
            <a:ext cx="1814400" cy="19512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Reduced ROE Claim by WBSETCL @ 7.5% / 10% </a:t>
            </a:r>
          </a:p>
        </p:txBody>
      </p:sp>
      <p:sp>
        <p:nvSpPr>
          <p:cNvPr id="20" name="Oval 19">
            <a:extLst>
              <a:ext uri="{FF2B5EF4-FFF2-40B4-BE49-F238E27FC236}">
                <a16:creationId xmlns:a16="http://schemas.microsoft.com/office/drawing/2014/main" id="{C714776E-8B4A-4EF6-A84E-286D18964216}"/>
              </a:ext>
            </a:extLst>
          </p:cNvPr>
          <p:cNvSpPr/>
          <p:nvPr/>
        </p:nvSpPr>
        <p:spPr>
          <a:xfrm>
            <a:off x="4036049" y="4779596"/>
            <a:ext cx="1323656" cy="1027416"/>
          </a:xfrm>
          <a:prstGeom prst="ellipse">
            <a:avLst/>
          </a:prstGeom>
          <a:solidFill>
            <a:srgbClr val="2C52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61/58 </a:t>
            </a:r>
            <a:r>
              <a:rPr lang="en-US" sz="1600" dirty="0"/>
              <a:t>p/kWh</a:t>
            </a:r>
          </a:p>
        </p:txBody>
      </p:sp>
      <p:sp>
        <p:nvSpPr>
          <p:cNvPr id="21" name="Rectangle: Rounded Corners 20">
            <a:extLst>
              <a:ext uri="{FF2B5EF4-FFF2-40B4-BE49-F238E27FC236}">
                <a16:creationId xmlns:a16="http://schemas.microsoft.com/office/drawing/2014/main" id="{C71478B5-4139-4ADC-89CC-D829988F3F0F}"/>
              </a:ext>
            </a:extLst>
          </p:cNvPr>
          <p:cNvSpPr/>
          <p:nvPr/>
        </p:nvSpPr>
        <p:spPr>
          <a:xfrm>
            <a:off x="3745660" y="5938947"/>
            <a:ext cx="1991480" cy="684948"/>
          </a:xfrm>
          <a:prstGeom prst="roundRect">
            <a:avLst/>
          </a:prstGeom>
          <a:solidFill>
            <a:srgbClr val="2C52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Total Savings incl. Generation +Transmission</a:t>
            </a:r>
          </a:p>
        </p:txBody>
      </p:sp>
      <p:sp>
        <p:nvSpPr>
          <p:cNvPr id="24" name="Oval 23">
            <a:extLst>
              <a:ext uri="{FF2B5EF4-FFF2-40B4-BE49-F238E27FC236}">
                <a16:creationId xmlns:a16="http://schemas.microsoft.com/office/drawing/2014/main" id="{6F785792-DF62-479C-AE71-57BF91DE8B4A}"/>
              </a:ext>
            </a:extLst>
          </p:cNvPr>
          <p:cNvSpPr/>
          <p:nvPr/>
        </p:nvSpPr>
        <p:spPr>
          <a:xfrm>
            <a:off x="6256735" y="3500226"/>
            <a:ext cx="1323656" cy="10274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16 </a:t>
            </a:r>
            <a:r>
              <a:rPr lang="en-US" sz="1600" dirty="0"/>
              <a:t>p/kWh</a:t>
            </a:r>
            <a:endParaRPr lang="en-US" dirty="0"/>
          </a:p>
        </p:txBody>
      </p:sp>
      <p:sp>
        <p:nvSpPr>
          <p:cNvPr id="25" name="Rectangle: Rounded Corners 24">
            <a:extLst>
              <a:ext uri="{FF2B5EF4-FFF2-40B4-BE49-F238E27FC236}">
                <a16:creationId xmlns:a16="http://schemas.microsoft.com/office/drawing/2014/main" id="{08E04C89-FC3E-4896-8648-0F22077A23FB}"/>
              </a:ext>
            </a:extLst>
          </p:cNvPr>
          <p:cNvSpPr/>
          <p:nvPr/>
        </p:nvSpPr>
        <p:spPr>
          <a:xfrm>
            <a:off x="6000758" y="1472803"/>
            <a:ext cx="1814876" cy="195018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Billing Efficiency Improvement @ 3%- Reduction of ACOS @ retirement of contract of highest MOD plants </a:t>
            </a:r>
          </a:p>
        </p:txBody>
      </p:sp>
      <p:sp>
        <p:nvSpPr>
          <p:cNvPr id="26" name="Oval 25">
            <a:extLst>
              <a:ext uri="{FF2B5EF4-FFF2-40B4-BE49-F238E27FC236}">
                <a16:creationId xmlns:a16="http://schemas.microsoft.com/office/drawing/2014/main" id="{2B85B274-335B-4DA2-A04D-85B587DBFEF8}"/>
              </a:ext>
            </a:extLst>
          </p:cNvPr>
          <p:cNvSpPr/>
          <p:nvPr/>
        </p:nvSpPr>
        <p:spPr>
          <a:xfrm>
            <a:off x="8290442" y="3505762"/>
            <a:ext cx="1323656" cy="10274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 </a:t>
            </a:r>
            <a:r>
              <a:rPr lang="en-US" sz="1600" dirty="0"/>
              <a:t>p/kWh</a:t>
            </a:r>
            <a:endParaRPr lang="en-US" dirty="0"/>
          </a:p>
        </p:txBody>
      </p:sp>
      <p:sp>
        <p:nvSpPr>
          <p:cNvPr id="27" name="Rectangle: Rounded Corners 26">
            <a:extLst>
              <a:ext uri="{FF2B5EF4-FFF2-40B4-BE49-F238E27FC236}">
                <a16:creationId xmlns:a16="http://schemas.microsoft.com/office/drawing/2014/main" id="{AECC5BA5-617F-4F56-95D7-5C27676C72FE}"/>
              </a:ext>
            </a:extLst>
          </p:cNvPr>
          <p:cNvSpPr/>
          <p:nvPr/>
        </p:nvSpPr>
        <p:spPr>
          <a:xfrm>
            <a:off x="8063210" y="1472803"/>
            <a:ext cx="1814876" cy="195018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Billing Efficiency Improvement @ 3%</a:t>
            </a:r>
          </a:p>
          <a:p>
            <a:pPr algn="ctr"/>
            <a:r>
              <a:rPr lang="en-US" sz="1400" dirty="0">
                <a:solidFill>
                  <a:schemeClr val="tx1"/>
                </a:solidFill>
              </a:rPr>
              <a:t>Reduction of ACOS @ Avg ECR of DVC  Mejia &amp; RTPS  </a:t>
            </a:r>
          </a:p>
        </p:txBody>
      </p:sp>
      <p:sp>
        <p:nvSpPr>
          <p:cNvPr id="28" name="Oval 27">
            <a:extLst>
              <a:ext uri="{FF2B5EF4-FFF2-40B4-BE49-F238E27FC236}">
                <a16:creationId xmlns:a16="http://schemas.microsoft.com/office/drawing/2014/main" id="{F9813792-EBC4-4E9B-AA8B-E37DAD5ED59B}"/>
              </a:ext>
            </a:extLst>
          </p:cNvPr>
          <p:cNvSpPr/>
          <p:nvPr/>
        </p:nvSpPr>
        <p:spPr>
          <a:xfrm>
            <a:off x="8308820" y="4811896"/>
            <a:ext cx="1323656" cy="1027416"/>
          </a:xfrm>
          <a:prstGeom prst="ellipse">
            <a:avLst/>
          </a:prstGeom>
          <a:solidFill>
            <a:srgbClr val="2C52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87/79 </a:t>
            </a:r>
            <a:r>
              <a:rPr lang="en-US" sz="1600" dirty="0"/>
              <a:t>p/kWh</a:t>
            </a:r>
            <a:endParaRPr lang="en-US" dirty="0"/>
          </a:p>
        </p:txBody>
      </p:sp>
      <p:sp>
        <p:nvSpPr>
          <p:cNvPr id="29" name="Rectangle: Rounded Corners 28">
            <a:extLst>
              <a:ext uri="{FF2B5EF4-FFF2-40B4-BE49-F238E27FC236}">
                <a16:creationId xmlns:a16="http://schemas.microsoft.com/office/drawing/2014/main" id="{27DE2A8D-7FDC-471D-8F7F-CC6235B8675A}"/>
              </a:ext>
            </a:extLst>
          </p:cNvPr>
          <p:cNvSpPr/>
          <p:nvPr/>
        </p:nvSpPr>
        <p:spPr>
          <a:xfrm>
            <a:off x="7444658" y="5941021"/>
            <a:ext cx="3003494" cy="684948"/>
          </a:xfrm>
          <a:prstGeom prst="roundRect">
            <a:avLst/>
          </a:prstGeom>
          <a:solidFill>
            <a:srgbClr val="2C52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Total Savings incl. Generation +Transmission+ Distribution</a:t>
            </a:r>
          </a:p>
        </p:txBody>
      </p:sp>
      <p:sp>
        <p:nvSpPr>
          <p:cNvPr id="52" name="Title 2">
            <a:extLst>
              <a:ext uri="{FF2B5EF4-FFF2-40B4-BE49-F238E27FC236}">
                <a16:creationId xmlns:a16="http://schemas.microsoft.com/office/drawing/2014/main" id="{98A84884-0578-4228-84A9-8B02CE73BD8B}"/>
              </a:ext>
            </a:extLst>
          </p:cNvPr>
          <p:cNvSpPr txBox="1">
            <a:spLocks/>
          </p:cNvSpPr>
          <p:nvPr/>
        </p:nvSpPr>
        <p:spPr bwMode="gray">
          <a:xfrm>
            <a:off x="486361" y="108144"/>
            <a:ext cx="11162350" cy="334101"/>
          </a:xfrm>
          <a:prstGeom prst="rect">
            <a:avLst/>
          </a:prstGeom>
        </p:spPr>
        <p:txBody>
          <a:bodyPr vert="horz" lIns="0" tIns="0" rIns="0" bIns="0" rtlCol="0" anchor="t" anchorCtr="0">
            <a:noAutofit/>
          </a:bodyPr>
          <a:lstStyle>
            <a:lvl1pPr algn="ctr" defTabSz="1219231" rtl="0" eaLnBrk="1" latinLnBrk="0" hangingPunct="1">
              <a:spcBef>
                <a:spcPct val="0"/>
              </a:spcBef>
              <a:buNone/>
              <a:defRPr sz="6000" kern="1200">
                <a:solidFill>
                  <a:schemeClr val="tx1"/>
                </a:solidFill>
                <a:latin typeface="+mj-lt"/>
                <a:ea typeface="+mj-ea"/>
                <a:cs typeface="+mj-cs"/>
              </a:defRPr>
            </a:lvl1pPr>
          </a:lstStyle>
          <a:p>
            <a:pPr algn="l">
              <a:lnSpc>
                <a:spcPct val="90000"/>
              </a:lnSpc>
            </a:pPr>
            <a:endParaRPr lang="en-US" sz="2000" b="1" dirty="0">
              <a:latin typeface="Verdana" panose="020B0604030504040204" pitchFamily="34" charset="0"/>
              <a:ea typeface="Verdana" panose="020B0604030504040204" pitchFamily="34" charset="0"/>
            </a:endParaRPr>
          </a:p>
        </p:txBody>
      </p:sp>
      <p:sp>
        <p:nvSpPr>
          <p:cNvPr id="42" name="Rectangle: Rounded Corners 41">
            <a:extLst>
              <a:ext uri="{FF2B5EF4-FFF2-40B4-BE49-F238E27FC236}">
                <a16:creationId xmlns:a16="http://schemas.microsoft.com/office/drawing/2014/main" id="{B10BA104-1F50-4628-869F-196C90083AEB}"/>
              </a:ext>
            </a:extLst>
          </p:cNvPr>
          <p:cNvSpPr/>
          <p:nvPr/>
        </p:nvSpPr>
        <p:spPr>
          <a:xfrm>
            <a:off x="372571" y="1470586"/>
            <a:ext cx="1476000" cy="19512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Retirement Old Asset completed useful life</a:t>
            </a:r>
          </a:p>
        </p:txBody>
      </p:sp>
      <p:sp>
        <p:nvSpPr>
          <p:cNvPr id="43" name="Title 2">
            <a:extLst>
              <a:ext uri="{FF2B5EF4-FFF2-40B4-BE49-F238E27FC236}">
                <a16:creationId xmlns:a16="http://schemas.microsoft.com/office/drawing/2014/main" id="{5535884D-2B6A-4B63-83DF-30E7C47C698E}"/>
              </a:ext>
            </a:extLst>
          </p:cNvPr>
          <p:cNvSpPr txBox="1">
            <a:spLocks/>
          </p:cNvSpPr>
          <p:nvPr/>
        </p:nvSpPr>
        <p:spPr bwMode="gray">
          <a:xfrm>
            <a:off x="486361" y="131595"/>
            <a:ext cx="11162350" cy="334101"/>
          </a:xfrm>
          <a:prstGeom prst="rect">
            <a:avLst/>
          </a:prstGeom>
        </p:spPr>
        <p:txBody>
          <a:bodyPr vert="horz" lIns="0" tIns="0" rIns="0" bIns="0" rtlCol="0" anchor="t" anchorCtr="0">
            <a:noAutofit/>
          </a:bodyPr>
          <a:lstStyle>
            <a:lvl1pPr algn="ctr" defTabSz="1219231" rtl="0" eaLnBrk="1" latinLnBrk="0" hangingPunct="1">
              <a:spcBef>
                <a:spcPct val="0"/>
              </a:spcBef>
              <a:buNone/>
              <a:defRPr sz="6000" kern="1200">
                <a:solidFill>
                  <a:schemeClr val="tx1"/>
                </a:solidFill>
                <a:latin typeface="+mj-lt"/>
                <a:ea typeface="+mj-ea"/>
                <a:cs typeface="+mj-cs"/>
              </a:defRPr>
            </a:lvl1pPr>
          </a:lstStyle>
          <a:p>
            <a:pPr algn="l">
              <a:lnSpc>
                <a:spcPct val="90000"/>
              </a:lnSpc>
            </a:pPr>
            <a:r>
              <a:rPr lang="en-US" sz="2000" dirty="0">
                <a:latin typeface="Verdana" panose="020B0604030504040204" pitchFamily="34" charset="0"/>
                <a:ea typeface="Verdana" panose="020B0604030504040204" pitchFamily="34" charset="0"/>
              </a:rPr>
              <a:t>Cost Savings Potential for WB Power Utilities</a:t>
            </a:r>
          </a:p>
        </p:txBody>
      </p:sp>
      <p:sp>
        <p:nvSpPr>
          <p:cNvPr id="38" name="Rectangle: Rounded Corners 37">
            <a:extLst>
              <a:ext uri="{FF2B5EF4-FFF2-40B4-BE49-F238E27FC236}">
                <a16:creationId xmlns:a16="http://schemas.microsoft.com/office/drawing/2014/main" id="{63512007-D561-44A2-A356-B092980348F3}"/>
              </a:ext>
            </a:extLst>
          </p:cNvPr>
          <p:cNvSpPr/>
          <p:nvPr/>
        </p:nvSpPr>
        <p:spPr>
          <a:xfrm>
            <a:off x="10109460" y="1472803"/>
            <a:ext cx="1814876" cy="195018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Additional Savings in PP Cost</a:t>
            </a:r>
          </a:p>
          <a:p>
            <a:pPr algn="ctr"/>
            <a:r>
              <a:rPr lang="en-US" sz="1400" dirty="0">
                <a:solidFill>
                  <a:schemeClr val="tx1"/>
                </a:solidFill>
              </a:rPr>
              <a:t>With RPO obligation if met</a:t>
            </a:r>
          </a:p>
        </p:txBody>
      </p:sp>
      <p:sp>
        <p:nvSpPr>
          <p:cNvPr id="39" name="Oval 38">
            <a:extLst>
              <a:ext uri="{FF2B5EF4-FFF2-40B4-BE49-F238E27FC236}">
                <a16:creationId xmlns:a16="http://schemas.microsoft.com/office/drawing/2014/main" id="{5DF5C3F4-5CB3-4DC9-B744-263E9821A6F7}"/>
              </a:ext>
            </a:extLst>
          </p:cNvPr>
          <p:cNvSpPr/>
          <p:nvPr/>
        </p:nvSpPr>
        <p:spPr>
          <a:xfrm>
            <a:off x="10355070" y="3500226"/>
            <a:ext cx="1323656" cy="10274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 </a:t>
            </a:r>
            <a:r>
              <a:rPr lang="en-US" sz="1600" dirty="0"/>
              <a:t>p/kWh</a:t>
            </a:r>
            <a:endParaRPr lang="en-US" dirty="0"/>
          </a:p>
        </p:txBody>
      </p:sp>
      <p:sp>
        <p:nvSpPr>
          <p:cNvPr id="3" name="TextBox 2">
            <a:extLst>
              <a:ext uri="{FF2B5EF4-FFF2-40B4-BE49-F238E27FC236}">
                <a16:creationId xmlns:a16="http://schemas.microsoft.com/office/drawing/2014/main" id="{7DE642EE-1161-446C-9215-6E5ACD7ACD65}"/>
              </a:ext>
            </a:extLst>
          </p:cNvPr>
          <p:cNvSpPr txBox="1"/>
          <p:nvPr/>
        </p:nvSpPr>
        <p:spPr>
          <a:xfrm>
            <a:off x="1702527" y="3867428"/>
            <a:ext cx="394060" cy="276999"/>
          </a:xfrm>
          <a:prstGeom prst="rect">
            <a:avLst/>
          </a:prstGeom>
          <a:noFill/>
        </p:spPr>
        <p:txBody>
          <a:bodyPr wrap="square" lIns="0" tIns="0" rIns="0" bIns="0" rtlCol="0">
            <a:spAutoFit/>
          </a:bodyPr>
          <a:lstStyle/>
          <a:p>
            <a:pPr algn="ctr">
              <a:spcBef>
                <a:spcPts val="600"/>
              </a:spcBef>
              <a:buSzPct val="100000"/>
            </a:pPr>
            <a:r>
              <a:rPr lang="en-US" b="1" dirty="0">
                <a:solidFill>
                  <a:srgbClr val="313131"/>
                </a:solidFill>
              </a:rPr>
              <a:t>+</a:t>
            </a:r>
          </a:p>
        </p:txBody>
      </p:sp>
      <p:sp>
        <p:nvSpPr>
          <p:cNvPr id="40" name="TextBox 39">
            <a:extLst>
              <a:ext uri="{FF2B5EF4-FFF2-40B4-BE49-F238E27FC236}">
                <a16:creationId xmlns:a16="http://schemas.microsoft.com/office/drawing/2014/main" id="{8DB55FD6-5E98-4BA3-AD42-376D9C304DC9}"/>
              </a:ext>
            </a:extLst>
          </p:cNvPr>
          <p:cNvSpPr txBox="1"/>
          <p:nvPr/>
        </p:nvSpPr>
        <p:spPr>
          <a:xfrm>
            <a:off x="1702528" y="4487919"/>
            <a:ext cx="394060" cy="276999"/>
          </a:xfrm>
          <a:prstGeom prst="rect">
            <a:avLst/>
          </a:prstGeom>
          <a:noFill/>
        </p:spPr>
        <p:txBody>
          <a:bodyPr wrap="square" lIns="0" tIns="0" rIns="0" bIns="0" rtlCol="0">
            <a:spAutoFit/>
          </a:bodyPr>
          <a:lstStyle/>
          <a:p>
            <a:pPr algn="ctr">
              <a:spcBef>
                <a:spcPts val="600"/>
              </a:spcBef>
              <a:buSzPct val="100000"/>
            </a:pPr>
            <a:r>
              <a:rPr lang="en-US" b="1" dirty="0">
                <a:solidFill>
                  <a:srgbClr val="313131"/>
                </a:solidFill>
              </a:rPr>
              <a:t>=</a:t>
            </a:r>
          </a:p>
        </p:txBody>
      </p:sp>
      <p:sp>
        <p:nvSpPr>
          <p:cNvPr id="41" name="TextBox 40">
            <a:extLst>
              <a:ext uri="{FF2B5EF4-FFF2-40B4-BE49-F238E27FC236}">
                <a16:creationId xmlns:a16="http://schemas.microsoft.com/office/drawing/2014/main" id="{C1D0DCED-5027-4936-8B06-F43F4FFC78B8}"/>
              </a:ext>
            </a:extLst>
          </p:cNvPr>
          <p:cNvSpPr txBox="1"/>
          <p:nvPr/>
        </p:nvSpPr>
        <p:spPr>
          <a:xfrm>
            <a:off x="4500154" y="4487919"/>
            <a:ext cx="394060" cy="276999"/>
          </a:xfrm>
          <a:prstGeom prst="rect">
            <a:avLst/>
          </a:prstGeom>
          <a:noFill/>
        </p:spPr>
        <p:txBody>
          <a:bodyPr wrap="square" lIns="0" tIns="0" rIns="0" bIns="0" rtlCol="0">
            <a:spAutoFit/>
          </a:bodyPr>
          <a:lstStyle/>
          <a:p>
            <a:pPr algn="ctr">
              <a:spcBef>
                <a:spcPts val="600"/>
              </a:spcBef>
              <a:buSzPct val="100000"/>
            </a:pPr>
            <a:r>
              <a:rPr lang="en-US" b="1" dirty="0">
                <a:solidFill>
                  <a:srgbClr val="313131"/>
                </a:solidFill>
              </a:rPr>
              <a:t>=</a:t>
            </a:r>
          </a:p>
        </p:txBody>
      </p:sp>
      <p:sp>
        <p:nvSpPr>
          <p:cNvPr id="44" name="TextBox 43">
            <a:extLst>
              <a:ext uri="{FF2B5EF4-FFF2-40B4-BE49-F238E27FC236}">
                <a16:creationId xmlns:a16="http://schemas.microsoft.com/office/drawing/2014/main" id="{E6535241-E830-48E3-BB27-DA3F497C2C0C}"/>
              </a:ext>
            </a:extLst>
          </p:cNvPr>
          <p:cNvSpPr txBox="1"/>
          <p:nvPr/>
        </p:nvSpPr>
        <p:spPr>
          <a:xfrm>
            <a:off x="8745581" y="4487918"/>
            <a:ext cx="394060" cy="276999"/>
          </a:xfrm>
          <a:prstGeom prst="rect">
            <a:avLst/>
          </a:prstGeom>
          <a:noFill/>
        </p:spPr>
        <p:txBody>
          <a:bodyPr wrap="square" lIns="0" tIns="0" rIns="0" bIns="0" rtlCol="0">
            <a:spAutoFit/>
          </a:bodyPr>
          <a:lstStyle/>
          <a:p>
            <a:pPr algn="ctr">
              <a:spcBef>
                <a:spcPts val="600"/>
              </a:spcBef>
              <a:buSzPct val="100000"/>
            </a:pPr>
            <a:r>
              <a:rPr lang="en-US" b="1" dirty="0">
                <a:solidFill>
                  <a:srgbClr val="313131"/>
                </a:solidFill>
              </a:rPr>
              <a:t>=</a:t>
            </a:r>
          </a:p>
        </p:txBody>
      </p:sp>
      <p:sp>
        <p:nvSpPr>
          <p:cNvPr id="45" name="TextBox 44">
            <a:extLst>
              <a:ext uri="{FF2B5EF4-FFF2-40B4-BE49-F238E27FC236}">
                <a16:creationId xmlns:a16="http://schemas.microsoft.com/office/drawing/2014/main" id="{CF3DDC1A-0444-455B-9B97-DA11AD010DAE}"/>
              </a:ext>
            </a:extLst>
          </p:cNvPr>
          <p:cNvSpPr txBox="1"/>
          <p:nvPr/>
        </p:nvSpPr>
        <p:spPr>
          <a:xfrm>
            <a:off x="3400697" y="4487915"/>
            <a:ext cx="394060" cy="276999"/>
          </a:xfrm>
          <a:prstGeom prst="rect">
            <a:avLst/>
          </a:prstGeom>
          <a:noFill/>
        </p:spPr>
        <p:txBody>
          <a:bodyPr wrap="square" lIns="0" tIns="0" rIns="0" bIns="0" rtlCol="0">
            <a:spAutoFit/>
          </a:bodyPr>
          <a:lstStyle/>
          <a:p>
            <a:pPr algn="ctr">
              <a:spcBef>
                <a:spcPts val="600"/>
              </a:spcBef>
              <a:buSzPct val="100000"/>
            </a:pPr>
            <a:r>
              <a:rPr lang="en-US" b="1" dirty="0">
                <a:solidFill>
                  <a:srgbClr val="313131"/>
                </a:solidFill>
              </a:rPr>
              <a:t>+</a:t>
            </a:r>
          </a:p>
        </p:txBody>
      </p:sp>
      <p:sp>
        <p:nvSpPr>
          <p:cNvPr id="46" name="TextBox 45">
            <a:extLst>
              <a:ext uri="{FF2B5EF4-FFF2-40B4-BE49-F238E27FC236}">
                <a16:creationId xmlns:a16="http://schemas.microsoft.com/office/drawing/2014/main" id="{E1095FB7-5AA4-480F-9B0F-5951153A4FA4}"/>
              </a:ext>
            </a:extLst>
          </p:cNvPr>
          <p:cNvSpPr txBox="1"/>
          <p:nvPr/>
        </p:nvSpPr>
        <p:spPr>
          <a:xfrm>
            <a:off x="5643155" y="4487914"/>
            <a:ext cx="394060" cy="276999"/>
          </a:xfrm>
          <a:prstGeom prst="rect">
            <a:avLst/>
          </a:prstGeom>
          <a:noFill/>
        </p:spPr>
        <p:txBody>
          <a:bodyPr wrap="square" lIns="0" tIns="0" rIns="0" bIns="0" rtlCol="0">
            <a:spAutoFit/>
          </a:bodyPr>
          <a:lstStyle/>
          <a:p>
            <a:pPr algn="ctr">
              <a:spcBef>
                <a:spcPts val="600"/>
              </a:spcBef>
              <a:buSzPct val="100000"/>
            </a:pPr>
            <a:r>
              <a:rPr lang="en-US" b="1" dirty="0">
                <a:solidFill>
                  <a:srgbClr val="313131"/>
                </a:solidFill>
              </a:rPr>
              <a:t>+</a:t>
            </a:r>
          </a:p>
        </p:txBody>
      </p:sp>
      <p:sp>
        <p:nvSpPr>
          <p:cNvPr id="47" name="TextBox 46">
            <a:extLst>
              <a:ext uri="{FF2B5EF4-FFF2-40B4-BE49-F238E27FC236}">
                <a16:creationId xmlns:a16="http://schemas.microsoft.com/office/drawing/2014/main" id="{D7FE577D-F52E-4991-BBED-BAF065659419}"/>
              </a:ext>
            </a:extLst>
          </p:cNvPr>
          <p:cNvSpPr txBox="1"/>
          <p:nvPr/>
        </p:nvSpPr>
        <p:spPr>
          <a:xfrm>
            <a:off x="9768836" y="3867426"/>
            <a:ext cx="394060" cy="276999"/>
          </a:xfrm>
          <a:prstGeom prst="rect">
            <a:avLst/>
          </a:prstGeom>
          <a:noFill/>
        </p:spPr>
        <p:txBody>
          <a:bodyPr wrap="square" lIns="0" tIns="0" rIns="0" bIns="0" rtlCol="0">
            <a:spAutoFit/>
          </a:bodyPr>
          <a:lstStyle/>
          <a:p>
            <a:pPr algn="ctr">
              <a:spcBef>
                <a:spcPts val="600"/>
              </a:spcBef>
              <a:buSzPct val="100000"/>
            </a:pPr>
            <a:r>
              <a:rPr lang="en-US" b="1" dirty="0">
                <a:solidFill>
                  <a:srgbClr val="313131"/>
                </a:solidFill>
              </a:rPr>
              <a:t>+</a:t>
            </a:r>
          </a:p>
        </p:txBody>
      </p:sp>
      <p:sp>
        <p:nvSpPr>
          <p:cNvPr id="48" name="TextBox 47">
            <a:extLst>
              <a:ext uri="{FF2B5EF4-FFF2-40B4-BE49-F238E27FC236}">
                <a16:creationId xmlns:a16="http://schemas.microsoft.com/office/drawing/2014/main" id="{CEA9CA25-1AC9-4247-89F7-D0CC146A3D43}"/>
              </a:ext>
            </a:extLst>
          </p:cNvPr>
          <p:cNvSpPr txBox="1"/>
          <p:nvPr/>
        </p:nvSpPr>
        <p:spPr>
          <a:xfrm>
            <a:off x="7733208" y="3867426"/>
            <a:ext cx="394060" cy="276999"/>
          </a:xfrm>
          <a:prstGeom prst="rect">
            <a:avLst/>
          </a:prstGeom>
          <a:noFill/>
        </p:spPr>
        <p:txBody>
          <a:bodyPr wrap="square" lIns="0" tIns="0" rIns="0" bIns="0" rtlCol="0">
            <a:spAutoFit/>
          </a:bodyPr>
          <a:lstStyle/>
          <a:p>
            <a:pPr algn="ctr">
              <a:spcBef>
                <a:spcPts val="600"/>
              </a:spcBef>
              <a:buSzPct val="100000"/>
            </a:pPr>
            <a:r>
              <a:rPr lang="en-US" b="1" dirty="0">
                <a:solidFill>
                  <a:srgbClr val="313131"/>
                </a:solidFill>
              </a:rPr>
              <a:t>OR</a:t>
            </a:r>
          </a:p>
        </p:txBody>
      </p:sp>
    </p:spTree>
    <p:extLst>
      <p:ext uri="{BB962C8B-B14F-4D97-AF65-F5344CB8AC3E}">
        <p14:creationId xmlns:p14="http://schemas.microsoft.com/office/powerpoint/2010/main" val="440661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95000"/>
              </a:lnSpc>
              <a:spcAft>
                <a:spcPts val="0"/>
              </a:spcAft>
            </a:pPr>
            <a:r>
              <a:rPr lang="en-GB" sz="3990" b="1" dirty="0">
                <a:solidFill>
                  <a:prstClr val="white"/>
                </a:solidFill>
                <a:latin typeface="Arial" panose="020B0604020202020204" pitchFamily="34" charset="0"/>
                <a:cs typeface="Arial" panose="020B0604020202020204" pitchFamily="34" charset="0"/>
              </a:rPr>
              <a:t>Opportunity: reduction of power purchase cost from WBPDCL</a:t>
            </a:r>
          </a:p>
        </p:txBody>
      </p:sp>
    </p:spTree>
    <p:extLst>
      <p:ext uri="{BB962C8B-B14F-4D97-AF65-F5344CB8AC3E}">
        <p14:creationId xmlns:p14="http://schemas.microsoft.com/office/powerpoint/2010/main" val="306659757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Reduction of Fixed Cost Obligation and Energy Charge passed on to WBSEDCL through decommissioning of relatively older plant units of WBPDCL</a:t>
            </a:r>
          </a:p>
        </p:txBody>
      </p:sp>
      <p:cxnSp>
        <p:nvCxnSpPr>
          <p:cNvPr id="5" name="Straight Connector 4">
            <a:extLst>
              <a:ext uri="{FF2B5EF4-FFF2-40B4-BE49-F238E27FC236}">
                <a16:creationId xmlns:a16="http://schemas.microsoft.com/office/drawing/2014/main" id="{8FB3C2C9-722C-4485-B43B-218D020E9A5E}"/>
              </a:ext>
            </a:extLst>
          </p:cNvPr>
          <p:cNvCxnSpPr>
            <a:cxnSpLocks/>
          </p:cNvCxnSpPr>
          <p:nvPr/>
        </p:nvCxnSpPr>
        <p:spPr>
          <a:xfrm>
            <a:off x="6089576" y="1104378"/>
            <a:ext cx="0" cy="2916477"/>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BAFAE8FA-BBD1-4CC7-933B-A5B8282460ED}"/>
              </a:ext>
            </a:extLst>
          </p:cNvPr>
          <p:cNvCxnSpPr>
            <a:cxnSpLocks/>
          </p:cNvCxnSpPr>
          <p:nvPr/>
        </p:nvCxnSpPr>
        <p:spPr>
          <a:xfrm>
            <a:off x="501652" y="1104378"/>
            <a:ext cx="5111950" cy="0"/>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9954B8-905D-44B9-94F9-ED1FAC7399E1}"/>
              </a:ext>
            </a:extLst>
          </p:cNvPr>
          <p:cNvSpPr txBox="1"/>
          <p:nvPr/>
        </p:nvSpPr>
        <p:spPr>
          <a:xfrm>
            <a:off x="2342374" y="1007095"/>
            <a:ext cx="1336487" cy="215444"/>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Scenario I</a:t>
            </a:r>
          </a:p>
        </p:txBody>
      </p:sp>
      <p:cxnSp>
        <p:nvCxnSpPr>
          <p:cNvPr id="21" name="Straight Connector 20">
            <a:extLst>
              <a:ext uri="{FF2B5EF4-FFF2-40B4-BE49-F238E27FC236}">
                <a16:creationId xmlns:a16="http://schemas.microsoft.com/office/drawing/2014/main" id="{68BB23D1-1DCA-48A6-8CF3-CA6683B46279}"/>
              </a:ext>
            </a:extLst>
          </p:cNvPr>
          <p:cNvCxnSpPr>
            <a:cxnSpLocks/>
          </p:cNvCxnSpPr>
          <p:nvPr/>
        </p:nvCxnSpPr>
        <p:spPr>
          <a:xfrm>
            <a:off x="6466128" y="1104378"/>
            <a:ext cx="5111950" cy="0"/>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FA36A5B-C8C7-457E-AAA7-11F2125B10F8}"/>
              </a:ext>
            </a:extLst>
          </p:cNvPr>
          <p:cNvSpPr txBox="1"/>
          <p:nvPr/>
        </p:nvSpPr>
        <p:spPr>
          <a:xfrm>
            <a:off x="8306850" y="1006408"/>
            <a:ext cx="1336487" cy="215444"/>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Scenario II</a:t>
            </a:r>
          </a:p>
        </p:txBody>
      </p:sp>
      <p:sp>
        <p:nvSpPr>
          <p:cNvPr id="7" name="TextBox 6">
            <a:extLst>
              <a:ext uri="{FF2B5EF4-FFF2-40B4-BE49-F238E27FC236}">
                <a16:creationId xmlns:a16="http://schemas.microsoft.com/office/drawing/2014/main" id="{4D6075EE-24D7-4761-86B4-589FDDFFCAE1}"/>
              </a:ext>
            </a:extLst>
          </p:cNvPr>
          <p:cNvSpPr txBox="1"/>
          <p:nvPr/>
        </p:nvSpPr>
        <p:spPr>
          <a:xfrm>
            <a:off x="588723" y="1300732"/>
            <a:ext cx="5156402" cy="2231380"/>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600"/>
              </a:spcBef>
              <a:spcAft>
                <a:spcPts val="0"/>
              </a:spcAft>
              <a:buClrTx/>
              <a:buSzPct val="100000"/>
              <a:buFontTx/>
              <a:buNone/>
              <a:tabLst/>
              <a:defRPr/>
            </a:pPr>
            <a:r>
              <a:rPr kumimoji="0" lang="en-US" sz="1500" b="1" i="0" u="none" strike="noStrike" kern="1200" cap="none" spc="0" normalizeH="0" baseline="0" noProof="0" dirty="0">
                <a:ln>
                  <a:noFill/>
                </a:ln>
                <a:solidFill>
                  <a:srgbClr val="313131"/>
                </a:solidFill>
                <a:effectLst/>
                <a:uLnTx/>
                <a:uFillTx/>
                <a:latin typeface="Verdana"/>
                <a:ea typeface="+mn-ea"/>
                <a:cs typeface="+mn-cs"/>
              </a:rPr>
              <a:t>Kolaghat (420 MW) and </a:t>
            </a:r>
            <a:r>
              <a:rPr kumimoji="0" lang="en-US" sz="1500" b="1" i="0" u="none" strike="noStrike" kern="1200" cap="none" spc="0" normalizeH="0" baseline="0" noProof="0" dirty="0" err="1">
                <a:ln>
                  <a:noFill/>
                </a:ln>
                <a:solidFill>
                  <a:srgbClr val="313131"/>
                </a:solidFill>
                <a:effectLst/>
                <a:uLnTx/>
                <a:uFillTx/>
                <a:latin typeface="Verdana"/>
                <a:ea typeface="+mn-ea"/>
                <a:cs typeface="+mn-cs"/>
              </a:rPr>
              <a:t>Bandel</a:t>
            </a:r>
            <a:r>
              <a:rPr kumimoji="0" lang="en-US" sz="1500" b="1" i="0" u="none" strike="noStrike" kern="1200" cap="none" spc="0" normalizeH="0" baseline="0" noProof="0" dirty="0">
                <a:ln>
                  <a:noFill/>
                </a:ln>
                <a:solidFill>
                  <a:srgbClr val="313131"/>
                </a:solidFill>
                <a:effectLst/>
                <a:uLnTx/>
                <a:uFillTx/>
                <a:latin typeface="Verdana"/>
                <a:ea typeface="+mn-ea"/>
                <a:cs typeface="+mn-cs"/>
              </a:rPr>
              <a:t> (</a:t>
            </a:r>
            <a:r>
              <a:rPr lang="en-US" sz="1500" b="1" dirty="0">
                <a:solidFill>
                  <a:srgbClr val="313131"/>
                </a:solidFill>
                <a:latin typeface="Verdana"/>
              </a:rPr>
              <a:t>120 </a:t>
            </a:r>
            <a:r>
              <a:rPr kumimoji="0" lang="en-US" sz="1500" b="1" i="0" u="none" strike="noStrike" kern="1200" cap="none" spc="0" normalizeH="0" baseline="0" noProof="0" dirty="0">
                <a:ln>
                  <a:noFill/>
                </a:ln>
                <a:solidFill>
                  <a:srgbClr val="313131"/>
                </a:solidFill>
                <a:effectLst/>
                <a:uLnTx/>
                <a:uFillTx/>
                <a:latin typeface="Verdana"/>
                <a:ea typeface="+mn-ea"/>
                <a:cs typeface="+mn-cs"/>
              </a:rPr>
              <a:t>MW ) decommissioned out of 4745 MW </a:t>
            </a:r>
            <a:endParaRPr kumimoji="0" lang="en-US" sz="1500" b="1" i="0" u="sng" strike="noStrike" kern="1200" cap="none" spc="0" normalizeH="0" baseline="0" noProof="0" dirty="0">
              <a:ln>
                <a:noFill/>
              </a:ln>
              <a:solidFill>
                <a:srgbClr val="313131"/>
              </a:solidFill>
              <a:effectLst/>
              <a:uLnTx/>
              <a:uFillTx/>
              <a:latin typeface="Verdana"/>
              <a:ea typeface="+mn-ea"/>
              <a:cs typeface="+mn-cs"/>
            </a:endParaRP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Fixed Cost 145 Crores reduction ( 6%)</a:t>
            </a: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Energy Cost 380 Crores reduction  (7%)</a:t>
            </a: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Balancing need for shortfall </a:t>
            </a:r>
            <a:r>
              <a:rPr lang="en-US" sz="1500" dirty="0">
                <a:solidFill>
                  <a:srgbClr val="313131"/>
                </a:solidFill>
                <a:latin typeface="Verdana"/>
              </a:rPr>
              <a:t>in total </a:t>
            </a:r>
            <a:r>
              <a:rPr kumimoji="0" lang="en-US" sz="1500" b="0" i="0" u="none" strike="noStrike" kern="1200" cap="none" spc="0" normalizeH="0" baseline="0" noProof="0" dirty="0">
                <a:ln>
                  <a:noFill/>
                </a:ln>
                <a:solidFill>
                  <a:srgbClr val="313131"/>
                </a:solidFill>
                <a:effectLst/>
                <a:uLnTx/>
                <a:uFillTx/>
                <a:latin typeface="Verdana"/>
                <a:ea typeface="+mn-ea"/>
                <a:cs typeface="+mn-cs"/>
              </a:rPr>
              <a:t>power purchase of WBSEDCL (~42353 MUs in FY 21)</a:t>
            </a:r>
            <a:endParaRPr kumimoji="0" lang="en-US" sz="1500" b="1" i="0" u="none" strike="noStrike" kern="1200" cap="none" spc="0" normalizeH="0" baseline="0" noProof="0" dirty="0">
              <a:ln>
                <a:noFill/>
              </a:ln>
              <a:solidFill>
                <a:srgbClr val="313131"/>
              </a:solidFill>
              <a:effectLst/>
              <a:uLnTx/>
              <a:uFillTx/>
              <a:latin typeface="Verdana"/>
              <a:ea typeface="+mn-ea"/>
              <a:cs typeface="+mn-cs"/>
            </a:endParaRPr>
          </a:p>
        </p:txBody>
      </p:sp>
      <p:sp>
        <p:nvSpPr>
          <p:cNvPr id="16" name="Arrow: Down 15">
            <a:extLst>
              <a:ext uri="{FF2B5EF4-FFF2-40B4-BE49-F238E27FC236}">
                <a16:creationId xmlns:a16="http://schemas.microsoft.com/office/drawing/2014/main" id="{13A77D96-3FD8-4D3E-8B22-5359FE929166}"/>
              </a:ext>
            </a:extLst>
          </p:cNvPr>
          <p:cNvSpPr/>
          <p:nvPr/>
        </p:nvSpPr>
        <p:spPr bwMode="gray">
          <a:xfrm>
            <a:off x="648356" y="3735577"/>
            <a:ext cx="237983" cy="289549"/>
          </a:xfrm>
          <a:prstGeom prst="downArrow">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17" name="TextBox 16">
            <a:extLst>
              <a:ext uri="{FF2B5EF4-FFF2-40B4-BE49-F238E27FC236}">
                <a16:creationId xmlns:a16="http://schemas.microsoft.com/office/drawing/2014/main" id="{02E8A0FB-7DB6-4D57-9EC8-2A3FFC998B49}"/>
              </a:ext>
            </a:extLst>
          </p:cNvPr>
          <p:cNvSpPr txBox="1"/>
          <p:nvPr/>
        </p:nvSpPr>
        <p:spPr>
          <a:xfrm>
            <a:off x="967099" y="3778365"/>
            <a:ext cx="1215014"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1" i="0" u="none" strike="noStrike" kern="1200" cap="none" spc="0" normalizeH="0" baseline="0" noProof="0" dirty="0">
                <a:ln>
                  <a:noFill/>
                </a:ln>
                <a:solidFill>
                  <a:srgbClr val="313131"/>
                </a:solidFill>
                <a:effectLst/>
                <a:uLnTx/>
                <a:uFillTx/>
                <a:latin typeface="Verdana"/>
                <a:ea typeface="+mn-ea"/>
                <a:cs typeface="+mn-cs"/>
              </a:rPr>
              <a:t>INR 0.05/kWh</a:t>
            </a:r>
          </a:p>
        </p:txBody>
      </p:sp>
      <p:sp>
        <p:nvSpPr>
          <p:cNvPr id="20" name="Plus Sign 19">
            <a:extLst>
              <a:ext uri="{FF2B5EF4-FFF2-40B4-BE49-F238E27FC236}">
                <a16:creationId xmlns:a16="http://schemas.microsoft.com/office/drawing/2014/main" id="{C7E7FD9A-B1C9-4012-8340-6D3539D24E9C}"/>
              </a:ext>
            </a:extLst>
          </p:cNvPr>
          <p:cNvSpPr/>
          <p:nvPr/>
        </p:nvSpPr>
        <p:spPr bwMode="gray">
          <a:xfrm>
            <a:off x="2169595" y="3720395"/>
            <a:ext cx="328570" cy="271487"/>
          </a:xfrm>
          <a:prstGeom prst="mathPlus">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8" name="TextBox 37">
            <a:extLst>
              <a:ext uri="{FF2B5EF4-FFF2-40B4-BE49-F238E27FC236}">
                <a16:creationId xmlns:a16="http://schemas.microsoft.com/office/drawing/2014/main" id="{B1DC0079-90DA-4BB9-80F8-7A10D7C4674C}"/>
              </a:ext>
            </a:extLst>
          </p:cNvPr>
          <p:cNvSpPr txBox="1"/>
          <p:nvPr/>
        </p:nvSpPr>
        <p:spPr>
          <a:xfrm>
            <a:off x="2512164" y="3757077"/>
            <a:ext cx="1215014"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1" i="0" u="none" strike="noStrike" kern="1200" cap="none" spc="0" normalizeH="0" baseline="0" noProof="0" dirty="0">
                <a:ln>
                  <a:noFill/>
                </a:ln>
                <a:solidFill>
                  <a:srgbClr val="313131"/>
                </a:solidFill>
                <a:effectLst/>
                <a:uLnTx/>
                <a:uFillTx/>
                <a:latin typeface="Verdana"/>
                <a:ea typeface="+mn-ea"/>
                <a:cs typeface="+mn-cs"/>
              </a:rPr>
              <a:t>INR 0.12/kWh</a:t>
            </a:r>
          </a:p>
        </p:txBody>
      </p:sp>
      <p:sp>
        <p:nvSpPr>
          <p:cNvPr id="28" name="Equals 27">
            <a:extLst>
              <a:ext uri="{FF2B5EF4-FFF2-40B4-BE49-F238E27FC236}">
                <a16:creationId xmlns:a16="http://schemas.microsoft.com/office/drawing/2014/main" id="{3B656E7C-F122-44D0-A6E4-94A5EC40CBB6}"/>
              </a:ext>
            </a:extLst>
          </p:cNvPr>
          <p:cNvSpPr/>
          <p:nvPr/>
        </p:nvSpPr>
        <p:spPr bwMode="gray">
          <a:xfrm>
            <a:off x="3734272" y="3741957"/>
            <a:ext cx="261681" cy="213516"/>
          </a:xfrm>
          <a:prstGeom prst="mathEqual">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40" name="TextBox 39">
            <a:extLst>
              <a:ext uri="{FF2B5EF4-FFF2-40B4-BE49-F238E27FC236}">
                <a16:creationId xmlns:a16="http://schemas.microsoft.com/office/drawing/2014/main" id="{7A9C550E-79B3-461A-8651-B67C0D4A874A}"/>
              </a:ext>
            </a:extLst>
          </p:cNvPr>
          <p:cNvSpPr txBox="1"/>
          <p:nvPr/>
        </p:nvSpPr>
        <p:spPr>
          <a:xfrm>
            <a:off x="4157426" y="3755281"/>
            <a:ext cx="1571069"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Verdana"/>
                <a:ea typeface="+mn-ea"/>
                <a:cs typeface="+mn-cs"/>
              </a:rPr>
              <a:t>INR 0.17/kWh</a:t>
            </a:r>
          </a:p>
        </p:txBody>
      </p:sp>
      <p:sp>
        <p:nvSpPr>
          <p:cNvPr id="29" name="Oval 28">
            <a:extLst>
              <a:ext uri="{FF2B5EF4-FFF2-40B4-BE49-F238E27FC236}">
                <a16:creationId xmlns:a16="http://schemas.microsoft.com/office/drawing/2014/main" id="{541002AA-C8AA-45BE-84DB-770ADE151639}"/>
              </a:ext>
            </a:extLst>
          </p:cNvPr>
          <p:cNvSpPr/>
          <p:nvPr/>
        </p:nvSpPr>
        <p:spPr bwMode="gray">
          <a:xfrm>
            <a:off x="3995953" y="3543402"/>
            <a:ext cx="1831225" cy="591707"/>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0" name="TextBox 29">
            <a:extLst>
              <a:ext uri="{FF2B5EF4-FFF2-40B4-BE49-F238E27FC236}">
                <a16:creationId xmlns:a16="http://schemas.microsoft.com/office/drawing/2014/main" id="{C25F8C70-36CF-41BE-8090-ED73FD613AC2}"/>
              </a:ext>
            </a:extLst>
          </p:cNvPr>
          <p:cNvSpPr txBox="1"/>
          <p:nvPr/>
        </p:nvSpPr>
        <p:spPr>
          <a:xfrm>
            <a:off x="794651" y="3994915"/>
            <a:ext cx="1434971"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1" u="none" strike="noStrike" kern="1200" cap="none" spc="0" normalizeH="0" baseline="0" noProof="0" dirty="0">
                <a:ln>
                  <a:noFill/>
                </a:ln>
                <a:solidFill>
                  <a:srgbClr val="313131"/>
                </a:solidFill>
                <a:effectLst/>
                <a:uLnTx/>
                <a:uFillTx/>
                <a:latin typeface="Verdana"/>
                <a:ea typeface="+mn-ea"/>
                <a:cs typeface="+mn-cs"/>
              </a:rPr>
              <a:t>Reduction in Fixed Charge Obligation</a:t>
            </a:r>
          </a:p>
        </p:txBody>
      </p:sp>
      <p:sp>
        <p:nvSpPr>
          <p:cNvPr id="41" name="TextBox 40">
            <a:extLst>
              <a:ext uri="{FF2B5EF4-FFF2-40B4-BE49-F238E27FC236}">
                <a16:creationId xmlns:a16="http://schemas.microsoft.com/office/drawing/2014/main" id="{0720741D-B97A-4B2B-873E-597C217772FD}"/>
              </a:ext>
            </a:extLst>
          </p:cNvPr>
          <p:cNvSpPr txBox="1"/>
          <p:nvPr/>
        </p:nvSpPr>
        <p:spPr>
          <a:xfrm>
            <a:off x="2341595" y="3994473"/>
            <a:ext cx="1434971"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1" u="none" strike="noStrike" kern="1200" cap="none" spc="0" normalizeH="0" baseline="0" noProof="0" dirty="0">
                <a:ln>
                  <a:noFill/>
                </a:ln>
                <a:solidFill>
                  <a:srgbClr val="313131"/>
                </a:solidFill>
                <a:effectLst/>
                <a:uLnTx/>
                <a:uFillTx/>
                <a:latin typeface="Verdana"/>
                <a:ea typeface="+mn-ea"/>
                <a:cs typeface="+mn-cs"/>
              </a:rPr>
              <a:t>Reduction in Energy Charge</a:t>
            </a:r>
          </a:p>
        </p:txBody>
      </p:sp>
      <p:sp>
        <p:nvSpPr>
          <p:cNvPr id="42" name="TextBox 41">
            <a:extLst>
              <a:ext uri="{FF2B5EF4-FFF2-40B4-BE49-F238E27FC236}">
                <a16:creationId xmlns:a16="http://schemas.microsoft.com/office/drawing/2014/main" id="{4A23D8E9-1CE7-4810-82B6-1316AC92DB53}"/>
              </a:ext>
            </a:extLst>
          </p:cNvPr>
          <p:cNvSpPr txBox="1"/>
          <p:nvPr/>
        </p:nvSpPr>
        <p:spPr>
          <a:xfrm>
            <a:off x="6466131" y="1277129"/>
            <a:ext cx="5224217" cy="2154436"/>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600"/>
              </a:spcBef>
              <a:spcAft>
                <a:spcPts val="0"/>
              </a:spcAft>
              <a:buClrTx/>
              <a:buSzPct val="100000"/>
              <a:buFontTx/>
              <a:buNone/>
              <a:tabLst/>
              <a:defRPr/>
            </a:pPr>
            <a:r>
              <a:rPr kumimoji="0" lang="en-US" sz="1500" b="1" i="0" u="none" strike="noStrike" kern="1200" cap="none" spc="0" normalizeH="0" baseline="0" noProof="0" dirty="0">
                <a:ln>
                  <a:noFill/>
                </a:ln>
                <a:solidFill>
                  <a:srgbClr val="313131"/>
                </a:solidFill>
                <a:effectLst/>
                <a:uLnTx/>
                <a:uFillTx/>
                <a:latin typeface="Verdana"/>
                <a:ea typeface="+mn-ea"/>
                <a:cs typeface="+mn-cs"/>
              </a:rPr>
              <a:t>Ramp up of Capacity from Remaining WBPDCL Units </a:t>
            </a:r>
            <a:r>
              <a:rPr lang="en-US" sz="1500" b="1" dirty="0">
                <a:solidFill>
                  <a:srgbClr val="313131"/>
                </a:solidFill>
                <a:latin typeface="Verdana"/>
              </a:rPr>
              <a:t>to meet earlier Generation levels</a:t>
            </a:r>
            <a:endParaRPr kumimoji="0" lang="en-US" sz="1500" b="1" i="0" u="sng" strike="noStrike" kern="1200" cap="none" spc="0" normalizeH="0" baseline="0" noProof="0" dirty="0">
              <a:ln>
                <a:noFill/>
              </a:ln>
              <a:solidFill>
                <a:srgbClr val="313131"/>
              </a:solidFill>
              <a:effectLst/>
              <a:uLnTx/>
              <a:uFillTx/>
              <a:latin typeface="Verdana"/>
              <a:ea typeface="+mn-ea"/>
              <a:cs typeface="+mn-cs"/>
            </a:endParaRP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Availability of </a:t>
            </a:r>
            <a:r>
              <a:rPr kumimoji="0" lang="en-US" sz="1500" b="0" i="0" u="none" strike="noStrike" kern="1200" cap="none" spc="0" normalizeH="0" baseline="0" noProof="0" dirty="0" err="1">
                <a:ln>
                  <a:noFill/>
                </a:ln>
                <a:solidFill>
                  <a:srgbClr val="313131"/>
                </a:solidFill>
                <a:effectLst/>
                <a:uLnTx/>
                <a:uFillTx/>
                <a:latin typeface="Verdana"/>
                <a:ea typeface="+mn-ea"/>
                <a:cs typeface="+mn-cs"/>
              </a:rPr>
              <a:t>Sagardighi</a:t>
            </a:r>
            <a:r>
              <a:rPr kumimoji="0" lang="en-US" sz="1500" b="0" i="0" u="none" strike="noStrike" kern="1200" cap="none" spc="0" normalizeH="0" baseline="0" noProof="0" dirty="0">
                <a:ln>
                  <a:noFill/>
                </a:ln>
                <a:solidFill>
                  <a:srgbClr val="313131"/>
                </a:solidFill>
                <a:effectLst/>
                <a:uLnTx/>
                <a:uFillTx/>
                <a:latin typeface="Verdana"/>
                <a:ea typeface="+mn-ea"/>
                <a:cs typeface="+mn-cs"/>
              </a:rPr>
              <a:t>, Bakreswar, would need to be enhanced by at least 10 – 12%.</a:t>
            </a: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lang="en-US" sz="1500" dirty="0">
                <a:solidFill>
                  <a:srgbClr val="313131"/>
                </a:solidFill>
                <a:latin typeface="Verdana"/>
              </a:rPr>
              <a:t>Revenue and ROE Levels of WBPDCL  are preserved under Scenario II</a:t>
            </a: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p:txBody>
      </p:sp>
      <p:sp>
        <p:nvSpPr>
          <p:cNvPr id="43" name="Arrow: Down 42">
            <a:extLst>
              <a:ext uri="{FF2B5EF4-FFF2-40B4-BE49-F238E27FC236}">
                <a16:creationId xmlns:a16="http://schemas.microsoft.com/office/drawing/2014/main" id="{1EDA8211-9DB2-4F7F-9868-BB79ED4CFF86}"/>
              </a:ext>
            </a:extLst>
          </p:cNvPr>
          <p:cNvSpPr/>
          <p:nvPr/>
        </p:nvSpPr>
        <p:spPr bwMode="gray">
          <a:xfrm>
            <a:off x="6448482" y="3504158"/>
            <a:ext cx="237983" cy="289549"/>
          </a:xfrm>
          <a:prstGeom prst="downArrow">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44" name="TextBox 43">
            <a:extLst>
              <a:ext uri="{FF2B5EF4-FFF2-40B4-BE49-F238E27FC236}">
                <a16:creationId xmlns:a16="http://schemas.microsoft.com/office/drawing/2014/main" id="{128AD5C4-2208-4290-98F0-9B84BE0A0D21}"/>
              </a:ext>
            </a:extLst>
          </p:cNvPr>
          <p:cNvSpPr txBox="1"/>
          <p:nvPr/>
        </p:nvSpPr>
        <p:spPr>
          <a:xfrm>
            <a:off x="6772309" y="3617001"/>
            <a:ext cx="1215014"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1" i="0" u="none" strike="noStrike" kern="1200" cap="none" spc="0" normalizeH="0" baseline="0" noProof="0" dirty="0">
                <a:ln>
                  <a:noFill/>
                </a:ln>
                <a:solidFill>
                  <a:srgbClr val="313131"/>
                </a:solidFill>
                <a:effectLst/>
                <a:uLnTx/>
                <a:uFillTx/>
                <a:latin typeface="Verdana"/>
                <a:ea typeface="+mn-ea"/>
                <a:cs typeface="+mn-cs"/>
              </a:rPr>
              <a:t>INR 0.01/kWh</a:t>
            </a:r>
          </a:p>
        </p:txBody>
      </p:sp>
      <p:sp>
        <p:nvSpPr>
          <p:cNvPr id="45" name="Plus Sign 44">
            <a:extLst>
              <a:ext uri="{FF2B5EF4-FFF2-40B4-BE49-F238E27FC236}">
                <a16:creationId xmlns:a16="http://schemas.microsoft.com/office/drawing/2014/main" id="{343005C7-A1A7-4F13-AA05-7879B7AC022F}"/>
              </a:ext>
            </a:extLst>
          </p:cNvPr>
          <p:cNvSpPr/>
          <p:nvPr/>
        </p:nvSpPr>
        <p:spPr bwMode="gray">
          <a:xfrm>
            <a:off x="7974805" y="3559031"/>
            <a:ext cx="328570" cy="271487"/>
          </a:xfrm>
          <a:prstGeom prst="mathPlus">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46" name="TextBox 45">
            <a:extLst>
              <a:ext uri="{FF2B5EF4-FFF2-40B4-BE49-F238E27FC236}">
                <a16:creationId xmlns:a16="http://schemas.microsoft.com/office/drawing/2014/main" id="{F1DAC18C-3845-4F2C-94D6-3C0ECFCF2067}"/>
              </a:ext>
            </a:extLst>
          </p:cNvPr>
          <p:cNvSpPr txBox="1"/>
          <p:nvPr/>
        </p:nvSpPr>
        <p:spPr>
          <a:xfrm>
            <a:off x="8295601" y="3595713"/>
            <a:ext cx="1284295"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1" i="0" u="none" strike="noStrike" kern="1200" cap="none" spc="0" normalizeH="0" baseline="0" noProof="0" dirty="0">
                <a:ln>
                  <a:noFill/>
                </a:ln>
                <a:solidFill>
                  <a:srgbClr val="313131"/>
                </a:solidFill>
                <a:effectLst/>
                <a:uLnTx/>
                <a:uFillTx/>
                <a:latin typeface="Verdana"/>
                <a:ea typeface="+mn-ea"/>
                <a:cs typeface="+mn-cs"/>
              </a:rPr>
              <a:t>INR 0.02/kWh</a:t>
            </a:r>
          </a:p>
        </p:txBody>
      </p:sp>
      <p:sp>
        <p:nvSpPr>
          <p:cNvPr id="47" name="Equals 46">
            <a:extLst>
              <a:ext uri="{FF2B5EF4-FFF2-40B4-BE49-F238E27FC236}">
                <a16:creationId xmlns:a16="http://schemas.microsoft.com/office/drawing/2014/main" id="{14F30258-078E-49EA-A72F-7CE9D2582F05}"/>
              </a:ext>
            </a:extLst>
          </p:cNvPr>
          <p:cNvSpPr/>
          <p:nvPr/>
        </p:nvSpPr>
        <p:spPr bwMode="gray">
          <a:xfrm>
            <a:off x="9539482" y="3580593"/>
            <a:ext cx="261681" cy="213516"/>
          </a:xfrm>
          <a:prstGeom prst="mathEqual">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48" name="TextBox 47">
            <a:extLst>
              <a:ext uri="{FF2B5EF4-FFF2-40B4-BE49-F238E27FC236}">
                <a16:creationId xmlns:a16="http://schemas.microsoft.com/office/drawing/2014/main" id="{9108B25A-2E9B-425C-A375-A051FDCB1527}"/>
              </a:ext>
            </a:extLst>
          </p:cNvPr>
          <p:cNvSpPr txBox="1"/>
          <p:nvPr/>
        </p:nvSpPr>
        <p:spPr>
          <a:xfrm>
            <a:off x="9962636" y="3593917"/>
            <a:ext cx="1571069"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Verdana"/>
                <a:ea typeface="+mn-ea"/>
                <a:cs typeface="+mn-cs"/>
              </a:rPr>
              <a:t>INR 0.03/kWh</a:t>
            </a:r>
          </a:p>
        </p:txBody>
      </p:sp>
      <p:sp>
        <p:nvSpPr>
          <p:cNvPr id="50" name="TextBox 49">
            <a:extLst>
              <a:ext uri="{FF2B5EF4-FFF2-40B4-BE49-F238E27FC236}">
                <a16:creationId xmlns:a16="http://schemas.microsoft.com/office/drawing/2014/main" id="{3B3DD4F0-7C0C-4629-B6A1-0CBF63D4A651}"/>
              </a:ext>
            </a:extLst>
          </p:cNvPr>
          <p:cNvSpPr txBox="1"/>
          <p:nvPr/>
        </p:nvSpPr>
        <p:spPr>
          <a:xfrm>
            <a:off x="6599861" y="3833551"/>
            <a:ext cx="1434971"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1" u="none" strike="noStrike" kern="1200" cap="none" spc="0" normalizeH="0" baseline="0" noProof="0" dirty="0">
                <a:ln>
                  <a:noFill/>
                </a:ln>
                <a:solidFill>
                  <a:srgbClr val="313131"/>
                </a:solidFill>
                <a:effectLst/>
                <a:uLnTx/>
                <a:uFillTx/>
                <a:latin typeface="Verdana"/>
                <a:ea typeface="+mn-ea"/>
                <a:cs typeface="+mn-cs"/>
              </a:rPr>
              <a:t>Reduction in Fixed Charge Obligation</a:t>
            </a:r>
          </a:p>
        </p:txBody>
      </p:sp>
      <p:sp>
        <p:nvSpPr>
          <p:cNvPr id="51" name="TextBox 50">
            <a:extLst>
              <a:ext uri="{FF2B5EF4-FFF2-40B4-BE49-F238E27FC236}">
                <a16:creationId xmlns:a16="http://schemas.microsoft.com/office/drawing/2014/main" id="{72A29FEF-B97A-46E0-A045-75ADCE859D8D}"/>
              </a:ext>
            </a:extLst>
          </p:cNvPr>
          <p:cNvSpPr txBox="1"/>
          <p:nvPr/>
        </p:nvSpPr>
        <p:spPr>
          <a:xfrm>
            <a:off x="8146805" y="3833109"/>
            <a:ext cx="1434971"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1" u="none" strike="noStrike" kern="1200" cap="none" spc="0" normalizeH="0" baseline="0" noProof="0" dirty="0">
                <a:ln>
                  <a:noFill/>
                </a:ln>
                <a:solidFill>
                  <a:srgbClr val="313131"/>
                </a:solidFill>
                <a:effectLst/>
                <a:uLnTx/>
                <a:uFillTx/>
                <a:latin typeface="Verdana"/>
                <a:ea typeface="+mn-ea"/>
                <a:cs typeface="+mn-cs"/>
              </a:rPr>
              <a:t>Reduction in Energy Charge</a:t>
            </a:r>
          </a:p>
        </p:txBody>
      </p:sp>
      <p:sp>
        <p:nvSpPr>
          <p:cNvPr id="52" name="Oval 51">
            <a:extLst>
              <a:ext uri="{FF2B5EF4-FFF2-40B4-BE49-F238E27FC236}">
                <a16:creationId xmlns:a16="http://schemas.microsoft.com/office/drawing/2014/main" id="{268ECDB1-352E-4ABD-9D26-DFEA3F7375A3}"/>
              </a:ext>
            </a:extLst>
          </p:cNvPr>
          <p:cNvSpPr/>
          <p:nvPr/>
        </p:nvSpPr>
        <p:spPr bwMode="gray">
          <a:xfrm>
            <a:off x="9812257" y="3378766"/>
            <a:ext cx="1831225" cy="591707"/>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aphicFrame>
        <p:nvGraphicFramePr>
          <p:cNvPr id="53" name="Table 20">
            <a:extLst>
              <a:ext uri="{FF2B5EF4-FFF2-40B4-BE49-F238E27FC236}">
                <a16:creationId xmlns:a16="http://schemas.microsoft.com/office/drawing/2014/main" id="{4B8F71B2-4CB3-4251-8301-128446EA931D}"/>
              </a:ext>
            </a:extLst>
          </p:cNvPr>
          <p:cNvGraphicFramePr>
            <a:graphicFrameLocks noGrp="1"/>
          </p:cNvGraphicFramePr>
          <p:nvPr/>
        </p:nvGraphicFramePr>
        <p:xfrm>
          <a:off x="6707327" y="4269666"/>
          <a:ext cx="4519658" cy="1542961"/>
        </p:xfrm>
        <a:graphic>
          <a:graphicData uri="http://schemas.openxmlformats.org/drawingml/2006/table">
            <a:tbl>
              <a:tblPr firstRow="1" bandRow="1">
                <a:tableStyleId>{5C22544A-7EE6-4342-B048-85BDC9FD1C3A}</a:tableStyleId>
              </a:tblPr>
              <a:tblGrid>
                <a:gridCol w="1523491">
                  <a:extLst>
                    <a:ext uri="{9D8B030D-6E8A-4147-A177-3AD203B41FA5}">
                      <a16:colId xmlns:a16="http://schemas.microsoft.com/office/drawing/2014/main" val="3606670126"/>
                    </a:ext>
                  </a:extLst>
                </a:gridCol>
                <a:gridCol w="1523491">
                  <a:extLst>
                    <a:ext uri="{9D8B030D-6E8A-4147-A177-3AD203B41FA5}">
                      <a16:colId xmlns:a16="http://schemas.microsoft.com/office/drawing/2014/main" val="1495363792"/>
                    </a:ext>
                  </a:extLst>
                </a:gridCol>
                <a:gridCol w="1472676">
                  <a:extLst>
                    <a:ext uri="{9D8B030D-6E8A-4147-A177-3AD203B41FA5}">
                      <a16:colId xmlns:a16="http://schemas.microsoft.com/office/drawing/2014/main" val="2812589587"/>
                    </a:ext>
                  </a:extLst>
                </a:gridCol>
              </a:tblGrid>
              <a:tr h="746668">
                <a:tc>
                  <a:txBody>
                    <a:bodyPr/>
                    <a:lstStyle/>
                    <a:p>
                      <a:pPr algn="ctr"/>
                      <a:r>
                        <a:rPr lang="en-US" sz="900" dirty="0">
                          <a:latin typeface="+mj-lt"/>
                        </a:rPr>
                        <a:t>Current contribution of WBPDCL to WBSEDCL Average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a:r>
                        <a:rPr lang="en-US" sz="900" dirty="0">
                          <a:latin typeface="+mj-lt"/>
                        </a:rPr>
                        <a:t>Resultant contribution of WBPDCL to WBSEDCL average tariff in Scenario I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a:r>
                        <a:rPr lang="en-US" sz="900" b="1" kern="1200" dirty="0">
                          <a:solidFill>
                            <a:schemeClr val="lt1"/>
                          </a:solidFill>
                          <a:latin typeface="+mn-lt"/>
                          <a:ea typeface="+mn-ea"/>
                          <a:cs typeface="+mn-cs"/>
                        </a:rPr>
                        <a:t>Resultant contribution of WBPDCL to WBSEDCL average tariff in Scenario II</a:t>
                      </a:r>
                      <a:endParaRPr lang="en-US" sz="9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extLst>
                  <a:ext uri="{0D108BD9-81ED-4DB2-BD59-A6C34878D82A}">
                    <a16:rowId xmlns:a16="http://schemas.microsoft.com/office/drawing/2014/main" val="3727424852"/>
                  </a:ext>
                </a:extLst>
              </a:tr>
              <a:tr h="796293">
                <a:tc>
                  <a:txBody>
                    <a:bodyPr/>
                    <a:lstStyle/>
                    <a:p>
                      <a:pPr algn="ctr"/>
                      <a:r>
                        <a:rPr lang="en-US" sz="1400" b="1" dirty="0">
                          <a:latin typeface="+mj-l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46A38"/>
                          </a:solidFill>
                          <a:latin typeface="+mj-lt"/>
                        </a:rPr>
                        <a:t>2.33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b="1" i="0" u="none" strike="noStrike" dirty="0">
                          <a:solidFill>
                            <a:srgbClr val="046A38"/>
                          </a:solidFill>
                          <a:effectLst/>
                          <a:latin typeface="+mj-lt"/>
                        </a:rPr>
                        <a:t>2.47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6788049"/>
                  </a:ext>
                </a:extLst>
              </a:tr>
            </a:tbl>
          </a:graphicData>
        </a:graphic>
      </p:graphicFrame>
      <p:sp>
        <p:nvSpPr>
          <p:cNvPr id="31" name="TextBox 30">
            <a:extLst>
              <a:ext uri="{FF2B5EF4-FFF2-40B4-BE49-F238E27FC236}">
                <a16:creationId xmlns:a16="http://schemas.microsoft.com/office/drawing/2014/main" id="{3C2102AD-08AD-448C-8395-D195D0E80707}"/>
              </a:ext>
            </a:extLst>
          </p:cNvPr>
          <p:cNvSpPr txBox="1"/>
          <p:nvPr/>
        </p:nvSpPr>
        <p:spPr>
          <a:xfrm>
            <a:off x="648356" y="6367757"/>
            <a:ext cx="8909622"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0" i="1" u="none" strike="noStrike" kern="1200" cap="none" spc="0" normalizeH="0" baseline="0" noProof="0" dirty="0">
                <a:ln>
                  <a:noFill/>
                </a:ln>
                <a:solidFill>
                  <a:srgbClr val="313131"/>
                </a:solidFill>
                <a:effectLst/>
                <a:uLnTx/>
                <a:uFillTx/>
                <a:latin typeface="Verdana"/>
                <a:ea typeface="+mn-ea"/>
                <a:cs typeface="+mn-cs"/>
              </a:rPr>
              <a:t>Further calculation details  pertaining to the above case studies are provided in </a:t>
            </a:r>
            <a:r>
              <a:rPr kumimoji="0" lang="en-US" sz="1400" b="1" i="1" u="none" strike="noStrike" kern="1200" cap="none" spc="0" normalizeH="0" baseline="0" noProof="0" dirty="0">
                <a:ln>
                  <a:noFill/>
                </a:ln>
                <a:solidFill>
                  <a:srgbClr val="313131"/>
                </a:solidFill>
                <a:effectLst/>
                <a:uLnTx/>
                <a:uFillTx/>
                <a:latin typeface="Verdana"/>
                <a:ea typeface="+mn-ea"/>
                <a:cs typeface="+mn-cs"/>
              </a:rPr>
              <a:t>Annexure</a:t>
            </a:r>
          </a:p>
        </p:txBody>
      </p:sp>
      <p:cxnSp>
        <p:nvCxnSpPr>
          <p:cNvPr id="10" name="Connector: Elbow 9">
            <a:extLst>
              <a:ext uri="{FF2B5EF4-FFF2-40B4-BE49-F238E27FC236}">
                <a16:creationId xmlns:a16="http://schemas.microsoft.com/office/drawing/2014/main" id="{CD57E518-47B5-49BE-A158-C79B503BA383}"/>
              </a:ext>
            </a:extLst>
          </p:cNvPr>
          <p:cNvCxnSpPr>
            <a:cxnSpLocks/>
          </p:cNvCxnSpPr>
          <p:nvPr/>
        </p:nvCxnSpPr>
        <p:spPr>
          <a:xfrm>
            <a:off x="5827178" y="3741957"/>
            <a:ext cx="3130039" cy="2066592"/>
          </a:xfrm>
          <a:prstGeom prst="bentConnector4">
            <a:avLst>
              <a:gd name="adj1" fmla="val 5645"/>
              <a:gd name="adj2" fmla="val 122124"/>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Connector: Elbow 38">
            <a:extLst>
              <a:ext uri="{FF2B5EF4-FFF2-40B4-BE49-F238E27FC236}">
                <a16:creationId xmlns:a16="http://schemas.microsoft.com/office/drawing/2014/main" id="{AD5FFC48-A273-401B-87BB-59CAEBA47F62}"/>
              </a:ext>
            </a:extLst>
          </p:cNvPr>
          <p:cNvCxnSpPr>
            <a:cxnSpLocks/>
            <a:stCxn id="52" idx="6"/>
          </p:cNvCxnSpPr>
          <p:nvPr/>
        </p:nvCxnSpPr>
        <p:spPr>
          <a:xfrm flipH="1">
            <a:off x="10477136" y="3674620"/>
            <a:ext cx="1166346" cy="2148425"/>
          </a:xfrm>
          <a:prstGeom prst="bentConnector4">
            <a:avLst>
              <a:gd name="adj1" fmla="val -19600"/>
              <a:gd name="adj2" fmla="val 117343"/>
            </a:avLst>
          </a:prstGeom>
          <a:ln w="19050">
            <a:tailEnd type="triangle"/>
          </a:ln>
        </p:spPr>
        <p:style>
          <a:lnRef idx="1">
            <a:schemeClr val="dk1"/>
          </a:lnRef>
          <a:fillRef idx="0">
            <a:schemeClr val="dk1"/>
          </a:fillRef>
          <a:effectRef idx="0">
            <a:schemeClr val="dk1"/>
          </a:effectRef>
          <a:fontRef idx="minor">
            <a:schemeClr val="tx1"/>
          </a:fontRef>
        </p:style>
      </p:cxnSp>
      <p:sp>
        <p:nvSpPr>
          <p:cNvPr id="49" name="Arrow: Down 48">
            <a:extLst>
              <a:ext uri="{FF2B5EF4-FFF2-40B4-BE49-F238E27FC236}">
                <a16:creationId xmlns:a16="http://schemas.microsoft.com/office/drawing/2014/main" id="{8963D8BE-032D-4B21-997B-21185F4EEFD5}"/>
              </a:ext>
            </a:extLst>
          </p:cNvPr>
          <p:cNvSpPr/>
          <p:nvPr/>
        </p:nvSpPr>
        <p:spPr bwMode="gray">
          <a:xfrm rot="16200000">
            <a:off x="8118189" y="5267147"/>
            <a:ext cx="263766" cy="428051"/>
          </a:xfrm>
          <a:prstGeom prst="downArrow">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cxnSp>
        <p:nvCxnSpPr>
          <p:cNvPr id="54" name="Straight Connector 53">
            <a:extLst>
              <a:ext uri="{FF2B5EF4-FFF2-40B4-BE49-F238E27FC236}">
                <a16:creationId xmlns:a16="http://schemas.microsoft.com/office/drawing/2014/main" id="{FC774B1B-75D9-4285-B813-674F711C3F03}"/>
              </a:ext>
            </a:extLst>
          </p:cNvPr>
          <p:cNvCxnSpPr>
            <a:cxnSpLocks/>
          </p:cNvCxnSpPr>
          <p:nvPr/>
        </p:nvCxnSpPr>
        <p:spPr>
          <a:xfrm>
            <a:off x="510812" y="1103691"/>
            <a:ext cx="5111950" cy="0"/>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493A575-734A-4CFB-A910-9E4488753B52}"/>
              </a:ext>
            </a:extLst>
          </p:cNvPr>
          <p:cNvSpPr txBox="1"/>
          <p:nvPr/>
        </p:nvSpPr>
        <p:spPr>
          <a:xfrm>
            <a:off x="2351534" y="1006408"/>
            <a:ext cx="1336487" cy="215444"/>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Scenario I</a:t>
            </a:r>
          </a:p>
        </p:txBody>
      </p:sp>
      <p:graphicFrame>
        <p:nvGraphicFramePr>
          <p:cNvPr id="56" name="Table 20">
            <a:extLst>
              <a:ext uri="{FF2B5EF4-FFF2-40B4-BE49-F238E27FC236}">
                <a16:creationId xmlns:a16="http://schemas.microsoft.com/office/drawing/2014/main" id="{F16145B3-7C1D-4977-8FF5-97E394C15B7A}"/>
              </a:ext>
            </a:extLst>
          </p:cNvPr>
          <p:cNvGraphicFramePr>
            <a:graphicFrameLocks noGrp="1"/>
          </p:cNvGraphicFramePr>
          <p:nvPr/>
        </p:nvGraphicFramePr>
        <p:xfrm>
          <a:off x="770308" y="4308390"/>
          <a:ext cx="4843295" cy="1280160"/>
        </p:xfrm>
        <a:graphic>
          <a:graphicData uri="http://schemas.openxmlformats.org/drawingml/2006/table">
            <a:tbl>
              <a:tblPr firstRow="1" bandRow="1">
                <a:tableStyleId>{5C22544A-7EE6-4342-B048-85BDC9FD1C3A}</a:tableStyleId>
              </a:tblPr>
              <a:tblGrid>
                <a:gridCol w="1878747">
                  <a:extLst>
                    <a:ext uri="{9D8B030D-6E8A-4147-A177-3AD203B41FA5}">
                      <a16:colId xmlns:a16="http://schemas.microsoft.com/office/drawing/2014/main" val="3650519840"/>
                    </a:ext>
                  </a:extLst>
                </a:gridCol>
                <a:gridCol w="1166874">
                  <a:extLst>
                    <a:ext uri="{9D8B030D-6E8A-4147-A177-3AD203B41FA5}">
                      <a16:colId xmlns:a16="http://schemas.microsoft.com/office/drawing/2014/main" val="2658345709"/>
                    </a:ext>
                  </a:extLst>
                </a:gridCol>
                <a:gridCol w="1797674">
                  <a:extLst>
                    <a:ext uri="{9D8B030D-6E8A-4147-A177-3AD203B41FA5}">
                      <a16:colId xmlns:a16="http://schemas.microsoft.com/office/drawing/2014/main" val="2324828034"/>
                    </a:ext>
                  </a:extLst>
                </a:gridCol>
              </a:tblGrid>
              <a:tr h="138244">
                <a:tc>
                  <a:txBody>
                    <a:bodyPr/>
                    <a:lstStyle/>
                    <a:p>
                      <a:pPr algn="ctr"/>
                      <a:r>
                        <a:rPr lang="en-US" sz="1200" dirty="0">
                          <a:latin typeface="+mj-lt"/>
                        </a:rPr>
                        <a:t>Plant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1200" dirty="0">
                          <a:latin typeface="+mj-lt"/>
                        </a:rPr>
                        <a:t>Capacity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1200" dirty="0">
                          <a:latin typeface="+mj-lt"/>
                        </a:rPr>
                        <a:t>No. of Units proposed to be decommissioned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727424852"/>
                  </a:ext>
                </a:extLst>
              </a:tr>
              <a:tr h="138244">
                <a:tc>
                  <a:txBody>
                    <a:bodyPr/>
                    <a:lstStyle/>
                    <a:p>
                      <a:r>
                        <a:rPr lang="en-US" sz="1200" b="1" dirty="0" err="1">
                          <a:solidFill>
                            <a:srgbClr val="C00000"/>
                          </a:solidFill>
                          <a:latin typeface="+mj-lt"/>
                        </a:rPr>
                        <a:t>Kolaghat</a:t>
                      </a:r>
                      <a:r>
                        <a:rPr lang="en-US" sz="1200" b="1" dirty="0">
                          <a:solidFill>
                            <a:srgbClr val="C00000"/>
                          </a:solidFill>
                          <a:latin typeface="+mj-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C00000"/>
                          </a:solidFill>
                          <a:latin typeface="+mj-lt"/>
                        </a:rPr>
                        <a:t>2x210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C00000"/>
                          </a:solidFill>
                          <a:latin typeface="+mj-lt"/>
                        </a:rPr>
                        <a:t>2 Nos.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6788049"/>
                  </a:ext>
                </a:extLst>
              </a:tr>
              <a:tr h="138244">
                <a:tc>
                  <a:txBody>
                    <a:bodyPr/>
                    <a:lstStyle/>
                    <a:p>
                      <a:r>
                        <a:rPr lang="en-US" sz="1200" b="1" dirty="0" err="1">
                          <a:solidFill>
                            <a:srgbClr val="C00000"/>
                          </a:solidFill>
                          <a:latin typeface="+mj-lt"/>
                        </a:rPr>
                        <a:t>Bandel</a:t>
                      </a:r>
                      <a:r>
                        <a:rPr lang="en-US" sz="1200" b="1" dirty="0">
                          <a:solidFill>
                            <a:srgbClr val="C00000"/>
                          </a:solidFill>
                          <a:latin typeface="+mj-l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C00000"/>
                          </a:solidFill>
                          <a:latin typeface="+mj-lt"/>
                        </a:rPr>
                        <a:t>2x60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C00000"/>
                          </a:solidFill>
                          <a:latin typeface="+mj-lt"/>
                        </a:rPr>
                        <a:t>2 Nos.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9239507"/>
                  </a:ext>
                </a:extLst>
              </a:tr>
              <a:tr h="138244">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dirty="0">
                          <a:latin typeface="+mj-lt"/>
                        </a:rPr>
                        <a:t>TOTAL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latin typeface="+mj-lt"/>
                        </a:rPr>
                        <a:t>540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509364"/>
                  </a:ext>
                </a:extLst>
              </a:tr>
            </a:tbl>
          </a:graphicData>
        </a:graphic>
      </p:graphicFrame>
      <p:sp>
        <p:nvSpPr>
          <p:cNvPr id="2" name="Arrow: Left 1">
            <a:extLst>
              <a:ext uri="{FF2B5EF4-FFF2-40B4-BE49-F238E27FC236}">
                <a16:creationId xmlns:a16="http://schemas.microsoft.com/office/drawing/2014/main" id="{BC58E84B-CACE-44E0-8331-D64393681691}"/>
              </a:ext>
            </a:extLst>
          </p:cNvPr>
          <p:cNvSpPr/>
          <p:nvPr/>
        </p:nvSpPr>
        <p:spPr bwMode="gray">
          <a:xfrm>
            <a:off x="9296400" y="6367757"/>
            <a:ext cx="1930585" cy="490243"/>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6" action="ppaction://hlinksldjump"/>
              </a:rPr>
              <a:t>Back to Home</a:t>
            </a:r>
            <a:endParaRPr lang="en-US" sz="1600" b="1" dirty="0">
              <a:solidFill>
                <a:schemeClr val="bg1"/>
              </a:solidFill>
            </a:endParaRPr>
          </a:p>
        </p:txBody>
      </p:sp>
      <p:sp>
        <p:nvSpPr>
          <p:cNvPr id="57" name="Oval 56">
            <a:extLst>
              <a:ext uri="{FF2B5EF4-FFF2-40B4-BE49-F238E27FC236}">
                <a16:creationId xmlns:a16="http://schemas.microsoft.com/office/drawing/2014/main" id="{3F2FE61A-34B6-4F28-AC61-3EB257303861}"/>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1</a:t>
            </a:r>
          </a:p>
        </p:txBody>
      </p:sp>
    </p:spTree>
    <p:extLst>
      <p:ext uri="{BB962C8B-B14F-4D97-AF65-F5344CB8AC3E}">
        <p14:creationId xmlns:p14="http://schemas.microsoft.com/office/powerpoint/2010/main" val="416204095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Reduction of cost of coal procurement for WBPDCL by maximizing 8 MTPA additional production </a:t>
            </a:r>
            <a:endParaRPr lang="en-US" sz="1800" b="1" i="0" dirty="0">
              <a:solidFill>
                <a:schemeClr val="tx1"/>
              </a:solidFill>
            </a:endParaRPr>
          </a:p>
        </p:txBody>
      </p:sp>
      <p:sp>
        <p:nvSpPr>
          <p:cNvPr id="4" name="TextBox 3">
            <a:extLst>
              <a:ext uri="{FF2B5EF4-FFF2-40B4-BE49-F238E27FC236}">
                <a16:creationId xmlns:a16="http://schemas.microsoft.com/office/drawing/2014/main" id="{7A5C14D6-7EC8-46A8-B262-98046C60E34A}"/>
              </a:ext>
            </a:extLst>
          </p:cNvPr>
          <p:cNvSpPr txBox="1"/>
          <p:nvPr/>
        </p:nvSpPr>
        <p:spPr>
          <a:xfrm>
            <a:off x="544764" y="1310386"/>
            <a:ext cx="5698954" cy="1615827"/>
          </a:xfrm>
          <a:prstGeom prst="rect">
            <a:avLst/>
          </a:prstGeom>
          <a:noFill/>
        </p:spPr>
        <p:txBody>
          <a:bodyPr wrap="square" lIns="0" tIns="0" rIns="0" bIns="0" rtlCol="0">
            <a:spAutoFit/>
          </a:bodyPr>
          <a:lstStyle/>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62% coal from Captive sources being sourced by WBPDCL and 38% being supplied from CIL Basket FSA</a:t>
            </a: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CIL Coal is nearly 74% more expensive than its captive counterpart</a:t>
            </a:r>
          </a:p>
          <a:p>
            <a:pPr marL="0" marR="0" lvl="0" indent="0" algn="just" defTabSz="914400" rtl="0" eaLnBrk="1" fontAlgn="auto" latinLnBrk="0" hangingPunct="1">
              <a:lnSpc>
                <a:spcPct val="100000"/>
              </a:lnSpc>
              <a:spcBef>
                <a:spcPts val="600"/>
              </a:spcBef>
              <a:spcAft>
                <a:spcPts val="0"/>
              </a:spcAft>
              <a:buClrTx/>
              <a:buSzPct val="100000"/>
              <a:buFontTx/>
              <a:buNone/>
              <a:tabLst/>
              <a:defRPr/>
            </a:pP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a:p>
            <a:pPr marL="0" marR="0" lvl="0" indent="0" algn="just" defTabSz="914400" rtl="0" eaLnBrk="1" fontAlgn="auto" latinLnBrk="0" hangingPunct="1">
              <a:lnSpc>
                <a:spcPct val="100000"/>
              </a:lnSpc>
              <a:spcBef>
                <a:spcPts val="600"/>
              </a:spcBef>
              <a:spcAft>
                <a:spcPts val="0"/>
              </a:spcAft>
              <a:buClrTx/>
              <a:buSzPct val="100000"/>
              <a:buFontTx/>
              <a:buNone/>
              <a:tabLst/>
              <a:defRPr/>
            </a:pP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p:txBody>
      </p:sp>
      <p:cxnSp>
        <p:nvCxnSpPr>
          <p:cNvPr id="23" name="Straight Connector 22">
            <a:extLst>
              <a:ext uri="{FF2B5EF4-FFF2-40B4-BE49-F238E27FC236}">
                <a16:creationId xmlns:a16="http://schemas.microsoft.com/office/drawing/2014/main" id="{DA3411AD-7E7C-4C0D-B588-75B6D66A0E3B}"/>
              </a:ext>
            </a:extLst>
          </p:cNvPr>
          <p:cNvCxnSpPr>
            <a:cxnSpLocks/>
          </p:cNvCxnSpPr>
          <p:nvPr/>
        </p:nvCxnSpPr>
        <p:spPr>
          <a:xfrm>
            <a:off x="740199" y="1087121"/>
            <a:ext cx="5355801" cy="0"/>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2847725-69A0-4A5C-ABA0-81FE1E54EA02}"/>
              </a:ext>
            </a:extLst>
          </p:cNvPr>
          <p:cNvSpPr txBox="1"/>
          <p:nvPr/>
        </p:nvSpPr>
        <p:spPr>
          <a:xfrm>
            <a:off x="2600798" y="979399"/>
            <a:ext cx="1770785" cy="215444"/>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Current Scenario</a:t>
            </a:r>
          </a:p>
        </p:txBody>
      </p:sp>
      <p:cxnSp>
        <p:nvCxnSpPr>
          <p:cNvPr id="25" name="Straight Connector 24">
            <a:extLst>
              <a:ext uri="{FF2B5EF4-FFF2-40B4-BE49-F238E27FC236}">
                <a16:creationId xmlns:a16="http://schemas.microsoft.com/office/drawing/2014/main" id="{30AD7BB3-19AC-4A3C-946F-61924225EB55}"/>
              </a:ext>
            </a:extLst>
          </p:cNvPr>
          <p:cNvCxnSpPr>
            <a:cxnSpLocks/>
          </p:cNvCxnSpPr>
          <p:nvPr/>
        </p:nvCxnSpPr>
        <p:spPr>
          <a:xfrm>
            <a:off x="620922" y="3094195"/>
            <a:ext cx="5355801" cy="16227"/>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3BD654A-03B8-4C5D-AC28-26EAEC02A729}"/>
              </a:ext>
            </a:extLst>
          </p:cNvPr>
          <p:cNvSpPr txBox="1"/>
          <p:nvPr/>
        </p:nvSpPr>
        <p:spPr>
          <a:xfrm>
            <a:off x="1797979" y="2979269"/>
            <a:ext cx="3503486" cy="215444"/>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Captive Coal Mines of WBPDCL</a:t>
            </a:r>
          </a:p>
        </p:txBody>
      </p:sp>
      <p:graphicFrame>
        <p:nvGraphicFramePr>
          <p:cNvPr id="28" name="Chart 27">
            <a:extLst>
              <a:ext uri="{FF2B5EF4-FFF2-40B4-BE49-F238E27FC236}">
                <a16:creationId xmlns:a16="http://schemas.microsoft.com/office/drawing/2014/main" id="{EEA0342D-9D3C-485B-B590-9BF05700E358}"/>
              </a:ext>
            </a:extLst>
          </p:cNvPr>
          <p:cNvGraphicFramePr/>
          <p:nvPr/>
        </p:nvGraphicFramePr>
        <p:xfrm>
          <a:off x="6252353" y="1074907"/>
          <a:ext cx="5594352" cy="30639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Table 20">
            <a:extLst>
              <a:ext uri="{FF2B5EF4-FFF2-40B4-BE49-F238E27FC236}">
                <a16:creationId xmlns:a16="http://schemas.microsoft.com/office/drawing/2014/main" id="{B14C0806-328D-4994-BA9C-DFE0E801128F}"/>
              </a:ext>
            </a:extLst>
          </p:cNvPr>
          <p:cNvGraphicFramePr>
            <a:graphicFrameLocks noGrp="1"/>
          </p:cNvGraphicFramePr>
          <p:nvPr>
            <p:extLst>
              <p:ext uri="{D42A27DB-BD31-4B8C-83A1-F6EECF244321}">
                <p14:modId xmlns:p14="http://schemas.microsoft.com/office/powerpoint/2010/main" val="2096995553"/>
              </p:ext>
            </p:extLst>
          </p:nvPr>
        </p:nvGraphicFramePr>
        <p:xfrm>
          <a:off x="6688899" y="4242053"/>
          <a:ext cx="4814087" cy="670560"/>
        </p:xfrm>
        <a:graphic>
          <a:graphicData uri="http://schemas.openxmlformats.org/drawingml/2006/table">
            <a:tbl>
              <a:tblPr firstRow="1" bandRow="1">
                <a:tableStyleId>{5C22544A-7EE6-4342-B048-85BDC9FD1C3A}</a:tableStyleId>
              </a:tblPr>
              <a:tblGrid>
                <a:gridCol w="2156830">
                  <a:extLst>
                    <a:ext uri="{9D8B030D-6E8A-4147-A177-3AD203B41FA5}">
                      <a16:colId xmlns:a16="http://schemas.microsoft.com/office/drawing/2014/main" val="1495363792"/>
                    </a:ext>
                  </a:extLst>
                </a:gridCol>
                <a:gridCol w="2657257">
                  <a:extLst>
                    <a:ext uri="{9D8B030D-6E8A-4147-A177-3AD203B41FA5}">
                      <a16:colId xmlns:a16="http://schemas.microsoft.com/office/drawing/2014/main" val="2812589587"/>
                    </a:ext>
                  </a:extLst>
                </a:gridCol>
              </a:tblGrid>
              <a:tr h="304203">
                <a:tc>
                  <a:txBody>
                    <a:bodyPr/>
                    <a:lstStyle/>
                    <a:p>
                      <a:pPr algn="ctr"/>
                      <a:r>
                        <a:rPr lang="en-US" sz="900" dirty="0">
                          <a:latin typeface="+mj-lt"/>
                        </a:rPr>
                        <a:t>Net possible savings (in INR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900" b="1" kern="1200" dirty="0">
                          <a:solidFill>
                            <a:schemeClr val="lt1"/>
                          </a:solidFill>
                          <a:latin typeface="+mn-lt"/>
                          <a:ea typeface="+mn-ea"/>
                          <a:cs typeface="+mn-cs"/>
                        </a:rPr>
                        <a:t>Resultant reduction in contribution of WBPDCL to WBSEDCL average tariff through this approach</a:t>
                      </a:r>
                      <a:endParaRPr lang="en-US" sz="9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727424852"/>
                  </a:ext>
                </a:extLst>
              </a:tr>
              <a:tr h="249224">
                <a:tc>
                  <a:txBody>
                    <a:bodyPr/>
                    <a:lstStyle/>
                    <a:p>
                      <a:pPr algn="ctr"/>
                      <a:r>
                        <a:rPr lang="en-US" sz="1400" b="1" dirty="0">
                          <a:solidFill>
                            <a:srgbClr val="046A38"/>
                          </a:solidFill>
                          <a:latin typeface="+mj-lt"/>
                        </a:rPr>
                        <a:t>1076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b="1" i="0" u="none" strike="noStrike" dirty="0">
                          <a:solidFill>
                            <a:schemeClr val="tx1"/>
                          </a:solidFill>
                          <a:effectLst/>
                          <a:latin typeface="+mj-lt"/>
                        </a:rPr>
                        <a:t>INR 0.35/kWh</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6788049"/>
                  </a:ext>
                </a:extLst>
              </a:tr>
            </a:tbl>
          </a:graphicData>
        </a:graphic>
      </p:graphicFrame>
      <p:sp>
        <p:nvSpPr>
          <p:cNvPr id="38" name="Oval 37">
            <a:extLst>
              <a:ext uri="{FF2B5EF4-FFF2-40B4-BE49-F238E27FC236}">
                <a16:creationId xmlns:a16="http://schemas.microsoft.com/office/drawing/2014/main" id="{0EC2F93F-DE96-47B8-866B-3D79B5DA4820}"/>
              </a:ext>
            </a:extLst>
          </p:cNvPr>
          <p:cNvSpPr/>
          <p:nvPr/>
        </p:nvSpPr>
        <p:spPr bwMode="gray">
          <a:xfrm>
            <a:off x="9216498" y="4555562"/>
            <a:ext cx="1838262" cy="523807"/>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40" name="TextBox 39">
            <a:extLst>
              <a:ext uri="{FF2B5EF4-FFF2-40B4-BE49-F238E27FC236}">
                <a16:creationId xmlns:a16="http://schemas.microsoft.com/office/drawing/2014/main" id="{E507FD5D-AF73-4E0F-B45E-64F46EB9A4DA}"/>
              </a:ext>
            </a:extLst>
          </p:cNvPr>
          <p:cNvSpPr txBox="1"/>
          <p:nvPr/>
        </p:nvSpPr>
        <p:spPr>
          <a:xfrm>
            <a:off x="501647" y="5748363"/>
            <a:ext cx="5698955"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0" i="1" u="none" strike="noStrike" kern="1200" cap="none" spc="0" normalizeH="0" baseline="0" noProof="0" dirty="0">
                <a:ln>
                  <a:noFill/>
                </a:ln>
                <a:solidFill>
                  <a:srgbClr val="313131"/>
                </a:solidFill>
                <a:effectLst/>
                <a:uLnTx/>
                <a:uFillTx/>
                <a:latin typeface="Verdana"/>
                <a:ea typeface="+mn-ea"/>
                <a:cs typeface="+mn-cs"/>
              </a:rPr>
              <a:t>Further calculation details  pertaining to the above are provided in </a:t>
            </a:r>
            <a:r>
              <a:rPr kumimoji="0" lang="en-US" sz="1400" b="1" i="1" u="none" strike="noStrike" kern="1200" cap="none" spc="0" normalizeH="0" baseline="0" noProof="0" dirty="0">
                <a:ln>
                  <a:noFill/>
                </a:ln>
                <a:solidFill>
                  <a:srgbClr val="313131"/>
                </a:solidFill>
                <a:effectLst/>
                <a:uLnTx/>
                <a:uFillTx/>
                <a:latin typeface="Verdana"/>
                <a:ea typeface="+mn-ea"/>
                <a:cs typeface="+mn-cs"/>
              </a:rPr>
              <a:t>Annexure</a:t>
            </a:r>
          </a:p>
        </p:txBody>
      </p:sp>
      <p:sp>
        <p:nvSpPr>
          <p:cNvPr id="3" name="TextBox 2">
            <a:extLst>
              <a:ext uri="{FF2B5EF4-FFF2-40B4-BE49-F238E27FC236}">
                <a16:creationId xmlns:a16="http://schemas.microsoft.com/office/drawing/2014/main" id="{EB39EE8F-DB8B-41C9-83A7-D3E5F910635B}"/>
              </a:ext>
            </a:extLst>
          </p:cNvPr>
          <p:cNvSpPr txBox="1"/>
          <p:nvPr/>
        </p:nvSpPr>
        <p:spPr>
          <a:xfrm>
            <a:off x="544764" y="6301909"/>
            <a:ext cx="10851674"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313131"/>
                </a:solidFill>
                <a:effectLst/>
                <a:uLnTx/>
                <a:uFillTx/>
                <a:latin typeface="Verdana"/>
                <a:ea typeface="+mn-ea"/>
                <a:cs typeface="+mn-cs"/>
              </a:rPr>
              <a:t>Note: Based on FY 2019 -20 WBPDCL Tariff Order and Coal Purchase Data</a:t>
            </a:r>
          </a:p>
        </p:txBody>
      </p:sp>
      <p:graphicFrame>
        <p:nvGraphicFramePr>
          <p:cNvPr id="16" name="Table 15">
            <a:extLst>
              <a:ext uri="{FF2B5EF4-FFF2-40B4-BE49-F238E27FC236}">
                <a16:creationId xmlns:a16="http://schemas.microsoft.com/office/drawing/2014/main" id="{DEA59160-09B2-4385-B067-12AD33B5501D}"/>
              </a:ext>
            </a:extLst>
          </p:cNvPr>
          <p:cNvGraphicFramePr>
            <a:graphicFrameLocks noGrp="1"/>
          </p:cNvGraphicFramePr>
          <p:nvPr/>
        </p:nvGraphicFramePr>
        <p:xfrm>
          <a:off x="501647" y="3405894"/>
          <a:ext cx="5594353" cy="2239010"/>
        </p:xfrm>
        <a:graphic>
          <a:graphicData uri="http://schemas.openxmlformats.org/drawingml/2006/table">
            <a:tbl>
              <a:tblPr>
                <a:tableStyleId>{5C22544A-7EE6-4342-B048-85BDC9FD1C3A}</a:tableStyleId>
              </a:tblPr>
              <a:tblGrid>
                <a:gridCol w="248366">
                  <a:extLst>
                    <a:ext uri="{9D8B030D-6E8A-4147-A177-3AD203B41FA5}">
                      <a16:colId xmlns:a16="http://schemas.microsoft.com/office/drawing/2014/main" val="35612503"/>
                    </a:ext>
                  </a:extLst>
                </a:gridCol>
                <a:gridCol w="1397286">
                  <a:extLst>
                    <a:ext uri="{9D8B030D-6E8A-4147-A177-3AD203B41FA5}">
                      <a16:colId xmlns:a16="http://schemas.microsoft.com/office/drawing/2014/main" val="1000333744"/>
                    </a:ext>
                  </a:extLst>
                </a:gridCol>
                <a:gridCol w="1235201">
                  <a:extLst>
                    <a:ext uri="{9D8B030D-6E8A-4147-A177-3AD203B41FA5}">
                      <a16:colId xmlns:a16="http://schemas.microsoft.com/office/drawing/2014/main" val="4141852605"/>
                    </a:ext>
                  </a:extLst>
                </a:gridCol>
                <a:gridCol w="573780">
                  <a:extLst>
                    <a:ext uri="{9D8B030D-6E8A-4147-A177-3AD203B41FA5}">
                      <a16:colId xmlns:a16="http://schemas.microsoft.com/office/drawing/2014/main" val="3880681034"/>
                    </a:ext>
                  </a:extLst>
                </a:gridCol>
                <a:gridCol w="1135606">
                  <a:extLst>
                    <a:ext uri="{9D8B030D-6E8A-4147-A177-3AD203B41FA5}">
                      <a16:colId xmlns:a16="http://schemas.microsoft.com/office/drawing/2014/main" val="81860807"/>
                    </a:ext>
                  </a:extLst>
                </a:gridCol>
                <a:gridCol w="1004114">
                  <a:extLst>
                    <a:ext uri="{9D8B030D-6E8A-4147-A177-3AD203B41FA5}">
                      <a16:colId xmlns:a16="http://schemas.microsoft.com/office/drawing/2014/main" val="2659711838"/>
                    </a:ext>
                  </a:extLst>
                </a:gridCol>
              </a:tblGrid>
              <a:tr h="418973">
                <a:tc>
                  <a:txBody>
                    <a:bodyPr/>
                    <a:lstStyle/>
                    <a:p>
                      <a:pPr algn="ctr" fontAlgn="ctr"/>
                      <a:r>
                        <a:rPr lang="en-US" sz="1200" u="none" strike="noStrike" dirty="0">
                          <a:effectLst/>
                          <a:latin typeface="+mj-lt"/>
                        </a:rPr>
                        <a:t>#</a:t>
                      </a:r>
                      <a:endParaRPr lang="en-US" sz="12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200" u="none" strike="noStrike" dirty="0">
                          <a:effectLst/>
                          <a:latin typeface="+mj-lt"/>
                        </a:rPr>
                        <a:t>Names of Mines </a:t>
                      </a:r>
                      <a:endParaRPr lang="en-US" sz="12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200" u="none" strike="noStrike">
                          <a:effectLst/>
                          <a:latin typeface="+mj-lt"/>
                        </a:rPr>
                        <a:t>District</a:t>
                      </a:r>
                      <a:endParaRPr lang="en-US" sz="12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200" u="none" strike="noStrike" dirty="0">
                          <a:effectLst/>
                          <a:latin typeface="+mj-lt"/>
                        </a:rPr>
                        <a:t>Grade </a:t>
                      </a:r>
                      <a:endParaRPr lang="en-US" sz="12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200" u="none" strike="noStrike" dirty="0">
                          <a:effectLst/>
                          <a:latin typeface="+mj-lt"/>
                        </a:rPr>
                        <a:t>Current production (MTPA)</a:t>
                      </a:r>
                      <a:endParaRPr lang="en-US" sz="12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200" u="none" strike="noStrike" dirty="0">
                          <a:effectLst/>
                          <a:latin typeface="+mj-lt"/>
                        </a:rPr>
                        <a:t>Future Plans (MTPA)</a:t>
                      </a:r>
                      <a:endParaRPr lang="en-US" sz="1200" b="1" i="0" u="none" strike="noStrike" dirty="0">
                        <a:solidFill>
                          <a:srgbClr val="000000"/>
                        </a:solidFill>
                        <a:effectLst/>
                        <a:latin typeface="+mj-lt"/>
                      </a:endParaRPr>
                    </a:p>
                  </a:txBody>
                  <a:tcPr marL="6350" marR="6350" marT="6350" marB="0" anchor="ctr">
                    <a:solidFill>
                      <a:schemeClr val="accent2"/>
                    </a:solidFill>
                  </a:tcPr>
                </a:tc>
                <a:extLst>
                  <a:ext uri="{0D108BD9-81ED-4DB2-BD59-A6C34878D82A}">
                    <a16:rowId xmlns:a16="http://schemas.microsoft.com/office/drawing/2014/main" val="3752230862"/>
                  </a:ext>
                </a:extLst>
              </a:tr>
              <a:tr h="280913">
                <a:tc>
                  <a:txBody>
                    <a:bodyPr/>
                    <a:lstStyle/>
                    <a:p>
                      <a:pPr algn="ctr" fontAlgn="ctr"/>
                      <a:r>
                        <a:rPr lang="en-US" sz="1200" u="none" strike="noStrike" dirty="0">
                          <a:effectLst/>
                          <a:latin typeface="+mj-lt"/>
                        </a:rPr>
                        <a:t>1</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a:effectLst/>
                          <a:latin typeface="+mj-lt"/>
                        </a:rPr>
                        <a:t>Panchura North</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a:effectLst/>
                          <a:latin typeface="+mj-lt"/>
                        </a:rPr>
                        <a:t>Jharkhand (Pakur Dist.)</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G9</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10</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15</a:t>
                      </a:r>
                      <a:endParaRPr lang="en-US" sz="1200" b="0" i="0" u="none" strike="noStrike">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537104956"/>
                  </a:ext>
                </a:extLst>
              </a:tr>
              <a:tr h="142853">
                <a:tc>
                  <a:txBody>
                    <a:bodyPr/>
                    <a:lstStyle/>
                    <a:p>
                      <a:pPr algn="ctr" fontAlgn="ctr"/>
                      <a:r>
                        <a:rPr lang="en-US" sz="1200" u="none" strike="noStrike" dirty="0">
                          <a:effectLst/>
                          <a:latin typeface="+mj-lt"/>
                        </a:rPr>
                        <a:t>2</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a:effectLst/>
                          <a:latin typeface="+mj-lt"/>
                        </a:rPr>
                        <a:t>Borjor North</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a:effectLst/>
                          <a:latin typeface="+mj-lt"/>
                        </a:rPr>
                        <a:t>Bankura</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G13</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2.25</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3</a:t>
                      </a:r>
                      <a:endParaRPr lang="en-US" sz="1200" b="0" i="0" u="none" strike="noStrike">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3634741202"/>
                  </a:ext>
                </a:extLst>
              </a:tr>
              <a:tr h="280913">
                <a:tc>
                  <a:txBody>
                    <a:bodyPr/>
                    <a:lstStyle/>
                    <a:p>
                      <a:pPr algn="ctr" fontAlgn="ctr"/>
                      <a:r>
                        <a:rPr lang="en-US" sz="1200" u="none" strike="noStrike" dirty="0">
                          <a:effectLst/>
                          <a:latin typeface="+mj-lt"/>
                        </a:rPr>
                        <a:t>3</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dirty="0" err="1">
                          <a:effectLst/>
                          <a:latin typeface="+mj-lt"/>
                        </a:rPr>
                        <a:t>Borjora</a:t>
                      </a:r>
                      <a:r>
                        <a:rPr lang="en-US" sz="1200" u="none" strike="noStrike" dirty="0">
                          <a:effectLst/>
                          <a:latin typeface="+mj-lt"/>
                        </a:rPr>
                        <a:t> Coal Mine</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a:effectLst/>
                          <a:latin typeface="+mj-lt"/>
                        </a:rPr>
                        <a:t>Birbhum</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G7</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0.36</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dirty="0">
                          <a:effectLst/>
                          <a:latin typeface="+mj-lt"/>
                        </a:rPr>
                        <a:t>Will End this year</a:t>
                      </a:r>
                      <a:endParaRPr lang="en-US" sz="1200" b="0" i="0" u="none" strike="noStrike" dirty="0">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3086134596"/>
                  </a:ext>
                </a:extLst>
              </a:tr>
              <a:tr h="280913">
                <a:tc>
                  <a:txBody>
                    <a:bodyPr/>
                    <a:lstStyle/>
                    <a:p>
                      <a:pPr algn="ctr" fontAlgn="ctr"/>
                      <a:r>
                        <a:rPr lang="en-US" sz="1200" u="none" strike="noStrike" dirty="0">
                          <a:effectLst/>
                          <a:latin typeface="+mj-lt"/>
                        </a:rPr>
                        <a:t>4</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a:effectLst/>
                          <a:latin typeface="+mj-lt"/>
                        </a:rPr>
                        <a:t>Gangaramchak Bhaduria</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a:effectLst/>
                          <a:latin typeface="+mj-lt"/>
                        </a:rPr>
                        <a:t>Birbhum</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G11</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1</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 </a:t>
                      </a:r>
                      <a:endParaRPr lang="en-US" sz="1200" b="0" i="0" u="none" strike="noStrike">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3733057145"/>
                  </a:ext>
                </a:extLst>
              </a:tr>
              <a:tr h="142853">
                <a:tc>
                  <a:txBody>
                    <a:bodyPr/>
                    <a:lstStyle/>
                    <a:p>
                      <a:pPr algn="ctr" fontAlgn="ctr"/>
                      <a:r>
                        <a:rPr lang="en-US" sz="1200" u="none" strike="noStrike" dirty="0">
                          <a:effectLst/>
                          <a:latin typeface="+mj-lt"/>
                        </a:rPr>
                        <a:t>5</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a:effectLst/>
                          <a:latin typeface="+mj-lt"/>
                        </a:rPr>
                        <a:t>Tara East &amp; West</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l" fontAlgn="ctr"/>
                      <a:r>
                        <a:rPr lang="en-US" sz="1200" u="none" strike="noStrike" dirty="0" err="1">
                          <a:effectLst/>
                          <a:latin typeface="+mj-lt"/>
                        </a:rPr>
                        <a:t>Bardhaman</a:t>
                      </a:r>
                      <a:endParaRPr lang="en-US" sz="1200" b="0" i="0" u="none" strike="noStrike" dirty="0">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G9</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a:t>
                      </a:r>
                      <a:endParaRPr lang="en-US" sz="12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200" u="none" strike="noStrike">
                          <a:effectLst/>
                          <a:latin typeface="+mj-lt"/>
                        </a:rPr>
                        <a:t>4</a:t>
                      </a:r>
                      <a:endParaRPr lang="en-US" sz="1200" b="0" i="0" u="none" strike="noStrike">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1366364800"/>
                  </a:ext>
                </a:extLst>
              </a:tr>
              <a:tr h="142853">
                <a:tc>
                  <a:txBody>
                    <a:bodyPr/>
                    <a:lstStyle/>
                    <a:p>
                      <a:pPr algn="l" fontAlgn="b"/>
                      <a:endParaRPr lang="en-US" sz="1200" b="0" i="0" u="none" strike="noStrike" dirty="0">
                        <a:solidFill>
                          <a:srgbClr val="000000"/>
                        </a:solidFill>
                        <a:effectLst/>
                        <a:latin typeface="+mj-lt"/>
                      </a:endParaRPr>
                    </a:p>
                  </a:txBody>
                  <a:tcPr marL="6350" marR="6350" marT="6350" marB="0" anchor="b">
                    <a:solidFill>
                      <a:schemeClr val="bg1"/>
                    </a:solidFill>
                  </a:tcPr>
                </a:tc>
                <a:tc>
                  <a:txBody>
                    <a:bodyPr/>
                    <a:lstStyle/>
                    <a:p>
                      <a:pPr algn="l" fontAlgn="b"/>
                      <a:endParaRPr lang="en-US" sz="1200" b="0" i="0" u="none" strike="noStrike" dirty="0">
                        <a:solidFill>
                          <a:srgbClr val="000000"/>
                        </a:solidFill>
                        <a:effectLst/>
                        <a:latin typeface="+mj-lt"/>
                      </a:endParaRPr>
                    </a:p>
                  </a:txBody>
                  <a:tcPr marL="6350" marR="6350" marT="6350" marB="0" anchor="b">
                    <a:solidFill>
                      <a:schemeClr val="bg1"/>
                    </a:solidFill>
                  </a:tcPr>
                </a:tc>
                <a:tc>
                  <a:txBody>
                    <a:bodyPr/>
                    <a:lstStyle/>
                    <a:p>
                      <a:pPr algn="l" fontAlgn="b"/>
                      <a:endParaRPr lang="en-US" sz="1200" b="0" i="0" u="none" strike="noStrike" dirty="0">
                        <a:solidFill>
                          <a:srgbClr val="000000"/>
                        </a:solidFill>
                        <a:effectLst/>
                        <a:latin typeface="+mj-lt"/>
                      </a:endParaRPr>
                    </a:p>
                  </a:txBody>
                  <a:tcPr marL="6350" marR="6350" marT="6350" marB="0" anchor="b">
                    <a:solidFill>
                      <a:schemeClr val="bg1"/>
                    </a:solidFill>
                  </a:tcPr>
                </a:tc>
                <a:tc>
                  <a:txBody>
                    <a:bodyPr/>
                    <a:lstStyle/>
                    <a:p>
                      <a:pPr algn="l" fontAlgn="b"/>
                      <a:endParaRPr lang="en-US" sz="1200" b="0" i="0" u="none" strike="noStrike" dirty="0">
                        <a:solidFill>
                          <a:srgbClr val="000000"/>
                        </a:solidFill>
                        <a:effectLst/>
                        <a:latin typeface="+mj-lt"/>
                      </a:endParaRPr>
                    </a:p>
                  </a:txBody>
                  <a:tcPr marL="6350" marR="6350" marT="6350" marB="0" anchor="b">
                    <a:solidFill>
                      <a:schemeClr val="bg1"/>
                    </a:solidFill>
                  </a:tcPr>
                </a:tc>
                <a:tc>
                  <a:txBody>
                    <a:bodyPr/>
                    <a:lstStyle/>
                    <a:p>
                      <a:pPr algn="ctr" fontAlgn="b"/>
                      <a:r>
                        <a:rPr lang="en-US" sz="1200" b="1" u="none" strike="noStrike" dirty="0">
                          <a:effectLst/>
                          <a:latin typeface="+mj-lt"/>
                        </a:rPr>
                        <a:t>13.61</a:t>
                      </a:r>
                      <a:endParaRPr lang="en-US" sz="1200" b="1" i="0" u="none" strike="noStrike" dirty="0">
                        <a:solidFill>
                          <a:srgbClr val="000000"/>
                        </a:solidFill>
                        <a:effectLst/>
                        <a:latin typeface="+mj-lt"/>
                      </a:endParaRPr>
                    </a:p>
                  </a:txBody>
                  <a:tcPr marL="6350" marR="6350" marT="6350" marB="0" anchor="b">
                    <a:solidFill>
                      <a:schemeClr val="bg1"/>
                    </a:solidFill>
                  </a:tcPr>
                </a:tc>
                <a:tc>
                  <a:txBody>
                    <a:bodyPr/>
                    <a:lstStyle/>
                    <a:p>
                      <a:pPr algn="ctr" fontAlgn="b"/>
                      <a:r>
                        <a:rPr lang="en-US" sz="1200" b="1" u="none" strike="noStrike" dirty="0">
                          <a:effectLst/>
                          <a:latin typeface="+mj-lt"/>
                        </a:rPr>
                        <a:t>22</a:t>
                      </a:r>
                      <a:endParaRPr lang="en-US" sz="1200" b="1" i="0" u="none" strike="noStrike" dirty="0">
                        <a:solidFill>
                          <a:srgbClr val="000000"/>
                        </a:solidFill>
                        <a:effectLst/>
                        <a:latin typeface="+mj-lt"/>
                      </a:endParaRPr>
                    </a:p>
                  </a:txBody>
                  <a:tcPr marL="6350" marR="6350" marT="6350" marB="0" anchor="b">
                    <a:solidFill>
                      <a:schemeClr val="bg1"/>
                    </a:solidFill>
                  </a:tcPr>
                </a:tc>
                <a:extLst>
                  <a:ext uri="{0D108BD9-81ED-4DB2-BD59-A6C34878D82A}">
                    <a16:rowId xmlns:a16="http://schemas.microsoft.com/office/drawing/2014/main" val="4276810122"/>
                  </a:ext>
                </a:extLst>
              </a:tr>
            </a:tbl>
          </a:graphicData>
        </a:graphic>
      </p:graphicFrame>
      <p:sp>
        <p:nvSpPr>
          <p:cNvPr id="15" name="Rectangle 14">
            <a:extLst>
              <a:ext uri="{FF2B5EF4-FFF2-40B4-BE49-F238E27FC236}">
                <a16:creationId xmlns:a16="http://schemas.microsoft.com/office/drawing/2014/main" id="{BDD2CBC7-749E-46B4-ACB6-71F9F483F87A}"/>
              </a:ext>
            </a:extLst>
          </p:cNvPr>
          <p:cNvSpPr/>
          <p:nvPr/>
        </p:nvSpPr>
        <p:spPr bwMode="gray">
          <a:xfrm>
            <a:off x="6688899" y="5341510"/>
            <a:ext cx="4814087" cy="837740"/>
          </a:xfrm>
          <a:prstGeom prst="rect">
            <a:avLst/>
          </a:prstGeom>
          <a:solidFill>
            <a:schemeClr val="bg1">
              <a:lumMod val="95000"/>
            </a:schemeClr>
          </a:solidFill>
          <a:ln>
            <a:solidFill>
              <a:schemeClr val="tx1"/>
            </a:solidFill>
            <a:prstDash val="dash"/>
          </a:ln>
        </p:spPr>
        <p:txBody>
          <a:bodyPr wrap="square" lIns="72000" tIns="72000" rIns="72000" bIns="72000" rtlCol="0" anchor="ctr" anchorCtr="0">
            <a:noAutofit/>
          </a:bodyPr>
          <a:lstStyle/>
          <a:p>
            <a:pPr algn="just">
              <a:lnSpc>
                <a:spcPct val="150000"/>
              </a:lnSpc>
              <a:spcBef>
                <a:spcPts val="600"/>
              </a:spcBef>
              <a:buSzPct val="100000"/>
            </a:pPr>
            <a:r>
              <a:rPr lang="en-US" sz="1200" b="1" i="1" dirty="0">
                <a:solidFill>
                  <a:srgbClr val="313131"/>
                </a:solidFill>
                <a:cs typeface="Calibri" panose="020F0502020204030204" pitchFamily="34" charset="0"/>
              </a:rPr>
              <a:t>Note: </a:t>
            </a:r>
            <a:r>
              <a:rPr lang="en-US" sz="1200" i="1" dirty="0">
                <a:solidFill>
                  <a:srgbClr val="313131"/>
                </a:solidFill>
                <a:cs typeface="Calibri" panose="020F0502020204030204" pitchFamily="34" charset="0"/>
              </a:rPr>
              <a:t>Actual Wt. Avg Coal Price from Captive Mines for 2020-21 was ~ Rs 1982/MT and the same for CIL basket source was ~ Rs 3618/MT</a:t>
            </a:r>
          </a:p>
        </p:txBody>
      </p:sp>
      <p:sp>
        <p:nvSpPr>
          <p:cNvPr id="18" name="Arrow: Left 17">
            <a:extLst>
              <a:ext uri="{FF2B5EF4-FFF2-40B4-BE49-F238E27FC236}">
                <a16:creationId xmlns:a16="http://schemas.microsoft.com/office/drawing/2014/main" id="{60A54E4E-4649-4404-99B3-5AC20E526767}"/>
              </a:ext>
            </a:extLst>
          </p:cNvPr>
          <p:cNvSpPr/>
          <p:nvPr/>
        </p:nvSpPr>
        <p:spPr bwMode="gray">
          <a:xfrm>
            <a:off x="9720038" y="6386547"/>
            <a:ext cx="1676400" cy="490243"/>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6" action="ppaction://hlinksldjump"/>
              </a:rPr>
              <a:t>Back to Home</a:t>
            </a:r>
            <a:endParaRPr lang="en-US" sz="1200" b="1" dirty="0">
              <a:solidFill>
                <a:schemeClr val="bg1"/>
              </a:solidFill>
            </a:endParaRPr>
          </a:p>
        </p:txBody>
      </p:sp>
      <p:sp>
        <p:nvSpPr>
          <p:cNvPr id="17" name="Oval 16">
            <a:extLst>
              <a:ext uri="{FF2B5EF4-FFF2-40B4-BE49-F238E27FC236}">
                <a16:creationId xmlns:a16="http://schemas.microsoft.com/office/drawing/2014/main" id="{A6A63B4E-C9B9-4C6A-837C-BC00E9032D60}"/>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1</a:t>
            </a:r>
          </a:p>
        </p:txBody>
      </p:sp>
    </p:spTree>
    <p:extLst>
      <p:ext uri="{BB962C8B-B14F-4D97-AF65-F5344CB8AC3E}">
        <p14:creationId xmlns:p14="http://schemas.microsoft.com/office/powerpoint/2010/main" val="65692360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95000"/>
              </a:lnSpc>
              <a:spcAft>
                <a:spcPts val="0"/>
              </a:spcAft>
            </a:pPr>
            <a:r>
              <a:rPr lang="en-GB" sz="3990" b="1" dirty="0">
                <a:solidFill>
                  <a:prstClr val="white"/>
                </a:solidFill>
                <a:latin typeface="Arial" panose="020B0604020202020204" pitchFamily="34" charset="0"/>
                <a:cs typeface="Arial" panose="020B0604020202020204" pitchFamily="34" charset="0"/>
              </a:rPr>
              <a:t>Opportunity: Reduction of fixed cost for WBSETCL</a:t>
            </a:r>
          </a:p>
        </p:txBody>
      </p:sp>
    </p:spTree>
    <p:extLst>
      <p:ext uri="{BB962C8B-B14F-4D97-AF65-F5344CB8AC3E}">
        <p14:creationId xmlns:p14="http://schemas.microsoft.com/office/powerpoint/2010/main" val="362749503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Reduction of Fixed Cost for WBSETCL by way of sustainable reduction of ROE %; precedence already set by Rajasthan and Uttar Pradesh</a:t>
            </a:r>
            <a:endParaRPr lang="en-US" sz="1800" b="1" i="0" dirty="0">
              <a:solidFill>
                <a:schemeClr val="tx1"/>
              </a:solidFill>
            </a:endParaRPr>
          </a:p>
        </p:txBody>
      </p:sp>
      <p:sp>
        <p:nvSpPr>
          <p:cNvPr id="10" name="TextBox 9">
            <a:extLst>
              <a:ext uri="{FF2B5EF4-FFF2-40B4-BE49-F238E27FC236}">
                <a16:creationId xmlns:a16="http://schemas.microsoft.com/office/drawing/2014/main" id="{CFBC362F-0761-48BA-A78C-B0742AB9BACD}"/>
              </a:ext>
            </a:extLst>
          </p:cNvPr>
          <p:cNvSpPr txBox="1"/>
          <p:nvPr/>
        </p:nvSpPr>
        <p:spPr>
          <a:xfrm>
            <a:off x="3178632" y="6638469"/>
            <a:ext cx="8511720" cy="153888"/>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1" i="1" u="none" strike="noStrike" kern="1200" cap="none" spc="0" normalizeH="0" baseline="0" noProof="0" dirty="0">
                <a:ln>
                  <a:noFill/>
                </a:ln>
                <a:solidFill>
                  <a:srgbClr val="313131"/>
                </a:solidFill>
                <a:effectLst/>
                <a:uLnTx/>
                <a:uFillTx/>
                <a:latin typeface="Verdana"/>
                <a:ea typeface="+mn-ea"/>
                <a:cs typeface="+mn-cs"/>
              </a:rPr>
              <a:t>Source:</a:t>
            </a:r>
            <a:r>
              <a:rPr kumimoji="0" lang="en-US" sz="1000" b="0" i="1" u="none" strike="noStrike" kern="1200" cap="none" spc="0" normalizeH="0" baseline="0" noProof="0" dirty="0">
                <a:ln>
                  <a:noFill/>
                </a:ln>
                <a:solidFill>
                  <a:srgbClr val="313131"/>
                </a:solidFill>
                <a:effectLst/>
                <a:uLnTx/>
                <a:uFillTx/>
                <a:latin typeface="Verdana"/>
                <a:ea typeface="+mn-ea"/>
                <a:cs typeface="+mn-cs"/>
              </a:rPr>
              <a:t> 1) Respective TRANSCO Tariff Orders</a:t>
            </a:r>
          </a:p>
        </p:txBody>
      </p:sp>
      <p:cxnSp>
        <p:nvCxnSpPr>
          <p:cNvPr id="22" name="Straight Connector 21">
            <a:extLst>
              <a:ext uri="{FF2B5EF4-FFF2-40B4-BE49-F238E27FC236}">
                <a16:creationId xmlns:a16="http://schemas.microsoft.com/office/drawing/2014/main" id="{3B71BE36-2B90-40D0-B92B-E277BE953FBD}"/>
              </a:ext>
            </a:extLst>
          </p:cNvPr>
          <p:cNvCxnSpPr>
            <a:cxnSpLocks/>
          </p:cNvCxnSpPr>
          <p:nvPr/>
        </p:nvCxnSpPr>
        <p:spPr>
          <a:xfrm>
            <a:off x="487975" y="1099412"/>
            <a:ext cx="5459800" cy="0"/>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0013D43-DD08-4506-8A14-AE009574A043}"/>
              </a:ext>
            </a:extLst>
          </p:cNvPr>
          <p:cNvSpPr txBox="1"/>
          <p:nvPr/>
        </p:nvSpPr>
        <p:spPr>
          <a:xfrm>
            <a:off x="2317321" y="1007095"/>
            <a:ext cx="1703533" cy="184666"/>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Current Scenario</a:t>
            </a:r>
          </a:p>
        </p:txBody>
      </p:sp>
      <p:sp>
        <p:nvSpPr>
          <p:cNvPr id="24" name="TextBox 23">
            <a:extLst>
              <a:ext uri="{FF2B5EF4-FFF2-40B4-BE49-F238E27FC236}">
                <a16:creationId xmlns:a16="http://schemas.microsoft.com/office/drawing/2014/main" id="{31FD06AE-FC4A-4615-BC4B-DF5715A95264}"/>
              </a:ext>
            </a:extLst>
          </p:cNvPr>
          <p:cNvSpPr txBox="1"/>
          <p:nvPr/>
        </p:nvSpPr>
        <p:spPr>
          <a:xfrm>
            <a:off x="6227522" y="1302820"/>
            <a:ext cx="5507277" cy="1308050"/>
          </a:xfrm>
          <a:prstGeom prst="rect">
            <a:avLst/>
          </a:prstGeom>
          <a:noFill/>
        </p:spPr>
        <p:txBody>
          <a:bodyPr wrap="square" lIns="0" tIns="0" rIns="0" bIns="0" rtlCol="0">
            <a:spAutoFit/>
          </a:bodyPr>
          <a:lstStyle/>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UPPTCL claim 2% ROE – UPERC allowed levels of 14.5% </a:t>
            </a: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and RVPNL claim 2% ROE  - RERC allowed levels of 14%</a:t>
            </a: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lang="en-US" sz="1500" dirty="0">
                <a:solidFill>
                  <a:srgbClr val="313131"/>
                </a:solidFill>
                <a:latin typeface="Verdana"/>
              </a:rPr>
              <a:t>APTRANSCO and BSPTCL have ROE ~ 10-11%</a:t>
            </a: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p:txBody>
      </p:sp>
      <p:cxnSp>
        <p:nvCxnSpPr>
          <p:cNvPr id="28" name="Straight Connector 27">
            <a:extLst>
              <a:ext uri="{FF2B5EF4-FFF2-40B4-BE49-F238E27FC236}">
                <a16:creationId xmlns:a16="http://schemas.microsoft.com/office/drawing/2014/main" id="{9DE2EA49-1D2F-4ED3-AACE-64F99043FEFB}"/>
              </a:ext>
            </a:extLst>
          </p:cNvPr>
          <p:cNvCxnSpPr>
            <a:cxnSpLocks/>
          </p:cNvCxnSpPr>
          <p:nvPr/>
        </p:nvCxnSpPr>
        <p:spPr>
          <a:xfrm>
            <a:off x="6263624" y="1104379"/>
            <a:ext cx="5459800" cy="0"/>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8F11268-C062-4B23-B741-CF0BBD8ED0DB}"/>
              </a:ext>
            </a:extLst>
          </p:cNvPr>
          <p:cNvSpPr txBox="1"/>
          <p:nvPr/>
        </p:nvSpPr>
        <p:spPr>
          <a:xfrm>
            <a:off x="7640882" y="1007095"/>
            <a:ext cx="2743195" cy="184635"/>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Precedence set by other States</a:t>
            </a:r>
          </a:p>
        </p:txBody>
      </p:sp>
      <p:sp>
        <p:nvSpPr>
          <p:cNvPr id="30" name="TextBox 29">
            <a:extLst>
              <a:ext uri="{FF2B5EF4-FFF2-40B4-BE49-F238E27FC236}">
                <a16:creationId xmlns:a16="http://schemas.microsoft.com/office/drawing/2014/main" id="{2ABDE8C7-4CC3-4423-B169-5AAC575AC018}"/>
              </a:ext>
            </a:extLst>
          </p:cNvPr>
          <p:cNvSpPr txBox="1"/>
          <p:nvPr/>
        </p:nvSpPr>
        <p:spPr>
          <a:xfrm>
            <a:off x="440498" y="1302820"/>
            <a:ext cx="5507277" cy="1538883"/>
          </a:xfrm>
          <a:prstGeom prst="rect">
            <a:avLst/>
          </a:prstGeom>
          <a:noFill/>
        </p:spPr>
        <p:txBody>
          <a:bodyPr wrap="square" lIns="0" tIns="0" rIns="0" bIns="0" rtlCol="0">
            <a:spAutoFit/>
          </a:bodyPr>
          <a:lstStyle/>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US" sz="1500" b="0" i="0" u="none" strike="noStrike" kern="1200" cap="none" spc="0" normalizeH="0" baseline="0" noProof="0" dirty="0">
                <a:ln>
                  <a:noFill/>
                </a:ln>
                <a:solidFill>
                  <a:srgbClr val="313131"/>
                </a:solidFill>
                <a:effectLst/>
                <a:uLnTx/>
                <a:uFillTx/>
                <a:latin typeface="Verdana"/>
                <a:ea typeface="+mn-ea"/>
                <a:cs typeface="+mn-cs"/>
              </a:rPr>
              <a:t>WBSETCL currently claims 15.5% ROE as allowed by WBERC vide Tariff Regulations</a:t>
            </a:r>
          </a:p>
          <a:p>
            <a:pPr marL="171450" indent="-171450" algn="just">
              <a:spcBef>
                <a:spcPts val="600"/>
              </a:spcBef>
              <a:buSzPct val="100000"/>
              <a:buFont typeface="Arial" panose="020B0604020202020204" pitchFamily="34" charset="0"/>
              <a:buChar char="•"/>
            </a:pPr>
            <a:r>
              <a:rPr kumimoji="0" lang="en-US" sz="1500" b="0" i="0" u="none" strike="noStrike" kern="1200" cap="none" spc="0" normalizeH="0" baseline="0" noProof="0" dirty="0">
                <a:ln>
                  <a:noFill/>
                </a:ln>
                <a:solidFill>
                  <a:srgbClr val="313131"/>
                </a:solidFill>
                <a:effectLst/>
                <a:uLnTx/>
                <a:uFillTx/>
                <a:latin typeface="Verdana"/>
                <a:ea typeface="+mn-ea"/>
                <a:cs typeface="+mn-cs"/>
              </a:rPr>
              <a:t>Precedence in STU of lower ROE being claimed vis-à-vis SERC Regulations to lower Discom Cost Burdens as Transition Mechanism</a:t>
            </a:r>
          </a:p>
          <a:p>
            <a:pPr marL="171450" marR="0" lvl="0" indent="-171450" algn="just"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500" b="0" i="0" u="none" strike="noStrike" kern="1200" cap="none" spc="0" normalizeH="0" baseline="0" noProof="0" dirty="0">
              <a:ln>
                <a:noFill/>
              </a:ln>
              <a:solidFill>
                <a:srgbClr val="313131"/>
              </a:solidFill>
              <a:effectLst/>
              <a:uLnTx/>
              <a:uFillTx/>
              <a:latin typeface="Verdana"/>
              <a:ea typeface="+mn-ea"/>
              <a:cs typeface="+mn-cs"/>
            </a:endParaRPr>
          </a:p>
        </p:txBody>
      </p:sp>
      <p:cxnSp>
        <p:nvCxnSpPr>
          <p:cNvPr id="31" name="Straight Connector 30">
            <a:extLst>
              <a:ext uri="{FF2B5EF4-FFF2-40B4-BE49-F238E27FC236}">
                <a16:creationId xmlns:a16="http://schemas.microsoft.com/office/drawing/2014/main" id="{C2E5524F-138E-4008-9DDA-BF8E73ED6EAD}"/>
              </a:ext>
            </a:extLst>
          </p:cNvPr>
          <p:cNvCxnSpPr>
            <a:cxnSpLocks/>
          </p:cNvCxnSpPr>
          <p:nvPr/>
        </p:nvCxnSpPr>
        <p:spPr>
          <a:xfrm>
            <a:off x="635089" y="2766996"/>
            <a:ext cx="10938960" cy="27650"/>
          </a:xfrm>
          <a:prstGeom prst="line">
            <a:avLst/>
          </a:prstGeom>
          <a:ln>
            <a:solidFill>
              <a:srgbClr val="86BC25"/>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07CE0AB-DC44-47E4-B392-A99221CEBA57}"/>
              </a:ext>
            </a:extLst>
          </p:cNvPr>
          <p:cNvSpPr txBox="1"/>
          <p:nvPr/>
        </p:nvSpPr>
        <p:spPr>
          <a:xfrm>
            <a:off x="5188083" y="2680279"/>
            <a:ext cx="2037668" cy="184666"/>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Verdana"/>
                <a:ea typeface="+mn-ea"/>
                <a:cs typeface="+mn-cs"/>
              </a:rPr>
              <a:t>Proposed Way Forward</a:t>
            </a:r>
          </a:p>
        </p:txBody>
      </p:sp>
      <p:sp>
        <p:nvSpPr>
          <p:cNvPr id="34" name="TextBox 33">
            <a:extLst>
              <a:ext uri="{FF2B5EF4-FFF2-40B4-BE49-F238E27FC236}">
                <a16:creationId xmlns:a16="http://schemas.microsoft.com/office/drawing/2014/main" id="{EE819719-2DC4-48A0-B950-7D227DB014C0}"/>
              </a:ext>
            </a:extLst>
          </p:cNvPr>
          <p:cNvSpPr txBox="1"/>
          <p:nvPr/>
        </p:nvSpPr>
        <p:spPr>
          <a:xfrm>
            <a:off x="501652" y="6016881"/>
            <a:ext cx="5144868" cy="3231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dirty="0">
                <a:ln>
                  <a:noFill/>
                </a:ln>
                <a:solidFill>
                  <a:srgbClr val="313131"/>
                </a:solidFill>
                <a:effectLst/>
                <a:uLnTx/>
                <a:uFillTx/>
                <a:latin typeface="Verdana"/>
                <a:ea typeface="+mn-ea"/>
                <a:cs typeface="+mn-cs"/>
              </a:rPr>
              <a:t>Note: Admitted equity base for FY 20 is INR 2909 Cr. Whereas MAT rate considered by Commission to compute income tax was 17.47% (for FY 20)</a:t>
            </a:r>
          </a:p>
        </p:txBody>
      </p:sp>
      <p:graphicFrame>
        <p:nvGraphicFramePr>
          <p:cNvPr id="35" name="Table 34">
            <a:extLst>
              <a:ext uri="{FF2B5EF4-FFF2-40B4-BE49-F238E27FC236}">
                <a16:creationId xmlns:a16="http://schemas.microsoft.com/office/drawing/2014/main" id="{0CE8AE4B-88B3-4DB6-A536-188484FA1B45}"/>
              </a:ext>
            </a:extLst>
          </p:cNvPr>
          <p:cNvGraphicFramePr>
            <a:graphicFrameLocks noGrp="1"/>
          </p:cNvGraphicFramePr>
          <p:nvPr>
            <p:extLst>
              <p:ext uri="{D42A27DB-BD31-4B8C-83A1-F6EECF244321}">
                <p14:modId xmlns:p14="http://schemas.microsoft.com/office/powerpoint/2010/main" val="2515919182"/>
              </p:ext>
            </p:extLst>
          </p:nvPr>
        </p:nvGraphicFramePr>
        <p:xfrm>
          <a:off x="501653" y="3207842"/>
          <a:ext cx="5128649" cy="2761981"/>
        </p:xfrm>
        <a:graphic>
          <a:graphicData uri="http://schemas.openxmlformats.org/drawingml/2006/table">
            <a:tbl>
              <a:tblPr>
                <a:tableStyleId>{5C22544A-7EE6-4342-B048-85BDC9FD1C3A}</a:tableStyleId>
              </a:tblPr>
              <a:tblGrid>
                <a:gridCol w="876138">
                  <a:extLst>
                    <a:ext uri="{9D8B030D-6E8A-4147-A177-3AD203B41FA5}">
                      <a16:colId xmlns:a16="http://schemas.microsoft.com/office/drawing/2014/main" val="3037238345"/>
                    </a:ext>
                  </a:extLst>
                </a:gridCol>
                <a:gridCol w="1377233">
                  <a:extLst>
                    <a:ext uri="{9D8B030D-6E8A-4147-A177-3AD203B41FA5}">
                      <a16:colId xmlns:a16="http://schemas.microsoft.com/office/drawing/2014/main" val="1993927268"/>
                    </a:ext>
                  </a:extLst>
                </a:gridCol>
                <a:gridCol w="845912">
                  <a:extLst>
                    <a:ext uri="{9D8B030D-6E8A-4147-A177-3AD203B41FA5}">
                      <a16:colId xmlns:a16="http://schemas.microsoft.com/office/drawing/2014/main" val="2532585462"/>
                    </a:ext>
                  </a:extLst>
                </a:gridCol>
                <a:gridCol w="872388">
                  <a:extLst>
                    <a:ext uri="{9D8B030D-6E8A-4147-A177-3AD203B41FA5}">
                      <a16:colId xmlns:a16="http://schemas.microsoft.com/office/drawing/2014/main" val="2510452588"/>
                    </a:ext>
                  </a:extLst>
                </a:gridCol>
                <a:gridCol w="1156978">
                  <a:extLst>
                    <a:ext uri="{9D8B030D-6E8A-4147-A177-3AD203B41FA5}">
                      <a16:colId xmlns:a16="http://schemas.microsoft.com/office/drawing/2014/main" val="3526962081"/>
                    </a:ext>
                  </a:extLst>
                </a:gridCol>
              </a:tblGrid>
              <a:tr h="675426">
                <a:tc>
                  <a:txBody>
                    <a:bodyPr/>
                    <a:lstStyle/>
                    <a:p>
                      <a:pPr algn="ctr" fontAlgn="b"/>
                      <a:r>
                        <a:rPr lang="en-US" sz="1000" b="1" i="0" u="none" strike="noStrike" dirty="0">
                          <a:solidFill>
                            <a:schemeClr val="bg1"/>
                          </a:solidFill>
                          <a:effectLst/>
                          <a:latin typeface="+mj-lt"/>
                        </a:rPr>
                        <a:t>ROE Considered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b"/>
                      <a:r>
                        <a:rPr lang="en-US" sz="1000" b="1" i="0" u="none" strike="noStrike" dirty="0">
                          <a:solidFill>
                            <a:schemeClr val="bg1"/>
                          </a:solidFill>
                          <a:effectLst/>
                          <a:latin typeface="+mj-lt"/>
                        </a:rPr>
                        <a:t>Particulars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b"/>
                      <a:r>
                        <a:rPr lang="en-US" sz="1000" b="1" i="0" u="none" strike="noStrike" dirty="0">
                          <a:solidFill>
                            <a:schemeClr val="bg1"/>
                          </a:solidFill>
                          <a:effectLst/>
                          <a:latin typeface="+mj-lt"/>
                        </a:rPr>
                        <a:t>Amount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b"/>
                      <a:r>
                        <a:rPr lang="en-US" sz="1000" b="1" i="0" u="none" strike="noStrike" dirty="0">
                          <a:solidFill>
                            <a:schemeClr val="bg1"/>
                          </a:solidFill>
                          <a:effectLst/>
                          <a:latin typeface="+mj-lt"/>
                        </a:rPr>
                        <a:t>Total Savings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b"/>
                      <a:r>
                        <a:rPr lang="en-US" sz="1000" b="1" i="0" u="none" strike="noStrike" dirty="0">
                          <a:solidFill>
                            <a:schemeClr val="bg1"/>
                          </a:solidFill>
                          <a:effectLst/>
                          <a:latin typeface="+mj-lt"/>
                        </a:rPr>
                        <a:t>Total savings in terms of WBSEDCL avg. tariff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788733625"/>
                  </a:ext>
                </a:extLst>
              </a:tr>
              <a:tr h="193200">
                <a:tc rowSpan="2">
                  <a:txBody>
                    <a:bodyPr/>
                    <a:lstStyle/>
                    <a:p>
                      <a:pPr algn="ctr" fontAlgn="b"/>
                      <a:r>
                        <a:rPr lang="en-US" sz="1050" b="1" i="0" u="none" strike="noStrike" dirty="0">
                          <a:solidFill>
                            <a:schemeClr val="tx1"/>
                          </a:solidFill>
                          <a:effectLst/>
                          <a:latin typeface="+mj-lt"/>
                        </a:rPr>
                        <a:t>15.5%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50" u="none" strike="noStrike" dirty="0">
                          <a:solidFill>
                            <a:schemeClr val="tx1"/>
                          </a:solidFill>
                          <a:effectLst/>
                          <a:latin typeface="+mj-lt"/>
                        </a:rPr>
                        <a:t>Admitted ROE</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b"/>
                      <a:r>
                        <a:rPr lang="en-US" sz="1050" u="none" strike="noStrike" dirty="0">
                          <a:solidFill>
                            <a:schemeClr val="tx1"/>
                          </a:solidFill>
                          <a:effectLst/>
                          <a:latin typeface="+mj-lt"/>
                        </a:rPr>
                        <a:t>INR 451 Cr.</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pPr algn="ctr" fontAlgn="b"/>
                      <a:r>
                        <a:rPr lang="en-US" sz="1050" b="0" i="0" u="none" strike="noStrike" dirty="0">
                          <a:solidFill>
                            <a:schemeClr val="tx1"/>
                          </a:solidFill>
                          <a:effectLst/>
                          <a:latin typeface="+mj-lt"/>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pPr algn="ctr" fontAlgn="b"/>
                      <a:r>
                        <a:rPr lang="en-US" sz="1050" b="0" i="0" u="none" strike="noStrike" dirty="0">
                          <a:solidFill>
                            <a:schemeClr val="tx1"/>
                          </a:solidFill>
                          <a:effectLst/>
                          <a:latin typeface="+mj-lt"/>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24155001"/>
                  </a:ext>
                </a:extLst>
              </a:tr>
              <a:tr h="378671">
                <a:tc vMerge="1">
                  <a:txBody>
                    <a:bodyPr/>
                    <a:lstStyle/>
                    <a:p>
                      <a:pPr algn="ctr" fontAlgn="b"/>
                      <a:endParaRPr lang="en-US" sz="1100" b="0" i="0" u="none" strike="noStrike" dirty="0">
                        <a:solidFill>
                          <a:schemeClr val="tx1"/>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50" u="none" strike="noStrike" dirty="0">
                          <a:solidFill>
                            <a:schemeClr val="tx1"/>
                          </a:solidFill>
                          <a:effectLst/>
                          <a:latin typeface="+mj-lt"/>
                        </a:rPr>
                        <a:t>Admitted Income Tax</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b"/>
                      <a:r>
                        <a:rPr lang="en-US" sz="1050" u="none" strike="noStrike" dirty="0">
                          <a:solidFill>
                            <a:schemeClr val="tx1"/>
                          </a:solidFill>
                          <a:effectLst/>
                          <a:latin typeface="+mj-lt"/>
                        </a:rPr>
                        <a:t>INR 79 Cr</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pPr algn="ctr" fontAlgn="b"/>
                      <a:endParaRPr lang="en-US" sz="110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endParaRPr lang="en-US"/>
                    </a:p>
                  </a:txBody>
                  <a:tcPr/>
                </a:tc>
                <a:extLst>
                  <a:ext uri="{0D108BD9-81ED-4DB2-BD59-A6C34878D82A}">
                    <a16:rowId xmlns:a16="http://schemas.microsoft.com/office/drawing/2014/main" val="698824184"/>
                  </a:ext>
                </a:extLst>
              </a:tr>
              <a:tr h="378671">
                <a:tc rowSpan="2">
                  <a:txBody>
                    <a:bodyPr/>
                    <a:lstStyle/>
                    <a:p>
                      <a:pPr algn="ctr" fontAlgn="b"/>
                      <a:r>
                        <a:rPr lang="en-US" sz="1050" b="1" i="0" u="none" strike="noStrike" dirty="0">
                          <a:solidFill>
                            <a:schemeClr val="tx1"/>
                          </a:solidFill>
                          <a:effectLst/>
                          <a:latin typeface="+mj-lt"/>
                        </a:rPr>
                        <a:t>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5F8"/>
                    </a:solidFill>
                  </a:tcPr>
                </a:tc>
                <a:tc>
                  <a:txBody>
                    <a:bodyPr/>
                    <a:lstStyle/>
                    <a:p>
                      <a:pPr algn="l" fontAlgn="b"/>
                      <a:r>
                        <a:rPr lang="en-US" sz="1050" u="none" strike="noStrike" dirty="0">
                          <a:solidFill>
                            <a:schemeClr val="tx1"/>
                          </a:solidFill>
                          <a:effectLst/>
                          <a:latin typeface="+mj-lt"/>
                        </a:rPr>
                        <a:t>Modified ROE (@ 10%)</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5F8"/>
                    </a:solidFill>
                  </a:tcPr>
                </a:tc>
                <a:tc>
                  <a:txBody>
                    <a:bodyPr/>
                    <a:lstStyle/>
                    <a:p>
                      <a:pPr algn="ctr" fontAlgn="b"/>
                      <a:r>
                        <a:rPr lang="en-US" sz="1050" u="none" strike="noStrike" dirty="0">
                          <a:solidFill>
                            <a:schemeClr val="tx1"/>
                          </a:solidFill>
                          <a:effectLst/>
                          <a:latin typeface="+mj-lt"/>
                        </a:rPr>
                        <a:t>INR 291 Cr.</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5F8"/>
                    </a:solidFill>
                  </a:tcPr>
                </a:tc>
                <a:tc rowSpan="2">
                  <a:txBody>
                    <a:bodyPr/>
                    <a:lstStyle/>
                    <a:p>
                      <a:pPr algn="ctr" fontAlgn="b"/>
                      <a:r>
                        <a:rPr lang="en-US" sz="1050" b="1" i="0" u="none" strike="noStrike" dirty="0">
                          <a:solidFill>
                            <a:schemeClr val="tx1"/>
                          </a:solidFill>
                          <a:effectLst/>
                          <a:latin typeface="+mj-lt"/>
                        </a:rPr>
                        <a:t>INR 188 Cr.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5F8"/>
                    </a:solidFill>
                  </a:tcPr>
                </a:tc>
                <a:tc rowSpan="2">
                  <a:txBody>
                    <a:bodyPr/>
                    <a:lstStyle/>
                    <a:p>
                      <a:pPr algn="ctr" fontAlgn="b"/>
                      <a:r>
                        <a:rPr lang="en-US" sz="1050" b="1" i="0" u="none" strike="noStrike" dirty="0">
                          <a:solidFill>
                            <a:schemeClr val="tx1"/>
                          </a:solidFill>
                          <a:effectLst/>
                          <a:latin typeface="+mj-lt"/>
                        </a:rPr>
                        <a:t>INR 0.06/kwh</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5F8"/>
                    </a:solidFill>
                  </a:tcPr>
                </a:tc>
                <a:extLst>
                  <a:ext uri="{0D108BD9-81ED-4DB2-BD59-A6C34878D82A}">
                    <a16:rowId xmlns:a16="http://schemas.microsoft.com/office/drawing/2014/main" val="967143005"/>
                  </a:ext>
                </a:extLst>
              </a:tr>
              <a:tr h="378671">
                <a:tc vMerge="1">
                  <a:txBody>
                    <a:bodyPr/>
                    <a:lstStyle/>
                    <a:p>
                      <a:pPr algn="ctr" fontAlgn="b"/>
                      <a:endParaRPr lang="en-US" sz="1100" b="0" i="0" u="none" strike="noStrike" dirty="0">
                        <a:solidFill>
                          <a:schemeClr val="tx1"/>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50" u="none" strike="noStrike" dirty="0">
                          <a:solidFill>
                            <a:schemeClr val="tx1"/>
                          </a:solidFill>
                          <a:effectLst/>
                          <a:latin typeface="+mj-lt"/>
                        </a:rPr>
                        <a:t>Modified Income Tax (at ROE @10%)</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5F8"/>
                    </a:solidFill>
                  </a:tcPr>
                </a:tc>
                <a:tc>
                  <a:txBody>
                    <a:bodyPr/>
                    <a:lstStyle/>
                    <a:p>
                      <a:pPr algn="ctr" fontAlgn="b"/>
                      <a:r>
                        <a:rPr lang="en-US" sz="1050" u="none" strike="noStrike" dirty="0">
                          <a:solidFill>
                            <a:schemeClr val="tx1"/>
                          </a:solidFill>
                          <a:effectLst/>
                          <a:latin typeface="+mj-lt"/>
                        </a:rPr>
                        <a:t>INR 51 Cr.</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5F8"/>
                    </a:solidFill>
                  </a:tcPr>
                </a:tc>
                <a:tc vMerge="1">
                  <a:txBody>
                    <a:bodyPr/>
                    <a:lstStyle/>
                    <a:p>
                      <a:pPr algn="ctr" fontAlgn="b"/>
                      <a:endParaRPr lang="en-US" sz="110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48D"/>
                    </a:solidFill>
                  </a:tcPr>
                </a:tc>
                <a:tc vMerge="1">
                  <a:txBody>
                    <a:bodyPr/>
                    <a:lstStyle/>
                    <a:p>
                      <a:endParaRPr lang="en-US"/>
                    </a:p>
                  </a:txBody>
                  <a:tcPr/>
                </a:tc>
                <a:extLst>
                  <a:ext uri="{0D108BD9-81ED-4DB2-BD59-A6C34878D82A}">
                    <a16:rowId xmlns:a16="http://schemas.microsoft.com/office/drawing/2014/main" val="959033756"/>
                  </a:ext>
                </a:extLst>
              </a:tr>
              <a:tr h="378671">
                <a:tc rowSpan="2">
                  <a:txBody>
                    <a:bodyPr/>
                    <a:lstStyle/>
                    <a:p>
                      <a:pPr algn="ctr" fontAlgn="b"/>
                      <a:r>
                        <a:rPr lang="en-US" sz="1050" b="1" i="0" u="none" strike="noStrike" dirty="0">
                          <a:solidFill>
                            <a:schemeClr val="tx1"/>
                          </a:solidFill>
                          <a:effectLst/>
                          <a:latin typeface="+mj-lt"/>
                        </a:rPr>
                        <a:t>7.5%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50" u="none" strike="noStrike" dirty="0">
                          <a:solidFill>
                            <a:schemeClr val="tx1"/>
                          </a:solidFill>
                          <a:effectLst/>
                          <a:latin typeface="+mj-lt"/>
                        </a:rPr>
                        <a:t>Modified ROE (@ 7.5%)</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50" u="none" strike="noStrike" dirty="0">
                          <a:solidFill>
                            <a:schemeClr val="tx1"/>
                          </a:solidFill>
                          <a:effectLst/>
                          <a:latin typeface="+mj-lt"/>
                        </a:rPr>
                        <a:t>INR 218 Cr.</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b"/>
                      <a:r>
                        <a:rPr lang="en-US" sz="1050" b="1" i="0" u="none" strike="noStrike" dirty="0">
                          <a:solidFill>
                            <a:schemeClr val="tx1"/>
                          </a:solidFill>
                          <a:effectLst/>
                          <a:latin typeface="+mj-lt"/>
                        </a:rPr>
                        <a:t>INR 273Cr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b"/>
                      <a:r>
                        <a:rPr lang="en-US" sz="1050" b="1" i="0" u="none" strike="noStrike" dirty="0">
                          <a:solidFill>
                            <a:schemeClr val="tx1"/>
                          </a:solidFill>
                          <a:effectLst/>
                          <a:latin typeface="+mj-lt"/>
                        </a:rPr>
                        <a:t>INR 0.09/kWh</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1135341"/>
                  </a:ext>
                </a:extLst>
              </a:tr>
              <a:tr h="378671">
                <a:tc vMerge="1">
                  <a:txBody>
                    <a:bodyPr/>
                    <a:lstStyle/>
                    <a:p>
                      <a:pPr algn="ctr" fontAlgn="b"/>
                      <a:endParaRPr lang="en-US" sz="1100" b="0" i="0" u="none" strike="noStrike" dirty="0">
                        <a:solidFill>
                          <a:schemeClr val="tx1"/>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50" u="none" strike="noStrike" dirty="0">
                          <a:solidFill>
                            <a:schemeClr val="tx1"/>
                          </a:solidFill>
                          <a:effectLst/>
                          <a:latin typeface="+mj-lt"/>
                        </a:rPr>
                        <a:t>Modified Income Tax (at 7.5%)</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50" u="none" strike="noStrike" dirty="0">
                          <a:solidFill>
                            <a:schemeClr val="tx1"/>
                          </a:solidFill>
                          <a:effectLst/>
                          <a:latin typeface="+mj-lt"/>
                        </a:rPr>
                        <a:t>INR 38 Cr.</a:t>
                      </a:r>
                      <a:endParaRPr lang="en-US" sz="105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1100" b="0" i="0" u="none" strike="noStrike" dirty="0">
                        <a:solidFill>
                          <a:schemeClr val="tx1"/>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vMerge="1">
                  <a:txBody>
                    <a:bodyPr/>
                    <a:lstStyle/>
                    <a:p>
                      <a:endParaRPr lang="en-US"/>
                    </a:p>
                  </a:txBody>
                  <a:tcPr/>
                </a:tc>
                <a:extLst>
                  <a:ext uri="{0D108BD9-81ED-4DB2-BD59-A6C34878D82A}">
                    <a16:rowId xmlns:a16="http://schemas.microsoft.com/office/drawing/2014/main" val="1958186030"/>
                  </a:ext>
                </a:extLst>
              </a:tr>
            </a:tbl>
          </a:graphicData>
        </a:graphic>
      </p:graphicFrame>
      <p:sp>
        <p:nvSpPr>
          <p:cNvPr id="42" name="Oval 41">
            <a:extLst>
              <a:ext uri="{FF2B5EF4-FFF2-40B4-BE49-F238E27FC236}">
                <a16:creationId xmlns:a16="http://schemas.microsoft.com/office/drawing/2014/main" id="{81314B1E-9AFA-4123-80E6-55907A964679}"/>
              </a:ext>
            </a:extLst>
          </p:cNvPr>
          <p:cNvSpPr/>
          <p:nvPr/>
        </p:nvSpPr>
        <p:spPr bwMode="gray">
          <a:xfrm>
            <a:off x="4466607" y="4666476"/>
            <a:ext cx="1179913" cy="532343"/>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43" name="Oval 42">
            <a:extLst>
              <a:ext uri="{FF2B5EF4-FFF2-40B4-BE49-F238E27FC236}">
                <a16:creationId xmlns:a16="http://schemas.microsoft.com/office/drawing/2014/main" id="{EC50C2B7-FA57-4ED5-91EB-E4787390CC2F}"/>
              </a:ext>
            </a:extLst>
          </p:cNvPr>
          <p:cNvSpPr/>
          <p:nvPr/>
        </p:nvSpPr>
        <p:spPr bwMode="gray">
          <a:xfrm>
            <a:off x="4398282" y="5318222"/>
            <a:ext cx="1248238" cy="463078"/>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53" name="Group 52">
            <a:extLst>
              <a:ext uri="{FF2B5EF4-FFF2-40B4-BE49-F238E27FC236}">
                <a16:creationId xmlns:a16="http://schemas.microsoft.com/office/drawing/2014/main" id="{83E8C3CB-9158-491D-AC55-260D1B476BAB}"/>
              </a:ext>
            </a:extLst>
          </p:cNvPr>
          <p:cNvGrpSpPr/>
          <p:nvPr/>
        </p:nvGrpSpPr>
        <p:grpSpPr>
          <a:xfrm>
            <a:off x="6005778" y="3722114"/>
            <a:ext cx="5740396" cy="2456350"/>
            <a:chOff x="5994403" y="3856542"/>
            <a:chExt cx="5740396" cy="2066343"/>
          </a:xfrm>
        </p:grpSpPr>
        <p:graphicFrame>
          <p:nvGraphicFramePr>
            <p:cNvPr id="44" name="Chart 43">
              <a:extLst>
                <a:ext uri="{FF2B5EF4-FFF2-40B4-BE49-F238E27FC236}">
                  <a16:creationId xmlns:a16="http://schemas.microsoft.com/office/drawing/2014/main" id="{D8B38560-24D1-41CF-84CC-EAD02097F619}"/>
                </a:ext>
              </a:extLst>
            </p:cNvPr>
            <p:cNvGraphicFramePr/>
            <p:nvPr>
              <p:extLst>
                <p:ext uri="{D42A27DB-BD31-4B8C-83A1-F6EECF244321}">
                  <p14:modId xmlns:p14="http://schemas.microsoft.com/office/powerpoint/2010/main" val="123924036"/>
                </p:ext>
              </p:extLst>
            </p:nvPr>
          </p:nvGraphicFramePr>
          <p:xfrm>
            <a:off x="5994403" y="3856542"/>
            <a:ext cx="5740396" cy="2066343"/>
          </p:xfrm>
          <a:graphic>
            <a:graphicData uri="http://schemas.openxmlformats.org/drawingml/2006/chart">
              <c:chart xmlns:c="http://schemas.openxmlformats.org/drawingml/2006/chart" xmlns:r="http://schemas.openxmlformats.org/officeDocument/2006/relationships" r:id="rId6"/>
            </a:graphicData>
          </a:graphic>
        </p:graphicFrame>
        <p:cxnSp>
          <p:nvCxnSpPr>
            <p:cNvPr id="46" name="Straight Connector 45">
              <a:extLst>
                <a:ext uri="{FF2B5EF4-FFF2-40B4-BE49-F238E27FC236}">
                  <a16:creationId xmlns:a16="http://schemas.microsoft.com/office/drawing/2014/main" id="{309DB437-6629-46B8-874C-D167BB8E98C1}"/>
                </a:ext>
              </a:extLst>
            </p:cNvPr>
            <p:cNvCxnSpPr>
              <a:cxnSpLocks/>
            </p:cNvCxnSpPr>
            <p:nvPr/>
          </p:nvCxnSpPr>
          <p:spPr>
            <a:xfrm>
              <a:off x="8584655" y="4748593"/>
              <a:ext cx="2630466" cy="16068"/>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48" name="Straight Connector 47">
              <a:extLst>
                <a:ext uri="{FF2B5EF4-FFF2-40B4-BE49-F238E27FC236}">
                  <a16:creationId xmlns:a16="http://schemas.microsoft.com/office/drawing/2014/main" id="{20453D08-9FF5-4AEA-9906-09DACE678E71}"/>
                </a:ext>
              </a:extLst>
            </p:cNvPr>
            <p:cNvCxnSpPr>
              <a:cxnSpLocks/>
            </p:cNvCxnSpPr>
            <p:nvPr/>
          </p:nvCxnSpPr>
          <p:spPr>
            <a:xfrm>
              <a:off x="7549368" y="4534477"/>
              <a:ext cx="3699005" cy="22596"/>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50" name="Straight Connector 49">
              <a:extLst>
                <a:ext uri="{FF2B5EF4-FFF2-40B4-BE49-F238E27FC236}">
                  <a16:creationId xmlns:a16="http://schemas.microsoft.com/office/drawing/2014/main" id="{8E5649C5-EC6C-404C-BDE6-390FB85B7CD1}"/>
                </a:ext>
              </a:extLst>
            </p:cNvPr>
            <p:cNvCxnSpPr>
              <a:cxnSpLocks/>
            </p:cNvCxnSpPr>
            <p:nvPr/>
          </p:nvCxnSpPr>
          <p:spPr>
            <a:xfrm>
              <a:off x="6761852" y="4127129"/>
              <a:ext cx="4586729" cy="28018"/>
            </a:xfrm>
            <a:prstGeom prst="line">
              <a:avLst/>
            </a:prstGeom>
            <a:ln>
              <a:prstDash val="lgDash"/>
            </a:ln>
          </p:spPr>
          <p:style>
            <a:lnRef idx="1">
              <a:schemeClr val="accent2"/>
            </a:lnRef>
            <a:fillRef idx="0">
              <a:schemeClr val="accent2"/>
            </a:fillRef>
            <a:effectRef idx="0">
              <a:schemeClr val="accent2"/>
            </a:effectRef>
            <a:fontRef idx="minor">
              <a:schemeClr val="tx1"/>
            </a:fontRef>
          </p:style>
        </p:cxnSp>
      </p:grpSp>
      <p:sp>
        <p:nvSpPr>
          <p:cNvPr id="54" name="Rectangle 53">
            <a:extLst>
              <a:ext uri="{FF2B5EF4-FFF2-40B4-BE49-F238E27FC236}">
                <a16:creationId xmlns:a16="http://schemas.microsoft.com/office/drawing/2014/main" id="{B5EED404-9D3E-4DFA-96EA-54429F025A1A}"/>
              </a:ext>
            </a:extLst>
          </p:cNvPr>
          <p:cNvSpPr/>
          <p:nvPr/>
        </p:nvSpPr>
        <p:spPr bwMode="gray">
          <a:xfrm>
            <a:off x="6005778" y="3157696"/>
            <a:ext cx="5740396" cy="621192"/>
          </a:xfrm>
          <a:prstGeom prst="rect">
            <a:avLst/>
          </a:prstGeom>
          <a:noFill/>
          <a:ln>
            <a:noFill/>
            <a:prstDash val="dash"/>
          </a:ln>
        </p:spPr>
        <p:txBody>
          <a:bodyPr wrap="square" lIns="72000" tIns="72000" rIns="72000" bIns="72000" rtlCol="0" anchor="ctr" anchorCtr="0">
            <a:noAutofit/>
          </a:bodyPr>
          <a:lstStyle/>
          <a:p>
            <a:pPr marL="0" marR="0" lvl="0" indent="0" algn="just" defTabSz="914342"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Verdana"/>
                <a:ea typeface="+mn-ea"/>
                <a:cs typeface="+mn-cs"/>
              </a:rPr>
              <a:t>Adequacy of reduced ROE  to sustain future equity requirement (30%) w.r.t capital investment plans</a:t>
            </a:r>
          </a:p>
        </p:txBody>
      </p:sp>
      <p:sp>
        <p:nvSpPr>
          <p:cNvPr id="55" name="TextBox 54">
            <a:extLst>
              <a:ext uri="{FF2B5EF4-FFF2-40B4-BE49-F238E27FC236}">
                <a16:creationId xmlns:a16="http://schemas.microsoft.com/office/drawing/2014/main" id="{45464885-08D4-469B-87AF-A8A9CD51A0E7}"/>
              </a:ext>
            </a:extLst>
          </p:cNvPr>
          <p:cNvSpPr txBox="1"/>
          <p:nvPr/>
        </p:nvSpPr>
        <p:spPr>
          <a:xfrm>
            <a:off x="10558118" y="3771890"/>
            <a:ext cx="1188056"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800" b="0" i="1" u="none" strike="noStrike" kern="1200" cap="none" spc="0" normalizeH="0" baseline="0" noProof="0" dirty="0">
                <a:ln>
                  <a:noFill/>
                </a:ln>
                <a:solidFill>
                  <a:srgbClr val="313131"/>
                </a:solidFill>
                <a:effectLst/>
                <a:uLnTx/>
                <a:uFillTx/>
                <a:latin typeface="Verdana"/>
                <a:ea typeface="+mn-ea"/>
                <a:cs typeface="+mn-cs"/>
              </a:rPr>
              <a:t>Figures in INR Crores</a:t>
            </a:r>
          </a:p>
        </p:txBody>
      </p:sp>
      <p:sp>
        <p:nvSpPr>
          <p:cNvPr id="57" name="TextBox 56">
            <a:extLst>
              <a:ext uri="{FF2B5EF4-FFF2-40B4-BE49-F238E27FC236}">
                <a16:creationId xmlns:a16="http://schemas.microsoft.com/office/drawing/2014/main" id="{6CFF04C7-2F16-4CBC-870B-5B0C25BDB785}"/>
              </a:ext>
            </a:extLst>
          </p:cNvPr>
          <p:cNvSpPr txBox="1"/>
          <p:nvPr/>
        </p:nvSpPr>
        <p:spPr>
          <a:xfrm>
            <a:off x="6017153" y="6253068"/>
            <a:ext cx="5729021"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1" u="none" strike="noStrike" kern="1200" cap="none" spc="0" normalizeH="0" baseline="0" noProof="0" dirty="0">
                <a:ln>
                  <a:noFill/>
                </a:ln>
                <a:solidFill>
                  <a:srgbClr val="313131"/>
                </a:solidFill>
                <a:effectLst/>
                <a:uLnTx/>
                <a:uFillTx/>
                <a:latin typeface="Verdana"/>
                <a:ea typeface="+mn-ea"/>
                <a:cs typeface="+mn-cs"/>
              </a:rPr>
              <a:t>*Additional amount of ~INR 444 Cr available with WBSETCL as Cash and Bank balance for FY ‘20</a:t>
            </a:r>
          </a:p>
        </p:txBody>
      </p:sp>
      <p:sp>
        <p:nvSpPr>
          <p:cNvPr id="27" name="Arrow: Left 26">
            <a:extLst>
              <a:ext uri="{FF2B5EF4-FFF2-40B4-BE49-F238E27FC236}">
                <a16:creationId xmlns:a16="http://schemas.microsoft.com/office/drawing/2014/main" id="{07C5484A-6F98-4128-87D4-82D606AAD1AE}"/>
              </a:ext>
            </a:extLst>
          </p:cNvPr>
          <p:cNvSpPr/>
          <p:nvPr/>
        </p:nvSpPr>
        <p:spPr bwMode="gray">
          <a:xfrm>
            <a:off x="9329163" y="6512497"/>
            <a:ext cx="1578323" cy="326920"/>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hlinkClick r:id="rId7" action="ppaction://hlinksldjump"/>
              </a:rPr>
              <a:t>Back to Home</a:t>
            </a:r>
            <a:endParaRPr lang="en-US" sz="1100" b="1" dirty="0">
              <a:solidFill>
                <a:schemeClr val="bg1"/>
              </a:solidFill>
            </a:endParaRPr>
          </a:p>
        </p:txBody>
      </p:sp>
      <p:sp>
        <p:nvSpPr>
          <p:cNvPr id="26" name="Oval 25">
            <a:extLst>
              <a:ext uri="{FF2B5EF4-FFF2-40B4-BE49-F238E27FC236}">
                <a16:creationId xmlns:a16="http://schemas.microsoft.com/office/drawing/2014/main" id="{8DCA275F-60CC-4818-A637-6B2DC34CFF48}"/>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2</a:t>
            </a:r>
          </a:p>
        </p:txBody>
      </p:sp>
    </p:spTree>
    <p:extLst>
      <p:ext uri="{BB962C8B-B14F-4D97-AF65-F5344CB8AC3E}">
        <p14:creationId xmlns:p14="http://schemas.microsoft.com/office/powerpoint/2010/main" val="198056337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Power Purchase Portfolio Optimization</a:t>
            </a:r>
          </a:p>
        </p:txBody>
      </p:sp>
    </p:spTree>
    <p:extLst>
      <p:ext uri="{BB962C8B-B14F-4D97-AF65-F5344CB8AC3E}">
        <p14:creationId xmlns:p14="http://schemas.microsoft.com/office/powerpoint/2010/main" val="361290836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DA5683A8-E995-47E2-99E9-5ACEBA515DBE}"/>
              </a:ext>
            </a:extLst>
          </p:cNvPr>
          <p:cNvSpPr>
            <a:spLocks noGrp="1"/>
          </p:cNvSpPr>
          <p:nvPr>
            <p:ph type="title"/>
          </p:nvPr>
        </p:nvSpPr>
        <p:spPr>
          <a:xfrm>
            <a:off x="501652" y="266400"/>
            <a:ext cx="11188700" cy="732051"/>
          </a:xfrm>
        </p:spPr>
        <p:txBody>
          <a:bodyPr vert="horz"/>
          <a:lstStyle/>
          <a:p>
            <a:pPr algn="just"/>
            <a:r>
              <a:rPr lang="en-US" sz="1800" b="1" dirty="0"/>
              <a:t>Load-Demand Curve ( In MW) of last 3 Years for WBSEDCL as per 7</a:t>
            </a:r>
            <a:r>
              <a:rPr lang="en-US" sz="1800" b="1" baseline="30000" dirty="0"/>
              <a:t>th</a:t>
            </a:r>
            <a:r>
              <a:rPr lang="en-US" sz="1800" b="1" dirty="0"/>
              <a:t> MYT Order</a:t>
            </a:r>
            <a:endParaRPr lang="en-US" sz="1800" b="1" i="0" dirty="0">
              <a:solidFill>
                <a:schemeClr val="tx1"/>
              </a:solidFill>
            </a:endParaRPr>
          </a:p>
        </p:txBody>
      </p:sp>
      <p:sp>
        <p:nvSpPr>
          <p:cNvPr id="3" name="Freeform: Shape 2">
            <a:extLst>
              <a:ext uri="{FF2B5EF4-FFF2-40B4-BE49-F238E27FC236}">
                <a16:creationId xmlns:a16="http://schemas.microsoft.com/office/drawing/2014/main" id="{D3A56AC0-8F30-4BC9-BF6B-D77276E824FC}"/>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4" name="Chart 3">
            <a:extLst>
              <a:ext uri="{FF2B5EF4-FFF2-40B4-BE49-F238E27FC236}">
                <a16:creationId xmlns:a16="http://schemas.microsoft.com/office/drawing/2014/main" id="{F8EE4E7B-1C88-480F-9340-65E9132BDB3D}"/>
              </a:ext>
            </a:extLst>
          </p:cNvPr>
          <p:cNvGraphicFramePr/>
          <p:nvPr/>
        </p:nvGraphicFramePr>
        <p:xfrm>
          <a:off x="501648" y="828523"/>
          <a:ext cx="7627592" cy="171147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19854508-193F-4636-967D-99E6D0E15EAB}"/>
              </a:ext>
            </a:extLst>
          </p:cNvPr>
          <p:cNvGraphicFramePr/>
          <p:nvPr/>
        </p:nvGraphicFramePr>
        <p:xfrm>
          <a:off x="501647" y="2671471"/>
          <a:ext cx="7627592" cy="154069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9B852ADD-31E8-403E-B666-F4B5D18631FC}"/>
              </a:ext>
            </a:extLst>
          </p:cNvPr>
          <p:cNvGraphicFramePr/>
          <p:nvPr/>
        </p:nvGraphicFramePr>
        <p:xfrm>
          <a:off x="542241" y="4318004"/>
          <a:ext cx="7586998" cy="236157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Table 4">
            <a:extLst>
              <a:ext uri="{FF2B5EF4-FFF2-40B4-BE49-F238E27FC236}">
                <a16:creationId xmlns:a16="http://schemas.microsoft.com/office/drawing/2014/main" id="{55F6AFF6-AAFD-4568-81B7-C8DA1582DC05}"/>
              </a:ext>
            </a:extLst>
          </p:cNvPr>
          <p:cNvGraphicFramePr>
            <a:graphicFrameLocks noGrp="1"/>
          </p:cNvGraphicFramePr>
          <p:nvPr/>
        </p:nvGraphicFramePr>
        <p:xfrm>
          <a:off x="8272611" y="912983"/>
          <a:ext cx="3622526" cy="1511883"/>
        </p:xfrm>
        <a:graphic>
          <a:graphicData uri="http://schemas.openxmlformats.org/drawingml/2006/table">
            <a:tbl>
              <a:tblPr firstRow="1" bandRow="1">
                <a:tableStyleId>{5C22544A-7EE6-4342-B048-85BDC9FD1C3A}</a:tableStyleId>
              </a:tblPr>
              <a:tblGrid>
                <a:gridCol w="587467">
                  <a:extLst>
                    <a:ext uri="{9D8B030D-6E8A-4147-A177-3AD203B41FA5}">
                      <a16:colId xmlns:a16="http://schemas.microsoft.com/office/drawing/2014/main" val="1030015450"/>
                    </a:ext>
                  </a:extLst>
                </a:gridCol>
                <a:gridCol w="1118622">
                  <a:extLst>
                    <a:ext uri="{9D8B030D-6E8A-4147-A177-3AD203B41FA5}">
                      <a16:colId xmlns:a16="http://schemas.microsoft.com/office/drawing/2014/main" val="1788612957"/>
                    </a:ext>
                  </a:extLst>
                </a:gridCol>
                <a:gridCol w="1001206">
                  <a:extLst>
                    <a:ext uri="{9D8B030D-6E8A-4147-A177-3AD203B41FA5}">
                      <a16:colId xmlns:a16="http://schemas.microsoft.com/office/drawing/2014/main" val="2792453188"/>
                    </a:ext>
                  </a:extLst>
                </a:gridCol>
                <a:gridCol w="915231">
                  <a:extLst>
                    <a:ext uri="{9D8B030D-6E8A-4147-A177-3AD203B41FA5}">
                      <a16:colId xmlns:a16="http://schemas.microsoft.com/office/drawing/2014/main" val="1093019168"/>
                    </a:ext>
                  </a:extLst>
                </a:gridCol>
              </a:tblGrid>
              <a:tr h="503783">
                <a:tc>
                  <a:txBody>
                    <a:bodyPr/>
                    <a:lstStyle/>
                    <a:p>
                      <a:r>
                        <a:rPr lang="en-US" sz="1000" dirty="0"/>
                        <a:t>FY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86BC25"/>
                    </a:solidFill>
                  </a:tcPr>
                </a:tc>
                <a:tc>
                  <a:txBody>
                    <a:bodyPr/>
                    <a:lstStyle/>
                    <a:p>
                      <a:r>
                        <a:rPr lang="en-US" sz="1000" dirty="0"/>
                        <a:t>Minimum</a:t>
                      </a:r>
                    </a:p>
                    <a:p>
                      <a:r>
                        <a:rPr lang="en-US" sz="1000" dirty="0"/>
                        <a:t>Demand </a:t>
                      </a:r>
                    </a:p>
                    <a:p>
                      <a:r>
                        <a:rPr lang="en-US" sz="1000" dirty="0"/>
                        <a:t>(In MW) </a:t>
                      </a:r>
                    </a:p>
                  </a:txBody>
                  <a:tcPr>
                    <a:lnT w="12700" cap="flat" cmpd="sng" algn="ctr">
                      <a:solidFill>
                        <a:schemeClr val="tx1"/>
                      </a:solidFill>
                      <a:prstDash val="solid"/>
                      <a:round/>
                      <a:headEnd type="none" w="med" len="med"/>
                      <a:tailEnd type="none" w="med" len="med"/>
                    </a:lnT>
                    <a:solidFill>
                      <a:srgbClr val="86BC25"/>
                    </a:solidFill>
                  </a:tcPr>
                </a:tc>
                <a:tc>
                  <a:txBody>
                    <a:bodyPr/>
                    <a:lstStyle/>
                    <a:p>
                      <a:r>
                        <a:rPr lang="en-US" sz="1000" dirty="0"/>
                        <a:t>Maximum Demand </a:t>
                      </a:r>
                    </a:p>
                    <a:p>
                      <a:r>
                        <a:rPr lang="en-US" sz="1000" dirty="0"/>
                        <a:t>(In MW)</a:t>
                      </a:r>
                    </a:p>
                  </a:txBody>
                  <a:tcPr>
                    <a:lnT w="12700" cap="flat" cmpd="sng" algn="ctr">
                      <a:solidFill>
                        <a:schemeClr val="tx1"/>
                      </a:solidFill>
                      <a:prstDash val="solid"/>
                      <a:round/>
                      <a:headEnd type="none" w="med" len="med"/>
                      <a:tailEnd type="none" w="med" len="med"/>
                    </a:lnT>
                    <a:solidFill>
                      <a:srgbClr val="86BC25"/>
                    </a:solidFill>
                  </a:tcPr>
                </a:tc>
                <a:tc>
                  <a:txBody>
                    <a:bodyPr/>
                    <a:lstStyle/>
                    <a:p>
                      <a:r>
                        <a:rPr lang="en-US" sz="1000" dirty="0"/>
                        <a:t>Average Demand </a:t>
                      </a:r>
                    </a:p>
                    <a:p>
                      <a:r>
                        <a:rPr lang="en-US" sz="1000" dirty="0"/>
                        <a:t>(In MW)</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86BC25"/>
                    </a:solidFill>
                  </a:tcPr>
                </a:tc>
                <a:extLst>
                  <a:ext uri="{0D108BD9-81ED-4DB2-BD59-A6C34878D82A}">
                    <a16:rowId xmlns:a16="http://schemas.microsoft.com/office/drawing/2014/main" val="2519844797"/>
                  </a:ext>
                </a:extLst>
              </a:tr>
              <a:tr h="321081">
                <a:tc>
                  <a:txBody>
                    <a:bodyPr/>
                    <a:lstStyle/>
                    <a:p>
                      <a:r>
                        <a:rPr lang="en-US" sz="1000" dirty="0"/>
                        <a:t>FY 21</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4100</a:t>
                      </a:r>
                    </a:p>
                  </a:txBody>
                  <a:tcPr>
                    <a:solidFill>
                      <a:schemeClr val="bg1"/>
                    </a:solidFill>
                  </a:tcPr>
                </a:tc>
                <a:tc>
                  <a:txBody>
                    <a:bodyPr/>
                    <a:lstStyle/>
                    <a:p>
                      <a:r>
                        <a:rPr lang="en-US" sz="1000" dirty="0"/>
                        <a:t>5600</a:t>
                      </a:r>
                    </a:p>
                  </a:txBody>
                  <a:tcPr>
                    <a:solidFill>
                      <a:schemeClr val="bg1"/>
                    </a:solidFill>
                  </a:tcPr>
                </a:tc>
                <a:tc>
                  <a:txBody>
                    <a:bodyPr/>
                    <a:lstStyle/>
                    <a:p>
                      <a:r>
                        <a:rPr lang="en-US" sz="1000" dirty="0"/>
                        <a:t>4552</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853542454"/>
                  </a:ext>
                </a:extLst>
              </a:tr>
              <a:tr h="321081">
                <a:tc>
                  <a:txBody>
                    <a:bodyPr/>
                    <a:lstStyle/>
                    <a:p>
                      <a:r>
                        <a:rPr lang="en-US" sz="1000" dirty="0"/>
                        <a:t>FY 22</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4000</a:t>
                      </a:r>
                    </a:p>
                  </a:txBody>
                  <a:tcPr>
                    <a:solidFill>
                      <a:schemeClr val="bg1"/>
                    </a:solidFill>
                  </a:tcPr>
                </a:tc>
                <a:tc>
                  <a:txBody>
                    <a:bodyPr/>
                    <a:lstStyle/>
                    <a:p>
                      <a:r>
                        <a:rPr lang="en-US" sz="1000" dirty="0"/>
                        <a:t>6700</a:t>
                      </a:r>
                    </a:p>
                  </a:txBody>
                  <a:tcPr>
                    <a:solidFill>
                      <a:schemeClr val="bg1"/>
                    </a:solidFill>
                  </a:tcPr>
                </a:tc>
                <a:tc>
                  <a:txBody>
                    <a:bodyPr/>
                    <a:lstStyle/>
                    <a:p>
                      <a:r>
                        <a:rPr lang="en-US" sz="1000" dirty="0"/>
                        <a:t>4726</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826492258"/>
                  </a:ext>
                </a:extLst>
              </a:tr>
              <a:tr h="321081">
                <a:tc>
                  <a:txBody>
                    <a:bodyPr/>
                    <a:lstStyle/>
                    <a:p>
                      <a:r>
                        <a:rPr lang="en-US" sz="1000" dirty="0"/>
                        <a:t>FY 23</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4150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6800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4905</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5225684"/>
                  </a:ext>
                </a:extLst>
              </a:tr>
            </a:tbl>
          </a:graphicData>
        </a:graphic>
      </p:graphicFrame>
      <p:graphicFrame>
        <p:nvGraphicFramePr>
          <p:cNvPr id="8" name="Table 4">
            <a:extLst>
              <a:ext uri="{FF2B5EF4-FFF2-40B4-BE49-F238E27FC236}">
                <a16:creationId xmlns:a16="http://schemas.microsoft.com/office/drawing/2014/main" id="{4D4841C2-E0D1-4478-89A8-EA2410E23D4E}"/>
              </a:ext>
            </a:extLst>
          </p:cNvPr>
          <p:cNvGraphicFramePr>
            <a:graphicFrameLocks noGrp="1"/>
          </p:cNvGraphicFramePr>
          <p:nvPr/>
        </p:nvGraphicFramePr>
        <p:xfrm>
          <a:off x="8272611" y="2671471"/>
          <a:ext cx="3622526" cy="1453998"/>
        </p:xfrm>
        <a:graphic>
          <a:graphicData uri="http://schemas.openxmlformats.org/drawingml/2006/table">
            <a:tbl>
              <a:tblPr firstRow="1" bandRow="1">
                <a:tableStyleId>{5C22544A-7EE6-4342-B048-85BDC9FD1C3A}</a:tableStyleId>
              </a:tblPr>
              <a:tblGrid>
                <a:gridCol w="587467">
                  <a:extLst>
                    <a:ext uri="{9D8B030D-6E8A-4147-A177-3AD203B41FA5}">
                      <a16:colId xmlns:a16="http://schemas.microsoft.com/office/drawing/2014/main" val="1030015450"/>
                    </a:ext>
                  </a:extLst>
                </a:gridCol>
                <a:gridCol w="1118622">
                  <a:extLst>
                    <a:ext uri="{9D8B030D-6E8A-4147-A177-3AD203B41FA5}">
                      <a16:colId xmlns:a16="http://schemas.microsoft.com/office/drawing/2014/main" val="1788612957"/>
                    </a:ext>
                  </a:extLst>
                </a:gridCol>
                <a:gridCol w="1001206">
                  <a:extLst>
                    <a:ext uri="{9D8B030D-6E8A-4147-A177-3AD203B41FA5}">
                      <a16:colId xmlns:a16="http://schemas.microsoft.com/office/drawing/2014/main" val="2792453188"/>
                    </a:ext>
                  </a:extLst>
                </a:gridCol>
                <a:gridCol w="915231">
                  <a:extLst>
                    <a:ext uri="{9D8B030D-6E8A-4147-A177-3AD203B41FA5}">
                      <a16:colId xmlns:a16="http://schemas.microsoft.com/office/drawing/2014/main" val="1093019168"/>
                    </a:ext>
                  </a:extLst>
                </a:gridCol>
              </a:tblGrid>
              <a:tr h="515670">
                <a:tc>
                  <a:txBody>
                    <a:bodyPr/>
                    <a:lstStyle/>
                    <a:p>
                      <a:r>
                        <a:rPr lang="en-US" sz="1000" dirty="0"/>
                        <a:t>FY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A3E0"/>
                    </a:solidFill>
                  </a:tcPr>
                </a:tc>
                <a:tc>
                  <a:txBody>
                    <a:bodyPr/>
                    <a:lstStyle/>
                    <a:p>
                      <a:r>
                        <a:rPr lang="en-US" sz="1000" dirty="0"/>
                        <a:t>Minimum</a:t>
                      </a:r>
                    </a:p>
                    <a:p>
                      <a:r>
                        <a:rPr lang="en-US" sz="1000" dirty="0"/>
                        <a:t>Demand </a:t>
                      </a:r>
                    </a:p>
                    <a:p>
                      <a:r>
                        <a:rPr lang="en-US" sz="1000" dirty="0"/>
                        <a:t>(In MW) </a:t>
                      </a:r>
                    </a:p>
                  </a:txBody>
                  <a:tcPr>
                    <a:lnT w="12700" cap="flat" cmpd="sng" algn="ctr">
                      <a:solidFill>
                        <a:schemeClr val="tx1"/>
                      </a:solidFill>
                      <a:prstDash val="solid"/>
                      <a:round/>
                      <a:headEnd type="none" w="med" len="med"/>
                      <a:tailEnd type="none" w="med" len="med"/>
                    </a:lnT>
                    <a:solidFill>
                      <a:srgbClr val="00A3E0"/>
                    </a:solidFill>
                  </a:tcPr>
                </a:tc>
                <a:tc>
                  <a:txBody>
                    <a:bodyPr/>
                    <a:lstStyle/>
                    <a:p>
                      <a:r>
                        <a:rPr lang="en-US" sz="1000" dirty="0"/>
                        <a:t>Maximum Demand </a:t>
                      </a:r>
                    </a:p>
                    <a:p>
                      <a:r>
                        <a:rPr lang="en-US" sz="1000" dirty="0"/>
                        <a:t>(In MW)</a:t>
                      </a:r>
                    </a:p>
                  </a:txBody>
                  <a:tcPr>
                    <a:lnT w="12700" cap="flat" cmpd="sng" algn="ctr">
                      <a:solidFill>
                        <a:schemeClr val="tx1"/>
                      </a:solidFill>
                      <a:prstDash val="solid"/>
                      <a:round/>
                      <a:headEnd type="none" w="med" len="med"/>
                      <a:tailEnd type="none" w="med" len="med"/>
                    </a:lnT>
                    <a:solidFill>
                      <a:srgbClr val="00A3E0"/>
                    </a:solidFill>
                  </a:tcPr>
                </a:tc>
                <a:tc>
                  <a:txBody>
                    <a:bodyPr/>
                    <a:lstStyle/>
                    <a:p>
                      <a:r>
                        <a:rPr lang="en-US" sz="1000" dirty="0"/>
                        <a:t>Average Demand </a:t>
                      </a:r>
                    </a:p>
                    <a:p>
                      <a:r>
                        <a:rPr lang="en-US" sz="1000" dirty="0"/>
                        <a:t>(In MW)</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A3E0"/>
                    </a:solidFill>
                  </a:tcPr>
                </a:tc>
                <a:extLst>
                  <a:ext uri="{0D108BD9-81ED-4DB2-BD59-A6C34878D82A}">
                    <a16:rowId xmlns:a16="http://schemas.microsoft.com/office/drawing/2014/main" val="2519844797"/>
                  </a:ext>
                </a:extLst>
              </a:tr>
              <a:tr h="301786">
                <a:tc>
                  <a:txBody>
                    <a:bodyPr/>
                    <a:lstStyle/>
                    <a:p>
                      <a:r>
                        <a:rPr lang="en-US" sz="1000" dirty="0"/>
                        <a:t>FY 21</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4100</a:t>
                      </a:r>
                    </a:p>
                  </a:txBody>
                  <a:tcPr>
                    <a:solidFill>
                      <a:schemeClr val="bg1"/>
                    </a:solidFill>
                  </a:tcPr>
                </a:tc>
                <a:tc>
                  <a:txBody>
                    <a:bodyPr/>
                    <a:lstStyle/>
                    <a:p>
                      <a:r>
                        <a:rPr lang="en-US" sz="1000" dirty="0"/>
                        <a:t>6000</a:t>
                      </a:r>
                    </a:p>
                  </a:txBody>
                  <a:tcPr>
                    <a:solidFill>
                      <a:schemeClr val="bg1"/>
                    </a:solidFill>
                  </a:tcPr>
                </a:tc>
                <a:tc>
                  <a:txBody>
                    <a:bodyPr/>
                    <a:lstStyle/>
                    <a:p>
                      <a:r>
                        <a:rPr lang="en-US" sz="1000" dirty="0"/>
                        <a:t>4609</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853542454"/>
                  </a:ext>
                </a:extLst>
              </a:tr>
              <a:tr h="301786">
                <a:tc>
                  <a:txBody>
                    <a:bodyPr/>
                    <a:lstStyle/>
                    <a:p>
                      <a:r>
                        <a:rPr lang="en-US" sz="1000" dirty="0"/>
                        <a:t>FY 22</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4350</a:t>
                      </a:r>
                    </a:p>
                  </a:txBody>
                  <a:tcPr>
                    <a:solidFill>
                      <a:schemeClr val="bg1"/>
                    </a:solidFill>
                  </a:tcPr>
                </a:tc>
                <a:tc>
                  <a:txBody>
                    <a:bodyPr/>
                    <a:lstStyle/>
                    <a:p>
                      <a:r>
                        <a:rPr lang="en-US" sz="1000" dirty="0"/>
                        <a:t>6250</a:t>
                      </a:r>
                    </a:p>
                  </a:txBody>
                  <a:tcPr>
                    <a:solidFill>
                      <a:schemeClr val="bg1"/>
                    </a:solidFill>
                  </a:tcPr>
                </a:tc>
                <a:tc>
                  <a:txBody>
                    <a:bodyPr/>
                    <a:lstStyle/>
                    <a:p>
                      <a:r>
                        <a:rPr lang="en-US" sz="1000" dirty="0"/>
                        <a:t>5093</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826492258"/>
                  </a:ext>
                </a:extLst>
              </a:tr>
              <a:tr h="301786">
                <a:tc>
                  <a:txBody>
                    <a:bodyPr/>
                    <a:lstStyle/>
                    <a:p>
                      <a:r>
                        <a:rPr lang="en-US" sz="1000" dirty="0"/>
                        <a:t>FY 23</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4700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6800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5219</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5225684"/>
                  </a:ext>
                </a:extLst>
              </a:tr>
            </a:tbl>
          </a:graphicData>
        </a:graphic>
      </p:graphicFrame>
      <p:graphicFrame>
        <p:nvGraphicFramePr>
          <p:cNvPr id="9" name="Table 4">
            <a:extLst>
              <a:ext uri="{FF2B5EF4-FFF2-40B4-BE49-F238E27FC236}">
                <a16:creationId xmlns:a16="http://schemas.microsoft.com/office/drawing/2014/main" id="{086B002C-EE2C-456B-87A9-BC547B1E23A4}"/>
              </a:ext>
            </a:extLst>
          </p:cNvPr>
          <p:cNvGraphicFramePr>
            <a:graphicFrameLocks noGrp="1"/>
          </p:cNvGraphicFramePr>
          <p:nvPr/>
        </p:nvGraphicFramePr>
        <p:xfrm>
          <a:off x="8272611" y="4405551"/>
          <a:ext cx="3622526" cy="1453998"/>
        </p:xfrm>
        <a:graphic>
          <a:graphicData uri="http://schemas.openxmlformats.org/drawingml/2006/table">
            <a:tbl>
              <a:tblPr firstRow="1" bandRow="1">
                <a:tableStyleId>{5C22544A-7EE6-4342-B048-85BDC9FD1C3A}</a:tableStyleId>
              </a:tblPr>
              <a:tblGrid>
                <a:gridCol w="587467">
                  <a:extLst>
                    <a:ext uri="{9D8B030D-6E8A-4147-A177-3AD203B41FA5}">
                      <a16:colId xmlns:a16="http://schemas.microsoft.com/office/drawing/2014/main" val="1030015450"/>
                    </a:ext>
                  </a:extLst>
                </a:gridCol>
                <a:gridCol w="1118622">
                  <a:extLst>
                    <a:ext uri="{9D8B030D-6E8A-4147-A177-3AD203B41FA5}">
                      <a16:colId xmlns:a16="http://schemas.microsoft.com/office/drawing/2014/main" val="1788612957"/>
                    </a:ext>
                  </a:extLst>
                </a:gridCol>
                <a:gridCol w="1001206">
                  <a:extLst>
                    <a:ext uri="{9D8B030D-6E8A-4147-A177-3AD203B41FA5}">
                      <a16:colId xmlns:a16="http://schemas.microsoft.com/office/drawing/2014/main" val="2792453188"/>
                    </a:ext>
                  </a:extLst>
                </a:gridCol>
                <a:gridCol w="915231">
                  <a:extLst>
                    <a:ext uri="{9D8B030D-6E8A-4147-A177-3AD203B41FA5}">
                      <a16:colId xmlns:a16="http://schemas.microsoft.com/office/drawing/2014/main" val="1093019168"/>
                    </a:ext>
                  </a:extLst>
                </a:gridCol>
              </a:tblGrid>
              <a:tr h="515670">
                <a:tc>
                  <a:txBody>
                    <a:bodyPr/>
                    <a:lstStyle/>
                    <a:p>
                      <a:r>
                        <a:rPr lang="en-US" sz="1000" dirty="0"/>
                        <a:t>FY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70C0"/>
                    </a:solidFill>
                  </a:tcPr>
                </a:tc>
                <a:tc>
                  <a:txBody>
                    <a:bodyPr/>
                    <a:lstStyle/>
                    <a:p>
                      <a:r>
                        <a:rPr lang="en-US" sz="1000" dirty="0"/>
                        <a:t>Minimum</a:t>
                      </a:r>
                    </a:p>
                    <a:p>
                      <a:r>
                        <a:rPr lang="en-US" sz="1000" dirty="0"/>
                        <a:t>Demand </a:t>
                      </a:r>
                    </a:p>
                    <a:p>
                      <a:r>
                        <a:rPr lang="en-US" sz="1000" dirty="0"/>
                        <a:t>(In MW) </a:t>
                      </a:r>
                    </a:p>
                  </a:txBody>
                  <a:tcPr>
                    <a:lnT w="12700" cap="flat" cmpd="sng" algn="ctr">
                      <a:solidFill>
                        <a:schemeClr val="tx1"/>
                      </a:solidFill>
                      <a:prstDash val="solid"/>
                      <a:round/>
                      <a:headEnd type="none" w="med" len="med"/>
                      <a:tailEnd type="none" w="med" len="med"/>
                    </a:lnT>
                    <a:solidFill>
                      <a:srgbClr val="0070C0"/>
                    </a:solidFill>
                  </a:tcPr>
                </a:tc>
                <a:tc>
                  <a:txBody>
                    <a:bodyPr/>
                    <a:lstStyle/>
                    <a:p>
                      <a:r>
                        <a:rPr lang="en-US" sz="1000" dirty="0"/>
                        <a:t>Maximum Demand </a:t>
                      </a:r>
                    </a:p>
                    <a:p>
                      <a:r>
                        <a:rPr lang="en-US" sz="1000" dirty="0"/>
                        <a:t>(In MW)</a:t>
                      </a:r>
                    </a:p>
                  </a:txBody>
                  <a:tcPr>
                    <a:lnT w="12700" cap="flat" cmpd="sng" algn="ctr">
                      <a:solidFill>
                        <a:schemeClr val="tx1"/>
                      </a:solidFill>
                      <a:prstDash val="solid"/>
                      <a:round/>
                      <a:headEnd type="none" w="med" len="med"/>
                      <a:tailEnd type="none" w="med" len="med"/>
                    </a:lnT>
                    <a:solidFill>
                      <a:srgbClr val="0070C0"/>
                    </a:solidFill>
                  </a:tcPr>
                </a:tc>
                <a:tc>
                  <a:txBody>
                    <a:bodyPr/>
                    <a:lstStyle/>
                    <a:p>
                      <a:r>
                        <a:rPr lang="en-US" sz="1000" dirty="0"/>
                        <a:t>Average Demand </a:t>
                      </a:r>
                    </a:p>
                    <a:p>
                      <a:r>
                        <a:rPr lang="en-US" sz="1000" dirty="0"/>
                        <a:t>(In MW)</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70C0"/>
                    </a:solidFill>
                  </a:tcPr>
                </a:tc>
                <a:extLst>
                  <a:ext uri="{0D108BD9-81ED-4DB2-BD59-A6C34878D82A}">
                    <a16:rowId xmlns:a16="http://schemas.microsoft.com/office/drawing/2014/main" val="2519844797"/>
                  </a:ext>
                </a:extLst>
              </a:tr>
              <a:tr h="301786">
                <a:tc>
                  <a:txBody>
                    <a:bodyPr/>
                    <a:lstStyle/>
                    <a:p>
                      <a:r>
                        <a:rPr lang="en-US" sz="1000" dirty="0"/>
                        <a:t>FY 21</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4000</a:t>
                      </a:r>
                    </a:p>
                  </a:txBody>
                  <a:tcPr>
                    <a:solidFill>
                      <a:schemeClr val="bg1"/>
                    </a:solidFill>
                  </a:tcPr>
                </a:tc>
                <a:tc>
                  <a:txBody>
                    <a:bodyPr/>
                    <a:lstStyle/>
                    <a:p>
                      <a:r>
                        <a:rPr lang="en-US" sz="1000" dirty="0"/>
                        <a:t>4750</a:t>
                      </a:r>
                    </a:p>
                  </a:txBody>
                  <a:tcPr>
                    <a:solidFill>
                      <a:schemeClr val="bg1"/>
                    </a:solidFill>
                  </a:tcPr>
                </a:tc>
                <a:tc>
                  <a:txBody>
                    <a:bodyPr/>
                    <a:lstStyle/>
                    <a:p>
                      <a:r>
                        <a:rPr lang="en-US" sz="1000" dirty="0"/>
                        <a:t>4254</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853542454"/>
                  </a:ext>
                </a:extLst>
              </a:tr>
              <a:tr h="301786">
                <a:tc>
                  <a:txBody>
                    <a:bodyPr/>
                    <a:lstStyle/>
                    <a:p>
                      <a:r>
                        <a:rPr lang="en-US" sz="1000" dirty="0"/>
                        <a:t>FY 22</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4250</a:t>
                      </a:r>
                    </a:p>
                  </a:txBody>
                  <a:tcPr>
                    <a:solidFill>
                      <a:schemeClr val="bg1"/>
                    </a:solidFill>
                  </a:tcPr>
                </a:tc>
                <a:tc>
                  <a:txBody>
                    <a:bodyPr/>
                    <a:lstStyle/>
                    <a:p>
                      <a:r>
                        <a:rPr lang="en-US" sz="1000" dirty="0"/>
                        <a:t>5000</a:t>
                      </a:r>
                    </a:p>
                  </a:txBody>
                  <a:tcPr>
                    <a:solidFill>
                      <a:schemeClr val="bg1"/>
                    </a:solidFill>
                  </a:tcPr>
                </a:tc>
                <a:tc>
                  <a:txBody>
                    <a:bodyPr/>
                    <a:lstStyle/>
                    <a:p>
                      <a:r>
                        <a:rPr lang="en-US" sz="1000" dirty="0"/>
                        <a:t>4635</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826492258"/>
                  </a:ext>
                </a:extLst>
              </a:tr>
              <a:tr h="301786">
                <a:tc>
                  <a:txBody>
                    <a:bodyPr/>
                    <a:lstStyle/>
                    <a:p>
                      <a:r>
                        <a:rPr lang="en-US" sz="1000" dirty="0"/>
                        <a:t>FY 23</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4400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5350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4866</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5225684"/>
                  </a:ext>
                </a:extLst>
              </a:tr>
            </a:tbl>
          </a:graphicData>
        </a:graphic>
      </p:graphicFrame>
      <p:sp>
        <p:nvSpPr>
          <p:cNvPr id="10" name="Oval 9">
            <a:extLst>
              <a:ext uri="{FF2B5EF4-FFF2-40B4-BE49-F238E27FC236}">
                <a16:creationId xmlns:a16="http://schemas.microsoft.com/office/drawing/2014/main" id="{9B0AA0C5-B6F8-4BA0-9352-390DF60DBA8B}"/>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3</a:t>
            </a:r>
          </a:p>
        </p:txBody>
      </p:sp>
      <p:sp>
        <p:nvSpPr>
          <p:cNvPr id="11" name="Arrow: Left 10">
            <a:extLst>
              <a:ext uri="{FF2B5EF4-FFF2-40B4-BE49-F238E27FC236}">
                <a16:creationId xmlns:a16="http://schemas.microsoft.com/office/drawing/2014/main" id="{5E50488F-9115-4817-BA43-183ABABD3B57}"/>
              </a:ext>
            </a:extLst>
          </p:cNvPr>
          <p:cNvSpPr/>
          <p:nvPr/>
        </p:nvSpPr>
        <p:spPr bwMode="gray">
          <a:xfrm>
            <a:off x="10644749" y="6524739"/>
            <a:ext cx="1460165" cy="368644"/>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5" action="ppaction://hlinksldjump"/>
              </a:rPr>
              <a:t>Back to Home</a:t>
            </a:r>
            <a:endParaRPr lang="en-US" sz="1000" b="1" dirty="0">
              <a:solidFill>
                <a:schemeClr val="bg1"/>
              </a:solidFill>
            </a:endParaRPr>
          </a:p>
        </p:txBody>
      </p:sp>
    </p:spTree>
    <p:extLst>
      <p:ext uri="{BB962C8B-B14F-4D97-AF65-F5344CB8AC3E}">
        <p14:creationId xmlns:p14="http://schemas.microsoft.com/office/powerpoint/2010/main" val="238397547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9F979D56-A34D-4542-BD30-C721A2DD0F09}"/>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2022-23</a:t>
            </a:r>
          </a:p>
        </p:txBody>
      </p:sp>
      <p:sp>
        <p:nvSpPr>
          <p:cNvPr id="3" name="Freeform: Shape 2">
            <a:extLst>
              <a:ext uri="{FF2B5EF4-FFF2-40B4-BE49-F238E27FC236}">
                <a16:creationId xmlns:a16="http://schemas.microsoft.com/office/drawing/2014/main" id="{7AE34F0C-0455-4909-9527-65ECF9EBE082}"/>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4" name="Chart 3">
            <a:extLst>
              <a:ext uri="{FF2B5EF4-FFF2-40B4-BE49-F238E27FC236}">
                <a16:creationId xmlns:a16="http://schemas.microsoft.com/office/drawing/2014/main" id="{D0037164-FD3D-415E-99D8-509477F669DA}"/>
              </a:ext>
            </a:extLst>
          </p:cNvPr>
          <p:cNvGraphicFramePr>
            <a:graphicFrameLocks/>
          </p:cNvGraphicFramePr>
          <p:nvPr/>
        </p:nvGraphicFramePr>
        <p:xfrm>
          <a:off x="501654" y="998451"/>
          <a:ext cx="3798204" cy="43137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6F57B184-0A17-43F1-830A-8CBE9C7B78C2}"/>
              </a:ext>
            </a:extLst>
          </p:cNvPr>
          <p:cNvGraphicFramePr>
            <a:graphicFrameLocks/>
          </p:cNvGraphicFramePr>
          <p:nvPr/>
        </p:nvGraphicFramePr>
        <p:xfrm>
          <a:off x="4375980" y="962758"/>
          <a:ext cx="3592286" cy="431377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AD62CEAE-60E4-411A-88C2-F0220FFF5EAA}"/>
              </a:ext>
            </a:extLst>
          </p:cNvPr>
          <p:cNvGraphicFramePr>
            <a:graphicFrameLocks/>
          </p:cNvGraphicFramePr>
          <p:nvPr/>
        </p:nvGraphicFramePr>
        <p:xfrm>
          <a:off x="8075788" y="998450"/>
          <a:ext cx="3766807" cy="4226693"/>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70775634-2DD6-42CA-A982-1CB54BA09085}"/>
              </a:ext>
            </a:extLst>
          </p:cNvPr>
          <p:cNvSpPr txBox="1"/>
          <p:nvPr/>
        </p:nvSpPr>
        <p:spPr>
          <a:xfrm>
            <a:off x="501652" y="5475514"/>
            <a:ext cx="11340943" cy="978345"/>
          </a:xfrm>
          <a:prstGeom prst="rect">
            <a:avLst/>
          </a:prstGeom>
          <a:solidFill>
            <a:schemeClr val="bg1">
              <a:lumMod val="95000"/>
            </a:schemeClr>
          </a:solidFill>
        </p:spPr>
        <p:txBody>
          <a:bodyPr wrap="square" lIns="91440" tIns="91440" rIns="91440" bIns="91440" rtlCol="0">
            <a:spAutoFit/>
          </a:bodyPr>
          <a:lstStyle/>
          <a:p>
            <a:pPr>
              <a:lnSpc>
                <a:spcPct val="150000"/>
              </a:lnSpc>
              <a:spcBef>
                <a:spcPts val="600"/>
              </a:spcBef>
              <a:buSzPct val="100000"/>
            </a:pPr>
            <a:r>
              <a:rPr lang="en-US" sz="1200" b="1" dirty="0">
                <a:solidFill>
                  <a:srgbClr val="313131"/>
                </a:solidFill>
                <a:cs typeface="Calibri" panose="020F0502020204030204" pitchFamily="34" charset="0"/>
              </a:rPr>
              <a:t>As per Clause No. 5.10.6 (Page No. 40) of WBSEDCL Tariff Order for 7</a:t>
            </a:r>
            <a:r>
              <a:rPr lang="en-US" sz="1200" b="1" baseline="30000" dirty="0">
                <a:solidFill>
                  <a:srgbClr val="313131"/>
                </a:solidFill>
                <a:cs typeface="Calibri" panose="020F0502020204030204" pitchFamily="34" charset="0"/>
              </a:rPr>
              <a:t>th</a:t>
            </a:r>
            <a:r>
              <a:rPr lang="en-US" sz="1200" b="1" dirty="0">
                <a:solidFill>
                  <a:srgbClr val="313131"/>
                </a:solidFill>
                <a:cs typeface="Calibri" panose="020F0502020204030204" pitchFamily="34" charset="0"/>
              </a:rPr>
              <a:t> Control Period, Commission stated that </a:t>
            </a:r>
            <a:r>
              <a:rPr lang="en-US" sz="1200" b="1" dirty="0">
                <a:solidFill>
                  <a:srgbClr val="000000"/>
                </a:solidFill>
                <a:effectLst/>
                <a:ea typeface="Calibri" panose="020F0502020204030204" pitchFamily="34" charset="0"/>
                <a:cs typeface="Calibri" panose="020F0502020204030204" pitchFamily="34" charset="0"/>
              </a:rPr>
              <a:t>there is considerable surplus power throughout the day even during the peak hours. The major reason is the already entered long-term PPA by WBSEDCL in recent years, when generation from WBPDCL was low due to poor availability of coal. </a:t>
            </a:r>
            <a:endParaRPr lang="en-US" sz="1200" b="1" dirty="0">
              <a:solidFill>
                <a:srgbClr val="313131"/>
              </a:solidFill>
              <a:cs typeface="Calibri" panose="020F0502020204030204" pitchFamily="34" charset="0"/>
            </a:endParaRPr>
          </a:p>
        </p:txBody>
      </p:sp>
      <p:sp>
        <p:nvSpPr>
          <p:cNvPr id="8" name="Oval 7">
            <a:extLst>
              <a:ext uri="{FF2B5EF4-FFF2-40B4-BE49-F238E27FC236}">
                <a16:creationId xmlns:a16="http://schemas.microsoft.com/office/drawing/2014/main" id="{5B320AFE-03FE-42A2-AE16-B621138AA3DB}"/>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3</a:t>
            </a:r>
          </a:p>
        </p:txBody>
      </p:sp>
      <p:sp>
        <p:nvSpPr>
          <p:cNvPr id="9" name="Arrow: Left 8">
            <a:extLst>
              <a:ext uri="{FF2B5EF4-FFF2-40B4-BE49-F238E27FC236}">
                <a16:creationId xmlns:a16="http://schemas.microsoft.com/office/drawing/2014/main" id="{5CAFB606-6BF5-4905-9C8A-CADD67D0DFCE}"/>
              </a:ext>
            </a:extLst>
          </p:cNvPr>
          <p:cNvSpPr/>
          <p:nvPr/>
        </p:nvSpPr>
        <p:spPr bwMode="gray">
          <a:xfrm>
            <a:off x="10644749" y="6524739"/>
            <a:ext cx="1460165" cy="368644"/>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5" action="ppaction://hlinksldjump"/>
              </a:rPr>
              <a:t>Back to Home</a:t>
            </a:r>
            <a:endParaRPr lang="en-US" sz="1000" b="1" dirty="0">
              <a:solidFill>
                <a:schemeClr val="bg1"/>
              </a:solidFill>
            </a:endParaRPr>
          </a:p>
        </p:txBody>
      </p:sp>
    </p:spTree>
    <p:extLst>
      <p:ext uri="{BB962C8B-B14F-4D97-AF65-F5344CB8AC3E}">
        <p14:creationId xmlns:p14="http://schemas.microsoft.com/office/powerpoint/2010/main" val="394441613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27EE11A2-7E1A-4737-A564-7A0506567A47}"/>
              </a:ext>
            </a:extLst>
          </p:cNvPr>
          <p:cNvSpPr txBox="1">
            <a:spLocks/>
          </p:cNvSpPr>
          <p:nvPr/>
        </p:nvSpPr>
        <p:spPr bwMode="gray">
          <a:xfrm>
            <a:off x="383754" y="465808"/>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Average Margin Realized on Trading Sales</a:t>
            </a:r>
          </a:p>
        </p:txBody>
      </p:sp>
      <p:sp>
        <p:nvSpPr>
          <p:cNvPr id="7" name="TextBox 6">
            <a:extLst>
              <a:ext uri="{FF2B5EF4-FFF2-40B4-BE49-F238E27FC236}">
                <a16:creationId xmlns:a16="http://schemas.microsoft.com/office/drawing/2014/main" id="{3F2F426B-E4E0-49BE-826B-E7D8825D23D9}"/>
              </a:ext>
            </a:extLst>
          </p:cNvPr>
          <p:cNvSpPr txBox="1"/>
          <p:nvPr/>
        </p:nvSpPr>
        <p:spPr>
          <a:xfrm>
            <a:off x="9359757" y="659004"/>
            <a:ext cx="2332234" cy="184666"/>
          </a:xfrm>
          <a:prstGeom prst="rect">
            <a:avLst/>
          </a:prstGeom>
          <a:noFill/>
        </p:spPr>
        <p:txBody>
          <a:bodyPr wrap="square" lIns="0" tIns="0" rIns="0" bIns="0" rtlCol="0">
            <a:spAutoFit/>
          </a:bodyPr>
          <a:lstStyle/>
          <a:p>
            <a:pPr algn="r">
              <a:spcBef>
                <a:spcPts val="600"/>
              </a:spcBef>
              <a:buSzPct val="100000"/>
            </a:pPr>
            <a:r>
              <a:rPr lang="en-US" sz="1200" dirty="0">
                <a:solidFill>
                  <a:srgbClr val="313131"/>
                </a:solidFill>
                <a:latin typeface="Verdana" panose="020B0604030504040204" pitchFamily="34" charset="0"/>
                <a:ea typeface="Verdana" panose="020B0604030504040204" pitchFamily="34" charset="0"/>
              </a:rPr>
              <a:t>In Rs./kwh</a:t>
            </a:r>
          </a:p>
        </p:txBody>
      </p:sp>
      <p:graphicFrame>
        <p:nvGraphicFramePr>
          <p:cNvPr id="9" name="Table 2">
            <a:extLst>
              <a:ext uri="{FF2B5EF4-FFF2-40B4-BE49-F238E27FC236}">
                <a16:creationId xmlns:a16="http://schemas.microsoft.com/office/drawing/2014/main" id="{6FD10A7E-2222-4785-AD53-FB57916B5BE5}"/>
              </a:ext>
            </a:extLst>
          </p:cNvPr>
          <p:cNvGraphicFramePr>
            <a:graphicFrameLocks noGrp="1"/>
          </p:cNvGraphicFramePr>
          <p:nvPr/>
        </p:nvGraphicFramePr>
        <p:xfrm>
          <a:off x="297951" y="2618029"/>
          <a:ext cx="11394038" cy="3901440"/>
        </p:xfrm>
        <a:graphic>
          <a:graphicData uri="http://schemas.openxmlformats.org/drawingml/2006/table">
            <a:tbl>
              <a:tblPr firstRow="1" bandRow="1">
                <a:tableStyleId>{5C22544A-7EE6-4342-B048-85BDC9FD1C3A}</a:tableStyleId>
              </a:tblPr>
              <a:tblGrid>
                <a:gridCol w="431366">
                  <a:extLst>
                    <a:ext uri="{9D8B030D-6E8A-4147-A177-3AD203B41FA5}">
                      <a16:colId xmlns:a16="http://schemas.microsoft.com/office/drawing/2014/main" val="32376857"/>
                    </a:ext>
                  </a:extLst>
                </a:gridCol>
                <a:gridCol w="1215296">
                  <a:extLst>
                    <a:ext uri="{9D8B030D-6E8A-4147-A177-3AD203B41FA5}">
                      <a16:colId xmlns:a16="http://schemas.microsoft.com/office/drawing/2014/main" val="2942548713"/>
                    </a:ext>
                  </a:extLst>
                </a:gridCol>
                <a:gridCol w="764906">
                  <a:extLst>
                    <a:ext uri="{9D8B030D-6E8A-4147-A177-3AD203B41FA5}">
                      <a16:colId xmlns:a16="http://schemas.microsoft.com/office/drawing/2014/main" val="1102386897"/>
                    </a:ext>
                  </a:extLst>
                </a:gridCol>
                <a:gridCol w="909617">
                  <a:extLst>
                    <a:ext uri="{9D8B030D-6E8A-4147-A177-3AD203B41FA5}">
                      <a16:colId xmlns:a16="http://schemas.microsoft.com/office/drawing/2014/main" val="3438493159"/>
                    </a:ext>
                  </a:extLst>
                </a:gridCol>
                <a:gridCol w="684108">
                  <a:extLst>
                    <a:ext uri="{9D8B030D-6E8A-4147-A177-3AD203B41FA5}">
                      <a16:colId xmlns:a16="http://schemas.microsoft.com/office/drawing/2014/main" val="846495559"/>
                    </a:ext>
                  </a:extLst>
                </a:gridCol>
                <a:gridCol w="878608">
                  <a:extLst>
                    <a:ext uri="{9D8B030D-6E8A-4147-A177-3AD203B41FA5}">
                      <a16:colId xmlns:a16="http://schemas.microsoft.com/office/drawing/2014/main" val="1445883956"/>
                    </a:ext>
                  </a:extLst>
                </a:gridCol>
                <a:gridCol w="661540">
                  <a:extLst>
                    <a:ext uri="{9D8B030D-6E8A-4147-A177-3AD203B41FA5}">
                      <a16:colId xmlns:a16="http://schemas.microsoft.com/office/drawing/2014/main" val="889591665"/>
                    </a:ext>
                  </a:extLst>
                </a:gridCol>
                <a:gridCol w="826924">
                  <a:extLst>
                    <a:ext uri="{9D8B030D-6E8A-4147-A177-3AD203B41FA5}">
                      <a16:colId xmlns:a16="http://schemas.microsoft.com/office/drawing/2014/main" val="3961847208"/>
                    </a:ext>
                  </a:extLst>
                </a:gridCol>
                <a:gridCol w="661540">
                  <a:extLst>
                    <a:ext uri="{9D8B030D-6E8A-4147-A177-3AD203B41FA5}">
                      <a16:colId xmlns:a16="http://schemas.microsoft.com/office/drawing/2014/main" val="3413523306"/>
                    </a:ext>
                  </a:extLst>
                </a:gridCol>
                <a:gridCol w="950964">
                  <a:extLst>
                    <a:ext uri="{9D8B030D-6E8A-4147-A177-3AD203B41FA5}">
                      <a16:colId xmlns:a16="http://schemas.microsoft.com/office/drawing/2014/main" val="3675017216"/>
                    </a:ext>
                  </a:extLst>
                </a:gridCol>
                <a:gridCol w="661540">
                  <a:extLst>
                    <a:ext uri="{9D8B030D-6E8A-4147-A177-3AD203B41FA5}">
                      <a16:colId xmlns:a16="http://schemas.microsoft.com/office/drawing/2014/main" val="782756328"/>
                    </a:ext>
                  </a:extLst>
                </a:gridCol>
                <a:gridCol w="868271">
                  <a:extLst>
                    <a:ext uri="{9D8B030D-6E8A-4147-A177-3AD203B41FA5}">
                      <a16:colId xmlns:a16="http://schemas.microsoft.com/office/drawing/2014/main" val="1726865972"/>
                    </a:ext>
                  </a:extLst>
                </a:gridCol>
                <a:gridCol w="944392">
                  <a:extLst>
                    <a:ext uri="{9D8B030D-6E8A-4147-A177-3AD203B41FA5}">
                      <a16:colId xmlns:a16="http://schemas.microsoft.com/office/drawing/2014/main" val="2631950931"/>
                    </a:ext>
                  </a:extLst>
                </a:gridCol>
                <a:gridCol w="934966">
                  <a:extLst>
                    <a:ext uri="{9D8B030D-6E8A-4147-A177-3AD203B41FA5}">
                      <a16:colId xmlns:a16="http://schemas.microsoft.com/office/drawing/2014/main" val="1018016749"/>
                    </a:ext>
                  </a:extLst>
                </a:gridCol>
              </a:tblGrid>
              <a:tr h="374966">
                <a:tc>
                  <a:txBody>
                    <a:bodyPr/>
                    <a:lstStyle/>
                    <a:p>
                      <a:pPr algn="ctr"/>
                      <a:r>
                        <a:rPr lang="en-US" sz="1000" b="1" dirty="0">
                          <a:latin typeface="Verdana" panose="020B0604030504040204" pitchFamily="34" charset="0"/>
                          <a:ea typeface="Verdana" panose="020B0604030504040204" pitchFamily="34" charset="0"/>
                        </a:rPr>
                        <a:t>Sl. No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l"/>
                      <a:r>
                        <a:rPr lang="en-US" sz="1000" b="1" dirty="0">
                          <a:latin typeface="Verdana" panose="020B0604030504040204" pitchFamily="34" charset="0"/>
                          <a:ea typeface="Verdana" panose="020B0604030504040204" pitchFamily="34" charset="0"/>
                        </a:rPr>
                        <a:t>Particulars</a:t>
                      </a:r>
                    </a:p>
                  </a:txBody>
                  <a:tcPr anchor="ctr">
                    <a:lnT w="12700" cap="flat" cmpd="sng" algn="ctr">
                      <a:solidFill>
                        <a:schemeClr val="tx1"/>
                      </a:solidFill>
                      <a:prstDash val="solid"/>
                      <a:round/>
                      <a:headEnd type="none" w="med" len="med"/>
                      <a:tailEnd type="none" w="med" len="med"/>
                    </a:lnT>
                  </a:tcPr>
                </a:tc>
                <a:tc gridSpan="2">
                  <a:txBody>
                    <a:bodyPr/>
                    <a:lstStyle/>
                    <a:p>
                      <a:pPr algn="ctr"/>
                      <a:r>
                        <a:rPr lang="en-US" sz="1000" b="1" dirty="0">
                          <a:latin typeface="Verdana" panose="020B0604030504040204" pitchFamily="34" charset="0"/>
                          <a:ea typeface="Verdana" panose="020B0604030504040204" pitchFamily="34" charset="0"/>
                        </a:rPr>
                        <a:t>FY 2015-16</a:t>
                      </a:r>
                    </a:p>
                  </a:txBody>
                  <a:tcPr anchor="ctr">
                    <a:lnT w="12700" cap="flat" cmpd="sng" algn="ctr">
                      <a:solidFill>
                        <a:schemeClr val="tx1"/>
                      </a:solidFill>
                      <a:prstDash val="solid"/>
                      <a:round/>
                      <a:headEnd type="none" w="med" len="med"/>
                      <a:tailEnd type="none" w="med" len="med"/>
                    </a:lnT>
                  </a:tcPr>
                </a:tc>
                <a:tc hMerge="1">
                  <a:txBody>
                    <a:bodyPr/>
                    <a:lstStyle/>
                    <a:p>
                      <a:endParaRPr lang="en-US"/>
                    </a:p>
                  </a:txBody>
                  <a:tcPr/>
                </a:tc>
                <a:tc gridSpan="2">
                  <a:txBody>
                    <a:bodyPr/>
                    <a:lstStyle/>
                    <a:p>
                      <a:pPr algn="ctr"/>
                      <a:r>
                        <a:rPr lang="en-US" sz="1000" b="1">
                          <a:latin typeface="Verdana" panose="020B0604030504040204" pitchFamily="34" charset="0"/>
                          <a:ea typeface="Verdana" panose="020B0604030504040204" pitchFamily="34" charset="0"/>
                        </a:rPr>
                        <a:t>FY 2016-17</a:t>
                      </a:r>
                      <a:endParaRPr lang="en-US" sz="1000" b="1" dirty="0">
                        <a:latin typeface="Verdana" panose="020B0604030504040204" pitchFamily="34" charset="0"/>
                        <a:ea typeface="Verdana" panose="020B0604030504040204" pitchFamily="34" charset="0"/>
                      </a:endParaRPr>
                    </a:p>
                  </a:txBody>
                  <a:tcPr anchor="ctr">
                    <a:lnT w="12700" cap="flat" cmpd="sng" algn="ctr">
                      <a:solidFill>
                        <a:schemeClr val="tx1"/>
                      </a:solidFill>
                      <a:prstDash val="solid"/>
                      <a:round/>
                      <a:headEnd type="none" w="med" len="med"/>
                      <a:tailEnd type="none" w="med" len="med"/>
                    </a:lnT>
                  </a:tcPr>
                </a:tc>
                <a:tc hMerge="1">
                  <a:txBody>
                    <a:bodyPr/>
                    <a:lstStyle/>
                    <a:p>
                      <a:endParaRPr lang="en-US"/>
                    </a:p>
                  </a:txBody>
                  <a:tcPr/>
                </a:tc>
                <a:tc gridSpan="2">
                  <a:txBody>
                    <a:bodyPr/>
                    <a:lstStyle/>
                    <a:p>
                      <a:pPr algn="ctr"/>
                      <a:r>
                        <a:rPr lang="en-US" sz="1000" b="1">
                          <a:latin typeface="Verdana" panose="020B0604030504040204" pitchFamily="34" charset="0"/>
                          <a:ea typeface="Verdana" panose="020B0604030504040204" pitchFamily="34" charset="0"/>
                        </a:rPr>
                        <a:t>FY 2017-18</a:t>
                      </a:r>
                      <a:endParaRPr lang="en-US" sz="1000" b="1" dirty="0">
                        <a:latin typeface="Verdana" panose="020B0604030504040204" pitchFamily="34" charset="0"/>
                        <a:ea typeface="Verdana" panose="020B0604030504040204" pitchFamily="34" charset="0"/>
                      </a:endParaRPr>
                    </a:p>
                  </a:txBody>
                  <a:tcPr anchor="ctr">
                    <a:lnT w="12700" cap="flat" cmpd="sng" algn="ctr">
                      <a:solidFill>
                        <a:schemeClr val="tx1"/>
                      </a:solidFill>
                      <a:prstDash val="solid"/>
                      <a:round/>
                      <a:headEnd type="none" w="med" len="med"/>
                      <a:tailEnd type="none" w="med" len="med"/>
                    </a:lnT>
                  </a:tcPr>
                </a:tc>
                <a:tc hMerge="1">
                  <a:txBody>
                    <a:bodyPr/>
                    <a:lstStyle/>
                    <a:p>
                      <a:endParaRPr lang="en-US"/>
                    </a:p>
                  </a:txBody>
                  <a:tcPr/>
                </a:tc>
                <a:tc gridSpan="2">
                  <a:txBody>
                    <a:bodyPr/>
                    <a:lstStyle/>
                    <a:p>
                      <a:pPr algn="ctr"/>
                      <a:r>
                        <a:rPr lang="en-US" sz="1000" b="1">
                          <a:latin typeface="Verdana" panose="020B0604030504040204" pitchFamily="34" charset="0"/>
                          <a:ea typeface="Verdana" panose="020B0604030504040204" pitchFamily="34" charset="0"/>
                        </a:rPr>
                        <a:t>FY 2018-19</a:t>
                      </a:r>
                      <a:endParaRPr lang="en-US" sz="1000" b="1" dirty="0">
                        <a:latin typeface="Verdana" panose="020B0604030504040204" pitchFamily="34" charset="0"/>
                        <a:ea typeface="Verdana" panose="020B0604030504040204" pitchFamily="34" charset="0"/>
                      </a:endParaRPr>
                    </a:p>
                  </a:txBody>
                  <a:tcPr anchor="ctr">
                    <a:lnT w="12700" cap="flat" cmpd="sng" algn="ctr">
                      <a:solidFill>
                        <a:schemeClr val="tx1"/>
                      </a:solidFill>
                      <a:prstDash val="solid"/>
                      <a:round/>
                      <a:headEnd type="none" w="med" len="med"/>
                      <a:tailEnd type="none" w="med" len="med"/>
                    </a:lnT>
                  </a:tcPr>
                </a:tc>
                <a:tc hMerge="1">
                  <a:txBody>
                    <a:bodyPr/>
                    <a:lstStyle/>
                    <a:p>
                      <a:endParaRPr lang="en-US"/>
                    </a:p>
                  </a:txBody>
                  <a:tcPr/>
                </a:tc>
                <a:tc gridSpan="2">
                  <a:txBody>
                    <a:bodyPr/>
                    <a:lstStyle/>
                    <a:p>
                      <a:pPr algn="ctr"/>
                      <a:r>
                        <a:rPr lang="en-US" sz="1000" b="1">
                          <a:latin typeface="Verdana" panose="020B0604030504040204" pitchFamily="34" charset="0"/>
                          <a:ea typeface="Verdana" panose="020B0604030504040204" pitchFamily="34" charset="0"/>
                        </a:rPr>
                        <a:t>FY 2019-20</a:t>
                      </a:r>
                      <a:endParaRPr lang="en-US" sz="1000" b="1" dirty="0">
                        <a:latin typeface="Verdana" panose="020B0604030504040204" pitchFamily="34" charset="0"/>
                        <a:ea typeface="Verdana" panose="020B0604030504040204" pitchFamily="34" charset="0"/>
                      </a:endParaRPr>
                    </a:p>
                  </a:txBody>
                  <a:tcPr anchor="ctr">
                    <a:lnT w="12700" cap="flat" cmpd="sng" algn="ctr">
                      <a:solidFill>
                        <a:schemeClr val="tx1"/>
                      </a:solidFill>
                      <a:prstDash val="solid"/>
                      <a:round/>
                      <a:headEnd type="none" w="med" len="med"/>
                      <a:tailEnd type="none" w="med" len="med"/>
                    </a:lnT>
                  </a:tcPr>
                </a:tc>
                <a:tc hMerge="1">
                  <a:txBody>
                    <a:bodyPr/>
                    <a:lstStyle/>
                    <a:p>
                      <a:endParaRPr lang="en-US"/>
                    </a:p>
                  </a:txBody>
                  <a:tcPr/>
                </a:tc>
                <a:tc gridSpan="2">
                  <a:txBody>
                    <a:bodyPr/>
                    <a:lstStyle/>
                    <a:p>
                      <a:pPr algn="ctr"/>
                      <a:r>
                        <a:rPr lang="en-US" sz="1000" b="1" dirty="0">
                          <a:latin typeface="Verdana" panose="020B0604030504040204" pitchFamily="34" charset="0"/>
                          <a:ea typeface="Verdana" panose="020B0604030504040204" pitchFamily="34" charset="0"/>
                        </a:rPr>
                        <a:t>FY 2020-21</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3823934701"/>
                  </a:ext>
                </a:extLst>
              </a:tr>
              <a:tr h="519183">
                <a:tc>
                  <a:txBody>
                    <a:bodyPr/>
                    <a:lstStyle/>
                    <a:p>
                      <a:endParaRPr lang="en-US" sz="1000" b="1" dirty="0">
                        <a:latin typeface="Verdana" panose="020B0604030504040204" pitchFamily="34" charset="0"/>
                        <a:ea typeface="Verdana" panose="020B0604030504040204" pitchFamily="34" charset="0"/>
                      </a:endParaRPr>
                    </a:p>
                  </a:txBody>
                  <a:tcPr anchor="ctr">
                    <a:lnL w="12700" cap="flat" cmpd="sng" algn="ctr">
                      <a:solidFill>
                        <a:schemeClr val="tx1"/>
                      </a:solidFill>
                      <a:prstDash val="solid"/>
                      <a:round/>
                      <a:headEnd type="none" w="med" len="med"/>
                      <a:tailEnd type="none" w="med" len="med"/>
                    </a:lnL>
                  </a:tcPr>
                </a:tc>
                <a:tc>
                  <a:txBody>
                    <a:bodyPr/>
                    <a:lstStyle/>
                    <a:p>
                      <a:r>
                        <a:rPr lang="en-US" sz="1000" b="0" dirty="0">
                          <a:latin typeface="Verdana" panose="020B0604030504040204" pitchFamily="34" charset="0"/>
                          <a:ea typeface="Verdana" panose="020B0604030504040204" pitchFamily="34" charset="0"/>
                        </a:rPr>
                        <a:t>Categories</a:t>
                      </a:r>
                    </a:p>
                  </a:txBody>
                  <a:tcPr anchor="ctr"/>
                </a:tc>
                <a:tc>
                  <a:txBody>
                    <a:bodyPr/>
                    <a:lstStyle/>
                    <a:p>
                      <a:pPr algn="ctr"/>
                      <a:r>
                        <a:rPr lang="en-US" sz="1000" b="0" dirty="0">
                          <a:latin typeface="Verdana" panose="020B0604030504040204" pitchFamily="34" charset="0"/>
                          <a:ea typeface="Verdana" panose="020B0604030504040204" pitchFamily="34" charset="0"/>
                        </a:rPr>
                        <a:t>Energy </a:t>
                      </a:r>
                    </a:p>
                    <a:p>
                      <a:pPr algn="ctr"/>
                      <a:r>
                        <a:rPr lang="en-US" sz="1000" b="0" dirty="0">
                          <a:latin typeface="Verdana" panose="020B0604030504040204" pitchFamily="34" charset="0"/>
                          <a:ea typeface="Verdana" panose="020B0604030504040204" pitchFamily="34" charset="0"/>
                        </a:rPr>
                        <a:t>(in MU)</a:t>
                      </a:r>
                    </a:p>
                  </a:txBody>
                  <a:tcPr anchor="ctr">
                    <a:solidFill>
                      <a:srgbClr val="0076A8">
                        <a:alpha val="10000"/>
                      </a:srgbClr>
                    </a:solidFill>
                  </a:tcPr>
                </a:tc>
                <a:tc>
                  <a:txBody>
                    <a:bodyPr/>
                    <a:lstStyle/>
                    <a:p>
                      <a:pPr algn="ctr"/>
                      <a:r>
                        <a:rPr lang="en-US" sz="1000" b="0" dirty="0">
                          <a:latin typeface="Verdana" panose="020B0604030504040204" pitchFamily="34" charset="0"/>
                          <a:ea typeface="Verdana" panose="020B0604030504040204" pitchFamily="34" charset="0"/>
                        </a:rPr>
                        <a:t>Per unit rate (Rs./kwh)</a:t>
                      </a:r>
                    </a:p>
                  </a:txBody>
                  <a:tcPr anchor="ctr">
                    <a:solidFill>
                      <a:srgbClr val="0076A8">
                        <a:alpha val="10000"/>
                      </a:srgbClr>
                    </a:solidFill>
                  </a:tcPr>
                </a:tc>
                <a:tc>
                  <a:txBody>
                    <a:bodyPr/>
                    <a:lstStyle/>
                    <a:p>
                      <a:pPr algn="ctr"/>
                      <a:r>
                        <a:rPr lang="en-US" sz="1000" b="0" dirty="0">
                          <a:latin typeface="Verdana" panose="020B0604030504040204" pitchFamily="34" charset="0"/>
                          <a:ea typeface="Verdana" panose="020B0604030504040204" pitchFamily="34" charset="0"/>
                        </a:rPr>
                        <a:t>Sale</a:t>
                      </a:r>
                    </a:p>
                    <a:p>
                      <a:pPr algn="ctr"/>
                      <a:r>
                        <a:rPr lang="en-US" sz="1000" b="0" dirty="0">
                          <a:latin typeface="Verdana" panose="020B0604030504040204" pitchFamily="34" charset="0"/>
                          <a:ea typeface="Verdana" panose="020B0604030504040204" pitchFamily="34" charset="0"/>
                        </a:rPr>
                        <a:t>(in MU)</a:t>
                      </a:r>
                    </a:p>
                  </a:txBody>
                  <a:tcPr anchor="ctr">
                    <a:solidFill>
                      <a:srgbClr val="009A44">
                        <a:alpha val="10000"/>
                      </a:srgbClr>
                    </a:solidFill>
                  </a:tcPr>
                </a:tc>
                <a:tc>
                  <a:txBody>
                    <a:bodyPr/>
                    <a:lstStyle/>
                    <a:p>
                      <a:pPr algn="ctr"/>
                      <a:r>
                        <a:rPr lang="en-US" sz="1000" b="0" dirty="0">
                          <a:latin typeface="Verdana" panose="020B0604030504040204" pitchFamily="34" charset="0"/>
                          <a:ea typeface="Verdana" panose="020B0604030504040204" pitchFamily="34" charset="0"/>
                        </a:rPr>
                        <a:t>Per unit rate (Rs./kwh)</a:t>
                      </a:r>
                    </a:p>
                  </a:txBody>
                  <a:tcPr anchor="ctr">
                    <a:solidFill>
                      <a:srgbClr val="009A44">
                        <a:alpha val="10000"/>
                      </a:srgbClr>
                    </a:solidFill>
                  </a:tcPr>
                </a:tc>
                <a:tc>
                  <a:txBody>
                    <a:bodyPr/>
                    <a:lstStyle/>
                    <a:p>
                      <a:pPr algn="ctr"/>
                      <a:r>
                        <a:rPr lang="en-US" sz="1000" b="0" dirty="0">
                          <a:latin typeface="Verdana" panose="020B0604030504040204" pitchFamily="34" charset="0"/>
                          <a:ea typeface="Verdana" panose="020B0604030504040204" pitchFamily="34" charset="0"/>
                        </a:rPr>
                        <a:t>Sale (in MU)</a:t>
                      </a:r>
                    </a:p>
                  </a:txBody>
                  <a:tcPr anchor="ctr">
                    <a:solidFill>
                      <a:srgbClr val="00B0F0">
                        <a:alpha val="10000"/>
                      </a:srgbClr>
                    </a:solidFill>
                  </a:tcPr>
                </a:tc>
                <a:tc>
                  <a:txBody>
                    <a:bodyPr/>
                    <a:lstStyle/>
                    <a:p>
                      <a:pPr algn="ctr"/>
                      <a:r>
                        <a:rPr lang="en-US" sz="1000" b="0" dirty="0">
                          <a:latin typeface="Verdana" panose="020B0604030504040204" pitchFamily="34" charset="0"/>
                          <a:ea typeface="Verdana" panose="020B0604030504040204" pitchFamily="34" charset="0"/>
                        </a:rPr>
                        <a:t>Per unit rate (Rs./kwh)</a:t>
                      </a:r>
                    </a:p>
                  </a:txBody>
                  <a:tcPr anchor="ctr">
                    <a:solidFill>
                      <a:srgbClr val="00B0F0">
                        <a:alpha val="10000"/>
                      </a:srgbClr>
                    </a:solidFill>
                  </a:tcPr>
                </a:tc>
                <a:tc>
                  <a:txBody>
                    <a:bodyPr/>
                    <a:lstStyle/>
                    <a:p>
                      <a:pPr algn="ctr"/>
                      <a:r>
                        <a:rPr lang="en-US" sz="1000" b="0" dirty="0">
                          <a:latin typeface="Verdana" panose="020B0604030504040204" pitchFamily="34" charset="0"/>
                          <a:ea typeface="Verdana" panose="020B0604030504040204" pitchFamily="34" charset="0"/>
                        </a:rPr>
                        <a:t>Sale (in MU)</a:t>
                      </a:r>
                    </a:p>
                  </a:txBody>
                  <a:tcPr anchor="ctr">
                    <a:solidFill>
                      <a:schemeClr val="accent4">
                        <a:lumMod val="60000"/>
                        <a:lumOff val="40000"/>
                        <a:alpha val="10000"/>
                      </a:schemeClr>
                    </a:solidFill>
                  </a:tcPr>
                </a:tc>
                <a:tc>
                  <a:txBody>
                    <a:bodyPr/>
                    <a:lstStyle/>
                    <a:p>
                      <a:pPr algn="ctr"/>
                      <a:r>
                        <a:rPr lang="en-US" sz="1000" b="0" dirty="0">
                          <a:latin typeface="Verdana" panose="020B0604030504040204" pitchFamily="34" charset="0"/>
                          <a:ea typeface="Verdana" panose="020B0604030504040204" pitchFamily="34" charset="0"/>
                        </a:rPr>
                        <a:t>Per unit rate (Rs./kwh)</a:t>
                      </a:r>
                    </a:p>
                  </a:txBody>
                  <a:tcPr anchor="ctr">
                    <a:solidFill>
                      <a:schemeClr val="accent4">
                        <a:lumMod val="60000"/>
                        <a:lumOff val="40000"/>
                        <a:alpha val="10000"/>
                      </a:schemeClr>
                    </a:solidFill>
                  </a:tcPr>
                </a:tc>
                <a:tc>
                  <a:txBody>
                    <a:bodyPr/>
                    <a:lstStyle/>
                    <a:p>
                      <a:pPr algn="ctr"/>
                      <a:r>
                        <a:rPr lang="en-US" sz="1000" b="0" dirty="0">
                          <a:latin typeface="Verdana" panose="020B0604030504040204" pitchFamily="34" charset="0"/>
                          <a:ea typeface="Verdana" panose="020B0604030504040204" pitchFamily="34" charset="0"/>
                        </a:rPr>
                        <a:t>Sale (in MU)</a:t>
                      </a:r>
                    </a:p>
                  </a:txBody>
                  <a:tcPr anchor="ctr">
                    <a:solidFill>
                      <a:schemeClr val="accent5">
                        <a:lumMod val="40000"/>
                        <a:lumOff val="60000"/>
                        <a:alpha val="10000"/>
                      </a:schemeClr>
                    </a:solidFill>
                  </a:tcPr>
                </a:tc>
                <a:tc>
                  <a:txBody>
                    <a:bodyPr/>
                    <a:lstStyle/>
                    <a:p>
                      <a:pPr algn="ctr"/>
                      <a:r>
                        <a:rPr lang="en-US" sz="1000" b="0" dirty="0">
                          <a:latin typeface="Verdana" panose="020B0604030504040204" pitchFamily="34" charset="0"/>
                          <a:ea typeface="Verdana" panose="020B0604030504040204" pitchFamily="34" charset="0"/>
                        </a:rPr>
                        <a:t>Per unit rate (Rs./kwh)</a:t>
                      </a:r>
                      <a:endParaRPr lang="en-US" dirty="0"/>
                    </a:p>
                  </a:txBody>
                  <a:tcPr anchor="ctr">
                    <a:solidFill>
                      <a:schemeClr val="accent5">
                        <a:lumMod val="40000"/>
                        <a:lumOff val="60000"/>
                        <a:alpha val="10000"/>
                      </a:schemeClr>
                    </a:solidFill>
                  </a:tcPr>
                </a:tc>
                <a:tc>
                  <a:txBody>
                    <a:bodyPr/>
                    <a:lstStyle/>
                    <a:p>
                      <a:pPr algn="ctr"/>
                      <a:r>
                        <a:rPr lang="en-US" sz="1000" b="0" dirty="0">
                          <a:latin typeface="Verdana" panose="020B0604030504040204" pitchFamily="34" charset="0"/>
                          <a:ea typeface="Verdana" panose="020B0604030504040204" pitchFamily="34" charset="0"/>
                        </a:rPr>
                        <a:t>Sale </a:t>
                      </a:r>
                    </a:p>
                    <a:p>
                      <a:pPr algn="ctr"/>
                      <a:r>
                        <a:rPr lang="en-US" sz="1000" b="0" dirty="0">
                          <a:latin typeface="Verdana" panose="020B0604030504040204" pitchFamily="34" charset="0"/>
                          <a:ea typeface="Verdana" panose="020B0604030504040204" pitchFamily="34" charset="0"/>
                        </a:rPr>
                        <a:t>(in MU)</a:t>
                      </a:r>
                      <a:endParaRPr lang="en-US" dirty="0"/>
                    </a:p>
                  </a:txBody>
                  <a:tcPr anchor="ctr">
                    <a:solidFill>
                      <a:srgbClr val="012169">
                        <a:alpha val="10000"/>
                      </a:srgbClr>
                    </a:solidFill>
                  </a:tcPr>
                </a:tc>
                <a:tc>
                  <a:txBody>
                    <a:bodyPr/>
                    <a:lstStyle/>
                    <a:p>
                      <a:pPr algn="ctr"/>
                      <a:r>
                        <a:rPr lang="en-US" sz="1000" b="0" dirty="0">
                          <a:latin typeface="Verdana" panose="020B0604030504040204" pitchFamily="34" charset="0"/>
                          <a:ea typeface="Verdana" panose="020B0604030504040204" pitchFamily="34" charset="0"/>
                        </a:rPr>
                        <a:t>Per Unit Rate (Rs./kwh)</a:t>
                      </a:r>
                    </a:p>
                  </a:txBody>
                  <a:tcPr anchor="ctr">
                    <a:lnR w="12700" cap="flat" cmpd="sng" algn="ctr">
                      <a:solidFill>
                        <a:schemeClr val="tx1"/>
                      </a:solidFill>
                      <a:prstDash val="solid"/>
                      <a:round/>
                      <a:headEnd type="none" w="med" len="med"/>
                      <a:tailEnd type="none" w="med" len="med"/>
                    </a:lnR>
                    <a:solidFill>
                      <a:srgbClr val="012169">
                        <a:alpha val="10000"/>
                      </a:srgbClr>
                    </a:solidFill>
                  </a:tcPr>
                </a:tc>
                <a:extLst>
                  <a:ext uri="{0D108BD9-81ED-4DB2-BD59-A6C34878D82A}">
                    <a16:rowId xmlns:a16="http://schemas.microsoft.com/office/drawing/2014/main" val="2923179513"/>
                  </a:ext>
                </a:extLst>
              </a:tr>
              <a:tr h="230748">
                <a:tc>
                  <a:txBody>
                    <a:bodyPr/>
                    <a:lstStyle/>
                    <a:p>
                      <a:pPr algn="ctr"/>
                      <a:r>
                        <a:rPr lang="en-US" sz="1000" dirty="0">
                          <a:latin typeface="Verdana" panose="020B0604030504040204" pitchFamily="34" charset="0"/>
                          <a:ea typeface="Verdana" panose="020B0604030504040204" pitchFamily="34" charset="0"/>
                        </a:rPr>
                        <a:t>1.</a:t>
                      </a:r>
                    </a:p>
                  </a:txBody>
                  <a:tcPr anchor="ctr">
                    <a:lnL w="12700" cap="flat" cmpd="sng" algn="ctr">
                      <a:solidFill>
                        <a:schemeClr val="tx1"/>
                      </a:solidFill>
                      <a:prstDash val="solid"/>
                      <a:round/>
                      <a:headEnd type="none" w="med" len="med"/>
                      <a:tailEnd type="none" w="med" len="med"/>
                    </a:lnL>
                    <a:solidFill>
                      <a:schemeClr val="accent1"/>
                    </a:solidFill>
                  </a:tcPr>
                </a:tc>
                <a:tc gridSpan="13">
                  <a:txBody>
                    <a:bodyPr/>
                    <a:lstStyle/>
                    <a:p>
                      <a:pPr algn="ctr"/>
                      <a:r>
                        <a:rPr lang="en-US" sz="1000" b="1" dirty="0">
                          <a:latin typeface="Verdana" panose="020B0604030504040204" pitchFamily="34" charset="0"/>
                          <a:ea typeface="Verdana" panose="020B0604030504040204" pitchFamily="34" charset="0"/>
                        </a:rPr>
                        <a:t>Average Energy Billing to WBSEDCL’s Own Consumers</a:t>
                      </a:r>
                    </a:p>
                  </a:txBody>
                  <a:tcPr anchor="ctr">
                    <a:lnR w="12700" cap="flat" cmpd="sng" algn="ctr">
                      <a:solidFill>
                        <a:schemeClr val="tx1"/>
                      </a:solidFill>
                      <a:prstDash val="solid"/>
                      <a:round/>
                      <a:headEnd type="none" w="med" len="med"/>
                      <a:tailEnd type="none" w="med" len="med"/>
                    </a:lnR>
                    <a:solidFill>
                      <a:schemeClr val="accent1"/>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086642134"/>
                  </a:ext>
                </a:extLst>
              </a:tr>
              <a:tr h="230748">
                <a:tc>
                  <a:txBody>
                    <a:bodyPr/>
                    <a:lstStyle/>
                    <a:p>
                      <a:pPr algn="ctr"/>
                      <a:r>
                        <a:rPr lang="en-US" sz="1000" dirty="0">
                          <a:latin typeface="Verdana" panose="020B0604030504040204" pitchFamily="34" charset="0"/>
                          <a:ea typeface="Verdana" panose="020B0604030504040204" pitchFamily="34" charset="0"/>
                        </a:rPr>
                        <a:t>a.</a:t>
                      </a:r>
                    </a:p>
                  </a:txBody>
                  <a:tcPr anchor="ctr">
                    <a:lnL w="12700" cap="flat" cmpd="sng" algn="ctr">
                      <a:solidFill>
                        <a:schemeClr val="tx1"/>
                      </a:solidFill>
                      <a:prstDash val="solid"/>
                      <a:round/>
                      <a:headEnd type="none" w="med" len="med"/>
                      <a:tailEnd type="none" w="med" len="med"/>
                    </a:lnL>
                  </a:tcPr>
                </a:tc>
                <a:tc>
                  <a:txBody>
                    <a:bodyPr/>
                    <a:lstStyle/>
                    <a:p>
                      <a:pPr algn="l"/>
                      <a:r>
                        <a:rPr lang="en-US" sz="1000" dirty="0">
                          <a:latin typeface="Verdana" panose="020B0604030504040204" pitchFamily="34" charset="0"/>
                          <a:ea typeface="Verdana" panose="020B0604030504040204" pitchFamily="34" charset="0"/>
                        </a:rPr>
                        <a:t>Domestic</a:t>
                      </a:r>
                    </a:p>
                  </a:txBody>
                  <a:tcPr anchor="ct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9,120</a:t>
                      </a:r>
                    </a:p>
                  </a:txBody>
                  <a:tcPr marL="6350" marR="6350" marT="6350" marB="0" anchor="ctr">
                    <a:solidFill>
                      <a:srgbClr val="0076A8">
                        <a:alpha val="10000"/>
                      </a:srgbClr>
                    </a:solid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5.77</a:t>
                      </a:r>
                    </a:p>
                  </a:txBody>
                  <a:tcPr marL="6350" marR="6350" marT="6350" marB="0" anchor="ctr">
                    <a:solidFill>
                      <a:srgbClr val="0076A8">
                        <a:alpha val="10000"/>
                      </a:srgb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9,825</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6.25</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10,267</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6.43</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10,876</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6.42</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12,216</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6.59</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12,872</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41E42">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6.68</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R w="12700" cap="flat" cmpd="sng" algn="ctr">
                      <a:solidFill>
                        <a:schemeClr val="tx1"/>
                      </a:solidFill>
                      <a:prstDash val="solid"/>
                      <a:round/>
                      <a:headEnd type="none" w="med" len="med"/>
                      <a:tailEnd type="none" w="med" len="med"/>
                    </a:lnR>
                    <a:solidFill>
                      <a:srgbClr val="041E42">
                        <a:alpha val="10000"/>
                      </a:srgbClr>
                    </a:solidFill>
                  </a:tcPr>
                </a:tc>
                <a:extLst>
                  <a:ext uri="{0D108BD9-81ED-4DB2-BD59-A6C34878D82A}">
                    <a16:rowId xmlns:a16="http://schemas.microsoft.com/office/drawing/2014/main" val="1323546767"/>
                  </a:ext>
                </a:extLst>
              </a:tr>
              <a:tr h="230748">
                <a:tc>
                  <a:txBody>
                    <a:bodyPr/>
                    <a:lstStyle/>
                    <a:p>
                      <a:pPr algn="ctr"/>
                      <a:r>
                        <a:rPr lang="en-US" sz="1000" dirty="0">
                          <a:latin typeface="Verdana" panose="020B0604030504040204" pitchFamily="34" charset="0"/>
                          <a:ea typeface="Verdana" panose="020B0604030504040204" pitchFamily="34" charset="0"/>
                        </a:rPr>
                        <a:t>b.</a:t>
                      </a:r>
                    </a:p>
                  </a:txBody>
                  <a:tcPr anchor="ctr">
                    <a:lnL w="12700" cap="flat" cmpd="sng" algn="ctr">
                      <a:solidFill>
                        <a:schemeClr val="tx1"/>
                      </a:solidFill>
                      <a:prstDash val="solid"/>
                      <a:round/>
                      <a:headEnd type="none" w="med" len="med"/>
                      <a:tailEnd type="none" w="med" len="med"/>
                    </a:lnL>
                  </a:tcPr>
                </a:tc>
                <a:tc>
                  <a:txBody>
                    <a:bodyPr/>
                    <a:lstStyle/>
                    <a:p>
                      <a:pPr algn="l"/>
                      <a:r>
                        <a:rPr lang="en-US" sz="1000" dirty="0">
                          <a:latin typeface="Verdana" panose="020B0604030504040204" pitchFamily="34" charset="0"/>
                          <a:ea typeface="Verdana" panose="020B0604030504040204" pitchFamily="34" charset="0"/>
                        </a:rPr>
                        <a:t>Commercial</a:t>
                      </a:r>
                    </a:p>
                  </a:txBody>
                  <a:tcPr anchor="ct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3,462</a:t>
                      </a:r>
                    </a:p>
                  </a:txBody>
                  <a:tcPr marL="6350" marR="6350" marT="6350" marB="0" anchor="ctr">
                    <a:solidFill>
                      <a:srgbClr val="0076A8">
                        <a:alpha val="10000"/>
                      </a:srgbClr>
                    </a:solid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7.89</a:t>
                      </a:r>
                    </a:p>
                  </a:txBody>
                  <a:tcPr marL="6350" marR="6350" marT="6350" marB="0" anchor="ctr">
                    <a:solidFill>
                      <a:srgbClr val="0076A8">
                        <a:alpha val="10000"/>
                      </a:srgb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3,744</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8.65</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4,034</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8.75</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4,269</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8.85</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4,752</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8.81</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3,978</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41E42">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8.90</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R w="12700" cap="flat" cmpd="sng" algn="ctr">
                      <a:solidFill>
                        <a:schemeClr val="tx1"/>
                      </a:solidFill>
                      <a:prstDash val="solid"/>
                      <a:round/>
                      <a:headEnd type="none" w="med" len="med"/>
                      <a:tailEnd type="none" w="med" len="med"/>
                    </a:lnR>
                    <a:solidFill>
                      <a:srgbClr val="041E42">
                        <a:alpha val="10000"/>
                      </a:srgbClr>
                    </a:solidFill>
                  </a:tcPr>
                </a:tc>
                <a:extLst>
                  <a:ext uri="{0D108BD9-81ED-4DB2-BD59-A6C34878D82A}">
                    <a16:rowId xmlns:a16="http://schemas.microsoft.com/office/drawing/2014/main" val="4000433829"/>
                  </a:ext>
                </a:extLst>
              </a:tr>
              <a:tr h="230748">
                <a:tc>
                  <a:txBody>
                    <a:bodyPr/>
                    <a:lstStyle/>
                    <a:p>
                      <a:pPr algn="ctr"/>
                      <a:r>
                        <a:rPr lang="en-US" sz="1000" dirty="0">
                          <a:latin typeface="Verdana" panose="020B0604030504040204" pitchFamily="34" charset="0"/>
                          <a:ea typeface="Verdana" panose="020B0604030504040204" pitchFamily="34" charset="0"/>
                        </a:rPr>
                        <a:t>c.</a:t>
                      </a:r>
                    </a:p>
                  </a:txBody>
                  <a:tcPr anchor="ctr">
                    <a:lnL w="12700" cap="flat" cmpd="sng" algn="ctr">
                      <a:solidFill>
                        <a:schemeClr val="tx1"/>
                      </a:solidFill>
                      <a:prstDash val="solid"/>
                      <a:round/>
                      <a:headEnd type="none" w="med" len="med"/>
                      <a:tailEnd type="none" w="med" len="med"/>
                    </a:lnL>
                  </a:tcPr>
                </a:tc>
                <a:tc>
                  <a:txBody>
                    <a:bodyPr/>
                    <a:lstStyle/>
                    <a:p>
                      <a:pPr algn="l"/>
                      <a:r>
                        <a:rPr lang="en-US" sz="1000" dirty="0">
                          <a:latin typeface="Verdana" panose="020B0604030504040204" pitchFamily="34" charset="0"/>
                          <a:ea typeface="Verdana" panose="020B0604030504040204" pitchFamily="34" charset="0"/>
                        </a:rPr>
                        <a:t>Industrial </a:t>
                      </a:r>
                    </a:p>
                  </a:txBody>
                  <a:tcPr anchor="ct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6,762</a:t>
                      </a:r>
                    </a:p>
                  </a:txBody>
                  <a:tcPr marL="6350" marR="6350" marT="6350" marB="0" anchor="ctr">
                    <a:solidFill>
                      <a:srgbClr val="0076A8">
                        <a:alpha val="10000"/>
                      </a:srgbClr>
                    </a:solid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7.13</a:t>
                      </a:r>
                    </a:p>
                  </a:txBody>
                  <a:tcPr marL="6350" marR="6350" marT="6350" marB="0" anchor="ctr">
                    <a:solidFill>
                      <a:srgbClr val="0076A8">
                        <a:alpha val="10000"/>
                      </a:srgbClr>
                    </a:solidFill>
                  </a:tcPr>
                </a:tc>
                <a:tc>
                  <a:txBody>
                    <a:bodyPr/>
                    <a:lstStyle/>
                    <a:p>
                      <a:pPr algn="ctr"/>
                      <a:r>
                        <a:rPr lang="en-US" sz="1000" b="0" u="none" strike="noStrike">
                          <a:solidFill>
                            <a:srgbClr val="000000"/>
                          </a:solidFill>
                          <a:effectLst/>
                          <a:latin typeface="Verdana" panose="020B0604030504040204" pitchFamily="34" charset="0"/>
                          <a:ea typeface="Verdana" panose="020B0604030504040204" pitchFamily="34" charset="0"/>
                        </a:rPr>
                        <a:t>7,098</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8.14</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7,655</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8.19</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8,567</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8.08</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10,108</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7.53</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9,240</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41E42">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7.41</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R w="12700" cap="flat" cmpd="sng" algn="ctr">
                      <a:solidFill>
                        <a:schemeClr val="tx1"/>
                      </a:solidFill>
                      <a:prstDash val="solid"/>
                      <a:round/>
                      <a:headEnd type="none" w="med" len="med"/>
                      <a:tailEnd type="none" w="med" len="med"/>
                    </a:lnR>
                    <a:solidFill>
                      <a:srgbClr val="041E42">
                        <a:alpha val="10000"/>
                      </a:srgbClr>
                    </a:solidFill>
                  </a:tcPr>
                </a:tc>
                <a:extLst>
                  <a:ext uri="{0D108BD9-81ED-4DB2-BD59-A6C34878D82A}">
                    <a16:rowId xmlns:a16="http://schemas.microsoft.com/office/drawing/2014/main" val="2195061007"/>
                  </a:ext>
                </a:extLst>
              </a:tr>
              <a:tr h="230748">
                <a:tc>
                  <a:txBody>
                    <a:bodyPr/>
                    <a:lstStyle/>
                    <a:p>
                      <a:pPr algn="ctr"/>
                      <a:r>
                        <a:rPr lang="en-US" sz="1000" dirty="0">
                          <a:latin typeface="Verdana" panose="020B0604030504040204" pitchFamily="34" charset="0"/>
                          <a:ea typeface="Verdana" panose="020B0604030504040204" pitchFamily="34" charset="0"/>
                        </a:rPr>
                        <a:t>d.</a:t>
                      </a:r>
                    </a:p>
                  </a:txBody>
                  <a:tcPr anchor="ctr">
                    <a:lnL w="12700" cap="flat" cmpd="sng" algn="ctr">
                      <a:solidFill>
                        <a:schemeClr val="tx1"/>
                      </a:solidFill>
                      <a:prstDash val="solid"/>
                      <a:round/>
                      <a:headEnd type="none" w="med" len="med"/>
                      <a:tailEnd type="none" w="med" len="med"/>
                    </a:lnL>
                  </a:tcPr>
                </a:tc>
                <a:tc>
                  <a:txBody>
                    <a:bodyPr/>
                    <a:lstStyle/>
                    <a:p>
                      <a:pPr algn="l"/>
                      <a:r>
                        <a:rPr lang="en-US" sz="1000" b="0" dirty="0">
                          <a:latin typeface="Verdana" panose="020B0604030504040204" pitchFamily="34" charset="0"/>
                          <a:ea typeface="Verdana" panose="020B0604030504040204" pitchFamily="34" charset="0"/>
                        </a:rPr>
                        <a:t>Total</a:t>
                      </a:r>
                    </a:p>
                  </a:txBody>
                  <a:tcPr anchor="ct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22,991</a:t>
                      </a:r>
                    </a:p>
                  </a:txBody>
                  <a:tcPr marL="6350" marR="6350" marT="6350" marB="0" anchor="ctr">
                    <a:solidFill>
                      <a:srgbClr val="0076A8">
                        <a:alpha val="10000"/>
                      </a:srgbClr>
                    </a:solid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6.51</a:t>
                      </a:r>
                    </a:p>
                  </a:txBody>
                  <a:tcPr marL="6350" marR="6350" marT="6350" marB="0" anchor="ctr">
                    <a:solidFill>
                      <a:srgbClr val="0076A8">
                        <a:alpha val="10000"/>
                      </a:srgb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24,290</a:t>
                      </a:r>
                      <a:endParaRPr lang="en-US" sz="1000" b="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7.11</a:t>
                      </a:r>
                      <a:endParaRPr lang="en-US" sz="1000" b="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25,527</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7.30</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27,678</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7.35</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31,109</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7.26</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29,556</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41E42">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7.22</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R w="12700" cap="flat" cmpd="sng" algn="ctr">
                      <a:solidFill>
                        <a:schemeClr val="tx1"/>
                      </a:solidFill>
                      <a:prstDash val="solid"/>
                      <a:round/>
                      <a:headEnd type="none" w="med" len="med"/>
                      <a:tailEnd type="none" w="med" len="med"/>
                    </a:lnR>
                    <a:solidFill>
                      <a:srgbClr val="041E42">
                        <a:alpha val="10000"/>
                      </a:srgbClr>
                    </a:solidFill>
                  </a:tcPr>
                </a:tc>
                <a:extLst>
                  <a:ext uri="{0D108BD9-81ED-4DB2-BD59-A6C34878D82A}">
                    <a16:rowId xmlns:a16="http://schemas.microsoft.com/office/drawing/2014/main" val="2315401818"/>
                  </a:ext>
                </a:extLst>
              </a:tr>
              <a:tr h="230748">
                <a:tc>
                  <a:txBody>
                    <a:bodyPr/>
                    <a:lstStyle/>
                    <a:p>
                      <a:pPr algn="ctr"/>
                      <a:r>
                        <a:rPr lang="en-US" sz="1000" dirty="0">
                          <a:latin typeface="Verdana" panose="020B0604030504040204" pitchFamily="34" charset="0"/>
                          <a:ea typeface="Verdana" panose="020B0604030504040204" pitchFamily="34" charset="0"/>
                        </a:rPr>
                        <a:t>2.</a:t>
                      </a:r>
                    </a:p>
                  </a:txBody>
                  <a:tcPr anchor="ctr">
                    <a:lnL w="12700" cap="flat" cmpd="sng" algn="ctr">
                      <a:solidFill>
                        <a:schemeClr val="tx1"/>
                      </a:solidFill>
                      <a:prstDash val="solid"/>
                      <a:round/>
                      <a:headEnd type="none" w="med" len="med"/>
                      <a:tailEnd type="none" w="med" len="med"/>
                    </a:lnL>
                    <a:solidFill>
                      <a:schemeClr val="accent1"/>
                    </a:solidFill>
                  </a:tcPr>
                </a:tc>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latin typeface="Verdana" panose="020B0604030504040204" pitchFamily="34" charset="0"/>
                          <a:ea typeface="Verdana" panose="020B0604030504040204" pitchFamily="34" charset="0"/>
                        </a:rPr>
                        <a:t>Power Purchase Cost and Trading Sale</a:t>
                      </a:r>
                    </a:p>
                  </a:txBody>
                  <a:tcPr anchor="ctr">
                    <a:lnR w="12700" cap="flat" cmpd="sng" algn="ctr">
                      <a:solidFill>
                        <a:schemeClr val="tx1"/>
                      </a:solidFill>
                      <a:prstDash val="solid"/>
                      <a:round/>
                      <a:headEnd type="none" w="med" len="med"/>
                      <a:tailEnd type="none" w="med" len="med"/>
                    </a:lnR>
                    <a:solidFill>
                      <a:schemeClr val="accent1"/>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77066129"/>
                  </a:ext>
                </a:extLst>
              </a:tr>
              <a:tr h="663401">
                <a:tc>
                  <a:txBody>
                    <a:bodyPr/>
                    <a:lstStyle/>
                    <a:p>
                      <a:pPr algn="ctr"/>
                      <a:r>
                        <a:rPr lang="en-US" sz="1000" dirty="0">
                          <a:latin typeface="Verdana" panose="020B0604030504040204" pitchFamily="34" charset="0"/>
                          <a:ea typeface="Verdana" panose="020B0604030504040204" pitchFamily="34" charset="0"/>
                        </a:rPr>
                        <a:t>a.</a:t>
                      </a:r>
                    </a:p>
                  </a:txBody>
                  <a:tcPr anchor="ctr">
                    <a:lnL w="12700" cap="flat" cmpd="sng" algn="ctr">
                      <a:solidFill>
                        <a:schemeClr val="tx1"/>
                      </a:solidFill>
                      <a:prstDash val="solid"/>
                      <a:round/>
                      <a:headEnd type="none" w="med" len="med"/>
                      <a:tailEnd type="none" w="med" len="med"/>
                    </a:lnL>
                  </a:tcPr>
                </a:tc>
                <a:tc>
                  <a:txBody>
                    <a:bodyPr/>
                    <a:lstStyle/>
                    <a:p>
                      <a:r>
                        <a:rPr lang="en-US" sz="1000" dirty="0">
                          <a:latin typeface="Verdana" panose="020B0604030504040204" pitchFamily="34" charset="0"/>
                          <a:ea typeface="Verdana" panose="020B0604030504040204" pitchFamily="34" charset="0"/>
                        </a:rPr>
                        <a:t>Sale to Person Other than Licensee and Consumer</a:t>
                      </a:r>
                    </a:p>
                  </a:txBody>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1,971</a:t>
                      </a:r>
                      <a:endParaRPr lang="en-US" sz="1000" dirty="0">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a:r>
                        <a:rPr lang="en-US" sz="1000" b="0" u="none" strike="noStrike" dirty="0">
                          <a:solidFill>
                            <a:schemeClr val="tx1"/>
                          </a:solidFill>
                          <a:effectLst/>
                          <a:latin typeface="Verdana" panose="020B0604030504040204" pitchFamily="34" charset="0"/>
                          <a:ea typeface="Verdana" panose="020B0604030504040204" pitchFamily="34" charset="0"/>
                        </a:rPr>
                        <a:t>5.09</a:t>
                      </a:r>
                      <a:endParaRPr lang="en-US" sz="1000" dirty="0">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1,980</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5.19</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2,049</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A3E0">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4.92</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A3E0">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1,794</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5.21</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1,210</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4.48</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2,642</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12169">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3.55</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R w="12700" cap="flat" cmpd="sng" algn="ctr">
                      <a:solidFill>
                        <a:schemeClr val="tx1"/>
                      </a:solidFill>
                      <a:prstDash val="solid"/>
                      <a:round/>
                      <a:headEnd type="none" w="med" len="med"/>
                      <a:tailEnd type="none" w="med" len="med"/>
                    </a:lnR>
                    <a:solidFill>
                      <a:srgbClr val="012169">
                        <a:alpha val="10000"/>
                      </a:srgbClr>
                    </a:solidFill>
                  </a:tcPr>
                </a:tc>
                <a:extLst>
                  <a:ext uri="{0D108BD9-81ED-4DB2-BD59-A6C34878D82A}">
                    <a16:rowId xmlns:a16="http://schemas.microsoft.com/office/drawing/2014/main" val="4132528685"/>
                  </a:ext>
                </a:extLst>
              </a:tr>
              <a:tr h="374966">
                <a:tc>
                  <a:txBody>
                    <a:bodyPr/>
                    <a:lstStyle/>
                    <a:p>
                      <a:pPr algn="ctr"/>
                      <a:r>
                        <a:rPr lang="en-US" sz="1000" dirty="0">
                          <a:latin typeface="Verdana" panose="020B0604030504040204" pitchFamily="34" charset="0"/>
                          <a:ea typeface="Verdana" panose="020B0604030504040204" pitchFamily="34" charset="0"/>
                        </a:rPr>
                        <a:t>b.</a:t>
                      </a:r>
                    </a:p>
                  </a:txBody>
                  <a:tcPr anchor="ctr">
                    <a:lnL w="12700" cap="flat" cmpd="sng" algn="ctr">
                      <a:solidFill>
                        <a:schemeClr val="tx1"/>
                      </a:solidFill>
                      <a:prstDash val="solid"/>
                      <a:round/>
                      <a:headEnd type="none" w="med" len="med"/>
                      <a:tailEnd type="none" w="med" len="med"/>
                    </a:lnL>
                  </a:tcPr>
                </a:tc>
                <a:tc>
                  <a:txBody>
                    <a:bodyPr/>
                    <a:lstStyle/>
                    <a:p>
                      <a:pPr algn="l"/>
                      <a:r>
                        <a:rPr lang="en-US" sz="1000" dirty="0">
                          <a:latin typeface="Verdana" panose="020B0604030504040204" pitchFamily="34" charset="0"/>
                          <a:ea typeface="Verdana" panose="020B0604030504040204" pitchFamily="34" charset="0"/>
                        </a:rPr>
                        <a:t>Power Purchase Cost*</a:t>
                      </a:r>
                    </a:p>
                  </a:txBody>
                  <a:tcPr anchor="ct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36,285     </a:t>
                      </a:r>
                      <a:endParaRPr lang="en-US" sz="1000" dirty="0">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a:r>
                        <a:rPr lang="en-US" sz="1000" b="0" u="none" strike="noStrike" dirty="0">
                          <a:solidFill>
                            <a:schemeClr val="tx1"/>
                          </a:solidFill>
                          <a:effectLst/>
                          <a:latin typeface="Verdana" panose="020B0604030504040204" pitchFamily="34" charset="0"/>
                          <a:ea typeface="Verdana" panose="020B0604030504040204" pitchFamily="34" charset="0"/>
                        </a:rPr>
                        <a:t>3.40</a:t>
                      </a:r>
                      <a:endParaRPr lang="en-US" sz="1000" dirty="0">
                        <a:latin typeface="Verdana" panose="020B0604030504040204" pitchFamily="34" charset="0"/>
                        <a:ea typeface="Verdana" panose="020B0604030504040204" pitchFamily="34" charset="0"/>
                      </a:endParaRPr>
                    </a:p>
                  </a:txBody>
                  <a:tcPr marL="6350" marR="6350" marT="6350" marB="0" anchor="ctr">
                    <a:solidFill>
                      <a:srgbClr val="0076A8">
                        <a:alpha val="10000"/>
                      </a:srgbClr>
                    </a:solidFill>
                  </a:tcPr>
                </a:tc>
                <a:tc>
                  <a:txBody>
                    <a:bodyPr/>
                    <a:lstStyle/>
                    <a:p>
                      <a:pPr algn="ctr"/>
                      <a:r>
                        <a:rPr lang="en-US" sz="1000" b="0" u="none" strike="noStrike" dirty="0">
                          <a:solidFill>
                            <a:srgbClr val="000000"/>
                          </a:solidFill>
                          <a:effectLst/>
                          <a:latin typeface="Verdana" panose="020B0604030504040204" pitchFamily="34" charset="0"/>
                          <a:ea typeface="Verdana" panose="020B0604030504040204" pitchFamily="34" charset="0"/>
                        </a:rPr>
                        <a:t>37,577               </a:t>
                      </a:r>
                      <a:endParaRPr lang="en-US" sz="1000" dirty="0">
                        <a:latin typeface="Verdana" panose="020B0604030504040204" pitchFamily="34" charset="0"/>
                        <a:ea typeface="Verdana" panose="020B0604030504040204" pitchFamily="34" charset="0"/>
                      </a:endParaRPr>
                    </a:p>
                  </a:txBody>
                  <a:tcPr marL="6350" marR="6350" marT="6350" marB="0" anchor="ctr">
                    <a:solidFill>
                      <a:schemeClr val="accent2">
                        <a:lumMod val="40000"/>
                        <a:lumOff val="60000"/>
                        <a:alpha val="10000"/>
                      </a:schemeClr>
                    </a:solidFill>
                  </a:tcPr>
                </a:tc>
                <a:tc>
                  <a:txBody>
                    <a:bodyPr/>
                    <a:lstStyle/>
                    <a:p>
                      <a:pPr algn="ctr"/>
                      <a:r>
                        <a:rPr lang="en-US" sz="1000" dirty="0">
                          <a:latin typeface="Verdana" panose="020B0604030504040204" pitchFamily="34" charset="0"/>
                          <a:ea typeface="Verdana" panose="020B0604030504040204" pitchFamily="34" charset="0"/>
                        </a:rPr>
                        <a:t>3.50</a:t>
                      </a:r>
                    </a:p>
                  </a:txBody>
                  <a:tcPr marL="6350" marR="6350" marT="6350" marB="0" anchor="ctr">
                    <a:solidFill>
                      <a:schemeClr val="accent2">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38,849                 </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A3E0">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3.70</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0A3E0">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39,333                  </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a:solidFill>
                            <a:srgbClr val="000000"/>
                          </a:solidFill>
                          <a:effectLst/>
                          <a:latin typeface="Verdana" panose="020B0604030504040204" pitchFamily="34" charset="0"/>
                          <a:ea typeface="Verdana" panose="020B0604030504040204" pitchFamily="34" charset="0"/>
                        </a:rPr>
                        <a:t>4.06</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4">
                        <a:lumMod val="60000"/>
                        <a:lumOff val="4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39,933                  </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a:solidFill>
                            <a:srgbClr val="000000"/>
                          </a:solidFill>
                          <a:effectLst/>
                          <a:latin typeface="Verdana" panose="020B0604030504040204" pitchFamily="34" charset="0"/>
                          <a:ea typeface="Verdana" panose="020B0604030504040204" pitchFamily="34" charset="0"/>
                        </a:rPr>
                        <a:t>4.23</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chemeClr val="accent5">
                        <a:lumMod val="40000"/>
                        <a:lumOff val="60000"/>
                        <a:alpha val="10000"/>
                      </a:scheme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42,210</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solidFill>
                      <a:srgbClr val="012169">
                        <a:alpha val="10000"/>
                      </a:srgbClr>
                    </a:solidFill>
                  </a:tcPr>
                </a:tc>
                <a:tc>
                  <a:txBody>
                    <a:bodyPr/>
                    <a:lstStyle/>
                    <a:p>
                      <a:pPr algn="ctr" fontAlgn="b"/>
                      <a:r>
                        <a:rPr lang="en-US" sz="1000" b="0" u="none" strike="noStrike" dirty="0">
                          <a:solidFill>
                            <a:srgbClr val="000000"/>
                          </a:solidFill>
                          <a:effectLst/>
                          <a:latin typeface="Verdana" panose="020B0604030504040204" pitchFamily="34" charset="0"/>
                          <a:ea typeface="Verdana" panose="020B0604030504040204" pitchFamily="34" charset="0"/>
                        </a:rPr>
                        <a:t>4.40</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R w="12700" cap="flat" cmpd="sng" algn="ctr">
                      <a:solidFill>
                        <a:schemeClr val="tx1"/>
                      </a:solidFill>
                      <a:prstDash val="solid"/>
                      <a:round/>
                      <a:headEnd type="none" w="med" len="med"/>
                      <a:tailEnd type="none" w="med" len="med"/>
                    </a:lnR>
                    <a:solidFill>
                      <a:srgbClr val="012169">
                        <a:alpha val="10000"/>
                      </a:srgbClr>
                    </a:solidFill>
                  </a:tcPr>
                </a:tc>
                <a:extLst>
                  <a:ext uri="{0D108BD9-81ED-4DB2-BD59-A6C34878D82A}">
                    <a16:rowId xmlns:a16="http://schemas.microsoft.com/office/drawing/2014/main" val="1882956563"/>
                  </a:ext>
                </a:extLst>
              </a:tr>
              <a:tr h="374966">
                <a:tc>
                  <a:txBody>
                    <a:bodyPr/>
                    <a:lstStyle/>
                    <a:p>
                      <a:pPr algn="ctr"/>
                      <a:r>
                        <a:rPr lang="en-US" sz="1000" dirty="0">
                          <a:latin typeface="Verdana" panose="020B0604030504040204" pitchFamily="34" charset="0"/>
                          <a:ea typeface="Verdana" panose="020B0604030504040204" pitchFamily="34" charset="0"/>
                        </a:rPr>
                        <a:t>c. </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sz="1000" dirty="0">
                          <a:latin typeface="Verdana" panose="020B0604030504040204" pitchFamily="34" charset="0"/>
                          <a:ea typeface="Verdana" panose="020B0604030504040204" pitchFamily="34" charset="0"/>
                        </a:rPr>
                        <a:t>Average Margin realized (a– b)</a:t>
                      </a:r>
                    </a:p>
                  </a:txBody>
                  <a:tcPr>
                    <a:lnB w="12700" cap="flat" cmpd="sng" algn="ctr">
                      <a:solidFill>
                        <a:schemeClr val="tx1"/>
                      </a:solidFill>
                      <a:prstDash val="solid"/>
                      <a:round/>
                      <a:headEnd type="none" w="med" len="med"/>
                      <a:tailEnd type="none" w="med" len="med"/>
                    </a:lnB>
                  </a:tcPr>
                </a:tc>
                <a:tc>
                  <a:txBody>
                    <a:bodyPr/>
                    <a:lstStyle/>
                    <a:p>
                      <a:pPr algn="ctr"/>
                      <a:endParaRPr lang="en-US" sz="1000" dirty="0">
                        <a:latin typeface="Verdana" panose="020B0604030504040204" pitchFamily="34" charset="0"/>
                        <a:ea typeface="Verdana" panose="020B0604030504040204" pitchFamily="34" charset="0"/>
                      </a:endParaRPr>
                    </a:p>
                  </a:txBody>
                  <a:tcPr marL="6350" marR="6350" marT="6350" marB="0" anchor="ctr">
                    <a:lnB w="12700" cap="flat" cmpd="sng" algn="ctr">
                      <a:solidFill>
                        <a:schemeClr val="tx1"/>
                      </a:solidFill>
                      <a:prstDash val="solid"/>
                      <a:round/>
                      <a:headEnd type="none" w="med" len="med"/>
                      <a:tailEnd type="none" w="med" len="med"/>
                    </a:lnB>
                    <a:solidFill>
                      <a:srgbClr val="0076A8">
                        <a:alpha val="10000"/>
                      </a:srgbClr>
                    </a:solidFill>
                  </a:tcPr>
                </a:tc>
                <a:tc>
                  <a:txBody>
                    <a:bodyPr/>
                    <a:lstStyle/>
                    <a:p>
                      <a:pPr algn="ctr"/>
                      <a:r>
                        <a:rPr lang="en-US" sz="1000" dirty="0">
                          <a:latin typeface="Verdana" panose="020B0604030504040204" pitchFamily="34" charset="0"/>
                          <a:ea typeface="Verdana" panose="020B0604030504040204" pitchFamily="34" charset="0"/>
                        </a:rPr>
                        <a:t>1.69</a:t>
                      </a:r>
                    </a:p>
                  </a:txBody>
                  <a:tcPr marL="6350" marR="6350" marT="6350" marB="0" anchor="ctr">
                    <a:lnB w="12700" cap="flat" cmpd="sng" algn="ctr">
                      <a:solidFill>
                        <a:schemeClr val="tx1"/>
                      </a:solidFill>
                      <a:prstDash val="solid"/>
                      <a:round/>
                      <a:headEnd type="none" w="med" len="med"/>
                      <a:tailEnd type="none" w="med" len="med"/>
                    </a:lnB>
                    <a:solidFill>
                      <a:srgbClr val="0076A8">
                        <a:alpha val="10000"/>
                      </a:srgbClr>
                    </a:solidFill>
                  </a:tcPr>
                </a:tc>
                <a:tc>
                  <a:txBody>
                    <a:bodyPr/>
                    <a:lstStyle/>
                    <a:p>
                      <a:pPr algn="ctr"/>
                      <a:endParaRPr lang="en-US" sz="1000" dirty="0">
                        <a:latin typeface="Verdana" panose="020B0604030504040204" pitchFamily="34" charset="0"/>
                        <a:ea typeface="Verdana" panose="020B0604030504040204" pitchFamily="34" charset="0"/>
                      </a:endParaRPr>
                    </a:p>
                  </a:txBody>
                  <a:tcPr marL="6350" marR="6350" marT="6350" marB="0" anchor="ctr">
                    <a:lnB w="12700" cap="flat" cmpd="sng" algn="ctr">
                      <a:solidFill>
                        <a:schemeClr val="tx1"/>
                      </a:solidFill>
                      <a:prstDash val="solid"/>
                      <a:round/>
                      <a:headEnd type="none" w="med" len="med"/>
                      <a:tailEnd type="none" w="med" len="med"/>
                    </a:lnB>
                    <a:solidFill>
                      <a:schemeClr val="accent2">
                        <a:lumMod val="40000"/>
                        <a:lumOff val="60000"/>
                        <a:alpha val="10000"/>
                      </a:schemeClr>
                    </a:solidFill>
                  </a:tcPr>
                </a:tc>
                <a:tc>
                  <a:txBody>
                    <a:bodyPr/>
                    <a:lstStyle/>
                    <a:p>
                      <a:pPr algn="ctr"/>
                      <a:r>
                        <a:rPr lang="en-US" sz="1000" dirty="0">
                          <a:latin typeface="Verdana" panose="020B0604030504040204" pitchFamily="34" charset="0"/>
                          <a:ea typeface="Verdana" panose="020B0604030504040204" pitchFamily="34" charset="0"/>
                        </a:rPr>
                        <a:t>1.69</a:t>
                      </a:r>
                    </a:p>
                  </a:txBody>
                  <a:tcPr marL="6350" marR="6350" marT="6350" marB="0" anchor="ctr">
                    <a:lnB w="12700" cap="flat" cmpd="sng" algn="ctr">
                      <a:solidFill>
                        <a:schemeClr val="tx1"/>
                      </a:solidFill>
                      <a:prstDash val="solid"/>
                      <a:round/>
                      <a:headEnd type="none" w="med" len="med"/>
                      <a:tailEnd type="none" w="med" len="med"/>
                    </a:lnB>
                    <a:solidFill>
                      <a:schemeClr val="accent2">
                        <a:lumMod val="40000"/>
                        <a:lumOff val="60000"/>
                        <a:alpha val="10000"/>
                      </a:schemeClr>
                    </a:solid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B w="12700" cap="flat" cmpd="sng" algn="ctr">
                      <a:solidFill>
                        <a:schemeClr val="tx1"/>
                      </a:solidFill>
                      <a:prstDash val="solid"/>
                      <a:round/>
                      <a:headEnd type="none" w="med" len="med"/>
                      <a:tailEnd type="none" w="med" len="med"/>
                    </a:lnB>
                    <a:solidFill>
                      <a:srgbClr val="00A3E0">
                        <a:alpha val="10000"/>
                      </a:srgbClr>
                    </a:solidFill>
                  </a:tcPr>
                </a:tc>
                <a:tc>
                  <a:txBody>
                    <a:bodyPr/>
                    <a:lstStyle/>
                    <a:p>
                      <a:pPr algn="ctr" fontAlgn="b"/>
                      <a:r>
                        <a:rPr lang="en-US" sz="1000" b="0" i="0" u="none" strike="noStrike" dirty="0">
                          <a:solidFill>
                            <a:srgbClr val="000000"/>
                          </a:solidFill>
                          <a:effectLst/>
                          <a:latin typeface="Verdana" panose="020B0604030504040204" pitchFamily="34" charset="0"/>
                          <a:ea typeface="Verdana" panose="020B0604030504040204" pitchFamily="34" charset="0"/>
                        </a:rPr>
                        <a:t>1.22</a:t>
                      </a:r>
                    </a:p>
                  </a:txBody>
                  <a:tcPr marL="6350" marR="6350" marT="6350" marB="0" anchor="ctr">
                    <a:lnB w="12700" cap="flat" cmpd="sng" algn="ctr">
                      <a:solidFill>
                        <a:schemeClr val="tx1"/>
                      </a:solidFill>
                      <a:prstDash val="solid"/>
                      <a:round/>
                      <a:headEnd type="none" w="med" len="med"/>
                      <a:tailEnd type="none" w="med" len="med"/>
                    </a:lnB>
                    <a:solidFill>
                      <a:srgbClr val="00A3E0">
                        <a:alpha val="10000"/>
                      </a:srgbClr>
                    </a:solid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B w="12700" cap="flat" cmpd="sng" algn="ctr">
                      <a:solidFill>
                        <a:schemeClr val="tx1"/>
                      </a:solidFill>
                      <a:prstDash val="solid"/>
                      <a:round/>
                      <a:headEnd type="none" w="med" len="med"/>
                      <a:tailEnd type="none" w="med" len="med"/>
                    </a:lnB>
                    <a:solidFill>
                      <a:schemeClr val="accent4">
                        <a:lumMod val="60000"/>
                        <a:lumOff val="40000"/>
                        <a:alpha val="10000"/>
                      </a:schemeClr>
                    </a:solidFill>
                  </a:tcPr>
                </a:tc>
                <a:tc>
                  <a:txBody>
                    <a:bodyPr/>
                    <a:lstStyle/>
                    <a:p>
                      <a:pPr algn="ctr" fontAlgn="b"/>
                      <a:r>
                        <a:rPr lang="en-US" sz="1000" b="0" i="0" u="none" strike="noStrike" dirty="0">
                          <a:solidFill>
                            <a:srgbClr val="000000"/>
                          </a:solidFill>
                          <a:effectLst/>
                          <a:latin typeface="Verdana" panose="020B0604030504040204" pitchFamily="34" charset="0"/>
                          <a:ea typeface="Verdana" panose="020B0604030504040204" pitchFamily="34" charset="0"/>
                        </a:rPr>
                        <a:t>1.16</a:t>
                      </a:r>
                    </a:p>
                  </a:txBody>
                  <a:tcPr marL="6350" marR="6350" marT="6350" marB="0" anchor="ctr">
                    <a:lnB w="12700" cap="flat" cmpd="sng" algn="ctr">
                      <a:solidFill>
                        <a:schemeClr val="tx1"/>
                      </a:solidFill>
                      <a:prstDash val="solid"/>
                      <a:round/>
                      <a:headEnd type="none" w="med" len="med"/>
                      <a:tailEnd type="none" w="med" len="med"/>
                    </a:lnB>
                    <a:solidFill>
                      <a:schemeClr val="accent4">
                        <a:lumMod val="60000"/>
                        <a:lumOff val="40000"/>
                        <a:alpha val="10000"/>
                      </a:schemeClr>
                    </a:solid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B w="12700" cap="flat" cmpd="sng" algn="ctr">
                      <a:solidFill>
                        <a:schemeClr val="tx1"/>
                      </a:solidFill>
                      <a:prstDash val="solid"/>
                      <a:round/>
                      <a:headEnd type="none" w="med" len="med"/>
                      <a:tailEnd type="none" w="med" len="med"/>
                    </a:lnB>
                    <a:solidFill>
                      <a:schemeClr val="accent5">
                        <a:lumMod val="40000"/>
                        <a:lumOff val="60000"/>
                        <a:alpha val="10000"/>
                      </a:schemeClr>
                    </a:solidFill>
                  </a:tcPr>
                </a:tc>
                <a:tc>
                  <a:txBody>
                    <a:bodyPr/>
                    <a:lstStyle/>
                    <a:p>
                      <a:pPr algn="ctr" fontAlgn="b"/>
                      <a:r>
                        <a:rPr lang="en-US" sz="1000" b="0" i="0" u="none" strike="noStrike" dirty="0">
                          <a:solidFill>
                            <a:srgbClr val="000000"/>
                          </a:solidFill>
                          <a:effectLst/>
                          <a:latin typeface="Verdana" panose="020B0604030504040204" pitchFamily="34" charset="0"/>
                          <a:ea typeface="Verdana" panose="020B0604030504040204" pitchFamily="34" charset="0"/>
                        </a:rPr>
                        <a:t>0.25</a:t>
                      </a:r>
                    </a:p>
                  </a:txBody>
                  <a:tcPr marL="6350" marR="6350" marT="6350" marB="0" anchor="ctr">
                    <a:lnB w="12700" cap="flat" cmpd="sng" algn="ctr">
                      <a:solidFill>
                        <a:schemeClr val="tx1"/>
                      </a:solidFill>
                      <a:prstDash val="solid"/>
                      <a:round/>
                      <a:headEnd type="none" w="med" len="med"/>
                      <a:tailEnd type="none" w="med" len="med"/>
                    </a:lnB>
                    <a:solidFill>
                      <a:schemeClr val="accent5">
                        <a:lumMod val="40000"/>
                        <a:lumOff val="60000"/>
                        <a:alpha val="10000"/>
                      </a:schemeClr>
                    </a:solid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B w="12700" cap="flat" cmpd="sng" algn="ctr">
                      <a:solidFill>
                        <a:schemeClr val="tx1"/>
                      </a:solidFill>
                      <a:prstDash val="solid"/>
                      <a:round/>
                      <a:headEnd type="none" w="med" len="med"/>
                      <a:tailEnd type="none" w="med" len="med"/>
                    </a:lnB>
                    <a:solidFill>
                      <a:srgbClr val="012169">
                        <a:alpha val="10000"/>
                      </a:srgbClr>
                    </a:solidFill>
                  </a:tcPr>
                </a:tc>
                <a:tc>
                  <a:txBody>
                    <a:bodyPr/>
                    <a:lstStyle/>
                    <a:p>
                      <a:pPr algn="ctr" fontAlgn="b"/>
                      <a:r>
                        <a:rPr lang="en-US" sz="1000" b="0" i="0" u="none" strike="noStrike" dirty="0">
                          <a:solidFill>
                            <a:srgbClr val="FF0000"/>
                          </a:solidFill>
                          <a:effectLst/>
                          <a:latin typeface="Verdana" panose="020B0604030504040204" pitchFamily="34" charset="0"/>
                          <a:ea typeface="Verdana" panose="020B0604030504040204" pitchFamily="34" charset="0"/>
                        </a:rPr>
                        <a:t>(0.85)</a:t>
                      </a: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12169">
                        <a:alpha val="10000"/>
                      </a:srgbClr>
                    </a:solidFill>
                  </a:tcPr>
                </a:tc>
                <a:extLst>
                  <a:ext uri="{0D108BD9-81ED-4DB2-BD59-A6C34878D82A}">
                    <a16:rowId xmlns:a16="http://schemas.microsoft.com/office/drawing/2014/main" val="3464293896"/>
                  </a:ext>
                </a:extLst>
              </a:tr>
            </a:tbl>
          </a:graphicData>
        </a:graphic>
      </p:graphicFrame>
      <p:graphicFrame>
        <p:nvGraphicFramePr>
          <p:cNvPr id="10" name="Chart 9">
            <a:extLst>
              <a:ext uri="{FF2B5EF4-FFF2-40B4-BE49-F238E27FC236}">
                <a16:creationId xmlns:a16="http://schemas.microsoft.com/office/drawing/2014/main" id="{AC179C18-9E81-4E74-BAFF-C7C3F6659308}"/>
              </a:ext>
            </a:extLst>
          </p:cNvPr>
          <p:cNvGraphicFramePr/>
          <p:nvPr>
            <p:extLst>
              <p:ext uri="{D42A27DB-BD31-4B8C-83A1-F6EECF244321}">
                <p14:modId xmlns:p14="http://schemas.microsoft.com/office/powerpoint/2010/main" val="3088280083"/>
              </p:ext>
            </p:extLst>
          </p:nvPr>
        </p:nvGraphicFramePr>
        <p:xfrm>
          <a:off x="383753" y="700546"/>
          <a:ext cx="11188699" cy="1930114"/>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19E91661-066E-4CB4-AFE3-83E777B646C6}"/>
              </a:ext>
            </a:extLst>
          </p:cNvPr>
          <p:cNvSpPr txBox="1"/>
          <p:nvPr/>
        </p:nvSpPr>
        <p:spPr>
          <a:xfrm>
            <a:off x="7205803" y="6581113"/>
            <a:ext cx="3503488"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*Power Purchase Cost excludes Transmission charges</a:t>
            </a:r>
          </a:p>
        </p:txBody>
      </p:sp>
      <p:sp>
        <p:nvSpPr>
          <p:cNvPr id="8" name="Oval 7">
            <a:extLst>
              <a:ext uri="{FF2B5EF4-FFF2-40B4-BE49-F238E27FC236}">
                <a16:creationId xmlns:a16="http://schemas.microsoft.com/office/drawing/2014/main" id="{69A3281E-07CB-4A9C-8B94-77FFA2903A95}"/>
              </a:ext>
            </a:extLst>
          </p:cNvPr>
          <p:cNvSpPr/>
          <p:nvPr/>
        </p:nvSpPr>
        <p:spPr bwMode="gray">
          <a:xfrm>
            <a:off x="11847031" y="1"/>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3</a:t>
            </a:r>
          </a:p>
        </p:txBody>
      </p:sp>
      <p:sp>
        <p:nvSpPr>
          <p:cNvPr id="12" name="Arrow: Left 11">
            <a:extLst>
              <a:ext uri="{FF2B5EF4-FFF2-40B4-BE49-F238E27FC236}">
                <a16:creationId xmlns:a16="http://schemas.microsoft.com/office/drawing/2014/main" id="{E0DB941C-A889-426A-A313-EA144F96AC87}"/>
              </a:ext>
            </a:extLst>
          </p:cNvPr>
          <p:cNvSpPr/>
          <p:nvPr/>
        </p:nvSpPr>
        <p:spPr bwMode="gray">
          <a:xfrm>
            <a:off x="10644749" y="6524739"/>
            <a:ext cx="1460165" cy="368644"/>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4" action="ppaction://hlinksldjump"/>
              </a:rPr>
              <a:t>Back to Home</a:t>
            </a:r>
            <a:endParaRPr lang="en-US" sz="1000" b="1" dirty="0">
              <a:solidFill>
                <a:schemeClr val="bg1"/>
              </a:solidFill>
            </a:endParaRPr>
          </a:p>
        </p:txBody>
      </p:sp>
    </p:spTree>
    <p:extLst>
      <p:ext uri="{BB962C8B-B14F-4D97-AF65-F5344CB8AC3E}">
        <p14:creationId xmlns:p14="http://schemas.microsoft.com/office/powerpoint/2010/main" val="2819661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27EE11A2-7E1A-4737-A564-7A0506567A47}"/>
              </a:ext>
            </a:extLst>
          </p:cNvPr>
          <p:cNvSpPr txBox="1">
            <a:spLocks/>
          </p:cNvSpPr>
          <p:nvPr/>
        </p:nvSpPr>
        <p:spPr bwMode="gray">
          <a:xfrm>
            <a:off x="383754" y="465808"/>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Average Margin Realized on Trading Sales</a:t>
            </a:r>
          </a:p>
        </p:txBody>
      </p:sp>
      <p:sp>
        <p:nvSpPr>
          <p:cNvPr id="7" name="TextBox 6">
            <a:extLst>
              <a:ext uri="{FF2B5EF4-FFF2-40B4-BE49-F238E27FC236}">
                <a16:creationId xmlns:a16="http://schemas.microsoft.com/office/drawing/2014/main" id="{3F2F426B-E4E0-49BE-826B-E7D8825D23D9}"/>
              </a:ext>
            </a:extLst>
          </p:cNvPr>
          <p:cNvSpPr txBox="1"/>
          <p:nvPr/>
        </p:nvSpPr>
        <p:spPr>
          <a:xfrm>
            <a:off x="9359757" y="659004"/>
            <a:ext cx="2332234" cy="184666"/>
          </a:xfrm>
          <a:prstGeom prst="rect">
            <a:avLst/>
          </a:prstGeom>
          <a:noFill/>
        </p:spPr>
        <p:txBody>
          <a:bodyPr wrap="square" lIns="0" tIns="0" rIns="0" bIns="0" rtlCol="0">
            <a:spAutoFit/>
          </a:bodyPr>
          <a:lstStyle/>
          <a:p>
            <a:pPr algn="r">
              <a:spcBef>
                <a:spcPts val="600"/>
              </a:spcBef>
              <a:buSzPct val="100000"/>
            </a:pPr>
            <a:r>
              <a:rPr lang="en-US" sz="1200" dirty="0">
                <a:solidFill>
                  <a:srgbClr val="313131"/>
                </a:solidFill>
                <a:latin typeface="Verdana" panose="020B0604030504040204" pitchFamily="34" charset="0"/>
                <a:ea typeface="Verdana" panose="020B0604030504040204" pitchFamily="34" charset="0"/>
              </a:rPr>
              <a:t>In Rs./kwh</a:t>
            </a:r>
          </a:p>
        </p:txBody>
      </p:sp>
      <p:graphicFrame>
        <p:nvGraphicFramePr>
          <p:cNvPr id="9" name="Table 2">
            <a:extLst>
              <a:ext uri="{FF2B5EF4-FFF2-40B4-BE49-F238E27FC236}">
                <a16:creationId xmlns:a16="http://schemas.microsoft.com/office/drawing/2014/main" id="{6FD10A7E-2222-4785-AD53-FB57916B5BE5}"/>
              </a:ext>
            </a:extLst>
          </p:cNvPr>
          <p:cNvGraphicFramePr>
            <a:graphicFrameLocks noGrp="1"/>
          </p:cNvGraphicFramePr>
          <p:nvPr>
            <p:extLst>
              <p:ext uri="{D42A27DB-BD31-4B8C-83A1-F6EECF244321}">
                <p14:modId xmlns:p14="http://schemas.microsoft.com/office/powerpoint/2010/main" val="1684517901"/>
              </p:ext>
            </p:extLst>
          </p:nvPr>
        </p:nvGraphicFramePr>
        <p:xfrm>
          <a:off x="496766" y="3592289"/>
          <a:ext cx="7820357" cy="2164080"/>
        </p:xfrm>
        <a:graphic>
          <a:graphicData uri="http://schemas.openxmlformats.org/drawingml/2006/table">
            <a:tbl>
              <a:tblPr firstRow="1" bandRow="1">
                <a:tableStyleId>{5C22544A-7EE6-4342-B048-85BDC9FD1C3A}</a:tableStyleId>
              </a:tblPr>
              <a:tblGrid>
                <a:gridCol w="1215296">
                  <a:extLst>
                    <a:ext uri="{9D8B030D-6E8A-4147-A177-3AD203B41FA5}">
                      <a16:colId xmlns:a16="http://schemas.microsoft.com/office/drawing/2014/main" val="2942548713"/>
                    </a:ext>
                  </a:extLst>
                </a:gridCol>
                <a:gridCol w="764906">
                  <a:extLst>
                    <a:ext uri="{9D8B030D-6E8A-4147-A177-3AD203B41FA5}">
                      <a16:colId xmlns:a16="http://schemas.microsoft.com/office/drawing/2014/main" val="1102386897"/>
                    </a:ext>
                  </a:extLst>
                </a:gridCol>
                <a:gridCol w="909617">
                  <a:extLst>
                    <a:ext uri="{9D8B030D-6E8A-4147-A177-3AD203B41FA5}">
                      <a16:colId xmlns:a16="http://schemas.microsoft.com/office/drawing/2014/main" val="3438493159"/>
                    </a:ext>
                  </a:extLst>
                </a:gridCol>
                <a:gridCol w="684108">
                  <a:extLst>
                    <a:ext uri="{9D8B030D-6E8A-4147-A177-3AD203B41FA5}">
                      <a16:colId xmlns:a16="http://schemas.microsoft.com/office/drawing/2014/main" val="846495559"/>
                    </a:ext>
                  </a:extLst>
                </a:gridCol>
                <a:gridCol w="878608">
                  <a:extLst>
                    <a:ext uri="{9D8B030D-6E8A-4147-A177-3AD203B41FA5}">
                      <a16:colId xmlns:a16="http://schemas.microsoft.com/office/drawing/2014/main" val="1445883956"/>
                    </a:ext>
                  </a:extLst>
                </a:gridCol>
                <a:gridCol w="661540">
                  <a:extLst>
                    <a:ext uri="{9D8B030D-6E8A-4147-A177-3AD203B41FA5}">
                      <a16:colId xmlns:a16="http://schemas.microsoft.com/office/drawing/2014/main" val="889591665"/>
                    </a:ext>
                  </a:extLst>
                </a:gridCol>
                <a:gridCol w="826924">
                  <a:extLst>
                    <a:ext uri="{9D8B030D-6E8A-4147-A177-3AD203B41FA5}">
                      <a16:colId xmlns:a16="http://schemas.microsoft.com/office/drawing/2014/main" val="3961847208"/>
                    </a:ext>
                  </a:extLst>
                </a:gridCol>
                <a:gridCol w="1879358">
                  <a:extLst>
                    <a:ext uri="{9D8B030D-6E8A-4147-A177-3AD203B41FA5}">
                      <a16:colId xmlns:a16="http://schemas.microsoft.com/office/drawing/2014/main" val="2631950931"/>
                    </a:ext>
                  </a:extLst>
                </a:gridCol>
              </a:tblGrid>
              <a:tr h="374966">
                <a:tc rowSpan="2">
                  <a:txBody>
                    <a:bodyPr/>
                    <a:lstStyle/>
                    <a:p>
                      <a:pPr algn="l"/>
                      <a:r>
                        <a:rPr lang="en-US" sz="1000" b="1" dirty="0">
                          <a:solidFill>
                            <a:schemeClr val="bg1"/>
                          </a:solidFill>
                          <a:latin typeface="Verdana" panose="020B0604030504040204" pitchFamily="34" charset="0"/>
                          <a:ea typeface="Verdana" panose="020B0604030504040204" pitchFamily="34" charset="0"/>
                        </a:rPr>
                        <a:t>Class of Consumers based on Voltage</a:t>
                      </a:r>
                      <a:endParaRPr lang="en-US" sz="1000" b="0" dirty="0">
                        <a:solidFill>
                          <a:schemeClr val="bg1"/>
                        </a:solidFill>
                        <a:latin typeface="Verdana" panose="020B0604030504040204" pitchFamily="34" charset="0"/>
                        <a:ea typeface="Verdana" panose="020B060403050404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C5234"/>
                    </a:solidFill>
                  </a:tcPr>
                </a:tc>
                <a:tc gridSpan="2">
                  <a:txBody>
                    <a:bodyPr/>
                    <a:lstStyle/>
                    <a:p>
                      <a:pPr algn="ctr"/>
                      <a:r>
                        <a:rPr lang="en-US" sz="1000" b="1" dirty="0">
                          <a:solidFill>
                            <a:schemeClr val="bg1"/>
                          </a:solidFill>
                          <a:latin typeface="Verdana" panose="020B0604030504040204" pitchFamily="34" charset="0"/>
                          <a:ea typeface="Verdana" panose="020B0604030504040204" pitchFamily="34" charset="0"/>
                        </a:rPr>
                        <a:t>West Bengal</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C5234"/>
                    </a:solidFill>
                  </a:tcPr>
                </a:tc>
                <a:tc hMerge="1">
                  <a:txBody>
                    <a:bodyPr/>
                    <a:lstStyle/>
                    <a:p>
                      <a:endParaRPr lang="en-US"/>
                    </a:p>
                  </a:txBody>
                  <a:tcPr/>
                </a:tc>
                <a:tc gridSpan="2">
                  <a:txBody>
                    <a:bodyPr/>
                    <a:lstStyle/>
                    <a:p>
                      <a:pPr algn="ctr"/>
                      <a:r>
                        <a:rPr lang="en-US" sz="1000" b="1" dirty="0">
                          <a:solidFill>
                            <a:schemeClr val="bg1"/>
                          </a:solidFill>
                          <a:latin typeface="Verdana" panose="020B0604030504040204" pitchFamily="34" charset="0"/>
                          <a:ea typeface="Verdana" panose="020B0604030504040204" pitchFamily="34" charset="0"/>
                        </a:rPr>
                        <a:t>Jharkhand</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C5234"/>
                    </a:solidFill>
                  </a:tcPr>
                </a:tc>
                <a:tc hMerge="1">
                  <a:txBody>
                    <a:bodyPr/>
                    <a:lstStyle/>
                    <a:p>
                      <a:endParaRPr lang="en-US"/>
                    </a:p>
                  </a:txBody>
                  <a:tcPr/>
                </a:tc>
                <a:tc gridSpan="2">
                  <a:txBody>
                    <a:bodyPr/>
                    <a:lstStyle/>
                    <a:p>
                      <a:pPr algn="ctr"/>
                      <a:r>
                        <a:rPr lang="en-US" sz="1000" b="1" dirty="0">
                          <a:solidFill>
                            <a:schemeClr val="bg1"/>
                          </a:solidFill>
                          <a:latin typeface="Verdana" panose="020B0604030504040204" pitchFamily="34" charset="0"/>
                          <a:ea typeface="Verdana" panose="020B0604030504040204" pitchFamily="34" charset="0"/>
                        </a:rPr>
                        <a:t>Bilateral Beneficiaries</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C5234"/>
                    </a:solidFill>
                  </a:tcPr>
                </a:tc>
                <a:tc hMerge="1">
                  <a:txBody>
                    <a:bodyPr/>
                    <a:lstStyle/>
                    <a:p>
                      <a:endParaRPr lang="en-US"/>
                    </a:p>
                  </a:txBody>
                  <a:tcPr/>
                </a:tc>
                <a:tc rowSpan="2">
                  <a:txBody>
                    <a:bodyPr/>
                    <a:lstStyle/>
                    <a:p>
                      <a:pPr algn="ctr"/>
                      <a:r>
                        <a:rPr lang="en-US" sz="1000" b="0" dirty="0">
                          <a:solidFill>
                            <a:schemeClr val="bg1"/>
                          </a:solidFill>
                          <a:latin typeface="Verdana" panose="020B0604030504040204" pitchFamily="34" charset="0"/>
                          <a:ea typeface="Verdana" panose="020B0604030504040204" pitchFamily="34" charset="0"/>
                        </a:rPr>
                        <a:t>Total Sample Size</a:t>
                      </a:r>
                    </a:p>
                  </a:txBody>
                  <a:tcPr anchor="ctr">
                    <a:lnL w="12700" cmpd="sng">
                      <a:noFill/>
                    </a:lnL>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C5234"/>
                    </a:solidFill>
                  </a:tcPr>
                </a:tc>
                <a:extLst>
                  <a:ext uri="{0D108BD9-81ED-4DB2-BD59-A6C34878D82A}">
                    <a16:rowId xmlns:a16="http://schemas.microsoft.com/office/drawing/2014/main" val="3823934701"/>
                  </a:ext>
                </a:extLst>
              </a:tr>
              <a:tr h="519183">
                <a:tc vMerge="1">
                  <a:txBody>
                    <a:bodyPr/>
                    <a:lstStyle/>
                    <a:p>
                      <a:endParaRPr dirty="0"/>
                    </a:p>
                  </a:txBody>
                  <a:tcPr anchor="ctr"/>
                </a:tc>
                <a:tc>
                  <a:txBody>
                    <a:bodyPr/>
                    <a:lstStyle/>
                    <a:p>
                      <a:pPr algn="ctr"/>
                      <a:r>
                        <a:rPr lang="en-US" sz="1000" b="0" dirty="0">
                          <a:solidFill>
                            <a:schemeClr val="bg1"/>
                          </a:solidFill>
                          <a:latin typeface="Verdana" panose="020B0604030504040204" pitchFamily="34" charset="0"/>
                          <a:ea typeface="Verdana" panose="020B0604030504040204" pitchFamily="34" charset="0"/>
                        </a:rPr>
                        <a:t>Consumer</a:t>
                      </a:r>
                    </a:p>
                    <a:p>
                      <a:pPr algn="ctr"/>
                      <a:r>
                        <a:rPr lang="en-US" sz="1000" b="0" dirty="0">
                          <a:solidFill>
                            <a:schemeClr val="bg1"/>
                          </a:solidFill>
                          <a:latin typeface="Verdana" panose="020B0604030504040204" pitchFamily="34" charset="0"/>
                          <a:ea typeface="Verdana" panose="020B0604030504040204" pitchFamily="34" charset="0"/>
                        </a:rPr>
                        <a:t>No.</a:t>
                      </a:r>
                    </a:p>
                  </a:txBody>
                  <a:tcPr anchor="ct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000" b="0" dirty="0">
                          <a:solidFill>
                            <a:schemeClr val="bg1"/>
                          </a:solidFill>
                          <a:latin typeface="Verdana" panose="020B0604030504040204" pitchFamily="34" charset="0"/>
                          <a:ea typeface="Verdana" panose="020B0604030504040204" pitchFamily="34" charset="0"/>
                        </a:rPr>
                        <a:t>Sample Size at 90% CI</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000" b="0" dirty="0">
                          <a:solidFill>
                            <a:schemeClr val="bg1"/>
                          </a:solidFill>
                          <a:latin typeface="Verdana" panose="020B0604030504040204" pitchFamily="34" charset="0"/>
                          <a:ea typeface="Verdana" panose="020B0604030504040204" pitchFamily="34" charset="0"/>
                        </a:rPr>
                        <a:t>Consumer</a:t>
                      </a:r>
                    </a:p>
                    <a:p>
                      <a:pPr algn="ctr"/>
                      <a:r>
                        <a:rPr lang="en-US" sz="1000" b="0" dirty="0">
                          <a:solidFill>
                            <a:schemeClr val="bg1"/>
                          </a:solidFill>
                          <a:latin typeface="Verdana" panose="020B0604030504040204" pitchFamily="34" charset="0"/>
                          <a:ea typeface="Verdana" panose="020B0604030504040204" pitchFamily="34" charset="0"/>
                        </a:rPr>
                        <a:t>No.</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000" b="0" dirty="0">
                          <a:solidFill>
                            <a:schemeClr val="bg1"/>
                          </a:solidFill>
                          <a:latin typeface="Verdana" panose="020B0604030504040204" pitchFamily="34" charset="0"/>
                          <a:ea typeface="Verdana" panose="020B0604030504040204" pitchFamily="34" charset="0"/>
                        </a:rPr>
                        <a:t>Sample Size at 90% CI</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000" b="0" dirty="0">
                          <a:solidFill>
                            <a:schemeClr val="bg1"/>
                          </a:solidFill>
                          <a:latin typeface="Verdana" panose="020B0604030504040204" pitchFamily="34" charset="0"/>
                          <a:ea typeface="Verdana" panose="020B0604030504040204" pitchFamily="34" charset="0"/>
                        </a:rPr>
                        <a:t>Consumer</a:t>
                      </a:r>
                    </a:p>
                    <a:p>
                      <a:pPr algn="ctr"/>
                      <a:r>
                        <a:rPr lang="en-US" sz="1000" b="0" dirty="0">
                          <a:solidFill>
                            <a:schemeClr val="bg1"/>
                          </a:solidFill>
                          <a:latin typeface="Verdana" panose="020B0604030504040204" pitchFamily="34" charset="0"/>
                          <a:ea typeface="Verdana" panose="020B0604030504040204" pitchFamily="34" charset="0"/>
                        </a:rPr>
                        <a:t>No.</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000" b="0" dirty="0">
                          <a:solidFill>
                            <a:schemeClr val="bg1"/>
                          </a:solidFill>
                          <a:latin typeface="Verdana" panose="020B0604030504040204" pitchFamily="34" charset="0"/>
                          <a:ea typeface="Verdana" panose="020B0604030504040204" pitchFamily="34" charset="0"/>
                        </a:rPr>
                        <a:t>Sample Size at 90% CI</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vMerge="1">
                  <a:txBody>
                    <a:bodyPr/>
                    <a:lstStyle/>
                    <a:p>
                      <a:endParaRPr dirty="0"/>
                    </a:p>
                  </a:txBody>
                  <a:tcPr anchor="ctr">
                    <a:lnL w="12700" cmpd="sng">
                      <a:noFill/>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012169">
                        <a:alpha val="10000"/>
                      </a:srgbClr>
                    </a:solidFill>
                  </a:tcPr>
                </a:tc>
                <a:extLst>
                  <a:ext uri="{0D108BD9-81ED-4DB2-BD59-A6C34878D82A}">
                    <a16:rowId xmlns:a16="http://schemas.microsoft.com/office/drawing/2014/main" val="2923179513"/>
                  </a:ext>
                </a:extLst>
              </a:tr>
              <a:tr h="230748">
                <a:tc>
                  <a:txBody>
                    <a:bodyPr/>
                    <a:lstStyle/>
                    <a:p>
                      <a:pPr algn="l"/>
                      <a:r>
                        <a:rPr lang="en-US" sz="1000" dirty="0">
                          <a:latin typeface="Verdana" panose="020B0604030504040204" pitchFamily="34" charset="0"/>
                          <a:ea typeface="Verdana" panose="020B0604030504040204" pitchFamily="34" charset="0"/>
                        </a:rPr>
                        <a:t>220 KV</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latin typeface="Verdana" panose="020B0604030504040204" pitchFamily="34" charset="0"/>
                          <a:ea typeface="Verdana" panose="020B0604030504040204" pitchFamily="34" charset="0"/>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latin typeface="Verdana" panose="020B0604030504040204" pitchFamily="34" charset="0"/>
                          <a:ea typeface="Verdana" panose="020B0604030504040204" pitchFamily="34" charset="0"/>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000" b="0" i="0" u="none" strike="noStrike" dirty="0">
                          <a:solidFill>
                            <a:srgbClr val="000000"/>
                          </a:solidFill>
                          <a:effectLst/>
                          <a:latin typeface="Verdana" panose="020B0604030504040204" pitchFamily="34" charset="0"/>
                          <a:ea typeface="Verdana" panose="020B0604030504040204" pitchFamily="34" charset="0"/>
                        </a:rPr>
                        <a:t>5</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3546767"/>
                  </a:ext>
                </a:extLst>
              </a:tr>
              <a:tr h="0">
                <a:tc>
                  <a:txBody>
                    <a:bodyPr/>
                    <a:lstStyle/>
                    <a:p>
                      <a:pPr algn="l"/>
                      <a:r>
                        <a:rPr lang="en-US" sz="1000" dirty="0">
                          <a:latin typeface="Verdana" panose="020B0604030504040204" pitchFamily="34" charset="0"/>
                          <a:ea typeface="Verdana" panose="020B0604030504040204" pitchFamily="34" charset="0"/>
                        </a:rPr>
                        <a:t>132 KV</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23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17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latin typeface="Verdana" panose="020B0604030504040204" pitchFamily="34" charset="0"/>
                          <a:ea typeface="Verdana" panose="020B0604030504040204" pitchFamily="34" charset="0"/>
                        </a:rPr>
                        <a:t>16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latin typeface="Verdana" panose="020B0604030504040204" pitchFamily="34" charset="0"/>
                          <a:ea typeface="Verdana" panose="020B0604030504040204" pitchFamily="34" charset="0"/>
                        </a:rPr>
                        <a:t>13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000" b="0" i="0" u="none" strike="noStrike" dirty="0">
                          <a:solidFill>
                            <a:srgbClr val="000000"/>
                          </a:solidFill>
                          <a:effectLst/>
                          <a:latin typeface="Verdana" panose="020B0604030504040204" pitchFamily="34" charset="0"/>
                          <a:ea typeface="Verdana" panose="020B0604030504040204" pitchFamily="34" charset="0"/>
                        </a:rPr>
                        <a:t>30</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00433829"/>
                  </a:ext>
                </a:extLst>
              </a:tr>
              <a:tr h="0">
                <a:tc>
                  <a:txBody>
                    <a:bodyPr/>
                    <a:lstStyle/>
                    <a:p>
                      <a:pPr algn="l"/>
                      <a:r>
                        <a:rPr lang="en-US" sz="1000" dirty="0">
                          <a:latin typeface="Verdana" panose="020B0604030504040204" pitchFamily="34" charset="0"/>
                          <a:ea typeface="Verdana" panose="020B0604030504040204" pitchFamily="34" charset="0"/>
                        </a:rPr>
                        <a:t>33 KV</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85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000" b="0" kern="1200" dirty="0">
                          <a:solidFill>
                            <a:schemeClr val="dk1"/>
                          </a:solidFill>
                          <a:latin typeface="Verdana" panose="020B0604030504040204" pitchFamily="34" charset="0"/>
                          <a:ea typeface="Verdana" panose="020B0604030504040204" pitchFamily="34" charset="0"/>
                          <a:cs typeface="+mn-cs"/>
                        </a:rPr>
                        <a:t>38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latin typeface="Verdana" panose="020B0604030504040204" pitchFamily="34" charset="0"/>
                          <a:ea typeface="Verdana" panose="020B0604030504040204" pitchFamily="34" charset="0"/>
                        </a:rPr>
                        <a:t>163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latin typeface="Verdana" panose="020B0604030504040204" pitchFamily="34" charset="0"/>
                          <a:ea typeface="Verdana" panose="020B0604030504040204" pitchFamily="34" charset="0"/>
                        </a:rPr>
                        <a:t>48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000" b="0" i="0" u="none" strike="noStrike" dirty="0">
                          <a:solidFill>
                            <a:srgbClr val="000000"/>
                          </a:solidFill>
                          <a:effectLst/>
                          <a:latin typeface="Verdana" panose="020B0604030504040204" pitchFamily="34" charset="0"/>
                          <a:ea typeface="Verdana" panose="020B0604030504040204" pitchFamily="34" charset="0"/>
                        </a:rPr>
                        <a:t>86</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5061007"/>
                  </a:ext>
                </a:extLst>
              </a:tr>
              <a:tr h="230748">
                <a:tc>
                  <a:txBody>
                    <a:bodyPr/>
                    <a:lstStyle/>
                    <a:p>
                      <a:pPr algn="l"/>
                      <a:r>
                        <a:rPr lang="en-US" sz="1000" b="0" dirty="0">
                          <a:latin typeface="Verdana" panose="020B0604030504040204" pitchFamily="34" charset="0"/>
                          <a:ea typeface="Verdana" panose="020B0604030504040204" pitchFamily="34" charset="0"/>
                        </a:rPr>
                        <a:t>11 KV</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0" kern="1200" dirty="0">
                        <a:solidFill>
                          <a:schemeClr val="dk1"/>
                        </a:solidFill>
                        <a:latin typeface="Verdana" panose="020B0604030504040204" pitchFamily="34" charset="0"/>
                        <a:ea typeface="Verdana" panose="020B0604030504040204" pitchFamily="34" charset="0"/>
                        <a:cs typeface="+mn-cs"/>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0" kern="1200" dirty="0">
                        <a:solidFill>
                          <a:schemeClr val="dk1"/>
                        </a:solidFill>
                        <a:latin typeface="Verdana" panose="020B0604030504040204" pitchFamily="34" charset="0"/>
                        <a:ea typeface="Verdana" panose="020B0604030504040204" pitchFamily="34" charset="0"/>
                        <a:cs typeface="+mn-cs"/>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b="0" dirty="0">
                          <a:latin typeface="Verdana" panose="020B0604030504040204" pitchFamily="34" charset="0"/>
                          <a:ea typeface="Verdana" panose="020B0604030504040204" pitchFamily="34" charset="0"/>
                        </a:rPr>
                        <a:t>34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b="0" dirty="0">
                          <a:latin typeface="Verdana" panose="020B0604030504040204" pitchFamily="34" charset="0"/>
                          <a:ea typeface="Verdana" panose="020B0604030504040204" pitchFamily="34" charset="0"/>
                        </a:rPr>
                        <a:t>23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000" b="0" i="0" u="none" strike="noStrike" dirty="0">
                          <a:solidFill>
                            <a:srgbClr val="000000"/>
                          </a:solidFill>
                          <a:effectLst/>
                          <a:latin typeface="Verdana" panose="020B0604030504040204" pitchFamily="34" charset="0"/>
                          <a:ea typeface="Verdana" panose="020B0604030504040204" pitchFamily="34" charset="0"/>
                        </a:rPr>
                        <a:t>23</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15401818"/>
                  </a:ext>
                </a:extLst>
              </a:tr>
              <a:tr h="230748">
                <a:tc>
                  <a:txBody>
                    <a:bodyPr/>
                    <a:lstStyle/>
                    <a:p>
                      <a:pPr algn="l"/>
                      <a:r>
                        <a:rPr lang="en-US" sz="1000" b="1" dirty="0">
                          <a:latin typeface="Verdana" panose="020B0604030504040204" pitchFamily="34" charset="0"/>
                          <a:ea typeface="Verdana" panose="020B0604030504040204" pitchFamily="34" charset="0"/>
                        </a:rPr>
                        <a:t>Total</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000" b="1" kern="1200" dirty="0">
                          <a:solidFill>
                            <a:schemeClr val="dk1"/>
                          </a:solidFill>
                          <a:latin typeface="Verdana" panose="020B0604030504040204" pitchFamily="34" charset="0"/>
                          <a:ea typeface="Verdana" panose="020B0604030504040204" pitchFamily="34" charset="0"/>
                          <a:cs typeface="+mn-cs"/>
                        </a:rPr>
                        <a:t>111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000" b="1" kern="1200" dirty="0">
                          <a:solidFill>
                            <a:schemeClr val="dk1"/>
                          </a:solidFill>
                          <a:latin typeface="Verdana" panose="020B0604030504040204" pitchFamily="34" charset="0"/>
                          <a:ea typeface="Verdana" panose="020B0604030504040204" pitchFamily="34" charset="0"/>
                          <a:cs typeface="+mn-cs"/>
                        </a:rPr>
                        <a:t>67</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dirty="0">
                          <a:latin typeface="Verdana" panose="020B0604030504040204" pitchFamily="34" charset="0"/>
                          <a:ea typeface="Verdana" panose="020B0604030504040204" pitchFamily="34" charset="0"/>
                        </a:rPr>
                        <a:t>215</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1" dirty="0">
                          <a:latin typeface="Verdana" panose="020B0604030504040204" pitchFamily="34" charset="0"/>
                          <a:ea typeface="Verdana" panose="020B0604030504040204" pitchFamily="34" charset="0"/>
                        </a:rPr>
                        <a:t>101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1" i="0" u="none" strike="noStrike" dirty="0">
                          <a:solidFill>
                            <a:srgbClr val="000000"/>
                          </a:solidFill>
                          <a:effectLst/>
                          <a:latin typeface="Verdana" panose="020B0604030504040204" pitchFamily="34" charset="0"/>
                          <a:ea typeface="Verdana" panose="020B0604030504040204" pitchFamily="34" charset="0"/>
                        </a:rPr>
                        <a:t>21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1" i="0" u="none" strike="noStrike" dirty="0">
                          <a:solidFill>
                            <a:srgbClr val="000000"/>
                          </a:solidFill>
                          <a:effectLst/>
                          <a:latin typeface="Verdana" panose="020B0604030504040204" pitchFamily="34" charset="0"/>
                          <a:ea typeface="Verdana" panose="020B0604030504040204" pitchFamily="34" charset="0"/>
                        </a:rPr>
                        <a:t>16</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00" b="1" i="0" u="none" strike="noStrike" dirty="0">
                          <a:solidFill>
                            <a:srgbClr val="000000"/>
                          </a:solidFill>
                          <a:effectLst/>
                          <a:latin typeface="Verdana" panose="020B0604030504040204" pitchFamily="34" charset="0"/>
                          <a:ea typeface="Verdana" panose="020B0604030504040204" pitchFamily="34" charset="0"/>
                        </a:rPr>
                        <a:t>160</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8332280"/>
                  </a:ext>
                </a:extLst>
              </a:tr>
            </a:tbl>
          </a:graphicData>
        </a:graphic>
      </p:graphicFrame>
      <p:graphicFrame>
        <p:nvGraphicFramePr>
          <p:cNvPr id="10" name="Chart 9">
            <a:extLst>
              <a:ext uri="{FF2B5EF4-FFF2-40B4-BE49-F238E27FC236}">
                <a16:creationId xmlns:a16="http://schemas.microsoft.com/office/drawing/2014/main" id="{AC179C18-9E81-4E74-BAFF-C7C3F6659308}"/>
              </a:ext>
            </a:extLst>
          </p:cNvPr>
          <p:cNvGraphicFramePr/>
          <p:nvPr/>
        </p:nvGraphicFramePr>
        <p:xfrm>
          <a:off x="383753" y="700546"/>
          <a:ext cx="11188699" cy="1930114"/>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19E91661-066E-4CB4-AFE3-83E777B646C6}"/>
              </a:ext>
            </a:extLst>
          </p:cNvPr>
          <p:cNvSpPr txBox="1"/>
          <p:nvPr/>
        </p:nvSpPr>
        <p:spPr>
          <a:xfrm>
            <a:off x="7205803" y="6581113"/>
            <a:ext cx="3503488"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*Power Purchase Cost excludes Transmission charges</a:t>
            </a:r>
          </a:p>
        </p:txBody>
      </p:sp>
      <p:sp>
        <p:nvSpPr>
          <p:cNvPr id="8" name="Oval 7">
            <a:extLst>
              <a:ext uri="{FF2B5EF4-FFF2-40B4-BE49-F238E27FC236}">
                <a16:creationId xmlns:a16="http://schemas.microsoft.com/office/drawing/2014/main" id="{69A3281E-07CB-4A9C-8B94-77FFA2903A95}"/>
              </a:ext>
            </a:extLst>
          </p:cNvPr>
          <p:cNvSpPr/>
          <p:nvPr/>
        </p:nvSpPr>
        <p:spPr bwMode="gray">
          <a:xfrm>
            <a:off x="11847031" y="1"/>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3</a:t>
            </a:r>
          </a:p>
        </p:txBody>
      </p:sp>
      <p:sp>
        <p:nvSpPr>
          <p:cNvPr id="12" name="Arrow: Left 11">
            <a:extLst>
              <a:ext uri="{FF2B5EF4-FFF2-40B4-BE49-F238E27FC236}">
                <a16:creationId xmlns:a16="http://schemas.microsoft.com/office/drawing/2014/main" id="{E0DB941C-A889-426A-A313-EA144F96AC87}"/>
              </a:ext>
            </a:extLst>
          </p:cNvPr>
          <p:cNvSpPr/>
          <p:nvPr/>
        </p:nvSpPr>
        <p:spPr bwMode="gray">
          <a:xfrm>
            <a:off x="10644749" y="6524739"/>
            <a:ext cx="1460165" cy="368644"/>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4" action="ppaction://hlinksldjump"/>
              </a:rPr>
              <a:t>Back to Home</a:t>
            </a:r>
            <a:endParaRPr lang="en-US" sz="1000" b="1" dirty="0">
              <a:solidFill>
                <a:schemeClr val="bg1"/>
              </a:solidFill>
            </a:endParaRPr>
          </a:p>
        </p:txBody>
      </p:sp>
    </p:spTree>
    <p:extLst>
      <p:ext uri="{BB962C8B-B14F-4D97-AF65-F5344CB8AC3E}">
        <p14:creationId xmlns:p14="http://schemas.microsoft.com/office/powerpoint/2010/main" val="3743794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a:xfrm>
            <a:off x="501652" y="442644"/>
            <a:ext cx="11280446" cy="482266"/>
          </a:xfrm>
        </p:spPr>
        <p:txBody>
          <a:bodyPr anchor="t">
            <a:noAutofit/>
          </a:bodyPr>
          <a:lstStyle/>
          <a:p>
            <a:pPr>
              <a:lnSpc>
                <a:spcPct val="90000"/>
              </a:lnSpc>
            </a:pPr>
            <a:r>
              <a:rPr lang="en-US" sz="1800" b="1" dirty="0">
                <a:latin typeface="Verdana" panose="020B0604030504040204" pitchFamily="34" charset="0"/>
                <a:ea typeface="Verdana" panose="020B0604030504040204" pitchFamily="34" charset="0"/>
              </a:rPr>
              <a:t>Window of Opportunity for exiting High Cost PPA for WBSEDCL ( Rates are as per Issued Tariff Order of WBERC Pertaining to FY 2020-21) </a:t>
            </a:r>
          </a:p>
        </p:txBody>
      </p:sp>
      <p:graphicFrame>
        <p:nvGraphicFramePr>
          <p:cNvPr id="5" name="Chart 4">
            <a:extLst>
              <a:ext uri="{FF2B5EF4-FFF2-40B4-BE49-F238E27FC236}">
                <a16:creationId xmlns:a16="http://schemas.microsoft.com/office/drawing/2014/main" id="{02710186-9B08-4CAE-B194-CD1AF81950EF}"/>
              </a:ext>
            </a:extLst>
          </p:cNvPr>
          <p:cNvGraphicFramePr/>
          <p:nvPr/>
        </p:nvGraphicFramePr>
        <p:xfrm>
          <a:off x="310055" y="1229710"/>
          <a:ext cx="11571889" cy="3742702"/>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639C4AE1-5B19-406E-A596-3EFFEB167BBD}"/>
              </a:ext>
            </a:extLst>
          </p:cNvPr>
          <p:cNvSpPr txBox="1"/>
          <p:nvPr/>
        </p:nvSpPr>
        <p:spPr>
          <a:xfrm>
            <a:off x="501652" y="4972412"/>
            <a:ext cx="11750845" cy="1523494"/>
          </a:xfrm>
          <a:prstGeom prst="rect">
            <a:avLst/>
          </a:prstGeom>
          <a:noFill/>
        </p:spPr>
        <p:txBody>
          <a:bodyPr wrap="square" lIns="91440" tIns="91440" rIns="91440" bIns="91440" rtlCol="0">
            <a:spAutoFit/>
          </a:bodyPr>
          <a:lstStyle/>
          <a:p>
            <a:pPr>
              <a:spcBef>
                <a:spcPts val="600"/>
              </a:spcBef>
              <a:buSzPct val="100000"/>
            </a:pPr>
            <a:r>
              <a:rPr lang="en-US" sz="1200" b="1" i="1" dirty="0">
                <a:solidFill>
                  <a:srgbClr val="313131"/>
                </a:solidFill>
                <a:latin typeface="Verdana" panose="020B0604030504040204" pitchFamily="34" charset="0"/>
                <a:ea typeface="Verdana" panose="020B0604030504040204" pitchFamily="34" charset="0"/>
                <a:cs typeface="Calibri" panose="020F0502020204030204" pitchFamily="34" charset="0"/>
              </a:rPr>
              <a:t>The above analysis is in line with the MOP notification (</a:t>
            </a:r>
            <a:r>
              <a:rPr lang="en-US" sz="1200" b="1" i="1" dirty="0" err="1">
                <a:solidFill>
                  <a:srgbClr val="313131"/>
                </a:solidFill>
                <a:latin typeface="Verdana" panose="020B0604030504040204" pitchFamily="34" charset="0"/>
                <a:ea typeface="Verdana" panose="020B0604030504040204" pitchFamily="34" charset="0"/>
                <a:cs typeface="Calibri" panose="020F0502020204030204" pitchFamily="34" charset="0"/>
              </a:rPr>
              <a:t>F.No</a:t>
            </a:r>
            <a:r>
              <a:rPr lang="en-US" sz="1200" b="1" i="1" dirty="0">
                <a:solidFill>
                  <a:srgbClr val="313131"/>
                </a:solidFill>
                <a:latin typeface="Verdana" panose="020B0604030504040204" pitchFamily="34" charset="0"/>
                <a:ea typeface="Verdana" panose="020B0604030504040204" pitchFamily="34" charset="0"/>
                <a:cs typeface="Calibri" panose="020F0502020204030204" pitchFamily="34" charset="0"/>
              </a:rPr>
              <a:t>. 09/11/2021-RCM ) dated 26</a:t>
            </a:r>
            <a:r>
              <a:rPr lang="en-US" sz="1200" b="1" i="1" baseline="30000" dirty="0">
                <a:solidFill>
                  <a:srgbClr val="313131"/>
                </a:solidFill>
                <a:latin typeface="Verdana" panose="020B0604030504040204" pitchFamily="34" charset="0"/>
                <a:ea typeface="Verdana" panose="020B0604030504040204" pitchFamily="34" charset="0"/>
                <a:cs typeface="Calibri" panose="020F0502020204030204" pitchFamily="34" charset="0"/>
              </a:rPr>
              <a:t>th</a:t>
            </a:r>
            <a:r>
              <a:rPr lang="en-US" sz="1200" b="1" i="1" dirty="0">
                <a:solidFill>
                  <a:srgbClr val="313131"/>
                </a:solidFill>
                <a:latin typeface="Verdana" panose="020B0604030504040204" pitchFamily="34" charset="0"/>
                <a:ea typeface="Verdana" panose="020B0604030504040204" pitchFamily="34" charset="0"/>
                <a:cs typeface="Calibri" panose="020F0502020204030204" pitchFamily="34" charset="0"/>
              </a:rPr>
              <a:t> May 2022</a:t>
            </a:r>
            <a:r>
              <a:rPr lang="en-US" sz="1200" i="1" dirty="0">
                <a:solidFill>
                  <a:srgbClr val="313131"/>
                </a:solidFill>
                <a:latin typeface="Verdana" panose="020B0604030504040204" pitchFamily="34" charset="0"/>
                <a:ea typeface="Verdana" panose="020B0604030504040204" pitchFamily="34" charset="0"/>
                <a:cs typeface="Calibri" panose="020F0502020204030204" pitchFamily="34" charset="0"/>
              </a:rPr>
              <a:t> as highlighted below: </a:t>
            </a:r>
          </a:p>
          <a:p>
            <a:pPr marL="628650" lvl="1" indent="-171450">
              <a:spcBef>
                <a:spcPts val="600"/>
              </a:spcBef>
              <a:buSzPct val="100000"/>
              <a:buFont typeface="Arial" panose="020B0604020202020204" pitchFamily="34" charset="0"/>
              <a:buChar char="•"/>
            </a:pPr>
            <a:r>
              <a:rPr lang="en-US" sz="1200" i="1" dirty="0">
                <a:solidFill>
                  <a:srgbClr val="313131"/>
                </a:solidFill>
                <a:latin typeface="Verdana" panose="020B0604030504040204" pitchFamily="34" charset="0"/>
                <a:ea typeface="Verdana" panose="020B0604030504040204" pitchFamily="34" charset="0"/>
                <a:cs typeface="Calibri" panose="020F0502020204030204" pitchFamily="34" charset="0"/>
              </a:rPr>
              <a:t>Around 58 BUs of thermal power generated by the public, state, and private sector generating stations can be substituted by 30 GW of renewable energy by the FY 26 </a:t>
            </a:r>
          </a:p>
          <a:p>
            <a:pPr marL="628650" lvl="1" indent="-171450">
              <a:spcBef>
                <a:spcPts val="600"/>
              </a:spcBef>
              <a:buSzPct val="100000"/>
              <a:buFont typeface="Arial" panose="020B0604020202020204" pitchFamily="34" charset="0"/>
              <a:buChar char="•"/>
            </a:pPr>
            <a:r>
              <a:rPr lang="en-US" sz="1200" b="0" i="1" dirty="0" err="1">
                <a:solidFill>
                  <a:srgbClr val="2D2D42"/>
                </a:solidFill>
                <a:effectLst/>
                <a:latin typeface="Verdana" panose="020B0604030504040204" pitchFamily="34" charset="0"/>
                <a:ea typeface="Verdana" panose="020B0604030504040204" pitchFamily="34" charset="0"/>
              </a:rPr>
              <a:t>MoP</a:t>
            </a:r>
            <a:r>
              <a:rPr lang="en-US" sz="1200" b="0" i="1" dirty="0">
                <a:solidFill>
                  <a:srgbClr val="2D2D42"/>
                </a:solidFill>
                <a:effectLst/>
                <a:latin typeface="Verdana" panose="020B0604030504040204" pitchFamily="34" charset="0"/>
                <a:ea typeface="Verdana" panose="020B0604030504040204" pitchFamily="34" charset="0"/>
              </a:rPr>
              <a:t> has identified 81 TPS(s) in the central, state, and private sectors to replace coal with renewable power by 2026</a:t>
            </a:r>
            <a:endParaRPr lang="en-US" sz="1200" b="1" i="1" dirty="0">
              <a:solidFill>
                <a:srgbClr val="313131"/>
              </a:solidFill>
              <a:effectLst/>
              <a:latin typeface="Verdana" panose="020B0604030504040204" pitchFamily="34" charset="0"/>
              <a:ea typeface="Verdana" panose="020B0604030504040204" pitchFamily="34" charset="0"/>
              <a:cs typeface="Calibri" panose="020F0502020204030204" pitchFamily="34" charset="0"/>
            </a:endParaRPr>
          </a:p>
          <a:p>
            <a:pPr marL="628650" lvl="1" indent="-171450">
              <a:spcBef>
                <a:spcPts val="600"/>
              </a:spcBef>
              <a:buSzPct val="100000"/>
              <a:buFont typeface="Arial" panose="020B0604020202020204" pitchFamily="34" charset="0"/>
              <a:buChar char="•"/>
            </a:pPr>
            <a:r>
              <a:rPr lang="en-US" sz="1200" b="0" i="1" dirty="0">
                <a:solidFill>
                  <a:srgbClr val="2D2D42"/>
                </a:solidFill>
                <a:effectLst/>
                <a:latin typeface="Verdana" panose="020B0604030504040204" pitchFamily="34" charset="0"/>
                <a:ea typeface="Verdana" panose="020B0604030504040204" pitchFamily="34" charset="0"/>
              </a:rPr>
              <a:t>Generating stations that have installed or procured a higher capacity of power for the purpose of replacement but not scheduled are free to sell such power in the exchanges</a:t>
            </a:r>
            <a:endParaRPr lang="en-US" sz="1200" b="1" i="1" dirty="0">
              <a:solidFill>
                <a:srgbClr val="313131"/>
              </a:solidFill>
              <a:latin typeface="Verdana" panose="020B0604030504040204" pitchFamily="34" charset="0"/>
              <a:ea typeface="Verdana" panose="020B0604030504040204" pitchFamily="34" charset="0"/>
              <a:cs typeface="Calibri" panose="020F0502020204030204" pitchFamily="34" charset="0"/>
            </a:endParaRPr>
          </a:p>
        </p:txBody>
      </p:sp>
      <p:sp>
        <p:nvSpPr>
          <p:cNvPr id="6" name="Oval 5">
            <a:extLst>
              <a:ext uri="{FF2B5EF4-FFF2-40B4-BE49-F238E27FC236}">
                <a16:creationId xmlns:a16="http://schemas.microsoft.com/office/drawing/2014/main" id="{AC0B44AD-4366-483D-9BE6-B0A8F2EE5783}"/>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3</a:t>
            </a:r>
          </a:p>
        </p:txBody>
      </p:sp>
      <p:sp>
        <p:nvSpPr>
          <p:cNvPr id="7" name="Arrow: Left 6">
            <a:extLst>
              <a:ext uri="{FF2B5EF4-FFF2-40B4-BE49-F238E27FC236}">
                <a16:creationId xmlns:a16="http://schemas.microsoft.com/office/drawing/2014/main" id="{B5F291DA-5473-4EF0-AB54-DF8B63AA2C91}"/>
              </a:ext>
            </a:extLst>
          </p:cNvPr>
          <p:cNvSpPr/>
          <p:nvPr/>
        </p:nvSpPr>
        <p:spPr bwMode="gray">
          <a:xfrm>
            <a:off x="10644749" y="6524739"/>
            <a:ext cx="1460165" cy="368644"/>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4" action="ppaction://hlinksldjump"/>
              </a:rPr>
              <a:t>Back to Home</a:t>
            </a:r>
            <a:endParaRPr lang="en-US" sz="1000" b="1" dirty="0">
              <a:solidFill>
                <a:schemeClr val="bg1"/>
              </a:solidFill>
            </a:endParaRPr>
          </a:p>
        </p:txBody>
      </p:sp>
    </p:spTree>
    <p:extLst>
      <p:ext uri="{BB962C8B-B14F-4D97-AF65-F5344CB8AC3E}">
        <p14:creationId xmlns:p14="http://schemas.microsoft.com/office/powerpoint/2010/main" val="211195484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3BA06F7-B1A9-4FDA-AFC2-0D0B24735BEA}"/>
              </a:ext>
            </a:extLst>
          </p:cNvPr>
          <p:cNvSpPr>
            <a:spLocks noGrp="1"/>
          </p:cNvSpPr>
          <p:nvPr>
            <p:ph type="title"/>
          </p:nvPr>
        </p:nvSpPr>
        <p:spPr>
          <a:xfrm>
            <a:off x="501651" y="368601"/>
            <a:ext cx="11188700" cy="368299"/>
          </a:xfrm>
        </p:spPr>
        <p:txBody>
          <a:bodyPr vert="horz"/>
          <a:lstStyle/>
          <a:p>
            <a:pPr algn="just"/>
            <a:r>
              <a:rPr lang="en-US" sz="1800" b="1" dirty="0">
                <a:latin typeface="Verdana" panose="020B0604030504040204" pitchFamily="34" charset="0"/>
                <a:ea typeface="Verdana" panose="020B0604030504040204" pitchFamily="34" charset="0"/>
              </a:rPr>
              <a:t>Power Purchase Portfolio Management needs a Focused Optimization and Real Time Management based on Tariff Order for FY 2020-21 of 7</a:t>
            </a:r>
            <a:r>
              <a:rPr lang="en-US" sz="1800" b="1" baseline="30000" dirty="0">
                <a:latin typeface="Verdana" panose="020B0604030504040204" pitchFamily="34" charset="0"/>
                <a:ea typeface="Verdana" panose="020B0604030504040204" pitchFamily="34" charset="0"/>
              </a:rPr>
              <a:t>th</a:t>
            </a:r>
            <a:r>
              <a:rPr lang="en-US" sz="1800" b="1" dirty="0">
                <a:latin typeface="Verdana" panose="020B0604030504040204" pitchFamily="34" charset="0"/>
                <a:ea typeface="Verdana" panose="020B0604030504040204" pitchFamily="34" charset="0"/>
              </a:rPr>
              <a:t> Control Period for WBSEDCL</a:t>
            </a:r>
            <a:endParaRPr lang="en-US" sz="1800" b="1" i="0" dirty="0">
              <a:solidFill>
                <a:schemeClr val="tx1"/>
              </a:solidFill>
              <a:latin typeface="Verdana" panose="020B0604030504040204" pitchFamily="34" charset="0"/>
              <a:ea typeface="Verdana" panose="020B0604030504040204" pitchFamily="34" charset="0"/>
            </a:endParaRPr>
          </a:p>
        </p:txBody>
      </p:sp>
      <p:cxnSp>
        <p:nvCxnSpPr>
          <p:cNvPr id="7" name="Straight Arrow Connector 6">
            <a:extLst>
              <a:ext uri="{FF2B5EF4-FFF2-40B4-BE49-F238E27FC236}">
                <a16:creationId xmlns:a16="http://schemas.microsoft.com/office/drawing/2014/main" id="{F4042F5F-C129-4513-AC39-698AC173C0FD}"/>
              </a:ext>
            </a:extLst>
          </p:cNvPr>
          <p:cNvCxnSpPr>
            <a:cxnSpLocks/>
          </p:cNvCxnSpPr>
          <p:nvPr/>
        </p:nvCxnSpPr>
        <p:spPr>
          <a:xfrm>
            <a:off x="5765134" y="4886553"/>
            <a:ext cx="596420" cy="5489"/>
          </a:xfrm>
          <a:prstGeom prst="straightConnector1">
            <a:avLst/>
          </a:prstGeom>
          <a:ln w="57150">
            <a:tailEnd type="triangle"/>
          </a:ln>
        </p:spPr>
        <p:style>
          <a:lnRef idx="3">
            <a:schemeClr val="accent6"/>
          </a:lnRef>
          <a:fillRef idx="0">
            <a:schemeClr val="accent6"/>
          </a:fillRef>
          <a:effectRef idx="2">
            <a:schemeClr val="accent6"/>
          </a:effectRef>
          <a:fontRef idx="minor">
            <a:schemeClr val="tx1"/>
          </a:fontRef>
        </p:style>
      </p:cxnSp>
      <p:cxnSp>
        <p:nvCxnSpPr>
          <p:cNvPr id="8" name="Straight Connector 7">
            <a:extLst>
              <a:ext uri="{FF2B5EF4-FFF2-40B4-BE49-F238E27FC236}">
                <a16:creationId xmlns:a16="http://schemas.microsoft.com/office/drawing/2014/main" id="{0D6352B8-5F91-4EF6-94E2-F464B9B86842}"/>
              </a:ext>
            </a:extLst>
          </p:cNvPr>
          <p:cNvCxnSpPr>
            <a:cxnSpLocks/>
          </p:cNvCxnSpPr>
          <p:nvPr/>
        </p:nvCxnSpPr>
        <p:spPr>
          <a:xfrm>
            <a:off x="483482" y="3423695"/>
            <a:ext cx="511537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C98741-CB0E-4EE0-9846-598ADEA748E8}"/>
              </a:ext>
            </a:extLst>
          </p:cNvPr>
          <p:cNvCxnSpPr>
            <a:cxnSpLocks/>
          </p:cNvCxnSpPr>
          <p:nvPr/>
        </p:nvCxnSpPr>
        <p:spPr>
          <a:xfrm>
            <a:off x="6375347" y="3239197"/>
            <a:ext cx="550457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E2B032D-5279-47D4-9AD0-653FCC4839AF}"/>
              </a:ext>
            </a:extLst>
          </p:cNvPr>
          <p:cNvSpPr/>
          <p:nvPr/>
        </p:nvSpPr>
        <p:spPr bwMode="gray">
          <a:xfrm>
            <a:off x="1538449" y="3106479"/>
            <a:ext cx="9115102" cy="424616"/>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Simulated Estimation of savings by optimizing the Purchase Portfolio – DVC, Farakka U#1&amp;2 &amp; Kolaghat  procurement entirely replaced with low-cost power purchases cost ( Avoidance calculated on total Cost basis )</a:t>
            </a:r>
          </a:p>
        </p:txBody>
      </p:sp>
      <p:sp>
        <p:nvSpPr>
          <p:cNvPr id="11" name="TextBox 10">
            <a:extLst>
              <a:ext uri="{FF2B5EF4-FFF2-40B4-BE49-F238E27FC236}">
                <a16:creationId xmlns:a16="http://schemas.microsoft.com/office/drawing/2014/main" id="{B83C5E4F-6D8B-4261-8EAC-F65A0D03380A}"/>
              </a:ext>
            </a:extLst>
          </p:cNvPr>
          <p:cNvSpPr txBox="1"/>
          <p:nvPr/>
        </p:nvSpPr>
        <p:spPr>
          <a:xfrm>
            <a:off x="501652" y="1024808"/>
            <a:ext cx="3090634" cy="2000548"/>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91440" rIns="91440" bIns="91440" rtlCol="0">
            <a:spAutoFit/>
          </a:bodyPr>
          <a:lstStyle/>
          <a:p>
            <a:pPr marL="171450" marR="0" lvl="0" indent="-171450" algn="just" defTabSz="914400" rtl="0" eaLnBrk="1" fontAlgn="auto" latinLnBrk="0" hangingPunct="1">
              <a:spcBef>
                <a:spcPts val="60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Retirement/revision of PPAs with higher cost incidence. </a:t>
            </a:r>
          </a:p>
          <a:p>
            <a:pPr marL="171450" marR="0" lvl="0" indent="-171450" algn="just" defTabSz="914400" rtl="0" eaLnBrk="1" fontAlgn="auto" latinLnBrk="0" hangingPunct="1">
              <a:spcBef>
                <a:spcPts val="60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Renewable Portfolio addition will progressively reduce power purchase cost burden  (500 MW Solar Plant @ 25% </a:t>
            </a:r>
            <a:r>
              <a:rPr lang="en-US" sz="1400" dirty="0">
                <a:solidFill>
                  <a:prstClr val="black"/>
                </a:solidFill>
                <a:latin typeface="Calibri"/>
              </a:rPr>
              <a:t>CUF</a:t>
            </a:r>
            <a:r>
              <a:rPr kumimoji="0" lang="en-US" sz="1400" b="0" i="0" u="none" strike="noStrike" kern="1200" cap="none" spc="0" normalizeH="0" baseline="0" noProof="0" dirty="0">
                <a:ln>
                  <a:noFill/>
                </a:ln>
                <a:solidFill>
                  <a:prstClr val="black"/>
                </a:solidFill>
                <a:effectLst/>
                <a:uLnTx/>
                <a:uFillTx/>
                <a:latin typeface="Calibri"/>
                <a:ea typeface="+mn-ea"/>
                <a:cs typeface="+mn-cs"/>
              </a:rPr>
              <a:t> will enable avoiding energy charges payment by ~ Rs. 50 Crores </a:t>
            </a:r>
            <a:r>
              <a:rPr kumimoji="0" lang="en-US" sz="1500" b="0" i="0" u="none" strike="noStrike" kern="1200" cap="none" spc="0" normalizeH="0" baseline="0" noProof="0" dirty="0">
                <a:ln>
                  <a:noFill/>
                </a:ln>
                <a:solidFill>
                  <a:prstClr val="black"/>
                </a:solidFill>
                <a:effectLst/>
                <a:uLnTx/>
                <a:uFillTx/>
                <a:latin typeface="Calibri"/>
                <a:ea typeface="+mn-ea"/>
                <a:cs typeface="+mn-cs"/>
              </a:rPr>
              <a:t>annually</a:t>
            </a:r>
          </a:p>
        </p:txBody>
      </p:sp>
      <p:sp>
        <p:nvSpPr>
          <p:cNvPr id="12" name="Rectangle 11">
            <a:extLst>
              <a:ext uri="{FF2B5EF4-FFF2-40B4-BE49-F238E27FC236}">
                <a16:creationId xmlns:a16="http://schemas.microsoft.com/office/drawing/2014/main" id="{2BCDA0A0-BF94-41A8-9E48-84C3A6A72052}"/>
              </a:ext>
            </a:extLst>
          </p:cNvPr>
          <p:cNvSpPr/>
          <p:nvPr/>
        </p:nvSpPr>
        <p:spPr bwMode="gray">
          <a:xfrm>
            <a:off x="483482" y="6315476"/>
            <a:ext cx="11396435" cy="229410"/>
          </a:xfrm>
          <a:prstGeom prst="rect">
            <a:avLst/>
          </a:prstGeom>
          <a:solidFill>
            <a:schemeClr val="accent5">
              <a:lumMod val="20000"/>
              <a:lumOff val="80000"/>
            </a:schemeClr>
          </a:solidFill>
          <a:ln>
            <a:solidFill>
              <a:schemeClr val="tx1"/>
            </a:solidFill>
            <a:prstDash val="dash"/>
          </a:ln>
        </p:spPr>
        <p:txBody>
          <a:bodyPr wrap="square" lIns="72000" tIns="72000" rIns="72000" bIns="72000" rtlCol="0" anchor="ctr" anchorCtr="0">
            <a:noAutofit/>
          </a:bodyPr>
          <a:lstStyle/>
          <a:p>
            <a:pPr marR="0" lvl="0" algn="ctr" defTabSz="914342" rtl="0" eaLnBrk="1" fontAlgn="auto" latinLnBrk="0" hangingPunct="1">
              <a:lnSpc>
                <a:spcPct val="100000"/>
              </a:lnSpc>
              <a:spcBef>
                <a:spcPts val="0"/>
              </a:spcBef>
              <a:spcAft>
                <a:spcPts val="0"/>
              </a:spcAft>
              <a:buClrTx/>
              <a:buSzTx/>
              <a:tabLst/>
              <a:defRPr/>
            </a:pPr>
            <a:r>
              <a:rPr kumimoji="0" lang="en-US" sz="1200" b="0" i="1"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As it seems from the above, if we consider the cheaper power source at its normative utilization factor, the net savings in power purchase cost is ~</a:t>
            </a:r>
            <a:r>
              <a:rPr lang="en-US" sz="1200" i="1" dirty="0">
                <a:solidFill>
                  <a:prstClr val="black"/>
                </a:solidFill>
                <a:latin typeface="Calibri" panose="020F0502020204030204" pitchFamily="34" charset="0"/>
                <a:ea typeface="Verdana" panose="020B0604030504040204" pitchFamily="34" charset="0"/>
                <a:cs typeface="Calibri" panose="020F0502020204030204" pitchFamily="34" charset="0"/>
              </a:rPr>
              <a:t>150</a:t>
            </a:r>
            <a:r>
              <a:rPr kumimoji="0" lang="en-US" sz="1200" b="0" i="1"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 Crore (</a:t>
            </a:r>
            <a:r>
              <a:rPr lang="en-US" sz="1200" i="1" dirty="0">
                <a:solidFill>
                  <a:prstClr val="black"/>
                </a:solidFill>
                <a:latin typeface="Calibri" panose="020F0502020204030204" pitchFamily="34" charset="0"/>
                <a:ea typeface="Verdana" panose="020B0604030504040204" pitchFamily="34" charset="0"/>
                <a:cs typeface="Calibri" panose="020F0502020204030204" pitchFamily="34" charset="0"/>
              </a:rPr>
              <a:t>i.e., Rs. 0.03 / kwh)</a:t>
            </a:r>
            <a:r>
              <a:rPr kumimoji="0" lang="en-US" sz="1200" b="0" i="1"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 </a:t>
            </a:r>
          </a:p>
        </p:txBody>
      </p:sp>
      <p:graphicFrame>
        <p:nvGraphicFramePr>
          <p:cNvPr id="4" name="Chart 3">
            <a:extLst>
              <a:ext uri="{FF2B5EF4-FFF2-40B4-BE49-F238E27FC236}">
                <a16:creationId xmlns:a16="http://schemas.microsoft.com/office/drawing/2014/main" id="{48AB5454-A5E7-48A4-8CE6-B12249823786}"/>
              </a:ext>
            </a:extLst>
          </p:cNvPr>
          <p:cNvGraphicFramePr/>
          <p:nvPr/>
        </p:nvGraphicFramePr>
        <p:xfrm>
          <a:off x="3712029" y="1024808"/>
          <a:ext cx="8085791" cy="200054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Table 15">
            <a:extLst>
              <a:ext uri="{FF2B5EF4-FFF2-40B4-BE49-F238E27FC236}">
                <a16:creationId xmlns:a16="http://schemas.microsoft.com/office/drawing/2014/main" id="{86E07A9C-9385-48A4-93B4-EE07A103442B}"/>
              </a:ext>
            </a:extLst>
          </p:cNvPr>
          <p:cNvGraphicFramePr>
            <a:graphicFrameLocks noGrp="1"/>
          </p:cNvGraphicFramePr>
          <p:nvPr/>
        </p:nvGraphicFramePr>
        <p:xfrm>
          <a:off x="483483" y="3596642"/>
          <a:ext cx="5224236" cy="2590800"/>
        </p:xfrm>
        <a:graphic>
          <a:graphicData uri="http://schemas.openxmlformats.org/drawingml/2006/table">
            <a:tbl>
              <a:tblPr/>
              <a:tblGrid>
                <a:gridCol w="1254586">
                  <a:extLst>
                    <a:ext uri="{9D8B030D-6E8A-4147-A177-3AD203B41FA5}">
                      <a16:colId xmlns:a16="http://schemas.microsoft.com/office/drawing/2014/main" val="3805520950"/>
                    </a:ext>
                  </a:extLst>
                </a:gridCol>
                <a:gridCol w="767199">
                  <a:extLst>
                    <a:ext uri="{9D8B030D-6E8A-4147-A177-3AD203B41FA5}">
                      <a16:colId xmlns:a16="http://schemas.microsoft.com/office/drawing/2014/main" val="3871342461"/>
                    </a:ext>
                  </a:extLst>
                </a:gridCol>
                <a:gridCol w="717380">
                  <a:extLst>
                    <a:ext uri="{9D8B030D-6E8A-4147-A177-3AD203B41FA5}">
                      <a16:colId xmlns:a16="http://schemas.microsoft.com/office/drawing/2014/main" val="3761481757"/>
                    </a:ext>
                  </a:extLst>
                </a:gridCol>
                <a:gridCol w="677527">
                  <a:extLst>
                    <a:ext uri="{9D8B030D-6E8A-4147-A177-3AD203B41FA5}">
                      <a16:colId xmlns:a16="http://schemas.microsoft.com/office/drawing/2014/main" val="3482274065"/>
                    </a:ext>
                  </a:extLst>
                </a:gridCol>
                <a:gridCol w="986399">
                  <a:extLst>
                    <a:ext uri="{9D8B030D-6E8A-4147-A177-3AD203B41FA5}">
                      <a16:colId xmlns:a16="http://schemas.microsoft.com/office/drawing/2014/main" val="638891484"/>
                    </a:ext>
                  </a:extLst>
                </a:gridCol>
                <a:gridCol w="821145">
                  <a:extLst>
                    <a:ext uri="{9D8B030D-6E8A-4147-A177-3AD203B41FA5}">
                      <a16:colId xmlns:a16="http://schemas.microsoft.com/office/drawing/2014/main" val="3071829340"/>
                    </a:ext>
                  </a:extLst>
                </a:gridCol>
              </a:tblGrid>
              <a:tr h="136159">
                <a:tc rowSpan="2">
                  <a:txBody>
                    <a:bodyPr/>
                    <a:lstStyle/>
                    <a:p>
                      <a:pPr algn="ctr" rtl="0" fontAlgn="ctr"/>
                      <a:r>
                        <a:rPr lang="en-US" sz="1000" b="1" i="0" u="none" strike="noStrike" dirty="0">
                          <a:solidFill>
                            <a:srgbClr val="FFFFFF"/>
                          </a:solidFill>
                          <a:effectLst/>
                          <a:latin typeface="Calibri" panose="020F0502020204030204" pitchFamily="34" charset="0"/>
                        </a:rPr>
                        <a:t>Source</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dirty="0">
                          <a:solidFill>
                            <a:srgbClr val="FFFFFF"/>
                          </a:solidFill>
                          <a:effectLst/>
                          <a:latin typeface="Calibri" panose="020F0502020204030204" pitchFamily="34" charset="0"/>
                        </a:rPr>
                        <a:t>Allocation (in MW)</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a:solidFill>
                            <a:srgbClr val="FFFFFF"/>
                          </a:solidFill>
                          <a:effectLst/>
                          <a:latin typeface="Calibri" panose="020F0502020204030204" pitchFamily="34" charset="0"/>
                        </a:rPr>
                        <a:t>Approved (MU)</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dirty="0">
                          <a:solidFill>
                            <a:srgbClr val="FFFFFF"/>
                          </a:solidFill>
                          <a:effectLst/>
                          <a:latin typeface="Calibri" panose="020F0502020204030204" pitchFamily="34" charset="0"/>
                        </a:rPr>
                        <a:t>Utilization Factor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Average Cost</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Average Rate</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2243414706"/>
                  </a:ext>
                </a:extLst>
              </a:tr>
              <a:tr h="13615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000" b="1" i="0" u="none" strike="noStrike">
                          <a:solidFill>
                            <a:srgbClr val="FFFFFF"/>
                          </a:solidFill>
                          <a:effectLst/>
                          <a:latin typeface="Calibri" panose="020F0502020204030204" pitchFamily="34" charset="0"/>
                        </a:rPr>
                        <a:t>(Crore)</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 ( Rs/KWh)</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6BC25"/>
                    </a:solidFill>
                  </a:tcPr>
                </a:tc>
                <a:extLst>
                  <a:ext uri="{0D108BD9-81ED-4DB2-BD59-A6C34878D82A}">
                    <a16:rowId xmlns:a16="http://schemas.microsoft.com/office/drawing/2014/main" val="4177466443"/>
                  </a:ext>
                </a:extLst>
              </a:tr>
              <a:tr h="136159">
                <a:tc>
                  <a:txBody>
                    <a:bodyPr/>
                    <a:lstStyle/>
                    <a:p>
                      <a:pPr algn="l" rtl="0" fontAlgn="ctr"/>
                      <a:r>
                        <a:rPr lang="en-US" sz="1000" b="0" i="0" u="none" strike="noStrike" dirty="0">
                          <a:solidFill>
                            <a:srgbClr val="FF0000"/>
                          </a:solidFill>
                          <a:effectLst/>
                          <a:latin typeface="Calibri" panose="020F0502020204030204" pitchFamily="34" charset="0"/>
                        </a:rPr>
                        <a:t>Kolaghat</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FF0000"/>
                          </a:solidFill>
                          <a:effectLst/>
                          <a:latin typeface="Calibri" panose="020F0502020204030204" pitchFamily="34" charset="0"/>
                        </a:rPr>
                        <a:t>1139</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1710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17%</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FF0000"/>
                          </a:solidFill>
                          <a:effectLst/>
                          <a:latin typeface="Calibri" panose="020F0502020204030204" pitchFamily="34" charset="0"/>
                        </a:rPr>
                        <a:t>594</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3.48</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80010743"/>
                  </a:ext>
                </a:extLst>
              </a:tr>
              <a:tr h="136159">
                <a:tc>
                  <a:txBody>
                    <a:bodyPr/>
                    <a:lstStyle/>
                    <a:p>
                      <a:pPr algn="l" rtl="0" fontAlgn="ctr"/>
                      <a:r>
                        <a:rPr lang="en-US" sz="1000" b="0" i="0" u="none" strike="noStrike" dirty="0">
                          <a:solidFill>
                            <a:srgbClr val="FF0000"/>
                          </a:solidFill>
                          <a:effectLst/>
                          <a:latin typeface="Calibri" panose="020F0502020204030204" pitchFamily="34" charset="0"/>
                        </a:rPr>
                        <a:t>DVC</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FF0000"/>
                          </a:solidFill>
                          <a:effectLst/>
                          <a:latin typeface="Calibri" panose="020F0502020204030204" pitchFamily="34" charset="0"/>
                        </a:rPr>
                        <a:t>250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1771</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81%</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FF0000"/>
                          </a:solidFill>
                          <a:effectLst/>
                          <a:latin typeface="Calibri" panose="020F0502020204030204" pitchFamily="34" charset="0"/>
                        </a:rPr>
                        <a:t>796</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4.49</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131096110"/>
                  </a:ext>
                </a:extLst>
              </a:tr>
              <a:tr h="136159">
                <a:tc>
                  <a:txBody>
                    <a:bodyPr/>
                    <a:lstStyle/>
                    <a:p>
                      <a:pPr algn="l" rtl="0" fontAlgn="ctr"/>
                      <a:r>
                        <a:rPr lang="en-US" sz="1000" b="0" i="0" u="none" strike="noStrike">
                          <a:solidFill>
                            <a:srgbClr val="FF0000"/>
                          </a:solidFill>
                          <a:effectLst/>
                          <a:latin typeface="Calibri" panose="020F0502020204030204" pitchFamily="34" charset="0"/>
                        </a:rPr>
                        <a:t>Farakka  U#1&amp;2</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FF0000"/>
                          </a:solidFill>
                          <a:effectLst/>
                          <a:latin typeface="Calibri" panose="020F0502020204030204" pitchFamily="34" charset="0"/>
                        </a:rPr>
                        <a:t>476</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3546</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85%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panose="020F0502020204030204" pitchFamily="34" charset="0"/>
                        </a:rPr>
                        <a:t>1255</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3.54</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75805275"/>
                  </a:ext>
                </a:extLst>
              </a:tr>
              <a:tr h="272318">
                <a:tc>
                  <a:txBody>
                    <a:bodyPr/>
                    <a:lstStyle/>
                    <a:p>
                      <a:pPr algn="l" rtl="0" fontAlgn="ctr"/>
                      <a:r>
                        <a:rPr lang="en-US" sz="1000" b="0" i="0" u="none" strike="noStrike">
                          <a:solidFill>
                            <a:srgbClr val="000000"/>
                          </a:solidFill>
                          <a:effectLst/>
                          <a:latin typeface="Calibri" panose="020F0502020204030204" pitchFamily="34" charset="0"/>
                        </a:rPr>
                        <a:t>WBPDCL excl. Kolaghat</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3170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21943</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79%</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6882</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3.14</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553407692"/>
                  </a:ext>
                </a:extLst>
              </a:tr>
              <a:tr h="136159">
                <a:tc>
                  <a:txBody>
                    <a:bodyPr/>
                    <a:lstStyle/>
                    <a:p>
                      <a:pPr algn="l" rtl="0" fontAlgn="ctr"/>
                      <a:r>
                        <a:rPr lang="en-US" sz="1000" b="0" i="0" u="none" strike="noStrike">
                          <a:solidFill>
                            <a:srgbClr val="000000"/>
                          </a:solidFill>
                          <a:effectLst/>
                          <a:latin typeface="Calibri" panose="020F0502020204030204" pitchFamily="34" charset="0"/>
                        </a:rPr>
                        <a:t>DPL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502</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3518</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80%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panose="020F0502020204030204" pitchFamily="34" charset="0"/>
                        </a:rPr>
                        <a:t>1352</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3.84</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44473320"/>
                  </a:ext>
                </a:extLst>
              </a:tr>
              <a:tr h="272318">
                <a:tc>
                  <a:txBody>
                    <a:bodyPr/>
                    <a:lstStyle/>
                    <a:p>
                      <a:pPr algn="l" rtl="0" fontAlgn="ctr"/>
                      <a:r>
                        <a:rPr lang="en-US" sz="1000" b="0" i="0" u="none" strike="noStrike">
                          <a:solidFill>
                            <a:srgbClr val="000000"/>
                          </a:solidFill>
                          <a:effectLst/>
                          <a:latin typeface="Calibri" panose="020F0502020204030204" pitchFamily="34" charset="0"/>
                        </a:rPr>
                        <a:t>NTPC excl. Farakka U#1&amp;2</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618</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3680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68%</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panose="020F0502020204030204" pitchFamily="34" charset="0"/>
                        </a:rPr>
                        <a:t>1343</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3.65</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665478189"/>
                  </a:ext>
                </a:extLst>
              </a:tr>
              <a:tr h="136159">
                <a:tc>
                  <a:txBody>
                    <a:bodyPr/>
                    <a:lstStyle/>
                    <a:p>
                      <a:pPr algn="l" rtl="0" fontAlgn="ctr"/>
                      <a:r>
                        <a:rPr lang="en-US" sz="1000" b="0" i="0" u="none" strike="noStrike">
                          <a:solidFill>
                            <a:srgbClr val="000000"/>
                          </a:solidFill>
                          <a:effectLst/>
                          <a:latin typeface="Calibri" panose="020F0502020204030204" pitchFamily="34" charset="0"/>
                        </a:rPr>
                        <a:t>PTC -Thermal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300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1242</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47%</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panose="020F0502020204030204" pitchFamily="34" charset="0"/>
                        </a:rPr>
                        <a:t>578</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4.65</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45823362"/>
                  </a:ext>
                </a:extLst>
              </a:tr>
              <a:tr h="136159">
                <a:tc>
                  <a:txBody>
                    <a:bodyPr/>
                    <a:lstStyle/>
                    <a:p>
                      <a:pPr algn="l" rtl="0" fontAlgn="ctr"/>
                      <a:r>
                        <a:rPr lang="en-US" sz="1000" b="0" i="0" u="none" strike="noStrike">
                          <a:solidFill>
                            <a:srgbClr val="000000"/>
                          </a:solidFill>
                          <a:effectLst/>
                          <a:latin typeface="Calibri" panose="020F0502020204030204" pitchFamily="34" charset="0"/>
                        </a:rPr>
                        <a:t>HMEL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270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2010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85%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1040</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5.17</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070041984"/>
                  </a:ext>
                </a:extLst>
              </a:tr>
              <a:tr h="136159">
                <a:tc>
                  <a:txBody>
                    <a:bodyPr/>
                    <a:lstStyle/>
                    <a:p>
                      <a:pPr algn="l" rtl="0" fontAlgn="ctr"/>
                      <a:r>
                        <a:rPr lang="en-US" sz="1000" b="0" i="0" u="none" strike="noStrike">
                          <a:solidFill>
                            <a:srgbClr val="000000"/>
                          </a:solidFill>
                          <a:effectLst/>
                          <a:latin typeface="Calibri" panose="020F0502020204030204" pitchFamily="34" charset="0"/>
                        </a:rPr>
                        <a:t>PTC-Hydro</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985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3297</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38%</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990</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3.00</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705514666"/>
                  </a:ext>
                </a:extLst>
              </a:tr>
              <a:tr h="136159">
                <a:tc>
                  <a:txBody>
                    <a:bodyPr/>
                    <a:lstStyle/>
                    <a:p>
                      <a:pPr algn="l" rtl="0" fontAlgn="ctr"/>
                      <a:r>
                        <a:rPr lang="en-US" sz="1000" b="0" i="0" u="none" strike="noStrike">
                          <a:solidFill>
                            <a:srgbClr val="000000"/>
                          </a:solidFill>
                          <a:effectLst/>
                          <a:latin typeface="Calibri" panose="020F0502020204030204" pitchFamily="34" charset="0"/>
                        </a:rPr>
                        <a:t>NHPC</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426</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1865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795</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4.26</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812887187"/>
                  </a:ext>
                </a:extLst>
              </a:tr>
              <a:tr h="136159">
                <a:tc>
                  <a:txBody>
                    <a:bodyPr/>
                    <a:lstStyle/>
                    <a:p>
                      <a:pPr algn="l" rtl="0" fontAlgn="ctr"/>
                      <a:r>
                        <a:rPr lang="en-US" sz="1000" b="0" i="0" u="none" strike="noStrike">
                          <a:solidFill>
                            <a:srgbClr val="000000"/>
                          </a:solidFill>
                          <a:effectLst/>
                          <a:latin typeface="Calibri" panose="020F0502020204030204" pitchFamily="34" charset="0"/>
                        </a:rPr>
                        <a:t>Other</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5331</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1909</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3.58</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699905730"/>
                  </a:ext>
                </a:extLst>
              </a:tr>
              <a:tr h="136159">
                <a:tc>
                  <a:txBody>
                    <a:bodyPr/>
                    <a:lstStyle/>
                    <a:p>
                      <a:pPr algn="l" rtl="0" fontAlgn="ctr"/>
                      <a:r>
                        <a:rPr lang="en-US" sz="1000" b="1" i="0" u="none" strike="noStrike">
                          <a:solidFill>
                            <a:srgbClr val="000000"/>
                          </a:solidFill>
                          <a:effectLst/>
                          <a:latin typeface="Calibri" panose="020F0502020204030204" pitchFamily="34" charset="0"/>
                        </a:rPr>
                        <a:t>Total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a:solidFill>
                            <a:srgbClr val="000000"/>
                          </a:solidFill>
                          <a:effectLst/>
                          <a:latin typeface="Calibri" panose="020F0502020204030204" pitchFamily="34" charset="0"/>
                        </a:rPr>
                        <a:t>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a:solidFill>
                            <a:srgbClr val="000000"/>
                          </a:solidFill>
                          <a:effectLst/>
                          <a:latin typeface="Calibri" panose="020F0502020204030204" pitchFamily="34" charset="0"/>
                        </a:rPr>
                        <a:t>49913</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a:solidFill>
                            <a:srgbClr val="000000"/>
                          </a:solidFill>
                          <a:effectLst/>
                          <a:latin typeface="Calibri" panose="020F0502020204030204" pitchFamily="34" charset="0"/>
                        </a:rPr>
                        <a:t>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a:solidFill>
                            <a:srgbClr val="000000"/>
                          </a:solidFill>
                          <a:effectLst/>
                          <a:latin typeface="Calibri" panose="020F0502020204030204" pitchFamily="34" charset="0"/>
                        </a:rPr>
                        <a:t>17535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3.51</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0199248"/>
                  </a:ext>
                </a:extLst>
              </a:tr>
            </a:tbl>
          </a:graphicData>
        </a:graphic>
      </p:graphicFrame>
      <p:graphicFrame>
        <p:nvGraphicFramePr>
          <p:cNvPr id="19" name="Table 18">
            <a:extLst>
              <a:ext uri="{FF2B5EF4-FFF2-40B4-BE49-F238E27FC236}">
                <a16:creationId xmlns:a16="http://schemas.microsoft.com/office/drawing/2014/main" id="{2FDEDE97-A77A-47DD-BB2D-943991508F13}"/>
              </a:ext>
            </a:extLst>
          </p:cNvPr>
          <p:cNvGraphicFramePr>
            <a:graphicFrameLocks noGrp="1"/>
          </p:cNvGraphicFramePr>
          <p:nvPr/>
        </p:nvGraphicFramePr>
        <p:xfrm>
          <a:off x="6418969" y="3596642"/>
          <a:ext cx="5460948" cy="2590800"/>
        </p:xfrm>
        <a:graphic>
          <a:graphicData uri="http://schemas.openxmlformats.org/drawingml/2006/table">
            <a:tbl>
              <a:tblPr/>
              <a:tblGrid>
                <a:gridCol w="1311432">
                  <a:extLst>
                    <a:ext uri="{9D8B030D-6E8A-4147-A177-3AD203B41FA5}">
                      <a16:colId xmlns:a16="http://schemas.microsoft.com/office/drawing/2014/main" val="3805520950"/>
                    </a:ext>
                  </a:extLst>
                </a:gridCol>
                <a:gridCol w="801961">
                  <a:extLst>
                    <a:ext uri="{9D8B030D-6E8A-4147-A177-3AD203B41FA5}">
                      <a16:colId xmlns:a16="http://schemas.microsoft.com/office/drawing/2014/main" val="3871342461"/>
                    </a:ext>
                  </a:extLst>
                </a:gridCol>
                <a:gridCol w="749885">
                  <a:extLst>
                    <a:ext uri="{9D8B030D-6E8A-4147-A177-3AD203B41FA5}">
                      <a16:colId xmlns:a16="http://schemas.microsoft.com/office/drawing/2014/main" val="3761481757"/>
                    </a:ext>
                  </a:extLst>
                </a:gridCol>
                <a:gridCol w="708226">
                  <a:extLst>
                    <a:ext uri="{9D8B030D-6E8A-4147-A177-3AD203B41FA5}">
                      <a16:colId xmlns:a16="http://schemas.microsoft.com/office/drawing/2014/main" val="3482274065"/>
                    </a:ext>
                  </a:extLst>
                </a:gridCol>
                <a:gridCol w="1031093">
                  <a:extLst>
                    <a:ext uri="{9D8B030D-6E8A-4147-A177-3AD203B41FA5}">
                      <a16:colId xmlns:a16="http://schemas.microsoft.com/office/drawing/2014/main" val="638891484"/>
                    </a:ext>
                  </a:extLst>
                </a:gridCol>
                <a:gridCol w="858351">
                  <a:extLst>
                    <a:ext uri="{9D8B030D-6E8A-4147-A177-3AD203B41FA5}">
                      <a16:colId xmlns:a16="http://schemas.microsoft.com/office/drawing/2014/main" val="3071829340"/>
                    </a:ext>
                  </a:extLst>
                </a:gridCol>
              </a:tblGrid>
              <a:tr h="136159">
                <a:tc rowSpan="2">
                  <a:txBody>
                    <a:bodyPr/>
                    <a:lstStyle/>
                    <a:p>
                      <a:pPr algn="ctr" rtl="0" fontAlgn="ctr"/>
                      <a:r>
                        <a:rPr lang="en-US" sz="1000" b="1" i="0" u="none" strike="noStrike" dirty="0">
                          <a:solidFill>
                            <a:srgbClr val="FFFFFF"/>
                          </a:solidFill>
                          <a:effectLst/>
                          <a:latin typeface="Calibri" panose="020F0502020204030204" pitchFamily="34" charset="0"/>
                        </a:rPr>
                        <a:t>Source</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dirty="0">
                          <a:solidFill>
                            <a:srgbClr val="FFFFFF"/>
                          </a:solidFill>
                          <a:effectLst/>
                          <a:latin typeface="Calibri" panose="020F0502020204030204" pitchFamily="34" charset="0"/>
                        </a:rPr>
                        <a:t>Allocation (in MW)</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a:solidFill>
                            <a:srgbClr val="FFFFFF"/>
                          </a:solidFill>
                          <a:effectLst/>
                          <a:latin typeface="Calibri" panose="020F0502020204030204" pitchFamily="34" charset="0"/>
                        </a:rPr>
                        <a:t>Approved (MU)</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dirty="0">
                          <a:solidFill>
                            <a:srgbClr val="FFFFFF"/>
                          </a:solidFill>
                          <a:effectLst/>
                          <a:latin typeface="Calibri" panose="020F0502020204030204" pitchFamily="34" charset="0"/>
                        </a:rPr>
                        <a:t>Utilization Factor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Average Cost</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Average Rate</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2243414706"/>
                  </a:ext>
                </a:extLst>
              </a:tr>
              <a:tr h="13615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000" b="1" i="0" u="none" strike="noStrike">
                          <a:solidFill>
                            <a:srgbClr val="FFFFFF"/>
                          </a:solidFill>
                          <a:effectLst/>
                          <a:latin typeface="Calibri" panose="020F0502020204030204" pitchFamily="34" charset="0"/>
                        </a:rPr>
                        <a:t>(Crore)</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 ( Rs/KWh)</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6BC25"/>
                    </a:solidFill>
                  </a:tcPr>
                </a:tc>
                <a:extLst>
                  <a:ext uri="{0D108BD9-81ED-4DB2-BD59-A6C34878D82A}">
                    <a16:rowId xmlns:a16="http://schemas.microsoft.com/office/drawing/2014/main" val="4177466443"/>
                  </a:ext>
                </a:extLst>
              </a:tr>
              <a:tr h="136159">
                <a:tc>
                  <a:txBody>
                    <a:bodyPr/>
                    <a:lstStyle/>
                    <a:p>
                      <a:pPr algn="l" rtl="0" fontAlgn="ctr"/>
                      <a:r>
                        <a:rPr lang="en-US" sz="1000" b="0" i="0" u="none" strike="noStrike" dirty="0">
                          <a:solidFill>
                            <a:srgbClr val="FF0000"/>
                          </a:solidFill>
                          <a:effectLst/>
                          <a:latin typeface="Calibri" panose="020F0502020204030204" pitchFamily="34" charset="0"/>
                        </a:rPr>
                        <a:t>Kolaghat</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rowSpan="3" gridSpan="5">
                  <a:txBody>
                    <a:bodyPr/>
                    <a:lstStyle/>
                    <a:p>
                      <a:pPr algn="ctr" rtl="0" fontAlgn="ctr"/>
                      <a:r>
                        <a:rPr lang="en-US" sz="1000" b="0" i="0" u="none" strike="noStrike" dirty="0">
                          <a:solidFill>
                            <a:srgbClr val="FF0000"/>
                          </a:solidFill>
                          <a:effectLst/>
                          <a:latin typeface="Calibri" panose="020F0502020204030204" pitchFamily="34" charset="0"/>
                        </a:rPr>
                        <a:t>Scenario for retirement/Surrender of PPA</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rowSpan="3" h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rowSpan="3" h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rowSpan="3" h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FFFFF"/>
                    </a:solidFill>
                  </a:tcPr>
                </a:tc>
                <a:tc rowSpan="3" h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80010743"/>
                  </a:ext>
                </a:extLst>
              </a:tr>
              <a:tr h="136159">
                <a:tc>
                  <a:txBody>
                    <a:bodyPr/>
                    <a:lstStyle/>
                    <a:p>
                      <a:pPr algn="l" rtl="0" fontAlgn="ctr"/>
                      <a:r>
                        <a:rPr lang="en-US" sz="1000" b="0" i="0" u="none" strike="noStrike" dirty="0">
                          <a:solidFill>
                            <a:srgbClr val="FF0000"/>
                          </a:solidFill>
                          <a:effectLst/>
                          <a:latin typeface="Calibri" panose="020F0502020204030204" pitchFamily="34" charset="0"/>
                        </a:rPr>
                        <a:t>DVC</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gridSpan="5" vMerge="1">
                  <a:txBody>
                    <a:bodyPr/>
                    <a:lstStyle/>
                    <a:p>
                      <a:pPr algn="l" fontAlgn="b"/>
                      <a:r>
                        <a:rPr lang="en-US" sz="1000" b="0" i="0" u="none" strike="noStrike" dirty="0">
                          <a:solidFill>
                            <a:srgbClr val="FF0000"/>
                          </a:solidFill>
                          <a:effectLst/>
                          <a:latin typeface="Calibri" panose="020F0502020204030204" pitchFamily="34" charset="0"/>
                        </a:rPr>
                        <a:t> </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1"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hMerge="1" v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131096110"/>
                  </a:ext>
                </a:extLst>
              </a:tr>
              <a:tr h="136159">
                <a:tc>
                  <a:txBody>
                    <a:bodyPr/>
                    <a:lstStyle/>
                    <a:p>
                      <a:pPr algn="l" rtl="0" fontAlgn="ctr"/>
                      <a:r>
                        <a:rPr lang="en-US" sz="1000" b="0" i="0" u="none" strike="noStrike">
                          <a:solidFill>
                            <a:srgbClr val="FF0000"/>
                          </a:solidFill>
                          <a:effectLst/>
                          <a:latin typeface="Calibri" panose="020F0502020204030204" pitchFamily="34" charset="0"/>
                        </a:rPr>
                        <a:t>Farakka  U#1&amp;2</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gridSpan="5"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hMerge="1"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75805275"/>
                  </a:ext>
                </a:extLst>
              </a:tr>
              <a:tr h="272318">
                <a:tc>
                  <a:txBody>
                    <a:bodyPr/>
                    <a:lstStyle/>
                    <a:p>
                      <a:pPr algn="l" rtl="0" fontAlgn="ctr"/>
                      <a:r>
                        <a:rPr lang="en-US" sz="1000" b="0" i="0" u="none" strike="noStrike">
                          <a:solidFill>
                            <a:srgbClr val="000000"/>
                          </a:solidFill>
                          <a:effectLst/>
                          <a:latin typeface="Calibri" panose="020F0502020204030204" pitchFamily="34" charset="0"/>
                        </a:rPr>
                        <a:t>WBPDCL excl. Kolaghat</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3170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23601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3.14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7402</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553407692"/>
                  </a:ext>
                </a:extLst>
              </a:tr>
              <a:tr h="136159">
                <a:tc>
                  <a:txBody>
                    <a:bodyPr/>
                    <a:lstStyle/>
                    <a:p>
                      <a:pPr algn="l" rtl="0" fontAlgn="ctr"/>
                      <a:r>
                        <a:rPr lang="en-US" sz="1000" b="0" i="0" u="none" strike="noStrike">
                          <a:solidFill>
                            <a:srgbClr val="000000"/>
                          </a:solidFill>
                          <a:effectLst/>
                          <a:latin typeface="Calibri" panose="020F0502020204030204" pitchFamily="34" charset="0"/>
                        </a:rPr>
                        <a:t>DPL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502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3738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3.84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1437</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44473320"/>
                  </a:ext>
                </a:extLst>
              </a:tr>
              <a:tr h="272318">
                <a:tc>
                  <a:txBody>
                    <a:bodyPr/>
                    <a:lstStyle/>
                    <a:p>
                      <a:pPr algn="l" rtl="0" fontAlgn="ctr"/>
                      <a:r>
                        <a:rPr lang="en-US" sz="1000" b="0" i="0" u="none" strike="noStrike">
                          <a:solidFill>
                            <a:srgbClr val="000000"/>
                          </a:solidFill>
                          <a:effectLst/>
                          <a:latin typeface="Calibri" panose="020F0502020204030204" pitchFamily="34" charset="0"/>
                        </a:rPr>
                        <a:t>NTPC excl. Farakka U#1&amp;2</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618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4601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3.65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1680</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665478189"/>
                  </a:ext>
                </a:extLst>
              </a:tr>
              <a:tr h="136159">
                <a:tc>
                  <a:txBody>
                    <a:bodyPr/>
                    <a:lstStyle/>
                    <a:p>
                      <a:pPr algn="l" rtl="0" fontAlgn="ctr"/>
                      <a:r>
                        <a:rPr lang="en-US" sz="1000" b="0" i="0" u="none" strike="noStrike">
                          <a:solidFill>
                            <a:srgbClr val="000000"/>
                          </a:solidFill>
                          <a:effectLst/>
                          <a:latin typeface="Calibri" panose="020F0502020204030204" pitchFamily="34" charset="0"/>
                        </a:rPr>
                        <a:t>PTC -Thermal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300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2234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4.65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1039</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45823362"/>
                  </a:ext>
                </a:extLst>
              </a:tr>
              <a:tr h="136159">
                <a:tc>
                  <a:txBody>
                    <a:bodyPr/>
                    <a:lstStyle/>
                    <a:p>
                      <a:pPr algn="l" rtl="0" fontAlgn="ctr"/>
                      <a:r>
                        <a:rPr lang="en-US" sz="1000" b="0" i="0" u="none" strike="noStrike">
                          <a:solidFill>
                            <a:srgbClr val="000000"/>
                          </a:solidFill>
                          <a:effectLst/>
                          <a:latin typeface="Calibri" panose="020F0502020204030204" pitchFamily="34" charset="0"/>
                        </a:rPr>
                        <a:t>HMEL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270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2010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5.17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1040</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070041984"/>
                  </a:ext>
                </a:extLst>
              </a:tr>
              <a:tr h="136159">
                <a:tc>
                  <a:txBody>
                    <a:bodyPr/>
                    <a:lstStyle/>
                    <a:p>
                      <a:pPr algn="l" rtl="0" fontAlgn="ctr"/>
                      <a:r>
                        <a:rPr lang="en-US" sz="1000" b="0" i="0" u="none" strike="noStrike">
                          <a:solidFill>
                            <a:srgbClr val="000000"/>
                          </a:solidFill>
                          <a:effectLst/>
                          <a:latin typeface="Calibri" panose="020F0502020204030204" pitchFamily="34" charset="0"/>
                        </a:rPr>
                        <a:t>PTC-Hydro</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985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4312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3.00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1295</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705514666"/>
                  </a:ext>
                </a:extLst>
              </a:tr>
              <a:tr h="136159">
                <a:tc>
                  <a:txBody>
                    <a:bodyPr/>
                    <a:lstStyle/>
                    <a:p>
                      <a:pPr algn="l" rtl="0" fontAlgn="ctr"/>
                      <a:r>
                        <a:rPr lang="en-US" sz="1000" b="0" i="0" u="none" strike="noStrike">
                          <a:solidFill>
                            <a:srgbClr val="000000"/>
                          </a:solidFill>
                          <a:effectLst/>
                          <a:latin typeface="Calibri" panose="020F0502020204030204" pitchFamily="34" charset="0"/>
                        </a:rPr>
                        <a:t>NHPC</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1865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4.26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795</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812887187"/>
                  </a:ext>
                </a:extLst>
              </a:tr>
              <a:tr h="136159">
                <a:tc>
                  <a:txBody>
                    <a:bodyPr/>
                    <a:lstStyle/>
                    <a:p>
                      <a:pPr algn="l" rtl="0" fontAlgn="ctr"/>
                      <a:r>
                        <a:rPr lang="en-US" sz="1000" b="0" i="0" u="none" strike="noStrike">
                          <a:solidFill>
                            <a:srgbClr val="000000"/>
                          </a:solidFill>
                          <a:effectLst/>
                          <a:latin typeface="Calibri" panose="020F0502020204030204" pitchFamily="34" charset="0"/>
                        </a:rPr>
                        <a:t>Other</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7552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3.58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2704</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699905730"/>
                  </a:ext>
                </a:extLst>
              </a:tr>
              <a:tr h="136159">
                <a:tc>
                  <a:txBody>
                    <a:bodyPr/>
                    <a:lstStyle/>
                    <a:p>
                      <a:pPr algn="l" rtl="0" fontAlgn="ctr"/>
                      <a:r>
                        <a:rPr lang="en-US" sz="1000" b="1" i="0" u="none" strike="noStrike">
                          <a:solidFill>
                            <a:srgbClr val="000000"/>
                          </a:solidFill>
                          <a:effectLst/>
                          <a:latin typeface="Calibri" panose="020F0502020204030204" pitchFamily="34" charset="0"/>
                        </a:rPr>
                        <a:t>Total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6270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49913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3.48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17392</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0199248"/>
                  </a:ext>
                </a:extLst>
              </a:tr>
            </a:tbl>
          </a:graphicData>
        </a:graphic>
      </p:graphicFrame>
      <p:sp>
        <p:nvSpPr>
          <p:cNvPr id="13" name="Oval 12">
            <a:extLst>
              <a:ext uri="{FF2B5EF4-FFF2-40B4-BE49-F238E27FC236}">
                <a16:creationId xmlns:a16="http://schemas.microsoft.com/office/drawing/2014/main" id="{4A2A677D-C9EE-440B-8C3F-9B04A6DE24C7}"/>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3</a:t>
            </a:r>
          </a:p>
        </p:txBody>
      </p:sp>
      <p:sp>
        <p:nvSpPr>
          <p:cNvPr id="14" name="Arrow: Left 13">
            <a:extLst>
              <a:ext uri="{FF2B5EF4-FFF2-40B4-BE49-F238E27FC236}">
                <a16:creationId xmlns:a16="http://schemas.microsoft.com/office/drawing/2014/main" id="{E172EAE8-C69D-45F5-968B-F8CBC844D3F9}"/>
              </a:ext>
            </a:extLst>
          </p:cNvPr>
          <p:cNvSpPr/>
          <p:nvPr/>
        </p:nvSpPr>
        <p:spPr bwMode="gray">
          <a:xfrm>
            <a:off x="10644749" y="6524739"/>
            <a:ext cx="1460165" cy="368644"/>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3" action="ppaction://hlinksldjump"/>
              </a:rPr>
              <a:t>Back to Home</a:t>
            </a:r>
            <a:endParaRPr lang="en-US" sz="1000" b="1" dirty="0">
              <a:solidFill>
                <a:schemeClr val="bg1"/>
              </a:solidFill>
            </a:endParaRPr>
          </a:p>
        </p:txBody>
      </p:sp>
    </p:spTree>
    <p:extLst>
      <p:ext uri="{BB962C8B-B14F-4D97-AF65-F5344CB8AC3E}">
        <p14:creationId xmlns:p14="http://schemas.microsoft.com/office/powerpoint/2010/main" val="39938003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95000"/>
              </a:lnSpc>
              <a:spcAft>
                <a:spcPts val="0"/>
              </a:spcAft>
            </a:pPr>
            <a:r>
              <a:rPr lang="en-GB" sz="3990" b="1" dirty="0">
                <a:solidFill>
                  <a:prstClr val="white"/>
                </a:solidFill>
                <a:latin typeface="Arial" panose="020B0604020202020204" pitchFamily="34" charset="0"/>
                <a:cs typeface="Arial" panose="020B0604020202020204" pitchFamily="34" charset="0"/>
              </a:rPr>
              <a:t>Opportunity: Reduction of cost of supply </a:t>
            </a:r>
          </a:p>
          <a:p>
            <a:pPr algn="just">
              <a:lnSpc>
                <a:spcPct val="95000"/>
              </a:lnSpc>
              <a:spcAft>
                <a:spcPts val="0"/>
              </a:spcAft>
            </a:pPr>
            <a:r>
              <a:rPr lang="en-GB" sz="3990" b="1" dirty="0">
                <a:solidFill>
                  <a:prstClr val="white"/>
                </a:solidFill>
                <a:latin typeface="Arial" panose="020B0604020202020204" pitchFamily="34" charset="0"/>
                <a:cs typeface="Arial" panose="020B0604020202020204" pitchFamily="34" charset="0"/>
              </a:rPr>
              <a:t>WBSEDCL</a:t>
            </a:r>
          </a:p>
        </p:txBody>
      </p:sp>
    </p:spTree>
    <p:extLst>
      <p:ext uri="{BB962C8B-B14F-4D97-AF65-F5344CB8AC3E}">
        <p14:creationId xmlns:p14="http://schemas.microsoft.com/office/powerpoint/2010/main" val="291918927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17592284-4E72-4253-A66D-FCA2A7FA8799}"/>
              </a:ext>
            </a:extLst>
          </p:cNvPr>
          <p:cNvSpPr>
            <a:spLocks noGrp="1"/>
          </p:cNvSpPr>
          <p:nvPr>
            <p:ph type="title"/>
          </p:nvPr>
        </p:nvSpPr>
        <p:spPr>
          <a:xfrm>
            <a:off x="469902" y="402587"/>
            <a:ext cx="11252200" cy="334102"/>
          </a:xfrm>
        </p:spPr>
        <p:txBody>
          <a:bodyPr/>
          <a:lstStyle/>
          <a:p>
            <a:r>
              <a:rPr lang="en-US" sz="1800" b="1" dirty="0">
                <a:latin typeface="Verdana" panose="020B0604030504040204" pitchFamily="34" charset="0"/>
                <a:ea typeface="Verdana" panose="020B0604030504040204" pitchFamily="34" charset="0"/>
              </a:rPr>
              <a:t>Existing status of Billing Efficiency</a:t>
            </a:r>
          </a:p>
        </p:txBody>
      </p:sp>
      <p:sp>
        <p:nvSpPr>
          <p:cNvPr id="37" name="Arrow: Left 36">
            <a:extLst>
              <a:ext uri="{FF2B5EF4-FFF2-40B4-BE49-F238E27FC236}">
                <a16:creationId xmlns:a16="http://schemas.microsoft.com/office/drawing/2014/main" id="{85CE598E-CDBA-4BCE-9587-0E5B79CF7C58}"/>
              </a:ext>
            </a:extLst>
          </p:cNvPr>
          <p:cNvSpPr/>
          <p:nvPr/>
        </p:nvSpPr>
        <p:spPr bwMode="gray">
          <a:xfrm>
            <a:off x="10644749" y="6470309"/>
            <a:ext cx="1460165" cy="368644"/>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2" action="ppaction://hlinksldjump"/>
              </a:rPr>
              <a:t>Back to Home</a:t>
            </a:r>
            <a:endParaRPr lang="en-US" sz="1000" b="1" dirty="0">
              <a:solidFill>
                <a:schemeClr val="bg1"/>
              </a:solidFill>
            </a:endParaRPr>
          </a:p>
        </p:txBody>
      </p:sp>
      <p:sp>
        <p:nvSpPr>
          <p:cNvPr id="18" name="Oval 17">
            <a:extLst>
              <a:ext uri="{FF2B5EF4-FFF2-40B4-BE49-F238E27FC236}">
                <a16:creationId xmlns:a16="http://schemas.microsoft.com/office/drawing/2014/main" id="{638A1459-477F-4DFE-B3C5-982233E2DBD7}"/>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4</a:t>
            </a:r>
          </a:p>
        </p:txBody>
      </p:sp>
      <p:graphicFrame>
        <p:nvGraphicFramePr>
          <p:cNvPr id="5" name="Table 4">
            <a:extLst>
              <a:ext uri="{FF2B5EF4-FFF2-40B4-BE49-F238E27FC236}">
                <a16:creationId xmlns:a16="http://schemas.microsoft.com/office/drawing/2014/main" id="{CA55CD6B-923F-426A-ABF3-66D47C909538}"/>
              </a:ext>
            </a:extLst>
          </p:cNvPr>
          <p:cNvGraphicFramePr>
            <a:graphicFrameLocks noGrp="1"/>
          </p:cNvGraphicFramePr>
          <p:nvPr>
            <p:extLst>
              <p:ext uri="{D42A27DB-BD31-4B8C-83A1-F6EECF244321}">
                <p14:modId xmlns:p14="http://schemas.microsoft.com/office/powerpoint/2010/main" val="2447573394"/>
              </p:ext>
            </p:extLst>
          </p:nvPr>
        </p:nvGraphicFramePr>
        <p:xfrm>
          <a:off x="469902" y="1162753"/>
          <a:ext cx="10796812" cy="1852591"/>
        </p:xfrm>
        <a:graphic>
          <a:graphicData uri="http://schemas.openxmlformats.org/drawingml/2006/table">
            <a:tbl>
              <a:tblPr firstRow="1" firstCol="1" bandRow="1"/>
              <a:tblGrid>
                <a:gridCol w="980351">
                  <a:extLst>
                    <a:ext uri="{9D8B030D-6E8A-4147-A177-3AD203B41FA5}">
                      <a16:colId xmlns:a16="http://schemas.microsoft.com/office/drawing/2014/main" val="4175492050"/>
                    </a:ext>
                  </a:extLst>
                </a:gridCol>
                <a:gridCol w="3083570">
                  <a:extLst>
                    <a:ext uri="{9D8B030D-6E8A-4147-A177-3AD203B41FA5}">
                      <a16:colId xmlns:a16="http://schemas.microsoft.com/office/drawing/2014/main" val="1188365465"/>
                    </a:ext>
                  </a:extLst>
                </a:gridCol>
                <a:gridCol w="1282660">
                  <a:extLst>
                    <a:ext uri="{9D8B030D-6E8A-4147-A177-3AD203B41FA5}">
                      <a16:colId xmlns:a16="http://schemas.microsoft.com/office/drawing/2014/main" val="1400326081"/>
                    </a:ext>
                  </a:extLst>
                </a:gridCol>
                <a:gridCol w="1343123">
                  <a:extLst>
                    <a:ext uri="{9D8B030D-6E8A-4147-A177-3AD203B41FA5}">
                      <a16:colId xmlns:a16="http://schemas.microsoft.com/office/drawing/2014/main" val="2543971670"/>
                    </a:ext>
                  </a:extLst>
                </a:gridCol>
                <a:gridCol w="1215721">
                  <a:extLst>
                    <a:ext uri="{9D8B030D-6E8A-4147-A177-3AD203B41FA5}">
                      <a16:colId xmlns:a16="http://schemas.microsoft.com/office/drawing/2014/main" val="2522191235"/>
                    </a:ext>
                  </a:extLst>
                </a:gridCol>
                <a:gridCol w="1325849">
                  <a:extLst>
                    <a:ext uri="{9D8B030D-6E8A-4147-A177-3AD203B41FA5}">
                      <a16:colId xmlns:a16="http://schemas.microsoft.com/office/drawing/2014/main" val="752190072"/>
                    </a:ext>
                  </a:extLst>
                </a:gridCol>
                <a:gridCol w="1565538">
                  <a:extLst>
                    <a:ext uri="{9D8B030D-6E8A-4147-A177-3AD203B41FA5}">
                      <a16:colId xmlns:a16="http://schemas.microsoft.com/office/drawing/2014/main" val="2364472097"/>
                    </a:ext>
                  </a:extLst>
                </a:gridCol>
              </a:tblGrid>
              <a:tr h="463147">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Sl. No.</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Zone</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&lt;15%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15%-30%</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30%-45%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&gt;45%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Grand Total</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127023187"/>
                  </a:ext>
                </a:extLst>
              </a:tr>
              <a:tr h="231574">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1</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Berhampur</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 </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7</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4</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12</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990473"/>
                  </a:ext>
                </a:extLst>
              </a:tr>
              <a:tr h="231574">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2</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l">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Burdwan</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4</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6</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16</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4125138280"/>
                  </a:ext>
                </a:extLst>
              </a:tr>
              <a:tr h="231574">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3</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Kolkata</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8</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6</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20</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339653106"/>
                  </a:ext>
                </a:extLst>
              </a:tr>
              <a:tr h="231574">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4</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l">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Medinipur</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1</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6</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2</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14</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10563732"/>
                  </a:ext>
                </a:extLst>
              </a:tr>
              <a:tr h="231574">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5</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Siliguri</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3</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6</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619637294"/>
                  </a:ext>
                </a:extLst>
              </a:tr>
              <a:tr h="231574">
                <a:tc gridSpan="2">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Grand Total</a:t>
                      </a:r>
                      <a:endParaRPr lang="en-US" sz="1400" b="1">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n-US"/>
                    </a:p>
                  </a:txBody>
                  <a:tcPr/>
                </a:tc>
                <a:tc>
                  <a:txBody>
                    <a:bodyPr/>
                    <a:lstStyle/>
                    <a:p>
                      <a:pPr marL="0" marR="0" algn="ctr">
                        <a:spcBef>
                          <a:spcPts val="0"/>
                        </a:spcBef>
                        <a:spcAft>
                          <a:spcPts val="0"/>
                        </a:spcAft>
                      </a:pPr>
                      <a:r>
                        <a:rPr lang="en-IN" sz="1400" b="1" dirty="0">
                          <a:solidFill>
                            <a:srgbClr val="000000"/>
                          </a:solidFill>
                          <a:effectLst/>
                          <a:latin typeface="Verdana" panose="020B0604030504040204" pitchFamily="34" charset="0"/>
                          <a:ea typeface="Verdana" panose="020B0604030504040204" pitchFamily="34" charset="0"/>
                          <a:cs typeface="Libre Franklin Thin" pitchFamily="2" charset="0"/>
                        </a:rPr>
                        <a:t>16</a:t>
                      </a:r>
                      <a:endParaRPr lang="en-US" sz="1400" b="1"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b="1" dirty="0">
                          <a:solidFill>
                            <a:srgbClr val="000000"/>
                          </a:solidFill>
                          <a:effectLst/>
                          <a:latin typeface="Verdana" panose="020B0604030504040204" pitchFamily="34" charset="0"/>
                          <a:ea typeface="Verdana" panose="020B0604030504040204" pitchFamily="34" charset="0"/>
                          <a:cs typeface="Libre Franklin Thin" pitchFamily="2" charset="0"/>
                        </a:rPr>
                        <a:t>29</a:t>
                      </a:r>
                      <a:endParaRPr lang="en-US" sz="1400" b="1"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b="1" dirty="0">
                          <a:solidFill>
                            <a:srgbClr val="000000"/>
                          </a:solidFill>
                          <a:effectLst/>
                          <a:latin typeface="Verdana" panose="020B0604030504040204" pitchFamily="34" charset="0"/>
                          <a:ea typeface="Verdana" panose="020B0604030504040204" pitchFamily="34" charset="0"/>
                          <a:cs typeface="Libre Franklin Thin" pitchFamily="2" charset="0"/>
                        </a:rPr>
                        <a:t>21</a:t>
                      </a:r>
                      <a:endParaRPr lang="en-US" sz="1400" b="1"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b="1" dirty="0">
                          <a:effectLst/>
                          <a:latin typeface="Verdana" panose="020B0604030504040204" pitchFamily="34" charset="0"/>
                          <a:ea typeface="Verdana" panose="020B0604030504040204" pitchFamily="34" charset="0"/>
                          <a:cs typeface="Libre Franklin Thin" pitchFamily="2" charset="0"/>
                        </a:rPr>
                        <a:t>11</a:t>
                      </a:r>
                      <a:endParaRPr lang="en-US" sz="1400" b="1"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b="1" dirty="0">
                          <a:solidFill>
                            <a:srgbClr val="000000"/>
                          </a:solidFill>
                          <a:effectLst/>
                          <a:latin typeface="Verdana" panose="020B0604030504040204" pitchFamily="34" charset="0"/>
                          <a:ea typeface="Verdana" panose="020B0604030504040204" pitchFamily="34" charset="0"/>
                          <a:cs typeface="Libre Franklin Thin" pitchFamily="2" charset="0"/>
                        </a:rPr>
                        <a:t>77</a:t>
                      </a:r>
                      <a:endParaRPr lang="en-US" sz="1400" b="1"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57041848"/>
                  </a:ext>
                </a:extLst>
              </a:tr>
            </a:tbl>
          </a:graphicData>
        </a:graphic>
      </p:graphicFrame>
      <p:graphicFrame>
        <p:nvGraphicFramePr>
          <p:cNvPr id="11" name="Table 10">
            <a:extLst>
              <a:ext uri="{FF2B5EF4-FFF2-40B4-BE49-F238E27FC236}">
                <a16:creationId xmlns:a16="http://schemas.microsoft.com/office/drawing/2014/main" id="{B1257235-F2A3-4C32-A679-E2300C136010}"/>
              </a:ext>
            </a:extLst>
          </p:cNvPr>
          <p:cNvGraphicFramePr>
            <a:graphicFrameLocks noGrp="1"/>
          </p:cNvGraphicFramePr>
          <p:nvPr>
            <p:extLst>
              <p:ext uri="{D42A27DB-BD31-4B8C-83A1-F6EECF244321}">
                <p14:modId xmlns:p14="http://schemas.microsoft.com/office/powerpoint/2010/main" val="2747100871"/>
              </p:ext>
            </p:extLst>
          </p:nvPr>
        </p:nvGraphicFramePr>
        <p:xfrm>
          <a:off x="469902" y="3355986"/>
          <a:ext cx="10796810" cy="2773680"/>
        </p:xfrm>
        <a:graphic>
          <a:graphicData uri="http://schemas.openxmlformats.org/drawingml/2006/table">
            <a:tbl>
              <a:tblPr firstRow="1" firstCol="1" bandRow="1"/>
              <a:tblGrid>
                <a:gridCol w="1094796">
                  <a:extLst>
                    <a:ext uri="{9D8B030D-6E8A-4147-A177-3AD203B41FA5}">
                      <a16:colId xmlns:a16="http://schemas.microsoft.com/office/drawing/2014/main" val="4065684139"/>
                    </a:ext>
                  </a:extLst>
                </a:gridCol>
                <a:gridCol w="2193912">
                  <a:extLst>
                    <a:ext uri="{9D8B030D-6E8A-4147-A177-3AD203B41FA5}">
                      <a16:colId xmlns:a16="http://schemas.microsoft.com/office/drawing/2014/main" val="2643739205"/>
                    </a:ext>
                  </a:extLst>
                </a:gridCol>
                <a:gridCol w="2217665">
                  <a:extLst>
                    <a:ext uri="{9D8B030D-6E8A-4147-A177-3AD203B41FA5}">
                      <a16:colId xmlns:a16="http://schemas.microsoft.com/office/drawing/2014/main" val="4287639245"/>
                    </a:ext>
                  </a:extLst>
                </a:gridCol>
                <a:gridCol w="1692939">
                  <a:extLst>
                    <a:ext uri="{9D8B030D-6E8A-4147-A177-3AD203B41FA5}">
                      <a16:colId xmlns:a16="http://schemas.microsoft.com/office/drawing/2014/main" val="739316531"/>
                    </a:ext>
                  </a:extLst>
                </a:gridCol>
                <a:gridCol w="1835458">
                  <a:extLst>
                    <a:ext uri="{9D8B030D-6E8A-4147-A177-3AD203B41FA5}">
                      <a16:colId xmlns:a16="http://schemas.microsoft.com/office/drawing/2014/main" val="3388029637"/>
                    </a:ext>
                  </a:extLst>
                </a:gridCol>
                <a:gridCol w="1762040">
                  <a:extLst>
                    <a:ext uri="{9D8B030D-6E8A-4147-A177-3AD203B41FA5}">
                      <a16:colId xmlns:a16="http://schemas.microsoft.com/office/drawing/2014/main" val="3220086039"/>
                    </a:ext>
                  </a:extLst>
                </a:gridCol>
              </a:tblGrid>
              <a:tr h="139065">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Sl. No.</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Zone</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Name of Division</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Billing Efficiency</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Collection Efficiency</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gn="ctr">
                        <a:spcBef>
                          <a:spcPts val="0"/>
                        </a:spcBef>
                        <a:spcAft>
                          <a:spcPts val="0"/>
                        </a:spcAft>
                      </a:pPr>
                      <a:r>
                        <a:rPr lang="en-IN" sz="1400" b="1">
                          <a:solidFill>
                            <a:srgbClr val="000000"/>
                          </a:solidFill>
                          <a:effectLst/>
                          <a:latin typeface="Verdana" panose="020B0604030504040204" pitchFamily="34" charset="0"/>
                          <a:ea typeface="Verdana" panose="020B0604030504040204" pitchFamily="34" charset="0"/>
                          <a:cs typeface="Libre Franklin Thin" pitchFamily="2" charset="0"/>
                        </a:rPr>
                        <a:t>AT&amp;C Loss %</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2478705643"/>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Berhampur</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Kandi</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52.28%</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89.45%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53.23%</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514878979"/>
                  </a:ext>
                </a:extLst>
              </a:tr>
              <a:tr h="139065">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2</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Burdwan</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Rampurhat</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58.47%</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92.37%</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45.99%</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531734733"/>
                  </a:ext>
                </a:extLst>
              </a:tr>
              <a:tr h="139065">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3</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rowSpan="6">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Kolkata</a:t>
                      </a:r>
                      <a:endParaRPr lang="en-US" sz="1400">
                        <a:effectLst/>
                        <a:latin typeface="Verdana" panose="020B0604030504040204" pitchFamily="34" charset="0"/>
                        <a:ea typeface="Verdana" panose="020B0604030504040204" pitchFamily="34" charset="0"/>
                        <a:cs typeface="Libre Franklin Thin" pitchFamily="2" charset="0"/>
                      </a:endParaRPr>
                    </a:p>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 </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Bhangar</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55.73%</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92.17%</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48.64%</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894357289"/>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4</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Diamond Harbour</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57.21%</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96.00%</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45.08%</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317803340"/>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vMerge="1">
                  <a:txBody>
                    <a:bodyPr/>
                    <a:lstStyle/>
                    <a:p>
                      <a:endParaRPr lang="en-US"/>
                    </a:p>
                  </a:txBody>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Kankdwip</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51.32%</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92.62%</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52.47%</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4074899088"/>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6</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Baruipur</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rowSpan="2">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54.68%</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rowSpan="2">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93.07%</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rowSpan="2">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49.10%</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607134817"/>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7</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vMerge="1">
                  <a:txBody>
                    <a:bodyPr/>
                    <a:lstStyle/>
                    <a:p>
                      <a:endParaRPr lang="en-US"/>
                    </a:p>
                  </a:txBody>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Jaynagar</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56687013"/>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8</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Canning</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35.20%</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79.98%</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71.85%</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233598111"/>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9</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rowSpan="2">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Medinipur</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Khatra</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60.48%</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79.22%</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52.09%</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732864800"/>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10</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Egra</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56.97%</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94.96%</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45.90%</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765389153"/>
                  </a:ext>
                </a:extLst>
              </a:tr>
              <a:tr h="139065">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11</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Siliguri</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Dinhata</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66.18%</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a:solidFill>
                            <a:srgbClr val="000000"/>
                          </a:solidFill>
                          <a:effectLst/>
                          <a:latin typeface="Verdana" panose="020B0604030504040204" pitchFamily="34" charset="0"/>
                          <a:ea typeface="Verdana" panose="020B0604030504040204" pitchFamily="34" charset="0"/>
                          <a:cs typeface="Libre Franklin Thin" pitchFamily="2" charset="0"/>
                        </a:rPr>
                        <a:t>81.30%</a:t>
                      </a:r>
                      <a:endParaRPr lang="en-US" sz="140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IN" sz="1400" dirty="0">
                          <a:solidFill>
                            <a:srgbClr val="000000"/>
                          </a:solidFill>
                          <a:effectLst/>
                          <a:latin typeface="Verdana" panose="020B0604030504040204" pitchFamily="34" charset="0"/>
                          <a:ea typeface="Verdana" panose="020B0604030504040204" pitchFamily="34" charset="0"/>
                          <a:cs typeface="Libre Franklin Thin" pitchFamily="2" charset="0"/>
                        </a:rPr>
                        <a:t>46.20%</a:t>
                      </a:r>
                      <a:endParaRPr lang="en-US" sz="1400" dirty="0">
                        <a:effectLst/>
                        <a:latin typeface="Verdana" panose="020B0604030504040204" pitchFamily="34" charset="0"/>
                        <a:ea typeface="Verdana" panose="020B0604030504040204" pitchFamily="34"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857560122"/>
                  </a:ext>
                </a:extLst>
              </a:tr>
            </a:tbl>
          </a:graphicData>
        </a:graphic>
      </p:graphicFrame>
    </p:spTree>
    <p:extLst>
      <p:ext uri="{BB962C8B-B14F-4D97-AF65-F5344CB8AC3E}">
        <p14:creationId xmlns:p14="http://schemas.microsoft.com/office/powerpoint/2010/main" val="160851033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17592284-4E72-4253-A66D-FCA2A7FA8799}"/>
              </a:ext>
            </a:extLst>
          </p:cNvPr>
          <p:cNvSpPr>
            <a:spLocks noGrp="1"/>
          </p:cNvSpPr>
          <p:nvPr>
            <p:ph type="title"/>
          </p:nvPr>
        </p:nvSpPr>
        <p:spPr>
          <a:xfrm>
            <a:off x="469902" y="402587"/>
            <a:ext cx="11252200" cy="334102"/>
          </a:xfrm>
        </p:spPr>
        <p:txBody>
          <a:bodyPr/>
          <a:lstStyle/>
          <a:p>
            <a:r>
              <a:rPr lang="en-US" sz="1800" b="1" dirty="0">
                <a:latin typeface="Verdana" panose="020B0604030504040204" pitchFamily="34" charset="0"/>
                <a:ea typeface="Verdana" panose="020B0604030504040204" pitchFamily="34" charset="0"/>
              </a:rPr>
              <a:t>Significant Cost Reduction can be achieved by Commercial Losses Reduction (1/2)</a:t>
            </a:r>
          </a:p>
        </p:txBody>
      </p:sp>
      <p:graphicFrame>
        <p:nvGraphicFramePr>
          <p:cNvPr id="8" name="Chart 7">
            <a:extLst>
              <a:ext uri="{FF2B5EF4-FFF2-40B4-BE49-F238E27FC236}">
                <a16:creationId xmlns:a16="http://schemas.microsoft.com/office/drawing/2014/main" id="{5024E70B-057C-4DA0-B489-C27FC122BAAA}"/>
              </a:ext>
            </a:extLst>
          </p:cNvPr>
          <p:cNvGraphicFramePr/>
          <p:nvPr/>
        </p:nvGraphicFramePr>
        <p:xfrm>
          <a:off x="513444" y="1591555"/>
          <a:ext cx="5508173" cy="22075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6C75CD23-5269-4FE1-A754-58D71D178695}"/>
              </a:ext>
            </a:extLst>
          </p:cNvPr>
          <p:cNvGraphicFramePr/>
          <p:nvPr/>
        </p:nvGraphicFramePr>
        <p:xfrm>
          <a:off x="6213924" y="1591556"/>
          <a:ext cx="5508173" cy="220104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5DCF8B83-D495-4B6C-AECF-04FF87D5C6E2}"/>
              </a:ext>
            </a:extLst>
          </p:cNvPr>
          <p:cNvSpPr txBox="1"/>
          <p:nvPr/>
        </p:nvSpPr>
        <p:spPr>
          <a:xfrm>
            <a:off x="513444" y="850689"/>
            <a:ext cx="11208653" cy="630942"/>
          </a:xfrm>
          <a:prstGeom prst="rect">
            <a:avLst/>
          </a:prstGeom>
          <a:noFill/>
          <a:ln>
            <a:solidFill>
              <a:schemeClr val="accent1"/>
            </a:solidFill>
          </a:ln>
        </p:spPr>
        <p:txBody>
          <a:bodyPr wrap="square" lIns="0" tIns="0" rIns="0" bIns="0" rtlCol="0">
            <a:spAutoFit/>
          </a:bodyPr>
          <a:lstStyle/>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800" b="0" i="0" u="none" strike="noStrike" kern="1200" cap="none" spc="0" normalizeH="0" baseline="0" noProof="0" dirty="0">
                <a:ln>
                  <a:noFill/>
                </a:ln>
                <a:solidFill>
                  <a:srgbClr val="313131"/>
                </a:solidFill>
                <a:effectLst/>
                <a:uLnTx/>
                <a:uFillTx/>
                <a:latin typeface="Calibri"/>
                <a:ea typeface="+mn-ea"/>
                <a:cs typeface="+mn-cs"/>
              </a:rPr>
              <a:t>Leveraging of RDSS Investments in a targeted manner complemented with IT OT initiatives are critical</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800" b="0" i="0" u="none" strike="noStrike" kern="1200" cap="none" spc="0" normalizeH="0" baseline="0" noProof="0" dirty="0">
                <a:ln>
                  <a:noFill/>
                </a:ln>
                <a:solidFill>
                  <a:srgbClr val="313131"/>
                </a:solidFill>
                <a:effectLst/>
                <a:uLnTx/>
                <a:uFillTx/>
                <a:latin typeface="Calibri"/>
                <a:ea typeface="+mn-ea"/>
                <a:cs typeface="+mn-cs"/>
              </a:rPr>
              <a:t>Targeted Program on Metering Efficacy for Billing complemented with other initiatives for specific pockets</a:t>
            </a:r>
          </a:p>
        </p:txBody>
      </p:sp>
      <p:sp>
        <p:nvSpPr>
          <p:cNvPr id="24" name="TextBox 23">
            <a:extLst>
              <a:ext uri="{FF2B5EF4-FFF2-40B4-BE49-F238E27FC236}">
                <a16:creationId xmlns:a16="http://schemas.microsoft.com/office/drawing/2014/main" id="{8A383170-A2DF-4214-B597-395830857221}"/>
              </a:ext>
            </a:extLst>
          </p:cNvPr>
          <p:cNvSpPr txBox="1"/>
          <p:nvPr/>
        </p:nvSpPr>
        <p:spPr>
          <a:xfrm rot="10800000" flipV="1">
            <a:off x="3267530" y="6582353"/>
            <a:ext cx="7569764" cy="184666"/>
          </a:xfrm>
          <a:prstGeom prst="rect">
            <a:avLst/>
          </a:prstGeom>
          <a:noFill/>
        </p:spPr>
        <p:txBody>
          <a:bodyPr wrap="square" lIns="0" tIns="0" rIns="0" bIns="0" rtlCol="0">
            <a:spAutoFit/>
          </a:bodyPr>
          <a:lstStyle/>
          <a:p>
            <a:pPr>
              <a:buSzPct val="100000"/>
            </a:pPr>
            <a:r>
              <a:rPr lang="en-US" sz="1200" dirty="0">
                <a:solidFill>
                  <a:srgbClr val="313131"/>
                </a:solidFill>
                <a:latin typeface="Calibri" panose="020F0502020204030204" pitchFamily="34" charset="0"/>
                <a:cs typeface="Calibri" panose="020F0502020204030204" pitchFamily="34" charset="0"/>
              </a:rPr>
              <a:t>** Based on approved average power purchase rate of DVC Plant – Mejia and RTPS </a:t>
            </a:r>
          </a:p>
        </p:txBody>
      </p:sp>
      <p:sp>
        <p:nvSpPr>
          <p:cNvPr id="2" name="Rectangle 1">
            <a:extLst>
              <a:ext uri="{FF2B5EF4-FFF2-40B4-BE49-F238E27FC236}">
                <a16:creationId xmlns:a16="http://schemas.microsoft.com/office/drawing/2014/main" id="{9BED1684-351B-4845-ACD3-283F3450EAB8}"/>
              </a:ext>
            </a:extLst>
          </p:cNvPr>
          <p:cNvSpPr/>
          <p:nvPr/>
        </p:nvSpPr>
        <p:spPr bwMode="gray">
          <a:xfrm>
            <a:off x="513444" y="4253713"/>
            <a:ext cx="2007232" cy="1042788"/>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b="1" dirty="0">
                <a:solidFill>
                  <a:schemeClr val="tx1"/>
                </a:solidFill>
                <a:latin typeface="+mj-lt"/>
              </a:rPr>
              <a:t>Improvement in Billing Efficiency vis a vis AT&amp;C Losses </a:t>
            </a:r>
          </a:p>
        </p:txBody>
      </p:sp>
      <p:sp>
        <p:nvSpPr>
          <p:cNvPr id="4" name="Arrow: Right 3">
            <a:extLst>
              <a:ext uri="{FF2B5EF4-FFF2-40B4-BE49-F238E27FC236}">
                <a16:creationId xmlns:a16="http://schemas.microsoft.com/office/drawing/2014/main" id="{5715E96F-9FFB-47B2-82EC-A8B9C5746E66}"/>
              </a:ext>
            </a:extLst>
          </p:cNvPr>
          <p:cNvSpPr/>
          <p:nvPr/>
        </p:nvSpPr>
        <p:spPr bwMode="gray">
          <a:xfrm>
            <a:off x="2644604" y="4540157"/>
            <a:ext cx="361081" cy="469897"/>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latin typeface="+mj-lt"/>
            </a:endParaRPr>
          </a:p>
        </p:txBody>
      </p:sp>
      <p:sp>
        <p:nvSpPr>
          <p:cNvPr id="23" name="Rectangle 22">
            <a:extLst>
              <a:ext uri="{FF2B5EF4-FFF2-40B4-BE49-F238E27FC236}">
                <a16:creationId xmlns:a16="http://schemas.microsoft.com/office/drawing/2014/main" id="{D5903771-A40A-422F-B7FC-00CD9BE4CFA0}"/>
              </a:ext>
            </a:extLst>
          </p:cNvPr>
          <p:cNvSpPr/>
          <p:nvPr/>
        </p:nvSpPr>
        <p:spPr bwMode="gray">
          <a:xfrm>
            <a:off x="3219105" y="4253712"/>
            <a:ext cx="2007232" cy="1042788"/>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b="1" dirty="0">
                <a:solidFill>
                  <a:schemeClr val="tx1"/>
                </a:solidFill>
                <a:latin typeface="+mj-lt"/>
                <a:ea typeface="Verdana" panose="020B0604030504040204" pitchFamily="34" charset="0"/>
              </a:rPr>
              <a:t>Requirement of input energy would go down</a:t>
            </a:r>
            <a:endParaRPr lang="en-US" sz="1200" b="1" dirty="0">
              <a:solidFill>
                <a:schemeClr val="tx1"/>
              </a:solidFill>
              <a:latin typeface="+mj-lt"/>
            </a:endParaRPr>
          </a:p>
        </p:txBody>
      </p:sp>
      <p:sp>
        <p:nvSpPr>
          <p:cNvPr id="25" name="Arrow: Right 24">
            <a:extLst>
              <a:ext uri="{FF2B5EF4-FFF2-40B4-BE49-F238E27FC236}">
                <a16:creationId xmlns:a16="http://schemas.microsoft.com/office/drawing/2014/main" id="{2A5A7809-EF1D-4492-9C1C-48C8DC855CD9}"/>
              </a:ext>
            </a:extLst>
          </p:cNvPr>
          <p:cNvSpPr/>
          <p:nvPr/>
        </p:nvSpPr>
        <p:spPr bwMode="gray">
          <a:xfrm>
            <a:off x="5366447" y="4540157"/>
            <a:ext cx="361081" cy="469897"/>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latin typeface="+mj-lt"/>
            </a:endParaRPr>
          </a:p>
        </p:txBody>
      </p:sp>
      <p:cxnSp>
        <p:nvCxnSpPr>
          <p:cNvPr id="27" name="Straight Connector 26">
            <a:extLst>
              <a:ext uri="{FF2B5EF4-FFF2-40B4-BE49-F238E27FC236}">
                <a16:creationId xmlns:a16="http://schemas.microsoft.com/office/drawing/2014/main" id="{35E308D5-DA40-4918-8268-879AE1D3A36F}"/>
              </a:ext>
            </a:extLst>
          </p:cNvPr>
          <p:cNvCxnSpPr>
            <a:cxnSpLocks/>
          </p:cNvCxnSpPr>
          <p:nvPr/>
        </p:nvCxnSpPr>
        <p:spPr>
          <a:xfrm flipV="1">
            <a:off x="5887687" y="4126499"/>
            <a:ext cx="0" cy="132106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Arrow: Right 27">
            <a:extLst>
              <a:ext uri="{FF2B5EF4-FFF2-40B4-BE49-F238E27FC236}">
                <a16:creationId xmlns:a16="http://schemas.microsoft.com/office/drawing/2014/main" id="{B56E70D8-6A26-43F5-87DA-465550C6D419}"/>
              </a:ext>
            </a:extLst>
          </p:cNvPr>
          <p:cNvSpPr/>
          <p:nvPr/>
        </p:nvSpPr>
        <p:spPr bwMode="gray">
          <a:xfrm>
            <a:off x="6047847" y="4018763"/>
            <a:ext cx="361081" cy="469897"/>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latin typeface="+mj-lt"/>
            </a:endParaRPr>
          </a:p>
        </p:txBody>
      </p:sp>
      <p:sp>
        <p:nvSpPr>
          <p:cNvPr id="29" name="Arrow: Right 28">
            <a:extLst>
              <a:ext uri="{FF2B5EF4-FFF2-40B4-BE49-F238E27FC236}">
                <a16:creationId xmlns:a16="http://schemas.microsoft.com/office/drawing/2014/main" id="{79F4AFCC-F081-429E-AB3C-CAE40D132DB9}"/>
              </a:ext>
            </a:extLst>
          </p:cNvPr>
          <p:cNvSpPr/>
          <p:nvPr/>
        </p:nvSpPr>
        <p:spPr bwMode="gray">
          <a:xfrm>
            <a:off x="6026170" y="5118574"/>
            <a:ext cx="361081" cy="469897"/>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latin typeface="+mj-lt"/>
            </a:endParaRPr>
          </a:p>
        </p:txBody>
      </p:sp>
      <p:sp>
        <p:nvSpPr>
          <p:cNvPr id="30" name="Rectangle 29">
            <a:extLst>
              <a:ext uri="{FF2B5EF4-FFF2-40B4-BE49-F238E27FC236}">
                <a16:creationId xmlns:a16="http://schemas.microsoft.com/office/drawing/2014/main" id="{CA5279D7-EBC7-40BF-818A-FADF4E4140E9}"/>
              </a:ext>
            </a:extLst>
          </p:cNvPr>
          <p:cNvSpPr/>
          <p:nvPr/>
        </p:nvSpPr>
        <p:spPr>
          <a:xfrm>
            <a:off x="6503551" y="3932582"/>
            <a:ext cx="5218546" cy="5560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Reduction of Cost of Supply after considering Average variable cost of DVC ** Plant  (as per tariff petition for FY 2020-21) </a:t>
            </a:r>
          </a:p>
        </p:txBody>
      </p:sp>
      <p:sp>
        <p:nvSpPr>
          <p:cNvPr id="31" name="Rectangle 30">
            <a:extLst>
              <a:ext uri="{FF2B5EF4-FFF2-40B4-BE49-F238E27FC236}">
                <a16:creationId xmlns:a16="http://schemas.microsoft.com/office/drawing/2014/main" id="{E6DD1F4B-B712-40F0-9720-9FD46D5986A4}"/>
              </a:ext>
            </a:extLst>
          </p:cNvPr>
          <p:cNvSpPr/>
          <p:nvPr/>
        </p:nvSpPr>
        <p:spPr>
          <a:xfrm>
            <a:off x="6503551" y="5085730"/>
            <a:ext cx="5218546" cy="5560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Reduction of Cost of Supply after retirement of contract of highest merit order plants</a:t>
            </a:r>
          </a:p>
        </p:txBody>
      </p:sp>
      <p:sp>
        <p:nvSpPr>
          <p:cNvPr id="10" name="Rectangle: Rounded Corners 9">
            <a:extLst>
              <a:ext uri="{FF2B5EF4-FFF2-40B4-BE49-F238E27FC236}">
                <a16:creationId xmlns:a16="http://schemas.microsoft.com/office/drawing/2014/main" id="{D1AA3B14-FD93-4A90-BB19-15257FA599D4}"/>
              </a:ext>
            </a:extLst>
          </p:cNvPr>
          <p:cNvSpPr/>
          <p:nvPr/>
        </p:nvSpPr>
        <p:spPr bwMode="gray">
          <a:xfrm>
            <a:off x="513443" y="5382456"/>
            <a:ext cx="2007230" cy="719060"/>
          </a:xfrm>
          <a:prstGeom prst="round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71450">
              <a:lnSpc>
                <a:spcPct val="106000"/>
              </a:lnSpc>
              <a:buFont typeface="Arial" panose="020B0604020202020204" pitchFamily="34" charset="0"/>
              <a:buChar char="•"/>
            </a:pPr>
            <a:r>
              <a:rPr lang="en-US" sz="1100" b="1" dirty="0">
                <a:solidFill>
                  <a:sysClr val="windowText" lastClr="000000"/>
                </a:solidFill>
              </a:rPr>
              <a:t>RDSS</a:t>
            </a:r>
          </a:p>
          <a:p>
            <a:pPr marL="171450" indent="-171450">
              <a:lnSpc>
                <a:spcPct val="106000"/>
              </a:lnSpc>
              <a:buFont typeface="Arial" panose="020B0604020202020204" pitchFamily="34" charset="0"/>
              <a:buChar char="•"/>
            </a:pPr>
            <a:r>
              <a:rPr lang="en-US" sz="1100" b="1" dirty="0">
                <a:solidFill>
                  <a:sysClr val="windowText" lastClr="000000"/>
                </a:solidFill>
              </a:rPr>
              <a:t>Grid Modernization</a:t>
            </a:r>
          </a:p>
          <a:p>
            <a:pPr marL="171450" indent="-171450">
              <a:lnSpc>
                <a:spcPct val="106000"/>
              </a:lnSpc>
              <a:buFont typeface="Arial" panose="020B0604020202020204" pitchFamily="34" charset="0"/>
              <a:buChar char="•"/>
            </a:pPr>
            <a:r>
              <a:rPr lang="en-US" sz="1100" b="1" dirty="0">
                <a:solidFill>
                  <a:sysClr val="windowText" lastClr="000000"/>
                </a:solidFill>
              </a:rPr>
              <a:t>IT/OT System</a:t>
            </a:r>
          </a:p>
        </p:txBody>
      </p:sp>
      <p:sp>
        <p:nvSpPr>
          <p:cNvPr id="37" name="Arrow: Left 36">
            <a:extLst>
              <a:ext uri="{FF2B5EF4-FFF2-40B4-BE49-F238E27FC236}">
                <a16:creationId xmlns:a16="http://schemas.microsoft.com/office/drawing/2014/main" id="{85CE598E-CDBA-4BCE-9587-0E5B79CF7C58}"/>
              </a:ext>
            </a:extLst>
          </p:cNvPr>
          <p:cNvSpPr/>
          <p:nvPr/>
        </p:nvSpPr>
        <p:spPr bwMode="gray">
          <a:xfrm>
            <a:off x="10644749" y="6470309"/>
            <a:ext cx="1460165" cy="368644"/>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hlinkClick r:id="rId4" action="ppaction://hlinksldjump"/>
              </a:rPr>
              <a:t>Back to Home</a:t>
            </a:r>
            <a:endParaRPr lang="en-US" sz="1000" b="1" dirty="0">
              <a:solidFill>
                <a:schemeClr val="bg1"/>
              </a:solidFill>
            </a:endParaRPr>
          </a:p>
        </p:txBody>
      </p:sp>
      <p:sp>
        <p:nvSpPr>
          <p:cNvPr id="18" name="Oval 17">
            <a:extLst>
              <a:ext uri="{FF2B5EF4-FFF2-40B4-BE49-F238E27FC236}">
                <a16:creationId xmlns:a16="http://schemas.microsoft.com/office/drawing/2014/main" id="{638A1459-477F-4DFE-B3C5-982233E2DBD7}"/>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4</a:t>
            </a:r>
          </a:p>
        </p:txBody>
      </p:sp>
    </p:spTree>
    <p:extLst>
      <p:ext uri="{BB962C8B-B14F-4D97-AF65-F5344CB8AC3E}">
        <p14:creationId xmlns:p14="http://schemas.microsoft.com/office/powerpoint/2010/main" val="160318550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2363828-33D2-482A-99CA-10B8F59DB684}"/>
              </a:ext>
            </a:extLst>
          </p:cNvPr>
          <p:cNvCxnSpPr>
            <a:cxnSpLocks/>
          </p:cNvCxnSpPr>
          <p:nvPr/>
        </p:nvCxnSpPr>
        <p:spPr>
          <a:xfrm flipV="1">
            <a:off x="491670" y="1027295"/>
            <a:ext cx="11208653" cy="2219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7644591-423B-443E-A070-7451A76FBAB0}"/>
              </a:ext>
            </a:extLst>
          </p:cNvPr>
          <p:cNvCxnSpPr>
            <a:cxnSpLocks/>
          </p:cNvCxnSpPr>
          <p:nvPr/>
        </p:nvCxnSpPr>
        <p:spPr>
          <a:xfrm flipV="1">
            <a:off x="513444" y="3877465"/>
            <a:ext cx="11208653" cy="2219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itle 2">
            <a:extLst>
              <a:ext uri="{FF2B5EF4-FFF2-40B4-BE49-F238E27FC236}">
                <a16:creationId xmlns:a16="http://schemas.microsoft.com/office/drawing/2014/main" id="{17592284-4E72-4253-A66D-FCA2A7FA8799}"/>
              </a:ext>
            </a:extLst>
          </p:cNvPr>
          <p:cNvSpPr>
            <a:spLocks noGrp="1"/>
          </p:cNvSpPr>
          <p:nvPr>
            <p:ph type="title"/>
          </p:nvPr>
        </p:nvSpPr>
        <p:spPr>
          <a:xfrm>
            <a:off x="469902" y="402587"/>
            <a:ext cx="11252200" cy="334102"/>
          </a:xfrm>
        </p:spPr>
        <p:txBody>
          <a:bodyPr/>
          <a:lstStyle/>
          <a:p>
            <a:r>
              <a:rPr lang="en-US" sz="1800" b="1" dirty="0">
                <a:latin typeface="Verdana" panose="020B0604030504040204" pitchFamily="34" charset="0"/>
                <a:ea typeface="Verdana" panose="020B0604030504040204" pitchFamily="34" charset="0"/>
              </a:rPr>
              <a:t>Significant Cost Reduction can be achieved by Commercial Losses Reduction (2/2)</a:t>
            </a:r>
          </a:p>
        </p:txBody>
      </p:sp>
      <p:sp>
        <p:nvSpPr>
          <p:cNvPr id="10" name="Rectangle 9">
            <a:extLst>
              <a:ext uri="{FF2B5EF4-FFF2-40B4-BE49-F238E27FC236}">
                <a16:creationId xmlns:a16="http://schemas.microsoft.com/office/drawing/2014/main" id="{D7498EAB-CA39-4F76-A485-38414C30FEE6}"/>
              </a:ext>
            </a:extLst>
          </p:cNvPr>
          <p:cNvSpPr/>
          <p:nvPr/>
        </p:nvSpPr>
        <p:spPr bwMode="gray">
          <a:xfrm>
            <a:off x="2544644" y="3710387"/>
            <a:ext cx="7744623" cy="356351"/>
          </a:xfrm>
          <a:prstGeom prst="rect">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Reduction of Cost of Supply after retirement of contract of highest merit order plants  </a:t>
            </a:r>
          </a:p>
        </p:txBody>
      </p:sp>
      <p:sp>
        <p:nvSpPr>
          <p:cNvPr id="11" name="Rectangle 10">
            <a:extLst>
              <a:ext uri="{FF2B5EF4-FFF2-40B4-BE49-F238E27FC236}">
                <a16:creationId xmlns:a16="http://schemas.microsoft.com/office/drawing/2014/main" id="{2AF575A8-9D3A-4D7D-AA7D-3249E7C2237E}"/>
              </a:ext>
            </a:extLst>
          </p:cNvPr>
          <p:cNvSpPr/>
          <p:nvPr/>
        </p:nvSpPr>
        <p:spPr bwMode="gray">
          <a:xfrm>
            <a:off x="587826" y="968344"/>
            <a:ext cx="10760530" cy="130058"/>
          </a:xfrm>
          <a:prstGeom prst="rect">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Reduction of Cost of Supply after considering Average variable cost of DVC ** Plant  ( as per tariff petition for FY 2020-21) </a:t>
            </a:r>
          </a:p>
        </p:txBody>
      </p:sp>
      <p:sp>
        <p:nvSpPr>
          <p:cNvPr id="15" name="TextBox 14">
            <a:extLst>
              <a:ext uri="{FF2B5EF4-FFF2-40B4-BE49-F238E27FC236}">
                <a16:creationId xmlns:a16="http://schemas.microsoft.com/office/drawing/2014/main" id="{C7679E21-39C7-4223-8D1C-D86BF7971724}"/>
              </a:ext>
            </a:extLst>
          </p:cNvPr>
          <p:cNvSpPr txBox="1"/>
          <p:nvPr/>
        </p:nvSpPr>
        <p:spPr>
          <a:xfrm>
            <a:off x="8386535" y="6397932"/>
            <a:ext cx="3805465" cy="184666"/>
          </a:xfrm>
          <a:prstGeom prst="rect">
            <a:avLst/>
          </a:prstGeom>
          <a:noFill/>
        </p:spPr>
        <p:txBody>
          <a:bodyPr wrap="square" lIns="0" tIns="0" rIns="0" bIns="0" rtlCol="0">
            <a:spAutoFit/>
          </a:bodyPr>
          <a:lstStyle/>
          <a:p>
            <a:pPr>
              <a:spcBef>
                <a:spcPts val="600"/>
              </a:spcBef>
              <a:buSzPct val="100000"/>
            </a:pPr>
            <a:r>
              <a:rPr lang="en-US" sz="1200" dirty="0">
                <a:latin typeface="Calibri" panose="020F0502020204030204" pitchFamily="34" charset="0"/>
                <a:cs typeface="Calibri" panose="020F0502020204030204" pitchFamily="34" charset="0"/>
              </a:rPr>
              <a:t>Source : Tariff Order for 7</a:t>
            </a:r>
            <a:r>
              <a:rPr lang="en-US" sz="1200" baseline="30000" dirty="0">
                <a:latin typeface="Calibri" panose="020F0502020204030204" pitchFamily="34" charset="0"/>
                <a:cs typeface="Calibri" panose="020F0502020204030204" pitchFamily="34" charset="0"/>
              </a:rPr>
              <a:t>th</a:t>
            </a:r>
            <a:r>
              <a:rPr lang="en-US" sz="1200" dirty="0">
                <a:latin typeface="Calibri" panose="020F0502020204030204" pitchFamily="34" charset="0"/>
                <a:cs typeface="Calibri" panose="020F0502020204030204" pitchFamily="34" charset="0"/>
              </a:rPr>
              <a:t> Control Period of WBSEDCL.  </a:t>
            </a:r>
          </a:p>
        </p:txBody>
      </p:sp>
      <p:graphicFrame>
        <p:nvGraphicFramePr>
          <p:cNvPr id="4" name="Table 3">
            <a:extLst>
              <a:ext uri="{FF2B5EF4-FFF2-40B4-BE49-F238E27FC236}">
                <a16:creationId xmlns:a16="http://schemas.microsoft.com/office/drawing/2014/main" id="{DA8F2F57-C4F5-4326-99A6-73DA442A8A2E}"/>
              </a:ext>
            </a:extLst>
          </p:cNvPr>
          <p:cNvGraphicFramePr>
            <a:graphicFrameLocks noGrp="1"/>
          </p:cNvGraphicFramePr>
          <p:nvPr>
            <p:extLst>
              <p:ext uri="{D42A27DB-BD31-4B8C-83A1-F6EECF244321}">
                <p14:modId xmlns:p14="http://schemas.microsoft.com/office/powerpoint/2010/main" val="252056196"/>
              </p:ext>
            </p:extLst>
          </p:nvPr>
        </p:nvGraphicFramePr>
        <p:xfrm>
          <a:off x="513444" y="1330057"/>
          <a:ext cx="11208652" cy="2098946"/>
        </p:xfrm>
        <a:graphic>
          <a:graphicData uri="http://schemas.openxmlformats.org/drawingml/2006/table">
            <a:tbl>
              <a:tblPr/>
              <a:tblGrid>
                <a:gridCol w="1557207">
                  <a:extLst>
                    <a:ext uri="{9D8B030D-6E8A-4147-A177-3AD203B41FA5}">
                      <a16:colId xmlns:a16="http://schemas.microsoft.com/office/drawing/2014/main" val="3511060075"/>
                    </a:ext>
                  </a:extLst>
                </a:gridCol>
                <a:gridCol w="1265231">
                  <a:extLst>
                    <a:ext uri="{9D8B030D-6E8A-4147-A177-3AD203B41FA5}">
                      <a16:colId xmlns:a16="http://schemas.microsoft.com/office/drawing/2014/main" val="1671708121"/>
                    </a:ext>
                  </a:extLst>
                </a:gridCol>
                <a:gridCol w="1605871">
                  <a:extLst>
                    <a:ext uri="{9D8B030D-6E8A-4147-A177-3AD203B41FA5}">
                      <a16:colId xmlns:a16="http://schemas.microsoft.com/office/drawing/2014/main" val="1450684219"/>
                    </a:ext>
                  </a:extLst>
                </a:gridCol>
                <a:gridCol w="1605871">
                  <a:extLst>
                    <a:ext uri="{9D8B030D-6E8A-4147-A177-3AD203B41FA5}">
                      <a16:colId xmlns:a16="http://schemas.microsoft.com/office/drawing/2014/main" val="4143939798"/>
                    </a:ext>
                  </a:extLst>
                </a:gridCol>
                <a:gridCol w="1297673">
                  <a:extLst>
                    <a:ext uri="{9D8B030D-6E8A-4147-A177-3AD203B41FA5}">
                      <a16:colId xmlns:a16="http://schemas.microsoft.com/office/drawing/2014/main" val="629305440"/>
                    </a:ext>
                  </a:extLst>
                </a:gridCol>
                <a:gridCol w="1151685">
                  <a:extLst>
                    <a:ext uri="{9D8B030D-6E8A-4147-A177-3AD203B41FA5}">
                      <a16:colId xmlns:a16="http://schemas.microsoft.com/office/drawing/2014/main" val="2703666184"/>
                    </a:ext>
                  </a:extLst>
                </a:gridCol>
                <a:gridCol w="1038138">
                  <a:extLst>
                    <a:ext uri="{9D8B030D-6E8A-4147-A177-3AD203B41FA5}">
                      <a16:colId xmlns:a16="http://schemas.microsoft.com/office/drawing/2014/main" val="1880513222"/>
                    </a:ext>
                  </a:extLst>
                </a:gridCol>
                <a:gridCol w="843488">
                  <a:extLst>
                    <a:ext uri="{9D8B030D-6E8A-4147-A177-3AD203B41FA5}">
                      <a16:colId xmlns:a16="http://schemas.microsoft.com/office/drawing/2014/main" val="2183588369"/>
                    </a:ext>
                  </a:extLst>
                </a:gridCol>
                <a:gridCol w="843488">
                  <a:extLst>
                    <a:ext uri="{9D8B030D-6E8A-4147-A177-3AD203B41FA5}">
                      <a16:colId xmlns:a16="http://schemas.microsoft.com/office/drawing/2014/main" val="2473272566"/>
                    </a:ext>
                  </a:extLst>
                </a:gridCol>
              </a:tblGrid>
              <a:tr h="366258">
                <a:tc rowSpan="2" gridSpan="2">
                  <a:txBody>
                    <a:bodyPr/>
                    <a:lstStyle/>
                    <a:p>
                      <a:pPr algn="ctr" rtl="0" fontAlgn="ctr"/>
                      <a:r>
                        <a:rPr lang="en-US" sz="1200" b="0" i="0" u="none" strike="noStrike">
                          <a:solidFill>
                            <a:srgbClr val="FFFFFF"/>
                          </a:solidFill>
                          <a:effectLst/>
                          <a:latin typeface="+mj-lt"/>
                        </a:rPr>
                        <a:t>Particulars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86BC25"/>
                    </a:solidFill>
                  </a:tcPr>
                </a:tc>
                <a:tc rowSpan="2" hMerge="1">
                  <a:txBody>
                    <a:bodyPr/>
                    <a:lstStyle/>
                    <a:p>
                      <a:endParaRPr lang="en-US"/>
                    </a:p>
                  </a:txBody>
                  <a:tcPr/>
                </a:tc>
                <a:tc>
                  <a:txBody>
                    <a:bodyPr/>
                    <a:lstStyle/>
                    <a:p>
                      <a:pPr algn="ctr" rtl="0" fontAlgn="ctr"/>
                      <a:r>
                        <a:rPr lang="en-US" sz="1200" b="0" i="0" u="none" strike="noStrike">
                          <a:solidFill>
                            <a:srgbClr val="FFFFFF"/>
                          </a:solidFill>
                          <a:effectLst/>
                          <a:latin typeface="+mj-lt"/>
                        </a:rPr>
                        <a:t>Billing Efficiency</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Energy Sold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Net Input Energy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Net Energy Reduction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Energy Charge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Net Saving</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Saving in Per Unit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2723434495"/>
                  </a:ext>
                </a:extLst>
              </a:tr>
              <a:tr h="302868">
                <a:tc gridSpan="2" vMerge="1">
                  <a:txBody>
                    <a:bodyPr/>
                    <a:lstStyle/>
                    <a:p>
                      <a:endParaRPr lang="en-US"/>
                    </a:p>
                  </a:txBody>
                  <a:tcPr/>
                </a:tc>
                <a:tc hMerge="1" vMerge="1">
                  <a:txBody>
                    <a:bodyPr/>
                    <a:lstStyle/>
                    <a:p>
                      <a:endParaRPr lang="en-US"/>
                    </a:p>
                  </a:txBody>
                  <a:tcPr/>
                </a:tc>
                <a:tc>
                  <a:txBody>
                    <a:bodyPr/>
                    <a:lstStyle/>
                    <a:p>
                      <a:pPr algn="ctr" rtl="0" fontAlgn="ctr"/>
                      <a:r>
                        <a:rPr lang="en-US" sz="1200" b="0" i="0" u="none" strike="noStrike">
                          <a:solidFill>
                            <a:srgbClr val="FFFFFF"/>
                          </a:solidFill>
                          <a:effectLst/>
                          <a:latin typeface="+mj-lt"/>
                        </a:rPr>
                        <a:t>(%)</a:t>
                      </a:r>
                    </a:p>
                  </a:txBody>
                  <a:tcPr marL="0" marR="0" marT="0" marB="0" anchor="ctr">
                    <a:lnL>
                      <a:noFill/>
                    </a:lnL>
                    <a:lnR>
                      <a:noFill/>
                    </a:lnR>
                    <a:lnT>
                      <a:noFill/>
                    </a:lnT>
                    <a:lnB>
                      <a:noFill/>
                    </a:lnB>
                    <a:solidFill>
                      <a:srgbClr val="86BC25"/>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200" b="0" i="0" u="none" strike="noStrike">
                          <a:solidFill>
                            <a:srgbClr val="FFFFFF"/>
                          </a:solidFill>
                          <a:effectLst/>
                          <a:latin typeface="+mj-lt"/>
                        </a:rPr>
                        <a:t>  ( Rs /KWh)</a:t>
                      </a:r>
                    </a:p>
                  </a:txBody>
                  <a:tcPr marL="0" marR="0" marT="0" marB="0" anchor="ctr">
                    <a:lnL>
                      <a:noFill/>
                    </a:lnL>
                    <a:lnR>
                      <a:noFill/>
                    </a:lnR>
                    <a:lnT>
                      <a:noFill/>
                    </a:lnT>
                    <a:lnB>
                      <a:noFill/>
                    </a:lnB>
                    <a:solidFill>
                      <a:srgbClr val="86BC25"/>
                    </a:solidFill>
                  </a:tcPr>
                </a:tc>
                <a:tc>
                  <a:txBody>
                    <a:bodyPr/>
                    <a:lstStyle/>
                    <a:p>
                      <a:pPr algn="ctr" rtl="0" fontAlgn="ctr"/>
                      <a:r>
                        <a:rPr lang="en-US" sz="1200" b="0" i="0" u="none" strike="noStrike">
                          <a:solidFill>
                            <a:srgbClr val="FFFFFF"/>
                          </a:solidFill>
                          <a:effectLst/>
                          <a:latin typeface="+mj-lt"/>
                        </a:rPr>
                        <a:t> ( Crore)</a:t>
                      </a:r>
                    </a:p>
                  </a:txBody>
                  <a:tcPr marL="0" marR="0" marT="0" marB="0" anchor="ctr">
                    <a:lnL>
                      <a:noFill/>
                    </a:lnL>
                    <a:lnR>
                      <a:noFill/>
                    </a:lnR>
                    <a:lnT>
                      <a:noFill/>
                    </a:lnT>
                    <a:lnB>
                      <a:noFill/>
                    </a:lnB>
                    <a:solidFill>
                      <a:srgbClr val="86BC25"/>
                    </a:solidFill>
                  </a:tcPr>
                </a:tc>
                <a:tc>
                  <a:txBody>
                    <a:bodyPr/>
                    <a:lstStyle/>
                    <a:p>
                      <a:pPr algn="ctr" rtl="0" fontAlgn="ctr"/>
                      <a:r>
                        <a:rPr lang="en-US" sz="1200" b="0" i="0" u="none" strike="noStrike">
                          <a:solidFill>
                            <a:srgbClr val="FFFFFF"/>
                          </a:solidFill>
                          <a:effectLst/>
                          <a:latin typeface="+mj-lt"/>
                        </a:rPr>
                        <a:t>(Rs/KWh)</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86BC25"/>
                    </a:solidFill>
                  </a:tcPr>
                </a:tc>
                <a:extLst>
                  <a:ext uri="{0D108BD9-81ED-4DB2-BD59-A6C34878D82A}">
                    <a16:rowId xmlns:a16="http://schemas.microsoft.com/office/drawing/2014/main" val="3322470589"/>
                  </a:ext>
                </a:extLst>
              </a:tr>
              <a:tr h="204260">
                <a:tc gridSpan="2">
                  <a:txBody>
                    <a:bodyPr/>
                    <a:lstStyle/>
                    <a:p>
                      <a:pPr algn="ctr" rtl="0" fontAlgn="ctr"/>
                      <a:r>
                        <a:rPr lang="en-US" sz="1200" b="0" i="0" u="none" strike="noStrike">
                          <a:solidFill>
                            <a:srgbClr val="000000"/>
                          </a:solidFill>
                          <a:effectLst/>
                          <a:latin typeface="+mj-lt"/>
                        </a:rPr>
                        <a:t>Actual Parameter</a:t>
                      </a:r>
                    </a:p>
                  </a:txBody>
                  <a:tcPr marL="0" marR="0" marT="0" marB="0" anchor="ctr">
                    <a:lnL>
                      <a:noFill/>
                    </a:lnL>
                    <a:lnR>
                      <a:noFill/>
                    </a:lnR>
                    <a:lnT>
                      <a:noFill/>
                    </a:lnT>
                    <a:lnB>
                      <a:noFill/>
                    </a:lnB>
                    <a:solidFill>
                      <a:srgbClr val="DDEBF7"/>
                    </a:solidFill>
                  </a:tcPr>
                </a:tc>
                <a:tc hMerge="1">
                  <a:txBody>
                    <a:bodyPr/>
                    <a:lstStyle/>
                    <a:p>
                      <a:endParaRPr lang="en-US"/>
                    </a:p>
                  </a:txBody>
                  <a:tcPr/>
                </a:tc>
                <a:tc>
                  <a:txBody>
                    <a:bodyPr/>
                    <a:lstStyle/>
                    <a:p>
                      <a:pPr algn="ctr" rtl="0" fontAlgn="ctr"/>
                      <a:r>
                        <a:rPr lang="en-US" sz="1200" b="0" i="0" u="none" strike="noStrike">
                          <a:solidFill>
                            <a:srgbClr val="000000"/>
                          </a:solidFill>
                          <a:effectLst/>
                          <a:latin typeface="+mj-lt"/>
                        </a:rPr>
                        <a:t>79%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37361</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a:t>
                      </a:r>
                    </a:p>
                  </a:txBody>
                  <a:tcPr marL="0" marR="0" marT="0" marB="0" anchor="ctr">
                    <a:lnL>
                      <a:noFill/>
                    </a:lnL>
                    <a:lnR>
                      <a:noFill/>
                    </a:lnR>
                    <a:lnT>
                      <a:noFill/>
                    </a:lnT>
                    <a:lnB>
                      <a:noFill/>
                    </a:lnB>
                    <a:solidFill>
                      <a:srgbClr val="FFFFFF"/>
                    </a:solidFill>
                  </a:tcPr>
                </a:tc>
                <a:tc rowSpan="4">
                  <a:txBody>
                    <a:bodyPr/>
                    <a:lstStyle/>
                    <a:p>
                      <a:pPr algn="ctr" rtl="0" fontAlgn="ctr"/>
                      <a:r>
                        <a:rPr lang="en-US" sz="1200" b="1" i="0" u="none" strike="noStrike">
                          <a:solidFill>
                            <a:srgbClr val="000000"/>
                          </a:solidFill>
                          <a:effectLst/>
                          <a:latin typeface="+mj-lt"/>
                        </a:rPr>
                        <a:t>2.89</a:t>
                      </a:r>
                    </a:p>
                  </a:txBody>
                  <a:tcPr marL="0" marR="0" marT="0" marB="0" anchor="ctr">
                    <a:lnL>
                      <a:noFill/>
                    </a:lnL>
                    <a:lnR>
                      <a:noFill/>
                    </a:lnR>
                    <a:lnT>
                      <a:noFill/>
                    </a:lnT>
                    <a:lnB>
                      <a:noFill/>
                    </a:lnB>
                    <a:solidFill>
                      <a:srgbClr val="FFFFFF"/>
                    </a:solidFill>
                  </a:tcPr>
                </a:tc>
                <a:tc gridSpan="2">
                  <a:txBody>
                    <a:bodyPr/>
                    <a:lstStyle/>
                    <a:p>
                      <a:pPr algn="ctr" rtl="0" fontAlgn="b"/>
                      <a:r>
                        <a:rPr lang="en-US" sz="1200" b="0" i="0" u="none" strike="noStrike">
                          <a:solidFill>
                            <a:srgbClr val="000000"/>
                          </a:solidFill>
                          <a:effectLst/>
                          <a:latin typeface="+mj-lt"/>
                        </a:rPr>
                        <a:t>0</a:t>
                      </a:r>
                    </a:p>
                  </a:txBody>
                  <a:tcPr marL="0" marR="0" marT="0" marB="0" anchor="b">
                    <a:lnL>
                      <a:noFill/>
                    </a:lnL>
                    <a:lnR>
                      <a:noFill/>
                    </a:lnR>
                    <a:lnT>
                      <a:noFill/>
                    </a:lnT>
                    <a:lnB>
                      <a:noFill/>
                    </a:lnB>
                    <a:solidFill>
                      <a:srgbClr val="FFFFFF"/>
                    </a:solidFill>
                  </a:tcPr>
                </a:tc>
                <a:tc hMerge="1">
                  <a:txBody>
                    <a:bodyPr/>
                    <a:lstStyle/>
                    <a:p>
                      <a:endParaRPr lang="en-US"/>
                    </a:p>
                  </a:txBody>
                  <a:tcPr/>
                </a:tc>
                <a:extLst>
                  <a:ext uri="{0D108BD9-81ED-4DB2-BD59-A6C34878D82A}">
                    <a16:rowId xmlns:a16="http://schemas.microsoft.com/office/drawing/2014/main" val="3924133680"/>
                  </a:ext>
                </a:extLst>
              </a:tr>
              <a:tr h="204260">
                <a:tc gridSpan="6">
                  <a:txBody>
                    <a:bodyPr/>
                    <a:lstStyle/>
                    <a:p>
                      <a:pPr algn="ctr" rtl="0" fontAlgn="ctr"/>
                      <a:r>
                        <a:rPr lang="en-US" sz="1200" b="1" i="0" u="none" strike="noStrike">
                          <a:solidFill>
                            <a:srgbClr val="000000"/>
                          </a:solidFill>
                          <a:effectLst/>
                          <a:latin typeface="+mj-lt"/>
                        </a:rPr>
                        <a:t>Phase Wise Reduction </a:t>
                      </a:r>
                    </a:p>
                  </a:txBody>
                  <a:tcPr marL="0" marR="0" marT="0" marB="0" anchor="ctr">
                    <a:lnL>
                      <a:noFill/>
                    </a:lnL>
                    <a:lnR>
                      <a:noFill/>
                    </a:lnR>
                    <a:lnT>
                      <a:noFill/>
                    </a:lnT>
                    <a:lnB>
                      <a:noFill/>
                    </a:lnB>
                    <a:solidFill>
                      <a:srgbClr val="FCE4D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tc>
                  <a:txBody>
                    <a:bodyPr/>
                    <a:lstStyle/>
                    <a:p>
                      <a:pPr algn="ctr" rtl="0" fontAlgn="b"/>
                      <a:r>
                        <a:rPr lang="en-US" sz="1200" b="0" i="0" u="none" strike="noStrike">
                          <a:solidFill>
                            <a:srgbClr val="000000"/>
                          </a:solidFill>
                          <a:effectLst/>
                          <a:latin typeface="+mj-lt"/>
                        </a:rPr>
                        <a:t> </a:t>
                      </a:r>
                    </a:p>
                  </a:txBody>
                  <a:tcPr marL="0" marR="0" marT="0" marB="0" anchor="b">
                    <a:lnL>
                      <a:noFill/>
                    </a:lnL>
                    <a:lnR>
                      <a:noFill/>
                    </a:lnR>
                    <a:lnT>
                      <a:noFill/>
                    </a:lnT>
                    <a:lnB>
                      <a:noFill/>
                    </a:lnB>
                    <a:solidFill>
                      <a:srgbClr val="FFFFFF"/>
                    </a:solidFill>
                  </a:tcPr>
                </a:tc>
                <a:tc>
                  <a:txBody>
                    <a:bodyPr/>
                    <a:lstStyle/>
                    <a:p>
                      <a:pPr algn="ctr" rtl="0" fontAlgn="b"/>
                      <a:r>
                        <a:rPr lang="en-US" sz="1200" b="0" i="0" u="none" strike="noStrike">
                          <a:solidFill>
                            <a:srgbClr val="000000"/>
                          </a:solidFill>
                          <a:effectLst/>
                          <a:latin typeface="+mj-lt"/>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215916655"/>
                  </a:ext>
                </a:extLst>
              </a:tr>
              <a:tr h="204260">
                <a:tc rowSpan="2">
                  <a:txBody>
                    <a:bodyPr/>
                    <a:lstStyle/>
                    <a:p>
                      <a:pPr algn="ctr" rtl="0" fontAlgn="ctr"/>
                      <a:r>
                        <a:rPr lang="en-US" sz="1200" b="0" i="0" u="none" strike="noStrike">
                          <a:solidFill>
                            <a:srgbClr val="000000"/>
                          </a:solidFill>
                          <a:effectLst/>
                          <a:latin typeface="+mj-lt"/>
                        </a:rPr>
                        <a:t>Phase Wise Loss Reduction Planning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dirty="0">
                          <a:solidFill>
                            <a:srgbClr val="000000"/>
                          </a:solidFill>
                          <a:effectLst/>
                          <a:latin typeface="+mj-lt"/>
                        </a:rPr>
                        <a:t>Phase 1</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36044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1317</a:t>
                      </a:r>
                    </a:p>
                  </a:txBody>
                  <a:tcPr marL="0" marR="0" marT="0" marB="0" anchor="ctr">
                    <a:lnL>
                      <a:noFill/>
                    </a:lnL>
                    <a:lnR>
                      <a:noFill/>
                    </a:lnR>
                    <a:lnT>
                      <a:noFill/>
                    </a:lnT>
                    <a:lnB>
                      <a:noFill/>
                    </a:lnB>
                    <a:solidFill>
                      <a:srgbClr val="FFFFFF"/>
                    </a:solidFill>
                  </a:tcPr>
                </a:tc>
                <a:tc vMerge="1">
                  <a:txBody>
                    <a:bodyPr/>
                    <a:lstStyle/>
                    <a:p>
                      <a:endParaRPr lang="en-US"/>
                    </a:p>
                  </a:txBody>
                  <a:tcPr/>
                </a:tc>
                <a:tc>
                  <a:txBody>
                    <a:bodyPr/>
                    <a:lstStyle/>
                    <a:p>
                      <a:pPr algn="ctr" rtl="0" fontAlgn="ctr"/>
                      <a:r>
                        <a:rPr lang="en-US" sz="1200" b="0" i="0" u="none" strike="noStrike">
                          <a:solidFill>
                            <a:srgbClr val="000000"/>
                          </a:solidFill>
                          <a:effectLst/>
                          <a:latin typeface="+mj-lt"/>
                        </a:rPr>
                        <a:t>380</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40713459"/>
                  </a:ext>
                </a:extLst>
              </a:tr>
              <a:tr h="204260">
                <a:tc vMerge="1">
                  <a:txBody>
                    <a:bodyPr/>
                    <a:lstStyle/>
                    <a:p>
                      <a:endParaRPr lang="en-US"/>
                    </a:p>
                  </a:txBody>
                  <a:tcPr/>
                </a:tc>
                <a:tc>
                  <a:txBody>
                    <a:bodyPr/>
                    <a:lstStyle/>
                    <a:p>
                      <a:pPr algn="ctr" rtl="0" fontAlgn="ctr"/>
                      <a:r>
                        <a:rPr lang="en-US" sz="1200" b="0" i="0" u="none" strike="noStrike">
                          <a:solidFill>
                            <a:srgbClr val="000000"/>
                          </a:solidFill>
                          <a:effectLst/>
                          <a:latin typeface="+mj-lt"/>
                        </a:rPr>
                        <a:t>Phase 2</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85%</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34772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1272</a:t>
                      </a:r>
                    </a:p>
                  </a:txBody>
                  <a:tcPr marL="0" marR="0" marT="0" marB="0" anchor="ctr">
                    <a:lnL>
                      <a:noFill/>
                    </a:lnL>
                    <a:lnR>
                      <a:noFill/>
                    </a:lnR>
                    <a:lnT>
                      <a:noFill/>
                    </a:lnT>
                    <a:lnB>
                      <a:noFill/>
                    </a:lnB>
                    <a:solidFill>
                      <a:srgbClr val="FFFFFF"/>
                    </a:solidFill>
                  </a:tcPr>
                </a:tc>
                <a:tc vMerge="1">
                  <a:txBody>
                    <a:bodyPr/>
                    <a:lstStyle/>
                    <a:p>
                      <a:endParaRPr lang="en-US"/>
                    </a:p>
                  </a:txBody>
                  <a:tcPr/>
                </a:tc>
                <a:tc>
                  <a:txBody>
                    <a:bodyPr/>
                    <a:lstStyle/>
                    <a:p>
                      <a:pPr algn="ctr" rtl="0" fontAlgn="ctr"/>
                      <a:r>
                        <a:rPr lang="en-US" sz="1200" b="0" i="0" u="none" strike="noStrike">
                          <a:solidFill>
                            <a:srgbClr val="000000"/>
                          </a:solidFill>
                          <a:effectLst/>
                          <a:latin typeface="+mj-lt"/>
                        </a:rPr>
                        <a:t>367</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33385184"/>
                  </a:ext>
                </a:extLst>
              </a:tr>
              <a:tr h="204260">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88%</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33510</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1262</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364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70282390"/>
                  </a:ext>
                </a:extLst>
              </a:tr>
              <a:tr h="204260">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91%</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32319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1191</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344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546623184"/>
                  </a:ext>
                </a:extLst>
              </a:tr>
              <a:tr h="204260">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95%</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31112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1208</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349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dirty="0">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57592213"/>
                  </a:ext>
                </a:extLst>
              </a:tr>
            </a:tbl>
          </a:graphicData>
        </a:graphic>
      </p:graphicFrame>
      <p:graphicFrame>
        <p:nvGraphicFramePr>
          <p:cNvPr id="17" name="Table 16">
            <a:extLst>
              <a:ext uri="{FF2B5EF4-FFF2-40B4-BE49-F238E27FC236}">
                <a16:creationId xmlns:a16="http://schemas.microsoft.com/office/drawing/2014/main" id="{E60A50A7-4042-4C3C-85C3-52BEBE126D4F}"/>
              </a:ext>
            </a:extLst>
          </p:cNvPr>
          <p:cNvGraphicFramePr>
            <a:graphicFrameLocks noGrp="1"/>
          </p:cNvGraphicFramePr>
          <p:nvPr>
            <p:extLst>
              <p:ext uri="{D42A27DB-BD31-4B8C-83A1-F6EECF244321}">
                <p14:modId xmlns:p14="http://schemas.microsoft.com/office/powerpoint/2010/main" val="326953051"/>
              </p:ext>
            </p:extLst>
          </p:nvPr>
        </p:nvGraphicFramePr>
        <p:xfrm>
          <a:off x="539747" y="4108549"/>
          <a:ext cx="11160575" cy="1921928"/>
        </p:xfrm>
        <a:graphic>
          <a:graphicData uri="http://schemas.openxmlformats.org/drawingml/2006/table">
            <a:tbl>
              <a:tblPr/>
              <a:tblGrid>
                <a:gridCol w="1550528">
                  <a:extLst>
                    <a:ext uri="{9D8B030D-6E8A-4147-A177-3AD203B41FA5}">
                      <a16:colId xmlns:a16="http://schemas.microsoft.com/office/drawing/2014/main" val="3572253722"/>
                    </a:ext>
                  </a:extLst>
                </a:gridCol>
                <a:gridCol w="1259804">
                  <a:extLst>
                    <a:ext uri="{9D8B030D-6E8A-4147-A177-3AD203B41FA5}">
                      <a16:colId xmlns:a16="http://schemas.microsoft.com/office/drawing/2014/main" val="3993421989"/>
                    </a:ext>
                  </a:extLst>
                </a:gridCol>
                <a:gridCol w="1598983">
                  <a:extLst>
                    <a:ext uri="{9D8B030D-6E8A-4147-A177-3AD203B41FA5}">
                      <a16:colId xmlns:a16="http://schemas.microsoft.com/office/drawing/2014/main" val="3394016231"/>
                    </a:ext>
                  </a:extLst>
                </a:gridCol>
                <a:gridCol w="1598983">
                  <a:extLst>
                    <a:ext uri="{9D8B030D-6E8A-4147-A177-3AD203B41FA5}">
                      <a16:colId xmlns:a16="http://schemas.microsoft.com/office/drawing/2014/main" val="3356572549"/>
                    </a:ext>
                  </a:extLst>
                </a:gridCol>
                <a:gridCol w="1292107">
                  <a:extLst>
                    <a:ext uri="{9D8B030D-6E8A-4147-A177-3AD203B41FA5}">
                      <a16:colId xmlns:a16="http://schemas.microsoft.com/office/drawing/2014/main" val="4117298484"/>
                    </a:ext>
                  </a:extLst>
                </a:gridCol>
                <a:gridCol w="1146745">
                  <a:extLst>
                    <a:ext uri="{9D8B030D-6E8A-4147-A177-3AD203B41FA5}">
                      <a16:colId xmlns:a16="http://schemas.microsoft.com/office/drawing/2014/main" val="1278422191"/>
                    </a:ext>
                  </a:extLst>
                </a:gridCol>
                <a:gridCol w="1033685">
                  <a:extLst>
                    <a:ext uri="{9D8B030D-6E8A-4147-A177-3AD203B41FA5}">
                      <a16:colId xmlns:a16="http://schemas.microsoft.com/office/drawing/2014/main" val="1254033770"/>
                    </a:ext>
                  </a:extLst>
                </a:gridCol>
                <a:gridCol w="839870">
                  <a:extLst>
                    <a:ext uri="{9D8B030D-6E8A-4147-A177-3AD203B41FA5}">
                      <a16:colId xmlns:a16="http://schemas.microsoft.com/office/drawing/2014/main" val="4125753427"/>
                    </a:ext>
                  </a:extLst>
                </a:gridCol>
                <a:gridCol w="839870">
                  <a:extLst>
                    <a:ext uri="{9D8B030D-6E8A-4147-A177-3AD203B41FA5}">
                      <a16:colId xmlns:a16="http://schemas.microsoft.com/office/drawing/2014/main" val="751648865"/>
                    </a:ext>
                  </a:extLst>
                </a:gridCol>
              </a:tblGrid>
              <a:tr h="348795">
                <a:tc rowSpan="2" gridSpan="2">
                  <a:txBody>
                    <a:bodyPr/>
                    <a:lstStyle/>
                    <a:p>
                      <a:pPr algn="ctr" rtl="0" fontAlgn="ctr"/>
                      <a:r>
                        <a:rPr lang="en-US" sz="1200" b="0" i="0" u="none" strike="noStrike">
                          <a:solidFill>
                            <a:srgbClr val="FFFFFF"/>
                          </a:solidFill>
                          <a:effectLst/>
                          <a:latin typeface="+mj-lt"/>
                        </a:rPr>
                        <a:t>Particulars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86BC25"/>
                    </a:solidFill>
                  </a:tcPr>
                </a:tc>
                <a:tc rowSpan="2" hMerge="1">
                  <a:txBody>
                    <a:bodyPr/>
                    <a:lstStyle/>
                    <a:p>
                      <a:endParaRPr lang="en-US"/>
                    </a:p>
                  </a:txBody>
                  <a:tcPr/>
                </a:tc>
                <a:tc>
                  <a:txBody>
                    <a:bodyPr/>
                    <a:lstStyle/>
                    <a:p>
                      <a:pPr algn="ctr" rtl="0" fontAlgn="ctr"/>
                      <a:r>
                        <a:rPr lang="en-US" sz="1200" b="0" i="0" u="none" strike="noStrike">
                          <a:solidFill>
                            <a:srgbClr val="FFFFFF"/>
                          </a:solidFill>
                          <a:effectLst/>
                          <a:latin typeface="+mj-lt"/>
                        </a:rPr>
                        <a:t>Billing Efficiency</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Energy Sold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Net Input Energy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Net Energy Reduction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Energy Charge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Net Saving</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Saving in Per Unit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4000647371"/>
                  </a:ext>
                </a:extLst>
              </a:tr>
              <a:tr h="194521">
                <a:tc gridSpan="2" vMerge="1">
                  <a:txBody>
                    <a:bodyPr/>
                    <a:lstStyle/>
                    <a:p>
                      <a:endParaRPr lang="en-US"/>
                    </a:p>
                  </a:txBody>
                  <a:tcPr/>
                </a:tc>
                <a:tc hMerge="1" vMerge="1">
                  <a:txBody>
                    <a:bodyPr/>
                    <a:lstStyle/>
                    <a:p>
                      <a:endParaRPr lang="en-US"/>
                    </a:p>
                  </a:txBody>
                  <a:tcPr/>
                </a:tc>
                <a:tc>
                  <a:txBody>
                    <a:bodyPr/>
                    <a:lstStyle/>
                    <a:p>
                      <a:pPr algn="ctr" rtl="0" fontAlgn="ctr"/>
                      <a:r>
                        <a:rPr lang="en-US" sz="1200" b="0" i="0" u="none" strike="noStrike">
                          <a:solidFill>
                            <a:srgbClr val="FFFFFF"/>
                          </a:solidFill>
                          <a:effectLst/>
                          <a:latin typeface="+mj-lt"/>
                        </a:rPr>
                        <a:t>(%)</a:t>
                      </a:r>
                    </a:p>
                  </a:txBody>
                  <a:tcPr marL="0" marR="0" marT="0" marB="0" anchor="ctr">
                    <a:lnL>
                      <a:noFill/>
                    </a:lnL>
                    <a:lnR>
                      <a:noFill/>
                    </a:lnR>
                    <a:lnT>
                      <a:noFill/>
                    </a:lnT>
                    <a:lnB>
                      <a:noFill/>
                    </a:lnB>
                    <a:solidFill>
                      <a:srgbClr val="86BC25"/>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200" b="0" i="0" u="none" strike="noStrike">
                          <a:solidFill>
                            <a:srgbClr val="FFFFFF"/>
                          </a:solidFill>
                          <a:effectLst/>
                          <a:latin typeface="+mj-lt"/>
                        </a:rPr>
                        <a:t>  ( Rs /KWh)</a:t>
                      </a:r>
                    </a:p>
                  </a:txBody>
                  <a:tcPr marL="0" marR="0" marT="0" marB="0" anchor="ctr">
                    <a:lnL>
                      <a:noFill/>
                    </a:lnL>
                    <a:lnR>
                      <a:noFill/>
                    </a:lnR>
                    <a:lnT>
                      <a:noFill/>
                    </a:lnT>
                    <a:lnB>
                      <a:noFill/>
                    </a:lnB>
                    <a:solidFill>
                      <a:srgbClr val="86BC25"/>
                    </a:solidFill>
                  </a:tcPr>
                </a:tc>
                <a:tc>
                  <a:txBody>
                    <a:bodyPr/>
                    <a:lstStyle/>
                    <a:p>
                      <a:pPr algn="ctr" rtl="0" fontAlgn="ctr"/>
                      <a:r>
                        <a:rPr lang="en-US" sz="1200" b="0" i="0" u="none" strike="noStrike">
                          <a:solidFill>
                            <a:srgbClr val="FFFFFF"/>
                          </a:solidFill>
                          <a:effectLst/>
                          <a:latin typeface="+mj-lt"/>
                        </a:rPr>
                        <a:t> ( Crore)</a:t>
                      </a:r>
                    </a:p>
                  </a:txBody>
                  <a:tcPr marL="0" marR="0" marT="0" marB="0" anchor="ctr">
                    <a:lnL>
                      <a:noFill/>
                    </a:lnL>
                    <a:lnR>
                      <a:noFill/>
                    </a:lnR>
                    <a:lnT>
                      <a:noFill/>
                    </a:lnT>
                    <a:lnB>
                      <a:noFill/>
                    </a:lnB>
                    <a:solidFill>
                      <a:srgbClr val="86BC25"/>
                    </a:solidFill>
                  </a:tcPr>
                </a:tc>
                <a:tc>
                  <a:txBody>
                    <a:bodyPr/>
                    <a:lstStyle/>
                    <a:p>
                      <a:pPr algn="ctr" rtl="0" fontAlgn="ctr"/>
                      <a:r>
                        <a:rPr lang="en-US" sz="1200" b="0" i="0" u="none" strike="noStrike">
                          <a:solidFill>
                            <a:srgbClr val="FFFFFF"/>
                          </a:solidFill>
                          <a:effectLst/>
                          <a:latin typeface="+mj-lt"/>
                        </a:rPr>
                        <a:t>(Rs/KWh)</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86BC25"/>
                    </a:solidFill>
                  </a:tcPr>
                </a:tc>
                <a:extLst>
                  <a:ext uri="{0D108BD9-81ED-4DB2-BD59-A6C34878D82A}">
                    <a16:rowId xmlns:a16="http://schemas.microsoft.com/office/drawing/2014/main" val="1812149934"/>
                  </a:ext>
                </a:extLst>
              </a:tr>
              <a:tr h="194521">
                <a:tc gridSpan="2">
                  <a:txBody>
                    <a:bodyPr/>
                    <a:lstStyle/>
                    <a:p>
                      <a:pPr algn="ctr" rtl="0" fontAlgn="ctr"/>
                      <a:r>
                        <a:rPr lang="en-US" sz="1200" b="0" i="0" u="none" strike="noStrike">
                          <a:solidFill>
                            <a:srgbClr val="000000"/>
                          </a:solidFill>
                          <a:effectLst/>
                          <a:latin typeface="+mj-lt"/>
                        </a:rPr>
                        <a:t>Actual Parameter</a:t>
                      </a:r>
                    </a:p>
                  </a:txBody>
                  <a:tcPr marL="0" marR="0" marT="0" marB="0" anchor="ctr">
                    <a:lnL>
                      <a:noFill/>
                    </a:lnL>
                    <a:lnR>
                      <a:noFill/>
                    </a:lnR>
                    <a:lnT>
                      <a:noFill/>
                    </a:lnT>
                    <a:lnB>
                      <a:noFill/>
                    </a:lnB>
                    <a:solidFill>
                      <a:srgbClr val="DDEBF7"/>
                    </a:solidFill>
                  </a:tcPr>
                </a:tc>
                <a:tc hMerge="1">
                  <a:txBody>
                    <a:bodyPr/>
                    <a:lstStyle/>
                    <a:p>
                      <a:endParaRPr lang="en-US"/>
                    </a:p>
                  </a:txBody>
                  <a:tcPr/>
                </a:tc>
                <a:tc>
                  <a:txBody>
                    <a:bodyPr/>
                    <a:lstStyle/>
                    <a:p>
                      <a:pPr algn="ctr" rtl="0" fontAlgn="ctr"/>
                      <a:r>
                        <a:rPr lang="en-US" sz="1200" b="0" i="0" u="none" strike="noStrike">
                          <a:solidFill>
                            <a:srgbClr val="000000"/>
                          </a:solidFill>
                          <a:effectLst/>
                          <a:latin typeface="+mj-lt"/>
                        </a:rPr>
                        <a:t>79%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37361</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a:t>
                      </a:r>
                    </a:p>
                  </a:txBody>
                  <a:tcPr marL="0" marR="0" marT="0" marB="0" anchor="ctr">
                    <a:lnL>
                      <a:noFill/>
                    </a:lnL>
                    <a:lnR>
                      <a:noFill/>
                    </a:lnR>
                    <a:lnT>
                      <a:noFill/>
                    </a:lnT>
                    <a:lnB>
                      <a:noFill/>
                    </a:lnB>
                    <a:solidFill>
                      <a:srgbClr val="FFFFFF"/>
                    </a:solidFill>
                  </a:tcPr>
                </a:tc>
                <a:tc rowSpan="4">
                  <a:txBody>
                    <a:bodyPr/>
                    <a:lstStyle/>
                    <a:p>
                      <a:pPr algn="ctr" rtl="0" fontAlgn="ctr"/>
                      <a:r>
                        <a:rPr lang="en-US" sz="1200" b="1" i="0" u="none" strike="noStrike">
                          <a:solidFill>
                            <a:srgbClr val="000000"/>
                          </a:solidFill>
                          <a:effectLst/>
                          <a:latin typeface="+mj-lt"/>
                        </a:rPr>
                        <a:t>4.49</a:t>
                      </a:r>
                    </a:p>
                  </a:txBody>
                  <a:tcPr marL="0" marR="0" marT="0" marB="0" anchor="ctr">
                    <a:lnL>
                      <a:noFill/>
                    </a:lnL>
                    <a:lnR>
                      <a:noFill/>
                    </a:lnR>
                    <a:lnT>
                      <a:noFill/>
                    </a:lnT>
                    <a:lnB>
                      <a:noFill/>
                    </a:lnB>
                    <a:solidFill>
                      <a:srgbClr val="FFFFFF"/>
                    </a:solidFill>
                  </a:tcPr>
                </a:tc>
                <a:tc gridSpan="2">
                  <a:txBody>
                    <a:bodyPr/>
                    <a:lstStyle/>
                    <a:p>
                      <a:pPr algn="ctr" rtl="0" fontAlgn="b"/>
                      <a:r>
                        <a:rPr lang="en-US" sz="1200" b="0" i="0" u="none" strike="noStrike">
                          <a:solidFill>
                            <a:srgbClr val="000000"/>
                          </a:solidFill>
                          <a:effectLst/>
                          <a:latin typeface="+mj-lt"/>
                        </a:rPr>
                        <a:t>0</a:t>
                      </a:r>
                    </a:p>
                  </a:txBody>
                  <a:tcPr marL="0" marR="0" marT="0" marB="0" anchor="b">
                    <a:lnL>
                      <a:noFill/>
                    </a:lnL>
                    <a:lnR>
                      <a:noFill/>
                    </a:lnR>
                    <a:lnT>
                      <a:noFill/>
                    </a:lnT>
                    <a:lnB>
                      <a:noFill/>
                    </a:lnB>
                    <a:solidFill>
                      <a:srgbClr val="FFFFFF"/>
                    </a:solidFill>
                  </a:tcPr>
                </a:tc>
                <a:tc hMerge="1">
                  <a:txBody>
                    <a:bodyPr/>
                    <a:lstStyle/>
                    <a:p>
                      <a:endParaRPr lang="en-US"/>
                    </a:p>
                  </a:txBody>
                  <a:tcPr/>
                </a:tc>
                <a:extLst>
                  <a:ext uri="{0D108BD9-81ED-4DB2-BD59-A6C34878D82A}">
                    <a16:rowId xmlns:a16="http://schemas.microsoft.com/office/drawing/2014/main" val="4046288100"/>
                  </a:ext>
                </a:extLst>
              </a:tr>
              <a:tr h="194521">
                <a:tc gridSpan="6">
                  <a:txBody>
                    <a:bodyPr/>
                    <a:lstStyle/>
                    <a:p>
                      <a:pPr algn="ctr" rtl="0" fontAlgn="ctr"/>
                      <a:r>
                        <a:rPr lang="en-US" sz="1200" b="1" i="0" u="none" strike="noStrike">
                          <a:solidFill>
                            <a:srgbClr val="000000"/>
                          </a:solidFill>
                          <a:effectLst/>
                          <a:latin typeface="+mj-lt"/>
                        </a:rPr>
                        <a:t>Phase Wise Reduction </a:t>
                      </a:r>
                    </a:p>
                  </a:txBody>
                  <a:tcPr marL="0" marR="0" marT="0" marB="0" anchor="ctr">
                    <a:lnL>
                      <a:noFill/>
                    </a:lnL>
                    <a:lnR>
                      <a:noFill/>
                    </a:lnR>
                    <a:lnT>
                      <a:noFill/>
                    </a:lnT>
                    <a:lnB>
                      <a:noFill/>
                    </a:lnB>
                    <a:solidFill>
                      <a:srgbClr val="FCE4D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tc>
                  <a:txBody>
                    <a:bodyPr/>
                    <a:lstStyle/>
                    <a:p>
                      <a:pPr algn="ctr" rtl="0" fontAlgn="b"/>
                      <a:r>
                        <a:rPr lang="en-US" sz="1200" b="0" i="0" u="none" strike="noStrike">
                          <a:solidFill>
                            <a:srgbClr val="000000"/>
                          </a:solidFill>
                          <a:effectLst/>
                          <a:latin typeface="+mj-lt"/>
                        </a:rPr>
                        <a:t> </a:t>
                      </a:r>
                    </a:p>
                  </a:txBody>
                  <a:tcPr marL="0" marR="0" marT="0" marB="0" anchor="b">
                    <a:lnL>
                      <a:noFill/>
                    </a:lnL>
                    <a:lnR>
                      <a:noFill/>
                    </a:lnR>
                    <a:lnT>
                      <a:noFill/>
                    </a:lnT>
                    <a:lnB>
                      <a:noFill/>
                    </a:lnB>
                    <a:solidFill>
                      <a:srgbClr val="FFFFFF"/>
                    </a:solidFill>
                  </a:tcPr>
                </a:tc>
                <a:tc>
                  <a:txBody>
                    <a:bodyPr/>
                    <a:lstStyle/>
                    <a:p>
                      <a:pPr algn="ctr" rtl="0" fontAlgn="b"/>
                      <a:r>
                        <a:rPr lang="en-US" sz="1200" b="0" i="0" u="none" strike="noStrike">
                          <a:solidFill>
                            <a:srgbClr val="000000"/>
                          </a:solidFill>
                          <a:effectLst/>
                          <a:latin typeface="+mj-lt"/>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100954583"/>
                  </a:ext>
                </a:extLst>
              </a:tr>
              <a:tr h="194521">
                <a:tc rowSpan="2">
                  <a:txBody>
                    <a:bodyPr/>
                    <a:lstStyle/>
                    <a:p>
                      <a:pPr algn="ctr" rtl="0" fontAlgn="ctr"/>
                      <a:r>
                        <a:rPr lang="en-US" sz="1200" b="0" i="0" u="none" strike="noStrike">
                          <a:solidFill>
                            <a:srgbClr val="000000"/>
                          </a:solidFill>
                          <a:effectLst/>
                          <a:latin typeface="+mj-lt"/>
                        </a:rPr>
                        <a:t>Phase Wise Loss Reduction Planning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Phase 1</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36044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1317</a:t>
                      </a:r>
                    </a:p>
                  </a:txBody>
                  <a:tcPr marL="0" marR="0" marT="0" marB="0" anchor="ctr">
                    <a:lnL>
                      <a:noFill/>
                    </a:lnL>
                    <a:lnR>
                      <a:noFill/>
                    </a:lnR>
                    <a:lnT>
                      <a:noFill/>
                    </a:lnT>
                    <a:lnB>
                      <a:noFill/>
                    </a:lnB>
                    <a:solidFill>
                      <a:srgbClr val="FFFFFF"/>
                    </a:solidFill>
                  </a:tcPr>
                </a:tc>
                <a:tc vMerge="1">
                  <a:txBody>
                    <a:bodyPr/>
                    <a:lstStyle/>
                    <a:p>
                      <a:endParaRPr lang="en-US"/>
                    </a:p>
                  </a:txBody>
                  <a:tcPr/>
                </a:tc>
                <a:tc>
                  <a:txBody>
                    <a:bodyPr/>
                    <a:lstStyle/>
                    <a:p>
                      <a:pPr algn="ctr" rtl="0" fontAlgn="ctr"/>
                      <a:r>
                        <a:rPr lang="en-US" sz="1200" b="0" i="0" u="none" strike="noStrike">
                          <a:solidFill>
                            <a:srgbClr val="000000"/>
                          </a:solidFill>
                          <a:effectLst/>
                          <a:latin typeface="+mj-lt"/>
                        </a:rPr>
                        <a:t>592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508910071"/>
                  </a:ext>
                </a:extLst>
              </a:tr>
              <a:tr h="194521">
                <a:tc vMerge="1">
                  <a:txBody>
                    <a:bodyPr/>
                    <a:lstStyle/>
                    <a:p>
                      <a:endParaRPr lang="en-US"/>
                    </a:p>
                  </a:txBody>
                  <a:tcPr/>
                </a:tc>
                <a:tc>
                  <a:txBody>
                    <a:bodyPr/>
                    <a:lstStyle/>
                    <a:p>
                      <a:pPr algn="ctr" rtl="0" fontAlgn="ctr"/>
                      <a:r>
                        <a:rPr lang="en-US" sz="1200" b="0" i="0" u="none" strike="noStrike">
                          <a:solidFill>
                            <a:srgbClr val="000000"/>
                          </a:solidFill>
                          <a:effectLst/>
                          <a:latin typeface="+mj-lt"/>
                        </a:rPr>
                        <a:t>Phase 2</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85%</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34772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1272</a:t>
                      </a:r>
                    </a:p>
                  </a:txBody>
                  <a:tcPr marL="0" marR="0" marT="0" marB="0" anchor="ctr">
                    <a:lnL>
                      <a:noFill/>
                    </a:lnL>
                    <a:lnR>
                      <a:noFill/>
                    </a:lnR>
                    <a:lnT>
                      <a:noFill/>
                    </a:lnT>
                    <a:lnB>
                      <a:noFill/>
                    </a:lnB>
                    <a:solidFill>
                      <a:srgbClr val="FFFFFF"/>
                    </a:solidFill>
                  </a:tcPr>
                </a:tc>
                <a:tc vMerge="1">
                  <a:txBody>
                    <a:bodyPr/>
                    <a:lstStyle/>
                    <a:p>
                      <a:endParaRPr lang="en-US"/>
                    </a:p>
                  </a:txBody>
                  <a:tcPr/>
                </a:tc>
                <a:tc>
                  <a:txBody>
                    <a:bodyPr/>
                    <a:lstStyle/>
                    <a:p>
                      <a:pPr algn="ctr" rtl="0" fontAlgn="ctr"/>
                      <a:r>
                        <a:rPr lang="en-US" sz="1200" b="0" i="0" u="none" strike="noStrike">
                          <a:solidFill>
                            <a:srgbClr val="000000"/>
                          </a:solidFill>
                          <a:effectLst/>
                          <a:latin typeface="+mj-lt"/>
                        </a:rPr>
                        <a:t>572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754293025"/>
                  </a:ext>
                </a:extLst>
              </a:tr>
              <a:tr h="194521">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88%</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33586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1185</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533</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882967247"/>
                  </a:ext>
                </a:extLst>
              </a:tr>
              <a:tr h="194521">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91%</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32443</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1143</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514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25505377"/>
                  </a:ext>
                </a:extLst>
              </a:tr>
              <a:tr h="194521">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dirty="0">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94%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31309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1134</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510</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dirty="0">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780008989"/>
                  </a:ext>
                </a:extLst>
              </a:tr>
            </a:tbl>
          </a:graphicData>
        </a:graphic>
      </p:graphicFrame>
      <p:sp>
        <p:nvSpPr>
          <p:cNvPr id="18" name="TextBox 17">
            <a:extLst>
              <a:ext uri="{FF2B5EF4-FFF2-40B4-BE49-F238E27FC236}">
                <a16:creationId xmlns:a16="http://schemas.microsoft.com/office/drawing/2014/main" id="{01D6F6CC-AEA1-495C-98E8-4B7906FCFF2A}"/>
              </a:ext>
            </a:extLst>
          </p:cNvPr>
          <p:cNvSpPr txBox="1"/>
          <p:nvPr/>
        </p:nvSpPr>
        <p:spPr>
          <a:xfrm rot="10800000" flipV="1">
            <a:off x="491670" y="6121871"/>
            <a:ext cx="7569764" cy="184666"/>
          </a:xfrm>
          <a:prstGeom prst="rect">
            <a:avLst/>
          </a:prstGeom>
          <a:noFill/>
        </p:spPr>
        <p:txBody>
          <a:bodyPr wrap="square" lIns="0" tIns="0" rIns="0" bIns="0" rtlCol="0">
            <a:spAutoFit/>
          </a:bodyPr>
          <a:lstStyle/>
          <a:p>
            <a:pPr>
              <a:buSzPct val="100000"/>
            </a:pPr>
            <a:r>
              <a:rPr lang="en-US" sz="1200" dirty="0">
                <a:solidFill>
                  <a:srgbClr val="313131"/>
                </a:solidFill>
                <a:latin typeface="Calibri" panose="020F0502020204030204" pitchFamily="34" charset="0"/>
                <a:cs typeface="Calibri" panose="020F0502020204030204" pitchFamily="34" charset="0"/>
              </a:rPr>
              <a:t>** Based on approved average power purchase rate of DVC Plant – Mejia and RTPS </a:t>
            </a:r>
          </a:p>
        </p:txBody>
      </p:sp>
      <p:sp>
        <p:nvSpPr>
          <p:cNvPr id="19" name="Arrow: Left 18">
            <a:extLst>
              <a:ext uri="{FF2B5EF4-FFF2-40B4-BE49-F238E27FC236}">
                <a16:creationId xmlns:a16="http://schemas.microsoft.com/office/drawing/2014/main" id="{A8968065-5E82-49BC-8F19-A043D050BB1B}"/>
              </a:ext>
            </a:extLst>
          </p:cNvPr>
          <p:cNvSpPr/>
          <p:nvPr/>
        </p:nvSpPr>
        <p:spPr bwMode="gray">
          <a:xfrm>
            <a:off x="10289267" y="6582598"/>
            <a:ext cx="1578323" cy="326920"/>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hlinkClick r:id="rId2" action="ppaction://hlinksldjump"/>
              </a:rPr>
              <a:t>Back to Home</a:t>
            </a:r>
            <a:endParaRPr lang="en-US" sz="1100" b="1" dirty="0">
              <a:solidFill>
                <a:schemeClr val="bg1"/>
              </a:solidFill>
            </a:endParaRPr>
          </a:p>
        </p:txBody>
      </p:sp>
      <p:sp>
        <p:nvSpPr>
          <p:cNvPr id="12" name="Oval 11">
            <a:extLst>
              <a:ext uri="{FF2B5EF4-FFF2-40B4-BE49-F238E27FC236}">
                <a16:creationId xmlns:a16="http://schemas.microsoft.com/office/drawing/2014/main" id="{691BEE36-C840-4CD3-B535-362FB8BDCFEA}"/>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4</a:t>
            </a:r>
          </a:p>
        </p:txBody>
      </p:sp>
    </p:spTree>
    <p:extLst>
      <p:ext uri="{BB962C8B-B14F-4D97-AF65-F5344CB8AC3E}">
        <p14:creationId xmlns:p14="http://schemas.microsoft.com/office/powerpoint/2010/main" val="9672736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b="1" dirty="0"/>
              <a:t>Reduction in bulk power purchase cost through fulfilling RPO obligation target (for FY 21)</a:t>
            </a:r>
          </a:p>
        </p:txBody>
      </p:sp>
      <p:graphicFrame>
        <p:nvGraphicFramePr>
          <p:cNvPr id="15" name="Table 14">
            <a:extLst>
              <a:ext uri="{FF2B5EF4-FFF2-40B4-BE49-F238E27FC236}">
                <a16:creationId xmlns:a16="http://schemas.microsoft.com/office/drawing/2014/main" id="{C4CC95FC-C9A2-4763-A9D4-EC296A35F1BA}"/>
              </a:ext>
            </a:extLst>
          </p:cNvPr>
          <p:cNvGraphicFramePr>
            <a:graphicFrameLocks noGrp="1"/>
          </p:cNvGraphicFramePr>
          <p:nvPr>
            <p:extLst>
              <p:ext uri="{D42A27DB-BD31-4B8C-83A1-F6EECF244321}">
                <p14:modId xmlns:p14="http://schemas.microsoft.com/office/powerpoint/2010/main" val="4016704621"/>
              </p:ext>
            </p:extLst>
          </p:nvPr>
        </p:nvGraphicFramePr>
        <p:xfrm>
          <a:off x="501652" y="1440886"/>
          <a:ext cx="10710633" cy="1258772"/>
        </p:xfrm>
        <a:graphic>
          <a:graphicData uri="http://schemas.openxmlformats.org/drawingml/2006/table">
            <a:tbl>
              <a:tblPr>
                <a:tableStyleId>{2D5ABB26-0587-4C30-8999-92F81FD0307C}</a:tableStyleId>
              </a:tblPr>
              <a:tblGrid>
                <a:gridCol w="3570211">
                  <a:extLst>
                    <a:ext uri="{9D8B030D-6E8A-4147-A177-3AD203B41FA5}">
                      <a16:colId xmlns:a16="http://schemas.microsoft.com/office/drawing/2014/main" val="4255169224"/>
                    </a:ext>
                  </a:extLst>
                </a:gridCol>
                <a:gridCol w="3570211">
                  <a:extLst>
                    <a:ext uri="{9D8B030D-6E8A-4147-A177-3AD203B41FA5}">
                      <a16:colId xmlns:a16="http://schemas.microsoft.com/office/drawing/2014/main" val="3340434987"/>
                    </a:ext>
                  </a:extLst>
                </a:gridCol>
                <a:gridCol w="3570211">
                  <a:extLst>
                    <a:ext uri="{9D8B030D-6E8A-4147-A177-3AD203B41FA5}">
                      <a16:colId xmlns:a16="http://schemas.microsoft.com/office/drawing/2014/main" val="1273344197"/>
                    </a:ext>
                  </a:extLst>
                </a:gridCol>
              </a:tblGrid>
              <a:tr h="314693">
                <a:tc>
                  <a:txBody>
                    <a:bodyPr/>
                    <a:lstStyle/>
                    <a:p>
                      <a:pPr algn="l" fontAlgn="ctr"/>
                      <a:r>
                        <a:rPr lang="en-US" sz="1400" b="1" u="none" strike="noStrike" dirty="0">
                          <a:solidFill>
                            <a:schemeClr val="bg1"/>
                          </a:solidFill>
                          <a:effectLst/>
                        </a:rPr>
                        <a:t>Particulars</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tc>
                  <a:txBody>
                    <a:bodyPr/>
                    <a:lstStyle/>
                    <a:p>
                      <a:pPr algn="l" fontAlgn="ctr"/>
                      <a:r>
                        <a:rPr lang="en-US" sz="1400" b="1" u="none" strike="noStrike" dirty="0">
                          <a:solidFill>
                            <a:schemeClr val="bg1"/>
                          </a:solidFill>
                          <a:effectLst/>
                        </a:rPr>
                        <a:t>Value</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tc>
                  <a:txBody>
                    <a:bodyPr/>
                    <a:lstStyle/>
                    <a:p>
                      <a:pPr algn="l" fontAlgn="ctr"/>
                      <a:r>
                        <a:rPr lang="en-US" sz="1400" b="1" u="none" strike="noStrike" dirty="0">
                          <a:solidFill>
                            <a:schemeClr val="bg1"/>
                          </a:solidFill>
                          <a:effectLst/>
                        </a:rPr>
                        <a:t>Unit</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extLst>
                  <a:ext uri="{0D108BD9-81ED-4DB2-BD59-A6C34878D82A}">
                    <a16:rowId xmlns:a16="http://schemas.microsoft.com/office/drawing/2014/main" val="3349824983"/>
                  </a:ext>
                </a:extLst>
              </a:tr>
              <a:tr h="314693">
                <a:tc>
                  <a:txBody>
                    <a:bodyPr/>
                    <a:lstStyle/>
                    <a:p>
                      <a:pPr algn="l" fontAlgn="ctr"/>
                      <a:r>
                        <a:rPr lang="en-US" sz="1400" b="0" u="none" strike="noStrike" dirty="0">
                          <a:solidFill>
                            <a:srgbClr val="242424"/>
                          </a:solidFill>
                          <a:effectLst/>
                        </a:rPr>
                        <a:t>Total Power purchase cost</a:t>
                      </a:r>
                      <a:endParaRPr lang="en-US" sz="1400" b="0" i="0" u="none" strike="noStrike" dirty="0">
                        <a:solidFill>
                          <a:srgbClr val="242424"/>
                        </a:solidFill>
                        <a:effectLst/>
                        <a:latin typeface="+mj-lt"/>
                      </a:endParaRPr>
                    </a:p>
                  </a:txBody>
                  <a:tcPr marR="6350" marT="6350" marB="0" anchor="ctr"/>
                </a:tc>
                <a:tc>
                  <a:txBody>
                    <a:bodyPr/>
                    <a:lstStyle/>
                    <a:p>
                      <a:pPr algn="l" fontAlgn="ctr"/>
                      <a:r>
                        <a:rPr lang="en-US" sz="1400" b="0" u="none" strike="noStrike">
                          <a:solidFill>
                            <a:srgbClr val="242424"/>
                          </a:solidFill>
                          <a:effectLst/>
                        </a:rPr>
                        <a:t>1,862,702</a:t>
                      </a:r>
                      <a:endParaRPr lang="en-US" sz="1400" b="0" i="0" u="none" strike="noStrike">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Rs Lakhs</a:t>
                      </a:r>
                      <a:endParaRPr lang="en-US" sz="1400" b="0" i="0" u="none" strike="noStrike" dirty="0">
                        <a:solidFill>
                          <a:srgbClr val="242424"/>
                        </a:solidFill>
                        <a:effectLst/>
                        <a:latin typeface="+mj-lt"/>
                      </a:endParaRPr>
                    </a:p>
                  </a:txBody>
                  <a:tcPr marR="6350" marT="6350" marB="0" anchor="ctr"/>
                </a:tc>
                <a:extLst>
                  <a:ext uri="{0D108BD9-81ED-4DB2-BD59-A6C34878D82A}">
                    <a16:rowId xmlns:a16="http://schemas.microsoft.com/office/drawing/2014/main" val="578363992"/>
                  </a:ext>
                </a:extLst>
              </a:tr>
              <a:tr h="314693">
                <a:tc>
                  <a:txBody>
                    <a:bodyPr/>
                    <a:lstStyle/>
                    <a:p>
                      <a:pPr algn="l" fontAlgn="ctr"/>
                      <a:r>
                        <a:rPr lang="en-US" sz="1400" b="0" u="none" strike="noStrike">
                          <a:solidFill>
                            <a:srgbClr val="242424"/>
                          </a:solidFill>
                          <a:effectLst/>
                        </a:rPr>
                        <a:t>Total Power Purchase in MUs</a:t>
                      </a:r>
                      <a:endParaRPr lang="en-US" sz="1400" b="0" i="0" u="none" strike="noStrike">
                        <a:solidFill>
                          <a:srgbClr val="242424"/>
                        </a:solidFill>
                        <a:effectLst/>
                        <a:latin typeface="+mj-lt"/>
                      </a:endParaRPr>
                    </a:p>
                  </a:txBody>
                  <a:tcPr marR="6350" marT="6350" marB="0" anchor="ctr"/>
                </a:tc>
                <a:tc>
                  <a:txBody>
                    <a:bodyPr/>
                    <a:lstStyle/>
                    <a:p>
                      <a:pPr algn="l" fontAlgn="ctr"/>
                      <a:r>
                        <a:rPr lang="en-US" sz="1400" b="0" u="none" strike="noStrike">
                          <a:solidFill>
                            <a:srgbClr val="242424"/>
                          </a:solidFill>
                          <a:effectLst/>
                        </a:rPr>
                        <a:t>42,352.86</a:t>
                      </a:r>
                      <a:endParaRPr lang="en-US" sz="1400" b="0" i="0" u="none" strike="noStrike">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MUs</a:t>
                      </a:r>
                      <a:endParaRPr lang="en-US" sz="1400" b="0" i="0" u="none" strike="noStrike" dirty="0">
                        <a:solidFill>
                          <a:srgbClr val="242424"/>
                        </a:solidFill>
                        <a:effectLst/>
                        <a:latin typeface="+mj-lt"/>
                      </a:endParaRPr>
                    </a:p>
                  </a:txBody>
                  <a:tcPr marR="6350" marT="6350" marB="0" anchor="ctr"/>
                </a:tc>
                <a:extLst>
                  <a:ext uri="{0D108BD9-81ED-4DB2-BD59-A6C34878D82A}">
                    <a16:rowId xmlns:a16="http://schemas.microsoft.com/office/drawing/2014/main" val="2199794588"/>
                  </a:ext>
                </a:extLst>
              </a:tr>
              <a:tr h="314693">
                <a:tc>
                  <a:txBody>
                    <a:bodyPr/>
                    <a:lstStyle/>
                    <a:p>
                      <a:pPr algn="l" fontAlgn="ctr"/>
                      <a:r>
                        <a:rPr lang="en-US" sz="1400" b="0" u="none" strike="noStrike" dirty="0">
                          <a:solidFill>
                            <a:srgbClr val="242424"/>
                          </a:solidFill>
                          <a:effectLst/>
                        </a:rPr>
                        <a:t>Requisite MUs to fulfil Total RPO</a:t>
                      </a:r>
                      <a:endParaRPr lang="en-US" sz="1400" b="0" i="0" u="none" strike="noStrike" dirty="0">
                        <a:solidFill>
                          <a:srgbClr val="242424"/>
                        </a:solidFill>
                        <a:effectLst/>
                        <a:latin typeface="+mj-lt"/>
                      </a:endParaRPr>
                    </a:p>
                  </a:txBody>
                  <a:tcPr marR="6350" marT="6350" marB="0" anchor="ctr"/>
                </a:tc>
                <a:tc>
                  <a:txBody>
                    <a:bodyPr/>
                    <a:lstStyle/>
                    <a:p>
                      <a:pPr algn="l" fontAlgn="ctr"/>
                      <a:r>
                        <a:rPr lang="en-US" sz="1400" b="0" u="none" strike="noStrike">
                          <a:solidFill>
                            <a:srgbClr val="242424"/>
                          </a:solidFill>
                          <a:effectLst/>
                        </a:rPr>
                        <a:t>3173.72</a:t>
                      </a:r>
                      <a:endParaRPr lang="en-US" sz="1400" b="0" i="0" u="none" strike="noStrike">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MUs</a:t>
                      </a:r>
                      <a:endParaRPr lang="en-US" sz="1400" b="0" i="0" u="none" strike="noStrike" dirty="0">
                        <a:solidFill>
                          <a:srgbClr val="242424"/>
                        </a:solidFill>
                        <a:effectLst/>
                        <a:latin typeface="+mj-lt"/>
                      </a:endParaRPr>
                    </a:p>
                  </a:txBody>
                  <a:tcPr marR="6350" marT="6350" marB="0" anchor="ctr"/>
                </a:tc>
                <a:extLst>
                  <a:ext uri="{0D108BD9-81ED-4DB2-BD59-A6C34878D82A}">
                    <a16:rowId xmlns:a16="http://schemas.microsoft.com/office/drawing/2014/main" val="2838263672"/>
                  </a:ext>
                </a:extLst>
              </a:tr>
            </a:tbl>
          </a:graphicData>
        </a:graphic>
      </p:graphicFrame>
      <p:graphicFrame>
        <p:nvGraphicFramePr>
          <p:cNvPr id="16" name="Table 15">
            <a:extLst>
              <a:ext uri="{FF2B5EF4-FFF2-40B4-BE49-F238E27FC236}">
                <a16:creationId xmlns:a16="http://schemas.microsoft.com/office/drawing/2014/main" id="{51124C56-5B0C-4176-9CA0-0153E75BD345}"/>
              </a:ext>
            </a:extLst>
          </p:cNvPr>
          <p:cNvGraphicFramePr>
            <a:graphicFrameLocks noGrp="1"/>
          </p:cNvGraphicFramePr>
          <p:nvPr>
            <p:extLst>
              <p:ext uri="{D42A27DB-BD31-4B8C-83A1-F6EECF244321}">
                <p14:modId xmlns:p14="http://schemas.microsoft.com/office/powerpoint/2010/main" val="1408507313"/>
              </p:ext>
            </p:extLst>
          </p:nvPr>
        </p:nvGraphicFramePr>
        <p:xfrm>
          <a:off x="600533" y="3531041"/>
          <a:ext cx="10611753" cy="2406650"/>
        </p:xfrm>
        <a:graphic>
          <a:graphicData uri="http://schemas.openxmlformats.org/drawingml/2006/table">
            <a:tbl>
              <a:tblPr>
                <a:tableStyleId>{2D5ABB26-0587-4C30-8999-92F81FD0307C}</a:tableStyleId>
              </a:tblPr>
              <a:tblGrid>
                <a:gridCol w="3537251">
                  <a:extLst>
                    <a:ext uri="{9D8B030D-6E8A-4147-A177-3AD203B41FA5}">
                      <a16:colId xmlns:a16="http://schemas.microsoft.com/office/drawing/2014/main" val="4255169224"/>
                    </a:ext>
                  </a:extLst>
                </a:gridCol>
                <a:gridCol w="3537251">
                  <a:extLst>
                    <a:ext uri="{9D8B030D-6E8A-4147-A177-3AD203B41FA5}">
                      <a16:colId xmlns:a16="http://schemas.microsoft.com/office/drawing/2014/main" val="3340434987"/>
                    </a:ext>
                  </a:extLst>
                </a:gridCol>
                <a:gridCol w="3537251">
                  <a:extLst>
                    <a:ext uri="{9D8B030D-6E8A-4147-A177-3AD203B41FA5}">
                      <a16:colId xmlns:a16="http://schemas.microsoft.com/office/drawing/2014/main" val="1273344197"/>
                    </a:ext>
                  </a:extLst>
                </a:gridCol>
              </a:tblGrid>
              <a:tr h="444500">
                <a:tc>
                  <a:txBody>
                    <a:bodyPr/>
                    <a:lstStyle/>
                    <a:p>
                      <a:pPr algn="l" fontAlgn="ctr"/>
                      <a:r>
                        <a:rPr lang="en-US" sz="1400" b="1" u="none" strike="noStrike" dirty="0">
                          <a:solidFill>
                            <a:schemeClr val="bg1"/>
                          </a:solidFill>
                          <a:effectLst/>
                          <a:latin typeface="+mj-lt"/>
                        </a:rPr>
                        <a:t>Particulars</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tc>
                  <a:txBody>
                    <a:bodyPr/>
                    <a:lstStyle/>
                    <a:p>
                      <a:pPr algn="l" fontAlgn="ctr"/>
                      <a:r>
                        <a:rPr lang="en-US" sz="1400" b="1" u="none" strike="noStrike" dirty="0">
                          <a:solidFill>
                            <a:schemeClr val="bg1"/>
                          </a:solidFill>
                          <a:effectLst/>
                          <a:latin typeface="+mj-lt"/>
                        </a:rPr>
                        <a:t>Value</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tc>
                  <a:txBody>
                    <a:bodyPr/>
                    <a:lstStyle/>
                    <a:p>
                      <a:pPr algn="l" fontAlgn="ctr"/>
                      <a:r>
                        <a:rPr lang="en-US" sz="1400" b="1" u="none" strike="noStrike" dirty="0">
                          <a:solidFill>
                            <a:schemeClr val="bg1"/>
                          </a:solidFill>
                          <a:effectLst/>
                          <a:latin typeface="+mj-lt"/>
                        </a:rPr>
                        <a:t>Unit</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extLst>
                  <a:ext uri="{0D108BD9-81ED-4DB2-BD59-A6C34878D82A}">
                    <a16:rowId xmlns:a16="http://schemas.microsoft.com/office/drawing/2014/main" val="3349824983"/>
                  </a:ext>
                </a:extLst>
              </a:tr>
              <a:tr h="444500">
                <a:tc>
                  <a:txBody>
                    <a:bodyPr/>
                    <a:lstStyle/>
                    <a:p>
                      <a:pPr algn="l" fontAlgn="ctr"/>
                      <a:r>
                        <a:rPr lang="en-US" sz="1400" b="0" i="0" u="none" strike="noStrike" dirty="0">
                          <a:solidFill>
                            <a:srgbClr val="242424"/>
                          </a:solidFill>
                          <a:effectLst/>
                          <a:latin typeface="+mj-lt"/>
                        </a:rPr>
                        <a:t>Actual Average Power Purchase Cost for FY 21</a:t>
                      </a:r>
                    </a:p>
                  </a:txBody>
                  <a:tcPr marR="6350" marT="6350" marB="0" anchor="ctr"/>
                </a:tc>
                <a:tc>
                  <a:txBody>
                    <a:bodyPr/>
                    <a:lstStyle/>
                    <a:p>
                      <a:pPr algn="ctr" fontAlgn="ctr"/>
                      <a:r>
                        <a:rPr lang="en-US" sz="1400" b="0" i="0" u="none" strike="noStrike" dirty="0">
                          <a:solidFill>
                            <a:srgbClr val="242424"/>
                          </a:solidFill>
                          <a:effectLst/>
                          <a:latin typeface="+mj-lt"/>
                        </a:rPr>
                        <a:t>439.80</a:t>
                      </a:r>
                    </a:p>
                  </a:txBody>
                  <a:tcPr marR="6350" marT="6350" marB="0" anchor="ctr"/>
                </a:tc>
                <a:tc>
                  <a:txBody>
                    <a:bodyPr/>
                    <a:lstStyle/>
                    <a:p>
                      <a:pPr algn="l" fontAlgn="ctr"/>
                      <a:r>
                        <a:rPr lang="en-US" sz="1400" b="0" i="0" u="none" strike="noStrike" dirty="0">
                          <a:solidFill>
                            <a:srgbClr val="242424"/>
                          </a:solidFill>
                          <a:effectLst/>
                          <a:latin typeface="+mj-lt"/>
                        </a:rPr>
                        <a:t>Paisa/Unit</a:t>
                      </a:r>
                    </a:p>
                  </a:txBody>
                  <a:tcPr marR="6350" marT="6350" marB="0" anchor="ctr"/>
                </a:tc>
                <a:extLst>
                  <a:ext uri="{0D108BD9-81ED-4DB2-BD59-A6C34878D82A}">
                    <a16:rowId xmlns:a16="http://schemas.microsoft.com/office/drawing/2014/main" val="578363992"/>
                  </a:ext>
                </a:extLst>
              </a:tr>
              <a:tr h="444500">
                <a:tc>
                  <a:txBody>
                    <a:bodyPr/>
                    <a:lstStyle/>
                    <a:p>
                      <a:pPr algn="l" fontAlgn="ctr"/>
                      <a:endParaRPr lang="en-US" sz="1400" b="0" i="0" u="none" strike="noStrike" dirty="0">
                        <a:solidFill>
                          <a:srgbClr val="242424"/>
                        </a:solidFill>
                        <a:effectLst/>
                        <a:latin typeface="+mj-lt"/>
                      </a:endParaRPr>
                    </a:p>
                    <a:p>
                      <a:pPr algn="l" fontAlgn="ctr"/>
                      <a:r>
                        <a:rPr lang="en-US" sz="1400" b="0" i="0" u="none" strike="noStrike" dirty="0">
                          <a:solidFill>
                            <a:srgbClr val="242424"/>
                          </a:solidFill>
                          <a:effectLst/>
                          <a:latin typeface="+mj-lt"/>
                        </a:rPr>
                        <a:t>Average power purchase cost through swapping with RE (considered at Rs 3/unit) to the extent of quantum of RPO non-fulfilment</a:t>
                      </a:r>
                    </a:p>
                  </a:txBody>
                  <a:tcPr marR="6350" marT="6350" marB="0" anchor="ctr"/>
                </a:tc>
                <a:tc>
                  <a:txBody>
                    <a:bodyPr/>
                    <a:lstStyle/>
                    <a:p>
                      <a:pPr algn="ctr" fontAlgn="ctr"/>
                      <a:r>
                        <a:rPr lang="en-US" sz="1400" b="0" i="0" u="none" strike="noStrike" dirty="0">
                          <a:solidFill>
                            <a:srgbClr val="242424"/>
                          </a:solidFill>
                          <a:effectLst/>
                          <a:latin typeface="+mj-lt"/>
                        </a:rPr>
                        <a:t>429.33</a:t>
                      </a:r>
                    </a:p>
                  </a:txBody>
                  <a:tcPr marR="6350" marT="6350" marB="0" anchor="ctr"/>
                </a:tc>
                <a:tc>
                  <a:txBody>
                    <a:bodyPr/>
                    <a:lstStyle/>
                    <a:p>
                      <a:pPr algn="l" fontAlgn="ctr"/>
                      <a:r>
                        <a:rPr lang="en-US" sz="1400" b="0" i="0" u="none" strike="noStrike" dirty="0">
                          <a:solidFill>
                            <a:srgbClr val="242424"/>
                          </a:solidFill>
                          <a:effectLst/>
                          <a:latin typeface="+mj-lt"/>
                        </a:rPr>
                        <a:t>Paisa/unit</a:t>
                      </a:r>
                    </a:p>
                  </a:txBody>
                  <a:tcPr marR="6350" marT="6350" marB="0" anchor="ctr"/>
                </a:tc>
                <a:extLst>
                  <a:ext uri="{0D108BD9-81ED-4DB2-BD59-A6C34878D82A}">
                    <a16:rowId xmlns:a16="http://schemas.microsoft.com/office/drawing/2014/main" val="2199794588"/>
                  </a:ext>
                </a:extLst>
              </a:tr>
              <a:tr h="444500">
                <a:tc>
                  <a:txBody>
                    <a:bodyPr/>
                    <a:lstStyle/>
                    <a:p>
                      <a:pPr algn="l" fontAlgn="ctr"/>
                      <a:r>
                        <a:rPr lang="en-US" sz="1400" b="1" i="0" u="none" strike="noStrike" dirty="0">
                          <a:solidFill>
                            <a:srgbClr val="242424"/>
                          </a:solidFill>
                          <a:effectLst/>
                          <a:latin typeface="+mj-lt"/>
                        </a:rPr>
                        <a:t>Total Savings</a:t>
                      </a:r>
                    </a:p>
                  </a:txBody>
                  <a:tcPr marR="6350" marT="6350" marB="0" anchor="ctr"/>
                </a:tc>
                <a:tc>
                  <a:txBody>
                    <a:bodyPr/>
                    <a:lstStyle/>
                    <a:p>
                      <a:pPr algn="ctr" fontAlgn="ctr"/>
                      <a:r>
                        <a:rPr lang="en-US" sz="1400" b="1" i="0" u="none" strike="noStrike" dirty="0">
                          <a:solidFill>
                            <a:srgbClr val="242424"/>
                          </a:solidFill>
                          <a:effectLst/>
                          <a:highlight>
                            <a:srgbClr val="00FF00"/>
                          </a:highlight>
                          <a:latin typeface="+mj-lt"/>
                        </a:rPr>
                        <a:t>10.48</a:t>
                      </a:r>
                    </a:p>
                  </a:txBody>
                  <a:tcPr marR="6350" marT="6350" marB="0" anchor="ctr"/>
                </a:tc>
                <a:tc>
                  <a:txBody>
                    <a:bodyPr/>
                    <a:lstStyle/>
                    <a:p>
                      <a:pPr algn="l" fontAlgn="ctr"/>
                      <a:r>
                        <a:rPr lang="en-US" sz="1400" b="1" i="0" u="none" strike="noStrike" dirty="0">
                          <a:solidFill>
                            <a:srgbClr val="242424"/>
                          </a:solidFill>
                          <a:effectLst/>
                          <a:latin typeface="+mj-lt"/>
                        </a:rPr>
                        <a:t>Paisa/unit</a:t>
                      </a:r>
                    </a:p>
                  </a:txBody>
                  <a:tcPr marR="6350" marT="6350" marB="0" anchor="ctr"/>
                </a:tc>
                <a:extLst>
                  <a:ext uri="{0D108BD9-81ED-4DB2-BD59-A6C34878D82A}">
                    <a16:rowId xmlns:a16="http://schemas.microsoft.com/office/drawing/2014/main" val="2838263672"/>
                  </a:ext>
                </a:extLst>
              </a:tr>
            </a:tbl>
          </a:graphicData>
        </a:graphic>
      </p:graphicFrame>
      <p:sp>
        <p:nvSpPr>
          <p:cNvPr id="17" name="TextBox 16">
            <a:extLst>
              <a:ext uri="{FF2B5EF4-FFF2-40B4-BE49-F238E27FC236}">
                <a16:creationId xmlns:a16="http://schemas.microsoft.com/office/drawing/2014/main" id="{4EA06B4A-2286-492E-87F3-A345EA43265C}"/>
              </a:ext>
            </a:extLst>
          </p:cNvPr>
          <p:cNvSpPr txBox="1"/>
          <p:nvPr/>
        </p:nvSpPr>
        <p:spPr>
          <a:xfrm>
            <a:off x="-2133600" y="1067386"/>
            <a:ext cx="6096000" cy="373500"/>
          </a:xfrm>
          <a:prstGeom prst="rect">
            <a:avLst/>
          </a:prstGeom>
          <a:noFill/>
        </p:spPr>
        <p:txBody>
          <a:bodyPr wrap="square">
            <a:spAutoFit/>
          </a:bodyP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Inputs:</a:t>
            </a:r>
          </a:p>
        </p:txBody>
      </p:sp>
      <p:sp>
        <p:nvSpPr>
          <p:cNvPr id="18" name="TextBox 17">
            <a:extLst>
              <a:ext uri="{FF2B5EF4-FFF2-40B4-BE49-F238E27FC236}">
                <a16:creationId xmlns:a16="http://schemas.microsoft.com/office/drawing/2014/main" id="{F80B514A-B85E-49C8-887F-16A88A50F222}"/>
              </a:ext>
            </a:extLst>
          </p:cNvPr>
          <p:cNvSpPr txBox="1"/>
          <p:nvPr/>
        </p:nvSpPr>
        <p:spPr>
          <a:xfrm>
            <a:off x="501652" y="3157441"/>
            <a:ext cx="11582399" cy="373500"/>
          </a:xfrm>
          <a:prstGeom prst="rect">
            <a:avLst/>
          </a:prstGeom>
          <a:noFill/>
        </p:spPr>
        <p:txBody>
          <a:bodyPr wrap="square">
            <a:spAutoFit/>
          </a:bodyPr>
          <a:lstStyle/>
          <a:p>
            <a:pPr marL="0" marR="0" lvl="0" indent="0" defTabSz="914342" rtl="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Resultant savings on influx and swapping with RE to the extent of quantum for which RPO is unfulfilled for FY 21</a:t>
            </a:r>
          </a:p>
        </p:txBody>
      </p:sp>
    </p:spTree>
    <p:extLst>
      <p:ext uri="{BB962C8B-B14F-4D97-AF65-F5344CB8AC3E}">
        <p14:creationId xmlns:p14="http://schemas.microsoft.com/office/powerpoint/2010/main" val="344802265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9A64E2EB-C7B1-4849-B971-945ED0521142}"/>
              </a:ext>
            </a:extLst>
          </p:cNvPr>
          <p:cNvSpPr>
            <a:spLocks noGrp="1"/>
          </p:cNvSpPr>
          <p:nvPr>
            <p:ph type="body" sz="quarter" idx="13"/>
          </p:nvPr>
        </p:nvSpPr>
        <p:spPr>
          <a:xfrm>
            <a:off x="501650" y="519498"/>
            <a:ext cx="11188700" cy="560366"/>
          </a:xfrm>
        </p:spPr>
        <p:txBody>
          <a:bodyPr/>
          <a:lstStyle/>
          <a:p>
            <a:r>
              <a:rPr lang="en-US" sz="1600" dirty="0">
                <a:latin typeface="Calibri" panose="020F0502020204030204" pitchFamily="34" charset="0"/>
                <a:cs typeface="Calibri" panose="020F0502020204030204" pitchFamily="34" charset="0"/>
              </a:rPr>
              <a:t>Anti Power theft police stations play a crucial role in the prevention of power thefts and minimization of AT&amp;C losses. </a:t>
            </a:r>
          </a:p>
        </p:txBody>
      </p:sp>
      <p:sp>
        <p:nvSpPr>
          <p:cNvPr id="6" name="Title 2">
            <a:extLst>
              <a:ext uri="{FF2B5EF4-FFF2-40B4-BE49-F238E27FC236}">
                <a16:creationId xmlns:a16="http://schemas.microsoft.com/office/drawing/2014/main" id="{BDB758A7-D0D0-45B8-8DD7-63D17B03E05F}"/>
              </a:ext>
            </a:extLst>
          </p:cNvPr>
          <p:cNvSpPr>
            <a:spLocks noGrp="1"/>
          </p:cNvSpPr>
          <p:nvPr>
            <p:ph type="title"/>
          </p:nvPr>
        </p:nvSpPr>
        <p:spPr>
          <a:xfrm>
            <a:off x="495341" y="205436"/>
            <a:ext cx="11188700" cy="334099"/>
          </a:xfrm>
        </p:spPr>
        <p:txBody>
          <a:bodyPr vert="horz"/>
          <a:lstStyle/>
          <a:p>
            <a:r>
              <a:rPr lang="en-US" sz="2100" b="1" dirty="0">
                <a:latin typeface="Calibri" panose="020F0502020204030204" pitchFamily="34" charset="0"/>
                <a:cs typeface="Calibri" panose="020F0502020204030204" pitchFamily="34" charset="0"/>
              </a:rPr>
              <a:t>Concept of Anti Power Theft Police Stations </a:t>
            </a:r>
          </a:p>
        </p:txBody>
      </p:sp>
      <p:grpSp>
        <p:nvGrpSpPr>
          <p:cNvPr id="7" name="Group 6">
            <a:extLst>
              <a:ext uri="{FF2B5EF4-FFF2-40B4-BE49-F238E27FC236}">
                <a16:creationId xmlns:a16="http://schemas.microsoft.com/office/drawing/2014/main" id="{CE8E105B-8E81-49A6-9218-4338D381B8AB}"/>
              </a:ext>
            </a:extLst>
          </p:cNvPr>
          <p:cNvGrpSpPr/>
          <p:nvPr/>
        </p:nvGrpSpPr>
        <p:grpSpPr>
          <a:xfrm>
            <a:off x="515660" y="1894448"/>
            <a:ext cx="5356704" cy="361413"/>
            <a:chOff x="6539640" y="4796531"/>
            <a:chExt cx="5356704" cy="361413"/>
          </a:xfrm>
        </p:grpSpPr>
        <p:sp>
          <p:nvSpPr>
            <p:cNvPr id="8" name="Rectangle 7">
              <a:extLst>
                <a:ext uri="{FF2B5EF4-FFF2-40B4-BE49-F238E27FC236}">
                  <a16:creationId xmlns:a16="http://schemas.microsoft.com/office/drawing/2014/main" id="{21E523D5-CBCD-44A1-8A59-48428245A6A4}"/>
                </a:ext>
              </a:extLst>
            </p:cNvPr>
            <p:cNvSpPr/>
            <p:nvPr/>
          </p:nvSpPr>
          <p:spPr>
            <a:xfrm>
              <a:off x="6539640" y="4796531"/>
              <a:ext cx="1892258" cy="361413"/>
            </a:xfrm>
            <a:prstGeom prst="rect">
              <a:avLst/>
            </a:prstGeom>
            <a:solidFill>
              <a:schemeClr val="accent3"/>
            </a:solidFill>
            <a:ln w="9525" cap="flat" cmpd="sng" algn="ctr">
              <a:noFill/>
              <a:prstDash val="solid"/>
            </a:ln>
            <a:effectLst/>
          </p:spPr>
          <p:txBody>
            <a:bodyPr lIns="468000" tIns="88900" rIns="88900" bIns="88900" rtlCol="0" anchor="ctr"/>
            <a:lstStyle/>
            <a:p>
              <a:pPr marL="0" marR="0" lvl="0" indent="0" defTabSz="1219170" eaLnBrk="1" fontAlgn="auto" latinLnBrk="0" hangingPunct="1">
                <a:lnSpc>
                  <a:spcPct val="100000"/>
                </a:lnSpc>
                <a:spcBef>
                  <a:spcPts val="0"/>
                </a:spcBef>
                <a:spcAft>
                  <a:spcPts val="0"/>
                </a:spcAft>
                <a:buClrTx/>
                <a:buSzTx/>
                <a:buFontTx/>
                <a:buNone/>
                <a:tabLst/>
                <a:defRPr/>
              </a:pPr>
              <a:r>
                <a:rPr kumimoji="0" lang="en-SG" sz="1200" b="1"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KEY BENEFITS</a:t>
              </a:r>
              <a:endParaRPr kumimoji="0" lang="en-US" sz="1200" b="1"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cxnSp>
          <p:nvCxnSpPr>
            <p:cNvPr id="9" name="Straight Connector 8">
              <a:extLst>
                <a:ext uri="{FF2B5EF4-FFF2-40B4-BE49-F238E27FC236}">
                  <a16:creationId xmlns:a16="http://schemas.microsoft.com/office/drawing/2014/main" id="{6B3AEC4B-46B3-43EF-B3CD-FD90BD2342F5}"/>
                </a:ext>
              </a:extLst>
            </p:cNvPr>
            <p:cNvCxnSpPr/>
            <p:nvPr/>
          </p:nvCxnSpPr>
          <p:spPr>
            <a:xfrm>
              <a:off x="6539640" y="5137354"/>
              <a:ext cx="5356704" cy="0"/>
            </a:xfrm>
            <a:prstGeom prst="line">
              <a:avLst/>
            </a:prstGeom>
            <a:noFill/>
            <a:ln w="28575" cap="flat" cmpd="sng" algn="ctr">
              <a:solidFill>
                <a:schemeClr val="accent3"/>
              </a:solidFill>
              <a:prstDash val="solid"/>
            </a:ln>
            <a:effectLst/>
          </p:spPr>
        </p:cxnSp>
        <p:sp>
          <p:nvSpPr>
            <p:cNvPr id="10" name="Freeform 513">
              <a:extLst>
                <a:ext uri="{FF2B5EF4-FFF2-40B4-BE49-F238E27FC236}">
                  <a16:creationId xmlns:a16="http://schemas.microsoft.com/office/drawing/2014/main" id="{7B54C98F-3708-4AFB-BFC7-4AE7214CA5A9}"/>
                </a:ext>
              </a:extLst>
            </p:cNvPr>
            <p:cNvSpPr>
              <a:spLocks noEditPoints="1"/>
            </p:cNvSpPr>
            <p:nvPr/>
          </p:nvSpPr>
          <p:spPr bwMode="auto">
            <a:xfrm>
              <a:off x="6651456" y="4869638"/>
              <a:ext cx="252227" cy="215640"/>
            </a:xfrm>
            <a:custGeom>
              <a:avLst/>
              <a:gdLst>
                <a:gd name="T0" fmla="*/ 240 w 240"/>
                <a:gd name="T1" fmla="*/ 71 h 226"/>
                <a:gd name="T2" fmla="*/ 240 w 240"/>
                <a:gd name="T3" fmla="*/ 69 h 226"/>
                <a:gd name="T4" fmla="*/ 239 w 240"/>
                <a:gd name="T5" fmla="*/ 68 h 226"/>
                <a:gd name="T6" fmla="*/ 195 w 240"/>
                <a:gd name="T7" fmla="*/ 2 h 226"/>
                <a:gd name="T8" fmla="*/ 193 w 240"/>
                <a:gd name="T9" fmla="*/ 1 h 226"/>
                <a:gd name="T10" fmla="*/ 193 w 240"/>
                <a:gd name="T11" fmla="*/ 1 h 226"/>
                <a:gd name="T12" fmla="*/ 191 w 240"/>
                <a:gd name="T13" fmla="*/ 0 h 226"/>
                <a:gd name="T14" fmla="*/ 49 w 240"/>
                <a:gd name="T15" fmla="*/ 0 h 226"/>
                <a:gd name="T16" fmla="*/ 49 w 240"/>
                <a:gd name="T17" fmla="*/ 0 h 226"/>
                <a:gd name="T18" fmla="*/ 47 w 240"/>
                <a:gd name="T19" fmla="*/ 1 h 226"/>
                <a:gd name="T20" fmla="*/ 46 w 240"/>
                <a:gd name="T21" fmla="*/ 2 h 226"/>
                <a:gd name="T22" fmla="*/ 45 w 240"/>
                <a:gd name="T23" fmla="*/ 3 h 226"/>
                <a:gd name="T24" fmla="*/ 1 w 240"/>
                <a:gd name="T25" fmla="*/ 69 h 226"/>
                <a:gd name="T26" fmla="*/ 0 w 240"/>
                <a:gd name="T27" fmla="*/ 71 h 226"/>
                <a:gd name="T28" fmla="*/ 0 w 240"/>
                <a:gd name="T29" fmla="*/ 71 h 226"/>
                <a:gd name="T30" fmla="*/ 1 w 240"/>
                <a:gd name="T31" fmla="*/ 73 h 226"/>
                <a:gd name="T32" fmla="*/ 116 w 240"/>
                <a:gd name="T33" fmla="*/ 224 h 226"/>
                <a:gd name="T34" fmla="*/ 117 w 240"/>
                <a:gd name="T35" fmla="*/ 225 h 226"/>
                <a:gd name="T36" fmla="*/ 118 w 240"/>
                <a:gd name="T37" fmla="*/ 225 h 226"/>
                <a:gd name="T38" fmla="*/ 119 w 240"/>
                <a:gd name="T39" fmla="*/ 226 h 226"/>
                <a:gd name="T40" fmla="*/ 120 w 240"/>
                <a:gd name="T41" fmla="*/ 226 h 226"/>
                <a:gd name="T42" fmla="*/ 120 w 240"/>
                <a:gd name="T43" fmla="*/ 226 h 226"/>
                <a:gd name="T44" fmla="*/ 120 w 240"/>
                <a:gd name="T45" fmla="*/ 226 h 226"/>
                <a:gd name="T46" fmla="*/ 120 w 240"/>
                <a:gd name="T47" fmla="*/ 226 h 226"/>
                <a:gd name="T48" fmla="*/ 121 w 240"/>
                <a:gd name="T49" fmla="*/ 226 h 226"/>
                <a:gd name="T50" fmla="*/ 122 w 240"/>
                <a:gd name="T51" fmla="*/ 225 h 226"/>
                <a:gd name="T52" fmla="*/ 123 w 240"/>
                <a:gd name="T53" fmla="*/ 225 h 226"/>
                <a:gd name="T54" fmla="*/ 124 w 240"/>
                <a:gd name="T55" fmla="*/ 224 h 226"/>
                <a:gd name="T56" fmla="*/ 239 w 240"/>
                <a:gd name="T57" fmla="*/ 73 h 226"/>
                <a:gd name="T58" fmla="*/ 240 w 240"/>
                <a:gd name="T59" fmla="*/ 71 h 226"/>
                <a:gd name="T60" fmla="*/ 71 w 240"/>
                <a:gd name="T61" fmla="*/ 66 h 226"/>
                <a:gd name="T62" fmla="*/ 48 w 240"/>
                <a:gd name="T63" fmla="*/ 15 h 226"/>
                <a:gd name="T64" fmla="*/ 120 w 240"/>
                <a:gd name="T65" fmla="*/ 203 h 226"/>
                <a:gd name="T66" fmla="*/ 155 w 240"/>
                <a:gd name="T67" fmla="*/ 76 h 226"/>
                <a:gd name="T68" fmla="*/ 120 w 240"/>
                <a:gd name="T69" fmla="*/ 15 h 226"/>
                <a:gd name="T70" fmla="*/ 88 w 240"/>
                <a:gd name="T71" fmla="*/ 66 h 226"/>
                <a:gd name="T72" fmla="*/ 183 w 240"/>
                <a:gd name="T73" fmla="*/ 10 h 226"/>
                <a:gd name="T74" fmla="*/ 129 w 240"/>
                <a:gd name="T75" fmla="*/ 10 h 226"/>
                <a:gd name="T76" fmla="*/ 57 w 240"/>
                <a:gd name="T77" fmla="*/ 10 h 226"/>
                <a:gd name="T78" fmla="*/ 80 w 240"/>
                <a:gd name="T79" fmla="*/ 61 h 226"/>
                <a:gd name="T80" fmla="*/ 109 w 240"/>
                <a:gd name="T81" fmla="*/ 198 h 226"/>
                <a:gd name="T82" fmla="*/ 75 w 240"/>
                <a:gd name="T83" fmla="*/ 76 h 226"/>
                <a:gd name="T84" fmla="*/ 225 w 240"/>
                <a:gd name="T85" fmla="*/ 76 h 226"/>
                <a:gd name="T86" fmla="*/ 165 w 240"/>
                <a:gd name="T87" fmla="*/ 76 h 226"/>
                <a:gd name="T88" fmla="*/ 192 w 240"/>
                <a:gd name="T89" fmla="*/ 15 h 226"/>
                <a:gd name="T90" fmla="*/ 169 w 240"/>
                <a:gd name="T91" fmla="*/ 6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0" h="226">
                  <a:moveTo>
                    <a:pt x="240" y="71"/>
                  </a:moveTo>
                  <a:cubicBezTo>
                    <a:pt x="240" y="71"/>
                    <a:pt x="240" y="71"/>
                    <a:pt x="240" y="71"/>
                  </a:cubicBezTo>
                  <a:cubicBezTo>
                    <a:pt x="240" y="71"/>
                    <a:pt x="240" y="71"/>
                    <a:pt x="240" y="71"/>
                  </a:cubicBezTo>
                  <a:cubicBezTo>
                    <a:pt x="240" y="70"/>
                    <a:pt x="240" y="70"/>
                    <a:pt x="240" y="69"/>
                  </a:cubicBezTo>
                  <a:cubicBezTo>
                    <a:pt x="240" y="69"/>
                    <a:pt x="240" y="69"/>
                    <a:pt x="239" y="69"/>
                  </a:cubicBezTo>
                  <a:cubicBezTo>
                    <a:pt x="239" y="69"/>
                    <a:pt x="239" y="68"/>
                    <a:pt x="239" y="68"/>
                  </a:cubicBezTo>
                  <a:cubicBezTo>
                    <a:pt x="195" y="3"/>
                    <a:pt x="195" y="3"/>
                    <a:pt x="195" y="3"/>
                  </a:cubicBezTo>
                  <a:cubicBezTo>
                    <a:pt x="195" y="2"/>
                    <a:pt x="195" y="2"/>
                    <a:pt x="195" y="2"/>
                  </a:cubicBezTo>
                  <a:cubicBezTo>
                    <a:pt x="194" y="2"/>
                    <a:pt x="194" y="2"/>
                    <a:pt x="194" y="2"/>
                  </a:cubicBezTo>
                  <a:cubicBezTo>
                    <a:pt x="194" y="2"/>
                    <a:pt x="193" y="1"/>
                    <a:pt x="193" y="1"/>
                  </a:cubicBezTo>
                  <a:cubicBezTo>
                    <a:pt x="193" y="1"/>
                    <a:pt x="193" y="1"/>
                    <a:pt x="193" y="1"/>
                  </a:cubicBezTo>
                  <a:cubicBezTo>
                    <a:pt x="193" y="1"/>
                    <a:pt x="193" y="1"/>
                    <a:pt x="193" y="1"/>
                  </a:cubicBezTo>
                  <a:cubicBezTo>
                    <a:pt x="192" y="1"/>
                    <a:pt x="192" y="1"/>
                    <a:pt x="191" y="0"/>
                  </a:cubicBezTo>
                  <a:cubicBezTo>
                    <a:pt x="191" y="0"/>
                    <a:pt x="191" y="0"/>
                    <a:pt x="191" y="0"/>
                  </a:cubicBezTo>
                  <a:cubicBezTo>
                    <a:pt x="191" y="0"/>
                    <a:pt x="191" y="0"/>
                    <a:pt x="191" y="0"/>
                  </a:cubicBezTo>
                  <a:cubicBezTo>
                    <a:pt x="49" y="0"/>
                    <a:pt x="49" y="0"/>
                    <a:pt x="49" y="0"/>
                  </a:cubicBezTo>
                  <a:cubicBezTo>
                    <a:pt x="49" y="0"/>
                    <a:pt x="49" y="0"/>
                    <a:pt x="49" y="0"/>
                  </a:cubicBezTo>
                  <a:cubicBezTo>
                    <a:pt x="49" y="0"/>
                    <a:pt x="49" y="0"/>
                    <a:pt x="49" y="0"/>
                  </a:cubicBezTo>
                  <a:cubicBezTo>
                    <a:pt x="48" y="1"/>
                    <a:pt x="48" y="1"/>
                    <a:pt x="47" y="1"/>
                  </a:cubicBezTo>
                  <a:cubicBezTo>
                    <a:pt x="47" y="1"/>
                    <a:pt x="47" y="1"/>
                    <a:pt x="47" y="1"/>
                  </a:cubicBezTo>
                  <a:cubicBezTo>
                    <a:pt x="47" y="1"/>
                    <a:pt x="47" y="1"/>
                    <a:pt x="47" y="1"/>
                  </a:cubicBezTo>
                  <a:cubicBezTo>
                    <a:pt x="47" y="1"/>
                    <a:pt x="46" y="2"/>
                    <a:pt x="46" y="2"/>
                  </a:cubicBezTo>
                  <a:cubicBezTo>
                    <a:pt x="46" y="2"/>
                    <a:pt x="46" y="2"/>
                    <a:pt x="45" y="2"/>
                  </a:cubicBezTo>
                  <a:cubicBezTo>
                    <a:pt x="45" y="2"/>
                    <a:pt x="45" y="2"/>
                    <a:pt x="45" y="3"/>
                  </a:cubicBezTo>
                  <a:cubicBezTo>
                    <a:pt x="1" y="68"/>
                    <a:pt x="1" y="68"/>
                    <a:pt x="1" y="68"/>
                  </a:cubicBezTo>
                  <a:cubicBezTo>
                    <a:pt x="1" y="68"/>
                    <a:pt x="1" y="69"/>
                    <a:pt x="1" y="69"/>
                  </a:cubicBezTo>
                  <a:cubicBezTo>
                    <a:pt x="1" y="69"/>
                    <a:pt x="0" y="69"/>
                    <a:pt x="0" y="69"/>
                  </a:cubicBezTo>
                  <a:cubicBezTo>
                    <a:pt x="0" y="70"/>
                    <a:pt x="0" y="70"/>
                    <a:pt x="0" y="71"/>
                  </a:cubicBezTo>
                  <a:cubicBezTo>
                    <a:pt x="0" y="71"/>
                    <a:pt x="0" y="71"/>
                    <a:pt x="0" y="71"/>
                  </a:cubicBezTo>
                  <a:cubicBezTo>
                    <a:pt x="0" y="71"/>
                    <a:pt x="0" y="71"/>
                    <a:pt x="0" y="71"/>
                  </a:cubicBezTo>
                  <a:cubicBezTo>
                    <a:pt x="0" y="72"/>
                    <a:pt x="0" y="72"/>
                    <a:pt x="0" y="73"/>
                  </a:cubicBezTo>
                  <a:cubicBezTo>
                    <a:pt x="0" y="73"/>
                    <a:pt x="1" y="73"/>
                    <a:pt x="1" y="73"/>
                  </a:cubicBezTo>
                  <a:cubicBezTo>
                    <a:pt x="1" y="74"/>
                    <a:pt x="1" y="74"/>
                    <a:pt x="1" y="74"/>
                  </a:cubicBezTo>
                  <a:cubicBezTo>
                    <a:pt x="116" y="224"/>
                    <a:pt x="116" y="224"/>
                    <a:pt x="116" y="224"/>
                  </a:cubicBezTo>
                  <a:cubicBezTo>
                    <a:pt x="116" y="224"/>
                    <a:pt x="116" y="224"/>
                    <a:pt x="116" y="224"/>
                  </a:cubicBezTo>
                  <a:cubicBezTo>
                    <a:pt x="117" y="224"/>
                    <a:pt x="117" y="225"/>
                    <a:pt x="117" y="225"/>
                  </a:cubicBezTo>
                  <a:cubicBezTo>
                    <a:pt x="117" y="225"/>
                    <a:pt x="117" y="225"/>
                    <a:pt x="117" y="225"/>
                  </a:cubicBezTo>
                  <a:cubicBezTo>
                    <a:pt x="117" y="225"/>
                    <a:pt x="117" y="225"/>
                    <a:pt x="118" y="225"/>
                  </a:cubicBezTo>
                  <a:cubicBezTo>
                    <a:pt x="118" y="225"/>
                    <a:pt x="118" y="225"/>
                    <a:pt x="118" y="226"/>
                  </a:cubicBezTo>
                  <a:cubicBezTo>
                    <a:pt x="118" y="226"/>
                    <a:pt x="118" y="226"/>
                    <a:pt x="119" y="226"/>
                  </a:cubicBezTo>
                  <a:cubicBezTo>
                    <a:pt x="119" y="226"/>
                    <a:pt x="119" y="226"/>
                    <a:pt x="119" y="226"/>
                  </a:cubicBezTo>
                  <a:cubicBezTo>
                    <a:pt x="119" y="226"/>
                    <a:pt x="120" y="226"/>
                    <a:pt x="120" y="226"/>
                  </a:cubicBezTo>
                  <a:cubicBezTo>
                    <a:pt x="120" y="226"/>
                    <a:pt x="120" y="226"/>
                    <a:pt x="120" y="226"/>
                  </a:cubicBezTo>
                  <a:cubicBezTo>
                    <a:pt x="120" y="226"/>
                    <a:pt x="120" y="226"/>
                    <a:pt x="120" y="226"/>
                  </a:cubicBezTo>
                  <a:cubicBezTo>
                    <a:pt x="120" y="226"/>
                    <a:pt x="120" y="226"/>
                    <a:pt x="120" y="226"/>
                  </a:cubicBezTo>
                  <a:cubicBezTo>
                    <a:pt x="120" y="226"/>
                    <a:pt x="120" y="226"/>
                    <a:pt x="120" y="226"/>
                  </a:cubicBezTo>
                  <a:cubicBezTo>
                    <a:pt x="120" y="226"/>
                    <a:pt x="120" y="226"/>
                    <a:pt x="120" y="226"/>
                  </a:cubicBezTo>
                  <a:cubicBezTo>
                    <a:pt x="120" y="226"/>
                    <a:pt x="120" y="226"/>
                    <a:pt x="120" y="226"/>
                  </a:cubicBezTo>
                  <a:cubicBezTo>
                    <a:pt x="120" y="226"/>
                    <a:pt x="121" y="226"/>
                    <a:pt x="121" y="226"/>
                  </a:cubicBezTo>
                  <a:cubicBezTo>
                    <a:pt x="121" y="226"/>
                    <a:pt x="121" y="226"/>
                    <a:pt x="121" y="226"/>
                  </a:cubicBezTo>
                  <a:cubicBezTo>
                    <a:pt x="122" y="226"/>
                    <a:pt x="122" y="226"/>
                    <a:pt x="122" y="226"/>
                  </a:cubicBezTo>
                  <a:cubicBezTo>
                    <a:pt x="122" y="225"/>
                    <a:pt x="122" y="225"/>
                    <a:pt x="122" y="225"/>
                  </a:cubicBezTo>
                  <a:cubicBezTo>
                    <a:pt x="123" y="225"/>
                    <a:pt x="123" y="225"/>
                    <a:pt x="123" y="225"/>
                  </a:cubicBezTo>
                  <a:cubicBezTo>
                    <a:pt x="123" y="225"/>
                    <a:pt x="123" y="225"/>
                    <a:pt x="123" y="225"/>
                  </a:cubicBezTo>
                  <a:cubicBezTo>
                    <a:pt x="123" y="225"/>
                    <a:pt x="124" y="224"/>
                    <a:pt x="124" y="224"/>
                  </a:cubicBezTo>
                  <a:cubicBezTo>
                    <a:pt x="124" y="224"/>
                    <a:pt x="124" y="224"/>
                    <a:pt x="124" y="224"/>
                  </a:cubicBezTo>
                  <a:cubicBezTo>
                    <a:pt x="239" y="74"/>
                    <a:pt x="239" y="74"/>
                    <a:pt x="239" y="74"/>
                  </a:cubicBezTo>
                  <a:cubicBezTo>
                    <a:pt x="239" y="74"/>
                    <a:pt x="239" y="74"/>
                    <a:pt x="239" y="73"/>
                  </a:cubicBezTo>
                  <a:cubicBezTo>
                    <a:pt x="239" y="73"/>
                    <a:pt x="240" y="73"/>
                    <a:pt x="240" y="73"/>
                  </a:cubicBezTo>
                  <a:cubicBezTo>
                    <a:pt x="240" y="72"/>
                    <a:pt x="240" y="72"/>
                    <a:pt x="240" y="71"/>
                  </a:cubicBezTo>
                  <a:close/>
                  <a:moveTo>
                    <a:pt x="48" y="15"/>
                  </a:moveTo>
                  <a:cubicBezTo>
                    <a:pt x="71" y="66"/>
                    <a:pt x="71" y="66"/>
                    <a:pt x="71" y="66"/>
                  </a:cubicBezTo>
                  <a:cubicBezTo>
                    <a:pt x="14" y="66"/>
                    <a:pt x="14" y="66"/>
                    <a:pt x="14" y="66"/>
                  </a:cubicBezTo>
                  <a:lnTo>
                    <a:pt x="48" y="15"/>
                  </a:lnTo>
                  <a:close/>
                  <a:moveTo>
                    <a:pt x="155" y="76"/>
                  </a:moveTo>
                  <a:cubicBezTo>
                    <a:pt x="120" y="203"/>
                    <a:pt x="120" y="203"/>
                    <a:pt x="120" y="203"/>
                  </a:cubicBezTo>
                  <a:cubicBezTo>
                    <a:pt x="85" y="76"/>
                    <a:pt x="85" y="76"/>
                    <a:pt x="85" y="76"/>
                  </a:cubicBezTo>
                  <a:lnTo>
                    <a:pt x="155" y="76"/>
                  </a:lnTo>
                  <a:close/>
                  <a:moveTo>
                    <a:pt x="88" y="66"/>
                  </a:moveTo>
                  <a:cubicBezTo>
                    <a:pt x="120" y="15"/>
                    <a:pt x="120" y="15"/>
                    <a:pt x="120" y="15"/>
                  </a:cubicBezTo>
                  <a:cubicBezTo>
                    <a:pt x="152" y="66"/>
                    <a:pt x="152" y="66"/>
                    <a:pt x="152" y="66"/>
                  </a:cubicBezTo>
                  <a:lnTo>
                    <a:pt x="88" y="66"/>
                  </a:lnTo>
                  <a:close/>
                  <a:moveTo>
                    <a:pt x="129" y="10"/>
                  </a:moveTo>
                  <a:cubicBezTo>
                    <a:pt x="183" y="10"/>
                    <a:pt x="183" y="10"/>
                    <a:pt x="183" y="10"/>
                  </a:cubicBezTo>
                  <a:cubicBezTo>
                    <a:pt x="160" y="61"/>
                    <a:pt x="160" y="61"/>
                    <a:pt x="160" y="61"/>
                  </a:cubicBezTo>
                  <a:lnTo>
                    <a:pt x="129" y="10"/>
                  </a:lnTo>
                  <a:close/>
                  <a:moveTo>
                    <a:pt x="80" y="61"/>
                  </a:moveTo>
                  <a:cubicBezTo>
                    <a:pt x="57" y="10"/>
                    <a:pt x="57" y="10"/>
                    <a:pt x="57" y="10"/>
                  </a:cubicBezTo>
                  <a:cubicBezTo>
                    <a:pt x="111" y="10"/>
                    <a:pt x="111" y="10"/>
                    <a:pt x="111" y="10"/>
                  </a:cubicBezTo>
                  <a:lnTo>
                    <a:pt x="80" y="61"/>
                  </a:lnTo>
                  <a:close/>
                  <a:moveTo>
                    <a:pt x="75" y="76"/>
                  </a:moveTo>
                  <a:cubicBezTo>
                    <a:pt x="109" y="198"/>
                    <a:pt x="109" y="198"/>
                    <a:pt x="109" y="198"/>
                  </a:cubicBezTo>
                  <a:cubicBezTo>
                    <a:pt x="15" y="76"/>
                    <a:pt x="15" y="76"/>
                    <a:pt x="15" y="76"/>
                  </a:cubicBezTo>
                  <a:lnTo>
                    <a:pt x="75" y="76"/>
                  </a:lnTo>
                  <a:close/>
                  <a:moveTo>
                    <a:pt x="165" y="76"/>
                  </a:moveTo>
                  <a:cubicBezTo>
                    <a:pt x="225" y="76"/>
                    <a:pt x="225" y="76"/>
                    <a:pt x="225" y="76"/>
                  </a:cubicBezTo>
                  <a:cubicBezTo>
                    <a:pt x="131" y="198"/>
                    <a:pt x="131" y="198"/>
                    <a:pt x="131" y="198"/>
                  </a:cubicBezTo>
                  <a:lnTo>
                    <a:pt x="165" y="76"/>
                  </a:lnTo>
                  <a:close/>
                  <a:moveTo>
                    <a:pt x="169" y="66"/>
                  </a:moveTo>
                  <a:cubicBezTo>
                    <a:pt x="192" y="15"/>
                    <a:pt x="192" y="15"/>
                    <a:pt x="192" y="15"/>
                  </a:cubicBezTo>
                  <a:cubicBezTo>
                    <a:pt x="226" y="66"/>
                    <a:pt x="226" y="66"/>
                    <a:pt x="226" y="66"/>
                  </a:cubicBezTo>
                  <a:lnTo>
                    <a:pt x="169" y="66"/>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grpSp>
      <p:sp>
        <p:nvSpPr>
          <p:cNvPr id="11" name="Content Placeholder 88">
            <a:extLst>
              <a:ext uri="{FF2B5EF4-FFF2-40B4-BE49-F238E27FC236}">
                <a16:creationId xmlns:a16="http://schemas.microsoft.com/office/drawing/2014/main" id="{4201DB50-AB02-4395-9D92-A6338479F5CA}"/>
              </a:ext>
            </a:extLst>
          </p:cNvPr>
          <p:cNvSpPr txBox="1">
            <a:spLocks/>
          </p:cNvSpPr>
          <p:nvPr/>
        </p:nvSpPr>
        <p:spPr>
          <a:xfrm>
            <a:off x="494233" y="2583564"/>
            <a:ext cx="5357812" cy="1936750"/>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000" b="0" kern="1200" baseline="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171450" lvl="0" indent="-171450" algn="just">
              <a:buFont typeface="Arial" panose="020B0604020202020204" pitchFamily="34" charset="0"/>
              <a:buChar char="•"/>
            </a:pPr>
            <a:endParaRPr lang="en-US" sz="1800" dirty="0">
              <a:solidFill>
                <a:sysClr val="windowText" lastClr="00000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65BEB19D-8D81-4277-99CC-BFD153DAAD67}"/>
              </a:ext>
            </a:extLst>
          </p:cNvPr>
          <p:cNvSpPr/>
          <p:nvPr/>
        </p:nvSpPr>
        <p:spPr bwMode="gray">
          <a:xfrm>
            <a:off x="494233" y="747728"/>
            <a:ext cx="11188699" cy="989047"/>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342900" indent="-342900" algn="just">
              <a:lnSpc>
                <a:spcPct val="106000"/>
              </a:lnSpc>
              <a:buFont typeface="Arial" panose="020B0604020202020204" pitchFamily="34" charset="0"/>
              <a:buChar char="•"/>
            </a:pPr>
            <a:r>
              <a:rPr lang="en-US" sz="1200" dirty="0">
                <a:latin typeface="Calibri" panose="020F0502020204030204" pitchFamily="34" charset="0"/>
                <a:ea typeface="Verdana" panose="020B0604030504040204" pitchFamily="34" charset="0"/>
                <a:cs typeface="Calibri" panose="020F0502020204030204" pitchFamily="34" charset="0"/>
              </a:rPr>
              <a:t>Setting up of anti power theft stations got conceptualized with the fact that regular police stations are overloaded with other general cases and the electricity theft issues need immediate resolution.</a:t>
            </a:r>
          </a:p>
          <a:p>
            <a:pPr marL="342900" indent="-342900" algn="just">
              <a:lnSpc>
                <a:spcPct val="106000"/>
              </a:lnSpc>
              <a:buFont typeface="Arial" panose="020B0604020202020204" pitchFamily="34" charset="0"/>
              <a:buChar char="•"/>
            </a:pPr>
            <a:endParaRPr lang="en-US" sz="1200" dirty="0">
              <a:latin typeface="Calibri" panose="020F0502020204030204" pitchFamily="34" charset="0"/>
              <a:ea typeface="Verdana" panose="020B0604030504040204" pitchFamily="34" charset="0"/>
              <a:cs typeface="Calibri" panose="020F0502020204030204" pitchFamily="34" charset="0"/>
            </a:endParaRPr>
          </a:p>
          <a:p>
            <a:pPr marL="342900" indent="-342900" algn="just">
              <a:lnSpc>
                <a:spcPct val="106000"/>
              </a:lnSpc>
              <a:buFont typeface="Arial" panose="020B0604020202020204" pitchFamily="34" charset="0"/>
              <a:buChar char="•"/>
            </a:pPr>
            <a:r>
              <a:rPr lang="en-US" sz="1200" dirty="0">
                <a:solidFill>
                  <a:sysClr val="windowText" lastClr="000000"/>
                </a:solidFill>
                <a:latin typeface="Calibri" panose="020F0502020204030204" pitchFamily="34" charset="0"/>
                <a:ea typeface="Verdana" panose="020B0604030504040204" pitchFamily="34" charset="0"/>
                <a:cs typeface="Calibri" panose="020F0502020204030204" pitchFamily="34" charset="0"/>
              </a:rPr>
              <a:t>Anti power theft police stations enhance quality of investigation in the power theft crimes. These stations can register and investigate cases only under sections 135, 138, 139, 140, 141 and 150 of the Electricity Act 2003</a:t>
            </a:r>
            <a:r>
              <a:rPr lang="en-US" sz="1200" baseline="30000" dirty="0">
                <a:solidFill>
                  <a:sysClr val="windowText" lastClr="000000"/>
                </a:solidFill>
                <a:latin typeface="Calibri" panose="020F0502020204030204" pitchFamily="34" charset="0"/>
                <a:ea typeface="Verdana" panose="020B0604030504040204" pitchFamily="34" charset="0"/>
                <a:cs typeface="Calibri" panose="020F0502020204030204" pitchFamily="34" charset="0"/>
              </a:rPr>
              <a:t>1</a:t>
            </a:r>
            <a:r>
              <a:rPr lang="en-US" sz="1200" dirty="0">
                <a:solidFill>
                  <a:sysClr val="windowText" lastClr="000000"/>
                </a:solidFill>
                <a:latin typeface="Calibri" panose="020F0502020204030204" pitchFamily="34" charset="0"/>
                <a:ea typeface="Verdana" panose="020B0604030504040204" pitchFamily="34" charset="0"/>
                <a:cs typeface="Calibri" panose="020F0502020204030204" pitchFamily="34" charset="0"/>
              </a:rPr>
              <a:t>.</a:t>
            </a:r>
          </a:p>
        </p:txBody>
      </p:sp>
      <p:grpSp>
        <p:nvGrpSpPr>
          <p:cNvPr id="13" name="Group 862">
            <a:extLst>
              <a:ext uri="{FF2B5EF4-FFF2-40B4-BE49-F238E27FC236}">
                <a16:creationId xmlns:a16="http://schemas.microsoft.com/office/drawing/2014/main" id="{C9E94042-78F5-4BE6-8805-559958AC4021}"/>
              </a:ext>
            </a:extLst>
          </p:cNvPr>
          <p:cNvGrpSpPr>
            <a:grpSpLocks noChangeAspect="1"/>
          </p:cNvGrpSpPr>
          <p:nvPr/>
        </p:nvGrpSpPr>
        <p:grpSpPr bwMode="auto">
          <a:xfrm>
            <a:off x="532629" y="4232130"/>
            <a:ext cx="506112" cy="507600"/>
            <a:chOff x="6607" y="3441"/>
            <a:chExt cx="340" cy="341"/>
          </a:xfrm>
          <a:solidFill>
            <a:srgbClr val="86BC25"/>
          </a:solidFill>
        </p:grpSpPr>
        <p:sp>
          <p:nvSpPr>
            <p:cNvPr id="14" name="Freeform 863">
              <a:extLst>
                <a:ext uri="{FF2B5EF4-FFF2-40B4-BE49-F238E27FC236}">
                  <a16:creationId xmlns:a16="http://schemas.microsoft.com/office/drawing/2014/main" id="{575EB58D-A551-4EF5-8521-374675A619FB}"/>
                </a:ext>
              </a:extLst>
            </p:cNvPr>
            <p:cNvSpPr>
              <a:spLocks noEditPoints="1"/>
            </p:cNvSpPr>
            <p:nvPr/>
          </p:nvSpPr>
          <p:spPr bwMode="auto">
            <a:xfrm>
              <a:off x="6607" y="3441"/>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algn="just" defTabSz="856978"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sp>
          <p:nvSpPr>
            <p:cNvPr id="15" name="Freeform 864">
              <a:extLst>
                <a:ext uri="{FF2B5EF4-FFF2-40B4-BE49-F238E27FC236}">
                  <a16:creationId xmlns:a16="http://schemas.microsoft.com/office/drawing/2014/main" id="{2C0C5346-206A-4495-AC15-7FA2C87D84DE}"/>
                </a:ext>
              </a:extLst>
            </p:cNvPr>
            <p:cNvSpPr>
              <a:spLocks noEditPoints="1"/>
            </p:cNvSpPr>
            <p:nvPr/>
          </p:nvSpPr>
          <p:spPr bwMode="auto">
            <a:xfrm>
              <a:off x="6671" y="3519"/>
              <a:ext cx="198" cy="184"/>
            </a:xfrm>
            <a:custGeom>
              <a:avLst/>
              <a:gdLst>
                <a:gd name="T0" fmla="*/ 256 w 298"/>
                <a:gd name="T1" fmla="*/ 192 h 277"/>
                <a:gd name="T2" fmla="*/ 223 w 298"/>
                <a:gd name="T3" fmla="*/ 208 h 277"/>
                <a:gd name="T4" fmla="*/ 84 w 298"/>
                <a:gd name="T5" fmla="*/ 146 h 277"/>
                <a:gd name="T6" fmla="*/ 85 w 298"/>
                <a:gd name="T7" fmla="*/ 139 h 277"/>
                <a:gd name="T8" fmla="*/ 84 w 298"/>
                <a:gd name="T9" fmla="*/ 131 h 277"/>
                <a:gd name="T10" fmla="*/ 223 w 298"/>
                <a:gd name="T11" fmla="*/ 69 h 277"/>
                <a:gd name="T12" fmla="*/ 256 w 298"/>
                <a:gd name="T13" fmla="*/ 85 h 277"/>
                <a:gd name="T14" fmla="*/ 298 w 298"/>
                <a:gd name="T15" fmla="*/ 43 h 277"/>
                <a:gd name="T16" fmla="*/ 256 w 298"/>
                <a:gd name="T17" fmla="*/ 0 h 277"/>
                <a:gd name="T18" fmla="*/ 213 w 298"/>
                <a:gd name="T19" fmla="*/ 43 h 277"/>
                <a:gd name="T20" fmla="*/ 214 w 298"/>
                <a:gd name="T21" fmla="*/ 50 h 277"/>
                <a:gd name="T22" fmla="*/ 75 w 298"/>
                <a:gd name="T23" fmla="*/ 112 h 277"/>
                <a:gd name="T24" fmla="*/ 42 w 298"/>
                <a:gd name="T25" fmla="*/ 96 h 277"/>
                <a:gd name="T26" fmla="*/ 0 w 298"/>
                <a:gd name="T27" fmla="*/ 139 h 277"/>
                <a:gd name="T28" fmla="*/ 42 w 298"/>
                <a:gd name="T29" fmla="*/ 181 h 277"/>
                <a:gd name="T30" fmla="*/ 75 w 298"/>
                <a:gd name="T31" fmla="*/ 165 h 277"/>
                <a:gd name="T32" fmla="*/ 214 w 298"/>
                <a:gd name="T33" fmla="*/ 227 h 277"/>
                <a:gd name="T34" fmla="*/ 213 w 298"/>
                <a:gd name="T35" fmla="*/ 235 h 277"/>
                <a:gd name="T36" fmla="*/ 256 w 298"/>
                <a:gd name="T37" fmla="*/ 277 h 277"/>
                <a:gd name="T38" fmla="*/ 298 w 298"/>
                <a:gd name="T39" fmla="*/ 235 h 277"/>
                <a:gd name="T40" fmla="*/ 256 w 298"/>
                <a:gd name="T41" fmla="*/ 192 h 277"/>
                <a:gd name="T42" fmla="*/ 256 w 298"/>
                <a:gd name="T43" fmla="*/ 21 h 277"/>
                <a:gd name="T44" fmla="*/ 277 w 298"/>
                <a:gd name="T45" fmla="*/ 43 h 277"/>
                <a:gd name="T46" fmla="*/ 256 w 298"/>
                <a:gd name="T47" fmla="*/ 64 h 277"/>
                <a:gd name="T48" fmla="*/ 234 w 298"/>
                <a:gd name="T49" fmla="*/ 43 h 277"/>
                <a:gd name="T50" fmla="*/ 256 w 298"/>
                <a:gd name="T51" fmla="*/ 21 h 277"/>
                <a:gd name="T52" fmla="*/ 42 w 298"/>
                <a:gd name="T53" fmla="*/ 160 h 277"/>
                <a:gd name="T54" fmla="*/ 21 w 298"/>
                <a:gd name="T55" fmla="*/ 139 h 277"/>
                <a:gd name="T56" fmla="*/ 42 w 298"/>
                <a:gd name="T57" fmla="*/ 117 h 277"/>
                <a:gd name="T58" fmla="*/ 64 w 298"/>
                <a:gd name="T59" fmla="*/ 139 h 277"/>
                <a:gd name="T60" fmla="*/ 42 w 298"/>
                <a:gd name="T61" fmla="*/ 160 h 277"/>
                <a:gd name="T62" fmla="*/ 256 w 298"/>
                <a:gd name="T63" fmla="*/ 256 h 277"/>
                <a:gd name="T64" fmla="*/ 234 w 298"/>
                <a:gd name="T65" fmla="*/ 235 h 277"/>
                <a:gd name="T66" fmla="*/ 256 w 298"/>
                <a:gd name="T67" fmla="*/ 213 h 277"/>
                <a:gd name="T68" fmla="*/ 277 w 298"/>
                <a:gd name="T69" fmla="*/ 235 h 277"/>
                <a:gd name="T70" fmla="*/ 256 w 298"/>
                <a:gd name="T71" fmla="*/ 25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8" h="277">
                  <a:moveTo>
                    <a:pt x="256" y="192"/>
                  </a:moveTo>
                  <a:cubicBezTo>
                    <a:pt x="242" y="192"/>
                    <a:pt x="230" y="198"/>
                    <a:pt x="223" y="208"/>
                  </a:cubicBezTo>
                  <a:cubicBezTo>
                    <a:pt x="84" y="146"/>
                    <a:pt x="84" y="146"/>
                    <a:pt x="84" y="146"/>
                  </a:cubicBezTo>
                  <a:cubicBezTo>
                    <a:pt x="85" y="143"/>
                    <a:pt x="85" y="141"/>
                    <a:pt x="85" y="139"/>
                  </a:cubicBezTo>
                  <a:cubicBezTo>
                    <a:pt x="85" y="136"/>
                    <a:pt x="85" y="134"/>
                    <a:pt x="84" y="131"/>
                  </a:cubicBezTo>
                  <a:cubicBezTo>
                    <a:pt x="223" y="69"/>
                    <a:pt x="223" y="69"/>
                    <a:pt x="223" y="69"/>
                  </a:cubicBezTo>
                  <a:cubicBezTo>
                    <a:pt x="230" y="79"/>
                    <a:pt x="242" y="85"/>
                    <a:pt x="256" y="85"/>
                  </a:cubicBezTo>
                  <a:cubicBezTo>
                    <a:pt x="279" y="85"/>
                    <a:pt x="298" y="66"/>
                    <a:pt x="298" y="43"/>
                  </a:cubicBezTo>
                  <a:cubicBezTo>
                    <a:pt x="298" y="19"/>
                    <a:pt x="279" y="0"/>
                    <a:pt x="256" y="0"/>
                  </a:cubicBezTo>
                  <a:cubicBezTo>
                    <a:pt x="232" y="0"/>
                    <a:pt x="213" y="19"/>
                    <a:pt x="213" y="43"/>
                  </a:cubicBezTo>
                  <a:cubicBezTo>
                    <a:pt x="213" y="45"/>
                    <a:pt x="213" y="48"/>
                    <a:pt x="214" y="50"/>
                  </a:cubicBezTo>
                  <a:cubicBezTo>
                    <a:pt x="75" y="112"/>
                    <a:pt x="75" y="112"/>
                    <a:pt x="75" y="112"/>
                  </a:cubicBezTo>
                  <a:cubicBezTo>
                    <a:pt x="68" y="102"/>
                    <a:pt x="56" y="96"/>
                    <a:pt x="42" y="96"/>
                  </a:cubicBezTo>
                  <a:cubicBezTo>
                    <a:pt x="19" y="96"/>
                    <a:pt x="0" y="115"/>
                    <a:pt x="0" y="139"/>
                  </a:cubicBezTo>
                  <a:cubicBezTo>
                    <a:pt x="0" y="162"/>
                    <a:pt x="19" y="181"/>
                    <a:pt x="42" y="181"/>
                  </a:cubicBezTo>
                  <a:cubicBezTo>
                    <a:pt x="56" y="181"/>
                    <a:pt x="68" y="175"/>
                    <a:pt x="75" y="165"/>
                  </a:cubicBezTo>
                  <a:cubicBezTo>
                    <a:pt x="214" y="227"/>
                    <a:pt x="214" y="227"/>
                    <a:pt x="214" y="227"/>
                  </a:cubicBezTo>
                  <a:cubicBezTo>
                    <a:pt x="213" y="230"/>
                    <a:pt x="213" y="232"/>
                    <a:pt x="213" y="235"/>
                  </a:cubicBezTo>
                  <a:cubicBezTo>
                    <a:pt x="213" y="258"/>
                    <a:pt x="232" y="277"/>
                    <a:pt x="256" y="277"/>
                  </a:cubicBezTo>
                  <a:cubicBezTo>
                    <a:pt x="279" y="277"/>
                    <a:pt x="298" y="258"/>
                    <a:pt x="298" y="235"/>
                  </a:cubicBezTo>
                  <a:cubicBezTo>
                    <a:pt x="298" y="211"/>
                    <a:pt x="279" y="192"/>
                    <a:pt x="256" y="192"/>
                  </a:cubicBezTo>
                  <a:close/>
                  <a:moveTo>
                    <a:pt x="256" y="21"/>
                  </a:moveTo>
                  <a:cubicBezTo>
                    <a:pt x="267" y="21"/>
                    <a:pt x="277" y="31"/>
                    <a:pt x="277" y="43"/>
                  </a:cubicBezTo>
                  <a:cubicBezTo>
                    <a:pt x="277" y="54"/>
                    <a:pt x="267" y="64"/>
                    <a:pt x="256" y="64"/>
                  </a:cubicBezTo>
                  <a:cubicBezTo>
                    <a:pt x="244" y="64"/>
                    <a:pt x="234" y="54"/>
                    <a:pt x="234" y="43"/>
                  </a:cubicBezTo>
                  <a:cubicBezTo>
                    <a:pt x="234" y="31"/>
                    <a:pt x="244" y="21"/>
                    <a:pt x="256" y="21"/>
                  </a:cubicBezTo>
                  <a:close/>
                  <a:moveTo>
                    <a:pt x="42" y="160"/>
                  </a:moveTo>
                  <a:cubicBezTo>
                    <a:pt x="31" y="160"/>
                    <a:pt x="21" y="150"/>
                    <a:pt x="21" y="139"/>
                  </a:cubicBezTo>
                  <a:cubicBezTo>
                    <a:pt x="21" y="127"/>
                    <a:pt x="31" y="117"/>
                    <a:pt x="42" y="117"/>
                  </a:cubicBezTo>
                  <a:cubicBezTo>
                    <a:pt x="54" y="117"/>
                    <a:pt x="64" y="127"/>
                    <a:pt x="64" y="139"/>
                  </a:cubicBezTo>
                  <a:cubicBezTo>
                    <a:pt x="64" y="150"/>
                    <a:pt x="54" y="160"/>
                    <a:pt x="42" y="160"/>
                  </a:cubicBezTo>
                  <a:close/>
                  <a:moveTo>
                    <a:pt x="256" y="256"/>
                  </a:moveTo>
                  <a:cubicBezTo>
                    <a:pt x="244" y="256"/>
                    <a:pt x="234" y="246"/>
                    <a:pt x="234" y="235"/>
                  </a:cubicBezTo>
                  <a:cubicBezTo>
                    <a:pt x="234" y="223"/>
                    <a:pt x="244" y="213"/>
                    <a:pt x="256" y="213"/>
                  </a:cubicBezTo>
                  <a:cubicBezTo>
                    <a:pt x="267" y="213"/>
                    <a:pt x="277" y="223"/>
                    <a:pt x="277" y="235"/>
                  </a:cubicBezTo>
                  <a:cubicBezTo>
                    <a:pt x="277" y="246"/>
                    <a:pt x="267" y="256"/>
                    <a:pt x="256" y="25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algn="just" defTabSz="856978"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grpSp>
      <p:grpSp>
        <p:nvGrpSpPr>
          <p:cNvPr id="16" name="Group 638">
            <a:extLst>
              <a:ext uri="{FF2B5EF4-FFF2-40B4-BE49-F238E27FC236}">
                <a16:creationId xmlns:a16="http://schemas.microsoft.com/office/drawing/2014/main" id="{64BD1ECB-1929-4A09-9F9F-7FE51AD23FF7}"/>
              </a:ext>
            </a:extLst>
          </p:cNvPr>
          <p:cNvGrpSpPr>
            <a:grpSpLocks noChangeAspect="1"/>
          </p:cNvGrpSpPr>
          <p:nvPr/>
        </p:nvGrpSpPr>
        <p:grpSpPr bwMode="auto">
          <a:xfrm>
            <a:off x="532629" y="3371251"/>
            <a:ext cx="509092" cy="507599"/>
            <a:chOff x="1900" y="2357"/>
            <a:chExt cx="341" cy="340"/>
          </a:xfrm>
          <a:solidFill>
            <a:srgbClr val="86BC25"/>
          </a:solidFill>
        </p:grpSpPr>
        <p:sp>
          <p:nvSpPr>
            <p:cNvPr id="17" name="Freeform 639">
              <a:extLst>
                <a:ext uri="{FF2B5EF4-FFF2-40B4-BE49-F238E27FC236}">
                  <a16:creationId xmlns:a16="http://schemas.microsoft.com/office/drawing/2014/main" id="{E683D5B3-9073-489B-9AA3-5E83F2D17C28}"/>
                </a:ext>
              </a:extLst>
            </p:cNvPr>
            <p:cNvSpPr>
              <a:spLocks/>
            </p:cNvSpPr>
            <p:nvPr/>
          </p:nvSpPr>
          <p:spPr bwMode="auto">
            <a:xfrm>
              <a:off x="1964" y="2419"/>
              <a:ext cx="213" cy="214"/>
            </a:xfrm>
            <a:custGeom>
              <a:avLst/>
              <a:gdLst>
                <a:gd name="T0" fmla="*/ 234 w 320"/>
                <a:gd name="T1" fmla="*/ 303 h 322"/>
                <a:gd name="T2" fmla="*/ 213 w 320"/>
                <a:gd name="T3" fmla="*/ 322 h 322"/>
                <a:gd name="T4" fmla="*/ 199 w 320"/>
                <a:gd name="T5" fmla="*/ 317 h 322"/>
                <a:gd name="T6" fmla="*/ 160 w 320"/>
                <a:gd name="T7" fmla="*/ 322 h 322"/>
                <a:gd name="T8" fmla="*/ 0 w 320"/>
                <a:gd name="T9" fmla="*/ 162 h 322"/>
                <a:gd name="T10" fmla="*/ 11 w 320"/>
                <a:gd name="T11" fmla="*/ 102 h 322"/>
                <a:gd name="T12" fmla="*/ 34 w 320"/>
                <a:gd name="T13" fmla="*/ 63 h 322"/>
                <a:gd name="T14" fmla="*/ 49 w 320"/>
                <a:gd name="T15" fmla="*/ 61 h 322"/>
                <a:gd name="T16" fmla="*/ 51 w 320"/>
                <a:gd name="T17" fmla="*/ 76 h 322"/>
                <a:gd name="T18" fmla="*/ 31 w 320"/>
                <a:gd name="T19" fmla="*/ 110 h 322"/>
                <a:gd name="T20" fmla="*/ 21 w 320"/>
                <a:gd name="T21" fmla="*/ 162 h 322"/>
                <a:gd name="T22" fmla="*/ 160 w 320"/>
                <a:gd name="T23" fmla="*/ 300 h 322"/>
                <a:gd name="T24" fmla="*/ 192 w 320"/>
                <a:gd name="T25" fmla="*/ 296 h 322"/>
                <a:gd name="T26" fmla="*/ 213 w 320"/>
                <a:gd name="T27" fmla="*/ 279 h 322"/>
                <a:gd name="T28" fmla="*/ 226 w 320"/>
                <a:gd name="T29" fmla="*/ 283 h 322"/>
                <a:gd name="T30" fmla="*/ 298 w 320"/>
                <a:gd name="T31" fmla="*/ 162 h 322"/>
                <a:gd name="T32" fmla="*/ 249 w 320"/>
                <a:gd name="T33" fmla="*/ 56 h 322"/>
                <a:gd name="T34" fmla="*/ 230 w 320"/>
                <a:gd name="T35" fmla="*/ 82 h 322"/>
                <a:gd name="T36" fmla="*/ 266 w 320"/>
                <a:gd name="T37" fmla="*/ 162 h 322"/>
                <a:gd name="T38" fmla="*/ 160 w 320"/>
                <a:gd name="T39" fmla="*/ 268 h 322"/>
                <a:gd name="T40" fmla="*/ 55 w 320"/>
                <a:gd name="T41" fmla="*/ 181 h 322"/>
                <a:gd name="T42" fmla="*/ 42 w 320"/>
                <a:gd name="T43" fmla="*/ 162 h 322"/>
                <a:gd name="T44" fmla="*/ 55 w 320"/>
                <a:gd name="T45" fmla="*/ 142 h 322"/>
                <a:gd name="T46" fmla="*/ 59 w 320"/>
                <a:gd name="T47" fmla="*/ 126 h 322"/>
                <a:gd name="T48" fmla="*/ 73 w 320"/>
                <a:gd name="T49" fmla="*/ 120 h 322"/>
                <a:gd name="T50" fmla="*/ 79 w 320"/>
                <a:gd name="T51" fmla="*/ 133 h 322"/>
                <a:gd name="T52" fmla="*/ 76 w 320"/>
                <a:gd name="T53" fmla="*/ 144 h 322"/>
                <a:gd name="T54" fmla="*/ 85 w 320"/>
                <a:gd name="T55" fmla="*/ 162 h 322"/>
                <a:gd name="T56" fmla="*/ 76 w 320"/>
                <a:gd name="T57" fmla="*/ 179 h 322"/>
                <a:gd name="T58" fmla="*/ 160 w 320"/>
                <a:gd name="T59" fmla="*/ 247 h 322"/>
                <a:gd name="T60" fmla="*/ 245 w 320"/>
                <a:gd name="T61" fmla="*/ 162 h 322"/>
                <a:gd name="T62" fmla="*/ 217 w 320"/>
                <a:gd name="T63" fmla="*/ 99 h 322"/>
                <a:gd name="T64" fmla="*/ 199 w 320"/>
                <a:gd name="T65" fmla="*/ 125 h 322"/>
                <a:gd name="T66" fmla="*/ 213 w 320"/>
                <a:gd name="T67" fmla="*/ 162 h 322"/>
                <a:gd name="T68" fmla="*/ 160 w 320"/>
                <a:gd name="T69" fmla="*/ 215 h 322"/>
                <a:gd name="T70" fmla="*/ 106 w 320"/>
                <a:gd name="T71" fmla="*/ 162 h 322"/>
                <a:gd name="T72" fmla="*/ 133 w 320"/>
                <a:gd name="T73" fmla="*/ 115 h 322"/>
                <a:gd name="T74" fmla="*/ 148 w 320"/>
                <a:gd name="T75" fmla="*/ 119 h 322"/>
                <a:gd name="T76" fmla="*/ 144 w 320"/>
                <a:gd name="T77" fmla="*/ 134 h 322"/>
                <a:gd name="T78" fmla="*/ 128 w 320"/>
                <a:gd name="T79" fmla="*/ 162 h 322"/>
                <a:gd name="T80" fmla="*/ 160 w 320"/>
                <a:gd name="T81" fmla="*/ 194 h 322"/>
                <a:gd name="T82" fmla="*/ 192 w 320"/>
                <a:gd name="T83" fmla="*/ 162 h 322"/>
                <a:gd name="T84" fmla="*/ 186 w 320"/>
                <a:gd name="T85" fmla="*/ 143 h 322"/>
                <a:gd name="T86" fmla="*/ 168 w 320"/>
                <a:gd name="T87" fmla="*/ 168 h 322"/>
                <a:gd name="T88" fmla="*/ 160 w 320"/>
                <a:gd name="T89" fmla="*/ 172 h 322"/>
                <a:gd name="T90" fmla="*/ 153 w 320"/>
                <a:gd name="T91" fmla="*/ 170 h 322"/>
                <a:gd name="T92" fmla="*/ 151 w 320"/>
                <a:gd name="T93" fmla="*/ 155 h 322"/>
                <a:gd name="T94" fmla="*/ 258 w 320"/>
                <a:gd name="T95" fmla="*/ 6 h 322"/>
                <a:gd name="T96" fmla="*/ 273 w 320"/>
                <a:gd name="T97" fmla="*/ 4 h 322"/>
                <a:gd name="T98" fmla="*/ 275 w 320"/>
                <a:gd name="T99" fmla="*/ 19 h 322"/>
                <a:gd name="T100" fmla="*/ 261 w 320"/>
                <a:gd name="T101" fmla="*/ 38 h 322"/>
                <a:gd name="T102" fmla="*/ 320 w 320"/>
                <a:gd name="T103" fmla="*/ 162 h 322"/>
                <a:gd name="T104" fmla="*/ 234 w 320"/>
                <a:gd name="T105" fmla="*/ 303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0" h="322">
                  <a:moveTo>
                    <a:pt x="234" y="303"/>
                  </a:moveTo>
                  <a:cubicBezTo>
                    <a:pt x="233" y="314"/>
                    <a:pt x="224" y="322"/>
                    <a:pt x="213" y="322"/>
                  </a:cubicBezTo>
                  <a:cubicBezTo>
                    <a:pt x="208" y="322"/>
                    <a:pt x="203" y="320"/>
                    <a:pt x="199" y="317"/>
                  </a:cubicBezTo>
                  <a:cubicBezTo>
                    <a:pt x="187" y="320"/>
                    <a:pt x="173" y="322"/>
                    <a:pt x="160" y="322"/>
                  </a:cubicBezTo>
                  <a:cubicBezTo>
                    <a:pt x="71" y="322"/>
                    <a:pt x="0" y="250"/>
                    <a:pt x="0" y="162"/>
                  </a:cubicBezTo>
                  <a:cubicBezTo>
                    <a:pt x="0" y="141"/>
                    <a:pt x="4" y="121"/>
                    <a:pt x="11" y="102"/>
                  </a:cubicBezTo>
                  <a:cubicBezTo>
                    <a:pt x="17" y="88"/>
                    <a:pt x="24" y="75"/>
                    <a:pt x="34" y="63"/>
                  </a:cubicBezTo>
                  <a:cubicBezTo>
                    <a:pt x="38" y="58"/>
                    <a:pt x="44" y="57"/>
                    <a:pt x="49" y="61"/>
                  </a:cubicBezTo>
                  <a:cubicBezTo>
                    <a:pt x="54" y="65"/>
                    <a:pt x="54" y="71"/>
                    <a:pt x="51" y="76"/>
                  </a:cubicBezTo>
                  <a:cubicBezTo>
                    <a:pt x="42" y="86"/>
                    <a:pt x="36" y="98"/>
                    <a:pt x="31" y="110"/>
                  </a:cubicBezTo>
                  <a:cubicBezTo>
                    <a:pt x="24" y="126"/>
                    <a:pt x="21" y="144"/>
                    <a:pt x="21" y="162"/>
                  </a:cubicBezTo>
                  <a:cubicBezTo>
                    <a:pt x="21" y="238"/>
                    <a:pt x="83" y="300"/>
                    <a:pt x="160" y="300"/>
                  </a:cubicBezTo>
                  <a:cubicBezTo>
                    <a:pt x="171" y="300"/>
                    <a:pt x="182" y="299"/>
                    <a:pt x="192" y="296"/>
                  </a:cubicBezTo>
                  <a:cubicBezTo>
                    <a:pt x="194" y="286"/>
                    <a:pt x="203" y="279"/>
                    <a:pt x="213" y="279"/>
                  </a:cubicBezTo>
                  <a:cubicBezTo>
                    <a:pt x="218" y="279"/>
                    <a:pt x="222" y="281"/>
                    <a:pt x="226" y="283"/>
                  </a:cubicBezTo>
                  <a:cubicBezTo>
                    <a:pt x="269" y="260"/>
                    <a:pt x="298" y="214"/>
                    <a:pt x="298" y="162"/>
                  </a:cubicBezTo>
                  <a:cubicBezTo>
                    <a:pt x="298" y="120"/>
                    <a:pt x="280" y="82"/>
                    <a:pt x="249" y="56"/>
                  </a:cubicBezTo>
                  <a:cubicBezTo>
                    <a:pt x="230" y="82"/>
                    <a:pt x="230" y="82"/>
                    <a:pt x="230" y="82"/>
                  </a:cubicBezTo>
                  <a:cubicBezTo>
                    <a:pt x="253" y="102"/>
                    <a:pt x="266" y="131"/>
                    <a:pt x="266" y="162"/>
                  </a:cubicBezTo>
                  <a:cubicBezTo>
                    <a:pt x="266" y="220"/>
                    <a:pt x="218" y="268"/>
                    <a:pt x="160" y="268"/>
                  </a:cubicBezTo>
                  <a:cubicBezTo>
                    <a:pt x="107" y="268"/>
                    <a:pt x="64" y="231"/>
                    <a:pt x="55" y="181"/>
                  </a:cubicBezTo>
                  <a:cubicBezTo>
                    <a:pt x="47" y="178"/>
                    <a:pt x="42" y="170"/>
                    <a:pt x="42" y="162"/>
                  </a:cubicBezTo>
                  <a:cubicBezTo>
                    <a:pt x="42" y="153"/>
                    <a:pt x="47" y="146"/>
                    <a:pt x="55" y="142"/>
                  </a:cubicBezTo>
                  <a:cubicBezTo>
                    <a:pt x="56" y="137"/>
                    <a:pt x="57" y="131"/>
                    <a:pt x="59" y="126"/>
                  </a:cubicBezTo>
                  <a:cubicBezTo>
                    <a:pt x="61" y="121"/>
                    <a:pt x="67" y="118"/>
                    <a:pt x="73" y="120"/>
                  </a:cubicBezTo>
                  <a:cubicBezTo>
                    <a:pt x="78" y="122"/>
                    <a:pt x="81" y="128"/>
                    <a:pt x="79" y="133"/>
                  </a:cubicBezTo>
                  <a:cubicBezTo>
                    <a:pt x="78" y="137"/>
                    <a:pt x="77" y="141"/>
                    <a:pt x="76" y="144"/>
                  </a:cubicBezTo>
                  <a:cubicBezTo>
                    <a:pt x="81" y="148"/>
                    <a:pt x="85" y="155"/>
                    <a:pt x="85" y="162"/>
                  </a:cubicBezTo>
                  <a:cubicBezTo>
                    <a:pt x="85" y="169"/>
                    <a:pt x="81" y="175"/>
                    <a:pt x="76" y="179"/>
                  </a:cubicBezTo>
                  <a:cubicBezTo>
                    <a:pt x="84" y="218"/>
                    <a:pt x="119" y="247"/>
                    <a:pt x="160" y="247"/>
                  </a:cubicBezTo>
                  <a:cubicBezTo>
                    <a:pt x="207" y="247"/>
                    <a:pt x="245" y="209"/>
                    <a:pt x="245" y="162"/>
                  </a:cubicBezTo>
                  <a:cubicBezTo>
                    <a:pt x="245" y="138"/>
                    <a:pt x="235" y="115"/>
                    <a:pt x="217" y="99"/>
                  </a:cubicBezTo>
                  <a:cubicBezTo>
                    <a:pt x="199" y="125"/>
                    <a:pt x="199" y="125"/>
                    <a:pt x="199" y="125"/>
                  </a:cubicBezTo>
                  <a:cubicBezTo>
                    <a:pt x="208" y="135"/>
                    <a:pt x="213" y="148"/>
                    <a:pt x="213" y="162"/>
                  </a:cubicBezTo>
                  <a:cubicBezTo>
                    <a:pt x="213" y="191"/>
                    <a:pt x="189" y="215"/>
                    <a:pt x="160" y="215"/>
                  </a:cubicBezTo>
                  <a:cubicBezTo>
                    <a:pt x="130" y="215"/>
                    <a:pt x="106" y="191"/>
                    <a:pt x="106" y="162"/>
                  </a:cubicBezTo>
                  <a:cubicBezTo>
                    <a:pt x="106" y="143"/>
                    <a:pt x="117" y="125"/>
                    <a:pt x="133" y="115"/>
                  </a:cubicBezTo>
                  <a:cubicBezTo>
                    <a:pt x="138" y="113"/>
                    <a:pt x="145" y="114"/>
                    <a:pt x="148" y="119"/>
                  </a:cubicBezTo>
                  <a:cubicBezTo>
                    <a:pt x="151" y="124"/>
                    <a:pt x="149" y="131"/>
                    <a:pt x="144" y="134"/>
                  </a:cubicBezTo>
                  <a:cubicBezTo>
                    <a:pt x="134" y="140"/>
                    <a:pt x="128" y="150"/>
                    <a:pt x="128" y="162"/>
                  </a:cubicBezTo>
                  <a:cubicBezTo>
                    <a:pt x="128" y="179"/>
                    <a:pt x="142" y="194"/>
                    <a:pt x="160" y="194"/>
                  </a:cubicBezTo>
                  <a:cubicBezTo>
                    <a:pt x="177" y="194"/>
                    <a:pt x="192" y="179"/>
                    <a:pt x="192" y="162"/>
                  </a:cubicBezTo>
                  <a:cubicBezTo>
                    <a:pt x="192" y="155"/>
                    <a:pt x="190" y="149"/>
                    <a:pt x="186" y="143"/>
                  </a:cubicBezTo>
                  <a:cubicBezTo>
                    <a:pt x="168" y="168"/>
                    <a:pt x="168" y="168"/>
                    <a:pt x="168" y="168"/>
                  </a:cubicBezTo>
                  <a:cubicBezTo>
                    <a:pt x="166" y="171"/>
                    <a:pt x="163" y="172"/>
                    <a:pt x="160" y="172"/>
                  </a:cubicBezTo>
                  <a:cubicBezTo>
                    <a:pt x="158" y="172"/>
                    <a:pt x="155" y="172"/>
                    <a:pt x="153" y="170"/>
                  </a:cubicBezTo>
                  <a:cubicBezTo>
                    <a:pt x="149" y="167"/>
                    <a:pt x="148" y="160"/>
                    <a:pt x="151" y="155"/>
                  </a:cubicBezTo>
                  <a:cubicBezTo>
                    <a:pt x="258" y="6"/>
                    <a:pt x="258" y="6"/>
                    <a:pt x="258" y="6"/>
                  </a:cubicBezTo>
                  <a:cubicBezTo>
                    <a:pt x="261" y="1"/>
                    <a:pt x="268" y="0"/>
                    <a:pt x="273" y="4"/>
                  </a:cubicBezTo>
                  <a:cubicBezTo>
                    <a:pt x="277" y="7"/>
                    <a:pt x="278" y="14"/>
                    <a:pt x="275" y="19"/>
                  </a:cubicBezTo>
                  <a:cubicBezTo>
                    <a:pt x="261" y="38"/>
                    <a:pt x="261" y="38"/>
                    <a:pt x="261" y="38"/>
                  </a:cubicBezTo>
                  <a:cubicBezTo>
                    <a:pt x="298" y="69"/>
                    <a:pt x="320" y="113"/>
                    <a:pt x="320" y="162"/>
                  </a:cubicBezTo>
                  <a:cubicBezTo>
                    <a:pt x="320" y="223"/>
                    <a:pt x="285" y="276"/>
                    <a:pt x="234" y="30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algn="just" defTabSz="856978"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sp>
          <p:nvSpPr>
            <p:cNvPr id="18" name="Freeform 640">
              <a:extLst>
                <a:ext uri="{FF2B5EF4-FFF2-40B4-BE49-F238E27FC236}">
                  <a16:creationId xmlns:a16="http://schemas.microsoft.com/office/drawing/2014/main" id="{9A1FE754-BA43-4395-A5A9-84D9167C9A92}"/>
                </a:ext>
              </a:extLst>
            </p:cNvPr>
            <p:cNvSpPr>
              <a:spLocks noEditPoints="1"/>
            </p:cNvSpPr>
            <p:nvPr/>
          </p:nvSpPr>
          <p:spPr bwMode="auto">
            <a:xfrm>
              <a:off x="1900" y="2357"/>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algn="just" defTabSz="856978"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grpSp>
      <p:grpSp>
        <p:nvGrpSpPr>
          <p:cNvPr id="19" name="Group 749">
            <a:extLst>
              <a:ext uri="{FF2B5EF4-FFF2-40B4-BE49-F238E27FC236}">
                <a16:creationId xmlns:a16="http://schemas.microsoft.com/office/drawing/2014/main" id="{B62215DC-6688-4827-85C5-A2CFF5FD7AE9}"/>
              </a:ext>
            </a:extLst>
          </p:cNvPr>
          <p:cNvGrpSpPr>
            <a:grpSpLocks noChangeAspect="1"/>
          </p:cNvGrpSpPr>
          <p:nvPr/>
        </p:nvGrpSpPr>
        <p:grpSpPr bwMode="auto">
          <a:xfrm>
            <a:off x="525820" y="2561561"/>
            <a:ext cx="507225" cy="507225"/>
            <a:chOff x="3520" y="2686"/>
            <a:chExt cx="340" cy="340"/>
          </a:xfrm>
          <a:solidFill>
            <a:srgbClr val="86BC25"/>
          </a:solidFill>
        </p:grpSpPr>
        <p:sp>
          <p:nvSpPr>
            <p:cNvPr id="20" name="Freeform 750">
              <a:extLst>
                <a:ext uri="{FF2B5EF4-FFF2-40B4-BE49-F238E27FC236}">
                  <a16:creationId xmlns:a16="http://schemas.microsoft.com/office/drawing/2014/main" id="{546BB0A9-E695-4DBE-9148-FC4CD142321D}"/>
                </a:ext>
              </a:extLst>
            </p:cNvPr>
            <p:cNvSpPr>
              <a:spLocks noEditPoints="1"/>
            </p:cNvSpPr>
            <p:nvPr/>
          </p:nvSpPr>
          <p:spPr bwMode="auto">
            <a:xfrm>
              <a:off x="3520" y="26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algn="just" defTabSz="1142609"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sp>
          <p:nvSpPr>
            <p:cNvPr id="21" name="Freeform 751">
              <a:extLst>
                <a:ext uri="{FF2B5EF4-FFF2-40B4-BE49-F238E27FC236}">
                  <a16:creationId xmlns:a16="http://schemas.microsoft.com/office/drawing/2014/main" id="{9A27D428-30A9-47D4-B77A-F1E105FFCD30}"/>
                </a:ext>
              </a:extLst>
            </p:cNvPr>
            <p:cNvSpPr>
              <a:spLocks/>
            </p:cNvSpPr>
            <p:nvPr/>
          </p:nvSpPr>
          <p:spPr bwMode="auto">
            <a:xfrm>
              <a:off x="3582" y="2789"/>
              <a:ext cx="144" cy="137"/>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algn="just" defTabSz="1142609"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sp>
          <p:nvSpPr>
            <p:cNvPr id="22" name="Freeform 752">
              <a:extLst>
                <a:ext uri="{FF2B5EF4-FFF2-40B4-BE49-F238E27FC236}">
                  <a16:creationId xmlns:a16="http://schemas.microsoft.com/office/drawing/2014/main" id="{EDE8BC3C-1A02-4E13-8838-18CA11C4C112}"/>
                </a:ext>
              </a:extLst>
            </p:cNvPr>
            <p:cNvSpPr>
              <a:spLocks/>
            </p:cNvSpPr>
            <p:nvPr/>
          </p:nvSpPr>
          <p:spPr bwMode="auto">
            <a:xfrm>
              <a:off x="3702" y="2802"/>
              <a:ext cx="95" cy="111"/>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algn="just" defTabSz="1142609"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grpSp>
      <p:sp>
        <p:nvSpPr>
          <p:cNvPr id="23" name="TextBox 22">
            <a:extLst>
              <a:ext uri="{FF2B5EF4-FFF2-40B4-BE49-F238E27FC236}">
                <a16:creationId xmlns:a16="http://schemas.microsoft.com/office/drawing/2014/main" id="{292D15B1-47E6-4EEE-BA6F-DEAD5C755977}"/>
              </a:ext>
            </a:extLst>
          </p:cNvPr>
          <p:cNvSpPr txBox="1"/>
          <p:nvPr/>
        </p:nvSpPr>
        <p:spPr>
          <a:xfrm>
            <a:off x="1190811" y="2479006"/>
            <a:ext cx="4731417" cy="738664"/>
          </a:xfrm>
          <a:prstGeom prst="rect">
            <a:avLst/>
          </a:prstGeom>
          <a:noFill/>
        </p:spPr>
        <p:txBody>
          <a:bodyPr wrap="square" lIns="0" tIns="0" rIns="0" bIns="0" rtlCol="0">
            <a:spAutoFit/>
          </a:bodyPr>
          <a:lstStyle/>
          <a:p>
            <a:pPr algn="just">
              <a:spcBef>
                <a:spcPts val="600"/>
              </a:spcBef>
              <a:buSzPct val="100000"/>
            </a:pPr>
            <a:r>
              <a:rPr lang="en-US" sz="1600" b="1" dirty="0">
                <a:solidFill>
                  <a:srgbClr val="313131"/>
                </a:solidFill>
                <a:latin typeface="Calibri" panose="020F0502020204030204" pitchFamily="34" charset="0"/>
                <a:cs typeface="Calibri" panose="020F0502020204030204" pitchFamily="34" charset="0"/>
              </a:rPr>
              <a:t>Speedy investigations and prompt follow up-  </a:t>
            </a:r>
            <a:r>
              <a:rPr lang="en-US" sz="1600" dirty="0">
                <a:solidFill>
                  <a:srgbClr val="313131"/>
                </a:solidFill>
                <a:latin typeface="Calibri" panose="020F0502020204030204" pitchFamily="34" charset="0"/>
                <a:cs typeface="Calibri" panose="020F0502020204030204" pitchFamily="34" charset="0"/>
              </a:rPr>
              <a:t> Dedicated personnel working exclusively on power theft cases quickly </a:t>
            </a:r>
            <a:r>
              <a:rPr lang="en-US" sz="1600" dirty="0">
                <a:latin typeface="Calibri" panose="020F0502020204030204" pitchFamily="34" charset="0"/>
                <a:cs typeface="Calibri" panose="020F0502020204030204" pitchFamily="34" charset="0"/>
              </a:rPr>
              <a:t>address the problems of power theft.</a:t>
            </a:r>
          </a:p>
        </p:txBody>
      </p:sp>
      <p:sp>
        <p:nvSpPr>
          <p:cNvPr id="24" name="TextBox 23">
            <a:extLst>
              <a:ext uri="{FF2B5EF4-FFF2-40B4-BE49-F238E27FC236}">
                <a16:creationId xmlns:a16="http://schemas.microsoft.com/office/drawing/2014/main" id="{500A7E5F-8A7B-4B50-BD7E-68DA7162F564}"/>
              </a:ext>
            </a:extLst>
          </p:cNvPr>
          <p:cNvSpPr txBox="1"/>
          <p:nvPr/>
        </p:nvSpPr>
        <p:spPr>
          <a:xfrm>
            <a:off x="1219006" y="3323257"/>
            <a:ext cx="4703222" cy="738664"/>
          </a:xfrm>
          <a:prstGeom prst="rect">
            <a:avLst/>
          </a:prstGeom>
          <a:noFill/>
        </p:spPr>
        <p:txBody>
          <a:bodyPr wrap="square" lIns="0" tIns="0" rIns="0" bIns="0" rtlCol="0">
            <a:spAutoFit/>
          </a:bodyPr>
          <a:lstStyle/>
          <a:p>
            <a:pPr algn="just">
              <a:spcBef>
                <a:spcPts val="600"/>
              </a:spcBef>
              <a:buSzPct val="100000"/>
            </a:pPr>
            <a:r>
              <a:rPr lang="en-US" sz="1600" b="1" dirty="0">
                <a:solidFill>
                  <a:srgbClr val="313131"/>
                </a:solidFill>
                <a:latin typeface="Calibri" panose="020F0502020204030204" pitchFamily="34" charset="0"/>
                <a:cs typeface="Calibri" panose="020F0502020204030204" pitchFamily="34" charset="0"/>
              </a:rPr>
              <a:t>Ease of Registering Reports </a:t>
            </a:r>
            <a:r>
              <a:rPr lang="en-US" sz="1600" dirty="0">
                <a:solidFill>
                  <a:srgbClr val="313131"/>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Dedicated police stations help enforcement wings of the Discoms to get the FIRs registered promptly.</a:t>
            </a:r>
          </a:p>
        </p:txBody>
      </p:sp>
      <p:sp>
        <p:nvSpPr>
          <p:cNvPr id="25" name="TextBox 24">
            <a:extLst>
              <a:ext uri="{FF2B5EF4-FFF2-40B4-BE49-F238E27FC236}">
                <a16:creationId xmlns:a16="http://schemas.microsoft.com/office/drawing/2014/main" id="{22A2E9A0-F002-488F-86EB-59283CEEF01E}"/>
              </a:ext>
            </a:extLst>
          </p:cNvPr>
          <p:cNvSpPr txBox="1"/>
          <p:nvPr/>
        </p:nvSpPr>
        <p:spPr>
          <a:xfrm>
            <a:off x="1205845" y="4179896"/>
            <a:ext cx="4703222" cy="984885"/>
          </a:xfrm>
          <a:prstGeom prst="rect">
            <a:avLst/>
          </a:prstGeom>
          <a:noFill/>
        </p:spPr>
        <p:txBody>
          <a:bodyPr wrap="square" lIns="0" tIns="0" rIns="0" bIns="0" rtlCol="0">
            <a:spAutoFit/>
          </a:bodyPr>
          <a:lstStyle/>
          <a:p>
            <a:pPr algn="just">
              <a:spcBef>
                <a:spcPts val="600"/>
              </a:spcBef>
              <a:buSzPct val="100000"/>
            </a:pPr>
            <a:r>
              <a:rPr lang="en-US" sz="1600" b="1" dirty="0">
                <a:solidFill>
                  <a:srgbClr val="313131"/>
                </a:solidFill>
                <a:latin typeface="Calibri" panose="020F0502020204030204" pitchFamily="34" charset="0"/>
                <a:cs typeface="Calibri" panose="020F0502020204030204" pitchFamily="34" charset="0"/>
              </a:rPr>
              <a:t>Single Source of Data </a:t>
            </a:r>
            <a:r>
              <a:rPr lang="en-US" sz="1600" dirty="0">
                <a:solidFill>
                  <a:srgbClr val="313131"/>
                </a:solidFill>
                <a:latin typeface="Calibri" panose="020F0502020204030204" pitchFamily="34" charset="0"/>
                <a:cs typeface="Calibri" panose="020F0502020204030204" pitchFamily="34" charset="0"/>
              </a:rPr>
              <a:t>– Single point of registration and investigation is a valuable source of data to the Discoms to identify pattern and nature of power thefts, high theft prone areas at district/zone level.</a:t>
            </a:r>
            <a:endParaRPr lang="en-US" sz="1600" dirty="0">
              <a:latin typeface="Calibri" panose="020F0502020204030204" pitchFamily="34" charset="0"/>
              <a:cs typeface="Calibri" panose="020F0502020204030204" pitchFamily="34" charset="0"/>
            </a:endParaRPr>
          </a:p>
        </p:txBody>
      </p:sp>
      <p:sp>
        <p:nvSpPr>
          <p:cNvPr id="26" name="TextBox 25">
            <a:hlinkClick r:id="rId2"/>
            <a:extLst>
              <a:ext uri="{FF2B5EF4-FFF2-40B4-BE49-F238E27FC236}">
                <a16:creationId xmlns:a16="http://schemas.microsoft.com/office/drawing/2014/main" id="{7B84CF62-A761-4F1A-AA28-879F0D3F3B7F}"/>
              </a:ext>
            </a:extLst>
          </p:cNvPr>
          <p:cNvSpPr txBox="1"/>
          <p:nvPr/>
        </p:nvSpPr>
        <p:spPr>
          <a:xfrm>
            <a:off x="563691" y="5879709"/>
            <a:ext cx="3972485"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Calibri" panose="020F0502020204030204" pitchFamily="34" charset="0"/>
                <a:cs typeface="Calibri" panose="020F0502020204030204" pitchFamily="34" charset="0"/>
                <a:hlinkClick r:id="rId2"/>
              </a:rPr>
              <a:t>1. Impact Analysis of Anti Power theft police stations </a:t>
            </a:r>
            <a:endParaRPr lang="en-US" sz="1000" dirty="0">
              <a:solidFill>
                <a:srgbClr val="313131"/>
              </a:solidFill>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1CD69204-1D9F-4C22-AF96-C872AFF6CED0}"/>
              </a:ext>
            </a:extLst>
          </p:cNvPr>
          <p:cNvSpPr txBox="1"/>
          <p:nvPr/>
        </p:nvSpPr>
        <p:spPr>
          <a:xfrm>
            <a:off x="1188876" y="5235242"/>
            <a:ext cx="4703222" cy="492443"/>
          </a:xfrm>
          <a:prstGeom prst="rect">
            <a:avLst/>
          </a:prstGeom>
          <a:noFill/>
        </p:spPr>
        <p:txBody>
          <a:bodyPr wrap="square" lIns="0" tIns="0" rIns="0" bIns="0" rtlCol="0">
            <a:spAutoFit/>
          </a:bodyPr>
          <a:lstStyle/>
          <a:p>
            <a:pPr algn="just">
              <a:spcBef>
                <a:spcPts val="600"/>
              </a:spcBef>
              <a:buSzPct val="100000"/>
            </a:pPr>
            <a:r>
              <a:rPr lang="en-US" sz="1600" b="1" dirty="0">
                <a:solidFill>
                  <a:srgbClr val="313131"/>
                </a:solidFill>
                <a:latin typeface="Calibri" panose="020F0502020204030204" pitchFamily="34" charset="0"/>
                <a:cs typeface="Calibri" panose="020F0502020204030204" pitchFamily="34" charset="0"/>
              </a:rPr>
              <a:t>Improved Billing &amp; Collection Efficiency –</a:t>
            </a:r>
            <a:r>
              <a:rPr lang="en-US" sz="1600" dirty="0">
                <a:solidFill>
                  <a:srgbClr val="313131"/>
                </a:solidFill>
                <a:latin typeface="Calibri" panose="020F0502020204030204" pitchFamily="34" charset="0"/>
                <a:cs typeface="Calibri" panose="020F0502020204030204" pitchFamily="34" charset="0"/>
              </a:rPr>
              <a:t> Reduction in theft cases leads to enhanced billing and collections.</a:t>
            </a:r>
            <a:endParaRPr lang="en-US" sz="1600" dirty="0">
              <a:latin typeface="Calibri" panose="020F0502020204030204" pitchFamily="34" charset="0"/>
              <a:cs typeface="Calibri" panose="020F0502020204030204" pitchFamily="34" charset="0"/>
            </a:endParaRPr>
          </a:p>
        </p:txBody>
      </p:sp>
      <p:grpSp>
        <p:nvGrpSpPr>
          <p:cNvPr id="28" name="Group 127">
            <a:extLst>
              <a:ext uri="{FF2B5EF4-FFF2-40B4-BE49-F238E27FC236}">
                <a16:creationId xmlns:a16="http://schemas.microsoft.com/office/drawing/2014/main" id="{4B01FD1D-809A-4EC1-B265-1C7DC7411734}"/>
              </a:ext>
            </a:extLst>
          </p:cNvPr>
          <p:cNvGrpSpPr>
            <a:grpSpLocks noChangeAspect="1"/>
          </p:cNvGrpSpPr>
          <p:nvPr/>
        </p:nvGrpSpPr>
        <p:grpSpPr bwMode="auto">
          <a:xfrm rot="10800000">
            <a:off x="543722" y="5235242"/>
            <a:ext cx="507225" cy="507224"/>
            <a:chOff x="5048" y="380"/>
            <a:chExt cx="340" cy="340"/>
          </a:xfrm>
          <a:solidFill>
            <a:srgbClr val="86BC25"/>
          </a:solidFill>
        </p:grpSpPr>
        <p:sp>
          <p:nvSpPr>
            <p:cNvPr id="29" name="Freeform 128">
              <a:extLst>
                <a:ext uri="{FF2B5EF4-FFF2-40B4-BE49-F238E27FC236}">
                  <a16:creationId xmlns:a16="http://schemas.microsoft.com/office/drawing/2014/main" id="{775B0A65-3AB1-46FD-A570-128E7C0E8539}"/>
                </a:ext>
              </a:extLst>
            </p:cNvPr>
            <p:cNvSpPr>
              <a:spLocks noEditPoints="1"/>
            </p:cNvSpPr>
            <p:nvPr/>
          </p:nvSpPr>
          <p:spPr bwMode="auto">
            <a:xfrm>
              <a:off x="5048" y="38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defTabSz="1142609"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sp>
          <p:nvSpPr>
            <p:cNvPr id="30" name="Freeform 129">
              <a:extLst>
                <a:ext uri="{FF2B5EF4-FFF2-40B4-BE49-F238E27FC236}">
                  <a16:creationId xmlns:a16="http://schemas.microsoft.com/office/drawing/2014/main" id="{D5D61F8D-D620-428B-A982-8FE3C241CD51}"/>
                </a:ext>
              </a:extLst>
            </p:cNvPr>
            <p:cNvSpPr>
              <a:spLocks noEditPoints="1"/>
            </p:cNvSpPr>
            <p:nvPr/>
          </p:nvSpPr>
          <p:spPr bwMode="auto">
            <a:xfrm>
              <a:off x="5156" y="472"/>
              <a:ext cx="150" cy="156"/>
            </a:xfrm>
            <a:custGeom>
              <a:avLst/>
              <a:gdLst>
                <a:gd name="T0" fmla="*/ 74 w 226"/>
                <a:gd name="T1" fmla="*/ 189 h 235"/>
                <a:gd name="T2" fmla="*/ 74 w 226"/>
                <a:gd name="T3" fmla="*/ 204 h 235"/>
                <a:gd name="T4" fmla="*/ 47 w 226"/>
                <a:gd name="T5" fmla="*/ 232 h 235"/>
                <a:gd name="T6" fmla="*/ 43 w 226"/>
                <a:gd name="T7" fmla="*/ 234 h 235"/>
                <a:gd name="T8" fmla="*/ 39 w 226"/>
                <a:gd name="T9" fmla="*/ 235 h 235"/>
                <a:gd name="T10" fmla="*/ 35 w 226"/>
                <a:gd name="T11" fmla="*/ 234 h 235"/>
                <a:gd name="T12" fmla="*/ 32 w 226"/>
                <a:gd name="T13" fmla="*/ 232 h 235"/>
                <a:gd name="T14" fmla="*/ 4 w 226"/>
                <a:gd name="T15" fmla="*/ 204 h 235"/>
                <a:gd name="T16" fmla="*/ 4 w 226"/>
                <a:gd name="T17" fmla="*/ 189 h 235"/>
                <a:gd name="T18" fmla="*/ 19 w 226"/>
                <a:gd name="T19" fmla="*/ 189 h 235"/>
                <a:gd name="T20" fmla="*/ 29 w 226"/>
                <a:gd name="T21" fmla="*/ 199 h 235"/>
                <a:gd name="T22" fmla="*/ 29 w 226"/>
                <a:gd name="T23" fmla="*/ 11 h 235"/>
                <a:gd name="T24" fmla="*/ 39 w 226"/>
                <a:gd name="T25" fmla="*/ 0 h 235"/>
                <a:gd name="T26" fmla="*/ 50 w 226"/>
                <a:gd name="T27" fmla="*/ 11 h 235"/>
                <a:gd name="T28" fmla="*/ 50 w 226"/>
                <a:gd name="T29" fmla="*/ 199 h 235"/>
                <a:gd name="T30" fmla="*/ 59 w 226"/>
                <a:gd name="T31" fmla="*/ 189 h 235"/>
                <a:gd name="T32" fmla="*/ 74 w 226"/>
                <a:gd name="T33" fmla="*/ 189 h 235"/>
                <a:gd name="T34" fmla="*/ 215 w 226"/>
                <a:gd name="T35" fmla="*/ 214 h 235"/>
                <a:gd name="T36" fmla="*/ 103 w 226"/>
                <a:gd name="T37" fmla="*/ 214 h 235"/>
                <a:gd name="T38" fmla="*/ 93 w 226"/>
                <a:gd name="T39" fmla="*/ 224 h 235"/>
                <a:gd name="T40" fmla="*/ 103 w 226"/>
                <a:gd name="T41" fmla="*/ 235 h 235"/>
                <a:gd name="T42" fmla="*/ 215 w 226"/>
                <a:gd name="T43" fmla="*/ 235 h 235"/>
                <a:gd name="T44" fmla="*/ 226 w 226"/>
                <a:gd name="T45" fmla="*/ 224 h 235"/>
                <a:gd name="T46" fmla="*/ 215 w 226"/>
                <a:gd name="T47" fmla="*/ 214 h 235"/>
                <a:gd name="T48" fmla="*/ 103 w 226"/>
                <a:gd name="T49" fmla="*/ 192 h 235"/>
                <a:gd name="T50" fmla="*/ 199 w 226"/>
                <a:gd name="T51" fmla="*/ 192 h 235"/>
                <a:gd name="T52" fmla="*/ 210 w 226"/>
                <a:gd name="T53" fmla="*/ 182 h 235"/>
                <a:gd name="T54" fmla="*/ 199 w 226"/>
                <a:gd name="T55" fmla="*/ 171 h 235"/>
                <a:gd name="T56" fmla="*/ 103 w 226"/>
                <a:gd name="T57" fmla="*/ 171 h 235"/>
                <a:gd name="T58" fmla="*/ 93 w 226"/>
                <a:gd name="T59" fmla="*/ 182 h 235"/>
                <a:gd name="T60" fmla="*/ 103 w 226"/>
                <a:gd name="T61" fmla="*/ 192 h 235"/>
                <a:gd name="T62" fmla="*/ 103 w 226"/>
                <a:gd name="T63" fmla="*/ 150 h 235"/>
                <a:gd name="T64" fmla="*/ 178 w 226"/>
                <a:gd name="T65" fmla="*/ 150 h 235"/>
                <a:gd name="T66" fmla="*/ 189 w 226"/>
                <a:gd name="T67" fmla="*/ 139 h 235"/>
                <a:gd name="T68" fmla="*/ 178 w 226"/>
                <a:gd name="T69" fmla="*/ 128 h 235"/>
                <a:gd name="T70" fmla="*/ 103 w 226"/>
                <a:gd name="T71" fmla="*/ 128 h 235"/>
                <a:gd name="T72" fmla="*/ 93 w 226"/>
                <a:gd name="T73" fmla="*/ 139 h 235"/>
                <a:gd name="T74" fmla="*/ 103 w 226"/>
                <a:gd name="T75" fmla="*/ 150 h 235"/>
                <a:gd name="T76" fmla="*/ 103 w 226"/>
                <a:gd name="T77" fmla="*/ 107 h 235"/>
                <a:gd name="T78" fmla="*/ 157 w 226"/>
                <a:gd name="T79" fmla="*/ 107 h 235"/>
                <a:gd name="T80" fmla="*/ 167 w 226"/>
                <a:gd name="T81" fmla="*/ 96 h 235"/>
                <a:gd name="T82" fmla="*/ 157 w 226"/>
                <a:gd name="T83" fmla="*/ 86 h 235"/>
                <a:gd name="T84" fmla="*/ 103 w 226"/>
                <a:gd name="T85" fmla="*/ 86 h 235"/>
                <a:gd name="T86" fmla="*/ 93 w 226"/>
                <a:gd name="T87" fmla="*/ 96 h 235"/>
                <a:gd name="T88" fmla="*/ 103 w 226"/>
                <a:gd name="T89" fmla="*/ 107 h 235"/>
                <a:gd name="T90" fmla="*/ 103 w 226"/>
                <a:gd name="T91" fmla="*/ 64 h 235"/>
                <a:gd name="T92" fmla="*/ 135 w 226"/>
                <a:gd name="T93" fmla="*/ 64 h 235"/>
                <a:gd name="T94" fmla="*/ 146 w 226"/>
                <a:gd name="T95" fmla="*/ 54 h 235"/>
                <a:gd name="T96" fmla="*/ 135 w 226"/>
                <a:gd name="T97" fmla="*/ 43 h 235"/>
                <a:gd name="T98" fmla="*/ 103 w 226"/>
                <a:gd name="T99" fmla="*/ 43 h 235"/>
                <a:gd name="T100" fmla="*/ 93 w 226"/>
                <a:gd name="T101" fmla="*/ 54 h 235"/>
                <a:gd name="T102" fmla="*/ 103 w 226"/>
                <a:gd name="T103" fmla="*/ 64 h 235"/>
                <a:gd name="T104" fmla="*/ 103 w 226"/>
                <a:gd name="T105" fmla="*/ 22 h 235"/>
                <a:gd name="T106" fmla="*/ 114 w 226"/>
                <a:gd name="T107" fmla="*/ 22 h 235"/>
                <a:gd name="T108" fmla="*/ 125 w 226"/>
                <a:gd name="T109" fmla="*/ 11 h 235"/>
                <a:gd name="T110" fmla="*/ 114 w 226"/>
                <a:gd name="T111" fmla="*/ 0 h 235"/>
                <a:gd name="T112" fmla="*/ 103 w 226"/>
                <a:gd name="T113" fmla="*/ 0 h 235"/>
                <a:gd name="T114" fmla="*/ 93 w 226"/>
                <a:gd name="T115" fmla="*/ 11 h 235"/>
                <a:gd name="T116" fmla="*/ 103 w 226"/>
                <a:gd name="T117" fmla="*/ 2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6" h="235">
                  <a:moveTo>
                    <a:pt x="74" y="189"/>
                  </a:moveTo>
                  <a:cubicBezTo>
                    <a:pt x="79" y="193"/>
                    <a:pt x="79" y="200"/>
                    <a:pt x="74" y="204"/>
                  </a:cubicBezTo>
                  <a:cubicBezTo>
                    <a:pt x="47" y="232"/>
                    <a:pt x="47" y="232"/>
                    <a:pt x="47" y="232"/>
                  </a:cubicBezTo>
                  <a:cubicBezTo>
                    <a:pt x="46" y="233"/>
                    <a:pt x="45" y="234"/>
                    <a:pt x="43" y="234"/>
                  </a:cubicBezTo>
                  <a:cubicBezTo>
                    <a:pt x="42" y="235"/>
                    <a:pt x="41" y="235"/>
                    <a:pt x="39" y="235"/>
                  </a:cubicBezTo>
                  <a:cubicBezTo>
                    <a:pt x="38" y="235"/>
                    <a:pt x="37" y="235"/>
                    <a:pt x="35" y="234"/>
                  </a:cubicBezTo>
                  <a:cubicBezTo>
                    <a:pt x="34" y="234"/>
                    <a:pt x="33" y="233"/>
                    <a:pt x="32" y="232"/>
                  </a:cubicBezTo>
                  <a:cubicBezTo>
                    <a:pt x="4" y="204"/>
                    <a:pt x="4" y="204"/>
                    <a:pt x="4" y="204"/>
                  </a:cubicBezTo>
                  <a:cubicBezTo>
                    <a:pt x="0" y="200"/>
                    <a:pt x="0" y="193"/>
                    <a:pt x="4" y="189"/>
                  </a:cubicBezTo>
                  <a:cubicBezTo>
                    <a:pt x="8" y="185"/>
                    <a:pt x="15" y="185"/>
                    <a:pt x="19" y="189"/>
                  </a:cubicBezTo>
                  <a:cubicBezTo>
                    <a:pt x="29" y="199"/>
                    <a:pt x="29" y="199"/>
                    <a:pt x="29" y="199"/>
                  </a:cubicBezTo>
                  <a:cubicBezTo>
                    <a:pt x="29" y="11"/>
                    <a:pt x="29" y="11"/>
                    <a:pt x="29" y="11"/>
                  </a:cubicBezTo>
                  <a:cubicBezTo>
                    <a:pt x="29" y="5"/>
                    <a:pt x="33" y="0"/>
                    <a:pt x="39" y="0"/>
                  </a:cubicBezTo>
                  <a:cubicBezTo>
                    <a:pt x="45" y="0"/>
                    <a:pt x="50" y="5"/>
                    <a:pt x="50" y="11"/>
                  </a:cubicBezTo>
                  <a:cubicBezTo>
                    <a:pt x="50" y="199"/>
                    <a:pt x="50" y="199"/>
                    <a:pt x="50" y="199"/>
                  </a:cubicBezTo>
                  <a:cubicBezTo>
                    <a:pt x="59" y="189"/>
                    <a:pt x="59" y="189"/>
                    <a:pt x="59" y="189"/>
                  </a:cubicBezTo>
                  <a:cubicBezTo>
                    <a:pt x="64" y="185"/>
                    <a:pt x="70" y="185"/>
                    <a:pt x="74" y="189"/>
                  </a:cubicBezTo>
                  <a:close/>
                  <a:moveTo>
                    <a:pt x="215" y="214"/>
                  </a:moveTo>
                  <a:cubicBezTo>
                    <a:pt x="103" y="214"/>
                    <a:pt x="103" y="214"/>
                    <a:pt x="103" y="214"/>
                  </a:cubicBezTo>
                  <a:cubicBezTo>
                    <a:pt x="97" y="214"/>
                    <a:pt x="93" y="218"/>
                    <a:pt x="93" y="224"/>
                  </a:cubicBezTo>
                  <a:cubicBezTo>
                    <a:pt x="93" y="230"/>
                    <a:pt x="97" y="235"/>
                    <a:pt x="103" y="235"/>
                  </a:cubicBezTo>
                  <a:cubicBezTo>
                    <a:pt x="215" y="235"/>
                    <a:pt x="215" y="235"/>
                    <a:pt x="215" y="235"/>
                  </a:cubicBezTo>
                  <a:cubicBezTo>
                    <a:pt x="221" y="235"/>
                    <a:pt x="226" y="230"/>
                    <a:pt x="226" y="224"/>
                  </a:cubicBezTo>
                  <a:cubicBezTo>
                    <a:pt x="226" y="218"/>
                    <a:pt x="221" y="214"/>
                    <a:pt x="215" y="214"/>
                  </a:cubicBezTo>
                  <a:close/>
                  <a:moveTo>
                    <a:pt x="103" y="192"/>
                  </a:moveTo>
                  <a:cubicBezTo>
                    <a:pt x="199" y="192"/>
                    <a:pt x="199" y="192"/>
                    <a:pt x="199" y="192"/>
                  </a:cubicBezTo>
                  <a:cubicBezTo>
                    <a:pt x="205" y="192"/>
                    <a:pt x="210" y="188"/>
                    <a:pt x="210" y="182"/>
                  </a:cubicBezTo>
                  <a:cubicBezTo>
                    <a:pt x="210" y="176"/>
                    <a:pt x="205" y="171"/>
                    <a:pt x="199" y="171"/>
                  </a:cubicBezTo>
                  <a:cubicBezTo>
                    <a:pt x="103" y="171"/>
                    <a:pt x="103" y="171"/>
                    <a:pt x="103" y="171"/>
                  </a:cubicBezTo>
                  <a:cubicBezTo>
                    <a:pt x="97" y="171"/>
                    <a:pt x="93" y="176"/>
                    <a:pt x="93" y="182"/>
                  </a:cubicBezTo>
                  <a:cubicBezTo>
                    <a:pt x="93" y="188"/>
                    <a:pt x="97" y="192"/>
                    <a:pt x="103" y="192"/>
                  </a:cubicBezTo>
                  <a:close/>
                  <a:moveTo>
                    <a:pt x="103" y="150"/>
                  </a:moveTo>
                  <a:cubicBezTo>
                    <a:pt x="178" y="150"/>
                    <a:pt x="178" y="150"/>
                    <a:pt x="178" y="150"/>
                  </a:cubicBezTo>
                  <a:cubicBezTo>
                    <a:pt x="184" y="150"/>
                    <a:pt x="189" y="145"/>
                    <a:pt x="189" y="139"/>
                  </a:cubicBezTo>
                  <a:cubicBezTo>
                    <a:pt x="189" y="133"/>
                    <a:pt x="184" y="128"/>
                    <a:pt x="178" y="128"/>
                  </a:cubicBezTo>
                  <a:cubicBezTo>
                    <a:pt x="103" y="128"/>
                    <a:pt x="103" y="128"/>
                    <a:pt x="103" y="128"/>
                  </a:cubicBezTo>
                  <a:cubicBezTo>
                    <a:pt x="97" y="128"/>
                    <a:pt x="93" y="133"/>
                    <a:pt x="93" y="139"/>
                  </a:cubicBezTo>
                  <a:cubicBezTo>
                    <a:pt x="93" y="145"/>
                    <a:pt x="97" y="150"/>
                    <a:pt x="103" y="150"/>
                  </a:cubicBezTo>
                  <a:close/>
                  <a:moveTo>
                    <a:pt x="103" y="107"/>
                  </a:moveTo>
                  <a:cubicBezTo>
                    <a:pt x="157" y="107"/>
                    <a:pt x="157" y="107"/>
                    <a:pt x="157" y="107"/>
                  </a:cubicBezTo>
                  <a:cubicBezTo>
                    <a:pt x="163" y="107"/>
                    <a:pt x="167" y="102"/>
                    <a:pt x="167" y="96"/>
                  </a:cubicBezTo>
                  <a:cubicBezTo>
                    <a:pt x="167" y="90"/>
                    <a:pt x="163" y="86"/>
                    <a:pt x="157" y="86"/>
                  </a:cubicBezTo>
                  <a:cubicBezTo>
                    <a:pt x="103" y="86"/>
                    <a:pt x="103" y="86"/>
                    <a:pt x="103" y="86"/>
                  </a:cubicBezTo>
                  <a:cubicBezTo>
                    <a:pt x="97" y="86"/>
                    <a:pt x="93" y="90"/>
                    <a:pt x="93" y="96"/>
                  </a:cubicBezTo>
                  <a:cubicBezTo>
                    <a:pt x="93" y="102"/>
                    <a:pt x="97" y="107"/>
                    <a:pt x="103" y="107"/>
                  </a:cubicBezTo>
                  <a:close/>
                  <a:moveTo>
                    <a:pt x="103" y="64"/>
                  </a:moveTo>
                  <a:cubicBezTo>
                    <a:pt x="135" y="64"/>
                    <a:pt x="135" y="64"/>
                    <a:pt x="135" y="64"/>
                  </a:cubicBezTo>
                  <a:cubicBezTo>
                    <a:pt x="141" y="64"/>
                    <a:pt x="146" y="60"/>
                    <a:pt x="146" y="54"/>
                  </a:cubicBezTo>
                  <a:cubicBezTo>
                    <a:pt x="146" y="48"/>
                    <a:pt x="141" y="43"/>
                    <a:pt x="135" y="43"/>
                  </a:cubicBezTo>
                  <a:cubicBezTo>
                    <a:pt x="103" y="43"/>
                    <a:pt x="103" y="43"/>
                    <a:pt x="103" y="43"/>
                  </a:cubicBezTo>
                  <a:cubicBezTo>
                    <a:pt x="97" y="43"/>
                    <a:pt x="93" y="48"/>
                    <a:pt x="93" y="54"/>
                  </a:cubicBezTo>
                  <a:cubicBezTo>
                    <a:pt x="93" y="60"/>
                    <a:pt x="97" y="64"/>
                    <a:pt x="103" y="64"/>
                  </a:cubicBezTo>
                  <a:close/>
                  <a:moveTo>
                    <a:pt x="103" y="22"/>
                  </a:moveTo>
                  <a:cubicBezTo>
                    <a:pt x="114" y="22"/>
                    <a:pt x="114" y="22"/>
                    <a:pt x="114" y="22"/>
                  </a:cubicBezTo>
                  <a:cubicBezTo>
                    <a:pt x="120" y="22"/>
                    <a:pt x="125" y="17"/>
                    <a:pt x="125" y="11"/>
                  </a:cubicBezTo>
                  <a:cubicBezTo>
                    <a:pt x="125" y="5"/>
                    <a:pt x="120" y="0"/>
                    <a:pt x="114" y="0"/>
                  </a:cubicBezTo>
                  <a:cubicBezTo>
                    <a:pt x="103" y="0"/>
                    <a:pt x="103" y="0"/>
                    <a:pt x="103" y="0"/>
                  </a:cubicBezTo>
                  <a:cubicBezTo>
                    <a:pt x="97" y="0"/>
                    <a:pt x="93" y="5"/>
                    <a:pt x="93" y="11"/>
                  </a:cubicBezTo>
                  <a:cubicBezTo>
                    <a:pt x="93" y="17"/>
                    <a:pt x="97" y="22"/>
                    <a:pt x="103" y="2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5693" tIns="42847" rIns="85693" bIns="42847" numCol="1" anchor="t" anchorCtr="0" compatLnSpc="1">
              <a:prstTxWarp prst="textNoShape">
                <a:avLst/>
              </a:prstTxWarp>
            </a:bodyPr>
            <a:lstStyle/>
            <a:p>
              <a:pPr marL="0" marR="0" lvl="0" indent="0" defTabSz="1142609"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prstClr val="black"/>
                </a:solidFill>
                <a:effectLst/>
                <a:uLnTx/>
                <a:uFillTx/>
                <a:latin typeface="Calibri" panose="020F0502020204030204" pitchFamily="34" charset="0"/>
                <a:ea typeface="ヒラギノ角ゴ ProN W3" charset="0"/>
                <a:cs typeface="Calibri" panose="020F0502020204030204" pitchFamily="34" charset="0"/>
                <a:sym typeface="Gotham Book" charset="0"/>
              </a:endParaRPr>
            </a:p>
          </p:txBody>
        </p:sp>
      </p:grpSp>
      <p:grpSp>
        <p:nvGrpSpPr>
          <p:cNvPr id="31" name="Group 30">
            <a:extLst>
              <a:ext uri="{FF2B5EF4-FFF2-40B4-BE49-F238E27FC236}">
                <a16:creationId xmlns:a16="http://schemas.microsoft.com/office/drawing/2014/main" id="{1E4EE346-F625-4D52-BE73-C3F3F373AE58}"/>
              </a:ext>
            </a:extLst>
          </p:cNvPr>
          <p:cNvGrpSpPr/>
          <p:nvPr/>
        </p:nvGrpSpPr>
        <p:grpSpPr>
          <a:xfrm>
            <a:off x="6613915" y="2278224"/>
            <a:ext cx="4976301" cy="1921252"/>
            <a:chOff x="636846" y="2349336"/>
            <a:chExt cx="5455227" cy="2578589"/>
          </a:xfrm>
        </p:grpSpPr>
        <p:sp>
          <p:nvSpPr>
            <p:cNvPr id="32" name="Rectangle: Rounded Corners 31">
              <a:extLst>
                <a:ext uri="{FF2B5EF4-FFF2-40B4-BE49-F238E27FC236}">
                  <a16:creationId xmlns:a16="http://schemas.microsoft.com/office/drawing/2014/main" id="{98A56778-3BAB-41BE-A05D-7DA2BD8B4F8C}"/>
                </a:ext>
              </a:extLst>
            </p:cNvPr>
            <p:cNvSpPr/>
            <p:nvPr/>
          </p:nvSpPr>
          <p:spPr bwMode="gray">
            <a:xfrm>
              <a:off x="636846" y="2363283"/>
              <a:ext cx="2560320" cy="457200"/>
            </a:xfrm>
            <a:prstGeom prst="round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latin typeface="Calibri" panose="020F0502020204030204" pitchFamily="34" charset="0"/>
                  <a:cs typeface="Calibri" panose="020F0502020204030204" pitchFamily="34" charset="0"/>
                </a:rPr>
                <a:t>Uttar Pradesh</a:t>
              </a:r>
            </a:p>
          </p:txBody>
        </p:sp>
        <p:sp>
          <p:nvSpPr>
            <p:cNvPr id="33" name="Rectangle: Rounded Corners 32">
              <a:extLst>
                <a:ext uri="{FF2B5EF4-FFF2-40B4-BE49-F238E27FC236}">
                  <a16:creationId xmlns:a16="http://schemas.microsoft.com/office/drawing/2014/main" id="{4E17C15B-E0A4-4CAC-996C-B81ABF885248}"/>
                </a:ext>
              </a:extLst>
            </p:cNvPr>
            <p:cNvSpPr/>
            <p:nvPr/>
          </p:nvSpPr>
          <p:spPr bwMode="gray">
            <a:xfrm>
              <a:off x="671412" y="3023268"/>
              <a:ext cx="2560320" cy="457200"/>
            </a:xfrm>
            <a:prstGeom prst="round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latin typeface="Calibri" panose="020F0502020204030204" pitchFamily="34" charset="0"/>
                  <a:cs typeface="Calibri" panose="020F0502020204030204" pitchFamily="34" charset="0"/>
                </a:rPr>
                <a:t>Gujarat</a:t>
              </a:r>
            </a:p>
          </p:txBody>
        </p:sp>
        <p:sp>
          <p:nvSpPr>
            <p:cNvPr id="34" name="Rectangle: Rounded Corners 33">
              <a:extLst>
                <a:ext uri="{FF2B5EF4-FFF2-40B4-BE49-F238E27FC236}">
                  <a16:creationId xmlns:a16="http://schemas.microsoft.com/office/drawing/2014/main" id="{99C4D7C6-CCC8-4C70-9DB3-10EBA7EE7905}"/>
                </a:ext>
              </a:extLst>
            </p:cNvPr>
            <p:cNvSpPr/>
            <p:nvPr/>
          </p:nvSpPr>
          <p:spPr bwMode="gray">
            <a:xfrm>
              <a:off x="636846" y="3716651"/>
              <a:ext cx="2560320" cy="457200"/>
            </a:xfrm>
            <a:prstGeom prst="round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latin typeface="Calibri" panose="020F0502020204030204" pitchFamily="34" charset="0"/>
                  <a:cs typeface="Calibri" panose="020F0502020204030204" pitchFamily="34" charset="0"/>
                </a:rPr>
                <a:t>Punjab</a:t>
              </a:r>
            </a:p>
          </p:txBody>
        </p:sp>
        <p:sp>
          <p:nvSpPr>
            <p:cNvPr id="35" name="Rectangle: Rounded Corners 34">
              <a:extLst>
                <a:ext uri="{FF2B5EF4-FFF2-40B4-BE49-F238E27FC236}">
                  <a16:creationId xmlns:a16="http://schemas.microsoft.com/office/drawing/2014/main" id="{C873D0CE-56AC-42F9-99AC-8952AD1B5246}"/>
                </a:ext>
              </a:extLst>
            </p:cNvPr>
            <p:cNvSpPr/>
            <p:nvPr/>
          </p:nvSpPr>
          <p:spPr bwMode="gray">
            <a:xfrm>
              <a:off x="3512579" y="2349336"/>
              <a:ext cx="2555219" cy="457200"/>
            </a:xfrm>
            <a:prstGeom prst="round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latin typeface="Calibri" panose="020F0502020204030204" pitchFamily="34" charset="0"/>
                  <a:cs typeface="Calibri" panose="020F0502020204030204" pitchFamily="34" charset="0"/>
                </a:rPr>
                <a:t>Odisha</a:t>
              </a:r>
            </a:p>
          </p:txBody>
        </p:sp>
        <p:sp>
          <p:nvSpPr>
            <p:cNvPr id="36" name="Rectangle: Rounded Corners 35">
              <a:extLst>
                <a:ext uri="{FF2B5EF4-FFF2-40B4-BE49-F238E27FC236}">
                  <a16:creationId xmlns:a16="http://schemas.microsoft.com/office/drawing/2014/main" id="{BAC8B40A-0DB0-4C47-91BA-BB8C2D3FA1A0}"/>
                </a:ext>
              </a:extLst>
            </p:cNvPr>
            <p:cNvSpPr/>
            <p:nvPr/>
          </p:nvSpPr>
          <p:spPr bwMode="gray">
            <a:xfrm>
              <a:off x="3534303" y="3033233"/>
              <a:ext cx="2555219" cy="457200"/>
            </a:xfrm>
            <a:prstGeom prst="round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latin typeface="Calibri" panose="020F0502020204030204" pitchFamily="34" charset="0"/>
                  <a:cs typeface="Calibri" panose="020F0502020204030204" pitchFamily="34" charset="0"/>
                </a:rPr>
                <a:t>Rajasthan</a:t>
              </a:r>
            </a:p>
          </p:txBody>
        </p:sp>
        <p:sp>
          <p:nvSpPr>
            <p:cNvPr id="37" name="Rectangle: Rounded Corners 36">
              <a:extLst>
                <a:ext uri="{FF2B5EF4-FFF2-40B4-BE49-F238E27FC236}">
                  <a16:creationId xmlns:a16="http://schemas.microsoft.com/office/drawing/2014/main" id="{4D6D5826-5637-4C8E-9E38-9DAA5082067E}"/>
                </a:ext>
              </a:extLst>
            </p:cNvPr>
            <p:cNvSpPr/>
            <p:nvPr/>
          </p:nvSpPr>
          <p:spPr bwMode="gray">
            <a:xfrm>
              <a:off x="636846" y="4470725"/>
              <a:ext cx="2560320" cy="457200"/>
            </a:xfrm>
            <a:prstGeom prst="round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latin typeface="Calibri" panose="020F0502020204030204" pitchFamily="34" charset="0"/>
                  <a:cs typeface="Calibri" panose="020F0502020204030204" pitchFamily="34" charset="0"/>
                </a:rPr>
                <a:t>Telangana</a:t>
              </a:r>
            </a:p>
          </p:txBody>
        </p:sp>
        <p:sp>
          <p:nvSpPr>
            <p:cNvPr id="38" name="Rectangle: Rounded Corners 37">
              <a:extLst>
                <a:ext uri="{FF2B5EF4-FFF2-40B4-BE49-F238E27FC236}">
                  <a16:creationId xmlns:a16="http://schemas.microsoft.com/office/drawing/2014/main" id="{8901F293-720E-4E0A-8E65-21C610E422D3}"/>
                </a:ext>
              </a:extLst>
            </p:cNvPr>
            <p:cNvSpPr/>
            <p:nvPr/>
          </p:nvSpPr>
          <p:spPr bwMode="gray">
            <a:xfrm>
              <a:off x="3531753" y="3711226"/>
              <a:ext cx="2560320" cy="457200"/>
            </a:xfrm>
            <a:prstGeom prst="round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latin typeface="Calibri" panose="020F0502020204030204" pitchFamily="34" charset="0"/>
                  <a:cs typeface="Calibri" panose="020F0502020204030204" pitchFamily="34" charset="0"/>
                </a:rPr>
                <a:t>Maharashtra</a:t>
              </a:r>
            </a:p>
          </p:txBody>
        </p:sp>
        <p:sp>
          <p:nvSpPr>
            <p:cNvPr id="39" name="Rectangle: Rounded Corners 38">
              <a:extLst>
                <a:ext uri="{FF2B5EF4-FFF2-40B4-BE49-F238E27FC236}">
                  <a16:creationId xmlns:a16="http://schemas.microsoft.com/office/drawing/2014/main" id="{91FCD256-111D-4956-940A-D35B8444B0A0}"/>
                </a:ext>
              </a:extLst>
            </p:cNvPr>
            <p:cNvSpPr/>
            <p:nvPr/>
          </p:nvSpPr>
          <p:spPr bwMode="gray">
            <a:xfrm>
              <a:off x="3507478" y="4456260"/>
              <a:ext cx="2560320" cy="457200"/>
            </a:xfrm>
            <a:prstGeom prst="round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latin typeface="Calibri" panose="020F0502020204030204" pitchFamily="34" charset="0"/>
                  <a:cs typeface="Calibri" panose="020F0502020204030204" pitchFamily="34" charset="0"/>
                </a:rPr>
                <a:t>Madhya Pradesh*</a:t>
              </a:r>
            </a:p>
          </p:txBody>
        </p:sp>
      </p:grpSp>
      <p:sp>
        <p:nvSpPr>
          <p:cNvPr id="40" name="Content Placeholder 88">
            <a:extLst>
              <a:ext uri="{FF2B5EF4-FFF2-40B4-BE49-F238E27FC236}">
                <a16:creationId xmlns:a16="http://schemas.microsoft.com/office/drawing/2014/main" id="{1D489EB9-B4F1-4AAE-B1B0-7D12AFC6BFE2}"/>
              </a:ext>
            </a:extLst>
          </p:cNvPr>
          <p:cNvSpPr txBox="1">
            <a:spLocks/>
          </p:cNvSpPr>
          <p:nvPr/>
        </p:nvSpPr>
        <p:spPr>
          <a:xfrm>
            <a:off x="6466114" y="1760255"/>
            <a:ext cx="5136013" cy="435442"/>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000" b="0" kern="1200" baseline="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0" algn="ctr"/>
            <a:r>
              <a:rPr kumimoji="0" lang="en-US" sz="1600" b="1" i="0" u="none" strike="noStrike" kern="120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Indian states with </a:t>
            </a:r>
            <a:r>
              <a:rPr lang="en-US" sz="1600" b="1" dirty="0">
                <a:solidFill>
                  <a:sysClr val="windowText" lastClr="000000"/>
                </a:solidFill>
                <a:latin typeface="Calibri" panose="020F0502020204030204" pitchFamily="34" charset="0"/>
                <a:cs typeface="Calibri" panose="020F0502020204030204" pitchFamily="34" charset="0"/>
              </a:rPr>
              <a:t>anti power theft police stations (Non-exhaustive list)</a:t>
            </a:r>
            <a:endParaRPr kumimoji="0" lang="en-US" sz="1600" b="1" i="0" u="none" strike="noStrike" kern="120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41" name="Rectangle 40">
            <a:extLst>
              <a:ext uri="{FF2B5EF4-FFF2-40B4-BE49-F238E27FC236}">
                <a16:creationId xmlns:a16="http://schemas.microsoft.com/office/drawing/2014/main" id="{E3E0DDD3-95CC-4257-98DA-4C5CC0EAC808}"/>
              </a:ext>
            </a:extLst>
          </p:cNvPr>
          <p:cNvSpPr/>
          <p:nvPr/>
        </p:nvSpPr>
        <p:spPr bwMode="gray">
          <a:xfrm>
            <a:off x="6466114" y="4544137"/>
            <a:ext cx="5383028" cy="2058010"/>
          </a:xfrm>
          <a:prstGeom prst="rect">
            <a:avLst/>
          </a:prstGeom>
          <a:noFill/>
          <a:ln w="19050" algn="ctr">
            <a:solidFill>
              <a:srgbClr val="012169"/>
            </a:solidFill>
            <a:prstDash val="dash"/>
            <a:miter lim="800000"/>
            <a:headEnd/>
            <a:tailEnd/>
          </a:ln>
        </p:spPr>
        <p:txBody>
          <a:bodyPr wrap="square" lIns="88900" tIns="88900" rIns="88900" bIns="88900" rtlCol="0" anchor="t"/>
          <a:lstStyle/>
          <a:p>
            <a:pPr lvl="0" algn="just">
              <a:lnSpc>
                <a:spcPct val="106000"/>
              </a:lnSpc>
            </a:pPr>
            <a:r>
              <a:rPr lang="en-US" sz="1100" b="1" i="1" dirty="0">
                <a:solidFill>
                  <a:prstClr val="black"/>
                </a:solidFill>
                <a:latin typeface="Calibri" panose="020F0502020204030204" pitchFamily="34" charset="0"/>
                <a:ea typeface="Verdana" panose="020B0604030504040204" pitchFamily="34" charset="0"/>
                <a:cs typeface="Calibri" panose="020F0502020204030204" pitchFamily="34" charset="0"/>
              </a:rPr>
              <a:t>Telangana - </a:t>
            </a: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 </a:t>
            </a:r>
          </a:p>
          <a:p>
            <a:pPr marL="285750" indent="-285750" algn="just">
              <a:lnSpc>
                <a:spcPct val="106000"/>
              </a:lnSpc>
              <a:buFont typeface="Arial" panose="020B0604020202020204" pitchFamily="34" charset="0"/>
              <a:buChar char="•"/>
            </a:pP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Full-fledged anti-power theft police station approved in </a:t>
            </a:r>
            <a:r>
              <a:rPr lang="en-US" sz="1100" i="1" dirty="0" err="1">
                <a:solidFill>
                  <a:prstClr val="black"/>
                </a:solidFill>
                <a:latin typeface="Calibri" panose="020F0502020204030204" pitchFamily="34" charset="0"/>
                <a:ea typeface="Verdana" panose="020B0604030504040204" pitchFamily="34" charset="0"/>
                <a:cs typeface="Calibri" panose="020F0502020204030204" pitchFamily="34" charset="0"/>
              </a:rPr>
              <a:t>Siddpet</a:t>
            </a: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 town</a:t>
            </a:r>
          </a:p>
          <a:p>
            <a:pPr marL="285750" indent="-285750" algn="just">
              <a:lnSpc>
                <a:spcPct val="106000"/>
              </a:lnSpc>
              <a:buFont typeface="Arial" panose="020B0604020202020204" pitchFamily="34" charset="0"/>
              <a:buChar char="•"/>
            </a:pP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Creation of 148 posts for police personnel in Telangana State Power Generation Corporation Limited (</a:t>
            </a:r>
            <a:r>
              <a:rPr lang="en-US" sz="1100" i="1" dirty="0" err="1">
                <a:solidFill>
                  <a:prstClr val="black"/>
                </a:solidFill>
                <a:latin typeface="Calibri" panose="020F0502020204030204" pitchFamily="34" charset="0"/>
                <a:ea typeface="Verdana" panose="020B0604030504040204" pitchFamily="34" charset="0"/>
                <a:cs typeface="Calibri" panose="020F0502020204030204" pitchFamily="34" charset="0"/>
              </a:rPr>
              <a:t>TSGenco</a:t>
            </a: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a:t>
            </a:r>
            <a:r>
              <a:rPr lang="en-US" sz="1100" i="1" baseline="30000" dirty="0">
                <a:solidFill>
                  <a:prstClr val="black"/>
                </a:solidFill>
                <a:latin typeface="Calibri" panose="020F0502020204030204" pitchFamily="34" charset="0"/>
                <a:ea typeface="Verdana" panose="020B0604030504040204" pitchFamily="34" charset="0"/>
                <a:cs typeface="Calibri" panose="020F0502020204030204" pitchFamily="34" charset="0"/>
              </a:rPr>
              <a:t>3  </a:t>
            </a: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also granted</a:t>
            </a:r>
          </a:p>
          <a:p>
            <a:pPr lvl="0" algn="just">
              <a:lnSpc>
                <a:spcPct val="106000"/>
              </a:lnSpc>
            </a:pPr>
            <a:endParaRPr lang="en-US" sz="1100" b="1" i="1" dirty="0">
              <a:solidFill>
                <a:prstClr val="black"/>
              </a:solidFill>
              <a:latin typeface="Calibri" panose="020F0502020204030204" pitchFamily="34" charset="0"/>
              <a:ea typeface="Verdana" panose="020B0604030504040204" pitchFamily="34" charset="0"/>
              <a:cs typeface="Calibri" panose="020F0502020204030204" pitchFamily="34" charset="0"/>
            </a:endParaRPr>
          </a:p>
          <a:p>
            <a:pPr lvl="0" algn="just">
              <a:lnSpc>
                <a:spcPct val="106000"/>
              </a:lnSpc>
            </a:pPr>
            <a:r>
              <a:rPr lang="en-US" sz="1100" b="1" i="1" dirty="0">
                <a:solidFill>
                  <a:prstClr val="black"/>
                </a:solidFill>
                <a:latin typeface="Calibri" panose="020F0502020204030204" pitchFamily="34" charset="0"/>
                <a:ea typeface="Verdana" panose="020B0604030504040204" pitchFamily="34" charset="0"/>
                <a:cs typeface="Calibri" panose="020F0502020204030204" pitchFamily="34" charset="0"/>
              </a:rPr>
              <a:t>Gujarat – </a:t>
            </a:r>
          </a:p>
          <a:p>
            <a:pPr marL="285750" indent="-285750" algn="just">
              <a:lnSpc>
                <a:spcPct val="106000"/>
              </a:lnSpc>
              <a:buFont typeface="Arial" panose="020B0604020202020204" pitchFamily="34" charset="0"/>
              <a:buChar char="•"/>
            </a:pP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16 dedicated GUVNL Police stations created for lodging power thefts FIR &amp; complaints</a:t>
            </a:r>
            <a:r>
              <a:rPr lang="en-US" sz="1100" i="1" baseline="30000" dirty="0">
                <a:solidFill>
                  <a:prstClr val="black"/>
                </a:solidFill>
                <a:latin typeface="Calibri" panose="020F0502020204030204" pitchFamily="34" charset="0"/>
                <a:ea typeface="Verdana" panose="020B0604030504040204" pitchFamily="34" charset="0"/>
                <a:cs typeface="Calibri" panose="020F0502020204030204" pitchFamily="34" charset="0"/>
              </a:rPr>
              <a:t>4</a:t>
            </a: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 </a:t>
            </a:r>
          </a:p>
          <a:p>
            <a:pPr marL="285750" indent="-285750" algn="just">
              <a:lnSpc>
                <a:spcPct val="106000"/>
              </a:lnSpc>
              <a:buFont typeface="Arial" panose="020B0604020202020204" pitchFamily="34" charset="0"/>
              <a:buChar char="•"/>
            </a:pP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Additional Director General (Security), GUVNL supervises these special police stations</a:t>
            </a:r>
            <a:r>
              <a:rPr lang="en-US" sz="1100" i="1" baseline="30000" dirty="0">
                <a:solidFill>
                  <a:prstClr val="black"/>
                </a:solidFill>
                <a:latin typeface="Calibri" panose="020F0502020204030204" pitchFamily="34" charset="0"/>
                <a:ea typeface="Verdana" panose="020B0604030504040204" pitchFamily="34" charset="0"/>
                <a:cs typeface="Calibri" panose="020F0502020204030204" pitchFamily="34" charset="0"/>
              </a:rPr>
              <a:t>5</a:t>
            </a:r>
            <a:r>
              <a:rPr lang="en-US" sz="1100" b="1" i="1" baseline="30000" dirty="0">
                <a:solidFill>
                  <a:prstClr val="black"/>
                </a:solidFill>
                <a:latin typeface="Calibri" panose="020F0502020204030204" pitchFamily="34" charset="0"/>
                <a:ea typeface="Verdana" panose="020B0604030504040204" pitchFamily="34" charset="0"/>
                <a:cs typeface="Calibri" panose="020F0502020204030204" pitchFamily="34" charset="0"/>
              </a:rPr>
              <a:t> </a:t>
            </a:r>
            <a:r>
              <a:rPr lang="en-US" sz="1100" i="1" dirty="0">
                <a:solidFill>
                  <a:prstClr val="black"/>
                </a:solidFill>
                <a:latin typeface="Calibri" panose="020F0502020204030204" pitchFamily="34" charset="0"/>
                <a:ea typeface="Verdana" panose="020B0604030504040204" pitchFamily="34" charset="0"/>
                <a:cs typeface="Calibri" panose="020F0502020204030204" pitchFamily="34" charset="0"/>
              </a:rPr>
              <a:t>to ensure seamless functioning and coordination with the state government</a:t>
            </a:r>
          </a:p>
        </p:txBody>
      </p:sp>
      <p:sp>
        <p:nvSpPr>
          <p:cNvPr id="42" name="TextBox 41">
            <a:extLst>
              <a:ext uri="{FF2B5EF4-FFF2-40B4-BE49-F238E27FC236}">
                <a16:creationId xmlns:a16="http://schemas.microsoft.com/office/drawing/2014/main" id="{5BFA6E6F-7A33-4DF9-A274-7BDE43249B81}"/>
              </a:ext>
            </a:extLst>
          </p:cNvPr>
          <p:cNvSpPr txBox="1"/>
          <p:nvPr/>
        </p:nvSpPr>
        <p:spPr>
          <a:xfrm>
            <a:off x="7254185" y="4256360"/>
            <a:ext cx="6096000" cy="276999"/>
          </a:xfrm>
          <a:prstGeom prst="rect">
            <a:avLst/>
          </a:prstGeom>
          <a:noFill/>
        </p:spPr>
        <p:txBody>
          <a:bodyPr wrap="square">
            <a:spAutoFit/>
          </a:bodyPr>
          <a:lstStyle/>
          <a:p>
            <a:r>
              <a:rPr lang="en-US" sz="1200" b="1" dirty="0">
                <a:solidFill>
                  <a:prstClr val="black"/>
                </a:solidFill>
                <a:latin typeface="Calibri" panose="020F0502020204030204" pitchFamily="34" charset="0"/>
                <a:ea typeface="Verdana" panose="020B0604030504040204" pitchFamily="34" charset="0"/>
                <a:cs typeface="Calibri" panose="020F0502020204030204" pitchFamily="34" charset="0"/>
              </a:rPr>
              <a:t>Implementation Model of select States </a:t>
            </a:r>
            <a:endParaRPr lang="en-US" sz="1200" dirty="0">
              <a:latin typeface="Calibri" panose="020F0502020204030204" pitchFamily="34" charset="0"/>
              <a:ea typeface="Verdana" panose="020B0604030504040204" pitchFamily="34" charset="0"/>
              <a:cs typeface="Calibri" panose="020F0502020204030204" pitchFamily="34" charset="0"/>
            </a:endParaRPr>
          </a:p>
        </p:txBody>
      </p:sp>
      <p:sp>
        <p:nvSpPr>
          <p:cNvPr id="43" name="TextBox 42">
            <a:hlinkClick r:id="rId2"/>
            <a:extLst>
              <a:ext uri="{FF2B5EF4-FFF2-40B4-BE49-F238E27FC236}">
                <a16:creationId xmlns:a16="http://schemas.microsoft.com/office/drawing/2014/main" id="{CA72A97C-F5FC-459A-A6A5-2267ED35E2A4}"/>
              </a:ext>
            </a:extLst>
          </p:cNvPr>
          <p:cNvSpPr txBox="1"/>
          <p:nvPr/>
        </p:nvSpPr>
        <p:spPr>
          <a:xfrm>
            <a:off x="563691" y="6120686"/>
            <a:ext cx="2325440" cy="307777"/>
          </a:xfrm>
          <a:prstGeom prst="rect">
            <a:avLst/>
          </a:prstGeom>
          <a:noFill/>
        </p:spPr>
        <p:txBody>
          <a:bodyPr wrap="square" lIns="0" tIns="0" rIns="0" bIns="0" rtlCol="0">
            <a:spAutoFit/>
          </a:bodyPr>
          <a:lstStyle/>
          <a:p>
            <a:pPr>
              <a:buSzPct val="100000"/>
            </a:pPr>
            <a:r>
              <a:rPr lang="en-US" sz="1000" dirty="0">
                <a:solidFill>
                  <a:srgbClr val="313131"/>
                </a:solidFill>
                <a:latin typeface="Calibri" panose="020F0502020204030204" pitchFamily="34" charset="0"/>
                <a:cs typeface="Calibri" panose="020F0502020204030204" pitchFamily="34" charset="0"/>
                <a:hlinkClick r:id="rId3"/>
              </a:rPr>
              <a:t>3. Deccan Chronicle</a:t>
            </a:r>
            <a:endParaRPr lang="en-US" sz="1000" dirty="0">
              <a:solidFill>
                <a:srgbClr val="313131"/>
              </a:solidFill>
              <a:latin typeface="Calibri" panose="020F0502020204030204" pitchFamily="34" charset="0"/>
              <a:cs typeface="Calibri" panose="020F0502020204030204" pitchFamily="34" charset="0"/>
            </a:endParaRPr>
          </a:p>
          <a:p>
            <a:pPr>
              <a:buSzPct val="100000"/>
            </a:pPr>
            <a:r>
              <a:rPr lang="en-US" sz="1000" dirty="0">
                <a:solidFill>
                  <a:srgbClr val="313131"/>
                </a:solidFill>
                <a:latin typeface="Calibri" panose="020F0502020204030204" pitchFamily="34" charset="0"/>
                <a:cs typeface="Calibri" panose="020F0502020204030204" pitchFamily="34" charset="0"/>
                <a:hlinkClick r:id="rId4"/>
              </a:rPr>
              <a:t>4. GUVNL Website</a:t>
            </a:r>
            <a:endParaRPr lang="en-US" sz="1000" dirty="0">
              <a:solidFill>
                <a:srgbClr val="313131"/>
              </a:solidFill>
              <a:latin typeface="Calibri" panose="020F0502020204030204" pitchFamily="34" charset="0"/>
              <a:cs typeface="Calibri" panose="020F0502020204030204" pitchFamily="34" charset="0"/>
            </a:endParaRPr>
          </a:p>
        </p:txBody>
      </p:sp>
      <p:sp>
        <p:nvSpPr>
          <p:cNvPr id="44" name="TextBox 43">
            <a:hlinkClick r:id="rId2"/>
            <a:extLst>
              <a:ext uri="{FF2B5EF4-FFF2-40B4-BE49-F238E27FC236}">
                <a16:creationId xmlns:a16="http://schemas.microsoft.com/office/drawing/2014/main" id="{C20AF09A-B666-4801-AF45-24A2AFD0399B}"/>
              </a:ext>
            </a:extLst>
          </p:cNvPr>
          <p:cNvSpPr txBox="1"/>
          <p:nvPr/>
        </p:nvSpPr>
        <p:spPr>
          <a:xfrm>
            <a:off x="1843291" y="6134836"/>
            <a:ext cx="2325440" cy="307777"/>
          </a:xfrm>
          <a:prstGeom prst="rect">
            <a:avLst/>
          </a:prstGeom>
          <a:noFill/>
        </p:spPr>
        <p:txBody>
          <a:bodyPr wrap="square" lIns="0" tIns="0" rIns="0" bIns="0" rtlCol="0">
            <a:spAutoFit/>
          </a:bodyPr>
          <a:lstStyle/>
          <a:p>
            <a:pPr>
              <a:buSzPct val="100000"/>
            </a:pPr>
            <a:r>
              <a:rPr lang="en-US" sz="1000" dirty="0">
                <a:solidFill>
                  <a:srgbClr val="313131"/>
                </a:solidFill>
                <a:latin typeface="Calibri" panose="020F0502020204030204" pitchFamily="34" charset="0"/>
                <a:cs typeface="Calibri" panose="020F0502020204030204" pitchFamily="34" charset="0"/>
                <a:hlinkClick r:id="rId5"/>
              </a:rPr>
              <a:t>5. Times of India</a:t>
            </a:r>
            <a:endParaRPr lang="en-US" sz="1000" dirty="0">
              <a:solidFill>
                <a:srgbClr val="313131"/>
              </a:solidFill>
              <a:latin typeface="Calibri" panose="020F0502020204030204" pitchFamily="34" charset="0"/>
              <a:cs typeface="Calibri" panose="020F0502020204030204" pitchFamily="34" charset="0"/>
            </a:endParaRPr>
          </a:p>
          <a:p>
            <a:pPr>
              <a:buSzPct val="100000"/>
            </a:pPr>
            <a:r>
              <a:rPr lang="en-US" sz="1000" dirty="0">
                <a:solidFill>
                  <a:srgbClr val="313131"/>
                </a:solidFill>
                <a:latin typeface="Calibri" panose="020F0502020204030204" pitchFamily="34" charset="0"/>
                <a:cs typeface="Calibri" panose="020F0502020204030204" pitchFamily="34" charset="0"/>
                <a:hlinkClick r:id="rId6"/>
              </a:rPr>
              <a:t>* To be implemented soon - TOI </a:t>
            </a:r>
            <a:endParaRPr lang="en-US" sz="1000" dirty="0">
              <a:solidFill>
                <a:srgbClr val="313131"/>
              </a:solidFill>
              <a:latin typeface="Calibri" panose="020F0502020204030204" pitchFamily="34" charset="0"/>
              <a:cs typeface="Calibri" panose="020F0502020204030204" pitchFamily="34" charset="0"/>
            </a:endParaRPr>
          </a:p>
        </p:txBody>
      </p:sp>
      <p:sp>
        <p:nvSpPr>
          <p:cNvPr id="45" name="Arrow: Left 44">
            <a:extLst>
              <a:ext uri="{FF2B5EF4-FFF2-40B4-BE49-F238E27FC236}">
                <a16:creationId xmlns:a16="http://schemas.microsoft.com/office/drawing/2014/main" id="{9E62275C-9807-4D85-84C8-BA3BA92C65FE}"/>
              </a:ext>
            </a:extLst>
          </p:cNvPr>
          <p:cNvSpPr/>
          <p:nvPr/>
        </p:nvSpPr>
        <p:spPr bwMode="gray">
          <a:xfrm>
            <a:off x="10289267" y="6582598"/>
            <a:ext cx="1578323" cy="326920"/>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hlinkClick r:id="rId7" action="ppaction://hlinksldjump"/>
              </a:rPr>
              <a:t>Back to Home</a:t>
            </a:r>
            <a:endParaRPr lang="en-US" sz="1100" b="1" dirty="0">
              <a:solidFill>
                <a:schemeClr val="bg1"/>
              </a:solidFill>
            </a:endParaRPr>
          </a:p>
        </p:txBody>
      </p:sp>
      <p:sp>
        <p:nvSpPr>
          <p:cNvPr id="46" name="Oval 45">
            <a:extLst>
              <a:ext uri="{FF2B5EF4-FFF2-40B4-BE49-F238E27FC236}">
                <a16:creationId xmlns:a16="http://schemas.microsoft.com/office/drawing/2014/main" id="{9F671171-E4B2-48F3-A1BF-FB699E9558D8}"/>
              </a:ext>
            </a:extLst>
          </p:cNvPr>
          <p:cNvSpPr/>
          <p:nvPr/>
        </p:nvSpPr>
        <p:spPr bwMode="gray">
          <a:xfrm>
            <a:off x="11857917" y="0"/>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4</a:t>
            </a:r>
          </a:p>
        </p:txBody>
      </p:sp>
    </p:spTree>
    <p:extLst>
      <p:ext uri="{BB962C8B-B14F-4D97-AF65-F5344CB8AC3E}">
        <p14:creationId xmlns:p14="http://schemas.microsoft.com/office/powerpoint/2010/main" val="376126167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Marginal Renewables in Purchase, Capacity Addition far below </a:t>
            </a:r>
            <a:r>
              <a:rPr kumimoji="0" lang="en-GB" sz="399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Estimated Potential </a:t>
            </a:r>
            <a:endPar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657853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
            <a:extLst>
              <a:ext uri="{FF2B5EF4-FFF2-40B4-BE49-F238E27FC236}">
                <a16:creationId xmlns:a16="http://schemas.microsoft.com/office/drawing/2014/main" id="{47BCAF37-27E3-41C2-8D74-ED71C5DF17B2}"/>
              </a:ext>
            </a:extLst>
          </p:cNvPr>
          <p:cNvSpPr txBox="1">
            <a:spLocks noChangeArrowheads="1"/>
          </p:cNvSpPr>
          <p:nvPr/>
        </p:nvSpPr>
        <p:spPr bwMode="auto">
          <a:xfrm>
            <a:off x="5015880" y="664482"/>
            <a:ext cx="733426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N" altLang="en-US" sz="1800" b="1" i="1" dirty="0">
                <a:solidFill>
                  <a:srgbClr val="0044CC"/>
                </a:solidFill>
              </a:rPr>
              <a:t>RPO Target for 2021-22: 21.18%</a:t>
            </a:r>
          </a:p>
          <a:p>
            <a:pPr>
              <a:spcBef>
                <a:spcPct val="0"/>
              </a:spcBef>
              <a:buFontTx/>
              <a:buNone/>
            </a:pPr>
            <a:r>
              <a:rPr lang="en-IN" altLang="en-US" sz="1800" b="1" i="1" dirty="0">
                <a:solidFill>
                  <a:srgbClr val="0044CC"/>
                </a:solidFill>
              </a:rPr>
              <a:t>All India RPO achievement (</a:t>
            </a:r>
            <a:r>
              <a:rPr lang="en-IN" altLang="en-US" sz="1800" b="1" i="1" dirty="0">
                <a:solidFill>
                  <a:srgbClr val="FF0000"/>
                </a:solidFill>
              </a:rPr>
              <a:t>Provisional</a:t>
            </a:r>
            <a:r>
              <a:rPr lang="en-IN" altLang="en-US" sz="1800" b="1" i="1" dirty="0">
                <a:solidFill>
                  <a:srgbClr val="0044CC"/>
                </a:solidFill>
              </a:rPr>
              <a:t>):  ~15.1% ( 191Billion units)</a:t>
            </a:r>
          </a:p>
        </p:txBody>
      </p:sp>
      <p:cxnSp>
        <p:nvCxnSpPr>
          <p:cNvPr id="6" name="Straight Connector 5"/>
          <p:cNvCxnSpPr>
            <a:cxnSpLocks/>
          </p:cNvCxnSpPr>
          <p:nvPr/>
        </p:nvCxnSpPr>
        <p:spPr>
          <a:xfrm>
            <a:off x="18854" y="4298623"/>
            <a:ext cx="12173146" cy="72864"/>
          </a:xfrm>
          <a:prstGeom prst="line">
            <a:avLst/>
          </a:prstGeom>
          <a:ln w="28575">
            <a:solidFill>
              <a:srgbClr val="C00000"/>
            </a:solidFill>
            <a:prstDash val="dash"/>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p:nvCxnSpPr>
        <p:spPr>
          <a:xfrm>
            <a:off x="0" y="3857628"/>
            <a:ext cx="12192000" cy="1588"/>
          </a:xfrm>
          <a:prstGeom prst="line">
            <a:avLst/>
          </a:prstGeom>
          <a:ln w="19050" cmpd="sng">
            <a:solidFill>
              <a:srgbClr val="FF0000"/>
            </a:solidFill>
            <a:headEnd w="lg" len="lg"/>
            <a:tailEnd w="lg" len="lg"/>
          </a:ln>
        </p:spPr>
        <p:style>
          <a:lnRef idx="1">
            <a:schemeClr val="accent6"/>
          </a:lnRef>
          <a:fillRef idx="0">
            <a:schemeClr val="accent6"/>
          </a:fillRef>
          <a:effectRef idx="0">
            <a:schemeClr val="accent6"/>
          </a:effectRef>
          <a:fontRef idx="minor">
            <a:schemeClr val="tx1"/>
          </a:fontRef>
        </p:style>
      </p:cxnSp>
      <p:sp>
        <p:nvSpPr>
          <p:cNvPr id="11" name="Title 1">
            <a:extLst>
              <a:ext uri="{FF2B5EF4-FFF2-40B4-BE49-F238E27FC236}">
                <a16:creationId xmlns:a16="http://schemas.microsoft.com/office/drawing/2014/main" id="{6580FD38-21A0-4CAE-BE6D-41500BCF751B}"/>
              </a:ext>
            </a:extLst>
          </p:cNvPr>
          <p:cNvSpPr txBox="1">
            <a:spLocks/>
          </p:cNvSpPr>
          <p:nvPr/>
        </p:nvSpPr>
        <p:spPr>
          <a:xfrm>
            <a:off x="727708" y="182562"/>
            <a:ext cx="10778492" cy="4318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latin typeface="Arial" panose="020B0604020202020204" pitchFamily="34" charset="0"/>
                <a:ea typeface="Times New Roman" panose="02020603050405020304" pitchFamily="18" charset="0"/>
                <a:cs typeface="Arial" panose="020B0604020202020204" pitchFamily="34" charset="0"/>
              </a:rPr>
              <a:t>RPO Achievement 2021-22</a:t>
            </a:r>
          </a:p>
        </p:txBody>
      </p:sp>
      <p:pic>
        <p:nvPicPr>
          <p:cNvPr id="12" name="Graphic 7" descr="Play">
            <a:extLst>
              <a:ext uri="{FF2B5EF4-FFF2-40B4-BE49-F238E27FC236}">
                <a16:creationId xmlns:a16="http://schemas.microsoft.com/office/drawing/2014/main" id="{DDD1B5D8-B66F-4878-8F74-8BA15A32E56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461394" cy="796954"/>
          </a:xfrm>
          <a:prstGeom prst="rect">
            <a:avLst/>
          </a:prstGeom>
        </p:spPr>
      </p:pic>
      <p:graphicFrame>
        <p:nvGraphicFramePr>
          <p:cNvPr id="13" name="Chart 12"/>
          <p:cNvGraphicFramePr/>
          <p:nvPr/>
        </p:nvGraphicFramePr>
        <p:xfrm>
          <a:off x="452398" y="1428736"/>
          <a:ext cx="11501518" cy="5214974"/>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p:cNvSpPr txBox="1"/>
          <p:nvPr/>
        </p:nvSpPr>
        <p:spPr>
          <a:xfrm>
            <a:off x="8524892" y="3500438"/>
            <a:ext cx="2928958" cy="369332"/>
          </a:xfrm>
          <a:prstGeom prst="rect">
            <a:avLst/>
          </a:prstGeom>
          <a:noFill/>
        </p:spPr>
        <p:txBody>
          <a:bodyPr wrap="square" rtlCol="0">
            <a:spAutoFit/>
          </a:bodyPr>
          <a:lstStyle/>
          <a:p>
            <a:r>
              <a:rPr lang="en-US" dirty="0"/>
              <a:t>National Target : 21.18%</a:t>
            </a:r>
          </a:p>
        </p:txBody>
      </p:sp>
    </p:spTree>
    <p:extLst>
      <p:ext uri="{BB962C8B-B14F-4D97-AF65-F5344CB8AC3E}">
        <p14:creationId xmlns:p14="http://schemas.microsoft.com/office/powerpoint/2010/main" val="248530841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Table 78">
            <a:extLst>
              <a:ext uri="{FF2B5EF4-FFF2-40B4-BE49-F238E27FC236}">
                <a16:creationId xmlns:a16="http://schemas.microsoft.com/office/drawing/2014/main" id="{20C4D450-81DC-4BF9-AAA6-7FEFE1CCF3AF}"/>
              </a:ext>
            </a:extLst>
          </p:cNvPr>
          <p:cNvGraphicFramePr>
            <a:graphicFrameLocks noGrp="1"/>
          </p:cNvGraphicFramePr>
          <p:nvPr/>
        </p:nvGraphicFramePr>
        <p:xfrm>
          <a:off x="0" y="34191"/>
          <a:ext cx="7830182" cy="6872101"/>
        </p:xfrm>
        <a:graphic>
          <a:graphicData uri="http://schemas.openxmlformats.org/drawingml/2006/table">
            <a:tbl>
              <a:tblPr>
                <a:tableStyleId>{22838BEF-8BB2-4498-84A7-C5851F593DF1}</a:tableStyleId>
              </a:tblPr>
              <a:tblGrid>
                <a:gridCol w="1552651">
                  <a:extLst>
                    <a:ext uri="{9D8B030D-6E8A-4147-A177-3AD203B41FA5}">
                      <a16:colId xmlns:a16="http://schemas.microsoft.com/office/drawing/2014/main" val="3540063002"/>
                    </a:ext>
                  </a:extLst>
                </a:gridCol>
                <a:gridCol w="1293099">
                  <a:extLst>
                    <a:ext uri="{9D8B030D-6E8A-4147-A177-3AD203B41FA5}">
                      <a16:colId xmlns:a16="http://schemas.microsoft.com/office/drawing/2014/main" val="588787486"/>
                    </a:ext>
                  </a:extLst>
                </a:gridCol>
                <a:gridCol w="4984432">
                  <a:extLst>
                    <a:ext uri="{9D8B030D-6E8A-4147-A177-3AD203B41FA5}">
                      <a16:colId xmlns:a16="http://schemas.microsoft.com/office/drawing/2014/main" val="1805092430"/>
                    </a:ext>
                  </a:extLst>
                </a:gridCol>
              </a:tblGrid>
              <a:tr h="278624">
                <a:tc>
                  <a:txBody>
                    <a:bodyPr/>
                    <a:lstStyle/>
                    <a:p>
                      <a:pPr algn="ctr" fontAlgn="b"/>
                      <a:r>
                        <a:rPr lang="en-IN" sz="1600" b="1" u="none" strike="noStrike" dirty="0">
                          <a:solidFill>
                            <a:schemeClr val="bg1"/>
                          </a:solidFill>
                          <a:effectLst/>
                        </a:rPr>
                        <a:t>States</a:t>
                      </a:r>
                      <a:endParaRPr lang="en-IN" sz="1600" b="1" i="0" u="none" strike="noStrike" dirty="0">
                        <a:solidFill>
                          <a:schemeClr val="bg1"/>
                        </a:solidFill>
                        <a:effectLst/>
                        <a:latin typeface="Calibri" panose="020F0502020204030204" pitchFamily="34" charset="0"/>
                      </a:endParaRPr>
                    </a:p>
                  </a:txBody>
                  <a:tcPr marL="9138" marR="9138" marT="9138" marB="0" anchor="ctr">
                    <a:solidFill>
                      <a:schemeClr val="accent1"/>
                    </a:solidFill>
                  </a:tcPr>
                </a:tc>
                <a:tc>
                  <a:txBody>
                    <a:bodyPr/>
                    <a:lstStyle/>
                    <a:p>
                      <a:pPr algn="ctr" fontAlgn="b"/>
                      <a:r>
                        <a:rPr lang="en-IN" sz="1400" b="1" u="none" strike="noStrike" dirty="0">
                          <a:solidFill>
                            <a:schemeClr val="bg1"/>
                          </a:solidFill>
                          <a:effectLst/>
                        </a:rPr>
                        <a:t>Sanctioned </a:t>
                      </a:r>
                      <a:r>
                        <a:rPr lang="en-IN" sz="1200" b="1" u="none" strike="noStrike" dirty="0">
                          <a:solidFill>
                            <a:schemeClr val="bg1"/>
                          </a:solidFill>
                          <a:effectLst/>
                        </a:rPr>
                        <a:t>(MW)</a:t>
                      </a:r>
                      <a:endParaRPr lang="en-IN" sz="1200" b="1" i="0" u="none" strike="noStrike" dirty="0">
                        <a:solidFill>
                          <a:schemeClr val="bg1"/>
                        </a:solidFill>
                        <a:effectLst/>
                        <a:latin typeface="Calibri" panose="020F0502020204030204" pitchFamily="34" charset="0"/>
                      </a:endParaRPr>
                    </a:p>
                  </a:txBody>
                  <a:tcPr marL="9138" marR="9138" marT="9138" marB="0" anchor="ctr">
                    <a:solidFill>
                      <a:schemeClr val="accent1"/>
                    </a:solidFill>
                  </a:tcPr>
                </a:tc>
                <a:tc>
                  <a:txBody>
                    <a:bodyPr/>
                    <a:lstStyle/>
                    <a:p>
                      <a:pPr algn="ctr" fontAlgn="b"/>
                      <a:r>
                        <a:rPr lang="en-IN" sz="1600" b="1" u="none" strike="noStrike" dirty="0">
                          <a:solidFill>
                            <a:schemeClr val="bg1"/>
                          </a:solidFill>
                          <a:effectLst/>
                        </a:rPr>
                        <a:t>Status of Implementation</a:t>
                      </a:r>
                      <a:endParaRPr lang="en-IN" sz="1600" b="1" i="0" u="none" strike="noStrike" dirty="0">
                        <a:solidFill>
                          <a:schemeClr val="bg1"/>
                        </a:solidFill>
                        <a:effectLst/>
                        <a:latin typeface="Calibri" panose="020F0502020204030204" pitchFamily="34" charset="0"/>
                      </a:endParaRPr>
                    </a:p>
                  </a:txBody>
                  <a:tcPr marL="9138" marR="9138" marT="9138" marB="0" anchor="ctr">
                    <a:solidFill>
                      <a:schemeClr val="accent1"/>
                    </a:solidFill>
                  </a:tcPr>
                </a:tc>
                <a:extLst>
                  <a:ext uri="{0D108BD9-81ED-4DB2-BD59-A6C34878D82A}">
                    <a16:rowId xmlns:a16="http://schemas.microsoft.com/office/drawing/2014/main" val="170184565"/>
                  </a:ext>
                </a:extLst>
              </a:tr>
              <a:tr h="377884">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Rajasthan</a:t>
                      </a:r>
                      <a:r>
                        <a:rPr lang="en-US" sz="1400" b="1" u="none" strike="noStrike" dirty="0">
                          <a:effectLst/>
                          <a:latin typeface="Times New Roman" panose="02020603050405020304" pitchFamily="18" charset="0"/>
                          <a:cs typeface="Times New Roman" panose="02020603050405020304" pitchFamily="18" charset="0"/>
                        </a:rPr>
                        <a:t>  </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6">
                        <a:lumMod val="60000"/>
                        <a:lumOff val="40000"/>
                      </a:schemeClr>
                    </a:solidFill>
                  </a:tcP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1200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6">
                        <a:lumMod val="60000"/>
                        <a:lumOff val="40000"/>
                      </a:schemeClr>
                    </a:solidFill>
                  </a:tcP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Commissioned 27.5MW Plants. 440 PPA signed so far. 40 Projects for 55MW under installation</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6">
                        <a:lumMod val="60000"/>
                        <a:lumOff val="40000"/>
                      </a:schemeClr>
                    </a:solidFill>
                  </a:tcPr>
                </a:tc>
                <a:extLst>
                  <a:ext uri="{0D108BD9-81ED-4DB2-BD59-A6C34878D82A}">
                    <a16:rowId xmlns:a16="http://schemas.microsoft.com/office/drawing/2014/main" val="971556542"/>
                  </a:ext>
                </a:extLst>
              </a:tr>
              <a:tr h="224270">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Himachal Pradesh</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6">
                        <a:lumMod val="60000"/>
                        <a:lumOff val="40000"/>
                      </a:schemeClr>
                    </a:solidFill>
                  </a:tcP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30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6">
                        <a:lumMod val="60000"/>
                        <a:lumOff val="4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u="none" strike="noStrike" dirty="0">
                          <a:solidFill>
                            <a:srgbClr val="000000"/>
                          </a:solidFill>
                          <a:effectLst/>
                          <a:latin typeface="Times New Roman" panose="02020603050405020304" pitchFamily="18" charset="0"/>
                          <a:cs typeface="Times New Roman" panose="02020603050405020304" pitchFamily="18" charset="0"/>
                        </a:rPr>
                        <a:t>Commissioned 15.25MW Plants.</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6">
                        <a:lumMod val="60000"/>
                        <a:lumOff val="40000"/>
                      </a:schemeClr>
                    </a:solidFill>
                  </a:tcPr>
                </a:tc>
                <a:extLst>
                  <a:ext uri="{0D108BD9-81ED-4DB2-BD59-A6C34878D82A}">
                    <a16:rowId xmlns:a16="http://schemas.microsoft.com/office/drawing/2014/main" val="869937823"/>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Gujarat</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500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State Government approval pending</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1572861801"/>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rId2" action="ppaction://hlinksldjump"/>
                        </a:rPr>
                        <a:t>Karnataka</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i="0" u="none" strike="noStrike" dirty="0">
                          <a:solidFill>
                            <a:srgbClr val="000000"/>
                          </a:solidFill>
                          <a:effectLst/>
                          <a:latin typeface="Times New Roman" panose="02020603050405020304" pitchFamily="18" charset="0"/>
                          <a:cs typeface="Times New Roman" panose="02020603050405020304" pitchFamily="18" charset="0"/>
                        </a:rPr>
                        <a:t>500</a:t>
                      </a:r>
                    </a:p>
                  </a:txBody>
                  <a:tcPr marL="9138" marR="9138" marT="9138" marB="0" anchor="ct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Capacity surrendered by State</a:t>
                      </a:r>
                    </a:p>
                  </a:txBody>
                  <a:tcPr marL="9138" marR="9138" marT="9138" marB="0" anchor="ctr"/>
                </a:tc>
                <a:extLst>
                  <a:ext uri="{0D108BD9-81ED-4DB2-BD59-A6C34878D82A}">
                    <a16:rowId xmlns:a16="http://schemas.microsoft.com/office/drawing/2014/main" val="3464343329"/>
                  </a:ext>
                </a:extLst>
              </a:tr>
              <a:tr h="289454">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rId3" action="ppaction://hlinksldjump"/>
                        </a:rPr>
                        <a:t>Maharashtra</a:t>
                      </a:r>
                      <a:r>
                        <a:rPr lang="en-US" sz="1400" b="1" u="none" strike="noStrike" dirty="0">
                          <a:effectLst/>
                          <a:latin typeface="Times New Roman" panose="02020603050405020304" pitchFamily="18" charset="0"/>
                          <a:cs typeface="Times New Roman" panose="02020603050405020304" pitchFamily="18" charset="0"/>
                        </a:rPr>
                        <a:t> </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500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LOA issued for 54.75MW. New tender 431MW floated (3rd June last date)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extLst>
                  <a:ext uri="{0D108BD9-81ED-4DB2-BD59-A6C34878D82A}">
                    <a16:rowId xmlns:a16="http://schemas.microsoft.com/office/drawing/2014/main" val="1741208505"/>
                  </a:ext>
                </a:extLst>
              </a:tr>
              <a:tr h="377884">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Odisha</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500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LOA issued to 5 developers for 12.75MW. Tariff is proposed to be revised. EOI to be re-floated for remaining capacity</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extLst>
                  <a:ext uri="{0D108BD9-81ED-4DB2-BD59-A6C34878D82A}">
                    <a16:rowId xmlns:a16="http://schemas.microsoft.com/office/drawing/2014/main" val="4220390104"/>
                  </a:ext>
                </a:extLst>
              </a:tr>
              <a:tr h="29043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Telangana</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500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No Progress. Approval awaited from State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3488431444"/>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rId4" action="ppaction://hlinksldjump"/>
                        </a:rPr>
                        <a:t>Madhya Pradesh </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500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LOA issued for 295.58 MW - PPA executed for 35 MW</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extLst>
                  <a:ext uri="{0D108BD9-81ED-4DB2-BD59-A6C34878D82A}">
                    <a16:rowId xmlns:a16="http://schemas.microsoft.com/office/drawing/2014/main" val="3894290762"/>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Uttar Pradesh </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225</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PPA signed for 8 MW</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extLst>
                  <a:ext uri="{0D108BD9-81ED-4DB2-BD59-A6C34878D82A}">
                    <a16:rowId xmlns:a16="http://schemas.microsoft.com/office/drawing/2014/main" val="3873783288"/>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Punjab</a:t>
                      </a:r>
                      <a:r>
                        <a:rPr lang="en-US" sz="1400" b="1" u="none" strike="noStrike" dirty="0">
                          <a:effectLst/>
                          <a:latin typeface="Times New Roman" panose="02020603050405020304" pitchFamily="18" charset="0"/>
                          <a:cs typeface="Times New Roman" panose="02020603050405020304" pitchFamily="18" charset="0"/>
                        </a:rPr>
                        <a:t> </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220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3 bids for 1 MW each – Allotment in process. Tariff to be revised</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2699669005"/>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Tamil Nadu</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ctr" fontAlgn="b"/>
                      <a:r>
                        <a:rPr lang="en-US" sz="1400" b="1" i="0" u="none" strike="noStrike" dirty="0">
                          <a:solidFill>
                            <a:srgbClr val="000000"/>
                          </a:solidFill>
                          <a:effectLst/>
                          <a:latin typeface="Times New Roman" panose="02020603050405020304" pitchFamily="18" charset="0"/>
                          <a:cs typeface="Times New Roman" panose="02020603050405020304" pitchFamily="18" charset="0"/>
                        </a:rPr>
                        <a:t>424</a:t>
                      </a:r>
                    </a:p>
                  </a:txBody>
                  <a:tcPr marL="9138" marR="9138" marT="9138" marB="0" anchor="ctr">
                    <a:solidFill>
                      <a:schemeClr val="accent4">
                        <a:lumMod val="60000"/>
                        <a:lumOff val="40000"/>
                      </a:schemeClr>
                    </a:solidFill>
                  </a:tcP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LOA issued for 3MW</a:t>
                      </a:r>
                    </a:p>
                  </a:txBody>
                  <a:tcPr marL="9138" marR="9138" marT="9138" marB="0" anchor="ctr">
                    <a:solidFill>
                      <a:schemeClr val="accent4">
                        <a:lumMod val="60000"/>
                        <a:lumOff val="40000"/>
                      </a:schemeClr>
                    </a:solidFill>
                  </a:tcPr>
                </a:tc>
                <a:extLst>
                  <a:ext uri="{0D108BD9-81ED-4DB2-BD59-A6C34878D82A}">
                    <a16:rowId xmlns:a16="http://schemas.microsoft.com/office/drawing/2014/main" val="3576695780"/>
                  </a:ext>
                </a:extLst>
              </a:tr>
              <a:tr h="44123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Haryana</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65</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PPA signed for 8.57MW by DHBVN and 2MW by UHBVN. EOI for remaining capacity to be floated</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solidFill>
                      <a:schemeClr val="accent4">
                        <a:lumMod val="60000"/>
                        <a:lumOff val="40000"/>
                      </a:schemeClr>
                    </a:solidFill>
                  </a:tcPr>
                </a:tc>
                <a:extLst>
                  <a:ext uri="{0D108BD9-81ED-4DB2-BD59-A6C34878D82A}">
                    <a16:rowId xmlns:a16="http://schemas.microsoft.com/office/drawing/2014/main" val="1220811597"/>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Delhi</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i="0" u="none" strike="noStrike" dirty="0">
                          <a:solidFill>
                            <a:srgbClr val="000000"/>
                          </a:solidFill>
                          <a:effectLst/>
                          <a:latin typeface="Times New Roman" panose="02020603050405020304" pitchFamily="18" charset="0"/>
                          <a:cs typeface="Times New Roman" panose="02020603050405020304" pitchFamily="18" charset="0"/>
                        </a:rPr>
                        <a:t>0</a:t>
                      </a:r>
                    </a:p>
                  </a:txBody>
                  <a:tcPr marL="9138" marR="9138" marT="9138" marB="0" anchor="ct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Capacity withdrawn</a:t>
                      </a:r>
                    </a:p>
                  </a:txBody>
                  <a:tcPr marL="9138" marR="9138" marT="9138" marB="0" anchor="ctr"/>
                </a:tc>
                <a:extLst>
                  <a:ext uri="{0D108BD9-81ED-4DB2-BD59-A6C34878D82A}">
                    <a16:rowId xmlns:a16="http://schemas.microsoft.com/office/drawing/2014/main" val="397898400"/>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Assam</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List of substations, EOI, Model PPA approved by </a:t>
                      </a:r>
                      <a:r>
                        <a:rPr lang="en-US" sz="1200" b="0" u="none" strike="noStrike" dirty="0" err="1">
                          <a:solidFill>
                            <a:srgbClr val="000000"/>
                          </a:solidFill>
                          <a:effectLst/>
                          <a:latin typeface="Times New Roman" panose="02020603050405020304" pitchFamily="18" charset="0"/>
                          <a:cs typeface="Times New Roman" panose="02020603050405020304" pitchFamily="18" charset="0"/>
                        </a:rPr>
                        <a:t>BoD</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4285649375"/>
                  </a:ext>
                </a:extLst>
              </a:tr>
              <a:tr h="44123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Goa</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22 Bids received for 40MW has been sent to DISCOMs for assessment. Feasibility Report awaited from Electricity Department</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2984126591"/>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Jharkhand</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Tender in pilot mode for 1 MW capacity</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1243139109"/>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rId5" action="ppaction://hlinksldjump"/>
                        </a:rPr>
                        <a:t>Kerala</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40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Bids invited for 10 MW</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3700469637"/>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Chhattisgarh</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30</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22 applications for 29.1MW received</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2735495213"/>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Puducherry</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7</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No progress reported</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461374857"/>
                  </a:ext>
                </a:extLst>
              </a:tr>
              <a:tr h="377884">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Jammu &amp; Kashmir</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u="none" strike="noStrike" dirty="0">
                          <a:solidFill>
                            <a:srgbClr val="000000"/>
                          </a:solidFill>
                          <a:effectLst/>
                          <a:latin typeface="Times New Roman" panose="02020603050405020304" pitchFamily="18" charset="0"/>
                          <a:cs typeface="Times New Roman" panose="02020603050405020304" pitchFamily="18" charset="0"/>
                        </a:rPr>
                        <a:t>6 bidders have been identified for 15.4 MW capacity. Tariff of Rs. 4.79 has been discovered through bidding. </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extLst>
                  <a:ext uri="{0D108BD9-81ED-4DB2-BD59-A6C34878D82A}">
                    <a16:rowId xmlns:a16="http://schemas.microsoft.com/office/drawing/2014/main" val="1544991528"/>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Meghalaya</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State proposes to implement through EESL. No progress reported</a:t>
                      </a:r>
                    </a:p>
                  </a:txBody>
                  <a:tcPr marL="9138" marR="9138" marT="9138" marB="0" anchor="ctr"/>
                </a:tc>
                <a:extLst>
                  <a:ext uri="{0D108BD9-81ED-4DB2-BD59-A6C34878D82A}">
                    <a16:rowId xmlns:a16="http://schemas.microsoft.com/office/drawing/2014/main" val="169928943"/>
                  </a:ext>
                </a:extLst>
              </a:tr>
              <a:tr h="260461">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hlinkClick r:id="" action="ppaction://noaction"/>
                        </a:rPr>
                        <a:t>Tripura</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ctr" fontAlgn="b"/>
                      <a:r>
                        <a:rPr lang="en-US" sz="1400" b="1" u="none" strike="noStrike" dirty="0">
                          <a:effectLst/>
                          <a:latin typeface="Times New Roman" panose="02020603050405020304" pitchFamily="18" charset="0"/>
                          <a:cs typeface="Times New Roman" panose="02020603050405020304" pitchFamily="18" charset="0"/>
                        </a:rPr>
                        <a:t>5</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38" marR="9138" marT="9138" marB="0" anchor="ctr"/>
                </a:tc>
                <a:tc>
                  <a:txBody>
                    <a:bodyPr/>
                    <a:lstStyle/>
                    <a:p>
                      <a:pPr algn="l"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 Applications received for 4 MW capacity</a:t>
                      </a:r>
                    </a:p>
                  </a:txBody>
                  <a:tcPr marL="9138" marR="9138" marT="9138" marB="0" anchor="ctr"/>
                </a:tc>
                <a:extLst>
                  <a:ext uri="{0D108BD9-81ED-4DB2-BD59-A6C34878D82A}">
                    <a16:rowId xmlns:a16="http://schemas.microsoft.com/office/drawing/2014/main" val="2043816852"/>
                  </a:ext>
                </a:extLst>
              </a:tr>
            </a:tbl>
          </a:graphicData>
        </a:graphic>
      </p:graphicFrame>
      <p:sp>
        <p:nvSpPr>
          <p:cNvPr id="80" name="Rectangle 79">
            <a:extLst>
              <a:ext uri="{FF2B5EF4-FFF2-40B4-BE49-F238E27FC236}">
                <a16:creationId xmlns:a16="http://schemas.microsoft.com/office/drawing/2014/main" id="{3B4B3013-9A35-4F51-AA63-95B4830F019A}"/>
              </a:ext>
            </a:extLst>
          </p:cNvPr>
          <p:cNvSpPr/>
          <p:nvPr/>
        </p:nvSpPr>
        <p:spPr>
          <a:xfrm>
            <a:off x="7898296" y="132522"/>
            <a:ext cx="4147930" cy="661283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COMPONENT A PROGRESS SO FAR </a:t>
            </a: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a:p>
            <a:pPr algn="ctr"/>
            <a:endParaRPr lang="en-IN" sz="3200" b="1" dirty="0">
              <a:solidFill>
                <a:schemeClr val="tx1"/>
              </a:solidFill>
            </a:endParaRPr>
          </a:p>
        </p:txBody>
      </p:sp>
      <p:grpSp>
        <p:nvGrpSpPr>
          <p:cNvPr id="81" name="组合 50">
            <a:extLst>
              <a:ext uri="{FF2B5EF4-FFF2-40B4-BE49-F238E27FC236}">
                <a16:creationId xmlns:a16="http://schemas.microsoft.com/office/drawing/2014/main" id="{F75B4965-D061-4ACE-8BC7-935A0BF09F18}"/>
              </a:ext>
            </a:extLst>
          </p:cNvPr>
          <p:cNvGrpSpPr/>
          <p:nvPr/>
        </p:nvGrpSpPr>
        <p:grpSpPr>
          <a:xfrm>
            <a:off x="7898297" y="1947686"/>
            <a:ext cx="4147930" cy="4430166"/>
            <a:chOff x="2138550" y="1358525"/>
            <a:chExt cx="4549776" cy="5183188"/>
          </a:xfrm>
          <a:solidFill>
            <a:schemeClr val="accent3"/>
          </a:solidFill>
        </p:grpSpPr>
        <p:sp>
          <p:nvSpPr>
            <p:cNvPr id="82" name="Freeform 4">
              <a:extLst>
                <a:ext uri="{FF2B5EF4-FFF2-40B4-BE49-F238E27FC236}">
                  <a16:creationId xmlns:a16="http://schemas.microsoft.com/office/drawing/2014/main" id="{46999F09-D081-417C-8E4C-D72170F6C869}"/>
                </a:ext>
              </a:extLst>
            </p:cNvPr>
            <p:cNvSpPr>
              <a:spLocks/>
            </p:cNvSpPr>
            <p:nvPr/>
          </p:nvSpPr>
          <p:spPr bwMode="auto">
            <a:xfrm>
              <a:off x="2405250" y="2572963"/>
              <a:ext cx="1343025" cy="1214438"/>
            </a:xfrm>
            <a:custGeom>
              <a:avLst/>
              <a:gdLst>
                <a:gd name="T0" fmla="*/ 0 w 4231"/>
                <a:gd name="T1" fmla="*/ 0 h 3825"/>
                <a:gd name="T2" fmla="*/ 0 w 4231"/>
                <a:gd name="T3" fmla="*/ 0 h 3825"/>
                <a:gd name="T4" fmla="*/ 0 w 4231"/>
                <a:gd name="T5" fmla="*/ 0 h 3825"/>
                <a:gd name="T6" fmla="*/ 0 w 4231"/>
                <a:gd name="T7" fmla="*/ 0 h 3825"/>
                <a:gd name="T8" fmla="*/ 0 w 4231"/>
                <a:gd name="T9" fmla="*/ 0 h 3825"/>
                <a:gd name="T10" fmla="*/ 0 w 4231"/>
                <a:gd name="T11" fmla="*/ 0 h 3825"/>
                <a:gd name="T12" fmla="*/ 0 w 4231"/>
                <a:gd name="T13" fmla="*/ 0 h 3825"/>
                <a:gd name="T14" fmla="*/ 0 w 4231"/>
                <a:gd name="T15" fmla="*/ 0 h 3825"/>
                <a:gd name="T16" fmla="*/ 0 w 4231"/>
                <a:gd name="T17" fmla="*/ 0 h 3825"/>
                <a:gd name="T18" fmla="*/ 0 w 4231"/>
                <a:gd name="T19" fmla="*/ 0 h 3825"/>
                <a:gd name="T20" fmla="*/ 0 w 4231"/>
                <a:gd name="T21" fmla="*/ 0 h 3825"/>
                <a:gd name="T22" fmla="*/ 0 w 4231"/>
                <a:gd name="T23" fmla="*/ 0 h 3825"/>
                <a:gd name="T24" fmla="*/ 0 w 4231"/>
                <a:gd name="T25" fmla="*/ 0 h 3825"/>
                <a:gd name="T26" fmla="*/ 0 w 4231"/>
                <a:gd name="T27" fmla="*/ 0 h 3825"/>
                <a:gd name="T28" fmla="*/ 0 w 4231"/>
                <a:gd name="T29" fmla="*/ 0 h 3825"/>
                <a:gd name="T30" fmla="*/ 0 w 4231"/>
                <a:gd name="T31" fmla="*/ 0 h 3825"/>
                <a:gd name="T32" fmla="*/ 0 w 4231"/>
                <a:gd name="T33" fmla="*/ 0 h 3825"/>
                <a:gd name="T34" fmla="*/ 0 w 4231"/>
                <a:gd name="T35" fmla="*/ 0 h 3825"/>
                <a:gd name="T36" fmla="*/ 0 w 4231"/>
                <a:gd name="T37" fmla="*/ 0 h 3825"/>
                <a:gd name="T38" fmla="*/ 0 w 4231"/>
                <a:gd name="T39" fmla="*/ 0 h 3825"/>
                <a:gd name="T40" fmla="*/ 0 w 4231"/>
                <a:gd name="T41" fmla="*/ 0 h 3825"/>
                <a:gd name="T42" fmla="*/ 0 w 4231"/>
                <a:gd name="T43" fmla="*/ 0 h 3825"/>
                <a:gd name="T44" fmla="*/ 0 w 4231"/>
                <a:gd name="T45" fmla="*/ 0 h 3825"/>
                <a:gd name="T46" fmla="*/ 0 w 4231"/>
                <a:gd name="T47" fmla="*/ 0 h 3825"/>
                <a:gd name="T48" fmla="*/ 0 w 4231"/>
                <a:gd name="T49" fmla="*/ 0 h 3825"/>
                <a:gd name="T50" fmla="*/ 0 w 4231"/>
                <a:gd name="T51" fmla="*/ 0 h 3825"/>
                <a:gd name="T52" fmla="*/ 0 w 4231"/>
                <a:gd name="T53" fmla="*/ 0 h 3825"/>
                <a:gd name="T54" fmla="*/ 0 w 4231"/>
                <a:gd name="T55" fmla="*/ 0 h 3825"/>
                <a:gd name="T56" fmla="*/ 0 w 4231"/>
                <a:gd name="T57" fmla="*/ 0 h 3825"/>
                <a:gd name="T58" fmla="*/ 0 w 4231"/>
                <a:gd name="T59" fmla="*/ 0 h 3825"/>
                <a:gd name="T60" fmla="*/ 0 w 4231"/>
                <a:gd name="T61" fmla="*/ 0 h 3825"/>
                <a:gd name="T62" fmla="*/ 0 w 4231"/>
                <a:gd name="T63" fmla="*/ 0 h 3825"/>
                <a:gd name="T64" fmla="*/ 0 w 4231"/>
                <a:gd name="T65" fmla="*/ 0 h 3825"/>
                <a:gd name="T66" fmla="*/ 0 w 4231"/>
                <a:gd name="T67" fmla="*/ 0 h 3825"/>
                <a:gd name="T68" fmla="*/ 0 w 4231"/>
                <a:gd name="T69" fmla="*/ 0 h 3825"/>
                <a:gd name="T70" fmla="*/ 0 w 4231"/>
                <a:gd name="T71" fmla="*/ 0 h 3825"/>
                <a:gd name="T72" fmla="*/ 0 w 4231"/>
                <a:gd name="T73" fmla="*/ 0 h 3825"/>
                <a:gd name="T74" fmla="*/ 0 w 4231"/>
                <a:gd name="T75" fmla="*/ 0 h 3825"/>
                <a:gd name="T76" fmla="*/ 0 w 4231"/>
                <a:gd name="T77" fmla="*/ 0 h 3825"/>
                <a:gd name="T78" fmla="*/ 0 w 4231"/>
                <a:gd name="T79" fmla="*/ 0 h 3825"/>
                <a:gd name="T80" fmla="*/ 0 w 4231"/>
                <a:gd name="T81" fmla="*/ 0 h 3825"/>
                <a:gd name="T82" fmla="*/ 0 w 4231"/>
                <a:gd name="T83" fmla="*/ 0 h 3825"/>
                <a:gd name="T84" fmla="*/ 0 w 4231"/>
                <a:gd name="T85" fmla="*/ 0 h 3825"/>
                <a:gd name="T86" fmla="*/ 0 w 4231"/>
                <a:gd name="T87" fmla="*/ 0 h 3825"/>
                <a:gd name="T88" fmla="*/ 0 w 4231"/>
                <a:gd name="T89" fmla="*/ 0 h 3825"/>
                <a:gd name="T90" fmla="*/ 0 w 4231"/>
                <a:gd name="T91" fmla="*/ 0 h 3825"/>
                <a:gd name="T92" fmla="*/ 0 w 4231"/>
                <a:gd name="T93" fmla="*/ 0 h 382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231" h="3825">
                  <a:moveTo>
                    <a:pt x="726" y="2859"/>
                  </a:moveTo>
                  <a:lnTo>
                    <a:pt x="646" y="2739"/>
                  </a:lnTo>
                  <a:lnTo>
                    <a:pt x="631" y="2649"/>
                  </a:lnTo>
                  <a:lnTo>
                    <a:pt x="545" y="2502"/>
                  </a:lnTo>
                  <a:lnTo>
                    <a:pt x="572" y="2430"/>
                  </a:lnTo>
                  <a:lnTo>
                    <a:pt x="500" y="2309"/>
                  </a:lnTo>
                  <a:lnTo>
                    <a:pt x="380" y="2319"/>
                  </a:lnTo>
                  <a:lnTo>
                    <a:pt x="256" y="2139"/>
                  </a:lnTo>
                  <a:lnTo>
                    <a:pt x="302" y="1994"/>
                  </a:lnTo>
                  <a:lnTo>
                    <a:pt x="336" y="1808"/>
                  </a:lnTo>
                  <a:lnTo>
                    <a:pt x="212" y="1800"/>
                  </a:lnTo>
                  <a:lnTo>
                    <a:pt x="45" y="1748"/>
                  </a:lnTo>
                  <a:lnTo>
                    <a:pt x="0" y="1662"/>
                  </a:lnTo>
                  <a:lnTo>
                    <a:pt x="18" y="1524"/>
                  </a:lnTo>
                  <a:lnTo>
                    <a:pt x="174" y="1380"/>
                  </a:lnTo>
                  <a:lnTo>
                    <a:pt x="323" y="1251"/>
                  </a:lnTo>
                  <a:lnTo>
                    <a:pt x="473" y="1032"/>
                  </a:lnTo>
                  <a:lnTo>
                    <a:pt x="542" y="1029"/>
                  </a:lnTo>
                  <a:lnTo>
                    <a:pt x="621" y="1064"/>
                  </a:lnTo>
                  <a:lnTo>
                    <a:pt x="617" y="1193"/>
                  </a:lnTo>
                  <a:lnTo>
                    <a:pt x="705" y="1229"/>
                  </a:lnTo>
                  <a:lnTo>
                    <a:pt x="915" y="1170"/>
                  </a:lnTo>
                  <a:lnTo>
                    <a:pt x="1163" y="1155"/>
                  </a:lnTo>
                  <a:lnTo>
                    <a:pt x="1250" y="999"/>
                  </a:lnTo>
                  <a:lnTo>
                    <a:pt x="1355" y="912"/>
                  </a:lnTo>
                  <a:lnTo>
                    <a:pt x="1416" y="763"/>
                  </a:lnTo>
                  <a:lnTo>
                    <a:pt x="1533" y="639"/>
                  </a:lnTo>
                  <a:lnTo>
                    <a:pt x="1659" y="624"/>
                  </a:lnTo>
                  <a:lnTo>
                    <a:pt x="1802" y="465"/>
                  </a:lnTo>
                  <a:lnTo>
                    <a:pt x="1904" y="300"/>
                  </a:lnTo>
                  <a:lnTo>
                    <a:pt x="2001" y="60"/>
                  </a:lnTo>
                  <a:lnTo>
                    <a:pt x="2211" y="0"/>
                  </a:lnTo>
                  <a:lnTo>
                    <a:pt x="2288" y="83"/>
                  </a:lnTo>
                  <a:lnTo>
                    <a:pt x="2523" y="114"/>
                  </a:lnTo>
                  <a:lnTo>
                    <a:pt x="2491" y="198"/>
                  </a:lnTo>
                  <a:lnTo>
                    <a:pt x="2550" y="285"/>
                  </a:lnTo>
                  <a:lnTo>
                    <a:pt x="2553" y="447"/>
                  </a:lnTo>
                  <a:lnTo>
                    <a:pt x="2658" y="458"/>
                  </a:lnTo>
                  <a:lnTo>
                    <a:pt x="2797" y="478"/>
                  </a:lnTo>
                  <a:lnTo>
                    <a:pt x="2931" y="453"/>
                  </a:lnTo>
                  <a:lnTo>
                    <a:pt x="2925" y="585"/>
                  </a:lnTo>
                  <a:lnTo>
                    <a:pt x="2986" y="661"/>
                  </a:lnTo>
                  <a:lnTo>
                    <a:pt x="2976" y="868"/>
                  </a:lnTo>
                  <a:lnTo>
                    <a:pt x="3124" y="976"/>
                  </a:lnTo>
                  <a:lnTo>
                    <a:pt x="3183" y="1110"/>
                  </a:lnTo>
                  <a:lnTo>
                    <a:pt x="3156" y="1255"/>
                  </a:lnTo>
                  <a:lnTo>
                    <a:pt x="3229" y="1276"/>
                  </a:lnTo>
                  <a:lnTo>
                    <a:pt x="3277" y="1139"/>
                  </a:lnTo>
                  <a:lnTo>
                    <a:pt x="3376" y="1113"/>
                  </a:lnTo>
                  <a:lnTo>
                    <a:pt x="3420" y="1200"/>
                  </a:lnTo>
                  <a:lnTo>
                    <a:pt x="3517" y="1158"/>
                  </a:lnTo>
                  <a:lnTo>
                    <a:pt x="3592" y="1059"/>
                  </a:lnTo>
                  <a:lnTo>
                    <a:pt x="3623" y="1198"/>
                  </a:lnTo>
                  <a:lnTo>
                    <a:pt x="3623" y="1358"/>
                  </a:lnTo>
                  <a:lnTo>
                    <a:pt x="3694" y="1305"/>
                  </a:lnTo>
                  <a:lnTo>
                    <a:pt x="3832" y="1320"/>
                  </a:lnTo>
                  <a:lnTo>
                    <a:pt x="3819" y="1429"/>
                  </a:lnTo>
                  <a:lnTo>
                    <a:pt x="3946" y="1594"/>
                  </a:lnTo>
                  <a:lnTo>
                    <a:pt x="3923" y="1733"/>
                  </a:lnTo>
                  <a:lnTo>
                    <a:pt x="3893" y="1828"/>
                  </a:lnTo>
                  <a:lnTo>
                    <a:pt x="3873" y="1888"/>
                  </a:lnTo>
                  <a:lnTo>
                    <a:pt x="4043" y="1813"/>
                  </a:lnTo>
                  <a:lnTo>
                    <a:pt x="4143" y="1828"/>
                  </a:lnTo>
                  <a:lnTo>
                    <a:pt x="4218" y="1783"/>
                  </a:lnTo>
                  <a:lnTo>
                    <a:pt x="4231" y="1856"/>
                  </a:lnTo>
                  <a:lnTo>
                    <a:pt x="4174" y="1956"/>
                  </a:lnTo>
                  <a:lnTo>
                    <a:pt x="4051" y="1944"/>
                  </a:lnTo>
                  <a:lnTo>
                    <a:pt x="3939" y="2078"/>
                  </a:lnTo>
                  <a:lnTo>
                    <a:pt x="3789" y="2084"/>
                  </a:lnTo>
                  <a:lnTo>
                    <a:pt x="3623" y="2214"/>
                  </a:lnTo>
                  <a:lnTo>
                    <a:pt x="3548" y="2319"/>
                  </a:lnTo>
                  <a:lnTo>
                    <a:pt x="3408" y="2379"/>
                  </a:lnTo>
                  <a:lnTo>
                    <a:pt x="3408" y="2519"/>
                  </a:lnTo>
                  <a:lnTo>
                    <a:pt x="3498" y="2664"/>
                  </a:lnTo>
                  <a:lnTo>
                    <a:pt x="3653" y="2679"/>
                  </a:lnTo>
                  <a:lnTo>
                    <a:pt x="3813" y="2609"/>
                  </a:lnTo>
                  <a:lnTo>
                    <a:pt x="3833" y="2774"/>
                  </a:lnTo>
                  <a:lnTo>
                    <a:pt x="3603" y="2804"/>
                  </a:lnTo>
                  <a:lnTo>
                    <a:pt x="3533" y="2859"/>
                  </a:lnTo>
                  <a:lnTo>
                    <a:pt x="3574" y="2907"/>
                  </a:lnTo>
                  <a:lnTo>
                    <a:pt x="3531" y="2943"/>
                  </a:lnTo>
                  <a:lnTo>
                    <a:pt x="3638" y="2999"/>
                  </a:lnTo>
                  <a:lnTo>
                    <a:pt x="3678" y="3105"/>
                  </a:lnTo>
                  <a:lnTo>
                    <a:pt x="3608" y="3119"/>
                  </a:lnTo>
                  <a:lnTo>
                    <a:pt x="3528" y="3104"/>
                  </a:lnTo>
                  <a:lnTo>
                    <a:pt x="3548" y="3219"/>
                  </a:lnTo>
                  <a:lnTo>
                    <a:pt x="3615" y="3282"/>
                  </a:lnTo>
                  <a:lnTo>
                    <a:pt x="3559" y="3328"/>
                  </a:lnTo>
                  <a:lnTo>
                    <a:pt x="3495" y="3298"/>
                  </a:lnTo>
                  <a:lnTo>
                    <a:pt x="3451" y="3220"/>
                  </a:lnTo>
                  <a:lnTo>
                    <a:pt x="3378" y="3269"/>
                  </a:lnTo>
                  <a:lnTo>
                    <a:pt x="3218" y="3219"/>
                  </a:lnTo>
                  <a:lnTo>
                    <a:pt x="3128" y="3299"/>
                  </a:lnTo>
                  <a:lnTo>
                    <a:pt x="3093" y="3414"/>
                  </a:lnTo>
                  <a:lnTo>
                    <a:pt x="2963" y="3494"/>
                  </a:lnTo>
                  <a:lnTo>
                    <a:pt x="2853" y="3414"/>
                  </a:lnTo>
                  <a:lnTo>
                    <a:pt x="2888" y="3354"/>
                  </a:lnTo>
                  <a:lnTo>
                    <a:pt x="3003" y="3333"/>
                  </a:lnTo>
                  <a:lnTo>
                    <a:pt x="3000" y="3240"/>
                  </a:lnTo>
                  <a:lnTo>
                    <a:pt x="2978" y="3149"/>
                  </a:lnTo>
                  <a:lnTo>
                    <a:pt x="3079" y="3120"/>
                  </a:lnTo>
                  <a:lnTo>
                    <a:pt x="3054" y="3016"/>
                  </a:lnTo>
                  <a:lnTo>
                    <a:pt x="2978" y="2954"/>
                  </a:lnTo>
                  <a:lnTo>
                    <a:pt x="2858" y="2994"/>
                  </a:lnTo>
                  <a:lnTo>
                    <a:pt x="2753" y="2954"/>
                  </a:lnTo>
                  <a:lnTo>
                    <a:pt x="2823" y="2829"/>
                  </a:lnTo>
                  <a:lnTo>
                    <a:pt x="2723" y="2814"/>
                  </a:lnTo>
                  <a:lnTo>
                    <a:pt x="2673" y="2894"/>
                  </a:lnTo>
                  <a:lnTo>
                    <a:pt x="2568" y="2859"/>
                  </a:lnTo>
                  <a:lnTo>
                    <a:pt x="2543" y="2994"/>
                  </a:lnTo>
                  <a:lnTo>
                    <a:pt x="2527" y="3072"/>
                  </a:lnTo>
                  <a:lnTo>
                    <a:pt x="2568" y="3128"/>
                  </a:lnTo>
                  <a:lnTo>
                    <a:pt x="2508" y="3189"/>
                  </a:lnTo>
                  <a:lnTo>
                    <a:pt x="2583" y="3224"/>
                  </a:lnTo>
                  <a:lnTo>
                    <a:pt x="2628" y="3329"/>
                  </a:lnTo>
                  <a:lnTo>
                    <a:pt x="2573" y="3419"/>
                  </a:lnTo>
                  <a:lnTo>
                    <a:pt x="2595" y="3540"/>
                  </a:lnTo>
                  <a:lnTo>
                    <a:pt x="2407" y="3644"/>
                  </a:lnTo>
                  <a:lnTo>
                    <a:pt x="2378" y="3714"/>
                  </a:lnTo>
                  <a:lnTo>
                    <a:pt x="2496" y="3779"/>
                  </a:lnTo>
                  <a:lnTo>
                    <a:pt x="2389" y="3825"/>
                  </a:lnTo>
                  <a:lnTo>
                    <a:pt x="2274" y="3825"/>
                  </a:lnTo>
                  <a:lnTo>
                    <a:pt x="2105" y="3689"/>
                  </a:lnTo>
                  <a:lnTo>
                    <a:pt x="1926" y="3599"/>
                  </a:lnTo>
                  <a:lnTo>
                    <a:pt x="1926" y="3524"/>
                  </a:lnTo>
                  <a:lnTo>
                    <a:pt x="1829" y="3477"/>
                  </a:lnTo>
                  <a:lnTo>
                    <a:pt x="1791" y="3419"/>
                  </a:lnTo>
                  <a:lnTo>
                    <a:pt x="1862" y="3327"/>
                  </a:lnTo>
                  <a:lnTo>
                    <a:pt x="1808" y="3263"/>
                  </a:lnTo>
                  <a:lnTo>
                    <a:pt x="1731" y="3267"/>
                  </a:lnTo>
                  <a:lnTo>
                    <a:pt x="1688" y="3164"/>
                  </a:lnTo>
                  <a:lnTo>
                    <a:pt x="1756" y="3099"/>
                  </a:lnTo>
                  <a:lnTo>
                    <a:pt x="1641" y="3039"/>
                  </a:lnTo>
                  <a:lnTo>
                    <a:pt x="1539" y="3068"/>
                  </a:lnTo>
                  <a:lnTo>
                    <a:pt x="1386" y="2994"/>
                  </a:lnTo>
                  <a:lnTo>
                    <a:pt x="1277" y="2967"/>
                  </a:lnTo>
                  <a:lnTo>
                    <a:pt x="1206" y="2877"/>
                  </a:lnTo>
                  <a:lnTo>
                    <a:pt x="1112" y="2918"/>
                  </a:lnTo>
                  <a:lnTo>
                    <a:pt x="972" y="2892"/>
                  </a:lnTo>
                  <a:lnTo>
                    <a:pt x="822" y="2894"/>
                  </a:lnTo>
                  <a:lnTo>
                    <a:pt x="726" y="2859"/>
                  </a:lnTo>
                  <a:close/>
                </a:path>
              </a:pathLst>
            </a:custGeom>
            <a:solidFill>
              <a:schemeClr val="accent6"/>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83" name="Freeform 5">
              <a:extLst>
                <a:ext uri="{FF2B5EF4-FFF2-40B4-BE49-F238E27FC236}">
                  <a16:creationId xmlns:a16="http://schemas.microsoft.com/office/drawing/2014/main" id="{4D2042DB-CC25-4C3A-911C-E8C39597930A}"/>
                </a:ext>
              </a:extLst>
            </p:cNvPr>
            <p:cNvSpPr>
              <a:spLocks/>
            </p:cNvSpPr>
            <p:nvPr/>
          </p:nvSpPr>
          <p:spPr bwMode="auto">
            <a:xfrm>
              <a:off x="2138550" y="3481013"/>
              <a:ext cx="992188" cy="798513"/>
            </a:xfrm>
            <a:custGeom>
              <a:avLst/>
              <a:gdLst>
                <a:gd name="T0" fmla="*/ 0 w 3126"/>
                <a:gd name="T1" fmla="*/ 0 h 2517"/>
                <a:gd name="T2" fmla="*/ 0 w 3126"/>
                <a:gd name="T3" fmla="*/ 0 h 2517"/>
                <a:gd name="T4" fmla="*/ 0 w 3126"/>
                <a:gd name="T5" fmla="*/ 0 h 2517"/>
                <a:gd name="T6" fmla="*/ 0 w 3126"/>
                <a:gd name="T7" fmla="*/ 0 h 2517"/>
                <a:gd name="T8" fmla="*/ 0 w 3126"/>
                <a:gd name="T9" fmla="*/ 0 h 2517"/>
                <a:gd name="T10" fmla="*/ 0 w 3126"/>
                <a:gd name="T11" fmla="*/ 0 h 2517"/>
                <a:gd name="T12" fmla="*/ 0 w 3126"/>
                <a:gd name="T13" fmla="*/ 0 h 2517"/>
                <a:gd name="T14" fmla="*/ 0 w 3126"/>
                <a:gd name="T15" fmla="*/ 0 h 2517"/>
                <a:gd name="T16" fmla="*/ 0 w 3126"/>
                <a:gd name="T17" fmla="*/ 0 h 2517"/>
                <a:gd name="T18" fmla="*/ 0 w 3126"/>
                <a:gd name="T19" fmla="*/ 0 h 2517"/>
                <a:gd name="T20" fmla="*/ 0 w 3126"/>
                <a:gd name="T21" fmla="*/ 0 h 2517"/>
                <a:gd name="T22" fmla="*/ 0 w 3126"/>
                <a:gd name="T23" fmla="*/ 0 h 2517"/>
                <a:gd name="T24" fmla="*/ 0 w 3126"/>
                <a:gd name="T25" fmla="*/ 0 h 2517"/>
                <a:gd name="T26" fmla="*/ 0 w 3126"/>
                <a:gd name="T27" fmla="*/ 0 h 2517"/>
                <a:gd name="T28" fmla="*/ 0 w 3126"/>
                <a:gd name="T29" fmla="*/ 0 h 2517"/>
                <a:gd name="T30" fmla="*/ 0 w 3126"/>
                <a:gd name="T31" fmla="*/ 0 h 2517"/>
                <a:gd name="T32" fmla="*/ 0 w 3126"/>
                <a:gd name="T33" fmla="*/ 0 h 2517"/>
                <a:gd name="T34" fmla="*/ 0 w 3126"/>
                <a:gd name="T35" fmla="*/ 0 h 2517"/>
                <a:gd name="T36" fmla="*/ 0 w 3126"/>
                <a:gd name="T37" fmla="*/ 0 h 2517"/>
                <a:gd name="T38" fmla="*/ 0 w 3126"/>
                <a:gd name="T39" fmla="*/ 0 h 2517"/>
                <a:gd name="T40" fmla="*/ 0 w 3126"/>
                <a:gd name="T41" fmla="*/ 0 h 2517"/>
                <a:gd name="T42" fmla="*/ 0 w 3126"/>
                <a:gd name="T43" fmla="*/ 0 h 2517"/>
                <a:gd name="T44" fmla="*/ 0 w 3126"/>
                <a:gd name="T45" fmla="*/ 0 h 2517"/>
                <a:gd name="T46" fmla="*/ 0 w 3126"/>
                <a:gd name="T47" fmla="*/ 0 h 2517"/>
                <a:gd name="T48" fmla="*/ 0 w 3126"/>
                <a:gd name="T49" fmla="*/ 0 h 2517"/>
                <a:gd name="T50" fmla="*/ 0 w 3126"/>
                <a:gd name="T51" fmla="*/ 0 h 2517"/>
                <a:gd name="T52" fmla="*/ 0 w 3126"/>
                <a:gd name="T53" fmla="*/ 0 h 2517"/>
                <a:gd name="T54" fmla="*/ 0 w 3126"/>
                <a:gd name="T55" fmla="*/ 0 h 2517"/>
                <a:gd name="T56" fmla="*/ 0 w 3126"/>
                <a:gd name="T57" fmla="*/ 0 h 2517"/>
                <a:gd name="T58" fmla="*/ 0 w 3126"/>
                <a:gd name="T59" fmla="*/ 0 h 2517"/>
                <a:gd name="T60" fmla="*/ 0 w 3126"/>
                <a:gd name="T61" fmla="*/ 0 h 2517"/>
                <a:gd name="T62" fmla="*/ 0 w 3126"/>
                <a:gd name="T63" fmla="*/ 0 h 2517"/>
                <a:gd name="T64" fmla="*/ 0 w 3126"/>
                <a:gd name="T65" fmla="*/ 0 h 2517"/>
                <a:gd name="T66" fmla="*/ 0 w 3126"/>
                <a:gd name="T67" fmla="*/ 0 h 2517"/>
                <a:gd name="T68" fmla="*/ 0 w 3126"/>
                <a:gd name="T69" fmla="*/ 0 h 2517"/>
                <a:gd name="T70" fmla="*/ 0 w 3126"/>
                <a:gd name="T71" fmla="*/ 0 h 2517"/>
                <a:gd name="T72" fmla="*/ 0 w 3126"/>
                <a:gd name="T73" fmla="*/ 0 h 2517"/>
                <a:gd name="T74" fmla="*/ 0 w 3126"/>
                <a:gd name="T75" fmla="*/ 0 h 2517"/>
                <a:gd name="T76" fmla="*/ 0 w 3126"/>
                <a:gd name="T77" fmla="*/ 0 h 2517"/>
                <a:gd name="T78" fmla="*/ 0 w 3126"/>
                <a:gd name="T79" fmla="*/ 0 h 2517"/>
                <a:gd name="T80" fmla="*/ 0 w 3126"/>
                <a:gd name="T81" fmla="*/ 0 h 2517"/>
                <a:gd name="T82" fmla="*/ 0 w 3126"/>
                <a:gd name="T83" fmla="*/ 0 h 2517"/>
                <a:gd name="T84" fmla="*/ 0 w 3126"/>
                <a:gd name="T85" fmla="*/ 0 h 2517"/>
                <a:gd name="T86" fmla="*/ 0 w 3126"/>
                <a:gd name="T87" fmla="*/ 0 h 2517"/>
                <a:gd name="T88" fmla="*/ 0 w 3126"/>
                <a:gd name="T89" fmla="*/ 0 h 2517"/>
                <a:gd name="T90" fmla="*/ 0 w 3126"/>
                <a:gd name="T91" fmla="*/ 0 h 2517"/>
                <a:gd name="T92" fmla="*/ 0 w 3126"/>
                <a:gd name="T93" fmla="*/ 0 h 2517"/>
                <a:gd name="T94" fmla="*/ 0 w 3126"/>
                <a:gd name="T95" fmla="*/ 0 h 2517"/>
                <a:gd name="T96" fmla="*/ 0 w 3126"/>
                <a:gd name="T97" fmla="*/ 0 h 2517"/>
                <a:gd name="T98" fmla="*/ 0 w 3126"/>
                <a:gd name="T99" fmla="*/ 0 h 2517"/>
                <a:gd name="T100" fmla="*/ 0 w 3126"/>
                <a:gd name="T101" fmla="*/ 0 h 2517"/>
                <a:gd name="T102" fmla="*/ 0 w 3126"/>
                <a:gd name="T103" fmla="*/ 0 h 2517"/>
                <a:gd name="T104" fmla="*/ 0 w 3126"/>
                <a:gd name="T105" fmla="*/ 0 h 251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126" h="2517">
                  <a:moveTo>
                    <a:pt x="195" y="563"/>
                  </a:moveTo>
                  <a:lnTo>
                    <a:pt x="215" y="682"/>
                  </a:lnTo>
                  <a:lnTo>
                    <a:pt x="405" y="877"/>
                  </a:lnTo>
                  <a:lnTo>
                    <a:pt x="570" y="977"/>
                  </a:lnTo>
                  <a:lnTo>
                    <a:pt x="735" y="997"/>
                  </a:lnTo>
                  <a:lnTo>
                    <a:pt x="869" y="937"/>
                  </a:lnTo>
                  <a:lnTo>
                    <a:pt x="1024" y="892"/>
                  </a:lnTo>
                  <a:lnTo>
                    <a:pt x="1099" y="797"/>
                  </a:lnTo>
                  <a:lnTo>
                    <a:pt x="1219" y="802"/>
                  </a:lnTo>
                  <a:lnTo>
                    <a:pt x="1236" y="850"/>
                  </a:lnTo>
                  <a:lnTo>
                    <a:pt x="1189" y="982"/>
                  </a:lnTo>
                  <a:lnTo>
                    <a:pt x="1084" y="1012"/>
                  </a:lnTo>
                  <a:lnTo>
                    <a:pt x="964" y="1157"/>
                  </a:lnTo>
                  <a:lnTo>
                    <a:pt x="889" y="1117"/>
                  </a:lnTo>
                  <a:lnTo>
                    <a:pt x="810" y="1202"/>
                  </a:lnTo>
                  <a:lnTo>
                    <a:pt x="725" y="1177"/>
                  </a:lnTo>
                  <a:lnTo>
                    <a:pt x="680" y="1267"/>
                  </a:lnTo>
                  <a:lnTo>
                    <a:pt x="495" y="1308"/>
                  </a:lnTo>
                  <a:lnTo>
                    <a:pt x="530" y="1187"/>
                  </a:lnTo>
                  <a:lnTo>
                    <a:pt x="435" y="1192"/>
                  </a:lnTo>
                  <a:lnTo>
                    <a:pt x="390" y="1262"/>
                  </a:lnTo>
                  <a:lnTo>
                    <a:pt x="500" y="1448"/>
                  </a:lnTo>
                  <a:lnTo>
                    <a:pt x="630" y="1538"/>
                  </a:lnTo>
                  <a:lnTo>
                    <a:pt x="795" y="1763"/>
                  </a:lnTo>
                  <a:lnTo>
                    <a:pt x="1034" y="2047"/>
                  </a:lnTo>
                  <a:lnTo>
                    <a:pt x="1184" y="2132"/>
                  </a:lnTo>
                  <a:lnTo>
                    <a:pt x="1326" y="2137"/>
                  </a:lnTo>
                  <a:lnTo>
                    <a:pt x="1377" y="2157"/>
                  </a:lnTo>
                  <a:lnTo>
                    <a:pt x="1404" y="2158"/>
                  </a:lnTo>
                  <a:lnTo>
                    <a:pt x="1431" y="2160"/>
                  </a:lnTo>
                  <a:lnTo>
                    <a:pt x="1481" y="2125"/>
                  </a:lnTo>
                  <a:lnTo>
                    <a:pt x="1550" y="2107"/>
                  </a:lnTo>
                  <a:lnTo>
                    <a:pt x="1640" y="2042"/>
                  </a:lnTo>
                  <a:lnTo>
                    <a:pt x="1805" y="2027"/>
                  </a:lnTo>
                  <a:lnTo>
                    <a:pt x="1955" y="1893"/>
                  </a:lnTo>
                  <a:lnTo>
                    <a:pt x="2082" y="1789"/>
                  </a:lnTo>
                  <a:lnTo>
                    <a:pt x="2106" y="1663"/>
                  </a:lnTo>
                  <a:lnTo>
                    <a:pt x="2082" y="1537"/>
                  </a:lnTo>
                  <a:lnTo>
                    <a:pt x="2088" y="1435"/>
                  </a:lnTo>
                  <a:lnTo>
                    <a:pt x="2130" y="1393"/>
                  </a:lnTo>
                  <a:lnTo>
                    <a:pt x="2208" y="1333"/>
                  </a:lnTo>
                  <a:lnTo>
                    <a:pt x="2345" y="1358"/>
                  </a:lnTo>
                  <a:lnTo>
                    <a:pt x="2360" y="1448"/>
                  </a:lnTo>
                  <a:lnTo>
                    <a:pt x="2205" y="1458"/>
                  </a:lnTo>
                  <a:lnTo>
                    <a:pt x="2195" y="1563"/>
                  </a:lnTo>
                  <a:lnTo>
                    <a:pt x="2315" y="1563"/>
                  </a:lnTo>
                  <a:lnTo>
                    <a:pt x="2220" y="1683"/>
                  </a:lnTo>
                  <a:lnTo>
                    <a:pt x="2345" y="1698"/>
                  </a:lnTo>
                  <a:lnTo>
                    <a:pt x="2235" y="1928"/>
                  </a:lnTo>
                  <a:lnTo>
                    <a:pt x="2325" y="2042"/>
                  </a:lnTo>
                  <a:lnTo>
                    <a:pt x="2361" y="2121"/>
                  </a:lnTo>
                  <a:lnTo>
                    <a:pt x="2343" y="2215"/>
                  </a:lnTo>
                  <a:lnTo>
                    <a:pt x="2340" y="2319"/>
                  </a:lnTo>
                  <a:lnTo>
                    <a:pt x="2348" y="2314"/>
                  </a:lnTo>
                  <a:lnTo>
                    <a:pt x="2366" y="2317"/>
                  </a:lnTo>
                  <a:lnTo>
                    <a:pt x="2364" y="2326"/>
                  </a:lnTo>
                  <a:lnTo>
                    <a:pt x="2352" y="2331"/>
                  </a:lnTo>
                  <a:lnTo>
                    <a:pt x="2351" y="2340"/>
                  </a:lnTo>
                  <a:lnTo>
                    <a:pt x="2364" y="2337"/>
                  </a:lnTo>
                  <a:lnTo>
                    <a:pt x="2373" y="2346"/>
                  </a:lnTo>
                  <a:lnTo>
                    <a:pt x="2366" y="2350"/>
                  </a:lnTo>
                  <a:lnTo>
                    <a:pt x="2364" y="2358"/>
                  </a:lnTo>
                  <a:lnTo>
                    <a:pt x="2367" y="2365"/>
                  </a:lnTo>
                  <a:lnTo>
                    <a:pt x="2360" y="2367"/>
                  </a:lnTo>
                  <a:lnTo>
                    <a:pt x="2342" y="2368"/>
                  </a:lnTo>
                  <a:lnTo>
                    <a:pt x="2325" y="2371"/>
                  </a:lnTo>
                  <a:lnTo>
                    <a:pt x="2250" y="2437"/>
                  </a:lnTo>
                  <a:lnTo>
                    <a:pt x="2321" y="2457"/>
                  </a:lnTo>
                  <a:lnTo>
                    <a:pt x="2313" y="2443"/>
                  </a:lnTo>
                  <a:lnTo>
                    <a:pt x="2325" y="2431"/>
                  </a:lnTo>
                  <a:lnTo>
                    <a:pt x="2346" y="2443"/>
                  </a:lnTo>
                  <a:lnTo>
                    <a:pt x="2345" y="2430"/>
                  </a:lnTo>
                  <a:lnTo>
                    <a:pt x="2382" y="2431"/>
                  </a:lnTo>
                  <a:lnTo>
                    <a:pt x="2391" y="2409"/>
                  </a:lnTo>
                  <a:lnTo>
                    <a:pt x="2408" y="2413"/>
                  </a:lnTo>
                  <a:lnTo>
                    <a:pt x="2412" y="2397"/>
                  </a:lnTo>
                  <a:lnTo>
                    <a:pt x="2418" y="2392"/>
                  </a:lnTo>
                  <a:lnTo>
                    <a:pt x="2421" y="2406"/>
                  </a:lnTo>
                  <a:lnTo>
                    <a:pt x="2420" y="2419"/>
                  </a:lnTo>
                  <a:lnTo>
                    <a:pt x="2424" y="2422"/>
                  </a:lnTo>
                  <a:lnTo>
                    <a:pt x="2439" y="2421"/>
                  </a:lnTo>
                  <a:lnTo>
                    <a:pt x="2459" y="2422"/>
                  </a:lnTo>
                  <a:lnTo>
                    <a:pt x="2457" y="2430"/>
                  </a:lnTo>
                  <a:lnTo>
                    <a:pt x="2444" y="2433"/>
                  </a:lnTo>
                  <a:lnTo>
                    <a:pt x="2424" y="2451"/>
                  </a:lnTo>
                  <a:lnTo>
                    <a:pt x="2418" y="2458"/>
                  </a:lnTo>
                  <a:lnTo>
                    <a:pt x="2408" y="2467"/>
                  </a:lnTo>
                  <a:lnTo>
                    <a:pt x="2394" y="2469"/>
                  </a:lnTo>
                  <a:lnTo>
                    <a:pt x="2388" y="2476"/>
                  </a:lnTo>
                  <a:lnTo>
                    <a:pt x="2388" y="2491"/>
                  </a:lnTo>
                  <a:lnTo>
                    <a:pt x="2394" y="2506"/>
                  </a:lnTo>
                  <a:lnTo>
                    <a:pt x="2402" y="2503"/>
                  </a:lnTo>
                  <a:lnTo>
                    <a:pt x="2409" y="2517"/>
                  </a:lnTo>
                  <a:lnTo>
                    <a:pt x="2415" y="2508"/>
                  </a:lnTo>
                  <a:lnTo>
                    <a:pt x="2426" y="2514"/>
                  </a:lnTo>
                  <a:lnTo>
                    <a:pt x="2445" y="2506"/>
                  </a:lnTo>
                  <a:lnTo>
                    <a:pt x="2444" y="2497"/>
                  </a:lnTo>
                  <a:lnTo>
                    <a:pt x="2456" y="2491"/>
                  </a:lnTo>
                  <a:lnTo>
                    <a:pt x="2499" y="2499"/>
                  </a:lnTo>
                  <a:lnTo>
                    <a:pt x="2534" y="2502"/>
                  </a:lnTo>
                  <a:lnTo>
                    <a:pt x="2614" y="2357"/>
                  </a:lnTo>
                  <a:lnTo>
                    <a:pt x="2594" y="2212"/>
                  </a:lnTo>
                  <a:lnTo>
                    <a:pt x="2744" y="2312"/>
                  </a:lnTo>
                  <a:lnTo>
                    <a:pt x="2869" y="2207"/>
                  </a:lnTo>
                  <a:lnTo>
                    <a:pt x="2849" y="2107"/>
                  </a:lnTo>
                  <a:lnTo>
                    <a:pt x="2729" y="2017"/>
                  </a:lnTo>
                  <a:lnTo>
                    <a:pt x="2882" y="1898"/>
                  </a:lnTo>
                  <a:lnTo>
                    <a:pt x="3033" y="1823"/>
                  </a:lnTo>
                  <a:lnTo>
                    <a:pt x="2897" y="1790"/>
                  </a:lnTo>
                  <a:lnTo>
                    <a:pt x="2826" y="1775"/>
                  </a:lnTo>
                  <a:lnTo>
                    <a:pt x="2822" y="1655"/>
                  </a:lnTo>
                  <a:lnTo>
                    <a:pt x="2939" y="1577"/>
                  </a:lnTo>
                  <a:lnTo>
                    <a:pt x="2928" y="1489"/>
                  </a:lnTo>
                  <a:lnTo>
                    <a:pt x="2892" y="1417"/>
                  </a:lnTo>
                  <a:lnTo>
                    <a:pt x="2916" y="1369"/>
                  </a:lnTo>
                  <a:lnTo>
                    <a:pt x="2988" y="1381"/>
                  </a:lnTo>
                  <a:lnTo>
                    <a:pt x="3018" y="1333"/>
                  </a:lnTo>
                  <a:lnTo>
                    <a:pt x="2934" y="1309"/>
                  </a:lnTo>
                  <a:lnTo>
                    <a:pt x="2898" y="1267"/>
                  </a:lnTo>
                  <a:lnTo>
                    <a:pt x="3096" y="1165"/>
                  </a:lnTo>
                  <a:lnTo>
                    <a:pt x="3126" y="1081"/>
                  </a:lnTo>
                  <a:lnTo>
                    <a:pt x="3048" y="1033"/>
                  </a:lnTo>
                  <a:lnTo>
                    <a:pt x="3109" y="967"/>
                  </a:lnTo>
                  <a:lnTo>
                    <a:pt x="3036" y="904"/>
                  </a:lnTo>
                  <a:lnTo>
                    <a:pt x="2942" y="828"/>
                  </a:lnTo>
                  <a:lnTo>
                    <a:pt x="2764" y="742"/>
                  </a:lnTo>
                  <a:lnTo>
                    <a:pt x="2764" y="667"/>
                  </a:lnTo>
                  <a:lnTo>
                    <a:pt x="2670" y="619"/>
                  </a:lnTo>
                  <a:lnTo>
                    <a:pt x="2631" y="561"/>
                  </a:lnTo>
                  <a:lnTo>
                    <a:pt x="2700" y="469"/>
                  </a:lnTo>
                  <a:lnTo>
                    <a:pt x="2646" y="406"/>
                  </a:lnTo>
                  <a:lnTo>
                    <a:pt x="2571" y="408"/>
                  </a:lnTo>
                  <a:lnTo>
                    <a:pt x="2528" y="306"/>
                  </a:lnTo>
                  <a:lnTo>
                    <a:pt x="2595" y="241"/>
                  </a:lnTo>
                  <a:lnTo>
                    <a:pt x="2480" y="181"/>
                  </a:lnTo>
                  <a:lnTo>
                    <a:pt x="2378" y="208"/>
                  </a:lnTo>
                  <a:lnTo>
                    <a:pt x="2231" y="139"/>
                  </a:lnTo>
                  <a:lnTo>
                    <a:pt x="2115" y="108"/>
                  </a:lnTo>
                  <a:lnTo>
                    <a:pt x="2046" y="21"/>
                  </a:lnTo>
                  <a:lnTo>
                    <a:pt x="1949" y="58"/>
                  </a:lnTo>
                  <a:lnTo>
                    <a:pt x="1814" y="34"/>
                  </a:lnTo>
                  <a:lnTo>
                    <a:pt x="1662" y="36"/>
                  </a:lnTo>
                  <a:lnTo>
                    <a:pt x="1566" y="0"/>
                  </a:lnTo>
                  <a:lnTo>
                    <a:pt x="1569" y="112"/>
                  </a:lnTo>
                  <a:lnTo>
                    <a:pt x="1644" y="106"/>
                  </a:lnTo>
                  <a:lnTo>
                    <a:pt x="1638" y="145"/>
                  </a:lnTo>
                  <a:lnTo>
                    <a:pt x="1536" y="171"/>
                  </a:lnTo>
                  <a:lnTo>
                    <a:pt x="1443" y="202"/>
                  </a:lnTo>
                  <a:lnTo>
                    <a:pt x="1356" y="205"/>
                  </a:lnTo>
                  <a:lnTo>
                    <a:pt x="1350" y="103"/>
                  </a:lnTo>
                  <a:lnTo>
                    <a:pt x="1248" y="106"/>
                  </a:lnTo>
                  <a:lnTo>
                    <a:pt x="1111" y="174"/>
                  </a:lnTo>
                  <a:lnTo>
                    <a:pt x="1014" y="226"/>
                  </a:lnTo>
                  <a:lnTo>
                    <a:pt x="894" y="214"/>
                  </a:lnTo>
                  <a:lnTo>
                    <a:pt x="810" y="121"/>
                  </a:lnTo>
                  <a:lnTo>
                    <a:pt x="710" y="169"/>
                  </a:lnTo>
                  <a:lnTo>
                    <a:pt x="537" y="124"/>
                  </a:lnTo>
                  <a:lnTo>
                    <a:pt x="425" y="139"/>
                  </a:lnTo>
                  <a:lnTo>
                    <a:pt x="380" y="261"/>
                  </a:lnTo>
                  <a:lnTo>
                    <a:pt x="303" y="277"/>
                  </a:lnTo>
                  <a:lnTo>
                    <a:pt x="258" y="283"/>
                  </a:lnTo>
                  <a:lnTo>
                    <a:pt x="185" y="294"/>
                  </a:lnTo>
                  <a:lnTo>
                    <a:pt x="123" y="274"/>
                  </a:lnTo>
                  <a:lnTo>
                    <a:pt x="74" y="324"/>
                  </a:lnTo>
                  <a:lnTo>
                    <a:pt x="0" y="403"/>
                  </a:lnTo>
                  <a:lnTo>
                    <a:pt x="105" y="453"/>
                  </a:lnTo>
                  <a:lnTo>
                    <a:pt x="180" y="409"/>
                  </a:lnTo>
                  <a:lnTo>
                    <a:pt x="335" y="355"/>
                  </a:lnTo>
                  <a:lnTo>
                    <a:pt x="324" y="394"/>
                  </a:lnTo>
                  <a:lnTo>
                    <a:pt x="186" y="493"/>
                  </a:lnTo>
                  <a:lnTo>
                    <a:pt x="195" y="563"/>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84" name="Freeform 6">
              <a:extLst>
                <a:ext uri="{FF2B5EF4-FFF2-40B4-BE49-F238E27FC236}">
                  <a16:creationId xmlns:a16="http://schemas.microsoft.com/office/drawing/2014/main" id="{58E88239-E687-448D-9CD0-FC0D249CD476}"/>
                </a:ext>
              </a:extLst>
            </p:cNvPr>
            <p:cNvSpPr>
              <a:spLocks/>
            </p:cNvSpPr>
            <p:nvPr/>
          </p:nvSpPr>
          <p:spPr bwMode="auto">
            <a:xfrm>
              <a:off x="2841813" y="3976313"/>
              <a:ext cx="1336675" cy="1095375"/>
            </a:xfrm>
            <a:custGeom>
              <a:avLst/>
              <a:gdLst>
                <a:gd name="T0" fmla="*/ 0 w 4209"/>
                <a:gd name="T1" fmla="*/ 0 h 3450"/>
                <a:gd name="T2" fmla="*/ 0 w 4209"/>
                <a:gd name="T3" fmla="*/ 0 h 3450"/>
                <a:gd name="T4" fmla="*/ 0 w 4209"/>
                <a:gd name="T5" fmla="*/ 0 h 3450"/>
                <a:gd name="T6" fmla="*/ 0 w 4209"/>
                <a:gd name="T7" fmla="*/ 0 h 3450"/>
                <a:gd name="T8" fmla="*/ 0 w 4209"/>
                <a:gd name="T9" fmla="*/ 0 h 3450"/>
                <a:gd name="T10" fmla="*/ 0 w 4209"/>
                <a:gd name="T11" fmla="*/ 0 h 3450"/>
                <a:gd name="T12" fmla="*/ 0 w 4209"/>
                <a:gd name="T13" fmla="*/ 0 h 3450"/>
                <a:gd name="T14" fmla="*/ 0 w 4209"/>
                <a:gd name="T15" fmla="*/ 0 h 3450"/>
                <a:gd name="T16" fmla="*/ 0 w 4209"/>
                <a:gd name="T17" fmla="*/ 0 h 3450"/>
                <a:gd name="T18" fmla="*/ 0 w 4209"/>
                <a:gd name="T19" fmla="*/ 0 h 3450"/>
                <a:gd name="T20" fmla="*/ 0 w 4209"/>
                <a:gd name="T21" fmla="*/ 0 h 3450"/>
                <a:gd name="T22" fmla="*/ 0 w 4209"/>
                <a:gd name="T23" fmla="*/ 0 h 3450"/>
                <a:gd name="T24" fmla="*/ 0 w 4209"/>
                <a:gd name="T25" fmla="*/ 0 h 3450"/>
                <a:gd name="T26" fmla="*/ 0 w 4209"/>
                <a:gd name="T27" fmla="*/ 0 h 3450"/>
                <a:gd name="T28" fmla="*/ 0 w 4209"/>
                <a:gd name="T29" fmla="*/ 0 h 3450"/>
                <a:gd name="T30" fmla="*/ 0 w 4209"/>
                <a:gd name="T31" fmla="*/ 0 h 3450"/>
                <a:gd name="T32" fmla="*/ 0 w 4209"/>
                <a:gd name="T33" fmla="*/ 0 h 3450"/>
                <a:gd name="T34" fmla="*/ 0 w 4209"/>
                <a:gd name="T35" fmla="*/ 0 h 3450"/>
                <a:gd name="T36" fmla="*/ 0 w 4209"/>
                <a:gd name="T37" fmla="*/ 0 h 3450"/>
                <a:gd name="T38" fmla="*/ 0 w 4209"/>
                <a:gd name="T39" fmla="*/ 0 h 3450"/>
                <a:gd name="T40" fmla="*/ 0 w 4209"/>
                <a:gd name="T41" fmla="*/ 0 h 3450"/>
                <a:gd name="T42" fmla="*/ 0 w 4209"/>
                <a:gd name="T43" fmla="*/ 0 h 3450"/>
                <a:gd name="T44" fmla="*/ 0 w 4209"/>
                <a:gd name="T45" fmla="*/ 0 h 3450"/>
                <a:gd name="T46" fmla="*/ 0 w 4209"/>
                <a:gd name="T47" fmla="*/ 0 h 3450"/>
                <a:gd name="T48" fmla="*/ 0 w 4209"/>
                <a:gd name="T49" fmla="*/ 0 h 3450"/>
                <a:gd name="T50" fmla="*/ 0 w 4209"/>
                <a:gd name="T51" fmla="*/ 0 h 3450"/>
                <a:gd name="T52" fmla="*/ 0 w 4209"/>
                <a:gd name="T53" fmla="*/ 0 h 3450"/>
                <a:gd name="T54" fmla="*/ 0 w 4209"/>
                <a:gd name="T55" fmla="*/ 0 h 3450"/>
                <a:gd name="T56" fmla="*/ 0 w 4209"/>
                <a:gd name="T57" fmla="*/ 0 h 3450"/>
                <a:gd name="T58" fmla="*/ 0 w 4209"/>
                <a:gd name="T59" fmla="*/ 0 h 3450"/>
                <a:gd name="T60" fmla="*/ 0 w 4209"/>
                <a:gd name="T61" fmla="*/ 0 h 3450"/>
                <a:gd name="T62" fmla="*/ 0 w 4209"/>
                <a:gd name="T63" fmla="*/ 0 h 3450"/>
                <a:gd name="T64" fmla="*/ 0 w 4209"/>
                <a:gd name="T65" fmla="*/ 0 h 3450"/>
                <a:gd name="T66" fmla="*/ 0 w 4209"/>
                <a:gd name="T67" fmla="*/ 0 h 3450"/>
                <a:gd name="T68" fmla="*/ 0 w 4209"/>
                <a:gd name="T69" fmla="*/ 0 h 3450"/>
                <a:gd name="T70" fmla="*/ 0 w 4209"/>
                <a:gd name="T71" fmla="*/ 0 h 3450"/>
                <a:gd name="T72" fmla="*/ 0 w 4209"/>
                <a:gd name="T73" fmla="*/ 0 h 3450"/>
                <a:gd name="T74" fmla="*/ 0 w 4209"/>
                <a:gd name="T75" fmla="*/ 0 h 3450"/>
                <a:gd name="T76" fmla="*/ 0 w 4209"/>
                <a:gd name="T77" fmla="*/ 0 h 3450"/>
                <a:gd name="T78" fmla="*/ 0 w 4209"/>
                <a:gd name="T79" fmla="*/ 0 h 3450"/>
                <a:gd name="T80" fmla="*/ 0 w 4209"/>
                <a:gd name="T81" fmla="*/ 0 h 3450"/>
                <a:gd name="T82" fmla="*/ 0 w 4209"/>
                <a:gd name="T83" fmla="*/ 0 h 3450"/>
                <a:gd name="T84" fmla="*/ 0 w 4209"/>
                <a:gd name="T85" fmla="*/ 0 h 3450"/>
                <a:gd name="T86" fmla="*/ 0 w 4209"/>
                <a:gd name="T87" fmla="*/ 0 h 3450"/>
                <a:gd name="T88" fmla="*/ 0 w 4209"/>
                <a:gd name="T89" fmla="*/ 0 h 3450"/>
                <a:gd name="T90" fmla="*/ 0 w 4209"/>
                <a:gd name="T91" fmla="*/ 0 h 3450"/>
                <a:gd name="T92" fmla="*/ 0 w 4209"/>
                <a:gd name="T93" fmla="*/ 0 h 3450"/>
                <a:gd name="T94" fmla="*/ 0 w 4209"/>
                <a:gd name="T95" fmla="*/ 0 h 3450"/>
                <a:gd name="T96" fmla="*/ 0 w 4209"/>
                <a:gd name="T97" fmla="*/ 0 h 3450"/>
                <a:gd name="T98" fmla="*/ 0 w 4209"/>
                <a:gd name="T99" fmla="*/ 0 h 3450"/>
                <a:gd name="T100" fmla="*/ 0 w 4209"/>
                <a:gd name="T101" fmla="*/ 0 h 3450"/>
                <a:gd name="T102" fmla="*/ 0 w 4209"/>
                <a:gd name="T103" fmla="*/ 0 h 3450"/>
                <a:gd name="T104" fmla="*/ 0 w 4209"/>
                <a:gd name="T105" fmla="*/ 0 h 3450"/>
                <a:gd name="T106" fmla="*/ 0 w 4209"/>
                <a:gd name="T107" fmla="*/ 0 h 3450"/>
                <a:gd name="T108" fmla="*/ 0 w 4209"/>
                <a:gd name="T109" fmla="*/ 0 h 3450"/>
                <a:gd name="T110" fmla="*/ 0 w 4209"/>
                <a:gd name="T111" fmla="*/ 0 h 3450"/>
                <a:gd name="T112" fmla="*/ 0 w 4209"/>
                <a:gd name="T113" fmla="*/ 0 h 3450"/>
                <a:gd name="T114" fmla="*/ 0 w 4209"/>
                <a:gd name="T115" fmla="*/ 0 h 345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209" h="3450">
                  <a:moveTo>
                    <a:pt x="3729" y="1814"/>
                  </a:moveTo>
                  <a:lnTo>
                    <a:pt x="3699" y="1654"/>
                  </a:lnTo>
                  <a:lnTo>
                    <a:pt x="3724" y="1459"/>
                  </a:lnTo>
                  <a:lnTo>
                    <a:pt x="3609" y="1384"/>
                  </a:lnTo>
                  <a:lnTo>
                    <a:pt x="3489" y="1399"/>
                  </a:lnTo>
                  <a:lnTo>
                    <a:pt x="3354" y="1394"/>
                  </a:lnTo>
                  <a:lnTo>
                    <a:pt x="3334" y="1439"/>
                  </a:lnTo>
                  <a:lnTo>
                    <a:pt x="3169" y="1414"/>
                  </a:lnTo>
                  <a:lnTo>
                    <a:pt x="3109" y="1304"/>
                  </a:lnTo>
                  <a:lnTo>
                    <a:pt x="3019" y="1244"/>
                  </a:lnTo>
                  <a:lnTo>
                    <a:pt x="2884" y="1199"/>
                  </a:lnTo>
                  <a:lnTo>
                    <a:pt x="2874" y="1324"/>
                  </a:lnTo>
                  <a:lnTo>
                    <a:pt x="2854" y="1439"/>
                  </a:lnTo>
                  <a:lnTo>
                    <a:pt x="2769" y="1544"/>
                  </a:lnTo>
                  <a:lnTo>
                    <a:pt x="2644" y="1514"/>
                  </a:lnTo>
                  <a:lnTo>
                    <a:pt x="2619" y="1604"/>
                  </a:lnTo>
                  <a:lnTo>
                    <a:pt x="2559" y="1684"/>
                  </a:lnTo>
                  <a:lnTo>
                    <a:pt x="2629" y="1789"/>
                  </a:lnTo>
                  <a:lnTo>
                    <a:pt x="2574" y="1909"/>
                  </a:lnTo>
                  <a:lnTo>
                    <a:pt x="2454" y="1964"/>
                  </a:lnTo>
                  <a:lnTo>
                    <a:pt x="2480" y="2075"/>
                  </a:lnTo>
                  <a:lnTo>
                    <a:pt x="2305" y="2015"/>
                  </a:lnTo>
                  <a:lnTo>
                    <a:pt x="2269" y="2128"/>
                  </a:lnTo>
                  <a:lnTo>
                    <a:pt x="2125" y="2134"/>
                  </a:lnTo>
                  <a:lnTo>
                    <a:pt x="2138" y="2234"/>
                  </a:lnTo>
                  <a:lnTo>
                    <a:pt x="2044" y="2296"/>
                  </a:lnTo>
                  <a:lnTo>
                    <a:pt x="2013" y="2389"/>
                  </a:lnTo>
                  <a:lnTo>
                    <a:pt x="1924" y="2374"/>
                  </a:lnTo>
                  <a:lnTo>
                    <a:pt x="1809" y="2456"/>
                  </a:lnTo>
                  <a:lnTo>
                    <a:pt x="1824" y="2555"/>
                  </a:lnTo>
                  <a:lnTo>
                    <a:pt x="1707" y="2569"/>
                  </a:lnTo>
                  <a:lnTo>
                    <a:pt x="1598" y="2579"/>
                  </a:lnTo>
                  <a:lnTo>
                    <a:pt x="1443" y="2509"/>
                  </a:lnTo>
                  <a:lnTo>
                    <a:pt x="1443" y="2658"/>
                  </a:lnTo>
                  <a:lnTo>
                    <a:pt x="1489" y="2788"/>
                  </a:lnTo>
                  <a:lnTo>
                    <a:pt x="1345" y="2772"/>
                  </a:lnTo>
                  <a:lnTo>
                    <a:pt x="1224" y="2818"/>
                  </a:lnTo>
                  <a:lnTo>
                    <a:pt x="1072" y="2743"/>
                  </a:lnTo>
                  <a:lnTo>
                    <a:pt x="1053" y="2866"/>
                  </a:lnTo>
                  <a:lnTo>
                    <a:pt x="745" y="2968"/>
                  </a:lnTo>
                  <a:lnTo>
                    <a:pt x="757" y="3109"/>
                  </a:lnTo>
                  <a:lnTo>
                    <a:pt x="817" y="3196"/>
                  </a:lnTo>
                  <a:lnTo>
                    <a:pt x="768" y="3268"/>
                  </a:lnTo>
                  <a:lnTo>
                    <a:pt x="738" y="3418"/>
                  </a:lnTo>
                  <a:lnTo>
                    <a:pt x="655" y="3450"/>
                  </a:lnTo>
                  <a:lnTo>
                    <a:pt x="543" y="3448"/>
                  </a:lnTo>
                  <a:lnTo>
                    <a:pt x="488" y="3378"/>
                  </a:lnTo>
                  <a:lnTo>
                    <a:pt x="393" y="3403"/>
                  </a:lnTo>
                  <a:lnTo>
                    <a:pt x="288" y="3228"/>
                  </a:lnTo>
                  <a:lnTo>
                    <a:pt x="248" y="2983"/>
                  </a:lnTo>
                  <a:lnTo>
                    <a:pt x="203" y="2389"/>
                  </a:lnTo>
                  <a:lnTo>
                    <a:pt x="168" y="2239"/>
                  </a:lnTo>
                  <a:lnTo>
                    <a:pt x="173" y="2164"/>
                  </a:lnTo>
                  <a:lnTo>
                    <a:pt x="88" y="2069"/>
                  </a:lnTo>
                  <a:lnTo>
                    <a:pt x="53" y="1774"/>
                  </a:lnTo>
                  <a:lnTo>
                    <a:pt x="38" y="1634"/>
                  </a:lnTo>
                  <a:lnTo>
                    <a:pt x="3" y="1429"/>
                  </a:lnTo>
                  <a:lnTo>
                    <a:pt x="8" y="1109"/>
                  </a:lnTo>
                  <a:lnTo>
                    <a:pt x="0" y="910"/>
                  </a:lnTo>
                  <a:lnTo>
                    <a:pt x="34" y="874"/>
                  </a:lnTo>
                  <a:lnTo>
                    <a:pt x="103" y="893"/>
                  </a:lnTo>
                  <a:lnTo>
                    <a:pt x="120" y="901"/>
                  </a:lnTo>
                  <a:lnTo>
                    <a:pt x="129" y="917"/>
                  </a:lnTo>
                  <a:lnTo>
                    <a:pt x="132" y="941"/>
                  </a:lnTo>
                  <a:lnTo>
                    <a:pt x="124" y="965"/>
                  </a:lnTo>
                  <a:lnTo>
                    <a:pt x="133" y="973"/>
                  </a:lnTo>
                  <a:lnTo>
                    <a:pt x="144" y="968"/>
                  </a:lnTo>
                  <a:lnTo>
                    <a:pt x="153" y="982"/>
                  </a:lnTo>
                  <a:lnTo>
                    <a:pt x="159" y="994"/>
                  </a:lnTo>
                  <a:lnTo>
                    <a:pt x="169" y="1000"/>
                  </a:lnTo>
                  <a:lnTo>
                    <a:pt x="174" y="983"/>
                  </a:lnTo>
                  <a:lnTo>
                    <a:pt x="192" y="988"/>
                  </a:lnTo>
                  <a:lnTo>
                    <a:pt x="208" y="995"/>
                  </a:lnTo>
                  <a:lnTo>
                    <a:pt x="222" y="998"/>
                  </a:lnTo>
                  <a:lnTo>
                    <a:pt x="232" y="1004"/>
                  </a:lnTo>
                  <a:lnTo>
                    <a:pt x="243" y="1012"/>
                  </a:lnTo>
                  <a:lnTo>
                    <a:pt x="253" y="1006"/>
                  </a:lnTo>
                  <a:lnTo>
                    <a:pt x="252" y="994"/>
                  </a:lnTo>
                  <a:lnTo>
                    <a:pt x="264" y="982"/>
                  </a:lnTo>
                  <a:lnTo>
                    <a:pt x="270" y="961"/>
                  </a:lnTo>
                  <a:lnTo>
                    <a:pt x="261" y="949"/>
                  </a:lnTo>
                  <a:lnTo>
                    <a:pt x="246" y="946"/>
                  </a:lnTo>
                  <a:lnTo>
                    <a:pt x="240" y="931"/>
                  </a:lnTo>
                  <a:lnTo>
                    <a:pt x="318" y="938"/>
                  </a:lnTo>
                  <a:lnTo>
                    <a:pt x="398" y="795"/>
                  </a:lnTo>
                  <a:lnTo>
                    <a:pt x="379" y="653"/>
                  </a:lnTo>
                  <a:lnTo>
                    <a:pt x="531" y="750"/>
                  </a:lnTo>
                  <a:lnTo>
                    <a:pt x="652" y="647"/>
                  </a:lnTo>
                  <a:lnTo>
                    <a:pt x="634" y="548"/>
                  </a:lnTo>
                  <a:lnTo>
                    <a:pt x="514" y="455"/>
                  </a:lnTo>
                  <a:lnTo>
                    <a:pt x="668" y="335"/>
                  </a:lnTo>
                  <a:lnTo>
                    <a:pt x="818" y="260"/>
                  </a:lnTo>
                  <a:lnTo>
                    <a:pt x="610" y="212"/>
                  </a:lnTo>
                  <a:lnTo>
                    <a:pt x="608" y="90"/>
                  </a:lnTo>
                  <a:lnTo>
                    <a:pt x="724" y="11"/>
                  </a:lnTo>
                  <a:lnTo>
                    <a:pt x="833" y="15"/>
                  </a:lnTo>
                  <a:lnTo>
                    <a:pt x="933" y="0"/>
                  </a:lnTo>
                  <a:lnTo>
                    <a:pt x="968" y="65"/>
                  </a:lnTo>
                  <a:lnTo>
                    <a:pt x="968" y="165"/>
                  </a:lnTo>
                  <a:lnTo>
                    <a:pt x="1103" y="210"/>
                  </a:lnTo>
                  <a:lnTo>
                    <a:pt x="1208" y="245"/>
                  </a:lnTo>
                  <a:lnTo>
                    <a:pt x="1283" y="335"/>
                  </a:lnTo>
                  <a:lnTo>
                    <a:pt x="1743" y="365"/>
                  </a:lnTo>
                  <a:lnTo>
                    <a:pt x="1758" y="470"/>
                  </a:lnTo>
                  <a:lnTo>
                    <a:pt x="1838" y="540"/>
                  </a:lnTo>
                  <a:lnTo>
                    <a:pt x="1958" y="500"/>
                  </a:lnTo>
                  <a:lnTo>
                    <a:pt x="2048" y="440"/>
                  </a:lnTo>
                  <a:lnTo>
                    <a:pt x="2134" y="215"/>
                  </a:lnTo>
                  <a:lnTo>
                    <a:pt x="2319" y="170"/>
                  </a:lnTo>
                  <a:lnTo>
                    <a:pt x="2514" y="165"/>
                  </a:lnTo>
                  <a:lnTo>
                    <a:pt x="2439" y="305"/>
                  </a:lnTo>
                  <a:lnTo>
                    <a:pt x="2554" y="380"/>
                  </a:lnTo>
                  <a:lnTo>
                    <a:pt x="2709" y="375"/>
                  </a:lnTo>
                  <a:lnTo>
                    <a:pt x="2854" y="270"/>
                  </a:lnTo>
                  <a:lnTo>
                    <a:pt x="3129" y="345"/>
                  </a:lnTo>
                  <a:lnTo>
                    <a:pt x="3259" y="255"/>
                  </a:lnTo>
                  <a:lnTo>
                    <a:pt x="3394" y="225"/>
                  </a:lnTo>
                  <a:lnTo>
                    <a:pt x="3504" y="305"/>
                  </a:lnTo>
                  <a:lnTo>
                    <a:pt x="3624" y="290"/>
                  </a:lnTo>
                  <a:lnTo>
                    <a:pt x="3879" y="270"/>
                  </a:lnTo>
                  <a:lnTo>
                    <a:pt x="3956" y="374"/>
                  </a:lnTo>
                  <a:lnTo>
                    <a:pt x="4067" y="402"/>
                  </a:lnTo>
                  <a:lnTo>
                    <a:pt x="3984" y="500"/>
                  </a:lnTo>
                  <a:lnTo>
                    <a:pt x="3969" y="590"/>
                  </a:lnTo>
                  <a:lnTo>
                    <a:pt x="4044" y="740"/>
                  </a:lnTo>
                  <a:lnTo>
                    <a:pt x="4069" y="959"/>
                  </a:lnTo>
                  <a:lnTo>
                    <a:pt x="3964" y="979"/>
                  </a:lnTo>
                  <a:lnTo>
                    <a:pt x="3934" y="1049"/>
                  </a:lnTo>
                  <a:lnTo>
                    <a:pt x="4029" y="1109"/>
                  </a:lnTo>
                  <a:lnTo>
                    <a:pt x="3994" y="1199"/>
                  </a:lnTo>
                  <a:lnTo>
                    <a:pt x="4209" y="1429"/>
                  </a:lnTo>
                  <a:lnTo>
                    <a:pt x="4174" y="1519"/>
                  </a:lnTo>
                  <a:lnTo>
                    <a:pt x="4119" y="1549"/>
                  </a:lnTo>
                  <a:lnTo>
                    <a:pt x="4054" y="1499"/>
                  </a:lnTo>
                  <a:lnTo>
                    <a:pt x="3954" y="1579"/>
                  </a:lnTo>
                  <a:lnTo>
                    <a:pt x="3894" y="1699"/>
                  </a:lnTo>
                  <a:lnTo>
                    <a:pt x="3920" y="1783"/>
                  </a:lnTo>
                  <a:lnTo>
                    <a:pt x="3853" y="1843"/>
                  </a:lnTo>
                  <a:lnTo>
                    <a:pt x="3729" y="1814"/>
                  </a:lnTo>
                  <a:close/>
                </a:path>
              </a:pathLst>
            </a:custGeom>
            <a:solidFill>
              <a:schemeClr val="accent4">
                <a:lumMod val="60000"/>
                <a:lumOff val="40000"/>
              </a:schemeClr>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85" name="Freeform 7">
              <a:extLst>
                <a:ext uri="{FF2B5EF4-FFF2-40B4-BE49-F238E27FC236}">
                  <a16:creationId xmlns:a16="http://schemas.microsoft.com/office/drawing/2014/main" id="{2B4BE807-DC54-4862-954D-4CE9422F4AFB}"/>
                </a:ext>
              </a:extLst>
            </p:cNvPr>
            <p:cNvSpPr>
              <a:spLocks/>
            </p:cNvSpPr>
            <p:nvPr/>
          </p:nvSpPr>
          <p:spPr bwMode="auto">
            <a:xfrm>
              <a:off x="3045013" y="4616075"/>
              <a:ext cx="736600" cy="1181100"/>
            </a:xfrm>
            <a:custGeom>
              <a:avLst/>
              <a:gdLst>
                <a:gd name="T0" fmla="*/ 0 w 2321"/>
                <a:gd name="T1" fmla="*/ 0 h 3721"/>
                <a:gd name="T2" fmla="*/ 0 w 2321"/>
                <a:gd name="T3" fmla="*/ 0 h 3721"/>
                <a:gd name="T4" fmla="*/ 0 w 2321"/>
                <a:gd name="T5" fmla="*/ 0 h 3721"/>
                <a:gd name="T6" fmla="*/ 0 w 2321"/>
                <a:gd name="T7" fmla="*/ 0 h 3721"/>
                <a:gd name="T8" fmla="*/ 0 w 2321"/>
                <a:gd name="T9" fmla="*/ 0 h 3721"/>
                <a:gd name="T10" fmla="*/ 0 w 2321"/>
                <a:gd name="T11" fmla="*/ 0 h 3721"/>
                <a:gd name="T12" fmla="*/ 0 w 2321"/>
                <a:gd name="T13" fmla="*/ 0 h 3721"/>
                <a:gd name="T14" fmla="*/ 0 w 2321"/>
                <a:gd name="T15" fmla="*/ 0 h 3721"/>
                <a:gd name="T16" fmla="*/ 0 w 2321"/>
                <a:gd name="T17" fmla="*/ 0 h 3721"/>
                <a:gd name="T18" fmla="*/ 0 w 2321"/>
                <a:gd name="T19" fmla="*/ 0 h 3721"/>
                <a:gd name="T20" fmla="*/ 0 w 2321"/>
                <a:gd name="T21" fmla="*/ 0 h 3721"/>
                <a:gd name="T22" fmla="*/ 0 w 2321"/>
                <a:gd name="T23" fmla="*/ 0 h 3721"/>
                <a:gd name="T24" fmla="*/ 0 w 2321"/>
                <a:gd name="T25" fmla="*/ 0 h 3721"/>
                <a:gd name="T26" fmla="*/ 0 w 2321"/>
                <a:gd name="T27" fmla="*/ 0 h 3721"/>
                <a:gd name="T28" fmla="*/ 0 w 2321"/>
                <a:gd name="T29" fmla="*/ 0 h 3721"/>
                <a:gd name="T30" fmla="*/ 0 w 2321"/>
                <a:gd name="T31" fmla="*/ 0 h 3721"/>
                <a:gd name="T32" fmla="*/ 0 w 2321"/>
                <a:gd name="T33" fmla="*/ 0 h 3721"/>
                <a:gd name="T34" fmla="*/ 0 w 2321"/>
                <a:gd name="T35" fmla="*/ 0 h 3721"/>
                <a:gd name="T36" fmla="*/ 0 w 2321"/>
                <a:gd name="T37" fmla="*/ 0 h 3721"/>
                <a:gd name="T38" fmla="*/ 0 w 2321"/>
                <a:gd name="T39" fmla="*/ 0 h 3721"/>
                <a:gd name="T40" fmla="*/ 0 w 2321"/>
                <a:gd name="T41" fmla="*/ 0 h 3721"/>
                <a:gd name="T42" fmla="*/ 0 w 2321"/>
                <a:gd name="T43" fmla="*/ 0 h 3721"/>
                <a:gd name="T44" fmla="*/ 0 w 2321"/>
                <a:gd name="T45" fmla="*/ 0 h 3721"/>
                <a:gd name="T46" fmla="*/ 0 w 2321"/>
                <a:gd name="T47" fmla="*/ 0 h 3721"/>
                <a:gd name="T48" fmla="*/ 0 w 2321"/>
                <a:gd name="T49" fmla="*/ 0 h 3721"/>
                <a:gd name="T50" fmla="*/ 0 w 2321"/>
                <a:gd name="T51" fmla="*/ 0 h 3721"/>
                <a:gd name="T52" fmla="*/ 0 w 2321"/>
                <a:gd name="T53" fmla="*/ 0 h 3721"/>
                <a:gd name="T54" fmla="*/ 0 w 2321"/>
                <a:gd name="T55" fmla="*/ 0 h 3721"/>
                <a:gd name="T56" fmla="*/ 0 w 2321"/>
                <a:gd name="T57" fmla="*/ 0 h 3721"/>
                <a:gd name="T58" fmla="*/ 0 w 2321"/>
                <a:gd name="T59" fmla="*/ 0 h 3721"/>
                <a:gd name="T60" fmla="*/ 0 w 2321"/>
                <a:gd name="T61" fmla="*/ 0 h 3721"/>
                <a:gd name="T62" fmla="*/ 0 w 2321"/>
                <a:gd name="T63" fmla="*/ 0 h 3721"/>
                <a:gd name="T64" fmla="*/ 0 w 2321"/>
                <a:gd name="T65" fmla="*/ 0 h 3721"/>
                <a:gd name="T66" fmla="*/ 0 w 2321"/>
                <a:gd name="T67" fmla="*/ 0 h 3721"/>
                <a:gd name="T68" fmla="*/ 0 w 2321"/>
                <a:gd name="T69" fmla="*/ 0 h 3721"/>
                <a:gd name="T70" fmla="*/ 0 w 2321"/>
                <a:gd name="T71" fmla="*/ 0 h 3721"/>
                <a:gd name="T72" fmla="*/ 0 w 2321"/>
                <a:gd name="T73" fmla="*/ 0 h 3721"/>
                <a:gd name="T74" fmla="*/ 0 w 2321"/>
                <a:gd name="T75" fmla="*/ 0 h 3721"/>
                <a:gd name="T76" fmla="*/ 0 w 2321"/>
                <a:gd name="T77" fmla="*/ 0 h 3721"/>
                <a:gd name="T78" fmla="*/ 0 w 2321"/>
                <a:gd name="T79" fmla="*/ 0 h 3721"/>
                <a:gd name="T80" fmla="*/ 0 w 2321"/>
                <a:gd name="T81" fmla="*/ 0 h 3721"/>
                <a:gd name="T82" fmla="*/ 0 w 2321"/>
                <a:gd name="T83" fmla="*/ 0 h 3721"/>
                <a:gd name="T84" fmla="*/ 0 w 2321"/>
                <a:gd name="T85" fmla="*/ 0 h 3721"/>
                <a:gd name="T86" fmla="*/ 0 w 2321"/>
                <a:gd name="T87" fmla="*/ 0 h 3721"/>
                <a:gd name="T88" fmla="*/ 0 w 2321"/>
                <a:gd name="T89" fmla="*/ 0 h 3721"/>
                <a:gd name="T90" fmla="*/ 0 w 2321"/>
                <a:gd name="T91" fmla="*/ 0 h 3721"/>
                <a:gd name="T92" fmla="*/ 0 w 2321"/>
                <a:gd name="T93" fmla="*/ 0 h 3721"/>
                <a:gd name="T94" fmla="*/ 0 w 2321"/>
                <a:gd name="T95" fmla="*/ 0 h 372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21" h="3721">
                  <a:moveTo>
                    <a:pt x="880" y="3510"/>
                  </a:moveTo>
                  <a:lnTo>
                    <a:pt x="610" y="3325"/>
                  </a:lnTo>
                  <a:lnTo>
                    <a:pt x="479" y="3120"/>
                  </a:lnTo>
                  <a:lnTo>
                    <a:pt x="339" y="3070"/>
                  </a:lnTo>
                  <a:lnTo>
                    <a:pt x="239" y="2740"/>
                  </a:lnTo>
                  <a:lnTo>
                    <a:pt x="269" y="2625"/>
                  </a:lnTo>
                  <a:lnTo>
                    <a:pt x="249" y="2515"/>
                  </a:lnTo>
                  <a:lnTo>
                    <a:pt x="104" y="2100"/>
                  </a:lnTo>
                  <a:lnTo>
                    <a:pt x="0" y="1888"/>
                  </a:lnTo>
                  <a:lnTo>
                    <a:pt x="59" y="1770"/>
                  </a:lnTo>
                  <a:lnTo>
                    <a:pt x="69" y="1635"/>
                  </a:lnTo>
                  <a:lnTo>
                    <a:pt x="15" y="1437"/>
                  </a:lnTo>
                  <a:lnTo>
                    <a:pt x="99" y="1405"/>
                  </a:lnTo>
                  <a:lnTo>
                    <a:pt x="129" y="1255"/>
                  </a:lnTo>
                  <a:lnTo>
                    <a:pt x="179" y="1185"/>
                  </a:lnTo>
                  <a:lnTo>
                    <a:pt x="119" y="1095"/>
                  </a:lnTo>
                  <a:lnTo>
                    <a:pt x="104" y="955"/>
                  </a:lnTo>
                  <a:lnTo>
                    <a:pt x="415" y="852"/>
                  </a:lnTo>
                  <a:lnTo>
                    <a:pt x="434" y="730"/>
                  </a:lnTo>
                  <a:lnTo>
                    <a:pt x="585" y="805"/>
                  </a:lnTo>
                  <a:lnTo>
                    <a:pt x="705" y="760"/>
                  </a:lnTo>
                  <a:lnTo>
                    <a:pt x="850" y="775"/>
                  </a:lnTo>
                  <a:lnTo>
                    <a:pt x="805" y="640"/>
                  </a:lnTo>
                  <a:lnTo>
                    <a:pt x="805" y="495"/>
                  </a:lnTo>
                  <a:lnTo>
                    <a:pt x="960" y="565"/>
                  </a:lnTo>
                  <a:lnTo>
                    <a:pt x="1075" y="555"/>
                  </a:lnTo>
                  <a:lnTo>
                    <a:pt x="1185" y="540"/>
                  </a:lnTo>
                  <a:lnTo>
                    <a:pt x="1170" y="445"/>
                  </a:lnTo>
                  <a:lnTo>
                    <a:pt x="1285" y="360"/>
                  </a:lnTo>
                  <a:lnTo>
                    <a:pt x="1375" y="375"/>
                  </a:lnTo>
                  <a:lnTo>
                    <a:pt x="1405" y="285"/>
                  </a:lnTo>
                  <a:lnTo>
                    <a:pt x="1500" y="220"/>
                  </a:lnTo>
                  <a:lnTo>
                    <a:pt x="1485" y="120"/>
                  </a:lnTo>
                  <a:lnTo>
                    <a:pt x="1630" y="115"/>
                  </a:lnTo>
                  <a:lnTo>
                    <a:pt x="1665" y="0"/>
                  </a:lnTo>
                  <a:lnTo>
                    <a:pt x="1841" y="60"/>
                  </a:lnTo>
                  <a:lnTo>
                    <a:pt x="1831" y="195"/>
                  </a:lnTo>
                  <a:lnTo>
                    <a:pt x="1901" y="270"/>
                  </a:lnTo>
                  <a:lnTo>
                    <a:pt x="1811" y="345"/>
                  </a:lnTo>
                  <a:lnTo>
                    <a:pt x="1766" y="445"/>
                  </a:lnTo>
                  <a:lnTo>
                    <a:pt x="1856" y="495"/>
                  </a:lnTo>
                  <a:lnTo>
                    <a:pt x="1756" y="625"/>
                  </a:lnTo>
                  <a:lnTo>
                    <a:pt x="1725" y="675"/>
                  </a:lnTo>
                  <a:lnTo>
                    <a:pt x="1796" y="750"/>
                  </a:lnTo>
                  <a:lnTo>
                    <a:pt x="1771" y="865"/>
                  </a:lnTo>
                  <a:lnTo>
                    <a:pt x="1781" y="1030"/>
                  </a:lnTo>
                  <a:lnTo>
                    <a:pt x="1695" y="1110"/>
                  </a:lnTo>
                  <a:lnTo>
                    <a:pt x="1841" y="1150"/>
                  </a:lnTo>
                  <a:lnTo>
                    <a:pt x="1771" y="1230"/>
                  </a:lnTo>
                  <a:lnTo>
                    <a:pt x="1781" y="1315"/>
                  </a:lnTo>
                  <a:lnTo>
                    <a:pt x="1605" y="1320"/>
                  </a:lnTo>
                  <a:lnTo>
                    <a:pt x="1530" y="1395"/>
                  </a:lnTo>
                  <a:lnTo>
                    <a:pt x="1525" y="1530"/>
                  </a:lnTo>
                  <a:lnTo>
                    <a:pt x="1540" y="1630"/>
                  </a:lnTo>
                  <a:lnTo>
                    <a:pt x="1585" y="1740"/>
                  </a:lnTo>
                  <a:lnTo>
                    <a:pt x="1555" y="1860"/>
                  </a:lnTo>
                  <a:lnTo>
                    <a:pt x="1440" y="1860"/>
                  </a:lnTo>
                  <a:lnTo>
                    <a:pt x="1395" y="1950"/>
                  </a:lnTo>
                  <a:lnTo>
                    <a:pt x="1360" y="2080"/>
                  </a:lnTo>
                  <a:lnTo>
                    <a:pt x="1470" y="2175"/>
                  </a:lnTo>
                  <a:lnTo>
                    <a:pt x="1455" y="2265"/>
                  </a:lnTo>
                  <a:lnTo>
                    <a:pt x="1495" y="2325"/>
                  </a:lnTo>
                  <a:lnTo>
                    <a:pt x="1575" y="2215"/>
                  </a:lnTo>
                  <a:lnTo>
                    <a:pt x="1720" y="2250"/>
                  </a:lnTo>
                  <a:lnTo>
                    <a:pt x="1735" y="2340"/>
                  </a:lnTo>
                  <a:lnTo>
                    <a:pt x="1605" y="2400"/>
                  </a:lnTo>
                  <a:lnTo>
                    <a:pt x="1480" y="2365"/>
                  </a:lnTo>
                  <a:lnTo>
                    <a:pt x="1495" y="2455"/>
                  </a:lnTo>
                  <a:lnTo>
                    <a:pt x="1455" y="2530"/>
                  </a:lnTo>
                  <a:lnTo>
                    <a:pt x="1540" y="2545"/>
                  </a:lnTo>
                  <a:lnTo>
                    <a:pt x="1575" y="2500"/>
                  </a:lnTo>
                  <a:lnTo>
                    <a:pt x="1695" y="2485"/>
                  </a:lnTo>
                  <a:lnTo>
                    <a:pt x="1695" y="2560"/>
                  </a:lnTo>
                  <a:lnTo>
                    <a:pt x="1901" y="2530"/>
                  </a:lnTo>
                  <a:lnTo>
                    <a:pt x="1946" y="2460"/>
                  </a:lnTo>
                  <a:lnTo>
                    <a:pt x="2041" y="2475"/>
                  </a:lnTo>
                  <a:lnTo>
                    <a:pt x="2066" y="2590"/>
                  </a:lnTo>
                  <a:lnTo>
                    <a:pt x="2146" y="2655"/>
                  </a:lnTo>
                  <a:lnTo>
                    <a:pt x="2236" y="2665"/>
                  </a:lnTo>
                  <a:lnTo>
                    <a:pt x="2236" y="2785"/>
                  </a:lnTo>
                  <a:lnTo>
                    <a:pt x="2321" y="2815"/>
                  </a:lnTo>
                  <a:lnTo>
                    <a:pt x="2311" y="2910"/>
                  </a:lnTo>
                  <a:lnTo>
                    <a:pt x="2246" y="3000"/>
                  </a:lnTo>
                  <a:lnTo>
                    <a:pt x="2146" y="3075"/>
                  </a:lnTo>
                  <a:lnTo>
                    <a:pt x="1998" y="3060"/>
                  </a:lnTo>
                  <a:lnTo>
                    <a:pt x="1906" y="3015"/>
                  </a:lnTo>
                  <a:lnTo>
                    <a:pt x="1875" y="3120"/>
                  </a:lnTo>
                  <a:lnTo>
                    <a:pt x="1770" y="3207"/>
                  </a:lnTo>
                  <a:lnTo>
                    <a:pt x="1802" y="3310"/>
                  </a:lnTo>
                  <a:lnTo>
                    <a:pt x="1735" y="3390"/>
                  </a:lnTo>
                  <a:lnTo>
                    <a:pt x="1946" y="3460"/>
                  </a:lnTo>
                  <a:lnTo>
                    <a:pt x="1682" y="3630"/>
                  </a:lnTo>
                  <a:lnTo>
                    <a:pt x="1440" y="3625"/>
                  </a:lnTo>
                  <a:lnTo>
                    <a:pt x="1316" y="3721"/>
                  </a:lnTo>
                  <a:lnTo>
                    <a:pt x="1148" y="3691"/>
                  </a:lnTo>
                  <a:lnTo>
                    <a:pt x="990" y="3540"/>
                  </a:lnTo>
                  <a:lnTo>
                    <a:pt x="880" y="351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86" name="Freeform 9">
              <a:extLst>
                <a:ext uri="{FF2B5EF4-FFF2-40B4-BE49-F238E27FC236}">
                  <a16:creationId xmlns:a16="http://schemas.microsoft.com/office/drawing/2014/main" id="{5C7265EF-D44F-4FC5-A096-3EA9532A1577}"/>
                </a:ext>
              </a:extLst>
            </p:cNvPr>
            <p:cNvSpPr>
              <a:spLocks/>
            </p:cNvSpPr>
            <p:nvPr/>
          </p:nvSpPr>
          <p:spPr bwMode="auto">
            <a:xfrm>
              <a:off x="3056125" y="3161925"/>
              <a:ext cx="1420813" cy="985838"/>
            </a:xfrm>
            <a:custGeom>
              <a:avLst/>
              <a:gdLst>
                <a:gd name="T0" fmla="*/ 0 w 4473"/>
                <a:gd name="T1" fmla="*/ 0 h 3106"/>
                <a:gd name="T2" fmla="*/ 0 w 4473"/>
                <a:gd name="T3" fmla="*/ 0 h 3106"/>
                <a:gd name="T4" fmla="*/ 0 w 4473"/>
                <a:gd name="T5" fmla="*/ 0 h 3106"/>
                <a:gd name="T6" fmla="*/ 0 w 4473"/>
                <a:gd name="T7" fmla="*/ 0 h 3106"/>
                <a:gd name="T8" fmla="*/ 0 w 4473"/>
                <a:gd name="T9" fmla="*/ 0 h 3106"/>
                <a:gd name="T10" fmla="*/ 0 w 4473"/>
                <a:gd name="T11" fmla="*/ 0 h 3106"/>
                <a:gd name="T12" fmla="*/ 0 w 4473"/>
                <a:gd name="T13" fmla="*/ 0 h 3106"/>
                <a:gd name="T14" fmla="*/ 0 w 4473"/>
                <a:gd name="T15" fmla="*/ 0 h 3106"/>
                <a:gd name="T16" fmla="*/ 0 w 4473"/>
                <a:gd name="T17" fmla="*/ 0 h 3106"/>
                <a:gd name="T18" fmla="*/ 0 w 4473"/>
                <a:gd name="T19" fmla="*/ 0 h 3106"/>
                <a:gd name="T20" fmla="*/ 0 w 4473"/>
                <a:gd name="T21" fmla="*/ 0 h 3106"/>
                <a:gd name="T22" fmla="*/ 0 w 4473"/>
                <a:gd name="T23" fmla="*/ 0 h 3106"/>
                <a:gd name="T24" fmla="*/ 0 w 4473"/>
                <a:gd name="T25" fmla="*/ 0 h 3106"/>
                <a:gd name="T26" fmla="*/ 0 w 4473"/>
                <a:gd name="T27" fmla="*/ 0 h 3106"/>
                <a:gd name="T28" fmla="*/ 0 w 4473"/>
                <a:gd name="T29" fmla="*/ 0 h 3106"/>
                <a:gd name="T30" fmla="*/ 0 w 4473"/>
                <a:gd name="T31" fmla="*/ 0 h 3106"/>
                <a:gd name="T32" fmla="*/ 0 w 4473"/>
                <a:gd name="T33" fmla="*/ 0 h 3106"/>
                <a:gd name="T34" fmla="*/ 0 w 4473"/>
                <a:gd name="T35" fmla="*/ 0 h 3106"/>
                <a:gd name="T36" fmla="*/ 0 w 4473"/>
                <a:gd name="T37" fmla="*/ 0 h 3106"/>
                <a:gd name="T38" fmla="*/ 0 w 4473"/>
                <a:gd name="T39" fmla="*/ 0 h 3106"/>
                <a:gd name="T40" fmla="*/ 0 w 4473"/>
                <a:gd name="T41" fmla="*/ 0 h 3106"/>
                <a:gd name="T42" fmla="*/ 0 w 4473"/>
                <a:gd name="T43" fmla="*/ 0 h 3106"/>
                <a:gd name="T44" fmla="*/ 0 w 4473"/>
                <a:gd name="T45" fmla="*/ 0 h 3106"/>
                <a:gd name="T46" fmla="*/ 0 w 4473"/>
                <a:gd name="T47" fmla="*/ 0 h 3106"/>
                <a:gd name="T48" fmla="*/ 0 w 4473"/>
                <a:gd name="T49" fmla="*/ 0 h 3106"/>
                <a:gd name="T50" fmla="*/ 0 w 4473"/>
                <a:gd name="T51" fmla="*/ 0 h 3106"/>
                <a:gd name="T52" fmla="*/ 0 w 4473"/>
                <a:gd name="T53" fmla="*/ 0 h 3106"/>
                <a:gd name="T54" fmla="*/ 0 w 4473"/>
                <a:gd name="T55" fmla="*/ 0 h 3106"/>
                <a:gd name="T56" fmla="*/ 0 w 4473"/>
                <a:gd name="T57" fmla="*/ 0 h 3106"/>
                <a:gd name="T58" fmla="*/ 0 w 4473"/>
                <a:gd name="T59" fmla="*/ 0 h 3106"/>
                <a:gd name="T60" fmla="*/ 0 w 4473"/>
                <a:gd name="T61" fmla="*/ 0 h 3106"/>
                <a:gd name="T62" fmla="*/ 0 w 4473"/>
                <a:gd name="T63" fmla="*/ 0 h 3106"/>
                <a:gd name="T64" fmla="*/ 0 w 4473"/>
                <a:gd name="T65" fmla="*/ 0 h 3106"/>
                <a:gd name="T66" fmla="*/ 0 w 4473"/>
                <a:gd name="T67" fmla="*/ 0 h 3106"/>
                <a:gd name="T68" fmla="*/ 0 w 4473"/>
                <a:gd name="T69" fmla="*/ 0 h 3106"/>
                <a:gd name="T70" fmla="*/ 0 w 4473"/>
                <a:gd name="T71" fmla="*/ 0 h 3106"/>
                <a:gd name="T72" fmla="*/ 0 w 4473"/>
                <a:gd name="T73" fmla="*/ 0 h 3106"/>
                <a:gd name="T74" fmla="*/ 0 w 4473"/>
                <a:gd name="T75" fmla="*/ 0 h 3106"/>
                <a:gd name="T76" fmla="*/ 0 w 4473"/>
                <a:gd name="T77" fmla="*/ 0 h 3106"/>
                <a:gd name="T78" fmla="*/ 0 w 4473"/>
                <a:gd name="T79" fmla="*/ 0 h 3106"/>
                <a:gd name="T80" fmla="*/ 0 w 4473"/>
                <a:gd name="T81" fmla="*/ 0 h 3106"/>
                <a:gd name="T82" fmla="*/ 0 w 4473"/>
                <a:gd name="T83" fmla="*/ 0 h 3106"/>
                <a:gd name="T84" fmla="*/ 0 w 4473"/>
                <a:gd name="T85" fmla="*/ 0 h 3106"/>
                <a:gd name="T86" fmla="*/ 0 w 4473"/>
                <a:gd name="T87" fmla="*/ 0 h 3106"/>
                <a:gd name="T88" fmla="*/ 0 w 4473"/>
                <a:gd name="T89" fmla="*/ 0 h 3106"/>
                <a:gd name="T90" fmla="*/ 0 w 4473"/>
                <a:gd name="T91" fmla="*/ 0 h 3106"/>
                <a:gd name="T92" fmla="*/ 0 w 4473"/>
                <a:gd name="T93" fmla="*/ 0 h 3106"/>
                <a:gd name="T94" fmla="*/ 0 w 4473"/>
                <a:gd name="T95" fmla="*/ 0 h 3106"/>
                <a:gd name="T96" fmla="*/ 0 w 4473"/>
                <a:gd name="T97" fmla="*/ 0 h 3106"/>
                <a:gd name="T98" fmla="*/ 0 w 4473"/>
                <a:gd name="T99" fmla="*/ 0 h 310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473" h="3106">
                  <a:moveTo>
                    <a:pt x="2177" y="0"/>
                  </a:moveTo>
                  <a:lnTo>
                    <a:pt x="2121" y="101"/>
                  </a:lnTo>
                  <a:lnTo>
                    <a:pt x="1997" y="90"/>
                  </a:lnTo>
                  <a:lnTo>
                    <a:pt x="1882" y="225"/>
                  </a:lnTo>
                  <a:lnTo>
                    <a:pt x="1732" y="230"/>
                  </a:lnTo>
                  <a:lnTo>
                    <a:pt x="1566" y="361"/>
                  </a:lnTo>
                  <a:lnTo>
                    <a:pt x="1493" y="466"/>
                  </a:lnTo>
                  <a:lnTo>
                    <a:pt x="1352" y="525"/>
                  </a:lnTo>
                  <a:lnTo>
                    <a:pt x="1353" y="667"/>
                  </a:lnTo>
                  <a:lnTo>
                    <a:pt x="1442" y="811"/>
                  </a:lnTo>
                  <a:lnTo>
                    <a:pt x="1598" y="826"/>
                  </a:lnTo>
                  <a:lnTo>
                    <a:pt x="1757" y="756"/>
                  </a:lnTo>
                  <a:lnTo>
                    <a:pt x="1777" y="920"/>
                  </a:lnTo>
                  <a:lnTo>
                    <a:pt x="1548" y="951"/>
                  </a:lnTo>
                  <a:lnTo>
                    <a:pt x="1479" y="1006"/>
                  </a:lnTo>
                  <a:lnTo>
                    <a:pt x="1520" y="1050"/>
                  </a:lnTo>
                  <a:lnTo>
                    <a:pt x="1478" y="1087"/>
                  </a:lnTo>
                  <a:lnTo>
                    <a:pt x="1584" y="1147"/>
                  </a:lnTo>
                  <a:lnTo>
                    <a:pt x="1625" y="1251"/>
                  </a:lnTo>
                  <a:lnTo>
                    <a:pt x="1554" y="1266"/>
                  </a:lnTo>
                  <a:lnTo>
                    <a:pt x="1473" y="1251"/>
                  </a:lnTo>
                  <a:lnTo>
                    <a:pt x="1493" y="1365"/>
                  </a:lnTo>
                  <a:lnTo>
                    <a:pt x="1563" y="1428"/>
                  </a:lnTo>
                  <a:lnTo>
                    <a:pt x="1506" y="1471"/>
                  </a:lnTo>
                  <a:lnTo>
                    <a:pt x="1445" y="1444"/>
                  </a:lnTo>
                  <a:lnTo>
                    <a:pt x="1397" y="1366"/>
                  </a:lnTo>
                  <a:lnTo>
                    <a:pt x="1323" y="1416"/>
                  </a:lnTo>
                  <a:lnTo>
                    <a:pt x="1161" y="1366"/>
                  </a:lnTo>
                  <a:lnTo>
                    <a:pt x="1071" y="1447"/>
                  </a:lnTo>
                  <a:lnTo>
                    <a:pt x="1037" y="1563"/>
                  </a:lnTo>
                  <a:lnTo>
                    <a:pt x="906" y="1641"/>
                  </a:lnTo>
                  <a:lnTo>
                    <a:pt x="798" y="1560"/>
                  </a:lnTo>
                  <a:lnTo>
                    <a:pt x="831" y="1503"/>
                  </a:lnTo>
                  <a:lnTo>
                    <a:pt x="951" y="1477"/>
                  </a:lnTo>
                  <a:lnTo>
                    <a:pt x="947" y="1390"/>
                  </a:lnTo>
                  <a:lnTo>
                    <a:pt x="924" y="1296"/>
                  </a:lnTo>
                  <a:lnTo>
                    <a:pt x="1027" y="1265"/>
                  </a:lnTo>
                  <a:lnTo>
                    <a:pt x="999" y="1158"/>
                  </a:lnTo>
                  <a:lnTo>
                    <a:pt x="924" y="1101"/>
                  </a:lnTo>
                  <a:lnTo>
                    <a:pt x="803" y="1141"/>
                  </a:lnTo>
                  <a:lnTo>
                    <a:pt x="697" y="1100"/>
                  </a:lnTo>
                  <a:lnTo>
                    <a:pt x="768" y="976"/>
                  </a:lnTo>
                  <a:lnTo>
                    <a:pt x="668" y="960"/>
                  </a:lnTo>
                  <a:lnTo>
                    <a:pt x="618" y="1042"/>
                  </a:lnTo>
                  <a:lnTo>
                    <a:pt x="512" y="1006"/>
                  </a:lnTo>
                  <a:lnTo>
                    <a:pt x="472" y="1220"/>
                  </a:lnTo>
                  <a:lnTo>
                    <a:pt x="512" y="1275"/>
                  </a:lnTo>
                  <a:lnTo>
                    <a:pt x="452" y="1335"/>
                  </a:lnTo>
                  <a:lnTo>
                    <a:pt x="527" y="1370"/>
                  </a:lnTo>
                  <a:lnTo>
                    <a:pt x="572" y="1475"/>
                  </a:lnTo>
                  <a:lnTo>
                    <a:pt x="518" y="1567"/>
                  </a:lnTo>
                  <a:lnTo>
                    <a:pt x="542" y="1686"/>
                  </a:lnTo>
                  <a:lnTo>
                    <a:pt x="352" y="1791"/>
                  </a:lnTo>
                  <a:lnTo>
                    <a:pt x="322" y="1861"/>
                  </a:lnTo>
                  <a:lnTo>
                    <a:pt x="442" y="1926"/>
                  </a:lnTo>
                  <a:lnTo>
                    <a:pt x="332" y="1971"/>
                  </a:lnTo>
                  <a:lnTo>
                    <a:pt x="217" y="1971"/>
                  </a:lnTo>
                  <a:lnTo>
                    <a:pt x="156" y="2036"/>
                  </a:lnTo>
                  <a:lnTo>
                    <a:pt x="234" y="2084"/>
                  </a:lnTo>
                  <a:lnTo>
                    <a:pt x="204" y="2168"/>
                  </a:lnTo>
                  <a:lnTo>
                    <a:pt x="6" y="2270"/>
                  </a:lnTo>
                  <a:lnTo>
                    <a:pt x="42" y="2315"/>
                  </a:lnTo>
                  <a:lnTo>
                    <a:pt x="125" y="2334"/>
                  </a:lnTo>
                  <a:lnTo>
                    <a:pt x="98" y="2384"/>
                  </a:lnTo>
                  <a:lnTo>
                    <a:pt x="23" y="2373"/>
                  </a:lnTo>
                  <a:lnTo>
                    <a:pt x="0" y="2424"/>
                  </a:lnTo>
                  <a:lnTo>
                    <a:pt x="38" y="2498"/>
                  </a:lnTo>
                  <a:lnTo>
                    <a:pt x="47" y="2578"/>
                  </a:lnTo>
                  <a:lnTo>
                    <a:pt x="162" y="2581"/>
                  </a:lnTo>
                  <a:lnTo>
                    <a:pt x="255" y="2566"/>
                  </a:lnTo>
                  <a:lnTo>
                    <a:pt x="291" y="2628"/>
                  </a:lnTo>
                  <a:lnTo>
                    <a:pt x="293" y="2731"/>
                  </a:lnTo>
                  <a:lnTo>
                    <a:pt x="530" y="2809"/>
                  </a:lnTo>
                  <a:lnTo>
                    <a:pt x="608" y="2901"/>
                  </a:lnTo>
                  <a:lnTo>
                    <a:pt x="1067" y="2932"/>
                  </a:lnTo>
                  <a:lnTo>
                    <a:pt x="1082" y="3037"/>
                  </a:lnTo>
                  <a:lnTo>
                    <a:pt x="1162" y="3106"/>
                  </a:lnTo>
                  <a:lnTo>
                    <a:pt x="1292" y="3061"/>
                  </a:lnTo>
                  <a:lnTo>
                    <a:pt x="1371" y="3007"/>
                  </a:lnTo>
                  <a:lnTo>
                    <a:pt x="1457" y="2779"/>
                  </a:lnTo>
                  <a:lnTo>
                    <a:pt x="1642" y="2736"/>
                  </a:lnTo>
                  <a:lnTo>
                    <a:pt x="1835" y="2731"/>
                  </a:lnTo>
                  <a:lnTo>
                    <a:pt x="1762" y="2871"/>
                  </a:lnTo>
                  <a:lnTo>
                    <a:pt x="1878" y="2946"/>
                  </a:lnTo>
                  <a:lnTo>
                    <a:pt x="2028" y="2943"/>
                  </a:lnTo>
                  <a:lnTo>
                    <a:pt x="2178" y="2835"/>
                  </a:lnTo>
                  <a:lnTo>
                    <a:pt x="2452" y="2910"/>
                  </a:lnTo>
                  <a:lnTo>
                    <a:pt x="2584" y="2820"/>
                  </a:lnTo>
                  <a:lnTo>
                    <a:pt x="2721" y="2791"/>
                  </a:lnTo>
                  <a:lnTo>
                    <a:pt x="2827" y="2869"/>
                  </a:lnTo>
                  <a:lnTo>
                    <a:pt x="2956" y="2856"/>
                  </a:lnTo>
                  <a:lnTo>
                    <a:pt x="3203" y="2836"/>
                  </a:lnTo>
                  <a:lnTo>
                    <a:pt x="3278" y="2941"/>
                  </a:lnTo>
                  <a:lnTo>
                    <a:pt x="3393" y="2968"/>
                  </a:lnTo>
                  <a:lnTo>
                    <a:pt x="3498" y="2781"/>
                  </a:lnTo>
                  <a:lnTo>
                    <a:pt x="3528" y="2566"/>
                  </a:lnTo>
                  <a:lnTo>
                    <a:pt x="3663" y="2346"/>
                  </a:lnTo>
                  <a:lnTo>
                    <a:pt x="3768" y="2361"/>
                  </a:lnTo>
                  <a:lnTo>
                    <a:pt x="3903" y="2281"/>
                  </a:lnTo>
                  <a:lnTo>
                    <a:pt x="4038" y="2061"/>
                  </a:lnTo>
                  <a:lnTo>
                    <a:pt x="4161" y="1942"/>
                  </a:lnTo>
                  <a:lnTo>
                    <a:pt x="4083" y="1851"/>
                  </a:lnTo>
                  <a:lnTo>
                    <a:pt x="3948" y="1786"/>
                  </a:lnTo>
                  <a:lnTo>
                    <a:pt x="3874" y="1791"/>
                  </a:lnTo>
                  <a:lnTo>
                    <a:pt x="3903" y="1696"/>
                  </a:lnTo>
                  <a:lnTo>
                    <a:pt x="3880" y="1605"/>
                  </a:lnTo>
                  <a:lnTo>
                    <a:pt x="4042" y="1620"/>
                  </a:lnTo>
                  <a:lnTo>
                    <a:pt x="4186" y="1605"/>
                  </a:lnTo>
                  <a:lnTo>
                    <a:pt x="4313" y="1636"/>
                  </a:lnTo>
                  <a:lnTo>
                    <a:pt x="4473" y="1550"/>
                  </a:lnTo>
                  <a:lnTo>
                    <a:pt x="4398" y="1455"/>
                  </a:lnTo>
                  <a:lnTo>
                    <a:pt x="4443" y="1335"/>
                  </a:lnTo>
                  <a:lnTo>
                    <a:pt x="4403" y="1295"/>
                  </a:lnTo>
                  <a:lnTo>
                    <a:pt x="4448" y="1215"/>
                  </a:lnTo>
                  <a:lnTo>
                    <a:pt x="4398" y="1140"/>
                  </a:lnTo>
                  <a:lnTo>
                    <a:pt x="4238" y="1205"/>
                  </a:lnTo>
                  <a:lnTo>
                    <a:pt x="4053" y="1020"/>
                  </a:lnTo>
                  <a:lnTo>
                    <a:pt x="3908" y="975"/>
                  </a:lnTo>
                  <a:lnTo>
                    <a:pt x="3843" y="875"/>
                  </a:lnTo>
                  <a:lnTo>
                    <a:pt x="3728" y="890"/>
                  </a:lnTo>
                  <a:lnTo>
                    <a:pt x="3653" y="1025"/>
                  </a:lnTo>
                  <a:lnTo>
                    <a:pt x="3513" y="1025"/>
                  </a:lnTo>
                  <a:lnTo>
                    <a:pt x="3503" y="885"/>
                  </a:lnTo>
                  <a:lnTo>
                    <a:pt x="3323" y="975"/>
                  </a:lnTo>
                  <a:lnTo>
                    <a:pt x="3233" y="950"/>
                  </a:lnTo>
                  <a:lnTo>
                    <a:pt x="3263" y="855"/>
                  </a:lnTo>
                  <a:lnTo>
                    <a:pt x="3213" y="765"/>
                  </a:lnTo>
                  <a:lnTo>
                    <a:pt x="3068" y="825"/>
                  </a:lnTo>
                  <a:lnTo>
                    <a:pt x="3003" y="905"/>
                  </a:lnTo>
                  <a:lnTo>
                    <a:pt x="2793" y="950"/>
                  </a:lnTo>
                  <a:lnTo>
                    <a:pt x="2808" y="830"/>
                  </a:lnTo>
                  <a:lnTo>
                    <a:pt x="2678" y="915"/>
                  </a:lnTo>
                  <a:lnTo>
                    <a:pt x="2538" y="825"/>
                  </a:lnTo>
                  <a:lnTo>
                    <a:pt x="2508" y="720"/>
                  </a:lnTo>
                  <a:lnTo>
                    <a:pt x="2393" y="740"/>
                  </a:lnTo>
                  <a:lnTo>
                    <a:pt x="2333" y="825"/>
                  </a:lnTo>
                  <a:lnTo>
                    <a:pt x="2422" y="970"/>
                  </a:lnTo>
                  <a:lnTo>
                    <a:pt x="2448" y="1095"/>
                  </a:lnTo>
                  <a:lnTo>
                    <a:pt x="2453" y="1205"/>
                  </a:lnTo>
                  <a:lnTo>
                    <a:pt x="2558" y="1230"/>
                  </a:lnTo>
                  <a:lnTo>
                    <a:pt x="2544" y="1381"/>
                  </a:lnTo>
                  <a:lnTo>
                    <a:pt x="2433" y="1410"/>
                  </a:lnTo>
                  <a:lnTo>
                    <a:pt x="2348" y="1325"/>
                  </a:lnTo>
                  <a:lnTo>
                    <a:pt x="2257" y="1350"/>
                  </a:lnTo>
                  <a:lnTo>
                    <a:pt x="2192" y="1230"/>
                  </a:lnTo>
                  <a:lnTo>
                    <a:pt x="2167" y="1050"/>
                  </a:lnTo>
                  <a:lnTo>
                    <a:pt x="2222" y="930"/>
                  </a:lnTo>
                  <a:lnTo>
                    <a:pt x="2212" y="755"/>
                  </a:lnTo>
                  <a:lnTo>
                    <a:pt x="2288" y="650"/>
                  </a:lnTo>
                  <a:lnTo>
                    <a:pt x="2423" y="675"/>
                  </a:lnTo>
                  <a:lnTo>
                    <a:pt x="2498" y="560"/>
                  </a:lnTo>
                  <a:lnTo>
                    <a:pt x="2558" y="425"/>
                  </a:lnTo>
                  <a:lnTo>
                    <a:pt x="2618" y="315"/>
                  </a:lnTo>
                  <a:lnTo>
                    <a:pt x="2603" y="170"/>
                  </a:lnTo>
                  <a:lnTo>
                    <a:pt x="2543" y="50"/>
                  </a:lnTo>
                  <a:lnTo>
                    <a:pt x="2363" y="0"/>
                  </a:lnTo>
                  <a:lnTo>
                    <a:pt x="2177" y="0"/>
                  </a:lnTo>
                  <a:close/>
                </a:path>
              </a:pathLst>
            </a:custGeom>
            <a:solidFill>
              <a:schemeClr val="accent4">
                <a:lumMod val="60000"/>
                <a:lumOff val="40000"/>
              </a:schemeClr>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87" name="Freeform 10">
              <a:extLst>
                <a:ext uri="{FF2B5EF4-FFF2-40B4-BE49-F238E27FC236}">
                  <a16:creationId xmlns:a16="http://schemas.microsoft.com/office/drawing/2014/main" id="{4AF67191-5FAF-428F-B67E-15FCB04A3716}"/>
                </a:ext>
              </a:extLst>
            </p:cNvPr>
            <p:cNvSpPr>
              <a:spLocks/>
            </p:cNvSpPr>
            <p:nvPr/>
          </p:nvSpPr>
          <p:spPr bwMode="auto">
            <a:xfrm>
              <a:off x="3583175" y="2547563"/>
              <a:ext cx="1165225" cy="1120775"/>
            </a:xfrm>
            <a:custGeom>
              <a:avLst/>
              <a:gdLst>
                <a:gd name="T0" fmla="*/ 0 w 3670"/>
                <a:gd name="T1" fmla="*/ 0 h 3530"/>
                <a:gd name="T2" fmla="*/ 0 w 3670"/>
                <a:gd name="T3" fmla="*/ 0 h 3530"/>
                <a:gd name="T4" fmla="*/ 0 w 3670"/>
                <a:gd name="T5" fmla="*/ 0 h 3530"/>
                <a:gd name="T6" fmla="*/ 0 w 3670"/>
                <a:gd name="T7" fmla="*/ 0 h 3530"/>
                <a:gd name="T8" fmla="*/ 0 w 3670"/>
                <a:gd name="T9" fmla="*/ 0 h 3530"/>
                <a:gd name="T10" fmla="*/ 0 w 3670"/>
                <a:gd name="T11" fmla="*/ 0 h 3530"/>
                <a:gd name="T12" fmla="*/ 0 w 3670"/>
                <a:gd name="T13" fmla="*/ 0 h 3530"/>
                <a:gd name="T14" fmla="*/ 0 w 3670"/>
                <a:gd name="T15" fmla="*/ 0 h 3530"/>
                <a:gd name="T16" fmla="*/ 0 w 3670"/>
                <a:gd name="T17" fmla="*/ 0 h 3530"/>
                <a:gd name="T18" fmla="*/ 0 w 3670"/>
                <a:gd name="T19" fmla="*/ 0 h 3530"/>
                <a:gd name="T20" fmla="*/ 0 w 3670"/>
                <a:gd name="T21" fmla="*/ 0 h 3530"/>
                <a:gd name="T22" fmla="*/ 0 w 3670"/>
                <a:gd name="T23" fmla="*/ 0 h 3530"/>
                <a:gd name="T24" fmla="*/ 0 w 3670"/>
                <a:gd name="T25" fmla="*/ 0 h 3530"/>
                <a:gd name="T26" fmla="*/ 0 w 3670"/>
                <a:gd name="T27" fmla="*/ 0 h 3530"/>
                <a:gd name="T28" fmla="*/ 0 w 3670"/>
                <a:gd name="T29" fmla="*/ 0 h 3530"/>
                <a:gd name="T30" fmla="*/ 0 w 3670"/>
                <a:gd name="T31" fmla="*/ 0 h 3530"/>
                <a:gd name="T32" fmla="*/ 0 w 3670"/>
                <a:gd name="T33" fmla="*/ 0 h 3530"/>
                <a:gd name="T34" fmla="*/ 0 w 3670"/>
                <a:gd name="T35" fmla="*/ 0 h 3530"/>
                <a:gd name="T36" fmla="*/ 0 w 3670"/>
                <a:gd name="T37" fmla="*/ 0 h 3530"/>
                <a:gd name="T38" fmla="*/ 0 w 3670"/>
                <a:gd name="T39" fmla="*/ 0 h 3530"/>
                <a:gd name="T40" fmla="*/ 0 w 3670"/>
                <a:gd name="T41" fmla="*/ 0 h 3530"/>
                <a:gd name="T42" fmla="*/ 0 w 3670"/>
                <a:gd name="T43" fmla="*/ 0 h 3530"/>
                <a:gd name="T44" fmla="*/ 0 w 3670"/>
                <a:gd name="T45" fmla="*/ 0 h 3530"/>
                <a:gd name="T46" fmla="*/ 0 w 3670"/>
                <a:gd name="T47" fmla="*/ 0 h 3530"/>
                <a:gd name="T48" fmla="*/ 0 w 3670"/>
                <a:gd name="T49" fmla="*/ 0 h 3530"/>
                <a:gd name="T50" fmla="*/ 0 w 3670"/>
                <a:gd name="T51" fmla="*/ 0 h 3530"/>
                <a:gd name="T52" fmla="*/ 0 w 3670"/>
                <a:gd name="T53" fmla="*/ 0 h 3530"/>
                <a:gd name="T54" fmla="*/ 0 w 3670"/>
                <a:gd name="T55" fmla="*/ 0 h 3530"/>
                <a:gd name="T56" fmla="*/ 0 w 3670"/>
                <a:gd name="T57" fmla="*/ 0 h 3530"/>
                <a:gd name="T58" fmla="*/ 0 w 3670"/>
                <a:gd name="T59" fmla="*/ 0 h 3530"/>
                <a:gd name="T60" fmla="*/ 0 w 3670"/>
                <a:gd name="T61" fmla="*/ 0 h 3530"/>
                <a:gd name="T62" fmla="*/ 0 w 3670"/>
                <a:gd name="T63" fmla="*/ 0 h 3530"/>
                <a:gd name="T64" fmla="*/ 0 w 3670"/>
                <a:gd name="T65" fmla="*/ 0 h 3530"/>
                <a:gd name="T66" fmla="*/ 0 w 3670"/>
                <a:gd name="T67" fmla="*/ 0 h 3530"/>
                <a:gd name="T68" fmla="*/ 0 w 3670"/>
                <a:gd name="T69" fmla="*/ 0 h 3530"/>
                <a:gd name="T70" fmla="*/ 0 w 3670"/>
                <a:gd name="T71" fmla="*/ 0 h 3530"/>
                <a:gd name="T72" fmla="*/ 0 w 3670"/>
                <a:gd name="T73" fmla="*/ 0 h 3530"/>
                <a:gd name="T74" fmla="*/ 0 w 3670"/>
                <a:gd name="T75" fmla="*/ 0 h 3530"/>
                <a:gd name="T76" fmla="*/ 0 w 3670"/>
                <a:gd name="T77" fmla="*/ 0 h 3530"/>
                <a:gd name="T78" fmla="*/ 0 w 3670"/>
                <a:gd name="T79" fmla="*/ 0 h 3530"/>
                <a:gd name="T80" fmla="*/ 0 w 3670"/>
                <a:gd name="T81" fmla="*/ 0 h 3530"/>
                <a:gd name="T82" fmla="*/ 0 w 3670"/>
                <a:gd name="T83" fmla="*/ 0 h 3530"/>
                <a:gd name="T84" fmla="*/ 0 w 3670"/>
                <a:gd name="T85" fmla="*/ 0 h 3530"/>
                <a:gd name="T86" fmla="*/ 0 w 3670"/>
                <a:gd name="T87" fmla="*/ 0 h 3530"/>
                <a:gd name="T88" fmla="*/ 0 w 3670"/>
                <a:gd name="T89" fmla="*/ 0 h 3530"/>
                <a:gd name="T90" fmla="*/ 0 w 3670"/>
                <a:gd name="T91" fmla="*/ 0 h 3530"/>
                <a:gd name="T92" fmla="*/ 0 w 3670"/>
                <a:gd name="T93" fmla="*/ 0 h 3530"/>
                <a:gd name="T94" fmla="*/ 0 w 3670"/>
                <a:gd name="T95" fmla="*/ 0 h 3530"/>
                <a:gd name="T96" fmla="*/ 0 w 3670"/>
                <a:gd name="T97" fmla="*/ 0 h 3530"/>
                <a:gd name="T98" fmla="*/ 0 w 3670"/>
                <a:gd name="T99" fmla="*/ 0 h 3530"/>
                <a:gd name="T100" fmla="*/ 0 w 3670"/>
                <a:gd name="T101" fmla="*/ 0 h 3530"/>
                <a:gd name="T102" fmla="*/ 0 w 3670"/>
                <a:gd name="T103" fmla="*/ 0 h 353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670" h="3530">
                  <a:moveTo>
                    <a:pt x="120" y="1401"/>
                  </a:moveTo>
                  <a:lnTo>
                    <a:pt x="105" y="1506"/>
                  </a:lnTo>
                  <a:lnTo>
                    <a:pt x="235" y="1673"/>
                  </a:lnTo>
                  <a:lnTo>
                    <a:pt x="211" y="1815"/>
                  </a:lnTo>
                  <a:lnTo>
                    <a:pt x="161" y="1968"/>
                  </a:lnTo>
                  <a:lnTo>
                    <a:pt x="331" y="1896"/>
                  </a:lnTo>
                  <a:lnTo>
                    <a:pt x="431" y="1909"/>
                  </a:lnTo>
                  <a:lnTo>
                    <a:pt x="506" y="1864"/>
                  </a:lnTo>
                  <a:lnTo>
                    <a:pt x="517" y="1936"/>
                  </a:lnTo>
                  <a:lnTo>
                    <a:pt x="705" y="1936"/>
                  </a:lnTo>
                  <a:lnTo>
                    <a:pt x="886" y="1984"/>
                  </a:lnTo>
                  <a:lnTo>
                    <a:pt x="946" y="2104"/>
                  </a:lnTo>
                  <a:lnTo>
                    <a:pt x="961" y="2248"/>
                  </a:lnTo>
                  <a:lnTo>
                    <a:pt x="898" y="2367"/>
                  </a:lnTo>
                  <a:lnTo>
                    <a:pt x="842" y="2493"/>
                  </a:lnTo>
                  <a:lnTo>
                    <a:pt x="767" y="2611"/>
                  </a:lnTo>
                  <a:lnTo>
                    <a:pt x="631" y="2584"/>
                  </a:lnTo>
                  <a:lnTo>
                    <a:pt x="554" y="2692"/>
                  </a:lnTo>
                  <a:lnTo>
                    <a:pt x="565" y="2866"/>
                  </a:lnTo>
                  <a:lnTo>
                    <a:pt x="510" y="2985"/>
                  </a:lnTo>
                  <a:lnTo>
                    <a:pt x="535" y="3164"/>
                  </a:lnTo>
                  <a:lnTo>
                    <a:pt x="599" y="3284"/>
                  </a:lnTo>
                  <a:lnTo>
                    <a:pt x="689" y="3258"/>
                  </a:lnTo>
                  <a:lnTo>
                    <a:pt x="776" y="3345"/>
                  </a:lnTo>
                  <a:lnTo>
                    <a:pt x="887" y="3314"/>
                  </a:lnTo>
                  <a:lnTo>
                    <a:pt x="901" y="3162"/>
                  </a:lnTo>
                  <a:lnTo>
                    <a:pt x="796" y="3140"/>
                  </a:lnTo>
                  <a:lnTo>
                    <a:pt x="791" y="3032"/>
                  </a:lnTo>
                  <a:lnTo>
                    <a:pt x="766" y="2908"/>
                  </a:lnTo>
                  <a:lnTo>
                    <a:pt x="677" y="2761"/>
                  </a:lnTo>
                  <a:lnTo>
                    <a:pt x="737" y="2673"/>
                  </a:lnTo>
                  <a:lnTo>
                    <a:pt x="848" y="2655"/>
                  </a:lnTo>
                  <a:lnTo>
                    <a:pt x="883" y="2763"/>
                  </a:lnTo>
                  <a:lnTo>
                    <a:pt x="1019" y="2851"/>
                  </a:lnTo>
                  <a:lnTo>
                    <a:pt x="1150" y="2766"/>
                  </a:lnTo>
                  <a:lnTo>
                    <a:pt x="1135" y="2883"/>
                  </a:lnTo>
                  <a:lnTo>
                    <a:pt x="1346" y="2841"/>
                  </a:lnTo>
                  <a:lnTo>
                    <a:pt x="1411" y="2760"/>
                  </a:lnTo>
                  <a:lnTo>
                    <a:pt x="1555" y="2701"/>
                  </a:lnTo>
                  <a:lnTo>
                    <a:pt x="1604" y="2791"/>
                  </a:lnTo>
                  <a:lnTo>
                    <a:pt x="1574" y="2887"/>
                  </a:lnTo>
                  <a:lnTo>
                    <a:pt x="1669" y="2910"/>
                  </a:lnTo>
                  <a:lnTo>
                    <a:pt x="1845" y="2821"/>
                  </a:lnTo>
                  <a:lnTo>
                    <a:pt x="1855" y="2958"/>
                  </a:lnTo>
                  <a:lnTo>
                    <a:pt x="1994" y="2960"/>
                  </a:lnTo>
                  <a:lnTo>
                    <a:pt x="2072" y="2824"/>
                  </a:lnTo>
                  <a:lnTo>
                    <a:pt x="2185" y="2811"/>
                  </a:lnTo>
                  <a:lnTo>
                    <a:pt x="2249" y="2908"/>
                  </a:lnTo>
                  <a:lnTo>
                    <a:pt x="2392" y="2952"/>
                  </a:lnTo>
                  <a:lnTo>
                    <a:pt x="2578" y="3138"/>
                  </a:lnTo>
                  <a:lnTo>
                    <a:pt x="2740" y="3075"/>
                  </a:lnTo>
                  <a:lnTo>
                    <a:pt x="2791" y="3150"/>
                  </a:lnTo>
                  <a:lnTo>
                    <a:pt x="2744" y="3230"/>
                  </a:lnTo>
                  <a:lnTo>
                    <a:pt x="2786" y="3270"/>
                  </a:lnTo>
                  <a:lnTo>
                    <a:pt x="2741" y="3387"/>
                  </a:lnTo>
                  <a:lnTo>
                    <a:pt x="2816" y="3485"/>
                  </a:lnTo>
                  <a:lnTo>
                    <a:pt x="2920" y="3530"/>
                  </a:lnTo>
                  <a:lnTo>
                    <a:pt x="3031" y="3485"/>
                  </a:lnTo>
                  <a:lnTo>
                    <a:pt x="3090" y="3405"/>
                  </a:lnTo>
                  <a:lnTo>
                    <a:pt x="3115" y="3215"/>
                  </a:lnTo>
                  <a:lnTo>
                    <a:pt x="3175" y="3150"/>
                  </a:lnTo>
                  <a:lnTo>
                    <a:pt x="3090" y="2990"/>
                  </a:lnTo>
                  <a:lnTo>
                    <a:pt x="3040" y="2881"/>
                  </a:lnTo>
                  <a:lnTo>
                    <a:pt x="3075" y="2761"/>
                  </a:lnTo>
                  <a:lnTo>
                    <a:pt x="3280" y="2641"/>
                  </a:lnTo>
                  <a:lnTo>
                    <a:pt x="3445" y="2491"/>
                  </a:lnTo>
                  <a:lnTo>
                    <a:pt x="3655" y="2491"/>
                  </a:lnTo>
                  <a:lnTo>
                    <a:pt x="3670" y="2406"/>
                  </a:lnTo>
                  <a:lnTo>
                    <a:pt x="3420" y="2316"/>
                  </a:lnTo>
                  <a:lnTo>
                    <a:pt x="3450" y="2151"/>
                  </a:lnTo>
                  <a:lnTo>
                    <a:pt x="3330" y="2116"/>
                  </a:lnTo>
                  <a:lnTo>
                    <a:pt x="3415" y="2026"/>
                  </a:lnTo>
                  <a:lnTo>
                    <a:pt x="3570" y="2011"/>
                  </a:lnTo>
                  <a:lnTo>
                    <a:pt x="3420" y="1881"/>
                  </a:lnTo>
                  <a:lnTo>
                    <a:pt x="3329" y="1732"/>
                  </a:lnTo>
                  <a:lnTo>
                    <a:pt x="3287" y="1579"/>
                  </a:lnTo>
                  <a:lnTo>
                    <a:pt x="3149" y="1546"/>
                  </a:lnTo>
                  <a:lnTo>
                    <a:pt x="3056" y="1625"/>
                  </a:lnTo>
                  <a:lnTo>
                    <a:pt x="2776" y="1522"/>
                  </a:lnTo>
                  <a:lnTo>
                    <a:pt x="2740" y="1430"/>
                  </a:lnTo>
                  <a:lnTo>
                    <a:pt x="2624" y="1447"/>
                  </a:lnTo>
                  <a:lnTo>
                    <a:pt x="2440" y="1326"/>
                  </a:lnTo>
                  <a:lnTo>
                    <a:pt x="2354" y="1381"/>
                  </a:lnTo>
                  <a:lnTo>
                    <a:pt x="1939" y="1067"/>
                  </a:lnTo>
                  <a:lnTo>
                    <a:pt x="1457" y="872"/>
                  </a:lnTo>
                  <a:lnTo>
                    <a:pt x="1185" y="811"/>
                  </a:lnTo>
                  <a:lnTo>
                    <a:pt x="970" y="706"/>
                  </a:lnTo>
                  <a:lnTo>
                    <a:pt x="825" y="601"/>
                  </a:lnTo>
                  <a:lnTo>
                    <a:pt x="882" y="509"/>
                  </a:lnTo>
                  <a:lnTo>
                    <a:pt x="735" y="452"/>
                  </a:lnTo>
                  <a:lnTo>
                    <a:pt x="645" y="352"/>
                  </a:lnTo>
                  <a:lnTo>
                    <a:pt x="475" y="447"/>
                  </a:lnTo>
                  <a:lnTo>
                    <a:pt x="355" y="352"/>
                  </a:lnTo>
                  <a:lnTo>
                    <a:pt x="355" y="257"/>
                  </a:lnTo>
                  <a:lnTo>
                    <a:pt x="402" y="80"/>
                  </a:lnTo>
                  <a:lnTo>
                    <a:pt x="247" y="0"/>
                  </a:lnTo>
                  <a:lnTo>
                    <a:pt x="195" y="112"/>
                  </a:lnTo>
                  <a:lnTo>
                    <a:pt x="75" y="217"/>
                  </a:lnTo>
                  <a:lnTo>
                    <a:pt x="0" y="397"/>
                  </a:lnTo>
                  <a:lnTo>
                    <a:pt x="30" y="577"/>
                  </a:lnTo>
                  <a:lnTo>
                    <a:pt x="60" y="751"/>
                  </a:lnTo>
                  <a:lnTo>
                    <a:pt x="48" y="798"/>
                  </a:lnTo>
                  <a:lnTo>
                    <a:pt x="91" y="848"/>
                  </a:lnTo>
                  <a:lnTo>
                    <a:pt x="117" y="902"/>
                  </a:lnTo>
                  <a:lnTo>
                    <a:pt x="127" y="977"/>
                  </a:lnTo>
                  <a:lnTo>
                    <a:pt x="210" y="1096"/>
                  </a:lnTo>
                  <a:lnTo>
                    <a:pt x="208" y="1220"/>
                  </a:lnTo>
                  <a:lnTo>
                    <a:pt x="120" y="1401"/>
                  </a:lnTo>
                  <a:close/>
                </a:path>
              </a:pathLst>
            </a:custGeom>
            <a:solidFill>
              <a:schemeClr val="accent4">
                <a:lumMod val="60000"/>
                <a:lumOff val="40000"/>
              </a:schemeClr>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88" name="Freeform 11">
              <a:extLst>
                <a:ext uri="{FF2B5EF4-FFF2-40B4-BE49-F238E27FC236}">
                  <a16:creationId xmlns:a16="http://schemas.microsoft.com/office/drawing/2014/main" id="{6CEC802E-F2B1-4363-8783-6A8B89697F31}"/>
                </a:ext>
              </a:extLst>
            </p:cNvPr>
            <p:cNvSpPr>
              <a:spLocks/>
            </p:cNvSpPr>
            <p:nvPr/>
          </p:nvSpPr>
          <p:spPr bwMode="auto">
            <a:xfrm>
              <a:off x="4064188" y="3628650"/>
              <a:ext cx="661988" cy="1092200"/>
            </a:xfrm>
            <a:custGeom>
              <a:avLst/>
              <a:gdLst>
                <a:gd name="T0" fmla="*/ 0 w 2085"/>
                <a:gd name="T1" fmla="*/ 0 h 3441"/>
                <a:gd name="T2" fmla="*/ 0 w 2085"/>
                <a:gd name="T3" fmla="*/ 0 h 3441"/>
                <a:gd name="T4" fmla="*/ 0 w 2085"/>
                <a:gd name="T5" fmla="*/ 0 h 3441"/>
                <a:gd name="T6" fmla="*/ 0 w 2085"/>
                <a:gd name="T7" fmla="*/ 0 h 3441"/>
                <a:gd name="T8" fmla="*/ 0 w 2085"/>
                <a:gd name="T9" fmla="*/ 0 h 3441"/>
                <a:gd name="T10" fmla="*/ 0 w 2085"/>
                <a:gd name="T11" fmla="*/ 0 h 3441"/>
                <a:gd name="T12" fmla="*/ 0 w 2085"/>
                <a:gd name="T13" fmla="*/ 0 h 3441"/>
                <a:gd name="T14" fmla="*/ 0 w 2085"/>
                <a:gd name="T15" fmla="*/ 0 h 3441"/>
                <a:gd name="T16" fmla="*/ 0 w 2085"/>
                <a:gd name="T17" fmla="*/ 0 h 3441"/>
                <a:gd name="T18" fmla="*/ 0 w 2085"/>
                <a:gd name="T19" fmla="*/ 0 h 3441"/>
                <a:gd name="T20" fmla="*/ 0 w 2085"/>
                <a:gd name="T21" fmla="*/ 0 h 3441"/>
                <a:gd name="T22" fmla="*/ 0 w 2085"/>
                <a:gd name="T23" fmla="*/ 0 h 3441"/>
                <a:gd name="T24" fmla="*/ 0 w 2085"/>
                <a:gd name="T25" fmla="*/ 0 h 3441"/>
                <a:gd name="T26" fmla="*/ 0 w 2085"/>
                <a:gd name="T27" fmla="*/ 0 h 3441"/>
                <a:gd name="T28" fmla="*/ 0 w 2085"/>
                <a:gd name="T29" fmla="*/ 0 h 3441"/>
                <a:gd name="T30" fmla="*/ 0 w 2085"/>
                <a:gd name="T31" fmla="*/ 0 h 3441"/>
                <a:gd name="T32" fmla="*/ 0 w 2085"/>
                <a:gd name="T33" fmla="*/ 0 h 3441"/>
                <a:gd name="T34" fmla="*/ 0 w 2085"/>
                <a:gd name="T35" fmla="*/ 0 h 3441"/>
                <a:gd name="T36" fmla="*/ 0 w 2085"/>
                <a:gd name="T37" fmla="*/ 0 h 3441"/>
                <a:gd name="T38" fmla="*/ 0 w 2085"/>
                <a:gd name="T39" fmla="*/ 0 h 3441"/>
                <a:gd name="T40" fmla="*/ 0 w 2085"/>
                <a:gd name="T41" fmla="*/ 0 h 3441"/>
                <a:gd name="T42" fmla="*/ 0 w 2085"/>
                <a:gd name="T43" fmla="*/ 0 h 3441"/>
                <a:gd name="T44" fmla="*/ 0 w 2085"/>
                <a:gd name="T45" fmla="*/ 0 h 3441"/>
                <a:gd name="T46" fmla="*/ 0 w 2085"/>
                <a:gd name="T47" fmla="*/ 0 h 3441"/>
                <a:gd name="T48" fmla="*/ 0 w 2085"/>
                <a:gd name="T49" fmla="*/ 0 h 3441"/>
                <a:gd name="T50" fmla="*/ 0 w 2085"/>
                <a:gd name="T51" fmla="*/ 0 h 3441"/>
                <a:gd name="T52" fmla="*/ 0 w 2085"/>
                <a:gd name="T53" fmla="*/ 0 h 3441"/>
                <a:gd name="T54" fmla="*/ 0 w 2085"/>
                <a:gd name="T55" fmla="*/ 0 h 3441"/>
                <a:gd name="T56" fmla="*/ 0 w 2085"/>
                <a:gd name="T57" fmla="*/ 0 h 3441"/>
                <a:gd name="T58" fmla="*/ 0 w 2085"/>
                <a:gd name="T59" fmla="*/ 0 h 3441"/>
                <a:gd name="T60" fmla="*/ 0 w 2085"/>
                <a:gd name="T61" fmla="*/ 0 h 3441"/>
                <a:gd name="T62" fmla="*/ 0 w 2085"/>
                <a:gd name="T63" fmla="*/ 0 h 3441"/>
                <a:gd name="T64" fmla="*/ 0 w 2085"/>
                <a:gd name="T65" fmla="*/ 0 h 3441"/>
                <a:gd name="T66" fmla="*/ 0 w 2085"/>
                <a:gd name="T67" fmla="*/ 0 h 3441"/>
                <a:gd name="T68" fmla="*/ 0 w 2085"/>
                <a:gd name="T69" fmla="*/ 0 h 3441"/>
                <a:gd name="T70" fmla="*/ 0 w 2085"/>
                <a:gd name="T71" fmla="*/ 0 h 3441"/>
                <a:gd name="T72" fmla="*/ 0 w 2085"/>
                <a:gd name="T73" fmla="*/ 0 h 344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085" h="3441">
                  <a:moveTo>
                    <a:pt x="1575" y="0"/>
                  </a:moveTo>
                  <a:lnTo>
                    <a:pt x="1695" y="125"/>
                  </a:lnTo>
                  <a:lnTo>
                    <a:pt x="1800" y="260"/>
                  </a:lnTo>
                  <a:lnTo>
                    <a:pt x="1920" y="215"/>
                  </a:lnTo>
                  <a:lnTo>
                    <a:pt x="1905" y="425"/>
                  </a:lnTo>
                  <a:lnTo>
                    <a:pt x="1960" y="540"/>
                  </a:lnTo>
                  <a:lnTo>
                    <a:pt x="2080" y="570"/>
                  </a:lnTo>
                  <a:lnTo>
                    <a:pt x="2085" y="660"/>
                  </a:lnTo>
                  <a:lnTo>
                    <a:pt x="1930" y="815"/>
                  </a:lnTo>
                  <a:lnTo>
                    <a:pt x="1919" y="891"/>
                  </a:lnTo>
                  <a:lnTo>
                    <a:pt x="1711" y="1052"/>
                  </a:lnTo>
                  <a:lnTo>
                    <a:pt x="1710" y="1190"/>
                  </a:lnTo>
                  <a:lnTo>
                    <a:pt x="1615" y="1325"/>
                  </a:lnTo>
                  <a:lnTo>
                    <a:pt x="1606" y="1484"/>
                  </a:lnTo>
                  <a:lnTo>
                    <a:pt x="1469" y="1581"/>
                  </a:lnTo>
                  <a:lnTo>
                    <a:pt x="1271" y="1580"/>
                  </a:lnTo>
                  <a:lnTo>
                    <a:pt x="1213" y="1695"/>
                  </a:lnTo>
                  <a:lnTo>
                    <a:pt x="1110" y="1801"/>
                  </a:lnTo>
                  <a:lnTo>
                    <a:pt x="1139" y="2163"/>
                  </a:lnTo>
                  <a:lnTo>
                    <a:pt x="1240" y="2211"/>
                  </a:lnTo>
                  <a:lnTo>
                    <a:pt x="1349" y="2271"/>
                  </a:lnTo>
                  <a:lnTo>
                    <a:pt x="1225" y="2326"/>
                  </a:lnTo>
                  <a:lnTo>
                    <a:pt x="1070" y="2262"/>
                  </a:lnTo>
                  <a:lnTo>
                    <a:pt x="896" y="2176"/>
                  </a:lnTo>
                  <a:lnTo>
                    <a:pt x="841" y="2256"/>
                  </a:lnTo>
                  <a:lnTo>
                    <a:pt x="944" y="2355"/>
                  </a:lnTo>
                  <a:lnTo>
                    <a:pt x="941" y="2478"/>
                  </a:lnTo>
                  <a:lnTo>
                    <a:pt x="1005" y="2571"/>
                  </a:lnTo>
                  <a:lnTo>
                    <a:pt x="1020" y="2691"/>
                  </a:lnTo>
                  <a:lnTo>
                    <a:pt x="1050" y="2791"/>
                  </a:lnTo>
                  <a:lnTo>
                    <a:pt x="910" y="2986"/>
                  </a:lnTo>
                  <a:lnTo>
                    <a:pt x="810" y="3081"/>
                  </a:lnTo>
                  <a:lnTo>
                    <a:pt x="705" y="3151"/>
                  </a:lnTo>
                  <a:lnTo>
                    <a:pt x="630" y="3441"/>
                  </a:lnTo>
                  <a:lnTo>
                    <a:pt x="535" y="3396"/>
                  </a:lnTo>
                  <a:lnTo>
                    <a:pt x="430" y="3421"/>
                  </a:lnTo>
                  <a:lnTo>
                    <a:pt x="390" y="3226"/>
                  </a:lnTo>
                  <a:lnTo>
                    <a:pt x="310" y="3241"/>
                  </a:lnTo>
                  <a:lnTo>
                    <a:pt x="240" y="3046"/>
                  </a:lnTo>
                  <a:lnTo>
                    <a:pt x="0" y="2941"/>
                  </a:lnTo>
                  <a:lnTo>
                    <a:pt x="70" y="2881"/>
                  </a:lnTo>
                  <a:lnTo>
                    <a:pt x="45" y="2796"/>
                  </a:lnTo>
                  <a:lnTo>
                    <a:pt x="105" y="2676"/>
                  </a:lnTo>
                  <a:lnTo>
                    <a:pt x="205" y="2596"/>
                  </a:lnTo>
                  <a:lnTo>
                    <a:pt x="272" y="2646"/>
                  </a:lnTo>
                  <a:lnTo>
                    <a:pt x="323" y="2616"/>
                  </a:lnTo>
                  <a:lnTo>
                    <a:pt x="361" y="2527"/>
                  </a:lnTo>
                  <a:lnTo>
                    <a:pt x="146" y="2296"/>
                  </a:lnTo>
                  <a:lnTo>
                    <a:pt x="181" y="2206"/>
                  </a:lnTo>
                  <a:lnTo>
                    <a:pt x="86" y="2145"/>
                  </a:lnTo>
                  <a:lnTo>
                    <a:pt x="115" y="2076"/>
                  </a:lnTo>
                  <a:lnTo>
                    <a:pt x="220" y="2058"/>
                  </a:lnTo>
                  <a:lnTo>
                    <a:pt x="195" y="1836"/>
                  </a:lnTo>
                  <a:lnTo>
                    <a:pt x="121" y="1685"/>
                  </a:lnTo>
                  <a:lnTo>
                    <a:pt x="136" y="1595"/>
                  </a:lnTo>
                  <a:lnTo>
                    <a:pt x="218" y="1499"/>
                  </a:lnTo>
                  <a:lnTo>
                    <a:pt x="326" y="1307"/>
                  </a:lnTo>
                  <a:lnTo>
                    <a:pt x="356" y="1095"/>
                  </a:lnTo>
                  <a:lnTo>
                    <a:pt x="491" y="875"/>
                  </a:lnTo>
                  <a:lnTo>
                    <a:pt x="595" y="888"/>
                  </a:lnTo>
                  <a:lnTo>
                    <a:pt x="731" y="810"/>
                  </a:lnTo>
                  <a:lnTo>
                    <a:pt x="865" y="590"/>
                  </a:lnTo>
                  <a:lnTo>
                    <a:pt x="990" y="470"/>
                  </a:lnTo>
                  <a:lnTo>
                    <a:pt x="910" y="380"/>
                  </a:lnTo>
                  <a:lnTo>
                    <a:pt x="775" y="315"/>
                  </a:lnTo>
                  <a:lnTo>
                    <a:pt x="700" y="320"/>
                  </a:lnTo>
                  <a:lnTo>
                    <a:pt x="730" y="225"/>
                  </a:lnTo>
                  <a:lnTo>
                    <a:pt x="705" y="135"/>
                  </a:lnTo>
                  <a:lnTo>
                    <a:pt x="865" y="150"/>
                  </a:lnTo>
                  <a:lnTo>
                    <a:pt x="1015" y="135"/>
                  </a:lnTo>
                  <a:lnTo>
                    <a:pt x="1138" y="167"/>
                  </a:lnTo>
                  <a:lnTo>
                    <a:pt x="1300" y="80"/>
                  </a:lnTo>
                  <a:lnTo>
                    <a:pt x="1410" y="125"/>
                  </a:lnTo>
                  <a:lnTo>
                    <a:pt x="1515" y="80"/>
                  </a:lnTo>
                  <a:lnTo>
                    <a:pt x="1575" y="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89" name="Freeform 12">
              <a:extLst>
                <a:ext uri="{FF2B5EF4-FFF2-40B4-BE49-F238E27FC236}">
                  <a16:creationId xmlns:a16="http://schemas.microsoft.com/office/drawing/2014/main" id="{BE23E389-582E-4B53-AC8A-2DAA1DC46203}"/>
                </a:ext>
              </a:extLst>
            </p:cNvPr>
            <p:cNvSpPr>
              <a:spLocks/>
            </p:cNvSpPr>
            <p:nvPr/>
          </p:nvSpPr>
          <p:spPr bwMode="auto">
            <a:xfrm>
              <a:off x="3660963" y="2358650"/>
              <a:ext cx="517525" cy="465138"/>
            </a:xfrm>
            <a:custGeom>
              <a:avLst/>
              <a:gdLst>
                <a:gd name="T0" fmla="*/ 0 w 1628"/>
                <a:gd name="T1" fmla="*/ 0 h 1466"/>
                <a:gd name="T2" fmla="*/ 0 w 1628"/>
                <a:gd name="T3" fmla="*/ 0 h 1466"/>
                <a:gd name="T4" fmla="*/ 0 w 1628"/>
                <a:gd name="T5" fmla="*/ 0 h 1466"/>
                <a:gd name="T6" fmla="*/ 0 w 1628"/>
                <a:gd name="T7" fmla="*/ 0 h 1466"/>
                <a:gd name="T8" fmla="*/ 0 w 1628"/>
                <a:gd name="T9" fmla="*/ 0 h 1466"/>
                <a:gd name="T10" fmla="*/ 0 w 1628"/>
                <a:gd name="T11" fmla="*/ 0 h 1466"/>
                <a:gd name="T12" fmla="*/ 0 w 1628"/>
                <a:gd name="T13" fmla="*/ 0 h 1466"/>
                <a:gd name="T14" fmla="*/ 0 w 1628"/>
                <a:gd name="T15" fmla="*/ 0 h 1466"/>
                <a:gd name="T16" fmla="*/ 0 w 1628"/>
                <a:gd name="T17" fmla="*/ 0 h 1466"/>
                <a:gd name="T18" fmla="*/ 0 w 1628"/>
                <a:gd name="T19" fmla="*/ 0 h 1466"/>
                <a:gd name="T20" fmla="*/ 0 w 1628"/>
                <a:gd name="T21" fmla="*/ 0 h 1466"/>
                <a:gd name="T22" fmla="*/ 0 w 1628"/>
                <a:gd name="T23" fmla="*/ 0 h 1466"/>
                <a:gd name="T24" fmla="*/ 0 w 1628"/>
                <a:gd name="T25" fmla="*/ 0 h 1466"/>
                <a:gd name="T26" fmla="*/ 0 w 1628"/>
                <a:gd name="T27" fmla="*/ 0 h 1466"/>
                <a:gd name="T28" fmla="*/ 0 w 1628"/>
                <a:gd name="T29" fmla="*/ 0 h 1466"/>
                <a:gd name="T30" fmla="*/ 0 w 1628"/>
                <a:gd name="T31" fmla="*/ 0 h 1466"/>
                <a:gd name="T32" fmla="*/ 0 w 1628"/>
                <a:gd name="T33" fmla="*/ 0 h 1466"/>
                <a:gd name="T34" fmla="*/ 0 w 1628"/>
                <a:gd name="T35" fmla="*/ 0 h 1466"/>
                <a:gd name="T36" fmla="*/ 0 w 1628"/>
                <a:gd name="T37" fmla="*/ 0 h 1466"/>
                <a:gd name="T38" fmla="*/ 0 w 1628"/>
                <a:gd name="T39" fmla="*/ 0 h 1466"/>
                <a:gd name="T40" fmla="*/ 0 w 1628"/>
                <a:gd name="T41" fmla="*/ 0 h 1466"/>
                <a:gd name="T42" fmla="*/ 0 w 1628"/>
                <a:gd name="T43" fmla="*/ 0 h 1466"/>
                <a:gd name="T44" fmla="*/ 0 w 1628"/>
                <a:gd name="T45" fmla="*/ 0 h 1466"/>
                <a:gd name="T46" fmla="*/ 0 w 1628"/>
                <a:gd name="T47" fmla="*/ 0 h 1466"/>
                <a:gd name="T48" fmla="*/ 0 w 1628"/>
                <a:gd name="T49" fmla="*/ 0 h 1466"/>
                <a:gd name="T50" fmla="*/ 0 w 1628"/>
                <a:gd name="T51" fmla="*/ 0 h 1466"/>
                <a:gd name="T52" fmla="*/ 0 w 1628"/>
                <a:gd name="T53" fmla="*/ 0 h 1466"/>
                <a:gd name="T54" fmla="*/ 0 w 1628"/>
                <a:gd name="T55" fmla="*/ 0 h 1466"/>
                <a:gd name="T56" fmla="*/ 0 w 1628"/>
                <a:gd name="T57" fmla="*/ 0 h 1466"/>
                <a:gd name="T58" fmla="*/ 0 w 1628"/>
                <a:gd name="T59" fmla="*/ 0 h 1466"/>
                <a:gd name="T60" fmla="*/ 0 w 1628"/>
                <a:gd name="T61" fmla="*/ 0 h 1466"/>
                <a:gd name="T62" fmla="*/ 0 w 1628"/>
                <a:gd name="T63" fmla="*/ 0 h 1466"/>
                <a:gd name="T64" fmla="*/ 0 w 1628"/>
                <a:gd name="T65" fmla="*/ 0 h 1466"/>
                <a:gd name="T66" fmla="*/ 0 w 1628"/>
                <a:gd name="T67" fmla="*/ 0 h 1466"/>
                <a:gd name="T68" fmla="*/ 0 w 1628"/>
                <a:gd name="T69" fmla="*/ 0 h 1466"/>
                <a:gd name="T70" fmla="*/ 0 w 1628"/>
                <a:gd name="T71" fmla="*/ 0 h 146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628" h="1466">
                  <a:moveTo>
                    <a:pt x="0" y="592"/>
                  </a:moveTo>
                  <a:lnTo>
                    <a:pt x="108" y="510"/>
                  </a:lnTo>
                  <a:lnTo>
                    <a:pt x="93" y="405"/>
                  </a:lnTo>
                  <a:lnTo>
                    <a:pt x="108" y="235"/>
                  </a:lnTo>
                  <a:lnTo>
                    <a:pt x="203" y="160"/>
                  </a:lnTo>
                  <a:lnTo>
                    <a:pt x="378" y="101"/>
                  </a:lnTo>
                  <a:lnTo>
                    <a:pt x="535" y="146"/>
                  </a:lnTo>
                  <a:lnTo>
                    <a:pt x="608" y="195"/>
                  </a:lnTo>
                  <a:lnTo>
                    <a:pt x="697" y="191"/>
                  </a:lnTo>
                  <a:lnTo>
                    <a:pt x="624" y="61"/>
                  </a:lnTo>
                  <a:lnTo>
                    <a:pt x="743" y="0"/>
                  </a:lnTo>
                  <a:lnTo>
                    <a:pt x="818" y="60"/>
                  </a:lnTo>
                  <a:lnTo>
                    <a:pt x="848" y="150"/>
                  </a:lnTo>
                  <a:lnTo>
                    <a:pt x="948" y="240"/>
                  </a:lnTo>
                  <a:lnTo>
                    <a:pt x="1143" y="280"/>
                  </a:lnTo>
                  <a:lnTo>
                    <a:pt x="1278" y="385"/>
                  </a:lnTo>
                  <a:lnTo>
                    <a:pt x="1278" y="505"/>
                  </a:lnTo>
                  <a:lnTo>
                    <a:pt x="1488" y="525"/>
                  </a:lnTo>
                  <a:lnTo>
                    <a:pt x="1628" y="660"/>
                  </a:lnTo>
                  <a:lnTo>
                    <a:pt x="1323" y="899"/>
                  </a:lnTo>
                  <a:lnTo>
                    <a:pt x="1312" y="1015"/>
                  </a:lnTo>
                  <a:lnTo>
                    <a:pt x="1278" y="1090"/>
                  </a:lnTo>
                  <a:lnTo>
                    <a:pt x="1329" y="1216"/>
                  </a:lnTo>
                  <a:lnTo>
                    <a:pt x="1207" y="1301"/>
                  </a:lnTo>
                  <a:lnTo>
                    <a:pt x="1209" y="1466"/>
                  </a:lnTo>
                  <a:lnTo>
                    <a:pt x="938" y="1405"/>
                  </a:lnTo>
                  <a:lnTo>
                    <a:pt x="723" y="1300"/>
                  </a:lnTo>
                  <a:lnTo>
                    <a:pt x="579" y="1196"/>
                  </a:lnTo>
                  <a:lnTo>
                    <a:pt x="637" y="1103"/>
                  </a:lnTo>
                  <a:lnTo>
                    <a:pt x="489" y="1046"/>
                  </a:lnTo>
                  <a:lnTo>
                    <a:pt x="399" y="946"/>
                  </a:lnTo>
                  <a:lnTo>
                    <a:pt x="231" y="1045"/>
                  </a:lnTo>
                  <a:lnTo>
                    <a:pt x="109" y="944"/>
                  </a:lnTo>
                  <a:lnTo>
                    <a:pt x="109" y="848"/>
                  </a:lnTo>
                  <a:lnTo>
                    <a:pt x="157" y="673"/>
                  </a:lnTo>
                  <a:lnTo>
                    <a:pt x="0" y="59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0" name="Freeform 13">
              <a:extLst>
                <a:ext uri="{FF2B5EF4-FFF2-40B4-BE49-F238E27FC236}">
                  <a16:creationId xmlns:a16="http://schemas.microsoft.com/office/drawing/2014/main" id="{467FD3DE-389F-40F6-8D9A-66C68FFE41B1}"/>
                </a:ext>
              </a:extLst>
            </p:cNvPr>
            <p:cNvSpPr>
              <a:spLocks/>
            </p:cNvSpPr>
            <p:nvPr/>
          </p:nvSpPr>
          <p:spPr bwMode="auto">
            <a:xfrm>
              <a:off x="4548375" y="3038100"/>
              <a:ext cx="776288" cy="549275"/>
            </a:xfrm>
            <a:custGeom>
              <a:avLst/>
              <a:gdLst>
                <a:gd name="T0" fmla="*/ 0 w 2445"/>
                <a:gd name="T1" fmla="*/ 0 h 1731"/>
                <a:gd name="T2" fmla="*/ 0 w 2445"/>
                <a:gd name="T3" fmla="*/ 0 h 1731"/>
                <a:gd name="T4" fmla="*/ 0 w 2445"/>
                <a:gd name="T5" fmla="*/ 0 h 1731"/>
                <a:gd name="T6" fmla="*/ 0 w 2445"/>
                <a:gd name="T7" fmla="*/ 0 h 1731"/>
                <a:gd name="T8" fmla="*/ 0 w 2445"/>
                <a:gd name="T9" fmla="*/ 0 h 1731"/>
                <a:gd name="T10" fmla="*/ 0 w 2445"/>
                <a:gd name="T11" fmla="*/ 0 h 1731"/>
                <a:gd name="T12" fmla="*/ 0 w 2445"/>
                <a:gd name="T13" fmla="*/ 0 h 1731"/>
                <a:gd name="T14" fmla="*/ 0 w 2445"/>
                <a:gd name="T15" fmla="*/ 0 h 1731"/>
                <a:gd name="T16" fmla="*/ 0 w 2445"/>
                <a:gd name="T17" fmla="*/ 0 h 1731"/>
                <a:gd name="T18" fmla="*/ 0 w 2445"/>
                <a:gd name="T19" fmla="*/ 0 h 1731"/>
                <a:gd name="T20" fmla="*/ 0 w 2445"/>
                <a:gd name="T21" fmla="*/ 0 h 1731"/>
                <a:gd name="T22" fmla="*/ 0 w 2445"/>
                <a:gd name="T23" fmla="*/ 0 h 1731"/>
                <a:gd name="T24" fmla="*/ 0 w 2445"/>
                <a:gd name="T25" fmla="*/ 0 h 1731"/>
                <a:gd name="T26" fmla="*/ 0 w 2445"/>
                <a:gd name="T27" fmla="*/ 0 h 1731"/>
                <a:gd name="T28" fmla="*/ 0 w 2445"/>
                <a:gd name="T29" fmla="*/ 0 h 1731"/>
                <a:gd name="T30" fmla="*/ 0 w 2445"/>
                <a:gd name="T31" fmla="*/ 0 h 1731"/>
                <a:gd name="T32" fmla="*/ 0 w 2445"/>
                <a:gd name="T33" fmla="*/ 0 h 1731"/>
                <a:gd name="T34" fmla="*/ 0 w 2445"/>
                <a:gd name="T35" fmla="*/ 0 h 1731"/>
                <a:gd name="T36" fmla="*/ 0 w 2445"/>
                <a:gd name="T37" fmla="*/ 0 h 1731"/>
                <a:gd name="T38" fmla="*/ 0 w 2445"/>
                <a:gd name="T39" fmla="*/ 0 h 1731"/>
                <a:gd name="T40" fmla="*/ 0 w 2445"/>
                <a:gd name="T41" fmla="*/ 0 h 1731"/>
                <a:gd name="T42" fmla="*/ 0 w 2445"/>
                <a:gd name="T43" fmla="*/ 0 h 1731"/>
                <a:gd name="T44" fmla="*/ 0 w 2445"/>
                <a:gd name="T45" fmla="*/ 0 h 1731"/>
                <a:gd name="T46" fmla="*/ 0 w 2445"/>
                <a:gd name="T47" fmla="*/ 0 h 1731"/>
                <a:gd name="T48" fmla="*/ 0 w 2445"/>
                <a:gd name="T49" fmla="*/ 0 h 1731"/>
                <a:gd name="T50" fmla="*/ 0 w 2445"/>
                <a:gd name="T51" fmla="*/ 0 h 1731"/>
                <a:gd name="T52" fmla="*/ 0 w 2445"/>
                <a:gd name="T53" fmla="*/ 0 h 1731"/>
                <a:gd name="T54" fmla="*/ 0 w 2445"/>
                <a:gd name="T55" fmla="*/ 0 h 1731"/>
                <a:gd name="T56" fmla="*/ 0 w 2445"/>
                <a:gd name="T57" fmla="*/ 0 h 1731"/>
                <a:gd name="T58" fmla="*/ 0 w 2445"/>
                <a:gd name="T59" fmla="*/ 0 h 1731"/>
                <a:gd name="T60" fmla="*/ 0 w 2445"/>
                <a:gd name="T61" fmla="*/ 0 h 1731"/>
                <a:gd name="T62" fmla="*/ 0 w 2445"/>
                <a:gd name="T63" fmla="*/ 0 h 1731"/>
                <a:gd name="T64" fmla="*/ 0 w 2445"/>
                <a:gd name="T65" fmla="*/ 0 h 17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445" h="1731">
                  <a:moveTo>
                    <a:pt x="245" y="33"/>
                  </a:moveTo>
                  <a:lnTo>
                    <a:pt x="374" y="0"/>
                  </a:lnTo>
                  <a:lnTo>
                    <a:pt x="500" y="64"/>
                  </a:lnTo>
                  <a:lnTo>
                    <a:pt x="635" y="76"/>
                  </a:lnTo>
                  <a:lnTo>
                    <a:pt x="635" y="255"/>
                  </a:lnTo>
                  <a:lnTo>
                    <a:pt x="735" y="259"/>
                  </a:lnTo>
                  <a:lnTo>
                    <a:pt x="839" y="315"/>
                  </a:lnTo>
                  <a:lnTo>
                    <a:pt x="935" y="364"/>
                  </a:lnTo>
                  <a:lnTo>
                    <a:pt x="1099" y="300"/>
                  </a:lnTo>
                  <a:lnTo>
                    <a:pt x="1144" y="335"/>
                  </a:lnTo>
                  <a:lnTo>
                    <a:pt x="1184" y="435"/>
                  </a:lnTo>
                  <a:lnTo>
                    <a:pt x="1275" y="450"/>
                  </a:lnTo>
                  <a:lnTo>
                    <a:pt x="1370" y="390"/>
                  </a:lnTo>
                  <a:lnTo>
                    <a:pt x="1505" y="425"/>
                  </a:lnTo>
                  <a:lnTo>
                    <a:pt x="1640" y="495"/>
                  </a:lnTo>
                  <a:lnTo>
                    <a:pt x="1815" y="435"/>
                  </a:lnTo>
                  <a:lnTo>
                    <a:pt x="1880" y="540"/>
                  </a:lnTo>
                  <a:lnTo>
                    <a:pt x="2200" y="490"/>
                  </a:lnTo>
                  <a:lnTo>
                    <a:pt x="2355" y="424"/>
                  </a:lnTo>
                  <a:lnTo>
                    <a:pt x="2445" y="545"/>
                  </a:lnTo>
                  <a:lnTo>
                    <a:pt x="2255" y="649"/>
                  </a:lnTo>
                  <a:lnTo>
                    <a:pt x="2205" y="765"/>
                  </a:lnTo>
                  <a:lnTo>
                    <a:pt x="2313" y="892"/>
                  </a:lnTo>
                  <a:lnTo>
                    <a:pt x="2339" y="996"/>
                  </a:lnTo>
                  <a:lnTo>
                    <a:pt x="2256" y="1006"/>
                  </a:lnTo>
                  <a:lnTo>
                    <a:pt x="2235" y="1069"/>
                  </a:lnTo>
                  <a:lnTo>
                    <a:pt x="2247" y="1129"/>
                  </a:lnTo>
                  <a:lnTo>
                    <a:pt x="2135" y="1099"/>
                  </a:lnTo>
                  <a:lnTo>
                    <a:pt x="2016" y="1171"/>
                  </a:lnTo>
                  <a:lnTo>
                    <a:pt x="1940" y="1245"/>
                  </a:lnTo>
                  <a:lnTo>
                    <a:pt x="1911" y="1378"/>
                  </a:lnTo>
                  <a:lnTo>
                    <a:pt x="1893" y="1500"/>
                  </a:lnTo>
                  <a:lnTo>
                    <a:pt x="1760" y="1551"/>
                  </a:lnTo>
                  <a:lnTo>
                    <a:pt x="1635" y="1531"/>
                  </a:lnTo>
                  <a:lnTo>
                    <a:pt x="1610" y="1641"/>
                  </a:lnTo>
                  <a:lnTo>
                    <a:pt x="1520" y="1626"/>
                  </a:lnTo>
                  <a:lnTo>
                    <a:pt x="1500" y="1536"/>
                  </a:lnTo>
                  <a:lnTo>
                    <a:pt x="1395" y="1476"/>
                  </a:lnTo>
                  <a:lnTo>
                    <a:pt x="1219" y="1431"/>
                  </a:lnTo>
                  <a:lnTo>
                    <a:pt x="1184" y="1491"/>
                  </a:lnTo>
                  <a:lnTo>
                    <a:pt x="1124" y="1588"/>
                  </a:lnTo>
                  <a:lnTo>
                    <a:pt x="1025" y="1602"/>
                  </a:lnTo>
                  <a:lnTo>
                    <a:pt x="814" y="1666"/>
                  </a:lnTo>
                  <a:lnTo>
                    <a:pt x="734" y="1591"/>
                  </a:lnTo>
                  <a:lnTo>
                    <a:pt x="659" y="1651"/>
                  </a:lnTo>
                  <a:lnTo>
                    <a:pt x="629" y="1731"/>
                  </a:lnTo>
                  <a:lnTo>
                    <a:pt x="524" y="1671"/>
                  </a:lnTo>
                  <a:lnTo>
                    <a:pt x="524" y="1576"/>
                  </a:lnTo>
                  <a:lnTo>
                    <a:pt x="409" y="1636"/>
                  </a:lnTo>
                  <a:lnTo>
                    <a:pt x="359" y="1546"/>
                  </a:lnTo>
                  <a:lnTo>
                    <a:pt x="299" y="1606"/>
                  </a:lnTo>
                  <a:lnTo>
                    <a:pt x="134" y="1605"/>
                  </a:lnTo>
                  <a:lnTo>
                    <a:pt x="47" y="1441"/>
                  </a:lnTo>
                  <a:lnTo>
                    <a:pt x="0" y="1336"/>
                  </a:lnTo>
                  <a:lnTo>
                    <a:pt x="35" y="1215"/>
                  </a:lnTo>
                  <a:lnTo>
                    <a:pt x="240" y="1095"/>
                  </a:lnTo>
                  <a:lnTo>
                    <a:pt x="404" y="945"/>
                  </a:lnTo>
                  <a:lnTo>
                    <a:pt x="614" y="946"/>
                  </a:lnTo>
                  <a:lnTo>
                    <a:pt x="629" y="861"/>
                  </a:lnTo>
                  <a:lnTo>
                    <a:pt x="379" y="770"/>
                  </a:lnTo>
                  <a:lnTo>
                    <a:pt x="408" y="606"/>
                  </a:lnTo>
                  <a:lnTo>
                    <a:pt x="289" y="570"/>
                  </a:lnTo>
                  <a:lnTo>
                    <a:pt x="374" y="483"/>
                  </a:lnTo>
                  <a:lnTo>
                    <a:pt x="528" y="465"/>
                  </a:lnTo>
                  <a:lnTo>
                    <a:pt x="379" y="335"/>
                  </a:lnTo>
                  <a:lnTo>
                    <a:pt x="289" y="185"/>
                  </a:lnTo>
                  <a:lnTo>
                    <a:pt x="245" y="33"/>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1" name="Freeform 14">
              <a:extLst>
                <a:ext uri="{FF2B5EF4-FFF2-40B4-BE49-F238E27FC236}">
                  <a16:creationId xmlns:a16="http://schemas.microsoft.com/office/drawing/2014/main" id="{DDA6FB05-3A19-4AB0-AE84-B98ACD9ACFD4}"/>
                </a:ext>
              </a:extLst>
            </p:cNvPr>
            <p:cNvSpPr>
              <a:spLocks/>
            </p:cNvSpPr>
            <p:nvPr/>
          </p:nvSpPr>
          <p:spPr bwMode="auto">
            <a:xfrm>
              <a:off x="4264213" y="3881063"/>
              <a:ext cx="973138" cy="839788"/>
            </a:xfrm>
            <a:custGeom>
              <a:avLst/>
              <a:gdLst>
                <a:gd name="T0" fmla="*/ 0 w 3065"/>
                <a:gd name="T1" fmla="*/ 0 h 2646"/>
                <a:gd name="T2" fmla="*/ 0 w 3065"/>
                <a:gd name="T3" fmla="*/ 0 h 2646"/>
                <a:gd name="T4" fmla="*/ 0 w 3065"/>
                <a:gd name="T5" fmla="*/ 0 h 2646"/>
                <a:gd name="T6" fmla="*/ 0 w 3065"/>
                <a:gd name="T7" fmla="*/ 0 h 2646"/>
                <a:gd name="T8" fmla="*/ 0 w 3065"/>
                <a:gd name="T9" fmla="*/ 0 h 2646"/>
                <a:gd name="T10" fmla="*/ 0 w 3065"/>
                <a:gd name="T11" fmla="*/ 0 h 2646"/>
                <a:gd name="T12" fmla="*/ 0 w 3065"/>
                <a:gd name="T13" fmla="*/ 0 h 2646"/>
                <a:gd name="T14" fmla="*/ 0 w 3065"/>
                <a:gd name="T15" fmla="*/ 0 h 2646"/>
                <a:gd name="T16" fmla="*/ 0 w 3065"/>
                <a:gd name="T17" fmla="*/ 0 h 2646"/>
                <a:gd name="T18" fmla="*/ 0 w 3065"/>
                <a:gd name="T19" fmla="*/ 0 h 2646"/>
                <a:gd name="T20" fmla="*/ 0 w 3065"/>
                <a:gd name="T21" fmla="*/ 0 h 2646"/>
                <a:gd name="T22" fmla="*/ 0 w 3065"/>
                <a:gd name="T23" fmla="*/ 0 h 2646"/>
                <a:gd name="T24" fmla="*/ 0 w 3065"/>
                <a:gd name="T25" fmla="*/ 0 h 2646"/>
                <a:gd name="T26" fmla="*/ 0 w 3065"/>
                <a:gd name="T27" fmla="*/ 0 h 2646"/>
                <a:gd name="T28" fmla="*/ 0 w 3065"/>
                <a:gd name="T29" fmla="*/ 0 h 2646"/>
                <a:gd name="T30" fmla="*/ 0 w 3065"/>
                <a:gd name="T31" fmla="*/ 0 h 2646"/>
                <a:gd name="T32" fmla="*/ 0 w 3065"/>
                <a:gd name="T33" fmla="*/ 0 h 2646"/>
                <a:gd name="T34" fmla="*/ 0 w 3065"/>
                <a:gd name="T35" fmla="*/ 0 h 2646"/>
                <a:gd name="T36" fmla="*/ 0 w 3065"/>
                <a:gd name="T37" fmla="*/ 0 h 2646"/>
                <a:gd name="T38" fmla="*/ 0 w 3065"/>
                <a:gd name="T39" fmla="*/ 0 h 2646"/>
                <a:gd name="T40" fmla="*/ 0 w 3065"/>
                <a:gd name="T41" fmla="*/ 0 h 2646"/>
                <a:gd name="T42" fmla="*/ 0 w 3065"/>
                <a:gd name="T43" fmla="*/ 0 h 2646"/>
                <a:gd name="T44" fmla="*/ 0 w 3065"/>
                <a:gd name="T45" fmla="*/ 0 h 2646"/>
                <a:gd name="T46" fmla="*/ 0 w 3065"/>
                <a:gd name="T47" fmla="*/ 0 h 2646"/>
                <a:gd name="T48" fmla="*/ 0 w 3065"/>
                <a:gd name="T49" fmla="*/ 0 h 2646"/>
                <a:gd name="T50" fmla="*/ 0 w 3065"/>
                <a:gd name="T51" fmla="*/ 0 h 2646"/>
                <a:gd name="T52" fmla="*/ 0 w 3065"/>
                <a:gd name="T53" fmla="*/ 0 h 2646"/>
                <a:gd name="T54" fmla="*/ 0 w 3065"/>
                <a:gd name="T55" fmla="*/ 0 h 2646"/>
                <a:gd name="T56" fmla="*/ 0 w 3065"/>
                <a:gd name="T57" fmla="*/ 0 h 2646"/>
                <a:gd name="T58" fmla="*/ 0 w 3065"/>
                <a:gd name="T59" fmla="*/ 0 h 2646"/>
                <a:gd name="T60" fmla="*/ 0 w 3065"/>
                <a:gd name="T61" fmla="*/ 0 h 2646"/>
                <a:gd name="T62" fmla="*/ 0 w 3065"/>
                <a:gd name="T63" fmla="*/ 0 h 2646"/>
                <a:gd name="T64" fmla="*/ 0 w 3065"/>
                <a:gd name="T65" fmla="*/ 0 h 2646"/>
                <a:gd name="T66" fmla="*/ 0 w 3065"/>
                <a:gd name="T67" fmla="*/ 0 h 2646"/>
                <a:gd name="T68" fmla="*/ 0 w 3065"/>
                <a:gd name="T69" fmla="*/ 0 h 2646"/>
                <a:gd name="T70" fmla="*/ 0 w 3065"/>
                <a:gd name="T71" fmla="*/ 0 h 2646"/>
                <a:gd name="T72" fmla="*/ 0 w 3065"/>
                <a:gd name="T73" fmla="*/ 0 h 2646"/>
                <a:gd name="T74" fmla="*/ 0 w 3065"/>
                <a:gd name="T75" fmla="*/ 0 h 2646"/>
                <a:gd name="T76" fmla="*/ 0 w 3065"/>
                <a:gd name="T77" fmla="*/ 0 h 264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3065" h="2646">
                  <a:moveTo>
                    <a:pt x="1288" y="95"/>
                  </a:moveTo>
                  <a:lnTo>
                    <a:pt x="1453" y="120"/>
                  </a:lnTo>
                  <a:lnTo>
                    <a:pt x="1598" y="60"/>
                  </a:lnTo>
                  <a:lnTo>
                    <a:pt x="1823" y="60"/>
                  </a:lnTo>
                  <a:lnTo>
                    <a:pt x="1853" y="165"/>
                  </a:lnTo>
                  <a:lnTo>
                    <a:pt x="1798" y="270"/>
                  </a:lnTo>
                  <a:lnTo>
                    <a:pt x="1918" y="275"/>
                  </a:lnTo>
                  <a:lnTo>
                    <a:pt x="1993" y="230"/>
                  </a:lnTo>
                  <a:lnTo>
                    <a:pt x="2153" y="255"/>
                  </a:lnTo>
                  <a:lnTo>
                    <a:pt x="2258" y="315"/>
                  </a:lnTo>
                  <a:lnTo>
                    <a:pt x="2323" y="215"/>
                  </a:lnTo>
                  <a:lnTo>
                    <a:pt x="2293" y="110"/>
                  </a:lnTo>
                  <a:lnTo>
                    <a:pt x="2273" y="5"/>
                  </a:lnTo>
                  <a:lnTo>
                    <a:pt x="2353" y="0"/>
                  </a:lnTo>
                  <a:lnTo>
                    <a:pt x="2483" y="65"/>
                  </a:lnTo>
                  <a:lnTo>
                    <a:pt x="2723" y="185"/>
                  </a:lnTo>
                  <a:lnTo>
                    <a:pt x="2818" y="320"/>
                  </a:lnTo>
                  <a:lnTo>
                    <a:pt x="2908" y="287"/>
                  </a:lnTo>
                  <a:lnTo>
                    <a:pt x="2960" y="389"/>
                  </a:lnTo>
                  <a:lnTo>
                    <a:pt x="3058" y="381"/>
                  </a:lnTo>
                  <a:lnTo>
                    <a:pt x="3065" y="495"/>
                  </a:lnTo>
                  <a:lnTo>
                    <a:pt x="2903" y="515"/>
                  </a:lnTo>
                  <a:lnTo>
                    <a:pt x="2728" y="705"/>
                  </a:lnTo>
                  <a:lnTo>
                    <a:pt x="2828" y="930"/>
                  </a:lnTo>
                  <a:lnTo>
                    <a:pt x="2843" y="1028"/>
                  </a:lnTo>
                  <a:lnTo>
                    <a:pt x="2738" y="1095"/>
                  </a:lnTo>
                  <a:lnTo>
                    <a:pt x="2768" y="1145"/>
                  </a:lnTo>
                  <a:lnTo>
                    <a:pt x="2608" y="1265"/>
                  </a:lnTo>
                  <a:lnTo>
                    <a:pt x="2503" y="1426"/>
                  </a:lnTo>
                  <a:lnTo>
                    <a:pt x="2075" y="1588"/>
                  </a:lnTo>
                  <a:lnTo>
                    <a:pt x="2093" y="1446"/>
                  </a:lnTo>
                  <a:lnTo>
                    <a:pt x="1958" y="1531"/>
                  </a:lnTo>
                  <a:lnTo>
                    <a:pt x="1918" y="1621"/>
                  </a:lnTo>
                  <a:lnTo>
                    <a:pt x="1933" y="1701"/>
                  </a:lnTo>
                  <a:lnTo>
                    <a:pt x="1819" y="1776"/>
                  </a:lnTo>
                  <a:lnTo>
                    <a:pt x="1739" y="1920"/>
                  </a:lnTo>
                  <a:lnTo>
                    <a:pt x="1688" y="1863"/>
                  </a:lnTo>
                  <a:lnTo>
                    <a:pt x="1558" y="1938"/>
                  </a:lnTo>
                  <a:lnTo>
                    <a:pt x="1491" y="2092"/>
                  </a:lnTo>
                  <a:lnTo>
                    <a:pt x="1356" y="2071"/>
                  </a:lnTo>
                  <a:lnTo>
                    <a:pt x="1223" y="1996"/>
                  </a:lnTo>
                  <a:lnTo>
                    <a:pt x="1137" y="1908"/>
                  </a:lnTo>
                  <a:lnTo>
                    <a:pt x="998" y="1983"/>
                  </a:lnTo>
                  <a:lnTo>
                    <a:pt x="989" y="2070"/>
                  </a:lnTo>
                  <a:lnTo>
                    <a:pt x="884" y="2100"/>
                  </a:lnTo>
                  <a:lnTo>
                    <a:pt x="822" y="2166"/>
                  </a:lnTo>
                  <a:lnTo>
                    <a:pt x="854" y="2317"/>
                  </a:lnTo>
                  <a:lnTo>
                    <a:pt x="743" y="2287"/>
                  </a:lnTo>
                  <a:lnTo>
                    <a:pt x="615" y="2391"/>
                  </a:lnTo>
                  <a:lnTo>
                    <a:pt x="553" y="2211"/>
                  </a:lnTo>
                  <a:lnTo>
                    <a:pt x="474" y="2280"/>
                  </a:lnTo>
                  <a:lnTo>
                    <a:pt x="494" y="2379"/>
                  </a:lnTo>
                  <a:lnTo>
                    <a:pt x="464" y="2481"/>
                  </a:lnTo>
                  <a:lnTo>
                    <a:pt x="163" y="2551"/>
                  </a:lnTo>
                  <a:lnTo>
                    <a:pt x="98" y="2626"/>
                  </a:lnTo>
                  <a:lnTo>
                    <a:pt x="0" y="2646"/>
                  </a:lnTo>
                  <a:lnTo>
                    <a:pt x="74" y="2355"/>
                  </a:lnTo>
                  <a:lnTo>
                    <a:pt x="182" y="2284"/>
                  </a:lnTo>
                  <a:lnTo>
                    <a:pt x="279" y="2188"/>
                  </a:lnTo>
                  <a:lnTo>
                    <a:pt x="419" y="1995"/>
                  </a:lnTo>
                  <a:lnTo>
                    <a:pt x="388" y="1896"/>
                  </a:lnTo>
                  <a:lnTo>
                    <a:pt x="374" y="1779"/>
                  </a:lnTo>
                  <a:lnTo>
                    <a:pt x="308" y="1681"/>
                  </a:lnTo>
                  <a:lnTo>
                    <a:pt x="313" y="1561"/>
                  </a:lnTo>
                  <a:lnTo>
                    <a:pt x="208" y="1461"/>
                  </a:lnTo>
                  <a:lnTo>
                    <a:pt x="263" y="1381"/>
                  </a:lnTo>
                  <a:lnTo>
                    <a:pt x="448" y="1471"/>
                  </a:lnTo>
                  <a:lnTo>
                    <a:pt x="593" y="1531"/>
                  </a:lnTo>
                  <a:lnTo>
                    <a:pt x="718" y="1476"/>
                  </a:lnTo>
                  <a:lnTo>
                    <a:pt x="608" y="1416"/>
                  </a:lnTo>
                  <a:lnTo>
                    <a:pt x="510" y="1370"/>
                  </a:lnTo>
                  <a:lnTo>
                    <a:pt x="493" y="1185"/>
                  </a:lnTo>
                  <a:lnTo>
                    <a:pt x="478" y="1005"/>
                  </a:lnTo>
                  <a:lnTo>
                    <a:pt x="583" y="900"/>
                  </a:lnTo>
                  <a:lnTo>
                    <a:pt x="638" y="785"/>
                  </a:lnTo>
                  <a:lnTo>
                    <a:pt x="838" y="785"/>
                  </a:lnTo>
                  <a:lnTo>
                    <a:pt x="973" y="690"/>
                  </a:lnTo>
                  <a:lnTo>
                    <a:pt x="983" y="530"/>
                  </a:lnTo>
                  <a:lnTo>
                    <a:pt x="1078" y="395"/>
                  </a:lnTo>
                  <a:lnTo>
                    <a:pt x="1078" y="260"/>
                  </a:lnTo>
                  <a:lnTo>
                    <a:pt x="1288" y="95"/>
                  </a:lnTo>
                  <a:close/>
                </a:path>
              </a:pathLst>
            </a:custGeom>
            <a:solidFill>
              <a:schemeClr val="accent4">
                <a:lumMod val="60000"/>
                <a:lumOff val="40000"/>
              </a:schemeClr>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2" name="Freeform 15">
              <a:extLst>
                <a:ext uri="{FF2B5EF4-FFF2-40B4-BE49-F238E27FC236}">
                  <a16:creationId xmlns:a16="http://schemas.microsoft.com/office/drawing/2014/main" id="{97C3F654-F5EC-4800-8605-CA8412A0D57C}"/>
                </a:ext>
              </a:extLst>
            </p:cNvPr>
            <p:cNvSpPr>
              <a:spLocks/>
            </p:cNvSpPr>
            <p:nvPr/>
          </p:nvSpPr>
          <p:spPr bwMode="auto">
            <a:xfrm>
              <a:off x="4564250" y="3387350"/>
              <a:ext cx="714375" cy="593725"/>
            </a:xfrm>
            <a:custGeom>
              <a:avLst/>
              <a:gdLst>
                <a:gd name="T0" fmla="*/ 0 w 2251"/>
                <a:gd name="T1" fmla="*/ 0 h 1871"/>
                <a:gd name="T2" fmla="*/ 0 w 2251"/>
                <a:gd name="T3" fmla="*/ 0 h 1871"/>
                <a:gd name="T4" fmla="*/ 0 w 2251"/>
                <a:gd name="T5" fmla="*/ 0 h 1871"/>
                <a:gd name="T6" fmla="*/ 0 w 2251"/>
                <a:gd name="T7" fmla="*/ 0 h 1871"/>
                <a:gd name="T8" fmla="*/ 0 w 2251"/>
                <a:gd name="T9" fmla="*/ 0 h 1871"/>
                <a:gd name="T10" fmla="*/ 0 w 2251"/>
                <a:gd name="T11" fmla="*/ 0 h 1871"/>
                <a:gd name="T12" fmla="*/ 0 w 2251"/>
                <a:gd name="T13" fmla="*/ 0 h 1871"/>
                <a:gd name="T14" fmla="*/ 0 w 2251"/>
                <a:gd name="T15" fmla="*/ 0 h 1871"/>
                <a:gd name="T16" fmla="*/ 0 w 2251"/>
                <a:gd name="T17" fmla="*/ 0 h 1871"/>
                <a:gd name="T18" fmla="*/ 0 w 2251"/>
                <a:gd name="T19" fmla="*/ 0 h 1871"/>
                <a:gd name="T20" fmla="*/ 0 w 2251"/>
                <a:gd name="T21" fmla="*/ 0 h 1871"/>
                <a:gd name="T22" fmla="*/ 0 w 2251"/>
                <a:gd name="T23" fmla="*/ 0 h 1871"/>
                <a:gd name="T24" fmla="*/ 0 w 2251"/>
                <a:gd name="T25" fmla="*/ 0 h 1871"/>
                <a:gd name="T26" fmla="*/ 0 w 2251"/>
                <a:gd name="T27" fmla="*/ 0 h 1871"/>
                <a:gd name="T28" fmla="*/ 0 w 2251"/>
                <a:gd name="T29" fmla="*/ 0 h 1871"/>
                <a:gd name="T30" fmla="*/ 0 w 2251"/>
                <a:gd name="T31" fmla="*/ 0 h 1871"/>
                <a:gd name="T32" fmla="*/ 0 w 2251"/>
                <a:gd name="T33" fmla="*/ 0 h 1871"/>
                <a:gd name="T34" fmla="*/ 0 w 2251"/>
                <a:gd name="T35" fmla="*/ 0 h 1871"/>
                <a:gd name="T36" fmla="*/ 0 w 2251"/>
                <a:gd name="T37" fmla="*/ 0 h 1871"/>
                <a:gd name="T38" fmla="*/ 0 w 2251"/>
                <a:gd name="T39" fmla="*/ 0 h 1871"/>
                <a:gd name="T40" fmla="*/ 0 w 2251"/>
                <a:gd name="T41" fmla="*/ 0 h 1871"/>
                <a:gd name="T42" fmla="*/ 0 w 2251"/>
                <a:gd name="T43" fmla="*/ 0 h 1871"/>
                <a:gd name="T44" fmla="*/ 0 w 2251"/>
                <a:gd name="T45" fmla="*/ 0 h 1871"/>
                <a:gd name="T46" fmla="*/ 0 w 2251"/>
                <a:gd name="T47" fmla="*/ 0 h 1871"/>
                <a:gd name="T48" fmla="*/ 0 w 2251"/>
                <a:gd name="T49" fmla="*/ 0 h 1871"/>
                <a:gd name="T50" fmla="*/ 0 w 2251"/>
                <a:gd name="T51" fmla="*/ 0 h 1871"/>
                <a:gd name="T52" fmla="*/ 0 w 2251"/>
                <a:gd name="T53" fmla="*/ 0 h 1871"/>
                <a:gd name="T54" fmla="*/ 0 w 2251"/>
                <a:gd name="T55" fmla="*/ 0 h 1871"/>
                <a:gd name="T56" fmla="*/ 0 w 2251"/>
                <a:gd name="T57" fmla="*/ 0 h 1871"/>
                <a:gd name="T58" fmla="*/ 0 w 2251"/>
                <a:gd name="T59" fmla="*/ 0 h 1871"/>
                <a:gd name="T60" fmla="*/ 0 w 2251"/>
                <a:gd name="T61" fmla="*/ 0 h 1871"/>
                <a:gd name="T62" fmla="*/ 0 w 2251"/>
                <a:gd name="T63" fmla="*/ 0 h 18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251" h="1871">
                  <a:moveTo>
                    <a:pt x="2201" y="30"/>
                  </a:moveTo>
                  <a:lnTo>
                    <a:pt x="2221" y="175"/>
                  </a:lnTo>
                  <a:lnTo>
                    <a:pt x="2186" y="295"/>
                  </a:lnTo>
                  <a:lnTo>
                    <a:pt x="2251" y="375"/>
                  </a:lnTo>
                  <a:lnTo>
                    <a:pt x="2191" y="510"/>
                  </a:lnTo>
                  <a:lnTo>
                    <a:pt x="2096" y="645"/>
                  </a:lnTo>
                  <a:lnTo>
                    <a:pt x="1921" y="780"/>
                  </a:lnTo>
                  <a:lnTo>
                    <a:pt x="1766" y="790"/>
                  </a:lnTo>
                  <a:lnTo>
                    <a:pt x="1516" y="1047"/>
                  </a:lnTo>
                  <a:lnTo>
                    <a:pt x="1396" y="1007"/>
                  </a:lnTo>
                  <a:lnTo>
                    <a:pt x="1271" y="1047"/>
                  </a:lnTo>
                  <a:lnTo>
                    <a:pt x="1246" y="1207"/>
                  </a:lnTo>
                  <a:lnTo>
                    <a:pt x="1406" y="1262"/>
                  </a:lnTo>
                  <a:lnTo>
                    <a:pt x="1621" y="1452"/>
                  </a:lnTo>
                  <a:lnTo>
                    <a:pt x="1771" y="1592"/>
                  </a:lnTo>
                  <a:lnTo>
                    <a:pt x="1781" y="1742"/>
                  </a:lnTo>
                  <a:lnTo>
                    <a:pt x="1412" y="1557"/>
                  </a:lnTo>
                  <a:lnTo>
                    <a:pt x="1327" y="1563"/>
                  </a:lnTo>
                  <a:lnTo>
                    <a:pt x="1350" y="1666"/>
                  </a:lnTo>
                  <a:lnTo>
                    <a:pt x="1381" y="1773"/>
                  </a:lnTo>
                  <a:lnTo>
                    <a:pt x="1316" y="1871"/>
                  </a:lnTo>
                  <a:lnTo>
                    <a:pt x="1214" y="1812"/>
                  </a:lnTo>
                  <a:lnTo>
                    <a:pt x="1051" y="1788"/>
                  </a:lnTo>
                  <a:lnTo>
                    <a:pt x="973" y="1833"/>
                  </a:lnTo>
                  <a:lnTo>
                    <a:pt x="853" y="1828"/>
                  </a:lnTo>
                  <a:lnTo>
                    <a:pt x="909" y="1722"/>
                  </a:lnTo>
                  <a:lnTo>
                    <a:pt x="881" y="1617"/>
                  </a:lnTo>
                  <a:lnTo>
                    <a:pt x="659" y="1616"/>
                  </a:lnTo>
                  <a:lnTo>
                    <a:pt x="510" y="1677"/>
                  </a:lnTo>
                  <a:lnTo>
                    <a:pt x="345" y="1652"/>
                  </a:lnTo>
                  <a:lnTo>
                    <a:pt x="354" y="1577"/>
                  </a:lnTo>
                  <a:lnTo>
                    <a:pt x="510" y="1424"/>
                  </a:lnTo>
                  <a:lnTo>
                    <a:pt x="506" y="1331"/>
                  </a:lnTo>
                  <a:lnTo>
                    <a:pt x="386" y="1302"/>
                  </a:lnTo>
                  <a:lnTo>
                    <a:pt x="332" y="1188"/>
                  </a:lnTo>
                  <a:lnTo>
                    <a:pt x="346" y="977"/>
                  </a:lnTo>
                  <a:lnTo>
                    <a:pt x="227" y="1022"/>
                  </a:lnTo>
                  <a:lnTo>
                    <a:pt x="119" y="883"/>
                  </a:lnTo>
                  <a:lnTo>
                    <a:pt x="0" y="760"/>
                  </a:lnTo>
                  <a:lnTo>
                    <a:pt x="26" y="569"/>
                  </a:lnTo>
                  <a:lnTo>
                    <a:pt x="87" y="506"/>
                  </a:lnTo>
                  <a:lnTo>
                    <a:pt x="249" y="504"/>
                  </a:lnTo>
                  <a:lnTo>
                    <a:pt x="311" y="446"/>
                  </a:lnTo>
                  <a:lnTo>
                    <a:pt x="362" y="536"/>
                  </a:lnTo>
                  <a:lnTo>
                    <a:pt x="476" y="476"/>
                  </a:lnTo>
                  <a:lnTo>
                    <a:pt x="476" y="571"/>
                  </a:lnTo>
                  <a:lnTo>
                    <a:pt x="579" y="631"/>
                  </a:lnTo>
                  <a:lnTo>
                    <a:pt x="611" y="550"/>
                  </a:lnTo>
                  <a:lnTo>
                    <a:pt x="687" y="491"/>
                  </a:lnTo>
                  <a:lnTo>
                    <a:pt x="765" y="566"/>
                  </a:lnTo>
                  <a:lnTo>
                    <a:pt x="977" y="502"/>
                  </a:lnTo>
                  <a:lnTo>
                    <a:pt x="1077" y="487"/>
                  </a:lnTo>
                  <a:lnTo>
                    <a:pt x="1171" y="330"/>
                  </a:lnTo>
                  <a:lnTo>
                    <a:pt x="1345" y="377"/>
                  </a:lnTo>
                  <a:lnTo>
                    <a:pt x="1451" y="435"/>
                  </a:lnTo>
                  <a:lnTo>
                    <a:pt x="1471" y="527"/>
                  </a:lnTo>
                  <a:lnTo>
                    <a:pt x="1561" y="541"/>
                  </a:lnTo>
                  <a:lnTo>
                    <a:pt x="1586" y="430"/>
                  </a:lnTo>
                  <a:lnTo>
                    <a:pt x="1711" y="451"/>
                  </a:lnTo>
                  <a:lnTo>
                    <a:pt x="1846" y="400"/>
                  </a:lnTo>
                  <a:lnTo>
                    <a:pt x="1861" y="280"/>
                  </a:lnTo>
                  <a:lnTo>
                    <a:pt x="1891" y="145"/>
                  </a:lnTo>
                  <a:lnTo>
                    <a:pt x="1966" y="70"/>
                  </a:lnTo>
                  <a:lnTo>
                    <a:pt x="2086" y="0"/>
                  </a:lnTo>
                  <a:lnTo>
                    <a:pt x="2201" y="3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3" name="Freeform 16">
              <a:extLst>
                <a:ext uri="{FF2B5EF4-FFF2-40B4-BE49-F238E27FC236}">
                  <a16:creationId xmlns:a16="http://schemas.microsoft.com/office/drawing/2014/main" id="{DAC7A0CE-E11A-4FB5-93FD-6C3F1C647134}"/>
                </a:ext>
              </a:extLst>
            </p:cNvPr>
            <p:cNvSpPr>
              <a:spLocks/>
            </p:cNvSpPr>
            <p:nvPr/>
          </p:nvSpPr>
          <p:spPr bwMode="auto">
            <a:xfrm>
              <a:off x="4959538" y="3049213"/>
              <a:ext cx="600075" cy="989013"/>
            </a:xfrm>
            <a:custGeom>
              <a:avLst/>
              <a:gdLst>
                <a:gd name="T0" fmla="*/ 0 w 1891"/>
                <a:gd name="T1" fmla="*/ 0 h 3116"/>
                <a:gd name="T2" fmla="*/ 0 w 1891"/>
                <a:gd name="T3" fmla="*/ 0 h 3116"/>
                <a:gd name="T4" fmla="*/ 0 w 1891"/>
                <a:gd name="T5" fmla="*/ 0 h 3116"/>
                <a:gd name="T6" fmla="*/ 0 w 1891"/>
                <a:gd name="T7" fmla="*/ 0 h 3116"/>
                <a:gd name="T8" fmla="*/ 0 w 1891"/>
                <a:gd name="T9" fmla="*/ 0 h 3116"/>
                <a:gd name="T10" fmla="*/ 0 w 1891"/>
                <a:gd name="T11" fmla="*/ 0 h 3116"/>
                <a:gd name="T12" fmla="*/ 0 w 1891"/>
                <a:gd name="T13" fmla="*/ 0 h 3116"/>
                <a:gd name="T14" fmla="*/ 0 w 1891"/>
                <a:gd name="T15" fmla="*/ 0 h 3116"/>
                <a:gd name="T16" fmla="*/ 0 w 1891"/>
                <a:gd name="T17" fmla="*/ 0 h 3116"/>
                <a:gd name="T18" fmla="*/ 0 w 1891"/>
                <a:gd name="T19" fmla="*/ 0 h 3116"/>
                <a:gd name="T20" fmla="*/ 0 w 1891"/>
                <a:gd name="T21" fmla="*/ 0 h 3116"/>
                <a:gd name="T22" fmla="*/ 0 w 1891"/>
                <a:gd name="T23" fmla="*/ 0 h 3116"/>
                <a:gd name="T24" fmla="*/ 0 w 1891"/>
                <a:gd name="T25" fmla="*/ 0 h 3116"/>
                <a:gd name="T26" fmla="*/ 0 w 1891"/>
                <a:gd name="T27" fmla="*/ 0 h 3116"/>
                <a:gd name="T28" fmla="*/ 0 w 1891"/>
                <a:gd name="T29" fmla="*/ 0 h 3116"/>
                <a:gd name="T30" fmla="*/ 0 w 1891"/>
                <a:gd name="T31" fmla="*/ 0 h 3116"/>
                <a:gd name="T32" fmla="*/ 0 w 1891"/>
                <a:gd name="T33" fmla="*/ 0 h 3116"/>
                <a:gd name="T34" fmla="*/ 0 w 1891"/>
                <a:gd name="T35" fmla="*/ 0 h 3116"/>
                <a:gd name="T36" fmla="*/ 0 w 1891"/>
                <a:gd name="T37" fmla="*/ 0 h 3116"/>
                <a:gd name="T38" fmla="*/ 0 w 1891"/>
                <a:gd name="T39" fmla="*/ 0 h 3116"/>
                <a:gd name="T40" fmla="*/ 0 w 1891"/>
                <a:gd name="T41" fmla="*/ 0 h 3116"/>
                <a:gd name="T42" fmla="*/ 0 w 1891"/>
                <a:gd name="T43" fmla="*/ 0 h 3116"/>
                <a:gd name="T44" fmla="*/ 0 w 1891"/>
                <a:gd name="T45" fmla="*/ 0 h 3116"/>
                <a:gd name="T46" fmla="*/ 0 w 1891"/>
                <a:gd name="T47" fmla="*/ 0 h 3116"/>
                <a:gd name="T48" fmla="*/ 0 w 1891"/>
                <a:gd name="T49" fmla="*/ 0 h 3116"/>
                <a:gd name="T50" fmla="*/ 0 w 1891"/>
                <a:gd name="T51" fmla="*/ 0 h 3116"/>
                <a:gd name="T52" fmla="*/ 0 w 1891"/>
                <a:gd name="T53" fmla="*/ 0 h 3116"/>
                <a:gd name="T54" fmla="*/ 0 w 1891"/>
                <a:gd name="T55" fmla="*/ 0 h 3116"/>
                <a:gd name="T56" fmla="*/ 0 w 1891"/>
                <a:gd name="T57" fmla="*/ 0 h 3116"/>
                <a:gd name="T58" fmla="*/ 0 w 1891"/>
                <a:gd name="T59" fmla="*/ 0 h 3116"/>
                <a:gd name="T60" fmla="*/ 0 w 1891"/>
                <a:gd name="T61" fmla="*/ 0 h 3116"/>
                <a:gd name="T62" fmla="*/ 0 w 1891"/>
                <a:gd name="T63" fmla="*/ 0 h 3116"/>
                <a:gd name="T64" fmla="*/ 0 w 1891"/>
                <a:gd name="T65" fmla="*/ 0 h 3116"/>
                <a:gd name="T66" fmla="*/ 0 w 1891"/>
                <a:gd name="T67" fmla="*/ 0 h 3116"/>
                <a:gd name="T68" fmla="*/ 0 w 1891"/>
                <a:gd name="T69" fmla="*/ 0 h 3116"/>
                <a:gd name="T70" fmla="*/ 0 w 1891"/>
                <a:gd name="T71" fmla="*/ 0 h 3116"/>
                <a:gd name="T72" fmla="*/ 0 w 1891"/>
                <a:gd name="T73" fmla="*/ 0 h 3116"/>
                <a:gd name="T74" fmla="*/ 0 w 1891"/>
                <a:gd name="T75" fmla="*/ 0 h 3116"/>
                <a:gd name="T76" fmla="*/ 0 w 1891"/>
                <a:gd name="T77" fmla="*/ 0 h 3116"/>
                <a:gd name="T78" fmla="*/ 0 w 1891"/>
                <a:gd name="T79" fmla="*/ 0 h 3116"/>
                <a:gd name="T80" fmla="*/ 0 w 1891"/>
                <a:gd name="T81" fmla="*/ 0 h 3116"/>
                <a:gd name="T82" fmla="*/ 0 w 1891"/>
                <a:gd name="T83" fmla="*/ 0 h 311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891" h="3116">
                  <a:moveTo>
                    <a:pt x="879" y="3116"/>
                  </a:moveTo>
                  <a:lnTo>
                    <a:pt x="1050" y="3042"/>
                  </a:lnTo>
                  <a:lnTo>
                    <a:pt x="1150" y="2882"/>
                  </a:lnTo>
                  <a:lnTo>
                    <a:pt x="1495" y="2897"/>
                  </a:lnTo>
                  <a:lnTo>
                    <a:pt x="1680" y="2847"/>
                  </a:lnTo>
                  <a:lnTo>
                    <a:pt x="1590" y="2566"/>
                  </a:lnTo>
                  <a:lnTo>
                    <a:pt x="1588" y="2354"/>
                  </a:lnTo>
                  <a:lnTo>
                    <a:pt x="1545" y="2276"/>
                  </a:lnTo>
                  <a:lnTo>
                    <a:pt x="1605" y="2176"/>
                  </a:lnTo>
                  <a:lnTo>
                    <a:pt x="1464" y="2125"/>
                  </a:lnTo>
                  <a:lnTo>
                    <a:pt x="1465" y="2038"/>
                  </a:lnTo>
                  <a:lnTo>
                    <a:pt x="1359" y="1981"/>
                  </a:lnTo>
                  <a:lnTo>
                    <a:pt x="1345" y="1843"/>
                  </a:lnTo>
                  <a:lnTo>
                    <a:pt x="1410" y="1796"/>
                  </a:lnTo>
                  <a:lnTo>
                    <a:pt x="1440" y="1706"/>
                  </a:lnTo>
                  <a:lnTo>
                    <a:pt x="1360" y="1591"/>
                  </a:lnTo>
                  <a:lnTo>
                    <a:pt x="1150" y="1499"/>
                  </a:lnTo>
                  <a:lnTo>
                    <a:pt x="1060" y="1409"/>
                  </a:lnTo>
                  <a:lnTo>
                    <a:pt x="1120" y="1244"/>
                  </a:lnTo>
                  <a:lnTo>
                    <a:pt x="1215" y="1269"/>
                  </a:lnTo>
                  <a:lnTo>
                    <a:pt x="1270" y="1214"/>
                  </a:lnTo>
                  <a:lnTo>
                    <a:pt x="1230" y="1134"/>
                  </a:lnTo>
                  <a:lnTo>
                    <a:pt x="1320" y="1104"/>
                  </a:lnTo>
                  <a:lnTo>
                    <a:pt x="1450" y="1134"/>
                  </a:lnTo>
                  <a:lnTo>
                    <a:pt x="1495" y="1049"/>
                  </a:lnTo>
                  <a:lnTo>
                    <a:pt x="1396" y="924"/>
                  </a:lnTo>
                  <a:lnTo>
                    <a:pt x="1303" y="942"/>
                  </a:lnTo>
                  <a:lnTo>
                    <a:pt x="1150" y="774"/>
                  </a:lnTo>
                  <a:lnTo>
                    <a:pt x="1075" y="794"/>
                  </a:lnTo>
                  <a:lnTo>
                    <a:pt x="1065" y="704"/>
                  </a:lnTo>
                  <a:lnTo>
                    <a:pt x="1090" y="592"/>
                  </a:lnTo>
                  <a:lnTo>
                    <a:pt x="1260" y="493"/>
                  </a:lnTo>
                  <a:lnTo>
                    <a:pt x="1173" y="420"/>
                  </a:lnTo>
                  <a:lnTo>
                    <a:pt x="1215" y="358"/>
                  </a:lnTo>
                  <a:lnTo>
                    <a:pt x="1330" y="443"/>
                  </a:lnTo>
                  <a:lnTo>
                    <a:pt x="1305" y="524"/>
                  </a:lnTo>
                  <a:lnTo>
                    <a:pt x="1375" y="569"/>
                  </a:lnTo>
                  <a:lnTo>
                    <a:pt x="1495" y="493"/>
                  </a:lnTo>
                  <a:lnTo>
                    <a:pt x="1455" y="428"/>
                  </a:lnTo>
                  <a:lnTo>
                    <a:pt x="1545" y="428"/>
                  </a:lnTo>
                  <a:lnTo>
                    <a:pt x="1585" y="524"/>
                  </a:lnTo>
                  <a:lnTo>
                    <a:pt x="1635" y="599"/>
                  </a:lnTo>
                  <a:lnTo>
                    <a:pt x="1755" y="669"/>
                  </a:lnTo>
                  <a:lnTo>
                    <a:pt x="1770" y="539"/>
                  </a:lnTo>
                  <a:lnTo>
                    <a:pt x="1855" y="503"/>
                  </a:lnTo>
                  <a:lnTo>
                    <a:pt x="1891" y="234"/>
                  </a:lnTo>
                  <a:lnTo>
                    <a:pt x="1657" y="163"/>
                  </a:lnTo>
                  <a:lnTo>
                    <a:pt x="1584" y="205"/>
                  </a:lnTo>
                  <a:lnTo>
                    <a:pt x="1398" y="92"/>
                  </a:lnTo>
                  <a:lnTo>
                    <a:pt x="1359" y="6"/>
                  </a:lnTo>
                  <a:lnTo>
                    <a:pt x="1210" y="59"/>
                  </a:lnTo>
                  <a:lnTo>
                    <a:pt x="1075" y="68"/>
                  </a:lnTo>
                  <a:lnTo>
                    <a:pt x="990" y="0"/>
                  </a:lnTo>
                  <a:lnTo>
                    <a:pt x="949" y="70"/>
                  </a:lnTo>
                  <a:lnTo>
                    <a:pt x="1005" y="148"/>
                  </a:lnTo>
                  <a:lnTo>
                    <a:pt x="1090" y="268"/>
                  </a:lnTo>
                  <a:lnTo>
                    <a:pt x="1063" y="388"/>
                  </a:lnTo>
                  <a:lnTo>
                    <a:pt x="1149" y="509"/>
                  </a:lnTo>
                  <a:lnTo>
                    <a:pt x="960" y="614"/>
                  </a:lnTo>
                  <a:lnTo>
                    <a:pt x="909" y="729"/>
                  </a:lnTo>
                  <a:lnTo>
                    <a:pt x="1018" y="856"/>
                  </a:lnTo>
                  <a:lnTo>
                    <a:pt x="1045" y="959"/>
                  </a:lnTo>
                  <a:lnTo>
                    <a:pt x="960" y="969"/>
                  </a:lnTo>
                  <a:lnTo>
                    <a:pt x="939" y="1034"/>
                  </a:lnTo>
                  <a:lnTo>
                    <a:pt x="960" y="1119"/>
                  </a:lnTo>
                  <a:lnTo>
                    <a:pt x="975" y="1240"/>
                  </a:lnTo>
                  <a:lnTo>
                    <a:pt x="939" y="1359"/>
                  </a:lnTo>
                  <a:lnTo>
                    <a:pt x="1005" y="1438"/>
                  </a:lnTo>
                  <a:lnTo>
                    <a:pt x="944" y="1576"/>
                  </a:lnTo>
                  <a:lnTo>
                    <a:pt x="853" y="1709"/>
                  </a:lnTo>
                  <a:lnTo>
                    <a:pt x="678" y="1844"/>
                  </a:lnTo>
                  <a:lnTo>
                    <a:pt x="519" y="1856"/>
                  </a:lnTo>
                  <a:lnTo>
                    <a:pt x="268" y="2111"/>
                  </a:lnTo>
                  <a:lnTo>
                    <a:pt x="151" y="2071"/>
                  </a:lnTo>
                  <a:lnTo>
                    <a:pt x="25" y="2111"/>
                  </a:lnTo>
                  <a:lnTo>
                    <a:pt x="0" y="2272"/>
                  </a:lnTo>
                  <a:lnTo>
                    <a:pt x="160" y="2326"/>
                  </a:lnTo>
                  <a:lnTo>
                    <a:pt x="355" y="2498"/>
                  </a:lnTo>
                  <a:lnTo>
                    <a:pt x="526" y="2658"/>
                  </a:lnTo>
                  <a:lnTo>
                    <a:pt x="534" y="2807"/>
                  </a:lnTo>
                  <a:lnTo>
                    <a:pt x="629" y="2942"/>
                  </a:lnTo>
                  <a:lnTo>
                    <a:pt x="719" y="2907"/>
                  </a:lnTo>
                  <a:lnTo>
                    <a:pt x="774" y="3012"/>
                  </a:lnTo>
                  <a:lnTo>
                    <a:pt x="869" y="3002"/>
                  </a:lnTo>
                  <a:lnTo>
                    <a:pt x="879" y="3116"/>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4" name="Freeform 17">
              <a:extLst>
                <a:ext uri="{FF2B5EF4-FFF2-40B4-BE49-F238E27FC236}">
                  <a16:creationId xmlns:a16="http://schemas.microsoft.com/office/drawing/2014/main" id="{1E52AED7-21B0-4F4C-964B-AEDC62D2782B}"/>
                </a:ext>
              </a:extLst>
            </p:cNvPr>
            <p:cNvSpPr>
              <a:spLocks/>
            </p:cNvSpPr>
            <p:nvPr/>
          </p:nvSpPr>
          <p:spPr bwMode="auto">
            <a:xfrm>
              <a:off x="3195825" y="2436438"/>
              <a:ext cx="466725" cy="568325"/>
            </a:xfrm>
            <a:custGeom>
              <a:avLst/>
              <a:gdLst>
                <a:gd name="T0" fmla="*/ 0 w 1471"/>
                <a:gd name="T1" fmla="*/ 0 h 1788"/>
                <a:gd name="T2" fmla="*/ 0 w 1471"/>
                <a:gd name="T3" fmla="*/ 0 h 1788"/>
                <a:gd name="T4" fmla="*/ 0 w 1471"/>
                <a:gd name="T5" fmla="*/ 0 h 1788"/>
                <a:gd name="T6" fmla="*/ 0 w 1471"/>
                <a:gd name="T7" fmla="*/ 0 h 1788"/>
                <a:gd name="T8" fmla="*/ 0 w 1471"/>
                <a:gd name="T9" fmla="*/ 0 h 1788"/>
                <a:gd name="T10" fmla="*/ 0 w 1471"/>
                <a:gd name="T11" fmla="*/ 0 h 1788"/>
                <a:gd name="T12" fmla="*/ 0 w 1471"/>
                <a:gd name="T13" fmla="*/ 0 h 1788"/>
                <a:gd name="T14" fmla="*/ 0 w 1471"/>
                <a:gd name="T15" fmla="*/ 0 h 1788"/>
                <a:gd name="T16" fmla="*/ 0 w 1471"/>
                <a:gd name="T17" fmla="*/ 0 h 1788"/>
                <a:gd name="T18" fmla="*/ 0 w 1471"/>
                <a:gd name="T19" fmla="*/ 0 h 1788"/>
                <a:gd name="T20" fmla="*/ 0 w 1471"/>
                <a:gd name="T21" fmla="*/ 0 h 1788"/>
                <a:gd name="T22" fmla="*/ 0 w 1471"/>
                <a:gd name="T23" fmla="*/ 0 h 1788"/>
                <a:gd name="T24" fmla="*/ 0 w 1471"/>
                <a:gd name="T25" fmla="*/ 0 h 1788"/>
                <a:gd name="T26" fmla="*/ 0 w 1471"/>
                <a:gd name="T27" fmla="*/ 0 h 1788"/>
                <a:gd name="T28" fmla="*/ 0 w 1471"/>
                <a:gd name="T29" fmla="*/ 0 h 1788"/>
                <a:gd name="T30" fmla="*/ 0 w 1471"/>
                <a:gd name="T31" fmla="*/ 0 h 1788"/>
                <a:gd name="T32" fmla="*/ 0 w 1471"/>
                <a:gd name="T33" fmla="*/ 0 h 1788"/>
                <a:gd name="T34" fmla="*/ 0 w 1471"/>
                <a:gd name="T35" fmla="*/ 0 h 1788"/>
                <a:gd name="T36" fmla="*/ 0 w 1471"/>
                <a:gd name="T37" fmla="*/ 0 h 1788"/>
                <a:gd name="T38" fmla="*/ 0 w 1471"/>
                <a:gd name="T39" fmla="*/ 0 h 1788"/>
                <a:gd name="T40" fmla="*/ 0 w 1471"/>
                <a:gd name="T41" fmla="*/ 0 h 1788"/>
                <a:gd name="T42" fmla="*/ 0 w 1471"/>
                <a:gd name="T43" fmla="*/ 0 h 1788"/>
                <a:gd name="T44" fmla="*/ 0 w 1471"/>
                <a:gd name="T45" fmla="*/ 0 h 1788"/>
                <a:gd name="T46" fmla="*/ 0 w 1471"/>
                <a:gd name="T47" fmla="*/ 0 h 1788"/>
                <a:gd name="T48" fmla="*/ 0 w 1471"/>
                <a:gd name="T49" fmla="*/ 0 h 1788"/>
                <a:gd name="T50" fmla="*/ 0 w 1471"/>
                <a:gd name="T51" fmla="*/ 0 h 1788"/>
                <a:gd name="T52" fmla="*/ 0 w 1471"/>
                <a:gd name="T53" fmla="*/ 0 h 1788"/>
                <a:gd name="T54" fmla="*/ 0 w 1471"/>
                <a:gd name="T55" fmla="*/ 0 h 1788"/>
                <a:gd name="T56" fmla="*/ 0 w 1471"/>
                <a:gd name="T57" fmla="*/ 0 h 1788"/>
                <a:gd name="T58" fmla="*/ 0 w 1471"/>
                <a:gd name="T59" fmla="*/ 0 h 1788"/>
                <a:gd name="T60" fmla="*/ 0 w 1471"/>
                <a:gd name="T61" fmla="*/ 0 h 1788"/>
                <a:gd name="T62" fmla="*/ 0 w 1471"/>
                <a:gd name="T63" fmla="*/ 0 h 1788"/>
                <a:gd name="T64" fmla="*/ 0 w 1471"/>
                <a:gd name="T65" fmla="*/ 0 h 1788"/>
                <a:gd name="T66" fmla="*/ 0 w 1471"/>
                <a:gd name="T67" fmla="*/ 0 h 1788"/>
                <a:gd name="T68" fmla="*/ 0 w 1471"/>
                <a:gd name="T69" fmla="*/ 0 h 1788"/>
                <a:gd name="T70" fmla="*/ 0 w 1471"/>
                <a:gd name="T71" fmla="*/ 0 h 1788"/>
                <a:gd name="T72" fmla="*/ 0 w 1471"/>
                <a:gd name="T73" fmla="*/ 0 h 1788"/>
                <a:gd name="T74" fmla="*/ 0 w 1471"/>
                <a:gd name="T75" fmla="*/ 0 h 1788"/>
                <a:gd name="T76" fmla="*/ 0 w 1471"/>
                <a:gd name="T77" fmla="*/ 0 h 1788"/>
                <a:gd name="T78" fmla="*/ 0 w 1471"/>
                <a:gd name="T79" fmla="*/ 0 h 1788"/>
                <a:gd name="T80" fmla="*/ 0 w 1471"/>
                <a:gd name="T81" fmla="*/ 0 h 1788"/>
                <a:gd name="T82" fmla="*/ 0 w 1471"/>
                <a:gd name="T83" fmla="*/ 0 h 1788"/>
                <a:gd name="T84" fmla="*/ 0 w 1471"/>
                <a:gd name="T85" fmla="*/ 0 h 1788"/>
                <a:gd name="T86" fmla="*/ 0 w 1471"/>
                <a:gd name="T87" fmla="*/ 0 h 1788"/>
                <a:gd name="T88" fmla="*/ 0 w 1471"/>
                <a:gd name="T89" fmla="*/ 0 h 178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471" h="1788">
                  <a:moveTo>
                    <a:pt x="33" y="543"/>
                  </a:moveTo>
                  <a:lnTo>
                    <a:pt x="196" y="498"/>
                  </a:lnTo>
                  <a:lnTo>
                    <a:pt x="332" y="574"/>
                  </a:lnTo>
                  <a:lnTo>
                    <a:pt x="347" y="711"/>
                  </a:lnTo>
                  <a:lnTo>
                    <a:pt x="514" y="619"/>
                  </a:lnTo>
                  <a:lnTo>
                    <a:pt x="646" y="624"/>
                  </a:lnTo>
                  <a:lnTo>
                    <a:pt x="740" y="679"/>
                  </a:lnTo>
                  <a:lnTo>
                    <a:pt x="816" y="573"/>
                  </a:lnTo>
                  <a:lnTo>
                    <a:pt x="828" y="456"/>
                  </a:lnTo>
                  <a:lnTo>
                    <a:pt x="997" y="468"/>
                  </a:lnTo>
                  <a:lnTo>
                    <a:pt x="1022" y="368"/>
                  </a:lnTo>
                  <a:lnTo>
                    <a:pt x="1087" y="262"/>
                  </a:lnTo>
                  <a:lnTo>
                    <a:pt x="1172" y="292"/>
                  </a:lnTo>
                  <a:lnTo>
                    <a:pt x="1221" y="290"/>
                  </a:lnTo>
                  <a:lnTo>
                    <a:pt x="1206" y="137"/>
                  </a:lnTo>
                  <a:lnTo>
                    <a:pt x="1143" y="111"/>
                  </a:lnTo>
                  <a:lnTo>
                    <a:pt x="1113" y="65"/>
                  </a:lnTo>
                  <a:lnTo>
                    <a:pt x="1110" y="42"/>
                  </a:lnTo>
                  <a:lnTo>
                    <a:pt x="1141" y="38"/>
                  </a:lnTo>
                  <a:lnTo>
                    <a:pt x="1147" y="18"/>
                  </a:lnTo>
                  <a:lnTo>
                    <a:pt x="1153" y="2"/>
                  </a:lnTo>
                  <a:lnTo>
                    <a:pt x="1170" y="0"/>
                  </a:lnTo>
                  <a:lnTo>
                    <a:pt x="1206" y="39"/>
                  </a:lnTo>
                  <a:lnTo>
                    <a:pt x="1339" y="149"/>
                  </a:lnTo>
                  <a:lnTo>
                    <a:pt x="1317" y="197"/>
                  </a:lnTo>
                  <a:lnTo>
                    <a:pt x="1298" y="242"/>
                  </a:lnTo>
                  <a:lnTo>
                    <a:pt x="1471" y="346"/>
                  </a:lnTo>
                  <a:lnTo>
                    <a:pt x="1417" y="460"/>
                  </a:lnTo>
                  <a:lnTo>
                    <a:pt x="1299" y="562"/>
                  </a:lnTo>
                  <a:lnTo>
                    <a:pt x="1221" y="744"/>
                  </a:lnTo>
                  <a:lnTo>
                    <a:pt x="1283" y="1099"/>
                  </a:lnTo>
                  <a:lnTo>
                    <a:pt x="1266" y="1151"/>
                  </a:lnTo>
                  <a:lnTo>
                    <a:pt x="1194" y="1181"/>
                  </a:lnTo>
                  <a:lnTo>
                    <a:pt x="1206" y="1263"/>
                  </a:lnTo>
                  <a:lnTo>
                    <a:pt x="1159" y="1296"/>
                  </a:lnTo>
                  <a:lnTo>
                    <a:pt x="1197" y="1329"/>
                  </a:lnTo>
                  <a:lnTo>
                    <a:pt x="1249" y="1304"/>
                  </a:lnTo>
                  <a:lnTo>
                    <a:pt x="1296" y="1373"/>
                  </a:lnTo>
                  <a:lnTo>
                    <a:pt x="1351" y="1328"/>
                  </a:lnTo>
                  <a:lnTo>
                    <a:pt x="1433" y="1449"/>
                  </a:lnTo>
                  <a:lnTo>
                    <a:pt x="1429" y="1568"/>
                  </a:lnTo>
                  <a:lnTo>
                    <a:pt x="1342" y="1748"/>
                  </a:lnTo>
                  <a:lnTo>
                    <a:pt x="1205" y="1734"/>
                  </a:lnTo>
                  <a:lnTo>
                    <a:pt x="1133" y="1788"/>
                  </a:lnTo>
                  <a:lnTo>
                    <a:pt x="1132" y="1625"/>
                  </a:lnTo>
                  <a:lnTo>
                    <a:pt x="1102" y="1489"/>
                  </a:lnTo>
                  <a:lnTo>
                    <a:pt x="1027" y="1585"/>
                  </a:lnTo>
                  <a:lnTo>
                    <a:pt x="932" y="1630"/>
                  </a:lnTo>
                  <a:lnTo>
                    <a:pt x="887" y="1540"/>
                  </a:lnTo>
                  <a:lnTo>
                    <a:pt x="787" y="1570"/>
                  </a:lnTo>
                  <a:lnTo>
                    <a:pt x="740" y="1704"/>
                  </a:lnTo>
                  <a:lnTo>
                    <a:pt x="667" y="1685"/>
                  </a:lnTo>
                  <a:lnTo>
                    <a:pt x="691" y="1535"/>
                  </a:lnTo>
                  <a:lnTo>
                    <a:pt x="631" y="1400"/>
                  </a:lnTo>
                  <a:lnTo>
                    <a:pt x="485" y="1295"/>
                  </a:lnTo>
                  <a:lnTo>
                    <a:pt x="497" y="1090"/>
                  </a:lnTo>
                  <a:lnTo>
                    <a:pt x="436" y="1012"/>
                  </a:lnTo>
                  <a:lnTo>
                    <a:pt x="440" y="880"/>
                  </a:lnTo>
                  <a:lnTo>
                    <a:pt x="307" y="904"/>
                  </a:lnTo>
                  <a:lnTo>
                    <a:pt x="63" y="874"/>
                  </a:lnTo>
                  <a:lnTo>
                    <a:pt x="60" y="715"/>
                  </a:lnTo>
                  <a:lnTo>
                    <a:pt x="0" y="624"/>
                  </a:lnTo>
                  <a:lnTo>
                    <a:pt x="33" y="543"/>
                  </a:lnTo>
                  <a:close/>
                </a:path>
              </a:pathLst>
            </a:custGeom>
            <a:solidFill>
              <a:schemeClr val="accent4">
                <a:lumMod val="60000"/>
                <a:lumOff val="40000"/>
              </a:schemeClr>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5" name="Freeform 18">
              <a:extLst>
                <a:ext uri="{FF2B5EF4-FFF2-40B4-BE49-F238E27FC236}">
                  <a16:creationId xmlns:a16="http://schemas.microsoft.com/office/drawing/2014/main" id="{3AA6AC1A-AFE2-4701-A9B1-A4CF941083F5}"/>
                </a:ext>
              </a:extLst>
            </p:cNvPr>
            <p:cNvSpPr>
              <a:spLocks/>
            </p:cNvSpPr>
            <p:nvPr/>
          </p:nvSpPr>
          <p:spPr bwMode="auto">
            <a:xfrm>
              <a:off x="3376800" y="5459038"/>
              <a:ext cx="704850" cy="954088"/>
            </a:xfrm>
            <a:custGeom>
              <a:avLst/>
              <a:gdLst>
                <a:gd name="T0" fmla="*/ 0 w 2218"/>
                <a:gd name="T1" fmla="*/ 0 h 3005"/>
                <a:gd name="T2" fmla="*/ 0 w 2218"/>
                <a:gd name="T3" fmla="*/ 0 h 3005"/>
                <a:gd name="T4" fmla="*/ 0 w 2218"/>
                <a:gd name="T5" fmla="*/ 0 h 3005"/>
                <a:gd name="T6" fmla="*/ 0 w 2218"/>
                <a:gd name="T7" fmla="*/ 0 h 3005"/>
                <a:gd name="T8" fmla="*/ 0 w 2218"/>
                <a:gd name="T9" fmla="*/ 0 h 3005"/>
                <a:gd name="T10" fmla="*/ 0 w 2218"/>
                <a:gd name="T11" fmla="*/ 0 h 3005"/>
                <a:gd name="T12" fmla="*/ 0 w 2218"/>
                <a:gd name="T13" fmla="*/ 0 h 3005"/>
                <a:gd name="T14" fmla="*/ 0 w 2218"/>
                <a:gd name="T15" fmla="*/ 0 h 3005"/>
                <a:gd name="T16" fmla="*/ 0 w 2218"/>
                <a:gd name="T17" fmla="*/ 0 h 3005"/>
                <a:gd name="T18" fmla="*/ 0 w 2218"/>
                <a:gd name="T19" fmla="*/ 0 h 3005"/>
                <a:gd name="T20" fmla="*/ 0 w 2218"/>
                <a:gd name="T21" fmla="*/ 0 h 3005"/>
                <a:gd name="T22" fmla="*/ 0 w 2218"/>
                <a:gd name="T23" fmla="*/ 0 h 3005"/>
                <a:gd name="T24" fmla="*/ 0 w 2218"/>
                <a:gd name="T25" fmla="*/ 0 h 3005"/>
                <a:gd name="T26" fmla="*/ 0 w 2218"/>
                <a:gd name="T27" fmla="*/ 0 h 3005"/>
                <a:gd name="T28" fmla="*/ 0 w 2218"/>
                <a:gd name="T29" fmla="*/ 0 h 3005"/>
                <a:gd name="T30" fmla="*/ 0 w 2218"/>
                <a:gd name="T31" fmla="*/ 0 h 3005"/>
                <a:gd name="T32" fmla="*/ 0 w 2218"/>
                <a:gd name="T33" fmla="*/ 0 h 3005"/>
                <a:gd name="T34" fmla="*/ 0 w 2218"/>
                <a:gd name="T35" fmla="*/ 0 h 3005"/>
                <a:gd name="T36" fmla="*/ 0 w 2218"/>
                <a:gd name="T37" fmla="*/ 0 h 3005"/>
                <a:gd name="T38" fmla="*/ 0 w 2218"/>
                <a:gd name="T39" fmla="*/ 0 h 3005"/>
                <a:gd name="T40" fmla="*/ 0 w 2218"/>
                <a:gd name="T41" fmla="*/ 0 h 3005"/>
                <a:gd name="T42" fmla="*/ 0 w 2218"/>
                <a:gd name="T43" fmla="*/ 0 h 3005"/>
                <a:gd name="T44" fmla="*/ 0 w 2218"/>
                <a:gd name="T45" fmla="*/ 0 h 3005"/>
                <a:gd name="T46" fmla="*/ 0 w 2218"/>
                <a:gd name="T47" fmla="*/ 0 h 3005"/>
                <a:gd name="T48" fmla="*/ 0 w 2218"/>
                <a:gd name="T49" fmla="*/ 0 h 3005"/>
                <a:gd name="T50" fmla="*/ 0 w 2218"/>
                <a:gd name="T51" fmla="*/ 0 h 3005"/>
                <a:gd name="T52" fmla="*/ 0 w 2218"/>
                <a:gd name="T53" fmla="*/ 0 h 3005"/>
                <a:gd name="T54" fmla="*/ 0 w 2218"/>
                <a:gd name="T55" fmla="*/ 0 h 3005"/>
                <a:gd name="T56" fmla="*/ 0 w 2218"/>
                <a:gd name="T57" fmla="*/ 0 h 3005"/>
                <a:gd name="T58" fmla="*/ 0 w 2218"/>
                <a:gd name="T59" fmla="*/ 0 h 3005"/>
                <a:gd name="T60" fmla="*/ 0 w 2218"/>
                <a:gd name="T61" fmla="*/ 0 h 3005"/>
                <a:gd name="T62" fmla="*/ 0 w 2218"/>
                <a:gd name="T63" fmla="*/ 0 h 3005"/>
                <a:gd name="T64" fmla="*/ 0 w 2218"/>
                <a:gd name="T65" fmla="*/ 0 h 3005"/>
                <a:gd name="T66" fmla="*/ 0 w 2218"/>
                <a:gd name="T67" fmla="*/ 0 h 3005"/>
                <a:gd name="T68" fmla="*/ 0 w 2218"/>
                <a:gd name="T69" fmla="*/ 0 h 300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218" h="3005">
                  <a:moveTo>
                    <a:pt x="0" y="1120"/>
                  </a:moveTo>
                  <a:lnTo>
                    <a:pt x="120" y="1210"/>
                  </a:lnTo>
                  <a:lnTo>
                    <a:pt x="120" y="1315"/>
                  </a:lnTo>
                  <a:lnTo>
                    <a:pt x="215" y="1305"/>
                  </a:lnTo>
                  <a:lnTo>
                    <a:pt x="275" y="1395"/>
                  </a:lnTo>
                  <a:lnTo>
                    <a:pt x="210" y="1455"/>
                  </a:lnTo>
                  <a:lnTo>
                    <a:pt x="345" y="1561"/>
                  </a:lnTo>
                  <a:lnTo>
                    <a:pt x="285" y="1646"/>
                  </a:lnTo>
                  <a:lnTo>
                    <a:pt x="305" y="1831"/>
                  </a:lnTo>
                  <a:lnTo>
                    <a:pt x="375" y="1856"/>
                  </a:lnTo>
                  <a:lnTo>
                    <a:pt x="495" y="1796"/>
                  </a:lnTo>
                  <a:lnTo>
                    <a:pt x="540" y="1891"/>
                  </a:lnTo>
                  <a:lnTo>
                    <a:pt x="510" y="1981"/>
                  </a:lnTo>
                  <a:lnTo>
                    <a:pt x="530" y="2111"/>
                  </a:lnTo>
                  <a:lnTo>
                    <a:pt x="450" y="2166"/>
                  </a:lnTo>
                  <a:lnTo>
                    <a:pt x="545" y="2191"/>
                  </a:lnTo>
                  <a:lnTo>
                    <a:pt x="630" y="2261"/>
                  </a:lnTo>
                  <a:lnTo>
                    <a:pt x="570" y="2351"/>
                  </a:lnTo>
                  <a:lnTo>
                    <a:pt x="470" y="2501"/>
                  </a:lnTo>
                  <a:lnTo>
                    <a:pt x="495" y="2607"/>
                  </a:lnTo>
                  <a:lnTo>
                    <a:pt x="481" y="2695"/>
                  </a:lnTo>
                  <a:lnTo>
                    <a:pt x="514" y="2800"/>
                  </a:lnTo>
                  <a:lnTo>
                    <a:pt x="465" y="2953"/>
                  </a:lnTo>
                  <a:lnTo>
                    <a:pt x="562" y="2993"/>
                  </a:lnTo>
                  <a:lnTo>
                    <a:pt x="670" y="3005"/>
                  </a:lnTo>
                  <a:lnTo>
                    <a:pt x="750" y="2937"/>
                  </a:lnTo>
                  <a:lnTo>
                    <a:pt x="930" y="2833"/>
                  </a:lnTo>
                  <a:lnTo>
                    <a:pt x="1010" y="2746"/>
                  </a:lnTo>
                  <a:lnTo>
                    <a:pt x="1026" y="2632"/>
                  </a:lnTo>
                  <a:lnTo>
                    <a:pt x="1018" y="2541"/>
                  </a:lnTo>
                  <a:lnTo>
                    <a:pt x="1086" y="2461"/>
                  </a:lnTo>
                  <a:lnTo>
                    <a:pt x="1186" y="2401"/>
                  </a:lnTo>
                  <a:lnTo>
                    <a:pt x="1334" y="2349"/>
                  </a:lnTo>
                  <a:lnTo>
                    <a:pt x="1542" y="2329"/>
                  </a:lnTo>
                  <a:lnTo>
                    <a:pt x="1498" y="2289"/>
                  </a:lnTo>
                  <a:lnTo>
                    <a:pt x="1422" y="2205"/>
                  </a:lnTo>
                  <a:lnTo>
                    <a:pt x="1486" y="2089"/>
                  </a:lnTo>
                  <a:lnTo>
                    <a:pt x="1554" y="1981"/>
                  </a:lnTo>
                  <a:lnTo>
                    <a:pt x="1650" y="1861"/>
                  </a:lnTo>
                  <a:lnTo>
                    <a:pt x="1682" y="1753"/>
                  </a:lnTo>
                  <a:lnTo>
                    <a:pt x="1810" y="1741"/>
                  </a:lnTo>
                  <a:lnTo>
                    <a:pt x="1950" y="1793"/>
                  </a:lnTo>
                  <a:lnTo>
                    <a:pt x="1966" y="1677"/>
                  </a:lnTo>
                  <a:lnTo>
                    <a:pt x="1970" y="1470"/>
                  </a:lnTo>
                  <a:lnTo>
                    <a:pt x="1902" y="1441"/>
                  </a:lnTo>
                  <a:lnTo>
                    <a:pt x="1842" y="1397"/>
                  </a:lnTo>
                  <a:lnTo>
                    <a:pt x="1874" y="1353"/>
                  </a:lnTo>
                  <a:lnTo>
                    <a:pt x="1958" y="1349"/>
                  </a:lnTo>
                  <a:lnTo>
                    <a:pt x="1954" y="1257"/>
                  </a:lnTo>
                  <a:lnTo>
                    <a:pt x="1925" y="1135"/>
                  </a:lnTo>
                  <a:lnTo>
                    <a:pt x="1893" y="945"/>
                  </a:lnTo>
                  <a:lnTo>
                    <a:pt x="1854" y="942"/>
                  </a:lnTo>
                  <a:lnTo>
                    <a:pt x="1821" y="918"/>
                  </a:lnTo>
                  <a:lnTo>
                    <a:pt x="1806" y="873"/>
                  </a:lnTo>
                  <a:lnTo>
                    <a:pt x="1830" y="834"/>
                  </a:lnTo>
                  <a:lnTo>
                    <a:pt x="1842" y="792"/>
                  </a:lnTo>
                  <a:lnTo>
                    <a:pt x="1887" y="807"/>
                  </a:lnTo>
                  <a:lnTo>
                    <a:pt x="1932" y="843"/>
                  </a:lnTo>
                  <a:lnTo>
                    <a:pt x="1947" y="750"/>
                  </a:lnTo>
                  <a:lnTo>
                    <a:pt x="2105" y="645"/>
                  </a:lnTo>
                  <a:lnTo>
                    <a:pt x="2138" y="485"/>
                  </a:lnTo>
                  <a:lnTo>
                    <a:pt x="2190" y="321"/>
                  </a:lnTo>
                  <a:lnTo>
                    <a:pt x="2218" y="161"/>
                  </a:lnTo>
                  <a:lnTo>
                    <a:pt x="2182" y="45"/>
                  </a:lnTo>
                  <a:lnTo>
                    <a:pt x="2115" y="0"/>
                  </a:lnTo>
                  <a:lnTo>
                    <a:pt x="1978" y="130"/>
                  </a:lnTo>
                  <a:lnTo>
                    <a:pt x="1798" y="120"/>
                  </a:lnTo>
                  <a:lnTo>
                    <a:pt x="1638" y="268"/>
                  </a:lnTo>
                  <a:lnTo>
                    <a:pt x="1485" y="280"/>
                  </a:lnTo>
                  <a:lnTo>
                    <a:pt x="1355" y="265"/>
                  </a:lnTo>
                  <a:lnTo>
                    <a:pt x="1205" y="495"/>
                  </a:lnTo>
                  <a:lnTo>
                    <a:pt x="1115" y="490"/>
                  </a:lnTo>
                  <a:lnTo>
                    <a:pt x="1104" y="421"/>
                  </a:lnTo>
                  <a:lnTo>
                    <a:pt x="950" y="405"/>
                  </a:lnTo>
                  <a:lnTo>
                    <a:pt x="860" y="360"/>
                  </a:lnTo>
                  <a:lnTo>
                    <a:pt x="830" y="465"/>
                  </a:lnTo>
                  <a:lnTo>
                    <a:pt x="725" y="550"/>
                  </a:lnTo>
                  <a:lnTo>
                    <a:pt x="755" y="655"/>
                  </a:lnTo>
                  <a:lnTo>
                    <a:pt x="690" y="735"/>
                  </a:lnTo>
                  <a:lnTo>
                    <a:pt x="900" y="805"/>
                  </a:lnTo>
                  <a:lnTo>
                    <a:pt x="635" y="975"/>
                  </a:lnTo>
                  <a:lnTo>
                    <a:pt x="395" y="970"/>
                  </a:lnTo>
                  <a:lnTo>
                    <a:pt x="270" y="1065"/>
                  </a:lnTo>
                  <a:lnTo>
                    <a:pt x="105" y="1035"/>
                  </a:lnTo>
                  <a:lnTo>
                    <a:pt x="0" y="1120"/>
                  </a:lnTo>
                  <a:close/>
                </a:path>
              </a:pathLst>
            </a:custGeom>
            <a:solidFill>
              <a:schemeClr val="accent4">
                <a:lumMod val="60000"/>
                <a:lumOff val="40000"/>
              </a:schemeClr>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6" name="Freeform 19">
              <a:extLst>
                <a:ext uri="{FF2B5EF4-FFF2-40B4-BE49-F238E27FC236}">
                  <a16:creationId xmlns:a16="http://schemas.microsoft.com/office/drawing/2014/main" id="{6E1179C6-9950-4FBB-AACF-5AB26AB09984}"/>
                </a:ext>
              </a:extLst>
            </p:cNvPr>
            <p:cNvSpPr>
              <a:spLocks/>
            </p:cNvSpPr>
            <p:nvPr/>
          </p:nvSpPr>
          <p:spPr bwMode="auto">
            <a:xfrm>
              <a:off x="3152963" y="5590800"/>
              <a:ext cx="423863" cy="804863"/>
            </a:xfrm>
            <a:custGeom>
              <a:avLst/>
              <a:gdLst>
                <a:gd name="T0" fmla="*/ 0 w 1336"/>
                <a:gd name="T1" fmla="*/ 0 h 2535"/>
                <a:gd name="T2" fmla="*/ 0 w 1336"/>
                <a:gd name="T3" fmla="*/ 0 h 2535"/>
                <a:gd name="T4" fmla="*/ 0 w 1336"/>
                <a:gd name="T5" fmla="*/ 0 h 2535"/>
                <a:gd name="T6" fmla="*/ 0 w 1336"/>
                <a:gd name="T7" fmla="*/ 0 h 2535"/>
                <a:gd name="T8" fmla="*/ 0 w 1336"/>
                <a:gd name="T9" fmla="*/ 0 h 2535"/>
                <a:gd name="T10" fmla="*/ 0 w 1336"/>
                <a:gd name="T11" fmla="*/ 0 h 2535"/>
                <a:gd name="T12" fmla="*/ 0 w 1336"/>
                <a:gd name="T13" fmla="*/ 0 h 2535"/>
                <a:gd name="T14" fmla="*/ 0 w 1336"/>
                <a:gd name="T15" fmla="*/ 0 h 2535"/>
                <a:gd name="T16" fmla="*/ 0 w 1336"/>
                <a:gd name="T17" fmla="*/ 0 h 2535"/>
                <a:gd name="T18" fmla="*/ 0 w 1336"/>
                <a:gd name="T19" fmla="*/ 0 h 2535"/>
                <a:gd name="T20" fmla="*/ 0 w 1336"/>
                <a:gd name="T21" fmla="*/ 0 h 2535"/>
                <a:gd name="T22" fmla="*/ 0 w 1336"/>
                <a:gd name="T23" fmla="*/ 0 h 2535"/>
                <a:gd name="T24" fmla="*/ 0 w 1336"/>
                <a:gd name="T25" fmla="*/ 0 h 2535"/>
                <a:gd name="T26" fmla="*/ 0 w 1336"/>
                <a:gd name="T27" fmla="*/ 0 h 2535"/>
                <a:gd name="T28" fmla="*/ 0 w 1336"/>
                <a:gd name="T29" fmla="*/ 0 h 2535"/>
                <a:gd name="T30" fmla="*/ 0 w 1336"/>
                <a:gd name="T31" fmla="*/ 0 h 2535"/>
                <a:gd name="T32" fmla="*/ 0 w 1336"/>
                <a:gd name="T33" fmla="*/ 0 h 2535"/>
                <a:gd name="T34" fmla="*/ 0 w 1336"/>
                <a:gd name="T35" fmla="*/ 0 h 2535"/>
                <a:gd name="T36" fmla="*/ 0 w 1336"/>
                <a:gd name="T37" fmla="*/ 0 h 2535"/>
                <a:gd name="T38" fmla="*/ 0 w 1336"/>
                <a:gd name="T39" fmla="*/ 0 h 2535"/>
                <a:gd name="T40" fmla="*/ 0 w 1336"/>
                <a:gd name="T41" fmla="*/ 0 h 2535"/>
                <a:gd name="T42" fmla="*/ 0 w 1336"/>
                <a:gd name="T43" fmla="*/ 0 h 2535"/>
                <a:gd name="T44" fmla="*/ 0 w 1336"/>
                <a:gd name="T45" fmla="*/ 0 h 2535"/>
                <a:gd name="T46" fmla="*/ 0 w 1336"/>
                <a:gd name="T47" fmla="*/ 0 h 2535"/>
                <a:gd name="T48" fmla="*/ 0 w 1336"/>
                <a:gd name="T49" fmla="*/ 0 h 2535"/>
                <a:gd name="T50" fmla="*/ 0 w 1336"/>
                <a:gd name="T51" fmla="*/ 0 h 2535"/>
                <a:gd name="T52" fmla="*/ 0 w 1336"/>
                <a:gd name="T53" fmla="*/ 0 h 2535"/>
                <a:gd name="T54" fmla="*/ 0 w 1336"/>
                <a:gd name="T55" fmla="*/ 0 h 2535"/>
                <a:gd name="T56" fmla="*/ 0 w 1336"/>
                <a:gd name="T57" fmla="*/ 0 h 2535"/>
                <a:gd name="T58" fmla="*/ 0 w 1336"/>
                <a:gd name="T59" fmla="*/ 0 h 2535"/>
                <a:gd name="T60" fmla="*/ 0 w 1336"/>
                <a:gd name="T61" fmla="*/ 0 h 2535"/>
                <a:gd name="T62" fmla="*/ 0 w 1336"/>
                <a:gd name="T63" fmla="*/ 0 h 2535"/>
                <a:gd name="T64" fmla="*/ 0 w 1336"/>
                <a:gd name="T65" fmla="*/ 0 h 2535"/>
                <a:gd name="T66" fmla="*/ 0 w 1336"/>
                <a:gd name="T67" fmla="*/ 0 h 2535"/>
                <a:gd name="T68" fmla="*/ 0 w 1336"/>
                <a:gd name="T69" fmla="*/ 0 h 2535"/>
                <a:gd name="T70" fmla="*/ 0 w 1336"/>
                <a:gd name="T71" fmla="*/ 0 h 2535"/>
                <a:gd name="T72" fmla="*/ 0 w 1336"/>
                <a:gd name="T73" fmla="*/ 0 h 2535"/>
                <a:gd name="T74" fmla="*/ 0 w 1336"/>
                <a:gd name="T75" fmla="*/ 0 h 2535"/>
                <a:gd name="T76" fmla="*/ 0 w 1336"/>
                <a:gd name="T77" fmla="*/ 0 h 2535"/>
                <a:gd name="T78" fmla="*/ 0 w 1336"/>
                <a:gd name="T79" fmla="*/ 0 h 253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336" h="2535">
                  <a:moveTo>
                    <a:pt x="0" y="0"/>
                  </a:moveTo>
                  <a:lnTo>
                    <a:pt x="135" y="391"/>
                  </a:lnTo>
                  <a:lnTo>
                    <a:pt x="225" y="457"/>
                  </a:lnTo>
                  <a:lnTo>
                    <a:pt x="273" y="492"/>
                  </a:lnTo>
                  <a:lnTo>
                    <a:pt x="301" y="478"/>
                  </a:lnTo>
                  <a:lnTo>
                    <a:pt x="333" y="487"/>
                  </a:lnTo>
                  <a:lnTo>
                    <a:pt x="339" y="531"/>
                  </a:lnTo>
                  <a:lnTo>
                    <a:pt x="301" y="547"/>
                  </a:lnTo>
                  <a:lnTo>
                    <a:pt x="320" y="635"/>
                  </a:lnTo>
                  <a:lnTo>
                    <a:pt x="454" y="860"/>
                  </a:lnTo>
                  <a:lnTo>
                    <a:pt x="510" y="1145"/>
                  </a:lnTo>
                  <a:lnTo>
                    <a:pt x="683" y="1491"/>
                  </a:lnTo>
                  <a:lnTo>
                    <a:pt x="707" y="1668"/>
                  </a:lnTo>
                  <a:lnTo>
                    <a:pt x="766" y="1793"/>
                  </a:lnTo>
                  <a:lnTo>
                    <a:pt x="741" y="1881"/>
                  </a:lnTo>
                  <a:lnTo>
                    <a:pt x="861" y="2180"/>
                  </a:lnTo>
                  <a:lnTo>
                    <a:pt x="966" y="2360"/>
                  </a:lnTo>
                  <a:lnTo>
                    <a:pt x="981" y="2430"/>
                  </a:lnTo>
                  <a:lnTo>
                    <a:pt x="1171" y="2535"/>
                  </a:lnTo>
                  <a:lnTo>
                    <a:pt x="1221" y="2385"/>
                  </a:lnTo>
                  <a:lnTo>
                    <a:pt x="1186" y="2280"/>
                  </a:lnTo>
                  <a:lnTo>
                    <a:pt x="1201" y="2190"/>
                  </a:lnTo>
                  <a:lnTo>
                    <a:pt x="1176" y="2085"/>
                  </a:lnTo>
                  <a:lnTo>
                    <a:pt x="1336" y="1845"/>
                  </a:lnTo>
                  <a:lnTo>
                    <a:pt x="1252" y="1776"/>
                  </a:lnTo>
                  <a:lnTo>
                    <a:pt x="1154" y="1752"/>
                  </a:lnTo>
                  <a:lnTo>
                    <a:pt x="1236" y="1696"/>
                  </a:lnTo>
                  <a:lnTo>
                    <a:pt x="1216" y="1569"/>
                  </a:lnTo>
                  <a:lnTo>
                    <a:pt x="1246" y="1475"/>
                  </a:lnTo>
                  <a:lnTo>
                    <a:pt x="1201" y="1380"/>
                  </a:lnTo>
                  <a:lnTo>
                    <a:pt x="1081" y="1440"/>
                  </a:lnTo>
                  <a:lnTo>
                    <a:pt x="1013" y="1418"/>
                  </a:lnTo>
                  <a:lnTo>
                    <a:pt x="992" y="1232"/>
                  </a:lnTo>
                  <a:lnTo>
                    <a:pt x="1052" y="1146"/>
                  </a:lnTo>
                  <a:lnTo>
                    <a:pt x="917" y="1040"/>
                  </a:lnTo>
                  <a:lnTo>
                    <a:pt x="981" y="980"/>
                  </a:lnTo>
                  <a:lnTo>
                    <a:pt x="920" y="890"/>
                  </a:lnTo>
                  <a:lnTo>
                    <a:pt x="824" y="899"/>
                  </a:lnTo>
                  <a:lnTo>
                    <a:pt x="827" y="794"/>
                  </a:lnTo>
                  <a:lnTo>
                    <a:pt x="707" y="704"/>
                  </a:lnTo>
                  <a:lnTo>
                    <a:pt x="808" y="622"/>
                  </a:lnTo>
                  <a:lnTo>
                    <a:pt x="650" y="471"/>
                  </a:lnTo>
                  <a:lnTo>
                    <a:pt x="541" y="442"/>
                  </a:lnTo>
                  <a:lnTo>
                    <a:pt x="270" y="255"/>
                  </a:lnTo>
                  <a:lnTo>
                    <a:pt x="138" y="49"/>
                  </a:lnTo>
                  <a:lnTo>
                    <a:pt x="0" y="0"/>
                  </a:lnTo>
                  <a:close/>
                </a:path>
              </a:pathLst>
            </a:custGeom>
            <a:solidFill>
              <a:schemeClr val="bg1">
                <a:lumMod val="65000"/>
              </a:schemeClr>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7" name="Freeform 20">
              <a:extLst>
                <a:ext uri="{FF2B5EF4-FFF2-40B4-BE49-F238E27FC236}">
                  <a16:creationId xmlns:a16="http://schemas.microsoft.com/office/drawing/2014/main" id="{5E478339-871A-4300-BEAF-426DE3C5F603}"/>
                </a:ext>
              </a:extLst>
            </p:cNvPr>
            <p:cNvSpPr>
              <a:spLocks/>
            </p:cNvSpPr>
            <p:nvPr/>
          </p:nvSpPr>
          <p:spPr bwMode="auto">
            <a:xfrm>
              <a:off x="3383150" y="2041150"/>
              <a:ext cx="500063" cy="504825"/>
            </a:xfrm>
            <a:custGeom>
              <a:avLst/>
              <a:gdLst>
                <a:gd name="T0" fmla="*/ 0 w 1575"/>
                <a:gd name="T1" fmla="*/ 0 h 1591"/>
                <a:gd name="T2" fmla="*/ 0 w 1575"/>
                <a:gd name="T3" fmla="*/ 0 h 1591"/>
                <a:gd name="T4" fmla="*/ 0 w 1575"/>
                <a:gd name="T5" fmla="*/ 0 h 1591"/>
                <a:gd name="T6" fmla="*/ 0 w 1575"/>
                <a:gd name="T7" fmla="*/ 0 h 1591"/>
                <a:gd name="T8" fmla="*/ 0 w 1575"/>
                <a:gd name="T9" fmla="*/ 0 h 1591"/>
                <a:gd name="T10" fmla="*/ 0 w 1575"/>
                <a:gd name="T11" fmla="*/ 0 h 1591"/>
                <a:gd name="T12" fmla="*/ 0 w 1575"/>
                <a:gd name="T13" fmla="*/ 0 h 1591"/>
                <a:gd name="T14" fmla="*/ 0 w 1575"/>
                <a:gd name="T15" fmla="*/ 0 h 1591"/>
                <a:gd name="T16" fmla="*/ 0 w 1575"/>
                <a:gd name="T17" fmla="*/ 0 h 1591"/>
                <a:gd name="T18" fmla="*/ 0 w 1575"/>
                <a:gd name="T19" fmla="*/ 0 h 1591"/>
                <a:gd name="T20" fmla="*/ 0 w 1575"/>
                <a:gd name="T21" fmla="*/ 0 h 1591"/>
                <a:gd name="T22" fmla="*/ 0 w 1575"/>
                <a:gd name="T23" fmla="*/ 0 h 1591"/>
                <a:gd name="T24" fmla="*/ 0 w 1575"/>
                <a:gd name="T25" fmla="*/ 0 h 1591"/>
                <a:gd name="T26" fmla="*/ 0 w 1575"/>
                <a:gd name="T27" fmla="*/ 0 h 1591"/>
                <a:gd name="T28" fmla="*/ 0 w 1575"/>
                <a:gd name="T29" fmla="*/ 0 h 1591"/>
                <a:gd name="T30" fmla="*/ 0 w 1575"/>
                <a:gd name="T31" fmla="*/ 0 h 1591"/>
                <a:gd name="T32" fmla="*/ 0 w 1575"/>
                <a:gd name="T33" fmla="*/ 0 h 1591"/>
                <a:gd name="T34" fmla="*/ 0 w 1575"/>
                <a:gd name="T35" fmla="*/ 0 h 1591"/>
                <a:gd name="T36" fmla="*/ 0 w 1575"/>
                <a:gd name="T37" fmla="*/ 0 h 1591"/>
                <a:gd name="T38" fmla="*/ 0 w 1575"/>
                <a:gd name="T39" fmla="*/ 0 h 1591"/>
                <a:gd name="T40" fmla="*/ 0 w 1575"/>
                <a:gd name="T41" fmla="*/ 0 h 1591"/>
                <a:gd name="T42" fmla="*/ 0 w 1575"/>
                <a:gd name="T43" fmla="*/ 0 h 1591"/>
                <a:gd name="T44" fmla="*/ 0 w 1575"/>
                <a:gd name="T45" fmla="*/ 0 h 1591"/>
                <a:gd name="T46" fmla="*/ 0 w 1575"/>
                <a:gd name="T47" fmla="*/ 0 h 1591"/>
                <a:gd name="T48" fmla="*/ 0 w 1575"/>
                <a:gd name="T49" fmla="*/ 0 h 1591"/>
                <a:gd name="T50" fmla="*/ 0 w 1575"/>
                <a:gd name="T51" fmla="*/ 0 h 1591"/>
                <a:gd name="T52" fmla="*/ 0 w 1575"/>
                <a:gd name="T53" fmla="*/ 0 h 1591"/>
                <a:gd name="T54" fmla="*/ 0 w 1575"/>
                <a:gd name="T55" fmla="*/ 0 h 1591"/>
                <a:gd name="T56" fmla="*/ 0 w 1575"/>
                <a:gd name="T57" fmla="*/ 0 h 1591"/>
                <a:gd name="T58" fmla="*/ 0 w 1575"/>
                <a:gd name="T59" fmla="*/ 0 h 1591"/>
                <a:gd name="T60" fmla="*/ 0 w 1575"/>
                <a:gd name="T61" fmla="*/ 0 h 1591"/>
                <a:gd name="T62" fmla="*/ 0 w 1575"/>
                <a:gd name="T63" fmla="*/ 0 h 1591"/>
                <a:gd name="T64" fmla="*/ 0 w 1575"/>
                <a:gd name="T65" fmla="*/ 0 h 1591"/>
                <a:gd name="T66" fmla="*/ 0 w 1575"/>
                <a:gd name="T67" fmla="*/ 0 h 1591"/>
                <a:gd name="T68" fmla="*/ 0 w 1575"/>
                <a:gd name="T69" fmla="*/ 0 h 1591"/>
                <a:gd name="T70" fmla="*/ 0 w 1575"/>
                <a:gd name="T71" fmla="*/ 0 h 1591"/>
                <a:gd name="T72" fmla="*/ 0 w 1575"/>
                <a:gd name="T73" fmla="*/ 0 h 1591"/>
                <a:gd name="T74" fmla="*/ 0 w 1575"/>
                <a:gd name="T75" fmla="*/ 0 h 1591"/>
                <a:gd name="T76" fmla="*/ 0 w 1575"/>
                <a:gd name="T77" fmla="*/ 0 h 1591"/>
                <a:gd name="T78" fmla="*/ 0 w 1575"/>
                <a:gd name="T79" fmla="*/ 0 h 1591"/>
                <a:gd name="T80" fmla="*/ 0 w 1575"/>
                <a:gd name="T81" fmla="*/ 0 h 159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575" h="1591">
                  <a:moveTo>
                    <a:pt x="77" y="384"/>
                  </a:moveTo>
                  <a:lnTo>
                    <a:pt x="131" y="461"/>
                  </a:lnTo>
                  <a:lnTo>
                    <a:pt x="44" y="533"/>
                  </a:lnTo>
                  <a:lnTo>
                    <a:pt x="0" y="620"/>
                  </a:lnTo>
                  <a:lnTo>
                    <a:pt x="102" y="701"/>
                  </a:lnTo>
                  <a:lnTo>
                    <a:pt x="181" y="894"/>
                  </a:lnTo>
                  <a:lnTo>
                    <a:pt x="259" y="984"/>
                  </a:lnTo>
                  <a:lnTo>
                    <a:pt x="357" y="966"/>
                  </a:lnTo>
                  <a:lnTo>
                    <a:pt x="406" y="1019"/>
                  </a:lnTo>
                  <a:lnTo>
                    <a:pt x="459" y="1034"/>
                  </a:lnTo>
                  <a:lnTo>
                    <a:pt x="474" y="1091"/>
                  </a:lnTo>
                  <a:lnTo>
                    <a:pt x="496" y="1172"/>
                  </a:lnTo>
                  <a:lnTo>
                    <a:pt x="514" y="1181"/>
                  </a:lnTo>
                  <a:lnTo>
                    <a:pt x="513" y="1199"/>
                  </a:lnTo>
                  <a:lnTo>
                    <a:pt x="535" y="1190"/>
                  </a:lnTo>
                  <a:lnTo>
                    <a:pt x="538" y="1209"/>
                  </a:lnTo>
                  <a:lnTo>
                    <a:pt x="555" y="1224"/>
                  </a:lnTo>
                  <a:lnTo>
                    <a:pt x="562" y="1248"/>
                  </a:lnTo>
                  <a:lnTo>
                    <a:pt x="580" y="1248"/>
                  </a:lnTo>
                  <a:lnTo>
                    <a:pt x="613" y="1284"/>
                  </a:lnTo>
                  <a:lnTo>
                    <a:pt x="747" y="1394"/>
                  </a:lnTo>
                  <a:lnTo>
                    <a:pt x="708" y="1490"/>
                  </a:lnTo>
                  <a:lnTo>
                    <a:pt x="877" y="1591"/>
                  </a:lnTo>
                  <a:lnTo>
                    <a:pt x="984" y="1509"/>
                  </a:lnTo>
                  <a:lnTo>
                    <a:pt x="970" y="1399"/>
                  </a:lnTo>
                  <a:lnTo>
                    <a:pt x="986" y="1232"/>
                  </a:lnTo>
                  <a:lnTo>
                    <a:pt x="1080" y="1159"/>
                  </a:lnTo>
                  <a:lnTo>
                    <a:pt x="1255" y="1099"/>
                  </a:lnTo>
                  <a:lnTo>
                    <a:pt x="1410" y="1144"/>
                  </a:lnTo>
                  <a:lnTo>
                    <a:pt x="1485" y="1194"/>
                  </a:lnTo>
                  <a:lnTo>
                    <a:pt x="1575" y="1189"/>
                  </a:lnTo>
                  <a:lnTo>
                    <a:pt x="1500" y="1059"/>
                  </a:lnTo>
                  <a:lnTo>
                    <a:pt x="1465" y="979"/>
                  </a:lnTo>
                  <a:lnTo>
                    <a:pt x="1510" y="909"/>
                  </a:lnTo>
                  <a:lnTo>
                    <a:pt x="1465" y="814"/>
                  </a:lnTo>
                  <a:lnTo>
                    <a:pt x="1480" y="695"/>
                  </a:lnTo>
                  <a:lnTo>
                    <a:pt x="1410" y="610"/>
                  </a:lnTo>
                  <a:lnTo>
                    <a:pt x="1360" y="490"/>
                  </a:lnTo>
                  <a:lnTo>
                    <a:pt x="1285" y="425"/>
                  </a:lnTo>
                  <a:lnTo>
                    <a:pt x="1260" y="290"/>
                  </a:lnTo>
                  <a:lnTo>
                    <a:pt x="1110" y="335"/>
                  </a:lnTo>
                  <a:lnTo>
                    <a:pt x="1080" y="260"/>
                  </a:lnTo>
                  <a:lnTo>
                    <a:pt x="970" y="145"/>
                  </a:lnTo>
                  <a:lnTo>
                    <a:pt x="805" y="215"/>
                  </a:lnTo>
                  <a:lnTo>
                    <a:pt x="676" y="185"/>
                  </a:lnTo>
                  <a:lnTo>
                    <a:pt x="556" y="40"/>
                  </a:lnTo>
                  <a:lnTo>
                    <a:pt x="431" y="0"/>
                  </a:lnTo>
                  <a:lnTo>
                    <a:pt x="286" y="70"/>
                  </a:lnTo>
                  <a:lnTo>
                    <a:pt x="196" y="185"/>
                  </a:lnTo>
                  <a:lnTo>
                    <a:pt x="106" y="185"/>
                  </a:lnTo>
                  <a:lnTo>
                    <a:pt x="126" y="263"/>
                  </a:lnTo>
                  <a:lnTo>
                    <a:pt x="77" y="384"/>
                  </a:lnTo>
                  <a:close/>
                </a:path>
              </a:pathLst>
            </a:custGeom>
            <a:solidFill>
              <a:schemeClr val="accent6"/>
            </a:solid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dirty="0">
                <a:solidFill>
                  <a:sysClr val="windowText" lastClr="000000"/>
                </a:solidFill>
              </a:endParaRPr>
            </a:p>
          </p:txBody>
        </p:sp>
        <p:sp>
          <p:nvSpPr>
            <p:cNvPr id="98" name="Freeform 21">
              <a:extLst>
                <a:ext uri="{FF2B5EF4-FFF2-40B4-BE49-F238E27FC236}">
                  <a16:creationId xmlns:a16="http://schemas.microsoft.com/office/drawing/2014/main" id="{C4888546-DA28-428D-B0AC-93D77FE0E3D9}"/>
                </a:ext>
              </a:extLst>
            </p:cNvPr>
            <p:cNvSpPr>
              <a:spLocks/>
            </p:cNvSpPr>
            <p:nvPr/>
          </p:nvSpPr>
          <p:spPr bwMode="auto">
            <a:xfrm>
              <a:off x="2957700" y="1358525"/>
              <a:ext cx="1119188" cy="836613"/>
            </a:xfrm>
            <a:custGeom>
              <a:avLst/>
              <a:gdLst>
                <a:gd name="T0" fmla="*/ 0 w 3525"/>
                <a:gd name="T1" fmla="*/ 0 h 2636"/>
                <a:gd name="T2" fmla="*/ 0 w 3525"/>
                <a:gd name="T3" fmla="*/ 0 h 2636"/>
                <a:gd name="T4" fmla="*/ 0 w 3525"/>
                <a:gd name="T5" fmla="*/ 0 h 2636"/>
                <a:gd name="T6" fmla="*/ 0 w 3525"/>
                <a:gd name="T7" fmla="*/ 0 h 2636"/>
                <a:gd name="T8" fmla="*/ 0 w 3525"/>
                <a:gd name="T9" fmla="*/ 0 h 2636"/>
                <a:gd name="T10" fmla="*/ 0 w 3525"/>
                <a:gd name="T11" fmla="*/ 0 h 2636"/>
                <a:gd name="T12" fmla="*/ 0 w 3525"/>
                <a:gd name="T13" fmla="*/ 0 h 2636"/>
                <a:gd name="T14" fmla="*/ 0 w 3525"/>
                <a:gd name="T15" fmla="*/ 0 h 2636"/>
                <a:gd name="T16" fmla="*/ 0 w 3525"/>
                <a:gd name="T17" fmla="*/ 0 h 2636"/>
                <a:gd name="T18" fmla="*/ 0 w 3525"/>
                <a:gd name="T19" fmla="*/ 0 h 2636"/>
                <a:gd name="T20" fmla="*/ 0 w 3525"/>
                <a:gd name="T21" fmla="*/ 0 h 2636"/>
                <a:gd name="T22" fmla="*/ 0 w 3525"/>
                <a:gd name="T23" fmla="*/ 0 h 2636"/>
                <a:gd name="T24" fmla="*/ 0 w 3525"/>
                <a:gd name="T25" fmla="*/ 0 h 2636"/>
                <a:gd name="T26" fmla="*/ 0 w 3525"/>
                <a:gd name="T27" fmla="*/ 0 h 2636"/>
                <a:gd name="T28" fmla="*/ 0 w 3525"/>
                <a:gd name="T29" fmla="*/ 0 h 2636"/>
                <a:gd name="T30" fmla="*/ 0 w 3525"/>
                <a:gd name="T31" fmla="*/ 0 h 2636"/>
                <a:gd name="T32" fmla="*/ 0 w 3525"/>
                <a:gd name="T33" fmla="*/ 0 h 2636"/>
                <a:gd name="T34" fmla="*/ 0 w 3525"/>
                <a:gd name="T35" fmla="*/ 0 h 2636"/>
                <a:gd name="T36" fmla="*/ 0 w 3525"/>
                <a:gd name="T37" fmla="*/ 0 h 2636"/>
                <a:gd name="T38" fmla="*/ 0 w 3525"/>
                <a:gd name="T39" fmla="*/ 0 h 2636"/>
                <a:gd name="T40" fmla="*/ 0 w 3525"/>
                <a:gd name="T41" fmla="*/ 0 h 2636"/>
                <a:gd name="T42" fmla="*/ 0 w 3525"/>
                <a:gd name="T43" fmla="*/ 0 h 2636"/>
                <a:gd name="T44" fmla="*/ 0 w 3525"/>
                <a:gd name="T45" fmla="*/ 0 h 2636"/>
                <a:gd name="T46" fmla="*/ 0 w 3525"/>
                <a:gd name="T47" fmla="*/ 0 h 2636"/>
                <a:gd name="T48" fmla="*/ 0 w 3525"/>
                <a:gd name="T49" fmla="*/ 0 h 2636"/>
                <a:gd name="T50" fmla="*/ 0 w 3525"/>
                <a:gd name="T51" fmla="*/ 0 h 2636"/>
                <a:gd name="T52" fmla="*/ 0 w 3525"/>
                <a:gd name="T53" fmla="*/ 0 h 2636"/>
                <a:gd name="T54" fmla="*/ 0 w 3525"/>
                <a:gd name="T55" fmla="*/ 0 h 2636"/>
                <a:gd name="T56" fmla="*/ 0 w 3525"/>
                <a:gd name="T57" fmla="*/ 0 h 2636"/>
                <a:gd name="T58" fmla="*/ 0 w 3525"/>
                <a:gd name="T59" fmla="*/ 0 h 2636"/>
                <a:gd name="T60" fmla="*/ 0 w 3525"/>
                <a:gd name="T61" fmla="*/ 0 h 2636"/>
                <a:gd name="T62" fmla="*/ 0 w 3525"/>
                <a:gd name="T63" fmla="*/ 0 h 26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525" h="2636">
                  <a:moveTo>
                    <a:pt x="1242" y="2636"/>
                  </a:moveTo>
                  <a:lnTo>
                    <a:pt x="408" y="2156"/>
                  </a:lnTo>
                  <a:lnTo>
                    <a:pt x="440" y="1785"/>
                  </a:lnTo>
                  <a:lnTo>
                    <a:pt x="363" y="1427"/>
                  </a:lnTo>
                  <a:lnTo>
                    <a:pt x="576" y="1256"/>
                  </a:lnTo>
                  <a:lnTo>
                    <a:pt x="704" y="1096"/>
                  </a:lnTo>
                  <a:lnTo>
                    <a:pt x="560" y="1032"/>
                  </a:lnTo>
                  <a:lnTo>
                    <a:pt x="557" y="827"/>
                  </a:lnTo>
                  <a:lnTo>
                    <a:pt x="456" y="852"/>
                  </a:lnTo>
                  <a:lnTo>
                    <a:pt x="364" y="776"/>
                  </a:lnTo>
                  <a:lnTo>
                    <a:pt x="254" y="626"/>
                  </a:lnTo>
                  <a:lnTo>
                    <a:pt x="0" y="581"/>
                  </a:lnTo>
                  <a:lnTo>
                    <a:pt x="29" y="416"/>
                  </a:lnTo>
                  <a:lnTo>
                    <a:pt x="184" y="316"/>
                  </a:lnTo>
                  <a:lnTo>
                    <a:pt x="329" y="146"/>
                  </a:lnTo>
                  <a:lnTo>
                    <a:pt x="644" y="102"/>
                  </a:lnTo>
                  <a:lnTo>
                    <a:pt x="917" y="0"/>
                  </a:lnTo>
                  <a:lnTo>
                    <a:pt x="1115" y="41"/>
                  </a:lnTo>
                  <a:lnTo>
                    <a:pt x="1272" y="2"/>
                  </a:lnTo>
                  <a:lnTo>
                    <a:pt x="1311" y="119"/>
                  </a:lnTo>
                  <a:lnTo>
                    <a:pt x="1904" y="526"/>
                  </a:lnTo>
                  <a:lnTo>
                    <a:pt x="1934" y="672"/>
                  </a:lnTo>
                  <a:lnTo>
                    <a:pt x="2178" y="747"/>
                  </a:lnTo>
                  <a:lnTo>
                    <a:pt x="2209" y="886"/>
                  </a:lnTo>
                  <a:lnTo>
                    <a:pt x="2564" y="842"/>
                  </a:lnTo>
                  <a:lnTo>
                    <a:pt x="2675" y="705"/>
                  </a:lnTo>
                  <a:lnTo>
                    <a:pt x="2927" y="690"/>
                  </a:lnTo>
                  <a:lnTo>
                    <a:pt x="3104" y="602"/>
                  </a:lnTo>
                  <a:lnTo>
                    <a:pt x="3215" y="675"/>
                  </a:lnTo>
                  <a:lnTo>
                    <a:pt x="3410" y="722"/>
                  </a:lnTo>
                  <a:lnTo>
                    <a:pt x="3525" y="866"/>
                  </a:lnTo>
                  <a:lnTo>
                    <a:pt x="3440" y="1118"/>
                  </a:lnTo>
                  <a:lnTo>
                    <a:pt x="3423" y="1383"/>
                  </a:lnTo>
                  <a:lnTo>
                    <a:pt x="3315" y="1412"/>
                  </a:lnTo>
                  <a:lnTo>
                    <a:pt x="3200" y="1485"/>
                  </a:lnTo>
                  <a:lnTo>
                    <a:pt x="3210" y="1632"/>
                  </a:lnTo>
                  <a:lnTo>
                    <a:pt x="3108" y="1722"/>
                  </a:lnTo>
                  <a:lnTo>
                    <a:pt x="2999" y="1706"/>
                  </a:lnTo>
                  <a:lnTo>
                    <a:pt x="2869" y="1751"/>
                  </a:lnTo>
                  <a:lnTo>
                    <a:pt x="2959" y="1936"/>
                  </a:lnTo>
                  <a:lnTo>
                    <a:pt x="2879" y="1976"/>
                  </a:lnTo>
                  <a:lnTo>
                    <a:pt x="2894" y="2101"/>
                  </a:lnTo>
                  <a:lnTo>
                    <a:pt x="3109" y="2156"/>
                  </a:lnTo>
                  <a:lnTo>
                    <a:pt x="3104" y="2311"/>
                  </a:lnTo>
                  <a:lnTo>
                    <a:pt x="3194" y="2461"/>
                  </a:lnTo>
                  <a:lnTo>
                    <a:pt x="3004" y="2566"/>
                  </a:lnTo>
                  <a:lnTo>
                    <a:pt x="2909" y="2626"/>
                  </a:lnTo>
                  <a:lnTo>
                    <a:pt x="2834" y="2581"/>
                  </a:lnTo>
                  <a:lnTo>
                    <a:pt x="2804" y="2486"/>
                  </a:lnTo>
                  <a:lnTo>
                    <a:pt x="2719" y="2491"/>
                  </a:lnTo>
                  <a:lnTo>
                    <a:pt x="2624" y="2576"/>
                  </a:lnTo>
                  <a:lnTo>
                    <a:pt x="2600" y="2442"/>
                  </a:lnTo>
                  <a:lnTo>
                    <a:pt x="2450" y="2487"/>
                  </a:lnTo>
                  <a:lnTo>
                    <a:pt x="2418" y="2408"/>
                  </a:lnTo>
                  <a:lnTo>
                    <a:pt x="2309" y="2297"/>
                  </a:lnTo>
                  <a:lnTo>
                    <a:pt x="2141" y="2366"/>
                  </a:lnTo>
                  <a:lnTo>
                    <a:pt x="2013" y="2336"/>
                  </a:lnTo>
                  <a:lnTo>
                    <a:pt x="1895" y="2190"/>
                  </a:lnTo>
                  <a:lnTo>
                    <a:pt x="1770" y="2150"/>
                  </a:lnTo>
                  <a:lnTo>
                    <a:pt x="1625" y="2222"/>
                  </a:lnTo>
                  <a:lnTo>
                    <a:pt x="1536" y="2336"/>
                  </a:lnTo>
                  <a:lnTo>
                    <a:pt x="1446" y="2337"/>
                  </a:lnTo>
                  <a:lnTo>
                    <a:pt x="1469" y="2412"/>
                  </a:lnTo>
                  <a:lnTo>
                    <a:pt x="1416" y="2532"/>
                  </a:lnTo>
                  <a:lnTo>
                    <a:pt x="1242" y="2636"/>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99" name="Freeform 22">
              <a:extLst>
                <a:ext uri="{FF2B5EF4-FFF2-40B4-BE49-F238E27FC236}">
                  <a16:creationId xmlns:a16="http://schemas.microsoft.com/office/drawing/2014/main" id="{75F0F046-B46F-4327-A9F2-1C816675E5DA}"/>
                </a:ext>
              </a:extLst>
            </p:cNvPr>
            <p:cNvSpPr>
              <a:spLocks/>
            </p:cNvSpPr>
            <p:nvPr/>
          </p:nvSpPr>
          <p:spPr bwMode="auto">
            <a:xfrm>
              <a:off x="3106925" y="2163388"/>
              <a:ext cx="476250" cy="500063"/>
            </a:xfrm>
            <a:custGeom>
              <a:avLst/>
              <a:gdLst>
                <a:gd name="T0" fmla="*/ 0 w 1502"/>
                <a:gd name="T1" fmla="*/ 0 h 1576"/>
                <a:gd name="T2" fmla="*/ 0 w 1502"/>
                <a:gd name="T3" fmla="*/ 0 h 1576"/>
                <a:gd name="T4" fmla="*/ 0 w 1502"/>
                <a:gd name="T5" fmla="*/ 0 h 1576"/>
                <a:gd name="T6" fmla="*/ 0 w 1502"/>
                <a:gd name="T7" fmla="*/ 0 h 1576"/>
                <a:gd name="T8" fmla="*/ 0 w 1502"/>
                <a:gd name="T9" fmla="*/ 0 h 1576"/>
                <a:gd name="T10" fmla="*/ 0 w 1502"/>
                <a:gd name="T11" fmla="*/ 0 h 1576"/>
                <a:gd name="T12" fmla="*/ 0 w 1502"/>
                <a:gd name="T13" fmla="*/ 0 h 1576"/>
                <a:gd name="T14" fmla="*/ 0 w 1502"/>
                <a:gd name="T15" fmla="*/ 0 h 1576"/>
                <a:gd name="T16" fmla="*/ 0 w 1502"/>
                <a:gd name="T17" fmla="*/ 0 h 1576"/>
                <a:gd name="T18" fmla="*/ 0 w 1502"/>
                <a:gd name="T19" fmla="*/ 0 h 1576"/>
                <a:gd name="T20" fmla="*/ 0 w 1502"/>
                <a:gd name="T21" fmla="*/ 0 h 1576"/>
                <a:gd name="T22" fmla="*/ 0 w 1502"/>
                <a:gd name="T23" fmla="*/ 0 h 1576"/>
                <a:gd name="T24" fmla="*/ 0 w 1502"/>
                <a:gd name="T25" fmla="*/ 0 h 1576"/>
                <a:gd name="T26" fmla="*/ 0 w 1502"/>
                <a:gd name="T27" fmla="*/ 0 h 1576"/>
                <a:gd name="T28" fmla="*/ 0 w 1502"/>
                <a:gd name="T29" fmla="*/ 0 h 1576"/>
                <a:gd name="T30" fmla="*/ 0 w 1502"/>
                <a:gd name="T31" fmla="*/ 0 h 1576"/>
                <a:gd name="T32" fmla="*/ 0 w 1502"/>
                <a:gd name="T33" fmla="*/ 0 h 1576"/>
                <a:gd name="T34" fmla="*/ 0 w 1502"/>
                <a:gd name="T35" fmla="*/ 0 h 1576"/>
                <a:gd name="T36" fmla="*/ 0 w 1502"/>
                <a:gd name="T37" fmla="*/ 0 h 1576"/>
                <a:gd name="T38" fmla="*/ 0 w 1502"/>
                <a:gd name="T39" fmla="*/ 0 h 1576"/>
                <a:gd name="T40" fmla="*/ 0 w 1502"/>
                <a:gd name="T41" fmla="*/ 0 h 1576"/>
                <a:gd name="T42" fmla="*/ 0 w 1502"/>
                <a:gd name="T43" fmla="*/ 0 h 1576"/>
                <a:gd name="T44" fmla="*/ 0 w 1502"/>
                <a:gd name="T45" fmla="*/ 0 h 1576"/>
                <a:gd name="T46" fmla="*/ 0 w 1502"/>
                <a:gd name="T47" fmla="*/ 0 h 1576"/>
                <a:gd name="T48" fmla="*/ 0 w 1502"/>
                <a:gd name="T49" fmla="*/ 0 h 1576"/>
                <a:gd name="T50" fmla="*/ 0 w 1502"/>
                <a:gd name="T51" fmla="*/ 0 h 1576"/>
                <a:gd name="T52" fmla="*/ 0 w 1502"/>
                <a:gd name="T53" fmla="*/ 0 h 1576"/>
                <a:gd name="T54" fmla="*/ 0 w 1502"/>
                <a:gd name="T55" fmla="*/ 0 h 1576"/>
                <a:gd name="T56" fmla="*/ 0 w 1502"/>
                <a:gd name="T57" fmla="*/ 0 h 1576"/>
                <a:gd name="T58" fmla="*/ 0 w 1502"/>
                <a:gd name="T59" fmla="*/ 0 h 1576"/>
                <a:gd name="T60" fmla="*/ 0 w 1502"/>
                <a:gd name="T61" fmla="*/ 0 h 1576"/>
                <a:gd name="T62" fmla="*/ 0 w 1502"/>
                <a:gd name="T63" fmla="*/ 0 h 1576"/>
                <a:gd name="T64" fmla="*/ 0 w 1502"/>
                <a:gd name="T65" fmla="*/ 0 h 1576"/>
                <a:gd name="T66" fmla="*/ 0 w 1502"/>
                <a:gd name="T67" fmla="*/ 0 h 1576"/>
                <a:gd name="T68" fmla="*/ 0 w 1502"/>
                <a:gd name="T69" fmla="*/ 0 h 157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02" h="1576">
                  <a:moveTo>
                    <a:pt x="556" y="242"/>
                  </a:moveTo>
                  <a:lnTo>
                    <a:pt x="431" y="312"/>
                  </a:lnTo>
                  <a:lnTo>
                    <a:pt x="346" y="417"/>
                  </a:lnTo>
                  <a:lnTo>
                    <a:pt x="391" y="537"/>
                  </a:lnTo>
                  <a:lnTo>
                    <a:pt x="326" y="657"/>
                  </a:lnTo>
                  <a:lnTo>
                    <a:pt x="376" y="767"/>
                  </a:lnTo>
                  <a:lnTo>
                    <a:pt x="241" y="811"/>
                  </a:lnTo>
                  <a:lnTo>
                    <a:pt x="76" y="1061"/>
                  </a:lnTo>
                  <a:lnTo>
                    <a:pt x="0" y="1292"/>
                  </a:lnTo>
                  <a:lnTo>
                    <a:pt x="76" y="1376"/>
                  </a:lnTo>
                  <a:lnTo>
                    <a:pt x="317" y="1406"/>
                  </a:lnTo>
                  <a:lnTo>
                    <a:pt x="476" y="1361"/>
                  </a:lnTo>
                  <a:lnTo>
                    <a:pt x="611" y="1436"/>
                  </a:lnTo>
                  <a:lnTo>
                    <a:pt x="626" y="1576"/>
                  </a:lnTo>
                  <a:lnTo>
                    <a:pt x="790" y="1481"/>
                  </a:lnTo>
                  <a:lnTo>
                    <a:pt x="925" y="1486"/>
                  </a:lnTo>
                  <a:lnTo>
                    <a:pt x="1020" y="1541"/>
                  </a:lnTo>
                  <a:lnTo>
                    <a:pt x="1095" y="1436"/>
                  </a:lnTo>
                  <a:lnTo>
                    <a:pt x="1106" y="1320"/>
                  </a:lnTo>
                  <a:lnTo>
                    <a:pt x="1274" y="1331"/>
                  </a:lnTo>
                  <a:lnTo>
                    <a:pt x="1300" y="1231"/>
                  </a:lnTo>
                  <a:lnTo>
                    <a:pt x="1364" y="1127"/>
                  </a:lnTo>
                  <a:lnTo>
                    <a:pt x="1451" y="1158"/>
                  </a:lnTo>
                  <a:lnTo>
                    <a:pt x="1502" y="1154"/>
                  </a:lnTo>
                  <a:lnTo>
                    <a:pt x="1484" y="998"/>
                  </a:lnTo>
                  <a:lnTo>
                    <a:pt x="1424" y="976"/>
                  </a:lnTo>
                  <a:lnTo>
                    <a:pt x="1394" y="926"/>
                  </a:lnTo>
                  <a:lnTo>
                    <a:pt x="1388" y="907"/>
                  </a:lnTo>
                  <a:lnTo>
                    <a:pt x="1357" y="899"/>
                  </a:lnTo>
                  <a:lnTo>
                    <a:pt x="1345" y="883"/>
                  </a:lnTo>
                  <a:lnTo>
                    <a:pt x="1339" y="865"/>
                  </a:lnTo>
                  <a:lnTo>
                    <a:pt x="1328" y="844"/>
                  </a:lnTo>
                  <a:lnTo>
                    <a:pt x="1313" y="850"/>
                  </a:lnTo>
                  <a:lnTo>
                    <a:pt x="1300" y="847"/>
                  </a:lnTo>
                  <a:lnTo>
                    <a:pt x="1297" y="818"/>
                  </a:lnTo>
                  <a:lnTo>
                    <a:pt x="1309" y="812"/>
                  </a:lnTo>
                  <a:lnTo>
                    <a:pt x="1334" y="808"/>
                  </a:lnTo>
                  <a:lnTo>
                    <a:pt x="1355" y="806"/>
                  </a:lnTo>
                  <a:lnTo>
                    <a:pt x="1364" y="788"/>
                  </a:lnTo>
                  <a:lnTo>
                    <a:pt x="1348" y="706"/>
                  </a:lnTo>
                  <a:lnTo>
                    <a:pt x="1330" y="650"/>
                  </a:lnTo>
                  <a:lnTo>
                    <a:pt x="1274" y="635"/>
                  </a:lnTo>
                  <a:lnTo>
                    <a:pt x="1226" y="583"/>
                  </a:lnTo>
                  <a:lnTo>
                    <a:pt x="1133" y="599"/>
                  </a:lnTo>
                  <a:lnTo>
                    <a:pt x="1045" y="499"/>
                  </a:lnTo>
                  <a:lnTo>
                    <a:pt x="970" y="317"/>
                  </a:lnTo>
                  <a:lnTo>
                    <a:pt x="870" y="237"/>
                  </a:lnTo>
                  <a:lnTo>
                    <a:pt x="910" y="152"/>
                  </a:lnTo>
                  <a:lnTo>
                    <a:pt x="1000" y="77"/>
                  </a:lnTo>
                  <a:lnTo>
                    <a:pt x="946" y="0"/>
                  </a:lnTo>
                  <a:lnTo>
                    <a:pt x="773" y="103"/>
                  </a:lnTo>
                  <a:lnTo>
                    <a:pt x="706" y="222"/>
                  </a:lnTo>
                  <a:lnTo>
                    <a:pt x="556" y="24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0" name="Freeform 23">
              <a:extLst>
                <a:ext uri="{FF2B5EF4-FFF2-40B4-BE49-F238E27FC236}">
                  <a16:creationId xmlns:a16="http://schemas.microsoft.com/office/drawing/2014/main" id="{7F1F1AFD-0DEC-4ECF-A537-F4B533DD89C6}"/>
                </a:ext>
              </a:extLst>
            </p:cNvPr>
            <p:cNvSpPr>
              <a:spLocks/>
            </p:cNvSpPr>
            <p:nvPr/>
          </p:nvSpPr>
          <p:spPr bwMode="auto">
            <a:xfrm>
              <a:off x="5548500" y="2820613"/>
              <a:ext cx="935038" cy="719138"/>
            </a:xfrm>
            <a:custGeom>
              <a:avLst/>
              <a:gdLst>
                <a:gd name="T0" fmla="*/ 0 w 2946"/>
                <a:gd name="T1" fmla="*/ 0 h 2265"/>
                <a:gd name="T2" fmla="*/ 0 w 2946"/>
                <a:gd name="T3" fmla="*/ 0 h 2265"/>
                <a:gd name="T4" fmla="*/ 0 w 2946"/>
                <a:gd name="T5" fmla="*/ 0 h 2265"/>
                <a:gd name="T6" fmla="*/ 0 w 2946"/>
                <a:gd name="T7" fmla="*/ 0 h 2265"/>
                <a:gd name="T8" fmla="*/ 0 w 2946"/>
                <a:gd name="T9" fmla="*/ 0 h 2265"/>
                <a:gd name="T10" fmla="*/ 0 w 2946"/>
                <a:gd name="T11" fmla="*/ 0 h 2265"/>
                <a:gd name="T12" fmla="*/ 0 w 2946"/>
                <a:gd name="T13" fmla="*/ 0 h 2265"/>
                <a:gd name="T14" fmla="*/ 0 w 2946"/>
                <a:gd name="T15" fmla="*/ 0 h 2265"/>
                <a:gd name="T16" fmla="*/ 0 w 2946"/>
                <a:gd name="T17" fmla="*/ 0 h 2265"/>
                <a:gd name="T18" fmla="*/ 0 w 2946"/>
                <a:gd name="T19" fmla="*/ 0 h 2265"/>
                <a:gd name="T20" fmla="*/ 0 w 2946"/>
                <a:gd name="T21" fmla="*/ 0 h 2265"/>
                <a:gd name="T22" fmla="*/ 0 w 2946"/>
                <a:gd name="T23" fmla="*/ 0 h 2265"/>
                <a:gd name="T24" fmla="*/ 0 w 2946"/>
                <a:gd name="T25" fmla="*/ 0 h 2265"/>
                <a:gd name="T26" fmla="*/ 0 w 2946"/>
                <a:gd name="T27" fmla="*/ 0 h 2265"/>
                <a:gd name="T28" fmla="*/ 0 w 2946"/>
                <a:gd name="T29" fmla="*/ 0 h 2265"/>
                <a:gd name="T30" fmla="*/ 0 w 2946"/>
                <a:gd name="T31" fmla="*/ 0 h 2265"/>
                <a:gd name="T32" fmla="*/ 0 w 2946"/>
                <a:gd name="T33" fmla="*/ 0 h 2265"/>
                <a:gd name="T34" fmla="*/ 0 w 2946"/>
                <a:gd name="T35" fmla="*/ 0 h 2265"/>
                <a:gd name="T36" fmla="*/ 0 w 2946"/>
                <a:gd name="T37" fmla="*/ 0 h 2265"/>
                <a:gd name="T38" fmla="*/ 0 w 2946"/>
                <a:gd name="T39" fmla="*/ 0 h 2265"/>
                <a:gd name="T40" fmla="*/ 0 w 2946"/>
                <a:gd name="T41" fmla="*/ 0 h 2265"/>
                <a:gd name="T42" fmla="*/ 0 w 2946"/>
                <a:gd name="T43" fmla="*/ 0 h 2265"/>
                <a:gd name="T44" fmla="*/ 0 w 2946"/>
                <a:gd name="T45" fmla="*/ 0 h 2265"/>
                <a:gd name="T46" fmla="*/ 0 w 2946"/>
                <a:gd name="T47" fmla="*/ 0 h 2265"/>
                <a:gd name="T48" fmla="*/ 0 w 2946"/>
                <a:gd name="T49" fmla="*/ 0 h 2265"/>
                <a:gd name="T50" fmla="*/ 0 w 2946"/>
                <a:gd name="T51" fmla="*/ 0 h 2265"/>
                <a:gd name="T52" fmla="*/ 0 w 2946"/>
                <a:gd name="T53" fmla="*/ 0 h 2265"/>
                <a:gd name="T54" fmla="*/ 0 w 2946"/>
                <a:gd name="T55" fmla="*/ 0 h 2265"/>
                <a:gd name="T56" fmla="*/ 0 w 2946"/>
                <a:gd name="T57" fmla="*/ 0 h 2265"/>
                <a:gd name="T58" fmla="*/ 0 w 2946"/>
                <a:gd name="T59" fmla="*/ 0 h 2265"/>
                <a:gd name="T60" fmla="*/ 0 w 2946"/>
                <a:gd name="T61" fmla="*/ 0 h 2265"/>
                <a:gd name="T62" fmla="*/ 0 w 2946"/>
                <a:gd name="T63" fmla="*/ 0 h 2265"/>
                <a:gd name="T64" fmla="*/ 0 w 2946"/>
                <a:gd name="T65" fmla="*/ 0 h 2265"/>
                <a:gd name="T66" fmla="*/ 0 w 2946"/>
                <a:gd name="T67" fmla="*/ 0 h 2265"/>
                <a:gd name="T68" fmla="*/ 0 w 2946"/>
                <a:gd name="T69" fmla="*/ 0 h 2265"/>
                <a:gd name="T70" fmla="*/ 0 w 2946"/>
                <a:gd name="T71" fmla="*/ 0 h 2265"/>
                <a:gd name="T72" fmla="*/ 0 w 2946"/>
                <a:gd name="T73" fmla="*/ 0 h 2265"/>
                <a:gd name="T74" fmla="*/ 0 w 2946"/>
                <a:gd name="T75" fmla="*/ 0 h 2265"/>
                <a:gd name="T76" fmla="*/ 0 w 2946"/>
                <a:gd name="T77" fmla="*/ 0 h 2265"/>
                <a:gd name="T78" fmla="*/ 0 w 2946"/>
                <a:gd name="T79" fmla="*/ 0 h 2265"/>
                <a:gd name="T80" fmla="*/ 0 w 2946"/>
                <a:gd name="T81" fmla="*/ 0 h 2265"/>
                <a:gd name="T82" fmla="*/ 0 w 2946"/>
                <a:gd name="T83" fmla="*/ 0 h 2265"/>
                <a:gd name="T84" fmla="*/ 0 w 2946"/>
                <a:gd name="T85" fmla="*/ 0 h 2265"/>
                <a:gd name="T86" fmla="*/ 0 w 2946"/>
                <a:gd name="T87" fmla="*/ 0 h 2265"/>
                <a:gd name="T88" fmla="*/ 0 w 2946"/>
                <a:gd name="T89" fmla="*/ 0 h 2265"/>
                <a:gd name="T90" fmla="*/ 0 w 2946"/>
                <a:gd name="T91" fmla="*/ 0 h 2265"/>
                <a:gd name="T92" fmla="*/ 0 w 2946"/>
                <a:gd name="T93" fmla="*/ 0 h 2265"/>
                <a:gd name="T94" fmla="*/ 0 w 2946"/>
                <a:gd name="T95" fmla="*/ 0 h 2265"/>
                <a:gd name="T96" fmla="*/ 0 w 2946"/>
                <a:gd name="T97" fmla="*/ 0 h 2265"/>
                <a:gd name="T98" fmla="*/ 0 w 2946"/>
                <a:gd name="T99" fmla="*/ 0 h 2265"/>
                <a:gd name="T100" fmla="*/ 0 w 2946"/>
                <a:gd name="T101" fmla="*/ 0 h 2265"/>
                <a:gd name="T102" fmla="*/ 0 w 2946"/>
                <a:gd name="T103" fmla="*/ 0 h 2265"/>
                <a:gd name="T104" fmla="*/ 0 w 2946"/>
                <a:gd name="T105" fmla="*/ 0 h 2265"/>
                <a:gd name="T106" fmla="*/ 0 w 2946"/>
                <a:gd name="T107" fmla="*/ 0 h 2265"/>
                <a:gd name="T108" fmla="*/ 0 w 2946"/>
                <a:gd name="T109" fmla="*/ 0 h 2265"/>
                <a:gd name="T110" fmla="*/ 0 w 2946"/>
                <a:gd name="T111" fmla="*/ 0 h 2265"/>
                <a:gd name="T112" fmla="*/ 0 w 2946"/>
                <a:gd name="T113" fmla="*/ 0 h 226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46" h="2265">
                  <a:moveTo>
                    <a:pt x="95" y="1614"/>
                  </a:moveTo>
                  <a:lnTo>
                    <a:pt x="0" y="1224"/>
                  </a:lnTo>
                  <a:lnTo>
                    <a:pt x="36" y="955"/>
                  </a:lnTo>
                  <a:lnTo>
                    <a:pt x="140" y="900"/>
                  </a:lnTo>
                  <a:lnTo>
                    <a:pt x="275" y="825"/>
                  </a:lnTo>
                  <a:lnTo>
                    <a:pt x="380" y="895"/>
                  </a:lnTo>
                  <a:lnTo>
                    <a:pt x="575" y="880"/>
                  </a:lnTo>
                  <a:lnTo>
                    <a:pt x="770" y="850"/>
                  </a:lnTo>
                  <a:lnTo>
                    <a:pt x="980" y="780"/>
                  </a:lnTo>
                  <a:lnTo>
                    <a:pt x="1115" y="790"/>
                  </a:lnTo>
                  <a:lnTo>
                    <a:pt x="1400" y="670"/>
                  </a:lnTo>
                  <a:lnTo>
                    <a:pt x="1566" y="715"/>
                  </a:lnTo>
                  <a:lnTo>
                    <a:pt x="1696" y="655"/>
                  </a:lnTo>
                  <a:lnTo>
                    <a:pt x="1846" y="690"/>
                  </a:lnTo>
                  <a:lnTo>
                    <a:pt x="1951" y="540"/>
                  </a:lnTo>
                  <a:lnTo>
                    <a:pt x="2041" y="400"/>
                  </a:lnTo>
                  <a:lnTo>
                    <a:pt x="2166" y="285"/>
                  </a:lnTo>
                  <a:lnTo>
                    <a:pt x="2359" y="202"/>
                  </a:lnTo>
                  <a:lnTo>
                    <a:pt x="2556" y="85"/>
                  </a:lnTo>
                  <a:lnTo>
                    <a:pt x="2746" y="40"/>
                  </a:lnTo>
                  <a:lnTo>
                    <a:pt x="2901" y="0"/>
                  </a:lnTo>
                  <a:lnTo>
                    <a:pt x="2851" y="175"/>
                  </a:lnTo>
                  <a:lnTo>
                    <a:pt x="2946" y="374"/>
                  </a:lnTo>
                  <a:lnTo>
                    <a:pt x="2731" y="430"/>
                  </a:lnTo>
                  <a:lnTo>
                    <a:pt x="2626" y="584"/>
                  </a:lnTo>
                  <a:lnTo>
                    <a:pt x="2463" y="640"/>
                  </a:lnTo>
                  <a:lnTo>
                    <a:pt x="2301" y="795"/>
                  </a:lnTo>
                  <a:lnTo>
                    <a:pt x="2291" y="870"/>
                  </a:lnTo>
                  <a:lnTo>
                    <a:pt x="2244" y="951"/>
                  </a:lnTo>
                  <a:lnTo>
                    <a:pt x="2195" y="910"/>
                  </a:lnTo>
                  <a:lnTo>
                    <a:pt x="2077" y="1066"/>
                  </a:lnTo>
                  <a:lnTo>
                    <a:pt x="2076" y="1240"/>
                  </a:lnTo>
                  <a:lnTo>
                    <a:pt x="1876" y="1304"/>
                  </a:lnTo>
                  <a:lnTo>
                    <a:pt x="1761" y="1449"/>
                  </a:lnTo>
                  <a:lnTo>
                    <a:pt x="1836" y="1599"/>
                  </a:lnTo>
                  <a:lnTo>
                    <a:pt x="1764" y="1776"/>
                  </a:lnTo>
                  <a:lnTo>
                    <a:pt x="1665" y="1945"/>
                  </a:lnTo>
                  <a:lnTo>
                    <a:pt x="1681" y="2124"/>
                  </a:lnTo>
                  <a:lnTo>
                    <a:pt x="1551" y="2109"/>
                  </a:lnTo>
                  <a:lnTo>
                    <a:pt x="1486" y="2204"/>
                  </a:lnTo>
                  <a:lnTo>
                    <a:pt x="1356" y="2265"/>
                  </a:lnTo>
                  <a:lnTo>
                    <a:pt x="1269" y="2079"/>
                  </a:lnTo>
                  <a:lnTo>
                    <a:pt x="1289" y="1932"/>
                  </a:lnTo>
                  <a:lnTo>
                    <a:pt x="1320" y="1906"/>
                  </a:lnTo>
                  <a:lnTo>
                    <a:pt x="1389" y="1954"/>
                  </a:lnTo>
                  <a:lnTo>
                    <a:pt x="1422" y="1945"/>
                  </a:lnTo>
                  <a:lnTo>
                    <a:pt x="1437" y="1882"/>
                  </a:lnTo>
                  <a:lnTo>
                    <a:pt x="1365" y="1844"/>
                  </a:lnTo>
                  <a:lnTo>
                    <a:pt x="1380" y="1734"/>
                  </a:lnTo>
                  <a:lnTo>
                    <a:pt x="1470" y="1644"/>
                  </a:lnTo>
                  <a:lnTo>
                    <a:pt x="1425" y="1464"/>
                  </a:lnTo>
                  <a:lnTo>
                    <a:pt x="1320" y="1404"/>
                  </a:lnTo>
                  <a:lnTo>
                    <a:pt x="1185" y="1404"/>
                  </a:lnTo>
                  <a:lnTo>
                    <a:pt x="1155" y="1239"/>
                  </a:lnTo>
                  <a:lnTo>
                    <a:pt x="1040" y="1229"/>
                  </a:lnTo>
                  <a:lnTo>
                    <a:pt x="900" y="1314"/>
                  </a:lnTo>
                  <a:lnTo>
                    <a:pt x="865" y="1404"/>
                  </a:lnTo>
                  <a:lnTo>
                    <a:pt x="495" y="1374"/>
                  </a:lnTo>
                  <a:lnTo>
                    <a:pt x="270" y="1334"/>
                  </a:lnTo>
                  <a:lnTo>
                    <a:pt x="120" y="1464"/>
                  </a:lnTo>
                  <a:lnTo>
                    <a:pt x="165" y="1559"/>
                  </a:lnTo>
                  <a:lnTo>
                    <a:pt x="95" y="1614"/>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1" name="Freeform 24">
              <a:extLst>
                <a:ext uri="{FF2B5EF4-FFF2-40B4-BE49-F238E27FC236}">
                  <a16:creationId xmlns:a16="http://schemas.microsoft.com/office/drawing/2014/main" id="{A10944FE-3E51-4B99-935C-74D670DEBD8A}"/>
                </a:ext>
              </a:extLst>
            </p:cNvPr>
            <p:cNvSpPr>
              <a:spLocks/>
            </p:cNvSpPr>
            <p:nvPr/>
          </p:nvSpPr>
          <p:spPr bwMode="auto">
            <a:xfrm>
              <a:off x="5813613" y="2561850"/>
              <a:ext cx="874713" cy="555625"/>
            </a:xfrm>
            <a:custGeom>
              <a:avLst/>
              <a:gdLst>
                <a:gd name="T0" fmla="*/ 0 w 2753"/>
                <a:gd name="T1" fmla="*/ 0 h 1749"/>
                <a:gd name="T2" fmla="*/ 0 w 2753"/>
                <a:gd name="T3" fmla="*/ 0 h 1749"/>
                <a:gd name="T4" fmla="*/ 0 w 2753"/>
                <a:gd name="T5" fmla="*/ 0 h 1749"/>
                <a:gd name="T6" fmla="*/ 0 w 2753"/>
                <a:gd name="T7" fmla="*/ 0 h 1749"/>
                <a:gd name="T8" fmla="*/ 0 w 2753"/>
                <a:gd name="T9" fmla="*/ 0 h 1749"/>
                <a:gd name="T10" fmla="*/ 0 w 2753"/>
                <a:gd name="T11" fmla="*/ 0 h 1749"/>
                <a:gd name="T12" fmla="*/ 0 w 2753"/>
                <a:gd name="T13" fmla="*/ 0 h 1749"/>
                <a:gd name="T14" fmla="*/ 0 w 2753"/>
                <a:gd name="T15" fmla="*/ 0 h 1749"/>
                <a:gd name="T16" fmla="*/ 0 w 2753"/>
                <a:gd name="T17" fmla="*/ 0 h 1749"/>
                <a:gd name="T18" fmla="*/ 0 w 2753"/>
                <a:gd name="T19" fmla="*/ 0 h 1749"/>
                <a:gd name="T20" fmla="*/ 0 w 2753"/>
                <a:gd name="T21" fmla="*/ 0 h 1749"/>
                <a:gd name="T22" fmla="*/ 0 w 2753"/>
                <a:gd name="T23" fmla="*/ 0 h 1749"/>
                <a:gd name="T24" fmla="*/ 0 w 2753"/>
                <a:gd name="T25" fmla="*/ 0 h 1749"/>
                <a:gd name="T26" fmla="*/ 0 w 2753"/>
                <a:gd name="T27" fmla="*/ 0 h 1749"/>
                <a:gd name="T28" fmla="*/ 0 w 2753"/>
                <a:gd name="T29" fmla="*/ 0 h 1749"/>
                <a:gd name="T30" fmla="*/ 0 w 2753"/>
                <a:gd name="T31" fmla="*/ 0 h 1749"/>
                <a:gd name="T32" fmla="*/ 0 w 2753"/>
                <a:gd name="T33" fmla="*/ 0 h 1749"/>
                <a:gd name="T34" fmla="*/ 0 w 2753"/>
                <a:gd name="T35" fmla="*/ 0 h 1749"/>
                <a:gd name="T36" fmla="*/ 0 w 2753"/>
                <a:gd name="T37" fmla="*/ 0 h 1749"/>
                <a:gd name="T38" fmla="*/ 0 w 2753"/>
                <a:gd name="T39" fmla="*/ 0 h 1749"/>
                <a:gd name="T40" fmla="*/ 0 w 2753"/>
                <a:gd name="T41" fmla="*/ 0 h 1749"/>
                <a:gd name="T42" fmla="*/ 0 w 2753"/>
                <a:gd name="T43" fmla="*/ 0 h 1749"/>
                <a:gd name="T44" fmla="*/ 0 w 2753"/>
                <a:gd name="T45" fmla="*/ 0 h 1749"/>
                <a:gd name="T46" fmla="*/ 0 w 2753"/>
                <a:gd name="T47" fmla="*/ 0 h 1749"/>
                <a:gd name="T48" fmla="*/ 0 w 2753"/>
                <a:gd name="T49" fmla="*/ 0 h 1749"/>
                <a:gd name="T50" fmla="*/ 0 w 2753"/>
                <a:gd name="T51" fmla="*/ 0 h 1749"/>
                <a:gd name="T52" fmla="*/ 0 w 2753"/>
                <a:gd name="T53" fmla="*/ 0 h 1749"/>
                <a:gd name="T54" fmla="*/ 0 w 2753"/>
                <a:gd name="T55" fmla="*/ 0 h 1749"/>
                <a:gd name="T56" fmla="*/ 0 w 2753"/>
                <a:gd name="T57" fmla="*/ 0 h 1749"/>
                <a:gd name="T58" fmla="*/ 0 w 2753"/>
                <a:gd name="T59" fmla="*/ 0 h 1749"/>
                <a:gd name="T60" fmla="*/ 0 w 2753"/>
                <a:gd name="T61" fmla="*/ 0 h 1749"/>
                <a:gd name="T62" fmla="*/ 0 w 2753"/>
                <a:gd name="T63" fmla="*/ 0 h 1749"/>
                <a:gd name="T64" fmla="*/ 0 w 2753"/>
                <a:gd name="T65" fmla="*/ 0 h 1749"/>
                <a:gd name="T66" fmla="*/ 0 w 2753"/>
                <a:gd name="T67" fmla="*/ 0 h 174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753" h="1749">
                  <a:moveTo>
                    <a:pt x="0" y="1100"/>
                  </a:moveTo>
                  <a:lnTo>
                    <a:pt x="0" y="1235"/>
                  </a:lnTo>
                  <a:lnTo>
                    <a:pt x="80" y="1280"/>
                  </a:lnTo>
                  <a:lnTo>
                    <a:pt x="185" y="1265"/>
                  </a:lnTo>
                  <a:lnTo>
                    <a:pt x="245" y="1350"/>
                  </a:lnTo>
                  <a:lnTo>
                    <a:pt x="225" y="1470"/>
                  </a:lnTo>
                  <a:lnTo>
                    <a:pt x="270" y="1605"/>
                  </a:lnTo>
                  <a:lnTo>
                    <a:pt x="560" y="1486"/>
                  </a:lnTo>
                  <a:lnTo>
                    <a:pt x="721" y="1530"/>
                  </a:lnTo>
                  <a:lnTo>
                    <a:pt x="856" y="1470"/>
                  </a:lnTo>
                  <a:lnTo>
                    <a:pt x="1006" y="1504"/>
                  </a:lnTo>
                  <a:lnTo>
                    <a:pt x="1117" y="1348"/>
                  </a:lnTo>
                  <a:lnTo>
                    <a:pt x="1201" y="1213"/>
                  </a:lnTo>
                  <a:lnTo>
                    <a:pt x="1329" y="1099"/>
                  </a:lnTo>
                  <a:lnTo>
                    <a:pt x="1517" y="1020"/>
                  </a:lnTo>
                  <a:lnTo>
                    <a:pt x="1717" y="900"/>
                  </a:lnTo>
                  <a:lnTo>
                    <a:pt x="2063" y="815"/>
                  </a:lnTo>
                  <a:lnTo>
                    <a:pt x="2012" y="990"/>
                  </a:lnTo>
                  <a:lnTo>
                    <a:pt x="2108" y="1190"/>
                  </a:lnTo>
                  <a:lnTo>
                    <a:pt x="1892" y="1245"/>
                  </a:lnTo>
                  <a:lnTo>
                    <a:pt x="1787" y="1399"/>
                  </a:lnTo>
                  <a:lnTo>
                    <a:pt x="1625" y="1455"/>
                  </a:lnTo>
                  <a:lnTo>
                    <a:pt x="1462" y="1610"/>
                  </a:lnTo>
                  <a:lnTo>
                    <a:pt x="1456" y="1682"/>
                  </a:lnTo>
                  <a:lnTo>
                    <a:pt x="1585" y="1682"/>
                  </a:lnTo>
                  <a:lnTo>
                    <a:pt x="1649" y="1731"/>
                  </a:lnTo>
                  <a:lnTo>
                    <a:pt x="1742" y="1749"/>
                  </a:lnTo>
                  <a:lnTo>
                    <a:pt x="1808" y="1651"/>
                  </a:lnTo>
                  <a:lnTo>
                    <a:pt x="1896" y="1579"/>
                  </a:lnTo>
                  <a:lnTo>
                    <a:pt x="1976" y="1507"/>
                  </a:lnTo>
                  <a:lnTo>
                    <a:pt x="2096" y="1403"/>
                  </a:lnTo>
                  <a:lnTo>
                    <a:pt x="2216" y="1259"/>
                  </a:lnTo>
                  <a:lnTo>
                    <a:pt x="2336" y="1195"/>
                  </a:lnTo>
                  <a:lnTo>
                    <a:pt x="2424" y="1179"/>
                  </a:lnTo>
                  <a:lnTo>
                    <a:pt x="2543" y="1140"/>
                  </a:lnTo>
                  <a:lnTo>
                    <a:pt x="2588" y="1220"/>
                  </a:lnTo>
                  <a:lnTo>
                    <a:pt x="2672" y="1299"/>
                  </a:lnTo>
                  <a:lnTo>
                    <a:pt x="2720" y="1267"/>
                  </a:lnTo>
                  <a:lnTo>
                    <a:pt x="2693" y="1190"/>
                  </a:lnTo>
                  <a:lnTo>
                    <a:pt x="2648" y="1140"/>
                  </a:lnTo>
                  <a:lnTo>
                    <a:pt x="2573" y="1040"/>
                  </a:lnTo>
                  <a:lnTo>
                    <a:pt x="2543" y="935"/>
                  </a:lnTo>
                  <a:lnTo>
                    <a:pt x="2733" y="795"/>
                  </a:lnTo>
                  <a:lnTo>
                    <a:pt x="2753" y="630"/>
                  </a:lnTo>
                  <a:lnTo>
                    <a:pt x="2618" y="560"/>
                  </a:lnTo>
                  <a:lnTo>
                    <a:pt x="2363" y="530"/>
                  </a:lnTo>
                  <a:lnTo>
                    <a:pt x="2268" y="585"/>
                  </a:lnTo>
                  <a:lnTo>
                    <a:pt x="2213" y="555"/>
                  </a:lnTo>
                  <a:lnTo>
                    <a:pt x="2198" y="485"/>
                  </a:lnTo>
                  <a:lnTo>
                    <a:pt x="2313" y="350"/>
                  </a:lnTo>
                  <a:lnTo>
                    <a:pt x="2283" y="195"/>
                  </a:lnTo>
                  <a:lnTo>
                    <a:pt x="2193" y="195"/>
                  </a:lnTo>
                  <a:lnTo>
                    <a:pt x="2078" y="255"/>
                  </a:lnTo>
                  <a:lnTo>
                    <a:pt x="2093" y="165"/>
                  </a:lnTo>
                  <a:lnTo>
                    <a:pt x="2193" y="105"/>
                  </a:lnTo>
                  <a:lnTo>
                    <a:pt x="2103" y="65"/>
                  </a:lnTo>
                  <a:lnTo>
                    <a:pt x="2073" y="0"/>
                  </a:lnTo>
                  <a:lnTo>
                    <a:pt x="1907" y="75"/>
                  </a:lnTo>
                  <a:lnTo>
                    <a:pt x="1802" y="135"/>
                  </a:lnTo>
                  <a:lnTo>
                    <a:pt x="1732" y="230"/>
                  </a:lnTo>
                  <a:lnTo>
                    <a:pt x="1522" y="225"/>
                  </a:lnTo>
                  <a:lnTo>
                    <a:pt x="1356" y="120"/>
                  </a:lnTo>
                  <a:lnTo>
                    <a:pt x="1201" y="255"/>
                  </a:lnTo>
                  <a:lnTo>
                    <a:pt x="1066" y="485"/>
                  </a:lnTo>
                  <a:lnTo>
                    <a:pt x="946" y="545"/>
                  </a:lnTo>
                  <a:lnTo>
                    <a:pt x="786" y="560"/>
                  </a:lnTo>
                  <a:lnTo>
                    <a:pt x="691" y="705"/>
                  </a:lnTo>
                  <a:lnTo>
                    <a:pt x="630" y="765"/>
                  </a:lnTo>
                  <a:lnTo>
                    <a:pt x="485" y="860"/>
                  </a:lnTo>
                  <a:lnTo>
                    <a:pt x="455" y="990"/>
                  </a:lnTo>
                  <a:lnTo>
                    <a:pt x="380" y="1070"/>
                  </a:lnTo>
                  <a:lnTo>
                    <a:pt x="260" y="1020"/>
                  </a:lnTo>
                  <a:lnTo>
                    <a:pt x="150" y="1110"/>
                  </a:lnTo>
                  <a:lnTo>
                    <a:pt x="65" y="1085"/>
                  </a:lnTo>
                  <a:lnTo>
                    <a:pt x="0" y="110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2" name="Freeform 25">
              <a:extLst>
                <a:ext uri="{FF2B5EF4-FFF2-40B4-BE49-F238E27FC236}">
                  <a16:creationId xmlns:a16="http://schemas.microsoft.com/office/drawing/2014/main" id="{88365164-A36F-4430-8C19-464D11EEFB8D}"/>
                </a:ext>
              </a:extLst>
            </p:cNvPr>
            <p:cNvSpPr>
              <a:spLocks/>
            </p:cNvSpPr>
            <p:nvPr/>
          </p:nvSpPr>
          <p:spPr bwMode="auto">
            <a:xfrm>
              <a:off x="6107300" y="3096838"/>
              <a:ext cx="288925" cy="231775"/>
            </a:xfrm>
            <a:custGeom>
              <a:avLst/>
              <a:gdLst>
                <a:gd name="T0" fmla="*/ 0 w 912"/>
                <a:gd name="T1" fmla="*/ 0 h 732"/>
                <a:gd name="T2" fmla="*/ 0 w 912"/>
                <a:gd name="T3" fmla="*/ 0 h 732"/>
                <a:gd name="T4" fmla="*/ 0 w 912"/>
                <a:gd name="T5" fmla="*/ 0 h 732"/>
                <a:gd name="T6" fmla="*/ 0 w 912"/>
                <a:gd name="T7" fmla="*/ 0 h 732"/>
                <a:gd name="T8" fmla="*/ 0 w 912"/>
                <a:gd name="T9" fmla="*/ 0 h 732"/>
                <a:gd name="T10" fmla="*/ 0 w 912"/>
                <a:gd name="T11" fmla="*/ 0 h 732"/>
                <a:gd name="T12" fmla="*/ 0 w 912"/>
                <a:gd name="T13" fmla="*/ 0 h 732"/>
                <a:gd name="T14" fmla="*/ 0 w 912"/>
                <a:gd name="T15" fmla="*/ 0 h 732"/>
                <a:gd name="T16" fmla="*/ 0 w 912"/>
                <a:gd name="T17" fmla="*/ 0 h 732"/>
                <a:gd name="T18" fmla="*/ 0 w 912"/>
                <a:gd name="T19" fmla="*/ 0 h 732"/>
                <a:gd name="T20" fmla="*/ 0 w 912"/>
                <a:gd name="T21" fmla="*/ 0 h 732"/>
                <a:gd name="T22" fmla="*/ 0 w 912"/>
                <a:gd name="T23" fmla="*/ 0 h 732"/>
                <a:gd name="T24" fmla="*/ 0 w 912"/>
                <a:gd name="T25" fmla="*/ 0 h 732"/>
                <a:gd name="T26" fmla="*/ 0 w 912"/>
                <a:gd name="T27" fmla="*/ 0 h 732"/>
                <a:gd name="T28" fmla="*/ 0 w 912"/>
                <a:gd name="T29" fmla="*/ 0 h 732"/>
                <a:gd name="T30" fmla="*/ 0 w 912"/>
                <a:gd name="T31" fmla="*/ 0 h 732"/>
                <a:gd name="T32" fmla="*/ 0 w 912"/>
                <a:gd name="T33" fmla="*/ 0 h 732"/>
                <a:gd name="T34" fmla="*/ 0 w 912"/>
                <a:gd name="T35" fmla="*/ 0 h 732"/>
                <a:gd name="T36" fmla="*/ 0 w 912"/>
                <a:gd name="T37" fmla="*/ 0 h 732"/>
                <a:gd name="T38" fmla="*/ 0 w 912"/>
                <a:gd name="T39" fmla="*/ 0 h 732"/>
                <a:gd name="T40" fmla="*/ 0 w 912"/>
                <a:gd name="T41" fmla="*/ 0 h 732"/>
                <a:gd name="T42" fmla="*/ 0 w 912"/>
                <a:gd name="T43" fmla="*/ 0 h 732"/>
                <a:gd name="T44" fmla="*/ 0 w 912"/>
                <a:gd name="T45" fmla="*/ 0 h 732"/>
                <a:gd name="T46" fmla="*/ 0 w 912"/>
                <a:gd name="T47" fmla="*/ 0 h 73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912" h="732">
                  <a:moveTo>
                    <a:pt x="656" y="582"/>
                  </a:moveTo>
                  <a:lnTo>
                    <a:pt x="653" y="482"/>
                  </a:lnTo>
                  <a:lnTo>
                    <a:pt x="564" y="512"/>
                  </a:lnTo>
                  <a:lnTo>
                    <a:pt x="533" y="593"/>
                  </a:lnTo>
                  <a:lnTo>
                    <a:pt x="401" y="582"/>
                  </a:lnTo>
                  <a:lnTo>
                    <a:pt x="341" y="537"/>
                  </a:lnTo>
                  <a:lnTo>
                    <a:pt x="226" y="580"/>
                  </a:lnTo>
                  <a:lnTo>
                    <a:pt x="250" y="658"/>
                  </a:lnTo>
                  <a:lnTo>
                    <a:pt x="166" y="721"/>
                  </a:lnTo>
                  <a:lnTo>
                    <a:pt x="75" y="732"/>
                  </a:lnTo>
                  <a:lnTo>
                    <a:pt x="0" y="583"/>
                  </a:lnTo>
                  <a:lnTo>
                    <a:pt x="115" y="437"/>
                  </a:lnTo>
                  <a:lnTo>
                    <a:pt x="316" y="372"/>
                  </a:lnTo>
                  <a:lnTo>
                    <a:pt x="316" y="196"/>
                  </a:lnTo>
                  <a:lnTo>
                    <a:pt x="432" y="44"/>
                  </a:lnTo>
                  <a:lnTo>
                    <a:pt x="485" y="80"/>
                  </a:lnTo>
                  <a:lnTo>
                    <a:pt x="533" y="0"/>
                  </a:lnTo>
                  <a:lnTo>
                    <a:pt x="661" y="0"/>
                  </a:lnTo>
                  <a:lnTo>
                    <a:pt x="725" y="48"/>
                  </a:lnTo>
                  <a:lnTo>
                    <a:pt x="821" y="64"/>
                  </a:lnTo>
                  <a:lnTo>
                    <a:pt x="861" y="136"/>
                  </a:lnTo>
                  <a:lnTo>
                    <a:pt x="912" y="206"/>
                  </a:lnTo>
                  <a:lnTo>
                    <a:pt x="855" y="320"/>
                  </a:lnTo>
                  <a:lnTo>
                    <a:pt x="767" y="450"/>
                  </a:lnTo>
                  <a:lnTo>
                    <a:pt x="752" y="591"/>
                  </a:lnTo>
                  <a:lnTo>
                    <a:pt x="656" y="58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3" name="Freeform 26">
              <a:extLst>
                <a:ext uri="{FF2B5EF4-FFF2-40B4-BE49-F238E27FC236}">
                  <a16:creationId xmlns:a16="http://schemas.microsoft.com/office/drawing/2014/main" id="{CB96DAEE-F8BB-4293-8F2A-588D29FDBA87}"/>
                </a:ext>
              </a:extLst>
            </p:cNvPr>
            <p:cNvSpPr>
              <a:spLocks/>
            </p:cNvSpPr>
            <p:nvPr/>
          </p:nvSpPr>
          <p:spPr bwMode="auto">
            <a:xfrm>
              <a:off x="6077138" y="3249238"/>
              <a:ext cx="280988" cy="304800"/>
            </a:xfrm>
            <a:custGeom>
              <a:avLst/>
              <a:gdLst>
                <a:gd name="T0" fmla="*/ 0 w 884"/>
                <a:gd name="T1" fmla="*/ 0 h 962"/>
                <a:gd name="T2" fmla="*/ 0 w 884"/>
                <a:gd name="T3" fmla="*/ 0 h 962"/>
                <a:gd name="T4" fmla="*/ 0 w 884"/>
                <a:gd name="T5" fmla="*/ 0 h 962"/>
                <a:gd name="T6" fmla="*/ 0 w 884"/>
                <a:gd name="T7" fmla="*/ 0 h 962"/>
                <a:gd name="T8" fmla="*/ 0 w 884"/>
                <a:gd name="T9" fmla="*/ 0 h 962"/>
                <a:gd name="T10" fmla="*/ 0 w 884"/>
                <a:gd name="T11" fmla="*/ 0 h 962"/>
                <a:gd name="T12" fmla="*/ 0 w 884"/>
                <a:gd name="T13" fmla="*/ 0 h 962"/>
                <a:gd name="T14" fmla="*/ 0 w 884"/>
                <a:gd name="T15" fmla="*/ 0 h 962"/>
                <a:gd name="T16" fmla="*/ 0 w 884"/>
                <a:gd name="T17" fmla="*/ 0 h 962"/>
                <a:gd name="T18" fmla="*/ 0 w 884"/>
                <a:gd name="T19" fmla="*/ 0 h 962"/>
                <a:gd name="T20" fmla="*/ 0 w 884"/>
                <a:gd name="T21" fmla="*/ 0 h 962"/>
                <a:gd name="T22" fmla="*/ 0 w 884"/>
                <a:gd name="T23" fmla="*/ 0 h 962"/>
                <a:gd name="T24" fmla="*/ 0 w 884"/>
                <a:gd name="T25" fmla="*/ 0 h 962"/>
                <a:gd name="T26" fmla="*/ 0 w 884"/>
                <a:gd name="T27" fmla="*/ 0 h 962"/>
                <a:gd name="T28" fmla="*/ 0 w 884"/>
                <a:gd name="T29" fmla="*/ 0 h 962"/>
                <a:gd name="T30" fmla="*/ 0 w 884"/>
                <a:gd name="T31" fmla="*/ 0 h 962"/>
                <a:gd name="T32" fmla="*/ 0 w 884"/>
                <a:gd name="T33" fmla="*/ 0 h 962"/>
                <a:gd name="T34" fmla="*/ 0 w 884"/>
                <a:gd name="T35" fmla="*/ 0 h 962"/>
                <a:gd name="T36" fmla="*/ 0 w 884"/>
                <a:gd name="T37" fmla="*/ 0 h 962"/>
                <a:gd name="T38" fmla="*/ 0 w 884"/>
                <a:gd name="T39" fmla="*/ 0 h 962"/>
                <a:gd name="T40" fmla="*/ 0 w 884"/>
                <a:gd name="T41" fmla="*/ 0 h 962"/>
                <a:gd name="T42" fmla="*/ 0 w 884"/>
                <a:gd name="T43" fmla="*/ 0 h 962"/>
                <a:gd name="T44" fmla="*/ 0 w 884"/>
                <a:gd name="T45" fmla="*/ 0 h 9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84" h="962">
                  <a:moveTo>
                    <a:pt x="752" y="102"/>
                  </a:moveTo>
                  <a:lnTo>
                    <a:pt x="748" y="0"/>
                  </a:lnTo>
                  <a:lnTo>
                    <a:pt x="660" y="32"/>
                  </a:lnTo>
                  <a:lnTo>
                    <a:pt x="628" y="112"/>
                  </a:lnTo>
                  <a:lnTo>
                    <a:pt x="495" y="101"/>
                  </a:lnTo>
                  <a:lnTo>
                    <a:pt x="435" y="56"/>
                  </a:lnTo>
                  <a:lnTo>
                    <a:pt x="320" y="101"/>
                  </a:lnTo>
                  <a:lnTo>
                    <a:pt x="345" y="176"/>
                  </a:lnTo>
                  <a:lnTo>
                    <a:pt x="260" y="241"/>
                  </a:lnTo>
                  <a:lnTo>
                    <a:pt x="170" y="251"/>
                  </a:lnTo>
                  <a:lnTo>
                    <a:pt x="95" y="431"/>
                  </a:lnTo>
                  <a:lnTo>
                    <a:pt x="0" y="597"/>
                  </a:lnTo>
                  <a:lnTo>
                    <a:pt x="15" y="777"/>
                  </a:lnTo>
                  <a:lnTo>
                    <a:pt x="20" y="872"/>
                  </a:lnTo>
                  <a:lnTo>
                    <a:pt x="80" y="932"/>
                  </a:lnTo>
                  <a:lnTo>
                    <a:pt x="165" y="932"/>
                  </a:lnTo>
                  <a:lnTo>
                    <a:pt x="300" y="957"/>
                  </a:lnTo>
                  <a:lnTo>
                    <a:pt x="380" y="927"/>
                  </a:lnTo>
                  <a:lnTo>
                    <a:pt x="560" y="962"/>
                  </a:lnTo>
                  <a:lnTo>
                    <a:pt x="620" y="872"/>
                  </a:lnTo>
                  <a:lnTo>
                    <a:pt x="700" y="696"/>
                  </a:lnTo>
                  <a:lnTo>
                    <a:pt x="740" y="560"/>
                  </a:lnTo>
                  <a:lnTo>
                    <a:pt x="812" y="464"/>
                  </a:lnTo>
                  <a:lnTo>
                    <a:pt x="884" y="392"/>
                  </a:lnTo>
                  <a:lnTo>
                    <a:pt x="815" y="286"/>
                  </a:lnTo>
                  <a:lnTo>
                    <a:pt x="735" y="221"/>
                  </a:lnTo>
                  <a:lnTo>
                    <a:pt x="752" y="10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4" name="Freeform 27">
              <a:extLst>
                <a:ext uri="{FF2B5EF4-FFF2-40B4-BE49-F238E27FC236}">
                  <a16:creationId xmlns:a16="http://schemas.microsoft.com/office/drawing/2014/main" id="{36699F5B-5CCE-4277-9D14-ED7C3CF0D855}"/>
                </a:ext>
              </a:extLst>
            </p:cNvPr>
            <p:cNvSpPr>
              <a:spLocks/>
            </p:cNvSpPr>
            <p:nvPr/>
          </p:nvSpPr>
          <p:spPr bwMode="auto">
            <a:xfrm>
              <a:off x="5967600" y="3490538"/>
              <a:ext cx="204788" cy="419100"/>
            </a:xfrm>
            <a:custGeom>
              <a:avLst/>
              <a:gdLst>
                <a:gd name="T0" fmla="*/ 0 w 645"/>
                <a:gd name="T1" fmla="*/ 0 h 1321"/>
                <a:gd name="T2" fmla="*/ 0 w 645"/>
                <a:gd name="T3" fmla="*/ 0 h 1321"/>
                <a:gd name="T4" fmla="*/ 0 w 645"/>
                <a:gd name="T5" fmla="*/ 0 h 1321"/>
                <a:gd name="T6" fmla="*/ 0 w 645"/>
                <a:gd name="T7" fmla="*/ 0 h 1321"/>
                <a:gd name="T8" fmla="*/ 0 w 645"/>
                <a:gd name="T9" fmla="*/ 0 h 1321"/>
                <a:gd name="T10" fmla="*/ 0 w 645"/>
                <a:gd name="T11" fmla="*/ 0 h 1321"/>
                <a:gd name="T12" fmla="*/ 0 w 645"/>
                <a:gd name="T13" fmla="*/ 0 h 1321"/>
                <a:gd name="T14" fmla="*/ 0 w 645"/>
                <a:gd name="T15" fmla="*/ 0 h 1321"/>
                <a:gd name="T16" fmla="*/ 0 w 645"/>
                <a:gd name="T17" fmla="*/ 0 h 1321"/>
                <a:gd name="T18" fmla="*/ 0 w 645"/>
                <a:gd name="T19" fmla="*/ 0 h 1321"/>
                <a:gd name="T20" fmla="*/ 0 w 645"/>
                <a:gd name="T21" fmla="*/ 0 h 1321"/>
                <a:gd name="T22" fmla="*/ 0 w 645"/>
                <a:gd name="T23" fmla="*/ 0 h 1321"/>
                <a:gd name="T24" fmla="*/ 0 w 645"/>
                <a:gd name="T25" fmla="*/ 0 h 1321"/>
                <a:gd name="T26" fmla="*/ 0 w 645"/>
                <a:gd name="T27" fmla="*/ 0 h 1321"/>
                <a:gd name="T28" fmla="*/ 0 w 645"/>
                <a:gd name="T29" fmla="*/ 0 h 1321"/>
                <a:gd name="T30" fmla="*/ 0 w 645"/>
                <a:gd name="T31" fmla="*/ 0 h 1321"/>
                <a:gd name="T32" fmla="*/ 0 w 645"/>
                <a:gd name="T33" fmla="*/ 0 h 1321"/>
                <a:gd name="T34" fmla="*/ 0 w 645"/>
                <a:gd name="T35" fmla="*/ 0 h 1321"/>
                <a:gd name="T36" fmla="*/ 0 w 645"/>
                <a:gd name="T37" fmla="*/ 0 h 1321"/>
                <a:gd name="T38" fmla="*/ 0 w 645"/>
                <a:gd name="T39" fmla="*/ 0 h 1321"/>
                <a:gd name="T40" fmla="*/ 0 w 645"/>
                <a:gd name="T41" fmla="*/ 0 h 1321"/>
                <a:gd name="T42" fmla="*/ 0 w 645"/>
                <a:gd name="T43" fmla="*/ 0 h 1321"/>
                <a:gd name="T44" fmla="*/ 0 w 645"/>
                <a:gd name="T45" fmla="*/ 0 h 1321"/>
                <a:gd name="T46" fmla="*/ 0 w 645"/>
                <a:gd name="T47" fmla="*/ 0 h 1321"/>
                <a:gd name="T48" fmla="*/ 0 w 645"/>
                <a:gd name="T49" fmla="*/ 0 h 13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45" h="1321">
                  <a:moveTo>
                    <a:pt x="36" y="153"/>
                  </a:moveTo>
                  <a:lnTo>
                    <a:pt x="0" y="375"/>
                  </a:lnTo>
                  <a:lnTo>
                    <a:pt x="63" y="489"/>
                  </a:lnTo>
                  <a:lnTo>
                    <a:pt x="95" y="600"/>
                  </a:lnTo>
                  <a:lnTo>
                    <a:pt x="60" y="665"/>
                  </a:lnTo>
                  <a:lnTo>
                    <a:pt x="132" y="856"/>
                  </a:lnTo>
                  <a:lnTo>
                    <a:pt x="231" y="1027"/>
                  </a:lnTo>
                  <a:lnTo>
                    <a:pt x="249" y="1195"/>
                  </a:lnTo>
                  <a:lnTo>
                    <a:pt x="260" y="1295"/>
                  </a:lnTo>
                  <a:lnTo>
                    <a:pt x="380" y="1234"/>
                  </a:lnTo>
                  <a:lnTo>
                    <a:pt x="440" y="1321"/>
                  </a:lnTo>
                  <a:lnTo>
                    <a:pt x="485" y="1259"/>
                  </a:lnTo>
                  <a:lnTo>
                    <a:pt x="525" y="1174"/>
                  </a:lnTo>
                  <a:lnTo>
                    <a:pt x="510" y="1039"/>
                  </a:lnTo>
                  <a:lnTo>
                    <a:pt x="480" y="884"/>
                  </a:lnTo>
                  <a:lnTo>
                    <a:pt x="453" y="790"/>
                  </a:lnTo>
                  <a:lnTo>
                    <a:pt x="549" y="790"/>
                  </a:lnTo>
                  <a:lnTo>
                    <a:pt x="597" y="678"/>
                  </a:lnTo>
                  <a:lnTo>
                    <a:pt x="645" y="550"/>
                  </a:lnTo>
                  <a:lnTo>
                    <a:pt x="605" y="359"/>
                  </a:lnTo>
                  <a:lnTo>
                    <a:pt x="515" y="169"/>
                  </a:lnTo>
                  <a:lnTo>
                    <a:pt x="428" y="170"/>
                  </a:lnTo>
                  <a:lnTo>
                    <a:pt x="365" y="113"/>
                  </a:lnTo>
                  <a:lnTo>
                    <a:pt x="359" y="14"/>
                  </a:lnTo>
                  <a:lnTo>
                    <a:pt x="230" y="0"/>
                  </a:lnTo>
                  <a:lnTo>
                    <a:pt x="165" y="95"/>
                  </a:lnTo>
                  <a:lnTo>
                    <a:pt x="36" y="153"/>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5" name="Freeform 28">
              <a:extLst>
                <a:ext uri="{FF2B5EF4-FFF2-40B4-BE49-F238E27FC236}">
                  <a16:creationId xmlns:a16="http://schemas.microsoft.com/office/drawing/2014/main" id="{B8998838-5A33-48CA-90ED-698E0176E911}"/>
                </a:ext>
              </a:extLst>
            </p:cNvPr>
            <p:cNvSpPr>
              <a:spLocks/>
            </p:cNvSpPr>
            <p:nvPr/>
          </p:nvSpPr>
          <p:spPr bwMode="auto">
            <a:xfrm>
              <a:off x="5269100" y="2887288"/>
              <a:ext cx="133350" cy="184150"/>
            </a:xfrm>
            <a:custGeom>
              <a:avLst/>
              <a:gdLst>
                <a:gd name="T0" fmla="*/ 0 w 420"/>
                <a:gd name="T1" fmla="*/ 0 h 580"/>
                <a:gd name="T2" fmla="*/ 0 w 420"/>
                <a:gd name="T3" fmla="*/ 0 h 580"/>
                <a:gd name="T4" fmla="*/ 0 w 420"/>
                <a:gd name="T5" fmla="*/ 0 h 580"/>
                <a:gd name="T6" fmla="*/ 0 w 420"/>
                <a:gd name="T7" fmla="*/ 0 h 580"/>
                <a:gd name="T8" fmla="*/ 0 w 420"/>
                <a:gd name="T9" fmla="*/ 0 h 580"/>
                <a:gd name="T10" fmla="*/ 0 w 420"/>
                <a:gd name="T11" fmla="*/ 0 h 580"/>
                <a:gd name="T12" fmla="*/ 0 w 420"/>
                <a:gd name="T13" fmla="*/ 0 h 580"/>
                <a:gd name="T14" fmla="*/ 0 w 420"/>
                <a:gd name="T15" fmla="*/ 0 h 580"/>
                <a:gd name="T16" fmla="*/ 0 w 420"/>
                <a:gd name="T17" fmla="*/ 0 h 580"/>
                <a:gd name="T18" fmla="*/ 0 w 420"/>
                <a:gd name="T19" fmla="*/ 0 h 580"/>
                <a:gd name="T20" fmla="*/ 0 w 420"/>
                <a:gd name="T21" fmla="*/ 0 h 580"/>
                <a:gd name="T22" fmla="*/ 0 w 420"/>
                <a:gd name="T23" fmla="*/ 0 h 580"/>
                <a:gd name="T24" fmla="*/ 0 w 420"/>
                <a:gd name="T25" fmla="*/ 0 h 580"/>
                <a:gd name="T26" fmla="*/ 0 w 420"/>
                <a:gd name="T27" fmla="*/ 0 h 5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20" h="580">
                  <a:moveTo>
                    <a:pt x="384" y="516"/>
                  </a:moveTo>
                  <a:lnTo>
                    <a:pt x="405" y="430"/>
                  </a:lnTo>
                  <a:lnTo>
                    <a:pt x="360" y="315"/>
                  </a:lnTo>
                  <a:lnTo>
                    <a:pt x="420" y="135"/>
                  </a:lnTo>
                  <a:lnTo>
                    <a:pt x="385" y="60"/>
                  </a:lnTo>
                  <a:lnTo>
                    <a:pt x="265" y="0"/>
                  </a:lnTo>
                  <a:lnTo>
                    <a:pt x="144" y="70"/>
                  </a:lnTo>
                  <a:lnTo>
                    <a:pt x="30" y="104"/>
                  </a:lnTo>
                  <a:lnTo>
                    <a:pt x="54" y="248"/>
                  </a:lnTo>
                  <a:lnTo>
                    <a:pt x="0" y="356"/>
                  </a:lnTo>
                  <a:lnTo>
                    <a:pt x="14" y="511"/>
                  </a:lnTo>
                  <a:lnTo>
                    <a:pt x="99" y="580"/>
                  </a:lnTo>
                  <a:lnTo>
                    <a:pt x="235" y="570"/>
                  </a:lnTo>
                  <a:lnTo>
                    <a:pt x="384" y="516"/>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6" name="Freeform 29">
              <a:extLst>
                <a:ext uri="{FF2B5EF4-FFF2-40B4-BE49-F238E27FC236}">
                  <a16:creationId xmlns:a16="http://schemas.microsoft.com/office/drawing/2014/main" id="{ABC4244E-8F2B-4BD0-A2B9-7AA76D4559F3}"/>
                </a:ext>
              </a:extLst>
            </p:cNvPr>
            <p:cNvSpPr>
              <a:spLocks/>
            </p:cNvSpPr>
            <p:nvPr/>
          </p:nvSpPr>
          <p:spPr bwMode="auto">
            <a:xfrm>
              <a:off x="2967225" y="5049463"/>
              <a:ext cx="100013" cy="166688"/>
            </a:xfrm>
            <a:custGeom>
              <a:avLst/>
              <a:gdLst>
                <a:gd name="T0" fmla="*/ 0 w 315"/>
                <a:gd name="T1" fmla="*/ 0 h 525"/>
                <a:gd name="T2" fmla="*/ 0 w 315"/>
                <a:gd name="T3" fmla="*/ 0 h 525"/>
                <a:gd name="T4" fmla="*/ 0 w 315"/>
                <a:gd name="T5" fmla="*/ 0 h 525"/>
                <a:gd name="T6" fmla="*/ 0 w 315"/>
                <a:gd name="T7" fmla="*/ 0 h 525"/>
                <a:gd name="T8" fmla="*/ 0 w 315"/>
                <a:gd name="T9" fmla="*/ 0 h 525"/>
                <a:gd name="T10" fmla="*/ 0 w 315"/>
                <a:gd name="T11" fmla="*/ 0 h 525"/>
                <a:gd name="T12" fmla="*/ 0 w 315"/>
                <a:gd name="T13" fmla="*/ 0 h 525"/>
                <a:gd name="T14" fmla="*/ 0 w 315"/>
                <a:gd name="T15" fmla="*/ 0 h 525"/>
                <a:gd name="T16" fmla="*/ 0 w 315"/>
                <a:gd name="T17" fmla="*/ 0 h 525"/>
                <a:gd name="T18" fmla="*/ 0 w 315"/>
                <a:gd name="T19" fmla="*/ 0 h 525"/>
                <a:gd name="T20" fmla="*/ 0 w 315"/>
                <a:gd name="T21" fmla="*/ 0 h 5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15" h="525">
                  <a:moveTo>
                    <a:pt x="244" y="525"/>
                  </a:moveTo>
                  <a:lnTo>
                    <a:pt x="124" y="430"/>
                  </a:lnTo>
                  <a:lnTo>
                    <a:pt x="109" y="295"/>
                  </a:lnTo>
                  <a:lnTo>
                    <a:pt x="44" y="205"/>
                  </a:lnTo>
                  <a:lnTo>
                    <a:pt x="0" y="24"/>
                  </a:lnTo>
                  <a:lnTo>
                    <a:pt x="93" y="0"/>
                  </a:lnTo>
                  <a:lnTo>
                    <a:pt x="149" y="70"/>
                  </a:lnTo>
                  <a:lnTo>
                    <a:pt x="260" y="72"/>
                  </a:lnTo>
                  <a:lnTo>
                    <a:pt x="315" y="274"/>
                  </a:lnTo>
                  <a:lnTo>
                    <a:pt x="303" y="406"/>
                  </a:lnTo>
                  <a:lnTo>
                    <a:pt x="244" y="525"/>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7" name="Freeform 30">
              <a:extLst>
                <a:ext uri="{FF2B5EF4-FFF2-40B4-BE49-F238E27FC236}">
                  <a16:creationId xmlns:a16="http://schemas.microsoft.com/office/drawing/2014/main" id="{28951387-C549-474F-89BB-B4F6D181E2E8}"/>
                </a:ext>
              </a:extLst>
            </p:cNvPr>
            <p:cNvSpPr>
              <a:spLocks/>
            </p:cNvSpPr>
            <p:nvPr/>
          </p:nvSpPr>
          <p:spPr bwMode="auto">
            <a:xfrm>
              <a:off x="5807263" y="3481013"/>
              <a:ext cx="171450" cy="277813"/>
            </a:xfrm>
            <a:custGeom>
              <a:avLst/>
              <a:gdLst>
                <a:gd name="T0" fmla="*/ 0 w 540"/>
                <a:gd name="T1" fmla="*/ 0 h 876"/>
                <a:gd name="T2" fmla="*/ 0 w 540"/>
                <a:gd name="T3" fmla="*/ 0 h 876"/>
                <a:gd name="T4" fmla="*/ 0 w 540"/>
                <a:gd name="T5" fmla="*/ 0 h 876"/>
                <a:gd name="T6" fmla="*/ 0 w 540"/>
                <a:gd name="T7" fmla="*/ 0 h 876"/>
                <a:gd name="T8" fmla="*/ 0 w 540"/>
                <a:gd name="T9" fmla="*/ 0 h 876"/>
                <a:gd name="T10" fmla="*/ 0 w 540"/>
                <a:gd name="T11" fmla="*/ 0 h 876"/>
                <a:gd name="T12" fmla="*/ 0 w 540"/>
                <a:gd name="T13" fmla="*/ 0 h 876"/>
                <a:gd name="T14" fmla="*/ 0 w 540"/>
                <a:gd name="T15" fmla="*/ 0 h 876"/>
                <a:gd name="T16" fmla="*/ 0 w 540"/>
                <a:gd name="T17" fmla="*/ 0 h 876"/>
                <a:gd name="T18" fmla="*/ 0 w 540"/>
                <a:gd name="T19" fmla="*/ 0 h 876"/>
                <a:gd name="T20" fmla="*/ 0 w 540"/>
                <a:gd name="T21" fmla="*/ 0 h 876"/>
                <a:gd name="T22" fmla="*/ 0 w 540"/>
                <a:gd name="T23" fmla="*/ 0 h 876"/>
                <a:gd name="T24" fmla="*/ 0 w 540"/>
                <a:gd name="T25" fmla="*/ 0 h 876"/>
                <a:gd name="T26" fmla="*/ 0 w 540"/>
                <a:gd name="T27" fmla="*/ 0 h 876"/>
                <a:gd name="T28" fmla="*/ 0 w 540"/>
                <a:gd name="T29" fmla="*/ 0 h 876"/>
                <a:gd name="T30" fmla="*/ 0 w 540"/>
                <a:gd name="T31" fmla="*/ 0 h 8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40" h="876">
                  <a:moveTo>
                    <a:pt x="505" y="404"/>
                  </a:moveTo>
                  <a:lnTo>
                    <a:pt x="355" y="449"/>
                  </a:lnTo>
                  <a:lnTo>
                    <a:pt x="360" y="530"/>
                  </a:lnTo>
                  <a:lnTo>
                    <a:pt x="315" y="675"/>
                  </a:lnTo>
                  <a:lnTo>
                    <a:pt x="330" y="785"/>
                  </a:lnTo>
                  <a:lnTo>
                    <a:pt x="246" y="876"/>
                  </a:lnTo>
                  <a:lnTo>
                    <a:pt x="166" y="796"/>
                  </a:lnTo>
                  <a:lnTo>
                    <a:pt x="150" y="700"/>
                  </a:lnTo>
                  <a:lnTo>
                    <a:pt x="94" y="812"/>
                  </a:lnTo>
                  <a:lnTo>
                    <a:pt x="50" y="685"/>
                  </a:lnTo>
                  <a:lnTo>
                    <a:pt x="0" y="454"/>
                  </a:lnTo>
                  <a:lnTo>
                    <a:pt x="50" y="229"/>
                  </a:lnTo>
                  <a:lnTo>
                    <a:pt x="190" y="179"/>
                  </a:lnTo>
                  <a:lnTo>
                    <a:pt x="313" y="149"/>
                  </a:lnTo>
                  <a:lnTo>
                    <a:pt x="385" y="19"/>
                  </a:lnTo>
                  <a:lnTo>
                    <a:pt x="453" y="0"/>
                  </a:lnTo>
                  <a:lnTo>
                    <a:pt x="540" y="184"/>
                  </a:lnTo>
                  <a:lnTo>
                    <a:pt x="505" y="404"/>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08" name="Freeform 31">
              <a:extLst>
                <a:ext uri="{FF2B5EF4-FFF2-40B4-BE49-F238E27FC236}">
                  <a16:creationId xmlns:a16="http://schemas.microsoft.com/office/drawing/2014/main" id="{A5B4B6D2-4ED6-4AC9-993B-606B3D26D824}"/>
                </a:ext>
              </a:extLst>
            </p:cNvPr>
            <p:cNvSpPr>
              <a:spLocks/>
            </p:cNvSpPr>
            <p:nvPr/>
          </p:nvSpPr>
          <p:spPr bwMode="auto">
            <a:xfrm>
              <a:off x="5559613" y="3211138"/>
              <a:ext cx="455613" cy="195263"/>
            </a:xfrm>
            <a:custGeom>
              <a:avLst/>
              <a:gdLst>
                <a:gd name="T0" fmla="*/ 0 w 1439"/>
                <a:gd name="T1" fmla="*/ 0 h 615"/>
                <a:gd name="T2" fmla="*/ 0 w 1439"/>
                <a:gd name="T3" fmla="*/ 0 h 615"/>
                <a:gd name="T4" fmla="*/ 0 w 1439"/>
                <a:gd name="T5" fmla="*/ 0 h 615"/>
                <a:gd name="T6" fmla="*/ 0 w 1439"/>
                <a:gd name="T7" fmla="*/ 0 h 615"/>
                <a:gd name="T8" fmla="*/ 0 w 1439"/>
                <a:gd name="T9" fmla="*/ 0 h 615"/>
                <a:gd name="T10" fmla="*/ 0 w 1439"/>
                <a:gd name="T11" fmla="*/ 0 h 615"/>
                <a:gd name="T12" fmla="*/ 0 w 1439"/>
                <a:gd name="T13" fmla="*/ 0 h 615"/>
                <a:gd name="T14" fmla="*/ 0 w 1439"/>
                <a:gd name="T15" fmla="*/ 0 h 615"/>
                <a:gd name="T16" fmla="*/ 0 w 1439"/>
                <a:gd name="T17" fmla="*/ 0 h 615"/>
                <a:gd name="T18" fmla="*/ 0 w 1439"/>
                <a:gd name="T19" fmla="*/ 0 h 615"/>
                <a:gd name="T20" fmla="*/ 0 w 1439"/>
                <a:gd name="T21" fmla="*/ 0 h 615"/>
                <a:gd name="T22" fmla="*/ 0 w 1439"/>
                <a:gd name="T23" fmla="*/ 0 h 615"/>
                <a:gd name="T24" fmla="*/ 0 w 1439"/>
                <a:gd name="T25" fmla="*/ 0 h 615"/>
                <a:gd name="T26" fmla="*/ 0 w 1439"/>
                <a:gd name="T27" fmla="*/ 0 h 615"/>
                <a:gd name="T28" fmla="*/ 0 w 1439"/>
                <a:gd name="T29" fmla="*/ 0 h 615"/>
                <a:gd name="T30" fmla="*/ 0 w 1439"/>
                <a:gd name="T31" fmla="*/ 0 h 615"/>
                <a:gd name="T32" fmla="*/ 0 w 1439"/>
                <a:gd name="T33" fmla="*/ 0 h 615"/>
                <a:gd name="T34" fmla="*/ 0 w 1439"/>
                <a:gd name="T35" fmla="*/ 0 h 615"/>
                <a:gd name="T36" fmla="*/ 0 w 1439"/>
                <a:gd name="T37" fmla="*/ 0 h 615"/>
                <a:gd name="T38" fmla="*/ 0 w 1439"/>
                <a:gd name="T39" fmla="*/ 0 h 615"/>
                <a:gd name="T40" fmla="*/ 0 w 1439"/>
                <a:gd name="T41" fmla="*/ 0 h 615"/>
                <a:gd name="T42" fmla="*/ 0 w 1439"/>
                <a:gd name="T43" fmla="*/ 0 h 61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439" h="615">
                  <a:moveTo>
                    <a:pt x="1238" y="584"/>
                  </a:moveTo>
                  <a:lnTo>
                    <a:pt x="912" y="506"/>
                  </a:lnTo>
                  <a:lnTo>
                    <a:pt x="692" y="511"/>
                  </a:lnTo>
                  <a:lnTo>
                    <a:pt x="455" y="509"/>
                  </a:lnTo>
                  <a:lnTo>
                    <a:pt x="374" y="557"/>
                  </a:lnTo>
                  <a:lnTo>
                    <a:pt x="42" y="521"/>
                  </a:lnTo>
                  <a:lnTo>
                    <a:pt x="0" y="435"/>
                  </a:lnTo>
                  <a:lnTo>
                    <a:pt x="131" y="330"/>
                  </a:lnTo>
                  <a:lnTo>
                    <a:pt x="86" y="236"/>
                  </a:lnTo>
                  <a:lnTo>
                    <a:pt x="237" y="105"/>
                  </a:lnTo>
                  <a:lnTo>
                    <a:pt x="467" y="147"/>
                  </a:lnTo>
                  <a:lnTo>
                    <a:pt x="833" y="177"/>
                  </a:lnTo>
                  <a:lnTo>
                    <a:pt x="867" y="84"/>
                  </a:lnTo>
                  <a:lnTo>
                    <a:pt x="1007" y="0"/>
                  </a:lnTo>
                  <a:lnTo>
                    <a:pt x="1122" y="11"/>
                  </a:lnTo>
                  <a:lnTo>
                    <a:pt x="1152" y="176"/>
                  </a:lnTo>
                  <a:lnTo>
                    <a:pt x="1289" y="177"/>
                  </a:lnTo>
                  <a:lnTo>
                    <a:pt x="1391" y="236"/>
                  </a:lnTo>
                  <a:lnTo>
                    <a:pt x="1439" y="417"/>
                  </a:lnTo>
                  <a:lnTo>
                    <a:pt x="1349" y="504"/>
                  </a:lnTo>
                  <a:lnTo>
                    <a:pt x="1332" y="615"/>
                  </a:lnTo>
                  <a:lnTo>
                    <a:pt x="1238" y="584"/>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nvGrpSpPr>
            <p:cNvPr id="109" name="组合 102">
              <a:extLst>
                <a:ext uri="{FF2B5EF4-FFF2-40B4-BE49-F238E27FC236}">
                  <a16:creationId xmlns:a16="http://schemas.microsoft.com/office/drawing/2014/main" id="{91DF77F0-1DA4-41B4-A412-C42145BEEBB8}"/>
                </a:ext>
              </a:extLst>
            </p:cNvPr>
            <p:cNvGrpSpPr/>
            <p:nvPr/>
          </p:nvGrpSpPr>
          <p:grpSpPr>
            <a:xfrm>
              <a:off x="6162863" y="5354263"/>
              <a:ext cx="333375" cy="1187450"/>
              <a:chOff x="6162863" y="5354263"/>
              <a:chExt cx="333375" cy="1187450"/>
            </a:xfrm>
            <a:grpFill/>
          </p:grpSpPr>
          <p:sp>
            <p:nvSpPr>
              <p:cNvPr id="149" name="Freeform 32">
                <a:extLst>
                  <a:ext uri="{FF2B5EF4-FFF2-40B4-BE49-F238E27FC236}">
                    <a16:creationId xmlns:a16="http://schemas.microsoft.com/office/drawing/2014/main" id="{9CBE03DB-EC71-4269-93CB-5B6EB952B615}"/>
                  </a:ext>
                </a:extLst>
              </p:cNvPr>
              <p:cNvSpPr>
                <a:spLocks/>
              </p:cNvSpPr>
              <p:nvPr/>
            </p:nvSpPr>
            <p:spPr bwMode="auto">
              <a:xfrm>
                <a:off x="6180325" y="5354263"/>
                <a:ext cx="71438" cy="403225"/>
              </a:xfrm>
              <a:custGeom>
                <a:avLst/>
                <a:gdLst>
                  <a:gd name="T0" fmla="*/ 9 w 224"/>
                  <a:gd name="T1" fmla="*/ 0 h 1271"/>
                  <a:gd name="T2" fmla="*/ 6 w 224"/>
                  <a:gd name="T3" fmla="*/ 0 h 1271"/>
                  <a:gd name="T4" fmla="*/ 4 w 224"/>
                  <a:gd name="T5" fmla="*/ 9 h 1271"/>
                  <a:gd name="T6" fmla="*/ 7 w 224"/>
                  <a:gd name="T7" fmla="*/ 13 h 1271"/>
                  <a:gd name="T8" fmla="*/ 3 w 224"/>
                  <a:gd name="T9" fmla="*/ 16 h 1271"/>
                  <a:gd name="T10" fmla="*/ 4 w 224"/>
                  <a:gd name="T11" fmla="*/ 19 h 1271"/>
                  <a:gd name="T12" fmla="*/ 2 w 224"/>
                  <a:gd name="T13" fmla="*/ 24 h 1271"/>
                  <a:gd name="T14" fmla="*/ 4 w 224"/>
                  <a:gd name="T15" fmla="*/ 29 h 1271"/>
                  <a:gd name="T16" fmla="*/ 1 w 224"/>
                  <a:gd name="T17" fmla="*/ 37 h 1271"/>
                  <a:gd name="T18" fmla="*/ 0 w 224"/>
                  <a:gd name="T19" fmla="*/ 40 h 1271"/>
                  <a:gd name="T20" fmla="*/ 3 w 224"/>
                  <a:gd name="T21" fmla="*/ 44 h 1271"/>
                  <a:gd name="T22" fmla="*/ 1 w 224"/>
                  <a:gd name="T23" fmla="*/ 49 h 1271"/>
                  <a:gd name="T24" fmla="*/ 4 w 224"/>
                  <a:gd name="T25" fmla="*/ 51 h 1271"/>
                  <a:gd name="T26" fmla="*/ 4 w 224"/>
                  <a:gd name="T27" fmla="*/ 47 h 1271"/>
                  <a:gd name="T28" fmla="*/ 6 w 224"/>
                  <a:gd name="T29" fmla="*/ 44 h 1271"/>
                  <a:gd name="T30" fmla="*/ 10 w 224"/>
                  <a:gd name="T31" fmla="*/ 40 h 1271"/>
                  <a:gd name="T32" fmla="*/ 6 w 224"/>
                  <a:gd name="T33" fmla="*/ 37 h 1271"/>
                  <a:gd name="T34" fmla="*/ 6 w 224"/>
                  <a:gd name="T35" fmla="*/ 30 h 1271"/>
                  <a:gd name="T36" fmla="*/ 9 w 224"/>
                  <a:gd name="T37" fmla="*/ 26 h 1271"/>
                  <a:gd name="T38" fmla="*/ 9 w 224"/>
                  <a:gd name="T39" fmla="*/ 15 h 1271"/>
                  <a:gd name="T40" fmla="*/ 10 w 224"/>
                  <a:gd name="T41" fmla="*/ 9 h 1271"/>
                  <a:gd name="T42" fmla="*/ 9 w 224"/>
                  <a:gd name="T43" fmla="*/ 0 h 127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4" h="1271">
                    <a:moveTo>
                      <a:pt x="215" y="0"/>
                    </a:moveTo>
                    <a:lnTo>
                      <a:pt x="140" y="0"/>
                    </a:lnTo>
                    <a:lnTo>
                      <a:pt x="110" y="235"/>
                    </a:lnTo>
                    <a:lnTo>
                      <a:pt x="104" y="338"/>
                    </a:lnTo>
                    <a:lnTo>
                      <a:pt x="80" y="400"/>
                    </a:lnTo>
                    <a:lnTo>
                      <a:pt x="90" y="475"/>
                    </a:lnTo>
                    <a:lnTo>
                      <a:pt x="60" y="600"/>
                    </a:lnTo>
                    <a:lnTo>
                      <a:pt x="95" y="721"/>
                    </a:lnTo>
                    <a:lnTo>
                      <a:pt x="35" y="916"/>
                    </a:lnTo>
                    <a:lnTo>
                      <a:pt x="0" y="1001"/>
                    </a:lnTo>
                    <a:lnTo>
                      <a:pt x="75" y="1106"/>
                    </a:lnTo>
                    <a:lnTo>
                      <a:pt x="35" y="1231"/>
                    </a:lnTo>
                    <a:lnTo>
                      <a:pt x="105" y="1271"/>
                    </a:lnTo>
                    <a:lnTo>
                      <a:pt x="105" y="1166"/>
                    </a:lnTo>
                    <a:lnTo>
                      <a:pt x="155" y="1096"/>
                    </a:lnTo>
                    <a:lnTo>
                      <a:pt x="164" y="1022"/>
                    </a:lnTo>
                    <a:lnTo>
                      <a:pt x="140" y="926"/>
                    </a:lnTo>
                    <a:lnTo>
                      <a:pt x="155" y="761"/>
                    </a:lnTo>
                    <a:lnTo>
                      <a:pt x="158" y="632"/>
                    </a:lnTo>
                    <a:lnTo>
                      <a:pt x="200" y="560"/>
                    </a:lnTo>
                    <a:lnTo>
                      <a:pt x="182" y="446"/>
                    </a:lnTo>
                    <a:lnTo>
                      <a:pt x="176" y="356"/>
                    </a:lnTo>
                    <a:lnTo>
                      <a:pt x="224" y="266"/>
                    </a:lnTo>
                    <a:lnTo>
                      <a:pt x="206" y="158"/>
                    </a:lnTo>
                    <a:lnTo>
                      <a:pt x="215" y="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50" name="Freeform 33">
                <a:extLst>
                  <a:ext uri="{FF2B5EF4-FFF2-40B4-BE49-F238E27FC236}">
                    <a16:creationId xmlns:a16="http://schemas.microsoft.com/office/drawing/2014/main" id="{614D2F5C-3142-449D-ADBD-07EECF924C1D}"/>
                  </a:ext>
                </a:extLst>
              </p:cNvPr>
              <p:cNvSpPr>
                <a:spLocks/>
              </p:cNvSpPr>
              <p:nvPr/>
            </p:nvSpPr>
            <p:spPr bwMode="auto">
              <a:xfrm>
                <a:off x="6162863" y="5836863"/>
                <a:ext cx="44450" cy="60325"/>
              </a:xfrm>
              <a:custGeom>
                <a:avLst/>
                <a:gdLst>
                  <a:gd name="T0" fmla="*/ 1 w 138"/>
                  <a:gd name="T1" fmla="*/ 9 h 192"/>
                  <a:gd name="T2" fmla="*/ 2 w 138"/>
                  <a:gd name="T3" fmla="*/ 7 h 192"/>
                  <a:gd name="T4" fmla="*/ 0 w 138"/>
                  <a:gd name="T5" fmla="*/ 3 h 192"/>
                  <a:gd name="T6" fmla="*/ 3 w 138"/>
                  <a:gd name="T7" fmla="*/ 0 h 192"/>
                  <a:gd name="T8" fmla="*/ 6 w 138"/>
                  <a:gd name="T9" fmla="*/ 3 h 192"/>
                  <a:gd name="T10" fmla="*/ 5 w 138"/>
                  <a:gd name="T11" fmla="*/ 8 h 192"/>
                  <a:gd name="T12" fmla="*/ 1 w 138"/>
                  <a:gd name="T13" fmla="*/ 9 h 19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192">
                    <a:moveTo>
                      <a:pt x="49" y="192"/>
                    </a:moveTo>
                    <a:lnTo>
                      <a:pt x="0" y="132"/>
                    </a:lnTo>
                    <a:lnTo>
                      <a:pt x="19" y="42"/>
                    </a:lnTo>
                    <a:lnTo>
                      <a:pt x="78" y="0"/>
                    </a:lnTo>
                    <a:lnTo>
                      <a:pt x="138" y="54"/>
                    </a:lnTo>
                    <a:lnTo>
                      <a:pt x="114" y="156"/>
                    </a:lnTo>
                    <a:lnTo>
                      <a:pt x="49" y="19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51" name="Freeform 33">
                <a:extLst>
                  <a:ext uri="{FF2B5EF4-FFF2-40B4-BE49-F238E27FC236}">
                    <a16:creationId xmlns:a16="http://schemas.microsoft.com/office/drawing/2014/main" id="{DDC8338F-A73F-475E-A286-73FF618ED8FA}"/>
                  </a:ext>
                </a:extLst>
              </p:cNvPr>
              <p:cNvSpPr>
                <a:spLocks/>
              </p:cNvSpPr>
              <p:nvPr/>
            </p:nvSpPr>
            <p:spPr bwMode="auto">
              <a:xfrm>
                <a:off x="6445438" y="6462338"/>
                <a:ext cx="50800" cy="79375"/>
              </a:xfrm>
              <a:custGeom>
                <a:avLst/>
                <a:gdLst>
                  <a:gd name="T0" fmla="*/ 1 w 162"/>
                  <a:gd name="T1" fmla="*/ 9 h 252"/>
                  <a:gd name="T2" fmla="*/ 2 w 162"/>
                  <a:gd name="T3" fmla="*/ 7 h 252"/>
                  <a:gd name="T4" fmla="*/ 0 w 162"/>
                  <a:gd name="T5" fmla="*/ 3 h 252"/>
                  <a:gd name="T6" fmla="*/ 3 w 162"/>
                  <a:gd name="T7" fmla="*/ 0 h 252"/>
                  <a:gd name="T8" fmla="*/ 6 w 162"/>
                  <a:gd name="T9" fmla="*/ 3 h 252"/>
                  <a:gd name="T10" fmla="*/ 5 w 162"/>
                  <a:gd name="T11" fmla="*/ 8 h 252"/>
                  <a:gd name="T12" fmla="*/ 1 w 162"/>
                  <a:gd name="T13" fmla="*/ 9 h 2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2" h="252">
                    <a:moveTo>
                      <a:pt x="49" y="192"/>
                    </a:moveTo>
                    <a:lnTo>
                      <a:pt x="0" y="132"/>
                    </a:lnTo>
                    <a:lnTo>
                      <a:pt x="19" y="42"/>
                    </a:lnTo>
                    <a:lnTo>
                      <a:pt x="78" y="0"/>
                    </a:lnTo>
                    <a:lnTo>
                      <a:pt x="138" y="54"/>
                    </a:lnTo>
                    <a:lnTo>
                      <a:pt x="162" y="120"/>
                    </a:lnTo>
                    <a:lnTo>
                      <a:pt x="150" y="198"/>
                    </a:lnTo>
                    <a:lnTo>
                      <a:pt x="126" y="252"/>
                    </a:lnTo>
                    <a:lnTo>
                      <a:pt x="72" y="252"/>
                    </a:lnTo>
                    <a:lnTo>
                      <a:pt x="49" y="19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52" name="Freeform 33">
                <a:extLst>
                  <a:ext uri="{FF2B5EF4-FFF2-40B4-BE49-F238E27FC236}">
                    <a16:creationId xmlns:a16="http://schemas.microsoft.com/office/drawing/2014/main" id="{343A04DD-EED1-49E2-854E-4CAE77326F6E}"/>
                  </a:ext>
                </a:extLst>
              </p:cNvPr>
              <p:cNvSpPr>
                <a:spLocks/>
              </p:cNvSpPr>
              <p:nvPr/>
            </p:nvSpPr>
            <p:spPr bwMode="auto">
              <a:xfrm>
                <a:off x="6286688" y="6278188"/>
                <a:ext cx="34925" cy="46038"/>
              </a:xfrm>
              <a:custGeom>
                <a:avLst/>
                <a:gdLst>
                  <a:gd name="T0" fmla="*/ 1 w 108"/>
                  <a:gd name="T1" fmla="*/ 9 h 144"/>
                  <a:gd name="T2" fmla="*/ 2 w 108"/>
                  <a:gd name="T3" fmla="*/ 7 h 144"/>
                  <a:gd name="T4" fmla="*/ 0 w 108"/>
                  <a:gd name="T5" fmla="*/ 3 h 144"/>
                  <a:gd name="T6" fmla="*/ 3 w 108"/>
                  <a:gd name="T7" fmla="*/ 0 h 144"/>
                  <a:gd name="T8" fmla="*/ 6 w 108"/>
                  <a:gd name="T9" fmla="*/ 3 h 144"/>
                  <a:gd name="T10" fmla="*/ 5 w 108"/>
                  <a:gd name="T11" fmla="*/ 8 h 144"/>
                  <a:gd name="T12" fmla="*/ 1 w 108"/>
                  <a:gd name="T13" fmla="*/ 9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8" h="144">
                    <a:moveTo>
                      <a:pt x="67" y="144"/>
                    </a:moveTo>
                    <a:lnTo>
                      <a:pt x="18" y="84"/>
                    </a:lnTo>
                    <a:lnTo>
                      <a:pt x="0" y="0"/>
                    </a:lnTo>
                    <a:lnTo>
                      <a:pt x="48" y="6"/>
                    </a:lnTo>
                    <a:lnTo>
                      <a:pt x="84" y="54"/>
                    </a:lnTo>
                    <a:lnTo>
                      <a:pt x="108" y="108"/>
                    </a:lnTo>
                    <a:lnTo>
                      <a:pt x="67" y="144"/>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53" name="Freeform 33">
                <a:extLst>
                  <a:ext uri="{FF2B5EF4-FFF2-40B4-BE49-F238E27FC236}">
                    <a16:creationId xmlns:a16="http://schemas.microsoft.com/office/drawing/2014/main" id="{6E83DEE5-B492-4DE0-BE55-30DD7D55073E}"/>
                  </a:ext>
                </a:extLst>
              </p:cNvPr>
              <p:cNvSpPr>
                <a:spLocks/>
              </p:cNvSpPr>
              <p:nvPr/>
            </p:nvSpPr>
            <p:spPr bwMode="auto">
              <a:xfrm>
                <a:off x="6345425" y="6322638"/>
                <a:ext cx="53975" cy="52388"/>
              </a:xfrm>
              <a:custGeom>
                <a:avLst/>
                <a:gdLst>
                  <a:gd name="T0" fmla="*/ 1 w 170"/>
                  <a:gd name="T1" fmla="*/ 9 h 166"/>
                  <a:gd name="T2" fmla="*/ 2 w 170"/>
                  <a:gd name="T3" fmla="*/ 7 h 166"/>
                  <a:gd name="T4" fmla="*/ 0 w 170"/>
                  <a:gd name="T5" fmla="*/ 3 h 166"/>
                  <a:gd name="T6" fmla="*/ 3 w 170"/>
                  <a:gd name="T7" fmla="*/ 0 h 166"/>
                  <a:gd name="T8" fmla="*/ 6 w 170"/>
                  <a:gd name="T9" fmla="*/ 3 h 166"/>
                  <a:gd name="T10" fmla="*/ 5 w 170"/>
                  <a:gd name="T11" fmla="*/ 8 h 166"/>
                  <a:gd name="T12" fmla="*/ 1 w 170"/>
                  <a:gd name="T13" fmla="*/ 9 h 1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0" h="166">
                    <a:moveTo>
                      <a:pt x="124" y="166"/>
                    </a:moveTo>
                    <a:lnTo>
                      <a:pt x="62" y="161"/>
                    </a:lnTo>
                    <a:lnTo>
                      <a:pt x="0" y="151"/>
                    </a:lnTo>
                    <a:lnTo>
                      <a:pt x="4" y="108"/>
                    </a:lnTo>
                    <a:lnTo>
                      <a:pt x="67" y="118"/>
                    </a:lnTo>
                    <a:lnTo>
                      <a:pt x="104" y="84"/>
                    </a:lnTo>
                    <a:lnTo>
                      <a:pt x="86" y="0"/>
                    </a:lnTo>
                    <a:lnTo>
                      <a:pt x="134" y="6"/>
                    </a:lnTo>
                    <a:lnTo>
                      <a:pt x="170" y="54"/>
                    </a:lnTo>
                    <a:lnTo>
                      <a:pt x="168" y="118"/>
                    </a:lnTo>
                    <a:lnTo>
                      <a:pt x="124" y="166"/>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54" name="Freeform 33">
                <a:extLst>
                  <a:ext uri="{FF2B5EF4-FFF2-40B4-BE49-F238E27FC236}">
                    <a16:creationId xmlns:a16="http://schemas.microsoft.com/office/drawing/2014/main" id="{505400F3-32D5-4074-87EE-6A9A39DD0A17}"/>
                  </a:ext>
                </a:extLst>
              </p:cNvPr>
              <p:cNvSpPr>
                <a:spLocks/>
              </p:cNvSpPr>
              <p:nvPr/>
            </p:nvSpPr>
            <p:spPr bwMode="auto">
              <a:xfrm>
                <a:off x="6220013" y="6138488"/>
                <a:ext cx="31750" cy="36513"/>
              </a:xfrm>
              <a:custGeom>
                <a:avLst/>
                <a:gdLst>
                  <a:gd name="T0" fmla="*/ 1 w 97"/>
                  <a:gd name="T1" fmla="*/ 9 h 116"/>
                  <a:gd name="T2" fmla="*/ 2 w 97"/>
                  <a:gd name="T3" fmla="*/ 7 h 116"/>
                  <a:gd name="T4" fmla="*/ 0 w 97"/>
                  <a:gd name="T5" fmla="*/ 3 h 116"/>
                  <a:gd name="T6" fmla="*/ 3 w 97"/>
                  <a:gd name="T7" fmla="*/ 0 h 116"/>
                  <a:gd name="T8" fmla="*/ 6 w 97"/>
                  <a:gd name="T9" fmla="*/ 3 h 116"/>
                  <a:gd name="T10" fmla="*/ 5 w 97"/>
                  <a:gd name="T11" fmla="*/ 8 h 116"/>
                  <a:gd name="T12" fmla="*/ 1 w 97"/>
                  <a:gd name="T13" fmla="*/ 9 h 1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116">
                    <a:moveTo>
                      <a:pt x="19" y="116"/>
                    </a:moveTo>
                    <a:lnTo>
                      <a:pt x="0" y="68"/>
                    </a:lnTo>
                    <a:lnTo>
                      <a:pt x="13" y="0"/>
                    </a:lnTo>
                    <a:lnTo>
                      <a:pt x="61" y="6"/>
                    </a:lnTo>
                    <a:lnTo>
                      <a:pt x="97" y="54"/>
                    </a:lnTo>
                    <a:lnTo>
                      <a:pt x="77" y="101"/>
                    </a:lnTo>
                    <a:lnTo>
                      <a:pt x="19" y="116"/>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55" name="Freeform 33">
                <a:extLst>
                  <a:ext uri="{FF2B5EF4-FFF2-40B4-BE49-F238E27FC236}">
                    <a16:creationId xmlns:a16="http://schemas.microsoft.com/office/drawing/2014/main" id="{E5850F1A-AB33-4E8D-9E22-1364FDAF4F5C}"/>
                  </a:ext>
                </a:extLst>
              </p:cNvPr>
              <p:cNvSpPr>
                <a:spLocks/>
              </p:cNvSpPr>
              <p:nvPr/>
            </p:nvSpPr>
            <p:spPr bwMode="auto">
              <a:xfrm>
                <a:off x="6426388" y="6425825"/>
                <a:ext cx="31750" cy="22225"/>
              </a:xfrm>
              <a:custGeom>
                <a:avLst/>
                <a:gdLst>
                  <a:gd name="T0" fmla="*/ 1 w 101"/>
                  <a:gd name="T1" fmla="*/ 8 h 71"/>
                  <a:gd name="T2" fmla="*/ 2 w 101"/>
                  <a:gd name="T3" fmla="*/ 7 h 71"/>
                  <a:gd name="T4" fmla="*/ 0 w 101"/>
                  <a:gd name="T5" fmla="*/ 3 h 71"/>
                  <a:gd name="T6" fmla="*/ 3 w 101"/>
                  <a:gd name="T7" fmla="*/ 0 h 71"/>
                  <a:gd name="T8" fmla="*/ 6 w 101"/>
                  <a:gd name="T9" fmla="*/ 3 h 71"/>
                  <a:gd name="T10" fmla="*/ 5 w 101"/>
                  <a:gd name="T11" fmla="*/ 8 h 71"/>
                  <a:gd name="T12" fmla="*/ 1 w 101"/>
                  <a:gd name="T13" fmla="*/ 8 h 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 h="71">
                    <a:moveTo>
                      <a:pt x="61" y="71"/>
                    </a:moveTo>
                    <a:lnTo>
                      <a:pt x="0" y="62"/>
                    </a:lnTo>
                    <a:lnTo>
                      <a:pt x="12" y="11"/>
                    </a:lnTo>
                    <a:lnTo>
                      <a:pt x="48" y="0"/>
                    </a:lnTo>
                    <a:lnTo>
                      <a:pt x="101" y="0"/>
                    </a:lnTo>
                    <a:lnTo>
                      <a:pt x="101" y="58"/>
                    </a:lnTo>
                    <a:lnTo>
                      <a:pt x="61" y="71"/>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sp>
          <p:nvSpPr>
            <p:cNvPr id="110" name="Freeform 41">
              <a:extLst>
                <a:ext uri="{FF2B5EF4-FFF2-40B4-BE49-F238E27FC236}">
                  <a16:creationId xmlns:a16="http://schemas.microsoft.com/office/drawing/2014/main" id="{89DB701C-1C3B-474D-B23C-97203FF0D448}"/>
                </a:ext>
              </a:extLst>
            </p:cNvPr>
            <p:cNvSpPr>
              <a:spLocks/>
            </p:cNvSpPr>
            <p:nvPr/>
          </p:nvSpPr>
          <p:spPr bwMode="auto">
            <a:xfrm>
              <a:off x="3562538" y="2803150"/>
              <a:ext cx="61913" cy="71438"/>
            </a:xfrm>
            <a:custGeom>
              <a:avLst/>
              <a:gdLst>
                <a:gd name="T0" fmla="*/ 23 w 192"/>
                <a:gd name="T1" fmla="*/ 0 h 225"/>
                <a:gd name="T2" fmla="*/ 8 w 192"/>
                <a:gd name="T3" fmla="*/ 6 h 225"/>
                <a:gd name="T4" fmla="*/ 10 w 192"/>
                <a:gd name="T5" fmla="*/ 22 h 225"/>
                <a:gd name="T6" fmla="*/ 0 w 192"/>
                <a:gd name="T7" fmla="*/ 29 h 225"/>
                <a:gd name="T8" fmla="*/ 7 w 192"/>
                <a:gd name="T9" fmla="*/ 35 h 225"/>
                <a:gd name="T10" fmla="*/ 19 w 192"/>
                <a:gd name="T11" fmla="*/ 31 h 225"/>
                <a:gd name="T12" fmla="*/ 28 w 192"/>
                <a:gd name="T13" fmla="*/ 45 h 225"/>
                <a:gd name="T14" fmla="*/ 33 w 192"/>
                <a:gd name="T15" fmla="*/ 40 h 225"/>
                <a:gd name="T16" fmla="*/ 39 w 192"/>
                <a:gd name="T17" fmla="*/ 36 h 225"/>
                <a:gd name="T18" fmla="*/ 37 w 192"/>
                <a:gd name="T19" fmla="*/ 20 h 225"/>
                <a:gd name="T20" fmla="*/ 32 w 192"/>
                <a:gd name="T21" fmla="*/ 9 h 225"/>
                <a:gd name="T22" fmla="*/ 23 w 192"/>
                <a:gd name="T23" fmla="*/ 0 h 2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2" h="225">
                  <a:moveTo>
                    <a:pt x="111" y="0"/>
                  </a:moveTo>
                  <a:lnTo>
                    <a:pt x="40" y="31"/>
                  </a:lnTo>
                  <a:lnTo>
                    <a:pt x="49" y="111"/>
                  </a:lnTo>
                  <a:lnTo>
                    <a:pt x="0" y="146"/>
                  </a:lnTo>
                  <a:lnTo>
                    <a:pt x="36" y="175"/>
                  </a:lnTo>
                  <a:lnTo>
                    <a:pt x="93" y="153"/>
                  </a:lnTo>
                  <a:lnTo>
                    <a:pt x="136" y="225"/>
                  </a:lnTo>
                  <a:lnTo>
                    <a:pt x="162" y="201"/>
                  </a:lnTo>
                  <a:lnTo>
                    <a:pt x="192" y="180"/>
                  </a:lnTo>
                  <a:lnTo>
                    <a:pt x="180" y="99"/>
                  </a:lnTo>
                  <a:lnTo>
                    <a:pt x="156" y="45"/>
                  </a:lnTo>
                  <a:lnTo>
                    <a:pt x="111" y="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11" name="Freeform 42">
              <a:extLst>
                <a:ext uri="{FF2B5EF4-FFF2-40B4-BE49-F238E27FC236}">
                  <a16:creationId xmlns:a16="http://schemas.microsoft.com/office/drawing/2014/main" id="{D5F10C72-BD4A-4110-B00A-C4EDCBADDB5D}"/>
                </a:ext>
              </a:extLst>
            </p:cNvPr>
            <p:cNvSpPr>
              <a:spLocks/>
            </p:cNvSpPr>
            <p:nvPr/>
          </p:nvSpPr>
          <p:spPr bwMode="auto">
            <a:xfrm>
              <a:off x="3962588" y="5887663"/>
              <a:ext cx="39688" cy="38100"/>
            </a:xfrm>
            <a:custGeom>
              <a:avLst/>
              <a:gdLst>
                <a:gd name="T0" fmla="*/ 22 w 125"/>
                <a:gd name="T1" fmla="*/ 0 h 120"/>
                <a:gd name="T2" fmla="*/ 5 w 125"/>
                <a:gd name="T3" fmla="*/ 1 h 120"/>
                <a:gd name="T4" fmla="*/ 0 w 125"/>
                <a:gd name="T5" fmla="*/ 10 h 120"/>
                <a:gd name="T6" fmla="*/ 6 w 125"/>
                <a:gd name="T7" fmla="*/ 15 h 120"/>
                <a:gd name="T8" fmla="*/ 12 w 125"/>
                <a:gd name="T9" fmla="*/ 18 h 120"/>
                <a:gd name="T10" fmla="*/ 25 w 125"/>
                <a:gd name="T11" fmla="*/ 24 h 120"/>
                <a:gd name="T12" fmla="*/ 23 w 125"/>
                <a:gd name="T13" fmla="*/ 11 h 120"/>
                <a:gd name="T14" fmla="*/ 22 w 125"/>
                <a:gd name="T15" fmla="*/ 0 h 1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5" h="120">
                  <a:moveTo>
                    <a:pt x="111" y="0"/>
                  </a:moveTo>
                  <a:lnTo>
                    <a:pt x="27" y="3"/>
                  </a:lnTo>
                  <a:lnTo>
                    <a:pt x="0" y="48"/>
                  </a:lnTo>
                  <a:lnTo>
                    <a:pt x="32" y="76"/>
                  </a:lnTo>
                  <a:lnTo>
                    <a:pt x="59" y="91"/>
                  </a:lnTo>
                  <a:lnTo>
                    <a:pt x="125" y="120"/>
                  </a:lnTo>
                  <a:lnTo>
                    <a:pt x="116" y="57"/>
                  </a:lnTo>
                  <a:lnTo>
                    <a:pt x="111" y="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12" name="Freeform 43">
              <a:extLst>
                <a:ext uri="{FF2B5EF4-FFF2-40B4-BE49-F238E27FC236}">
                  <a16:creationId xmlns:a16="http://schemas.microsoft.com/office/drawing/2014/main" id="{07DDF155-6713-408C-B31D-C3E0420BF050}"/>
                </a:ext>
              </a:extLst>
            </p:cNvPr>
            <p:cNvSpPr>
              <a:spLocks/>
            </p:cNvSpPr>
            <p:nvPr/>
          </p:nvSpPr>
          <p:spPr bwMode="auto">
            <a:xfrm>
              <a:off x="3949888" y="5709863"/>
              <a:ext cx="39688" cy="49213"/>
            </a:xfrm>
            <a:custGeom>
              <a:avLst/>
              <a:gdLst>
                <a:gd name="T0" fmla="*/ 25 w 126"/>
                <a:gd name="T1" fmla="*/ 10 h 152"/>
                <a:gd name="T2" fmla="*/ 16 w 126"/>
                <a:gd name="T3" fmla="*/ 3 h 152"/>
                <a:gd name="T4" fmla="*/ 7 w 126"/>
                <a:gd name="T5" fmla="*/ 0 h 152"/>
                <a:gd name="T6" fmla="*/ 4 w 126"/>
                <a:gd name="T7" fmla="*/ 9 h 152"/>
                <a:gd name="T8" fmla="*/ 0 w 126"/>
                <a:gd name="T9" fmla="*/ 16 h 152"/>
                <a:gd name="T10" fmla="*/ 2 w 126"/>
                <a:gd name="T11" fmla="*/ 25 h 152"/>
                <a:gd name="T12" fmla="*/ 10 w 126"/>
                <a:gd name="T13" fmla="*/ 31 h 152"/>
                <a:gd name="T14" fmla="*/ 17 w 126"/>
                <a:gd name="T15" fmla="*/ 31 h 152"/>
                <a:gd name="T16" fmla="*/ 23 w 126"/>
                <a:gd name="T17" fmla="*/ 26 h 152"/>
                <a:gd name="T18" fmla="*/ 24 w 126"/>
                <a:gd name="T19" fmla="*/ 18 h 152"/>
                <a:gd name="T20" fmla="*/ 25 w 126"/>
                <a:gd name="T21" fmla="*/ 10 h 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6" h="152">
                  <a:moveTo>
                    <a:pt x="126" y="50"/>
                  </a:moveTo>
                  <a:lnTo>
                    <a:pt x="80" y="15"/>
                  </a:lnTo>
                  <a:lnTo>
                    <a:pt x="33" y="0"/>
                  </a:lnTo>
                  <a:lnTo>
                    <a:pt x="21" y="42"/>
                  </a:lnTo>
                  <a:lnTo>
                    <a:pt x="0" y="80"/>
                  </a:lnTo>
                  <a:lnTo>
                    <a:pt x="12" y="125"/>
                  </a:lnTo>
                  <a:lnTo>
                    <a:pt x="48" y="152"/>
                  </a:lnTo>
                  <a:lnTo>
                    <a:pt x="86" y="152"/>
                  </a:lnTo>
                  <a:lnTo>
                    <a:pt x="114" y="126"/>
                  </a:lnTo>
                  <a:lnTo>
                    <a:pt x="122" y="87"/>
                  </a:lnTo>
                  <a:lnTo>
                    <a:pt x="126" y="5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13" name="Freeform 44">
              <a:extLst>
                <a:ext uri="{FF2B5EF4-FFF2-40B4-BE49-F238E27FC236}">
                  <a16:creationId xmlns:a16="http://schemas.microsoft.com/office/drawing/2014/main" id="{22E25C71-8B38-4652-BE59-344B816CFC42}"/>
                </a:ext>
              </a:extLst>
            </p:cNvPr>
            <p:cNvSpPr>
              <a:spLocks/>
            </p:cNvSpPr>
            <p:nvPr/>
          </p:nvSpPr>
          <p:spPr bwMode="auto">
            <a:xfrm>
              <a:off x="4388038" y="4887538"/>
              <a:ext cx="28575" cy="25400"/>
            </a:xfrm>
            <a:custGeom>
              <a:avLst/>
              <a:gdLst>
                <a:gd name="T0" fmla="*/ 0 w 92"/>
                <a:gd name="T1" fmla="*/ 6 h 80"/>
                <a:gd name="T2" fmla="*/ 9 w 92"/>
                <a:gd name="T3" fmla="*/ 16 h 80"/>
                <a:gd name="T4" fmla="*/ 18 w 92"/>
                <a:gd name="T5" fmla="*/ 7 h 80"/>
                <a:gd name="T6" fmla="*/ 7 w 92"/>
                <a:gd name="T7" fmla="*/ 0 h 80"/>
                <a:gd name="T8" fmla="*/ 0 w 92"/>
                <a:gd name="T9" fmla="*/ 6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 h="80">
                  <a:moveTo>
                    <a:pt x="0" y="29"/>
                  </a:moveTo>
                  <a:lnTo>
                    <a:pt x="45" y="80"/>
                  </a:lnTo>
                  <a:lnTo>
                    <a:pt x="92" y="35"/>
                  </a:lnTo>
                  <a:lnTo>
                    <a:pt x="35" y="0"/>
                  </a:lnTo>
                  <a:lnTo>
                    <a:pt x="0" y="29"/>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14" name="Freeform 45">
              <a:extLst>
                <a:ext uri="{FF2B5EF4-FFF2-40B4-BE49-F238E27FC236}">
                  <a16:creationId xmlns:a16="http://schemas.microsoft.com/office/drawing/2014/main" id="{17CF99B8-6C73-4D45-89A7-A467CD6F555B}"/>
                </a:ext>
              </a:extLst>
            </p:cNvPr>
            <p:cNvSpPr>
              <a:spLocks/>
            </p:cNvSpPr>
            <p:nvPr/>
          </p:nvSpPr>
          <p:spPr bwMode="auto">
            <a:xfrm>
              <a:off x="3240275" y="5743200"/>
              <a:ext cx="20638" cy="20638"/>
            </a:xfrm>
            <a:custGeom>
              <a:avLst/>
              <a:gdLst>
                <a:gd name="T0" fmla="*/ 0 w 65"/>
                <a:gd name="T1" fmla="*/ 3 h 66"/>
                <a:gd name="T2" fmla="*/ 6 w 65"/>
                <a:gd name="T3" fmla="*/ 13 h 66"/>
                <a:gd name="T4" fmla="*/ 13 w 65"/>
                <a:gd name="T5" fmla="*/ 11 h 66"/>
                <a:gd name="T6" fmla="*/ 12 w 65"/>
                <a:gd name="T7" fmla="*/ 2 h 66"/>
                <a:gd name="T8" fmla="*/ 5 w 65"/>
                <a:gd name="T9" fmla="*/ 0 h 66"/>
                <a:gd name="T10" fmla="*/ 0 w 65"/>
                <a:gd name="T11" fmla="*/ 3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 h="66">
                  <a:moveTo>
                    <a:pt x="0" y="15"/>
                  </a:moveTo>
                  <a:lnTo>
                    <a:pt x="29" y="66"/>
                  </a:lnTo>
                  <a:lnTo>
                    <a:pt x="65" y="56"/>
                  </a:lnTo>
                  <a:lnTo>
                    <a:pt x="60" y="9"/>
                  </a:lnTo>
                  <a:lnTo>
                    <a:pt x="26" y="0"/>
                  </a:lnTo>
                  <a:lnTo>
                    <a:pt x="0" y="15"/>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nvGrpSpPr>
            <p:cNvPr id="115" name="Group 114">
              <a:extLst>
                <a:ext uri="{FF2B5EF4-FFF2-40B4-BE49-F238E27FC236}">
                  <a16:creationId xmlns:a16="http://schemas.microsoft.com/office/drawing/2014/main" id="{96147BA2-950B-4EBA-8E12-B62AE3611034}"/>
                </a:ext>
              </a:extLst>
            </p:cNvPr>
            <p:cNvGrpSpPr>
              <a:grpSpLocks/>
            </p:cNvGrpSpPr>
            <p:nvPr/>
          </p:nvGrpSpPr>
          <p:grpSpPr bwMode="auto">
            <a:xfrm>
              <a:off x="2560841" y="5597150"/>
              <a:ext cx="354020" cy="744538"/>
              <a:chOff x="507" y="3356"/>
              <a:chExt cx="223" cy="469"/>
            </a:xfrm>
            <a:grpFill/>
          </p:grpSpPr>
          <p:sp>
            <p:nvSpPr>
              <p:cNvPr id="134" name="Freeform 33">
                <a:extLst>
                  <a:ext uri="{FF2B5EF4-FFF2-40B4-BE49-F238E27FC236}">
                    <a16:creationId xmlns:a16="http://schemas.microsoft.com/office/drawing/2014/main" id="{8D775D3B-749A-4DB4-A170-C9C95162C32F}"/>
                  </a:ext>
                </a:extLst>
              </p:cNvPr>
              <p:cNvSpPr>
                <a:spLocks/>
              </p:cNvSpPr>
              <p:nvPr/>
            </p:nvSpPr>
            <p:spPr bwMode="auto">
              <a:xfrm>
                <a:off x="563" y="3436"/>
                <a:ext cx="13" cy="20"/>
              </a:xfrm>
              <a:custGeom>
                <a:avLst/>
                <a:gdLst>
                  <a:gd name="T0" fmla="*/ 1 w 68"/>
                  <a:gd name="T1" fmla="*/ 8 h 102"/>
                  <a:gd name="T2" fmla="*/ 2 w 68"/>
                  <a:gd name="T3" fmla="*/ 6 h 102"/>
                  <a:gd name="T4" fmla="*/ 0 w 68"/>
                  <a:gd name="T5" fmla="*/ 3 h 102"/>
                  <a:gd name="T6" fmla="*/ 3 w 68"/>
                  <a:gd name="T7" fmla="*/ 0 h 102"/>
                  <a:gd name="T8" fmla="*/ 6 w 68"/>
                  <a:gd name="T9" fmla="*/ 3 h 102"/>
                  <a:gd name="T10" fmla="*/ 5 w 68"/>
                  <a:gd name="T11" fmla="*/ 8 h 102"/>
                  <a:gd name="T12" fmla="*/ 1 w 68"/>
                  <a:gd name="T13" fmla="*/ 8 h 10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102">
                    <a:moveTo>
                      <a:pt x="24" y="102"/>
                    </a:moveTo>
                    <a:lnTo>
                      <a:pt x="0" y="73"/>
                    </a:lnTo>
                    <a:lnTo>
                      <a:pt x="9" y="29"/>
                    </a:lnTo>
                    <a:lnTo>
                      <a:pt x="26" y="1"/>
                    </a:lnTo>
                    <a:lnTo>
                      <a:pt x="50" y="0"/>
                    </a:lnTo>
                    <a:lnTo>
                      <a:pt x="68" y="34"/>
                    </a:lnTo>
                    <a:lnTo>
                      <a:pt x="56" y="84"/>
                    </a:lnTo>
                    <a:lnTo>
                      <a:pt x="24" y="10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35" name="Freeform 33">
                <a:extLst>
                  <a:ext uri="{FF2B5EF4-FFF2-40B4-BE49-F238E27FC236}">
                    <a16:creationId xmlns:a16="http://schemas.microsoft.com/office/drawing/2014/main" id="{3ACBA076-CAF4-4015-89E8-394D44F69FB4}"/>
                  </a:ext>
                </a:extLst>
              </p:cNvPr>
              <p:cNvSpPr>
                <a:spLocks/>
              </p:cNvSpPr>
              <p:nvPr/>
            </p:nvSpPr>
            <p:spPr bwMode="auto">
              <a:xfrm>
                <a:off x="625" y="3480"/>
                <a:ext cx="15" cy="16"/>
              </a:xfrm>
              <a:custGeom>
                <a:avLst/>
                <a:gdLst>
                  <a:gd name="T0" fmla="*/ 1 w 74"/>
                  <a:gd name="T1" fmla="*/ 8 h 82"/>
                  <a:gd name="T2" fmla="*/ 2 w 74"/>
                  <a:gd name="T3" fmla="*/ 6 h 82"/>
                  <a:gd name="T4" fmla="*/ 0 w 74"/>
                  <a:gd name="T5" fmla="*/ 3 h 82"/>
                  <a:gd name="T6" fmla="*/ 3 w 74"/>
                  <a:gd name="T7" fmla="*/ 0 h 82"/>
                  <a:gd name="T8" fmla="*/ 6 w 74"/>
                  <a:gd name="T9" fmla="*/ 3 h 82"/>
                  <a:gd name="T10" fmla="*/ 5 w 74"/>
                  <a:gd name="T11" fmla="*/ 8 h 82"/>
                  <a:gd name="T12" fmla="*/ 1 w 74"/>
                  <a:gd name="T13" fmla="*/ 8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4" h="82">
                    <a:moveTo>
                      <a:pt x="24" y="82"/>
                    </a:moveTo>
                    <a:lnTo>
                      <a:pt x="3" y="74"/>
                    </a:lnTo>
                    <a:lnTo>
                      <a:pt x="0" y="53"/>
                    </a:lnTo>
                    <a:lnTo>
                      <a:pt x="9" y="9"/>
                    </a:lnTo>
                    <a:lnTo>
                      <a:pt x="32" y="0"/>
                    </a:lnTo>
                    <a:lnTo>
                      <a:pt x="50" y="0"/>
                    </a:lnTo>
                    <a:lnTo>
                      <a:pt x="68" y="14"/>
                    </a:lnTo>
                    <a:lnTo>
                      <a:pt x="74" y="45"/>
                    </a:lnTo>
                    <a:lnTo>
                      <a:pt x="59" y="78"/>
                    </a:lnTo>
                    <a:lnTo>
                      <a:pt x="24" y="8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36" name="Freeform 33">
                <a:extLst>
                  <a:ext uri="{FF2B5EF4-FFF2-40B4-BE49-F238E27FC236}">
                    <a16:creationId xmlns:a16="http://schemas.microsoft.com/office/drawing/2014/main" id="{E95BFE7D-1D29-4695-9143-4198BDD6C0CD}"/>
                  </a:ext>
                </a:extLst>
              </p:cNvPr>
              <p:cNvSpPr>
                <a:spLocks/>
              </p:cNvSpPr>
              <p:nvPr/>
            </p:nvSpPr>
            <p:spPr bwMode="auto">
              <a:xfrm>
                <a:off x="532" y="3356"/>
                <a:ext cx="18" cy="21"/>
              </a:xfrm>
              <a:custGeom>
                <a:avLst/>
                <a:gdLst>
                  <a:gd name="T0" fmla="*/ 1 w 91"/>
                  <a:gd name="T1" fmla="*/ 9 h 106"/>
                  <a:gd name="T2" fmla="*/ 2 w 91"/>
                  <a:gd name="T3" fmla="*/ 7 h 106"/>
                  <a:gd name="T4" fmla="*/ 0 w 91"/>
                  <a:gd name="T5" fmla="*/ 3 h 106"/>
                  <a:gd name="T6" fmla="*/ 3 w 91"/>
                  <a:gd name="T7" fmla="*/ 0 h 106"/>
                  <a:gd name="T8" fmla="*/ 6 w 91"/>
                  <a:gd name="T9" fmla="*/ 3 h 106"/>
                  <a:gd name="T10" fmla="*/ 5 w 91"/>
                  <a:gd name="T11" fmla="*/ 8 h 106"/>
                  <a:gd name="T12" fmla="*/ 1 w 91"/>
                  <a:gd name="T13" fmla="*/ 9 h 10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1" h="106">
                    <a:moveTo>
                      <a:pt x="24" y="102"/>
                    </a:moveTo>
                    <a:lnTo>
                      <a:pt x="0" y="73"/>
                    </a:lnTo>
                    <a:lnTo>
                      <a:pt x="9" y="29"/>
                    </a:lnTo>
                    <a:lnTo>
                      <a:pt x="26" y="1"/>
                    </a:lnTo>
                    <a:lnTo>
                      <a:pt x="50" y="0"/>
                    </a:lnTo>
                    <a:lnTo>
                      <a:pt x="87" y="25"/>
                    </a:lnTo>
                    <a:lnTo>
                      <a:pt x="91" y="59"/>
                    </a:lnTo>
                    <a:lnTo>
                      <a:pt x="84" y="82"/>
                    </a:lnTo>
                    <a:lnTo>
                      <a:pt x="55" y="106"/>
                    </a:lnTo>
                    <a:lnTo>
                      <a:pt x="24" y="10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37" name="Freeform 33">
                <a:extLst>
                  <a:ext uri="{FF2B5EF4-FFF2-40B4-BE49-F238E27FC236}">
                    <a16:creationId xmlns:a16="http://schemas.microsoft.com/office/drawing/2014/main" id="{88E7C5DA-013D-4820-A04F-CB2D83DF929D}"/>
                  </a:ext>
                </a:extLst>
              </p:cNvPr>
              <p:cNvSpPr>
                <a:spLocks/>
              </p:cNvSpPr>
              <p:nvPr/>
            </p:nvSpPr>
            <p:spPr bwMode="auto">
              <a:xfrm>
                <a:off x="553" y="3482"/>
                <a:ext cx="11" cy="16"/>
              </a:xfrm>
              <a:custGeom>
                <a:avLst/>
                <a:gdLst>
                  <a:gd name="T0" fmla="*/ 1 w 56"/>
                  <a:gd name="T1" fmla="*/ 9 h 78"/>
                  <a:gd name="T2" fmla="*/ 2 w 56"/>
                  <a:gd name="T3" fmla="*/ 7 h 78"/>
                  <a:gd name="T4" fmla="*/ 0 w 56"/>
                  <a:gd name="T5" fmla="*/ 3 h 78"/>
                  <a:gd name="T6" fmla="*/ 3 w 56"/>
                  <a:gd name="T7" fmla="*/ 0 h 78"/>
                  <a:gd name="T8" fmla="*/ 6 w 56"/>
                  <a:gd name="T9" fmla="*/ 3 h 78"/>
                  <a:gd name="T10" fmla="*/ 5 w 56"/>
                  <a:gd name="T11" fmla="*/ 8 h 78"/>
                  <a:gd name="T12" fmla="*/ 1 w 56"/>
                  <a:gd name="T13" fmla="*/ 9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78">
                    <a:moveTo>
                      <a:pt x="24" y="76"/>
                    </a:moveTo>
                    <a:lnTo>
                      <a:pt x="4" y="68"/>
                    </a:lnTo>
                    <a:lnTo>
                      <a:pt x="0" y="47"/>
                    </a:lnTo>
                    <a:lnTo>
                      <a:pt x="7" y="9"/>
                    </a:lnTo>
                    <a:lnTo>
                      <a:pt x="31" y="0"/>
                    </a:lnTo>
                    <a:lnTo>
                      <a:pt x="45" y="11"/>
                    </a:lnTo>
                    <a:lnTo>
                      <a:pt x="55" y="26"/>
                    </a:lnTo>
                    <a:lnTo>
                      <a:pt x="56" y="58"/>
                    </a:lnTo>
                    <a:lnTo>
                      <a:pt x="46" y="78"/>
                    </a:lnTo>
                    <a:lnTo>
                      <a:pt x="24" y="76"/>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38" name="Freeform 33">
                <a:extLst>
                  <a:ext uri="{FF2B5EF4-FFF2-40B4-BE49-F238E27FC236}">
                    <a16:creationId xmlns:a16="http://schemas.microsoft.com/office/drawing/2014/main" id="{7C7AF6E6-0808-4E70-91E2-407024D6E0BB}"/>
                  </a:ext>
                </a:extLst>
              </p:cNvPr>
              <p:cNvSpPr>
                <a:spLocks/>
              </p:cNvSpPr>
              <p:nvPr/>
            </p:nvSpPr>
            <p:spPr bwMode="auto">
              <a:xfrm>
                <a:off x="561" y="3521"/>
                <a:ext cx="12" cy="17"/>
              </a:xfrm>
              <a:custGeom>
                <a:avLst/>
                <a:gdLst>
                  <a:gd name="T0" fmla="*/ 1 w 60"/>
                  <a:gd name="T1" fmla="*/ 9 h 85"/>
                  <a:gd name="T2" fmla="*/ 2 w 60"/>
                  <a:gd name="T3" fmla="*/ 7 h 85"/>
                  <a:gd name="T4" fmla="*/ 0 w 60"/>
                  <a:gd name="T5" fmla="*/ 3 h 85"/>
                  <a:gd name="T6" fmla="*/ 3 w 60"/>
                  <a:gd name="T7" fmla="*/ 0 h 85"/>
                  <a:gd name="T8" fmla="*/ 6 w 60"/>
                  <a:gd name="T9" fmla="*/ 3 h 85"/>
                  <a:gd name="T10" fmla="*/ 5 w 60"/>
                  <a:gd name="T11" fmla="*/ 8 h 85"/>
                  <a:gd name="T12" fmla="*/ 1 w 60"/>
                  <a:gd name="T13" fmla="*/ 9 h 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85">
                    <a:moveTo>
                      <a:pt x="22" y="85"/>
                    </a:moveTo>
                    <a:lnTo>
                      <a:pt x="1" y="74"/>
                    </a:lnTo>
                    <a:lnTo>
                      <a:pt x="0" y="47"/>
                    </a:lnTo>
                    <a:lnTo>
                      <a:pt x="3" y="19"/>
                    </a:lnTo>
                    <a:lnTo>
                      <a:pt x="31" y="0"/>
                    </a:lnTo>
                    <a:lnTo>
                      <a:pt x="52" y="18"/>
                    </a:lnTo>
                    <a:lnTo>
                      <a:pt x="60" y="42"/>
                    </a:lnTo>
                    <a:lnTo>
                      <a:pt x="58" y="67"/>
                    </a:lnTo>
                    <a:lnTo>
                      <a:pt x="46" y="78"/>
                    </a:lnTo>
                    <a:lnTo>
                      <a:pt x="22" y="85"/>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39" name="Freeform 33">
                <a:extLst>
                  <a:ext uri="{FF2B5EF4-FFF2-40B4-BE49-F238E27FC236}">
                    <a16:creationId xmlns:a16="http://schemas.microsoft.com/office/drawing/2014/main" id="{A7F9C7E4-670E-468C-9D89-8C0CEA002085}"/>
                  </a:ext>
                </a:extLst>
              </p:cNvPr>
              <p:cNvSpPr>
                <a:spLocks/>
              </p:cNvSpPr>
              <p:nvPr/>
            </p:nvSpPr>
            <p:spPr bwMode="auto">
              <a:xfrm>
                <a:off x="660" y="3454"/>
                <a:ext cx="12" cy="15"/>
              </a:xfrm>
              <a:custGeom>
                <a:avLst/>
                <a:gdLst>
                  <a:gd name="T0" fmla="*/ 1 w 60"/>
                  <a:gd name="T1" fmla="*/ 9 h 72"/>
                  <a:gd name="T2" fmla="*/ 2 w 60"/>
                  <a:gd name="T3" fmla="*/ 7 h 72"/>
                  <a:gd name="T4" fmla="*/ 0 w 60"/>
                  <a:gd name="T5" fmla="*/ 3 h 72"/>
                  <a:gd name="T6" fmla="*/ 3 w 60"/>
                  <a:gd name="T7" fmla="*/ 0 h 72"/>
                  <a:gd name="T8" fmla="*/ 6 w 60"/>
                  <a:gd name="T9" fmla="*/ 3 h 72"/>
                  <a:gd name="T10" fmla="*/ 5 w 60"/>
                  <a:gd name="T11" fmla="*/ 8 h 72"/>
                  <a:gd name="T12" fmla="*/ 1 w 60"/>
                  <a:gd name="T13" fmla="*/ 9 h 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2">
                    <a:moveTo>
                      <a:pt x="27" y="72"/>
                    </a:moveTo>
                    <a:lnTo>
                      <a:pt x="7" y="62"/>
                    </a:lnTo>
                    <a:lnTo>
                      <a:pt x="0" y="38"/>
                    </a:lnTo>
                    <a:lnTo>
                      <a:pt x="3" y="10"/>
                    </a:lnTo>
                    <a:lnTo>
                      <a:pt x="33" y="0"/>
                    </a:lnTo>
                    <a:lnTo>
                      <a:pt x="52" y="9"/>
                    </a:lnTo>
                    <a:lnTo>
                      <a:pt x="60" y="33"/>
                    </a:lnTo>
                    <a:lnTo>
                      <a:pt x="58" y="58"/>
                    </a:lnTo>
                    <a:lnTo>
                      <a:pt x="46" y="69"/>
                    </a:lnTo>
                    <a:lnTo>
                      <a:pt x="27" y="7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0" name="Freeform 33">
                <a:extLst>
                  <a:ext uri="{FF2B5EF4-FFF2-40B4-BE49-F238E27FC236}">
                    <a16:creationId xmlns:a16="http://schemas.microsoft.com/office/drawing/2014/main" id="{B0CC12D1-5094-4C80-ACCB-9E00044D7FED}"/>
                  </a:ext>
                </a:extLst>
              </p:cNvPr>
              <p:cNvSpPr>
                <a:spLocks/>
              </p:cNvSpPr>
              <p:nvPr/>
            </p:nvSpPr>
            <p:spPr bwMode="auto">
              <a:xfrm>
                <a:off x="575" y="3509"/>
                <a:ext cx="11" cy="12"/>
              </a:xfrm>
              <a:custGeom>
                <a:avLst/>
                <a:gdLst>
                  <a:gd name="T0" fmla="*/ 1 w 58"/>
                  <a:gd name="T1" fmla="*/ 8 h 63"/>
                  <a:gd name="T2" fmla="*/ 2 w 58"/>
                  <a:gd name="T3" fmla="*/ 6 h 63"/>
                  <a:gd name="T4" fmla="*/ 0 w 58"/>
                  <a:gd name="T5" fmla="*/ 2 h 63"/>
                  <a:gd name="T6" fmla="*/ 3 w 58"/>
                  <a:gd name="T7" fmla="*/ 0 h 63"/>
                  <a:gd name="T8" fmla="*/ 6 w 58"/>
                  <a:gd name="T9" fmla="*/ 3 h 63"/>
                  <a:gd name="T10" fmla="*/ 5 w 58"/>
                  <a:gd name="T11" fmla="*/ 8 h 63"/>
                  <a:gd name="T12" fmla="*/ 1 w 58"/>
                  <a:gd name="T13" fmla="*/ 8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63">
                    <a:moveTo>
                      <a:pt x="24" y="61"/>
                    </a:moveTo>
                    <a:lnTo>
                      <a:pt x="4" y="53"/>
                    </a:lnTo>
                    <a:lnTo>
                      <a:pt x="0" y="32"/>
                    </a:lnTo>
                    <a:lnTo>
                      <a:pt x="11" y="10"/>
                    </a:lnTo>
                    <a:lnTo>
                      <a:pt x="26" y="0"/>
                    </a:lnTo>
                    <a:lnTo>
                      <a:pt x="47" y="1"/>
                    </a:lnTo>
                    <a:lnTo>
                      <a:pt x="58" y="16"/>
                    </a:lnTo>
                    <a:lnTo>
                      <a:pt x="56" y="43"/>
                    </a:lnTo>
                    <a:lnTo>
                      <a:pt x="46" y="63"/>
                    </a:lnTo>
                    <a:lnTo>
                      <a:pt x="24" y="61"/>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1" name="Freeform 33">
                <a:extLst>
                  <a:ext uri="{FF2B5EF4-FFF2-40B4-BE49-F238E27FC236}">
                    <a16:creationId xmlns:a16="http://schemas.microsoft.com/office/drawing/2014/main" id="{21EE5700-918F-47FD-A3C6-18EC42327DF0}"/>
                  </a:ext>
                </a:extLst>
              </p:cNvPr>
              <p:cNvSpPr>
                <a:spLocks/>
              </p:cNvSpPr>
              <p:nvPr/>
            </p:nvSpPr>
            <p:spPr bwMode="auto">
              <a:xfrm>
                <a:off x="528" y="3412"/>
                <a:ext cx="12" cy="14"/>
              </a:xfrm>
              <a:custGeom>
                <a:avLst/>
                <a:gdLst>
                  <a:gd name="T0" fmla="*/ 1 w 60"/>
                  <a:gd name="T1" fmla="*/ 8 h 72"/>
                  <a:gd name="T2" fmla="*/ 2 w 60"/>
                  <a:gd name="T3" fmla="*/ 6 h 72"/>
                  <a:gd name="T4" fmla="*/ 0 w 60"/>
                  <a:gd name="T5" fmla="*/ 3 h 72"/>
                  <a:gd name="T6" fmla="*/ 3 w 60"/>
                  <a:gd name="T7" fmla="*/ 0 h 72"/>
                  <a:gd name="T8" fmla="*/ 6 w 60"/>
                  <a:gd name="T9" fmla="*/ 3 h 72"/>
                  <a:gd name="T10" fmla="*/ 5 w 60"/>
                  <a:gd name="T11" fmla="*/ 8 h 72"/>
                  <a:gd name="T12" fmla="*/ 1 w 60"/>
                  <a:gd name="T13" fmla="*/ 8 h 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2">
                    <a:moveTo>
                      <a:pt x="16" y="68"/>
                    </a:moveTo>
                    <a:lnTo>
                      <a:pt x="4" y="53"/>
                    </a:lnTo>
                    <a:lnTo>
                      <a:pt x="0" y="32"/>
                    </a:lnTo>
                    <a:lnTo>
                      <a:pt x="1" y="11"/>
                    </a:lnTo>
                    <a:lnTo>
                      <a:pt x="26" y="0"/>
                    </a:lnTo>
                    <a:lnTo>
                      <a:pt x="47" y="1"/>
                    </a:lnTo>
                    <a:lnTo>
                      <a:pt x="60" y="18"/>
                    </a:lnTo>
                    <a:lnTo>
                      <a:pt x="58" y="60"/>
                    </a:lnTo>
                    <a:lnTo>
                      <a:pt x="40" y="72"/>
                    </a:lnTo>
                    <a:lnTo>
                      <a:pt x="16" y="68"/>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2" name="Freeform 33">
                <a:extLst>
                  <a:ext uri="{FF2B5EF4-FFF2-40B4-BE49-F238E27FC236}">
                    <a16:creationId xmlns:a16="http://schemas.microsoft.com/office/drawing/2014/main" id="{1A27419A-F57C-4DA9-AC40-7297B4A78C5F}"/>
                  </a:ext>
                </a:extLst>
              </p:cNvPr>
              <p:cNvSpPr>
                <a:spLocks/>
              </p:cNvSpPr>
              <p:nvPr/>
            </p:nvSpPr>
            <p:spPr bwMode="auto">
              <a:xfrm>
                <a:off x="603" y="3524"/>
                <a:ext cx="11" cy="13"/>
              </a:xfrm>
              <a:custGeom>
                <a:avLst/>
                <a:gdLst>
                  <a:gd name="T0" fmla="*/ 1 w 58"/>
                  <a:gd name="T1" fmla="*/ 9 h 63"/>
                  <a:gd name="T2" fmla="*/ 2 w 58"/>
                  <a:gd name="T3" fmla="*/ 7 h 63"/>
                  <a:gd name="T4" fmla="*/ 0 w 58"/>
                  <a:gd name="T5" fmla="*/ 3 h 63"/>
                  <a:gd name="T6" fmla="*/ 3 w 58"/>
                  <a:gd name="T7" fmla="*/ 0 h 63"/>
                  <a:gd name="T8" fmla="*/ 6 w 58"/>
                  <a:gd name="T9" fmla="*/ 3 h 63"/>
                  <a:gd name="T10" fmla="*/ 5 w 58"/>
                  <a:gd name="T11" fmla="*/ 8 h 63"/>
                  <a:gd name="T12" fmla="*/ 1 w 58"/>
                  <a:gd name="T13" fmla="*/ 9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63">
                    <a:moveTo>
                      <a:pt x="24" y="61"/>
                    </a:moveTo>
                    <a:lnTo>
                      <a:pt x="4" y="53"/>
                    </a:lnTo>
                    <a:lnTo>
                      <a:pt x="0" y="32"/>
                    </a:lnTo>
                    <a:lnTo>
                      <a:pt x="11" y="10"/>
                    </a:lnTo>
                    <a:lnTo>
                      <a:pt x="26" y="0"/>
                    </a:lnTo>
                    <a:lnTo>
                      <a:pt x="47" y="1"/>
                    </a:lnTo>
                    <a:lnTo>
                      <a:pt x="58" y="16"/>
                    </a:lnTo>
                    <a:lnTo>
                      <a:pt x="56" y="43"/>
                    </a:lnTo>
                    <a:lnTo>
                      <a:pt x="46" y="63"/>
                    </a:lnTo>
                    <a:lnTo>
                      <a:pt x="24" y="61"/>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3" name="Freeform 33">
                <a:extLst>
                  <a:ext uri="{FF2B5EF4-FFF2-40B4-BE49-F238E27FC236}">
                    <a16:creationId xmlns:a16="http://schemas.microsoft.com/office/drawing/2014/main" id="{842EB0F6-E978-4DD9-8852-61C7EA412921}"/>
                  </a:ext>
                </a:extLst>
              </p:cNvPr>
              <p:cNvSpPr>
                <a:spLocks/>
              </p:cNvSpPr>
              <p:nvPr/>
            </p:nvSpPr>
            <p:spPr bwMode="auto">
              <a:xfrm>
                <a:off x="626" y="3429"/>
                <a:ext cx="12" cy="12"/>
              </a:xfrm>
              <a:custGeom>
                <a:avLst/>
                <a:gdLst>
                  <a:gd name="T0" fmla="*/ 1 w 58"/>
                  <a:gd name="T1" fmla="*/ 8 h 63"/>
                  <a:gd name="T2" fmla="*/ 2 w 58"/>
                  <a:gd name="T3" fmla="*/ 6 h 63"/>
                  <a:gd name="T4" fmla="*/ 0 w 58"/>
                  <a:gd name="T5" fmla="*/ 2 h 63"/>
                  <a:gd name="T6" fmla="*/ 3 w 58"/>
                  <a:gd name="T7" fmla="*/ 0 h 63"/>
                  <a:gd name="T8" fmla="*/ 6 w 58"/>
                  <a:gd name="T9" fmla="*/ 3 h 63"/>
                  <a:gd name="T10" fmla="*/ 5 w 58"/>
                  <a:gd name="T11" fmla="*/ 8 h 63"/>
                  <a:gd name="T12" fmla="*/ 1 w 58"/>
                  <a:gd name="T13" fmla="*/ 8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63">
                    <a:moveTo>
                      <a:pt x="24" y="61"/>
                    </a:moveTo>
                    <a:lnTo>
                      <a:pt x="4" y="53"/>
                    </a:lnTo>
                    <a:lnTo>
                      <a:pt x="0" y="32"/>
                    </a:lnTo>
                    <a:lnTo>
                      <a:pt x="11" y="10"/>
                    </a:lnTo>
                    <a:lnTo>
                      <a:pt x="26" y="0"/>
                    </a:lnTo>
                    <a:lnTo>
                      <a:pt x="47" y="1"/>
                    </a:lnTo>
                    <a:lnTo>
                      <a:pt x="58" y="16"/>
                    </a:lnTo>
                    <a:lnTo>
                      <a:pt x="56" y="43"/>
                    </a:lnTo>
                    <a:lnTo>
                      <a:pt x="46" y="63"/>
                    </a:lnTo>
                    <a:lnTo>
                      <a:pt x="24" y="61"/>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4" name="Freeform 33">
                <a:extLst>
                  <a:ext uri="{FF2B5EF4-FFF2-40B4-BE49-F238E27FC236}">
                    <a16:creationId xmlns:a16="http://schemas.microsoft.com/office/drawing/2014/main" id="{28E615FA-564F-42DF-8BB2-5C22665E002B}"/>
                  </a:ext>
                </a:extLst>
              </p:cNvPr>
              <p:cNvSpPr>
                <a:spLocks/>
              </p:cNvSpPr>
              <p:nvPr/>
            </p:nvSpPr>
            <p:spPr bwMode="auto">
              <a:xfrm>
                <a:off x="507" y="3440"/>
                <a:ext cx="11" cy="12"/>
              </a:xfrm>
              <a:custGeom>
                <a:avLst/>
                <a:gdLst>
                  <a:gd name="T0" fmla="*/ 1 w 55"/>
                  <a:gd name="T1" fmla="*/ 8 h 63"/>
                  <a:gd name="T2" fmla="*/ 2 w 55"/>
                  <a:gd name="T3" fmla="*/ 6 h 63"/>
                  <a:gd name="T4" fmla="*/ 0 w 55"/>
                  <a:gd name="T5" fmla="*/ 2 h 63"/>
                  <a:gd name="T6" fmla="*/ 3 w 55"/>
                  <a:gd name="T7" fmla="*/ 0 h 63"/>
                  <a:gd name="T8" fmla="*/ 6 w 55"/>
                  <a:gd name="T9" fmla="*/ 3 h 63"/>
                  <a:gd name="T10" fmla="*/ 5 w 55"/>
                  <a:gd name="T11" fmla="*/ 8 h 63"/>
                  <a:gd name="T12" fmla="*/ 1 w 55"/>
                  <a:gd name="T13" fmla="*/ 8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 h="63">
                    <a:moveTo>
                      <a:pt x="24" y="61"/>
                    </a:moveTo>
                    <a:lnTo>
                      <a:pt x="4" y="53"/>
                    </a:lnTo>
                    <a:lnTo>
                      <a:pt x="0" y="32"/>
                    </a:lnTo>
                    <a:lnTo>
                      <a:pt x="11" y="10"/>
                    </a:lnTo>
                    <a:lnTo>
                      <a:pt x="26" y="0"/>
                    </a:lnTo>
                    <a:lnTo>
                      <a:pt x="43" y="5"/>
                    </a:lnTo>
                    <a:lnTo>
                      <a:pt x="51" y="24"/>
                    </a:lnTo>
                    <a:lnTo>
                      <a:pt x="55" y="44"/>
                    </a:lnTo>
                    <a:lnTo>
                      <a:pt x="46" y="63"/>
                    </a:lnTo>
                    <a:lnTo>
                      <a:pt x="24" y="61"/>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5" name="Freeform 33">
                <a:extLst>
                  <a:ext uri="{FF2B5EF4-FFF2-40B4-BE49-F238E27FC236}">
                    <a16:creationId xmlns:a16="http://schemas.microsoft.com/office/drawing/2014/main" id="{9AB4C746-C9F0-40A7-8E29-3763C435FE05}"/>
                  </a:ext>
                </a:extLst>
              </p:cNvPr>
              <p:cNvSpPr>
                <a:spLocks/>
              </p:cNvSpPr>
              <p:nvPr/>
            </p:nvSpPr>
            <p:spPr bwMode="auto">
              <a:xfrm>
                <a:off x="603" y="3564"/>
                <a:ext cx="15" cy="14"/>
              </a:xfrm>
              <a:custGeom>
                <a:avLst/>
                <a:gdLst>
                  <a:gd name="T0" fmla="*/ 1 w 75"/>
                  <a:gd name="T1" fmla="*/ 8 h 73"/>
                  <a:gd name="T2" fmla="*/ 2 w 75"/>
                  <a:gd name="T3" fmla="*/ 6 h 73"/>
                  <a:gd name="T4" fmla="*/ 0 w 75"/>
                  <a:gd name="T5" fmla="*/ 2 h 73"/>
                  <a:gd name="T6" fmla="*/ 3 w 75"/>
                  <a:gd name="T7" fmla="*/ 0 h 73"/>
                  <a:gd name="T8" fmla="*/ 6 w 75"/>
                  <a:gd name="T9" fmla="*/ 3 h 73"/>
                  <a:gd name="T10" fmla="*/ 5 w 75"/>
                  <a:gd name="T11" fmla="*/ 8 h 73"/>
                  <a:gd name="T12" fmla="*/ 1 w 75"/>
                  <a:gd name="T13" fmla="*/ 8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 h="73">
                    <a:moveTo>
                      <a:pt x="21" y="73"/>
                    </a:moveTo>
                    <a:lnTo>
                      <a:pt x="3" y="55"/>
                    </a:lnTo>
                    <a:lnTo>
                      <a:pt x="0" y="27"/>
                    </a:lnTo>
                    <a:lnTo>
                      <a:pt x="18" y="0"/>
                    </a:lnTo>
                    <a:lnTo>
                      <a:pt x="43" y="1"/>
                    </a:lnTo>
                    <a:lnTo>
                      <a:pt x="64" y="2"/>
                    </a:lnTo>
                    <a:lnTo>
                      <a:pt x="75" y="17"/>
                    </a:lnTo>
                    <a:lnTo>
                      <a:pt x="73" y="44"/>
                    </a:lnTo>
                    <a:lnTo>
                      <a:pt x="46" y="73"/>
                    </a:lnTo>
                    <a:lnTo>
                      <a:pt x="21" y="73"/>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6" name="Freeform 33">
                <a:extLst>
                  <a:ext uri="{FF2B5EF4-FFF2-40B4-BE49-F238E27FC236}">
                    <a16:creationId xmlns:a16="http://schemas.microsoft.com/office/drawing/2014/main" id="{DAFD6337-95B7-40E6-9C61-B234CBE87B19}"/>
                  </a:ext>
                </a:extLst>
              </p:cNvPr>
              <p:cNvSpPr>
                <a:spLocks/>
              </p:cNvSpPr>
              <p:nvPr/>
            </p:nvSpPr>
            <p:spPr bwMode="auto">
              <a:xfrm>
                <a:off x="558" y="3603"/>
                <a:ext cx="13" cy="17"/>
              </a:xfrm>
              <a:custGeom>
                <a:avLst/>
                <a:gdLst>
                  <a:gd name="T0" fmla="*/ 1 w 65"/>
                  <a:gd name="T1" fmla="*/ 9 h 82"/>
                  <a:gd name="T2" fmla="*/ 2 w 65"/>
                  <a:gd name="T3" fmla="*/ 7 h 82"/>
                  <a:gd name="T4" fmla="*/ 0 w 65"/>
                  <a:gd name="T5" fmla="*/ 3 h 82"/>
                  <a:gd name="T6" fmla="*/ 3 w 65"/>
                  <a:gd name="T7" fmla="*/ 0 h 82"/>
                  <a:gd name="T8" fmla="*/ 6 w 65"/>
                  <a:gd name="T9" fmla="*/ 3 h 82"/>
                  <a:gd name="T10" fmla="*/ 5 w 65"/>
                  <a:gd name="T11" fmla="*/ 8 h 82"/>
                  <a:gd name="T12" fmla="*/ 1 w 65"/>
                  <a:gd name="T13" fmla="*/ 9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82">
                    <a:moveTo>
                      <a:pt x="12" y="82"/>
                    </a:moveTo>
                    <a:lnTo>
                      <a:pt x="0" y="61"/>
                    </a:lnTo>
                    <a:lnTo>
                      <a:pt x="7" y="32"/>
                    </a:lnTo>
                    <a:lnTo>
                      <a:pt x="18" y="10"/>
                    </a:lnTo>
                    <a:lnTo>
                      <a:pt x="33" y="0"/>
                    </a:lnTo>
                    <a:lnTo>
                      <a:pt x="54" y="1"/>
                    </a:lnTo>
                    <a:lnTo>
                      <a:pt x="65" y="16"/>
                    </a:lnTo>
                    <a:lnTo>
                      <a:pt x="57" y="46"/>
                    </a:lnTo>
                    <a:lnTo>
                      <a:pt x="37" y="76"/>
                    </a:lnTo>
                    <a:lnTo>
                      <a:pt x="12" y="8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7" name="Freeform 33">
                <a:extLst>
                  <a:ext uri="{FF2B5EF4-FFF2-40B4-BE49-F238E27FC236}">
                    <a16:creationId xmlns:a16="http://schemas.microsoft.com/office/drawing/2014/main" id="{C68FE0AF-529D-4021-96B8-0D40C70D9889}"/>
                  </a:ext>
                </a:extLst>
              </p:cNvPr>
              <p:cNvSpPr>
                <a:spLocks/>
              </p:cNvSpPr>
              <p:nvPr/>
            </p:nvSpPr>
            <p:spPr bwMode="auto">
              <a:xfrm>
                <a:off x="638" y="3806"/>
                <a:ext cx="15" cy="19"/>
              </a:xfrm>
              <a:custGeom>
                <a:avLst/>
                <a:gdLst>
                  <a:gd name="T0" fmla="*/ 1 w 73"/>
                  <a:gd name="T1" fmla="*/ 9 h 93"/>
                  <a:gd name="T2" fmla="*/ 2 w 73"/>
                  <a:gd name="T3" fmla="*/ 7 h 93"/>
                  <a:gd name="T4" fmla="*/ 0 w 73"/>
                  <a:gd name="T5" fmla="*/ 3 h 93"/>
                  <a:gd name="T6" fmla="*/ 3 w 73"/>
                  <a:gd name="T7" fmla="*/ 0 h 93"/>
                  <a:gd name="T8" fmla="*/ 6 w 73"/>
                  <a:gd name="T9" fmla="*/ 3 h 93"/>
                  <a:gd name="T10" fmla="*/ 5 w 73"/>
                  <a:gd name="T11" fmla="*/ 8 h 93"/>
                  <a:gd name="T12" fmla="*/ 1 w 73"/>
                  <a:gd name="T13" fmla="*/ 9 h 9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3" h="93">
                    <a:moveTo>
                      <a:pt x="22" y="90"/>
                    </a:moveTo>
                    <a:lnTo>
                      <a:pt x="0" y="72"/>
                    </a:lnTo>
                    <a:lnTo>
                      <a:pt x="1" y="39"/>
                    </a:lnTo>
                    <a:lnTo>
                      <a:pt x="12" y="14"/>
                    </a:lnTo>
                    <a:lnTo>
                      <a:pt x="30" y="0"/>
                    </a:lnTo>
                    <a:lnTo>
                      <a:pt x="54" y="0"/>
                    </a:lnTo>
                    <a:lnTo>
                      <a:pt x="67" y="18"/>
                    </a:lnTo>
                    <a:lnTo>
                      <a:pt x="73" y="42"/>
                    </a:lnTo>
                    <a:lnTo>
                      <a:pt x="70" y="77"/>
                    </a:lnTo>
                    <a:lnTo>
                      <a:pt x="51" y="93"/>
                    </a:lnTo>
                    <a:lnTo>
                      <a:pt x="22" y="9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48" name="Freeform 33">
                <a:extLst>
                  <a:ext uri="{FF2B5EF4-FFF2-40B4-BE49-F238E27FC236}">
                    <a16:creationId xmlns:a16="http://schemas.microsoft.com/office/drawing/2014/main" id="{FEE905FC-A110-400F-8A60-79E2305C176E}"/>
                  </a:ext>
                </a:extLst>
              </p:cNvPr>
              <p:cNvSpPr>
                <a:spLocks/>
              </p:cNvSpPr>
              <p:nvPr/>
            </p:nvSpPr>
            <p:spPr bwMode="auto">
              <a:xfrm>
                <a:off x="718" y="3609"/>
                <a:ext cx="12" cy="13"/>
              </a:xfrm>
              <a:custGeom>
                <a:avLst/>
                <a:gdLst>
                  <a:gd name="T0" fmla="*/ 1 w 58"/>
                  <a:gd name="T1" fmla="*/ 9 h 63"/>
                  <a:gd name="T2" fmla="*/ 2 w 58"/>
                  <a:gd name="T3" fmla="*/ 7 h 63"/>
                  <a:gd name="T4" fmla="*/ 0 w 58"/>
                  <a:gd name="T5" fmla="*/ 3 h 63"/>
                  <a:gd name="T6" fmla="*/ 3 w 58"/>
                  <a:gd name="T7" fmla="*/ 0 h 63"/>
                  <a:gd name="T8" fmla="*/ 6 w 58"/>
                  <a:gd name="T9" fmla="*/ 3 h 63"/>
                  <a:gd name="T10" fmla="*/ 5 w 58"/>
                  <a:gd name="T11" fmla="*/ 8 h 63"/>
                  <a:gd name="T12" fmla="*/ 1 w 58"/>
                  <a:gd name="T13" fmla="*/ 9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63">
                    <a:moveTo>
                      <a:pt x="24" y="61"/>
                    </a:moveTo>
                    <a:lnTo>
                      <a:pt x="4" y="53"/>
                    </a:lnTo>
                    <a:lnTo>
                      <a:pt x="0" y="32"/>
                    </a:lnTo>
                    <a:lnTo>
                      <a:pt x="11" y="10"/>
                    </a:lnTo>
                    <a:lnTo>
                      <a:pt x="26" y="0"/>
                    </a:lnTo>
                    <a:lnTo>
                      <a:pt x="47" y="1"/>
                    </a:lnTo>
                    <a:lnTo>
                      <a:pt x="58" y="16"/>
                    </a:lnTo>
                    <a:lnTo>
                      <a:pt x="56" y="43"/>
                    </a:lnTo>
                    <a:lnTo>
                      <a:pt x="46" y="63"/>
                    </a:lnTo>
                    <a:lnTo>
                      <a:pt x="24" y="61"/>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sp>
          <p:nvSpPr>
            <p:cNvPr id="116" name="Freeform 72">
              <a:extLst>
                <a:ext uri="{FF2B5EF4-FFF2-40B4-BE49-F238E27FC236}">
                  <a16:creationId xmlns:a16="http://schemas.microsoft.com/office/drawing/2014/main" id="{AE352CC0-8562-46E0-AAA1-3724CDA2683F}"/>
                </a:ext>
              </a:extLst>
            </p:cNvPr>
            <p:cNvSpPr>
              <a:spLocks/>
            </p:cNvSpPr>
            <p:nvPr/>
          </p:nvSpPr>
          <p:spPr bwMode="auto">
            <a:xfrm>
              <a:off x="3518088" y="2412625"/>
              <a:ext cx="42863" cy="38100"/>
            </a:xfrm>
            <a:custGeom>
              <a:avLst/>
              <a:gdLst>
                <a:gd name="T0" fmla="*/ 25 w 135"/>
                <a:gd name="T1" fmla="*/ 10 h 117"/>
                <a:gd name="T2" fmla="*/ 23 w 135"/>
                <a:gd name="T3" fmla="*/ 7 h 117"/>
                <a:gd name="T4" fmla="*/ 22 w 135"/>
                <a:gd name="T5" fmla="*/ 3 h 117"/>
                <a:gd name="T6" fmla="*/ 17 w 135"/>
                <a:gd name="T7" fmla="*/ 5 h 117"/>
                <a:gd name="T8" fmla="*/ 18 w 135"/>
                <a:gd name="T9" fmla="*/ 2 h 117"/>
                <a:gd name="T10" fmla="*/ 14 w 135"/>
                <a:gd name="T11" fmla="*/ 0 h 117"/>
                <a:gd name="T12" fmla="*/ 11 w 135"/>
                <a:gd name="T13" fmla="*/ 4 h 117"/>
                <a:gd name="T14" fmla="*/ 7 w 135"/>
                <a:gd name="T15" fmla="*/ 4 h 117"/>
                <a:gd name="T16" fmla="*/ 3 w 135"/>
                <a:gd name="T17" fmla="*/ 5 h 117"/>
                <a:gd name="T18" fmla="*/ 0 w 135"/>
                <a:gd name="T19" fmla="*/ 6 h 117"/>
                <a:gd name="T20" fmla="*/ 0 w 135"/>
                <a:gd name="T21" fmla="*/ 12 h 117"/>
                <a:gd name="T22" fmla="*/ 4 w 135"/>
                <a:gd name="T23" fmla="*/ 12 h 117"/>
                <a:gd name="T24" fmla="*/ 7 w 135"/>
                <a:gd name="T25" fmla="*/ 12 h 117"/>
                <a:gd name="T26" fmla="*/ 8 w 135"/>
                <a:gd name="T27" fmla="*/ 15 h 117"/>
                <a:gd name="T28" fmla="*/ 10 w 135"/>
                <a:gd name="T29" fmla="*/ 21 h 117"/>
                <a:gd name="T30" fmla="*/ 12 w 135"/>
                <a:gd name="T31" fmla="*/ 23 h 117"/>
                <a:gd name="T32" fmla="*/ 18 w 135"/>
                <a:gd name="T33" fmla="*/ 24 h 117"/>
                <a:gd name="T34" fmla="*/ 24 w 135"/>
                <a:gd name="T35" fmla="*/ 23 h 117"/>
                <a:gd name="T36" fmla="*/ 26 w 135"/>
                <a:gd name="T37" fmla="*/ 19 h 117"/>
                <a:gd name="T38" fmla="*/ 27 w 135"/>
                <a:gd name="T39" fmla="*/ 15 h 117"/>
                <a:gd name="T40" fmla="*/ 25 w 135"/>
                <a:gd name="T41" fmla="*/ 10 h 1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5" h="117">
                  <a:moveTo>
                    <a:pt x="127" y="51"/>
                  </a:moveTo>
                  <a:lnTo>
                    <a:pt x="114" y="35"/>
                  </a:lnTo>
                  <a:lnTo>
                    <a:pt x="111" y="15"/>
                  </a:lnTo>
                  <a:lnTo>
                    <a:pt x="85" y="24"/>
                  </a:lnTo>
                  <a:lnTo>
                    <a:pt x="88" y="8"/>
                  </a:lnTo>
                  <a:lnTo>
                    <a:pt x="69" y="0"/>
                  </a:lnTo>
                  <a:lnTo>
                    <a:pt x="57" y="18"/>
                  </a:lnTo>
                  <a:lnTo>
                    <a:pt x="36" y="20"/>
                  </a:lnTo>
                  <a:lnTo>
                    <a:pt x="16" y="24"/>
                  </a:lnTo>
                  <a:lnTo>
                    <a:pt x="0" y="30"/>
                  </a:lnTo>
                  <a:lnTo>
                    <a:pt x="1" y="57"/>
                  </a:lnTo>
                  <a:lnTo>
                    <a:pt x="18" y="60"/>
                  </a:lnTo>
                  <a:lnTo>
                    <a:pt x="33" y="57"/>
                  </a:lnTo>
                  <a:lnTo>
                    <a:pt x="42" y="75"/>
                  </a:lnTo>
                  <a:lnTo>
                    <a:pt x="50" y="102"/>
                  </a:lnTo>
                  <a:lnTo>
                    <a:pt x="61" y="111"/>
                  </a:lnTo>
                  <a:lnTo>
                    <a:pt x="88" y="117"/>
                  </a:lnTo>
                  <a:lnTo>
                    <a:pt x="121" y="114"/>
                  </a:lnTo>
                  <a:lnTo>
                    <a:pt x="130" y="92"/>
                  </a:lnTo>
                  <a:lnTo>
                    <a:pt x="135" y="74"/>
                  </a:lnTo>
                  <a:lnTo>
                    <a:pt x="127" y="51"/>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nvGrpSpPr>
            <p:cNvPr id="117" name="Group 116">
              <a:extLst>
                <a:ext uri="{FF2B5EF4-FFF2-40B4-BE49-F238E27FC236}">
                  <a16:creationId xmlns:a16="http://schemas.microsoft.com/office/drawing/2014/main" id="{C3E88A5B-84E2-4F8F-A163-B3BF476542E3}"/>
                </a:ext>
              </a:extLst>
            </p:cNvPr>
            <p:cNvGrpSpPr>
              <a:grpSpLocks/>
            </p:cNvGrpSpPr>
            <p:nvPr/>
          </p:nvGrpSpPr>
          <p:grpSpPr bwMode="auto">
            <a:xfrm>
              <a:off x="2873563" y="4239838"/>
              <a:ext cx="53975" cy="57150"/>
              <a:chOff x="7728" y="10782"/>
              <a:chExt cx="2776" cy="2978"/>
            </a:xfrm>
            <a:grpFill/>
          </p:grpSpPr>
          <p:sp>
            <p:nvSpPr>
              <p:cNvPr id="132" name="Freeform 79">
                <a:extLst>
                  <a:ext uri="{FF2B5EF4-FFF2-40B4-BE49-F238E27FC236}">
                    <a16:creationId xmlns:a16="http://schemas.microsoft.com/office/drawing/2014/main" id="{24518AD8-4D43-449F-AE2E-AFF42114CED3}"/>
                  </a:ext>
                </a:extLst>
              </p:cNvPr>
              <p:cNvSpPr>
                <a:spLocks/>
              </p:cNvSpPr>
              <p:nvPr/>
            </p:nvSpPr>
            <p:spPr bwMode="auto">
              <a:xfrm>
                <a:off x="7728" y="10800"/>
                <a:ext cx="2776" cy="2960"/>
              </a:xfrm>
              <a:custGeom>
                <a:avLst/>
                <a:gdLst>
                  <a:gd name="T0" fmla="*/ 72 w 2776"/>
                  <a:gd name="T1" fmla="*/ 992 h 2960"/>
                  <a:gd name="T2" fmla="*/ 336 w 2776"/>
                  <a:gd name="T3" fmla="*/ 1144 h 2960"/>
                  <a:gd name="T4" fmla="*/ 432 w 2776"/>
                  <a:gd name="T5" fmla="*/ 1360 h 2960"/>
                  <a:gd name="T6" fmla="*/ 544 w 2776"/>
                  <a:gd name="T7" fmla="*/ 1568 h 2960"/>
                  <a:gd name="T8" fmla="*/ 520 w 2776"/>
                  <a:gd name="T9" fmla="*/ 2000 h 2960"/>
                  <a:gd name="T10" fmla="*/ 520 w 2776"/>
                  <a:gd name="T11" fmla="*/ 2288 h 2960"/>
                  <a:gd name="T12" fmla="*/ 696 w 2776"/>
                  <a:gd name="T13" fmla="*/ 2328 h 2960"/>
                  <a:gd name="T14" fmla="*/ 808 w 2776"/>
                  <a:gd name="T15" fmla="*/ 2448 h 2960"/>
                  <a:gd name="T16" fmla="*/ 968 w 2776"/>
                  <a:gd name="T17" fmla="*/ 2640 h 2960"/>
                  <a:gd name="T18" fmla="*/ 1184 w 2776"/>
                  <a:gd name="T19" fmla="*/ 2808 h 2960"/>
                  <a:gd name="T20" fmla="*/ 1216 w 2776"/>
                  <a:gd name="T21" fmla="*/ 2504 h 2960"/>
                  <a:gd name="T22" fmla="*/ 1544 w 2776"/>
                  <a:gd name="T23" fmla="*/ 2576 h 2960"/>
                  <a:gd name="T24" fmla="*/ 1776 w 2776"/>
                  <a:gd name="T25" fmla="*/ 2728 h 2960"/>
                  <a:gd name="T26" fmla="*/ 2200 w 2776"/>
                  <a:gd name="T27" fmla="*/ 2824 h 2960"/>
                  <a:gd name="T28" fmla="*/ 2504 w 2776"/>
                  <a:gd name="T29" fmla="*/ 2904 h 2960"/>
                  <a:gd name="T30" fmla="*/ 2608 w 2776"/>
                  <a:gd name="T31" fmla="*/ 2680 h 2960"/>
                  <a:gd name="T32" fmla="*/ 2728 w 2776"/>
                  <a:gd name="T33" fmla="*/ 2368 h 2960"/>
                  <a:gd name="T34" fmla="*/ 2776 w 2776"/>
                  <a:gd name="T35" fmla="*/ 2104 h 2960"/>
                  <a:gd name="T36" fmla="*/ 2592 w 2776"/>
                  <a:gd name="T37" fmla="*/ 1968 h 2960"/>
                  <a:gd name="T38" fmla="*/ 2360 w 2776"/>
                  <a:gd name="T39" fmla="*/ 1824 h 2960"/>
                  <a:gd name="T40" fmla="*/ 2120 w 2776"/>
                  <a:gd name="T41" fmla="*/ 1760 h 2960"/>
                  <a:gd name="T42" fmla="*/ 1992 w 2776"/>
                  <a:gd name="T43" fmla="*/ 1904 h 2960"/>
                  <a:gd name="T44" fmla="*/ 1680 w 2776"/>
                  <a:gd name="T45" fmla="*/ 1880 h 2960"/>
                  <a:gd name="T46" fmla="*/ 1664 w 2776"/>
                  <a:gd name="T47" fmla="*/ 2064 h 2960"/>
                  <a:gd name="T48" fmla="*/ 1432 w 2776"/>
                  <a:gd name="T49" fmla="*/ 1824 h 2960"/>
                  <a:gd name="T50" fmla="*/ 1256 w 2776"/>
                  <a:gd name="T51" fmla="*/ 1696 h 2960"/>
                  <a:gd name="T52" fmla="*/ 1184 w 2776"/>
                  <a:gd name="T53" fmla="*/ 1416 h 2960"/>
                  <a:gd name="T54" fmla="*/ 1488 w 2776"/>
                  <a:gd name="T55" fmla="*/ 1272 h 2960"/>
                  <a:gd name="T56" fmla="*/ 1752 w 2776"/>
                  <a:gd name="T57" fmla="*/ 1000 h 2960"/>
                  <a:gd name="T58" fmla="*/ 2000 w 2776"/>
                  <a:gd name="T59" fmla="*/ 824 h 2960"/>
                  <a:gd name="T60" fmla="*/ 2160 w 2776"/>
                  <a:gd name="T61" fmla="*/ 640 h 2960"/>
                  <a:gd name="T62" fmla="*/ 2336 w 2776"/>
                  <a:gd name="T63" fmla="*/ 640 h 2960"/>
                  <a:gd name="T64" fmla="*/ 2152 w 2776"/>
                  <a:gd name="T65" fmla="*/ 528 h 2960"/>
                  <a:gd name="T66" fmla="*/ 1768 w 2776"/>
                  <a:gd name="T67" fmla="*/ 528 h 2960"/>
                  <a:gd name="T68" fmla="*/ 1784 w 2776"/>
                  <a:gd name="T69" fmla="*/ 248 h 2960"/>
                  <a:gd name="T70" fmla="*/ 1624 w 2776"/>
                  <a:gd name="T71" fmla="*/ 64 h 2960"/>
                  <a:gd name="T72" fmla="*/ 1536 w 2776"/>
                  <a:gd name="T73" fmla="*/ 344 h 2960"/>
                  <a:gd name="T74" fmla="*/ 1192 w 2776"/>
                  <a:gd name="T75" fmla="*/ 336 h 2960"/>
                  <a:gd name="T76" fmla="*/ 1104 w 2776"/>
                  <a:gd name="T77" fmla="*/ 680 h 2960"/>
                  <a:gd name="T78" fmla="*/ 528 w 2776"/>
                  <a:gd name="T79" fmla="*/ 656 h 2960"/>
                  <a:gd name="T80" fmla="*/ 328 w 2776"/>
                  <a:gd name="T81" fmla="*/ 728 h 2960"/>
                  <a:gd name="T82" fmla="*/ 72 w 2776"/>
                  <a:gd name="T83" fmla="*/ 720 h 296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776" h="2960">
                    <a:moveTo>
                      <a:pt x="0" y="832"/>
                    </a:moveTo>
                    <a:lnTo>
                      <a:pt x="72" y="992"/>
                    </a:lnTo>
                    <a:lnTo>
                      <a:pt x="184" y="1088"/>
                    </a:lnTo>
                    <a:lnTo>
                      <a:pt x="336" y="1144"/>
                    </a:lnTo>
                    <a:lnTo>
                      <a:pt x="424" y="1256"/>
                    </a:lnTo>
                    <a:lnTo>
                      <a:pt x="432" y="1360"/>
                    </a:lnTo>
                    <a:lnTo>
                      <a:pt x="464" y="1464"/>
                    </a:lnTo>
                    <a:lnTo>
                      <a:pt x="544" y="1568"/>
                    </a:lnTo>
                    <a:lnTo>
                      <a:pt x="584" y="1816"/>
                    </a:lnTo>
                    <a:lnTo>
                      <a:pt x="520" y="2000"/>
                    </a:lnTo>
                    <a:lnTo>
                      <a:pt x="408" y="2184"/>
                    </a:lnTo>
                    <a:lnTo>
                      <a:pt x="520" y="2288"/>
                    </a:lnTo>
                    <a:lnTo>
                      <a:pt x="560" y="2368"/>
                    </a:lnTo>
                    <a:lnTo>
                      <a:pt x="696" y="2328"/>
                    </a:lnTo>
                    <a:lnTo>
                      <a:pt x="800" y="2312"/>
                    </a:lnTo>
                    <a:lnTo>
                      <a:pt x="808" y="2448"/>
                    </a:lnTo>
                    <a:lnTo>
                      <a:pt x="912" y="2496"/>
                    </a:lnTo>
                    <a:lnTo>
                      <a:pt x="968" y="2640"/>
                    </a:lnTo>
                    <a:lnTo>
                      <a:pt x="1072" y="2776"/>
                    </a:lnTo>
                    <a:lnTo>
                      <a:pt x="1184" y="2808"/>
                    </a:lnTo>
                    <a:lnTo>
                      <a:pt x="1192" y="2656"/>
                    </a:lnTo>
                    <a:lnTo>
                      <a:pt x="1216" y="2504"/>
                    </a:lnTo>
                    <a:lnTo>
                      <a:pt x="1392" y="2544"/>
                    </a:lnTo>
                    <a:lnTo>
                      <a:pt x="1544" y="2576"/>
                    </a:lnTo>
                    <a:lnTo>
                      <a:pt x="1704" y="2648"/>
                    </a:lnTo>
                    <a:lnTo>
                      <a:pt x="1776" y="2728"/>
                    </a:lnTo>
                    <a:lnTo>
                      <a:pt x="1960" y="2712"/>
                    </a:lnTo>
                    <a:lnTo>
                      <a:pt x="2200" y="2824"/>
                    </a:lnTo>
                    <a:lnTo>
                      <a:pt x="2392" y="2960"/>
                    </a:lnTo>
                    <a:lnTo>
                      <a:pt x="2504" y="2904"/>
                    </a:lnTo>
                    <a:lnTo>
                      <a:pt x="2504" y="2776"/>
                    </a:lnTo>
                    <a:lnTo>
                      <a:pt x="2608" y="2680"/>
                    </a:lnTo>
                    <a:lnTo>
                      <a:pt x="2712" y="2560"/>
                    </a:lnTo>
                    <a:lnTo>
                      <a:pt x="2728" y="2368"/>
                    </a:lnTo>
                    <a:lnTo>
                      <a:pt x="2768" y="2256"/>
                    </a:lnTo>
                    <a:lnTo>
                      <a:pt x="2776" y="2104"/>
                    </a:lnTo>
                    <a:lnTo>
                      <a:pt x="2664" y="2040"/>
                    </a:lnTo>
                    <a:lnTo>
                      <a:pt x="2592" y="1968"/>
                    </a:lnTo>
                    <a:lnTo>
                      <a:pt x="2424" y="1936"/>
                    </a:lnTo>
                    <a:lnTo>
                      <a:pt x="2360" y="1824"/>
                    </a:lnTo>
                    <a:lnTo>
                      <a:pt x="2320" y="1632"/>
                    </a:lnTo>
                    <a:lnTo>
                      <a:pt x="2120" y="1760"/>
                    </a:lnTo>
                    <a:lnTo>
                      <a:pt x="2192" y="1888"/>
                    </a:lnTo>
                    <a:lnTo>
                      <a:pt x="1992" y="1904"/>
                    </a:lnTo>
                    <a:lnTo>
                      <a:pt x="1816" y="2024"/>
                    </a:lnTo>
                    <a:lnTo>
                      <a:pt x="1680" y="1880"/>
                    </a:lnTo>
                    <a:lnTo>
                      <a:pt x="1576" y="1936"/>
                    </a:lnTo>
                    <a:lnTo>
                      <a:pt x="1664" y="2064"/>
                    </a:lnTo>
                    <a:lnTo>
                      <a:pt x="1552" y="2048"/>
                    </a:lnTo>
                    <a:lnTo>
                      <a:pt x="1432" y="1824"/>
                    </a:lnTo>
                    <a:lnTo>
                      <a:pt x="1296" y="1920"/>
                    </a:lnTo>
                    <a:lnTo>
                      <a:pt x="1256" y="1696"/>
                    </a:lnTo>
                    <a:lnTo>
                      <a:pt x="1200" y="1544"/>
                    </a:lnTo>
                    <a:lnTo>
                      <a:pt x="1184" y="1416"/>
                    </a:lnTo>
                    <a:lnTo>
                      <a:pt x="1304" y="1272"/>
                    </a:lnTo>
                    <a:lnTo>
                      <a:pt x="1488" y="1272"/>
                    </a:lnTo>
                    <a:lnTo>
                      <a:pt x="1656" y="1192"/>
                    </a:lnTo>
                    <a:lnTo>
                      <a:pt x="1752" y="1000"/>
                    </a:lnTo>
                    <a:lnTo>
                      <a:pt x="1904" y="944"/>
                    </a:lnTo>
                    <a:lnTo>
                      <a:pt x="2000" y="824"/>
                    </a:lnTo>
                    <a:lnTo>
                      <a:pt x="2080" y="728"/>
                    </a:lnTo>
                    <a:lnTo>
                      <a:pt x="2160" y="640"/>
                    </a:lnTo>
                    <a:lnTo>
                      <a:pt x="2272" y="704"/>
                    </a:lnTo>
                    <a:lnTo>
                      <a:pt x="2336" y="640"/>
                    </a:lnTo>
                    <a:lnTo>
                      <a:pt x="2312" y="488"/>
                    </a:lnTo>
                    <a:lnTo>
                      <a:pt x="2152" y="528"/>
                    </a:lnTo>
                    <a:lnTo>
                      <a:pt x="2040" y="472"/>
                    </a:lnTo>
                    <a:lnTo>
                      <a:pt x="1768" y="528"/>
                    </a:lnTo>
                    <a:lnTo>
                      <a:pt x="1688" y="464"/>
                    </a:lnTo>
                    <a:lnTo>
                      <a:pt x="1784" y="248"/>
                    </a:lnTo>
                    <a:lnTo>
                      <a:pt x="1696" y="0"/>
                    </a:lnTo>
                    <a:lnTo>
                      <a:pt x="1624" y="64"/>
                    </a:lnTo>
                    <a:lnTo>
                      <a:pt x="1608" y="200"/>
                    </a:lnTo>
                    <a:lnTo>
                      <a:pt x="1536" y="344"/>
                    </a:lnTo>
                    <a:lnTo>
                      <a:pt x="1432" y="304"/>
                    </a:lnTo>
                    <a:lnTo>
                      <a:pt x="1192" y="336"/>
                    </a:lnTo>
                    <a:lnTo>
                      <a:pt x="1168" y="528"/>
                    </a:lnTo>
                    <a:lnTo>
                      <a:pt x="1104" y="680"/>
                    </a:lnTo>
                    <a:lnTo>
                      <a:pt x="824" y="656"/>
                    </a:lnTo>
                    <a:lnTo>
                      <a:pt x="528" y="656"/>
                    </a:lnTo>
                    <a:lnTo>
                      <a:pt x="544" y="880"/>
                    </a:lnTo>
                    <a:lnTo>
                      <a:pt x="328" y="728"/>
                    </a:lnTo>
                    <a:lnTo>
                      <a:pt x="152" y="624"/>
                    </a:lnTo>
                    <a:lnTo>
                      <a:pt x="72" y="720"/>
                    </a:lnTo>
                    <a:lnTo>
                      <a:pt x="0" y="83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33" name="Freeform 80">
                <a:extLst>
                  <a:ext uri="{FF2B5EF4-FFF2-40B4-BE49-F238E27FC236}">
                    <a16:creationId xmlns:a16="http://schemas.microsoft.com/office/drawing/2014/main" id="{0169E137-6DA8-45CA-9298-B3FB7140835C}"/>
                  </a:ext>
                </a:extLst>
              </p:cNvPr>
              <p:cNvSpPr>
                <a:spLocks/>
              </p:cNvSpPr>
              <p:nvPr/>
            </p:nvSpPr>
            <p:spPr bwMode="auto">
              <a:xfrm>
                <a:off x="7825" y="10782"/>
                <a:ext cx="566" cy="459"/>
              </a:xfrm>
              <a:custGeom>
                <a:avLst/>
                <a:gdLst>
                  <a:gd name="T0" fmla="*/ 0 w 566"/>
                  <a:gd name="T1" fmla="*/ 292 h 459"/>
                  <a:gd name="T2" fmla="*/ 35 w 566"/>
                  <a:gd name="T3" fmla="*/ 189 h 459"/>
                  <a:gd name="T4" fmla="*/ 136 w 566"/>
                  <a:gd name="T5" fmla="*/ 65 h 459"/>
                  <a:gd name="T6" fmla="*/ 278 w 566"/>
                  <a:gd name="T7" fmla="*/ 87 h 459"/>
                  <a:gd name="T8" fmla="*/ 347 w 566"/>
                  <a:gd name="T9" fmla="*/ 0 h 459"/>
                  <a:gd name="T10" fmla="*/ 437 w 566"/>
                  <a:gd name="T11" fmla="*/ 57 h 459"/>
                  <a:gd name="T12" fmla="*/ 485 w 566"/>
                  <a:gd name="T13" fmla="*/ 192 h 459"/>
                  <a:gd name="T14" fmla="*/ 566 w 566"/>
                  <a:gd name="T15" fmla="*/ 192 h 459"/>
                  <a:gd name="T16" fmla="*/ 544 w 566"/>
                  <a:gd name="T17" fmla="*/ 292 h 459"/>
                  <a:gd name="T18" fmla="*/ 437 w 566"/>
                  <a:gd name="T19" fmla="*/ 399 h 459"/>
                  <a:gd name="T20" fmla="*/ 320 w 566"/>
                  <a:gd name="T21" fmla="*/ 441 h 459"/>
                  <a:gd name="T22" fmla="*/ 215 w 566"/>
                  <a:gd name="T23" fmla="*/ 459 h 459"/>
                  <a:gd name="T24" fmla="*/ 149 w 566"/>
                  <a:gd name="T25" fmla="*/ 396 h 459"/>
                  <a:gd name="T26" fmla="*/ 5 w 566"/>
                  <a:gd name="T27" fmla="*/ 375 h 459"/>
                  <a:gd name="T28" fmla="*/ 0 w 566"/>
                  <a:gd name="T29" fmla="*/ 292 h 4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66" h="459">
                    <a:moveTo>
                      <a:pt x="0" y="292"/>
                    </a:moveTo>
                    <a:lnTo>
                      <a:pt x="35" y="189"/>
                    </a:lnTo>
                    <a:lnTo>
                      <a:pt x="136" y="65"/>
                    </a:lnTo>
                    <a:lnTo>
                      <a:pt x="278" y="87"/>
                    </a:lnTo>
                    <a:lnTo>
                      <a:pt x="347" y="0"/>
                    </a:lnTo>
                    <a:lnTo>
                      <a:pt x="437" y="57"/>
                    </a:lnTo>
                    <a:lnTo>
                      <a:pt x="485" y="192"/>
                    </a:lnTo>
                    <a:lnTo>
                      <a:pt x="566" y="192"/>
                    </a:lnTo>
                    <a:lnTo>
                      <a:pt x="544" y="292"/>
                    </a:lnTo>
                    <a:lnTo>
                      <a:pt x="437" y="399"/>
                    </a:lnTo>
                    <a:lnTo>
                      <a:pt x="320" y="441"/>
                    </a:lnTo>
                    <a:lnTo>
                      <a:pt x="215" y="459"/>
                    </a:lnTo>
                    <a:lnTo>
                      <a:pt x="149" y="396"/>
                    </a:lnTo>
                    <a:lnTo>
                      <a:pt x="5" y="375"/>
                    </a:lnTo>
                    <a:lnTo>
                      <a:pt x="0" y="292"/>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grpSp>
          <p:nvGrpSpPr>
            <p:cNvPr id="118" name="Group 117">
              <a:extLst>
                <a:ext uri="{FF2B5EF4-FFF2-40B4-BE49-F238E27FC236}">
                  <a16:creationId xmlns:a16="http://schemas.microsoft.com/office/drawing/2014/main" id="{B8DB60EC-9E9B-4B47-B9BC-C8503ECEDB3B}"/>
                </a:ext>
              </a:extLst>
            </p:cNvPr>
            <p:cNvGrpSpPr>
              <a:grpSpLocks/>
            </p:cNvGrpSpPr>
            <p:nvPr/>
          </p:nvGrpSpPr>
          <p:grpSpPr bwMode="auto">
            <a:xfrm>
              <a:off x="2568791" y="4168400"/>
              <a:ext cx="323861" cy="65088"/>
              <a:chOff x="512" y="2456"/>
              <a:chExt cx="204" cy="41"/>
            </a:xfrm>
            <a:grpFill/>
          </p:grpSpPr>
          <p:sp>
            <p:nvSpPr>
              <p:cNvPr id="128" name="Freeform 77">
                <a:extLst>
                  <a:ext uri="{FF2B5EF4-FFF2-40B4-BE49-F238E27FC236}">
                    <a16:creationId xmlns:a16="http://schemas.microsoft.com/office/drawing/2014/main" id="{25D4A197-9B5B-4AF7-903F-19162870F2DE}"/>
                  </a:ext>
                </a:extLst>
              </p:cNvPr>
              <p:cNvSpPr>
                <a:spLocks/>
              </p:cNvSpPr>
              <p:nvPr/>
            </p:nvSpPr>
            <p:spPr bwMode="auto">
              <a:xfrm>
                <a:off x="707" y="2485"/>
                <a:ext cx="9" cy="12"/>
              </a:xfrm>
              <a:custGeom>
                <a:avLst/>
                <a:gdLst>
                  <a:gd name="T0" fmla="*/ 0 w 740"/>
                  <a:gd name="T1" fmla="*/ 1 h 922"/>
                  <a:gd name="T2" fmla="*/ 0 w 740"/>
                  <a:gd name="T3" fmla="*/ 1 h 922"/>
                  <a:gd name="T4" fmla="*/ 0 w 740"/>
                  <a:gd name="T5" fmla="*/ 1 h 922"/>
                  <a:gd name="T6" fmla="*/ 0 w 740"/>
                  <a:gd name="T7" fmla="*/ 1 h 922"/>
                  <a:gd name="T8" fmla="*/ 0 w 740"/>
                  <a:gd name="T9" fmla="*/ 1 h 922"/>
                  <a:gd name="T10" fmla="*/ 0 w 740"/>
                  <a:gd name="T11" fmla="*/ 1 h 922"/>
                  <a:gd name="T12" fmla="*/ 0 w 740"/>
                  <a:gd name="T13" fmla="*/ 1 h 922"/>
                  <a:gd name="T14" fmla="*/ 0 w 740"/>
                  <a:gd name="T15" fmla="*/ 1 h 922"/>
                  <a:gd name="T16" fmla="*/ 0 w 740"/>
                  <a:gd name="T17" fmla="*/ 1 h 922"/>
                  <a:gd name="T18" fmla="*/ 0 w 740"/>
                  <a:gd name="T19" fmla="*/ 1 h 922"/>
                  <a:gd name="T20" fmla="*/ 0 w 740"/>
                  <a:gd name="T21" fmla="*/ 1 h 922"/>
                  <a:gd name="T22" fmla="*/ 0 w 740"/>
                  <a:gd name="T23" fmla="*/ 1 h 922"/>
                  <a:gd name="T24" fmla="*/ 0 w 740"/>
                  <a:gd name="T25" fmla="*/ 0 h 922"/>
                  <a:gd name="T26" fmla="*/ 0 w 740"/>
                  <a:gd name="T27" fmla="*/ 0 h 922"/>
                  <a:gd name="T28" fmla="*/ 1 w 740"/>
                  <a:gd name="T29" fmla="*/ 0 h 922"/>
                  <a:gd name="T30" fmla="*/ 1 w 740"/>
                  <a:gd name="T31" fmla="*/ 0 h 922"/>
                  <a:gd name="T32" fmla="*/ 1 w 740"/>
                  <a:gd name="T33" fmla="*/ 0 h 922"/>
                  <a:gd name="T34" fmla="*/ 0 w 740"/>
                  <a:gd name="T35" fmla="*/ 0 h 922"/>
                  <a:gd name="T36" fmla="*/ 0 w 740"/>
                  <a:gd name="T37" fmla="*/ 0 h 922"/>
                  <a:gd name="T38" fmla="*/ 0 w 740"/>
                  <a:gd name="T39" fmla="*/ 0 h 922"/>
                  <a:gd name="T40" fmla="*/ 0 w 740"/>
                  <a:gd name="T41" fmla="*/ 0 h 922"/>
                  <a:gd name="T42" fmla="*/ 0 w 740"/>
                  <a:gd name="T43" fmla="*/ 0 h 922"/>
                  <a:gd name="T44" fmla="*/ 0 w 740"/>
                  <a:gd name="T45" fmla="*/ 0 h 922"/>
                  <a:gd name="T46" fmla="*/ 0 w 740"/>
                  <a:gd name="T47" fmla="*/ 0 h 922"/>
                  <a:gd name="T48" fmla="*/ 0 w 740"/>
                  <a:gd name="T49" fmla="*/ 0 h 922"/>
                  <a:gd name="T50" fmla="*/ 0 w 740"/>
                  <a:gd name="T51" fmla="*/ 0 h 922"/>
                  <a:gd name="T52" fmla="*/ 0 w 740"/>
                  <a:gd name="T53" fmla="*/ 0 h 922"/>
                  <a:gd name="T54" fmla="*/ 0 w 740"/>
                  <a:gd name="T55" fmla="*/ 0 h 922"/>
                  <a:gd name="T56" fmla="*/ 0 w 740"/>
                  <a:gd name="T57" fmla="*/ 0 h 922"/>
                  <a:gd name="T58" fmla="*/ 0 w 740"/>
                  <a:gd name="T59" fmla="*/ 0 h 922"/>
                  <a:gd name="T60" fmla="*/ 0 w 740"/>
                  <a:gd name="T61" fmla="*/ 0 h 922"/>
                  <a:gd name="T62" fmla="*/ 0 w 740"/>
                  <a:gd name="T63" fmla="*/ 0 h 922"/>
                  <a:gd name="T64" fmla="*/ 0 w 740"/>
                  <a:gd name="T65" fmla="*/ 0 h 922"/>
                  <a:gd name="T66" fmla="*/ 0 w 740"/>
                  <a:gd name="T67" fmla="*/ 0 h 922"/>
                  <a:gd name="T68" fmla="*/ 0 w 740"/>
                  <a:gd name="T69" fmla="*/ 0 h 922"/>
                  <a:gd name="T70" fmla="*/ 0 w 740"/>
                  <a:gd name="T71" fmla="*/ 0 h 922"/>
                  <a:gd name="T72" fmla="*/ 0 w 740"/>
                  <a:gd name="T73" fmla="*/ 0 h 922"/>
                  <a:gd name="T74" fmla="*/ 0 w 740"/>
                  <a:gd name="T75" fmla="*/ 0 h 922"/>
                  <a:gd name="T76" fmla="*/ 0 w 740"/>
                  <a:gd name="T77" fmla="*/ 1 h 922"/>
                  <a:gd name="T78" fmla="*/ 0 w 740"/>
                  <a:gd name="T79" fmla="*/ 1 h 922"/>
                  <a:gd name="T80" fmla="*/ 0 w 740"/>
                  <a:gd name="T81" fmla="*/ 1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40" h="922">
                    <a:moveTo>
                      <a:pt x="0" y="888"/>
                    </a:moveTo>
                    <a:lnTo>
                      <a:pt x="53" y="922"/>
                    </a:lnTo>
                    <a:lnTo>
                      <a:pt x="144" y="860"/>
                    </a:lnTo>
                    <a:lnTo>
                      <a:pt x="250" y="869"/>
                    </a:lnTo>
                    <a:lnTo>
                      <a:pt x="293" y="903"/>
                    </a:lnTo>
                    <a:lnTo>
                      <a:pt x="399" y="879"/>
                    </a:lnTo>
                    <a:lnTo>
                      <a:pt x="528" y="884"/>
                    </a:lnTo>
                    <a:lnTo>
                      <a:pt x="620" y="840"/>
                    </a:lnTo>
                    <a:lnTo>
                      <a:pt x="658" y="778"/>
                    </a:lnTo>
                    <a:lnTo>
                      <a:pt x="634" y="754"/>
                    </a:lnTo>
                    <a:lnTo>
                      <a:pt x="562" y="720"/>
                    </a:lnTo>
                    <a:lnTo>
                      <a:pt x="572" y="644"/>
                    </a:lnTo>
                    <a:lnTo>
                      <a:pt x="596" y="576"/>
                    </a:lnTo>
                    <a:lnTo>
                      <a:pt x="653" y="572"/>
                    </a:lnTo>
                    <a:lnTo>
                      <a:pt x="711" y="562"/>
                    </a:lnTo>
                    <a:lnTo>
                      <a:pt x="740" y="485"/>
                    </a:lnTo>
                    <a:lnTo>
                      <a:pt x="696" y="437"/>
                    </a:lnTo>
                    <a:lnTo>
                      <a:pt x="648" y="389"/>
                    </a:lnTo>
                    <a:lnTo>
                      <a:pt x="586" y="356"/>
                    </a:lnTo>
                    <a:lnTo>
                      <a:pt x="528" y="375"/>
                    </a:lnTo>
                    <a:lnTo>
                      <a:pt x="442" y="404"/>
                    </a:lnTo>
                    <a:lnTo>
                      <a:pt x="389" y="375"/>
                    </a:lnTo>
                    <a:lnTo>
                      <a:pt x="404" y="303"/>
                    </a:lnTo>
                    <a:lnTo>
                      <a:pt x="428" y="245"/>
                    </a:lnTo>
                    <a:lnTo>
                      <a:pt x="471" y="216"/>
                    </a:lnTo>
                    <a:lnTo>
                      <a:pt x="514" y="231"/>
                    </a:lnTo>
                    <a:lnTo>
                      <a:pt x="586" y="188"/>
                    </a:lnTo>
                    <a:lnTo>
                      <a:pt x="562" y="120"/>
                    </a:lnTo>
                    <a:lnTo>
                      <a:pt x="562" y="48"/>
                    </a:lnTo>
                    <a:lnTo>
                      <a:pt x="500" y="39"/>
                    </a:lnTo>
                    <a:lnTo>
                      <a:pt x="432" y="34"/>
                    </a:lnTo>
                    <a:lnTo>
                      <a:pt x="360" y="15"/>
                    </a:lnTo>
                    <a:lnTo>
                      <a:pt x="293" y="0"/>
                    </a:lnTo>
                    <a:lnTo>
                      <a:pt x="173" y="87"/>
                    </a:lnTo>
                    <a:lnTo>
                      <a:pt x="96" y="197"/>
                    </a:lnTo>
                    <a:lnTo>
                      <a:pt x="68" y="303"/>
                    </a:lnTo>
                    <a:lnTo>
                      <a:pt x="58" y="432"/>
                    </a:lnTo>
                    <a:lnTo>
                      <a:pt x="63" y="533"/>
                    </a:lnTo>
                    <a:lnTo>
                      <a:pt x="63" y="692"/>
                    </a:lnTo>
                    <a:lnTo>
                      <a:pt x="20" y="807"/>
                    </a:lnTo>
                    <a:lnTo>
                      <a:pt x="0" y="888"/>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nvGrpSpPr>
              <p:cNvPr id="129" name="Group 128">
                <a:extLst>
                  <a:ext uri="{FF2B5EF4-FFF2-40B4-BE49-F238E27FC236}">
                    <a16:creationId xmlns:a16="http://schemas.microsoft.com/office/drawing/2014/main" id="{1799501D-4A67-46C9-A879-6098895077A8}"/>
                  </a:ext>
                </a:extLst>
              </p:cNvPr>
              <p:cNvGrpSpPr>
                <a:grpSpLocks/>
              </p:cNvGrpSpPr>
              <p:nvPr/>
            </p:nvGrpSpPr>
            <p:grpSpPr bwMode="auto">
              <a:xfrm>
                <a:off x="512" y="2456"/>
                <a:ext cx="12" cy="4"/>
                <a:chOff x="2478" y="4937"/>
                <a:chExt cx="10011" cy="3255"/>
              </a:xfrm>
              <a:grpFill/>
            </p:grpSpPr>
            <p:sp>
              <p:nvSpPr>
                <p:cNvPr id="130" name="Freeform 316">
                  <a:extLst>
                    <a:ext uri="{FF2B5EF4-FFF2-40B4-BE49-F238E27FC236}">
                      <a16:creationId xmlns:a16="http://schemas.microsoft.com/office/drawing/2014/main" id="{90D167F2-8E04-4BC9-836D-DA9870467253}"/>
                    </a:ext>
                  </a:extLst>
                </p:cNvPr>
                <p:cNvSpPr>
                  <a:spLocks/>
                </p:cNvSpPr>
                <p:nvPr/>
              </p:nvSpPr>
              <p:spPr bwMode="auto">
                <a:xfrm>
                  <a:off x="2478" y="5266"/>
                  <a:ext cx="9335" cy="2926"/>
                </a:xfrm>
                <a:custGeom>
                  <a:avLst/>
                  <a:gdLst>
                    <a:gd name="T0" fmla="*/ 2898 w 9335"/>
                    <a:gd name="T1" fmla="*/ 430 h 2926"/>
                    <a:gd name="T2" fmla="*/ 2285 w 9335"/>
                    <a:gd name="T3" fmla="*/ 503 h 2926"/>
                    <a:gd name="T4" fmla="*/ 1856 w 9335"/>
                    <a:gd name="T5" fmla="*/ 430 h 2926"/>
                    <a:gd name="T6" fmla="*/ 1408 w 9335"/>
                    <a:gd name="T7" fmla="*/ 476 h 2926"/>
                    <a:gd name="T8" fmla="*/ 914 w 9335"/>
                    <a:gd name="T9" fmla="*/ 741 h 2926"/>
                    <a:gd name="T10" fmla="*/ 1499 w 9335"/>
                    <a:gd name="T11" fmla="*/ 905 h 2926"/>
                    <a:gd name="T12" fmla="*/ 2112 w 9335"/>
                    <a:gd name="T13" fmla="*/ 942 h 2926"/>
                    <a:gd name="T14" fmla="*/ 2167 w 9335"/>
                    <a:gd name="T15" fmla="*/ 1006 h 2926"/>
                    <a:gd name="T16" fmla="*/ 1545 w 9335"/>
                    <a:gd name="T17" fmla="*/ 1006 h 2926"/>
                    <a:gd name="T18" fmla="*/ 951 w 9335"/>
                    <a:gd name="T19" fmla="*/ 933 h 2926"/>
                    <a:gd name="T20" fmla="*/ 457 w 9335"/>
                    <a:gd name="T21" fmla="*/ 1198 h 2926"/>
                    <a:gd name="T22" fmla="*/ 146 w 9335"/>
                    <a:gd name="T23" fmla="*/ 1417 h 2926"/>
                    <a:gd name="T24" fmla="*/ 36 w 9335"/>
                    <a:gd name="T25" fmla="*/ 1820 h 2926"/>
                    <a:gd name="T26" fmla="*/ 347 w 9335"/>
                    <a:gd name="T27" fmla="*/ 2094 h 2926"/>
                    <a:gd name="T28" fmla="*/ 1115 w 9335"/>
                    <a:gd name="T29" fmla="*/ 2140 h 2926"/>
                    <a:gd name="T30" fmla="*/ 1719 w 9335"/>
                    <a:gd name="T31" fmla="*/ 2396 h 2926"/>
                    <a:gd name="T32" fmla="*/ 1842 w 9335"/>
                    <a:gd name="T33" fmla="*/ 2780 h 2926"/>
                    <a:gd name="T34" fmla="*/ 2295 w 9335"/>
                    <a:gd name="T35" fmla="*/ 2917 h 2926"/>
                    <a:gd name="T36" fmla="*/ 2807 w 9335"/>
                    <a:gd name="T37" fmla="*/ 2771 h 2926"/>
                    <a:gd name="T38" fmla="*/ 3154 w 9335"/>
                    <a:gd name="T39" fmla="*/ 2743 h 2926"/>
                    <a:gd name="T40" fmla="*/ 3264 w 9335"/>
                    <a:gd name="T41" fmla="*/ 2277 h 2926"/>
                    <a:gd name="T42" fmla="*/ 4087 w 9335"/>
                    <a:gd name="T43" fmla="*/ 1929 h 2926"/>
                    <a:gd name="T44" fmla="*/ 4827 w 9335"/>
                    <a:gd name="T45" fmla="*/ 2131 h 2926"/>
                    <a:gd name="T46" fmla="*/ 5431 w 9335"/>
                    <a:gd name="T47" fmla="*/ 2451 h 2926"/>
                    <a:gd name="T48" fmla="*/ 5915 w 9335"/>
                    <a:gd name="T49" fmla="*/ 2588 h 2926"/>
                    <a:gd name="T50" fmla="*/ 6482 w 9335"/>
                    <a:gd name="T51" fmla="*/ 2359 h 2926"/>
                    <a:gd name="T52" fmla="*/ 7122 w 9335"/>
                    <a:gd name="T53" fmla="*/ 2323 h 2926"/>
                    <a:gd name="T54" fmla="*/ 7607 w 9335"/>
                    <a:gd name="T55" fmla="*/ 2524 h 2926"/>
                    <a:gd name="T56" fmla="*/ 7908 w 9335"/>
                    <a:gd name="T57" fmla="*/ 2414 h 2926"/>
                    <a:gd name="T58" fmla="*/ 8475 w 9335"/>
                    <a:gd name="T59" fmla="*/ 2121 h 2926"/>
                    <a:gd name="T60" fmla="*/ 9024 w 9335"/>
                    <a:gd name="T61" fmla="*/ 2103 h 2926"/>
                    <a:gd name="T62" fmla="*/ 9261 w 9335"/>
                    <a:gd name="T63" fmla="*/ 1765 h 2926"/>
                    <a:gd name="T64" fmla="*/ 9051 w 9335"/>
                    <a:gd name="T65" fmla="*/ 1701 h 2926"/>
                    <a:gd name="T66" fmla="*/ 8512 w 9335"/>
                    <a:gd name="T67" fmla="*/ 1408 h 2926"/>
                    <a:gd name="T68" fmla="*/ 8055 w 9335"/>
                    <a:gd name="T69" fmla="*/ 1646 h 2926"/>
                    <a:gd name="T70" fmla="*/ 7625 w 9335"/>
                    <a:gd name="T71" fmla="*/ 1655 h 2926"/>
                    <a:gd name="T72" fmla="*/ 7963 w 9335"/>
                    <a:gd name="T73" fmla="*/ 1381 h 2926"/>
                    <a:gd name="T74" fmla="*/ 7332 w 9335"/>
                    <a:gd name="T75" fmla="*/ 1390 h 2926"/>
                    <a:gd name="T76" fmla="*/ 6509 w 9335"/>
                    <a:gd name="T77" fmla="*/ 1509 h 2926"/>
                    <a:gd name="T78" fmla="*/ 6071 w 9335"/>
                    <a:gd name="T79" fmla="*/ 1244 h 2926"/>
                    <a:gd name="T80" fmla="*/ 5805 w 9335"/>
                    <a:gd name="T81" fmla="*/ 1619 h 2926"/>
                    <a:gd name="T82" fmla="*/ 5001 w 9335"/>
                    <a:gd name="T83" fmla="*/ 1390 h 2926"/>
                    <a:gd name="T84" fmla="*/ 4772 w 9335"/>
                    <a:gd name="T85" fmla="*/ 933 h 2926"/>
                    <a:gd name="T86" fmla="*/ 4681 w 9335"/>
                    <a:gd name="T87" fmla="*/ 576 h 2926"/>
                    <a:gd name="T88" fmla="*/ 4160 w 9335"/>
                    <a:gd name="T89" fmla="*/ 686 h 2926"/>
                    <a:gd name="T90" fmla="*/ 4297 w 9335"/>
                    <a:gd name="T91" fmla="*/ 64 h 2926"/>
                    <a:gd name="T92" fmla="*/ 3712 w 9335"/>
                    <a:gd name="T93" fmla="*/ 55 h 2926"/>
                    <a:gd name="T94" fmla="*/ 3291 w 9335"/>
                    <a:gd name="T95" fmla="*/ 101 h 292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9335" h="2926">
                      <a:moveTo>
                        <a:pt x="3191" y="101"/>
                      </a:moveTo>
                      <a:lnTo>
                        <a:pt x="3044" y="201"/>
                      </a:lnTo>
                      <a:lnTo>
                        <a:pt x="2989" y="320"/>
                      </a:lnTo>
                      <a:lnTo>
                        <a:pt x="2898" y="430"/>
                      </a:lnTo>
                      <a:lnTo>
                        <a:pt x="2788" y="457"/>
                      </a:lnTo>
                      <a:lnTo>
                        <a:pt x="2615" y="540"/>
                      </a:lnTo>
                      <a:lnTo>
                        <a:pt x="2459" y="549"/>
                      </a:lnTo>
                      <a:lnTo>
                        <a:pt x="2285" y="503"/>
                      </a:lnTo>
                      <a:lnTo>
                        <a:pt x="2194" y="467"/>
                      </a:lnTo>
                      <a:lnTo>
                        <a:pt x="2057" y="503"/>
                      </a:lnTo>
                      <a:lnTo>
                        <a:pt x="1892" y="503"/>
                      </a:lnTo>
                      <a:lnTo>
                        <a:pt x="1856" y="430"/>
                      </a:lnTo>
                      <a:lnTo>
                        <a:pt x="1883" y="366"/>
                      </a:lnTo>
                      <a:lnTo>
                        <a:pt x="1773" y="357"/>
                      </a:lnTo>
                      <a:lnTo>
                        <a:pt x="1563" y="412"/>
                      </a:lnTo>
                      <a:lnTo>
                        <a:pt x="1408" y="476"/>
                      </a:lnTo>
                      <a:lnTo>
                        <a:pt x="1216" y="521"/>
                      </a:lnTo>
                      <a:lnTo>
                        <a:pt x="1051" y="595"/>
                      </a:lnTo>
                      <a:lnTo>
                        <a:pt x="896" y="677"/>
                      </a:lnTo>
                      <a:lnTo>
                        <a:pt x="914" y="741"/>
                      </a:lnTo>
                      <a:lnTo>
                        <a:pt x="1079" y="750"/>
                      </a:lnTo>
                      <a:lnTo>
                        <a:pt x="1234" y="759"/>
                      </a:lnTo>
                      <a:lnTo>
                        <a:pt x="1380" y="823"/>
                      </a:lnTo>
                      <a:lnTo>
                        <a:pt x="1499" y="905"/>
                      </a:lnTo>
                      <a:lnTo>
                        <a:pt x="1618" y="960"/>
                      </a:lnTo>
                      <a:lnTo>
                        <a:pt x="1792" y="942"/>
                      </a:lnTo>
                      <a:lnTo>
                        <a:pt x="1947" y="951"/>
                      </a:lnTo>
                      <a:lnTo>
                        <a:pt x="2112" y="942"/>
                      </a:lnTo>
                      <a:lnTo>
                        <a:pt x="2258" y="951"/>
                      </a:lnTo>
                      <a:lnTo>
                        <a:pt x="2340" y="1052"/>
                      </a:lnTo>
                      <a:lnTo>
                        <a:pt x="2304" y="1116"/>
                      </a:lnTo>
                      <a:lnTo>
                        <a:pt x="2167" y="1006"/>
                      </a:lnTo>
                      <a:lnTo>
                        <a:pt x="1975" y="1088"/>
                      </a:lnTo>
                      <a:lnTo>
                        <a:pt x="1810" y="1143"/>
                      </a:lnTo>
                      <a:lnTo>
                        <a:pt x="1691" y="1061"/>
                      </a:lnTo>
                      <a:lnTo>
                        <a:pt x="1545" y="1006"/>
                      </a:lnTo>
                      <a:lnTo>
                        <a:pt x="1417" y="942"/>
                      </a:lnTo>
                      <a:lnTo>
                        <a:pt x="1271" y="969"/>
                      </a:lnTo>
                      <a:lnTo>
                        <a:pt x="1097" y="969"/>
                      </a:lnTo>
                      <a:lnTo>
                        <a:pt x="951" y="933"/>
                      </a:lnTo>
                      <a:lnTo>
                        <a:pt x="777" y="933"/>
                      </a:lnTo>
                      <a:lnTo>
                        <a:pt x="658" y="1006"/>
                      </a:lnTo>
                      <a:lnTo>
                        <a:pt x="548" y="1079"/>
                      </a:lnTo>
                      <a:lnTo>
                        <a:pt x="457" y="1198"/>
                      </a:lnTo>
                      <a:lnTo>
                        <a:pt x="484" y="1317"/>
                      </a:lnTo>
                      <a:lnTo>
                        <a:pt x="365" y="1363"/>
                      </a:lnTo>
                      <a:lnTo>
                        <a:pt x="265" y="1317"/>
                      </a:lnTo>
                      <a:lnTo>
                        <a:pt x="146" y="1417"/>
                      </a:lnTo>
                      <a:lnTo>
                        <a:pt x="55" y="1372"/>
                      </a:lnTo>
                      <a:lnTo>
                        <a:pt x="36" y="1509"/>
                      </a:lnTo>
                      <a:lnTo>
                        <a:pt x="55" y="1655"/>
                      </a:lnTo>
                      <a:lnTo>
                        <a:pt x="36" y="1820"/>
                      </a:lnTo>
                      <a:lnTo>
                        <a:pt x="0" y="1975"/>
                      </a:lnTo>
                      <a:lnTo>
                        <a:pt x="73" y="2094"/>
                      </a:lnTo>
                      <a:lnTo>
                        <a:pt x="137" y="2158"/>
                      </a:lnTo>
                      <a:lnTo>
                        <a:pt x="347" y="2094"/>
                      </a:lnTo>
                      <a:lnTo>
                        <a:pt x="484" y="2131"/>
                      </a:lnTo>
                      <a:lnTo>
                        <a:pt x="576" y="2149"/>
                      </a:lnTo>
                      <a:lnTo>
                        <a:pt x="823" y="2149"/>
                      </a:lnTo>
                      <a:lnTo>
                        <a:pt x="1115" y="2140"/>
                      </a:lnTo>
                      <a:lnTo>
                        <a:pt x="1280" y="2185"/>
                      </a:lnTo>
                      <a:lnTo>
                        <a:pt x="1499" y="2249"/>
                      </a:lnTo>
                      <a:lnTo>
                        <a:pt x="1627" y="2304"/>
                      </a:lnTo>
                      <a:lnTo>
                        <a:pt x="1719" y="2396"/>
                      </a:lnTo>
                      <a:lnTo>
                        <a:pt x="1819" y="2487"/>
                      </a:lnTo>
                      <a:lnTo>
                        <a:pt x="1920" y="2542"/>
                      </a:lnTo>
                      <a:lnTo>
                        <a:pt x="1932" y="2654"/>
                      </a:lnTo>
                      <a:lnTo>
                        <a:pt x="1842" y="2780"/>
                      </a:lnTo>
                      <a:lnTo>
                        <a:pt x="1819" y="2908"/>
                      </a:lnTo>
                      <a:lnTo>
                        <a:pt x="1965" y="2926"/>
                      </a:lnTo>
                      <a:lnTo>
                        <a:pt x="2185" y="2899"/>
                      </a:lnTo>
                      <a:lnTo>
                        <a:pt x="2295" y="2917"/>
                      </a:lnTo>
                      <a:lnTo>
                        <a:pt x="2432" y="2899"/>
                      </a:lnTo>
                      <a:lnTo>
                        <a:pt x="2605" y="2862"/>
                      </a:lnTo>
                      <a:lnTo>
                        <a:pt x="2715" y="2871"/>
                      </a:lnTo>
                      <a:lnTo>
                        <a:pt x="2807" y="2771"/>
                      </a:lnTo>
                      <a:lnTo>
                        <a:pt x="2871" y="2798"/>
                      </a:lnTo>
                      <a:lnTo>
                        <a:pt x="2889" y="2899"/>
                      </a:lnTo>
                      <a:lnTo>
                        <a:pt x="2999" y="2862"/>
                      </a:lnTo>
                      <a:lnTo>
                        <a:pt x="3154" y="2743"/>
                      </a:lnTo>
                      <a:lnTo>
                        <a:pt x="3191" y="2643"/>
                      </a:lnTo>
                      <a:lnTo>
                        <a:pt x="3154" y="2551"/>
                      </a:lnTo>
                      <a:lnTo>
                        <a:pt x="3136" y="2451"/>
                      </a:lnTo>
                      <a:lnTo>
                        <a:pt x="3264" y="2277"/>
                      </a:lnTo>
                      <a:lnTo>
                        <a:pt x="3447" y="2140"/>
                      </a:lnTo>
                      <a:lnTo>
                        <a:pt x="3666" y="2057"/>
                      </a:lnTo>
                      <a:lnTo>
                        <a:pt x="3867" y="1966"/>
                      </a:lnTo>
                      <a:lnTo>
                        <a:pt x="4087" y="1929"/>
                      </a:lnTo>
                      <a:lnTo>
                        <a:pt x="4434" y="1966"/>
                      </a:lnTo>
                      <a:lnTo>
                        <a:pt x="4626" y="1966"/>
                      </a:lnTo>
                      <a:lnTo>
                        <a:pt x="4736" y="2048"/>
                      </a:lnTo>
                      <a:lnTo>
                        <a:pt x="4827" y="2131"/>
                      </a:lnTo>
                      <a:lnTo>
                        <a:pt x="4882" y="2268"/>
                      </a:lnTo>
                      <a:lnTo>
                        <a:pt x="5165" y="2350"/>
                      </a:lnTo>
                      <a:lnTo>
                        <a:pt x="5229" y="2441"/>
                      </a:lnTo>
                      <a:lnTo>
                        <a:pt x="5431" y="2451"/>
                      </a:lnTo>
                      <a:lnTo>
                        <a:pt x="5613" y="2478"/>
                      </a:lnTo>
                      <a:lnTo>
                        <a:pt x="5732" y="2460"/>
                      </a:lnTo>
                      <a:lnTo>
                        <a:pt x="5851" y="2487"/>
                      </a:lnTo>
                      <a:lnTo>
                        <a:pt x="5915" y="2588"/>
                      </a:lnTo>
                      <a:lnTo>
                        <a:pt x="6098" y="2588"/>
                      </a:lnTo>
                      <a:lnTo>
                        <a:pt x="6189" y="2551"/>
                      </a:lnTo>
                      <a:lnTo>
                        <a:pt x="6226" y="2496"/>
                      </a:lnTo>
                      <a:lnTo>
                        <a:pt x="6482" y="2359"/>
                      </a:lnTo>
                      <a:lnTo>
                        <a:pt x="6656" y="2377"/>
                      </a:lnTo>
                      <a:lnTo>
                        <a:pt x="6775" y="2460"/>
                      </a:lnTo>
                      <a:lnTo>
                        <a:pt x="6976" y="2377"/>
                      </a:lnTo>
                      <a:lnTo>
                        <a:pt x="7122" y="2323"/>
                      </a:lnTo>
                      <a:lnTo>
                        <a:pt x="7241" y="2359"/>
                      </a:lnTo>
                      <a:lnTo>
                        <a:pt x="7351" y="2524"/>
                      </a:lnTo>
                      <a:lnTo>
                        <a:pt x="7515" y="2533"/>
                      </a:lnTo>
                      <a:lnTo>
                        <a:pt x="7607" y="2524"/>
                      </a:lnTo>
                      <a:lnTo>
                        <a:pt x="7707" y="2624"/>
                      </a:lnTo>
                      <a:lnTo>
                        <a:pt x="7725" y="2707"/>
                      </a:lnTo>
                      <a:lnTo>
                        <a:pt x="7826" y="2569"/>
                      </a:lnTo>
                      <a:lnTo>
                        <a:pt x="7908" y="2414"/>
                      </a:lnTo>
                      <a:lnTo>
                        <a:pt x="8055" y="2387"/>
                      </a:lnTo>
                      <a:lnTo>
                        <a:pt x="8283" y="2341"/>
                      </a:lnTo>
                      <a:lnTo>
                        <a:pt x="8356" y="2240"/>
                      </a:lnTo>
                      <a:lnTo>
                        <a:pt x="8475" y="2121"/>
                      </a:lnTo>
                      <a:lnTo>
                        <a:pt x="8621" y="2140"/>
                      </a:lnTo>
                      <a:lnTo>
                        <a:pt x="8704" y="2204"/>
                      </a:lnTo>
                      <a:lnTo>
                        <a:pt x="8850" y="2140"/>
                      </a:lnTo>
                      <a:lnTo>
                        <a:pt x="9024" y="2103"/>
                      </a:lnTo>
                      <a:lnTo>
                        <a:pt x="9069" y="1966"/>
                      </a:lnTo>
                      <a:lnTo>
                        <a:pt x="9170" y="1939"/>
                      </a:lnTo>
                      <a:lnTo>
                        <a:pt x="9225" y="1884"/>
                      </a:lnTo>
                      <a:lnTo>
                        <a:pt x="9261" y="1765"/>
                      </a:lnTo>
                      <a:lnTo>
                        <a:pt x="9335" y="1701"/>
                      </a:lnTo>
                      <a:lnTo>
                        <a:pt x="9225" y="1628"/>
                      </a:lnTo>
                      <a:lnTo>
                        <a:pt x="9188" y="1710"/>
                      </a:lnTo>
                      <a:lnTo>
                        <a:pt x="9051" y="1701"/>
                      </a:lnTo>
                      <a:lnTo>
                        <a:pt x="8914" y="1573"/>
                      </a:lnTo>
                      <a:lnTo>
                        <a:pt x="8786" y="1472"/>
                      </a:lnTo>
                      <a:lnTo>
                        <a:pt x="8631" y="1417"/>
                      </a:lnTo>
                      <a:lnTo>
                        <a:pt x="8512" y="1408"/>
                      </a:lnTo>
                      <a:lnTo>
                        <a:pt x="8338" y="1344"/>
                      </a:lnTo>
                      <a:lnTo>
                        <a:pt x="8164" y="1299"/>
                      </a:lnTo>
                      <a:lnTo>
                        <a:pt x="8100" y="1472"/>
                      </a:lnTo>
                      <a:lnTo>
                        <a:pt x="8055" y="1646"/>
                      </a:lnTo>
                      <a:lnTo>
                        <a:pt x="7936" y="1756"/>
                      </a:lnTo>
                      <a:lnTo>
                        <a:pt x="7716" y="1801"/>
                      </a:lnTo>
                      <a:lnTo>
                        <a:pt x="7607" y="1747"/>
                      </a:lnTo>
                      <a:lnTo>
                        <a:pt x="7625" y="1655"/>
                      </a:lnTo>
                      <a:lnTo>
                        <a:pt x="7771" y="1591"/>
                      </a:lnTo>
                      <a:lnTo>
                        <a:pt x="7771" y="1527"/>
                      </a:lnTo>
                      <a:lnTo>
                        <a:pt x="7945" y="1518"/>
                      </a:lnTo>
                      <a:lnTo>
                        <a:pt x="7963" y="1381"/>
                      </a:lnTo>
                      <a:lnTo>
                        <a:pt x="7908" y="1244"/>
                      </a:lnTo>
                      <a:lnTo>
                        <a:pt x="7789" y="1235"/>
                      </a:lnTo>
                      <a:lnTo>
                        <a:pt x="7671" y="1308"/>
                      </a:lnTo>
                      <a:lnTo>
                        <a:pt x="7332" y="1390"/>
                      </a:lnTo>
                      <a:lnTo>
                        <a:pt x="7159" y="1436"/>
                      </a:lnTo>
                      <a:lnTo>
                        <a:pt x="6921" y="1527"/>
                      </a:lnTo>
                      <a:lnTo>
                        <a:pt x="6747" y="1491"/>
                      </a:lnTo>
                      <a:lnTo>
                        <a:pt x="6509" y="1509"/>
                      </a:lnTo>
                      <a:lnTo>
                        <a:pt x="6299" y="1527"/>
                      </a:lnTo>
                      <a:lnTo>
                        <a:pt x="6208" y="1445"/>
                      </a:lnTo>
                      <a:lnTo>
                        <a:pt x="6125" y="1363"/>
                      </a:lnTo>
                      <a:lnTo>
                        <a:pt x="6071" y="1244"/>
                      </a:lnTo>
                      <a:lnTo>
                        <a:pt x="5924" y="1216"/>
                      </a:lnTo>
                      <a:lnTo>
                        <a:pt x="5833" y="1353"/>
                      </a:lnTo>
                      <a:lnTo>
                        <a:pt x="5824" y="1463"/>
                      </a:lnTo>
                      <a:lnTo>
                        <a:pt x="5805" y="1619"/>
                      </a:lnTo>
                      <a:lnTo>
                        <a:pt x="5650" y="1637"/>
                      </a:lnTo>
                      <a:lnTo>
                        <a:pt x="5440" y="1555"/>
                      </a:lnTo>
                      <a:lnTo>
                        <a:pt x="5165" y="1454"/>
                      </a:lnTo>
                      <a:lnTo>
                        <a:pt x="5001" y="1390"/>
                      </a:lnTo>
                      <a:lnTo>
                        <a:pt x="4845" y="1289"/>
                      </a:lnTo>
                      <a:lnTo>
                        <a:pt x="4727" y="1180"/>
                      </a:lnTo>
                      <a:lnTo>
                        <a:pt x="4699" y="1024"/>
                      </a:lnTo>
                      <a:lnTo>
                        <a:pt x="4772" y="933"/>
                      </a:lnTo>
                      <a:lnTo>
                        <a:pt x="4891" y="823"/>
                      </a:lnTo>
                      <a:lnTo>
                        <a:pt x="4836" y="759"/>
                      </a:lnTo>
                      <a:lnTo>
                        <a:pt x="4736" y="704"/>
                      </a:lnTo>
                      <a:lnTo>
                        <a:pt x="4681" y="576"/>
                      </a:lnTo>
                      <a:lnTo>
                        <a:pt x="4562" y="558"/>
                      </a:lnTo>
                      <a:lnTo>
                        <a:pt x="4397" y="604"/>
                      </a:lnTo>
                      <a:lnTo>
                        <a:pt x="4279" y="668"/>
                      </a:lnTo>
                      <a:lnTo>
                        <a:pt x="4160" y="686"/>
                      </a:lnTo>
                      <a:lnTo>
                        <a:pt x="4123" y="531"/>
                      </a:lnTo>
                      <a:lnTo>
                        <a:pt x="4160" y="375"/>
                      </a:lnTo>
                      <a:lnTo>
                        <a:pt x="4260" y="211"/>
                      </a:lnTo>
                      <a:lnTo>
                        <a:pt x="4297" y="64"/>
                      </a:lnTo>
                      <a:lnTo>
                        <a:pt x="4114" y="37"/>
                      </a:lnTo>
                      <a:lnTo>
                        <a:pt x="3986" y="28"/>
                      </a:lnTo>
                      <a:lnTo>
                        <a:pt x="3849" y="0"/>
                      </a:lnTo>
                      <a:lnTo>
                        <a:pt x="3712" y="55"/>
                      </a:lnTo>
                      <a:lnTo>
                        <a:pt x="3675" y="110"/>
                      </a:lnTo>
                      <a:lnTo>
                        <a:pt x="3538" y="137"/>
                      </a:lnTo>
                      <a:lnTo>
                        <a:pt x="3428" y="156"/>
                      </a:lnTo>
                      <a:lnTo>
                        <a:pt x="3291" y="101"/>
                      </a:lnTo>
                      <a:lnTo>
                        <a:pt x="3191" y="101"/>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31" name="Freeform 317">
                  <a:extLst>
                    <a:ext uri="{FF2B5EF4-FFF2-40B4-BE49-F238E27FC236}">
                      <a16:creationId xmlns:a16="http://schemas.microsoft.com/office/drawing/2014/main" id="{39C3BE2B-8502-4A9F-A646-7862208BD3EA}"/>
                    </a:ext>
                  </a:extLst>
                </p:cNvPr>
                <p:cNvSpPr>
                  <a:spLocks/>
                </p:cNvSpPr>
                <p:nvPr/>
              </p:nvSpPr>
              <p:spPr bwMode="auto">
                <a:xfrm>
                  <a:off x="10752" y="4937"/>
                  <a:ext cx="1737" cy="1545"/>
                </a:xfrm>
                <a:custGeom>
                  <a:avLst/>
                  <a:gdLst>
                    <a:gd name="T0" fmla="*/ 1125 w 1737"/>
                    <a:gd name="T1" fmla="*/ 119 h 1545"/>
                    <a:gd name="T2" fmla="*/ 1015 w 1737"/>
                    <a:gd name="T3" fmla="*/ 210 h 1545"/>
                    <a:gd name="T4" fmla="*/ 887 w 1737"/>
                    <a:gd name="T5" fmla="*/ 357 h 1545"/>
                    <a:gd name="T6" fmla="*/ 786 w 1737"/>
                    <a:gd name="T7" fmla="*/ 549 h 1545"/>
                    <a:gd name="T8" fmla="*/ 686 w 1737"/>
                    <a:gd name="T9" fmla="*/ 759 h 1545"/>
                    <a:gd name="T10" fmla="*/ 530 w 1737"/>
                    <a:gd name="T11" fmla="*/ 896 h 1545"/>
                    <a:gd name="T12" fmla="*/ 421 w 1737"/>
                    <a:gd name="T13" fmla="*/ 997 h 1545"/>
                    <a:gd name="T14" fmla="*/ 338 w 1737"/>
                    <a:gd name="T15" fmla="*/ 905 h 1545"/>
                    <a:gd name="T16" fmla="*/ 274 w 1737"/>
                    <a:gd name="T17" fmla="*/ 905 h 1545"/>
                    <a:gd name="T18" fmla="*/ 256 w 1737"/>
                    <a:gd name="T19" fmla="*/ 1033 h 1545"/>
                    <a:gd name="T20" fmla="*/ 165 w 1737"/>
                    <a:gd name="T21" fmla="*/ 1143 h 1545"/>
                    <a:gd name="T22" fmla="*/ 0 w 1737"/>
                    <a:gd name="T23" fmla="*/ 1207 h 1545"/>
                    <a:gd name="T24" fmla="*/ 183 w 1737"/>
                    <a:gd name="T25" fmla="*/ 1280 h 1545"/>
                    <a:gd name="T26" fmla="*/ 238 w 1737"/>
                    <a:gd name="T27" fmla="*/ 1426 h 1545"/>
                    <a:gd name="T28" fmla="*/ 293 w 1737"/>
                    <a:gd name="T29" fmla="*/ 1545 h 1545"/>
                    <a:gd name="T30" fmla="*/ 411 w 1737"/>
                    <a:gd name="T31" fmla="*/ 1454 h 1545"/>
                    <a:gd name="T32" fmla="*/ 448 w 1737"/>
                    <a:gd name="T33" fmla="*/ 1353 h 1545"/>
                    <a:gd name="T34" fmla="*/ 567 w 1737"/>
                    <a:gd name="T35" fmla="*/ 1189 h 1545"/>
                    <a:gd name="T36" fmla="*/ 622 w 1737"/>
                    <a:gd name="T37" fmla="*/ 1033 h 1545"/>
                    <a:gd name="T38" fmla="*/ 722 w 1737"/>
                    <a:gd name="T39" fmla="*/ 896 h 1545"/>
                    <a:gd name="T40" fmla="*/ 869 w 1737"/>
                    <a:gd name="T41" fmla="*/ 750 h 1545"/>
                    <a:gd name="T42" fmla="*/ 987 w 1737"/>
                    <a:gd name="T43" fmla="*/ 631 h 1545"/>
                    <a:gd name="T44" fmla="*/ 1115 w 1737"/>
                    <a:gd name="T45" fmla="*/ 549 h 1545"/>
                    <a:gd name="T46" fmla="*/ 1243 w 1737"/>
                    <a:gd name="T47" fmla="*/ 485 h 1545"/>
                    <a:gd name="T48" fmla="*/ 1381 w 1737"/>
                    <a:gd name="T49" fmla="*/ 448 h 1545"/>
                    <a:gd name="T50" fmla="*/ 1472 w 1737"/>
                    <a:gd name="T51" fmla="*/ 384 h 1545"/>
                    <a:gd name="T52" fmla="*/ 1591 w 1737"/>
                    <a:gd name="T53" fmla="*/ 329 h 1545"/>
                    <a:gd name="T54" fmla="*/ 1737 w 1737"/>
                    <a:gd name="T55" fmla="*/ 311 h 1545"/>
                    <a:gd name="T56" fmla="*/ 1627 w 1737"/>
                    <a:gd name="T57" fmla="*/ 119 h 1545"/>
                    <a:gd name="T58" fmla="*/ 1472 w 1737"/>
                    <a:gd name="T59" fmla="*/ 0 h 1545"/>
                    <a:gd name="T60" fmla="*/ 1298 w 1737"/>
                    <a:gd name="T61" fmla="*/ 37 h 1545"/>
                    <a:gd name="T62" fmla="*/ 1125 w 1737"/>
                    <a:gd name="T63" fmla="*/ 119 h 154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737" h="1545">
                      <a:moveTo>
                        <a:pt x="1125" y="119"/>
                      </a:moveTo>
                      <a:lnTo>
                        <a:pt x="1015" y="210"/>
                      </a:lnTo>
                      <a:lnTo>
                        <a:pt x="887" y="357"/>
                      </a:lnTo>
                      <a:lnTo>
                        <a:pt x="786" y="549"/>
                      </a:lnTo>
                      <a:lnTo>
                        <a:pt x="686" y="759"/>
                      </a:lnTo>
                      <a:lnTo>
                        <a:pt x="530" y="896"/>
                      </a:lnTo>
                      <a:lnTo>
                        <a:pt x="421" y="997"/>
                      </a:lnTo>
                      <a:lnTo>
                        <a:pt x="338" y="905"/>
                      </a:lnTo>
                      <a:lnTo>
                        <a:pt x="274" y="905"/>
                      </a:lnTo>
                      <a:lnTo>
                        <a:pt x="256" y="1033"/>
                      </a:lnTo>
                      <a:lnTo>
                        <a:pt x="165" y="1143"/>
                      </a:lnTo>
                      <a:lnTo>
                        <a:pt x="0" y="1207"/>
                      </a:lnTo>
                      <a:lnTo>
                        <a:pt x="183" y="1280"/>
                      </a:lnTo>
                      <a:lnTo>
                        <a:pt x="238" y="1426"/>
                      </a:lnTo>
                      <a:lnTo>
                        <a:pt x="293" y="1545"/>
                      </a:lnTo>
                      <a:lnTo>
                        <a:pt x="411" y="1454"/>
                      </a:lnTo>
                      <a:lnTo>
                        <a:pt x="448" y="1353"/>
                      </a:lnTo>
                      <a:lnTo>
                        <a:pt x="567" y="1189"/>
                      </a:lnTo>
                      <a:lnTo>
                        <a:pt x="622" y="1033"/>
                      </a:lnTo>
                      <a:lnTo>
                        <a:pt x="722" y="896"/>
                      </a:lnTo>
                      <a:lnTo>
                        <a:pt x="869" y="750"/>
                      </a:lnTo>
                      <a:lnTo>
                        <a:pt x="987" y="631"/>
                      </a:lnTo>
                      <a:lnTo>
                        <a:pt x="1115" y="549"/>
                      </a:lnTo>
                      <a:lnTo>
                        <a:pt x="1243" y="485"/>
                      </a:lnTo>
                      <a:lnTo>
                        <a:pt x="1381" y="448"/>
                      </a:lnTo>
                      <a:lnTo>
                        <a:pt x="1472" y="384"/>
                      </a:lnTo>
                      <a:lnTo>
                        <a:pt x="1591" y="329"/>
                      </a:lnTo>
                      <a:lnTo>
                        <a:pt x="1737" y="311"/>
                      </a:lnTo>
                      <a:lnTo>
                        <a:pt x="1627" y="119"/>
                      </a:lnTo>
                      <a:lnTo>
                        <a:pt x="1472" y="0"/>
                      </a:lnTo>
                      <a:lnTo>
                        <a:pt x="1298" y="37"/>
                      </a:lnTo>
                      <a:lnTo>
                        <a:pt x="1125" y="119"/>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grpSp>
        <p:sp>
          <p:nvSpPr>
            <p:cNvPr id="119" name="Freeform 4">
              <a:extLst>
                <a:ext uri="{FF2B5EF4-FFF2-40B4-BE49-F238E27FC236}">
                  <a16:creationId xmlns:a16="http://schemas.microsoft.com/office/drawing/2014/main" id="{5ABAF26F-0072-4ACE-93CF-6137DA3F9312}"/>
                </a:ext>
              </a:extLst>
            </p:cNvPr>
            <p:cNvSpPr>
              <a:spLocks/>
            </p:cNvSpPr>
            <p:nvPr/>
          </p:nvSpPr>
          <p:spPr bwMode="auto">
            <a:xfrm>
              <a:off x="3583175" y="4357313"/>
              <a:ext cx="738188" cy="693738"/>
            </a:xfrm>
            <a:custGeom>
              <a:avLst/>
              <a:gdLst>
                <a:gd name="T0" fmla="*/ 138 w 2324"/>
                <a:gd name="T1" fmla="*/ 10 h 2186"/>
                <a:gd name="T2" fmla="*/ 167 w 2324"/>
                <a:gd name="T3" fmla="*/ 43 h 2186"/>
                <a:gd name="T4" fmla="*/ 204 w 2324"/>
                <a:gd name="T5" fmla="*/ 39 h 2186"/>
                <a:gd name="T6" fmla="*/ 255 w 2324"/>
                <a:gd name="T7" fmla="*/ 37 h 2186"/>
                <a:gd name="T8" fmla="*/ 273 w 2324"/>
                <a:gd name="T9" fmla="*/ 92 h 2186"/>
                <a:gd name="T10" fmla="*/ 303 w 2324"/>
                <a:gd name="T11" fmla="*/ 129 h 2186"/>
                <a:gd name="T12" fmla="*/ 365 w 2324"/>
                <a:gd name="T13" fmla="*/ 189 h 2186"/>
                <a:gd name="T14" fmla="*/ 389 w 2324"/>
                <a:gd name="T15" fmla="*/ 225 h 2186"/>
                <a:gd name="T16" fmla="*/ 429 w 2324"/>
                <a:gd name="T17" fmla="*/ 229 h 2186"/>
                <a:gd name="T18" fmla="*/ 461 w 2324"/>
                <a:gd name="T19" fmla="*/ 210 h 2186"/>
                <a:gd name="T20" fmla="*/ 465 w 2324"/>
                <a:gd name="T21" fmla="*/ 220 h 2186"/>
                <a:gd name="T22" fmla="*/ 447 w 2324"/>
                <a:gd name="T23" fmla="*/ 236 h 2186"/>
                <a:gd name="T24" fmla="*/ 437 w 2324"/>
                <a:gd name="T25" fmla="*/ 256 h 2186"/>
                <a:gd name="T26" fmla="*/ 435 w 2324"/>
                <a:gd name="T27" fmla="*/ 268 h 2186"/>
                <a:gd name="T28" fmla="*/ 420 w 2324"/>
                <a:gd name="T29" fmla="*/ 272 h 2186"/>
                <a:gd name="T30" fmla="*/ 406 w 2324"/>
                <a:gd name="T31" fmla="*/ 280 h 2186"/>
                <a:gd name="T32" fmla="*/ 390 w 2324"/>
                <a:gd name="T33" fmla="*/ 294 h 2186"/>
                <a:gd name="T34" fmla="*/ 373 w 2324"/>
                <a:gd name="T35" fmla="*/ 300 h 2186"/>
                <a:gd name="T36" fmla="*/ 365 w 2324"/>
                <a:gd name="T37" fmla="*/ 309 h 2186"/>
                <a:gd name="T38" fmla="*/ 339 w 2324"/>
                <a:gd name="T39" fmla="*/ 300 h 2186"/>
                <a:gd name="T40" fmla="*/ 324 w 2324"/>
                <a:gd name="T41" fmla="*/ 308 h 2186"/>
                <a:gd name="T42" fmla="*/ 333 w 2324"/>
                <a:gd name="T43" fmla="*/ 322 h 2186"/>
                <a:gd name="T44" fmla="*/ 343 w 2324"/>
                <a:gd name="T45" fmla="*/ 330 h 2186"/>
                <a:gd name="T46" fmla="*/ 332 w 2324"/>
                <a:gd name="T47" fmla="*/ 337 h 2186"/>
                <a:gd name="T48" fmla="*/ 318 w 2324"/>
                <a:gd name="T49" fmla="*/ 330 h 2186"/>
                <a:gd name="T50" fmla="*/ 306 w 2324"/>
                <a:gd name="T51" fmla="*/ 316 h 2186"/>
                <a:gd name="T52" fmla="*/ 291 w 2324"/>
                <a:gd name="T53" fmla="*/ 320 h 2186"/>
                <a:gd name="T54" fmla="*/ 288 w 2324"/>
                <a:gd name="T55" fmla="*/ 336 h 2186"/>
                <a:gd name="T56" fmla="*/ 277 w 2324"/>
                <a:gd name="T57" fmla="*/ 354 h 2186"/>
                <a:gd name="T58" fmla="*/ 256 w 2324"/>
                <a:gd name="T59" fmla="*/ 346 h 2186"/>
                <a:gd name="T60" fmla="*/ 238 w 2324"/>
                <a:gd name="T61" fmla="*/ 355 h 2186"/>
                <a:gd name="T62" fmla="*/ 220 w 2324"/>
                <a:gd name="T63" fmla="*/ 362 h 2186"/>
                <a:gd name="T64" fmla="*/ 199 w 2324"/>
                <a:gd name="T65" fmla="*/ 369 h 2186"/>
                <a:gd name="T66" fmla="*/ 201 w 2324"/>
                <a:gd name="T67" fmla="*/ 391 h 2186"/>
                <a:gd name="T68" fmla="*/ 184 w 2324"/>
                <a:gd name="T69" fmla="*/ 397 h 2186"/>
                <a:gd name="T70" fmla="*/ 169 w 2324"/>
                <a:gd name="T71" fmla="*/ 405 h 2186"/>
                <a:gd name="T72" fmla="*/ 161 w 2324"/>
                <a:gd name="T73" fmla="*/ 408 h 2186"/>
                <a:gd name="T74" fmla="*/ 147 w 2324"/>
                <a:gd name="T75" fmla="*/ 420 h 2186"/>
                <a:gd name="T76" fmla="*/ 130 w 2324"/>
                <a:gd name="T77" fmla="*/ 417 h 2186"/>
                <a:gd name="T78" fmla="*/ 114 w 2324"/>
                <a:gd name="T79" fmla="*/ 415 h 2186"/>
                <a:gd name="T80" fmla="*/ 100 w 2324"/>
                <a:gd name="T81" fmla="*/ 422 h 2186"/>
                <a:gd name="T82" fmla="*/ 90 w 2324"/>
                <a:gd name="T83" fmla="*/ 432 h 2186"/>
                <a:gd name="T84" fmla="*/ 75 w 2324"/>
                <a:gd name="T85" fmla="*/ 433 h 2186"/>
                <a:gd name="T86" fmla="*/ 55 w 2324"/>
                <a:gd name="T87" fmla="*/ 436 h 2186"/>
                <a:gd name="T88" fmla="*/ 29 w 2324"/>
                <a:gd name="T89" fmla="*/ 433 h 2186"/>
                <a:gd name="T90" fmla="*/ 17 w 2324"/>
                <a:gd name="T91" fmla="*/ 426 h 2186"/>
                <a:gd name="T92" fmla="*/ 29 w 2324"/>
                <a:gd name="T93" fmla="*/ 393 h 2186"/>
                <a:gd name="T94" fmla="*/ 17 w 2324"/>
                <a:gd name="T95" fmla="*/ 369 h 2186"/>
                <a:gd name="T96" fmla="*/ 20 w 2324"/>
                <a:gd name="T97" fmla="*/ 313 h 2186"/>
                <a:gd name="T98" fmla="*/ 13 w 2324"/>
                <a:gd name="T99" fmla="*/ 286 h 2186"/>
                <a:gd name="T100" fmla="*/ 14 w 2324"/>
                <a:gd name="T101" fmla="*/ 252 h 2186"/>
                <a:gd name="T102" fmla="*/ 41 w 2324"/>
                <a:gd name="T103" fmla="*/ 217 h 2186"/>
                <a:gd name="T104" fmla="*/ 29 w 2324"/>
                <a:gd name="T105" fmla="*/ 175 h 2186"/>
                <a:gd name="T106" fmla="*/ 47 w 2324"/>
                <a:gd name="T107" fmla="*/ 142 h 2186"/>
                <a:gd name="T108" fmla="*/ 45 w 2324"/>
                <a:gd name="T109" fmla="*/ 97 h 2186"/>
                <a:gd name="T110" fmla="*/ 62 w 2324"/>
                <a:gd name="T111" fmla="*/ 63 h 2186"/>
                <a:gd name="T112" fmla="*/ 104 w 2324"/>
                <a:gd name="T113" fmla="*/ 48 h 2186"/>
                <a:gd name="T114" fmla="*/ 110 w 2324"/>
                <a:gd name="T115" fmla="*/ 0 h 218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324" h="2186">
                  <a:moveTo>
                    <a:pt x="549" y="0"/>
                  </a:moveTo>
                  <a:lnTo>
                    <a:pt x="690" y="48"/>
                  </a:lnTo>
                  <a:lnTo>
                    <a:pt x="775" y="106"/>
                  </a:lnTo>
                  <a:lnTo>
                    <a:pt x="835" y="217"/>
                  </a:lnTo>
                  <a:lnTo>
                    <a:pt x="999" y="241"/>
                  </a:lnTo>
                  <a:lnTo>
                    <a:pt x="1018" y="196"/>
                  </a:lnTo>
                  <a:lnTo>
                    <a:pt x="1159" y="201"/>
                  </a:lnTo>
                  <a:lnTo>
                    <a:pt x="1276" y="186"/>
                  </a:lnTo>
                  <a:lnTo>
                    <a:pt x="1390" y="262"/>
                  </a:lnTo>
                  <a:lnTo>
                    <a:pt x="1363" y="459"/>
                  </a:lnTo>
                  <a:lnTo>
                    <a:pt x="1394" y="616"/>
                  </a:lnTo>
                  <a:lnTo>
                    <a:pt x="1516" y="645"/>
                  </a:lnTo>
                  <a:lnTo>
                    <a:pt x="1755" y="753"/>
                  </a:lnTo>
                  <a:lnTo>
                    <a:pt x="1825" y="946"/>
                  </a:lnTo>
                  <a:lnTo>
                    <a:pt x="1903" y="933"/>
                  </a:lnTo>
                  <a:lnTo>
                    <a:pt x="1944" y="1128"/>
                  </a:lnTo>
                  <a:lnTo>
                    <a:pt x="2050" y="1101"/>
                  </a:lnTo>
                  <a:lnTo>
                    <a:pt x="2145" y="1147"/>
                  </a:lnTo>
                  <a:lnTo>
                    <a:pt x="2242" y="1126"/>
                  </a:lnTo>
                  <a:lnTo>
                    <a:pt x="2306" y="1051"/>
                  </a:lnTo>
                  <a:lnTo>
                    <a:pt x="2324" y="1047"/>
                  </a:lnTo>
                  <a:lnTo>
                    <a:pt x="2322" y="1100"/>
                  </a:lnTo>
                  <a:cubicBezTo>
                    <a:pt x="2320" y="1114"/>
                    <a:pt x="2316" y="1120"/>
                    <a:pt x="2313" y="1130"/>
                  </a:cubicBezTo>
                  <a:lnTo>
                    <a:pt x="2235" y="1181"/>
                  </a:lnTo>
                  <a:cubicBezTo>
                    <a:pt x="2229" y="1195"/>
                    <a:pt x="2223" y="1209"/>
                    <a:pt x="2217" y="1223"/>
                  </a:cubicBezTo>
                  <a:lnTo>
                    <a:pt x="2184" y="1280"/>
                  </a:lnTo>
                  <a:cubicBezTo>
                    <a:pt x="2190" y="1289"/>
                    <a:pt x="2196" y="1298"/>
                    <a:pt x="2202" y="1307"/>
                  </a:cubicBezTo>
                  <a:cubicBezTo>
                    <a:pt x="2193" y="1318"/>
                    <a:pt x="2184" y="1329"/>
                    <a:pt x="2175" y="1340"/>
                  </a:cubicBezTo>
                  <a:lnTo>
                    <a:pt x="2133" y="1373"/>
                  </a:lnTo>
                  <a:cubicBezTo>
                    <a:pt x="2121" y="1369"/>
                    <a:pt x="2109" y="1365"/>
                    <a:pt x="2097" y="1361"/>
                  </a:cubicBezTo>
                  <a:cubicBezTo>
                    <a:pt x="2092" y="1370"/>
                    <a:pt x="2087" y="1379"/>
                    <a:pt x="2082" y="1388"/>
                  </a:cubicBezTo>
                  <a:lnTo>
                    <a:pt x="2028" y="1403"/>
                  </a:lnTo>
                  <a:lnTo>
                    <a:pt x="2016" y="1451"/>
                  </a:lnTo>
                  <a:lnTo>
                    <a:pt x="1950" y="1472"/>
                  </a:lnTo>
                  <a:lnTo>
                    <a:pt x="1884" y="1463"/>
                  </a:lnTo>
                  <a:cubicBezTo>
                    <a:pt x="1878" y="1475"/>
                    <a:pt x="1872" y="1487"/>
                    <a:pt x="1866" y="1499"/>
                  </a:cubicBezTo>
                  <a:cubicBezTo>
                    <a:pt x="1863" y="1521"/>
                    <a:pt x="1860" y="1543"/>
                    <a:pt x="1857" y="1565"/>
                  </a:cubicBezTo>
                  <a:lnTo>
                    <a:pt x="1824" y="1544"/>
                  </a:lnTo>
                  <a:lnTo>
                    <a:pt x="1758" y="1526"/>
                  </a:lnTo>
                  <a:lnTo>
                    <a:pt x="1695" y="1499"/>
                  </a:lnTo>
                  <a:cubicBezTo>
                    <a:pt x="1685" y="1514"/>
                    <a:pt x="1675" y="1529"/>
                    <a:pt x="1665" y="1544"/>
                  </a:cubicBezTo>
                  <a:lnTo>
                    <a:pt x="1617" y="1541"/>
                  </a:lnTo>
                  <a:cubicBezTo>
                    <a:pt x="1618" y="1557"/>
                    <a:pt x="1619" y="1573"/>
                    <a:pt x="1620" y="1589"/>
                  </a:cubicBezTo>
                  <a:lnTo>
                    <a:pt x="1665" y="1613"/>
                  </a:lnTo>
                  <a:lnTo>
                    <a:pt x="1704" y="1601"/>
                  </a:lnTo>
                  <a:cubicBezTo>
                    <a:pt x="1707" y="1617"/>
                    <a:pt x="1710" y="1633"/>
                    <a:pt x="1713" y="1649"/>
                  </a:cubicBezTo>
                  <a:cubicBezTo>
                    <a:pt x="1718" y="1664"/>
                    <a:pt x="1723" y="1679"/>
                    <a:pt x="1728" y="1694"/>
                  </a:cubicBezTo>
                  <a:lnTo>
                    <a:pt x="1659" y="1688"/>
                  </a:lnTo>
                  <a:lnTo>
                    <a:pt x="1617" y="1676"/>
                  </a:lnTo>
                  <a:lnTo>
                    <a:pt x="1587" y="1652"/>
                  </a:lnTo>
                  <a:cubicBezTo>
                    <a:pt x="1581" y="1634"/>
                    <a:pt x="1575" y="1616"/>
                    <a:pt x="1569" y="1598"/>
                  </a:cubicBezTo>
                  <a:lnTo>
                    <a:pt x="1530" y="1580"/>
                  </a:lnTo>
                  <a:cubicBezTo>
                    <a:pt x="1520" y="1571"/>
                    <a:pt x="1510" y="1562"/>
                    <a:pt x="1500" y="1553"/>
                  </a:cubicBezTo>
                  <a:lnTo>
                    <a:pt x="1452" y="1601"/>
                  </a:lnTo>
                  <a:lnTo>
                    <a:pt x="1410" y="1640"/>
                  </a:lnTo>
                  <a:cubicBezTo>
                    <a:pt x="1420" y="1654"/>
                    <a:pt x="1430" y="1668"/>
                    <a:pt x="1440" y="1682"/>
                  </a:cubicBezTo>
                  <a:cubicBezTo>
                    <a:pt x="1436" y="1698"/>
                    <a:pt x="1432" y="1714"/>
                    <a:pt x="1428" y="1730"/>
                  </a:cubicBezTo>
                  <a:lnTo>
                    <a:pt x="1386" y="1769"/>
                  </a:lnTo>
                  <a:lnTo>
                    <a:pt x="1314" y="1742"/>
                  </a:lnTo>
                  <a:lnTo>
                    <a:pt x="1281" y="1733"/>
                  </a:lnTo>
                  <a:lnTo>
                    <a:pt x="1230" y="1757"/>
                  </a:lnTo>
                  <a:lnTo>
                    <a:pt x="1188" y="1775"/>
                  </a:lnTo>
                  <a:lnTo>
                    <a:pt x="1134" y="1784"/>
                  </a:lnTo>
                  <a:lnTo>
                    <a:pt x="1101" y="1811"/>
                  </a:lnTo>
                  <a:lnTo>
                    <a:pt x="1029" y="1808"/>
                  </a:lnTo>
                  <a:lnTo>
                    <a:pt x="993" y="1844"/>
                  </a:lnTo>
                  <a:cubicBezTo>
                    <a:pt x="991" y="1869"/>
                    <a:pt x="989" y="1894"/>
                    <a:pt x="987" y="1919"/>
                  </a:cubicBezTo>
                  <a:cubicBezTo>
                    <a:pt x="993" y="1932"/>
                    <a:pt x="999" y="1945"/>
                    <a:pt x="1005" y="1958"/>
                  </a:cubicBezTo>
                  <a:cubicBezTo>
                    <a:pt x="1000" y="1972"/>
                    <a:pt x="995" y="1986"/>
                    <a:pt x="990" y="2000"/>
                  </a:cubicBezTo>
                  <a:lnTo>
                    <a:pt x="921" y="1988"/>
                  </a:lnTo>
                  <a:lnTo>
                    <a:pt x="870" y="1997"/>
                  </a:lnTo>
                  <a:cubicBezTo>
                    <a:pt x="862" y="2007"/>
                    <a:pt x="854" y="2017"/>
                    <a:pt x="846" y="2027"/>
                  </a:cubicBezTo>
                  <a:cubicBezTo>
                    <a:pt x="845" y="2041"/>
                    <a:pt x="844" y="2055"/>
                    <a:pt x="843" y="2069"/>
                  </a:cubicBezTo>
                  <a:lnTo>
                    <a:pt x="807" y="2042"/>
                  </a:lnTo>
                  <a:cubicBezTo>
                    <a:pt x="801" y="2059"/>
                    <a:pt x="795" y="2076"/>
                    <a:pt x="789" y="2093"/>
                  </a:cubicBezTo>
                  <a:lnTo>
                    <a:pt x="735" y="2099"/>
                  </a:lnTo>
                  <a:lnTo>
                    <a:pt x="690" y="2075"/>
                  </a:lnTo>
                  <a:lnTo>
                    <a:pt x="651" y="2084"/>
                  </a:lnTo>
                  <a:cubicBezTo>
                    <a:pt x="641" y="2081"/>
                    <a:pt x="631" y="2078"/>
                    <a:pt x="621" y="2075"/>
                  </a:cubicBezTo>
                  <a:lnTo>
                    <a:pt x="570" y="2075"/>
                  </a:lnTo>
                  <a:cubicBezTo>
                    <a:pt x="556" y="2083"/>
                    <a:pt x="542" y="2091"/>
                    <a:pt x="528" y="2099"/>
                  </a:cubicBezTo>
                  <a:lnTo>
                    <a:pt x="501" y="2111"/>
                  </a:lnTo>
                  <a:cubicBezTo>
                    <a:pt x="497" y="2124"/>
                    <a:pt x="493" y="2137"/>
                    <a:pt x="489" y="2150"/>
                  </a:cubicBezTo>
                  <a:lnTo>
                    <a:pt x="450" y="2162"/>
                  </a:lnTo>
                  <a:lnTo>
                    <a:pt x="411" y="2186"/>
                  </a:lnTo>
                  <a:lnTo>
                    <a:pt x="375" y="2165"/>
                  </a:lnTo>
                  <a:lnTo>
                    <a:pt x="315" y="2171"/>
                  </a:lnTo>
                  <a:lnTo>
                    <a:pt x="273" y="2183"/>
                  </a:lnTo>
                  <a:lnTo>
                    <a:pt x="193" y="2183"/>
                  </a:lnTo>
                  <a:lnTo>
                    <a:pt x="147" y="2165"/>
                  </a:lnTo>
                  <a:lnTo>
                    <a:pt x="109" y="2151"/>
                  </a:lnTo>
                  <a:lnTo>
                    <a:pt x="84" y="2129"/>
                  </a:lnTo>
                  <a:lnTo>
                    <a:pt x="73" y="2045"/>
                  </a:lnTo>
                  <a:lnTo>
                    <a:pt x="144" y="1966"/>
                  </a:lnTo>
                  <a:lnTo>
                    <a:pt x="0" y="1926"/>
                  </a:lnTo>
                  <a:lnTo>
                    <a:pt x="85" y="1846"/>
                  </a:lnTo>
                  <a:lnTo>
                    <a:pt x="73" y="1681"/>
                  </a:lnTo>
                  <a:lnTo>
                    <a:pt x="100" y="1567"/>
                  </a:lnTo>
                  <a:lnTo>
                    <a:pt x="30" y="1492"/>
                  </a:lnTo>
                  <a:lnTo>
                    <a:pt x="64" y="1431"/>
                  </a:lnTo>
                  <a:lnTo>
                    <a:pt x="159" y="1309"/>
                  </a:lnTo>
                  <a:lnTo>
                    <a:pt x="70" y="1261"/>
                  </a:lnTo>
                  <a:lnTo>
                    <a:pt x="114" y="1161"/>
                  </a:lnTo>
                  <a:lnTo>
                    <a:pt x="204" y="1086"/>
                  </a:lnTo>
                  <a:lnTo>
                    <a:pt x="134" y="1011"/>
                  </a:lnTo>
                  <a:lnTo>
                    <a:pt x="144" y="876"/>
                  </a:lnTo>
                  <a:lnTo>
                    <a:pt x="117" y="765"/>
                  </a:lnTo>
                  <a:lnTo>
                    <a:pt x="237" y="712"/>
                  </a:lnTo>
                  <a:lnTo>
                    <a:pt x="295" y="591"/>
                  </a:lnTo>
                  <a:lnTo>
                    <a:pt x="225" y="486"/>
                  </a:lnTo>
                  <a:lnTo>
                    <a:pt x="282" y="408"/>
                  </a:lnTo>
                  <a:lnTo>
                    <a:pt x="309" y="316"/>
                  </a:lnTo>
                  <a:lnTo>
                    <a:pt x="434" y="346"/>
                  </a:lnTo>
                  <a:lnTo>
                    <a:pt x="519" y="238"/>
                  </a:lnTo>
                  <a:lnTo>
                    <a:pt x="541" y="120"/>
                  </a:lnTo>
                  <a:lnTo>
                    <a:pt x="549" y="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sp>
          <p:nvSpPr>
            <p:cNvPr id="120" name="Freeform 4">
              <a:extLst>
                <a:ext uri="{FF2B5EF4-FFF2-40B4-BE49-F238E27FC236}">
                  <a16:creationId xmlns:a16="http://schemas.microsoft.com/office/drawing/2014/main" id="{47B52EFF-60C1-4EE2-B9E4-47B4305A39D4}"/>
                </a:ext>
              </a:extLst>
            </p:cNvPr>
            <p:cNvSpPr>
              <a:spLocks/>
            </p:cNvSpPr>
            <p:nvPr/>
          </p:nvSpPr>
          <p:spPr bwMode="auto">
            <a:xfrm>
              <a:off x="3476813" y="4471613"/>
              <a:ext cx="1338263" cy="1144588"/>
            </a:xfrm>
            <a:custGeom>
              <a:avLst/>
              <a:gdLst>
                <a:gd name="T0" fmla="*/ 771 w 4215"/>
                <a:gd name="T1" fmla="*/ 100 h 3605"/>
                <a:gd name="T2" fmla="*/ 688 w 4215"/>
                <a:gd name="T3" fmla="*/ 175 h 3605"/>
                <a:gd name="T4" fmla="*/ 586 w 4215"/>
                <a:gd name="T5" fmla="*/ 252 h 3605"/>
                <a:gd name="T6" fmla="*/ 574 w 4215"/>
                <a:gd name="T7" fmla="*/ 268 h 3605"/>
                <a:gd name="T8" fmla="*/ 567 w 4215"/>
                <a:gd name="T9" fmla="*/ 301 h 3605"/>
                <a:gd name="T10" fmla="*/ 481 w 4215"/>
                <a:gd name="T11" fmla="*/ 321 h 3605"/>
                <a:gd name="T12" fmla="*/ 452 w 4215"/>
                <a:gd name="T13" fmla="*/ 380 h 3605"/>
                <a:gd name="T14" fmla="*/ 411 w 4215"/>
                <a:gd name="T15" fmla="*/ 369 h 3605"/>
                <a:gd name="T16" fmla="*/ 357 w 4215"/>
                <a:gd name="T17" fmla="*/ 429 h 3605"/>
                <a:gd name="T18" fmla="*/ 369 w 4215"/>
                <a:gd name="T19" fmla="*/ 526 h 3605"/>
                <a:gd name="T20" fmla="*/ 360 w 4215"/>
                <a:gd name="T21" fmla="*/ 622 h 3605"/>
                <a:gd name="T22" fmla="*/ 264 w 4215"/>
                <a:gd name="T23" fmla="*/ 676 h 3605"/>
                <a:gd name="T24" fmla="*/ 178 w 4215"/>
                <a:gd name="T25" fmla="*/ 721 h 3605"/>
                <a:gd name="T26" fmla="*/ 177 w 4215"/>
                <a:gd name="T27" fmla="*/ 691 h 3605"/>
                <a:gd name="T28" fmla="*/ 175 w 4215"/>
                <a:gd name="T29" fmla="*/ 648 h 3605"/>
                <a:gd name="T30" fmla="*/ 141 w 4215"/>
                <a:gd name="T31" fmla="*/ 609 h 3605"/>
                <a:gd name="T32" fmla="*/ 108 w 4215"/>
                <a:gd name="T33" fmla="*/ 597 h 3605"/>
                <a:gd name="T34" fmla="*/ 43 w 4215"/>
                <a:gd name="T35" fmla="*/ 591 h 3605"/>
                <a:gd name="T36" fmla="*/ 27 w 4215"/>
                <a:gd name="T37" fmla="*/ 582 h 3605"/>
                <a:gd name="T38" fmla="*/ 75 w 4215"/>
                <a:gd name="T39" fmla="*/ 559 h 3605"/>
                <a:gd name="T40" fmla="*/ 27 w 4215"/>
                <a:gd name="T41" fmla="*/ 556 h 3605"/>
                <a:gd name="T42" fmla="*/ 0 w 4215"/>
                <a:gd name="T43" fmla="*/ 507 h 3605"/>
                <a:gd name="T44" fmla="*/ 39 w 4215"/>
                <a:gd name="T45" fmla="*/ 463 h 3605"/>
                <a:gd name="T46" fmla="*/ 33 w 4215"/>
                <a:gd name="T47" fmla="*/ 398 h 3605"/>
                <a:gd name="T48" fmla="*/ 84 w 4215"/>
                <a:gd name="T49" fmla="*/ 354 h 3605"/>
                <a:gd name="T50" fmla="*/ 89 w 4215"/>
                <a:gd name="T51" fmla="*/ 358 h 3605"/>
                <a:gd name="T52" fmla="*/ 122 w 4215"/>
                <a:gd name="T53" fmla="*/ 364 h 3605"/>
                <a:gd name="T54" fmla="*/ 149 w 4215"/>
                <a:gd name="T55" fmla="*/ 365 h 3605"/>
                <a:gd name="T56" fmla="*/ 167 w 4215"/>
                <a:gd name="T57" fmla="*/ 350 h 3605"/>
                <a:gd name="T58" fmla="*/ 191 w 4215"/>
                <a:gd name="T59" fmla="*/ 343 h 3605"/>
                <a:gd name="T60" fmla="*/ 214 w 4215"/>
                <a:gd name="T61" fmla="*/ 348 h 3605"/>
                <a:gd name="T62" fmla="*/ 236 w 4215"/>
                <a:gd name="T63" fmla="*/ 342 h 3605"/>
                <a:gd name="T64" fmla="*/ 251 w 4215"/>
                <a:gd name="T65" fmla="*/ 325 h 3605"/>
                <a:gd name="T66" fmla="*/ 265 w 4215"/>
                <a:gd name="T67" fmla="*/ 312 h 3605"/>
                <a:gd name="T68" fmla="*/ 287 w 4215"/>
                <a:gd name="T69" fmla="*/ 290 h 3605"/>
                <a:gd name="T70" fmla="*/ 313 w 4215"/>
                <a:gd name="T71" fmla="*/ 279 h 3605"/>
                <a:gd name="T72" fmla="*/ 344 w 4215"/>
                <a:gd name="T73" fmla="*/ 282 h 3605"/>
                <a:gd name="T74" fmla="*/ 349 w 4215"/>
                <a:gd name="T75" fmla="*/ 256 h 3605"/>
                <a:gd name="T76" fmla="*/ 373 w 4215"/>
                <a:gd name="T77" fmla="*/ 244 h 3605"/>
                <a:gd name="T78" fmla="*/ 391 w 4215"/>
                <a:gd name="T79" fmla="*/ 263 h 3605"/>
                <a:gd name="T80" fmla="*/ 410 w 4215"/>
                <a:gd name="T81" fmla="*/ 258 h 3605"/>
                <a:gd name="T82" fmla="*/ 391 w 4215"/>
                <a:gd name="T83" fmla="*/ 246 h 3605"/>
                <a:gd name="T84" fmla="*/ 406 w 4215"/>
                <a:gd name="T85" fmla="*/ 228 h 3605"/>
                <a:gd name="T86" fmla="*/ 439 w 4215"/>
                <a:gd name="T87" fmla="*/ 241 h 3605"/>
                <a:gd name="T88" fmla="*/ 457 w 4215"/>
                <a:gd name="T89" fmla="*/ 222 h 3605"/>
                <a:gd name="T90" fmla="*/ 484 w 4215"/>
                <a:gd name="T91" fmla="*/ 205 h 3605"/>
                <a:gd name="T92" fmla="*/ 502 w 4215"/>
                <a:gd name="T93" fmla="*/ 196 h 3605"/>
                <a:gd name="T94" fmla="*/ 511 w 4215"/>
                <a:gd name="T95" fmla="*/ 172 h 3605"/>
                <a:gd name="T96" fmla="*/ 532 w 4215"/>
                <a:gd name="T97" fmla="*/ 148 h 3605"/>
                <a:gd name="T98" fmla="*/ 589 w 4215"/>
                <a:gd name="T99" fmla="*/ 124 h 3605"/>
                <a:gd name="T100" fmla="*/ 607 w 4215"/>
                <a:gd name="T101" fmla="*/ 70 h 3605"/>
                <a:gd name="T102" fmla="*/ 667 w 4215"/>
                <a:gd name="T103" fmla="*/ 91 h 3605"/>
                <a:gd name="T104" fmla="*/ 694 w 4215"/>
                <a:gd name="T105" fmla="*/ 42 h 3605"/>
                <a:gd name="T106" fmla="*/ 741 w 4215"/>
                <a:gd name="T107" fmla="*/ 27 h 3605"/>
                <a:gd name="T108" fmla="*/ 808 w 4215"/>
                <a:gd name="T109" fmla="*/ 16 h 360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215" h="3605">
                  <a:moveTo>
                    <a:pt x="4170" y="0"/>
                  </a:moveTo>
                  <a:lnTo>
                    <a:pt x="4215" y="60"/>
                  </a:lnTo>
                  <a:lnTo>
                    <a:pt x="3855" y="500"/>
                  </a:lnTo>
                  <a:lnTo>
                    <a:pt x="3690" y="585"/>
                  </a:lnTo>
                  <a:lnTo>
                    <a:pt x="3510" y="740"/>
                  </a:lnTo>
                  <a:lnTo>
                    <a:pt x="3440" y="875"/>
                  </a:lnTo>
                  <a:lnTo>
                    <a:pt x="3260" y="975"/>
                  </a:lnTo>
                  <a:lnTo>
                    <a:pt x="3035" y="1115"/>
                  </a:lnTo>
                  <a:lnTo>
                    <a:pt x="2930" y="1260"/>
                  </a:lnTo>
                  <a:lnTo>
                    <a:pt x="2963" y="1342"/>
                  </a:lnTo>
                  <a:lnTo>
                    <a:pt x="2907" y="1310"/>
                  </a:lnTo>
                  <a:lnTo>
                    <a:pt x="2871" y="1338"/>
                  </a:lnTo>
                  <a:lnTo>
                    <a:pt x="2915" y="1390"/>
                  </a:lnTo>
                  <a:lnTo>
                    <a:pt x="2919" y="1442"/>
                  </a:lnTo>
                  <a:lnTo>
                    <a:pt x="2835" y="1506"/>
                  </a:lnTo>
                  <a:lnTo>
                    <a:pt x="2690" y="1575"/>
                  </a:lnTo>
                  <a:lnTo>
                    <a:pt x="2535" y="1575"/>
                  </a:lnTo>
                  <a:lnTo>
                    <a:pt x="2405" y="1605"/>
                  </a:lnTo>
                  <a:lnTo>
                    <a:pt x="2345" y="1814"/>
                  </a:lnTo>
                  <a:lnTo>
                    <a:pt x="2265" y="1859"/>
                  </a:lnTo>
                  <a:lnTo>
                    <a:pt x="2259" y="1898"/>
                  </a:lnTo>
                  <a:lnTo>
                    <a:pt x="2175" y="1902"/>
                  </a:lnTo>
                  <a:lnTo>
                    <a:pt x="2150" y="1859"/>
                  </a:lnTo>
                  <a:lnTo>
                    <a:pt x="2055" y="1844"/>
                  </a:lnTo>
                  <a:lnTo>
                    <a:pt x="1935" y="1934"/>
                  </a:lnTo>
                  <a:lnTo>
                    <a:pt x="1865" y="2054"/>
                  </a:lnTo>
                  <a:lnTo>
                    <a:pt x="1785" y="2144"/>
                  </a:lnTo>
                  <a:lnTo>
                    <a:pt x="1775" y="2278"/>
                  </a:lnTo>
                  <a:lnTo>
                    <a:pt x="1811" y="2434"/>
                  </a:lnTo>
                  <a:lnTo>
                    <a:pt x="1845" y="2629"/>
                  </a:lnTo>
                  <a:lnTo>
                    <a:pt x="1800" y="2764"/>
                  </a:lnTo>
                  <a:lnTo>
                    <a:pt x="1868" y="3154"/>
                  </a:lnTo>
                  <a:lnTo>
                    <a:pt x="1800" y="3109"/>
                  </a:lnTo>
                  <a:lnTo>
                    <a:pt x="1665" y="3239"/>
                  </a:lnTo>
                  <a:lnTo>
                    <a:pt x="1485" y="3229"/>
                  </a:lnTo>
                  <a:lnTo>
                    <a:pt x="1320" y="3379"/>
                  </a:lnTo>
                  <a:lnTo>
                    <a:pt x="1185" y="3389"/>
                  </a:lnTo>
                  <a:lnTo>
                    <a:pt x="1040" y="3374"/>
                  </a:lnTo>
                  <a:lnTo>
                    <a:pt x="891" y="3605"/>
                  </a:lnTo>
                  <a:lnTo>
                    <a:pt x="801" y="3598"/>
                  </a:lnTo>
                  <a:lnTo>
                    <a:pt x="787" y="3529"/>
                  </a:lnTo>
                  <a:lnTo>
                    <a:pt x="886" y="3454"/>
                  </a:lnTo>
                  <a:lnTo>
                    <a:pt x="949" y="3365"/>
                  </a:lnTo>
                  <a:lnTo>
                    <a:pt x="960" y="3269"/>
                  </a:lnTo>
                  <a:lnTo>
                    <a:pt x="876" y="3239"/>
                  </a:lnTo>
                  <a:cubicBezTo>
                    <a:pt x="876" y="3199"/>
                    <a:pt x="875" y="3159"/>
                    <a:pt x="875" y="3119"/>
                  </a:cubicBezTo>
                  <a:lnTo>
                    <a:pt x="784" y="3109"/>
                  </a:lnTo>
                  <a:lnTo>
                    <a:pt x="705" y="3044"/>
                  </a:lnTo>
                  <a:lnTo>
                    <a:pt x="679" y="2927"/>
                  </a:lnTo>
                  <a:lnTo>
                    <a:pt x="586" y="2914"/>
                  </a:lnTo>
                  <a:lnTo>
                    <a:pt x="541" y="2983"/>
                  </a:lnTo>
                  <a:lnTo>
                    <a:pt x="335" y="3014"/>
                  </a:lnTo>
                  <a:lnTo>
                    <a:pt x="335" y="2939"/>
                  </a:lnTo>
                  <a:lnTo>
                    <a:pt x="215" y="2954"/>
                  </a:lnTo>
                  <a:lnTo>
                    <a:pt x="183" y="2998"/>
                  </a:lnTo>
                  <a:lnTo>
                    <a:pt x="94" y="2983"/>
                  </a:lnTo>
                  <a:lnTo>
                    <a:pt x="135" y="2912"/>
                  </a:lnTo>
                  <a:lnTo>
                    <a:pt x="121" y="2821"/>
                  </a:lnTo>
                  <a:lnTo>
                    <a:pt x="246" y="2854"/>
                  </a:lnTo>
                  <a:lnTo>
                    <a:pt x="375" y="2794"/>
                  </a:lnTo>
                  <a:lnTo>
                    <a:pt x="360" y="2705"/>
                  </a:lnTo>
                  <a:lnTo>
                    <a:pt x="214" y="2669"/>
                  </a:lnTo>
                  <a:lnTo>
                    <a:pt x="135" y="2782"/>
                  </a:lnTo>
                  <a:lnTo>
                    <a:pt x="96" y="2719"/>
                  </a:lnTo>
                  <a:lnTo>
                    <a:pt x="108" y="2629"/>
                  </a:lnTo>
                  <a:lnTo>
                    <a:pt x="0" y="2534"/>
                  </a:lnTo>
                  <a:lnTo>
                    <a:pt x="37" y="2402"/>
                  </a:lnTo>
                  <a:lnTo>
                    <a:pt x="79" y="2315"/>
                  </a:lnTo>
                  <a:lnTo>
                    <a:pt x="195" y="2314"/>
                  </a:lnTo>
                  <a:lnTo>
                    <a:pt x="225" y="2192"/>
                  </a:lnTo>
                  <a:lnTo>
                    <a:pt x="180" y="2084"/>
                  </a:lnTo>
                  <a:lnTo>
                    <a:pt x="165" y="1991"/>
                  </a:lnTo>
                  <a:lnTo>
                    <a:pt x="171" y="1850"/>
                  </a:lnTo>
                  <a:lnTo>
                    <a:pt x="245" y="1774"/>
                  </a:lnTo>
                  <a:lnTo>
                    <a:pt x="420" y="1770"/>
                  </a:lnTo>
                  <a:lnTo>
                    <a:pt x="419" y="1763"/>
                  </a:lnTo>
                  <a:lnTo>
                    <a:pt x="420" y="1765"/>
                  </a:lnTo>
                  <a:cubicBezTo>
                    <a:pt x="428" y="1773"/>
                    <a:pt x="436" y="1782"/>
                    <a:pt x="445" y="1790"/>
                  </a:cubicBezTo>
                  <a:lnTo>
                    <a:pt x="483" y="1804"/>
                  </a:lnTo>
                  <a:lnTo>
                    <a:pt x="529" y="1822"/>
                  </a:lnTo>
                  <a:lnTo>
                    <a:pt x="609" y="1822"/>
                  </a:lnTo>
                  <a:lnTo>
                    <a:pt x="651" y="1810"/>
                  </a:lnTo>
                  <a:lnTo>
                    <a:pt x="711" y="1804"/>
                  </a:lnTo>
                  <a:lnTo>
                    <a:pt x="747" y="1825"/>
                  </a:lnTo>
                  <a:lnTo>
                    <a:pt x="786" y="1801"/>
                  </a:lnTo>
                  <a:lnTo>
                    <a:pt x="825" y="1789"/>
                  </a:lnTo>
                  <a:cubicBezTo>
                    <a:pt x="829" y="1776"/>
                    <a:pt x="833" y="1763"/>
                    <a:pt x="837" y="1750"/>
                  </a:cubicBezTo>
                  <a:lnTo>
                    <a:pt x="864" y="1738"/>
                  </a:lnTo>
                  <a:cubicBezTo>
                    <a:pt x="878" y="1730"/>
                    <a:pt x="892" y="1722"/>
                    <a:pt x="906" y="1714"/>
                  </a:cubicBezTo>
                  <a:lnTo>
                    <a:pt x="957" y="1714"/>
                  </a:lnTo>
                  <a:cubicBezTo>
                    <a:pt x="967" y="1717"/>
                    <a:pt x="977" y="1720"/>
                    <a:pt x="987" y="1723"/>
                  </a:cubicBezTo>
                  <a:lnTo>
                    <a:pt x="1026" y="1714"/>
                  </a:lnTo>
                  <a:lnTo>
                    <a:pt x="1071" y="1738"/>
                  </a:lnTo>
                  <a:lnTo>
                    <a:pt x="1125" y="1732"/>
                  </a:lnTo>
                  <a:cubicBezTo>
                    <a:pt x="1131" y="1715"/>
                    <a:pt x="1137" y="1698"/>
                    <a:pt x="1143" y="1681"/>
                  </a:cubicBezTo>
                  <a:lnTo>
                    <a:pt x="1179" y="1708"/>
                  </a:lnTo>
                  <a:cubicBezTo>
                    <a:pt x="1180" y="1694"/>
                    <a:pt x="1181" y="1680"/>
                    <a:pt x="1182" y="1666"/>
                  </a:cubicBezTo>
                  <a:cubicBezTo>
                    <a:pt x="1190" y="1656"/>
                    <a:pt x="1198" y="1646"/>
                    <a:pt x="1206" y="1636"/>
                  </a:cubicBezTo>
                  <a:lnTo>
                    <a:pt x="1257" y="1627"/>
                  </a:lnTo>
                  <a:lnTo>
                    <a:pt x="1326" y="1639"/>
                  </a:lnTo>
                  <a:cubicBezTo>
                    <a:pt x="1331" y="1625"/>
                    <a:pt x="1336" y="1611"/>
                    <a:pt x="1341" y="1597"/>
                  </a:cubicBezTo>
                  <a:cubicBezTo>
                    <a:pt x="1335" y="1584"/>
                    <a:pt x="1329" y="1571"/>
                    <a:pt x="1323" y="1558"/>
                  </a:cubicBezTo>
                  <a:cubicBezTo>
                    <a:pt x="1325" y="1533"/>
                    <a:pt x="1327" y="1508"/>
                    <a:pt x="1329" y="1483"/>
                  </a:cubicBezTo>
                  <a:lnTo>
                    <a:pt x="1365" y="1447"/>
                  </a:lnTo>
                  <a:lnTo>
                    <a:pt x="1437" y="1450"/>
                  </a:lnTo>
                  <a:lnTo>
                    <a:pt x="1470" y="1423"/>
                  </a:lnTo>
                  <a:lnTo>
                    <a:pt x="1524" y="1414"/>
                  </a:lnTo>
                  <a:lnTo>
                    <a:pt x="1566" y="1396"/>
                  </a:lnTo>
                  <a:lnTo>
                    <a:pt x="1617" y="1372"/>
                  </a:lnTo>
                  <a:lnTo>
                    <a:pt x="1650" y="1381"/>
                  </a:lnTo>
                  <a:lnTo>
                    <a:pt x="1722" y="1408"/>
                  </a:lnTo>
                  <a:lnTo>
                    <a:pt x="1764" y="1369"/>
                  </a:lnTo>
                  <a:cubicBezTo>
                    <a:pt x="1768" y="1353"/>
                    <a:pt x="1772" y="1337"/>
                    <a:pt x="1776" y="1321"/>
                  </a:cubicBezTo>
                  <a:cubicBezTo>
                    <a:pt x="1766" y="1307"/>
                    <a:pt x="1756" y="1293"/>
                    <a:pt x="1746" y="1279"/>
                  </a:cubicBezTo>
                  <a:lnTo>
                    <a:pt x="1788" y="1240"/>
                  </a:lnTo>
                  <a:lnTo>
                    <a:pt x="1836" y="1192"/>
                  </a:lnTo>
                  <a:cubicBezTo>
                    <a:pt x="1846" y="1201"/>
                    <a:pt x="1856" y="1210"/>
                    <a:pt x="1866" y="1219"/>
                  </a:cubicBezTo>
                  <a:lnTo>
                    <a:pt x="1905" y="1237"/>
                  </a:lnTo>
                  <a:cubicBezTo>
                    <a:pt x="1911" y="1255"/>
                    <a:pt x="1917" y="1273"/>
                    <a:pt x="1923" y="1291"/>
                  </a:cubicBezTo>
                  <a:lnTo>
                    <a:pt x="1953" y="1315"/>
                  </a:lnTo>
                  <a:lnTo>
                    <a:pt x="1995" y="1327"/>
                  </a:lnTo>
                  <a:lnTo>
                    <a:pt x="2064" y="1333"/>
                  </a:lnTo>
                  <a:cubicBezTo>
                    <a:pt x="2059" y="1318"/>
                    <a:pt x="2054" y="1303"/>
                    <a:pt x="2049" y="1288"/>
                  </a:cubicBezTo>
                  <a:cubicBezTo>
                    <a:pt x="2046" y="1272"/>
                    <a:pt x="2043" y="1256"/>
                    <a:pt x="2040" y="1240"/>
                  </a:cubicBezTo>
                  <a:lnTo>
                    <a:pt x="2001" y="1252"/>
                  </a:lnTo>
                  <a:lnTo>
                    <a:pt x="1956" y="1228"/>
                  </a:lnTo>
                  <a:cubicBezTo>
                    <a:pt x="1955" y="1212"/>
                    <a:pt x="1954" y="1196"/>
                    <a:pt x="1953" y="1180"/>
                  </a:cubicBezTo>
                  <a:lnTo>
                    <a:pt x="2001" y="1183"/>
                  </a:lnTo>
                  <a:cubicBezTo>
                    <a:pt x="2011" y="1168"/>
                    <a:pt x="2021" y="1153"/>
                    <a:pt x="2031" y="1138"/>
                  </a:cubicBezTo>
                  <a:lnTo>
                    <a:pt x="2094" y="1165"/>
                  </a:lnTo>
                  <a:lnTo>
                    <a:pt x="2160" y="1183"/>
                  </a:lnTo>
                  <a:lnTo>
                    <a:pt x="2193" y="1204"/>
                  </a:lnTo>
                  <a:cubicBezTo>
                    <a:pt x="2196" y="1182"/>
                    <a:pt x="2199" y="1160"/>
                    <a:pt x="2202" y="1138"/>
                  </a:cubicBezTo>
                  <a:cubicBezTo>
                    <a:pt x="2208" y="1126"/>
                    <a:pt x="2214" y="1114"/>
                    <a:pt x="2220" y="1102"/>
                  </a:cubicBezTo>
                  <a:lnTo>
                    <a:pt x="2286" y="1111"/>
                  </a:lnTo>
                  <a:lnTo>
                    <a:pt x="2352" y="1090"/>
                  </a:lnTo>
                  <a:lnTo>
                    <a:pt x="2364" y="1042"/>
                  </a:lnTo>
                  <a:lnTo>
                    <a:pt x="2418" y="1027"/>
                  </a:lnTo>
                  <a:cubicBezTo>
                    <a:pt x="2423" y="1018"/>
                    <a:pt x="2428" y="1009"/>
                    <a:pt x="2433" y="1000"/>
                  </a:cubicBezTo>
                  <a:cubicBezTo>
                    <a:pt x="2445" y="1004"/>
                    <a:pt x="2457" y="1008"/>
                    <a:pt x="2469" y="1012"/>
                  </a:cubicBezTo>
                  <a:lnTo>
                    <a:pt x="2511" y="979"/>
                  </a:lnTo>
                  <a:cubicBezTo>
                    <a:pt x="2520" y="968"/>
                    <a:pt x="2529" y="957"/>
                    <a:pt x="2538" y="946"/>
                  </a:cubicBezTo>
                  <a:cubicBezTo>
                    <a:pt x="2532" y="937"/>
                    <a:pt x="2526" y="928"/>
                    <a:pt x="2520" y="919"/>
                  </a:cubicBezTo>
                  <a:lnTo>
                    <a:pt x="2553" y="862"/>
                  </a:lnTo>
                  <a:cubicBezTo>
                    <a:pt x="2559" y="848"/>
                    <a:pt x="2565" y="834"/>
                    <a:pt x="2571" y="820"/>
                  </a:cubicBezTo>
                  <a:lnTo>
                    <a:pt x="2649" y="769"/>
                  </a:lnTo>
                  <a:cubicBezTo>
                    <a:pt x="2652" y="759"/>
                    <a:pt x="2656" y="753"/>
                    <a:pt x="2658" y="739"/>
                  </a:cubicBezTo>
                  <a:lnTo>
                    <a:pt x="2660" y="687"/>
                  </a:lnTo>
                  <a:lnTo>
                    <a:pt x="2835" y="645"/>
                  </a:lnTo>
                  <a:lnTo>
                    <a:pt x="2945" y="620"/>
                  </a:lnTo>
                  <a:lnTo>
                    <a:pt x="2975" y="515"/>
                  </a:lnTo>
                  <a:lnTo>
                    <a:pt x="2955" y="420"/>
                  </a:lnTo>
                  <a:lnTo>
                    <a:pt x="3035" y="350"/>
                  </a:lnTo>
                  <a:lnTo>
                    <a:pt x="3095" y="530"/>
                  </a:lnTo>
                  <a:lnTo>
                    <a:pt x="3225" y="425"/>
                  </a:lnTo>
                  <a:lnTo>
                    <a:pt x="3335" y="455"/>
                  </a:lnTo>
                  <a:lnTo>
                    <a:pt x="3305" y="305"/>
                  </a:lnTo>
                  <a:lnTo>
                    <a:pt x="3365" y="240"/>
                  </a:lnTo>
                  <a:lnTo>
                    <a:pt x="3470" y="210"/>
                  </a:lnTo>
                  <a:lnTo>
                    <a:pt x="3480" y="120"/>
                  </a:lnTo>
                  <a:lnTo>
                    <a:pt x="3620" y="45"/>
                  </a:lnTo>
                  <a:lnTo>
                    <a:pt x="3705" y="135"/>
                  </a:lnTo>
                  <a:lnTo>
                    <a:pt x="3840" y="210"/>
                  </a:lnTo>
                  <a:lnTo>
                    <a:pt x="3975" y="230"/>
                  </a:lnTo>
                  <a:lnTo>
                    <a:pt x="4040" y="80"/>
                  </a:lnTo>
                  <a:lnTo>
                    <a:pt x="4170" y="0"/>
                  </a:lnTo>
                  <a:close/>
                </a:path>
              </a:pathLst>
            </a:custGeom>
            <a:grpFill/>
            <a:ln w="9525" cmpd="sng">
              <a:solidFill>
                <a:schemeClr val="bg2">
                  <a:lumMod val="25000"/>
                </a:schemeClr>
              </a:solidFill>
              <a:prstDash val="solid"/>
              <a:round/>
              <a:headEnd/>
              <a:tailEnd/>
            </a:ln>
            <a:effectLst>
              <a:outerShdw dist="28398" dir="6993903" algn="ctr" rotWithShape="0">
                <a:srgbClr val="B2B2B2">
                  <a:alpha val="50000"/>
                </a:srgbClr>
              </a:outerShdw>
            </a:effectLst>
          </p:spPr>
          <p:txBody>
            <a:bodyPr/>
            <a:lstStyle>
              <a:defPPr>
                <a:defRPr lang="zh-CN"/>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5" algn="l" defTabSz="914288" rtl="0" eaLnBrk="1" latinLnBrk="0" hangingPunct="1">
                <a:defRPr sz="1800" kern="1200">
                  <a:solidFill>
                    <a:schemeClr val="tx1"/>
                  </a:solidFill>
                  <a:latin typeface="+mn-lt"/>
                  <a:ea typeface="+mn-ea"/>
                  <a:cs typeface="+mn-cs"/>
                </a:defRPr>
              </a:lvl5pPr>
              <a:lvl6pPr marL="2285719" algn="l" defTabSz="914288" rtl="0" eaLnBrk="1" latinLnBrk="0" hangingPunct="1">
                <a:defRPr sz="1800" kern="1200">
                  <a:solidFill>
                    <a:schemeClr val="tx1"/>
                  </a:solidFill>
                  <a:latin typeface="+mn-lt"/>
                  <a:ea typeface="+mn-ea"/>
                  <a:cs typeface="+mn-cs"/>
                </a:defRPr>
              </a:lvl6pPr>
              <a:lvl7pPr marL="2742863" algn="l" defTabSz="914288" rtl="0" eaLnBrk="1" latinLnBrk="0" hangingPunct="1">
                <a:defRPr sz="1800" kern="1200">
                  <a:solidFill>
                    <a:schemeClr val="tx1"/>
                  </a:solidFill>
                  <a:latin typeface="+mn-lt"/>
                  <a:ea typeface="+mn-ea"/>
                  <a:cs typeface="+mn-cs"/>
                </a:defRPr>
              </a:lvl7pPr>
              <a:lvl8pPr marL="3200007" algn="l" defTabSz="914288" rtl="0" eaLnBrk="1" latinLnBrk="0" hangingPunct="1">
                <a:defRPr sz="1800" kern="1200">
                  <a:solidFill>
                    <a:schemeClr val="tx1"/>
                  </a:solidFill>
                  <a:latin typeface="+mn-lt"/>
                  <a:ea typeface="+mn-ea"/>
                  <a:cs typeface="+mn-cs"/>
                </a:defRPr>
              </a:lvl8pPr>
              <a:lvl9pPr marL="3657150" algn="l" defTabSz="914288" rtl="0" eaLnBrk="1" latinLnBrk="0" hangingPunct="1">
                <a:defRPr sz="1800" kern="1200">
                  <a:solidFill>
                    <a:schemeClr val="tx1"/>
                  </a:solidFill>
                  <a:latin typeface="+mn-lt"/>
                  <a:ea typeface="+mn-ea"/>
                  <a:cs typeface="+mn-cs"/>
                </a:defRPr>
              </a:lvl9pPr>
            </a:lstStyle>
            <a:p>
              <a:endParaRPr lang="zh-CN" altLang="en-US" sz="1200" kern="0">
                <a:solidFill>
                  <a:sysClr val="windowText" lastClr="000000"/>
                </a:solidFill>
              </a:endParaRPr>
            </a:p>
          </p:txBody>
        </p:sp>
      </p:grpSp>
      <p:sp>
        <p:nvSpPr>
          <p:cNvPr id="156" name="Rectangle 155">
            <a:extLst>
              <a:ext uri="{FF2B5EF4-FFF2-40B4-BE49-F238E27FC236}">
                <a16:creationId xmlns:a16="http://schemas.microsoft.com/office/drawing/2014/main" id="{17B5C9C3-6ACE-427F-9AAA-DDC850A4003E}"/>
              </a:ext>
            </a:extLst>
          </p:cNvPr>
          <p:cNvSpPr/>
          <p:nvPr/>
        </p:nvSpPr>
        <p:spPr>
          <a:xfrm>
            <a:off x="9735357" y="6033208"/>
            <a:ext cx="390522" cy="17367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7" name="Rectangle 156">
            <a:extLst>
              <a:ext uri="{FF2B5EF4-FFF2-40B4-BE49-F238E27FC236}">
                <a16:creationId xmlns:a16="http://schemas.microsoft.com/office/drawing/2014/main" id="{292E0DBE-E7C0-42F8-A32E-9118C51BC7C6}"/>
              </a:ext>
            </a:extLst>
          </p:cNvPr>
          <p:cNvSpPr/>
          <p:nvPr/>
        </p:nvSpPr>
        <p:spPr>
          <a:xfrm>
            <a:off x="9753372" y="6343930"/>
            <a:ext cx="390522" cy="17367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8" name="TextBox 157">
            <a:extLst>
              <a:ext uri="{FF2B5EF4-FFF2-40B4-BE49-F238E27FC236}">
                <a16:creationId xmlns:a16="http://schemas.microsoft.com/office/drawing/2014/main" id="{11286803-A7A4-4260-9501-C713A8069C40}"/>
              </a:ext>
            </a:extLst>
          </p:cNvPr>
          <p:cNvSpPr txBox="1"/>
          <p:nvPr/>
        </p:nvSpPr>
        <p:spPr>
          <a:xfrm>
            <a:off x="10183469" y="5938470"/>
            <a:ext cx="1695143" cy="307777"/>
          </a:xfrm>
          <a:prstGeom prst="rect">
            <a:avLst/>
          </a:prstGeom>
          <a:noFill/>
        </p:spPr>
        <p:txBody>
          <a:bodyPr wrap="square" rtlCol="0">
            <a:spAutoFit/>
          </a:bodyPr>
          <a:lstStyle/>
          <a:p>
            <a:r>
              <a:rPr lang="en-IN" sz="1400" b="1" dirty="0"/>
              <a:t>Front runner States </a:t>
            </a:r>
          </a:p>
        </p:txBody>
      </p:sp>
      <p:sp>
        <p:nvSpPr>
          <p:cNvPr id="159" name="TextBox 158">
            <a:extLst>
              <a:ext uri="{FF2B5EF4-FFF2-40B4-BE49-F238E27FC236}">
                <a16:creationId xmlns:a16="http://schemas.microsoft.com/office/drawing/2014/main" id="{C31C56BC-D9E5-4FC1-88A9-7CE732E0EE52}"/>
              </a:ext>
            </a:extLst>
          </p:cNvPr>
          <p:cNvSpPr txBox="1"/>
          <p:nvPr/>
        </p:nvSpPr>
        <p:spPr>
          <a:xfrm>
            <a:off x="10203233" y="6289681"/>
            <a:ext cx="1695143" cy="307777"/>
          </a:xfrm>
          <a:prstGeom prst="rect">
            <a:avLst/>
          </a:prstGeom>
          <a:noFill/>
        </p:spPr>
        <p:txBody>
          <a:bodyPr wrap="square" rtlCol="0">
            <a:spAutoFit/>
          </a:bodyPr>
          <a:lstStyle/>
          <a:p>
            <a:r>
              <a:rPr lang="en-IN" sz="1400" b="1" dirty="0"/>
              <a:t>States speeding up </a:t>
            </a:r>
          </a:p>
        </p:txBody>
      </p:sp>
    </p:spTree>
    <p:extLst>
      <p:ext uri="{BB962C8B-B14F-4D97-AF65-F5344CB8AC3E}">
        <p14:creationId xmlns:p14="http://schemas.microsoft.com/office/powerpoint/2010/main" val="42167309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6"/>
          <p:cNvSpPr/>
          <p:nvPr/>
        </p:nvSpPr>
        <p:spPr>
          <a:xfrm>
            <a:off x="184030" y="410141"/>
            <a:ext cx="5228944" cy="581947"/>
          </a:xfrm>
          <a:prstGeom prst="rect">
            <a:avLst/>
          </a:prstGeom>
          <a:solidFill>
            <a:schemeClr val="accent1">
              <a:alpha val="80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Calibri"/>
                <a:ea typeface="Calibri"/>
                <a:cs typeface="Calibri"/>
                <a:sym typeface="Calibri"/>
              </a:rPr>
              <a:t>RTS Progress Status</a:t>
            </a:r>
            <a:endParaRPr kumimoji="0" sz="2800" b="1" i="0" u="none" strike="noStrike" kern="1200" cap="none" spc="0" normalizeH="0" baseline="0" noProof="0">
              <a:ln>
                <a:noFill/>
              </a:ln>
              <a:solidFill>
                <a:prstClr val="white"/>
              </a:solidFill>
              <a:effectLst/>
              <a:uLnTx/>
              <a:uFillTx/>
              <a:latin typeface="Calibri"/>
              <a:ea typeface="Calibri"/>
              <a:cs typeface="Calibri"/>
              <a:sym typeface="Calibri"/>
            </a:endParaRPr>
          </a:p>
        </p:txBody>
      </p:sp>
      <p:graphicFrame>
        <p:nvGraphicFramePr>
          <p:cNvPr id="398" name="Google Shape;398;p66"/>
          <p:cNvGraphicFramePr/>
          <p:nvPr/>
        </p:nvGraphicFramePr>
        <p:xfrm>
          <a:off x="5702348" y="-22512"/>
          <a:ext cx="6305600" cy="7095755"/>
        </p:xfrm>
        <a:graphic>
          <a:graphicData uri="http://schemas.openxmlformats.org/drawingml/2006/table">
            <a:tbl>
              <a:tblPr>
                <a:noFill/>
              </a:tblPr>
              <a:tblGrid>
                <a:gridCol w="734666">
                  <a:extLst>
                    <a:ext uri="{9D8B030D-6E8A-4147-A177-3AD203B41FA5}">
                      <a16:colId xmlns:a16="http://schemas.microsoft.com/office/drawing/2014/main" val="20000"/>
                    </a:ext>
                  </a:extLst>
                </a:gridCol>
                <a:gridCol w="1620570">
                  <a:extLst>
                    <a:ext uri="{9D8B030D-6E8A-4147-A177-3AD203B41FA5}">
                      <a16:colId xmlns:a16="http://schemas.microsoft.com/office/drawing/2014/main" val="20001"/>
                    </a:ext>
                  </a:extLst>
                </a:gridCol>
                <a:gridCol w="1836214">
                  <a:extLst>
                    <a:ext uri="{9D8B030D-6E8A-4147-A177-3AD203B41FA5}">
                      <a16:colId xmlns:a16="http://schemas.microsoft.com/office/drawing/2014/main" val="20002"/>
                    </a:ext>
                  </a:extLst>
                </a:gridCol>
                <a:gridCol w="2114150">
                  <a:extLst>
                    <a:ext uri="{9D8B030D-6E8A-4147-A177-3AD203B41FA5}">
                      <a16:colId xmlns:a16="http://schemas.microsoft.com/office/drawing/2014/main" val="20003"/>
                    </a:ext>
                  </a:extLst>
                </a:gridCol>
              </a:tblGrid>
              <a:tr h="253850">
                <a:tc>
                  <a:txBody>
                    <a:bodyPr/>
                    <a:lstStyle/>
                    <a:p>
                      <a:pPr marL="0" marR="0" lvl="0" indent="0" algn="ctr" rtl="0">
                        <a:spcBef>
                          <a:spcPts val="0"/>
                        </a:spcBef>
                        <a:spcAft>
                          <a:spcPts val="0"/>
                        </a:spcAft>
                        <a:buNone/>
                      </a:pPr>
                      <a:r>
                        <a:rPr lang="en-US" sz="1600" b="1" u="none" strike="noStrike" dirty="0">
                          <a:solidFill>
                            <a:schemeClr val="bg1"/>
                          </a:solidFill>
                        </a:rPr>
                        <a:t>Sr. No.</a:t>
                      </a:r>
                      <a:endParaRPr sz="1600" b="1" i="0" u="none" strike="noStrike" dirty="0">
                        <a:solidFill>
                          <a:schemeClr val="bg1"/>
                        </a:solidFill>
                        <a:latin typeface="Calibri"/>
                        <a:ea typeface="Calibri"/>
                        <a:cs typeface="Calibri"/>
                        <a:sym typeface="Calibri"/>
                      </a:endParaRPr>
                    </a:p>
                  </a:txBody>
                  <a:tcPr marL="6400" marR="6400" marT="6400" marB="0" anchor="ctr"/>
                </a:tc>
                <a:tc>
                  <a:txBody>
                    <a:bodyPr/>
                    <a:lstStyle/>
                    <a:p>
                      <a:pPr marL="0" marR="0" lvl="0" indent="0" algn="ctr" rtl="0">
                        <a:spcBef>
                          <a:spcPts val="0"/>
                        </a:spcBef>
                        <a:spcAft>
                          <a:spcPts val="0"/>
                        </a:spcAft>
                        <a:buNone/>
                      </a:pPr>
                      <a:r>
                        <a:rPr lang="en-US" sz="1600" b="1" u="none" strike="noStrike" dirty="0">
                          <a:solidFill>
                            <a:schemeClr val="bg1"/>
                          </a:solidFill>
                        </a:rPr>
                        <a:t>States</a:t>
                      </a:r>
                      <a:endParaRPr sz="1600" b="1" i="0" u="none" strike="noStrike" dirty="0">
                        <a:solidFill>
                          <a:schemeClr val="bg1"/>
                        </a:solidFill>
                        <a:latin typeface="Calibri"/>
                        <a:ea typeface="Calibri"/>
                        <a:cs typeface="Calibri"/>
                        <a:sym typeface="Calibri"/>
                      </a:endParaRPr>
                    </a:p>
                  </a:txBody>
                  <a:tcPr marL="6400" marR="6400" marT="6400" marB="0" anchor="ctr"/>
                </a:tc>
                <a:tc>
                  <a:txBody>
                    <a:bodyPr/>
                    <a:lstStyle/>
                    <a:p>
                      <a:pPr marL="0" marR="0" lvl="0" indent="0" algn="ctr" rtl="0">
                        <a:spcBef>
                          <a:spcPts val="0"/>
                        </a:spcBef>
                        <a:spcAft>
                          <a:spcPts val="0"/>
                        </a:spcAft>
                        <a:buNone/>
                      </a:pPr>
                      <a:r>
                        <a:rPr lang="en-US" sz="1400" b="1" u="none" strike="noStrike" dirty="0">
                          <a:solidFill>
                            <a:schemeClr val="bg1"/>
                          </a:solidFill>
                        </a:rPr>
                        <a:t>Capacity Allotted (MW)</a:t>
                      </a:r>
                      <a:endParaRPr sz="1400" b="1" i="0" u="none" strike="noStrike" dirty="0">
                        <a:solidFill>
                          <a:schemeClr val="bg1"/>
                        </a:solidFill>
                        <a:latin typeface="Calibri"/>
                        <a:ea typeface="Calibri"/>
                        <a:cs typeface="Calibri"/>
                        <a:sym typeface="Calibri"/>
                      </a:endParaRPr>
                    </a:p>
                  </a:txBody>
                  <a:tcPr marL="6400" marR="6400" marT="6400" marB="0" anchor="ctr"/>
                </a:tc>
                <a:tc>
                  <a:txBody>
                    <a:bodyPr/>
                    <a:lstStyle/>
                    <a:p>
                      <a:pPr marL="0" marR="0" lvl="0" indent="0" algn="ctr" rtl="0">
                        <a:spcBef>
                          <a:spcPts val="0"/>
                        </a:spcBef>
                        <a:spcAft>
                          <a:spcPts val="0"/>
                        </a:spcAft>
                        <a:buNone/>
                      </a:pPr>
                      <a:r>
                        <a:rPr lang="en-US" sz="1400" b="1" u="none" strike="noStrike" dirty="0">
                          <a:solidFill>
                            <a:schemeClr val="bg1"/>
                          </a:solidFill>
                        </a:rPr>
                        <a:t>Capacity Installed (MW)</a:t>
                      </a:r>
                      <a:endParaRPr sz="1400" b="1" i="0" u="none" strike="noStrike" dirty="0">
                        <a:solidFill>
                          <a:schemeClr val="bg1"/>
                        </a:solidFill>
                        <a:latin typeface="Calibri"/>
                        <a:ea typeface="Calibri"/>
                        <a:cs typeface="Calibri"/>
                        <a:sym typeface="Calibri"/>
                      </a:endParaRPr>
                    </a:p>
                  </a:txBody>
                  <a:tcPr marL="6400" marR="6400" marT="6400" marB="0" anchor="ctr"/>
                </a:tc>
                <a:extLst>
                  <a:ext uri="{0D108BD9-81ED-4DB2-BD59-A6C34878D82A}">
                    <a16:rowId xmlns:a16="http://schemas.microsoft.com/office/drawing/2014/main" val="10000"/>
                  </a:ext>
                </a:extLst>
              </a:tr>
              <a:tr h="199725">
                <a:tc>
                  <a:txBody>
                    <a:bodyPr/>
                    <a:lstStyle/>
                    <a:p>
                      <a:pPr marL="0" marR="0" lvl="0" indent="0" algn="ctr" rtl="0">
                        <a:spcBef>
                          <a:spcPts val="0"/>
                        </a:spcBef>
                        <a:spcAft>
                          <a:spcPts val="0"/>
                        </a:spcAft>
                        <a:buNone/>
                      </a:pPr>
                      <a:r>
                        <a:rPr lang="en-US" sz="1250" u="none" strike="noStrike" dirty="0"/>
                        <a:t>1</a:t>
                      </a:r>
                      <a:endParaRPr sz="1250" b="0" i="0" u="none" strike="noStrike" dirty="0">
                        <a:solidFill>
                          <a:srgbClr val="000000"/>
                        </a:solidFill>
                        <a:latin typeface="Calibri"/>
                        <a:ea typeface="Calibri"/>
                        <a:cs typeface="Calibri"/>
                        <a:sym typeface="Calibri"/>
                      </a:endParaRPr>
                    </a:p>
                  </a:txBody>
                  <a:tcPr marL="6400" marR="6400" marT="6400" marB="0" anchor="ctr">
                    <a:solidFill>
                      <a:srgbClr val="C4E0B2"/>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Gujarat</a:t>
                      </a:r>
                    </a:p>
                  </a:txBody>
                  <a:tcPr marL="6350" marR="6350" marT="6350" marB="0" anchor="ctr">
                    <a:solidFill>
                      <a:srgbClr val="C4E0B2"/>
                    </a:solidFill>
                  </a:tcPr>
                </a:tc>
                <a:tc>
                  <a:txBody>
                    <a:bodyPr/>
                    <a:lstStyle/>
                    <a:p>
                      <a:pPr algn="ctr" fontAlgn="ctr"/>
                      <a:r>
                        <a:rPr lang="en-IN" sz="1245" b="0" i="0" u="none" strike="noStrike">
                          <a:solidFill>
                            <a:srgbClr val="000000"/>
                          </a:solidFill>
                          <a:effectLst/>
                          <a:latin typeface="Calibri" panose="020F0502020204030204" pitchFamily="34" charset="0"/>
                        </a:rPr>
                        <a:t>1937</a:t>
                      </a:r>
                    </a:p>
                  </a:txBody>
                  <a:tcPr marL="6350" marR="6350" marT="6350" marB="0" anchor="ctr">
                    <a:solidFill>
                      <a:srgbClr val="C4E0B2"/>
                    </a:solidFill>
                  </a:tcPr>
                </a:tc>
                <a:tc>
                  <a:txBody>
                    <a:bodyPr/>
                    <a:lstStyle/>
                    <a:p>
                      <a:pPr algn="ctr" fontAlgn="ctr"/>
                      <a:r>
                        <a:rPr lang="en-IN" sz="1245" b="0" i="0" u="none" strike="noStrike" dirty="0">
                          <a:solidFill>
                            <a:srgbClr val="FF0000"/>
                          </a:solidFill>
                          <a:effectLst/>
                          <a:latin typeface="Arial" panose="020B0604020202020204" pitchFamily="34" charset="0"/>
                        </a:rPr>
                        <a:t>1143.7</a:t>
                      </a:r>
                    </a:p>
                  </a:txBody>
                  <a:tcPr marL="6350" marR="6350" marT="6350" marB="0" anchor="ctr">
                    <a:solidFill>
                      <a:srgbClr val="C4E0B2"/>
                    </a:solidFill>
                  </a:tcPr>
                </a:tc>
                <a:extLst>
                  <a:ext uri="{0D108BD9-81ED-4DB2-BD59-A6C34878D82A}">
                    <a16:rowId xmlns:a16="http://schemas.microsoft.com/office/drawing/2014/main" val="10001"/>
                  </a:ext>
                </a:extLst>
              </a:tr>
              <a:tr h="199725">
                <a:tc>
                  <a:txBody>
                    <a:bodyPr/>
                    <a:lstStyle/>
                    <a:p>
                      <a:pPr marL="0" marR="0" lvl="0" indent="0" algn="ctr" rtl="0">
                        <a:spcBef>
                          <a:spcPts val="0"/>
                        </a:spcBef>
                        <a:spcAft>
                          <a:spcPts val="0"/>
                        </a:spcAft>
                        <a:buNone/>
                      </a:pPr>
                      <a:r>
                        <a:rPr lang="en-US" sz="1250" u="none" strike="noStrike" dirty="0"/>
                        <a:t>2</a:t>
                      </a:r>
                      <a:endParaRPr sz="1250" b="0" i="0" u="none" strike="noStrike" dirty="0">
                        <a:solidFill>
                          <a:srgbClr val="000000"/>
                        </a:solidFill>
                        <a:latin typeface="Calibri"/>
                        <a:ea typeface="Calibri"/>
                        <a:cs typeface="Calibri"/>
                        <a:sym typeface="Calibri"/>
                      </a:endParaRPr>
                    </a:p>
                  </a:txBody>
                  <a:tcPr marL="6400" marR="6400" marT="6400" marB="0" anchor="ctr">
                    <a:solidFill>
                      <a:srgbClr val="C4E0B2"/>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Rajasthan</a:t>
                      </a:r>
                    </a:p>
                  </a:txBody>
                  <a:tcPr marL="6350" marR="6350" marT="6350" marB="0" anchor="ctr">
                    <a:solidFill>
                      <a:srgbClr val="C4E0B2"/>
                    </a:solidFill>
                  </a:tcPr>
                </a:tc>
                <a:tc>
                  <a:txBody>
                    <a:bodyPr/>
                    <a:lstStyle/>
                    <a:p>
                      <a:pPr algn="ctr" fontAlgn="ctr"/>
                      <a:r>
                        <a:rPr lang="en-IN" sz="1245" b="0" i="0" u="none" strike="noStrike">
                          <a:solidFill>
                            <a:srgbClr val="000000"/>
                          </a:solidFill>
                          <a:effectLst/>
                          <a:latin typeface="Calibri" panose="020F0502020204030204" pitchFamily="34" charset="0"/>
                        </a:rPr>
                        <a:t>100</a:t>
                      </a:r>
                    </a:p>
                  </a:txBody>
                  <a:tcPr marL="6350" marR="6350" marT="6350" marB="0" anchor="ctr">
                    <a:solidFill>
                      <a:srgbClr val="C4E0B2"/>
                    </a:solidFill>
                  </a:tcPr>
                </a:tc>
                <a:tc>
                  <a:txBody>
                    <a:bodyPr/>
                    <a:lstStyle/>
                    <a:p>
                      <a:pPr algn="ctr" fontAlgn="ctr"/>
                      <a:r>
                        <a:rPr lang="en-IN" sz="1245" b="0" i="0" u="none" strike="noStrike" dirty="0">
                          <a:solidFill>
                            <a:srgbClr val="FF0000"/>
                          </a:solidFill>
                          <a:effectLst/>
                          <a:latin typeface="Arial" panose="020B0604020202020204" pitchFamily="34" charset="0"/>
                        </a:rPr>
                        <a:t>36.46</a:t>
                      </a:r>
                    </a:p>
                  </a:txBody>
                  <a:tcPr marL="6350" marR="6350" marT="6350" marB="0" anchor="ctr">
                    <a:solidFill>
                      <a:srgbClr val="C4E0B2"/>
                    </a:solidFill>
                  </a:tcPr>
                </a:tc>
                <a:extLst>
                  <a:ext uri="{0D108BD9-81ED-4DB2-BD59-A6C34878D82A}">
                    <a16:rowId xmlns:a16="http://schemas.microsoft.com/office/drawing/2014/main" val="10002"/>
                  </a:ext>
                </a:extLst>
              </a:tr>
              <a:tr h="199725">
                <a:tc>
                  <a:txBody>
                    <a:bodyPr/>
                    <a:lstStyle/>
                    <a:p>
                      <a:pPr marL="0" marR="0" lvl="0" indent="0" algn="ctr" rtl="0">
                        <a:spcBef>
                          <a:spcPts val="0"/>
                        </a:spcBef>
                        <a:spcAft>
                          <a:spcPts val="0"/>
                        </a:spcAft>
                        <a:buNone/>
                      </a:pPr>
                      <a:r>
                        <a:rPr lang="en-US" sz="1250" u="none" strike="noStrike"/>
                        <a:t>3</a:t>
                      </a:r>
                      <a:endParaRPr sz="1250" b="0" i="0" u="none" strike="noStrike">
                        <a:solidFill>
                          <a:srgbClr val="000000"/>
                        </a:solidFill>
                        <a:latin typeface="Calibri"/>
                        <a:ea typeface="Calibri"/>
                        <a:cs typeface="Calibri"/>
                        <a:sym typeface="Calibri"/>
                      </a:endParaRPr>
                    </a:p>
                  </a:txBody>
                  <a:tcPr marL="6400" marR="6400" marT="6400" marB="0" anchor="ctr">
                    <a:solidFill>
                      <a:srgbClr val="C4E0B2"/>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Uttar Pradesh</a:t>
                      </a:r>
                    </a:p>
                  </a:txBody>
                  <a:tcPr marL="6350" marR="6350" marT="6350" marB="0" anchor="ctr">
                    <a:solidFill>
                      <a:srgbClr val="C4E0B2"/>
                    </a:solidFill>
                  </a:tcPr>
                </a:tc>
                <a:tc>
                  <a:txBody>
                    <a:bodyPr/>
                    <a:lstStyle/>
                    <a:p>
                      <a:pPr algn="ctr" fontAlgn="ctr"/>
                      <a:r>
                        <a:rPr lang="en-IN" sz="1245" b="0" i="0" u="none" strike="noStrike">
                          <a:solidFill>
                            <a:srgbClr val="000000"/>
                          </a:solidFill>
                          <a:effectLst/>
                          <a:latin typeface="Calibri" panose="020F0502020204030204" pitchFamily="34" charset="0"/>
                        </a:rPr>
                        <a:t>98</a:t>
                      </a:r>
                    </a:p>
                  </a:txBody>
                  <a:tcPr marL="6350" marR="6350" marT="6350" marB="0" anchor="ctr">
                    <a:solidFill>
                      <a:srgbClr val="C4E0B2"/>
                    </a:solidFill>
                  </a:tcPr>
                </a:tc>
                <a:tc>
                  <a:txBody>
                    <a:bodyPr/>
                    <a:lstStyle/>
                    <a:p>
                      <a:pPr algn="ctr" fontAlgn="ctr"/>
                      <a:r>
                        <a:rPr lang="en-IN" sz="1245" b="0" i="0" u="none" strike="noStrike" dirty="0">
                          <a:solidFill>
                            <a:srgbClr val="FF0000"/>
                          </a:solidFill>
                          <a:effectLst/>
                          <a:latin typeface="Arial" panose="020B0604020202020204" pitchFamily="34" charset="0"/>
                        </a:rPr>
                        <a:t>23.68</a:t>
                      </a:r>
                    </a:p>
                  </a:txBody>
                  <a:tcPr marL="6350" marR="6350" marT="6350" marB="0" anchor="ctr">
                    <a:solidFill>
                      <a:srgbClr val="C4E0B2"/>
                    </a:solidFill>
                  </a:tcPr>
                </a:tc>
                <a:extLst>
                  <a:ext uri="{0D108BD9-81ED-4DB2-BD59-A6C34878D82A}">
                    <a16:rowId xmlns:a16="http://schemas.microsoft.com/office/drawing/2014/main" val="10003"/>
                  </a:ext>
                </a:extLst>
              </a:tr>
              <a:tr h="199725">
                <a:tc>
                  <a:txBody>
                    <a:bodyPr/>
                    <a:lstStyle/>
                    <a:p>
                      <a:pPr marL="0" marR="0" lvl="0" indent="0" algn="ctr" rtl="0">
                        <a:spcBef>
                          <a:spcPts val="0"/>
                        </a:spcBef>
                        <a:spcAft>
                          <a:spcPts val="0"/>
                        </a:spcAft>
                        <a:buNone/>
                      </a:pPr>
                      <a:r>
                        <a:rPr lang="en-US" sz="1250" u="none" strike="noStrike"/>
                        <a:t>4</a:t>
                      </a:r>
                      <a:endParaRPr sz="1250" b="0" i="0" u="none" strike="noStrike">
                        <a:solidFill>
                          <a:srgbClr val="000000"/>
                        </a:solidFill>
                        <a:latin typeface="Calibri"/>
                        <a:ea typeface="Calibri"/>
                        <a:cs typeface="Calibri"/>
                        <a:sym typeface="Calibri"/>
                      </a:endParaRPr>
                    </a:p>
                  </a:txBody>
                  <a:tcPr marL="6400" marR="6400" marT="6400" marB="0" anchor="ctr">
                    <a:solidFill>
                      <a:srgbClr val="C4E0B2"/>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Haryana</a:t>
                      </a:r>
                    </a:p>
                  </a:txBody>
                  <a:tcPr marL="6350" marR="6350" marT="6350" marB="0" anchor="ctr">
                    <a:solidFill>
                      <a:srgbClr val="C4E0B2"/>
                    </a:solidFill>
                  </a:tcPr>
                </a:tc>
                <a:tc>
                  <a:txBody>
                    <a:bodyPr/>
                    <a:lstStyle/>
                    <a:p>
                      <a:pPr algn="ctr" fontAlgn="ctr"/>
                      <a:r>
                        <a:rPr lang="en-IN" sz="1245" b="0" i="0" u="none" strike="noStrike" dirty="0">
                          <a:solidFill>
                            <a:srgbClr val="000000"/>
                          </a:solidFill>
                          <a:effectLst/>
                          <a:latin typeface="Calibri" panose="020F0502020204030204" pitchFamily="34" charset="0"/>
                        </a:rPr>
                        <a:t>51.5</a:t>
                      </a:r>
                    </a:p>
                  </a:txBody>
                  <a:tcPr marL="6350" marR="6350" marT="6350" marB="0" anchor="ctr">
                    <a:solidFill>
                      <a:srgbClr val="C4E0B2"/>
                    </a:solidFill>
                  </a:tcPr>
                </a:tc>
                <a:tc>
                  <a:txBody>
                    <a:bodyPr/>
                    <a:lstStyle/>
                    <a:p>
                      <a:pPr algn="ctr" fontAlgn="ctr"/>
                      <a:r>
                        <a:rPr lang="en-IN" sz="1245" b="0" i="0" u="none" strike="noStrike" dirty="0">
                          <a:solidFill>
                            <a:srgbClr val="FF0000"/>
                          </a:solidFill>
                          <a:effectLst/>
                          <a:latin typeface="Arial" panose="020B0604020202020204" pitchFamily="34" charset="0"/>
                        </a:rPr>
                        <a:t>22.36</a:t>
                      </a:r>
                    </a:p>
                  </a:txBody>
                  <a:tcPr marL="6350" marR="6350" marT="6350" marB="0" anchor="ctr">
                    <a:solidFill>
                      <a:srgbClr val="C4E0B2"/>
                    </a:solidFill>
                  </a:tcPr>
                </a:tc>
                <a:extLst>
                  <a:ext uri="{0D108BD9-81ED-4DB2-BD59-A6C34878D82A}">
                    <a16:rowId xmlns:a16="http://schemas.microsoft.com/office/drawing/2014/main" val="10004"/>
                  </a:ext>
                </a:extLst>
              </a:tr>
              <a:tr h="205750">
                <a:tc>
                  <a:txBody>
                    <a:bodyPr/>
                    <a:lstStyle/>
                    <a:p>
                      <a:pPr marL="0" marR="0" lvl="0" indent="0" algn="ctr" rtl="0">
                        <a:spcBef>
                          <a:spcPts val="0"/>
                        </a:spcBef>
                        <a:spcAft>
                          <a:spcPts val="0"/>
                        </a:spcAft>
                        <a:buNone/>
                      </a:pPr>
                      <a:r>
                        <a:rPr lang="en-US" sz="1250" u="none" strike="noStrike"/>
                        <a:t>5</a:t>
                      </a:r>
                      <a:endParaRPr sz="1250" b="0" i="0" u="none" strike="noStrike">
                        <a:solidFill>
                          <a:srgbClr val="000000"/>
                        </a:solidFill>
                        <a:latin typeface="Calibri"/>
                        <a:ea typeface="Calibri"/>
                        <a:cs typeface="Calibri"/>
                        <a:sym typeface="Calibri"/>
                      </a:endParaRPr>
                    </a:p>
                  </a:txBody>
                  <a:tcPr marL="6400" marR="6400" marT="6400" marB="0" anchor="ctr">
                    <a:solidFill>
                      <a:srgbClr val="C4E0B2"/>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Telangana</a:t>
                      </a:r>
                    </a:p>
                  </a:txBody>
                  <a:tcPr marL="6350" marR="6350" marT="6350" marB="0" anchor="ctr">
                    <a:solidFill>
                      <a:srgbClr val="C4E0B2"/>
                    </a:solidFill>
                  </a:tcPr>
                </a:tc>
                <a:tc>
                  <a:txBody>
                    <a:bodyPr/>
                    <a:lstStyle/>
                    <a:p>
                      <a:pPr algn="ctr" fontAlgn="ctr"/>
                      <a:r>
                        <a:rPr lang="en-IN" sz="1245" b="0" i="0" u="none" strike="noStrike" dirty="0">
                          <a:solidFill>
                            <a:srgbClr val="000000"/>
                          </a:solidFill>
                          <a:effectLst/>
                          <a:latin typeface="Calibri" panose="020F0502020204030204" pitchFamily="34" charset="0"/>
                        </a:rPr>
                        <a:t>72.295</a:t>
                      </a:r>
                    </a:p>
                  </a:txBody>
                  <a:tcPr marL="6350" marR="6350" marT="6350" marB="0" anchor="ctr">
                    <a:solidFill>
                      <a:srgbClr val="C4E0B2"/>
                    </a:solidFill>
                  </a:tcPr>
                </a:tc>
                <a:tc>
                  <a:txBody>
                    <a:bodyPr/>
                    <a:lstStyle/>
                    <a:p>
                      <a:pPr algn="ctr" fontAlgn="ctr"/>
                      <a:r>
                        <a:rPr lang="en-IN" sz="1245" b="0" i="0" u="none" strike="noStrike" dirty="0">
                          <a:solidFill>
                            <a:srgbClr val="FF0000"/>
                          </a:solidFill>
                          <a:effectLst/>
                          <a:latin typeface="Arial" panose="020B0604020202020204" pitchFamily="34" charset="0"/>
                        </a:rPr>
                        <a:t>21.44</a:t>
                      </a:r>
                    </a:p>
                  </a:txBody>
                  <a:tcPr marL="6350" marR="6350" marT="6350" marB="0" anchor="ctr">
                    <a:solidFill>
                      <a:srgbClr val="C4E0B2"/>
                    </a:solidFill>
                  </a:tcPr>
                </a:tc>
                <a:extLst>
                  <a:ext uri="{0D108BD9-81ED-4DB2-BD59-A6C34878D82A}">
                    <a16:rowId xmlns:a16="http://schemas.microsoft.com/office/drawing/2014/main" val="10005"/>
                  </a:ext>
                </a:extLst>
              </a:tr>
              <a:tr h="199725">
                <a:tc>
                  <a:txBody>
                    <a:bodyPr/>
                    <a:lstStyle/>
                    <a:p>
                      <a:pPr marL="0" marR="0" lvl="0" indent="0" algn="ctr" rtl="0">
                        <a:spcBef>
                          <a:spcPts val="0"/>
                        </a:spcBef>
                        <a:spcAft>
                          <a:spcPts val="0"/>
                        </a:spcAft>
                        <a:buNone/>
                      </a:pPr>
                      <a:r>
                        <a:rPr lang="en-US" sz="1250" u="none" strike="noStrike"/>
                        <a:t>6</a:t>
                      </a:r>
                      <a:endParaRPr sz="1250" b="0" i="0" u="none" strike="noStrike">
                        <a:solidFill>
                          <a:srgbClr val="000000"/>
                        </a:solidFill>
                        <a:latin typeface="Calibri"/>
                        <a:ea typeface="Calibri"/>
                        <a:cs typeface="Calibri"/>
                        <a:sym typeface="Calibri"/>
                      </a:endParaRPr>
                    </a:p>
                  </a:txBody>
                  <a:tcPr marL="6400" marR="6400" marT="6400" marB="0" anchor="ctr">
                    <a:solidFill>
                      <a:srgbClr val="C4E0B2"/>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Kerala</a:t>
                      </a:r>
                    </a:p>
                  </a:txBody>
                  <a:tcPr marL="6350" marR="6350" marT="6350" marB="0" anchor="ctr">
                    <a:solidFill>
                      <a:srgbClr val="C4E0B2"/>
                    </a:solidFill>
                  </a:tcPr>
                </a:tc>
                <a:tc>
                  <a:txBody>
                    <a:bodyPr/>
                    <a:lstStyle/>
                    <a:p>
                      <a:pPr algn="ctr" fontAlgn="ctr"/>
                      <a:r>
                        <a:rPr lang="en-IN" sz="1245" b="0" i="0" u="none" strike="noStrike">
                          <a:solidFill>
                            <a:srgbClr val="000000"/>
                          </a:solidFill>
                          <a:effectLst/>
                          <a:latin typeface="Arial" panose="020B0604020202020204" pitchFamily="34" charset="0"/>
                        </a:rPr>
                        <a:t>250.9</a:t>
                      </a:r>
                    </a:p>
                  </a:txBody>
                  <a:tcPr marL="6350" marR="6350" marT="6350" marB="0" anchor="ctr">
                    <a:solidFill>
                      <a:srgbClr val="C4E0B2"/>
                    </a:solidFill>
                  </a:tcPr>
                </a:tc>
                <a:tc>
                  <a:txBody>
                    <a:bodyPr/>
                    <a:lstStyle/>
                    <a:p>
                      <a:pPr algn="ctr" fontAlgn="ctr"/>
                      <a:r>
                        <a:rPr lang="en-IN" sz="1245" b="0" i="0" u="none" strike="noStrike" dirty="0">
                          <a:solidFill>
                            <a:srgbClr val="FF0000"/>
                          </a:solidFill>
                          <a:effectLst/>
                          <a:latin typeface="Arial" panose="020B0604020202020204" pitchFamily="34" charset="0"/>
                        </a:rPr>
                        <a:t>19.96</a:t>
                      </a:r>
                    </a:p>
                  </a:txBody>
                  <a:tcPr marL="6350" marR="6350" marT="6350" marB="0" anchor="ctr">
                    <a:solidFill>
                      <a:srgbClr val="C4E0B2"/>
                    </a:solidFill>
                  </a:tcPr>
                </a:tc>
                <a:extLst>
                  <a:ext uri="{0D108BD9-81ED-4DB2-BD59-A6C34878D82A}">
                    <a16:rowId xmlns:a16="http://schemas.microsoft.com/office/drawing/2014/main" val="10006"/>
                  </a:ext>
                </a:extLst>
              </a:tr>
              <a:tr h="199725">
                <a:tc>
                  <a:txBody>
                    <a:bodyPr/>
                    <a:lstStyle/>
                    <a:p>
                      <a:pPr marL="0" marR="0" lvl="0" indent="0" algn="ctr" rtl="0">
                        <a:spcBef>
                          <a:spcPts val="0"/>
                        </a:spcBef>
                        <a:spcAft>
                          <a:spcPts val="0"/>
                        </a:spcAft>
                        <a:buNone/>
                      </a:pPr>
                      <a:r>
                        <a:rPr lang="en-US" sz="1250" u="none" strike="noStrike"/>
                        <a:t>7</a:t>
                      </a:r>
                      <a:endParaRPr sz="1250" b="0" i="0" u="none" strike="noStrike">
                        <a:solidFill>
                          <a:srgbClr val="000000"/>
                        </a:solidFill>
                        <a:latin typeface="Calibri"/>
                        <a:ea typeface="Calibri"/>
                        <a:cs typeface="Calibri"/>
                        <a:sym typeface="Calibri"/>
                      </a:endParaRPr>
                    </a:p>
                  </a:txBody>
                  <a:tcPr marL="6400" marR="6400" marT="6400" marB="0" anchor="ctr">
                    <a:solidFill>
                      <a:srgbClr val="C4E0B2"/>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Madhya Pradesh</a:t>
                      </a:r>
                    </a:p>
                  </a:txBody>
                  <a:tcPr marL="6350" marR="6350" marT="6350" marB="0" anchor="ctr">
                    <a:solidFill>
                      <a:srgbClr val="C4E0B2"/>
                    </a:solidFill>
                  </a:tcPr>
                </a:tc>
                <a:tc>
                  <a:txBody>
                    <a:bodyPr/>
                    <a:lstStyle/>
                    <a:p>
                      <a:pPr algn="ctr" fontAlgn="ctr"/>
                      <a:r>
                        <a:rPr lang="en-IN" sz="1245" b="0" i="0" u="none" strike="noStrike">
                          <a:solidFill>
                            <a:srgbClr val="000000"/>
                          </a:solidFill>
                          <a:effectLst/>
                          <a:latin typeface="Calibri" panose="020F0502020204030204" pitchFamily="34" charset="0"/>
                        </a:rPr>
                        <a:t>58</a:t>
                      </a:r>
                    </a:p>
                  </a:txBody>
                  <a:tcPr marL="6350" marR="6350" marT="6350" marB="0" anchor="ctr">
                    <a:solidFill>
                      <a:srgbClr val="C4E0B2"/>
                    </a:solidFill>
                  </a:tcPr>
                </a:tc>
                <a:tc>
                  <a:txBody>
                    <a:bodyPr/>
                    <a:lstStyle/>
                    <a:p>
                      <a:pPr algn="ctr" fontAlgn="ctr"/>
                      <a:r>
                        <a:rPr lang="en-IN" sz="1245" b="0" i="0" u="none" strike="noStrike" dirty="0">
                          <a:solidFill>
                            <a:srgbClr val="FF0000"/>
                          </a:solidFill>
                          <a:effectLst/>
                          <a:latin typeface="Arial" panose="020B0604020202020204" pitchFamily="34" charset="0"/>
                        </a:rPr>
                        <a:t>18.19</a:t>
                      </a:r>
                    </a:p>
                  </a:txBody>
                  <a:tcPr marL="6350" marR="6350" marT="6350" marB="0" anchor="ctr">
                    <a:solidFill>
                      <a:srgbClr val="C4E0B2"/>
                    </a:solidFill>
                  </a:tcPr>
                </a:tc>
                <a:extLst>
                  <a:ext uri="{0D108BD9-81ED-4DB2-BD59-A6C34878D82A}">
                    <a16:rowId xmlns:a16="http://schemas.microsoft.com/office/drawing/2014/main" val="10007"/>
                  </a:ext>
                </a:extLst>
              </a:tr>
              <a:tr h="199725">
                <a:tc>
                  <a:txBody>
                    <a:bodyPr/>
                    <a:lstStyle/>
                    <a:p>
                      <a:pPr marL="0" marR="0" lvl="0" indent="0" algn="ctr" rtl="0">
                        <a:spcBef>
                          <a:spcPts val="0"/>
                        </a:spcBef>
                        <a:spcAft>
                          <a:spcPts val="0"/>
                        </a:spcAft>
                        <a:buNone/>
                      </a:pPr>
                      <a:r>
                        <a:rPr lang="en-US" sz="1250" u="none" strike="noStrike"/>
                        <a:t>8</a:t>
                      </a:r>
                      <a:endParaRPr sz="1250" b="0" i="0" u="none" strike="noStrike">
                        <a:solidFill>
                          <a:srgbClr val="000000"/>
                        </a:solidFill>
                        <a:latin typeface="Calibri"/>
                        <a:ea typeface="Calibri"/>
                        <a:cs typeface="Calibri"/>
                        <a:sym typeface="Calibri"/>
                      </a:endParaRPr>
                    </a:p>
                  </a:txBody>
                  <a:tcPr marL="6400" marR="6400" marT="6400" marB="0" anchor="ctr">
                    <a:solidFill>
                      <a:srgbClr val="C4E0B2"/>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Chandigarh</a:t>
                      </a:r>
                    </a:p>
                  </a:txBody>
                  <a:tcPr marL="6350" marR="6350" marT="6350" marB="0" anchor="ctr">
                    <a:solidFill>
                      <a:srgbClr val="C4E0B2"/>
                    </a:solidFill>
                  </a:tcPr>
                </a:tc>
                <a:tc>
                  <a:txBody>
                    <a:bodyPr/>
                    <a:lstStyle/>
                    <a:p>
                      <a:pPr algn="ctr" fontAlgn="ctr"/>
                      <a:r>
                        <a:rPr lang="en-IN" sz="1245" b="0" i="0" u="none" strike="noStrike">
                          <a:solidFill>
                            <a:srgbClr val="000000"/>
                          </a:solidFill>
                          <a:effectLst/>
                          <a:latin typeface="Calibri" panose="020F0502020204030204" pitchFamily="34" charset="0"/>
                        </a:rPr>
                        <a:t>35</a:t>
                      </a:r>
                    </a:p>
                  </a:txBody>
                  <a:tcPr marL="6350" marR="6350" marT="6350" marB="0" anchor="ctr">
                    <a:solidFill>
                      <a:srgbClr val="C4E0B2"/>
                    </a:solidFill>
                  </a:tcPr>
                </a:tc>
                <a:tc>
                  <a:txBody>
                    <a:bodyPr/>
                    <a:lstStyle/>
                    <a:p>
                      <a:pPr algn="ctr" fontAlgn="ctr"/>
                      <a:r>
                        <a:rPr lang="en-IN" sz="1245" b="0" i="0" u="none" strike="noStrike" dirty="0">
                          <a:solidFill>
                            <a:srgbClr val="FF0000"/>
                          </a:solidFill>
                          <a:effectLst/>
                          <a:latin typeface="Arial" panose="020B0604020202020204" pitchFamily="34" charset="0"/>
                        </a:rPr>
                        <a:t>17.36</a:t>
                      </a:r>
                    </a:p>
                  </a:txBody>
                  <a:tcPr marL="6350" marR="6350" marT="6350" marB="0" anchor="ctr">
                    <a:solidFill>
                      <a:srgbClr val="C4E0B2"/>
                    </a:solidFill>
                  </a:tcPr>
                </a:tc>
                <a:extLst>
                  <a:ext uri="{0D108BD9-81ED-4DB2-BD59-A6C34878D82A}">
                    <a16:rowId xmlns:a16="http://schemas.microsoft.com/office/drawing/2014/main" val="10008"/>
                  </a:ext>
                </a:extLst>
              </a:tr>
              <a:tr h="199725">
                <a:tc>
                  <a:txBody>
                    <a:bodyPr/>
                    <a:lstStyle/>
                    <a:p>
                      <a:pPr marL="0" marR="0" lvl="0" indent="0" algn="ctr" rtl="0">
                        <a:spcBef>
                          <a:spcPts val="0"/>
                        </a:spcBef>
                        <a:spcAft>
                          <a:spcPts val="0"/>
                        </a:spcAft>
                        <a:buNone/>
                      </a:pPr>
                      <a:r>
                        <a:rPr lang="en-US" sz="1250" u="none" strike="noStrike"/>
                        <a:t>9</a:t>
                      </a:r>
                      <a:endParaRPr sz="1250" b="0" i="0" u="none" strike="noStrike">
                        <a:solidFill>
                          <a:srgbClr val="000000"/>
                        </a:solidFill>
                        <a:latin typeface="Calibri"/>
                        <a:ea typeface="Calibri"/>
                        <a:cs typeface="Calibri"/>
                        <a:sym typeface="Calibri"/>
                      </a:endParaRPr>
                    </a:p>
                  </a:txBody>
                  <a:tcPr marL="6400" marR="6400" marT="6400" marB="0" anchor="ctr">
                    <a:solidFill>
                      <a:schemeClr val="accent6">
                        <a:lumMod val="40000"/>
                        <a:lumOff val="60000"/>
                      </a:schemeClr>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Punjab</a:t>
                      </a:r>
                    </a:p>
                  </a:txBody>
                  <a:tcPr marL="6350" marR="6350" marT="6350" marB="0" anchor="ctr">
                    <a:solidFill>
                      <a:schemeClr val="accent6">
                        <a:lumMod val="40000"/>
                        <a:lumOff val="60000"/>
                      </a:schemeClr>
                    </a:solidFill>
                  </a:tcPr>
                </a:tc>
                <a:tc>
                  <a:txBody>
                    <a:bodyPr/>
                    <a:lstStyle/>
                    <a:p>
                      <a:pPr algn="ctr" fontAlgn="ctr"/>
                      <a:r>
                        <a:rPr lang="en-IN" sz="1245" b="0" i="0" u="none" strike="noStrike" dirty="0">
                          <a:solidFill>
                            <a:srgbClr val="000000"/>
                          </a:solidFill>
                          <a:effectLst/>
                          <a:latin typeface="Calibri" panose="020F0502020204030204" pitchFamily="34" charset="0"/>
                        </a:rPr>
                        <a:t>80.213</a:t>
                      </a:r>
                    </a:p>
                  </a:txBody>
                  <a:tcPr marL="6350" marR="6350" marT="6350" marB="0" anchor="ctr">
                    <a:solidFill>
                      <a:schemeClr val="accent6">
                        <a:lumMod val="40000"/>
                        <a:lumOff val="60000"/>
                      </a:schemeClr>
                    </a:solidFill>
                  </a:tcPr>
                </a:tc>
                <a:tc>
                  <a:txBody>
                    <a:bodyPr/>
                    <a:lstStyle/>
                    <a:p>
                      <a:pPr algn="ctr" fontAlgn="ctr"/>
                      <a:r>
                        <a:rPr lang="en-IN" sz="1245" b="0" i="0" u="none" strike="noStrike" dirty="0">
                          <a:solidFill>
                            <a:srgbClr val="FF0000"/>
                          </a:solidFill>
                          <a:effectLst/>
                          <a:latin typeface="Arial" panose="020B0604020202020204" pitchFamily="34" charset="0"/>
                        </a:rPr>
                        <a:t>14.31</a:t>
                      </a:r>
                    </a:p>
                  </a:txBody>
                  <a:tcPr marL="6350" marR="6350" marT="6350" marB="0" anchor="ctr">
                    <a:solidFill>
                      <a:schemeClr val="accent6">
                        <a:lumMod val="40000"/>
                        <a:lumOff val="60000"/>
                      </a:schemeClr>
                    </a:solidFill>
                  </a:tcPr>
                </a:tc>
                <a:extLst>
                  <a:ext uri="{0D108BD9-81ED-4DB2-BD59-A6C34878D82A}">
                    <a16:rowId xmlns:a16="http://schemas.microsoft.com/office/drawing/2014/main" val="10009"/>
                  </a:ext>
                </a:extLst>
              </a:tr>
              <a:tr h="199725">
                <a:tc>
                  <a:txBody>
                    <a:bodyPr/>
                    <a:lstStyle/>
                    <a:p>
                      <a:pPr marL="0" marR="0" lvl="0" indent="0" algn="ctr" rtl="0">
                        <a:spcBef>
                          <a:spcPts val="0"/>
                        </a:spcBef>
                        <a:spcAft>
                          <a:spcPts val="0"/>
                        </a:spcAft>
                        <a:buNone/>
                      </a:pPr>
                      <a:r>
                        <a:rPr lang="en-US" sz="1245" b="0" i="0" u="none" strike="noStrike" kern="1200" dirty="0">
                          <a:solidFill>
                            <a:srgbClr val="000000"/>
                          </a:solidFill>
                          <a:effectLst/>
                          <a:latin typeface="Arial" panose="020B0604020202020204" pitchFamily="34" charset="0"/>
                          <a:ea typeface="+mn-ea"/>
                          <a:cs typeface="+mn-cs"/>
                        </a:rPr>
                        <a:t>10</a:t>
                      </a:r>
                      <a:endParaRPr sz="1245" b="0" i="0" u="none" strike="noStrike" kern="1200" dirty="0">
                        <a:solidFill>
                          <a:srgbClr val="000000"/>
                        </a:solidFill>
                        <a:effectLst/>
                        <a:latin typeface="Arial" panose="020B0604020202020204" pitchFamily="34" charset="0"/>
                        <a:ea typeface="+mn-ea"/>
                        <a:cs typeface="+mn-cs"/>
                        <a:sym typeface="Calibri"/>
                      </a:endParaRPr>
                    </a:p>
                  </a:txBody>
                  <a:tcPr marL="6400" marR="6400" marT="6400" marB="0" anchor="ctr">
                    <a:solidFill>
                      <a:schemeClr val="accent6">
                        <a:lumMod val="40000"/>
                        <a:lumOff val="60000"/>
                      </a:schemeClr>
                    </a:solidFill>
                  </a:tcPr>
                </a:tc>
                <a:tc>
                  <a:txBody>
                    <a:bodyPr/>
                    <a:lstStyle/>
                    <a:p>
                      <a:pPr marL="0" indent="53975" algn="l" fontAlgn="ctr"/>
                      <a:r>
                        <a:rPr lang="en-IN" sz="1245" b="0" i="0" u="none" strike="noStrike" kern="1200" dirty="0">
                          <a:solidFill>
                            <a:srgbClr val="000000"/>
                          </a:solidFill>
                          <a:effectLst/>
                          <a:latin typeface="Arial" panose="020B0604020202020204" pitchFamily="34" charset="0"/>
                          <a:ea typeface="+mn-ea"/>
                          <a:cs typeface="+mn-cs"/>
                        </a:rPr>
                        <a:t>Uttarakhand</a:t>
                      </a:r>
                    </a:p>
                  </a:txBody>
                  <a:tcPr marL="6350" marR="6350" marT="6350" marB="0" anchor="ctr">
                    <a:solidFill>
                      <a:schemeClr val="accent6">
                        <a:lumMod val="40000"/>
                        <a:lumOff val="60000"/>
                      </a:schemeClr>
                    </a:solidFill>
                  </a:tcPr>
                </a:tc>
                <a:tc>
                  <a:txBody>
                    <a:bodyPr/>
                    <a:lstStyle/>
                    <a:p>
                      <a:pPr algn="ctr" fontAlgn="ctr"/>
                      <a:r>
                        <a:rPr lang="en-IN" sz="1245" b="0" i="0" u="none" strike="noStrike" kern="1200" dirty="0">
                          <a:solidFill>
                            <a:srgbClr val="000000"/>
                          </a:solidFill>
                          <a:effectLst/>
                          <a:latin typeface="Arial" panose="020B0604020202020204" pitchFamily="34" charset="0"/>
                          <a:ea typeface="+mn-ea"/>
                          <a:cs typeface="+mn-cs"/>
                        </a:rPr>
                        <a:t>22</a:t>
                      </a:r>
                    </a:p>
                  </a:txBody>
                  <a:tcPr marL="6350" marR="6350" marT="6350" marB="0" anchor="ctr">
                    <a:solidFill>
                      <a:schemeClr val="accent6">
                        <a:lumMod val="40000"/>
                        <a:lumOff val="60000"/>
                      </a:schemeClr>
                    </a:solidFill>
                  </a:tcPr>
                </a:tc>
                <a:tc>
                  <a:txBody>
                    <a:bodyPr/>
                    <a:lstStyle/>
                    <a:p>
                      <a:pPr algn="ctr" fontAlgn="ctr"/>
                      <a:r>
                        <a:rPr lang="en-IN" sz="1245" b="0" i="0" u="none" strike="noStrike" dirty="0">
                          <a:solidFill>
                            <a:srgbClr val="FF0000"/>
                          </a:solidFill>
                          <a:effectLst/>
                          <a:latin typeface="Arial" panose="020B0604020202020204" pitchFamily="34" charset="0"/>
                        </a:rPr>
                        <a:t>9.15</a:t>
                      </a:r>
                    </a:p>
                  </a:txBody>
                  <a:tcPr marL="6350" marR="6350" marT="6350" marB="0" anchor="ctr">
                    <a:solidFill>
                      <a:schemeClr val="accent6">
                        <a:lumMod val="40000"/>
                        <a:lumOff val="60000"/>
                      </a:schemeClr>
                    </a:solidFill>
                  </a:tcPr>
                </a:tc>
                <a:extLst>
                  <a:ext uri="{0D108BD9-81ED-4DB2-BD59-A6C34878D82A}">
                    <a16:rowId xmlns:a16="http://schemas.microsoft.com/office/drawing/2014/main" val="10010"/>
                  </a:ext>
                </a:extLst>
              </a:tr>
              <a:tr h="199725">
                <a:tc>
                  <a:txBody>
                    <a:bodyPr/>
                    <a:lstStyle/>
                    <a:p>
                      <a:pPr marL="0" marR="0" lvl="0" indent="0" algn="ctr" rtl="0">
                        <a:spcBef>
                          <a:spcPts val="0"/>
                        </a:spcBef>
                        <a:spcAft>
                          <a:spcPts val="0"/>
                        </a:spcAft>
                        <a:buNone/>
                      </a:pPr>
                      <a:r>
                        <a:rPr lang="en-US" sz="1250" u="none" strike="noStrike"/>
                        <a:t>11</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NCT of Delhi</a:t>
                      </a:r>
                    </a:p>
                  </a:txBody>
                  <a:tcPr marL="6350" marR="6350" marT="6350" marB="0" anchor="ctr">
                    <a:solidFill>
                      <a:srgbClr val="FEE599"/>
                    </a:solidFill>
                  </a:tcPr>
                </a:tc>
                <a:tc>
                  <a:txBody>
                    <a:bodyPr/>
                    <a:lstStyle/>
                    <a:p>
                      <a:pPr algn="ctr" fontAlgn="ctr"/>
                      <a:r>
                        <a:rPr lang="en-IN" sz="1245" b="0" i="0" u="none" strike="noStrike" dirty="0">
                          <a:solidFill>
                            <a:srgbClr val="000000"/>
                          </a:solidFill>
                          <a:effectLst/>
                          <a:latin typeface="Calibri" panose="020F0502020204030204" pitchFamily="34" charset="0"/>
                        </a:rPr>
                        <a:t>36</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2.59</a:t>
                      </a:r>
                    </a:p>
                  </a:txBody>
                  <a:tcPr marL="6350" marR="6350" marT="6350" marB="0" anchor="ctr">
                    <a:solidFill>
                      <a:srgbClr val="FEE599"/>
                    </a:solidFill>
                  </a:tcPr>
                </a:tc>
                <a:extLst>
                  <a:ext uri="{0D108BD9-81ED-4DB2-BD59-A6C34878D82A}">
                    <a16:rowId xmlns:a16="http://schemas.microsoft.com/office/drawing/2014/main" val="10011"/>
                  </a:ext>
                </a:extLst>
              </a:tr>
              <a:tr h="199725">
                <a:tc>
                  <a:txBody>
                    <a:bodyPr/>
                    <a:lstStyle/>
                    <a:p>
                      <a:pPr marL="0" marR="0" lvl="0" indent="0" algn="ctr" rtl="0">
                        <a:spcBef>
                          <a:spcPts val="0"/>
                        </a:spcBef>
                        <a:spcAft>
                          <a:spcPts val="0"/>
                        </a:spcAft>
                        <a:buNone/>
                      </a:pPr>
                      <a:r>
                        <a:rPr lang="en-US" sz="1250" u="none" strike="noStrike"/>
                        <a:t>12</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Maharashtra</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133.5</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2.29</a:t>
                      </a:r>
                    </a:p>
                  </a:txBody>
                  <a:tcPr marL="6350" marR="6350" marT="6350" marB="0" anchor="ctr">
                    <a:solidFill>
                      <a:srgbClr val="FEE599"/>
                    </a:solidFill>
                  </a:tcPr>
                </a:tc>
                <a:extLst>
                  <a:ext uri="{0D108BD9-81ED-4DB2-BD59-A6C34878D82A}">
                    <a16:rowId xmlns:a16="http://schemas.microsoft.com/office/drawing/2014/main" val="10012"/>
                  </a:ext>
                </a:extLst>
              </a:tr>
              <a:tr h="199725">
                <a:tc>
                  <a:txBody>
                    <a:bodyPr/>
                    <a:lstStyle/>
                    <a:p>
                      <a:pPr marL="0" marR="0" lvl="0" indent="0" algn="ctr" rtl="0">
                        <a:spcBef>
                          <a:spcPts val="0"/>
                        </a:spcBef>
                        <a:spcAft>
                          <a:spcPts val="0"/>
                        </a:spcAft>
                        <a:buNone/>
                      </a:pPr>
                      <a:r>
                        <a:rPr lang="en-US" sz="1250" u="none" strike="noStrike"/>
                        <a:t>13</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Goa</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20</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1.96</a:t>
                      </a:r>
                    </a:p>
                  </a:txBody>
                  <a:tcPr marL="6350" marR="6350" marT="6350" marB="0" anchor="ctr">
                    <a:solidFill>
                      <a:srgbClr val="FEE599"/>
                    </a:solidFill>
                  </a:tcPr>
                </a:tc>
                <a:extLst>
                  <a:ext uri="{0D108BD9-81ED-4DB2-BD59-A6C34878D82A}">
                    <a16:rowId xmlns:a16="http://schemas.microsoft.com/office/drawing/2014/main" val="10013"/>
                  </a:ext>
                </a:extLst>
              </a:tr>
              <a:tr h="199725">
                <a:tc>
                  <a:txBody>
                    <a:bodyPr/>
                    <a:lstStyle/>
                    <a:p>
                      <a:pPr marL="0" marR="0" lvl="0" indent="0" algn="ctr" rtl="0">
                        <a:spcBef>
                          <a:spcPts val="0"/>
                        </a:spcBef>
                        <a:spcAft>
                          <a:spcPts val="0"/>
                        </a:spcAft>
                        <a:buNone/>
                      </a:pPr>
                      <a:r>
                        <a:rPr lang="en-US" sz="1250" u="none" strike="noStrike"/>
                        <a:t>14</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Bihar</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25</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1.93</a:t>
                      </a:r>
                    </a:p>
                  </a:txBody>
                  <a:tcPr marL="6350" marR="6350" marT="6350" marB="0" anchor="ctr">
                    <a:solidFill>
                      <a:srgbClr val="FEE599"/>
                    </a:solidFill>
                  </a:tcPr>
                </a:tc>
                <a:extLst>
                  <a:ext uri="{0D108BD9-81ED-4DB2-BD59-A6C34878D82A}">
                    <a16:rowId xmlns:a16="http://schemas.microsoft.com/office/drawing/2014/main" val="10014"/>
                  </a:ext>
                </a:extLst>
              </a:tr>
              <a:tr h="199725">
                <a:tc>
                  <a:txBody>
                    <a:bodyPr/>
                    <a:lstStyle/>
                    <a:p>
                      <a:pPr marL="0" marR="0" lvl="0" indent="0" algn="ctr" rtl="0">
                        <a:spcBef>
                          <a:spcPts val="0"/>
                        </a:spcBef>
                        <a:spcAft>
                          <a:spcPts val="0"/>
                        </a:spcAft>
                        <a:buNone/>
                      </a:pPr>
                      <a:r>
                        <a:rPr lang="en-US" sz="1250" u="none" strike="noStrike"/>
                        <a:t>15</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Chhattisgarh</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16</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0.95</a:t>
                      </a:r>
                    </a:p>
                  </a:txBody>
                  <a:tcPr marL="6350" marR="6350" marT="6350" marB="0" anchor="ctr">
                    <a:solidFill>
                      <a:srgbClr val="FEE599"/>
                    </a:solidFill>
                  </a:tcPr>
                </a:tc>
                <a:extLst>
                  <a:ext uri="{0D108BD9-81ED-4DB2-BD59-A6C34878D82A}">
                    <a16:rowId xmlns:a16="http://schemas.microsoft.com/office/drawing/2014/main" val="10015"/>
                  </a:ext>
                </a:extLst>
              </a:tr>
              <a:tr h="199725">
                <a:tc>
                  <a:txBody>
                    <a:bodyPr/>
                    <a:lstStyle/>
                    <a:p>
                      <a:pPr marL="0" marR="0" lvl="0" indent="0" algn="ctr" rtl="0">
                        <a:spcBef>
                          <a:spcPts val="0"/>
                        </a:spcBef>
                        <a:spcAft>
                          <a:spcPts val="0"/>
                        </a:spcAft>
                        <a:buNone/>
                      </a:pPr>
                      <a:r>
                        <a:rPr lang="en-US" sz="1250" u="none" strike="noStrike"/>
                        <a:t>16</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Jharkhand</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11.375</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0.88</a:t>
                      </a:r>
                    </a:p>
                  </a:txBody>
                  <a:tcPr marL="6350" marR="6350" marT="6350" marB="0" anchor="ctr">
                    <a:solidFill>
                      <a:srgbClr val="FEE599"/>
                    </a:solidFill>
                  </a:tcPr>
                </a:tc>
                <a:extLst>
                  <a:ext uri="{0D108BD9-81ED-4DB2-BD59-A6C34878D82A}">
                    <a16:rowId xmlns:a16="http://schemas.microsoft.com/office/drawing/2014/main" val="10016"/>
                  </a:ext>
                </a:extLst>
              </a:tr>
              <a:tr h="199725">
                <a:tc>
                  <a:txBody>
                    <a:bodyPr/>
                    <a:lstStyle/>
                    <a:p>
                      <a:pPr marL="0" marR="0" lvl="0" indent="0" algn="ctr" rtl="0">
                        <a:spcBef>
                          <a:spcPts val="0"/>
                        </a:spcBef>
                        <a:spcAft>
                          <a:spcPts val="0"/>
                        </a:spcAft>
                        <a:buNone/>
                      </a:pPr>
                      <a:r>
                        <a:rPr lang="en-US" sz="1250" u="none" strike="noStrike"/>
                        <a:t>17</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Himachal Pradesh</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15</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0.78</a:t>
                      </a:r>
                    </a:p>
                  </a:txBody>
                  <a:tcPr marL="6350" marR="6350" marT="6350" marB="0" anchor="ctr">
                    <a:solidFill>
                      <a:srgbClr val="FEE599"/>
                    </a:solidFill>
                  </a:tcPr>
                </a:tc>
                <a:extLst>
                  <a:ext uri="{0D108BD9-81ED-4DB2-BD59-A6C34878D82A}">
                    <a16:rowId xmlns:a16="http://schemas.microsoft.com/office/drawing/2014/main" val="10017"/>
                  </a:ext>
                </a:extLst>
              </a:tr>
              <a:tr h="199725">
                <a:tc>
                  <a:txBody>
                    <a:bodyPr/>
                    <a:lstStyle/>
                    <a:p>
                      <a:pPr marL="0" marR="0" lvl="0" indent="0" algn="ctr" rtl="0">
                        <a:spcBef>
                          <a:spcPts val="0"/>
                        </a:spcBef>
                        <a:spcAft>
                          <a:spcPts val="0"/>
                        </a:spcAft>
                        <a:buNone/>
                      </a:pPr>
                      <a:r>
                        <a:rPr lang="en-US" sz="1250" u="none" strike="noStrike"/>
                        <a:t>18</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Andhra Pradesh</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8</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0.56</a:t>
                      </a:r>
                    </a:p>
                  </a:txBody>
                  <a:tcPr marL="6350" marR="6350" marT="6350" marB="0" anchor="ctr">
                    <a:solidFill>
                      <a:srgbClr val="FEE599"/>
                    </a:solidFill>
                  </a:tcPr>
                </a:tc>
                <a:extLst>
                  <a:ext uri="{0D108BD9-81ED-4DB2-BD59-A6C34878D82A}">
                    <a16:rowId xmlns:a16="http://schemas.microsoft.com/office/drawing/2014/main" val="10018"/>
                  </a:ext>
                </a:extLst>
              </a:tr>
              <a:tr h="199725">
                <a:tc>
                  <a:txBody>
                    <a:bodyPr/>
                    <a:lstStyle/>
                    <a:p>
                      <a:pPr marL="0" marR="0" lvl="0" indent="0" algn="ctr" rtl="0">
                        <a:spcBef>
                          <a:spcPts val="0"/>
                        </a:spcBef>
                        <a:spcAft>
                          <a:spcPts val="0"/>
                        </a:spcAft>
                        <a:buNone/>
                      </a:pPr>
                      <a:r>
                        <a:rPr lang="en-US" sz="1250" u="none" strike="noStrike"/>
                        <a:t>19</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Assam</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3.5</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0.2</a:t>
                      </a:r>
                    </a:p>
                  </a:txBody>
                  <a:tcPr marL="6350" marR="6350" marT="6350" marB="0" anchor="ctr">
                    <a:solidFill>
                      <a:srgbClr val="FEE599"/>
                    </a:solidFill>
                  </a:tcPr>
                </a:tc>
                <a:extLst>
                  <a:ext uri="{0D108BD9-81ED-4DB2-BD59-A6C34878D82A}">
                    <a16:rowId xmlns:a16="http://schemas.microsoft.com/office/drawing/2014/main" val="10019"/>
                  </a:ext>
                </a:extLst>
              </a:tr>
              <a:tr h="199725">
                <a:tc>
                  <a:txBody>
                    <a:bodyPr/>
                    <a:lstStyle/>
                    <a:p>
                      <a:pPr marL="0" marR="0" lvl="0" indent="0" algn="ctr" rtl="0">
                        <a:spcBef>
                          <a:spcPts val="0"/>
                        </a:spcBef>
                        <a:spcAft>
                          <a:spcPts val="0"/>
                        </a:spcAft>
                        <a:buNone/>
                      </a:pPr>
                      <a:r>
                        <a:rPr lang="en-US" sz="1250" u="none" strike="noStrike"/>
                        <a:t>20</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Calibri" panose="020F0502020204030204" pitchFamily="34" charset="0"/>
                        </a:rPr>
                        <a:t>Mizoram</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Calibri" panose="020F0502020204030204" pitchFamily="34" charset="0"/>
                        </a:rPr>
                        <a:t>1.5</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0.19</a:t>
                      </a:r>
                    </a:p>
                  </a:txBody>
                  <a:tcPr marL="6350" marR="6350" marT="6350" marB="0" anchor="ctr">
                    <a:solidFill>
                      <a:srgbClr val="FEE599"/>
                    </a:solidFill>
                  </a:tcPr>
                </a:tc>
                <a:extLst>
                  <a:ext uri="{0D108BD9-81ED-4DB2-BD59-A6C34878D82A}">
                    <a16:rowId xmlns:a16="http://schemas.microsoft.com/office/drawing/2014/main" val="10020"/>
                  </a:ext>
                </a:extLst>
              </a:tr>
              <a:tr h="199725">
                <a:tc>
                  <a:txBody>
                    <a:bodyPr/>
                    <a:lstStyle/>
                    <a:p>
                      <a:pPr marL="0" marR="0" lvl="0" indent="0" algn="ctr" rtl="0">
                        <a:spcBef>
                          <a:spcPts val="0"/>
                        </a:spcBef>
                        <a:spcAft>
                          <a:spcPts val="0"/>
                        </a:spcAft>
                        <a:buNone/>
                      </a:pPr>
                      <a:r>
                        <a:rPr lang="en-US" sz="1250" u="none" strike="noStrike"/>
                        <a:t>21</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Manipur</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Arial" panose="020B0604020202020204" pitchFamily="34" charset="0"/>
                        </a:rPr>
                        <a:t>1</a:t>
                      </a:r>
                    </a:p>
                  </a:txBody>
                  <a:tcPr marL="6350" marR="6350" marT="6350" marB="0" anchor="ctr">
                    <a:solidFill>
                      <a:srgbClr val="FEE599"/>
                    </a:solidFill>
                  </a:tcPr>
                </a:tc>
                <a:tc>
                  <a:txBody>
                    <a:bodyPr/>
                    <a:lstStyle/>
                    <a:p>
                      <a:pPr algn="ctr" fontAlgn="ctr"/>
                      <a:r>
                        <a:rPr lang="en-IN" sz="1245" b="0" i="0" u="none" strike="noStrike">
                          <a:solidFill>
                            <a:srgbClr val="FF0000"/>
                          </a:solidFill>
                          <a:effectLst/>
                          <a:latin typeface="Arial" panose="020B0604020202020204" pitchFamily="34" charset="0"/>
                        </a:rPr>
                        <a:t>0.18</a:t>
                      </a:r>
                    </a:p>
                  </a:txBody>
                  <a:tcPr marL="6350" marR="6350" marT="6350" marB="0" anchor="ctr">
                    <a:solidFill>
                      <a:srgbClr val="FEE599"/>
                    </a:solidFill>
                  </a:tcPr>
                </a:tc>
                <a:extLst>
                  <a:ext uri="{0D108BD9-81ED-4DB2-BD59-A6C34878D82A}">
                    <a16:rowId xmlns:a16="http://schemas.microsoft.com/office/drawing/2014/main" val="10021"/>
                  </a:ext>
                </a:extLst>
              </a:tr>
              <a:tr h="199725">
                <a:tc>
                  <a:txBody>
                    <a:bodyPr/>
                    <a:lstStyle/>
                    <a:p>
                      <a:pPr marL="0" marR="0" lvl="0" indent="0" algn="ctr" rtl="0">
                        <a:spcBef>
                          <a:spcPts val="0"/>
                        </a:spcBef>
                        <a:spcAft>
                          <a:spcPts val="0"/>
                        </a:spcAft>
                        <a:buNone/>
                      </a:pPr>
                      <a:r>
                        <a:rPr lang="en-US" sz="1250" u="none" strike="noStrike"/>
                        <a:t>22</a:t>
                      </a:r>
                      <a:endParaRPr sz="1250" b="0" i="0" u="none" strike="noStrike">
                        <a:solidFill>
                          <a:srgbClr val="000000"/>
                        </a:solidFill>
                        <a:latin typeface="Calibri"/>
                        <a:ea typeface="Calibri"/>
                        <a:cs typeface="Calibri"/>
                        <a:sym typeface="Calibri"/>
                      </a:endParaRPr>
                    </a:p>
                  </a:txBody>
                  <a:tcPr marL="6400" marR="6400" marT="6400" marB="0" anchor="ctr">
                    <a:solidFill>
                      <a:srgbClr val="FEE599"/>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Puducherry</a:t>
                      </a:r>
                    </a:p>
                  </a:txBody>
                  <a:tcPr marL="6350" marR="6350" marT="6350" marB="0" anchor="ctr">
                    <a:solidFill>
                      <a:srgbClr val="FEE599"/>
                    </a:solidFill>
                  </a:tcPr>
                </a:tc>
                <a:tc>
                  <a:txBody>
                    <a:bodyPr/>
                    <a:lstStyle/>
                    <a:p>
                      <a:pPr algn="ctr" fontAlgn="ctr"/>
                      <a:r>
                        <a:rPr lang="en-IN" sz="1245" b="0" i="0" u="none" strike="noStrike">
                          <a:solidFill>
                            <a:srgbClr val="000000"/>
                          </a:solidFill>
                          <a:effectLst/>
                          <a:latin typeface="Arial" panose="020B0604020202020204" pitchFamily="34" charset="0"/>
                        </a:rPr>
                        <a:t>5</a:t>
                      </a:r>
                    </a:p>
                  </a:txBody>
                  <a:tcPr marL="6350" marR="6350" marT="6350" marB="0" anchor="ctr">
                    <a:solidFill>
                      <a:srgbClr val="FEE599"/>
                    </a:solidFill>
                  </a:tcPr>
                </a:tc>
                <a:tc>
                  <a:txBody>
                    <a:bodyPr/>
                    <a:lstStyle/>
                    <a:p>
                      <a:pPr algn="ctr" fontAlgn="ctr"/>
                      <a:r>
                        <a:rPr lang="en-IN" sz="1245" b="0" i="0" u="none" strike="noStrike" dirty="0">
                          <a:solidFill>
                            <a:srgbClr val="FF0000"/>
                          </a:solidFill>
                          <a:effectLst/>
                          <a:latin typeface="Arial" panose="020B0604020202020204" pitchFamily="34" charset="0"/>
                        </a:rPr>
                        <a:t>0.006</a:t>
                      </a:r>
                    </a:p>
                  </a:txBody>
                  <a:tcPr marL="6350" marR="6350" marT="6350" marB="0" anchor="ctr">
                    <a:solidFill>
                      <a:srgbClr val="FEE599"/>
                    </a:solidFill>
                  </a:tcPr>
                </a:tc>
                <a:extLst>
                  <a:ext uri="{0D108BD9-81ED-4DB2-BD59-A6C34878D82A}">
                    <a16:rowId xmlns:a16="http://schemas.microsoft.com/office/drawing/2014/main" val="10022"/>
                  </a:ext>
                </a:extLst>
              </a:tr>
              <a:tr h="199725">
                <a:tc>
                  <a:txBody>
                    <a:bodyPr/>
                    <a:lstStyle/>
                    <a:p>
                      <a:pPr marL="0" marR="0" lvl="0" indent="0" algn="ctr" rtl="0">
                        <a:spcBef>
                          <a:spcPts val="0"/>
                        </a:spcBef>
                        <a:spcAft>
                          <a:spcPts val="0"/>
                        </a:spcAft>
                        <a:buNone/>
                      </a:pPr>
                      <a:r>
                        <a:rPr lang="en-US" sz="1250" u="none" strike="noStrike"/>
                        <a:t>23</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Odisha</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20</a:t>
                      </a:r>
                    </a:p>
                  </a:txBody>
                  <a:tcPr marL="6350" marR="6350" marT="6350" marB="0" anchor="ctr">
                    <a:solidFill>
                      <a:srgbClr val="F4B081"/>
                    </a:solidFill>
                  </a:tcPr>
                </a:tc>
                <a:tc>
                  <a:txBody>
                    <a:bodyPr/>
                    <a:lstStyle/>
                    <a:p>
                      <a:pPr algn="ctr" fontAlgn="ctr"/>
                      <a:r>
                        <a:rPr lang="en-IN" sz="1245" b="0" i="0" u="none" strike="noStrike" dirty="0">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23"/>
                  </a:ext>
                </a:extLst>
              </a:tr>
              <a:tr h="199725">
                <a:tc>
                  <a:txBody>
                    <a:bodyPr/>
                    <a:lstStyle/>
                    <a:p>
                      <a:pPr marL="0" marR="0" lvl="0" indent="0" algn="ctr" rtl="0">
                        <a:spcBef>
                          <a:spcPts val="0"/>
                        </a:spcBef>
                        <a:spcAft>
                          <a:spcPts val="0"/>
                        </a:spcAft>
                        <a:buNone/>
                      </a:pPr>
                      <a:r>
                        <a:rPr lang="en-US" sz="1250" u="none" strike="noStrike"/>
                        <a:t>24</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Karnataka</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40</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24"/>
                  </a:ext>
                </a:extLst>
              </a:tr>
              <a:tr h="199725">
                <a:tc>
                  <a:txBody>
                    <a:bodyPr/>
                    <a:lstStyle/>
                    <a:p>
                      <a:pPr marL="0" marR="0" lvl="0" indent="0" algn="ctr" rtl="0">
                        <a:spcBef>
                          <a:spcPts val="0"/>
                        </a:spcBef>
                        <a:spcAft>
                          <a:spcPts val="0"/>
                        </a:spcAft>
                        <a:buNone/>
                      </a:pPr>
                      <a:r>
                        <a:rPr lang="en-US" sz="1250" u="none" strike="noStrike"/>
                        <a:t>25</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Meghalaya</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20</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25"/>
                  </a:ext>
                </a:extLst>
              </a:tr>
              <a:tr h="199725">
                <a:tc>
                  <a:txBody>
                    <a:bodyPr/>
                    <a:lstStyle/>
                    <a:p>
                      <a:pPr marL="0" marR="0" lvl="0" indent="0" algn="ctr" rtl="0">
                        <a:spcBef>
                          <a:spcPts val="0"/>
                        </a:spcBef>
                        <a:spcAft>
                          <a:spcPts val="0"/>
                        </a:spcAft>
                        <a:buNone/>
                      </a:pPr>
                      <a:r>
                        <a:rPr lang="en-US" sz="1250" u="none" strike="noStrike"/>
                        <a:t>26</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Tamil Nadu</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10</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26"/>
                  </a:ext>
                </a:extLst>
              </a:tr>
              <a:tr h="199725">
                <a:tc>
                  <a:txBody>
                    <a:bodyPr/>
                    <a:lstStyle/>
                    <a:p>
                      <a:pPr marL="0" marR="0" lvl="0" indent="0" algn="ctr" rtl="0">
                        <a:spcBef>
                          <a:spcPts val="0"/>
                        </a:spcBef>
                        <a:spcAft>
                          <a:spcPts val="0"/>
                        </a:spcAft>
                        <a:buNone/>
                      </a:pPr>
                      <a:r>
                        <a:rPr lang="en-US" sz="1250" u="none" strike="noStrike"/>
                        <a:t>27</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West Bengal</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60</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27"/>
                  </a:ext>
                </a:extLst>
              </a:tr>
              <a:tr h="199725">
                <a:tc>
                  <a:txBody>
                    <a:bodyPr/>
                    <a:lstStyle/>
                    <a:p>
                      <a:pPr marL="0" marR="0" lvl="0" indent="0" algn="ctr" rtl="0">
                        <a:spcBef>
                          <a:spcPts val="0"/>
                        </a:spcBef>
                        <a:spcAft>
                          <a:spcPts val="0"/>
                        </a:spcAft>
                        <a:buNone/>
                      </a:pPr>
                      <a:r>
                        <a:rPr lang="en-US" sz="1250" u="none" strike="noStrike"/>
                        <a:t>28</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Jammu &amp; Kashmir</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20</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28"/>
                  </a:ext>
                </a:extLst>
              </a:tr>
              <a:tr h="199725">
                <a:tc>
                  <a:txBody>
                    <a:bodyPr/>
                    <a:lstStyle/>
                    <a:p>
                      <a:pPr marL="0" marR="0" lvl="0" indent="0" algn="ctr" rtl="0">
                        <a:spcBef>
                          <a:spcPts val="0"/>
                        </a:spcBef>
                        <a:spcAft>
                          <a:spcPts val="0"/>
                        </a:spcAft>
                        <a:buNone/>
                      </a:pPr>
                      <a:r>
                        <a:rPr lang="en-US" sz="1250" u="none" strike="noStrike"/>
                        <a:t>29</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Lakshadweep</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0</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29"/>
                  </a:ext>
                </a:extLst>
              </a:tr>
              <a:tr h="199725">
                <a:tc>
                  <a:txBody>
                    <a:bodyPr/>
                    <a:lstStyle/>
                    <a:p>
                      <a:pPr marL="0" marR="0" lvl="0" indent="0" algn="ctr" rtl="0">
                        <a:spcBef>
                          <a:spcPts val="0"/>
                        </a:spcBef>
                        <a:spcAft>
                          <a:spcPts val="0"/>
                        </a:spcAft>
                        <a:buNone/>
                      </a:pPr>
                      <a:r>
                        <a:rPr lang="en-US" sz="1250" u="none" strike="noStrike"/>
                        <a:t>30</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Nagaland</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3.8</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30"/>
                  </a:ext>
                </a:extLst>
              </a:tr>
              <a:tr h="199725">
                <a:tc>
                  <a:txBody>
                    <a:bodyPr/>
                    <a:lstStyle/>
                    <a:p>
                      <a:pPr marL="0" marR="0" lvl="0" indent="0" algn="ctr" rtl="0">
                        <a:spcBef>
                          <a:spcPts val="0"/>
                        </a:spcBef>
                        <a:spcAft>
                          <a:spcPts val="0"/>
                        </a:spcAft>
                        <a:buNone/>
                      </a:pPr>
                      <a:r>
                        <a:rPr lang="en-US" sz="1250" u="none" strike="noStrike"/>
                        <a:t>31</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Sikkim</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2</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31"/>
                  </a:ext>
                </a:extLst>
              </a:tr>
              <a:tr h="199725">
                <a:tc>
                  <a:txBody>
                    <a:bodyPr/>
                    <a:lstStyle/>
                    <a:p>
                      <a:pPr marL="0" marR="0" lvl="0" indent="0" algn="ctr" rtl="0">
                        <a:spcBef>
                          <a:spcPts val="0"/>
                        </a:spcBef>
                        <a:spcAft>
                          <a:spcPts val="0"/>
                        </a:spcAft>
                        <a:buNone/>
                      </a:pPr>
                      <a:r>
                        <a:rPr lang="en-US" sz="1250" u="none" strike="noStrike"/>
                        <a:t>32</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Andaman &amp; Nicobar</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1</a:t>
                      </a:r>
                    </a:p>
                  </a:txBody>
                  <a:tcPr marL="6350" marR="6350" marT="6350" marB="0" anchor="ctr">
                    <a:solidFill>
                      <a:srgbClr val="F4B081"/>
                    </a:solidFill>
                  </a:tcPr>
                </a:tc>
                <a:tc>
                  <a:txBody>
                    <a:bodyPr/>
                    <a:lstStyle/>
                    <a:p>
                      <a:pPr algn="ctr" fontAlgn="ctr"/>
                      <a:r>
                        <a:rPr lang="en-IN" sz="1245" b="0" i="0" u="none" strike="noStrike">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32"/>
                  </a:ext>
                </a:extLst>
              </a:tr>
              <a:tr h="204450">
                <a:tc>
                  <a:txBody>
                    <a:bodyPr/>
                    <a:lstStyle/>
                    <a:p>
                      <a:pPr marL="0" marR="0" lvl="0" indent="0" algn="ctr" rtl="0">
                        <a:spcBef>
                          <a:spcPts val="0"/>
                        </a:spcBef>
                        <a:spcAft>
                          <a:spcPts val="0"/>
                        </a:spcAft>
                        <a:buNone/>
                      </a:pPr>
                      <a:r>
                        <a:rPr lang="en-US" sz="1250" u="none" strike="noStrike"/>
                        <a:t>33</a:t>
                      </a:r>
                      <a:endParaRPr sz="1250" b="0" i="0" u="none" strike="noStrike">
                        <a:solidFill>
                          <a:srgbClr val="000000"/>
                        </a:solidFill>
                        <a:latin typeface="Calibri"/>
                        <a:ea typeface="Calibri"/>
                        <a:cs typeface="Calibri"/>
                        <a:sym typeface="Calibri"/>
                      </a:endParaRPr>
                    </a:p>
                  </a:txBody>
                  <a:tcPr marL="6400" marR="6400" marT="6400" marB="0" anchor="ctr">
                    <a:solidFill>
                      <a:srgbClr val="F4B081"/>
                    </a:solidFill>
                  </a:tcPr>
                </a:tc>
                <a:tc>
                  <a:txBody>
                    <a:bodyPr/>
                    <a:lstStyle/>
                    <a:p>
                      <a:pPr marL="0" indent="53975" algn="l" fontAlgn="ctr"/>
                      <a:r>
                        <a:rPr lang="en-IN" sz="1245" b="0" i="0" u="none" strike="noStrike" dirty="0">
                          <a:solidFill>
                            <a:srgbClr val="000000"/>
                          </a:solidFill>
                          <a:effectLst/>
                          <a:latin typeface="Arial" panose="020B0604020202020204" pitchFamily="34" charset="0"/>
                        </a:rPr>
                        <a:t>Tripura</a:t>
                      </a:r>
                    </a:p>
                  </a:txBody>
                  <a:tcPr marL="6350" marR="6350" marT="6350" marB="0" anchor="ctr">
                    <a:solidFill>
                      <a:srgbClr val="F4B081"/>
                    </a:solidFill>
                  </a:tcPr>
                </a:tc>
                <a:tc>
                  <a:txBody>
                    <a:bodyPr/>
                    <a:lstStyle/>
                    <a:p>
                      <a:pPr algn="ctr" fontAlgn="ctr"/>
                      <a:r>
                        <a:rPr lang="en-IN" sz="1245" b="0" i="0" u="none" strike="noStrike">
                          <a:solidFill>
                            <a:srgbClr val="000000"/>
                          </a:solidFill>
                          <a:effectLst/>
                          <a:latin typeface="Arial" panose="020B0604020202020204" pitchFamily="34" charset="0"/>
                        </a:rPr>
                        <a:t>1</a:t>
                      </a:r>
                    </a:p>
                  </a:txBody>
                  <a:tcPr marL="6350" marR="6350" marT="6350" marB="0" anchor="ctr">
                    <a:solidFill>
                      <a:srgbClr val="F4B081"/>
                    </a:solidFill>
                  </a:tcPr>
                </a:tc>
                <a:tc>
                  <a:txBody>
                    <a:bodyPr/>
                    <a:lstStyle/>
                    <a:p>
                      <a:pPr algn="ctr" fontAlgn="ctr"/>
                      <a:r>
                        <a:rPr lang="en-IN" sz="1245" b="0" i="0" u="none" strike="noStrike" dirty="0">
                          <a:solidFill>
                            <a:srgbClr val="FF0000"/>
                          </a:solidFill>
                          <a:effectLst/>
                          <a:latin typeface="Arial" panose="020B0604020202020204" pitchFamily="34" charset="0"/>
                        </a:rPr>
                        <a:t>0</a:t>
                      </a:r>
                    </a:p>
                  </a:txBody>
                  <a:tcPr marL="6350" marR="6350" marT="6350" marB="0" anchor="ctr">
                    <a:solidFill>
                      <a:srgbClr val="F4B081"/>
                    </a:solidFill>
                  </a:tcPr>
                </a:tc>
                <a:extLst>
                  <a:ext uri="{0D108BD9-81ED-4DB2-BD59-A6C34878D82A}">
                    <a16:rowId xmlns:a16="http://schemas.microsoft.com/office/drawing/2014/main" val="10033"/>
                  </a:ext>
                </a:extLst>
              </a:tr>
            </a:tbl>
          </a:graphicData>
        </a:graphic>
      </p:graphicFrame>
      <p:grpSp>
        <p:nvGrpSpPr>
          <p:cNvPr id="399" name="Google Shape;399;p66"/>
          <p:cNvGrpSpPr/>
          <p:nvPr/>
        </p:nvGrpSpPr>
        <p:grpSpPr>
          <a:xfrm>
            <a:off x="523111" y="1266810"/>
            <a:ext cx="5060428" cy="4998638"/>
            <a:chOff x="2122554" y="1695900"/>
            <a:chExt cx="3840924" cy="4430165"/>
          </a:xfrm>
        </p:grpSpPr>
        <p:sp>
          <p:nvSpPr>
            <p:cNvPr id="400" name="Google Shape;400;p66"/>
            <p:cNvSpPr/>
            <p:nvPr/>
          </p:nvSpPr>
          <p:spPr>
            <a:xfrm>
              <a:off x="2347702" y="2733902"/>
              <a:ext cx="1133783" cy="1038002"/>
            </a:xfrm>
            <a:custGeom>
              <a:avLst/>
              <a:gdLst/>
              <a:ahLst/>
              <a:cxnLst/>
              <a:rect l="l" t="t" r="r" b="b"/>
              <a:pathLst>
                <a:path w="4231" h="3825" extrusionOk="0">
                  <a:moveTo>
                    <a:pt x="726" y="2859"/>
                  </a:moveTo>
                  <a:lnTo>
                    <a:pt x="646" y="2739"/>
                  </a:lnTo>
                  <a:lnTo>
                    <a:pt x="631" y="2649"/>
                  </a:lnTo>
                  <a:lnTo>
                    <a:pt x="545" y="2502"/>
                  </a:lnTo>
                  <a:lnTo>
                    <a:pt x="572" y="2430"/>
                  </a:lnTo>
                  <a:lnTo>
                    <a:pt x="500" y="2309"/>
                  </a:lnTo>
                  <a:lnTo>
                    <a:pt x="380" y="2319"/>
                  </a:lnTo>
                  <a:lnTo>
                    <a:pt x="256" y="2139"/>
                  </a:lnTo>
                  <a:lnTo>
                    <a:pt x="302" y="1994"/>
                  </a:lnTo>
                  <a:lnTo>
                    <a:pt x="336" y="1808"/>
                  </a:lnTo>
                  <a:lnTo>
                    <a:pt x="212" y="1800"/>
                  </a:lnTo>
                  <a:lnTo>
                    <a:pt x="45" y="1748"/>
                  </a:lnTo>
                  <a:lnTo>
                    <a:pt x="0" y="1662"/>
                  </a:lnTo>
                  <a:lnTo>
                    <a:pt x="18" y="1524"/>
                  </a:lnTo>
                  <a:lnTo>
                    <a:pt x="174" y="1380"/>
                  </a:lnTo>
                  <a:lnTo>
                    <a:pt x="323" y="1251"/>
                  </a:lnTo>
                  <a:lnTo>
                    <a:pt x="473" y="1032"/>
                  </a:lnTo>
                  <a:lnTo>
                    <a:pt x="542" y="1029"/>
                  </a:lnTo>
                  <a:lnTo>
                    <a:pt x="621" y="1064"/>
                  </a:lnTo>
                  <a:lnTo>
                    <a:pt x="617" y="1193"/>
                  </a:lnTo>
                  <a:lnTo>
                    <a:pt x="705" y="1229"/>
                  </a:lnTo>
                  <a:lnTo>
                    <a:pt x="915" y="1170"/>
                  </a:lnTo>
                  <a:lnTo>
                    <a:pt x="1163" y="1155"/>
                  </a:lnTo>
                  <a:lnTo>
                    <a:pt x="1250" y="999"/>
                  </a:lnTo>
                  <a:lnTo>
                    <a:pt x="1355" y="912"/>
                  </a:lnTo>
                  <a:lnTo>
                    <a:pt x="1416" y="763"/>
                  </a:lnTo>
                  <a:lnTo>
                    <a:pt x="1533" y="639"/>
                  </a:lnTo>
                  <a:lnTo>
                    <a:pt x="1659" y="624"/>
                  </a:lnTo>
                  <a:lnTo>
                    <a:pt x="1802" y="465"/>
                  </a:lnTo>
                  <a:lnTo>
                    <a:pt x="1904" y="300"/>
                  </a:lnTo>
                  <a:lnTo>
                    <a:pt x="2001" y="60"/>
                  </a:lnTo>
                  <a:lnTo>
                    <a:pt x="2211" y="0"/>
                  </a:lnTo>
                  <a:lnTo>
                    <a:pt x="2288" y="83"/>
                  </a:lnTo>
                  <a:lnTo>
                    <a:pt x="2523" y="114"/>
                  </a:lnTo>
                  <a:lnTo>
                    <a:pt x="2491" y="198"/>
                  </a:lnTo>
                  <a:lnTo>
                    <a:pt x="2550" y="285"/>
                  </a:lnTo>
                  <a:lnTo>
                    <a:pt x="2553" y="447"/>
                  </a:lnTo>
                  <a:lnTo>
                    <a:pt x="2658" y="458"/>
                  </a:lnTo>
                  <a:lnTo>
                    <a:pt x="2797" y="478"/>
                  </a:lnTo>
                  <a:lnTo>
                    <a:pt x="2931" y="453"/>
                  </a:lnTo>
                  <a:lnTo>
                    <a:pt x="2925" y="585"/>
                  </a:lnTo>
                  <a:lnTo>
                    <a:pt x="2986" y="661"/>
                  </a:lnTo>
                  <a:lnTo>
                    <a:pt x="2976" y="868"/>
                  </a:lnTo>
                  <a:lnTo>
                    <a:pt x="3124" y="976"/>
                  </a:lnTo>
                  <a:lnTo>
                    <a:pt x="3183" y="1110"/>
                  </a:lnTo>
                  <a:lnTo>
                    <a:pt x="3156" y="1255"/>
                  </a:lnTo>
                  <a:lnTo>
                    <a:pt x="3229" y="1276"/>
                  </a:lnTo>
                  <a:lnTo>
                    <a:pt x="3277" y="1139"/>
                  </a:lnTo>
                  <a:lnTo>
                    <a:pt x="3376" y="1113"/>
                  </a:lnTo>
                  <a:lnTo>
                    <a:pt x="3420" y="1200"/>
                  </a:lnTo>
                  <a:lnTo>
                    <a:pt x="3517" y="1158"/>
                  </a:lnTo>
                  <a:lnTo>
                    <a:pt x="3592" y="1059"/>
                  </a:lnTo>
                  <a:lnTo>
                    <a:pt x="3623" y="1198"/>
                  </a:lnTo>
                  <a:lnTo>
                    <a:pt x="3623" y="1358"/>
                  </a:lnTo>
                  <a:lnTo>
                    <a:pt x="3694" y="1305"/>
                  </a:lnTo>
                  <a:lnTo>
                    <a:pt x="3832" y="1320"/>
                  </a:lnTo>
                  <a:lnTo>
                    <a:pt x="3819" y="1429"/>
                  </a:lnTo>
                  <a:lnTo>
                    <a:pt x="3946" y="1594"/>
                  </a:lnTo>
                  <a:lnTo>
                    <a:pt x="3923" y="1733"/>
                  </a:lnTo>
                  <a:lnTo>
                    <a:pt x="3893" y="1828"/>
                  </a:lnTo>
                  <a:lnTo>
                    <a:pt x="3873" y="1888"/>
                  </a:lnTo>
                  <a:lnTo>
                    <a:pt x="4043" y="1813"/>
                  </a:lnTo>
                  <a:lnTo>
                    <a:pt x="4143" y="1828"/>
                  </a:lnTo>
                  <a:lnTo>
                    <a:pt x="4218" y="1783"/>
                  </a:lnTo>
                  <a:lnTo>
                    <a:pt x="4231" y="1856"/>
                  </a:lnTo>
                  <a:lnTo>
                    <a:pt x="4174" y="1956"/>
                  </a:lnTo>
                  <a:lnTo>
                    <a:pt x="4051" y="1944"/>
                  </a:lnTo>
                  <a:lnTo>
                    <a:pt x="3939" y="2078"/>
                  </a:lnTo>
                  <a:lnTo>
                    <a:pt x="3789" y="2084"/>
                  </a:lnTo>
                  <a:lnTo>
                    <a:pt x="3623" y="2214"/>
                  </a:lnTo>
                  <a:lnTo>
                    <a:pt x="3548" y="2319"/>
                  </a:lnTo>
                  <a:lnTo>
                    <a:pt x="3408" y="2379"/>
                  </a:lnTo>
                  <a:lnTo>
                    <a:pt x="3408" y="2519"/>
                  </a:lnTo>
                  <a:lnTo>
                    <a:pt x="3498" y="2664"/>
                  </a:lnTo>
                  <a:lnTo>
                    <a:pt x="3653" y="2679"/>
                  </a:lnTo>
                  <a:lnTo>
                    <a:pt x="3813" y="2609"/>
                  </a:lnTo>
                  <a:lnTo>
                    <a:pt x="3833" y="2774"/>
                  </a:lnTo>
                  <a:lnTo>
                    <a:pt x="3603" y="2804"/>
                  </a:lnTo>
                  <a:lnTo>
                    <a:pt x="3533" y="2859"/>
                  </a:lnTo>
                  <a:lnTo>
                    <a:pt x="3574" y="2907"/>
                  </a:lnTo>
                  <a:lnTo>
                    <a:pt x="3531" y="2943"/>
                  </a:lnTo>
                  <a:lnTo>
                    <a:pt x="3638" y="2999"/>
                  </a:lnTo>
                  <a:lnTo>
                    <a:pt x="3678" y="3105"/>
                  </a:lnTo>
                  <a:lnTo>
                    <a:pt x="3608" y="3119"/>
                  </a:lnTo>
                  <a:lnTo>
                    <a:pt x="3528" y="3104"/>
                  </a:lnTo>
                  <a:lnTo>
                    <a:pt x="3548" y="3219"/>
                  </a:lnTo>
                  <a:lnTo>
                    <a:pt x="3615" y="3282"/>
                  </a:lnTo>
                  <a:lnTo>
                    <a:pt x="3559" y="3328"/>
                  </a:lnTo>
                  <a:lnTo>
                    <a:pt x="3495" y="3298"/>
                  </a:lnTo>
                  <a:lnTo>
                    <a:pt x="3451" y="3220"/>
                  </a:lnTo>
                  <a:lnTo>
                    <a:pt x="3378" y="3269"/>
                  </a:lnTo>
                  <a:lnTo>
                    <a:pt x="3218" y="3219"/>
                  </a:lnTo>
                  <a:lnTo>
                    <a:pt x="3128" y="3299"/>
                  </a:lnTo>
                  <a:lnTo>
                    <a:pt x="3093" y="3414"/>
                  </a:lnTo>
                  <a:lnTo>
                    <a:pt x="2963" y="3494"/>
                  </a:lnTo>
                  <a:lnTo>
                    <a:pt x="2853" y="3414"/>
                  </a:lnTo>
                  <a:lnTo>
                    <a:pt x="2888" y="3354"/>
                  </a:lnTo>
                  <a:lnTo>
                    <a:pt x="3003" y="3333"/>
                  </a:lnTo>
                  <a:lnTo>
                    <a:pt x="3000" y="3240"/>
                  </a:lnTo>
                  <a:lnTo>
                    <a:pt x="2978" y="3149"/>
                  </a:lnTo>
                  <a:lnTo>
                    <a:pt x="3079" y="3120"/>
                  </a:lnTo>
                  <a:lnTo>
                    <a:pt x="3054" y="3016"/>
                  </a:lnTo>
                  <a:lnTo>
                    <a:pt x="2978" y="2954"/>
                  </a:lnTo>
                  <a:lnTo>
                    <a:pt x="2858" y="2994"/>
                  </a:lnTo>
                  <a:lnTo>
                    <a:pt x="2753" y="2954"/>
                  </a:lnTo>
                  <a:lnTo>
                    <a:pt x="2823" y="2829"/>
                  </a:lnTo>
                  <a:lnTo>
                    <a:pt x="2723" y="2814"/>
                  </a:lnTo>
                  <a:lnTo>
                    <a:pt x="2673" y="2894"/>
                  </a:lnTo>
                  <a:lnTo>
                    <a:pt x="2568" y="2859"/>
                  </a:lnTo>
                  <a:lnTo>
                    <a:pt x="2543" y="2994"/>
                  </a:lnTo>
                  <a:lnTo>
                    <a:pt x="2527" y="3072"/>
                  </a:lnTo>
                  <a:lnTo>
                    <a:pt x="2568" y="3128"/>
                  </a:lnTo>
                  <a:lnTo>
                    <a:pt x="2508" y="3189"/>
                  </a:lnTo>
                  <a:lnTo>
                    <a:pt x="2583" y="3224"/>
                  </a:lnTo>
                  <a:lnTo>
                    <a:pt x="2628" y="3329"/>
                  </a:lnTo>
                  <a:lnTo>
                    <a:pt x="2573" y="3419"/>
                  </a:lnTo>
                  <a:lnTo>
                    <a:pt x="2595" y="3540"/>
                  </a:lnTo>
                  <a:lnTo>
                    <a:pt x="2407" y="3644"/>
                  </a:lnTo>
                  <a:lnTo>
                    <a:pt x="2378" y="3714"/>
                  </a:lnTo>
                  <a:lnTo>
                    <a:pt x="2496" y="3779"/>
                  </a:lnTo>
                  <a:lnTo>
                    <a:pt x="2389" y="3825"/>
                  </a:lnTo>
                  <a:lnTo>
                    <a:pt x="2274" y="3825"/>
                  </a:lnTo>
                  <a:lnTo>
                    <a:pt x="2105" y="3689"/>
                  </a:lnTo>
                  <a:lnTo>
                    <a:pt x="1926" y="3599"/>
                  </a:lnTo>
                  <a:lnTo>
                    <a:pt x="1926" y="3524"/>
                  </a:lnTo>
                  <a:lnTo>
                    <a:pt x="1829" y="3477"/>
                  </a:lnTo>
                  <a:lnTo>
                    <a:pt x="1791" y="3419"/>
                  </a:lnTo>
                  <a:lnTo>
                    <a:pt x="1862" y="3327"/>
                  </a:lnTo>
                  <a:lnTo>
                    <a:pt x="1808" y="3263"/>
                  </a:lnTo>
                  <a:lnTo>
                    <a:pt x="1731" y="3267"/>
                  </a:lnTo>
                  <a:lnTo>
                    <a:pt x="1688" y="3164"/>
                  </a:lnTo>
                  <a:lnTo>
                    <a:pt x="1756" y="3099"/>
                  </a:lnTo>
                  <a:lnTo>
                    <a:pt x="1641" y="3039"/>
                  </a:lnTo>
                  <a:lnTo>
                    <a:pt x="1539" y="3068"/>
                  </a:lnTo>
                  <a:lnTo>
                    <a:pt x="1386" y="2994"/>
                  </a:lnTo>
                  <a:lnTo>
                    <a:pt x="1277" y="2967"/>
                  </a:lnTo>
                  <a:lnTo>
                    <a:pt x="1206" y="2877"/>
                  </a:lnTo>
                  <a:lnTo>
                    <a:pt x="1112" y="2918"/>
                  </a:lnTo>
                  <a:lnTo>
                    <a:pt x="972" y="2892"/>
                  </a:lnTo>
                  <a:lnTo>
                    <a:pt x="822" y="2894"/>
                  </a:lnTo>
                  <a:lnTo>
                    <a:pt x="726" y="2859"/>
                  </a:lnTo>
                  <a:close/>
                </a:path>
              </a:pathLst>
            </a:custGeom>
            <a:solidFill>
              <a:schemeClr val="accent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1" name="Google Shape;401;p66"/>
            <p:cNvSpPr/>
            <p:nvPr/>
          </p:nvSpPr>
          <p:spPr>
            <a:xfrm>
              <a:off x="2122554" y="3510029"/>
              <a:ext cx="837606" cy="682504"/>
            </a:xfrm>
            <a:custGeom>
              <a:avLst/>
              <a:gdLst/>
              <a:ahLst/>
              <a:cxnLst/>
              <a:rect l="l" t="t" r="r" b="b"/>
              <a:pathLst>
                <a:path w="3126" h="2517" extrusionOk="0">
                  <a:moveTo>
                    <a:pt x="195" y="563"/>
                  </a:moveTo>
                  <a:lnTo>
                    <a:pt x="215" y="682"/>
                  </a:lnTo>
                  <a:lnTo>
                    <a:pt x="405" y="877"/>
                  </a:lnTo>
                  <a:lnTo>
                    <a:pt x="570" y="977"/>
                  </a:lnTo>
                  <a:lnTo>
                    <a:pt x="735" y="997"/>
                  </a:lnTo>
                  <a:lnTo>
                    <a:pt x="869" y="937"/>
                  </a:lnTo>
                  <a:lnTo>
                    <a:pt x="1024" y="892"/>
                  </a:lnTo>
                  <a:lnTo>
                    <a:pt x="1099" y="797"/>
                  </a:lnTo>
                  <a:lnTo>
                    <a:pt x="1219" y="802"/>
                  </a:lnTo>
                  <a:lnTo>
                    <a:pt x="1236" y="850"/>
                  </a:lnTo>
                  <a:lnTo>
                    <a:pt x="1189" y="982"/>
                  </a:lnTo>
                  <a:lnTo>
                    <a:pt x="1084" y="1012"/>
                  </a:lnTo>
                  <a:lnTo>
                    <a:pt x="964" y="1157"/>
                  </a:lnTo>
                  <a:lnTo>
                    <a:pt x="889" y="1117"/>
                  </a:lnTo>
                  <a:lnTo>
                    <a:pt x="810" y="1202"/>
                  </a:lnTo>
                  <a:lnTo>
                    <a:pt x="725" y="1177"/>
                  </a:lnTo>
                  <a:lnTo>
                    <a:pt x="680" y="1267"/>
                  </a:lnTo>
                  <a:lnTo>
                    <a:pt x="495" y="1308"/>
                  </a:lnTo>
                  <a:lnTo>
                    <a:pt x="530" y="1187"/>
                  </a:lnTo>
                  <a:lnTo>
                    <a:pt x="435" y="1192"/>
                  </a:lnTo>
                  <a:lnTo>
                    <a:pt x="390" y="1262"/>
                  </a:lnTo>
                  <a:lnTo>
                    <a:pt x="500" y="1448"/>
                  </a:lnTo>
                  <a:lnTo>
                    <a:pt x="630" y="1538"/>
                  </a:lnTo>
                  <a:lnTo>
                    <a:pt x="795" y="1763"/>
                  </a:lnTo>
                  <a:lnTo>
                    <a:pt x="1034" y="2047"/>
                  </a:lnTo>
                  <a:lnTo>
                    <a:pt x="1184" y="2132"/>
                  </a:lnTo>
                  <a:lnTo>
                    <a:pt x="1326" y="2137"/>
                  </a:lnTo>
                  <a:lnTo>
                    <a:pt x="1377" y="2157"/>
                  </a:lnTo>
                  <a:lnTo>
                    <a:pt x="1404" y="2158"/>
                  </a:lnTo>
                  <a:lnTo>
                    <a:pt x="1431" y="2160"/>
                  </a:lnTo>
                  <a:lnTo>
                    <a:pt x="1481" y="2125"/>
                  </a:lnTo>
                  <a:lnTo>
                    <a:pt x="1550" y="2107"/>
                  </a:lnTo>
                  <a:lnTo>
                    <a:pt x="1640" y="2042"/>
                  </a:lnTo>
                  <a:lnTo>
                    <a:pt x="1805" y="2027"/>
                  </a:lnTo>
                  <a:lnTo>
                    <a:pt x="1955" y="1893"/>
                  </a:lnTo>
                  <a:lnTo>
                    <a:pt x="2082" y="1789"/>
                  </a:lnTo>
                  <a:lnTo>
                    <a:pt x="2106" y="1663"/>
                  </a:lnTo>
                  <a:lnTo>
                    <a:pt x="2082" y="1537"/>
                  </a:lnTo>
                  <a:lnTo>
                    <a:pt x="2088" y="1435"/>
                  </a:lnTo>
                  <a:lnTo>
                    <a:pt x="2130" y="1393"/>
                  </a:lnTo>
                  <a:lnTo>
                    <a:pt x="2208" y="1333"/>
                  </a:lnTo>
                  <a:lnTo>
                    <a:pt x="2345" y="1358"/>
                  </a:lnTo>
                  <a:lnTo>
                    <a:pt x="2360" y="1448"/>
                  </a:lnTo>
                  <a:lnTo>
                    <a:pt x="2205" y="1458"/>
                  </a:lnTo>
                  <a:lnTo>
                    <a:pt x="2195" y="1563"/>
                  </a:lnTo>
                  <a:lnTo>
                    <a:pt x="2315" y="1563"/>
                  </a:lnTo>
                  <a:lnTo>
                    <a:pt x="2220" y="1683"/>
                  </a:lnTo>
                  <a:lnTo>
                    <a:pt x="2345" y="1698"/>
                  </a:lnTo>
                  <a:lnTo>
                    <a:pt x="2235" y="1928"/>
                  </a:lnTo>
                  <a:lnTo>
                    <a:pt x="2325" y="2042"/>
                  </a:lnTo>
                  <a:lnTo>
                    <a:pt x="2361" y="2121"/>
                  </a:lnTo>
                  <a:lnTo>
                    <a:pt x="2343" y="2215"/>
                  </a:lnTo>
                  <a:lnTo>
                    <a:pt x="2340" y="2319"/>
                  </a:lnTo>
                  <a:lnTo>
                    <a:pt x="2348" y="2314"/>
                  </a:lnTo>
                  <a:lnTo>
                    <a:pt x="2366" y="2317"/>
                  </a:lnTo>
                  <a:lnTo>
                    <a:pt x="2364" y="2326"/>
                  </a:lnTo>
                  <a:lnTo>
                    <a:pt x="2352" y="2331"/>
                  </a:lnTo>
                  <a:lnTo>
                    <a:pt x="2351" y="2340"/>
                  </a:lnTo>
                  <a:lnTo>
                    <a:pt x="2364" y="2337"/>
                  </a:lnTo>
                  <a:lnTo>
                    <a:pt x="2373" y="2346"/>
                  </a:lnTo>
                  <a:lnTo>
                    <a:pt x="2366" y="2350"/>
                  </a:lnTo>
                  <a:lnTo>
                    <a:pt x="2364" y="2358"/>
                  </a:lnTo>
                  <a:lnTo>
                    <a:pt x="2367" y="2365"/>
                  </a:lnTo>
                  <a:lnTo>
                    <a:pt x="2360" y="2367"/>
                  </a:lnTo>
                  <a:lnTo>
                    <a:pt x="2342" y="2368"/>
                  </a:lnTo>
                  <a:lnTo>
                    <a:pt x="2325" y="2371"/>
                  </a:lnTo>
                  <a:lnTo>
                    <a:pt x="2250" y="2437"/>
                  </a:lnTo>
                  <a:lnTo>
                    <a:pt x="2321" y="2457"/>
                  </a:lnTo>
                  <a:lnTo>
                    <a:pt x="2313" y="2443"/>
                  </a:lnTo>
                  <a:lnTo>
                    <a:pt x="2325" y="2431"/>
                  </a:lnTo>
                  <a:lnTo>
                    <a:pt x="2346" y="2443"/>
                  </a:lnTo>
                  <a:lnTo>
                    <a:pt x="2345" y="2430"/>
                  </a:lnTo>
                  <a:lnTo>
                    <a:pt x="2382" y="2431"/>
                  </a:lnTo>
                  <a:lnTo>
                    <a:pt x="2391" y="2409"/>
                  </a:lnTo>
                  <a:lnTo>
                    <a:pt x="2408" y="2413"/>
                  </a:lnTo>
                  <a:lnTo>
                    <a:pt x="2412" y="2397"/>
                  </a:lnTo>
                  <a:lnTo>
                    <a:pt x="2418" y="2392"/>
                  </a:lnTo>
                  <a:lnTo>
                    <a:pt x="2421" y="2406"/>
                  </a:lnTo>
                  <a:lnTo>
                    <a:pt x="2420" y="2419"/>
                  </a:lnTo>
                  <a:lnTo>
                    <a:pt x="2424" y="2422"/>
                  </a:lnTo>
                  <a:lnTo>
                    <a:pt x="2439" y="2421"/>
                  </a:lnTo>
                  <a:lnTo>
                    <a:pt x="2459" y="2422"/>
                  </a:lnTo>
                  <a:lnTo>
                    <a:pt x="2457" y="2430"/>
                  </a:lnTo>
                  <a:lnTo>
                    <a:pt x="2444" y="2433"/>
                  </a:lnTo>
                  <a:lnTo>
                    <a:pt x="2424" y="2451"/>
                  </a:lnTo>
                  <a:lnTo>
                    <a:pt x="2418" y="2458"/>
                  </a:lnTo>
                  <a:lnTo>
                    <a:pt x="2408" y="2467"/>
                  </a:lnTo>
                  <a:lnTo>
                    <a:pt x="2394" y="2469"/>
                  </a:lnTo>
                  <a:lnTo>
                    <a:pt x="2388" y="2476"/>
                  </a:lnTo>
                  <a:lnTo>
                    <a:pt x="2388" y="2491"/>
                  </a:lnTo>
                  <a:lnTo>
                    <a:pt x="2394" y="2506"/>
                  </a:lnTo>
                  <a:lnTo>
                    <a:pt x="2402" y="2503"/>
                  </a:lnTo>
                  <a:lnTo>
                    <a:pt x="2409" y="2517"/>
                  </a:lnTo>
                  <a:lnTo>
                    <a:pt x="2415" y="2508"/>
                  </a:lnTo>
                  <a:lnTo>
                    <a:pt x="2426" y="2514"/>
                  </a:lnTo>
                  <a:lnTo>
                    <a:pt x="2445" y="2506"/>
                  </a:lnTo>
                  <a:lnTo>
                    <a:pt x="2444" y="2497"/>
                  </a:lnTo>
                  <a:lnTo>
                    <a:pt x="2456" y="2491"/>
                  </a:lnTo>
                  <a:lnTo>
                    <a:pt x="2499" y="2499"/>
                  </a:lnTo>
                  <a:lnTo>
                    <a:pt x="2534" y="2502"/>
                  </a:lnTo>
                  <a:lnTo>
                    <a:pt x="2614" y="2357"/>
                  </a:lnTo>
                  <a:lnTo>
                    <a:pt x="2594" y="2212"/>
                  </a:lnTo>
                  <a:lnTo>
                    <a:pt x="2744" y="2312"/>
                  </a:lnTo>
                  <a:lnTo>
                    <a:pt x="2869" y="2207"/>
                  </a:lnTo>
                  <a:lnTo>
                    <a:pt x="2849" y="2107"/>
                  </a:lnTo>
                  <a:lnTo>
                    <a:pt x="2729" y="2017"/>
                  </a:lnTo>
                  <a:lnTo>
                    <a:pt x="2882" y="1898"/>
                  </a:lnTo>
                  <a:lnTo>
                    <a:pt x="3033" y="1823"/>
                  </a:lnTo>
                  <a:lnTo>
                    <a:pt x="2897" y="1790"/>
                  </a:lnTo>
                  <a:lnTo>
                    <a:pt x="2826" y="1775"/>
                  </a:lnTo>
                  <a:lnTo>
                    <a:pt x="2822" y="1655"/>
                  </a:lnTo>
                  <a:lnTo>
                    <a:pt x="2939" y="1577"/>
                  </a:lnTo>
                  <a:lnTo>
                    <a:pt x="2928" y="1489"/>
                  </a:lnTo>
                  <a:lnTo>
                    <a:pt x="2892" y="1417"/>
                  </a:lnTo>
                  <a:lnTo>
                    <a:pt x="2916" y="1369"/>
                  </a:lnTo>
                  <a:lnTo>
                    <a:pt x="2988" y="1381"/>
                  </a:lnTo>
                  <a:lnTo>
                    <a:pt x="3018" y="1333"/>
                  </a:lnTo>
                  <a:lnTo>
                    <a:pt x="2934" y="1309"/>
                  </a:lnTo>
                  <a:lnTo>
                    <a:pt x="2898" y="1267"/>
                  </a:lnTo>
                  <a:lnTo>
                    <a:pt x="3096" y="1165"/>
                  </a:lnTo>
                  <a:lnTo>
                    <a:pt x="3126" y="1081"/>
                  </a:lnTo>
                  <a:lnTo>
                    <a:pt x="3048" y="1033"/>
                  </a:lnTo>
                  <a:lnTo>
                    <a:pt x="3109" y="967"/>
                  </a:lnTo>
                  <a:lnTo>
                    <a:pt x="3036" y="904"/>
                  </a:lnTo>
                  <a:lnTo>
                    <a:pt x="2942" y="828"/>
                  </a:lnTo>
                  <a:lnTo>
                    <a:pt x="2764" y="742"/>
                  </a:lnTo>
                  <a:lnTo>
                    <a:pt x="2764" y="667"/>
                  </a:lnTo>
                  <a:lnTo>
                    <a:pt x="2670" y="619"/>
                  </a:lnTo>
                  <a:lnTo>
                    <a:pt x="2631" y="561"/>
                  </a:lnTo>
                  <a:lnTo>
                    <a:pt x="2700" y="469"/>
                  </a:lnTo>
                  <a:lnTo>
                    <a:pt x="2646" y="406"/>
                  </a:lnTo>
                  <a:lnTo>
                    <a:pt x="2571" y="408"/>
                  </a:lnTo>
                  <a:lnTo>
                    <a:pt x="2528" y="306"/>
                  </a:lnTo>
                  <a:lnTo>
                    <a:pt x="2595" y="241"/>
                  </a:lnTo>
                  <a:lnTo>
                    <a:pt x="2480" y="181"/>
                  </a:lnTo>
                  <a:lnTo>
                    <a:pt x="2378" y="208"/>
                  </a:lnTo>
                  <a:lnTo>
                    <a:pt x="2231" y="139"/>
                  </a:lnTo>
                  <a:lnTo>
                    <a:pt x="2115" y="108"/>
                  </a:lnTo>
                  <a:lnTo>
                    <a:pt x="2046" y="21"/>
                  </a:lnTo>
                  <a:lnTo>
                    <a:pt x="1949" y="58"/>
                  </a:lnTo>
                  <a:lnTo>
                    <a:pt x="1814" y="34"/>
                  </a:lnTo>
                  <a:lnTo>
                    <a:pt x="1662" y="36"/>
                  </a:lnTo>
                  <a:lnTo>
                    <a:pt x="1566" y="0"/>
                  </a:lnTo>
                  <a:lnTo>
                    <a:pt x="1569" y="112"/>
                  </a:lnTo>
                  <a:lnTo>
                    <a:pt x="1644" y="106"/>
                  </a:lnTo>
                  <a:lnTo>
                    <a:pt x="1638" y="145"/>
                  </a:lnTo>
                  <a:lnTo>
                    <a:pt x="1536" y="171"/>
                  </a:lnTo>
                  <a:lnTo>
                    <a:pt x="1443" y="202"/>
                  </a:lnTo>
                  <a:lnTo>
                    <a:pt x="1356" y="205"/>
                  </a:lnTo>
                  <a:lnTo>
                    <a:pt x="1350" y="103"/>
                  </a:lnTo>
                  <a:lnTo>
                    <a:pt x="1248" y="106"/>
                  </a:lnTo>
                  <a:lnTo>
                    <a:pt x="1111" y="174"/>
                  </a:lnTo>
                  <a:lnTo>
                    <a:pt x="1014" y="226"/>
                  </a:lnTo>
                  <a:lnTo>
                    <a:pt x="894" y="214"/>
                  </a:lnTo>
                  <a:lnTo>
                    <a:pt x="810" y="121"/>
                  </a:lnTo>
                  <a:lnTo>
                    <a:pt x="710" y="169"/>
                  </a:lnTo>
                  <a:lnTo>
                    <a:pt x="537" y="124"/>
                  </a:lnTo>
                  <a:lnTo>
                    <a:pt x="425" y="139"/>
                  </a:lnTo>
                  <a:lnTo>
                    <a:pt x="380" y="261"/>
                  </a:lnTo>
                  <a:lnTo>
                    <a:pt x="303" y="277"/>
                  </a:lnTo>
                  <a:lnTo>
                    <a:pt x="258" y="283"/>
                  </a:lnTo>
                  <a:lnTo>
                    <a:pt x="185" y="294"/>
                  </a:lnTo>
                  <a:lnTo>
                    <a:pt x="123" y="274"/>
                  </a:lnTo>
                  <a:lnTo>
                    <a:pt x="74" y="324"/>
                  </a:lnTo>
                  <a:lnTo>
                    <a:pt x="0" y="403"/>
                  </a:lnTo>
                  <a:lnTo>
                    <a:pt x="105" y="453"/>
                  </a:lnTo>
                  <a:lnTo>
                    <a:pt x="180" y="409"/>
                  </a:lnTo>
                  <a:lnTo>
                    <a:pt x="335" y="355"/>
                  </a:lnTo>
                  <a:lnTo>
                    <a:pt x="324" y="394"/>
                  </a:lnTo>
                  <a:lnTo>
                    <a:pt x="186" y="493"/>
                  </a:lnTo>
                  <a:lnTo>
                    <a:pt x="195" y="563"/>
                  </a:lnTo>
                  <a:close/>
                </a:path>
              </a:pathLst>
            </a:custGeom>
            <a:solidFill>
              <a:schemeClr val="accent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2" name="Google Shape;402;p66"/>
            <p:cNvSpPr/>
            <p:nvPr/>
          </p:nvSpPr>
          <p:spPr>
            <a:xfrm>
              <a:off x="2716249" y="3933371"/>
              <a:ext cx="1128422" cy="936237"/>
            </a:xfrm>
            <a:custGeom>
              <a:avLst/>
              <a:gdLst/>
              <a:ahLst/>
              <a:cxnLst/>
              <a:rect l="l" t="t" r="r" b="b"/>
              <a:pathLst>
                <a:path w="4209" h="3450" extrusionOk="0">
                  <a:moveTo>
                    <a:pt x="3729" y="1814"/>
                  </a:moveTo>
                  <a:lnTo>
                    <a:pt x="3699" y="1654"/>
                  </a:lnTo>
                  <a:lnTo>
                    <a:pt x="3724" y="1459"/>
                  </a:lnTo>
                  <a:lnTo>
                    <a:pt x="3609" y="1384"/>
                  </a:lnTo>
                  <a:lnTo>
                    <a:pt x="3489" y="1399"/>
                  </a:lnTo>
                  <a:lnTo>
                    <a:pt x="3354" y="1394"/>
                  </a:lnTo>
                  <a:lnTo>
                    <a:pt x="3334" y="1439"/>
                  </a:lnTo>
                  <a:lnTo>
                    <a:pt x="3169" y="1414"/>
                  </a:lnTo>
                  <a:lnTo>
                    <a:pt x="3109" y="1304"/>
                  </a:lnTo>
                  <a:lnTo>
                    <a:pt x="3019" y="1244"/>
                  </a:lnTo>
                  <a:lnTo>
                    <a:pt x="2884" y="1199"/>
                  </a:lnTo>
                  <a:lnTo>
                    <a:pt x="2874" y="1324"/>
                  </a:lnTo>
                  <a:lnTo>
                    <a:pt x="2854" y="1439"/>
                  </a:lnTo>
                  <a:lnTo>
                    <a:pt x="2769" y="1544"/>
                  </a:lnTo>
                  <a:lnTo>
                    <a:pt x="2644" y="1514"/>
                  </a:lnTo>
                  <a:lnTo>
                    <a:pt x="2619" y="1604"/>
                  </a:lnTo>
                  <a:lnTo>
                    <a:pt x="2559" y="1684"/>
                  </a:lnTo>
                  <a:lnTo>
                    <a:pt x="2629" y="1789"/>
                  </a:lnTo>
                  <a:lnTo>
                    <a:pt x="2574" y="1909"/>
                  </a:lnTo>
                  <a:lnTo>
                    <a:pt x="2454" y="1964"/>
                  </a:lnTo>
                  <a:lnTo>
                    <a:pt x="2480" y="2075"/>
                  </a:lnTo>
                  <a:lnTo>
                    <a:pt x="2305" y="2015"/>
                  </a:lnTo>
                  <a:lnTo>
                    <a:pt x="2269" y="2128"/>
                  </a:lnTo>
                  <a:lnTo>
                    <a:pt x="2125" y="2134"/>
                  </a:lnTo>
                  <a:lnTo>
                    <a:pt x="2138" y="2234"/>
                  </a:lnTo>
                  <a:lnTo>
                    <a:pt x="2044" y="2296"/>
                  </a:lnTo>
                  <a:lnTo>
                    <a:pt x="2013" y="2389"/>
                  </a:lnTo>
                  <a:lnTo>
                    <a:pt x="1924" y="2374"/>
                  </a:lnTo>
                  <a:lnTo>
                    <a:pt x="1809" y="2456"/>
                  </a:lnTo>
                  <a:lnTo>
                    <a:pt x="1824" y="2555"/>
                  </a:lnTo>
                  <a:lnTo>
                    <a:pt x="1707" y="2569"/>
                  </a:lnTo>
                  <a:lnTo>
                    <a:pt x="1598" y="2579"/>
                  </a:lnTo>
                  <a:lnTo>
                    <a:pt x="1443" y="2509"/>
                  </a:lnTo>
                  <a:lnTo>
                    <a:pt x="1443" y="2658"/>
                  </a:lnTo>
                  <a:lnTo>
                    <a:pt x="1489" y="2788"/>
                  </a:lnTo>
                  <a:lnTo>
                    <a:pt x="1345" y="2772"/>
                  </a:lnTo>
                  <a:lnTo>
                    <a:pt x="1224" y="2818"/>
                  </a:lnTo>
                  <a:lnTo>
                    <a:pt x="1072" y="2743"/>
                  </a:lnTo>
                  <a:lnTo>
                    <a:pt x="1053" y="2866"/>
                  </a:lnTo>
                  <a:lnTo>
                    <a:pt x="745" y="2968"/>
                  </a:lnTo>
                  <a:lnTo>
                    <a:pt x="757" y="3109"/>
                  </a:lnTo>
                  <a:lnTo>
                    <a:pt x="817" y="3196"/>
                  </a:lnTo>
                  <a:lnTo>
                    <a:pt x="768" y="3268"/>
                  </a:lnTo>
                  <a:lnTo>
                    <a:pt x="738" y="3418"/>
                  </a:lnTo>
                  <a:lnTo>
                    <a:pt x="655" y="3450"/>
                  </a:lnTo>
                  <a:lnTo>
                    <a:pt x="543" y="3448"/>
                  </a:lnTo>
                  <a:lnTo>
                    <a:pt x="488" y="3378"/>
                  </a:lnTo>
                  <a:lnTo>
                    <a:pt x="393" y="3403"/>
                  </a:lnTo>
                  <a:lnTo>
                    <a:pt x="288" y="3228"/>
                  </a:lnTo>
                  <a:lnTo>
                    <a:pt x="248" y="2983"/>
                  </a:lnTo>
                  <a:lnTo>
                    <a:pt x="203" y="2389"/>
                  </a:lnTo>
                  <a:lnTo>
                    <a:pt x="168" y="2239"/>
                  </a:lnTo>
                  <a:lnTo>
                    <a:pt x="173" y="2164"/>
                  </a:lnTo>
                  <a:lnTo>
                    <a:pt x="88" y="2069"/>
                  </a:lnTo>
                  <a:lnTo>
                    <a:pt x="53" y="1774"/>
                  </a:lnTo>
                  <a:lnTo>
                    <a:pt x="38" y="1634"/>
                  </a:lnTo>
                  <a:lnTo>
                    <a:pt x="3" y="1429"/>
                  </a:lnTo>
                  <a:lnTo>
                    <a:pt x="8" y="1109"/>
                  </a:lnTo>
                  <a:lnTo>
                    <a:pt x="0" y="910"/>
                  </a:lnTo>
                  <a:lnTo>
                    <a:pt x="34" y="874"/>
                  </a:lnTo>
                  <a:lnTo>
                    <a:pt x="103" y="893"/>
                  </a:lnTo>
                  <a:lnTo>
                    <a:pt x="120" y="901"/>
                  </a:lnTo>
                  <a:lnTo>
                    <a:pt x="129" y="917"/>
                  </a:lnTo>
                  <a:lnTo>
                    <a:pt x="132" y="941"/>
                  </a:lnTo>
                  <a:lnTo>
                    <a:pt x="124" y="965"/>
                  </a:lnTo>
                  <a:lnTo>
                    <a:pt x="133" y="973"/>
                  </a:lnTo>
                  <a:lnTo>
                    <a:pt x="144" y="968"/>
                  </a:lnTo>
                  <a:lnTo>
                    <a:pt x="153" y="982"/>
                  </a:lnTo>
                  <a:lnTo>
                    <a:pt x="159" y="994"/>
                  </a:lnTo>
                  <a:lnTo>
                    <a:pt x="169" y="1000"/>
                  </a:lnTo>
                  <a:lnTo>
                    <a:pt x="174" y="983"/>
                  </a:lnTo>
                  <a:lnTo>
                    <a:pt x="192" y="988"/>
                  </a:lnTo>
                  <a:lnTo>
                    <a:pt x="208" y="995"/>
                  </a:lnTo>
                  <a:lnTo>
                    <a:pt x="222" y="998"/>
                  </a:lnTo>
                  <a:lnTo>
                    <a:pt x="232" y="1004"/>
                  </a:lnTo>
                  <a:lnTo>
                    <a:pt x="243" y="1012"/>
                  </a:lnTo>
                  <a:lnTo>
                    <a:pt x="253" y="1006"/>
                  </a:lnTo>
                  <a:lnTo>
                    <a:pt x="252" y="994"/>
                  </a:lnTo>
                  <a:lnTo>
                    <a:pt x="264" y="982"/>
                  </a:lnTo>
                  <a:lnTo>
                    <a:pt x="270" y="961"/>
                  </a:lnTo>
                  <a:lnTo>
                    <a:pt x="261" y="949"/>
                  </a:lnTo>
                  <a:lnTo>
                    <a:pt x="246" y="946"/>
                  </a:lnTo>
                  <a:lnTo>
                    <a:pt x="240" y="931"/>
                  </a:lnTo>
                  <a:lnTo>
                    <a:pt x="318" y="938"/>
                  </a:lnTo>
                  <a:lnTo>
                    <a:pt x="398" y="795"/>
                  </a:lnTo>
                  <a:lnTo>
                    <a:pt x="379" y="653"/>
                  </a:lnTo>
                  <a:lnTo>
                    <a:pt x="531" y="750"/>
                  </a:lnTo>
                  <a:lnTo>
                    <a:pt x="652" y="647"/>
                  </a:lnTo>
                  <a:lnTo>
                    <a:pt x="634" y="548"/>
                  </a:lnTo>
                  <a:lnTo>
                    <a:pt x="514" y="455"/>
                  </a:lnTo>
                  <a:lnTo>
                    <a:pt x="668" y="335"/>
                  </a:lnTo>
                  <a:lnTo>
                    <a:pt x="818" y="260"/>
                  </a:lnTo>
                  <a:lnTo>
                    <a:pt x="610" y="212"/>
                  </a:lnTo>
                  <a:lnTo>
                    <a:pt x="608" y="90"/>
                  </a:lnTo>
                  <a:lnTo>
                    <a:pt x="724" y="11"/>
                  </a:lnTo>
                  <a:lnTo>
                    <a:pt x="833" y="15"/>
                  </a:lnTo>
                  <a:lnTo>
                    <a:pt x="933" y="0"/>
                  </a:lnTo>
                  <a:lnTo>
                    <a:pt x="968" y="65"/>
                  </a:lnTo>
                  <a:lnTo>
                    <a:pt x="968" y="165"/>
                  </a:lnTo>
                  <a:lnTo>
                    <a:pt x="1103" y="210"/>
                  </a:lnTo>
                  <a:lnTo>
                    <a:pt x="1208" y="245"/>
                  </a:lnTo>
                  <a:lnTo>
                    <a:pt x="1283" y="335"/>
                  </a:lnTo>
                  <a:lnTo>
                    <a:pt x="1743" y="365"/>
                  </a:lnTo>
                  <a:lnTo>
                    <a:pt x="1758" y="470"/>
                  </a:lnTo>
                  <a:lnTo>
                    <a:pt x="1838" y="540"/>
                  </a:lnTo>
                  <a:lnTo>
                    <a:pt x="1958" y="500"/>
                  </a:lnTo>
                  <a:lnTo>
                    <a:pt x="2048" y="440"/>
                  </a:lnTo>
                  <a:lnTo>
                    <a:pt x="2134" y="215"/>
                  </a:lnTo>
                  <a:lnTo>
                    <a:pt x="2319" y="170"/>
                  </a:lnTo>
                  <a:lnTo>
                    <a:pt x="2514" y="165"/>
                  </a:lnTo>
                  <a:lnTo>
                    <a:pt x="2439" y="305"/>
                  </a:lnTo>
                  <a:lnTo>
                    <a:pt x="2554" y="380"/>
                  </a:lnTo>
                  <a:lnTo>
                    <a:pt x="2709" y="375"/>
                  </a:lnTo>
                  <a:lnTo>
                    <a:pt x="2854" y="270"/>
                  </a:lnTo>
                  <a:lnTo>
                    <a:pt x="3129" y="345"/>
                  </a:lnTo>
                  <a:lnTo>
                    <a:pt x="3259" y="255"/>
                  </a:lnTo>
                  <a:lnTo>
                    <a:pt x="3394" y="225"/>
                  </a:lnTo>
                  <a:lnTo>
                    <a:pt x="3504" y="305"/>
                  </a:lnTo>
                  <a:lnTo>
                    <a:pt x="3624" y="290"/>
                  </a:lnTo>
                  <a:lnTo>
                    <a:pt x="3879" y="270"/>
                  </a:lnTo>
                  <a:lnTo>
                    <a:pt x="3956" y="374"/>
                  </a:lnTo>
                  <a:lnTo>
                    <a:pt x="4067" y="402"/>
                  </a:lnTo>
                  <a:lnTo>
                    <a:pt x="3984" y="500"/>
                  </a:lnTo>
                  <a:lnTo>
                    <a:pt x="3969" y="590"/>
                  </a:lnTo>
                  <a:lnTo>
                    <a:pt x="4044" y="740"/>
                  </a:lnTo>
                  <a:lnTo>
                    <a:pt x="4069" y="959"/>
                  </a:lnTo>
                  <a:lnTo>
                    <a:pt x="3964" y="979"/>
                  </a:lnTo>
                  <a:lnTo>
                    <a:pt x="3934" y="1049"/>
                  </a:lnTo>
                  <a:lnTo>
                    <a:pt x="4029" y="1109"/>
                  </a:lnTo>
                  <a:lnTo>
                    <a:pt x="3994" y="1199"/>
                  </a:lnTo>
                  <a:lnTo>
                    <a:pt x="4209" y="1429"/>
                  </a:lnTo>
                  <a:lnTo>
                    <a:pt x="4174" y="1519"/>
                  </a:lnTo>
                  <a:lnTo>
                    <a:pt x="4119" y="1549"/>
                  </a:lnTo>
                  <a:lnTo>
                    <a:pt x="4054" y="1499"/>
                  </a:lnTo>
                  <a:lnTo>
                    <a:pt x="3954" y="1579"/>
                  </a:lnTo>
                  <a:lnTo>
                    <a:pt x="3894" y="1699"/>
                  </a:lnTo>
                  <a:lnTo>
                    <a:pt x="3920" y="1783"/>
                  </a:lnTo>
                  <a:lnTo>
                    <a:pt x="3853" y="1843"/>
                  </a:lnTo>
                  <a:lnTo>
                    <a:pt x="3729" y="1814"/>
                  </a:lnTo>
                  <a:close/>
                </a:path>
              </a:pathLst>
            </a:custGeom>
            <a:solidFill>
              <a:srgbClr val="FFD96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3" name="Google Shape;403;p66"/>
            <p:cNvSpPr/>
            <p:nvPr/>
          </p:nvSpPr>
          <p:spPr>
            <a:xfrm>
              <a:off x="2887791" y="4480187"/>
              <a:ext cx="621838" cy="1009508"/>
            </a:xfrm>
            <a:custGeom>
              <a:avLst/>
              <a:gdLst/>
              <a:ahLst/>
              <a:cxnLst/>
              <a:rect l="l" t="t" r="r" b="b"/>
              <a:pathLst>
                <a:path w="2321" h="3721" extrusionOk="0">
                  <a:moveTo>
                    <a:pt x="880" y="3510"/>
                  </a:moveTo>
                  <a:lnTo>
                    <a:pt x="610" y="3325"/>
                  </a:lnTo>
                  <a:lnTo>
                    <a:pt x="479" y="3120"/>
                  </a:lnTo>
                  <a:lnTo>
                    <a:pt x="339" y="3070"/>
                  </a:lnTo>
                  <a:lnTo>
                    <a:pt x="239" y="2740"/>
                  </a:lnTo>
                  <a:lnTo>
                    <a:pt x="269" y="2625"/>
                  </a:lnTo>
                  <a:lnTo>
                    <a:pt x="249" y="2515"/>
                  </a:lnTo>
                  <a:lnTo>
                    <a:pt x="104" y="2100"/>
                  </a:lnTo>
                  <a:lnTo>
                    <a:pt x="0" y="1888"/>
                  </a:lnTo>
                  <a:lnTo>
                    <a:pt x="59" y="1770"/>
                  </a:lnTo>
                  <a:lnTo>
                    <a:pt x="69" y="1635"/>
                  </a:lnTo>
                  <a:lnTo>
                    <a:pt x="15" y="1437"/>
                  </a:lnTo>
                  <a:lnTo>
                    <a:pt x="99" y="1405"/>
                  </a:lnTo>
                  <a:lnTo>
                    <a:pt x="129" y="1255"/>
                  </a:lnTo>
                  <a:lnTo>
                    <a:pt x="179" y="1185"/>
                  </a:lnTo>
                  <a:lnTo>
                    <a:pt x="119" y="1095"/>
                  </a:lnTo>
                  <a:lnTo>
                    <a:pt x="104" y="955"/>
                  </a:lnTo>
                  <a:lnTo>
                    <a:pt x="415" y="852"/>
                  </a:lnTo>
                  <a:lnTo>
                    <a:pt x="434" y="730"/>
                  </a:lnTo>
                  <a:lnTo>
                    <a:pt x="585" y="805"/>
                  </a:lnTo>
                  <a:lnTo>
                    <a:pt x="705" y="760"/>
                  </a:lnTo>
                  <a:lnTo>
                    <a:pt x="850" y="775"/>
                  </a:lnTo>
                  <a:lnTo>
                    <a:pt x="805" y="640"/>
                  </a:lnTo>
                  <a:lnTo>
                    <a:pt x="805" y="495"/>
                  </a:lnTo>
                  <a:lnTo>
                    <a:pt x="960" y="565"/>
                  </a:lnTo>
                  <a:lnTo>
                    <a:pt x="1075" y="555"/>
                  </a:lnTo>
                  <a:lnTo>
                    <a:pt x="1185" y="540"/>
                  </a:lnTo>
                  <a:lnTo>
                    <a:pt x="1170" y="445"/>
                  </a:lnTo>
                  <a:lnTo>
                    <a:pt x="1285" y="360"/>
                  </a:lnTo>
                  <a:lnTo>
                    <a:pt x="1375" y="375"/>
                  </a:lnTo>
                  <a:lnTo>
                    <a:pt x="1405" y="285"/>
                  </a:lnTo>
                  <a:lnTo>
                    <a:pt x="1500" y="220"/>
                  </a:lnTo>
                  <a:lnTo>
                    <a:pt x="1485" y="120"/>
                  </a:lnTo>
                  <a:lnTo>
                    <a:pt x="1630" y="115"/>
                  </a:lnTo>
                  <a:lnTo>
                    <a:pt x="1665" y="0"/>
                  </a:lnTo>
                  <a:lnTo>
                    <a:pt x="1841" y="60"/>
                  </a:lnTo>
                  <a:lnTo>
                    <a:pt x="1831" y="195"/>
                  </a:lnTo>
                  <a:lnTo>
                    <a:pt x="1901" y="270"/>
                  </a:lnTo>
                  <a:lnTo>
                    <a:pt x="1811" y="345"/>
                  </a:lnTo>
                  <a:lnTo>
                    <a:pt x="1766" y="445"/>
                  </a:lnTo>
                  <a:lnTo>
                    <a:pt x="1856" y="495"/>
                  </a:lnTo>
                  <a:lnTo>
                    <a:pt x="1756" y="625"/>
                  </a:lnTo>
                  <a:lnTo>
                    <a:pt x="1725" y="675"/>
                  </a:lnTo>
                  <a:lnTo>
                    <a:pt x="1796" y="750"/>
                  </a:lnTo>
                  <a:lnTo>
                    <a:pt x="1771" y="865"/>
                  </a:lnTo>
                  <a:lnTo>
                    <a:pt x="1781" y="1030"/>
                  </a:lnTo>
                  <a:lnTo>
                    <a:pt x="1695" y="1110"/>
                  </a:lnTo>
                  <a:lnTo>
                    <a:pt x="1841" y="1150"/>
                  </a:lnTo>
                  <a:lnTo>
                    <a:pt x="1771" y="1230"/>
                  </a:lnTo>
                  <a:lnTo>
                    <a:pt x="1781" y="1315"/>
                  </a:lnTo>
                  <a:lnTo>
                    <a:pt x="1605" y="1320"/>
                  </a:lnTo>
                  <a:lnTo>
                    <a:pt x="1530" y="1395"/>
                  </a:lnTo>
                  <a:lnTo>
                    <a:pt x="1525" y="1530"/>
                  </a:lnTo>
                  <a:lnTo>
                    <a:pt x="1540" y="1630"/>
                  </a:lnTo>
                  <a:lnTo>
                    <a:pt x="1585" y="1740"/>
                  </a:lnTo>
                  <a:lnTo>
                    <a:pt x="1555" y="1860"/>
                  </a:lnTo>
                  <a:lnTo>
                    <a:pt x="1440" y="1860"/>
                  </a:lnTo>
                  <a:lnTo>
                    <a:pt x="1395" y="1950"/>
                  </a:lnTo>
                  <a:lnTo>
                    <a:pt x="1360" y="2080"/>
                  </a:lnTo>
                  <a:lnTo>
                    <a:pt x="1470" y="2175"/>
                  </a:lnTo>
                  <a:lnTo>
                    <a:pt x="1455" y="2265"/>
                  </a:lnTo>
                  <a:lnTo>
                    <a:pt x="1495" y="2325"/>
                  </a:lnTo>
                  <a:lnTo>
                    <a:pt x="1575" y="2215"/>
                  </a:lnTo>
                  <a:lnTo>
                    <a:pt x="1720" y="2250"/>
                  </a:lnTo>
                  <a:lnTo>
                    <a:pt x="1735" y="2340"/>
                  </a:lnTo>
                  <a:lnTo>
                    <a:pt x="1605" y="2400"/>
                  </a:lnTo>
                  <a:lnTo>
                    <a:pt x="1480" y="2365"/>
                  </a:lnTo>
                  <a:lnTo>
                    <a:pt x="1495" y="2455"/>
                  </a:lnTo>
                  <a:lnTo>
                    <a:pt x="1455" y="2530"/>
                  </a:lnTo>
                  <a:lnTo>
                    <a:pt x="1540" y="2545"/>
                  </a:lnTo>
                  <a:lnTo>
                    <a:pt x="1575" y="2500"/>
                  </a:lnTo>
                  <a:lnTo>
                    <a:pt x="1695" y="2485"/>
                  </a:lnTo>
                  <a:lnTo>
                    <a:pt x="1695" y="2560"/>
                  </a:lnTo>
                  <a:lnTo>
                    <a:pt x="1901" y="2530"/>
                  </a:lnTo>
                  <a:lnTo>
                    <a:pt x="1946" y="2460"/>
                  </a:lnTo>
                  <a:lnTo>
                    <a:pt x="2041" y="2475"/>
                  </a:lnTo>
                  <a:lnTo>
                    <a:pt x="2066" y="2590"/>
                  </a:lnTo>
                  <a:lnTo>
                    <a:pt x="2146" y="2655"/>
                  </a:lnTo>
                  <a:lnTo>
                    <a:pt x="2236" y="2665"/>
                  </a:lnTo>
                  <a:lnTo>
                    <a:pt x="2236" y="2785"/>
                  </a:lnTo>
                  <a:lnTo>
                    <a:pt x="2321" y="2815"/>
                  </a:lnTo>
                  <a:lnTo>
                    <a:pt x="2311" y="2910"/>
                  </a:lnTo>
                  <a:lnTo>
                    <a:pt x="2246" y="3000"/>
                  </a:lnTo>
                  <a:lnTo>
                    <a:pt x="2146" y="3075"/>
                  </a:lnTo>
                  <a:lnTo>
                    <a:pt x="1998" y="3060"/>
                  </a:lnTo>
                  <a:lnTo>
                    <a:pt x="1906" y="3015"/>
                  </a:lnTo>
                  <a:lnTo>
                    <a:pt x="1875" y="3120"/>
                  </a:lnTo>
                  <a:lnTo>
                    <a:pt x="1770" y="3207"/>
                  </a:lnTo>
                  <a:lnTo>
                    <a:pt x="1802" y="3310"/>
                  </a:lnTo>
                  <a:lnTo>
                    <a:pt x="1735" y="3390"/>
                  </a:lnTo>
                  <a:lnTo>
                    <a:pt x="1946" y="3460"/>
                  </a:lnTo>
                  <a:lnTo>
                    <a:pt x="1682" y="3630"/>
                  </a:lnTo>
                  <a:lnTo>
                    <a:pt x="1440" y="3625"/>
                  </a:lnTo>
                  <a:lnTo>
                    <a:pt x="1316" y="3721"/>
                  </a:lnTo>
                  <a:lnTo>
                    <a:pt x="1148" y="3691"/>
                  </a:lnTo>
                  <a:lnTo>
                    <a:pt x="990" y="3540"/>
                  </a:lnTo>
                  <a:lnTo>
                    <a:pt x="880" y="3510"/>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4" name="Google Shape;404;p66"/>
            <p:cNvSpPr/>
            <p:nvPr/>
          </p:nvSpPr>
          <p:spPr>
            <a:xfrm>
              <a:off x="2897171" y="3237298"/>
              <a:ext cx="1199451" cy="842614"/>
            </a:xfrm>
            <a:custGeom>
              <a:avLst/>
              <a:gdLst/>
              <a:ahLst/>
              <a:cxnLst/>
              <a:rect l="l" t="t" r="r" b="b"/>
              <a:pathLst>
                <a:path w="4473" h="3106" extrusionOk="0">
                  <a:moveTo>
                    <a:pt x="2177" y="0"/>
                  </a:moveTo>
                  <a:lnTo>
                    <a:pt x="2121" y="101"/>
                  </a:lnTo>
                  <a:lnTo>
                    <a:pt x="1997" y="90"/>
                  </a:lnTo>
                  <a:lnTo>
                    <a:pt x="1882" y="225"/>
                  </a:lnTo>
                  <a:lnTo>
                    <a:pt x="1732" y="230"/>
                  </a:lnTo>
                  <a:lnTo>
                    <a:pt x="1566" y="361"/>
                  </a:lnTo>
                  <a:lnTo>
                    <a:pt x="1493" y="466"/>
                  </a:lnTo>
                  <a:lnTo>
                    <a:pt x="1352" y="525"/>
                  </a:lnTo>
                  <a:lnTo>
                    <a:pt x="1353" y="667"/>
                  </a:lnTo>
                  <a:lnTo>
                    <a:pt x="1442" y="811"/>
                  </a:lnTo>
                  <a:lnTo>
                    <a:pt x="1598" y="826"/>
                  </a:lnTo>
                  <a:lnTo>
                    <a:pt x="1757" y="756"/>
                  </a:lnTo>
                  <a:lnTo>
                    <a:pt x="1777" y="920"/>
                  </a:lnTo>
                  <a:lnTo>
                    <a:pt x="1548" y="951"/>
                  </a:lnTo>
                  <a:lnTo>
                    <a:pt x="1479" y="1006"/>
                  </a:lnTo>
                  <a:lnTo>
                    <a:pt x="1520" y="1050"/>
                  </a:lnTo>
                  <a:lnTo>
                    <a:pt x="1478" y="1087"/>
                  </a:lnTo>
                  <a:lnTo>
                    <a:pt x="1584" y="1147"/>
                  </a:lnTo>
                  <a:lnTo>
                    <a:pt x="1625" y="1251"/>
                  </a:lnTo>
                  <a:lnTo>
                    <a:pt x="1554" y="1266"/>
                  </a:lnTo>
                  <a:lnTo>
                    <a:pt x="1473" y="1251"/>
                  </a:lnTo>
                  <a:lnTo>
                    <a:pt x="1493" y="1365"/>
                  </a:lnTo>
                  <a:lnTo>
                    <a:pt x="1563" y="1428"/>
                  </a:lnTo>
                  <a:lnTo>
                    <a:pt x="1506" y="1471"/>
                  </a:lnTo>
                  <a:lnTo>
                    <a:pt x="1445" y="1444"/>
                  </a:lnTo>
                  <a:lnTo>
                    <a:pt x="1397" y="1366"/>
                  </a:lnTo>
                  <a:lnTo>
                    <a:pt x="1323" y="1416"/>
                  </a:lnTo>
                  <a:lnTo>
                    <a:pt x="1161" y="1366"/>
                  </a:lnTo>
                  <a:lnTo>
                    <a:pt x="1071" y="1447"/>
                  </a:lnTo>
                  <a:lnTo>
                    <a:pt x="1037" y="1563"/>
                  </a:lnTo>
                  <a:lnTo>
                    <a:pt x="906" y="1641"/>
                  </a:lnTo>
                  <a:lnTo>
                    <a:pt x="798" y="1560"/>
                  </a:lnTo>
                  <a:lnTo>
                    <a:pt x="831" y="1503"/>
                  </a:lnTo>
                  <a:lnTo>
                    <a:pt x="951" y="1477"/>
                  </a:lnTo>
                  <a:lnTo>
                    <a:pt x="947" y="1390"/>
                  </a:lnTo>
                  <a:lnTo>
                    <a:pt x="924" y="1296"/>
                  </a:lnTo>
                  <a:lnTo>
                    <a:pt x="1027" y="1265"/>
                  </a:lnTo>
                  <a:lnTo>
                    <a:pt x="999" y="1158"/>
                  </a:lnTo>
                  <a:lnTo>
                    <a:pt x="924" y="1101"/>
                  </a:lnTo>
                  <a:lnTo>
                    <a:pt x="803" y="1141"/>
                  </a:lnTo>
                  <a:lnTo>
                    <a:pt x="697" y="1100"/>
                  </a:lnTo>
                  <a:lnTo>
                    <a:pt x="768" y="976"/>
                  </a:lnTo>
                  <a:lnTo>
                    <a:pt x="668" y="960"/>
                  </a:lnTo>
                  <a:lnTo>
                    <a:pt x="618" y="1042"/>
                  </a:lnTo>
                  <a:lnTo>
                    <a:pt x="512" y="1006"/>
                  </a:lnTo>
                  <a:lnTo>
                    <a:pt x="472" y="1220"/>
                  </a:lnTo>
                  <a:lnTo>
                    <a:pt x="512" y="1275"/>
                  </a:lnTo>
                  <a:lnTo>
                    <a:pt x="452" y="1335"/>
                  </a:lnTo>
                  <a:lnTo>
                    <a:pt x="527" y="1370"/>
                  </a:lnTo>
                  <a:lnTo>
                    <a:pt x="572" y="1475"/>
                  </a:lnTo>
                  <a:lnTo>
                    <a:pt x="518" y="1567"/>
                  </a:lnTo>
                  <a:lnTo>
                    <a:pt x="542" y="1686"/>
                  </a:lnTo>
                  <a:lnTo>
                    <a:pt x="352" y="1791"/>
                  </a:lnTo>
                  <a:lnTo>
                    <a:pt x="322" y="1861"/>
                  </a:lnTo>
                  <a:lnTo>
                    <a:pt x="442" y="1926"/>
                  </a:lnTo>
                  <a:lnTo>
                    <a:pt x="332" y="1971"/>
                  </a:lnTo>
                  <a:lnTo>
                    <a:pt x="217" y="1971"/>
                  </a:lnTo>
                  <a:lnTo>
                    <a:pt x="156" y="2036"/>
                  </a:lnTo>
                  <a:lnTo>
                    <a:pt x="234" y="2084"/>
                  </a:lnTo>
                  <a:lnTo>
                    <a:pt x="204" y="2168"/>
                  </a:lnTo>
                  <a:lnTo>
                    <a:pt x="6" y="2270"/>
                  </a:lnTo>
                  <a:lnTo>
                    <a:pt x="42" y="2315"/>
                  </a:lnTo>
                  <a:lnTo>
                    <a:pt x="125" y="2334"/>
                  </a:lnTo>
                  <a:lnTo>
                    <a:pt x="98" y="2384"/>
                  </a:lnTo>
                  <a:lnTo>
                    <a:pt x="23" y="2373"/>
                  </a:lnTo>
                  <a:lnTo>
                    <a:pt x="0" y="2424"/>
                  </a:lnTo>
                  <a:lnTo>
                    <a:pt x="38" y="2498"/>
                  </a:lnTo>
                  <a:lnTo>
                    <a:pt x="47" y="2578"/>
                  </a:lnTo>
                  <a:lnTo>
                    <a:pt x="162" y="2581"/>
                  </a:lnTo>
                  <a:lnTo>
                    <a:pt x="255" y="2566"/>
                  </a:lnTo>
                  <a:lnTo>
                    <a:pt x="291" y="2628"/>
                  </a:lnTo>
                  <a:lnTo>
                    <a:pt x="293" y="2731"/>
                  </a:lnTo>
                  <a:lnTo>
                    <a:pt x="530" y="2809"/>
                  </a:lnTo>
                  <a:lnTo>
                    <a:pt x="608" y="2901"/>
                  </a:lnTo>
                  <a:lnTo>
                    <a:pt x="1067" y="2932"/>
                  </a:lnTo>
                  <a:lnTo>
                    <a:pt x="1082" y="3037"/>
                  </a:lnTo>
                  <a:lnTo>
                    <a:pt x="1162" y="3106"/>
                  </a:lnTo>
                  <a:lnTo>
                    <a:pt x="1292" y="3061"/>
                  </a:lnTo>
                  <a:lnTo>
                    <a:pt x="1371" y="3007"/>
                  </a:lnTo>
                  <a:lnTo>
                    <a:pt x="1457" y="2779"/>
                  </a:lnTo>
                  <a:lnTo>
                    <a:pt x="1642" y="2736"/>
                  </a:lnTo>
                  <a:lnTo>
                    <a:pt x="1835" y="2731"/>
                  </a:lnTo>
                  <a:lnTo>
                    <a:pt x="1762" y="2871"/>
                  </a:lnTo>
                  <a:lnTo>
                    <a:pt x="1878" y="2946"/>
                  </a:lnTo>
                  <a:lnTo>
                    <a:pt x="2028" y="2943"/>
                  </a:lnTo>
                  <a:lnTo>
                    <a:pt x="2178" y="2835"/>
                  </a:lnTo>
                  <a:lnTo>
                    <a:pt x="2452" y="2910"/>
                  </a:lnTo>
                  <a:lnTo>
                    <a:pt x="2584" y="2820"/>
                  </a:lnTo>
                  <a:lnTo>
                    <a:pt x="2721" y="2791"/>
                  </a:lnTo>
                  <a:lnTo>
                    <a:pt x="2827" y="2869"/>
                  </a:lnTo>
                  <a:lnTo>
                    <a:pt x="2956" y="2856"/>
                  </a:lnTo>
                  <a:lnTo>
                    <a:pt x="3203" y="2836"/>
                  </a:lnTo>
                  <a:lnTo>
                    <a:pt x="3278" y="2941"/>
                  </a:lnTo>
                  <a:lnTo>
                    <a:pt x="3393" y="2968"/>
                  </a:lnTo>
                  <a:lnTo>
                    <a:pt x="3498" y="2781"/>
                  </a:lnTo>
                  <a:lnTo>
                    <a:pt x="3528" y="2566"/>
                  </a:lnTo>
                  <a:lnTo>
                    <a:pt x="3663" y="2346"/>
                  </a:lnTo>
                  <a:lnTo>
                    <a:pt x="3768" y="2361"/>
                  </a:lnTo>
                  <a:lnTo>
                    <a:pt x="3903" y="2281"/>
                  </a:lnTo>
                  <a:lnTo>
                    <a:pt x="4038" y="2061"/>
                  </a:lnTo>
                  <a:lnTo>
                    <a:pt x="4161" y="1942"/>
                  </a:lnTo>
                  <a:lnTo>
                    <a:pt x="4083" y="1851"/>
                  </a:lnTo>
                  <a:lnTo>
                    <a:pt x="3948" y="1786"/>
                  </a:lnTo>
                  <a:lnTo>
                    <a:pt x="3874" y="1791"/>
                  </a:lnTo>
                  <a:lnTo>
                    <a:pt x="3903" y="1696"/>
                  </a:lnTo>
                  <a:lnTo>
                    <a:pt x="3880" y="1605"/>
                  </a:lnTo>
                  <a:lnTo>
                    <a:pt x="4042" y="1620"/>
                  </a:lnTo>
                  <a:lnTo>
                    <a:pt x="4186" y="1605"/>
                  </a:lnTo>
                  <a:lnTo>
                    <a:pt x="4313" y="1636"/>
                  </a:lnTo>
                  <a:lnTo>
                    <a:pt x="4473" y="1550"/>
                  </a:lnTo>
                  <a:lnTo>
                    <a:pt x="4398" y="1455"/>
                  </a:lnTo>
                  <a:lnTo>
                    <a:pt x="4443" y="1335"/>
                  </a:lnTo>
                  <a:lnTo>
                    <a:pt x="4403" y="1295"/>
                  </a:lnTo>
                  <a:lnTo>
                    <a:pt x="4448" y="1215"/>
                  </a:lnTo>
                  <a:lnTo>
                    <a:pt x="4398" y="1140"/>
                  </a:lnTo>
                  <a:lnTo>
                    <a:pt x="4238" y="1205"/>
                  </a:lnTo>
                  <a:lnTo>
                    <a:pt x="4053" y="1020"/>
                  </a:lnTo>
                  <a:lnTo>
                    <a:pt x="3908" y="975"/>
                  </a:lnTo>
                  <a:lnTo>
                    <a:pt x="3843" y="875"/>
                  </a:lnTo>
                  <a:lnTo>
                    <a:pt x="3728" y="890"/>
                  </a:lnTo>
                  <a:lnTo>
                    <a:pt x="3653" y="1025"/>
                  </a:lnTo>
                  <a:lnTo>
                    <a:pt x="3513" y="1025"/>
                  </a:lnTo>
                  <a:lnTo>
                    <a:pt x="3503" y="885"/>
                  </a:lnTo>
                  <a:lnTo>
                    <a:pt x="3323" y="975"/>
                  </a:lnTo>
                  <a:lnTo>
                    <a:pt x="3233" y="950"/>
                  </a:lnTo>
                  <a:lnTo>
                    <a:pt x="3263" y="855"/>
                  </a:lnTo>
                  <a:lnTo>
                    <a:pt x="3213" y="765"/>
                  </a:lnTo>
                  <a:lnTo>
                    <a:pt x="3068" y="825"/>
                  </a:lnTo>
                  <a:lnTo>
                    <a:pt x="3003" y="905"/>
                  </a:lnTo>
                  <a:lnTo>
                    <a:pt x="2793" y="950"/>
                  </a:lnTo>
                  <a:lnTo>
                    <a:pt x="2808" y="830"/>
                  </a:lnTo>
                  <a:lnTo>
                    <a:pt x="2678" y="915"/>
                  </a:lnTo>
                  <a:lnTo>
                    <a:pt x="2538" y="825"/>
                  </a:lnTo>
                  <a:lnTo>
                    <a:pt x="2508" y="720"/>
                  </a:lnTo>
                  <a:lnTo>
                    <a:pt x="2393" y="740"/>
                  </a:lnTo>
                  <a:lnTo>
                    <a:pt x="2333" y="825"/>
                  </a:lnTo>
                  <a:lnTo>
                    <a:pt x="2422" y="970"/>
                  </a:lnTo>
                  <a:lnTo>
                    <a:pt x="2448" y="1095"/>
                  </a:lnTo>
                  <a:lnTo>
                    <a:pt x="2453" y="1205"/>
                  </a:lnTo>
                  <a:lnTo>
                    <a:pt x="2558" y="1230"/>
                  </a:lnTo>
                  <a:lnTo>
                    <a:pt x="2544" y="1381"/>
                  </a:lnTo>
                  <a:lnTo>
                    <a:pt x="2433" y="1410"/>
                  </a:lnTo>
                  <a:lnTo>
                    <a:pt x="2348" y="1325"/>
                  </a:lnTo>
                  <a:lnTo>
                    <a:pt x="2257" y="1350"/>
                  </a:lnTo>
                  <a:lnTo>
                    <a:pt x="2192" y="1230"/>
                  </a:lnTo>
                  <a:lnTo>
                    <a:pt x="2167" y="1050"/>
                  </a:lnTo>
                  <a:lnTo>
                    <a:pt x="2222" y="930"/>
                  </a:lnTo>
                  <a:lnTo>
                    <a:pt x="2212" y="755"/>
                  </a:lnTo>
                  <a:lnTo>
                    <a:pt x="2288" y="650"/>
                  </a:lnTo>
                  <a:lnTo>
                    <a:pt x="2423" y="675"/>
                  </a:lnTo>
                  <a:lnTo>
                    <a:pt x="2498" y="560"/>
                  </a:lnTo>
                  <a:lnTo>
                    <a:pt x="2558" y="425"/>
                  </a:lnTo>
                  <a:lnTo>
                    <a:pt x="2618" y="315"/>
                  </a:lnTo>
                  <a:lnTo>
                    <a:pt x="2603" y="170"/>
                  </a:lnTo>
                  <a:lnTo>
                    <a:pt x="2543" y="50"/>
                  </a:lnTo>
                  <a:lnTo>
                    <a:pt x="2363" y="0"/>
                  </a:lnTo>
                  <a:lnTo>
                    <a:pt x="2177" y="0"/>
                  </a:lnTo>
                  <a:close/>
                </a:path>
              </a:pathLst>
            </a:custGeom>
            <a:solidFill>
              <a:schemeClr val="accent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5" name="Google Shape;405;p66"/>
            <p:cNvSpPr/>
            <p:nvPr/>
          </p:nvSpPr>
          <p:spPr>
            <a:xfrm>
              <a:off x="3342107" y="2712192"/>
              <a:ext cx="983684" cy="957947"/>
            </a:xfrm>
            <a:custGeom>
              <a:avLst/>
              <a:gdLst/>
              <a:ahLst/>
              <a:cxnLst/>
              <a:rect l="l" t="t" r="r" b="b"/>
              <a:pathLst>
                <a:path w="3670" h="3530" extrusionOk="0">
                  <a:moveTo>
                    <a:pt x="120" y="1401"/>
                  </a:moveTo>
                  <a:lnTo>
                    <a:pt x="105" y="1506"/>
                  </a:lnTo>
                  <a:lnTo>
                    <a:pt x="235" y="1673"/>
                  </a:lnTo>
                  <a:lnTo>
                    <a:pt x="211" y="1815"/>
                  </a:lnTo>
                  <a:lnTo>
                    <a:pt x="161" y="1968"/>
                  </a:lnTo>
                  <a:lnTo>
                    <a:pt x="331" y="1896"/>
                  </a:lnTo>
                  <a:lnTo>
                    <a:pt x="431" y="1909"/>
                  </a:lnTo>
                  <a:lnTo>
                    <a:pt x="506" y="1864"/>
                  </a:lnTo>
                  <a:lnTo>
                    <a:pt x="517" y="1936"/>
                  </a:lnTo>
                  <a:lnTo>
                    <a:pt x="705" y="1936"/>
                  </a:lnTo>
                  <a:lnTo>
                    <a:pt x="886" y="1984"/>
                  </a:lnTo>
                  <a:lnTo>
                    <a:pt x="946" y="2104"/>
                  </a:lnTo>
                  <a:lnTo>
                    <a:pt x="961" y="2248"/>
                  </a:lnTo>
                  <a:lnTo>
                    <a:pt x="898" y="2367"/>
                  </a:lnTo>
                  <a:lnTo>
                    <a:pt x="842" y="2493"/>
                  </a:lnTo>
                  <a:lnTo>
                    <a:pt x="767" y="2611"/>
                  </a:lnTo>
                  <a:lnTo>
                    <a:pt x="631" y="2584"/>
                  </a:lnTo>
                  <a:lnTo>
                    <a:pt x="554" y="2692"/>
                  </a:lnTo>
                  <a:lnTo>
                    <a:pt x="565" y="2866"/>
                  </a:lnTo>
                  <a:lnTo>
                    <a:pt x="510" y="2985"/>
                  </a:lnTo>
                  <a:lnTo>
                    <a:pt x="535" y="3164"/>
                  </a:lnTo>
                  <a:lnTo>
                    <a:pt x="599" y="3284"/>
                  </a:lnTo>
                  <a:lnTo>
                    <a:pt x="689" y="3258"/>
                  </a:lnTo>
                  <a:lnTo>
                    <a:pt x="776" y="3345"/>
                  </a:lnTo>
                  <a:lnTo>
                    <a:pt x="887" y="3314"/>
                  </a:lnTo>
                  <a:lnTo>
                    <a:pt x="901" y="3162"/>
                  </a:lnTo>
                  <a:lnTo>
                    <a:pt x="796" y="3140"/>
                  </a:lnTo>
                  <a:lnTo>
                    <a:pt x="791" y="3032"/>
                  </a:lnTo>
                  <a:lnTo>
                    <a:pt x="766" y="2908"/>
                  </a:lnTo>
                  <a:lnTo>
                    <a:pt x="677" y="2761"/>
                  </a:lnTo>
                  <a:lnTo>
                    <a:pt x="737" y="2673"/>
                  </a:lnTo>
                  <a:lnTo>
                    <a:pt x="848" y="2655"/>
                  </a:lnTo>
                  <a:lnTo>
                    <a:pt x="883" y="2763"/>
                  </a:lnTo>
                  <a:lnTo>
                    <a:pt x="1019" y="2851"/>
                  </a:lnTo>
                  <a:lnTo>
                    <a:pt x="1150" y="2766"/>
                  </a:lnTo>
                  <a:lnTo>
                    <a:pt x="1135" y="2883"/>
                  </a:lnTo>
                  <a:lnTo>
                    <a:pt x="1346" y="2841"/>
                  </a:lnTo>
                  <a:lnTo>
                    <a:pt x="1411" y="2760"/>
                  </a:lnTo>
                  <a:lnTo>
                    <a:pt x="1555" y="2701"/>
                  </a:lnTo>
                  <a:lnTo>
                    <a:pt x="1604" y="2791"/>
                  </a:lnTo>
                  <a:lnTo>
                    <a:pt x="1574" y="2887"/>
                  </a:lnTo>
                  <a:lnTo>
                    <a:pt x="1669" y="2910"/>
                  </a:lnTo>
                  <a:lnTo>
                    <a:pt x="1845" y="2821"/>
                  </a:lnTo>
                  <a:lnTo>
                    <a:pt x="1855" y="2958"/>
                  </a:lnTo>
                  <a:lnTo>
                    <a:pt x="1994" y="2960"/>
                  </a:lnTo>
                  <a:lnTo>
                    <a:pt x="2072" y="2824"/>
                  </a:lnTo>
                  <a:lnTo>
                    <a:pt x="2185" y="2811"/>
                  </a:lnTo>
                  <a:lnTo>
                    <a:pt x="2249" y="2908"/>
                  </a:lnTo>
                  <a:lnTo>
                    <a:pt x="2392" y="2952"/>
                  </a:lnTo>
                  <a:lnTo>
                    <a:pt x="2578" y="3138"/>
                  </a:lnTo>
                  <a:lnTo>
                    <a:pt x="2740" y="3075"/>
                  </a:lnTo>
                  <a:lnTo>
                    <a:pt x="2791" y="3150"/>
                  </a:lnTo>
                  <a:lnTo>
                    <a:pt x="2744" y="3230"/>
                  </a:lnTo>
                  <a:lnTo>
                    <a:pt x="2786" y="3270"/>
                  </a:lnTo>
                  <a:lnTo>
                    <a:pt x="2741" y="3387"/>
                  </a:lnTo>
                  <a:lnTo>
                    <a:pt x="2816" y="3485"/>
                  </a:lnTo>
                  <a:lnTo>
                    <a:pt x="2920" y="3530"/>
                  </a:lnTo>
                  <a:lnTo>
                    <a:pt x="3031" y="3485"/>
                  </a:lnTo>
                  <a:lnTo>
                    <a:pt x="3090" y="3405"/>
                  </a:lnTo>
                  <a:lnTo>
                    <a:pt x="3115" y="3215"/>
                  </a:lnTo>
                  <a:lnTo>
                    <a:pt x="3175" y="3150"/>
                  </a:lnTo>
                  <a:lnTo>
                    <a:pt x="3090" y="2990"/>
                  </a:lnTo>
                  <a:lnTo>
                    <a:pt x="3040" y="2881"/>
                  </a:lnTo>
                  <a:lnTo>
                    <a:pt x="3075" y="2761"/>
                  </a:lnTo>
                  <a:lnTo>
                    <a:pt x="3280" y="2641"/>
                  </a:lnTo>
                  <a:lnTo>
                    <a:pt x="3445" y="2491"/>
                  </a:lnTo>
                  <a:lnTo>
                    <a:pt x="3655" y="2491"/>
                  </a:lnTo>
                  <a:lnTo>
                    <a:pt x="3670" y="2406"/>
                  </a:lnTo>
                  <a:lnTo>
                    <a:pt x="3420" y="2316"/>
                  </a:lnTo>
                  <a:lnTo>
                    <a:pt x="3450" y="2151"/>
                  </a:lnTo>
                  <a:lnTo>
                    <a:pt x="3330" y="2116"/>
                  </a:lnTo>
                  <a:lnTo>
                    <a:pt x="3415" y="2026"/>
                  </a:lnTo>
                  <a:lnTo>
                    <a:pt x="3570" y="2011"/>
                  </a:lnTo>
                  <a:lnTo>
                    <a:pt x="3420" y="1881"/>
                  </a:lnTo>
                  <a:lnTo>
                    <a:pt x="3329" y="1732"/>
                  </a:lnTo>
                  <a:lnTo>
                    <a:pt x="3287" y="1579"/>
                  </a:lnTo>
                  <a:lnTo>
                    <a:pt x="3149" y="1546"/>
                  </a:lnTo>
                  <a:lnTo>
                    <a:pt x="3056" y="1625"/>
                  </a:lnTo>
                  <a:lnTo>
                    <a:pt x="2776" y="1522"/>
                  </a:lnTo>
                  <a:lnTo>
                    <a:pt x="2740" y="1430"/>
                  </a:lnTo>
                  <a:lnTo>
                    <a:pt x="2624" y="1447"/>
                  </a:lnTo>
                  <a:lnTo>
                    <a:pt x="2440" y="1326"/>
                  </a:lnTo>
                  <a:lnTo>
                    <a:pt x="2354" y="1381"/>
                  </a:lnTo>
                  <a:lnTo>
                    <a:pt x="1939" y="1067"/>
                  </a:lnTo>
                  <a:lnTo>
                    <a:pt x="1457" y="872"/>
                  </a:lnTo>
                  <a:lnTo>
                    <a:pt x="1185" y="811"/>
                  </a:lnTo>
                  <a:lnTo>
                    <a:pt x="970" y="706"/>
                  </a:lnTo>
                  <a:lnTo>
                    <a:pt x="825" y="601"/>
                  </a:lnTo>
                  <a:lnTo>
                    <a:pt x="882" y="509"/>
                  </a:lnTo>
                  <a:lnTo>
                    <a:pt x="735" y="452"/>
                  </a:lnTo>
                  <a:lnTo>
                    <a:pt x="645" y="352"/>
                  </a:lnTo>
                  <a:lnTo>
                    <a:pt x="475" y="447"/>
                  </a:lnTo>
                  <a:lnTo>
                    <a:pt x="355" y="352"/>
                  </a:lnTo>
                  <a:lnTo>
                    <a:pt x="355" y="257"/>
                  </a:lnTo>
                  <a:lnTo>
                    <a:pt x="402" y="80"/>
                  </a:lnTo>
                  <a:lnTo>
                    <a:pt x="247" y="0"/>
                  </a:lnTo>
                  <a:lnTo>
                    <a:pt x="195" y="112"/>
                  </a:lnTo>
                  <a:lnTo>
                    <a:pt x="75" y="217"/>
                  </a:lnTo>
                  <a:lnTo>
                    <a:pt x="0" y="397"/>
                  </a:lnTo>
                  <a:lnTo>
                    <a:pt x="30" y="577"/>
                  </a:lnTo>
                  <a:lnTo>
                    <a:pt x="60" y="751"/>
                  </a:lnTo>
                  <a:lnTo>
                    <a:pt x="48" y="798"/>
                  </a:lnTo>
                  <a:lnTo>
                    <a:pt x="91" y="848"/>
                  </a:lnTo>
                  <a:lnTo>
                    <a:pt x="117" y="902"/>
                  </a:lnTo>
                  <a:lnTo>
                    <a:pt x="127" y="977"/>
                  </a:lnTo>
                  <a:lnTo>
                    <a:pt x="210" y="1096"/>
                  </a:lnTo>
                  <a:lnTo>
                    <a:pt x="208" y="1220"/>
                  </a:lnTo>
                  <a:lnTo>
                    <a:pt x="120" y="1401"/>
                  </a:lnTo>
                  <a:close/>
                </a:path>
              </a:pathLst>
            </a:custGeom>
            <a:solidFill>
              <a:schemeClr val="accent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6" name="Google Shape;406;p66"/>
            <p:cNvSpPr/>
            <p:nvPr/>
          </p:nvSpPr>
          <p:spPr>
            <a:xfrm>
              <a:off x="3748179" y="3636217"/>
              <a:ext cx="558851" cy="933523"/>
            </a:xfrm>
            <a:custGeom>
              <a:avLst/>
              <a:gdLst/>
              <a:ahLst/>
              <a:cxnLst/>
              <a:rect l="l" t="t" r="r" b="b"/>
              <a:pathLst>
                <a:path w="2085" h="3441" extrusionOk="0">
                  <a:moveTo>
                    <a:pt x="1575" y="0"/>
                  </a:moveTo>
                  <a:lnTo>
                    <a:pt x="1695" y="125"/>
                  </a:lnTo>
                  <a:lnTo>
                    <a:pt x="1800" y="260"/>
                  </a:lnTo>
                  <a:lnTo>
                    <a:pt x="1920" y="215"/>
                  </a:lnTo>
                  <a:lnTo>
                    <a:pt x="1905" y="425"/>
                  </a:lnTo>
                  <a:lnTo>
                    <a:pt x="1960" y="540"/>
                  </a:lnTo>
                  <a:lnTo>
                    <a:pt x="2080" y="570"/>
                  </a:lnTo>
                  <a:lnTo>
                    <a:pt x="2085" y="660"/>
                  </a:lnTo>
                  <a:lnTo>
                    <a:pt x="1930" y="815"/>
                  </a:lnTo>
                  <a:lnTo>
                    <a:pt x="1919" y="891"/>
                  </a:lnTo>
                  <a:lnTo>
                    <a:pt x="1711" y="1052"/>
                  </a:lnTo>
                  <a:lnTo>
                    <a:pt x="1710" y="1190"/>
                  </a:lnTo>
                  <a:lnTo>
                    <a:pt x="1615" y="1325"/>
                  </a:lnTo>
                  <a:lnTo>
                    <a:pt x="1606" y="1484"/>
                  </a:lnTo>
                  <a:lnTo>
                    <a:pt x="1469" y="1581"/>
                  </a:lnTo>
                  <a:lnTo>
                    <a:pt x="1271" y="1580"/>
                  </a:lnTo>
                  <a:lnTo>
                    <a:pt x="1213" y="1695"/>
                  </a:lnTo>
                  <a:lnTo>
                    <a:pt x="1110" y="1801"/>
                  </a:lnTo>
                  <a:lnTo>
                    <a:pt x="1139" y="2163"/>
                  </a:lnTo>
                  <a:lnTo>
                    <a:pt x="1240" y="2211"/>
                  </a:lnTo>
                  <a:lnTo>
                    <a:pt x="1349" y="2271"/>
                  </a:lnTo>
                  <a:lnTo>
                    <a:pt x="1225" y="2326"/>
                  </a:lnTo>
                  <a:lnTo>
                    <a:pt x="1070" y="2262"/>
                  </a:lnTo>
                  <a:lnTo>
                    <a:pt x="896" y="2176"/>
                  </a:lnTo>
                  <a:lnTo>
                    <a:pt x="841" y="2256"/>
                  </a:lnTo>
                  <a:lnTo>
                    <a:pt x="944" y="2355"/>
                  </a:lnTo>
                  <a:lnTo>
                    <a:pt x="941" y="2478"/>
                  </a:lnTo>
                  <a:lnTo>
                    <a:pt x="1005" y="2571"/>
                  </a:lnTo>
                  <a:lnTo>
                    <a:pt x="1020" y="2691"/>
                  </a:lnTo>
                  <a:lnTo>
                    <a:pt x="1050" y="2791"/>
                  </a:lnTo>
                  <a:lnTo>
                    <a:pt x="910" y="2986"/>
                  </a:lnTo>
                  <a:lnTo>
                    <a:pt x="810" y="3081"/>
                  </a:lnTo>
                  <a:lnTo>
                    <a:pt x="705" y="3151"/>
                  </a:lnTo>
                  <a:lnTo>
                    <a:pt x="630" y="3441"/>
                  </a:lnTo>
                  <a:lnTo>
                    <a:pt x="535" y="3396"/>
                  </a:lnTo>
                  <a:lnTo>
                    <a:pt x="430" y="3421"/>
                  </a:lnTo>
                  <a:lnTo>
                    <a:pt x="390" y="3226"/>
                  </a:lnTo>
                  <a:lnTo>
                    <a:pt x="310" y="3241"/>
                  </a:lnTo>
                  <a:lnTo>
                    <a:pt x="240" y="3046"/>
                  </a:lnTo>
                  <a:lnTo>
                    <a:pt x="0" y="2941"/>
                  </a:lnTo>
                  <a:lnTo>
                    <a:pt x="70" y="2881"/>
                  </a:lnTo>
                  <a:lnTo>
                    <a:pt x="45" y="2796"/>
                  </a:lnTo>
                  <a:lnTo>
                    <a:pt x="105" y="2676"/>
                  </a:lnTo>
                  <a:lnTo>
                    <a:pt x="205" y="2596"/>
                  </a:lnTo>
                  <a:lnTo>
                    <a:pt x="272" y="2646"/>
                  </a:lnTo>
                  <a:lnTo>
                    <a:pt x="323" y="2616"/>
                  </a:lnTo>
                  <a:lnTo>
                    <a:pt x="361" y="2527"/>
                  </a:lnTo>
                  <a:lnTo>
                    <a:pt x="146" y="2296"/>
                  </a:lnTo>
                  <a:lnTo>
                    <a:pt x="181" y="2206"/>
                  </a:lnTo>
                  <a:lnTo>
                    <a:pt x="86" y="2145"/>
                  </a:lnTo>
                  <a:lnTo>
                    <a:pt x="115" y="2076"/>
                  </a:lnTo>
                  <a:lnTo>
                    <a:pt x="220" y="2058"/>
                  </a:lnTo>
                  <a:lnTo>
                    <a:pt x="195" y="1836"/>
                  </a:lnTo>
                  <a:lnTo>
                    <a:pt x="121" y="1685"/>
                  </a:lnTo>
                  <a:lnTo>
                    <a:pt x="136" y="1595"/>
                  </a:lnTo>
                  <a:lnTo>
                    <a:pt x="218" y="1499"/>
                  </a:lnTo>
                  <a:lnTo>
                    <a:pt x="326" y="1307"/>
                  </a:lnTo>
                  <a:lnTo>
                    <a:pt x="356" y="1095"/>
                  </a:lnTo>
                  <a:lnTo>
                    <a:pt x="491" y="875"/>
                  </a:lnTo>
                  <a:lnTo>
                    <a:pt x="595" y="888"/>
                  </a:lnTo>
                  <a:lnTo>
                    <a:pt x="731" y="810"/>
                  </a:lnTo>
                  <a:lnTo>
                    <a:pt x="865" y="590"/>
                  </a:lnTo>
                  <a:lnTo>
                    <a:pt x="990" y="470"/>
                  </a:lnTo>
                  <a:lnTo>
                    <a:pt x="910" y="380"/>
                  </a:lnTo>
                  <a:lnTo>
                    <a:pt x="775" y="315"/>
                  </a:lnTo>
                  <a:lnTo>
                    <a:pt x="700" y="320"/>
                  </a:lnTo>
                  <a:lnTo>
                    <a:pt x="730" y="225"/>
                  </a:lnTo>
                  <a:lnTo>
                    <a:pt x="705" y="135"/>
                  </a:lnTo>
                  <a:lnTo>
                    <a:pt x="865" y="150"/>
                  </a:lnTo>
                  <a:lnTo>
                    <a:pt x="1015" y="135"/>
                  </a:lnTo>
                  <a:lnTo>
                    <a:pt x="1138" y="167"/>
                  </a:lnTo>
                  <a:lnTo>
                    <a:pt x="1300" y="80"/>
                  </a:lnTo>
                  <a:lnTo>
                    <a:pt x="1410" y="125"/>
                  </a:lnTo>
                  <a:lnTo>
                    <a:pt x="1515" y="80"/>
                  </a:lnTo>
                  <a:lnTo>
                    <a:pt x="1575" y="0"/>
                  </a:lnTo>
                  <a:close/>
                </a:path>
              </a:pathLst>
            </a:custGeom>
            <a:solidFill>
              <a:srgbClr val="FFD96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7" name="Google Shape;407;p66"/>
            <p:cNvSpPr/>
            <p:nvPr/>
          </p:nvSpPr>
          <p:spPr>
            <a:xfrm>
              <a:off x="3407776" y="2550725"/>
              <a:ext cx="436895" cy="397562"/>
            </a:xfrm>
            <a:custGeom>
              <a:avLst/>
              <a:gdLst/>
              <a:ahLst/>
              <a:cxnLst/>
              <a:rect l="l" t="t" r="r" b="b"/>
              <a:pathLst>
                <a:path w="1628" h="1466" extrusionOk="0">
                  <a:moveTo>
                    <a:pt x="0" y="592"/>
                  </a:moveTo>
                  <a:lnTo>
                    <a:pt x="108" y="510"/>
                  </a:lnTo>
                  <a:lnTo>
                    <a:pt x="93" y="405"/>
                  </a:lnTo>
                  <a:lnTo>
                    <a:pt x="108" y="235"/>
                  </a:lnTo>
                  <a:lnTo>
                    <a:pt x="203" y="160"/>
                  </a:lnTo>
                  <a:lnTo>
                    <a:pt x="378" y="101"/>
                  </a:lnTo>
                  <a:lnTo>
                    <a:pt x="535" y="146"/>
                  </a:lnTo>
                  <a:lnTo>
                    <a:pt x="608" y="195"/>
                  </a:lnTo>
                  <a:lnTo>
                    <a:pt x="697" y="191"/>
                  </a:lnTo>
                  <a:lnTo>
                    <a:pt x="624" y="61"/>
                  </a:lnTo>
                  <a:lnTo>
                    <a:pt x="743" y="0"/>
                  </a:lnTo>
                  <a:lnTo>
                    <a:pt x="818" y="60"/>
                  </a:lnTo>
                  <a:lnTo>
                    <a:pt x="848" y="150"/>
                  </a:lnTo>
                  <a:lnTo>
                    <a:pt x="948" y="240"/>
                  </a:lnTo>
                  <a:lnTo>
                    <a:pt x="1143" y="280"/>
                  </a:lnTo>
                  <a:lnTo>
                    <a:pt x="1278" y="385"/>
                  </a:lnTo>
                  <a:lnTo>
                    <a:pt x="1278" y="505"/>
                  </a:lnTo>
                  <a:lnTo>
                    <a:pt x="1488" y="525"/>
                  </a:lnTo>
                  <a:lnTo>
                    <a:pt x="1628" y="660"/>
                  </a:lnTo>
                  <a:lnTo>
                    <a:pt x="1323" y="899"/>
                  </a:lnTo>
                  <a:lnTo>
                    <a:pt x="1312" y="1015"/>
                  </a:lnTo>
                  <a:lnTo>
                    <a:pt x="1278" y="1090"/>
                  </a:lnTo>
                  <a:lnTo>
                    <a:pt x="1329" y="1216"/>
                  </a:lnTo>
                  <a:lnTo>
                    <a:pt x="1207" y="1301"/>
                  </a:lnTo>
                  <a:lnTo>
                    <a:pt x="1209" y="1466"/>
                  </a:lnTo>
                  <a:lnTo>
                    <a:pt x="938" y="1405"/>
                  </a:lnTo>
                  <a:lnTo>
                    <a:pt x="723" y="1300"/>
                  </a:lnTo>
                  <a:lnTo>
                    <a:pt x="579" y="1196"/>
                  </a:lnTo>
                  <a:lnTo>
                    <a:pt x="637" y="1103"/>
                  </a:lnTo>
                  <a:lnTo>
                    <a:pt x="489" y="1046"/>
                  </a:lnTo>
                  <a:lnTo>
                    <a:pt x="399" y="946"/>
                  </a:lnTo>
                  <a:lnTo>
                    <a:pt x="231" y="1045"/>
                  </a:lnTo>
                  <a:lnTo>
                    <a:pt x="109" y="944"/>
                  </a:lnTo>
                  <a:lnTo>
                    <a:pt x="109" y="848"/>
                  </a:lnTo>
                  <a:lnTo>
                    <a:pt x="157" y="673"/>
                  </a:lnTo>
                  <a:lnTo>
                    <a:pt x="0" y="592"/>
                  </a:lnTo>
                  <a:close/>
                </a:path>
              </a:pathLst>
            </a:custGeom>
            <a:solidFill>
              <a:schemeClr val="accent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8" name="Google Shape;408;p66"/>
            <p:cNvSpPr/>
            <p:nvPr/>
          </p:nvSpPr>
          <p:spPr>
            <a:xfrm>
              <a:off x="4156930" y="3131463"/>
              <a:ext cx="655343" cy="469475"/>
            </a:xfrm>
            <a:custGeom>
              <a:avLst/>
              <a:gdLst/>
              <a:ahLst/>
              <a:cxnLst/>
              <a:rect l="l" t="t" r="r" b="b"/>
              <a:pathLst>
                <a:path w="2445" h="1731" extrusionOk="0">
                  <a:moveTo>
                    <a:pt x="245" y="33"/>
                  </a:moveTo>
                  <a:lnTo>
                    <a:pt x="374" y="0"/>
                  </a:lnTo>
                  <a:lnTo>
                    <a:pt x="500" y="64"/>
                  </a:lnTo>
                  <a:lnTo>
                    <a:pt x="635" y="76"/>
                  </a:lnTo>
                  <a:lnTo>
                    <a:pt x="635" y="255"/>
                  </a:lnTo>
                  <a:lnTo>
                    <a:pt x="735" y="259"/>
                  </a:lnTo>
                  <a:lnTo>
                    <a:pt x="839" y="315"/>
                  </a:lnTo>
                  <a:lnTo>
                    <a:pt x="935" y="364"/>
                  </a:lnTo>
                  <a:lnTo>
                    <a:pt x="1099" y="300"/>
                  </a:lnTo>
                  <a:lnTo>
                    <a:pt x="1144" y="335"/>
                  </a:lnTo>
                  <a:lnTo>
                    <a:pt x="1184" y="435"/>
                  </a:lnTo>
                  <a:lnTo>
                    <a:pt x="1275" y="450"/>
                  </a:lnTo>
                  <a:lnTo>
                    <a:pt x="1370" y="390"/>
                  </a:lnTo>
                  <a:lnTo>
                    <a:pt x="1505" y="425"/>
                  </a:lnTo>
                  <a:lnTo>
                    <a:pt x="1640" y="495"/>
                  </a:lnTo>
                  <a:lnTo>
                    <a:pt x="1815" y="435"/>
                  </a:lnTo>
                  <a:lnTo>
                    <a:pt x="1880" y="540"/>
                  </a:lnTo>
                  <a:lnTo>
                    <a:pt x="2200" y="490"/>
                  </a:lnTo>
                  <a:lnTo>
                    <a:pt x="2355" y="424"/>
                  </a:lnTo>
                  <a:lnTo>
                    <a:pt x="2445" y="545"/>
                  </a:lnTo>
                  <a:lnTo>
                    <a:pt x="2255" y="649"/>
                  </a:lnTo>
                  <a:lnTo>
                    <a:pt x="2205" y="765"/>
                  </a:lnTo>
                  <a:lnTo>
                    <a:pt x="2313" y="892"/>
                  </a:lnTo>
                  <a:lnTo>
                    <a:pt x="2339" y="996"/>
                  </a:lnTo>
                  <a:lnTo>
                    <a:pt x="2256" y="1006"/>
                  </a:lnTo>
                  <a:lnTo>
                    <a:pt x="2235" y="1069"/>
                  </a:lnTo>
                  <a:lnTo>
                    <a:pt x="2247" y="1129"/>
                  </a:lnTo>
                  <a:lnTo>
                    <a:pt x="2135" y="1099"/>
                  </a:lnTo>
                  <a:lnTo>
                    <a:pt x="2016" y="1171"/>
                  </a:lnTo>
                  <a:lnTo>
                    <a:pt x="1940" y="1245"/>
                  </a:lnTo>
                  <a:lnTo>
                    <a:pt x="1911" y="1378"/>
                  </a:lnTo>
                  <a:lnTo>
                    <a:pt x="1893" y="1500"/>
                  </a:lnTo>
                  <a:lnTo>
                    <a:pt x="1760" y="1551"/>
                  </a:lnTo>
                  <a:lnTo>
                    <a:pt x="1635" y="1531"/>
                  </a:lnTo>
                  <a:lnTo>
                    <a:pt x="1610" y="1641"/>
                  </a:lnTo>
                  <a:lnTo>
                    <a:pt x="1520" y="1626"/>
                  </a:lnTo>
                  <a:lnTo>
                    <a:pt x="1500" y="1536"/>
                  </a:lnTo>
                  <a:lnTo>
                    <a:pt x="1395" y="1476"/>
                  </a:lnTo>
                  <a:lnTo>
                    <a:pt x="1219" y="1431"/>
                  </a:lnTo>
                  <a:lnTo>
                    <a:pt x="1184" y="1491"/>
                  </a:lnTo>
                  <a:lnTo>
                    <a:pt x="1124" y="1588"/>
                  </a:lnTo>
                  <a:lnTo>
                    <a:pt x="1025" y="1602"/>
                  </a:lnTo>
                  <a:lnTo>
                    <a:pt x="814" y="1666"/>
                  </a:lnTo>
                  <a:lnTo>
                    <a:pt x="734" y="1591"/>
                  </a:lnTo>
                  <a:lnTo>
                    <a:pt x="659" y="1651"/>
                  </a:lnTo>
                  <a:lnTo>
                    <a:pt x="629" y="1731"/>
                  </a:lnTo>
                  <a:lnTo>
                    <a:pt x="524" y="1671"/>
                  </a:lnTo>
                  <a:lnTo>
                    <a:pt x="524" y="1576"/>
                  </a:lnTo>
                  <a:lnTo>
                    <a:pt x="409" y="1636"/>
                  </a:lnTo>
                  <a:lnTo>
                    <a:pt x="359" y="1546"/>
                  </a:lnTo>
                  <a:lnTo>
                    <a:pt x="299" y="1606"/>
                  </a:lnTo>
                  <a:lnTo>
                    <a:pt x="134" y="1605"/>
                  </a:lnTo>
                  <a:lnTo>
                    <a:pt x="47" y="1441"/>
                  </a:lnTo>
                  <a:lnTo>
                    <a:pt x="0" y="1336"/>
                  </a:lnTo>
                  <a:lnTo>
                    <a:pt x="35" y="1215"/>
                  </a:lnTo>
                  <a:lnTo>
                    <a:pt x="240" y="1095"/>
                  </a:lnTo>
                  <a:lnTo>
                    <a:pt x="404" y="945"/>
                  </a:lnTo>
                  <a:lnTo>
                    <a:pt x="614" y="946"/>
                  </a:lnTo>
                  <a:lnTo>
                    <a:pt x="629" y="861"/>
                  </a:lnTo>
                  <a:lnTo>
                    <a:pt x="379" y="770"/>
                  </a:lnTo>
                  <a:lnTo>
                    <a:pt x="408" y="606"/>
                  </a:lnTo>
                  <a:lnTo>
                    <a:pt x="289" y="570"/>
                  </a:lnTo>
                  <a:lnTo>
                    <a:pt x="374" y="483"/>
                  </a:lnTo>
                  <a:lnTo>
                    <a:pt x="528" y="465"/>
                  </a:lnTo>
                  <a:lnTo>
                    <a:pt x="379" y="335"/>
                  </a:lnTo>
                  <a:lnTo>
                    <a:pt x="289" y="185"/>
                  </a:lnTo>
                  <a:lnTo>
                    <a:pt x="245" y="33"/>
                  </a:lnTo>
                  <a:close/>
                </a:path>
              </a:pathLst>
            </a:custGeom>
            <a:solidFill>
              <a:srgbClr val="FFD96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09" name="Google Shape;409;p66"/>
            <p:cNvSpPr/>
            <p:nvPr/>
          </p:nvSpPr>
          <p:spPr>
            <a:xfrm>
              <a:off x="3917040" y="3851959"/>
              <a:ext cx="821524" cy="717782"/>
            </a:xfrm>
            <a:custGeom>
              <a:avLst/>
              <a:gdLst/>
              <a:ahLst/>
              <a:cxnLst/>
              <a:rect l="l" t="t" r="r" b="b"/>
              <a:pathLst>
                <a:path w="3065" h="2646" extrusionOk="0">
                  <a:moveTo>
                    <a:pt x="1288" y="95"/>
                  </a:moveTo>
                  <a:lnTo>
                    <a:pt x="1453" y="120"/>
                  </a:lnTo>
                  <a:lnTo>
                    <a:pt x="1598" y="60"/>
                  </a:lnTo>
                  <a:lnTo>
                    <a:pt x="1823" y="60"/>
                  </a:lnTo>
                  <a:lnTo>
                    <a:pt x="1853" y="165"/>
                  </a:lnTo>
                  <a:lnTo>
                    <a:pt x="1798" y="270"/>
                  </a:lnTo>
                  <a:lnTo>
                    <a:pt x="1918" y="275"/>
                  </a:lnTo>
                  <a:lnTo>
                    <a:pt x="1993" y="230"/>
                  </a:lnTo>
                  <a:lnTo>
                    <a:pt x="2153" y="255"/>
                  </a:lnTo>
                  <a:lnTo>
                    <a:pt x="2258" y="315"/>
                  </a:lnTo>
                  <a:lnTo>
                    <a:pt x="2323" y="215"/>
                  </a:lnTo>
                  <a:lnTo>
                    <a:pt x="2293" y="110"/>
                  </a:lnTo>
                  <a:lnTo>
                    <a:pt x="2273" y="5"/>
                  </a:lnTo>
                  <a:lnTo>
                    <a:pt x="2353" y="0"/>
                  </a:lnTo>
                  <a:lnTo>
                    <a:pt x="2483" y="65"/>
                  </a:lnTo>
                  <a:lnTo>
                    <a:pt x="2723" y="185"/>
                  </a:lnTo>
                  <a:lnTo>
                    <a:pt x="2818" y="320"/>
                  </a:lnTo>
                  <a:lnTo>
                    <a:pt x="2908" y="287"/>
                  </a:lnTo>
                  <a:lnTo>
                    <a:pt x="2960" y="389"/>
                  </a:lnTo>
                  <a:lnTo>
                    <a:pt x="3058" y="381"/>
                  </a:lnTo>
                  <a:lnTo>
                    <a:pt x="3065" y="495"/>
                  </a:lnTo>
                  <a:lnTo>
                    <a:pt x="2903" y="515"/>
                  </a:lnTo>
                  <a:lnTo>
                    <a:pt x="2728" y="705"/>
                  </a:lnTo>
                  <a:lnTo>
                    <a:pt x="2828" y="930"/>
                  </a:lnTo>
                  <a:lnTo>
                    <a:pt x="2843" y="1028"/>
                  </a:lnTo>
                  <a:lnTo>
                    <a:pt x="2738" y="1095"/>
                  </a:lnTo>
                  <a:lnTo>
                    <a:pt x="2768" y="1145"/>
                  </a:lnTo>
                  <a:lnTo>
                    <a:pt x="2608" y="1265"/>
                  </a:lnTo>
                  <a:lnTo>
                    <a:pt x="2503" y="1426"/>
                  </a:lnTo>
                  <a:lnTo>
                    <a:pt x="2075" y="1588"/>
                  </a:lnTo>
                  <a:lnTo>
                    <a:pt x="2093" y="1446"/>
                  </a:lnTo>
                  <a:lnTo>
                    <a:pt x="1958" y="1531"/>
                  </a:lnTo>
                  <a:lnTo>
                    <a:pt x="1918" y="1621"/>
                  </a:lnTo>
                  <a:lnTo>
                    <a:pt x="1933" y="1701"/>
                  </a:lnTo>
                  <a:lnTo>
                    <a:pt x="1819" y="1776"/>
                  </a:lnTo>
                  <a:lnTo>
                    <a:pt x="1739" y="1920"/>
                  </a:lnTo>
                  <a:lnTo>
                    <a:pt x="1688" y="1863"/>
                  </a:lnTo>
                  <a:lnTo>
                    <a:pt x="1558" y="1938"/>
                  </a:lnTo>
                  <a:lnTo>
                    <a:pt x="1491" y="2092"/>
                  </a:lnTo>
                  <a:lnTo>
                    <a:pt x="1356" y="2071"/>
                  </a:lnTo>
                  <a:lnTo>
                    <a:pt x="1223" y="1996"/>
                  </a:lnTo>
                  <a:lnTo>
                    <a:pt x="1137" y="1908"/>
                  </a:lnTo>
                  <a:lnTo>
                    <a:pt x="998" y="1983"/>
                  </a:lnTo>
                  <a:lnTo>
                    <a:pt x="989" y="2070"/>
                  </a:lnTo>
                  <a:lnTo>
                    <a:pt x="884" y="2100"/>
                  </a:lnTo>
                  <a:lnTo>
                    <a:pt x="822" y="2166"/>
                  </a:lnTo>
                  <a:lnTo>
                    <a:pt x="854" y="2317"/>
                  </a:lnTo>
                  <a:lnTo>
                    <a:pt x="743" y="2287"/>
                  </a:lnTo>
                  <a:lnTo>
                    <a:pt x="615" y="2391"/>
                  </a:lnTo>
                  <a:lnTo>
                    <a:pt x="553" y="2211"/>
                  </a:lnTo>
                  <a:lnTo>
                    <a:pt x="474" y="2280"/>
                  </a:lnTo>
                  <a:lnTo>
                    <a:pt x="494" y="2379"/>
                  </a:lnTo>
                  <a:lnTo>
                    <a:pt x="464" y="2481"/>
                  </a:lnTo>
                  <a:lnTo>
                    <a:pt x="163" y="2551"/>
                  </a:lnTo>
                  <a:lnTo>
                    <a:pt x="98" y="2626"/>
                  </a:lnTo>
                  <a:lnTo>
                    <a:pt x="0" y="2646"/>
                  </a:lnTo>
                  <a:lnTo>
                    <a:pt x="74" y="2355"/>
                  </a:lnTo>
                  <a:lnTo>
                    <a:pt x="182" y="2284"/>
                  </a:lnTo>
                  <a:lnTo>
                    <a:pt x="279" y="2188"/>
                  </a:lnTo>
                  <a:lnTo>
                    <a:pt x="419" y="1995"/>
                  </a:lnTo>
                  <a:lnTo>
                    <a:pt x="388" y="1896"/>
                  </a:lnTo>
                  <a:lnTo>
                    <a:pt x="374" y="1779"/>
                  </a:lnTo>
                  <a:lnTo>
                    <a:pt x="308" y="1681"/>
                  </a:lnTo>
                  <a:lnTo>
                    <a:pt x="313" y="1561"/>
                  </a:lnTo>
                  <a:lnTo>
                    <a:pt x="208" y="1461"/>
                  </a:lnTo>
                  <a:lnTo>
                    <a:pt x="263" y="1381"/>
                  </a:lnTo>
                  <a:lnTo>
                    <a:pt x="448" y="1471"/>
                  </a:lnTo>
                  <a:lnTo>
                    <a:pt x="593" y="1531"/>
                  </a:lnTo>
                  <a:lnTo>
                    <a:pt x="718" y="1476"/>
                  </a:lnTo>
                  <a:lnTo>
                    <a:pt x="608" y="1416"/>
                  </a:lnTo>
                  <a:lnTo>
                    <a:pt x="510" y="1370"/>
                  </a:lnTo>
                  <a:lnTo>
                    <a:pt x="493" y="1185"/>
                  </a:lnTo>
                  <a:lnTo>
                    <a:pt x="478" y="1005"/>
                  </a:lnTo>
                  <a:lnTo>
                    <a:pt x="583" y="900"/>
                  </a:lnTo>
                  <a:lnTo>
                    <a:pt x="638" y="785"/>
                  </a:lnTo>
                  <a:lnTo>
                    <a:pt x="838" y="785"/>
                  </a:lnTo>
                  <a:lnTo>
                    <a:pt x="973" y="690"/>
                  </a:lnTo>
                  <a:lnTo>
                    <a:pt x="983" y="530"/>
                  </a:lnTo>
                  <a:lnTo>
                    <a:pt x="1078" y="395"/>
                  </a:lnTo>
                  <a:lnTo>
                    <a:pt x="1078" y="260"/>
                  </a:lnTo>
                  <a:lnTo>
                    <a:pt x="1288" y="95"/>
                  </a:lnTo>
                  <a:close/>
                </a:path>
              </a:pathLst>
            </a:custGeom>
            <a:solidFill>
              <a:srgbClr val="FFD96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0" name="Google Shape;410;p66"/>
            <p:cNvSpPr/>
            <p:nvPr/>
          </p:nvSpPr>
          <p:spPr>
            <a:xfrm>
              <a:off x="4170331" y="3429973"/>
              <a:ext cx="603076" cy="507468"/>
            </a:xfrm>
            <a:custGeom>
              <a:avLst/>
              <a:gdLst/>
              <a:ahLst/>
              <a:cxnLst/>
              <a:rect l="l" t="t" r="r" b="b"/>
              <a:pathLst>
                <a:path w="2251" h="1871" extrusionOk="0">
                  <a:moveTo>
                    <a:pt x="2201" y="30"/>
                  </a:moveTo>
                  <a:lnTo>
                    <a:pt x="2221" y="175"/>
                  </a:lnTo>
                  <a:lnTo>
                    <a:pt x="2186" y="295"/>
                  </a:lnTo>
                  <a:lnTo>
                    <a:pt x="2251" y="375"/>
                  </a:lnTo>
                  <a:lnTo>
                    <a:pt x="2191" y="510"/>
                  </a:lnTo>
                  <a:lnTo>
                    <a:pt x="2096" y="645"/>
                  </a:lnTo>
                  <a:lnTo>
                    <a:pt x="1921" y="780"/>
                  </a:lnTo>
                  <a:lnTo>
                    <a:pt x="1766" y="790"/>
                  </a:lnTo>
                  <a:lnTo>
                    <a:pt x="1516" y="1047"/>
                  </a:lnTo>
                  <a:lnTo>
                    <a:pt x="1396" y="1007"/>
                  </a:lnTo>
                  <a:lnTo>
                    <a:pt x="1271" y="1047"/>
                  </a:lnTo>
                  <a:lnTo>
                    <a:pt x="1246" y="1207"/>
                  </a:lnTo>
                  <a:lnTo>
                    <a:pt x="1406" y="1262"/>
                  </a:lnTo>
                  <a:lnTo>
                    <a:pt x="1621" y="1452"/>
                  </a:lnTo>
                  <a:lnTo>
                    <a:pt x="1771" y="1592"/>
                  </a:lnTo>
                  <a:lnTo>
                    <a:pt x="1781" y="1742"/>
                  </a:lnTo>
                  <a:lnTo>
                    <a:pt x="1412" y="1557"/>
                  </a:lnTo>
                  <a:lnTo>
                    <a:pt x="1327" y="1563"/>
                  </a:lnTo>
                  <a:lnTo>
                    <a:pt x="1350" y="1666"/>
                  </a:lnTo>
                  <a:lnTo>
                    <a:pt x="1381" y="1773"/>
                  </a:lnTo>
                  <a:lnTo>
                    <a:pt x="1316" y="1871"/>
                  </a:lnTo>
                  <a:lnTo>
                    <a:pt x="1214" y="1812"/>
                  </a:lnTo>
                  <a:lnTo>
                    <a:pt x="1051" y="1788"/>
                  </a:lnTo>
                  <a:lnTo>
                    <a:pt x="973" y="1833"/>
                  </a:lnTo>
                  <a:lnTo>
                    <a:pt x="853" y="1828"/>
                  </a:lnTo>
                  <a:lnTo>
                    <a:pt x="909" y="1722"/>
                  </a:lnTo>
                  <a:lnTo>
                    <a:pt x="881" y="1617"/>
                  </a:lnTo>
                  <a:lnTo>
                    <a:pt x="659" y="1616"/>
                  </a:lnTo>
                  <a:lnTo>
                    <a:pt x="510" y="1677"/>
                  </a:lnTo>
                  <a:lnTo>
                    <a:pt x="345" y="1652"/>
                  </a:lnTo>
                  <a:lnTo>
                    <a:pt x="354" y="1577"/>
                  </a:lnTo>
                  <a:lnTo>
                    <a:pt x="510" y="1424"/>
                  </a:lnTo>
                  <a:lnTo>
                    <a:pt x="506" y="1331"/>
                  </a:lnTo>
                  <a:lnTo>
                    <a:pt x="386" y="1302"/>
                  </a:lnTo>
                  <a:lnTo>
                    <a:pt x="332" y="1188"/>
                  </a:lnTo>
                  <a:lnTo>
                    <a:pt x="346" y="977"/>
                  </a:lnTo>
                  <a:lnTo>
                    <a:pt x="227" y="1022"/>
                  </a:lnTo>
                  <a:lnTo>
                    <a:pt x="119" y="883"/>
                  </a:lnTo>
                  <a:lnTo>
                    <a:pt x="0" y="760"/>
                  </a:lnTo>
                  <a:lnTo>
                    <a:pt x="26" y="569"/>
                  </a:lnTo>
                  <a:lnTo>
                    <a:pt x="87" y="506"/>
                  </a:lnTo>
                  <a:lnTo>
                    <a:pt x="249" y="504"/>
                  </a:lnTo>
                  <a:lnTo>
                    <a:pt x="311" y="446"/>
                  </a:lnTo>
                  <a:lnTo>
                    <a:pt x="362" y="536"/>
                  </a:lnTo>
                  <a:lnTo>
                    <a:pt x="476" y="476"/>
                  </a:lnTo>
                  <a:lnTo>
                    <a:pt x="476" y="571"/>
                  </a:lnTo>
                  <a:lnTo>
                    <a:pt x="579" y="631"/>
                  </a:lnTo>
                  <a:lnTo>
                    <a:pt x="611" y="550"/>
                  </a:lnTo>
                  <a:lnTo>
                    <a:pt x="687" y="491"/>
                  </a:lnTo>
                  <a:lnTo>
                    <a:pt x="765" y="566"/>
                  </a:lnTo>
                  <a:lnTo>
                    <a:pt x="977" y="502"/>
                  </a:lnTo>
                  <a:lnTo>
                    <a:pt x="1077" y="487"/>
                  </a:lnTo>
                  <a:lnTo>
                    <a:pt x="1171" y="330"/>
                  </a:lnTo>
                  <a:lnTo>
                    <a:pt x="1345" y="377"/>
                  </a:lnTo>
                  <a:lnTo>
                    <a:pt x="1451" y="435"/>
                  </a:lnTo>
                  <a:lnTo>
                    <a:pt x="1471" y="527"/>
                  </a:lnTo>
                  <a:lnTo>
                    <a:pt x="1561" y="541"/>
                  </a:lnTo>
                  <a:lnTo>
                    <a:pt x="1586" y="430"/>
                  </a:lnTo>
                  <a:lnTo>
                    <a:pt x="1711" y="451"/>
                  </a:lnTo>
                  <a:lnTo>
                    <a:pt x="1846" y="400"/>
                  </a:lnTo>
                  <a:lnTo>
                    <a:pt x="1861" y="280"/>
                  </a:lnTo>
                  <a:lnTo>
                    <a:pt x="1891" y="145"/>
                  </a:lnTo>
                  <a:lnTo>
                    <a:pt x="1966" y="70"/>
                  </a:lnTo>
                  <a:lnTo>
                    <a:pt x="2086" y="0"/>
                  </a:lnTo>
                  <a:lnTo>
                    <a:pt x="2201" y="30"/>
                  </a:lnTo>
                  <a:close/>
                </a:path>
              </a:pathLst>
            </a:custGeom>
            <a:solidFill>
              <a:srgbClr val="FFD96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1" name="Google Shape;411;p66"/>
            <p:cNvSpPr/>
            <p:nvPr/>
          </p:nvSpPr>
          <p:spPr>
            <a:xfrm>
              <a:off x="4504034" y="3140961"/>
              <a:ext cx="506584" cy="845327"/>
            </a:xfrm>
            <a:custGeom>
              <a:avLst/>
              <a:gdLst/>
              <a:ahLst/>
              <a:cxnLst/>
              <a:rect l="l" t="t" r="r" b="b"/>
              <a:pathLst>
                <a:path w="1891" h="3116" extrusionOk="0">
                  <a:moveTo>
                    <a:pt x="879" y="3116"/>
                  </a:moveTo>
                  <a:lnTo>
                    <a:pt x="1050" y="3042"/>
                  </a:lnTo>
                  <a:lnTo>
                    <a:pt x="1150" y="2882"/>
                  </a:lnTo>
                  <a:lnTo>
                    <a:pt x="1495" y="2897"/>
                  </a:lnTo>
                  <a:lnTo>
                    <a:pt x="1680" y="2847"/>
                  </a:lnTo>
                  <a:lnTo>
                    <a:pt x="1590" y="2566"/>
                  </a:lnTo>
                  <a:lnTo>
                    <a:pt x="1588" y="2354"/>
                  </a:lnTo>
                  <a:lnTo>
                    <a:pt x="1545" y="2276"/>
                  </a:lnTo>
                  <a:lnTo>
                    <a:pt x="1605" y="2176"/>
                  </a:lnTo>
                  <a:lnTo>
                    <a:pt x="1464" y="2125"/>
                  </a:lnTo>
                  <a:lnTo>
                    <a:pt x="1465" y="2038"/>
                  </a:lnTo>
                  <a:lnTo>
                    <a:pt x="1359" y="1981"/>
                  </a:lnTo>
                  <a:lnTo>
                    <a:pt x="1345" y="1843"/>
                  </a:lnTo>
                  <a:lnTo>
                    <a:pt x="1410" y="1796"/>
                  </a:lnTo>
                  <a:lnTo>
                    <a:pt x="1440" y="1706"/>
                  </a:lnTo>
                  <a:lnTo>
                    <a:pt x="1360" y="1591"/>
                  </a:lnTo>
                  <a:lnTo>
                    <a:pt x="1150" y="1499"/>
                  </a:lnTo>
                  <a:lnTo>
                    <a:pt x="1060" y="1409"/>
                  </a:lnTo>
                  <a:lnTo>
                    <a:pt x="1120" y="1244"/>
                  </a:lnTo>
                  <a:lnTo>
                    <a:pt x="1215" y="1269"/>
                  </a:lnTo>
                  <a:lnTo>
                    <a:pt x="1270" y="1214"/>
                  </a:lnTo>
                  <a:lnTo>
                    <a:pt x="1230" y="1134"/>
                  </a:lnTo>
                  <a:lnTo>
                    <a:pt x="1320" y="1104"/>
                  </a:lnTo>
                  <a:lnTo>
                    <a:pt x="1450" y="1134"/>
                  </a:lnTo>
                  <a:lnTo>
                    <a:pt x="1495" y="1049"/>
                  </a:lnTo>
                  <a:lnTo>
                    <a:pt x="1396" y="924"/>
                  </a:lnTo>
                  <a:lnTo>
                    <a:pt x="1303" y="942"/>
                  </a:lnTo>
                  <a:lnTo>
                    <a:pt x="1150" y="774"/>
                  </a:lnTo>
                  <a:lnTo>
                    <a:pt x="1075" y="794"/>
                  </a:lnTo>
                  <a:lnTo>
                    <a:pt x="1065" y="704"/>
                  </a:lnTo>
                  <a:lnTo>
                    <a:pt x="1090" y="592"/>
                  </a:lnTo>
                  <a:lnTo>
                    <a:pt x="1260" y="493"/>
                  </a:lnTo>
                  <a:lnTo>
                    <a:pt x="1173" y="420"/>
                  </a:lnTo>
                  <a:lnTo>
                    <a:pt x="1215" y="358"/>
                  </a:lnTo>
                  <a:lnTo>
                    <a:pt x="1330" y="443"/>
                  </a:lnTo>
                  <a:lnTo>
                    <a:pt x="1305" y="524"/>
                  </a:lnTo>
                  <a:lnTo>
                    <a:pt x="1375" y="569"/>
                  </a:lnTo>
                  <a:lnTo>
                    <a:pt x="1495" y="493"/>
                  </a:lnTo>
                  <a:lnTo>
                    <a:pt x="1455" y="428"/>
                  </a:lnTo>
                  <a:lnTo>
                    <a:pt x="1545" y="428"/>
                  </a:lnTo>
                  <a:lnTo>
                    <a:pt x="1585" y="524"/>
                  </a:lnTo>
                  <a:lnTo>
                    <a:pt x="1635" y="599"/>
                  </a:lnTo>
                  <a:lnTo>
                    <a:pt x="1755" y="669"/>
                  </a:lnTo>
                  <a:lnTo>
                    <a:pt x="1770" y="539"/>
                  </a:lnTo>
                  <a:lnTo>
                    <a:pt x="1855" y="503"/>
                  </a:lnTo>
                  <a:lnTo>
                    <a:pt x="1891" y="234"/>
                  </a:lnTo>
                  <a:lnTo>
                    <a:pt x="1657" y="163"/>
                  </a:lnTo>
                  <a:lnTo>
                    <a:pt x="1584" y="205"/>
                  </a:lnTo>
                  <a:lnTo>
                    <a:pt x="1398" y="92"/>
                  </a:lnTo>
                  <a:lnTo>
                    <a:pt x="1359" y="6"/>
                  </a:lnTo>
                  <a:lnTo>
                    <a:pt x="1210" y="59"/>
                  </a:lnTo>
                  <a:lnTo>
                    <a:pt x="1075" y="68"/>
                  </a:lnTo>
                  <a:lnTo>
                    <a:pt x="990" y="0"/>
                  </a:lnTo>
                  <a:lnTo>
                    <a:pt x="949" y="70"/>
                  </a:lnTo>
                  <a:lnTo>
                    <a:pt x="1005" y="148"/>
                  </a:lnTo>
                  <a:lnTo>
                    <a:pt x="1090" y="268"/>
                  </a:lnTo>
                  <a:lnTo>
                    <a:pt x="1063" y="388"/>
                  </a:lnTo>
                  <a:lnTo>
                    <a:pt x="1149" y="509"/>
                  </a:lnTo>
                  <a:lnTo>
                    <a:pt x="960" y="614"/>
                  </a:lnTo>
                  <a:lnTo>
                    <a:pt x="909" y="729"/>
                  </a:lnTo>
                  <a:lnTo>
                    <a:pt x="1018" y="856"/>
                  </a:lnTo>
                  <a:lnTo>
                    <a:pt x="1045" y="959"/>
                  </a:lnTo>
                  <a:lnTo>
                    <a:pt x="960" y="969"/>
                  </a:lnTo>
                  <a:lnTo>
                    <a:pt x="939" y="1034"/>
                  </a:lnTo>
                  <a:lnTo>
                    <a:pt x="960" y="1119"/>
                  </a:lnTo>
                  <a:lnTo>
                    <a:pt x="975" y="1240"/>
                  </a:lnTo>
                  <a:lnTo>
                    <a:pt x="939" y="1359"/>
                  </a:lnTo>
                  <a:lnTo>
                    <a:pt x="1005" y="1438"/>
                  </a:lnTo>
                  <a:lnTo>
                    <a:pt x="944" y="1576"/>
                  </a:lnTo>
                  <a:lnTo>
                    <a:pt x="853" y="1709"/>
                  </a:lnTo>
                  <a:lnTo>
                    <a:pt x="678" y="1844"/>
                  </a:lnTo>
                  <a:lnTo>
                    <a:pt x="519" y="1856"/>
                  </a:lnTo>
                  <a:lnTo>
                    <a:pt x="268" y="2111"/>
                  </a:lnTo>
                  <a:lnTo>
                    <a:pt x="151" y="2071"/>
                  </a:lnTo>
                  <a:lnTo>
                    <a:pt x="25" y="2111"/>
                  </a:lnTo>
                  <a:lnTo>
                    <a:pt x="0" y="2272"/>
                  </a:lnTo>
                  <a:lnTo>
                    <a:pt x="160" y="2326"/>
                  </a:lnTo>
                  <a:lnTo>
                    <a:pt x="355" y="2498"/>
                  </a:lnTo>
                  <a:lnTo>
                    <a:pt x="526" y="2658"/>
                  </a:lnTo>
                  <a:lnTo>
                    <a:pt x="534" y="2807"/>
                  </a:lnTo>
                  <a:lnTo>
                    <a:pt x="629" y="2942"/>
                  </a:lnTo>
                  <a:lnTo>
                    <a:pt x="719" y="2907"/>
                  </a:lnTo>
                  <a:lnTo>
                    <a:pt x="774" y="3012"/>
                  </a:lnTo>
                  <a:lnTo>
                    <a:pt x="869" y="3002"/>
                  </a:lnTo>
                  <a:lnTo>
                    <a:pt x="879" y="3116"/>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2" name="Google Shape;412;p66"/>
            <p:cNvSpPr/>
            <p:nvPr/>
          </p:nvSpPr>
          <p:spPr>
            <a:xfrm>
              <a:off x="3015106" y="2617211"/>
              <a:ext cx="394010" cy="485758"/>
            </a:xfrm>
            <a:custGeom>
              <a:avLst/>
              <a:gdLst/>
              <a:ahLst/>
              <a:cxnLst/>
              <a:rect l="l" t="t" r="r" b="b"/>
              <a:pathLst>
                <a:path w="1471" h="1788" extrusionOk="0">
                  <a:moveTo>
                    <a:pt x="33" y="543"/>
                  </a:moveTo>
                  <a:lnTo>
                    <a:pt x="196" y="498"/>
                  </a:lnTo>
                  <a:lnTo>
                    <a:pt x="332" y="574"/>
                  </a:lnTo>
                  <a:lnTo>
                    <a:pt x="347" y="711"/>
                  </a:lnTo>
                  <a:lnTo>
                    <a:pt x="514" y="619"/>
                  </a:lnTo>
                  <a:lnTo>
                    <a:pt x="646" y="624"/>
                  </a:lnTo>
                  <a:lnTo>
                    <a:pt x="740" y="679"/>
                  </a:lnTo>
                  <a:lnTo>
                    <a:pt x="816" y="573"/>
                  </a:lnTo>
                  <a:lnTo>
                    <a:pt x="828" y="456"/>
                  </a:lnTo>
                  <a:lnTo>
                    <a:pt x="997" y="468"/>
                  </a:lnTo>
                  <a:lnTo>
                    <a:pt x="1022" y="368"/>
                  </a:lnTo>
                  <a:lnTo>
                    <a:pt x="1087" y="262"/>
                  </a:lnTo>
                  <a:lnTo>
                    <a:pt x="1172" y="292"/>
                  </a:lnTo>
                  <a:lnTo>
                    <a:pt x="1221" y="290"/>
                  </a:lnTo>
                  <a:lnTo>
                    <a:pt x="1206" y="137"/>
                  </a:lnTo>
                  <a:lnTo>
                    <a:pt x="1143" y="111"/>
                  </a:lnTo>
                  <a:lnTo>
                    <a:pt x="1113" y="65"/>
                  </a:lnTo>
                  <a:lnTo>
                    <a:pt x="1110" y="42"/>
                  </a:lnTo>
                  <a:lnTo>
                    <a:pt x="1141" y="38"/>
                  </a:lnTo>
                  <a:lnTo>
                    <a:pt x="1147" y="18"/>
                  </a:lnTo>
                  <a:lnTo>
                    <a:pt x="1153" y="2"/>
                  </a:lnTo>
                  <a:lnTo>
                    <a:pt x="1170" y="0"/>
                  </a:lnTo>
                  <a:lnTo>
                    <a:pt x="1206" y="39"/>
                  </a:lnTo>
                  <a:lnTo>
                    <a:pt x="1339" y="149"/>
                  </a:lnTo>
                  <a:lnTo>
                    <a:pt x="1317" y="197"/>
                  </a:lnTo>
                  <a:lnTo>
                    <a:pt x="1298" y="242"/>
                  </a:lnTo>
                  <a:lnTo>
                    <a:pt x="1471" y="346"/>
                  </a:lnTo>
                  <a:lnTo>
                    <a:pt x="1417" y="460"/>
                  </a:lnTo>
                  <a:lnTo>
                    <a:pt x="1299" y="562"/>
                  </a:lnTo>
                  <a:lnTo>
                    <a:pt x="1221" y="744"/>
                  </a:lnTo>
                  <a:lnTo>
                    <a:pt x="1283" y="1099"/>
                  </a:lnTo>
                  <a:lnTo>
                    <a:pt x="1266" y="1151"/>
                  </a:lnTo>
                  <a:lnTo>
                    <a:pt x="1194" y="1181"/>
                  </a:lnTo>
                  <a:lnTo>
                    <a:pt x="1206" y="1263"/>
                  </a:lnTo>
                  <a:lnTo>
                    <a:pt x="1159" y="1296"/>
                  </a:lnTo>
                  <a:lnTo>
                    <a:pt x="1197" y="1329"/>
                  </a:lnTo>
                  <a:lnTo>
                    <a:pt x="1249" y="1304"/>
                  </a:lnTo>
                  <a:lnTo>
                    <a:pt x="1296" y="1373"/>
                  </a:lnTo>
                  <a:lnTo>
                    <a:pt x="1351" y="1328"/>
                  </a:lnTo>
                  <a:lnTo>
                    <a:pt x="1433" y="1449"/>
                  </a:lnTo>
                  <a:lnTo>
                    <a:pt x="1429" y="1568"/>
                  </a:lnTo>
                  <a:lnTo>
                    <a:pt x="1342" y="1748"/>
                  </a:lnTo>
                  <a:lnTo>
                    <a:pt x="1205" y="1734"/>
                  </a:lnTo>
                  <a:lnTo>
                    <a:pt x="1133" y="1788"/>
                  </a:lnTo>
                  <a:lnTo>
                    <a:pt x="1132" y="1625"/>
                  </a:lnTo>
                  <a:lnTo>
                    <a:pt x="1102" y="1489"/>
                  </a:lnTo>
                  <a:lnTo>
                    <a:pt x="1027" y="1585"/>
                  </a:lnTo>
                  <a:lnTo>
                    <a:pt x="932" y="1630"/>
                  </a:lnTo>
                  <a:lnTo>
                    <a:pt x="887" y="1540"/>
                  </a:lnTo>
                  <a:lnTo>
                    <a:pt x="787" y="1570"/>
                  </a:lnTo>
                  <a:lnTo>
                    <a:pt x="740" y="1704"/>
                  </a:lnTo>
                  <a:lnTo>
                    <a:pt x="667" y="1685"/>
                  </a:lnTo>
                  <a:lnTo>
                    <a:pt x="691" y="1535"/>
                  </a:lnTo>
                  <a:lnTo>
                    <a:pt x="631" y="1400"/>
                  </a:lnTo>
                  <a:lnTo>
                    <a:pt x="485" y="1295"/>
                  </a:lnTo>
                  <a:lnTo>
                    <a:pt x="497" y="1090"/>
                  </a:lnTo>
                  <a:lnTo>
                    <a:pt x="436" y="1012"/>
                  </a:lnTo>
                  <a:lnTo>
                    <a:pt x="440" y="880"/>
                  </a:lnTo>
                  <a:lnTo>
                    <a:pt x="307" y="904"/>
                  </a:lnTo>
                  <a:lnTo>
                    <a:pt x="63" y="874"/>
                  </a:lnTo>
                  <a:lnTo>
                    <a:pt x="60" y="715"/>
                  </a:lnTo>
                  <a:lnTo>
                    <a:pt x="0" y="624"/>
                  </a:lnTo>
                  <a:lnTo>
                    <a:pt x="33" y="543"/>
                  </a:lnTo>
                  <a:close/>
                </a:path>
              </a:pathLst>
            </a:custGeom>
            <a:solidFill>
              <a:schemeClr val="accent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3" name="Google Shape;413;p66"/>
            <p:cNvSpPr/>
            <p:nvPr/>
          </p:nvSpPr>
          <p:spPr>
            <a:xfrm>
              <a:off x="3167885" y="5200683"/>
              <a:ext cx="595035" cy="815476"/>
            </a:xfrm>
            <a:custGeom>
              <a:avLst/>
              <a:gdLst/>
              <a:ahLst/>
              <a:cxnLst/>
              <a:rect l="l" t="t" r="r" b="b"/>
              <a:pathLst>
                <a:path w="2218" h="3005" extrusionOk="0">
                  <a:moveTo>
                    <a:pt x="0" y="1120"/>
                  </a:moveTo>
                  <a:lnTo>
                    <a:pt x="120" y="1210"/>
                  </a:lnTo>
                  <a:lnTo>
                    <a:pt x="120" y="1315"/>
                  </a:lnTo>
                  <a:lnTo>
                    <a:pt x="215" y="1305"/>
                  </a:lnTo>
                  <a:lnTo>
                    <a:pt x="275" y="1395"/>
                  </a:lnTo>
                  <a:lnTo>
                    <a:pt x="210" y="1455"/>
                  </a:lnTo>
                  <a:lnTo>
                    <a:pt x="345" y="1561"/>
                  </a:lnTo>
                  <a:lnTo>
                    <a:pt x="285" y="1646"/>
                  </a:lnTo>
                  <a:lnTo>
                    <a:pt x="305" y="1831"/>
                  </a:lnTo>
                  <a:lnTo>
                    <a:pt x="375" y="1856"/>
                  </a:lnTo>
                  <a:lnTo>
                    <a:pt x="495" y="1796"/>
                  </a:lnTo>
                  <a:lnTo>
                    <a:pt x="540" y="1891"/>
                  </a:lnTo>
                  <a:lnTo>
                    <a:pt x="510" y="1981"/>
                  </a:lnTo>
                  <a:lnTo>
                    <a:pt x="530" y="2111"/>
                  </a:lnTo>
                  <a:lnTo>
                    <a:pt x="450" y="2166"/>
                  </a:lnTo>
                  <a:lnTo>
                    <a:pt x="545" y="2191"/>
                  </a:lnTo>
                  <a:lnTo>
                    <a:pt x="630" y="2261"/>
                  </a:lnTo>
                  <a:lnTo>
                    <a:pt x="570" y="2351"/>
                  </a:lnTo>
                  <a:lnTo>
                    <a:pt x="470" y="2501"/>
                  </a:lnTo>
                  <a:lnTo>
                    <a:pt x="495" y="2607"/>
                  </a:lnTo>
                  <a:lnTo>
                    <a:pt x="481" y="2695"/>
                  </a:lnTo>
                  <a:lnTo>
                    <a:pt x="514" y="2800"/>
                  </a:lnTo>
                  <a:lnTo>
                    <a:pt x="465" y="2953"/>
                  </a:lnTo>
                  <a:lnTo>
                    <a:pt x="562" y="2993"/>
                  </a:lnTo>
                  <a:lnTo>
                    <a:pt x="670" y="3005"/>
                  </a:lnTo>
                  <a:lnTo>
                    <a:pt x="750" y="2937"/>
                  </a:lnTo>
                  <a:lnTo>
                    <a:pt x="930" y="2833"/>
                  </a:lnTo>
                  <a:lnTo>
                    <a:pt x="1010" y="2746"/>
                  </a:lnTo>
                  <a:lnTo>
                    <a:pt x="1026" y="2632"/>
                  </a:lnTo>
                  <a:lnTo>
                    <a:pt x="1018" y="2541"/>
                  </a:lnTo>
                  <a:lnTo>
                    <a:pt x="1086" y="2461"/>
                  </a:lnTo>
                  <a:lnTo>
                    <a:pt x="1186" y="2401"/>
                  </a:lnTo>
                  <a:lnTo>
                    <a:pt x="1334" y="2349"/>
                  </a:lnTo>
                  <a:lnTo>
                    <a:pt x="1542" y="2329"/>
                  </a:lnTo>
                  <a:lnTo>
                    <a:pt x="1498" y="2289"/>
                  </a:lnTo>
                  <a:lnTo>
                    <a:pt x="1422" y="2205"/>
                  </a:lnTo>
                  <a:lnTo>
                    <a:pt x="1486" y="2089"/>
                  </a:lnTo>
                  <a:lnTo>
                    <a:pt x="1554" y="1981"/>
                  </a:lnTo>
                  <a:lnTo>
                    <a:pt x="1650" y="1861"/>
                  </a:lnTo>
                  <a:lnTo>
                    <a:pt x="1682" y="1753"/>
                  </a:lnTo>
                  <a:lnTo>
                    <a:pt x="1810" y="1741"/>
                  </a:lnTo>
                  <a:lnTo>
                    <a:pt x="1950" y="1793"/>
                  </a:lnTo>
                  <a:lnTo>
                    <a:pt x="1966" y="1677"/>
                  </a:lnTo>
                  <a:lnTo>
                    <a:pt x="1970" y="1470"/>
                  </a:lnTo>
                  <a:lnTo>
                    <a:pt x="1902" y="1441"/>
                  </a:lnTo>
                  <a:lnTo>
                    <a:pt x="1842" y="1397"/>
                  </a:lnTo>
                  <a:lnTo>
                    <a:pt x="1874" y="1353"/>
                  </a:lnTo>
                  <a:lnTo>
                    <a:pt x="1958" y="1349"/>
                  </a:lnTo>
                  <a:lnTo>
                    <a:pt x="1954" y="1257"/>
                  </a:lnTo>
                  <a:lnTo>
                    <a:pt x="1925" y="1135"/>
                  </a:lnTo>
                  <a:lnTo>
                    <a:pt x="1893" y="945"/>
                  </a:lnTo>
                  <a:lnTo>
                    <a:pt x="1854" y="942"/>
                  </a:lnTo>
                  <a:lnTo>
                    <a:pt x="1821" y="918"/>
                  </a:lnTo>
                  <a:lnTo>
                    <a:pt x="1806" y="873"/>
                  </a:lnTo>
                  <a:lnTo>
                    <a:pt x="1830" y="834"/>
                  </a:lnTo>
                  <a:lnTo>
                    <a:pt x="1842" y="792"/>
                  </a:lnTo>
                  <a:lnTo>
                    <a:pt x="1887" y="807"/>
                  </a:lnTo>
                  <a:lnTo>
                    <a:pt x="1932" y="843"/>
                  </a:lnTo>
                  <a:lnTo>
                    <a:pt x="1947" y="750"/>
                  </a:lnTo>
                  <a:lnTo>
                    <a:pt x="2105" y="645"/>
                  </a:lnTo>
                  <a:lnTo>
                    <a:pt x="2138" y="485"/>
                  </a:lnTo>
                  <a:lnTo>
                    <a:pt x="2190" y="321"/>
                  </a:lnTo>
                  <a:lnTo>
                    <a:pt x="2218" y="161"/>
                  </a:lnTo>
                  <a:lnTo>
                    <a:pt x="2182" y="45"/>
                  </a:lnTo>
                  <a:lnTo>
                    <a:pt x="2115" y="0"/>
                  </a:lnTo>
                  <a:lnTo>
                    <a:pt x="1978" y="130"/>
                  </a:lnTo>
                  <a:lnTo>
                    <a:pt x="1798" y="120"/>
                  </a:lnTo>
                  <a:lnTo>
                    <a:pt x="1638" y="268"/>
                  </a:lnTo>
                  <a:lnTo>
                    <a:pt x="1485" y="280"/>
                  </a:lnTo>
                  <a:lnTo>
                    <a:pt x="1355" y="265"/>
                  </a:lnTo>
                  <a:lnTo>
                    <a:pt x="1205" y="495"/>
                  </a:lnTo>
                  <a:lnTo>
                    <a:pt x="1115" y="490"/>
                  </a:lnTo>
                  <a:lnTo>
                    <a:pt x="1104" y="421"/>
                  </a:lnTo>
                  <a:lnTo>
                    <a:pt x="950" y="405"/>
                  </a:lnTo>
                  <a:lnTo>
                    <a:pt x="860" y="360"/>
                  </a:lnTo>
                  <a:lnTo>
                    <a:pt x="830" y="465"/>
                  </a:lnTo>
                  <a:lnTo>
                    <a:pt x="725" y="550"/>
                  </a:lnTo>
                  <a:lnTo>
                    <a:pt x="755" y="655"/>
                  </a:lnTo>
                  <a:lnTo>
                    <a:pt x="690" y="735"/>
                  </a:lnTo>
                  <a:lnTo>
                    <a:pt x="900" y="805"/>
                  </a:lnTo>
                  <a:lnTo>
                    <a:pt x="635" y="975"/>
                  </a:lnTo>
                  <a:lnTo>
                    <a:pt x="395" y="970"/>
                  </a:lnTo>
                  <a:lnTo>
                    <a:pt x="270" y="1065"/>
                  </a:lnTo>
                  <a:lnTo>
                    <a:pt x="105" y="1035"/>
                  </a:lnTo>
                  <a:lnTo>
                    <a:pt x="0" y="1120"/>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4" name="Google Shape;414;p66"/>
            <p:cNvSpPr/>
            <p:nvPr/>
          </p:nvSpPr>
          <p:spPr>
            <a:xfrm>
              <a:off x="2978922" y="5313302"/>
              <a:ext cx="357825" cy="687931"/>
            </a:xfrm>
            <a:custGeom>
              <a:avLst/>
              <a:gdLst/>
              <a:ahLst/>
              <a:cxnLst/>
              <a:rect l="l" t="t" r="r" b="b"/>
              <a:pathLst>
                <a:path w="1336" h="2535" extrusionOk="0">
                  <a:moveTo>
                    <a:pt x="0" y="0"/>
                  </a:moveTo>
                  <a:lnTo>
                    <a:pt x="135" y="391"/>
                  </a:lnTo>
                  <a:lnTo>
                    <a:pt x="225" y="457"/>
                  </a:lnTo>
                  <a:lnTo>
                    <a:pt x="273" y="492"/>
                  </a:lnTo>
                  <a:lnTo>
                    <a:pt x="301" y="478"/>
                  </a:lnTo>
                  <a:lnTo>
                    <a:pt x="333" y="487"/>
                  </a:lnTo>
                  <a:lnTo>
                    <a:pt x="339" y="531"/>
                  </a:lnTo>
                  <a:lnTo>
                    <a:pt x="301" y="547"/>
                  </a:lnTo>
                  <a:lnTo>
                    <a:pt x="320" y="635"/>
                  </a:lnTo>
                  <a:lnTo>
                    <a:pt x="454" y="860"/>
                  </a:lnTo>
                  <a:lnTo>
                    <a:pt x="510" y="1145"/>
                  </a:lnTo>
                  <a:lnTo>
                    <a:pt x="683" y="1491"/>
                  </a:lnTo>
                  <a:lnTo>
                    <a:pt x="707" y="1668"/>
                  </a:lnTo>
                  <a:lnTo>
                    <a:pt x="766" y="1793"/>
                  </a:lnTo>
                  <a:lnTo>
                    <a:pt x="741" y="1881"/>
                  </a:lnTo>
                  <a:lnTo>
                    <a:pt x="861" y="2180"/>
                  </a:lnTo>
                  <a:lnTo>
                    <a:pt x="966" y="2360"/>
                  </a:lnTo>
                  <a:lnTo>
                    <a:pt x="981" y="2430"/>
                  </a:lnTo>
                  <a:lnTo>
                    <a:pt x="1171" y="2535"/>
                  </a:lnTo>
                  <a:lnTo>
                    <a:pt x="1221" y="2385"/>
                  </a:lnTo>
                  <a:lnTo>
                    <a:pt x="1186" y="2280"/>
                  </a:lnTo>
                  <a:lnTo>
                    <a:pt x="1201" y="2190"/>
                  </a:lnTo>
                  <a:lnTo>
                    <a:pt x="1176" y="2085"/>
                  </a:lnTo>
                  <a:lnTo>
                    <a:pt x="1336" y="1845"/>
                  </a:lnTo>
                  <a:lnTo>
                    <a:pt x="1252" y="1776"/>
                  </a:lnTo>
                  <a:lnTo>
                    <a:pt x="1154" y="1752"/>
                  </a:lnTo>
                  <a:lnTo>
                    <a:pt x="1236" y="1696"/>
                  </a:lnTo>
                  <a:lnTo>
                    <a:pt x="1216" y="1569"/>
                  </a:lnTo>
                  <a:lnTo>
                    <a:pt x="1246" y="1475"/>
                  </a:lnTo>
                  <a:lnTo>
                    <a:pt x="1201" y="1380"/>
                  </a:lnTo>
                  <a:lnTo>
                    <a:pt x="1081" y="1440"/>
                  </a:lnTo>
                  <a:lnTo>
                    <a:pt x="1013" y="1418"/>
                  </a:lnTo>
                  <a:lnTo>
                    <a:pt x="992" y="1232"/>
                  </a:lnTo>
                  <a:lnTo>
                    <a:pt x="1052" y="1146"/>
                  </a:lnTo>
                  <a:lnTo>
                    <a:pt x="917" y="1040"/>
                  </a:lnTo>
                  <a:lnTo>
                    <a:pt x="981" y="980"/>
                  </a:lnTo>
                  <a:lnTo>
                    <a:pt x="920" y="890"/>
                  </a:lnTo>
                  <a:lnTo>
                    <a:pt x="824" y="899"/>
                  </a:lnTo>
                  <a:lnTo>
                    <a:pt x="827" y="794"/>
                  </a:lnTo>
                  <a:lnTo>
                    <a:pt x="707" y="704"/>
                  </a:lnTo>
                  <a:lnTo>
                    <a:pt x="808" y="622"/>
                  </a:lnTo>
                  <a:lnTo>
                    <a:pt x="650" y="471"/>
                  </a:lnTo>
                  <a:lnTo>
                    <a:pt x="541" y="442"/>
                  </a:lnTo>
                  <a:lnTo>
                    <a:pt x="270" y="255"/>
                  </a:lnTo>
                  <a:lnTo>
                    <a:pt x="138" y="49"/>
                  </a:lnTo>
                  <a:lnTo>
                    <a:pt x="0" y="0"/>
                  </a:lnTo>
                  <a:close/>
                </a:path>
              </a:pathLst>
            </a:custGeom>
            <a:solidFill>
              <a:srgbClr val="FFD96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5" name="Google Shape;415;p66"/>
            <p:cNvSpPr/>
            <p:nvPr/>
          </p:nvSpPr>
          <p:spPr>
            <a:xfrm>
              <a:off x="3173246" y="2279352"/>
              <a:ext cx="422154" cy="431483"/>
            </a:xfrm>
            <a:custGeom>
              <a:avLst/>
              <a:gdLst/>
              <a:ahLst/>
              <a:cxnLst/>
              <a:rect l="l" t="t" r="r" b="b"/>
              <a:pathLst>
                <a:path w="1575" h="1591" extrusionOk="0">
                  <a:moveTo>
                    <a:pt x="77" y="384"/>
                  </a:moveTo>
                  <a:lnTo>
                    <a:pt x="131" y="461"/>
                  </a:lnTo>
                  <a:lnTo>
                    <a:pt x="44" y="533"/>
                  </a:lnTo>
                  <a:lnTo>
                    <a:pt x="0" y="620"/>
                  </a:lnTo>
                  <a:lnTo>
                    <a:pt x="102" y="701"/>
                  </a:lnTo>
                  <a:lnTo>
                    <a:pt x="181" y="894"/>
                  </a:lnTo>
                  <a:lnTo>
                    <a:pt x="259" y="984"/>
                  </a:lnTo>
                  <a:lnTo>
                    <a:pt x="357" y="966"/>
                  </a:lnTo>
                  <a:lnTo>
                    <a:pt x="406" y="1019"/>
                  </a:lnTo>
                  <a:lnTo>
                    <a:pt x="459" y="1034"/>
                  </a:lnTo>
                  <a:lnTo>
                    <a:pt x="474" y="1091"/>
                  </a:lnTo>
                  <a:lnTo>
                    <a:pt x="496" y="1172"/>
                  </a:lnTo>
                  <a:lnTo>
                    <a:pt x="514" y="1181"/>
                  </a:lnTo>
                  <a:lnTo>
                    <a:pt x="513" y="1199"/>
                  </a:lnTo>
                  <a:lnTo>
                    <a:pt x="535" y="1190"/>
                  </a:lnTo>
                  <a:lnTo>
                    <a:pt x="538" y="1209"/>
                  </a:lnTo>
                  <a:lnTo>
                    <a:pt x="555" y="1224"/>
                  </a:lnTo>
                  <a:lnTo>
                    <a:pt x="562" y="1248"/>
                  </a:lnTo>
                  <a:lnTo>
                    <a:pt x="580" y="1248"/>
                  </a:lnTo>
                  <a:lnTo>
                    <a:pt x="613" y="1284"/>
                  </a:lnTo>
                  <a:lnTo>
                    <a:pt x="747" y="1394"/>
                  </a:lnTo>
                  <a:lnTo>
                    <a:pt x="708" y="1490"/>
                  </a:lnTo>
                  <a:lnTo>
                    <a:pt x="877" y="1591"/>
                  </a:lnTo>
                  <a:lnTo>
                    <a:pt x="984" y="1509"/>
                  </a:lnTo>
                  <a:lnTo>
                    <a:pt x="970" y="1399"/>
                  </a:lnTo>
                  <a:lnTo>
                    <a:pt x="986" y="1232"/>
                  </a:lnTo>
                  <a:lnTo>
                    <a:pt x="1080" y="1159"/>
                  </a:lnTo>
                  <a:lnTo>
                    <a:pt x="1255" y="1099"/>
                  </a:lnTo>
                  <a:lnTo>
                    <a:pt x="1410" y="1144"/>
                  </a:lnTo>
                  <a:lnTo>
                    <a:pt x="1485" y="1194"/>
                  </a:lnTo>
                  <a:lnTo>
                    <a:pt x="1575" y="1189"/>
                  </a:lnTo>
                  <a:lnTo>
                    <a:pt x="1500" y="1059"/>
                  </a:lnTo>
                  <a:lnTo>
                    <a:pt x="1465" y="979"/>
                  </a:lnTo>
                  <a:lnTo>
                    <a:pt x="1510" y="909"/>
                  </a:lnTo>
                  <a:lnTo>
                    <a:pt x="1465" y="814"/>
                  </a:lnTo>
                  <a:lnTo>
                    <a:pt x="1480" y="695"/>
                  </a:lnTo>
                  <a:lnTo>
                    <a:pt x="1410" y="610"/>
                  </a:lnTo>
                  <a:lnTo>
                    <a:pt x="1360" y="490"/>
                  </a:lnTo>
                  <a:lnTo>
                    <a:pt x="1285" y="425"/>
                  </a:lnTo>
                  <a:lnTo>
                    <a:pt x="1260" y="290"/>
                  </a:lnTo>
                  <a:lnTo>
                    <a:pt x="1110" y="335"/>
                  </a:lnTo>
                  <a:lnTo>
                    <a:pt x="1080" y="260"/>
                  </a:lnTo>
                  <a:lnTo>
                    <a:pt x="970" y="145"/>
                  </a:lnTo>
                  <a:lnTo>
                    <a:pt x="805" y="215"/>
                  </a:lnTo>
                  <a:lnTo>
                    <a:pt x="676" y="185"/>
                  </a:lnTo>
                  <a:lnTo>
                    <a:pt x="556" y="40"/>
                  </a:lnTo>
                  <a:lnTo>
                    <a:pt x="431" y="0"/>
                  </a:lnTo>
                  <a:lnTo>
                    <a:pt x="286" y="70"/>
                  </a:lnTo>
                  <a:lnTo>
                    <a:pt x="196" y="185"/>
                  </a:lnTo>
                  <a:lnTo>
                    <a:pt x="106" y="185"/>
                  </a:lnTo>
                  <a:lnTo>
                    <a:pt x="126" y="263"/>
                  </a:lnTo>
                  <a:lnTo>
                    <a:pt x="77" y="384"/>
                  </a:lnTo>
                  <a:close/>
                </a:path>
              </a:pathLst>
            </a:custGeom>
            <a:solidFill>
              <a:srgbClr val="FFD96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6" name="Google Shape;416;p66"/>
            <p:cNvSpPr/>
            <p:nvPr/>
          </p:nvSpPr>
          <p:spPr>
            <a:xfrm>
              <a:off x="2814081" y="1695900"/>
              <a:ext cx="944819" cy="715068"/>
            </a:xfrm>
            <a:custGeom>
              <a:avLst/>
              <a:gdLst/>
              <a:ahLst/>
              <a:cxnLst/>
              <a:rect l="l" t="t" r="r" b="b"/>
              <a:pathLst>
                <a:path w="3525" h="2636" extrusionOk="0">
                  <a:moveTo>
                    <a:pt x="1242" y="2636"/>
                  </a:moveTo>
                  <a:lnTo>
                    <a:pt x="408" y="2156"/>
                  </a:lnTo>
                  <a:lnTo>
                    <a:pt x="440" y="1785"/>
                  </a:lnTo>
                  <a:lnTo>
                    <a:pt x="363" y="1427"/>
                  </a:lnTo>
                  <a:lnTo>
                    <a:pt x="576" y="1256"/>
                  </a:lnTo>
                  <a:lnTo>
                    <a:pt x="704" y="1096"/>
                  </a:lnTo>
                  <a:lnTo>
                    <a:pt x="560" y="1032"/>
                  </a:lnTo>
                  <a:lnTo>
                    <a:pt x="557" y="827"/>
                  </a:lnTo>
                  <a:lnTo>
                    <a:pt x="456" y="852"/>
                  </a:lnTo>
                  <a:lnTo>
                    <a:pt x="364" y="776"/>
                  </a:lnTo>
                  <a:lnTo>
                    <a:pt x="254" y="626"/>
                  </a:lnTo>
                  <a:lnTo>
                    <a:pt x="0" y="581"/>
                  </a:lnTo>
                  <a:lnTo>
                    <a:pt x="29" y="416"/>
                  </a:lnTo>
                  <a:lnTo>
                    <a:pt x="184" y="316"/>
                  </a:lnTo>
                  <a:lnTo>
                    <a:pt x="329" y="146"/>
                  </a:lnTo>
                  <a:lnTo>
                    <a:pt x="644" y="102"/>
                  </a:lnTo>
                  <a:lnTo>
                    <a:pt x="917" y="0"/>
                  </a:lnTo>
                  <a:lnTo>
                    <a:pt x="1115" y="41"/>
                  </a:lnTo>
                  <a:lnTo>
                    <a:pt x="1272" y="2"/>
                  </a:lnTo>
                  <a:lnTo>
                    <a:pt x="1311" y="119"/>
                  </a:lnTo>
                  <a:lnTo>
                    <a:pt x="1904" y="526"/>
                  </a:lnTo>
                  <a:lnTo>
                    <a:pt x="1934" y="672"/>
                  </a:lnTo>
                  <a:lnTo>
                    <a:pt x="2178" y="747"/>
                  </a:lnTo>
                  <a:lnTo>
                    <a:pt x="2209" y="886"/>
                  </a:lnTo>
                  <a:lnTo>
                    <a:pt x="2564" y="842"/>
                  </a:lnTo>
                  <a:lnTo>
                    <a:pt x="2675" y="705"/>
                  </a:lnTo>
                  <a:lnTo>
                    <a:pt x="2927" y="690"/>
                  </a:lnTo>
                  <a:lnTo>
                    <a:pt x="3104" y="602"/>
                  </a:lnTo>
                  <a:lnTo>
                    <a:pt x="3215" y="675"/>
                  </a:lnTo>
                  <a:lnTo>
                    <a:pt x="3410" y="722"/>
                  </a:lnTo>
                  <a:lnTo>
                    <a:pt x="3525" y="866"/>
                  </a:lnTo>
                  <a:lnTo>
                    <a:pt x="3440" y="1118"/>
                  </a:lnTo>
                  <a:lnTo>
                    <a:pt x="3423" y="1383"/>
                  </a:lnTo>
                  <a:lnTo>
                    <a:pt x="3315" y="1412"/>
                  </a:lnTo>
                  <a:lnTo>
                    <a:pt x="3200" y="1485"/>
                  </a:lnTo>
                  <a:lnTo>
                    <a:pt x="3210" y="1632"/>
                  </a:lnTo>
                  <a:lnTo>
                    <a:pt x="3108" y="1722"/>
                  </a:lnTo>
                  <a:lnTo>
                    <a:pt x="2999" y="1706"/>
                  </a:lnTo>
                  <a:lnTo>
                    <a:pt x="2869" y="1751"/>
                  </a:lnTo>
                  <a:lnTo>
                    <a:pt x="2959" y="1936"/>
                  </a:lnTo>
                  <a:lnTo>
                    <a:pt x="2879" y="1976"/>
                  </a:lnTo>
                  <a:lnTo>
                    <a:pt x="2894" y="2101"/>
                  </a:lnTo>
                  <a:lnTo>
                    <a:pt x="3109" y="2156"/>
                  </a:lnTo>
                  <a:lnTo>
                    <a:pt x="3104" y="2311"/>
                  </a:lnTo>
                  <a:lnTo>
                    <a:pt x="3194" y="2461"/>
                  </a:lnTo>
                  <a:lnTo>
                    <a:pt x="3004" y="2566"/>
                  </a:lnTo>
                  <a:lnTo>
                    <a:pt x="2909" y="2626"/>
                  </a:lnTo>
                  <a:lnTo>
                    <a:pt x="2834" y="2581"/>
                  </a:lnTo>
                  <a:lnTo>
                    <a:pt x="2804" y="2486"/>
                  </a:lnTo>
                  <a:lnTo>
                    <a:pt x="2719" y="2491"/>
                  </a:lnTo>
                  <a:lnTo>
                    <a:pt x="2624" y="2576"/>
                  </a:lnTo>
                  <a:lnTo>
                    <a:pt x="2600" y="2442"/>
                  </a:lnTo>
                  <a:lnTo>
                    <a:pt x="2450" y="2487"/>
                  </a:lnTo>
                  <a:lnTo>
                    <a:pt x="2418" y="2408"/>
                  </a:lnTo>
                  <a:lnTo>
                    <a:pt x="2309" y="2297"/>
                  </a:lnTo>
                  <a:lnTo>
                    <a:pt x="2141" y="2366"/>
                  </a:lnTo>
                  <a:lnTo>
                    <a:pt x="2013" y="2336"/>
                  </a:lnTo>
                  <a:lnTo>
                    <a:pt x="1895" y="2190"/>
                  </a:lnTo>
                  <a:lnTo>
                    <a:pt x="1770" y="2150"/>
                  </a:lnTo>
                  <a:lnTo>
                    <a:pt x="1625" y="2222"/>
                  </a:lnTo>
                  <a:lnTo>
                    <a:pt x="1536" y="2336"/>
                  </a:lnTo>
                  <a:lnTo>
                    <a:pt x="1446" y="2337"/>
                  </a:lnTo>
                  <a:lnTo>
                    <a:pt x="1469" y="2412"/>
                  </a:lnTo>
                  <a:lnTo>
                    <a:pt x="1416" y="2532"/>
                  </a:lnTo>
                  <a:lnTo>
                    <a:pt x="1242" y="2636"/>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7" name="Google Shape;417;p66"/>
            <p:cNvSpPr/>
            <p:nvPr/>
          </p:nvSpPr>
          <p:spPr>
            <a:xfrm>
              <a:off x="2940057" y="2383831"/>
              <a:ext cx="402051" cy="427413"/>
            </a:xfrm>
            <a:custGeom>
              <a:avLst/>
              <a:gdLst/>
              <a:ahLst/>
              <a:cxnLst/>
              <a:rect l="l" t="t" r="r" b="b"/>
              <a:pathLst>
                <a:path w="1502" h="1576" extrusionOk="0">
                  <a:moveTo>
                    <a:pt x="556" y="242"/>
                  </a:moveTo>
                  <a:lnTo>
                    <a:pt x="431" y="312"/>
                  </a:lnTo>
                  <a:lnTo>
                    <a:pt x="346" y="417"/>
                  </a:lnTo>
                  <a:lnTo>
                    <a:pt x="391" y="537"/>
                  </a:lnTo>
                  <a:lnTo>
                    <a:pt x="326" y="657"/>
                  </a:lnTo>
                  <a:lnTo>
                    <a:pt x="376" y="767"/>
                  </a:lnTo>
                  <a:lnTo>
                    <a:pt x="241" y="811"/>
                  </a:lnTo>
                  <a:lnTo>
                    <a:pt x="76" y="1061"/>
                  </a:lnTo>
                  <a:lnTo>
                    <a:pt x="0" y="1292"/>
                  </a:lnTo>
                  <a:lnTo>
                    <a:pt x="76" y="1376"/>
                  </a:lnTo>
                  <a:lnTo>
                    <a:pt x="317" y="1406"/>
                  </a:lnTo>
                  <a:lnTo>
                    <a:pt x="476" y="1361"/>
                  </a:lnTo>
                  <a:lnTo>
                    <a:pt x="611" y="1436"/>
                  </a:lnTo>
                  <a:lnTo>
                    <a:pt x="626" y="1576"/>
                  </a:lnTo>
                  <a:lnTo>
                    <a:pt x="790" y="1481"/>
                  </a:lnTo>
                  <a:lnTo>
                    <a:pt x="925" y="1486"/>
                  </a:lnTo>
                  <a:lnTo>
                    <a:pt x="1020" y="1541"/>
                  </a:lnTo>
                  <a:lnTo>
                    <a:pt x="1095" y="1436"/>
                  </a:lnTo>
                  <a:lnTo>
                    <a:pt x="1106" y="1320"/>
                  </a:lnTo>
                  <a:lnTo>
                    <a:pt x="1274" y="1331"/>
                  </a:lnTo>
                  <a:lnTo>
                    <a:pt x="1300" y="1231"/>
                  </a:lnTo>
                  <a:lnTo>
                    <a:pt x="1364" y="1127"/>
                  </a:lnTo>
                  <a:lnTo>
                    <a:pt x="1451" y="1158"/>
                  </a:lnTo>
                  <a:lnTo>
                    <a:pt x="1502" y="1154"/>
                  </a:lnTo>
                  <a:lnTo>
                    <a:pt x="1484" y="998"/>
                  </a:lnTo>
                  <a:lnTo>
                    <a:pt x="1424" y="976"/>
                  </a:lnTo>
                  <a:lnTo>
                    <a:pt x="1394" y="926"/>
                  </a:lnTo>
                  <a:lnTo>
                    <a:pt x="1388" y="907"/>
                  </a:lnTo>
                  <a:lnTo>
                    <a:pt x="1357" y="899"/>
                  </a:lnTo>
                  <a:lnTo>
                    <a:pt x="1345" y="883"/>
                  </a:lnTo>
                  <a:lnTo>
                    <a:pt x="1339" y="865"/>
                  </a:lnTo>
                  <a:lnTo>
                    <a:pt x="1328" y="844"/>
                  </a:lnTo>
                  <a:lnTo>
                    <a:pt x="1313" y="850"/>
                  </a:lnTo>
                  <a:lnTo>
                    <a:pt x="1300" y="847"/>
                  </a:lnTo>
                  <a:lnTo>
                    <a:pt x="1297" y="818"/>
                  </a:lnTo>
                  <a:lnTo>
                    <a:pt x="1309" y="812"/>
                  </a:lnTo>
                  <a:lnTo>
                    <a:pt x="1334" y="808"/>
                  </a:lnTo>
                  <a:lnTo>
                    <a:pt x="1355" y="806"/>
                  </a:lnTo>
                  <a:lnTo>
                    <a:pt x="1364" y="788"/>
                  </a:lnTo>
                  <a:lnTo>
                    <a:pt x="1348" y="706"/>
                  </a:lnTo>
                  <a:lnTo>
                    <a:pt x="1330" y="650"/>
                  </a:lnTo>
                  <a:lnTo>
                    <a:pt x="1274" y="635"/>
                  </a:lnTo>
                  <a:lnTo>
                    <a:pt x="1226" y="583"/>
                  </a:lnTo>
                  <a:lnTo>
                    <a:pt x="1133" y="599"/>
                  </a:lnTo>
                  <a:lnTo>
                    <a:pt x="1045" y="499"/>
                  </a:lnTo>
                  <a:lnTo>
                    <a:pt x="970" y="317"/>
                  </a:lnTo>
                  <a:lnTo>
                    <a:pt x="870" y="237"/>
                  </a:lnTo>
                  <a:lnTo>
                    <a:pt x="910" y="152"/>
                  </a:lnTo>
                  <a:lnTo>
                    <a:pt x="1000" y="77"/>
                  </a:lnTo>
                  <a:lnTo>
                    <a:pt x="946" y="0"/>
                  </a:lnTo>
                  <a:lnTo>
                    <a:pt x="773" y="103"/>
                  </a:lnTo>
                  <a:lnTo>
                    <a:pt x="706" y="222"/>
                  </a:lnTo>
                  <a:lnTo>
                    <a:pt x="556" y="242"/>
                  </a:lnTo>
                  <a:close/>
                </a:path>
              </a:pathLst>
            </a:custGeom>
            <a:solidFill>
              <a:schemeClr val="accent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8" name="Google Shape;418;p66"/>
            <p:cNvSpPr/>
            <p:nvPr/>
          </p:nvSpPr>
          <p:spPr>
            <a:xfrm>
              <a:off x="5001236" y="2945573"/>
              <a:ext cx="789360" cy="614660"/>
            </a:xfrm>
            <a:custGeom>
              <a:avLst/>
              <a:gdLst/>
              <a:ahLst/>
              <a:cxnLst/>
              <a:rect l="l" t="t" r="r" b="b"/>
              <a:pathLst>
                <a:path w="2946" h="2265" extrusionOk="0">
                  <a:moveTo>
                    <a:pt x="95" y="1614"/>
                  </a:moveTo>
                  <a:lnTo>
                    <a:pt x="0" y="1224"/>
                  </a:lnTo>
                  <a:lnTo>
                    <a:pt x="36" y="955"/>
                  </a:lnTo>
                  <a:lnTo>
                    <a:pt x="140" y="900"/>
                  </a:lnTo>
                  <a:lnTo>
                    <a:pt x="275" y="825"/>
                  </a:lnTo>
                  <a:lnTo>
                    <a:pt x="380" y="895"/>
                  </a:lnTo>
                  <a:lnTo>
                    <a:pt x="575" y="880"/>
                  </a:lnTo>
                  <a:lnTo>
                    <a:pt x="770" y="850"/>
                  </a:lnTo>
                  <a:lnTo>
                    <a:pt x="980" y="780"/>
                  </a:lnTo>
                  <a:lnTo>
                    <a:pt x="1115" y="790"/>
                  </a:lnTo>
                  <a:lnTo>
                    <a:pt x="1400" y="670"/>
                  </a:lnTo>
                  <a:lnTo>
                    <a:pt x="1566" y="715"/>
                  </a:lnTo>
                  <a:lnTo>
                    <a:pt x="1696" y="655"/>
                  </a:lnTo>
                  <a:lnTo>
                    <a:pt x="1846" y="690"/>
                  </a:lnTo>
                  <a:lnTo>
                    <a:pt x="1951" y="540"/>
                  </a:lnTo>
                  <a:lnTo>
                    <a:pt x="2041" y="400"/>
                  </a:lnTo>
                  <a:lnTo>
                    <a:pt x="2166" y="285"/>
                  </a:lnTo>
                  <a:lnTo>
                    <a:pt x="2359" y="202"/>
                  </a:lnTo>
                  <a:lnTo>
                    <a:pt x="2556" y="85"/>
                  </a:lnTo>
                  <a:lnTo>
                    <a:pt x="2746" y="40"/>
                  </a:lnTo>
                  <a:lnTo>
                    <a:pt x="2901" y="0"/>
                  </a:lnTo>
                  <a:lnTo>
                    <a:pt x="2851" y="175"/>
                  </a:lnTo>
                  <a:lnTo>
                    <a:pt x="2946" y="374"/>
                  </a:lnTo>
                  <a:lnTo>
                    <a:pt x="2731" y="430"/>
                  </a:lnTo>
                  <a:lnTo>
                    <a:pt x="2626" y="584"/>
                  </a:lnTo>
                  <a:lnTo>
                    <a:pt x="2463" y="640"/>
                  </a:lnTo>
                  <a:lnTo>
                    <a:pt x="2301" y="795"/>
                  </a:lnTo>
                  <a:lnTo>
                    <a:pt x="2291" y="870"/>
                  </a:lnTo>
                  <a:lnTo>
                    <a:pt x="2244" y="951"/>
                  </a:lnTo>
                  <a:lnTo>
                    <a:pt x="2195" y="910"/>
                  </a:lnTo>
                  <a:lnTo>
                    <a:pt x="2077" y="1066"/>
                  </a:lnTo>
                  <a:lnTo>
                    <a:pt x="2076" y="1240"/>
                  </a:lnTo>
                  <a:lnTo>
                    <a:pt x="1876" y="1304"/>
                  </a:lnTo>
                  <a:lnTo>
                    <a:pt x="1761" y="1449"/>
                  </a:lnTo>
                  <a:lnTo>
                    <a:pt x="1836" y="1599"/>
                  </a:lnTo>
                  <a:lnTo>
                    <a:pt x="1764" y="1776"/>
                  </a:lnTo>
                  <a:lnTo>
                    <a:pt x="1665" y="1945"/>
                  </a:lnTo>
                  <a:lnTo>
                    <a:pt x="1681" y="2124"/>
                  </a:lnTo>
                  <a:lnTo>
                    <a:pt x="1551" y="2109"/>
                  </a:lnTo>
                  <a:lnTo>
                    <a:pt x="1486" y="2204"/>
                  </a:lnTo>
                  <a:lnTo>
                    <a:pt x="1356" y="2265"/>
                  </a:lnTo>
                  <a:lnTo>
                    <a:pt x="1269" y="2079"/>
                  </a:lnTo>
                  <a:lnTo>
                    <a:pt x="1289" y="1932"/>
                  </a:lnTo>
                  <a:lnTo>
                    <a:pt x="1320" y="1906"/>
                  </a:lnTo>
                  <a:lnTo>
                    <a:pt x="1389" y="1954"/>
                  </a:lnTo>
                  <a:lnTo>
                    <a:pt x="1422" y="1945"/>
                  </a:lnTo>
                  <a:lnTo>
                    <a:pt x="1437" y="1882"/>
                  </a:lnTo>
                  <a:lnTo>
                    <a:pt x="1365" y="1844"/>
                  </a:lnTo>
                  <a:lnTo>
                    <a:pt x="1380" y="1734"/>
                  </a:lnTo>
                  <a:lnTo>
                    <a:pt x="1470" y="1644"/>
                  </a:lnTo>
                  <a:lnTo>
                    <a:pt x="1425" y="1464"/>
                  </a:lnTo>
                  <a:lnTo>
                    <a:pt x="1320" y="1404"/>
                  </a:lnTo>
                  <a:lnTo>
                    <a:pt x="1185" y="1404"/>
                  </a:lnTo>
                  <a:lnTo>
                    <a:pt x="1155" y="1239"/>
                  </a:lnTo>
                  <a:lnTo>
                    <a:pt x="1040" y="1229"/>
                  </a:lnTo>
                  <a:lnTo>
                    <a:pt x="900" y="1314"/>
                  </a:lnTo>
                  <a:lnTo>
                    <a:pt x="865" y="1404"/>
                  </a:lnTo>
                  <a:lnTo>
                    <a:pt x="495" y="1374"/>
                  </a:lnTo>
                  <a:lnTo>
                    <a:pt x="270" y="1334"/>
                  </a:lnTo>
                  <a:lnTo>
                    <a:pt x="120" y="1464"/>
                  </a:lnTo>
                  <a:lnTo>
                    <a:pt x="165" y="1559"/>
                  </a:lnTo>
                  <a:lnTo>
                    <a:pt x="95" y="1614"/>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19" name="Google Shape;419;p66"/>
            <p:cNvSpPr/>
            <p:nvPr/>
          </p:nvSpPr>
          <p:spPr>
            <a:xfrm>
              <a:off x="5225045" y="2724403"/>
              <a:ext cx="738433" cy="474903"/>
            </a:xfrm>
            <a:custGeom>
              <a:avLst/>
              <a:gdLst/>
              <a:ahLst/>
              <a:cxnLst/>
              <a:rect l="l" t="t" r="r" b="b"/>
              <a:pathLst>
                <a:path w="2753" h="1749" extrusionOk="0">
                  <a:moveTo>
                    <a:pt x="0" y="1100"/>
                  </a:moveTo>
                  <a:lnTo>
                    <a:pt x="0" y="1235"/>
                  </a:lnTo>
                  <a:lnTo>
                    <a:pt x="80" y="1280"/>
                  </a:lnTo>
                  <a:lnTo>
                    <a:pt x="185" y="1265"/>
                  </a:lnTo>
                  <a:lnTo>
                    <a:pt x="245" y="1350"/>
                  </a:lnTo>
                  <a:lnTo>
                    <a:pt x="225" y="1470"/>
                  </a:lnTo>
                  <a:lnTo>
                    <a:pt x="270" y="1605"/>
                  </a:lnTo>
                  <a:lnTo>
                    <a:pt x="560" y="1486"/>
                  </a:lnTo>
                  <a:lnTo>
                    <a:pt x="721" y="1530"/>
                  </a:lnTo>
                  <a:lnTo>
                    <a:pt x="856" y="1470"/>
                  </a:lnTo>
                  <a:lnTo>
                    <a:pt x="1006" y="1504"/>
                  </a:lnTo>
                  <a:lnTo>
                    <a:pt x="1117" y="1348"/>
                  </a:lnTo>
                  <a:lnTo>
                    <a:pt x="1201" y="1213"/>
                  </a:lnTo>
                  <a:lnTo>
                    <a:pt x="1329" y="1099"/>
                  </a:lnTo>
                  <a:lnTo>
                    <a:pt x="1517" y="1020"/>
                  </a:lnTo>
                  <a:lnTo>
                    <a:pt x="1717" y="900"/>
                  </a:lnTo>
                  <a:lnTo>
                    <a:pt x="2063" y="815"/>
                  </a:lnTo>
                  <a:lnTo>
                    <a:pt x="2012" y="990"/>
                  </a:lnTo>
                  <a:lnTo>
                    <a:pt x="2108" y="1190"/>
                  </a:lnTo>
                  <a:lnTo>
                    <a:pt x="1892" y="1245"/>
                  </a:lnTo>
                  <a:lnTo>
                    <a:pt x="1787" y="1399"/>
                  </a:lnTo>
                  <a:lnTo>
                    <a:pt x="1625" y="1455"/>
                  </a:lnTo>
                  <a:lnTo>
                    <a:pt x="1462" y="1610"/>
                  </a:lnTo>
                  <a:lnTo>
                    <a:pt x="1456" y="1682"/>
                  </a:lnTo>
                  <a:lnTo>
                    <a:pt x="1585" y="1682"/>
                  </a:lnTo>
                  <a:lnTo>
                    <a:pt x="1649" y="1731"/>
                  </a:lnTo>
                  <a:lnTo>
                    <a:pt x="1742" y="1749"/>
                  </a:lnTo>
                  <a:lnTo>
                    <a:pt x="1808" y="1651"/>
                  </a:lnTo>
                  <a:lnTo>
                    <a:pt x="1896" y="1579"/>
                  </a:lnTo>
                  <a:lnTo>
                    <a:pt x="1976" y="1507"/>
                  </a:lnTo>
                  <a:lnTo>
                    <a:pt x="2096" y="1403"/>
                  </a:lnTo>
                  <a:lnTo>
                    <a:pt x="2216" y="1259"/>
                  </a:lnTo>
                  <a:lnTo>
                    <a:pt x="2336" y="1195"/>
                  </a:lnTo>
                  <a:lnTo>
                    <a:pt x="2424" y="1179"/>
                  </a:lnTo>
                  <a:lnTo>
                    <a:pt x="2543" y="1140"/>
                  </a:lnTo>
                  <a:lnTo>
                    <a:pt x="2588" y="1220"/>
                  </a:lnTo>
                  <a:lnTo>
                    <a:pt x="2672" y="1299"/>
                  </a:lnTo>
                  <a:lnTo>
                    <a:pt x="2720" y="1267"/>
                  </a:lnTo>
                  <a:lnTo>
                    <a:pt x="2693" y="1190"/>
                  </a:lnTo>
                  <a:lnTo>
                    <a:pt x="2648" y="1140"/>
                  </a:lnTo>
                  <a:lnTo>
                    <a:pt x="2573" y="1040"/>
                  </a:lnTo>
                  <a:lnTo>
                    <a:pt x="2543" y="935"/>
                  </a:lnTo>
                  <a:lnTo>
                    <a:pt x="2733" y="795"/>
                  </a:lnTo>
                  <a:lnTo>
                    <a:pt x="2753" y="630"/>
                  </a:lnTo>
                  <a:lnTo>
                    <a:pt x="2618" y="560"/>
                  </a:lnTo>
                  <a:lnTo>
                    <a:pt x="2363" y="530"/>
                  </a:lnTo>
                  <a:lnTo>
                    <a:pt x="2268" y="585"/>
                  </a:lnTo>
                  <a:lnTo>
                    <a:pt x="2213" y="555"/>
                  </a:lnTo>
                  <a:lnTo>
                    <a:pt x="2198" y="485"/>
                  </a:lnTo>
                  <a:lnTo>
                    <a:pt x="2313" y="350"/>
                  </a:lnTo>
                  <a:lnTo>
                    <a:pt x="2283" y="195"/>
                  </a:lnTo>
                  <a:lnTo>
                    <a:pt x="2193" y="195"/>
                  </a:lnTo>
                  <a:lnTo>
                    <a:pt x="2078" y="255"/>
                  </a:lnTo>
                  <a:lnTo>
                    <a:pt x="2093" y="165"/>
                  </a:lnTo>
                  <a:lnTo>
                    <a:pt x="2193" y="105"/>
                  </a:lnTo>
                  <a:lnTo>
                    <a:pt x="2103" y="65"/>
                  </a:lnTo>
                  <a:lnTo>
                    <a:pt x="2073" y="0"/>
                  </a:lnTo>
                  <a:lnTo>
                    <a:pt x="1907" y="75"/>
                  </a:lnTo>
                  <a:lnTo>
                    <a:pt x="1802" y="135"/>
                  </a:lnTo>
                  <a:lnTo>
                    <a:pt x="1732" y="230"/>
                  </a:lnTo>
                  <a:lnTo>
                    <a:pt x="1522" y="225"/>
                  </a:lnTo>
                  <a:lnTo>
                    <a:pt x="1356" y="120"/>
                  </a:lnTo>
                  <a:lnTo>
                    <a:pt x="1201" y="255"/>
                  </a:lnTo>
                  <a:lnTo>
                    <a:pt x="1066" y="485"/>
                  </a:lnTo>
                  <a:lnTo>
                    <a:pt x="946" y="545"/>
                  </a:lnTo>
                  <a:lnTo>
                    <a:pt x="786" y="560"/>
                  </a:lnTo>
                  <a:lnTo>
                    <a:pt x="691" y="705"/>
                  </a:lnTo>
                  <a:lnTo>
                    <a:pt x="630" y="765"/>
                  </a:lnTo>
                  <a:lnTo>
                    <a:pt x="485" y="860"/>
                  </a:lnTo>
                  <a:lnTo>
                    <a:pt x="455" y="990"/>
                  </a:lnTo>
                  <a:lnTo>
                    <a:pt x="380" y="1070"/>
                  </a:lnTo>
                  <a:lnTo>
                    <a:pt x="260" y="1020"/>
                  </a:lnTo>
                  <a:lnTo>
                    <a:pt x="150" y="1110"/>
                  </a:lnTo>
                  <a:lnTo>
                    <a:pt x="65" y="1085"/>
                  </a:lnTo>
                  <a:lnTo>
                    <a:pt x="0" y="1100"/>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20" name="Google Shape;420;p66"/>
            <p:cNvSpPr/>
            <p:nvPr/>
          </p:nvSpPr>
          <p:spPr>
            <a:xfrm>
              <a:off x="5472975" y="3181667"/>
              <a:ext cx="243911" cy="198102"/>
            </a:xfrm>
            <a:custGeom>
              <a:avLst/>
              <a:gdLst/>
              <a:ahLst/>
              <a:cxnLst/>
              <a:rect l="l" t="t" r="r" b="b"/>
              <a:pathLst>
                <a:path w="912" h="732" extrusionOk="0">
                  <a:moveTo>
                    <a:pt x="656" y="582"/>
                  </a:moveTo>
                  <a:lnTo>
                    <a:pt x="653" y="482"/>
                  </a:lnTo>
                  <a:lnTo>
                    <a:pt x="564" y="512"/>
                  </a:lnTo>
                  <a:lnTo>
                    <a:pt x="533" y="593"/>
                  </a:lnTo>
                  <a:lnTo>
                    <a:pt x="401" y="582"/>
                  </a:lnTo>
                  <a:lnTo>
                    <a:pt x="341" y="537"/>
                  </a:lnTo>
                  <a:lnTo>
                    <a:pt x="226" y="580"/>
                  </a:lnTo>
                  <a:lnTo>
                    <a:pt x="250" y="658"/>
                  </a:lnTo>
                  <a:lnTo>
                    <a:pt x="166" y="721"/>
                  </a:lnTo>
                  <a:lnTo>
                    <a:pt x="75" y="732"/>
                  </a:lnTo>
                  <a:lnTo>
                    <a:pt x="0" y="583"/>
                  </a:lnTo>
                  <a:lnTo>
                    <a:pt x="115" y="437"/>
                  </a:lnTo>
                  <a:lnTo>
                    <a:pt x="316" y="372"/>
                  </a:lnTo>
                  <a:lnTo>
                    <a:pt x="316" y="196"/>
                  </a:lnTo>
                  <a:lnTo>
                    <a:pt x="432" y="44"/>
                  </a:lnTo>
                  <a:lnTo>
                    <a:pt x="485" y="80"/>
                  </a:lnTo>
                  <a:lnTo>
                    <a:pt x="533" y="0"/>
                  </a:lnTo>
                  <a:lnTo>
                    <a:pt x="661" y="0"/>
                  </a:lnTo>
                  <a:lnTo>
                    <a:pt x="725" y="48"/>
                  </a:lnTo>
                  <a:lnTo>
                    <a:pt x="821" y="64"/>
                  </a:lnTo>
                  <a:lnTo>
                    <a:pt x="861" y="136"/>
                  </a:lnTo>
                  <a:lnTo>
                    <a:pt x="912" y="206"/>
                  </a:lnTo>
                  <a:lnTo>
                    <a:pt x="855" y="320"/>
                  </a:lnTo>
                  <a:lnTo>
                    <a:pt x="767" y="450"/>
                  </a:lnTo>
                  <a:lnTo>
                    <a:pt x="752" y="591"/>
                  </a:lnTo>
                  <a:lnTo>
                    <a:pt x="656" y="582"/>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21" name="Google Shape;421;p66"/>
            <p:cNvSpPr/>
            <p:nvPr/>
          </p:nvSpPr>
          <p:spPr>
            <a:xfrm>
              <a:off x="5447513" y="3311926"/>
              <a:ext cx="237210" cy="260518"/>
            </a:xfrm>
            <a:custGeom>
              <a:avLst/>
              <a:gdLst/>
              <a:ahLst/>
              <a:cxnLst/>
              <a:rect l="l" t="t" r="r" b="b"/>
              <a:pathLst>
                <a:path w="884" h="962" extrusionOk="0">
                  <a:moveTo>
                    <a:pt x="752" y="102"/>
                  </a:moveTo>
                  <a:lnTo>
                    <a:pt x="748" y="0"/>
                  </a:lnTo>
                  <a:lnTo>
                    <a:pt x="660" y="32"/>
                  </a:lnTo>
                  <a:lnTo>
                    <a:pt x="628" y="112"/>
                  </a:lnTo>
                  <a:lnTo>
                    <a:pt x="495" y="101"/>
                  </a:lnTo>
                  <a:lnTo>
                    <a:pt x="435" y="56"/>
                  </a:lnTo>
                  <a:lnTo>
                    <a:pt x="320" y="101"/>
                  </a:lnTo>
                  <a:lnTo>
                    <a:pt x="345" y="176"/>
                  </a:lnTo>
                  <a:lnTo>
                    <a:pt x="260" y="241"/>
                  </a:lnTo>
                  <a:lnTo>
                    <a:pt x="170" y="251"/>
                  </a:lnTo>
                  <a:lnTo>
                    <a:pt x="95" y="431"/>
                  </a:lnTo>
                  <a:lnTo>
                    <a:pt x="0" y="597"/>
                  </a:lnTo>
                  <a:lnTo>
                    <a:pt x="15" y="777"/>
                  </a:lnTo>
                  <a:lnTo>
                    <a:pt x="20" y="872"/>
                  </a:lnTo>
                  <a:lnTo>
                    <a:pt x="80" y="932"/>
                  </a:lnTo>
                  <a:lnTo>
                    <a:pt x="165" y="932"/>
                  </a:lnTo>
                  <a:lnTo>
                    <a:pt x="300" y="957"/>
                  </a:lnTo>
                  <a:lnTo>
                    <a:pt x="380" y="927"/>
                  </a:lnTo>
                  <a:lnTo>
                    <a:pt x="560" y="962"/>
                  </a:lnTo>
                  <a:lnTo>
                    <a:pt x="620" y="872"/>
                  </a:lnTo>
                  <a:lnTo>
                    <a:pt x="700" y="696"/>
                  </a:lnTo>
                  <a:lnTo>
                    <a:pt x="740" y="560"/>
                  </a:lnTo>
                  <a:lnTo>
                    <a:pt x="812" y="464"/>
                  </a:lnTo>
                  <a:lnTo>
                    <a:pt x="884" y="392"/>
                  </a:lnTo>
                  <a:lnTo>
                    <a:pt x="815" y="286"/>
                  </a:lnTo>
                  <a:lnTo>
                    <a:pt x="735" y="221"/>
                  </a:lnTo>
                  <a:lnTo>
                    <a:pt x="752" y="102"/>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22" name="Google Shape;422;p66"/>
            <p:cNvSpPr/>
            <p:nvPr/>
          </p:nvSpPr>
          <p:spPr>
            <a:xfrm>
              <a:off x="5355041" y="3518170"/>
              <a:ext cx="172882" cy="358212"/>
            </a:xfrm>
            <a:custGeom>
              <a:avLst/>
              <a:gdLst/>
              <a:ahLst/>
              <a:cxnLst/>
              <a:rect l="l" t="t" r="r" b="b"/>
              <a:pathLst>
                <a:path w="645" h="1321" extrusionOk="0">
                  <a:moveTo>
                    <a:pt x="36" y="153"/>
                  </a:moveTo>
                  <a:lnTo>
                    <a:pt x="0" y="375"/>
                  </a:lnTo>
                  <a:lnTo>
                    <a:pt x="63" y="489"/>
                  </a:lnTo>
                  <a:lnTo>
                    <a:pt x="95" y="600"/>
                  </a:lnTo>
                  <a:lnTo>
                    <a:pt x="60" y="665"/>
                  </a:lnTo>
                  <a:lnTo>
                    <a:pt x="132" y="856"/>
                  </a:lnTo>
                  <a:lnTo>
                    <a:pt x="231" y="1027"/>
                  </a:lnTo>
                  <a:lnTo>
                    <a:pt x="249" y="1195"/>
                  </a:lnTo>
                  <a:lnTo>
                    <a:pt x="260" y="1295"/>
                  </a:lnTo>
                  <a:lnTo>
                    <a:pt x="380" y="1234"/>
                  </a:lnTo>
                  <a:lnTo>
                    <a:pt x="440" y="1321"/>
                  </a:lnTo>
                  <a:lnTo>
                    <a:pt x="485" y="1259"/>
                  </a:lnTo>
                  <a:lnTo>
                    <a:pt x="525" y="1174"/>
                  </a:lnTo>
                  <a:lnTo>
                    <a:pt x="510" y="1039"/>
                  </a:lnTo>
                  <a:lnTo>
                    <a:pt x="480" y="884"/>
                  </a:lnTo>
                  <a:lnTo>
                    <a:pt x="453" y="790"/>
                  </a:lnTo>
                  <a:lnTo>
                    <a:pt x="549" y="790"/>
                  </a:lnTo>
                  <a:lnTo>
                    <a:pt x="597" y="678"/>
                  </a:lnTo>
                  <a:lnTo>
                    <a:pt x="645" y="550"/>
                  </a:lnTo>
                  <a:lnTo>
                    <a:pt x="605" y="359"/>
                  </a:lnTo>
                  <a:lnTo>
                    <a:pt x="515" y="169"/>
                  </a:lnTo>
                  <a:lnTo>
                    <a:pt x="428" y="170"/>
                  </a:lnTo>
                  <a:lnTo>
                    <a:pt x="365" y="113"/>
                  </a:lnTo>
                  <a:lnTo>
                    <a:pt x="359" y="14"/>
                  </a:lnTo>
                  <a:lnTo>
                    <a:pt x="230" y="0"/>
                  </a:lnTo>
                  <a:lnTo>
                    <a:pt x="165" y="95"/>
                  </a:lnTo>
                  <a:lnTo>
                    <a:pt x="36" y="153"/>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23" name="Google Shape;423;p66"/>
            <p:cNvSpPr/>
            <p:nvPr/>
          </p:nvSpPr>
          <p:spPr>
            <a:xfrm>
              <a:off x="4765366" y="3002561"/>
              <a:ext cx="112574" cy="157396"/>
            </a:xfrm>
            <a:custGeom>
              <a:avLst/>
              <a:gdLst/>
              <a:ahLst/>
              <a:cxnLst/>
              <a:rect l="l" t="t" r="r" b="b"/>
              <a:pathLst>
                <a:path w="420" h="580" extrusionOk="0">
                  <a:moveTo>
                    <a:pt x="384" y="516"/>
                  </a:moveTo>
                  <a:lnTo>
                    <a:pt x="405" y="430"/>
                  </a:lnTo>
                  <a:lnTo>
                    <a:pt x="360" y="315"/>
                  </a:lnTo>
                  <a:lnTo>
                    <a:pt x="420" y="135"/>
                  </a:lnTo>
                  <a:lnTo>
                    <a:pt x="385" y="60"/>
                  </a:lnTo>
                  <a:lnTo>
                    <a:pt x="265" y="0"/>
                  </a:lnTo>
                  <a:lnTo>
                    <a:pt x="144" y="70"/>
                  </a:lnTo>
                  <a:lnTo>
                    <a:pt x="30" y="104"/>
                  </a:lnTo>
                  <a:lnTo>
                    <a:pt x="54" y="248"/>
                  </a:lnTo>
                  <a:lnTo>
                    <a:pt x="0" y="356"/>
                  </a:lnTo>
                  <a:lnTo>
                    <a:pt x="14" y="511"/>
                  </a:lnTo>
                  <a:lnTo>
                    <a:pt x="99" y="580"/>
                  </a:lnTo>
                  <a:lnTo>
                    <a:pt x="235" y="570"/>
                  </a:lnTo>
                  <a:lnTo>
                    <a:pt x="384" y="516"/>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24" name="Google Shape;424;p66"/>
            <p:cNvSpPr/>
            <p:nvPr/>
          </p:nvSpPr>
          <p:spPr>
            <a:xfrm>
              <a:off x="2822122" y="4850612"/>
              <a:ext cx="84431" cy="142471"/>
            </a:xfrm>
            <a:custGeom>
              <a:avLst/>
              <a:gdLst/>
              <a:ahLst/>
              <a:cxnLst/>
              <a:rect l="l" t="t" r="r" b="b"/>
              <a:pathLst>
                <a:path w="315" h="525" extrusionOk="0">
                  <a:moveTo>
                    <a:pt x="244" y="525"/>
                  </a:moveTo>
                  <a:lnTo>
                    <a:pt x="124" y="430"/>
                  </a:lnTo>
                  <a:lnTo>
                    <a:pt x="109" y="295"/>
                  </a:lnTo>
                  <a:lnTo>
                    <a:pt x="44" y="205"/>
                  </a:lnTo>
                  <a:lnTo>
                    <a:pt x="0" y="24"/>
                  </a:lnTo>
                  <a:lnTo>
                    <a:pt x="93" y="0"/>
                  </a:lnTo>
                  <a:lnTo>
                    <a:pt x="149" y="70"/>
                  </a:lnTo>
                  <a:lnTo>
                    <a:pt x="260" y="72"/>
                  </a:lnTo>
                  <a:lnTo>
                    <a:pt x="315" y="274"/>
                  </a:lnTo>
                  <a:lnTo>
                    <a:pt x="303" y="406"/>
                  </a:lnTo>
                  <a:lnTo>
                    <a:pt x="244" y="525"/>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25" name="Google Shape;425;p66"/>
            <p:cNvSpPr/>
            <p:nvPr/>
          </p:nvSpPr>
          <p:spPr>
            <a:xfrm>
              <a:off x="5219684" y="3510029"/>
              <a:ext cx="144738" cy="237452"/>
            </a:xfrm>
            <a:custGeom>
              <a:avLst/>
              <a:gdLst/>
              <a:ahLst/>
              <a:cxnLst/>
              <a:rect l="l" t="t" r="r" b="b"/>
              <a:pathLst>
                <a:path w="540" h="876" extrusionOk="0">
                  <a:moveTo>
                    <a:pt x="505" y="404"/>
                  </a:moveTo>
                  <a:lnTo>
                    <a:pt x="355" y="449"/>
                  </a:lnTo>
                  <a:lnTo>
                    <a:pt x="360" y="530"/>
                  </a:lnTo>
                  <a:lnTo>
                    <a:pt x="315" y="675"/>
                  </a:lnTo>
                  <a:lnTo>
                    <a:pt x="330" y="785"/>
                  </a:lnTo>
                  <a:lnTo>
                    <a:pt x="246" y="876"/>
                  </a:lnTo>
                  <a:lnTo>
                    <a:pt x="166" y="796"/>
                  </a:lnTo>
                  <a:lnTo>
                    <a:pt x="150" y="700"/>
                  </a:lnTo>
                  <a:lnTo>
                    <a:pt x="94" y="812"/>
                  </a:lnTo>
                  <a:lnTo>
                    <a:pt x="50" y="685"/>
                  </a:lnTo>
                  <a:lnTo>
                    <a:pt x="0" y="454"/>
                  </a:lnTo>
                  <a:lnTo>
                    <a:pt x="50" y="229"/>
                  </a:lnTo>
                  <a:lnTo>
                    <a:pt x="190" y="179"/>
                  </a:lnTo>
                  <a:lnTo>
                    <a:pt x="313" y="149"/>
                  </a:lnTo>
                  <a:lnTo>
                    <a:pt x="385" y="19"/>
                  </a:lnTo>
                  <a:lnTo>
                    <a:pt x="453" y="0"/>
                  </a:lnTo>
                  <a:lnTo>
                    <a:pt x="540" y="184"/>
                  </a:lnTo>
                  <a:lnTo>
                    <a:pt x="505" y="404"/>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26" name="Google Shape;426;p66"/>
            <p:cNvSpPr/>
            <p:nvPr/>
          </p:nvSpPr>
          <p:spPr>
            <a:xfrm>
              <a:off x="5010618" y="3279362"/>
              <a:ext cx="384629" cy="166895"/>
            </a:xfrm>
            <a:custGeom>
              <a:avLst/>
              <a:gdLst/>
              <a:ahLst/>
              <a:cxnLst/>
              <a:rect l="l" t="t" r="r" b="b"/>
              <a:pathLst>
                <a:path w="1439" h="615" extrusionOk="0">
                  <a:moveTo>
                    <a:pt x="1238" y="584"/>
                  </a:moveTo>
                  <a:lnTo>
                    <a:pt x="912" y="506"/>
                  </a:lnTo>
                  <a:lnTo>
                    <a:pt x="692" y="511"/>
                  </a:lnTo>
                  <a:lnTo>
                    <a:pt x="455" y="509"/>
                  </a:lnTo>
                  <a:lnTo>
                    <a:pt x="374" y="557"/>
                  </a:lnTo>
                  <a:lnTo>
                    <a:pt x="42" y="521"/>
                  </a:lnTo>
                  <a:lnTo>
                    <a:pt x="0" y="435"/>
                  </a:lnTo>
                  <a:lnTo>
                    <a:pt x="131" y="330"/>
                  </a:lnTo>
                  <a:lnTo>
                    <a:pt x="86" y="236"/>
                  </a:lnTo>
                  <a:lnTo>
                    <a:pt x="237" y="105"/>
                  </a:lnTo>
                  <a:lnTo>
                    <a:pt x="467" y="147"/>
                  </a:lnTo>
                  <a:lnTo>
                    <a:pt x="833" y="177"/>
                  </a:lnTo>
                  <a:lnTo>
                    <a:pt x="867" y="84"/>
                  </a:lnTo>
                  <a:lnTo>
                    <a:pt x="1007" y="0"/>
                  </a:lnTo>
                  <a:lnTo>
                    <a:pt x="1122" y="11"/>
                  </a:lnTo>
                  <a:lnTo>
                    <a:pt x="1152" y="176"/>
                  </a:lnTo>
                  <a:lnTo>
                    <a:pt x="1289" y="177"/>
                  </a:lnTo>
                  <a:lnTo>
                    <a:pt x="1391" y="236"/>
                  </a:lnTo>
                  <a:lnTo>
                    <a:pt x="1439" y="417"/>
                  </a:lnTo>
                  <a:lnTo>
                    <a:pt x="1349" y="504"/>
                  </a:lnTo>
                  <a:lnTo>
                    <a:pt x="1332" y="615"/>
                  </a:lnTo>
                  <a:lnTo>
                    <a:pt x="1238" y="584"/>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nvGrpSpPr>
            <p:cNvPr id="427" name="Google Shape;427;p66"/>
            <p:cNvGrpSpPr/>
            <p:nvPr/>
          </p:nvGrpSpPr>
          <p:grpSpPr>
            <a:xfrm>
              <a:off x="5519882" y="5111130"/>
              <a:ext cx="281435" cy="1014935"/>
              <a:chOff x="6162863" y="5354263"/>
              <a:chExt cx="333375" cy="1187450"/>
            </a:xfrm>
          </p:grpSpPr>
          <p:sp>
            <p:nvSpPr>
              <p:cNvPr id="428" name="Google Shape;428;p66"/>
              <p:cNvSpPr/>
              <p:nvPr/>
            </p:nvSpPr>
            <p:spPr>
              <a:xfrm>
                <a:off x="6180325" y="5354263"/>
                <a:ext cx="71438" cy="403225"/>
              </a:xfrm>
              <a:custGeom>
                <a:avLst/>
                <a:gdLst/>
                <a:ahLst/>
                <a:cxnLst/>
                <a:rect l="l" t="t" r="r" b="b"/>
                <a:pathLst>
                  <a:path w="224" h="1271" extrusionOk="0">
                    <a:moveTo>
                      <a:pt x="215" y="0"/>
                    </a:moveTo>
                    <a:lnTo>
                      <a:pt x="140" y="0"/>
                    </a:lnTo>
                    <a:lnTo>
                      <a:pt x="110" y="235"/>
                    </a:lnTo>
                    <a:lnTo>
                      <a:pt x="104" y="338"/>
                    </a:lnTo>
                    <a:lnTo>
                      <a:pt x="80" y="400"/>
                    </a:lnTo>
                    <a:lnTo>
                      <a:pt x="90" y="475"/>
                    </a:lnTo>
                    <a:lnTo>
                      <a:pt x="60" y="600"/>
                    </a:lnTo>
                    <a:lnTo>
                      <a:pt x="95" y="721"/>
                    </a:lnTo>
                    <a:lnTo>
                      <a:pt x="35" y="916"/>
                    </a:lnTo>
                    <a:lnTo>
                      <a:pt x="0" y="1001"/>
                    </a:lnTo>
                    <a:lnTo>
                      <a:pt x="75" y="1106"/>
                    </a:lnTo>
                    <a:lnTo>
                      <a:pt x="35" y="1231"/>
                    </a:lnTo>
                    <a:lnTo>
                      <a:pt x="105" y="1271"/>
                    </a:lnTo>
                    <a:lnTo>
                      <a:pt x="105" y="1166"/>
                    </a:lnTo>
                    <a:lnTo>
                      <a:pt x="155" y="1096"/>
                    </a:lnTo>
                    <a:lnTo>
                      <a:pt x="164" y="1022"/>
                    </a:lnTo>
                    <a:lnTo>
                      <a:pt x="140" y="926"/>
                    </a:lnTo>
                    <a:lnTo>
                      <a:pt x="155" y="761"/>
                    </a:lnTo>
                    <a:lnTo>
                      <a:pt x="158" y="632"/>
                    </a:lnTo>
                    <a:lnTo>
                      <a:pt x="200" y="560"/>
                    </a:lnTo>
                    <a:lnTo>
                      <a:pt x="182" y="446"/>
                    </a:lnTo>
                    <a:lnTo>
                      <a:pt x="176" y="356"/>
                    </a:lnTo>
                    <a:lnTo>
                      <a:pt x="224" y="266"/>
                    </a:lnTo>
                    <a:lnTo>
                      <a:pt x="206" y="158"/>
                    </a:lnTo>
                    <a:lnTo>
                      <a:pt x="215" y="0"/>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29" name="Google Shape;429;p66"/>
              <p:cNvSpPr/>
              <p:nvPr/>
            </p:nvSpPr>
            <p:spPr>
              <a:xfrm>
                <a:off x="6162863" y="5836863"/>
                <a:ext cx="44450" cy="60325"/>
              </a:xfrm>
              <a:custGeom>
                <a:avLst/>
                <a:gdLst/>
                <a:ahLst/>
                <a:cxnLst/>
                <a:rect l="l" t="t" r="r" b="b"/>
                <a:pathLst>
                  <a:path w="138" h="192" extrusionOk="0">
                    <a:moveTo>
                      <a:pt x="49" y="192"/>
                    </a:moveTo>
                    <a:lnTo>
                      <a:pt x="0" y="132"/>
                    </a:lnTo>
                    <a:lnTo>
                      <a:pt x="19" y="42"/>
                    </a:lnTo>
                    <a:lnTo>
                      <a:pt x="78" y="0"/>
                    </a:lnTo>
                    <a:lnTo>
                      <a:pt x="138" y="54"/>
                    </a:lnTo>
                    <a:lnTo>
                      <a:pt x="114" y="156"/>
                    </a:lnTo>
                    <a:lnTo>
                      <a:pt x="49" y="19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0" name="Google Shape;430;p66"/>
              <p:cNvSpPr/>
              <p:nvPr/>
            </p:nvSpPr>
            <p:spPr>
              <a:xfrm>
                <a:off x="6445438" y="6462338"/>
                <a:ext cx="50800" cy="79375"/>
              </a:xfrm>
              <a:custGeom>
                <a:avLst/>
                <a:gdLst/>
                <a:ahLst/>
                <a:cxnLst/>
                <a:rect l="l" t="t" r="r" b="b"/>
                <a:pathLst>
                  <a:path w="162" h="252" extrusionOk="0">
                    <a:moveTo>
                      <a:pt x="49" y="192"/>
                    </a:moveTo>
                    <a:lnTo>
                      <a:pt x="0" y="132"/>
                    </a:lnTo>
                    <a:lnTo>
                      <a:pt x="19" y="42"/>
                    </a:lnTo>
                    <a:lnTo>
                      <a:pt x="78" y="0"/>
                    </a:lnTo>
                    <a:lnTo>
                      <a:pt x="138" y="54"/>
                    </a:lnTo>
                    <a:lnTo>
                      <a:pt x="162" y="120"/>
                    </a:lnTo>
                    <a:lnTo>
                      <a:pt x="150" y="198"/>
                    </a:lnTo>
                    <a:lnTo>
                      <a:pt x="126" y="252"/>
                    </a:lnTo>
                    <a:lnTo>
                      <a:pt x="72" y="252"/>
                    </a:lnTo>
                    <a:lnTo>
                      <a:pt x="49" y="19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1" name="Google Shape;431;p66"/>
              <p:cNvSpPr/>
              <p:nvPr/>
            </p:nvSpPr>
            <p:spPr>
              <a:xfrm>
                <a:off x="6286688" y="6278188"/>
                <a:ext cx="34925" cy="46038"/>
              </a:xfrm>
              <a:custGeom>
                <a:avLst/>
                <a:gdLst/>
                <a:ahLst/>
                <a:cxnLst/>
                <a:rect l="l" t="t" r="r" b="b"/>
                <a:pathLst>
                  <a:path w="108" h="144" extrusionOk="0">
                    <a:moveTo>
                      <a:pt x="67" y="144"/>
                    </a:moveTo>
                    <a:lnTo>
                      <a:pt x="18" y="84"/>
                    </a:lnTo>
                    <a:lnTo>
                      <a:pt x="0" y="0"/>
                    </a:lnTo>
                    <a:lnTo>
                      <a:pt x="48" y="6"/>
                    </a:lnTo>
                    <a:lnTo>
                      <a:pt x="84" y="54"/>
                    </a:lnTo>
                    <a:lnTo>
                      <a:pt x="108" y="108"/>
                    </a:lnTo>
                    <a:lnTo>
                      <a:pt x="67" y="144"/>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2" name="Google Shape;432;p66"/>
              <p:cNvSpPr/>
              <p:nvPr/>
            </p:nvSpPr>
            <p:spPr>
              <a:xfrm>
                <a:off x="6345425" y="6322638"/>
                <a:ext cx="53975" cy="52388"/>
              </a:xfrm>
              <a:custGeom>
                <a:avLst/>
                <a:gdLst/>
                <a:ahLst/>
                <a:cxnLst/>
                <a:rect l="l" t="t" r="r" b="b"/>
                <a:pathLst>
                  <a:path w="170" h="166" extrusionOk="0">
                    <a:moveTo>
                      <a:pt x="124" y="166"/>
                    </a:moveTo>
                    <a:lnTo>
                      <a:pt x="62" y="161"/>
                    </a:lnTo>
                    <a:lnTo>
                      <a:pt x="0" y="151"/>
                    </a:lnTo>
                    <a:lnTo>
                      <a:pt x="4" y="108"/>
                    </a:lnTo>
                    <a:lnTo>
                      <a:pt x="67" y="118"/>
                    </a:lnTo>
                    <a:lnTo>
                      <a:pt x="104" y="84"/>
                    </a:lnTo>
                    <a:lnTo>
                      <a:pt x="86" y="0"/>
                    </a:lnTo>
                    <a:lnTo>
                      <a:pt x="134" y="6"/>
                    </a:lnTo>
                    <a:lnTo>
                      <a:pt x="170" y="54"/>
                    </a:lnTo>
                    <a:lnTo>
                      <a:pt x="168" y="118"/>
                    </a:lnTo>
                    <a:lnTo>
                      <a:pt x="124" y="166"/>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3" name="Google Shape;433;p66"/>
              <p:cNvSpPr/>
              <p:nvPr/>
            </p:nvSpPr>
            <p:spPr>
              <a:xfrm>
                <a:off x="6220013" y="6138488"/>
                <a:ext cx="31750" cy="36513"/>
              </a:xfrm>
              <a:custGeom>
                <a:avLst/>
                <a:gdLst/>
                <a:ahLst/>
                <a:cxnLst/>
                <a:rect l="l" t="t" r="r" b="b"/>
                <a:pathLst>
                  <a:path w="97" h="116" extrusionOk="0">
                    <a:moveTo>
                      <a:pt x="19" y="116"/>
                    </a:moveTo>
                    <a:lnTo>
                      <a:pt x="0" y="68"/>
                    </a:lnTo>
                    <a:lnTo>
                      <a:pt x="13" y="0"/>
                    </a:lnTo>
                    <a:lnTo>
                      <a:pt x="61" y="6"/>
                    </a:lnTo>
                    <a:lnTo>
                      <a:pt x="97" y="54"/>
                    </a:lnTo>
                    <a:lnTo>
                      <a:pt x="77" y="101"/>
                    </a:lnTo>
                    <a:lnTo>
                      <a:pt x="19" y="116"/>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4" name="Google Shape;434;p66"/>
              <p:cNvSpPr/>
              <p:nvPr/>
            </p:nvSpPr>
            <p:spPr>
              <a:xfrm>
                <a:off x="6426388" y="6425825"/>
                <a:ext cx="31750" cy="22225"/>
              </a:xfrm>
              <a:custGeom>
                <a:avLst/>
                <a:gdLst/>
                <a:ahLst/>
                <a:cxnLst/>
                <a:rect l="l" t="t" r="r" b="b"/>
                <a:pathLst>
                  <a:path w="101" h="71" extrusionOk="0">
                    <a:moveTo>
                      <a:pt x="61" y="71"/>
                    </a:moveTo>
                    <a:lnTo>
                      <a:pt x="0" y="62"/>
                    </a:lnTo>
                    <a:lnTo>
                      <a:pt x="12" y="11"/>
                    </a:lnTo>
                    <a:lnTo>
                      <a:pt x="48" y="0"/>
                    </a:lnTo>
                    <a:lnTo>
                      <a:pt x="101" y="0"/>
                    </a:lnTo>
                    <a:lnTo>
                      <a:pt x="101" y="58"/>
                    </a:lnTo>
                    <a:lnTo>
                      <a:pt x="61" y="71"/>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sp>
          <p:nvSpPr>
            <p:cNvPr id="435" name="Google Shape;435;p66"/>
            <p:cNvSpPr/>
            <p:nvPr/>
          </p:nvSpPr>
          <p:spPr>
            <a:xfrm>
              <a:off x="3324685" y="2930647"/>
              <a:ext cx="52267" cy="61059"/>
            </a:xfrm>
            <a:custGeom>
              <a:avLst/>
              <a:gdLst/>
              <a:ahLst/>
              <a:cxnLst/>
              <a:rect l="l" t="t" r="r" b="b"/>
              <a:pathLst>
                <a:path w="192" h="225" extrusionOk="0">
                  <a:moveTo>
                    <a:pt x="111" y="0"/>
                  </a:moveTo>
                  <a:lnTo>
                    <a:pt x="40" y="31"/>
                  </a:lnTo>
                  <a:lnTo>
                    <a:pt x="49" y="111"/>
                  </a:lnTo>
                  <a:lnTo>
                    <a:pt x="0" y="146"/>
                  </a:lnTo>
                  <a:lnTo>
                    <a:pt x="36" y="175"/>
                  </a:lnTo>
                  <a:lnTo>
                    <a:pt x="93" y="153"/>
                  </a:lnTo>
                  <a:lnTo>
                    <a:pt x="136" y="225"/>
                  </a:lnTo>
                  <a:lnTo>
                    <a:pt x="162" y="201"/>
                  </a:lnTo>
                  <a:lnTo>
                    <a:pt x="192" y="180"/>
                  </a:lnTo>
                  <a:lnTo>
                    <a:pt x="180" y="99"/>
                  </a:lnTo>
                  <a:lnTo>
                    <a:pt x="156" y="45"/>
                  </a:lnTo>
                  <a:lnTo>
                    <a:pt x="111" y="0"/>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6" name="Google Shape;436;p66"/>
            <p:cNvSpPr/>
            <p:nvPr/>
          </p:nvSpPr>
          <p:spPr>
            <a:xfrm>
              <a:off x="3662408" y="5567037"/>
              <a:ext cx="33505" cy="32565"/>
            </a:xfrm>
            <a:custGeom>
              <a:avLst/>
              <a:gdLst/>
              <a:ahLst/>
              <a:cxnLst/>
              <a:rect l="l" t="t" r="r" b="b"/>
              <a:pathLst>
                <a:path w="125" h="120" extrusionOk="0">
                  <a:moveTo>
                    <a:pt x="111" y="0"/>
                  </a:moveTo>
                  <a:lnTo>
                    <a:pt x="27" y="3"/>
                  </a:lnTo>
                  <a:lnTo>
                    <a:pt x="0" y="48"/>
                  </a:lnTo>
                  <a:lnTo>
                    <a:pt x="32" y="76"/>
                  </a:lnTo>
                  <a:lnTo>
                    <a:pt x="59" y="91"/>
                  </a:lnTo>
                  <a:lnTo>
                    <a:pt x="125" y="120"/>
                  </a:lnTo>
                  <a:lnTo>
                    <a:pt x="116" y="57"/>
                  </a:lnTo>
                  <a:lnTo>
                    <a:pt x="111" y="0"/>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7" name="Google Shape;437;p66"/>
            <p:cNvSpPr/>
            <p:nvPr/>
          </p:nvSpPr>
          <p:spPr>
            <a:xfrm>
              <a:off x="3651687" y="5415068"/>
              <a:ext cx="33505" cy="42063"/>
            </a:xfrm>
            <a:custGeom>
              <a:avLst/>
              <a:gdLst/>
              <a:ahLst/>
              <a:cxnLst/>
              <a:rect l="l" t="t" r="r" b="b"/>
              <a:pathLst>
                <a:path w="126" h="152" extrusionOk="0">
                  <a:moveTo>
                    <a:pt x="126" y="50"/>
                  </a:moveTo>
                  <a:lnTo>
                    <a:pt x="80" y="15"/>
                  </a:lnTo>
                  <a:lnTo>
                    <a:pt x="33" y="0"/>
                  </a:lnTo>
                  <a:lnTo>
                    <a:pt x="21" y="42"/>
                  </a:lnTo>
                  <a:lnTo>
                    <a:pt x="0" y="80"/>
                  </a:lnTo>
                  <a:lnTo>
                    <a:pt x="12" y="125"/>
                  </a:lnTo>
                  <a:lnTo>
                    <a:pt x="48" y="152"/>
                  </a:lnTo>
                  <a:lnTo>
                    <a:pt x="86" y="152"/>
                  </a:lnTo>
                  <a:lnTo>
                    <a:pt x="114" y="126"/>
                  </a:lnTo>
                  <a:lnTo>
                    <a:pt x="122" y="87"/>
                  </a:lnTo>
                  <a:lnTo>
                    <a:pt x="126" y="50"/>
                  </a:lnTo>
                  <a:close/>
                </a:path>
              </a:pathLst>
            </a:custGeom>
            <a:solidFill>
              <a:srgbClr val="F4B081"/>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8" name="Google Shape;438;p66"/>
            <p:cNvSpPr/>
            <p:nvPr/>
          </p:nvSpPr>
          <p:spPr>
            <a:xfrm>
              <a:off x="4021573" y="4712211"/>
              <a:ext cx="24123" cy="21710"/>
            </a:xfrm>
            <a:custGeom>
              <a:avLst/>
              <a:gdLst/>
              <a:ahLst/>
              <a:cxnLst/>
              <a:rect l="l" t="t" r="r" b="b"/>
              <a:pathLst>
                <a:path w="92" h="80" extrusionOk="0">
                  <a:moveTo>
                    <a:pt x="0" y="29"/>
                  </a:moveTo>
                  <a:lnTo>
                    <a:pt x="45" y="80"/>
                  </a:lnTo>
                  <a:lnTo>
                    <a:pt x="92" y="35"/>
                  </a:lnTo>
                  <a:lnTo>
                    <a:pt x="35" y="0"/>
                  </a:lnTo>
                  <a:lnTo>
                    <a:pt x="0" y="29"/>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39" name="Google Shape;439;p66"/>
            <p:cNvSpPr/>
            <p:nvPr/>
          </p:nvSpPr>
          <p:spPr>
            <a:xfrm>
              <a:off x="3052631" y="5443561"/>
              <a:ext cx="17423" cy="17640"/>
            </a:xfrm>
            <a:custGeom>
              <a:avLst/>
              <a:gdLst/>
              <a:ahLst/>
              <a:cxnLst/>
              <a:rect l="l" t="t" r="r" b="b"/>
              <a:pathLst>
                <a:path w="65" h="66" extrusionOk="0">
                  <a:moveTo>
                    <a:pt x="0" y="15"/>
                  </a:moveTo>
                  <a:lnTo>
                    <a:pt x="29" y="66"/>
                  </a:lnTo>
                  <a:lnTo>
                    <a:pt x="65" y="56"/>
                  </a:lnTo>
                  <a:lnTo>
                    <a:pt x="60" y="9"/>
                  </a:lnTo>
                  <a:lnTo>
                    <a:pt x="26" y="0"/>
                  </a:lnTo>
                  <a:lnTo>
                    <a:pt x="0" y="15"/>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nvGrpSpPr>
            <p:cNvPr id="440" name="Google Shape;440;p66"/>
            <p:cNvGrpSpPr/>
            <p:nvPr/>
          </p:nvGrpSpPr>
          <p:grpSpPr>
            <a:xfrm>
              <a:off x="2479052" y="5318730"/>
              <a:ext cx="298864" cy="636370"/>
              <a:chOff x="507" y="3356"/>
              <a:chExt cx="223" cy="469"/>
            </a:xfrm>
          </p:grpSpPr>
          <p:sp>
            <p:nvSpPr>
              <p:cNvPr id="441" name="Google Shape;441;p66"/>
              <p:cNvSpPr/>
              <p:nvPr/>
            </p:nvSpPr>
            <p:spPr>
              <a:xfrm>
                <a:off x="563" y="3436"/>
                <a:ext cx="13" cy="20"/>
              </a:xfrm>
              <a:custGeom>
                <a:avLst/>
                <a:gdLst/>
                <a:ahLst/>
                <a:cxnLst/>
                <a:rect l="l" t="t" r="r" b="b"/>
                <a:pathLst>
                  <a:path w="68" h="102" extrusionOk="0">
                    <a:moveTo>
                      <a:pt x="24" y="102"/>
                    </a:moveTo>
                    <a:lnTo>
                      <a:pt x="0" y="73"/>
                    </a:lnTo>
                    <a:lnTo>
                      <a:pt x="9" y="29"/>
                    </a:lnTo>
                    <a:lnTo>
                      <a:pt x="26" y="1"/>
                    </a:lnTo>
                    <a:lnTo>
                      <a:pt x="50" y="0"/>
                    </a:lnTo>
                    <a:lnTo>
                      <a:pt x="68" y="34"/>
                    </a:lnTo>
                    <a:lnTo>
                      <a:pt x="56" y="84"/>
                    </a:lnTo>
                    <a:lnTo>
                      <a:pt x="24" y="10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42" name="Google Shape;442;p66"/>
              <p:cNvSpPr/>
              <p:nvPr/>
            </p:nvSpPr>
            <p:spPr>
              <a:xfrm>
                <a:off x="625" y="3480"/>
                <a:ext cx="15" cy="16"/>
              </a:xfrm>
              <a:custGeom>
                <a:avLst/>
                <a:gdLst/>
                <a:ahLst/>
                <a:cxnLst/>
                <a:rect l="l" t="t" r="r" b="b"/>
                <a:pathLst>
                  <a:path w="74" h="82" extrusionOk="0">
                    <a:moveTo>
                      <a:pt x="24" y="82"/>
                    </a:moveTo>
                    <a:lnTo>
                      <a:pt x="3" y="74"/>
                    </a:lnTo>
                    <a:lnTo>
                      <a:pt x="0" y="53"/>
                    </a:lnTo>
                    <a:lnTo>
                      <a:pt x="9" y="9"/>
                    </a:lnTo>
                    <a:lnTo>
                      <a:pt x="32" y="0"/>
                    </a:lnTo>
                    <a:lnTo>
                      <a:pt x="50" y="0"/>
                    </a:lnTo>
                    <a:lnTo>
                      <a:pt x="68" y="14"/>
                    </a:lnTo>
                    <a:lnTo>
                      <a:pt x="74" y="45"/>
                    </a:lnTo>
                    <a:lnTo>
                      <a:pt x="59" y="78"/>
                    </a:lnTo>
                    <a:lnTo>
                      <a:pt x="24" y="8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43" name="Google Shape;443;p66"/>
              <p:cNvSpPr/>
              <p:nvPr/>
            </p:nvSpPr>
            <p:spPr>
              <a:xfrm>
                <a:off x="532" y="3356"/>
                <a:ext cx="18" cy="21"/>
              </a:xfrm>
              <a:custGeom>
                <a:avLst/>
                <a:gdLst/>
                <a:ahLst/>
                <a:cxnLst/>
                <a:rect l="l" t="t" r="r" b="b"/>
                <a:pathLst>
                  <a:path w="91" h="106" extrusionOk="0">
                    <a:moveTo>
                      <a:pt x="24" y="102"/>
                    </a:moveTo>
                    <a:lnTo>
                      <a:pt x="0" y="73"/>
                    </a:lnTo>
                    <a:lnTo>
                      <a:pt x="9" y="29"/>
                    </a:lnTo>
                    <a:lnTo>
                      <a:pt x="26" y="1"/>
                    </a:lnTo>
                    <a:lnTo>
                      <a:pt x="50" y="0"/>
                    </a:lnTo>
                    <a:lnTo>
                      <a:pt x="87" y="25"/>
                    </a:lnTo>
                    <a:lnTo>
                      <a:pt x="91" y="59"/>
                    </a:lnTo>
                    <a:lnTo>
                      <a:pt x="84" y="82"/>
                    </a:lnTo>
                    <a:lnTo>
                      <a:pt x="55" y="106"/>
                    </a:lnTo>
                    <a:lnTo>
                      <a:pt x="24" y="10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44" name="Google Shape;444;p66"/>
              <p:cNvSpPr/>
              <p:nvPr/>
            </p:nvSpPr>
            <p:spPr>
              <a:xfrm>
                <a:off x="553" y="3482"/>
                <a:ext cx="11" cy="16"/>
              </a:xfrm>
              <a:custGeom>
                <a:avLst/>
                <a:gdLst/>
                <a:ahLst/>
                <a:cxnLst/>
                <a:rect l="l" t="t" r="r" b="b"/>
                <a:pathLst>
                  <a:path w="56" h="78" extrusionOk="0">
                    <a:moveTo>
                      <a:pt x="24" y="76"/>
                    </a:moveTo>
                    <a:lnTo>
                      <a:pt x="4" y="68"/>
                    </a:lnTo>
                    <a:lnTo>
                      <a:pt x="0" y="47"/>
                    </a:lnTo>
                    <a:lnTo>
                      <a:pt x="7" y="9"/>
                    </a:lnTo>
                    <a:lnTo>
                      <a:pt x="31" y="0"/>
                    </a:lnTo>
                    <a:lnTo>
                      <a:pt x="45" y="11"/>
                    </a:lnTo>
                    <a:lnTo>
                      <a:pt x="55" y="26"/>
                    </a:lnTo>
                    <a:lnTo>
                      <a:pt x="56" y="58"/>
                    </a:lnTo>
                    <a:lnTo>
                      <a:pt x="46" y="78"/>
                    </a:lnTo>
                    <a:lnTo>
                      <a:pt x="24" y="76"/>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45" name="Google Shape;445;p66"/>
              <p:cNvSpPr/>
              <p:nvPr/>
            </p:nvSpPr>
            <p:spPr>
              <a:xfrm>
                <a:off x="561" y="3521"/>
                <a:ext cx="12" cy="17"/>
              </a:xfrm>
              <a:custGeom>
                <a:avLst/>
                <a:gdLst/>
                <a:ahLst/>
                <a:cxnLst/>
                <a:rect l="l" t="t" r="r" b="b"/>
                <a:pathLst>
                  <a:path w="60" h="85" extrusionOk="0">
                    <a:moveTo>
                      <a:pt x="22" y="85"/>
                    </a:moveTo>
                    <a:lnTo>
                      <a:pt x="1" y="74"/>
                    </a:lnTo>
                    <a:lnTo>
                      <a:pt x="0" y="47"/>
                    </a:lnTo>
                    <a:lnTo>
                      <a:pt x="3" y="19"/>
                    </a:lnTo>
                    <a:lnTo>
                      <a:pt x="31" y="0"/>
                    </a:lnTo>
                    <a:lnTo>
                      <a:pt x="52" y="18"/>
                    </a:lnTo>
                    <a:lnTo>
                      <a:pt x="60" y="42"/>
                    </a:lnTo>
                    <a:lnTo>
                      <a:pt x="58" y="67"/>
                    </a:lnTo>
                    <a:lnTo>
                      <a:pt x="46" y="78"/>
                    </a:lnTo>
                    <a:lnTo>
                      <a:pt x="22" y="85"/>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46" name="Google Shape;446;p66"/>
              <p:cNvSpPr/>
              <p:nvPr/>
            </p:nvSpPr>
            <p:spPr>
              <a:xfrm>
                <a:off x="660" y="3454"/>
                <a:ext cx="12" cy="15"/>
              </a:xfrm>
              <a:custGeom>
                <a:avLst/>
                <a:gdLst/>
                <a:ahLst/>
                <a:cxnLst/>
                <a:rect l="l" t="t" r="r" b="b"/>
                <a:pathLst>
                  <a:path w="60" h="72" extrusionOk="0">
                    <a:moveTo>
                      <a:pt x="27" y="72"/>
                    </a:moveTo>
                    <a:lnTo>
                      <a:pt x="7" y="62"/>
                    </a:lnTo>
                    <a:lnTo>
                      <a:pt x="0" y="38"/>
                    </a:lnTo>
                    <a:lnTo>
                      <a:pt x="3" y="10"/>
                    </a:lnTo>
                    <a:lnTo>
                      <a:pt x="33" y="0"/>
                    </a:lnTo>
                    <a:lnTo>
                      <a:pt x="52" y="9"/>
                    </a:lnTo>
                    <a:lnTo>
                      <a:pt x="60" y="33"/>
                    </a:lnTo>
                    <a:lnTo>
                      <a:pt x="58" y="58"/>
                    </a:lnTo>
                    <a:lnTo>
                      <a:pt x="46" y="69"/>
                    </a:lnTo>
                    <a:lnTo>
                      <a:pt x="27" y="7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47" name="Google Shape;447;p66"/>
              <p:cNvSpPr/>
              <p:nvPr/>
            </p:nvSpPr>
            <p:spPr>
              <a:xfrm>
                <a:off x="575" y="3509"/>
                <a:ext cx="11" cy="12"/>
              </a:xfrm>
              <a:custGeom>
                <a:avLst/>
                <a:gdLst/>
                <a:ahLst/>
                <a:cxnLst/>
                <a:rect l="l" t="t" r="r" b="b"/>
                <a:pathLst>
                  <a:path w="58" h="63" extrusionOk="0">
                    <a:moveTo>
                      <a:pt x="24" y="61"/>
                    </a:moveTo>
                    <a:lnTo>
                      <a:pt x="4" y="53"/>
                    </a:lnTo>
                    <a:lnTo>
                      <a:pt x="0" y="32"/>
                    </a:lnTo>
                    <a:lnTo>
                      <a:pt x="11" y="10"/>
                    </a:lnTo>
                    <a:lnTo>
                      <a:pt x="26" y="0"/>
                    </a:lnTo>
                    <a:lnTo>
                      <a:pt x="47" y="1"/>
                    </a:lnTo>
                    <a:lnTo>
                      <a:pt x="58" y="16"/>
                    </a:lnTo>
                    <a:lnTo>
                      <a:pt x="56" y="43"/>
                    </a:lnTo>
                    <a:lnTo>
                      <a:pt x="46" y="63"/>
                    </a:lnTo>
                    <a:lnTo>
                      <a:pt x="24" y="61"/>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48" name="Google Shape;448;p66"/>
              <p:cNvSpPr/>
              <p:nvPr/>
            </p:nvSpPr>
            <p:spPr>
              <a:xfrm>
                <a:off x="528" y="3412"/>
                <a:ext cx="12" cy="14"/>
              </a:xfrm>
              <a:custGeom>
                <a:avLst/>
                <a:gdLst/>
                <a:ahLst/>
                <a:cxnLst/>
                <a:rect l="l" t="t" r="r" b="b"/>
                <a:pathLst>
                  <a:path w="60" h="72" extrusionOk="0">
                    <a:moveTo>
                      <a:pt x="16" y="68"/>
                    </a:moveTo>
                    <a:lnTo>
                      <a:pt x="4" y="53"/>
                    </a:lnTo>
                    <a:lnTo>
                      <a:pt x="0" y="32"/>
                    </a:lnTo>
                    <a:lnTo>
                      <a:pt x="1" y="11"/>
                    </a:lnTo>
                    <a:lnTo>
                      <a:pt x="26" y="0"/>
                    </a:lnTo>
                    <a:lnTo>
                      <a:pt x="47" y="1"/>
                    </a:lnTo>
                    <a:lnTo>
                      <a:pt x="60" y="18"/>
                    </a:lnTo>
                    <a:lnTo>
                      <a:pt x="58" y="60"/>
                    </a:lnTo>
                    <a:lnTo>
                      <a:pt x="40" y="72"/>
                    </a:lnTo>
                    <a:lnTo>
                      <a:pt x="16" y="68"/>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49" name="Google Shape;449;p66"/>
              <p:cNvSpPr/>
              <p:nvPr/>
            </p:nvSpPr>
            <p:spPr>
              <a:xfrm>
                <a:off x="603" y="3524"/>
                <a:ext cx="11" cy="13"/>
              </a:xfrm>
              <a:custGeom>
                <a:avLst/>
                <a:gdLst/>
                <a:ahLst/>
                <a:cxnLst/>
                <a:rect l="l" t="t" r="r" b="b"/>
                <a:pathLst>
                  <a:path w="58" h="63" extrusionOk="0">
                    <a:moveTo>
                      <a:pt x="24" y="61"/>
                    </a:moveTo>
                    <a:lnTo>
                      <a:pt x="4" y="53"/>
                    </a:lnTo>
                    <a:lnTo>
                      <a:pt x="0" y="32"/>
                    </a:lnTo>
                    <a:lnTo>
                      <a:pt x="11" y="10"/>
                    </a:lnTo>
                    <a:lnTo>
                      <a:pt x="26" y="0"/>
                    </a:lnTo>
                    <a:lnTo>
                      <a:pt x="47" y="1"/>
                    </a:lnTo>
                    <a:lnTo>
                      <a:pt x="58" y="16"/>
                    </a:lnTo>
                    <a:lnTo>
                      <a:pt x="56" y="43"/>
                    </a:lnTo>
                    <a:lnTo>
                      <a:pt x="46" y="63"/>
                    </a:lnTo>
                    <a:lnTo>
                      <a:pt x="24" y="61"/>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0" name="Google Shape;450;p66"/>
              <p:cNvSpPr/>
              <p:nvPr/>
            </p:nvSpPr>
            <p:spPr>
              <a:xfrm>
                <a:off x="626" y="3429"/>
                <a:ext cx="12" cy="12"/>
              </a:xfrm>
              <a:custGeom>
                <a:avLst/>
                <a:gdLst/>
                <a:ahLst/>
                <a:cxnLst/>
                <a:rect l="l" t="t" r="r" b="b"/>
                <a:pathLst>
                  <a:path w="58" h="63" extrusionOk="0">
                    <a:moveTo>
                      <a:pt x="24" y="61"/>
                    </a:moveTo>
                    <a:lnTo>
                      <a:pt x="4" y="53"/>
                    </a:lnTo>
                    <a:lnTo>
                      <a:pt x="0" y="32"/>
                    </a:lnTo>
                    <a:lnTo>
                      <a:pt x="11" y="10"/>
                    </a:lnTo>
                    <a:lnTo>
                      <a:pt x="26" y="0"/>
                    </a:lnTo>
                    <a:lnTo>
                      <a:pt x="47" y="1"/>
                    </a:lnTo>
                    <a:lnTo>
                      <a:pt x="58" y="16"/>
                    </a:lnTo>
                    <a:lnTo>
                      <a:pt x="56" y="43"/>
                    </a:lnTo>
                    <a:lnTo>
                      <a:pt x="46" y="63"/>
                    </a:lnTo>
                    <a:lnTo>
                      <a:pt x="24" y="61"/>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1" name="Google Shape;451;p66"/>
              <p:cNvSpPr/>
              <p:nvPr/>
            </p:nvSpPr>
            <p:spPr>
              <a:xfrm>
                <a:off x="507" y="3440"/>
                <a:ext cx="11" cy="12"/>
              </a:xfrm>
              <a:custGeom>
                <a:avLst/>
                <a:gdLst/>
                <a:ahLst/>
                <a:cxnLst/>
                <a:rect l="l" t="t" r="r" b="b"/>
                <a:pathLst>
                  <a:path w="55" h="63" extrusionOk="0">
                    <a:moveTo>
                      <a:pt x="24" y="61"/>
                    </a:moveTo>
                    <a:lnTo>
                      <a:pt x="4" y="53"/>
                    </a:lnTo>
                    <a:lnTo>
                      <a:pt x="0" y="32"/>
                    </a:lnTo>
                    <a:lnTo>
                      <a:pt x="11" y="10"/>
                    </a:lnTo>
                    <a:lnTo>
                      <a:pt x="26" y="0"/>
                    </a:lnTo>
                    <a:lnTo>
                      <a:pt x="43" y="5"/>
                    </a:lnTo>
                    <a:lnTo>
                      <a:pt x="51" y="24"/>
                    </a:lnTo>
                    <a:lnTo>
                      <a:pt x="55" y="44"/>
                    </a:lnTo>
                    <a:lnTo>
                      <a:pt x="46" y="63"/>
                    </a:lnTo>
                    <a:lnTo>
                      <a:pt x="24" y="61"/>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2" name="Google Shape;452;p66"/>
              <p:cNvSpPr/>
              <p:nvPr/>
            </p:nvSpPr>
            <p:spPr>
              <a:xfrm>
                <a:off x="603" y="3564"/>
                <a:ext cx="15" cy="14"/>
              </a:xfrm>
              <a:custGeom>
                <a:avLst/>
                <a:gdLst/>
                <a:ahLst/>
                <a:cxnLst/>
                <a:rect l="l" t="t" r="r" b="b"/>
                <a:pathLst>
                  <a:path w="75" h="73" extrusionOk="0">
                    <a:moveTo>
                      <a:pt x="21" y="73"/>
                    </a:moveTo>
                    <a:lnTo>
                      <a:pt x="3" y="55"/>
                    </a:lnTo>
                    <a:lnTo>
                      <a:pt x="0" y="27"/>
                    </a:lnTo>
                    <a:lnTo>
                      <a:pt x="18" y="0"/>
                    </a:lnTo>
                    <a:lnTo>
                      <a:pt x="43" y="1"/>
                    </a:lnTo>
                    <a:lnTo>
                      <a:pt x="64" y="2"/>
                    </a:lnTo>
                    <a:lnTo>
                      <a:pt x="75" y="17"/>
                    </a:lnTo>
                    <a:lnTo>
                      <a:pt x="73" y="44"/>
                    </a:lnTo>
                    <a:lnTo>
                      <a:pt x="46" y="73"/>
                    </a:lnTo>
                    <a:lnTo>
                      <a:pt x="21" y="73"/>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3" name="Google Shape;453;p66"/>
              <p:cNvSpPr/>
              <p:nvPr/>
            </p:nvSpPr>
            <p:spPr>
              <a:xfrm>
                <a:off x="558" y="3603"/>
                <a:ext cx="13" cy="17"/>
              </a:xfrm>
              <a:custGeom>
                <a:avLst/>
                <a:gdLst/>
                <a:ahLst/>
                <a:cxnLst/>
                <a:rect l="l" t="t" r="r" b="b"/>
                <a:pathLst>
                  <a:path w="65" h="82" extrusionOk="0">
                    <a:moveTo>
                      <a:pt x="12" y="82"/>
                    </a:moveTo>
                    <a:lnTo>
                      <a:pt x="0" y="61"/>
                    </a:lnTo>
                    <a:lnTo>
                      <a:pt x="7" y="32"/>
                    </a:lnTo>
                    <a:lnTo>
                      <a:pt x="18" y="10"/>
                    </a:lnTo>
                    <a:lnTo>
                      <a:pt x="33" y="0"/>
                    </a:lnTo>
                    <a:lnTo>
                      <a:pt x="54" y="1"/>
                    </a:lnTo>
                    <a:lnTo>
                      <a:pt x="65" y="16"/>
                    </a:lnTo>
                    <a:lnTo>
                      <a:pt x="57" y="46"/>
                    </a:lnTo>
                    <a:lnTo>
                      <a:pt x="37" y="76"/>
                    </a:lnTo>
                    <a:lnTo>
                      <a:pt x="12" y="8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4" name="Google Shape;454;p66"/>
              <p:cNvSpPr/>
              <p:nvPr/>
            </p:nvSpPr>
            <p:spPr>
              <a:xfrm>
                <a:off x="638" y="3806"/>
                <a:ext cx="15" cy="19"/>
              </a:xfrm>
              <a:custGeom>
                <a:avLst/>
                <a:gdLst/>
                <a:ahLst/>
                <a:cxnLst/>
                <a:rect l="l" t="t" r="r" b="b"/>
                <a:pathLst>
                  <a:path w="73" h="93" extrusionOk="0">
                    <a:moveTo>
                      <a:pt x="22" y="90"/>
                    </a:moveTo>
                    <a:lnTo>
                      <a:pt x="0" y="72"/>
                    </a:lnTo>
                    <a:lnTo>
                      <a:pt x="1" y="39"/>
                    </a:lnTo>
                    <a:lnTo>
                      <a:pt x="12" y="14"/>
                    </a:lnTo>
                    <a:lnTo>
                      <a:pt x="30" y="0"/>
                    </a:lnTo>
                    <a:lnTo>
                      <a:pt x="54" y="0"/>
                    </a:lnTo>
                    <a:lnTo>
                      <a:pt x="67" y="18"/>
                    </a:lnTo>
                    <a:lnTo>
                      <a:pt x="73" y="42"/>
                    </a:lnTo>
                    <a:lnTo>
                      <a:pt x="70" y="77"/>
                    </a:lnTo>
                    <a:lnTo>
                      <a:pt x="51" y="93"/>
                    </a:lnTo>
                    <a:lnTo>
                      <a:pt x="22" y="90"/>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5" name="Google Shape;455;p66"/>
              <p:cNvSpPr/>
              <p:nvPr/>
            </p:nvSpPr>
            <p:spPr>
              <a:xfrm>
                <a:off x="718" y="3609"/>
                <a:ext cx="12" cy="13"/>
              </a:xfrm>
              <a:custGeom>
                <a:avLst/>
                <a:gdLst/>
                <a:ahLst/>
                <a:cxnLst/>
                <a:rect l="l" t="t" r="r" b="b"/>
                <a:pathLst>
                  <a:path w="58" h="63" extrusionOk="0">
                    <a:moveTo>
                      <a:pt x="24" y="61"/>
                    </a:moveTo>
                    <a:lnTo>
                      <a:pt x="4" y="53"/>
                    </a:lnTo>
                    <a:lnTo>
                      <a:pt x="0" y="32"/>
                    </a:lnTo>
                    <a:lnTo>
                      <a:pt x="11" y="10"/>
                    </a:lnTo>
                    <a:lnTo>
                      <a:pt x="26" y="0"/>
                    </a:lnTo>
                    <a:lnTo>
                      <a:pt x="47" y="1"/>
                    </a:lnTo>
                    <a:lnTo>
                      <a:pt x="58" y="16"/>
                    </a:lnTo>
                    <a:lnTo>
                      <a:pt x="56" y="43"/>
                    </a:lnTo>
                    <a:lnTo>
                      <a:pt x="46" y="63"/>
                    </a:lnTo>
                    <a:lnTo>
                      <a:pt x="24" y="61"/>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sp>
          <p:nvSpPr>
            <p:cNvPr id="456" name="Google Shape;456;p66"/>
            <p:cNvSpPr/>
            <p:nvPr/>
          </p:nvSpPr>
          <p:spPr>
            <a:xfrm>
              <a:off x="3287161" y="2596858"/>
              <a:ext cx="36185" cy="32565"/>
            </a:xfrm>
            <a:custGeom>
              <a:avLst/>
              <a:gdLst/>
              <a:ahLst/>
              <a:cxnLst/>
              <a:rect l="l" t="t" r="r" b="b"/>
              <a:pathLst>
                <a:path w="135" h="117" extrusionOk="0">
                  <a:moveTo>
                    <a:pt x="127" y="51"/>
                  </a:moveTo>
                  <a:lnTo>
                    <a:pt x="114" y="35"/>
                  </a:lnTo>
                  <a:lnTo>
                    <a:pt x="111" y="15"/>
                  </a:lnTo>
                  <a:lnTo>
                    <a:pt x="85" y="24"/>
                  </a:lnTo>
                  <a:lnTo>
                    <a:pt x="88" y="8"/>
                  </a:lnTo>
                  <a:lnTo>
                    <a:pt x="69" y="0"/>
                  </a:lnTo>
                  <a:lnTo>
                    <a:pt x="57" y="18"/>
                  </a:lnTo>
                  <a:lnTo>
                    <a:pt x="36" y="20"/>
                  </a:lnTo>
                  <a:lnTo>
                    <a:pt x="16" y="24"/>
                  </a:lnTo>
                  <a:lnTo>
                    <a:pt x="0" y="30"/>
                  </a:lnTo>
                  <a:lnTo>
                    <a:pt x="1" y="57"/>
                  </a:lnTo>
                  <a:lnTo>
                    <a:pt x="18" y="60"/>
                  </a:lnTo>
                  <a:lnTo>
                    <a:pt x="33" y="57"/>
                  </a:lnTo>
                  <a:lnTo>
                    <a:pt x="42" y="75"/>
                  </a:lnTo>
                  <a:lnTo>
                    <a:pt x="50" y="102"/>
                  </a:lnTo>
                  <a:lnTo>
                    <a:pt x="61" y="111"/>
                  </a:lnTo>
                  <a:lnTo>
                    <a:pt x="88" y="117"/>
                  </a:lnTo>
                  <a:lnTo>
                    <a:pt x="121" y="114"/>
                  </a:lnTo>
                  <a:lnTo>
                    <a:pt x="130" y="92"/>
                  </a:lnTo>
                  <a:lnTo>
                    <a:pt x="135" y="74"/>
                  </a:lnTo>
                  <a:lnTo>
                    <a:pt x="127" y="51"/>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nvGrpSpPr>
            <p:cNvPr id="457" name="Google Shape;457;p66"/>
            <p:cNvGrpSpPr/>
            <p:nvPr/>
          </p:nvGrpSpPr>
          <p:grpSpPr>
            <a:xfrm>
              <a:off x="2743052" y="4158610"/>
              <a:ext cx="45566" cy="48847"/>
              <a:chOff x="7728" y="10782"/>
              <a:chExt cx="2776" cy="2978"/>
            </a:xfrm>
          </p:grpSpPr>
          <p:sp>
            <p:nvSpPr>
              <p:cNvPr id="458" name="Google Shape;458;p66"/>
              <p:cNvSpPr/>
              <p:nvPr/>
            </p:nvSpPr>
            <p:spPr>
              <a:xfrm>
                <a:off x="7728" y="10800"/>
                <a:ext cx="2776" cy="2960"/>
              </a:xfrm>
              <a:custGeom>
                <a:avLst/>
                <a:gdLst/>
                <a:ahLst/>
                <a:cxnLst/>
                <a:rect l="l" t="t" r="r" b="b"/>
                <a:pathLst>
                  <a:path w="2776" h="2960" extrusionOk="0">
                    <a:moveTo>
                      <a:pt x="0" y="832"/>
                    </a:moveTo>
                    <a:lnTo>
                      <a:pt x="72" y="992"/>
                    </a:lnTo>
                    <a:lnTo>
                      <a:pt x="184" y="1088"/>
                    </a:lnTo>
                    <a:lnTo>
                      <a:pt x="336" y="1144"/>
                    </a:lnTo>
                    <a:lnTo>
                      <a:pt x="424" y="1256"/>
                    </a:lnTo>
                    <a:lnTo>
                      <a:pt x="432" y="1360"/>
                    </a:lnTo>
                    <a:lnTo>
                      <a:pt x="464" y="1464"/>
                    </a:lnTo>
                    <a:lnTo>
                      <a:pt x="544" y="1568"/>
                    </a:lnTo>
                    <a:lnTo>
                      <a:pt x="584" y="1816"/>
                    </a:lnTo>
                    <a:lnTo>
                      <a:pt x="520" y="2000"/>
                    </a:lnTo>
                    <a:lnTo>
                      <a:pt x="408" y="2184"/>
                    </a:lnTo>
                    <a:lnTo>
                      <a:pt x="520" y="2288"/>
                    </a:lnTo>
                    <a:lnTo>
                      <a:pt x="560" y="2368"/>
                    </a:lnTo>
                    <a:lnTo>
                      <a:pt x="696" y="2328"/>
                    </a:lnTo>
                    <a:lnTo>
                      <a:pt x="800" y="2312"/>
                    </a:lnTo>
                    <a:lnTo>
                      <a:pt x="808" y="2448"/>
                    </a:lnTo>
                    <a:lnTo>
                      <a:pt x="912" y="2496"/>
                    </a:lnTo>
                    <a:lnTo>
                      <a:pt x="968" y="2640"/>
                    </a:lnTo>
                    <a:lnTo>
                      <a:pt x="1072" y="2776"/>
                    </a:lnTo>
                    <a:lnTo>
                      <a:pt x="1184" y="2808"/>
                    </a:lnTo>
                    <a:lnTo>
                      <a:pt x="1192" y="2656"/>
                    </a:lnTo>
                    <a:lnTo>
                      <a:pt x="1216" y="2504"/>
                    </a:lnTo>
                    <a:lnTo>
                      <a:pt x="1392" y="2544"/>
                    </a:lnTo>
                    <a:lnTo>
                      <a:pt x="1544" y="2576"/>
                    </a:lnTo>
                    <a:lnTo>
                      <a:pt x="1704" y="2648"/>
                    </a:lnTo>
                    <a:lnTo>
                      <a:pt x="1776" y="2728"/>
                    </a:lnTo>
                    <a:lnTo>
                      <a:pt x="1960" y="2712"/>
                    </a:lnTo>
                    <a:lnTo>
                      <a:pt x="2200" y="2824"/>
                    </a:lnTo>
                    <a:lnTo>
                      <a:pt x="2392" y="2960"/>
                    </a:lnTo>
                    <a:lnTo>
                      <a:pt x="2504" y="2904"/>
                    </a:lnTo>
                    <a:lnTo>
                      <a:pt x="2504" y="2776"/>
                    </a:lnTo>
                    <a:lnTo>
                      <a:pt x="2608" y="2680"/>
                    </a:lnTo>
                    <a:lnTo>
                      <a:pt x="2712" y="2560"/>
                    </a:lnTo>
                    <a:lnTo>
                      <a:pt x="2728" y="2368"/>
                    </a:lnTo>
                    <a:lnTo>
                      <a:pt x="2768" y="2256"/>
                    </a:lnTo>
                    <a:lnTo>
                      <a:pt x="2776" y="2104"/>
                    </a:lnTo>
                    <a:lnTo>
                      <a:pt x="2664" y="2040"/>
                    </a:lnTo>
                    <a:lnTo>
                      <a:pt x="2592" y="1968"/>
                    </a:lnTo>
                    <a:lnTo>
                      <a:pt x="2424" y="1936"/>
                    </a:lnTo>
                    <a:lnTo>
                      <a:pt x="2360" y="1824"/>
                    </a:lnTo>
                    <a:lnTo>
                      <a:pt x="2320" y="1632"/>
                    </a:lnTo>
                    <a:lnTo>
                      <a:pt x="2120" y="1760"/>
                    </a:lnTo>
                    <a:lnTo>
                      <a:pt x="2192" y="1888"/>
                    </a:lnTo>
                    <a:lnTo>
                      <a:pt x="1992" y="1904"/>
                    </a:lnTo>
                    <a:lnTo>
                      <a:pt x="1816" y="2024"/>
                    </a:lnTo>
                    <a:lnTo>
                      <a:pt x="1680" y="1880"/>
                    </a:lnTo>
                    <a:lnTo>
                      <a:pt x="1576" y="1936"/>
                    </a:lnTo>
                    <a:lnTo>
                      <a:pt x="1664" y="2064"/>
                    </a:lnTo>
                    <a:lnTo>
                      <a:pt x="1552" y="2048"/>
                    </a:lnTo>
                    <a:lnTo>
                      <a:pt x="1432" y="1824"/>
                    </a:lnTo>
                    <a:lnTo>
                      <a:pt x="1296" y="1920"/>
                    </a:lnTo>
                    <a:lnTo>
                      <a:pt x="1256" y="1696"/>
                    </a:lnTo>
                    <a:lnTo>
                      <a:pt x="1200" y="1544"/>
                    </a:lnTo>
                    <a:lnTo>
                      <a:pt x="1184" y="1416"/>
                    </a:lnTo>
                    <a:lnTo>
                      <a:pt x="1304" y="1272"/>
                    </a:lnTo>
                    <a:lnTo>
                      <a:pt x="1488" y="1272"/>
                    </a:lnTo>
                    <a:lnTo>
                      <a:pt x="1656" y="1192"/>
                    </a:lnTo>
                    <a:lnTo>
                      <a:pt x="1752" y="1000"/>
                    </a:lnTo>
                    <a:lnTo>
                      <a:pt x="1904" y="944"/>
                    </a:lnTo>
                    <a:lnTo>
                      <a:pt x="2000" y="824"/>
                    </a:lnTo>
                    <a:lnTo>
                      <a:pt x="2080" y="728"/>
                    </a:lnTo>
                    <a:lnTo>
                      <a:pt x="2160" y="640"/>
                    </a:lnTo>
                    <a:lnTo>
                      <a:pt x="2272" y="704"/>
                    </a:lnTo>
                    <a:lnTo>
                      <a:pt x="2336" y="640"/>
                    </a:lnTo>
                    <a:lnTo>
                      <a:pt x="2312" y="488"/>
                    </a:lnTo>
                    <a:lnTo>
                      <a:pt x="2152" y="528"/>
                    </a:lnTo>
                    <a:lnTo>
                      <a:pt x="2040" y="472"/>
                    </a:lnTo>
                    <a:lnTo>
                      <a:pt x="1768" y="528"/>
                    </a:lnTo>
                    <a:lnTo>
                      <a:pt x="1688" y="464"/>
                    </a:lnTo>
                    <a:lnTo>
                      <a:pt x="1784" y="248"/>
                    </a:lnTo>
                    <a:lnTo>
                      <a:pt x="1696" y="0"/>
                    </a:lnTo>
                    <a:lnTo>
                      <a:pt x="1624" y="64"/>
                    </a:lnTo>
                    <a:lnTo>
                      <a:pt x="1608" y="200"/>
                    </a:lnTo>
                    <a:lnTo>
                      <a:pt x="1536" y="344"/>
                    </a:lnTo>
                    <a:lnTo>
                      <a:pt x="1432" y="304"/>
                    </a:lnTo>
                    <a:lnTo>
                      <a:pt x="1192" y="336"/>
                    </a:lnTo>
                    <a:lnTo>
                      <a:pt x="1168" y="528"/>
                    </a:lnTo>
                    <a:lnTo>
                      <a:pt x="1104" y="680"/>
                    </a:lnTo>
                    <a:lnTo>
                      <a:pt x="824" y="656"/>
                    </a:lnTo>
                    <a:lnTo>
                      <a:pt x="528" y="656"/>
                    </a:lnTo>
                    <a:lnTo>
                      <a:pt x="544" y="880"/>
                    </a:lnTo>
                    <a:lnTo>
                      <a:pt x="328" y="728"/>
                    </a:lnTo>
                    <a:lnTo>
                      <a:pt x="152" y="624"/>
                    </a:lnTo>
                    <a:lnTo>
                      <a:pt x="72" y="720"/>
                    </a:lnTo>
                    <a:lnTo>
                      <a:pt x="0" y="83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9" name="Google Shape;459;p66"/>
              <p:cNvSpPr/>
              <p:nvPr/>
            </p:nvSpPr>
            <p:spPr>
              <a:xfrm>
                <a:off x="7825" y="10782"/>
                <a:ext cx="566" cy="459"/>
              </a:xfrm>
              <a:custGeom>
                <a:avLst/>
                <a:gdLst/>
                <a:ahLst/>
                <a:cxnLst/>
                <a:rect l="l" t="t" r="r" b="b"/>
                <a:pathLst>
                  <a:path w="566" h="459" extrusionOk="0">
                    <a:moveTo>
                      <a:pt x="0" y="292"/>
                    </a:moveTo>
                    <a:lnTo>
                      <a:pt x="35" y="189"/>
                    </a:lnTo>
                    <a:lnTo>
                      <a:pt x="136" y="65"/>
                    </a:lnTo>
                    <a:lnTo>
                      <a:pt x="278" y="87"/>
                    </a:lnTo>
                    <a:lnTo>
                      <a:pt x="347" y="0"/>
                    </a:lnTo>
                    <a:lnTo>
                      <a:pt x="437" y="57"/>
                    </a:lnTo>
                    <a:lnTo>
                      <a:pt x="485" y="192"/>
                    </a:lnTo>
                    <a:lnTo>
                      <a:pt x="566" y="192"/>
                    </a:lnTo>
                    <a:lnTo>
                      <a:pt x="544" y="292"/>
                    </a:lnTo>
                    <a:lnTo>
                      <a:pt x="437" y="399"/>
                    </a:lnTo>
                    <a:lnTo>
                      <a:pt x="320" y="441"/>
                    </a:lnTo>
                    <a:lnTo>
                      <a:pt x="215" y="459"/>
                    </a:lnTo>
                    <a:lnTo>
                      <a:pt x="149" y="396"/>
                    </a:lnTo>
                    <a:lnTo>
                      <a:pt x="5" y="375"/>
                    </a:lnTo>
                    <a:lnTo>
                      <a:pt x="0" y="292"/>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grpSp>
          <p:nvGrpSpPr>
            <p:cNvPr id="460" name="Google Shape;460;p66"/>
            <p:cNvGrpSpPr/>
            <p:nvPr/>
          </p:nvGrpSpPr>
          <p:grpSpPr>
            <a:xfrm>
              <a:off x="2485764" y="4097551"/>
              <a:ext cx="273404" cy="55632"/>
              <a:chOff x="512" y="2456"/>
              <a:chExt cx="204" cy="41"/>
            </a:xfrm>
          </p:grpSpPr>
          <p:sp>
            <p:nvSpPr>
              <p:cNvPr id="461" name="Google Shape;461;p66"/>
              <p:cNvSpPr/>
              <p:nvPr/>
            </p:nvSpPr>
            <p:spPr>
              <a:xfrm>
                <a:off x="707" y="2485"/>
                <a:ext cx="9" cy="12"/>
              </a:xfrm>
              <a:custGeom>
                <a:avLst/>
                <a:gdLst/>
                <a:ahLst/>
                <a:cxnLst/>
                <a:rect l="l" t="t" r="r" b="b"/>
                <a:pathLst>
                  <a:path w="740" h="922" extrusionOk="0">
                    <a:moveTo>
                      <a:pt x="0" y="888"/>
                    </a:moveTo>
                    <a:lnTo>
                      <a:pt x="53" y="922"/>
                    </a:lnTo>
                    <a:lnTo>
                      <a:pt x="144" y="860"/>
                    </a:lnTo>
                    <a:lnTo>
                      <a:pt x="250" y="869"/>
                    </a:lnTo>
                    <a:lnTo>
                      <a:pt x="293" y="903"/>
                    </a:lnTo>
                    <a:lnTo>
                      <a:pt x="399" y="879"/>
                    </a:lnTo>
                    <a:lnTo>
                      <a:pt x="528" y="884"/>
                    </a:lnTo>
                    <a:lnTo>
                      <a:pt x="620" y="840"/>
                    </a:lnTo>
                    <a:lnTo>
                      <a:pt x="658" y="778"/>
                    </a:lnTo>
                    <a:lnTo>
                      <a:pt x="634" y="754"/>
                    </a:lnTo>
                    <a:lnTo>
                      <a:pt x="562" y="720"/>
                    </a:lnTo>
                    <a:lnTo>
                      <a:pt x="572" y="644"/>
                    </a:lnTo>
                    <a:lnTo>
                      <a:pt x="596" y="576"/>
                    </a:lnTo>
                    <a:lnTo>
                      <a:pt x="653" y="572"/>
                    </a:lnTo>
                    <a:lnTo>
                      <a:pt x="711" y="562"/>
                    </a:lnTo>
                    <a:lnTo>
                      <a:pt x="740" y="485"/>
                    </a:lnTo>
                    <a:lnTo>
                      <a:pt x="696" y="437"/>
                    </a:lnTo>
                    <a:lnTo>
                      <a:pt x="648" y="389"/>
                    </a:lnTo>
                    <a:lnTo>
                      <a:pt x="586" y="356"/>
                    </a:lnTo>
                    <a:lnTo>
                      <a:pt x="528" y="375"/>
                    </a:lnTo>
                    <a:lnTo>
                      <a:pt x="442" y="404"/>
                    </a:lnTo>
                    <a:lnTo>
                      <a:pt x="389" y="375"/>
                    </a:lnTo>
                    <a:lnTo>
                      <a:pt x="404" y="303"/>
                    </a:lnTo>
                    <a:lnTo>
                      <a:pt x="428" y="245"/>
                    </a:lnTo>
                    <a:lnTo>
                      <a:pt x="471" y="216"/>
                    </a:lnTo>
                    <a:lnTo>
                      <a:pt x="514" y="231"/>
                    </a:lnTo>
                    <a:lnTo>
                      <a:pt x="586" y="188"/>
                    </a:lnTo>
                    <a:lnTo>
                      <a:pt x="562" y="120"/>
                    </a:lnTo>
                    <a:lnTo>
                      <a:pt x="562" y="48"/>
                    </a:lnTo>
                    <a:lnTo>
                      <a:pt x="500" y="39"/>
                    </a:lnTo>
                    <a:lnTo>
                      <a:pt x="432" y="34"/>
                    </a:lnTo>
                    <a:lnTo>
                      <a:pt x="360" y="15"/>
                    </a:lnTo>
                    <a:lnTo>
                      <a:pt x="293" y="0"/>
                    </a:lnTo>
                    <a:lnTo>
                      <a:pt x="173" y="87"/>
                    </a:lnTo>
                    <a:lnTo>
                      <a:pt x="96" y="197"/>
                    </a:lnTo>
                    <a:lnTo>
                      <a:pt x="68" y="303"/>
                    </a:lnTo>
                    <a:lnTo>
                      <a:pt x="58" y="432"/>
                    </a:lnTo>
                    <a:lnTo>
                      <a:pt x="63" y="533"/>
                    </a:lnTo>
                    <a:lnTo>
                      <a:pt x="63" y="692"/>
                    </a:lnTo>
                    <a:lnTo>
                      <a:pt x="20" y="807"/>
                    </a:lnTo>
                    <a:lnTo>
                      <a:pt x="0" y="888"/>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nvGrpSpPr>
              <p:cNvPr id="462" name="Google Shape;462;p66"/>
              <p:cNvGrpSpPr/>
              <p:nvPr/>
            </p:nvGrpSpPr>
            <p:grpSpPr>
              <a:xfrm>
                <a:off x="512" y="2456"/>
                <a:ext cx="12" cy="4"/>
                <a:chOff x="2478" y="4937"/>
                <a:chExt cx="10011" cy="3255"/>
              </a:xfrm>
            </p:grpSpPr>
            <p:sp>
              <p:nvSpPr>
                <p:cNvPr id="463" name="Google Shape;463;p66"/>
                <p:cNvSpPr/>
                <p:nvPr/>
              </p:nvSpPr>
              <p:spPr>
                <a:xfrm>
                  <a:off x="2478" y="5266"/>
                  <a:ext cx="9335" cy="2926"/>
                </a:xfrm>
                <a:custGeom>
                  <a:avLst/>
                  <a:gdLst/>
                  <a:ahLst/>
                  <a:cxnLst/>
                  <a:rect l="l" t="t" r="r" b="b"/>
                  <a:pathLst>
                    <a:path w="9335" h="2926" extrusionOk="0">
                      <a:moveTo>
                        <a:pt x="3191" y="101"/>
                      </a:moveTo>
                      <a:lnTo>
                        <a:pt x="3044" y="201"/>
                      </a:lnTo>
                      <a:lnTo>
                        <a:pt x="2989" y="320"/>
                      </a:lnTo>
                      <a:lnTo>
                        <a:pt x="2898" y="430"/>
                      </a:lnTo>
                      <a:lnTo>
                        <a:pt x="2788" y="457"/>
                      </a:lnTo>
                      <a:lnTo>
                        <a:pt x="2615" y="540"/>
                      </a:lnTo>
                      <a:lnTo>
                        <a:pt x="2459" y="549"/>
                      </a:lnTo>
                      <a:lnTo>
                        <a:pt x="2285" y="503"/>
                      </a:lnTo>
                      <a:lnTo>
                        <a:pt x="2194" y="467"/>
                      </a:lnTo>
                      <a:lnTo>
                        <a:pt x="2057" y="503"/>
                      </a:lnTo>
                      <a:lnTo>
                        <a:pt x="1892" y="503"/>
                      </a:lnTo>
                      <a:lnTo>
                        <a:pt x="1856" y="430"/>
                      </a:lnTo>
                      <a:lnTo>
                        <a:pt x="1883" y="366"/>
                      </a:lnTo>
                      <a:lnTo>
                        <a:pt x="1773" y="357"/>
                      </a:lnTo>
                      <a:lnTo>
                        <a:pt x="1563" y="412"/>
                      </a:lnTo>
                      <a:lnTo>
                        <a:pt x="1408" y="476"/>
                      </a:lnTo>
                      <a:lnTo>
                        <a:pt x="1216" y="521"/>
                      </a:lnTo>
                      <a:lnTo>
                        <a:pt x="1051" y="595"/>
                      </a:lnTo>
                      <a:lnTo>
                        <a:pt x="896" y="677"/>
                      </a:lnTo>
                      <a:lnTo>
                        <a:pt x="914" y="741"/>
                      </a:lnTo>
                      <a:lnTo>
                        <a:pt x="1079" y="750"/>
                      </a:lnTo>
                      <a:lnTo>
                        <a:pt x="1234" y="759"/>
                      </a:lnTo>
                      <a:lnTo>
                        <a:pt x="1380" y="823"/>
                      </a:lnTo>
                      <a:lnTo>
                        <a:pt x="1499" y="905"/>
                      </a:lnTo>
                      <a:lnTo>
                        <a:pt x="1618" y="960"/>
                      </a:lnTo>
                      <a:lnTo>
                        <a:pt x="1792" y="942"/>
                      </a:lnTo>
                      <a:lnTo>
                        <a:pt x="1947" y="951"/>
                      </a:lnTo>
                      <a:lnTo>
                        <a:pt x="2112" y="942"/>
                      </a:lnTo>
                      <a:lnTo>
                        <a:pt x="2258" y="951"/>
                      </a:lnTo>
                      <a:lnTo>
                        <a:pt x="2340" y="1052"/>
                      </a:lnTo>
                      <a:lnTo>
                        <a:pt x="2304" y="1116"/>
                      </a:lnTo>
                      <a:lnTo>
                        <a:pt x="2167" y="1006"/>
                      </a:lnTo>
                      <a:lnTo>
                        <a:pt x="1975" y="1088"/>
                      </a:lnTo>
                      <a:lnTo>
                        <a:pt x="1810" y="1143"/>
                      </a:lnTo>
                      <a:lnTo>
                        <a:pt x="1691" y="1061"/>
                      </a:lnTo>
                      <a:lnTo>
                        <a:pt x="1545" y="1006"/>
                      </a:lnTo>
                      <a:lnTo>
                        <a:pt x="1417" y="942"/>
                      </a:lnTo>
                      <a:lnTo>
                        <a:pt x="1271" y="969"/>
                      </a:lnTo>
                      <a:lnTo>
                        <a:pt x="1097" y="969"/>
                      </a:lnTo>
                      <a:lnTo>
                        <a:pt x="951" y="933"/>
                      </a:lnTo>
                      <a:lnTo>
                        <a:pt x="777" y="933"/>
                      </a:lnTo>
                      <a:lnTo>
                        <a:pt x="658" y="1006"/>
                      </a:lnTo>
                      <a:lnTo>
                        <a:pt x="548" y="1079"/>
                      </a:lnTo>
                      <a:lnTo>
                        <a:pt x="457" y="1198"/>
                      </a:lnTo>
                      <a:lnTo>
                        <a:pt x="484" y="1317"/>
                      </a:lnTo>
                      <a:lnTo>
                        <a:pt x="365" y="1363"/>
                      </a:lnTo>
                      <a:lnTo>
                        <a:pt x="265" y="1317"/>
                      </a:lnTo>
                      <a:lnTo>
                        <a:pt x="146" y="1417"/>
                      </a:lnTo>
                      <a:lnTo>
                        <a:pt x="55" y="1372"/>
                      </a:lnTo>
                      <a:lnTo>
                        <a:pt x="36" y="1509"/>
                      </a:lnTo>
                      <a:lnTo>
                        <a:pt x="55" y="1655"/>
                      </a:lnTo>
                      <a:lnTo>
                        <a:pt x="36" y="1820"/>
                      </a:lnTo>
                      <a:lnTo>
                        <a:pt x="0" y="1975"/>
                      </a:lnTo>
                      <a:lnTo>
                        <a:pt x="73" y="2094"/>
                      </a:lnTo>
                      <a:lnTo>
                        <a:pt x="137" y="2158"/>
                      </a:lnTo>
                      <a:lnTo>
                        <a:pt x="347" y="2094"/>
                      </a:lnTo>
                      <a:lnTo>
                        <a:pt x="484" y="2131"/>
                      </a:lnTo>
                      <a:lnTo>
                        <a:pt x="576" y="2149"/>
                      </a:lnTo>
                      <a:lnTo>
                        <a:pt x="823" y="2149"/>
                      </a:lnTo>
                      <a:lnTo>
                        <a:pt x="1115" y="2140"/>
                      </a:lnTo>
                      <a:lnTo>
                        <a:pt x="1280" y="2185"/>
                      </a:lnTo>
                      <a:lnTo>
                        <a:pt x="1499" y="2249"/>
                      </a:lnTo>
                      <a:lnTo>
                        <a:pt x="1627" y="2304"/>
                      </a:lnTo>
                      <a:lnTo>
                        <a:pt x="1719" y="2396"/>
                      </a:lnTo>
                      <a:lnTo>
                        <a:pt x="1819" y="2487"/>
                      </a:lnTo>
                      <a:lnTo>
                        <a:pt x="1920" y="2542"/>
                      </a:lnTo>
                      <a:lnTo>
                        <a:pt x="1932" y="2654"/>
                      </a:lnTo>
                      <a:lnTo>
                        <a:pt x="1842" y="2780"/>
                      </a:lnTo>
                      <a:lnTo>
                        <a:pt x="1819" y="2908"/>
                      </a:lnTo>
                      <a:lnTo>
                        <a:pt x="1965" y="2926"/>
                      </a:lnTo>
                      <a:lnTo>
                        <a:pt x="2185" y="2899"/>
                      </a:lnTo>
                      <a:lnTo>
                        <a:pt x="2295" y="2917"/>
                      </a:lnTo>
                      <a:lnTo>
                        <a:pt x="2432" y="2899"/>
                      </a:lnTo>
                      <a:lnTo>
                        <a:pt x="2605" y="2862"/>
                      </a:lnTo>
                      <a:lnTo>
                        <a:pt x="2715" y="2871"/>
                      </a:lnTo>
                      <a:lnTo>
                        <a:pt x="2807" y="2771"/>
                      </a:lnTo>
                      <a:lnTo>
                        <a:pt x="2871" y="2798"/>
                      </a:lnTo>
                      <a:lnTo>
                        <a:pt x="2889" y="2899"/>
                      </a:lnTo>
                      <a:lnTo>
                        <a:pt x="2999" y="2862"/>
                      </a:lnTo>
                      <a:lnTo>
                        <a:pt x="3154" y="2743"/>
                      </a:lnTo>
                      <a:lnTo>
                        <a:pt x="3191" y="2643"/>
                      </a:lnTo>
                      <a:lnTo>
                        <a:pt x="3154" y="2551"/>
                      </a:lnTo>
                      <a:lnTo>
                        <a:pt x="3136" y="2451"/>
                      </a:lnTo>
                      <a:lnTo>
                        <a:pt x="3264" y="2277"/>
                      </a:lnTo>
                      <a:lnTo>
                        <a:pt x="3447" y="2140"/>
                      </a:lnTo>
                      <a:lnTo>
                        <a:pt x="3666" y="2057"/>
                      </a:lnTo>
                      <a:lnTo>
                        <a:pt x="3867" y="1966"/>
                      </a:lnTo>
                      <a:lnTo>
                        <a:pt x="4087" y="1929"/>
                      </a:lnTo>
                      <a:lnTo>
                        <a:pt x="4434" y="1966"/>
                      </a:lnTo>
                      <a:lnTo>
                        <a:pt x="4626" y="1966"/>
                      </a:lnTo>
                      <a:lnTo>
                        <a:pt x="4736" y="2048"/>
                      </a:lnTo>
                      <a:lnTo>
                        <a:pt x="4827" y="2131"/>
                      </a:lnTo>
                      <a:lnTo>
                        <a:pt x="4882" y="2268"/>
                      </a:lnTo>
                      <a:lnTo>
                        <a:pt x="5165" y="2350"/>
                      </a:lnTo>
                      <a:lnTo>
                        <a:pt x="5229" y="2441"/>
                      </a:lnTo>
                      <a:lnTo>
                        <a:pt x="5431" y="2451"/>
                      </a:lnTo>
                      <a:lnTo>
                        <a:pt x="5613" y="2478"/>
                      </a:lnTo>
                      <a:lnTo>
                        <a:pt x="5732" y="2460"/>
                      </a:lnTo>
                      <a:lnTo>
                        <a:pt x="5851" y="2487"/>
                      </a:lnTo>
                      <a:lnTo>
                        <a:pt x="5915" y="2588"/>
                      </a:lnTo>
                      <a:lnTo>
                        <a:pt x="6098" y="2588"/>
                      </a:lnTo>
                      <a:lnTo>
                        <a:pt x="6189" y="2551"/>
                      </a:lnTo>
                      <a:lnTo>
                        <a:pt x="6226" y="2496"/>
                      </a:lnTo>
                      <a:lnTo>
                        <a:pt x="6482" y="2359"/>
                      </a:lnTo>
                      <a:lnTo>
                        <a:pt x="6656" y="2377"/>
                      </a:lnTo>
                      <a:lnTo>
                        <a:pt x="6775" y="2460"/>
                      </a:lnTo>
                      <a:lnTo>
                        <a:pt x="6976" y="2377"/>
                      </a:lnTo>
                      <a:lnTo>
                        <a:pt x="7122" y="2323"/>
                      </a:lnTo>
                      <a:lnTo>
                        <a:pt x="7241" y="2359"/>
                      </a:lnTo>
                      <a:lnTo>
                        <a:pt x="7351" y="2524"/>
                      </a:lnTo>
                      <a:lnTo>
                        <a:pt x="7515" y="2533"/>
                      </a:lnTo>
                      <a:lnTo>
                        <a:pt x="7607" y="2524"/>
                      </a:lnTo>
                      <a:lnTo>
                        <a:pt x="7707" y="2624"/>
                      </a:lnTo>
                      <a:lnTo>
                        <a:pt x="7725" y="2707"/>
                      </a:lnTo>
                      <a:lnTo>
                        <a:pt x="7826" y="2569"/>
                      </a:lnTo>
                      <a:lnTo>
                        <a:pt x="7908" y="2414"/>
                      </a:lnTo>
                      <a:lnTo>
                        <a:pt x="8055" y="2387"/>
                      </a:lnTo>
                      <a:lnTo>
                        <a:pt x="8283" y="2341"/>
                      </a:lnTo>
                      <a:lnTo>
                        <a:pt x="8356" y="2240"/>
                      </a:lnTo>
                      <a:lnTo>
                        <a:pt x="8475" y="2121"/>
                      </a:lnTo>
                      <a:lnTo>
                        <a:pt x="8621" y="2140"/>
                      </a:lnTo>
                      <a:lnTo>
                        <a:pt x="8704" y="2204"/>
                      </a:lnTo>
                      <a:lnTo>
                        <a:pt x="8850" y="2140"/>
                      </a:lnTo>
                      <a:lnTo>
                        <a:pt x="9024" y="2103"/>
                      </a:lnTo>
                      <a:lnTo>
                        <a:pt x="9069" y="1966"/>
                      </a:lnTo>
                      <a:lnTo>
                        <a:pt x="9170" y="1939"/>
                      </a:lnTo>
                      <a:lnTo>
                        <a:pt x="9225" y="1884"/>
                      </a:lnTo>
                      <a:lnTo>
                        <a:pt x="9261" y="1765"/>
                      </a:lnTo>
                      <a:lnTo>
                        <a:pt x="9335" y="1701"/>
                      </a:lnTo>
                      <a:lnTo>
                        <a:pt x="9225" y="1628"/>
                      </a:lnTo>
                      <a:lnTo>
                        <a:pt x="9188" y="1710"/>
                      </a:lnTo>
                      <a:lnTo>
                        <a:pt x="9051" y="1701"/>
                      </a:lnTo>
                      <a:lnTo>
                        <a:pt x="8914" y="1573"/>
                      </a:lnTo>
                      <a:lnTo>
                        <a:pt x="8786" y="1472"/>
                      </a:lnTo>
                      <a:lnTo>
                        <a:pt x="8631" y="1417"/>
                      </a:lnTo>
                      <a:lnTo>
                        <a:pt x="8512" y="1408"/>
                      </a:lnTo>
                      <a:lnTo>
                        <a:pt x="8338" y="1344"/>
                      </a:lnTo>
                      <a:lnTo>
                        <a:pt x="8164" y="1299"/>
                      </a:lnTo>
                      <a:lnTo>
                        <a:pt x="8100" y="1472"/>
                      </a:lnTo>
                      <a:lnTo>
                        <a:pt x="8055" y="1646"/>
                      </a:lnTo>
                      <a:lnTo>
                        <a:pt x="7936" y="1756"/>
                      </a:lnTo>
                      <a:lnTo>
                        <a:pt x="7716" y="1801"/>
                      </a:lnTo>
                      <a:lnTo>
                        <a:pt x="7607" y="1747"/>
                      </a:lnTo>
                      <a:lnTo>
                        <a:pt x="7625" y="1655"/>
                      </a:lnTo>
                      <a:lnTo>
                        <a:pt x="7771" y="1591"/>
                      </a:lnTo>
                      <a:lnTo>
                        <a:pt x="7771" y="1527"/>
                      </a:lnTo>
                      <a:lnTo>
                        <a:pt x="7945" y="1518"/>
                      </a:lnTo>
                      <a:lnTo>
                        <a:pt x="7963" y="1381"/>
                      </a:lnTo>
                      <a:lnTo>
                        <a:pt x="7908" y="1244"/>
                      </a:lnTo>
                      <a:lnTo>
                        <a:pt x="7789" y="1235"/>
                      </a:lnTo>
                      <a:lnTo>
                        <a:pt x="7671" y="1308"/>
                      </a:lnTo>
                      <a:lnTo>
                        <a:pt x="7332" y="1390"/>
                      </a:lnTo>
                      <a:lnTo>
                        <a:pt x="7159" y="1436"/>
                      </a:lnTo>
                      <a:lnTo>
                        <a:pt x="6921" y="1527"/>
                      </a:lnTo>
                      <a:lnTo>
                        <a:pt x="6747" y="1491"/>
                      </a:lnTo>
                      <a:lnTo>
                        <a:pt x="6509" y="1509"/>
                      </a:lnTo>
                      <a:lnTo>
                        <a:pt x="6299" y="1527"/>
                      </a:lnTo>
                      <a:lnTo>
                        <a:pt x="6208" y="1445"/>
                      </a:lnTo>
                      <a:lnTo>
                        <a:pt x="6125" y="1363"/>
                      </a:lnTo>
                      <a:lnTo>
                        <a:pt x="6071" y="1244"/>
                      </a:lnTo>
                      <a:lnTo>
                        <a:pt x="5924" y="1216"/>
                      </a:lnTo>
                      <a:lnTo>
                        <a:pt x="5833" y="1353"/>
                      </a:lnTo>
                      <a:lnTo>
                        <a:pt x="5824" y="1463"/>
                      </a:lnTo>
                      <a:lnTo>
                        <a:pt x="5805" y="1619"/>
                      </a:lnTo>
                      <a:lnTo>
                        <a:pt x="5650" y="1637"/>
                      </a:lnTo>
                      <a:lnTo>
                        <a:pt x="5440" y="1555"/>
                      </a:lnTo>
                      <a:lnTo>
                        <a:pt x="5165" y="1454"/>
                      </a:lnTo>
                      <a:lnTo>
                        <a:pt x="5001" y="1390"/>
                      </a:lnTo>
                      <a:lnTo>
                        <a:pt x="4845" y="1289"/>
                      </a:lnTo>
                      <a:lnTo>
                        <a:pt x="4727" y="1180"/>
                      </a:lnTo>
                      <a:lnTo>
                        <a:pt x="4699" y="1024"/>
                      </a:lnTo>
                      <a:lnTo>
                        <a:pt x="4772" y="933"/>
                      </a:lnTo>
                      <a:lnTo>
                        <a:pt x="4891" y="823"/>
                      </a:lnTo>
                      <a:lnTo>
                        <a:pt x="4836" y="759"/>
                      </a:lnTo>
                      <a:lnTo>
                        <a:pt x="4736" y="704"/>
                      </a:lnTo>
                      <a:lnTo>
                        <a:pt x="4681" y="576"/>
                      </a:lnTo>
                      <a:lnTo>
                        <a:pt x="4562" y="558"/>
                      </a:lnTo>
                      <a:lnTo>
                        <a:pt x="4397" y="604"/>
                      </a:lnTo>
                      <a:lnTo>
                        <a:pt x="4279" y="668"/>
                      </a:lnTo>
                      <a:lnTo>
                        <a:pt x="4160" y="686"/>
                      </a:lnTo>
                      <a:lnTo>
                        <a:pt x="4123" y="531"/>
                      </a:lnTo>
                      <a:lnTo>
                        <a:pt x="4160" y="375"/>
                      </a:lnTo>
                      <a:lnTo>
                        <a:pt x="4260" y="211"/>
                      </a:lnTo>
                      <a:lnTo>
                        <a:pt x="4297" y="64"/>
                      </a:lnTo>
                      <a:lnTo>
                        <a:pt x="4114" y="37"/>
                      </a:lnTo>
                      <a:lnTo>
                        <a:pt x="3986" y="28"/>
                      </a:lnTo>
                      <a:lnTo>
                        <a:pt x="3849" y="0"/>
                      </a:lnTo>
                      <a:lnTo>
                        <a:pt x="3712" y="55"/>
                      </a:lnTo>
                      <a:lnTo>
                        <a:pt x="3675" y="110"/>
                      </a:lnTo>
                      <a:lnTo>
                        <a:pt x="3538" y="137"/>
                      </a:lnTo>
                      <a:lnTo>
                        <a:pt x="3428" y="156"/>
                      </a:lnTo>
                      <a:lnTo>
                        <a:pt x="3291" y="101"/>
                      </a:lnTo>
                      <a:lnTo>
                        <a:pt x="3191" y="101"/>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64" name="Google Shape;464;p66"/>
                <p:cNvSpPr/>
                <p:nvPr/>
              </p:nvSpPr>
              <p:spPr>
                <a:xfrm>
                  <a:off x="10752" y="4937"/>
                  <a:ext cx="1737" cy="1545"/>
                </a:xfrm>
                <a:custGeom>
                  <a:avLst/>
                  <a:gdLst/>
                  <a:ahLst/>
                  <a:cxnLst/>
                  <a:rect l="l" t="t" r="r" b="b"/>
                  <a:pathLst>
                    <a:path w="1737" h="1545" extrusionOk="0">
                      <a:moveTo>
                        <a:pt x="1125" y="119"/>
                      </a:moveTo>
                      <a:lnTo>
                        <a:pt x="1015" y="210"/>
                      </a:lnTo>
                      <a:lnTo>
                        <a:pt x="887" y="357"/>
                      </a:lnTo>
                      <a:lnTo>
                        <a:pt x="786" y="549"/>
                      </a:lnTo>
                      <a:lnTo>
                        <a:pt x="686" y="759"/>
                      </a:lnTo>
                      <a:lnTo>
                        <a:pt x="530" y="896"/>
                      </a:lnTo>
                      <a:lnTo>
                        <a:pt x="421" y="997"/>
                      </a:lnTo>
                      <a:lnTo>
                        <a:pt x="338" y="905"/>
                      </a:lnTo>
                      <a:lnTo>
                        <a:pt x="274" y="905"/>
                      </a:lnTo>
                      <a:lnTo>
                        <a:pt x="256" y="1033"/>
                      </a:lnTo>
                      <a:lnTo>
                        <a:pt x="165" y="1143"/>
                      </a:lnTo>
                      <a:lnTo>
                        <a:pt x="0" y="1207"/>
                      </a:lnTo>
                      <a:lnTo>
                        <a:pt x="183" y="1280"/>
                      </a:lnTo>
                      <a:lnTo>
                        <a:pt x="238" y="1426"/>
                      </a:lnTo>
                      <a:lnTo>
                        <a:pt x="293" y="1545"/>
                      </a:lnTo>
                      <a:lnTo>
                        <a:pt x="411" y="1454"/>
                      </a:lnTo>
                      <a:lnTo>
                        <a:pt x="448" y="1353"/>
                      </a:lnTo>
                      <a:lnTo>
                        <a:pt x="567" y="1189"/>
                      </a:lnTo>
                      <a:lnTo>
                        <a:pt x="622" y="1033"/>
                      </a:lnTo>
                      <a:lnTo>
                        <a:pt x="722" y="896"/>
                      </a:lnTo>
                      <a:lnTo>
                        <a:pt x="869" y="750"/>
                      </a:lnTo>
                      <a:lnTo>
                        <a:pt x="987" y="631"/>
                      </a:lnTo>
                      <a:lnTo>
                        <a:pt x="1115" y="549"/>
                      </a:lnTo>
                      <a:lnTo>
                        <a:pt x="1243" y="485"/>
                      </a:lnTo>
                      <a:lnTo>
                        <a:pt x="1381" y="448"/>
                      </a:lnTo>
                      <a:lnTo>
                        <a:pt x="1472" y="384"/>
                      </a:lnTo>
                      <a:lnTo>
                        <a:pt x="1591" y="329"/>
                      </a:lnTo>
                      <a:lnTo>
                        <a:pt x="1737" y="311"/>
                      </a:lnTo>
                      <a:lnTo>
                        <a:pt x="1627" y="119"/>
                      </a:lnTo>
                      <a:lnTo>
                        <a:pt x="1472" y="0"/>
                      </a:lnTo>
                      <a:lnTo>
                        <a:pt x="1298" y="37"/>
                      </a:lnTo>
                      <a:lnTo>
                        <a:pt x="1125" y="119"/>
                      </a:lnTo>
                      <a:close/>
                    </a:path>
                  </a:pathLst>
                </a:custGeom>
                <a:solidFill>
                  <a:srgbClr val="C4B798"/>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grpSp>
        <p:sp>
          <p:nvSpPr>
            <p:cNvPr id="465" name="Google Shape;465;p66"/>
            <p:cNvSpPr/>
            <p:nvPr/>
          </p:nvSpPr>
          <p:spPr>
            <a:xfrm>
              <a:off x="3342107" y="4259018"/>
              <a:ext cx="623179" cy="592951"/>
            </a:xfrm>
            <a:custGeom>
              <a:avLst/>
              <a:gdLst/>
              <a:ahLst/>
              <a:cxnLst/>
              <a:rect l="l" t="t" r="r" b="b"/>
              <a:pathLst>
                <a:path w="2324" h="2186" extrusionOk="0">
                  <a:moveTo>
                    <a:pt x="549" y="0"/>
                  </a:moveTo>
                  <a:lnTo>
                    <a:pt x="690" y="48"/>
                  </a:lnTo>
                  <a:lnTo>
                    <a:pt x="775" y="106"/>
                  </a:lnTo>
                  <a:lnTo>
                    <a:pt x="835" y="217"/>
                  </a:lnTo>
                  <a:lnTo>
                    <a:pt x="999" y="241"/>
                  </a:lnTo>
                  <a:lnTo>
                    <a:pt x="1018" y="196"/>
                  </a:lnTo>
                  <a:lnTo>
                    <a:pt x="1159" y="201"/>
                  </a:lnTo>
                  <a:lnTo>
                    <a:pt x="1276" y="186"/>
                  </a:lnTo>
                  <a:lnTo>
                    <a:pt x="1390" y="262"/>
                  </a:lnTo>
                  <a:lnTo>
                    <a:pt x="1363" y="459"/>
                  </a:lnTo>
                  <a:lnTo>
                    <a:pt x="1394" y="616"/>
                  </a:lnTo>
                  <a:lnTo>
                    <a:pt x="1516" y="645"/>
                  </a:lnTo>
                  <a:lnTo>
                    <a:pt x="1755" y="753"/>
                  </a:lnTo>
                  <a:lnTo>
                    <a:pt x="1825" y="946"/>
                  </a:lnTo>
                  <a:lnTo>
                    <a:pt x="1903" y="933"/>
                  </a:lnTo>
                  <a:lnTo>
                    <a:pt x="1944" y="1128"/>
                  </a:lnTo>
                  <a:lnTo>
                    <a:pt x="2050" y="1101"/>
                  </a:lnTo>
                  <a:lnTo>
                    <a:pt x="2145" y="1147"/>
                  </a:lnTo>
                  <a:lnTo>
                    <a:pt x="2242" y="1126"/>
                  </a:lnTo>
                  <a:lnTo>
                    <a:pt x="2306" y="1051"/>
                  </a:lnTo>
                  <a:lnTo>
                    <a:pt x="2324" y="1047"/>
                  </a:lnTo>
                  <a:lnTo>
                    <a:pt x="2322" y="1100"/>
                  </a:lnTo>
                  <a:cubicBezTo>
                    <a:pt x="2320" y="1114"/>
                    <a:pt x="2316" y="1120"/>
                    <a:pt x="2313" y="1130"/>
                  </a:cubicBezTo>
                  <a:lnTo>
                    <a:pt x="2235" y="1181"/>
                  </a:lnTo>
                  <a:cubicBezTo>
                    <a:pt x="2229" y="1195"/>
                    <a:pt x="2223" y="1209"/>
                    <a:pt x="2217" y="1223"/>
                  </a:cubicBezTo>
                  <a:lnTo>
                    <a:pt x="2184" y="1280"/>
                  </a:lnTo>
                  <a:cubicBezTo>
                    <a:pt x="2190" y="1289"/>
                    <a:pt x="2196" y="1298"/>
                    <a:pt x="2202" y="1307"/>
                  </a:cubicBezTo>
                  <a:cubicBezTo>
                    <a:pt x="2193" y="1318"/>
                    <a:pt x="2184" y="1329"/>
                    <a:pt x="2175" y="1340"/>
                  </a:cubicBezTo>
                  <a:lnTo>
                    <a:pt x="2133" y="1373"/>
                  </a:lnTo>
                  <a:cubicBezTo>
                    <a:pt x="2121" y="1369"/>
                    <a:pt x="2109" y="1365"/>
                    <a:pt x="2097" y="1361"/>
                  </a:cubicBezTo>
                  <a:cubicBezTo>
                    <a:pt x="2092" y="1370"/>
                    <a:pt x="2087" y="1379"/>
                    <a:pt x="2082" y="1388"/>
                  </a:cubicBezTo>
                  <a:lnTo>
                    <a:pt x="2028" y="1403"/>
                  </a:lnTo>
                  <a:lnTo>
                    <a:pt x="2016" y="1451"/>
                  </a:lnTo>
                  <a:lnTo>
                    <a:pt x="1950" y="1472"/>
                  </a:lnTo>
                  <a:lnTo>
                    <a:pt x="1884" y="1463"/>
                  </a:lnTo>
                  <a:cubicBezTo>
                    <a:pt x="1878" y="1475"/>
                    <a:pt x="1872" y="1487"/>
                    <a:pt x="1866" y="1499"/>
                  </a:cubicBezTo>
                  <a:cubicBezTo>
                    <a:pt x="1863" y="1521"/>
                    <a:pt x="1860" y="1543"/>
                    <a:pt x="1857" y="1565"/>
                  </a:cubicBezTo>
                  <a:lnTo>
                    <a:pt x="1824" y="1544"/>
                  </a:lnTo>
                  <a:lnTo>
                    <a:pt x="1758" y="1526"/>
                  </a:lnTo>
                  <a:lnTo>
                    <a:pt x="1695" y="1499"/>
                  </a:lnTo>
                  <a:cubicBezTo>
                    <a:pt x="1685" y="1514"/>
                    <a:pt x="1675" y="1529"/>
                    <a:pt x="1665" y="1544"/>
                  </a:cubicBezTo>
                  <a:lnTo>
                    <a:pt x="1617" y="1541"/>
                  </a:lnTo>
                  <a:cubicBezTo>
                    <a:pt x="1618" y="1557"/>
                    <a:pt x="1619" y="1573"/>
                    <a:pt x="1620" y="1589"/>
                  </a:cubicBezTo>
                  <a:lnTo>
                    <a:pt x="1665" y="1613"/>
                  </a:lnTo>
                  <a:lnTo>
                    <a:pt x="1704" y="1601"/>
                  </a:lnTo>
                  <a:cubicBezTo>
                    <a:pt x="1707" y="1617"/>
                    <a:pt x="1710" y="1633"/>
                    <a:pt x="1713" y="1649"/>
                  </a:cubicBezTo>
                  <a:cubicBezTo>
                    <a:pt x="1718" y="1664"/>
                    <a:pt x="1723" y="1679"/>
                    <a:pt x="1728" y="1694"/>
                  </a:cubicBezTo>
                  <a:lnTo>
                    <a:pt x="1659" y="1688"/>
                  </a:lnTo>
                  <a:lnTo>
                    <a:pt x="1617" y="1676"/>
                  </a:lnTo>
                  <a:lnTo>
                    <a:pt x="1587" y="1652"/>
                  </a:lnTo>
                  <a:cubicBezTo>
                    <a:pt x="1581" y="1634"/>
                    <a:pt x="1575" y="1616"/>
                    <a:pt x="1569" y="1598"/>
                  </a:cubicBezTo>
                  <a:lnTo>
                    <a:pt x="1530" y="1580"/>
                  </a:lnTo>
                  <a:cubicBezTo>
                    <a:pt x="1520" y="1571"/>
                    <a:pt x="1510" y="1562"/>
                    <a:pt x="1500" y="1553"/>
                  </a:cubicBezTo>
                  <a:lnTo>
                    <a:pt x="1452" y="1601"/>
                  </a:lnTo>
                  <a:lnTo>
                    <a:pt x="1410" y="1640"/>
                  </a:lnTo>
                  <a:cubicBezTo>
                    <a:pt x="1420" y="1654"/>
                    <a:pt x="1430" y="1668"/>
                    <a:pt x="1440" y="1682"/>
                  </a:cubicBezTo>
                  <a:cubicBezTo>
                    <a:pt x="1436" y="1698"/>
                    <a:pt x="1432" y="1714"/>
                    <a:pt x="1428" y="1730"/>
                  </a:cubicBezTo>
                  <a:lnTo>
                    <a:pt x="1386" y="1769"/>
                  </a:lnTo>
                  <a:lnTo>
                    <a:pt x="1314" y="1742"/>
                  </a:lnTo>
                  <a:lnTo>
                    <a:pt x="1281" y="1733"/>
                  </a:lnTo>
                  <a:lnTo>
                    <a:pt x="1230" y="1757"/>
                  </a:lnTo>
                  <a:lnTo>
                    <a:pt x="1188" y="1775"/>
                  </a:lnTo>
                  <a:lnTo>
                    <a:pt x="1134" y="1784"/>
                  </a:lnTo>
                  <a:lnTo>
                    <a:pt x="1101" y="1811"/>
                  </a:lnTo>
                  <a:lnTo>
                    <a:pt x="1029" y="1808"/>
                  </a:lnTo>
                  <a:lnTo>
                    <a:pt x="993" y="1844"/>
                  </a:lnTo>
                  <a:cubicBezTo>
                    <a:pt x="991" y="1869"/>
                    <a:pt x="989" y="1894"/>
                    <a:pt x="987" y="1919"/>
                  </a:cubicBezTo>
                  <a:cubicBezTo>
                    <a:pt x="993" y="1932"/>
                    <a:pt x="999" y="1945"/>
                    <a:pt x="1005" y="1958"/>
                  </a:cubicBezTo>
                  <a:cubicBezTo>
                    <a:pt x="1000" y="1972"/>
                    <a:pt x="995" y="1986"/>
                    <a:pt x="990" y="2000"/>
                  </a:cubicBezTo>
                  <a:lnTo>
                    <a:pt x="921" y="1988"/>
                  </a:lnTo>
                  <a:lnTo>
                    <a:pt x="870" y="1997"/>
                  </a:lnTo>
                  <a:cubicBezTo>
                    <a:pt x="862" y="2007"/>
                    <a:pt x="854" y="2017"/>
                    <a:pt x="846" y="2027"/>
                  </a:cubicBezTo>
                  <a:cubicBezTo>
                    <a:pt x="845" y="2041"/>
                    <a:pt x="844" y="2055"/>
                    <a:pt x="843" y="2069"/>
                  </a:cubicBezTo>
                  <a:lnTo>
                    <a:pt x="807" y="2042"/>
                  </a:lnTo>
                  <a:cubicBezTo>
                    <a:pt x="801" y="2059"/>
                    <a:pt x="795" y="2076"/>
                    <a:pt x="789" y="2093"/>
                  </a:cubicBezTo>
                  <a:lnTo>
                    <a:pt x="735" y="2099"/>
                  </a:lnTo>
                  <a:lnTo>
                    <a:pt x="690" y="2075"/>
                  </a:lnTo>
                  <a:lnTo>
                    <a:pt x="651" y="2084"/>
                  </a:lnTo>
                  <a:cubicBezTo>
                    <a:pt x="641" y="2081"/>
                    <a:pt x="631" y="2078"/>
                    <a:pt x="621" y="2075"/>
                  </a:cubicBezTo>
                  <a:lnTo>
                    <a:pt x="570" y="2075"/>
                  </a:lnTo>
                  <a:cubicBezTo>
                    <a:pt x="556" y="2083"/>
                    <a:pt x="542" y="2091"/>
                    <a:pt x="528" y="2099"/>
                  </a:cubicBezTo>
                  <a:lnTo>
                    <a:pt x="501" y="2111"/>
                  </a:lnTo>
                  <a:cubicBezTo>
                    <a:pt x="497" y="2124"/>
                    <a:pt x="493" y="2137"/>
                    <a:pt x="489" y="2150"/>
                  </a:cubicBezTo>
                  <a:lnTo>
                    <a:pt x="450" y="2162"/>
                  </a:lnTo>
                  <a:lnTo>
                    <a:pt x="411" y="2186"/>
                  </a:lnTo>
                  <a:lnTo>
                    <a:pt x="375" y="2165"/>
                  </a:lnTo>
                  <a:lnTo>
                    <a:pt x="315" y="2171"/>
                  </a:lnTo>
                  <a:lnTo>
                    <a:pt x="273" y="2183"/>
                  </a:lnTo>
                  <a:lnTo>
                    <a:pt x="193" y="2183"/>
                  </a:lnTo>
                  <a:lnTo>
                    <a:pt x="147" y="2165"/>
                  </a:lnTo>
                  <a:lnTo>
                    <a:pt x="109" y="2151"/>
                  </a:lnTo>
                  <a:lnTo>
                    <a:pt x="84" y="2129"/>
                  </a:lnTo>
                  <a:lnTo>
                    <a:pt x="73" y="2045"/>
                  </a:lnTo>
                  <a:lnTo>
                    <a:pt x="144" y="1966"/>
                  </a:lnTo>
                  <a:lnTo>
                    <a:pt x="0" y="1926"/>
                  </a:lnTo>
                  <a:lnTo>
                    <a:pt x="85" y="1846"/>
                  </a:lnTo>
                  <a:lnTo>
                    <a:pt x="73" y="1681"/>
                  </a:lnTo>
                  <a:lnTo>
                    <a:pt x="100" y="1567"/>
                  </a:lnTo>
                  <a:lnTo>
                    <a:pt x="30" y="1492"/>
                  </a:lnTo>
                  <a:lnTo>
                    <a:pt x="64" y="1431"/>
                  </a:lnTo>
                  <a:lnTo>
                    <a:pt x="159" y="1309"/>
                  </a:lnTo>
                  <a:lnTo>
                    <a:pt x="70" y="1261"/>
                  </a:lnTo>
                  <a:lnTo>
                    <a:pt x="114" y="1161"/>
                  </a:lnTo>
                  <a:lnTo>
                    <a:pt x="204" y="1086"/>
                  </a:lnTo>
                  <a:lnTo>
                    <a:pt x="134" y="1011"/>
                  </a:lnTo>
                  <a:lnTo>
                    <a:pt x="144" y="876"/>
                  </a:lnTo>
                  <a:lnTo>
                    <a:pt x="117" y="765"/>
                  </a:lnTo>
                  <a:lnTo>
                    <a:pt x="237" y="712"/>
                  </a:lnTo>
                  <a:lnTo>
                    <a:pt x="295" y="591"/>
                  </a:lnTo>
                  <a:lnTo>
                    <a:pt x="225" y="486"/>
                  </a:lnTo>
                  <a:lnTo>
                    <a:pt x="282" y="408"/>
                  </a:lnTo>
                  <a:lnTo>
                    <a:pt x="309" y="316"/>
                  </a:lnTo>
                  <a:lnTo>
                    <a:pt x="434" y="346"/>
                  </a:lnTo>
                  <a:lnTo>
                    <a:pt x="519" y="238"/>
                  </a:lnTo>
                  <a:lnTo>
                    <a:pt x="541" y="120"/>
                  </a:lnTo>
                  <a:lnTo>
                    <a:pt x="549" y="0"/>
                  </a:lnTo>
                  <a:close/>
                </a:path>
              </a:pathLst>
            </a:custGeom>
            <a:solidFill>
              <a:schemeClr val="accent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66" name="Google Shape;466;p66"/>
            <p:cNvSpPr/>
            <p:nvPr/>
          </p:nvSpPr>
          <p:spPr>
            <a:xfrm>
              <a:off x="3252316" y="4356713"/>
              <a:ext cx="1129763" cy="978300"/>
            </a:xfrm>
            <a:custGeom>
              <a:avLst/>
              <a:gdLst/>
              <a:ahLst/>
              <a:cxnLst/>
              <a:rect l="l" t="t" r="r" b="b"/>
              <a:pathLst>
                <a:path w="4215" h="3605" extrusionOk="0">
                  <a:moveTo>
                    <a:pt x="4170" y="0"/>
                  </a:moveTo>
                  <a:lnTo>
                    <a:pt x="4215" y="60"/>
                  </a:lnTo>
                  <a:lnTo>
                    <a:pt x="3855" y="500"/>
                  </a:lnTo>
                  <a:lnTo>
                    <a:pt x="3690" y="585"/>
                  </a:lnTo>
                  <a:lnTo>
                    <a:pt x="3510" y="740"/>
                  </a:lnTo>
                  <a:lnTo>
                    <a:pt x="3440" y="875"/>
                  </a:lnTo>
                  <a:lnTo>
                    <a:pt x="3260" y="975"/>
                  </a:lnTo>
                  <a:lnTo>
                    <a:pt x="3035" y="1115"/>
                  </a:lnTo>
                  <a:lnTo>
                    <a:pt x="2930" y="1260"/>
                  </a:lnTo>
                  <a:lnTo>
                    <a:pt x="2963" y="1342"/>
                  </a:lnTo>
                  <a:lnTo>
                    <a:pt x="2907" y="1310"/>
                  </a:lnTo>
                  <a:lnTo>
                    <a:pt x="2871" y="1338"/>
                  </a:lnTo>
                  <a:lnTo>
                    <a:pt x="2915" y="1390"/>
                  </a:lnTo>
                  <a:lnTo>
                    <a:pt x="2919" y="1442"/>
                  </a:lnTo>
                  <a:lnTo>
                    <a:pt x="2835" y="1506"/>
                  </a:lnTo>
                  <a:lnTo>
                    <a:pt x="2690" y="1575"/>
                  </a:lnTo>
                  <a:lnTo>
                    <a:pt x="2535" y="1575"/>
                  </a:lnTo>
                  <a:lnTo>
                    <a:pt x="2405" y="1605"/>
                  </a:lnTo>
                  <a:lnTo>
                    <a:pt x="2345" y="1814"/>
                  </a:lnTo>
                  <a:lnTo>
                    <a:pt x="2265" y="1859"/>
                  </a:lnTo>
                  <a:lnTo>
                    <a:pt x="2259" y="1898"/>
                  </a:lnTo>
                  <a:lnTo>
                    <a:pt x="2175" y="1902"/>
                  </a:lnTo>
                  <a:lnTo>
                    <a:pt x="2150" y="1859"/>
                  </a:lnTo>
                  <a:lnTo>
                    <a:pt x="2055" y="1844"/>
                  </a:lnTo>
                  <a:lnTo>
                    <a:pt x="1935" y="1934"/>
                  </a:lnTo>
                  <a:lnTo>
                    <a:pt x="1865" y="2054"/>
                  </a:lnTo>
                  <a:lnTo>
                    <a:pt x="1785" y="2144"/>
                  </a:lnTo>
                  <a:lnTo>
                    <a:pt x="1775" y="2278"/>
                  </a:lnTo>
                  <a:lnTo>
                    <a:pt x="1811" y="2434"/>
                  </a:lnTo>
                  <a:lnTo>
                    <a:pt x="1845" y="2629"/>
                  </a:lnTo>
                  <a:lnTo>
                    <a:pt x="1800" y="2764"/>
                  </a:lnTo>
                  <a:lnTo>
                    <a:pt x="1868" y="3154"/>
                  </a:lnTo>
                  <a:lnTo>
                    <a:pt x="1800" y="3109"/>
                  </a:lnTo>
                  <a:lnTo>
                    <a:pt x="1665" y="3239"/>
                  </a:lnTo>
                  <a:lnTo>
                    <a:pt x="1485" y="3229"/>
                  </a:lnTo>
                  <a:lnTo>
                    <a:pt x="1320" y="3379"/>
                  </a:lnTo>
                  <a:lnTo>
                    <a:pt x="1185" y="3389"/>
                  </a:lnTo>
                  <a:lnTo>
                    <a:pt x="1040" y="3374"/>
                  </a:lnTo>
                  <a:lnTo>
                    <a:pt x="891" y="3605"/>
                  </a:lnTo>
                  <a:lnTo>
                    <a:pt x="801" y="3598"/>
                  </a:lnTo>
                  <a:lnTo>
                    <a:pt x="787" y="3529"/>
                  </a:lnTo>
                  <a:lnTo>
                    <a:pt x="886" y="3454"/>
                  </a:lnTo>
                  <a:lnTo>
                    <a:pt x="949" y="3365"/>
                  </a:lnTo>
                  <a:lnTo>
                    <a:pt x="960" y="3269"/>
                  </a:lnTo>
                  <a:lnTo>
                    <a:pt x="876" y="3239"/>
                  </a:lnTo>
                  <a:cubicBezTo>
                    <a:pt x="876" y="3199"/>
                    <a:pt x="875" y="3159"/>
                    <a:pt x="875" y="3119"/>
                  </a:cubicBezTo>
                  <a:lnTo>
                    <a:pt x="784" y="3109"/>
                  </a:lnTo>
                  <a:lnTo>
                    <a:pt x="705" y="3044"/>
                  </a:lnTo>
                  <a:lnTo>
                    <a:pt x="679" y="2927"/>
                  </a:lnTo>
                  <a:lnTo>
                    <a:pt x="586" y="2914"/>
                  </a:lnTo>
                  <a:lnTo>
                    <a:pt x="541" y="2983"/>
                  </a:lnTo>
                  <a:lnTo>
                    <a:pt x="335" y="3014"/>
                  </a:lnTo>
                  <a:lnTo>
                    <a:pt x="335" y="2939"/>
                  </a:lnTo>
                  <a:lnTo>
                    <a:pt x="215" y="2954"/>
                  </a:lnTo>
                  <a:lnTo>
                    <a:pt x="183" y="2998"/>
                  </a:lnTo>
                  <a:lnTo>
                    <a:pt x="94" y="2983"/>
                  </a:lnTo>
                  <a:lnTo>
                    <a:pt x="135" y="2912"/>
                  </a:lnTo>
                  <a:lnTo>
                    <a:pt x="121" y="2821"/>
                  </a:lnTo>
                  <a:lnTo>
                    <a:pt x="246" y="2854"/>
                  </a:lnTo>
                  <a:lnTo>
                    <a:pt x="375" y="2794"/>
                  </a:lnTo>
                  <a:lnTo>
                    <a:pt x="360" y="2705"/>
                  </a:lnTo>
                  <a:lnTo>
                    <a:pt x="214" y="2669"/>
                  </a:lnTo>
                  <a:lnTo>
                    <a:pt x="135" y="2782"/>
                  </a:lnTo>
                  <a:lnTo>
                    <a:pt x="96" y="2719"/>
                  </a:lnTo>
                  <a:lnTo>
                    <a:pt x="108" y="2629"/>
                  </a:lnTo>
                  <a:lnTo>
                    <a:pt x="0" y="2534"/>
                  </a:lnTo>
                  <a:lnTo>
                    <a:pt x="37" y="2402"/>
                  </a:lnTo>
                  <a:lnTo>
                    <a:pt x="79" y="2315"/>
                  </a:lnTo>
                  <a:lnTo>
                    <a:pt x="195" y="2314"/>
                  </a:lnTo>
                  <a:lnTo>
                    <a:pt x="225" y="2192"/>
                  </a:lnTo>
                  <a:lnTo>
                    <a:pt x="180" y="2084"/>
                  </a:lnTo>
                  <a:lnTo>
                    <a:pt x="165" y="1991"/>
                  </a:lnTo>
                  <a:lnTo>
                    <a:pt x="171" y="1850"/>
                  </a:lnTo>
                  <a:lnTo>
                    <a:pt x="245" y="1774"/>
                  </a:lnTo>
                  <a:lnTo>
                    <a:pt x="420" y="1770"/>
                  </a:lnTo>
                  <a:lnTo>
                    <a:pt x="419" y="1763"/>
                  </a:lnTo>
                  <a:lnTo>
                    <a:pt x="420" y="1765"/>
                  </a:lnTo>
                  <a:cubicBezTo>
                    <a:pt x="428" y="1773"/>
                    <a:pt x="436" y="1782"/>
                    <a:pt x="445" y="1790"/>
                  </a:cubicBezTo>
                  <a:lnTo>
                    <a:pt x="483" y="1804"/>
                  </a:lnTo>
                  <a:lnTo>
                    <a:pt x="529" y="1822"/>
                  </a:lnTo>
                  <a:lnTo>
                    <a:pt x="609" y="1822"/>
                  </a:lnTo>
                  <a:lnTo>
                    <a:pt x="651" y="1810"/>
                  </a:lnTo>
                  <a:lnTo>
                    <a:pt x="711" y="1804"/>
                  </a:lnTo>
                  <a:lnTo>
                    <a:pt x="747" y="1825"/>
                  </a:lnTo>
                  <a:lnTo>
                    <a:pt x="786" y="1801"/>
                  </a:lnTo>
                  <a:lnTo>
                    <a:pt x="825" y="1789"/>
                  </a:lnTo>
                  <a:cubicBezTo>
                    <a:pt x="829" y="1776"/>
                    <a:pt x="833" y="1763"/>
                    <a:pt x="837" y="1750"/>
                  </a:cubicBezTo>
                  <a:lnTo>
                    <a:pt x="864" y="1738"/>
                  </a:lnTo>
                  <a:cubicBezTo>
                    <a:pt x="878" y="1730"/>
                    <a:pt x="892" y="1722"/>
                    <a:pt x="906" y="1714"/>
                  </a:cubicBezTo>
                  <a:lnTo>
                    <a:pt x="957" y="1714"/>
                  </a:lnTo>
                  <a:cubicBezTo>
                    <a:pt x="967" y="1717"/>
                    <a:pt x="977" y="1720"/>
                    <a:pt x="987" y="1723"/>
                  </a:cubicBezTo>
                  <a:lnTo>
                    <a:pt x="1026" y="1714"/>
                  </a:lnTo>
                  <a:lnTo>
                    <a:pt x="1071" y="1738"/>
                  </a:lnTo>
                  <a:lnTo>
                    <a:pt x="1125" y="1732"/>
                  </a:lnTo>
                  <a:cubicBezTo>
                    <a:pt x="1131" y="1715"/>
                    <a:pt x="1137" y="1698"/>
                    <a:pt x="1143" y="1681"/>
                  </a:cubicBezTo>
                  <a:lnTo>
                    <a:pt x="1179" y="1708"/>
                  </a:lnTo>
                  <a:cubicBezTo>
                    <a:pt x="1180" y="1694"/>
                    <a:pt x="1181" y="1680"/>
                    <a:pt x="1182" y="1666"/>
                  </a:cubicBezTo>
                  <a:cubicBezTo>
                    <a:pt x="1190" y="1656"/>
                    <a:pt x="1198" y="1646"/>
                    <a:pt x="1206" y="1636"/>
                  </a:cubicBezTo>
                  <a:lnTo>
                    <a:pt x="1257" y="1627"/>
                  </a:lnTo>
                  <a:lnTo>
                    <a:pt x="1326" y="1639"/>
                  </a:lnTo>
                  <a:cubicBezTo>
                    <a:pt x="1331" y="1625"/>
                    <a:pt x="1336" y="1611"/>
                    <a:pt x="1341" y="1597"/>
                  </a:cubicBezTo>
                  <a:cubicBezTo>
                    <a:pt x="1335" y="1584"/>
                    <a:pt x="1329" y="1571"/>
                    <a:pt x="1323" y="1558"/>
                  </a:cubicBezTo>
                  <a:cubicBezTo>
                    <a:pt x="1325" y="1533"/>
                    <a:pt x="1327" y="1508"/>
                    <a:pt x="1329" y="1483"/>
                  </a:cubicBezTo>
                  <a:lnTo>
                    <a:pt x="1365" y="1447"/>
                  </a:lnTo>
                  <a:lnTo>
                    <a:pt x="1437" y="1450"/>
                  </a:lnTo>
                  <a:lnTo>
                    <a:pt x="1470" y="1423"/>
                  </a:lnTo>
                  <a:lnTo>
                    <a:pt x="1524" y="1414"/>
                  </a:lnTo>
                  <a:lnTo>
                    <a:pt x="1566" y="1396"/>
                  </a:lnTo>
                  <a:lnTo>
                    <a:pt x="1617" y="1372"/>
                  </a:lnTo>
                  <a:lnTo>
                    <a:pt x="1650" y="1381"/>
                  </a:lnTo>
                  <a:lnTo>
                    <a:pt x="1722" y="1408"/>
                  </a:lnTo>
                  <a:lnTo>
                    <a:pt x="1764" y="1369"/>
                  </a:lnTo>
                  <a:cubicBezTo>
                    <a:pt x="1768" y="1353"/>
                    <a:pt x="1772" y="1337"/>
                    <a:pt x="1776" y="1321"/>
                  </a:cubicBezTo>
                  <a:cubicBezTo>
                    <a:pt x="1766" y="1307"/>
                    <a:pt x="1756" y="1293"/>
                    <a:pt x="1746" y="1279"/>
                  </a:cubicBezTo>
                  <a:lnTo>
                    <a:pt x="1788" y="1240"/>
                  </a:lnTo>
                  <a:lnTo>
                    <a:pt x="1836" y="1192"/>
                  </a:lnTo>
                  <a:cubicBezTo>
                    <a:pt x="1846" y="1201"/>
                    <a:pt x="1856" y="1210"/>
                    <a:pt x="1866" y="1219"/>
                  </a:cubicBezTo>
                  <a:lnTo>
                    <a:pt x="1905" y="1237"/>
                  </a:lnTo>
                  <a:cubicBezTo>
                    <a:pt x="1911" y="1255"/>
                    <a:pt x="1917" y="1273"/>
                    <a:pt x="1923" y="1291"/>
                  </a:cubicBezTo>
                  <a:lnTo>
                    <a:pt x="1953" y="1315"/>
                  </a:lnTo>
                  <a:lnTo>
                    <a:pt x="1995" y="1327"/>
                  </a:lnTo>
                  <a:lnTo>
                    <a:pt x="2064" y="1333"/>
                  </a:lnTo>
                  <a:cubicBezTo>
                    <a:pt x="2059" y="1318"/>
                    <a:pt x="2054" y="1303"/>
                    <a:pt x="2049" y="1288"/>
                  </a:cubicBezTo>
                  <a:cubicBezTo>
                    <a:pt x="2046" y="1272"/>
                    <a:pt x="2043" y="1256"/>
                    <a:pt x="2040" y="1240"/>
                  </a:cubicBezTo>
                  <a:lnTo>
                    <a:pt x="2001" y="1252"/>
                  </a:lnTo>
                  <a:lnTo>
                    <a:pt x="1956" y="1228"/>
                  </a:lnTo>
                  <a:cubicBezTo>
                    <a:pt x="1955" y="1212"/>
                    <a:pt x="1954" y="1196"/>
                    <a:pt x="1953" y="1180"/>
                  </a:cubicBezTo>
                  <a:lnTo>
                    <a:pt x="2001" y="1183"/>
                  </a:lnTo>
                  <a:cubicBezTo>
                    <a:pt x="2011" y="1168"/>
                    <a:pt x="2021" y="1153"/>
                    <a:pt x="2031" y="1138"/>
                  </a:cubicBezTo>
                  <a:lnTo>
                    <a:pt x="2094" y="1165"/>
                  </a:lnTo>
                  <a:lnTo>
                    <a:pt x="2160" y="1183"/>
                  </a:lnTo>
                  <a:lnTo>
                    <a:pt x="2193" y="1204"/>
                  </a:lnTo>
                  <a:cubicBezTo>
                    <a:pt x="2196" y="1182"/>
                    <a:pt x="2199" y="1160"/>
                    <a:pt x="2202" y="1138"/>
                  </a:cubicBezTo>
                  <a:cubicBezTo>
                    <a:pt x="2208" y="1126"/>
                    <a:pt x="2214" y="1114"/>
                    <a:pt x="2220" y="1102"/>
                  </a:cubicBezTo>
                  <a:lnTo>
                    <a:pt x="2286" y="1111"/>
                  </a:lnTo>
                  <a:lnTo>
                    <a:pt x="2352" y="1090"/>
                  </a:lnTo>
                  <a:lnTo>
                    <a:pt x="2364" y="1042"/>
                  </a:lnTo>
                  <a:lnTo>
                    <a:pt x="2418" y="1027"/>
                  </a:lnTo>
                  <a:cubicBezTo>
                    <a:pt x="2423" y="1018"/>
                    <a:pt x="2428" y="1009"/>
                    <a:pt x="2433" y="1000"/>
                  </a:cubicBezTo>
                  <a:cubicBezTo>
                    <a:pt x="2445" y="1004"/>
                    <a:pt x="2457" y="1008"/>
                    <a:pt x="2469" y="1012"/>
                  </a:cubicBezTo>
                  <a:lnTo>
                    <a:pt x="2511" y="979"/>
                  </a:lnTo>
                  <a:cubicBezTo>
                    <a:pt x="2520" y="968"/>
                    <a:pt x="2529" y="957"/>
                    <a:pt x="2538" y="946"/>
                  </a:cubicBezTo>
                  <a:cubicBezTo>
                    <a:pt x="2532" y="937"/>
                    <a:pt x="2526" y="928"/>
                    <a:pt x="2520" y="919"/>
                  </a:cubicBezTo>
                  <a:lnTo>
                    <a:pt x="2553" y="862"/>
                  </a:lnTo>
                  <a:cubicBezTo>
                    <a:pt x="2559" y="848"/>
                    <a:pt x="2565" y="834"/>
                    <a:pt x="2571" y="820"/>
                  </a:cubicBezTo>
                  <a:lnTo>
                    <a:pt x="2649" y="769"/>
                  </a:lnTo>
                  <a:cubicBezTo>
                    <a:pt x="2652" y="759"/>
                    <a:pt x="2656" y="753"/>
                    <a:pt x="2658" y="739"/>
                  </a:cubicBezTo>
                  <a:lnTo>
                    <a:pt x="2660" y="687"/>
                  </a:lnTo>
                  <a:lnTo>
                    <a:pt x="2835" y="645"/>
                  </a:lnTo>
                  <a:lnTo>
                    <a:pt x="2945" y="620"/>
                  </a:lnTo>
                  <a:lnTo>
                    <a:pt x="2975" y="515"/>
                  </a:lnTo>
                  <a:lnTo>
                    <a:pt x="2955" y="420"/>
                  </a:lnTo>
                  <a:lnTo>
                    <a:pt x="3035" y="350"/>
                  </a:lnTo>
                  <a:lnTo>
                    <a:pt x="3095" y="530"/>
                  </a:lnTo>
                  <a:lnTo>
                    <a:pt x="3225" y="425"/>
                  </a:lnTo>
                  <a:lnTo>
                    <a:pt x="3335" y="455"/>
                  </a:lnTo>
                  <a:lnTo>
                    <a:pt x="3305" y="305"/>
                  </a:lnTo>
                  <a:lnTo>
                    <a:pt x="3365" y="240"/>
                  </a:lnTo>
                  <a:lnTo>
                    <a:pt x="3470" y="210"/>
                  </a:lnTo>
                  <a:lnTo>
                    <a:pt x="3480" y="120"/>
                  </a:lnTo>
                  <a:lnTo>
                    <a:pt x="3620" y="45"/>
                  </a:lnTo>
                  <a:lnTo>
                    <a:pt x="3705" y="135"/>
                  </a:lnTo>
                  <a:lnTo>
                    <a:pt x="3840" y="210"/>
                  </a:lnTo>
                  <a:lnTo>
                    <a:pt x="3975" y="230"/>
                  </a:lnTo>
                  <a:lnTo>
                    <a:pt x="4040" y="80"/>
                  </a:lnTo>
                  <a:lnTo>
                    <a:pt x="4170" y="0"/>
                  </a:lnTo>
                  <a:close/>
                </a:path>
              </a:pathLst>
            </a:custGeom>
            <a:solidFill>
              <a:srgbClr val="FFD966"/>
            </a:solidFill>
            <a:ln w="9525" cap="flat" cmpd="sng">
              <a:solidFill>
                <a:schemeClr val="dk1"/>
              </a:solidFill>
              <a:prstDash val="solid"/>
              <a:round/>
              <a:headEnd type="none" w="sm" len="sm"/>
              <a:tailEnd type="none" w="sm" len="sm"/>
            </a:ln>
            <a:effectLst>
              <a:outerShdw dist="28398" dir="6993903" algn="ctr" rotWithShape="0">
                <a:srgbClr val="B2B2B2">
                  <a:alpha val="4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sp>
        <p:nvSpPr>
          <p:cNvPr id="467" name="Google Shape;467;p66"/>
          <p:cNvSpPr/>
          <p:nvPr/>
        </p:nvSpPr>
        <p:spPr>
          <a:xfrm>
            <a:off x="244011" y="6275992"/>
            <a:ext cx="453984" cy="203782"/>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468" name="Google Shape;468;p66"/>
          <p:cNvSpPr/>
          <p:nvPr/>
        </p:nvSpPr>
        <p:spPr>
          <a:xfrm>
            <a:off x="2307388" y="6248246"/>
            <a:ext cx="453984" cy="203782"/>
          </a:xfrm>
          <a:prstGeom prst="rect">
            <a:avLst/>
          </a:prstGeom>
          <a:solidFill>
            <a:srgbClr val="FFD9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469" name="Google Shape;469;p66"/>
          <p:cNvSpPr/>
          <p:nvPr/>
        </p:nvSpPr>
        <p:spPr>
          <a:xfrm>
            <a:off x="4002090" y="6263868"/>
            <a:ext cx="453984" cy="203782"/>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470" name="Google Shape;470;p66"/>
          <p:cNvSpPr txBox="1"/>
          <p:nvPr/>
        </p:nvSpPr>
        <p:spPr>
          <a:xfrm>
            <a:off x="704702" y="6193441"/>
            <a:ext cx="1608804"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Calibri"/>
                <a:cs typeface="Calibri"/>
                <a:sym typeface="Calibri"/>
              </a:rPr>
              <a:t>Significant Progress</a:t>
            </a: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71" name="Google Shape;471;p66"/>
          <p:cNvSpPr txBox="1"/>
          <p:nvPr/>
        </p:nvSpPr>
        <p:spPr>
          <a:xfrm>
            <a:off x="2785113" y="6193441"/>
            <a:ext cx="120521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Calibri"/>
                <a:cs typeface="Calibri"/>
                <a:sym typeface="Calibri"/>
              </a:rPr>
              <a:t>Slow Progress</a:t>
            </a: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72" name="Google Shape;472;p66"/>
          <p:cNvSpPr txBox="1"/>
          <p:nvPr/>
        </p:nvSpPr>
        <p:spPr>
          <a:xfrm>
            <a:off x="4445934" y="6203989"/>
            <a:ext cx="120521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Calibri"/>
                <a:cs typeface="Calibri"/>
                <a:sym typeface="Calibri"/>
              </a:rPr>
              <a:t>No Progress</a:t>
            </a: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06536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A74C88-C074-41F9-B078-368F4027BEB9}"/>
              </a:ext>
            </a:extLst>
          </p:cNvPr>
          <p:cNvGraphicFramePr>
            <a:graphicFrameLocks noGrp="1"/>
          </p:cNvGraphicFramePr>
          <p:nvPr/>
        </p:nvGraphicFramePr>
        <p:xfrm>
          <a:off x="821143" y="906477"/>
          <a:ext cx="10603873" cy="4894207"/>
        </p:xfrm>
        <a:graphic>
          <a:graphicData uri="http://schemas.openxmlformats.org/drawingml/2006/table">
            <a:tbl>
              <a:tblPr>
                <a:tableStyleId>{5C22544A-7EE6-4342-B048-85BDC9FD1C3A}</a:tableStyleId>
              </a:tblPr>
              <a:tblGrid>
                <a:gridCol w="856520">
                  <a:extLst>
                    <a:ext uri="{9D8B030D-6E8A-4147-A177-3AD203B41FA5}">
                      <a16:colId xmlns:a16="http://schemas.microsoft.com/office/drawing/2014/main" val="2887428164"/>
                    </a:ext>
                  </a:extLst>
                </a:gridCol>
                <a:gridCol w="1588126">
                  <a:extLst>
                    <a:ext uri="{9D8B030D-6E8A-4147-A177-3AD203B41FA5}">
                      <a16:colId xmlns:a16="http://schemas.microsoft.com/office/drawing/2014/main" val="1768223166"/>
                    </a:ext>
                  </a:extLst>
                </a:gridCol>
                <a:gridCol w="1588126">
                  <a:extLst>
                    <a:ext uri="{9D8B030D-6E8A-4147-A177-3AD203B41FA5}">
                      <a16:colId xmlns:a16="http://schemas.microsoft.com/office/drawing/2014/main" val="4155450542"/>
                    </a:ext>
                  </a:extLst>
                </a:gridCol>
                <a:gridCol w="6571101">
                  <a:extLst>
                    <a:ext uri="{9D8B030D-6E8A-4147-A177-3AD203B41FA5}">
                      <a16:colId xmlns:a16="http://schemas.microsoft.com/office/drawing/2014/main" val="404484248"/>
                    </a:ext>
                  </a:extLst>
                </a:gridCol>
              </a:tblGrid>
              <a:tr h="182880">
                <a:tc>
                  <a:txBody>
                    <a:bodyPr/>
                    <a:lstStyle/>
                    <a:p>
                      <a:pPr algn="ctr" fontAlgn="ctr"/>
                      <a:r>
                        <a:rPr lang="en-IN" sz="1600" b="1" u="none" strike="noStrike" dirty="0">
                          <a:solidFill>
                            <a:schemeClr val="bg1"/>
                          </a:solidFill>
                          <a:effectLst/>
                        </a:rPr>
                        <a:t>Sr. No.</a:t>
                      </a:r>
                      <a:endParaRPr lang="en-IN" sz="1600" b="1" i="0" u="none" strike="noStrike" dirty="0">
                        <a:solidFill>
                          <a:schemeClr val="bg1"/>
                        </a:solidFill>
                        <a:effectLst/>
                        <a:latin typeface="Calibri" panose="020F0502020204030204" pitchFamily="34"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solidFill>
                  </a:tcPr>
                </a:tc>
                <a:tc>
                  <a:txBody>
                    <a:bodyPr/>
                    <a:lstStyle/>
                    <a:p>
                      <a:pPr algn="ctr" fontAlgn="ctr"/>
                      <a:r>
                        <a:rPr lang="en-IN" sz="1600" b="1" u="none" strike="noStrike" dirty="0">
                          <a:solidFill>
                            <a:schemeClr val="bg1"/>
                          </a:solidFill>
                          <a:effectLst/>
                        </a:rPr>
                        <a:t>State</a:t>
                      </a:r>
                      <a:endParaRPr lang="en-IN" sz="1600" b="1" i="0" u="none" strike="noStrike" dirty="0">
                        <a:solidFill>
                          <a:schemeClr val="bg1"/>
                        </a:solidFill>
                        <a:effectLst/>
                        <a:latin typeface="Calibri" panose="020F0502020204030204" pitchFamily="34"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solidFill>
                  </a:tcPr>
                </a:tc>
                <a:tc>
                  <a:txBody>
                    <a:bodyPr/>
                    <a:lstStyle/>
                    <a:p>
                      <a:pPr algn="ctr" fontAlgn="ctr"/>
                      <a:r>
                        <a:rPr lang="en-IN" sz="1600" b="1" u="none" strike="noStrike" dirty="0">
                          <a:solidFill>
                            <a:schemeClr val="bg1"/>
                          </a:solidFill>
                          <a:effectLst/>
                        </a:rPr>
                        <a:t>Sanctioned (IPS)</a:t>
                      </a:r>
                      <a:endParaRPr lang="en-IN" sz="1600" b="1" i="0" u="none" strike="noStrike" dirty="0">
                        <a:solidFill>
                          <a:schemeClr val="bg1"/>
                        </a:solidFill>
                        <a:effectLst/>
                        <a:latin typeface="Calibri" panose="020F0502020204030204" pitchFamily="34"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solidFill>
                  </a:tcPr>
                </a:tc>
                <a:tc>
                  <a:txBody>
                    <a:bodyPr/>
                    <a:lstStyle/>
                    <a:p>
                      <a:pPr algn="ctr" fontAlgn="ctr"/>
                      <a:r>
                        <a:rPr lang="en-IN" sz="1600" b="1" u="none" strike="noStrike" dirty="0">
                          <a:solidFill>
                            <a:schemeClr val="bg1"/>
                          </a:solidFill>
                          <a:effectLst/>
                        </a:rPr>
                        <a:t>Achievement</a:t>
                      </a:r>
                      <a:endParaRPr lang="en-IN" sz="1600" b="1" i="0" u="none" strike="noStrike" dirty="0">
                        <a:solidFill>
                          <a:schemeClr val="bg1"/>
                        </a:solidFill>
                        <a:effectLst/>
                        <a:latin typeface="Calibri" panose="020F0502020204030204" pitchFamily="34"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1"/>
                    </a:solidFill>
                  </a:tcPr>
                </a:tc>
                <a:extLst>
                  <a:ext uri="{0D108BD9-81ED-4DB2-BD59-A6C34878D82A}">
                    <a16:rowId xmlns:a16="http://schemas.microsoft.com/office/drawing/2014/main" val="1161723424"/>
                  </a:ext>
                </a:extLst>
              </a:tr>
              <a:tr h="416371">
                <a:tc>
                  <a:txBody>
                    <a:bodyPr/>
                    <a:lstStyle/>
                    <a:p>
                      <a:pPr algn="ctr" fontAlgn="ctr"/>
                      <a:r>
                        <a:rPr lang="en-IN" sz="13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 action="ppaction://noaction"/>
                        </a:rPr>
                        <a:t>Assam</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solidFill>
                            <a:schemeClr val="tx2">
                              <a:lumMod val="50000"/>
                            </a:schemeClr>
                          </a:solidFill>
                          <a:effectLst/>
                          <a:latin typeface="Times New Roman" panose="02020603050405020304" pitchFamily="18" charset="0"/>
                          <a:cs typeface="Times New Roman" panose="02020603050405020304" pitchFamily="18" charset="0"/>
                        </a:rPr>
                        <a:t>603</a:t>
                      </a:r>
                      <a:endParaRPr lang="en-IN" sz="13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r>
                        <a:rPr lang="en-US"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No progress has been reported</a:t>
                      </a:r>
                      <a:endParaRPr lang="en-US"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848069083"/>
                  </a:ext>
                </a:extLst>
              </a:tr>
              <a:tr h="548640">
                <a:tc>
                  <a:txBody>
                    <a:bodyPr/>
                    <a:lstStyle/>
                    <a:p>
                      <a:pPr algn="ctr" fontAlgn="ctr"/>
                      <a:r>
                        <a:rPr lang="en-IN" sz="13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 action="ppaction://noaction"/>
                        </a:rPr>
                        <a:t>Gujarat</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solidFill>
                            <a:schemeClr val="tx2">
                              <a:lumMod val="50000"/>
                            </a:schemeClr>
                          </a:solidFill>
                          <a:effectLst/>
                          <a:latin typeface="Times New Roman" panose="02020603050405020304" pitchFamily="18" charset="0"/>
                          <a:cs typeface="Times New Roman" panose="02020603050405020304" pitchFamily="18" charset="0"/>
                        </a:rPr>
                        <a:t>7000</a:t>
                      </a:r>
                      <a:endParaRPr lang="en-IN" sz="13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r>
                        <a:rPr lang="en-IN"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Work allocated under IPS. </a:t>
                      </a:r>
                      <a:endParaRPr lang="en-IN"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732221888"/>
                  </a:ext>
                </a:extLst>
              </a:tr>
              <a:tr h="548640">
                <a:tc>
                  <a:txBody>
                    <a:bodyPr/>
                    <a:lstStyle/>
                    <a:p>
                      <a:pPr algn="ctr" fontAlgn="ctr"/>
                      <a:r>
                        <a:rPr lang="en-IN" sz="13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rId2" action="ppaction://hlinksldjump"/>
                        </a:rPr>
                        <a:t>Jharkhand</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solidFill>
                            <a:schemeClr val="tx2">
                              <a:lumMod val="50000"/>
                            </a:schemeClr>
                          </a:solidFill>
                          <a:effectLst/>
                          <a:latin typeface="Times New Roman" panose="02020603050405020304" pitchFamily="18" charset="0"/>
                          <a:cs typeface="Times New Roman" panose="02020603050405020304" pitchFamily="18" charset="0"/>
                        </a:rPr>
                        <a:t>208</a:t>
                      </a:r>
                      <a:endParaRPr lang="en-IN" sz="13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r>
                        <a:rPr lang="en-US"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Initial</a:t>
                      </a:r>
                      <a:r>
                        <a:rPr lang="en-US" sz="1200" u="none" strike="noStrike" baseline="0" dirty="0">
                          <a:solidFill>
                            <a:schemeClr val="tx2">
                              <a:lumMod val="50000"/>
                            </a:schemeClr>
                          </a:solidFill>
                          <a:effectLst/>
                          <a:latin typeface="Times New Roman" panose="02020603050405020304" pitchFamily="18" charset="0"/>
                          <a:cs typeface="Times New Roman" panose="02020603050405020304" pitchFamily="18" charset="0"/>
                        </a:rPr>
                        <a:t>ly sanctioned in FY 2019-20. No progress report. Capacity cancelled and </a:t>
                      </a:r>
                      <a:r>
                        <a:rPr lang="en-US" sz="1200" u="none" strike="noStrike" baseline="0" dirty="0" err="1">
                          <a:solidFill>
                            <a:schemeClr val="tx2">
                              <a:lumMod val="50000"/>
                            </a:schemeClr>
                          </a:solidFill>
                          <a:effectLst/>
                          <a:latin typeface="Times New Roman" panose="02020603050405020304" pitchFamily="18" charset="0"/>
                          <a:cs typeface="Times New Roman" panose="02020603050405020304" pitchFamily="18" charset="0"/>
                        </a:rPr>
                        <a:t>resanctioned</a:t>
                      </a:r>
                      <a:r>
                        <a:rPr lang="en-US" sz="1200" u="none" strike="noStrike" baseline="0" dirty="0">
                          <a:solidFill>
                            <a:schemeClr val="tx2">
                              <a:lumMod val="50000"/>
                            </a:schemeClr>
                          </a:solidFill>
                          <a:effectLst/>
                          <a:latin typeface="Times New Roman" panose="02020603050405020304" pitchFamily="18" charset="0"/>
                          <a:cs typeface="Times New Roman" panose="02020603050405020304" pitchFamily="18" charset="0"/>
                        </a:rPr>
                        <a:t> rece</a:t>
                      </a:r>
                      <a:r>
                        <a:rPr lang="en-US"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ntly</a:t>
                      </a:r>
                      <a:endParaRPr lang="en-US"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388224677"/>
                  </a:ext>
                </a:extLst>
              </a:tr>
              <a:tr h="369944">
                <a:tc>
                  <a:txBody>
                    <a:bodyPr/>
                    <a:lstStyle/>
                    <a:p>
                      <a:pPr algn="ctr" fontAlgn="ctr"/>
                      <a:r>
                        <a:rPr lang="en-IN" sz="1300" b="1" i="0" u="none" strike="noStrike" dirty="0">
                          <a:solidFill>
                            <a:srgbClr val="000000"/>
                          </a:solidFill>
                          <a:effectLst/>
                          <a:latin typeface="Times New Roman" panose="02020603050405020304" pitchFamily="18" charset="0"/>
                          <a:cs typeface="Times New Roman" panose="02020603050405020304" pitchFamily="18" charset="0"/>
                        </a:rPr>
                        <a:t>4</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60000"/>
                        <a:lumOff val="4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rId3" action="ppaction://hlinksldjump"/>
                        </a:rPr>
                        <a:t>Kerala</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60000"/>
                        <a:lumOff val="40000"/>
                      </a:schemeClr>
                    </a:solidFill>
                  </a:tcPr>
                </a:tc>
                <a:tc>
                  <a:txBody>
                    <a:bodyPr/>
                    <a:lstStyle/>
                    <a:p>
                      <a:pPr algn="ctr" fontAlgn="ctr"/>
                      <a:r>
                        <a:rPr lang="en-IN" sz="1300" u="none" strike="noStrike" dirty="0">
                          <a:solidFill>
                            <a:schemeClr val="tx2">
                              <a:lumMod val="50000"/>
                            </a:schemeClr>
                          </a:solidFill>
                          <a:effectLst/>
                          <a:latin typeface="Times New Roman" panose="02020603050405020304" pitchFamily="18" charset="0"/>
                          <a:cs typeface="Times New Roman" panose="02020603050405020304" pitchFamily="18" charset="0"/>
                        </a:rPr>
                        <a:t>9448</a:t>
                      </a:r>
                      <a:endParaRPr lang="en-IN" sz="13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l" fontAlgn="b"/>
                      <a:r>
                        <a:rPr lang="en-US"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rPr>
                        <a:t>38 Work Orders issued. </a:t>
                      </a:r>
                      <a:r>
                        <a:rPr lang="en-US" sz="1200" b="1" i="0" u="none" strike="noStrike" dirty="0">
                          <a:solidFill>
                            <a:schemeClr val="tx2">
                              <a:lumMod val="50000"/>
                            </a:schemeClr>
                          </a:solidFill>
                          <a:effectLst/>
                          <a:latin typeface="Times New Roman" panose="02020603050405020304" pitchFamily="18" charset="0"/>
                          <a:cs typeface="Times New Roman" panose="02020603050405020304" pitchFamily="18" charset="0"/>
                        </a:rPr>
                        <a:t>14 Pumps installed under IPS</a:t>
                      </a:r>
                      <a:r>
                        <a:rPr lang="en-US"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rPr>
                        <a:t>. Other installations are on-going</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1010655852"/>
                  </a:ext>
                </a:extLst>
              </a:tr>
              <a:tr h="340962">
                <a:tc>
                  <a:txBody>
                    <a:bodyPr/>
                    <a:lstStyle/>
                    <a:p>
                      <a:pPr algn="ctr" fontAlgn="ctr"/>
                      <a:r>
                        <a:rPr lang="en-IN" sz="13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 action="ppaction://noaction"/>
                        </a:rPr>
                        <a:t>Punjab</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solidFill>
                            <a:schemeClr val="tx2">
                              <a:lumMod val="50000"/>
                            </a:schemeClr>
                          </a:solidFill>
                          <a:effectLst/>
                          <a:latin typeface="Times New Roman" panose="02020603050405020304" pitchFamily="18" charset="0"/>
                          <a:cs typeface="Times New Roman" panose="02020603050405020304" pitchFamily="18" charset="0"/>
                        </a:rPr>
                        <a:t>39</a:t>
                      </a:r>
                      <a:endParaRPr lang="en-IN" sz="13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r>
                        <a:rPr lang="en-US"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Sanctioned recently</a:t>
                      </a:r>
                      <a:endParaRPr lang="en-US"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190486041"/>
                  </a:ext>
                </a:extLst>
              </a:tr>
              <a:tr h="423171">
                <a:tc>
                  <a:txBody>
                    <a:bodyPr/>
                    <a:lstStyle/>
                    <a:p>
                      <a:pPr algn="ctr" fontAlgn="ctr"/>
                      <a:r>
                        <a:rPr lang="en-IN" sz="1300" b="1" i="0" u="none" strike="noStrike" dirty="0">
                          <a:solidFill>
                            <a:srgbClr val="000000"/>
                          </a:solidFill>
                          <a:effectLst/>
                          <a:latin typeface="Times New Roman" panose="02020603050405020304" pitchFamily="18" charset="0"/>
                          <a:cs typeface="Times New Roman" panose="02020603050405020304" pitchFamily="18" charset="0"/>
                        </a:rPr>
                        <a:t>6</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60000"/>
                        <a:lumOff val="40000"/>
                      </a:schemeClr>
                    </a:solidFill>
                  </a:tcPr>
                </a:tc>
                <a:tc>
                  <a:txBody>
                    <a:bodyPr/>
                    <a:lstStyle/>
                    <a:p>
                      <a:pPr algn="ctr" fontAlgn="ctr"/>
                      <a:r>
                        <a:rPr lang="en-IN" sz="1300" b="1" u="none" strike="noStrike" dirty="0">
                          <a:effectLst/>
                          <a:latin typeface="Times New Roman" panose="02020603050405020304" pitchFamily="18" charset="0"/>
                          <a:cs typeface="Times New Roman" panose="02020603050405020304" pitchFamily="18" charset="0"/>
                          <a:hlinkClick r:id="" action="ppaction://noaction"/>
                        </a:rPr>
                        <a:t>Rajasthan</a:t>
                      </a:r>
                      <a:endParaRPr lang="en-IN"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6">
                        <a:lumMod val="60000"/>
                        <a:lumOff val="40000"/>
                      </a:schemeClr>
                    </a:solidFill>
                  </a:tcPr>
                </a:tc>
                <a:tc>
                  <a:txBody>
                    <a:bodyPr/>
                    <a:lstStyle/>
                    <a:p>
                      <a:pPr algn="ctr" fontAlgn="ctr"/>
                      <a:r>
                        <a:rPr lang="en-IN" sz="1300" b="1" u="none" strike="noStrike" dirty="0">
                          <a:solidFill>
                            <a:schemeClr val="tx2">
                              <a:lumMod val="50000"/>
                            </a:schemeClr>
                          </a:solidFill>
                          <a:effectLst/>
                          <a:latin typeface="Times New Roman" panose="02020603050405020304" pitchFamily="18" charset="0"/>
                          <a:cs typeface="Times New Roman" panose="02020603050405020304" pitchFamily="18" charset="0"/>
                        </a:rPr>
                        <a:t>10764</a:t>
                      </a:r>
                      <a:endParaRPr lang="en-IN" sz="1300" b="1"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l" fontAlgn="b"/>
                      <a:r>
                        <a:rPr lang="en-US" sz="1200" b="1" u="none" strike="noStrike" dirty="0">
                          <a:solidFill>
                            <a:schemeClr val="tx2">
                              <a:lumMod val="50000"/>
                            </a:schemeClr>
                          </a:solidFill>
                          <a:effectLst/>
                          <a:latin typeface="Times New Roman" panose="02020603050405020304" pitchFamily="18" charset="0"/>
                          <a:cs typeface="Times New Roman" panose="02020603050405020304" pitchFamily="18" charset="0"/>
                        </a:rPr>
                        <a:t>1026 pumps have been </a:t>
                      </a:r>
                      <a:r>
                        <a:rPr lang="en-US" sz="1200" b="1" u="none" strike="noStrike" dirty="0" err="1">
                          <a:solidFill>
                            <a:schemeClr val="tx2">
                              <a:lumMod val="50000"/>
                            </a:schemeClr>
                          </a:solidFill>
                          <a:effectLst/>
                          <a:latin typeface="Times New Roman" panose="02020603050405020304" pitchFamily="18" charset="0"/>
                          <a:cs typeface="Times New Roman" panose="02020603050405020304" pitchFamily="18" charset="0"/>
                        </a:rPr>
                        <a:t>solarised</a:t>
                      </a:r>
                      <a:r>
                        <a:rPr lang="en-US" sz="1200" b="1" u="none" strike="noStrike" dirty="0">
                          <a:solidFill>
                            <a:schemeClr val="tx2">
                              <a:lumMod val="50000"/>
                            </a:schemeClr>
                          </a:solidFill>
                          <a:effectLst/>
                          <a:latin typeface="Times New Roman" panose="02020603050405020304" pitchFamily="18" charset="0"/>
                          <a:cs typeface="Times New Roman" panose="02020603050405020304" pitchFamily="18" charset="0"/>
                        </a:rPr>
                        <a:t> </a:t>
                      </a:r>
                      <a:endParaRPr lang="en-US" sz="1200" b="1"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524914702"/>
                  </a:ext>
                </a:extLst>
              </a:tr>
              <a:tr h="426602">
                <a:tc>
                  <a:txBody>
                    <a:bodyPr/>
                    <a:lstStyle/>
                    <a:p>
                      <a:pPr algn="ctr" fontAlgn="ctr"/>
                      <a:r>
                        <a:rPr lang="en-IN" sz="13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 action="ppaction://noaction"/>
                        </a:rPr>
                        <a:t>Tamil Nadu</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solidFill>
                            <a:schemeClr val="tx2">
                              <a:lumMod val="50000"/>
                            </a:schemeClr>
                          </a:solidFill>
                          <a:effectLst/>
                          <a:latin typeface="Times New Roman" panose="02020603050405020304" pitchFamily="18" charset="0"/>
                          <a:cs typeface="Times New Roman" panose="02020603050405020304" pitchFamily="18" charset="0"/>
                        </a:rPr>
                        <a:t>20000</a:t>
                      </a:r>
                      <a:endParaRPr lang="en-IN" sz="13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r>
                        <a:rPr lang="en-IN"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 No progress reported even after revalidation of sanction in FY 2021-22</a:t>
                      </a:r>
                      <a:endParaRPr lang="en-IN"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413324092"/>
                  </a:ext>
                </a:extLst>
              </a:tr>
              <a:tr h="464949">
                <a:tc>
                  <a:txBody>
                    <a:bodyPr/>
                    <a:lstStyle/>
                    <a:p>
                      <a:pPr algn="ctr" fontAlgn="ctr"/>
                      <a:r>
                        <a:rPr lang="en-IN" sz="13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 action="ppaction://noaction"/>
                        </a:rPr>
                        <a:t>Tripura</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a:solidFill>
                            <a:schemeClr val="tx2">
                              <a:lumMod val="50000"/>
                            </a:schemeClr>
                          </a:solidFill>
                          <a:effectLst/>
                          <a:latin typeface="Times New Roman" panose="02020603050405020304" pitchFamily="18" charset="0"/>
                          <a:cs typeface="Times New Roman" panose="02020603050405020304" pitchFamily="18" charset="0"/>
                        </a:rPr>
                        <a:t>2600</a:t>
                      </a:r>
                      <a:endParaRPr lang="en-IN" sz="1300" b="0" i="0" u="none" strike="noStrike">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r>
                        <a:rPr lang="en-US"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Tender for selection of vendors under finalization.</a:t>
                      </a:r>
                      <a:endParaRPr lang="en-US"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59822048"/>
                  </a:ext>
                </a:extLst>
              </a:tr>
              <a:tr h="485954">
                <a:tc>
                  <a:txBody>
                    <a:bodyPr/>
                    <a:lstStyle/>
                    <a:p>
                      <a:pPr algn="ctr" fontAlgn="ctr"/>
                      <a:r>
                        <a:rPr lang="en-IN" sz="13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 action="ppaction://noaction"/>
                        </a:rPr>
                        <a:t>Uttarakhand</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a:solidFill>
                            <a:schemeClr val="tx2">
                              <a:lumMod val="50000"/>
                            </a:schemeClr>
                          </a:solidFill>
                          <a:effectLst/>
                          <a:latin typeface="Times New Roman" panose="02020603050405020304" pitchFamily="18" charset="0"/>
                          <a:cs typeface="Times New Roman" panose="02020603050405020304" pitchFamily="18" charset="0"/>
                        </a:rPr>
                        <a:t>200</a:t>
                      </a:r>
                      <a:endParaRPr lang="en-IN" sz="1300" b="0" i="0" u="none" strike="noStrike">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r>
                        <a:rPr lang="en-US"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Tariff for Rs. 3.48/unit has been declared.</a:t>
                      </a:r>
                      <a:endParaRPr lang="en-US"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435843"/>
                  </a:ext>
                </a:extLst>
              </a:tr>
              <a:tr h="374904">
                <a:tc>
                  <a:txBody>
                    <a:bodyPr/>
                    <a:lstStyle/>
                    <a:p>
                      <a:pPr algn="ctr" fontAlgn="ctr"/>
                      <a:r>
                        <a:rPr lang="en-IN" sz="13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effectLst/>
                          <a:latin typeface="Times New Roman" panose="02020603050405020304" pitchFamily="18" charset="0"/>
                          <a:cs typeface="Times New Roman" panose="02020603050405020304" pitchFamily="18" charset="0"/>
                          <a:hlinkClick r:id="" action="ppaction://noaction"/>
                        </a:rPr>
                        <a:t>West Bengal</a:t>
                      </a:r>
                      <a:endParaRPr lang="en-IN" sz="13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2">
                        <a:lumMod val="20000"/>
                        <a:lumOff val="80000"/>
                      </a:schemeClr>
                    </a:solidFill>
                  </a:tcPr>
                </a:tc>
                <a:tc>
                  <a:txBody>
                    <a:bodyPr/>
                    <a:lstStyle/>
                    <a:p>
                      <a:pPr algn="ctr" fontAlgn="ctr"/>
                      <a:r>
                        <a:rPr lang="en-IN" sz="1300" u="none" strike="noStrike" dirty="0">
                          <a:solidFill>
                            <a:schemeClr val="tx2">
                              <a:lumMod val="50000"/>
                            </a:schemeClr>
                          </a:solidFill>
                          <a:effectLst/>
                          <a:latin typeface="Times New Roman" panose="02020603050405020304" pitchFamily="18" charset="0"/>
                          <a:cs typeface="Times New Roman" panose="02020603050405020304" pitchFamily="18" charset="0"/>
                        </a:rPr>
                        <a:t>5478</a:t>
                      </a:r>
                      <a:endParaRPr lang="en-IN" sz="13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r>
                        <a:rPr lang="en-US" sz="1200" u="none" strike="noStrike" dirty="0">
                          <a:solidFill>
                            <a:schemeClr val="tx2">
                              <a:lumMod val="50000"/>
                            </a:schemeClr>
                          </a:solidFill>
                          <a:effectLst/>
                          <a:latin typeface="Times New Roman" panose="02020603050405020304" pitchFamily="18" charset="0"/>
                          <a:cs typeface="Times New Roman" panose="02020603050405020304" pitchFamily="18" charset="0"/>
                        </a:rPr>
                        <a:t> Work awarded for 700 pumps under IPS. Balance have been sanctioned recently. </a:t>
                      </a:r>
                      <a:endParaRPr lang="en-US" sz="1200" b="0" i="0" u="none" strike="noStrike" dirty="0">
                        <a:solidFill>
                          <a:schemeClr val="tx2">
                            <a:lumMod val="50000"/>
                          </a:schemeClr>
                        </a:solidFill>
                        <a:effectLst/>
                        <a:latin typeface="Times New Roman" panose="02020603050405020304" pitchFamily="18" charset="0"/>
                        <a:cs typeface="Times New Roman" panose="02020603050405020304" pitchFamily="18" charset="0"/>
                      </a:endParaRPr>
                    </a:p>
                  </a:txBody>
                  <a:tcPr marL="6390" marR="6390" marT="6390" marB="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918744854"/>
                  </a:ext>
                </a:extLst>
              </a:tr>
            </a:tbl>
          </a:graphicData>
        </a:graphic>
      </p:graphicFrame>
      <p:sp>
        <p:nvSpPr>
          <p:cNvPr id="3" name="TextBox 2">
            <a:extLst>
              <a:ext uri="{FF2B5EF4-FFF2-40B4-BE49-F238E27FC236}">
                <a16:creationId xmlns:a16="http://schemas.microsoft.com/office/drawing/2014/main" id="{610EFFDB-03A3-4E6E-B9CA-54A349EECD45}"/>
              </a:ext>
            </a:extLst>
          </p:cNvPr>
          <p:cNvSpPr txBox="1"/>
          <p:nvPr/>
        </p:nvSpPr>
        <p:spPr>
          <a:xfrm>
            <a:off x="813661" y="358198"/>
            <a:ext cx="10593091" cy="400110"/>
          </a:xfrm>
          <a:prstGeom prst="rect">
            <a:avLst/>
          </a:prstGeom>
          <a:solidFill>
            <a:schemeClr val="accent1"/>
          </a:solidFill>
        </p:spPr>
        <p:txBody>
          <a:bodyPr wrap="square" rtlCol="0">
            <a:spAutoFit/>
          </a:bodyPr>
          <a:lstStyle/>
          <a:p>
            <a:pPr algn="ctr"/>
            <a:r>
              <a:rPr lang="en-IN" sz="2000" b="1" dirty="0">
                <a:solidFill>
                  <a:schemeClr val="bg1"/>
                </a:solidFill>
              </a:rPr>
              <a:t>COMPONENT C PROGRESS - INDIVIDUAL PUMP SOLARIZATION</a:t>
            </a:r>
          </a:p>
        </p:txBody>
      </p:sp>
    </p:spTree>
    <p:extLst>
      <p:ext uri="{BB962C8B-B14F-4D97-AF65-F5344CB8AC3E}">
        <p14:creationId xmlns:p14="http://schemas.microsoft.com/office/powerpoint/2010/main" val="6474634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b="1" dirty="0"/>
              <a:t>Renewable integration has historically been low in West Bengal; significant scope for improvement in this area that may help to reduce high-priced short term power purchase by WBSEDCL</a:t>
            </a:r>
          </a:p>
        </p:txBody>
      </p:sp>
      <p:sp>
        <p:nvSpPr>
          <p:cNvPr id="2" name="TextBox 1">
            <a:extLst>
              <a:ext uri="{FF2B5EF4-FFF2-40B4-BE49-F238E27FC236}">
                <a16:creationId xmlns:a16="http://schemas.microsoft.com/office/drawing/2014/main" id="{1523B0ED-60E2-49F3-A1DE-0C7052481509}"/>
              </a:ext>
            </a:extLst>
          </p:cNvPr>
          <p:cNvSpPr txBox="1"/>
          <p:nvPr/>
        </p:nvSpPr>
        <p:spPr>
          <a:xfrm>
            <a:off x="3187700" y="6513286"/>
            <a:ext cx="8318500"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1" u="none" strike="noStrike" kern="1200" cap="none" spc="0" normalizeH="0" baseline="0" noProof="0" dirty="0">
                <a:ln>
                  <a:noFill/>
                </a:ln>
                <a:solidFill>
                  <a:srgbClr val="313131"/>
                </a:solidFill>
                <a:effectLst/>
                <a:uLnTx/>
                <a:uFillTx/>
                <a:latin typeface="Verdana"/>
                <a:ea typeface="+mn-ea"/>
                <a:cs typeface="+mn-cs"/>
              </a:rPr>
              <a:t>Source: 1) Actual RPO details from respective APR Application 2) Target RPO figures from WBERC 3)RE potential data from MNRE’s Akshay </a:t>
            </a:r>
            <a:r>
              <a:rPr kumimoji="0" lang="en-US" sz="1100" b="0" i="1" u="none" strike="noStrike" kern="1200" cap="none" spc="0" normalizeH="0" baseline="0" noProof="0" dirty="0" err="1">
                <a:ln>
                  <a:noFill/>
                </a:ln>
                <a:solidFill>
                  <a:srgbClr val="313131"/>
                </a:solidFill>
                <a:effectLst/>
                <a:uLnTx/>
                <a:uFillTx/>
                <a:latin typeface="Verdana"/>
                <a:ea typeface="+mn-ea"/>
                <a:cs typeface="+mn-cs"/>
              </a:rPr>
              <a:t>Urja</a:t>
            </a:r>
            <a:r>
              <a:rPr kumimoji="0" lang="en-US" sz="1100" b="0" i="1" u="none" strike="noStrike" kern="1200" cap="none" spc="0" normalizeH="0" baseline="0" noProof="0" dirty="0">
                <a:ln>
                  <a:noFill/>
                </a:ln>
                <a:solidFill>
                  <a:srgbClr val="313131"/>
                </a:solidFill>
                <a:effectLst/>
                <a:uLnTx/>
                <a:uFillTx/>
                <a:latin typeface="Verdana"/>
                <a:ea typeface="+mn-ea"/>
                <a:cs typeface="+mn-cs"/>
              </a:rPr>
              <a:t> Portal 4) Actual installed capacity as on January 2022 from MNRE</a:t>
            </a:r>
          </a:p>
        </p:txBody>
      </p:sp>
      <p:graphicFrame>
        <p:nvGraphicFramePr>
          <p:cNvPr id="10" name="Chart 9">
            <a:extLst>
              <a:ext uri="{FF2B5EF4-FFF2-40B4-BE49-F238E27FC236}">
                <a16:creationId xmlns:a16="http://schemas.microsoft.com/office/drawing/2014/main" id="{174D8C43-E9A3-48E5-A52E-FA5A6173AE72}"/>
              </a:ext>
            </a:extLst>
          </p:cNvPr>
          <p:cNvGraphicFramePr/>
          <p:nvPr/>
        </p:nvGraphicFramePr>
        <p:xfrm>
          <a:off x="501873" y="3880724"/>
          <a:ext cx="11454747" cy="2348303"/>
        </p:xfrm>
        <a:graphic>
          <a:graphicData uri="http://schemas.openxmlformats.org/drawingml/2006/chart">
            <c:chart xmlns:c="http://schemas.openxmlformats.org/drawingml/2006/chart" xmlns:r="http://schemas.openxmlformats.org/officeDocument/2006/relationships" r:id="rId6"/>
          </a:graphicData>
        </a:graphic>
      </p:graphicFrame>
      <p:sp>
        <p:nvSpPr>
          <p:cNvPr id="11" name="Rectangle 10">
            <a:extLst>
              <a:ext uri="{FF2B5EF4-FFF2-40B4-BE49-F238E27FC236}">
                <a16:creationId xmlns:a16="http://schemas.microsoft.com/office/drawing/2014/main" id="{CF1D30E6-1A83-41CC-BAC6-9060A8994DEA}"/>
              </a:ext>
            </a:extLst>
          </p:cNvPr>
          <p:cNvSpPr/>
          <p:nvPr/>
        </p:nvSpPr>
        <p:spPr bwMode="gray">
          <a:xfrm>
            <a:off x="7060105" y="1289580"/>
            <a:ext cx="4896515" cy="2393947"/>
          </a:xfrm>
          <a:prstGeom prst="rect">
            <a:avLst/>
          </a:prstGeom>
          <a:solidFill>
            <a:schemeClr val="bg1">
              <a:lumMod val="95000"/>
            </a:schemeClr>
          </a:solidFill>
          <a:ln>
            <a:solidFill>
              <a:schemeClr val="tx1"/>
            </a:solidFill>
            <a:prstDash val="dash"/>
          </a:ln>
        </p:spPr>
        <p:txBody>
          <a:bodyPr wrap="square" lIns="71997" tIns="71997" rIns="71997" bIns="71997" rtlCol="0" anchor="ctr" anchorCtr="0">
            <a:noAutofit/>
          </a:bodyPr>
          <a:lstStyle/>
          <a:p>
            <a:pPr marL="171438" indent="-171438" algn="just" defTabSz="914277">
              <a:buFont typeface="Arial" panose="020B0604020202020204" pitchFamily="34" charset="0"/>
              <a:buChar char="•"/>
              <a:defRPr/>
            </a:pPr>
            <a:r>
              <a:rPr lang="en-US" sz="1200" i="1" dirty="0">
                <a:solidFill>
                  <a:prstClr val="black"/>
                </a:solidFill>
                <a:latin typeface="Verdana"/>
              </a:rPr>
              <a:t>With respect to Renewable Purchase Obligation (RPO), total RPO figures have drastically reduced in comparison to previous years, although target has increased </a:t>
            </a:r>
          </a:p>
          <a:p>
            <a:pPr marL="171438" indent="-171438" algn="just" defTabSz="914277">
              <a:buFont typeface="Arial" panose="020B0604020202020204" pitchFamily="34" charset="0"/>
              <a:buChar char="•"/>
              <a:defRPr/>
            </a:pPr>
            <a:endParaRPr lang="en-US" sz="1200" i="1" dirty="0">
              <a:solidFill>
                <a:prstClr val="black"/>
              </a:solidFill>
              <a:latin typeface="Verdana"/>
            </a:endParaRPr>
          </a:p>
          <a:p>
            <a:pPr marL="171438" indent="-171438" algn="just" defTabSz="914277">
              <a:buFont typeface="Arial" panose="020B0604020202020204" pitchFamily="34" charset="0"/>
              <a:buChar char="•"/>
              <a:defRPr/>
            </a:pPr>
            <a:r>
              <a:rPr lang="en-US" sz="1200" i="1" dirty="0">
                <a:solidFill>
                  <a:prstClr val="black"/>
                </a:solidFill>
                <a:latin typeface="Verdana"/>
              </a:rPr>
              <a:t>Decrease in actual RPO can be because Total RE purchase has decreased from 890.55 MUs in FY 2019-20 to 384.37 MUs in FY 2020-21 </a:t>
            </a:r>
            <a:r>
              <a:rPr lang="en-US" sz="1200" b="1" i="1" dirty="0">
                <a:solidFill>
                  <a:prstClr val="black"/>
                </a:solidFill>
                <a:latin typeface="Verdana"/>
              </a:rPr>
              <a:t>(reduction by ~57%)</a:t>
            </a:r>
          </a:p>
          <a:p>
            <a:pPr marL="171438" indent="-171438" algn="just" defTabSz="914277">
              <a:buFont typeface="Arial" panose="020B0604020202020204" pitchFamily="34" charset="0"/>
              <a:buChar char="•"/>
              <a:defRPr/>
            </a:pPr>
            <a:endParaRPr lang="en-US" sz="1200" b="1" i="1" dirty="0">
              <a:solidFill>
                <a:prstClr val="black"/>
              </a:solidFill>
              <a:latin typeface="Verdana"/>
            </a:endParaRPr>
          </a:p>
          <a:p>
            <a:pPr marL="171438" indent="-171438" algn="just" defTabSz="914277">
              <a:buFont typeface="Arial" panose="020B0604020202020204" pitchFamily="34" charset="0"/>
              <a:buChar char="•"/>
              <a:defRPr/>
            </a:pPr>
            <a:r>
              <a:rPr lang="en-US" sz="1200" i="1" dirty="0">
                <a:solidFill>
                  <a:prstClr val="black"/>
                </a:solidFill>
                <a:latin typeface="Verdana"/>
              </a:rPr>
              <a:t>Largest share of RE potential in West Bengal comes from Solar (</a:t>
            </a:r>
            <a:r>
              <a:rPr lang="en-US" sz="1200" b="1" i="1" dirty="0">
                <a:solidFill>
                  <a:prstClr val="black"/>
                </a:solidFill>
                <a:latin typeface="Verdana"/>
              </a:rPr>
              <a:t>6.26 GW</a:t>
            </a:r>
            <a:r>
              <a:rPr lang="en-US" sz="1200" i="1" dirty="0">
                <a:solidFill>
                  <a:prstClr val="black"/>
                </a:solidFill>
                <a:latin typeface="Verdana"/>
              </a:rPr>
              <a:t>) out of which only </a:t>
            </a:r>
            <a:r>
              <a:rPr lang="en-US" sz="1200" b="1" i="1" dirty="0">
                <a:solidFill>
                  <a:prstClr val="black"/>
                </a:solidFill>
                <a:latin typeface="Verdana"/>
              </a:rPr>
              <a:t>0.17 GW</a:t>
            </a:r>
            <a:r>
              <a:rPr lang="en-US" sz="1200" i="1" dirty="0">
                <a:solidFill>
                  <a:prstClr val="black"/>
                </a:solidFill>
                <a:latin typeface="Verdana"/>
              </a:rPr>
              <a:t> solar capacity has been installed as on January 2022 </a:t>
            </a:r>
            <a:r>
              <a:rPr lang="en-US" sz="1200" b="1" i="1" dirty="0">
                <a:solidFill>
                  <a:prstClr val="black"/>
                </a:solidFill>
                <a:latin typeface="Verdana"/>
              </a:rPr>
              <a:t>(Less than 3%)</a:t>
            </a:r>
          </a:p>
        </p:txBody>
      </p:sp>
      <p:sp>
        <p:nvSpPr>
          <p:cNvPr id="12" name="TextBox 11">
            <a:extLst>
              <a:ext uri="{FF2B5EF4-FFF2-40B4-BE49-F238E27FC236}">
                <a16:creationId xmlns:a16="http://schemas.microsoft.com/office/drawing/2014/main" id="{0218E4BB-4C70-4204-85C9-F99036727EC8}"/>
              </a:ext>
            </a:extLst>
          </p:cNvPr>
          <p:cNvSpPr txBox="1"/>
          <p:nvPr/>
        </p:nvSpPr>
        <p:spPr>
          <a:xfrm>
            <a:off x="501873" y="3683528"/>
            <a:ext cx="10886872" cy="146515"/>
          </a:xfrm>
          <a:prstGeom prst="rect">
            <a:avLst/>
          </a:prstGeom>
          <a:noFill/>
        </p:spPr>
        <p:txBody>
          <a:bodyPr wrap="square" lIns="0" tIns="0" rIns="0" bIns="0" rtlCol="0">
            <a:spAutoFit/>
          </a:bodyPr>
          <a:lstStyle/>
          <a:p>
            <a:pPr>
              <a:spcBef>
                <a:spcPts val="600"/>
              </a:spcBef>
              <a:buSzPct val="100000"/>
            </a:pPr>
            <a:r>
              <a:rPr lang="en-US" sz="952" i="1" dirty="0">
                <a:solidFill>
                  <a:srgbClr val="313131"/>
                </a:solidFill>
              </a:rPr>
              <a:t>*Note: Estimated actual RPO figures calculated from WBSEDCL Annual Report 2020-21 </a:t>
            </a:r>
          </a:p>
        </p:txBody>
      </p:sp>
      <p:sp>
        <p:nvSpPr>
          <p:cNvPr id="13" name="TextBox 12">
            <a:extLst>
              <a:ext uri="{FF2B5EF4-FFF2-40B4-BE49-F238E27FC236}">
                <a16:creationId xmlns:a16="http://schemas.microsoft.com/office/drawing/2014/main" id="{4013FF45-B37E-4AAE-965A-3747FF3C9613}"/>
              </a:ext>
            </a:extLst>
          </p:cNvPr>
          <p:cNvSpPr txBox="1"/>
          <p:nvPr/>
        </p:nvSpPr>
        <p:spPr>
          <a:xfrm>
            <a:off x="402177" y="6229027"/>
            <a:ext cx="6094464" cy="245773"/>
          </a:xfrm>
          <a:prstGeom prst="rect">
            <a:avLst/>
          </a:prstGeom>
          <a:noFill/>
        </p:spPr>
        <p:txBody>
          <a:bodyPr wrap="square">
            <a:spAutoFit/>
          </a:bodyPr>
          <a:lstStyle/>
          <a:p>
            <a:r>
              <a:rPr lang="en-US" sz="997" i="1" dirty="0">
                <a:solidFill>
                  <a:srgbClr val="313131"/>
                </a:solidFill>
              </a:rPr>
              <a:t>Source: RE potential data from MNRE’s Akshay </a:t>
            </a:r>
            <a:r>
              <a:rPr lang="en-US" sz="997" i="1" dirty="0" err="1">
                <a:solidFill>
                  <a:srgbClr val="313131"/>
                </a:solidFill>
              </a:rPr>
              <a:t>Urja</a:t>
            </a:r>
            <a:r>
              <a:rPr lang="en-US" sz="997" i="1" dirty="0">
                <a:solidFill>
                  <a:srgbClr val="313131"/>
                </a:solidFill>
              </a:rPr>
              <a:t> Portal </a:t>
            </a:r>
            <a:endParaRPr lang="en-US" sz="997" dirty="0"/>
          </a:p>
        </p:txBody>
      </p:sp>
      <p:graphicFrame>
        <p:nvGraphicFramePr>
          <p:cNvPr id="14" name="Chart 13">
            <a:extLst>
              <a:ext uri="{FF2B5EF4-FFF2-40B4-BE49-F238E27FC236}">
                <a16:creationId xmlns:a16="http://schemas.microsoft.com/office/drawing/2014/main" id="{A5161EF9-EE66-4624-9938-07E60E8A9037}"/>
              </a:ext>
            </a:extLst>
          </p:cNvPr>
          <p:cNvGraphicFramePr/>
          <p:nvPr/>
        </p:nvGraphicFramePr>
        <p:xfrm>
          <a:off x="501874" y="1289580"/>
          <a:ext cx="6380550" cy="235941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98664926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b="1" dirty="0"/>
              <a:t>Significant opportunity for further RE capacity addition in West Bengal</a:t>
            </a:r>
          </a:p>
        </p:txBody>
      </p:sp>
      <p:graphicFrame>
        <p:nvGraphicFramePr>
          <p:cNvPr id="5" name="Chart 4">
            <a:extLst>
              <a:ext uri="{FF2B5EF4-FFF2-40B4-BE49-F238E27FC236}">
                <a16:creationId xmlns:a16="http://schemas.microsoft.com/office/drawing/2014/main" id="{7023B2EC-0412-483F-9940-5498917C9C0B}"/>
              </a:ext>
            </a:extLst>
          </p:cNvPr>
          <p:cNvGraphicFramePr/>
          <p:nvPr/>
        </p:nvGraphicFramePr>
        <p:xfrm>
          <a:off x="501651" y="993946"/>
          <a:ext cx="5441949" cy="3115600"/>
        </p:xfrm>
        <a:graphic>
          <a:graphicData uri="http://schemas.openxmlformats.org/drawingml/2006/chart">
            <c:chart xmlns:c="http://schemas.openxmlformats.org/drawingml/2006/chart" xmlns:r="http://schemas.openxmlformats.org/officeDocument/2006/relationships" r:id="rId6"/>
          </a:graphicData>
        </a:graphic>
      </p:graphicFrame>
      <p:cxnSp>
        <p:nvCxnSpPr>
          <p:cNvPr id="13" name="Straight Connector 12">
            <a:extLst>
              <a:ext uri="{FF2B5EF4-FFF2-40B4-BE49-F238E27FC236}">
                <a16:creationId xmlns:a16="http://schemas.microsoft.com/office/drawing/2014/main" id="{7F3F1964-BEA9-4355-8815-CD0E289BF1AB}"/>
              </a:ext>
            </a:extLst>
          </p:cNvPr>
          <p:cNvCxnSpPr>
            <a:cxnSpLocks/>
          </p:cNvCxnSpPr>
          <p:nvPr/>
        </p:nvCxnSpPr>
        <p:spPr>
          <a:xfrm>
            <a:off x="6172201" y="702316"/>
            <a:ext cx="0" cy="3407229"/>
          </a:xfrm>
          <a:prstGeom prst="line">
            <a:avLst/>
          </a:prstGeom>
          <a:ln w="38100">
            <a:prstDash val="dash"/>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C21ED694-4B0E-41EA-B990-6762130D4A29}"/>
              </a:ext>
            </a:extLst>
          </p:cNvPr>
          <p:cNvSpPr txBox="1"/>
          <p:nvPr/>
        </p:nvSpPr>
        <p:spPr>
          <a:xfrm>
            <a:off x="3105507" y="6447419"/>
            <a:ext cx="8318500"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1" u="none" strike="noStrike" kern="1200" cap="none" spc="0" normalizeH="0" baseline="0" noProof="0" dirty="0">
                <a:ln>
                  <a:noFill/>
                </a:ln>
                <a:solidFill>
                  <a:srgbClr val="313131"/>
                </a:solidFill>
                <a:effectLst/>
                <a:uLnTx/>
                <a:uFillTx/>
                <a:latin typeface="Verdana"/>
                <a:ea typeface="+mn-ea"/>
                <a:cs typeface="+mn-cs"/>
              </a:rPr>
              <a:t>Source: 1) Solar portfolio of WBSEDCL taken from Annual report 2020-21 2) Solar portfolio data of WBPDCL and DPL from respective utilities and their website 3) Small HEP portfolio data taken from WBSEDDCL Annual report 2020-21</a:t>
            </a:r>
          </a:p>
        </p:txBody>
      </p:sp>
      <p:sp>
        <p:nvSpPr>
          <p:cNvPr id="2" name="TextBox 1">
            <a:extLst>
              <a:ext uri="{FF2B5EF4-FFF2-40B4-BE49-F238E27FC236}">
                <a16:creationId xmlns:a16="http://schemas.microsoft.com/office/drawing/2014/main" id="{5C4625BB-B5DD-4559-BCB7-D337AF41198B}"/>
              </a:ext>
            </a:extLst>
          </p:cNvPr>
          <p:cNvSpPr txBox="1"/>
          <p:nvPr/>
        </p:nvSpPr>
        <p:spPr>
          <a:xfrm>
            <a:off x="4561114" y="1540360"/>
            <a:ext cx="1382486"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dirty="0">
                <a:ln>
                  <a:noFill/>
                </a:ln>
                <a:solidFill>
                  <a:srgbClr val="313131"/>
                </a:solidFill>
                <a:effectLst/>
                <a:uLnTx/>
                <a:uFillTx/>
                <a:latin typeface="Verdana"/>
                <a:ea typeface="+mn-ea"/>
                <a:cs typeface="+mn-cs"/>
              </a:rPr>
              <a:t>Figures in MW</a:t>
            </a:r>
          </a:p>
        </p:txBody>
      </p:sp>
      <p:sp>
        <p:nvSpPr>
          <p:cNvPr id="11" name="Rectangle 10">
            <a:extLst>
              <a:ext uri="{FF2B5EF4-FFF2-40B4-BE49-F238E27FC236}">
                <a16:creationId xmlns:a16="http://schemas.microsoft.com/office/drawing/2014/main" id="{3B73C101-07BA-4E36-982F-C2C04C3A653D}"/>
              </a:ext>
            </a:extLst>
          </p:cNvPr>
          <p:cNvSpPr/>
          <p:nvPr/>
        </p:nvSpPr>
        <p:spPr bwMode="gray">
          <a:xfrm>
            <a:off x="392800" y="4186529"/>
            <a:ext cx="5746744" cy="2181195"/>
          </a:xfrm>
          <a:prstGeom prst="rect">
            <a:avLst/>
          </a:prstGeom>
          <a:solidFill>
            <a:schemeClr val="bg1">
              <a:lumMod val="95000"/>
            </a:schemeClr>
          </a:solidFill>
          <a:ln>
            <a:solidFill>
              <a:schemeClr val="tx1"/>
            </a:solidFill>
            <a:prstDash val="dash"/>
          </a:ln>
        </p:spPr>
        <p:txBody>
          <a:bodyPr wrap="square" lIns="72000" tIns="72000" rIns="72000" bIns="72000" rtlCol="0" anchor="ctr" anchorCtr="0">
            <a:noAutofit/>
          </a:bodyPr>
          <a:lstStyle/>
          <a:p>
            <a:pPr algn="just">
              <a:lnSpc>
                <a:spcPct val="150000"/>
              </a:lnSpc>
              <a:spcBef>
                <a:spcPts val="600"/>
              </a:spcBef>
              <a:buSzPct val="100000"/>
            </a:pPr>
            <a:r>
              <a:rPr lang="en-US" sz="1200" dirty="0">
                <a:solidFill>
                  <a:srgbClr val="313131"/>
                </a:solidFill>
                <a:cs typeface="Calibri" panose="020F0502020204030204" pitchFamily="34" charset="0"/>
              </a:rPr>
              <a:t>As per Clause No. 5.10.4 (Page No. 38) of WBSEDCL Tariff Order for 7</a:t>
            </a:r>
            <a:r>
              <a:rPr lang="en-US" sz="1200" baseline="30000" dirty="0">
                <a:solidFill>
                  <a:srgbClr val="313131"/>
                </a:solidFill>
                <a:cs typeface="Calibri" panose="020F0502020204030204" pitchFamily="34" charset="0"/>
              </a:rPr>
              <a:t>th</a:t>
            </a:r>
            <a:r>
              <a:rPr lang="en-US" sz="1200" dirty="0">
                <a:solidFill>
                  <a:srgbClr val="313131"/>
                </a:solidFill>
                <a:cs typeface="Calibri" panose="020F0502020204030204" pitchFamily="34" charset="0"/>
              </a:rPr>
              <a:t> Control Period, Commission stated that except for solar RPO target for 2020 — 21 , WBSEDCL has yet to fulfil the solar and non-solar RPO targets during the seventh control period. </a:t>
            </a:r>
            <a:r>
              <a:rPr lang="en-US" sz="1200" b="1" dirty="0">
                <a:solidFill>
                  <a:srgbClr val="313131"/>
                </a:solidFill>
                <a:cs typeface="Calibri" panose="020F0502020204030204" pitchFamily="34" charset="0"/>
              </a:rPr>
              <a:t>In this respect WBSEDCL is directed to tie up with renewable sources through long-term PPAs instead of relying on the short-term market.</a:t>
            </a:r>
          </a:p>
        </p:txBody>
      </p:sp>
      <p:graphicFrame>
        <p:nvGraphicFramePr>
          <p:cNvPr id="3" name="Table 2">
            <a:extLst>
              <a:ext uri="{FF2B5EF4-FFF2-40B4-BE49-F238E27FC236}">
                <a16:creationId xmlns:a16="http://schemas.microsoft.com/office/drawing/2014/main" id="{A89A0AD7-3373-45C7-AC3A-B276FAA56441}"/>
              </a:ext>
            </a:extLst>
          </p:cNvPr>
          <p:cNvGraphicFramePr>
            <a:graphicFrameLocks noGrp="1"/>
          </p:cNvGraphicFramePr>
          <p:nvPr/>
        </p:nvGraphicFramePr>
        <p:xfrm>
          <a:off x="6389917" y="1042676"/>
          <a:ext cx="5474593" cy="2667000"/>
        </p:xfrm>
        <a:graphic>
          <a:graphicData uri="http://schemas.openxmlformats.org/drawingml/2006/table">
            <a:tbl>
              <a:tblPr firstRow="1" bandRow="1">
                <a:tableStyleId>{5C22544A-7EE6-4342-B048-85BDC9FD1C3A}</a:tableStyleId>
              </a:tblPr>
              <a:tblGrid>
                <a:gridCol w="1562583">
                  <a:extLst>
                    <a:ext uri="{9D8B030D-6E8A-4147-A177-3AD203B41FA5}">
                      <a16:colId xmlns:a16="http://schemas.microsoft.com/office/drawing/2014/main" val="3092926138"/>
                    </a:ext>
                  </a:extLst>
                </a:gridCol>
                <a:gridCol w="3912010">
                  <a:extLst>
                    <a:ext uri="{9D8B030D-6E8A-4147-A177-3AD203B41FA5}">
                      <a16:colId xmlns:a16="http://schemas.microsoft.com/office/drawing/2014/main" val="3526254393"/>
                    </a:ext>
                  </a:extLst>
                </a:gridCol>
              </a:tblGrid>
              <a:tr h="193330">
                <a:tc>
                  <a:txBody>
                    <a:bodyPr/>
                    <a:lstStyle/>
                    <a:p>
                      <a:r>
                        <a:rPr lang="en-US" sz="1100" dirty="0"/>
                        <a:t>Type of Project </a:t>
                      </a:r>
                    </a:p>
                  </a:txBody>
                  <a:tcPr anchor="ctr">
                    <a:solidFill>
                      <a:srgbClr val="005587">
                        <a:alpha val="49000"/>
                      </a:srgbClr>
                    </a:solidFill>
                  </a:tcPr>
                </a:tc>
                <a:tc>
                  <a:txBody>
                    <a:bodyPr/>
                    <a:lstStyle/>
                    <a:p>
                      <a:r>
                        <a:rPr lang="en-US" sz="1100" dirty="0"/>
                        <a:t> Project Name </a:t>
                      </a:r>
                    </a:p>
                  </a:txBody>
                  <a:tcPr anchor="ctr">
                    <a:solidFill>
                      <a:srgbClr val="005587">
                        <a:alpha val="49000"/>
                      </a:srgbClr>
                    </a:solidFill>
                  </a:tcPr>
                </a:tc>
                <a:extLst>
                  <a:ext uri="{0D108BD9-81ED-4DB2-BD59-A6C34878D82A}">
                    <a16:rowId xmlns:a16="http://schemas.microsoft.com/office/drawing/2014/main" val="3456742569"/>
                  </a:ext>
                </a:extLst>
              </a:tr>
              <a:tr h="0">
                <a:tc rowSpan="2">
                  <a:txBody>
                    <a:bodyPr/>
                    <a:lstStyle/>
                    <a:p>
                      <a:pPr algn="l"/>
                      <a:endParaRPr lang="en-US" sz="1100" b="1" dirty="0">
                        <a:solidFill>
                          <a:schemeClr val="bg1"/>
                        </a:solidFill>
                      </a:endParaRPr>
                    </a:p>
                    <a:p>
                      <a:pPr algn="l"/>
                      <a:endParaRPr lang="en-US" sz="1100" b="1" dirty="0">
                        <a:solidFill>
                          <a:schemeClr val="bg1"/>
                        </a:solidFill>
                      </a:endParaRPr>
                    </a:p>
                    <a:p>
                      <a:pPr algn="l"/>
                      <a:r>
                        <a:rPr lang="en-US" sz="1100" b="1" dirty="0">
                          <a:solidFill>
                            <a:schemeClr val="bg1"/>
                          </a:solidFill>
                        </a:rPr>
                        <a:t>Solar Project </a:t>
                      </a:r>
                    </a:p>
                  </a:txBody>
                  <a:tcPr anchor="ctr">
                    <a:solidFill>
                      <a:srgbClr val="43B02A"/>
                    </a:solidFill>
                  </a:tcPr>
                </a:tc>
                <a:tc>
                  <a:txBody>
                    <a:bodyPr/>
                    <a:lstStyle/>
                    <a:p>
                      <a:pPr marL="171450" indent="-171450" algn="l" fontAlgn="ctr">
                        <a:buFont typeface="Wingdings" panose="05000000000000000000" pitchFamily="2" charset="2"/>
                        <a:buChar char="§"/>
                      </a:pPr>
                      <a:r>
                        <a:rPr lang="en-US" sz="1100" b="0" i="0" u="none" strike="noStrike" dirty="0">
                          <a:solidFill>
                            <a:srgbClr val="000000"/>
                          </a:solidFill>
                          <a:effectLst/>
                          <a:latin typeface="+mn-lt"/>
                        </a:rPr>
                        <a:t>Floating Solar, BkTPP  (1x500 MW)  </a:t>
                      </a:r>
                    </a:p>
                  </a:txBody>
                  <a:tcPr marL="182880" marR="182880" marT="91440" marB="182880" anchor="ctr">
                    <a:solidFill>
                      <a:srgbClr val="43B02A">
                        <a:alpha val="29000"/>
                      </a:srgbClr>
                    </a:solidFill>
                  </a:tcPr>
                </a:tc>
                <a:extLst>
                  <a:ext uri="{0D108BD9-81ED-4DB2-BD59-A6C34878D82A}">
                    <a16:rowId xmlns:a16="http://schemas.microsoft.com/office/drawing/2014/main" val="1006970433"/>
                  </a:ext>
                </a:extLst>
              </a:tr>
              <a:tr h="425327">
                <a:tc vMerge="1">
                  <a:txBody>
                    <a:bodyPr/>
                    <a:lstStyle/>
                    <a:p>
                      <a:endParaRPr lang="en-US"/>
                    </a:p>
                  </a:txBody>
                  <a:tcPr/>
                </a:tc>
                <a:tc>
                  <a:txBody>
                    <a:bodyPr/>
                    <a:lstStyle/>
                    <a:p>
                      <a:pPr marL="171450" indent="-171450" algn="l" fontAlgn="ctr">
                        <a:buFont typeface="Wingdings" panose="05000000000000000000" pitchFamily="2" charset="2"/>
                        <a:buChar char="§"/>
                      </a:pPr>
                      <a:r>
                        <a:rPr lang="en-US" sz="1100" b="0" i="0" u="none" strike="noStrike" dirty="0">
                          <a:solidFill>
                            <a:srgbClr val="000000"/>
                          </a:solidFill>
                          <a:effectLst/>
                          <a:latin typeface="+mn-lt"/>
                        </a:rPr>
                        <a:t>Floating solar stg-2 &amp; 3 </a:t>
                      </a:r>
                      <a:r>
                        <a:rPr lang="en-US" sz="1100" b="0" i="0" u="none" strike="noStrike" dirty="0" err="1">
                          <a:solidFill>
                            <a:srgbClr val="000000"/>
                          </a:solidFill>
                          <a:effectLst/>
                          <a:latin typeface="+mn-lt"/>
                        </a:rPr>
                        <a:t>SgTPP</a:t>
                      </a:r>
                      <a:r>
                        <a:rPr lang="en-US" sz="1100" b="0" i="0" u="none" strike="noStrike" dirty="0">
                          <a:solidFill>
                            <a:srgbClr val="000000"/>
                          </a:solidFill>
                          <a:effectLst/>
                          <a:latin typeface="+mn-lt"/>
                        </a:rPr>
                        <a:t> ( 1x10 MW &amp; 1x5 MW)</a:t>
                      </a:r>
                    </a:p>
                    <a:p>
                      <a:pPr marL="171450" marR="0" lvl="0" indent="-171450" algn="l" defTabSz="1219231"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sz="1100" b="0" i="0" u="none" strike="noStrike" dirty="0">
                          <a:solidFill>
                            <a:srgbClr val="000000"/>
                          </a:solidFill>
                          <a:effectLst/>
                          <a:latin typeface="+mn-lt"/>
                        </a:rPr>
                        <a:t>Floating Solar, STPS (1x 7.5 MW &amp; 1x5 MW)</a:t>
                      </a:r>
                    </a:p>
                    <a:p>
                      <a:pPr marL="171450" marR="0" lvl="0" indent="-171450" algn="l" defTabSz="1219231"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sz="1100" b="0" i="0" u="none" strike="noStrike" dirty="0">
                          <a:solidFill>
                            <a:srgbClr val="000000"/>
                          </a:solidFill>
                          <a:effectLst/>
                          <a:latin typeface="+mn-lt"/>
                        </a:rPr>
                        <a:t>Ground Solar , STPS ( 1x20 MW)</a:t>
                      </a:r>
                    </a:p>
                  </a:txBody>
                  <a:tcPr marL="182880" marR="182880" marT="91440" marB="182880" anchor="ctr">
                    <a:solidFill>
                      <a:srgbClr val="43B02A">
                        <a:alpha val="29000"/>
                      </a:srgbClr>
                    </a:solidFill>
                  </a:tcPr>
                </a:tc>
                <a:extLst>
                  <a:ext uri="{0D108BD9-81ED-4DB2-BD59-A6C34878D82A}">
                    <a16:rowId xmlns:a16="http://schemas.microsoft.com/office/drawing/2014/main" val="3633398207"/>
                  </a:ext>
                </a:extLst>
              </a:tr>
              <a:tr h="193330">
                <a:tc>
                  <a:txBody>
                    <a:bodyPr/>
                    <a:lstStyle/>
                    <a:p>
                      <a:pPr algn="l"/>
                      <a:r>
                        <a:rPr lang="en-US" sz="1100" b="1" dirty="0">
                          <a:solidFill>
                            <a:schemeClr val="bg1"/>
                          </a:solidFill>
                        </a:rPr>
                        <a:t>Island Solar Project </a:t>
                      </a:r>
                    </a:p>
                  </a:txBody>
                  <a:tcPr anchor="ctr">
                    <a:solidFill>
                      <a:srgbClr val="0097A9"/>
                    </a:solidFill>
                  </a:tcPr>
                </a:tc>
                <a:tc>
                  <a:txBody>
                    <a:bodyPr/>
                    <a:lstStyle/>
                    <a:p>
                      <a:pPr marL="171450" marR="0" lvl="0" indent="-171450" algn="l"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b="0" i="0" u="none" strike="noStrike" dirty="0">
                          <a:solidFill>
                            <a:srgbClr val="000000"/>
                          </a:solidFill>
                          <a:effectLst/>
                          <a:latin typeface="+mn-lt"/>
                        </a:rPr>
                        <a:t>Nayachar Solar Project ( 1200 MWp)</a:t>
                      </a:r>
                    </a:p>
                  </a:txBody>
                  <a:tcPr anchor="ctr">
                    <a:solidFill>
                      <a:srgbClr val="00A3E0">
                        <a:alpha val="30000"/>
                      </a:srgbClr>
                    </a:solidFill>
                  </a:tcPr>
                </a:tc>
                <a:extLst>
                  <a:ext uri="{0D108BD9-81ED-4DB2-BD59-A6C34878D82A}">
                    <a16:rowId xmlns:a16="http://schemas.microsoft.com/office/drawing/2014/main" val="296695189"/>
                  </a:ext>
                </a:extLst>
              </a:tr>
              <a:tr h="270663">
                <a:tc>
                  <a:txBody>
                    <a:bodyPr/>
                    <a:lstStyle/>
                    <a:p>
                      <a:pPr algn="l"/>
                      <a:r>
                        <a:rPr lang="en-US" sz="1100" b="1" dirty="0">
                          <a:solidFill>
                            <a:schemeClr val="bg1"/>
                          </a:solidFill>
                        </a:rPr>
                        <a:t>Dam Project </a:t>
                      </a:r>
                    </a:p>
                  </a:txBody>
                  <a:tcPr anchor="ctr">
                    <a:solidFill>
                      <a:srgbClr val="0070C0"/>
                    </a:solidFill>
                  </a:tcPr>
                </a:tc>
                <a:tc>
                  <a:txBody>
                    <a:bodyPr/>
                    <a:lstStyle/>
                    <a:p>
                      <a:pPr marL="171450" indent="-171450" algn="l" fontAlgn="ctr">
                        <a:buFont typeface="Wingdings" panose="05000000000000000000" pitchFamily="2" charset="2"/>
                        <a:buChar char="§"/>
                      </a:pPr>
                      <a:r>
                        <a:rPr lang="en-US" sz="1100" b="0" i="0" u="none" strike="noStrike" dirty="0">
                          <a:solidFill>
                            <a:srgbClr val="000000"/>
                          </a:solidFill>
                          <a:effectLst/>
                          <a:latin typeface="+mn-lt"/>
                        </a:rPr>
                        <a:t>1200 MW </a:t>
                      </a:r>
                      <a:r>
                        <a:rPr lang="en-US" sz="1100" b="0" i="0" u="none" strike="noStrike" dirty="0" err="1">
                          <a:solidFill>
                            <a:srgbClr val="000000"/>
                          </a:solidFill>
                          <a:effectLst/>
                          <a:latin typeface="+mn-lt"/>
                        </a:rPr>
                        <a:t>Kangsabati</a:t>
                      </a:r>
                      <a:r>
                        <a:rPr lang="en-US" sz="1100" b="0" i="0" u="none" strike="noStrike" dirty="0">
                          <a:solidFill>
                            <a:srgbClr val="000000"/>
                          </a:solidFill>
                          <a:effectLst/>
                          <a:latin typeface="+mn-lt"/>
                        </a:rPr>
                        <a:t>  Project</a:t>
                      </a:r>
                    </a:p>
                    <a:p>
                      <a:pPr marL="171450" indent="-171450" algn="l" fontAlgn="ctr">
                        <a:buFont typeface="Wingdings" panose="05000000000000000000" pitchFamily="2" charset="2"/>
                        <a:buChar char="§"/>
                      </a:pPr>
                      <a:r>
                        <a:rPr lang="en-US" sz="1100" b="0" i="0" u="none" strike="noStrike" dirty="0">
                          <a:solidFill>
                            <a:srgbClr val="000000"/>
                          </a:solidFill>
                          <a:effectLst/>
                          <a:latin typeface="+mn-lt"/>
                        </a:rPr>
                        <a:t>270 MW Teesta Project </a:t>
                      </a:r>
                    </a:p>
                    <a:p>
                      <a:pPr marL="171450" indent="-171450" algn="l" fontAlgn="ctr">
                        <a:buFont typeface="Wingdings" panose="05000000000000000000" pitchFamily="2" charset="2"/>
                        <a:buChar char="§"/>
                      </a:pPr>
                      <a:r>
                        <a:rPr lang="en-US" sz="1100" b="0" i="0" u="none" strike="noStrike" dirty="0">
                          <a:solidFill>
                            <a:srgbClr val="000000"/>
                          </a:solidFill>
                          <a:effectLst/>
                          <a:latin typeface="+mn-lt"/>
                        </a:rPr>
                        <a:t>155 MW </a:t>
                      </a:r>
                      <a:r>
                        <a:rPr lang="en-US" sz="1100" b="0" i="0" u="none" strike="noStrike" dirty="0" err="1">
                          <a:solidFill>
                            <a:srgbClr val="000000"/>
                          </a:solidFill>
                          <a:effectLst/>
                          <a:latin typeface="+mn-lt"/>
                        </a:rPr>
                        <a:t>Tilpara</a:t>
                      </a:r>
                      <a:r>
                        <a:rPr lang="en-US" sz="1100" b="0" i="0" u="none" strike="noStrike" dirty="0">
                          <a:solidFill>
                            <a:srgbClr val="000000"/>
                          </a:solidFill>
                          <a:effectLst/>
                          <a:latin typeface="+mn-lt"/>
                        </a:rPr>
                        <a:t> Project </a:t>
                      </a:r>
                    </a:p>
                  </a:txBody>
                  <a:tcPr anchor="ctr">
                    <a:solidFill>
                      <a:srgbClr val="0070C0">
                        <a:alpha val="17000"/>
                      </a:srgbClr>
                    </a:solidFill>
                  </a:tcPr>
                </a:tc>
                <a:extLst>
                  <a:ext uri="{0D108BD9-81ED-4DB2-BD59-A6C34878D82A}">
                    <a16:rowId xmlns:a16="http://schemas.microsoft.com/office/drawing/2014/main" val="698419327"/>
                  </a:ext>
                </a:extLst>
              </a:tr>
            </a:tbl>
          </a:graphicData>
        </a:graphic>
      </p:graphicFrame>
      <p:sp>
        <p:nvSpPr>
          <p:cNvPr id="14" name="TextBox 13">
            <a:extLst>
              <a:ext uri="{FF2B5EF4-FFF2-40B4-BE49-F238E27FC236}">
                <a16:creationId xmlns:a16="http://schemas.microsoft.com/office/drawing/2014/main" id="{7E1A39E2-04D1-4080-BF68-D79E3F3F6081}"/>
              </a:ext>
            </a:extLst>
          </p:cNvPr>
          <p:cNvSpPr txBox="1"/>
          <p:nvPr/>
        </p:nvSpPr>
        <p:spPr>
          <a:xfrm>
            <a:off x="6281060" y="767204"/>
            <a:ext cx="6096000" cy="307777"/>
          </a:xfrm>
          <a:prstGeom prst="rect">
            <a:avLst/>
          </a:prstGeom>
          <a:noFill/>
        </p:spPr>
        <p:txBody>
          <a:bodyPr wrap="square">
            <a:spAutoFit/>
          </a:bodyPr>
          <a:lstStyle/>
          <a:p>
            <a:r>
              <a:rPr lang="en-US" sz="1400" b="1" dirty="0"/>
              <a:t>Details of Upcoming RE Projects for WBPDCL</a:t>
            </a:r>
            <a:endParaRPr lang="en-US" sz="1400" dirty="0"/>
          </a:p>
        </p:txBody>
      </p:sp>
      <p:sp>
        <p:nvSpPr>
          <p:cNvPr id="15" name="TextBox 14">
            <a:extLst>
              <a:ext uri="{FF2B5EF4-FFF2-40B4-BE49-F238E27FC236}">
                <a16:creationId xmlns:a16="http://schemas.microsoft.com/office/drawing/2014/main" id="{6DE2CE64-FC88-4A1C-A964-F7BA7F0C31C3}"/>
              </a:ext>
            </a:extLst>
          </p:cNvPr>
          <p:cNvSpPr txBox="1"/>
          <p:nvPr/>
        </p:nvSpPr>
        <p:spPr>
          <a:xfrm>
            <a:off x="6281060" y="3739784"/>
            <a:ext cx="6096000" cy="307777"/>
          </a:xfrm>
          <a:prstGeom prst="rect">
            <a:avLst/>
          </a:prstGeom>
          <a:noFill/>
        </p:spPr>
        <p:txBody>
          <a:bodyPr wrap="square">
            <a:spAutoFit/>
          </a:bodyPr>
          <a:lstStyle/>
          <a:p>
            <a:r>
              <a:rPr lang="en-US" sz="1400" b="1" dirty="0"/>
              <a:t>Details of Upcoming RE Projects for WBSEDCL</a:t>
            </a:r>
            <a:endParaRPr lang="en-US" sz="1400" dirty="0"/>
          </a:p>
        </p:txBody>
      </p:sp>
      <p:graphicFrame>
        <p:nvGraphicFramePr>
          <p:cNvPr id="16" name="Table 15">
            <a:extLst>
              <a:ext uri="{FF2B5EF4-FFF2-40B4-BE49-F238E27FC236}">
                <a16:creationId xmlns:a16="http://schemas.microsoft.com/office/drawing/2014/main" id="{CADF7116-AD38-455F-A1E8-54DF9486F395}"/>
              </a:ext>
            </a:extLst>
          </p:cNvPr>
          <p:cNvGraphicFramePr>
            <a:graphicFrameLocks noGrp="1"/>
          </p:cNvGraphicFramePr>
          <p:nvPr/>
        </p:nvGraphicFramePr>
        <p:xfrm>
          <a:off x="6389917" y="4047561"/>
          <a:ext cx="5474596" cy="2320163"/>
        </p:xfrm>
        <a:graphic>
          <a:graphicData uri="http://schemas.openxmlformats.org/drawingml/2006/table">
            <a:tbl>
              <a:tblPr firstRow="1" firstCol="1" bandRow="1">
                <a:tableStyleId>{69012ECD-51FC-41F1-AA8D-1B2483CD663E}</a:tableStyleId>
              </a:tblPr>
              <a:tblGrid>
                <a:gridCol w="1404341">
                  <a:extLst>
                    <a:ext uri="{9D8B030D-6E8A-4147-A177-3AD203B41FA5}">
                      <a16:colId xmlns:a16="http://schemas.microsoft.com/office/drawing/2014/main" val="20000"/>
                    </a:ext>
                  </a:extLst>
                </a:gridCol>
                <a:gridCol w="4070255">
                  <a:extLst>
                    <a:ext uri="{9D8B030D-6E8A-4147-A177-3AD203B41FA5}">
                      <a16:colId xmlns:a16="http://schemas.microsoft.com/office/drawing/2014/main" val="20001"/>
                    </a:ext>
                  </a:extLst>
                </a:gridCol>
              </a:tblGrid>
              <a:tr h="108158">
                <a:tc>
                  <a:txBody>
                    <a:bodyPr/>
                    <a:lstStyle/>
                    <a:p>
                      <a:pPr algn="ctr">
                        <a:lnSpc>
                          <a:spcPct val="107000"/>
                        </a:lnSpc>
                        <a:spcAft>
                          <a:spcPts val="0"/>
                        </a:spcAft>
                      </a:pPr>
                      <a:r>
                        <a:rPr lang="en-IN" sz="1000" dirty="0">
                          <a:effectLst/>
                          <a:latin typeface="+mj-lt"/>
                          <a:ea typeface="Calibri" panose="020F0502020204030204"/>
                          <a:cs typeface="Times New Roman" panose="02020603050405020304"/>
                        </a:rPr>
                        <a:t>REW</a:t>
                      </a:r>
                    </a:p>
                  </a:txBody>
                  <a:tcPr marT="0" marB="0" anchor="ctr">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000" dirty="0">
                          <a:effectLst/>
                          <a:latin typeface="+mj-lt"/>
                        </a:rPr>
                        <a:t>Project Details</a:t>
                      </a:r>
                      <a:endParaRPr lang="en-IN" sz="1000" dirty="0">
                        <a:effectLst/>
                        <a:latin typeface="+mj-lt"/>
                        <a:ea typeface="Calibri" panose="020F0502020204030204"/>
                        <a:cs typeface="Times New Roman" panose="02020603050405020304"/>
                      </a:endParaRPr>
                    </a:p>
                  </a:txBody>
                  <a:tcPr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6763">
                <a:tc rowSpan="2">
                  <a:txBody>
                    <a:bodyPr/>
                    <a:lstStyle/>
                    <a:p>
                      <a:pPr marR="333375" algn="ctr">
                        <a:lnSpc>
                          <a:spcPct val="107000"/>
                        </a:lnSpc>
                        <a:spcAft>
                          <a:spcPts val="0"/>
                        </a:spcAft>
                      </a:pPr>
                      <a:r>
                        <a:rPr lang="en-IN" sz="1000" dirty="0">
                          <a:effectLst/>
                          <a:latin typeface="+mj-lt"/>
                          <a:ea typeface="Calibri" panose="020F0502020204030204"/>
                          <a:cs typeface="Times New Roman" panose="02020603050405020304"/>
                        </a:rPr>
                        <a:t>Solar Ground Mounted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US" sz="1000" dirty="0">
                          <a:effectLst/>
                          <a:latin typeface="+mj-lt"/>
                        </a:rPr>
                        <a:t>2 X 10 MW Ground Mounted Project at Gangapur, Block-Rajnagar, Birbhum</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6763">
                <a:tc vMerge="1">
                  <a:txBody>
                    <a:bodyPr/>
                    <a:lstStyle/>
                    <a:p>
                      <a:pPr marR="333375" algn="ctr">
                        <a:lnSpc>
                          <a:spcPct val="107000"/>
                        </a:lnSpc>
                        <a:spcAft>
                          <a:spcPts val="0"/>
                        </a:spcAft>
                      </a:pPr>
                      <a:endParaRPr lang="en-IN" sz="1200" dirty="0">
                        <a:effectLst/>
                        <a:latin typeface="Calibri" panose="020F0502020204030204"/>
                        <a:ea typeface="Calibri" panose="020F0502020204030204"/>
                        <a:cs typeface="Times New Roman" panose="02020603050405020304"/>
                      </a:endParaRPr>
                    </a:p>
                  </a:txBody>
                  <a:tcPr marL="68580" marR="68580" marT="0" marB="0" anchor="ctr"/>
                </a:tc>
                <a:tc>
                  <a:txBody>
                    <a:bodyPr/>
                    <a:lstStyle/>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en-US" sz="1000" dirty="0">
                          <a:effectLst/>
                          <a:latin typeface="+mj-lt"/>
                        </a:rPr>
                        <a:t>125 MW </a:t>
                      </a:r>
                      <a:r>
                        <a:rPr lang="en-US" sz="1000" dirty="0" err="1">
                          <a:effectLst/>
                          <a:latin typeface="+mj-lt"/>
                        </a:rPr>
                        <a:t>Goaltore</a:t>
                      </a:r>
                      <a:r>
                        <a:rPr lang="en-US" sz="1000" dirty="0">
                          <a:effectLst/>
                          <a:latin typeface="+mj-lt"/>
                        </a:rPr>
                        <a:t> Solar Park Project Phase-II</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2405667"/>
                  </a:ext>
                </a:extLst>
              </a:tr>
              <a:tr h="189748">
                <a:tc>
                  <a:txBody>
                    <a:bodyPr/>
                    <a:lstStyle/>
                    <a:p>
                      <a:pPr marR="333375" algn="ctr">
                        <a:lnSpc>
                          <a:spcPct val="107000"/>
                        </a:lnSpc>
                        <a:spcAft>
                          <a:spcPts val="0"/>
                        </a:spcAft>
                      </a:pPr>
                      <a:r>
                        <a:rPr lang="en-IN" sz="1000" dirty="0">
                          <a:effectLst/>
                          <a:latin typeface="+mj-lt"/>
                          <a:ea typeface="Calibri" panose="020F0502020204030204"/>
                          <a:cs typeface="Times New Roman" panose="02020603050405020304"/>
                        </a:rPr>
                        <a:t>Roof Top Solar</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US" sz="1000" dirty="0">
                          <a:effectLst/>
                          <a:latin typeface="+mj-lt"/>
                        </a:rPr>
                        <a:t>10 MW Rooftop Solar Power Project across West Bengal (Domestic)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85467">
                <a:tc>
                  <a:txBody>
                    <a:bodyPr/>
                    <a:lstStyle/>
                    <a:p>
                      <a:pPr marR="333375" algn="ctr">
                        <a:lnSpc>
                          <a:spcPct val="107000"/>
                        </a:lnSpc>
                        <a:spcAft>
                          <a:spcPts val="0"/>
                        </a:spcAft>
                      </a:pPr>
                      <a:r>
                        <a:rPr lang="en-IN" sz="1000" dirty="0">
                          <a:effectLst/>
                          <a:latin typeface="+mj-lt"/>
                          <a:ea typeface="Calibri" panose="020F0502020204030204"/>
                          <a:cs typeface="Times New Roman" panose="02020603050405020304"/>
                        </a:rPr>
                        <a:t>Agri Solar</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US" sz="1000" dirty="0" err="1">
                          <a:effectLst/>
                          <a:latin typeface="+mj-lt"/>
                        </a:rPr>
                        <a:t>Solarisation</a:t>
                      </a:r>
                      <a:r>
                        <a:rPr lang="en-US" sz="1000" dirty="0">
                          <a:effectLst/>
                          <a:latin typeface="+mj-lt"/>
                        </a:rPr>
                        <a:t> of 700 No Agricultural Pump Under Kusum – C Burdwan &amp; Hooghly (5 MWp)</a:t>
                      </a:r>
                    </a:p>
                    <a:p>
                      <a:pPr marL="228600" marR="333375" indent="-228600" algn="l">
                        <a:lnSpc>
                          <a:spcPct val="107000"/>
                        </a:lnSpc>
                        <a:spcAft>
                          <a:spcPts val="0"/>
                        </a:spcAft>
                        <a:buFont typeface="Wingdings" panose="05000000000000000000" pitchFamily="2" charset="2"/>
                        <a:buChar char="q"/>
                      </a:pPr>
                      <a:r>
                        <a:rPr lang="en-US" sz="1000" dirty="0" err="1">
                          <a:effectLst/>
                          <a:latin typeface="+mj-lt"/>
                        </a:rPr>
                        <a:t>Solarisation</a:t>
                      </a:r>
                      <a:r>
                        <a:rPr lang="en-US" sz="1000" dirty="0">
                          <a:effectLst/>
                          <a:latin typeface="+mj-lt"/>
                        </a:rPr>
                        <a:t> of  23000 No Agricultural Pump Under Kusum – C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6911047"/>
                  </a:ext>
                </a:extLst>
              </a:tr>
              <a:tr h="189748">
                <a:tc>
                  <a:txBody>
                    <a:bodyPr/>
                    <a:lstStyle/>
                    <a:p>
                      <a:pPr marR="333375" algn="ctr">
                        <a:lnSpc>
                          <a:spcPct val="107000"/>
                        </a:lnSpc>
                        <a:spcAft>
                          <a:spcPts val="0"/>
                        </a:spcAft>
                      </a:pPr>
                      <a:r>
                        <a:rPr lang="en-IN" sz="1000" dirty="0">
                          <a:effectLst/>
                          <a:latin typeface="+mj-lt"/>
                          <a:ea typeface="Calibri" panose="020F0502020204030204"/>
                          <a:cs typeface="Times New Roman" panose="02020603050405020304"/>
                        </a:rPr>
                        <a:t>Floating Solar</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IN" sz="1000" dirty="0">
                          <a:effectLst/>
                          <a:latin typeface="+mj-lt"/>
                        </a:rPr>
                        <a:t>PPSP 10 MW Floating Solar Project, (Upper Dam)</a:t>
                      </a:r>
                      <a:r>
                        <a:rPr lang="en-IN" sz="1000" dirty="0" err="1">
                          <a:effectLst/>
                          <a:latin typeface="+mj-lt"/>
                        </a:rPr>
                        <a:t>Barria</a:t>
                      </a:r>
                      <a:r>
                        <a:rPr lang="en-IN" sz="1000" dirty="0">
                          <a:effectLst/>
                          <a:latin typeface="+mj-lt"/>
                        </a:rPr>
                        <a:t> </a:t>
                      </a:r>
                      <a:r>
                        <a:rPr lang="en-IN" sz="1000" dirty="0" err="1">
                          <a:effectLst/>
                          <a:latin typeface="+mj-lt"/>
                        </a:rPr>
                        <a:t>Mouja</a:t>
                      </a:r>
                      <a:r>
                        <a:rPr lang="en-IN" sz="1000" dirty="0">
                          <a:effectLst/>
                          <a:latin typeface="+mj-lt"/>
                        </a:rPr>
                        <a:t>, Ajodhya Hills, </a:t>
                      </a:r>
                      <a:r>
                        <a:rPr lang="en-IN" sz="1000" dirty="0" err="1">
                          <a:effectLst/>
                          <a:latin typeface="+mj-lt"/>
                        </a:rPr>
                        <a:t>Dist</a:t>
                      </a:r>
                      <a:r>
                        <a:rPr lang="en-IN" sz="1000" dirty="0">
                          <a:effectLst/>
                          <a:latin typeface="+mj-lt"/>
                        </a:rPr>
                        <a:t> –Purulia</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8836">
                <a:tc>
                  <a:txBody>
                    <a:bodyPr/>
                    <a:lstStyle/>
                    <a:p>
                      <a:pPr marR="333375" algn="ctr">
                        <a:lnSpc>
                          <a:spcPct val="107000"/>
                        </a:lnSpc>
                        <a:spcAft>
                          <a:spcPts val="0"/>
                        </a:spcAft>
                      </a:pPr>
                      <a:r>
                        <a:rPr lang="en-IN" sz="1000" dirty="0">
                          <a:effectLst/>
                          <a:latin typeface="+mj-lt"/>
                          <a:ea typeface="Calibri" panose="020F0502020204030204"/>
                          <a:cs typeface="Times New Roman" panose="02020603050405020304"/>
                        </a:rPr>
                        <a:t>PPSP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da-DK" sz="1000" dirty="0">
                          <a:effectLst/>
                          <a:latin typeface="+mj-lt"/>
                        </a:rPr>
                        <a:t>1000 MW </a:t>
                      </a:r>
                      <a:r>
                        <a:rPr lang="en-IN" sz="1000" dirty="0" err="1">
                          <a:effectLst/>
                          <a:latin typeface="+mj-lt"/>
                          <a:ea typeface="Calibri" panose="020F0502020204030204"/>
                          <a:cs typeface="Times New Roman" panose="02020603050405020304"/>
                        </a:rPr>
                        <a:t>Kulbera</a:t>
                      </a:r>
                      <a:endParaRPr lang="en-IN" sz="1000" dirty="0">
                        <a:effectLst/>
                        <a:latin typeface="+mj-lt"/>
                        <a:ea typeface="Calibri" panose="020F0502020204030204"/>
                        <a:cs typeface="Times New Roman" panose="02020603050405020304"/>
                      </a:endParaRPr>
                    </a:p>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da-DK" sz="1000" dirty="0">
                          <a:effectLst/>
                          <a:latin typeface="+mj-lt"/>
                        </a:rPr>
                        <a:t>1000 MW </a:t>
                      </a:r>
                      <a:r>
                        <a:rPr lang="en-IN" sz="1000" dirty="0" err="1">
                          <a:effectLst/>
                          <a:latin typeface="+mj-lt"/>
                          <a:ea typeface="Calibri" panose="020F0502020204030204"/>
                          <a:cs typeface="Times New Roman" panose="02020603050405020304"/>
                        </a:rPr>
                        <a:t>Katlajaal</a:t>
                      </a:r>
                      <a:endParaRPr lang="en-IN" sz="1000" dirty="0">
                        <a:effectLst/>
                        <a:latin typeface="+mj-lt"/>
                        <a:ea typeface="Calibri" panose="020F0502020204030204"/>
                        <a:cs typeface="Times New Roman" panose="02020603050405020304"/>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0858291"/>
                  </a:ext>
                </a:extLst>
              </a:tr>
            </a:tbl>
          </a:graphicData>
        </a:graphic>
      </p:graphicFrame>
    </p:spTree>
    <p:extLst>
      <p:ext uri="{BB962C8B-B14F-4D97-AF65-F5344CB8AC3E}">
        <p14:creationId xmlns:p14="http://schemas.microsoft.com/office/powerpoint/2010/main" val="263310551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Adopting </a:t>
            </a:r>
            <a:r>
              <a:rPr lang="en-GB" sz="3990" b="1" dirty="0">
                <a:solidFill>
                  <a:prstClr val="white"/>
                </a:solidFill>
                <a:latin typeface="Arial" panose="020B0604020202020204" pitchFamily="34" charset="0"/>
                <a:cs typeface="Arial" panose="020B0604020202020204" pitchFamily="34" charset="0"/>
              </a:rPr>
              <a:t>restructured </a:t>
            </a: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Subsidy Model for WBSEDCL</a:t>
            </a:r>
          </a:p>
        </p:txBody>
      </p:sp>
    </p:spTree>
    <p:extLst>
      <p:ext uri="{BB962C8B-B14F-4D97-AF65-F5344CB8AC3E}">
        <p14:creationId xmlns:p14="http://schemas.microsoft.com/office/powerpoint/2010/main" val="310459288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itle 2">
            <a:extLst>
              <a:ext uri="{FF2B5EF4-FFF2-40B4-BE49-F238E27FC236}">
                <a16:creationId xmlns:a16="http://schemas.microsoft.com/office/drawing/2014/main" id="{C9A2F80F-B572-4FC0-95BC-FF8C7C127374}"/>
              </a:ext>
            </a:extLst>
          </p:cNvPr>
          <p:cNvSpPr>
            <a:spLocks noGrp="1"/>
          </p:cNvSpPr>
          <p:nvPr>
            <p:ph type="title"/>
          </p:nvPr>
        </p:nvSpPr>
        <p:spPr>
          <a:xfrm>
            <a:off x="501650" y="317500"/>
            <a:ext cx="11188700" cy="334099"/>
          </a:xfrm>
        </p:spPr>
        <p:txBody>
          <a:bodyPr anchor="t"/>
          <a:lstStyle/>
          <a:p>
            <a:r>
              <a:rPr lang="en-IN" sz="1800" dirty="0">
                <a:latin typeface="Verdana" panose="020B0604030504040204" pitchFamily="34" charset="0"/>
                <a:ea typeface="Verdana" panose="020B0604030504040204" pitchFamily="34" charset="0"/>
              </a:rPr>
              <a:t>Introduction on Govt. of West Bengal Electricity Tariff Subsidy</a:t>
            </a:r>
          </a:p>
        </p:txBody>
      </p:sp>
      <p:graphicFrame>
        <p:nvGraphicFramePr>
          <p:cNvPr id="6" name="Diagram 5">
            <a:extLst>
              <a:ext uri="{FF2B5EF4-FFF2-40B4-BE49-F238E27FC236}">
                <a16:creationId xmlns:a16="http://schemas.microsoft.com/office/drawing/2014/main" id="{BFAE4B69-BDF6-4C33-8DFC-530CC70DA93D}"/>
              </a:ext>
            </a:extLst>
          </p:cNvPr>
          <p:cNvGraphicFramePr/>
          <p:nvPr/>
        </p:nvGraphicFramePr>
        <p:xfrm>
          <a:off x="250825" y="870333"/>
          <a:ext cx="11779594" cy="57508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Arrow: Left 3">
            <a:extLst>
              <a:ext uri="{FF2B5EF4-FFF2-40B4-BE49-F238E27FC236}">
                <a16:creationId xmlns:a16="http://schemas.microsoft.com/office/drawing/2014/main" id="{A7D25553-7449-4E2D-BBB3-71003AA45641}"/>
              </a:ext>
            </a:extLst>
          </p:cNvPr>
          <p:cNvSpPr/>
          <p:nvPr/>
        </p:nvSpPr>
        <p:spPr bwMode="gray">
          <a:xfrm>
            <a:off x="10289267" y="6582598"/>
            <a:ext cx="1578323" cy="326920"/>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hlinkClick r:id="rId8" action="ppaction://hlinksldjump"/>
              </a:rPr>
              <a:t>Back to Home</a:t>
            </a:r>
            <a:endParaRPr lang="en-US" sz="1100" b="1" dirty="0">
              <a:solidFill>
                <a:schemeClr val="bg1"/>
              </a:solidFill>
            </a:endParaRPr>
          </a:p>
        </p:txBody>
      </p:sp>
      <p:sp>
        <p:nvSpPr>
          <p:cNvPr id="5" name="Oval 4">
            <a:extLst>
              <a:ext uri="{FF2B5EF4-FFF2-40B4-BE49-F238E27FC236}">
                <a16:creationId xmlns:a16="http://schemas.microsoft.com/office/drawing/2014/main" id="{34A54A99-9643-4633-AE50-262CB4EF5375}"/>
              </a:ext>
            </a:extLst>
          </p:cNvPr>
          <p:cNvSpPr/>
          <p:nvPr/>
        </p:nvSpPr>
        <p:spPr bwMode="gray">
          <a:xfrm>
            <a:off x="11717213" y="68507"/>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5</a:t>
            </a:r>
          </a:p>
        </p:txBody>
      </p:sp>
    </p:spTree>
    <p:extLst>
      <p:ext uri="{BB962C8B-B14F-4D97-AF65-F5344CB8AC3E}">
        <p14:creationId xmlns:p14="http://schemas.microsoft.com/office/powerpoint/2010/main" val="152450981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1">
            <a:extLst>
              <a:ext uri="{FF2B5EF4-FFF2-40B4-BE49-F238E27FC236}">
                <a16:creationId xmlns:a16="http://schemas.microsoft.com/office/drawing/2014/main" id="{ECD4CA1C-2DB1-4C0B-B3B6-351A8C7C465E}"/>
              </a:ext>
            </a:extLst>
          </p:cNvPr>
          <p:cNvSpPr txBox="1">
            <a:spLocks/>
          </p:cNvSpPr>
          <p:nvPr/>
        </p:nvSpPr>
        <p:spPr>
          <a:xfrm>
            <a:off x="501650" y="838889"/>
            <a:ext cx="11220298" cy="560253"/>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lang="en-US" sz="1600" dirty="0">
                <a:solidFill>
                  <a:schemeClr val="tx1"/>
                </a:solidFill>
              </a:rPr>
              <a:t>The following table highlights the subsidy amount outlay by Govt. West Bengal for the WBSEDCL consumers</a:t>
            </a:r>
            <a:endParaRPr kumimoji="0" lang="en-IN" sz="1600" b="0" i="0" u="none" strike="noStrike" kern="1200" cap="none" spc="0" normalizeH="0" baseline="0" noProof="0" dirty="0">
              <a:ln>
                <a:noFill/>
              </a:ln>
              <a:solidFill>
                <a:schemeClr val="tx1"/>
              </a:solidFill>
              <a:effectLst/>
              <a:uLnTx/>
              <a:uFillTx/>
              <a:ea typeface="+mn-ea"/>
              <a:cs typeface="Calibri Light" panose="020F0302020204030204" pitchFamily="34" charset="0"/>
            </a:endParaRPr>
          </a:p>
        </p:txBody>
      </p:sp>
      <p:sp>
        <p:nvSpPr>
          <p:cNvPr id="50" name="Title 2">
            <a:extLst>
              <a:ext uri="{FF2B5EF4-FFF2-40B4-BE49-F238E27FC236}">
                <a16:creationId xmlns:a16="http://schemas.microsoft.com/office/drawing/2014/main" id="{AF5EC138-DD12-431C-88D4-68D075CBFDDF}"/>
              </a:ext>
            </a:extLst>
          </p:cNvPr>
          <p:cNvSpPr txBox="1">
            <a:spLocks/>
          </p:cNvSpPr>
          <p:nvPr/>
        </p:nvSpPr>
        <p:spPr bwMode="gray">
          <a:xfrm>
            <a:off x="501650" y="317500"/>
            <a:ext cx="11188700"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Subsidy Outlay– Consumer Category wise</a:t>
            </a:r>
          </a:p>
        </p:txBody>
      </p:sp>
      <p:graphicFrame>
        <p:nvGraphicFramePr>
          <p:cNvPr id="5" name="Table 4">
            <a:extLst>
              <a:ext uri="{FF2B5EF4-FFF2-40B4-BE49-F238E27FC236}">
                <a16:creationId xmlns:a16="http://schemas.microsoft.com/office/drawing/2014/main" id="{3E943661-BDCA-4573-B156-9833DA633FCF}"/>
              </a:ext>
            </a:extLst>
          </p:cNvPr>
          <p:cNvGraphicFramePr>
            <a:graphicFrameLocks noGrp="1"/>
          </p:cNvGraphicFramePr>
          <p:nvPr>
            <p:extLst>
              <p:ext uri="{D42A27DB-BD31-4B8C-83A1-F6EECF244321}">
                <p14:modId xmlns:p14="http://schemas.microsoft.com/office/powerpoint/2010/main" val="1527016886"/>
              </p:ext>
            </p:extLst>
          </p:nvPr>
        </p:nvGraphicFramePr>
        <p:xfrm>
          <a:off x="347727" y="1756241"/>
          <a:ext cx="11220297" cy="2039400"/>
        </p:xfrm>
        <a:graphic>
          <a:graphicData uri="http://schemas.openxmlformats.org/drawingml/2006/table">
            <a:tbl>
              <a:tblPr firstRow="1" firstCol="1" bandRow="1">
                <a:tableStyleId>{5C22544A-7EE6-4342-B048-85BDC9FD1C3A}</a:tableStyleId>
              </a:tblPr>
              <a:tblGrid>
                <a:gridCol w="4632816">
                  <a:extLst>
                    <a:ext uri="{9D8B030D-6E8A-4147-A177-3AD203B41FA5}">
                      <a16:colId xmlns:a16="http://schemas.microsoft.com/office/drawing/2014/main" val="2714693910"/>
                    </a:ext>
                  </a:extLst>
                </a:gridCol>
                <a:gridCol w="3419182">
                  <a:extLst>
                    <a:ext uri="{9D8B030D-6E8A-4147-A177-3AD203B41FA5}">
                      <a16:colId xmlns:a16="http://schemas.microsoft.com/office/drawing/2014/main" val="2673968363"/>
                    </a:ext>
                  </a:extLst>
                </a:gridCol>
                <a:gridCol w="3168299">
                  <a:extLst>
                    <a:ext uri="{9D8B030D-6E8A-4147-A177-3AD203B41FA5}">
                      <a16:colId xmlns:a16="http://schemas.microsoft.com/office/drawing/2014/main" val="130572240"/>
                    </a:ext>
                  </a:extLst>
                </a:gridCol>
              </a:tblGrid>
              <a:tr h="711376">
                <a:tc>
                  <a:txBody>
                    <a:bodyPr/>
                    <a:lstStyle/>
                    <a:p>
                      <a:pPr marL="0" marR="0" algn="just">
                        <a:lnSpc>
                          <a:spcPct val="115000"/>
                        </a:lnSpc>
                        <a:spcBef>
                          <a:spcPts val="0"/>
                        </a:spcBef>
                        <a:spcAft>
                          <a:spcPts val="0"/>
                        </a:spcAft>
                      </a:pPr>
                      <a:r>
                        <a:rPr lang="en-US" sz="1400" dirty="0">
                          <a:solidFill>
                            <a:schemeClr val="bg1"/>
                          </a:solidFill>
                          <a:effectLst/>
                        </a:rPr>
                        <a:t>Category of Consumer</a:t>
                      </a:r>
                      <a:endParaRPr lang="en-US"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tx1">
                        <a:lumMod val="65000"/>
                        <a:lumOff val="35000"/>
                      </a:schemeClr>
                    </a:solidFill>
                  </a:tcPr>
                </a:tc>
                <a:tc>
                  <a:txBody>
                    <a:bodyPr/>
                    <a:lstStyle/>
                    <a:p>
                      <a:pPr marL="0" marR="0" algn="ctr">
                        <a:lnSpc>
                          <a:spcPct val="115000"/>
                        </a:lnSpc>
                        <a:spcBef>
                          <a:spcPts val="0"/>
                        </a:spcBef>
                        <a:spcAft>
                          <a:spcPts val="0"/>
                        </a:spcAft>
                      </a:pPr>
                      <a:r>
                        <a:rPr lang="en-US" sz="1400" dirty="0">
                          <a:solidFill>
                            <a:schemeClr val="tx1"/>
                          </a:solidFill>
                          <a:effectLst/>
                        </a:rPr>
                        <a:t>No of distinct consumer availed Govt. subsidy (In Lakhs)</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tx1"/>
                          </a:solidFill>
                          <a:effectLst/>
                        </a:rPr>
                        <a:t>Amount of Govt Subsidy</a:t>
                      </a:r>
                    </a:p>
                    <a:p>
                      <a:pPr marL="0" marR="0" algn="ctr">
                        <a:lnSpc>
                          <a:spcPct val="115000"/>
                        </a:lnSpc>
                        <a:spcBef>
                          <a:spcPts val="0"/>
                        </a:spcBef>
                        <a:spcAft>
                          <a:spcPts val="0"/>
                        </a:spcAft>
                      </a:pPr>
                      <a:r>
                        <a:rPr lang="en-US" sz="1400" dirty="0">
                          <a:solidFill>
                            <a:schemeClr val="tx1"/>
                          </a:solidFill>
                          <a:effectLst/>
                        </a:rPr>
                        <a:t>(Rs Crore)</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64324613"/>
                  </a:ext>
                </a:extLst>
              </a:tr>
              <a:tr h="332006">
                <a:tc>
                  <a:txBody>
                    <a:bodyPr/>
                    <a:lstStyle/>
                    <a:p>
                      <a:pPr marL="0" marR="0" algn="just">
                        <a:lnSpc>
                          <a:spcPct val="115000"/>
                        </a:lnSpc>
                        <a:spcBef>
                          <a:spcPts val="0"/>
                        </a:spcBef>
                        <a:spcAft>
                          <a:spcPts val="0"/>
                        </a:spcAft>
                      </a:pPr>
                      <a:r>
                        <a:rPr lang="en-US" sz="1400" dirty="0">
                          <a:solidFill>
                            <a:schemeClr val="bg1"/>
                          </a:solidFill>
                          <a:effectLst/>
                          <a:latin typeface="+mn-lt"/>
                        </a:rPr>
                        <a:t>Domestic</a:t>
                      </a:r>
                      <a:endParaRPr lang="en-US"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nchor="ctr">
                    <a:solidFill>
                      <a:schemeClr val="tx1">
                        <a:lumMod val="65000"/>
                        <a:lumOff val="35000"/>
                      </a:schemeClr>
                    </a:solidFill>
                  </a:tcPr>
                </a:tc>
                <a:tc>
                  <a:txBody>
                    <a:bodyPr/>
                    <a:lstStyle/>
                    <a:p>
                      <a:pPr marL="0" marR="0" algn="ctr">
                        <a:lnSpc>
                          <a:spcPct val="115000"/>
                        </a:lnSpc>
                        <a:spcBef>
                          <a:spcPts val="0"/>
                        </a:spcBef>
                        <a:spcAft>
                          <a:spcPts val="0"/>
                        </a:spcAft>
                      </a:pPr>
                      <a:r>
                        <a:rPr lang="en-US" sz="1400" dirty="0">
                          <a:solidFill>
                            <a:schemeClr val="tx1"/>
                          </a:solidFill>
                          <a:effectLst/>
                        </a:rPr>
                        <a:t>110</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tx1"/>
                          </a:solidFill>
                          <a:effectLst/>
                        </a:rPr>
                        <a:t>1088.97</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9803905"/>
                  </a:ext>
                </a:extLst>
              </a:tr>
              <a:tr h="332006">
                <a:tc>
                  <a:txBody>
                    <a:bodyPr/>
                    <a:lstStyle/>
                    <a:p>
                      <a:pPr marL="0" marR="0" algn="just">
                        <a:lnSpc>
                          <a:spcPct val="115000"/>
                        </a:lnSpc>
                        <a:spcBef>
                          <a:spcPts val="0"/>
                        </a:spcBef>
                        <a:spcAft>
                          <a:spcPts val="0"/>
                        </a:spcAft>
                      </a:pPr>
                      <a:r>
                        <a:rPr lang="en-US" sz="1400" dirty="0">
                          <a:solidFill>
                            <a:schemeClr val="bg1"/>
                          </a:solidFill>
                          <a:effectLst/>
                          <a:latin typeface="+mn-lt"/>
                        </a:rPr>
                        <a:t>Agriculture</a:t>
                      </a:r>
                      <a:endParaRPr lang="en-US"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nchor="ctr">
                    <a:solidFill>
                      <a:schemeClr val="tx1">
                        <a:lumMod val="65000"/>
                        <a:lumOff val="35000"/>
                      </a:schemeClr>
                    </a:solidFill>
                  </a:tcPr>
                </a:tc>
                <a:tc>
                  <a:txBody>
                    <a:bodyPr/>
                    <a:lstStyle/>
                    <a:p>
                      <a:pPr marL="0" marR="0" algn="ctr">
                        <a:lnSpc>
                          <a:spcPct val="115000"/>
                        </a:lnSpc>
                        <a:spcBef>
                          <a:spcPts val="0"/>
                        </a:spcBef>
                        <a:spcAft>
                          <a:spcPts val="0"/>
                        </a:spcAft>
                      </a:pPr>
                      <a:r>
                        <a:rPr lang="en-US" sz="1400" dirty="0">
                          <a:solidFill>
                            <a:schemeClr val="tx1"/>
                          </a:solidFill>
                          <a:effectLst/>
                        </a:rPr>
                        <a:t>3</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tx1"/>
                          </a:solidFill>
                          <a:effectLst/>
                        </a:rPr>
                        <a:t>24.96</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39208575"/>
                  </a:ext>
                </a:extLst>
              </a:tr>
              <a:tr h="332006">
                <a:tc>
                  <a:txBody>
                    <a:bodyPr/>
                    <a:lstStyle/>
                    <a:p>
                      <a:pPr marL="0" marR="0" algn="just">
                        <a:lnSpc>
                          <a:spcPct val="115000"/>
                        </a:lnSpc>
                        <a:spcBef>
                          <a:spcPts val="0"/>
                        </a:spcBef>
                        <a:spcAft>
                          <a:spcPts val="0"/>
                        </a:spcAft>
                      </a:pPr>
                      <a:r>
                        <a:rPr lang="en-US" sz="1400" dirty="0">
                          <a:solidFill>
                            <a:schemeClr val="bg1"/>
                          </a:solidFill>
                          <a:effectLst/>
                          <a:latin typeface="+mn-lt"/>
                        </a:rPr>
                        <a:t>Life line Domestic</a:t>
                      </a:r>
                      <a:endParaRPr lang="en-US"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nchor="ctr">
                    <a:solidFill>
                      <a:schemeClr val="tx1">
                        <a:lumMod val="65000"/>
                        <a:lumOff val="35000"/>
                      </a:schemeClr>
                    </a:solidFill>
                  </a:tcPr>
                </a:tc>
                <a:tc>
                  <a:txBody>
                    <a:bodyPr/>
                    <a:lstStyle/>
                    <a:p>
                      <a:pPr marL="0" marR="0" algn="ctr">
                        <a:lnSpc>
                          <a:spcPct val="115000"/>
                        </a:lnSpc>
                        <a:spcBef>
                          <a:spcPts val="0"/>
                        </a:spcBef>
                        <a:spcAft>
                          <a:spcPts val="0"/>
                        </a:spcAft>
                      </a:pPr>
                      <a:r>
                        <a:rPr lang="en-US" sz="1400" dirty="0">
                          <a:solidFill>
                            <a:schemeClr val="tx1"/>
                          </a:solidFill>
                          <a:effectLst/>
                        </a:rPr>
                        <a:t>72</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tx1"/>
                          </a:solidFill>
                          <a:effectLst/>
                        </a:rPr>
                        <a:t>260.10</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40129776"/>
                  </a:ext>
                </a:extLst>
              </a:tr>
              <a:tr h="332006">
                <a:tc>
                  <a:txBody>
                    <a:bodyPr/>
                    <a:lstStyle/>
                    <a:p>
                      <a:pPr marL="0" marR="0" algn="just">
                        <a:lnSpc>
                          <a:spcPct val="115000"/>
                        </a:lnSpc>
                        <a:spcBef>
                          <a:spcPts val="0"/>
                        </a:spcBef>
                        <a:spcAft>
                          <a:spcPts val="0"/>
                        </a:spcAft>
                      </a:pPr>
                      <a:r>
                        <a:rPr lang="en-US" sz="1400" dirty="0">
                          <a:solidFill>
                            <a:schemeClr val="bg1"/>
                          </a:solidFill>
                          <a:effectLst/>
                          <a:latin typeface="+mn-lt"/>
                          <a:ea typeface="Calibri" panose="020F0502020204030204" pitchFamily="34" charset="0"/>
                          <a:cs typeface="Times New Roman" panose="02020603050405020304" pitchFamily="18" charset="0"/>
                        </a:rPr>
                        <a:t>Total </a:t>
                      </a:r>
                    </a:p>
                  </a:txBody>
                  <a:tcPr marL="68580" marR="68580" marT="0" marB="0" anchor="ctr">
                    <a:solidFill>
                      <a:schemeClr val="tx1">
                        <a:lumMod val="65000"/>
                        <a:lumOff val="35000"/>
                      </a:schemeClr>
                    </a:solidFill>
                  </a:tcPr>
                </a:tc>
                <a:tc>
                  <a:txBody>
                    <a:bodyPr/>
                    <a:lstStyle/>
                    <a:p>
                      <a:pPr marL="0" marR="0" algn="ctr">
                        <a:lnSpc>
                          <a:spcPct val="115000"/>
                        </a:lnSpc>
                        <a:spcBef>
                          <a:spcPts val="0"/>
                        </a:spcBef>
                        <a:spcAft>
                          <a:spcPts val="0"/>
                        </a:spcAft>
                      </a:pPr>
                      <a:r>
                        <a:rPr lang="en-US" sz="1400" b="1" dirty="0">
                          <a:solidFill>
                            <a:schemeClr val="tx1"/>
                          </a:solidFill>
                          <a:effectLst/>
                          <a:latin typeface="+mn-lt"/>
                          <a:ea typeface="Calibri" panose="020F0502020204030204" pitchFamily="34" charset="0"/>
                          <a:cs typeface="Times New Roman" panose="02020603050405020304" pitchFamily="18" charset="0"/>
                        </a:rPr>
                        <a:t>185</a:t>
                      </a:r>
                    </a:p>
                  </a:txBody>
                  <a:tcPr marL="68580" marR="68580" marT="0" marB="0" anchor="ctr"/>
                </a:tc>
                <a:tc>
                  <a:txBody>
                    <a:bodyPr/>
                    <a:lstStyle/>
                    <a:p>
                      <a:pPr marL="0" marR="0" algn="ctr">
                        <a:lnSpc>
                          <a:spcPct val="115000"/>
                        </a:lnSpc>
                        <a:spcBef>
                          <a:spcPts val="0"/>
                        </a:spcBef>
                        <a:spcAft>
                          <a:spcPts val="0"/>
                        </a:spcAft>
                      </a:pPr>
                      <a:r>
                        <a:rPr lang="en-US" sz="1400" b="1" dirty="0">
                          <a:solidFill>
                            <a:schemeClr val="tx1"/>
                          </a:solidFill>
                          <a:effectLst/>
                          <a:latin typeface="+mn-lt"/>
                          <a:ea typeface="Calibri" panose="020F0502020204030204" pitchFamily="34" charset="0"/>
                          <a:cs typeface="Times New Roman" panose="02020603050405020304" pitchFamily="18" charset="0"/>
                        </a:rPr>
                        <a:t>1374.03</a:t>
                      </a:r>
                    </a:p>
                  </a:txBody>
                  <a:tcPr marL="68580" marR="68580" marT="0" marB="0" anchor="ctr"/>
                </a:tc>
                <a:extLst>
                  <a:ext uri="{0D108BD9-81ED-4DB2-BD59-A6C34878D82A}">
                    <a16:rowId xmlns:a16="http://schemas.microsoft.com/office/drawing/2014/main" val="1105406426"/>
                  </a:ext>
                </a:extLst>
              </a:tr>
            </a:tbl>
          </a:graphicData>
        </a:graphic>
      </p:graphicFrame>
      <p:sp>
        <p:nvSpPr>
          <p:cNvPr id="9" name="TextBox 8">
            <a:extLst>
              <a:ext uri="{FF2B5EF4-FFF2-40B4-BE49-F238E27FC236}">
                <a16:creationId xmlns:a16="http://schemas.microsoft.com/office/drawing/2014/main" id="{2B5F5832-B76A-4EA1-8012-E6ED3DF6E6EF}"/>
              </a:ext>
            </a:extLst>
          </p:cNvPr>
          <p:cNvSpPr txBox="1"/>
          <p:nvPr/>
        </p:nvSpPr>
        <p:spPr>
          <a:xfrm>
            <a:off x="347727" y="1399141"/>
            <a:ext cx="5748273" cy="307777"/>
          </a:xfrm>
          <a:prstGeom prst="rect">
            <a:avLst/>
          </a:prstGeom>
          <a:noFill/>
        </p:spPr>
        <p:txBody>
          <a:bodyPr wrap="square">
            <a:spAutoFit/>
          </a:bodyPr>
          <a:lstStyle/>
          <a:p>
            <a:r>
              <a:rPr lang="en-US" sz="1400" b="1" dirty="0">
                <a:effectLst/>
                <a:latin typeface="Verdana" panose="020B0604030504040204" pitchFamily="34" charset="0"/>
                <a:ea typeface="Verdana" panose="020B0604030504040204" pitchFamily="34" charset="0"/>
              </a:rPr>
              <a:t>Govt Subsidy Outlay during 2020-21</a:t>
            </a:r>
            <a:endParaRPr lang="en-US" sz="1400" b="1" dirty="0">
              <a:latin typeface="Verdana" panose="020B0604030504040204" pitchFamily="34" charset="0"/>
              <a:ea typeface="Verdana" panose="020B0604030504040204" pitchFamily="34" charset="0"/>
            </a:endParaRPr>
          </a:p>
        </p:txBody>
      </p:sp>
      <p:graphicFrame>
        <p:nvGraphicFramePr>
          <p:cNvPr id="12" name="Table 11">
            <a:extLst>
              <a:ext uri="{FF2B5EF4-FFF2-40B4-BE49-F238E27FC236}">
                <a16:creationId xmlns:a16="http://schemas.microsoft.com/office/drawing/2014/main" id="{2BBDECE7-D07B-4B2C-AE32-6C00A987F55C}"/>
              </a:ext>
            </a:extLst>
          </p:cNvPr>
          <p:cNvGraphicFramePr>
            <a:graphicFrameLocks noGrp="1"/>
          </p:cNvGraphicFramePr>
          <p:nvPr>
            <p:extLst>
              <p:ext uri="{D42A27DB-BD31-4B8C-83A1-F6EECF244321}">
                <p14:modId xmlns:p14="http://schemas.microsoft.com/office/powerpoint/2010/main" val="3903263646"/>
              </p:ext>
            </p:extLst>
          </p:nvPr>
        </p:nvGraphicFramePr>
        <p:xfrm>
          <a:off x="316129" y="4541413"/>
          <a:ext cx="11374221" cy="1571179"/>
        </p:xfrm>
        <a:graphic>
          <a:graphicData uri="http://schemas.openxmlformats.org/drawingml/2006/table">
            <a:tbl>
              <a:tblPr firstRow="1" firstCol="1" bandRow="1">
                <a:tableStyleId>{F5AB1C69-6EDB-4FF4-983F-18BD219EF322}</a:tableStyleId>
              </a:tblPr>
              <a:tblGrid>
                <a:gridCol w="8915695">
                  <a:extLst>
                    <a:ext uri="{9D8B030D-6E8A-4147-A177-3AD203B41FA5}">
                      <a16:colId xmlns:a16="http://schemas.microsoft.com/office/drawing/2014/main" val="2714693910"/>
                    </a:ext>
                  </a:extLst>
                </a:gridCol>
                <a:gridCol w="1229262">
                  <a:extLst>
                    <a:ext uri="{9D8B030D-6E8A-4147-A177-3AD203B41FA5}">
                      <a16:colId xmlns:a16="http://schemas.microsoft.com/office/drawing/2014/main" val="655805839"/>
                    </a:ext>
                  </a:extLst>
                </a:gridCol>
                <a:gridCol w="1229264">
                  <a:extLst>
                    <a:ext uri="{9D8B030D-6E8A-4147-A177-3AD203B41FA5}">
                      <a16:colId xmlns:a16="http://schemas.microsoft.com/office/drawing/2014/main" val="578411912"/>
                    </a:ext>
                  </a:extLst>
                </a:gridCol>
              </a:tblGrid>
              <a:tr h="406703">
                <a:tc>
                  <a:txBody>
                    <a:bodyPr/>
                    <a:lstStyle/>
                    <a:p>
                      <a:pPr marL="0" marR="0" algn="just">
                        <a:lnSpc>
                          <a:spcPct val="115000"/>
                        </a:lnSpc>
                        <a:spcBef>
                          <a:spcPts val="0"/>
                        </a:spcBef>
                        <a:spcAft>
                          <a:spcPts val="0"/>
                        </a:spcAft>
                      </a:pPr>
                      <a:r>
                        <a:rPr lang="en-US" sz="1400" dirty="0">
                          <a:solidFill>
                            <a:schemeClr val="bg1"/>
                          </a:solidFill>
                          <a:effectLst/>
                        </a:rPr>
                        <a:t>Particulars ( All Figures are in Rs Crores)</a:t>
                      </a:r>
                      <a:endParaRPr lang="en-US"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bg1"/>
                          </a:solidFill>
                          <a:effectLst/>
                        </a:rPr>
                        <a:t>FY 20-21</a:t>
                      </a:r>
                      <a:endParaRPr lang="en-US"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bg1"/>
                          </a:solidFill>
                          <a:effectLst/>
                        </a:rPr>
                        <a:t>FY 21-22</a:t>
                      </a:r>
                      <a:endParaRPr lang="en-US"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64324613"/>
                  </a:ext>
                </a:extLst>
              </a:tr>
              <a:tr h="437833">
                <a:tc>
                  <a:txBody>
                    <a:bodyPr/>
                    <a:lstStyle/>
                    <a:p>
                      <a:pPr marL="0" marR="0" algn="just">
                        <a:lnSpc>
                          <a:spcPct val="115000"/>
                        </a:lnSpc>
                        <a:spcBef>
                          <a:spcPts val="0"/>
                        </a:spcBef>
                        <a:spcAft>
                          <a:spcPts val="0"/>
                        </a:spcAft>
                      </a:pPr>
                      <a:r>
                        <a:rPr lang="en-US" sz="1400" b="0" dirty="0">
                          <a:solidFill>
                            <a:schemeClr val="bg1"/>
                          </a:solidFill>
                          <a:effectLst/>
                        </a:rPr>
                        <a:t>Govt Subsidy Claimed &amp; Received</a:t>
                      </a:r>
                      <a:endParaRPr lang="en-US"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b="1" dirty="0">
                          <a:solidFill>
                            <a:schemeClr val="tx1"/>
                          </a:solidFill>
                          <a:effectLst/>
                        </a:rPr>
                        <a:t>1374.03</a:t>
                      </a:r>
                      <a:endParaRPr lang="en-U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b="1" dirty="0">
                          <a:solidFill>
                            <a:schemeClr val="tx1"/>
                          </a:solidFill>
                          <a:effectLst/>
                        </a:rPr>
                        <a:t>1530.53</a:t>
                      </a:r>
                      <a:endParaRPr lang="en-U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05005307"/>
                  </a:ext>
                </a:extLst>
              </a:tr>
              <a:tr h="385120">
                <a:tc>
                  <a:txBody>
                    <a:bodyPr/>
                    <a:lstStyle/>
                    <a:p>
                      <a:pPr marL="0" marR="0" algn="just">
                        <a:lnSpc>
                          <a:spcPct val="115000"/>
                        </a:lnSpc>
                        <a:spcBef>
                          <a:spcPts val="0"/>
                        </a:spcBef>
                        <a:spcAft>
                          <a:spcPts val="0"/>
                        </a:spcAft>
                      </a:pPr>
                      <a:r>
                        <a:rPr lang="en-US" sz="1400" b="0" dirty="0">
                          <a:solidFill>
                            <a:schemeClr val="bg1"/>
                          </a:solidFill>
                          <a:effectLst/>
                        </a:rPr>
                        <a:t>Subsidy Received by WBSEDCL consumers other than </a:t>
                      </a:r>
                      <a:r>
                        <a:rPr lang="en-US" sz="1400" b="0" dirty="0" err="1">
                          <a:solidFill>
                            <a:schemeClr val="bg1"/>
                          </a:solidFill>
                          <a:effectLst/>
                        </a:rPr>
                        <a:t>Hasir</a:t>
                      </a:r>
                      <a:r>
                        <a:rPr lang="en-US" sz="1400" b="0" dirty="0">
                          <a:solidFill>
                            <a:schemeClr val="bg1"/>
                          </a:solidFill>
                          <a:effectLst/>
                        </a:rPr>
                        <a:t> </a:t>
                      </a:r>
                      <a:r>
                        <a:rPr lang="en-US" sz="1400" b="0" dirty="0" err="1">
                          <a:solidFill>
                            <a:schemeClr val="bg1"/>
                          </a:solidFill>
                          <a:effectLst/>
                        </a:rPr>
                        <a:t>alo</a:t>
                      </a:r>
                      <a:r>
                        <a:rPr lang="en-US" sz="1400" b="0" dirty="0">
                          <a:solidFill>
                            <a:schemeClr val="bg1"/>
                          </a:solidFill>
                          <a:effectLst/>
                        </a:rPr>
                        <a:t>(lifeline)</a:t>
                      </a:r>
                      <a:endParaRPr lang="en-US"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tx1"/>
                          </a:solidFill>
                          <a:effectLst/>
                        </a:rPr>
                        <a:t>1113.93</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tx1"/>
                          </a:solidFill>
                          <a:effectLst/>
                        </a:rPr>
                        <a:t>1206.82</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9803905"/>
                  </a:ext>
                </a:extLst>
              </a:tr>
              <a:tr h="341523">
                <a:tc>
                  <a:txBody>
                    <a:bodyPr/>
                    <a:lstStyle/>
                    <a:p>
                      <a:pPr marL="0" marR="0" algn="just">
                        <a:lnSpc>
                          <a:spcPct val="115000"/>
                        </a:lnSpc>
                        <a:spcBef>
                          <a:spcPts val="0"/>
                        </a:spcBef>
                        <a:spcAft>
                          <a:spcPts val="0"/>
                        </a:spcAft>
                      </a:pPr>
                      <a:r>
                        <a:rPr lang="en-US" sz="1400" b="0" dirty="0">
                          <a:solidFill>
                            <a:schemeClr val="bg1"/>
                          </a:solidFill>
                          <a:effectLst/>
                        </a:rPr>
                        <a:t>Subsidy Received by WBSEDCL consumers </a:t>
                      </a:r>
                      <a:r>
                        <a:rPr lang="en-US" sz="1400" b="0" dirty="0" err="1">
                          <a:solidFill>
                            <a:schemeClr val="bg1"/>
                          </a:solidFill>
                          <a:effectLst/>
                        </a:rPr>
                        <a:t>Hasir</a:t>
                      </a:r>
                      <a:r>
                        <a:rPr lang="en-US" sz="1400" b="0" dirty="0">
                          <a:solidFill>
                            <a:schemeClr val="bg1"/>
                          </a:solidFill>
                          <a:effectLst/>
                        </a:rPr>
                        <a:t> </a:t>
                      </a:r>
                      <a:r>
                        <a:rPr lang="en-US" sz="1400" b="0" dirty="0" err="1">
                          <a:solidFill>
                            <a:schemeClr val="bg1"/>
                          </a:solidFill>
                          <a:effectLst/>
                        </a:rPr>
                        <a:t>alo</a:t>
                      </a:r>
                      <a:r>
                        <a:rPr lang="en-US" sz="1400" b="0" dirty="0">
                          <a:solidFill>
                            <a:schemeClr val="bg1"/>
                          </a:solidFill>
                          <a:effectLst/>
                        </a:rPr>
                        <a:t>(lifeline)</a:t>
                      </a:r>
                      <a:endParaRPr lang="en-US"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tx1"/>
                          </a:solidFill>
                          <a:effectLst/>
                        </a:rPr>
                        <a:t>260.10</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400" dirty="0">
                          <a:solidFill>
                            <a:schemeClr val="tx1"/>
                          </a:solidFill>
                          <a:effectLst/>
                        </a:rPr>
                        <a:t>323.71</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39208575"/>
                  </a:ext>
                </a:extLst>
              </a:tr>
            </a:tbl>
          </a:graphicData>
        </a:graphic>
      </p:graphicFrame>
      <p:sp>
        <p:nvSpPr>
          <p:cNvPr id="13" name="TextBox 12">
            <a:extLst>
              <a:ext uri="{FF2B5EF4-FFF2-40B4-BE49-F238E27FC236}">
                <a16:creationId xmlns:a16="http://schemas.microsoft.com/office/drawing/2014/main" id="{D512B305-F46E-43D6-842B-DF81744547A2}"/>
              </a:ext>
            </a:extLst>
          </p:cNvPr>
          <p:cNvSpPr txBox="1"/>
          <p:nvPr/>
        </p:nvSpPr>
        <p:spPr>
          <a:xfrm>
            <a:off x="334872" y="4085424"/>
            <a:ext cx="5748273" cy="307777"/>
          </a:xfrm>
          <a:prstGeom prst="rect">
            <a:avLst/>
          </a:prstGeom>
          <a:noFill/>
        </p:spPr>
        <p:txBody>
          <a:bodyPr wrap="square">
            <a:spAutoFit/>
          </a:bodyPr>
          <a:lstStyle/>
          <a:p>
            <a:r>
              <a:rPr lang="en-US" sz="1400" b="1" dirty="0">
                <a:effectLst/>
                <a:latin typeface="Verdana" panose="020B0604030504040204" pitchFamily="34" charset="0"/>
                <a:ea typeface="Verdana" panose="020B0604030504040204" pitchFamily="34" charset="0"/>
              </a:rPr>
              <a:t>Govt Subsidy Outlay during </a:t>
            </a:r>
            <a:r>
              <a:rPr lang="en-US" sz="1400" b="1" dirty="0">
                <a:latin typeface="Verdana" panose="020B0604030504040204" pitchFamily="34" charset="0"/>
                <a:ea typeface="Verdana" panose="020B0604030504040204" pitchFamily="34" charset="0"/>
              </a:rPr>
              <a:t>Last 2 Years</a:t>
            </a:r>
          </a:p>
        </p:txBody>
      </p:sp>
      <p:sp>
        <p:nvSpPr>
          <p:cNvPr id="8" name="Arrow: Left 7">
            <a:extLst>
              <a:ext uri="{FF2B5EF4-FFF2-40B4-BE49-F238E27FC236}">
                <a16:creationId xmlns:a16="http://schemas.microsoft.com/office/drawing/2014/main" id="{9669BDC7-FB72-4E79-805F-8D9346DCD706}"/>
              </a:ext>
            </a:extLst>
          </p:cNvPr>
          <p:cNvSpPr/>
          <p:nvPr/>
        </p:nvSpPr>
        <p:spPr bwMode="gray">
          <a:xfrm>
            <a:off x="10289267" y="6560826"/>
            <a:ext cx="1578323" cy="326920"/>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hlinkClick r:id="rId3" action="ppaction://hlinksldjump"/>
              </a:rPr>
              <a:t>Back to Home</a:t>
            </a:r>
            <a:endParaRPr lang="en-US" sz="1100" b="1" dirty="0">
              <a:solidFill>
                <a:schemeClr val="bg1"/>
              </a:solidFill>
            </a:endParaRPr>
          </a:p>
        </p:txBody>
      </p:sp>
      <p:sp>
        <p:nvSpPr>
          <p:cNvPr id="10" name="Oval 9">
            <a:extLst>
              <a:ext uri="{FF2B5EF4-FFF2-40B4-BE49-F238E27FC236}">
                <a16:creationId xmlns:a16="http://schemas.microsoft.com/office/drawing/2014/main" id="{A48B66F4-4540-4030-94FE-52B08E6520CA}"/>
              </a:ext>
            </a:extLst>
          </p:cNvPr>
          <p:cNvSpPr/>
          <p:nvPr/>
        </p:nvSpPr>
        <p:spPr bwMode="gray">
          <a:xfrm>
            <a:off x="11717213" y="68507"/>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5</a:t>
            </a:r>
          </a:p>
        </p:txBody>
      </p:sp>
    </p:spTree>
    <p:extLst>
      <p:ext uri="{BB962C8B-B14F-4D97-AF65-F5344CB8AC3E}">
        <p14:creationId xmlns:p14="http://schemas.microsoft.com/office/powerpoint/2010/main" val="49922240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p:txBody>
          <a:bodyPr anchor="t">
            <a:noAutofit/>
          </a:bodyPr>
          <a:lstStyle/>
          <a:p>
            <a:pPr>
              <a:lnSpc>
                <a:spcPct val="90000"/>
              </a:lnSpc>
            </a:pPr>
            <a:r>
              <a:rPr lang="en-US" sz="2000" b="1" dirty="0">
                <a:latin typeface="Verdana" panose="020B0604030504040204" pitchFamily="34" charset="0"/>
                <a:ea typeface="Verdana" panose="020B0604030504040204" pitchFamily="34" charset="0"/>
              </a:rPr>
              <a:t>Tariff Subsidy Scenarios for WBSEDCL</a:t>
            </a:r>
          </a:p>
        </p:txBody>
      </p:sp>
      <p:graphicFrame>
        <p:nvGraphicFramePr>
          <p:cNvPr id="10" name="Chart 9">
            <a:extLst>
              <a:ext uri="{FF2B5EF4-FFF2-40B4-BE49-F238E27FC236}">
                <a16:creationId xmlns:a16="http://schemas.microsoft.com/office/drawing/2014/main" id="{DA5484F7-02FB-486D-BFE9-1A918F501EC9}"/>
              </a:ext>
            </a:extLst>
          </p:cNvPr>
          <p:cNvGraphicFramePr/>
          <p:nvPr>
            <p:extLst>
              <p:ext uri="{D42A27DB-BD31-4B8C-83A1-F6EECF244321}">
                <p14:modId xmlns:p14="http://schemas.microsoft.com/office/powerpoint/2010/main" val="677421110"/>
              </p:ext>
            </p:extLst>
          </p:nvPr>
        </p:nvGraphicFramePr>
        <p:xfrm>
          <a:off x="1431569" y="3569102"/>
          <a:ext cx="10203161" cy="23486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235C7BD9-A8E4-449F-8A2C-D141F9350ACC}"/>
              </a:ext>
            </a:extLst>
          </p:cNvPr>
          <p:cNvGraphicFramePr/>
          <p:nvPr>
            <p:extLst>
              <p:ext uri="{D42A27DB-BD31-4B8C-83A1-F6EECF244321}">
                <p14:modId xmlns:p14="http://schemas.microsoft.com/office/powerpoint/2010/main" val="286786874"/>
              </p:ext>
            </p:extLst>
          </p:nvPr>
        </p:nvGraphicFramePr>
        <p:xfrm>
          <a:off x="1431569" y="3085445"/>
          <a:ext cx="10232432" cy="467052"/>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a:extLst>
              <a:ext uri="{FF2B5EF4-FFF2-40B4-BE49-F238E27FC236}">
                <a16:creationId xmlns:a16="http://schemas.microsoft.com/office/drawing/2014/main" id="{899CB178-D138-4DB5-8542-25BE390E6DF2}"/>
              </a:ext>
            </a:extLst>
          </p:cNvPr>
          <p:cNvSpPr/>
          <p:nvPr/>
        </p:nvSpPr>
        <p:spPr bwMode="gray">
          <a:xfrm>
            <a:off x="1566910" y="5663930"/>
            <a:ext cx="95693" cy="97168"/>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 name="TextBox 16">
            <a:extLst>
              <a:ext uri="{FF2B5EF4-FFF2-40B4-BE49-F238E27FC236}">
                <a16:creationId xmlns:a16="http://schemas.microsoft.com/office/drawing/2014/main" id="{190C854E-508C-4D51-BEC6-A04D4AF3F24B}"/>
              </a:ext>
            </a:extLst>
          </p:cNvPr>
          <p:cNvSpPr txBox="1"/>
          <p:nvPr/>
        </p:nvSpPr>
        <p:spPr>
          <a:xfrm>
            <a:off x="1766718" y="5625297"/>
            <a:ext cx="2551815"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AT &amp; C Loss Reduction**</a:t>
            </a:r>
          </a:p>
        </p:txBody>
      </p:sp>
      <p:sp>
        <p:nvSpPr>
          <p:cNvPr id="20" name="Rectangle: Rounded Corners 19">
            <a:extLst>
              <a:ext uri="{FF2B5EF4-FFF2-40B4-BE49-F238E27FC236}">
                <a16:creationId xmlns:a16="http://schemas.microsoft.com/office/drawing/2014/main" id="{59F1AFC9-0B35-4D8D-B91B-F4C863893A79}"/>
              </a:ext>
            </a:extLst>
          </p:cNvPr>
          <p:cNvSpPr/>
          <p:nvPr/>
        </p:nvSpPr>
        <p:spPr bwMode="gray">
          <a:xfrm>
            <a:off x="1431572" y="707783"/>
            <a:ext cx="1186307" cy="510362"/>
          </a:xfrm>
          <a:prstGeom prst="roundRect">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latin typeface="Verdana" panose="020B0604030504040204" pitchFamily="34" charset="0"/>
                <a:ea typeface="Verdana" panose="020B0604030504040204" pitchFamily="34" charset="0"/>
              </a:rPr>
              <a:t>Scenario 1</a:t>
            </a:r>
          </a:p>
          <a:p>
            <a:pPr algn="ctr">
              <a:lnSpc>
                <a:spcPct val="106000"/>
              </a:lnSpc>
              <a:buFont typeface="Wingdings 2" pitchFamily="18" charset="2"/>
              <a:buNone/>
            </a:pPr>
            <a:r>
              <a:rPr lang="en-US" sz="1100" b="1" dirty="0">
                <a:solidFill>
                  <a:schemeClr val="bg1"/>
                </a:solidFill>
                <a:latin typeface="Verdana" panose="020B0604030504040204" pitchFamily="34" charset="0"/>
                <a:ea typeface="Verdana" panose="020B0604030504040204" pitchFamily="34" charset="0"/>
              </a:rPr>
              <a:t>(existing)</a:t>
            </a:r>
          </a:p>
        </p:txBody>
      </p:sp>
      <p:sp>
        <p:nvSpPr>
          <p:cNvPr id="21" name="Rectangle: Rounded Corners 20">
            <a:extLst>
              <a:ext uri="{FF2B5EF4-FFF2-40B4-BE49-F238E27FC236}">
                <a16:creationId xmlns:a16="http://schemas.microsoft.com/office/drawing/2014/main" id="{948072BC-1D69-41FB-B6EE-4F4B4FA2590E}"/>
              </a:ext>
            </a:extLst>
          </p:cNvPr>
          <p:cNvSpPr/>
          <p:nvPr/>
        </p:nvSpPr>
        <p:spPr bwMode="gray">
          <a:xfrm>
            <a:off x="3042626" y="709569"/>
            <a:ext cx="1186307" cy="510362"/>
          </a:xfrm>
          <a:prstGeom prst="roundRect">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latin typeface="Verdana" panose="020B0604030504040204" pitchFamily="34" charset="0"/>
                <a:ea typeface="Verdana" panose="020B0604030504040204" pitchFamily="34" charset="0"/>
              </a:rPr>
              <a:t>Scenario 2</a:t>
            </a:r>
          </a:p>
        </p:txBody>
      </p:sp>
      <p:sp>
        <p:nvSpPr>
          <p:cNvPr id="22" name="Rectangle: Rounded Corners 21">
            <a:extLst>
              <a:ext uri="{FF2B5EF4-FFF2-40B4-BE49-F238E27FC236}">
                <a16:creationId xmlns:a16="http://schemas.microsoft.com/office/drawing/2014/main" id="{1D08C2EF-9C59-4DF6-8560-30A7F2A3EE69}"/>
              </a:ext>
            </a:extLst>
          </p:cNvPr>
          <p:cNvSpPr/>
          <p:nvPr/>
        </p:nvSpPr>
        <p:spPr bwMode="gray">
          <a:xfrm>
            <a:off x="4825011" y="694134"/>
            <a:ext cx="1186307" cy="510362"/>
          </a:xfrm>
          <a:prstGeom prst="roundRect">
            <a:avLst/>
          </a:prstGeom>
          <a:solidFill>
            <a:schemeClr val="accent6">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latin typeface="Verdana" panose="020B0604030504040204" pitchFamily="34" charset="0"/>
                <a:ea typeface="Verdana" panose="020B0604030504040204" pitchFamily="34" charset="0"/>
              </a:rPr>
              <a:t>Scenario 3</a:t>
            </a:r>
          </a:p>
        </p:txBody>
      </p:sp>
      <p:sp>
        <p:nvSpPr>
          <p:cNvPr id="23" name="Rectangle: Rounded Corners 22">
            <a:extLst>
              <a:ext uri="{FF2B5EF4-FFF2-40B4-BE49-F238E27FC236}">
                <a16:creationId xmlns:a16="http://schemas.microsoft.com/office/drawing/2014/main" id="{72DBEC5B-EF3D-45FE-B927-35CCDA9E9151}"/>
              </a:ext>
            </a:extLst>
          </p:cNvPr>
          <p:cNvSpPr/>
          <p:nvPr/>
        </p:nvSpPr>
        <p:spPr bwMode="gray">
          <a:xfrm>
            <a:off x="6700781" y="707783"/>
            <a:ext cx="1186307" cy="510362"/>
          </a:xfrm>
          <a:prstGeom prst="roundRect">
            <a:avLst/>
          </a:prstGeom>
          <a:solidFill>
            <a:schemeClr val="accent6">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latin typeface="Verdana" panose="020B0604030504040204" pitchFamily="34" charset="0"/>
                <a:ea typeface="Verdana" panose="020B0604030504040204" pitchFamily="34" charset="0"/>
              </a:rPr>
              <a:t>Scenario 4</a:t>
            </a:r>
          </a:p>
        </p:txBody>
      </p:sp>
      <p:sp>
        <p:nvSpPr>
          <p:cNvPr id="24" name="Rectangle: Rounded Corners 23">
            <a:extLst>
              <a:ext uri="{FF2B5EF4-FFF2-40B4-BE49-F238E27FC236}">
                <a16:creationId xmlns:a16="http://schemas.microsoft.com/office/drawing/2014/main" id="{E353FB11-6A89-4271-BC2B-A20A95BDEA6C}"/>
              </a:ext>
            </a:extLst>
          </p:cNvPr>
          <p:cNvSpPr/>
          <p:nvPr/>
        </p:nvSpPr>
        <p:spPr bwMode="gray">
          <a:xfrm>
            <a:off x="8574379" y="710800"/>
            <a:ext cx="1186308" cy="510362"/>
          </a:xfrm>
          <a:prstGeom prst="roundRect">
            <a:avLst/>
          </a:prstGeom>
          <a:solidFill>
            <a:schemeClr val="accent5">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latin typeface="Verdana" panose="020B0604030504040204" pitchFamily="34" charset="0"/>
                <a:ea typeface="Verdana" panose="020B0604030504040204" pitchFamily="34" charset="0"/>
              </a:rPr>
              <a:t>Scenario 5</a:t>
            </a:r>
          </a:p>
        </p:txBody>
      </p:sp>
      <p:sp>
        <p:nvSpPr>
          <p:cNvPr id="25" name="Rectangle: Rounded Corners 24">
            <a:extLst>
              <a:ext uri="{FF2B5EF4-FFF2-40B4-BE49-F238E27FC236}">
                <a16:creationId xmlns:a16="http://schemas.microsoft.com/office/drawing/2014/main" id="{8BC97C7A-3FF0-4EB6-9E1D-EF07E3A0BCAF}"/>
              </a:ext>
            </a:extLst>
          </p:cNvPr>
          <p:cNvSpPr/>
          <p:nvPr/>
        </p:nvSpPr>
        <p:spPr bwMode="gray">
          <a:xfrm>
            <a:off x="10301868" y="694134"/>
            <a:ext cx="1186309" cy="510362"/>
          </a:xfrm>
          <a:prstGeom prst="roundRect">
            <a:avLst/>
          </a:prstGeom>
          <a:solidFill>
            <a:schemeClr val="accent6">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latin typeface="Verdana" panose="020B0604030504040204" pitchFamily="34" charset="0"/>
                <a:ea typeface="Verdana" panose="020B0604030504040204" pitchFamily="34" charset="0"/>
              </a:rPr>
              <a:t>Scenario 6</a:t>
            </a:r>
          </a:p>
        </p:txBody>
      </p:sp>
      <p:sp>
        <p:nvSpPr>
          <p:cNvPr id="19" name="Rectangle: Rounded Corners 18">
            <a:extLst>
              <a:ext uri="{FF2B5EF4-FFF2-40B4-BE49-F238E27FC236}">
                <a16:creationId xmlns:a16="http://schemas.microsoft.com/office/drawing/2014/main" id="{BEF12462-EF38-4151-AD30-1077685E53D8}"/>
              </a:ext>
            </a:extLst>
          </p:cNvPr>
          <p:cNvSpPr/>
          <p:nvPr/>
        </p:nvSpPr>
        <p:spPr bwMode="gray">
          <a:xfrm>
            <a:off x="188352" y="1248040"/>
            <a:ext cx="1243220" cy="927494"/>
          </a:xfrm>
          <a:prstGeom prst="roundRect">
            <a:avLst/>
          </a:prstGeom>
          <a:noFill/>
          <a:ln w="19050" algn="ctr">
            <a:solidFill>
              <a:schemeClr val="tx1"/>
            </a:solidFill>
            <a:miter lim="800000"/>
            <a:headEnd/>
            <a:tailEnd/>
          </a:ln>
        </p:spPr>
        <p:txBody>
          <a:bodyPr wrap="square" lIns="88900" tIns="88900" rIns="88900" bIns="88900" rtlCol="0" anchor="ctr"/>
          <a:lstStyle/>
          <a:p>
            <a:pPr>
              <a:lnSpc>
                <a:spcPct val="106000"/>
              </a:lnSpc>
            </a:pPr>
            <a:r>
              <a:rPr lang="en-US" sz="900" b="1" i="1" dirty="0">
                <a:latin typeface="Verdana" panose="020B0604030504040204" pitchFamily="34" charset="0"/>
                <a:ea typeface="Verdana" panose="020B0604030504040204" pitchFamily="34" charset="0"/>
              </a:rPr>
              <a:t>lifeline and domestic consumers monthly consumption.*</a:t>
            </a:r>
          </a:p>
        </p:txBody>
      </p:sp>
      <p:sp>
        <p:nvSpPr>
          <p:cNvPr id="26" name="Rectangle: Rounded Corners 25">
            <a:extLst>
              <a:ext uri="{FF2B5EF4-FFF2-40B4-BE49-F238E27FC236}">
                <a16:creationId xmlns:a16="http://schemas.microsoft.com/office/drawing/2014/main" id="{34364E95-00A4-4FF3-9376-67CAF830BBBE}"/>
              </a:ext>
            </a:extLst>
          </p:cNvPr>
          <p:cNvSpPr/>
          <p:nvPr/>
        </p:nvSpPr>
        <p:spPr bwMode="gray">
          <a:xfrm>
            <a:off x="188351" y="2229513"/>
            <a:ext cx="1243220" cy="817207"/>
          </a:xfrm>
          <a:prstGeom prst="roundRect">
            <a:avLst/>
          </a:prstGeom>
          <a:noFill/>
          <a:ln w="19050" algn="ctr">
            <a:solidFill>
              <a:schemeClr val="tx1"/>
            </a:solidFill>
            <a:miter lim="800000"/>
            <a:headEnd/>
            <a:tailEnd/>
          </a:ln>
        </p:spPr>
        <p:txBody>
          <a:bodyPr wrap="square" lIns="88900" tIns="88900" rIns="88900" bIns="88900" rtlCol="0" anchor="ctr"/>
          <a:lstStyle/>
          <a:p>
            <a:pPr>
              <a:lnSpc>
                <a:spcPct val="106000"/>
              </a:lnSpc>
              <a:buFont typeface="Wingdings 2" pitchFamily="18" charset="2"/>
              <a:buNone/>
            </a:pPr>
            <a:r>
              <a:rPr lang="en-US" sz="900" b="1" i="1" dirty="0">
                <a:latin typeface="Verdana" panose="020B0604030504040204" pitchFamily="34" charset="0"/>
                <a:ea typeface="Verdana" panose="020B0604030504040204" pitchFamily="34" charset="0"/>
              </a:rPr>
              <a:t>Other domestic consumers monthly </a:t>
            </a:r>
            <a:r>
              <a:rPr lang="en-US" sz="900" b="1" i="1" dirty="0" err="1">
                <a:latin typeface="Verdana" panose="020B0604030504040204" pitchFamily="34" charset="0"/>
                <a:ea typeface="Verdana" panose="020B0604030504040204" pitchFamily="34" charset="0"/>
              </a:rPr>
              <a:t>consn</a:t>
            </a:r>
            <a:r>
              <a:rPr lang="en-US" sz="900" b="1" i="1" dirty="0">
                <a:latin typeface="Verdana" panose="020B0604030504040204" pitchFamily="34" charset="0"/>
                <a:ea typeface="Verdana" panose="020B0604030504040204" pitchFamily="34" charset="0"/>
              </a:rPr>
              <a:t>.</a:t>
            </a:r>
          </a:p>
        </p:txBody>
      </p:sp>
      <p:graphicFrame>
        <p:nvGraphicFramePr>
          <p:cNvPr id="8" name="Table 8">
            <a:extLst>
              <a:ext uri="{FF2B5EF4-FFF2-40B4-BE49-F238E27FC236}">
                <a16:creationId xmlns:a16="http://schemas.microsoft.com/office/drawing/2014/main" id="{A6B23B44-32E7-4B4D-A3D6-933A4C67711A}"/>
              </a:ext>
            </a:extLst>
          </p:cNvPr>
          <p:cNvGraphicFramePr>
            <a:graphicFrameLocks noGrp="1"/>
          </p:cNvGraphicFramePr>
          <p:nvPr>
            <p:extLst>
              <p:ext uri="{D42A27DB-BD31-4B8C-83A1-F6EECF244321}">
                <p14:modId xmlns:p14="http://schemas.microsoft.com/office/powerpoint/2010/main" val="1587858366"/>
              </p:ext>
            </p:extLst>
          </p:nvPr>
        </p:nvGraphicFramePr>
        <p:xfrm>
          <a:off x="1496083" y="1274326"/>
          <a:ext cx="10138650" cy="1723696"/>
        </p:xfrm>
        <a:graphic>
          <a:graphicData uri="http://schemas.openxmlformats.org/drawingml/2006/table">
            <a:tbl>
              <a:tblPr firstRow="1" bandRow="1">
                <a:tableStyleId>{5C22544A-7EE6-4342-B048-85BDC9FD1C3A}</a:tableStyleId>
              </a:tblPr>
              <a:tblGrid>
                <a:gridCol w="1401229">
                  <a:extLst>
                    <a:ext uri="{9D8B030D-6E8A-4147-A177-3AD203B41FA5}">
                      <a16:colId xmlns:a16="http://schemas.microsoft.com/office/drawing/2014/main" val="2463003724"/>
                    </a:ext>
                  </a:extLst>
                </a:gridCol>
                <a:gridCol w="1643866">
                  <a:extLst>
                    <a:ext uri="{9D8B030D-6E8A-4147-A177-3AD203B41FA5}">
                      <a16:colId xmlns:a16="http://schemas.microsoft.com/office/drawing/2014/main" val="3660146288"/>
                    </a:ext>
                  </a:extLst>
                </a:gridCol>
                <a:gridCol w="1859622">
                  <a:extLst>
                    <a:ext uri="{9D8B030D-6E8A-4147-A177-3AD203B41FA5}">
                      <a16:colId xmlns:a16="http://schemas.microsoft.com/office/drawing/2014/main" val="2674955567"/>
                    </a:ext>
                  </a:extLst>
                </a:gridCol>
                <a:gridCol w="1854383">
                  <a:extLst>
                    <a:ext uri="{9D8B030D-6E8A-4147-A177-3AD203B41FA5}">
                      <a16:colId xmlns:a16="http://schemas.microsoft.com/office/drawing/2014/main" val="3011830202"/>
                    </a:ext>
                  </a:extLst>
                </a:gridCol>
                <a:gridCol w="1689775">
                  <a:extLst>
                    <a:ext uri="{9D8B030D-6E8A-4147-A177-3AD203B41FA5}">
                      <a16:colId xmlns:a16="http://schemas.microsoft.com/office/drawing/2014/main" val="3844999568"/>
                    </a:ext>
                  </a:extLst>
                </a:gridCol>
                <a:gridCol w="1689775">
                  <a:extLst>
                    <a:ext uri="{9D8B030D-6E8A-4147-A177-3AD203B41FA5}">
                      <a16:colId xmlns:a16="http://schemas.microsoft.com/office/drawing/2014/main" val="3710810468"/>
                    </a:ext>
                  </a:extLst>
                </a:gridCol>
              </a:tblGrid>
              <a:tr h="871596">
                <a:tc>
                  <a:txBody>
                    <a:bodyPr/>
                    <a:lstStyle/>
                    <a:p>
                      <a:pPr algn="ctr"/>
                      <a:r>
                        <a:rPr lang="en-US" sz="1100" dirty="0">
                          <a:solidFill>
                            <a:schemeClr val="tx1"/>
                          </a:solidFill>
                          <a:latin typeface="Verdana" panose="020B0604030504040204" pitchFamily="34" charset="0"/>
                          <a:ea typeface="Verdana" panose="020B0604030504040204" pitchFamily="34" charset="0"/>
                        </a:rPr>
                        <a:t>Up to 25 kwh</a:t>
                      </a:r>
                    </a:p>
                  </a:txBody>
                  <a:tcPr anchor="ctr">
                    <a:noFill/>
                  </a:tcPr>
                </a:tc>
                <a:tc>
                  <a:txBody>
                    <a:bodyPr/>
                    <a:lstStyle/>
                    <a:p>
                      <a:pPr algn="ctr"/>
                      <a:r>
                        <a:rPr lang="en-US" sz="1100" dirty="0">
                          <a:solidFill>
                            <a:schemeClr val="tx1"/>
                          </a:solidFill>
                          <a:latin typeface="Verdana" panose="020B0604030504040204" pitchFamily="34" charset="0"/>
                          <a:ea typeface="Verdana" panose="020B0604030504040204" pitchFamily="34" charset="0"/>
                        </a:rPr>
                        <a:t>Up to 50 kwh</a:t>
                      </a:r>
                    </a:p>
                  </a:txBody>
                  <a:tcPr anchor="ctr">
                    <a:noFill/>
                  </a:tcPr>
                </a:tc>
                <a:tc>
                  <a:txBody>
                    <a:bodyPr/>
                    <a:lstStyle/>
                    <a:p>
                      <a:pPr algn="ctr"/>
                      <a:r>
                        <a:rPr lang="en-US" sz="1100" dirty="0">
                          <a:solidFill>
                            <a:schemeClr val="tx1"/>
                          </a:solidFill>
                          <a:latin typeface="Verdana" panose="020B0604030504040204" pitchFamily="34" charset="0"/>
                          <a:ea typeface="Verdana" panose="020B0604030504040204" pitchFamily="34" charset="0"/>
                        </a:rPr>
                        <a:t>Up to 75 kwh</a:t>
                      </a:r>
                    </a:p>
                  </a:txBody>
                  <a:tcPr anchor="ctr">
                    <a:noFill/>
                  </a:tcPr>
                </a:tc>
                <a:tc>
                  <a:txBody>
                    <a:bodyPr/>
                    <a:lstStyle/>
                    <a:p>
                      <a:pPr algn="ctr"/>
                      <a:r>
                        <a:rPr lang="en-US" sz="1100" dirty="0">
                          <a:solidFill>
                            <a:schemeClr val="tx1"/>
                          </a:solidFill>
                          <a:latin typeface="Verdana" panose="020B0604030504040204" pitchFamily="34" charset="0"/>
                          <a:ea typeface="Verdana" panose="020B0604030504040204" pitchFamily="34" charset="0"/>
                        </a:rPr>
                        <a:t>Up to 25 kwh</a:t>
                      </a:r>
                    </a:p>
                  </a:txBody>
                  <a:tcPr anchor="ctr">
                    <a:noFill/>
                  </a:tcPr>
                </a:tc>
                <a:tc>
                  <a:txBody>
                    <a:bodyPr/>
                    <a:lstStyle/>
                    <a:p>
                      <a:pPr algn="ctr"/>
                      <a:r>
                        <a:rPr lang="en-US" sz="1100" dirty="0">
                          <a:solidFill>
                            <a:schemeClr val="tx1"/>
                          </a:solidFill>
                          <a:latin typeface="Verdana" panose="020B0604030504040204" pitchFamily="34" charset="0"/>
                          <a:ea typeface="Verdana" panose="020B0604030504040204" pitchFamily="34" charset="0"/>
                        </a:rPr>
                        <a:t>Up to 50 kwh</a:t>
                      </a:r>
                    </a:p>
                  </a:txBody>
                  <a:tcPr anchor="ctr">
                    <a:noFill/>
                  </a:tcPr>
                </a:tc>
                <a:tc>
                  <a:txBody>
                    <a:bodyPr/>
                    <a:lstStyle/>
                    <a:p>
                      <a:pPr algn="ctr"/>
                      <a:r>
                        <a:rPr lang="en-US" sz="1100" dirty="0">
                          <a:solidFill>
                            <a:schemeClr val="tx1"/>
                          </a:solidFill>
                          <a:latin typeface="Verdana" panose="020B0604030504040204" pitchFamily="34" charset="0"/>
                          <a:ea typeface="Verdana" panose="020B0604030504040204" pitchFamily="34" charset="0"/>
                        </a:rPr>
                        <a:t>Up to 75 kwh</a:t>
                      </a:r>
                    </a:p>
                  </a:txBody>
                  <a:tcPr anchor="ctr">
                    <a:noFill/>
                  </a:tcPr>
                </a:tc>
                <a:extLst>
                  <a:ext uri="{0D108BD9-81ED-4DB2-BD59-A6C34878D82A}">
                    <a16:rowId xmlns:a16="http://schemas.microsoft.com/office/drawing/2014/main" val="2758445832"/>
                  </a:ext>
                </a:extLst>
              </a:tr>
              <a:tr h="852100">
                <a:tc>
                  <a:txBody>
                    <a:bodyPr/>
                    <a:lstStyle/>
                    <a:p>
                      <a:pPr algn="ctr"/>
                      <a:r>
                        <a:rPr lang="en-US" sz="1100" b="1" dirty="0">
                          <a:solidFill>
                            <a:schemeClr val="tx1"/>
                          </a:solidFill>
                          <a:latin typeface="Verdana" panose="020B0604030504040204" pitchFamily="34" charset="0"/>
                          <a:ea typeface="Verdana" panose="020B0604030504040204" pitchFamily="34" charset="0"/>
                        </a:rPr>
                        <a:t>Up to 300 kwh</a:t>
                      </a:r>
                    </a:p>
                  </a:txBody>
                  <a:tcPr anchor="ctr">
                    <a:noFill/>
                  </a:tcPr>
                </a:tc>
                <a:tc>
                  <a:txBody>
                    <a:bodyPr/>
                    <a:lstStyle/>
                    <a:p>
                      <a:pPr algn="ctr"/>
                      <a:r>
                        <a:rPr lang="en-US" sz="1100" b="1" dirty="0">
                          <a:solidFill>
                            <a:schemeClr val="tx1"/>
                          </a:solidFill>
                          <a:latin typeface="Verdana" panose="020B0604030504040204" pitchFamily="34" charset="0"/>
                          <a:ea typeface="Verdana" panose="020B0604030504040204" pitchFamily="34" charset="0"/>
                        </a:rPr>
                        <a:t>Up to 300 kwh</a:t>
                      </a:r>
                    </a:p>
                  </a:txBody>
                  <a:tcPr anchor="ctr">
                    <a:noFill/>
                  </a:tcPr>
                </a:tc>
                <a:tc>
                  <a:txBody>
                    <a:bodyPr/>
                    <a:lstStyle/>
                    <a:p>
                      <a:pPr algn="ctr"/>
                      <a:r>
                        <a:rPr lang="en-US" sz="1100" b="1" dirty="0">
                          <a:solidFill>
                            <a:schemeClr val="tx1"/>
                          </a:solidFill>
                          <a:latin typeface="Verdana" panose="020B0604030504040204" pitchFamily="34" charset="0"/>
                          <a:ea typeface="Verdana" panose="020B0604030504040204" pitchFamily="34" charset="0"/>
                        </a:rPr>
                        <a:t>Up to 300 kwh</a:t>
                      </a:r>
                    </a:p>
                  </a:txBody>
                  <a:tcPr anchor="ctr">
                    <a:noFill/>
                  </a:tcPr>
                </a:tc>
                <a:tc>
                  <a:txBody>
                    <a:bodyPr/>
                    <a:lstStyle/>
                    <a:p>
                      <a:pPr algn="ctr"/>
                      <a:r>
                        <a:rPr lang="en-US" sz="1100" b="1" dirty="0">
                          <a:solidFill>
                            <a:schemeClr val="tx1"/>
                          </a:solidFill>
                          <a:latin typeface="Verdana" panose="020B0604030504040204" pitchFamily="34" charset="0"/>
                          <a:ea typeface="Verdana" panose="020B0604030504040204" pitchFamily="34" charset="0"/>
                        </a:rPr>
                        <a:t>Up to 200 kwh</a:t>
                      </a:r>
                    </a:p>
                  </a:txBody>
                  <a:tcPr anchor="ctr">
                    <a:noFill/>
                  </a:tcPr>
                </a:tc>
                <a:tc>
                  <a:txBody>
                    <a:bodyPr/>
                    <a:lstStyle/>
                    <a:p>
                      <a:pPr algn="ctr"/>
                      <a:r>
                        <a:rPr lang="en-US" sz="1100" b="1" dirty="0">
                          <a:solidFill>
                            <a:schemeClr val="tx1"/>
                          </a:solidFill>
                          <a:latin typeface="Verdana" panose="020B0604030504040204" pitchFamily="34" charset="0"/>
                          <a:ea typeface="Verdana" panose="020B0604030504040204" pitchFamily="34" charset="0"/>
                        </a:rPr>
                        <a:t>Up to 200 kwh</a:t>
                      </a:r>
                    </a:p>
                  </a:txBody>
                  <a:tcPr anchor="ctr">
                    <a:noFill/>
                  </a:tcPr>
                </a:tc>
                <a:tc>
                  <a:txBody>
                    <a:bodyPr/>
                    <a:lstStyle/>
                    <a:p>
                      <a:pPr algn="ctr"/>
                      <a:r>
                        <a:rPr lang="en-US" sz="1100" b="1" dirty="0">
                          <a:solidFill>
                            <a:schemeClr val="tx1"/>
                          </a:solidFill>
                          <a:latin typeface="Verdana" panose="020B0604030504040204" pitchFamily="34" charset="0"/>
                          <a:ea typeface="Verdana" panose="020B0604030504040204" pitchFamily="34" charset="0"/>
                        </a:rPr>
                        <a:t>Up to 200 kwh</a:t>
                      </a:r>
                    </a:p>
                  </a:txBody>
                  <a:tcPr anchor="ctr">
                    <a:noFill/>
                  </a:tcPr>
                </a:tc>
                <a:extLst>
                  <a:ext uri="{0D108BD9-81ED-4DB2-BD59-A6C34878D82A}">
                    <a16:rowId xmlns:a16="http://schemas.microsoft.com/office/drawing/2014/main" val="1027753217"/>
                  </a:ext>
                </a:extLst>
              </a:tr>
            </a:tbl>
          </a:graphicData>
        </a:graphic>
      </p:graphicFrame>
      <p:cxnSp>
        <p:nvCxnSpPr>
          <p:cNvPr id="12" name="Straight Connector 11">
            <a:extLst>
              <a:ext uri="{FF2B5EF4-FFF2-40B4-BE49-F238E27FC236}">
                <a16:creationId xmlns:a16="http://schemas.microsoft.com/office/drawing/2014/main" id="{F5FC2464-C2F5-4E76-9FC5-539C6EA70DEA}"/>
              </a:ext>
            </a:extLst>
          </p:cNvPr>
          <p:cNvCxnSpPr>
            <a:cxnSpLocks/>
          </p:cNvCxnSpPr>
          <p:nvPr/>
        </p:nvCxnSpPr>
        <p:spPr>
          <a:xfrm>
            <a:off x="2856216" y="1234750"/>
            <a:ext cx="0" cy="4010639"/>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DE67749-B87D-469F-BDF4-0E53CE609733}"/>
              </a:ext>
            </a:extLst>
          </p:cNvPr>
          <p:cNvCxnSpPr>
            <a:cxnSpLocks/>
          </p:cNvCxnSpPr>
          <p:nvPr/>
        </p:nvCxnSpPr>
        <p:spPr>
          <a:xfrm>
            <a:off x="4683304" y="1204496"/>
            <a:ext cx="0" cy="3991007"/>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118FFA5-0E51-4C29-9FA9-105CBCF28F9F}"/>
              </a:ext>
            </a:extLst>
          </p:cNvPr>
          <p:cNvCxnSpPr>
            <a:cxnSpLocks/>
          </p:cNvCxnSpPr>
          <p:nvPr/>
        </p:nvCxnSpPr>
        <p:spPr>
          <a:xfrm>
            <a:off x="6399088" y="1218145"/>
            <a:ext cx="0" cy="4025532"/>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B05263A-B3B1-4AFF-8F57-55B8576BDBFC}"/>
              </a:ext>
            </a:extLst>
          </p:cNvPr>
          <p:cNvCxnSpPr>
            <a:cxnSpLocks/>
          </p:cNvCxnSpPr>
          <p:nvPr/>
        </p:nvCxnSpPr>
        <p:spPr>
          <a:xfrm>
            <a:off x="8195346" y="1234750"/>
            <a:ext cx="0" cy="4007215"/>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7C01126-DA26-4B08-8D1B-779354F83179}"/>
              </a:ext>
            </a:extLst>
          </p:cNvPr>
          <p:cNvCxnSpPr>
            <a:cxnSpLocks/>
          </p:cNvCxnSpPr>
          <p:nvPr/>
        </p:nvCxnSpPr>
        <p:spPr>
          <a:xfrm>
            <a:off x="10022436" y="1234750"/>
            <a:ext cx="0" cy="4005503"/>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DD3B1334-2C9E-4A9F-87A6-FF9A9AD6470D}"/>
              </a:ext>
            </a:extLst>
          </p:cNvPr>
          <p:cNvSpPr/>
          <p:nvPr/>
        </p:nvSpPr>
        <p:spPr bwMode="gray">
          <a:xfrm>
            <a:off x="245263" y="5889059"/>
            <a:ext cx="11389467" cy="799417"/>
          </a:xfrm>
          <a:prstGeom prst="roundRect">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i="1"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rPr>
              <a:t>*Lifeline and Domestic consumers, </a:t>
            </a:r>
            <a:r>
              <a:rPr lang="en-US" sz="1200" i="1" dirty="0">
                <a:latin typeface="Verdana" panose="020B0604030504040204" pitchFamily="34" charset="0"/>
                <a:ea typeface="Verdana" panose="020B0604030504040204" pitchFamily="34" charset="0"/>
              </a:rPr>
              <a:t>o</a:t>
            </a:r>
            <a:r>
              <a:rPr kumimoji="0" lang="en-US" sz="1200" i="1" u="none" strike="noStrike" kern="1200" cap="none" spc="0" normalizeH="0" baseline="0" noProof="0" dirty="0" err="1">
                <a:ln>
                  <a:noFill/>
                </a:ln>
                <a:effectLst/>
                <a:uLnTx/>
                <a:uFillTx/>
                <a:latin typeface="Verdana" panose="020B0604030504040204" pitchFamily="34" charset="0"/>
                <a:ea typeface="Verdana" panose="020B0604030504040204" pitchFamily="34" charset="0"/>
                <a:cs typeface="+mn-cs"/>
              </a:rPr>
              <a:t>ther</a:t>
            </a:r>
            <a:r>
              <a:rPr kumimoji="0" lang="en-US" sz="1200" i="1"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rPr>
              <a:t> domestic consumers and agricultural consumers monthly consumption has been calculated</a:t>
            </a:r>
            <a:r>
              <a:rPr kumimoji="0" lang="en-US" sz="1200" i="1" u="none" strike="noStrike" kern="1200" cap="none" spc="0" normalizeH="0" baseline="0" noProof="0" dirty="0">
                <a:ln>
                  <a:noFill/>
                </a:ln>
                <a:solidFill>
                  <a:schemeClr val="bg1">
                    <a:lumMod val="95000"/>
                  </a:schemeClr>
                </a:solidFill>
                <a:effectLst/>
                <a:uLnTx/>
                <a:uFillTx/>
                <a:latin typeface="Verdana" panose="020B0604030504040204" pitchFamily="34" charset="0"/>
                <a:ea typeface="Verdana" panose="020B0604030504040204" pitchFamily="34" charset="0"/>
                <a:cs typeface="+mn-cs"/>
              </a:rPr>
              <a:t> </a:t>
            </a:r>
            <a:r>
              <a:rPr kumimoji="0" lang="en-US" sz="1200" i="1"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rPr>
              <a:t>using the projections of FY 2020-21 and FY 2021-22 MYT Petition</a:t>
            </a:r>
            <a:r>
              <a:rPr lang="en-US" sz="1200" i="1" dirty="0">
                <a:latin typeface="Verdana" panose="020B0604030504040204" pitchFamily="34" charset="0"/>
                <a:ea typeface="Verdana" panose="020B0604030504040204" pitchFamily="34" charset="0"/>
              </a:rPr>
              <a:t>.</a:t>
            </a:r>
          </a:p>
          <a:p>
            <a:pPr>
              <a:lnSpc>
                <a:spcPct val="106000"/>
              </a:lnSpc>
              <a:defRPr/>
            </a:pPr>
            <a:r>
              <a:rPr lang="en-US" sz="1200" i="1" dirty="0">
                <a:latin typeface="Verdana" panose="020B0604030504040204" pitchFamily="34" charset="0"/>
                <a:ea typeface="Verdana" panose="020B0604030504040204" pitchFamily="34" charset="0"/>
              </a:rPr>
              <a:t>**For computation of AT&amp; C Loss reduction for FY 2020-21 &amp; FY 2021-22, the base figures  have been considered based on Annual account of FY 2020-21.</a:t>
            </a:r>
            <a:endParaRPr kumimoji="0" lang="en-US" sz="1200" i="1"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endParaRPr>
          </a:p>
        </p:txBody>
      </p:sp>
      <p:sp>
        <p:nvSpPr>
          <p:cNvPr id="48" name="TextBox 47">
            <a:extLst>
              <a:ext uri="{FF2B5EF4-FFF2-40B4-BE49-F238E27FC236}">
                <a16:creationId xmlns:a16="http://schemas.microsoft.com/office/drawing/2014/main" id="{0BE778DC-1EFB-4E8E-9BEA-186685BE10B6}"/>
              </a:ext>
            </a:extLst>
          </p:cNvPr>
          <p:cNvSpPr txBox="1"/>
          <p:nvPr/>
        </p:nvSpPr>
        <p:spPr>
          <a:xfrm>
            <a:off x="105051" y="3979759"/>
            <a:ext cx="1521452" cy="153888"/>
          </a:xfrm>
          <a:prstGeom prst="rect">
            <a:avLst/>
          </a:prstGeom>
          <a:noFill/>
        </p:spPr>
        <p:txBody>
          <a:bodyPr wrap="square" lIns="0" tIns="0" rIns="0" bIns="0" rtlCol="0">
            <a:spAutoFit/>
          </a:bodyPr>
          <a:lstStyle/>
          <a:p>
            <a:pPr>
              <a:spcBef>
                <a:spcPts val="600"/>
              </a:spcBef>
              <a:buSzPct val="100000"/>
            </a:pPr>
            <a:r>
              <a:rPr lang="en-US" sz="1000" b="1" i="1" dirty="0">
                <a:latin typeface="Verdana" panose="020B0604030504040204" pitchFamily="34" charset="0"/>
                <a:ea typeface="Verdana" panose="020B0604030504040204" pitchFamily="34" charset="0"/>
              </a:rPr>
              <a:t>Figures in Rs. Crore.</a:t>
            </a:r>
          </a:p>
        </p:txBody>
      </p:sp>
      <p:sp>
        <p:nvSpPr>
          <p:cNvPr id="49" name="TextBox 48">
            <a:extLst>
              <a:ext uri="{FF2B5EF4-FFF2-40B4-BE49-F238E27FC236}">
                <a16:creationId xmlns:a16="http://schemas.microsoft.com/office/drawing/2014/main" id="{29EAD410-A8AF-4F1C-9DF7-97DDB1FF8499}"/>
              </a:ext>
            </a:extLst>
          </p:cNvPr>
          <p:cNvSpPr txBox="1"/>
          <p:nvPr/>
        </p:nvSpPr>
        <p:spPr>
          <a:xfrm>
            <a:off x="188351" y="4821466"/>
            <a:ext cx="1151453" cy="615553"/>
          </a:xfrm>
          <a:prstGeom prst="rect">
            <a:avLst/>
          </a:prstGeom>
          <a:solidFill>
            <a:schemeClr val="tx1">
              <a:lumMod val="65000"/>
              <a:lumOff val="35000"/>
            </a:schemeClr>
          </a:solidFill>
        </p:spPr>
        <p:style>
          <a:lnRef idx="1">
            <a:schemeClr val="accent5"/>
          </a:lnRef>
          <a:fillRef idx="3">
            <a:schemeClr val="accent5"/>
          </a:fillRef>
          <a:effectRef idx="2">
            <a:schemeClr val="accent5"/>
          </a:effectRef>
          <a:fontRef idx="minor">
            <a:schemeClr val="lt1"/>
          </a:fontRef>
        </p:style>
        <p:txBody>
          <a:bodyPr wrap="square" lIns="0" tIns="0" rIns="0" bIns="0" rtlCol="0">
            <a:spAutoFit/>
          </a:bodyPr>
          <a:lstStyle/>
          <a:p>
            <a:pPr algn="ctr">
              <a:spcBef>
                <a:spcPts val="600"/>
              </a:spcBef>
              <a:buSzPct val="100000"/>
            </a:pPr>
            <a:r>
              <a:rPr lang="en-US" sz="1000" b="1" i="1" dirty="0">
                <a:solidFill>
                  <a:schemeClr val="bg1"/>
                </a:solidFill>
                <a:latin typeface="Verdana" panose="020B0604030504040204" pitchFamily="34" charset="0"/>
                <a:ea typeface="Verdana" panose="020B0604030504040204" pitchFamily="34" charset="0"/>
                <a:hlinkClick r:id="rId5" action="ppaction://hlinksldjump">
                  <a:extLst>
                    <a:ext uri="{A12FA001-AC4F-418D-AE19-62706E023703}">
                      <ahyp:hlinkClr xmlns:ahyp="http://schemas.microsoft.com/office/drawing/2018/hyperlinkcolor" val="tx"/>
                    </a:ext>
                  </a:extLst>
                </a:hlinkClick>
              </a:rPr>
              <a:t>Please refer to Annexure-2 for current subsidy Details</a:t>
            </a:r>
            <a:endParaRPr lang="en-US" sz="1000" b="1" i="1" dirty="0">
              <a:solidFill>
                <a:schemeClr val="bg1"/>
              </a:solidFill>
              <a:latin typeface="Verdana" panose="020B0604030504040204" pitchFamily="34" charset="0"/>
              <a:ea typeface="Verdana" panose="020B0604030504040204" pitchFamily="34" charset="0"/>
            </a:endParaRPr>
          </a:p>
        </p:txBody>
      </p:sp>
      <p:cxnSp>
        <p:nvCxnSpPr>
          <p:cNvPr id="4" name="Straight Connector 3">
            <a:extLst>
              <a:ext uri="{FF2B5EF4-FFF2-40B4-BE49-F238E27FC236}">
                <a16:creationId xmlns:a16="http://schemas.microsoft.com/office/drawing/2014/main" id="{4EB8D08D-9BF0-4722-9CEA-45F95541173E}"/>
              </a:ext>
            </a:extLst>
          </p:cNvPr>
          <p:cNvCxnSpPr>
            <a:cxnSpLocks/>
          </p:cNvCxnSpPr>
          <p:nvPr/>
        </p:nvCxnSpPr>
        <p:spPr>
          <a:xfrm flipV="1">
            <a:off x="188351" y="3041901"/>
            <a:ext cx="11475650" cy="43544"/>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4CE3E85-BE7C-4752-927A-5887D6DD79C3}"/>
              </a:ext>
            </a:extLst>
          </p:cNvPr>
          <p:cNvCxnSpPr>
            <a:cxnSpLocks/>
          </p:cNvCxnSpPr>
          <p:nvPr/>
        </p:nvCxnSpPr>
        <p:spPr>
          <a:xfrm flipV="1">
            <a:off x="214683" y="3554561"/>
            <a:ext cx="11475650" cy="43544"/>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27355B4F-CFE7-49BF-A27B-0D8A6C9EBA03}"/>
              </a:ext>
            </a:extLst>
          </p:cNvPr>
          <p:cNvSpPr/>
          <p:nvPr/>
        </p:nvSpPr>
        <p:spPr bwMode="gray">
          <a:xfrm>
            <a:off x="214683" y="3174680"/>
            <a:ext cx="1216887" cy="324079"/>
          </a:xfrm>
          <a:prstGeom prst="roundRect">
            <a:avLst/>
          </a:prstGeom>
          <a:noFill/>
          <a:ln w="19050" algn="ctr">
            <a:solidFill>
              <a:schemeClr val="tx1"/>
            </a:solidFill>
            <a:miter lim="800000"/>
            <a:headEnd/>
            <a:tailEnd/>
          </a:ln>
        </p:spPr>
        <p:txBody>
          <a:bodyPr wrap="square" lIns="88900" tIns="88900" rIns="88900" bIns="88900" rtlCol="0" anchor="ctr"/>
          <a:lstStyle/>
          <a:p>
            <a:pPr>
              <a:lnSpc>
                <a:spcPct val="106000"/>
              </a:lnSpc>
            </a:pPr>
            <a:r>
              <a:rPr lang="en-US" sz="900" b="1" i="1" dirty="0">
                <a:latin typeface="Verdana" panose="020B0604030504040204" pitchFamily="34" charset="0"/>
                <a:ea typeface="Verdana" panose="020B0604030504040204" pitchFamily="34" charset="0"/>
              </a:rPr>
              <a:t>AT&amp;C Loss</a:t>
            </a:r>
          </a:p>
        </p:txBody>
      </p:sp>
      <p:sp>
        <p:nvSpPr>
          <p:cNvPr id="29" name="Oval 28">
            <a:extLst>
              <a:ext uri="{FF2B5EF4-FFF2-40B4-BE49-F238E27FC236}">
                <a16:creationId xmlns:a16="http://schemas.microsoft.com/office/drawing/2014/main" id="{87D1BB00-76E8-464D-B8B0-8A579C296AA1}"/>
              </a:ext>
            </a:extLst>
          </p:cNvPr>
          <p:cNvSpPr/>
          <p:nvPr/>
        </p:nvSpPr>
        <p:spPr bwMode="gray">
          <a:xfrm>
            <a:off x="11589590" y="121055"/>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5</a:t>
            </a:r>
          </a:p>
        </p:txBody>
      </p:sp>
    </p:spTree>
    <p:extLst>
      <p:ext uri="{BB962C8B-B14F-4D97-AF65-F5344CB8AC3E}">
        <p14:creationId xmlns:p14="http://schemas.microsoft.com/office/powerpoint/2010/main" val="322019172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Benchmarking: States with high industrial energy consumption and RE energy portfolio</a:t>
            </a:r>
          </a:p>
        </p:txBody>
      </p:sp>
    </p:spTree>
    <p:extLst>
      <p:ext uri="{BB962C8B-B14F-4D97-AF65-F5344CB8AC3E}">
        <p14:creationId xmlns:p14="http://schemas.microsoft.com/office/powerpoint/2010/main" val="344348602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27EE11A2-7E1A-4737-A564-7A0506567A47}"/>
              </a:ext>
            </a:extLst>
          </p:cNvPr>
          <p:cNvSpPr txBox="1">
            <a:spLocks/>
          </p:cNvSpPr>
          <p:nvPr/>
        </p:nvSpPr>
        <p:spPr bwMode="gray">
          <a:xfrm>
            <a:off x="479294" y="313992"/>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Gujarat :  Analysis of Power Portfolio from different sector and tariff rate comparison for  different category of consumer</a:t>
            </a:r>
          </a:p>
        </p:txBody>
      </p:sp>
      <p:graphicFrame>
        <p:nvGraphicFramePr>
          <p:cNvPr id="21" name="Chart 20">
            <a:extLst>
              <a:ext uri="{FF2B5EF4-FFF2-40B4-BE49-F238E27FC236}">
                <a16:creationId xmlns:a16="http://schemas.microsoft.com/office/drawing/2014/main" id="{09423146-FFEF-4C68-8F7E-F043AE3828E3}"/>
              </a:ext>
            </a:extLst>
          </p:cNvPr>
          <p:cNvGraphicFramePr/>
          <p:nvPr/>
        </p:nvGraphicFramePr>
        <p:xfrm>
          <a:off x="4767882" y="925673"/>
          <a:ext cx="6973209" cy="231360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Table 22">
            <a:extLst>
              <a:ext uri="{FF2B5EF4-FFF2-40B4-BE49-F238E27FC236}">
                <a16:creationId xmlns:a16="http://schemas.microsoft.com/office/drawing/2014/main" id="{BA0AEC1F-630B-4366-8CB6-FC088BB99C43}"/>
              </a:ext>
            </a:extLst>
          </p:cNvPr>
          <p:cNvGraphicFramePr>
            <a:graphicFrameLocks noGrp="1"/>
          </p:cNvGraphicFramePr>
          <p:nvPr/>
        </p:nvGraphicFramePr>
        <p:xfrm>
          <a:off x="4767881" y="925271"/>
          <a:ext cx="6973209" cy="274320"/>
        </p:xfrm>
        <a:graphic>
          <a:graphicData uri="http://schemas.openxmlformats.org/drawingml/2006/table">
            <a:tbl>
              <a:tblPr firstRow="1" bandRow="1">
                <a:tableStyleId>{5C22544A-7EE6-4342-B048-85BDC9FD1C3A}</a:tableStyleId>
              </a:tblPr>
              <a:tblGrid>
                <a:gridCol w="6973209">
                  <a:extLst>
                    <a:ext uri="{9D8B030D-6E8A-4147-A177-3AD203B41FA5}">
                      <a16:colId xmlns:a16="http://schemas.microsoft.com/office/drawing/2014/main" val="1861759708"/>
                    </a:ext>
                  </a:extLst>
                </a:gridCol>
              </a:tblGrid>
              <a:tr h="213695">
                <a:tc>
                  <a:txBody>
                    <a:bodyPr/>
                    <a:lstStyle/>
                    <a:p>
                      <a:r>
                        <a:rPr lang="en-US" sz="1200" dirty="0">
                          <a:solidFill>
                            <a:schemeClr val="tx1"/>
                          </a:solidFill>
                        </a:rPr>
                        <a:t>Power Purchase (In MUs) Vs Average Power Purchase Cost ( Rs. / KWh)</a:t>
                      </a:r>
                    </a:p>
                  </a:txBody>
                  <a:tcPr>
                    <a:solidFill>
                      <a:schemeClr val="accent6">
                        <a:lumMod val="40000"/>
                        <a:lumOff val="60000"/>
                      </a:schemeClr>
                    </a:solidFill>
                  </a:tcPr>
                </a:tc>
                <a:extLst>
                  <a:ext uri="{0D108BD9-81ED-4DB2-BD59-A6C34878D82A}">
                    <a16:rowId xmlns:a16="http://schemas.microsoft.com/office/drawing/2014/main" val="1916645255"/>
                  </a:ext>
                </a:extLst>
              </a:tr>
            </a:tbl>
          </a:graphicData>
        </a:graphic>
      </p:graphicFrame>
      <p:graphicFrame>
        <p:nvGraphicFramePr>
          <p:cNvPr id="25" name="Chart 24">
            <a:extLst>
              <a:ext uri="{FF2B5EF4-FFF2-40B4-BE49-F238E27FC236}">
                <a16:creationId xmlns:a16="http://schemas.microsoft.com/office/drawing/2014/main" id="{4B12D149-C020-4A1C-BCD2-AC47244C0AFB}"/>
              </a:ext>
            </a:extLst>
          </p:cNvPr>
          <p:cNvGraphicFramePr/>
          <p:nvPr/>
        </p:nvGraphicFramePr>
        <p:xfrm>
          <a:off x="4767882" y="3521332"/>
          <a:ext cx="6973209" cy="2838525"/>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a:extLst>
              <a:ext uri="{FF2B5EF4-FFF2-40B4-BE49-F238E27FC236}">
                <a16:creationId xmlns:a16="http://schemas.microsoft.com/office/drawing/2014/main" id="{61F52687-DC6C-4224-8512-E9CAD6B7A282}"/>
              </a:ext>
            </a:extLst>
          </p:cNvPr>
          <p:cNvSpPr txBox="1"/>
          <p:nvPr/>
        </p:nvSpPr>
        <p:spPr>
          <a:xfrm>
            <a:off x="4767882" y="3310163"/>
            <a:ext cx="6973209" cy="274321"/>
          </a:xfrm>
          <a:prstGeom prst="rect">
            <a:avLst/>
          </a:prstGeom>
          <a:solidFill>
            <a:schemeClr val="accent6">
              <a:lumMod val="60000"/>
              <a:lumOff val="4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Comparison of Average Tariff Rate of Different Category of Consumer </a:t>
            </a:r>
          </a:p>
        </p:txBody>
      </p:sp>
      <p:sp>
        <p:nvSpPr>
          <p:cNvPr id="28" name="TextBox 27">
            <a:extLst>
              <a:ext uri="{FF2B5EF4-FFF2-40B4-BE49-F238E27FC236}">
                <a16:creationId xmlns:a16="http://schemas.microsoft.com/office/drawing/2014/main" id="{D5094B1D-ACAE-4984-855B-FF341066EBFD}"/>
              </a:ext>
            </a:extLst>
          </p:cNvPr>
          <p:cNvSpPr txBox="1"/>
          <p:nvPr/>
        </p:nvSpPr>
        <p:spPr>
          <a:xfrm>
            <a:off x="10597219" y="2377098"/>
            <a:ext cx="939452"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highlight>
                  <a:srgbClr val="FFFF00"/>
                </a:highlight>
                <a:uLnTx/>
                <a:uFillTx/>
                <a:latin typeface="Calibri"/>
                <a:ea typeface="+mn-ea"/>
                <a:cs typeface="+mn-cs"/>
              </a:rPr>
              <a:t>110299 MU</a:t>
            </a:r>
          </a:p>
        </p:txBody>
      </p:sp>
      <p:sp>
        <p:nvSpPr>
          <p:cNvPr id="29" name="TextBox 28">
            <a:extLst>
              <a:ext uri="{FF2B5EF4-FFF2-40B4-BE49-F238E27FC236}">
                <a16:creationId xmlns:a16="http://schemas.microsoft.com/office/drawing/2014/main" id="{042C6B63-8180-4C52-8879-260DD646B6DF}"/>
              </a:ext>
            </a:extLst>
          </p:cNvPr>
          <p:cNvSpPr txBox="1"/>
          <p:nvPr/>
        </p:nvSpPr>
        <p:spPr>
          <a:xfrm>
            <a:off x="10728542" y="4681123"/>
            <a:ext cx="939452"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highlight>
                  <a:srgbClr val="FFFF00"/>
                </a:highlight>
                <a:uLnTx/>
                <a:uFillTx/>
                <a:latin typeface="Calibri"/>
                <a:ea typeface="+mn-ea"/>
                <a:cs typeface="+mn-cs"/>
              </a:rPr>
              <a:t>36676 Cr</a:t>
            </a:r>
          </a:p>
        </p:txBody>
      </p:sp>
      <p:sp>
        <p:nvSpPr>
          <p:cNvPr id="30" name="TextBox 29">
            <a:extLst>
              <a:ext uri="{FF2B5EF4-FFF2-40B4-BE49-F238E27FC236}">
                <a16:creationId xmlns:a16="http://schemas.microsoft.com/office/drawing/2014/main" id="{27EAE8A5-B46B-4147-968A-26051AA198F6}"/>
              </a:ext>
            </a:extLst>
          </p:cNvPr>
          <p:cNvSpPr txBox="1"/>
          <p:nvPr/>
        </p:nvSpPr>
        <p:spPr>
          <a:xfrm>
            <a:off x="10348586" y="5061735"/>
            <a:ext cx="939452"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highlight>
                  <a:srgbClr val="FFFF00"/>
                </a:highlight>
                <a:uLnTx/>
                <a:uFillTx/>
                <a:latin typeface="Calibri"/>
                <a:ea typeface="+mn-ea"/>
                <a:cs typeface="+mn-cs"/>
              </a:rPr>
              <a:t>87170 MU</a:t>
            </a:r>
          </a:p>
        </p:txBody>
      </p:sp>
      <p:sp>
        <p:nvSpPr>
          <p:cNvPr id="31" name="TextBox 30">
            <a:extLst>
              <a:ext uri="{FF2B5EF4-FFF2-40B4-BE49-F238E27FC236}">
                <a16:creationId xmlns:a16="http://schemas.microsoft.com/office/drawing/2014/main" id="{E8B4692C-DC88-433B-A098-C22966B3A216}"/>
              </a:ext>
            </a:extLst>
          </p:cNvPr>
          <p:cNvSpPr txBox="1"/>
          <p:nvPr/>
        </p:nvSpPr>
        <p:spPr>
          <a:xfrm>
            <a:off x="501648" y="966321"/>
            <a:ext cx="4189622" cy="2271006"/>
          </a:xfrm>
          <a:prstGeom prst="rect">
            <a:avLst/>
          </a:prstGeom>
          <a:noFill/>
          <a:ln>
            <a:solidFill>
              <a:srgbClr val="43B02A"/>
            </a:solidFill>
          </a:ln>
        </p:spPr>
        <p:txBody>
          <a:bodyPr wrap="square" lIns="91440" tIns="91440" rIns="91440" bIns="91440" rtlCol="0">
            <a:spAutoFit/>
          </a:bodyPr>
          <a:lstStyle/>
          <a:p>
            <a:pPr marL="285750" marR="0" lvl="0" indent="-285750" algn="just" defTabSz="914400" rtl="0" eaLnBrk="1" fontAlgn="auto" latinLnBrk="0" hangingPunct="1">
              <a:lnSpc>
                <a:spcPct val="150000"/>
              </a:lnSpc>
              <a:spcBef>
                <a:spcPts val="1200"/>
              </a:spcBef>
              <a:spcAft>
                <a:spcPts val="0"/>
              </a:spcAft>
              <a:buClrTx/>
              <a:buSzPct val="100000"/>
              <a:buFont typeface="Wingdings" panose="05000000000000000000" pitchFamily="2" charset="2"/>
              <a:buChar char="q"/>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Around 31% of renewable portfolio </a:t>
            </a:r>
          </a:p>
          <a:p>
            <a:pPr marL="285750" marR="0" lvl="0" indent="-285750" algn="just" defTabSz="914400" rtl="0" eaLnBrk="1" fontAlgn="auto" latinLnBrk="0" hangingPunct="1">
              <a:lnSpc>
                <a:spcPct val="150000"/>
              </a:lnSpc>
              <a:spcBef>
                <a:spcPts val="1200"/>
              </a:spcBef>
              <a:spcAft>
                <a:spcPts val="0"/>
              </a:spcAft>
              <a:buClrTx/>
              <a:buSzPct val="100000"/>
              <a:buFont typeface="Wingdings" panose="05000000000000000000" pitchFamily="2" charset="2"/>
              <a:buChar char="q"/>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Average Power Purchase Cost is Rs. 3.5 / KWh</a:t>
            </a:r>
          </a:p>
          <a:p>
            <a:pPr marL="285750" marR="0" lvl="0" indent="-285750" algn="just" defTabSz="914400" rtl="0" eaLnBrk="1" fontAlgn="auto" latinLnBrk="0" hangingPunct="1">
              <a:lnSpc>
                <a:spcPct val="150000"/>
              </a:lnSpc>
              <a:spcBef>
                <a:spcPts val="1200"/>
              </a:spcBef>
              <a:spcAft>
                <a:spcPts val="0"/>
              </a:spcAft>
              <a:buClrTx/>
              <a:buSzPct val="100000"/>
              <a:buFont typeface="Wingdings" panose="05000000000000000000" pitchFamily="2" charset="2"/>
              <a:buChar char="q"/>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Average energy sale to Industrial consumer is nearly 41% in MUs and 55% in Revenue. </a:t>
            </a:r>
          </a:p>
          <a:p>
            <a:pPr marL="285750" marR="0" lvl="0" indent="-285750" algn="just" defTabSz="914400" rtl="0" eaLnBrk="1" fontAlgn="auto" latinLnBrk="0" hangingPunct="1">
              <a:lnSpc>
                <a:spcPct val="150000"/>
              </a:lnSpc>
              <a:spcBef>
                <a:spcPts val="1200"/>
              </a:spcBef>
              <a:spcAft>
                <a:spcPts val="0"/>
              </a:spcAft>
              <a:buClrTx/>
              <a:buSzPct val="100000"/>
              <a:buFont typeface="Wingdings" panose="05000000000000000000" pitchFamily="2" charset="2"/>
              <a:buChar char="q"/>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Average Applicable tariff  to Industrial consumer is Rs. 5.58 / KWh </a:t>
            </a:r>
          </a:p>
        </p:txBody>
      </p:sp>
      <p:sp>
        <p:nvSpPr>
          <p:cNvPr id="32" name="TextBox 31">
            <a:extLst>
              <a:ext uri="{FF2B5EF4-FFF2-40B4-BE49-F238E27FC236}">
                <a16:creationId xmlns:a16="http://schemas.microsoft.com/office/drawing/2014/main" id="{AB7959BA-2885-49A6-873F-5667553EB2C9}"/>
              </a:ext>
            </a:extLst>
          </p:cNvPr>
          <p:cNvSpPr txBox="1"/>
          <p:nvPr/>
        </p:nvSpPr>
        <p:spPr>
          <a:xfrm>
            <a:off x="3624225" y="6493051"/>
            <a:ext cx="8116865" cy="153888"/>
          </a:xfrm>
          <a:prstGeom prst="rect">
            <a:avLst/>
          </a:prstGeom>
          <a:noFill/>
          <a:ln>
            <a:solidFill>
              <a:srgbClr val="00B0F0"/>
            </a:solidFill>
          </a:ln>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00" b="0" i="1" u="none" strike="noStrike" kern="1200" cap="none" spc="0" normalizeH="0" baseline="0" noProof="0" dirty="0">
                <a:ln>
                  <a:noFill/>
                </a:ln>
                <a:solidFill>
                  <a:srgbClr val="313131"/>
                </a:solidFill>
                <a:effectLst/>
                <a:uLnTx/>
                <a:uFillTx/>
                <a:latin typeface="Calibri"/>
                <a:ea typeface="+mn-ea"/>
                <a:cs typeface="+mn-cs"/>
              </a:rPr>
              <a:t>Source : Tariff Order for FY 2021-22 and </a:t>
            </a:r>
            <a:r>
              <a:rPr kumimoji="0" lang="en-US" altLang="en-US" sz="1000" b="0" i="0" u="none" strike="noStrike" kern="1200" cap="none" spc="0" normalizeH="0" baseline="0" noProof="0" dirty="0">
                <a:ln>
                  <a:noFill/>
                </a:ln>
                <a:solidFill>
                  <a:prstClr val="black"/>
                </a:solidFill>
                <a:effectLst/>
                <a:uLnTx/>
                <a:uFillTx/>
                <a:latin typeface="Calibri"/>
                <a:ea typeface="+mn-ea"/>
                <a:cs typeface="Segoe UI" panose="020B0502040204020203" pitchFamily="34" charset="0"/>
              </a:rPr>
              <a:t>https://www.gercin.org/wp-content/uploads/2020/09/Statistical-.pdf </a:t>
            </a:r>
            <a:r>
              <a:rPr kumimoji="0" lang="en-US" sz="1000" b="0" i="1" u="none" strike="noStrike" kern="1200" cap="none" spc="0" normalizeH="0" baseline="0" noProof="0" dirty="0">
                <a:ln>
                  <a:noFill/>
                </a:ln>
                <a:solidFill>
                  <a:srgbClr val="313131"/>
                </a:solidFill>
                <a:effectLst/>
                <a:uLnTx/>
                <a:uFillTx/>
                <a:latin typeface="Calibri"/>
                <a:ea typeface="+mn-ea"/>
                <a:cs typeface="+mn-cs"/>
              </a:rPr>
              <a:t> </a:t>
            </a:r>
          </a:p>
        </p:txBody>
      </p:sp>
      <p:graphicFrame>
        <p:nvGraphicFramePr>
          <p:cNvPr id="33" name="Chart 32">
            <a:extLst>
              <a:ext uri="{FF2B5EF4-FFF2-40B4-BE49-F238E27FC236}">
                <a16:creationId xmlns:a16="http://schemas.microsoft.com/office/drawing/2014/main" id="{4A83FA27-2C25-49BC-B8CE-19A7613BD0B8}"/>
              </a:ext>
            </a:extLst>
          </p:cNvPr>
          <p:cNvGraphicFramePr/>
          <p:nvPr/>
        </p:nvGraphicFramePr>
        <p:xfrm>
          <a:off x="501648" y="3310163"/>
          <a:ext cx="4189621" cy="3049694"/>
        </p:xfrm>
        <a:graphic>
          <a:graphicData uri="http://schemas.openxmlformats.org/drawingml/2006/chart">
            <c:chart xmlns:c="http://schemas.openxmlformats.org/drawingml/2006/chart" xmlns:r="http://schemas.openxmlformats.org/officeDocument/2006/relationships" r:id="rId5"/>
          </a:graphicData>
        </a:graphic>
      </p:graphicFrame>
      <p:sp>
        <p:nvSpPr>
          <p:cNvPr id="34" name="TextBox 33">
            <a:extLst>
              <a:ext uri="{FF2B5EF4-FFF2-40B4-BE49-F238E27FC236}">
                <a16:creationId xmlns:a16="http://schemas.microsoft.com/office/drawing/2014/main" id="{E7AE4BC4-0B44-4D42-8F35-F899776BA170}"/>
              </a:ext>
            </a:extLst>
          </p:cNvPr>
          <p:cNvSpPr txBox="1"/>
          <p:nvPr/>
        </p:nvSpPr>
        <p:spPr>
          <a:xfrm>
            <a:off x="501649" y="3297678"/>
            <a:ext cx="4189620" cy="184666"/>
          </a:xfrm>
          <a:prstGeom prst="rect">
            <a:avLst/>
          </a:prstGeom>
          <a:solidFill>
            <a:schemeClr val="accent6">
              <a:lumMod val="40000"/>
              <a:lumOff val="60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Sector wise Installed Capacity (In MW)</a:t>
            </a:r>
          </a:p>
        </p:txBody>
      </p:sp>
      <p:sp>
        <p:nvSpPr>
          <p:cNvPr id="35" name="TextBox 34">
            <a:extLst>
              <a:ext uri="{FF2B5EF4-FFF2-40B4-BE49-F238E27FC236}">
                <a16:creationId xmlns:a16="http://schemas.microsoft.com/office/drawing/2014/main" id="{95CE18F8-2D40-4530-8DC2-DB553BA1560E}"/>
              </a:ext>
            </a:extLst>
          </p:cNvPr>
          <p:cNvSpPr txBox="1"/>
          <p:nvPr/>
        </p:nvSpPr>
        <p:spPr>
          <a:xfrm>
            <a:off x="501649" y="6175192"/>
            <a:ext cx="4026807" cy="184666"/>
          </a:xfrm>
          <a:prstGeom prst="rect">
            <a:avLst/>
          </a:prstGeom>
          <a:solidFill>
            <a:schemeClr val="accent6">
              <a:lumMod val="40000"/>
              <a:lumOff val="60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Total Capacity : 28229 MW</a:t>
            </a:r>
          </a:p>
        </p:txBody>
      </p:sp>
    </p:spTree>
    <p:extLst>
      <p:ext uri="{BB962C8B-B14F-4D97-AF65-F5344CB8AC3E}">
        <p14:creationId xmlns:p14="http://schemas.microsoft.com/office/powerpoint/2010/main" val="270616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27EE11A2-7E1A-4737-A564-7A0506567A47}"/>
              </a:ext>
            </a:extLst>
          </p:cNvPr>
          <p:cNvSpPr txBox="1">
            <a:spLocks/>
          </p:cNvSpPr>
          <p:nvPr/>
        </p:nvSpPr>
        <p:spPr bwMode="gray">
          <a:xfrm>
            <a:off x="577850" y="314312"/>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Andhra Pradesh:  Analysis of Power Portfolio from different sector and tariff rate comparison for  different category of consumer</a:t>
            </a:r>
          </a:p>
        </p:txBody>
      </p:sp>
      <p:graphicFrame>
        <p:nvGraphicFramePr>
          <p:cNvPr id="14" name="Chart 13">
            <a:extLst>
              <a:ext uri="{FF2B5EF4-FFF2-40B4-BE49-F238E27FC236}">
                <a16:creationId xmlns:a16="http://schemas.microsoft.com/office/drawing/2014/main" id="{7E110969-56CC-44EA-87C3-8CBB0C9FD158}"/>
              </a:ext>
            </a:extLst>
          </p:cNvPr>
          <p:cNvGraphicFramePr/>
          <p:nvPr/>
        </p:nvGraphicFramePr>
        <p:xfrm>
          <a:off x="501650" y="3310164"/>
          <a:ext cx="3869934" cy="3049694"/>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0DB06F34-509A-46D2-A7DE-0E5EE89FF863}"/>
              </a:ext>
            </a:extLst>
          </p:cNvPr>
          <p:cNvSpPr txBox="1"/>
          <p:nvPr/>
        </p:nvSpPr>
        <p:spPr>
          <a:xfrm>
            <a:off x="501649" y="3336667"/>
            <a:ext cx="3869933" cy="184666"/>
          </a:xfrm>
          <a:prstGeom prst="rect">
            <a:avLst/>
          </a:prstGeom>
          <a:solidFill>
            <a:schemeClr val="accent6">
              <a:lumMod val="40000"/>
              <a:lumOff val="60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Sector wise Installed Capacity (In MW)</a:t>
            </a:r>
          </a:p>
        </p:txBody>
      </p:sp>
      <p:sp>
        <p:nvSpPr>
          <p:cNvPr id="18" name="TextBox 17">
            <a:extLst>
              <a:ext uri="{FF2B5EF4-FFF2-40B4-BE49-F238E27FC236}">
                <a16:creationId xmlns:a16="http://schemas.microsoft.com/office/drawing/2014/main" id="{0F73D9EC-A45E-4BD4-A79A-329EACFE7CA5}"/>
              </a:ext>
            </a:extLst>
          </p:cNvPr>
          <p:cNvSpPr txBox="1"/>
          <p:nvPr/>
        </p:nvSpPr>
        <p:spPr>
          <a:xfrm>
            <a:off x="501650" y="6175191"/>
            <a:ext cx="3869932" cy="184666"/>
          </a:xfrm>
          <a:prstGeom prst="rect">
            <a:avLst/>
          </a:prstGeom>
          <a:solidFill>
            <a:schemeClr val="accent6">
              <a:lumMod val="40000"/>
              <a:lumOff val="60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Total Capacity : 25712 MW</a:t>
            </a:r>
          </a:p>
        </p:txBody>
      </p:sp>
      <p:graphicFrame>
        <p:nvGraphicFramePr>
          <p:cNvPr id="21" name="Chart 20">
            <a:extLst>
              <a:ext uri="{FF2B5EF4-FFF2-40B4-BE49-F238E27FC236}">
                <a16:creationId xmlns:a16="http://schemas.microsoft.com/office/drawing/2014/main" id="{09423146-FFEF-4C68-8F7E-F043AE3828E3}"/>
              </a:ext>
            </a:extLst>
          </p:cNvPr>
          <p:cNvGraphicFramePr/>
          <p:nvPr/>
        </p:nvGraphicFramePr>
        <p:xfrm>
          <a:off x="4767882" y="927703"/>
          <a:ext cx="6973209" cy="225333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Table 22">
            <a:extLst>
              <a:ext uri="{FF2B5EF4-FFF2-40B4-BE49-F238E27FC236}">
                <a16:creationId xmlns:a16="http://schemas.microsoft.com/office/drawing/2014/main" id="{BA0AEC1F-630B-4366-8CB6-FC088BB99C43}"/>
              </a:ext>
            </a:extLst>
          </p:cNvPr>
          <p:cNvGraphicFramePr>
            <a:graphicFrameLocks noGrp="1"/>
          </p:cNvGraphicFramePr>
          <p:nvPr/>
        </p:nvGraphicFramePr>
        <p:xfrm>
          <a:off x="4767882" y="927703"/>
          <a:ext cx="6998668" cy="274322"/>
        </p:xfrm>
        <a:graphic>
          <a:graphicData uri="http://schemas.openxmlformats.org/drawingml/2006/table">
            <a:tbl>
              <a:tblPr firstRow="1" bandRow="1">
                <a:tableStyleId>{5C22544A-7EE6-4342-B048-85BDC9FD1C3A}</a:tableStyleId>
              </a:tblPr>
              <a:tblGrid>
                <a:gridCol w="6998668">
                  <a:extLst>
                    <a:ext uri="{9D8B030D-6E8A-4147-A177-3AD203B41FA5}">
                      <a16:colId xmlns:a16="http://schemas.microsoft.com/office/drawing/2014/main" val="1861759708"/>
                    </a:ext>
                  </a:extLst>
                </a:gridCol>
              </a:tblGrid>
              <a:tr h="274322">
                <a:tc>
                  <a:txBody>
                    <a:bodyPr/>
                    <a:lstStyle/>
                    <a:p>
                      <a:r>
                        <a:rPr lang="en-US" sz="1200" dirty="0">
                          <a:solidFill>
                            <a:schemeClr val="tx1"/>
                          </a:solidFill>
                        </a:rPr>
                        <a:t>Total Power Purchase (In MUs) Vs Average Power Purchase Cost ( Rs. / KWh)</a:t>
                      </a:r>
                    </a:p>
                  </a:txBody>
                  <a:tcPr>
                    <a:solidFill>
                      <a:schemeClr val="accent6">
                        <a:lumMod val="40000"/>
                        <a:lumOff val="60000"/>
                      </a:schemeClr>
                    </a:solidFill>
                  </a:tcPr>
                </a:tc>
                <a:extLst>
                  <a:ext uri="{0D108BD9-81ED-4DB2-BD59-A6C34878D82A}">
                    <a16:rowId xmlns:a16="http://schemas.microsoft.com/office/drawing/2014/main" val="1916645255"/>
                  </a:ext>
                </a:extLst>
              </a:tr>
            </a:tbl>
          </a:graphicData>
        </a:graphic>
      </p:graphicFrame>
      <p:graphicFrame>
        <p:nvGraphicFramePr>
          <p:cNvPr id="25" name="Chart 24">
            <a:extLst>
              <a:ext uri="{FF2B5EF4-FFF2-40B4-BE49-F238E27FC236}">
                <a16:creationId xmlns:a16="http://schemas.microsoft.com/office/drawing/2014/main" id="{4B12D149-C020-4A1C-BCD2-AC47244C0AFB}"/>
              </a:ext>
            </a:extLst>
          </p:cNvPr>
          <p:cNvGraphicFramePr/>
          <p:nvPr/>
        </p:nvGraphicFramePr>
        <p:xfrm>
          <a:off x="4767882" y="3521333"/>
          <a:ext cx="6973209" cy="2838525"/>
        </p:xfrm>
        <a:graphic>
          <a:graphicData uri="http://schemas.openxmlformats.org/drawingml/2006/chart">
            <c:chart xmlns:c="http://schemas.openxmlformats.org/drawingml/2006/chart" xmlns:r="http://schemas.openxmlformats.org/officeDocument/2006/relationships" r:id="rId5"/>
          </a:graphicData>
        </a:graphic>
      </p:graphicFrame>
      <p:sp>
        <p:nvSpPr>
          <p:cNvPr id="27" name="TextBox 26">
            <a:extLst>
              <a:ext uri="{FF2B5EF4-FFF2-40B4-BE49-F238E27FC236}">
                <a16:creationId xmlns:a16="http://schemas.microsoft.com/office/drawing/2014/main" id="{61F52687-DC6C-4224-8512-E9CAD6B7A282}"/>
              </a:ext>
            </a:extLst>
          </p:cNvPr>
          <p:cNvSpPr txBox="1"/>
          <p:nvPr/>
        </p:nvSpPr>
        <p:spPr>
          <a:xfrm>
            <a:off x="4767882" y="3310163"/>
            <a:ext cx="6973209" cy="274321"/>
          </a:xfrm>
          <a:prstGeom prst="rect">
            <a:avLst/>
          </a:prstGeom>
          <a:solidFill>
            <a:schemeClr val="accent6">
              <a:lumMod val="60000"/>
              <a:lumOff val="4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Comparison of Average Tariff Rate of Different Category of Consumer </a:t>
            </a:r>
          </a:p>
        </p:txBody>
      </p:sp>
      <p:sp>
        <p:nvSpPr>
          <p:cNvPr id="28" name="TextBox 27">
            <a:extLst>
              <a:ext uri="{FF2B5EF4-FFF2-40B4-BE49-F238E27FC236}">
                <a16:creationId xmlns:a16="http://schemas.microsoft.com/office/drawing/2014/main" id="{D5094B1D-ACAE-4984-855B-FF341066EBFD}"/>
              </a:ext>
            </a:extLst>
          </p:cNvPr>
          <p:cNvSpPr txBox="1"/>
          <p:nvPr/>
        </p:nvSpPr>
        <p:spPr>
          <a:xfrm>
            <a:off x="10728542" y="1977425"/>
            <a:ext cx="939452"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highlight>
                  <a:srgbClr val="FFFF00"/>
                </a:highlight>
                <a:uLnTx/>
                <a:uFillTx/>
                <a:latin typeface="Calibri"/>
                <a:ea typeface="+mn-ea"/>
                <a:cs typeface="+mn-cs"/>
              </a:rPr>
              <a:t>67756 MU</a:t>
            </a:r>
          </a:p>
        </p:txBody>
      </p:sp>
      <p:sp>
        <p:nvSpPr>
          <p:cNvPr id="29" name="TextBox 28">
            <a:extLst>
              <a:ext uri="{FF2B5EF4-FFF2-40B4-BE49-F238E27FC236}">
                <a16:creationId xmlns:a16="http://schemas.microsoft.com/office/drawing/2014/main" id="{042C6B63-8180-4C52-8879-260DD646B6DF}"/>
              </a:ext>
            </a:extLst>
          </p:cNvPr>
          <p:cNvSpPr txBox="1"/>
          <p:nvPr/>
        </p:nvSpPr>
        <p:spPr>
          <a:xfrm>
            <a:off x="10827098" y="5027120"/>
            <a:ext cx="939452"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highlight>
                  <a:srgbClr val="FFFF00"/>
                </a:highlight>
                <a:uLnTx/>
                <a:uFillTx/>
                <a:latin typeface="Calibri"/>
                <a:ea typeface="+mn-ea"/>
                <a:cs typeface="+mn-cs"/>
              </a:rPr>
              <a:t>31164 Cr</a:t>
            </a:r>
          </a:p>
        </p:txBody>
      </p:sp>
      <p:sp>
        <p:nvSpPr>
          <p:cNvPr id="30" name="TextBox 29">
            <a:extLst>
              <a:ext uri="{FF2B5EF4-FFF2-40B4-BE49-F238E27FC236}">
                <a16:creationId xmlns:a16="http://schemas.microsoft.com/office/drawing/2014/main" id="{27EAE8A5-B46B-4147-968A-26051AA198F6}"/>
              </a:ext>
            </a:extLst>
          </p:cNvPr>
          <p:cNvSpPr txBox="1"/>
          <p:nvPr/>
        </p:nvSpPr>
        <p:spPr>
          <a:xfrm>
            <a:off x="10498302" y="5353625"/>
            <a:ext cx="939452"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highlight>
                  <a:srgbClr val="FFFF00"/>
                </a:highlight>
                <a:uLnTx/>
                <a:uFillTx/>
                <a:latin typeface="Calibri"/>
                <a:ea typeface="+mn-ea"/>
                <a:cs typeface="+mn-cs"/>
              </a:rPr>
              <a:t>60944  MU</a:t>
            </a:r>
          </a:p>
        </p:txBody>
      </p:sp>
      <p:sp>
        <p:nvSpPr>
          <p:cNvPr id="31" name="TextBox 30">
            <a:extLst>
              <a:ext uri="{FF2B5EF4-FFF2-40B4-BE49-F238E27FC236}">
                <a16:creationId xmlns:a16="http://schemas.microsoft.com/office/drawing/2014/main" id="{E8B4692C-DC88-433B-A098-C22966B3A216}"/>
              </a:ext>
            </a:extLst>
          </p:cNvPr>
          <p:cNvSpPr txBox="1"/>
          <p:nvPr/>
        </p:nvSpPr>
        <p:spPr>
          <a:xfrm>
            <a:off x="577849" y="985947"/>
            <a:ext cx="3793733" cy="2123658"/>
          </a:xfrm>
          <a:prstGeom prst="rect">
            <a:avLst/>
          </a:prstGeom>
          <a:noFill/>
          <a:ln>
            <a:solidFill>
              <a:srgbClr val="43B02A"/>
            </a:solidFill>
          </a:ln>
        </p:spPr>
        <p:txBody>
          <a:bodyPr wrap="square" lIns="91440" tIns="91440" rIns="91440" bIns="91440" rtlCol="0">
            <a:spAutoFit/>
          </a:bodyPr>
          <a:lstStyle/>
          <a:p>
            <a:pPr marL="285750" marR="0" lvl="0" indent="-285750" algn="just" defTabSz="914400" rtl="0" eaLnBrk="1" fontAlgn="auto" latinLnBrk="0" hangingPunct="1">
              <a:lnSpc>
                <a:spcPct val="100000"/>
              </a:lnSpc>
              <a:spcBef>
                <a:spcPts val="1200"/>
              </a:spcBef>
              <a:spcAft>
                <a:spcPts val="0"/>
              </a:spcAft>
              <a:buClrTx/>
              <a:buSzPct val="100000"/>
              <a:buFont typeface="Wingdings" panose="05000000000000000000" pitchFamily="2" charset="2"/>
              <a:buChar char="q"/>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Around 36% of renewable portfolio </a:t>
            </a:r>
          </a:p>
          <a:p>
            <a:pPr marL="285750" marR="0" lvl="0" indent="-285750" algn="just" defTabSz="914400" rtl="0" eaLnBrk="1" fontAlgn="auto" latinLnBrk="0" hangingPunct="1">
              <a:lnSpc>
                <a:spcPct val="100000"/>
              </a:lnSpc>
              <a:spcBef>
                <a:spcPts val="1200"/>
              </a:spcBef>
              <a:spcAft>
                <a:spcPts val="0"/>
              </a:spcAft>
              <a:buClrTx/>
              <a:buSzPct val="100000"/>
              <a:buFont typeface="Wingdings" panose="05000000000000000000" pitchFamily="2" charset="2"/>
              <a:buChar char="q"/>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Average Power Purchase Rate is Rs. 3.88 / KWh</a:t>
            </a:r>
          </a:p>
          <a:p>
            <a:pPr marL="285750" marR="0" lvl="0" indent="-285750" algn="just" defTabSz="914400" rtl="0" eaLnBrk="1" fontAlgn="auto" latinLnBrk="0" hangingPunct="1">
              <a:lnSpc>
                <a:spcPct val="100000"/>
              </a:lnSpc>
              <a:spcBef>
                <a:spcPts val="1200"/>
              </a:spcBef>
              <a:spcAft>
                <a:spcPts val="0"/>
              </a:spcAft>
              <a:buClrTx/>
              <a:buSzPct val="100000"/>
              <a:buFont typeface="Wingdings" panose="05000000000000000000" pitchFamily="2" charset="2"/>
              <a:buChar char="q"/>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Average energy sale to Industrial consumer is nearly 26% in MUs and 39% in Revenue. </a:t>
            </a:r>
          </a:p>
          <a:p>
            <a:pPr marL="285750" marR="0" lvl="0" indent="-285750" algn="just" defTabSz="914400" rtl="0" eaLnBrk="1" fontAlgn="auto" latinLnBrk="0" hangingPunct="1">
              <a:lnSpc>
                <a:spcPct val="100000"/>
              </a:lnSpc>
              <a:spcBef>
                <a:spcPts val="1200"/>
              </a:spcBef>
              <a:spcAft>
                <a:spcPts val="0"/>
              </a:spcAft>
              <a:buClrTx/>
              <a:buSzPct val="100000"/>
              <a:buFont typeface="Wingdings" panose="05000000000000000000" pitchFamily="2" charset="2"/>
              <a:buChar char="q"/>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Average Applicable tariff  to Industrial consumer is Rs. 7.5 / KWh </a:t>
            </a:r>
          </a:p>
        </p:txBody>
      </p:sp>
      <p:sp>
        <p:nvSpPr>
          <p:cNvPr id="32" name="TextBox 31">
            <a:extLst>
              <a:ext uri="{FF2B5EF4-FFF2-40B4-BE49-F238E27FC236}">
                <a16:creationId xmlns:a16="http://schemas.microsoft.com/office/drawing/2014/main" id="{AB7959BA-2885-49A6-873F-5667553EB2C9}"/>
              </a:ext>
            </a:extLst>
          </p:cNvPr>
          <p:cNvSpPr txBox="1"/>
          <p:nvPr/>
        </p:nvSpPr>
        <p:spPr>
          <a:xfrm>
            <a:off x="3457183" y="6571028"/>
            <a:ext cx="8116865" cy="153888"/>
          </a:xfrm>
          <a:prstGeom prst="rect">
            <a:avLst/>
          </a:prstGeom>
          <a:noFill/>
          <a:ln>
            <a:solidFill>
              <a:srgbClr val="00B0F0"/>
            </a:solidFill>
          </a:ln>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00" b="0" i="1" u="none" strike="noStrike" kern="1200" cap="none" spc="0" normalizeH="0" baseline="0" noProof="0" dirty="0">
                <a:ln>
                  <a:noFill/>
                </a:ln>
                <a:solidFill>
                  <a:srgbClr val="313131"/>
                </a:solidFill>
                <a:effectLst/>
                <a:uLnTx/>
                <a:uFillTx/>
                <a:latin typeface="Calibri"/>
                <a:ea typeface="+mn-ea"/>
                <a:cs typeface="+mn-cs"/>
              </a:rPr>
              <a:t>Source : Tariff Order for FY 2021-22 and CEA Report on Installed Capacity</a:t>
            </a:r>
          </a:p>
        </p:txBody>
      </p:sp>
    </p:spTree>
    <p:extLst>
      <p:ext uri="{BB962C8B-B14F-4D97-AF65-F5344CB8AC3E}">
        <p14:creationId xmlns:p14="http://schemas.microsoft.com/office/powerpoint/2010/main" val="30371869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Rationalization of Tariff Structure</a:t>
            </a:r>
          </a:p>
        </p:txBody>
      </p:sp>
    </p:spTree>
    <p:extLst>
      <p:ext uri="{BB962C8B-B14F-4D97-AF65-F5344CB8AC3E}">
        <p14:creationId xmlns:p14="http://schemas.microsoft.com/office/powerpoint/2010/main" val="2521434981"/>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87D366E2-48EF-4F98-9C61-0265E3A88FBE}"/>
              </a:ext>
            </a:extLst>
          </p:cNvPr>
          <p:cNvSpPr txBox="1">
            <a:spLocks/>
          </p:cNvSpPr>
          <p:nvPr/>
        </p:nvSpPr>
        <p:spPr bwMode="gray">
          <a:xfrm>
            <a:off x="383754" y="465808"/>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Comparison of Industrial tariff Rate vs average tariff rate of different states</a:t>
            </a:r>
          </a:p>
        </p:txBody>
      </p:sp>
      <p:graphicFrame>
        <p:nvGraphicFramePr>
          <p:cNvPr id="3" name="Chart 2">
            <a:extLst>
              <a:ext uri="{FF2B5EF4-FFF2-40B4-BE49-F238E27FC236}">
                <a16:creationId xmlns:a16="http://schemas.microsoft.com/office/drawing/2014/main" id="{83271764-C2C2-4868-94B8-CCDC2FC2B8DF}"/>
              </a:ext>
            </a:extLst>
          </p:cNvPr>
          <p:cNvGraphicFramePr/>
          <p:nvPr/>
        </p:nvGraphicFramePr>
        <p:xfrm>
          <a:off x="383754" y="1476405"/>
          <a:ext cx="11424492" cy="2180921"/>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FE79ACD-FC5B-4E91-8937-FF52DB7C1C36}"/>
              </a:ext>
            </a:extLst>
          </p:cNvPr>
          <p:cNvSpPr txBox="1"/>
          <p:nvPr/>
        </p:nvSpPr>
        <p:spPr>
          <a:xfrm>
            <a:off x="383754" y="6150033"/>
            <a:ext cx="9688952"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dirty="0">
                <a:ln>
                  <a:noFill/>
                </a:ln>
                <a:solidFill>
                  <a:srgbClr val="313131"/>
                </a:solidFill>
                <a:effectLst/>
                <a:uLnTx/>
                <a:uFillTx/>
                <a:latin typeface="Calibri"/>
                <a:ea typeface="+mn-ea"/>
                <a:cs typeface="+mn-cs"/>
              </a:rPr>
              <a:t>** Average Tariff rate includes fixed charge, variable charges and electricity duty  </a:t>
            </a:r>
          </a:p>
        </p:txBody>
      </p:sp>
      <p:sp>
        <p:nvSpPr>
          <p:cNvPr id="5" name="TextBox 4">
            <a:extLst>
              <a:ext uri="{FF2B5EF4-FFF2-40B4-BE49-F238E27FC236}">
                <a16:creationId xmlns:a16="http://schemas.microsoft.com/office/drawing/2014/main" id="{466BA5D0-A3DB-4251-A6E7-86A5BBCA5C2D}"/>
              </a:ext>
            </a:extLst>
          </p:cNvPr>
          <p:cNvSpPr txBox="1"/>
          <p:nvPr/>
        </p:nvSpPr>
        <p:spPr>
          <a:xfrm>
            <a:off x="383754" y="6334699"/>
            <a:ext cx="1130659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Calibri"/>
                <a:ea typeface="+mn-ea"/>
                <a:cs typeface="+mn-cs"/>
              </a:rPr>
              <a:t>Source : </a:t>
            </a:r>
            <a:r>
              <a:rPr kumimoji="0" lang="en-US" altLang="en-US" sz="1200" b="0" i="1" u="none" strike="noStrike" kern="1200" cap="none" spc="0" normalizeH="0" baseline="0" noProof="0" dirty="0">
                <a:ln>
                  <a:noFill/>
                </a:ln>
                <a:solidFill>
                  <a:srgbClr val="007CB0">
                    <a:lumMod val="40000"/>
                    <a:lumOff val="60000"/>
                  </a:srgbClr>
                </a:solidFill>
                <a:effectLst/>
                <a:uLnTx/>
                <a:uFillTx/>
                <a:latin typeface="Calibri"/>
                <a:ea typeface="+mn-ea"/>
                <a:cs typeface="Segoe UI" panose="020B0502040204020203" pitchFamily="34" charset="0"/>
              </a:rPr>
              <a:t>https://cea.nic.in/wp-content/uploads/2021/03/tariff_2019.pdf , ERC Order of different states and Annual report of WBSEDCL , </a:t>
            </a:r>
            <a:r>
              <a:rPr kumimoji="0" lang="en-US" altLang="en-US" sz="1200" b="0" i="1" u="none" strike="noStrike" kern="1200" cap="none" spc="0" normalizeH="0" baseline="0" noProof="0" dirty="0" err="1">
                <a:ln>
                  <a:noFill/>
                </a:ln>
                <a:solidFill>
                  <a:srgbClr val="007CB0">
                    <a:lumMod val="40000"/>
                    <a:lumOff val="60000"/>
                  </a:srgbClr>
                </a:solidFill>
                <a:effectLst/>
                <a:uLnTx/>
                <a:uFillTx/>
                <a:latin typeface="Calibri"/>
                <a:ea typeface="+mn-ea"/>
                <a:cs typeface="Segoe UI" panose="020B0502040204020203" pitchFamily="34" charset="0"/>
              </a:rPr>
              <a:t>pg</a:t>
            </a:r>
            <a:r>
              <a:rPr kumimoji="0" lang="en-US" altLang="en-US" sz="1200" b="0" i="1" u="none" strike="noStrike" kern="1200" cap="none" spc="0" normalizeH="0" baseline="0" noProof="0" dirty="0">
                <a:ln>
                  <a:noFill/>
                </a:ln>
                <a:solidFill>
                  <a:srgbClr val="007CB0">
                    <a:lumMod val="40000"/>
                    <a:lumOff val="60000"/>
                  </a:srgbClr>
                </a:solidFill>
                <a:effectLst/>
                <a:uLnTx/>
                <a:uFillTx/>
                <a:latin typeface="Calibri"/>
                <a:ea typeface="+mn-ea"/>
                <a:cs typeface="Segoe UI" panose="020B0502040204020203" pitchFamily="34" charset="0"/>
              </a:rPr>
              <a:t> 191 of 225 (250kW large industry 40% LF) </a:t>
            </a:r>
            <a:r>
              <a:rPr kumimoji="0" lang="en-US" sz="1200" b="0" i="1" u="none" strike="noStrike" kern="1200" cap="none" spc="0" normalizeH="0" baseline="0" noProof="0" dirty="0">
                <a:ln>
                  <a:noFill/>
                </a:ln>
                <a:solidFill>
                  <a:srgbClr val="007CB0">
                    <a:lumMod val="40000"/>
                    <a:lumOff val="60000"/>
                  </a:srgbClr>
                </a:solidFill>
                <a:effectLst/>
                <a:uLnTx/>
                <a:uFillTx/>
                <a:latin typeface="Calibri"/>
                <a:ea typeface="+mn-ea"/>
                <a:cs typeface="+mn-cs"/>
              </a:rPr>
              <a:t> </a:t>
            </a:r>
          </a:p>
        </p:txBody>
      </p:sp>
      <p:sp>
        <p:nvSpPr>
          <p:cNvPr id="6" name="Rectangle 5">
            <a:extLst>
              <a:ext uri="{FF2B5EF4-FFF2-40B4-BE49-F238E27FC236}">
                <a16:creationId xmlns:a16="http://schemas.microsoft.com/office/drawing/2014/main" id="{CA05E53B-92DB-4E0C-B1CD-9792EF324717}"/>
              </a:ext>
            </a:extLst>
          </p:cNvPr>
          <p:cNvSpPr/>
          <p:nvPr/>
        </p:nvSpPr>
        <p:spPr bwMode="gray">
          <a:xfrm>
            <a:off x="383754" y="1060216"/>
            <a:ext cx="11424492" cy="368299"/>
          </a:xfrm>
          <a:prstGeom prst="rect">
            <a:avLst/>
          </a:prstGeom>
          <a:solidFill>
            <a:srgbClr val="0076A8"/>
          </a:solidFill>
          <a:ln>
            <a:solidFill>
              <a:schemeClr val="bg1"/>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Calibri"/>
                <a:ea typeface="+mn-ea"/>
                <a:cs typeface="+mn-cs"/>
              </a:rPr>
              <a:t>Average tariff rate for 11 KV Industrial Consumer and Average Billing Rate ( At Load Factor 40%) </a:t>
            </a:r>
          </a:p>
        </p:txBody>
      </p:sp>
      <p:sp>
        <p:nvSpPr>
          <p:cNvPr id="7" name="TextBox 6">
            <a:extLst>
              <a:ext uri="{FF2B5EF4-FFF2-40B4-BE49-F238E27FC236}">
                <a16:creationId xmlns:a16="http://schemas.microsoft.com/office/drawing/2014/main" id="{C30971A6-1FAD-458E-B3C7-F32DB548F9EC}"/>
              </a:ext>
            </a:extLst>
          </p:cNvPr>
          <p:cNvSpPr txBox="1"/>
          <p:nvPr/>
        </p:nvSpPr>
        <p:spPr>
          <a:xfrm>
            <a:off x="383754" y="806091"/>
            <a:ext cx="11424492" cy="215444"/>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q"/>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Industry Intensive state like Gujarat, Andhra Pradesh have lower Industrial Tariff. </a:t>
            </a:r>
          </a:p>
        </p:txBody>
      </p:sp>
      <p:graphicFrame>
        <p:nvGraphicFramePr>
          <p:cNvPr id="8" name="Chart 7">
            <a:extLst>
              <a:ext uri="{FF2B5EF4-FFF2-40B4-BE49-F238E27FC236}">
                <a16:creationId xmlns:a16="http://schemas.microsoft.com/office/drawing/2014/main" id="{7F8D992C-972E-4421-9E4A-B6B0358DAA96}"/>
              </a:ext>
            </a:extLst>
          </p:cNvPr>
          <p:cNvGraphicFramePr/>
          <p:nvPr>
            <p:extLst>
              <p:ext uri="{D42A27DB-BD31-4B8C-83A1-F6EECF244321}">
                <p14:modId xmlns:p14="http://schemas.microsoft.com/office/powerpoint/2010/main" val="725321489"/>
              </p:ext>
            </p:extLst>
          </p:nvPr>
        </p:nvGraphicFramePr>
        <p:xfrm>
          <a:off x="383754" y="4176661"/>
          <a:ext cx="11424492" cy="1926279"/>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2E56455D-76EC-409B-9D95-D2EE800783A9}"/>
              </a:ext>
            </a:extLst>
          </p:cNvPr>
          <p:cNvSpPr/>
          <p:nvPr/>
        </p:nvSpPr>
        <p:spPr bwMode="gray">
          <a:xfrm>
            <a:off x="383754" y="3824245"/>
            <a:ext cx="11424492" cy="305323"/>
          </a:xfrm>
          <a:prstGeom prst="rect">
            <a:avLst/>
          </a:prstGeom>
          <a:solidFill>
            <a:srgbClr val="0076A8"/>
          </a:solidFill>
          <a:ln>
            <a:solidFill>
              <a:schemeClr val="bg1"/>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Calibri"/>
                <a:ea typeface="+mn-ea"/>
                <a:cs typeface="+mn-cs"/>
              </a:rPr>
              <a:t>Average tariff rate for 33 KV Industrial Consumer and Average Billing Rate (Load Factor of 40%)</a:t>
            </a:r>
          </a:p>
        </p:txBody>
      </p:sp>
      <p:sp>
        <p:nvSpPr>
          <p:cNvPr id="10" name="Arrow: Left 9">
            <a:extLst>
              <a:ext uri="{FF2B5EF4-FFF2-40B4-BE49-F238E27FC236}">
                <a16:creationId xmlns:a16="http://schemas.microsoft.com/office/drawing/2014/main" id="{FB2C68CE-77B9-4FB2-8942-5F6CF1F184A1}"/>
              </a:ext>
            </a:extLst>
          </p:cNvPr>
          <p:cNvSpPr/>
          <p:nvPr/>
        </p:nvSpPr>
        <p:spPr bwMode="gray">
          <a:xfrm>
            <a:off x="10289267" y="6582598"/>
            <a:ext cx="1578323" cy="326920"/>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hlinkClick r:id="rId4" action="ppaction://hlinksldjump"/>
              </a:rPr>
              <a:t>Back to Home</a:t>
            </a:r>
            <a:endParaRPr lang="en-US" sz="1100" b="1" dirty="0">
              <a:solidFill>
                <a:schemeClr val="bg1"/>
              </a:solidFill>
            </a:endParaRPr>
          </a:p>
        </p:txBody>
      </p:sp>
      <p:sp>
        <p:nvSpPr>
          <p:cNvPr id="11" name="Oval 10">
            <a:extLst>
              <a:ext uri="{FF2B5EF4-FFF2-40B4-BE49-F238E27FC236}">
                <a16:creationId xmlns:a16="http://schemas.microsoft.com/office/drawing/2014/main" id="{8DBD85A5-97AD-447D-AF13-05E7692FCA56}"/>
              </a:ext>
            </a:extLst>
          </p:cNvPr>
          <p:cNvSpPr/>
          <p:nvPr/>
        </p:nvSpPr>
        <p:spPr bwMode="gray">
          <a:xfrm>
            <a:off x="11717213" y="46736"/>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6</a:t>
            </a:r>
          </a:p>
        </p:txBody>
      </p:sp>
    </p:spTree>
    <p:extLst>
      <p:ext uri="{BB962C8B-B14F-4D97-AF65-F5344CB8AC3E}">
        <p14:creationId xmlns:p14="http://schemas.microsoft.com/office/powerpoint/2010/main" val="3353299715"/>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p:txBody>
          <a:bodyPr anchor="t">
            <a:noAutofit/>
          </a:bodyPr>
          <a:lstStyle/>
          <a:p>
            <a:pPr>
              <a:lnSpc>
                <a:spcPct val="90000"/>
              </a:lnSpc>
            </a:pPr>
            <a:r>
              <a:rPr lang="en-US" sz="2000" b="1" dirty="0">
                <a:latin typeface="Verdana" panose="020B0604030504040204" pitchFamily="34" charset="0"/>
                <a:ea typeface="Verdana" panose="020B0604030504040204" pitchFamily="34" charset="0"/>
              </a:rPr>
              <a:t>Domestic LV Fixed charges for West Bengal is much lesser as compared to other states </a:t>
            </a:r>
          </a:p>
        </p:txBody>
      </p:sp>
      <p:graphicFrame>
        <p:nvGraphicFramePr>
          <p:cNvPr id="7" name="Chart 6">
            <a:extLst>
              <a:ext uri="{FF2B5EF4-FFF2-40B4-BE49-F238E27FC236}">
                <a16:creationId xmlns:a16="http://schemas.microsoft.com/office/drawing/2014/main" id="{037C7482-8BBA-4BF0-B395-BA13A2F47D8D}"/>
              </a:ext>
            </a:extLst>
          </p:cNvPr>
          <p:cNvGraphicFramePr>
            <a:graphicFrameLocks/>
          </p:cNvGraphicFramePr>
          <p:nvPr/>
        </p:nvGraphicFramePr>
        <p:xfrm>
          <a:off x="469902" y="1164771"/>
          <a:ext cx="11054400" cy="4723293"/>
        </p:xfrm>
        <a:graphic>
          <a:graphicData uri="http://schemas.openxmlformats.org/drawingml/2006/chart">
            <c:chart xmlns:c="http://schemas.openxmlformats.org/drawingml/2006/chart" xmlns:r="http://schemas.openxmlformats.org/officeDocument/2006/relationships" r:id="rId3"/>
          </a:graphicData>
        </a:graphic>
      </p:graphicFrame>
      <p:sp>
        <p:nvSpPr>
          <p:cNvPr id="4" name="Arrow: Left 3">
            <a:extLst>
              <a:ext uri="{FF2B5EF4-FFF2-40B4-BE49-F238E27FC236}">
                <a16:creationId xmlns:a16="http://schemas.microsoft.com/office/drawing/2014/main" id="{BC41F046-0292-4997-A092-AC0B0B1942EC}"/>
              </a:ext>
            </a:extLst>
          </p:cNvPr>
          <p:cNvSpPr/>
          <p:nvPr/>
        </p:nvSpPr>
        <p:spPr bwMode="gray">
          <a:xfrm>
            <a:off x="10289267" y="6582598"/>
            <a:ext cx="1578323" cy="326920"/>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hlinkClick r:id="rId4" action="ppaction://hlinksldjump"/>
              </a:rPr>
              <a:t>Back to Home</a:t>
            </a:r>
            <a:endParaRPr lang="en-US" sz="1100" b="1" dirty="0">
              <a:solidFill>
                <a:schemeClr val="bg1"/>
              </a:solidFill>
            </a:endParaRPr>
          </a:p>
        </p:txBody>
      </p:sp>
      <p:sp>
        <p:nvSpPr>
          <p:cNvPr id="5" name="Oval 4">
            <a:extLst>
              <a:ext uri="{FF2B5EF4-FFF2-40B4-BE49-F238E27FC236}">
                <a16:creationId xmlns:a16="http://schemas.microsoft.com/office/drawing/2014/main" id="{498139EC-441F-4FC9-B689-ABAD8EA6AAF3}"/>
              </a:ext>
            </a:extLst>
          </p:cNvPr>
          <p:cNvSpPr/>
          <p:nvPr/>
        </p:nvSpPr>
        <p:spPr bwMode="gray">
          <a:xfrm>
            <a:off x="11717213" y="46736"/>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6</a:t>
            </a:r>
          </a:p>
        </p:txBody>
      </p:sp>
    </p:spTree>
    <p:extLst>
      <p:ext uri="{BB962C8B-B14F-4D97-AF65-F5344CB8AC3E}">
        <p14:creationId xmlns:p14="http://schemas.microsoft.com/office/powerpoint/2010/main" val="368583917"/>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a:xfrm>
            <a:off x="501651" y="295729"/>
            <a:ext cx="11162350" cy="334101"/>
          </a:xfrm>
        </p:spPr>
        <p:txBody>
          <a:bodyPr anchor="t">
            <a:noAutofit/>
          </a:bodyPr>
          <a:lstStyle/>
          <a:p>
            <a:pPr>
              <a:lnSpc>
                <a:spcPct val="90000"/>
              </a:lnSpc>
            </a:pPr>
            <a:r>
              <a:rPr lang="en-US" sz="2000" b="1" dirty="0">
                <a:latin typeface="Verdana" panose="020B0604030504040204" pitchFamily="34" charset="0"/>
                <a:ea typeface="Verdana" panose="020B0604030504040204" pitchFamily="34" charset="0"/>
              </a:rPr>
              <a:t>Domestic HV Fixed Charge Comparison</a:t>
            </a:r>
          </a:p>
        </p:txBody>
      </p:sp>
      <p:sp>
        <p:nvSpPr>
          <p:cNvPr id="6" name="Rectangle 5">
            <a:extLst>
              <a:ext uri="{FF2B5EF4-FFF2-40B4-BE49-F238E27FC236}">
                <a16:creationId xmlns:a16="http://schemas.microsoft.com/office/drawing/2014/main" id="{99151174-7F23-45DF-A7E5-D5C83569FF4B}"/>
              </a:ext>
            </a:extLst>
          </p:cNvPr>
          <p:cNvSpPr/>
          <p:nvPr/>
        </p:nvSpPr>
        <p:spPr bwMode="gray">
          <a:xfrm>
            <a:off x="469902" y="5900056"/>
            <a:ext cx="11194099" cy="413657"/>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i="1" dirty="0">
                <a:latin typeface="Verdana" panose="020B0604030504040204" pitchFamily="34" charset="0"/>
                <a:ea typeface="Verdana" panose="020B0604030504040204" pitchFamily="34" charset="0"/>
              </a:rPr>
              <a:t>As can be seen from above, Domestic Fixed charges for HV connections for West Bengal are considerably lower compared to other states</a:t>
            </a:r>
          </a:p>
        </p:txBody>
      </p:sp>
      <p:graphicFrame>
        <p:nvGraphicFramePr>
          <p:cNvPr id="8" name="Chart 7">
            <a:extLst>
              <a:ext uri="{FF2B5EF4-FFF2-40B4-BE49-F238E27FC236}">
                <a16:creationId xmlns:a16="http://schemas.microsoft.com/office/drawing/2014/main" id="{D00357D1-26FD-4861-A818-EE6134B24603}"/>
              </a:ext>
            </a:extLst>
          </p:cNvPr>
          <p:cNvGraphicFramePr>
            <a:graphicFrameLocks/>
          </p:cNvGraphicFramePr>
          <p:nvPr/>
        </p:nvGraphicFramePr>
        <p:xfrm>
          <a:off x="501651" y="922592"/>
          <a:ext cx="11162349" cy="4509661"/>
        </p:xfrm>
        <a:graphic>
          <a:graphicData uri="http://schemas.openxmlformats.org/drawingml/2006/chart">
            <c:chart xmlns:c="http://schemas.openxmlformats.org/drawingml/2006/chart" xmlns:r="http://schemas.openxmlformats.org/officeDocument/2006/relationships" r:id="rId3"/>
          </a:graphicData>
        </a:graphic>
      </p:graphicFrame>
      <p:sp>
        <p:nvSpPr>
          <p:cNvPr id="5" name="Arrow: Left 4">
            <a:extLst>
              <a:ext uri="{FF2B5EF4-FFF2-40B4-BE49-F238E27FC236}">
                <a16:creationId xmlns:a16="http://schemas.microsoft.com/office/drawing/2014/main" id="{E4175270-B43F-4E16-9392-E126423EC963}"/>
              </a:ext>
            </a:extLst>
          </p:cNvPr>
          <p:cNvSpPr/>
          <p:nvPr/>
        </p:nvSpPr>
        <p:spPr bwMode="gray">
          <a:xfrm>
            <a:off x="10289267" y="6582598"/>
            <a:ext cx="1578323" cy="326920"/>
          </a:xfrm>
          <a:prstGeom prst="leftArrow">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hlinkClick r:id="rId4" action="ppaction://hlinksldjump"/>
              </a:rPr>
              <a:t>Back to Home</a:t>
            </a:r>
            <a:endParaRPr lang="en-US" sz="1100" b="1" dirty="0">
              <a:solidFill>
                <a:schemeClr val="bg1"/>
              </a:solidFill>
            </a:endParaRPr>
          </a:p>
        </p:txBody>
      </p:sp>
      <p:sp>
        <p:nvSpPr>
          <p:cNvPr id="7" name="Oval 6">
            <a:extLst>
              <a:ext uri="{FF2B5EF4-FFF2-40B4-BE49-F238E27FC236}">
                <a16:creationId xmlns:a16="http://schemas.microsoft.com/office/drawing/2014/main" id="{4CB55612-221B-485F-BF71-E78D680E1DFB}"/>
              </a:ext>
            </a:extLst>
          </p:cNvPr>
          <p:cNvSpPr/>
          <p:nvPr/>
        </p:nvSpPr>
        <p:spPr bwMode="gray">
          <a:xfrm>
            <a:off x="11717213" y="46736"/>
            <a:ext cx="313206" cy="336712"/>
          </a:xfrm>
          <a:prstGeom prst="ellipse">
            <a:avLst/>
          </a:prstGeom>
          <a:ln>
            <a:prstDash val="sys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effectLst>
                  <a:outerShdw blurRad="38100" dist="19050" dir="2700000" algn="tl" rotWithShape="0">
                    <a:schemeClr val="dk1">
                      <a:alpha val="40000"/>
                    </a:schemeClr>
                  </a:outerShdw>
                </a:effectLst>
              </a:rPr>
              <a:t>6</a:t>
            </a:r>
          </a:p>
        </p:txBody>
      </p:sp>
    </p:spTree>
    <p:extLst>
      <p:ext uri="{BB962C8B-B14F-4D97-AF65-F5344CB8AC3E}">
        <p14:creationId xmlns:p14="http://schemas.microsoft.com/office/powerpoint/2010/main" val="302416441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2">
            <a:extLst>
              <a:ext uri="{FF2B5EF4-FFF2-40B4-BE49-F238E27FC236}">
                <a16:creationId xmlns:a16="http://schemas.microsoft.com/office/drawing/2014/main" id="{98A84884-0578-4228-84A9-8B02CE73BD8B}"/>
              </a:ext>
            </a:extLst>
          </p:cNvPr>
          <p:cNvSpPr txBox="1">
            <a:spLocks/>
          </p:cNvSpPr>
          <p:nvPr/>
        </p:nvSpPr>
        <p:spPr bwMode="gray">
          <a:xfrm>
            <a:off x="486361" y="108144"/>
            <a:ext cx="11162350" cy="334101"/>
          </a:xfrm>
          <a:prstGeom prst="rect">
            <a:avLst/>
          </a:prstGeom>
        </p:spPr>
        <p:txBody>
          <a:bodyPr vert="horz" lIns="0" tIns="0" rIns="0" bIns="0" rtlCol="0" anchor="t" anchorCtr="0">
            <a:noAutofit/>
          </a:bodyPr>
          <a:lstStyle>
            <a:lvl1pPr algn="ctr" defTabSz="1219231" rtl="0" eaLnBrk="1" latinLnBrk="0" hangingPunct="1">
              <a:spcBef>
                <a:spcPct val="0"/>
              </a:spcBef>
              <a:buNone/>
              <a:defRPr sz="6000" kern="1200">
                <a:solidFill>
                  <a:schemeClr val="tx1"/>
                </a:solidFill>
                <a:latin typeface="+mj-lt"/>
                <a:ea typeface="+mj-ea"/>
                <a:cs typeface="+mj-cs"/>
              </a:defRPr>
            </a:lvl1pPr>
          </a:lstStyle>
          <a:p>
            <a:pPr algn="l">
              <a:lnSpc>
                <a:spcPct val="90000"/>
              </a:lnSpc>
            </a:pPr>
            <a:endParaRPr lang="en-US" sz="2000" b="1" dirty="0">
              <a:latin typeface="Verdana" panose="020B0604030504040204" pitchFamily="34" charset="0"/>
              <a:ea typeface="Verdana" panose="020B0604030504040204" pitchFamily="34" charset="0"/>
            </a:endParaRPr>
          </a:p>
        </p:txBody>
      </p:sp>
      <p:sp>
        <p:nvSpPr>
          <p:cNvPr id="43" name="Title 2">
            <a:extLst>
              <a:ext uri="{FF2B5EF4-FFF2-40B4-BE49-F238E27FC236}">
                <a16:creationId xmlns:a16="http://schemas.microsoft.com/office/drawing/2014/main" id="{5535884D-2B6A-4B63-83DF-30E7C47C698E}"/>
              </a:ext>
            </a:extLst>
          </p:cNvPr>
          <p:cNvSpPr txBox="1">
            <a:spLocks/>
          </p:cNvSpPr>
          <p:nvPr/>
        </p:nvSpPr>
        <p:spPr bwMode="gray">
          <a:xfrm>
            <a:off x="486359" y="217821"/>
            <a:ext cx="11162350" cy="334101"/>
          </a:xfrm>
          <a:prstGeom prst="rect">
            <a:avLst/>
          </a:prstGeom>
        </p:spPr>
        <p:txBody>
          <a:bodyPr vert="horz" lIns="0" tIns="0" rIns="0" bIns="0" rtlCol="0" anchor="t" anchorCtr="0">
            <a:noAutofit/>
          </a:bodyPr>
          <a:lstStyle>
            <a:lvl1pPr algn="ctr" defTabSz="1219231" rtl="0" eaLnBrk="1" latinLnBrk="0" hangingPunct="1">
              <a:spcBef>
                <a:spcPct val="0"/>
              </a:spcBef>
              <a:buNone/>
              <a:defRPr sz="6000" kern="1200">
                <a:solidFill>
                  <a:schemeClr val="tx1"/>
                </a:solidFill>
                <a:latin typeface="+mj-lt"/>
                <a:ea typeface="+mj-ea"/>
                <a:cs typeface="+mj-cs"/>
              </a:defRPr>
            </a:lvl1pPr>
          </a:lstStyle>
          <a:p>
            <a:pPr algn="l">
              <a:lnSpc>
                <a:spcPct val="90000"/>
              </a:lnSpc>
            </a:pPr>
            <a:r>
              <a:rPr lang="en-US" sz="2000" b="1" dirty="0">
                <a:latin typeface="Verdana" panose="020B0604030504040204" pitchFamily="34" charset="0"/>
                <a:ea typeface="Verdana" panose="020B0604030504040204" pitchFamily="34" charset="0"/>
              </a:rPr>
              <a:t>Potential for WBSEDCL to increase revenue in DVC command area in West Bengal</a:t>
            </a:r>
          </a:p>
        </p:txBody>
      </p:sp>
      <p:graphicFrame>
        <p:nvGraphicFramePr>
          <p:cNvPr id="2" name="Table 1">
            <a:extLst>
              <a:ext uri="{FF2B5EF4-FFF2-40B4-BE49-F238E27FC236}">
                <a16:creationId xmlns:a16="http://schemas.microsoft.com/office/drawing/2014/main" id="{42D7C443-0970-48E9-AA27-909B6F936BB5}"/>
              </a:ext>
            </a:extLst>
          </p:cNvPr>
          <p:cNvGraphicFramePr>
            <a:graphicFrameLocks noGrp="1"/>
          </p:cNvGraphicFramePr>
          <p:nvPr>
            <p:extLst>
              <p:ext uri="{D42A27DB-BD31-4B8C-83A1-F6EECF244321}">
                <p14:modId xmlns:p14="http://schemas.microsoft.com/office/powerpoint/2010/main" val="2332608462"/>
              </p:ext>
            </p:extLst>
          </p:nvPr>
        </p:nvGraphicFramePr>
        <p:xfrm>
          <a:off x="486360" y="1260608"/>
          <a:ext cx="11162349" cy="754380"/>
        </p:xfrm>
        <a:graphic>
          <a:graphicData uri="http://schemas.openxmlformats.org/drawingml/2006/table">
            <a:tbl>
              <a:tblPr>
                <a:tableStyleId>{5C22544A-7EE6-4342-B048-85BDC9FD1C3A}</a:tableStyleId>
              </a:tblPr>
              <a:tblGrid>
                <a:gridCol w="5306691">
                  <a:extLst>
                    <a:ext uri="{9D8B030D-6E8A-4147-A177-3AD203B41FA5}">
                      <a16:colId xmlns:a16="http://schemas.microsoft.com/office/drawing/2014/main" val="3523576643"/>
                    </a:ext>
                  </a:extLst>
                </a:gridCol>
                <a:gridCol w="2927829">
                  <a:extLst>
                    <a:ext uri="{9D8B030D-6E8A-4147-A177-3AD203B41FA5}">
                      <a16:colId xmlns:a16="http://schemas.microsoft.com/office/drawing/2014/main" val="2408836144"/>
                    </a:ext>
                  </a:extLst>
                </a:gridCol>
                <a:gridCol w="2927829">
                  <a:extLst>
                    <a:ext uri="{9D8B030D-6E8A-4147-A177-3AD203B41FA5}">
                      <a16:colId xmlns:a16="http://schemas.microsoft.com/office/drawing/2014/main" val="1844951556"/>
                    </a:ext>
                  </a:extLst>
                </a:gridCol>
              </a:tblGrid>
              <a:tr h="149484">
                <a:tc>
                  <a:txBody>
                    <a:bodyPr/>
                    <a:lstStyle/>
                    <a:p>
                      <a:pPr algn="l" fontAlgn="b"/>
                      <a:endParaRPr lang="en-US" sz="1050" b="0" i="0" u="none" strike="noStrike" dirty="0">
                        <a:solidFill>
                          <a:schemeClr val="bg1"/>
                        </a:solidFill>
                        <a:effectLst/>
                        <a:latin typeface="+mj-lt"/>
                      </a:endParaRPr>
                    </a:p>
                  </a:txBody>
                  <a:tcPr marT="91440" marB="0" anchor="ctr">
                    <a:solidFill>
                      <a:schemeClr val="tx1">
                        <a:lumMod val="65000"/>
                        <a:lumOff val="35000"/>
                      </a:schemeClr>
                    </a:solidFill>
                  </a:tcPr>
                </a:tc>
                <a:tc>
                  <a:txBody>
                    <a:bodyPr/>
                    <a:lstStyle/>
                    <a:p>
                      <a:pPr algn="ctr" fontAlgn="b"/>
                      <a:r>
                        <a:rPr lang="en-US" sz="1050" b="1" u="none" strike="noStrike" dirty="0">
                          <a:solidFill>
                            <a:schemeClr val="bg1"/>
                          </a:solidFill>
                          <a:effectLst/>
                          <a:latin typeface="+mj-lt"/>
                        </a:rPr>
                        <a:t>33 kV</a:t>
                      </a:r>
                      <a:endParaRPr lang="en-US" sz="1050" b="1" i="0" u="none" strike="noStrike" dirty="0">
                        <a:solidFill>
                          <a:schemeClr val="bg1"/>
                        </a:solidFill>
                        <a:effectLst/>
                        <a:latin typeface="+mj-lt"/>
                      </a:endParaRPr>
                    </a:p>
                  </a:txBody>
                  <a:tcPr marT="91440" marB="0" anchor="ctr">
                    <a:solidFill>
                      <a:schemeClr val="tx1">
                        <a:lumMod val="65000"/>
                        <a:lumOff val="35000"/>
                      </a:schemeClr>
                    </a:solidFill>
                  </a:tcPr>
                </a:tc>
                <a:tc>
                  <a:txBody>
                    <a:bodyPr/>
                    <a:lstStyle/>
                    <a:p>
                      <a:pPr algn="ctr" fontAlgn="b"/>
                      <a:r>
                        <a:rPr lang="en-US" sz="1050" b="1" u="none" strike="noStrike" dirty="0">
                          <a:solidFill>
                            <a:schemeClr val="bg1"/>
                          </a:solidFill>
                          <a:effectLst/>
                          <a:latin typeface="+mj-lt"/>
                        </a:rPr>
                        <a:t>132 kV</a:t>
                      </a:r>
                      <a:endParaRPr lang="en-US" sz="1050" b="1" i="0" u="none" strike="noStrike" dirty="0">
                        <a:solidFill>
                          <a:schemeClr val="bg1"/>
                        </a:solidFill>
                        <a:effectLst/>
                        <a:latin typeface="+mj-lt"/>
                      </a:endParaRPr>
                    </a:p>
                  </a:txBody>
                  <a:tcPr marT="91440" marB="0" anchor="ctr">
                    <a:solidFill>
                      <a:schemeClr val="tx1">
                        <a:lumMod val="65000"/>
                        <a:lumOff val="35000"/>
                      </a:schemeClr>
                    </a:solidFill>
                  </a:tcPr>
                </a:tc>
                <a:extLst>
                  <a:ext uri="{0D108BD9-81ED-4DB2-BD59-A6C34878D82A}">
                    <a16:rowId xmlns:a16="http://schemas.microsoft.com/office/drawing/2014/main" val="2693345243"/>
                  </a:ext>
                </a:extLst>
              </a:tr>
              <a:tr h="149484">
                <a:tc>
                  <a:txBody>
                    <a:bodyPr/>
                    <a:lstStyle/>
                    <a:p>
                      <a:pPr algn="l" fontAlgn="b"/>
                      <a:r>
                        <a:rPr lang="en-US" sz="1050" b="1" u="none" strike="noStrike" dirty="0">
                          <a:solidFill>
                            <a:schemeClr val="bg1"/>
                          </a:solidFill>
                          <a:effectLst/>
                          <a:latin typeface="+mj-lt"/>
                        </a:rPr>
                        <a:t>No. of Consumers</a:t>
                      </a:r>
                      <a:endParaRPr lang="en-US" sz="1050" b="1" i="0" u="none" strike="noStrike" dirty="0">
                        <a:solidFill>
                          <a:schemeClr val="bg1"/>
                        </a:solidFill>
                        <a:effectLst/>
                        <a:latin typeface="+mj-lt"/>
                      </a:endParaRPr>
                    </a:p>
                  </a:txBody>
                  <a:tcPr marT="91440" marB="0" anchor="ctr">
                    <a:solidFill>
                      <a:srgbClr val="007680"/>
                    </a:solidFill>
                  </a:tcPr>
                </a:tc>
                <a:tc>
                  <a:txBody>
                    <a:bodyPr/>
                    <a:lstStyle/>
                    <a:p>
                      <a:pPr algn="ctr" fontAlgn="b"/>
                      <a:r>
                        <a:rPr lang="en-US" sz="1050" u="none" strike="noStrike" dirty="0">
                          <a:effectLst/>
                          <a:latin typeface="+mj-lt"/>
                        </a:rPr>
                        <a:t>90-120</a:t>
                      </a:r>
                      <a:endParaRPr lang="en-US" sz="1050" b="0" i="0" u="none" strike="noStrike" dirty="0">
                        <a:solidFill>
                          <a:srgbClr val="000000"/>
                        </a:solidFill>
                        <a:effectLst/>
                        <a:latin typeface="+mj-lt"/>
                      </a:endParaRPr>
                    </a:p>
                  </a:txBody>
                  <a:tcPr marT="91440" marB="0" anchor="ctr">
                    <a:noFill/>
                  </a:tcPr>
                </a:tc>
                <a:tc>
                  <a:txBody>
                    <a:bodyPr/>
                    <a:lstStyle/>
                    <a:p>
                      <a:pPr algn="ctr" fontAlgn="b"/>
                      <a:r>
                        <a:rPr lang="en-US" sz="1050" u="none" strike="noStrike">
                          <a:effectLst/>
                          <a:latin typeface="+mj-lt"/>
                        </a:rPr>
                        <a:t>10-15</a:t>
                      </a:r>
                      <a:endParaRPr lang="en-US" sz="1050" b="0" i="0" u="none" strike="noStrike">
                        <a:solidFill>
                          <a:srgbClr val="000000"/>
                        </a:solidFill>
                        <a:effectLst/>
                        <a:latin typeface="+mj-lt"/>
                      </a:endParaRPr>
                    </a:p>
                  </a:txBody>
                  <a:tcPr marT="91440" marB="0" anchor="ctr">
                    <a:noFill/>
                  </a:tcPr>
                </a:tc>
                <a:extLst>
                  <a:ext uri="{0D108BD9-81ED-4DB2-BD59-A6C34878D82A}">
                    <a16:rowId xmlns:a16="http://schemas.microsoft.com/office/drawing/2014/main" val="1102646361"/>
                  </a:ext>
                </a:extLst>
              </a:tr>
              <a:tr h="149484">
                <a:tc>
                  <a:txBody>
                    <a:bodyPr/>
                    <a:lstStyle/>
                    <a:p>
                      <a:pPr algn="l" fontAlgn="b"/>
                      <a:r>
                        <a:rPr lang="en-US" sz="1050" b="1" u="none" strike="noStrike" dirty="0">
                          <a:solidFill>
                            <a:schemeClr val="bg1"/>
                          </a:solidFill>
                          <a:effectLst/>
                          <a:latin typeface="+mj-lt"/>
                        </a:rPr>
                        <a:t>Sales (MUs)</a:t>
                      </a:r>
                      <a:endParaRPr lang="en-US" sz="1050" b="1" i="0" u="none" strike="noStrike" dirty="0">
                        <a:solidFill>
                          <a:schemeClr val="bg1"/>
                        </a:solidFill>
                        <a:effectLst/>
                        <a:latin typeface="+mj-lt"/>
                      </a:endParaRPr>
                    </a:p>
                  </a:txBody>
                  <a:tcPr marT="91440" marB="0" anchor="ctr">
                    <a:solidFill>
                      <a:srgbClr val="007680"/>
                    </a:solidFill>
                  </a:tcPr>
                </a:tc>
                <a:tc>
                  <a:txBody>
                    <a:bodyPr/>
                    <a:lstStyle/>
                    <a:p>
                      <a:pPr algn="ctr" fontAlgn="b"/>
                      <a:r>
                        <a:rPr lang="en-US" sz="1050" u="none" strike="noStrike" dirty="0">
                          <a:effectLst/>
                          <a:latin typeface="+mj-lt"/>
                        </a:rPr>
                        <a:t>4000-4500</a:t>
                      </a:r>
                      <a:endParaRPr lang="en-US" sz="1050" b="0" i="0" u="none" strike="noStrike" dirty="0">
                        <a:solidFill>
                          <a:srgbClr val="000000"/>
                        </a:solidFill>
                        <a:effectLst/>
                        <a:latin typeface="+mj-lt"/>
                      </a:endParaRPr>
                    </a:p>
                  </a:txBody>
                  <a:tcPr marT="91440" marB="0" anchor="ctr">
                    <a:noFill/>
                  </a:tcPr>
                </a:tc>
                <a:tc>
                  <a:txBody>
                    <a:bodyPr/>
                    <a:lstStyle/>
                    <a:p>
                      <a:pPr algn="ctr" fontAlgn="b"/>
                      <a:r>
                        <a:rPr lang="en-US" sz="1050" u="none" strike="noStrike" dirty="0">
                          <a:effectLst/>
                          <a:latin typeface="+mj-lt"/>
                        </a:rPr>
                        <a:t>450-550</a:t>
                      </a:r>
                      <a:endParaRPr lang="en-US" sz="1050" b="0" i="0" u="none" strike="noStrike" dirty="0">
                        <a:solidFill>
                          <a:srgbClr val="000000"/>
                        </a:solidFill>
                        <a:effectLst/>
                        <a:latin typeface="+mj-lt"/>
                      </a:endParaRPr>
                    </a:p>
                  </a:txBody>
                  <a:tcPr marT="91440" marB="0" anchor="ctr">
                    <a:noFill/>
                  </a:tcPr>
                </a:tc>
                <a:extLst>
                  <a:ext uri="{0D108BD9-81ED-4DB2-BD59-A6C34878D82A}">
                    <a16:rowId xmlns:a16="http://schemas.microsoft.com/office/drawing/2014/main" val="4091286037"/>
                  </a:ext>
                </a:extLst>
              </a:tr>
            </a:tbl>
          </a:graphicData>
        </a:graphic>
      </p:graphicFrame>
      <p:sp>
        <p:nvSpPr>
          <p:cNvPr id="38" name="TextBox 37">
            <a:extLst>
              <a:ext uri="{FF2B5EF4-FFF2-40B4-BE49-F238E27FC236}">
                <a16:creationId xmlns:a16="http://schemas.microsoft.com/office/drawing/2014/main" id="{083F302B-20DB-422E-92BB-65B5342417FB}"/>
              </a:ext>
            </a:extLst>
          </p:cNvPr>
          <p:cNvSpPr txBox="1"/>
          <p:nvPr/>
        </p:nvSpPr>
        <p:spPr>
          <a:xfrm>
            <a:off x="347727" y="865744"/>
            <a:ext cx="5748273" cy="307777"/>
          </a:xfrm>
          <a:prstGeom prst="rect">
            <a:avLst/>
          </a:prstGeom>
          <a:noFill/>
        </p:spPr>
        <p:txBody>
          <a:bodyPr wrap="square">
            <a:spAutoFit/>
          </a:bodyPr>
          <a:lstStyle/>
          <a:p>
            <a:r>
              <a:rPr lang="en-US" sz="1400" b="1" dirty="0">
                <a:effectLst/>
                <a:latin typeface="Verdana" panose="020B0604030504040204" pitchFamily="34" charset="0"/>
                <a:ea typeface="Verdana" panose="020B0604030504040204" pitchFamily="34" charset="0"/>
              </a:rPr>
              <a:t>Consumer No. and sales for DVC</a:t>
            </a:r>
            <a:endParaRPr lang="en-US" sz="1400" b="1" dirty="0">
              <a:latin typeface="Verdana" panose="020B0604030504040204" pitchFamily="34" charset="0"/>
              <a:ea typeface="Verdana" panose="020B0604030504040204" pitchFamily="34" charset="0"/>
            </a:endParaRPr>
          </a:p>
        </p:txBody>
      </p:sp>
      <p:sp>
        <p:nvSpPr>
          <p:cNvPr id="39" name="TextBox 38">
            <a:extLst>
              <a:ext uri="{FF2B5EF4-FFF2-40B4-BE49-F238E27FC236}">
                <a16:creationId xmlns:a16="http://schemas.microsoft.com/office/drawing/2014/main" id="{CE2A9B73-47C8-4268-9E29-7F7E79701760}"/>
              </a:ext>
            </a:extLst>
          </p:cNvPr>
          <p:cNvSpPr txBox="1"/>
          <p:nvPr/>
        </p:nvSpPr>
        <p:spPr>
          <a:xfrm>
            <a:off x="347727" y="2133956"/>
            <a:ext cx="10657730" cy="307777"/>
          </a:xfrm>
          <a:prstGeom prst="rect">
            <a:avLst/>
          </a:prstGeom>
          <a:noFill/>
        </p:spPr>
        <p:txBody>
          <a:bodyPr wrap="square">
            <a:spAutoFit/>
          </a:bodyPr>
          <a:lstStyle/>
          <a:p>
            <a:r>
              <a:rPr lang="en-US" sz="1400" b="1" dirty="0">
                <a:effectLst/>
                <a:latin typeface="Verdana" panose="020B0604030504040204" pitchFamily="34" charset="0"/>
                <a:ea typeface="Verdana" panose="020B0604030504040204" pitchFamily="34" charset="0"/>
              </a:rPr>
              <a:t>Comparative Tariff Schedule For HT-industry Category In DVC Command Area</a:t>
            </a:r>
          </a:p>
        </p:txBody>
      </p:sp>
      <p:sp>
        <p:nvSpPr>
          <p:cNvPr id="44" name="Rectangle 43">
            <a:extLst>
              <a:ext uri="{FF2B5EF4-FFF2-40B4-BE49-F238E27FC236}">
                <a16:creationId xmlns:a16="http://schemas.microsoft.com/office/drawing/2014/main" id="{07F37078-8BDE-4A17-88E3-493F198503B0}"/>
              </a:ext>
            </a:extLst>
          </p:cNvPr>
          <p:cNvSpPr/>
          <p:nvPr/>
        </p:nvSpPr>
        <p:spPr bwMode="gray">
          <a:xfrm>
            <a:off x="347726" y="5743483"/>
            <a:ext cx="11397959" cy="248774"/>
          </a:xfrm>
          <a:prstGeom prst="rect">
            <a:avLst/>
          </a:prstGeom>
          <a:solidFill>
            <a:schemeClr val="bg1">
              <a:lumMod val="95000"/>
            </a:schemeClr>
          </a:solidFill>
          <a:ln>
            <a:solidFill>
              <a:schemeClr val="tx1"/>
            </a:solidFill>
            <a:prstDash val="dash"/>
          </a:ln>
        </p:spPr>
        <p:txBody>
          <a:bodyPr wrap="square" lIns="72000" tIns="72000" rIns="72000" bIns="72000" rtlCol="0" anchor="ctr" anchorCtr="0">
            <a:noAutofit/>
          </a:bodyPr>
          <a:lstStyle/>
          <a:p>
            <a:pPr algn="just">
              <a:lnSpc>
                <a:spcPct val="150000"/>
              </a:lnSpc>
              <a:spcBef>
                <a:spcPts val="600"/>
              </a:spcBef>
              <a:buSzPct val="100000"/>
            </a:pPr>
            <a:r>
              <a:rPr lang="en-US" sz="1400" b="1" i="1" dirty="0">
                <a:solidFill>
                  <a:srgbClr val="313131"/>
                </a:solidFill>
                <a:cs typeface="Calibri" panose="020F0502020204030204" pitchFamily="34" charset="0"/>
              </a:rPr>
              <a:t>Significant potential for improving sales mix and high value consumers for WBSEDCL</a:t>
            </a:r>
          </a:p>
        </p:txBody>
      </p:sp>
      <p:graphicFrame>
        <p:nvGraphicFramePr>
          <p:cNvPr id="9" name="Table 8">
            <a:extLst>
              <a:ext uri="{FF2B5EF4-FFF2-40B4-BE49-F238E27FC236}">
                <a16:creationId xmlns:a16="http://schemas.microsoft.com/office/drawing/2014/main" id="{2CB2A061-324F-4F2D-845A-46CD89A8D9F5}"/>
              </a:ext>
            </a:extLst>
          </p:cNvPr>
          <p:cNvGraphicFramePr>
            <a:graphicFrameLocks noGrp="1"/>
          </p:cNvGraphicFramePr>
          <p:nvPr>
            <p:extLst>
              <p:ext uri="{D42A27DB-BD31-4B8C-83A1-F6EECF244321}">
                <p14:modId xmlns:p14="http://schemas.microsoft.com/office/powerpoint/2010/main" val="888391366"/>
              </p:ext>
            </p:extLst>
          </p:nvPr>
        </p:nvGraphicFramePr>
        <p:xfrm>
          <a:off x="347727" y="2560701"/>
          <a:ext cx="6372251" cy="2875003"/>
        </p:xfrm>
        <a:graphic>
          <a:graphicData uri="http://schemas.openxmlformats.org/drawingml/2006/table">
            <a:tbl>
              <a:tblPr/>
              <a:tblGrid>
                <a:gridCol w="853740">
                  <a:extLst>
                    <a:ext uri="{9D8B030D-6E8A-4147-A177-3AD203B41FA5}">
                      <a16:colId xmlns:a16="http://schemas.microsoft.com/office/drawing/2014/main" val="2442996553"/>
                    </a:ext>
                  </a:extLst>
                </a:gridCol>
                <a:gridCol w="600414">
                  <a:extLst>
                    <a:ext uri="{9D8B030D-6E8A-4147-A177-3AD203B41FA5}">
                      <a16:colId xmlns:a16="http://schemas.microsoft.com/office/drawing/2014/main" val="1072307365"/>
                    </a:ext>
                  </a:extLst>
                </a:gridCol>
                <a:gridCol w="637009">
                  <a:extLst>
                    <a:ext uri="{9D8B030D-6E8A-4147-A177-3AD203B41FA5}">
                      <a16:colId xmlns:a16="http://schemas.microsoft.com/office/drawing/2014/main" val="3945348922"/>
                    </a:ext>
                  </a:extLst>
                </a:gridCol>
                <a:gridCol w="568454">
                  <a:extLst>
                    <a:ext uri="{9D8B030D-6E8A-4147-A177-3AD203B41FA5}">
                      <a16:colId xmlns:a16="http://schemas.microsoft.com/office/drawing/2014/main" val="2572531494"/>
                    </a:ext>
                  </a:extLst>
                </a:gridCol>
                <a:gridCol w="517482">
                  <a:extLst>
                    <a:ext uri="{9D8B030D-6E8A-4147-A177-3AD203B41FA5}">
                      <a16:colId xmlns:a16="http://schemas.microsoft.com/office/drawing/2014/main" val="684998949"/>
                    </a:ext>
                  </a:extLst>
                </a:gridCol>
                <a:gridCol w="517482">
                  <a:extLst>
                    <a:ext uri="{9D8B030D-6E8A-4147-A177-3AD203B41FA5}">
                      <a16:colId xmlns:a16="http://schemas.microsoft.com/office/drawing/2014/main" val="1663909462"/>
                    </a:ext>
                  </a:extLst>
                </a:gridCol>
                <a:gridCol w="535534">
                  <a:extLst>
                    <a:ext uri="{9D8B030D-6E8A-4147-A177-3AD203B41FA5}">
                      <a16:colId xmlns:a16="http://schemas.microsoft.com/office/drawing/2014/main" val="3190891314"/>
                    </a:ext>
                  </a:extLst>
                </a:gridCol>
                <a:gridCol w="535534">
                  <a:extLst>
                    <a:ext uri="{9D8B030D-6E8A-4147-A177-3AD203B41FA5}">
                      <a16:colId xmlns:a16="http://schemas.microsoft.com/office/drawing/2014/main" val="1196894199"/>
                    </a:ext>
                  </a:extLst>
                </a:gridCol>
                <a:gridCol w="535534">
                  <a:extLst>
                    <a:ext uri="{9D8B030D-6E8A-4147-A177-3AD203B41FA5}">
                      <a16:colId xmlns:a16="http://schemas.microsoft.com/office/drawing/2014/main" val="1270556456"/>
                    </a:ext>
                  </a:extLst>
                </a:gridCol>
                <a:gridCol w="535534">
                  <a:extLst>
                    <a:ext uri="{9D8B030D-6E8A-4147-A177-3AD203B41FA5}">
                      <a16:colId xmlns:a16="http://schemas.microsoft.com/office/drawing/2014/main" val="2776530494"/>
                    </a:ext>
                  </a:extLst>
                </a:gridCol>
                <a:gridCol w="535534">
                  <a:extLst>
                    <a:ext uri="{9D8B030D-6E8A-4147-A177-3AD203B41FA5}">
                      <a16:colId xmlns:a16="http://schemas.microsoft.com/office/drawing/2014/main" val="1340846501"/>
                    </a:ext>
                  </a:extLst>
                </a:gridCol>
              </a:tblGrid>
              <a:tr h="193026">
                <a:tc>
                  <a:txBody>
                    <a:bodyPr/>
                    <a:lstStyle/>
                    <a:p>
                      <a:pPr algn="l" fontAlgn="ctr"/>
                      <a:r>
                        <a:rPr lang="en-US" sz="1050" b="0" i="0" u="none" strike="noStrike">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9">
                  <a:txBody>
                    <a:bodyPr/>
                    <a:lstStyle/>
                    <a:p>
                      <a:pPr algn="ctr" fontAlgn="ctr"/>
                      <a:r>
                        <a:rPr lang="en-US" sz="1050" b="1" i="0" u="none" strike="noStrike" dirty="0">
                          <a:solidFill>
                            <a:srgbClr val="FFFFFF"/>
                          </a:solidFill>
                          <a:effectLst/>
                          <a:latin typeface="+mj-lt"/>
                        </a:rPr>
                        <a:t>BASE RATE : ENERGY CHARGE (IN PAISE/KWH)</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8ED5"/>
                    </a:solidFill>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l" fontAlgn="b"/>
                      <a:endParaRPr lang="en-US" sz="700" b="0" i="0" u="none" strike="noStrike" dirty="0">
                        <a:solidFill>
                          <a:srgbClr val="000000"/>
                        </a:solidFill>
                        <a:effectLst/>
                        <a:latin typeface="+mj-lt"/>
                      </a:endParaRPr>
                    </a:p>
                  </a:txBody>
                  <a:tcPr marL="5876" marR="5876" marT="5876"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pPr algn="l" fontAlgn="b"/>
                      <a:endParaRPr lang="en-US" sz="700" b="0" i="0" u="none" strike="noStrike" dirty="0">
                        <a:solidFill>
                          <a:srgbClr val="000000"/>
                        </a:solidFill>
                        <a:effectLst/>
                        <a:latin typeface="+mj-lt"/>
                      </a:endParaRPr>
                    </a:p>
                  </a:txBody>
                  <a:tcPr marL="5876" marR="5876" marT="5876"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pPr algn="l" fontAlgn="b"/>
                      <a:endParaRPr lang="en-US" sz="700" b="0" i="0" u="none" strike="noStrike" dirty="0">
                        <a:solidFill>
                          <a:srgbClr val="000000"/>
                        </a:solidFill>
                        <a:effectLst/>
                        <a:latin typeface="+mj-lt"/>
                      </a:endParaRPr>
                    </a:p>
                  </a:txBody>
                  <a:tcPr marL="5876" marR="5876" marT="5876"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0682561"/>
                  </a:ext>
                </a:extLst>
              </a:tr>
              <a:tr h="370518">
                <a:tc rowSpan="2">
                  <a:txBody>
                    <a:bodyPr/>
                    <a:lstStyle/>
                    <a:p>
                      <a:pPr algn="ctr" fontAlgn="ctr"/>
                      <a:r>
                        <a:rPr lang="en-US" sz="1050" b="1" i="0" u="none" strike="noStrike">
                          <a:solidFill>
                            <a:srgbClr val="000000"/>
                          </a:solidFill>
                          <a:effectLst/>
                          <a:latin typeface="+mj-lt"/>
                        </a:rPr>
                        <a:t>Consumer Category</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ctr"/>
                      <a:r>
                        <a:rPr lang="en-US" sz="1050" b="1" i="0" u="none" strike="noStrike">
                          <a:solidFill>
                            <a:srgbClr val="000000"/>
                          </a:solidFill>
                          <a:effectLst/>
                          <a:latin typeface="+mj-lt"/>
                        </a:rPr>
                        <a:t>WBSEDCL (Notification 16-11-19)</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gridSpan="3">
                  <a:txBody>
                    <a:bodyPr/>
                    <a:lstStyle/>
                    <a:p>
                      <a:pPr algn="ctr" fontAlgn="ctr"/>
                      <a:r>
                        <a:rPr lang="en-US" sz="1050" b="1" i="0" u="none" strike="noStrike">
                          <a:solidFill>
                            <a:srgbClr val="000000"/>
                          </a:solidFill>
                          <a:effectLst/>
                          <a:latin typeface="+mj-lt"/>
                        </a:rPr>
                        <a:t>DVC (Tariff Order dtd 05-05-22)</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hMerge="1">
                  <a:txBody>
                    <a:bodyPr/>
                    <a:lstStyle/>
                    <a:p>
                      <a:endParaRPr lang="en-US"/>
                    </a:p>
                  </a:txBody>
                  <a:tcPr/>
                </a:tc>
                <a:tc hMerge="1">
                  <a:txBody>
                    <a:bodyPr/>
                    <a:lstStyle/>
                    <a:p>
                      <a:endParaRPr lang="en-US"/>
                    </a:p>
                  </a:txBody>
                  <a:tcPr/>
                </a:tc>
                <a:tc gridSpan="3">
                  <a:txBody>
                    <a:bodyPr/>
                    <a:lstStyle/>
                    <a:p>
                      <a:pPr algn="ctr" fontAlgn="ctr"/>
                      <a:r>
                        <a:rPr lang="en-US" sz="1050" b="1" i="0" u="none" strike="noStrike">
                          <a:solidFill>
                            <a:srgbClr val="000000"/>
                          </a:solidFill>
                          <a:effectLst/>
                          <a:latin typeface="+mj-lt"/>
                        </a:rPr>
                        <a:t>DPL (Tariff Order dtd 28-03-22)</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72622476"/>
                  </a:ext>
                </a:extLst>
              </a:tr>
              <a:tr h="386053">
                <a:tc vMerge="1">
                  <a:txBody>
                    <a:bodyPr/>
                    <a:lstStyle/>
                    <a:p>
                      <a:endParaRPr lang="en-US"/>
                    </a:p>
                  </a:txBody>
                  <a:tcPr/>
                </a:tc>
                <a:tc>
                  <a:txBody>
                    <a:bodyPr/>
                    <a:lstStyle/>
                    <a:p>
                      <a:pPr algn="ctr" fontAlgn="ctr"/>
                      <a:r>
                        <a:rPr lang="en-US" sz="800" b="1" i="0" u="none" strike="noStrike" dirty="0">
                          <a:solidFill>
                            <a:srgbClr val="000000"/>
                          </a:solidFill>
                          <a:effectLst/>
                          <a:latin typeface="+mj-lt"/>
                        </a:rPr>
                        <a:t>TOD slab</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800" b="1" i="0" u="none" strike="noStrike" dirty="0">
                          <a:solidFill>
                            <a:srgbClr val="000000"/>
                          </a:solidFill>
                          <a:effectLst/>
                          <a:latin typeface="+mj-lt"/>
                        </a:rPr>
                        <a:t>Summer</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800" b="1" i="0" u="none" strike="noStrike" dirty="0">
                          <a:solidFill>
                            <a:srgbClr val="000000"/>
                          </a:solidFill>
                          <a:effectLst/>
                          <a:latin typeface="+mj-lt"/>
                        </a:rPr>
                        <a:t>Monsoon</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800" b="1" i="0" u="none" strike="noStrike" dirty="0">
                          <a:solidFill>
                            <a:srgbClr val="000000"/>
                          </a:solidFill>
                          <a:effectLst/>
                          <a:latin typeface="+mj-lt"/>
                        </a:rPr>
                        <a:t>Winter</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800" b="1" i="0" u="none" strike="noStrike" dirty="0">
                          <a:solidFill>
                            <a:srgbClr val="000000"/>
                          </a:solidFill>
                          <a:effectLst/>
                          <a:latin typeface="+mj-lt"/>
                        </a:rPr>
                        <a:t>Summer</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800" b="1" i="0" u="none" strike="noStrike" dirty="0">
                          <a:solidFill>
                            <a:srgbClr val="000000"/>
                          </a:solidFill>
                          <a:effectLst/>
                          <a:latin typeface="+mj-lt"/>
                        </a:rPr>
                        <a:t>Monsoon</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800" b="1" i="0" u="none" strike="noStrike" dirty="0">
                          <a:solidFill>
                            <a:srgbClr val="000000"/>
                          </a:solidFill>
                          <a:effectLst/>
                          <a:latin typeface="+mj-lt"/>
                        </a:rPr>
                        <a:t>Winter</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800" b="1" i="0" u="none" strike="noStrike" dirty="0">
                          <a:solidFill>
                            <a:srgbClr val="000000"/>
                          </a:solidFill>
                          <a:effectLst/>
                          <a:latin typeface="+mj-lt"/>
                        </a:rPr>
                        <a:t>Summer</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800" b="1" i="0" u="none" strike="noStrike" dirty="0">
                          <a:solidFill>
                            <a:srgbClr val="000000"/>
                          </a:solidFill>
                          <a:effectLst/>
                          <a:latin typeface="+mj-lt"/>
                        </a:rPr>
                        <a:t>Monsoon</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800" b="1" i="0" u="none" strike="noStrike" dirty="0">
                          <a:solidFill>
                            <a:srgbClr val="000000"/>
                          </a:solidFill>
                          <a:effectLst/>
                          <a:latin typeface="+mj-lt"/>
                        </a:rPr>
                        <a:t>Winter</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3354597825"/>
                  </a:ext>
                </a:extLst>
              </a:tr>
              <a:tr h="193026">
                <a:tc rowSpan="3">
                  <a:txBody>
                    <a:bodyPr/>
                    <a:lstStyle/>
                    <a:p>
                      <a:pPr algn="ctr" fontAlgn="ctr"/>
                      <a:r>
                        <a:rPr lang="en-US" sz="1050" b="1" i="0" u="none" strike="noStrike">
                          <a:solidFill>
                            <a:srgbClr val="000000"/>
                          </a:solidFill>
                          <a:effectLst/>
                          <a:latin typeface="+mj-lt"/>
                        </a:rPr>
                        <a:t>HT-Industry (33 KV)</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j-lt"/>
                        </a:rPr>
                        <a:t>Normal</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j-lt"/>
                        </a:rPr>
                        <a:t>424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422</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420</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459</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457</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455</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422</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420</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418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2128076422"/>
                  </a:ext>
                </a:extLst>
              </a:tr>
              <a:tr h="193026">
                <a:tc vMerge="1">
                  <a:txBody>
                    <a:bodyPr/>
                    <a:lstStyle/>
                    <a:p>
                      <a:endParaRPr lang="en-US"/>
                    </a:p>
                  </a:txBody>
                  <a:tcPr/>
                </a:tc>
                <a:tc>
                  <a:txBody>
                    <a:bodyPr/>
                    <a:lstStyle/>
                    <a:p>
                      <a:pPr algn="ctr" fontAlgn="ctr"/>
                      <a:r>
                        <a:rPr lang="en-US" sz="1050" b="1" i="0" u="none" strike="noStrike">
                          <a:solidFill>
                            <a:srgbClr val="000000"/>
                          </a:solidFill>
                          <a:effectLst/>
                          <a:latin typeface="+mj-lt"/>
                        </a:rPr>
                        <a:t>Peak</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j-lt"/>
                        </a:rPr>
                        <a:t>508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506</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503</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550</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548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545</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dirty="0">
                          <a:solidFill>
                            <a:srgbClr val="000000"/>
                          </a:solidFill>
                          <a:effectLst/>
                          <a:latin typeface="+mj-lt"/>
                        </a:rPr>
                        <a:t>496</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494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491</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2576864164"/>
                  </a:ext>
                </a:extLst>
              </a:tr>
              <a:tr h="193026">
                <a:tc vMerge="1">
                  <a:txBody>
                    <a:bodyPr/>
                    <a:lstStyle/>
                    <a:p>
                      <a:endParaRPr lang="en-US"/>
                    </a:p>
                  </a:txBody>
                  <a:tcPr/>
                </a:tc>
                <a:tc>
                  <a:txBody>
                    <a:bodyPr/>
                    <a:lstStyle/>
                    <a:p>
                      <a:pPr algn="ctr" fontAlgn="ctr"/>
                      <a:r>
                        <a:rPr lang="en-US" sz="1050" b="1" i="0" u="none" strike="noStrike">
                          <a:solidFill>
                            <a:srgbClr val="000000"/>
                          </a:solidFill>
                          <a:effectLst/>
                          <a:latin typeface="+mj-lt"/>
                        </a:rPr>
                        <a:t>Off-peak</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j-lt"/>
                        </a:rPr>
                        <a:t>361</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359</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358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391</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388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388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359</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357</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355</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1655644042"/>
                  </a:ext>
                </a:extLst>
              </a:tr>
              <a:tr h="193026">
                <a:tc>
                  <a:txBody>
                    <a:bodyPr/>
                    <a:lstStyle/>
                    <a:p>
                      <a:pPr algn="ctr" fontAlgn="ctr"/>
                      <a:r>
                        <a:rPr lang="en-US" sz="1050" b="1"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1"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endParaRPr lang="en-US" sz="700" b="0" i="0" u="none" strike="noStrike" dirty="0">
                        <a:solidFill>
                          <a:srgbClr val="000000"/>
                        </a:solidFill>
                        <a:effectLst/>
                        <a:latin typeface="+mj-lt"/>
                      </a:endParaRPr>
                    </a:p>
                  </a:txBody>
                  <a:tcPr marL="5876" marR="5876" marT="58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endParaRPr lang="en-US" sz="700" b="0" i="0" u="none" strike="noStrike" dirty="0">
                        <a:solidFill>
                          <a:srgbClr val="000000"/>
                        </a:solidFill>
                        <a:effectLst/>
                        <a:latin typeface="+mj-lt"/>
                      </a:endParaRPr>
                    </a:p>
                  </a:txBody>
                  <a:tcPr marL="5876" marR="5876" marT="58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endParaRPr lang="en-US" sz="700" b="0" i="0" u="none" strike="noStrike" dirty="0">
                        <a:solidFill>
                          <a:srgbClr val="000000"/>
                        </a:solidFill>
                        <a:effectLst/>
                        <a:latin typeface="+mj-lt"/>
                      </a:endParaRPr>
                    </a:p>
                  </a:txBody>
                  <a:tcPr marL="5876" marR="5876" marT="58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244253193"/>
                  </a:ext>
                </a:extLst>
              </a:tr>
              <a:tr h="193026">
                <a:tc rowSpan="3">
                  <a:txBody>
                    <a:bodyPr/>
                    <a:lstStyle/>
                    <a:p>
                      <a:pPr algn="ctr" fontAlgn="ctr"/>
                      <a:r>
                        <a:rPr lang="en-US" sz="1050" b="1" i="0" u="none" strike="noStrike" dirty="0">
                          <a:solidFill>
                            <a:srgbClr val="000000"/>
                          </a:solidFill>
                          <a:effectLst/>
                          <a:latin typeface="+mj-lt"/>
                        </a:rPr>
                        <a:t>HT-Industry (132 KV)</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j-lt"/>
                        </a:rPr>
                        <a:t>Normal</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j-lt"/>
                        </a:rPr>
                        <a:t>409</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407</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405</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444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442</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440</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417</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415</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412</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1402026019"/>
                  </a:ext>
                </a:extLst>
              </a:tr>
              <a:tr h="193026">
                <a:tc vMerge="1">
                  <a:txBody>
                    <a:bodyPr/>
                    <a:lstStyle/>
                    <a:p>
                      <a:endParaRPr lang="en-US"/>
                    </a:p>
                  </a:txBody>
                  <a:tcPr/>
                </a:tc>
                <a:tc>
                  <a:txBody>
                    <a:bodyPr/>
                    <a:lstStyle/>
                    <a:p>
                      <a:pPr algn="ctr" fontAlgn="ctr"/>
                      <a:r>
                        <a:rPr lang="en-US" sz="1050" b="1" i="0" u="none" strike="noStrike">
                          <a:solidFill>
                            <a:srgbClr val="000000"/>
                          </a:solidFill>
                          <a:effectLst/>
                          <a:latin typeface="+mj-lt"/>
                        </a:rPr>
                        <a:t>Peak</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j-lt"/>
                        </a:rPr>
                        <a:t>491</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488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486</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533</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530</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528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dirty="0">
                          <a:solidFill>
                            <a:srgbClr val="000000"/>
                          </a:solidFill>
                          <a:effectLst/>
                          <a:latin typeface="+mj-lt"/>
                        </a:rPr>
                        <a:t>490</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488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484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1528274248"/>
                  </a:ext>
                </a:extLst>
              </a:tr>
              <a:tr h="193026">
                <a:tc vMerge="1">
                  <a:txBody>
                    <a:bodyPr/>
                    <a:lstStyle/>
                    <a:p>
                      <a:endParaRPr lang="en-US"/>
                    </a:p>
                  </a:txBody>
                  <a:tcPr/>
                </a:tc>
                <a:tc>
                  <a:txBody>
                    <a:bodyPr/>
                    <a:lstStyle/>
                    <a:p>
                      <a:pPr algn="ctr" fontAlgn="ctr"/>
                      <a:r>
                        <a:rPr lang="en-US" sz="1050" b="1" i="0" u="none" strike="noStrike">
                          <a:solidFill>
                            <a:srgbClr val="000000"/>
                          </a:solidFill>
                          <a:effectLst/>
                          <a:latin typeface="+mj-lt"/>
                        </a:rPr>
                        <a:t>Off-peak</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j-lt"/>
                        </a:rPr>
                        <a:t>348</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346</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a:solidFill>
                            <a:srgbClr val="000000"/>
                          </a:solidFill>
                          <a:effectLst/>
                          <a:latin typeface="+mj-lt"/>
                        </a:rPr>
                        <a:t>344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050" b="0" i="0" u="none" strike="noStrike" dirty="0">
                          <a:solidFill>
                            <a:srgbClr val="000000"/>
                          </a:solidFill>
                          <a:effectLst/>
                          <a:latin typeface="+mj-lt"/>
                        </a:rPr>
                        <a:t>377</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376</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374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354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353</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050" b="0" i="0" u="none" strike="noStrike">
                          <a:solidFill>
                            <a:srgbClr val="000000"/>
                          </a:solidFill>
                          <a:effectLst/>
                          <a:latin typeface="+mj-lt"/>
                        </a:rPr>
                        <a:t>350</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1022423517"/>
                  </a:ext>
                </a:extLst>
              </a:tr>
              <a:tr h="193026">
                <a:tc>
                  <a:txBody>
                    <a:bodyPr/>
                    <a:lstStyle/>
                    <a:p>
                      <a:pPr algn="l" fontAlgn="ctr"/>
                      <a:r>
                        <a:rPr lang="en-US" sz="1050" b="1"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1"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050" b="0" i="0" u="none" strike="noStrike" dirty="0">
                          <a:solidFill>
                            <a:srgbClr val="000000"/>
                          </a:solidFill>
                          <a:effectLst/>
                          <a:latin typeface="+mj-lt"/>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endParaRPr lang="en-US" sz="700" b="0" i="0" u="none" strike="noStrike" dirty="0">
                        <a:solidFill>
                          <a:srgbClr val="000000"/>
                        </a:solidFill>
                        <a:effectLst/>
                        <a:latin typeface="+mj-lt"/>
                      </a:endParaRPr>
                    </a:p>
                  </a:txBody>
                  <a:tcPr marL="5876" marR="5876" marT="58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endParaRPr lang="en-US" sz="700" b="0" i="0" u="none" strike="noStrike" dirty="0">
                        <a:solidFill>
                          <a:srgbClr val="000000"/>
                        </a:solidFill>
                        <a:effectLst/>
                        <a:latin typeface="+mj-lt"/>
                      </a:endParaRPr>
                    </a:p>
                  </a:txBody>
                  <a:tcPr marL="5876" marR="5876" marT="58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fontAlgn="b"/>
                      <a:endParaRPr lang="en-US" sz="700" b="0" i="0" u="none" strike="noStrike" dirty="0">
                        <a:solidFill>
                          <a:srgbClr val="000000"/>
                        </a:solidFill>
                        <a:effectLst/>
                        <a:latin typeface="+mj-lt"/>
                      </a:endParaRPr>
                    </a:p>
                  </a:txBody>
                  <a:tcPr marL="5876" marR="5876" marT="58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08031958"/>
                  </a:ext>
                </a:extLst>
              </a:tr>
            </a:tbl>
          </a:graphicData>
        </a:graphic>
      </p:graphicFrame>
      <p:graphicFrame>
        <p:nvGraphicFramePr>
          <p:cNvPr id="15" name="Table 14">
            <a:extLst>
              <a:ext uri="{FF2B5EF4-FFF2-40B4-BE49-F238E27FC236}">
                <a16:creationId xmlns:a16="http://schemas.microsoft.com/office/drawing/2014/main" id="{799C339C-25AC-4D31-BD2E-182177A0F0B1}"/>
              </a:ext>
            </a:extLst>
          </p:cNvPr>
          <p:cNvGraphicFramePr>
            <a:graphicFrameLocks noGrp="1"/>
          </p:cNvGraphicFramePr>
          <p:nvPr>
            <p:extLst>
              <p:ext uri="{D42A27DB-BD31-4B8C-83A1-F6EECF244321}">
                <p14:modId xmlns:p14="http://schemas.microsoft.com/office/powerpoint/2010/main" val="3013789392"/>
              </p:ext>
            </p:extLst>
          </p:nvPr>
        </p:nvGraphicFramePr>
        <p:xfrm>
          <a:off x="6824812" y="2606616"/>
          <a:ext cx="5019461" cy="2829088"/>
        </p:xfrm>
        <a:graphic>
          <a:graphicData uri="http://schemas.openxmlformats.org/drawingml/2006/table">
            <a:tbl>
              <a:tblPr/>
              <a:tblGrid>
                <a:gridCol w="1180501">
                  <a:extLst>
                    <a:ext uri="{9D8B030D-6E8A-4147-A177-3AD203B41FA5}">
                      <a16:colId xmlns:a16="http://schemas.microsoft.com/office/drawing/2014/main" val="3499035721"/>
                    </a:ext>
                  </a:extLst>
                </a:gridCol>
                <a:gridCol w="1132387">
                  <a:extLst>
                    <a:ext uri="{9D8B030D-6E8A-4147-A177-3AD203B41FA5}">
                      <a16:colId xmlns:a16="http://schemas.microsoft.com/office/drawing/2014/main" val="679096126"/>
                    </a:ext>
                  </a:extLst>
                </a:gridCol>
                <a:gridCol w="1064175">
                  <a:extLst>
                    <a:ext uri="{9D8B030D-6E8A-4147-A177-3AD203B41FA5}">
                      <a16:colId xmlns:a16="http://schemas.microsoft.com/office/drawing/2014/main" val="4187706554"/>
                    </a:ext>
                  </a:extLst>
                </a:gridCol>
                <a:gridCol w="1642398">
                  <a:extLst>
                    <a:ext uri="{9D8B030D-6E8A-4147-A177-3AD203B41FA5}">
                      <a16:colId xmlns:a16="http://schemas.microsoft.com/office/drawing/2014/main" val="3663025750"/>
                    </a:ext>
                  </a:extLst>
                </a:gridCol>
              </a:tblGrid>
              <a:tr h="709866">
                <a:tc rowSpan="2">
                  <a:txBody>
                    <a:bodyPr/>
                    <a:lstStyle/>
                    <a:p>
                      <a:pPr algn="l" fontAlgn="ctr"/>
                      <a:r>
                        <a:rPr lang="en-US" sz="1300" b="0" i="0" u="none" strike="noStrike" dirty="0">
                          <a:solidFill>
                            <a:srgbClr val="000000"/>
                          </a:solidFill>
                          <a:effectLst/>
                          <a:latin typeface="Calibri" panose="020F0502020204030204" pitchFamily="34" charset="0"/>
                        </a:rPr>
                        <a:t> </a:t>
                      </a:r>
                    </a:p>
                    <a:p>
                      <a:pPr algn="ctr" fontAlgn="ctr"/>
                      <a:r>
                        <a:rPr lang="en-US" sz="1300" b="0" i="0" u="none" strike="noStrike" dirty="0">
                          <a:solidFill>
                            <a:srgbClr val="000000"/>
                          </a:solidFill>
                          <a:effectLst/>
                          <a:latin typeface="Calibri" panose="020F0502020204030204" pitchFamily="34" charset="0"/>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ctr"/>
                      <a:r>
                        <a:rPr lang="en-US" sz="1300" b="1" i="0" u="none" strike="noStrike" dirty="0">
                          <a:solidFill>
                            <a:srgbClr val="FFFFFF"/>
                          </a:solidFill>
                          <a:effectLst/>
                          <a:latin typeface="Calibri" panose="020F0502020204030204" pitchFamily="34" charset="0"/>
                        </a:rPr>
                        <a:t>DEMAND CHARGE (IN RS/KVA/MONTH)</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8ED5"/>
                    </a:solidFill>
                  </a:tcPr>
                </a:tc>
                <a:tc hMerge="1">
                  <a:txBody>
                    <a:bodyPr/>
                    <a:lstStyle/>
                    <a:p>
                      <a:endParaRPr lang="en-US"/>
                    </a:p>
                  </a:txBody>
                  <a:tcPr/>
                </a:tc>
                <a:tc hMerge="1">
                  <a:txBody>
                    <a:bodyPr/>
                    <a:lstStyle/>
                    <a:p>
                      <a:pPr algn="l" fontAlgn="b"/>
                      <a:endParaRPr lang="en-US" sz="1000" b="0" i="0" u="none" strike="noStrike" dirty="0">
                        <a:solidFill>
                          <a:srgbClr val="000000"/>
                        </a:solidFill>
                        <a:effectLst/>
                        <a:latin typeface="Calibri" panose="020F0502020204030204" pitchFamily="34" charset="0"/>
                      </a:endParaRPr>
                    </a:p>
                  </a:txBody>
                  <a:tcPr marL="5876" marR="5876" marT="5876"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413184"/>
                  </a:ext>
                </a:extLst>
              </a:tr>
              <a:tr h="1409356">
                <a:tc vMerge="1">
                  <a:txBody>
                    <a:bodyPr/>
                    <a:lstStyle/>
                    <a:p>
                      <a:pPr algn="l" fontAlgn="ctr"/>
                      <a:r>
                        <a:rPr lang="en-US" sz="1300" b="0" i="0" u="none" strike="noStrike" dirty="0">
                          <a:solidFill>
                            <a:srgbClr val="000000"/>
                          </a:solidFill>
                          <a:effectLst/>
                          <a:latin typeface="Calibri" panose="020F0502020204030204" pitchFamily="34" charset="0"/>
                        </a:rPr>
                        <a:t>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1" i="0" u="none" strike="noStrike" dirty="0">
                          <a:solidFill>
                            <a:srgbClr val="000000"/>
                          </a:solidFill>
                          <a:effectLst/>
                          <a:latin typeface="Calibri" panose="020F0502020204030204" pitchFamily="34" charset="0"/>
                        </a:rPr>
                        <a:t>WBSEDCL (Notifications )</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300" b="1" i="0" u="none" strike="noStrike" dirty="0">
                          <a:solidFill>
                            <a:srgbClr val="000000"/>
                          </a:solidFill>
                          <a:effectLst/>
                          <a:latin typeface="Calibri" panose="020F0502020204030204" pitchFamily="34" charset="0"/>
                        </a:rPr>
                        <a:t>DVC (Tariff Order </a:t>
                      </a:r>
                      <a:r>
                        <a:rPr lang="en-US" sz="1300" b="1" i="0" u="none" strike="noStrike" dirty="0" err="1">
                          <a:solidFill>
                            <a:srgbClr val="000000"/>
                          </a:solidFill>
                          <a:effectLst/>
                          <a:latin typeface="Calibri" panose="020F0502020204030204" pitchFamily="34" charset="0"/>
                        </a:rPr>
                        <a:t>dtd</a:t>
                      </a:r>
                      <a:r>
                        <a:rPr lang="en-US" sz="1300" b="1" i="0" u="none" strike="noStrike" dirty="0">
                          <a:solidFill>
                            <a:srgbClr val="000000"/>
                          </a:solidFill>
                          <a:effectLst/>
                          <a:latin typeface="Calibri" panose="020F0502020204030204" pitchFamily="34" charset="0"/>
                        </a:rPr>
                        <a:t> 05-05-22)</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300" b="1" i="0" u="none" strike="noStrike">
                          <a:solidFill>
                            <a:srgbClr val="000000"/>
                          </a:solidFill>
                          <a:effectLst/>
                          <a:latin typeface="Calibri" panose="020F0502020204030204" pitchFamily="34" charset="0"/>
                        </a:rPr>
                        <a:t>DPL (Tariff Order dtd 28-03-22)</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72179827"/>
                  </a:ext>
                </a:extLst>
              </a:tr>
              <a:tr h="709866">
                <a:tc>
                  <a:txBody>
                    <a:bodyPr/>
                    <a:lstStyle/>
                    <a:p>
                      <a:pPr algn="ctr" fontAlgn="ctr"/>
                      <a:r>
                        <a:rPr lang="en-US" sz="1300" b="1" i="0" u="none" strike="noStrike">
                          <a:solidFill>
                            <a:srgbClr val="000000"/>
                          </a:solidFill>
                          <a:effectLst/>
                          <a:latin typeface="Calibri" panose="020F0502020204030204" pitchFamily="34" charset="0"/>
                        </a:rPr>
                        <a:t>All the aforesaid categories</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384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7E4BC"/>
                    </a:solidFill>
                  </a:tcPr>
                </a:tc>
                <a:tc>
                  <a:txBody>
                    <a:bodyPr/>
                    <a:lstStyle/>
                    <a:p>
                      <a:pPr algn="ctr" fontAlgn="ctr"/>
                      <a:r>
                        <a:rPr lang="en-US" sz="1300" b="0" i="0" u="none" strike="noStrike">
                          <a:solidFill>
                            <a:srgbClr val="000000"/>
                          </a:solidFill>
                          <a:effectLst/>
                          <a:latin typeface="Calibri" panose="020F0502020204030204" pitchFamily="34" charset="0"/>
                        </a:rPr>
                        <a:t>384</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tc>
                  <a:txBody>
                    <a:bodyPr/>
                    <a:lstStyle/>
                    <a:p>
                      <a:pPr algn="ctr" fontAlgn="ctr"/>
                      <a:r>
                        <a:rPr lang="en-US" sz="1300" b="0" i="0" u="none" strike="noStrike" dirty="0">
                          <a:solidFill>
                            <a:srgbClr val="000000"/>
                          </a:solidFill>
                          <a:effectLst/>
                          <a:latin typeface="Calibri" panose="020F0502020204030204" pitchFamily="34" charset="0"/>
                        </a:rPr>
                        <a:t>320</a:t>
                      </a:r>
                    </a:p>
                  </a:txBody>
                  <a:tcPr marL="5876" marR="5876" marT="58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9F1"/>
                    </a:solidFill>
                  </a:tcPr>
                </a:tc>
                <a:extLst>
                  <a:ext uri="{0D108BD9-81ED-4DB2-BD59-A6C34878D82A}">
                    <a16:rowId xmlns:a16="http://schemas.microsoft.com/office/drawing/2014/main" val="1917389823"/>
                  </a:ext>
                </a:extLst>
              </a:tr>
            </a:tbl>
          </a:graphicData>
        </a:graphic>
      </p:graphicFrame>
    </p:spTree>
    <p:extLst>
      <p:ext uri="{BB962C8B-B14F-4D97-AF65-F5344CB8AC3E}">
        <p14:creationId xmlns:p14="http://schemas.microsoft.com/office/powerpoint/2010/main" val="1035310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368299"/>
          </a:xfrm>
        </p:spPr>
        <p:txBody>
          <a:bodyPr vert="horz"/>
          <a:lstStyle/>
          <a:p>
            <a:pPr algn="just"/>
            <a:r>
              <a:rPr lang="en-US" sz="1800" b="0" i="0" dirty="0">
                <a:latin typeface="Verdana" panose="020B0604030504040204" pitchFamily="34" charset="0"/>
                <a:ea typeface="Verdana" panose="020B0604030504040204" pitchFamily="34" charset="0"/>
              </a:rPr>
              <a:t>WBSEDCL:</a:t>
            </a:r>
            <a:r>
              <a:rPr lang="en-US" sz="1800" b="0" i="0" dirty="0">
                <a:solidFill>
                  <a:schemeClr val="tx1"/>
                </a:solidFill>
                <a:latin typeface="Verdana" panose="020B0604030504040204" pitchFamily="34" charset="0"/>
                <a:ea typeface="Verdana" panose="020B0604030504040204" pitchFamily="34" charset="0"/>
              </a:rPr>
              <a:t> Historically there has been significant delay in issuance of Tariff/APR/FPPCA Orders and release of admitted APR/FPPCA amounts; APR/FPPCA orders from FY 19 onwards have not been issued</a:t>
            </a:r>
          </a:p>
        </p:txBody>
      </p:sp>
      <p:sp>
        <p:nvSpPr>
          <p:cNvPr id="41" name="TextBox 40">
            <a:extLst>
              <a:ext uri="{FF2B5EF4-FFF2-40B4-BE49-F238E27FC236}">
                <a16:creationId xmlns:a16="http://schemas.microsoft.com/office/drawing/2014/main" id="{5B2D6D69-5E23-458D-88EC-5B842F2B746E}"/>
              </a:ext>
            </a:extLst>
          </p:cNvPr>
          <p:cNvSpPr txBox="1"/>
          <p:nvPr/>
        </p:nvSpPr>
        <p:spPr>
          <a:xfrm>
            <a:off x="8341362" y="6622869"/>
            <a:ext cx="3291840" cy="123111"/>
          </a:xfrm>
          <a:prstGeom prst="rect">
            <a:avLst/>
          </a:prstGeom>
          <a:noFill/>
        </p:spPr>
        <p:txBody>
          <a:bodyPr wrap="square" lIns="0" tIns="0" rIns="0" bIns="0" rtlCol="0">
            <a:spAutoFit/>
          </a:bodyPr>
          <a:lstStyle/>
          <a:p>
            <a:pPr>
              <a:spcBef>
                <a:spcPts val="600"/>
              </a:spcBef>
              <a:buSzPct val="100000"/>
            </a:pPr>
            <a:r>
              <a:rPr lang="en-US" sz="800" i="1" dirty="0">
                <a:solidFill>
                  <a:srgbClr val="313131"/>
                </a:solidFill>
              </a:rPr>
              <a:t>Source: WBERC Tariff, APR and FPPCA Orders for WBSEDCL</a:t>
            </a:r>
          </a:p>
        </p:txBody>
      </p:sp>
      <p:sp>
        <p:nvSpPr>
          <p:cNvPr id="8" name="TextBox 7">
            <a:extLst>
              <a:ext uri="{FF2B5EF4-FFF2-40B4-BE49-F238E27FC236}">
                <a16:creationId xmlns:a16="http://schemas.microsoft.com/office/drawing/2014/main" id="{EC2C6255-232B-4700-B06D-BB78AD69A37C}"/>
              </a:ext>
            </a:extLst>
          </p:cNvPr>
          <p:cNvSpPr txBox="1"/>
          <p:nvPr/>
        </p:nvSpPr>
        <p:spPr>
          <a:xfrm rot="16200000">
            <a:off x="137944" y="2108899"/>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004F59"/>
                </a:solidFill>
              </a:rPr>
              <a:t>Tariff Order</a:t>
            </a:r>
          </a:p>
        </p:txBody>
      </p:sp>
      <p:sp>
        <p:nvSpPr>
          <p:cNvPr id="133" name="TextBox 132">
            <a:extLst>
              <a:ext uri="{FF2B5EF4-FFF2-40B4-BE49-F238E27FC236}">
                <a16:creationId xmlns:a16="http://schemas.microsoft.com/office/drawing/2014/main" id="{E33F1CDE-DB30-4E95-A582-E2EA6F29397D}"/>
              </a:ext>
            </a:extLst>
          </p:cNvPr>
          <p:cNvSpPr txBox="1"/>
          <p:nvPr/>
        </p:nvSpPr>
        <p:spPr>
          <a:xfrm rot="16200000">
            <a:off x="137943" y="4048449"/>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046A38"/>
                </a:solidFill>
              </a:rPr>
              <a:t>APR Order</a:t>
            </a:r>
          </a:p>
        </p:txBody>
      </p:sp>
      <p:sp>
        <p:nvSpPr>
          <p:cNvPr id="134" name="TextBox 133">
            <a:extLst>
              <a:ext uri="{FF2B5EF4-FFF2-40B4-BE49-F238E27FC236}">
                <a16:creationId xmlns:a16="http://schemas.microsoft.com/office/drawing/2014/main" id="{6EE22FA0-55AE-48F0-8E89-E537765FA1AE}"/>
              </a:ext>
            </a:extLst>
          </p:cNvPr>
          <p:cNvSpPr txBox="1"/>
          <p:nvPr/>
        </p:nvSpPr>
        <p:spPr>
          <a:xfrm rot="16200000">
            <a:off x="137943" y="5404380"/>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chemeClr val="accent1">
                    <a:lumMod val="50000"/>
                  </a:schemeClr>
                </a:solidFill>
              </a:rPr>
              <a:t>FPPCA Order</a:t>
            </a:r>
          </a:p>
        </p:txBody>
      </p:sp>
      <p:sp>
        <p:nvSpPr>
          <p:cNvPr id="13" name="TextBox 12">
            <a:extLst>
              <a:ext uri="{FF2B5EF4-FFF2-40B4-BE49-F238E27FC236}">
                <a16:creationId xmlns:a16="http://schemas.microsoft.com/office/drawing/2014/main" id="{6A3BE998-4558-4F6C-AC0F-3592D4AAA098}"/>
              </a:ext>
            </a:extLst>
          </p:cNvPr>
          <p:cNvSpPr txBox="1"/>
          <p:nvPr/>
        </p:nvSpPr>
        <p:spPr>
          <a:xfrm>
            <a:off x="1213189"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‘11</a:t>
            </a:r>
          </a:p>
        </p:txBody>
      </p:sp>
      <p:sp>
        <p:nvSpPr>
          <p:cNvPr id="136" name="TextBox 135">
            <a:extLst>
              <a:ext uri="{FF2B5EF4-FFF2-40B4-BE49-F238E27FC236}">
                <a16:creationId xmlns:a16="http://schemas.microsoft.com/office/drawing/2014/main" id="{3F6084D9-0AB2-4479-BB1A-757060EB350C}"/>
              </a:ext>
            </a:extLst>
          </p:cNvPr>
          <p:cNvSpPr txBox="1"/>
          <p:nvPr/>
        </p:nvSpPr>
        <p:spPr>
          <a:xfrm>
            <a:off x="2003008"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‘12</a:t>
            </a:r>
          </a:p>
        </p:txBody>
      </p:sp>
      <p:sp>
        <p:nvSpPr>
          <p:cNvPr id="138" name="TextBox 137">
            <a:extLst>
              <a:ext uri="{FF2B5EF4-FFF2-40B4-BE49-F238E27FC236}">
                <a16:creationId xmlns:a16="http://schemas.microsoft.com/office/drawing/2014/main" id="{618D1047-9BE1-444B-B9D5-00F367571CCE}"/>
              </a:ext>
            </a:extLst>
          </p:cNvPr>
          <p:cNvSpPr txBox="1"/>
          <p:nvPr/>
        </p:nvSpPr>
        <p:spPr>
          <a:xfrm>
            <a:off x="3582646"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‘14</a:t>
            </a:r>
          </a:p>
        </p:txBody>
      </p:sp>
      <p:sp>
        <p:nvSpPr>
          <p:cNvPr id="139" name="TextBox 138">
            <a:extLst>
              <a:ext uri="{FF2B5EF4-FFF2-40B4-BE49-F238E27FC236}">
                <a16:creationId xmlns:a16="http://schemas.microsoft.com/office/drawing/2014/main" id="{B9936937-B4AA-4B20-B221-968D1B23A731}"/>
              </a:ext>
            </a:extLst>
          </p:cNvPr>
          <p:cNvSpPr txBox="1"/>
          <p:nvPr/>
        </p:nvSpPr>
        <p:spPr>
          <a:xfrm>
            <a:off x="4372465"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‘15</a:t>
            </a:r>
          </a:p>
        </p:txBody>
      </p:sp>
      <p:sp>
        <p:nvSpPr>
          <p:cNvPr id="140" name="TextBox 139">
            <a:extLst>
              <a:ext uri="{FF2B5EF4-FFF2-40B4-BE49-F238E27FC236}">
                <a16:creationId xmlns:a16="http://schemas.microsoft.com/office/drawing/2014/main" id="{AC378D09-DC24-4D49-ADCE-4797A05DAA1F}"/>
              </a:ext>
            </a:extLst>
          </p:cNvPr>
          <p:cNvSpPr txBox="1"/>
          <p:nvPr/>
        </p:nvSpPr>
        <p:spPr>
          <a:xfrm>
            <a:off x="2792827"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‘13</a:t>
            </a:r>
          </a:p>
        </p:txBody>
      </p:sp>
      <p:sp>
        <p:nvSpPr>
          <p:cNvPr id="141" name="TextBox 140">
            <a:extLst>
              <a:ext uri="{FF2B5EF4-FFF2-40B4-BE49-F238E27FC236}">
                <a16:creationId xmlns:a16="http://schemas.microsoft.com/office/drawing/2014/main" id="{0B0A1408-693F-43D0-80AC-08A6D4E0FB7A}"/>
              </a:ext>
            </a:extLst>
          </p:cNvPr>
          <p:cNvSpPr txBox="1"/>
          <p:nvPr/>
        </p:nvSpPr>
        <p:spPr>
          <a:xfrm>
            <a:off x="5952103"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‘17</a:t>
            </a:r>
          </a:p>
        </p:txBody>
      </p:sp>
      <p:sp>
        <p:nvSpPr>
          <p:cNvPr id="142" name="TextBox 141">
            <a:extLst>
              <a:ext uri="{FF2B5EF4-FFF2-40B4-BE49-F238E27FC236}">
                <a16:creationId xmlns:a16="http://schemas.microsoft.com/office/drawing/2014/main" id="{669BB046-85B4-489C-A194-90540E180BB0}"/>
              </a:ext>
            </a:extLst>
          </p:cNvPr>
          <p:cNvSpPr txBox="1"/>
          <p:nvPr/>
        </p:nvSpPr>
        <p:spPr>
          <a:xfrm>
            <a:off x="6741922"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‘18</a:t>
            </a:r>
          </a:p>
        </p:txBody>
      </p:sp>
      <p:sp>
        <p:nvSpPr>
          <p:cNvPr id="143" name="TextBox 142">
            <a:extLst>
              <a:ext uri="{FF2B5EF4-FFF2-40B4-BE49-F238E27FC236}">
                <a16:creationId xmlns:a16="http://schemas.microsoft.com/office/drawing/2014/main" id="{69A4A90C-D99B-4B9D-902F-77F95C13F9EB}"/>
              </a:ext>
            </a:extLst>
          </p:cNvPr>
          <p:cNvSpPr txBox="1"/>
          <p:nvPr/>
        </p:nvSpPr>
        <p:spPr>
          <a:xfrm>
            <a:off x="5162284"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‘16</a:t>
            </a:r>
          </a:p>
        </p:txBody>
      </p:sp>
      <p:sp>
        <p:nvSpPr>
          <p:cNvPr id="144" name="TextBox 143">
            <a:extLst>
              <a:ext uri="{FF2B5EF4-FFF2-40B4-BE49-F238E27FC236}">
                <a16:creationId xmlns:a16="http://schemas.microsoft.com/office/drawing/2014/main" id="{743CE329-C629-452E-8D22-3EC8EB5BD2BA}"/>
              </a:ext>
            </a:extLst>
          </p:cNvPr>
          <p:cNvSpPr txBox="1"/>
          <p:nvPr/>
        </p:nvSpPr>
        <p:spPr>
          <a:xfrm>
            <a:off x="8321560"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‘20</a:t>
            </a:r>
          </a:p>
        </p:txBody>
      </p:sp>
      <p:sp>
        <p:nvSpPr>
          <p:cNvPr id="145" name="TextBox 144">
            <a:extLst>
              <a:ext uri="{FF2B5EF4-FFF2-40B4-BE49-F238E27FC236}">
                <a16:creationId xmlns:a16="http://schemas.microsoft.com/office/drawing/2014/main" id="{957251C0-444A-4483-98B5-93355A0030E3}"/>
              </a:ext>
            </a:extLst>
          </p:cNvPr>
          <p:cNvSpPr txBox="1"/>
          <p:nvPr/>
        </p:nvSpPr>
        <p:spPr>
          <a:xfrm>
            <a:off x="9111379"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‘21</a:t>
            </a:r>
          </a:p>
        </p:txBody>
      </p:sp>
      <p:sp>
        <p:nvSpPr>
          <p:cNvPr id="146" name="TextBox 145">
            <a:extLst>
              <a:ext uri="{FF2B5EF4-FFF2-40B4-BE49-F238E27FC236}">
                <a16:creationId xmlns:a16="http://schemas.microsoft.com/office/drawing/2014/main" id="{F6266621-DF87-4803-9744-DD900E801906}"/>
              </a:ext>
            </a:extLst>
          </p:cNvPr>
          <p:cNvSpPr txBox="1"/>
          <p:nvPr/>
        </p:nvSpPr>
        <p:spPr>
          <a:xfrm>
            <a:off x="7531741"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‘19</a:t>
            </a:r>
          </a:p>
        </p:txBody>
      </p:sp>
      <p:sp>
        <p:nvSpPr>
          <p:cNvPr id="147" name="TextBox 146">
            <a:extLst>
              <a:ext uri="{FF2B5EF4-FFF2-40B4-BE49-F238E27FC236}">
                <a16:creationId xmlns:a16="http://schemas.microsoft.com/office/drawing/2014/main" id="{41D7B9A0-0CC6-4587-9E18-9FE1970196CF}"/>
              </a:ext>
            </a:extLst>
          </p:cNvPr>
          <p:cNvSpPr txBox="1"/>
          <p:nvPr/>
        </p:nvSpPr>
        <p:spPr>
          <a:xfrm>
            <a:off x="9901198"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‘22</a:t>
            </a:r>
          </a:p>
        </p:txBody>
      </p:sp>
      <p:sp>
        <p:nvSpPr>
          <p:cNvPr id="149" name="TextBox 148">
            <a:extLst>
              <a:ext uri="{FF2B5EF4-FFF2-40B4-BE49-F238E27FC236}">
                <a16:creationId xmlns:a16="http://schemas.microsoft.com/office/drawing/2014/main" id="{567531B4-5328-4329-A6AB-C325B4CB0093}"/>
              </a:ext>
            </a:extLst>
          </p:cNvPr>
          <p:cNvSpPr txBox="1"/>
          <p:nvPr/>
        </p:nvSpPr>
        <p:spPr>
          <a:xfrm>
            <a:off x="10691020"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‘23</a:t>
            </a:r>
          </a:p>
        </p:txBody>
      </p:sp>
      <p:sp>
        <p:nvSpPr>
          <p:cNvPr id="59" name="TextBox 58">
            <a:extLst>
              <a:ext uri="{FF2B5EF4-FFF2-40B4-BE49-F238E27FC236}">
                <a16:creationId xmlns:a16="http://schemas.microsoft.com/office/drawing/2014/main" id="{03032E26-AA24-4136-A426-736432E3C402}"/>
              </a:ext>
            </a:extLst>
          </p:cNvPr>
          <p:cNvSpPr txBox="1"/>
          <p:nvPr/>
        </p:nvSpPr>
        <p:spPr>
          <a:xfrm rot="16200000">
            <a:off x="10808757" y="2028038"/>
            <a:ext cx="2186663" cy="369332"/>
          </a:xfrm>
          <a:prstGeom prst="rect">
            <a:avLst/>
          </a:prstGeom>
          <a:noFill/>
        </p:spPr>
        <p:txBody>
          <a:bodyPr wrap="square" lIns="0" tIns="0" rIns="0" bIns="0" rtlCol="0">
            <a:spAutoFit/>
          </a:bodyPr>
          <a:lstStyle/>
          <a:p>
            <a:pPr algn="ctr">
              <a:buSzPct val="100000"/>
            </a:pPr>
            <a:r>
              <a:rPr lang="en-US" sz="1200" b="1" dirty="0">
                <a:solidFill>
                  <a:srgbClr val="004F59"/>
                </a:solidFill>
              </a:rPr>
              <a:t>Avg. delay in Tariff order issuance: </a:t>
            </a:r>
            <a:r>
              <a:rPr lang="en-IN" sz="1200" b="1" dirty="0">
                <a:solidFill>
                  <a:srgbClr val="004F59"/>
                </a:solidFill>
              </a:rPr>
              <a:t>512 days</a:t>
            </a:r>
            <a:endParaRPr lang="en-US" sz="1200" b="1" dirty="0">
              <a:solidFill>
                <a:srgbClr val="004F59"/>
              </a:solidFill>
            </a:endParaRPr>
          </a:p>
        </p:txBody>
      </p:sp>
      <p:sp>
        <p:nvSpPr>
          <p:cNvPr id="60" name="Right Brace 59">
            <a:extLst>
              <a:ext uri="{FF2B5EF4-FFF2-40B4-BE49-F238E27FC236}">
                <a16:creationId xmlns:a16="http://schemas.microsoft.com/office/drawing/2014/main" id="{2E01AF0A-E0EB-4340-9963-529C5B0F1F1D}"/>
              </a:ext>
            </a:extLst>
          </p:cNvPr>
          <p:cNvSpPr/>
          <p:nvPr/>
        </p:nvSpPr>
        <p:spPr>
          <a:xfrm>
            <a:off x="11548112" y="1134463"/>
            <a:ext cx="142240" cy="2116914"/>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TextBox 63">
            <a:extLst>
              <a:ext uri="{FF2B5EF4-FFF2-40B4-BE49-F238E27FC236}">
                <a16:creationId xmlns:a16="http://schemas.microsoft.com/office/drawing/2014/main" id="{F67C5216-0059-433D-BC1C-E8033D441751}"/>
              </a:ext>
            </a:extLst>
          </p:cNvPr>
          <p:cNvSpPr txBox="1"/>
          <p:nvPr/>
        </p:nvSpPr>
        <p:spPr>
          <a:xfrm rot="16200000">
            <a:off x="10579157" y="4547802"/>
            <a:ext cx="2645862" cy="369332"/>
          </a:xfrm>
          <a:prstGeom prst="rect">
            <a:avLst/>
          </a:prstGeom>
          <a:noFill/>
        </p:spPr>
        <p:txBody>
          <a:bodyPr wrap="square" lIns="0" tIns="0" rIns="0" bIns="0" rtlCol="0">
            <a:spAutoFit/>
          </a:bodyPr>
          <a:lstStyle/>
          <a:p>
            <a:pPr algn="ctr">
              <a:buSzPct val="100000"/>
            </a:pPr>
            <a:r>
              <a:rPr lang="en-US" sz="1200" b="1" dirty="0">
                <a:solidFill>
                  <a:schemeClr val="accent3">
                    <a:lumMod val="75000"/>
                  </a:schemeClr>
                </a:solidFill>
              </a:rPr>
              <a:t>Avg. delay in APR and FPPCA order issuance: </a:t>
            </a:r>
            <a:r>
              <a:rPr lang="en-IN" sz="1200" b="1" dirty="0">
                <a:solidFill>
                  <a:schemeClr val="accent3">
                    <a:lumMod val="75000"/>
                  </a:schemeClr>
                </a:solidFill>
              </a:rPr>
              <a:t>1252 days</a:t>
            </a:r>
            <a:endParaRPr lang="en-US" sz="1200" b="1" dirty="0">
              <a:solidFill>
                <a:schemeClr val="accent3">
                  <a:lumMod val="75000"/>
                </a:schemeClr>
              </a:solidFill>
            </a:endParaRPr>
          </a:p>
        </p:txBody>
      </p:sp>
      <p:sp>
        <p:nvSpPr>
          <p:cNvPr id="65" name="Right Brace 64">
            <a:extLst>
              <a:ext uri="{FF2B5EF4-FFF2-40B4-BE49-F238E27FC236}">
                <a16:creationId xmlns:a16="http://schemas.microsoft.com/office/drawing/2014/main" id="{8E862C84-82D1-43F6-8BC8-B947204664A0}"/>
              </a:ext>
            </a:extLst>
          </p:cNvPr>
          <p:cNvSpPr/>
          <p:nvPr/>
        </p:nvSpPr>
        <p:spPr>
          <a:xfrm>
            <a:off x="11548112" y="3306173"/>
            <a:ext cx="142240" cy="2846210"/>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ectangle 66">
            <a:extLst>
              <a:ext uri="{FF2B5EF4-FFF2-40B4-BE49-F238E27FC236}">
                <a16:creationId xmlns:a16="http://schemas.microsoft.com/office/drawing/2014/main" id="{441BA178-9F82-485A-9C4D-C7AAA0BA54F2}"/>
              </a:ext>
            </a:extLst>
          </p:cNvPr>
          <p:cNvSpPr/>
          <p:nvPr/>
        </p:nvSpPr>
        <p:spPr bwMode="gray">
          <a:xfrm>
            <a:off x="740225" y="1161242"/>
            <a:ext cx="10754181" cy="1980000"/>
          </a:xfrm>
          <a:prstGeom prst="rect">
            <a:avLst/>
          </a:prstGeom>
          <a:solidFill>
            <a:srgbClr val="00A3E0">
              <a:alpha val="5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8" name="Rectangle 67">
            <a:extLst>
              <a:ext uri="{FF2B5EF4-FFF2-40B4-BE49-F238E27FC236}">
                <a16:creationId xmlns:a16="http://schemas.microsoft.com/office/drawing/2014/main" id="{0EF7510C-6E79-4BB5-A245-10B421001A53}"/>
              </a:ext>
            </a:extLst>
          </p:cNvPr>
          <p:cNvSpPr/>
          <p:nvPr/>
        </p:nvSpPr>
        <p:spPr bwMode="gray">
          <a:xfrm>
            <a:off x="740225" y="3144958"/>
            <a:ext cx="10754181" cy="1512000"/>
          </a:xfrm>
          <a:prstGeom prst="rect">
            <a:avLst/>
          </a:prstGeom>
          <a:solidFill>
            <a:srgbClr val="046A38">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9" name="Rectangle 68">
            <a:extLst>
              <a:ext uri="{FF2B5EF4-FFF2-40B4-BE49-F238E27FC236}">
                <a16:creationId xmlns:a16="http://schemas.microsoft.com/office/drawing/2014/main" id="{BDCA11D5-48CE-4D47-B3C0-1099080A0BB2}"/>
              </a:ext>
            </a:extLst>
          </p:cNvPr>
          <p:cNvSpPr/>
          <p:nvPr/>
        </p:nvSpPr>
        <p:spPr bwMode="gray">
          <a:xfrm>
            <a:off x="740225" y="4675361"/>
            <a:ext cx="10754181" cy="1584000"/>
          </a:xfrm>
          <a:prstGeom prst="rect">
            <a:avLst/>
          </a:prstGeom>
          <a:solidFill>
            <a:srgbClr val="86BC25">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70" name="Chart 69">
            <a:extLst>
              <a:ext uri="{FF2B5EF4-FFF2-40B4-BE49-F238E27FC236}">
                <a16:creationId xmlns:a16="http://schemas.microsoft.com/office/drawing/2014/main" id="{465BFC01-CD13-4441-93E7-7A3193839863}"/>
              </a:ext>
            </a:extLst>
          </p:cNvPr>
          <p:cNvGraphicFramePr/>
          <p:nvPr/>
        </p:nvGraphicFramePr>
        <p:xfrm>
          <a:off x="903511" y="1079475"/>
          <a:ext cx="10590895" cy="5536326"/>
        </p:xfrm>
        <a:graphic>
          <a:graphicData uri="http://schemas.openxmlformats.org/drawingml/2006/chart">
            <c:chart xmlns:c="http://schemas.openxmlformats.org/drawingml/2006/chart" xmlns:r="http://schemas.openxmlformats.org/officeDocument/2006/relationships" r:id="rId5"/>
          </a:graphicData>
        </a:graphic>
      </p:graphicFrame>
      <p:sp>
        <p:nvSpPr>
          <p:cNvPr id="75" name="TextBox 74">
            <a:extLst>
              <a:ext uri="{FF2B5EF4-FFF2-40B4-BE49-F238E27FC236}">
                <a16:creationId xmlns:a16="http://schemas.microsoft.com/office/drawing/2014/main" id="{FFDB8146-61C1-4D29-BCE7-3A16E457362E}"/>
              </a:ext>
            </a:extLst>
          </p:cNvPr>
          <p:cNvSpPr txBox="1"/>
          <p:nvPr/>
        </p:nvSpPr>
        <p:spPr>
          <a:xfrm>
            <a:off x="4723917" y="3158090"/>
            <a:ext cx="3924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3284 days</a:t>
            </a:r>
          </a:p>
        </p:txBody>
      </p:sp>
      <p:cxnSp>
        <p:nvCxnSpPr>
          <p:cNvPr id="76" name="Straight Connector 75">
            <a:extLst>
              <a:ext uri="{FF2B5EF4-FFF2-40B4-BE49-F238E27FC236}">
                <a16:creationId xmlns:a16="http://schemas.microsoft.com/office/drawing/2014/main" id="{7C088B8D-2F35-41DC-90FA-2C661DA131DF}"/>
              </a:ext>
            </a:extLst>
          </p:cNvPr>
          <p:cNvCxnSpPr/>
          <p:nvPr/>
        </p:nvCxnSpPr>
        <p:spPr>
          <a:xfrm flipH="1">
            <a:off x="4321625" y="3246564"/>
            <a:ext cx="332338" cy="0"/>
          </a:xfrm>
          <a:prstGeom prst="line">
            <a:avLst/>
          </a:prstGeom>
          <a:ln>
            <a:solidFill>
              <a:srgbClr val="00ABAB"/>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D956DDF-39EF-455E-B6D6-54DE7677405F}"/>
              </a:ext>
            </a:extLst>
          </p:cNvPr>
          <p:cNvCxnSpPr>
            <a:cxnSpLocks/>
          </p:cNvCxnSpPr>
          <p:nvPr/>
        </p:nvCxnSpPr>
        <p:spPr>
          <a:xfrm flipH="1">
            <a:off x="4125683" y="3246564"/>
            <a:ext cx="195942" cy="163286"/>
          </a:xfrm>
          <a:prstGeom prst="line">
            <a:avLst/>
          </a:prstGeom>
          <a:ln>
            <a:solidFill>
              <a:srgbClr val="00ABAB"/>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19552EB8-6BB9-4FEE-A0B8-83BAE94AB5B7}"/>
              </a:ext>
            </a:extLst>
          </p:cNvPr>
          <p:cNvSpPr txBox="1"/>
          <p:nvPr/>
        </p:nvSpPr>
        <p:spPr>
          <a:xfrm>
            <a:off x="4691255" y="4659997"/>
            <a:ext cx="3924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3284 days</a:t>
            </a:r>
          </a:p>
        </p:txBody>
      </p:sp>
      <p:cxnSp>
        <p:nvCxnSpPr>
          <p:cNvPr id="79" name="Straight Connector 78">
            <a:extLst>
              <a:ext uri="{FF2B5EF4-FFF2-40B4-BE49-F238E27FC236}">
                <a16:creationId xmlns:a16="http://schemas.microsoft.com/office/drawing/2014/main" id="{66BFBFB9-0883-4E2A-9C53-0FC298D0825D}"/>
              </a:ext>
            </a:extLst>
          </p:cNvPr>
          <p:cNvCxnSpPr/>
          <p:nvPr/>
        </p:nvCxnSpPr>
        <p:spPr>
          <a:xfrm flipH="1">
            <a:off x="4288963" y="4748471"/>
            <a:ext cx="332338" cy="0"/>
          </a:xfrm>
          <a:prstGeom prst="line">
            <a:avLst/>
          </a:prstGeom>
          <a:ln>
            <a:solidFill>
              <a:srgbClr val="00ABAB"/>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F6D0370-6F00-47D8-A75F-BB7BF9B76305}"/>
              </a:ext>
            </a:extLst>
          </p:cNvPr>
          <p:cNvCxnSpPr>
            <a:cxnSpLocks/>
          </p:cNvCxnSpPr>
          <p:nvPr/>
        </p:nvCxnSpPr>
        <p:spPr>
          <a:xfrm flipH="1">
            <a:off x="4093021" y="4748471"/>
            <a:ext cx="195942" cy="163286"/>
          </a:xfrm>
          <a:prstGeom prst="line">
            <a:avLst/>
          </a:prstGeom>
          <a:ln>
            <a:solidFill>
              <a:srgbClr val="00ABAB"/>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37F4168D-094B-4A0A-9962-0C0C1E2254F5}"/>
              </a:ext>
            </a:extLst>
          </p:cNvPr>
          <p:cNvSpPr txBox="1"/>
          <p:nvPr/>
        </p:nvSpPr>
        <p:spPr>
          <a:xfrm>
            <a:off x="10357083" y="3511120"/>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2922 days</a:t>
            </a:r>
          </a:p>
        </p:txBody>
      </p:sp>
      <p:grpSp>
        <p:nvGrpSpPr>
          <p:cNvPr id="87" name="Group 86">
            <a:extLst>
              <a:ext uri="{FF2B5EF4-FFF2-40B4-BE49-F238E27FC236}">
                <a16:creationId xmlns:a16="http://schemas.microsoft.com/office/drawing/2014/main" id="{E097F5E1-0EB0-4455-83FB-120EDED09941}"/>
              </a:ext>
            </a:extLst>
          </p:cNvPr>
          <p:cNvGrpSpPr/>
          <p:nvPr/>
        </p:nvGrpSpPr>
        <p:grpSpPr>
          <a:xfrm>
            <a:off x="8522644" y="1191758"/>
            <a:ext cx="2920998" cy="1209850"/>
            <a:chOff x="8617860" y="1239436"/>
            <a:chExt cx="2920998" cy="1209850"/>
          </a:xfrm>
        </p:grpSpPr>
        <p:sp>
          <p:nvSpPr>
            <p:cNvPr id="88" name="Rectangle: Rounded Corners 87">
              <a:extLst>
                <a:ext uri="{FF2B5EF4-FFF2-40B4-BE49-F238E27FC236}">
                  <a16:creationId xmlns:a16="http://schemas.microsoft.com/office/drawing/2014/main" id="{FA73F9B9-AAEE-4B76-B7E6-1B74F61B1FC9}"/>
                </a:ext>
              </a:extLst>
            </p:cNvPr>
            <p:cNvSpPr/>
            <p:nvPr/>
          </p:nvSpPr>
          <p:spPr bwMode="gray">
            <a:xfrm>
              <a:off x="8617860" y="1239436"/>
              <a:ext cx="2920998" cy="1209850"/>
            </a:xfrm>
            <a:prstGeom prst="roundRect">
              <a:avLst>
                <a:gd name="adj" fmla="val 9717"/>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cxnSp>
          <p:nvCxnSpPr>
            <p:cNvPr id="89" name="Straight Connector 88">
              <a:extLst>
                <a:ext uri="{FF2B5EF4-FFF2-40B4-BE49-F238E27FC236}">
                  <a16:creationId xmlns:a16="http://schemas.microsoft.com/office/drawing/2014/main" id="{38E39198-EE63-4028-8254-109925CDE377}"/>
                </a:ext>
              </a:extLst>
            </p:cNvPr>
            <p:cNvCxnSpPr/>
            <p:nvPr/>
          </p:nvCxnSpPr>
          <p:spPr>
            <a:xfrm>
              <a:off x="8795940" y="1381215"/>
              <a:ext cx="0" cy="170107"/>
            </a:xfrm>
            <a:prstGeom prst="line">
              <a:avLst/>
            </a:prstGeom>
            <a:ln w="57150">
              <a:solidFill>
                <a:srgbClr val="43B02A"/>
              </a:solidFill>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D6949141-0192-40AA-9E8E-28880F73EBE3}"/>
                </a:ext>
              </a:extLst>
            </p:cNvPr>
            <p:cNvSpPr txBox="1"/>
            <p:nvPr/>
          </p:nvSpPr>
          <p:spPr>
            <a:xfrm>
              <a:off x="8892648" y="1390169"/>
              <a:ext cx="2376000" cy="139223"/>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Notional date for Order issuance</a:t>
              </a:r>
            </a:p>
          </p:txBody>
        </p:sp>
        <p:cxnSp>
          <p:nvCxnSpPr>
            <p:cNvPr id="91" name="Straight Connector 90">
              <a:extLst>
                <a:ext uri="{FF2B5EF4-FFF2-40B4-BE49-F238E27FC236}">
                  <a16:creationId xmlns:a16="http://schemas.microsoft.com/office/drawing/2014/main" id="{78AE5CAD-BA84-4059-A259-1C31698811C0}"/>
                </a:ext>
              </a:extLst>
            </p:cNvPr>
            <p:cNvCxnSpPr/>
            <p:nvPr/>
          </p:nvCxnSpPr>
          <p:spPr>
            <a:xfrm>
              <a:off x="8795940" y="1639859"/>
              <a:ext cx="0" cy="170107"/>
            </a:xfrm>
            <a:prstGeom prst="line">
              <a:avLst/>
            </a:prstGeom>
            <a:ln w="57150">
              <a:solidFill>
                <a:srgbClr val="012169"/>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91ACD092-F501-41C0-B6D8-20FC31C8CDEA}"/>
                </a:ext>
              </a:extLst>
            </p:cNvPr>
            <p:cNvSpPr txBox="1"/>
            <p:nvPr/>
          </p:nvSpPr>
          <p:spPr>
            <a:xfrm>
              <a:off x="8892648" y="1648813"/>
              <a:ext cx="2376000" cy="139223"/>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Actual Order issuance date</a:t>
              </a:r>
            </a:p>
          </p:txBody>
        </p:sp>
        <p:sp>
          <p:nvSpPr>
            <p:cNvPr id="93" name="Rectangle 92">
              <a:extLst>
                <a:ext uri="{FF2B5EF4-FFF2-40B4-BE49-F238E27FC236}">
                  <a16:creationId xmlns:a16="http://schemas.microsoft.com/office/drawing/2014/main" id="{C618FE65-61D9-49E6-A2C7-7359E3479AE2}"/>
                </a:ext>
              </a:extLst>
            </p:cNvPr>
            <p:cNvSpPr/>
            <p:nvPr/>
          </p:nvSpPr>
          <p:spPr bwMode="gray">
            <a:xfrm>
              <a:off x="8766259" y="2170701"/>
              <a:ext cx="356134" cy="170107"/>
            </a:xfrm>
            <a:prstGeom prst="rect">
              <a:avLst/>
            </a:prstGeom>
            <a:pattFill prst="ltDnDiag">
              <a:fgClr>
                <a:schemeClr val="bg1">
                  <a:lumMod val="50000"/>
                </a:schemeClr>
              </a:fgClr>
              <a:bgClr>
                <a:schemeClr val="bg1"/>
              </a:bgClr>
            </a:pattFill>
            <a:ln w="19050" algn="ctr">
              <a:solidFill>
                <a:schemeClr val="bg1">
                  <a:lumMod val="8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sp>
          <p:nvSpPr>
            <p:cNvPr id="94" name="TextBox 93">
              <a:extLst>
                <a:ext uri="{FF2B5EF4-FFF2-40B4-BE49-F238E27FC236}">
                  <a16:creationId xmlns:a16="http://schemas.microsoft.com/office/drawing/2014/main" id="{8EA4D8DB-E7F5-4B4A-A55D-CFA8A5A3C41F}"/>
                </a:ext>
              </a:extLst>
            </p:cNvPr>
            <p:cNvSpPr txBox="1"/>
            <p:nvPr/>
          </p:nvSpPr>
          <p:spPr>
            <a:xfrm>
              <a:off x="9235366" y="2167496"/>
              <a:ext cx="2052000"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Delay (in days)</a:t>
              </a:r>
            </a:p>
          </p:txBody>
        </p:sp>
        <p:cxnSp>
          <p:nvCxnSpPr>
            <p:cNvPr id="95" name="Straight Connector 94">
              <a:extLst>
                <a:ext uri="{FF2B5EF4-FFF2-40B4-BE49-F238E27FC236}">
                  <a16:creationId xmlns:a16="http://schemas.microsoft.com/office/drawing/2014/main" id="{5CDE98FC-04FF-4634-9990-11AD18A8EB55}"/>
                </a:ext>
              </a:extLst>
            </p:cNvPr>
            <p:cNvCxnSpPr/>
            <p:nvPr/>
          </p:nvCxnSpPr>
          <p:spPr>
            <a:xfrm>
              <a:off x="8795940" y="1900872"/>
              <a:ext cx="0" cy="170107"/>
            </a:xfrm>
            <a:prstGeom prst="line">
              <a:avLst/>
            </a:prstGeom>
            <a:ln w="57150">
              <a:solidFill>
                <a:srgbClr val="00ABAB"/>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128192A-85A2-45EA-80C7-15EF624B427C}"/>
                </a:ext>
              </a:extLst>
            </p:cNvPr>
            <p:cNvSpPr txBox="1"/>
            <p:nvPr/>
          </p:nvSpPr>
          <p:spPr>
            <a:xfrm>
              <a:off x="8892648" y="1909826"/>
              <a:ext cx="2376000"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APR/FPPCA amount release date</a:t>
              </a:r>
            </a:p>
          </p:txBody>
        </p:sp>
      </p:grpSp>
      <p:sp>
        <p:nvSpPr>
          <p:cNvPr id="97" name="TextBox 96">
            <a:extLst>
              <a:ext uri="{FF2B5EF4-FFF2-40B4-BE49-F238E27FC236}">
                <a16:creationId xmlns:a16="http://schemas.microsoft.com/office/drawing/2014/main" id="{D5EBF3E0-4CFD-4591-AAB1-A4F03A45B29F}"/>
              </a:ext>
            </a:extLst>
          </p:cNvPr>
          <p:cNvSpPr txBox="1"/>
          <p:nvPr/>
        </p:nvSpPr>
        <p:spPr>
          <a:xfrm>
            <a:off x="1537061" y="4172126"/>
            <a:ext cx="2889963" cy="442035"/>
          </a:xfrm>
          <a:prstGeom prst="rect">
            <a:avLst/>
          </a:prstGeom>
          <a:noFill/>
          <a:ln>
            <a:solidFill>
              <a:srgbClr val="003E58"/>
            </a:solidFill>
            <a:prstDash val="dash"/>
          </a:ln>
        </p:spPr>
        <p:txBody>
          <a:bodyPr wrap="square" lIns="36000" tIns="36000" rIns="36000" bIns="36000" rtlCol="0" anchor="ctr" anchorCtr="0">
            <a:spAutoFit/>
          </a:bodyPr>
          <a:lstStyle/>
          <a:p>
            <a:pPr>
              <a:spcBef>
                <a:spcPts val="600"/>
              </a:spcBef>
              <a:buSzPct val="100000"/>
            </a:pPr>
            <a:r>
              <a:rPr lang="en-US" sz="1200" i="1" dirty="0">
                <a:solidFill>
                  <a:srgbClr val="313131"/>
                </a:solidFill>
              </a:rPr>
              <a:t>APR and FPPCA Orders from FY 19 onwards have not been issued</a:t>
            </a:r>
          </a:p>
        </p:txBody>
      </p:sp>
      <p:sp>
        <p:nvSpPr>
          <p:cNvPr id="98" name="TextBox 97">
            <a:extLst>
              <a:ext uri="{FF2B5EF4-FFF2-40B4-BE49-F238E27FC236}">
                <a16:creationId xmlns:a16="http://schemas.microsoft.com/office/drawing/2014/main" id="{4A60A990-3249-4EAC-9686-B8564A20FFBA}"/>
              </a:ext>
            </a:extLst>
          </p:cNvPr>
          <p:cNvSpPr txBox="1"/>
          <p:nvPr/>
        </p:nvSpPr>
        <p:spPr>
          <a:xfrm>
            <a:off x="10357083" y="3707017"/>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2554 days</a:t>
            </a:r>
          </a:p>
        </p:txBody>
      </p:sp>
      <p:sp>
        <p:nvSpPr>
          <p:cNvPr id="99" name="TextBox 98">
            <a:extLst>
              <a:ext uri="{FF2B5EF4-FFF2-40B4-BE49-F238E27FC236}">
                <a16:creationId xmlns:a16="http://schemas.microsoft.com/office/drawing/2014/main" id="{FDBC900E-2C77-4025-AFF0-01E8A8506615}"/>
              </a:ext>
            </a:extLst>
          </p:cNvPr>
          <p:cNvSpPr txBox="1"/>
          <p:nvPr/>
        </p:nvSpPr>
        <p:spPr>
          <a:xfrm>
            <a:off x="10357082" y="3892122"/>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2188 days</a:t>
            </a:r>
          </a:p>
        </p:txBody>
      </p:sp>
      <p:sp>
        <p:nvSpPr>
          <p:cNvPr id="100" name="TextBox 99">
            <a:extLst>
              <a:ext uri="{FF2B5EF4-FFF2-40B4-BE49-F238E27FC236}">
                <a16:creationId xmlns:a16="http://schemas.microsoft.com/office/drawing/2014/main" id="{AACBE62A-D868-4F71-B467-203357100972}"/>
              </a:ext>
            </a:extLst>
          </p:cNvPr>
          <p:cNvSpPr txBox="1"/>
          <p:nvPr/>
        </p:nvSpPr>
        <p:spPr>
          <a:xfrm>
            <a:off x="10357082" y="4077133"/>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1823 days</a:t>
            </a:r>
          </a:p>
        </p:txBody>
      </p:sp>
      <p:sp>
        <p:nvSpPr>
          <p:cNvPr id="101" name="TextBox 100">
            <a:extLst>
              <a:ext uri="{FF2B5EF4-FFF2-40B4-BE49-F238E27FC236}">
                <a16:creationId xmlns:a16="http://schemas.microsoft.com/office/drawing/2014/main" id="{57B71004-503A-4EB5-B246-015167716F2C}"/>
              </a:ext>
            </a:extLst>
          </p:cNvPr>
          <p:cNvSpPr txBox="1"/>
          <p:nvPr/>
        </p:nvSpPr>
        <p:spPr>
          <a:xfrm>
            <a:off x="10346198" y="4262234"/>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1458 days</a:t>
            </a:r>
          </a:p>
        </p:txBody>
      </p:sp>
      <p:sp>
        <p:nvSpPr>
          <p:cNvPr id="102" name="TextBox 101">
            <a:extLst>
              <a:ext uri="{FF2B5EF4-FFF2-40B4-BE49-F238E27FC236}">
                <a16:creationId xmlns:a16="http://schemas.microsoft.com/office/drawing/2014/main" id="{BA0052A7-2C75-41A3-A674-E833FB0FA83B}"/>
              </a:ext>
            </a:extLst>
          </p:cNvPr>
          <p:cNvSpPr txBox="1"/>
          <p:nvPr/>
        </p:nvSpPr>
        <p:spPr>
          <a:xfrm>
            <a:off x="10346198" y="4458131"/>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1093 days</a:t>
            </a:r>
          </a:p>
        </p:txBody>
      </p:sp>
      <p:sp>
        <p:nvSpPr>
          <p:cNvPr id="103" name="TextBox 102">
            <a:extLst>
              <a:ext uri="{FF2B5EF4-FFF2-40B4-BE49-F238E27FC236}">
                <a16:creationId xmlns:a16="http://schemas.microsoft.com/office/drawing/2014/main" id="{9407162F-43E2-44BD-A102-E86C07A25CAA}"/>
              </a:ext>
            </a:extLst>
          </p:cNvPr>
          <p:cNvSpPr txBox="1"/>
          <p:nvPr/>
        </p:nvSpPr>
        <p:spPr>
          <a:xfrm>
            <a:off x="10371593" y="5006286"/>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2922 days</a:t>
            </a:r>
          </a:p>
        </p:txBody>
      </p:sp>
      <p:sp>
        <p:nvSpPr>
          <p:cNvPr id="104" name="TextBox 103">
            <a:extLst>
              <a:ext uri="{FF2B5EF4-FFF2-40B4-BE49-F238E27FC236}">
                <a16:creationId xmlns:a16="http://schemas.microsoft.com/office/drawing/2014/main" id="{5A359D9E-79F4-49E5-80D1-BA60C0AE34BB}"/>
              </a:ext>
            </a:extLst>
          </p:cNvPr>
          <p:cNvSpPr txBox="1"/>
          <p:nvPr/>
        </p:nvSpPr>
        <p:spPr>
          <a:xfrm>
            <a:off x="10371593" y="5202183"/>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2554 days</a:t>
            </a:r>
          </a:p>
        </p:txBody>
      </p:sp>
      <p:sp>
        <p:nvSpPr>
          <p:cNvPr id="105" name="TextBox 104">
            <a:extLst>
              <a:ext uri="{FF2B5EF4-FFF2-40B4-BE49-F238E27FC236}">
                <a16:creationId xmlns:a16="http://schemas.microsoft.com/office/drawing/2014/main" id="{AB5CA28D-34AA-415A-B0D7-105E764AD0CB}"/>
              </a:ext>
            </a:extLst>
          </p:cNvPr>
          <p:cNvSpPr txBox="1"/>
          <p:nvPr/>
        </p:nvSpPr>
        <p:spPr>
          <a:xfrm>
            <a:off x="10371592" y="5387288"/>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2188 days</a:t>
            </a:r>
          </a:p>
        </p:txBody>
      </p:sp>
      <p:sp>
        <p:nvSpPr>
          <p:cNvPr id="106" name="TextBox 105">
            <a:extLst>
              <a:ext uri="{FF2B5EF4-FFF2-40B4-BE49-F238E27FC236}">
                <a16:creationId xmlns:a16="http://schemas.microsoft.com/office/drawing/2014/main" id="{D7D6F7C6-60A1-4262-9DF8-5C311A035B79}"/>
              </a:ext>
            </a:extLst>
          </p:cNvPr>
          <p:cNvSpPr txBox="1"/>
          <p:nvPr/>
        </p:nvSpPr>
        <p:spPr>
          <a:xfrm>
            <a:off x="10371592" y="5572299"/>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1823 days</a:t>
            </a:r>
          </a:p>
        </p:txBody>
      </p:sp>
      <p:sp>
        <p:nvSpPr>
          <p:cNvPr id="107" name="TextBox 106">
            <a:extLst>
              <a:ext uri="{FF2B5EF4-FFF2-40B4-BE49-F238E27FC236}">
                <a16:creationId xmlns:a16="http://schemas.microsoft.com/office/drawing/2014/main" id="{869FF09B-27DB-48BD-8622-C6B153F51BDC}"/>
              </a:ext>
            </a:extLst>
          </p:cNvPr>
          <p:cNvSpPr txBox="1"/>
          <p:nvPr/>
        </p:nvSpPr>
        <p:spPr>
          <a:xfrm>
            <a:off x="10360708" y="5757400"/>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1458 days</a:t>
            </a:r>
          </a:p>
        </p:txBody>
      </p:sp>
      <p:sp>
        <p:nvSpPr>
          <p:cNvPr id="108" name="TextBox 107">
            <a:extLst>
              <a:ext uri="{FF2B5EF4-FFF2-40B4-BE49-F238E27FC236}">
                <a16:creationId xmlns:a16="http://schemas.microsoft.com/office/drawing/2014/main" id="{A54EAE25-760E-4F8B-A6EE-ACDB353B0ECF}"/>
              </a:ext>
            </a:extLst>
          </p:cNvPr>
          <p:cNvSpPr txBox="1"/>
          <p:nvPr/>
        </p:nvSpPr>
        <p:spPr>
          <a:xfrm>
            <a:off x="10360708" y="5953297"/>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1093 days</a:t>
            </a:r>
          </a:p>
        </p:txBody>
      </p:sp>
    </p:spTree>
    <p:extLst>
      <p:ext uri="{BB962C8B-B14F-4D97-AF65-F5344CB8AC3E}">
        <p14:creationId xmlns:p14="http://schemas.microsoft.com/office/powerpoint/2010/main" val="293375236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2A0BDC2-1237-481E-8BDA-3F44FD8D8B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5" name="Object 4" hidden="1">
                        <a:extLst>
                          <a:ext uri="{FF2B5EF4-FFF2-40B4-BE49-F238E27FC236}">
                            <a16:creationId xmlns:a16="http://schemas.microsoft.com/office/drawing/2014/main" id="{02A0BDC2-1237-481E-8BDA-3F44FD8D8B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3">
            <a:extLst>
              <a:ext uri="{FF2B5EF4-FFF2-40B4-BE49-F238E27FC236}">
                <a16:creationId xmlns:a16="http://schemas.microsoft.com/office/drawing/2014/main" id="{AA0CE329-4C1B-404A-AC50-BAF3942CD6BF}"/>
              </a:ext>
            </a:extLst>
          </p:cNvPr>
          <p:cNvSpPr>
            <a:spLocks noGrp="1"/>
          </p:cNvSpPr>
          <p:nvPr>
            <p:ph type="title"/>
          </p:nvPr>
        </p:nvSpPr>
        <p:spPr>
          <a:xfrm>
            <a:off x="501651" y="241304"/>
            <a:ext cx="11439977" cy="497505"/>
          </a:xfrm>
        </p:spPr>
        <p:txBody>
          <a:bodyPr vert="horz"/>
          <a:lstStyle/>
          <a:p>
            <a:pPr algn="just"/>
            <a:r>
              <a:rPr lang="en-US" sz="1800" b="0" i="0" dirty="0">
                <a:solidFill>
                  <a:schemeClr val="tx1"/>
                </a:solidFill>
                <a:latin typeface="Verdana" panose="020B0604030504040204" pitchFamily="34" charset="0"/>
                <a:ea typeface="Verdana" panose="020B0604030504040204" pitchFamily="34" charset="0"/>
              </a:rPr>
              <a:t>Delayed release of admitted APR/FCA/FPPCA amounts has resulted in carrying cost burden; Rs. </a:t>
            </a:r>
            <a:r>
              <a:rPr lang="en-US" sz="1800" dirty="0">
                <a:latin typeface="Verdana" panose="020B0604030504040204" pitchFamily="34" charset="0"/>
                <a:ea typeface="Verdana" panose="020B0604030504040204" pitchFamily="34" charset="0"/>
              </a:rPr>
              <a:t>126.37</a:t>
            </a:r>
            <a:r>
              <a:rPr lang="en-US" sz="1800" b="0" i="0" dirty="0">
                <a:solidFill>
                  <a:schemeClr val="tx1"/>
                </a:solidFill>
                <a:latin typeface="Verdana" panose="020B0604030504040204" pitchFamily="34" charset="0"/>
                <a:ea typeface="Verdana" panose="020B0604030504040204" pitchFamily="34" charset="0"/>
              </a:rPr>
              <a:t> Cr (WBSEDCL) yet to be released</a:t>
            </a:r>
          </a:p>
        </p:txBody>
      </p:sp>
      <p:graphicFrame>
        <p:nvGraphicFramePr>
          <p:cNvPr id="13" name="Table 2">
            <a:extLst>
              <a:ext uri="{FF2B5EF4-FFF2-40B4-BE49-F238E27FC236}">
                <a16:creationId xmlns:a16="http://schemas.microsoft.com/office/drawing/2014/main" id="{4A14007B-D635-4F7E-B49A-1E1E5BFA29F0}"/>
              </a:ext>
            </a:extLst>
          </p:cNvPr>
          <p:cNvGraphicFramePr>
            <a:graphicFrameLocks noGrp="1"/>
          </p:cNvGraphicFramePr>
          <p:nvPr/>
        </p:nvGraphicFramePr>
        <p:xfrm>
          <a:off x="501652" y="1007938"/>
          <a:ext cx="5343978" cy="4011840"/>
        </p:xfrm>
        <a:graphic>
          <a:graphicData uri="http://schemas.openxmlformats.org/drawingml/2006/table">
            <a:tbl>
              <a:tblPr firstRow="1">
                <a:tableStyleId>{93296810-A885-4BE3-A3E7-6D5BEEA58F35}</a:tableStyleId>
              </a:tblPr>
              <a:tblGrid>
                <a:gridCol w="1575010">
                  <a:extLst>
                    <a:ext uri="{9D8B030D-6E8A-4147-A177-3AD203B41FA5}">
                      <a16:colId xmlns:a16="http://schemas.microsoft.com/office/drawing/2014/main" val="1561541596"/>
                    </a:ext>
                  </a:extLst>
                </a:gridCol>
                <a:gridCol w="1264925">
                  <a:extLst>
                    <a:ext uri="{9D8B030D-6E8A-4147-A177-3AD203B41FA5}">
                      <a16:colId xmlns:a16="http://schemas.microsoft.com/office/drawing/2014/main" val="2131173050"/>
                    </a:ext>
                  </a:extLst>
                </a:gridCol>
                <a:gridCol w="1260615">
                  <a:extLst>
                    <a:ext uri="{9D8B030D-6E8A-4147-A177-3AD203B41FA5}">
                      <a16:colId xmlns:a16="http://schemas.microsoft.com/office/drawing/2014/main" val="3967426838"/>
                    </a:ext>
                  </a:extLst>
                </a:gridCol>
                <a:gridCol w="1243428">
                  <a:extLst>
                    <a:ext uri="{9D8B030D-6E8A-4147-A177-3AD203B41FA5}">
                      <a16:colId xmlns:a16="http://schemas.microsoft.com/office/drawing/2014/main" val="4109259042"/>
                    </a:ext>
                  </a:extLst>
                </a:gridCol>
              </a:tblGrid>
              <a:tr h="574944">
                <a:tc>
                  <a:txBody>
                    <a:bodyPr/>
                    <a:lstStyle/>
                    <a:p>
                      <a:pPr algn="ctr"/>
                      <a:r>
                        <a:rPr lang="en-US" sz="1200" dirty="0">
                          <a:latin typeface="Verdana" panose="020B0604030504040204" pitchFamily="34" charset="0"/>
                          <a:ea typeface="Verdana" panose="020B0604030504040204" pitchFamily="34" charset="0"/>
                        </a:rPr>
                        <a:t>Order</a:t>
                      </a:r>
                    </a:p>
                  </a:txBody>
                  <a:tcPr marT="36000" marB="36000" anchor="ctr"/>
                </a:tc>
                <a:tc>
                  <a:txBody>
                    <a:bodyPr/>
                    <a:lstStyle/>
                    <a:p>
                      <a:pPr algn="ctr"/>
                      <a:r>
                        <a:rPr lang="en-US" sz="1200" dirty="0">
                          <a:latin typeface="Verdana" panose="020B0604030504040204" pitchFamily="34" charset="0"/>
                          <a:ea typeface="Verdana" panose="020B0604030504040204" pitchFamily="34" charset="0"/>
                        </a:rPr>
                        <a:t>Admitted Amount (Rs. Cr.)</a:t>
                      </a:r>
                    </a:p>
                  </a:txBody>
                  <a:tcPr marT="36000" marB="36000" anchor="ctr"/>
                </a:tc>
                <a:tc>
                  <a:txBody>
                    <a:bodyPr/>
                    <a:lstStyle/>
                    <a:p>
                      <a:pPr algn="ctr"/>
                      <a:r>
                        <a:rPr lang="en-US" sz="1200" dirty="0">
                          <a:latin typeface="Verdana" panose="020B0604030504040204" pitchFamily="34" charset="0"/>
                          <a:ea typeface="Verdana" panose="020B0604030504040204" pitchFamily="34" charset="0"/>
                        </a:rPr>
                        <a:t>Delay in release (days)</a:t>
                      </a:r>
                    </a:p>
                  </a:txBody>
                  <a:tcPr marT="36000" marB="36000" anchor="ctr"/>
                </a:tc>
                <a:tc>
                  <a:txBody>
                    <a:bodyPr/>
                    <a:lstStyle/>
                    <a:p>
                      <a:pPr algn="ctr"/>
                      <a:r>
                        <a:rPr lang="en-US" sz="1200" dirty="0">
                          <a:latin typeface="Verdana" panose="020B0604030504040204" pitchFamily="34" charset="0"/>
                          <a:ea typeface="Verdana" panose="020B0604030504040204" pitchFamily="34" charset="0"/>
                        </a:rPr>
                        <a:t>Carrying Cost (Rs. Cr.)</a:t>
                      </a:r>
                    </a:p>
                  </a:txBody>
                  <a:tcPr marT="36000" marB="36000" anchor="ctr"/>
                </a:tc>
                <a:extLst>
                  <a:ext uri="{0D108BD9-81ED-4DB2-BD59-A6C34878D82A}">
                    <a16:rowId xmlns:a16="http://schemas.microsoft.com/office/drawing/2014/main" val="576614479"/>
                  </a:ext>
                </a:extLst>
              </a:tr>
              <a:tr h="236114">
                <a:tc>
                  <a:txBody>
                    <a:bodyPr/>
                    <a:lstStyle/>
                    <a:p>
                      <a:r>
                        <a:rPr lang="en-US" sz="1200" dirty="0">
                          <a:latin typeface="Verdana" panose="020B0604030504040204" pitchFamily="34" charset="0"/>
                          <a:ea typeface="Verdana" panose="020B0604030504040204" pitchFamily="34" charset="0"/>
                        </a:rPr>
                        <a:t>FY 12 APR Review</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2.84</a:t>
                      </a:r>
                    </a:p>
                  </a:txBody>
                  <a:tcPr marT="36000" marB="36000">
                    <a:lnB w="12700" cap="flat" cmpd="sng" algn="ctr">
                      <a:solidFill>
                        <a:srgbClr val="DDEFE8"/>
                      </a:solidFill>
                      <a:prstDash val="solid"/>
                      <a:round/>
                      <a:headEnd type="none" w="med" len="med"/>
                      <a:tailEnd type="none" w="med" len="med"/>
                    </a:lnB>
                    <a:noFill/>
                  </a:tcPr>
                </a:tc>
                <a:tc>
                  <a:txBody>
                    <a:bodyPr/>
                    <a:lstStyle/>
                    <a:p>
                      <a:pPr algn="ctr"/>
                      <a:r>
                        <a:rPr lang="en-US" sz="1200" dirty="0">
                          <a:latin typeface="Verdana" panose="020B0604030504040204" pitchFamily="34" charset="0"/>
                          <a:ea typeface="Verdana" panose="020B0604030504040204" pitchFamily="34" charset="0"/>
                        </a:rPr>
                        <a:t>3284</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3.60</a:t>
                      </a:r>
                    </a:p>
                  </a:txBody>
                  <a:tcPr marT="36000" marB="36000">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639143282"/>
                  </a:ext>
                </a:extLst>
              </a:tr>
              <a:tr h="405529">
                <a:tc>
                  <a:txBody>
                    <a:bodyPr/>
                    <a:lstStyle/>
                    <a:p>
                      <a:r>
                        <a:rPr lang="en-US" sz="1200" dirty="0">
                          <a:latin typeface="Verdana" panose="020B0604030504040204" pitchFamily="34" charset="0"/>
                          <a:ea typeface="Verdana" panose="020B0604030504040204" pitchFamily="34" charset="0"/>
                        </a:rPr>
                        <a:t>FY 13 APR + Review</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1,997.31</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latin typeface="Verdana" panose="020B0604030504040204" pitchFamily="34" charset="0"/>
                          <a:ea typeface="Verdana" panose="020B0604030504040204" pitchFamily="34" charset="0"/>
                        </a:rPr>
                        <a:t>338 – 2922</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735.64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778118244"/>
                  </a:ext>
                </a:extLst>
              </a:tr>
              <a:tr h="236114">
                <a:tc rowSpan="2">
                  <a:txBody>
                    <a:bodyPr/>
                    <a:lstStyle/>
                    <a:p>
                      <a:r>
                        <a:rPr lang="en-US" sz="1200" dirty="0">
                          <a:latin typeface="Verdana" panose="020B0604030504040204" pitchFamily="34" charset="0"/>
                          <a:ea typeface="Verdana" panose="020B0604030504040204" pitchFamily="34" charset="0"/>
                        </a:rPr>
                        <a:t>FY 14 APR</a:t>
                      </a:r>
                    </a:p>
                  </a:txBody>
                  <a:tcPr marT="36000" marB="36000" anchor="ctr">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2,517.03</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latin typeface="Verdana" panose="020B0604030504040204" pitchFamily="34" charset="0"/>
                          <a:ea typeface="Verdana" panose="020B0604030504040204" pitchFamily="34" charset="0"/>
                        </a:rPr>
                        <a:t>2297 – 2554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2,316.73</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870085319"/>
                  </a:ext>
                </a:extLst>
              </a:tr>
              <a:tr h="405529">
                <a:tc vMerge="1">
                  <a:txBody>
                    <a:bodyPr/>
                    <a:lstStyle/>
                    <a:p>
                      <a:endParaRPr lang="en-US" sz="1200" dirty="0"/>
                    </a:p>
                  </a:txBody>
                  <a:tcPr/>
                </a:tc>
                <a:tc>
                  <a:txBody>
                    <a:bodyPr/>
                    <a:lstStyle/>
                    <a:p>
                      <a:pPr algn="r"/>
                      <a:r>
                        <a:rPr lang="en-US" sz="1200" dirty="0">
                          <a:solidFill>
                            <a:srgbClr val="C00000"/>
                          </a:solidFill>
                          <a:latin typeface="Verdana" panose="020B0604030504040204" pitchFamily="34" charset="0"/>
                          <a:ea typeface="Verdana" panose="020B0604030504040204" pitchFamily="34" charset="0"/>
                        </a:rPr>
                        <a:t>64.54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solidFill>
                            <a:srgbClr val="C00000"/>
                          </a:solidFill>
                          <a:latin typeface="Verdana" panose="020B0604030504040204" pitchFamily="34" charset="0"/>
                          <a:ea typeface="Verdana" panose="020B0604030504040204" pitchFamily="34" charset="0"/>
                        </a:rPr>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62.96</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668002785"/>
                  </a:ext>
                </a:extLst>
              </a:tr>
              <a:tr h="405529">
                <a:tc>
                  <a:txBody>
                    <a:bodyPr/>
                    <a:lstStyle/>
                    <a:p>
                      <a:r>
                        <a:rPr lang="en-US" sz="1200" dirty="0">
                          <a:latin typeface="Verdana" panose="020B0604030504040204" pitchFamily="34" charset="0"/>
                          <a:ea typeface="Verdana" panose="020B0604030504040204" pitchFamily="34" charset="0"/>
                        </a:rPr>
                        <a:t>FY 15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92.95</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latin typeface="Verdana" panose="020B0604030504040204" pitchFamily="34" charset="0"/>
                          <a:ea typeface="Verdana" panose="020B0604030504040204" pitchFamily="34" charset="0"/>
                        </a:rPr>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76.86</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2356904817"/>
                  </a:ext>
                </a:extLst>
              </a:tr>
              <a:tr h="405529">
                <a:tc>
                  <a:txBody>
                    <a:bodyPr/>
                    <a:lstStyle/>
                    <a:p>
                      <a:r>
                        <a:rPr lang="en-US" sz="1200" dirty="0">
                          <a:latin typeface="Verdana" panose="020B0604030504040204" pitchFamily="34" charset="0"/>
                          <a:ea typeface="Verdana" panose="020B0604030504040204" pitchFamily="34" charset="0"/>
                        </a:rPr>
                        <a:t>FY 16 &amp; FY 17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2,359.64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latin typeface="Verdana" panose="020B0604030504040204" pitchFamily="34" charset="0"/>
                          <a:ea typeface="Verdana" panose="020B0604030504040204" pitchFamily="34" charset="0"/>
                        </a:rPr>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1,507.71</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288507916"/>
                  </a:ext>
                </a:extLst>
              </a:tr>
              <a:tr h="405529">
                <a:tc rowSpan="2">
                  <a:txBody>
                    <a:bodyPr/>
                    <a:lstStyle/>
                    <a:p>
                      <a:r>
                        <a:rPr lang="en-US" sz="1200" dirty="0">
                          <a:latin typeface="Verdana" panose="020B0604030504040204" pitchFamily="34" charset="0"/>
                          <a:ea typeface="Verdana" panose="020B0604030504040204" pitchFamily="34" charset="0"/>
                        </a:rPr>
                        <a:t>FY 18 APR</a:t>
                      </a:r>
                    </a:p>
                  </a:txBody>
                  <a:tcPr marT="36000" marB="36000" anchor="ctr">
                    <a:lnT w="12700" cap="flat" cmpd="sng" algn="ctr">
                      <a:solidFill>
                        <a:srgbClr val="DDEFE8"/>
                      </a:solidFill>
                      <a:prstDash val="solid"/>
                      <a:round/>
                      <a:headEnd type="none" w="med" len="med"/>
                      <a:tailEnd type="none" w="med" len="med"/>
                    </a:lnT>
                    <a:noFill/>
                  </a:tcPr>
                </a:tc>
                <a:tc>
                  <a:txBody>
                    <a:bodyPr/>
                    <a:lstStyle/>
                    <a:p>
                      <a:pPr algn="r"/>
                      <a:r>
                        <a:rPr lang="en-US" sz="1200" dirty="0">
                          <a:latin typeface="Verdana" panose="020B0604030504040204" pitchFamily="34" charset="0"/>
                          <a:ea typeface="Verdana" panose="020B0604030504040204" pitchFamily="34" charset="0"/>
                        </a:rPr>
                        <a:t>509.29</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latin typeface="Verdana" panose="020B0604030504040204" pitchFamily="34" charset="0"/>
                          <a:ea typeface="Verdana" panose="020B0604030504040204" pitchFamily="34" charset="0"/>
                        </a:rPr>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latin typeface="Verdana" panose="020B0604030504040204" pitchFamily="34" charset="0"/>
                          <a:ea typeface="Verdana" panose="020B0604030504040204" pitchFamily="34" charset="0"/>
                        </a:rPr>
                        <a:t>203.94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601188082"/>
                  </a:ext>
                </a:extLst>
              </a:tr>
              <a:tr h="405529">
                <a:tc vMerge="1">
                  <a:txBody>
                    <a:bodyPr/>
                    <a:lstStyle/>
                    <a:p>
                      <a:endParaRPr lang="en-US" sz="1200" dirty="0"/>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solidFill>
                            <a:srgbClr val="C00000"/>
                          </a:solidFill>
                          <a:latin typeface="Verdana" panose="020B0604030504040204" pitchFamily="34" charset="0"/>
                          <a:ea typeface="Verdana" panose="020B0604030504040204" pitchFamily="34" charset="0"/>
                        </a:rPr>
                        <a:t>61.83</a:t>
                      </a:r>
                    </a:p>
                  </a:txBody>
                  <a:tcPr marT="36000" marB="36000">
                    <a:lnT w="12700" cap="flat" cmpd="sng" algn="ctr">
                      <a:solidFill>
                        <a:srgbClr val="DDEFE8"/>
                      </a:solidFill>
                      <a:prstDash val="solid"/>
                      <a:round/>
                      <a:headEnd type="none" w="med" len="med"/>
                      <a:tailEnd type="none" w="med" len="med"/>
                    </a:lnT>
                    <a:no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Verdana" panose="020B0604030504040204" pitchFamily="34" charset="0"/>
                          <a:ea typeface="Verdana" panose="020B0604030504040204" pitchFamily="34" charset="0"/>
                        </a:rPr>
                        <a:t>Not yet released</a:t>
                      </a:r>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latin typeface="Verdana" panose="020B0604030504040204" pitchFamily="34" charset="0"/>
                          <a:ea typeface="Verdana" panose="020B0604030504040204" pitchFamily="34" charset="0"/>
                        </a:rPr>
                        <a:t>24.83</a:t>
                      </a:r>
                    </a:p>
                  </a:txBody>
                  <a:tcPr marT="36000" marB="36000">
                    <a:lnT w="12700" cap="flat" cmpd="sng" algn="ctr">
                      <a:solidFill>
                        <a:srgbClr val="DDEFE8"/>
                      </a:solidFill>
                      <a:prstDash val="solid"/>
                      <a:round/>
                      <a:headEnd type="none" w="med" len="med"/>
                      <a:tailEnd type="none" w="med" len="med"/>
                    </a:lnT>
                    <a:noFill/>
                  </a:tcPr>
                </a:tc>
                <a:extLst>
                  <a:ext uri="{0D108BD9-81ED-4DB2-BD59-A6C34878D82A}">
                    <a16:rowId xmlns:a16="http://schemas.microsoft.com/office/drawing/2014/main" val="2132341673"/>
                  </a:ext>
                </a:extLst>
              </a:tr>
              <a:tr h="236114">
                <a:tc>
                  <a:txBody>
                    <a:bodyPr/>
                    <a:lstStyle/>
                    <a:p>
                      <a:r>
                        <a:rPr lang="en-US" sz="1200" b="1" dirty="0">
                          <a:latin typeface="Verdana" panose="020B0604030504040204" pitchFamily="34" charset="0"/>
                          <a:ea typeface="Verdana" panose="020B0604030504040204" pitchFamily="34" charset="0"/>
                        </a:rPr>
                        <a:t>Total</a:t>
                      </a:r>
                    </a:p>
                  </a:txBody>
                  <a:tcPr marT="36000" marB="36000"/>
                </a:tc>
                <a:tc>
                  <a:txBody>
                    <a:bodyPr/>
                    <a:lstStyle/>
                    <a:p>
                      <a:pPr algn="r"/>
                      <a:endParaRPr lang="en-US" sz="1200" b="1" dirty="0">
                        <a:latin typeface="Verdana" panose="020B0604030504040204" pitchFamily="34" charset="0"/>
                        <a:ea typeface="Verdana" panose="020B0604030504040204" pitchFamily="34" charset="0"/>
                      </a:endParaRPr>
                    </a:p>
                  </a:txBody>
                  <a:tcPr marT="36000" marB="36000"/>
                </a:tc>
                <a:tc>
                  <a:txBody>
                    <a:bodyPr/>
                    <a:lstStyle/>
                    <a:p>
                      <a:pPr algn="ctr"/>
                      <a:endParaRPr lang="en-US" sz="1200" b="1" dirty="0">
                        <a:latin typeface="Verdana" panose="020B0604030504040204" pitchFamily="34" charset="0"/>
                        <a:ea typeface="Verdana" panose="020B0604030504040204" pitchFamily="34" charset="0"/>
                      </a:endParaRPr>
                    </a:p>
                  </a:txBody>
                  <a:tcPr marT="36000" marB="36000"/>
                </a:tc>
                <a:tc>
                  <a:txBody>
                    <a:bodyPr/>
                    <a:lstStyle/>
                    <a:p>
                      <a:pPr algn="r"/>
                      <a:r>
                        <a:rPr lang="en-US" sz="1200" b="1" dirty="0">
                          <a:latin typeface="Verdana" panose="020B0604030504040204" pitchFamily="34" charset="0"/>
                          <a:ea typeface="Verdana" panose="020B0604030504040204" pitchFamily="34" charset="0"/>
                        </a:rPr>
                        <a:t>4,932.27</a:t>
                      </a:r>
                    </a:p>
                  </a:txBody>
                  <a:tcPr marT="36000" marB="36000"/>
                </a:tc>
                <a:extLst>
                  <a:ext uri="{0D108BD9-81ED-4DB2-BD59-A6C34878D82A}">
                    <a16:rowId xmlns:a16="http://schemas.microsoft.com/office/drawing/2014/main" val="184854788"/>
                  </a:ext>
                </a:extLst>
              </a:tr>
            </a:tbl>
          </a:graphicData>
        </a:graphic>
      </p:graphicFrame>
      <p:grpSp>
        <p:nvGrpSpPr>
          <p:cNvPr id="21" name="Group 20">
            <a:extLst>
              <a:ext uri="{FF2B5EF4-FFF2-40B4-BE49-F238E27FC236}">
                <a16:creationId xmlns:a16="http://schemas.microsoft.com/office/drawing/2014/main" id="{90642DD2-918A-4A06-8854-209804542450}"/>
              </a:ext>
            </a:extLst>
          </p:cNvPr>
          <p:cNvGrpSpPr/>
          <p:nvPr/>
        </p:nvGrpSpPr>
        <p:grpSpPr>
          <a:xfrm>
            <a:off x="6221639" y="1007938"/>
            <a:ext cx="5202462" cy="4011840"/>
            <a:chOff x="6478571" y="3652705"/>
            <a:chExt cx="5202462" cy="2171890"/>
          </a:xfrm>
        </p:grpSpPr>
        <mc:AlternateContent xmlns:mc="http://schemas.openxmlformats.org/markup-compatibility/2006" xmlns:cx1="http://schemas.microsoft.com/office/drawing/2015/9/8/chartex">
          <mc:Choice Requires="cx1">
            <p:graphicFrame>
              <p:nvGraphicFramePr>
                <p:cNvPr id="22" name="Chart 21">
                  <a:extLst>
                    <a:ext uri="{FF2B5EF4-FFF2-40B4-BE49-F238E27FC236}">
                      <a16:creationId xmlns:a16="http://schemas.microsoft.com/office/drawing/2014/main" id="{CE78D4D8-36A2-4A85-9F6E-BB35100E9E29}"/>
                    </a:ext>
                  </a:extLst>
                </p:cNvPr>
                <p:cNvGraphicFramePr/>
                <p:nvPr/>
              </p:nvGraphicFramePr>
              <p:xfrm>
                <a:off x="6715046" y="4016830"/>
                <a:ext cx="4883862" cy="1620000"/>
              </p:xfrm>
              <a:graphic>
                <a:graphicData uri="http://schemas.microsoft.com/office/drawing/2014/chartex">
                  <cx:chart xmlns:cx="http://schemas.microsoft.com/office/drawing/2014/chartex" xmlns:r="http://schemas.openxmlformats.org/officeDocument/2006/relationships" r:id="rId6"/>
                </a:graphicData>
              </a:graphic>
            </p:graphicFrame>
          </mc:Choice>
          <mc:Fallback xmlns="">
            <p:pic>
              <p:nvPicPr>
                <p:cNvPr id="22" name="Chart 21">
                  <a:extLst>
                    <a:ext uri="{FF2B5EF4-FFF2-40B4-BE49-F238E27FC236}">
                      <a16:creationId xmlns:a16="http://schemas.microsoft.com/office/drawing/2014/main" id="{CE78D4D8-36A2-4A85-9F6E-BB35100E9E29}"/>
                    </a:ext>
                  </a:extLst>
                </p:cNvPr>
                <p:cNvPicPr>
                  <a:picLocks noGrp="1" noRot="1" noChangeAspect="1" noMove="1" noResize="1" noEditPoints="1" noAdjustHandles="1" noChangeArrowheads="1" noChangeShapeType="1"/>
                </p:cNvPicPr>
                <p:nvPr/>
              </p:nvPicPr>
              <p:blipFill>
                <a:blip r:embed="rId8"/>
                <a:stretch>
                  <a:fillRect/>
                </a:stretch>
              </p:blipFill>
              <p:spPr>
                <a:xfrm>
                  <a:off x="6458114" y="1680537"/>
                  <a:ext cx="4883862" cy="2992408"/>
                </a:xfrm>
                <a:prstGeom prst="rect">
                  <a:avLst/>
                </a:prstGeom>
              </p:spPr>
            </p:pic>
          </mc:Fallback>
        </mc:AlternateContent>
        <p:sp>
          <p:nvSpPr>
            <p:cNvPr id="23" name="TextBox 22">
              <a:extLst>
                <a:ext uri="{FF2B5EF4-FFF2-40B4-BE49-F238E27FC236}">
                  <a16:creationId xmlns:a16="http://schemas.microsoft.com/office/drawing/2014/main" id="{E7471F46-236C-4551-9A98-AC8AD919C9BC}"/>
                </a:ext>
              </a:extLst>
            </p:cNvPr>
            <p:cNvSpPr txBox="1"/>
            <p:nvPr/>
          </p:nvSpPr>
          <p:spPr>
            <a:xfrm>
              <a:off x="6478571" y="3652705"/>
              <a:ext cx="5202462" cy="280666"/>
            </a:xfrm>
            <a:prstGeom prst="rect">
              <a:avLst/>
            </a:prstGeom>
            <a:noFill/>
          </p:spPr>
          <p:txBody>
            <a:bodyPr wrap="square" lIns="0" tIns="0" rIns="0" bIns="0" rtlCol="0">
              <a:spAutoFit/>
            </a:bodyPr>
            <a:lstStyle/>
            <a:p>
              <a:pPr algn="ctr">
                <a:spcBef>
                  <a:spcPts val="600"/>
                </a:spcBef>
                <a:buSzPct val="100000"/>
              </a:pPr>
              <a:r>
                <a:rPr lang="en-US" sz="1400" b="1" dirty="0">
                  <a:latin typeface="Verdana" panose="020B0604030504040204" pitchFamily="34" charset="0"/>
                  <a:ea typeface="Verdana" panose="020B0604030504040204" pitchFamily="34" charset="0"/>
                  <a:cs typeface="Vani" panose="02040502050405020303" pitchFamily="18" charset="0"/>
                </a:rPr>
                <a:t>Claims of WBSEDCL for pending APR and FPPCA Orders (Rs. Cr.) – status as on 31.03.2022</a:t>
              </a:r>
            </a:p>
          </p:txBody>
        </p:sp>
        <p:sp>
          <p:nvSpPr>
            <p:cNvPr id="24" name="TextBox 23">
              <a:extLst>
                <a:ext uri="{FF2B5EF4-FFF2-40B4-BE49-F238E27FC236}">
                  <a16:creationId xmlns:a16="http://schemas.microsoft.com/office/drawing/2014/main" id="{31187DF7-49CA-4ECA-B964-5B987FBFA8BD}"/>
                </a:ext>
              </a:extLst>
            </p:cNvPr>
            <p:cNvSpPr txBox="1"/>
            <p:nvPr/>
          </p:nvSpPr>
          <p:spPr>
            <a:xfrm>
              <a:off x="8927936" y="5584023"/>
              <a:ext cx="459058" cy="240571"/>
            </a:xfrm>
            <a:prstGeom prst="rect">
              <a:avLst/>
            </a:prstGeom>
            <a:noFill/>
          </p:spPr>
          <p:txBody>
            <a:bodyPr wrap="square" lIns="0" tIns="0" rIns="0" bIns="0" rtlCol="0" anchor="ctr" anchorCtr="0">
              <a:spAutoFit/>
            </a:bodyPr>
            <a:lstStyle/>
            <a:p>
              <a:pPr algn="ctr">
                <a:spcBef>
                  <a:spcPts val="600"/>
                </a:spcBef>
                <a:buSzPct val="100000"/>
              </a:pPr>
              <a:r>
                <a:rPr lang="en-US" sz="1200" dirty="0">
                  <a:latin typeface="Verdana" panose="020B0604030504040204" pitchFamily="34" charset="0"/>
                  <a:ea typeface="Verdana" panose="020B0604030504040204" pitchFamily="34" charset="0"/>
                  <a:cs typeface="Vani" panose="02040502050405020303" pitchFamily="18" charset="0"/>
                </a:rPr>
                <a:t>Total Claim</a:t>
              </a:r>
            </a:p>
          </p:txBody>
        </p:sp>
        <p:sp>
          <p:nvSpPr>
            <p:cNvPr id="25" name="TextBox 24">
              <a:extLst>
                <a:ext uri="{FF2B5EF4-FFF2-40B4-BE49-F238E27FC236}">
                  <a16:creationId xmlns:a16="http://schemas.microsoft.com/office/drawing/2014/main" id="{6BB8DD86-6C9C-4C07-A404-004A58EC4A42}"/>
                </a:ext>
              </a:extLst>
            </p:cNvPr>
            <p:cNvSpPr txBox="1"/>
            <p:nvPr/>
          </p:nvSpPr>
          <p:spPr>
            <a:xfrm>
              <a:off x="9761942" y="5584024"/>
              <a:ext cx="672107" cy="240571"/>
            </a:xfrm>
            <a:prstGeom prst="rect">
              <a:avLst/>
            </a:prstGeom>
            <a:noFill/>
          </p:spPr>
          <p:txBody>
            <a:bodyPr wrap="square" lIns="0" tIns="0" rIns="0" bIns="0" rtlCol="0" anchor="ctr" anchorCtr="0">
              <a:spAutoFit/>
            </a:bodyPr>
            <a:lstStyle/>
            <a:p>
              <a:pPr algn="ctr">
                <a:spcBef>
                  <a:spcPts val="600"/>
                </a:spcBef>
                <a:buSzPct val="100000"/>
              </a:pPr>
              <a:r>
                <a:rPr lang="en-US" sz="1200" dirty="0">
                  <a:latin typeface="Verdana" panose="020B0604030504040204" pitchFamily="34" charset="0"/>
                  <a:ea typeface="Verdana" panose="020B0604030504040204" pitchFamily="34" charset="0"/>
                  <a:cs typeface="Vani" panose="02040502050405020303" pitchFamily="18" charset="0"/>
                </a:rPr>
                <a:t>Carrying Cost</a:t>
              </a:r>
            </a:p>
          </p:txBody>
        </p:sp>
        <p:sp>
          <p:nvSpPr>
            <p:cNvPr id="26" name="TextBox 25">
              <a:extLst>
                <a:ext uri="{FF2B5EF4-FFF2-40B4-BE49-F238E27FC236}">
                  <a16:creationId xmlns:a16="http://schemas.microsoft.com/office/drawing/2014/main" id="{0BCFA2C6-16A4-4F5C-B39F-CB9CF3F18985}"/>
                </a:ext>
              </a:extLst>
            </p:cNvPr>
            <p:cNvSpPr txBox="1"/>
            <p:nvPr/>
          </p:nvSpPr>
          <p:spPr>
            <a:xfrm>
              <a:off x="10797653" y="5584024"/>
              <a:ext cx="504964" cy="240571"/>
            </a:xfrm>
            <a:prstGeom prst="rect">
              <a:avLst/>
            </a:prstGeom>
            <a:noFill/>
          </p:spPr>
          <p:txBody>
            <a:bodyPr wrap="square" lIns="0" tIns="0" rIns="0" bIns="0" rtlCol="0" anchor="ctr" anchorCtr="0">
              <a:spAutoFit/>
            </a:bodyPr>
            <a:lstStyle/>
            <a:p>
              <a:pPr algn="ctr">
                <a:spcBef>
                  <a:spcPts val="600"/>
                </a:spcBef>
                <a:buSzPct val="100000"/>
              </a:pPr>
              <a:r>
                <a:rPr lang="en-US" sz="1200" dirty="0">
                  <a:latin typeface="Verdana" panose="020B0604030504040204" pitchFamily="34" charset="0"/>
                  <a:ea typeface="Verdana" panose="020B0604030504040204" pitchFamily="34" charset="0"/>
                  <a:cs typeface="Vani" panose="02040502050405020303" pitchFamily="18" charset="0"/>
                </a:rPr>
                <a:t>Grand Total</a:t>
              </a:r>
            </a:p>
          </p:txBody>
        </p:sp>
        <p:sp>
          <p:nvSpPr>
            <p:cNvPr id="27" name="TextBox 26">
              <a:extLst>
                <a:ext uri="{FF2B5EF4-FFF2-40B4-BE49-F238E27FC236}">
                  <a16:creationId xmlns:a16="http://schemas.microsoft.com/office/drawing/2014/main" id="{F5C1A095-B4F8-4B66-B53F-2B62CB820205}"/>
                </a:ext>
              </a:extLst>
            </p:cNvPr>
            <p:cNvSpPr txBox="1"/>
            <p:nvPr/>
          </p:nvSpPr>
          <p:spPr>
            <a:xfrm>
              <a:off x="7040571" y="5546189"/>
              <a:ext cx="459058" cy="120285"/>
            </a:xfrm>
            <a:prstGeom prst="rect">
              <a:avLst/>
            </a:prstGeom>
            <a:noFill/>
          </p:spPr>
          <p:txBody>
            <a:bodyPr wrap="square" lIns="0" tIns="0" rIns="0" bIns="0" rtlCol="0" anchor="ctr" anchorCtr="0">
              <a:spAutoFit/>
            </a:bodyPr>
            <a:lstStyle/>
            <a:p>
              <a:pPr algn="ctr">
                <a:spcBef>
                  <a:spcPts val="600"/>
                </a:spcBef>
                <a:buSzPct val="100000"/>
              </a:pPr>
              <a:r>
                <a:rPr lang="en-US" sz="1200" dirty="0">
                  <a:latin typeface="Verdana" panose="020B0604030504040204" pitchFamily="34" charset="0"/>
                  <a:ea typeface="Verdana" panose="020B0604030504040204" pitchFamily="34" charset="0"/>
                  <a:cs typeface="Vani" panose="02040502050405020303" pitchFamily="18" charset="0"/>
                </a:rPr>
                <a:t>FY19</a:t>
              </a:r>
            </a:p>
          </p:txBody>
        </p:sp>
        <p:sp>
          <p:nvSpPr>
            <p:cNvPr id="28" name="TextBox 27">
              <a:extLst>
                <a:ext uri="{FF2B5EF4-FFF2-40B4-BE49-F238E27FC236}">
                  <a16:creationId xmlns:a16="http://schemas.microsoft.com/office/drawing/2014/main" id="{AE620BDE-663C-465A-80CF-71972C44F6F8}"/>
                </a:ext>
              </a:extLst>
            </p:cNvPr>
            <p:cNvSpPr txBox="1"/>
            <p:nvPr/>
          </p:nvSpPr>
          <p:spPr>
            <a:xfrm>
              <a:off x="7981821" y="5546189"/>
              <a:ext cx="459058" cy="120285"/>
            </a:xfrm>
            <a:prstGeom prst="rect">
              <a:avLst/>
            </a:prstGeom>
            <a:noFill/>
          </p:spPr>
          <p:txBody>
            <a:bodyPr wrap="square" lIns="0" tIns="0" rIns="0" bIns="0" rtlCol="0" anchor="ctr" anchorCtr="0">
              <a:spAutoFit/>
            </a:bodyPr>
            <a:lstStyle/>
            <a:p>
              <a:pPr algn="ctr">
                <a:spcBef>
                  <a:spcPts val="600"/>
                </a:spcBef>
                <a:buSzPct val="100000"/>
              </a:pPr>
              <a:r>
                <a:rPr lang="en-US" sz="1200" dirty="0">
                  <a:latin typeface="Verdana" panose="020B0604030504040204" pitchFamily="34" charset="0"/>
                  <a:ea typeface="Verdana" panose="020B0604030504040204" pitchFamily="34" charset="0"/>
                  <a:cs typeface="Vani" panose="02040502050405020303" pitchFamily="18" charset="0"/>
                </a:rPr>
                <a:t>FY20</a:t>
              </a:r>
            </a:p>
          </p:txBody>
        </p:sp>
      </p:grpSp>
      <p:sp>
        <p:nvSpPr>
          <p:cNvPr id="30" name="TextBox 29">
            <a:extLst>
              <a:ext uri="{FF2B5EF4-FFF2-40B4-BE49-F238E27FC236}">
                <a16:creationId xmlns:a16="http://schemas.microsoft.com/office/drawing/2014/main" id="{3B85153F-EEEC-42B9-9F2A-FDD91C3B3844}"/>
              </a:ext>
            </a:extLst>
          </p:cNvPr>
          <p:cNvSpPr txBox="1"/>
          <p:nvPr/>
        </p:nvSpPr>
        <p:spPr>
          <a:xfrm>
            <a:off x="501651" y="5631942"/>
            <a:ext cx="11037204" cy="682682"/>
          </a:xfrm>
          <a:prstGeom prst="rect">
            <a:avLst/>
          </a:prstGeom>
          <a:solidFill>
            <a:schemeClr val="bg1">
              <a:lumMod val="95000"/>
            </a:schemeClr>
          </a:solidFill>
        </p:spPr>
        <p:txBody>
          <a:bodyPr wrap="square" lIns="72000" tIns="18000" rIns="0" bIns="18000" rtlCol="0">
            <a:spAutoFit/>
          </a:bodyPr>
          <a:lstStyle/>
          <a:p>
            <a:pPr algn="just">
              <a:spcBef>
                <a:spcPts val="600"/>
              </a:spcBef>
              <a:buSzPct val="100000"/>
            </a:pPr>
            <a:r>
              <a:rPr lang="en-US" sz="1400" b="1" i="1" dirty="0">
                <a:latin typeface="Verdana" panose="020B0604030504040204" pitchFamily="34" charset="0"/>
                <a:ea typeface="Verdana" panose="020B0604030504040204" pitchFamily="34" charset="0"/>
              </a:rPr>
              <a:t>Note:</a:t>
            </a:r>
            <a:r>
              <a:rPr lang="en-US" sz="1400" i="1" dirty="0">
                <a:latin typeface="Verdana" panose="020B0604030504040204" pitchFamily="34" charset="0"/>
                <a:ea typeface="Verdana" panose="020B0604030504040204" pitchFamily="34" charset="0"/>
              </a:rPr>
              <a:t> Carrying costs have been computed on simple interest basis; SBI PLRs as on the 1</a:t>
            </a:r>
            <a:r>
              <a:rPr lang="en-US" sz="1400" i="1" baseline="30000" dirty="0">
                <a:latin typeface="Verdana" panose="020B0604030504040204" pitchFamily="34" charset="0"/>
                <a:ea typeface="Verdana" panose="020B0604030504040204" pitchFamily="34" charset="0"/>
              </a:rPr>
              <a:t>st</a:t>
            </a:r>
            <a:r>
              <a:rPr lang="en-US" sz="1400" i="1" dirty="0">
                <a:latin typeface="Verdana" panose="020B0604030504040204" pitchFamily="34" charset="0"/>
                <a:ea typeface="Verdana" panose="020B0604030504040204" pitchFamily="34" charset="0"/>
              </a:rPr>
              <a:t> April of the preceding years have been considered as interest rates as per WBERC Tariff Regulations; Carrying costs have been computed till 31.03.2022; For unreleased amounts, carrying costs have been computed till 31.03.2022</a:t>
            </a:r>
            <a:endParaRPr lang="en-US" sz="1400" i="1" dirty="0">
              <a:solidFill>
                <a:srgbClr val="C00000"/>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06271574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rcRect/>
          <a:stretch>
            <a:fillRect/>
          </a:stretch>
        </p:blipFill>
        <p:spPr>
          <a:xfrm>
            <a:off x="5583731" y="1504300"/>
            <a:ext cx="5537835" cy="4119522"/>
          </a:xfrm>
        </p:spPr>
      </p:pic>
      <p:sp>
        <p:nvSpPr>
          <p:cNvPr id="4" name="Rectangle 3"/>
          <p:cNvSpPr/>
          <p:nvPr/>
        </p:nvSpPr>
        <p:spPr>
          <a:xfrm>
            <a:off x="381000" y="1432572"/>
            <a:ext cx="5405873" cy="4178195"/>
          </a:xfrm>
          <a:prstGeom prst="rect">
            <a:avLst/>
          </a:prstGeom>
        </p:spPr>
        <p:txBody>
          <a:bodyPr wrap="square">
            <a:spAutoFit/>
          </a:bodyPr>
          <a:lstStyle/>
          <a:p>
            <a:pPr defTabSz="885948">
              <a:spcAft>
                <a:spcPts val="522"/>
              </a:spcAft>
              <a:buClr>
                <a:srgbClr val="000000"/>
              </a:buClr>
              <a:buSzPct val="80000"/>
            </a:pPr>
            <a:r>
              <a:rPr lang="en-US" sz="957" noProof="1">
                <a:solidFill>
                  <a:srgbClr val="000000"/>
                </a:solidFill>
                <a:latin typeface="Verdana"/>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885948">
              <a:spcAft>
                <a:spcPts val="522"/>
              </a:spcAft>
              <a:buClr>
                <a:srgbClr val="000000"/>
              </a:buClr>
              <a:buSzPct val="80000"/>
            </a:pPr>
            <a:r>
              <a:rPr lang="en-US" sz="957" noProof="1">
                <a:solidFill>
                  <a:srgbClr val="000000"/>
                </a:solidFill>
                <a:latin typeface="Verdana"/>
              </a:rPr>
              <a:t>This material has been prepared by Deloitte Touche Tohmatsu India LLP (“DTTILLP”), a member of Deloitte Touche Tohmatsu Limited, on a specific request from you and contains proprietary and confidential information. This material may contain information sourced from publicly issued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885948">
              <a:spcAft>
                <a:spcPts val="522"/>
              </a:spcAft>
              <a:buClr>
                <a:srgbClr val="000000"/>
              </a:buClr>
              <a:buSzPct val="80000"/>
            </a:pPr>
            <a:r>
              <a:rPr lang="en-US" sz="957" noProof="1">
                <a:solidFill>
                  <a:srgbClr val="000000"/>
                </a:solidFill>
                <a:latin typeface="Verdana"/>
              </a:rPr>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885948">
              <a:spcAft>
                <a:spcPts val="522"/>
              </a:spcAft>
              <a:buClr>
                <a:srgbClr val="000000"/>
              </a:buClr>
              <a:buSzPct val="80000"/>
            </a:pPr>
            <a:r>
              <a:rPr lang="en-US" sz="957" noProof="1">
                <a:solidFill>
                  <a:srgbClr val="000000"/>
                </a:solidFill>
                <a:latin typeface="Verdana"/>
              </a:rPr>
              <a:t>©2022 Deloitte Touche Tohmatsu India LLP. Member of Deloitte Touche Tohmatsu Limited</a:t>
            </a:r>
          </a:p>
          <a:p>
            <a:pPr defTabSz="885948">
              <a:spcAft>
                <a:spcPts val="522"/>
              </a:spcAft>
              <a:buClr>
                <a:srgbClr val="000000"/>
              </a:buClr>
              <a:buSzPct val="80000"/>
            </a:pPr>
            <a:r>
              <a:rPr lang="en-US" sz="957" noProof="1">
                <a:solidFill>
                  <a:srgbClr val="000000"/>
                </a:solidFill>
                <a:latin typeface="Verdana"/>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237869376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217F180-DEE3-46BD-967F-31F51FBB7EF8}"/>
              </a:ext>
            </a:extLst>
          </p:cNvPr>
          <p:cNvSpPr>
            <a:spLocks noGrp="1"/>
          </p:cNvSpPr>
          <p:nvPr>
            <p:ph type="title"/>
          </p:nvPr>
        </p:nvSpPr>
        <p:spPr/>
        <p:txBody>
          <a:bodyPr/>
          <a:lstStyle/>
          <a:p>
            <a:r>
              <a:rPr lang="en-US" dirty="0"/>
              <a:t>Annexures</a:t>
            </a:r>
          </a:p>
        </p:txBody>
      </p:sp>
    </p:spTree>
    <p:extLst>
      <p:ext uri="{BB962C8B-B14F-4D97-AF65-F5344CB8AC3E}">
        <p14:creationId xmlns:p14="http://schemas.microsoft.com/office/powerpoint/2010/main" val="2959377783"/>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Accumulation of Regulatory Assets and existing loan burdens </a:t>
            </a:r>
          </a:p>
        </p:txBody>
      </p:sp>
    </p:spTree>
    <p:extLst>
      <p:ext uri="{BB962C8B-B14F-4D97-AF65-F5344CB8AC3E}">
        <p14:creationId xmlns:p14="http://schemas.microsoft.com/office/powerpoint/2010/main" val="2104387874"/>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AF585C9-529C-46FB-85B7-5D5114718AE6}"/>
              </a:ext>
            </a:extLst>
          </p:cNvPr>
          <p:cNvSpPr>
            <a:spLocks noGrp="1"/>
          </p:cNvSpPr>
          <p:nvPr>
            <p:ph type="title"/>
          </p:nvPr>
        </p:nvSpPr>
        <p:spPr>
          <a:xfrm>
            <a:off x="501650" y="291191"/>
            <a:ext cx="11188700" cy="368299"/>
          </a:xfrm>
        </p:spPr>
        <p:txBody>
          <a:bodyPr vert="horz"/>
          <a:lstStyle/>
          <a:p>
            <a:pPr algn="just"/>
            <a:r>
              <a:rPr lang="en-US" sz="1800" b="1" dirty="0">
                <a:latin typeface="Verdana" panose="020B0604030504040204" pitchFamily="34" charset="0"/>
                <a:ea typeface="Verdana" panose="020B0604030504040204" pitchFamily="34" charset="0"/>
              </a:rPr>
              <a:t>Delay in issuance of Tariff orders and long-pending APR/FPPCA orders have led to accumulation of Regulatory Assets and Working Capital loan burden</a:t>
            </a:r>
            <a:endParaRPr lang="en-US" sz="1800" b="1" i="0" dirty="0">
              <a:solidFill>
                <a:schemeClr val="tx1"/>
              </a:solidFill>
              <a:latin typeface="Verdana" panose="020B0604030504040204" pitchFamily="34" charset="0"/>
              <a:ea typeface="Verdana" panose="020B0604030504040204" pitchFamily="34" charset="0"/>
            </a:endParaRPr>
          </a:p>
        </p:txBody>
      </p:sp>
      <p:graphicFrame>
        <p:nvGraphicFramePr>
          <p:cNvPr id="3" name="Chart 2">
            <a:extLst>
              <a:ext uri="{FF2B5EF4-FFF2-40B4-BE49-F238E27FC236}">
                <a16:creationId xmlns:a16="http://schemas.microsoft.com/office/drawing/2014/main" id="{98FBE6AA-B6FF-4F1C-AFB0-DD4F8A04F2BF}"/>
              </a:ext>
            </a:extLst>
          </p:cNvPr>
          <p:cNvGraphicFramePr/>
          <p:nvPr/>
        </p:nvGraphicFramePr>
        <p:xfrm>
          <a:off x="501650" y="1366954"/>
          <a:ext cx="5387525" cy="260168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3D2570DC-C892-4437-A30D-202A45E224D7}"/>
              </a:ext>
            </a:extLst>
          </p:cNvPr>
          <p:cNvSpPr txBox="1"/>
          <p:nvPr/>
        </p:nvSpPr>
        <p:spPr>
          <a:xfrm>
            <a:off x="6966855" y="1752596"/>
            <a:ext cx="4843236" cy="430887"/>
          </a:xfrm>
          <a:prstGeom prst="rect">
            <a:avLst/>
          </a:prstGeom>
          <a:noFill/>
          <a:ln>
            <a:noFill/>
            <a:prstDash val="dash"/>
          </a:ln>
        </p:spPr>
        <p:txBody>
          <a:bodyPr wrap="square" lIns="18000" tIns="0" rIns="1800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For WBPDCL and DPL, no APR / FCA orders issued from FY 15 onwards</a:t>
            </a:r>
          </a:p>
        </p:txBody>
      </p:sp>
      <p:sp>
        <p:nvSpPr>
          <p:cNvPr id="5" name="TextBox 4">
            <a:extLst>
              <a:ext uri="{FF2B5EF4-FFF2-40B4-BE49-F238E27FC236}">
                <a16:creationId xmlns:a16="http://schemas.microsoft.com/office/drawing/2014/main" id="{6B9A71CE-6B77-49A1-A067-AE7404A5A32D}"/>
              </a:ext>
            </a:extLst>
          </p:cNvPr>
          <p:cNvSpPr txBox="1"/>
          <p:nvPr/>
        </p:nvSpPr>
        <p:spPr>
          <a:xfrm>
            <a:off x="6966855" y="2459774"/>
            <a:ext cx="4843236" cy="430887"/>
          </a:xfrm>
          <a:prstGeom prst="rect">
            <a:avLst/>
          </a:prstGeom>
          <a:noFill/>
          <a:ln>
            <a:noFill/>
            <a:prstDash val="dash"/>
          </a:ln>
        </p:spPr>
        <p:txBody>
          <a:bodyPr wrap="square" lIns="18000" tIns="0" rIns="1800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For WBSETCL, no APR orders issued from FY 16 onwards</a:t>
            </a:r>
          </a:p>
        </p:txBody>
      </p:sp>
      <p:sp>
        <p:nvSpPr>
          <p:cNvPr id="6" name="TextBox 5">
            <a:extLst>
              <a:ext uri="{FF2B5EF4-FFF2-40B4-BE49-F238E27FC236}">
                <a16:creationId xmlns:a16="http://schemas.microsoft.com/office/drawing/2014/main" id="{CBA59231-38F5-4E90-B12B-7B62E72E3CC1}"/>
              </a:ext>
            </a:extLst>
          </p:cNvPr>
          <p:cNvSpPr txBox="1"/>
          <p:nvPr/>
        </p:nvSpPr>
        <p:spPr>
          <a:xfrm>
            <a:off x="6965518" y="3166952"/>
            <a:ext cx="4843236" cy="430887"/>
          </a:xfrm>
          <a:prstGeom prst="rect">
            <a:avLst/>
          </a:prstGeom>
          <a:noFill/>
          <a:ln>
            <a:noFill/>
            <a:prstDash val="dash"/>
          </a:ln>
        </p:spPr>
        <p:txBody>
          <a:bodyPr wrap="square" lIns="18000" tIns="0" rIns="1800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For WBSEDCL, no APR / FPPCA orders issued from FY 19 onwards</a:t>
            </a:r>
          </a:p>
        </p:txBody>
      </p:sp>
      <p:sp>
        <p:nvSpPr>
          <p:cNvPr id="7" name="Arrow: Chevron 6">
            <a:extLst>
              <a:ext uri="{FF2B5EF4-FFF2-40B4-BE49-F238E27FC236}">
                <a16:creationId xmlns:a16="http://schemas.microsoft.com/office/drawing/2014/main" id="{D273084F-7D2F-4EA9-BAEA-4FEF9B5FBB3C}"/>
              </a:ext>
            </a:extLst>
          </p:cNvPr>
          <p:cNvSpPr/>
          <p:nvPr/>
        </p:nvSpPr>
        <p:spPr bwMode="gray">
          <a:xfrm>
            <a:off x="6648463" y="1817912"/>
            <a:ext cx="223128" cy="311141"/>
          </a:xfrm>
          <a:prstGeom prst="chevron">
            <a:avLst/>
          </a:prstGeom>
          <a:solidFill>
            <a:srgbClr val="046A38"/>
          </a:solidFill>
          <a:ln w="19050" algn="ctr">
            <a:noFill/>
            <a:miter lim="800000"/>
            <a:headEnd/>
            <a:tailEnd/>
          </a:ln>
        </p:spPr>
        <p:txBody>
          <a:bodyPr wrap="square" lIns="88900" tIns="88900" rIns="88900" bIns="88900" rtlCol="0" anchor="ct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8" name="Arrow: Chevron 7">
            <a:extLst>
              <a:ext uri="{FF2B5EF4-FFF2-40B4-BE49-F238E27FC236}">
                <a16:creationId xmlns:a16="http://schemas.microsoft.com/office/drawing/2014/main" id="{775F4408-86D7-453D-9AA4-FD74808B60BE}"/>
              </a:ext>
            </a:extLst>
          </p:cNvPr>
          <p:cNvSpPr/>
          <p:nvPr/>
        </p:nvSpPr>
        <p:spPr bwMode="gray">
          <a:xfrm>
            <a:off x="6648463" y="2519646"/>
            <a:ext cx="223128" cy="311141"/>
          </a:xfrm>
          <a:prstGeom prst="chevron">
            <a:avLst/>
          </a:prstGeom>
          <a:solidFill>
            <a:srgbClr val="087E67"/>
          </a:solidFill>
          <a:ln w="19050" algn="ctr">
            <a:noFill/>
            <a:miter lim="800000"/>
            <a:headEnd/>
            <a:tailEnd/>
          </a:ln>
        </p:spPr>
        <p:txBody>
          <a:bodyPr wrap="square" lIns="88900" tIns="88900" rIns="88900" bIns="88900" rtlCol="0" anchor="ct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9" name="Arrow: Chevron 8">
            <a:extLst>
              <a:ext uri="{FF2B5EF4-FFF2-40B4-BE49-F238E27FC236}">
                <a16:creationId xmlns:a16="http://schemas.microsoft.com/office/drawing/2014/main" id="{53DB9454-6B36-4027-B868-2797334CF0C8}"/>
              </a:ext>
            </a:extLst>
          </p:cNvPr>
          <p:cNvSpPr/>
          <p:nvPr/>
        </p:nvSpPr>
        <p:spPr bwMode="gray">
          <a:xfrm>
            <a:off x="6647126" y="3226824"/>
            <a:ext cx="223128" cy="311141"/>
          </a:xfrm>
          <a:prstGeom prst="chevron">
            <a:avLst/>
          </a:prstGeom>
          <a:solidFill>
            <a:srgbClr val="0D8390"/>
          </a:solidFill>
          <a:ln w="19050" algn="ctr">
            <a:noFill/>
            <a:miter lim="800000"/>
            <a:headEnd/>
            <a:tailEnd/>
          </a:ln>
        </p:spPr>
        <p:txBody>
          <a:bodyPr wrap="square" lIns="88900" tIns="88900" rIns="88900" bIns="88900" rtlCol="0" anchor="ct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cxnSp>
        <p:nvCxnSpPr>
          <p:cNvPr id="10" name="Straight Connector 9">
            <a:extLst>
              <a:ext uri="{FF2B5EF4-FFF2-40B4-BE49-F238E27FC236}">
                <a16:creationId xmlns:a16="http://schemas.microsoft.com/office/drawing/2014/main" id="{690A09AD-F357-456E-B60B-14ACA48D8682}"/>
              </a:ext>
            </a:extLst>
          </p:cNvPr>
          <p:cNvCxnSpPr/>
          <p:nvPr/>
        </p:nvCxnSpPr>
        <p:spPr>
          <a:xfrm>
            <a:off x="501650" y="1317173"/>
            <a:ext cx="53875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BBF6361-8358-4FB0-A565-189DDCF771EC}"/>
              </a:ext>
            </a:extLst>
          </p:cNvPr>
          <p:cNvSpPr txBox="1"/>
          <p:nvPr/>
        </p:nvSpPr>
        <p:spPr>
          <a:xfrm>
            <a:off x="1092364" y="1219203"/>
            <a:ext cx="4227407" cy="215444"/>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Delay (in days) in tariff order issuance</a:t>
            </a:r>
          </a:p>
        </p:txBody>
      </p:sp>
      <p:cxnSp>
        <p:nvCxnSpPr>
          <p:cNvPr id="12" name="Straight Connector 11">
            <a:extLst>
              <a:ext uri="{FF2B5EF4-FFF2-40B4-BE49-F238E27FC236}">
                <a16:creationId xmlns:a16="http://schemas.microsoft.com/office/drawing/2014/main" id="{B9276105-81BD-417F-BBFF-58BECD9315B9}"/>
              </a:ext>
            </a:extLst>
          </p:cNvPr>
          <p:cNvCxnSpPr/>
          <p:nvPr/>
        </p:nvCxnSpPr>
        <p:spPr>
          <a:xfrm>
            <a:off x="6477697" y="1320349"/>
            <a:ext cx="53875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4E09AD8-9829-4F64-A6A3-D832C566E6F1}"/>
              </a:ext>
            </a:extLst>
          </p:cNvPr>
          <p:cNvSpPr txBox="1"/>
          <p:nvPr/>
        </p:nvSpPr>
        <p:spPr>
          <a:xfrm>
            <a:off x="6857040" y="1222379"/>
            <a:ext cx="4650148" cy="215444"/>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Status of APR / FCA / FPPCA order issuance</a:t>
            </a:r>
          </a:p>
        </p:txBody>
      </p:sp>
      <p:cxnSp>
        <p:nvCxnSpPr>
          <p:cNvPr id="14" name="Straight Connector 13">
            <a:extLst>
              <a:ext uri="{FF2B5EF4-FFF2-40B4-BE49-F238E27FC236}">
                <a16:creationId xmlns:a16="http://schemas.microsoft.com/office/drawing/2014/main" id="{C4057CB2-0590-4D3E-956C-E759B530B2C8}"/>
              </a:ext>
            </a:extLst>
          </p:cNvPr>
          <p:cNvCxnSpPr/>
          <p:nvPr/>
        </p:nvCxnSpPr>
        <p:spPr>
          <a:xfrm>
            <a:off x="501650" y="4519446"/>
            <a:ext cx="53875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0F854B-0A27-4FC2-966E-2B0071A75E74}"/>
              </a:ext>
            </a:extLst>
          </p:cNvPr>
          <p:cNvSpPr txBox="1"/>
          <p:nvPr/>
        </p:nvSpPr>
        <p:spPr>
          <a:xfrm>
            <a:off x="1762379" y="4431269"/>
            <a:ext cx="2887376" cy="195858"/>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Regulatory asset (Rs. Cr.)</a:t>
            </a:r>
          </a:p>
        </p:txBody>
      </p:sp>
      <p:graphicFrame>
        <p:nvGraphicFramePr>
          <p:cNvPr id="16" name="Chart 15">
            <a:extLst>
              <a:ext uri="{FF2B5EF4-FFF2-40B4-BE49-F238E27FC236}">
                <a16:creationId xmlns:a16="http://schemas.microsoft.com/office/drawing/2014/main" id="{4A39ED73-CA6D-4848-80BE-3A78EC0150F6}"/>
              </a:ext>
            </a:extLst>
          </p:cNvPr>
          <p:cNvGraphicFramePr/>
          <p:nvPr/>
        </p:nvGraphicFramePr>
        <p:xfrm>
          <a:off x="317795" y="4585265"/>
          <a:ext cx="5669345" cy="1998772"/>
        </p:xfrm>
        <a:graphic>
          <a:graphicData uri="http://schemas.openxmlformats.org/drawingml/2006/chart">
            <c:chart xmlns:c="http://schemas.openxmlformats.org/drawingml/2006/chart" xmlns:r="http://schemas.openxmlformats.org/officeDocument/2006/relationships" r:id="rId3"/>
          </a:graphicData>
        </a:graphic>
      </p:graphicFrame>
      <p:cxnSp>
        <p:nvCxnSpPr>
          <p:cNvPr id="17" name="Straight Connector 16">
            <a:extLst>
              <a:ext uri="{FF2B5EF4-FFF2-40B4-BE49-F238E27FC236}">
                <a16:creationId xmlns:a16="http://schemas.microsoft.com/office/drawing/2014/main" id="{7F2164CB-9023-41E7-8F4C-C8C3E74F429B}"/>
              </a:ext>
            </a:extLst>
          </p:cNvPr>
          <p:cNvCxnSpPr/>
          <p:nvPr/>
        </p:nvCxnSpPr>
        <p:spPr>
          <a:xfrm>
            <a:off x="6185622" y="4520208"/>
            <a:ext cx="53875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FCB777F-7859-446C-8556-170A526250AC}"/>
              </a:ext>
            </a:extLst>
          </p:cNvPr>
          <p:cNvSpPr txBox="1"/>
          <p:nvPr/>
        </p:nvSpPr>
        <p:spPr>
          <a:xfrm>
            <a:off x="6776335" y="4422238"/>
            <a:ext cx="4227408" cy="215444"/>
          </a:xfrm>
          <a:prstGeom prst="rect">
            <a:avLst/>
          </a:prstGeom>
          <a:solidFill>
            <a:schemeClr val="bg1"/>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Interest on Working Capital Loan (Rs. Cr.)</a:t>
            </a:r>
          </a:p>
        </p:txBody>
      </p:sp>
      <p:graphicFrame>
        <p:nvGraphicFramePr>
          <p:cNvPr id="19" name="Chart 18">
            <a:extLst>
              <a:ext uri="{FF2B5EF4-FFF2-40B4-BE49-F238E27FC236}">
                <a16:creationId xmlns:a16="http://schemas.microsoft.com/office/drawing/2014/main" id="{ED8E5CF7-C008-465A-8B35-C9F1F72199F9}"/>
              </a:ext>
            </a:extLst>
          </p:cNvPr>
          <p:cNvGraphicFramePr/>
          <p:nvPr/>
        </p:nvGraphicFramePr>
        <p:xfrm>
          <a:off x="6094339" y="4619790"/>
          <a:ext cx="5669345" cy="1713415"/>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68EBE264-60C6-4A42-BCDC-F52FC839FB76}"/>
              </a:ext>
            </a:extLst>
          </p:cNvPr>
          <p:cNvSpPr txBox="1"/>
          <p:nvPr/>
        </p:nvSpPr>
        <p:spPr>
          <a:xfrm>
            <a:off x="4737100" y="6584037"/>
            <a:ext cx="6120000" cy="153888"/>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0" i="1" u="none" strike="noStrike" kern="1200" cap="none" spc="0" normalizeH="0" baseline="0" noProof="0" dirty="0">
                <a:ln>
                  <a:noFill/>
                </a:ln>
                <a:solidFill>
                  <a:srgbClr val="313131"/>
                </a:solidFill>
                <a:effectLst/>
                <a:uLnTx/>
                <a:uFillTx/>
                <a:latin typeface="Verdana"/>
                <a:ea typeface="+mn-ea"/>
                <a:cs typeface="+mn-cs"/>
              </a:rPr>
              <a:t>Data source: WBERC Tariff/APR/FCA/FPPCA Orders; WBERC website; Utility Annual Reports</a:t>
            </a:r>
          </a:p>
        </p:txBody>
      </p:sp>
      <p:sp>
        <p:nvSpPr>
          <p:cNvPr id="23" name="TextBox 22">
            <a:extLst>
              <a:ext uri="{FF2B5EF4-FFF2-40B4-BE49-F238E27FC236}">
                <a16:creationId xmlns:a16="http://schemas.microsoft.com/office/drawing/2014/main" id="{8B831362-8763-41EF-8634-5609FF0DB3AC}"/>
              </a:ext>
            </a:extLst>
          </p:cNvPr>
          <p:cNvSpPr txBox="1"/>
          <p:nvPr/>
        </p:nvSpPr>
        <p:spPr>
          <a:xfrm>
            <a:off x="501650" y="4027214"/>
            <a:ext cx="11262034" cy="252377"/>
          </a:xfrm>
          <a:prstGeom prst="rect">
            <a:avLst/>
          </a:prstGeom>
          <a:solidFill>
            <a:srgbClr val="0076A8"/>
          </a:solidFill>
        </p:spPr>
        <p:txBody>
          <a:bodyPr wrap="square" lIns="91440" tIns="18288" rIns="91440" bIns="18288" rtlCol="0">
            <a:spAutoFit/>
          </a:bodyPr>
          <a:lstStyle/>
          <a:p>
            <a:pPr algn="ctr">
              <a:spcBef>
                <a:spcPts val="600"/>
              </a:spcBef>
              <a:buSzPct val="100000"/>
            </a:pPr>
            <a:r>
              <a:rPr lang="en-US" sz="1400" b="1" dirty="0">
                <a:solidFill>
                  <a:schemeClr val="bg1"/>
                </a:solidFill>
              </a:rPr>
              <a:t>Movement of Regulatory Assets and Interest on Working Capital Loans as per Annual Reports of WBSEDCL </a:t>
            </a:r>
          </a:p>
        </p:txBody>
      </p:sp>
    </p:spTree>
    <p:extLst>
      <p:ext uri="{BB962C8B-B14F-4D97-AF65-F5344CB8AC3E}">
        <p14:creationId xmlns:p14="http://schemas.microsoft.com/office/powerpoint/2010/main" val="203203526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Open Access</a:t>
            </a:r>
          </a:p>
        </p:txBody>
      </p:sp>
    </p:spTree>
    <p:extLst>
      <p:ext uri="{BB962C8B-B14F-4D97-AF65-F5344CB8AC3E}">
        <p14:creationId xmlns:p14="http://schemas.microsoft.com/office/powerpoint/2010/main" val="1068148448"/>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648572" y="317501"/>
            <a:ext cx="8894858" cy="427251"/>
          </a:xfrm>
        </p:spPr>
        <p:txBody>
          <a:bodyPr/>
          <a:lstStyle/>
          <a:p>
            <a:r>
              <a:rPr lang="en-US" sz="2176" b="1" dirty="0">
                <a:solidFill>
                  <a:srgbClr val="92D050"/>
                </a:solidFill>
                <a:latin typeface="Arial" panose="020B0604020202020204" pitchFamily="34" charset="0"/>
                <a:cs typeface="Arial" panose="020B0604020202020204" pitchFamily="34" charset="0"/>
              </a:rPr>
              <a:t>Cost structure for power purchase through Open Access</a:t>
            </a:r>
          </a:p>
        </p:txBody>
      </p:sp>
      <p:sp>
        <p:nvSpPr>
          <p:cNvPr id="10" name="Text Placeholder 3"/>
          <p:cNvSpPr>
            <a:spLocks noGrp="1"/>
          </p:cNvSpPr>
          <p:nvPr>
            <p:ph type="body" sz="quarter" idx="1"/>
          </p:nvPr>
        </p:nvSpPr>
        <p:spPr>
          <a:xfrm>
            <a:off x="1689901" y="4486194"/>
            <a:ext cx="8876348" cy="1178835"/>
          </a:xfrm>
        </p:spPr>
        <p:txBody>
          <a:bodyPr/>
          <a:lstStyle/>
          <a:p>
            <a:pPr marL="155471" lvl="1" indent="-155471" algn="just">
              <a:lnSpc>
                <a:spcPct val="108000"/>
              </a:lnSpc>
              <a:spcAft>
                <a:spcPts val="1088"/>
              </a:spcAft>
              <a:buFont typeface="Arial" panose="020B0604020202020204" pitchFamily="34" charset="0"/>
              <a:buChar char="•"/>
            </a:pPr>
            <a:r>
              <a:rPr lang="en-US" sz="1451" b="0" dirty="0">
                <a:latin typeface="Arial" panose="020B0604020202020204" pitchFamily="34" charset="0"/>
                <a:cs typeface="Arial" panose="020B0604020202020204" pitchFamily="34" charset="0"/>
              </a:rPr>
              <a:t>Landed cost = Power purchase cost + System Operation charges + Transmission losses &amp; charges + Trader margin / PX charges + Wheeling losses &amp; charges + CSS + Other applicable charges</a:t>
            </a:r>
          </a:p>
          <a:p>
            <a:pPr marL="155471" lvl="1" indent="-155471" algn="just">
              <a:lnSpc>
                <a:spcPct val="108000"/>
              </a:lnSpc>
              <a:spcAft>
                <a:spcPts val="1088"/>
              </a:spcAft>
              <a:buFont typeface="Arial" panose="020B0604020202020204" pitchFamily="34" charset="0"/>
              <a:buChar char="•"/>
            </a:pPr>
            <a:r>
              <a:rPr lang="en-US" sz="1451" b="0" dirty="0">
                <a:latin typeface="Arial" panose="020B0604020202020204" pitchFamily="34" charset="0"/>
                <a:cs typeface="Arial" panose="020B0604020202020204" pitchFamily="34" charset="0"/>
              </a:rPr>
              <a:t>Other applicable charges may include Meter charges, NOC charges, Renewal charges, Additional surcharge, UI charges, Electricity Duty, Banking charges, etc. </a:t>
            </a:r>
          </a:p>
        </p:txBody>
      </p:sp>
      <p:sp>
        <p:nvSpPr>
          <p:cNvPr id="65" name="Rounded Rectangle 64"/>
          <p:cNvSpPr/>
          <p:nvPr/>
        </p:nvSpPr>
        <p:spPr bwMode="gray">
          <a:xfrm>
            <a:off x="3768321" y="5157041"/>
            <a:ext cx="1557340"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endParaRPr lang="en-IN" sz="1451" i="1" dirty="0">
              <a:solidFill>
                <a:prstClr val="black"/>
              </a:solidFill>
              <a:latin typeface="Arial" panose="020B0604020202020204" pitchFamily="34" charset="0"/>
              <a:cs typeface="Arial" panose="020B0604020202020204" pitchFamily="34" charset="0"/>
            </a:endParaRPr>
          </a:p>
        </p:txBody>
      </p:sp>
      <p:sp>
        <p:nvSpPr>
          <p:cNvPr id="5" name="Rounded Rectangle 4"/>
          <p:cNvSpPr/>
          <p:nvPr/>
        </p:nvSpPr>
        <p:spPr bwMode="gray">
          <a:xfrm>
            <a:off x="8771200" y="1610257"/>
            <a:ext cx="1326686" cy="497507"/>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b="1" dirty="0">
                <a:solidFill>
                  <a:prstClr val="black"/>
                </a:solidFill>
                <a:latin typeface="Arial" panose="020B0604020202020204" pitchFamily="34" charset="0"/>
                <a:cs typeface="Arial" panose="020B0604020202020204" pitchFamily="34" charset="0"/>
              </a:rPr>
              <a:t>Buyer</a:t>
            </a:r>
            <a:endParaRPr lang="en-IN" sz="1451" b="1" dirty="0">
              <a:solidFill>
                <a:prstClr val="black"/>
              </a:solidFill>
              <a:latin typeface="Arial" panose="020B0604020202020204" pitchFamily="34" charset="0"/>
              <a:cs typeface="Arial" panose="020B0604020202020204" pitchFamily="34" charset="0"/>
            </a:endParaRPr>
          </a:p>
        </p:txBody>
      </p:sp>
      <p:sp>
        <p:nvSpPr>
          <p:cNvPr id="6" name="Rounded Rectangle 5"/>
          <p:cNvSpPr/>
          <p:nvPr/>
        </p:nvSpPr>
        <p:spPr bwMode="gray">
          <a:xfrm>
            <a:off x="2219993" y="1016001"/>
            <a:ext cx="1326686" cy="497507"/>
          </a:xfrm>
          <a:prstGeom prst="roundRect">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b="1" dirty="0">
                <a:solidFill>
                  <a:prstClr val="black"/>
                </a:solidFill>
                <a:latin typeface="Arial" panose="020B0604020202020204" pitchFamily="34" charset="0"/>
                <a:cs typeface="Arial" panose="020B0604020202020204" pitchFamily="34" charset="0"/>
              </a:rPr>
              <a:t>Generator</a:t>
            </a:r>
            <a:endParaRPr lang="en-IN" sz="1451" b="1" dirty="0">
              <a:solidFill>
                <a:prstClr val="black"/>
              </a:solidFill>
              <a:latin typeface="Arial" panose="020B0604020202020204" pitchFamily="34" charset="0"/>
              <a:cs typeface="Arial" panose="020B0604020202020204" pitchFamily="34" charset="0"/>
            </a:endParaRPr>
          </a:p>
        </p:txBody>
      </p:sp>
      <p:sp>
        <p:nvSpPr>
          <p:cNvPr id="14" name="Rounded Rectangle 13"/>
          <p:cNvSpPr/>
          <p:nvPr/>
        </p:nvSpPr>
        <p:spPr bwMode="gray">
          <a:xfrm>
            <a:off x="6547597" y="3030308"/>
            <a:ext cx="1888194"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Cross Subsidy Surcharge (CSS)</a:t>
            </a:r>
            <a:endParaRPr lang="en-IN" sz="1451" i="1" dirty="0">
              <a:solidFill>
                <a:prstClr val="black"/>
              </a:solidFill>
              <a:latin typeface="Arial" panose="020B0604020202020204" pitchFamily="34" charset="0"/>
              <a:cs typeface="Arial" panose="020B0604020202020204" pitchFamily="34" charset="0"/>
            </a:endParaRPr>
          </a:p>
        </p:txBody>
      </p:sp>
      <p:sp>
        <p:nvSpPr>
          <p:cNvPr id="16" name="Rounded Rectangle 15"/>
          <p:cNvSpPr/>
          <p:nvPr/>
        </p:nvSpPr>
        <p:spPr bwMode="gray">
          <a:xfrm>
            <a:off x="6663851" y="3704218"/>
            <a:ext cx="1655687"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Wheeling losses &amp; charges</a:t>
            </a:r>
            <a:endParaRPr lang="en-IN" sz="1451" i="1" dirty="0">
              <a:solidFill>
                <a:prstClr val="black"/>
              </a:solidFill>
              <a:latin typeface="Arial" panose="020B0604020202020204" pitchFamily="34" charset="0"/>
              <a:cs typeface="Arial" panose="020B0604020202020204" pitchFamily="34" charset="0"/>
            </a:endParaRPr>
          </a:p>
        </p:txBody>
      </p:sp>
      <p:sp>
        <p:nvSpPr>
          <p:cNvPr id="17" name="Rounded Rectangle 16"/>
          <p:cNvSpPr/>
          <p:nvPr/>
        </p:nvSpPr>
        <p:spPr bwMode="gray">
          <a:xfrm>
            <a:off x="4321513" y="3722592"/>
            <a:ext cx="1809859"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Transmission losses &amp; charges</a:t>
            </a:r>
            <a:endParaRPr lang="en-IN" sz="1451" i="1" dirty="0">
              <a:solidFill>
                <a:prstClr val="black"/>
              </a:solidFill>
              <a:latin typeface="Arial" panose="020B0604020202020204" pitchFamily="34" charset="0"/>
              <a:cs typeface="Arial" panose="020B0604020202020204" pitchFamily="34" charset="0"/>
            </a:endParaRPr>
          </a:p>
        </p:txBody>
      </p:sp>
      <p:sp>
        <p:nvSpPr>
          <p:cNvPr id="18" name="Rounded Rectangle 17"/>
          <p:cNvSpPr/>
          <p:nvPr/>
        </p:nvSpPr>
        <p:spPr bwMode="gray">
          <a:xfrm>
            <a:off x="2163399" y="3051574"/>
            <a:ext cx="1474827"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Generation cost</a:t>
            </a:r>
            <a:endParaRPr lang="en-IN" sz="1451" i="1" dirty="0">
              <a:solidFill>
                <a:prstClr val="black"/>
              </a:solidFill>
              <a:latin typeface="Arial" panose="020B0604020202020204" pitchFamily="34" charset="0"/>
              <a:cs typeface="Arial" panose="020B0604020202020204" pitchFamily="34" charset="0"/>
            </a:endParaRPr>
          </a:p>
        </p:txBody>
      </p:sp>
      <p:cxnSp>
        <p:nvCxnSpPr>
          <p:cNvPr id="28" name="Straight Connector 27"/>
          <p:cNvCxnSpPr/>
          <p:nvPr/>
        </p:nvCxnSpPr>
        <p:spPr>
          <a:xfrm>
            <a:off x="6344721" y="1654837"/>
            <a:ext cx="0" cy="440912"/>
          </a:xfrm>
          <a:prstGeom prst="line">
            <a:avLst/>
          </a:prstGeom>
          <a:ln w="38100" cmpd="sng">
            <a:solidFill>
              <a:srgbClr val="7030A0"/>
            </a:solidFill>
            <a:prstDash val="solid"/>
          </a:ln>
        </p:spPr>
        <p:style>
          <a:lnRef idx="1">
            <a:schemeClr val="accent1"/>
          </a:lnRef>
          <a:fillRef idx="0">
            <a:schemeClr val="accent1"/>
          </a:fillRef>
          <a:effectRef idx="0">
            <a:schemeClr val="accent1"/>
          </a:effectRef>
          <a:fontRef idx="minor">
            <a:schemeClr val="tx1"/>
          </a:fontRef>
        </p:style>
      </p:cxnSp>
      <p:sp>
        <p:nvSpPr>
          <p:cNvPr id="51" name="Rounded Rectangle 50"/>
          <p:cNvSpPr/>
          <p:nvPr/>
        </p:nvSpPr>
        <p:spPr bwMode="gray">
          <a:xfrm>
            <a:off x="2037159" y="3709226"/>
            <a:ext cx="1727307"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Trader margin / PX charges</a:t>
            </a:r>
            <a:endParaRPr lang="en-IN" sz="1451" i="1" dirty="0">
              <a:solidFill>
                <a:prstClr val="black"/>
              </a:solidFill>
              <a:latin typeface="Arial" panose="020B0604020202020204" pitchFamily="34" charset="0"/>
              <a:cs typeface="Arial" panose="020B0604020202020204" pitchFamily="34" charset="0"/>
            </a:endParaRPr>
          </a:p>
        </p:txBody>
      </p:sp>
      <p:sp>
        <p:nvSpPr>
          <p:cNvPr id="52" name="Rounded Rectangle 51"/>
          <p:cNvSpPr/>
          <p:nvPr/>
        </p:nvSpPr>
        <p:spPr bwMode="gray">
          <a:xfrm>
            <a:off x="4354002" y="3049019"/>
            <a:ext cx="1689782"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System Operation charges</a:t>
            </a:r>
            <a:endParaRPr lang="en-IN" sz="1451" i="1" dirty="0">
              <a:solidFill>
                <a:prstClr val="black"/>
              </a:solidFill>
              <a:latin typeface="Arial" panose="020B0604020202020204" pitchFamily="34" charset="0"/>
              <a:cs typeface="Arial" panose="020B0604020202020204" pitchFamily="34" charset="0"/>
            </a:endParaRPr>
          </a:p>
        </p:txBody>
      </p:sp>
      <p:sp>
        <p:nvSpPr>
          <p:cNvPr id="61" name="Rounded Rectangle 60"/>
          <p:cNvSpPr/>
          <p:nvPr/>
        </p:nvSpPr>
        <p:spPr bwMode="gray">
          <a:xfrm>
            <a:off x="4589299" y="1374786"/>
            <a:ext cx="1458517"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Transmission network</a:t>
            </a:r>
            <a:endParaRPr lang="en-IN" sz="1451" i="1" dirty="0">
              <a:solidFill>
                <a:prstClr val="black"/>
              </a:solidFill>
              <a:latin typeface="Arial" panose="020B0604020202020204" pitchFamily="34" charset="0"/>
              <a:cs typeface="Arial" panose="020B0604020202020204" pitchFamily="34" charset="0"/>
            </a:endParaRPr>
          </a:p>
        </p:txBody>
      </p:sp>
      <p:sp>
        <p:nvSpPr>
          <p:cNvPr id="62" name="Rounded Rectangle 61"/>
          <p:cNvSpPr/>
          <p:nvPr/>
        </p:nvSpPr>
        <p:spPr bwMode="gray">
          <a:xfrm>
            <a:off x="6988826" y="1369778"/>
            <a:ext cx="1211798"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Distribution network</a:t>
            </a:r>
            <a:endParaRPr lang="en-IN" sz="1451" i="1" dirty="0">
              <a:solidFill>
                <a:prstClr val="black"/>
              </a:solidFill>
              <a:latin typeface="Arial" panose="020B0604020202020204" pitchFamily="34" charset="0"/>
              <a:cs typeface="Arial" panose="020B0604020202020204" pitchFamily="34" charset="0"/>
            </a:endParaRPr>
          </a:p>
        </p:txBody>
      </p:sp>
      <p:sp>
        <p:nvSpPr>
          <p:cNvPr id="63" name="Rounded Rectangle 62"/>
          <p:cNvSpPr/>
          <p:nvPr/>
        </p:nvSpPr>
        <p:spPr bwMode="gray">
          <a:xfrm>
            <a:off x="8625644" y="3260018"/>
            <a:ext cx="1474827"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i="1" dirty="0">
                <a:solidFill>
                  <a:prstClr val="black"/>
                </a:solidFill>
                <a:latin typeface="Arial" panose="020B0604020202020204" pitchFamily="34" charset="0"/>
                <a:cs typeface="Arial" panose="020B0604020202020204" pitchFamily="34" charset="0"/>
              </a:rPr>
              <a:t>Landed cost</a:t>
            </a:r>
            <a:endParaRPr lang="en-IN" sz="1451" i="1" dirty="0">
              <a:solidFill>
                <a:prstClr val="black"/>
              </a:solidFill>
              <a:latin typeface="Arial" panose="020B0604020202020204" pitchFamily="34" charset="0"/>
              <a:cs typeface="Arial" panose="020B0604020202020204" pitchFamily="34" charset="0"/>
            </a:endParaRPr>
          </a:p>
        </p:txBody>
      </p:sp>
      <p:sp>
        <p:nvSpPr>
          <p:cNvPr id="33" name="Rounded Rectangle 32"/>
          <p:cNvSpPr/>
          <p:nvPr/>
        </p:nvSpPr>
        <p:spPr bwMode="gray">
          <a:xfrm>
            <a:off x="2219993" y="2257596"/>
            <a:ext cx="1326686" cy="497507"/>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451" b="1" dirty="0">
                <a:solidFill>
                  <a:prstClr val="black"/>
                </a:solidFill>
                <a:latin typeface="Arial" panose="020B0604020202020204" pitchFamily="34" charset="0"/>
                <a:cs typeface="Arial" panose="020B0604020202020204" pitchFamily="34" charset="0"/>
              </a:rPr>
              <a:t>Trader / PXs</a:t>
            </a:r>
            <a:endParaRPr lang="en-IN" sz="1451" b="1" dirty="0">
              <a:solidFill>
                <a:prstClr val="black"/>
              </a:solidFill>
              <a:latin typeface="Arial" panose="020B0604020202020204" pitchFamily="34" charset="0"/>
              <a:cs typeface="Arial" panose="020B0604020202020204" pitchFamily="34" charset="0"/>
            </a:endParaRPr>
          </a:p>
        </p:txBody>
      </p:sp>
      <p:cxnSp>
        <p:nvCxnSpPr>
          <p:cNvPr id="53" name="Straight Arrow Connector 52"/>
          <p:cNvCxnSpPr>
            <a:endCxn id="5" idx="1"/>
          </p:cNvCxnSpPr>
          <p:nvPr/>
        </p:nvCxnSpPr>
        <p:spPr>
          <a:xfrm flipV="1">
            <a:off x="6333949" y="1859010"/>
            <a:ext cx="2437251" cy="16717"/>
          </a:xfrm>
          <a:prstGeom prst="straightConnector1">
            <a:avLst/>
          </a:prstGeom>
          <a:ln w="25400">
            <a:solidFill>
              <a:srgbClr val="C00000"/>
            </a:solidFill>
            <a:prstDash val="dash"/>
            <a:tailEnd type="stealth"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4044187" y="1870700"/>
            <a:ext cx="2289762" cy="6388"/>
          </a:xfrm>
          <a:prstGeom prst="straightConnector1">
            <a:avLst/>
          </a:prstGeom>
          <a:ln w="25400">
            <a:solidFill>
              <a:srgbClr val="00B0F0"/>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3535075" y="1249867"/>
            <a:ext cx="497507" cy="3541"/>
          </a:xfrm>
          <a:prstGeom prst="straightConnector1">
            <a:avLst/>
          </a:prstGeom>
          <a:ln w="25400">
            <a:solidFill>
              <a:schemeClr val="tx1"/>
            </a:solidFill>
            <a:prstDash val="dash"/>
            <a:headEnd type="none" w="med" len="med"/>
            <a:tailEnd type="stealth"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3546680" y="2515754"/>
            <a:ext cx="497507" cy="165"/>
          </a:xfrm>
          <a:prstGeom prst="straightConnector1">
            <a:avLst/>
          </a:prstGeom>
          <a:ln w="25400">
            <a:solidFill>
              <a:schemeClr val="tx1"/>
            </a:solidFill>
            <a:prstDash val="dash"/>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bwMode="gray">
          <a:xfrm>
            <a:off x="8054619" y="3131358"/>
            <a:ext cx="373569" cy="443330"/>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2539" i="1" dirty="0">
                <a:solidFill>
                  <a:prstClr val="black"/>
                </a:solidFill>
                <a:latin typeface="Arial" panose="020B0604020202020204" pitchFamily="34" charset="0"/>
                <a:cs typeface="Arial" panose="020B0604020202020204" pitchFamily="34" charset="0"/>
              </a:rPr>
              <a:t>*</a:t>
            </a:r>
            <a:endParaRPr lang="en-IN" sz="1451" i="1" dirty="0">
              <a:solidFill>
                <a:prstClr val="black"/>
              </a:solidFill>
              <a:latin typeface="Arial" panose="020B0604020202020204" pitchFamily="34" charset="0"/>
              <a:cs typeface="Arial" panose="020B0604020202020204" pitchFamily="34" charset="0"/>
            </a:endParaRPr>
          </a:p>
        </p:txBody>
      </p:sp>
      <p:sp>
        <p:nvSpPr>
          <p:cNvPr id="64" name="Rounded Rectangle 63"/>
          <p:cNvSpPr/>
          <p:nvPr/>
        </p:nvSpPr>
        <p:spPr bwMode="gray">
          <a:xfrm>
            <a:off x="9879392" y="3198558"/>
            <a:ext cx="231487" cy="333081"/>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632" i="1" dirty="0">
                <a:solidFill>
                  <a:prstClr val="black"/>
                </a:solidFill>
                <a:latin typeface="Arial" panose="020B0604020202020204" pitchFamily="34" charset="0"/>
                <a:cs typeface="Arial" panose="020B0604020202020204" pitchFamily="34" charset="0"/>
              </a:rPr>
              <a:t>#</a:t>
            </a:r>
            <a:endParaRPr lang="en-IN" sz="997" i="1" dirty="0">
              <a:solidFill>
                <a:prstClr val="black"/>
              </a:solidFill>
              <a:latin typeface="Arial" panose="020B0604020202020204" pitchFamily="34" charset="0"/>
              <a:cs typeface="Arial" panose="020B0604020202020204" pitchFamily="34" charset="0"/>
            </a:endParaRPr>
          </a:p>
        </p:txBody>
      </p:sp>
      <p:grpSp>
        <p:nvGrpSpPr>
          <p:cNvPr id="22" name="Group 21"/>
          <p:cNvGrpSpPr/>
          <p:nvPr/>
        </p:nvGrpSpPr>
        <p:grpSpPr>
          <a:xfrm>
            <a:off x="1621386" y="5727417"/>
            <a:ext cx="7048635" cy="348097"/>
            <a:chOff x="1994456" y="6351751"/>
            <a:chExt cx="7773078" cy="507416"/>
          </a:xfrm>
        </p:grpSpPr>
        <p:sp>
          <p:nvSpPr>
            <p:cNvPr id="58" name="Rounded Rectangle 57"/>
            <p:cNvSpPr/>
            <p:nvPr/>
          </p:nvSpPr>
          <p:spPr bwMode="gray">
            <a:xfrm>
              <a:off x="2174328" y="6351751"/>
              <a:ext cx="7593206" cy="488894"/>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defTabSz="945677">
                <a:lnSpc>
                  <a:spcPct val="106000"/>
                </a:lnSpc>
              </a:pPr>
              <a:r>
                <a:rPr lang="en-IN" sz="1270" i="1" dirty="0">
                  <a:solidFill>
                    <a:prstClr val="black"/>
                  </a:solidFill>
                  <a:latin typeface="Arial" panose="020B0604020202020204" pitchFamily="34" charset="0"/>
                  <a:cs typeface="Arial" panose="020B0604020202020204" pitchFamily="34" charset="0"/>
                </a:rPr>
                <a:t>Not applicable for procurement through Captive route / Group captive route</a:t>
              </a:r>
            </a:p>
          </p:txBody>
        </p:sp>
        <p:sp>
          <p:nvSpPr>
            <p:cNvPr id="68" name="Rounded Rectangle 67"/>
            <p:cNvSpPr/>
            <p:nvPr/>
          </p:nvSpPr>
          <p:spPr bwMode="gray">
            <a:xfrm>
              <a:off x="1994456" y="6411732"/>
              <a:ext cx="317882" cy="447435"/>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2539" i="1" dirty="0">
                  <a:solidFill>
                    <a:prstClr val="black"/>
                  </a:solidFill>
                  <a:latin typeface="Arial" panose="020B0604020202020204" pitchFamily="34" charset="0"/>
                  <a:cs typeface="Arial" panose="020B0604020202020204" pitchFamily="34" charset="0"/>
                </a:rPr>
                <a:t>*</a:t>
              </a:r>
              <a:endParaRPr lang="en-IN" sz="1451" i="1" dirty="0">
                <a:solidFill>
                  <a:prstClr val="black"/>
                </a:solidFill>
                <a:latin typeface="Arial" panose="020B0604020202020204" pitchFamily="34" charset="0"/>
                <a:cs typeface="Arial" panose="020B0604020202020204" pitchFamily="34" charset="0"/>
              </a:endParaRPr>
            </a:p>
          </p:txBody>
        </p:sp>
      </p:grpSp>
      <p:grpSp>
        <p:nvGrpSpPr>
          <p:cNvPr id="23" name="Group 22"/>
          <p:cNvGrpSpPr/>
          <p:nvPr/>
        </p:nvGrpSpPr>
        <p:grpSpPr>
          <a:xfrm>
            <a:off x="1621321" y="5917347"/>
            <a:ext cx="8922109" cy="510829"/>
            <a:chOff x="2036646" y="6647992"/>
            <a:chExt cx="7835035" cy="563331"/>
          </a:xfrm>
        </p:grpSpPr>
        <p:sp>
          <p:nvSpPr>
            <p:cNvPr id="60" name="Rounded Rectangle 59"/>
            <p:cNvSpPr/>
            <p:nvPr/>
          </p:nvSpPr>
          <p:spPr bwMode="gray">
            <a:xfrm>
              <a:off x="2194919" y="6722429"/>
              <a:ext cx="7676762" cy="488894"/>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defTabSz="945677">
                <a:lnSpc>
                  <a:spcPct val="106000"/>
                </a:lnSpc>
              </a:pPr>
              <a:r>
                <a:rPr lang="en-IN" sz="1270" i="1" dirty="0">
                  <a:solidFill>
                    <a:prstClr val="black"/>
                  </a:solidFill>
                  <a:latin typeface="Arial" panose="020B0604020202020204" pitchFamily="34" charset="0"/>
                  <a:cs typeface="Arial" panose="020B0604020202020204" pitchFamily="34" charset="0"/>
                </a:rPr>
                <a:t>Charges will depend on voltage level of connectivity of both generator &amp; Buyer and state-level regulations</a:t>
              </a:r>
            </a:p>
          </p:txBody>
        </p:sp>
        <p:sp>
          <p:nvSpPr>
            <p:cNvPr id="70" name="Rounded Rectangle 69"/>
            <p:cNvSpPr/>
            <p:nvPr/>
          </p:nvSpPr>
          <p:spPr bwMode="gray">
            <a:xfrm>
              <a:off x="2036646" y="6647992"/>
              <a:ext cx="286271" cy="488894"/>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0615" tIns="80615" rIns="80615" bIns="80615" rtlCol="0" anchor="ctr"/>
            <a:lstStyle/>
            <a:p>
              <a:pPr algn="ctr" defTabSz="945677">
                <a:lnSpc>
                  <a:spcPct val="106000"/>
                </a:lnSpc>
              </a:pPr>
              <a:r>
                <a:rPr lang="en-US" sz="1814" i="1" dirty="0">
                  <a:solidFill>
                    <a:prstClr val="black"/>
                  </a:solidFill>
                  <a:latin typeface="Arial" panose="020B0604020202020204" pitchFamily="34" charset="0"/>
                  <a:cs typeface="Arial" panose="020B0604020202020204" pitchFamily="34" charset="0"/>
                </a:rPr>
                <a:t>#</a:t>
              </a:r>
              <a:endParaRPr lang="en-IN" sz="1088" i="1" dirty="0">
                <a:solidFill>
                  <a:prstClr val="black"/>
                </a:solidFill>
                <a:latin typeface="Arial" panose="020B0604020202020204" pitchFamily="34" charset="0"/>
                <a:cs typeface="Arial" panose="020B0604020202020204" pitchFamily="34" charset="0"/>
              </a:endParaRPr>
            </a:p>
          </p:txBody>
        </p:sp>
      </p:grpSp>
      <p:cxnSp>
        <p:nvCxnSpPr>
          <p:cNvPr id="44" name="Straight Connector 43"/>
          <p:cNvCxnSpPr/>
          <p:nvPr/>
        </p:nvCxnSpPr>
        <p:spPr>
          <a:xfrm>
            <a:off x="4030705" y="2761584"/>
            <a:ext cx="1" cy="140960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6333949" y="2753938"/>
            <a:ext cx="0" cy="140960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8642835" y="2753938"/>
            <a:ext cx="0" cy="140960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4044187" y="1246058"/>
            <a:ext cx="0" cy="1282989"/>
          </a:xfrm>
          <a:prstGeom prst="straightConnector1">
            <a:avLst/>
          </a:prstGeom>
          <a:ln w="25400">
            <a:solidFill>
              <a:schemeClr val="tx1"/>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H="1">
            <a:off x="1689902" y="5680258"/>
            <a:ext cx="8841209" cy="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5309"/>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Content Placeholder 1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4030" y="1192908"/>
            <a:ext cx="4753570" cy="5310041"/>
          </a:xfrm>
        </p:spPr>
      </p:pic>
      <p:graphicFrame>
        <p:nvGraphicFramePr>
          <p:cNvPr id="23" name="Table 22"/>
          <p:cNvGraphicFramePr>
            <a:graphicFrameLocks noGrp="1"/>
          </p:cNvGraphicFramePr>
          <p:nvPr/>
        </p:nvGraphicFramePr>
        <p:xfrm>
          <a:off x="7301517" y="4228159"/>
          <a:ext cx="2450685" cy="1798858"/>
        </p:xfrm>
        <a:graphic>
          <a:graphicData uri="http://schemas.openxmlformats.org/drawingml/2006/table">
            <a:tbl>
              <a:tblPr firstRow="1" bandRow="1">
                <a:tableStyleId>{2D5ABB26-0587-4C30-8999-92F81FD0307C}</a:tableStyleId>
              </a:tblPr>
              <a:tblGrid>
                <a:gridCol w="1402407">
                  <a:extLst>
                    <a:ext uri="{9D8B030D-6E8A-4147-A177-3AD203B41FA5}">
                      <a16:colId xmlns:a16="http://schemas.microsoft.com/office/drawing/2014/main" val="20000"/>
                    </a:ext>
                  </a:extLst>
                </a:gridCol>
                <a:gridCol w="1048278">
                  <a:extLst>
                    <a:ext uri="{9D8B030D-6E8A-4147-A177-3AD203B41FA5}">
                      <a16:colId xmlns:a16="http://schemas.microsoft.com/office/drawing/2014/main" val="20001"/>
                    </a:ext>
                  </a:extLst>
                </a:gridCol>
              </a:tblGrid>
              <a:tr h="234934">
                <a:tc gridSpan="2">
                  <a:txBody>
                    <a:bodyPr/>
                    <a:lstStyle/>
                    <a:p>
                      <a:pPr algn="ctr"/>
                      <a:r>
                        <a:rPr lang="en-US" sz="1000" b="1" dirty="0"/>
                        <a:t>Legend</a:t>
                      </a:r>
                      <a:endParaRPr lang="en-IN" sz="1000" b="1" dirty="0"/>
                    </a:p>
                  </a:txBody>
                  <a:tcPr marL="82918" marR="82918" marT="41459" marB="41459">
                    <a:solidFill>
                      <a:schemeClr val="accent1">
                        <a:lumMod val="20000"/>
                        <a:lumOff val="80000"/>
                      </a:schemeClr>
                    </a:solidFill>
                  </a:tcPr>
                </a:tc>
                <a:tc hMerge="1">
                  <a:txBody>
                    <a:bodyPr/>
                    <a:lstStyle/>
                    <a:p>
                      <a:endParaRPr lang="en-IN" dirty="0"/>
                    </a:p>
                  </a:txBody>
                  <a:tcPr/>
                </a:tc>
                <a:extLst>
                  <a:ext uri="{0D108BD9-81ED-4DB2-BD59-A6C34878D82A}">
                    <a16:rowId xmlns:a16="http://schemas.microsoft.com/office/drawing/2014/main" val="10000"/>
                  </a:ext>
                </a:extLst>
              </a:tr>
              <a:tr h="386950">
                <a:tc>
                  <a:txBody>
                    <a:bodyPr/>
                    <a:lstStyle/>
                    <a:p>
                      <a:r>
                        <a:rPr lang="en-US" sz="1000" b="1"/>
                        <a:t>No of OA consumers</a:t>
                      </a:r>
                      <a:endParaRPr lang="en-IN" sz="1000" b="1"/>
                    </a:p>
                  </a:txBody>
                  <a:tcPr marL="82918" marR="82918" marT="41459" marB="41459">
                    <a:solidFill>
                      <a:schemeClr val="accent1">
                        <a:lumMod val="20000"/>
                        <a:lumOff val="80000"/>
                      </a:schemeClr>
                    </a:solidFill>
                  </a:tcPr>
                </a:tc>
                <a:tc>
                  <a:txBody>
                    <a:bodyPr/>
                    <a:lstStyle/>
                    <a:p>
                      <a:pPr algn="ctr"/>
                      <a:r>
                        <a:rPr lang="en-US" sz="1000" b="1" dirty="0" err="1"/>
                        <a:t>Colour</a:t>
                      </a:r>
                      <a:r>
                        <a:rPr lang="en-US" sz="1000" b="1" dirty="0"/>
                        <a:t> code</a:t>
                      </a:r>
                      <a:endParaRPr lang="en-IN" sz="1000" b="1" dirty="0"/>
                    </a:p>
                  </a:txBody>
                  <a:tcPr marL="82918" marR="82918" marT="41459" marB="41459">
                    <a:solidFill>
                      <a:schemeClr val="accent1">
                        <a:lumMod val="20000"/>
                        <a:lumOff val="80000"/>
                      </a:schemeClr>
                    </a:solidFill>
                  </a:tcPr>
                </a:tc>
                <a:extLst>
                  <a:ext uri="{0D108BD9-81ED-4DB2-BD59-A6C34878D82A}">
                    <a16:rowId xmlns:a16="http://schemas.microsoft.com/office/drawing/2014/main" val="10001"/>
                  </a:ext>
                </a:extLst>
              </a:tr>
              <a:tr h="234934">
                <a:tc>
                  <a:txBody>
                    <a:bodyPr/>
                    <a:lstStyle/>
                    <a:p>
                      <a:r>
                        <a:rPr lang="en-US" sz="1000" dirty="0"/>
                        <a:t>Above</a:t>
                      </a:r>
                      <a:r>
                        <a:rPr lang="en-US" sz="1000" baseline="0" dirty="0"/>
                        <a:t> 500</a:t>
                      </a:r>
                      <a:endParaRPr lang="en-IN" sz="1000"/>
                    </a:p>
                  </a:txBody>
                  <a:tcPr marL="82918" marR="82918" marT="41459" marB="41459"/>
                </a:tc>
                <a:tc>
                  <a:txBody>
                    <a:bodyPr/>
                    <a:lstStyle/>
                    <a:p>
                      <a:endParaRPr lang="en-IN" sz="1000" dirty="0"/>
                    </a:p>
                  </a:txBody>
                  <a:tcPr marL="82918" marR="82918" marT="41459" marB="41459">
                    <a:solidFill>
                      <a:srgbClr val="375000"/>
                    </a:solidFill>
                  </a:tcPr>
                </a:tc>
                <a:extLst>
                  <a:ext uri="{0D108BD9-81ED-4DB2-BD59-A6C34878D82A}">
                    <a16:rowId xmlns:a16="http://schemas.microsoft.com/office/drawing/2014/main" val="10002"/>
                  </a:ext>
                </a:extLst>
              </a:tr>
              <a:tr h="234934">
                <a:tc>
                  <a:txBody>
                    <a:bodyPr/>
                    <a:lstStyle/>
                    <a:p>
                      <a:r>
                        <a:rPr lang="en-US" sz="1000"/>
                        <a:t>300 to 500</a:t>
                      </a:r>
                      <a:endParaRPr lang="en-IN" sz="1000" dirty="0"/>
                    </a:p>
                  </a:txBody>
                  <a:tcPr marL="82918" marR="82918" marT="41459" marB="41459"/>
                </a:tc>
                <a:tc>
                  <a:txBody>
                    <a:bodyPr/>
                    <a:lstStyle/>
                    <a:p>
                      <a:endParaRPr lang="en-IN" sz="1000" dirty="0"/>
                    </a:p>
                  </a:txBody>
                  <a:tcPr marL="82918" marR="82918" marT="41459" marB="41459">
                    <a:solidFill>
                      <a:srgbClr val="697B41"/>
                    </a:solidFill>
                  </a:tcPr>
                </a:tc>
                <a:extLst>
                  <a:ext uri="{0D108BD9-81ED-4DB2-BD59-A6C34878D82A}">
                    <a16:rowId xmlns:a16="http://schemas.microsoft.com/office/drawing/2014/main" val="10003"/>
                  </a:ext>
                </a:extLst>
              </a:tr>
              <a:tr h="234934">
                <a:tc>
                  <a:txBody>
                    <a:bodyPr/>
                    <a:lstStyle/>
                    <a:p>
                      <a:r>
                        <a:rPr lang="en-US" sz="1000"/>
                        <a:t>100</a:t>
                      </a:r>
                      <a:r>
                        <a:rPr lang="en-US" sz="1000" baseline="0"/>
                        <a:t> to 300</a:t>
                      </a:r>
                      <a:endParaRPr lang="en-IN" sz="1000"/>
                    </a:p>
                  </a:txBody>
                  <a:tcPr marL="82918" marR="82918" marT="41459" marB="41459"/>
                </a:tc>
                <a:tc>
                  <a:txBody>
                    <a:bodyPr/>
                    <a:lstStyle/>
                    <a:p>
                      <a:endParaRPr lang="en-IN" sz="1000" dirty="0"/>
                    </a:p>
                  </a:txBody>
                  <a:tcPr marL="82918" marR="82918" marT="41459" marB="41459">
                    <a:solidFill>
                      <a:srgbClr val="94A07A"/>
                    </a:solidFill>
                  </a:tcPr>
                </a:tc>
                <a:extLst>
                  <a:ext uri="{0D108BD9-81ED-4DB2-BD59-A6C34878D82A}">
                    <a16:rowId xmlns:a16="http://schemas.microsoft.com/office/drawing/2014/main" val="10004"/>
                  </a:ext>
                </a:extLst>
              </a:tr>
              <a:tr h="234934">
                <a:tc>
                  <a:txBody>
                    <a:bodyPr/>
                    <a:lstStyle/>
                    <a:p>
                      <a:r>
                        <a:rPr lang="en-US" sz="1000" dirty="0"/>
                        <a:t>20 to 100</a:t>
                      </a:r>
                      <a:endParaRPr lang="en-IN" sz="1000"/>
                    </a:p>
                  </a:txBody>
                  <a:tcPr marL="82918" marR="82918" marT="41459" marB="41459"/>
                </a:tc>
                <a:tc>
                  <a:txBody>
                    <a:bodyPr/>
                    <a:lstStyle/>
                    <a:p>
                      <a:endParaRPr lang="en-IN" sz="1000" dirty="0"/>
                    </a:p>
                  </a:txBody>
                  <a:tcPr marL="82918" marR="82918" marT="41459" marB="41459">
                    <a:solidFill>
                      <a:srgbClr val="C2C8B6"/>
                    </a:solidFill>
                  </a:tcPr>
                </a:tc>
                <a:extLst>
                  <a:ext uri="{0D108BD9-81ED-4DB2-BD59-A6C34878D82A}">
                    <a16:rowId xmlns:a16="http://schemas.microsoft.com/office/drawing/2014/main" val="10005"/>
                  </a:ext>
                </a:extLst>
              </a:tr>
              <a:tr h="234934">
                <a:tc>
                  <a:txBody>
                    <a:bodyPr/>
                    <a:lstStyle/>
                    <a:p>
                      <a:r>
                        <a:rPr lang="en-US" sz="1000" dirty="0"/>
                        <a:t>Below 20</a:t>
                      </a:r>
                      <a:endParaRPr lang="en-IN" sz="1000" dirty="0"/>
                    </a:p>
                  </a:txBody>
                  <a:tcPr marL="82918" marR="82918" marT="41459" marB="41459"/>
                </a:tc>
                <a:tc>
                  <a:txBody>
                    <a:bodyPr/>
                    <a:lstStyle/>
                    <a:p>
                      <a:endParaRPr lang="en-IN" sz="1000" dirty="0"/>
                    </a:p>
                  </a:txBody>
                  <a:tcPr marL="82918" marR="82918" marT="41459" marB="41459">
                    <a:solidFill>
                      <a:srgbClr val="ECECEC"/>
                    </a:solidFill>
                  </a:tcPr>
                </a:tc>
                <a:extLst>
                  <a:ext uri="{0D108BD9-81ED-4DB2-BD59-A6C34878D82A}">
                    <a16:rowId xmlns:a16="http://schemas.microsoft.com/office/drawing/2014/main" val="10006"/>
                  </a:ext>
                </a:extLst>
              </a:tr>
            </a:tbl>
          </a:graphicData>
        </a:graphic>
      </p:graphicFrame>
      <p:sp>
        <p:nvSpPr>
          <p:cNvPr id="24" name="TextBox 23"/>
          <p:cNvSpPr txBox="1"/>
          <p:nvPr/>
        </p:nvSpPr>
        <p:spPr>
          <a:xfrm>
            <a:off x="6752962" y="1468055"/>
            <a:ext cx="3547798" cy="2714269"/>
          </a:xfrm>
          <a:prstGeom prst="rect">
            <a:avLst/>
          </a:prstGeom>
          <a:noFill/>
        </p:spPr>
        <p:txBody>
          <a:bodyPr wrap="square" lIns="0" tIns="0" rIns="0" bIns="0" rtlCol="0">
            <a:spAutoFit/>
          </a:bodyPr>
          <a:lstStyle/>
          <a:p>
            <a:pPr marL="310942" indent="-310942" algn="just" defTabSz="945677">
              <a:lnSpc>
                <a:spcPct val="108000"/>
              </a:lnSpc>
              <a:spcAft>
                <a:spcPts val="544"/>
              </a:spcAft>
              <a:buSzPct val="100000"/>
              <a:buFont typeface="Arial" panose="020B0604020202020204" pitchFamily="34" charset="0"/>
              <a:buChar char="•"/>
            </a:pPr>
            <a:r>
              <a:rPr lang="en-US" sz="1451" dirty="0">
                <a:solidFill>
                  <a:srgbClr val="313131"/>
                </a:solidFill>
                <a:latin typeface="Arial" panose="020B0604020202020204" pitchFamily="34" charset="0"/>
                <a:cs typeface="Arial" panose="020B0604020202020204" pitchFamily="34" charset="0"/>
              </a:rPr>
              <a:t>States like AP, Tamil Nadu and Gujarat have the highest concentration of OA consumers, followed by Rajasthan, Punjab and Haryana.</a:t>
            </a:r>
          </a:p>
          <a:p>
            <a:pPr marL="310942" indent="-310942" algn="just" defTabSz="945677">
              <a:lnSpc>
                <a:spcPct val="108000"/>
              </a:lnSpc>
              <a:spcAft>
                <a:spcPts val="544"/>
              </a:spcAft>
              <a:buSzPct val="100000"/>
              <a:buFont typeface="Arial" panose="020B0604020202020204" pitchFamily="34" charset="0"/>
              <a:buChar char="•"/>
            </a:pPr>
            <a:r>
              <a:rPr lang="en-US" sz="1451" dirty="0">
                <a:solidFill>
                  <a:srgbClr val="313131"/>
                </a:solidFill>
                <a:latin typeface="Arial" panose="020B0604020202020204" pitchFamily="34" charset="0"/>
                <a:cs typeface="Arial" panose="020B0604020202020204" pitchFamily="34" charset="0"/>
              </a:rPr>
              <a:t>Apart from Power Exchanges, OA consumers also source power from – </a:t>
            </a:r>
          </a:p>
          <a:p>
            <a:pPr marL="783781" lvl="1" indent="-310942" algn="just" defTabSz="945677">
              <a:lnSpc>
                <a:spcPct val="108000"/>
              </a:lnSpc>
              <a:spcAft>
                <a:spcPts val="544"/>
              </a:spcAft>
              <a:buSzPct val="100000"/>
              <a:buFont typeface="Arial" panose="020B0604020202020204" pitchFamily="34" charset="0"/>
              <a:buChar char="−"/>
            </a:pPr>
            <a:r>
              <a:rPr lang="en-US" sz="1451" dirty="0">
                <a:solidFill>
                  <a:srgbClr val="313131"/>
                </a:solidFill>
                <a:latin typeface="Arial" panose="020B0604020202020204" pitchFamily="34" charset="0"/>
                <a:cs typeface="Arial" panose="020B0604020202020204" pitchFamily="34" charset="0"/>
              </a:rPr>
              <a:t>Generator</a:t>
            </a:r>
          </a:p>
          <a:p>
            <a:pPr marL="783781" lvl="1" indent="-310942" algn="just" defTabSz="945677">
              <a:lnSpc>
                <a:spcPct val="108000"/>
              </a:lnSpc>
              <a:spcAft>
                <a:spcPts val="544"/>
              </a:spcAft>
              <a:buSzPct val="100000"/>
              <a:buFont typeface="Arial" panose="020B0604020202020204" pitchFamily="34" charset="0"/>
              <a:buChar char="−"/>
            </a:pPr>
            <a:r>
              <a:rPr lang="en-US" sz="1451" dirty="0">
                <a:solidFill>
                  <a:srgbClr val="313131"/>
                </a:solidFill>
                <a:latin typeface="Arial" panose="020B0604020202020204" pitchFamily="34" charset="0"/>
                <a:cs typeface="Arial" panose="020B0604020202020204" pitchFamily="34" charset="0"/>
              </a:rPr>
              <a:t>Trader</a:t>
            </a:r>
          </a:p>
          <a:p>
            <a:pPr marL="783781" lvl="1" indent="-310942" algn="just" defTabSz="945677">
              <a:lnSpc>
                <a:spcPct val="108000"/>
              </a:lnSpc>
              <a:spcAft>
                <a:spcPts val="544"/>
              </a:spcAft>
              <a:buSzPct val="100000"/>
              <a:buFont typeface="Arial" panose="020B0604020202020204" pitchFamily="34" charset="0"/>
              <a:buChar char="−"/>
            </a:pPr>
            <a:r>
              <a:rPr lang="en-US" sz="1451" dirty="0">
                <a:solidFill>
                  <a:srgbClr val="313131"/>
                </a:solidFill>
                <a:latin typeface="Arial" panose="020B0604020202020204" pitchFamily="34" charset="0"/>
                <a:cs typeface="Arial" panose="020B0604020202020204" pitchFamily="34" charset="0"/>
              </a:rPr>
              <a:t>Captive power plants</a:t>
            </a:r>
          </a:p>
          <a:p>
            <a:pPr marL="310942" indent="-310942" algn="just" defTabSz="945677">
              <a:lnSpc>
                <a:spcPct val="108000"/>
              </a:lnSpc>
              <a:spcAft>
                <a:spcPts val="544"/>
              </a:spcAft>
              <a:buSzPct val="100000"/>
              <a:buFont typeface="Arial" panose="020B0604020202020204" pitchFamily="34" charset="0"/>
              <a:buChar char="•"/>
            </a:pPr>
            <a:endParaRPr lang="en-IN" sz="1451" dirty="0">
              <a:solidFill>
                <a:srgbClr val="313131"/>
              </a:solidFill>
              <a:latin typeface="Arial" panose="020B0604020202020204" pitchFamily="34" charset="0"/>
              <a:cs typeface="Arial" panose="020B0604020202020204" pitchFamily="34" charset="0"/>
            </a:endParaRPr>
          </a:p>
        </p:txBody>
      </p:sp>
      <p:sp>
        <p:nvSpPr>
          <p:cNvPr id="29" name="TextBox 28"/>
          <p:cNvSpPr txBox="1"/>
          <p:nvPr/>
        </p:nvSpPr>
        <p:spPr>
          <a:xfrm>
            <a:off x="1648572" y="6124909"/>
            <a:ext cx="4033136" cy="125547"/>
          </a:xfrm>
          <a:prstGeom prst="rect">
            <a:avLst/>
          </a:prstGeom>
          <a:noFill/>
        </p:spPr>
        <p:txBody>
          <a:bodyPr wrap="square" lIns="0" tIns="0" rIns="0" bIns="0" rtlCol="0">
            <a:spAutoFit/>
          </a:bodyPr>
          <a:lstStyle/>
          <a:p>
            <a:pPr algn="just" defTabSz="945677">
              <a:spcBef>
                <a:spcPts val="544"/>
              </a:spcBef>
              <a:buSzPct val="100000"/>
            </a:pPr>
            <a:r>
              <a:rPr lang="en-US" sz="816" i="1" dirty="0">
                <a:solidFill>
                  <a:srgbClr val="313131"/>
                </a:solidFill>
                <a:latin typeface="Arial" panose="020B0604020202020204" pitchFamily="34" charset="0"/>
                <a:cs typeface="Arial" panose="020B0604020202020204" pitchFamily="34" charset="0"/>
              </a:rPr>
              <a:t>Source: CERC </a:t>
            </a:r>
            <a:r>
              <a:rPr lang="en-IN" sz="816" i="1" dirty="0">
                <a:solidFill>
                  <a:srgbClr val="313131"/>
                </a:solidFill>
                <a:latin typeface="Arial" panose="020B0604020202020204" pitchFamily="34" charset="0"/>
                <a:cs typeface="Arial" panose="020B0604020202020204" pitchFamily="34" charset="0"/>
              </a:rPr>
              <a:t>Report on Short-term Power Market in India, 2015-16</a:t>
            </a:r>
          </a:p>
        </p:txBody>
      </p:sp>
      <p:sp>
        <p:nvSpPr>
          <p:cNvPr id="3" name="Title 2"/>
          <p:cNvSpPr>
            <a:spLocks noGrp="1"/>
          </p:cNvSpPr>
          <p:nvPr>
            <p:ph type="title"/>
          </p:nvPr>
        </p:nvSpPr>
        <p:spPr/>
        <p:txBody>
          <a:bodyPr vert="horz" lIns="0" tIns="0" rIns="0" bIns="0" rtlCol="0" anchor="t" anchorCtr="0">
            <a:noAutofit/>
          </a:bodyPr>
          <a:lstStyle/>
          <a:p>
            <a:pPr algn="just"/>
            <a:r>
              <a:rPr lang="en-US" sz="2176" b="1" dirty="0">
                <a:solidFill>
                  <a:srgbClr val="92D050"/>
                </a:solidFill>
                <a:latin typeface="Arial" panose="020B0604020202020204" pitchFamily="34" charset="0"/>
                <a:cs typeface="Arial" panose="020B0604020202020204" pitchFamily="34" charset="0"/>
              </a:rPr>
              <a:t>State wise snapshot of Open Access consumers</a:t>
            </a:r>
            <a:endParaRPr lang="en-IN" sz="2176" b="1" dirty="0">
              <a:solidFill>
                <a:srgbClr val="92D050"/>
              </a:solidFill>
              <a:latin typeface="Arial" panose="020B0604020202020204" pitchFamily="34" charset="0"/>
              <a:cs typeface="Arial" panose="020B0604020202020204" pitchFamily="34" charset="0"/>
            </a:endParaRPr>
          </a:p>
        </p:txBody>
      </p:sp>
      <p:sp>
        <p:nvSpPr>
          <p:cNvPr id="8" name="TextBox 7"/>
          <p:cNvSpPr txBox="1"/>
          <p:nvPr/>
        </p:nvSpPr>
        <p:spPr>
          <a:xfrm>
            <a:off x="2803922" y="899393"/>
            <a:ext cx="3724312" cy="427040"/>
          </a:xfrm>
          <a:prstGeom prst="rect">
            <a:avLst/>
          </a:prstGeom>
          <a:noFill/>
        </p:spPr>
        <p:txBody>
          <a:bodyPr wrap="square" lIns="0" tIns="0" rIns="0" bIns="0" rtlCol="0">
            <a:spAutoFit/>
          </a:bodyPr>
          <a:lstStyle/>
          <a:p>
            <a:pPr algn="ctr" defTabSz="945677">
              <a:lnSpc>
                <a:spcPct val="114000"/>
              </a:lnSpc>
              <a:buSzPct val="100000"/>
            </a:pPr>
            <a:r>
              <a:rPr lang="en-US" sz="1270" b="1" dirty="0">
                <a:solidFill>
                  <a:srgbClr val="313131"/>
                </a:solidFill>
                <a:latin typeface="Arial" panose="020B0604020202020204" pitchFamily="34" charset="0"/>
                <a:cs typeface="Arial" panose="020B0604020202020204" pitchFamily="34" charset="0"/>
              </a:rPr>
              <a:t>State-wise number of OA consumers sourcing power through PXs as on Mar 31, 2016</a:t>
            </a:r>
          </a:p>
        </p:txBody>
      </p:sp>
    </p:spTree>
    <p:extLst>
      <p:ext uri="{BB962C8B-B14F-4D97-AF65-F5344CB8AC3E}">
        <p14:creationId xmlns:p14="http://schemas.microsoft.com/office/powerpoint/2010/main" val="519129171"/>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p:cNvSpPr txBox="1">
            <a:spLocks/>
          </p:cNvSpPr>
          <p:nvPr/>
        </p:nvSpPr>
        <p:spPr>
          <a:xfrm>
            <a:off x="319154" y="228382"/>
            <a:ext cx="11480938" cy="5997256"/>
          </a:xfrm>
          <a:prstGeom prst="rect">
            <a:avLst/>
          </a:prstGeom>
          <a:ln w="3175">
            <a:noFill/>
          </a:ln>
        </p:spPr>
        <p:txBody>
          <a:bodyPr vert="horz" lIns="180000" tIns="180000" rIns="180000" bIns="180000" rtlCol="0" anchor="ctr">
            <a:noAutofit/>
          </a:bodyPr>
          <a:lstStyle>
            <a:lvl1pPr marL="0" indent="0" algn="l" defTabSz="914400" rtl="0" eaLnBrk="1" latinLnBrk="0" hangingPunct="1">
              <a:lnSpc>
                <a:spcPct val="140000"/>
              </a:lnSpc>
              <a:spcBef>
                <a:spcPts val="0"/>
              </a:spcBef>
              <a:spcAft>
                <a:spcPts val="1000"/>
              </a:spcAft>
              <a:buFont typeface="Arial" panose="020B0604020202020204" pitchFamily="34" charset="0"/>
              <a:buNone/>
              <a:defRPr sz="1200" kern="1200">
                <a:solidFill>
                  <a:schemeClr val="tx1"/>
                </a:solidFill>
                <a:latin typeface="+mn-lt"/>
                <a:ea typeface="+mn-ea"/>
                <a:cs typeface="+mn-cs"/>
              </a:defRPr>
            </a:lvl1pPr>
            <a:lvl2pPr marL="0" indent="0" algn="l" defTabSz="914400" rtl="0" eaLnBrk="1" latinLnBrk="0" hangingPunct="1">
              <a:lnSpc>
                <a:spcPct val="140000"/>
              </a:lnSpc>
              <a:spcBef>
                <a:spcPts val="0"/>
              </a:spcBef>
              <a:spcAft>
                <a:spcPts val="0"/>
              </a:spcAft>
              <a:buFont typeface="Arial" panose="020B0604020202020204" pitchFamily="34" charset="0"/>
              <a:buNone/>
              <a:defRPr sz="1200" b="1" kern="1200">
                <a:solidFill>
                  <a:schemeClr val="tx1"/>
                </a:solidFill>
                <a:latin typeface="+mn-lt"/>
                <a:ea typeface="Open Sans" panose="020B0606030504020204" pitchFamily="34" charset="0"/>
                <a:cs typeface="Open Sans" panose="020B0606030504020204" pitchFamily="34" charset="0"/>
              </a:defRPr>
            </a:lvl2pPr>
            <a:lvl3pPr marL="177800" indent="-177800" algn="l" defTabSz="914400" rtl="0" eaLnBrk="1" latinLnBrk="0" hangingPunct="1">
              <a:lnSpc>
                <a:spcPct val="140000"/>
              </a:lnSpc>
              <a:spcBef>
                <a:spcPts val="1000"/>
              </a:spcBef>
              <a:spcAft>
                <a:spcPts val="0"/>
              </a:spcAft>
              <a:buFont typeface="Arial" panose="020B0604020202020204" pitchFamily="34" charset="0"/>
              <a:buChar char="•"/>
              <a:defRPr sz="1200" kern="1200">
                <a:solidFill>
                  <a:schemeClr val="tx1"/>
                </a:solidFill>
                <a:latin typeface="+mn-lt"/>
                <a:ea typeface="+mn-ea"/>
                <a:cs typeface="+mn-cs"/>
              </a:defRPr>
            </a:lvl3pPr>
            <a:lvl4pPr marL="3556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4pPr>
            <a:lvl5pPr marL="533400" indent="-177800" algn="l" defTabSz="914400" rtl="0" eaLnBrk="1" latinLnBrk="0" hangingPunct="1">
              <a:lnSpc>
                <a:spcPct val="140000"/>
              </a:lnSpc>
              <a:spcBef>
                <a:spcPts val="0"/>
              </a:spcBef>
              <a:spcAft>
                <a:spcPts val="0"/>
              </a:spcAft>
              <a:buFont typeface="Metric Light"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5000"/>
              </a:lnSpc>
              <a:spcBef>
                <a:spcPts val="0"/>
              </a:spcBef>
              <a:spcAft>
                <a:spcPts val="0"/>
              </a:spcAft>
              <a:buClrTx/>
              <a:buSzTx/>
              <a:buFont typeface="Arial" panose="020B0604020202020204" pitchFamily="34" charset="0"/>
              <a:buNone/>
              <a:tabLst/>
              <a:defRPr/>
            </a:pPr>
            <a:r>
              <a:rPr kumimoji="0" lang="en-GB" sz="399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Annexure</a:t>
            </a:r>
          </a:p>
        </p:txBody>
      </p:sp>
    </p:spTree>
    <p:extLst>
      <p:ext uri="{BB962C8B-B14F-4D97-AF65-F5344CB8AC3E}">
        <p14:creationId xmlns:p14="http://schemas.microsoft.com/office/powerpoint/2010/main" val="2195809914"/>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D306BC3E-1B6D-40FE-BF58-0C4CB5611288}"/>
              </a:ext>
            </a:extLst>
          </p:cNvPr>
          <p:cNvGraphicFramePr>
            <a:graphicFrameLocks noGrp="1"/>
          </p:cNvGraphicFramePr>
          <p:nvPr/>
        </p:nvGraphicFramePr>
        <p:xfrm>
          <a:off x="501652" y="1086046"/>
          <a:ext cx="11180232" cy="5476225"/>
        </p:xfrm>
        <a:graphic>
          <a:graphicData uri="http://schemas.openxmlformats.org/drawingml/2006/table">
            <a:tbl>
              <a:tblPr firstRow="1" bandRow="1">
                <a:tableStyleId>{5C22544A-7EE6-4342-B048-85BDC9FD1C3A}</a:tableStyleId>
              </a:tblPr>
              <a:tblGrid>
                <a:gridCol w="2757003">
                  <a:extLst>
                    <a:ext uri="{9D8B030D-6E8A-4147-A177-3AD203B41FA5}">
                      <a16:colId xmlns:a16="http://schemas.microsoft.com/office/drawing/2014/main" val="670012428"/>
                    </a:ext>
                  </a:extLst>
                </a:gridCol>
                <a:gridCol w="3947803">
                  <a:extLst>
                    <a:ext uri="{9D8B030D-6E8A-4147-A177-3AD203B41FA5}">
                      <a16:colId xmlns:a16="http://schemas.microsoft.com/office/drawing/2014/main" val="709850629"/>
                    </a:ext>
                  </a:extLst>
                </a:gridCol>
                <a:gridCol w="2217773">
                  <a:extLst>
                    <a:ext uri="{9D8B030D-6E8A-4147-A177-3AD203B41FA5}">
                      <a16:colId xmlns:a16="http://schemas.microsoft.com/office/drawing/2014/main" val="2539367416"/>
                    </a:ext>
                  </a:extLst>
                </a:gridCol>
                <a:gridCol w="2257653">
                  <a:extLst>
                    <a:ext uri="{9D8B030D-6E8A-4147-A177-3AD203B41FA5}">
                      <a16:colId xmlns:a16="http://schemas.microsoft.com/office/drawing/2014/main" val="314542416"/>
                    </a:ext>
                  </a:extLst>
                </a:gridCol>
              </a:tblGrid>
              <a:tr h="218182">
                <a:tc>
                  <a:txBody>
                    <a:bodyPr/>
                    <a:lstStyle/>
                    <a:p>
                      <a:pPr algn="ctr" fontAlgn="ctr"/>
                      <a:r>
                        <a:rPr lang="en-US" sz="1400" u="none" strike="noStrike">
                          <a:effectLst/>
                        </a:rPr>
                        <a:t>Constituent </a:t>
                      </a:r>
                      <a:endParaRPr lang="en-US" sz="1400" b="1"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Station</a:t>
                      </a:r>
                      <a:endParaRPr lang="en-US" sz="1400" b="1"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Share in MW</a:t>
                      </a:r>
                      <a:endParaRPr lang="en-US" sz="1400" b="1"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Rate (Apr-Dec) 2019</a:t>
                      </a:r>
                      <a:endParaRPr lang="en-US" sz="1400" b="1"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2019564363"/>
                  </a:ext>
                </a:extLst>
              </a:tr>
              <a:tr h="218182">
                <a:tc rowSpan="11">
                  <a:txBody>
                    <a:bodyPr/>
                    <a:lstStyle/>
                    <a:p>
                      <a:pPr algn="ctr" fontAlgn="ctr"/>
                      <a:r>
                        <a:rPr lang="en-US" sz="1400" u="none" strike="noStrike" dirty="0">
                          <a:effectLst/>
                        </a:rPr>
                        <a:t>WBSEDCL HYDEL</a:t>
                      </a:r>
                      <a:endParaRPr lang="en-US" sz="1400" b="1" i="0" u="none" strike="noStrike" dirty="0">
                        <a:solidFill>
                          <a:srgbClr val="000000"/>
                        </a:solidFill>
                        <a:effectLst/>
                        <a:latin typeface="Calibri" panose="020F0502020204030204" pitchFamily="34" charset="0"/>
                      </a:endParaRPr>
                    </a:p>
                  </a:txBody>
                  <a:tcPr marL="5689" marR="5689" marT="5689" marB="0" anchor="ctr"/>
                </a:tc>
                <a:tc>
                  <a:txBody>
                    <a:bodyPr/>
                    <a:lstStyle/>
                    <a:p>
                      <a:pPr algn="l" fontAlgn="ctr"/>
                      <a:r>
                        <a:rPr lang="en-US" sz="1400" u="none" strike="noStrike">
                          <a:effectLst/>
                        </a:rPr>
                        <a:t>RHP (Rammam)</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51</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682308486"/>
                  </a:ext>
                </a:extLst>
              </a:tr>
              <a:tr h="218182">
                <a:tc vMerge="1">
                  <a:txBody>
                    <a:bodyPr/>
                    <a:lstStyle/>
                    <a:p>
                      <a:endParaRPr lang="en-US"/>
                    </a:p>
                  </a:txBody>
                  <a:tcPr/>
                </a:tc>
                <a:tc>
                  <a:txBody>
                    <a:bodyPr/>
                    <a:lstStyle/>
                    <a:p>
                      <a:pPr algn="l" fontAlgn="ctr"/>
                      <a:r>
                        <a:rPr lang="en-US" sz="1400" u="none" strike="noStrike">
                          <a:effectLst/>
                        </a:rPr>
                        <a:t>JHP (Jaldhaka)</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44</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691946918"/>
                  </a:ext>
                </a:extLst>
              </a:tr>
              <a:tr h="218182">
                <a:tc vMerge="1">
                  <a:txBody>
                    <a:bodyPr/>
                    <a:lstStyle/>
                    <a:p>
                      <a:endParaRPr lang="en-US"/>
                    </a:p>
                  </a:txBody>
                  <a:tcPr/>
                </a:tc>
                <a:tc>
                  <a:txBody>
                    <a:bodyPr/>
                    <a:lstStyle/>
                    <a:p>
                      <a:pPr algn="l" fontAlgn="ctr"/>
                      <a:r>
                        <a:rPr lang="en-US" sz="1400" u="none" strike="noStrike">
                          <a:effectLst/>
                        </a:rPr>
                        <a:t>TCF (Teesta Canal)</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68</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797436012"/>
                  </a:ext>
                </a:extLst>
              </a:tr>
              <a:tr h="218182">
                <a:tc vMerge="1">
                  <a:txBody>
                    <a:bodyPr/>
                    <a:lstStyle/>
                    <a:p>
                      <a:endParaRPr lang="en-US"/>
                    </a:p>
                  </a:txBody>
                  <a:tcPr/>
                </a:tc>
                <a:tc>
                  <a:txBody>
                    <a:bodyPr/>
                    <a:lstStyle/>
                    <a:p>
                      <a:pPr algn="l" fontAlgn="ctr"/>
                      <a:r>
                        <a:rPr lang="en-US" sz="1400" u="none" strike="noStrike">
                          <a:effectLst/>
                        </a:rPr>
                        <a:t>Massanjore Hydel Project</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566954826"/>
                  </a:ext>
                </a:extLst>
              </a:tr>
              <a:tr h="218078">
                <a:tc vMerge="1">
                  <a:txBody>
                    <a:bodyPr/>
                    <a:lstStyle/>
                    <a:p>
                      <a:endParaRPr lang="en-US"/>
                    </a:p>
                  </a:txBody>
                  <a:tcPr/>
                </a:tc>
                <a:tc>
                  <a:txBody>
                    <a:bodyPr/>
                    <a:lstStyle/>
                    <a:p>
                      <a:pPr algn="l" fontAlgn="ctr"/>
                      <a:r>
                        <a:rPr lang="en-US" sz="1400" u="none" strike="noStrike">
                          <a:effectLst/>
                        </a:rPr>
                        <a:t>Rinchington Hydel Project</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1205581468"/>
                  </a:ext>
                </a:extLst>
              </a:tr>
              <a:tr h="218182">
                <a:tc vMerge="1">
                  <a:txBody>
                    <a:bodyPr/>
                    <a:lstStyle/>
                    <a:p>
                      <a:endParaRPr lang="en-US"/>
                    </a:p>
                  </a:txBody>
                  <a:tcPr/>
                </a:tc>
                <a:tc>
                  <a:txBody>
                    <a:bodyPr/>
                    <a:lstStyle/>
                    <a:p>
                      <a:pPr algn="l" fontAlgn="ctr"/>
                      <a:r>
                        <a:rPr lang="en-US" sz="1400" u="none" strike="noStrike">
                          <a:effectLst/>
                        </a:rPr>
                        <a:t>Little Rangit Hydel Project</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2408615307"/>
                  </a:ext>
                </a:extLst>
              </a:tr>
              <a:tr h="218182">
                <a:tc vMerge="1">
                  <a:txBody>
                    <a:bodyPr/>
                    <a:lstStyle/>
                    <a:p>
                      <a:endParaRPr lang="en-US"/>
                    </a:p>
                  </a:txBody>
                  <a:tcPr/>
                </a:tc>
                <a:tc>
                  <a:txBody>
                    <a:bodyPr/>
                    <a:lstStyle/>
                    <a:p>
                      <a:pPr algn="l" fontAlgn="ctr"/>
                      <a:r>
                        <a:rPr lang="en-US" sz="1400" u="none" strike="noStrike">
                          <a:effectLst/>
                        </a:rPr>
                        <a:t>Mungpoo Kalikhola hydel project</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712092029"/>
                  </a:ext>
                </a:extLst>
              </a:tr>
              <a:tr h="218182">
                <a:tc vMerge="1">
                  <a:txBody>
                    <a:bodyPr/>
                    <a:lstStyle/>
                    <a:p>
                      <a:endParaRPr lang="en-US"/>
                    </a:p>
                  </a:txBody>
                  <a:tcPr/>
                </a:tc>
                <a:tc>
                  <a:txBody>
                    <a:bodyPr/>
                    <a:lstStyle/>
                    <a:p>
                      <a:pPr algn="l" fontAlgn="ctr"/>
                      <a:r>
                        <a:rPr lang="en-US" sz="1400" u="none" strike="noStrike">
                          <a:effectLst/>
                        </a:rPr>
                        <a:t>Sidrapong Hydel Project</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0.33</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842805302"/>
                  </a:ext>
                </a:extLst>
              </a:tr>
              <a:tr h="218182">
                <a:tc vMerge="1">
                  <a:txBody>
                    <a:bodyPr/>
                    <a:lstStyle/>
                    <a:p>
                      <a:endParaRPr lang="en-US"/>
                    </a:p>
                  </a:txBody>
                  <a:tcPr/>
                </a:tc>
                <a:tc>
                  <a:txBody>
                    <a:bodyPr/>
                    <a:lstStyle/>
                    <a:p>
                      <a:pPr algn="l" fontAlgn="ctr"/>
                      <a:r>
                        <a:rPr lang="en-US" sz="1400" u="none" strike="noStrike">
                          <a:effectLst/>
                        </a:rPr>
                        <a:t>Fazi Hydel project</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829625565"/>
                  </a:ext>
                </a:extLst>
              </a:tr>
              <a:tr h="218182">
                <a:tc vMerge="1">
                  <a:txBody>
                    <a:bodyPr/>
                    <a:lstStyle/>
                    <a:p>
                      <a:endParaRPr lang="en-US"/>
                    </a:p>
                  </a:txBody>
                  <a:tcPr/>
                </a:tc>
                <a:tc>
                  <a:txBody>
                    <a:bodyPr/>
                    <a:lstStyle/>
                    <a:p>
                      <a:pPr algn="l" fontAlgn="ctr"/>
                      <a:r>
                        <a:rPr lang="en-US" sz="1400" u="none" strike="noStrike">
                          <a:effectLst/>
                        </a:rPr>
                        <a:t>PPSP</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900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2092638064"/>
                  </a:ext>
                </a:extLst>
              </a:tr>
              <a:tr h="218182">
                <a:tc vMerge="1">
                  <a:txBody>
                    <a:bodyPr/>
                    <a:lstStyle/>
                    <a:p>
                      <a:endParaRPr lang="en-US"/>
                    </a:p>
                  </a:txBody>
                  <a:tcPr/>
                </a:tc>
                <a:tc>
                  <a:txBody>
                    <a:bodyPr/>
                    <a:lstStyle/>
                    <a:p>
                      <a:pPr algn="l" fontAlgn="ctr"/>
                      <a:r>
                        <a:rPr lang="en-US" sz="1400" u="none" strike="noStrike">
                          <a:effectLst/>
                        </a:rPr>
                        <a:t>Total</a:t>
                      </a:r>
                      <a:endParaRPr lang="en-US" sz="1400" b="1"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1075</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53428902"/>
                  </a:ext>
                </a:extLst>
              </a:tr>
              <a:tr h="218182">
                <a:tc rowSpan="6">
                  <a:txBody>
                    <a:bodyPr/>
                    <a:lstStyle/>
                    <a:p>
                      <a:pPr algn="ctr" fontAlgn="ctr"/>
                      <a:r>
                        <a:rPr lang="en-US" sz="1400" u="none" strike="noStrike">
                          <a:effectLst/>
                        </a:rPr>
                        <a:t>WBSEDCL</a:t>
                      </a:r>
                      <a:endParaRPr lang="en-US" sz="1400" b="1" i="0" u="none" strike="noStrike">
                        <a:solidFill>
                          <a:srgbClr val="000000"/>
                        </a:solidFill>
                        <a:effectLst/>
                        <a:latin typeface="Calibri" panose="020F0502020204030204" pitchFamily="34" charset="0"/>
                      </a:endParaRPr>
                    </a:p>
                  </a:txBody>
                  <a:tcPr marL="5689" marR="5689" marT="5689" marB="0" anchor="ctr"/>
                </a:tc>
                <a:tc>
                  <a:txBody>
                    <a:bodyPr/>
                    <a:lstStyle/>
                    <a:p>
                      <a:pPr algn="l" fontAlgn="ctr"/>
                      <a:r>
                        <a:rPr lang="en-US" sz="1400" u="none" strike="noStrike">
                          <a:effectLst/>
                        </a:rPr>
                        <a:t>TCF Solar</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20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2268703679"/>
                  </a:ext>
                </a:extLst>
              </a:tr>
              <a:tr h="218182">
                <a:tc vMerge="1">
                  <a:txBody>
                    <a:bodyPr/>
                    <a:lstStyle/>
                    <a:p>
                      <a:endParaRPr lang="en-US"/>
                    </a:p>
                  </a:txBody>
                  <a:tcPr/>
                </a:tc>
                <a:tc>
                  <a:txBody>
                    <a:bodyPr/>
                    <a:lstStyle/>
                    <a:p>
                      <a:pPr algn="l" fontAlgn="ctr"/>
                      <a:r>
                        <a:rPr lang="en-US" sz="1400" u="none" strike="noStrike">
                          <a:effectLst/>
                        </a:rPr>
                        <a:t>Salboni solar</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2257105006"/>
                  </a:ext>
                </a:extLst>
              </a:tr>
              <a:tr h="218182">
                <a:tc vMerge="1">
                  <a:txBody>
                    <a:bodyPr/>
                    <a:lstStyle/>
                    <a:p>
                      <a:endParaRPr lang="en-US"/>
                    </a:p>
                  </a:txBody>
                  <a:tcPr/>
                </a:tc>
                <a:tc>
                  <a:txBody>
                    <a:bodyPr/>
                    <a:lstStyle/>
                    <a:p>
                      <a:pPr algn="l" fontAlgn="ctr"/>
                      <a:r>
                        <a:rPr lang="en-US" sz="1400" u="none" strike="noStrike">
                          <a:effectLst/>
                        </a:rPr>
                        <a:t>Patni solar</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939370263"/>
                  </a:ext>
                </a:extLst>
              </a:tr>
              <a:tr h="218182">
                <a:tc vMerge="1">
                  <a:txBody>
                    <a:bodyPr/>
                    <a:lstStyle/>
                    <a:p>
                      <a:endParaRPr lang="en-US"/>
                    </a:p>
                  </a:txBody>
                  <a:tcPr/>
                </a:tc>
                <a:tc>
                  <a:txBody>
                    <a:bodyPr/>
                    <a:lstStyle/>
                    <a:p>
                      <a:pPr algn="l" fontAlgn="ctr"/>
                      <a:r>
                        <a:rPr lang="en-US" sz="1400" u="none" strike="noStrike">
                          <a:effectLst/>
                        </a:rPr>
                        <a:t>Mejia Solar</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1253752481"/>
                  </a:ext>
                </a:extLst>
              </a:tr>
              <a:tr h="218182">
                <a:tc vMerge="1">
                  <a:txBody>
                    <a:bodyPr/>
                    <a:lstStyle/>
                    <a:p>
                      <a:endParaRPr lang="en-US"/>
                    </a:p>
                  </a:txBody>
                  <a:tcPr/>
                </a:tc>
                <a:tc>
                  <a:txBody>
                    <a:bodyPr/>
                    <a:lstStyle/>
                    <a:p>
                      <a:pPr algn="l" fontAlgn="ctr"/>
                      <a:r>
                        <a:rPr lang="en-US" sz="1400" u="none" strike="noStrike">
                          <a:effectLst/>
                        </a:rPr>
                        <a:t>Chharrah solar</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20653978"/>
                  </a:ext>
                </a:extLst>
              </a:tr>
              <a:tr h="218182">
                <a:tc vMerge="1">
                  <a:txBody>
                    <a:bodyPr/>
                    <a:lstStyle/>
                    <a:p>
                      <a:endParaRPr lang="en-US"/>
                    </a:p>
                  </a:txBody>
                  <a:tcPr/>
                </a:tc>
                <a:tc>
                  <a:txBody>
                    <a:bodyPr/>
                    <a:lstStyle/>
                    <a:p>
                      <a:pPr algn="l" fontAlgn="ctr"/>
                      <a:r>
                        <a:rPr lang="en-US" sz="1400" u="none" strike="noStrike">
                          <a:effectLst/>
                        </a:rPr>
                        <a:t>Total </a:t>
                      </a:r>
                      <a:endParaRPr lang="en-US" sz="1400" b="1"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60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2088372920"/>
                  </a:ext>
                </a:extLst>
              </a:tr>
              <a:tr h="218182">
                <a:tc rowSpan="7">
                  <a:txBody>
                    <a:bodyPr/>
                    <a:lstStyle/>
                    <a:p>
                      <a:pPr algn="ctr" fontAlgn="ctr"/>
                      <a:r>
                        <a:rPr lang="en-US" sz="1400" u="none" strike="noStrike">
                          <a:effectLst/>
                        </a:rPr>
                        <a:t>WBPDCL</a:t>
                      </a:r>
                      <a:endParaRPr lang="en-US" sz="1400" b="1" i="0" u="none" strike="noStrike">
                        <a:solidFill>
                          <a:srgbClr val="000000"/>
                        </a:solidFill>
                        <a:effectLst/>
                        <a:latin typeface="Calibri" panose="020F0502020204030204" pitchFamily="34" charset="0"/>
                      </a:endParaRPr>
                    </a:p>
                  </a:txBody>
                  <a:tcPr marL="5689" marR="5689" marT="5689" marB="0" anchor="ctr"/>
                </a:tc>
                <a:tc>
                  <a:txBody>
                    <a:bodyPr/>
                    <a:lstStyle/>
                    <a:p>
                      <a:pPr algn="l" fontAlgn="ctr"/>
                      <a:r>
                        <a:rPr lang="en-US" sz="1400" u="none" strike="noStrike">
                          <a:effectLst/>
                        </a:rPr>
                        <a:t>BTPS (bandel)</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335</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4.74</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4077226708"/>
                  </a:ext>
                </a:extLst>
              </a:tr>
              <a:tr h="218182">
                <a:tc vMerge="1">
                  <a:txBody>
                    <a:bodyPr/>
                    <a:lstStyle/>
                    <a:p>
                      <a:endParaRPr lang="en-US"/>
                    </a:p>
                  </a:txBody>
                  <a:tcPr/>
                </a:tc>
                <a:tc>
                  <a:txBody>
                    <a:bodyPr/>
                    <a:lstStyle/>
                    <a:p>
                      <a:pPr algn="l" fontAlgn="ctr"/>
                      <a:r>
                        <a:rPr lang="en-US" sz="1400" u="none" strike="noStrike">
                          <a:effectLst/>
                        </a:rPr>
                        <a:t>STPS (Santaldih)</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500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4.12</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157584576"/>
                  </a:ext>
                </a:extLst>
              </a:tr>
              <a:tr h="218182">
                <a:tc vMerge="1">
                  <a:txBody>
                    <a:bodyPr/>
                    <a:lstStyle/>
                    <a:p>
                      <a:endParaRPr lang="en-US"/>
                    </a:p>
                  </a:txBody>
                  <a:tcPr/>
                </a:tc>
                <a:tc>
                  <a:txBody>
                    <a:bodyPr/>
                    <a:lstStyle/>
                    <a:p>
                      <a:pPr algn="l" fontAlgn="ctr"/>
                      <a:r>
                        <a:rPr lang="en-US" sz="1400" u="none" strike="noStrike">
                          <a:effectLst/>
                        </a:rPr>
                        <a:t>KTPP (Kolaghat)</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1260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4.74</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1452958"/>
                  </a:ext>
                </a:extLst>
              </a:tr>
              <a:tr h="218182">
                <a:tc vMerge="1">
                  <a:txBody>
                    <a:bodyPr/>
                    <a:lstStyle/>
                    <a:p>
                      <a:endParaRPr lang="en-US"/>
                    </a:p>
                  </a:txBody>
                  <a:tcPr/>
                </a:tc>
                <a:tc>
                  <a:txBody>
                    <a:bodyPr/>
                    <a:lstStyle/>
                    <a:p>
                      <a:pPr algn="l" fontAlgn="ctr"/>
                      <a:r>
                        <a:rPr lang="en-US" sz="1400" u="none" strike="noStrike">
                          <a:effectLst/>
                        </a:rPr>
                        <a:t>BkTPP (Bakreshwar)</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1050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3.8/3.88</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375308225"/>
                  </a:ext>
                </a:extLst>
              </a:tr>
              <a:tr h="218182">
                <a:tc vMerge="1">
                  <a:txBody>
                    <a:bodyPr/>
                    <a:lstStyle/>
                    <a:p>
                      <a:endParaRPr lang="en-US"/>
                    </a:p>
                  </a:txBody>
                  <a:tcPr/>
                </a:tc>
                <a:tc>
                  <a:txBody>
                    <a:bodyPr/>
                    <a:lstStyle/>
                    <a:p>
                      <a:pPr algn="l" fontAlgn="ctr"/>
                      <a:r>
                        <a:rPr lang="en-US" sz="1400" u="none" strike="noStrike">
                          <a:effectLst/>
                        </a:rPr>
                        <a:t>SgTPP (Sagardighi)</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1600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4.68/4.78</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227870017"/>
                  </a:ext>
                </a:extLst>
              </a:tr>
              <a:tr h="218182">
                <a:tc vMerge="1">
                  <a:txBody>
                    <a:bodyPr/>
                    <a:lstStyle/>
                    <a:p>
                      <a:endParaRPr lang="en-US"/>
                    </a:p>
                  </a:txBody>
                  <a:tcPr/>
                </a:tc>
                <a:tc>
                  <a:txBody>
                    <a:bodyPr/>
                    <a:lstStyle/>
                    <a:p>
                      <a:pPr algn="l" fontAlgn="ctr"/>
                      <a:r>
                        <a:rPr lang="en-US" sz="1400" u="none" strike="noStrike">
                          <a:effectLst/>
                        </a:rPr>
                        <a:t>DPL</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550</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4.07</a:t>
                      </a:r>
                      <a:endParaRPr lang="en-US" sz="1400" b="0" i="0" u="none" strike="noStrike">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2069013834"/>
                  </a:ext>
                </a:extLst>
              </a:tr>
              <a:tr h="218182">
                <a:tc vMerge="1">
                  <a:txBody>
                    <a:bodyPr/>
                    <a:lstStyle/>
                    <a:p>
                      <a:endParaRPr lang="en-US"/>
                    </a:p>
                  </a:txBody>
                  <a:tcPr/>
                </a:tc>
                <a:tc>
                  <a:txBody>
                    <a:bodyPr/>
                    <a:lstStyle/>
                    <a:p>
                      <a:pPr algn="l" fontAlgn="ctr"/>
                      <a:r>
                        <a:rPr lang="en-US" sz="1400" u="none" strike="noStrike">
                          <a:effectLst/>
                        </a:rPr>
                        <a:t>Total</a:t>
                      </a:r>
                      <a:endParaRPr lang="en-US" sz="1400" b="1"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a:effectLst/>
                        </a:rPr>
                        <a:t>5295</a:t>
                      </a:r>
                      <a:endParaRPr lang="en-US" sz="1400" b="0" i="0" u="none" strike="noStrike">
                        <a:solidFill>
                          <a:srgbClr val="000000"/>
                        </a:solidFill>
                        <a:effectLst/>
                        <a:latin typeface="Calibri" panose="020F0502020204030204" pitchFamily="34" charset="0"/>
                      </a:endParaRPr>
                    </a:p>
                  </a:txBody>
                  <a:tcPr marL="5689" marR="5689" marT="5689" marB="0" anchor="ctr"/>
                </a:tc>
                <a:tc>
                  <a:txBody>
                    <a:bodyPr/>
                    <a:lstStyle/>
                    <a:p>
                      <a:pPr algn="ctr" fontAlgn="ctr"/>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689" marR="5689" marT="5689" marB="0" anchor="ctr"/>
                </a:tc>
                <a:extLst>
                  <a:ext uri="{0D108BD9-81ED-4DB2-BD59-A6C34878D82A}">
                    <a16:rowId xmlns:a16="http://schemas.microsoft.com/office/drawing/2014/main" val="382378647"/>
                  </a:ext>
                </a:extLst>
              </a:tr>
            </a:tbl>
          </a:graphicData>
        </a:graphic>
      </p:graphicFrame>
      <p:sp>
        <p:nvSpPr>
          <p:cNvPr id="18" name="Title 3">
            <a:extLst>
              <a:ext uri="{FF2B5EF4-FFF2-40B4-BE49-F238E27FC236}">
                <a16:creationId xmlns:a16="http://schemas.microsoft.com/office/drawing/2014/main" id="{32242016-F232-40C6-855B-AB36850CAB89}"/>
              </a:ext>
            </a:extLst>
          </p:cNvPr>
          <p:cNvSpPr txBox="1">
            <a:spLocks/>
          </p:cNvSpPr>
          <p:nvPr/>
        </p:nvSpPr>
        <p:spPr bwMode="gray">
          <a:xfrm>
            <a:off x="383754" y="465808"/>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lang="en-US" sz="1800" i="0" dirty="0">
                <a:solidFill>
                  <a:prstClr val="black"/>
                </a:solidFill>
              </a:rPr>
              <a:t>Annexure-I </a:t>
            </a:r>
            <a:endParaRPr kumimoji="0" lang="en-US" sz="1800" b="1" i="0" u="none" strike="noStrike" kern="1200" cap="none" spc="0" normalizeH="0" baseline="0" noProof="0" dirty="0">
              <a:ln>
                <a:noFill/>
              </a:ln>
              <a:solidFill>
                <a:prstClr val="black"/>
              </a:solidFill>
              <a:effectLst/>
              <a:uLnTx/>
              <a:uFillTx/>
              <a:latin typeface="Verdana"/>
              <a:ea typeface="+mj-ea"/>
            </a:endParaRPr>
          </a:p>
          <a:p>
            <a:pPr marL="0" marR="0" lvl="0" indent="0" algn="just" defTabSz="1219231" rtl="0" eaLnBrk="1" fontAlgn="auto" latinLnBrk="0" hangingPunct="1">
              <a:lnSpc>
                <a:spcPct val="100000"/>
              </a:lnSpc>
              <a:spcBef>
                <a:spcPct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Verdana"/>
              <a:ea typeface="+mj-ea"/>
            </a:endParaRPr>
          </a:p>
        </p:txBody>
      </p:sp>
      <p:sp>
        <p:nvSpPr>
          <p:cNvPr id="4" name="Title 3">
            <a:extLst>
              <a:ext uri="{FF2B5EF4-FFF2-40B4-BE49-F238E27FC236}">
                <a16:creationId xmlns:a16="http://schemas.microsoft.com/office/drawing/2014/main" id="{3F9A85B2-E4AC-4967-AB87-899FF6668B8D}"/>
              </a:ext>
            </a:extLst>
          </p:cNvPr>
          <p:cNvSpPr txBox="1">
            <a:spLocks/>
          </p:cNvSpPr>
          <p:nvPr/>
        </p:nvSpPr>
        <p:spPr bwMode="gray">
          <a:xfrm>
            <a:off x="383754" y="775927"/>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ctr" defTabSz="1219231" rtl="0" eaLnBrk="1" fontAlgn="auto" latinLnBrk="0" hangingPunct="1">
              <a:lnSpc>
                <a:spcPct val="100000"/>
              </a:lnSpc>
              <a:spcBef>
                <a:spcPct val="0"/>
              </a:spcBef>
              <a:spcAft>
                <a:spcPts val="0"/>
              </a:spcAft>
              <a:buClrTx/>
              <a:buSzTx/>
              <a:buFontTx/>
              <a:buNone/>
              <a:tabLst/>
              <a:defRPr/>
            </a:pPr>
            <a:r>
              <a:rPr lang="en-US" sz="1400" i="0" dirty="0">
                <a:solidFill>
                  <a:prstClr val="black"/>
                </a:solidFill>
              </a:rPr>
              <a:t>State Signed PPA’s </a:t>
            </a:r>
            <a:endParaRPr kumimoji="0" lang="en-US" sz="1400" b="1" i="0" u="none" strike="noStrike" kern="1200" cap="none" spc="0" normalizeH="0" baseline="0" noProof="0" dirty="0">
              <a:ln>
                <a:noFill/>
              </a:ln>
              <a:solidFill>
                <a:prstClr val="black"/>
              </a:solidFill>
              <a:effectLst/>
              <a:uLnTx/>
              <a:uFillTx/>
              <a:latin typeface="Verdana"/>
              <a:ea typeface="+mj-ea"/>
            </a:endParaRPr>
          </a:p>
          <a:p>
            <a:pPr marL="0" marR="0" lvl="0" indent="0" algn="just" defTabSz="1219231" rtl="0" eaLnBrk="1" fontAlgn="auto" latinLnBrk="0" hangingPunct="1">
              <a:lnSpc>
                <a:spcPct val="100000"/>
              </a:lnSpc>
              <a:spcBef>
                <a:spcPct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Verdana"/>
              <a:ea typeface="+mj-ea"/>
            </a:endParaRPr>
          </a:p>
        </p:txBody>
      </p:sp>
      <p:sp>
        <p:nvSpPr>
          <p:cNvPr id="5" name="TextBox 4">
            <a:extLst>
              <a:ext uri="{FF2B5EF4-FFF2-40B4-BE49-F238E27FC236}">
                <a16:creationId xmlns:a16="http://schemas.microsoft.com/office/drawing/2014/main" id="{96AA3079-4654-4CFB-8270-A46A32BCC8B7}"/>
              </a:ext>
            </a:extLst>
          </p:cNvPr>
          <p:cNvSpPr txBox="1"/>
          <p:nvPr/>
        </p:nvSpPr>
        <p:spPr>
          <a:xfrm>
            <a:off x="469902" y="6619619"/>
            <a:ext cx="4470400" cy="107722"/>
          </a:xfrm>
          <a:prstGeom prst="rect">
            <a:avLst/>
          </a:prstGeom>
          <a:noFill/>
        </p:spPr>
        <p:txBody>
          <a:bodyPr wrap="square" lIns="0" tIns="0" rIns="0" bIns="0" rtlCol="0">
            <a:spAutoFit/>
          </a:bodyPr>
          <a:lstStyle/>
          <a:p>
            <a:pPr>
              <a:spcBef>
                <a:spcPts val="600"/>
              </a:spcBef>
              <a:buSzPct val="100000"/>
            </a:pPr>
            <a:r>
              <a:rPr lang="en-US" sz="700" dirty="0">
                <a:solidFill>
                  <a:srgbClr val="313131"/>
                </a:solidFill>
                <a:latin typeface="Verdana" panose="020B0604030504040204" pitchFamily="34" charset="0"/>
                <a:ea typeface="Verdana" panose="020B0604030504040204" pitchFamily="34" charset="0"/>
              </a:rPr>
              <a:t>@ 2020 Deloitte </a:t>
            </a:r>
            <a:r>
              <a:rPr lang="en-US" sz="700" dirty="0" err="1">
                <a:solidFill>
                  <a:srgbClr val="313131"/>
                </a:solidFill>
                <a:latin typeface="Verdana" panose="020B0604030504040204" pitchFamily="34" charset="0"/>
                <a:ea typeface="Verdana" panose="020B0604030504040204" pitchFamily="34" charset="0"/>
              </a:rPr>
              <a:t>Touche</a:t>
            </a:r>
            <a:r>
              <a:rPr lang="en-US" sz="700" dirty="0">
                <a:solidFill>
                  <a:srgbClr val="313131"/>
                </a:solidFill>
                <a:latin typeface="Verdana" panose="020B0604030504040204" pitchFamily="34" charset="0"/>
                <a:ea typeface="Verdana" panose="020B0604030504040204" pitchFamily="34" charset="0"/>
              </a:rPr>
              <a:t> Tohmatsu India LLP </a:t>
            </a:r>
          </a:p>
        </p:txBody>
      </p:sp>
    </p:spTree>
    <p:extLst>
      <p:ext uri="{BB962C8B-B14F-4D97-AF65-F5344CB8AC3E}">
        <p14:creationId xmlns:p14="http://schemas.microsoft.com/office/powerpoint/2010/main" val="2082366288"/>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1278298-1FCD-4B75-944F-89BA5FB08A6D}"/>
              </a:ext>
            </a:extLst>
          </p:cNvPr>
          <p:cNvGraphicFramePr>
            <a:graphicFrameLocks noGrp="1"/>
          </p:cNvGraphicFramePr>
          <p:nvPr/>
        </p:nvGraphicFramePr>
        <p:xfrm>
          <a:off x="510116" y="856450"/>
          <a:ext cx="11180233" cy="5675786"/>
        </p:xfrm>
        <a:graphic>
          <a:graphicData uri="http://schemas.openxmlformats.org/drawingml/2006/table">
            <a:tbl>
              <a:tblPr firstRow="1" bandRow="1">
                <a:tableStyleId>{5C22544A-7EE6-4342-B048-85BDC9FD1C3A}</a:tableStyleId>
              </a:tblPr>
              <a:tblGrid>
                <a:gridCol w="2874279">
                  <a:extLst>
                    <a:ext uri="{9D8B030D-6E8A-4147-A177-3AD203B41FA5}">
                      <a16:colId xmlns:a16="http://schemas.microsoft.com/office/drawing/2014/main" val="716202037"/>
                    </a:ext>
                  </a:extLst>
                </a:gridCol>
                <a:gridCol w="4261319">
                  <a:extLst>
                    <a:ext uri="{9D8B030D-6E8A-4147-A177-3AD203B41FA5}">
                      <a16:colId xmlns:a16="http://schemas.microsoft.com/office/drawing/2014/main" val="709850629"/>
                    </a:ext>
                  </a:extLst>
                </a:gridCol>
                <a:gridCol w="2004297">
                  <a:extLst>
                    <a:ext uri="{9D8B030D-6E8A-4147-A177-3AD203B41FA5}">
                      <a16:colId xmlns:a16="http://schemas.microsoft.com/office/drawing/2014/main" val="2539367416"/>
                    </a:ext>
                  </a:extLst>
                </a:gridCol>
                <a:gridCol w="2040338">
                  <a:extLst>
                    <a:ext uri="{9D8B030D-6E8A-4147-A177-3AD203B41FA5}">
                      <a16:colId xmlns:a16="http://schemas.microsoft.com/office/drawing/2014/main" val="314542416"/>
                    </a:ext>
                  </a:extLst>
                </a:gridCol>
              </a:tblGrid>
              <a:tr h="402746">
                <a:tc>
                  <a:txBody>
                    <a:bodyPr/>
                    <a:lstStyle/>
                    <a:p>
                      <a:pPr algn="ctr" fontAlgn="ctr"/>
                      <a:r>
                        <a:rPr lang="en-US" sz="1400" b="1" i="0" u="none" strike="noStrike" dirty="0">
                          <a:solidFill>
                            <a:srgbClr val="000000"/>
                          </a:solidFill>
                          <a:effectLst/>
                          <a:latin typeface="Calibri" panose="020F0502020204030204" pitchFamily="34" charset="0"/>
                        </a:rPr>
                        <a:t>Constituent </a:t>
                      </a:r>
                    </a:p>
                  </a:txBody>
                  <a:tcPr marL="6350" marR="6350" marT="6350" marB="0" anchor="ctr"/>
                </a:tc>
                <a:tc>
                  <a:txBody>
                    <a:bodyPr/>
                    <a:lstStyle/>
                    <a:p>
                      <a:pPr algn="ctr" fontAlgn="ctr"/>
                      <a:r>
                        <a:rPr lang="en-US" sz="1400" b="1" i="0" u="none" strike="noStrike">
                          <a:solidFill>
                            <a:srgbClr val="000000"/>
                          </a:solidFill>
                          <a:effectLst/>
                          <a:latin typeface="Calibri" panose="020F0502020204030204" pitchFamily="34" charset="0"/>
                        </a:rPr>
                        <a:t>Station</a:t>
                      </a:r>
                    </a:p>
                  </a:txBody>
                  <a:tcPr marL="6350" marR="6350" marT="6350" marB="0" anchor="ctr"/>
                </a:tc>
                <a:tc>
                  <a:txBody>
                    <a:bodyPr/>
                    <a:lstStyle/>
                    <a:p>
                      <a:pPr algn="ctr" fontAlgn="ctr"/>
                      <a:r>
                        <a:rPr lang="en-US" sz="1400" b="1" i="0" u="none" strike="noStrike">
                          <a:solidFill>
                            <a:srgbClr val="000000"/>
                          </a:solidFill>
                          <a:effectLst/>
                          <a:latin typeface="Calibri" panose="020F0502020204030204" pitchFamily="34" charset="0"/>
                        </a:rPr>
                        <a:t>Share in MW</a:t>
                      </a:r>
                    </a:p>
                  </a:txBody>
                  <a:tcPr marL="6350" marR="6350" marT="6350" marB="0" anchor="ctr"/>
                </a:tc>
                <a:tc>
                  <a:txBody>
                    <a:bodyPr/>
                    <a:lstStyle/>
                    <a:p>
                      <a:pPr algn="ctr" fontAlgn="ctr"/>
                      <a:r>
                        <a:rPr lang="en-US" sz="1400" b="1" i="0" u="none" strike="noStrike">
                          <a:solidFill>
                            <a:srgbClr val="000000"/>
                          </a:solidFill>
                          <a:effectLst/>
                          <a:latin typeface="Calibri" panose="020F0502020204030204" pitchFamily="34" charset="0"/>
                        </a:rPr>
                        <a:t>Rate (Apr-Dec) 2019</a:t>
                      </a:r>
                    </a:p>
                  </a:txBody>
                  <a:tcPr marL="6350" marR="6350" marT="6350" marB="0" anchor="ctr"/>
                </a:tc>
                <a:extLst>
                  <a:ext uri="{0D108BD9-81ED-4DB2-BD59-A6C34878D82A}">
                    <a16:rowId xmlns:a16="http://schemas.microsoft.com/office/drawing/2014/main" val="2019564363"/>
                  </a:ext>
                </a:extLst>
              </a:tr>
              <a:tr h="192802">
                <a:tc rowSpan="15">
                  <a:txBody>
                    <a:bodyPr/>
                    <a:lstStyle/>
                    <a:p>
                      <a:pPr algn="ctr" fontAlgn="ctr"/>
                      <a:r>
                        <a:rPr lang="en-US" sz="1400" b="1" i="0" u="none" strike="noStrike">
                          <a:solidFill>
                            <a:srgbClr val="000000"/>
                          </a:solidFill>
                          <a:effectLst/>
                          <a:latin typeface="Calibri" panose="020F0502020204030204" pitchFamily="34" charset="0"/>
                        </a:rPr>
                        <a:t>ISGS Share</a:t>
                      </a:r>
                    </a:p>
                  </a:txBody>
                  <a:tcPr marL="6350" marR="6350" marT="6350" marB="0" anchor="ctr"/>
                </a:tc>
                <a:tc>
                  <a:txBody>
                    <a:bodyPr/>
                    <a:lstStyle/>
                    <a:p>
                      <a:pPr algn="l" fontAlgn="ctr"/>
                      <a:r>
                        <a:rPr lang="en-US" sz="1400" b="0" i="0" u="none" strike="noStrike" dirty="0" err="1">
                          <a:solidFill>
                            <a:srgbClr val="000000"/>
                          </a:solidFill>
                          <a:effectLst/>
                          <a:latin typeface="Calibri" panose="020F0502020204030204" pitchFamily="34" charset="0"/>
                        </a:rPr>
                        <a:t>Farakka</a:t>
                      </a:r>
                      <a:r>
                        <a:rPr lang="en-US" sz="1400" b="0" i="0" u="none" strike="noStrike" dirty="0">
                          <a:solidFill>
                            <a:srgbClr val="000000"/>
                          </a:solidFill>
                          <a:effectLst/>
                          <a:latin typeface="Calibri" panose="020F0502020204030204" pitchFamily="34" charset="0"/>
                        </a:rPr>
                        <a:t>-I&amp;II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511</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3.37</a:t>
                      </a:r>
                    </a:p>
                  </a:txBody>
                  <a:tcPr marL="6350" marR="6350" marT="6350" marB="0" anchor="ctr"/>
                </a:tc>
                <a:extLst>
                  <a:ext uri="{0D108BD9-81ED-4DB2-BD59-A6C34878D82A}">
                    <a16:rowId xmlns:a16="http://schemas.microsoft.com/office/drawing/2014/main" val="3682308486"/>
                  </a:ext>
                </a:extLst>
              </a:tr>
              <a:tr h="192802">
                <a:tc vMerge="1">
                  <a:txBody>
                    <a:bodyPr/>
                    <a:lstStyle/>
                    <a:p>
                      <a:endParaRPr lang="en-US"/>
                    </a:p>
                  </a:txBody>
                  <a:tcPr/>
                </a:tc>
                <a:tc>
                  <a:txBody>
                    <a:bodyPr/>
                    <a:lstStyle/>
                    <a:p>
                      <a:pPr algn="l" fontAlgn="ctr"/>
                      <a:r>
                        <a:rPr lang="en-US" sz="1400" b="0" i="0" u="none" strike="noStrike" dirty="0" err="1">
                          <a:solidFill>
                            <a:srgbClr val="000000"/>
                          </a:solidFill>
                          <a:effectLst/>
                          <a:latin typeface="Calibri" panose="020F0502020204030204" pitchFamily="34" charset="0"/>
                        </a:rPr>
                        <a:t>Farakka</a:t>
                      </a:r>
                      <a:r>
                        <a:rPr lang="en-US" sz="1400" b="0" i="0" u="none" strike="noStrike" dirty="0">
                          <a:solidFill>
                            <a:srgbClr val="000000"/>
                          </a:solidFill>
                          <a:effectLst/>
                          <a:latin typeface="Calibri" panose="020F0502020204030204" pitchFamily="34" charset="0"/>
                        </a:rPr>
                        <a:t>-III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188</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4.11</a:t>
                      </a:r>
                    </a:p>
                  </a:txBody>
                  <a:tcPr marL="6350" marR="6350" marT="6350" marB="0" anchor="ctr"/>
                </a:tc>
                <a:extLst>
                  <a:ext uri="{0D108BD9-81ED-4DB2-BD59-A6C34878D82A}">
                    <a16:rowId xmlns:a16="http://schemas.microsoft.com/office/drawing/2014/main" val="3691946918"/>
                  </a:ext>
                </a:extLst>
              </a:tr>
              <a:tr h="192802">
                <a:tc vMerge="1">
                  <a:txBody>
                    <a:bodyPr/>
                    <a:lstStyle/>
                    <a:p>
                      <a:endParaRPr lang="en-US"/>
                    </a:p>
                  </a:txBody>
                  <a:tcPr/>
                </a:tc>
                <a:tc>
                  <a:txBody>
                    <a:bodyPr/>
                    <a:lstStyle/>
                    <a:p>
                      <a:pPr algn="l" fontAlgn="ctr"/>
                      <a:r>
                        <a:rPr lang="en-US" sz="1400" b="0" i="0" u="none" strike="noStrike" dirty="0">
                          <a:solidFill>
                            <a:srgbClr val="000000"/>
                          </a:solidFill>
                          <a:effectLst/>
                          <a:latin typeface="Calibri" panose="020F0502020204030204" pitchFamily="34" charset="0"/>
                        </a:rPr>
                        <a:t>Talcher Stage-I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92</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3.03</a:t>
                      </a:r>
                    </a:p>
                  </a:txBody>
                  <a:tcPr marL="6350" marR="6350" marT="6350" marB="0" anchor="ctr"/>
                </a:tc>
                <a:extLst>
                  <a:ext uri="{0D108BD9-81ED-4DB2-BD59-A6C34878D82A}">
                    <a16:rowId xmlns:a16="http://schemas.microsoft.com/office/drawing/2014/main" val="797436012"/>
                  </a:ext>
                </a:extLst>
              </a:tr>
              <a:tr h="192802">
                <a:tc vMerge="1">
                  <a:txBody>
                    <a:bodyPr/>
                    <a:lstStyle/>
                    <a:p>
                      <a:endParaRPr lang="en-US"/>
                    </a:p>
                  </a:txBody>
                  <a:tcPr/>
                </a:tc>
                <a:tc>
                  <a:txBody>
                    <a:bodyPr/>
                    <a:lstStyle/>
                    <a:p>
                      <a:pPr algn="l" fontAlgn="ctr"/>
                      <a:r>
                        <a:rPr lang="en-US" sz="1400" b="0" i="0" u="none" strike="noStrike" dirty="0">
                          <a:solidFill>
                            <a:srgbClr val="000000"/>
                          </a:solidFill>
                          <a:effectLst/>
                          <a:latin typeface="Calibri" panose="020F0502020204030204" pitchFamily="34" charset="0"/>
                        </a:rPr>
                        <a:t>MTPS-II (</a:t>
                      </a:r>
                      <a:r>
                        <a:rPr lang="en-US" sz="1400" b="0" i="0" u="none" strike="noStrike" dirty="0" err="1">
                          <a:solidFill>
                            <a:srgbClr val="000000"/>
                          </a:solidFill>
                          <a:effectLst/>
                          <a:latin typeface="Calibri" panose="020F0502020204030204" pitchFamily="34" charset="0"/>
                        </a:rPr>
                        <a:t>Kanti</a:t>
                      </a:r>
                      <a:r>
                        <a:rPr lang="en-US" sz="1400" b="0" i="0" u="none" strike="noStrike" dirty="0">
                          <a:solidFill>
                            <a:srgbClr val="000000"/>
                          </a:solidFill>
                          <a:effectLst/>
                          <a:latin typeface="Calibri" panose="020F0502020204030204" pitchFamily="34" charset="0"/>
                        </a:rPr>
                        <a:t> </a:t>
                      </a:r>
                      <a:r>
                        <a:rPr lang="en-US" sz="1400" b="0" i="0" u="none" strike="noStrike" dirty="0" err="1">
                          <a:solidFill>
                            <a:srgbClr val="000000"/>
                          </a:solidFill>
                          <a:effectLst/>
                          <a:latin typeface="Calibri" panose="020F0502020204030204" pitchFamily="34" charset="0"/>
                        </a:rPr>
                        <a:t>Muzzafarpur</a:t>
                      </a:r>
                      <a:r>
                        <a:rPr lang="en-US" sz="1400" b="0" i="0" u="none" strike="noStrike" dirty="0">
                          <a:solidFill>
                            <a:srgbClr val="000000"/>
                          </a:solidFill>
                          <a:effectLst/>
                          <a:latin typeface="Calibri" panose="020F0502020204030204" pitchFamily="34" charset="0"/>
                        </a:rPr>
                        <a:t>)</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38</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6.39</a:t>
                      </a:r>
                    </a:p>
                  </a:txBody>
                  <a:tcPr marL="6350" marR="6350" marT="6350" marB="0" anchor="ctr"/>
                </a:tc>
                <a:extLst>
                  <a:ext uri="{0D108BD9-81ED-4DB2-BD59-A6C34878D82A}">
                    <a16:rowId xmlns:a16="http://schemas.microsoft.com/office/drawing/2014/main" val="566954826"/>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KHSTPP-I (Kahalgaon)</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51</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3.22</a:t>
                      </a:r>
                    </a:p>
                  </a:txBody>
                  <a:tcPr marL="6350" marR="6350" marT="6350" marB="0" anchor="ctr"/>
                </a:tc>
                <a:extLst>
                  <a:ext uri="{0D108BD9-81ED-4DB2-BD59-A6C34878D82A}">
                    <a16:rowId xmlns:a16="http://schemas.microsoft.com/office/drawing/2014/main" val="1205581468"/>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Tala</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390</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2.13</a:t>
                      </a:r>
                    </a:p>
                  </a:txBody>
                  <a:tcPr marL="6350" marR="6350" marT="6350" marB="0" anchor="ctr"/>
                </a:tc>
                <a:extLst>
                  <a:ext uri="{0D108BD9-81ED-4DB2-BD59-A6C34878D82A}">
                    <a16:rowId xmlns:a16="http://schemas.microsoft.com/office/drawing/2014/main" val="2408615307"/>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Chukha</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86</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2.37</a:t>
                      </a:r>
                    </a:p>
                  </a:txBody>
                  <a:tcPr marL="6350" marR="6350" marT="6350" marB="0" anchor="ctr"/>
                </a:tc>
                <a:extLst>
                  <a:ext uri="{0D108BD9-81ED-4DB2-BD59-A6C34878D82A}">
                    <a16:rowId xmlns:a16="http://schemas.microsoft.com/office/drawing/2014/main" val="3712092029"/>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Mandechu</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231</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4.19</a:t>
                      </a:r>
                    </a:p>
                  </a:txBody>
                  <a:tcPr marL="6350" marR="6350" marT="6350" marB="0" anchor="ctr"/>
                </a:tc>
                <a:extLst>
                  <a:ext uri="{0D108BD9-81ED-4DB2-BD59-A6C34878D82A}">
                    <a16:rowId xmlns:a16="http://schemas.microsoft.com/office/drawing/2014/main" val="842805302"/>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Teesta</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122</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2.22</a:t>
                      </a:r>
                    </a:p>
                  </a:txBody>
                  <a:tcPr marL="6350" marR="6350" marT="6350" marB="0" anchor="ctr"/>
                </a:tc>
                <a:extLst>
                  <a:ext uri="{0D108BD9-81ED-4DB2-BD59-A6C34878D82A}">
                    <a16:rowId xmlns:a16="http://schemas.microsoft.com/office/drawing/2014/main" val="3829625565"/>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Rangeet</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17</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3.69</a:t>
                      </a:r>
                    </a:p>
                  </a:txBody>
                  <a:tcPr marL="6350" marR="6350" marT="6350" marB="0" anchor="ctr"/>
                </a:tc>
                <a:extLst>
                  <a:ext uri="{0D108BD9-81ED-4DB2-BD59-A6C34878D82A}">
                    <a16:rowId xmlns:a16="http://schemas.microsoft.com/office/drawing/2014/main" val="2092638064"/>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Kuruchu</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30</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2.17</a:t>
                      </a:r>
                    </a:p>
                  </a:txBody>
                  <a:tcPr marL="6350" marR="6350" marT="6350" marB="0" anchor="ctr"/>
                </a:tc>
                <a:extLst>
                  <a:ext uri="{0D108BD9-81ED-4DB2-BD59-A6C34878D82A}">
                    <a16:rowId xmlns:a16="http://schemas.microsoft.com/office/drawing/2014/main" val="53428902"/>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TLDP 3</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132</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6.31</a:t>
                      </a:r>
                    </a:p>
                  </a:txBody>
                  <a:tcPr marL="6350" marR="6350" marT="6350" marB="0" anchor="ctr"/>
                </a:tc>
                <a:extLst>
                  <a:ext uri="{0D108BD9-81ED-4DB2-BD59-A6C34878D82A}">
                    <a16:rowId xmlns:a16="http://schemas.microsoft.com/office/drawing/2014/main" val="2268703679"/>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TLDP 4</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160</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2.68</a:t>
                      </a:r>
                    </a:p>
                  </a:txBody>
                  <a:tcPr marL="6350" marR="6350" marT="6350" marB="0" anchor="ctr"/>
                </a:tc>
                <a:extLst>
                  <a:ext uri="{0D108BD9-81ED-4DB2-BD59-A6C34878D82A}">
                    <a16:rowId xmlns:a16="http://schemas.microsoft.com/office/drawing/2014/main" val="2257105006"/>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DVC Mejia Unit V</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50</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5.14</a:t>
                      </a:r>
                    </a:p>
                  </a:txBody>
                  <a:tcPr marL="6350" marR="6350" marT="6350" marB="0" anchor="ctr"/>
                </a:tc>
                <a:extLst>
                  <a:ext uri="{0D108BD9-81ED-4DB2-BD59-A6C34878D82A}">
                    <a16:rowId xmlns:a16="http://schemas.microsoft.com/office/drawing/2014/main" val="3939370263"/>
                  </a:ext>
                </a:extLst>
              </a:tr>
              <a:tr h="192802">
                <a:tc vMerge="1">
                  <a:txBody>
                    <a:bodyPr/>
                    <a:lstStyle/>
                    <a:p>
                      <a:endParaRPr lang="en-US"/>
                    </a:p>
                  </a:txBody>
                  <a:tcPr/>
                </a:tc>
                <a:tc>
                  <a:txBody>
                    <a:bodyPr/>
                    <a:lstStyle/>
                    <a:p>
                      <a:pPr algn="l" fontAlgn="ctr"/>
                      <a:r>
                        <a:rPr lang="en-US" sz="1400" b="1" i="0" u="none" strike="noStrike">
                          <a:solidFill>
                            <a:srgbClr val="000000"/>
                          </a:solidFill>
                          <a:effectLst/>
                          <a:latin typeface="Calibri" panose="020F0502020204030204" pitchFamily="34" charset="0"/>
                        </a:rPr>
                        <a:t>Total</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2098</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 </a:t>
                      </a:r>
                    </a:p>
                  </a:txBody>
                  <a:tcPr marL="6350" marR="6350" marT="6350" marB="0" anchor="ctr"/>
                </a:tc>
                <a:extLst>
                  <a:ext uri="{0D108BD9-81ED-4DB2-BD59-A6C34878D82A}">
                    <a16:rowId xmlns:a16="http://schemas.microsoft.com/office/drawing/2014/main" val="1253752481"/>
                  </a:ext>
                </a:extLst>
              </a:tr>
              <a:tr h="192802">
                <a:tc rowSpan="8">
                  <a:txBody>
                    <a:bodyPr/>
                    <a:lstStyle/>
                    <a:p>
                      <a:pPr algn="ctr" fontAlgn="ctr"/>
                      <a:r>
                        <a:rPr lang="en-US" sz="1400" b="1" i="0" u="none" strike="noStrike">
                          <a:solidFill>
                            <a:srgbClr val="000000"/>
                          </a:solidFill>
                          <a:effectLst/>
                          <a:latin typeface="Calibri" panose="020F0502020204030204" pitchFamily="34" charset="0"/>
                        </a:rPr>
                        <a:t>Bundle Power</a:t>
                      </a:r>
                    </a:p>
                  </a:txBody>
                  <a:tcPr marL="6350" marR="6350" marT="6350" marB="0" anchor="ctr"/>
                </a:tc>
                <a:tc>
                  <a:txBody>
                    <a:bodyPr/>
                    <a:lstStyle/>
                    <a:p>
                      <a:pPr algn="l" fontAlgn="ctr"/>
                      <a:r>
                        <a:rPr lang="en-US" sz="1400" b="0" i="0" u="none" strike="noStrike">
                          <a:solidFill>
                            <a:srgbClr val="000000"/>
                          </a:solidFill>
                          <a:effectLst/>
                          <a:latin typeface="Calibri" panose="020F0502020204030204" pitchFamily="34" charset="0"/>
                        </a:rPr>
                        <a:t>Solar</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50</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10.71</a:t>
                      </a:r>
                    </a:p>
                  </a:txBody>
                  <a:tcPr marL="6350" marR="6350" marT="6350" marB="0" anchor="ctr"/>
                </a:tc>
                <a:extLst>
                  <a:ext uri="{0D108BD9-81ED-4DB2-BD59-A6C34878D82A}">
                    <a16:rowId xmlns:a16="http://schemas.microsoft.com/office/drawing/2014/main" val="320653978"/>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Farakka Stage I&amp;II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15</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3.37</a:t>
                      </a:r>
                    </a:p>
                  </a:txBody>
                  <a:tcPr marL="6350" marR="6350" marT="6350" marB="0" anchor="ctr"/>
                </a:tc>
                <a:extLst>
                  <a:ext uri="{0D108BD9-81ED-4DB2-BD59-A6C34878D82A}">
                    <a16:rowId xmlns:a16="http://schemas.microsoft.com/office/drawing/2014/main" val="2088372920"/>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Farakka stage III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5</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4.11</a:t>
                      </a:r>
                    </a:p>
                  </a:txBody>
                  <a:tcPr marL="6350" marR="6350" marT="6350" marB="0" anchor="ctr"/>
                </a:tc>
                <a:extLst>
                  <a:ext uri="{0D108BD9-81ED-4DB2-BD59-A6C34878D82A}">
                    <a16:rowId xmlns:a16="http://schemas.microsoft.com/office/drawing/2014/main" val="4077226708"/>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Kahalgaon stage 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8</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3.22</a:t>
                      </a:r>
                    </a:p>
                  </a:txBody>
                  <a:tcPr marL="6350" marR="6350" marT="6350" marB="0" anchor="ctr"/>
                </a:tc>
                <a:extLst>
                  <a:ext uri="{0D108BD9-81ED-4DB2-BD59-A6C34878D82A}">
                    <a16:rowId xmlns:a16="http://schemas.microsoft.com/office/drawing/2014/main" val="157584576"/>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Kahalgaon stage II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14</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3.22</a:t>
                      </a:r>
                    </a:p>
                  </a:txBody>
                  <a:tcPr marL="6350" marR="6350" marT="6350" marB="0" anchor="ctr"/>
                </a:tc>
                <a:extLst>
                  <a:ext uri="{0D108BD9-81ED-4DB2-BD59-A6C34878D82A}">
                    <a16:rowId xmlns:a16="http://schemas.microsoft.com/office/drawing/2014/main" val="1452958"/>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Talcher stage 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9</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3.03</a:t>
                      </a:r>
                    </a:p>
                  </a:txBody>
                  <a:tcPr marL="6350" marR="6350" marT="6350" marB="0" anchor="ctr"/>
                </a:tc>
                <a:extLst>
                  <a:ext uri="{0D108BD9-81ED-4DB2-BD59-A6C34878D82A}">
                    <a16:rowId xmlns:a16="http://schemas.microsoft.com/office/drawing/2014/main" val="3375308225"/>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Thermal total</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51</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 </a:t>
                      </a:r>
                    </a:p>
                  </a:txBody>
                  <a:tcPr marL="6350" marR="6350" marT="6350" marB="0" anchor="ctr"/>
                </a:tc>
                <a:extLst>
                  <a:ext uri="{0D108BD9-81ED-4DB2-BD59-A6C34878D82A}">
                    <a16:rowId xmlns:a16="http://schemas.microsoft.com/office/drawing/2014/main" val="3227870017"/>
                  </a:ext>
                </a:extLst>
              </a:tr>
              <a:tr h="192802">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Total</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101</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 </a:t>
                      </a:r>
                    </a:p>
                  </a:txBody>
                  <a:tcPr marL="6350" marR="6350" marT="6350" marB="0" anchor="ctr"/>
                </a:tc>
                <a:extLst>
                  <a:ext uri="{0D108BD9-81ED-4DB2-BD59-A6C34878D82A}">
                    <a16:rowId xmlns:a16="http://schemas.microsoft.com/office/drawing/2014/main" val="2069013834"/>
                  </a:ext>
                </a:extLst>
              </a:tr>
              <a:tr h="192802">
                <a:tc>
                  <a:txBody>
                    <a:bodyPr/>
                    <a:lstStyle/>
                    <a:p>
                      <a:pPr algn="ctr" fontAlgn="ctr"/>
                      <a:r>
                        <a:rPr lang="en-US" sz="1400" b="1" i="0" u="none" strike="noStrike">
                          <a:solidFill>
                            <a:srgbClr val="000000"/>
                          </a:solidFill>
                          <a:effectLst/>
                          <a:latin typeface="Calibri" panose="020F0502020204030204" pitchFamily="34" charset="0"/>
                        </a:rPr>
                        <a:t>Constituent </a:t>
                      </a:r>
                    </a:p>
                  </a:txBody>
                  <a:tcPr marL="6350" marR="6350" marT="6350" marB="0" anchor="ctr"/>
                </a:tc>
                <a:tc>
                  <a:txBody>
                    <a:bodyPr/>
                    <a:lstStyle/>
                    <a:p>
                      <a:pPr algn="ctr" fontAlgn="ctr"/>
                      <a:r>
                        <a:rPr lang="en-US" sz="1400" b="1" i="0" u="none" strike="noStrike">
                          <a:solidFill>
                            <a:srgbClr val="000000"/>
                          </a:solidFill>
                          <a:effectLst/>
                          <a:latin typeface="Calibri" panose="020F0502020204030204" pitchFamily="34" charset="0"/>
                        </a:rPr>
                        <a:t>Station</a:t>
                      </a:r>
                    </a:p>
                  </a:txBody>
                  <a:tcPr marL="6350" marR="6350" marT="6350" marB="0" anchor="ctr"/>
                </a:tc>
                <a:tc>
                  <a:txBody>
                    <a:bodyPr/>
                    <a:lstStyle/>
                    <a:p>
                      <a:pPr algn="ctr" fontAlgn="ctr"/>
                      <a:r>
                        <a:rPr lang="en-US" sz="1400" b="1" i="0" u="none" strike="noStrike">
                          <a:solidFill>
                            <a:srgbClr val="000000"/>
                          </a:solidFill>
                          <a:effectLst/>
                          <a:latin typeface="Calibri" panose="020F0502020204030204" pitchFamily="34" charset="0"/>
                        </a:rPr>
                        <a:t>Share in MW</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Rate (Apr-Dec) 2019</a:t>
                      </a:r>
                    </a:p>
                  </a:txBody>
                  <a:tcPr marL="6350" marR="6350" marT="6350" marB="0" anchor="ctr"/>
                </a:tc>
                <a:extLst>
                  <a:ext uri="{0D108BD9-81ED-4DB2-BD59-A6C34878D82A}">
                    <a16:rowId xmlns:a16="http://schemas.microsoft.com/office/drawing/2014/main" val="382378647"/>
                  </a:ext>
                </a:extLst>
              </a:tr>
            </a:tbl>
          </a:graphicData>
        </a:graphic>
      </p:graphicFrame>
      <p:sp>
        <p:nvSpPr>
          <p:cNvPr id="6" name="Title 3">
            <a:extLst>
              <a:ext uri="{FF2B5EF4-FFF2-40B4-BE49-F238E27FC236}">
                <a16:creationId xmlns:a16="http://schemas.microsoft.com/office/drawing/2014/main" id="{5B3AFE53-A870-4451-8A43-9F246F5756BA}"/>
              </a:ext>
            </a:extLst>
          </p:cNvPr>
          <p:cNvSpPr txBox="1">
            <a:spLocks/>
          </p:cNvSpPr>
          <p:nvPr/>
        </p:nvSpPr>
        <p:spPr bwMode="gray">
          <a:xfrm>
            <a:off x="383754" y="465808"/>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State Signed PPAs</a:t>
            </a:r>
          </a:p>
          <a:p>
            <a:pPr marL="0" marR="0" lvl="0" indent="0" algn="just" defTabSz="1219231" rtl="0" eaLnBrk="1" fontAlgn="auto" latinLnBrk="0" hangingPunct="1">
              <a:lnSpc>
                <a:spcPct val="100000"/>
              </a:lnSpc>
              <a:spcBef>
                <a:spcPct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Verdana"/>
              <a:ea typeface="+mj-ea"/>
            </a:endParaRPr>
          </a:p>
        </p:txBody>
      </p:sp>
      <p:sp>
        <p:nvSpPr>
          <p:cNvPr id="4" name="TextBox 3">
            <a:extLst>
              <a:ext uri="{FF2B5EF4-FFF2-40B4-BE49-F238E27FC236}">
                <a16:creationId xmlns:a16="http://schemas.microsoft.com/office/drawing/2014/main" id="{6CE9D9B2-CAE1-482F-8715-1F95BB5D803A}"/>
              </a:ext>
            </a:extLst>
          </p:cNvPr>
          <p:cNvSpPr txBox="1"/>
          <p:nvPr/>
        </p:nvSpPr>
        <p:spPr>
          <a:xfrm>
            <a:off x="469902" y="6619619"/>
            <a:ext cx="4470400" cy="107722"/>
          </a:xfrm>
          <a:prstGeom prst="rect">
            <a:avLst/>
          </a:prstGeom>
          <a:noFill/>
        </p:spPr>
        <p:txBody>
          <a:bodyPr wrap="square" lIns="0" tIns="0" rIns="0" bIns="0" rtlCol="0">
            <a:spAutoFit/>
          </a:bodyPr>
          <a:lstStyle/>
          <a:p>
            <a:pPr>
              <a:spcBef>
                <a:spcPts val="600"/>
              </a:spcBef>
              <a:buSzPct val="100000"/>
            </a:pPr>
            <a:r>
              <a:rPr lang="en-US" sz="700" dirty="0">
                <a:solidFill>
                  <a:srgbClr val="313131"/>
                </a:solidFill>
                <a:latin typeface="Verdana" panose="020B0604030504040204" pitchFamily="34" charset="0"/>
                <a:ea typeface="Verdana" panose="020B0604030504040204" pitchFamily="34" charset="0"/>
              </a:rPr>
              <a:t>@ 2020 Deloitte </a:t>
            </a:r>
            <a:r>
              <a:rPr lang="en-US" sz="700" dirty="0" err="1">
                <a:solidFill>
                  <a:srgbClr val="313131"/>
                </a:solidFill>
                <a:latin typeface="Verdana" panose="020B0604030504040204" pitchFamily="34" charset="0"/>
                <a:ea typeface="Verdana" panose="020B0604030504040204" pitchFamily="34" charset="0"/>
              </a:rPr>
              <a:t>Touche</a:t>
            </a:r>
            <a:r>
              <a:rPr lang="en-US" sz="700" dirty="0">
                <a:solidFill>
                  <a:srgbClr val="313131"/>
                </a:solidFill>
                <a:latin typeface="Verdana" panose="020B0604030504040204" pitchFamily="34" charset="0"/>
                <a:ea typeface="Verdana" panose="020B0604030504040204" pitchFamily="34" charset="0"/>
              </a:rPr>
              <a:t> Tohmatsu India LLP </a:t>
            </a:r>
          </a:p>
        </p:txBody>
      </p:sp>
    </p:spTree>
    <p:extLst>
      <p:ext uri="{BB962C8B-B14F-4D97-AF65-F5344CB8AC3E}">
        <p14:creationId xmlns:p14="http://schemas.microsoft.com/office/powerpoint/2010/main" val="239931484"/>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3C97A33-D889-4C94-BD19-9884C5675161}"/>
              </a:ext>
            </a:extLst>
          </p:cNvPr>
          <p:cNvGraphicFramePr>
            <a:graphicFrameLocks noGrp="1"/>
          </p:cNvGraphicFramePr>
          <p:nvPr/>
        </p:nvGraphicFramePr>
        <p:xfrm>
          <a:off x="501652" y="1626311"/>
          <a:ext cx="11180233" cy="3605378"/>
        </p:xfrm>
        <a:graphic>
          <a:graphicData uri="http://schemas.openxmlformats.org/drawingml/2006/table">
            <a:tbl>
              <a:tblPr firstRow="1" bandRow="1">
                <a:tableStyleId>{5C22544A-7EE6-4342-B048-85BDC9FD1C3A}</a:tableStyleId>
              </a:tblPr>
              <a:tblGrid>
                <a:gridCol w="3567799">
                  <a:extLst>
                    <a:ext uri="{9D8B030D-6E8A-4147-A177-3AD203B41FA5}">
                      <a16:colId xmlns:a16="http://schemas.microsoft.com/office/drawing/2014/main" val="716202037"/>
                    </a:ext>
                  </a:extLst>
                </a:gridCol>
                <a:gridCol w="3567799">
                  <a:extLst>
                    <a:ext uri="{9D8B030D-6E8A-4147-A177-3AD203B41FA5}">
                      <a16:colId xmlns:a16="http://schemas.microsoft.com/office/drawing/2014/main" val="709850629"/>
                    </a:ext>
                  </a:extLst>
                </a:gridCol>
                <a:gridCol w="2004297">
                  <a:extLst>
                    <a:ext uri="{9D8B030D-6E8A-4147-A177-3AD203B41FA5}">
                      <a16:colId xmlns:a16="http://schemas.microsoft.com/office/drawing/2014/main" val="2539367416"/>
                    </a:ext>
                  </a:extLst>
                </a:gridCol>
                <a:gridCol w="2040338">
                  <a:extLst>
                    <a:ext uri="{9D8B030D-6E8A-4147-A177-3AD203B41FA5}">
                      <a16:colId xmlns:a16="http://schemas.microsoft.com/office/drawing/2014/main" val="314542416"/>
                    </a:ext>
                  </a:extLst>
                </a:gridCol>
              </a:tblGrid>
              <a:tr h="529438">
                <a:tc>
                  <a:txBody>
                    <a:bodyPr/>
                    <a:lstStyle/>
                    <a:p>
                      <a:pPr algn="ctr" fontAlgn="ctr"/>
                      <a:r>
                        <a:rPr lang="en-US" sz="1400" b="1" i="0" u="none" strike="noStrike" dirty="0">
                          <a:solidFill>
                            <a:srgbClr val="000000"/>
                          </a:solidFill>
                          <a:effectLst/>
                          <a:latin typeface="Calibri" panose="020F0502020204030204" pitchFamily="34" charset="0"/>
                        </a:rPr>
                        <a:t>Constituent </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Station</a:t>
                      </a:r>
                    </a:p>
                  </a:txBody>
                  <a:tcPr marL="6350" marR="6350" marT="6350" marB="0" anchor="ctr"/>
                </a:tc>
                <a:tc>
                  <a:txBody>
                    <a:bodyPr/>
                    <a:lstStyle/>
                    <a:p>
                      <a:pPr algn="ctr" fontAlgn="ctr"/>
                      <a:r>
                        <a:rPr lang="en-US" sz="1400" b="1" i="0" u="none" strike="noStrike">
                          <a:solidFill>
                            <a:srgbClr val="000000"/>
                          </a:solidFill>
                          <a:effectLst/>
                          <a:latin typeface="Calibri" panose="020F0502020204030204" pitchFamily="34" charset="0"/>
                        </a:rPr>
                        <a:t>Share in MW</a:t>
                      </a:r>
                    </a:p>
                  </a:txBody>
                  <a:tcPr marL="6350" marR="6350" marT="6350" marB="0" anchor="ctr"/>
                </a:tc>
                <a:tc>
                  <a:txBody>
                    <a:bodyPr/>
                    <a:lstStyle/>
                    <a:p>
                      <a:pPr algn="ctr" fontAlgn="ctr"/>
                      <a:r>
                        <a:rPr lang="en-US" sz="1400" b="1" i="0" u="none" strike="noStrike">
                          <a:solidFill>
                            <a:srgbClr val="000000"/>
                          </a:solidFill>
                          <a:effectLst/>
                          <a:latin typeface="Calibri" panose="020F0502020204030204" pitchFamily="34" charset="0"/>
                        </a:rPr>
                        <a:t>Rate (Apr-Dec) 2019</a:t>
                      </a:r>
                    </a:p>
                  </a:txBody>
                  <a:tcPr marL="6350" marR="6350" marT="6350" marB="0" anchor="ctr"/>
                </a:tc>
                <a:extLst>
                  <a:ext uri="{0D108BD9-81ED-4DB2-BD59-A6C34878D82A}">
                    <a16:rowId xmlns:a16="http://schemas.microsoft.com/office/drawing/2014/main" val="2019564363"/>
                  </a:ext>
                </a:extLst>
              </a:tr>
              <a:tr h="209773">
                <a:tc rowSpan="9">
                  <a:txBody>
                    <a:bodyPr/>
                    <a:lstStyle/>
                    <a:p>
                      <a:pPr algn="ctr" fontAlgn="ctr"/>
                      <a:r>
                        <a:rPr lang="en-US" sz="1400" b="1" i="0" u="none" strike="noStrike" dirty="0">
                          <a:solidFill>
                            <a:srgbClr val="000000"/>
                          </a:solidFill>
                          <a:effectLst/>
                          <a:latin typeface="Calibri" panose="020F0502020204030204" pitchFamily="34" charset="0"/>
                        </a:rPr>
                        <a:t>From outside merchant capacity</a:t>
                      </a:r>
                    </a:p>
                  </a:txBody>
                  <a:tcPr marL="6350" marR="6350" marT="6350" marB="0" anchor="ctr"/>
                </a:tc>
                <a:tc>
                  <a:txBody>
                    <a:bodyPr/>
                    <a:lstStyle/>
                    <a:p>
                      <a:pPr algn="l" fontAlgn="ctr"/>
                      <a:r>
                        <a:rPr lang="en-US" sz="1400" b="0" i="0" u="none" strike="noStrike" dirty="0" err="1">
                          <a:solidFill>
                            <a:srgbClr val="000000"/>
                          </a:solidFill>
                          <a:effectLst/>
                          <a:latin typeface="Calibri" panose="020F0502020204030204" pitchFamily="34" charset="0"/>
                        </a:rPr>
                        <a:t>Baghlier</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100</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3.67</a:t>
                      </a:r>
                    </a:p>
                  </a:txBody>
                  <a:tcPr marL="6350" marR="6350" marT="6350" marB="0" anchor="ctr"/>
                </a:tc>
                <a:extLst>
                  <a:ext uri="{0D108BD9-81ED-4DB2-BD59-A6C34878D82A}">
                    <a16:rowId xmlns:a16="http://schemas.microsoft.com/office/drawing/2014/main" val="3682308486"/>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Adhunik Power</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100</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3.09</a:t>
                      </a:r>
                    </a:p>
                  </a:txBody>
                  <a:tcPr marL="6350" marR="6350" marT="6350" marB="0" anchor="ctr"/>
                </a:tc>
                <a:extLst>
                  <a:ext uri="{0D108BD9-81ED-4DB2-BD59-A6C34878D82A}">
                    <a16:rowId xmlns:a16="http://schemas.microsoft.com/office/drawing/2014/main" val="3691946918"/>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MPL</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283</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4.81</a:t>
                      </a:r>
                    </a:p>
                  </a:txBody>
                  <a:tcPr marL="6350" marR="6350" marT="6350" marB="0" anchor="ctr"/>
                </a:tc>
                <a:extLst>
                  <a:ext uri="{0D108BD9-81ED-4DB2-BD59-A6C34878D82A}">
                    <a16:rowId xmlns:a16="http://schemas.microsoft.com/office/drawing/2014/main" val="797436012"/>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DVC Raghunathpur</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204</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4.86</a:t>
                      </a:r>
                    </a:p>
                  </a:txBody>
                  <a:tcPr marL="6350" marR="6350" marT="6350" marB="0" anchor="ctr"/>
                </a:tc>
                <a:extLst>
                  <a:ext uri="{0D108BD9-81ED-4DB2-BD59-A6C34878D82A}">
                    <a16:rowId xmlns:a16="http://schemas.microsoft.com/office/drawing/2014/main" val="566954826"/>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Dagachhu</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126</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3.67</a:t>
                      </a:r>
                    </a:p>
                  </a:txBody>
                  <a:tcPr marL="6350" marR="6350" marT="6350" marB="0" anchor="ctr"/>
                </a:tc>
                <a:extLst>
                  <a:ext uri="{0D108BD9-81ED-4DB2-BD59-A6C34878D82A}">
                    <a16:rowId xmlns:a16="http://schemas.microsoft.com/office/drawing/2014/main" val="1205581468"/>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GoHP</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235</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3.88</a:t>
                      </a:r>
                    </a:p>
                  </a:txBody>
                  <a:tcPr marL="6350" marR="6350" marT="6350" marB="0" anchor="ctr"/>
                </a:tc>
                <a:extLst>
                  <a:ext uri="{0D108BD9-81ED-4DB2-BD59-A6C34878D82A}">
                    <a16:rowId xmlns:a16="http://schemas.microsoft.com/office/drawing/2014/main" val="2408615307"/>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Stressed Asset</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200</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4.24</a:t>
                      </a:r>
                    </a:p>
                  </a:txBody>
                  <a:tcPr marL="6350" marR="6350" marT="6350" marB="0" anchor="ctr"/>
                </a:tc>
                <a:extLst>
                  <a:ext uri="{0D108BD9-81ED-4DB2-BD59-A6C34878D82A}">
                    <a16:rowId xmlns:a16="http://schemas.microsoft.com/office/drawing/2014/main" val="3712092029"/>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SIPL Solar</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5</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11.52</a:t>
                      </a:r>
                    </a:p>
                  </a:txBody>
                  <a:tcPr marL="6350" marR="6350" marT="6350" marB="0" anchor="ctr"/>
                </a:tc>
                <a:extLst>
                  <a:ext uri="{0D108BD9-81ED-4DB2-BD59-A6C34878D82A}">
                    <a16:rowId xmlns:a16="http://schemas.microsoft.com/office/drawing/2014/main" val="842805302"/>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Total</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1253</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 </a:t>
                      </a:r>
                    </a:p>
                  </a:txBody>
                  <a:tcPr marL="6350" marR="6350" marT="6350" marB="0" anchor="ctr"/>
                </a:tc>
                <a:extLst>
                  <a:ext uri="{0D108BD9-81ED-4DB2-BD59-A6C34878D82A}">
                    <a16:rowId xmlns:a16="http://schemas.microsoft.com/office/drawing/2014/main" val="3829625565"/>
                  </a:ext>
                </a:extLst>
              </a:tr>
              <a:tr h="209773">
                <a:tc rowSpan="5">
                  <a:txBody>
                    <a:bodyPr/>
                    <a:lstStyle/>
                    <a:p>
                      <a:pPr algn="ctr" fontAlgn="ctr"/>
                      <a:r>
                        <a:rPr lang="en-US" sz="1400" b="1" i="0" u="none" strike="noStrike">
                          <a:solidFill>
                            <a:srgbClr val="000000"/>
                          </a:solidFill>
                          <a:effectLst/>
                          <a:latin typeface="Calibri" panose="020F0502020204030204" pitchFamily="34" charset="0"/>
                        </a:rPr>
                        <a:t>Radial Power</a:t>
                      </a:r>
                    </a:p>
                  </a:txBody>
                  <a:tcPr marL="6350" marR="6350" marT="6350" marB="0" anchor="ctr"/>
                </a:tc>
                <a:tc>
                  <a:txBody>
                    <a:bodyPr/>
                    <a:lstStyle/>
                    <a:p>
                      <a:pPr algn="l" fontAlgn="ctr"/>
                      <a:r>
                        <a:rPr lang="en-US" sz="1400" b="0" i="0" u="none" strike="noStrike">
                          <a:solidFill>
                            <a:srgbClr val="000000"/>
                          </a:solidFill>
                          <a:effectLst/>
                          <a:latin typeface="Calibri" panose="020F0502020204030204" pitchFamily="34" charset="0"/>
                        </a:rPr>
                        <a:t>CESC</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 </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6.53</a:t>
                      </a:r>
                    </a:p>
                  </a:txBody>
                  <a:tcPr marL="6350" marR="6350" marT="6350" marB="0" anchor="ctr"/>
                </a:tc>
                <a:extLst>
                  <a:ext uri="{0D108BD9-81ED-4DB2-BD59-A6C34878D82A}">
                    <a16:rowId xmlns:a16="http://schemas.microsoft.com/office/drawing/2014/main" val="2092638064"/>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DVC</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 </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4.51</a:t>
                      </a:r>
                    </a:p>
                  </a:txBody>
                  <a:tcPr marL="6350" marR="6350" marT="6350" marB="0" anchor="ctr"/>
                </a:tc>
                <a:extLst>
                  <a:ext uri="{0D108BD9-81ED-4DB2-BD59-A6C34878D82A}">
                    <a16:rowId xmlns:a16="http://schemas.microsoft.com/office/drawing/2014/main" val="53428902"/>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APDCL-Assam for Jhaukuthi</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 </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9.27</a:t>
                      </a:r>
                    </a:p>
                  </a:txBody>
                  <a:tcPr marL="6350" marR="6350" marT="6350" marB="0" anchor="ctr"/>
                </a:tc>
                <a:extLst>
                  <a:ext uri="{0D108BD9-81ED-4DB2-BD59-A6C34878D82A}">
                    <a16:rowId xmlns:a16="http://schemas.microsoft.com/office/drawing/2014/main" val="2268703679"/>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JBVNL-Jharkhand</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 </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9.27</a:t>
                      </a:r>
                    </a:p>
                  </a:txBody>
                  <a:tcPr marL="6350" marR="6350" marT="6350" marB="0" anchor="ctr"/>
                </a:tc>
                <a:extLst>
                  <a:ext uri="{0D108BD9-81ED-4DB2-BD59-A6C34878D82A}">
                    <a16:rowId xmlns:a16="http://schemas.microsoft.com/office/drawing/2014/main" val="2257105006"/>
                  </a:ext>
                </a:extLst>
              </a:tr>
              <a:tr h="209773">
                <a:tc vMerge="1">
                  <a:txBody>
                    <a:bodyPr/>
                    <a:lstStyle/>
                    <a:p>
                      <a:endParaRPr lang="en-US"/>
                    </a:p>
                  </a:txBody>
                  <a:tcPr/>
                </a:tc>
                <a:tc>
                  <a:txBody>
                    <a:bodyPr/>
                    <a:lstStyle/>
                    <a:p>
                      <a:pPr algn="l" fontAlgn="ctr"/>
                      <a:r>
                        <a:rPr lang="en-US" sz="1400" b="0" i="0" u="none" strike="noStrike">
                          <a:solidFill>
                            <a:srgbClr val="000000"/>
                          </a:solidFill>
                          <a:effectLst/>
                          <a:latin typeface="Calibri" panose="020F0502020204030204" pitchFamily="34" charset="0"/>
                        </a:rPr>
                        <a:t>Sikkim</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 </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6.6</a:t>
                      </a:r>
                    </a:p>
                  </a:txBody>
                  <a:tcPr marL="6350" marR="6350" marT="6350" marB="0" anchor="ctr"/>
                </a:tc>
                <a:extLst>
                  <a:ext uri="{0D108BD9-81ED-4DB2-BD59-A6C34878D82A}">
                    <a16:rowId xmlns:a16="http://schemas.microsoft.com/office/drawing/2014/main" val="3939370263"/>
                  </a:ext>
                </a:extLst>
              </a:tr>
            </a:tbl>
          </a:graphicData>
        </a:graphic>
      </p:graphicFrame>
      <p:sp>
        <p:nvSpPr>
          <p:cNvPr id="5" name="Title 3">
            <a:extLst>
              <a:ext uri="{FF2B5EF4-FFF2-40B4-BE49-F238E27FC236}">
                <a16:creationId xmlns:a16="http://schemas.microsoft.com/office/drawing/2014/main" id="{26A9D13C-EE93-4A99-AA03-D780C52D17C4}"/>
              </a:ext>
            </a:extLst>
          </p:cNvPr>
          <p:cNvSpPr txBox="1">
            <a:spLocks/>
          </p:cNvSpPr>
          <p:nvPr/>
        </p:nvSpPr>
        <p:spPr bwMode="gray">
          <a:xfrm>
            <a:off x="383754" y="465808"/>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j-ea"/>
              </a:rPr>
              <a:t>State Signed PPAs</a:t>
            </a:r>
          </a:p>
          <a:p>
            <a:pPr marL="0" marR="0" lvl="0" indent="0" algn="just" defTabSz="1219231" rtl="0" eaLnBrk="1" fontAlgn="auto" latinLnBrk="0" hangingPunct="1">
              <a:lnSpc>
                <a:spcPct val="100000"/>
              </a:lnSpc>
              <a:spcBef>
                <a:spcPct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Verdana"/>
              <a:ea typeface="+mj-ea"/>
            </a:endParaRPr>
          </a:p>
        </p:txBody>
      </p:sp>
      <p:sp>
        <p:nvSpPr>
          <p:cNvPr id="6" name="TextBox 5">
            <a:extLst>
              <a:ext uri="{FF2B5EF4-FFF2-40B4-BE49-F238E27FC236}">
                <a16:creationId xmlns:a16="http://schemas.microsoft.com/office/drawing/2014/main" id="{64F15B05-3CD8-4207-8302-B5999E619B27}"/>
              </a:ext>
            </a:extLst>
          </p:cNvPr>
          <p:cNvSpPr txBox="1"/>
          <p:nvPr/>
        </p:nvSpPr>
        <p:spPr>
          <a:xfrm>
            <a:off x="469902" y="6619619"/>
            <a:ext cx="4470400" cy="107722"/>
          </a:xfrm>
          <a:prstGeom prst="rect">
            <a:avLst/>
          </a:prstGeom>
          <a:noFill/>
        </p:spPr>
        <p:txBody>
          <a:bodyPr wrap="square" lIns="0" tIns="0" rIns="0" bIns="0" rtlCol="0">
            <a:spAutoFit/>
          </a:bodyPr>
          <a:lstStyle/>
          <a:p>
            <a:pPr>
              <a:spcBef>
                <a:spcPts val="600"/>
              </a:spcBef>
              <a:buSzPct val="100000"/>
            </a:pPr>
            <a:r>
              <a:rPr lang="en-US" sz="700" dirty="0">
                <a:solidFill>
                  <a:srgbClr val="313131"/>
                </a:solidFill>
                <a:latin typeface="Verdana" panose="020B0604030504040204" pitchFamily="34" charset="0"/>
                <a:ea typeface="Verdana" panose="020B0604030504040204" pitchFamily="34" charset="0"/>
              </a:rPr>
              <a:t>@ 2020 Deloitte </a:t>
            </a:r>
            <a:r>
              <a:rPr lang="en-US" sz="700" dirty="0" err="1">
                <a:solidFill>
                  <a:srgbClr val="313131"/>
                </a:solidFill>
                <a:latin typeface="Verdana" panose="020B0604030504040204" pitchFamily="34" charset="0"/>
                <a:ea typeface="Verdana" panose="020B0604030504040204" pitchFamily="34" charset="0"/>
              </a:rPr>
              <a:t>Touche</a:t>
            </a:r>
            <a:r>
              <a:rPr lang="en-US" sz="700" dirty="0">
                <a:solidFill>
                  <a:srgbClr val="313131"/>
                </a:solidFill>
                <a:latin typeface="Verdana" panose="020B0604030504040204" pitchFamily="34" charset="0"/>
                <a:ea typeface="Verdana" panose="020B0604030504040204" pitchFamily="34" charset="0"/>
              </a:rPr>
              <a:t> Tohmatsu India LLP </a:t>
            </a:r>
          </a:p>
        </p:txBody>
      </p:sp>
    </p:spTree>
    <p:extLst>
      <p:ext uri="{BB962C8B-B14F-4D97-AF65-F5344CB8AC3E}">
        <p14:creationId xmlns:p14="http://schemas.microsoft.com/office/powerpoint/2010/main" val="166323296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List of solar power projects for WBSEDCL (1/2)</a:t>
            </a:r>
            <a:endParaRPr lang="en-US" sz="1800" b="1" i="0" dirty="0">
              <a:solidFill>
                <a:schemeClr val="tx1"/>
              </a:solidFill>
            </a:endParaRPr>
          </a:p>
        </p:txBody>
      </p:sp>
      <p:graphicFrame>
        <p:nvGraphicFramePr>
          <p:cNvPr id="3" name="Table 2">
            <a:extLst>
              <a:ext uri="{FF2B5EF4-FFF2-40B4-BE49-F238E27FC236}">
                <a16:creationId xmlns:a16="http://schemas.microsoft.com/office/drawing/2014/main" id="{B68F7498-FCEA-4EE4-9B4E-6F1B79BCA8F6}"/>
              </a:ext>
            </a:extLst>
          </p:cNvPr>
          <p:cNvGraphicFramePr>
            <a:graphicFrameLocks noGrp="1"/>
          </p:cNvGraphicFramePr>
          <p:nvPr/>
        </p:nvGraphicFramePr>
        <p:xfrm>
          <a:off x="501650" y="917762"/>
          <a:ext cx="11188699" cy="3902336"/>
        </p:xfrm>
        <a:graphic>
          <a:graphicData uri="http://schemas.openxmlformats.org/drawingml/2006/table">
            <a:tbl>
              <a:tblPr>
                <a:tableStyleId>{5C22544A-7EE6-4342-B048-85BDC9FD1C3A}</a:tableStyleId>
              </a:tblPr>
              <a:tblGrid>
                <a:gridCol w="386398">
                  <a:extLst>
                    <a:ext uri="{9D8B030D-6E8A-4147-A177-3AD203B41FA5}">
                      <a16:colId xmlns:a16="http://schemas.microsoft.com/office/drawing/2014/main" val="3854112624"/>
                    </a:ext>
                  </a:extLst>
                </a:gridCol>
                <a:gridCol w="3365344">
                  <a:extLst>
                    <a:ext uri="{9D8B030D-6E8A-4147-A177-3AD203B41FA5}">
                      <a16:colId xmlns:a16="http://schemas.microsoft.com/office/drawing/2014/main" val="2831725521"/>
                    </a:ext>
                  </a:extLst>
                </a:gridCol>
                <a:gridCol w="1769437">
                  <a:extLst>
                    <a:ext uri="{9D8B030D-6E8A-4147-A177-3AD203B41FA5}">
                      <a16:colId xmlns:a16="http://schemas.microsoft.com/office/drawing/2014/main" val="3801353416"/>
                    </a:ext>
                  </a:extLst>
                </a:gridCol>
                <a:gridCol w="1556572">
                  <a:extLst>
                    <a:ext uri="{9D8B030D-6E8A-4147-A177-3AD203B41FA5}">
                      <a16:colId xmlns:a16="http://schemas.microsoft.com/office/drawing/2014/main" val="1451808658"/>
                    </a:ext>
                  </a:extLst>
                </a:gridCol>
                <a:gridCol w="1422972">
                  <a:extLst>
                    <a:ext uri="{9D8B030D-6E8A-4147-A177-3AD203B41FA5}">
                      <a16:colId xmlns:a16="http://schemas.microsoft.com/office/drawing/2014/main" val="3589829157"/>
                    </a:ext>
                  </a:extLst>
                </a:gridCol>
                <a:gridCol w="2687976">
                  <a:extLst>
                    <a:ext uri="{9D8B030D-6E8A-4147-A177-3AD203B41FA5}">
                      <a16:colId xmlns:a16="http://schemas.microsoft.com/office/drawing/2014/main" val="828085106"/>
                    </a:ext>
                  </a:extLst>
                </a:gridCol>
              </a:tblGrid>
              <a:tr h="79179">
                <a:tc>
                  <a:txBody>
                    <a:bodyPr/>
                    <a:lstStyle/>
                    <a:p>
                      <a:pPr algn="ctr" fontAlgn="ctr"/>
                      <a:r>
                        <a:rPr lang="en-US" sz="1050" u="none" strike="noStrike" dirty="0">
                          <a:solidFill>
                            <a:schemeClr val="bg1"/>
                          </a:solidFill>
                          <a:effectLst/>
                          <a:latin typeface="+mj-lt"/>
                        </a:rPr>
                        <a:t>#</a:t>
                      </a:r>
                      <a:endParaRPr lang="en-US" sz="1050" b="0"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Name of the Project</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Present Status</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Total Capacity  (MW)</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Generation (MU)</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CUF (%)</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840827418"/>
                  </a:ext>
                </a:extLst>
              </a:tr>
              <a:tr h="156490">
                <a:tc gridSpan="6">
                  <a:txBody>
                    <a:bodyPr/>
                    <a:lstStyle/>
                    <a:p>
                      <a:pPr algn="l" fontAlgn="ctr"/>
                      <a:r>
                        <a:rPr lang="en-US" sz="1050" b="1" i="0" u="none" strike="noStrike" dirty="0">
                          <a:solidFill>
                            <a:schemeClr val="bg1"/>
                          </a:solidFill>
                          <a:effectLst/>
                          <a:latin typeface="+mj-lt"/>
                        </a:rPr>
                        <a:t>Commissioned</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pPr algn="l" fontAlgn="ctr"/>
                      <a:endParaRPr lang="en-US" sz="1050" b="0" i="0" u="none" strike="noStrike" dirty="0">
                        <a:solidFill>
                          <a:srgbClr val="333333"/>
                        </a:solidFill>
                        <a:effectLst/>
                        <a:latin typeface="+mj-lt"/>
                      </a:endParaRPr>
                    </a:p>
                  </a:txBody>
                  <a:tcPr marL="3866" marR="3866" marT="3866" marB="0" anchor="ctr"/>
                </a:tc>
                <a:tc hMerge="1">
                  <a:txBody>
                    <a:bodyPr/>
                    <a:lstStyle/>
                    <a:p>
                      <a:pPr algn="ctr" fontAlgn="ctr"/>
                      <a:endParaRPr lang="en-US" sz="1050" b="0" i="0" u="none" strike="noStrike" dirty="0">
                        <a:solidFill>
                          <a:srgbClr val="333333"/>
                        </a:solidFill>
                        <a:effectLst/>
                        <a:latin typeface="+mj-lt"/>
                      </a:endParaRPr>
                    </a:p>
                  </a:txBody>
                  <a:tcPr marL="3866" marR="3866" marT="3866" marB="0" anchor="ctr"/>
                </a:tc>
                <a:tc hMerge="1">
                  <a:txBody>
                    <a:bodyPr/>
                    <a:lstStyle/>
                    <a:p>
                      <a:pPr algn="ctr" fontAlgn="ctr"/>
                      <a:endParaRPr lang="en-US" sz="1050" b="0" i="0" u="none" strike="noStrike" dirty="0">
                        <a:solidFill>
                          <a:srgbClr val="333333"/>
                        </a:solidFill>
                        <a:effectLst/>
                        <a:latin typeface="+mj-lt"/>
                      </a:endParaRPr>
                    </a:p>
                  </a:txBody>
                  <a:tcPr marL="3866" marR="3866" marT="3866" marB="0" anchor="ctr"/>
                </a:tc>
                <a:tc hMerge="1">
                  <a:txBody>
                    <a:bodyPr/>
                    <a:lstStyle/>
                    <a:p>
                      <a:pPr algn="ctr" fontAlgn="ctr"/>
                      <a:endParaRPr lang="en-US" sz="1050" b="0" i="0" u="none" strike="noStrike" dirty="0">
                        <a:solidFill>
                          <a:srgbClr val="333333"/>
                        </a:solidFill>
                        <a:effectLst/>
                        <a:latin typeface="+mj-lt"/>
                      </a:endParaRPr>
                    </a:p>
                  </a:txBody>
                  <a:tcPr marL="3866" marR="3866" marT="3866" marB="0" anchor="ctr"/>
                </a:tc>
                <a:tc hMerge="1">
                  <a:txBody>
                    <a:bodyPr/>
                    <a:lstStyle/>
                    <a:p>
                      <a:pPr algn="ctr" fontAlgn="ctr"/>
                      <a:endParaRPr lang="en-US" sz="1050" b="0" i="0" u="none" strike="noStrike" dirty="0">
                        <a:solidFill>
                          <a:srgbClr val="DA291C"/>
                        </a:solidFill>
                        <a:effectLst/>
                        <a:latin typeface="+mj-lt"/>
                      </a:endParaRPr>
                    </a:p>
                  </a:txBody>
                  <a:tcPr marL="3866" marR="3866" marT="3866" marB="0" anchor="ctr"/>
                </a:tc>
                <a:extLst>
                  <a:ext uri="{0D108BD9-81ED-4DB2-BD59-A6C34878D82A}">
                    <a16:rowId xmlns:a16="http://schemas.microsoft.com/office/drawing/2014/main" val="2826080933"/>
                  </a:ext>
                </a:extLst>
              </a:tr>
              <a:tr h="156490">
                <a:tc>
                  <a:txBody>
                    <a:bodyPr/>
                    <a:lstStyle/>
                    <a:p>
                      <a:pPr algn="ctr" fontAlgn="ctr"/>
                      <a:r>
                        <a:rPr lang="en-US" sz="1050" u="none" strike="noStrike">
                          <a:effectLst/>
                          <a:latin typeface="+mj-lt"/>
                        </a:rPr>
                        <a:t>1</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2.4 MW Grid Connected Solar Schools Rooftop </a:t>
                      </a:r>
                      <a:r>
                        <a:rPr lang="en-US" sz="1050" u="none" strike="noStrike" dirty="0" err="1">
                          <a:effectLst/>
                          <a:latin typeface="+mj-lt"/>
                        </a:rPr>
                        <a:t>Programme</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Project Completed.</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2.4</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0.48</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solidFill>
                            <a:srgbClr val="DA291C"/>
                          </a:solidFill>
                          <a:effectLst/>
                          <a:latin typeface="+mj-lt"/>
                        </a:rPr>
                        <a:t>2.27%</a:t>
                      </a:r>
                      <a:endParaRPr lang="en-US" sz="1050" b="0" i="0" u="none" strike="noStrike" dirty="0">
                        <a:solidFill>
                          <a:srgbClr val="DA291C"/>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300684"/>
                  </a:ext>
                </a:extLst>
              </a:tr>
              <a:tr h="156490">
                <a:tc>
                  <a:txBody>
                    <a:bodyPr/>
                    <a:lstStyle/>
                    <a:p>
                      <a:pPr algn="ctr" fontAlgn="ctr"/>
                      <a:r>
                        <a:rPr lang="en-US" sz="1050" u="none" strike="noStrike">
                          <a:effectLst/>
                          <a:latin typeface="+mj-lt"/>
                        </a:rPr>
                        <a:t>2</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4.715 MW (Revised) Rooftop Solar PV Plant (5 </a:t>
                      </a:r>
                      <a:r>
                        <a:rPr lang="en-US" sz="1050" u="none" strike="noStrike" dirty="0" err="1">
                          <a:effectLst/>
                          <a:latin typeface="+mj-lt"/>
                        </a:rPr>
                        <a:t>kWp</a:t>
                      </a:r>
                      <a:r>
                        <a:rPr lang="en-US" sz="1050" u="none" strike="noStrike" dirty="0">
                          <a:effectLst/>
                          <a:latin typeface="+mj-lt"/>
                        </a:rPr>
                        <a:t> each) Project under IPDS </a:t>
                      </a:r>
                      <a:r>
                        <a:rPr lang="en-US" sz="1050" u="none" strike="noStrike" dirty="0" err="1">
                          <a:effectLst/>
                          <a:latin typeface="+mj-lt"/>
                        </a:rPr>
                        <a:t>Programme</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Project Completed.</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4.7</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4.06</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solidFill>
                            <a:srgbClr val="DA291C"/>
                          </a:solidFill>
                          <a:effectLst/>
                          <a:latin typeface="+mj-lt"/>
                        </a:rPr>
                        <a:t>9.84%</a:t>
                      </a:r>
                      <a:endParaRPr lang="en-US" sz="1050" b="0" i="0" u="none" strike="noStrike" dirty="0">
                        <a:solidFill>
                          <a:srgbClr val="DA291C"/>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607404"/>
                  </a:ext>
                </a:extLst>
              </a:tr>
              <a:tr h="233801">
                <a:tc>
                  <a:txBody>
                    <a:bodyPr/>
                    <a:lstStyle/>
                    <a:p>
                      <a:pPr algn="ctr" fontAlgn="ctr"/>
                      <a:r>
                        <a:rPr lang="en-US" sz="1050" u="none" strike="noStrike">
                          <a:effectLst/>
                          <a:latin typeface="+mj-lt"/>
                        </a:rPr>
                        <a:t>3</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5.425 MW (revised, earlier 10.5 MW) Rooftop Solar PV Plant (Min. 10 </a:t>
                      </a:r>
                      <a:r>
                        <a:rPr lang="en-US" sz="1050" u="none" strike="noStrike" dirty="0" err="1">
                          <a:effectLst/>
                          <a:latin typeface="+mj-lt"/>
                        </a:rPr>
                        <a:t>kWp</a:t>
                      </a:r>
                      <a:r>
                        <a:rPr lang="en-US" sz="1050" u="none" strike="noStrike" dirty="0">
                          <a:effectLst/>
                          <a:latin typeface="+mj-lt"/>
                        </a:rPr>
                        <a:t> each) Project under </a:t>
                      </a:r>
                      <a:r>
                        <a:rPr lang="en-US" sz="1050" u="none" strike="noStrike" dirty="0" err="1">
                          <a:effectLst/>
                          <a:latin typeface="+mj-lt"/>
                        </a:rPr>
                        <a:t>Alo</a:t>
                      </a:r>
                      <a:r>
                        <a:rPr lang="en-US" sz="1050" u="none" strike="noStrike" dirty="0">
                          <a:effectLst/>
                          <a:latin typeface="+mj-lt"/>
                        </a:rPr>
                        <a:t> Shree </a:t>
                      </a:r>
                      <a:r>
                        <a:rPr lang="en-US" sz="1050" u="none" strike="noStrike" dirty="0" err="1">
                          <a:effectLst/>
                          <a:latin typeface="+mj-lt"/>
                        </a:rPr>
                        <a:t>Programme</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Project Completed.</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5.42</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3.15</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solidFill>
                            <a:srgbClr val="DA291C"/>
                          </a:solidFill>
                          <a:effectLst/>
                          <a:latin typeface="+mj-lt"/>
                        </a:rPr>
                        <a:t>6.62%</a:t>
                      </a:r>
                      <a:endParaRPr lang="en-US" sz="1050" b="0" i="0" u="none" strike="noStrike" dirty="0">
                        <a:solidFill>
                          <a:srgbClr val="DA291C"/>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431904"/>
                  </a:ext>
                </a:extLst>
              </a:tr>
              <a:tr h="80851">
                <a:tc>
                  <a:txBody>
                    <a:bodyPr/>
                    <a:lstStyle/>
                    <a:p>
                      <a:pPr algn="ctr" fontAlgn="ctr"/>
                      <a:r>
                        <a:rPr lang="en-US" sz="1050" u="none" strike="noStrike">
                          <a:effectLst/>
                          <a:latin typeface="+mj-lt"/>
                        </a:rPr>
                        <a:t>4</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10 MW Teesta Canal Bank Solar PV Power Project</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Project Completed</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10.13</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11.56%</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5683861"/>
                  </a:ext>
                </a:extLst>
              </a:tr>
              <a:tr h="156490">
                <a:tc>
                  <a:txBody>
                    <a:bodyPr/>
                    <a:lstStyle/>
                    <a:p>
                      <a:pPr algn="ctr" fontAlgn="ctr"/>
                      <a:r>
                        <a:rPr lang="en-US" sz="1050" b="0" i="0" u="none" strike="noStrike" dirty="0">
                          <a:solidFill>
                            <a:srgbClr val="333333"/>
                          </a:solidFill>
                          <a:effectLst/>
                          <a:latin typeface="+mj-lt"/>
                        </a:rPr>
                        <a:t>5</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da-DK" sz="1050" u="none" strike="noStrike" dirty="0">
                          <a:effectLst/>
                          <a:latin typeface="+mj-lt"/>
                        </a:rPr>
                        <a:t>10 MW Solar PV Project at Khemasuli (Patni), Paschim Medinipur.</a:t>
                      </a:r>
                      <a:endParaRPr lang="da-DK"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Project completed</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14.16</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16.16%</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628724"/>
                  </a:ext>
                </a:extLst>
              </a:tr>
              <a:tr h="156490">
                <a:tc>
                  <a:txBody>
                    <a:bodyPr/>
                    <a:lstStyle/>
                    <a:p>
                      <a:pPr algn="ctr" fontAlgn="ctr"/>
                      <a:r>
                        <a:rPr lang="en-US" sz="1050" b="0" i="0" u="none" strike="noStrike" dirty="0">
                          <a:solidFill>
                            <a:srgbClr val="333333"/>
                          </a:solidFill>
                          <a:effectLst/>
                          <a:latin typeface="+mj-lt"/>
                        </a:rPr>
                        <a:t>6</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da-DK" sz="1050" u="none" strike="noStrike" dirty="0">
                          <a:effectLst/>
                          <a:latin typeface="+mj-lt"/>
                        </a:rPr>
                        <a:t>10 MW Solar PV Project at Salboni, Paschim Medinipur</a:t>
                      </a:r>
                      <a:endParaRPr lang="da-DK"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Project completed.</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13.53</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15.45%</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8725620"/>
                  </a:ext>
                </a:extLst>
              </a:tr>
              <a:tr h="233801">
                <a:tc>
                  <a:txBody>
                    <a:bodyPr/>
                    <a:lstStyle/>
                    <a:p>
                      <a:pPr algn="ctr" fontAlgn="ctr"/>
                      <a:r>
                        <a:rPr lang="en-US" sz="1050" b="0" i="0" u="none" strike="noStrike" dirty="0">
                          <a:solidFill>
                            <a:srgbClr val="333333"/>
                          </a:solidFill>
                          <a:effectLst/>
                          <a:latin typeface="+mj-lt"/>
                        </a:rPr>
                        <a:t>7</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10 MW Solar PV power plants on canal top of TCFHP Tail Race Canal, Stage II Power Station at </a:t>
                      </a:r>
                      <a:r>
                        <a:rPr lang="en-US" sz="1050" u="none" strike="noStrike" dirty="0" err="1">
                          <a:effectLst/>
                          <a:latin typeface="+mj-lt"/>
                        </a:rPr>
                        <a:t>Haptiagachh</a:t>
                      </a:r>
                      <a:r>
                        <a:rPr lang="en-US" sz="1050" u="none" strike="noStrike" dirty="0">
                          <a:effectLst/>
                          <a:latin typeface="+mj-lt"/>
                        </a:rPr>
                        <a:t> in Uttar Dinajpur District.</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Project completed.</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11.60</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13.24%</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885461"/>
                  </a:ext>
                </a:extLst>
              </a:tr>
              <a:tr h="156490">
                <a:tc>
                  <a:txBody>
                    <a:bodyPr/>
                    <a:lstStyle/>
                    <a:p>
                      <a:pPr algn="ctr" fontAlgn="ctr"/>
                      <a:r>
                        <a:rPr lang="en-US" sz="1050" u="none" strike="noStrike" dirty="0">
                          <a:effectLst/>
                          <a:latin typeface="+mj-lt"/>
                        </a:rPr>
                        <a:t>8</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10 MW Solar PV Project at </a:t>
                      </a:r>
                      <a:r>
                        <a:rPr lang="en-US" sz="1050" u="none" strike="noStrike" dirty="0" err="1">
                          <a:effectLst/>
                          <a:latin typeface="+mj-lt"/>
                        </a:rPr>
                        <a:t>Chalbalpur</a:t>
                      </a:r>
                      <a:r>
                        <a:rPr lang="en-US" sz="1050" u="none" strike="noStrike" dirty="0">
                          <a:effectLst/>
                          <a:latin typeface="+mj-lt"/>
                        </a:rPr>
                        <a:t> </a:t>
                      </a:r>
                      <a:r>
                        <a:rPr lang="en-US" sz="1050" u="none" strike="noStrike" dirty="0" err="1">
                          <a:effectLst/>
                          <a:latin typeface="+mj-lt"/>
                        </a:rPr>
                        <a:t>Raniganj</a:t>
                      </a:r>
                      <a:r>
                        <a:rPr lang="en-US" sz="1050" u="none" strike="noStrike" dirty="0">
                          <a:effectLst/>
                          <a:latin typeface="+mj-lt"/>
                        </a:rPr>
                        <a:t>, Burdwan</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Project completed.</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2.46</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solidFill>
                            <a:srgbClr val="DA291C"/>
                          </a:solidFill>
                          <a:effectLst/>
                          <a:latin typeface="+mj-lt"/>
                        </a:rPr>
                        <a:t>5.60%</a:t>
                      </a:r>
                      <a:endParaRPr lang="en-US" sz="1050" b="0" i="0" u="none" strike="noStrike" dirty="0">
                        <a:solidFill>
                          <a:srgbClr val="DA291C"/>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853571"/>
                  </a:ext>
                </a:extLst>
              </a:tr>
              <a:tr h="156490">
                <a:tc>
                  <a:txBody>
                    <a:bodyPr/>
                    <a:lstStyle/>
                    <a:p>
                      <a:pPr algn="ctr" fontAlgn="ctr"/>
                      <a:r>
                        <a:rPr lang="en-US" sz="1050" u="none" strike="noStrike" dirty="0">
                          <a:effectLst/>
                          <a:latin typeface="+mj-lt"/>
                        </a:rPr>
                        <a:t>9</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10 MW SPV Project at Dhaka - I at Birbhum, West Bengal</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Project completed.</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5.90</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14.04%</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6498980"/>
                  </a:ext>
                </a:extLst>
              </a:tr>
              <a:tr h="156490">
                <a:tc>
                  <a:txBody>
                    <a:bodyPr/>
                    <a:lstStyle/>
                    <a:p>
                      <a:pPr algn="ctr" fontAlgn="ctr"/>
                      <a:r>
                        <a:rPr lang="en-US" sz="1050" u="none" strike="noStrike" dirty="0">
                          <a:effectLst/>
                          <a:latin typeface="+mj-lt"/>
                        </a:rPr>
                        <a:t>10</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10 MW SPV Project at Dhaka - II at Birbhum, West Bengal</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Project completed.</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4.27</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solidFill>
                            <a:srgbClr val="DA291C"/>
                          </a:solidFill>
                          <a:effectLst/>
                          <a:latin typeface="+mj-lt"/>
                        </a:rPr>
                        <a:t>7.51%</a:t>
                      </a:r>
                      <a:endParaRPr lang="en-US" sz="1050" b="0" i="0" u="none" strike="noStrike" dirty="0">
                        <a:solidFill>
                          <a:srgbClr val="DA291C"/>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330732"/>
                  </a:ext>
                </a:extLst>
              </a:tr>
              <a:tr h="156490">
                <a:tc>
                  <a:txBody>
                    <a:bodyPr/>
                    <a:lstStyle/>
                    <a:p>
                      <a:pPr algn="ctr" fontAlgn="ctr"/>
                      <a:r>
                        <a:rPr lang="en-US" sz="1050" u="none" strike="noStrike" dirty="0">
                          <a:effectLst/>
                          <a:latin typeface="+mj-lt"/>
                        </a:rPr>
                        <a:t>11</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10 MW Solar PV Project at Mejia, Bankura*</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Retendered for redesign and recommissioning</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0</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solidFill>
                            <a:srgbClr val="DA291C"/>
                          </a:solidFill>
                          <a:effectLst/>
                          <a:latin typeface="+mj-lt"/>
                        </a:rPr>
                        <a:t>0.00%</a:t>
                      </a:r>
                      <a:endParaRPr lang="en-US" sz="1050" b="0" i="0" u="none" strike="noStrike" dirty="0">
                        <a:solidFill>
                          <a:srgbClr val="DA291C"/>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399213"/>
                  </a:ext>
                </a:extLst>
              </a:tr>
              <a:tr h="156490">
                <a:tc>
                  <a:txBody>
                    <a:bodyPr/>
                    <a:lstStyle/>
                    <a:p>
                      <a:pPr algn="ctr" fontAlgn="ctr"/>
                      <a:r>
                        <a:rPr lang="en-US" sz="1050" u="none" strike="noStrike" dirty="0">
                          <a:effectLst/>
                          <a:latin typeface="+mj-lt"/>
                        </a:rPr>
                        <a:t>12</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10 MW Solar PV Project at </a:t>
                      </a:r>
                      <a:r>
                        <a:rPr lang="en-US" sz="1050" u="none" strike="noStrike" dirty="0" err="1">
                          <a:effectLst/>
                          <a:latin typeface="+mj-lt"/>
                        </a:rPr>
                        <a:t>Charrah</a:t>
                      </a:r>
                      <a:r>
                        <a:rPr lang="en-US" sz="1050" u="none" strike="noStrike" dirty="0">
                          <a:effectLst/>
                          <a:latin typeface="+mj-lt"/>
                        </a:rPr>
                        <a:t>, Purulia*</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Retendered for redesign and recommissioning</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mj-lt"/>
                        </a:rPr>
                        <a:t>10</a:t>
                      </a:r>
                      <a:endParaRPr lang="en-US" sz="1050" b="0" i="0" u="none" strike="noStrike">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8.84</a:t>
                      </a:r>
                      <a:endParaRPr lang="en-US" sz="1050" b="0" i="0" u="none" strike="noStrike" dirty="0">
                        <a:solidFill>
                          <a:srgbClr val="000000"/>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10.09%</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334622"/>
                  </a:ext>
                </a:extLst>
              </a:tr>
              <a:tr h="156490">
                <a:tc>
                  <a:txBody>
                    <a:bodyPr/>
                    <a:lstStyle/>
                    <a:p>
                      <a:pPr algn="ctr" fontAlgn="ctr"/>
                      <a:r>
                        <a:rPr lang="en-US" sz="1050" u="none" strike="noStrike" dirty="0">
                          <a:effectLst/>
                          <a:latin typeface="+mj-lt"/>
                        </a:rPr>
                        <a:t>13</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u="none" strike="noStrike" dirty="0">
                          <a:effectLst/>
                          <a:latin typeface="+mj-lt"/>
                        </a:rPr>
                        <a:t>10 MW Solar PV Project at </a:t>
                      </a:r>
                      <a:r>
                        <a:rPr lang="en-US" sz="1050" u="none" strike="noStrike" dirty="0" err="1">
                          <a:effectLst/>
                          <a:latin typeface="+mj-lt"/>
                        </a:rPr>
                        <a:t>Santaldih</a:t>
                      </a:r>
                      <a:r>
                        <a:rPr lang="en-US" sz="1050" u="none" strike="noStrike" dirty="0">
                          <a:effectLst/>
                          <a:latin typeface="+mj-lt"/>
                        </a:rPr>
                        <a:t>, Purulia*</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Retendered for redesign and recommissioning</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10</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effectLst/>
                          <a:latin typeface="+mj-lt"/>
                        </a:rPr>
                        <a:t>0</a:t>
                      </a:r>
                      <a:endParaRPr lang="en-US" sz="1050" b="0" i="0" u="none" strike="noStrike" dirty="0">
                        <a:solidFill>
                          <a:srgbClr val="333333"/>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a:solidFill>
                            <a:srgbClr val="DA291C"/>
                          </a:solidFill>
                          <a:effectLst/>
                          <a:latin typeface="+mj-lt"/>
                        </a:rPr>
                        <a:t>0.00%</a:t>
                      </a:r>
                      <a:endParaRPr lang="en-US" sz="1050" b="0" i="0" u="none" strike="noStrike" dirty="0">
                        <a:solidFill>
                          <a:srgbClr val="DA291C"/>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5473126"/>
                  </a:ext>
                </a:extLst>
              </a:tr>
              <a:tr h="79179">
                <a:tc gridSpan="3">
                  <a:txBody>
                    <a:bodyPr/>
                    <a:lstStyle/>
                    <a:p>
                      <a:pPr algn="ctr" fontAlgn="ctr"/>
                      <a:r>
                        <a:rPr lang="en-US" sz="1050" b="1" i="0" u="none" strike="noStrike" dirty="0">
                          <a:solidFill>
                            <a:srgbClr val="333333"/>
                          </a:solidFill>
                          <a:effectLst/>
                          <a:latin typeface="+mj-lt"/>
                        </a:rPr>
                        <a:t>Sub-total</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pPr algn="ctr" fontAlgn="ctr"/>
                      <a:endParaRPr lang="en-US" sz="900" b="0" i="0" u="none" strike="noStrike" dirty="0">
                        <a:solidFill>
                          <a:srgbClr val="333333"/>
                        </a:solidFill>
                        <a:effectLst/>
                        <a:latin typeface="Calibri" panose="020F0502020204030204" pitchFamily="34" charset="0"/>
                      </a:endParaRPr>
                    </a:p>
                  </a:txBody>
                  <a:tcPr marL="3866" marR="3866" marT="3866" marB="0" anchor="ctr"/>
                </a:tc>
                <a:tc hMerge="1">
                  <a:txBody>
                    <a:bodyPr/>
                    <a:lstStyle/>
                    <a:p>
                      <a:pPr algn="ctr" fontAlgn="ctr"/>
                      <a:endParaRPr lang="en-US" sz="900" b="0" i="0" u="none" strike="noStrike" dirty="0">
                        <a:solidFill>
                          <a:srgbClr val="333333"/>
                        </a:solidFill>
                        <a:effectLst/>
                        <a:latin typeface="Calibri" panose="020F0502020204030204" pitchFamily="34" charset="0"/>
                      </a:endParaRPr>
                    </a:p>
                  </a:txBody>
                  <a:tcPr marL="3866" marR="3866" marT="3866" marB="0" anchor="ctr"/>
                </a:tc>
                <a:tc>
                  <a:txBody>
                    <a:bodyPr/>
                    <a:lstStyle/>
                    <a:p>
                      <a:pPr algn="ctr" fontAlgn="ctr"/>
                      <a:r>
                        <a:rPr lang="en-US" sz="1050" b="1" i="0" u="none" strike="noStrike" dirty="0">
                          <a:solidFill>
                            <a:srgbClr val="333333"/>
                          </a:solidFill>
                          <a:effectLst/>
                          <a:latin typeface="+mj-lt"/>
                        </a:rPr>
                        <a:t>112.54</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1050" b="1" i="0" u="none" strike="noStrike" dirty="0">
                          <a:solidFill>
                            <a:srgbClr val="333333"/>
                          </a:solidFill>
                          <a:effectLst/>
                          <a:latin typeface="+mj-lt"/>
                        </a:rPr>
                        <a:t>78.57</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1050" b="1" i="0" u="none" strike="noStrike" dirty="0">
                          <a:solidFill>
                            <a:srgbClr val="333333"/>
                          </a:solidFill>
                          <a:effectLst/>
                          <a:latin typeface="+mj-lt"/>
                        </a:rPr>
                        <a:t>10.22%</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743374681"/>
                  </a:ext>
                </a:extLst>
              </a:tr>
            </a:tbl>
          </a:graphicData>
        </a:graphic>
      </p:graphicFrame>
      <p:sp>
        <p:nvSpPr>
          <p:cNvPr id="6" name="Rectangle 5">
            <a:extLst>
              <a:ext uri="{FF2B5EF4-FFF2-40B4-BE49-F238E27FC236}">
                <a16:creationId xmlns:a16="http://schemas.microsoft.com/office/drawing/2014/main" id="{C545C087-08DA-4017-90B7-640C70C2D5C1}"/>
              </a:ext>
            </a:extLst>
          </p:cNvPr>
          <p:cNvSpPr/>
          <p:nvPr/>
        </p:nvSpPr>
        <p:spPr bwMode="gray">
          <a:xfrm>
            <a:off x="434975" y="5947618"/>
            <a:ext cx="10817678" cy="224579"/>
          </a:xfrm>
          <a:prstGeom prst="rect">
            <a:avLst/>
          </a:prstGeom>
          <a:noFill/>
          <a:ln>
            <a:noFill/>
            <a:prstDash val="dash"/>
          </a:ln>
        </p:spPr>
        <p:txBody>
          <a:bodyPr wrap="square" lIns="72000" tIns="72000" rIns="72000" bIns="72000" rtlCol="0" anchor="ctr" anchorCtr="0">
            <a:noAutofit/>
          </a:bodyPr>
          <a:lstStyle/>
          <a:p>
            <a:pPr marR="0" lvl="0" algn="just" defTabSz="914342" rtl="0" eaLnBrk="1" fontAlgn="auto" latinLnBrk="0" hangingPunct="1">
              <a:lnSpc>
                <a:spcPct val="100000"/>
              </a:lnSpc>
              <a:spcBef>
                <a:spcPts val="0"/>
              </a:spcBef>
              <a:spcAft>
                <a:spcPts val="0"/>
              </a:spcAft>
              <a:buClrTx/>
              <a:buSzTx/>
              <a:tabLst/>
              <a:defRPr/>
            </a:pPr>
            <a:r>
              <a:rPr lang="en-US" sz="1200" i="1" dirty="0">
                <a:solidFill>
                  <a:prstClr val="black"/>
                </a:solidFill>
                <a:latin typeface="Verdana"/>
              </a:rPr>
              <a:t>*Commissioned projects, however, same have been retendered for revamp</a:t>
            </a:r>
            <a:endParaRPr kumimoji="0" lang="en-US" sz="1200" b="1" i="1" u="none" strike="noStrike" kern="1200" cap="none" spc="0" normalizeH="0" baseline="0" noProof="0" dirty="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217207943"/>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List of solar power projects for WBSEDCL (2/2)</a:t>
            </a:r>
            <a:endParaRPr lang="en-US" sz="1800" b="1" i="0" dirty="0">
              <a:solidFill>
                <a:schemeClr val="tx1"/>
              </a:solidFill>
            </a:endParaRPr>
          </a:p>
        </p:txBody>
      </p:sp>
      <p:graphicFrame>
        <p:nvGraphicFramePr>
          <p:cNvPr id="3" name="Table 2">
            <a:extLst>
              <a:ext uri="{FF2B5EF4-FFF2-40B4-BE49-F238E27FC236}">
                <a16:creationId xmlns:a16="http://schemas.microsoft.com/office/drawing/2014/main" id="{B68F7498-FCEA-4EE4-9B4E-6F1B79BCA8F6}"/>
              </a:ext>
            </a:extLst>
          </p:cNvPr>
          <p:cNvGraphicFramePr>
            <a:graphicFrameLocks noGrp="1"/>
          </p:cNvGraphicFramePr>
          <p:nvPr/>
        </p:nvGraphicFramePr>
        <p:xfrm>
          <a:off x="412751" y="979492"/>
          <a:ext cx="11366497" cy="4660934"/>
        </p:xfrm>
        <a:graphic>
          <a:graphicData uri="http://schemas.openxmlformats.org/drawingml/2006/table">
            <a:tbl>
              <a:tblPr>
                <a:tableStyleId>{5C22544A-7EE6-4342-B048-85BDC9FD1C3A}</a:tableStyleId>
              </a:tblPr>
              <a:tblGrid>
                <a:gridCol w="354953">
                  <a:extLst>
                    <a:ext uri="{9D8B030D-6E8A-4147-A177-3AD203B41FA5}">
                      <a16:colId xmlns:a16="http://schemas.microsoft.com/office/drawing/2014/main" val="3854112624"/>
                    </a:ext>
                  </a:extLst>
                </a:gridCol>
                <a:gridCol w="5670148">
                  <a:extLst>
                    <a:ext uri="{9D8B030D-6E8A-4147-A177-3AD203B41FA5}">
                      <a16:colId xmlns:a16="http://schemas.microsoft.com/office/drawing/2014/main" val="2347269897"/>
                    </a:ext>
                  </a:extLst>
                </a:gridCol>
                <a:gridCol w="3629893">
                  <a:extLst>
                    <a:ext uri="{9D8B030D-6E8A-4147-A177-3AD203B41FA5}">
                      <a16:colId xmlns:a16="http://schemas.microsoft.com/office/drawing/2014/main" val="3801353416"/>
                    </a:ext>
                  </a:extLst>
                </a:gridCol>
                <a:gridCol w="1711503">
                  <a:extLst>
                    <a:ext uri="{9D8B030D-6E8A-4147-A177-3AD203B41FA5}">
                      <a16:colId xmlns:a16="http://schemas.microsoft.com/office/drawing/2014/main" val="1778605137"/>
                    </a:ext>
                  </a:extLst>
                </a:gridCol>
              </a:tblGrid>
              <a:tr h="112918">
                <a:tc>
                  <a:txBody>
                    <a:bodyPr/>
                    <a:lstStyle/>
                    <a:p>
                      <a:pPr algn="ctr" fontAlgn="ctr"/>
                      <a:r>
                        <a:rPr lang="en-US" sz="1050" u="none" strike="noStrike" dirty="0">
                          <a:solidFill>
                            <a:schemeClr val="bg1"/>
                          </a:solidFill>
                          <a:effectLst/>
                          <a:latin typeface="+mj-lt"/>
                        </a:rPr>
                        <a:t>#</a:t>
                      </a:r>
                      <a:endParaRPr lang="en-US" sz="1050" b="0"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Name of the Project</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Present Status</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Total Capacity  (MW)</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840827418"/>
                  </a:ext>
                </a:extLst>
              </a:tr>
              <a:tr h="96867">
                <a:tc gridSpan="4">
                  <a:txBody>
                    <a:bodyPr/>
                    <a:lstStyle/>
                    <a:p>
                      <a:pPr algn="l" fontAlgn="ctr"/>
                      <a:r>
                        <a:rPr lang="en-US" sz="1050" b="1" i="0" u="none" strike="noStrike" dirty="0">
                          <a:solidFill>
                            <a:schemeClr val="bg1"/>
                          </a:solidFill>
                          <a:effectLst/>
                          <a:latin typeface="+mj-lt"/>
                        </a:rPr>
                        <a:t>Under Construction</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tc>
                <a:tc hMerge="1">
                  <a:txBody>
                    <a:bodyPr/>
                    <a:lstStyle/>
                    <a:p>
                      <a:pPr algn="ctr" fontAlgn="ctr"/>
                      <a:endParaRPr lang="en-US" sz="900" b="0" i="0" u="none" strike="noStrike">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l" fontAlgn="ct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4095401468"/>
                  </a:ext>
                </a:extLst>
              </a:tr>
              <a:tr h="98335">
                <a:tc>
                  <a:txBody>
                    <a:bodyPr/>
                    <a:lstStyle/>
                    <a:p>
                      <a:pPr algn="ctr" fontAlgn="ctr"/>
                      <a:r>
                        <a:rPr lang="en-US" sz="1050" b="0" i="0" u="none" strike="noStrike" dirty="0">
                          <a:solidFill>
                            <a:srgbClr val="333333"/>
                          </a:solidFill>
                          <a:effectLst/>
                          <a:latin typeface="+mj-lt"/>
                        </a:rPr>
                        <a:t>14</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50 MWp aggregate Solar PV rooftop projects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EOI issued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50</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300684"/>
                  </a:ext>
                </a:extLst>
              </a:tr>
              <a:tr h="98335">
                <a:tc>
                  <a:txBody>
                    <a:bodyPr/>
                    <a:lstStyle/>
                    <a:p>
                      <a:pPr algn="ctr" fontAlgn="ctr"/>
                      <a:r>
                        <a:rPr lang="en-US" sz="1050" b="0" i="0" u="none" strike="noStrike" dirty="0">
                          <a:solidFill>
                            <a:srgbClr val="333333"/>
                          </a:solidFill>
                          <a:effectLst/>
                          <a:latin typeface="+mj-lt"/>
                        </a:rPr>
                        <a:t>15</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 MW Solar PV Project at </a:t>
                      </a:r>
                      <a:r>
                        <a:rPr lang="en-US" sz="1050" b="0" i="0" u="none" strike="noStrike" dirty="0" err="1">
                          <a:solidFill>
                            <a:srgbClr val="333333"/>
                          </a:solidFill>
                          <a:effectLst/>
                          <a:latin typeface="+mj-lt"/>
                        </a:rPr>
                        <a:t>Koltaldih</a:t>
                      </a:r>
                      <a:r>
                        <a:rPr lang="en-US" sz="1050" b="0" i="0" u="none" strike="noStrike" dirty="0">
                          <a:solidFill>
                            <a:srgbClr val="333333"/>
                          </a:solidFill>
                          <a:effectLst/>
                          <a:latin typeface="+mj-lt"/>
                        </a:rPr>
                        <a:t> (Phase - I), Asansol, Burdwan district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Exp Commissioning Jun 2021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10</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5544811"/>
                  </a:ext>
                </a:extLst>
              </a:tr>
              <a:tr h="287499">
                <a:tc>
                  <a:txBody>
                    <a:bodyPr/>
                    <a:lstStyle/>
                    <a:p>
                      <a:pPr algn="ctr" fontAlgn="ctr"/>
                      <a:r>
                        <a:rPr lang="en-US" sz="1050" b="0" i="0" u="none" strike="noStrike" dirty="0">
                          <a:solidFill>
                            <a:srgbClr val="333333"/>
                          </a:solidFill>
                          <a:effectLst/>
                          <a:latin typeface="+mj-lt"/>
                        </a:rPr>
                        <a:t>16</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Cumulative 7 MW solar PV (solarization of pumps) under KUSUM scheme (Component C)</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LOI placed for 4 packages on 26th Feb 2021.  Evaluation underway for 2 packages and last package cancelled due to non-availability of bidders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7</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4439703"/>
                  </a:ext>
                </a:extLst>
              </a:tr>
              <a:tr h="192917">
                <a:tc>
                  <a:txBody>
                    <a:bodyPr/>
                    <a:lstStyle/>
                    <a:p>
                      <a:pPr algn="ctr" fontAlgn="ctr"/>
                      <a:r>
                        <a:rPr lang="en-US" sz="1050" b="0" i="0" u="none" strike="noStrike" dirty="0">
                          <a:solidFill>
                            <a:srgbClr val="333333"/>
                          </a:solidFill>
                          <a:effectLst/>
                          <a:latin typeface="+mj-lt"/>
                        </a:rPr>
                        <a:t>17</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 MW Solar PV Project at </a:t>
                      </a:r>
                      <a:r>
                        <a:rPr lang="en-US" sz="1050" b="0" i="0" u="none" strike="noStrike" dirty="0" err="1">
                          <a:solidFill>
                            <a:srgbClr val="333333"/>
                          </a:solidFill>
                          <a:effectLst/>
                          <a:latin typeface="+mj-lt"/>
                        </a:rPr>
                        <a:t>Sankrail</a:t>
                      </a:r>
                      <a:r>
                        <a:rPr lang="en-US" sz="1050" b="0" i="0" u="none" strike="noStrike" dirty="0">
                          <a:solidFill>
                            <a:srgbClr val="333333"/>
                          </a:solidFill>
                          <a:effectLst/>
                          <a:latin typeface="+mj-lt"/>
                        </a:rPr>
                        <a:t> (earlier Srirampur), </a:t>
                      </a:r>
                      <a:r>
                        <a:rPr lang="en-US" sz="1050" b="0" i="0" u="none" strike="noStrike" dirty="0" err="1">
                          <a:solidFill>
                            <a:srgbClr val="333333"/>
                          </a:solidFill>
                          <a:effectLst/>
                          <a:latin typeface="+mj-lt"/>
                        </a:rPr>
                        <a:t>Jhargram</a:t>
                      </a:r>
                      <a:r>
                        <a:rPr lang="en-US" sz="1050" b="0" i="0" u="none" strike="noStrike" dirty="0">
                          <a:solidFill>
                            <a:srgbClr val="333333"/>
                          </a:solidFill>
                          <a:effectLst/>
                          <a:latin typeface="+mj-lt"/>
                        </a:rPr>
                        <a:t>, Paschim Medinipur district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Exp Commissioning Sep 2021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10</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609266"/>
                  </a:ext>
                </a:extLst>
              </a:tr>
              <a:tr h="113784">
                <a:tc>
                  <a:txBody>
                    <a:bodyPr/>
                    <a:lstStyle/>
                    <a:p>
                      <a:pPr algn="ctr" fontAlgn="ctr"/>
                      <a:r>
                        <a:rPr lang="en-US" sz="1050" b="0" i="0" u="none" strike="noStrike" dirty="0">
                          <a:solidFill>
                            <a:srgbClr val="333333"/>
                          </a:solidFill>
                          <a:effectLst/>
                          <a:latin typeface="+mj-lt"/>
                        </a:rPr>
                        <a:t>18</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 MW ground mounted solar at Asansol (Phase - I) (</a:t>
                      </a:r>
                      <a:r>
                        <a:rPr lang="en-US" sz="1050" b="0" i="0" u="none" strike="noStrike" dirty="0" err="1">
                          <a:solidFill>
                            <a:srgbClr val="333333"/>
                          </a:solidFill>
                          <a:effectLst/>
                          <a:latin typeface="+mj-lt"/>
                        </a:rPr>
                        <a:t>Koltaldih</a:t>
                      </a:r>
                      <a:r>
                        <a:rPr lang="en-US" sz="1050" b="0" i="0" u="none" strike="noStrike" dirty="0">
                          <a:solidFill>
                            <a:srgbClr val="333333"/>
                          </a:solidFill>
                          <a:effectLst/>
                          <a:latin typeface="+mj-lt"/>
                        </a:rPr>
                        <a:t>, Asansol, Burdwan)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Exp Commissioning Jun 2021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10</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607404"/>
                  </a:ext>
                </a:extLst>
              </a:tr>
              <a:tr h="98335">
                <a:tc>
                  <a:txBody>
                    <a:bodyPr/>
                    <a:lstStyle/>
                    <a:p>
                      <a:pPr algn="ctr" fontAlgn="ctr"/>
                      <a:r>
                        <a:rPr lang="en-US" sz="1050" b="0" i="0" u="none" strike="noStrike" dirty="0">
                          <a:solidFill>
                            <a:srgbClr val="333333"/>
                          </a:solidFill>
                          <a:effectLst/>
                          <a:latin typeface="+mj-lt"/>
                        </a:rPr>
                        <a:t>19</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125 MW  (Ph-I) and 75 MW (Ph-II)solar PV plant at </a:t>
                      </a:r>
                      <a:r>
                        <a:rPr lang="en-US" sz="1050" b="0" i="0" u="none" strike="noStrike" dirty="0" err="1">
                          <a:solidFill>
                            <a:srgbClr val="333333"/>
                          </a:solidFill>
                          <a:effectLst/>
                          <a:latin typeface="+mj-lt"/>
                        </a:rPr>
                        <a:t>Purba</a:t>
                      </a:r>
                      <a:r>
                        <a:rPr lang="en-US" sz="1050" b="0" i="0" u="none" strike="noStrike" dirty="0">
                          <a:solidFill>
                            <a:srgbClr val="333333"/>
                          </a:solidFill>
                          <a:effectLst/>
                          <a:latin typeface="+mj-lt"/>
                        </a:rPr>
                        <a:t> Medinipur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a:solidFill>
                            <a:srgbClr val="333333"/>
                          </a:solidFill>
                          <a:effectLst/>
                          <a:latin typeface="+mj-lt"/>
                        </a:rPr>
                        <a:t>Exp Commissioning Jan 2022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50" b="0" i="0" u="none" strike="noStrike">
                          <a:solidFill>
                            <a:srgbClr val="000000"/>
                          </a:solidFill>
                          <a:effectLst/>
                          <a:latin typeface="+mj-lt"/>
                        </a:rPr>
                        <a:t>200</a:t>
                      </a:r>
                      <a:endParaRPr lang="en-US" sz="105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431904"/>
                  </a:ext>
                </a:extLst>
              </a:tr>
              <a:tr h="98335">
                <a:tc>
                  <a:txBody>
                    <a:bodyPr/>
                    <a:lstStyle/>
                    <a:p>
                      <a:pPr algn="ctr" fontAlgn="ctr"/>
                      <a:r>
                        <a:rPr lang="en-US" sz="1050" b="0" i="0" u="none" strike="noStrike" dirty="0">
                          <a:solidFill>
                            <a:srgbClr val="333333"/>
                          </a:solidFill>
                          <a:effectLst/>
                          <a:latin typeface="+mj-lt"/>
                        </a:rPr>
                        <a:t>20</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 MW Solar PV Power Plant at </a:t>
                      </a:r>
                      <a:r>
                        <a:rPr lang="en-US" sz="1050" b="0" i="0" u="none" strike="noStrike" dirty="0" err="1">
                          <a:solidFill>
                            <a:srgbClr val="333333"/>
                          </a:solidFill>
                          <a:effectLst/>
                          <a:latin typeface="+mj-lt"/>
                        </a:rPr>
                        <a:t>Kalpani-Baldiahati</a:t>
                      </a:r>
                      <a:r>
                        <a:rPr lang="en-US" sz="1050" b="0" i="0" u="none" strike="noStrike" dirty="0">
                          <a:solidFill>
                            <a:srgbClr val="333333"/>
                          </a:solidFill>
                          <a:effectLst/>
                          <a:latin typeface="+mj-lt"/>
                        </a:rPr>
                        <a:t> at </a:t>
                      </a:r>
                      <a:r>
                        <a:rPr lang="en-US" sz="1050" b="0" i="0" u="none" strike="noStrike" dirty="0" err="1">
                          <a:solidFill>
                            <a:srgbClr val="333333"/>
                          </a:solidFill>
                          <a:effectLst/>
                          <a:latin typeface="+mj-lt"/>
                        </a:rPr>
                        <a:t>Coochbehar</a:t>
                      </a:r>
                      <a:r>
                        <a:rPr lang="en-US" sz="1050" b="0" i="0" u="none" strike="noStrike" dirty="0">
                          <a:solidFill>
                            <a:srgbClr val="333333"/>
                          </a:solidFill>
                          <a:effectLst/>
                          <a:latin typeface="+mj-lt"/>
                        </a:rPr>
                        <a:t> District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fontAlgn="ctr"/>
                      <a:r>
                        <a:rPr lang="en-US" sz="1050" b="0" i="0" u="none" strike="noStrike" dirty="0">
                          <a:solidFill>
                            <a:srgbClr val="333333"/>
                          </a:solidFill>
                          <a:effectLst/>
                          <a:latin typeface="+mj-lt"/>
                        </a:rPr>
                        <a:t>DPR has been submitted to the Power &amp; NES Dept. </a:t>
                      </a:r>
                      <a:r>
                        <a:rPr lang="en-US" sz="1050" b="0" i="0" u="none" strike="noStrike" dirty="0" err="1">
                          <a:solidFill>
                            <a:srgbClr val="333333"/>
                          </a:solidFill>
                          <a:effectLst/>
                          <a:latin typeface="+mj-lt"/>
                        </a:rPr>
                        <a:t>GoWB</a:t>
                      </a:r>
                      <a:r>
                        <a:rPr lang="en-US" sz="1050" b="0" i="0" u="none" strike="noStrike" dirty="0">
                          <a:solidFill>
                            <a:srgbClr val="333333"/>
                          </a:solidFill>
                          <a:effectLst/>
                          <a:latin typeface="+mj-lt"/>
                        </a:rPr>
                        <a:t> for sanction under RIDF scheme of NABARD.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fontAlgn="ctr"/>
                      <a:r>
                        <a:rPr lang="en-US" sz="1050" b="0" i="0" u="none" strike="noStrike">
                          <a:solidFill>
                            <a:srgbClr val="333333"/>
                          </a:solidFill>
                          <a:effectLst/>
                          <a:latin typeface="+mj-lt"/>
                        </a:rPr>
                        <a:t>10</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5683861"/>
                  </a:ext>
                </a:extLst>
              </a:tr>
              <a:tr h="98335">
                <a:tc>
                  <a:txBody>
                    <a:bodyPr/>
                    <a:lstStyle/>
                    <a:p>
                      <a:pPr algn="ctr" fontAlgn="ctr"/>
                      <a:r>
                        <a:rPr lang="en-US" sz="1050" b="0" i="0" u="none" strike="noStrike" dirty="0">
                          <a:solidFill>
                            <a:srgbClr val="333333"/>
                          </a:solidFill>
                          <a:effectLst/>
                          <a:latin typeface="+mj-lt"/>
                        </a:rPr>
                        <a:t>21</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02 MW Solar PV Power Plant at </a:t>
                      </a:r>
                      <a:r>
                        <a:rPr lang="en-US" sz="1050" b="0" i="0" u="none" strike="noStrike" dirty="0" err="1">
                          <a:solidFill>
                            <a:srgbClr val="333333"/>
                          </a:solidFill>
                          <a:effectLst/>
                          <a:latin typeface="+mj-lt"/>
                        </a:rPr>
                        <a:t>Chiranjibpur</a:t>
                      </a:r>
                      <a:r>
                        <a:rPr lang="en-US" sz="1050" b="0" i="0" u="none" strike="noStrike" dirty="0">
                          <a:solidFill>
                            <a:srgbClr val="333333"/>
                          </a:solidFill>
                          <a:effectLst/>
                          <a:latin typeface="+mj-lt"/>
                        </a:rPr>
                        <a:t>, Haldia</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347628724"/>
                  </a:ext>
                </a:extLst>
              </a:tr>
              <a:tr h="98335">
                <a:tc>
                  <a:txBody>
                    <a:bodyPr/>
                    <a:lstStyle/>
                    <a:p>
                      <a:pPr algn="ctr" fontAlgn="ctr"/>
                      <a:r>
                        <a:rPr lang="en-US" sz="1050" b="0" i="0" u="none" strike="noStrike" dirty="0">
                          <a:solidFill>
                            <a:srgbClr val="333333"/>
                          </a:solidFill>
                          <a:effectLst/>
                          <a:latin typeface="+mj-lt"/>
                        </a:rPr>
                        <a:t>22</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04 MW Solar PV Project at </a:t>
                      </a:r>
                      <a:r>
                        <a:rPr lang="en-US" sz="1050" b="0" i="0" u="none" strike="noStrike" dirty="0" err="1">
                          <a:solidFill>
                            <a:srgbClr val="333333"/>
                          </a:solidFill>
                          <a:effectLst/>
                          <a:latin typeface="+mj-lt"/>
                        </a:rPr>
                        <a:t>Koltaldih</a:t>
                      </a:r>
                      <a:r>
                        <a:rPr lang="en-US" sz="1050" b="0" i="0" u="none" strike="noStrike" dirty="0">
                          <a:solidFill>
                            <a:srgbClr val="333333"/>
                          </a:solidFill>
                          <a:effectLst/>
                          <a:latin typeface="+mj-lt"/>
                        </a:rPr>
                        <a:t> (Phase - IA), Asansol, Burdwan district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728725620"/>
                  </a:ext>
                </a:extLst>
              </a:tr>
              <a:tr h="98335">
                <a:tc>
                  <a:txBody>
                    <a:bodyPr/>
                    <a:lstStyle/>
                    <a:p>
                      <a:pPr algn="ctr" fontAlgn="ctr"/>
                      <a:r>
                        <a:rPr lang="en-US" sz="1050" b="0" i="0" u="none" strike="noStrike" dirty="0">
                          <a:solidFill>
                            <a:srgbClr val="333333"/>
                          </a:solidFill>
                          <a:effectLst/>
                          <a:latin typeface="+mj-lt"/>
                        </a:rPr>
                        <a:t>23</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 MW Solar PV Power Plants at Mahananda Main Canal, Uttar Dinajpur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237885461"/>
                  </a:ext>
                </a:extLst>
              </a:tr>
              <a:tr h="96867">
                <a:tc gridSpan="3">
                  <a:txBody>
                    <a:bodyPr/>
                    <a:lstStyle/>
                    <a:p>
                      <a:pPr algn="ctr" fontAlgn="ctr"/>
                      <a:r>
                        <a:rPr lang="en-US" sz="1050" b="1" i="0" u="none" strike="noStrike" dirty="0">
                          <a:solidFill>
                            <a:srgbClr val="333333"/>
                          </a:solidFill>
                          <a:effectLst/>
                          <a:latin typeface="+mj-lt"/>
                        </a:rPr>
                        <a:t>Sub-total</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050" b="1" i="0" u="none" strike="noStrike" dirty="0">
                          <a:solidFill>
                            <a:srgbClr val="333333"/>
                          </a:solidFill>
                          <a:effectLst/>
                          <a:latin typeface="+mj-lt"/>
                        </a:rPr>
                        <a:t>297</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34780862"/>
                  </a:ext>
                </a:extLst>
              </a:tr>
              <a:tr h="96867">
                <a:tc gridSpan="4">
                  <a:txBody>
                    <a:bodyPr/>
                    <a:lstStyle/>
                    <a:p>
                      <a:pPr algn="l" fontAlgn="ctr"/>
                      <a:r>
                        <a:rPr lang="en-US" sz="1050" b="1" i="0" u="none" strike="noStrike" dirty="0">
                          <a:solidFill>
                            <a:schemeClr val="bg1"/>
                          </a:solidFill>
                          <a:effectLst/>
                          <a:latin typeface="+mj-lt"/>
                        </a:rPr>
                        <a:t>Proposed pipeline</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tcPr>
                </a:tc>
                <a:tc hMerge="1">
                  <a:txBody>
                    <a:bodyPr/>
                    <a:lstStyle/>
                    <a:p>
                      <a:pPr algn="l" fontAlgn="ct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3795466295"/>
                  </a:ext>
                </a:extLst>
              </a:tr>
              <a:tr h="192917">
                <a:tc>
                  <a:txBody>
                    <a:bodyPr/>
                    <a:lstStyle/>
                    <a:p>
                      <a:pPr algn="ctr" fontAlgn="ctr"/>
                      <a:r>
                        <a:rPr lang="en-US" sz="1050" b="0" i="0" u="none" strike="noStrike" dirty="0">
                          <a:solidFill>
                            <a:srgbClr val="333333"/>
                          </a:solidFill>
                          <a:effectLst/>
                          <a:latin typeface="+mj-lt"/>
                        </a:rPr>
                        <a:t>24</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Mega solar park on 6000 acres of land in </a:t>
                      </a:r>
                      <a:r>
                        <a:rPr lang="en-US" sz="1050" b="0" i="0" u="none" strike="noStrike" dirty="0" err="1">
                          <a:solidFill>
                            <a:srgbClr val="333333"/>
                          </a:solidFill>
                          <a:effectLst/>
                          <a:latin typeface="+mj-lt"/>
                        </a:rPr>
                        <a:t>Nayachar</a:t>
                      </a:r>
                      <a:r>
                        <a:rPr lang="en-US" sz="1050" b="0" i="0" u="none" strike="noStrike" dirty="0">
                          <a:solidFill>
                            <a:srgbClr val="333333"/>
                          </a:solidFill>
                          <a:effectLst/>
                          <a:latin typeface="+mj-lt"/>
                        </a:rPr>
                        <a:t> Island of 1200 – 1300 MW to be split into 50 MW units for private entrepreneurs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Proposed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1200-1300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853571"/>
                  </a:ext>
                </a:extLst>
              </a:tr>
              <a:tr h="192917">
                <a:tc>
                  <a:txBody>
                    <a:bodyPr/>
                    <a:lstStyle/>
                    <a:p>
                      <a:pPr algn="ctr" fontAlgn="ctr"/>
                      <a:r>
                        <a:rPr lang="en-US" sz="1050" b="0" i="0" u="none" strike="noStrike" dirty="0">
                          <a:solidFill>
                            <a:srgbClr val="333333"/>
                          </a:solidFill>
                          <a:effectLst/>
                          <a:latin typeface="+mj-lt"/>
                        </a:rPr>
                        <a:t>25</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500 MW Floating Solar Plant on </a:t>
                      </a:r>
                      <a:r>
                        <a:rPr lang="en-US" sz="1050" b="0" i="0" u="none" strike="noStrike" dirty="0" err="1">
                          <a:solidFill>
                            <a:srgbClr val="333333"/>
                          </a:solidFill>
                          <a:effectLst/>
                          <a:latin typeface="+mj-lt"/>
                        </a:rPr>
                        <a:t>Bakreswar</a:t>
                      </a:r>
                      <a:r>
                        <a:rPr lang="en-US" sz="1050" b="0" i="0" u="none" strike="noStrike" dirty="0">
                          <a:solidFill>
                            <a:srgbClr val="333333"/>
                          </a:solidFill>
                          <a:effectLst/>
                          <a:latin typeface="+mj-lt"/>
                        </a:rPr>
                        <a:t> Dam</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Approved by State</a:t>
                      </a:r>
                      <a:br>
                        <a:rPr lang="en-US" sz="1050" b="0" i="0" u="none" strike="noStrike" dirty="0">
                          <a:solidFill>
                            <a:srgbClr val="333333"/>
                          </a:solidFill>
                          <a:effectLst/>
                          <a:latin typeface="+mj-lt"/>
                        </a:rPr>
                      </a:br>
                      <a:r>
                        <a:rPr lang="en-US" sz="1050" b="0" i="0" u="none" strike="noStrike" dirty="0">
                          <a:solidFill>
                            <a:srgbClr val="333333"/>
                          </a:solidFill>
                          <a:effectLst/>
                          <a:latin typeface="+mj-lt"/>
                        </a:rPr>
                        <a:t>Cabinet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500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6498980"/>
                  </a:ext>
                </a:extLst>
              </a:tr>
              <a:tr h="98335">
                <a:tc>
                  <a:txBody>
                    <a:bodyPr/>
                    <a:lstStyle/>
                    <a:p>
                      <a:pPr algn="ctr" fontAlgn="ctr"/>
                      <a:r>
                        <a:rPr lang="en-US" sz="1050" b="0" i="0" u="none" strike="noStrike" dirty="0">
                          <a:solidFill>
                            <a:srgbClr val="333333"/>
                          </a:solidFill>
                          <a:effectLst/>
                          <a:latin typeface="+mj-lt"/>
                        </a:rPr>
                        <a:t>26</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300 MW Floating Solar Plant on </a:t>
                      </a:r>
                      <a:r>
                        <a:rPr lang="en-US" sz="1050" b="0" i="0" u="none" strike="noStrike" dirty="0" err="1">
                          <a:solidFill>
                            <a:srgbClr val="333333"/>
                          </a:solidFill>
                          <a:effectLst/>
                          <a:latin typeface="+mj-lt"/>
                        </a:rPr>
                        <a:t>Kangasabati</a:t>
                      </a:r>
                      <a:r>
                        <a:rPr lang="en-US" sz="1050" b="0" i="0" u="none" strike="noStrike" dirty="0">
                          <a:solidFill>
                            <a:srgbClr val="333333"/>
                          </a:solidFill>
                          <a:effectLst/>
                          <a:latin typeface="+mj-lt"/>
                        </a:rPr>
                        <a:t> Dam</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Proposed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300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330732"/>
                  </a:ext>
                </a:extLst>
              </a:tr>
              <a:tr h="98335">
                <a:tc>
                  <a:txBody>
                    <a:bodyPr/>
                    <a:lstStyle/>
                    <a:p>
                      <a:pPr algn="ctr" fontAlgn="ctr"/>
                      <a:r>
                        <a:rPr lang="en-US" sz="1050" b="0" i="0" u="none" strike="noStrike" dirty="0">
                          <a:solidFill>
                            <a:srgbClr val="333333"/>
                          </a:solidFill>
                          <a:effectLst/>
                          <a:latin typeface="+mj-lt"/>
                        </a:rPr>
                        <a:t>27</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125 MW Solar Park Project at </a:t>
                      </a:r>
                      <a:r>
                        <a:rPr lang="en-US" sz="1050" b="0" i="0" u="none" strike="noStrike" dirty="0" err="1">
                          <a:solidFill>
                            <a:srgbClr val="333333"/>
                          </a:solidFill>
                          <a:effectLst/>
                          <a:latin typeface="+mj-lt"/>
                        </a:rPr>
                        <a:t>Goaltore</a:t>
                      </a:r>
                      <a:r>
                        <a:rPr lang="en-US" sz="1050" b="0" i="0" u="none" strike="noStrike" dirty="0">
                          <a:solidFill>
                            <a:srgbClr val="333333"/>
                          </a:solidFill>
                          <a:effectLst/>
                          <a:latin typeface="+mj-lt"/>
                        </a:rPr>
                        <a:t> (Paschim Medinipur)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In principle approval of State Govt.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125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399213"/>
                  </a:ext>
                </a:extLst>
              </a:tr>
              <a:tr h="193539">
                <a:tc>
                  <a:txBody>
                    <a:bodyPr/>
                    <a:lstStyle/>
                    <a:p>
                      <a:pPr algn="ctr" fontAlgn="ctr"/>
                      <a:r>
                        <a:rPr lang="en-US" sz="1050" b="0" i="0" u="none" strike="noStrike" dirty="0">
                          <a:solidFill>
                            <a:srgbClr val="333333"/>
                          </a:solidFill>
                          <a:effectLst/>
                          <a:latin typeface="+mj-lt"/>
                        </a:rPr>
                        <a:t>28</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20MW capacity Ground mounted Grid connected 10MW capacity each Solar Photo Voltaic Plant at Gangapur Mouza, Block – Rajnagar </a:t>
                      </a:r>
                      <a:r>
                        <a:rPr lang="en-US" sz="1050" b="0" i="0" u="none" strike="noStrike" dirty="0" err="1">
                          <a:solidFill>
                            <a:srgbClr val="333333"/>
                          </a:solidFill>
                          <a:effectLst/>
                          <a:latin typeface="+mj-lt"/>
                        </a:rPr>
                        <a:t>Dist.Birbhum</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RIDF – XXVII NABARD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334622"/>
                  </a:ext>
                </a:extLst>
              </a:tr>
              <a:tr h="192917">
                <a:tc>
                  <a:txBody>
                    <a:bodyPr/>
                    <a:lstStyle/>
                    <a:p>
                      <a:pPr algn="ctr" fontAlgn="ctr"/>
                      <a:r>
                        <a:rPr lang="en-US" sz="1050" b="0" i="0" u="none" strike="noStrike" dirty="0">
                          <a:solidFill>
                            <a:srgbClr val="333333"/>
                          </a:solidFill>
                          <a:effectLst/>
                          <a:latin typeface="+mj-lt"/>
                        </a:rPr>
                        <a:t>29</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10MW Solar Plant at PPSP Upper Dam Reservoir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RIDF – XXVII</a:t>
                      </a:r>
                      <a:br>
                        <a:rPr lang="en-US" sz="1050" b="0" i="0" u="none" strike="noStrike" dirty="0">
                          <a:solidFill>
                            <a:srgbClr val="333333"/>
                          </a:solidFill>
                          <a:effectLst/>
                          <a:latin typeface="+mj-lt"/>
                        </a:rPr>
                      </a:br>
                      <a:r>
                        <a:rPr lang="en-US" sz="1050" b="0" i="0" u="none" strike="noStrike" dirty="0">
                          <a:solidFill>
                            <a:srgbClr val="333333"/>
                          </a:solidFill>
                          <a:effectLst/>
                          <a:latin typeface="+mj-lt"/>
                        </a:rPr>
                        <a:t>NABARD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5473126"/>
                  </a:ext>
                </a:extLst>
              </a:tr>
              <a:tr h="192917">
                <a:tc>
                  <a:txBody>
                    <a:bodyPr/>
                    <a:lstStyle/>
                    <a:p>
                      <a:pPr algn="ctr" fontAlgn="ctr"/>
                      <a:r>
                        <a:rPr lang="en-US" sz="1050" b="0" i="0" u="none" strike="noStrike" dirty="0">
                          <a:solidFill>
                            <a:srgbClr val="333333"/>
                          </a:solidFill>
                          <a:effectLst/>
                          <a:latin typeface="+mj-lt"/>
                        </a:rPr>
                        <a:t>30</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60 MWp Roof Top Solar PV Project in residential area under WBSEDCL Command Area.</a:t>
                      </a:r>
                      <a:endParaRPr lang="en-US" sz="1050" b="1"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MNRE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60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3374681"/>
                  </a:ext>
                </a:extLst>
              </a:tr>
              <a:tr h="96867">
                <a:tc gridSpan="3">
                  <a:txBody>
                    <a:bodyPr/>
                    <a:lstStyle/>
                    <a:p>
                      <a:pPr algn="ctr" fontAlgn="ctr"/>
                      <a:r>
                        <a:rPr lang="en-US" sz="1050" b="1" i="0" u="none" strike="noStrike" dirty="0">
                          <a:solidFill>
                            <a:srgbClr val="333333"/>
                          </a:solidFill>
                          <a:effectLst/>
                          <a:latin typeface="+mj-lt"/>
                        </a:rPr>
                        <a:t>Sub-total</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333333"/>
                          </a:solidFill>
                          <a:effectLst/>
                          <a:latin typeface="+mj-lt"/>
                        </a:rPr>
                        <a:t>2215-2315</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09733278"/>
                  </a:ext>
                </a:extLst>
              </a:tr>
            </a:tbl>
          </a:graphicData>
        </a:graphic>
      </p:graphicFrame>
    </p:spTree>
    <p:extLst>
      <p:ext uri="{BB962C8B-B14F-4D97-AF65-F5344CB8AC3E}">
        <p14:creationId xmlns:p14="http://schemas.microsoft.com/office/powerpoint/2010/main" val="1961030026"/>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List of solar power projects for WBPDCL </a:t>
            </a:r>
            <a:endParaRPr lang="en-US" sz="1800" b="1" i="0" dirty="0">
              <a:solidFill>
                <a:schemeClr val="tx1"/>
              </a:solidFill>
            </a:endParaRPr>
          </a:p>
        </p:txBody>
      </p:sp>
      <p:graphicFrame>
        <p:nvGraphicFramePr>
          <p:cNvPr id="3" name="Table 2">
            <a:extLst>
              <a:ext uri="{FF2B5EF4-FFF2-40B4-BE49-F238E27FC236}">
                <a16:creationId xmlns:a16="http://schemas.microsoft.com/office/drawing/2014/main" id="{B68F7498-FCEA-4EE4-9B4E-6F1B79BCA8F6}"/>
              </a:ext>
            </a:extLst>
          </p:cNvPr>
          <p:cNvGraphicFramePr>
            <a:graphicFrameLocks noGrp="1"/>
          </p:cNvGraphicFramePr>
          <p:nvPr/>
        </p:nvGraphicFramePr>
        <p:xfrm>
          <a:off x="412751" y="979493"/>
          <a:ext cx="11366497" cy="3802772"/>
        </p:xfrm>
        <a:graphic>
          <a:graphicData uri="http://schemas.openxmlformats.org/drawingml/2006/table">
            <a:tbl>
              <a:tblPr>
                <a:tableStyleId>{5C22544A-7EE6-4342-B048-85BDC9FD1C3A}</a:tableStyleId>
              </a:tblPr>
              <a:tblGrid>
                <a:gridCol w="354953">
                  <a:extLst>
                    <a:ext uri="{9D8B030D-6E8A-4147-A177-3AD203B41FA5}">
                      <a16:colId xmlns:a16="http://schemas.microsoft.com/office/drawing/2014/main" val="3854112624"/>
                    </a:ext>
                  </a:extLst>
                </a:gridCol>
                <a:gridCol w="5670148">
                  <a:extLst>
                    <a:ext uri="{9D8B030D-6E8A-4147-A177-3AD203B41FA5}">
                      <a16:colId xmlns:a16="http://schemas.microsoft.com/office/drawing/2014/main" val="2347269897"/>
                    </a:ext>
                  </a:extLst>
                </a:gridCol>
                <a:gridCol w="3629893">
                  <a:extLst>
                    <a:ext uri="{9D8B030D-6E8A-4147-A177-3AD203B41FA5}">
                      <a16:colId xmlns:a16="http://schemas.microsoft.com/office/drawing/2014/main" val="3801353416"/>
                    </a:ext>
                  </a:extLst>
                </a:gridCol>
                <a:gridCol w="1711503">
                  <a:extLst>
                    <a:ext uri="{9D8B030D-6E8A-4147-A177-3AD203B41FA5}">
                      <a16:colId xmlns:a16="http://schemas.microsoft.com/office/drawing/2014/main" val="1778605137"/>
                    </a:ext>
                  </a:extLst>
                </a:gridCol>
              </a:tblGrid>
              <a:tr h="55840">
                <a:tc>
                  <a:txBody>
                    <a:bodyPr/>
                    <a:lstStyle/>
                    <a:p>
                      <a:pPr algn="ctr" fontAlgn="ctr"/>
                      <a:r>
                        <a:rPr lang="en-US" sz="1050" u="none" strike="noStrike" dirty="0">
                          <a:solidFill>
                            <a:schemeClr val="bg1"/>
                          </a:solidFill>
                          <a:effectLst/>
                          <a:latin typeface="+mj-lt"/>
                        </a:rPr>
                        <a:t>#</a:t>
                      </a:r>
                      <a:endParaRPr lang="en-US" sz="1050" b="0"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Name of the Project</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Present Status</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Total Capacity  (MW)</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840827418"/>
                  </a:ext>
                </a:extLst>
              </a:tr>
              <a:tr h="55840">
                <a:tc gridSpan="4">
                  <a:txBody>
                    <a:bodyPr/>
                    <a:lstStyle/>
                    <a:p>
                      <a:pPr algn="l" fontAlgn="ctr"/>
                      <a:r>
                        <a:rPr lang="en-US" sz="1050" b="1" i="0" u="none" strike="noStrike" dirty="0">
                          <a:solidFill>
                            <a:schemeClr val="bg1"/>
                          </a:solidFill>
                          <a:effectLst/>
                          <a:latin typeface="+mj-lt"/>
                        </a:rPr>
                        <a:t>Commissioned</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tc>
                <a:tc hMerge="1">
                  <a:txBody>
                    <a:bodyPr/>
                    <a:lstStyle/>
                    <a:p>
                      <a:pPr algn="ctr" fontAlgn="ctr"/>
                      <a:endParaRPr lang="en-US" sz="900" b="0" i="0" u="none" strike="noStrike">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l" fontAlgn="ct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4095401468"/>
                  </a:ext>
                </a:extLst>
              </a:tr>
              <a:tr h="56686">
                <a:tc>
                  <a:txBody>
                    <a:bodyPr/>
                    <a:lstStyle/>
                    <a:p>
                      <a:pPr algn="ctr" fontAlgn="ctr"/>
                      <a:r>
                        <a:rPr lang="en-US" sz="1050" b="0" i="0" u="none" strike="noStrike" dirty="0">
                          <a:solidFill>
                            <a:srgbClr val="333333"/>
                          </a:solidFill>
                          <a:effectLst/>
                          <a:latin typeface="+mj-lt"/>
                        </a:rPr>
                        <a:t>1</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40 KW Rooftop Solar PV Plant at </a:t>
                      </a:r>
                      <a:r>
                        <a:rPr lang="en-US" sz="1050" b="0" i="0" u="none" strike="noStrike" dirty="0" err="1">
                          <a:solidFill>
                            <a:srgbClr val="333333"/>
                          </a:solidFill>
                          <a:effectLst/>
                          <a:latin typeface="+mj-lt"/>
                        </a:rPr>
                        <a:t>Bidyut</a:t>
                      </a:r>
                      <a:r>
                        <a:rPr lang="en-US" sz="1050" b="0" i="0" u="none" strike="noStrike" dirty="0">
                          <a:solidFill>
                            <a:srgbClr val="333333"/>
                          </a:solidFill>
                          <a:effectLst/>
                          <a:latin typeface="+mj-lt"/>
                        </a:rPr>
                        <a:t> </a:t>
                      </a:r>
                      <a:r>
                        <a:rPr lang="en-US" sz="1050" b="0" i="0" u="none" strike="noStrike" dirty="0" err="1">
                          <a:solidFill>
                            <a:srgbClr val="333333"/>
                          </a:solidFill>
                          <a:effectLst/>
                          <a:latin typeface="+mj-lt"/>
                        </a:rPr>
                        <a:t>Unnayan</a:t>
                      </a:r>
                      <a:r>
                        <a:rPr lang="en-US" sz="1050" b="0" i="0" u="none" strike="noStrike" dirty="0">
                          <a:solidFill>
                            <a:srgbClr val="333333"/>
                          </a:solidFill>
                          <a:effectLst/>
                          <a:latin typeface="+mj-lt"/>
                        </a:rPr>
                        <a:t> Bhaban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0.04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300684"/>
                  </a:ext>
                </a:extLst>
              </a:tr>
              <a:tr h="56686">
                <a:tc>
                  <a:txBody>
                    <a:bodyPr/>
                    <a:lstStyle/>
                    <a:p>
                      <a:pPr algn="ctr" fontAlgn="ctr"/>
                      <a:r>
                        <a:rPr lang="en-US" sz="1050" b="0" i="0" u="none" strike="noStrike" dirty="0">
                          <a:solidFill>
                            <a:srgbClr val="333333"/>
                          </a:solidFill>
                          <a:effectLst/>
                          <a:latin typeface="+mj-lt"/>
                        </a:rPr>
                        <a:t>2</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2 X 3 KW Solar Tree was installed at </a:t>
                      </a:r>
                      <a:r>
                        <a:rPr lang="en-US" sz="1050" b="0" i="0" u="none" strike="noStrike" dirty="0" err="1">
                          <a:solidFill>
                            <a:srgbClr val="333333"/>
                          </a:solidFill>
                          <a:effectLst/>
                          <a:latin typeface="+mj-lt"/>
                        </a:rPr>
                        <a:t>Bidyut</a:t>
                      </a:r>
                      <a:r>
                        <a:rPr lang="en-US" sz="1050" b="0" i="0" u="none" strike="noStrike" dirty="0">
                          <a:solidFill>
                            <a:srgbClr val="333333"/>
                          </a:solidFill>
                          <a:effectLst/>
                          <a:latin typeface="+mj-lt"/>
                        </a:rPr>
                        <a:t> </a:t>
                      </a:r>
                      <a:r>
                        <a:rPr lang="en-US" sz="1050" b="0" i="0" u="none" strike="noStrike" dirty="0" err="1">
                          <a:solidFill>
                            <a:srgbClr val="333333"/>
                          </a:solidFill>
                          <a:effectLst/>
                          <a:latin typeface="+mj-lt"/>
                        </a:rPr>
                        <a:t>Unnayan</a:t>
                      </a:r>
                      <a:r>
                        <a:rPr lang="en-US" sz="1050" b="0" i="0" u="none" strike="noStrike" dirty="0">
                          <a:solidFill>
                            <a:srgbClr val="333333"/>
                          </a:solidFill>
                          <a:effectLst/>
                          <a:latin typeface="+mj-lt"/>
                        </a:rPr>
                        <a:t> Bhaban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0.006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5544811"/>
                  </a:ext>
                </a:extLst>
              </a:tr>
              <a:tr h="56686">
                <a:tc>
                  <a:txBody>
                    <a:bodyPr/>
                    <a:lstStyle/>
                    <a:p>
                      <a:pPr algn="ctr" fontAlgn="ctr"/>
                      <a:r>
                        <a:rPr lang="en-US" sz="1050" b="0" i="0" u="none" strike="noStrike" dirty="0">
                          <a:solidFill>
                            <a:srgbClr val="333333"/>
                          </a:solidFill>
                          <a:effectLst/>
                          <a:latin typeface="+mj-lt"/>
                        </a:rPr>
                        <a:t>3</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Roof Top Solar PV plants on the roofs of 71 buildings of its power plants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10.54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4439703"/>
                  </a:ext>
                </a:extLst>
              </a:tr>
              <a:tr h="65731">
                <a:tc>
                  <a:txBody>
                    <a:bodyPr/>
                    <a:lstStyle/>
                    <a:p>
                      <a:pPr algn="ctr" fontAlgn="ctr"/>
                      <a:r>
                        <a:rPr lang="en-US" sz="1050" b="0" i="0" u="none" strike="noStrike" dirty="0">
                          <a:solidFill>
                            <a:srgbClr val="333333"/>
                          </a:solidFill>
                          <a:effectLst/>
                          <a:latin typeface="+mj-lt"/>
                        </a:rPr>
                        <a:t>4</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 MW AC Grid Connected Ground mounted Solar PV project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609266"/>
                  </a:ext>
                </a:extLst>
              </a:tr>
              <a:tr h="56686">
                <a:tc>
                  <a:txBody>
                    <a:bodyPr/>
                    <a:lstStyle/>
                    <a:p>
                      <a:pPr algn="ctr" fontAlgn="ctr"/>
                      <a:r>
                        <a:rPr lang="en-US" sz="1050" b="0" i="0" u="none" strike="noStrike" dirty="0">
                          <a:solidFill>
                            <a:srgbClr val="333333"/>
                          </a:solidFill>
                          <a:effectLst/>
                          <a:latin typeface="+mj-lt"/>
                        </a:rPr>
                        <a:t>5</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5 MW AC Grid Connected Floating Solar PV project at Raw Water Pond No. 3, </a:t>
                      </a:r>
                      <a:r>
                        <a:rPr lang="en-US" sz="1050" b="0" i="0" u="none" strike="noStrike" dirty="0" err="1">
                          <a:solidFill>
                            <a:srgbClr val="333333"/>
                          </a:solidFill>
                          <a:effectLst/>
                          <a:latin typeface="+mj-lt"/>
                        </a:rPr>
                        <a:t>SgTPP</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607404"/>
                  </a:ext>
                </a:extLst>
              </a:tr>
              <a:tr h="56686">
                <a:tc>
                  <a:txBody>
                    <a:bodyPr/>
                    <a:lstStyle/>
                    <a:p>
                      <a:pPr algn="ctr" fontAlgn="ctr"/>
                      <a:r>
                        <a:rPr lang="en-US" sz="1050" b="0" i="0" u="none" strike="noStrike" dirty="0">
                          <a:solidFill>
                            <a:srgbClr val="333333"/>
                          </a:solidFill>
                          <a:effectLst/>
                          <a:latin typeface="+mj-lt"/>
                        </a:rPr>
                        <a:t>6</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2.866 MWp RTS PV projects at </a:t>
                      </a:r>
                      <a:r>
                        <a:rPr lang="en-US" sz="1050" b="0" i="0" u="none" strike="noStrike" dirty="0" err="1">
                          <a:solidFill>
                            <a:srgbClr val="333333"/>
                          </a:solidFill>
                          <a:effectLst/>
                          <a:latin typeface="+mj-lt"/>
                        </a:rPr>
                        <a:t>Bakreswar</a:t>
                      </a:r>
                      <a:r>
                        <a:rPr lang="en-US" sz="1050" b="0" i="0" u="none" strike="noStrike" dirty="0">
                          <a:solidFill>
                            <a:srgbClr val="333333"/>
                          </a:solidFill>
                          <a:effectLst/>
                          <a:latin typeface="+mj-lt"/>
                        </a:rPr>
                        <a:t> plant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mj-lt"/>
                        </a:rPr>
                        <a:t>2.87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431904"/>
                  </a:ext>
                </a:extLst>
              </a:tr>
              <a:tr h="56686">
                <a:tc>
                  <a:txBody>
                    <a:bodyPr/>
                    <a:lstStyle/>
                    <a:p>
                      <a:pPr algn="ctr" fontAlgn="ctr"/>
                      <a:r>
                        <a:rPr lang="en-US" sz="1050" b="0" i="0" u="none" strike="noStrike" dirty="0">
                          <a:solidFill>
                            <a:srgbClr val="333333"/>
                          </a:solidFill>
                          <a:effectLst/>
                          <a:latin typeface="+mj-lt"/>
                        </a:rPr>
                        <a:t>7</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2.27 MWp </a:t>
                      </a:r>
                      <a:r>
                        <a:rPr lang="en-US" sz="1050" b="0" i="0" u="none" strike="noStrike" kern="1200" dirty="0">
                          <a:solidFill>
                            <a:srgbClr val="333333"/>
                          </a:solidFill>
                          <a:effectLst/>
                          <a:latin typeface="+mn-lt"/>
                          <a:ea typeface="+mn-ea"/>
                          <a:cs typeface="+mn-cs"/>
                        </a:rPr>
                        <a:t>RTS</a:t>
                      </a:r>
                      <a:r>
                        <a:rPr lang="en-US" sz="1050" b="0" i="0" u="none" strike="noStrike" dirty="0">
                          <a:solidFill>
                            <a:srgbClr val="333333"/>
                          </a:solidFill>
                          <a:effectLst/>
                          <a:latin typeface="+mj-lt"/>
                        </a:rPr>
                        <a:t> PV project at </a:t>
                      </a:r>
                      <a:r>
                        <a:rPr lang="en-US" sz="1050" b="0" i="0" u="none" strike="noStrike" dirty="0" err="1">
                          <a:solidFill>
                            <a:srgbClr val="333333"/>
                          </a:solidFill>
                          <a:effectLst/>
                          <a:latin typeface="+mj-lt"/>
                        </a:rPr>
                        <a:t>Kolaghat</a:t>
                      </a:r>
                      <a:r>
                        <a:rPr lang="en-US" sz="1050" b="0" i="0" u="none" strike="noStrike" dirty="0">
                          <a:solidFill>
                            <a:srgbClr val="333333"/>
                          </a:solidFill>
                          <a:effectLst/>
                          <a:latin typeface="+mj-lt"/>
                        </a:rPr>
                        <a:t> plant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mj-lt"/>
                        </a:rPr>
                        <a:t>2.27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5772089"/>
                  </a:ext>
                </a:extLst>
              </a:tr>
              <a:tr h="56686">
                <a:tc>
                  <a:txBody>
                    <a:bodyPr/>
                    <a:lstStyle/>
                    <a:p>
                      <a:pPr algn="ctr" fontAlgn="ctr"/>
                      <a:r>
                        <a:rPr lang="en-US" sz="1050" b="0" i="0" u="none" strike="noStrike" dirty="0">
                          <a:solidFill>
                            <a:srgbClr val="333333"/>
                          </a:solidFill>
                          <a:effectLst/>
                          <a:latin typeface="+mj-lt"/>
                        </a:rPr>
                        <a:t>8</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kern="1200" dirty="0">
                          <a:solidFill>
                            <a:srgbClr val="333333"/>
                          </a:solidFill>
                          <a:effectLst/>
                          <a:latin typeface="+mn-lt"/>
                          <a:ea typeface="+mn-ea"/>
                          <a:cs typeface="+mn-cs"/>
                        </a:rPr>
                        <a:t>1.08 MWp RTS PV project at </a:t>
                      </a:r>
                      <a:r>
                        <a:rPr lang="en-US" sz="1050" b="0" i="0" u="none" strike="noStrike" kern="1200" dirty="0" err="1">
                          <a:solidFill>
                            <a:srgbClr val="333333"/>
                          </a:solidFill>
                          <a:effectLst/>
                          <a:latin typeface="+mn-lt"/>
                          <a:ea typeface="+mn-ea"/>
                          <a:cs typeface="+mn-cs"/>
                        </a:rPr>
                        <a:t>Bandel</a:t>
                      </a:r>
                      <a:r>
                        <a:rPr lang="en-US" sz="1050" b="0" i="0" u="none" strike="noStrike" kern="1200" dirty="0">
                          <a:solidFill>
                            <a:srgbClr val="333333"/>
                          </a:solidFill>
                          <a:effectLst/>
                          <a:latin typeface="+mn-lt"/>
                          <a:ea typeface="+mn-ea"/>
                          <a:cs typeface="+mn-cs"/>
                        </a:rPr>
                        <a:t> plant</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mj-lt"/>
                        </a:rPr>
                        <a:t>1.08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3238335"/>
                  </a:ext>
                </a:extLst>
              </a:tr>
              <a:tr h="56686">
                <a:tc>
                  <a:txBody>
                    <a:bodyPr/>
                    <a:lstStyle/>
                    <a:p>
                      <a:pPr algn="ctr" fontAlgn="ctr"/>
                      <a:r>
                        <a:rPr lang="en-US" sz="1050" b="0" i="0" u="none" strike="noStrike" dirty="0">
                          <a:solidFill>
                            <a:srgbClr val="333333"/>
                          </a:solidFill>
                          <a:effectLst/>
                          <a:latin typeface="+mj-lt"/>
                        </a:rPr>
                        <a:t>9</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kern="1200" dirty="0">
                          <a:solidFill>
                            <a:srgbClr val="333333"/>
                          </a:solidFill>
                          <a:effectLst/>
                          <a:latin typeface="+mn-lt"/>
                          <a:ea typeface="+mn-ea"/>
                          <a:cs typeface="+mn-cs"/>
                        </a:rPr>
                        <a:t>0.807 MWp RTS PV project at </a:t>
                      </a:r>
                      <a:r>
                        <a:rPr lang="en-US" sz="1050" b="0" i="0" u="none" strike="noStrike" kern="1200" dirty="0" err="1">
                          <a:solidFill>
                            <a:srgbClr val="333333"/>
                          </a:solidFill>
                          <a:effectLst/>
                          <a:latin typeface="+mn-lt"/>
                          <a:ea typeface="+mn-ea"/>
                          <a:cs typeface="+mn-cs"/>
                        </a:rPr>
                        <a:t>Santaldih</a:t>
                      </a:r>
                      <a:r>
                        <a:rPr lang="en-US" sz="1050" b="0" i="0" u="none" strike="noStrike" kern="1200" dirty="0">
                          <a:solidFill>
                            <a:srgbClr val="333333"/>
                          </a:solidFill>
                          <a:effectLst/>
                          <a:latin typeface="+mn-lt"/>
                          <a:ea typeface="+mn-ea"/>
                          <a:cs typeface="+mn-cs"/>
                        </a:rPr>
                        <a:t> plant</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dirty="0">
                          <a:ln>
                            <a:noFill/>
                          </a:ln>
                          <a:solidFill>
                            <a:prstClr val="black"/>
                          </a:solidFill>
                          <a:effectLst/>
                          <a:uLnTx/>
                          <a:uFillTx/>
                          <a:latin typeface="Verdana"/>
                          <a:ea typeface="+mn-ea"/>
                          <a:cs typeface="+mn-cs"/>
                        </a:rPr>
                        <a:t>Project Completed.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50" b="0" i="0" u="none" strike="noStrike" dirty="0">
                          <a:solidFill>
                            <a:srgbClr val="000000"/>
                          </a:solidFill>
                          <a:effectLst/>
                          <a:latin typeface="+mj-lt"/>
                        </a:rPr>
                        <a:t>.81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4882511"/>
                  </a:ext>
                </a:extLst>
              </a:tr>
              <a:tr h="55840">
                <a:tc gridSpan="3">
                  <a:txBody>
                    <a:bodyPr/>
                    <a:lstStyle/>
                    <a:p>
                      <a:pPr algn="ctr" fontAlgn="ctr"/>
                      <a:r>
                        <a:rPr lang="en-US" sz="1050" b="1" i="0" u="none" strike="noStrike" dirty="0">
                          <a:solidFill>
                            <a:srgbClr val="333333"/>
                          </a:solidFill>
                          <a:effectLst/>
                          <a:latin typeface="+mj-lt"/>
                        </a:rPr>
                        <a:t>Sub-total</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050" b="1" i="0" u="none" strike="noStrike" dirty="0">
                          <a:solidFill>
                            <a:srgbClr val="333333"/>
                          </a:solidFill>
                          <a:effectLst/>
                          <a:latin typeface="+mj-lt"/>
                        </a:rPr>
                        <a:t>32.62</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34780862"/>
                  </a:ext>
                </a:extLst>
              </a:tr>
              <a:tr h="55840">
                <a:tc gridSpan="4">
                  <a:txBody>
                    <a:bodyPr/>
                    <a:lstStyle/>
                    <a:p>
                      <a:pPr algn="l" fontAlgn="ctr"/>
                      <a:r>
                        <a:rPr lang="en-US" sz="1050" b="1" i="0" u="none" strike="noStrike" dirty="0">
                          <a:solidFill>
                            <a:schemeClr val="bg1"/>
                          </a:solidFill>
                          <a:effectLst/>
                          <a:latin typeface="+mj-lt"/>
                        </a:rPr>
                        <a:t>Under construction</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tcPr>
                </a:tc>
                <a:tc hMerge="1">
                  <a:txBody>
                    <a:bodyPr/>
                    <a:lstStyle/>
                    <a:p>
                      <a:pPr algn="l" fontAlgn="ct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3795466295"/>
                  </a:ext>
                </a:extLst>
              </a:tr>
              <a:tr h="111209">
                <a:tc>
                  <a:txBody>
                    <a:bodyPr/>
                    <a:lstStyle/>
                    <a:p>
                      <a:pPr algn="ctr" fontAlgn="ctr"/>
                      <a:r>
                        <a:rPr lang="en-US" sz="1050" b="0" i="0" u="none" strike="noStrike" dirty="0">
                          <a:solidFill>
                            <a:srgbClr val="333333"/>
                          </a:solidFill>
                          <a:effectLst/>
                          <a:latin typeface="+mj-lt"/>
                        </a:rPr>
                        <a:t>10</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 MW Grid Connected Floating Solar Project at Raw Water Pond #1, 2 &amp; 4 at </a:t>
                      </a:r>
                      <a:r>
                        <a:rPr lang="en-US" sz="1050" b="0" i="0" u="none" strike="noStrike" dirty="0" err="1">
                          <a:solidFill>
                            <a:srgbClr val="333333"/>
                          </a:solidFill>
                          <a:effectLst/>
                          <a:latin typeface="+mj-lt"/>
                        </a:rPr>
                        <a:t>Sagardighi</a:t>
                      </a:r>
                      <a:r>
                        <a:rPr lang="en-US" sz="1050" b="0" i="0" u="none" strike="noStrike" dirty="0">
                          <a:solidFill>
                            <a:srgbClr val="333333"/>
                          </a:solidFill>
                          <a:effectLst/>
                          <a:latin typeface="+mj-lt"/>
                        </a:rPr>
                        <a:t> plant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Under execution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853571"/>
                  </a:ext>
                </a:extLst>
              </a:tr>
              <a:tr h="65731">
                <a:tc gridSpan="3">
                  <a:txBody>
                    <a:bodyPr/>
                    <a:lstStyle/>
                    <a:p>
                      <a:pPr algn="ctr" fontAlgn="ctr"/>
                      <a:r>
                        <a:rPr lang="en-US" sz="1050" b="1" i="0" u="none" strike="noStrike" dirty="0">
                          <a:solidFill>
                            <a:srgbClr val="333333"/>
                          </a:solidFill>
                          <a:effectLst/>
                          <a:latin typeface="+mj-lt"/>
                        </a:rPr>
                        <a:t>Sub-total</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333333"/>
                          </a:solidFill>
                          <a:effectLst/>
                          <a:latin typeface="+mj-lt"/>
                        </a:rPr>
                        <a:t>10</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66498980"/>
                  </a:ext>
                </a:extLst>
              </a:tr>
              <a:tr h="55840">
                <a:tc gridSpan="4">
                  <a:txBody>
                    <a:bodyPr/>
                    <a:lstStyle/>
                    <a:p>
                      <a:pPr algn="l" fontAlgn="ctr"/>
                      <a:r>
                        <a:rPr lang="en-US" sz="1050" b="1" i="0" u="none" strike="noStrike" kern="1200" dirty="0">
                          <a:solidFill>
                            <a:schemeClr val="bg1"/>
                          </a:solidFill>
                          <a:effectLst/>
                          <a:latin typeface="+mn-lt"/>
                          <a:ea typeface="+mn-ea"/>
                          <a:cs typeface="+mn-cs"/>
                        </a:rPr>
                        <a:t>Proposed pipeline</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ct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330732"/>
                  </a:ext>
                </a:extLst>
              </a:tr>
              <a:tr h="111209">
                <a:tc>
                  <a:txBody>
                    <a:bodyPr/>
                    <a:lstStyle/>
                    <a:p>
                      <a:pPr algn="ctr" fontAlgn="ctr"/>
                      <a:r>
                        <a:rPr lang="en-US" sz="1050" b="0" i="0" u="none" strike="noStrike" dirty="0">
                          <a:solidFill>
                            <a:srgbClr val="333333"/>
                          </a:solidFill>
                          <a:effectLst/>
                          <a:latin typeface="+mj-lt"/>
                        </a:rPr>
                        <a:t>11</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10 MW  Floating Solar Photovoltaic Power Plant on  Raw Water Pond No 1 &amp; 2 of </a:t>
                      </a:r>
                      <a:r>
                        <a:rPr lang="en-US" sz="1050" b="0" i="0" u="none" strike="noStrike" dirty="0" err="1">
                          <a:solidFill>
                            <a:srgbClr val="333333"/>
                          </a:solidFill>
                          <a:effectLst/>
                          <a:latin typeface="+mj-lt"/>
                        </a:rPr>
                        <a:t>Bakreswar</a:t>
                      </a:r>
                      <a:r>
                        <a:rPr lang="en-US" sz="1050" b="0" i="0" u="none" strike="noStrike" dirty="0">
                          <a:solidFill>
                            <a:srgbClr val="333333"/>
                          </a:solidFill>
                          <a:effectLst/>
                          <a:latin typeface="+mj-lt"/>
                        </a:rPr>
                        <a:t> plant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To be Awarded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399213"/>
                  </a:ext>
                </a:extLst>
              </a:tr>
              <a:tr h="111209">
                <a:tc>
                  <a:txBody>
                    <a:bodyPr/>
                    <a:lstStyle/>
                    <a:p>
                      <a:pPr algn="ctr" fontAlgn="ctr"/>
                      <a:r>
                        <a:rPr lang="en-US" sz="1050" b="0" i="0" u="none" strike="noStrike" dirty="0">
                          <a:solidFill>
                            <a:srgbClr val="333333"/>
                          </a:solidFill>
                          <a:effectLst/>
                          <a:latin typeface="+mj-lt"/>
                        </a:rPr>
                        <a:t>12</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7.5 MW Floating Solar Photovoltaic Power Plant on Raw Water Pond No 2  &amp; Dutta Bandh of </a:t>
                      </a:r>
                      <a:r>
                        <a:rPr lang="en-US" sz="1050" b="0" i="0" u="none" strike="noStrike" dirty="0" err="1">
                          <a:solidFill>
                            <a:srgbClr val="333333"/>
                          </a:solidFill>
                          <a:effectLst/>
                          <a:latin typeface="+mj-lt"/>
                        </a:rPr>
                        <a:t>Santaldih</a:t>
                      </a:r>
                      <a:r>
                        <a:rPr lang="en-US" sz="1050" b="0" i="0" u="none" strike="noStrike" dirty="0">
                          <a:solidFill>
                            <a:srgbClr val="333333"/>
                          </a:solidFill>
                          <a:effectLst/>
                          <a:latin typeface="+mj-lt"/>
                        </a:rPr>
                        <a:t> plant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srgbClr val="333333"/>
                          </a:solidFill>
                          <a:effectLst/>
                          <a:uLnTx/>
                          <a:uFillTx/>
                          <a:latin typeface="Verdana"/>
                          <a:ea typeface="+mn-ea"/>
                          <a:cs typeface="+mn-cs"/>
                        </a:rPr>
                        <a:t>To be Awarded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7.5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334622"/>
                  </a:ext>
                </a:extLst>
              </a:tr>
              <a:tr h="111209">
                <a:tc>
                  <a:txBody>
                    <a:bodyPr/>
                    <a:lstStyle/>
                    <a:p>
                      <a:pPr algn="ctr" fontAlgn="ctr"/>
                      <a:r>
                        <a:rPr lang="en-US" sz="1050" b="0" i="0" u="none" strike="noStrike" dirty="0">
                          <a:solidFill>
                            <a:srgbClr val="333333"/>
                          </a:solidFill>
                          <a:effectLst/>
                          <a:latin typeface="+mj-lt"/>
                        </a:rPr>
                        <a:t>13</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5  MW Floating Solar Photovoltaic Power Plant on Raw Water Pond No 5 of </a:t>
                      </a:r>
                      <a:r>
                        <a:rPr lang="en-US" sz="1050" b="0" i="0" u="none" strike="noStrike" dirty="0" err="1">
                          <a:solidFill>
                            <a:srgbClr val="333333"/>
                          </a:solidFill>
                          <a:effectLst/>
                          <a:latin typeface="+mj-lt"/>
                        </a:rPr>
                        <a:t>Sagardighi</a:t>
                      </a:r>
                      <a:r>
                        <a:rPr lang="en-US" sz="1050" b="0" i="0" u="none" strike="noStrike" dirty="0">
                          <a:solidFill>
                            <a:srgbClr val="333333"/>
                          </a:solidFill>
                          <a:effectLst/>
                          <a:latin typeface="+mj-lt"/>
                        </a:rPr>
                        <a:t> plant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srgbClr val="333333"/>
                          </a:solidFill>
                          <a:effectLst/>
                          <a:uLnTx/>
                          <a:uFillTx/>
                          <a:latin typeface="Verdana"/>
                          <a:ea typeface="+mn-ea"/>
                          <a:cs typeface="+mn-cs"/>
                        </a:rPr>
                        <a:t>To be Awarded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5473126"/>
                  </a:ext>
                </a:extLst>
              </a:tr>
              <a:tr h="111209">
                <a:tc>
                  <a:txBody>
                    <a:bodyPr/>
                    <a:lstStyle/>
                    <a:p>
                      <a:pPr algn="ctr" fontAlgn="ctr"/>
                      <a:r>
                        <a:rPr lang="en-US" sz="1050" b="0" i="0" u="none" strike="noStrike" dirty="0">
                          <a:solidFill>
                            <a:srgbClr val="333333"/>
                          </a:solidFill>
                          <a:effectLst/>
                          <a:latin typeface="+mj-lt"/>
                        </a:rPr>
                        <a:t>14</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5 MW  Floating Solar Photovoltaic Power Plant on Raw Water Pond  No.1 in </a:t>
                      </a:r>
                      <a:r>
                        <a:rPr lang="en-US" sz="1050" b="0" i="0" u="none" strike="noStrike" dirty="0" err="1">
                          <a:solidFill>
                            <a:srgbClr val="333333"/>
                          </a:solidFill>
                          <a:effectLst/>
                          <a:latin typeface="+mj-lt"/>
                        </a:rPr>
                        <a:t>Santaldih</a:t>
                      </a:r>
                      <a:r>
                        <a:rPr lang="en-US" sz="1050" b="0" i="0" u="none" strike="noStrike" dirty="0">
                          <a:solidFill>
                            <a:srgbClr val="333333"/>
                          </a:solidFill>
                          <a:effectLst/>
                          <a:latin typeface="+mj-lt"/>
                        </a:rPr>
                        <a:t> plant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a:ln>
                            <a:noFill/>
                          </a:ln>
                          <a:solidFill>
                            <a:srgbClr val="333333"/>
                          </a:solidFill>
                          <a:effectLst/>
                          <a:uLnTx/>
                          <a:uFillTx/>
                          <a:latin typeface="Verdana"/>
                          <a:ea typeface="+mn-ea"/>
                          <a:cs typeface="+mn-cs"/>
                        </a:rPr>
                        <a:t>To be Awarded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8426709"/>
                  </a:ext>
                </a:extLst>
              </a:tr>
              <a:tr h="65731">
                <a:tc>
                  <a:txBody>
                    <a:bodyPr/>
                    <a:lstStyle/>
                    <a:p>
                      <a:pPr algn="ctr" fontAlgn="ctr"/>
                      <a:r>
                        <a:rPr lang="en-US" sz="1050" b="0" i="0" u="none" strike="noStrike" dirty="0">
                          <a:solidFill>
                            <a:srgbClr val="333333"/>
                          </a:solidFill>
                          <a:effectLst/>
                          <a:latin typeface="+mj-lt"/>
                        </a:rPr>
                        <a:t>15</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Ground mounted Solar Project (2 X 10 MW) at </a:t>
                      </a:r>
                      <a:r>
                        <a:rPr lang="en-US" sz="1050" b="0" i="0" u="none" strike="noStrike" dirty="0" err="1">
                          <a:solidFill>
                            <a:srgbClr val="333333"/>
                          </a:solidFill>
                          <a:effectLst/>
                          <a:latin typeface="+mj-lt"/>
                        </a:rPr>
                        <a:t>Santaldih</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1050" b="0" i="0" u="none" strike="noStrike" kern="1200" cap="none" spc="0" normalizeH="0" baseline="0" noProof="0" dirty="0">
                          <a:ln>
                            <a:noFill/>
                          </a:ln>
                          <a:solidFill>
                            <a:srgbClr val="333333"/>
                          </a:solidFill>
                          <a:effectLst/>
                          <a:uLnTx/>
                          <a:uFillTx/>
                          <a:latin typeface="Verdana"/>
                          <a:ea typeface="+mn-ea"/>
                          <a:cs typeface="+mn-cs"/>
                        </a:rPr>
                        <a:t>To be Awarded</a:t>
                      </a: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3374681"/>
                  </a:ext>
                </a:extLst>
              </a:tr>
              <a:tr h="55840">
                <a:tc gridSpan="3">
                  <a:txBody>
                    <a:bodyPr/>
                    <a:lstStyle/>
                    <a:p>
                      <a:pPr algn="ctr" fontAlgn="ctr"/>
                      <a:r>
                        <a:rPr lang="en-US" sz="1050" b="1" i="0" u="none" strike="noStrike" dirty="0">
                          <a:solidFill>
                            <a:srgbClr val="333333"/>
                          </a:solidFill>
                          <a:effectLst/>
                          <a:latin typeface="+mj-lt"/>
                        </a:rPr>
                        <a:t>Sub-total</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333333"/>
                          </a:solidFill>
                          <a:effectLst/>
                          <a:latin typeface="+mj-lt"/>
                        </a:rPr>
                        <a:t>47.5</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09733278"/>
                  </a:ext>
                </a:extLst>
              </a:tr>
            </a:tbl>
          </a:graphicData>
        </a:graphic>
      </p:graphicFrame>
    </p:spTree>
    <p:extLst>
      <p:ext uri="{BB962C8B-B14F-4D97-AF65-F5344CB8AC3E}">
        <p14:creationId xmlns:p14="http://schemas.microsoft.com/office/powerpoint/2010/main" val="2627425231"/>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List of solar power projects for DPL </a:t>
            </a:r>
            <a:endParaRPr lang="en-US" sz="1800" b="1" i="0" dirty="0">
              <a:solidFill>
                <a:schemeClr val="tx1"/>
              </a:solidFill>
            </a:endParaRPr>
          </a:p>
        </p:txBody>
      </p:sp>
      <p:graphicFrame>
        <p:nvGraphicFramePr>
          <p:cNvPr id="3" name="Table 2">
            <a:extLst>
              <a:ext uri="{FF2B5EF4-FFF2-40B4-BE49-F238E27FC236}">
                <a16:creationId xmlns:a16="http://schemas.microsoft.com/office/drawing/2014/main" id="{B68F7498-FCEA-4EE4-9B4E-6F1B79BCA8F6}"/>
              </a:ext>
            </a:extLst>
          </p:cNvPr>
          <p:cNvGraphicFramePr>
            <a:graphicFrameLocks noGrp="1"/>
          </p:cNvGraphicFramePr>
          <p:nvPr/>
        </p:nvGraphicFramePr>
        <p:xfrm>
          <a:off x="412751" y="979493"/>
          <a:ext cx="11366497" cy="1318540"/>
        </p:xfrm>
        <a:graphic>
          <a:graphicData uri="http://schemas.openxmlformats.org/drawingml/2006/table">
            <a:tbl>
              <a:tblPr>
                <a:tableStyleId>{5C22544A-7EE6-4342-B048-85BDC9FD1C3A}</a:tableStyleId>
              </a:tblPr>
              <a:tblGrid>
                <a:gridCol w="354953">
                  <a:extLst>
                    <a:ext uri="{9D8B030D-6E8A-4147-A177-3AD203B41FA5}">
                      <a16:colId xmlns:a16="http://schemas.microsoft.com/office/drawing/2014/main" val="3854112624"/>
                    </a:ext>
                  </a:extLst>
                </a:gridCol>
                <a:gridCol w="5670148">
                  <a:extLst>
                    <a:ext uri="{9D8B030D-6E8A-4147-A177-3AD203B41FA5}">
                      <a16:colId xmlns:a16="http://schemas.microsoft.com/office/drawing/2014/main" val="2347269897"/>
                    </a:ext>
                  </a:extLst>
                </a:gridCol>
                <a:gridCol w="3629893">
                  <a:extLst>
                    <a:ext uri="{9D8B030D-6E8A-4147-A177-3AD203B41FA5}">
                      <a16:colId xmlns:a16="http://schemas.microsoft.com/office/drawing/2014/main" val="3801353416"/>
                    </a:ext>
                  </a:extLst>
                </a:gridCol>
                <a:gridCol w="1711503">
                  <a:extLst>
                    <a:ext uri="{9D8B030D-6E8A-4147-A177-3AD203B41FA5}">
                      <a16:colId xmlns:a16="http://schemas.microsoft.com/office/drawing/2014/main" val="1778605137"/>
                    </a:ext>
                  </a:extLst>
                </a:gridCol>
              </a:tblGrid>
              <a:tr h="55840">
                <a:tc>
                  <a:txBody>
                    <a:bodyPr/>
                    <a:lstStyle/>
                    <a:p>
                      <a:pPr algn="ctr" fontAlgn="ctr"/>
                      <a:r>
                        <a:rPr lang="en-US" sz="1050" u="none" strike="noStrike" dirty="0">
                          <a:solidFill>
                            <a:schemeClr val="bg1"/>
                          </a:solidFill>
                          <a:effectLst/>
                          <a:latin typeface="+mj-lt"/>
                        </a:rPr>
                        <a:t>#</a:t>
                      </a:r>
                      <a:endParaRPr lang="en-US" sz="1050" b="0"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Name of the Project</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Present Status</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50" b="1" u="none" strike="noStrike" dirty="0">
                          <a:solidFill>
                            <a:schemeClr val="bg1"/>
                          </a:solidFill>
                          <a:effectLst/>
                          <a:latin typeface="+mj-lt"/>
                        </a:rPr>
                        <a:t>Total Capacity  (MW)</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840827418"/>
                  </a:ext>
                </a:extLst>
              </a:tr>
              <a:tr h="55840">
                <a:tc gridSpan="4">
                  <a:txBody>
                    <a:bodyPr/>
                    <a:lstStyle/>
                    <a:p>
                      <a:pPr algn="l" fontAlgn="ctr"/>
                      <a:r>
                        <a:rPr lang="en-US" sz="1050" b="1" i="0" u="none" strike="noStrike" dirty="0">
                          <a:solidFill>
                            <a:schemeClr val="bg1"/>
                          </a:solidFill>
                          <a:effectLst/>
                          <a:latin typeface="+mj-lt"/>
                        </a:rPr>
                        <a:t>Commissioned</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tc>
                <a:tc hMerge="1">
                  <a:txBody>
                    <a:bodyPr/>
                    <a:lstStyle/>
                    <a:p>
                      <a:pPr algn="ctr" fontAlgn="ctr"/>
                      <a:endParaRPr lang="en-US" sz="900" b="0" i="0" u="none" strike="noStrike">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l" fontAlgn="ct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4095401468"/>
                  </a:ext>
                </a:extLst>
              </a:tr>
              <a:tr h="56686">
                <a:tc>
                  <a:txBody>
                    <a:bodyPr/>
                    <a:lstStyle/>
                    <a:p>
                      <a:pPr algn="ctr" fontAlgn="ctr"/>
                      <a:r>
                        <a:rPr lang="en-US" sz="1050" b="0" i="0" u="none" strike="noStrike" dirty="0">
                          <a:solidFill>
                            <a:srgbClr val="333333"/>
                          </a:solidFill>
                          <a:effectLst/>
                          <a:latin typeface="+mj-lt"/>
                        </a:rPr>
                        <a:t>1</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500 </a:t>
                      </a:r>
                      <a:r>
                        <a:rPr lang="en-US" sz="1050" b="0" i="0" u="none" strike="noStrike" dirty="0" err="1">
                          <a:solidFill>
                            <a:srgbClr val="333333"/>
                          </a:solidFill>
                          <a:effectLst/>
                          <a:latin typeface="+mj-lt"/>
                        </a:rPr>
                        <a:t>kWp</a:t>
                      </a:r>
                      <a:r>
                        <a:rPr lang="en-US" sz="1050" b="0" i="0" u="none" strike="noStrike" dirty="0">
                          <a:solidFill>
                            <a:srgbClr val="333333"/>
                          </a:solidFill>
                          <a:effectLst/>
                          <a:latin typeface="+mj-lt"/>
                        </a:rPr>
                        <a:t> Rooftop Solar PV project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5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0.5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300684"/>
                  </a:ext>
                </a:extLst>
              </a:tr>
              <a:tr h="55840">
                <a:tc gridSpan="3">
                  <a:txBody>
                    <a:bodyPr/>
                    <a:lstStyle/>
                    <a:p>
                      <a:pPr algn="ctr" fontAlgn="ctr"/>
                      <a:r>
                        <a:rPr lang="en-US" sz="1050" b="1" i="0" u="none" strike="noStrike" dirty="0">
                          <a:solidFill>
                            <a:srgbClr val="333333"/>
                          </a:solidFill>
                          <a:effectLst/>
                          <a:latin typeface="+mj-lt"/>
                        </a:rPr>
                        <a:t>Sub-total</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050" b="1" i="0" u="none" strike="noStrike" dirty="0">
                          <a:solidFill>
                            <a:srgbClr val="333333"/>
                          </a:solidFill>
                          <a:effectLst/>
                          <a:latin typeface="+mj-lt"/>
                        </a:rPr>
                        <a:t>0.5</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34780862"/>
                  </a:ext>
                </a:extLst>
              </a:tr>
              <a:tr h="55840">
                <a:tc gridSpan="4">
                  <a:txBody>
                    <a:bodyPr/>
                    <a:lstStyle/>
                    <a:p>
                      <a:pPr algn="l" fontAlgn="ctr"/>
                      <a:r>
                        <a:rPr lang="en-US" sz="1050" b="1" i="0" u="none" strike="noStrike" kern="1200" dirty="0">
                          <a:solidFill>
                            <a:schemeClr val="bg1"/>
                          </a:solidFill>
                          <a:effectLst/>
                          <a:latin typeface="+mn-lt"/>
                          <a:ea typeface="+mn-ea"/>
                          <a:cs typeface="+mn-cs"/>
                        </a:rPr>
                        <a:t>Proposed pipeline</a:t>
                      </a: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ctr"/>
                      <a:endParaRPr lang="en-US" sz="1050" b="1" i="0" u="none" strike="noStrike" dirty="0">
                        <a:solidFill>
                          <a:schemeClr val="bg1"/>
                        </a:solidFill>
                        <a:effectLst/>
                        <a:latin typeface="+mj-lt"/>
                      </a:endParaRP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330732"/>
                  </a:ext>
                </a:extLst>
              </a:tr>
              <a:tr h="111209">
                <a:tc>
                  <a:txBody>
                    <a:bodyPr/>
                    <a:lstStyle/>
                    <a:p>
                      <a:pPr algn="ctr" fontAlgn="ctr"/>
                      <a:r>
                        <a:rPr lang="en-US" sz="1050" b="0" i="0" u="none" strike="noStrike" dirty="0">
                          <a:solidFill>
                            <a:srgbClr val="333333"/>
                          </a:solidFill>
                          <a:effectLst/>
                          <a:latin typeface="+mj-lt"/>
                        </a:rPr>
                        <a:t>2</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50" b="0" i="0" u="none" strike="noStrike" dirty="0">
                          <a:solidFill>
                            <a:srgbClr val="333333"/>
                          </a:solidFill>
                          <a:effectLst/>
                          <a:latin typeface="+mj-lt"/>
                        </a:rPr>
                        <a:t>7 MW Ph-I Ground mounted solar PV under RIDF Tranche 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Under Tendering Stage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399213"/>
                  </a:ext>
                </a:extLst>
              </a:tr>
              <a:tr h="111209">
                <a:tc>
                  <a:txBody>
                    <a:bodyPr/>
                    <a:lstStyle/>
                    <a:p>
                      <a:pPr algn="ctr" fontAlgn="ctr"/>
                      <a:r>
                        <a:rPr lang="en-US" sz="1050" b="0" i="0" u="none" strike="noStrike" dirty="0">
                          <a:solidFill>
                            <a:srgbClr val="333333"/>
                          </a:solidFill>
                          <a:effectLst/>
                          <a:latin typeface="+mj-lt"/>
                        </a:rPr>
                        <a:t>3</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231" rtl="0" eaLnBrk="1" fontAlgn="ctr" latinLnBrk="0" hangingPunct="1">
                        <a:lnSpc>
                          <a:spcPct val="100000"/>
                        </a:lnSpc>
                        <a:spcBef>
                          <a:spcPts val="0"/>
                        </a:spcBef>
                        <a:spcAft>
                          <a:spcPts val="0"/>
                        </a:spcAft>
                        <a:buClrTx/>
                        <a:buSzTx/>
                        <a:buFontTx/>
                        <a:buNone/>
                        <a:tabLst/>
                        <a:defRPr/>
                      </a:pPr>
                      <a:r>
                        <a:rPr lang="en-US" sz="1050" b="0" i="0" u="none" strike="noStrike" kern="1200" dirty="0">
                          <a:solidFill>
                            <a:srgbClr val="333333"/>
                          </a:solidFill>
                          <a:effectLst/>
                          <a:latin typeface="+mn-lt"/>
                          <a:ea typeface="+mn-ea"/>
                          <a:cs typeface="+mn-cs"/>
                        </a:rPr>
                        <a:t>20 MW Ground mounted solar PV under RIDF Tranche 27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Application submitted for grant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0" i="0" u="none" strike="noStrike" dirty="0">
                          <a:solidFill>
                            <a:srgbClr val="333333"/>
                          </a:solidFill>
                          <a:effectLst/>
                          <a:latin typeface="+mj-lt"/>
                        </a:rPr>
                        <a:t>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334622"/>
                  </a:ext>
                </a:extLst>
              </a:tr>
              <a:tr h="55840">
                <a:tc gridSpan="3">
                  <a:txBody>
                    <a:bodyPr/>
                    <a:lstStyle/>
                    <a:p>
                      <a:pPr algn="ctr" fontAlgn="ctr"/>
                      <a:r>
                        <a:rPr lang="en-US" sz="1050" b="1" i="0" u="none" strike="noStrike" dirty="0">
                          <a:solidFill>
                            <a:srgbClr val="333333"/>
                          </a:solidFill>
                          <a:effectLst/>
                          <a:latin typeface="+mj-lt"/>
                        </a:rPr>
                        <a:t>Sub-total</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333333"/>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333333"/>
                          </a:solidFill>
                          <a:effectLst/>
                          <a:latin typeface="+mj-lt"/>
                        </a:rPr>
                        <a:t>27</a:t>
                      </a:r>
                    </a:p>
                  </a:txBody>
                  <a:tcPr marL="3866" marR="3866" marT="3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09733278"/>
                  </a:ext>
                </a:extLst>
              </a:tr>
            </a:tbl>
          </a:graphicData>
        </a:graphic>
      </p:graphicFrame>
    </p:spTree>
    <p:extLst>
      <p:ext uri="{BB962C8B-B14F-4D97-AF65-F5344CB8AC3E}">
        <p14:creationId xmlns:p14="http://schemas.microsoft.com/office/powerpoint/2010/main" val="815816146"/>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Reduction of Fixed Cost Obligation on WBSEDCL through decommissioning of relatively older plants of WBPDCL</a:t>
            </a:r>
          </a:p>
        </p:txBody>
      </p:sp>
      <p:sp>
        <p:nvSpPr>
          <p:cNvPr id="23" name="Rectangle 22">
            <a:extLst>
              <a:ext uri="{FF2B5EF4-FFF2-40B4-BE49-F238E27FC236}">
                <a16:creationId xmlns:a16="http://schemas.microsoft.com/office/drawing/2014/main" id="{1C75A803-AC6B-42F3-BD2F-6EABB7451B26}"/>
              </a:ext>
            </a:extLst>
          </p:cNvPr>
          <p:cNvSpPr/>
          <p:nvPr/>
        </p:nvSpPr>
        <p:spPr bwMode="gray">
          <a:xfrm>
            <a:off x="7771471" y="1009811"/>
            <a:ext cx="4179207" cy="2436789"/>
          </a:xfrm>
          <a:prstGeom prst="rect">
            <a:avLst/>
          </a:prstGeom>
          <a:solidFill>
            <a:schemeClr val="bg1">
              <a:lumMod val="95000"/>
            </a:schemeClr>
          </a:solidFill>
          <a:ln>
            <a:solidFill>
              <a:schemeClr val="tx1"/>
            </a:solidFill>
            <a:prstDash val="dash"/>
          </a:ln>
        </p:spPr>
        <p:txBody>
          <a:bodyPr wrap="square" lIns="72000" tIns="72000" rIns="72000" bIns="72000" rtlCol="0" anchor="ctr" anchorCtr="0">
            <a:noAutofit/>
          </a:bodyPr>
          <a:lstStyle/>
          <a:p>
            <a:pPr marL="0" marR="0" lvl="0" indent="0" algn="just" defTabSz="914342"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Verdana"/>
                <a:ea typeface="+mn-ea"/>
                <a:cs typeface="+mn-cs"/>
              </a:rPr>
              <a:t>From the perspective of WBSEDCL, retirement of the relatively older units (Unit 1&amp;2) of both plants, viz. </a:t>
            </a:r>
            <a:r>
              <a:rPr kumimoji="0" lang="en-US" sz="1400" b="0" i="1" u="none" strike="noStrike" kern="1200" cap="none" spc="0" normalizeH="0" baseline="0" noProof="0" dirty="0" err="1">
                <a:ln>
                  <a:noFill/>
                </a:ln>
                <a:solidFill>
                  <a:prstClr val="black"/>
                </a:solidFill>
                <a:effectLst/>
                <a:uLnTx/>
                <a:uFillTx/>
                <a:latin typeface="Verdana"/>
                <a:ea typeface="+mn-ea"/>
                <a:cs typeface="+mn-cs"/>
              </a:rPr>
              <a:t>Kolaghat</a:t>
            </a:r>
            <a:r>
              <a:rPr kumimoji="0" lang="en-US" sz="1400" b="0" i="1" u="none" strike="noStrike" kern="1200" cap="none" spc="0" normalizeH="0" baseline="0" noProof="0" dirty="0">
                <a:ln>
                  <a:noFill/>
                </a:ln>
                <a:solidFill>
                  <a:prstClr val="black"/>
                </a:solidFill>
                <a:effectLst/>
                <a:uLnTx/>
                <a:uFillTx/>
                <a:latin typeface="Verdana"/>
                <a:ea typeface="+mn-ea"/>
                <a:cs typeface="+mn-cs"/>
              </a:rPr>
              <a:t> and </a:t>
            </a:r>
            <a:r>
              <a:rPr kumimoji="0" lang="en-US" sz="1400" b="0" i="1" u="none" strike="noStrike" kern="1200" cap="none" spc="0" normalizeH="0" baseline="0" noProof="0" dirty="0" err="1">
                <a:ln>
                  <a:noFill/>
                </a:ln>
                <a:solidFill>
                  <a:prstClr val="black"/>
                </a:solidFill>
                <a:effectLst/>
                <a:uLnTx/>
                <a:uFillTx/>
                <a:latin typeface="Verdana"/>
                <a:ea typeface="+mn-ea"/>
                <a:cs typeface="+mn-cs"/>
              </a:rPr>
              <a:t>Bandel</a:t>
            </a:r>
            <a:r>
              <a:rPr kumimoji="0" lang="en-US" sz="1400" b="0" i="1" u="none" strike="noStrike" kern="1200" cap="none" spc="0" normalizeH="0" baseline="0" noProof="0" dirty="0">
                <a:ln>
                  <a:noFill/>
                </a:ln>
                <a:solidFill>
                  <a:prstClr val="black"/>
                </a:solidFill>
                <a:effectLst/>
                <a:uLnTx/>
                <a:uFillTx/>
                <a:latin typeface="Verdana"/>
                <a:ea typeface="+mn-ea"/>
                <a:cs typeface="+mn-cs"/>
              </a:rPr>
              <a:t> can reduce the burden of Fixed Cost on the DISCOM by </a:t>
            </a:r>
            <a:r>
              <a:rPr kumimoji="0" lang="en-US" sz="1400" b="1" i="1" u="none" strike="noStrike" kern="1200" cap="none" spc="0" normalizeH="0" baseline="0" noProof="0" dirty="0">
                <a:ln>
                  <a:noFill/>
                </a:ln>
                <a:solidFill>
                  <a:prstClr val="black"/>
                </a:solidFill>
                <a:effectLst/>
                <a:uLnTx/>
                <a:uFillTx/>
                <a:latin typeface="Verdana"/>
                <a:ea typeface="+mn-ea"/>
                <a:cs typeface="+mn-cs"/>
              </a:rPr>
              <a:t>6%</a:t>
            </a:r>
          </a:p>
          <a:p>
            <a:pPr marL="0" marR="0" lvl="0" indent="0" algn="just" defTabSz="914342" rtl="0" eaLnBrk="1" fontAlgn="auto" latinLnBrk="0" hangingPunct="1">
              <a:lnSpc>
                <a:spcPct val="100000"/>
              </a:lnSpc>
              <a:spcBef>
                <a:spcPts val="0"/>
              </a:spcBef>
              <a:spcAft>
                <a:spcPts val="0"/>
              </a:spcAft>
              <a:buClrTx/>
              <a:buSzTx/>
              <a:buFontTx/>
              <a:buNone/>
              <a:tabLst/>
              <a:defRPr/>
            </a:pPr>
            <a:endParaRPr lang="en-US" sz="1400" b="1" i="1" dirty="0">
              <a:solidFill>
                <a:prstClr val="black"/>
              </a:solidFill>
              <a:latin typeface="Verdana"/>
            </a:endParaRPr>
          </a:p>
          <a:p>
            <a:pPr marL="0" marR="0" lvl="0" indent="0" algn="just" defTabSz="914342"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prstClr val="black"/>
                </a:solidFill>
                <a:effectLst/>
                <a:uLnTx/>
                <a:uFillTx/>
                <a:latin typeface="Verdana"/>
                <a:ea typeface="+mn-ea"/>
                <a:cs typeface="+mn-cs"/>
              </a:rPr>
              <a:t>Impact on reduction of total Fixed Cost Obligation w.r.t WBPDCL would be INR </a:t>
            </a:r>
            <a:r>
              <a:rPr kumimoji="0" lang="en-US" sz="1400" b="1" i="1" u="none" strike="noStrike" kern="1200" cap="none" spc="0" normalizeH="0" baseline="0" noProof="0" dirty="0">
                <a:ln>
                  <a:noFill/>
                </a:ln>
                <a:solidFill>
                  <a:schemeClr val="accent2"/>
                </a:solidFill>
                <a:effectLst/>
                <a:uLnTx/>
                <a:uFillTx/>
                <a:latin typeface="Verdana"/>
                <a:ea typeface="+mn-ea"/>
                <a:cs typeface="+mn-cs"/>
              </a:rPr>
              <a:t>145.48 Cr</a:t>
            </a:r>
            <a:r>
              <a:rPr kumimoji="0" lang="en-US" sz="1400" b="1" i="1" u="none" strike="noStrike" kern="1200" cap="none" spc="0" normalizeH="0" baseline="0" noProof="0" dirty="0">
                <a:ln>
                  <a:noFill/>
                </a:ln>
                <a:solidFill>
                  <a:prstClr val="black"/>
                </a:solidFill>
                <a:effectLst/>
                <a:uLnTx/>
                <a:uFillTx/>
                <a:latin typeface="Verdana"/>
                <a:ea typeface="+mn-ea"/>
                <a:cs typeface="+mn-cs"/>
              </a:rPr>
              <a:t> and that for Capacity charge rate would be </a:t>
            </a:r>
            <a:r>
              <a:rPr kumimoji="0" lang="en-US" sz="1400" b="1" i="1" u="none" strike="noStrike" kern="1200" cap="none" spc="0" normalizeH="0" baseline="0" noProof="0" dirty="0">
                <a:ln>
                  <a:noFill/>
                </a:ln>
                <a:solidFill>
                  <a:schemeClr val="accent2"/>
                </a:solidFill>
                <a:effectLst/>
                <a:uLnTx/>
                <a:uFillTx/>
                <a:latin typeface="Verdana"/>
                <a:ea typeface="+mn-ea"/>
                <a:cs typeface="+mn-cs"/>
              </a:rPr>
              <a:t>INR 0.05/kWh</a:t>
            </a:r>
          </a:p>
        </p:txBody>
      </p:sp>
      <p:graphicFrame>
        <p:nvGraphicFramePr>
          <p:cNvPr id="25" name="Table 20">
            <a:extLst>
              <a:ext uri="{FF2B5EF4-FFF2-40B4-BE49-F238E27FC236}">
                <a16:creationId xmlns:a16="http://schemas.microsoft.com/office/drawing/2014/main" id="{1C520115-EAFF-45EA-90F5-D68D28849D4B}"/>
              </a:ext>
            </a:extLst>
          </p:cNvPr>
          <p:cNvGraphicFramePr>
            <a:graphicFrameLocks noGrp="1"/>
          </p:cNvGraphicFramePr>
          <p:nvPr>
            <p:extLst>
              <p:ext uri="{D42A27DB-BD31-4B8C-83A1-F6EECF244321}">
                <p14:modId xmlns:p14="http://schemas.microsoft.com/office/powerpoint/2010/main" val="1589400562"/>
              </p:ext>
            </p:extLst>
          </p:nvPr>
        </p:nvGraphicFramePr>
        <p:xfrm>
          <a:off x="501652" y="3702610"/>
          <a:ext cx="11449026" cy="2499360"/>
        </p:xfrm>
        <a:graphic>
          <a:graphicData uri="http://schemas.openxmlformats.org/drawingml/2006/table">
            <a:tbl>
              <a:tblPr firstRow="1" bandRow="1">
                <a:tableStyleId>{5C22544A-7EE6-4342-B048-85BDC9FD1C3A}</a:tableStyleId>
              </a:tblPr>
              <a:tblGrid>
                <a:gridCol w="1350745">
                  <a:extLst>
                    <a:ext uri="{9D8B030D-6E8A-4147-A177-3AD203B41FA5}">
                      <a16:colId xmlns:a16="http://schemas.microsoft.com/office/drawing/2014/main" val="3650519840"/>
                    </a:ext>
                  </a:extLst>
                </a:gridCol>
                <a:gridCol w="1087573">
                  <a:extLst>
                    <a:ext uri="{9D8B030D-6E8A-4147-A177-3AD203B41FA5}">
                      <a16:colId xmlns:a16="http://schemas.microsoft.com/office/drawing/2014/main" val="2658345709"/>
                    </a:ext>
                  </a:extLst>
                </a:gridCol>
                <a:gridCol w="2303362">
                  <a:extLst>
                    <a:ext uri="{9D8B030D-6E8A-4147-A177-3AD203B41FA5}">
                      <a16:colId xmlns:a16="http://schemas.microsoft.com/office/drawing/2014/main" val="2324828034"/>
                    </a:ext>
                  </a:extLst>
                </a:gridCol>
                <a:gridCol w="1585731">
                  <a:extLst>
                    <a:ext uri="{9D8B030D-6E8A-4147-A177-3AD203B41FA5}">
                      <a16:colId xmlns:a16="http://schemas.microsoft.com/office/drawing/2014/main" val="1495363792"/>
                    </a:ext>
                  </a:extLst>
                </a:gridCol>
                <a:gridCol w="1666755">
                  <a:extLst>
                    <a:ext uri="{9D8B030D-6E8A-4147-A177-3AD203B41FA5}">
                      <a16:colId xmlns:a16="http://schemas.microsoft.com/office/drawing/2014/main" val="624899098"/>
                    </a:ext>
                  </a:extLst>
                </a:gridCol>
                <a:gridCol w="1551007">
                  <a:extLst>
                    <a:ext uri="{9D8B030D-6E8A-4147-A177-3AD203B41FA5}">
                      <a16:colId xmlns:a16="http://schemas.microsoft.com/office/drawing/2014/main" val="2812589587"/>
                    </a:ext>
                  </a:extLst>
                </a:gridCol>
                <a:gridCol w="1903853">
                  <a:extLst>
                    <a:ext uri="{9D8B030D-6E8A-4147-A177-3AD203B41FA5}">
                      <a16:colId xmlns:a16="http://schemas.microsoft.com/office/drawing/2014/main" val="4070018851"/>
                    </a:ext>
                  </a:extLst>
                </a:gridCol>
              </a:tblGrid>
              <a:tr h="355406">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Plant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Capacity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COD w.r.t Units (Range)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Contribution to FC Obligation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Total Fixed Cost Obligation </a:t>
                      </a:r>
                    </a:p>
                    <a:p>
                      <a:pPr algn="ctr"/>
                      <a:r>
                        <a:rPr lang="en-US" sz="800" dirty="0">
                          <a:latin typeface="Verdana" panose="020B0604030504040204" pitchFamily="34" charset="0"/>
                          <a:ea typeface="Verdana" panose="020B0604030504040204" pitchFamily="34" charset="0"/>
                          <a:cs typeface="Vani" panose="02040502050405020303" pitchFamily="18" charset="0"/>
                        </a:rPr>
                        <a:t>(INR Crores)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Total Fixed Cost Obligation based on No. of Units sold by WBSEDCL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Total Fixed Cost Obligation (in INR/kWh) if </a:t>
                      </a:r>
                      <a:r>
                        <a:rPr lang="en-US" sz="800" dirty="0" err="1">
                          <a:latin typeface="Verdana" panose="020B0604030504040204" pitchFamily="34" charset="0"/>
                          <a:ea typeface="Verdana" panose="020B0604030504040204" pitchFamily="34" charset="0"/>
                          <a:cs typeface="Vani" panose="02040502050405020303" pitchFamily="18" charset="0"/>
                        </a:rPr>
                        <a:t>Kolaghat</a:t>
                      </a:r>
                      <a:r>
                        <a:rPr lang="en-US" sz="800" dirty="0">
                          <a:latin typeface="Verdana" panose="020B0604030504040204" pitchFamily="34" charset="0"/>
                          <a:ea typeface="Verdana" panose="020B0604030504040204" pitchFamily="34" charset="0"/>
                          <a:cs typeface="Vani" panose="02040502050405020303" pitchFamily="18" charset="0"/>
                        </a:rPr>
                        <a:t> and </a:t>
                      </a:r>
                      <a:r>
                        <a:rPr lang="en-US" sz="800" dirty="0" err="1">
                          <a:latin typeface="Verdana" panose="020B0604030504040204" pitchFamily="34" charset="0"/>
                          <a:ea typeface="Verdana" panose="020B0604030504040204" pitchFamily="34" charset="0"/>
                          <a:cs typeface="Vani" panose="02040502050405020303" pitchFamily="18" charset="0"/>
                        </a:rPr>
                        <a:t>Bandel</a:t>
                      </a:r>
                      <a:r>
                        <a:rPr lang="en-US" sz="800" dirty="0">
                          <a:latin typeface="Verdana" panose="020B0604030504040204" pitchFamily="34" charset="0"/>
                          <a:ea typeface="Verdana" panose="020B0604030504040204" pitchFamily="34" charset="0"/>
                          <a:cs typeface="Vani" panose="02040502050405020303" pitchFamily="18" charset="0"/>
                        </a:rPr>
                        <a:t> are decommissioned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727424852"/>
                  </a:ext>
                </a:extLst>
              </a:tr>
              <a:tr h="121232">
                <a:tc>
                  <a:txBody>
                    <a:bodyPr/>
                    <a:lstStyle/>
                    <a:p>
                      <a:r>
                        <a:rPr lang="en-US" sz="800" b="1" dirty="0" err="1">
                          <a:solidFill>
                            <a:srgbClr val="C00000"/>
                          </a:solidFill>
                          <a:latin typeface="Verdana" panose="020B0604030504040204" pitchFamily="34" charset="0"/>
                          <a:ea typeface="Verdana" panose="020B0604030504040204" pitchFamily="34" charset="0"/>
                          <a:cs typeface="Vani" panose="02040502050405020303" pitchFamily="18" charset="0"/>
                        </a:rPr>
                        <a:t>Kolaghat</a:t>
                      </a: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 (Unit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2x210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0</a:t>
                      </a:r>
                      <a:r>
                        <a:rPr lang="pl-PL" sz="800" b="1" dirty="0">
                          <a:solidFill>
                            <a:srgbClr val="C00000"/>
                          </a:solidFill>
                          <a:latin typeface="Verdana" panose="020B0604030504040204" pitchFamily="34" charset="0"/>
                          <a:ea typeface="Verdana" panose="020B0604030504040204" pitchFamily="34" charset="0"/>
                          <a:cs typeface="Vani" panose="02040502050405020303" pitchFamily="18" charset="0"/>
                        </a:rPr>
                        <a:t>9.</a:t>
                      </a: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0</a:t>
                      </a:r>
                      <a:r>
                        <a:rPr lang="pl-PL" sz="800" b="1" dirty="0">
                          <a:solidFill>
                            <a:srgbClr val="C00000"/>
                          </a:solidFill>
                          <a:latin typeface="Verdana" panose="020B0604030504040204" pitchFamily="34" charset="0"/>
                          <a:ea typeface="Verdana" panose="020B0604030504040204" pitchFamily="34" charset="0"/>
                          <a:cs typeface="Vani" panose="02040502050405020303" pitchFamily="18" charset="0"/>
                        </a:rPr>
                        <a:t>3.1986</a:t>
                      </a: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-0</a:t>
                      </a:r>
                      <a:r>
                        <a:rPr lang="pl-PL"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9.</a:t>
                      </a:r>
                      <a:r>
                        <a:rPr lang="en-US"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0</a:t>
                      </a:r>
                      <a:r>
                        <a:rPr lang="pl-PL"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9.1990</a:t>
                      </a:r>
                      <a:endPar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219231" rtl="0" eaLnBrk="1" fontAlgn="b" latinLnBrk="0" hangingPunct="1"/>
                      <a:r>
                        <a:rPr lang="en-US"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105.67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219231" rtl="0" eaLnBrk="1" fontAlgn="b" latinLnBrk="0" hangingPunct="1"/>
                      <a:r>
                        <a:rPr lang="en-US"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0.03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219231" rtl="0" eaLnBrk="1" fontAlgn="b" latinLnBrk="0" hangingPunct="1"/>
                      <a:r>
                        <a:rPr lang="en-US"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6788049"/>
                  </a:ext>
                </a:extLst>
              </a:tr>
              <a:tr h="121232">
                <a:tc>
                  <a:txBody>
                    <a:bodyPr/>
                    <a:lstStyle/>
                    <a:p>
                      <a:r>
                        <a:rPr lang="en-US" sz="800" b="0" kern="1200" dirty="0" err="1">
                          <a:solidFill>
                            <a:schemeClr val="tx1"/>
                          </a:solidFill>
                          <a:latin typeface="Verdana" panose="020B0604030504040204" pitchFamily="34" charset="0"/>
                          <a:ea typeface="Verdana" panose="020B0604030504040204" pitchFamily="34" charset="0"/>
                          <a:cs typeface="Vani" panose="02040502050405020303" pitchFamily="18" charset="0"/>
                        </a:rPr>
                        <a:t>Kolaghat</a:t>
                      </a:r>
                      <a:r>
                        <a:rPr lang="en-US" sz="800" b="0" kern="1200" dirty="0">
                          <a:solidFill>
                            <a:schemeClr val="tx1"/>
                          </a:solidFill>
                          <a:latin typeface="Verdana" panose="020B0604030504040204" pitchFamily="34" charset="0"/>
                          <a:ea typeface="Verdana" panose="020B0604030504040204" pitchFamily="34" charset="0"/>
                          <a:cs typeface="Vani" panose="02040502050405020303" pitchFamily="18" charset="0"/>
                        </a:rPr>
                        <a:t> (Unit 3-6)</a:t>
                      </a:r>
                      <a:endPar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4x210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12.10.1984-01.04.1995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chemeClr val="tx1"/>
                          </a:solidFill>
                          <a:effectLst/>
                          <a:latin typeface="Verdana" panose="020B0604030504040204" pitchFamily="34" charset="0"/>
                          <a:ea typeface="Verdana" panose="020B0604030504040204" pitchFamily="34" charset="0"/>
                          <a:cs typeface="Vani" panose="02040502050405020303" pitchFamily="18" charset="0"/>
                        </a:rPr>
                        <a:t>211.34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chemeClr val="tx1"/>
                          </a:solidFill>
                          <a:effectLst/>
                          <a:latin typeface="Verdana" panose="020B0604030504040204" pitchFamily="34" charset="0"/>
                          <a:ea typeface="Verdana" panose="020B0604030504040204" pitchFamily="34" charset="0"/>
                          <a:cs typeface="Vani" panose="02040502050405020303" pitchFamily="18" charset="0"/>
                        </a:rPr>
                        <a:t>0.07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kern="1200" dirty="0">
                          <a:solidFill>
                            <a:schemeClr val="tx1"/>
                          </a:solidFill>
                          <a:effectLst/>
                          <a:latin typeface="Verdana" panose="020B0604030504040204" pitchFamily="34" charset="0"/>
                          <a:ea typeface="Verdana" panose="020B0604030504040204" pitchFamily="34" charset="0"/>
                          <a:cs typeface="Vani" panose="02040502050405020303" pitchFamily="18" charset="0"/>
                        </a:rPr>
                        <a:t>0.07</a:t>
                      </a:r>
                      <a:endParaRPr lang="en-US" sz="800" b="0" i="0" u="none" strike="noStrike" dirty="0">
                        <a:solidFill>
                          <a:schemeClr val="tx1"/>
                        </a:solidFill>
                        <a:effectLst/>
                        <a:latin typeface="Verdana" panose="020B0604030504040204" pitchFamily="34" charset="0"/>
                        <a:ea typeface="Verdana" panose="020B0604030504040204" pitchFamily="34" charset="0"/>
                        <a:cs typeface="Vani" panose="02040502050405020303" pitchFamily="18"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1061455"/>
                  </a:ext>
                </a:extLst>
              </a:tr>
              <a:tr h="121232">
                <a:tc>
                  <a:txBody>
                    <a:bodyPr/>
                    <a:lstStyle/>
                    <a:p>
                      <a:r>
                        <a:rPr lang="en-US" sz="800" b="0" dirty="0" err="1">
                          <a:solidFill>
                            <a:schemeClr val="tx1"/>
                          </a:solidFill>
                          <a:latin typeface="Verdana" panose="020B0604030504040204" pitchFamily="34" charset="0"/>
                          <a:ea typeface="Verdana" panose="020B0604030504040204" pitchFamily="34" charset="0"/>
                          <a:cs typeface="Vani" panose="02040502050405020303" pitchFamily="18" charset="0"/>
                        </a:rPr>
                        <a:t>Bakreswar</a:t>
                      </a:r>
                      <a:endPar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5x210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29.11.2000-27.06.2009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chemeClr val="tx1"/>
                          </a:solidFill>
                          <a:effectLst/>
                          <a:latin typeface="Verdana" panose="020B0604030504040204" pitchFamily="34" charset="0"/>
                          <a:ea typeface="Verdana" panose="020B0604030504040204" pitchFamily="34" charset="0"/>
                          <a:cs typeface="Vani" panose="02040502050405020303" pitchFamily="18" charset="0"/>
                        </a:rPr>
                        <a:t>739.47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chemeClr val="tx1"/>
                          </a:solidFill>
                          <a:effectLst/>
                          <a:latin typeface="Verdana" panose="020B0604030504040204" pitchFamily="34" charset="0"/>
                          <a:ea typeface="Verdana" panose="020B0604030504040204" pitchFamily="34" charset="0"/>
                          <a:cs typeface="Vani" panose="02040502050405020303" pitchFamily="18" charset="0"/>
                        </a:rPr>
                        <a:t>0.24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chemeClr val="tx1"/>
                          </a:solidFill>
                          <a:effectLst/>
                          <a:latin typeface="Verdana" panose="020B0604030504040204" pitchFamily="34" charset="0"/>
                          <a:ea typeface="Verdana" panose="020B0604030504040204" pitchFamily="34" charset="0"/>
                          <a:cs typeface="Vani" panose="02040502050405020303" pitchFamily="18" charset="0"/>
                        </a:rPr>
                        <a:t>0.24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1697303"/>
                  </a:ext>
                </a:extLst>
              </a:tr>
              <a:tr h="121232">
                <a:tc>
                  <a:txBody>
                    <a:bodyPr/>
                    <a:lstStyle/>
                    <a:p>
                      <a:r>
                        <a:rPr lang="en-US" sz="800" b="1" dirty="0" err="1">
                          <a:solidFill>
                            <a:srgbClr val="C00000"/>
                          </a:solidFill>
                          <a:latin typeface="Verdana" panose="020B0604030504040204" pitchFamily="34" charset="0"/>
                          <a:ea typeface="Verdana" panose="020B0604030504040204" pitchFamily="34" charset="0"/>
                          <a:cs typeface="Vani" panose="02040502050405020303" pitchFamily="18" charset="0"/>
                        </a:rPr>
                        <a:t>Bandel</a:t>
                      </a: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2x60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04.09.1965-23.03.1983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1" dirty="0">
                          <a:solidFill>
                            <a:srgbClr val="C00000"/>
                          </a:solidFill>
                          <a:latin typeface="Verdana" panose="020B0604030504040204" pitchFamily="34" charset="0"/>
                          <a:ea typeface="Verdana" panose="020B0604030504040204" pitchFamily="34" charset="0"/>
                          <a:cs typeface="Vani" panose="02040502050405020303"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39.81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0.01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1" kern="1200" dirty="0">
                          <a:solidFill>
                            <a:srgbClr val="C00000"/>
                          </a:solidFill>
                          <a:latin typeface="Verdana" panose="020B0604030504040204" pitchFamily="34" charset="0"/>
                          <a:ea typeface="Verdana" panose="020B0604030504040204" pitchFamily="34" charset="0"/>
                          <a:cs typeface="Vani" panose="02040502050405020303" pitchFamily="18" charset="0"/>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9239507"/>
                  </a:ext>
                </a:extLst>
              </a:tr>
              <a:tr h="121232">
                <a:tc>
                  <a:txBody>
                    <a:bodyPr/>
                    <a:lstStyle/>
                    <a:p>
                      <a:r>
                        <a:rPr lang="en-US" sz="800" b="0" dirty="0" err="1">
                          <a:solidFill>
                            <a:schemeClr val="tx1"/>
                          </a:solidFill>
                          <a:latin typeface="Verdana" panose="020B0604030504040204" pitchFamily="34" charset="0"/>
                          <a:ea typeface="Verdana" panose="020B0604030504040204" pitchFamily="34" charset="0"/>
                          <a:cs typeface="Vani" panose="02040502050405020303" pitchFamily="18" charset="0"/>
                        </a:rPr>
                        <a:t>Bandel</a:t>
                      </a: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 (Unit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215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04.10.1965-18.10.1965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latin typeface="Verdana" panose="020B0604030504040204" pitchFamily="34" charset="0"/>
                          <a:ea typeface="Verdana" panose="020B0604030504040204" pitchFamily="34" charset="0"/>
                          <a:cs typeface="Vani" panose="02040502050405020303"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kern="1200" dirty="0">
                          <a:solidFill>
                            <a:schemeClr val="tx1"/>
                          </a:solidFill>
                          <a:latin typeface="Verdana" panose="020B0604030504040204" pitchFamily="34" charset="0"/>
                          <a:ea typeface="Verdana" panose="020B0604030504040204" pitchFamily="34" charset="0"/>
                          <a:cs typeface="Vani" panose="02040502050405020303" pitchFamily="18" charset="0"/>
                        </a:rPr>
                        <a:t>91.77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kern="1200" dirty="0">
                          <a:solidFill>
                            <a:schemeClr val="tx1"/>
                          </a:solidFill>
                          <a:latin typeface="Verdana" panose="020B0604030504040204" pitchFamily="34" charset="0"/>
                          <a:ea typeface="Verdana" panose="020B0604030504040204" pitchFamily="34" charset="0"/>
                          <a:cs typeface="Vani" panose="02040502050405020303" pitchFamily="18" charset="0"/>
                        </a:rPr>
                        <a:t>0.03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kern="1200" dirty="0">
                          <a:solidFill>
                            <a:schemeClr val="tx1"/>
                          </a:solidFill>
                          <a:latin typeface="Verdana" panose="020B0604030504040204" pitchFamily="34" charset="0"/>
                          <a:ea typeface="Verdana" panose="020B0604030504040204" pitchFamily="34" charset="0"/>
                          <a:cs typeface="Vani" panose="02040502050405020303" pitchFamily="18" charset="0"/>
                        </a:rPr>
                        <a:t>0.03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4542312"/>
                  </a:ext>
                </a:extLst>
              </a:tr>
              <a:tr h="121232">
                <a:tc>
                  <a:txBody>
                    <a:bodyPr/>
                    <a:lstStyle/>
                    <a:p>
                      <a:r>
                        <a:rPr lang="en-US" sz="800" dirty="0" err="1">
                          <a:latin typeface="Verdana" panose="020B0604030504040204" pitchFamily="34" charset="0"/>
                          <a:ea typeface="Verdana" panose="020B0604030504040204" pitchFamily="34" charset="0"/>
                          <a:cs typeface="Vani" panose="02040502050405020303" pitchFamily="18" charset="0"/>
                        </a:rPr>
                        <a:t>Santaldih</a:t>
                      </a:r>
                      <a:endParaRPr lang="en-US" sz="800" dirty="0">
                        <a:latin typeface="Verdana" panose="020B0604030504040204" pitchFamily="34" charset="0"/>
                        <a:ea typeface="Verdana" panose="020B0604030504040204" pitchFamily="34" charset="0"/>
                        <a:cs typeface="Vani"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2x250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01.04.2009-30.09.2011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442.19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0.14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0.14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5808642"/>
                  </a:ext>
                </a:extLst>
              </a:tr>
              <a:tr h="121232">
                <a:tc>
                  <a:txBody>
                    <a:bodyPr/>
                    <a:lstStyle/>
                    <a:p>
                      <a:r>
                        <a:rPr lang="en-US" sz="800" dirty="0" err="1">
                          <a:latin typeface="Verdana" panose="020B0604030504040204" pitchFamily="34" charset="0"/>
                          <a:ea typeface="Verdana" panose="020B0604030504040204" pitchFamily="34" charset="0"/>
                          <a:cs typeface="Vani" panose="02040502050405020303" pitchFamily="18" charset="0"/>
                        </a:rPr>
                        <a:t>Sagardighi</a:t>
                      </a:r>
                      <a:r>
                        <a:rPr lang="en-US" sz="800" dirty="0">
                          <a:latin typeface="Verdana" panose="020B0604030504040204" pitchFamily="34" charset="0"/>
                          <a:ea typeface="Verdana" panose="020B0604030504040204" pitchFamily="34" charset="0"/>
                          <a:cs typeface="Vani" panose="02040502050405020303" pitchFamily="18" charset="0"/>
                        </a:rPr>
                        <a:t> 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2x300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07.09.2008-06.11.2008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276.74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0.09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0.09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633195"/>
                  </a:ext>
                </a:extLst>
              </a:tr>
              <a:tr h="121232">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800" dirty="0" err="1">
                          <a:latin typeface="Verdana" panose="020B0604030504040204" pitchFamily="34" charset="0"/>
                          <a:ea typeface="Verdana" panose="020B0604030504040204" pitchFamily="34" charset="0"/>
                          <a:cs typeface="Vani" panose="02040502050405020303" pitchFamily="18" charset="0"/>
                        </a:rPr>
                        <a:t>Sagardighi</a:t>
                      </a:r>
                      <a:r>
                        <a:rPr lang="en-US" sz="800" dirty="0">
                          <a:latin typeface="Verdana" panose="020B0604030504040204" pitchFamily="34" charset="0"/>
                          <a:ea typeface="Verdana" panose="020B0604030504040204" pitchFamily="34" charset="0"/>
                          <a:cs typeface="Vani" panose="02040502050405020303" pitchFamily="18" charset="0"/>
                        </a:rPr>
                        <a:t> 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2x500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01.07.2016-20.12.2016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dirty="0">
                          <a:latin typeface="Verdana" panose="020B0604030504040204" pitchFamily="34" charset="0"/>
                          <a:ea typeface="Verdana" panose="020B0604030504040204" pitchFamily="34" charset="0"/>
                          <a:cs typeface="Vani" panose="02040502050405020303"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623.88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0.20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0.20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5917497"/>
                  </a:ext>
                </a:extLst>
              </a:tr>
              <a:tr h="121232">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endParaRPr lang="en-US" sz="800" dirty="0">
                        <a:latin typeface="Verdana" panose="020B0604030504040204" pitchFamily="34" charset="0"/>
                        <a:ea typeface="Verdana" panose="020B0604030504040204" pitchFamily="34" charset="0"/>
                        <a:cs typeface="Vani"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800" dirty="0">
                        <a:latin typeface="Verdana" panose="020B0604030504040204" pitchFamily="34" charset="0"/>
                        <a:ea typeface="Verdana" panose="020B0604030504040204" pitchFamily="34" charset="0"/>
                        <a:cs typeface="Vani" panose="02040502050405020303"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800" dirty="0">
                        <a:latin typeface="Verdana" panose="020B0604030504040204" pitchFamily="34" charset="0"/>
                        <a:ea typeface="Verdana" panose="020B0604030504040204" pitchFamily="34" charset="0"/>
                        <a:cs typeface="Vani"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800" b="1" dirty="0">
                          <a:latin typeface="Verdana" panose="020B0604030504040204" pitchFamily="34" charset="0"/>
                          <a:ea typeface="Verdana" panose="020B0604030504040204" pitchFamily="34" charset="0"/>
                          <a:cs typeface="Vani" panose="02040502050405020303" pitchFamily="18"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1"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2530.87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1" i="0" u="none" strike="noStrike" dirty="0">
                          <a:solidFill>
                            <a:srgbClr val="000000"/>
                          </a:solidFill>
                          <a:effectLst/>
                          <a:latin typeface="Verdana" panose="020B0604030504040204" pitchFamily="34" charset="0"/>
                          <a:ea typeface="Verdana" panose="020B0604030504040204" pitchFamily="34" charset="0"/>
                          <a:cs typeface="Vani" panose="02040502050405020303" pitchFamily="18" charset="0"/>
                        </a:rPr>
                        <a:t>0.83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800" b="1" i="0" u="none" strike="noStrike" dirty="0">
                          <a:solidFill>
                            <a:srgbClr val="046A38"/>
                          </a:solidFill>
                          <a:effectLst/>
                          <a:latin typeface="Verdana" panose="020B0604030504040204" pitchFamily="34" charset="0"/>
                          <a:ea typeface="Verdana" panose="020B0604030504040204" pitchFamily="34" charset="0"/>
                          <a:cs typeface="Vani" panose="02040502050405020303" pitchFamily="18" charset="0"/>
                        </a:rPr>
                        <a:t>0.78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509364"/>
                  </a:ext>
                </a:extLst>
              </a:tr>
            </a:tbl>
          </a:graphicData>
        </a:graphic>
      </p:graphicFrame>
      <p:sp>
        <p:nvSpPr>
          <p:cNvPr id="22" name="TextBox 21">
            <a:extLst>
              <a:ext uri="{FF2B5EF4-FFF2-40B4-BE49-F238E27FC236}">
                <a16:creationId xmlns:a16="http://schemas.microsoft.com/office/drawing/2014/main" id="{62DDA96D-FBEF-473D-A04D-89B6D7F7CEF5}"/>
              </a:ext>
            </a:extLst>
          </p:cNvPr>
          <p:cNvSpPr txBox="1"/>
          <p:nvPr/>
        </p:nvSpPr>
        <p:spPr>
          <a:xfrm>
            <a:off x="3178629" y="6553198"/>
            <a:ext cx="8294914" cy="307777"/>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1" i="1" u="none" strike="noStrike" kern="1200" cap="none" spc="0" normalizeH="0" baseline="0" noProof="0" dirty="0">
                <a:ln>
                  <a:noFill/>
                </a:ln>
                <a:solidFill>
                  <a:srgbClr val="313131"/>
                </a:solidFill>
                <a:effectLst/>
                <a:uLnTx/>
                <a:uFillTx/>
                <a:latin typeface="Verdana"/>
                <a:ea typeface="+mn-ea"/>
                <a:cs typeface="+mn-cs"/>
              </a:rPr>
              <a:t>Source:</a:t>
            </a:r>
            <a:r>
              <a:rPr kumimoji="0" lang="en-US" sz="1000" b="0" i="1" u="none" strike="noStrike" kern="1200" cap="none" spc="0" normalizeH="0" baseline="0" noProof="0" dirty="0">
                <a:ln>
                  <a:noFill/>
                </a:ln>
                <a:solidFill>
                  <a:srgbClr val="313131"/>
                </a:solidFill>
                <a:effectLst/>
                <a:uLnTx/>
                <a:uFillTx/>
                <a:latin typeface="Verdana"/>
                <a:ea typeface="+mn-ea"/>
                <a:cs typeface="+mn-cs"/>
              </a:rPr>
              <a:t> For FY 2019-20 1)Actual figures from Tariff Petition for FY 2020-21, 2021-22, 2022-23. 2) Admitted figures from respective Tariff Order FY 2018-19,2019-20. 3) COD dates from WBPDCL</a:t>
            </a:r>
          </a:p>
        </p:txBody>
      </p:sp>
      <p:sp>
        <p:nvSpPr>
          <p:cNvPr id="2" name="Arrow: Right 1">
            <a:extLst>
              <a:ext uri="{FF2B5EF4-FFF2-40B4-BE49-F238E27FC236}">
                <a16:creationId xmlns:a16="http://schemas.microsoft.com/office/drawing/2014/main" id="{7E93B7A3-2D19-495B-AC3A-D36FA0E5BD2F}"/>
              </a:ext>
            </a:extLst>
          </p:cNvPr>
          <p:cNvSpPr/>
          <p:nvPr/>
        </p:nvSpPr>
        <p:spPr bwMode="gray">
          <a:xfrm>
            <a:off x="9792183" y="5978729"/>
            <a:ext cx="578734" cy="252079"/>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8" name="Chart 7">
            <a:extLst>
              <a:ext uri="{FF2B5EF4-FFF2-40B4-BE49-F238E27FC236}">
                <a16:creationId xmlns:a16="http://schemas.microsoft.com/office/drawing/2014/main" id="{124D7323-E558-431E-B0D3-98DD0B8D92EA}"/>
              </a:ext>
            </a:extLst>
          </p:cNvPr>
          <p:cNvGraphicFramePr/>
          <p:nvPr/>
        </p:nvGraphicFramePr>
        <p:xfrm>
          <a:off x="501652" y="992211"/>
          <a:ext cx="6628990" cy="2436789"/>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505DA655-6779-436A-BBDB-9FCEB02E4B31}"/>
              </a:ext>
            </a:extLst>
          </p:cNvPr>
          <p:cNvSpPr txBox="1"/>
          <p:nvPr/>
        </p:nvSpPr>
        <p:spPr>
          <a:xfrm>
            <a:off x="501652" y="6200384"/>
            <a:ext cx="7840682" cy="161583"/>
          </a:xfrm>
          <a:prstGeom prst="rect">
            <a:avLst/>
          </a:prstGeom>
          <a:noFill/>
        </p:spPr>
        <p:txBody>
          <a:bodyPr wrap="square" lIns="0" tIns="0" rIns="0" bIns="0" rtlCol="0">
            <a:spAutoFit/>
          </a:bodyPr>
          <a:lstStyle/>
          <a:p>
            <a:pPr>
              <a:spcBef>
                <a:spcPts val="600"/>
              </a:spcBef>
              <a:buSzPct val="100000"/>
            </a:pPr>
            <a:r>
              <a:rPr lang="en-US" sz="1050" i="1" dirty="0">
                <a:solidFill>
                  <a:srgbClr val="313131"/>
                </a:solidFill>
              </a:rPr>
              <a:t>Total units sold by WBSEDCL is taken as </a:t>
            </a:r>
            <a:r>
              <a:rPr kumimoji="0" lang="en-US" sz="1050" b="0" i="1" u="none" strike="noStrike" kern="1200" cap="none" spc="0" normalizeH="0" baseline="0" noProof="0" dirty="0">
                <a:ln>
                  <a:noFill/>
                </a:ln>
                <a:solidFill>
                  <a:srgbClr val="313131"/>
                </a:solidFill>
                <a:effectLst/>
                <a:uLnTx/>
                <a:uFillTx/>
                <a:latin typeface="+mn-lt"/>
                <a:ea typeface="+mn-ea"/>
                <a:cs typeface="+mn-cs"/>
              </a:rPr>
              <a:t>30599 Mus as per WBSEDCL Tariff Order pertaining to FY 2019-20</a:t>
            </a:r>
            <a:r>
              <a:rPr lang="en-US" sz="1050" i="1" dirty="0">
                <a:solidFill>
                  <a:srgbClr val="313131"/>
                </a:solidFill>
              </a:rPr>
              <a:t> </a:t>
            </a:r>
          </a:p>
        </p:txBody>
      </p:sp>
      <p:sp>
        <p:nvSpPr>
          <p:cNvPr id="15" name="Oval 14">
            <a:extLst>
              <a:ext uri="{FF2B5EF4-FFF2-40B4-BE49-F238E27FC236}">
                <a16:creationId xmlns:a16="http://schemas.microsoft.com/office/drawing/2014/main" id="{AC8C68B4-02F9-42AD-8E9E-2539C9D0A8C0}"/>
              </a:ext>
            </a:extLst>
          </p:cNvPr>
          <p:cNvSpPr/>
          <p:nvPr/>
        </p:nvSpPr>
        <p:spPr bwMode="gray">
          <a:xfrm>
            <a:off x="9222906" y="2930518"/>
            <a:ext cx="1717288" cy="431045"/>
          </a:xfrm>
          <a:prstGeom prst="ellipse">
            <a:avLst/>
          </a:prstGeom>
          <a:noFill/>
          <a:ln>
            <a:solidFill>
              <a:schemeClr val="accent3"/>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2887861163"/>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Reduction of Energy Charge of WBPDCL through decommissioning of relatively older plants of WBPDCL</a:t>
            </a:r>
          </a:p>
        </p:txBody>
      </p:sp>
      <p:sp>
        <p:nvSpPr>
          <p:cNvPr id="22" name="Rectangle 21">
            <a:extLst>
              <a:ext uri="{FF2B5EF4-FFF2-40B4-BE49-F238E27FC236}">
                <a16:creationId xmlns:a16="http://schemas.microsoft.com/office/drawing/2014/main" id="{A4886D04-1422-4830-8C91-BD173EFD0B63}"/>
              </a:ext>
            </a:extLst>
          </p:cNvPr>
          <p:cNvSpPr/>
          <p:nvPr/>
        </p:nvSpPr>
        <p:spPr bwMode="gray">
          <a:xfrm>
            <a:off x="414110" y="5460245"/>
            <a:ext cx="11363779" cy="861793"/>
          </a:xfrm>
          <a:prstGeom prst="rect">
            <a:avLst/>
          </a:prstGeom>
          <a:solidFill>
            <a:schemeClr val="bg1">
              <a:lumMod val="95000"/>
            </a:schemeClr>
          </a:solidFill>
          <a:ln>
            <a:solidFill>
              <a:schemeClr val="tx1"/>
            </a:solidFill>
            <a:prstDash val="dash"/>
          </a:ln>
        </p:spPr>
        <p:txBody>
          <a:bodyPr wrap="square" lIns="72000" tIns="72000" rIns="72000" bIns="72000" rtlCol="0" anchor="ctr" anchorCtr="0">
            <a:noAutofit/>
          </a:bodyPr>
          <a:lstStyle/>
          <a:p>
            <a:pPr marL="0" marR="0" lvl="0" indent="0" algn="just" defTabSz="914342"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Verdana"/>
                <a:ea typeface="+mn-ea"/>
                <a:cs typeface="+mn-cs"/>
              </a:rPr>
              <a:t>As can be seen from above, plants like </a:t>
            </a:r>
            <a:r>
              <a:rPr kumimoji="0" lang="en-US" sz="1400" b="0" i="1" u="none" strike="noStrike" kern="1200" cap="none" spc="0" normalizeH="0" baseline="0" noProof="0" dirty="0" err="1">
                <a:ln>
                  <a:noFill/>
                </a:ln>
                <a:solidFill>
                  <a:prstClr val="black"/>
                </a:solidFill>
                <a:effectLst/>
                <a:uLnTx/>
                <a:uFillTx/>
                <a:latin typeface="Verdana"/>
                <a:ea typeface="+mn-ea"/>
                <a:cs typeface="+mn-cs"/>
              </a:rPr>
              <a:t>Kolaghat</a:t>
            </a:r>
            <a:r>
              <a:rPr kumimoji="0" lang="en-US" sz="1400" b="0" i="1" u="none" strike="noStrike" kern="1200" cap="none" spc="0" normalizeH="0" baseline="0" noProof="0" dirty="0">
                <a:ln>
                  <a:noFill/>
                </a:ln>
                <a:solidFill>
                  <a:prstClr val="black"/>
                </a:solidFill>
                <a:effectLst/>
                <a:uLnTx/>
                <a:uFillTx/>
                <a:latin typeface="Verdana"/>
                <a:ea typeface="+mn-ea"/>
                <a:cs typeface="+mn-cs"/>
              </a:rPr>
              <a:t> and </a:t>
            </a:r>
            <a:r>
              <a:rPr kumimoji="0" lang="en-US" sz="1400" b="0" i="1" u="none" strike="noStrike" kern="1200" cap="none" spc="0" normalizeH="0" baseline="0" noProof="0" dirty="0" err="1">
                <a:ln>
                  <a:noFill/>
                </a:ln>
                <a:solidFill>
                  <a:prstClr val="black"/>
                </a:solidFill>
                <a:effectLst/>
                <a:uLnTx/>
                <a:uFillTx/>
                <a:latin typeface="Verdana"/>
                <a:ea typeface="+mn-ea"/>
                <a:cs typeface="+mn-cs"/>
              </a:rPr>
              <a:t>Bandel</a:t>
            </a:r>
            <a:r>
              <a:rPr kumimoji="0" lang="en-US" sz="1400" b="0" i="1" u="none" strike="noStrike" kern="1200" cap="none" spc="0" normalizeH="0" baseline="0" noProof="0" dirty="0">
                <a:ln>
                  <a:noFill/>
                </a:ln>
                <a:solidFill>
                  <a:prstClr val="black"/>
                </a:solidFill>
                <a:effectLst/>
                <a:uLnTx/>
                <a:uFillTx/>
                <a:latin typeface="Verdana"/>
                <a:ea typeface="+mn-ea"/>
                <a:cs typeface="+mn-cs"/>
              </a:rPr>
              <a:t> have comparatively higher Energy Charge rate; whereas actual PLF of these plants are relatively much lower than the other plants; thereby decommissioning of such plant units may be deliberated to reduce burden of Variable Cost on WBSEDCL</a:t>
            </a:r>
          </a:p>
        </p:txBody>
      </p:sp>
      <p:sp>
        <p:nvSpPr>
          <p:cNvPr id="30" name="TextBox 29">
            <a:extLst>
              <a:ext uri="{FF2B5EF4-FFF2-40B4-BE49-F238E27FC236}">
                <a16:creationId xmlns:a16="http://schemas.microsoft.com/office/drawing/2014/main" id="{2F3164BA-D0B1-4510-8F2F-49EE025C3DFB}"/>
              </a:ext>
            </a:extLst>
          </p:cNvPr>
          <p:cNvSpPr txBox="1"/>
          <p:nvPr/>
        </p:nvSpPr>
        <p:spPr>
          <a:xfrm>
            <a:off x="3004458" y="6506351"/>
            <a:ext cx="8403771" cy="307777"/>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1" i="1" u="none" strike="noStrike" kern="1200" cap="none" spc="0" normalizeH="0" baseline="0" noProof="0" dirty="0">
                <a:ln>
                  <a:noFill/>
                </a:ln>
                <a:solidFill>
                  <a:srgbClr val="313131"/>
                </a:solidFill>
                <a:effectLst/>
                <a:uLnTx/>
                <a:uFillTx/>
                <a:latin typeface="Verdana"/>
                <a:ea typeface="+mn-ea"/>
                <a:cs typeface="+mn-cs"/>
              </a:rPr>
              <a:t>Source:</a:t>
            </a:r>
            <a:r>
              <a:rPr kumimoji="0" lang="en-US" sz="1000" b="0" i="1" u="none" strike="noStrike" kern="1200" cap="none" spc="0" normalizeH="0" baseline="0" noProof="0" dirty="0">
                <a:ln>
                  <a:noFill/>
                </a:ln>
                <a:solidFill>
                  <a:srgbClr val="313131"/>
                </a:solidFill>
                <a:effectLst/>
                <a:uLnTx/>
                <a:uFillTx/>
                <a:latin typeface="Verdana"/>
                <a:ea typeface="+mn-ea"/>
                <a:cs typeface="+mn-cs"/>
              </a:rPr>
              <a:t> 1)Actual figures from Tariff Petition for FY 2020-21, 2021-22, 2022-23. 2) Admitted figures from respective Tariff Order FY 2018-19,2019-20</a:t>
            </a:r>
          </a:p>
        </p:txBody>
      </p:sp>
      <p:graphicFrame>
        <p:nvGraphicFramePr>
          <p:cNvPr id="17" name="Table 20">
            <a:extLst>
              <a:ext uri="{FF2B5EF4-FFF2-40B4-BE49-F238E27FC236}">
                <a16:creationId xmlns:a16="http://schemas.microsoft.com/office/drawing/2014/main" id="{F6C3C9B6-3BB0-4D5F-A827-81B8A310DCBC}"/>
              </a:ext>
            </a:extLst>
          </p:cNvPr>
          <p:cNvGraphicFramePr>
            <a:graphicFrameLocks noGrp="1"/>
          </p:cNvGraphicFramePr>
          <p:nvPr/>
        </p:nvGraphicFramePr>
        <p:xfrm>
          <a:off x="6805915" y="1201812"/>
          <a:ext cx="4971974" cy="3703320"/>
        </p:xfrm>
        <a:graphic>
          <a:graphicData uri="http://schemas.openxmlformats.org/drawingml/2006/table">
            <a:tbl>
              <a:tblPr firstRow="1" bandRow="1">
                <a:tableStyleId>{5C22544A-7EE6-4342-B048-85BDC9FD1C3A}</a:tableStyleId>
              </a:tblPr>
              <a:tblGrid>
                <a:gridCol w="1042685">
                  <a:extLst>
                    <a:ext uri="{9D8B030D-6E8A-4147-A177-3AD203B41FA5}">
                      <a16:colId xmlns:a16="http://schemas.microsoft.com/office/drawing/2014/main" val="3650519840"/>
                    </a:ext>
                  </a:extLst>
                </a:gridCol>
                <a:gridCol w="1114425">
                  <a:extLst>
                    <a:ext uri="{9D8B030D-6E8A-4147-A177-3AD203B41FA5}">
                      <a16:colId xmlns:a16="http://schemas.microsoft.com/office/drawing/2014/main" val="1313881584"/>
                    </a:ext>
                  </a:extLst>
                </a:gridCol>
                <a:gridCol w="1292345">
                  <a:extLst>
                    <a:ext uri="{9D8B030D-6E8A-4147-A177-3AD203B41FA5}">
                      <a16:colId xmlns:a16="http://schemas.microsoft.com/office/drawing/2014/main" val="2812589587"/>
                    </a:ext>
                  </a:extLst>
                </a:gridCol>
                <a:gridCol w="1522519">
                  <a:extLst>
                    <a:ext uri="{9D8B030D-6E8A-4147-A177-3AD203B41FA5}">
                      <a16:colId xmlns:a16="http://schemas.microsoft.com/office/drawing/2014/main" val="4070018851"/>
                    </a:ext>
                  </a:extLst>
                </a:gridCol>
              </a:tblGrid>
              <a:tr h="366235">
                <a:tc>
                  <a:txBody>
                    <a:bodyPr/>
                    <a:lstStyle/>
                    <a:p>
                      <a:pPr algn="ctr"/>
                      <a:r>
                        <a:rPr lang="en-US" sz="900" dirty="0">
                          <a:latin typeface="+mj-lt"/>
                        </a:rPr>
                        <a:t>Plant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900" dirty="0">
                          <a:latin typeface="+mj-lt"/>
                        </a:rPr>
                        <a:t>Admitted Energy Charge Rate</a:t>
                      </a:r>
                    </a:p>
                    <a:p>
                      <a:pPr algn="ctr"/>
                      <a:r>
                        <a:rPr lang="en-US" sz="900" dirty="0">
                          <a:latin typeface="+mj-lt"/>
                        </a:rPr>
                        <a:t>(INR/kWh)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900" dirty="0">
                          <a:latin typeface="+mj-lt"/>
                        </a:rPr>
                        <a:t>Variable Cost allowed based on Admitted Energy charge rate (INR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a:r>
                        <a:rPr lang="en-US" sz="900" dirty="0">
                          <a:latin typeface="+mj-lt"/>
                        </a:rPr>
                        <a:t>Allowed Variable Cost without </a:t>
                      </a:r>
                      <a:r>
                        <a:rPr lang="en-US" sz="900" dirty="0" err="1">
                          <a:latin typeface="+mj-lt"/>
                        </a:rPr>
                        <a:t>Kolaghat</a:t>
                      </a:r>
                      <a:r>
                        <a:rPr lang="en-US" sz="900" dirty="0">
                          <a:latin typeface="+mj-lt"/>
                        </a:rPr>
                        <a:t> and </a:t>
                      </a:r>
                      <a:r>
                        <a:rPr lang="en-US" sz="900" dirty="0" err="1">
                          <a:latin typeface="+mj-lt"/>
                        </a:rPr>
                        <a:t>Bandel</a:t>
                      </a:r>
                      <a:endParaRPr lang="en-US" sz="9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727424852"/>
                  </a:ext>
                </a:extLst>
              </a:tr>
              <a:tr h="0">
                <a:tc>
                  <a:txBody>
                    <a:bodyPr/>
                    <a:lstStyle/>
                    <a:p>
                      <a:r>
                        <a:rPr lang="en-US" sz="900" b="1" dirty="0" err="1">
                          <a:solidFill>
                            <a:srgbClr val="DA291C"/>
                          </a:solidFill>
                          <a:latin typeface="+mj-lt"/>
                        </a:rPr>
                        <a:t>Kolaghat</a:t>
                      </a:r>
                      <a:r>
                        <a:rPr lang="en-US" sz="900" b="1" dirty="0">
                          <a:solidFill>
                            <a:srgbClr val="DA291C"/>
                          </a:solidFill>
                          <a:latin typeface="+mj-lt"/>
                        </a:rPr>
                        <a:t> (Unit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219231" rtl="0" eaLnBrk="1" fontAlgn="b" latinLnBrk="0" hangingPunct="1"/>
                      <a:r>
                        <a:rPr lang="en-US" sz="900" b="1" kern="1200" dirty="0">
                          <a:solidFill>
                            <a:srgbClr val="DA291C"/>
                          </a:solidFill>
                          <a:latin typeface="+mj-lt"/>
                          <a:ea typeface="+mn-ea"/>
                          <a:cs typeface="+mn-cs"/>
                        </a:rPr>
                        <a:t>3.50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219231" rtl="0" eaLnBrk="1" fontAlgn="b" latinLnBrk="0" hangingPunct="1"/>
                      <a:r>
                        <a:rPr lang="en-US" sz="900" b="1" kern="1200" dirty="0">
                          <a:solidFill>
                            <a:srgbClr val="DA291C"/>
                          </a:solidFill>
                          <a:latin typeface="+mj-lt"/>
                          <a:ea typeface="+mn-ea"/>
                          <a:cs typeface="+mn-cs"/>
                        </a:rPr>
                        <a:t>294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219231" rtl="0" eaLnBrk="1" fontAlgn="b" latinLnBrk="0" hangingPunct="1"/>
                      <a:endParaRPr lang="en-US" sz="900" b="1" kern="1200" dirty="0">
                        <a:solidFill>
                          <a:srgbClr val="DA291C"/>
                        </a:solidFill>
                        <a:latin typeface="+mj-lt"/>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37017309"/>
                  </a:ext>
                </a:extLst>
              </a:tr>
              <a:tr h="0">
                <a:tc>
                  <a:txBody>
                    <a:bodyPr/>
                    <a:lstStyle/>
                    <a:p>
                      <a:r>
                        <a:rPr lang="en-US" sz="900" b="0" dirty="0" err="1">
                          <a:solidFill>
                            <a:schemeClr val="tx1"/>
                          </a:solidFill>
                          <a:latin typeface="+mj-lt"/>
                        </a:rPr>
                        <a:t>Kolaghat</a:t>
                      </a:r>
                      <a:r>
                        <a:rPr lang="en-US" sz="900" b="0" dirty="0">
                          <a:solidFill>
                            <a:schemeClr val="tx1"/>
                          </a:solidFill>
                          <a:latin typeface="+mj-lt"/>
                        </a:rPr>
                        <a:t> (Unit 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219231" rtl="0" eaLnBrk="1" fontAlgn="b" latinLnBrk="0" hangingPunct="1"/>
                      <a:r>
                        <a:rPr lang="en-US" sz="900" b="0" kern="1200" dirty="0">
                          <a:solidFill>
                            <a:schemeClr val="tx1"/>
                          </a:solidFill>
                          <a:latin typeface="+mj-lt"/>
                          <a:ea typeface="+mn-ea"/>
                          <a:cs typeface="+mn-cs"/>
                        </a:rPr>
                        <a:t>3.50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219231" rtl="0" eaLnBrk="1" fontAlgn="b" latinLnBrk="0" hangingPunct="1"/>
                      <a:r>
                        <a:rPr lang="en-US" sz="900" b="0" kern="1200" dirty="0">
                          <a:solidFill>
                            <a:schemeClr val="tx1"/>
                          </a:solidFill>
                          <a:latin typeface="+mj-lt"/>
                          <a:ea typeface="+mn-ea"/>
                          <a:cs typeface="+mn-cs"/>
                        </a:rPr>
                        <a:t>587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219231" rtl="0" eaLnBrk="1" fontAlgn="b" latinLnBrk="0" hangingPunct="1"/>
                      <a:r>
                        <a:rPr lang="en-US" sz="900" b="0" kern="1200" dirty="0">
                          <a:solidFill>
                            <a:schemeClr val="tx1"/>
                          </a:solidFill>
                          <a:latin typeface="+mj-lt"/>
                          <a:ea typeface="+mn-ea"/>
                          <a:cs typeface="+mn-cs"/>
                        </a:rPr>
                        <a:t>587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6788049"/>
                  </a:ext>
                </a:extLst>
              </a:tr>
              <a:tr h="0">
                <a:tc>
                  <a:txBody>
                    <a:bodyPr/>
                    <a:lstStyle/>
                    <a:p>
                      <a:r>
                        <a:rPr lang="en-US" sz="900" dirty="0" err="1">
                          <a:latin typeface="+mj-lt"/>
                        </a:rPr>
                        <a:t>Bakreswar</a:t>
                      </a:r>
                      <a:endParaRPr lang="en-US" sz="9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2.56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1,628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1,628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1697303"/>
                  </a:ext>
                </a:extLst>
              </a:tr>
              <a:tr h="169095">
                <a:tc>
                  <a:txBody>
                    <a:bodyPr/>
                    <a:lstStyle/>
                    <a:p>
                      <a:r>
                        <a:rPr lang="en-US" sz="900" b="1" dirty="0" err="1">
                          <a:solidFill>
                            <a:srgbClr val="DA291C"/>
                          </a:solidFill>
                          <a:latin typeface="+mj-lt"/>
                        </a:rPr>
                        <a:t>Bandel</a:t>
                      </a:r>
                      <a:r>
                        <a:rPr lang="en-US" sz="900" b="1" dirty="0">
                          <a:solidFill>
                            <a:srgbClr val="DA291C"/>
                          </a:solidFill>
                          <a:latin typeface="+mj-lt"/>
                        </a:rPr>
                        <a:t> I (Unit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1" kern="1200" dirty="0">
                          <a:solidFill>
                            <a:srgbClr val="DA291C"/>
                          </a:solidFill>
                          <a:latin typeface="+mj-lt"/>
                          <a:ea typeface="+mn-ea"/>
                          <a:cs typeface="+mn-cs"/>
                        </a:rPr>
                        <a:t>3.74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1" kern="1200" dirty="0">
                          <a:solidFill>
                            <a:srgbClr val="DA291C"/>
                          </a:solidFill>
                          <a:latin typeface="+mj-lt"/>
                          <a:ea typeface="+mn-ea"/>
                          <a:cs typeface="+mn-cs"/>
                        </a:rPr>
                        <a:t>87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1" kern="1200" dirty="0">
                          <a:solidFill>
                            <a:srgbClr val="DA291C"/>
                          </a:solidFill>
                          <a:latin typeface="+mj-lt"/>
                          <a:ea typeface="+mn-ea"/>
                          <a:cs typeface="+mn-cs"/>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9239507"/>
                  </a:ext>
                </a:extLst>
              </a:tr>
              <a:tr h="169095">
                <a:tc>
                  <a:txBody>
                    <a:bodyPr/>
                    <a:lstStyle/>
                    <a:p>
                      <a:r>
                        <a:rPr lang="en-US" sz="900" b="0" dirty="0" err="1">
                          <a:solidFill>
                            <a:schemeClr val="tx1"/>
                          </a:solidFill>
                          <a:latin typeface="+mj-lt"/>
                        </a:rPr>
                        <a:t>Bandel</a:t>
                      </a:r>
                      <a:r>
                        <a:rPr lang="en-US" sz="900" b="0" dirty="0">
                          <a:solidFill>
                            <a:schemeClr val="tx1"/>
                          </a:solidFill>
                          <a:latin typeface="+mj-lt"/>
                        </a:rPr>
                        <a:t> II</a:t>
                      </a:r>
                    </a:p>
                    <a:p>
                      <a:r>
                        <a:rPr lang="en-US" sz="900" b="0" dirty="0">
                          <a:solidFill>
                            <a:schemeClr val="tx1"/>
                          </a:solidFill>
                          <a:latin typeface="+mj-lt"/>
                        </a:rPr>
                        <a:t>(Unit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kern="1200" dirty="0">
                          <a:solidFill>
                            <a:schemeClr val="tx1"/>
                          </a:solidFill>
                          <a:latin typeface="+mj-lt"/>
                          <a:ea typeface="+mn-ea"/>
                          <a:cs typeface="+mn-cs"/>
                        </a:rPr>
                        <a:t>2.92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kern="1200" dirty="0">
                          <a:solidFill>
                            <a:schemeClr val="tx1"/>
                          </a:solidFill>
                          <a:latin typeface="+mj-lt"/>
                          <a:ea typeface="+mn-ea"/>
                          <a:cs typeface="+mn-cs"/>
                        </a:rPr>
                        <a:t>153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kern="1200" dirty="0">
                          <a:solidFill>
                            <a:schemeClr val="tx1"/>
                          </a:solidFill>
                          <a:latin typeface="+mj-lt"/>
                          <a:ea typeface="+mn-ea"/>
                          <a:cs typeface="+mn-cs"/>
                        </a:rPr>
                        <a:t>153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9093360"/>
                  </a:ext>
                </a:extLst>
              </a:tr>
              <a:tr h="0">
                <a:tc>
                  <a:txBody>
                    <a:bodyPr/>
                    <a:lstStyle/>
                    <a:p>
                      <a:r>
                        <a:rPr lang="en-US" sz="900" dirty="0" err="1">
                          <a:latin typeface="+mj-lt"/>
                        </a:rPr>
                        <a:t>Santaldih</a:t>
                      </a:r>
                      <a:endParaRPr lang="en-US" sz="9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2.87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972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972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5808642"/>
                  </a:ext>
                </a:extLst>
              </a:tr>
              <a:tr h="0">
                <a:tc>
                  <a:txBody>
                    <a:bodyPr/>
                    <a:lstStyle/>
                    <a:p>
                      <a:r>
                        <a:rPr lang="en-US" sz="900" dirty="0" err="1">
                          <a:latin typeface="+mj-lt"/>
                        </a:rPr>
                        <a:t>Sagardighi</a:t>
                      </a:r>
                      <a:r>
                        <a:rPr lang="en-US" sz="900" dirty="0">
                          <a:latin typeface="+mj-lt"/>
                        </a:rPr>
                        <a:t> 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2.69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614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614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633195"/>
                  </a:ext>
                </a:extLst>
              </a:tr>
              <a:tr h="0">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900" dirty="0" err="1">
                          <a:latin typeface="+mj-lt"/>
                        </a:rPr>
                        <a:t>Sagardighi</a:t>
                      </a:r>
                      <a:r>
                        <a:rPr lang="en-US" sz="900" dirty="0">
                          <a:latin typeface="+mj-lt"/>
                        </a:rPr>
                        <a:t> 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2.62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998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0" i="0" u="none" strike="noStrike" dirty="0">
                          <a:solidFill>
                            <a:srgbClr val="000000"/>
                          </a:solidFill>
                          <a:effectLst/>
                          <a:latin typeface="+mj-lt"/>
                        </a:rPr>
                        <a:t>998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5917497"/>
                  </a:ext>
                </a:extLst>
              </a:tr>
              <a:tr h="0">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endParaRPr lang="en-US" sz="9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9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1" i="0" u="none" strike="noStrike" dirty="0">
                          <a:solidFill>
                            <a:srgbClr val="000000"/>
                          </a:solidFill>
                          <a:effectLst/>
                          <a:latin typeface="+mj-lt"/>
                        </a:rPr>
                        <a:t>5,332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00" b="1" i="0" u="none" strike="noStrike" dirty="0">
                          <a:solidFill>
                            <a:srgbClr val="046A38"/>
                          </a:solidFill>
                          <a:effectLst/>
                          <a:latin typeface="+mj-lt"/>
                        </a:rPr>
                        <a:t>4,952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509364"/>
                  </a:ext>
                </a:extLst>
              </a:tr>
              <a:tr h="0">
                <a:tc gridSpan="2">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900" dirty="0">
                          <a:latin typeface="+mj-lt"/>
                        </a:rPr>
                        <a:t>Total Units sold by WBSEDCL in FY 2019-20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fontAlgn="b"/>
                      <a:endParaRPr lang="en-US" sz="12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fontAlgn="b"/>
                      <a:r>
                        <a:rPr kumimoji="0" lang="en-US" sz="900" b="0" i="0" u="none" strike="noStrike" kern="1200" cap="none" spc="0" normalizeH="0" baseline="0" noProof="0" dirty="0">
                          <a:ln>
                            <a:noFill/>
                          </a:ln>
                          <a:solidFill>
                            <a:srgbClr val="313131"/>
                          </a:solidFill>
                          <a:effectLst/>
                          <a:uLnTx/>
                          <a:uFillTx/>
                          <a:latin typeface="+mj-lt"/>
                          <a:ea typeface="+mn-ea"/>
                          <a:cs typeface="+mn-cs"/>
                        </a:rPr>
                        <a:t>30599 Mus</a:t>
                      </a:r>
                      <a:endParaRPr lang="en-US" sz="9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fontAlgn="b"/>
                      <a:endParaRPr lang="en-US" sz="1200" b="1" i="0" u="none" strike="noStrike" dirty="0">
                        <a:solidFill>
                          <a:srgbClr val="046A38"/>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790212"/>
                  </a:ext>
                </a:extLst>
              </a:tr>
              <a:tr h="0">
                <a:tc gridSpan="2">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900" dirty="0">
                          <a:latin typeface="+mj-lt"/>
                        </a:rPr>
                        <a:t>Total Savings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fontAlgn="b"/>
                      <a:endParaRPr lang="en-US" sz="12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fontAlgn="b"/>
                      <a:r>
                        <a:rPr lang="en-US" sz="900" b="1" i="0" u="none" strike="noStrike" dirty="0">
                          <a:solidFill>
                            <a:srgbClr val="000000"/>
                          </a:solidFill>
                          <a:effectLst/>
                          <a:latin typeface="+mj-lt"/>
                        </a:rPr>
                        <a:t>INR 0.12/kWh</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fontAlgn="b"/>
                      <a:endParaRPr lang="en-US" sz="1200" b="1" i="0" u="none" strike="noStrike" dirty="0">
                        <a:solidFill>
                          <a:srgbClr val="046A38"/>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441384"/>
                  </a:ext>
                </a:extLst>
              </a:tr>
            </a:tbl>
          </a:graphicData>
        </a:graphic>
      </p:graphicFrame>
      <p:sp>
        <p:nvSpPr>
          <p:cNvPr id="19" name="Arrow: Right 18">
            <a:extLst>
              <a:ext uri="{FF2B5EF4-FFF2-40B4-BE49-F238E27FC236}">
                <a16:creationId xmlns:a16="http://schemas.microsoft.com/office/drawing/2014/main" id="{0EB3C58C-107D-4AB4-B38B-8AA3DD14BE28}"/>
              </a:ext>
            </a:extLst>
          </p:cNvPr>
          <p:cNvSpPr/>
          <p:nvPr/>
        </p:nvSpPr>
        <p:spPr bwMode="gray">
          <a:xfrm>
            <a:off x="8728518" y="4703080"/>
            <a:ext cx="452699" cy="231678"/>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31" name="Group 30">
            <a:extLst>
              <a:ext uri="{FF2B5EF4-FFF2-40B4-BE49-F238E27FC236}">
                <a16:creationId xmlns:a16="http://schemas.microsoft.com/office/drawing/2014/main" id="{743A939A-F1EF-4A9F-AF0B-049FA2E3B604}"/>
              </a:ext>
            </a:extLst>
          </p:cNvPr>
          <p:cNvGrpSpPr/>
          <p:nvPr/>
        </p:nvGrpSpPr>
        <p:grpSpPr>
          <a:xfrm>
            <a:off x="414110" y="1201812"/>
            <a:ext cx="6139090" cy="4114800"/>
            <a:chOff x="501652" y="990656"/>
            <a:chExt cx="6628990" cy="2436789"/>
          </a:xfrm>
        </p:grpSpPr>
        <p:graphicFrame>
          <p:nvGraphicFramePr>
            <p:cNvPr id="32" name="Chart 31">
              <a:extLst>
                <a:ext uri="{FF2B5EF4-FFF2-40B4-BE49-F238E27FC236}">
                  <a16:creationId xmlns:a16="http://schemas.microsoft.com/office/drawing/2014/main" id="{65E843EB-A8EA-4B8A-8C71-84EC1264A331}"/>
                </a:ext>
              </a:extLst>
            </p:cNvPr>
            <p:cNvGraphicFramePr/>
            <p:nvPr/>
          </p:nvGraphicFramePr>
          <p:xfrm>
            <a:off x="501652" y="990656"/>
            <a:ext cx="6628990" cy="2436789"/>
          </p:xfrm>
          <a:graphic>
            <a:graphicData uri="http://schemas.openxmlformats.org/drawingml/2006/chart">
              <c:chart xmlns:c="http://schemas.openxmlformats.org/drawingml/2006/chart" xmlns:r="http://schemas.openxmlformats.org/officeDocument/2006/relationships" r:id="rId5"/>
            </a:graphicData>
          </a:graphic>
        </p:graphicFrame>
        <p:cxnSp>
          <p:nvCxnSpPr>
            <p:cNvPr id="35" name="Straight Arrow Connector 34">
              <a:extLst>
                <a:ext uri="{FF2B5EF4-FFF2-40B4-BE49-F238E27FC236}">
                  <a16:creationId xmlns:a16="http://schemas.microsoft.com/office/drawing/2014/main" id="{33EF4CEE-AD9F-468B-A790-0E990FF74852}"/>
                </a:ext>
              </a:extLst>
            </p:cNvPr>
            <p:cNvCxnSpPr>
              <a:cxnSpLocks/>
            </p:cNvCxnSpPr>
            <p:nvPr/>
          </p:nvCxnSpPr>
          <p:spPr>
            <a:xfrm>
              <a:off x="5331218" y="1905824"/>
              <a:ext cx="0" cy="562110"/>
            </a:xfrm>
            <a:prstGeom prst="straightConnector1">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0154C462-60B1-4A0C-B309-B3A87AF61A07}"/>
                </a:ext>
              </a:extLst>
            </p:cNvPr>
            <p:cNvSpPr/>
            <p:nvPr/>
          </p:nvSpPr>
          <p:spPr bwMode="gray">
            <a:xfrm>
              <a:off x="4812511" y="990656"/>
              <a:ext cx="1974654" cy="2151789"/>
            </a:xfrm>
            <a:prstGeom prst="roundRect">
              <a:avLst/>
            </a:prstGeom>
            <a:noFill/>
            <a:ln>
              <a:solidFill>
                <a:srgbClr val="FF0000"/>
              </a:solidFill>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grpSp>
      <p:cxnSp>
        <p:nvCxnSpPr>
          <p:cNvPr id="39" name="Straight Arrow Connector 38">
            <a:extLst>
              <a:ext uri="{FF2B5EF4-FFF2-40B4-BE49-F238E27FC236}">
                <a16:creationId xmlns:a16="http://schemas.microsoft.com/office/drawing/2014/main" id="{AFC71674-900A-4C2F-A3DA-BBC203DEE9E0}"/>
              </a:ext>
            </a:extLst>
          </p:cNvPr>
          <p:cNvCxnSpPr>
            <a:cxnSpLocks/>
          </p:cNvCxnSpPr>
          <p:nvPr/>
        </p:nvCxnSpPr>
        <p:spPr>
          <a:xfrm>
            <a:off x="5793695" y="2726268"/>
            <a:ext cx="0" cy="995806"/>
          </a:xfrm>
          <a:prstGeom prst="straightConnector1">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B805A438-12C3-441E-A2F6-3C51C8E27CB6}"/>
              </a:ext>
            </a:extLst>
          </p:cNvPr>
          <p:cNvSpPr/>
          <p:nvPr/>
        </p:nvSpPr>
        <p:spPr bwMode="gray">
          <a:xfrm>
            <a:off x="9433932" y="4621214"/>
            <a:ext cx="1717288" cy="431045"/>
          </a:xfrm>
          <a:prstGeom prst="ellipse">
            <a:avLst/>
          </a:prstGeom>
          <a:noFill/>
          <a:ln>
            <a:solidFill>
              <a:schemeClr val="accent3"/>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428443877"/>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Reduction of Fixed Cost Obligation on WBSEDCL through decommissioning of relatively older plants of WBPDCL maintaining same ROE</a:t>
            </a:r>
          </a:p>
        </p:txBody>
      </p:sp>
      <p:sp>
        <p:nvSpPr>
          <p:cNvPr id="22" name="TextBox 21">
            <a:extLst>
              <a:ext uri="{FF2B5EF4-FFF2-40B4-BE49-F238E27FC236}">
                <a16:creationId xmlns:a16="http://schemas.microsoft.com/office/drawing/2014/main" id="{62DDA96D-FBEF-473D-A04D-89B6D7F7CEF5}"/>
              </a:ext>
            </a:extLst>
          </p:cNvPr>
          <p:cNvSpPr txBox="1"/>
          <p:nvPr/>
        </p:nvSpPr>
        <p:spPr>
          <a:xfrm>
            <a:off x="3178629" y="6553198"/>
            <a:ext cx="8294914" cy="307777"/>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1" i="1" u="none" strike="noStrike" kern="1200" cap="none" spc="0" normalizeH="0" baseline="0" noProof="0" dirty="0">
                <a:ln>
                  <a:noFill/>
                </a:ln>
                <a:solidFill>
                  <a:srgbClr val="313131"/>
                </a:solidFill>
                <a:effectLst/>
                <a:uLnTx/>
                <a:uFillTx/>
                <a:latin typeface="Verdana"/>
                <a:ea typeface="+mn-ea"/>
                <a:cs typeface="+mn-cs"/>
              </a:rPr>
              <a:t>Source:</a:t>
            </a:r>
            <a:r>
              <a:rPr kumimoji="0" lang="en-US" sz="1000" b="0" i="1" u="none" strike="noStrike" kern="1200" cap="none" spc="0" normalizeH="0" baseline="0" noProof="0" dirty="0">
                <a:ln>
                  <a:noFill/>
                </a:ln>
                <a:solidFill>
                  <a:srgbClr val="313131"/>
                </a:solidFill>
                <a:effectLst/>
                <a:uLnTx/>
                <a:uFillTx/>
                <a:latin typeface="Verdana"/>
                <a:ea typeface="+mn-ea"/>
                <a:cs typeface="+mn-cs"/>
              </a:rPr>
              <a:t> For FY 2019-20 1)Actual figures from Tariff Petition for FY 2020-21, 2021-22, 2022-23. 2) Admitted figures from respective Tariff Order FY 2018-19,2019-20. 3) COD dates from WBPDCL</a:t>
            </a:r>
          </a:p>
        </p:txBody>
      </p:sp>
      <p:graphicFrame>
        <p:nvGraphicFramePr>
          <p:cNvPr id="4" name="Table 3">
            <a:extLst>
              <a:ext uri="{FF2B5EF4-FFF2-40B4-BE49-F238E27FC236}">
                <a16:creationId xmlns:a16="http://schemas.microsoft.com/office/drawing/2014/main" id="{F0646721-3E0E-4B43-B2BC-98E2A2590CF2}"/>
              </a:ext>
            </a:extLst>
          </p:cNvPr>
          <p:cNvGraphicFramePr>
            <a:graphicFrameLocks noGrp="1"/>
          </p:cNvGraphicFramePr>
          <p:nvPr/>
        </p:nvGraphicFramePr>
        <p:xfrm>
          <a:off x="501652" y="1244249"/>
          <a:ext cx="10971890" cy="2499030"/>
        </p:xfrm>
        <a:graphic>
          <a:graphicData uri="http://schemas.openxmlformats.org/drawingml/2006/table">
            <a:tbl>
              <a:tblPr/>
              <a:tblGrid>
                <a:gridCol w="2265930">
                  <a:extLst>
                    <a:ext uri="{9D8B030D-6E8A-4147-A177-3AD203B41FA5}">
                      <a16:colId xmlns:a16="http://schemas.microsoft.com/office/drawing/2014/main" val="835680873"/>
                    </a:ext>
                  </a:extLst>
                </a:gridCol>
                <a:gridCol w="1088245">
                  <a:extLst>
                    <a:ext uri="{9D8B030D-6E8A-4147-A177-3AD203B41FA5}">
                      <a16:colId xmlns:a16="http://schemas.microsoft.com/office/drawing/2014/main" val="2697891849"/>
                    </a:ext>
                  </a:extLst>
                </a:gridCol>
                <a:gridCol w="1088245">
                  <a:extLst>
                    <a:ext uri="{9D8B030D-6E8A-4147-A177-3AD203B41FA5}">
                      <a16:colId xmlns:a16="http://schemas.microsoft.com/office/drawing/2014/main" val="2886322091"/>
                    </a:ext>
                  </a:extLst>
                </a:gridCol>
                <a:gridCol w="1088245">
                  <a:extLst>
                    <a:ext uri="{9D8B030D-6E8A-4147-A177-3AD203B41FA5}">
                      <a16:colId xmlns:a16="http://schemas.microsoft.com/office/drawing/2014/main" val="3536342282"/>
                    </a:ext>
                  </a:extLst>
                </a:gridCol>
                <a:gridCol w="1088245">
                  <a:extLst>
                    <a:ext uri="{9D8B030D-6E8A-4147-A177-3AD203B41FA5}">
                      <a16:colId xmlns:a16="http://schemas.microsoft.com/office/drawing/2014/main" val="3931282145"/>
                    </a:ext>
                  </a:extLst>
                </a:gridCol>
                <a:gridCol w="1088245">
                  <a:extLst>
                    <a:ext uri="{9D8B030D-6E8A-4147-A177-3AD203B41FA5}">
                      <a16:colId xmlns:a16="http://schemas.microsoft.com/office/drawing/2014/main" val="38486819"/>
                    </a:ext>
                  </a:extLst>
                </a:gridCol>
                <a:gridCol w="1088245">
                  <a:extLst>
                    <a:ext uri="{9D8B030D-6E8A-4147-A177-3AD203B41FA5}">
                      <a16:colId xmlns:a16="http://schemas.microsoft.com/office/drawing/2014/main" val="3146757375"/>
                    </a:ext>
                  </a:extLst>
                </a:gridCol>
                <a:gridCol w="1088245">
                  <a:extLst>
                    <a:ext uri="{9D8B030D-6E8A-4147-A177-3AD203B41FA5}">
                      <a16:colId xmlns:a16="http://schemas.microsoft.com/office/drawing/2014/main" val="940675995"/>
                    </a:ext>
                  </a:extLst>
                </a:gridCol>
                <a:gridCol w="1088245">
                  <a:extLst>
                    <a:ext uri="{9D8B030D-6E8A-4147-A177-3AD203B41FA5}">
                      <a16:colId xmlns:a16="http://schemas.microsoft.com/office/drawing/2014/main" val="2469190872"/>
                    </a:ext>
                  </a:extLst>
                </a:gridCol>
              </a:tblGrid>
              <a:tr h="1080935">
                <a:tc>
                  <a:txBody>
                    <a:bodyPr/>
                    <a:lstStyle/>
                    <a:p>
                      <a:pPr algn="l" fontAlgn="ctr"/>
                      <a:r>
                        <a:rPr lang="en-US" sz="1000" b="1" i="0" u="none" strike="noStrike" dirty="0">
                          <a:solidFill>
                            <a:srgbClr val="FFFFFF"/>
                          </a:solidFill>
                          <a:effectLst/>
                          <a:latin typeface="+mj-lt"/>
                        </a:rPr>
                        <a:t>Name of WBPDCL Plants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000" b="1" i="0" u="none" strike="noStrike" dirty="0">
                          <a:solidFill>
                            <a:srgbClr val="FFFFFF"/>
                          </a:solidFill>
                          <a:effectLst/>
                          <a:latin typeface="+mj-lt"/>
                        </a:rPr>
                        <a:t>Actual PLF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000" b="1" i="0" u="none" strike="noStrike" dirty="0">
                          <a:solidFill>
                            <a:srgbClr val="FFFFFF"/>
                          </a:solidFill>
                          <a:effectLst/>
                          <a:latin typeface="+mj-lt"/>
                        </a:rPr>
                        <a:t>Modified PLF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000" b="1" i="0" u="none" strike="noStrike" dirty="0">
                          <a:solidFill>
                            <a:srgbClr val="FFFFFF"/>
                          </a:solidFill>
                          <a:effectLst/>
                          <a:latin typeface="+mj-lt"/>
                        </a:rPr>
                        <a:t>Actual PAF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000" b="1" i="0" u="none" strike="noStrike" dirty="0">
                          <a:solidFill>
                            <a:srgbClr val="FFFFFF"/>
                          </a:solidFill>
                          <a:effectLst/>
                          <a:latin typeface="+mj-lt"/>
                        </a:rPr>
                        <a:t>Modified PAF</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000" b="1" i="0" u="none" strike="noStrike" dirty="0">
                          <a:solidFill>
                            <a:srgbClr val="FFFFFF"/>
                          </a:solidFill>
                          <a:effectLst/>
                          <a:latin typeface="+mj-lt"/>
                        </a:rPr>
                        <a:t>Original Gross Generation including </a:t>
                      </a:r>
                      <a:r>
                        <a:rPr lang="en-US" sz="1000" b="1" i="0" u="none" strike="noStrike" dirty="0" err="1">
                          <a:solidFill>
                            <a:srgbClr val="FFFFFF"/>
                          </a:solidFill>
                          <a:effectLst/>
                          <a:latin typeface="+mj-lt"/>
                        </a:rPr>
                        <a:t>Kolaghat</a:t>
                      </a:r>
                      <a:r>
                        <a:rPr lang="en-US" sz="1000" b="1" i="0" u="none" strike="noStrike" dirty="0">
                          <a:solidFill>
                            <a:srgbClr val="FFFFFF"/>
                          </a:solidFill>
                          <a:effectLst/>
                          <a:latin typeface="+mj-lt"/>
                        </a:rPr>
                        <a:t> and </a:t>
                      </a:r>
                      <a:r>
                        <a:rPr lang="en-US" sz="1000" b="1" i="0" u="none" strike="noStrike" dirty="0" err="1">
                          <a:solidFill>
                            <a:srgbClr val="FFFFFF"/>
                          </a:solidFill>
                          <a:effectLst/>
                          <a:latin typeface="+mj-lt"/>
                        </a:rPr>
                        <a:t>Bandel</a:t>
                      </a:r>
                      <a:r>
                        <a:rPr lang="en-US" sz="1000" b="1" i="0" u="none" strike="noStrike" dirty="0">
                          <a:solidFill>
                            <a:srgbClr val="FFFFFF"/>
                          </a:solidFill>
                          <a:effectLst/>
                          <a:latin typeface="+mj-lt"/>
                        </a:rPr>
                        <a:t> (MU)</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marL="0" marR="0" lvl="0" indent="0" algn="ctr" defTabSz="1219231" rtl="0" eaLnBrk="1" fontAlgn="ctr" latinLnBrk="0" hangingPunct="1">
                        <a:lnSpc>
                          <a:spcPct val="100000"/>
                        </a:lnSpc>
                        <a:spcBef>
                          <a:spcPts val="0"/>
                        </a:spcBef>
                        <a:spcAft>
                          <a:spcPts val="0"/>
                        </a:spcAft>
                        <a:buClrTx/>
                        <a:buSzTx/>
                        <a:buFontTx/>
                        <a:buNone/>
                        <a:tabLst/>
                        <a:defRPr/>
                      </a:pPr>
                      <a:r>
                        <a:rPr lang="en-US" sz="1000" b="1" i="0" u="none" strike="noStrike" kern="1200" dirty="0">
                          <a:solidFill>
                            <a:srgbClr val="FFFFFF"/>
                          </a:solidFill>
                          <a:effectLst/>
                          <a:latin typeface="+mj-lt"/>
                          <a:ea typeface="+mn-ea"/>
                          <a:cs typeface="+mn-cs"/>
                        </a:rPr>
                        <a:t>Modified Gross Generation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000" b="1" i="0" u="none" strike="noStrike" dirty="0">
                          <a:solidFill>
                            <a:srgbClr val="FFFFFF"/>
                          </a:solidFill>
                          <a:effectLst/>
                          <a:latin typeface="+mj-lt"/>
                        </a:rPr>
                        <a:t>Actual  ROE allowed  including </a:t>
                      </a:r>
                      <a:r>
                        <a:rPr lang="en-US" sz="1000" b="1" i="0" u="none" strike="noStrike" dirty="0" err="1">
                          <a:solidFill>
                            <a:srgbClr val="FFFFFF"/>
                          </a:solidFill>
                          <a:effectLst/>
                          <a:latin typeface="+mj-lt"/>
                        </a:rPr>
                        <a:t>Kolaghat</a:t>
                      </a:r>
                      <a:r>
                        <a:rPr lang="en-US" sz="1000" b="1" i="0" u="none" strike="noStrike" dirty="0">
                          <a:solidFill>
                            <a:srgbClr val="FFFFFF"/>
                          </a:solidFill>
                          <a:effectLst/>
                          <a:latin typeface="+mj-lt"/>
                        </a:rPr>
                        <a:t> and </a:t>
                      </a:r>
                      <a:r>
                        <a:rPr lang="en-US" sz="1000" b="1" i="0" u="none" strike="noStrike" dirty="0" err="1">
                          <a:solidFill>
                            <a:srgbClr val="FFFFFF"/>
                          </a:solidFill>
                          <a:effectLst/>
                          <a:latin typeface="+mj-lt"/>
                        </a:rPr>
                        <a:t>Bandel</a:t>
                      </a:r>
                      <a:r>
                        <a:rPr lang="en-US" sz="1000" b="1" i="0" u="none" strike="noStrike" dirty="0">
                          <a:solidFill>
                            <a:srgbClr val="FFFFFF"/>
                          </a:solidFill>
                          <a:effectLst/>
                          <a:latin typeface="+mj-lt"/>
                        </a:rPr>
                        <a:t> (INR Cr)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000" b="1" i="0" u="none" strike="noStrike" dirty="0">
                          <a:solidFill>
                            <a:srgbClr val="FFFFFF"/>
                          </a:solidFill>
                          <a:effectLst/>
                          <a:latin typeface="+mj-lt"/>
                        </a:rPr>
                        <a:t>Modified ROE based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extLst>
                  <a:ext uri="{0D108BD9-81ED-4DB2-BD59-A6C34878D82A}">
                    <a16:rowId xmlns:a16="http://schemas.microsoft.com/office/drawing/2014/main" val="4245101825"/>
                  </a:ext>
                </a:extLst>
              </a:tr>
              <a:tr h="202585">
                <a:tc>
                  <a:txBody>
                    <a:bodyPr/>
                    <a:lstStyle/>
                    <a:p>
                      <a:pPr algn="l" fontAlgn="b"/>
                      <a:r>
                        <a:rPr lang="en-US" sz="1000" b="0" i="0" u="none" strike="noStrike" dirty="0" err="1">
                          <a:solidFill>
                            <a:srgbClr val="000000"/>
                          </a:solidFill>
                          <a:effectLst/>
                          <a:latin typeface="+mj-lt"/>
                        </a:rPr>
                        <a:t>Kolaghat</a:t>
                      </a:r>
                      <a:r>
                        <a:rPr lang="en-US" sz="1000" b="0" i="0" u="none" strike="noStrike" dirty="0">
                          <a:solidFill>
                            <a:srgbClr val="000000"/>
                          </a:solidFill>
                          <a:effectLst/>
                          <a:latin typeface="+mj-lt"/>
                        </a:rPr>
                        <a:t> (Unit 3-6)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25.95%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28.40%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44.51%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46.96%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a:txBody>
                    <a:bodyPr/>
                    <a:lstStyle/>
                    <a:p>
                      <a:pPr algn="ctr" fontAlgn="b"/>
                      <a:r>
                        <a:rPr lang="en-US" sz="1000" b="1" i="0" u="none" strike="noStrike" dirty="0">
                          <a:solidFill>
                            <a:srgbClr val="000000"/>
                          </a:solidFill>
                          <a:effectLst/>
                          <a:latin typeface="+mj-lt"/>
                        </a:rPr>
                        <a:t>21118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en-US" sz="1100" b="0" i="0" u="none" strike="noStrike">
                          <a:solidFill>
                            <a:srgbClr val="000000"/>
                          </a:solidFill>
                          <a:effectLst/>
                          <a:latin typeface="+mj-lt"/>
                        </a:rPr>
                        <a:t>2090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7">
                  <a:txBody>
                    <a:bodyPr/>
                    <a:lstStyle/>
                    <a:p>
                      <a:pPr algn="ctr" fontAlgn="b"/>
                      <a:r>
                        <a:rPr lang="en-US" sz="1000" b="1" i="0" u="none" strike="noStrike" dirty="0">
                          <a:solidFill>
                            <a:srgbClr val="000000"/>
                          </a:solidFill>
                          <a:effectLst/>
                          <a:latin typeface="+mj-lt"/>
                        </a:rPr>
                        <a:t>632.72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100" b="0" i="0" u="none" strike="noStrike" dirty="0">
                          <a:solidFill>
                            <a:srgbClr val="000000"/>
                          </a:solidFill>
                          <a:effectLst/>
                          <a:latin typeface="+mj-lt"/>
                        </a:rPr>
                        <a:t>5849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302260"/>
                  </a:ext>
                </a:extLst>
              </a:tr>
              <a:tr h="202585">
                <a:tc>
                  <a:txBody>
                    <a:bodyPr/>
                    <a:lstStyle/>
                    <a:p>
                      <a:pPr algn="l" fontAlgn="b"/>
                      <a:r>
                        <a:rPr lang="en-US" sz="1000" b="0" i="0" u="none" strike="noStrike" dirty="0" err="1">
                          <a:solidFill>
                            <a:srgbClr val="000000"/>
                          </a:solidFill>
                          <a:effectLst/>
                          <a:latin typeface="+mj-lt"/>
                        </a:rPr>
                        <a:t>Bakreswar</a:t>
                      </a:r>
                      <a:r>
                        <a:rPr lang="en-US" sz="1000" b="0" i="0" u="none" strike="noStrike" dirty="0">
                          <a:solidFill>
                            <a:srgbClr val="000000"/>
                          </a:solidFill>
                          <a:effectLst/>
                          <a:latin typeface="+mj-lt"/>
                        </a:rPr>
                        <a:t> (Unit 1-5)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75.86%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75.86%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80.92%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80.92%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b"/>
                      <a:r>
                        <a:rPr lang="en-US" sz="1000" b="1" i="0" u="none" strike="noStrike" dirty="0">
                          <a:solidFill>
                            <a:srgbClr val="000000"/>
                          </a:solidFill>
                          <a:effectLst/>
                          <a:latin typeface="+mj-lt"/>
                        </a:rPr>
                        <a:t>21118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1100" b="0" i="0" u="none" strike="noStrike">
                          <a:solidFill>
                            <a:srgbClr val="000000"/>
                          </a:solidFill>
                          <a:effectLst/>
                          <a:latin typeface="+mj-lt"/>
                        </a:rPr>
                        <a:t>6978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b"/>
                      <a:r>
                        <a:rPr lang="en-US" sz="1000" b="1" i="0" u="none" strike="noStrike" dirty="0">
                          <a:solidFill>
                            <a:srgbClr val="000000"/>
                          </a:solidFill>
                          <a:effectLst/>
                          <a:latin typeface="+mj-lt"/>
                        </a:rPr>
                        <a:t>632.72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100" b="0" i="0" u="none" strike="noStrike">
                          <a:solidFill>
                            <a:srgbClr val="000000"/>
                          </a:solidFill>
                          <a:effectLst/>
                          <a:latin typeface="+mj-lt"/>
                        </a:rPr>
                        <a:t>18698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134619"/>
                  </a:ext>
                </a:extLst>
              </a:tr>
              <a:tr h="202585">
                <a:tc>
                  <a:txBody>
                    <a:bodyPr/>
                    <a:lstStyle/>
                    <a:p>
                      <a:pPr algn="l" fontAlgn="b"/>
                      <a:r>
                        <a:rPr lang="en-US" sz="1000" b="0" i="0" u="none" strike="noStrike" dirty="0" err="1">
                          <a:solidFill>
                            <a:srgbClr val="000000"/>
                          </a:solidFill>
                          <a:effectLst/>
                          <a:latin typeface="+mj-lt"/>
                        </a:rPr>
                        <a:t>Bandel</a:t>
                      </a:r>
                      <a:r>
                        <a:rPr lang="en-US" sz="1000" b="0" i="0" u="none" strike="noStrike" dirty="0">
                          <a:solidFill>
                            <a:srgbClr val="000000"/>
                          </a:solidFill>
                          <a:effectLst/>
                          <a:latin typeface="+mj-lt"/>
                        </a:rPr>
                        <a:t> (Unit 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28.99%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30.00%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55.71%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56.72%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algn="ctr" fontAlgn="b"/>
                      <a:r>
                        <a:rPr lang="en-US" sz="1100" b="0" i="0" u="none" strike="noStrike">
                          <a:solidFill>
                            <a:srgbClr val="000000"/>
                          </a:solidFill>
                          <a:effectLst/>
                          <a:latin typeface="+mj-lt"/>
                        </a:rPr>
                        <a:t>565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algn="ctr" fontAlgn="b"/>
                      <a:r>
                        <a:rPr lang="en-US" sz="1100" b="0" i="0" u="none" strike="noStrike">
                          <a:solidFill>
                            <a:srgbClr val="000000"/>
                          </a:solidFill>
                          <a:effectLst/>
                          <a:latin typeface="+mj-lt"/>
                        </a:rPr>
                        <a:t>1979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8912947"/>
                  </a:ext>
                </a:extLst>
              </a:tr>
              <a:tr h="202585">
                <a:tc>
                  <a:txBody>
                    <a:bodyPr/>
                    <a:lstStyle/>
                    <a:p>
                      <a:pPr algn="l" fontAlgn="b"/>
                      <a:r>
                        <a:rPr lang="en-US" sz="1000" b="0" i="0" u="none" strike="noStrike" dirty="0" err="1">
                          <a:solidFill>
                            <a:srgbClr val="000000"/>
                          </a:solidFill>
                          <a:effectLst/>
                          <a:latin typeface="+mj-lt"/>
                        </a:rPr>
                        <a:t>Santaldih</a:t>
                      </a:r>
                      <a:r>
                        <a:rPr lang="en-US" sz="1000" b="0" i="0" u="none" strike="noStrike" dirty="0">
                          <a:solidFill>
                            <a:srgbClr val="000000"/>
                          </a:solidFill>
                          <a:effectLst/>
                          <a:latin typeface="+mj-lt"/>
                        </a:rPr>
                        <a:t> (Unit 5-6)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84.10%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84.10%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86.16%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86.16%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b"/>
                      <a:endParaRPr lang="en-US" sz="1100" b="0" i="0" u="none" strike="noStrike" dirty="0">
                        <a:solidFill>
                          <a:srgbClr val="000000"/>
                        </a:solidFill>
                        <a:effectLst/>
                        <a:latin typeface="+mj-lt"/>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mj-lt"/>
                        </a:rPr>
                        <a:t>3684</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mj-lt"/>
                        </a:rPr>
                        <a:t>9448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044726"/>
                  </a:ext>
                </a:extLst>
              </a:tr>
              <a:tr h="202585">
                <a:tc>
                  <a:txBody>
                    <a:bodyPr/>
                    <a:lstStyle/>
                    <a:p>
                      <a:pPr algn="l" fontAlgn="b"/>
                      <a:r>
                        <a:rPr lang="en-US" sz="1000" b="0" i="0" u="none" strike="noStrike" dirty="0" err="1">
                          <a:solidFill>
                            <a:srgbClr val="000000"/>
                          </a:solidFill>
                          <a:effectLst/>
                          <a:latin typeface="+mj-lt"/>
                        </a:rPr>
                        <a:t>Sagardighi</a:t>
                      </a:r>
                      <a:r>
                        <a:rPr lang="en-US" sz="1000" b="0" i="0" u="none" strike="noStrike" dirty="0">
                          <a:solidFill>
                            <a:srgbClr val="000000"/>
                          </a:solidFill>
                          <a:effectLst/>
                          <a:latin typeface="+mj-lt"/>
                        </a:rPr>
                        <a:t> (Unit 1-2)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51.30%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55.20%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60.46%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mj-lt"/>
                        </a:rPr>
                        <a:t>65.00%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b"/>
                      <a:endParaRPr lang="en-US" sz="1100" b="0" i="0" u="none" strike="noStrike" dirty="0">
                        <a:solidFill>
                          <a:srgbClr val="000000"/>
                        </a:solidFill>
                        <a:effectLst/>
                        <a:latin typeface="+mj-lt"/>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mj-lt"/>
                        </a:rPr>
                        <a:t>2901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mj-lt"/>
                        </a:rPr>
                        <a:t>9090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4871081"/>
                  </a:ext>
                </a:extLst>
              </a:tr>
              <a:tr h="202585">
                <a:tc>
                  <a:txBody>
                    <a:bodyPr/>
                    <a:lstStyle/>
                    <a:p>
                      <a:pPr algn="l" fontAlgn="b"/>
                      <a:r>
                        <a:rPr lang="en-US" sz="1000" b="0" i="0" u="none" strike="noStrike">
                          <a:solidFill>
                            <a:srgbClr val="000000"/>
                          </a:solidFill>
                          <a:effectLst/>
                          <a:latin typeface="+mj-lt"/>
                        </a:rPr>
                        <a:t>Sagardighi (Unit 3-4)</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45.44%</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56.00%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mj-lt"/>
                        </a:rPr>
                        <a:t>51.57%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58.00%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b"/>
                      <a:endParaRPr lang="en-US" sz="1100" b="0" i="0" u="none" strike="noStrike" dirty="0">
                        <a:solidFill>
                          <a:srgbClr val="000000"/>
                        </a:solidFill>
                        <a:effectLst/>
                        <a:latin typeface="+mj-lt"/>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4906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18191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3659774"/>
                  </a:ext>
                </a:extLst>
              </a:tr>
              <a:tr h="202585">
                <a:tc>
                  <a:txBody>
                    <a:bodyPr/>
                    <a:lstStyle/>
                    <a:p>
                      <a:pPr algn="l" fontAlgn="b"/>
                      <a:endParaRPr lang="en-US" sz="10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0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0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0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0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0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1" i="0" u="none" strike="noStrike" dirty="0">
                          <a:solidFill>
                            <a:srgbClr val="000000"/>
                          </a:solidFill>
                          <a:effectLst/>
                          <a:latin typeface="+mj-lt"/>
                        </a:rPr>
                        <a:t>21123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dirty="0">
                          <a:solidFill>
                            <a:srgbClr val="000000"/>
                          </a:solidFill>
                          <a:effectLst/>
                          <a:latin typeface="+mj-lt"/>
                        </a:rPr>
                        <a:t>632.55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4757719"/>
                  </a:ext>
                </a:extLst>
              </a:tr>
            </a:tbl>
          </a:graphicData>
        </a:graphic>
      </p:graphicFrame>
      <p:graphicFrame>
        <p:nvGraphicFramePr>
          <p:cNvPr id="16" name="Table 15">
            <a:extLst>
              <a:ext uri="{FF2B5EF4-FFF2-40B4-BE49-F238E27FC236}">
                <a16:creationId xmlns:a16="http://schemas.microsoft.com/office/drawing/2014/main" id="{262E31F1-B494-45B5-ADE6-291D29D904E3}"/>
              </a:ext>
            </a:extLst>
          </p:cNvPr>
          <p:cNvGraphicFramePr>
            <a:graphicFrameLocks noGrp="1"/>
          </p:cNvGraphicFramePr>
          <p:nvPr/>
        </p:nvGraphicFramePr>
        <p:xfrm>
          <a:off x="1679912" y="4291678"/>
          <a:ext cx="8615370" cy="1713121"/>
        </p:xfrm>
        <a:graphic>
          <a:graphicData uri="http://schemas.openxmlformats.org/drawingml/2006/table">
            <a:tbl>
              <a:tblPr/>
              <a:tblGrid>
                <a:gridCol w="1723074">
                  <a:extLst>
                    <a:ext uri="{9D8B030D-6E8A-4147-A177-3AD203B41FA5}">
                      <a16:colId xmlns:a16="http://schemas.microsoft.com/office/drawing/2014/main" val="2697891849"/>
                    </a:ext>
                  </a:extLst>
                </a:gridCol>
                <a:gridCol w="1723074">
                  <a:extLst>
                    <a:ext uri="{9D8B030D-6E8A-4147-A177-3AD203B41FA5}">
                      <a16:colId xmlns:a16="http://schemas.microsoft.com/office/drawing/2014/main" val="2886322091"/>
                    </a:ext>
                  </a:extLst>
                </a:gridCol>
                <a:gridCol w="1723074">
                  <a:extLst>
                    <a:ext uri="{9D8B030D-6E8A-4147-A177-3AD203B41FA5}">
                      <a16:colId xmlns:a16="http://schemas.microsoft.com/office/drawing/2014/main" val="3536342282"/>
                    </a:ext>
                  </a:extLst>
                </a:gridCol>
                <a:gridCol w="1723074">
                  <a:extLst>
                    <a:ext uri="{9D8B030D-6E8A-4147-A177-3AD203B41FA5}">
                      <a16:colId xmlns:a16="http://schemas.microsoft.com/office/drawing/2014/main" val="3931282145"/>
                    </a:ext>
                  </a:extLst>
                </a:gridCol>
                <a:gridCol w="1723074">
                  <a:extLst>
                    <a:ext uri="{9D8B030D-6E8A-4147-A177-3AD203B41FA5}">
                      <a16:colId xmlns:a16="http://schemas.microsoft.com/office/drawing/2014/main" val="3390190736"/>
                    </a:ext>
                  </a:extLst>
                </a:gridCol>
              </a:tblGrid>
              <a:tr h="1001828">
                <a:tc>
                  <a:txBody>
                    <a:bodyPr/>
                    <a:lstStyle/>
                    <a:p>
                      <a:pPr algn="ctr" fontAlgn="ctr"/>
                      <a:r>
                        <a:rPr lang="en-US" sz="1100" b="1" i="0" u="none" strike="noStrike" dirty="0">
                          <a:solidFill>
                            <a:srgbClr val="FFFFFF"/>
                          </a:solidFill>
                          <a:effectLst/>
                          <a:latin typeface="+mj-lt"/>
                        </a:rPr>
                        <a:t>Total savings in Fixed Cost Obligation keeping ROE intact</a:t>
                      </a:r>
                    </a:p>
                    <a:p>
                      <a:pPr algn="ctr" fontAlgn="ctr"/>
                      <a:r>
                        <a:rPr lang="en-US" sz="1100" b="1" i="0" u="none" strike="noStrike" dirty="0">
                          <a:solidFill>
                            <a:srgbClr val="FFFFFF"/>
                          </a:solidFill>
                          <a:effectLst/>
                          <a:latin typeface="+mj-lt"/>
                        </a:rPr>
                        <a:t>(INR Cr.)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100" b="1" i="0" u="none" strike="noStrike" dirty="0">
                          <a:solidFill>
                            <a:srgbClr val="FFFFFF"/>
                          </a:solidFill>
                          <a:effectLst/>
                          <a:latin typeface="+mj-lt"/>
                        </a:rPr>
                        <a:t>Total Savings in Fixed Cost Obligation (INR/kWh)</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100" b="1" i="0" u="none" strike="noStrike" dirty="0">
                          <a:solidFill>
                            <a:srgbClr val="FFFFFF"/>
                          </a:solidFill>
                          <a:effectLst/>
                          <a:latin typeface="+mj-lt"/>
                        </a:rPr>
                        <a:t>Total Savings in Variable Cost keeping ROE intact</a:t>
                      </a:r>
                    </a:p>
                    <a:p>
                      <a:pPr algn="ctr" fontAlgn="ctr"/>
                      <a:r>
                        <a:rPr lang="en-US" sz="1100" b="1" i="0" u="none" strike="noStrike" dirty="0">
                          <a:solidFill>
                            <a:srgbClr val="FFFFFF"/>
                          </a:solidFill>
                          <a:effectLst/>
                          <a:latin typeface="+mj-lt"/>
                        </a:rPr>
                        <a:t>(INR Cr.)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100" b="1" i="0" u="none" strike="noStrike" dirty="0">
                          <a:solidFill>
                            <a:srgbClr val="FFFFFF"/>
                          </a:solidFill>
                          <a:effectLst/>
                          <a:latin typeface="+mj-lt"/>
                        </a:rPr>
                        <a:t>Total Savings in Variable Cost (INR/kWh)</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tc>
                  <a:txBody>
                    <a:bodyPr/>
                    <a:lstStyle/>
                    <a:p>
                      <a:pPr algn="ctr" fontAlgn="ctr"/>
                      <a:r>
                        <a:rPr lang="en-US" sz="1100" b="1" i="0" u="none" strike="noStrike" dirty="0">
                          <a:solidFill>
                            <a:srgbClr val="FFFFFF"/>
                          </a:solidFill>
                          <a:effectLst/>
                          <a:latin typeface="+mj-lt"/>
                        </a:rPr>
                        <a:t>Total Savings in INR/kWh</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5959"/>
                    </a:solidFill>
                  </a:tcPr>
                </a:tc>
                <a:extLst>
                  <a:ext uri="{0D108BD9-81ED-4DB2-BD59-A6C34878D82A}">
                    <a16:rowId xmlns:a16="http://schemas.microsoft.com/office/drawing/2014/main" val="4245101825"/>
                  </a:ext>
                </a:extLst>
              </a:tr>
              <a:tr h="711293">
                <a:tc>
                  <a:txBody>
                    <a:bodyPr/>
                    <a:lstStyle/>
                    <a:p>
                      <a:pPr algn="ctr" fontAlgn="b"/>
                      <a:r>
                        <a:rPr lang="en-US" sz="1100" b="0" i="0" u="none" strike="noStrike" dirty="0">
                          <a:solidFill>
                            <a:srgbClr val="000000"/>
                          </a:solidFill>
                          <a:effectLst/>
                          <a:latin typeface="+mj-lt"/>
                        </a:rPr>
                        <a:t>~34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0.01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73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0.02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0.03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786134619"/>
                  </a:ext>
                </a:extLst>
              </a:tr>
            </a:tbl>
          </a:graphicData>
        </a:graphic>
      </p:graphicFrame>
    </p:spTree>
    <p:extLst>
      <p:ext uri="{BB962C8B-B14F-4D97-AF65-F5344CB8AC3E}">
        <p14:creationId xmlns:p14="http://schemas.microsoft.com/office/powerpoint/2010/main" val="1115007039"/>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b="1" dirty="0"/>
              <a:t>Operational data w.r.t WBPDCL</a:t>
            </a:r>
            <a:endParaRPr lang="en-US" sz="1800" b="1" i="0" dirty="0">
              <a:solidFill>
                <a:schemeClr val="tx1"/>
              </a:solidFill>
            </a:endParaRPr>
          </a:p>
        </p:txBody>
      </p:sp>
      <p:graphicFrame>
        <p:nvGraphicFramePr>
          <p:cNvPr id="2" name="Table 1">
            <a:extLst>
              <a:ext uri="{FF2B5EF4-FFF2-40B4-BE49-F238E27FC236}">
                <a16:creationId xmlns:a16="http://schemas.microsoft.com/office/drawing/2014/main" id="{1E8ABCAF-B993-438D-A41C-9114CA8E28B7}"/>
              </a:ext>
            </a:extLst>
          </p:cNvPr>
          <p:cNvGraphicFramePr>
            <a:graphicFrameLocks noGrp="1"/>
          </p:cNvGraphicFramePr>
          <p:nvPr/>
        </p:nvGraphicFramePr>
        <p:xfrm>
          <a:off x="501651" y="827314"/>
          <a:ext cx="10656204" cy="1733550"/>
        </p:xfrm>
        <a:graphic>
          <a:graphicData uri="http://schemas.openxmlformats.org/drawingml/2006/table">
            <a:tbl>
              <a:tblPr>
                <a:tableStyleId>{C4B1156A-380E-4F78-BDF5-A606A8083BF9}</a:tableStyleId>
              </a:tblPr>
              <a:tblGrid>
                <a:gridCol w="2439372">
                  <a:extLst>
                    <a:ext uri="{9D8B030D-6E8A-4147-A177-3AD203B41FA5}">
                      <a16:colId xmlns:a16="http://schemas.microsoft.com/office/drawing/2014/main" val="3989716087"/>
                    </a:ext>
                  </a:extLst>
                </a:gridCol>
                <a:gridCol w="1360914">
                  <a:extLst>
                    <a:ext uri="{9D8B030D-6E8A-4147-A177-3AD203B41FA5}">
                      <a16:colId xmlns:a16="http://schemas.microsoft.com/office/drawing/2014/main" val="2186152483"/>
                    </a:ext>
                  </a:extLst>
                </a:gridCol>
                <a:gridCol w="1874464">
                  <a:extLst>
                    <a:ext uri="{9D8B030D-6E8A-4147-A177-3AD203B41FA5}">
                      <a16:colId xmlns:a16="http://schemas.microsoft.com/office/drawing/2014/main" val="2569528153"/>
                    </a:ext>
                  </a:extLst>
                </a:gridCol>
                <a:gridCol w="2490727">
                  <a:extLst>
                    <a:ext uri="{9D8B030D-6E8A-4147-A177-3AD203B41FA5}">
                      <a16:colId xmlns:a16="http://schemas.microsoft.com/office/drawing/2014/main" val="3334852959"/>
                    </a:ext>
                  </a:extLst>
                </a:gridCol>
                <a:gridCol w="2490727">
                  <a:extLst>
                    <a:ext uri="{9D8B030D-6E8A-4147-A177-3AD203B41FA5}">
                      <a16:colId xmlns:a16="http://schemas.microsoft.com/office/drawing/2014/main" val="1347260203"/>
                    </a:ext>
                  </a:extLst>
                </a:gridCol>
              </a:tblGrid>
              <a:tr h="319051">
                <a:tc>
                  <a:txBody>
                    <a:bodyPr/>
                    <a:lstStyle/>
                    <a:p>
                      <a:pPr algn="ctr" fontAlgn="b"/>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Actual PAF</a:t>
                      </a:r>
                    </a:p>
                    <a:p>
                      <a:pPr algn="ctr" fontAlgn="b"/>
                      <a:r>
                        <a:rPr lang="en-US" sz="1100" b="1" i="0" u="none" strike="noStrike" dirty="0">
                          <a:solidFill>
                            <a:schemeClr val="bg1"/>
                          </a:solidFill>
                          <a:effectLst/>
                          <a:latin typeface="Calibri" panose="020F0502020204030204" pitchFamily="34" charset="0"/>
                        </a:rPr>
                        <a:t>(A)</a:t>
                      </a: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Normative PAF</a:t>
                      </a:r>
                    </a:p>
                    <a:p>
                      <a:pPr algn="ctr" fontAlgn="b"/>
                      <a:r>
                        <a:rPr lang="en-US" sz="1100" b="1" i="0" u="none" strike="noStrike" dirty="0">
                          <a:solidFill>
                            <a:schemeClr val="bg1"/>
                          </a:solidFill>
                          <a:effectLst/>
                          <a:latin typeface="Calibri" panose="020F0502020204030204" pitchFamily="34" charset="0"/>
                        </a:rPr>
                        <a:t>(B)</a:t>
                      </a: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Admitted Fixed Cost (INR Lakhs)</a:t>
                      </a:r>
                    </a:p>
                    <a:p>
                      <a:pPr algn="ctr" fontAlgn="b"/>
                      <a:r>
                        <a:rPr lang="en-US" sz="1100" b="1" u="none" strike="noStrike" dirty="0">
                          <a:solidFill>
                            <a:schemeClr val="bg1"/>
                          </a:solidFill>
                          <a:effectLst/>
                        </a:rPr>
                        <a:t>(C) </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Fixed Cost Obligation (INR Lakhs)</a:t>
                      </a:r>
                    </a:p>
                    <a:p>
                      <a:pPr algn="ctr" fontAlgn="b"/>
                      <a:r>
                        <a:rPr lang="en-US" sz="1100" b="1" i="0" u="none" strike="noStrike" dirty="0">
                          <a:solidFill>
                            <a:schemeClr val="bg1"/>
                          </a:solidFill>
                          <a:effectLst/>
                          <a:latin typeface="Calibri" panose="020F0502020204030204" pitchFamily="34" charset="0"/>
                        </a:rPr>
                        <a:t>(D)=(C)*(A)/(B)</a:t>
                      </a:r>
                    </a:p>
                  </a:txBody>
                  <a:tcPr marL="6350" marR="6350" marT="6350" marB="0" anchor="ctr">
                    <a:solidFill>
                      <a:schemeClr val="tx1">
                        <a:lumMod val="75000"/>
                        <a:lumOff val="25000"/>
                      </a:schemeClr>
                    </a:solidFill>
                  </a:tcPr>
                </a:tc>
                <a:extLst>
                  <a:ext uri="{0D108BD9-81ED-4DB2-BD59-A6C34878D82A}">
                    <a16:rowId xmlns:a16="http://schemas.microsoft.com/office/drawing/2014/main" val="1829277128"/>
                  </a:ext>
                </a:extLst>
              </a:tr>
              <a:tr h="168308">
                <a:tc>
                  <a:txBody>
                    <a:bodyPr/>
                    <a:lstStyle/>
                    <a:p>
                      <a:pPr algn="l" fontAlgn="b"/>
                      <a:r>
                        <a:rPr lang="en-US" sz="1100" u="none" strike="noStrike" dirty="0" err="1">
                          <a:effectLst/>
                        </a:rPr>
                        <a:t>Kolaghat</a:t>
                      </a:r>
                      <a:r>
                        <a:rPr lang="en-US" sz="1100" u="none" strike="noStrike" dirty="0">
                          <a:effectLst/>
                        </a:rPr>
                        <a:t> (Unit 1-6)</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44.51%</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a:effectLst/>
                        </a:rPr>
                        <a:t>75%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53417.31</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31701.39</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08595551"/>
                  </a:ext>
                </a:extLst>
              </a:tr>
              <a:tr h="168308">
                <a:tc>
                  <a:txBody>
                    <a:bodyPr/>
                    <a:lstStyle/>
                    <a:p>
                      <a:pPr algn="l" fontAlgn="b"/>
                      <a:r>
                        <a:rPr lang="en-US" sz="1100" u="none" strike="noStrike">
                          <a:effectLst/>
                        </a:rPr>
                        <a:t>Bakreswar (Unit 1-5)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80.92%</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a:effectLst/>
                        </a:rPr>
                        <a:t>85%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77675.07</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73946.67</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185440668"/>
                  </a:ext>
                </a:extLst>
              </a:tr>
              <a:tr h="168308">
                <a:tc>
                  <a:txBody>
                    <a:bodyPr/>
                    <a:lstStyle/>
                    <a:p>
                      <a:pPr algn="l" fontAlgn="b"/>
                      <a:r>
                        <a:rPr lang="en-US" sz="1100" u="none" strike="noStrike">
                          <a:effectLst/>
                        </a:rPr>
                        <a:t>Bandel I (Unit 1-2)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55.71%</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a:effectLst/>
                        </a:rPr>
                        <a:t>70%</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5001.61</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3980.57</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58267936"/>
                  </a:ext>
                </a:extLst>
              </a:tr>
              <a:tr h="168308">
                <a:tc>
                  <a:txBody>
                    <a:bodyPr/>
                    <a:lstStyle/>
                    <a:p>
                      <a:pPr algn="l" fontAlgn="b"/>
                      <a:r>
                        <a:rPr lang="en-US" sz="1100" u="none" strike="noStrike">
                          <a:effectLst/>
                        </a:rPr>
                        <a:t>Bandel II (Unit -5)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55.71%</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a:effectLst/>
                        </a:rPr>
                        <a:t>85%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14002.59</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9177.46</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380607"/>
                  </a:ext>
                </a:extLst>
              </a:tr>
              <a:tr h="168308">
                <a:tc>
                  <a:txBody>
                    <a:bodyPr/>
                    <a:lstStyle/>
                    <a:p>
                      <a:pPr algn="l" fontAlgn="b"/>
                      <a:r>
                        <a:rPr lang="en-US" sz="1100" u="none" strike="noStrike">
                          <a:effectLst/>
                        </a:rPr>
                        <a:t>Santaldih (Unit 5-6)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86.16%</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a:effectLst/>
                        </a:rPr>
                        <a:t>85%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44219.25</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44219.25</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879496483"/>
                  </a:ext>
                </a:extLst>
              </a:tr>
              <a:tr h="168308">
                <a:tc>
                  <a:txBody>
                    <a:bodyPr/>
                    <a:lstStyle/>
                    <a:p>
                      <a:pPr algn="l" fontAlgn="b"/>
                      <a:r>
                        <a:rPr lang="en-US" sz="1100" u="none" strike="noStrike">
                          <a:effectLst/>
                        </a:rPr>
                        <a:t>Sagardighi (Unit 1-2)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60.46%</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a:effectLst/>
                        </a:rPr>
                        <a:t>85%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38905.89</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27673.53</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6543136"/>
                  </a:ext>
                </a:extLst>
              </a:tr>
              <a:tr h="168308">
                <a:tc>
                  <a:txBody>
                    <a:bodyPr/>
                    <a:lstStyle/>
                    <a:p>
                      <a:pPr algn="l" fontAlgn="b"/>
                      <a:r>
                        <a:rPr lang="en-US" sz="1100" u="none" strike="noStrike">
                          <a:effectLst/>
                        </a:rPr>
                        <a:t>Sagardighi (Unit 3-4)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51.57%</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a:effectLst/>
                        </a:rPr>
                        <a:t>85%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102830.69</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62387.98</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06142372"/>
                  </a:ext>
                </a:extLst>
              </a:tr>
              <a:tr h="168308">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b="1" u="none" strike="noStrike" dirty="0">
                          <a:effectLst/>
                        </a:rPr>
                        <a:t>336052.41</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b="1" u="none" strike="noStrike" dirty="0">
                          <a:effectLst/>
                        </a:rPr>
                        <a:t>253086.85</a:t>
                      </a:r>
                      <a:endParaRPr lang="en-US"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29941900"/>
                  </a:ext>
                </a:extLst>
              </a:tr>
            </a:tbl>
          </a:graphicData>
        </a:graphic>
      </p:graphicFrame>
      <p:graphicFrame>
        <p:nvGraphicFramePr>
          <p:cNvPr id="3" name="Table 2">
            <a:extLst>
              <a:ext uri="{FF2B5EF4-FFF2-40B4-BE49-F238E27FC236}">
                <a16:creationId xmlns:a16="http://schemas.microsoft.com/office/drawing/2014/main" id="{782A7F85-7096-41CD-A2F6-3FEEBA3A1B5A}"/>
              </a:ext>
            </a:extLst>
          </p:cNvPr>
          <p:cNvGraphicFramePr>
            <a:graphicFrameLocks noGrp="1"/>
          </p:cNvGraphicFramePr>
          <p:nvPr/>
        </p:nvGraphicFramePr>
        <p:xfrm>
          <a:off x="501651" y="2739571"/>
          <a:ext cx="10656205" cy="3282744"/>
        </p:xfrm>
        <a:graphic>
          <a:graphicData uri="http://schemas.openxmlformats.org/drawingml/2006/table">
            <a:tbl>
              <a:tblPr>
                <a:tableStyleId>{D7AC3CCA-C797-4891-BE02-D94E43425B78}</a:tableStyleId>
              </a:tblPr>
              <a:tblGrid>
                <a:gridCol w="1075241">
                  <a:extLst>
                    <a:ext uri="{9D8B030D-6E8A-4147-A177-3AD203B41FA5}">
                      <a16:colId xmlns:a16="http://schemas.microsoft.com/office/drawing/2014/main" val="2530975108"/>
                    </a:ext>
                  </a:extLst>
                </a:gridCol>
                <a:gridCol w="735691">
                  <a:extLst>
                    <a:ext uri="{9D8B030D-6E8A-4147-A177-3AD203B41FA5}">
                      <a16:colId xmlns:a16="http://schemas.microsoft.com/office/drawing/2014/main" val="151186879"/>
                    </a:ext>
                  </a:extLst>
                </a:gridCol>
                <a:gridCol w="1384609">
                  <a:extLst>
                    <a:ext uri="{9D8B030D-6E8A-4147-A177-3AD203B41FA5}">
                      <a16:colId xmlns:a16="http://schemas.microsoft.com/office/drawing/2014/main" val="1965487569"/>
                    </a:ext>
                  </a:extLst>
                </a:gridCol>
                <a:gridCol w="673440">
                  <a:extLst>
                    <a:ext uri="{9D8B030D-6E8A-4147-A177-3AD203B41FA5}">
                      <a16:colId xmlns:a16="http://schemas.microsoft.com/office/drawing/2014/main" val="3025344232"/>
                    </a:ext>
                  </a:extLst>
                </a:gridCol>
                <a:gridCol w="924330">
                  <a:extLst>
                    <a:ext uri="{9D8B030D-6E8A-4147-A177-3AD203B41FA5}">
                      <a16:colId xmlns:a16="http://schemas.microsoft.com/office/drawing/2014/main" val="4101979112"/>
                    </a:ext>
                  </a:extLst>
                </a:gridCol>
                <a:gridCol w="1465723">
                  <a:extLst>
                    <a:ext uri="{9D8B030D-6E8A-4147-A177-3AD203B41FA5}">
                      <a16:colId xmlns:a16="http://schemas.microsoft.com/office/drawing/2014/main" val="1460509559"/>
                    </a:ext>
                  </a:extLst>
                </a:gridCol>
                <a:gridCol w="1544951">
                  <a:extLst>
                    <a:ext uri="{9D8B030D-6E8A-4147-A177-3AD203B41FA5}">
                      <a16:colId xmlns:a16="http://schemas.microsoft.com/office/drawing/2014/main" val="1717406098"/>
                    </a:ext>
                  </a:extLst>
                </a:gridCol>
                <a:gridCol w="1426110">
                  <a:extLst>
                    <a:ext uri="{9D8B030D-6E8A-4147-A177-3AD203B41FA5}">
                      <a16:colId xmlns:a16="http://schemas.microsoft.com/office/drawing/2014/main" val="275729365"/>
                    </a:ext>
                  </a:extLst>
                </a:gridCol>
                <a:gridCol w="1426110">
                  <a:extLst>
                    <a:ext uri="{9D8B030D-6E8A-4147-A177-3AD203B41FA5}">
                      <a16:colId xmlns:a16="http://schemas.microsoft.com/office/drawing/2014/main" val="447378937"/>
                    </a:ext>
                  </a:extLst>
                </a:gridCol>
              </a:tblGrid>
              <a:tr h="741352">
                <a:tc>
                  <a:txBody>
                    <a:bodyPr/>
                    <a:lstStyle/>
                    <a:p>
                      <a:pPr algn="l" fontAlgn="b"/>
                      <a:endParaRPr lang="en-US" sz="1000" b="1" i="0" u="none" strike="noStrike" dirty="0">
                        <a:solidFill>
                          <a:schemeClr val="bg1"/>
                        </a:solidFill>
                        <a:effectLst/>
                        <a:latin typeface="+mj-lt"/>
                      </a:endParaRPr>
                    </a:p>
                  </a:txBody>
                  <a:tcPr marL="6350" marR="6350" marT="6350" marB="0" anchor="ctr">
                    <a:solidFill>
                      <a:schemeClr val="tx1">
                        <a:lumMod val="75000"/>
                        <a:lumOff val="25000"/>
                      </a:schemeClr>
                    </a:solidFill>
                  </a:tcPr>
                </a:tc>
                <a:tc>
                  <a:txBody>
                    <a:bodyPr/>
                    <a:lstStyle/>
                    <a:p>
                      <a:pPr algn="ctr" fontAlgn="b"/>
                      <a:r>
                        <a:rPr lang="en-US" sz="1000" b="1" u="none" strike="noStrike" dirty="0">
                          <a:solidFill>
                            <a:schemeClr val="bg1"/>
                          </a:solidFill>
                          <a:effectLst/>
                          <a:latin typeface="+mj-lt"/>
                        </a:rPr>
                        <a:t>Capacity (MW)</a:t>
                      </a:r>
                      <a:endParaRPr lang="en-US" sz="1000" b="1" i="0" u="none" strike="noStrike" dirty="0">
                        <a:solidFill>
                          <a:schemeClr val="bg1"/>
                        </a:solidFill>
                        <a:effectLst/>
                        <a:latin typeface="+mj-lt"/>
                      </a:endParaRPr>
                    </a:p>
                  </a:txBody>
                  <a:tcPr marL="6350" marR="6350" marT="6350" marB="0" anchor="ctr">
                    <a:solidFill>
                      <a:schemeClr val="tx1">
                        <a:lumMod val="75000"/>
                        <a:lumOff val="25000"/>
                      </a:schemeClr>
                    </a:solidFill>
                  </a:tcPr>
                </a:tc>
                <a:tc>
                  <a:txBody>
                    <a:bodyPr/>
                    <a:lstStyle/>
                    <a:p>
                      <a:pPr algn="ctr" fontAlgn="b"/>
                      <a:r>
                        <a:rPr lang="en-US" sz="1000" b="1" u="none" strike="noStrike" dirty="0">
                          <a:solidFill>
                            <a:schemeClr val="bg1"/>
                          </a:solidFill>
                          <a:effectLst/>
                          <a:latin typeface="+mj-lt"/>
                        </a:rPr>
                        <a:t>Admitted Energy Charge (Paisa/kWh)</a:t>
                      </a:r>
                      <a:endParaRPr lang="en-US" sz="1000" b="1" i="0" u="none" strike="noStrike" dirty="0">
                        <a:solidFill>
                          <a:schemeClr val="bg1"/>
                        </a:solidFill>
                        <a:effectLst/>
                        <a:latin typeface="+mj-lt"/>
                      </a:endParaRPr>
                    </a:p>
                  </a:txBody>
                  <a:tcPr marL="6350" marR="6350" marT="6350" marB="0" anchor="ctr">
                    <a:solidFill>
                      <a:schemeClr val="tx1">
                        <a:lumMod val="75000"/>
                        <a:lumOff val="25000"/>
                      </a:schemeClr>
                    </a:solidFill>
                  </a:tcPr>
                </a:tc>
                <a:tc>
                  <a:txBody>
                    <a:bodyPr/>
                    <a:lstStyle/>
                    <a:p>
                      <a:pPr algn="ctr" fontAlgn="b"/>
                      <a:r>
                        <a:rPr lang="en-US" sz="1000" b="1" u="none" strike="noStrike" dirty="0">
                          <a:solidFill>
                            <a:schemeClr val="bg1"/>
                          </a:solidFill>
                          <a:effectLst/>
                          <a:latin typeface="+mj-lt"/>
                        </a:rPr>
                        <a:t>Actual PLF</a:t>
                      </a:r>
                      <a:endParaRPr lang="en-US" sz="1000" b="1" i="0" u="none" strike="noStrike" dirty="0">
                        <a:solidFill>
                          <a:schemeClr val="bg1"/>
                        </a:solidFill>
                        <a:effectLst/>
                        <a:latin typeface="+mj-lt"/>
                      </a:endParaRPr>
                    </a:p>
                  </a:txBody>
                  <a:tcPr marL="6350" marR="6350" marT="6350" marB="0" anchor="ctr">
                    <a:solidFill>
                      <a:schemeClr val="tx1">
                        <a:lumMod val="75000"/>
                        <a:lumOff val="25000"/>
                      </a:schemeClr>
                    </a:solidFill>
                  </a:tcPr>
                </a:tc>
                <a:tc>
                  <a:txBody>
                    <a:bodyPr/>
                    <a:lstStyle/>
                    <a:p>
                      <a:pPr algn="ctr" fontAlgn="b"/>
                      <a:r>
                        <a:rPr lang="en-US" sz="1000" b="1" u="none" strike="noStrike" dirty="0">
                          <a:solidFill>
                            <a:schemeClr val="bg1"/>
                          </a:solidFill>
                          <a:effectLst/>
                          <a:latin typeface="+mj-lt"/>
                        </a:rPr>
                        <a:t>Normative PLF</a:t>
                      </a:r>
                      <a:endParaRPr lang="en-US" sz="1000" b="1" i="0" u="none" strike="noStrike" dirty="0">
                        <a:solidFill>
                          <a:schemeClr val="bg1"/>
                        </a:solidFill>
                        <a:effectLst/>
                        <a:latin typeface="+mj-lt"/>
                      </a:endParaRPr>
                    </a:p>
                  </a:txBody>
                  <a:tcPr marL="6350" marR="6350" marT="6350" marB="0" anchor="ctr">
                    <a:solidFill>
                      <a:schemeClr val="tx1">
                        <a:lumMod val="75000"/>
                        <a:lumOff val="25000"/>
                      </a:schemeClr>
                    </a:solidFill>
                  </a:tcPr>
                </a:tc>
                <a:tc>
                  <a:txBody>
                    <a:bodyPr/>
                    <a:lstStyle/>
                    <a:p>
                      <a:pPr algn="ctr" fontAlgn="b"/>
                      <a:r>
                        <a:rPr lang="en-US" sz="1000" b="1" u="none" strike="noStrike" dirty="0">
                          <a:solidFill>
                            <a:schemeClr val="bg1"/>
                          </a:solidFill>
                          <a:effectLst/>
                          <a:latin typeface="+mj-lt"/>
                        </a:rPr>
                        <a:t>Variable Charge Based on Admitted Energy Charge Rate</a:t>
                      </a:r>
                    </a:p>
                    <a:p>
                      <a:pPr algn="ctr" fontAlgn="b"/>
                      <a:r>
                        <a:rPr lang="en-US" sz="1000" b="1" i="0" u="none" strike="noStrike" dirty="0">
                          <a:solidFill>
                            <a:schemeClr val="bg1"/>
                          </a:solidFill>
                          <a:effectLst/>
                          <a:latin typeface="+mj-lt"/>
                        </a:rPr>
                        <a:t>(INR Lakhs)</a:t>
                      </a:r>
                    </a:p>
                  </a:txBody>
                  <a:tcPr marL="6350" marR="6350" marT="6350" marB="0" anchor="ctr">
                    <a:solidFill>
                      <a:schemeClr val="tx1">
                        <a:lumMod val="75000"/>
                        <a:lumOff val="25000"/>
                      </a:schemeClr>
                    </a:solidFill>
                  </a:tcPr>
                </a:tc>
                <a:tc>
                  <a:txBody>
                    <a:bodyPr/>
                    <a:lstStyle/>
                    <a:p>
                      <a:pPr algn="ctr" fontAlgn="b"/>
                      <a:r>
                        <a:rPr lang="en-US" sz="1000" b="1" u="none" strike="noStrike" dirty="0">
                          <a:solidFill>
                            <a:schemeClr val="bg1"/>
                          </a:solidFill>
                          <a:effectLst/>
                          <a:latin typeface="+mj-lt"/>
                        </a:rPr>
                        <a:t>Actual Gross Generation (MU)</a:t>
                      </a:r>
                      <a:endParaRPr lang="en-US" sz="1000" b="1" i="0" u="none" strike="noStrike" dirty="0">
                        <a:solidFill>
                          <a:schemeClr val="bg1"/>
                        </a:solidFill>
                        <a:effectLst/>
                        <a:latin typeface="+mj-lt"/>
                      </a:endParaRPr>
                    </a:p>
                  </a:txBody>
                  <a:tcPr marL="6350" marR="6350" marT="6350" marB="0" anchor="ctr">
                    <a:solidFill>
                      <a:schemeClr val="tx1">
                        <a:lumMod val="75000"/>
                        <a:lumOff val="25000"/>
                      </a:schemeClr>
                    </a:solidFill>
                  </a:tcPr>
                </a:tc>
                <a:tc>
                  <a:txBody>
                    <a:bodyPr/>
                    <a:lstStyle/>
                    <a:p>
                      <a:pPr algn="ctr" fontAlgn="b"/>
                      <a:r>
                        <a:rPr lang="en-US" sz="1000" b="1" u="none" strike="noStrike" dirty="0">
                          <a:solidFill>
                            <a:schemeClr val="bg1"/>
                          </a:solidFill>
                          <a:effectLst/>
                          <a:latin typeface="+mj-lt"/>
                        </a:rPr>
                        <a:t>Actual APC (MU)</a:t>
                      </a:r>
                      <a:endParaRPr lang="en-US" sz="1000" b="1" i="0" u="none" strike="noStrike" dirty="0">
                        <a:solidFill>
                          <a:schemeClr val="bg1"/>
                        </a:solidFill>
                        <a:effectLst/>
                        <a:latin typeface="+mj-lt"/>
                      </a:endParaRPr>
                    </a:p>
                  </a:txBody>
                  <a:tcPr marL="6350" marR="6350" marT="6350" marB="0" anchor="ctr">
                    <a:solidFill>
                      <a:schemeClr val="tx1">
                        <a:lumMod val="75000"/>
                        <a:lumOff val="25000"/>
                      </a:schemeClr>
                    </a:solidFill>
                  </a:tcPr>
                </a:tc>
                <a:tc>
                  <a:txBody>
                    <a:bodyPr/>
                    <a:lstStyle/>
                    <a:p>
                      <a:pPr algn="ctr" fontAlgn="b"/>
                      <a:r>
                        <a:rPr lang="en-US" sz="1000" b="1" i="0" u="none" strike="noStrike" dirty="0">
                          <a:solidFill>
                            <a:schemeClr val="bg1"/>
                          </a:solidFill>
                          <a:effectLst/>
                          <a:latin typeface="+mj-lt"/>
                        </a:rPr>
                        <a:t>Actual Net Generation (MU)</a:t>
                      </a:r>
                    </a:p>
                  </a:txBody>
                  <a:tcPr marL="6350" marR="6350" marT="6350" marB="0" anchor="ctr">
                    <a:solidFill>
                      <a:schemeClr val="tx1">
                        <a:lumMod val="75000"/>
                        <a:lumOff val="25000"/>
                      </a:schemeClr>
                    </a:solidFill>
                  </a:tcPr>
                </a:tc>
                <a:extLst>
                  <a:ext uri="{0D108BD9-81ED-4DB2-BD59-A6C34878D82A}">
                    <a16:rowId xmlns:a16="http://schemas.microsoft.com/office/drawing/2014/main" val="115543388"/>
                  </a:ext>
                </a:extLst>
              </a:tr>
              <a:tr h="329626">
                <a:tc>
                  <a:txBody>
                    <a:bodyPr/>
                    <a:lstStyle/>
                    <a:p>
                      <a:pPr algn="l" fontAlgn="b"/>
                      <a:r>
                        <a:rPr lang="en-US" sz="1100" u="none" strike="noStrike">
                          <a:effectLst/>
                        </a:rPr>
                        <a:t>Kolaghat (Unit 1-6)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1260</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349.81</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25.95%</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70%</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dirty="0">
                          <a:effectLst/>
                        </a:rPr>
                        <a:t>244999.59</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mj-lt"/>
                        </a:rPr>
                        <a:t>2871.67</a:t>
                      </a:r>
                    </a:p>
                  </a:txBody>
                  <a:tcPr marL="6350" marR="6350" marT="6350" marB="0" anchor="ctr"/>
                </a:tc>
                <a:tc>
                  <a:txBody>
                    <a:bodyPr/>
                    <a:lstStyle/>
                    <a:p>
                      <a:pPr algn="ctr" fontAlgn="b"/>
                      <a:r>
                        <a:rPr lang="en-US" sz="1100" b="0" i="0" u="none" strike="noStrike" dirty="0">
                          <a:solidFill>
                            <a:srgbClr val="000000"/>
                          </a:solidFill>
                          <a:effectLst/>
                          <a:latin typeface="+mj-lt"/>
                        </a:rPr>
                        <a:t>354.00</a:t>
                      </a:r>
                    </a:p>
                  </a:txBody>
                  <a:tcPr marL="6350" marR="6350" marT="6350" marB="0" anchor="ctr"/>
                </a:tc>
                <a:tc>
                  <a:txBody>
                    <a:bodyPr/>
                    <a:lstStyle/>
                    <a:p>
                      <a:pPr algn="ctr" fontAlgn="b"/>
                      <a:r>
                        <a:rPr lang="en-US" sz="1100" b="0" i="0" u="none" strike="noStrike">
                          <a:solidFill>
                            <a:srgbClr val="000000"/>
                          </a:solidFill>
                          <a:effectLst/>
                          <a:latin typeface="+mj-lt"/>
                        </a:rPr>
                        <a:t>2517.68</a:t>
                      </a:r>
                    </a:p>
                  </a:txBody>
                  <a:tcPr marL="6350" marR="6350" marT="6350" marB="0" anchor="ctr"/>
                </a:tc>
                <a:extLst>
                  <a:ext uri="{0D108BD9-81ED-4DB2-BD59-A6C34878D82A}">
                    <a16:rowId xmlns:a16="http://schemas.microsoft.com/office/drawing/2014/main" val="295716824"/>
                  </a:ext>
                </a:extLst>
              </a:tr>
              <a:tr h="329626">
                <a:tc>
                  <a:txBody>
                    <a:bodyPr/>
                    <a:lstStyle/>
                    <a:p>
                      <a:pPr algn="l" fontAlgn="b"/>
                      <a:r>
                        <a:rPr lang="en-US" sz="1100" u="none" strike="noStrike">
                          <a:effectLst/>
                        </a:rPr>
                        <a:t>Bakreswar (Unit 1-5)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1050</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255.73</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75.86%</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80%</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171709.77</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mj-lt"/>
                        </a:rPr>
                        <a:t>6996.73</a:t>
                      </a:r>
                    </a:p>
                  </a:txBody>
                  <a:tcPr marL="6350" marR="6350" marT="6350" marB="0" anchor="ctr"/>
                </a:tc>
                <a:tc>
                  <a:txBody>
                    <a:bodyPr/>
                    <a:lstStyle/>
                    <a:p>
                      <a:pPr algn="ctr" fontAlgn="b"/>
                      <a:r>
                        <a:rPr lang="en-US" sz="1100" b="0" i="0" u="none" strike="noStrike" dirty="0">
                          <a:solidFill>
                            <a:srgbClr val="000000"/>
                          </a:solidFill>
                          <a:effectLst/>
                          <a:latin typeface="+mj-lt"/>
                        </a:rPr>
                        <a:t>629.53</a:t>
                      </a:r>
                    </a:p>
                  </a:txBody>
                  <a:tcPr marL="6350" marR="6350" marT="6350" marB="0" anchor="ctr"/>
                </a:tc>
                <a:tc>
                  <a:txBody>
                    <a:bodyPr/>
                    <a:lstStyle/>
                    <a:p>
                      <a:pPr algn="ctr" fontAlgn="b"/>
                      <a:r>
                        <a:rPr lang="en-US" sz="1100" b="0" i="0" u="none" strike="noStrike">
                          <a:solidFill>
                            <a:srgbClr val="000000"/>
                          </a:solidFill>
                          <a:effectLst/>
                          <a:latin typeface="+mj-lt"/>
                        </a:rPr>
                        <a:t>6367.20</a:t>
                      </a:r>
                    </a:p>
                  </a:txBody>
                  <a:tcPr marL="6350" marR="6350" marT="6350" marB="0" anchor="ctr"/>
                </a:tc>
                <a:extLst>
                  <a:ext uri="{0D108BD9-81ED-4DB2-BD59-A6C34878D82A}">
                    <a16:rowId xmlns:a16="http://schemas.microsoft.com/office/drawing/2014/main" val="391743352"/>
                  </a:ext>
                </a:extLst>
              </a:tr>
              <a:tr h="329626">
                <a:tc>
                  <a:txBody>
                    <a:bodyPr/>
                    <a:lstStyle/>
                    <a:p>
                      <a:pPr algn="l" fontAlgn="b"/>
                      <a:r>
                        <a:rPr lang="en-US" sz="1100" u="none" strike="noStrike">
                          <a:effectLst/>
                        </a:rPr>
                        <a:t>Bandel I (Unit 1-2)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120</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373.89</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29.69%</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65%</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22952.72</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mj-lt"/>
                        </a:rPr>
                        <a:t>268.65</a:t>
                      </a:r>
                    </a:p>
                  </a:txBody>
                  <a:tcPr marL="6350" marR="6350" marT="6350" marB="0" anchor="ctr"/>
                </a:tc>
                <a:tc>
                  <a:txBody>
                    <a:bodyPr/>
                    <a:lstStyle/>
                    <a:p>
                      <a:pPr algn="ctr" fontAlgn="b"/>
                      <a:r>
                        <a:rPr lang="en-US" sz="1100" b="0" i="0" u="none" strike="noStrike" dirty="0">
                          <a:solidFill>
                            <a:srgbClr val="000000"/>
                          </a:solidFill>
                          <a:effectLst/>
                          <a:latin typeface="+mj-lt"/>
                        </a:rPr>
                        <a:t>36.74</a:t>
                      </a:r>
                    </a:p>
                  </a:txBody>
                  <a:tcPr marL="6350" marR="6350" marT="6350" marB="0" anchor="ctr"/>
                </a:tc>
                <a:tc>
                  <a:txBody>
                    <a:bodyPr/>
                    <a:lstStyle/>
                    <a:p>
                      <a:pPr algn="ctr" fontAlgn="b"/>
                      <a:r>
                        <a:rPr lang="en-US" sz="1100" b="0" i="0" u="none" strike="noStrike">
                          <a:solidFill>
                            <a:srgbClr val="000000"/>
                          </a:solidFill>
                          <a:effectLst/>
                          <a:latin typeface="+mj-lt"/>
                        </a:rPr>
                        <a:t>231.91</a:t>
                      </a:r>
                    </a:p>
                  </a:txBody>
                  <a:tcPr marL="6350" marR="6350" marT="6350" marB="0" anchor="ctr"/>
                </a:tc>
                <a:extLst>
                  <a:ext uri="{0D108BD9-81ED-4DB2-BD59-A6C34878D82A}">
                    <a16:rowId xmlns:a16="http://schemas.microsoft.com/office/drawing/2014/main" val="2681549570"/>
                  </a:ext>
                </a:extLst>
              </a:tr>
              <a:tr h="329626">
                <a:tc>
                  <a:txBody>
                    <a:bodyPr/>
                    <a:lstStyle/>
                    <a:p>
                      <a:pPr algn="l" fontAlgn="b"/>
                      <a:r>
                        <a:rPr lang="en-US" sz="1100" u="none" strike="noStrike">
                          <a:effectLst/>
                        </a:rPr>
                        <a:t>Bandel II (Unit -5)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215</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292.25</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28.99%</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73%</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40180.2</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mj-lt"/>
                        </a:rPr>
                        <a:t>592.41</a:t>
                      </a:r>
                    </a:p>
                  </a:txBody>
                  <a:tcPr marL="6350" marR="6350" marT="6350" marB="0" anchor="ctr"/>
                </a:tc>
                <a:tc>
                  <a:txBody>
                    <a:bodyPr/>
                    <a:lstStyle/>
                    <a:p>
                      <a:pPr algn="ctr" fontAlgn="b"/>
                      <a:r>
                        <a:rPr lang="en-US" sz="1100" b="0" i="0" u="none" strike="noStrike" dirty="0">
                          <a:solidFill>
                            <a:srgbClr val="000000"/>
                          </a:solidFill>
                          <a:effectLst/>
                          <a:latin typeface="+mj-lt"/>
                        </a:rPr>
                        <a:t>70.10</a:t>
                      </a:r>
                    </a:p>
                  </a:txBody>
                  <a:tcPr marL="6350" marR="6350" marT="6350" marB="0" anchor="ctr"/>
                </a:tc>
                <a:tc>
                  <a:txBody>
                    <a:bodyPr/>
                    <a:lstStyle/>
                    <a:p>
                      <a:pPr algn="ctr" fontAlgn="b"/>
                      <a:r>
                        <a:rPr lang="en-US" sz="1100" b="0" i="0" u="none" strike="noStrike">
                          <a:solidFill>
                            <a:srgbClr val="000000"/>
                          </a:solidFill>
                          <a:effectLst/>
                          <a:latin typeface="+mj-lt"/>
                        </a:rPr>
                        <a:t>522.31</a:t>
                      </a:r>
                    </a:p>
                  </a:txBody>
                  <a:tcPr marL="6350" marR="6350" marT="6350" marB="0" anchor="ctr"/>
                </a:tc>
                <a:extLst>
                  <a:ext uri="{0D108BD9-81ED-4DB2-BD59-A6C34878D82A}">
                    <a16:rowId xmlns:a16="http://schemas.microsoft.com/office/drawing/2014/main" val="178766764"/>
                  </a:ext>
                </a:extLst>
              </a:tr>
              <a:tr h="329626">
                <a:tc>
                  <a:txBody>
                    <a:bodyPr/>
                    <a:lstStyle/>
                    <a:p>
                      <a:pPr algn="l" fontAlgn="b"/>
                      <a:r>
                        <a:rPr lang="en-US" sz="1100" u="none" strike="noStrike">
                          <a:effectLst/>
                        </a:rPr>
                        <a:t>Santaldih (Unit 5-6)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500</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286.80</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84.10%</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80%</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91699.2</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mj-lt"/>
                        </a:rPr>
                        <a:t>3693.58</a:t>
                      </a:r>
                    </a:p>
                  </a:txBody>
                  <a:tcPr marL="6350" marR="6350" marT="6350" marB="0" anchor="ctr"/>
                </a:tc>
                <a:tc>
                  <a:txBody>
                    <a:bodyPr/>
                    <a:lstStyle/>
                    <a:p>
                      <a:pPr algn="ctr" fontAlgn="b"/>
                      <a:r>
                        <a:rPr lang="en-US" sz="1100" b="0" i="0" u="none" strike="noStrike" dirty="0">
                          <a:solidFill>
                            <a:srgbClr val="000000"/>
                          </a:solidFill>
                          <a:effectLst/>
                          <a:latin typeface="+mj-lt"/>
                        </a:rPr>
                        <a:t>304.68</a:t>
                      </a:r>
                    </a:p>
                  </a:txBody>
                  <a:tcPr marL="6350" marR="6350" marT="6350" marB="0" anchor="ctr"/>
                </a:tc>
                <a:tc>
                  <a:txBody>
                    <a:bodyPr/>
                    <a:lstStyle/>
                    <a:p>
                      <a:pPr algn="ctr" fontAlgn="b"/>
                      <a:r>
                        <a:rPr lang="en-US" sz="1100" b="0" i="0" u="none" strike="noStrike">
                          <a:solidFill>
                            <a:srgbClr val="000000"/>
                          </a:solidFill>
                          <a:effectLst/>
                          <a:latin typeface="+mj-lt"/>
                        </a:rPr>
                        <a:t>3388.90</a:t>
                      </a:r>
                    </a:p>
                  </a:txBody>
                  <a:tcPr marL="6350" marR="6350" marT="6350" marB="0" anchor="ctr"/>
                </a:tc>
                <a:extLst>
                  <a:ext uri="{0D108BD9-81ED-4DB2-BD59-A6C34878D82A}">
                    <a16:rowId xmlns:a16="http://schemas.microsoft.com/office/drawing/2014/main" val="3612890703"/>
                  </a:ext>
                </a:extLst>
              </a:tr>
              <a:tr h="329626">
                <a:tc>
                  <a:txBody>
                    <a:bodyPr/>
                    <a:lstStyle/>
                    <a:p>
                      <a:pPr algn="l" fontAlgn="b"/>
                      <a:r>
                        <a:rPr lang="en-US" sz="1100" u="none" strike="noStrike">
                          <a:effectLst/>
                        </a:rPr>
                        <a:t>Sagardighi (Unit 1-2)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600</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268.50</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51.30%</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a:effectLst/>
                        </a:rPr>
                        <a:t>80%</a:t>
                      </a:r>
                      <a:endParaRPr lang="en-US"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dirty="0">
                          <a:effectLst/>
                        </a:rPr>
                        <a:t>103018.43</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mj-lt"/>
                        </a:rPr>
                        <a:t>2510.73</a:t>
                      </a:r>
                    </a:p>
                  </a:txBody>
                  <a:tcPr marL="6350" marR="6350" marT="6350" marB="0" anchor="ctr"/>
                </a:tc>
                <a:tc>
                  <a:txBody>
                    <a:bodyPr/>
                    <a:lstStyle/>
                    <a:p>
                      <a:pPr algn="ctr" fontAlgn="b"/>
                      <a:r>
                        <a:rPr lang="en-US" sz="1100" b="0" i="0" u="none" strike="noStrike" dirty="0">
                          <a:solidFill>
                            <a:srgbClr val="000000"/>
                          </a:solidFill>
                          <a:effectLst/>
                          <a:latin typeface="+mj-lt"/>
                        </a:rPr>
                        <a:t>223.30</a:t>
                      </a:r>
                    </a:p>
                  </a:txBody>
                  <a:tcPr marL="6350" marR="6350" marT="6350" marB="0" anchor="ctr"/>
                </a:tc>
                <a:tc>
                  <a:txBody>
                    <a:bodyPr/>
                    <a:lstStyle/>
                    <a:p>
                      <a:pPr algn="ctr" fontAlgn="b"/>
                      <a:r>
                        <a:rPr lang="en-US" sz="1100" b="0" i="0" u="none" strike="noStrike">
                          <a:solidFill>
                            <a:srgbClr val="000000"/>
                          </a:solidFill>
                          <a:effectLst/>
                          <a:latin typeface="+mj-lt"/>
                        </a:rPr>
                        <a:t>2287.43</a:t>
                      </a:r>
                    </a:p>
                  </a:txBody>
                  <a:tcPr marL="6350" marR="6350" marT="6350" marB="0" anchor="ctr"/>
                </a:tc>
                <a:extLst>
                  <a:ext uri="{0D108BD9-81ED-4DB2-BD59-A6C34878D82A}">
                    <a16:rowId xmlns:a16="http://schemas.microsoft.com/office/drawing/2014/main" val="1329321104"/>
                  </a:ext>
                </a:extLst>
              </a:tr>
              <a:tr h="329626">
                <a:tc>
                  <a:txBody>
                    <a:bodyPr/>
                    <a:lstStyle/>
                    <a:p>
                      <a:pPr algn="l" fontAlgn="b"/>
                      <a:r>
                        <a:rPr lang="en-US" sz="1100" u="none" strike="noStrike" dirty="0" err="1">
                          <a:effectLst/>
                        </a:rPr>
                        <a:t>Sagardighi</a:t>
                      </a:r>
                      <a:r>
                        <a:rPr lang="en-US" sz="1100" u="none" strike="noStrike" dirty="0">
                          <a:effectLst/>
                        </a:rPr>
                        <a:t> (Unit 3-4)</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1000</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dirty="0">
                          <a:effectLst/>
                        </a:rPr>
                        <a:t>261.70</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dirty="0">
                          <a:effectLst/>
                        </a:rPr>
                        <a:t>45.44%</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dirty="0">
                          <a:effectLst/>
                        </a:rPr>
                        <a:t>80%</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u="none" strike="noStrike" dirty="0">
                          <a:effectLst/>
                        </a:rPr>
                        <a:t>167349.06</a:t>
                      </a:r>
                      <a:endParaRPr lang="en-US"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0" i="0" u="none" strike="noStrike" dirty="0">
                          <a:solidFill>
                            <a:srgbClr val="000000"/>
                          </a:solidFill>
                          <a:effectLst/>
                          <a:latin typeface="+mj-lt"/>
                        </a:rPr>
                        <a:t>4184.55</a:t>
                      </a:r>
                    </a:p>
                  </a:txBody>
                  <a:tcPr marL="6350" marR="6350" marT="6350" marB="0" anchor="ctr"/>
                </a:tc>
                <a:tc>
                  <a:txBody>
                    <a:bodyPr/>
                    <a:lstStyle/>
                    <a:p>
                      <a:pPr algn="ctr" fontAlgn="b"/>
                      <a:r>
                        <a:rPr lang="en-US" sz="1100" b="0" i="0" u="none" strike="noStrike" dirty="0">
                          <a:solidFill>
                            <a:srgbClr val="000000"/>
                          </a:solidFill>
                          <a:effectLst/>
                          <a:latin typeface="+mj-lt"/>
                        </a:rPr>
                        <a:t>372.17</a:t>
                      </a:r>
                    </a:p>
                  </a:txBody>
                  <a:tcPr marL="6350" marR="6350" marT="6350" marB="0" anchor="ctr"/>
                </a:tc>
                <a:tc>
                  <a:txBody>
                    <a:bodyPr/>
                    <a:lstStyle/>
                    <a:p>
                      <a:pPr algn="ctr" fontAlgn="b"/>
                      <a:r>
                        <a:rPr lang="en-US" sz="1100" b="0" i="0" u="none" strike="noStrike" dirty="0">
                          <a:solidFill>
                            <a:srgbClr val="000000"/>
                          </a:solidFill>
                          <a:effectLst/>
                          <a:latin typeface="+mj-lt"/>
                        </a:rPr>
                        <a:t>3812.38</a:t>
                      </a:r>
                    </a:p>
                  </a:txBody>
                  <a:tcPr marL="6350" marR="6350" marT="6350" marB="0" anchor="ctr"/>
                </a:tc>
                <a:extLst>
                  <a:ext uri="{0D108BD9-81ED-4DB2-BD59-A6C34878D82A}">
                    <a16:rowId xmlns:a16="http://schemas.microsoft.com/office/drawing/2014/main" val="2585128345"/>
                  </a:ext>
                </a:extLst>
              </a:tr>
              <a:tr h="167877">
                <a:tc>
                  <a:txBody>
                    <a:bodyPr/>
                    <a:lstStyle/>
                    <a:p>
                      <a:pPr algn="l" fontAlgn="b"/>
                      <a:r>
                        <a:rPr lang="en-US" sz="1100" b="1" i="0" u="none" strike="noStrike" dirty="0">
                          <a:solidFill>
                            <a:srgbClr val="000000"/>
                          </a:solidFill>
                          <a:effectLst/>
                          <a:latin typeface="Calibri" panose="020F0502020204030204" pitchFamily="34" charset="0"/>
                        </a:rPr>
                        <a:t>Gross Total</a:t>
                      </a:r>
                    </a:p>
                  </a:txBody>
                  <a:tcPr marL="6350" marR="6350" marT="6350" marB="0" anchor="b"/>
                </a:tc>
                <a:tc>
                  <a:txBody>
                    <a:body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u="none" strike="noStrike" dirty="0">
                          <a:effectLst/>
                        </a:rPr>
                        <a:t>841908.97</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dirty="0">
                          <a:solidFill>
                            <a:srgbClr val="000000"/>
                          </a:solidFill>
                          <a:effectLst/>
                          <a:latin typeface="+mj-lt"/>
                        </a:rPr>
                        <a:t>21118.32</a:t>
                      </a:r>
                    </a:p>
                  </a:txBody>
                  <a:tcPr marL="6350" marR="6350" marT="6350" marB="0" anchor="ctr"/>
                </a:tc>
                <a:tc>
                  <a:txBody>
                    <a:bodyPr/>
                    <a:lstStyle/>
                    <a:p>
                      <a:pPr algn="ctr" fontAlgn="b"/>
                      <a:r>
                        <a:rPr lang="en-US" sz="1100" b="1" i="0" u="none" strike="noStrike" dirty="0">
                          <a:solidFill>
                            <a:srgbClr val="000000"/>
                          </a:solidFill>
                          <a:effectLst/>
                          <a:latin typeface="+mj-lt"/>
                        </a:rPr>
                        <a:t>1990.52</a:t>
                      </a:r>
                    </a:p>
                  </a:txBody>
                  <a:tcPr marL="6350" marR="6350" marT="6350" marB="0" anchor="ctr"/>
                </a:tc>
                <a:tc>
                  <a:txBody>
                    <a:bodyPr/>
                    <a:lstStyle/>
                    <a:p>
                      <a:pPr algn="ctr" fontAlgn="b"/>
                      <a:r>
                        <a:rPr lang="en-US" sz="1100" b="1" i="0" u="none" strike="noStrike" dirty="0">
                          <a:solidFill>
                            <a:srgbClr val="000000"/>
                          </a:solidFill>
                          <a:effectLst/>
                          <a:latin typeface="+mj-lt"/>
                        </a:rPr>
                        <a:t>19127.80</a:t>
                      </a:r>
                    </a:p>
                  </a:txBody>
                  <a:tcPr marL="6350" marR="6350" marT="6350" marB="0" anchor="ctr"/>
                </a:tc>
                <a:extLst>
                  <a:ext uri="{0D108BD9-81ED-4DB2-BD59-A6C34878D82A}">
                    <a16:rowId xmlns:a16="http://schemas.microsoft.com/office/drawing/2014/main" val="1330697037"/>
                  </a:ext>
                </a:extLst>
              </a:tr>
            </a:tbl>
          </a:graphicData>
        </a:graphic>
      </p:graphicFrame>
    </p:spTree>
    <p:extLst>
      <p:ext uri="{BB962C8B-B14F-4D97-AF65-F5344CB8AC3E}">
        <p14:creationId xmlns:p14="http://schemas.microsoft.com/office/powerpoint/2010/main" val="3131819830"/>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Captive Coal Mines associated with WBPDCL– Current and Future Capacities</a:t>
            </a:r>
          </a:p>
        </p:txBody>
      </p:sp>
      <p:sp>
        <p:nvSpPr>
          <p:cNvPr id="22" name="TextBox 21">
            <a:extLst>
              <a:ext uri="{FF2B5EF4-FFF2-40B4-BE49-F238E27FC236}">
                <a16:creationId xmlns:a16="http://schemas.microsoft.com/office/drawing/2014/main" id="{62DDA96D-FBEF-473D-A04D-89B6D7F7CEF5}"/>
              </a:ext>
            </a:extLst>
          </p:cNvPr>
          <p:cNvSpPr txBox="1"/>
          <p:nvPr/>
        </p:nvSpPr>
        <p:spPr>
          <a:xfrm>
            <a:off x="3178629" y="6553198"/>
            <a:ext cx="8294914" cy="307777"/>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1" i="1" u="none" strike="noStrike" kern="1200" cap="none" spc="0" normalizeH="0" baseline="0" noProof="0" dirty="0">
                <a:ln>
                  <a:noFill/>
                </a:ln>
                <a:solidFill>
                  <a:srgbClr val="313131"/>
                </a:solidFill>
                <a:effectLst/>
                <a:uLnTx/>
                <a:uFillTx/>
                <a:latin typeface="Verdana"/>
                <a:ea typeface="+mn-ea"/>
                <a:cs typeface="+mn-cs"/>
              </a:rPr>
              <a:t>Source:</a:t>
            </a:r>
            <a:r>
              <a:rPr kumimoji="0" lang="en-US" sz="1000" b="0" i="1" u="none" strike="noStrike" kern="1200" cap="none" spc="0" normalizeH="0" baseline="0" noProof="0" dirty="0">
                <a:ln>
                  <a:noFill/>
                </a:ln>
                <a:solidFill>
                  <a:srgbClr val="313131"/>
                </a:solidFill>
                <a:effectLst/>
                <a:uLnTx/>
                <a:uFillTx/>
                <a:latin typeface="Verdana"/>
                <a:ea typeface="+mn-ea"/>
                <a:cs typeface="+mn-cs"/>
              </a:rPr>
              <a:t> For FY 2019-20 1)Actual figures from Tariff Petition for FY 2020-21, 2021-22, 2022-23. 2) Admitted figures from respective Tariff Order FY 2018-19,2019-20. 3) COD dates from WBPDCL</a:t>
            </a:r>
          </a:p>
        </p:txBody>
      </p:sp>
      <p:graphicFrame>
        <p:nvGraphicFramePr>
          <p:cNvPr id="7" name="Table 6">
            <a:extLst>
              <a:ext uri="{FF2B5EF4-FFF2-40B4-BE49-F238E27FC236}">
                <a16:creationId xmlns:a16="http://schemas.microsoft.com/office/drawing/2014/main" id="{5B73ED47-DC3D-45E5-9CD0-BD20D95ACBD2}"/>
              </a:ext>
            </a:extLst>
          </p:cNvPr>
          <p:cNvGraphicFramePr>
            <a:graphicFrameLocks noGrp="1"/>
          </p:cNvGraphicFramePr>
          <p:nvPr/>
        </p:nvGraphicFramePr>
        <p:xfrm>
          <a:off x="1036286" y="1249981"/>
          <a:ext cx="10272180" cy="2650687"/>
        </p:xfrm>
        <a:graphic>
          <a:graphicData uri="http://schemas.openxmlformats.org/drawingml/2006/table">
            <a:tbl>
              <a:tblPr>
                <a:tableStyleId>{5C22544A-7EE6-4342-B048-85BDC9FD1C3A}</a:tableStyleId>
              </a:tblPr>
              <a:tblGrid>
                <a:gridCol w="219491">
                  <a:extLst>
                    <a:ext uri="{9D8B030D-6E8A-4147-A177-3AD203B41FA5}">
                      <a16:colId xmlns:a16="http://schemas.microsoft.com/office/drawing/2014/main" val="35612503"/>
                    </a:ext>
                  </a:extLst>
                </a:gridCol>
                <a:gridCol w="2611943">
                  <a:extLst>
                    <a:ext uri="{9D8B030D-6E8A-4147-A177-3AD203B41FA5}">
                      <a16:colId xmlns:a16="http://schemas.microsoft.com/office/drawing/2014/main" val="1000333744"/>
                    </a:ext>
                  </a:extLst>
                </a:gridCol>
                <a:gridCol w="2458299">
                  <a:extLst>
                    <a:ext uri="{9D8B030D-6E8A-4147-A177-3AD203B41FA5}">
                      <a16:colId xmlns:a16="http://schemas.microsoft.com/office/drawing/2014/main" val="4141852605"/>
                    </a:ext>
                  </a:extLst>
                </a:gridCol>
                <a:gridCol w="1053558">
                  <a:extLst>
                    <a:ext uri="{9D8B030D-6E8A-4147-A177-3AD203B41FA5}">
                      <a16:colId xmlns:a16="http://schemas.microsoft.com/office/drawing/2014/main" val="3880681034"/>
                    </a:ext>
                  </a:extLst>
                </a:gridCol>
                <a:gridCol w="2085165">
                  <a:extLst>
                    <a:ext uri="{9D8B030D-6E8A-4147-A177-3AD203B41FA5}">
                      <a16:colId xmlns:a16="http://schemas.microsoft.com/office/drawing/2014/main" val="81860807"/>
                    </a:ext>
                  </a:extLst>
                </a:gridCol>
                <a:gridCol w="1843724">
                  <a:extLst>
                    <a:ext uri="{9D8B030D-6E8A-4147-A177-3AD203B41FA5}">
                      <a16:colId xmlns:a16="http://schemas.microsoft.com/office/drawing/2014/main" val="2659711838"/>
                    </a:ext>
                  </a:extLst>
                </a:gridCol>
              </a:tblGrid>
              <a:tr h="576286">
                <a:tc>
                  <a:txBody>
                    <a:bodyPr/>
                    <a:lstStyle/>
                    <a:p>
                      <a:pPr algn="ctr" fontAlgn="ctr"/>
                      <a:r>
                        <a:rPr lang="en-US" sz="1600" u="none" strike="noStrike" dirty="0">
                          <a:effectLst/>
                          <a:latin typeface="+mj-lt"/>
                        </a:rPr>
                        <a:t>#</a:t>
                      </a:r>
                      <a:endParaRPr lang="en-US" sz="16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600" u="none" strike="noStrike" dirty="0">
                          <a:effectLst/>
                          <a:latin typeface="+mj-lt"/>
                        </a:rPr>
                        <a:t>Names of Mines </a:t>
                      </a:r>
                      <a:endParaRPr lang="en-US" sz="16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600" u="none" strike="noStrike" dirty="0">
                          <a:effectLst/>
                          <a:latin typeface="+mj-lt"/>
                        </a:rPr>
                        <a:t>District</a:t>
                      </a:r>
                      <a:endParaRPr lang="en-US" sz="16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600" u="none" strike="noStrike" dirty="0">
                          <a:effectLst/>
                          <a:latin typeface="+mj-lt"/>
                        </a:rPr>
                        <a:t>Grade </a:t>
                      </a:r>
                      <a:endParaRPr lang="en-US" sz="16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600" u="none" strike="noStrike" dirty="0">
                          <a:effectLst/>
                          <a:latin typeface="+mj-lt"/>
                        </a:rPr>
                        <a:t>Current production (MTPA)</a:t>
                      </a:r>
                      <a:endParaRPr lang="en-US" sz="1600" b="1" i="0" u="none" strike="noStrike" dirty="0">
                        <a:solidFill>
                          <a:srgbClr val="000000"/>
                        </a:solidFill>
                        <a:effectLst/>
                        <a:latin typeface="+mj-lt"/>
                      </a:endParaRPr>
                    </a:p>
                  </a:txBody>
                  <a:tcPr marL="6350" marR="6350" marT="6350" marB="0" anchor="ctr">
                    <a:solidFill>
                      <a:schemeClr val="accent2"/>
                    </a:solidFill>
                  </a:tcPr>
                </a:tc>
                <a:tc>
                  <a:txBody>
                    <a:bodyPr/>
                    <a:lstStyle/>
                    <a:p>
                      <a:pPr algn="ctr" fontAlgn="ctr"/>
                      <a:r>
                        <a:rPr lang="en-US" sz="1600" u="none" strike="noStrike" dirty="0">
                          <a:effectLst/>
                          <a:latin typeface="+mj-lt"/>
                        </a:rPr>
                        <a:t>Future Plans (MTPA)</a:t>
                      </a:r>
                      <a:endParaRPr lang="en-US" sz="1600" b="1" i="0" u="none" strike="noStrike" dirty="0">
                        <a:solidFill>
                          <a:srgbClr val="000000"/>
                        </a:solidFill>
                        <a:effectLst/>
                        <a:latin typeface="+mj-lt"/>
                      </a:endParaRPr>
                    </a:p>
                  </a:txBody>
                  <a:tcPr marL="6350" marR="6350" marT="6350" marB="0" anchor="ctr">
                    <a:solidFill>
                      <a:schemeClr val="accent2"/>
                    </a:solidFill>
                  </a:tcPr>
                </a:tc>
                <a:extLst>
                  <a:ext uri="{0D108BD9-81ED-4DB2-BD59-A6C34878D82A}">
                    <a16:rowId xmlns:a16="http://schemas.microsoft.com/office/drawing/2014/main" val="3752230862"/>
                  </a:ext>
                </a:extLst>
              </a:tr>
              <a:tr h="401696">
                <a:tc>
                  <a:txBody>
                    <a:bodyPr/>
                    <a:lstStyle/>
                    <a:p>
                      <a:pPr algn="ctr" fontAlgn="ctr"/>
                      <a:r>
                        <a:rPr lang="en-US" sz="1600" u="none" strike="noStrike" dirty="0">
                          <a:effectLst/>
                          <a:latin typeface="+mj-lt"/>
                        </a:rPr>
                        <a:t>1</a:t>
                      </a:r>
                      <a:endParaRPr lang="en-US" sz="16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Panchura North</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Jharkhand (Pakur Dist.)</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G9</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10</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15</a:t>
                      </a:r>
                      <a:endParaRPr lang="en-US" sz="1600" b="0" i="0" u="none" strike="noStrike">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537104956"/>
                  </a:ext>
                </a:extLst>
              </a:tr>
              <a:tr h="293027">
                <a:tc>
                  <a:txBody>
                    <a:bodyPr/>
                    <a:lstStyle/>
                    <a:p>
                      <a:pPr algn="ctr" fontAlgn="ctr"/>
                      <a:r>
                        <a:rPr lang="en-US" sz="1600" u="none" strike="noStrike" dirty="0">
                          <a:effectLst/>
                          <a:latin typeface="+mj-lt"/>
                        </a:rPr>
                        <a:t>2</a:t>
                      </a:r>
                      <a:endParaRPr lang="en-US" sz="16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Borjor North</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Bankura</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G13</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2.25</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3</a:t>
                      </a:r>
                      <a:endParaRPr lang="en-US" sz="1600" b="0" i="0" u="none" strike="noStrike">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3634741202"/>
                  </a:ext>
                </a:extLst>
              </a:tr>
              <a:tr h="401696">
                <a:tc>
                  <a:txBody>
                    <a:bodyPr/>
                    <a:lstStyle/>
                    <a:p>
                      <a:pPr algn="ctr" fontAlgn="ctr"/>
                      <a:r>
                        <a:rPr lang="en-US" sz="1600" u="none" strike="noStrike" dirty="0">
                          <a:effectLst/>
                          <a:latin typeface="+mj-lt"/>
                        </a:rPr>
                        <a:t>3</a:t>
                      </a:r>
                      <a:endParaRPr lang="en-US" sz="16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dirty="0" err="1">
                          <a:effectLst/>
                          <a:latin typeface="+mj-lt"/>
                        </a:rPr>
                        <a:t>Borjora</a:t>
                      </a:r>
                      <a:r>
                        <a:rPr lang="en-US" sz="1600" u="none" strike="noStrike" dirty="0">
                          <a:effectLst/>
                          <a:latin typeface="+mj-lt"/>
                        </a:rPr>
                        <a:t> Coal Mine</a:t>
                      </a:r>
                      <a:endParaRPr lang="en-US" sz="16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Birbhum</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G7</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0.36</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dirty="0">
                          <a:effectLst/>
                          <a:latin typeface="+mj-lt"/>
                        </a:rPr>
                        <a:t>Will End this year</a:t>
                      </a:r>
                      <a:endParaRPr lang="en-US" sz="1600" b="0" i="0" u="none" strike="noStrike" dirty="0">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3086134596"/>
                  </a:ext>
                </a:extLst>
              </a:tr>
              <a:tr h="401696">
                <a:tc>
                  <a:txBody>
                    <a:bodyPr/>
                    <a:lstStyle/>
                    <a:p>
                      <a:pPr algn="ctr" fontAlgn="ctr"/>
                      <a:r>
                        <a:rPr lang="en-US" sz="1600" u="none" strike="noStrike" dirty="0">
                          <a:effectLst/>
                          <a:latin typeface="+mj-lt"/>
                        </a:rPr>
                        <a:t>4</a:t>
                      </a:r>
                      <a:endParaRPr lang="en-US" sz="16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Gangaramchak Bhaduria</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Birbhum</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G11</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1</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 </a:t>
                      </a:r>
                      <a:endParaRPr lang="en-US" sz="1600" b="0" i="0" u="none" strike="noStrike">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3733057145"/>
                  </a:ext>
                </a:extLst>
              </a:tr>
              <a:tr h="293027">
                <a:tc>
                  <a:txBody>
                    <a:bodyPr/>
                    <a:lstStyle/>
                    <a:p>
                      <a:pPr algn="ctr" fontAlgn="ctr"/>
                      <a:r>
                        <a:rPr lang="en-US" sz="1600" u="none" strike="noStrike" dirty="0">
                          <a:effectLst/>
                          <a:latin typeface="+mj-lt"/>
                        </a:rPr>
                        <a:t>5</a:t>
                      </a:r>
                      <a:endParaRPr lang="en-US" sz="1600" b="0" i="0" u="none" strike="noStrike" dirty="0">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Tara East &amp; West</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l" fontAlgn="ctr"/>
                      <a:r>
                        <a:rPr lang="en-US" sz="1600" u="none" strike="noStrike">
                          <a:effectLst/>
                          <a:latin typeface="+mj-lt"/>
                        </a:rPr>
                        <a:t>Bardhaman</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G9</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a:t>
                      </a:r>
                      <a:endParaRPr lang="en-US" sz="1600" b="0" i="0" u="none" strike="noStrike">
                        <a:solidFill>
                          <a:srgbClr val="000000"/>
                        </a:solidFill>
                        <a:effectLst/>
                        <a:latin typeface="+mj-lt"/>
                      </a:endParaRPr>
                    </a:p>
                  </a:txBody>
                  <a:tcPr marL="6350" marR="6350" marT="6350" marB="0" anchor="ctr">
                    <a:solidFill>
                      <a:schemeClr val="bg1"/>
                    </a:solidFill>
                  </a:tcPr>
                </a:tc>
                <a:tc>
                  <a:txBody>
                    <a:bodyPr/>
                    <a:lstStyle/>
                    <a:p>
                      <a:pPr algn="ctr" fontAlgn="ctr"/>
                      <a:r>
                        <a:rPr lang="en-US" sz="1600" u="none" strike="noStrike">
                          <a:effectLst/>
                          <a:latin typeface="+mj-lt"/>
                        </a:rPr>
                        <a:t>4</a:t>
                      </a:r>
                      <a:endParaRPr lang="en-US" sz="1600" b="0" i="0" u="none" strike="noStrike">
                        <a:solidFill>
                          <a:srgbClr val="000000"/>
                        </a:solidFill>
                        <a:effectLst/>
                        <a:latin typeface="+mj-lt"/>
                      </a:endParaRPr>
                    </a:p>
                  </a:txBody>
                  <a:tcPr marL="6350" marR="6350" marT="6350" marB="0" anchor="ctr">
                    <a:solidFill>
                      <a:schemeClr val="bg1"/>
                    </a:solidFill>
                  </a:tcPr>
                </a:tc>
                <a:extLst>
                  <a:ext uri="{0D108BD9-81ED-4DB2-BD59-A6C34878D82A}">
                    <a16:rowId xmlns:a16="http://schemas.microsoft.com/office/drawing/2014/main" val="1366364800"/>
                  </a:ext>
                </a:extLst>
              </a:tr>
              <a:tr h="283259">
                <a:tc>
                  <a:txBody>
                    <a:bodyPr/>
                    <a:lstStyle/>
                    <a:p>
                      <a:pPr algn="l" fontAlgn="b"/>
                      <a:endParaRPr lang="en-US" sz="1600" b="0" i="0" u="none" strike="noStrike" dirty="0">
                        <a:solidFill>
                          <a:srgbClr val="000000"/>
                        </a:solidFill>
                        <a:effectLst/>
                        <a:latin typeface="+mj-lt"/>
                      </a:endParaRPr>
                    </a:p>
                  </a:txBody>
                  <a:tcPr marL="6350" marR="6350" marT="6350" marB="0" anchor="b">
                    <a:solidFill>
                      <a:schemeClr val="bg1"/>
                    </a:solidFill>
                  </a:tcPr>
                </a:tc>
                <a:tc>
                  <a:txBody>
                    <a:bodyPr/>
                    <a:lstStyle/>
                    <a:p>
                      <a:pPr algn="l" fontAlgn="b"/>
                      <a:endParaRPr lang="en-US" sz="1600" b="0" i="0" u="none" strike="noStrike" dirty="0">
                        <a:solidFill>
                          <a:srgbClr val="000000"/>
                        </a:solidFill>
                        <a:effectLst/>
                        <a:latin typeface="+mj-lt"/>
                      </a:endParaRPr>
                    </a:p>
                  </a:txBody>
                  <a:tcPr marL="6350" marR="6350" marT="6350" marB="0" anchor="b">
                    <a:solidFill>
                      <a:schemeClr val="bg1"/>
                    </a:solidFill>
                  </a:tcPr>
                </a:tc>
                <a:tc>
                  <a:txBody>
                    <a:bodyPr/>
                    <a:lstStyle/>
                    <a:p>
                      <a:pPr algn="l" fontAlgn="b"/>
                      <a:endParaRPr lang="en-US" sz="1600" b="0" i="0" u="none" strike="noStrike" dirty="0">
                        <a:solidFill>
                          <a:srgbClr val="000000"/>
                        </a:solidFill>
                        <a:effectLst/>
                        <a:latin typeface="+mj-lt"/>
                      </a:endParaRPr>
                    </a:p>
                  </a:txBody>
                  <a:tcPr marL="6350" marR="6350" marT="6350" marB="0" anchor="b">
                    <a:solidFill>
                      <a:schemeClr val="bg1"/>
                    </a:solidFill>
                  </a:tcPr>
                </a:tc>
                <a:tc>
                  <a:txBody>
                    <a:bodyPr/>
                    <a:lstStyle/>
                    <a:p>
                      <a:pPr algn="l" fontAlgn="b"/>
                      <a:endParaRPr lang="en-US" sz="1600" b="0" i="0" u="none" strike="noStrike" dirty="0">
                        <a:solidFill>
                          <a:srgbClr val="000000"/>
                        </a:solidFill>
                        <a:effectLst/>
                        <a:latin typeface="+mj-lt"/>
                      </a:endParaRPr>
                    </a:p>
                  </a:txBody>
                  <a:tcPr marL="6350" marR="6350" marT="6350" marB="0" anchor="b">
                    <a:solidFill>
                      <a:schemeClr val="bg1"/>
                    </a:solidFill>
                  </a:tcPr>
                </a:tc>
                <a:tc>
                  <a:txBody>
                    <a:bodyPr/>
                    <a:lstStyle/>
                    <a:p>
                      <a:pPr algn="ctr" fontAlgn="b"/>
                      <a:r>
                        <a:rPr lang="en-US" sz="1600" b="1" u="none" strike="noStrike" dirty="0">
                          <a:effectLst/>
                          <a:latin typeface="+mj-lt"/>
                        </a:rPr>
                        <a:t>13.61</a:t>
                      </a:r>
                      <a:endParaRPr lang="en-US" sz="1600" b="1" i="0" u="none" strike="noStrike" dirty="0">
                        <a:solidFill>
                          <a:srgbClr val="000000"/>
                        </a:solidFill>
                        <a:effectLst/>
                        <a:latin typeface="+mj-lt"/>
                      </a:endParaRPr>
                    </a:p>
                  </a:txBody>
                  <a:tcPr marL="6350" marR="6350" marT="6350" marB="0" anchor="b">
                    <a:solidFill>
                      <a:schemeClr val="bg1"/>
                    </a:solidFill>
                  </a:tcPr>
                </a:tc>
                <a:tc>
                  <a:txBody>
                    <a:bodyPr/>
                    <a:lstStyle/>
                    <a:p>
                      <a:pPr algn="ctr" fontAlgn="b"/>
                      <a:r>
                        <a:rPr lang="en-US" sz="1600" b="1" u="none" strike="noStrike" dirty="0">
                          <a:effectLst/>
                          <a:latin typeface="+mj-lt"/>
                        </a:rPr>
                        <a:t>22</a:t>
                      </a:r>
                      <a:endParaRPr lang="en-US" sz="1600" b="1" i="0" u="none" strike="noStrike" dirty="0">
                        <a:solidFill>
                          <a:srgbClr val="000000"/>
                        </a:solidFill>
                        <a:effectLst/>
                        <a:latin typeface="+mj-lt"/>
                      </a:endParaRPr>
                    </a:p>
                  </a:txBody>
                  <a:tcPr marL="6350" marR="6350" marT="6350" marB="0" anchor="b">
                    <a:solidFill>
                      <a:schemeClr val="bg1"/>
                    </a:solidFill>
                  </a:tcPr>
                </a:tc>
                <a:extLst>
                  <a:ext uri="{0D108BD9-81ED-4DB2-BD59-A6C34878D82A}">
                    <a16:rowId xmlns:a16="http://schemas.microsoft.com/office/drawing/2014/main" val="4276810122"/>
                  </a:ext>
                </a:extLst>
              </a:tr>
            </a:tbl>
          </a:graphicData>
        </a:graphic>
      </p:graphicFrame>
      <p:sp>
        <p:nvSpPr>
          <p:cNvPr id="8" name="TextBox 7">
            <a:extLst>
              <a:ext uri="{FF2B5EF4-FFF2-40B4-BE49-F238E27FC236}">
                <a16:creationId xmlns:a16="http://schemas.microsoft.com/office/drawing/2014/main" id="{6CA687D8-0B2A-4243-BC38-B78F4BA45E28}"/>
              </a:ext>
            </a:extLst>
          </p:cNvPr>
          <p:cNvSpPr txBox="1"/>
          <p:nvPr/>
        </p:nvSpPr>
        <p:spPr>
          <a:xfrm>
            <a:off x="1036285" y="4249402"/>
            <a:ext cx="10437257" cy="215444"/>
          </a:xfrm>
          <a:prstGeom prst="rect">
            <a:avLst/>
          </a:prstGeom>
          <a:noFill/>
        </p:spPr>
        <p:txBody>
          <a:bodyPr wrap="square" lIns="0" tIns="0" rIns="0" bIns="0" rtlCol="0">
            <a:spAutoFit/>
          </a:bodyPr>
          <a:lstStyle/>
          <a:p>
            <a:pPr>
              <a:spcBef>
                <a:spcPts val="600"/>
              </a:spcBef>
              <a:buSzPct val="100000"/>
            </a:pPr>
            <a:r>
              <a:rPr lang="en-US" sz="1400" b="1" dirty="0">
                <a:solidFill>
                  <a:srgbClr val="313131"/>
                </a:solidFill>
              </a:rPr>
              <a:t>Thus, from above table, it can be seen that additional 8.4 Million </a:t>
            </a:r>
            <a:r>
              <a:rPr lang="en-US" sz="1400" b="1" dirty="0" err="1">
                <a:solidFill>
                  <a:srgbClr val="313131"/>
                </a:solidFill>
              </a:rPr>
              <a:t>Tonnes</a:t>
            </a:r>
            <a:r>
              <a:rPr lang="en-US" sz="1400" b="1" dirty="0">
                <a:solidFill>
                  <a:srgbClr val="313131"/>
                </a:solidFill>
              </a:rPr>
              <a:t> Captive coal can be produced</a:t>
            </a:r>
          </a:p>
        </p:txBody>
      </p:sp>
    </p:spTree>
    <p:extLst>
      <p:ext uri="{BB962C8B-B14F-4D97-AF65-F5344CB8AC3E}">
        <p14:creationId xmlns:p14="http://schemas.microsoft.com/office/powerpoint/2010/main" val="555400065"/>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b="1" dirty="0"/>
              <a:t>Coal mix </a:t>
            </a:r>
            <a:r>
              <a:rPr lang="en-US" sz="2000" b="1" dirty="0"/>
              <a:t>proposed for</a:t>
            </a:r>
            <a:r>
              <a:rPr lang="en-US" b="1" dirty="0"/>
              <a:t> </a:t>
            </a:r>
            <a:r>
              <a:rPr lang="en-US" b="1" dirty="0" err="1"/>
              <a:t>Kolaghat</a:t>
            </a:r>
            <a:r>
              <a:rPr lang="en-US" b="1" dirty="0"/>
              <a:t> as per WBDPCL tariff order w.r.t FY 2019-20</a:t>
            </a:r>
            <a:endParaRPr lang="en-US" sz="1800" b="1" i="0" dirty="0">
              <a:solidFill>
                <a:schemeClr val="tx1"/>
              </a:solidFill>
            </a:endParaRPr>
          </a:p>
        </p:txBody>
      </p:sp>
      <p:graphicFrame>
        <p:nvGraphicFramePr>
          <p:cNvPr id="4" name="Table 3">
            <a:extLst>
              <a:ext uri="{FF2B5EF4-FFF2-40B4-BE49-F238E27FC236}">
                <a16:creationId xmlns:a16="http://schemas.microsoft.com/office/drawing/2014/main" id="{F2C01136-6270-4001-AAB9-105E2058203F}"/>
              </a:ext>
            </a:extLst>
          </p:cNvPr>
          <p:cNvGraphicFramePr>
            <a:graphicFrameLocks noGrp="1"/>
          </p:cNvGraphicFramePr>
          <p:nvPr/>
        </p:nvGraphicFramePr>
        <p:xfrm>
          <a:off x="433136" y="773114"/>
          <a:ext cx="10982425" cy="4175760"/>
        </p:xfrm>
        <a:graphic>
          <a:graphicData uri="http://schemas.openxmlformats.org/drawingml/2006/table">
            <a:tbl>
              <a:tblPr>
                <a:tableStyleId>{93296810-A885-4BE3-A3E7-6D5BEEA58F35}</a:tableStyleId>
              </a:tblPr>
              <a:tblGrid>
                <a:gridCol w="2574006">
                  <a:extLst>
                    <a:ext uri="{9D8B030D-6E8A-4147-A177-3AD203B41FA5}">
                      <a16:colId xmlns:a16="http://schemas.microsoft.com/office/drawing/2014/main" val="1727495433"/>
                    </a:ext>
                  </a:extLst>
                </a:gridCol>
                <a:gridCol w="2173605">
                  <a:extLst>
                    <a:ext uri="{9D8B030D-6E8A-4147-A177-3AD203B41FA5}">
                      <a16:colId xmlns:a16="http://schemas.microsoft.com/office/drawing/2014/main" val="2101974321"/>
                    </a:ext>
                  </a:extLst>
                </a:gridCol>
                <a:gridCol w="1744603">
                  <a:extLst>
                    <a:ext uri="{9D8B030D-6E8A-4147-A177-3AD203B41FA5}">
                      <a16:colId xmlns:a16="http://schemas.microsoft.com/office/drawing/2014/main" val="3933925251"/>
                    </a:ext>
                  </a:extLst>
                </a:gridCol>
                <a:gridCol w="2574006">
                  <a:extLst>
                    <a:ext uri="{9D8B030D-6E8A-4147-A177-3AD203B41FA5}">
                      <a16:colId xmlns:a16="http://schemas.microsoft.com/office/drawing/2014/main" val="2753197146"/>
                    </a:ext>
                  </a:extLst>
                </a:gridCol>
                <a:gridCol w="1916205">
                  <a:extLst>
                    <a:ext uri="{9D8B030D-6E8A-4147-A177-3AD203B41FA5}">
                      <a16:colId xmlns:a16="http://schemas.microsoft.com/office/drawing/2014/main" val="1890514630"/>
                    </a:ext>
                  </a:extLst>
                </a:gridCol>
              </a:tblGrid>
              <a:tr h="42678">
                <a:tc>
                  <a:txBody>
                    <a:bodyPr/>
                    <a:lstStyle/>
                    <a:p>
                      <a:pPr algn="ctr" fontAlgn="b"/>
                      <a:r>
                        <a:rPr lang="en-US" sz="1100" b="1" i="0" u="none" strike="noStrike" dirty="0">
                          <a:solidFill>
                            <a:srgbClr val="000000"/>
                          </a:solidFill>
                          <a:effectLst/>
                          <a:latin typeface="+mj-lt"/>
                        </a:rPr>
                        <a:t>Source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a:solidFill>
                            <a:srgbClr val="000000"/>
                          </a:solidFill>
                          <a:effectLst/>
                          <a:latin typeface="+mj-lt"/>
                        </a:rPr>
                        <a:t>Coal Grade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latin typeface="+mj-lt"/>
                        </a:rPr>
                        <a:t>Qty(MT)</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latin typeface="+mj-lt"/>
                        </a:rPr>
                        <a:t>Price (INR/MT)</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latin typeface="+mj-lt"/>
                        </a:rPr>
                        <a:t>Share(%)</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3404187"/>
                  </a:ext>
                </a:extLst>
              </a:tr>
              <a:tr h="42678">
                <a:tc rowSpan="6">
                  <a:txBody>
                    <a:bodyPr/>
                    <a:lstStyle/>
                    <a:p>
                      <a:pPr algn="l" fontAlgn="b"/>
                      <a:r>
                        <a:rPr lang="en-US" sz="1100" u="none" strike="noStrike" dirty="0">
                          <a:effectLst/>
                          <a:latin typeface="+mj-lt"/>
                        </a:rPr>
                        <a:t>ECL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G4</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137397</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4556.51</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3.07%</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9730112"/>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G5</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2224</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4209.94</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0.05%</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251328"/>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G6</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128268</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3658.69</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2.86%</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3469403"/>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G7</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34478</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3145.5</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0.77%</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8611000"/>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G8</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2358.78</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891700"/>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G9</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2112.21</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600545"/>
                  </a:ext>
                </a:extLst>
              </a:tr>
              <a:tr h="42678">
                <a:tc rowSpan="3">
                  <a:txBody>
                    <a:bodyPr/>
                    <a:lstStyle/>
                    <a:p>
                      <a:pPr algn="l" fontAlgn="b"/>
                      <a:r>
                        <a:rPr lang="en-US" sz="1100" u="none" strike="noStrike" dirty="0">
                          <a:effectLst/>
                          <a:latin typeface="+mj-lt"/>
                        </a:rPr>
                        <a:t>BCCL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W-II</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4883.33</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1313136"/>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W-III</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296539</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4073.92</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6.62%</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6970509"/>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W-IV</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182529</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3903.3</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4.07%</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3880240"/>
                  </a:ext>
                </a:extLst>
              </a:tr>
              <a:tr h="42678">
                <a:tc rowSpan="2">
                  <a:txBody>
                    <a:bodyPr/>
                    <a:lstStyle/>
                    <a:p>
                      <a:pPr algn="l" fontAlgn="b"/>
                      <a:r>
                        <a:rPr lang="en-US" sz="1100" u="none" strike="noStrike" dirty="0">
                          <a:effectLst/>
                          <a:latin typeface="+mj-lt"/>
                        </a:rPr>
                        <a:t>MCL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G12</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60008</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1715.81</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1.34%</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7751313"/>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G13</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1632424</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1687.28</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36.43%</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777086"/>
                  </a:ext>
                </a:extLst>
              </a:tr>
              <a:tr h="42678">
                <a:tc>
                  <a:txBody>
                    <a:bodyPr/>
                    <a:lstStyle/>
                    <a:p>
                      <a:pPr algn="l" fontAlgn="b"/>
                      <a:r>
                        <a:rPr lang="en-US" sz="1100" u="none" strike="noStrike" dirty="0">
                          <a:effectLst/>
                          <a:latin typeface="+mj-lt"/>
                        </a:rPr>
                        <a:t>MCL-W</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G11</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887495</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1876.23</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19.80%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249708"/>
                  </a:ext>
                </a:extLst>
              </a:tr>
              <a:tr h="42678">
                <a:tc rowSpan="2">
                  <a:txBody>
                    <a:bodyPr/>
                    <a:lstStyle/>
                    <a:p>
                      <a:pPr algn="l" fontAlgn="b"/>
                      <a:r>
                        <a:rPr lang="en-US" sz="1100" u="none" strike="noStrike" dirty="0">
                          <a:effectLst/>
                          <a:latin typeface="+mj-lt"/>
                        </a:rPr>
                        <a:t>CCL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WR3</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59172</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4066.81</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1.32%</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6421154"/>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W4</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462704</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3220.87</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10.33%</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1765761"/>
                  </a:ext>
                </a:extLst>
              </a:tr>
              <a:tr h="42678">
                <a:tc rowSpan="5">
                  <a:txBody>
                    <a:bodyPr/>
                    <a:lstStyle/>
                    <a:p>
                      <a:pPr algn="l" fontAlgn="b"/>
                      <a:r>
                        <a:rPr lang="en-US" sz="1100" u="none" strike="noStrike" dirty="0">
                          <a:effectLst/>
                          <a:latin typeface="+mj-lt"/>
                        </a:rPr>
                        <a:t>Captive-WB</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G7</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167475</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3137.1</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3.74%</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6197382"/>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G8</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2530.38</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4769560"/>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G9</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287101</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2103.51</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6.41%</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9441924"/>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G11</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1859.25</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4247560"/>
                  </a:ext>
                </a:extLst>
              </a:tr>
              <a:tr h="42678">
                <a:tc vMerge="1">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latin typeface="+mj-lt"/>
                        </a:rPr>
                        <a:t>G13</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143550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1677.63</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3.20%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3120832"/>
                  </a:ext>
                </a:extLst>
              </a:tr>
              <a:tr h="42678">
                <a:tc>
                  <a:txBody>
                    <a:bodyPr/>
                    <a:lstStyle/>
                    <a:p>
                      <a:pPr algn="l" fontAlgn="b"/>
                      <a:r>
                        <a:rPr lang="en-US" sz="1100" u="none" strike="noStrike" dirty="0">
                          <a:effectLst/>
                          <a:latin typeface="+mj-lt"/>
                        </a:rPr>
                        <a:t>Captive-Jharkhand</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G9</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2031.12</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656124"/>
                  </a:ext>
                </a:extLst>
              </a:tr>
              <a:tr h="42678">
                <a:tc>
                  <a:txBody>
                    <a:bodyPr/>
                    <a:lstStyle/>
                    <a:p>
                      <a:pPr algn="l" fontAlgn="b"/>
                      <a:r>
                        <a:rPr lang="en-US" sz="1100" u="none" strike="noStrike" dirty="0">
                          <a:effectLst/>
                          <a:latin typeface="+mj-lt"/>
                        </a:rPr>
                        <a:t>MSTC</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G12</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4457.2</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4105901"/>
                  </a:ext>
                </a:extLst>
              </a:tr>
              <a:tr h="42678">
                <a:tc>
                  <a:txBody>
                    <a:bodyPr/>
                    <a:lstStyle/>
                    <a:p>
                      <a:pPr algn="l" fontAlgn="b"/>
                      <a:r>
                        <a:rPr lang="en-US" sz="1100" u="none" strike="noStrike" dirty="0">
                          <a:effectLst/>
                          <a:latin typeface="+mj-lt"/>
                        </a:rPr>
                        <a:t>Import</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G7</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0</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5766.48</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mj-lt"/>
                        </a:rPr>
                        <a:t>0.00%</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788581"/>
                  </a:ext>
                </a:extLst>
              </a:tr>
              <a:tr h="42678">
                <a:tc>
                  <a:txBody>
                    <a:bodyPr/>
                    <a:lstStyle/>
                    <a:p>
                      <a:pPr algn="l" fontAlgn="b"/>
                      <a:r>
                        <a:rPr lang="en-US" sz="1100" b="1" i="0" u="none" strike="noStrike" dirty="0">
                          <a:solidFill>
                            <a:srgbClr val="000000"/>
                          </a:solidFill>
                          <a:effectLst/>
                          <a:latin typeface="+mj-lt"/>
                        </a:rPr>
                        <a:t>Total</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latin typeface="+mj-lt"/>
                        </a:rPr>
                        <a:t>4481364</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364895"/>
                  </a:ext>
                </a:extLst>
              </a:tr>
            </a:tbl>
          </a:graphicData>
        </a:graphic>
      </p:graphicFrame>
      <p:graphicFrame>
        <p:nvGraphicFramePr>
          <p:cNvPr id="5" name="Table 4">
            <a:extLst>
              <a:ext uri="{FF2B5EF4-FFF2-40B4-BE49-F238E27FC236}">
                <a16:creationId xmlns:a16="http://schemas.microsoft.com/office/drawing/2014/main" id="{1857C191-7196-47E9-913C-7B717F58EC9B}"/>
              </a:ext>
            </a:extLst>
          </p:cNvPr>
          <p:cNvGraphicFramePr>
            <a:graphicFrameLocks noGrp="1"/>
          </p:cNvGraphicFramePr>
          <p:nvPr/>
        </p:nvGraphicFramePr>
        <p:xfrm>
          <a:off x="501652" y="5112385"/>
          <a:ext cx="3551723" cy="655660"/>
        </p:xfrm>
        <a:graphic>
          <a:graphicData uri="http://schemas.openxmlformats.org/drawingml/2006/table">
            <a:tbl>
              <a:tblPr>
                <a:tableStyleId>{5C22544A-7EE6-4342-B048-85BDC9FD1C3A}</a:tableStyleId>
              </a:tblPr>
              <a:tblGrid>
                <a:gridCol w="1245144">
                  <a:extLst>
                    <a:ext uri="{9D8B030D-6E8A-4147-A177-3AD203B41FA5}">
                      <a16:colId xmlns:a16="http://schemas.microsoft.com/office/drawing/2014/main" val="2453496640"/>
                    </a:ext>
                  </a:extLst>
                </a:gridCol>
                <a:gridCol w="979786">
                  <a:extLst>
                    <a:ext uri="{9D8B030D-6E8A-4147-A177-3AD203B41FA5}">
                      <a16:colId xmlns:a16="http://schemas.microsoft.com/office/drawing/2014/main" val="2503646657"/>
                    </a:ext>
                  </a:extLst>
                </a:gridCol>
                <a:gridCol w="1326793">
                  <a:extLst>
                    <a:ext uri="{9D8B030D-6E8A-4147-A177-3AD203B41FA5}">
                      <a16:colId xmlns:a16="http://schemas.microsoft.com/office/drawing/2014/main" val="4043808053"/>
                    </a:ext>
                  </a:extLst>
                </a:gridCol>
              </a:tblGrid>
              <a:tr h="240835">
                <a:tc>
                  <a:txBody>
                    <a:bodyPr/>
                    <a:lstStyle/>
                    <a:p>
                      <a:pPr algn="ctr" fontAlgn="b"/>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Share (%)</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Price (INR/MT)</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extLst>
                  <a:ext uri="{0D108BD9-81ED-4DB2-BD59-A6C34878D82A}">
                    <a16:rowId xmlns:a16="http://schemas.microsoft.com/office/drawing/2014/main" val="4124291351"/>
                  </a:ext>
                </a:extLst>
              </a:tr>
              <a:tr h="240835">
                <a:tc>
                  <a:txBody>
                    <a:bodyPr/>
                    <a:lstStyle/>
                    <a:p>
                      <a:pPr algn="ctr" fontAlgn="b"/>
                      <a:r>
                        <a:rPr lang="en-US" sz="1100" b="1" u="none" strike="noStrike" dirty="0">
                          <a:effectLst/>
                        </a:rPr>
                        <a:t>Non-Captive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u="none" strike="noStrike">
                          <a:effectLst/>
                        </a:rPr>
                        <a:t>86.65%</a:t>
                      </a:r>
                      <a:endParaRPr lang="en-US" sz="11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u="none" strike="noStrike">
                          <a:effectLst/>
                        </a:rPr>
                        <a:t>2417.34</a:t>
                      </a:r>
                      <a:endParaRPr lang="en-US" sz="11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00570387"/>
                  </a:ext>
                </a:extLst>
              </a:tr>
              <a:tr h="129818">
                <a:tc>
                  <a:txBody>
                    <a:bodyPr/>
                    <a:lstStyle/>
                    <a:p>
                      <a:pPr algn="ctr" fontAlgn="b"/>
                      <a:r>
                        <a:rPr lang="en-US" sz="1100" b="1" u="none" strike="noStrike" dirty="0">
                          <a:effectLst/>
                        </a:rPr>
                        <a:t>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u="none" strike="noStrike" dirty="0">
                          <a:effectLst/>
                        </a:rPr>
                        <a:t>13.35%</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u="none" strike="noStrike" dirty="0">
                          <a:effectLst/>
                        </a:rPr>
                        <a:t>2290.70</a:t>
                      </a:r>
                      <a:endParaRPr lang="en-US" sz="11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339890962"/>
                  </a:ext>
                </a:extLst>
              </a:tr>
            </a:tbl>
          </a:graphicData>
        </a:graphic>
      </p:graphicFrame>
    </p:spTree>
    <p:extLst>
      <p:ext uri="{BB962C8B-B14F-4D97-AF65-F5344CB8AC3E}">
        <p14:creationId xmlns:p14="http://schemas.microsoft.com/office/powerpoint/2010/main" val="2888294927"/>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b="1" dirty="0"/>
              <a:t>Coal mix </a:t>
            </a:r>
            <a:r>
              <a:rPr lang="en-US" sz="2000" b="1" dirty="0"/>
              <a:t>proposed for</a:t>
            </a:r>
            <a:r>
              <a:rPr lang="en-US" b="1" dirty="0"/>
              <a:t> </a:t>
            </a:r>
            <a:r>
              <a:rPr lang="en-US" b="1" dirty="0" err="1"/>
              <a:t>Bakreswar</a:t>
            </a:r>
            <a:r>
              <a:rPr lang="en-US" b="1" dirty="0"/>
              <a:t> as per WBDPCL tariff order w.r.t FY 2019-20</a:t>
            </a:r>
            <a:endParaRPr lang="en-US" sz="1800" b="1" i="0" dirty="0">
              <a:solidFill>
                <a:schemeClr val="tx1"/>
              </a:solidFill>
            </a:endParaRPr>
          </a:p>
        </p:txBody>
      </p:sp>
      <p:graphicFrame>
        <p:nvGraphicFramePr>
          <p:cNvPr id="5" name="Table 4">
            <a:extLst>
              <a:ext uri="{FF2B5EF4-FFF2-40B4-BE49-F238E27FC236}">
                <a16:creationId xmlns:a16="http://schemas.microsoft.com/office/drawing/2014/main" id="{1857C191-7196-47E9-913C-7B717F58EC9B}"/>
              </a:ext>
            </a:extLst>
          </p:cNvPr>
          <p:cNvGraphicFramePr>
            <a:graphicFrameLocks noGrp="1"/>
          </p:cNvGraphicFramePr>
          <p:nvPr/>
        </p:nvGraphicFramePr>
        <p:xfrm>
          <a:off x="501652" y="5708671"/>
          <a:ext cx="3551723" cy="655660"/>
        </p:xfrm>
        <a:graphic>
          <a:graphicData uri="http://schemas.openxmlformats.org/drawingml/2006/table">
            <a:tbl>
              <a:tblPr>
                <a:tableStyleId>{5C22544A-7EE6-4342-B048-85BDC9FD1C3A}</a:tableStyleId>
              </a:tblPr>
              <a:tblGrid>
                <a:gridCol w="1245144">
                  <a:extLst>
                    <a:ext uri="{9D8B030D-6E8A-4147-A177-3AD203B41FA5}">
                      <a16:colId xmlns:a16="http://schemas.microsoft.com/office/drawing/2014/main" val="2453496640"/>
                    </a:ext>
                  </a:extLst>
                </a:gridCol>
                <a:gridCol w="979786">
                  <a:extLst>
                    <a:ext uri="{9D8B030D-6E8A-4147-A177-3AD203B41FA5}">
                      <a16:colId xmlns:a16="http://schemas.microsoft.com/office/drawing/2014/main" val="2503646657"/>
                    </a:ext>
                  </a:extLst>
                </a:gridCol>
                <a:gridCol w="1326793">
                  <a:extLst>
                    <a:ext uri="{9D8B030D-6E8A-4147-A177-3AD203B41FA5}">
                      <a16:colId xmlns:a16="http://schemas.microsoft.com/office/drawing/2014/main" val="4043808053"/>
                    </a:ext>
                  </a:extLst>
                </a:gridCol>
              </a:tblGrid>
              <a:tr h="240835">
                <a:tc>
                  <a:txBody>
                    <a:bodyPr/>
                    <a:lstStyle/>
                    <a:p>
                      <a:pPr algn="ctr" fontAlgn="b"/>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Share (%)</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Price (INR/MT)</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extLst>
                  <a:ext uri="{0D108BD9-81ED-4DB2-BD59-A6C34878D82A}">
                    <a16:rowId xmlns:a16="http://schemas.microsoft.com/office/drawing/2014/main" val="4124291351"/>
                  </a:ext>
                </a:extLst>
              </a:tr>
              <a:tr h="240835">
                <a:tc>
                  <a:txBody>
                    <a:bodyPr/>
                    <a:lstStyle/>
                    <a:p>
                      <a:pPr algn="ctr" fontAlgn="b"/>
                      <a:r>
                        <a:rPr lang="en-US" sz="1100" b="1" u="none" strike="noStrike" dirty="0">
                          <a:effectLst/>
                        </a:rPr>
                        <a:t>Non-Captive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a:solidFill>
                            <a:srgbClr val="000000"/>
                          </a:solidFill>
                          <a:effectLst/>
                          <a:latin typeface="+mj-lt"/>
                        </a:rPr>
                        <a:t>81.74%</a:t>
                      </a:r>
                    </a:p>
                  </a:txBody>
                  <a:tcPr marL="6350" marR="6350" marT="6350" marB="0" anchor="ctr"/>
                </a:tc>
                <a:tc>
                  <a:txBody>
                    <a:bodyPr/>
                    <a:lstStyle/>
                    <a:p>
                      <a:pPr algn="ctr" fontAlgn="b"/>
                      <a:r>
                        <a:rPr lang="en-US" sz="1100" b="1" i="0" u="none" strike="noStrike">
                          <a:solidFill>
                            <a:srgbClr val="000000"/>
                          </a:solidFill>
                          <a:effectLst/>
                          <a:latin typeface="+mj-lt"/>
                        </a:rPr>
                        <a:t>4211.41</a:t>
                      </a:r>
                    </a:p>
                  </a:txBody>
                  <a:tcPr marL="6350" marR="6350" marT="6350" marB="0" anchor="ctr"/>
                </a:tc>
                <a:extLst>
                  <a:ext uri="{0D108BD9-81ED-4DB2-BD59-A6C34878D82A}">
                    <a16:rowId xmlns:a16="http://schemas.microsoft.com/office/drawing/2014/main" val="1700570387"/>
                  </a:ext>
                </a:extLst>
              </a:tr>
              <a:tr h="129818">
                <a:tc>
                  <a:txBody>
                    <a:bodyPr/>
                    <a:lstStyle/>
                    <a:p>
                      <a:pPr algn="ctr" fontAlgn="b"/>
                      <a:r>
                        <a:rPr lang="en-US" sz="1100" b="1" u="none" strike="noStrike" dirty="0">
                          <a:effectLst/>
                        </a:rPr>
                        <a:t>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a:solidFill>
                            <a:srgbClr val="000000"/>
                          </a:solidFill>
                          <a:effectLst/>
                          <a:latin typeface="+mj-lt"/>
                        </a:rPr>
                        <a:t>18.26%</a:t>
                      </a:r>
                    </a:p>
                  </a:txBody>
                  <a:tcPr marL="6350" marR="6350" marT="6350" marB="0" anchor="ctr"/>
                </a:tc>
                <a:tc>
                  <a:txBody>
                    <a:bodyPr/>
                    <a:lstStyle/>
                    <a:p>
                      <a:pPr algn="ctr" fontAlgn="b"/>
                      <a:r>
                        <a:rPr lang="en-US" sz="1100" b="1" i="0" u="none" strike="noStrike" dirty="0">
                          <a:solidFill>
                            <a:srgbClr val="000000"/>
                          </a:solidFill>
                          <a:effectLst/>
                          <a:latin typeface="+mj-lt"/>
                        </a:rPr>
                        <a:t>2452.24</a:t>
                      </a:r>
                    </a:p>
                  </a:txBody>
                  <a:tcPr marL="6350" marR="6350" marT="6350" marB="0" anchor="ctr"/>
                </a:tc>
                <a:extLst>
                  <a:ext uri="{0D108BD9-81ED-4DB2-BD59-A6C34878D82A}">
                    <a16:rowId xmlns:a16="http://schemas.microsoft.com/office/drawing/2014/main" val="1339890962"/>
                  </a:ext>
                </a:extLst>
              </a:tr>
            </a:tbl>
          </a:graphicData>
        </a:graphic>
      </p:graphicFrame>
      <p:graphicFrame>
        <p:nvGraphicFramePr>
          <p:cNvPr id="2" name="Table 1">
            <a:extLst>
              <a:ext uri="{FF2B5EF4-FFF2-40B4-BE49-F238E27FC236}">
                <a16:creationId xmlns:a16="http://schemas.microsoft.com/office/drawing/2014/main" id="{11D561A6-8C78-4523-8207-D6D4D436801D}"/>
              </a:ext>
            </a:extLst>
          </p:cNvPr>
          <p:cNvGraphicFramePr>
            <a:graphicFrameLocks noGrp="1"/>
          </p:cNvGraphicFramePr>
          <p:nvPr/>
        </p:nvGraphicFramePr>
        <p:xfrm>
          <a:off x="501652" y="950871"/>
          <a:ext cx="10297894" cy="4688928"/>
        </p:xfrm>
        <a:graphic>
          <a:graphicData uri="http://schemas.openxmlformats.org/drawingml/2006/table">
            <a:tbl>
              <a:tblPr>
                <a:tableStyleId>{7DF18680-E054-41AD-8BC1-D1AEF772440D}</a:tableStyleId>
              </a:tblPr>
              <a:tblGrid>
                <a:gridCol w="2413569">
                  <a:extLst>
                    <a:ext uri="{9D8B030D-6E8A-4147-A177-3AD203B41FA5}">
                      <a16:colId xmlns:a16="http://schemas.microsoft.com/office/drawing/2014/main" val="2721369698"/>
                    </a:ext>
                  </a:extLst>
                </a:gridCol>
                <a:gridCol w="2038125">
                  <a:extLst>
                    <a:ext uri="{9D8B030D-6E8A-4147-A177-3AD203B41FA5}">
                      <a16:colId xmlns:a16="http://schemas.microsoft.com/office/drawing/2014/main" val="1439878875"/>
                    </a:ext>
                  </a:extLst>
                </a:gridCol>
                <a:gridCol w="1635864">
                  <a:extLst>
                    <a:ext uri="{9D8B030D-6E8A-4147-A177-3AD203B41FA5}">
                      <a16:colId xmlns:a16="http://schemas.microsoft.com/office/drawing/2014/main" val="2688414491"/>
                    </a:ext>
                  </a:extLst>
                </a:gridCol>
                <a:gridCol w="2413569">
                  <a:extLst>
                    <a:ext uri="{9D8B030D-6E8A-4147-A177-3AD203B41FA5}">
                      <a16:colId xmlns:a16="http://schemas.microsoft.com/office/drawing/2014/main" val="1128306784"/>
                    </a:ext>
                  </a:extLst>
                </a:gridCol>
                <a:gridCol w="1796767">
                  <a:extLst>
                    <a:ext uri="{9D8B030D-6E8A-4147-A177-3AD203B41FA5}">
                      <a16:colId xmlns:a16="http://schemas.microsoft.com/office/drawing/2014/main" val="2799739240"/>
                    </a:ext>
                  </a:extLst>
                </a:gridCol>
              </a:tblGrid>
              <a:tr h="97594">
                <a:tc>
                  <a:txBody>
                    <a:bodyPr/>
                    <a:lstStyle/>
                    <a:p>
                      <a:pPr algn="ctr" fontAlgn="b"/>
                      <a:r>
                        <a:rPr lang="en-US" sz="1100" b="1" i="0" u="none" strike="noStrike" dirty="0">
                          <a:solidFill>
                            <a:srgbClr val="000000"/>
                          </a:solidFill>
                          <a:effectLst/>
                          <a:latin typeface="+mj-lt"/>
                        </a:rPr>
                        <a:t>Source</a:t>
                      </a: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a:solidFill>
                            <a:srgbClr val="000000"/>
                          </a:solidFill>
                          <a:effectLst/>
                          <a:latin typeface="+mj-lt"/>
                        </a:rPr>
                        <a:t>Coal Grade</a:t>
                      </a: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Qty(MT)</a:t>
                      </a:r>
                      <a:endParaRPr lang="en-US" sz="1100" b="1"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Price (INR/MT)</a:t>
                      </a:r>
                      <a:endParaRPr lang="en-US" sz="1100" b="1"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Share(%)</a:t>
                      </a:r>
                      <a:endParaRPr lang="en-US" sz="1100" b="1"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3821721"/>
                  </a:ext>
                </a:extLst>
              </a:tr>
              <a:tr h="97594">
                <a:tc rowSpan="6">
                  <a:txBody>
                    <a:bodyPr/>
                    <a:lstStyle/>
                    <a:p>
                      <a:pPr algn="l" fontAlgn="ctr"/>
                      <a:r>
                        <a:rPr lang="en-US" sz="1100" u="none" strike="noStrike" dirty="0">
                          <a:effectLst/>
                        </a:rPr>
                        <a:t>ECL</a:t>
                      </a:r>
                      <a:endParaRPr lang="en-US" sz="1100" b="0" i="0" u="none" strike="noStrike" dirty="0">
                        <a:solidFill>
                          <a:srgbClr val="000000"/>
                        </a:solidFill>
                        <a:effectLst/>
                        <a:latin typeface="+mj-lt"/>
                      </a:endParaRPr>
                    </a:p>
                  </a:txBody>
                  <a:tcPr marL="6024" marR="6024" marT="60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G4</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1663451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4556.51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42.86%</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068299"/>
                  </a:ext>
                </a:extLst>
              </a:tr>
              <a:tr h="97594">
                <a:tc vMerge="1">
                  <a:txBody>
                    <a:bodyPr/>
                    <a:lstStyle/>
                    <a:p>
                      <a:endParaRPr lang="en-US"/>
                    </a:p>
                  </a:txBody>
                  <a:tcPr/>
                </a:tc>
                <a:tc>
                  <a:txBody>
                    <a:bodyPr/>
                    <a:lstStyle/>
                    <a:p>
                      <a:pPr algn="ctr" fontAlgn="b"/>
                      <a:r>
                        <a:rPr lang="en-US" sz="1100" u="none" strike="noStrike">
                          <a:effectLst/>
                        </a:rPr>
                        <a:t>G5</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27803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4209.94</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0.72%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6445303"/>
                  </a:ext>
                </a:extLst>
              </a:tr>
              <a:tr h="97594">
                <a:tc vMerge="1">
                  <a:txBody>
                    <a:bodyPr/>
                    <a:lstStyle/>
                    <a:p>
                      <a:endParaRPr lang="en-US"/>
                    </a:p>
                  </a:txBody>
                  <a:tcPr/>
                </a:tc>
                <a:tc>
                  <a:txBody>
                    <a:bodyPr/>
                    <a:lstStyle/>
                    <a:p>
                      <a:pPr algn="ctr" fontAlgn="b"/>
                      <a:r>
                        <a:rPr lang="en-US" sz="1100" u="none" strike="noStrike">
                          <a:effectLst/>
                        </a:rPr>
                        <a:t>G6</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209539</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3658.69</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5.40%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706065"/>
                  </a:ext>
                </a:extLst>
              </a:tr>
              <a:tr h="97594">
                <a:tc vMerge="1">
                  <a:txBody>
                    <a:bodyPr/>
                    <a:lstStyle/>
                    <a:p>
                      <a:endParaRPr lang="en-US"/>
                    </a:p>
                  </a:txBody>
                  <a:tcPr/>
                </a:tc>
                <a:tc>
                  <a:txBody>
                    <a:bodyPr/>
                    <a:lstStyle/>
                    <a:p>
                      <a:pPr algn="ctr" fontAlgn="b"/>
                      <a:r>
                        <a:rPr lang="en-US" sz="1100" u="none" strike="noStrike">
                          <a:effectLst/>
                        </a:rPr>
                        <a:t>G7</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39751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3145.5</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1.02%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2924589"/>
                  </a:ext>
                </a:extLst>
              </a:tr>
              <a:tr h="97594">
                <a:tc vMerge="1">
                  <a:txBody>
                    <a:bodyPr/>
                    <a:lstStyle/>
                    <a:p>
                      <a:endParaRPr lang="en-US"/>
                    </a:p>
                  </a:txBody>
                  <a:tcPr/>
                </a:tc>
                <a:tc>
                  <a:txBody>
                    <a:bodyPr/>
                    <a:lstStyle/>
                    <a:p>
                      <a:pPr algn="ctr" fontAlgn="b"/>
                      <a:r>
                        <a:rPr lang="en-US" sz="1100" u="none" strike="noStrike">
                          <a:effectLst/>
                        </a:rPr>
                        <a:t>G8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2538.78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1929629"/>
                  </a:ext>
                </a:extLst>
              </a:tr>
              <a:tr h="97594">
                <a:tc vMerge="1">
                  <a:txBody>
                    <a:bodyPr/>
                    <a:lstStyle/>
                    <a:p>
                      <a:endParaRPr lang="en-US"/>
                    </a:p>
                  </a:txBody>
                  <a:tcPr/>
                </a:tc>
                <a:tc>
                  <a:txBody>
                    <a:bodyPr/>
                    <a:lstStyle/>
                    <a:p>
                      <a:pPr algn="ctr" fontAlgn="b"/>
                      <a:r>
                        <a:rPr lang="en-US" sz="1100" u="none" strike="noStrike">
                          <a:effectLst/>
                        </a:rPr>
                        <a:t>G9</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2112.21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3259609"/>
                  </a:ext>
                </a:extLst>
              </a:tr>
              <a:tr h="97594">
                <a:tc rowSpan="2">
                  <a:txBody>
                    <a:bodyPr/>
                    <a:lstStyle/>
                    <a:p>
                      <a:pPr algn="l" fontAlgn="ctr"/>
                      <a:r>
                        <a:rPr lang="en-US" sz="1100" u="none" strike="noStrike" dirty="0">
                          <a:effectLst/>
                        </a:rPr>
                        <a:t>BCCL</a:t>
                      </a:r>
                      <a:endParaRPr lang="en-US" sz="1100" b="0" i="0" u="none" strike="noStrike" dirty="0">
                        <a:solidFill>
                          <a:srgbClr val="000000"/>
                        </a:solidFill>
                        <a:effectLst/>
                        <a:latin typeface="+mj-lt"/>
                      </a:endParaRPr>
                    </a:p>
                  </a:txBody>
                  <a:tcPr marL="6024" marR="6024" marT="60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W-III</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34783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4073.92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0.90%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7139599"/>
                  </a:ext>
                </a:extLst>
              </a:tr>
              <a:tr h="97594">
                <a:tc vMerge="1">
                  <a:txBody>
                    <a:bodyPr/>
                    <a:lstStyle/>
                    <a:p>
                      <a:endParaRPr lang="en-US"/>
                    </a:p>
                  </a:txBody>
                  <a:tcPr/>
                </a:tc>
                <a:tc>
                  <a:txBody>
                    <a:bodyPr/>
                    <a:lstStyle/>
                    <a:p>
                      <a:pPr algn="ctr" fontAlgn="b"/>
                      <a:r>
                        <a:rPr lang="en-US" sz="1100" u="none" strike="noStrike">
                          <a:effectLst/>
                        </a:rPr>
                        <a:t>W-IV</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100214</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3903.3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2.58%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7661715"/>
                  </a:ext>
                </a:extLst>
              </a:tr>
              <a:tr h="97594">
                <a:tc rowSpan="2">
                  <a:txBody>
                    <a:bodyPr/>
                    <a:lstStyle/>
                    <a:p>
                      <a:pPr algn="l" fontAlgn="ctr"/>
                      <a:r>
                        <a:rPr lang="en-US" sz="1100" u="none" strike="noStrike" dirty="0">
                          <a:effectLst/>
                        </a:rPr>
                        <a:t>MCL</a:t>
                      </a:r>
                      <a:endParaRPr lang="en-US" sz="1100" b="0" i="0" u="none" strike="noStrike" dirty="0">
                        <a:solidFill>
                          <a:srgbClr val="000000"/>
                        </a:solidFill>
                        <a:effectLst/>
                        <a:latin typeface="+mj-lt"/>
                      </a:endParaRPr>
                    </a:p>
                  </a:txBody>
                  <a:tcPr marL="6024" marR="6024" marT="60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G12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1715.81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8740270"/>
                  </a:ext>
                </a:extLst>
              </a:tr>
              <a:tr h="97594">
                <a:tc vMerge="1">
                  <a:txBody>
                    <a:bodyPr/>
                    <a:lstStyle/>
                    <a:p>
                      <a:endParaRPr lang="en-US"/>
                    </a:p>
                  </a:txBody>
                  <a:tcPr/>
                </a:tc>
                <a:tc>
                  <a:txBody>
                    <a:bodyPr/>
                    <a:lstStyle/>
                    <a:p>
                      <a:pPr algn="ctr" fontAlgn="b"/>
                      <a:r>
                        <a:rPr lang="en-US" sz="1100" u="none" strike="noStrike">
                          <a:effectLst/>
                        </a:rPr>
                        <a:t>G13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202491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1687.28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5.22%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4414009"/>
                  </a:ext>
                </a:extLst>
              </a:tr>
              <a:tr h="97594">
                <a:tc>
                  <a:txBody>
                    <a:bodyPr/>
                    <a:lstStyle/>
                    <a:p>
                      <a:pPr algn="l" fontAlgn="b"/>
                      <a:r>
                        <a:rPr lang="en-US" sz="1100" u="none" strike="noStrike" dirty="0">
                          <a:effectLst/>
                        </a:rPr>
                        <a:t>MCL-W</a:t>
                      </a:r>
                      <a:endParaRPr lang="en-US" sz="1100" b="0"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G11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1876.23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7885573"/>
                  </a:ext>
                </a:extLst>
              </a:tr>
              <a:tr h="97594">
                <a:tc rowSpan="2">
                  <a:txBody>
                    <a:bodyPr/>
                    <a:lstStyle/>
                    <a:p>
                      <a:pPr algn="l" fontAlgn="ctr"/>
                      <a:r>
                        <a:rPr lang="en-US" sz="1100" u="none" strike="noStrike" dirty="0">
                          <a:effectLst/>
                        </a:rPr>
                        <a:t>CCL</a:t>
                      </a:r>
                      <a:endParaRPr lang="en-US" sz="1100" b="0" i="0" u="none" strike="noStrike" dirty="0">
                        <a:solidFill>
                          <a:srgbClr val="000000"/>
                        </a:solidFill>
                        <a:effectLst/>
                        <a:latin typeface="+mj-lt"/>
                      </a:endParaRPr>
                    </a:p>
                  </a:txBody>
                  <a:tcPr marL="6024" marR="6024" marT="60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WR3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37088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4066.81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0.96%</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305927"/>
                  </a:ext>
                </a:extLst>
              </a:tr>
              <a:tr h="97594">
                <a:tc vMerge="1">
                  <a:txBody>
                    <a:bodyPr/>
                    <a:lstStyle/>
                    <a:p>
                      <a:endParaRPr lang="en-US"/>
                    </a:p>
                  </a:txBody>
                  <a:tcPr/>
                </a:tc>
                <a:tc>
                  <a:txBody>
                    <a:bodyPr/>
                    <a:lstStyle/>
                    <a:p>
                      <a:pPr algn="ctr" fontAlgn="b"/>
                      <a:r>
                        <a:rPr lang="en-US" sz="1100" u="none" strike="noStrike">
                          <a:effectLst/>
                        </a:rPr>
                        <a:t>W4</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47283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3220.87</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1.22%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08989"/>
                  </a:ext>
                </a:extLst>
              </a:tr>
              <a:tr h="97594">
                <a:tc rowSpan="5">
                  <a:txBody>
                    <a:bodyPr/>
                    <a:lstStyle/>
                    <a:p>
                      <a:pPr algn="l" fontAlgn="ctr"/>
                      <a:r>
                        <a:rPr lang="en-US" sz="1100" u="none" strike="noStrike" dirty="0">
                          <a:effectLst/>
                        </a:rPr>
                        <a:t>Captive-WB</a:t>
                      </a:r>
                      <a:endParaRPr lang="en-US" sz="1100" b="0" i="0" u="none" strike="noStrike" dirty="0">
                        <a:solidFill>
                          <a:srgbClr val="000000"/>
                        </a:solidFill>
                        <a:effectLst/>
                        <a:latin typeface="+mj-lt"/>
                      </a:endParaRPr>
                    </a:p>
                  </a:txBody>
                  <a:tcPr marL="6024" marR="6024" marT="60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G7</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239123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3137.1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6.16%</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363451"/>
                  </a:ext>
                </a:extLst>
              </a:tr>
              <a:tr h="97594">
                <a:tc vMerge="1">
                  <a:txBody>
                    <a:bodyPr/>
                    <a:lstStyle/>
                    <a:p>
                      <a:endParaRPr lang="en-US"/>
                    </a:p>
                  </a:txBody>
                  <a:tcPr/>
                </a:tc>
                <a:tc>
                  <a:txBody>
                    <a:bodyPr/>
                    <a:lstStyle/>
                    <a:p>
                      <a:pPr algn="ctr" fontAlgn="b"/>
                      <a:r>
                        <a:rPr lang="en-US" sz="1100" u="none" strike="noStrike">
                          <a:effectLst/>
                        </a:rPr>
                        <a:t>G8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2530.38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9489230"/>
                  </a:ext>
                </a:extLst>
              </a:tr>
              <a:tr h="97594">
                <a:tc vMerge="1">
                  <a:txBody>
                    <a:bodyPr/>
                    <a:lstStyle/>
                    <a:p>
                      <a:endParaRPr lang="en-US"/>
                    </a:p>
                  </a:txBody>
                  <a:tcPr/>
                </a:tc>
                <a:tc>
                  <a:txBody>
                    <a:bodyPr/>
                    <a:lstStyle/>
                    <a:p>
                      <a:pPr algn="ctr" fontAlgn="b"/>
                      <a:r>
                        <a:rPr lang="en-US" sz="1100" u="none" strike="noStrike">
                          <a:effectLst/>
                        </a:rPr>
                        <a:t>G9</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469599</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2103.51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12.10%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9096611"/>
                  </a:ext>
                </a:extLst>
              </a:tr>
              <a:tr h="97594">
                <a:tc vMerge="1">
                  <a:txBody>
                    <a:bodyPr/>
                    <a:lstStyle/>
                    <a:p>
                      <a:endParaRPr lang="en-US"/>
                    </a:p>
                  </a:txBody>
                  <a:tcPr/>
                </a:tc>
                <a:tc>
                  <a:txBody>
                    <a:bodyPr/>
                    <a:lstStyle/>
                    <a:p>
                      <a:pPr algn="ctr" fontAlgn="b"/>
                      <a:r>
                        <a:rPr lang="en-US" sz="1100" u="none" strike="noStrike">
                          <a:effectLst/>
                        </a:rPr>
                        <a:t>G11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1859.25</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6478922"/>
                  </a:ext>
                </a:extLst>
              </a:tr>
              <a:tr h="97594">
                <a:tc vMerge="1">
                  <a:txBody>
                    <a:bodyPr/>
                    <a:lstStyle/>
                    <a:p>
                      <a:endParaRPr lang="en-US"/>
                    </a:p>
                  </a:txBody>
                  <a:tcPr/>
                </a:tc>
                <a:tc>
                  <a:txBody>
                    <a:bodyPr/>
                    <a:lstStyle/>
                    <a:p>
                      <a:pPr algn="ctr" fontAlgn="b"/>
                      <a:r>
                        <a:rPr lang="en-US" sz="1100" u="none" strike="noStrike">
                          <a:effectLst/>
                        </a:rPr>
                        <a:t>G13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1677.63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9136707"/>
                  </a:ext>
                </a:extLst>
              </a:tr>
              <a:tr h="97594">
                <a:tc>
                  <a:txBody>
                    <a:bodyPr/>
                    <a:lstStyle/>
                    <a:p>
                      <a:pPr algn="l" fontAlgn="b"/>
                      <a:r>
                        <a:rPr lang="en-US" sz="1100" u="none" strike="noStrike" dirty="0">
                          <a:effectLst/>
                        </a:rPr>
                        <a:t>Captive-Jharkhand</a:t>
                      </a:r>
                      <a:endParaRPr lang="en-US" sz="1100" b="0"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G9</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2031.12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257077"/>
                  </a:ext>
                </a:extLst>
              </a:tr>
              <a:tr h="97594">
                <a:tc>
                  <a:txBody>
                    <a:bodyPr/>
                    <a:lstStyle/>
                    <a:p>
                      <a:pPr algn="l" fontAlgn="b"/>
                      <a:r>
                        <a:rPr lang="en-US" sz="1100" u="none" strike="noStrike" dirty="0">
                          <a:effectLst/>
                        </a:rPr>
                        <a:t>MSTC</a:t>
                      </a:r>
                      <a:endParaRPr lang="en-US" sz="1100" b="0"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G12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303737</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4457.22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7.83%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446898"/>
                  </a:ext>
                </a:extLst>
              </a:tr>
              <a:tr h="97594">
                <a:tc>
                  <a:txBody>
                    <a:bodyPr/>
                    <a:lstStyle/>
                    <a:p>
                      <a:pPr algn="l" fontAlgn="b"/>
                      <a:r>
                        <a:rPr lang="en-US" sz="1100" u="none" strike="noStrike" dirty="0">
                          <a:effectLst/>
                        </a:rPr>
                        <a:t>Import</a:t>
                      </a:r>
                      <a:endParaRPr lang="en-US" sz="1100" b="0"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G7</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5766.48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0.00%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2845938"/>
                  </a:ext>
                </a:extLst>
              </a:tr>
              <a:tr h="97594">
                <a:tc rowSpan="4">
                  <a:txBody>
                    <a:bodyPr/>
                    <a:lstStyle/>
                    <a:p>
                      <a:pPr algn="l" fontAlgn="ctr"/>
                      <a:r>
                        <a:rPr lang="en-US" sz="1100" u="none" strike="noStrike" dirty="0">
                          <a:effectLst/>
                        </a:rPr>
                        <a:t>ECFL (Beyond FSA)</a:t>
                      </a:r>
                      <a:endParaRPr lang="en-US" sz="1100" b="0" i="0" u="none" strike="noStrike" dirty="0">
                        <a:solidFill>
                          <a:srgbClr val="000000"/>
                        </a:solidFill>
                        <a:effectLst/>
                        <a:latin typeface="+mj-lt"/>
                      </a:endParaRPr>
                    </a:p>
                  </a:txBody>
                  <a:tcPr marL="6024" marR="6024" marT="60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G4</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433944</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4556.51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11.18%</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971200"/>
                  </a:ext>
                </a:extLst>
              </a:tr>
              <a:tr h="97594">
                <a:tc vMerge="1">
                  <a:txBody>
                    <a:bodyPr/>
                    <a:lstStyle/>
                    <a:p>
                      <a:endParaRPr lang="en-US"/>
                    </a:p>
                  </a:txBody>
                  <a:tcPr/>
                </a:tc>
                <a:tc>
                  <a:txBody>
                    <a:bodyPr/>
                    <a:lstStyle/>
                    <a:p>
                      <a:pPr algn="ctr" fontAlgn="b"/>
                      <a:r>
                        <a:rPr lang="en-US" sz="1100" u="none" strike="noStrike">
                          <a:effectLst/>
                        </a:rPr>
                        <a:t>G5</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7253</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4209.94</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0.19%</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3400869"/>
                  </a:ext>
                </a:extLst>
              </a:tr>
              <a:tr h="97594">
                <a:tc vMerge="1">
                  <a:txBody>
                    <a:bodyPr/>
                    <a:lstStyle/>
                    <a:p>
                      <a:endParaRPr lang="en-US"/>
                    </a:p>
                  </a:txBody>
                  <a:tcPr/>
                </a:tc>
                <a:tc>
                  <a:txBody>
                    <a:bodyPr/>
                    <a:lstStyle/>
                    <a:p>
                      <a:pPr algn="ctr" fontAlgn="b"/>
                      <a:r>
                        <a:rPr lang="en-US" sz="1100" u="none" strike="noStrike">
                          <a:effectLst/>
                        </a:rPr>
                        <a:t>G6</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54662</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3658.69</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1.41%</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379207"/>
                  </a:ext>
                </a:extLst>
              </a:tr>
              <a:tr h="97594">
                <a:tc vMerge="1">
                  <a:txBody>
                    <a:bodyPr/>
                    <a:lstStyle/>
                    <a:p>
                      <a:endParaRPr lang="en-US"/>
                    </a:p>
                  </a:txBody>
                  <a:tcPr/>
                </a:tc>
                <a:tc>
                  <a:txBody>
                    <a:bodyPr/>
                    <a:lstStyle/>
                    <a:p>
                      <a:pPr algn="ctr" fontAlgn="b"/>
                      <a:r>
                        <a:rPr lang="en-US" sz="1100" u="none" strike="noStrike">
                          <a:effectLst/>
                        </a:rPr>
                        <a:t>G7</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10370</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a:effectLst/>
                        </a:rPr>
                        <a:t>3145.5</a:t>
                      </a:r>
                      <a:endParaRPr lang="en-US" sz="1100" b="0" i="0" u="none" strike="noStrike">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rPr>
                        <a:t>0.27%</a:t>
                      </a:r>
                      <a:endParaRPr lang="en-US" sz="1100" b="0"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391445"/>
                  </a:ext>
                </a:extLst>
              </a:tr>
              <a:tr h="97594">
                <a:tc>
                  <a:txBody>
                    <a:bodyPr/>
                    <a:lstStyle/>
                    <a:p>
                      <a:pPr algn="l" fontAlgn="b"/>
                      <a:endParaRPr lang="en-US" sz="1100" b="1"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1"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3881091</a:t>
                      </a:r>
                      <a:endParaRPr lang="en-US" sz="1100" b="1"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1" i="0" u="none" strike="noStrike" dirty="0">
                        <a:solidFill>
                          <a:srgbClr val="000000"/>
                        </a:solidFill>
                        <a:effectLst/>
                        <a:latin typeface="+mj-lt"/>
                      </a:endParaRP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a:solidFill>
                            <a:srgbClr val="000000"/>
                          </a:solidFill>
                          <a:effectLst/>
                          <a:latin typeface="+mj-lt"/>
                        </a:rPr>
                        <a:t>100%</a:t>
                      </a:r>
                    </a:p>
                  </a:txBody>
                  <a:tcPr marL="6024" marR="6024" marT="602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365820"/>
                  </a:ext>
                </a:extLst>
              </a:tr>
            </a:tbl>
          </a:graphicData>
        </a:graphic>
      </p:graphicFrame>
    </p:spTree>
    <p:extLst>
      <p:ext uri="{BB962C8B-B14F-4D97-AF65-F5344CB8AC3E}">
        <p14:creationId xmlns:p14="http://schemas.microsoft.com/office/powerpoint/2010/main" val="3759979060"/>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sz="1800" b="1" dirty="0"/>
              <a:t>Coal mix proposed for</a:t>
            </a:r>
            <a:r>
              <a:rPr lang="en-US" sz="1800" b="1" i="0" dirty="0">
                <a:solidFill>
                  <a:schemeClr val="tx1"/>
                </a:solidFill>
              </a:rPr>
              <a:t> </a:t>
            </a:r>
            <a:r>
              <a:rPr lang="en-US" sz="1800" b="1" i="0" dirty="0" err="1">
                <a:solidFill>
                  <a:schemeClr val="tx1"/>
                </a:solidFill>
              </a:rPr>
              <a:t>Bandel</a:t>
            </a:r>
            <a:r>
              <a:rPr lang="en-US" sz="1800" b="1" i="0" dirty="0">
                <a:solidFill>
                  <a:schemeClr val="tx1"/>
                </a:solidFill>
              </a:rPr>
              <a:t> (I&amp;II)</a:t>
            </a:r>
            <a:r>
              <a:rPr lang="en-US" sz="1800" b="1" dirty="0"/>
              <a:t> as per WBDPCL tariff order w.r.t FY 2019-20</a:t>
            </a:r>
            <a:endParaRPr lang="en-US" sz="1800" b="1" i="0" dirty="0">
              <a:solidFill>
                <a:schemeClr val="tx1"/>
              </a:solidFill>
            </a:endParaRPr>
          </a:p>
        </p:txBody>
      </p:sp>
      <p:graphicFrame>
        <p:nvGraphicFramePr>
          <p:cNvPr id="5" name="Table 4">
            <a:extLst>
              <a:ext uri="{FF2B5EF4-FFF2-40B4-BE49-F238E27FC236}">
                <a16:creationId xmlns:a16="http://schemas.microsoft.com/office/drawing/2014/main" id="{1857C191-7196-47E9-913C-7B717F58EC9B}"/>
              </a:ext>
            </a:extLst>
          </p:cNvPr>
          <p:cNvGraphicFramePr>
            <a:graphicFrameLocks noGrp="1"/>
          </p:cNvGraphicFramePr>
          <p:nvPr/>
        </p:nvGraphicFramePr>
        <p:xfrm>
          <a:off x="501652" y="4758175"/>
          <a:ext cx="3551723" cy="655660"/>
        </p:xfrm>
        <a:graphic>
          <a:graphicData uri="http://schemas.openxmlformats.org/drawingml/2006/table">
            <a:tbl>
              <a:tblPr>
                <a:tableStyleId>{5C22544A-7EE6-4342-B048-85BDC9FD1C3A}</a:tableStyleId>
              </a:tblPr>
              <a:tblGrid>
                <a:gridCol w="1245144">
                  <a:extLst>
                    <a:ext uri="{9D8B030D-6E8A-4147-A177-3AD203B41FA5}">
                      <a16:colId xmlns:a16="http://schemas.microsoft.com/office/drawing/2014/main" val="2453496640"/>
                    </a:ext>
                  </a:extLst>
                </a:gridCol>
                <a:gridCol w="979786">
                  <a:extLst>
                    <a:ext uri="{9D8B030D-6E8A-4147-A177-3AD203B41FA5}">
                      <a16:colId xmlns:a16="http://schemas.microsoft.com/office/drawing/2014/main" val="2503646657"/>
                    </a:ext>
                  </a:extLst>
                </a:gridCol>
                <a:gridCol w="1326793">
                  <a:extLst>
                    <a:ext uri="{9D8B030D-6E8A-4147-A177-3AD203B41FA5}">
                      <a16:colId xmlns:a16="http://schemas.microsoft.com/office/drawing/2014/main" val="4043808053"/>
                    </a:ext>
                  </a:extLst>
                </a:gridCol>
              </a:tblGrid>
              <a:tr h="240835">
                <a:tc>
                  <a:txBody>
                    <a:bodyPr/>
                    <a:lstStyle/>
                    <a:p>
                      <a:pPr algn="ctr" fontAlgn="b"/>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Share (%)</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Price (INR/MT)</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extLst>
                  <a:ext uri="{0D108BD9-81ED-4DB2-BD59-A6C34878D82A}">
                    <a16:rowId xmlns:a16="http://schemas.microsoft.com/office/drawing/2014/main" val="4124291351"/>
                  </a:ext>
                </a:extLst>
              </a:tr>
              <a:tr h="240835">
                <a:tc>
                  <a:txBody>
                    <a:bodyPr/>
                    <a:lstStyle/>
                    <a:p>
                      <a:pPr algn="ctr" fontAlgn="b"/>
                      <a:r>
                        <a:rPr lang="en-US" sz="1100" b="1" u="none" strike="noStrike" dirty="0">
                          <a:effectLst/>
                        </a:rPr>
                        <a:t>Non-Captive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dirty="0">
                          <a:solidFill>
                            <a:srgbClr val="000000"/>
                          </a:solidFill>
                          <a:effectLst/>
                          <a:latin typeface="+mj-lt"/>
                        </a:rPr>
                        <a:t>76.75%</a:t>
                      </a:r>
                    </a:p>
                  </a:txBody>
                  <a:tcPr marL="6350" marR="6350" marT="6350" marB="0" anchor="ctr"/>
                </a:tc>
                <a:tc>
                  <a:txBody>
                    <a:bodyPr/>
                    <a:lstStyle/>
                    <a:p>
                      <a:pPr algn="ctr" fontAlgn="b"/>
                      <a:r>
                        <a:rPr lang="en-US" sz="1100" b="1" i="0" u="none" strike="noStrike">
                          <a:solidFill>
                            <a:srgbClr val="000000"/>
                          </a:solidFill>
                          <a:effectLst/>
                          <a:latin typeface="+mj-lt"/>
                        </a:rPr>
                        <a:t>2636.73</a:t>
                      </a:r>
                    </a:p>
                  </a:txBody>
                  <a:tcPr marL="6350" marR="6350" marT="6350" marB="0" anchor="ctr"/>
                </a:tc>
                <a:extLst>
                  <a:ext uri="{0D108BD9-81ED-4DB2-BD59-A6C34878D82A}">
                    <a16:rowId xmlns:a16="http://schemas.microsoft.com/office/drawing/2014/main" val="1700570387"/>
                  </a:ext>
                </a:extLst>
              </a:tr>
              <a:tr h="129818">
                <a:tc>
                  <a:txBody>
                    <a:bodyPr/>
                    <a:lstStyle/>
                    <a:p>
                      <a:pPr algn="ctr" fontAlgn="b"/>
                      <a:r>
                        <a:rPr lang="en-US" sz="1100" b="1" u="none" strike="noStrike" dirty="0">
                          <a:effectLst/>
                        </a:rPr>
                        <a:t>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dirty="0">
                          <a:solidFill>
                            <a:srgbClr val="000000"/>
                          </a:solidFill>
                          <a:effectLst/>
                          <a:latin typeface="+mj-lt"/>
                        </a:rPr>
                        <a:t>23.25%</a:t>
                      </a:r>
                    </a:p>
                  </a:txBody>
                  <a:tcPr marL="6350" marR="6350" marT="6350" marB="0" anchor="ctr"/>
                </a:tc>
                <a:tc>
                  <a:txBody>
                    <a:bodyPr/>
                    <a:lstStyle/>
                    <a:p>
                      <a:pPr algn="ctr" fontAlgn="b"/>
                      <a:r>
                        <a:rPr lang="en-US" sz="1100" b="1" i="0" u="none" strike="noStrike" dirty="0">
                          <a:solidFill>
                            <a:srgbClr val="000000"/>
                          </a:solidFill>
                          <a:effectLst/>
                          <a:latin typeface="+mj-lt"/>
                        </a:rPr>
                        <a:t>2126.24</a:t>
                      </a:r>
                    </a:p>
                  </a:txBody>
                  <a:tcPr marL="6350" marR="6350" marT="6350" marB="0" anchor="ctr"/>
                </a:tc>
                <a:extLst>
                  <a:ext uri="{0D108BD9-81ED-4DB2-BD59-A6C34878D82A}">
                    <a16:rowId xmlns:a16="http://schemas.microsoft.com/office/drawing/2014/main" val="1339890962"/>
                  </a:ext>
                </a:extLst>
              </a:tr>
            </a:tbl>
          </a:graphicData>
        </a:graphic>
      </p:graphicFrame>
      <p:graphicFrame>
        <p:nvGraphicFramePr>
          <p:cNvPr id="3" name="Table 2">
            <a:extLst>
              <a:ext uri="{FF2B5EF4-FFF2-40B4-BE49-F238E27FC236}">
                <a16:creationId xmlns:a16="http://schemas.microsoft.com/office/drawing/2014/main" id="{D2D8ECF3-7A6E-4FA4-995A-1D158688365C}"/>
              </a:ext>
            </a:extLst>
          </p:cNvPr>
          <p:cNvGraphicFramePr>
            <a:graphicFrameLocks noGrp="1"/>
          </p:cNvGraphicFramePr>
          <p:nvPr/>
        </p:nvGraphicFramePr>
        <p:xfrm>
          <a:off x="501652" y="813787"/>
          <a:ext cx="10288268" cy="3661954"/>
        </p:xfrm>
        <a:graphic>
          <a:graphicData uri="http://schemas.openxmlformats.org/drawingml/2006/table">
            <a:tbl>
              <a:tblPr>
                <a:tableStyleId>{93296810-A885-4BE3-A3E7-6D5BEEA58F35}</a:tableStyleId>
              </a:tblPr>
              <a:tblGrid>
                <a:gridCol w="2411313">
                  <a:extLst>
                    <a:ext uri="{9D8B030D-6E8A-4147-A177-3AD203B41FA5}">
                      <a16:colId xmlns:a16="http://schemas.microsoft.com/office/drawing/2014/main" val="1899840730"/>
                    </a:ext>
                  </a:extLst>
                </a:gridCol>
                <a:gridCol w="2036220">
                  <a:extLst>
                    <a:ext uri="{9D8B030D-6E8A-4147-A177-3AD203B41FA5}">
                      <a16:colId xmlns:a16="http://schemas.microsoft.com/office/drawing/2014/main" val="1737115632"/>
                    </a:ext>
                  </a:extLst>
                </a:gridCol>
                <a:gridCol w="1634334">
                  <a:extLst>
                    <a:ext uri="{9D8B030D-6E8A-4147-A177-3AD203B41FA5}">
                      <a16:colId xmlns:a16="http://schemas.microsoft.com/office/drawing/2014/main" val="239856030"/>
                    </a:ext>
                  </a:extLst>
                </a:gridCol>
                <a:gridCol w="2411313">
                  <a:extLst>
                    <a:ext uri="{9D8B030D-6E8A-4147-A177-3AD203B41FA5}">
                      <a16:colId xmlns:a16="http://schemas.microsoft.com/office/drawing/2014/main" val="47488772"/>
                    </a:ext>
                  </a:extLst>
                </a:gridCol>
                <a:gridCol w="1795088">
                  <a:extLst>
                    <a:ext uri="{9D8B030D-6E8A-4147-A177-3AD203B41FA5}">
                      <a16:colId xmlns:a16="http://schemas.microsoft.com/office/drawing/2014/main" val="215174637"/>
                    </a:ext>
                  </a:extLst>
                </a:gridCol>
              </a:tblGrid>
              <a:tr h="205092">
                <a:tc>
                  <a:txBody>
                    <a:bodyPr/>
                    <a:lstStyle/>
                    <a:p>
                      <a:pPr algn="ctr" fontAlgn="b"/>
                      <a:r>
                        <a:rPr lang="en-US" sz="1100" b="1" u="none" strike="noStrike" dirty="0">
                          <a:effectLst/>
                          <a:latin typeface="+mj-lt"/>
                        </a:rPr>
                        <a:t>Source</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latin typeface="+mj-lt"/>
                        </a:rPr>
                        <a:t>Coal Grade</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latin typeface="+mj-lt"/>
                        </a:rPr>
                        <a:t>Qty(MT)</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latin typeface="+mj-lt"/>
                        </a:rPr>
                        <a:t>Price (INR/MT)</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latin typeface="+mj-lt"/>
                        </a:rPr>
                        <a:t>Share(%)</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4153985"/>
                  </a:ext>
                </a:extLst>
              </a:tr>
              <a:tr h="205092">
                <a:tc rowSpan="4">
                  <a:txBody>
                    <a:bodyPr/>
                    <a:lstStyle/>
                    <a:p>
                      <a:pPr algn="l" fontAlgn="ctr"/>
                      <a:r>
                        <a:rPr lang="en-US" sz="1100" u="none" strike="noStrike" dirty="0">
                          <a:effectLst/>
                          <a:latin typeface="+mj-lt"/>
                        </a:rPr>
                        <a:t>ECL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233522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4556.51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14.19%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5820237"/>
                  </a:ext>
                </a:extLst>
              </a:tr>
              <a:tr h="205092">
                <a:tc vMerge="1">
                  <a:txBody>
                    <a:bodyPr/>
                    <a:lstStyle/>
                    <a:p>
                      <a:endParaRPr lang="en-US"/>
                    </a:p>
                  </a:txBody>
                  <a:tcPr/>
                </a:tc>
                <a:tc>
                  <a:txBody>
                    <a:bodyPr/>
                    <a:lstStyle/>
                    <a:p>
                      <a:pPr algn="ctr" fontAlgn="ctr"/>
                      <a:r>
                        <a:rPr lang="en-US" sz="1100" u="none" strike="noStrike">
                          <a:effectLst/>
                          <a:latin typeface="+mj-lt"/>
                        </a:rPr>
                        <a:t>G5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22420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4209.94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1.36%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9490845"/>
                  </a:ext>
                </a:extLst>
              </a:tr>
              <a:tr h="205092">
                <a:tc vMerge="1">
                  <a:txBody>
                    <a:bodyPr/>
                    <a:lstStyle/>
                    <a:p>
                      <a:endParaRPr lang="en-US"/>
                    </a:p>
                  </a:txBody>
                  <a:tcPr/>
                </a:tc>
                <a:tc>
                  <a:txBody>
                    <a:bodyPr/>
                    <a:lstStyle/>
                    <a:p>
                      <a:pPr algn="ctr" fontAlgn="ctr"/>
                      <a:r>
                        <a:rPr lang="en-US" sz="1100" u="none" strike="noStrike">
                          <a:effectLst/>
                          <a:latin typeface="+mj-lt"/>
                        </a:rPr>
                        <a:t>G6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43092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3658.69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2.62%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222795"/>
                  </a:ext>
                </a:extLst>
              </a:tr>
              <a:tr h="205092">
                <a:tc vMerge="1">
                  <a:txBody>
                    <a:bodyPr/>
                    <a:lstStyle/>
                    <a:p>
                      <a:endParaRPr lang="en-US"/>
                    </a:p>
                  </a:txBody>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23574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3145.5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1.43%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231328"/>
                  </a:ext>
                </a:extLst>
              </a:tr>
              <a:tr h="205092">
                <a:tc rowSpan="2">
                  <a:txBody>
                    <a:bodyPr/>
                    <a:lstStyle/>
                    <a:p>
                      <a:pPr algn="l" fontAlgn="ctr"/>
                      <a:r>
                        <a:rPr lang="en-US" sz="1100" u="none" strike="noStrike" dirty="0">
                          <a:effectLst/>
                          <a:latin typeface="+mj-lt"/>
                        </a:rPr>
                        <a:t>MCL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16533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1715.81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9640608"/>
                  </a:ext>
                </a:extLst>
              </a:tr>
              <a:tr h="205092">
                <a:tc vMerge="1">
                  <a:txBody>
                    <a:bodyPr/>
                    <a:lstStyle/>
                    <a:p>
                      <a:endParaRPr lang="en-US"/>
                    </a:p>
                  </a:txBody>
                  <a:tcPr/>
                </a:tc>
                <a:tc>
                  <a:txBody>
                    <a:bodyPr/>
                    <a:lstStyle/>
                    <a:p>
                      <a:pPr algn="ctr" fontAlgn="ctr"/>
                      <a:r>
                        <a:rPr lang="en-US" sz="1100" u="none" strike="noStrike">
                          <a:effectLst/>
                          <a:latin typeface="+mj-lt"/>
                        </a:rPr>
                        <a:t>G13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202526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1687.28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12.31%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782131"/>
                  </a:ext>
                </a:extLst>
              </a:tr>
              <a:tr h="205092">
                <a:tc>
                  <a:txBody>
                    <a:bodyPr/>
                    <a:lstStyle/>
                    <a:p>
                      <a:pPr algn="l" fontAlgn="b"/>
                      <a:r>
                        <a:rPr lang="en-US" sz="1100" u="none" strike="noStrike" dirty="0">
                          <a:effectLst/>
                          <a:latin typeface="+mj-lt"/>
                        </a:rPr>
                        <a:t>MCL-W</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636080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1876.23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38.66%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2811055"/>
                  </a:ext>
                </a:extLst>
              </a:tr>
              <a:tr h="205092">
                <a:tc rowSpan="5">
                  <a:txBody>
                    <a:bodyPr/>
                    <a:lstStyle/>
                    <a:p>
                      <a:pPr algn="l" fontAlgn="ctr"/>
                      <a:r>
                        <a:rPr lang="en-US" sz="1100" u="none" strike="noStrike" dirty="0">
                          <a:effectLst/>
                          <a:latin typeface="+mj-lt"/>
                        </a:rPr>
                        <a:t>Captive-WB</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47815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3137.1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2.91%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3460864"/>
                  </a:ext>
                </a:extLst>
              </a:tr>
              <a:tr h="205092">
                <a:tc vMerge="1">
                  <a:txBody>
                    <a:bodyPr/>
                    <a:lstStyle/>
                    <a:p>
                      <a:endParaRPr lang="en-US"/>
                    </a:p>
                  </a:txBody>
                  <a:tcPr/>
                </a:tc>
                <a:tc>
                  <a:txBody>
                    <a:bodyPr/>
                    <a:lstStyle/>
                    <a:p>
                      <a:pPr algn="ctr" fontAlgn="ctr"/>
                      <a:r>
                        <a:rPr lang="en-US" sz="1100" u="none" strike="noStrike">
                          <a:effectLst/>
                          <a:latin typeface="+mj-lt"/>
                        </a:rPr>
                        <a:t>G8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2530.38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9914654"/>
                  </a:ext>
                </a:extLst>
              </a:tr>
              <a:tr h="205092">
                <a:tc vMerge="1">
                  <a:txBody>
                    <a:bodyPr/>
                    <a:lstStyle/>
                    <a:p>
                      <a:endParaRPr lang="en-US"/>
                    </a:p>
                  </a:txBody>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239075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2103.51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14.53%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6386939"/>
                  </a:ext>
                </a:extLst>
              </a:tr>
              <a:tr h="205092">
                <a:tc vMerge="1">
                  <a:txBody>
                    <a:bodyPr/>
                    <a:lstStyle/>
                    <a:p>
                      <a:endParaRPr lang="en-US"/>
                    </a:p>
                  </a:txBody>
                  <a:tcPr/>
                </a:tc>
                <a:tc>
                  <a:txBody>
                    <a:bodyPr/>
                    <a:lstStyle/>
                    <a:p>
                      <a:pPr algn="ctr" fontAlgn="ctr"/>
                      <a:r>
                        <a:rPr lang="en-US" sz="1100" u="none" strike="noStrike">
                          <a:effectLst/>
                          <a:latin typeface="+mj-lt"/>
                        </a:rPr>
                        <a:t>G11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1859.25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9964545"/>
                  </a:ext>
                </a:extLst>
              </a:tr>
              <a:tr h="205092">
                <a:tc vMerge="1">
                  <a:txBody>
                    <a:bodyPr/>
                    <a:lstStyle/>
                    <a:p>
                      <a:endParaRPr lang="en-US"/>
                    </a:p>
                  </a:txBody>
                  <a:tcPr/>
                </a:tc>
                <a:tc>
                  <a:txBody>
                    <a:bodyPr/>
                    <a:lstStyle/>
                    <a:p>
                      <a:pPr algn="ctr" fontAlgn="ctr"/>
                      <a:r>
                        <a:rPr lang="en-US" sz="1100" u="none" strike="noStrike">
                          <a:effectLst/>
                          <a:latin typeface="+mj-lt"/>
                        </a:rPr>
                        <a:t>G13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95630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1677.63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5.81%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7049101"/>
                  </a:ext>
                </a:extLst>
              </a:tr>
              <a:tr h="380482">
                <a:tc>
                  <a:txBody>
                    <a:bodyPr/>
                    <a:lstStyle/>
                    <a:p>
                      <a:pPr algn="l" fontAlgn="b"/>
                      <a:r>
                        <a:rPr lang="en-US" sz="1100" u="none" strike="noStrike" dirty="0">
                          <a:effectLst/>
                          <a:latin typeface="+mj-lt"/>
                        </a:rPr>
                        <a:t>Captive-Jharkhand</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2031.12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960656"/>
                  </a:ext>
                </a:extLst>
              </a:tr>
              <a:tr h="205092">
                <a:tc>
                  <a:txBody>
                    <a:bodyPr/>
                    <a:lstStyle/>
                    <a:p>
                      <a:pPr algn="l" fontAlgn="b"/>
                      <a:r>
                        <a:rPr lang="en-US" sz="1100" u="none" strike="noStrike" dirty="0">
                          <a:effectLst/>
                          <a:latin typeface="+mj-lt"/>
                        </a:rPr>
                        <a:t>MSTC</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dirty="0">
                          <a:effectLst/>
                          <a:latin typeface="+mj-lt"/>
                        </a:rPr>
                        <a:t>G12</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dirty="0">
                          <a:effectLst/>
                          <a:latin typeface="+mj-lt"/>
                        </a:rPr>
                        <a:t>85030</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4420.07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5.17%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8318522"/>
                  </a:ext>
                </a:extLst>
              </a:tr>
              <a:tr h="205092">
                <a:tc>
                  <a:txBody>
                    <a:bodyPr/>
                    <a:lstStyle/>
                    <a:p>
                      <a:pPr algn="l" fontAlgn="b"/>
                      <a:r>
                        <a:rPr lang="en-US" sz="1100" u="none" strike="noStrike" dirty="0">
                          <a:effectLst/>
                          <a:latin typeface="+mj-lt"/>
                        </a:rPr>
                        <a:t>Import</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dirty="0">
                          <a:effectLst/>
                          <a:latin typeface="+mj-lt"/>
                        </a:rPr>
                        <a:t>0</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6332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dirty="0">
                          <a:effectLst/>
                          <a:latin typeface="+mj-lt"/>
                        </a:rPr>
                        <a:t>0.00%</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068106"/>
                  </a:ext>
                </a:extLst>
              </a:tr>
              <a:tr h="205092">
                <a:tc>
                  <a:txBody>
                    <a:bodyPr/>
                    <a:lstStyle/>
                    <a:p>
                      <a:pPr algn="l" fontAlgn="b"/>
                      <a:r>
                        <a:rPr lang="en-US" sz="1100" b="1" i="0" u="none" strike="noStrike" dirty="0">
                          <a:solidFill>
                            <a:srgbClr val="000000"/>
                          </a:solidFill>
                          <a:effectLst/>
                          <a:latin typeface="+mj-lt"/>
                        </a:rPr>
                        <a:t>Total</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1645297</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solidFill>
                            <a:srgbClr val="000000"/>
                          </a:solidFill>
                          <a:effectLst/>
                          <a:latin typeface="+mj-lt"/>
                        </a:rPr>
                        <a:t>100%</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5149265"/>
                  </a:ext>
                </a:extLst>
              </a:tr>
            </a:tbl>
          </a:graphicData>
        </a:graphic>
      </p:graphicFrame>
    </p:spTree>
    <p:extLst>
      <p:ext uri="{BB962C8B-B14F-4D97-AF65-F5344CB8AC3E}">
        <p14:creationId xmlns:p14="http://schemas.microsoft.com/office/powerpoint/2010/main" val="885502593"/>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sz="1800" b="1" dirty="0"/>
              <a:t>Coal mix proposed for</a:t>
            </a:r>
            <a:r>
              <a:rPr lang="en-US" sz="1800" b="1" i="0" dirty="0">
                <a:solidFill>
                  <a:schemeClr val="tx1"/>
                </a:solidFill>
              </a:rPr>
              <a:t> </a:t>
            </a:r>
            <a:r>
              <a:rPr lang="en-US" sz="1800" b="1" i="0" dirty="0" err="1">
                <a:solidFill>
                  <a:schemeClr val="tx1"/>
                </a:solidFill>
              </a:rPr>
              <a:t>Santaldih</a:t>
            </a:r>
            <a:r>
              <a:rPr lang="en-US" sz="1800" b="1" dirty="0"/>
              <a:t> as per WBDPCL tariff order w.r.t FY 2019-20</a:t>
            </a:r>
            <a:endParaRPr lang="en-US" sz="1800" b="1" i="0" dirty="0">
              <a:solidFill>
                <a:schemeClr val="tx1"/>
              </a:solidFill>
            </a:endParaRPr>
          </a:p>
        </p:txBody>
      </p:sp>
      <p:graphicFrame>
        <p:nvGraphicFramePr>
          <p:cNvPr id="5" name="Table 4">
            <a:extLst>
              <a:ext uri="{FF2B5EF4-FFF2-40B4-BE49-F238E27FC236}">
                <a16:creationId xmlns:a16="http://schemas.microsoft.com/office/drawing/2014/main" id="{1857C191-7196-47E9-913C-7B717F58EC9B}"/>
              </a:ext>
            </a:extLst>
          </p:cNvPr>
          <p:cNvGraphicFramePr>
            <a:graphicFrameLocks noGrp="1"/>
          </p:cNvGraphicFramePr>
          <p:nvPr/>
        </p:nvGraphicFramePr>
        <p:xfrm>
          <a:off x="501652" y="4815925"/>
          <a:ext cx="3551723" cy="655660"/>
        </p:xfrm>
        <a:graphic>
          <a:graphicData uri="http://schemas.openxmlformats.org/drawingml/2006/table">
            <a:tbl>
              <a:tblPr>
                <a:tableStyleId>{5C22544A-7EE6-4342-B048-85BDC9FD1C3A}</a:tableStyleId>
              </a:tblPr>
              <a:tblGrid>
                <a:gridCol w="1245144">
                  <a:extLst>
                    <a:ext uri="{9D8B030D-6E8A-4147-A177-3AD203B41FA5}">
                      <a16:colId xmlns:a16="http://schemas.microsoft.com/office/drawing/2014/main" val="2453496640"/>
                    </a:ext>
                  </a:extLst>
                </a:gridCol>
                <a:gridCol w="979786">
                  <a:extLst>
                    <a:ext uri="{9D8B030D-6E8A-4147-A177-3AD203B41FA5}">
                      <a16:colId xmlns:a16="http://schemas.microsoft.com/office/drawing/2014/main" val="2503646657"/>
                    </a:ext>
                  </a:extLst>
                </a:gridCol>
                <a:gridCol w="1326793">
                  <a:extLst>
                    <a:ext uri="{9D8B030D-6E8A-4147-A177-3AD203B41FA5}">
                      <a16:colId xmlns:a16="http://schemas.microsoft.com/office/drawing/2014/main" val="4043808053"/>
                    </a:ext>
                  </a:extLst>
                </a:gridCol>
              </a:tblGrid>
              <a:tr h="240835">
                <a:tc>
                  <a:txBody>
                    <a:bodyPr/>
                    <a:lstStyle/>
                    <a:p>
                      <a:pPr algn="ctr" fontAlgn="b"/>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Share (%)</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Price (INR/MT)</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extLst>
                  <a:ext uri="{0D108BD9-81ED-4DB2-BD59-A6C34878D82A}">
                    <a16:rowId xmlns:a16="http://schemas.microsoft.com/office/drawing/2014/main" val="4124291351"/>
                  </a:ext>
                </a:extLst>
              </a:tr>
              <a:tr h="240835">
                <a:tc>
                  <a:txBody>
                    <a:bodyPr/>
                    <a:lstStyle/>
                    <a:p>
                      <a:pPr algn="ctr" fontAlgn="b"/>
                      <a:r>
                        <a:rPr lang="en-US" sz="1100" b="1" u="none" strike="noStrike" dirty="0">
                          <a:effectLst/>
                        </a:rPr>
                        <a:t>Non-Captive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dirty="0">
                          <a:solidFill>
                            <a:srgbClr val="000000"/>
                          </a:solidFill>
                          <a:effectLst/>
                          <a:latin typeface="+mj-lt"/>
                        </a:rPr>
                        <a:t>74.26%</a:t>
                      </a:r>
                    </a:p>
                  </a:txBody>
                  <a:tcPr marL="6350" marR="6350" marT="6350" marB="0" anchor="ctr"/>
                </a:tc>
                <a:tc>
                  <a:txBody>
                    <a:bodyPr/>
                    <a:lstStyle/>
                    <a:p>
                      <a:pPr algn="ctr" fontAlgn="b"/>
                      <a:r>
                        <a:rPr lang="en-US" sz="1100" b="1" i="0" u="none" strike="noStrike" dirty="0">
                          <a:solidFill>
                            <a:srgbClr val="000000"/>
                          </a:solidFill>
                          <a:effectLst/>
                          <a:latin typeface="+mj-lt"/>
                        </a:rPr>
                        <a:t>4024.73</a:t>
                      </a:r>
                    </a:p>
                  </a:txBody>
                  <a:tcPr marL="6350" marR="6350" marT="6350" marB="0" anchor="ctr"/>
                </a:tc>
                <a:extLst>
                  <a:ext uri="{0D108BD9-81ED-4DB2-BD59-A6C34878D82A}">
                    <a16:rowId xmlns:a16="http://schemas.microsoft.com/office/drawing/2014/main" val="1700570387"/>
                  </a:ext>
                </a:extLst>
              </a:tr>
              <a:tr h="129818">
                <a:tc>
                  <a:txBody>
                    <a:bodyPr/>
                    <a:lstStyle/>
                    <a:p>
                      <a:pPr algn="ctr" fontAlgn="b"/>
                      <a:r>
                        <a:rPr lang="en-US" sz="1100" b="1" u="none" strike="noStrike" dirty="0">
                          <a:effectLst/>
                        </a:rPr>
                        <a:t>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a:solidFill>
                            <a:srgbClr val="000000"/>
                          </a:solidFill>
                          <a:effectLst/>
                          <a:latin typeface="+mj-lt"/>
                        </a:rPr>
                        <a:t>25.74%</a:t>
                      </a:r>
                    </a:p>
                  </a:txBody>
                  <a:tcPr marL="6350" marR="6350" marT="6350" marB="0" anchor="ctr"/>
                </a:tc>
                <a:tc>
                  <a:txBody>
                    <a:bodyPr/>
                    <a:lstStyle/>
                    <a:p>
                      <a:pPr algn="ctr" fontAlgn="b"/>
                      <a:r>
                        <a:rPr lang="en-US" sz="1100" b="1" i="0" u="none" strike="noStrike" dirty="0">
                          <a:solidFill>
                            <a:srgbClr val="000000"/>
                          </a:solidFill>
                          <a:effectLst/>
                          <a:latin typeface="+mj-lt"/>
                        </a:rPr>
                        <a:t>1677.63</a:t>
                      </a:r>
                    </a:p>
                  </a:txBody>
                  <a:tcPr marL="6350" marR="6350" marT="6350" marB="0" anchor="ctr"/>
                </a:tc>
                <a:extLst>
                  <a:ext uri="{0D108BD9-81ED-4DB2-BD59-A6C34878D82A}">
                    <a16:rowId xmlns:a16="http://schemas.microsoft.com/office/drawing/2014/main" val="1339890962"/>
                  </a:ext>
                </a:extLst>
              </a:tr>
            </a:tbl>
          </a:graphicData>
        </a:graphic>
      </p:graphicFrame>
      <p:graphicFrame>
        <p:nvGraphicFramePr>
          <p:cNvPr id="2" name="Table 1">
            <a:extLst>
              <a:ext uri="{FF2B5EF4-FFF2-40B4-BE49-F238E27FC236}">
                <a16:creationId xmlns:a16="http://schemas.microsoft.com/office/drawing/2014/main" id="{53797FEF-A011-43EE-963E-ACBCE512519C}"/>
              </a:ext>
            </a:extLst>
          </p:cNvPr>
          <p:cNvGraphicFramePr>
            <a:graphicFrameLocks noGrp="1"/>
          </p:cNvGraphicFramePr>
          <p:nvPr/>
        </p:nvGraphicFramePr>
        <p:xfrm>
          <a:off x="501652" y="683004"/>
          <a:ext cx="10520412" cy="4001770"/>
        </p:xfrm>
        <a:graphic>
          <a:graphicData uri="http://schemas.openxmlformats.org/drawingml/2006/table">
            <a:tbl>
              <a:tblPr>
                <a:tableStyleId>{93296810-A885-4BE3-A3E7-6D5BEEA58F35}</a:tableStyleId>
              </a:tblPr>
              <a:tblGrid>
                <a:gridCol w="2465722">
                  <a:extLst>
                    <a:ext uri="{9D8B030D-6E8A-4147-A177-3AD203B41FA5}">
                      <a16:colId xmlns:a16="http://schemas.microsoft.com/office/drawing/2014/main" val="2734004440"/>
                    </a:ext>
                  </a:extLst>
                </a:gridCol>
                <a:gridCol w="2082165">
                  <a:extLst>
                    <a:ext uri="{9D8B030D-6E8A-4147-A177-3AD203B41FA5}">
                      <a16:colId xmlns:a16="http://schemas.microsoft.com/office/drawing/2014/main" val="3190042780"/>
                    </a:ext>
                  </a:extLst>
                </a:gridCol>
                <a:gridCol w="1671211">
                  <a:extLst>
                    <a:ext uri="{9D8B030D-6E8A-4147-A177-3AD203B41FA5}">
                      <a16:colId xmlns:a16="http://schemas.microsoft.com/office/drawing/2014/main" val="2203454309"/>
                    </a:ext>
                  </a:extLst>
                </a:gridCol>
                <a:gridCol w="2465722">
                  <a:extLst>
                    <a:ext uri="{9D8B030D-6E8A-4147-A177-3AD203B41FA5}">
                      <a16:colId xmlns:a16="http://schemas.microsoft.com/office/drawing/2014/main" val="3677905667"/>
                    </a:ext>
                  </a:extLst>
                </a:gridCol>
                <a:gridCol w="1835592">
                  <a:extLst>
                    <a:ext uri="{9D8B030D-6E8A-4147-A177-3AD203B41FA5}">
                      <a16:colId xmlns:a16="http://schemas.microsoft.com/office/drawing/2014/main" val="1488928458"/>
                    </a:ext>
                  </a:extLst>
                </a:gridCol>
              </a:tblGrid>
              <a:tr h="74846">
                <a:tc>
                  <a:txBody>
                    <a:bodyPr/>
                    <a:lstStyle/>
                    <a:p>
                      <a:pPr algn="ctr" fontAlgn="b"/>
                      <a:r>
                        <a:rPr lang="en-US" sz="1100" b="1" u="none" strike="noStrike" dirty="0">
                          <a:effectLst/>
                          <a:latin typeface="+mj-lt"/>
                        </a:rPr>
                        <a:t>Source</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Coal Grade</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Qty(MT)</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Price (INR/MT)</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Share(%)</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715554"/>
                  </a:ext>
                </a:extLst>
              </a:tr>
              <a:tr h="74846">
                <a:tc rowSpan="6">
                  <a:txBody>
                    <a:bodyPr/>
                    <a:lstStyle/>
                    <a:p>
                      <a:pPr algn="l" fontAlgn="ctr"/>
                      <a:r>
                        <a:rPr lang="en-US" sz="1100" u="none" strike="noStrike" dirty="0">
                          <a:effectLst/>
                          <a:latin typeface="+mj-lt"/>
                        </a:rPr>
                        <a:t>ECL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4556.51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7357322"/>
                  </a:ext>
                </a:extLst>
              </a:tr>
              <a:tr h="74846">
                <a:tc vMerge="1">
                  <a:txBody>
                    <a:bodyPr/>
                    <a:lstStyle/>
                    <a:p>
                      <a:endParaRPr lang="en-US"/>
                    </a:p>
                  </a:txBody>
                  <a:tcPr/>
                </a:tc>
                <a:tc>
                  <a:txBody>
                    <a:bodyPr/>
                    <a:lstStyle/>
                    <a:p>
                      <a:pPr algn="ctr" fontAlgn="ctr"/>
                      <a:r>
                        <a:rPr lang="en-US" sz="1100" u="none" strike="noStrike">
                          <a:effectLst/>
                          <a:latin typeface="+mj-lt"/>
                        </a:rPr>
                        <a:t>G5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4209.94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099680"/>
                  </a:ext>
                </a:extLst>
              </a:tr>
              <a:tr h="74846">
                <a:tc vMerge="1">
                  <a:txBody>
                    <a:bodyPr/>
                    <a:lstStyle/>
                    <a:p>
                      <a:endParaRPr lang="en-US"/>
                    </a:p>
                  </a:txBody>
                  <a:tcPr/>
                </a:tc>
                <a:tc>
                  <a:txBody>
                    <a:bodyPr/>
                    <a:lstStyle/>
                    <a:p>
                      <a:pPr algn="ctr" fontAlgn="ctr"/>
                      <a:r>
                        <a:rPr lang="en-US" sz="1100" u="none" strike="noStrike">
                          <a:effectLst/>
                          <a:latin typeface="+mj-lt"/>
                        </a:rPr>
                        <a:t>G6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3658.69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8462773"/>
                  </a:ext>
                </a:extLst>
              </a:tr>
              <a:tr h="74846">
                <a:tc vMerge="1">
                  <a:txBody>
                    <a:bodyPr/>
                    <a:lstStyle/>
                    <a:p>
                      <a:endParaRPr lang="en-US"/>
                    </a:p>
                  </a:txBody>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3145.5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619461"/>
                  </a:ext>
                </a:extLst>
              </a:tr>
              <a:tr h="74846">
                <a:tc vMerge="1">
                  <a:txBody>
                    <a:bodyPr/>
                    <a:lstStyle/>
                    <a:p>
                      <a:endParaRPr lang="en-US"/>
                    </a:p>
                  </a:txBody>
                  <a:tcPr/>
                </a:tc>
                <a:tc>
                  <a:txBody>
                    <a:bodyPr/>
                    <a:lstStyle/>
                    <a:p>
                      <a:pPr algn="ctr" fontAlgn="ctr"/>
                      <a:r>
                        <a:rPr lang="en-US" sz="1100" u="none" strike="noStrike">
                          <a:effectLst/>
                          <a:latin typeface="+mj-lt"/>
                        </a:rPr>
                        <a:t>G8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2358.78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5282984"/>
                  </a:ext>
                </a:extLst>
              </a:tr>
              <a:tr h="74846">
                <a:tc vMerge="1">
                  <a:txBody>
                    <a:bodyPr/>
                    <a:lstStyle/>
                    <a:p>
                      <a:endParaRPr lang="en-US"/>
                    </a:p>
                  </a:txBody>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2112.21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13918"/>
                  </a:ext>
                </a:extLst>
              </a:tr>
              <a:tr h="74846">
                <a:tc rowSpan="2">
                  <a:txBody>
                    <a:bodyPr/>
                    <a:lstStyle/>
                    <a:p>
                      <a:pPr algn="l" fontAlgn="ctr"/>
                      <a:r>
                        <a:rPr lang="en-US" sz="1100" u="none" strike="noStrike" dirty="0">
                          <a:effectLst/>
                          <a:latin typeface="+mj-lt"/>
                        </a:rPr>
                        <a:t>BCCL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W-III</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1526141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4073.92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62.85%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4371840"/>
                  </a:ext>
                </a:extLst>
              </a:tr>
              <a:tr h="74846">
                <a:tc vMerge="1">
                  <a:txBody>
                    <a:bodyPr/>
                    <a:lstStyle/>
                    <a:p>
                      <a:endParaRPr lang="en-US"/>
                    </a:p>
                  </a:txBody>
                  <a:tcPr/>
                </a:tc>
                <a:tc>
                  <a:txBody>
                    <a:bodyPr/>
                    <a:lstStyle/>
                    <a:p>
                      <a:pPr algn="ctr" fontAlgn="ctr"/>
                      <a:r>
                        <a:rPr lang="en-US" sz="1100" u="none" strike="noStrike">
                          <a:effectLst/>
                          <a:latin typeface="+mj-lt"/>
                        </a:rPr>
                        <a:t>W-IV</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173974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3903.3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7.16%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1926774"/>
                  </a:ext>
                </a:extLst>
              </a:tr>
              <a:tr h="74846">
                <a:tc rowSpan="2">
                  <a:txBody>
                    <a:bodyPr/>
                    <a:lstStyle/>
                    <a:p>
                      <a:pPr algn="l" fontAlgn="ctr"/>
                      <a:r>
                        <a:rPr lang="en-US" sz="1100" u="none" strike="noStrike" dirty="0">
                          <a:effectLst/>
                          <a:latin typeface="+mj-lt"/>
                        </a:rPr>
                        <a:t>MCL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1715.81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4257201"/>
                  </a:ext>
                </a:extLst>
              </a:tr>
              <a:tr h="74846">
                <a:tc vMerge="1">
                  <a:txBody>
                    <a:bodyPr/>
                    <a:lstStyle/>
                    <a:p>
                      <a:endParaRPr lang="en-US"/>
                    </a:p>
                  </a:txBody>
                  <a:tcPr/>
                </a:tc>
                <a:tc>
                  <a:txBody>
                    <a:bodyPr/>
                    <a:lstStyle/>
                    <a:p>
                      <a:pPr algn="ctr" fontAlgn="ctr"/>
                      <a:r>
                        <a:rPr lang="en-US" sz="1100" u="none" strike="noStrike">
                          <a:effectLst/>
                          <a:latin typeface="+mj-lt"/>
                        </a:rPr>
                        <a:t>G13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1687.28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7280875"/>
                  </a:ext>
                </a:extLst>
              </a:tr>
              <a:tr h="74846">
                <a:tc>
                  <a:txBody>
                    <a:bodyPr/>
                    <a:lstStyle/>
                    <a:p>
                      <a:pPr algn="l" fontAlgn="b"/>
                      <a:r>
                        <a:rPr lang="en-US" sz="1100" u="none" strike="noStrike" dirty="0">
                          <a:effectLst/>
                          <a:latin typeface="+mj-lt"/>
                        </a:rPr>
                        <a:t>MCL-W</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1876.23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1625498"/>
                  </a:ext>
                </a:extLst>
              </a:tr>
              <a:tr h="74846">
                <a:tc rowSpan="2">
                  <a:txBody>
                    <a:bodyPr/>
                    <a:lstStyle/>
                    <a:p>
                      <a:pPr algn="l" fontAlgn="ctr"/>
                      <a:r>
                        <a:rPr lang="en-US" sz="1100" u="none" strike="noStrike" dirty="0">
                          <a:effectLst/>
                          <a:latin typeface="+mj-lt"/>
                        </a:rPr>
                        <a:t>CCL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WR3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4066.81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1591631"/>
                  </a:ext>
                </a:extLst>
              </a:tr>
              <a:tr h="74846">
                <a:tc vMerge="1">
                  <a:txBody>
                    <a:bodyPr/>
                    <a:lstStyle/>
                    <a:p>
                      <a:endParaRPr lang="en-US"/>
                    </a:p>
                  </a:txBody>
                  <a:tcPr/>
                </a:tc>
                <a:tc>
                  <a:txBody>
                    <a:bodyPr/>
                    <a:lstStyle/>
                    <a:p>
                      <a:pPr algn="ctr" fontAlgn="ctr"/>
                      <a:r>
                        <a:rPr lang="en-US" sz="1100" u="none" strike="noStrike">
                          <a:effectLst/>
                          <a:latin typeface="+mj-lt"/>
                        </a:rPr>
                        <a:t>W4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82191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3220.87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3.38%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4886418"/>
                  </a:ext>
                </a:extLst>
              </a:tr>
              <a:tr h="74846">
                <a:tc rowSpan="5">
                  <a:txBody>
                    <a:bodyPr/>
                    <a:lstStyle/>
                    <a:p>
                      <a:pPr algn="l" fontAlgn="ctr"/>
                      <a:r>
                        <a:rPr lang="en-US" sz="1100" u="none" strike="noStrike" dirty="0">
                          <a:effectLst/>
                          <a:latin typeface="+mj-lt"/>
                        </a:rPr>
                        <a:t>Captive-WB</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3137.1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7593742"/>
                  </a:ext>
                </a:extLst>
              </a:tr>
              <a:tr h="74846">
                <a:tc vMerge="1">
                  <a:txBody>
                    <a:bodyPr/>
                    <a:lstStyle/>
                    <a:p>
                      <a:endParaRPr lang="en-US"/>
                    </a:p>
                  </a:txBody>
                  <a:tcPr/>
                </a:tc>
                <a:tc>
                  <a:txBody>
                    <a:bodyPr/>
                    <a:lstStyle/>
                    <a:p>
                      <a:pPr algn="ctr" fontAlgn="ctr"/>
                      <a:r>
                        <a:rPr lang="en-US" sz="1100" u="none" strike="noStrike">
                          <a:effectLst/>
                          <a:latin typeface="+mj-lt"/>
                        </a:rPr>
                        <a:t>G8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2530.38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9158437"/>
                  </a:ext>
                </a:extLst>
              </a:tr>
              <a:tr h="74846">
                <a:tc vMerge="1">
                  <a:txBody>
                    <a:bodyPr/>
                    <a:lstStyle/>
                    <a:p>
                      <a:endParaRPr lang="en-US"/>
                    </a:p>
                  </a:txBody>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2103.51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390395"/>
                  </a:ext>
                </a:extLst>
              </a:tr>
              <a:tr h="74846">
                <a:tc vMerge="1">
                  <a:txBody>
                    <a:bodyPr/>
                    <a:lstStyle/>
                    <a:p>
                      <a:endParaRPr lang="en-US"/>
                    </a:p>
                  </a:txBody>
                  <a:tcPr/>
                </a:tc>
                <a:tc>
                  <a:txBody>
                    <a:bodyPr/>
                    <a:lstStyle/>
                    <a:p>
                      <a:pPr algn="ctr" fontAlgn="ctr"/>
                      <a:r>
                        <a:rPr lang="en-US" sz="1100" u="none" strike="noStrike">
                          <a:effectLst/>
                          <a:latin typeface="+mj-lt"/>
                        </a:rPr>
                        <a:t>G11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1859.25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3154114"/>
                  </a:ext>
                </a:extLst>
              </a:tr>
              <a:tr h="74846">
                <a:tc vMerge="1">
                  <a:txBody>
                    <a:bodyPr/>
                    <a:lstStyle/>
                    <a:p>
                      <a:endParaRPr lang="en-US"/>
                    </a:p>
                  </a:txBody>
                  <a:tcPr/>
                </a:tc>
                <a:tc>
                  <a:txBody>
                    <a:bodyPr/>
                    <a:lstStyle/>
                    <a:p>
                      <a:pPr algn="ctr" fontAlgn="ctr"/>
                      <a:r>
                        <a:rPr lang="en-US" sz="1100" u="none" strike="noStrike">
                          <a:effectLst/>
                          <a:latin typeface="+mj-lt"/>
                        </a:rPr>
                        <a:t>G13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625045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1677.63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25.74%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0724174"/>
                  </a:ext>
                </a:extLst>
              </a:tr>
              <a:tr h="74846">
                <a:tc>
                  <a:txBody>
                    <a:bodyPr/>
                    <a:lstStyle/>
                    <a:p>
                      <a:pPr algn="l" fontAlgn="b"/>
                      <a:r>
                        <a:rPr lang="en-US" sz="1100" u="none" strike="noStrike" dirty="0">
                          <a:effectLst/>
                          <a:latin typeface="+mj-lt"/>
                        </a:rPr>
                        <a:t>Captive-Jharkhand</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2031.12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5603174"/>
                  </a:ext>
                </a:extLst>
              </a:tr>
              <a:tr h="74846">
                <a:tc>
                  <a:txBody>
                    <a:bodyPr/>
                    <a:lstStyle/>
                    <a:p>
                      <a:pPr algn="l" fontAlgn="b"/>
                      <a:r>
                        <a:rPr lang="en-US" sz="1100" u="none" strike="noStrike" dirty="0">
                          <a:effectLst/>
                          <a:latin typeface="+mj-lt"/>
                        </a:rPr>
                        <a:t>MSTC</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20959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4603.32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0.86%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307452"/>
                  </a:ext>
                </a:extLst>
              </a:tr>
              <a:tr h="74846">
                <a:tc>
                  <a:txBody>
                    <a:bodyPr/>
                    <a:lstStyle/>
                    <a:p>
                      <a:pPr algn="l" fontAlgn="b"/>
                      <a:r>
                        <a:rPr lang="en-US" sz="1100" u="none" strike="noStrike" dirty="0">
                          <a:effectLst/>
                          <a:latin typeface="+mj-lt"/>
                        </a:rPr>
                        <a:t>Import</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5953.03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dirty="0">
                          <a:effectLst/>
                          <a:latin typeface="+mj-lt"/>
                        </a:rPr>
                        <a:t>0.00%</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4829499"/>
                  </a:ext>
                </a:extLst>
              </a:tr>
              <a:tr h="74846">
                <a:tc>
                  <a:txBody>
                    <a:bodyPr/>
                    <a:lstStyle/>
                    <a:p>
                      <a:pPr algn="l" fontAlgn="b"/>
                      <a:r>
                        <a:rPr lang="en-US" sz="1100" b="1" i="0" u="none" strike="noStrike" dirty="0">
                          <a:solidFill>
                            <a:srgbClr val="000000"/>
                          </a:solidFill>
                          <a:effectLst/>
                          <a:latin typeface="+mj-lt"/>
                        </a:rPr>
                        <a:t>Total</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1" u="none" strike="noStrike" dirty="0">
                          <a:effectLst/>
                          <a:latin typeface="+mj-lt"/>
                        </a:rPr>
                        <a:t>2428310</a:t>
                      </a:r>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a:solidFill>
                            <a:srgbClr val="000000"/>
                          </a:solidFill>
                          <a:effectLst/>
                          <a:latin typeface="+mj-lt"/>
                        </a:rPr>
                        <a:t>100%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1868917"/>
                  </a:ext>
                </a:extLst>
              </a:tr>
            </a:tbl>
          </a:graphicData>
        </a:graphic>
      </p:graphicFrame>
    </p:spTree>
    <p:extLst>
      <p:ext uri="{BB962C8B-B14F-4D97-AF65-F5344CB8AC3E}">
        <p14:creationId xmlns:p14="http://schemas.microsoft.com/office/powerpoint/2010/main" val="2978389929"/>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sz="1800" b="1" dirty="0"/>
              <a:t>Coal mix proposed for</a:t>
            </a:r>
            <a:r>
              <a:rPr lang="en-US" sz="1800" b="1" i="0" dirty="0">
                <a:solidFill>
                  <a:schemeClr val="tx1"/>
                </a:solidFill>
              </a:rPr>
              <a:t> </a:t>
            </a:r>
            <a:r>
              <a:rPr lang="en-US" sz="1800" b="1" i="0" dirty="0" err="1">
                <a:solidFill>
                  <a:schemeClr val="tx1"/>
                </a:solidFill>
              </a:rPr>
              <a:t>Sagardighi</a:t>
            </a:r>
            <a:r>
              <a:rPr lang="en-US" sz="1800" b="1" i="0" dirty="0">
                <a:solidFill>
                  <a:schemeClr val="tx1"/>
                </a:solidFill>
              </a:rPr>
              <a:t> I</a:t>
            </a:r>
            <a:r>
              <a:rPr lang="en-US" sz="1800" b="1" dirty="0"/>
              <a:t> as per WBDPCL tariff order w.r.t FY 2019-20</a:t>
            </a:r>
            <a:endParaRPr lang="en-US" sz="1800" b="1" i="0" dirty="0">
              <a:solidFill>
                <a:schemeClr val="tx1"/>
              </a:solidFill>
            </a:endParaRPr>
          </a:p>
        </p:txBody>
      </p:sp>
      <p:graphicFrame>
        <p:nvGraphicFramePr>
          <p:cNvPr id="5" name="Table 4">
            <a:extLst>
              <a:ext uri="{FF2B5EF4-FFF2-40B4-BE49-F238E27FC236}">
                <a16:creationId xmlns:a16="http://schemas.microsoft.com/office/drawing/2014/main" id="{1857C191-7196-47E9-913C-7B717F58EC9B}"/>
              </a:ext>
            </a:extLst>
          </p:cNvPr>
          <p:cNvGraphicFramePr>
            <a:graphicFrameLocks noGrp="1"/>
          </p:cNvGraphicFramePr>
          <p:nvPr/>
        </p:nvGraphicFramePr>
        <p:xfrm>
          <a:off x="596765" y="5103286"/>
          <a:ext cx="3551723" cy="655660"/>
        </p:xfrm>
        <a:graphic>
          <a:graphicData uri="http://schemas.openxmlformats.org/drawingml/2006/table">
            <a:tbl>
              <a:tblPr>
                <a:tableStyleId>{5C22544A-7EE6-4342-B048-85BDC9FD1C3A}</a:tableStyleId>
              </a:tblPr>
              <a:tblGrid>
                <a:gridCol w="1245144">
                  <a:extLst>
                    <a:ext uri="{9D8B030D-6E8A-4147-A177-3AD203B41FA5}">
                      <a16:colId xmlns:a16="http://schemas.microsoft.com/office/drawing/2014/main" val="2453496640"/>
                    </a:ext>
                  </a:extLst>
                </a:gridCol>
                <a:gridCol w="979786">
                  <a:extLst>
                    <a:ext uri="{9D8B030D-6E8A-4147-A177-3AD203B41FA5}">
                      <a16:colId xmlns:a16="http://schemas.microsoft.com/office/drawing/2014/main" val="2503646657"/>
                    </a:ext>
                  </a:extLst>
                </a:gridCol>
                <a:gridCol w="1326793">
                  <a:extLst>
                    <a:ext uri="{9D8B030D-6E8A-4147-A177-3AD203B41FA5}">
                      <a16:colId xmlns:a16="http://schemas.microsoft.com/office/drawing/2014/main" val="4043808053"/>
                    </a:ext>
                  </a:extLst>
                </a:gridCol>
              </a:tblGrid>
              <a:tr h="240835">
                <a:tc>
                  <a:txBody>
                    <a:bodyPr/>
                    <a:lstStyle/>
                    <a:p>
                      <a:pPr algn="ctr" fontAlgn="b"/>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Share (%)</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Price (INR/MT)</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extLst>
                  <a:ext uri="{0D108BD9-81ED-4DB2-BD59-A6C34878D82A}">
                    <a16:rowId xmlns:a16="http://schemas.microsoft.com/office/drawing/2014/main" val="4124291351"/>
                  </a:ext>
                </a:extLst>
              </a:tr>
              <a:tr h="240835">
                <a:tc>
                  <a:txBody>
                    <a:bodyPr/>
                    <a:lstStyle/>
                    <a:p>
                      <a:pPr algn="ctr" fontAlgn="b"/>
                      <a:r>
                        <a:rPr lang="en-US" sz="1100" b="1" u="none" strike="noStrike" dirty="0">
                          <a:effectLst/>
                        </a:rPr>
                        <a:t>Non-Captive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a:solidFill>
                            <a:srgbClr val="000000"/>
                          </a:solidFill>
                          <a:effectLst/>
                          <a:latin typeface="+mj-lt"/>
                        </a:rPr>
                        <a:t>75.00%</a:t>
                      </a:r>
                    </a:p>
                  </a:txBody>
                  <a:tcPr marL="6350" marR="6350" marT="6350" marB="0" anchor="ctr"/>
                </a:tc>
                <a:tc>
                  <a:txBody>
                    <a:bodyPr/>
                    <a:lstStyle/>
                    <a:p>
                      <a:pPr algn="ctr" fontAlgn="b"/>
                      <a:r>
                        <a:rPr lang="en-US" sz="1100" b="1" i="0" u="none" strike="noStrike">
                          <a:solidFill>
                            <a:srgbClr val="000000"/>
                          </a:solidFill>
                          <a:effectLst/>
                          <a:latin typeface="+mj-lt"/>
                        </a:rPr>
                        <a:t>4577.91</a:t>
                      </a:r>
                    </a:p>
                  </a:txBody>
                  <a:tcPr marL="6350" marR="6350" marT="6350" marB="0" anchor="ctr"/>
                </a:tc>
                <a:extLst>
                  <a:ext uri="{0D108BD9-81ED-4DB2-BD59-A6C34878D82A}">
                    <a16:rowId xmlns:a16="http://schemas.microsoft.com/office/drawing/2014/main" val="1700570387"/>
                  </a:ext>
                </a:extLst>
              </a:tr>
              <a:tr h="129818">
                <a:tc>
                  <a:txBody>
                    <a:bodyPr/>
                    <a:lstStyle/>
                    <a:p>
                      <a:pPr algn="ctr" fontAlgn="b"/>
                      <a:r>
                        <a:rPr lang="en-US" sz="1100" b="1" u="none" strike="noStrike" dirty="0">
                          <a:effectLst/>
                        </a:rPr>
                        <a:t>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a:solidFill>
                            <a:srgbClr val="000000"/>
                          </a:solidFill>
                          <a:effectLst/>
                          <a:latin typeface="+mj-lt"/>
                        </a:rPr>
                        <a:t>25.00%</a:t>
                      </a:r>
                    </a:p>
                  </a:txBody>
                  <a:tcPr marL="6350" marR="6350" marT="6350" marB="0" anchor="ctr"/>
                </a:tc>
                <a:tc>
                  <a:txBody>
                    <a:bodyPr/>
                    <a:lstStyle/>
                    <a:p>
                      <a:pPr algn="ctr" fontAlgn="b"/>
                      <a:r>
                        <a:rPr lang="en-US" sz="1100" b="1" i="0" u="none" strike="noStrike" dirty="0">
                          <a:solidFill>
                            <a:srgbClr val="000000"/>
                          </a:solidFill>
                          <a:effectLst/>
                          <a:latin typeface="+mj-lt"/>
                        </a:rPr>
                        <a:t>2031.12</a:t>
                      </a:r>
                    </a:p>
                  </a:txBody>
                  <a:tcPr marL="6350" marR="6350" marT="6350" marB="0" anchor="ctr"/>
                </a:tc>
                <a:extLst>
                  <a:ext uri="{0D108BD9-81ED-4DB2-BD59-A6C34878D82A}">
                    <a16:rowId xmlns:a16="http://schemas.microsoft.com/office/drawing/2014/main" val="1339890962"/>
                  </a:ext>
                </a:extLst>
              </a:tr>
            </a:tbl>
          </a:graphicData>
        </a:graphic>
      </p:graphicFrame>
      <p:graphicFrame>
        <p:nvGraphicFramePr>
          <p:cNvPr id="3" name="Table 2">
            <a:extLst>
              <a:ext uri="{FF2B5EF4-FFF2-40B4-BE49-F238E27FC236}">
                <a16:creationId xmlns:a16="http://schemas.microsoft.com/office/drawing/2014/main" id="{58789CCB-F20A-4220-B4C9-EE760641AFE0}"/>
              </a:ext>
            </a:extLst>
          </p:cNvPr>
          <p:cNvGraphicFramePr>
            <a:graphicFrameLocks noGrp="1"/>
          </p:cNvGraphicFramePr>
          <p:nvPr/>
        </p:nvGraphicFramePr>
        <p:xfrm>
          <a:off x="596765" y="750825"/>
          <a:ext cx="10173904" cy="4039313"/>
        </p:xfrm>
        <a:graphic>
          <a:graphicData uri="http://schemas.openxmlformats.org/drawingml/2006/table">
            <a:tbl>
              <a:tblPr>
                <a:tableStyleId>{93296810-A885-4BE3-A3E7-6D5BEEA58F35}</a:tableStyleId>
              </a:tblPr>
              <a:tblGrid>
                <a:gridCol w="2384509">
                  <a:extLst>
                    <a:ext uri="{9D8B030D-6E8A-4147-A177-3AD203B41FA5}">
                      <a16:colId xmlns:a16="http://schemas.microsoft.com/office/drawing/2014/main" val="3217151302"/>
                    </a:ext>
                  </a:extLst>
                </a:gridCol>
                <a:gridCol w="2013585">
                  <a:extLst>
                    <a:ext uri="{9D8B030D-6E8A-4147-A177-3AD203B41FA5}">
                      <a16:colId xmlns:a16="http://schemas.microsoft.com/office/drawing/2014/main" val="31320456"/>
                    </a:ext>
                  </a:extLst>
                </a:gridCol>
                <a:gridCol w="1616167">
                  <a:extLst>
                    <a:ext uri="{9D8B030D-6E8A-4147-A177-3AD203B41FA5}">
                      <a16:colId xmlns:a16="http://schemas.microsoft.com/office/drawing/2014/main" val="3587348930"/>
                    </a:ext>
                  </a:extLst>
                </a:gridCol>
                <a:gridCol w="2384509">
                  <a:extLst>
                    <a:ext uri="{9D8B030D-6E8A-4147-A177-3AD203B41FA5}">
                      <a16:colId xmlns:a16="http://schemas.microsoft.com/office/drawing/2014/main" val="3130519459"/>
                    </a:ext>
                  </a:extLst>
                </a:gridCol>
                <a:gridCol w="1775134">
                  <a:extLst>
                    <a:ext uri="{9D8B030D-6E8A-4147-A177-3AD203B41FA5}">
                      <a16:colId xmlns:a16="http://schemas.microsoft.com/office/drawing/2014/main" val="4058624267"/>
                    </a:ext>
                  </a:extLst>
                </a:gridCol>
              </a:tblGrid>
              <a:tr h="140887">
                <a:tc>
                  <a:txBody>
                    <a:bodyPr/>
                    <a:lstStyle/>
                    <a:p>
                      <a:pPr algn="ctr" fontAlgn="ctr"/>
                      <a:r>
                        <a:rPr lang="en-US" sz="1100" b="1" u="none" strike="noStrike" dirty="0">
                          <a:effectLst/>
                          <a:latin typeface="+mj-lt"/>
                        </a:rPr>
                        <a:t>Source</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Coal Grade</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Qty(MT)</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Price (INR/MT)</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Share(%)</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5969489"/>
                  </a:ext>
                </a:extLst>
              </a:tr>
              <a:tr h="140887">
                <a:tc rowSpan="6">
                  <a:txBody>
                    <a:bodyPr/>
                    <a:lstStyle/>
                    <a:p>
                      <a:pPr algn="l" fontAlgn="ctr"/>
                      <a:r>
                        <a:rPr lang="en-US" sz="1100" u="none" strike="noStrike" dirty="0">
                          <a:effectLst/>
                          <a:latin typeface="+mj-lt"/>
                        </a:rPr>
                        <a:t>ECL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826831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4556.51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38.25%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7750729"/>
                  </a:ext>
                </a:extLst>
              </a:tr>
              <a:tr h="140887">
                <a:tc vMerge="1">
                  <a:txBody>
                    <a:bodyPr/>
                    <a:lstStyle/>
                    <a:p>
                      <a:endParaRPr lang="en-US"/>
                    </a:p>
                  </a:txBody>
                  <a:tcPr/>
                </a:tc>
                <a:tc>
                  <a:txBody>
                    <a:bodyPr/>
                    <a:lstStyle/>
                    <a:p>
                      <a:pPr algn="ctr" fontAlgn="ctr"/>
                      <a:r>
                        <a:rPr lang="en-US" sz="1100" u="none" strike="noStrike">
                          <a:effectLst/>
                          <a:latin typeface="+mj-lt"/>
                        </a:rPr>
                        <a:t>G5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8339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4209.94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0.39%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696749"/>
                  </a:ext>
                </a:extLst>
              </a:tr>
              <a:tr h="140887">
                <a:tc vMerge="1">
                  <a:txBody>
                    <a:bodyPr/>
                    <a:lstStyle/>
                    <a:p>
                      <a:endParaRPr lang="en-US"/>
                    </a:p>
                  </a:txBody>
                  <a:tcPr/>
                </a:tc>
                <a:tc>
                  <a:txBody>
                    <a:bodyPr/>
                    <a:lstStyle/>
                    <a:p>
                      <a:pPr algn="ctr" fontAlgn="ctr"/>
                      <a:r>
                        <a:rPr lang="en-US" sz="1100" u="none" strike="noStrike">
                          <a:effectLst/>
                          <a:latin typeface="+mj-lt"/>
                        </a:rPr>
                        <a:t>G6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25792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3658.69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1.19%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4852552"/>
                  </a:ext>
                </a:extLst>
              </a:tr>
              <a:tr h="140887">
                <a:tc vMerge="1">
                  <a:txBody>
                    <a:bodyPr/>
                    <a:lstStyle/>
                    <a:p>
                      <a:endParaRPr lang="en-US"/>
                    </a:p>
                  </a:txBody>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19664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3145.5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0.91%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194419"/>
                  </a:ext>
                </a:extLst>
              </a:tr>
              <a:tr h="140887">
                <a:tc vMerge="1">
                  <a:txBody>
                    <a:bodyPr/>
                    <a:lstStyle/>
                    <a:p>
                      <a:endParaRPr lang="en-US"/>
                    </a:p>
                  </a:txBody>
                  <a:tcPr/>
                </a:tc>
                <a:tc>
                  <a:txBody>
                    <a:bodyPr/>
                    <a:lstStyle/>
                    <a:p>
                      <a:pPr algn="ctr" fontAlgn="ctr"/>
                      <a:r>
                        <a:rPr lang="en-US" sz="1100" u="none" strike="noStrike">
                          <a:effectLst/>
                          <a:latin typeface="+mj-lt"/>
                        </a:rPr>
                        <a:t>G8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2358.78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7165903"/>
                  </a:ext>
                </a:extLst>
              </a:tr>
              <a:tr h="140887">
                <a:tc vMerge="1">
                  <a:txBody>
                    <a:bodyPr/>
                    <a:lstStyle/>
                    <a:p>
                      <a:endParaRPr lang="en-US"/>
                    </a:p>
                  </a:txBody>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2112.21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2720552"/>
                  </a:ext>
                </a:extLst>
              </a:tr>
              <a:tr h="140887">
                <a:tc rowSpan="2">
                  <a:txBody>
                    <a:bodyPr/>
                    <a:lstStyle/>
                    <a:p>
                      <a:pPr algn="l" fontAlgn="ctr"/>
                      <a:r>
                        <a:rPr lang="en-US" sz="1100" u="none" strike="noStrike" dirty="0">
                          <a:effectLst/>
                          <a:latin typeface="+mj-lt"/>
                        </a:rPr>
                        <a:t>BCCL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W-III</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11442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4073.92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0.53%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77579"/>
                  </a:ext>
                </a:extLst>
              </a:tr>
              <a:tr h="140887">
                <a:tc vMerge="1">
                  <a:txBody>
                    <a:bodyPr/>
                    <a:lstStyle/>
                    <a:p>
                      <a:endParaRPr lang="en-US"/>
                    </a:p>
                  </a:txBody>
                  <a:tcPr/>
                </a:tc>
                <a:tc>
                  <a:txBody>
                    <a:bodyPr/>
                    <a:lstStyle/>
                    <a:p>
                      <a:pPr algn="ctr" fontAlgn="ctr"/>
                      <a:r>
                        <a:rPr lang="en-US" sz="1100" u="none" strike="noStrike">
                          <a:effectLst/>
                          <a:latin typeface="+mj-lt"/>
                        </a:rPr>
                        <a:t>W-IV</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157376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3903.3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7.28%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273882"/>
                  </a:ext>
                </a:extLst>
              </a:tr>
              <a:tr h="140887">
                <a:tc rowSpan="2">
                  <a:txBody>
                    <a:bodyPr/>
                    <a:lstStyle/>
                    <a:p>
                      <a:pPr algn="l" fontAlgn="ctr"/>
                      <a:r>
                        <a:rPr lang="en-US" sz="1100" u="none" strike="noStrike" dirty="0">
                          <a:effectLst/>
                          <a:latin typeface="+mj-lt"/>
                        </a:rPr>
                        <a:t>MCL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1715.81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412907"/>
                  </a:ext>
                </a:extLst>
              </a:tr>
              <a:tr h="140887">
                <a:tc vMerge="1">
                  <a:txBody>
                    <a:bodyPr/>
                    <a:lstStyle/>
                    <a:p>
                      <a:endParaRPr lang="en-US"/>
                    </a:p>
                  </a:txBody>
                  <a:tcPr/>
                </a:tc>
                <a:tc>
                  <a:txBody>
                    <a:bodyPr/>
                    <a:lstStyle/>
                    <a:p>
                      <a:pPr algn="ctr" fontAlgn="ctr"/>
                      <a:r>
                        <a:rPr lang="en-US" sz="1100" u="none" strike="noStrike">
                          <a:effectLst/>
                          <a:latin typeface="+mj-lt"/>
                        </a:rPr>
                        <a:t>G13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1687.28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2279394"/>
                  </a:ext>
                </a:extLst>
              </a:tr>
              <a:tr h="140887">
                <a:tc>
                  <a:txBody>
                    <a:bodyPr/>
                    <a:lstStyle/>
                    <a:p>
                      <a:pPr algn="l" fontAlgn="b"/>
                      <a:r>
                        <a:rPr lang="en-US" sz="1100" u="none" strike="noStrike" dirty="0">
                          <a:effectLst/>
                          <a:latin typeface="+mj-lt"/>
                        </a:rPr>
                        <a:t>MCL-W</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1876.23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356294"/>
                  </a:ext>
                </a:extLst>
              </a:tr>
              <a:tr h="140887">
                <a:tc rowSpan="2">
                  <a:txBody>
                    <a:bodyPr/>
                    <a:lstStyle/>
                    <a:p>
                      <a:pPr algn="l" fontAlgn="ctr"/>
                      <a:r>
                        <a:rPr lang="en-US" sz="1100" u="none" strike="noStrike" dirty="0">
                          <a:effectLst/>
                          <a:latin typeface="+mj-lt"/>
                        </a:rPr>
                        <a:t>CCL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WR3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4066.81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7012458"/>
                  </a:ext>
                </a:extLst>
              </a:tr>
              <a:tr h="140887">
                <a:tc vMerge="1">
                  <a:txBody>
                    <a:bodyPr/>
                    <a:lstStyle/>
                    <a:p>
                      <a:endParaRPr lang="en-US"/>
                    </a:p>
                  </a:txBody>
                  <a:tcPr/>
                </a:tc>
                <a:tc>
                  <a:txBody>
                    <a:bodyPr/>
                    <a:lstStyle/>
                    <a:p>
                      <a:pPr algn="ctr" fontAlgn="ctr"/>
                      <a:r>
                        <a:rPr lang="en-US" sz="1100" u="none" strike="noStrike">
                          <a:effectLst/>
                          <a:latin typeface="+mj-lt"/>
                        </a:rPr>
                        <a:t>W4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3220.87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0149692"/>
                  </a:ext>
                </a:extLst>
              </a:tr>
              <a:tr h="140887">
                <a:tc rowSpan="3">
                  <a:txBody>
                    <a:bodyPr/>
                    <a:lstStyle/>
                    <a:p>
                      <a:pPr algn="l" fontAlgn="ctr"/>
                      <a:r>
                        <a:rPr lang="en-US" sz="1100" u="none" strike="noStrike" dirty="0">
                          <a:effectLst/>
                          <a:latin typeface="+mj-lt"/>
                        </a:rPr>
                        <a:t>Captive-WB</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3137.1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838755"/>
                  </a:ext>
                </a:extLst>
              </a:tr>
              <a:tr h="140887">
                <a:tc vMerge="1">
                  <a:txBody>
                    <a:bodyPr/>
                    <a:lstStyle/>
                    <a:p>
                      <a:endParaRPr lang="en-US"/>
                    </a:p>
                  </a:txBody>
                  <a:tcPr/>
                </a:tc>
                <a:tc>
                  <a:txBody>
                    <a:bodyPr/>
                    <a:lstStyle/>
                    <a:p>
                      <a:pPr algn="ctr" fontAlgn="ctr"/>
                      <a:r>
                        <a:rPr lang="en-US" sz="1100" u="none" strike="noStrike">
                          <a:effectLst/>
                          <a:latin typeface="+mj-lt"/>
                        </a:rPr>
                        <a:t>G8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2530.38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7769250"/>
                  </a:ext>
                </a:extLst>
              </a:tr>
              <a:tr h="140887">
                <a:tc vMerge="1">
                  <a:txBody>
                    <a:bodyPr/>
                    <a:lstStyle/>
                    <a:p>
                      <a:endParaRPr lang="en-US"/>
                    </a:p>
                  </a:txBody>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2103.51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9723211"/>
                  </a:ext>
                </a:extLst>
              </a:tr>
              <a:tr h="211533">
                <a:tc>
                  <a:txBody>
                    <a:bodyPr/>
                    <a:lstStyle/>
                    <a:p>
                      <a:pPr algn="l" fontAlgn="b"/>
                      <a:r>
                        <a:rPr lang="en-US" sz="1100" u="none" strike="noStrike" dirty="0">
                          <a:effectLst/>
                          <a:latin typeface="+mj-lt"/>
                        </a:rPr>
                        <a:t>Captive-Jharkhand</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540399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2031.12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749387"/>
                  </a:ext>
                </a:extLst>
              </a:tr>
              <a:tr h="140887">
                <a:tc>
                  <a:txBody>
                    <a:bodyPr/>
                    <a:lstStyle/>
                    <a:p>
                      <a:pPr algn="l" fontAlgn="b"/>
                      <a:r>
                        <a:rPr lang="en-US" sz="1100" u="none" strike="noStrike" dirty="0">
                          <a:effectLst/>
                          <a:latin typeface="+mj-lt"/>
                        </a:rPr>
                        <a:t>MSTC</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205354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4382.9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9.50%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738747"/>
                  </a:ext>
                </a:extLst>
              </a:tr>
              <a:tr h="140887">
                <a:tc>
                  <a:txBody>
                    <a:bodyPr/>
                    <a:lstStyle/>
                    <a:p>
                      <a:pPr algn="l" fontAlgn="b"/>
                      <a:r>
                        <a:rPr lang="en-US" sz="1100" u="none" strike="noStrike" dirty="0">
                          <a:effectLst/>
                          <a:latin typeface="+mj-lt"/>
                        </a:rPr>
                        <a:t>Import</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5661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6638272"/>
                  </a:ext>
                </a:extLst>
              </a:tr>
              <a:tr h="140887">
                <a:tc>
                  <a:txBody>
                    <a:bodyPr/>
                    <a:lstStyle/>
                    <a:p>
                      <a:pPr algn="l" fontAlgn="b"/>
                      <a:r>
                        <a:rPr lang="en-US" sz="1100" u="none" strike="noStrike" dirty="0">
                          <a:effectLst/>
                          <a:latin typeface="+mj-lt"/>
                        </a:rPr>
                        <a:t>E-auction ECL</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214172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5785.01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9.91%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626591"/>
                  </a:ext>
                </a:extLst>
              </a:tr>
              <a:tr h="140887">
                <a:tc>
                  <a:txBody>
                    <a:bodyPr/>
                    <a:lstStyle/>
                    <a:p>
                      <a:pPr algn="l" fontAlgn="b"/>
                      <a:r>
                        <a:rPr lang="en-US" sz="1100" u="none" strike="noStrike" dirty="0">
                          <a:effectLst/>
                          <a:latin typeface="+mj-lt"/>
                        </a:rPr>
                        <a:t>E-auction BCCL</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W-IV</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152440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4355.5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7.05%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5207309"/>
                  </a:ext>
                </a:extLst>
              </a:tr>
              <a:tr h="140887">
                <a:tc>
                  <a:txBody>
                    <a:bodyPr/>
                    <a:lstStyle/>
                    <a:p>
                      <a:pPr algn="l" fontAlgn="b"/>
                      <a:r>
                        <a:rPr lang="en-US" sz="1100" b="1" i="0" u="none" strike="noStrike" dirty="0">
                          <a:solidFill>
                            <a:srgbClr val="000000"/>
                          </a:solidFill>
                          <a:effectLst/>
                          <a:latin typeface="+mj-lt"/>
                        </a:rPr>
                        <a:t>Total</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2161809</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a:solidFill>
                            <a:srgbClr val="000000"/>
                          </a:solidFill>
                          <a:effectLst/>
                          <a:latin typeface="+mj-lt"/>
                        </a:rPr>
                        <a:t>100%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960401"/>
                  </a:ext>
                </a:extLst>
              </a:tr>
            </a:tbl>
          </a:graphicData>
        </a:graphic>
      </p:graphicFrame>
    </p:spTree>
    <p:extLst>
      <p:ext uri="{BB962C8B-B14F-4D97-AF65-F5344CB8AC3E}">
        <p14:creationId xmlns:p14="http://schemas.microsoft.com/office/powerpoint/2010/main" val="1600978119"/>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sz="1800" b="1" dirty="0"/>
              <a:t>Coal mix proposed for </a:t>
            </a:r>
            <a:r>
              <a:rPr lang="en-US" sz="1800" b="1" i="0" dirty="0" err="1">
                <a:solidFill>
                  <a:schemeClr val="tx1"/>
                </a:solidFill>
              </a:rPr>
              <a:t>Sagardighi</a:t>
            </a:r>
            <a:r>
              <a:rPr lang="en-US" sz="1800" b="1" i="0" dirty="0">
                <a:solidFill>
                  <a:schemeClr val="tx1"/>
                </a:solidFill>
              </a:rPr>
              <a:t> II</a:t>
            </a:r>
            <a:r>
              <a:rPr lang="en-US" sz="1800" b="1" dirty="0"/>
              <a:t> as per WBDPCL tariff order w.r.t FY 2019-20</a:t>
            </a:r>
            <a:endParaRPr lang="en-US" sz="1800" b="1" i="0" dirty="0">
              <a:solidFill>
                <a:schemeClr val="tx1"/>
              </a:solidFill>
            </a:endParaRPr>
          </a:p>
        </p:txBody>
      </p:sp>
      <p:graphicFrame>
        <p:nvGraphicFramePr>
          <p:cNvPr id="5" name="Table 4">
            <a:extLst>
              <a:ext uri="{FF2B5EF4-FFF2-40B4-BE49-F238E27FC236}">
                <a16:creationId xmlns:a16="http://schemas.microsoft.com/office/drawing/2014/main" id="{1857C191-7196-47E9-913C-7B717F58EC9B}"/>
              </a:ext>
            </a:extLst>
          </p:cNvPr>
          <p:cNvGraphicFramePr>
            <a:graphicFrameLocks noGrp="1"/>
          </p:cNvGraphicFramePr>
          <p:nvPr/>
        </p:nvGraphicFramePr>
        <p:xfrm>
          <a:off x="596765" y="5103286"/>
          <a:ext cx="3551723" cy="655660"/>
        </p:xfrm>
        <a:graphic>
          <a:graphicData uri="http://schemas.openxmlformats.org/drawingml/2006/table">
            <a:tbl>
              <a:tblPr>
                <a:tableStyleId>{5C22544A-7EE6-4342-B048-85BDC9FD1C3A}</a:tableStyleId>
              </a:tblPr>
              <a:tblGrid>
                <a:gridCol w="1245144">
                  <a:extLst>
                    <a:ext uri="{9D8B030D-6E8A-4147-A177-3AD203B41FA5}">
                      <a16:colId xmlns:a16="http://schemas.microsoft.com/office/drawing/2014/main" val="2453496640"/>
                    </a:ext>
                  </a:extLst>
                </a:gridCol>
                <a:gridCol w="979786">
                  <a:extLst>
                    <a:ext uri="{9D8B030D-6E8A-4147-A177-3AD203B41FA5}">
                      <a16:colId xmlns:a16="http://schemas.microsoft.com/office/drawing/2014/main" val="2503646657"/>
                    </a:ext>
                  </a:extLst>
                </a:gridCol>
                <a:gridCol w="1326793">
                  <a:extLst>
                    <a:ext uri="{9D8B030D-6E8A-4147-A177-3AD203B41FA5}">
                      <a16:colId xmlns:a16="http://schemas.microsoft.com/office/drawing/2014/main" val="4043808053"/>
                    </a:ext>
                  </a:extLst>
                </a:gridCol>
              </a:tblGrid>
              <a:tr h="240835">
                <a:tc>
                  <a:txBody>
                    <a:bodyPr/>
                    <a:lstStyle/>
                    <a:p>
                      <a:pPr algn="ctr" fontAlgn="b"/>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Share (%)</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tc>
                  <a:txBody>
                    <a:bodyPr/>
                    <a:lstStyle/>
                    <a:p>
                      <a:pPr algn="ctr" fontAlgn="b"/>
                      <a:r>
                        <a:rPr lang="en-US" sz="1100" b="1" u="none" strike="noStrike" dirty="0">
                          <a:solidFill>
                            <a:schemeClr val="bg1"/>
                          </a:solidFill>
                          <a:effectLst/>
                        </a:rPr>
                        <a:t>Price (INR/MT)</a:t>
                      </a:r>
                      <a:endParaRPr lang="en-US" sz="1100" b="1" i="0" u="none" strike="noStrike" dirty="0">
                        <a:solidFill>
                          <a:schemeClr val="bg1"/>
                        </a:solidFill>
                        <a:effectLst/>
                        <a:latin typeface="Calibri" panose="020F0502020204030204" pitchFamily="34" charset="0"/>
                      </a:endParaRPr>
                    </a:p>
                  </a:txBody>
                  <a:tcPr marL="6350" marR="6350" marT="6350" marB="0" anchor="ctr">
                    <a:solidFill>
                      <a:schemeClr val="tx1">
                        <a:lumMod val="75000"/>
                        <a:lumOff val="25000"/>
                      </a:schemeClr>
                    </a:solidFill>
                  </a:tcPr>
                </a:tc>
                <a:extLst>
                  <a:ext uri="{0D108BD9-81ED-4DB2-BD59-A6C34878D82A}">
                    <a16:rowId xmlns:a16="http://schemas.microsoft.com/office/drawing/2014/main" val="4124291351"/>
                  </a:ext>
                </a:extLst>
              </a:tr>
              <a:tr h="240835">
                <a:tc>
                  <a:txBody>
                    <a:bodyPr/>
                    <a:lstStyle/>
                    <a:p>
                      <a:pPr algn="ctr" fontAlgn="b"/>
                      <a:r>
                        <a:rPr lang="en-US" sz="1100" b="1" u="none" strike="noStrike" dirty="0">
                          <a:effectLst/>
                        </a:rPr>
                        <a:t>Non-Captive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dirty="0">
                          <a:solidFill>
                            <a:srgbClr val="000000"/>
                          </a:solidFill>
                          <a:effectLst/>
                          <a:latin typeface="+mj-lt"/>
                        </a:rPr>
                        <a:t>75.00%</a:t>
                      </a:r>
                    </a:p>
                  </a:txBody>
                  <a:tcPr marL="6350" marR="6350" marT="6350" marB="0" anchor="ctr"/>
                </a:tc>
                <a:tc>
                  <a:txBody>
                    <a:bodyPr/>
                    <a:lstStyle/>
                    <a:p>
                      <a:pPr algn="ctr" fontAlgn="b"/>
                      <a:r>
                        <a:rPr lang="en-US" sz="1100" b="1" i="0" u="none" strike="noStrike">
                          <a:solidFill>
                            <a:srgbClr val="000000"/>
                          </a:solidFill>
                          <a:effectLst/>
                          <a:latin typeface="+mj-lt"/>
                        </a:rPr>
                        <a:t>4577.91</a:t>
                      </a:r>
                    </a:p>
                  </a:txBody>
                  <a:tcPr marL="6350" marR="6350" marT="6350" marB="0" anchor="ctr"/>
                </a:tc>
                <a:extLst>
                  <a:ext uri="{0D108BD9-81ED-4DB2-BD59-A6C34878D82A}">
                    <a16:rowId xmlns:a16="http://schemas.microsoft.com/office/drawing/2014/main" val="1700570387"/>
                  </a:ext>
                </a:extLst>
              </a:tr>
              <a:tr h="129818">
                <a:tc>
                  <a:txBody>
                    <a:bodyPr/>
                    <a:lstStyle/>
                    <a:p>
                      <a:pPr algn="ctr" fontAlgn="b"/>
                      <a:r>
                        <a:rPr lang="en-US" sz="1100" b="1" u="none" strike="noStrike" dirty="0">
                          <a:effectLst/>
                        </a:rPr>
                        <a:t>Captive</a:t>
                      </a:r>
                      <a:endParaRPr lang="en-US" sz="11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100" b="1" i="0" u="none" strike="noStrike">
                          <a:solidFill>
                            <a:srgbClr val="000000"/>
                          </a:solidFill>
                          <a:effectLst/>
                          <a:latin typeface="+mj-lt"/>
                        </a:rPr>
                        <a:t>25.00%</a:t>
                      </a:r>
                    </a:p>
                  </a:txBody>
                  <a:tcPr marL="6350" marR="6350" marT="6350" marB="0" anchor="ctr"/>
                </a:tc>
                <a:tc>
                  <a:txBody>
                    <a:bodyPr/>
                    <a:lstStyle/>
                    <a:p>
                      <a:pPr algn="ctr" fontAlgn="b"/>
                      <a:r>
                        <a:rPr lang="en-US" sz="1100" b="1" i="0" u="none" strike="noStrike" dirty="0">
                          <a:solidFill>
                            <a:srgbClr val="000000"/>
                          </a:solidFill>
                          <a:effectLst/>
                          <a:latin typeface="+mj-lt"/>
                        </a:rPr>
                        <a:t>2086.42</a:t>
                      </a:r>
                    </a:p>
                  </a:txBody>
                  <a:tcPr marL="6350" marR="6350" marT="6350" marB="0" anchor="ctr"/>
                </a:tc>
                <a:extLst>
                  <a:ext uri="{0D108BD9-81ED-4DB2-BD59-A6C34878D82A}">
                    <a16:rowId xmlns:a16="http://schemas.microsoft.com/office/drawing/2014/main" val="1339890962"/>
                  </a:ext>
                </a:extLst>
              </a:tr>
            </a:tbl>
          </a:graphicData>
        </a:graphic>
      </p:graphicFrame>
      <p:graphicFrame>
        <p:nvGraphicFramePr>
          <p:cNvPr id="2" name="Table 1">
            <a:extLst>
              <a:ext uri="{FF2B5EF4-FFF2-40B4-BE49-F238E27FC236}">
                <a16:creationId xmlns:a16="http://schemas.microsoft.com/office/drawing/2014/main" id="{5A65F219-702C-4BEA-B36D-2BA3A7523C09}"/>
              </a:ext>
            </a:extLst>
          </p:cNvPr>
          <p:cNvGraphicFramePr>
            <a:graphicFrameLocks noGrp="1"/>
          </p:cNvGraphicFramePr>
          <p:nvPr/>
        </p:nvGraphicFramePr>
        <p:xfrm>
          <a:off x="501653" y="761850"/>
          <a:ext cx="9999509" cy="4001770"/>
        </p:xfrm>
        <a:graphic>
          <a:graphicData uri="http://schemas.openxmlformats.org/drawingml/2006/table">
            <a:tbl>
              <a:tblPr>
                <a:tableStyleId>{93296810-A885-4BE3-A3E7-6D5BEEA58F35}</a:tableStyleId>
              </a:tblPr>
              <a:tblGrid>
                <a:gridCol w="2343635">
                  <a:extLst>
                    <a:ext uri="{9D8B030D-6E8A-4147-A177-3AD203B41FA5}">
                      <a16:colId xmlns:a16="http://schemas.microsoft.com/office/drawing/2014/main" val="3444622635"/>
                    </a:ext>
                  </a:extLst>
                </a:gridCol>
                <a:gridCol w="1979069">
                  <a:extLst>
                    <a:ext uri="{9D8B030D-6E8A-4147-A177-3AD203B41FA5}">
                      <a16:colId xmlns:a16="http://schemas.microsoft.com/office/drawing/2014/main" val="1840337201"/>
                    </a:ext>
                  </a:extLst>
                </a:gridCol>
                <a:gridCol w="1588464">
                  <a:extLst>
                    <a:ext uri="{9D8B030D-6E8A-4147-A177-3AD203B41FA5}">
                      <a16:colId xmlns:a16="http://schemas.microsoft.com/office/drawing/2014/main" val="3669503022"/>
                    </a:ext>
                  </a:extLst>
                </a:gridCol>
                <a:gridCol w="2343635">
                  <a:extLst>
                    <a:ext uri="{9D8B030D-6E8A-4147-A177-3AD203B41FA5}">
                      <a16:colId xmlns:a16="http://schemas.microsoft.com/office/drawing/2014/main" val="1381671384"/>
                    </a:ext>
                  </a:extLst>
                </a:gridCol>
                <a:gridCol w="1744706">
                  <a:extLst>
                    <a:ext uri="{9D8B030D-6E8A-4147-A177-3AD203B41FA5}">
                      <a16:colId xmlns:a16="http://schemas.microsoft.com/office/drawing/2014/main" val="3117540218"/>
                    </a:ext>
                  </a:extLst>
                </a:gridCol>
              </a:tblGrid>
              <a:tr h="104559">
                <a:tc>
                  <a:txBody>
                    <a:bodyPr/>
                    <a:lstStyle/>
                    <a:p>
                      <a:pPr algn="ctr" fontAlgn="ctr"/>
                      <a:r>
                        <a:rPr lang="en-US" sz="1100" b="1" u="none" strike="noStrike" dirty="0">
                          <a:effectLst/>
                          <a:latin typeface="+mj-lt"/>
                        </a:rPr>
                        <a:t>Source</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Coal Grade</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Qty(MT)</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Price (INR/MT)</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Share(%)</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568719"/>
                  </a:ext>
                </a:extLst>
              </a:tr>
              <a:tr h="104559">
                <a:tc rowSpan="6">
                  <a:txBody>
                    <a:bodyPr/>
                    <a:lstStyle/>
                    <a:p>
                      <a:pPr algn="l" fontAlgn="ctr"/>
                      <a:r>
                        <a:rPr lang="en-US" sz="1100" u="none" strike="noStrike" dirty="0">
                          <a:effectLst/>
                          <a:latin typeface="+mj-lt"/>
                        </a:rPr>
                        <a:t>ECL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1361243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4556.51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38.25%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6250451"/>
                  </a:ext>
                </a:extLst>
              </a:tr>
              <a:tr h="104559">
                <a:tc vMerge="1">
                  <a:txBody>
                    <a:bodyPr/>
                    <a:lstStyle/>
                    <a:p>
                      <a:endParaRPr lang="en-US"/>
                    </a:p>
                  </a:txBody>
                  <a:tcPr/>
                </a:tc>
                <a:tc>
                  <a:txBody>
                    <a:bodyPr/>
                    <a:lstStyle/>
                    <a:p>
                      <a:pPr algn="ctr" fontAlgn="ctr"/>
                      <a:r>
                        <a:rPr lang="en-US" sz="1100" u="none" strike="noStrike">
                          <a:effectLst/>
                          <a:latin typeface="+mj-lt"/>
                        </a:rPr>
                        <a:t>G5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13728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4209.94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0.39%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371383"/>
                  </a:ext>
                </a:extLst>
              </a:tr>
              <a:tr h="104559">
                <a:tc vMerge="1">
                  <a:txBody>
                    <a:bodyPr/>
                    <a:lstStyle/>
                    <a:p>
                      <a:endParaRPr lang="en-US"/>
                    </a:p>
                  </a:txBody>
                  <a:tcPr/>
                </a:tc>
                <a:tc>
                  <a:txBody>
                    <a:bodyPr/>
                    <a:lstStyle/>
                    <a:p>
                      <a:pPr algn="ctr" fontAlgn="ctr"/>
                      <a:r>
                        <a:rPr lang="en-US" sz="1100" u="none" strike="noStrike">
                          <a:effectLst/>
                          <a:latin typeface="+mj-lt"/>
                        </a:rPr>
                        <a:t>G6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42463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3658.69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1.19%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7774875"/>
                  </a:ext>
                </a:extLst>
              </a:tr>
              <a:tr h="104559">
                <a:tc vMerge="1">
                  <a:txBody>
                    <a:bodyPr/>
                    <a:lstStyle/>
                    <a:p>
                      <a:endParaRPr lang="en-US"/>
                    </a:p>
                  </a:txBody>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32374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3145.5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0.91%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46971"/>
                  </a:ext>
                </a:extLst>
              </a:tr>
              <a:tr h="104559">
                <a:tc vMerge="1">
                  <a:txBody>
                    <a:bodyPr/>
                    <a:lstStyle/>
                    <a:p>
                      <a:endParaRPr lang="en-US"/>
                    </a:p>
                  </a:txBody>
                  <a:tcPr/>
                </a:tc>
                <a:tc>
                  <a:txBody>
                    <a:bodyPr/>
                    <a:lstStyle/>
                    <a:p>
                      <a:pPr algn="ctr" fontAlgn="ctr"/>
                      <a:r>
                        <a:rPr lang="en-US" sz="1100" u="none" strike="noStrike">
                          <a:effectLst/>
                          <a:latin typeface="+mj-lt"/>
                        </a:rPr>
                        <a:t>G8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2358.78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535854"/>
                  </a:ext>
                </a:extLst>
              </a:tr>
              <a:tr h="104559">
                <a:tc vMerge="1">
                  <a:txBody>
                    <a:bodyPr/>
                    <a:lstStyle/>
                    <a:p>
                      <a:endParaRPr lang="en-US"/>
                    </a:p>
                  </a:txBody>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2112.21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2906912"/>
                  </a:ext>
                </a:extLst>
              </a:tr>
              <a:tr h="104559">
                <a:tc rowSpan="2">
                  <a:txBody>
                    <a:bodyPr/>
                    <a:lstStyle/>
                    <a:p>
                      <a:pPr algn="l" fontAlgn="ctr"/>
                      <a:r>
                        <a:rPr lang="en-US" sz="1100" u="none" strike="noStrike" dirty="0">
                          <a:effectLst/>
                          <a:latin typeface="+mj-lt"/>
                        </a:rPr>
                        <a:t>BCCL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W-III</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18838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4073.92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0.53%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0067343"/>
                  </a:ext>
                </a:extLst>
              </a:tr>
              <a:tr h="104559">
                <a:tc vMerge="1">
                  <a:txBody>
                    <a:bodyPr/>
                    <a:lstStyle/>
                    <a:p>
                      <a:endParaRPr lang="en-US"/>
                    </a:p>
                  </a:txBody>
                  <a:tcPr/>
                </a:tc>
                <a:tc>
                  <a:txBody>
                    <a:bodyPr/>
                    <a:lstStyle/>
                    <a:p>
                      <a:pPr algn="ctr" fontAlgn="ctr"/>
                      <a:r>
                        <a:rPr lang="en-US" sz="1100" u="none" strike="noStrike">
                          <a:effectLst/>
                          <a:latin typeface="+mj-lt"/>
                        </a:rPr>
                        <a:t>W-IV</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259094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3903.3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7.28%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1164453"/>
                  </a:ext>
                </a:extLst>
              </a:tr>
              <a:tr h="104559">
                <a:tc rowSpan="2">
                  <a:txBody>
                    <a:bodyPr/>
                    <a:lstStyle/>
                    <a:p>
                      <a:pPr algn="l" fontAlgn="ctr"/>
                      <a:r>
                        <a:rPr lang="en-US" sz="1100" u="none" strike="noStrike" dirty="0">
                          <a:effectLst/>
                          <a:latin typeface="+mj-lt"/>
                        </a:rPr>
                        <a:t>MCL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1715.81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5299679"/>
                  </a:ext>
                </a:extLst>
              </a:tr>
              <a:tr h="104559">
                <a:tc vMerge="1">
                  <a:txBody>
                    <a:bodyPr/>
                    <a:lstStyle/>
                    <a:p>
                      <a:endParaRPr lang="en-US"/>
                    </a:p>
                  </a:txBody>
                  <a:tcPr/>
                </a:tc>
                <a:tc>
                  <a:txBody>
                    <a:bodyPr/>
                    <a:lstStyle/>
                    <a:p>
                      <a:pPr algn="ctr" fontAlgn="ctr"/>
                      <a:r>
                        <a:rPr lang="en-US" sz="1100" u="none" strike="noStrike">
                          <a:effectLst/>
                          <a:latin typeface="+mj-lt"/>
                        </a:rPr>
                        <a:t>G13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1687.28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663642"/>
                  </a:ext>
                </a:extLst>
              </a:tr>
              <a:tr h="104559">
                <a:tc>
                  <a:txBody>
                    <a:bodyPr/>
                    <a:lstStyle/>
                    <a:p>
                      <a:pPr algn="l" fontAlgn="b"/>
                      <a:r>
                        <a:rPr lang="en-US" sz="1100" u="none" strike="noStrike" dirty="0">
                          <a:effectLst/>
                          <a:latin typeface="+mj-lt"/>
                        </a:rPr>
                        <a:t>MCL-W</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1876.23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1090542"/>
                  </a:ext>
                </a:extLst>
              </a:tr>
              <a:tr h="104559">
                <a:tc rowSpan="2">
                  <a:txBody>
                    <a:bodyPr/>
                    <a:lstStyle/>
                    <a:p>
                      <a:pPr algn="l" fontAlgn="ctr"/>
                      <a:r>
                        <a:rPr lang="en-US" sz="1100" u="none" strike="noStrike" dirty="0">
                          <a:effectLst/>
                          <a:latin typeface="+mj-lt"/>
                        </a:rPr>
                        <a:t>CCL</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WR3</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4066.81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0392923"/>
                  </a:ext>
                </a:extLst>
              </a:tr>
              <a:tr h="104559">
                <a:tc vMerge="1">
                  <a:txBody>
                    <a:bodyPr/>
                    <a:lstStyle/>
                    <a:p>
                      <a:endParaRPr lang="en-US"/>
                    </a:p>
                  </a:txBody>
                  <a:tcPr/>
                </a:tc>
                <a:tc>
                  <a:txBody>
                    <a:bodyPr/>
                    <a:lstStyle/>
                    <a:p>
                      <a:pPr algn="ctr" fontAlgn="ctr"/>
                      <a:r>
                        <a:rPr lang="en-US" sz="1100" u="none" strike="noStrike">
                          <a:effectLst/>
                          <a:latin typeface="+mj-lt"/>
                        </a:rPr>
                        <a:t>W4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3220.87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610632"/>
                  </a:ext>
                </a:extLst>
              </a:tr>
              <a:tr h="104559">
                <a:tc rowSpan="3">
                  <a:txBody>
                    <a:bodyPr/>
                    <a:lstStyle/>
                    <a:p>
                      <a:pPr algn="l" fontAlgn="ctr"/>
                      <a:r>
                        <a:rPr lang="en-US" sz="1100" u="none" strike="noStrike" dirty="0">
                          <a:effectLst/>
                          <a:latin typeface="+mj-lt"/>
                        </a:rPr>
                        <a:t>Captive-WB</a:t>
                      </a:r>
                      <a:endParaRPr lang="en-US"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44484</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3137.1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1.25%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121241"/>
                  </a:ext>
                </a:extLst>
              </a:tr>
              <a:tr h="104559">
                <a:tc vMerge="1">
                  <a:txBody>
                    <a:bodyPr/>
                    <a:lstStyle/>
                    <a:p>
                      <a:endParaRPr lang="en-US"/>
                    </a:p>
                  </a:txBody>
                  <a:tcPr/>
                </a:tc>
                <a:tc>
                  <a:txBody>
                    <a:bodyPr/>
                    <a:lstStyle/>
                    <a:p>
                      <a:pPr algn="ctr" fontAlgn="ctr"/>
                      <a:r>
                        <a:rPr lang="en-US" sz="1100" u="none" strike="noStrike">
                          <a:effectLst/>
                          <a:latin typeface="+mj-lt"/>
                        </a:rPr>
                        <a:t>G8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2530.38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767918"/>
                  </a:ext>
                </a:extLst>
              </a:tr>
              <a:tr h="104559">
                <a:tc vMerge="1">
                  <a:txBody>
                    <a:bodyPr/>
                    <a:lstStyle/>
                    <a:p>
                      <a:endParaRPr lang="en-US"/>
                    </a:p>
                  </a:txBody>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2103.51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9768366"/>
                  </a:ext>
                </a:extLst>
              </a:tr>
              <a:tr h="104559">
                <a:tc>
                  <a:txBody>
                    <a:bodyPr/>
                    <a:lstStyle/>
                    <a:p>
                      <a:pPr algn="l" fontAlgn="b"/>
                      <a:r>
                        <a:rPr lang="en-US" sz="1100" u="none" strike="noStrike" dirty="0">
                          <a:effectLst/>
                          <a:latin typeface="+mj-lt"/>
                        </a:rPr>
                        <a:t>Captive-Jharkhand</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845196</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2031.12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23.75%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8968989"/>
                  </a:ext>
                </a:extLst>
              </a:tr>
              <a:tr h="104559">
                <a:tc>
                  <a:txBody>
                    <a:bodyPr/>
                    <a:lstStyle/>
                    <a:p>
                      <a:pPr algn="l" fontAlgn="b"/>
                      <a:r>
                        <a:rPr lang="en-US" sz="1100" u="none" strike="noStrike" dirty="0">
                          <a:effectLst/>
                          <a:latin typeface="+mj-lt"/>
                        </a:rPr>
                        <a:t>MSTC</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G12</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338081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4382.9</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9.50%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575523"/>
                  </a:ext>
                </a:extLst>
              </a:tr>
              <a:tr h="104559">
                <a:tc>
                  <a:txBody>
                    <a:bodyPr/>
                    <a:lstStyle/>
                    <a:p>
                      <a:pPr algn="l" fontAlgn="b"/>
                      <a:r>
                        <a:rPr lang="en-US" sz="1100" u="none" strike="noStrike" dirty="0">
                          <a:effectLst/>
                          <a:latin typeface="+mj-lt"/>
                        </a:rPr>
                        <a:t>Import</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G7</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5661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0.00%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50026"/>
                  </a:ext>
                </a:extLst>
              </a:tr>
              <a:tr h="104559">
                <a:tc>
                  <a:txBody>
                    <a:bodyPr/>
                    <a:lstStyle/>
                    <a:p>
                      <a:pPr algn="l" fontAlgn="b"/>
                      <a:r>
                        <a:rPr lang="en-US" sz="1100" u="none" strike="noStrike" dirty="0">
                          <a:effectLst/>
                          <a:latin typeface="+mj-lt"/>
                        </a:rPr>
                        <a:t>E-auction ECL</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352600</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5785.01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9.91%</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141786"/>
                  </a:ext>
                </a:extLst>
              </a:tr>
              <a:tr h="104559">
                <a:tc>
                  <a:txBody>
                    <a:bodyPr/>
                    <a:lstStyle/>
                    <a:p>
                      <a:pPr algn="l" fontAlgn="b"/>
                      <a:r>
                        <a:rPr lang="en-US" sz="1100" u="none" strike="noStrike" dirty="0">
                          <a:effectLst/>
                          <a:latin typeface="+mj-lt"/>
                        </a:rPr>
                        <a:t>E-auction BCCL</a:t>
                      </a:r>
                      <a:endParaRPr lang="en-US" sz="1100" b="0" i="0" u="none" strike="noStrike" dirty="0">
                        <a:solidFill>
                          <a:srgbClr val="000000"/>
                        </a:solidFill>
                        <a:effectLst/>
                        <a:latin typeface="+mj-lt"/>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W-IV</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250968</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4355.5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u="none" strike="noStrike">
                          <a:effectLst/>
                          <a:latin typeface="+mj-lt"/>
                        </a:rPr>
                        <a:t>7.05%</a:t>
                      </a:r>
                      <a:endParaRPr lang="en-US"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9564859"/>
                  </a:ext>
                </a:extLst>
              </a:tr>
              <a:tr h="104559">
                <a:tc>
                  <a:txBody>
                    <a:bodyPr/>
                    <a:lstStyle/>
                    <a:p>
                      <a:pPr algn="l" fontAlgn="b"/>
                      <a:r>
                        <a:rPr lang="en-US" sz="1100" b="1" i="0" u="none" strike="noStrike" dirty="0">
                          <a:solidFill>
                            <a:srgbClr val="000000"/>
                          </a:solidFill>
                          <a:effectLst/>
                          <a:latin typeface="+mj-lt"/>
                        </a:rPr>
                        <a:t>Total</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a:effectLst/>
                          <a:latin typeface="+mj-lt"/>
                        </a:rPr>
                        <a:t>3559069</a:t>
                      </a: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1"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a:solidFill>
                            <a:srgbClr val="000000"/>
                          </a:solidFill>
                          <a:effectLst/>
                          <a:latin typeface="+mj-lt"/>
                        </a:rPr>
                        <a:t>100%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6721035"/>
                  </a:ext>
                </a:extLst>
              </a:tr>
            </a:tbl>
          </a:graphicData>
        </a:graphic>
      </p:graphicFrame>
    </p:spTree>
    <p:extLst>
      <p:ext uri="{BB962C8B-B14F-4D97-AF65-F5344CB8AC3E}">
        <p14:creationId xmlns:p14="http://schemas.microsoft.com/office/powerpoint/2010/main" val="649084845"/>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b="1" dirty="0"/>
              <a:t>Reduction of Fixed Cost for WBSETCL by way of sustainable reduction of ROE %; precedence already set by Rajasthan and Uttar Pradesh</a:t>
            </a:r>
            <a:endParaRPr lang="en-US" sz="1800" b="1" i="0" dirty="0">
              <a:solidFill>
                <a:schemeClr val="tx1"/>
              </a:solidFill>
            </a:endParaRPr>
          </a:p>
        </p:txBody>
      </p:sp>
      <p:graphicFrame>
        <p:nvGraphicFramePr>
          <p:cNvPr id="5" name="Table 5">
            <a:extLst>
              <a:ext uri="{FF2B5EF4-FFF2-40B4-BE49-F238E27FC236}">
                <a16:creationId xmlns:a16="http://schemas.microsoft.com/office/drawing/2014/main" id="{C8ADCF80-5D8F-47D1-BB26-3BB43DF0DC17}"/>
              </a:ext>
            </a:extLst>
          </p:cNvPr>
          <p:cNvGraphicFramePr>
            <a:graphicFrameLocks noGrp="1"/>
          </p:cNvGraphicFramePr>
          <p:nvPr/>
        </p:nvGraphicFramePr>
        <p:xfrm>
          <a:off x="1612821" y="3527157"/>
          <a:ext cx="5277974" cy="1074420"/>
        </p:xfrm>
        <a:graphic>
          <a:graphicData uri="http://schemas.openxmlformats.org/drawingml/2006/table">
            <a:tbl>
              <a:tblPr firstRow="1" bandRow="1">
                <a:tableStyleId>{21E4AEA4-8DFA-4A89-87EB-49C32662AFE0}</a:tableStyleId>
              </a:tblPr>
              <a:tblGrid>
                <a:gridCol w="659757">
                  <a:extLst>
                    <a:ext uri="{9D8B030D-6E8A-4147-A177-3AD203B41FA5}">
                      <a16:colId xmlns:a16="http://schemas.microsoft.com/office/drawing/2014/main" val="240365726"/>
                    </a:ext>
                  </a:extLst>
                </a:gridCol>
                <a:gridCol w="1588075">
                  <a:extLst>
                    <a:ext uri="{9D8B030D-6E8A-4147-A177-3AD203B41FA5}">
                      <a16:colId xmlns:a16="http://schemas.microsoft.com/office/drawing/2014/main" val="2288648665"/>
                    </a:ext>
                  </a:extLst>
                </a:gridCol>
                <a:gridCol w="819723">
                  <a:extLst>
                    <a:ext uri="{9D8B030D-6E8A-4147-A177-3AD203B41FA5}">
                      <a16:colId xmlns:a16="http://schemas.microsoft.com/office/drawing/2014/main" val="240820686"/>
                    </a:ext>
                  </a:extLst>
                </a:gridCol>
                <a:gridCol w="995159">
                  <a:extLst>
                    <a:ext uri="{9D8B030D-6E8A-4147-A177-3AD203B41FA5}">
                      <a16:colId xmlns:a16="http://schemas.microsoft.com/office/drawing/2014/main" val="1222878066"/>
                    </a:ext>
                  </a:extLst>
                </a:gridCol>
                <a:gridCol w="1215260">
                  <a:extLst>
                    <a:ext uri="{9D8B030D-6E8A-4147-A177-3AD203B41FA5}">
                      <a16:colId xmlns:a16="http://schemas.microsoft.com/office/drawing/2014/main" val="2182724943"/>
                    </a:ext>
                  </a:extLst>
                </a:gridCol>
              </a:tblGrid>
              <a:tr h="296022">
                <a:tc>
                  <a:txBody>
                    <a:bodyPr/>
                    <a:lstStyle/>
                    <a:p>
                      <a:pPr algn="ctr"/>
                      <a:r>
                        <a:rPr lang="en-US" sz="1050" dirty="0">
                          <a:latin typeface="Verdana" panose="020B0604030504040204" pitchFamily="34" charset="0"/>
                          <a:ea typeface="Verdana" panose="020B0604030504040204" pitchFamily="34" charset="0"/>
                        </a:rPr>
                        <a:t>Sl.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a:latin typeface="Verdana" panose="020B0604030504040204" pitchFamily="34" charset="0"/>
                          <a:ea typeface="Verdana" panose="020B0604030504040204" pitchFamily="34" charset="0"/>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a:latin typeface="Verdana" panose="020B0604030504040204" pitchFamily="34" charset="0"/>
                          <a:ea typeface="Verdana" panose="020B0604030504040204" pitchFamily="34" charset="0"/>
                        </a:rPr>
                        <a:t>Name of the Utility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a:latin typeface="Verdana" panose="020B0604030504040204" pitchFamily="34" charset="0"/>
                          <a:ea typeface="Verdana" panose="020B0604030504040204" pitchFamily="34" charset="0"/>
                        </a:rPr>
                        <a:t>ROE as per Regulation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a:latin typeface="Verdana" panose="020B0604030504040204" pitchFamily="34" charset="0"/>
                          <a:ea typeface="Verdana" panose="020B0604030504040204" pitchFamily="34" charset="0"/>
                        </a:rPr>
                        <a:t>ROE claimed as per Latest Tariff 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013544"/>
                  </a:ext>
                </a:extLst>
              </a:tr>
              <a:tr h="0">
                <a:tc>
                  <a:txBody>
                    <a:bodyPr/>
                    <a:lstStyle/>
                    <a:p>
                      <a:pPr algn="ctr"/>
                      <a:r>
                        <a:rPr lang="en-US" sz="1050" b="1" i="1" dirty="0">
                          <a:latin typeface="Verdana" panose="020B0604030504040204" pitchFamily="34" charset="0"/>
                          <a:ea typeface="Verdana" panose="020B060403050404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050" b="1" i="1" dirty="0">
                          <a:latin typeface="Verdana" panose="020B0604030504040204" pitchFamily="34" charset="0"/>
                          <a:ea typeface="Verdana" panose="020B0604030504040204" pitchFamily="34" charset="0"/>
                        </a:rPr>
                        <a:t>Uttar Pradesh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50" b="1" i="1" u="none" strike="noStrike" dirty="0">
                          <a:solidFill>
                            <a:srgbClr val="000000"/>
                          </a:solidFill>
                          <a:effectLst/>
                          <a:latin typeface="Verdana" panose="020B0604030504040204" pitchFamily="34" charset="0"/>
                          <a:ea typeface="Verdana" panose="020B0604030504040204" pitchFamily="34" charset="0"/>
                        </a:rPr>
                        <a:t>UPPTCL</a:t>
                      </a:r>
                    </a:p>
                  </a:txBody>
                  <a:tcPr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50" b="1" i="1" u="none" strike="noStrike" dirty="0">
                          <a:solidFill>
                            <a:srgbClr val="000000"/>
                          </a:solidFill>
                          <a:effectLst/>
                          <a:latin typeface="Verdana" panose="020B0604030504040204" pitchFamily="34" charset="0"/>
                          <a:ea typeface="Verdana" panose="020B0604030504040204" pitchFamily="34" charset="0"/>
                        </a:rPr>
                        <a:t>14.5%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50" b="1" i="1" u="none" strike="noStrike" dirty="0">
                          <a:solidFill>
                            <a:srgbClr val="000000"/>
                          </a:solidFill>
                          <a:effectLst/>
                          <a:latin typeface="Verdana" panose="020B0604030504040204" pitchFamily="34" charset="0"/>
                          <a:ea typeface="Verdana" panose="020B0604030504040204" pitchFamily="34" charset="0"/>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44152449"/>
                  </a:ext>
                </a:extLst>
              </a:tr>
              <a:tr h="0">
                <a:tc>
                  <a:txBody>
                    <a:bodyPr/>
                    <a:lstStyle/>
                    <a:p>
                      <a:pPr algn="ctr"/>
                      <a:r>
                        <a:rPr lang="en-US" sz="1050" b="1" i="1" dirty="0">
                          <a:latin typeface="Verdana" panose="020B0604030504040204" pitchFamily="34" charset="0"/>
                          <a:ea typeface="Verdana" panose="020B060403050404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050" b="1" i="1" dirty="0">
                          <a:latin typeface="Verdana" panose="020B0604030504040204" pitchFamily="34" charset="0"/>
                          <a:ea typeface="Verdana" panose="020B0604030504040204" pitchFamily="34" charset="0"/>
                        </a:rPr>
                        <a:t>Rajasthan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lvl="1" algn="l" defTabSz="914400" rtl="0" eaLnBrk="1" fontAlgn="ctr" latinLnBrk="0" hangingPunct="1"/>
                      <a:r>
                        <a:rPr lang="en-US" sz="1050" b="1" i="1" kern="1200" dirty="0">
                          <a:solidFill>
                            <a:schemeClr val="dk1"/>
                          </a:solidFill>
                          <a:latin typeface="Verdana" panose="020B0604030504040204" pitchFamily="34" charset="0"/>
                          <a:ea typeface="Verdana" panose="020B0604030504040204" pitchFamily="34" charset="0"/>
                          <a:cs typeface="+mn-cs"/>
                        </a:rPr>
                        <a:t>RVPNL</a:t>
                      </a:r>
                    </a:p>
                  </a:txBody>
                  <a:tcPr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ctr" latinLnBrk="0" hangingPunct="1"/>
                      <a:r>
                        <a:rPr lang="en-US" sz="1050" b="1" i="1" kern="1200" dirty="0">
                          <a:solidFill>
                            <a:schemeClr val="dk1"/>
                          </a:solidFill>
                          <a:latin typeface="Verdana" panose="020B0604030504040204" pitchFamily="34" charset="0"/>
                          <a:ea typeface="Verdana" panose="020B0604030504040204" pitchFamily="34" charset="0"/>
                          <a:cs typeface="+mn-cs"/>
                        </a:rPr>
                        <a:t>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ctr" latinLnBrk="0" hangingPunct="1"/>
                      <a:r>
                        <a:rPr lang="en-US" sz="1050" b="1" i="1" kern="1200" dirty="0">
                          <a:solidFill>
                            <a:schemeClr val="dk1"/>
                          </a:solidFill>
                          <a:latin typeface="Verdana" panose="020B0604030504040204" pitchFamily="34" charset="0"/>
                          <a:ea typeface="Verdana" panose="020B0604030504040204" pitchFamily="34" charset="0"/>
                          <a:cs typeface="+mn-cs"/>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52144573"/>
                  </a:ext>
                </a:extLst>
              </a:tr>
            </a:tbl>
          </a:graphicData>
        </a:graphic>
      </p:graphicFrame>
      <p:sp>
        <p:nvSpPr>
          <p:cNvPr id="10" name="TextBox 9">
            <a:extLst>
              <a:ext uri="{FF2B5EF4-FFF2-40B4-BE49-F238E27FC236}">
                <a16:creationId xmlns:a16="http://schemas.microsoft.com/office/drawing/2014/main" id="{CFBC362F-0761-48BA-A78C-B0742AB9BACD}"/>
              </a:ext>
            </a:extLst>
          </p:cNvPr>
          <p:cNvSpPr txBox="1"/>
          <p:nvPr/>
        </p:nvSpPr>
        <p:spPr>
          <a:xfrm>
            <a:off x="3178632" y="6638469"/>
            <a:ext cx="8511720" cy="153888"/>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1" i="1" u="none" strike="noStrike" kern="1200" cap="none" spc="0" normalizeH="0" baseline="0" noProof="0" dirty="0">
                <a:ln>
                  <a:noFill/>
                </a:ln>
                <a:solidFill>
                  <a:srgbClr val="313131"/>
                </a:solidFill>
                <a:effectLst/>
                <a:uLnTx/>
                <a:uFillTx/>
                <a:latin typeface="Verdana"/>
                <a:ea typeface="+mn-ea"/>
                <a:cs typeface="+mn-cs"/>
              </a:rPr>
              <a:t>Source:</a:t>
            </a:r>
            <a:r>
              <a:rPr kumimoji="0" lang="en-US" sz="1000" b="0" i="1" u="none" strike="noStrike" kern="1200" cap="none" spc="0" normalizeH="0" baseline="0" noProof="0" dirty="0">
                <a:ln>
                  <a:noFill/>
                </a:ln>
                <a:solidFill>
                  <a:srgbClr val="313131"/>
                </a:solidFill>
                <a:effectLst/>
                <a:uLnTx/>
                <a:uFillTx/>
                <a:latin typeface="Verdana"/>
                <a:ea typeface="+mn-ea"/>
                <a:cs typeface="+mn-cs"/>
              </a:rPr>
              <a:t> 1) Respective TRANSCO Tariff Orders</a:t>
            </a:r>
          </a:p>
        </p:txBody>
      </p:sp>
      <p:sp>
        <p:nvSpPr>
          <p:cNvPr id="8" name="TextBox 7">
            <a:extLst>
              <a:ext uri="{FF2B5EF4-FFF2-40B4-BE49-F238E27FC236}">
                <a16:creationId xmlns:a16="http://schemas.microsoft.com/office/drawing/2014/main" id="{8BD86431-D236-4E2A-911E-199A284B18DE}"/>
              </a:ext>
            </a:extLst>
          </p:cNvPr>
          <p:cNvSpPr txBox="1"/>
          <p:nvPr/>
        </p:nvSpPr>
        <p:spPr>
          <a:xfrm>
            <a:off x="7010731" y="3636890"/>
            <a:ext cx="3962069" cy="839637"/>
          </a:xfrm>
          <a:prstGeom prst="rect">
            <a:avLst/>
          </a:prstGeom>
          <a:noFill/>
        </p:spPr>
        <p:txBody>
          <a:bodyPr wrap="square" lIns="0" tIns="0" rIns="0" bIns="0" rtlCol="0">
            <a:spAutoFit/>
          </a:bodyPr>
          <a:lstStyle/>
          <a:p>
            <a:pPr>
              <a:spcBef>
                <a:spcPts val="600"/>
              </a:spcBef>
              <a:buSzPct val="100000"/>
            </a:pPr>
            <a:r>
              <a:rPr lang="en-US" sz="1100" b="1" i="1" dirty="0"/>
              <a:t>Precedence set by TRANSCO(s) of states like Rajasthan and Uttar Pradesh in claiming lesser ROE than allowed by respective state Tariff Regulations resulting in reduced burden of income tax on DISCOM(s)</a:t>
            </a:r>
            <a:endParaRPr lang="en-US" sz="1100" i="1" dirty="0">
              <a:solidFill>
                <a:srgbClr val="313131"/>
              </a:solidFill>
            </a:endParaRPr>
          </a:p>
        </p:txBody>
      </p:sp>
      <p:sp>
        <p:nvSpPr>
          <p:cNvPr id="12" name="TextBox 11">
            <a:extLst>
              <a:ext uri="{FF2B5EF4-FFF2-40B4-BE49-F238E27FC236}">
                <a16:creationId xmlns:a16="http://schemas.microsoft.com/office/drawing/2014/main" id="{D4B5BBDC-762D-43CA-B75D-1E116EF30B7B}"/>
              </a:ext>
            </a:extLst>
          </p:cNvPr>
          <p:cNvSpPr txBox="1"/>
          <p:nvPr/>
        </p:nvSpPr>
        <p:spPr>
          <a:xfrm>
            <a:off x="400053" y="5295834"/>
            <a:ext cx="10680902" cy="839638"/>
          </a:xfrm>
          <a:prstGeom prst="rect">
            <a:avLst/>
          </a:prstGeom>
          <a:noFill/>
        </p:spPr>
        <p:txBody>
          <a:bodyPr wrap="square" lIns="0" tIns="0" rIns="0" bIns="0" rtlCol="0">
            <a:spAutoFit/>
          </a:bodyPr>
          <a:lstStyle/>
          <a:p>
            <a:pPr>
              <a:spcBef>
                <a:spcPts val="600"/>
              </a:spcBef>
              <a:buSzPct val="100000"/>
            </a:pPr>
            <a:r>
              <a:rPr lang="en-US" sz="1100" b="1" i="1" dirty="0">
                <a:solidFill>
                  <a:srgbClr val="313131"/>
                </a:solidFill>
              </a:rPr>
              <a:t>Note</a:t>
            </a:r>
          </a:p>
          <a:p>
            <a:pPr marL="228600" indent="-228600">
              <a:spcBef>
                <a:spcPts val="600"/>
              </a:spcBef>
              <a:buSzPct val="100000"/>
              <a:buFont typeface="+mj-lt"/>
              <a:buAutoNum type="arabicPeriod"/>
            </a:pPr>
            <a:r>
              <a:rPr lang="en-US" sz="1100" b="1" i="1" dirty="0">
                <a:solidFill>
                  <a:srgbClr val="313131"/>
                </a:solidFill>
              </a:rPr>
              <a:t>Equity required considered for WBSETCL’s planned capital investments (excl. supervision and IDC) (as per MYT petition for FY ’21,’22,23) is 30%</a:t>
            </a:r>
          </a:p>
          <a:p>
            <a:pPr marL="228600" indent="-228600">
              <a:spcBef>
                <a:spcPts val="600"/>
              </a:spcBef>
              <a:buSzPct val="100000"/>
              <a:buFont typeface="+mj-lt"/>
              <a:buAutoNum type="arabicPeriod"/>
            </a:pPr>
            <a:r>
              <a:rPr lang="en-US" sz="1100" b="1" i="1" dirty="0">
                <a:solidFill>
                  <a:srgbClr val="313131"/>
                </a:solidFill>
              </a:rPr>
              <a:t>Additional amount of ~INR 444 Cr available with WBSETCL as Cash and Bank balance for FY ‘20</a:t>
            </a:r>
            <a:endParaRPr lang="en-US" sz="1100" i="1" dirty="0">
              <a:solidFill>
                <a:srgbClr val="313131"/>
              </a:solidFill>
            </a:endParaRPr>
          </a:p>
        </p:txBody>
      </p:sp>
      <p:graphicFrame>
        <p:nvGraphicFramePr>
          <p:cNvPr id="2" name="Table 1">
            <a:extLst>
              <a:ext uri="{FF2B5EF4-FFF2-40B4-BE49-F238E27FC236}">
                <a16:creationId xmlns:a16="http://schemas.microsoft.com/office/drawing/2014/main" id="{AC92F6A0-BD2A-4072-9255-BBD79F459F92}"/>
              </a:ext>
            </a:extLst>
          </p:cNvPr>
          <p:cNvGraphicFramePr>
            <a:graphicFrameLocks noGrp="1"/>
          </p:cNvGraphicFramePr>
          <p:nvPr/>
        </p:nvGraphicFramePr>
        <p:xfrm>
          <a:off x="1612821" y="1240333"/>
          <a:ext cx="8160152" cy="1913890"/>
        </p:xfrm>
        <a:graphic>
          <a:graphicData uri="http://schemas.openxmlformats.org/drawingml/2006/table">
            <a:tbl>
              <a:tblPr>
                <a:tableStyleId>{793D81CF-94F2-401A-BA57-92F5A7B2D0C5}</a:tableStyleId>
              </a:tblPr>
              <a:tblGrid>
                <a:gridCol w="5934656">
                  <a:extLst>
                    <a:ext uri="{9D8B030D-6E8A-4147-A177-3AD203B41FA5}">
                      <a16:colId xmlns:a16="http://schemas.microsoft.com/office/drawing/2014/main" val="1355589997"/>
                    </a:ext>
                  </a:extLst>
                </a:gridCol>
                <a:gridCol w="2225496">
                  <a:extLst>
                    <a:ext uri="{9D8B030D-6E8A-4147-A177-3AD203B41FA5}">
                      <a16:colId xmlns:a16="http://schemas.microsoft.com/office/drawing/2014/main" val="924306059"/>
                    </a:ext>
                  </a:extLst>
                </a:gridCol>
              </a:tblGrid>
              <a:tr h="0">
                <a:tc>
                  <a:txBody>
                    <a:bodyPr/>
                    <a:lstStyle/>
                    <a:p>
                      <a:pPr algn="l" fontAlgn="b"/>
                      <a:r>
                        <a:rPr lang="en-US" sz="1100" b="0" u="none" strike="noStrike" dirty="0">
                          <a:effectLst/>
                        </a:rPr>
                        <a:t>Admitted Equity Base for FY 2019-20 </a:t>
                      </a:r>
                      <a:r>
                        <a:rPr lang="en-US" sz="1100" b="0" u="none" strike="noStrike" dirty="0">
                          <a:solidFill>
                            <a:srgbClr val="00A3E0"/>
                          </a:solidFill>
                          <a:effectLst/>
                        </a:rPr>
                        <a:t>(A)</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dirty="0">
                          <a:effectLst/>
                        </a:rPr>
                        <a:t>₹ 29,087,599,000</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7704667"/>
                  </a:ext>
                </a:extLst>
              </a:tr>
              <a:tr h="0">
                <a:tc>
                  <a:txBody>
                    <a:bodyPr/>
                    <a:lstStyle/>
                    <a:p>
                      <a:pPr algn="l" fontAlgn="b"/>
                      <a:r>
                        <a:rPr lang="en-US" sz="1100" b="0" u="none" strike="noStrike" dirty="0">
                          <a:effectLst/>
                        </a:rPr>
                        <a:t>ROE(%) </a:t>
                      </a:r>
                      <a:r>
                        <a:rPr lang="en-US" sz="1100" b="0" u="none" strike="noStrike" dirty="0">
                          <a:solidFill>
                            <a:srgbClr val="00A3E0"/>
                          </a:solidFill>
                          <a:effectLst/>
                        </a:rPr>
                        <a:t>(B)</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a:effectLst/>
                        </a:rPr>
                        <a:t>15.50%</a:t>
                      </a:r>
                      <a:endParaRPr lang="en-US"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134615"/>
                  </a:ext>
                </a:extLst>
              </a:tr>
              <a:tr h="0">
                <a:tc>
                  <a:txBody>
                    <a:bodyPr/>
                    <a:lstStyle/>
                    <a:p>
                      <a:pPr algn="l" fontAlgn="b"/>
                      <a:r>
                        <a:rPr lang="en-US" sz="1100" b="0" u="none" strike="noStrike" dirty="0">
                          <a:effectLst/>
                        </a:rPr>
                        <a:t>MAT (%) considered by Commission for calculation of Income Tax </a:t>
                      </a:r>
                      <a:r>
                        <a:rPr lang="en-US" sz="1100" b="0" u="none" strike="noStrike" dirty="0">
                          <a:solidFill>
                            <a:srgbClr val="00A3E0"/>
                          </a:solidFill>
                          <a:effectLst/>
                        </a:rPr>
                        <a:t>(C)</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dirty="0">
                          <a:effectLst/>
                        </a:rPr>
                        <a:t>17.47%</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896041"/>
                  </a:ext>
                </a:extLst>
              </a:tr>
              <a:tr h="0">
                <a:tc>
                  <a:txBody>
                    <a:bodyPr/>
                    <a:lstStyle/>
                    <a:p>
                      <a:pPr algn="l" fontAlgn="b"/>
                      <a:r>
                        <a:rPr lang="en-US" sz="1100" b="0" u="none" strike="noStrike" dirty="0">
                          <a:effectLst/>
                        </a:rPr>
                        <a:t>Admitted ROE </a:t>
                      </a:r>
                      <a:r>
                        <a:rPr lang="en-US" sz="1100" b="0" i="0" u="sng" strike="noStrike" dirty="0">
                          <a:solidFill>
                            <a:srgbClr val="00A3E0"/>
                          </a:solidFill>
                          <a:effectLst/>
                        </a:rPr>
                        <a:t>(D) = </a:t>
                      </a:r>
                      <a:r>
                        <a:rPr lang="en-US" sz="1100" b="0" i="0" u="none" strike="noStrike" dirty="0">
                          <a:solidFill>
                            <a:srgbClr val="00A3E0"/>
                          </a:solidFill>
                          <a:effectLst/>
                        </a:rPr>
                        <a:t>(</a:t>
                      </a:r>
                      <a:r>
                        <a:rPr lang="en-US" sz="1100" b="0" u="none" strike="noStrike" dirty="0">
                          <a:solidFill>
                            <a:srgbClr val="00A3E0"/>
                          </a:solidFill>
                          <a:effectLst/>
                        </a:rPr>
                        <a:t>A*B)</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a:effectLst/>
                        </a:rPr>
                        <a:t>₹ 4,508,577,845</a:t>
                      </a:r>
                      <a:endParaRPr lang="en-US"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635689"/>
                  </a:ext>
                </a:extLst>
              </a:tr>
              <a:tr h="0">
                <a:tc>
                  <a:txBody>
                    <a:bodyPr/>
                    <a:lstStyle/>
                    <a:p>
                      <a:pPr algn="l" fontAlgn="b"/>
                      <a:r>
                        <a:rPr lang="en-US" sz="1100" b="0" u="none" strike="noStrike" dirty="0">
                          <a:effectLst/>
                        </a:rPr>
                        <a:t>Admitted Income Tax </a:t>
                      </a:r>
                      <a:r>
                        <a:rPr lang="en-US" sz="1100" b="0" u="none" strike="noStrike" dirty="0">
                          <a:solidFill>
                            <a:srgbClr val="00A3E0"/>
                          </a:solidFill>
                          <a:effectLst/>
                        </a:rPr>
                        <a:t>(E) = (C*D)</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a:effectLst/>
                        </a:rPr>
                        <a:t>₹ 787,738,721</a:t>
                      </a:r>
                      <a:endParaRPr lang="en-US"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4562065"/>
                  </a:ext>
                </a:extLst>
              </a:tr>
              <a:tr h="0">
                <a:tc>
                  <a:txBody>
                    <a:bodyPr/>
                    <a:lstStyle/>
                    <a:p>
                      <a:pPr algn="l" fontAlgn="b"/>
                      <a:r>
                        <a:rPr lang="en-US" sz="1100" b="0" u="none" strike="noStrike" dirty="0">
                          <a:effectLst/>
                        </a:rPr>
                        <a:t>Modified ROE rate (Scenario I) </a:t>
                      </a:r>
                      <a:r>
                        <a:rPr lang="en-US" sz="1100" b="0" u="none" strike="noStrike" dirty="0">
                          <a:solidFill>
                            <a:srgbClr val="00A3E0"/>
                          </a:solidFill>
                          <a:effectLst/>
                        </a:rPr>
                        <a:t>(B1)</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8870944"/>
                  </a:ext>
                </a:extLst>
              </a:tr>
              <a:tr h="0">
                <a:tc>
                  <a:txBody>
                    <a:bodyPr/>
                    <a:lstStyle/>
                    <a:p>
                      <a:pPr algn="l" fontAlgn="b"/>
                      <a:r>
                        <a:rPr lang="en-US" sz="1100" b="0" u="none" strike="noStrike" dirty="0">
                          <a:effectLst/>
                        </a:rPr>
                        <a:t>Modified ROE (@ 10%) </a:t>
                      </a:r>
                      <a:r>
                        <a:rPr lang="en-US" sz="1100" b="0" u="none" strike="noStrike" dirty="0">
                          <a:solidFill>
                            <a:srgbClr val="00A3E0"/>
                          </a:solidFill>
                          <a:effectLst/>
                        </a:rPr>
                        <a:t>(D1)= (A*B1)</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dirty="0">
                          <a:effectLst/>
                        </a:rPr>
                        <a:t>2908759900</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039220"/>
                  </a:ext>
                </a:extLst>
              </a:tr>
              <a:tr h="0">
                <a:tc>
                  <a:txBody>
                    <a:bodyPr/>
                    <a:lstStyle/>
                    <a:p>
                      <a:pPr algn="l" fontAlgn="b"/>
                      <a:r>
                        <a:rPr lang="en-US" sz="1100" b="0" u="none" strike="noStrike" dirty="0">
                          <a:effectLst/>
                        </a:rPr>
                        <a:t>Modified Income Tax (at ROE @10%) </a:t>
                      </a:r>
                      <a:r>
                        <a:rPr lang="en-US" sz="1100" b="0" u="none" strike="noStrike" dirty="0">
                          <a:solidFill>
                            <a:srgbClr val="00A3E0"/>
                          </a:solidFill>
                          <a:effectLst/>
                        </a:rPr>
                        <a:t>(E1) = (C*D1)</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dirty="0">
                          <a:effectLst/>
                        </a:rPr>
                        <a:t>508218529.7</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2406870"/>
                  </a:ext>
                </a:extLst>
              </a:tr>
              <a:tr h="0">
                <a:tc>
                  <a:txBody>
                    <a:bodyPr/>
                    <a:lstStyle/>
                    <a:p>
                      <a:pPr algn="l" fontAlgn="b"/>
                      <a:r>
                        <a:rPr lang="en-US" sz="1100" b="0" u="none" strike="noStrike" dirty="0">
                          <a:effectLst/>
                        </a:rPr>
                        <a:t>Modified ROE (Scenario II) </a:t>
                      </a:r>
                      <a:r>
                        <a:rPr lang="en-US" sz="1100" b="0" u="none" strike="noStrike" dirty="0">
                          <a:solidFill>
                            <a:srgbClr val="00A3E0"/>
                          </a:solidFill>
                          <a:effectLst/>
                        </a:rPr>
                        <a:t>(B2)</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dirty="0">
                          <a:effectLst/>
                        </a:rPr>
                        <a:t>7.50%</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4083467"/>
                  </a:ext>
                </a:extLst>
              </a:tr>
              <a:tr h="0">
                <a:tc>
                  <a:txBody>
                    <a:bodyPr/>
                    <a:lstStyle/>
                    <a:p>
                      <a:pPr algn="l" fontAlgn="b"/>
                      <a:r>
                        <a:rPr lang="en-US" sz="1100" b="0" u="none" strike="noStrike" dirty="0">
                          <a:effectLst/>
                        </a:rPr>
                        <a:t>Modified ROE (@ 7.5%) </a:t>
                      </a:r>
                      <a:r>
                        <a:rPr lang="en-US" sz="1100" b="0" u="none" strike="noStrike" dirty="0">
                          <a:solidFill>
                            <a:srgbClr val="00A3E0"/>
                          </a:solidFill>
                          <a:effectLst/>
                        </a:rPr>
                        <a:t>(D2)= (A*B2)</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dirty="0">
                          <a:effectLst/>
                        </a:rPr>
                        <a:t>₹ 2,181,569,925</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6626962"/>
                  </a:ext>
                </a:extLst>
              </a:tr>
              <a:tr h="0">
                <a:tc>
                  <a:txBody>
                    <a:bodyPr/>
                    <a:lstStyle/>
                    <a:p>
                      <a:pPr algn="l" fontAlgn="b"/>
                      <a:r>
                        <a:rPr lang="en-US" sz="1100" b="0" u="none" strike="noStrike" dirty="0">
                          <a:effectLst/>
                        </a:rPr>
                        <a:t>Modified Income Tax (at 7.5%) </a:t>
                      </a:r>
                      <a:r>
                        <a:rPr lang="en-US" sz="1100" b="0" u="none" strike="noStrike" dirty="0">
                          <a:solidFill>
                            <a:srgbClr val="00A3E0"/>
                          </a:solidFill>
                          <a:effectLst/>
                        </a:rPr>
                        <a:t>(E2) = (C*D2)</a:t>
                      </a:r>
                      <a:endParaRPr lang="en-US" sz="1100" b="0" i="0" u="none" strike="noStrike" dirty="0">
                        <a:solidFill>
                          <a:srgbClr val="00A3E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100" u="none" strike="noStrike" dirty="0">
                          <a:effectLst/>
                        </a:rPr>
                        <a:t>₹ 381,163,897.30</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0728256"/>
                  </a:ext>
                </a:extLst>
              </a:tr>
            </a:tbl>
          </a:graphicData>
        </a:graphic>
      </p:graphicFrame>
    </p:spTree>
    <p:extLst>
      <p:ext uri="{BB962C8B-B14F-4D97-AF65-F5344CB8AC3E}">
        <p14:creationId xmlns:p14="http://schemas.microsoft.com/office/powerpoint/2010/main" val="3620904922"/>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sz="1800" b="1" i="0" dirty="0">
                <a:solidFill>
                  <a:schemeClr val="tx1"/>
                </a:solidFill>
              </a:rPr>
              <a:t>Annexure- 2 (1/2)</a:t>
            </a:r>
          </a:p>
        </p:txBody>
      </p:sp>
      <p:graphicFrame>
        <p:nvGraphicFramePr>
          <p:cNvPr id="2" name="Table 1">
            <a:extLst>
              <a:ext uri="{FF2B5EF4-FFF2-40B4-BE49-F238E27FC236}">
                <a16:creationId xmlns:a16="http://schemas.microsoft.com/office/drawing/2014/main" id="{EFEAC49B-6A76-414A-A2F5-8795C511C76E}"/>
              </a:ext>
            </a:extLst>
          </p:cNvPr>
          <p:cNvGraphicFramePr>
            <a:graphicFrameLocks noGrp="1"/>
          </p:cNvGraphicFramePr>
          <p:nvPr>
            <p:extLst>
              <p:ext uri="{D42A27DB-BD31-4B8C-83A1-F6EECF244321}">
                <p14:modId xmlns:p14="http://schemas.microsoft.com/office/powerpoint/2010/main" val="1764131058"/>
              </p:ext>
            </p:extLst>
          </p:nvPr>
        </p:nvGraphicFramePr>
        <p:xfrm>
          <a:off x="501652" y="685803"/>
          <a:ext cx="11188697" cy="5206936"/>
        </p:xfrm>
        <a:graphic>
          <a:graphicData uri="http://schemas.openxmlformats.org/drawingml/2006/table">
            <a:tbl>
              <a:tblPr>
                <a:tableStyleId>{BC89EF96-8CEA-46FF-86C4-4CE0E7609802}</a:tableStyleId>
              </a:tblPr>
              <a:tblGrid>
                <a:gridCol w="1409341">
                  <a:extLst>
                    <a:ext uri="{9D8B030D-6E8A-4147-A177-3AD203B41FA5}">
                      <a16:colId xmlns:a16="http://schemas.microsoft.com/office/drawing/2014/main" val="233396144"/>
                    </a:ext>
                  </a:extLst>
                </a:gridCol>
                <a:gridCol w="1509449">
                  <a:extLst>
                    <a:ext uri="{9D8B030D-6E8A-4147-A177-3AD203B41FA5}">
                      <a16:colId xmlns:a16="http://schemas.microsoft.com/office/drawing/2014/main" val="104426619"/>
                    </a:ext>
                  </a:extLst>
                </a:gridCol>
                <a:gridCol w="1459395">
                  <a:extLst>
                    <a:ext uri="{9D8B030D-6E8A-4147-A177-3AD203B41FA5}">
                      <a16:colId xmlns:a16="http://schemas.microsoft.com/office/drawing/2014/main" val="2020226702"/>
                    </a:ext>
                  </a:extLst>
                </a:gridCol>
                <a:gridCol w="1459395">
                  <a:extLst>
                    <a:ext uri="{9D8B030D-6E8A-4147-A177-3AD203B41FA5}">
                      <a16:colId xmlns:a16="http://schemas.microsoft.com/office/drawing/2014/main" val="158800792"/>
                    </a:ext>
                  </a:extLst>
                </a:gridCol>
                <a:gridCol w="1459395">
                  <a:extLst>
                    <a:ext uri="{9D8B030D-6E8A-4147-A177-3AD203B41FA5}">
                      <a16:colId xmlns:a16="http://schemas.microsoft.com/office/drawing/2014/main" val="221320931"/>
                    </a:ext>
                  </a:extLst>
                </a:gridCol>
                <a:gridCol w="1459395">
                  <a:extLst>
                    <a:ext uri="{9D8B030D-6E8A-4147-A177-3AD203B41FA5}">
                      <a16:colId xmlns:a16="http://schemas.microsoft.com/office/drawing/2014/main" val="3866776103"/>
                    </a:ext>
                  </a:extLst>
                </a:gridCol>
                <a:gridCol w="1459395">
                  <a:extLst>
                    <a:ext uri="{9D8B030D-6E8A-4147-A177-3AD203B41FA5}">
                      <a16:colId xmlns:a16="http://schemas.microsoft.com/office/drawing/2014/main" val="2765249195"/>
                    </a:ext>
                  </a:extLst>
                </a:gridCol>
                <a:gridCol w="972932">
                  <a:extLst>
                    <a:ext uri="{9D8B030D-6E8A-4147-A177-3AD203B41FA5}">
                      <a16:colId xmlns:a16="http://schemas.microsoft.com/office/drawing/2014/main" val="3213209131"/>
                    </a:ext>
                  </a:extLst>
                </a:gridCol>
              </a:tblGrid>
              <a:tr h="117391">
                <a:tc rowSpan="2">
                  <a:txBody>
                    <a:bodyPr/>
                    <a:lstStyle/>
                    <a:p>
                      <a:pPr algn="l" fontAlgn="ctr"/>
                      <a:r>
                        <a:rPr lang="en-US" sz="1200" b="1" u="none" strike="noStrike" dirty="0">
                          <a:effectLst/>
                        </a:rPr>
                        <a:t>Type of Consumer</a:t>
                      </a:r>
                      <a:endParaRPr lang="en-US" sz="1200" b="1"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solidFill>
                      <a:schemeClr val="accent1"/>
                    </a:solidFill>
                  </a:tcPr>
                </a:tc>
                <a:tc rowSpan="2">
                  <a:txBody>
                    <a:bodyPr/>
                    <a:lstStyle/>
                    <a:p>
                      <a:pPr algn="ctr" fontAlgn="ctr"/>
                      <a:r>
                        <a:rPr lang="en-US" sz="1200" b="1" u="none" strike="noStrike" dirty="0">
                          <a:effectLst/>
                        </a:rPr>
                        <a:t>Consumer Category</a:t>
                      </a:r>
                      <a:endParaRPr lang="en-US" sz="1200" b="1"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solidFill>
                      <a:schemeClr val="accent1"/>
                    </a:solidFill>
                  </a:tcPr>
                </a:tc>
                <a:tc rowSpan="2" gridSpan="2">
                  <a:txBody>
                    <a:bodyPr/>
                    <a:lstStyle/>
                    <a:p>
                      <a:pPr algn="ctr" fontAlgn="ctr"/>
                      <a:r>
                        <a:rPr lang="it-IT" sz="1200" b="1" u="none" strike="noStrike" dirty="0">
                          <a:effectLst/>
                        </a:rPr>
                        <a:t>Consumption slab (kWh) per quarter</a:t>
                      </a:r>
                      <a:endParaRPr lang="it-IT" sz="1200" b="1"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solidFill>
                      <a:schemeClr val="accent1"/>
                    </a:solidFill>
                  </a:tcPr>
                </a:tc>
                <a:tc rowSpan="2" hMerge="1">
                  <a:txBody>
                    <a:bodyPr/>
                    <a:lstStyle/>
                    <a:p>
                      <a:endParaRPr lang="en-US"/>
                    </a:p>
                  </a:txBody>
                  <a:tcPr/>
                </a:tc>
                <a:tc gridSpan="2">
                  <a:txBody>
                    <a:bodyPr/>
                    <a:lstStyle/>
                    <a:p>
                      <a:pPr algn="ctr" fontAlgn="ctr"/>
                      <a:r>
                        <a:rPr lang="en-US" sz="1200" b="1" u="none" strike="noStrike">
                          <a:effectLst/>
                        </a:rPr>
                        <a:t>Tariff</a:t>
                      </a:r>
                      <a:endParaRPr lang="en-US" sz="1200" b="1" i="0" u="none" strike="noStrike">
                        <a:solidFill>
                          <a:srgbClr val="000000"/>
                        </a:solidFill>
                        <a:effectLst/>
                        <a:latin typeface="Calibri" panose="020F0502020204030204" pitchFamily="34" charset="0"/>
                      </a:endParaRPr>
                    </a:p>
                  </a:txBody>
                  <a:tcPr marL="3752" marR="3752" marT="3752" marB="0" anchor="ctr">
                    <a:solidFill>
                      <a:schemeClr val="accent1"/>
                    </a:solidFill>
                  </a:tcPr>
                </a:tc>
                <a:tc hMerge="1">
                  <a:txBody>
                    <a:bodyPr/>
                    <a:lstStyle/>
                    <a:p>
                      <a:endParaRPr lang="en-US"/>
                    </a:p>
                  </a:txBody>
                  <a:tcPr/>
                </a:tc>
                <a:tc gridSpan="2">
                  <a:txBody>
                    <a:bodyPr/>
                    <a:lstStyle/>
                    <a:p>
                      <a:pPr algn="ctr" fontAlgn="ctr"/>
                      <a:r>
                        <a:rPr lang="en-US" sz="1200" b="1" u="none" strike="noStrike">
                          <a:effectLst/>
                        </a:rPr>
                        <a:t>Applicable Subsidy</a:t>
                      </a:r>
                      <a:endParaRPr lang="en-US" sz="1200" b="1" i="0" u="none" strike="noStrike">
                        <a:solidFill>
                          <a:srgbClr val="000000"/>
                        </a:solidFill>
                        <a:effectLst/>
                        <a:latin typeface="Calibri" panose="020F0502020204030204" pitchFamily="34" charset="0"/>
                      </a:endParaRPr>
                    </a:p>
                  </a:txBody>
                  <a:tcPr marL="3752" marR="3752" marT="3752" marB="0" anchor="ctr">
                    <a:solidFill>
                      <a:schemeClr val="accent1"/>
                    </a:solidFill>
                  </a:tcPr>
                </a:tc>
                <a:tc hMerge="1">
                  <a:txBody>
                    <a:bodyPr/>
                    <a:lstStyle/>
                    <a:p>
                      <a:endParaRPr lang="en-US"/>
                    </a:p>
                  </a:txBody>
                  <a:tcPr/>
                </a:tc>
                <a:extLst>
                  <a:ext uri="{0D108BD9-81ED-4DB2-BD59-A6C34878D82A}">
                    <a16:rowId xmlns:a16="http://schemas.microsoft.com/office/drawing/2014/main" val="806781216"/>
                  </a:ext>
                </a:extLst>
              </a:tr>
              <a:tr h="347809">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tc>
                  <a:txBody>
                    <a:bodyPr/>
                    <a:lstStyle/>
                    <a:p>
                      <a:pPr algn="ctr" fontAlgn="ctr"/>
                      <a:r>
                        <a:rPr lang="en-US" sz="1200" b="1" u="none" strike="noStrike" dirty="0">
                          <a:effectLst/>
                        </a:rPr>
                        <a:t>Energy Charge (Rs /kWh)</a:t>
                      </a:r>
                      <a:endParaRPr lang="en-US" sz="1200" b="1"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solidFill>
                      <a:schemeClr val="accent1"/>
                    </a:solidFill>
                  </a:tcPr>
                </a:tc>
                <a:tc>
                  <a:txBody>
                    <a:bodyPr/>
                    <a:lstStyle/>
                    <a:p>
                      <a:pPr algn="ctr" fontAlgn="ctr"/>
                      <a:r>
                        <a:rPr lang="en-US" sz="1200" b="1" u="none" strike="noStrike" dirty="0">
                          <a:effectLst/>
                        </a:rPr>
                        <a:t>Fixed Charge (Rs/KVA /month)</a:t>
                      </a:r>
                      <a:endParaRPr lang="en-US" sz="1200" b="1"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solidFill>
                      <a:schemeClr val="accent1"/>
                    </a:solidFill>
                  </a:tcPr>
                </a:tc>
                <a:tc>
                  <a:txBody>
                    <a:bodyPr/>
                    <a:lstStyle/>
                    <a:p>
                      <a:pPr algn="ctr" fontAlgn="ctr"/>
                      <a:r>
                        <a:rPr lang="en-US" sz="1200" b="1" u="none" strike="noStrike" dirty="0">
                          <a:effectLst/>
                        </a:rPr>
                        <a:t>Energy Charge (Rs /kWh)</a:t>
                      </a:r>
                      <a:endParaRPr lang="en-US" sz="1200" b="1"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solidFill>
                      <a:schemeClr val="accent1"/>
                    </a:solidFill>
                  </a:tcPr>
                </a:tc>
                <a:tc>
                  <a:txBody>
                    <a:bodyPr/>
                    <a:lstStyle/>
                    <a:p>
                      <a:pPr algn="ctr" fontAlgn="ctr"/>
                      <a:r>
                        <a:rPr lang="en-US" sz="1200" b="1" u="none" strike="noStrike" dirty="0">
                          <a:effectLst/>
                        </a:rPr>
                        <a:t>Fixed Charge (Rs/KVA /month)</a:t>
                      </a:r>
                      <a:endParaRPr lang="en-US" sz="1200" b="1"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solidFill>
                      <a:schemeClr val="accent1"/>
                    </a:solidFill>
                  </a:tcPr>
                </a:tc>
                <a:extLst>
                  <a:ext uri="{0D108BD9-81ED-4DB2-BD59-A6C34878D82A}">
                    <a16:rowId xmlns:a16="http://schemas.microsoft.com/office/drawing/2014/main" val="836115073"/>
                  </a:ext>
                </a:extLst>
              </a:tr>
              <a:tr h="63278">
                <a:tc rowSpan="7">
                  <a:txBody>
                    <a:bodyPr/>
                    <a:lstStyle/>
                    <a:p>
                      <a:pPr algn="l" fontAlgn="ctr"/>
                      <a:r>
                        <a:rPr lang="en-US" sz="1200" u="none" strike="noStrike" dirty="0">
                          <a:effectLst/>
                        </a:rPr>
                        <a:t>Domestic (Rural)</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rowSpan="7">
                  <a:txBody>
                    <a:bodyPr/>
                    <a:lstStyle/>
                    <a:p>
                      <a:pPr algn="ctr" fontAlgn="ctr"/>
                      <a:r>
                        <a:rPr lang="en-US" sz="1200" u="none" strike="noStrike" dirty="0">
                          <a:effectLst/>
                        </a:rPr>
                        <a:t>Rate A (Dm-R)</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First</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102</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5.49</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15</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0.9</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10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3042973367"/>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dirty="0">
                          <a:effectLst/>
                        </a:rPr>
                        <a:t>Next</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78</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6.09</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15</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0.9</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10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2520825387"/>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dirty="0">
                          <a:effectLst/>
                        </a:rPr>
                        <a:t>Next</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120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6.96</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0.74</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10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3105451908"/>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Next</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300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7.46</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0.79</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10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326301124"/>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dirty="0">
                          <a:effectLst/>
                        </a:rPr>
                        <a:t>Next</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300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7.55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0.8</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600924344"/>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Above</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900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9.22</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3199953510"/>
                  </a:ext>
                </a:extLst>
              </a:tr>
              <a:tr h="63278">
                <a:tc vMerge="1">
                  <a:txBody>
                    <a:bodyPr/>
                    <a:lstStyle/>
                    <a:p>
                      <a:endParaRPr lang="en-US"/>
                    </a:p>
                  </a:txBody>
                  <a:tcPr/>
                </a:tc>
                <a:tc vMerge="1">
                  <a:txBody>
                    <a:bodyPr/>
                    <a:lstStyle/>
                    <a:p>
                      <a:endParaRPr lang="en-US"/>
                    </a:p>
                  </a:txBody>
                  <a:tcPr/>
                </a:tc>
                <a:tc>
                  <a:txBody>
                    <a:bodyPr/>
                    <a:lstStyle/>
                    <a:p>
                      <a:pPr algn="ctr" fontAlgn="b"/>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 </a:t>
                      </a:r>
                      <a:endParaRPr lang="en-US" sz="1200" b="1"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 </a:t>
                      </a:r>
                      <a:endParaRPr lang="en-US" sz="1200" b="1"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2700328589"/>
                  </a:ext>
                </a:extLst>
              </a:tr>
              <a:tr h="63278">
                <a:tc rowSpan="7">
                  <a:txBody>
                    <a:bodyPr/>
                    <a:lstStyle/>
                    <a:p>
                      <a:pPr algn="l" fontAlgn="ctr"/>
                      <a:r>
                        <a:rPr lang="en-US" sz="1200" u="none" strike="noStrike">
                          <a:effectLst/>
                        </a:rPr>
                        <a:t>Domestic (Urban)</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rowSpan="7">
                  <a:txBody>
                    <a:bodyPr/>
                    <a:lstStyle/>
                    <a:p>
                      <a:pPr algn="ctr" fontAlgn="ctr"/>
                      <a:r>
                        <a:rPr lang="en-US" sz="1200" u="none" strike="noStrike">
                          <a:effectLst/>
                        </a:rPr>
                        <a:t>Rate A (Dm-U)</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First</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102</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5.53</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0.89</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659924342"/>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Next</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78</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6.20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0.96</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792557190"/>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dirty="0">
                          <a:effectLst/>
                        </a:rPr>
                        <a:t>Next</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120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7.20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0.74</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3755695457"/>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Next</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300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7.54</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0.79</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2059445024"/>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Next</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300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7.81</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0.8</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1709737771"/>
                  </a:ext>
                </a:extLst>
              </a:tr>
              <a:tr h="63278">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Above</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900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9.22</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15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2235889831"/>
                  </a:ext>
                </a:extLst>
              </a:tr>
              <a:tr h="63278">
                <a:tc vMerge="1">
                  <a:txBody>
                    <a:bodyPr/>
                    <a:lstStyle/>
                    <a:p>
                      <a:endParaRPr lang="en-US"/>
                    </a:p>
                  </a:txBody>
                  <a:tcPr/>
                </a:tc>
                <a:tc vMerge="1">
                  <a:txBody>
                    <a:bodyPr/>
                    <a:lstStyle/>
                    <a:p>
                      <a:endParaRPr lang="en-US"/>
                    </a:p>
                  </a:txBody>
                  <a:tcPr/>
                </a:tc>
                <a:tc>
                  <a:txBody>
                    <a:bodyPr/>
                    <a:lstStyle/>
                    <a:p>
                      <a:pPr algn="ctr" fontAlgn="b"/>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 </a:t>
                      </a:r>
                      <a:endParaRPr lang="en-US" sz="1200" b="1"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 </a:t>
                      </a:r>
                      <a:endParaRPr lang="en-US" sz="1200" b="1"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2284884803"/>
                  </a:ext>
                </a:extLst>
              </a:tr>
              <a:tr h="0">
                <a:tc>
                  <a:txBody>
                    <a:bodyPr/>
                    <a:lstStyle/>
                    <a:p>
                      <a:pPr algn="l" fontAlgn="ctr"/>
                      <a:r>
                        <a:rPr lang="en-US" sz="1200" u="none" strike="noStrike">
                          <a:effectLst/>
                        </a:rPr>
                        <a:t>Irrigation pumping for Agriculture (Metered supply from mixed HV feeder)</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Rate C(a)</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All units</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 </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4.98</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30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0.69</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20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2042432788"/>
                  </a:ext>
                </a:extLst>
              </a:tr>
              <a:tr h="126556">
                <a:tc rowSpan="3">
                  <a:txBody>
                    <a:bodyPr/>
                    <a:lstStyle/>
                    <a:p>
                      <a:pPr algn="l" fontAlgn="ctr"/>
                      <a:r>
                        <a:rPr lang="en-US" sz="1200" u="none" strike="noStrike">
                          <a:effectLst/>
                        </a:rPr>
                        <a:t>Irrigation pumping for Agriculture (Metered)</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rowSpan="3">
                  <a:txBody>
                    <a:bodyPr/>
                    <a:lstStyle/>
                    <a:p>
                      <a:pPr algn="ctr" fontAlgn="ctr"/>
                      <a:r>
                        <a:rPr lang="en-US" sz="1200" u="none" strike="noStrike">
                          <a:effectLst/>
                        </a:rPr>
                        <a:t>Rate C(t)</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6.00 - 17.00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All units</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4.01</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20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0.23</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774596777"/>
                  </a:ext>
                </a:extLst>
              </a:tr>
              <a:tr h="126556">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17.00 - 23.00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All units</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7.71</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20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0.23</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2979119430"/>
                  </a:ext>
                </a:extLst>
              </a:tr>
              <a:tr h="126556">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23.00 - 06.00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All units</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2.65</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20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0.23</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387198332"/>
                  </a:ext>
                </a:extLst>
              </a:tr>
              <a:tr h="126556">
                <a:tc rowSpan="3">
                  <a:txBody>
                    <a:bodyPr/>
                    <a:lstStyle/>
                    <a:p>
                      <a:pPr algn="l" fontAlgn="ctr"/>
                      <a:r>
                        <a:rPr lang="en-US" sz="1200" u="none" strike="noStrike">
                          <a:effectLst/>
                        </a:rPr>
                        <a:t>Short Term Irrigation Supply</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rowSpan="3">
                  <a:txBody>
                    <a:bodyPr/>
                    <a:lstStyle/>
                    <a:p>
                      <a:pPr algn="ctr" fontAlgn="ctr"/>
                      <a:r>
                        <a:rPr lang="en-US" sz="1200" u="none" strike="noStrike">
                          <a:effectLst/>
                        </a:rPr>
                        <a:t>Rate C(t)-STIS</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6.00 - 17.00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All units</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4.70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20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0.23</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779670468"/>
                  </a:ext>
                </a:extLst>
              </a:tr>
              <a:tr h="126556">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17.00 - 23.00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All units</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8.48</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20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0.23</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a:effectLst/>
                        </a:rPr>
                        <a:t>10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3817560999"/>
                  </a:ext>
                </a:extLst>
              </a:tr>
              <a:tr h="126556">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rPr>
                        <a:t>23.00 - 06.00</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All units</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a:effectLst/>
                        </a:rPr>
                        <a:t>3.02</a:t>
                      </a:r>
                      <a:endParaRPr lang="en-US" sz="1200" b="0" i="0" u="none" strike="noStrike">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ctr"/>
                      <a:r>
                        <a:rPr lang="en-US" sz="1200" u="none" strike="noStrike" dirty="0">
                          <a:effectLst/>
                        </a:rPr>
                        <a:t>20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0.23</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tc>
                  <a:txBody>
                    <a:bodyPr/>
                    <a:lstStyle/>
                    <a:p>
                      <a:pPr algn="ctr" fontAlgn="b"/>
                      <a:r>
                        <a:rPr lang="en-US" sz="1200" u="none" strike="noStrike" dirty="0">
                          <a:effectLst/>
                        </a:rPr>
                        <a:t>10</a:t>
                      </a:r>
                      <a:endParaRPr lang="en-US" sz="1200" b="0" i="0" u="none" strike="noStrike" dirty="0">
                        <a:solidFill>
                          <a:srgbClr val="000000"/>
                        </a:solidFill>
                        <a:effectLst/>
                        <a:latin typeface="Verdana" panose="020B0604030504040204" pitchFamily="34" charset="0"/>
                        <a:ea typeface="Verdana" panose="020B0604030504040204" pitchFamily="34" charset="0"/>
                      </a:endParaRPr>
                    </a:p>
                  </a:txBody>
                  <a:tcPr marL="3752" marR="3752" marT="3752" marB="0" anchor="ctr"/>
                </a:tc>
                <a:extLst>
                  <a:ext uri="{0D108BD9-81ED-4DB2-BD59-A6C34878D82A}">
                    <a16:rowId xmlns:a16="http://schemas.microsoft.com/office/drawing/2014/main" val="857579070"/>
                  </a:ext>
                </a:extLst>
              </a:tr>
            </a:tbl>
          </a:graphicData>
        </a:graphic>
      </p:graphicFrame>
    </p:spTree>
    <p:extLst>
      <p:ext uri="{BB962C8B-B14F-4D97-AF65-F5344CB8AC3E}">
        <p14:creationId xmlns:p14="http://schemas.microsoft.com/office/powerpoint/2010/main" val="64500105"/>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sz="1800" b="1" i="0" dirty="0">
                <a:solidFill>
                  <a:schemeClr val="tx1"/>
                </a:solidFill>
              </a:rPr>
              <a:t>Annexure- 2 (2/2)</a:t>
            </a:r>
          </a:p>
        </p:txBody>
      </p:sp>
      <p:pic>
        <p:nvPicPr>
          <p:cNvPr id="5" name="Picture 4">
            <a:extLst>
              <a:ext uri="{FF2B5EF4-FFF2-40B4-BE49-F238E27FC236}">
                <a16:creationId xmlns:a16="http://schemas.microsoft.com/office/drawing/2014/main" id="{C93E2973-1BF9-4808-8EB0-6E68851219EC}"/>
              </a:ext>
            </a:extLst>
          </p:cNvPr>
          <p:cNvPicPr>
            <a:picLocks noChangeAspect="1"/>
          </p:cNvPicPr>
          <p:nvPr/>
        </p:nvPicPr>
        <p:blipFill>
          <a:blip r:embed="rId5"/>
          <a:stretch>
            <a:fillRect/>
          </a:stretch>
        </p:blipFill>
        <p:spPr>
          <a:xfrm>
            <a:off x="501653" y="1092867"/>
            <a:ext cx="5594348" cy="5266836"/>
          </a:xfrm>
          <a:prstGeom prst="rect">
            <a:avLst/>
          </a:prstGeom>
          <a:ln>
            <a:solidFill>
              <a:sysClr val="windowText" lastClr="000000"/>
            </a:solidFill>
          </a:ln>
        </p:spPr>
      </p:pic>
      <p:pic>
        <p:nvPicPr>
          <p:cNvPr id="6" name="Picture 5">
            <a:extLst>
              <a:ext uri="{FF2B5EF4-FFF2-40B4-BE49-F238E27FC236}">
                <a16:creationId xmlns:a16="http://schemas.microsoft.com/office/drawing/2014/main" id="{47849634-C453-4FF2-8F3E-102EB12BC560}"/>
              </a:ext>
            </a:extLst>
          </p:cNvPr>
          <p:cNvPicPr>
            <a:picLocks noChangeAspect="1"/>
          </p:cNvPicPr>
          <p:nvPr/>
        </p:nvPicPr>
        <p:blipFill>
          <a:blip r:embed="rId6"/>
          <a:stretch>
            <a:fillRect/>
          </a:stretch>
        </p:blipFill>
        <p:spPr>
          <a:xfrm>
            <a:off x="6215866" y="1092867"/>
            <a:ext cx="5474482" cy="5266835"/>
          </a:xfrm>
          <a:prstGeom prst="rect">
            <a:avLst/>
          </a:prstGeom>
          <a:ln>
            <a:solidFill>
              <a:sysClr val="windowText" lastClr="000000"/>
            </a:solidFill>
          </a:ln>
        </p:spPr>
      </p:pic>
      <p:sp>
        <p:nvSpPr>
          <p:cNvPr id="3" name="Rectangle 2">
            <a:extLst>
              <a:ext uri="{FF2B5EF4-FFF2-40B4-BE49-F238E27FC236}">
                <a16:creationId xmlns:a16="http://schemas.microsoft.com/office/drawing/2014/main" id="{616BD965-3FD9-4827-A0E8-F96B8674443A}"/>
              </a:ext>
            </a:extLst>
          </p:cNvPr>
          <p:cNvSpPr/>
          <p:nvPr/>
        </p:nvSpPr>
        <p:spPr bwMode="gray">
          <a:xfrm>
            <a:off x="501648" y="685803"/>
            <a:ext cx="5594348" cy="36829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err="1">
                <a:solidFill>
                  <a:schemeClr val="bg1"/>
                </a:solidFill>
                <a:latin typeface="Verdana" panose="020B0604030504040204" pitchFamily="34" charset="0"/>
                <a:ea typeface="Verdana" panose="020B0604030504040204" pitchFamily="34" charset="0"/>
              </a:rPr>
              <a:t>Hasir</a:t>
            </a:r>
            <a:r>
              <a:rPr lang="en-US" sz="1200" b="1" dirty="0">
                <a:solidFill>
                  <a:schemeClr val="bg1"/>
                </a:solidFill>
                <a:latin typeface="Verdana" panose="020B0604030504040204" pitchFamily="34" charset="0"/>
                <a:ea typeface="Verdana" panose="020B0604030504040204" pitchFamily="34" charset="0"/>
              </a:rPr>
              <a:t> </a:t>
            </a:r>
            <a:r>
              <a:rPr lang="en-US" sz="1200" b="1" dirty="0" err="1">
                <a:solidFill>
                  <a:schemeClr val="bg1"/>
                </a:solidFill>
                <a:latin typeface="Verdana" panose="020B0604030504040204" pitchFamily="34" charset="0"/>
                <a:ea typeface="Verdana" panose="020B0604030504040204" pitchFamily="34" charset="0"/>
              </a:rPr>
              <a:t>Alo</a:t>
            </a:r>
            <a:r>
              <a:rPr lang="en-US" sz="1200" b="1" dirty="0">
                <a:solidFill>
                  <a:schemeClr val="bg1"/>
                </a:solidFill>
                <a:latin typeface="Verdana" panose="020B0604030504040204" pitchFamily="34" charset="0"/>
                <a:ea typeface="Verdana" panose="020B0604030504040204" pitchFamily="34" charset="0"/>
              </a:rPr>
              <a:t> Order: WBERC Order </a:t>
            </a:r>
            <a:r>
              <a:rPr lang="en-US" sz="1200" b="1" dirty="0" err="1">
                <a:solidFill>
                  <a:schemeClr val="bg1"/>
                </a:solidFill>
                <a:latin typeface="Verdana" panose="020B0604030504040204" pitchFamily="34" charset="0"/>
                <a:ea typeface="Verdana" panose="020B0604030504040204" pitchFamily="34" charset="0"/>
              </a:rPr>
              <a:t>dtd</a:t>
            </a:r>
            <a:r>
              <a:rPr lang="en-US" sz="1200" b="1" dirty="0">
                <a:solidFill>
                  <a:schemeClr val="bg1"/>
                </a:solidFill>
                <a:latin typeface="Verdana" panose="020B0604030504040204" pitchFamily="34" charset="0"/>
                <a:ea typeface="Verdana" panose="020B0604030504040204" pitchFamily="34" charset="0"/>
              </a:rPr>
              <a:t>. 31.03.2020 in Case No. A-6/14/G0:</a:t>
            </a:r>
          </a:p>
        </p:txBody>
      </p:sp>
      <p:sp>
        <p:nvSpPr>
          <p:cNvPr id="8" name="Rectangle 7">
            <a:extLst>
              <a:ext uri="{FF2B5EF4-FFF2-40B4-BE49-F238E27FC236}">
                <a16:creationId xmlns:a16="http://schemas.microsoft.com/office/drawing/2014/main" id="{9FF6030D-D902-416B-9A8B-8FCE36446A99}"/>
              </a:ext>
            </a:extLst>
          </p:cNvPr>
          <p:cNvSpPr/>
          <p:nvPr/>
        </p:nvSpPr>
        <p:spPr bwMode="gray">
          <a:xfrm>
            <a:off x="6215866" y="685802"/>
            <a:ext cx="5474482" cy="368299"/>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latin typeface="Verdana" panose="020B0604030504040204" pitchFamily="34" charset="0"/>
                <a:ea typeface="Verdana" panose="020B0604030504040204" pitchFamily="34" charset="0"/>
              </a:rPr>
              <a:t>Subsidy Order: WBERC Order </a:t>
            </a:r>
            <a:r>
              <a:rPr lang="en-US" sz="1200" b="1" dirty="0" err="1">
                <a:solidFill>
                  <a:schemeClr val="bg1"/>
                </a:solidFill>
                <a:latin typeface="Verdana" panose="020B0604030504040204" pitchFamily="34" charset="0"/>
                <a:ea typeface="Verdana" panose="020B0604030504040204" pitchFamily="34" charset="0"/>
              </a:rPr>
              <a:t>dtd</a:t>
            </a:r>
            <a:r>
              <a:rPr lang="en-US" sz="1200" b="1" dirty="0">
                <a:solidFill>
                  <a:schemeClr val="bg1"/>
                </a:solidFill>
                <a:latin typeface="Verdana" panose="020B0604030504040204" pitchFamily="34" charset="0"/>
                <a:ea typeface="Verdana" panose="020B0604030504040204" pitchFamily="34" charset="0"/>
              </a:rPr>
              <a:t>. 24.01.2022 in Case No. B-11/23:</a:t>
            </a:r>
          </a:p>
        </p:txBody>
      </p:sp>
    </p:spTree>
    <p:extLst>
      <p:ext uri="{BB962C8B-B14F-4D97-AF65-F5344CB8AC3E}">
        <p14:creationId xmlns:p14="http://schemas.microsoft.com/office/powerpoint/2010/main" val="2889386648"/>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2018-19 </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10" name="Chart 9">
            <a:extLst>
              <a:ext uri="{FF2B5EF4-FFF2-40B4-BE49-F238E27FC236}">
                <a16:creationId xmlns:a16="http://schemas.microsoft.com/office/drawing/2014/main" id="{4F291880-C315-4307-86BC-C93B18DD7268}"/>
              </a:ext>
            </a:extLst>
          </p:cNvPr>
          <p:cNvGraphicFramePr>
            <a:graphicFrameLocks/>
          </p:cNvGraphicFramePr>
          <p:nvPr/>
        </p:nvGraphicFramePr>
        <p:xfrm>
          <a:off x="501654" y="998451"/>
          <a:ext cx="3798204" cy="559314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D36C7360-234A-47C1-B05F-EF1397E04E9A}"/>
              </a:ext>
            </a:extLst>
          </p:cNvPr>
          <p:cNvGraphicFramePr>
            <a:graphicFrameLocks/>
          </p:cNvGraphicFramePr>
          <p:nvPr/>
        </p:nvGraphicFramePr>
        <p:xfrm>
          <a:off x="4299858" y="998450"/>
          <a:ext cx="3592286" cy="559314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4D8E30E4-D625-4227-8D11-EF319BFFBE98}"/>
              </a:ext>
            </a:extLst>
          </p:cNvPr>
          <p:cNvGraphicFramePr>
            <a:graphicFrameLocks/>
          </p:cNvGraphicFramePr>
          <p:nvPr/>
        </p:nvGraphicFramePr>
        <p:xfrm>
          <a:off x="8075788" y="998450"/>
          <a:ext cx="3766807" cy="542465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009168409"/>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2019-20</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10" name="Chart 9">
            <a:extLst>
              <a:ext uri="{FF2B5EF4-FFF2-40B4-BE49-F238E27FC236}">
                <a16:creationId xmlns:a16="http://schemas.microsoft.com/office/drawing/2014/main" id="{4F291880-C315-4307-86BC-C93B18DD7268}"/>
              </a:ext>
            </a:extLst>
          </p:cNvPr>
          <p:cNvGraphicFramePr>
            <a:graphicFrameLocks/>
          </p:cNvGraphicFramePr>
          <p:nvPr/>
        </p:nvGraphicFramePr>
        <p:xfrm>
          <a:off x="501654" y="998451"/>
          <a:ext cx="3798204" cy="559314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D36C7360-234A-47C1-B05F-EF1397E04E9A}"/>
              </a:ext>
            </a:extLst>
          </p:cNvPr>
          <p:cNvGraphicFramePr>
            <a:graphicFrameLocks/>
          </p:cNvGraphicFramePr>
          <p:nvPr/>
        </p:nvGraphicFramePr>
        <p:xfrm>
          <a:off x="4299858" y="998450"/>
          <a:ext cx="3592286" cy="559314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4D8E30E4-D625-4227-8D11-EF319BFFBE98}"/>
              </a:ext>
            </a:extLst>
          </p:cNvPr>
          <p:cNvGraphicFramePr>
            <a:graphicFrameLocks/>
          </p:cNvGraphicFramePr>
          <p:nvPr/>
        </p:nvGraphicFramePr>
        <p:xfrm>
          <a:off x="8075788" y="998450"/>
          <a:ext cx="3766807" cy="542465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313508938"/>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2020-21</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10" name="Chart 9">
            <a:extLst>
              <a:ext uri="{FF2B5EF4-FFF2-40B4-BE49-F238E27FC236}">
                <a16:creationId xmlns:a16="http://schemas.microsoft.com/office/drawing/2014/main" id="{4F291880-C315-4307-86BC-C93B18DD7268}"/>
              </a:ext>
            </a:extLst>
          </p:cNvPr>
          <p:cNvGraphicFramePr>
            <a:graphicFrameLocks/>
          </p:cNvGraphicFramePr>
          <p:nvPr/>
        </p:nvGraphicFramePr>
        <p:xfrm>
          <a:off x="501654" y="998451"/>
          <a:ext cx="3798204" cy="559314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D36C7360-234A-47C1-B05F-EF1397E04E9A}"/>
              </a:ext>
            </a:extLst>
          </p:cNvPr>
          <p:cNvGraphicFramePr>
            <a:graphicFrameLocks/>
          </p:cNvGraphicFramePr>
          <p:nvPr/>
        </p:nvGraphicFramePr>
        <p:xfrm>
          <a:off x="4299858" y="998450"/>
          <a:ext cx="3592286" cy="559314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4D8E30E4-D625-4227-8D11-EF319BFFBE98}"/>
              </a:ext>
            </a:extLst>
          </p:cNvPr>
          <p:cNvGraphicFramePr>
            <a:graphicFrameLocks/>
          </p:cNvGraphicFramePr>
          <p:nvPr/>
        </p:nvGraphicFramePr>
        <p:xfrm>
          <a:off x="8075788" y="998450"/>
          <a:ext cx="3766807" cy="542465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531588331"/>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2021-22</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10" name="Chart 9">
            <a:extLst>
              <a:ext uri="{FF2B5EF4-FFF2-40B4-BE49-F238E27FC236}">
                <a16:creationId xmlns:a16="http://schemas.microsoft.com/office/drawing/2014/main" id="{4F291880-C315-4307-86BC-C93B18DD7268}"/>
              </a:ext>
            </a:extLst>
          </p:cNvPr>
          <p:cNvGraphicFramePr>
            <a:graphicFrameLocks/>
          </p:cNvGraphicFramePr>
          <p:nvPr/>
        </p:nvGraphicFramePr>
        <p:xfrm>
          <a:off x="501654" y="998451"/>
          <a:ext cx="3798204" cy="559314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D36C7360-234A-47C1-B05F-EF1397E04E9A}"/>
              </a:ext>
            </a:extLst>
          </p:cNvPr>
          <p:cNvGraphicFramePr>
            <a:graphicFrameLocks/>
          </p:cNvGraphicFramePr>
          <p:nvPr/>
        </p:nvGraphicFramePr>
        <p:xfrm>
          <a:off x="4299858" y="998450"/>
          <a:ext cx="3592286" cy="559314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4D8E30E4-D625-4227-8D11-EF319BFFBE98}"/>
              </a:ext>
            </a:extLst>
          </p:cNvPr>
          <p:cNvGraphicFramePr>
            <a:graphicFrameLocks/>
          </p:cNvGraphicFramePr>
          <p:nvPr/>
        </p:nvGraphicFramePr>
        <p:xfrm>
          <a:off x="8075788" y="998450"/>
          <a:ext cx="3766807" cy="542465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377776949"/>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3554122-857B-4D06-AD8A-4EC474F14A00}"/>
              </a:ext>
            </a:extLst>
          </p:cNvPr>
          <p:cNvSpPr/>
          <p:nvPr/>
        </p:nvSpPr>
        <p:spPr bwMode="gray">
          <a:xfrm>
            <a:off x="741381" y="1220994"/>
            <a:ext cx="10754181" cy="2817613"/>
          </a:xfrm>
          <a:prstGeom prst="rect">
            <a:avLst/>
          </a:prstGeom>
          <a:solidFill>
            <a:srgbClr val="00A3E0">
              <a:alpha val="5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0" name="Rectangle 129">
            <a:extLst>
              <a:ext uri="{FF2B5EF4-FFF2-40B4-BE49-F238E27FC236}">
                <a16:creationId xmlns:a16="http://schemas.microsoft.com/office/drawing/2014/main" id="{D6F47921-B7C8-403F-92C7-FF6D391EAA3C}"/>
              </a:ext>
            </a:extLst>
          </p:cNvPr>
          <p:cNvSpPr/>
          <p:nvPr/>
        </p:nvSpPr>
        <p:spPr bwMode="gray">
          <a:xfrm>
            <a:off x="741381" y="4038608"/>
            <a:ext cx="10754181" cy="990600"/>
          </a:xfrm>
          <a:prstGeom prst="rect">
            <a:avLst/>
          </a:prstGeom>
          <a:solidFill>
            <a:srgbClr val="046A38">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1" name="Rectangle 130">
            <a:extLst>
              <a:ext uri="{FF2B5EF4-FFF2-40B4-BE49-F238E27FC236}">
                <a16:creationId xmlns:a16="http://schemas.microsoft.com/office/drawing/2014/main" id="{AD913ECD-17AC-4DBA-B0EF-1E171A9820D2}"/>
              </a:ext>
            </a:extLst>
          </p:cNvPr>
          <p:cNvSpPr/>
          <p:nvPr/>
        </p:nvSpPr>
        <p:spPr bwMode="gray">
          <a:xfrm>
            <a:off x="741381" y="5029208"/>
            <a:ext cx="10754181" cy="990600"/>
          </a:xfrm>
          <a:prstGeom prst="rect">
            <a:avLst/>
          </a:prstGeom>
          <a:solidFill>
            <a:srgbClr val="86BC25">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368299"/>
          </a:xfrm>
        </p:spPr>
        <p:txBody>
          <a:bodyPr vert="horz"/>
          <a:lstStyle/>
          <a:p>
            <a:pPr algn="just"/>
            <a:r>
              <a:rPr lang="en-US" sz="1800" i="0" dirty="0">
                <a:solidFill>
                  <a:schemeClr val="accent1"/>
                </a:solidFill>
              </a:rPr>
              <a:t>WBPDCL: </a:t>
            </a:r>
            <a:r>
              <a:rPr lang="en-US" sz="1800" b="0" i="0" dirty="0">
                <a:solidFill>
                  <a:schemeClr val="tx1"/>
                </a:solidFill>
              </a:rPr>
              <a:t>Historically there has been significant delay in issuance of Tariff/APR/FCA Orders </a:t>
            </a:r>
            <a:r>
              <a:rPr lang="en-US" sz="1800" dirty="0"/>
              <a:t>and release of admitted APR/FCA amounts</a:t>
            </a:r>
            <a:r>
              <a:rPr lang="en-US" sz="1800" b="0" i="0" dirty="0">
                <a:solidFill>
                  <a:schemeClr val="tx1"/>
                </a:solidFill>
              </a:rPr>
              <a:t>; APR and FCA orders have not been issued from FY 15 onwards </a:t>
            </a:r>
          </a:p>
        </p:txBody>
      </p:sp>
      <p:sp>
        <p:nvSpPr>
          <p:cNvPr id="41" name="TextBox 40">
            <a:extLst>
              <a:ext uri="{FF2B5EF4-FFF2-40B4-BE49-F238E27FC236}">
                <a16:creationId xmlns:a16="http://schemas.microsoft.com/office/drawing/2014/main" id="{5B2D6D69-5E23-458D-88EC-5B842F2B746E}"/>
              </a:ext>
            </a:extLst>
          </p:cNvPr>
          <p:cNvSpPr txBox="1"/>
          <p:nvPr/>
        </p:nvSpPr>
        <p:spPr>
          <a:xfrm>
            <a:off x="8490991" y="6643189"/>
            <a:ext cx="2992582" cy="123111"/>
          </a:xfrm>
          <a:prstGeom prst="rect">
            <a:avLst/>
          </a:prstGeom>
          <a:noFill/>
        </p:spPr>
        <p:txBody>
          <a:bodyPr wrap="square" lIns="0" tIns="0" rIns="0" bIns="0" rtlCol="0">
            <a:spAutoFit/>
          </a:bodyPr>
          <a:lstStyle/>
          <a:p>
            <a:pPr>
              <a:spcBef>
                <a:spcPts val="600"/>
              </a:spcBef>
              <a:buSzPct val="100000"/>
            </a:pPr>
            <a:r>
              <a:rPr lang="en-US" sz="800" i="1" dirty="0">
                <a:solidFill>
                  <a:srgbClr val="313131"/>
                </a:solidFill>
              </a:rPr>
              <a:t>Source: WBERC Tariff, APR and FCA Orders for WBPDCL</a:t>
            </a:r>
          </a:p>
        </p:txBody>
      </p:sp>
      <p:graphicFrame>
        <p:nvGraphicFramePr>
          <p:cNvPr id="4" name="Chart 3">
            <a:extLst>
              <a:ext uri="{FF2B5EF4-FFF2-40B4-BE49-F238E27FC236}">
                <a16:creationId xmlns:a16="http://schemas.microsoft.com/office/drawing/2014/main" id="{812079E3-368B-4CF2-9146-5C0103FC9442}"/>
              </a:ext>
            </a:extLst>
          </p:cNvPr>
          <p:cNvGraphicFramePr/>
          <p:nvPr/>
        </p:nvGraphicFramePr>
        <p:xfrm>
          <a:off x="957217" y="1123019"/>
          <a:ext cx="10590895" cy="5352199"/>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a:extLst>
              <a:ext uri="{FF2B5EF4-FFF2-40B4-BE49-F238E27FC236}">
                <a16:creationId xmlns:a16="http://schemas.microsoft.com/office/drawing/2014/main" id="{EC2C6255-232B-4700-B06D-BB78AD69A37C}"/>
              </a:ext>
            </a:extLst>
          </p:cNvPr>
          <p:cNvSpPr txBox="1"/>
          <p:nvPr/>
        </p:nvSpPr>
        <p:spPr>
          <a:xfrm rot="16200000">
            <a:off x="126032" y="2445133"/>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004F59"/>
                </a:solidFill>
              </a:rPr>
              <a:t>Tariff Order</a:t>
            </a:r>
          </a:p>
        </p:txBody>
      </p:sp>
      <p:sp>
        <p:nvSpPr>
          <p:cNvPr id="133" name="TextBox 132">
            <a:extLst>
              <a:ext uri="{FF2B5EF4-FFF2-40B4-BE49-F238E27FC236}">
                <a16:creationId xmlns:a16="http://schemas.microsoft.com/office/drawing/2014/main" id="{E33F1CDE-DB30-4E95-A582-E2EA6F29397D}"/>
              </a:ext>
            </a:extLst>
          </p:cNvPr>
          <p:cNvSpPr txBox="1"/>
          <p:nvPr/>
        </p:nvSpPr>
        <p:spPr>
          <a:xfrm rot="16200000">
            <a:off x="126032" y="4349241"/>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046A38"/>
                </a:solidFill>
              </a:rPr>
              <a:t>APR Order</a:t>
            </a:r>
          </a:p>
        </p:txBody>
      </p:sp>
      <p:sp>
        <p:nvSpPr>
          <p:cNvPr id="134" name="TextBox 133">
            <a:extLst>
              <a:ext uri="{FF2B5EF4-FFF2-40B4-BE49-F238E27FC236}">
                <a16:creationId xmlns:a16="http://schemas.microsoft.com/office/drawing/2014/main" id="{6EE22FA0-55AE-48F0-8E89-E537765FA1AE}"/>
              </a:ext>
            </a:extLst>
          </p:cNvPr>
          <p:cNvSpPr txBox="1"/>
          <p:nvPr/>
        </p:nvSpPr>
        <p:spPr>
          <a:xfrm rot="16200000">
            <a:off x="126033" y="5339841"/>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chemeClr val="accent1">
                    <a:lumMod val="50000"/>
                  </a:schemeClr>
                </a:solidFill>
              </a:rPr>
              <a:t>FCA Order</a:t>
            </a:r>
          </a:p>
        </p:txBody>
      </p:sp>
      <p:sp>
        <p:nvSpPr>
          <p:cNvPr id="13" name="TextBox 12">
            <a:extLst>
              <a:ext uri="{FF2B5EF4-FFF2-40B4-BE49-F238E27FC236}">
                <a16:creationId xmlns:a16="http://schemas.microsoft.com/office/drawing/2014/main" id="{6A3BE998-4558-4F6C-AC0F-3592D4AAA098}"/>
              </a:ext>
            </a:extLst>
          </p:cNvPr>
          <p:cNvSpPr txBox="1"/>
          <p:nvPr/>
        </p:nvSpPr>
        <p:spPr>
          <a:xfrm>
            <a:off x="1201279"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‘11</a:t>
            </a:r>
          </a:p>
        </p:txBody>
      </p:sp>
      <p:sp>
        <p:nvSpPr>
          <p:cNvPr id="136" name="TextBox 135">
            <a:extLst>
              <a:ext uri="{FF2B5EF4-FFF2-40B4-BE49-F238E27FC236}">
                <a16:creationId xmlns:a16="http://schemas.microsoft.com/office/drawing/2014/main" id="{3F6084D9-0AB2-4479-BB1A-757060EB350C}"/>
              </a:ext>
            </a:extLst>
          </p:cNvPr>
          <p:cNvSpPr txBox="1"/>
          <p:nvPr/>
        </p:nvSpPr>
        <p:spPr>
          <a:xfrm>
            <a:off x="1991098"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‘12</a:t>
            </a:r>
          </a:p>
        </p:txBody>
      </p:sp>
      <p:sp>
        <p:nvSpPr>
          <p:cNvPr id="138" name="TextBox 137">
            <a:extLst>
              <a:ext uri="{FF2B5EF4-FFF2-40B4-BE49-F238E27FC236}">
                <a16:creationId xmlns:a16="http://schemas.microsoft.com/office/drawing/2014/main" id="{618D1047-9BE1-444B-B9D5-00F367571CCE}"/>
              </a:ext>
            </a:extLst>
          </p:cNvPr>
          <p:cNvSpPr txBox="1"/>
          <p:nvPr/>
        </p:nvSpPr>
        <p:spPr>
          <a:xfrm>
            <a:off x="3570736"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‘14</a:t>
            </a:r>
          </a:p>
        </p:txBody>
      </p:sp>
      <p:sp>
        <p:nvSpPr>
          <p:cNvPr id="139" name="TextBox 138">
            <a:extLst>
              <a:ext uri="{FF2B5EF4-FFF2-40B4-BE49-F238E27FC236}">
                <a16:creationId xmlns:a16="http://schemas.microsoft.com/office/drawing/2014/main" id="{B9936937-B4AA-4B20-B221-968D1B23A731}"/>
              </a:ext>
            </a:extLst>
          </p:cNvPr>
          <p:cNvSpPr txBox="1"/>
          <p:nvPr/>
        </p:nvSpPr>
        <p:spPr>
          <a:xfrm>
            <a:off x="4360555"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‘15</a:t>
            </a:r>
          </a:p>
        </p:txBody>
      </p:sp>
      <p:sp>
        <p:nvSpPr>
          <p:cNvPr id="140" name="TextBox 139">
            <a:extLst>
              <a:ext uri="{FF2B5EF4-FFF2-40B4-BE49-F238E27FC236}">
                <a16:creationId xmlns:a16="http://schemas.microsoft.com/office/drawing/2014/main" id="{AC378D09-DC24-4D49-ADCE-4797A05DAA1F}"/>
              </a:ext>
            </a:extLst>
          </p:cNvPr>
          <p:cNvSpPr txBox="1"/>
          <p:nvPr/>
        </p:nvSpPr>
        <p:spPr>
          <a:xfrm>
            <a:off x="2780917"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‘13</a:t>
            </a:r>
          </a:p>
        </p:txBody>
      </p:sp>
      <p:sp>
        <p:nvSpPr>
          <p:cNvPr id="141" name="TextBox 140">
            <a:extLst>
              <a:ext uri="{FF2B5EF4-FFF2-40B4-BE49-F238E27FC236}">
                <a16:creationId xmlns:a16="http://schemas.microsoft.com/office/drawing/2014/main" id="{0B0A1408-693F-43D0-80AC-08A6D4E0FB7A}"/>
              </a:ext>
            </a:extLst>
          </p:cNvPr>
          <p:cNvSpPr txBox="1"/>
          <p:nvPr/>
        </p:nvSpPr>
        <p:spPr>
          <a:xfrm>
            <a:off x="5940193"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‘17</a:t>
            </a:r>
          </a:p>
        </p:txBody>
      </p:sp>
      <p:sp>
        <p:nvSpPr>
          <p:cNvPr id="142" name="TextBox 141">
            <a:extLst>
              <a:ext uri="{FF2B5EF4-FFF2-40B4-BE49-F238E27FC236}">
                <a16:creationId xmlns:a16="http://schemas.microsoft.com/office/drawing/2014/main" id="{669BB046-85B4-489C-A194-90540E180BB0}"/>
              </a:ext>
            </a:extLst>
          </p:cNvPr>
          <p:cNvSpPr txBox="1"/>
          <p:nvPr/>
        </p:nvSpPr>
        <p:spPr>
          <a:xfrm>
            <a:off x="6730012"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‘18</a:t>
            </a:r>
          </a:p>
        </p:txBody>
      </p:sp>
      <p:sp>
        <p:nvSpPr>
          <p:cNvPr id="143" name="TextBox 142">
            <a:extLst>
              <a:ext uri="{FF2B5EF4-FFF2-40B4-BE49-F238E27FC236}">
                <a16:creationId xmlns:a16="http://schemas.microsoft.com/office/drawing/2014/main" id="{69A4A90C-D99B-4B9D-902F-77F95C13F9EB}"/>
              </a:ext>
            </a:extLst>
          </p:cNvPr>
          <p:cNvSpPr txBox="1"/>
          <p:nvPr/>
        </p:nvSpPr>
        <p:spPr>
          <a:xfrm>
            <a:off x="5150374"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‘16</a:t>
            </a:r>
          </a:p>
        </p:txBody>
      </p:sp>
      <p:sp>
        <p:nvSpPr>
          <p:cNvPr id="144" name="TextBox 143">
            <a:extLst>
              <a:ext uri="{FF2B5EF4-FFF2-40B4-BE49-F238E27FC236}">
                <a16:creationId xmlns:a16="http://schemas.microsoft.com/office/drawing/2014/main" id="{743CE329-C629-452E-8D22-3EC8EB5BD2BA}"/>
              </a:ext>
            </a:extLst>
          </p:cNvPr>
          <p:cNvSpPr txBox="1"/>
          <p:nvPr/>
        </p:nvSpPr>
        <p:spPr>
          <a:xfrm>
            <a:off x="8309650"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‘20</a:t>
            </a:r>
          </a:p>
        </p:txBody>
      </p:sp>
      <p:sp>
        <p:nvSpPr>
          <p:cNvPr id="145" name="TextBox 144">
            <a:extLst>
              <a:ext uri="{FF2B5EF4-FFF2-40B4-BE49-F238E27FC236}">
                <a16:creationId xmlns:a16="http://schemas.microsoft.com/office/drawing/2014/main" id="{957251C0-444A-4483-98B5-93355A0030E3}"/>
              </a:ext>
            </a:extLst>
          </p:cNvPr>
          <p:cNvSpPr txBox="1"/>
          <p:nvPr/>
        </p:nvSpPr>
        <p:spPr>
          <a:xfrm>
            <a:off x="9099469"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‘21</a:t>
            </a:r>
          </a:p>
        </p:txBody>
      </p:sp>
      <p:sp>
        <p:nvSpPr>
          <p:cNvPr id="146" name="TextBox 145">
            <a:extLst>
              <a:ext uri="{FF2B5EF4-FFF2-40B4-BE49-F238E27FC236}">
                <a16:creationId xmlns:a16="http://schemas.microsoft.com/office/drawing/2014/main" id="{F6266621-DF87-4803-9744-DD900E801906}"/>
              </a:ext>
            </a:extLst>
          </p:cNvPr>
          <p:cNvSpPr txBox="1"/>
          <p:nvPr/>
        </p:nvSpPr>
        <p:spPr>
          <a:xfrm>
            <a:off x="7519831"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‘19</a:t>
            </a:r>
          </a:p>
        </p:txBody>
      </p:sp>
      <p:sp>
        <p:nvSpPr>
          <p:cNvPr id="147" name="TextBox 146">
            <a:extLst>
              <a:ext uri="{FF2B5EF4-FFF2-40B4-BE49-F238E27FC236}">
                <a16:creationId xmlns:a16="http://schemas.microsoft.com/office/drawing/2014/main" id="{41D7B9A0-0CC6-4587-9E18-9FE1970196CF}"/>
              </a:ext>
            </a:extLst>
          </p:cNvPr>
          <p:cNvSpPr txBox="1"/>
          <p:nvPr/>
        </p:nvSpPr>
        <p:spPr>
          <a:xfrm>
            <a:off x="9889288"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‘22</a:t>
            </a:r>
          </a:p>
        </p:txBody>
      </p:sp>
      <p:sp>
        <p:nvSpPr>
          <p:cNvPr id="149" name="TextBox 148">
            <a:extLst>
              <a:ext uri="{FF2B5EF4-FFF2-40B4-BE49-F238E27FC236}">
                <a16:creationId xmlns:a16="http://schemas.microsoft.com/office/drawing/2014/main" id="{567531B4-5328-4329-A6AB-C325B4CB0093}"/>
              </a:ext>
            </a:extLst>
          </p:cNvPr>
          <p:cNvSpPr txBox="1"/>
          <p:nvPr/>
        </p:nvSpPr>
        <p:spPr>
          <a:xfrm>
            <a:off x="10679110"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‘23</a:t>
            </a:r>
          </a:p>
        </p:txBody>
      </p:sp>
      <p:grpSp>
        <p:nvGrpSpPr>
          <p:cNvPr id="2" name="Group 1">
            <a:extLst>
              <a:ext uri="{FF2B5EF4-FFF2-40B4-BE49-F238E27FC236}">
                <a16:creationId xmlns:a16="http://schemas.microsoft.com/office/drawing/2014/main" id="{C92865E6-451E-4E27-B4B9-296349EB2E0E}"/>
              </a:ext>
            </a:extLst>
          </p:cNvPr>
          <p:cNvGrpSpPr/>
          <p:nvPr/>
        </p:nvGrpSpPr>
        <p:grpSpPr>
          <a:xfrm>
            <a:off x="8477500" y="1315638"/>
            <a:ext cx="2920998" cy="1209850"/>
            <a:chOff x="8617860" y="1239436"/>
            <a:chExt cx="2920998" cy="1209850"/>
          </a:xfrm>
        </p:grpSpPr>
        <p:sp>
          <p:nvSpPr>
            <p:cNvPr id="11" name="Rectangle: Rounded Corners 10">
              <a:extLst>
                <a:ext uri="{FF2B5EF4-FFF2-40B4-BE49-F238E27FC236}">
                  <a16:creationId xmlns:a16="http://schemas.microsoft.com/office/drawing/2014/main" id="{1A46FAA4-6992-44FD-A406-67A39B39AA59}"/>
                </a:ext>
              </a:extLst>
            </p:cNvPr>
            <p:cNvSpPr/>
            <p:nvPr/>
          </p:nvSpPr>
          <p:spPr bwMode="gray">
            <a:xfrm>
              <a:off x="8617860" y="1239436"/>
              <a:ext cx="2920998" cy="1209850"/>
            </a:xfrm>
            <a:prstGeom prst="roundRect">
              <a:avLst>
                <a:gd name="adj" fmla="val 9717"/>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cxnSp>
          <p:nvCxnSpPr>
            <p:cNvPr id="6" name="Straight Connector 5">
              <a:extLst>
                <a:ext uri="{FF2B5EF4-FFF2-40B4-BE49-F238E27FC236}">
                  <a16:creationId xmlns:a16="http://schemas.microsoft.com/office/drawing/2014/main" id="{FBC1C09E-A8E3-435A-9D56-483C1E3D4DFF}"/>
                </a:ext>
              </a:extLst>
            </p:cNvPr>
            <p:cNvCxnSpPr/>
            <p:nvPr/>
          </p:nvCxnSpPr>
          <p:spPr>
            <a:xfrm>
              <a:off x="8795940" y="1381215"/>
              <a:ext cx="0" cy="170107"/>
            </a:xfrm>
            <a:prstGeom prst="line">
              <a:avLst/>
            </a:prstGeom>
            <a:ln w="57150">
              <a:solidFill>
                <a:srgbClr val="43B02A"/>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0C99B56-57AC-491E-8F70-5CCCC680EBB8}"/>
                </a:ext>
              </a:extLst>
            </p:cNvPr>
            <p:cNvSpPr txBox="1"/>
            <p:nvPr/>
          </p:nvSpPr>
          <p:spPr>
            <a:xfrm>
              <a:off x="8892648" y="1390169"/>
              <a:ext cx="2376000" cy="139223"/>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Notional date for Order issuance</a:t>
              </a:r>
            </a:p>
          </p:txBody>
        </p:sp>
        <p:cxnSp>
          <p:nvCxnSpPr>
            <p:cNvPr id="59" name="Straight Connector 58">
              <a:extLst>
                <a:ext uri="{FF2B5EF4-FFF2-40B4-BE49-F238E27FC236}">
                  <a16:creationId xmlns:a16="http://schemas.microsoft.com/office/drawing/2014/main" id="{0B6F2A92-522B-4AC9-8D41-AF01237A2491}"/>
                </a:ext>
              </a:extLst>
            </p:cNvPr>
            <p:cNvCxnSpPr/>
            <p:nvPr/>
          </p:nvCxnSpPr>
          <p:spPr>
            <a:xfrm>
              <a:off x="8795940" y="1639859"/>
              <a:ext cx="0" cy="170107"/>
            </a:xfrm>
            <a:prstGeom prst="line">
              <a:avLst/>
            </a:prstGeom>
            <a:ln w="57150">
              <a:solidFill>
                <a:srgbClr val="012169"/>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CA661C-F7F0-477C-A5C4-EBE995C6B775}"/>
                </a:ext>
              </a:extLst>
            </p:cNvPr>
            <p:cNvSpPr txBox="1"/>
            <p:nvPr/>
          </p:nvSpPr>
          <p:spPr>
            <a:xfrm>
              <a:off x="8892648" y="1648813"/>
              <a:ext cx="2376000" cy="139223"/>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Actual Order issuance date</a:t>
              </a:r>
            </a:p>
          </p:txBody>
        </p:sp>
        <p:sp>
          <p:nvSpPr>
            <p:cNvPr id="10" name="Rectangle 9">
              <a:extLst>
                <a:ext uri="{FF2B5EF4-FFF2-40B4-BE49-F238E27FC236}">
                  <a16:creationId xmlns:a16="http://schemas.microsoft.com/office/drawing/2014/main" id="{8EE33154-797A-4C5B-8BC8-C1C849AB547A}"/>
                </a:ext>
              </a:extLst>
            </p:cNvPr>
            <p:cNvSpPr/>
            <p:nvPr/>
          </p:nvSpPr>
          <p:spPr bwMode="gray">
            <a:xfrm>
              <a:off x="8766259" y="2170701"/>
              <a:ext cx="356134" cy="170107"/>
            </a:xfrm>
            <a:prstGeom prst="rect">
              <a:avLst/>
            </a:prstGeom>
            <a:pattFill prst="ltDnDiag">
              <a:fgClr>
                <a:schemeClr val="bg1">
                  <a:lumMod val="50000"/>
                </a:schemeClr>
              </a:fgClr>
              <a:bgClr>
                <a:schemeClr val="bg1"/>
              </a:bgClr>
            </a:pattFill>
            <a:ln w="19050" algn="ctr">
              <a:solidFill>
                <a:schemeClr val="bg1">
                  <a:lumMod val="8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sp>
          <p:nvSpPr>
            <p:cNvPr id="135" name="TextBox 134">
              <a:extLst>
                <a:ext uri="{FF2B5EF4-FFF2-40B4-BE49-F238E27FC236}">
                  <a16:creationId xmlns:a16="http://schemas.microsoft.com/office/drawing/2014/main" id="{9AA0FFD5-2C87-4C90-A835-06EB88CF3D93}"/>
                </a:ext>
              </a:extLst>
            </p:cNvPr>
            <p:cNvSpPr txBox="1"/>
            <p:nvPr/>
          </p:nvSpPr>
          <p:spPr>
            <a:xfrm>
              <a:off x="9235366" y="2167496"/>
              <a:ext cx="2052000"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Delay (in days)</a:t>
              </a:r>
            </a:p>
          </p:txBody>
        </p:sp>
        <p:cxnSp>
          <p:nvCxnSpPr>
            <p:cNvPr id="33" name="Straight Connector 32">
              <a:extLst>
                <a:ext uri="{FF2B5EF4-FFF2-40B4-BE49-F238E27FC236}">
                  <a16:creationId xmlns:a16="http://schemas.microsoft.com/office/drawing/2014/main" id="{8A42C60E-9B4C-463F-B8FB-09E40FD24BAA}"/>
                </a:ext>
              </a:extLst>
            </p:cNvPr>
            <p:cNvCxnSpPr/>
            <p:nvPr/>
          </p:nvCxnSpPr>
          <p:spPr>
            <a:xfrm>
              <a:off x="8795940" y="1900872"/>
              <a:ext cx="0" cy="170107"/>
            </a:xfrm>
            <a:prstGeom prst="line">
              <a:avLst/>
            </a:prstGeom>
            <a:ln w="57150">
              <a:solidFill>
                <a:srgbClr val="00ABAB"/>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D82A51A-4319-4731-B492-78521E45D234}"/>
                </a:ext>
              </a:extLst>
            </p:cNvPr>
            <p:cNvSpPr txBox="1"/>
            <p:nvPr/>
          </p:nvSpPr>
          <p:spPr>
            <a:xfrm>
              <a:off x="8892648" y="1909826"/>
              <a:ext cx="2376000"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APR/FCA amount release date</a:t>
              </a:r>
            </a:p>
          </p:txBody>
        </p:sp>
      </p:grpSp>
      <p:sp>
        <p:nvSpPr>
          <p:cNvPr id="3" name="TextBox 2">
            <a:extLst>
              <a:ext uri="{FF2B5EF4-FFF2-40B4-BE49-F238E27FC236}">
                <a16:creationId xmlns:a16="http://schemas.microsoft.com/office/drawing/2014/main" id="{A30A5BAD-2447-4ED9-9E3B-7E3BD1812AD6}"/>
              </a:ext>
            </a:extLst>
          </p:cNvPr>
          <p:cNvSpPr txBox="1"/>
          <p:nvPr/>
        </p:nvSpPr>
        <p:spPr>
          <a:xfrm>
            <a:off x="4801358" y="4185257"/>
            <a:ext cx="3456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703 days</a:t>
            </a:r>
          </a:p>
        </p:txBody>
      </p:sp>
      <p:sp>
        <p:nvSpPr>
          <p:cNvPr id="38" name="TextBox 37">
            <a:extLst>
              <a:ext uri="{FF2B5EF4-FFF2-40B4-BE49-F238E27FC236}">
                <a16:creationId xmlns:a16="http://schemas.microsoft.com/office/drawing/2014/main" id="{42D0CDF0-9DE6-4311-AEF0-4C59AB353B0B}"/>
              </a:ext>
            </a:extLst>
          </p:cNvPr>
          <p:cNvSpPr txBox="1"/>
          <p:nvPr/>
        </p:nvSpPr>
        <p:spPr>
          <a:xfrm>
            <a:off x="4801354" y="4435631"/>
            <a:ext cx="3456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338 days</a:t>
            </a:r>
          </a:p>
        </p:txBody>
      </p:sp>
      <p:sp>
        <p:nvSpPr>
          <p:cNvPr id="39" name="TextBox 38">
            <a:extLst>
              <a:ext uri="{FF2B5EF4-FFF2-40B4-BE49-F238E27FC236}">
                <a16:creationId xmlns:a16="http://schemas.microsoft.com/office/drawing/2014/main" id="{E93AB7B0-8019-4C55-A58C-7E5C6768126D}"/>
              </a:ext>
            </a:extLst>
          </p:cNvPr>
          <p:cNvSpPr txBox="1"/>
          <p:nvPr/>
        </p:nvSpPr>
        <p:spPr>
          <a:xfrm>
            <a:off x="4648954" y="5208521"/>
            <a:ext cx="3456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641 days</a:t>
            </a:r>
          </a:p>
        </p:txBody>
      </p:sp>
      <p:sp>
        <p:nvSpPr>
          <p:cNvPr id="40" name="TextBox 39">
            <a:extLst>
              <a:ext uri="{FF2B5EF4-FFF2-40B4-BE49-F238E27FC236}">
                <a16:creationId xmlns:a16="http://schemas.microsoft.com/office/drawing/2014/main" id="{9F82CE82-9E65-44D0-92AC-C4DF0CC943C4}"/>
              </a:ext>
            </a:extLst>
          </p:cNvPr>
          <p:cNvSpPr txBox="1"/>
          <p:nvPr/>
        </p:nvSpPr>
        <p:spPr>
          <a:xfrm>
            <a:off x="6635276" y="2640721"/>
            <a:ext cx="3564000" cy="169277"/>
          </a:xfrm>
          <a:prstGeom prst="rect">
            <a:avLst/>
          </a:prstGeom>
          <a:noFill/>
        </p:spPr>
        <p:txBody>
          <a:bodyPr wrap="square" lIns="0" tIns="0" rIns="0" bIns="0" rtlCol="0">
            <a:spAutoFit/>
          </a:bodyPr>
          <a:lstStyle/>
          <a:p>
            <a:pPr>
              <a:spcBef>
                <a:spcPts val="600"/>
              </a:spcBef>
              <a:buSzPct val="100000"/>
            </a:pPr>
            <a:r>
              <a:rPr lang="en-US" sz="1100" i="1" dirty="0">
                <a:solidFill>
                  <a:srgbClr val="012169"/>
                </a:solidFill>
              </a:rPr>
              <a:t>Order delay: 463 days (for </a:t>
            </a:r>
            <a:r>
              <a:rPr lang="en-US" sz="1100" i="1" dirty="0" err="1">
                <a:solidFill>
                  <a:srgbClr val="012169"/>
                </a:solidFill>
              </a:rPr>
              <a:t>Sagardighi</a:t>
            </a:r>
            <a:r>
              <a:rPr lang="en-US" sz="1100" i="1" dirty="0">
                <a:solidFill>
                  <a:srgbClr val="012169"/>
                </a:solidFill>
              </a:rPr>
              <a:t> new units)</a:t>
            </a:r>
          </a:p>
        </p:txBody>
      </p:sp>
      <p:sp>
        <p:nvSpPr>
          <p:cNvPr id="42" name="TextBox 41">
            <a:extLst>
              <a:ext uri="{FF2B5EF4-FFF2-40B4-BE49-F238E27FC236}">
                <a16:creationId xmlns:a16="http://schemas.microsoft.com/office/drawing/2014/main" id="{0A16CBC2-282E-4D54-8083-40CC731DDC7D}"/>
              </a:ext>
            </a:extLst>
          </p:cNvPr>
          <p:cNvSpPr txBox="1"/>
          <p:nvPr/>
        </p:nvSpPr>
        <p:spPr>
          <a:xfrm>
            <a:off x="5263630" y="5457577"/>
            <a:ext cx="3456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549 days</a:t>
            </a:r>
          </a:p>
        </p:txBody>
      </p:sp>
      <p:sp>
        <p:nvSpPr>
          <p:cNvPr id="5" name="TextBox 4">
            <a:extLst>
              <a:ext uri="{FF2B5EF4-FFF2-40B4-BE49-F238E27FC236}">
                <a16:creationId xmlns:a16="http://schemas.microsoft.com/office/drawing/2014/main" id="{7B01433E-0F2B-4924-BC56-CAD2478F897D}"/>
              </a:ext>
            </a:extLst>
          </p:cNvPr>
          <p:cNvSpPr txBox="1"/>
          <p:nvPr/>
        </p:nvSpPr>
        <p:spPr>
          <a:xfrm>
            <a:off x="8821230" y="4715755"/>
            <a:ext cx="2251421" cy="626701"/>
          </a:xfrm>
          <a:prstGeom prst="rect">
            <a:avLst/>
          </a:prstGeom>
          <a:noFill/>
          <a:ln>
            <a:solidFill>
              <a:srgbClr val="003E58"/>
            </a:solidFill>
            <a:prstDash val="dash"/>
          </a:ln>
        </p:spPr>
        <p:txBody>
          <a:bodyPr wrap="square" lIns="36000" tIns="36000" rIns="36000" bIns="36000" rtlCol="0" anchor="ctr" anchorCtr="0">
            <a:spAutoFit/>
          </a:bodyPr>
          <a:lstStyle/>
          <a:p>
            <a:pPr>
              <a:spcBef>
                <a:spcPts val="600"/>
              </a:spcBef>
              <a:buSzPct val="100000"/>
            </a:pPr>
            <a:r>
              <a:rPr lang="en-US" sz="1200" i="1" dirty="0">
                <a:solidFill>
                  <a:srgbClr val="313131"/>
                </a:solidFill>
              </a:rPr>
              <a:t>APR and FCA Orders for WBPDCL have not been issued from FY 15 onwards</a:t>
            </a:r>
          </a:p>
        </p:txBody>
      </p:sp>
      <p:sp>
        <p:nvSpPr>
          <p:cNvPr id="12" name="TextBox 11">
            <a:extLst>
              <a:ext uri="{FF2B5EF4-FFF2-40B4-BE49-F238E27FC236}">
                <a16:creationId xmlns:a16="http://schemas.microsoft.com/office/drawing/2014/main" id="{10572400-8C8E-425E-87B7-A2AE83BA88E9}"/>
              </a:ext>
            </a:extLst>
          </p:cNvPr>
          <p:cNvSpPr txBox="1"/>
          <p:nvPr/>
        </p:nvSpPr>
        <p:spPr>
          <a:xfrm rot="16200000">
            <a:off x="10579157" y="2497848"/>
            <a:ext cx="2645862" cy="369332"/>
          </a:xfrm>
          <a:prstGeom prst="rect">
            <a:avLst/>
          </a:prstGeom>
          <a:noFill/>
        </p:spPr>
        <p:txBody>
          <a:bodyPr wrap="square" lIns="0" tIns="0" rIns="0" bIns="0" rtlCol="0">
            <a:spAutoFit/>
          </a:bodyPr>
          <a:lstStyle/>
          <a:p>
            <a:pPr algn="ctr">
              <a:buSzPct val="100000"/>
            </a:pPr>
            <a:r>
              <a:rPr lang="en-US" sz="1200" b="1" dirty="0">
                <a:solidFill>
                  <a:srgbClr val="004F59"/>
                </a:solidFill>
              </a:rPr>
              <a:t>Avg. delay in Tariff order issuance: </a:t>
            </a:r>
            <a:r>
              <a:rPr lang="en-IN" sz="1200" b="1" dirty="0">
                <a:solidFill>
                  <a:srgbClr val="004F59"/>
                </a:solidFill>
              </a:rPr>
              <a:t>486 days</a:t>
            </a:r>
            <a:endParaRPr lang="en-US" sz="1200" b="1" dirty="0">
              <a:solidFill>
                <a:srgbClr val="004F59"/>
              </a:solidFill>
            </a:endParaRPr>
          </a:p>
        </p:txBody>
      </p:sp>
      <p:sp>
        <p:nvSpPr>
          <p:cNvPr id="14" name="Right Brace 13">
            <a:extLst>
              <a:ext uri="{FF2B5EF4-FFF2-40B4-BE49-F238E27FC236}">
                <a16:creationId xmlns:a16="http://schemas.microsoft.com/office/drawing/2014/main" id="{3E689DB6-8DB6-4132-AC6E-AE7E83FC4622}"/>
              </a:ext>
            </a:extLst>
          </p:cNvPr>
          <p:cNvSpPr/>
          <p:nvPr/>
        </p:nvSpPr>
        <p:spPr>
          <a:xfrm>
            <a:off x="11548112" y="1220994"/>
            <a:ext cx="142240" cy="281761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TextBox 43">
            <a:extLst>
              <a:ext uri="{FF2B5EF4-FFF2-40B4-BE49-F238E27FC236}">
                <a16:creationId xmlns:a16="http://schemas.microsoft.com/office/drawing/2014/main" id="{0BB7BF67-E04C-42A9-9185-EDB91120C23F}"/>
              </a:ext>
            </a:extLst>
          </p:cNvPr>
          <p:cNvSpPr txBox="1"/>
          <p:nvPr/>
        </p:nvSpPr>
        <p:spPr>
          <a:xfrm rot="16200000">
            <a:off x="10699282" y="4922672"/>
            <a:ext cx="2405329" cy="369332"/>
          </a:xfrm>
          <a:prstGeom prst="rect">
            <a:avLst/>
          </a:prstGeom>
          <a:noFill/>
        </p:spPr>
        <p:txBody>
          <a:bodyPr wrap="square" lIns="0" tIns="0" rIns="0" bIns="0" rtlCol="0">
            <a:spAutoFit/>
          </a:bodyPr>
          <a:lstStyle/>
          <a:p>
            <a:pPr algn="ctr">
              <a:buSzPct val="100000"/>
            </a:pPr>
            <a:r>
              <a:rPr lang="en-US" sz="1200" b="1" dirty="0">
                <a:solidFill>
                  <a:schemeClr val="accent3">
                    <a:lumMod val="75000"/>
                  </a:schemeClr>
                </a:solidFill>
              </a:rPr>
              <a:t>Avg. delay in APR and FCA order issuance: </a:t>
            </a:r>
            <a:r>
              <a:rPr lang="en-IN" sz="1200" b="1" dirty="0">
                <a:solidFill>
                  <a:schemeClr val="accent3">
                    <a:lumMod val="75000"/>
                  </a:schemeClr>
                </a:solidFill>
              </a:rPr>
              <a:t>364 days</a:t>
            </a:r>
            <a:endParaRPr lang="en-US" sz="1200" b="1" dirty="0">
              <a:solidFill>
                <a:schemeClr val="accent3">
                  <a:lumMod val="75000"/>
                </a:schemeClr>
              </a:solidFill>
            </a:endParaRPr>
          </a:p>
        </p:txBody>
      </p:sp>
      <p:sp>
        <p:nvSpPr>
          <p:cNvPr id="45" name="Right Brace 44">
            <a:extLst>
              <a:ext uri="{FF2B5EF4-FFF2-40B4-BE49-F238E27FC236}">
                <a16:creationId xmlns:a16="http://schemas.microsoft.com/office/drawing/2014/main" id="{DFE8AAC7-F48A-4702-9F72-6744878FA2AB}"/>
              </a:ext>
            </a:extLst>
          </p:cNvPr>
          <p:cNvSpPr/>
          <p:nvPr/>
        </p:nvSpPr>
        <p:spPr>
          <a:xfrm>
            <a:off x="11547970" y="4066229"/>
            <a:ext cx="142240" cy="1944000"/>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99977134"/>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3554122-857B-4D06-AD8A-4EC474F14A00}"/>
              </a:ext>
            </a:extLst>
          </p:cNvPr>
          <p:cNvSpPr/>
          <p:nvPr/>
        </p:nvSpPr>
        <p:spPr bwMode="gray">
          <a:xfrm>
            <a:off x="753291" y="1220994"/>
            <a:ext cx="10754181" cy="3305294"/>
          </a:xfrm>
          <a:prstGeom prst="rect">
            <a:avLst/>
          </a:prstGeom>
          <a:solidFill>
            <a:srgbClr val="00A3E0">
              <a:alpha val="5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0" name="Rectangle 129">
            <a:extLst>
              <a:ext uri="{FF2B5EF4-FFF2-40B4-BE49-F238E27FC236}">
                <a16:creationId xmlns:a16="http://schemas.microsoft.com/office/drawing/2014/main" id="{D6F47921-B7C8-403F-92C7-FF6D391EAA3C}"/>
              </a:ext>
            </a:extLst>
          </p:cNvPr>
          <p:cNvSpPr/>
          <p:nvPr/>
        </p:nvSpPr>
        <p:spPr bwMode="gray">
          <a:xfrm>
            <a:off x="753291" y="4526288"/>
            <a:ext cx="10754181" cy="1526172"/>
          </a:xfrm>
          <a:prstGeom prst="rect">
            <a:avLst/>
          </a:prstGeom>
          <a:solidFill>
            <a:srgbClr val="046A38">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368299"/>
          </a:xfrm>
        </p:spPr>
        <p:txBody>
          <a:bodyPr vert="horz"/>
          <a:lstStyle/>
          <a:p>
            <a:pPr algn="just"/>
            <a:r>
              <a:rPr lang="en-US" sz="1800" b="0" i="0" dirty="0">
                <a:solidFill>
                  <a:schemeClr val="accent1"/>
                </a:solidFill>
              </a:rPr>
              <a:t>WBSETCL: </a:t>
            </a:r>
            <a:r>
              <a:rPr lang="en-US" sz="1800" b="0" i="0" dirty="0">
                <a:solidFill>
                  <a:schemeClr val="tx1"/>
                </a:solidFill>
              </a:rPr>
              <a:t>Historically there has been significant delay in issuance of Tariff/APR Orders and release of admitted APR amounts; APR orders have not been issued from FY 16 onwards</a:t>
            </a:r>
          </a:p>
        </p:txBody>
      </p:sp>
      <p:sp>
        <p:nvSpPr>
          <p:cNvPr id="41" name="TextBox 40">
            <a:extLst>
              <a:ext uri="{FF2B5EF4-FFF2-40B4-BE49-F238E27FC236}">
                <a16:creationId xmlns:a16="http://schemas.microsoft.com/office/drawing/2014/main" id="{5B2D6D69-5E23-458D-88EC-5B842F2B746E}"/>
              </a:ext>
            </a:extLst>
          </p:cNvPr>
          <p:cNvSpPr txBox="1"/>
          <p:nvPr/>
        </p:nvSpPr>
        <p:spPr>
          <a:xfrm>
            <a:off x="8490991" y="6643189"/>
            <a:ext cx="2992582" cy="123111"/>
          </a:xfrm>
          <a:prstGeom prst="rect">
            <a:avLst/>
          </a:prstGeom>
          <a:noFill/>
        </p:spPr>
        <p:txBody>
          <a:bodyPr wrap="square" lIns="0" tIns="0" rIns="0" bIns="0" rtlCol="0">
            <a:spAutoFit/>
          </a:bodyPr>
          <a:lstStyle/>
          <a:p>
            <a:pPr>
              <a:spcBef>
                <a:spcPts val="600"/>
              </a:spcBef>
              <a:buSzPct val="100000"/>
            </a:pPr>
            <a:r>
              <a:rPr lang="en-US" sz="800" i="1" dirty="0">
                <a:solidFill>
                  <a:srgbClr val="313131"/>
                </a:solidFill>
              </a:rPr>
              <a:t>Source: WBERC Tariff and APR Orders for WBSETCL</a:t>
            </a:r>
          </a:p>
        </p:txBody>
      </p:sp>
      <p:graphicFrame>
        <p:nvGraphicFramePr>
          <p:cNvPr id="4" name="Chart 3">
            <a:extLst>
              <a:ext uri="{FF2B5EF4-FFF2-40B4-BE49-F238E27FC236}">
                <a16:creationId xmlns:a16="http://schemas.microsoft.com/office/drawing/2014/main" id="{812079E3-368B-4CF2-9146-5C0103FC9442}"/>
              </a:ext>
            </a:extLst>
          </p:cNvPr>
          <p:cNvGraphicFramePr/>
          <p:nvPr/>
        </p:nvGraphicFramePr>
        <p:xfrm>
          <a:off x="916577" y="1123019"/>
          <a:ext cx="10590895" cy="5352199"/>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a:extLst>
              <a:ext uri="{FF2B5EF4-FFF2-40B4-BE49-F238E27FC236}">
                <a16:creationId xmlns:a16="http://schemas.microsoft.com/office/drawing/2014/main" id="{EC2C6255-232B-4700-B06D-BB78AD69A37C}"/>
              </a:ext>
            </a:extLst>
          </p:cNvPr>
          <p:cNvSpPr txBox="1"/>
          <p:nvPr/>
        </p:nvSpPr>
        <p:spPr>
          <a:xfrm rot="16200000">
            <a:off x="137942" y="2688974"/>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004F59"/>
                </a:solidFill>
              </a:rPr>
              <a:t>Tariff Order</a:t>
            </a:r>
          </a:p>
        </p:txBody>
      </p:sp>
      <p:sp>
        <p:nvSpPr>
          <p:cNvPr id="133" name="TextBox 132">
            <a:extLst>
              <a:ext uri="{FF2B5EF4-FFF2-40B4-BE49-F238E27FC236}">
                <a16:creationId xmlns:a16="http://schemas.microsoft.com/office/drawing/2014/main" id="{E33F1CDE-DB30-4E95-A582-E2EA6F29397D}"/>
              </a:ext>
            </a:extLst>
          </p:cNvPr>
          <p:cNvSpPr txBox="1"/>
          <p:nvPr/>
        </p:nvSpPr>
        <p:spPr>
          <a:xfrm rot="16200000">
            <a:off x="137942" y="5104708"/>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046A38"/>
                </a:solidFill>
              </a:rPr>
              <a:t>APR Order</a:t>
            </a:r>
          </a:p>
        </p:txBody>
      </p:sp>
      <p:sp>
        <p:nvSpPr>
          <p:cNvPr id="13" name="TextBox 12">
            <a:extLst>
              <a:ext uri="{FF2B5EF4-FFF2-40B4-BE49-F238E27FC236}">
                <a16:creationId xmlns:a16="http://schemas.microsoft.com/office/drawing/2014/main" id="{6A3BE998-4558-4F6C-AC0F-3592D4AAA098}"/>
              </a:ext>
            </a:extLst>
          </p:cNvPr>
          <p:cNvSpPr txBox="1"/>
          <p:nvPr/>
        </p:nvSpPr>
        <p:spPr>
          <a:xfrm>
            <a:off x="1213189"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‘11</a:t>
            </a:r>
          </a:p>
        </p:txBody>
      </p:sp>
      <p:sp>
        <p:nvSpPr>
          <p:cNvPr id="136" name="TextBox 135">
            <a:extLst>
              <a:ext uri="{FF2B5EF4-FFF2-40B4-BE49-F238E27FC236}">
                <a16:creationId xmlns:a16="http://schemas.microsoft.com/office/drawing/2014/main" id="{3F6084D9-0AB2-4479-BB1A-757060EB350C}"/>
              </a:ext>
            </a:extLst>
          </p:cNvPr>
          <p:cNvSpPr txBox="1"/>
          <p:nvPr/>
        </p:nvSpPr>
        <p:spPr>
          <a:xfrm>
            <a:off x="2003008"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‘12</a:t>
            </a:r>
          </a:p>
        </p:txBody>
      </p:sp>
      <p:sp>
        <p:nvSpPr>
          <p:cNvPr id="138" name="TextBox 137">
            <a:extLst>
              <a:ext uri="{FF2B5EF4-FFF2-40B4-BE49-F238E27FC236}">
                <a16:creationId xmlns:a16="http://schemas.microsoft.com/office/drawing/2014/main" id="{618D1047-9BE1-444B-B9D5-00F367571CCE}"/>
              </a:ext>
            </a:extLst>
          </p:cNvPr>
          <p:cNvSpPr txBox="1"/>
          <p:nvPr/>
        </p:nvSpPr>
        <p:spPr>
          <a:xfrm>
            <a:off x="3582646"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‘14</a:t>
            </a:r>
          </a:p>
        </p:txBody>
      </p:sp>
      <p:sp>
        <p:nvSpPr>
          <p:cNvPr id="139" name="TextBox 138">
            <a:extLst>
              <a:ext uri="{FF2B5EF4-FFF2-40B4-BE49-F238E27FC236}">
                <a16:creationId xmlns:a16="http://schemas.microsoft.com/office/drawing/2014/main" id="{B9936937-B4AA-4B20-B221-968D1B23A731}"/>
              </a:ext>
            </a:extLst>
          </p:cNvPr>
          <p:cNvSpPr txBox="1"/>
          <p:nvPr/>
        </p:nvSpPr>
        <p:spPr>
          <a:xfrm>
            <a:off x="4372465"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‘15</a:t>
            </a:r>
          </a:p>
        </p:txBody>
      </p:sp>
      <p:sp>
        <p:nvSpPr>
          <p:cNvPr id="140" name="TextBox 139">
            <a:extLst>
              <a:ext uri="{FF2B5EF4-FFF2-40B4-BE49-F238E27FC236}">
                <a16:creationId xmlns:a16="http://schemas.microsoft.com/office/drawing/2014/main" id="{AC378D09-DC24-4D49-ADCE-4797A05DAA1F}"/>
              </a:ext>
            </a:extLst>
          </p:cNvPr>
          <p:cNvSpPr txBox="1"/>
          <p:nvPr/>
        </p:nvSpPr>
        <p:spPr>
          <a:xfrm>
            <a:off x="2792827"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‘13</a:t>
            </a:r>
          </a:p>
        </p:txBody>
      </p:sp>
      <p:sp>
        <p:nvSpPr>
          <p:cNvPr id="141" name="TextBox 140">
            <a:extLst>
              <a:ext uri="{FF2B5EF4-FFF2-40B4-BE49-F238E27FC236}">
                <a16:creationId xmlns:a16="http://schemas.microsoft.com/office/drawing/2014/main" id="{0B0A1408-693F-43D0-80AC-08A6D4E0FB7A}"/>
              </a:ext>
            </a:extLst>
          </p:cNvPr>
          <p:cNvSpPr txBox="1"/>
          <p:nvPr/>
        </p:nvSpPr>
        <p:spPr>
          <a:xfrm>
            <a:off x="5952103"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‘17</a:t>
            </a:r>
          </a:p>
        </p:txBody>
      </p:sp>
      <p:sp>
        <p:nvSpPr>
          <p:cNvPr id="142" name="TextBox 141">
            <a:extLst>
              <a:ext uri="{FF2B5EF4-FFF2-40B4-BE49-F238E27FC236}">
                <a16:creationId xmlns:a16="http://schemas.microsoft.com/office/drawing/2014/main" id="{669BB046-85B4-489C-A194-90540E180BB0}"/>
              </a:ext>
            </a:extLst>
          </p:cNvPr>
          <p:cNvSpPr txBox="1"/>
          <p:nvPr/>
        </p:nvSpPr>
        <p:spPr>
          <a:xfrm>
            <a:off x="6741922"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‘18</a:t>
            </a:r>
          </a:p>
        </p:txBody>
      </p:sp>
      <p:sp>
        <p:nvSpPr>
          <p:cNvPr id="143" name="TextBox 142">
            <a:extLst>
              <a:ext uri="{FF2B5EF4-FFF2-40B4-BE49-F238E27FC236}">
                <a16:creationId xmlns:a16="http://schemas.microsoft.com/office/drawing/2014/main" id="{69A4A90C-D99B-4B9D-902F-77F95C13F9EB}"/>
              </a:ext>
            </a:extLst>
          </p:cNvPr>
          <p:cNvSpPr txBox="1"/>
          <p:nvPr/>
        </p:nvSpPr>
        <p:spPr>
          <a:xfrm>
            <a:off x="5162284"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‘16</a:t>
            </a:r>
          </a:p>
        </p:txBody>
      </p:sp>
      <p:sp>
        <p:nvSpPr>
          <p:cNvPr id="144" name="TextBox 143">
            <a:extLst>
              <a:ext uri="{FF2B5EF4-FFF2-40B4-BE49-F238E27FC236}">
                <a16:creationId xmlns:a16="http://schemas.microsoft.com/office/drawing/2014/main" id="{743CE329-C629-452E-8D22-3EC8EB5BD2BA}"/>
              </a:ext>
            </a:extLst>
          </p:cNvPr>
          <p:cNvSpPr txBox="1"/>
          <p:nvPr/>
        </p:nvSpPr>
        <p:spPr>
          <a:xfrm>
            <a:off x="8321560"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‘20</a:t>
            </a:r>
          </a:p>
        </p:txBody>
      </p:sp>
      <p:sp>
        <p:nvSpPr>
          <p:cNvPr id="145" name="TextBox 144">
            <a:extLst>
              <a:ext uri="{FF2B5EF4-FFF2-40B4-BE49-F238E27FC236}">
                <a16:creationId xmlns:a16="http://schemas.microsoft.com/office/drawing/2014/main" id="{957251C0-444A-4483-98B5-93355A0030E3}"/>
              </a:ext>
            </a:extLst>
          </p:cNvPr>
          <p:cNvSpPr txBox="1"/>
          <p:nvPr/>
        </p:nvSpPr>
        <p:spPr>
          <a:xfrm>
            <a:off x="9111379"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‘21</a:t>
            </a:r>
          </a:p>
        </p:txBody>
      </p:sp>
      <p:sp>
        <p:nvSpPr>
          <p:cNvPr id="146" name="TextBox 145">
            <a:extLst>
              <a:ext uri="{FF2B5EF4-FFF2-40B4-BE49-F238E27FC236}">
                <a16:creationId xmlns:a16="http://schemas.microsoft.com/office/drawing/2014/main" id="{F6266621-DF87-4803-9744-DD900E801906}"/>
              </a:ext>
            </a:extLst>
          </p:cNvPr>
          <p:cNvSpPr txBox="1"/>
          <p:nvPr/>
        </p:nvSpPr>
        <p:spPr>
          <a:xfrm>
            <a:off x="7531741" y="6215749"/>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‘19</a:t>
            </a:r>
          </a:p>
        </p:txBody>
      </p:sp>
      <p:sp>
        <p:nvSpPr>
          <p:cNvPr id="147" name="TextBox 146">
            <a:extLst>
              <a:ext uri="{FF2B5EF4-FFF2-40B4-BE49-F238E27FC236}">
                <a16:creationId xmlns:a16="http://schemas.microsoft.com/office/drawing/2014/main" id="{41D7B9A0-0CC6-4587-9E18-9FE1970196CF}"/>
              </a:ext>
            </a:extLst>
          </p:cNvPr>
          <p:cNvSpPr txBox="1"/>
          <p:nvPr/>
        </p:nvSpPr>
        <p:spPr>
          <a:xfrm>
            <a:off x="9901198"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‘22</a:t>
            </a:r>
          </a:p>
        </p:txBody>
      </p:sp>
      <p:sp>
        <p:nvSpPr>
          <p:cNvPr id="149" name="TextBox 148">
            <a:extLst>
              <a:ext uri="{FF2B5EF4-FFF2-40B4-BE49-F238E27FC236}">
                <a16:creationId xmlns:a16="http://schemas.microsoft.com/office/drawing/2014/main" id="{567531B4-5328-4329-A6AB-C325B4CB0093}"/>
              </a:ext>
            </a:extLst>
          </p:cNvPr>
          <p:cNvSpPr txBox="1"/>
          <p:nvPr/>
        </p:nvSpPr>
        <p:spPr>
          <a:xfrm>
            <a:off x="10691020" y="6215748"/>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‘23</a:t>
            </a:r>
          </a:p>
        </p:txBody>
      </p:sp>
      <p:sp>
        <p:nvSpPr>
          <p:cNvPr id="31" name="TextBox 30">
            <a:extLst>
              <a:ext uri="{FF2B5EF4-FFF2-40B4-BE49-F238E27FC236}">
                <a16:creationId xmlns:a16="http://schemas.microsoft.com/office/drawing/2014/main" id="{02FA9DCC-BBDF-467B-AB0E-6746C1444AF9}"/>
              </a:ext>
            </a:extLst>
          </p:cNvPr>
          <p:cNvSpPr txBox="1"/>
          <p:nvPr/>
        </p:nvSpPr>
        <p:spPr>
          <a:xfrm>
            <a:off x="4801656" y="4712851"/>
            <a:ext cx="3456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703 days</a:t>
            </a:r>
          </a:p>
        </p:txBody>
      </p:sp>
      <p:sp>
        <p:nvSpPr>
          <p:cNvPr id="32" name="TextBox 31">
            <a:extLst>
              <a:ext uri="{FF2B5EF4-FFF2-40B4-BE49-F238E27FC236}">
                <a16:creationId xmlns:a16="http://schemas.microsoft.com/office/drawing/2014/main" id="{EFC4A76A-3E42-42F7-A9F6-453847625CE5}"/>
              </a:ext>
            </a:extLst>
          </p:cNvPr>
          <p:cNvSpPr txBox="1"/>
          <p:nvPr/>
        </p:nvSpPr>
        <p:spPr>
          <a:xfrm>
            <a:off x="4811816" y="5027811"/>
            <a:ext cx="3456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338 days</a:t>
            </a:r>
          </a:p>
        </p:txBody>
      </p:sp>
      <p:sp>
        <p:nvSpPr>
          <p:cNvPr id="33" name="TextBox 32">
            <a:extLst>
              <a:ext uri="{FF2B5EF4-FFF2-40B4-BE49-F238E27FC236}">
                <a16:creationId xmlns:a16="http://schemas.microsoft.com/office/drawing/2014/main" id="{CE5B77D7-6853-4E52-B7C2-C072CC83FC92}"/>
              </a:ext>
            </a:extLst>
          </p:cNvPr>
          <p:cNvSpPr txBox="1"/>
          <p:nvPr/>
        </p:nvSpPr>
        <p:spPr>
          <a:xfrm>
            <a:off x="9379168" y="5238367"/>
            <a:ext cx="2145905" cy="338554"/>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2087 days</a:t>
            </a:r>
          </a:p>
        </p:txBody>
      </p:sp>
      <p:sp>
        <p:nvSpPr>
          <p:cNvPr id="34" name="TextBox 33">
            <a:extLst>
              <a:ext uri="{FF2B5EF4-FFF2-40B4-BE49-F238E27FC236}">
                <a16:creationId xmlns:a16="http://schemas.microsoft.com/office/drawing/2014/main" id="{035C5BA4-8C44-4278-848A-53BA1B35ABB2}"/>
              </a:ext>
            </a:extLst>
          </p:cNvPr>
          <p:cNvSpPr txBox="1"/>
          <p:nvPr/>
        </p:nvSpPr>
        <p:spPr>
          <a:xfrm>
            <a:off x="9808734" y="5645825"/>
            <a:ext cx="1465682" cy="338554"/>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(amount yet to be released)</a:t>
            </a:r>
          </a:p>
        </p:txBody>
      </p:sp>
      <p:grpSp>
        <p:nvGrpSpPr>
          <p:cNvPr id="35" name="Group 34">
            <a:extLst>
              <a:ext uri="{FF2B5EF4-FFF2-40B4-BE49-F238E27FC236}">
                <a16:creationId xmlns:a16="http://schemas.microsoft.com/office/drawing/2014/main" id="{32E924D8-4D3E-4E9D-B5CC-BC647232EE6D}"/>
              </a:ext>
            </a:extLst>
          </p:cNvPr>
          <p:cNvGrpSpPr/>
          <p:nvPr/>
        </p:nvGrpSpPr>
        <p:grpSpPr>
          <a:xfrm>
            <a:off x="8489410" y="1315638"/>
            <a:ext cx="2920998" cy="1209850"/>
            <a:chOff x="8617860" y="1239436"/>
            <a:chExt cx="2920998" cy="1209850"/>
          </a:xfrm>
        </p:grpSpPr>
        <p:sp>
          <p:nvSpPr>
            <p:cNvPr id="38" name="Rectangle: Rounded Corners 37">
              <a:extLst>
                <a:ext uri="{FF2B5EF4-FFF2-40B4-BE49-F238E27FC236}">
                  <a16:creationId xmlns:a16="http://schemas.microsoft.com/office/drawing/2014/main" id="{572087B3-434E-4F01-BA3A-C5EEE25DD925}"/>
                </a:ext>
              </a:extLst>
            </p:cNvPr>
            <p:cNvSpPr/>
            <p:nvPr/>
          </p:nvSpPr>
          <p:spPr bwMode="gray">
            <a:xfrm>
              <a:off x="8617860" y="1239436"/>
              <a:ext cx="2920998" cy="1209850"/>
            </a:xfrm>
            <a:prstGeom prst="roundRect">
              <a:avLst>
                <a:gd name="adj" fmla="val 9717"/>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cxnSp>
          <p:nvCxnSpPr>
            <p:cNvPr id="39" name="Straight Connector 38">
              <a:extLst>
                <a:ext uri="{FF2B5EF4-FFF2-40B4-BE49-F238E27FC236}">
                  <a16:creationId xmlns:a16="http://schemas.microsoft.com/office/drawing/2014/main" id="{4013FF32-F06C-4756-8983-3F37A25AFC63}"/>
                </a:ext>
              </a:extLst>
            </p:cNvPr>
            <p:cNvCxnSpPr/>
            <p:nvPr/>
          </p:nvCxnSpPr>
          <p:spPr>
            <a:xfrm>
              <a:off x="8795940" y="1381215"/>
              <a:ext cx="0" cy="170107"/>
            </a:xfrm>
            <a:prstGeom prst="line">
              <a:avLst/>
            </a:prstGeom>
            <a:ln w="57150">
              <a:solidFill>
                <a:srgbClr val="43B02A"/>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395D439-8AE2-4929-B167-9E840727ED47}"/>
                </a:ext>
              </a:extLst>
            </p:cNvPr>
            <p:cNvSpPr txBox="1"/>
            <p:nvPr/>
          </p:nvSpPr>
          <p:spPr>
            <a:xfrm>
              <a:off x="8892648" y="1390169"/>
              <a:ext cx="2376000" cy="139223"/>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Notional date for Order issuance</a:t>
              </a:r>
            </a:p>
          </p:txBody>
        </p:sp>
        <p:cxnSp>
          <p:nvCxnSpPr>
            <p:cNvPr id="42" name="Straight Connector 41">
              <a:extLst>
                <a:ext uri="{FF2B5EF4-FFF2-40B4-BE49-F238E27FC236}">
                  <a16:creationId xmlns:a16="http://schemas.microsoft.com/office/drawing/2014/main" id="{9B8195AA-CC4C-4B18-9CA8-71291475240B}"/>
                </a:ext>
              </a:extLst>
            </p:cNvPr>
            <p:cNvCxnSpPr/>
            <p:nvPr/>
          </p:nvCxnSpPr>
          <p:spPr>
            <a:xfrm>
              <a:off x="8795940" y="1639859"/>
              <a:ext cx="0" cy="170107"/>
            </a:xfrm>
            <a:prstGeom prst="line">
              <a:avLst/>
            </a:prstGeom>
            <a:ln w="57150">
              <a:solidFill>
                <a:srgbClr val="01216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B47AA38-F65E-4DBA-B238-12BF87980DC4}"/>
                </a:ext>
              </a:extLst>
            </p:cNvPr>
            <p:cNvSpPr txBox="1"/>
            <p:nvPr/>
          </p:nvSpPr>
          <p:spPr>
            <a:xfrm>
              <a:off x="8892648" y="1648813"/>
              <a:ext cx="2376000" cy="139223"/>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Actual Order issuance date</a:t>
              </a:r>
            </a:p>
          </p:txBody>
        </p:sp>
        <p:sp>
          <p:nvSpPr>
            <p:cNvPr id="44" name="Rectangle 43">
              <a:extLst>
                <a:ext uri="{FF2B5EF4-FFF2-40B4-BE49-F238E27FC236}">
                  <a16:creationId xmlns:a16="http://schemas.microsoft.com/office/drawing/2014/main" id="{58A8496D-7F7C-4556-8933-4A67139CC0DC}"/>
                </a:ext>
              </a:extLst>
            </p:cNvPr>
            <p:cNvSpPr/>
            <p:nvPr/>
          </p:nvSpPr>
          <p:spPr bwMode="gray">
            <a:xfrm>
              <a:off x="8766259" y="2170701"/>
              <a:ext cx="356134" cy="170107"/>
            </a:xfrm>
            <a:prstGeom prst="rect">
              <a:avLst/>
            </a:prstGeom>
            <a:pattFill prst="ltDnDiag">
              <a:fgClr>
                <a:schemeClr val="bg1">
                  <a:lumMod val="50000"/>
                </a:schemeClr>
              </a:fgClr>
              <a:bgClr>
                <a:schemeClr val="bg1"/>
              </a:bgClr>
            </a:pattFill>
            <a:ln w="19050" algn="ctr">
              <a:solidFill>
                <a:schemeClr val="bg1">
                  <a:lumMod val="8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sp>
          <p:nvSpPr>
            <p:cNvPr id="45" name="TextBox 44">
              <a:extLst>
                <a:ext uri="{FF2B5EF4-FFF2-40B4-BE49-F238E27FC236}">
                  <a16:creationId xmlns:a16="http://schemas.microsoft.com/office/drawing/2014/main" id="{AAB7E21F-2495-4C70-BFC1-C04D697C428D}"/>
                </a:ext>
              </a:extLst>
            </p:cNvPr>
            <p:cNvSpPr txBox="1"/>
            <p:nvPr/>
          </p:nvSpPr>
          <p:spPr>
            <a:xfrm>
              <a:off x="9235366" y="2167496"/>
              <a:ext cx="2052000"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Delay (in days)</a:t>
              </a:r>
            </a:p>
          </p:txBody>
        </p:sp>
        <p:cxnSp>
          <p:nvCxnSpPr>
            <p:cNvPr id="46" name="Straight Connector 45">
              <a:extLst>
                <a:ext uri="{FF2B5EF4-FFF2-40B4-BE49-F238E27FC236}">
                  <a16:creationId xmlns:a16="http://schemas.microsoft.com/office/drawing/2014/main" id="{B010AF46-D74D-45EB-AEC8-FBDFBE3DE6CB}"/>
                </a:ext>
              </a:extLst>
            </p:cNvPr>
            <p:cNvCxnSpPr/>
            <p:nvPr/>
          </p:nvCxnSpPr>
          <p:spPr>
            <a:xfrm>
              <a:off x="8795940" y="1900872"/>
              <a:ext cx="0" cy="170107"/>
            </a:xfrm>
            <a:prstGeom prst="line">
              <a:avLst/>
            </a:prstGeom>
            <a:ln w="57150">
              <a:solidFill>
                <a:srgbClr val="00ABAB"/>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CD15BD0F-5AEE-4C07-81E0-B55B1770580D}"/>
                </a:ext>
              </a:extLst>
            </p:cNvPr>
            <p:cNvSpPr txBox="1"/>
            <p:nvPr/>
          </p:nvSpPr>
          <p:spPr>
            <a:xfrm>
              <a:off x="8892648" y="1909826"/>
              <a:ext cx="2376000"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APR/FPPCA amount release date</a:t>
              </a:r>
            </a:p>
          </p:txBody>
        </p:sp>
      </p:grpSp>
      <p:sp>
        <p:nvSpPr>
          <p:cNvPr id="48" name="TextBox 47">
            <a:extLst>
              <a:ext uri="{FF2B5EF4-FFF2-40B4-BE49-F238E27FC236}">
                <a16:creationId xmlns:a16="http://schemas.microsoft.com/office/drawing/2014/main" id="{1DAF39C2-E317-42BC-B296-E5CD7EA14960}"/>
              </a:ext>
            </a:extLst>
          </p:cNvPr>
          <p:cNvSpPr txBox="1"/>
          <p:nvPr/>
        </p:nvSpPr>
        <p:spPr>
          <a:xfrm rot="16200000">
            <a:off x="10579157" y="2688438"/>
            <a:ext cx="2645862" cy="369332"/>
          </a:xfrm>
          <a:prstGeom prst="rect">
            <a:avLst/>
          </a:prstGeom>
          <a:noFill/>
        </p:spPr>
        <p:txBody>
          <a:bodyPr wrap="square" lIns="0" tIns="0" rIns="0" bIns="0" rtlCol="0">
            <a:spAutoFit/>
          </a:bodyPr>
          <a:lstStyle/>
          <a:p>
            <a:pPr algn="ctr">
              <a:buSzPct val="100000"/>
            </a:pPr>
            <a:r>
              <a:rPr lang="en-US" sz="1200" b="1" dirty="0">
                <a:solidFill>
                  <a:srgbClr val="004F59"/>
                </a:solidFill>
              </a:rPr>
              <a:t>Avg. delay in Tariff order issuance: </a:t>
            </a:r>
            <a:r>
              <a:rPr lang="en-IN" sz="1200" b="1" dirty="0">
                <a:solidFill>
                  <a:srgbClr val="004F59"/>
                </a:solidFill>
              </a:rPr>
              <a:t>429 days</a:t>
            </a:r>
            <a:endParaRPr lang="en-US" sz="1200" b="1" dirty="0">
              <a:solidFill>
                <a:srgbClr val="004F59"/>
              </a:solidFill>
            </a:endParaRPr>
          </a:p>
        </p:txBody>
      </p:sp>
      <p:sp>
        <p:nvSpPr>
          <p:cNvPr id="49" name="Right Brace 48">
            <a:extLst>
              <a:ext uri="{FF2B5EF4-FFF2-40B4-BE49-F238E27FC236}">
                <a16:creationId xmlns:a16="http://schemas.microsoft.com/office/drawing/2014/main" id="{679CA51E-908C-4BB2-B060-857E6DC9D423}"/>
              </a:ext>
            </a:extLst>
          </p:cNvPr>
          <p:cNvSpPr/>
          <p:nvPr/>
        </p:nvSpPr>
        <p:spPr>
          <a:xfrm>
            <a:off x="11548112" y="1323953"/>
            <a:ext cx="142240" cy="3099374"/>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TextBox 49">
            <a:extLst>
              <a:ext uri="{FF2B5EF4-FFF2-40B4-BE49-F238E27FC236}">
                <a16:creationId xmlns:a16="http://schemas.microsoft.com/office/drawing/2014/main" id="{FA2CDE64-78EF-4C5D-90AC-B7DC8A373409}"/>
              </a:ext>
            </a:extLst>
          </p:cNvPr>
          <p:cNvSpPr txBox="1"/>
          <p:nvPr/>
        </p:nvSpPr>
        <p:spPr>
          <a:xfrm rot="16200000">
            <a:off x="10699424" y="5187882"/>
            <a:ext cx="2405329" cy="369332"/>
          </a:xfrm>
          <a:prstGeom prst="rect">
            <a:avLst/>
          </a:prstGeom>
          <a:noFill/>
        </p:spPr>
        <p:txBody>
          <a:bodyPr wrap="square" lIns="0" tIns="0" rIns="0" bIns="0" rtlCol="0">
            <a:spAutoFit/>
          </a:bodyPr>
          <a:lstStyle/>
          <a:p>
            <a:pPr algn="ctr">
              <a:buSzPct val="100000"/>
            </a:pPr>
            <a:r>
              <a:rPr lang="en-US" sz="1200" b="1" dirty="0">
                <a:solidFill>
                  <a:schemeClr val="accent3">
                    <a:lumMod val="75000"/>
                  </a:schemeClr>
                </a:solidFill>
              </a:rPr>
              <a:t>Avg. delay in APR order issuance: </a:t>
            </a:r>
            <a:r>
              <a:rPr lang="en-IN" sz="1200" b="1" dirty="0">
                <a:solidFill>
                  <a:schemeClr val="accent3">
                    <a:lumMod val="75000"/>
                  </a:schemeClr>
                </a:solidFill>
              </a:rPr>
              <a:t>1022 days</a:t>
            </a:r>
            <a:endParaRPr lang="en-US" sz="1200" b="1" dirty="0">
              <a:solidFill>
                <a:schemeClr val="accent3">
                  <a:lumMod val="75000"/>
                </a:schemeClr>
              </a:solidFill>
            </a:endParaRPr>
          </a:p>
        </p:txBody>
      </p:sp>
      <p:sp>
        <p:nvSpPr>
          <p:cNvPr id="51" name="Right Brace 50">
            <a:extLst>
              <a:ext uri="{FF2B5EF4-FFF2-40B4-BE49-F238E27FC236}">
                <a16:creationId xmlns:a16="http://schemas.microsoft.com/office/drawing/2014/main" id="{EFF7D028-2AA7-42CB-A3DD-FFCCA341191C}"/>
              </a:ext>
            </a:extLst>
          </p:cNvPr>
          <p:cNvSpPr/>
          <p:nvPr/>
        </p:nvSpPr>
        <p:spPr>
          <a:xfrm>
            <a:off x="11548112" y="4509243"/>
            <a:ext cx="142240" cy="160661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a:extLst>
              <a:ext uri="{FF2B5EF4-FFF2-40B4-BE49-F238E27FC236}">
                <a16:creationId xmlns:a16="http://schemas.microsoft.com/office/drawing/2014/main" id="{2181B8FF-F0DA-4444-BD70-90D4FDEDC2AF}"/>
              </a:ext>
            </a:extLst>
          </p:cNvPr>
          <p:cNvSpPr txBox="1"/>
          <p:nvPr/>
        </p:nvSpPr>
        <p:spPr>
          <a:xfrm>
            <a:off x="9134787" y="4509752"/>
            <a:ext cx="2251421" cy="626701"/>
          </a:xfrm>
          <a:prstGeom prst="rect">
            <a:avLst/>
          </a:prstGeom>
          <a:noFill/>
          <a:ln>
            <a:solidFill>
              <a:srgbClr val="003E58"/>
            </a:solidFill>
            <a:prstDash val="dash"/>
          </a:ln>
        </p:spPr>
        <p:txBody>
          <a:bodyPr wrap="square" lIns="36000" tIns="36000" rIns="36000" bIns="36000" rtlCol="0" anchor="ctr" anchorCtr="0">
            <a:spAutoFit/>
          </a:bodyPr>
          <a:lstStyle/>
          <a:p>
            <a:pPr>
              <a:spcBef>
                <a:spcPts val="600"/>
              </a:spcBef>
              <a:buSzPct val="100000"/>
            </a:pPr>
            <a:r>
              <a:rPr lang="en-US" sz="1200" i="1" dirty="0">
                <a:solidFill>
                  <a:srgbClr val="313131"/>
                </a:solidFill>
              </a:rPr>
              <a:t>APR Orders for WBSETCL have not been issued from FY 16 onwards</a:t>
            </a:r>
          </a:p>
        </p:txBody>
      </p:sp>
    </p:spTree>
    <p:extLst>
      <p:ext uri="{BB962C8B-B14F-4D97-AF65-F5344CB8AC3E}">
        <p14:creationId xmlns:p14="http://schemas.microsoft.com/office/powerpoint/2010/main" val="1471946562"/>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368299"/>
          </a:xfrm>
        </p:spPr>
        <p:txBody>
          <a:bodyPr vert="horz"/>
          <a:lstStyle/>
          <a:p>
            <a:pPr algn="just"/>
            <a:r>
              <a:rPr lang="en-US" sz="1800" b="0" i="0" dirty="0">
                <a:solidFill>
                  <a:schemeClr val="accent1"/>
                </a:solidFill>
              </a:rPr>
              <a:t>WBSEDCL:</a:t>
            </a:r>
            <a:r>
              <a:rPr lang="en-US" sz="1800" b="0" i="0" dirty="0">
                <a:solidFill>
                  <a:schemeClr val="tx1"/>
                </a:solidFill>
              </a:rPr>
              <a:t> Historically there has been significant delay in issuance of Tariff/APR/FPPCA Orders and release of admitted APR/FPPCA amounts; APR/FPPCA orders from FY 19 onwards have not been issued</a:t>
            </a:r>
          </a:p>
        </p:txBody>
      </p:sp>
      <p:sp>
        <p:nvSpPr>
          <p:cNvPr id="41" name="TextBox 40">
            <a:extLst>
              <a:ext uri="{FF2B5EF4-FFF2-40B4-BE49-F238E27FC236}">
                <a16:creationId xmlns:a16="http://schemas.microsoft.com/office/drawing/2014/main" id="{5B2D6D69-5E23-458D-88EC-5B842F2B746E}"/>
              </a:ext>
            </a:extLst>
          </p:cNvPr>
          <p:cNvSpPr txBox="1"/>
          <p:nvPr/>
        </p:nvSpPr>
        <p:spPr>
          <a:xfrm>
            <a:off x="8341362" y="6622869"/>
            <a:ext cx="3291840" cy="123111"/>
          </a:xfrm>
          <a:prstGeom prst="rect">
            <a:avLst/>
          </a:prstGeom>
          <a:noFill/>
        </p:spPr>
        <p:txBody>
          <a:bodyPr wrap="square" lIns="0" tIns="0" rIns="0" bIns="0" rtlCol="0">
            <a:spAutoFit/>
          </a:bodyPr>
          <a:lstStyle/>
          <a:p>
            <a:pPr>
              <a:spcBef>
                <a:spcPts val="600"/>
              </a:spcBef>
              <a:buSzPct val="100000"/>
            </a:pPr>
            <a:r>
              <a:rPr lang="en-US" sz="800" i="1" dirty="0">
                <a:solidFill>
                  <a:srgbClr val="313131"/>
                </a:solidFill>
              </a:rPr>
              <a:t>Source: WBERC Tariff, APR and FPPCA Orders for WBSEDCL</a:t>
            </a:r>
          </a:p>
        </p:txBody>
      </p:sp>
      <p:sp>
        <p:nvSpPr>
          <p:cNvPr id="8" name="TextBox 7">
            <a:extLst>
              <a:ext uri="{FF2B5EF4-FFF2-40B4-BE49-F238E27FC236}">
                <a16:creationId xmlns:a16="http://schemas.microsoft.com/office/drawing/2014/main" id="{EC2C6255-232B-4700-B06D-BB78AD69A37C}"/>
              </a:ext>
            </a:extLst>
          </p:cNvPr>
          <p:cNvSpPr txBox="1"/>
          <p:nvPr/>
        </p:nvSpPr>
        <p:spPr>
          <a:xfrm rot="16200000">
            <a:off x="137944" y="2108899"/>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004F59"/>
                </a:solidFill>
              </a:rPr>
              <a:t>Tariff Order</a:t>
            </a:r>
          </a:p>
        </p:txBody>
      </p:sp>
      <p:sp>
        <p:nvSpPr>
          <p:cNvPr id="133" name="TextBox 132">
            <a:extLst>
              <a:ext uri="{FF2B5EF4-FFF2-40B4-BE49-F238E27FC236}">
                <a16:creationId xmlns:a16="http://schemas.microsoft.com/office/drawing/2014/main" id="{E33F1CDE-DB30-4E95-A582-E2EA6F29397D}"/>
              </a:ext>
            </a:extLst>
          </p:cNvPr>
          <p:cNvSpPr txBox="1"/>
          <p:nvPr/>
        </p:nvSpPr>
        <p:spPr>
          <a:xfrm rot="16200000">
            <a:off x="137943" y="4048449"/>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046A38"/>
                </a:solidFill>
              </a:rPr>
              <a:t>APR Order</a:t>
            </a:r>
          </a:p>
        </p:txBody>
      </p:sp>
      <p:sp>
        <p:nvSpPr>
          <p:cNvPr id="134" name="TextBox 133">
            <a:extLst>
              <a:ext uri="{FF2B5EF4-FFF2-40B4-BE49-F238E27FC236}">
                <a16:creationId xmlns:a16="http://schemas.microsoft.com/office/drawing/2014/main" id="{6EE22FA0-55AE-48F0-8E89-E537765FA1AE}"/>
              </a:ext>
            </a:extLst>
          </p:cNvPr>
          <p:cNvSpPr txBox="1"/>
          <p:nvPr/>
        </p:nvSpPr>
        <p:spPr>
          <a:xfrm rot="16200000">
            <a:off x="137943" y="5404380"/>
            <a:ext cx="631983" cy="369332"/>
          </a:xfrm>
          <a:prstGeom prst="rect">
            <a:avLst/>
          </a:prstGeom>
          <a:noFill/>
        </p:spPr>
        <p:txBody>
          <a:bodyPr wrap="square" lIns="0" tIns="0" rIns="0" bIns="0" rtlCol="0">
            <a:spAutoFit/>
          </a:bodyPr>
          <a:lstStyle/>
          <a:p>
            <a:pPr algn="ctr">
              <a:spcBef>
                <a:spcPts val="600"/>
              </a:spcBef>
              <a:buSzPct val="100000"/>
            </a:pPr>
            <a:r>
              <a:rPr lang="en-US" sz="1200" b="1" dirty="0">
                <a:solidFill>
                  <a:schemeClr val="accent1">
                    <a:lumMod val="50000"/>
                  </a:schemeClr>
                </a:solidFill>
              </a:rPr>
              <a:t>FPPCA Order</a:t>
            </a:r>
          </a:p>
        </p:txBody>
      </p:sp>
      <p:sp>
        <p:nvSpPr>
          <p:cNvPr id="13" name="TextBox 12">
            <a:extLst>
              <a:ext uri="{FF2B5EF4-FFF2-40B4-BE49-F238E27FC236}">
                <a16:creationId xmlns:a16="http://schemas.microsoft.com/office/drawing/2014/main" id="{6A3BE998-4558-4F6C-AC0F-3592D4AAA098}"/>
              </a:ext>
            </a:extLst>
          </p:cNvPr>
          <p:cNvSpPr txBox="1"/>
          <p:nvPr/>
        </p:nvSpPr>
        <p:spPr>
          <a:xfrm>
            <a:off x="1213189"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‘11</a:t>
            </a:r>
          </a:p>
        </p:txBody>
      </p:sp>
      <p:sp>
        <p:nvSpPr>
          <p:cNvPr id="136" name="TextBox 135">
            <a:extLst>
              <a:ext uri="{FF2B5EF4-FFF2-40B4-BE49-F238E27FC236}">
                <a16:creationId xmlns:a16="http://schemas.microsoft.com/office/drawing/2014/main" id="{3F6084D9-0AB2-4479-BB1A-757060EB350C}"/>
              </a:ext>
            </a:extLst>
          </p:cNvPr>
          <p:cNvSpPr txBox="1"/>
          <p:nvPr/>
        </p:nvSpPr>
        <p:spPr>
          <a:xfrm>
            <a:off x="2003008"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‘12</a:t>
            </a:r>
          </a:p>
        </p:txBody>
      </p:sp>
      <p:sp>
        <p:nvSpPr>
          <p:cNvPr id="138" name="TextBox 137">
            <a:extLst>
              <a:ext uri="{FF2B5EF4-FFF2-40B4-BE49-F238E27FC236}">
                <a16:creationId xmlns:a16="http://schemas.microsoft.com/office/drawing/2014/main" id="{618D1047-9BE1-444B-B9D5-00F367571CCE}"/>
              </a:ext>
            </a:extLst>
          </p:cNvPr>
          <p:cNvSpPr txBox="1"/>
          <p:nvPr/>
        </p:nvSpPr>
        <p:spPr>
          <a:xfrm>
            <a:off x="3582646"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‘14</a:t>
            </a:r>
          </a:p>
        </p:txBody>
      </p:sp>
      <p:sp>
        <p:nvSpPr>
          <p:cNvPr id="139" name="TextBox 138">
            <a:extLst>
              <a:ext uri="{FF2B5EF4-FFF2-40B4-BE49-F238E27FC236}">
                <a16:creationId xmlns:a16="http://schemas.microsoft.com/office/drawing/2014/main" id="{B9936937-B4AA-4B20-B221-968D1B23A731}"/>
              </a:ext>
            </a:extLst>
          </p:cNvPr>
          <p:cNvSpPr txBox="1"/>
          <p:nvPr/>
        </p:nvSpPr>
        <p:spPr>
          <a:xfrm>
            <a:off x="4372465"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‘15</a:t>
            </a:r>
          </a:p>
        </p:txBody>
      </p:sp>
      <p:sp>
        <p:nvSpPr>
          <p:cNvPr id="140" name="TextBox 139">
            <a:extLst>
              <a:ext uri="{FF2B5EF4-FFF2-40B4-BE49-F238E27FC236}">
                <a16:creationId xmlns:a16="http://schemas.microsoft.com/office/drawing/2014/main" id="{AC378D09-DC24-4D49-ADCE-4797A05DAA1F}"/>
              </a:ext>
            </a:extLst>
          </p:cNvPr>
          <p:cNvSpPr txBox="1"/>
          <p:nvPr/>
        </p:nvSpPr>
        <p:spPr>
          <a:xfrm>
            <a:off x="2792827"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‘13</a:t>
            </a:r>
          </a:p>
        </p:txBody>
      </p:sp>
      <p:sp>
        <p:nvSpPr>
          <p:cNvPr id="141" name="TextBox 140">
            <a:extLst>
              <a:ext uri="{FF2B5EF4-FFF2-40B4-BE49-F238E27FC236}">
                <a16:creationId xmlns:a16="http://schemas.microsoft.com/office/drawing/2014/main" id="{0B0A1408-693F-43D0-80AC-08A6D4E0FB7A}"/>
              </a:ext>
            </a:extLst>
          </p:cNvPr>
          <p:cNvSpPr txBox="1"/>
          <p:nvPr/>
        </p:nvSpPr>
        <p:spPr>
          <a:xfrm>
            <a:off x="5952103"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‘17</a:t>
            </a:r>
          </a:p>
        </p:txBody>
      </p:sp>
      <p:sp>
        <p:nvSpPr>
          <p:cNvPr id="142" name="TextBox 141">
            <a:extLst>
              <a:ext uri="{FF2B5EF4-FFF2-40B4-BE49-F238E27FC236}">
                <a16:creationId xmlns:a16="http://schemas.microsoft.com/office/drawing/2014/main" id="{669BB046-85B4-489C-A194-90540E180BB0}"/>
              </a:ext>
            </a:extLst>
          </p:cNvPr>
          <p:cNvSpPr txBox="1"/>
          <p:nvPr/>
        </p:nvSpPr>
        <p:spPr>
          <a:xfrm>
            <a:off x="6741922"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‘18</a:t>
            </a:r>
          </a:p>
        </p:txBody>
      </p:sp>
      <p:sp>
        <p:nvSpPr>
          <p:cNvPr id="143" name="TextBox 142">
            <a:extLst>
              <a:ext uri="{FF2B5EF4-FFF2-40B4-BE49-F238E27FC236}">
                <a16:creationId xmlns:a16="http://schemas.microsoft.com/office/drawing/2014/main" id="{69A4A90C-D99B-4B9D-902F-77F95C13F9EB}"/>
              </a:ext>
            </a:extLst>
          </p:cNvPr>
          <p:cNvSpPr txBox="1"/>
          <p:nvPr/>
        </p:nvSpPr>
        <p:spPr>
          <a:xfrm>
            <a:off x="5162284"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‘16</a:t>
            </a:r>
          </a:p>
        </p:txBody>
      </p:sp>
      <p:sp>
        <p:nvSpPr>
          <p:cNvPr id="144" name="TextBox 143">
            <a:extLst>
              <a:ext uri="{FF2B5EF4-FFF2-40B4-BE49-F238E27FC236}">
                <a16:creationId xmlns:a16="http://schemas.microsoft.com/office/drawing/2014/main" id="{743CE329-C629-452E-8D22-3EC8EB5BD2BA}"/>
              </a:ext>
            </a:extLst>
          </p:cNvPr>
          <p:cNvSpPr txBox="1"/>
          <p:nvPr/>
        </p:nvSpPr>
        <p:spPr>
          <a:xfrm>
            <a:off x="8321560"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‘20</a:t>
            </a:r>
          </a:p>
        </p:txBody>
      </p:sp>
      <p:sp>
        <p:nvSpPr>
          <p:cNvPr id="145" name="TextBox 144">
            <a:extLst>
              <a:ext uri="{FF2B5EF4-FFF2-40B4-BE49-F238E27FC236}">
                <a16:creationId xmlns:a16="http://schemas.microsoft.com/office/drawing/2014/main" id="{957251C0-444A-4483-98B5-93355A0030E3}"/>
              </a:ext>
            </a:extLst>
          </p:cNvPr>
          <p:cNvSpPr txBox="1"/>
          <p:nvPr/>
        </p:nvSpPr>
        <p:spPr>
          <a:xfrm>
            <a:off x="9111379"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‘21</a:t>
            </a:r>
          </a:p>
        </p:txBody>
      </p:sp>
      <p:sp>
        <p:nvSpPr>
          <p:cNvPr id="146" name="TextBox 145">
            <a:extLst>
              <a:ext uri="{FF2B5EF4-FFF2-40B4-BE49-F238E27FC236}">
                <a16:creationId xmlns:a16="http://schemas.microsoft.com/office/drawing/2014/main" id="{F6266621-DF87-4803-9744-DD900E801906}"/>
              </a:ext>
            </a:extLst>
          </p:cNvPr>
          <p:cNvSpPr txBox="1"/>
          <p:nvPr/>
        </p:nvSpPr>
        <p:spPr>
          <a:xfrm>
            <a:off x="7531741" y="6345651"/>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‘19</a:t>
            </a:r>
          </a:p>
        </p:txBody>
      </p:sp>
      <p:sp>
        <p:nvSpPr>
          <p:cNvPr id="147" name="TextBox 146">
            <a:extLst>
              <a:ext uri="{FF2B5EF4-FFF2-40B4-BE49-F238E27FC236}">
                <a16:creationId xmlns:a16="http://schemas.microsoft.com/office/drawing/2014/main" id="{41D7B9A0-0CC6-4587-9E18-9FE1970196CF}"/>
              </a:ext>
            </a:extLst>
          </p:cNvPr>
          <p:cNvSpPr txBox="1"/>
          <p:nvPr/>
        </p:nvSpPr>
        <p:spPr>
          <a:xfrm>
            <a:off x="9901198"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‘22</a:t>
            </a:r>
          </a:p>
        </p:txBody>
      </p:sp>
      <p:sp>
        <p:nvSpPr>
          <p:cNvPr id="149" name="TextBox 148">
            <a:extLst>
              <a:ext uri="{FF2B5EF4-FFF2-40B4-BE49-F238E27FC236}">
                <a16:creationId xmlns:a16="http://schemas.microsoft.com/office/drawing/2014/main" id="{567531B4-5328-4329-A6AB-C325B4CB0093}"/>
              </a:ext>
            </a:extLst>
          </p:cNvPr>
          <p:cNvSpPr txBox="1"/>
          <p:nvPr/>
        </p:nvSpPr>
        <p:spPr>
          <a:xfrm>
            <a:off x="10691020" y="6345650"/>
            <a:ext cx="647745"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Apr ‘23</a:t>
            </a:r>
          </a:p>
        </p:txBody>
      </p:sp>
      <p:sp>
        <p:nvSpPr>
          <p:cNvPr id="59" name="TextBox 58">
            <a:extLst>
              <a:ext uri="{FF2B5EF4-FFF2-40B4-BE49-F238E27FC236}">
                <a16:creationId xmlns:a16="http://schemas.microsoft.com/office/drawing/2014/main" id="{03032E26-AA24-4136-A426-736432E3C402}"/>
              </a:ext>
            </a:extLst>
          </p:cNvPr>
          <p:cNvSpPr txBox="1"/>
          <p:nvPr/>
        </p:nvSpPr>
        <p:spPr>
          <a:xfrm rot="16200000">
            <a:off x="10808757" y="2028038"/>
            <a:ext cx="2186663" cy="369332"/>
          </a:xfrm>
          <a:prstGeom prst="rect">
            <a:avLst/>
          </a:prstGeom>
          <a:noFill/>
        </p:spPr>
        <p:txBody>
          <a:bodyPr wrap="square" lIns="0" tIns="0" rIns="0" bIns="0" rtlCol="0">
            <a:spAutoFit/>
          </a:bodyPr>
          <a:lstStyle/>
          <a:p>
            <a:pPr algn="ctr">
              <a:buSzPct val="100000"/>
            </a:pPr>
            <a:r>
              <a:rPr lang="en-US" sz="1200" b="1" dirty="0">
                <a:solidFill>
                  <a:srgbClr val="004F59"/>
                </a:solidFill>
              </a:rPr>
              <a:t>Avg. delay in Tariff order issuance: </a:t>
            </a:r>
            <a:r>
              <a:rPr lang="en-IN" sz="1200" b="1" dirty="0">
                <a:solidFill>
                  <a:srgbClr val="004F59"/>
                </a:solidFill>
              </a:rPr>
              <a:t>512 days</a:t>
            </a:r>
            <a:endParaRPr lang="en-US" sz="1200" b="1" dirty="0">
              <a:solidFill>
                <a:srgbClr val="004F59"/>
              </a:solidFill>
            </a:endParaRPr>
          </a:p>
        </p:txBody>
      </p:sp>
      <p:sp>
        <p:nvSpPr>
          <p:cNvPr id="60" name="Right Brace 59">
            <a:extLst>
              <a:ext uri="{FF2B5EF4-FFF2-40B4-BE49-F238E27FC236}">
                <a16:creationId xmlns:a16="http://schemas.microsoft.com/office/drawing/2014/main" id="{2E01AF0A-E0EB-4340-9963-529C5B0F1F1D}"/>
              </a:ext>
            </a:extLst>
          </p:cNvPr>
          <p:cNvSpPr/>
          <p:nvPr/>
        </p:nvSpPr>
        <p:spPr>
          <a:xfrm>
            <a:off x="11548112" y="1134463"/>
            <a:ext cx="142240" cy="2116914"/>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TextBox 63">
            <a:extLst>
              <a:ext uri="{FF2B5EF4-FFF2-40B4-BE49-F238E27FC236}">
                <a16:creationId xmlns:a16="http://schemas.microsoft.com/office/drawing/2014/main" id="{F67C5216-0059-433D-BC1C-E8033D441751}"/>
              </a:ext>
            </a:extLst>
          </p:cNvPr>
          <p:cNvSpPr txBox="1"/>
          <p:nvPr/>
        </p:nvSpPr>
        <p:spPr>
          <a:xfrm rot="16200000">
            <a:off x="10579157" y="4547802"/>
            <a:ext cx="2645862" cy="369332"/>
          </a:xfrm>
          <a:prstGeom prst="rect">
            <a:avLst/>
          </a:prstGeom>
          <a:noFill/>
        </p:spPr>
        <p:txBody>
          <a:bodyPr wrap="square" lIns="0" tIns="0" rIns="0" bIns="0" rtlCol="0">
            <a:spAutoFit/>
          </a:bodyPr>
          <a:lstStyle/>
          <a:p>
            <a:pPr algn="ctr">
              <a:buSzPct val="100000"/>
            </a:pPr>
            <a:r>
              <a:rPr lang="en-US" sz="1200" b="1" dirty="0">
                <a:solidFill>
                  <a:schemeClr val="accent3">
                    <a:lumMod val="75000"/>
                  </a:schemeClr>
                </a:solidFill>
              </a:rPr>
              <a:t>Avg. delay in APR and FPPCA order issuance: </a:t>
            </a:r>
            <a:r>
              <a:rPr lang="en-IN" sz="1200" b="1" dirty="0">
                <a:solidFill>
                  <a:schemeClr val="accent3">
                    <a:lumMod val="75000"/>
                  </a:schemeClr>
                </a:solidFill>
              </a:rPr>
              <a:t>1252 days</a:t>
            </a:r>
            <a:endParaRPr lang="en-US" sz="1200" b="1" dirty="0">
              <a:solidFill>
                <a:schemeClr val="accent3">
                  <a:lumMod val="75000"/>
                </a:schemeClr>
              </a:solidFill>
            </a:endParaRPr>
          </a:p>
        </p:txBody>
      </p:sp>
      <p:sp>
        <p:nvSpPr>
          <p:cNvPr id="65" name="Right Brace 64">
            <a:extLst>
              <a:ext uri="{FF2B5EF4-FFF2-40B4-BE49-F238E27FC236}">
                <a16:creationId xmlns:a16="http://schemas.microsoft.com/office/drawing/2014/main" id="{8E862C84-82D1-43F6-8BC8-B947204664A0}"/>
              </a:ext>
            </a:extLst>
          </p:cNvPr>
          <p:cNvSpPr/>
          <p:nvPr/>
        </p:nvSpPr>
        <p:spPr>
          <a:xfrm>
            <a:off x="11548112" y="3306173"/>
            <a:ext cx="142240" cy="2846210"/>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ectangle 66">
            <a:extLst>
              <a:ext uri="{FF2B5EF4-FFF2-40B4-BE49-F238E27FC236}">
                <a16:creationId xmlns:a16="http://schemas.microsoft.com/office/drawing/2014/main" id="{441BA178-9F82-485A-9C4D-C7AAA0BA54F2}"/>
              </a:ext>
            </a:extLst>
          </p:cNvPr>
          <p:cNvSpPr/>
          <p:nvPr/>
        </p:nvSpPr>
        <p:spPr bwMode="gray">
          <a:xfrm>
            <a:off x="740225" y="1161242"/>
            <a:ext cx="10754181" cy="1980000"/>
          </a:xfrm>
          <a:prstGeom prst="rect">
            <a:avLst/>
          </a:prstGeom>
          <a:solidFill>
            <a:srgbClr val="00A3E0">
              <a:alpha val="5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8" name="Rectangle 67">
            <a:extLst>
              <a:ext uri="{FF2B5EF4-FFF2-40B4-BE49-F238E27FC236}">
                <a16:creationId xmlns:a16="http://schemas.microsoft.com/office/drawing/2014/main" id="{0EF7510C-6E79-4BB5-A245-10B421001A53}"/>
              </a:ext>
            </a:extLst>
          </p:cNvPr>
          <p:cNvSpPr/>
          <p:nvPr/>
        </p:nvSpPr>
        <p:spPr bwMode="gray">
          <a:xfrm>
            <a:off x="740225" y="3144958"/>
            <a:ext cx="10754181" cy="1512000"/>
          </a:xfrm>
          <a:prstGeom prst="rect">
            <a:avLst/>
          </a:prstGeom>
          <a:solidFill>
            <a:srgbClr val="046A38">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9" name="Rectangle 68">
            <a:extLst>
              <a:ext uri="{FF2B5EF4-FFF2-40B4-BE49-F238E27FC236}">
                <a16:creationId xmlns:a16="http://schemas.microsoft.com/office/drawing/2014/main" id="{BDCA11D5-48CE-4D47-B3C0-1099080A0BB2}"/>
              </a:ext>
            </a:extLst>
          </p:cNvPr>
          <p:cNvSpPr/>
          <p:nvPr/>
        </p:nvSpPr>
        <p:spPr bwMode="gray">
          <a:xfrm>
            <a:off x="740225" y="4675361"/>
            <a:ext cx="10754181" cy="1584000"/>
          </a:xfrm>
          <a:prstGeom prst="rect">
            <a:avLst/>
          </a:prstGeom>
          <a:solidFill>
            <a:srgbClr val="86BC25">
              <a:alpha val="1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70" name="Chart 69">
            <a:extLst>
              <a:ext uri="{FF2B5EF4-FFF2-40B4-BE49-F238E27FC236}">
                <a16:creationId xmlns:a16="http://schemas.microsoft.com/office/drawing/2014/main" id="{465BFC01-CD13-4441-93E7-7A3193839863}"/>
              </a:ext>
            </a:extLst>
          </p:cNvPr>
          <p:cNvGraphicFramePr/>
          <p:nvPr/>
        </p:nvGraphicFramePr>
        <p:xfrm>
          <a:off x="903511" y="1079475"/>
          <a:ext cx="10590895" cy="5536326"/>
        </p:xfrm>
        <a:graphic>
          <a:graphicData uri="http://schemas.openxmlformats.org/drawingml/2006/chart">
            <c:chart xmlns:c="http://schemas.openxmlformats.org/drawingml/2006/chart" xmlns:r="http://schemas.openxmlformats.org/officeDocument/2006/relationships" r:id="rId5"/>
          </a:graphicData>
        </a:graphic>
      </p:graphicFrame>
      <p:sp>
        <p:nvSpPr>
          <p:cNvPr id="75" name="TextBox 74">
            <a:extLst>
              <a:ext uri="{FF2B5EF4-FFF2-40B4-BE49-F238E27FC236}">
                <a16:creationId xmlns:a16="http://schemas.microsoft.com/office/drawing/2014/main" id="{FFDB8146-61C1-4D29-BCE7-3A16E457362E}"/>
              </a:ext>
            </a:extLst>
          </p:cNvPr>
          <p:cNvSpPr txBox="1"/>
          <p:nvPr/>
        </p:nvSpPr>
        <p:spPr>
          <a:xfrm>
            <a:off x="4723917" y="3158090"/>
            <a:ext cx="3924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3284 days</a:t>
            </a:r>
          </a:p>
        </p:txBody>
      </p:sp>
      <p:cxnSp>
        <p:nvCxnSpPr>
          <p:cNvPr id="76" name="Straight Connector 75">
            <a:extLst>
              <a:ext uri="{FF2B5EF4-FFF2-40B4-BE49-F238E27FC236}">
                <a16:creationId xmlns:a16="http://schemas.microsoft.com/office/drawing/2014/main" id="{7C088B8D-2F35-41DC-90FA-2C661DA131DF}"/>
              </a:ext>
            </a:extLst>
          </p:cNvPr>
          <p:cNvCxnSpPr/>
          <p:nvPr/>
        </p:nvCxnSpPr>
        <p:spPr>
          <a:xfrm flipH="1">
            <a:off x="4321625" y="3246564"/>
            <a:ext cx="332338" cy="0"/>
          </a:xfrm>
          <a:prstGeom prst="line">
            <a:avLst/>
          </a:prstGeom>
          <a:ln>
            <a:solidFill>
              <a:srgbClr val="00ABAB"/>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D956DDF-39EF-455E-B6D6-54DE7677405F}"/>
              </a:ext>
            </a:extLst>
          </p:cNvPr>
          <p:cNvCxnSpPr>
            <a:cxnSpLocks/>
          </p:cNvCxnSpPr>
          <p:nvPr/>
        </p:nvCxnSpPr>
        <p:spPr>
          <a:xfrm flipH="1">
            <a:off x="4125683" y="3246564"/>
            <a:ext cx="195942" cy="163286"/>
          </a:xfrm>
          <a:prstGeom prst="line">
            <a:avLst/>
          </a:prstGeom>
          <a:ln>
            <a:solidFill>
              <a:srgbClr val="00ABAB"/>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19552EB8-6BB9-4FEE-A0B8-83BAE94AB5B7}"/>
              </a:ext>
            </a:extLst>
          </p:cNvPr>
          <p:cNvSpPr txBox="1"/>
          <p:nvPr/>
        </p:nvSpPr>
        <p:spPr>
          <a:xfrm>
            <a:off x="4691255" y="4659997"/>
            <a:ext cx="3924000"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in release of admitted amount: 3284 days</a:t>
            </a:r>
          </a:p>
        </p:txBody>
      </p:sp>
      <p:cxnSp>
        <p:nvCxnSpPr>
          <p:cNvPr id="79" name="Straight Connector 78">
            <a:extLst>
              <a:ext uri="{FF2B5EF4-FFF2-40B4-BE49-F238E27FC236}">
                <a16:creationId xmlns:a16="http://schemas.microsoft.com/office/drawing/2014/main" id="{66BFBFB9-0883-4E2A-9C53-0FC298D0825D}"/>
              </a:ext>
            </a:extLst>
          </p:cNvPr>
          <p:cNvCxnSpPr/>
          <p:nvPr/>
        </p:nvCxnSpPr>
        <p:spPr>
          <a:xfrm flipH="1">
            <a:off x="4288963" y="4748471"/>
            <a:ext cx="332338" cy="0"/>
          </a:xfrm>
          <a:prstGeom prst="line">
            <a:avLst/>
          </a:prstGeom>
          <a:ln>
            <a:solidFill>
              <a:srgbClr val="00ABAB"/>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F6D0370-6F00-47D8-A75F-BB7BF9B76305}"/>
              </a:ext>
            </a:extLst>
          </p:cNvPr>
          <p:cNvCxnSpPr>
            <a:cxnSpLocks/>
          </p:cNvCxnSpPr>
          <p:nvPr/>
        </p:nvCxnSpPr>
        <p:spPr>
          <a:xfrm flipH="1">
            <a:off x="4093021" y="4748471"/>
            <a:ext cx="195942" cy="163286"/>
          </a:xfrm>
          <a:prstGeom prst="line">
            <a:avLst/>
          </a:prstGeom>
          <a:ln>
            <a:solidFill>
              <a:srgbClr val="00ABAB"/>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37F4168D-094B-4A0A-9962-0C0C1E2254F5}"/>
              </a:ext>
            </a:extLst>
          </p:cNvPr>
          <p:cNvSpPr txBox="1"/>
          <p:nvPr/>
        </p:nvSpPr>
        <p:spPr>
          <a:xfrm>
            <a:off x="10357083" y="3511120"/>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2922 days</a:t>
            </a:r>
          </a:p>
        </p:txBody>
      </p:sp>
      <p:grpSp>
        <p:nvGrpSpPr>
          <p:cNvPr id="87" name="Group 86">
            <a:extLst>
              <a:ext uri="{FF2B5EF4-FFF2-40B4-BE49-F238E27FC236}">
                <a16:creationId xmlns:a16="http://schemas.microsoft.com/office/drawing/2014/main" id="{E097F5E1-0EB0-4455-83FB-120EDED09941}"/>
              </a:ext>
            </a:extLst>
          </p:cNvPr>
          <p:cNvGrpSpPr/>
          <p:nvPr/>
        </p:nvGrpSpPr>
        <p:grpSpPr>
          <a:xfrm>
            <a:off x="8522644" y="1191758"/>
            <a:ext cx="2920998" cy="1209850"/>
            <a:chOff x="8617860" y="1239436"/>
            <a:chExt cx="2920998" cy="1209850"/>
          </a:xfrm>
        </p:grpSpPr>
        <p:sp>
          <p:nvSpPr>
            <p:cNvPr id="88" name="Rectangle: Rounded Corners 87">
              <a:extLst>
                <a:ext uri="{FF2B5EF4-FFF2-40B4-BE49-F238E27FC236}">
                  <a16:creationId xmlns:a16="http://schemas.microsoft.com/office/drawing/2014/main" id="{FA73F9B9-AAEE-4B76-B7E6-1B74F61B1FC9}"/>
                </a:ext>
              </a:extLst>
            </p:cNvPr>
            <p:cNvSpPr/>
            <p:nvPr/>
          </p:nvSpPr>
          <p:spPr bwMode="gray">
            <a:xfrm>
              <a:off x="8617860" y="1239436"/>
              <a:ext cx="2920998" cy="1209850"/>
            </a:xfrm>
            <a:prstGeom prst="roundRect">
              <a:avLst>
                <a:gd name="adj" fmla="val 9717"/>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cxnSp>
          <p:nvCxnSpPr>
            <p:cNvPr id="89" name="Straight Connector 88">
              <a:extLst>
                <a:ext uri="{FF2B5EF4-FFF2-40B4-BE49-F238E27FC236}">
                  <a16:creationId xmlns:a16="http://schemas.microsoft.com/office/drawing/2014/main" id="{38E39198-EE63-4028-8254-109925CDE377}"/>
                </a:ext>
              </a:extLst>
            </p:cNvPr>
            <p:cNvCxnSpPr/>
            <p:nvPr/>
          </p:nvCxnSpPr>
          <p:spPr>
            <a:xfrm>
              <a:off x="8795940" y="1381215"/>
              <a:ext cx="0" cy="170107"/>
            </a:xfrm>
            <a:prstGeom prst="line">
              <a:avLst/>
            </a:prstGeom>
            <a:ln w="57150">
              <a:solidFill>
                <a:srgbClr val="43B02A"/>
              </a:solidFill>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D6949141-0192-40AA-9E8E-28880F73EBE3}"/>
                </a:ext>
              </a:extLst>
            </p:cNvPr>
            <p:cNvSpPr txBox="1"/>
            <p:nvPr/>
          </p:nvSpPr>
          <p:spPr>
            <a:xfrm>
              <a:off x="8892648" y="1390169"/>
              <a:ext cx="2376000" cy="139223"/>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Notional date for Order issuance</a:t>
              </a:r>
            </a:p>
          </p:txBody>
        </p:sp>
        <p:cxnSp>
          <p:nvCxnSpPr>
            <p:cNvPr id="91" name="Straight Connector 90">
              <a:extLst>
                <a:ext uri="{FF2B5EF4-FFF2-40B4-BE49-F238E27FC236}">
                  <a16:creationId xmlns:a16="http://schemas.microsoft.com/office/drawing/2014/main" id="{78AE5CAD-BA84-4059-A259-1C31698811C0}"/>
                </a:ext>
              </a:extLst>
            </p:cNvPr>
            <p:cNvCxnSpPr/>
            <p:nvPr/>
          </p:nvCxnSpPr>
          <p:spPr>
            <a:xfrm>
              <a:off x="8795940" y="1639859"/>
              <a:ext cx="0" cy="170107"/>
            </a:xfrm>
            <a:prstGeom prst="line">
              <a:avLst/>
            </a:prstGeom>
            <a:ln w="57150">
              <a:solidFill>
                <a:srgbClr val="012169"/>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91ACD092-F501-41C0-B6D8-20FC31C8CDEA}"/>
                </a:ext>
              </a:extLst>
            </p:cNvPr>
            <p:cNvSpPr txBox="1"/>
            <p:nvPr/>
          </p:nvSpPr>
          <p:spPr>
            <a:xfrm>
              <a:off x="8892648" y="1648813"/>
              <a:ext cx="2376000" cy="139223"/>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Actual Order issuance date</a:t>
              </a:r>
            </a:p>
          </p:txBody>
        </p:sp>
        <p:sp>
          <p:nvSpPr>
            <p:cNvPr id="93" name="Rectangle 92">
              <a:extLst>
                <a:ext uri="{FF2B5EF4-FFF2-40B4-BE49-F238E27FC236}">
                  <a16:creationId xmlns:a16="http://schemas.microsoft.com/office/drawing/2014/main" id="{C618FE65-61D9-49E6-A2C7-7359E3479AE2}"/>
                </a:ext>
              </a:extLst>
            </p:cNvPr>
            <p:cNvSpPr/>
            <p:nvPr/>
          </p:nvSpPr>
          <p:spPr bwMode="gray">
            <a:xfrm>
              <a:off x="8766259" y="2170701"/>
              <a:ext cx="356134" cy="170107"/>
            </a:xfrm>
            <a:prstGeom prst="rect">
              <a:avLst/>
            </a:prstGeom>
            <a:pattFill prst="ltDnDiag">
              <a:fgClr>
                <a:schemeClr val="bg1">
                  <a:lumMod val="50000"/>
                </a:schemeClr>
              </a:fgClr>
              <a:bgClr>
                <a:schemeClr val="bg1"/>
              </a:bgClr>
            </a:pattFill>
            <a:ln w="19050" algn="ctr">
              <a:solidFill>
                <a:schemeClr val="bg1">
                  <a:lumMod val="8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sp>
          <p:nvSpPr>
            <p:cNvPr id="94" name="TextBox 93">
              <a:extLst>
                <a:ext uri="{FF2B5EF4-FFF2-40B4-BE49-F238E27FC236}">
                  <a16:creationId xmlns:a16="http://schemas.microsoft.com/office/drawing/2014/main" id="{8EA4D8DB-E7F5-4B4A-A55D-CFA8A5A3C41F}"/>
                </a:ext>
              </a:extLst>
            </p:cNvPr>
            <p:cNvSpPr txBox="1"/>
            <p:nvPr/>
          </p:nvSpPr>
          <p:spPr>
            <a:xfrm>
              <a:off x="9235366" y="2167496"/>
              <a:ext cx="2052000"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Delay (in days)</a:t>
              </a:r>
            </a:p>
          </p:txBody>
        </p:sp>
        <p:cxnSp>
          <p:nvCxnSpPr>
            <p:cNvPr id="95" name="Straight Connector 94">
              <a:extLst>
                <a:ext uri="{FF2B5EF4-FFF2-40B4-BE49-F238E27FC236}">
                  <a16:creationId xmlns:a16="http://schemas.microsoft.com/office/drawing/2014/main" id="{5CDE98FC-04FF-4634-9990-11AD18A8EB55}"/>
                </a:ext>
              </a:extLst>
            </p:cNvPr>
            <p:cNvCxnSpPr/>
            <p:nvPr/>
          </p:nvCxnSpPr>
          <p:spPr>
            <a:xfrm>
              <a:off x="8795940" y="1900872"/>
              <a:ext cx="0" cy="170107"/>
            </a:xfrm>
            <a:prstGeom prst="line">
              <a:avLst/>
            </a:prstGeom>
            <a:ln w="57150">
              <a:solidFill>
                <a:srgbClr val="00ABAB"/>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128192A-85A2-45EA-80C7-15EF624B427C}"/>
                </a:ext>
              </a:extLst>
            </p:cNvPr>
            <p:cNvSpPr txBox="1"/>
            <p:nvPr/>
          </p:nvSpPr>
          <p:spPr>
            <a:xfrm>
              <a:off x="8892648" y="1909826"/>
              <a:ext cx="2376000"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APR/FPPCA amount release date</a:t>
              </a:r>
            </a:p>
          </p:txBody>
        </p:sp>
      </p:grpSp>
      <p:sp>
        <p:nvSpPr>
          <p:cNvPr id="97" name="TextBox 96">
            <a:extLst>
              <a:ext uri="{FF2B5EF4-FFF2-40B4-BE49-F238E27FC236}">
                <a16:creationId xmlns:a16="http://schemas.microsoft.com/office/drawing/2014/main" id="{D5EBF3E0-4CFD-4591-AAB1-A4F03A45B29F}"/>
              </a:ext>
            </a:extLst>
          </p:cNvPr>
          <p:cNvSpPr txBox="1"/>
          <p:nvPr/>
        </p:nvSpPr>
        <p:spPr>
          <a:xfrm>
            <a:off x="1537061" y="4172126"/>
            <a:ext cx="2889963" cy="442035"/>
          </a:xfrm>
          <a:prstGeom prst="rect">
            <a:avLst/>
          </a:prstGeom>
          <a:noFill/>
          <a:ln>
            <a:solidFill>
              <a:srgbClr val="003E58"/>
            </a:solidFill>
            <a:prstDash val="dash"/>
          </a:ln>
        </p:spPr>
        <p:txBody>
          <a:bodyPr wrap="square" lIns="36000" tIns="36000" rIns="36000" bIns="36000" rtlCol="0" anchor="ctr" anchorCtr="0">
            <a:spAutoFit/>
          </a:bodyPr>
          <a:lstStyle/>
          <a:p>
            <a:pPr>
              <a:spcBef>
                <a:spcPts val="600"/>
              </a:spcBef>
              <a:buSzPct val="100000"/>
            </a:pPr>
            <a:r>
              <a:rPr lang="en-US" sz="1200" i="1" dirty="0">
                <a:solidFill>
                  <a:srgbClr val="313131"/>
                </a:solidFill>
              </a:rPr>
              <a:t>APR and FPPCA Orders from FY 19 onwards have not been issued</a:t>
            </a:r>
          </a:p>
        </p:txBody>
      </p:sp>
      <p:sp>
        <p:nvSpPr>
          <p:cNvPr id="98" name="TextBox 97">
            <a:extLst>
              <a:ext uri="{FF2B5EF4-FFF2-40B4-BE49-F238E27FC236}">
                <a16:creationId xmlns:a16="http://schemas.microsoft.com/office/drawing/2014/main" id="{4A60A990-3249-4EAC-9686-B8564A20FFBA}"/>
              </a:ext>
            </a:extLst>
          </p:cNvPr>
          <p:cNvSpPr txBox="1"/>
          <p:nvPr/>
        </p:nvSpPr>
        <p:spPr>
          <a:xfrm>
            <a:off x="10357083" y="3707017"/>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2554 days</a:t>
            </a:r>
          </a:p>
        </p:txBody>
      </p:sp>
      <p:sp>
        <p:nvSpPr>
          <p:cNvPr id="99" name="TextBox 98">
            <a:extLst>
              <a:ext uri="{FF2B5EF4-FFF2-40B4-BE49-F238E27FC236}">
                <a16:creationId xmlns:a16="http://schemas.microsoft.com/office/drawing/2014/main" id="{FDBC900E-2C77-4025-AFF0-01E8A8506615}"/>
              </a:ext>
            </a:extLst>
          </p:cNvPr>
          <p:cNvSpPr txBox="1"/>
          <p:nvPr/>
        </p:nvSpPr>
        <p:spPr>
          <a:xfrm>
            <a:off x="10357082" y="3892122"/>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2188 days</a:t>
            </a:r>
          </a:p>
        </p:txBody>
      </p:sp>
      <p:sp>
        <p:nvSpPr>
          <p:cNvPr id="100" name="TextBox 99">
            <a:extLst>
              <a:ext uri="{FF2B5EF4-FFF2-40B4-BE49-F238E27FC236}">
                <a16:creationId xmlns:a16="http://schemas.microsoft.com/office/drawing/2014/main" id="{AACBE62A-D868-4F71-B467-203357100972}"/>
              </a:ext>
            </a:extLst>
          </p:cNvPr>
          <p:cNvSpPr txBox="1"/>
          <p:nvPr/>
        </p:nvSpPr>
        <p:spPr>
          <a:xfrm>
            <a:off x="10357082" y="4077133"/>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1823 days</a:t>
            </a:r>
          </a:p>
        </p:txBody>
      </p:sp>
      <p:sp>
        <p:nvSpPr>
          <p:cNvPr id="101" name="TextBox 100">
            <a:extLst>
              <a:ext uri="{FF2B5EF4-FFF2-40B4-BE49-F238E27FC236}">
                <a16:creationId xmlns:a16="http://schemas.microsoft.com/office/drawing/2014/main" id="{57B71004-503A-4EB5-B246-015167716F2C}"/>
              </a:ext>
            </a:extLst>
          </p:cNvPr>
          <p:cNvSpPr txBox="1"/>
          <p:nvPr/>
        </p:nvSpPr>
        <p:spPr>
          <a:xfrm>
            <a:off x="10346198" y="4262234"/>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1458 days</a:t>
            </a:r>
          </a:p>
        </p:txBody>
      </p:sp>
      <p:sp>
        <p:nvSpPr>
          <p:cNvPr id="102" name="TextBox 101">
            <a:extLst>
              <a:ext uri="{FF2B5EF4-FFF2-40B4-BE49-F238E27FC236}">
                <a16:creationId xmlns:a16="http://schemas.microsoft.com/office/drawing/2014/main" id="{BA0052A7-2C75-41A3-A674-E833FB0FA83B}"/>
              </a:ext>
            </a:extLst>
          </p:cNvPr>
          <p:cNvSpPr txBox="1"/>
          <p:nvPr/>
        </p:nvSpPr>
        <p:spPr>
          <a:xfrm>
            <a:off x="10346198" y="4458131"/>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1093 days</a:t>
            </a:r>
          </a:p>
        </p:txBody>
      </p:sp>
      <p:sp>
        <p:nvSpPr>
          <p:cNvPr id="103" name="TextBox 102">
            <a:extLst>
              <a:ext uri="{FF2B5EF4-FFF2-40B4-BE49-F238E27FC236}">
                <a16:creationId xmlns:a16="http://schemas.microsoft.com/office/drawing/2014/main" id="{9407162F-43E2-44BD-A102-E86C07A25CAA}"/>
              </a:ext>
            </a:extLst>
          </p:cNvPr>
          <p:cNvSpPr txBox="1"/>
          <p:nvPr/>
        </p:nvSpPr>
        <p:spPr>
          <a:xfrm>
            <a:off x="10371593" y="5006286"/>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2922 days</a:t>
            </a:r>
          </a:p>
        </p:txBody>
      </p:sp>
      <p:sp>
        <p:nvSpPr>
          <p:cNvPr id="104" name="TextBox 103">
            <a:extLst>
              <a:ext uri="{FF2B5EF4-FFF2-40B4-BE49-F238E27FC236}">
                <a16:creationId xmlns:a16="http://schemas.microsoft.com/office/drawing/2014/main" id="{5A359D9E-79F4-49E5-80D1-BA60C0AE34BB}"/>
              </a:ext>
            </a:extLst>
          </p:cNvPr>
          <p:cNvSpPr txBox="1"/>
          <p:nvPr/>
        </p:nvSpPr>
        <p:spPr>
          <a:xfrm>
            <a:off x="10371593" y="5202183"/>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2554 days</a:t>
            </a:r>
          </a:p>
        </p:txBody>
      </p:sp>
      <p:sp>
        <p:nvSpPr>
          <p:cNvPr id="105" name="TextBox 104">
            <a:extLst>
              <a:ext uri="{FF2B5EF4-FFF2-40B4-BE49-F238E27FC236}">
                <a16:creationId xmlns:a16="http://schemas.microsoft.com/office/drawing/2014/main" id="{AB5CA28D-34AA-415A-B0D7-105E764AD0CB}"/>
              </a:ext>
            </a:extLst>
          </p:cNvPr>
          <p:cNvSpPr txBox="1"/>
          <p:nvPr/>
        </p:nvSpPr>
        <p:spPr>
          <a:xfrm>
            <a:off x="10371592" y="5387288"/>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2188 days</a:t>
            </a:r>
          </a:p>
        </p:txBody>
      </p:sp>
      <p:sp>
        <p:nvSpPr>
          <p:cNvPr id="106" name="TextBox 105">
            <a:extLst>
              <a:ext uri="{FF2B5EF4-FFF2-40B4-BE49-F238E27FC236}">
                <a16:creationId xmlns:a16="http://schemas.microsoft.com/office/drawing/2014/main" id="{D7D6F7C6-60A1-4262-9DF8-5C311A035B79}"/>
              </a:ext>
            </a:extLst>
          </p:cNvPr>
          <p:cNvSpPr txBox="1"/>
          <p:nvPr/>
        </p:nvSpPr>
        <p:spPr>
          <a:xfrm>
            <a:off x="10371592" y="5572299"/>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1823 days</a:t>
            </a:r>
          </a:p>
        </p:txBody>
      </p:sp>
      <p:sp>
        <p:nvSpPr>
          <p:cNvPr id="107" name="TextBox 106">
            <a:extLst>
              <a:ext uri="{FF2B5EF4-FFF2-40B4-BE49-F238E27FC236}">
                <a16:creationId xmlns:a16="http://schemas.microsoft.com/office/drawing/2014/main" id="{869FF09B-27DB-48BD-8622-C6B153F51BDC}"/>
              </a:ext>
            </a:extLst>
          </p:cNvPr>
          <p:cNvSpPr txBox="1"/>
          <p:nvPr/>
        </p:nvSpPr>
        <p:spPr>
          <a:xfrm>
            <a:off x="10360708" y="5757400"/>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1458 days</a:t>
            </a:r>
          </a:p>
        </p:txBody>
      </p:sp>
      <p:sp>
        <p:nvSpPr>
          <p:cNvPr id="108" name="TextBox 107">
            <a:extLst>
              <a:ext uri="{FF2B5EF4-FFF2-40B4-BE49-F238E27FC236}">
                <a16:creationId xmlns:a16="http://schemas.microsoft.com/office/drawing/2014/main" id="{A54EAE25-760E-4F8B-A6EE-ACDB353B0ECF}"/>
              </a:ext>
            </a:extLst>
          </p:cNvPr>
          <p:cNvSpPr txBox="1"/>
          <p:nvPr/>
        </p:nvSpPr>
        <p:spPr>
          <a:xfrm>
            <a:off x="10360708" y="5953297"/>
            <a:ext cx="1392128" cy="169277"/>
          </a:xfrm>
          <a:prstGeom prst="rect">
            <a:avLst/>
          </a:prstGeom>
          <a:noFill/>
        </p:spPr>
        <p:txBody>
          <a:bodyPr wrap="square" lIns="0" tIns="0" rIns="0" bIns="0" rtlCol="0">
            <a:spAutoFit/>
          </a:bodyPr>
          <a:lstStyle/>
          <a:p>
            <a:pPr>
              <a:spcBef>
                <a:spcPts val="600"/>
              </a:spcBef>
              <a:buSzPct val="100000"/>
            </a:pPr>
            <a:r>
              <a:rPr lang="en-US" sz="1100" i="1" dirty="0">
                <a:solidFill>
                  <a:srgbClr val="00ABAB"/>
                </a:solidFill>
              </a:rPr>
              <a:t>Delay: 1093 days</a:t>
            </a:r>
          </a:p>
        </p:txBody>
      </p:sp>
    </p:spTree>
    <p:extLst>
      <p:ext uri="{BB962C8B-B14F-4D97-AF65-F5344CB8AC3E}">
        <p14:creationId xmlns:p14="http://schemas.microsoft.com/office/powerpoint/2010/main" val="1668778229"/>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p:txBody>
          <a:bodyPr anchor="t">
            <a:noAutofit/>
          </a:bodyPr>
          <a:lstStyle/>
          <a:p>
            <a:pPr>
              <a:lnSpc>
                <a:spcPct val="90000"/>
              </a:lnSpc>
            </a:pPr>
            <a:r>
              <a:rPr lang="en-US" sz="2000" b="1" dirty="0">
                <a:latin typeface="Verdana" panose="020B0604030504040204" pitchFamily="34" charset="0"/>
                <a:ea typeface="Verdana" panose="020B0604030504040204" pitchFamily="34" charset="0"/>
              </a:rPr>
              <a:t>Domestic L&amp;MV Energy Charge of West Bengal at par with other states</a:t>
            </a:r>
          </a:p>
        </p:txBody>
      </p:sp>
      <p:graphicFrame>
        <p:nvGraphicFramePr>
          <p:cNvPr id="7" name="Chart 6">
            <a:extLst>
              <a:ext uri="{FF2B5EF4-FFF2-40B4-BE49-F238E27FC236}">
                <a16:creationId xmlns:a16="http://schemas.microsoft.com/office/drawing/2014/main" id="{F7D5FDA7-4A3B-4E10-92CD-D74B85FE4B4F}"/>
              </a:ext>
            </a:extLst>
          </p:cNvPr>
          <p:cNvGraphicFramePr>
            <a:graphicFrameLocks/>
          </p:cNvGraphicFramePr>
          <p:nvPr/>
        </p:nvGraphicFramePr>
        <p:xfrm>
          <a:off x="361045" y="812573"/>
          <a:ext cx="11162350" cy="52328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05421932"/>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p:txBody>
          <a:bodyPr anchor="t">
            <a:noAutofit/>
          </a:bodyPr>
          <a:lstStyle/>
          <a:p>
            <a:pPr>
              <a:lnSpc>
                <a:spcPct val="90000"/>
              </a:lnSpc>
            </a:pPr>
            <a:r>
              <a:rPr lang="en-US" sz="2000" b="1" dirty="0">
                <a:latin typeface="Verdana" panose="020B0604030504040204" pitchFamily="34" charset="0"/>
                <a:ea typeface="Verdana" panose="020B0604030504040204" pitchFamily="34" charset="0"/>
              </a:rPr>
              <a:t>Domestic HV &amp; EHV Energy Charge Comparison</a:t>
            </a:r>
          </a:p>
        </p:txBody>
      </p:sp>
      <p:sp>
        <p:nvSpPr>
          <p:cNvPr id="7" name="Rectangle 6">
            <a:extLst>
              <a:ext uri="{FF2B5EF4-FFF2-40B4-BE49-F238E27FC236}">
                <a16:creationId xmlns:a16="http://schemas.microsoft.com/office/drawing/2014/main" id="{35C91F38-EACC-4E9E-BD16-886AD34313CB}"/>
              </a:ext>
            </a:extLst>
          </p:cNvPr>
          <p:cNvSpPr/>
          <p:nvPr/>
        </p:nvSpPr>
        <p:spPr bwMode="gray">
          <a:xfrm>
            <a:off x="469902" y="5900056"/>
            <a:ext cx="11194099" cy="413657"/>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i="1" dirty="0">
                <a:latin typeface="Verdana" panose="020B0604030504040204" pitchFamily="34" charset="0"/>
                <a:ea typeface="Verdana" panose="020B0604030504040204" pitchFamily="34" charset="0"/>
              </a:rPr>
              <a:t>As can be seen from above, Domestic Energy charges for HV and EHV consumers for West Bengal are at par with other states </a:t>
            </a:r>
          </a:p>
        </p:txBody>
      </p:sp>
      <p:graphicFrame>
        <p:nvGraphicFramePr>
          <p:cNvPr id="8" name="Chart 7">
            <a:extLst>
              <a:ext uri="{FF2B5EF4-FFF2-40B4-BE49-F238E27FC236}">
                <a16:creationId xmlns:a16="http://schemas.microsoft.com/office/drawing/2014/main" id="{35A949B8-A96E-4DE4-9920-C495466ECFC0}"/>
              </a:ext>
            </a:extLst>
          </p:cNvPr>
          <p:cNvGraphicFramePr>
            <a:graphicFrameLocks/>
          </p:cNvGraphicFramePr>
          <p:nvPr/>
        </p:nvGraphicFramePr>
        <p:xfrm>
          <a:off x="729342" y="1059090"/>
          <a:ext cx="10853057" cy="474299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96240874"/>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a:xfrm>
            <a:off x="473525" y="106575"/>
            <a:ext cx="11690349" cy="413657"/>
          </a:xfrm>
        </p:spPr>
        <p:txBody>
          <a:bodyPr anchor="t">
            <a:noAutofit/>
          </a:bodyPr>
          <a:lstStyle/>
          <a:p>
            <a:pPr>
              <a:lnSpc>
                <a:spcPct val="90000"/>
              </a:lnSpc>
            </a:pPr>
            <a:r>
              <a:rPr lang="en-US" sz="2000" b="1" dirty="0">
                <a:latin typeface="Verdana" panose="020B0604030504040204" pitchFamily="34" charset="0"/>
                <a:ea typeface="Verdana" panose="020B0604030504040204" pitchFamily="34" charset="0"/>
              </a:rPr>
              <a:t>Tariff Slab complexities witnessed in West Bengal in comparison to other states</a:t>
            </a:r>
          </a:p>
        </p:txBody>
      </p:sp>
      <p:grpSp>
        <p:nvGrpSpPr>
          <p:cNvPr id="86" name="Group 85">
            <a:extLst>
              <a:ext uri="{FF2B5EF4-FFF2-40B4-BE49-F238E27FC236}">
                <a16:creationId xmlns:a16="http://schemas.microsoft.com/office/drawing/2014/main" id="{F096CD77-63AF-4532-8ED8-4D1FA38F664C}"/>
              </a:ext>
            </a:extLst>
          </p:cNvPr>
          <p:cNvGrpSpPr/>
          <p:nvPr/>
        </p:nvGrpSpPr>
        <p:grpSpPr>
          <a:xfrm>
            <a:off x="715613" y="512261"/>
            <a:ext cx="11002862" cy="6116513"/>
            <a:chOff x="742823" y="563658"/>
            <a:chExt cx="11002862" cy="6116513"/>
          </a:xfrm>
        </p:grpSpPr>
        <p:sp>
          <p:nvSpPr>
            <p:cNvPr id="71" name="Arrow: Up 70">
              <a:extLst>
                <a:ext uri="{FF2B5EF4-FFF2-40B4-BE49-F238E27FC236}">
                  <a16:creationId xmlns:a16="http://schemas.microsoft.com/office/drawing/2014/main" id="{198983A2-F8CC-4962-834B-F2A67C212D9F}"/>
                </a:ext>
              </a:extLst>
            </p:cNvPr>
            <p:cNvSpPr/>
            <p:nvPr/>
          </p:nvSpPr>
          <p:spPr bwMode="gray">
            <a:xfrm>
              <a:off x="7608200" y="3630093"/>
              <a:ext cx="507146" cy="413657"/>
            </a:xfrm>
            <a:prstGeom prst="up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6" name="Arrow: Up 65">
              <a:extLst>
                <a:ext uri="{FF2B5EF4-FFF2-40B4-BE49-F238E27FC236}">
                  <a16:creationId xmlns:a16="http://schemas.microsoft.com/office/drawing/2014/main" id="{45D7E0AA-2860-414F-8986-44A4358C4252}"/>
                </a:ext>
              </a:extLst>
            </p:cNvPr>
            <p:cNvSpPr/>
            <p:nvPr/>
          </p:nvSpPr>
          <p:spPr bwMode="gray">
            <a:xfrm>
              <a:off x="6028283" y="4323032"/>
              <a:ext cx="507146" cy="413657"/>
            </a:xfrm>
            <a:prstGeom prst="up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Arrow: Up 45">
              <a:extLst>
                <a:ext uri="{FF2B5EF4-FFF2-40B4-BE49-F238E27FC236}">
                  <a16:creationId xmlns:a16="http://schemas.microsoft.com/office/drawing/2014/main" id="{5A5FCFDF-0EBC-4403-B5C1-2E2B4CE1CE6C}"/>
                </a:ext>
              </a:extLst>
            </p:cNvPr>
            <p:cNvSpPr/>
            <p:nvPr/>
          </p:nvSpPr>
          <p:spPr bwMode="gray">
            <a:xfrm>
              <a:off x="3049559" y="2000817"/>
              <a:ext cx="507146" cy="413657"/>
            </a:xfrm>
            <a:prstGeom prst="up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2" name="Arrow: Up 51">
              <a:extLst>
                <a:ext uri="{FF2B5EF4-FFF2-40B4-BE49-F238E27FC236}">
                  <a16:creationId xmlns:a16="http://schemas.microsoft.com/office/drawing/2014/main" id="{920C70C7-8976-475D-8339-8BB533F26643}"/>
                </a:ext>
              </a:extLst>
            </p:cNvPr>
            <p:cNvSpPr/>
            <p:nvPr/>
          </p:nvSpPr>
          <p:spPr bwMode="gray">
            <a:xfrm>
              <a:off x="1669989" y="4330608"/>
              <a:ext cx="507146" cy="413657"/>
            </a:xfrm>
            <a:prstGeom prst="up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cxnSp>
          <p:nvCxnSpPr>
            <p:cNvPr id="8" name="Straight Arrow Connector 7">
              <a:extLst>
                <a:ext uri="{FF2B5EF4-FFF2-40B4-BE49-F238E27FC236}">
                  <a16:creationId xmlns:a16="http://schemas.microsoft.com/office/drawing/2014/main" id="{153440DD-8690-4E7F-800C-29D1F4898224}"/>
                </a:ext>
              </a:extLst>
            </p:cNvPr>
            <p:cNvCxnSpPr>
              <a:cxnSpLocks/>
            </p:cNvCxnSpPr>
            <p:nvPr/>
          </p:nvCxnSpPr>
          <p:spPr>
            <a:xfrm flipH="1" flipV="1">
              <a:off x="1024165" y="653148"/>
              <a:ext cx="33568" cy="5540828"/>
            </a:xfrm>
            <a:prstGeom prst="straightConnector1">
              <a:avLst/>
            </a:prstGeom>
            <a:ln w="57150">
              <a:prstDash val="lgDash"/>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507D2908-9CD7-4C19-91E4-74D87384BB98}"/>
                </a:ext>
              </a:extLst>
            </p:cNvPr>
            <p:cNvSpPr txBox="1"/>
            <p:nvPr/>
          </p:nvSpPr>
          <p:spPr>
            <a:xfrm>
              <a:off x="783772" y="5595262"/>
              <a:ext cx="707571"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150 kWh</a:t>
              </a:r>
            </a:p>
          </p:txBody>
        </p:sp>
        <p:sp>
          <p:nvSpPr>
            <p:cNvPr id="10" name="TextBox 9">
              <a:extLst>
                <a:ext uri="{FF2B5EF4-FFF2-40B4-BE49-F238E27FC236}">
                  <a16:creationId xmlns:a16="http://schemas.microsoft.com/office/drawing/2014/main" id="{56F2D55F-EAA0-4CD7-9621-5FA8B7C88FF1}"/>
                </a:ext>
              </a:extLst>
            </p:cNvPr>
            <p:cNvSpPr txBox="1"/>
            <p:nvPr/>
          </p:nvSpPr>
          <p:spPr>
            <a:xfrm>
              <a:off x="783769" y="4298004"/>
              <a:ext cx="707573"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450 kWh</a:t>
              </a:r>
            </a:p>
          </p:txBody>
        </p:sp>
        <p:sp>
          <p:nvSpPr>
            <p:cNvPr id="11" name="TextBox 10">
              <a:extLst>
                <a:ext uri="{FF2B5EF4-FFF2-40B4-BE49-F238E27FC236}">
                  <a16:creationId xmlns:a16="http://schemas.microsoft.com/office/drawing/2014/main" id="{1651D0D2-119D-47F2-8277-14E552CDB77C}"/>
                </a:ext>
              </a:extLst>
            </p:cNvPr>
            <p:cNvSpPr txBox="1"/>
            <p:nvPr/>
          </p:nvSpPr>
          <p:spPr>
            <a:xfrm>
              <a:off x="783770" y="4946633"/>
              <a:ext cx="707573"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300 kWh</a:t>
              </a:r>
            </a:p>
          </p:txBody>
        </p:sp>
        <p:sp>
          <p:nvSpPr>
            <p:cNvPr id="12" name="TextBox 11">
              <a:extLst>
                <a:ext uri="{FF2B5EF4-FFF2-40B4-BE49-F238E27FC236}">
                  <a16:creationId xmlns:a16="http://schemas.microsoft.com/office/drawing/2014/main" id="{9D18ED3C-8948-402D-A2EB-E3322665A67A}"/>
                </a:ext>
              </a:extLst>
            </p:cNvPr>
            <p:cNvSpPr txBox="1"/>
            <p:nvPr/>
          </p:nvSpPr>
          <p:spPr>
            <a:xfrm>
              <a:off x="783769" y="3676031"/>
              <a:ext cx="707573"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600 kWh</a:t>
              </a:r>
            </a:p>
          </p:txBody>
        </p:sp>
        <p:sp>
          <p:nvSpPr>
            <p:cNvPr id="13" name="TextBox 12">
              <a:extLst>
                <a:ext uri="{FF2B5EF4-FFF2-40B4-BE49-F238E27FC236}">
                  <a16:creationId xmlns:a16="http://schemas.microsoft.com/office/drawing/2014/main" id="{470E9AD2-C439-4BB5-8204-147A4D74CC0B}"/>
                </a:ext>
              </a:extLst>
            </p:cNvPr>
            <p:cNvSpPr txBox="1"/>
            <p:nvPr/>
          </p:nvSpPr>
          <p:spPr>
            <a:xfrm>
              <a:off x="783768" y="3040730"/>
              <a:ext cx="707573"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750 kWh</a:t>
              </a:r>
            </a:p>
          </p:txBody>
        </p:sp>
        <p:sp>
          <p:nvSpPr>
            <p:cNvPr id="14" name="TextBox 13">
              <a:extLst>
                <a:ext uri="{FF2B5EF4-FFF2-40B4-BE49-F238E27FC236}">
                  <a16:creationId xmlns:a16="http://schemas.microsoft.com/office/drawing/2014/main" id="{FD32D327-E0FB-4D75-9BC1-5939C5A4E144}"/>
                </a:ext>
              </a:extLst>
            </p:cNvPr>
            <p:cNvSpPr txBox="1"/>
            <p:nvPr/>
          </p:nvSpPr>
          <p:spPr>
            <a:xfrm>
              <a:off x="783767" y="2430387"/>
              <a:ext cx="707573"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900 kWh</a:t>
              </a:r>
            </a:p>
          </p:txBody>
        </p:sp>
        <p:sp>
          <p:nvSpPr>
            <p:cNvPr id="15" name="TextBox 14">
              <a:extLst>
                <a:ext uri="{FF2B5EF4-FFF2-40B4-BE49-F238E27FC236}">
                  <a16:creationId xmlns:a16="http://schemas.microsoft.com/office/drawing/2014/main" id="{97AE3462-30A5-476C-8B94-72675CFB735A}"/>
                </a:ext>
              </a:extLst>
            </p:cNvPr>
            <p:cNvSpPr txBox="1"/>
            <p:nvPr/>
          </p:nvSpPr>
          <p:spPr>
            <a:xfrm>
              <a:off x="783767" y="1788422"/>
              <a:ext cx="707573"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1050 kWh</a:t>
              </a:r>
            </a:p>
          </p:txBody>
        </p:sp>
        <p:cxnSp>
          <p:nvCxnSpPr>
            <p:cNvPr id="17" name="Straight Connector 16">
              <a:extLst>
                <a:ext uri="{FF2B5EF4-FFF2-40B4-BE49-F238E27FC236}">
                  <a16:creationId xmlns:a16="http://schemas.microsoft.com/office/drawing/2014/main" id="{A6AB40E0-367F-4E4A-B62D-6F57A5D64506}"/>
                </a:ext>
              </a:extLst>
            </p:cNvPr>
            <p:cNvCxnSpPr>
              <a:cxnSpLocks/>
            </p:cNvCxnSpPr>
            <p:nvPr/>
          </p:nvCxnSpPr>
          <p:spPr>
            <a:xfrm>
              <a:off x="1024165" y="6193976"/>
              <a:ext cx="1072152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529E9F0-4C95-452E-8154-6B8C1E6E7CB6}"/>
                </a:ext>
              </a:extLst>
            </p:cNvPr>
            <p:cNvSpPr/>
            <p:nvPr/>
          </p:nvSpPr>
          <p:spPr bwMode="gray">
            <a:xfrm>
              <a:off x="1371594" y="6252218"/>
              <a:ext cx="1088575" cy="427953"/>
            </a:xfrm>
            <a:prstGeom prst="rect">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WBSEECL</a:t>
              </a:r>
            </a:p>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(Erstwhile DPL)</a:t>
              </a:r>
            </a:p>
          </p:txBody>
        </p:sp>
        <p:sp>
          <p:nvSpPr>
            <p:cNvPr id="20" name="Rectangle 19">
              <a:extLst>
                <a:ext uri="{FF2B5EF4-FFF2-40B4-BE49-F238E27FC236}">
                  <a16:creationId xmlns:a16="http://schemas.microsoft.com/office/drawing/2014/main" id="{6AD57674-8B92-4205-BB0F-4004822515F2}"/>
                </a:ext>
              </a:extLst>
            </p:cNvPr>
            <p:cNvSpPr/>
            <p:nvPr/>
          </p:nvSpPr>
          <p:spPr bwMode="gray">
            <a:xfrm>
              <a:off x="2761524" y="6252219"/>
              <a:ext cx="1088575" cy="410842"/>
            </a:xfrm>
            <a:prstGeom prst="rect">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WBSEECL</a:t>
              </a:r>
            </a:p>
          </p:txBody>
        </p:sp>
        <p:sp>
          <p:nvSpPr>
            <p:cNvPr id="21" name="Rectangle 20">
              <a:extLst>
                <a:ext uri="{FF2B5EF4-FFF2-40B4-BE49-F238E27FC236}">
                  <a16:creationId xmlns:a16="http://schemas.microsoft.com/office/drawing/2014/main" id="{7349D529-F43A-4858-BEDD-7AEFC600A6F8}"/>
                </a:ext>
              </a:extLst>
            </p:cNvPr>
            <p:cNvSpPr/>
            <p:nvPr/>
          </p:nvSpPr>
          <p:spPr bwMode="gray">
            <a:xfrm>
              <a:off x="4209895" y="6252219"/>
              <a:ext cx="1088575" cy="410842"/>
            </a:xfrm>
            <a:prstGeom prst="rect">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IPCL</a:t>
              </a:r>
            </a:p>
          </p:txBody>
        </p:sp>
        <p:sp>
          <p:nvSpPr>
            <p:cNvPr id="22" name="Rectangle 21">
              <a:extLst>
                <a:ext uri="{FF2B5EF4-FFF2-40B4-BE49-F238E27FC236}">
                  <a16:creationId xmlns:a16="http://schemas.microsoft.com/office/drawing/2014/main" id="{0BA88D2B-2E94-4076-AE18-EE21678CE7C8}"/>
                </a:ext>
              </a:extLst>
            </p:cNvPr>
            <p:cNvSpPr/>
            <p:nvPr/>
          </p:nvSpPr>
          <p:spPr bwMode="gray">
            <a:xfrm>
              <a:off x="5718341" y="6252219"/>
              <a:ext cx="1088575" cy="410842"/>
            </a:xfrm>
            <a:prstGeom prst="rect">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CESC</a:t>
              </a:r>
            </a:p>
          </p:txBody>
        </p:sp>
        <p:sp>
          <p:nvSpPr>
            <p:cNvPr id="24" name="Rectangle 23">
              <a:extLst>
                <a:ext uri="{FF2B5EF4-FFF2-40B4-BE49-F238E27FC236}">
                  <a16:creationId xmlns:a16="http://schemas.microsoft.com/office/drawing/2014/main" id="{036D238E-FA7C-46C4-B6B0-8589FF9DA58B}"/>
                </a:ext>
              </a:extLst>
            </p:cNvPr>
            <p:cNvSpPr/>
            <p:nvPr/>
          </p:nvSpPr>
          <p:spPr bwMode="gray">
            <a:xfrm>
              <a:off x="7192886" y="6249245"/>
              <a:ext cx="1344380" cy="410842"/>
            </a:xfrm>
            <a:prstGeom prst="rect">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MAHADISCOM, Tata Power, ADANI</a:t>
              </a:r>
            </a:p>
          </p:txBody>
        </p:sp>
        <p:sp>
          <p:nvSpPr>
            <p:cNvPr id="25" name="Rectangle 24">
              <a:extLst>
                <a:ext uri="{FF2B5EF4-FFF2-40B4-BE49-F238E27FC236}">
                  <a16:creationId xmlns:a16="http://schemas.microsoft.com/office/drawing/2014/main" id="{7561AC17-E50F-4A8E-AAE5-7D3D8D945081}"/>
                </a:ext>
              </a:extLst>
            </p:cNvPr>
            <p:cNvSpPr/>
            <p:nvPr/>
          </p:nvSpPr>
          <p:spPr bwMode="gray">
            <a:xfrm>
              <a:off x="8778950" y="6249245"/>
              <a:ext cx="1088575" cy="410842"/>
            </a:xfrm>
            <a:prstGeom prst="rect">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TPDDL, BSES Rajdhani</a:t>
              </a:r>
            </a:p>
          </p:txBody>
        </p:sp>
        <p:sp>
          <p:nvSpPr>
            <p:cNvPr id="26" name="Rectangle 25">
              <a:extLst>
                <a:ext uri="{FF2B5EF4-FFF2-40B4-BE49-F238E27FC236}">
                  <a16:creationId xmlns:a16="http://schemas.microsoft.com/office/drawing/2014/main" id="{1096C3D4-D4F4-42BA-AB61-D86EFE818C53}"/>
                </a:ext>
              </a:extLst>
            </p:cNvPr>
            <p:cNvSpPr/>
            <p:nvPr/>
          </p:nvSpPr>
          <p:spPr bwMode="gray">
            <a:xfrm>
              <a:off x="10077125" y="6250827"/>
              <a:ext cx="1088575" cy="410842"/>
            </a:xfrm>
            <a:prstGeom prst="rect">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BESCOM</a:t>
              </a:r>
            </a:p>
          </p:txBody>
        </p:sp>
        <p:sp>
          <p:nvSpPr>
            <p:cNvPr id="30" name="Rectangle 29">
              <a:extLst>
                <a:ext uri="{FF2B5EF4-FFF2-40B4-BE49-F238E27FC236}">
                  <a16:creationId xmlns:a16="http://schemas.microsoft.com/office/drawing/2014/main" id="{96DE5526-6AF7-46C8-9F55-D5DA250300B3}"/>
                </a:ext>
              </a:extLst>
            </p:cNvPr>
            <p:cNvSpPr/>
            <p:nvPr/>
          </p:nvSpPr>
          <p:spPr bwMode="gray">
            <a:xfrm>
              <a:off x="1371593" y="6095445"/>
              <a:ext cx="1088573" cy="98396"/>
            </a:xfrm>
            <a:prstGeom prst="rect">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0-25</a:t>
              </a:r>
            </a:p>
          </p:txBody>
        </p:sp>
        <p:sp>
          <p:nvSpPr>
            <p:cNvPr id="31" name="Rectangle 30">
              <a:extLst>
                <a:ext uri="{FF2B5EF4-FFF2-40B4-BE49-F238E27FC236}">
                  <a16:creationId xmlns:a16="http://schemas.microsoft.com/office/drawing/2014/main" id="{04051051-8925-4625-BB8C-F77C91A6691E}"/>
                </a:ext>
              </a:extLst>
            </p:cNvPr>
            <p:cNvSpPr/>
            <p:nvPr/>
          </p:nvSpPr>
          <p:spPr bwMode="gray">
            <a:xfrm>
              <a:off x="1371592" y="5982021"/>
              <a:ext cx="1088573" cy="10667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26-50</a:t>
              </a:r>
            </a:p>
          </p:txBody>
        </p:sp>
        <p:sp>
          <p:nvSpPr>
            <p:cNvPr id="32" name="Rectangle 31">
              <a:extLst>
                <a:ext uri="{FF2B5EF4-FFF2-40B4-BE49-F238E27FC236}">
                  <a16:creationId xmlns:a16="http://schemas.microsoft.com/office/drawing/2014/main" id="{CA94B70F-1496-4562-A109-668C4F386ECA}"/>
                </a:ext>
              </a:extLst>
            </p:cNvPr>
            <p:cNvSpPr/>
            <p:nvPr/>
          </p:nvSpPr>
          <p:spPr bwMode="gray">
            <a:xfrm>
              <a:off x="1379275" y="5839908"/>
              <a:ext cx="1088573" cy="135365"/>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51-100</a:t>
              </a:r>
            </a:p>
          </p:txBody>
        </p:sp>
        <p:sp>
          <p:nvSpPr>
            <p:cNvPr id="33" name="Rectangle 32">
              <a:extLst>
                <a:ext uri="{FF2B5EF4-FFF2-40B4-BE49-F238E27FC236}">
                  <a16:creationId xmlns:a16="http://schemas.microsoft.com/office/drawing/2014/main" id="{7FA7A090-1F24-4C7A-9B6B-473DDD390AC3}"/>
                </a:ext>
              </a:extLst>
            </p:cNvPr>
            <p:cNvSpPr/>
            <p:nvPr/>
          </p:nvSpPr>
          <p:spPr bwMode="gray">
            <a:xfrm>
              <a:off x="1379275" y="5347483"/>
              <a:ext cx="1088573" cy="477817"/>
            </a:xfrm>
            <a:prstGeom prst="rect">
              <a:avLst/>
            </a:prstGeom>
            <a:solidFill>
              <a:srgbClr val="FFC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101-200</a:t>
              </a:r>
            </a:p>
          </p:txBody>
        </p:sp>
        <p:sp>
          <p:nvSpPr>
            <p:cNvPr id="34" name="Rectangle 33">
              <a:extLst>
                <a:ext uri="{FF2B5EF4-FFF2-40B4-BE49-F238E27FC236}">
                  <a16:creationId xmlns:a16="http://schemas.microsoft.com/office/drawing/2014/main" id="{89E4EEF5-F681-480E-9F65-33DDCC3AB9C2}"/>
                </a:ext>
              </a:extLst>
            </p:cNvPr>
            <p:cNvSpPr/>
            <p:nvPr/>
          </p:nvSpPr>
          <p:spPr bwMode="gray">
            <a:xfrm>
              <a:off x="1382000" y="4928339"/>
              <a:ext cx="1088573" cy="415290"/>
            </a:xfrm>
            <a:prstGeom prst="rect">
              <a:avLst/>
            </a:prstGeom>
            <a:solidFill>
              <a:schemeClr val="accent4">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201-300</a:t>
              </a:r>
            </a:p>
          </p:txBody>
        </p:sp>
        <p:sp>
          <p:nvSpPr>
            <p:cNvPr id="35" name="Arrow: Up 34">
              <a:extLst>
                <a:ext uri="{FF2B5EF4-FFF2-40B4-BE49-F238E27FC236}">
                  <a16:creationId xmlns:a16="http://schemas.microsoft.com/office/drawing/2014/main" id="{C8EE5A6E-6C37-4DEF-BFD4-141E5404E5E3}"/>
                </a:ext>
              </a:extLst>
            </p:cNvPr>
            <p:cNvSpPr/>
            <p:nvPr/>
          </p:nvSpPr>
          <p:spPr bwMode="gray">
            <a:xfrm>
              <a:off x="4500607" y="4387019"/>
              <a:ext cx="507146" cy="413657"/>
            </a:xfrm>
            <a:prstGeom prst="up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6" name="Rectangle 35">
              <a:extLst>
                <a:ext uri="{FF2B5EF4-FFF2-40B4-BE49-F238E27FC236}">
                  <a16:creationId xmlns:a16="http://schemas.microsoft.com/office/drawing/2014/main" id="{73142A23-1AA0-4E83-B38F-50345E602090}"/>
                </a:ext>
              </a:extLst>
            </p:cNvPr>
            <p:cNvSpPr/>
            <p:nvPr/>
          </p:nvSpPr>
          <p:spPr bwMode="gray">
            <a:xfrm>
              <a:off x="2761524" y="5844995"/>
              <a:ext cx="1088573" cy="341818"/>
            </a:xfrm>
            <a:prstGeom prst="rect">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0-102</a:t>
              </a:r>
            </a:p>
          </p:txBody>
        </p:sp>
        <p:sp>
          <p:nvSpPr>
            <p:cNvPr id="37" name="Rectangle 36">
              <a:extLst>
                <a:ext uri="{FF2B5EF4-FFF2-40B4-BE49-F238E27FC236}">
                  <a16:creationId xmlns:a16="http://schemas.microsoft.com/office/drawing/2014/main" id="{6786CD1B-DD41-4816-8E1A-20B040D2BEDC}"/>
                </a:ext>
              </a:extLst>
            </p:cNvPr>
            <p:cNvSpPr/>
            <p:nvPr/>
          </p:nvSpPr>
          <p:spPr bwMode="gray">
            <a:xfrm>
              <a:off x="2758847" y="5426250"/>
              <a:ext cx="1088573" cy="413658"/>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103-180</a:t>
              </a:r>
            </a:p>
          </p:txBody>
        </p:sp>
        <p:sp>
          <p:nvSpPr>
            <p:cNvPr id="38" name="Rectangle 37">
              <a:extLst>
                <a:ext uri="{FF2B5EF4-FFF2-40B4-BE49-F238E27FC236}">
                  <a16:creationId xmlns:a16="http://schemas.microsoft.com/office/drawing/2014/main" id="{BE36F516-E3C0-49A4-86E2-B395AFD68AF2}"/>
                </a:ext>
              </a:extLst>
            </p:cNvPr>
            <p:cNvSpPr/>
            <p:nvPr/>
          </p:nvSpPr>
          <p:spPr bwMode="gray">
            <a:xfrm>
              <a:off x="2758847" y="4928339"/>
              <a:ext cx="1088573" cy="490582"/>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181-300</a:t>
              </a:r>
            </a:p>
          </p:txBody>
        </p:sp>
        <p:sp>
          <p:nvSpPr>
            <p:cNvPr id="42" name="TextBox 41">
              <a:extLst>
                <a:ext uri="{FF2B5EF4-FFF2-40B4-BE49-F238E27FC236}">
                  <a16:creationId xmlns:a16="http://schemas.microsoft.com/office/drawing/2014/main" id="{EEBD55C0-096F-41D8-9923-53B211265747}"/>
                </a:ext>
              </a:extLst>
            </p:cNvPr>
            <p:cNvSpPr txBox="1"/>
            <p:nvPr/>
          </p:nvSpPr>
          <p:spPr>
            <a:xfrm>
              <a:off x="794650" y="1185528"/>
              <a:ext cx="707573"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1200 kWh</a:t>
              </a:r>
            </a:p>
          </p:txBody>
        </p:sp>
        <p:sp>
          <p:nvSpPr>
            <p:cNvPr id="43" name="TextBox 42">
              <a:extLst>
                <a:ext uri="{FF2B5EF4-FFF2-40B4-BE49-F238E27FC236}">
                  <a16:creationId xmlns:a16="http://schemas.microsoft.com/office/drawing/2014/main" id="{B1906F8A-0563-49AE-A66D-ACCE3A911037}"/>
                </a:ext>
              </a:extLst>
            </p:cNvPr>
            <p:cNvSpPr txBox="1"/>
            <p:nvPr/>
          </p:nvSpPr>
          <p:spPr>
            <a:xfrm>
              <a:off x="742823" y="563658"/>
              <a:ext cx="707573"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latin typeface="Verdana" panose="020B0604030504040204" pitchFamily="34" charset="0"/>
                  <a:ea typeface="Verdana" panose="020B0604030504040204" pitchFamily="34" charset="0"/>
                </a:rPr>
                <a:t>1350 kWh</a:t>
              </a:r>
            </a:p>
          </p:txBody>
        </p:sp>
        <p:sp>
          <p:nvSpPr>
            <p:cNvPr id="44" name="Rectangle 43">
              <a:extLst>
                <a:ext uri="{FF2B5EF4-FFF2-40B4-BE49-F238E27FC236}">
                  <a16:creationId xmlns:a16="http://schemas.microsoft.com/office/drawing/2014/main" id="{0628795A-63A1-4FFD-B2E0-B36B272AEABA}"/>
                </a:ext>
              </a:extLst>
            </p:cNvPr>
            <p:cNvSpPr/>
            <p:nvPr/>
          </p:nvSpPr>
          <p:spPr bwMode="gray">
            <a:xfrm>
              <a:off x="2758847" y="3807774"/>
              <a:ext cx="1088573" cy="1132266"/>
            </a:xfrm>
            <a:prstGeom prst="rect">
              <a:avLst/>
            </a:prstGeom>
            <a:solidFill>
              <a:srgbClr val="FFC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301-600</a:t>
              </a:r>
            </a:p>
          </p:txBody>
        </p:sp>
        <p:sp>
          <p:nvSpPr>
            <p:cNvPr id="45" name="Rectangle 44">
              <a:extLst>
                <a:ext uri="{FF2B5EF4-FFF2-40B4-BE49-F238E27FC236}">
                  <a16:creationId xmlns:a16="http://schemas.microsoft.com/office/drawing/2014/main" id="{94E7E7F9-E98F-4F59-9427-5637A9BB7C5D}"/>
                </a:ext>
              </a:extLst>
            </p:cNvPr>
            <p:cNvSpPr/>
            <p:nvPr/>
          </p:nvSpPr>
          <p:spPr bwMode="gray">
            <a:xfrm>
              <a:off x="2758846" y="2584275"/>
              <a:ext cx="1088573" cy="1216778"/>
            </a:xfrm>
            <a:prstGeom prst="rect">
              <a:avLst/>
            </a:prstGeom>
            <a:solidFill>
              <a:schemeClr val="accent4">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601-900</a:t>
              </a:r>
            </a:p>
          </p:txBody>
        </p:sp>
        <p:sp>
          <p:nvSpPr>
            <p:cNvPr id="47" name="Rectangle 46">
              <a:extLst>
                <a:ext uri="{FF2B5EF4-FFF2-40B4-BE49-F238E27FC236}">
                  <a16:creationId xmlns:a16="http://schemas.microsoft.com/office/drawing/2014/main" id="{49FA69B3-D760-4B3D-9600-592284F73813}"/>
                </a:ext>
              </a:extLst>
            </p:cNvPr>
            <p:cNvSpPr/>
            <p:nvPr/>
          </p:nvSpPr>
          <p:spPr bwMode="gray">
            <a:xfrm>
              <a:off x="4209894" y="6085748"/>
              <a:ext cx="1088573" cy="94732"/>
            </a:xfrm>
            <a:prstGeom prst="rect">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0-34</a:t>
              </a:r>
            </a:p>
          </p:txBody>
        </p:sp>
        <p:sp>
          <p:nvSpPr>
            <p:cNvPr id="48" name="Rectangle 47">
              <a:extLst>
                <a:ext uri="{FF2B5EF4-FFF2-40B4-BE49-F238E27FC236}">
                  <a16:creationId xmlns:a16="http://schemas.microsoft.com/office/drawing/2014/main" id="{4504D145-C171-416A-A8DB-1E86D1831EF4}"/>
                </a:ext>
              </a:extLst>
            </p:cNvPr>
            <p:cNvSpPr/>
            <p:nvPr/>
          </p:nvSpPr>
          <p:spPr bwMode="gray">
            <a:xfrm>
              <a:off x="4209894" y="5959434"/>
              <a:ext cx="1088573" cy="13046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35-60</a:t>
              </a:r>
            </a:p>
          </p:txBody>
        </p:sp>
        <p:sp>
          <p:nvSpPr>
            <p:cNvPr id="49" name="Rectangle 48">
              <a:extLst>
                <a:ext uri="{FF2B5EF4-FFF2-40B4-BE49-F238E27FC236}">
                  <a16:creationId xmlns:a16="http://schemas.microsoft.com/office/drawing/2014/main" id="{35630871-259C-4352-BC06-99E5E1AE7A95}"/>
                </a:ext>
              </a:extLst>
            </p:cNvPr>
            <p:cNvSpPr/>
            <p:nvPr/>
          </p:nvSpPr>
          <p:spPr bwMode="gray">
            <a:xfrm>
              <a:off x="4209894" y="5839908"/>
              <a:ext cx="1088573" cy="126712"/>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61-100</a:t>
              </a:r>
            </a:p>
          </p:txBody>
        </p:sp>
        <p:sp>
          <p:nvSpPr>
            <p:cNvPr id="50" name="Rectangle 49">
              <a:extLst>
                <a:ext uri="{FF2B5EF4-FFF2-40B4-BE49-F238E27FC236}">
                  <a16:creationId xmlns:a16="http://schemas.microsoft.com/office/drawing/2014/main" id="{C91321E5-3C0E-40C1-AE35-9A9FF4C05CC7}"/>
                </a:ext>
              </a:extLst>
            </p:cNvPr>
            <p:cNvSpPr/>
            <p:nvPr/>
          </p:nvSpPr>
          <p:spPr bwMode="gray">
            <a:xfrm>
              <a:off x="4209894" y="5337473"/>
              <a:ext cx="1088573" cy="514744"/>
            </a:xfrm>
            <a:prstGeom prst="rect">
              <a:avLst/>
            </a:prstGeom>
            <a:solidFill>
              <a:srgbClr val="FFC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101-200</a:t>
              </a:r>
            </a:p>
          </p:txBody>
        </p:sp>
        <p:sp>
          <p:nvSpPr>
            <p:cNvPr id="51" name="Rectangle 50">
              <a:extLst>
                <a:ext uri="{FF2B5EF4-FFF2-40B4-BE49-F238E27FC236}">
                  <a16:creationId xmlns:a16="http://schemas.microsoft.com/office/drawing/2014/main" id="{85EF1EE0-EF7C-42AB-AFD1-9DEA2CDCDAF6}"/>
                </a:ext>
              </a:extLst>
            </p:cNvPr>
            <p:cNvSpPr/>
            <p:nvPr/>
          </p:nvSpPr>
          <p:spPr bwMode="gray">
            <a:xfrm>
              <a:off x="4209894" y="4946633"/>
              <a:ext cx="1088573" cy="383677"/>
            </a:xfrm>
            <a:prstGeom prst="rect">
              <a:avLst/>
            </a:prstGeom>
            <a:solidFill>
              <a:schemeClr val="accent4">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201-300</a:t>
              </a:r>
            </a:p>
          </p:txBody>
        </p:sp>
        <p:sp>
          <p:nvSpPr>
            <p:cNvPr id="60" name="Rectangle 59">
              <a:extLst>
                <a:ext uri="{FF2B5EF4-FFF2-40B4-BE49-F238E27FC236}">
                  <a16:creationId xmlns:a16="http://schemas.microsoft.com/office/drawing/2014/main" id="{CE1615B0-BE49-4DE9-A31B-F3380E08AAA1}"/>
                </a:ext>
              </a:extLst>
            </p:cNvPr>
            <p:cNvSpPr/>
            <p:nvPr/>
          </p:nvSpPr>
          <p:spPr bwMode="gray">
            <a:xfrm>
              <a:off x="5744516" y="5975273"/>
              <a:ext cx="1088573" cy="12135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25-60</a:t>
              </a:r>
            </a:p>
          </p:txBody>
        </p:sp>
        <p:sp>
          <p:nvSpPr>
            <p:cNvPr id="61" name="Rectangle 60">
              <a:extLst>
                <a:ext uri="{FF2B5EF4-FFF2-40B4-BE49-F238E27FC236}">
                  <a16:creationId xmlns:a16="http://schemas.microsoft.com/office/drawing/2014/main" id="{0B0A4B8E-827A-4067-A358-193826B221C0}"/>
                </a:ext>
              </a:extLst>
            </p:cNvPr>
            <p:cNvSpPr/>
            <p:nvPr/>
          </p:nvSpPr>
          <p:spPr bwMode="gray">
            <a:xfrm>
              <a:off x="5746415" y="5848437"/>
              <a:ext cx="1088573" cy="130463"/>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61-100</a:t>
              </a:r>
            </a:p>
          </p:txBody>
        </p:sp>
        <p:sp>
          <p:nvSpPr>
            <p:cNvPr id="62" name="Rectangle 61">
              <a:extLst>
                <a:ext uri="{FF2B5EF4-FFF2-40B4-BE49-F238E27FC236}">
                  <a16:creationId xmlns:a16="http://schemas.microsoft.com/office/drawing/2014/main" id="{A911AB88-C8D2-436A-AA47-392E9065AB65}"/>
                </a:ext>
              </a:extLst>
            </p:cNvPr>
            <p:cNvSpPr/>
            <p:nvPr/>
          </p:nvSpPr>
          <p:spPr bwMode="gray">
            <a:xfrm>
              <a:off x="5736238" y="5595262"/>
              <a:ext cx="1088573" cy="246427"/>
            </a:xfrm>
            <a:prstGeom prst="rect">
              <a:avLst/>
            </a:prstGeom>
            <a:solidFill>
              <a:srgbClr val="FFC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101-150</a:t>
              </a:r>
            </a:p>
          </p:txBody>
        </p:sp>
        <p:sp>
          <p:nvSpPr>
            <p:cNvPr id="63" name="Rectangle 62">
              <a:extLst>
                <a:ext uri="{FF2B5EF4-FFF2-40B4-BE49-F238E27FC236}">
                  <a16:creationId xmlns:a16="http://schemas.microsoft.com/office/drawing/2014/main" id="{AB2CECB8-1C25-4152-BD96-8345A3058264}"/>
                </a:ext>
              </a:extLst>
            </p:cNvPr>
            <p:cNvSpPr/>
            <p:nvPr/>
          </p:nvSpPr>
          <p:spPr bwMode="gray">
            <a:xfrm>
              <a:off x="5736238" y="5347483"/>
              <a:ext cx="1088573" cy="252435"/>
            </a:xfrm>
            <a:prstGeom prst="rect">
              <a:avLst/>
            </a:prstGeom>
            <a:solidFill>
              <a:schemeClr val="accent4">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151-200</a:t>
              </a:r>
            </a:p>
          </p:txBody>
        </p:sp>
        <p:sp>
          <p:nvSpPr>
            <p:cNvPr id="64" name="Rectangle 63">
              <a:extLst>
                <a:ext uri="{FF2B5EF4-FFF2-40B4-BE49-F238E27FC236}">
                  <a16:creationId xmlns:a16="http://schemas.microsoft.com/office/drawing/2014/main" id="{4D18FCB1-5E60-47EB-8F72-58F68FE487C9}"/>
                </a:ext>
              </a:extLst>
            </p:cNvPr>
            <p:cNvSpPr/>
            <p:nvPr/>
          </p:nvSpPr>
          <p:spPr bwMode="gray">
            <a:xfrm>
              <a:off x="5736239" y="6095445"/>
              <a:ext cx="1088573" cy="87706"/>
            </a:xfrm>
            <a:prstGeom prst="rect">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0-25</a:t>
              </a:r>
            </a:p>
          </p:txBody>
        </p:sp>
        <p:sp>
          <p:nvSpPr>
            <p:cNvPr id="65" name="Rectangle 64">
              <a:extLst>
                <a:ext uri="{FF2B5EF4-FFF2-40B4-BE49-F238E27FC236}">
                  <a16:creationId xmlns:a16="http://schemas.microsoft.com/office/drawing/2014/main" id="{DA3DADF5-6E7A-4096-BA23-5573FBA43261}"/>
                </a:ext>
              </a:extLst>
            </p:cNvPr>
            <p:cNvSpPr/>
            <p:nvPr/>
          </p:nvSpPr>
          <p:spPr bwMode="gray">
            <a:xfrm>
              <a:off x="5736237" y="4928339"/>
              <a:ext cx="1088573" cy="427786"/>
            </a:xfrm>
            <a:prstGeom prst="rect">
              <a:avLst/>
            </a:prstGeom>
            <a:solidFill>
              <a:srgbClr val="00558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201-300</a:t>
              </a:r>
            </a:p>
          </p:txBody>
        </p:sp>
        <p:sp>
          <p:nvSpPr>
            <p:cNvPr id="67" name="Rectangle 66">
              <a:extLst>
                <a:ext uri="{FF2B5EF4-FFF2-40B4-BE49-F238E27FC236}">
                  <a16:creationId xmlns:a16="http://schemas.microsoft.com/office/drawing/2014/main" id="{F59FC6FA-9501-4A88-B48C-FA8EEEA68668}"/>
                </a:ext>
              </a:extLst>
            </p:cNvPr>
            <p:cNvSpPr/>
            <p:nvPr/>
          </p:nvSpPr>
          <p:spPr bwMode="gray">
            <a:xfrm>
              <a:off x="7192886" y="5839908"/>
              <a:ext cx="1344380" cy="324853"/>
            </a:xfrm>
            <a:prstGeom prst="rect">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0-100</a:t>
              </a:r>
            </a:p>
          </p:txBody>
        </p:sp>
        <p:sp>
          <p:nvSpPr>
            <p:cNvPr id="69" name="Rectangle 68">
              <a:extLst>
                <a:ext uri="{FF2B5EF4-FFF2-40B4-BE49-F238E27FC236}">
                  <a16:creationId xmlns:a16="http://schemas.microsoft.com/office/drawing/2014/main" id="{30380E0C-A257-4DDB-9B31-9F96C457DD90}"/>
                </a:ext>
              </a:extLst>
            </p:cNvPr>
            <p:cNvSpPr/>
            <p:nvPr/>
          </p:nvSpPr>
          <p:spPr bwMode="gray">
            <a:xfrm>
              <a:off x="7192886" y="4940040"/>
              <a:ext cx="1344380" cy="89312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101-300</a:t>
              </a:r>
            </a:p>
          </p:txBody>
        </p:sp>
        <p:sp>
          <p:nvSpPr>
            <p:cNvPr id="70" name="Rectangle 69">
              <a:extLst>
                <a:ext uri="{FF2B5EF4-FFF2-40B4-BE49-F238E27FC236}">
                  <a16:creationId xmlns:a16="http://schemas.microsoft.com/office/drawing/2014/main" id="{E88D2F1A-1F7F-4756-82F2-5731AB495DC2}"/>
                </a:ext>
              </a:extLst>
            </p:cNvPr>
            <p:cNvSpPr/>
            <p:nvPr/>
          </p:nvSpPr>
          <p:spPr bwMode="gray">
            <a:xfrm>
              <a:off x="7186280" y="4157923"/>
              <a:ext cx="1350986" cy="787336"/>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301-500</a:t>
              </a:r>
            </a:p>
          </p:txBody>
        </p:sp>
        <p:sp>
          <p:nvSpPr>
            <p:cNvPr id="75" name="Rectangle 74">
              <a:extLst>
                <a:ext uri="{FF2B5EF4-FFF2-40B4-BE49-F238E27FC236}">
                  <a16:creationId xmlns:a16="http://schemas.microsoft.com/office/drawing/2014/main" id="{C7E4DDBD-D2C0-4995-BC07-07ACDA1C6892}"/>
                </a:ext>
              </a:extLst>
            </p:cNvPr>
            <p:cNvSpPr/>
            <p:nvPr/>
          </p:nvSpPr>
          <p:spPr bwMode="gray">
            <a:xfrm>
              <a:off x="8778950" y="5372351"/>
              <a:ext cx="1088573" cy="819129"/>
            </a:xfrm>
            <a:prstGeom prst="rect">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0-200</a:t>
              </a:r>
            </a:p>
          </p:txBody>
        </p:sp>
        <p:sp>
          <p:nvSpPr>
            <p:cNvPr id="76" name="Rectangle 75">
              <a:extLst>
                <a:ext uri="{FF2B5EF4-FFF2-40B4-BE49-F238E27FC236}">
                  <a16:creationId xmlns:a16="http://schemas.microsoft.com/office/drawing/2014/main" id="{B5A7997F-FE48-4F84-8468-6EE26881ABB2}"/>
                </a:ext>
              </a:extLst>
            </p:cNvPr>
            <p:cNvSpPr/>
            <p:nvPr/>
          </p:nvSpPr>
          <p:spPr bwMode="gray">
            <a:xfrm>
              <a:off x="8762668" y="4577853"/>
              <a:ext cx="1111621" cy="78733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201-400</a:t>
              </a:r>
            </a:p>
          </p:txBody>
        </p:sp>
        <p:sp>
          <p:nvSpPr>
            <p:cNvPr id="77" name="Rectangle 76">
              <a:extLst>
                <a:ext uri="{FF2B5EF4-FFF2-40B4-BE49-F238E27FC236}">
                  <a16:creationId xmlns:a16="http://schemas.microsoft.com/office/drawing/2014/main" id="{3DEB42DC-63CF-401A-A495-1C2C4DF76796}"/>
                </a:ext>
              </a:extLst>
            </p:cNvPr>
            <p:cNvSpPr/>
            <p:nvPr/>
          </p:nvSpPr>
          <p:spPr bwMode="gray">
            <a:xfrm>
              <a:off x="8762668" y="2913155"/>
              <a:ext cx="1104855" cy="1672200"/>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401-800</a:t>
              </a:r>
            </a:p>
          </p:txBody>
        </p:sp>
        <p:sp>
          <p:nvSpPr>
            <p:cNvPr id="78" name="Rectangle 77">
              <a:extLst>
                <a:ext uri="{FF2B5EF4-FFF2-40B4-BE49-F238E27FC236}">
                  <a16:creationId xmlns:a16="http://schemas.microsoft.com/office/drawing/2014/main" id="{60BC4382-4DBD-4922-8A8B-04D9A372CB41}"/>
                </a:ext>
              </a:extLst>
            </p:cNvPr>
            <p:cNvSpPr/>
            <p:nvPr/>
          </p:nvSpPr>
          <p:spPr bwMode="gray">
            <a:xfrm>
              <a:off x="8755902" y="1185528"/>
              <a:ext cx="1117440" cy="1727627"/>
            </a:xfrm>
            <a:prstGeom prst="rect">
              <a:avLst/>
            </a:prstGeom>
            <a:solidFill>
              <a:srgbClr val="FFC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801-1200</a:t>
              </a:r>
            </a:p>
          </p:txBody>
        </p:sp>
        <p:sp>
          <p:nvSpPr>
            <p:cNvPr id="79" name="Arrow: Up 78">
              <a:extLst>
                <a:ext uri="{FF2B5EF4-FFF2-40B4-BE49-F238E27FC236}">
                  <a16:creationId xmlns:a16="http://schemas.microsoft.com/office/drawing/2014/main" id="{0E52B72B-3311-47E0-BBEA-36E7E1733E91}"/>
                </a:ext>
              </a:extLst>
            </p:cNvPr>
            <p:cNvSpPr/>
            <p:nvPr/>
          </p:nvSpPr>
          <p:spPr bwMode="gray">
            <a:xfrm>
              <a:off x="9061049" y="635081"/>
              <a:ext cx="507146" cy="453374"/>
            </a:xfrm>
            <a:prstGeom prst="up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80" name="Rectangle: Rounded Corners 79">
              <a:extLst>
                <a:ext uri="{FF2B5EF4-FFF2-40B4-BE49-F238E27FC236}">
                  <a16:creationId xmlns:a16="http://schemas.microsoft.com/office/drawing/2014/main" id="{5872E05A-989B-4FA1-A047-38173708710F}"/>
                </a:ext>
              </a:extLst>
            </p:cNvPr>
            <p:cNvSpPr/>
            <p:nvPr/>
          </p:nvSpPr>
          <p:spPr bwMode="gray">
            <a:xfrm>
              <a:off x="1251291" y="1788422"/>
              <a:ext cx="5835308" cy="4505896"/>
            </a:xfrm>
            <a:prstGeom prst="roundRect">
              <a:avLst/>
            </a:prstGeom>
            <a:noFill/>
            <a:ln>
              <a:solidFill>
                <a:srgbClr val="FF0000"/>
              </a:solidFill>
              <a:prstDash val="lgDash"/>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81" name="Rectangle 80">
              <a:extLst>
                <a:ext uri="{FF2B5EF4-FFF2-40B4-BE49-F238E27FC236}">
                  <a16:creationId xmlns:a16="http://schemas.microsoft.com/office/drawing/2014/main" id="{28AB8687-F642-4259-8B09-9030B44C5DAC}"/>
                </a:ext>
              </a:extLst>
            </p:cNvPr>
            <p:cNvSpPr/>
            <p:nvPr/>
          </p:nvSpPr>
          <p:spPr bwMode="gray">
            <a:xfrm>
              <a:off x="10077125" y="5982021"/>
              <a:ext cx="1088573" cy="182740"/>
            </a:xfrm>
            <a:prstGeom prst="rect">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latin typeface="Verdana" panose="020B0604030504040204" pitchFamily="34" charset="0"/>
                  <a:ea typeface="Verdana" panose="020B0604030504040204" pitchFamily="34" charset="0"/>
                </a:rPr>
                <a:t>0-50</a:t>
              </a:r>
            </a:p>
          </p:txBody>
        </p:sp>
        <p:sp>
          <p:nvSpPr>
            <p:cNvPr id="82" name="Rectangle 81">
              <a:extLst>
                <a:ext uri="{FF2B5EF4-FFF2-40B4-BE49-F238E27FC236}">
                  <a16:creationId xmlns:a16="http://schemas.microsoft.com/office/drawing/2014/main" id="{69225D54-6D99-407C-AE28-0FDF7809265F}"/>
                </a:ext>
              </a:extLst>
            </p:cNvPr>
            <p:cNvSpPr/>
            <p:nvPr/>
          </p:nvSpPr>
          <p:spPr bwMode="gray">
            <a:xfrm>
              <a:off x="10077124" y="5833160"/>
              <a:ext cx="1088573" cy="14527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51-100</a:t>
              </a:r>
            </a:p>
          </p:txBody>
        </p:sp>
        <p:sp>
          <p:nvSpPr>
            <p:cNvPr id="83" name="Rectangle 82">
              <a:extLst>
                <a:ext uri="{FF2B5EF4-FFF2-40B4-BE49-F238E27FC236}">
                  <a16:creationId xmlns:a16="http://schemas.microsoft.com/office/drawing/2014/main" id="{1878DB25-10B2-4F96-A3C4-C1FCF2D71E44}"/>
                </a:ext>
              </a:extLst>
            </p:cNvPr>
            <p:cNvSpPr/>
            <p:nvPr/>
          </p:nvSpPr>
          <p:spPr bwMode="gray">
            <a:xfrm>
              <a:off x="10077123" y="5333693"/>
              <a:ext cx="1088573" cy="514744"/>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Verdana" panose="020B0604030504040204" pitchFamily="34" charset="0"/>
                  <a:ea typeface="Verdana" panose="020B0604030504040204" pitchFamily="34" charset="0"/>
                </a:rPr>
                <a:t>101-200</a:t>
              </a:r>
            </a:p>
          </p:txBody>
        </p:sp>
        <p:sp>
          <p:nvSpPr>
            <p:cNvPr id="84" name="Arrow: Up 83">
              <a:extLst>
                <a:ext uri="{FF2B5EF4-FFF2-40B4-BE49-F238E27FC236}">
                  <a16:creationId xmlns:a16="http://schemas.microsoft.com/office/drawing/2014/main" id="{6F79F70C-F95A-4020-BAE0-F3008379CFC7}"/>
                </a:ext>
              </a:extLst>
            </p:cNvPr>
            <p:cNvSpPr/>
            <p:nvPr/>
          </p:nvSpPr>
          <p:spPr bwMode="gray">
            <a:xfrm>
              <a:off x="10367836" y="4878250"/>
              <a:ext cx="507146" cy="413657"/>
            </a:xfrm>
            <a:prstGeom prst="up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87" name="Rectangle 86">
            <a:extLst>
              <a:ext uri="{FF2B5EF4-FFF2-40B4-BE49-F238E27FC236}">
                <a16:creationId xmlns:a16="http://schemas.microsoft.com/office/drawing/2014/main" id="{C04F575E-B843-4B2A-AE85-5FA1E7868B6A}"/>
              </a:ext>
            </a:extLst>
          </p:cNvPr>
          <p:cNvSpPr/>
          <p:nvPr/>
        </p:nvSpPr>
        <p:spPr bwMode="gray">
          <a:xfrm>
            <a:off x="2651016" y="975482"/>
            <a:ext cx="5927356" cy="430110"/>
          </a:xfrm>
          <a:prstGeom prst="rect">
            <a:avLst/>
          </a:prstGeom>
          <a:noFill/>
          <a:ln w="19050" algn="ctr">
            <a:solidFill>
              <a:schemeClr val="bg2">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latin typeface="Verdana" panose="020B0604030504040204" pitchFamily="34" charset="0"/>
                <a:ea typeface="Verdana" panose="020B0604030504040204" pitchFamily="34" charset="0"/>
              </a:rPr>
              <a:t>Simpler tariff slabs contribute towards easing up of billing process</a:t>
            </a:r>
          </a:p>
        </p:txBody>
      </p:sp>
      <p:cxnSp>
        <p:nvCxnSpPr>
          <p:cNvPr id="4" name="Straight Arrow Connector 3">
            <a:extLst>
              <a:ext uri="{FF2B5EF4-FFF2-40B4-BE49-F238E27FC236}">
                <a16:creationId xmlns:a16="http://schemas.microsoft.com/office/drawing/2014/main" id="{944FA98F-7FD1-46EE-AAE9-10619B042C4A}"/>
              </a:ext>
            </a:extLst>
          </p:cNvPr>
          <p:cNvCxnSpPr/>
          <p:nvPr/>
        </p:nvCxnSpPr>
        <p:spPr>
          <a:xfrm flipV="1">
            <a:off x="391886" y="2623457"/>
            <a:ext cx="0" cy="148306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4392E95-7083-4009-9564-C3A5FE56391A}"/>
              </a:ext>
            </a:extLst>
          </p:cNvPr>
          <p:cNvSpPr txBox="1"/>
          <p:nvPr/>
        </p:nvSpPr>
        <p:spPr>
          <a:xfrm>
            <a:off x="185990" y="2354180"/>
            <a:ext cx="184666" cy="1483069"/>
          </a:xfrm>
          <a:prstGeom prst="rect">
            <a:avLst/>
          </a:prstGeom>
          <a:noFill/>
        </p:spPr>
        <p:txBody>
          <a:bodyPr vert="vert270" wrap="square" lIns="0" tIns="0" rIns="0" bIns="0" rtlCol="0">
            <a:spAutoFit/>
          </a:bodyPr>
          <a:lstStyle/>
          <a:p>
            <a:pPr>
              <a:spcBef>
                <a:spcPts val="600"/>
              </a:spcBef>
              <a:buSzPct val="100000"/>
            </a:pPr>
            <a:r>
              <a:rPr lang="en-US" sz="1200" i="1" dirty="0">
                <a:solidFill>
                  <a:srgbClr val="313131"/>
                </a:solidFill>
                <a:latin typeface="Verdana" panose="020B0604030504040204" pitchFamily="34" charset="0"/>
                <a:ea typeface="Verdana" panose="020B0604030504040204" pitchFamily="34" charset="0"/>
              </a:rPr>
              <a:t>No. of Units</a:t>
            </a:r>
          </a:p>
        </p:txBody>
      </p:sp>
    </p:spTree>
    <p:extLst>
      <p:ext uri="{BB962C8B-B14F-4D97-AF65-F5344CB8AC3E}">
        <p14:creationId xmlns:p14="http://schemas.microsoft.com/office/powerpoint/2010/main" val="410439858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9663B7EA-723A-4B78-97F6-42749FB2E535}"/>
              </a:ext>
            </a:extLst>
          </p:cNvPr>
          <p:cNvSpPr>
            <a:spLocks noGrp="1"/>
          </p:cNvSpPr>
          <p:nvPr>
            <p:ph type="body" sz="quarter" idx="13"/>
          </p:nvPr>
        </p:nvSpPr>
        <p:spPr>
          <a:xfrm>
            <a:off x="501650" y="519498"/>
            <a:ext cx="11188700" cy="560366"/>
          </a:xfrm>
        </p:spPr>
        <p:txBody>
          <a:bodyPr/>
          <a:lstStyle/>
          <a:p>
            <a:r>
              <a:rPr lang="en-US" sz="1600" dirty="0">
                <a:latin typeface="Calibri" panose="020F0502020204030204" pitchFamily="34" charset="0"/>
                <a:cs typeface="Calibri" panose="020F0502020204030204" pitchFamily="34" charset="0"/>
              </a:rPr>
              <a:t>Anti Power theft police stations play a crucial role in the prevention of power thefts and minimization of AT&amp;C losses. </a:t>
            </a:r>
          </a:p>
        </p:txBody>
      </p:sp>
      <p:sp>
        <p:nvSpPr>
          <p:cNvPr id="6" name="Title 2">
            <a:extLst>
              <a:ext uri="{FF2B5EF4-FFF2-40B4-BE49-F238E27FC236}">
                <a16:creationId xmlns:a16="http://schemas.microsoft.com/office/drawing/2014/main" id="{27CF00C1-444A-4B6F-ACC2-B68B9869B970}"/>
              </a:ext>
            </a:extLst>
          </p:cNvPr>
          <p:cNvSpPr>
            <a:spLocks noGrp="1"/>
          </p:cNvSpPr>
          <p:nvPr>
            <p:ph type="title"/>
          </p:nvPr>
        </p:nvSpPr>
        <p:spPr>
          <a:xfrm>
            <a:off x="495341" y="205436"/>
            <a:ext cx="11188700" cy="334099"/>
          </a:xfrm>
        </p:spPr>
        <p:txBody>
          <a:bodyPr vert="horz"/>
          <a:lstStyle/>
          <a:p>
            <a:r>
              <a:rPr lang="en-US" sz="2100" b="1" dirty="0">
                <a:latin typeface="Calibri" panose="020F0502020204030204" pitchFamily="34" charset="0"/>
                <a:cs typeface="Calibri" panose="020F0502020204030204" pitchFamily="34" charset="0"/>
              </a:rPr>
              <a:t>Impact Analysis of anti power theft initiatives in Select States</a:t>
            </a:r>
          </a:p>
        </p:txBody>
      </p:sp>
      <p:sp>
        <p:nvSpPr>
          <p:cNvPr id="7" name="Rectangle 6">
            <a:extLst>
              <a:ext uri="{FF2B5EF4-FFF2-40B4-BE49-F238E27FC236}">
                <a16:creationId xmlns:a16="http://schemas.microsoft.com/office/drawing/2014/main" id="{627E928D-2D80-4C66-9F71-CF16EF44DB15}"/>
              </a:ext>
            </a:extLst>
          </p:cNvPr>
          <p:cNvSpPr/>
          <p:nvPr/>
        </p:nvSpPr>
        <p:spPr>
          <a:xfrm>
            <a:off x="403960" y="3356127"/>
            <a:ext cx="6890262" cy="338554"/>
          </a:xfrm>
          <a:prstGeom prst="rect">
            <a:avLst/>
          </a:prstGeom>
        </p:spPr>
        <p:txBody>
          <a:bodyPr wrap="square">
            <a:spAutoFit/>
          </a:bodyPr>
          <a:lstStyle/>
          <a:p>
            <a:r>
              <a:rPr lang="en-US" sz="1600" b="1" dirty="0">
                <a:solidFill>
                  <a:schemeClr val="accent3"/>
                </a:solidFill>
                <a:latin typeface="Calibri" panose="020F0502020204030204" pitchFamily="34" charset="0"/>
                <a:cs typeface="Calibri" panose="020F0502020204030204" pitchFamily="34" charset="0"/>
              </a:rPr>
              <a:t>Improvement in the quality of investigation of power theft crimes in UP</a:t>
            </a:r>
          </a:p>
        </p:txBody>
      </p:sp>
      <p:pic>
        <p:nvPicPr>
          <p:cNvPr id="8" name="Picture 7">
            <a:extLst>
              <a:ext uri="{FF2B5EF4-FFF2-40B4-BE49-F238E27FC236}">
                <a16:creationId xmlns:a16="http://schemas.microsoft.com/office/drawing/2014/main" id="{63953723-EB49-4227-BBFB-A50F58CFA14A}"/>
              </a:ext>
            </a:extLst>
          </p:cNvPr>
          <p:cNvPicPr>
            <a:picLocks noChangeAspect="1"/>
          </p:cNvPicPr>
          <p:nvPr/>
        </p:nvPicPr>
        <p:blipFill>
          <a:blip r:embed="rId2"/>
          <a:stretch>
            <a:fillRect/>
          </a:stretch>
        </p:blipFill>
        <p:spPr>
          <a:xfrm>
            <a:off x="7555914" y="4993768"/>
            <a:ext cx="3895704" cy="1652303"/>
          </a:xfrm>
          <a:prstGeom prst="rect">
            <a:avLst/>
          </a:prstGeom>
          <a:ln>
            <a:solidFill>
              <a:schemeClr val="tx1">
                <a:lumMod val="50000"/>
                <a:lumOff val="50000"/>
              </a:schemeClr>
            </a:solidFill>
          </a:ln>
        </p:spPr>
      </p:pic>
      <p:graphicFrame>
        <p:nvGraphicFramePr>
          <p:cNvPr id="9" name="Chart 8">
            <a:extLst>
              <a:ext uri="{FF2B5EF4-FFF2-40B4-BE49-F238E27FC236}">
                <a16:creationId xmlns:a16="http://schemas.microsoft.com/office/drawing/2014/main" id="{52D790D8-DC7C-48ED-81C9-9481F812BD2B}"/>
              </a:ext>
            </a:extLst>
          </p:cNvPr>
          <p:cNvGraphicFramePr>
            <a:graphicFrameLocks/>
          </p:cNvGraphicFramePr>
          <p:nvPr>
            <p:extLst>
              <p:ext uri="{D42A27DB-BD31-4B8C-83A1-F6EECF244321}">
                <p14:modId xmlns:p14="http://schemas.microsoft.com/office/powerpoint/2010/main" val="3824858486"/>
              </p:ext>
            </p:extLst>
          </p:nvPr>
        </p:nvGraphicFramePr>
        <p:xfrm>
          <a:off x="403959" y="3548968"/>
          <a:ext cx="7040697" cy="3103596"/>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hlinkClick r:id="rId4"/>
            <a:extLst>
              <a:ext uri="{FF2B5EF4-FFF2-40B4-BE49-F238E27FC236}">
                <a16:creationId xmlns:a16="http://schemas.microsoft.com/office/drawing/2014/main" id="{F6CADE94-F97B-4130-8C4F-21E61AB4061A}"/>
              </a:ext>
            </a:extLst>
          </p:cNvPr>
          <p:cNvSpPr txBox="1"/>
          <p:nvPr/>
        </p:nvSpPr>
        <p:spPr>
          <a:xfrm>
            <a:off x="2678763" y="6652564"/>
            <a:ext cx="3972485" cy="161583"/>
          </a:xfrm>
          <a:prstGeom prst="rect">
            <a:avLst/>
          </a:prstGeom>
          <a:noFill/>
        </p:spPr>
        <p:txBody>
          <a:bodyPr wrap="square" lIns="0" tIns="0" rIns="0" bIns="0" rtlCol="0">
            <a:spAutoFit/>
          </a:bodyPr>
          <a:lstStyle/>
          <a:p>
            <a:pPr>
              <a:spcBef>
                <a:spcPts val="600"/>
              </a:spcBef>
              <a:buSzPct val="100000"/>
            </a:pPr>
            <a:r>
              <a:rPr lang="en-US" sz="1050" dirty="0">
                <a:solidFill>
                  <a:srgbClr val="313131"/>
                </a:solidFill>
                <a:latin typeface="Calibri" panose="020F0502020204030204" pitchFamily="34" charset="0"/>
                <a:cs typeface="Calibri" panose="020F0502020204030204" pitchFamily="34" charset="0"/>
                <a:hlinkClick r:id="rId4"/>
              </a:rPr>
              <a:t>1.Impact Analysis of Anti Power theft police stations </a:t>
            </a:r>
            <a:endParaRPr lang="en-US" sz="1050" dirty="0">
              <a:solidFill>
                <a:srgbClr val="313131"/>
              </a:solidFill>
              <a:latin typeface="Calibri" panose="020F0502020204030204" pitchFamily="34" charset="0"/>
              <a:cs typeface="Calibri" panose="020F0502020204030204" pitchFamily="34" charset="0"/>
            </a:endParaRPr>
          </a:p>
        </p:txBody>
      </p:sp>
      <p:grpSp>
        <p:nvGrpSpPr>
          <p:cNvPr id="11" name="Group 10">
            <a:extLst>
              <a:ext uri="{FF2B5EF4-FFF2-40B4-BE49-F238E27FC236}">
                <a16:creationId xmlns:a16="http://schemas.microsoft.com/office/drawing/2014/main" id="{E519FBA6-2871-4263-A6E0-E47625397D5C}"/>
              </a:ext>
            </a:extLst>
          </p:cNvPr>
          <p:cNvGrpSpPr/>
          <p:nvPr/>
        </p:nvGrpSpPr>
        <p:grpSpPr>
          <a:xfrm>
            <a:off x="447352" y="710874"/>
            <a:ext cx="11004267" cy="1867862"/>
            <a:chOff x="495340" y="3582094"/>
            <a:chExt cx="8141127" cy="1867862"/>
          </a:xfrm>
        </p:grpSpPr>
        <p:sp>
          <p:nvSpPr>
            <p:cNvPr id="12" name="Rectangle 11">
              <a:extLst>
                <a:ext uri="{FF2B5EF4-FFF2-40B4-BE49-F238E27FC236}">
                  <a16:creationId xmlns:a16="http://schemas.microsoft.com/office/drawing/2014/main" id="{128D544C-7132-4DE2-BFDD-522645EC2DA3}"/>
                </a:ext>
              </a:extLst>
            </p:cNvPr>
            <p:cNvSpPr/>
            <p:nvPr/>
          </p:nvSpPr>
          <p:spPr bwMode="gray">
            <a:xfrm>
              <a:off x="495340" y="3934433"/>
              <a:ext cx="8141127" cy="1515523"/>
            </a:xfrm>
            <a:prstGeom prst="rect">
              <a:avLst/>
            </a:prstGeom>
            <a:solidFill>
              <a:srgbClr val="9DD4CF">
                <a:alpha val="47000"/>
              </a:srgbClr>
            </a:solidFill>
            <a:ln w="19050" algn="ctr">
              <a:noFill/>
              <a:miter lim="800000"/>
              <a:headEnd/>
              <a:tailEnd/>
            </a:ln>
          </p:spPr>
          <p:txBody>
            <a:bodyPr wrap="square" lIns="88900" tIns="88900" rIns="88900" bIns="88900" rtlCol="0" anchor="t"/>
            <a:lstStyle/>
            <a:p>
              <a:pPr marL="168275" indent="-168275" algn="just">
                <a:lnSpc>
                  <a:spcPct val="106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24×7 operational control room</a:t>
              </a:r>
            </a:p>
            <a:p>
              <a:pPr marL="168275" indent="-168275" algn="just">
                <a:lnSpc>
                  <a:spcPct val="106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Anonymity and Confidentiality maintained; along with provision for online reporting</a:t>
              </a:r>
            </a:p>
            <a:p>
              <a:pPr marL="168275" indent="-168275" algn="just">
                <a:lnSpc>
                  <a:spcPct val="106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A cash reward scheme in place</a:t>
              </a:r>
            </a:p>
            <a:p>
              <a:pPr marL="168275" indent="-168275" algn="just">
                <a:lnSpc>
                  <a:spcPct val="106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Installation Checking Squads function in each O&amp;M circle in each subsidiary company MGVCL, PGVCL, DGVCL &amp; UGVCL to take appropriate confidential actions on power theft related information.</a:t>
              </a:r>
            </a:p>
            <a:p>
              <a:pPr marL="168275" indent="-168275" algn="just">
                <a:lnSpc>
                  <a:spcPct val="106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Periodic pro-active vigilance activities in all subsidiaries of GUVNL</a:t>
              </a:r>
            </a:p>
            <a:p>
              <a:pPr algn="just">
                <a:lnSpc>
                  <a:spcPct val="106000"/>
                </a:lnSpc>
                <a:buFont typeface="Wingdings 2" pitchFamily="18" charset="2"/>
                <a:buNone/>
              </a:pPr>
              <a:endParaRPr lang="en-US" sz="1400" b="1" dirty="0">
                <a:latin typeface="Calibri" panose="020F0502020204030204" pitchFamily="34" charset="0"/>
                <a:cs typeface="Calibri" panose="020F0502020204030204" pitchFamily="34" charset="0"/>
              </a:endParaRPr>
            </a:p>
          </p:txBody>
        </p:sp>
        <p:cxnSp>
          <p:nvCxnSpPr>
            <p:cNvPr id="13" name="Straight Arrow Connector 12">
              <a:extLst>
                <a:ext uri="{FF2B5EF4-FFF2-40B4-BE49-F238E27FC236}">
                  <a16:creationId xmlns:a16="http://schemas.microsoft.com/office/drawing/2014/main" id="{D8E57C53-CA2C-42A3-93C6-EE46F2457C88}"/>
                </a:ext>
              </a:extLst>
            </p:cNvPr>
            <p:cNvCxnSpPr>
              <a:cxnSpLocks/>
            </p:cNvCxnSpPr>
            <p:nvPr/>
          </p:nvCxnSpPr>
          <p:spPr>
            <a:xfrm>
              <a:off x="495340" y="3775046"/>
              <a:ext cx="8141127"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290873C-0731-44CA-93CB-122EF1097A14}"/>
                </a:ext>
              </a:extLst>
            </p:cNvPr>
            <p:cNvSpPr/>
            <p:nvPr/>
          </p:nvSpPr>
          <p:spPr bwMode="gray">
            <a:xfrm>
              <a:off x="2414213" y="3582094"/>
              <a:ext cx="4345054" cy="35233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latin typeface="Calibri" panose="020F0502020204030204" pitchFamily="34" charset="0"/>
                  <a:cs typeface="Calibri" panose="020F0502020204030204" pitchFamily="34" charset="0"/>
                </a:rPr>
                <a:t>Power theft initiatives in Gujarat - GUVNL Vigilance Department </a:t>
              </a:r>
            </a:p>
          </p:txBody>
        </p:sp>
      </p:grpSp>
      <p:sp>
        <p:nvSpPr>
          <p:cNvPr id="15" name="TextBox 14">
            <a:hlinkClick r:id="rId4"/>
            <a:extLst>
              <a:ext uri="{FF2B5EF4-FFF2-40B4-BE49-F238E27FC236}">
                <a16:creationId xmlns:a16="http://schemas.microsoft.com/office/drawing/2014/main" id="{C6AABC25-66F4-4DA5-8CE5-87CE8344F14A}"/>
              </a:ext>
            </a:extLst>
          </p:cNvPr>
          <p:cNvSpPr txBox="1"/>
          <p:nvPr/>
        </p:nvSpPr>
        <p:spPr>
          <a:xfrm>
            <a:off x="5654036" y="6652564"/>
            <a:ext cx="1589866" cy="161583"/>
          </a:xfrm>
          <a:prstGeom prst="rect">
            <a:avLst/>
          </a:prstGeom>
          <a:noFill/>
        </p:spPr>
        <p:txBody>
          <a:bodyPr wrap="square" lIns="0" tIns="0" rIns="0" bIns="0" rtlCol="0">
            <a:spAutoFit/>
          </a:bodyPr>
          <a:lstStyle/>
          <a:p>
            <a:pPr>
              <a:spcBef>
                <a:spcPts val="600"/>
              </a:spcBef>
              <a:buSzPct val="100000"/>
            </a:pPr>
            <a:r>
              <a:rPr lang="en-US" sz="1050" dirty="0">
                <a:solidFill>
                  <a:srgbClr val="313131"/>
                </a:solidFill>
                <a:latin typeface="Calibri" panose="020F0502020204030204" pitchFamily="34" charset="0"/>
                <a:cs typeface="Calibri" panose="020F0502020204030204" pitchFamily="34" charset="0"/>
                <a:hlinkClick r:id="rId5"/>
              </a:rPr>
              <a:t>2.GUVNL Vigilance</a:t>
            </a:r>
            <a:endParaRPr lang="en-US" sz="1050" dirty="0">
              <a:solidFill>
                <a:srgbClr val="313131"/>
              </a:solidFill>
              <a:latin typeface="Calibri" panose="020F0502020204030204" pitchFamily="34" charset="0"/>
              <a:cs typeface="Calibri" panose="020F0502020204030204" pitchFamily="34" charset="0"/>
            </a:endParaRPr>
          </a:p>
        </p:txBody>
      </p:sp>
      <p:cxnSp>
        <p:nvCxnSpPr>
          <p:cNvPr id="16" name="Straight Arrow Connector 15">
            <a:extLst>
              <a:ext uri="{FF2B5EF4-FFF2-40B4-BE49-F238E27FC236}">
                <a16:creationId xmlns:a16="http://schemas.microsoft.com/office/drawing/2014/main" id="{3F9A6F99-1693-44BF-AB22-DBFE4192A2AB}"/>
              </a:ext>
            </a:extLst>
          </p:cNvPr>
          <p:cNvCxnSpPr>
            <a:cxnSpLocks/>
          </p:cNvCxnSpPr>
          <p:nvPr/>
        </p:nvCxnSpPr>
        <p:spPr>
          <a:xfrm>
            <a:off x="447352" y="2793096"/>
            <a:ext cx="11004267"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65CA2C9-2A54-4A8C-A1E1-6FE385A2EB4E}"/>
              </a:ext>
            </a:extLst>
          </p:cNvPr>
          <p:cNvSpPr/>
          <p:nvPr/>
        </p:nvSpPr>
        <p:spPr bwMode="gray">
          <a:xfrm>
            <a:off x="4184464" y="2600145"/>
            <a:ext cx="3260193" cy="40069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latin typeface="Calibri" panose="020F0502020204030204" pitchFamily="34" charset="0"/>
                <a:cs typeface="Calibri" panose="020F0502020204030204" pitchFamily="34" charset="0"/>
              </a:rPr>
              <a:t>Power theft initiatives in UP</a:t>
            </a:r>
          </a:p>
        </p:txBody>
      </p:sp>
      <p:sp>
        <p:nvSpPr>
          <p:cNvPr id="18" name="Rectangle 17">
            <a:extLst>
              <a:ext uri="{FF2B5EF4-FFF2-40B4-BE49-F238E27FC236}">
                <a16:creationId xmlns:a16="http://schemas.microsoft.com/office/drawing/2014/main" id="{5E6A4D14-7EAA-42E4-BF6D-28A52646E99B}"/>
              </a:ext>
            </a:extLst>
          </p:cNvPr>
          <p:cNvSpPr/>
          <p:nvPr/>
        </p:nvSpPr>
        <p:spPr bwMode="gray">
          <a:xfrm>
            <a:off x="475515" y="2916674"/>
            <a:ext cx="11004267" cy="512325"/>
          </a:xfrm>
          <a:prstGeom prst="rect">
            <a:avLst/>
          </a:prstGeom>
          <a:solidFill>
            <a:srgbClr val="9DD4CF">
              <a:alpha val="47000"/>
            </a:srgbClr>
          </a:solidFill>
          <a:ln w="19050" algn="ctr">
            <a:noFill/>
            <a:miter lim="800000"/>
            <a:headEnd/>
            <a:tailEnd/>
          </a:ln>
        </p:spPr>
        <p:txBody>
          <a:bodyPr wrap="square" lIns="88900" tIns="88900" rIns="88900" bIns="88900" rtlCol="0" anchor="ctr"/>
          <a:lstStyle/>
          <a:p>
            <a:pPr marL="168275" indent="-168275" algn="just">
              <a:lnSpc>
                <a:spcPct val="106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A prompt follow up of the investigations has led to timely resolution of power theft cases with deposition of the compounding penalty and assessed revenues for UPPCL</a:t>
            </a:r>
            <a:endParaRPr lang="en-US" sz="1400" b="1" dirty="0">
              <a:latin typeface="Calibri" panose="020F0502020204030204" pitchFamily="34" charset="0"/>
              <a:cs typeface="Calibri" panose="020F0502020204030204" pitchFamily="34" charset="0"/>
            </a:endParaRPr>
          </a:p>
        </p:txBody>
      </p:sp>
      <p:graphicFrame>
        <p:nvGraphicFramePr>
          <p:cNvPr id="19" name="Chart 18">
            <a:extLst>
              <a:ext uri="{FF2B5EF4-FFF2-40B4-BE49-F238E27FC236}">
                <a16:creationId xmlns:a16="http://schemas.microsoft.com/office/drawing/2014/main" id="{91B17373-BB52-4F84-A5D4-F35DF11943CC}"/>
              </a:ext>
            </a:extLst>
          </p:cNvPr>
          <p:cNvGraphicFramePr>
            <a:graphicFrameLocks/>
          </p:cNvGraphicFramePr>
          <p:nvPr>
            <p:extLst>
              <p:ext uri="{D42A27DB-BD31-4B8C-83A1-F6EECF244321}">
                <p14:modId xmlns:p14="http://schemas.microsoft.com/office/powerpoint/2010/main" val="1501922213"/>
              </p:ext>
            </p:extLst>
          </p:nvPr>
        </p:nvGraphicFramePr>
        <p:xfrm>
          <a:off x="7555914" y="3548968"/>
          <a:ext cx="3895704" cy="128892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627594133"/>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368299"/>
          </a:xfrm>
        </p:spPr>
        <p:txBody>
          <a:bodyPr vert="horz"/>
          <a:lstStyle/>
          <a:p>
            <a:pPr algn="just"/>
            <a:r>
              <a:rPr lang="en-US" sz="1800" b="0" i="0" dirty="0">
                <a:solidFill>
                  <a:schemeClr val="tx1"/>
                </a:solidFill>
              </a:rPr>
              <a:t>Delayed release of admitted APR/FCA/FPPCA amounts has resulted in carrying cost burden; Rs. </a:t>
            </a:r>
            <a:r>
              <a:rPr lang="en-US" sz="1800" dirty="0"/>
              <a:t>126.37</a:t>
            </a:r>
            <a:r>
              <a:rPr lang="en-US" sz="1800" b="0" i="0" dirty="0">
                <a:solidFill>
                  <a:schemeClr val="tx1"/>
                </a:solidFill>
              </a:rPr>
              <a:t> Cr (WBSEDCL), Rs. 9.96 Cr (DPL) and Rs. 26.16 Cr (</a:t>
            </a:r>
            <a:r>
              <a:rPr lang="en-US" sz="1800" dirty="0"/>
              <a:t>WBSETCL) are yet to be released</a:t>
            </a:r>
            <a:endParaRPr lang="en-US" sz="1800" b="0" i="0" dirty="0">
              <a:solidFill>
                <a:schemeClr val="tx1"/>
              </a:solidFill>
            </a:endParaRPr>
          </a:p>
        </p:txBody>
      </p:sp>
      <p:sp>
        <p:nvSpPr>
          <p:cNvPr id="41" name="TextBox 40">
            <a:extLst>
              <a:ext uri="{FF2B5EF4-FFF2-40B4-BE49-F238E27FC236}">
                <a16:creationId xmlns:a16="http://schemas.microsoft.com/office/drawing/2014/main" id="{5B2D6D69-5E23-458D-88EC-5B842F2B746E}"/>
              </a:ext>
            </a:extLst>
          </p:cNvPr>
          <p:cNvSpPr txBox="1"/>
          <p:nvPr/>
        </p:nvSpPr>
        <p:spPr>
          <a:xfrm>
            <a:off x="10377822" y="6490790"/>
            <a:ext cx="1396062" cy="123111"/>
          </a:xfrm>
          <a:prstGeom prst="rect">
            <a:avLst/>
          </a:prstGeom>
          <a:noFill/>
        </p:spPr>
        <p:txBody>
          <a:bodyPr wrap="square" lIns="0" tIns="0" rIns="0" bIns="0" rtlCol="0">
            <a:spAutoFit/>
          </a:bodyPr>
          <a:lstStyle/>
          <a:p>
            <a:pPr algn="r">
              <a:spcBef>
                <a:spcPts val="600"/>
              </a:spcBef>
              <a:buSzPct val="100000"/>
            </a:pPr>
            <a:r>
              <a:rPr lang="en-US" sz="800" i="1" dirty="0">
                <a:solidFill>
                  <a:srgbClr val="313131"/>
                </a:solidFill>
              </a:rPr>
              <a:t>Source: WBERC Orders</a:t>
            </a:r>
          </a:p>
        </p:txBody>
      </p:sp>
      <p:sp>
        <p:nvSpPr>
          <p:cNvPr id="13" name="TextBox 12">
            <a:extLst>
              <a:ext uri="{FF2B5EF4-FFF2-40B4-BE49-F238E27FC236}">
                <a16:creationId xmlns:a16="http://schemas.microsoft.com/office/drawing/2014/main" id="{79826621-C55D-48D9-8F4A-C43E86ABA81B}"/>
              </a:ext>
            </a:extLst>
          </p:cNvPr>
          <p:cNvSpPr txBox="1"/>
          <p:nvPr/>
        </p:nvSpPr>
        <p:spPr>
          <a:xfrm>
            <a:off x="1170310" y="890173"/>
            <a:ext cx="3908686" cy="215444"/>
          </a:xfrm>
          <a:prstGeom prst="rect">
            <a:avLst/>
          </a:prstGeom>
          <a:noFill/>
        </p:spPr>
        <p:txBody>
          <a:bodyPr wrap="square" lIns="0" tIns="0" rIns="0" bIns="0" rtlCol="0">
            <a:spAutoFit/>
          </a:bodyPr>
          <a:lstStyle/>
          <a:p>
            <a:pPr algn="ctr">
              <a:spcBef>
                <a:spcPts val="600"/>
              </a:spcBef>
              <a:buSzPct val="100000"/>
            </a:pPr>
            <a:r>
              <a:rPr lang="en-US" sz="1400" b="1" dirty="0"/>
              <a:t>Carrying cost for WBPDCL</a:t>
            </a:r>
          </a:p>
        </p:txBody>
      </p:sp>
      <p:sp>
        <p:nvSpPr>
          <p:cNvPr id="14" name="TextBox 13">
            <a:extLst>
              <a:ext uri="{FF2B5EF4-FFF2-40B4-BE49-F238E27FC236}">
                <a16:creationId xmlns:a16="http://schemas.microsoft.com/office/drawing/2014/main" id="{2C2D947E-7DBB-4B0A-88D6-5A8F815CF3BD}"/>
              </a:ext>
            </a:extLst>
          </p:cNvPr>
          <p:cNvSpPr txBox="1"/>
          <p:nvPr/>
        </p:nvSpPr>
        <p:spPr>
          <a:xfrm>
            <a:off x="7216899" y="890173"/>
            <a:ext cx="3908686" cy="215444"/>
          </a:xfrm>
          <a:prstGeom prst="rect">
            <a:avLst/>
          </a:prstGeom>
          <a:noFill/>
        </p:spPr>
        <p:txBody>
          <a:bodyPr wrap="square" lIns="0" tIns="0" rIns="0" bIns="0" rtlCol="0">
            <a:spAutoFit/>
          </a:bodyPr>
          <a:lstStyle/>
          <a:p>
            <a:pPr algn="ctr">
              <a:spcBef>
                <a:spcPts val="600"/>
              </a:spcBef>
              <a:buSzPct val="100000"/>
            </a:pPr>
            <a:r>
              <a:rPr lang="en-US" sz="1400" b="1" dirty="0"/>
              <a:t>Carrying cost for WBSEDCL</a:t>
            </a:r>
          </a:p>
        </p:txBody>
      </p:sp>
      <p:sp>
        <p:nvSpPr>
          <p:cNvPr id="15" name="TextBox 14">
            <a:extLst>
              <a:ext uri="{FF2B5EF4-FFF2-40B4-BE49-F238E27FC236}">
                <a16:creationId xmlns:a16="http://schemas.microsoft.com/office/drawing/2014/main" id="{8922B2FF-6156-4D63-B49F-B05DBDB1A0FE}"/>
              </a:ext>
            </a:extLst>
          </p:cNvPr>
          <p:cNvSpPr txBox="1"/>
          <p:nvPr/>
        </p:nvSpPr>
        <p:spPr>
          <a:xfrm>
            <a:off x="1170310" y="4095382"/>
            <a:ext cx="3908686" cy="215444"/>
          </a:xfrm>
          <a:prstGeom prst="rect">
            <a:avLst/>
          </a:prstGeom>
          <a:noFill/>
        </p:spPr>
        <p:txBody>
          <a:bodyPr wrap="square" lIns="0" tIns="0" rIns="0" bIns="0" rtlCol="0">
            <a:spAutoFit/>
          </a:bodyPr>
          <a:lstStyle/>
          <a:p>
            <a:pPr algn="ctr">
              <a:spcBef>
                <a:spcPts val="600"/>
              </a:spcBef>
              <a:buSzPct val="100000"/>
            </a:pPr>
            <a:r>
              <a:rPr lang="en-US" sz="1400" b="1" dirty="0"/>
              <a:t>Carrying cost for DPL</a:t>
            </a:r>
          </a:p>
        </p:txBody>
      </p:sp>
      <p:sp>
        <p:nvSpPr>
          <p:cNvPr id="16" name="TextBox 15">
            <a:extLst>
              <a:ext uri="{FF2B5EF4-FFF2-40B4-BE49-F238E27FC236}">
                <a16:creationId xmlns:a16="http://schemas.microsoft.com/office/drawing/2014/main" id="{42414F03-1FEB-47A1-A453-3EF6A6C45239}"/>
              </a:ext>
            </a:extLst>
          </p:cNvPr>
          <p:cNvSpPr txBox="1"/>
          <p:nvPr/>
        </p:nvSpPr>
        <p:spPr>
          <a:xfrm>
            <a:off x="7216899" y="4095382"/>
            <a:ext cx="3908686" cy="215444"/>
          </a:xfrm>
          <a:prstGeom prst="rect">
            <a:avLst/>
          </a:prstGeom>
          <a:noFill/>
        </p:spPr>
        <p:txBody>
          <a:bodyPr wrap="square" lIns="0" tIns="0" rIns="0" bIns="0" rtlCol="0">
            <a:spAutoFit/>
          </a:bodyPr>
          <a:lstStyle/>
          <a:p>
            <a:pPr algn="ctr">
              <a:spcBef>
                <a:spcPts val="600"/>
              </a:spcBef>
              <a:buSzPct val="100000"/>
            </a:pPr>
            <a:r>
              <a:rPr lang="en-US" sz="1400" b="1" dirty="0"/>
              <a:t>Carrying cost for WBSETCL</a:t>
            </a:r>
          </a:p>
        </p:txBody>
      </p:sp>
      <p:sp>
        <p:nvSpPr>
          <p:cNvPr id="17" name="TextBox 16">
            <a:extLst>
              <a:ext uri="{FF2B5EF4-FFF2-40B4-BE49-F238E27FC236}">
                <a16:creationId xmlns:a16="http://schemas.microsoft.com/office/drawing/2014/main" id="{FCEB8C86-1E37-4FC1-9B78-7D60419B36F5}"/>
              </a:ext>
            </a:extLst>
          </p:cNvPr>
          <p:cNvSpPr txBox="1"/>
          <p:nvPr/>
        </p:nvSpPr>
        <p:spPr>
          <a:xfrm>
            <a:off x="3027928" y="6283142"/>
            <a:ext cx="7452000" cy="553998"/>
          </a:xfrm>
          <a:prstGeom prst="rect">
            <a:avLst/>
          </a:prstGeom>
          <a:solidFill>
            <a:schemeClr val="bg1">
              <a:lumMod val="95000"/>
            </a:schemeClr>
          </a:solidFill>
        </p:spPr>
        <p:txBody>
          <a:bodyPr wrap="square" lIns="72000" tIns="0" rIns="36000" bIns="0" rtlCol="0">
            <a:spAutoFit/>
          </a:bodyPr>
          <a:lstStyle/>
          <a:p>
            <a:pPr>
              <a:spcBef>
                <a:spcPts val="600"/>
              </a:spcBef>
              <a:buSzPct val="100000"/>
            </a:pPr>
            <a:r>
              <a:rPr lang="en-US" sz="1200" b="1" dirty="0"/>
              <a:t>Note: </a:t>
            </a:r>
            <a:r>
              <a:rPr lang="en-US" sz="1200" dirty="0"/>
              <a:t>Carrying costs have been computed on simple interest basis; SBI PLRs as on the 1</a:t>
            </a:r>
            <a:r>
              <a:rPr lang="en-US" sz="1200" baseline="30000" dirty="0"/>
              <a:t>st</a:t>
            </a:r>
            <a:r>
              <a:rPr lang="en-US" sz="1200" dirty="0"/>
              <a:t> April of the preceding years have been considered as interest rates as per WBERC Tariff Regulations; For unreleased amounts, carrying costs have been computed till 31.03.2022</a:t>
            </a:r>
            <a:endParaRPr lang="en-US" sz="1200" dirty="0">
              <a:solidFill>
                <a:srgbClr val="C00000"/>
              </a:solidFill>
            </a:endParaRPr>
          </a:p>
        </p:txBody>
      </p:sp>
      <p:graphicFrame>
        <p:nvGraphicFramePr>
          <p:cNvPr id="2" name="Table 2">
            <a:extLst>
              <a:ext uri="{FF2B5EF4-FFF2-40B4-BE49-F238E27FC236}">
                <a16:creationId xmlns:a16="http://schemas.microsoft.com/office/drawing/2014/main" id="{74BE29C4-638F-4934-A680-1B031B2391B7}"/>
              </a:ext>
            </a:extLst>
          </p:cNvPr>
          <p:cNvGraphicFramePr>
            <a:graphicFrameLocks noGrp="1"/>
          </p:cNvGraphicFramePr>
          <p:nvPr/>
        </p:nvGraphicFramePr>
        <p:xfrm>
          <a:off x="501652" y="1119712"/>
          <a:ext cx="5431065" cy="2911644"/>
        </p:xfrm>
        <a:graphic>
          <a:graphicData uri="http://schemas.openxmlformats.org/drawingml/2006/table">
            <a:tbl>
              <a:tblPr firstRow="1">
                <a:tableStyleId>{93296810-A885-4BE3-A3E7-6D5BEEA58F35}</a:tableStyleId>
              </a:tblPr>
              <a:tblGrid>
                <a:gridCol w="1751691">
                  <a:extLst>
                    <a:ext uri="{9D8B030D-6E8A-4147-A177-3AD203B41FA5}">
                      <a16:colId xmlns:a16="http://schemas.microsoft.com/office/drawing/2014/main" val="1561541596"/>
                    </a:ext>
                  </a:extLst>
                </a:gridCol>
                <a:gridCol w="1226458">
                  <a:extLst>
                    <a:ext uri="{9D8B030D-6E8A-4147-A177-3AD203B41FA5}">
                      <a16:colId xmlns:a16="http://schemas.microsoft.com/office/drawing/2014/main" val="2131173050"/>
                    </a:ext>
                  </a:extLst>
                </a:gridCol>
                <a:gridCol w="1226458">
                  <a:extLst>
                    <a:ext uri="{9D8B030D-6E8A-4147-A177-3AD203B41FA5}">
                      <a16:colId xmlns:a16="http://schemas.microsoft.com/office/drawing/2014/main" val="3967426838"/>
                    </a:ext>
                  </a:extLst>
                </a:gridCol>
                <a:gridCol w="1226458">
                  <a:extLst>
                    <a:ext uri="{9D8B030D-6E8A-4147-A177-3AD203B41FA5}">
                      <a16:colId xmlns:a16="http://schemas.microsoft.com/office/drawing/2014/main" val="4109259042"/>
                    </a:ext>
                  </a:extLst>
                </a:gridCol>
              </a:tblGrid>
              <a:tr h="679436">
                <a:tc>
                  <a:txBody>
                    <a:bodyPr/>
                    <a:lstStyle/>
                    <a:p>
                      <a:r>
                        <a:rPr lang="en-US" sz="1200" dirty="0"/>
                        <a:t>Order</a:t>
                      </a:r>
                    </a:p>
                  </a:txBody>
                  <a:tcPr marT="36000" marB="36000"/>
                </a:tc>
                <a:tc>
                  <a:txBody>
                    <a:bodyPr/>
                    <a:lstStyle/>
                    <a:p>
                      <a:pPr algn="r"/>
                      <a:r>
                        <a:rPr lang="en-US" sz="1200" dirty="0"/>
                        <a:t>Admitted Amount (Rs. Cr.)</a:t>
                      </a:r>
                    </a:p>
                  </a:txBody>
                  <a:tcPr marT="36000" marB="36000"/>
                </a:tc>
                <a:tc>
                  <a:txBody>
                    <a:bodyPr/>
                    <a:lstStyle/>
                    <a:p>
                      <a:pPr algn="ctr"/>
                      <a:r>
                        <a:rPr lang="en-US" sz="1200" dirty="0"/>
                        <a:t>Delay in release (days)</a:t>
                      </a:r>
                    </a:p>
                  </a:txBody>
                  <a:tcPr marT="36000" marB="36000"/>
                </a:tc>
                <a:tc>
                  <a:txBody>
                    <a:bodyPr/>
                    <a:lstStyle/>
                    <a:p>
                      <a:pPr algn="r"/>
                      <a:r>
                        <a:rPr lang="en-US" sz="1200" dirty="0"/>
                        <a:t>Carrying Cost</a:t>
                      </a:r>
                    </a:p>
                    <a:p>
                      <a:pPr algn="r"/>
                      <a:r>
                        <a:rPr lang="en-US" sz="1200" dirty="0"/>
                        <a:t>(Rs. Cr.)</a:t>
                      </a:r>
                    </a:p>
                  </a:txBody>
                  <a:tcPr marT="36000" marB="36000"/>
                </a:tc>
                <a:extLst>
                  <a:ext uri="{0D108BD9-81ED-4DB2-BD59-A6C34878D82A}">
                    <a16:rowId xmlns:a16="http://schemas.microsoft.com/office/drawing/2014/main" val="576614479"/>
                  </a:ext>
                </a:extLst>
              </a:tr>
              <a:tr h="279026">
                <a:tc>
                  <a:txBody>
                    <a:bodyPr/>
                    <a:lstStyle/>
                    <a:p>
                      <a:r>
                        <a:rPr lang="en-US" sz="1200" dirty="0"/>
                        <a:t>FY 12 APR</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t>-85.65</a:t>
                      </a:r>
                    </a:p>
                  </a:txBody>
                  <a:tcPr marT="36000" marB="36000">
                    <a:lnB w="12700" cap="flat" cmpd="sng" algn="ctr">
                      <a:solidFill>
                        <a:srgbClr val="DDEFE8"/>
                      </a:solidFill>
                      <a:prstDash val="solid"/>
                      <a:round/>
                      <a:headEnd type="none" w="med" len="med"/>
                      <a:tailEnd type="none" w="med" len="med"/>
                    </a:lnB>
                    <a:noFill/>
                  </a:tcPr>
                </a:tc>
                <a:tc>
                  <a:txBody>
                    <a:bodyPr/>
                    <a:lstStyle/>
                    <a:p>
                      <a:pPr algn="ctr"/>
                      <a:r>
                        <a:rPr lang="en-US" sz="1200" dirty="0"/>
                        <a:t>703</a:t>
                      </a:r>
                    </a:p>
                  </a:txBody>
                  <a:tcPr marT="36000" marB="36000">
                    <a:lnB w="12700" cap="flat" cmpd="sng" algn="ctr">
                      <a:solidFill>
                        <a:srgbClr val="DDEFE8"/>
                      </a:solidFill>
                      <a:prstDash val="solid"/>
                      <a:round/>
                      <a:headEnd type="none" w="med" len="med"/>
                      <a:tailEnd type="none" w="med" len="med"/>
                    </a:lnB>
                    <a:noFill/>
                  </a:tcPr>
                </a:tc>
                <a:tc>
                  <a:txBody>
                    <a:bodyPr/>
                    <a:lstStyle/>
                    <a:p>
                      <a:pPr algn="r" fontAlgn="t"/>
                      <a:r>
                        <a:rPr lang="en-US" sz="1200" b="0" i="0" u="none" strike="noStrike" dirty="0">
                          <a:solidFill>
                            <a:srgbClr val="000000"/>
                          </a:solidFill>
                          <a:effectLst/>
                          <a:latin typeface="+mn-lt"/>
                        </a:rPr>
                        <a:t>-</a:t>
                      </a:r>
                    </a:p>
                  </a:txBody>
                  <a:tcPr marT="36000" marB="36000" anchor="ctr">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639143282"/>
                  </a:ext>
                </a:extLst>
              </a:tr>
              <a:tr h="279026">
                <a:tc>
                  <a:txBody>
                    <a:bodyPr/>
                    <a:lstStyle/>
                    <a:p>
                      <a:r>
                        <a:rPr lang="en-US" sz="1200" dirty="0"/>
                        <a:t>FY 12 APR Review</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2.05</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3027</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fontAlgn="t"/>
                      <a:r>
                        <a:rPr lang="en-US" sz="1200" b="0" i="0" u="none" strike="noStrike" dirty="0">
                          <a:solidFill>
                            <a:srgbClr val="000000"/>
                          </a:solidFill>
                          <a:effectLst/>
                          <a:latin typeface="+mn-lt"/>
                        </a:rPr>
                        <a:t>2.10</a:t>
                      </a:r>
                    </a:p>
                  </a:txBody>
                  <a:tcPr marT="36000" marB="36000" anchor="ctr">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778118244"/>
                  </a:ext>
                </a:extLst>
              </a:tr>
              <a:tr h="279026">
                <a:tc>
                  <a:txBody>
                    <a:bodyPr/>
                    <a:lstStyle/>
                    <a:p>
                      <a:r>
                        <a:rPr lang="en-US" sz="1200" dirty="0"/>
                        <a:t>FY 12 FCA</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216.65</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641</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fontAlgn="t"/>
                      <a:r>
                        <a:rPr lang="en-US" sz="1200" b="0" i="0" u="none" strike="noStrike" dirty="0">
                          <a:solidFill>
                            <a:srgbClr val="000000"/>
                          </a:solidFill>
                          <a:effectLst/>
                          <a:latin typeface="+mn-lt"/>
                        </a:rPr>
                        <a:t>55.63</a:t>
                      </a:r>
                    </a:p>
                  </a:txBody>
                  <a:tcPr marT="36000" marB="36000" anchor="ctr">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787950293"/>
                  </a:ext>
                </a:extLst>
              </a:tr>
              <a:tr h="279026">
                <a:tc>
                  <a:txBody>
                    <a:bodyPr/>
                    <a:lstStyle/>
                    <a:p>
                      <a:r>
                        <a:rPr lang="en-US" sz="1200" dirty="0"/>
                        <a:t>FY 13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-45.10</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338</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fontAlgn="t"/>
                      <a:r>
                        <a:rPr lang="en-US" sz="1200" b="0" i="0" u="none" strike="noStrike" dirty="0">
                          <a:solidFill>
                            <a:srgbClr val="000000"/>
                          </a:solidFill>
                          <a:effectLst/>
                          <a:latin typeface="+mn-lt"/>
                        </a:rPr>
                        <a:t>-</a:t>
                      </a:r>
                    </a:p>
                  </a:txBody>
                  <a:tcPr marT="36000" marB="36000" anchor="ctr">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870085319"/>
                  </a:ext>
                </a:extLst>
              </a:tr>
              <a:tr h="279026">
                <a:tc>
                  <a:txBody>
                    <a:bodyPr/>
                    <a:lstStyle/>
                    <a:p>
                      <a:r>
                        <a:rPr lang="en-US" sz="1200" dirty="0"/>
                        <a:t>FY 13 APR Review</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12.64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2662</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fontAlgn="t"/>
                      <a:r>
                        <a:rPr lang="en-US" sz="1200" b="0" i="0" u="none" strike="noStrike" dirty="0">
                          <a:solidFill>
                            <a:srgbClr val="000000"/>
                          </a:solidFill>
                          <a:effectLst/>
                          <a:latin typeface="+mn-lt"/>
                        </a:rPr>
                        <a:t>12.99</a:t>
                      </a:r>
                    </a:p>
                  </a:txBody>
                  <a:tcPr marT="36000" marB="36000" anchor="ctr">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668002785"/>
                  </a:ext>
                </a:extLst>
              </a:tr>
              <a:tr h="279026">
                <a:tc>
                  <a:txBody>
                    <a:bodyPr/>
                    <a:lstStyle/>
                    <a:p>
                      <a:r>
                        <a:rPr lang="en-US" sz="1200" dirty="0"/>
                        <a:t>FY 13 FCA</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952.89</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549</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fontAlgn="t"/>
                      <a:r>
                        <a:rPr lang="en-US" sz="1200" b="0" i="0" u="none" strike="noStrike" dirty="0">
                          <a:solidFill>
                            <a:srgbClr val="000000"/>
                          </a:solidFill>
                          <a:effectLst/>
                          <a:latin typeface="+mn-lt"/>
                        </a:rPr>
                        <a:t>208.54</a:t>
                      </a:r>
                    </a:p>
                  </a:txBody>
                  <a:tcPr marT="36000" marB="36000" anchor="ctr">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2356904817"/>
                  </a:ext>
                </a:extLst>
              </a:tr>
              <a:tr h="279026">
                <a:tc>
                  <a:txBody>
                    <a:bodyPr/>
                    <a:lstStyle/>
                    <a:p>
                      <a:r>
                        <a:rPr lang="en-US" sz="1200" dirty="0"/>
                        <a:t>FY 14 APR FCA</a:t>
                      </a:r>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t>104.76</a:t>
                      </a:r>
                    </a:p>
                  </a:txBody>
                  <a:tcPr marT="36000" marB="36000">
                    <a:lnT w="12700" cap="flat" cmpd="sng" algn="ctr">
                      <a:solidFill>
                        <a:srgbClr val="DDEFE8"/>
                      </a:solidFill>
                      <a:prstDash val="solid"/>
                      <a:round/>
                      <a:headEnd type="none" w="med" len="med"/>
                      <a:tailEnd type="none" w="med" len="med"/>
                    </a:lnT>
                    <a:noFill/>
                  </a:tcPr>
                </a:tc>
                <a:tc>
                  <a:txBody>
                    <a:bodyPr/>
                    <a:lstStyle/>
                    <a:p>
                      <a:pPr algn="ctr"/>
                      <a:r>
                        <a:rPr lang="en-US" sz="1200" dirty="0"/>
                        <a:t>877</a:t>
                      </a:r>
                    </a:p>
                  </a:txBody>
                  <a:tcPr marT="36000" marB="36000">
                    <a:lnT w="12700" cap="flat" cmpd="sng" algn="ctr">
                      <a:solidFill>
                        <a:srgbClr val="DDEFE8"/>
                      </a:solidFill>
                      <a:prstDash val="solid"/>
                      <a:round/>
                      <a:headEnd type="none" w="med" len="med"/>
                      <a:tailEnd type="none" w="med" len="med"/>
                    </a:lnT>
                    <a:noFill/>
                  </a:tcPr>
                </a:tc>
                <a:tc>
                  <a:txBody>
                    <a:bodyPr/>
                    <a:lstStyle/>
                    <a:p>
                      <a:pPr algn="r" fontAlgn="t"/>
                      <a:r>
                        <a:rPr lang="en-US" sz="1200" b="0" i="0" u="none" strike="noStrike" dirty="0">
                          <a:solidFill>
                            <a:srgbClr val="000000"/>
                          </a:solidFill>
                          <a:effectLst/>
                          <a:latin typeface="+mn-lt"/>
                        </a:rPr>
                        <a:t>36.79</a:t>
                      </a:r>
                    </a:p>
                  </a:txBody>
                  <a:tcPr marT="36000" marB="36000" anchor="ctr">
                    <a:lnT w="12700" cap="flat" cmpd="sng" algn="ctr">
                      <a:solidFill>
                        <a:srgbClr val="DDEFE8"/>
                      </a:solidFill>
                      <a:prstDash val="solid"/>
                      <a:round/>
                      <a:headEnd type="none" w="med" len="med"/>
                      <a:tailEnd type="none" w="med" len="med"/>
                    </a:lnT>
                    <a:noFill/>
                  </a:tcPr>
                </a:tc>
                <a:extLst>
                  <a:ext uri="{0D108BD9-81ED-4DB2-BD59-A6C34878D82A}">
                    <a16:rowId xmlns:a16="http://schemas.microsoft.com/office/drawing/2014/main" val="3288507916"/>
                  </a:ext>
                </a:extLst>
              </a:tr>
              <a:tr h="279026">
                <a:tc>
                  <a:txBody>
                    <a:bodyPr/>
                    <a:lstStyle/>
                    <a:p>
                      <a:r>
                        <a:rPr lang="en-US" sz="1200" b="1" dirty="0"/>
                        <a:t>Total</a:t>
                      </a:r>
                    </a:p>
                  </a:txBody>
                  <a:tcPr marT="36000" marB="36000"/>
                </a:tc>
                <a:tc>
                  <a:txBody>
                    <a:bodyPr/>
                    <a:lstStyle/>
                    <a:p>
                      <a:pPr algn="r"/>
                      <a:endParaRPr lang="en-US" sz="1200" b="1" dirty="0"/>
                    </a:p>
                  </a:txBody>
                  <a:tcPr marT="36000" marB="36000"/>
                </a:tc>
                <a:tc>
                  <a:txBody>
                    <a:bodyPr/>
                    <a:lstStyle/>
                    <a:p>
                      <a:pPr algn="ctr"/>
                      <a:endParaRPr lang="en-US" sz="1200" b="1" dirty="0"/>
                    </a:p>
                  </a:txBody>
                  <a:tcPr marT="36000" marB="36000"/>
                </a:tc>
                <a:tc>
                  <a:txBody>
                    <a:bodyPr/>
                    <a:lstStyle/>
                    <a:p>
                      <a:pPr algn="r" fontAlgn="t"/>
                      <a:r>
                        <a:rPr lang="en-US" sz="1200" b="1" i="0" u="none" strike="noStrike" dirty="0">
                          <a:solidFill>
                            <a:srgbClr val="000000"/>
                          </a:solidFill>
                          <a:effectLst/>
                          <a:latin typeface="+mn-lt"/>
                        </a:rPr>
                        <a:t>316.06</a:t>
                      </a:r>
                    </a:p>
                  </a:txBody>
                  <a:tcPr marT="36000" marB="36000" anchor="ctr"/>
                </a:tc>
                <a:extLst>
                  <a:ext uri="{0D108BD9-81ED-4DB2-BD59-A6C34878D82A}">
                    <a16:rowId xmlns:a16="http://schemas.microsoft.com/office/drawing/2014/main" val="184854788"/>
                  </a:ext>
                </a:extLst>
              </a:tr>
            </a:tbl>
          </a:graphicData>
        </a:graphic>
      </p:graphicFrame>
      <p:graphicFrame>
        <p:nvGraphicFramePr>
          <p:cNvPr id="18" name="Table 2">
            <a:extLst>
              <a:ext uri="{FF2B5EF4-FFF2-40B4-BE49-F238E27FC236}">
                <a16:creationId xmlns:a16="http://schemas.microsoft.com/office/drawing/2014/main" id="{4641EE81-D289-48F3-92A4-1F98FE0ED9CC}"/>
              </a:ext>
            </a:extLst>
          </p:cNvPr>
          <p:cNvGraphicFramePr>
            <a:graphicFrameLocks noGrp="1"/>
          </p:cNvGraphicFramePr>
          <p:nvPr/>
        </p:nvGraphicFramePr>
        <p:xfrm>
          <a:off x="6259283" y="1116796"/>
          <a:ext cx="5531691" cy="2914560"/>
        </p:xfrm>
        <a:graphic>
          <a:graphicData uri="http://schemas.openxmlformats.org/drawingml/2006/table">
            <a:tbl>
              <a:tblPr firstRow="1">
                <a:tableStyleId>{93296810-A885-4BE3-A3E7-6D5BEEA58F35}</a:tableStyleId>
              </a:tblPr>
              <a:tblGrid>
                <a:gridCol w="1751691">
                  <a:extLst>
                    <a:ext uri="{9D8B030D-6E8A-4147-A177-3AD203B41FA5}">
                      <a16:colId xmlns:a16="http://schemas.microsoft.com/office/drawing/2014/main" val="1561541596"/>
                    </a:ext>
                  </a:extLst>
                </a:gridCol>
                <a:gridCol w="1188000">
                  <a:extLst>
                    <a:ext uri="{9D8B030D-6E8A-4147-A177-3AD203B41FA5}">
                      <a16:colId xmlns:a16="http://schemas.microsoft.com/office/drawing/2014/main" val="2131173050"/>
                    </a:ext>
                  </a:extLst>
                </a:gridCol>
                <a:gridCol w="1476000">
                  <a:extLst>
                    <a:ext uri="{9D8B030D-6E8A-4147-A177-3AD203B41FA5}">
                      <a16:colId xmlns:a16="http://schemas.microsoft.com/office/drawing/2014/main" val="3967426838"/>
                    </a:ext>
                  </a:extLst>
                </a:gridCol>
                <a:gridCol w="1116000">
                  <a:extLst>
                    <a:ext uri="{9D8B030D-6E8A-4147-A177-3AD203B41FA5}">
                      <a16:colId xmlns:a16="http://schemas.microsoft.com/office/drawing/2014/main" val="4109259042"/>
                    </a:ext>
                  </a:extLst>
                </a:gridCol>
              </a:tblGrid>
              <a:tr h="531567">
                <a:tc>
                  <a:txBody>
                    <a:bodyPr/>
                    <a:lstStyle/>
                    <a:p>
                      <a:r>
                        <a:rPr lang="en-US" sz="1200" dirty="0"/>
                        <a:t>Order</a:t>
                      </a:r>
                    </a:p>
                  </a:txBody>
                  <a:tcPr marT="36000" marB="36000"/>
                </a:tc>
                <a:tc>
                  <a:txBody>
                    <a:bodyPr/>
                    <a:lstStyle/>
                    <a:p>
                      <a:pPr algn="r"/>
                      <a:r>
                        <a:rPr lang="en-US" sz="1200" dirty="0"/>
                        <a:t>Admitted Amount (Rs. Cr.)</a:t>
                      </a:r>
                    </a:p>
                  </a:txBody>
                  <a:tcPr marT="36000" marB="36000"/>
                </a:tc>
                <a:tc>
                  <a:txBody>
                    <a:bodyPr/>
                    <a:lstStyle/>
                    <a:p>
                      <a:pPr algn="ctr"/>
                      <a:r>
                        <a:rPr lang="en-US" sz="1200" dirty="0"/>
                        <a:t>Delay in release (days)</a:t>
                      </a:r>
                    </a:p>
                  </a:txBody>
                  <a:tcPr marT="36000" marB="36000"/>
                </a:tc>
                <a:tc>
                  <a:txBody>
                    <a:bodyPr/>
                    <a:lstStyle/>
                    <a:p>
                      <a:pPr algn="r"/>
                      <a:r>
                        <a:rPr lang="en-US" sz="1200" dirty="0"/>
                        <a:t>Carrying Cost</a:t>
                      </a:r>
                    </a:p>
                    <a:p>
                      <a:pPr algn="r"/>
                      <a:r>
                        <a:rPr lang="en-US" sz="1200" dirty="0"/>
                        <a:t>(Rs. Cr.)</a:t>
                      </a:r>
                    </a:p>
                  </a:txBody>
                  <a:tcPr marT="36000" marB="36000"/>
                </a:tc>
                <a:extLst>
                  <a:ext uri="{0D108BD9-81ED-4DB2-BD59-A6C34878D82A}">
                    <a16:rowId xmlns:a16="http://schemas.microsoft.com/office/drawing/2014/main" val="576614479"/>
                  </a:ext>
                </a:extLst>
              </a:tr>
              <a:tr h="218300">
                <a:tc>
                  <a:txBody>
                    <a:bodyPr/>
                    <a:lstStyle/>
                    <a:p>
                      <a:r>
                        <a:rPr lang="en-US" sz="1200" dirty="0"/>
                        <a:t>FY 12 APR Review</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t>2.84</a:t>
                      </a:r>
                    </a:p>
                  </a:txBody>
                  <a:tcPr marT="36000" marB="36000">
                    <a:lnB w="12700" cap="flat" cmpd="sng" algn="ctr">
                      <a:solidFill>
                        <a:srgbClr val="DDEFE8"/>
                      </a:solidFill>
                      <a:prstDash val="solid"/>
                      <a:round/>
                      <a:headEnd type="none" w="med" len="med"/>
                      <a:tailEnd type="none" w="med" len="med"/>
                    </a:lnB>
                    <a:noFill/>
                  </a:tcPr>
                </a:tc>
                <a:tc>
                  <a:txBody>
                    <a:bodyPr/>
                    <a:lstStyle/>
                    <a:p>
                      <a:pPr algn="ctr"/>
                      <a:r>
                        <a:rPr lang="en-US" sz="1200" dirty="0"/>
                        <a:t>3284</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t>3.60</a:t>
                      </a:r>
                    </a:p>
                  </a:txBody>
                  <a:tcPr marT="36000" marB="36000">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639143282"/>
                  </a:ext>
                </a:extLst>
              </a:tr>
              <a:tr h="218300">
                <a:tc>
                  <a:txBody>
                    <a:bodyPr/>
                    <a:lstStyle/>
                    <a:p>
                      <a:r>
                        <a:rPr lang="en-US" sz="1200" dirty="0"/>
                        <a:t>FY 13 APR + Review</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1,997.31</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338 – 2922</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735.64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778118244"/>
                  </a:ext>
                </a:extLst>
              </a:tr>
              <a:tr h="218300">
                <a:tc rowSpan="2">
                  <a:txBody>
                    <a:bodyPr/>
                    <a:lstStyle/>
                    <a:p>
                      <a:r>
                        <a:rPr lang="en-US" sz="1200" dirty="0"/>
                        <a:t>FY 14 APR</a:t>
                      </a:r>
                    </a:p>
                  </a:txBody>
                  <a:tcPr marT="36000" marB="36000" anchor="ctr">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2,517.03</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2297 – 2554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2,316.73</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870085319"/>
                  </a:ext>
                </a:extLst>
              </a:tr>
              <a:tr h="218300">
                <a:tc vMerge="1">
                  <a:txBody>
                    <a:bodyPr/>
                    <a:lstStyle/>
                    <a:p>
                      <a:endParaRPr lang="en-US" sz="1200" dirty="0"/>
                    </a:p>
                  </a:txBody>
                  <a:tcPr/>
                </a:tc>
                <a:tc>
                  <a:txBody>
                    <a:bodyPr/>
                    <a:lstStyle/>
                    <a:p>
                      <a:pPr algn="r"/>
                      <a:r>
                        <a:rPr lang="en-US" sz="1200" dirty="0">
                          <a:solidFill>
                            <a:srgbClr val="C00000"/>
                          </a:solidFill>
                        </a:rPr>
                        <a:t>64.54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solidFill>
                            <a:srgbClr val="C00000"/>
                          </a:solidFill>
                        </a:rPr>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62.96</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668002785"/>
                  </a:ext>
                </a:extLst>
              </a:tr>
              <a:tr h="218300">
                <a:tc>
                  <a:txBody>
                    <a:bodyPr/>
                    <a:lstStyle/>
                    <a:p>
                      <a:r>
                        <a:rPr lang="en-US" sz="1200" dirty="0"/>
                        <a:t>FY 15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92.95</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76.86</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2356904817"/>
                  </a:ext>
                </a:extLst>
              </a:tr>
              <a:tr h="218300">
                <a:tc>
                  <a:txBody>
                    <a:bodyPr/>
                    <a:lstStyle/>
                    <a:p>
                      <a:r>
                        <a:rPr lang="en-US" sz="1200" dirty="0"/>
                        <a:t>FY 16 &amp; FY 17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2,359.64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1,507.71</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288507916"/>
                  </a:ext>
                </a:extLst>
              </a:tr>
              <a:tr h="218300">
                <a:tc rowSpan="2">
                  <a:txBody>
                    <a:bodyPr/>
                    <a:lstStyle/>
                    <a:p>
                      <a:r>
                        <a:rPr lang="en-US" sz="1200" dirty="0"/>
                        <a:t>FY 18 APR</a:t>
                      </a:r>
                    </a:p>
                  </a:txBody>
                  <a:tcPr marT="36000" marB="36000" anchor="ctr">
                    <a:lnT w="12700" cap="flat" cmpd="sng" algn="ctr">
                      <a:solidFill>
                        <a:srgbClr val="DDEFE8"/>
                      </a:solidFill>
                      <a:prstDash val="solid"/>
                      <a:round/>
                      <a:headEnd type="none" w="med" len="med"/>
                      <a:tailEnd type="none" w="med" len="med"/>
                    </a:lnT>
                    <a:noFill/>
                  </a:tcPr>
                </a:tc>
                <a:tc>
                  <a:txBody>
                    <a:bodyPr/>
                    <a:lstStyle/>
                    <a:p>
                      <a:pPr algn="r"/>
                      <a:r>
                        <a:rPr lang="en-US" sz="1200" dirty="0"/>
                        <a:t>509.29</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203.94</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601188082"/>
                  </a:ext>
                </a:extLst>
              </a:tr>
              <a:tr h="218300">
                <a:tc vMerge="1">
                  <a:txBody>
                    <a:bodyPr/>
                    <a:lstStyle/>
                    <a:p>
                      <a:endParaRPr lang="en-US" sz="1200" dirty="0"/>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solidFill>
                            <a:srgbClr val="C00000"/>
                          </a:solidFill>
                        </a:rPr>
                        <a:t>61.83</a:t>
                      </a:r>
                    </a:p>
                  </a:txBody>
                  <a:tcPr marT="36000" marB="36000">
                    <a:lnT w="12700" cap="flat" cmpd="sng" algn="ctr">
                      <a:solidFill>
                        <a:srgbClr val="DDEFE8"/>
                      </a:solidFill>
                      <a:prstDash val="solid"/>
                      <a:round/>
                      <a:headEnd type="none" w="med" len="med"/>
                      <a:tailEnd type="none" w="med" len="med"/>
                    </a:lnT>
                    <a:no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lang="en-US" sz="1200" dirty="0">
                          <a:solidFill>
                            <a:srgbClr val="C00000"/>
                          </a:solidFill>
                        </a:rPr>
                        <a:t>Not yet released</a:t>
                      </a:r>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t>24.83</a:t>
                      </a:r>
                    </a:p>
                  </a:txBody>
                  <a:tcPr marT="36000" marB="36000">
                    <a:lnT w="12700" cap="flat" cmpd="sng" algn="ctr">
                      <a:solidFill>
                        <a:srgbClr val="DDEFE8"/>
                      </a:solidFill>
                      <a:prstDash val="solid"/>
                      <a:round/>
                      <a:headEnd type="none" w="med" len="med"/>
                      <a:tailEnd type="none" w="med" len="med"/>
                    </a:lnT>
                    <a:noFill/>
                  </a:tcPr>
                </a:tc>
                <a:extLst>
                  <a:ext uri="{0D108BD9-81ED-4DB2-BD59-A6C34878D82A}">
                    <a16:rowId xmlns:a16="http://schemas.microsoft.com/office/drawing/2014/main" val="2132341673"/>
                  </a:ext>
                </a:extLst>
              </a:tr>
              <a:tr h="218300">
                <a:tc>
                  <a:txBody>
                    <a:bodyPr/>
                    <a:lstStyle/>
                    <a:p>
                      <a:r>
                        <a:rPr lang="en-US" sz="1200" b="1" dirty="0"/>
                        <a:t>Total</a:t>
                      </a:r>
                    </a:p>
                  </a:txBody>
                  <a:tcPr marT="36000" marB="36000"/>
                </a:tc>
                <a:tc>
                  <a:txBody>
                    <a:bodyPr/>
                    <a:lstStyle/>
                    <a:p>
                      <a:pPr algn="r"/>
                      <a:endParaRPr lang="en-US" sz="1200" b="1" dirty="0"/>
                    </a:p>
                  </a:txBody>
                  <a:tcPr marT="36000" marB="36000"/>
                </a:tc>
                <a:tc>
                  <a:txBody>
                    <a:bodyPr/>
                    <a:lstStyle/>
                    <a:p>
                      <a:pPr algn="ctr"/>
                      <a:endParaRPr lang="en-US" sz="1200" b="1" dirty="0"/>
                    </a:p>
                  </a:txBody>
                  <a:tcPr marT="36000" marB="36000"/>
                </a:tc>
                <a:tc>
                  <a:txBody>
                    <a:bodyPr/>
                    <a:lstStyle/>
                    <a:p>
                      <a:pPr algn="r"/>
                      <a:r>
                        <a:rPr lang="en-US" sz="1200" b="1" dirty="0"/>
                        <a:t>4,932.27</a:t>
                      </a:r>
                    </a:p>
                  </a:txBody>
                  <a:tcPr marT="36000" marB="36000"/>
                </a:tc>
                <a:extLst>
                  <a:ext uri="{0D108BD9-81ED-4DB2-BD59-A6C34878D82A}">
                    <a16:rowId xmlns:a16="http://schemas.microsoft.com/office/drawing/2014/main" val="184854788"/>
                  </a:ext>
                </a:extLst>
              </a:tr>
            </a:tbl>
          </a:graphicData>
        </a:graphic>
      </p:graphicFrame>
      <p:graphicFrame>
        <p:nvGraphicFramePr>
          <p:cNvPr id="19" name="Table 2">
            <a:extLst>
              <a:ext uri="{FF2B5EF4-FFF2-40B4-BE49-F238E27FC236}">
                <a16:creationId xmlns:a16="http://schemas.microsoft.com/office/drawing/2014/main" id="{007C573B-258D-4701-B699-05D3F4AE1B54}"/>
              </a:ext>
            </a:extLst>
          </p:cNvPr>
          <p:cNvGraphicFramePr>
            <a:graphicFrameLocks noGrp="1"/>
          </p:cNvGraphicFramePr>
          <p:nvPr/>
        </p:nvGraphicFramePr>
        <p:xfrm>
          <a:off x="501652" y="4327767"/>
          <a:ext cx="5436000" cy="1895040"/>
        </p:xfrm>
        <a:graphic>
          <a:graphicData uri="http://schemas.openxmlformats.org/drawingml/2006/table">
            <a:tbl>
              <a:tblPr firstRow="1">
                <a:tableStyleId>{93296810-A885-4BE3-A3E7-6D5BEEA58F35}</a:tableStyleId>
              </a:tblPr>
              <a:tblGrid>
                <a:gridCol w="1656000">
                  <a:extLst>
                    <a:ext uri="{9D8B030D-6E8A-4147-A177-3AD203B41FA5}">
                      <a16:colId xmlns:a16="http://schemas.microsoft.com/office/drawing/2014/main" val="1561541596"/>
                    </a:ext>
                  </a:extLst>
                </a:gridCol>
                <a:gridCol w="1188000">
                  <a:extLst>
                    <a:ext uri="{9D8B030D-6E8A-4147-A177-3AD203B41FA5}">
                      <a16:colId xmlns:a16="http://schemas.microsoft.com/office/drawing/2014/main" val="2131173050"/>
                    </a:ext>
                  </a:extLst>
                </a:gridCol>
                <a:gridCol w="1476000">
                  <a:extLst>
                    <a:ext uri="{9D8B030D-6E8A-4147-A177-3AD203B41FA5}">
                      <a16:colId xmlns:a16="http://schemas.microsoft.com/office/drawing/2014/main" val="3967426838"/>
                    </a:ext>
                  </a:extLst>
                </a:gridCol>
                <a:gridCol w="1116000">
                  <a:extLst>
                    <a:ext uri="{9D8B030D-6E8A-4147-A177-3AD203B41FA5}">
                      <a16:colId xmlns:a16="http://schemas.microsoft.com/office/drawing/2014/main" val="4109259042"/>
                    </a:ext>
                  </a:extLst>
                </a:gridCol>
              </a:tblGrid>
              <a:tr h="203956">
                <a:tc>
                  <a:txBody>
                    <a:bodyPr/>
                    <a:lstStyle/>
                    <a:p>
                      <a:r>
                        <a:rPr lang="en-US" sz="1200" dirty="0"/>
                        <a:t>Order</a:t>
                      </a:r>
                    </a:p>
                  </a:txBody>
                  <a:tcPr marT="36000" marB="36000"/>
                </a:tc>
                <a:tc>
                  <a:txBody>
                    <a:bodyPr/>
                    <a:lstStyle/>
                    <a:p>
                      <a:pPr algn="r"/>
                      <a:r>
                        <a:rPr lang="en-US" sz="1200" dirty="0"/>
                        <a:t>Admitted Amount (Rs. Cr.)</a:t>
                      </a:r>
                    </a:p>
                  </a:txBody>
                  <a:tcPr marT="36000" marB="36000"/>
                </a:tc>
                <a:tc>
                  <a:txBody>
                    <a:bodyPr/>
                    <a:lstStyle/>
                    <a:p>
                      <a:pPr algn="ctr"/>
                      <a:r>
                        <a:rPr lang="en-US" sz="1200" dirty="0"/>
                        <a:t>Delay in release (days)</a:t>
                      </a:r>
                    </a:p>
                  </a:txBody>
                  <a:tcPr marT="36000" marB="36000"/>
                </a:tc>
                <a:tc>
                  <a:txBody>
                    <a:bodyPr/>
                    <a:lstStyle/>
                    <a:p>
                      <a:pPr algn="r"/>
                      <a:r>
                        <a:rPr lang="en-US" sz="1200" dirty="0"/>
                        <a:t>Carrying Cost</a:t>
                      </a:r>
                    </a:p>
                    <a:p>
                      <a:pPr algn="r"/>
                      <a:r>
                        <a:rPr lang="en-US" sz="1200" dirty="0"/>
                        <a:t>(Rs. Cr.)</a:t>
                      </a:r>
                    </a:p>
                  </a:txBody>
                  <a:tcPr marT="36000" marB="36000"/>
                </a:tc>
                <a:extLst>
                  <a:ext uri="{0D108BD9-81ED-4DB2-BD59-A6C34878D82A}">
                    <a16:rowId xmlns:a16="http://schemas.microsoft.com/office/drawing/2014/main" val="576614479"/>
                  </a:ext>
                </a:extLst>
              </a:tr>
              <a:tr h="203956">
                <a:tc>
                  <a:txBody>
                    <a:bodyPr/>
                    <a:lstStyle/>
                    <a:p>
                      <a:r>
                        <a:rPr lang="en-US" sz="1200" dirty="0"/>
                        <a:t>FY 12 APR</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t>422.55</a:t>
                      </a:r>
                    </a:p>
                  </a:txBody>
                  <a:tcPr marT="36000" marB="36000">
                    <a:lnB w="12700" cap="flat" cmpd="sng" algn="ctr">
                      <a:solidFill>
                        <a:srgbClr val="DDEFE8"/>
                      </a:solidFill>
                      <a:prstDash val="solid"/>
                      <a:round/>
                      <a:headEnd type="none" w="med" len="med"/>
                      <a:tailEnd type="none" w="med" len="med"/>
                    </a:lnB>
                    <a:noFill/>
                  </a:tcPr>
                </a:tc>
                <a:tc>
                  <a:txBody>
                    <a:bodyPr/>
                    <a:lstStyle/>
                    <a:p>
                      <a:pPr algn="ctr"/>
                      <a:r>
                        <a:rPr lang="en-US" sz="1200" dirty="0"/>
                        <a:t>270</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t>45.98</a:t>
                      </a:r>
                    </a:p>
                  </a:txBody>
                  <a:tcPr marT="36000" marB="36000">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639143282"/>
                  </a:ext>
                </a:extLst>
              </a:tr>
              <a:tr h="203956">
                <a:tc>
                  <a:txBody>
                    <a:bodyPr/>
                    <a:lstStyle/>
                    <a:p>
                      <a:r>
                        <a:rPr lang="en-US" sz="1200" dirty="0"/>
                        <a:t>FY 13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142.83</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338</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19.11</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778118244"/>
                  </a:ext>
                </a:extLst>
              </a:tr>
              <a:tr h="203956">
                <a:tc>
                  <a:txBody>
                    <a:bodyPr/>
                    <a:lstStyle/>
                    <a:p>
                      <a:r>
                        <a:rPr lang="en-US" sz="1200" dirty="0"/>
                        <a:t>FY 14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solidFill>
                            <a:srgbClr val="C00000"/>
                          </a:solidFill>
                        </a:rPr>
                        <a:t>-0.86</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solidFill>
                            <a:srgbClr val="C00000"/>
                          </a:solidFill>
                        </a:rPr>
                        <a:t>Not yet released</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787950293"/>
                  </a:ext>
                </a:extLst>
              </a:tr>
              <a:tr h="203956">
                <a:tc>
                  <a:txBody>
                    <a:bodyPr/>
                    <a:lstStyle/>
                    <a:p>
                      <a:r>
                        <a:rPr lang="en-US" sz="1200" dirty="0"/>
                        <a:t>FY 14 APR Review</a:t>
                      </a:r>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solidFill>
                            <a:srgbClr val="C00000"/>
                          </a:solidFill>
                        </a:rPr>
                        <a:t>10.81</a:t>
                      </a:r>
                    </a:p>
                  </a:txBody>
                  <a:tcPr marT="36000" marB="36000">
                    <a:lnT w="12700" cap="flat" cmpd="sng" algn="ctr">
                      <a:solidFill>
                        <a:srgbClr val="DDEFE8"/>
                      </a:solidFill>
                      <a:prstDash val="solid"/>
                      <a:round/>
                      <a:headEnd type="none" w="med" len="med"/>
                      <a:tailEnd type="none" w="med" len="med"/>
                    </a:lnT>
                    <a:noFill/>
                  </a:tcPr>
                </a:tc>
                <a:tc>
                  <a:txBody>
                    <a:bodyPr/>
                    <a:lstStyle/>
                    <a:p>
                      <a:pPr algn="ctr"/>
                      <a:r>
                        <a:rPr lang="en-US" sz="1200" dirty="0">
                          <a:solidFill>
                            <a:srgbClr val="C00000"/>
                          </a:solidFill>
                        </a:rPr>
                        <a:t>Not yet released</a:t>
                      </a:r>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t>10.55</a:t>
                      </a:r>
                    </a:p>
                  </a:txBody>
                  <a:tcPr marT="36000" marB="36000">
                    <a:lnT w="12700" cap="flat" cmpd="sng" algn="ctr">
                      <a:solidFill>
                        <a:srgbClr val="DDEFE8"/>
                      </a:solidFill>
                      <a:prstDash val="solid"/>
                      <a:round/>
                      <a:headEnd type="none" w="med" len="med"/>
                      <a:tailEnd type="none" w="med" len="med"/>
                    </a:lnT>
                    <a:noFill/>
                  </a:tcPr>
                </a:tc>
                <a:extLst>
                  <a:ext uri="{0D108BD9-81ED-4DB2-BD59-A6C34878D82A}">
                    <a16:rowId xmlns:a16="http://schemas.microsoft.com/office/drawing/2014/main" val="2356904817"/>
                  </a:ext>
                </a:extLst>
              </a:tr>
              <a:tr h="203956">
                <a:tc>
                  <a:txBody>
                    <a:bodyPr/>
                    <a:lstStyle/>
                    <a:p>
                      <a:r>
                        <a:rPr lang="en-US" sz="1200" b="1" dirty="0"/>
                        <a:t>Total</a:t>
                      </a:r>
                    </a:p>
                  </a:txBody>
                  <a:tcPr marT="36000" marB="36000"/>
                </a:tc>
                <a:tc>
                  <a:txBody>
                    <a:bodyPr/>
                    <a:lstStyle/>
                    <a:p>
                      <a:pPr algn="r"/>
                      <a:endParaRPr lang="en-US" sz="1200" b="1" dirty="0"/>
                    </a:p>
                  </a:txBody>
                  <a:tcPr marT="36000" marB="36000"/>
                </a:tc>
                <a:tc>
                  <a:txBody>
                    <a:bodyPr/>
                    <a:lstStyle/>
                    <a:p>
                      <a:pPr algn="ctr"/>
                      <a:endParaRPr lang="en-US" sz="1200" b="1" dirty="0"/>
                    </a:p>
                  </a:txBody>
                  <a:tcPr marT="36000" marB="36000"/>
                </a:tc>
                <a:tc>
                  <a:txBody>
                    <a:bodyPr/>
                    <a:lstStyle/>
                    <a:p>
                      <a:pPr algn="r"/>
                      <a:r>
                        <a:rPr lang="en-US" sz="1200" b="1" dirty="0"/>
                        <a:t>75.64</a:t>
                      </a:r>
                    </a:p>
                  </a:txBody>
                  <a:tcPr marT="36000" marB="36000"/>
                </a:tc>
                <a:extLst>
                  <a:ext uri="{0D108BD9-81ED-4DB2-BD59-A6C34878D82A}">
                    <a16:rowId xmlns:a16="http://schemas.microsoft.com/office/drawing/2014/main" val="184854788"/>
                  </a:ext>
                </a:extLst>
              </a:tr>
            </a:tbl>
          </a:graphicData>
        </a:graphic>
      </p:graphicFrame>
      <p:graphicFrame>
        <p:nvGraphicFramePr>
          <p:cNvPr id="20" name="Table 2">
            <a:extLst>
              <a:ext uri="{FF2B5EF4-FFF2-40B4-BE49-F238E27FC236}">
                <a16:creationId xmlns:a16="http://schemas.microsoft.com/office/drawing/2014/main" id="{D8D76FF8-345F-4FD1-BBB7-23B56E35822C}"/>
              </a:ext>
            </a:extLst>
          </p:cNvPr>
          <p:cNvGraphicFramePr>
            <a:graphicFrameLocks noGrp="1"/>
          </p:cNvGraphicFramePr>
          <p:nvPr/>
        </p:nvGraphicFramePr>
        <p:xfrm>
          <a:off x="6259283" y="4310826"/>
          <a:ext cx="5531691" cy="1915945"/>
        </p:xfrm>
        <a:graphic>
          <a:graphicData uri="http://schemas.openxmlformats.org/drawingml/2006/table">
            <a:tbl>
              <a:tblPr firstRow="1">
                <a:tableStyleId>{93296810-A885-4BE3-A3E7-6D5BEEA58F35}</a:tableStyleId>
              </a:tblPr>
              <a:tblGrid>
                <a:gridCol w="1751691">
                  <a:extLst>
                    <a:ext uri="{9D8B030D-6E8A-4147-A177-3AD203B41FA5}">
                      <a16:colId xmlns:a16="http://schemas.microsoft.com/office/drawing/2014/main" val="1561541596"/>
                    </a:ext>
                  </a:extLst>
                </a:gridCol>
                <a:gridCol w="1188000">
                  <a:extLst>
                    <a:ext uri="{9D8B030D-6E8A-4147-A177-3AD203B41FA5}">
                      <a16:colId xmlns:a16="http://schemas.microsoft.com/office/drawing/2014/main" val="2131173050"/>
                    </a:ext>
                  </a:extLst>
                </a:gridCol>
                <a:gridCol w="1476000">
                  <a:extLst>
                    <a:ext uri="{9D8B030D-6E8A-4147-A177-3AD203B41FA5}">
                      <a16:colId xmlns:a16="http://schemas.microsoft.com/office/drawing/2014/main" val="3967426838"/>
                    </a:ext>
                  </a:extLst>
                </a:gridCol>
                <a:gridCol w="1116000">
                  <a:extLst>
                    <a:ext uri="{9D8B030D-6E8A-4147-A177-3AD203B41FA5}">
                      <a16:colId xmlns:a16="http://schemas.microsoft.com/office/drawing/2014/main" val="4109259042"/>
                    </a:ext>
                  </a:extLst>
                </a:gridCol>
              </a:tblGrid>
              <a:tr h="616678">
                <a:tc>
                  <a:txBody>
                    <a:bodyPr/>
                    <a:lstStyle/>
                    <a:p>
                      <a:r>
                        <a:rPr lang="en-US" sz="1200" dirty="0"/>
                        <a:t>Order</a:t>
                      </a:r>
                    </a:p>
                  </a:txBody>
                  <a:tcPr marT="36000" marB="36000"/>
                </a:tc>
                <a:tc>
                  <a:txBody>
                    <a:bodyPr/>
                    <a:lstStyle/>
                    <a:p>
                      <a:pPr algn="r"/>
                      <a:r>
                        <a:rPr lang="en-US" sz="1200" dirty="0"/>
                        <a:t>Admitted Amount (Rs. Cr.)</a:t>
                      </a:r>
                    </a:p>
                  </a:txBody>
                  <a:tcPr marT="36000" marB="36000"/>
                </a:tc>
                <a:tc>
                  <a:txBody>
                    <a:bodyPr/>
                    <a:lstStyle/>
                    <a:p>
                      <a:pPr algn="ctr"/>
                      <a:r>
                        <a:rPr lang="en-US" sz="1200" dirty="0"/>
                        <a:t>Delay in release (days)</a:t>
                      </a:r>
                    </a:p>
                  </a:txBody>
                  <a:tcPr marT="36000" marB="36000"/>
                </a:tc>
                <a:tc>
                  <a:txBody>
                    <a:bodyPr/>
                    <a:lstStyle/>
                    <a:p>
                      <a:pPr algn="r"/>
                      <a:r>
                        <a:rPr lang="en-US" sz="1200" dirty="0"/>
                        <a:t>Carrying Cost</a:t>
                      </a:r>
                    </a:p>
                    <a:p>
                      <a:pPr algn="r"/>
                      <a:r>
                        <a:rPr lang="en-US" sz="1200" dirty="0"/>
                        <a:t>(Rs. Cr.)</a:t>
                      </a:r>
                    </a:p>
                  </a:txBody>
                  <a:tcPr marT="36000" marB="36000"/>
                </a:tc>
                <a:extLst>
                  <a:ext uri="{0D108BD9-81ED-4DB2-BD59-A6C34878D82A}">
                    <a16:rowId xmlns:a16="http://schemas.microsoft.com/office/drawing/2014/main" val="576614479"/>
                  </a:ext>
                </a:extLst>
              </a:tr>
              <a:tr h="259061">
                <a:tc>
                  <a:txBody>
                    <a:bodyPr/>
                    <a:lstStyle/>
                    <a:p>
                      <a:r>
                        <a:rPr lang="en-US" sz="1200" dirty="0"/>
                        <a:t>FY 12 APR</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t>44.71</a:t>
                      </a:r>
                    </a:p>
                  </a:txBody>
                  <a:tcPr marT="36000" marB="36000">
                    <a:lnB w="12700" cap="flat" cmpd="sng" algn="ctr">
                      <a:solidFill>
                        <a:srgbClr val="DDEFE8"/>
                      </a:solidFill>
                      <a:prstDash val="solid"/>
                      <a:round/>
                      <a:headEnd type="none" w="med" len="med"/>
                      <a:tailEnd type="none" w="med" len="med"/>
                    </a:lnB>
                    <a:noFill/>
                  </a:tcPr>
                </a:tc>
                <a:tc>
                  <a:txBody>
                    <a:bodyPr/>
                    <a:lstStyle/>
                    <a:p>
                      <a:pPr algn="ctr"/>
                      <a:r>
                        <a:rPr lang="en-US" sz="1200" dirty="0"/>
                        <a:t>703</a:t>
                      </a:r>
                    </a:p>
                  </a:txBody>
                  <a:tcPr marT="36000" marB="36000">
                    <a:lnB w="12700" cap="flat" cmpd="sng" algn="ctr">
                      <a:solidFill>
                        <a:srgbClr val="DDEFE8"/>
                      </a:solidFill>
                      <a:prstDash val="solid"/>
                      <a:round/>
                      <a:headEnd type="none" w="med" len="med"/>
                      <a:tailEnd type="none" w="med" len="med"/>
                    </a:lnB>
                    <a:noFill/>
                  </a:tcPr>
                </a:tc>
                <a:tc>
                  <a:txBody>
                    <a:bodyPr/>
                    <a:lstStyle/>
                    <a:p>
                      <a:pPr algn="r"/>
                      <a:r>
                        <a:rPr lang="en-US" sz="1200" dirty="0"/>
                        <a:t>12.70</a:t>
                      </a:r>
                    </a:p>
                  </a:txBody>
                  <a:tcPr marT="36000" marB="36000">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3639143282"/>
                  </a:ext>
                </a:extLst>
              </a:tr>
              <a:tr h="259061">
                <a:tc>
                  <a:txBody>
                    <a:bodyPr/>
                    <a:lstStyle/>
                    <a:p>
                      <a:r>
                        <a:rPr lang="en-US" sz="1200" dirty="0"/>
                        <a:t>FY 13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5.38</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338</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0.73</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778118244"/>
                  </a:ext>
                </a:extLst>
              </a:tr>
              <a:tr h="259061">
                <a:tc>
                  <a:txBody>
                    <a:bodyPr/>
                    <a:lstStyle/>
                    <a:p>
                      <a:r>
                        <a:rPr lang="en-US" sz="1200" dirty="0"/>
                        <a:t>FY 14 APR</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7.75</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ctr"/>
                      <a:r>
                        <a:rPr lang="en-US" sz="1200" dirty="0"/>
                        <a:t>2087</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tc>
                  <a:txBody>
                    <a:bodyPr/>
                    <a:lstStyle/>
                    <a:p>
                      <a:pPr algn="r"/>
                      <a:r>
                        <a:rPr lang="en-US" sz="1200" dirty="0"/>
                        <a:t>6.25</a:t>
                      </a:r>
                    </a:p>
                  </a:txBody>
                  <a:tcPr marT="36000" marB="36000">
                    <a:lnT w="12700" cap="flat" cmpd="sng" algn="ctr">
                      <a:solidFill>
                        <a:srgbClr val="DDEFE8"/>
                      </a:solidFill>
                      <a:prstDash val="solid"/>
                      <a:round/>
                      <a:headEnd type="none" w="med" len="med"/>
                      <a:tailEnd type="none" w="med" len="med"/>
                    </a:lnT>
                    <a:lnB w="12700" cap="flat" cmpd="sng" algn="ctr">
                      <a:solidFill>
                        <a:srgbClr val="DDEFE8"/>
                      </a:solidFill>
                      <a:prstDash val="solid"/>
                      <a:round/>
                      <a:headEnd type="none" w="med" len="med"/>
                      <a:tailEnd type="none" w="med" len="med"/>
                    </a:lnB>
                    <a:noFill/>
                  </a:tcPr>
                </a:tc>
                <a:extLst>
                  <a:ext uri="{0D108BD9-81ED-4DB2-BD59-A6C34878D82A}">
                    <a16:rowId xmlns:a16="http://schemas.microsoft.com/office/drawing/2014/main" val="1787950293"/>
                  </a:ext>
                </a:extLst>
              </a:tr>
              <a:tr h="259061">
                <a:tc>
                  <a:txBody>
                    <a:bodyPr/>
                    <a:lstStyle/>
                    <a:p>
                      <a:r>
                        <a:rPr lang="en-US" sz="1200" dirty="0"/>
                        <a:t>FY 15 APR</a:t>
                      </a:r>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solidFill>
                            <a:srgbClr val="C00000"/>
                          </a:solidFill>
                        </a:rPr>
                        <a:t>26.16</a:t>
                      </a:r>
                    </a:p>
                  </a:txBody>
                  <a:tcPr marT="36000" marB="36000">
                    <a:lnT w="12700" cap="flat" cmpd="sng" algn="ctr">
                      <a:solidFill>
                        <a:srgbClr val="DDEFE8"/>
                      </a:solidFill>
                      <a:prstDash val="solid"/>
                      <a:round/>
                      <a:headEnd type="none" w="med" len="med"/>
                      <a:tailEnd type="none" w="med" len="med"/>
                    </a:lnT>
                    <a:noFill/>
                  </a:tcPr>
                </a:tc>
                <a:tc>
                  <a:txBody>
                    <a:bodyPr/>
                    <a:lstStyle/>
                    <a:p>
                      <a:pPr algn="ctr"/>
                      <a:r>
                        <a:rPr lang="en-US" sz="1200" dirty="0">
                          <a:solidFill>
                            <a:srgbClr val="C00000"/>
                          </a:solidFill>
                        </a:rPr>
                        <a:t>Not yet released</a:t>
                      </a:r>
                    </a:p>
                  </a:txBody>
                  <a:tcPr marT="36000" marB="36000">
                    <a:lnT w="12700" cap="flat" cmpd="sng" algn="ctr">
                      <a:solidFill>
                        <a:srgbClr val="DDEFE8"/>
                      </a:solidFill>
                      <a:prstDash val="solid"/>
                      <a:round/>
                      <a:headEnd type="none" w="med" len="med"/>
                      <a:tailEnd type="none" w="med" len="med"/>
                    </a:lnT>
                    <a:noFill/>
                  </a:tcPr>
                </a:tc>
                <a:tc>
                  <a:txBody>
                    <a:bodyPr/>
                    <a:lstStyle/>
                    <a:p>
                      <a:pPr algn="r"/>
                      <a:r>
                        <a:rPr lang="en-US" sz="1200" dirty="0"/>
                        <a:t>21.66</a:t>
                      </a:r>
                    </a:p>
                  </a:txBody>
                  <a:tcPr marT="36000" marB="36000">
                    <a:lnT w="12700" cap="flat" cmpd="sng" algn="ctr">
                      <a:solidFill>
                        <a:srgbClr val="DDEFE8"/>
                      </a:solidFill>
                      <a:prstDash val="solid"/>
                      <a:round/>
                      <a:headEnd type="none" w="med" len="med"/>
                      <a:tailEnd type="none" w="med" len="med"/>
                    </a:lnT>
                    <a:noFill/>
                  </a:tcPr>
                </a:tc>
                <a:extLst>
                  <a:ext uri="{0D108BD9-81ED-4DB2-BD59-A6C34878D82A}">
                    <a16:rowId xmlns:a16="http://schemas.microsoft.com/office/drawing/2014/main" val="2356904817"/>
                  </a:ext>
                </a:extLst>
              </a:tr>
              <a:tr h="259061">
                <a:tc>
                  <a:txBody>
                    <a:bodyPr/>
                    <a:lstStyle/>
                    <a:p>
                      <a:r>
                        <a:rPr lang="en-US" sz="1200" b="1" dirty="0"/>
                        <a:t>Total</a:t>
                      </a:r>
                    </a:p>
                  </a:txBody>
                  <a:tcPr marT="36000" marB="36000"/>
                </a:tc>
                <a:tc>
                  <a:txBody>
                    <a:bodyPr/>
                    <a:lstStyle/>
                    <a:p>
                      <a:pPr algn="r"/>
                      <a:endParaRPr lang="en-US" sz="1200" b="1" dirty="0"/>
                    </a:p>
                  </a:txBody>
                  <a:tcPr marT="36000" marB="36000"/>
                </a:tc>
                <a:tc>
                  <a:txBody>
                    <a:bodyPr/>
                    <a:lstStyle/>
                    <a:p>
                      <a:pPr algn="ctr"/>
                      <a:endParaRPr lang="en-US" sz="1200" b="1" dirty="0"/>
                    </a:p>
                  </a:txBody>
                  <a:tcPr marT="36000" marB="36000"/>
                </a:tc>
                <a:tc>
                  <a:txBody>
                    <a:bodyPr/>
                    <a:lstStyle/>
                    <a:p>
                      <a:pPr algn="r"/>
                      <a:r>
                        <a:rPr lang="en-US" sz="1200" b="1" dirty="0"/>
                        <a:t>41.35</a:t>
                      </a:r>
                    </a:p>
                  </a:txBody>
                  <a:tcPr marT="36000" marB="36000"/>
                </a:tc>
                <a:extLst>
                  <a:ext uri="{0D108BD9-81ED-4DB2-BD59-A6C34878D82A}">
                    <a16:rowId xmlns:a16="http://schemas.microsoft.com/office/drawing/2014/main" val="184854788"/>
                  </a:ext>
                </a:extLst>
              </a:tr>
            </a:tbl>
          </a:graphicData>
        </a:graphic>
      </p:graphicFrame>
    </p:spTree>
    <p:extLst>
      <p:ext uri="{BB962C8B-B14F-4D97-AF65-F5344CB8AC3E}">
        <p14:creationId xmlns:p14="http://schemas.microsoft.com/office/powerpoint/2010/main" val="3873476802"/>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BD9232EF-A0F2-47CF-AB94-862A35957EEA}"/>
              </a:ext>
            </a:extLst>
          </p:cNvPr>
          <p:cNvSpPr/>
          <p:nvPr/>
        </p:nvSpPr>
        <p:spPr bwMode="gray">
          <a:xfrm>
            <a:off x="6968503" y="785724"/>
            <a:ext cx="4440148" cy="5580229"/>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9" name="Rectangle 28">
            <a:extLst>
              <a:ext uri="{FF2B5EF4-FFF2-40B4-BE49-F238E27FC236}">
                <a16:creationId xmlns:a16="http://schemas.microsoft.com/office/drawing/2014/main" id="{D745C5C7-3129-4D5A-B97F-CC195289153D}"/>
              </a:ext>
            </a:extLst>
          </p:cNvPr>
          <p:cNvSpPr/>
          <p:nvPr/>
        </p:nvSpPr>
        <p:spPr bwMode="gray">
          <a:xfrm>
            <a:off x="1138431" y="785725"/>
            <a:ext cx="4602824" cy="5628672"/>
          </a:xfrm>
          <a:prstGeom prst="rect">
            <a:avLst/>
          </a:prstGeom>
          <a:solidFill>
            <a:schemeClr val="accent4">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11" name="Chart 10">
            <a:extLst>
              <a:ext uri="{FF2B5EF4-FFF2-40B4-BE49-F238E27FC236}">
                <a16:creationId xmlns:a16="http://schemas.microsoft.com/office/drawing/2014/main" id="{69F0CFAB-7226-44F5-9DB5-02EC9370A7B4}"/>
              </a:ext>
            </a:extLst>
          </p:cNvPr>
          <p:cNvGraphicFramePr/>
          <p:nvPr>
            <p:extLst>
              <p:ext uri="{D42A27DB-BD31-4B8C-83A1-F6EECF244321}">
                <p14:modId xmlns:p14="http://schemas.microsoft.com/office/powerpoint/2010/main" val="4071231072"/>
              </p:ext>
            </p:extLst>
          </p:nvPr>
        </p:nvGraphicFramePr>
        <p:xfrm>
          <a:off x="533114" y="785725"/>
          <a:ext cx="5355116" cy="166443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41A30A77-90CC-45C4-8C5D-2C060A277C7F}"/>
              </a:ext>
            </a:extLst>
          </p:cNvPr>
          <p:cNvGraphicFramePr/>
          <p:nvPr>
            <p:extLst>
              <p:ext uri="{D42A27DB-BD31-4B8C-83A1-F6EECF244321}">
                <p14:modId xmlns:p14="http://schemas.microsoft.com/office/powerpoint/2010/main" val="2092110138"/>
              </p:ext>
            </p:extLst>
          </p:nvPr>
        </p:nvGraphicFramePr>
        <p:xfrm>
          <a:off x="6559559" y="785725"/>
          <a:ext cx="4952717" cy="16661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28107E78-2B3A-4337-B22B-0A6DA6427063}"/>
              </a:ext>
            </a:extLst>
          </p:cNvPr>
          <p:cNvGraphicFramePr/>
          <p:nvPr>
            <p:extLst>
              <p:ext uri="{D42A27DB-BD31-4B8C-83A1-F6EECF244321}">
                <p14:modId xmlns:p14="http://schemas.microsoft.com/office/powerpoint/2010/main" val="4227677292"/>
              </p:ext>
            </p:extLst>
          </p:nvPr>
        </p:nvGraphicFramePr>
        <p:xfrm>
          <a:off x="533114" y="2557282"/>
          <a:ext cx="5355118" cy="18805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BC751FC8-A9DB-4D5F-AE17-0149A5A1B4F3}"/>
              </a:ext>
            </a:extLst>
          </p:cNvPr>
          <p:cNvGraphicFramePr/>
          <p:nvPr>
            <p:extLst>
              <p:ext uri="{D42A27DB-BD31-4B8C-83A1-F6EECF244321}">
                <p14:modId xmlns:p14="http://schemas.microsoft.com/office/powerpoint/2010/main" val="2688294011"/>
              </p:ext>
            </p:extLst>
          </p:nvPr>
        </p:nvGraphicFramePr>
        <p:xfrm>
          <a:off x="6609100" y="2459558"/>
          <a:ext cx="4914753" cy="197830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7FD2A76B-3F50-42AC-87DE-7FD40CCDB33D}"/>
              </a:ext>
            </a:extLst>
          </p:cNvPr>
          <p:cNvGraphicFramePr/>
          <p:nvPr>
            <p:extLst>
              <p:ext uri="{D42A27DB-BD31-4B8C-83A1-F6EECF244321}">
                <p14:modId xmlns:p14="http://schemas.microsoft.com/office/powerpoint/2010/main" val="540959919"/>
              </p:ext>
            </p:extLst>
          </p:nvPr>
        </p:nvGraphicFramePr>
        <p:xfrm>
          <a:off x="533114" y="4544987"/>
          <a:ext cx="5355116" cy="188058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Chart 15">
            <a:extLst>
              <a:ext uri="{FF2B5EF4-FFF2-40B4-BE49-F238E27FC236}">
                <a16:creationId xmlns:a16="http://schemas.microsoft.com/office/drawing/2014/main" id="{F4C5309A-4EDD-4948-94DF-148E382550D6}"/>
              </a:ext>
            </a:extLst>
          </p:cNvPr>
          <p:cNvGraphicFramePr/>
          <p:nvPr>
            <p:extLst>
              <p:ext uri="{D42A27DB-BD31-4B8C-83A1-F6EECF244321}">
                <p14:modId xmlns:p14="http://schemas.microsoft.com/office/powerpoint/2010/main" val="1567615747"/>
              </p:ext>
            </p:extLst>
          </p:nvPr>
        </p:nvGraphicFramePr>
        <p:xfrm>
          <a:off x="6622604" y="4447263"/>
          <a:ext cx="4866524" cy="1978305"/>
        </p:xfrm>
        <a:graphic>
          <a:graphicData uri="http://schemas.openxmlformats.org/drawingml/2006/chart">
            <c:chart xmlns:c="http://schemas.openxmlformats.org/drawingml/2006/chart" xmlns:r="http://schemas.openxmlformats.org/officeDocument/2006/relationships" r:id="rId7"/>
          </a:graphicData>
        </a:graphic>
      </p:graphicFrame>
      <p:cxnSp>
        <p:nvCxnSpPr>
          <p:cNvPr id="18" name="Straight Connector 17">
            <a:extLst>
              <a:ext uri="{FF2B5EF4-FFF2-40B4-BE49-F238E27FC236}">
                <a16:creationId xmlns:a16="http://schemas.microsoft.com/office/drawing/2014/main" id="{E0C1586E-4F90-45B2-917B-55F25164D0F5}"/>
              </a:ext>
            </a:extLst>
          </p:cNvPr>
          <p:cNvCxnSpPr/>
          <p:nvPr/>
        </p:nvCxnSpPr>
        <p:spPr>
          <a:xfrm>
            <a:off x="1176392" y="1976809"/>
            <a:ext cx="4417888" cy="0"/>
          </a:xfrm>
          <a:prstGeom prst="line">
            <a:avLst/>
          </a:prstGeom>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D4715A8A-C637-4D1D-A02B-A017DE0DEF22}"/>
              </a:ext>
            </a:extLst>
          </p:cNvPr>
          <p:cNvCxnSpPr>
            <a:cxnSpLocks/>
          </p:cNvCxnSpPr>
          <p:nvPr/>
        </p:nvCxnSpPr>
        <p:spPr>
          <a:xfrm>
            <a:off x="7084944" y="2014909"/>
            <a:ext cx="4140485" cy="0"/>
          </a:xfrm>
          <a:prstGeom prst="line">
            <a:avLst/>
          </a:prstGeom>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9F00BCA-EEA3-4C6E-9585-8E94ED3C4126}"/>
              </a:ext>
            </a:extLst>
          </p:cNvPr>
          <p:cNvCxnSpPr/>
          <p:nvPr/>
        </p:nvCxnSpPr>
        <p:spPr>
          <a:xfrm>
            <a:off x="1176392" y="3950160"/>
            <a:ext cx="4417888" cy="0"/>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FFFD5048-E499-4077-9614-2D333F08D1CF}"/>
              </a:ext>
            </a:extLst>
          </p:cNvPr>
          <p:cNvCxnSpPr>
            <a:cxnSpLocks/>
          </p:cNvCxnSpPr>
          <p:nvPr/>
        </p:nvCxnSpPr>
        <p:spPr>
          <a:xfrm>
            <a:off x="7052407" y="3950160"/>
            <a:ext cx="4315148" cy="0"/>
          </a:xfrm>
          <a:prstGeom prst="line">
            <a:avLst/>
          </a:prstGeom>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2443777-2C8E-4938-9479-43DE22422EB1}"/>
              </a:ext>
            </a:extLst>
          </p:cNvPr>
          <p:cNvCxnSpPr/>
          <p:nvPr/>
        </p:nvCxnSpPr>
        <p:spPr>
          <a:xfrm>
            <a:off x="1176392" y="5941634"/>
            <a:ext cx="4417888" cy="0"/>
          </a:xfrm>
          <a:prstGeom prst="line">
            <a:avLst/>
          </a:prstGeom>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F04E3664-AD51-4E2C-A9E7-2820447B84FA}"/>
              </a:ext>
            </a:extLst>
          </p:cNvPr>
          <p:cNvCxnSpPr>
            <a:cxnSpLocks/>
          </p:cNvCxnSpPr>
          <p:nvPr/>
        </p:nvCxnSpPr>
        <p:spPr>
          <a:xfrm>
            <a:off x="7093503" y="5938208"/>
            <a:ext cx="4234666" cy="3426"/>
          </a:xfrm>
          <a:prstGeom prst="line">
            <a:avLst/>
          </a:prstGeom>
          <a:ln/>
        </p:spPr>
        <p:style>
          <a:lnRef idx="1">
            <a:schemeClr val="dk1"/>
          </a:lnRef>
          <a:fillRef idx="0">
            <a:schemeClr val="dk1"/>
          </a:fillRef>
          <a:effectRef idx="0">
            <a:schemeClr val="dk1"/>
          </a:effectRef>
          <a:fontRef idx="minor">
            <a:schemeClr val="tx1"/>
          </a:fontRef>
        </p:style>
      </p:cxnSp>
      <p:graphicFrame>
        <p:nvGraphicFramePr>
          <p:cNvPr id="27" name="Table 27">
            <a:extLst>
              <a:ext uri="{FF2B5EF4-FFF2-40B4-BE49-F238E27FC236}">
                <a16:creationId xmlns:a16="http://schemas.microsoft.com/office/drawing/2014/main" id="{2D2B53D9-0866-4830-A436-1882E6C49FD4}"/>
              </a:ext>
            </a:extLst>
          </p:cNvPr>
          <p:cNvGraphicFramePr>
            <a:graphicFrameLocks noGrp="1"/>
          </p:cNvGraphicFramePr>
          <p:nvPr>
            <p:extLst>
              <p:ext uri="{D42A27DB-BD31-4B8C-83A1-F6EECF244321}">
                <p14:modId xmlns:p14="http://schemas.microsoft.com/office/powerpoint/2010/main" val="4243665100"/>
              </p:ext>
            </p:extLst>
          </p:nvPr>
        </p:nvGraphicFramePr>
        <p:xfrm>
          <a:off x="1021705" y="6403806"/>
          <a:ext cx="4866525" cy="228600"/>
        </p:xfrm>
        <a:graphic>
          <a:graphicData uri="http://schemas.openxmlformats.org/drawingml/2006/table">
            <a:tbl>
              <a:tblPr firstRow="1" bandRow="1">
                <a:tableStyleId>{5C22544A-7EE6-4342-B048-85BDC9FD1C3A}</a:tableStyleId>
              </a:tblPr>
              <a:tblGrid>
                <a:gridCol w="973305">
                  <a:extLst>
                    <a:ext uri="{9D8B030D-6E8A-4147-A177-3AD203B41FA5}">
                      <a16:colId xmlns:a16="http://schemas.microsoft.com/office/drawing/2014/main" val="1249610301"/>
                    </a:ext>
                  </a:extLst>
                </a:gridCol>
                <a:gridCol w="973305">
                  <a:extLst>
                    <a:ext uri="{9D8B030D-6E8A-4147-A177-3AD203B41FA5}">
                      <a16:colId xmlns:a16="http://schemas.microsoft.com/office/drawing/2014/main" val="432960598"/>
                    </a:ext>
                  </a:extLst>
                </a:gridCol>
                <a:gridCol w="973305">
                  <a:extLst>
                    <a:ext uri="{9D8B030D-6E8A-4147-A177-3AD203B41FA5}">
                      <a16:colId xmlns:a16="http://schemas.microsoft.com/office/drawing/2014/main" val="1756294992"/>
                    </a:ext>
                  </a:extLst>
                </a:gridCol>
                <a:gridCol w="973305">
                  <a:extLst>
                    <a:ext uri="{9D8B030D-6E8A-4147-A177-3AD203B41FA5}">
                      <a16:colId xmlns:a16="http://schemas.microsoft.com/office/drawing/2014/main" val="1482068503"/>
                    </a:ext>
                  </a:extLst>
                </a:gridCol>
                <a:gridCol w="973305">
                  <a:extLst>
                    <a:ext uri="{9D8B030D-6E8A-4147-A177-3AD203B41FA5}">
                      <a16:colId xmlns:a16="http://schemas.microsoft.com/office/drawing/2014/main" val="2897503451"/>
                    </a:ext>
                  </a:extLst>
                </a:gridCol>
              </a:tblGrid>
              <a:tr h="227558">
                <a:tc>
                  <a:txBody>
                    <a:bodyPr/>
                    <a:lstStyle/>
                    <a:p>
                      <a:r>
                        <a:rPr lang="en-US" sz="900" dirty="0">
                          <a:solidFill>
                            <a:schemeClr val="tx1"/>
                          </a:solidFill>
                          <a:latin typeface="Verdana" panose="020B0604030504040204" pitchFamily="34" charset="0"/>
                          <a:ea typeface="Verdana" panose="020B0604030504040204" pitchFamily="34" charset="0"/>
                        </a:rPr>
                        <a:t>2018-19</a:t>
                      </a:r>
                    </a:p>
                  </a:txBody>
                  <a:tcPr>
                    <a:noFill/>
                  </a:tcPr>
                </a:tc>
                <a:tc>
                  <a:txBody>
                    <a:bodyPr/>
                    <a:lstStyle/>
                    <a:p>
                      <a:r>
                        <a:rPr lang="en-US" sz="900" dirty="0">
                          <a:solidFill>
                            <a:schemeClr val="tx1"/>
                          </a:solidFill>
                          <a:latin typeface="Verdana" panose="020B0604030504040204" pitchFamily="34" charset="0"/>
                          <a:ea typeface="Verdana" panose="020B0604030504040204" pitchFamily="34" charset="0"/>
                        </a:rPr>
                        <a:t>2019-20</a:t>
                      </a:r>
                    </a:p>
                  </a:txBody>
                  <a:tcPr>
                    <a:noFill/>
                  </a:tcPr>
                </a:tc>
                <a:tc>
                  <a:txBody>
                    <a:bodyPr/>
                    <a:lstStyle/>
                    <a:p>
                      <a:r>
                        <a:rPr lang="en-US" sz="900" dirty="0">
                          <a:solidFill>
                            <a:schemeClr val="tx1"/>
                          </a:solidFill>
                          <a:latin typeface="Verdana" panose="020B0604030504040204" pitchFamily="34" charset="0"/>
                          <a:ea typeface="Verdana" panose="020B0604030504040204" pitchFamily="34" charset="0"/>
                        </a:rPr>
                        <a:t>2020-21</a:t>
                      </a:r>
                    </a:p>
                  </a:txBody>
                  <a:tcPr>
                    <a:noFill/>
                  </a:tcPr>
                </a:tc>
                <a:tc>
                  <a:txBody>
                    <a:bodyPr/>
                    <a:lstStyle/>
                    <a:p>
                      <a:r>
                        <a:rPr lang="en-US" sz="900" dirty="0">
                          <a:solidFill>
                            <a:schemeClr val="tx1"/>
                          </a:solidFill>
                          <a:latin typeface="Verdana" panose="020B0604030504040204" pitchFamily="34" charset="0"/>
                          <a:ea typeface="Verdana" panose="020B0604030504040204" pitchFamily="34" charset="0"/>
                        </a:rPr>
                        <a:t>E 2021-22 </a:t>
                      </a:r>
                    </a:p>
                  </a:txBody>
                  <a:tcPr>
                    <a:noFill/>
                  </a:tcPr>
                </a:tc>
                <a:tc>
                  <a:txBody>
                    <a:bodyPr/>
                    <a:lstStyle/>
                    <a:p>
                      <a:r>
                        <a:rPr lang="en-US" sz="900" dirty="0">
                          <a:solidFill>
                            <a:schemeClr val="tx1"/>
                          </a:solidFill>
                          <a:latin typeface="Verdana" panose="020B0604030504040204" pitchFamily="34" charset="0"/>
                          <a:ea typeface="Verdana" panose="020B0604030504040204" pitchFamily="34" charset="0"/>
                        </a:rPr>
                        <a:t>E 2022-23</a:t>
                      </a:r>
                    </a:p>
                  </a:txBody>
                  <a:tcPr>
                    <a:noFill/>
                  </a:tcPr>
                </a:tc>
                <a:extLst>
                  <a:ext uri="{0D108BD9-81ED-4DB2-BD59-A6C34878D82A}">
                    <a16:rowId xmlns:a16="http://schemas.microsoft.com/office/drawing/2014/main" val="73438225"/>
                  </a:ext>
                </a:extLst>
              </a:tr>
            </a:tbl>
          </a:graphicData>
        </a:graphic>
      </p:graphicFrame>
      <p:graphicFrame>
        <p:nvGraphicFramePr>
          <p:cNvPr id="28" name="Table 27">
            <a:extLst>
              <a:ext uri="{FF2B5EF4-FFF2-40B4-BE49-F238E27FC236}">
                <a16:creationId xmlns:a16="http://schemas.microsoft.com/office/drawing/2014/main" id="{9325DE7F-3ACE-46EA-9C23-E34A02FAD536}"/>
              </a:ext>
            </a:extLst>
          </p:cNvPr>
          <p:cNvGraphicFramePr>
            <a:graphicFrameLocks noGrp="1"/>
          </p:cNvGraphicFramePr>
          <p:nvPr>
            <p:extLst>
              <p:ext uri="{D42A27DB-BD31-4B8C-83A1-F6EECF244321}">
                <p14:modId xmlns:p14="http://schemas.microsoft.com/office/powerpoint/2010/main" val="3529206034"/>
              </p:ext>
            </p:extLst>
          </p:nvPr>
        </p:nvGraphicFramePr>
        <p:xfrm>
          <a:off x="7084944" y="6366302"/>
          <a:ext cx="4417890" cy="276696"/>
        </p:xfrm>
        <a:graphic>
          <a:graphicData uri="http://schemas.openxmlformats.org/drawingml/2006/table">
            <a:tbl>
              <a:tblPr firstRow="1" bandRow="1">
                <a:tableStyleId>{5C22544A-7EE6-4342-B048-85BDC9FD1C3A}</a:tableStyleId>
              </a:tblPr>
              <a:tblGrid>
                <a:gridCol w="883578">
                  <a:extLst>
                    <a:ext uri="{9D8B030D-6E8A-4147-A177-3AD203B41FA5}">
                      <a16:colId xmlns:a16="http://schemas.microsoft.com/office/drawing/2014/main" val="1249610301"/>
                    </a:ext>
                  </a:extLst>
                </a:gridCol>
                <a:gridCol w="883578">
                  <a:extLst>
                    <a:ext uri="{9D8B030D-6E8A-4147-A177-3AD203B41FA5}">
                      <a16:colId xmlns:a16="http://schemas.microsoft.com/office/drawing/2014/main" val="432960598"/>
                    </a:ext>
                  </a:extLst>
                </a:gridCol>
                <a:gridCol w="883578">
                  <a:extLst>
                    <a:ext uri="{9D8B030D-6E8A-4147-A177-3AD203B41FA5}">
                      <a16:colId xmlns:a16="http://schemas.microsoft.com/office/drawing/2014/main" val="1756294992"/>
                    </a:ext>
                  </a:extLst>
                </a:gridCol>
                <a:gridCol w="883578">
                  <a:extLst>
                    <a:ext uri="{9D8B030D-6E8A-4147-A177-3AD203B41FA5}">
                      <a16:colId xmlns:a16="http://schemas.microsoft.com/office/drawing/2014/main" val="1482068503"/>
                    </a:ext>
                  </a:extLst>
                </a:gridCol>
                <a:gridCol w="883578">
                  <a:extLst>
                    <a:ext uri="{9D8B030D-6E8A-4147-A177-3AD203B41FA5}">
                      <a16:colId xmlns:a16="http://schemas.microsoft.com/office/drawing/2014/main" val="2897503451"/>
                    </a:ext>
                  </a:extLst>
                </a:gridCol>
              </a:tblGrid>
              <a:tr h="276696">
                <a:tc>
                  <a:txBody>
                    <a:bodyPr/>
                    <a:lstStyle/>
                    <a:p>
                      <a:r>
                        <a:rPr lang="en-US" sz="900" dirty="0">
                          <a:solidFill>
                            <a:schemeClr val="tx1"/>
                          </a:solidFill>
                          <a:latin typeface="Verdana" panose="020B0604030504040204" pitchFamily="34" charset="0"/>
                          <a:ea typeface="Verdana" panose="020B0604030504040204" pitchFamily="34" charset="0"/>
                        </a:rPr>
                        <a:t>2018-19</a:t>
                      </a:r>
                    </a:p>
                  </a:txBody>
                  <a:tcPr>
                    <a:noFill/>
                  </a:tcPr>
                </a:tc>
                <a:tc>
                  <a:txBody>
                    <a:bodyPr/>
                    <a:lstStyle/>
                    <a:p>
                      <a:r>
                        <a:rPr lang="en-US" sz="900" dirty="0">
                          <a:solidFill>
                            <a:schemeClr val="tx1"/>
                          </a:solidFill>
                          <a:latin typeface="Verdana" panose="020B0604030504040204" pitchFamily="34" charset="0"/>
                          <a:ea typeface="Verdana" panose="020B0604030504040204" pitchFamily="34" charset="0"/>
                        </a:rPr>
                        <a:t>2019-20</a:t>
                      </a:r>
                    </a:p>
                  </a:txBody>
                  <a:tcPr>
                    <a:noFill/>
                  </a:tcPr>
                </a:tc>
                <a:tc>
                  <a:txBody>
                    <a:bodyPr/>
                    <a:lstStyle/>
                    <a:p>
                      <a:r>
                        <a:rPr lang="en-US" sz="900" dirty="0">
                          <a:solidFill>
                            <a:schemeClr val="tx1"/>
                          </a:solidFill>
                          <a:latin typeface="Verdana" panose="020B0604030504040204" pitchFamily="34" charset="0"/>
                          <a:ea typeface="Verdana" panose="020B0604030504040204" pitchFamily="34" charset="0"/>
                        </a:rPr>
                        <a:t>2020-21</a:t>
                      </a:r>
                    </a:p>
                  </a:txBody>
                  <a:tcPr>
                    <a:noFill/>
                  </a:tcPr>
                </a:tc>
                <a:tc>
                  <a:txBody>
                    <a:bodyPr/>
                    <a:lstStyle/>
                    <a:p>
                      <a:r>
                        <a:rPr lang="en-US" sz="900" dirty="0">
                          <a:solidFill>
                            <a:schemeClr val="tx1"/>
                          </a:solidFill>
                          <a:latin typeface="Verdana" panose="020B0604030504040204" pitchFamily="34" charset="0"/>
                          <a:ea typeface="Verdana" panose="020B0604030504040204" pitchFamily="34" charset="0"/>
                        </a:rPr>
                        <a:t>E 2021-22 </a:t>
                      </a:r>
                    </a:p>
                  </a:txBody>
                  <a:tcPr>
                    <a:noFill/>
                  </a:tcPr>
                </a:tc>
                <a:tc>
                  <a:txBody>
                    <a:bodyPr/>
                    <a:lstStyle/>
                    <a:p>
                      <a:r>
                        <a:rPr lang="en-US" sz="900" dirty="0">
                          <a:solidFill>
                            <a:schemeClr val="tx1"/>
                          </a:solidFill>
                          <a:latin typeface="Verdana" panose="020B0604030504040204" pitchFamily="34" charset="0"/>
                          <a:ea typeface="Verdana" panose="020B0604030504040204" pitchFamily="34" charset="0"/>
                        </a:rPr>
                        <a:t>E 2022-23</a:t>
                      </a:r>
                    </a:p>
                  </a:txBody>
                  <a:tcPr>
                    <a:noFill/>
                  </a:tcPr>
                </a:tc>
                <a:extLst>
                  <a:ext uri="{0D108BD9-81ED-4DB2-BD59-A6C34878D82A}">
                    <a16:rowId xmlns:a16="http://schemas.microsoft.com/office/drawing/2014/main" val="73438225"/>
                  </a:ext>
                </a:extLst>
              </a:tr>
            </a:tbl>
          </a:graphicData>
        </a:graphic>
      </p:graphicFrame>
      <p:sp>
        <p:nvSpPr>
          <p:cNvPr id="33" name="Title 2">
            <a:extLst>
              <a:ext uri="{FF2B5EF4-FFF2-40B4-BE49-F238E27FC236}">
                <a16:creationId xmlns:a16="http://schemas.microsoft.com/office/drawing/2014/main" id="{6640D667-3E12-42E3-BB5E-5370DFCCE01B}"/>
              </a:ext>
            </a:extLst>
          </p:cNvPr>
          <p:cNvSpPr txBox="1">
            <a:spLocks/>
          </p:cNvSpPr>
          <p:nvPr/>
        </p:nvSpPr>
        <p:spPr bwMode="gray">
          <a:xfrm>
            <a:off x="356888" y="83830"/>
            <a:ext cx="11252200" cy="334102"/>
          </a:xfrm>
          <a:prstGeom prst="rect">
            <a:avLst/>
          </a:prstGeom>
        </p:spPr>
        <p:txBody>
          <a:bodyPr vert="horz" lIns="0" tIns="0" rIns="0" bIns="0" rtlCol="0" anchor="b" anchorCtr="0">
            <a:noAutofit/>
          </a:bodyPr>
          <a:lstStyle>
            <a:lvl1pPr algn="ctr" defTabSz="914400" rtl="0" eaLnBrk="1" latinLnBrk="0" hangingPunct="1">
              <a:spcBef>
                <a:spcPct val="0"/>
              </a:spcBef>
              <a:buNone/>
              <a:defRPr sz="6000" kern="1200">
                <a:solidFill>
                  <a:schemeClr val="tx1"/>
                </a:solidFill>
                <a:latin typeface="+mn-lt"/>
                <a:ea typeface="+mj-ea"/>
                <a:cs typeface="Calibri Light" panose="020F0302020204030204" pitchFamily="34" charset="0"/>
              </a:defRPr>
            </a:lvl1pPr>
          </a:lstStyle>
          <a:p>
            <a:pPr algn="l"/>
            <a:r>
              <a:rPr lang="en-US" sz="1800" b="1" dirty="0">
                <a:latin typeface="Verdana" panose="020B0604030504040204" pitchFamily="34" charset="0"/>
                <a:ea typeface="Verdana" panose="020B0604030504040204" pitchFamily="34" charset="0"/>
              </a:rPr>
              <a:t>Seasonal Demand and Energy Consumption of WBSEDCL</a:t>
            </a:r>
          </a:p>
        </p:txBody>
      </p:sp>
      <p:sp>
        <p:nvSpPr>
          <p:cNvPr id="36" name="TextBox 35">
            <a:extLst>
              <a:ext uri="{FF2B5EF4-FFF2-40B4-BE49-F238E27FC236}">
                <a16:creationId xmlns:a16="http://schemas.microsoft.com/office/drawing/2014/main" id="{AC675B57-1252-4CAF-AFA9-FC9546B3D43C}"/>
              </a:ext>
            </a:extLst>
          </p:cNvPr>
          <p:cNvSpPr txBox="1"/>
          <p:nvPr/>
        </p:nvSpPr>
        <p:spPr>
          <a:xfrm>
            <a:off x="9604254" y="6632406"/>
            <a:ext cx="2733675" cy="123111"/>
          </a:xfrm>
          <a:prstGeom prst="rect">
            <a:avLst/>
          </a:prstGeom>
          <a:noFill/>
        </p:spPr>
        <p:txBody>
          <a:bodyPr wrap="square" lIns="0" tIns="0" rIns="0" bIns="0" rtlCol="0">
            <a:spAutoFit/>
          </a:bodyPr>
          <a:lstStyle/>
          <a:p>
            <a:pPr>
              <a:spcBef>
                <a:spcPts val="600"/>
              </a:spcBef>
              <a:buSzPct val="100000"/>
            </a:pPr>
            <a:r>
              <a:rPr lang="en-US" sz="800" dirty="0">
                <a:solidFill>
                  <a:srgbClr val="313131"/>
                </a:solidFill>
                <a:latin typeface="Verdana" panose="020B0604030504040204" pitchFamily="34" charset="0"/>
                <a:ea typeface="Verdana" panose="020B0604030504040204" pitchFamily="34" charset="0"/>
              </a:rPr>
              <a:t>Data Source: ERPC Annual Report and LGBR Report</a:t>
            </a:r>
          </a:p>
        </p:txBody>
      </p:sp>
      <p:sp>
        <p:nvSpPr>
          <p:cNvPr id="38" name="TextBox 37">
            <a:extLst>
              <a:ext uri="{FF2B5EF4-FFF2-40B4-BE49-F238E27FC236}">
                <a16:creationId xmlns:a16="http://schemas.microsoft.com/office/drawing/2014/main" id="{345963F4-D053-4D68-9523-227557BB048E}"/>
              </a:ext>
            </a:extLst>
          </p:cNvPr>
          <p:cNvSpPr txBox="1"/>
          <p:nvPr/>
        </p:nvSpPr>
        <p:spPr>
          <a:xfrm>
            <a:off x="1138430" y="471162"/>
            <a:ext cx="4602823" cy="215444"/>
          </a:xfrm>
          <a:prstGeom prst="rect">
            <a:avLst/>
          </a:prstGeom>
          <a:solidFill>
            <a:schemeClr val="accent4">
              <a:lumMod val="60000"/>
              <a:lumOff val="40000"/>
            </a:schemeClr>
          </a:solidFill>
        </p:spPr>
        <p:txBody>
          <a:bodyPr wrap="square" lIns="0" tIns="0" rIns="0" bIns="0" rtlCol="0">
            <a:spAutoFit/>
          </a:bodyPr>
          <a:lstStyle/>
          <a:p>
            <a:pPr algn="ctr">
              <a:spcBef>
                <a:spcPts val="600"/>
              </a:spcBef>
              <a:buSzPct val="100000"/>
            </a:pPr>
            <a:r>
              <a:rPr lang="en-US" sz="1400" b="1" dirty="0">
                <a:latin typeface="Verdana" panose="020B0604030504040204" pitchFamily="34" charset="0"/>
                <a:ea typeface="Verdana" panose="020B0604030504040204" pitchFamily="34" charset="0"/>
              </a:rPr>
              <a:t>Seasonal Demand in MW</a:t>
            </a:r>
          </a:p>
        </p:txBody>
      </p:sp>
      <p:sp>
        <p:nvSpPr>
          <p:cNvPr id="39" name="TextBox 38">
            <a:extLst>
              <a:ext uri="{FF2B5EF4-FFF2-40B4-BE49-F238E27FC236}">
                <a16:creationId xmlns:a16="http://schemas.microsoft.com/office/drawing/2014/main" id="{89B5FC9A-372E-4D30-8312-38D8BF0E8F6F}"/>
              </a:ext>
            </a:extLst>
          </p:cNvPr>
          <p:cNvSpPr txBox="1"/>
          <p:nvPr/>
        </p:nvSpPr>
        <p:spPr>
          <a:xfrm>
            <a:off x="6968503" y="471162"/>
            <a:ext cx="4440148" cy="215444"/>
          </a:xfrm>
          <a:prstGeom prst="rect">
            <a:avLst/>
          </a:prstGeom>
          <a:solidFill>
            <a:srgbClr val="C4D600"/>
          </a:solidFill>
        </p:spPr>
        <p:txBody>
          <a:bodyPr wrap="square" lIns="0" tIns="0" rIns="0" bIns="0" rtlCol="0">
            <a:spAutoFit/>
          </a:bodyPr>
          <a:lstStyle/>
          <a:p>
            <a:pPr algn="ctr">
              <a:spcBef>
                <a:spcPts val="600"/>
              </a:spcBef>
              <a:buSzPct val="100000"/>
            </a:pPr>
            <a:r>
              <a:rPr lang="en-US" sz="1400" b="1" dirty="0">
                <a:latin typeface="Verdana" panose="020B0604030504040204" pitchFamily="34" charset="0"/>
                <a:ea typeface="Verdana" panose="020B0604030504040204" pitchFamily="34" charset="0"/>
              </a:rPr>
              <a:t>Seasonal Energy Consumption in MU</a:t>
            </a:r>
          </a:p>
        </p:txBody>
      </p:sp>
    </p:spTree>
    <p:extLst>
      <p:ext uri="{BB962C8B-B14F-4D97-AF65-F5344CB8AC3E}">
        <p14:creationId xmlns:p14="http://schemas.microsoft.com/office/powerpoint/2010/main" val="20860950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AF9C93CE-0311-44CE-A04E-BB3023878FC4}"/>
                  </a:ext>
                </a:extLst>
              </p:cNvPr>
              <p:cNvGraphicFramePr/>
              <p:nvPr/>
            </p:nvGraphicFramePr>
            <p:xfrm>
              <a:off x="272738" y="511629"/>
              <a:ext cx="11374975" cy="3647325"/>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5" name="Chart 4">
                <a:extLst>
                  <a:ext uri="{FF2B5EF4-FFF2-40B4-BE49-F238E27FC236}">
                    <a16:creationId xmlns:a16="http://schemas.microsoft.com/office/drawing/2014/main" id="{AF9C93CE-0311-44CE-A04E-BB3023878FC4}"/>
                  </a:ext>
                </a:extLst>
              </p:cNvPr>
              <p:cNvPicPr>
                <a:picLocks noGrp="1" noRot="1" noChangeAspect="1" noMove="1" noResize="1" noEditPoints="1" noAdjustHandles="1" noChangeArrowheads="1" noChangeShapeType="1"/>
              </p:cNvPicPr>
              <p:nvPr/>
            </p:nvPicPr>
            <p:blipFill>
              <a:blip r:embed="rId3"/>
              <a:stretch>
                <a:fillRect/>
              </a:stretch>
            </p:blipFill>
            <p:spPr>
              <a:xfrm>
                <a:off x="272738" y="511629"/>
                <a:ext cx="11374975" cy="3647325"/>
              </a:xfrm>
              <a:prstGeom prst="rect">
                <a:avLst/>
              </a:prstGeom>
            </p:spPr>
          </p:pic>
        </mc:Fallback>
      </mc:AlternateContent>
      <p:sp>
        <p:nvSpPr>
          <p:cNvPr id="6" name="TextBox 5">
            <a:extLst>
              <a:ext uri="{FF2B5EF4-FFF2-40B4-BE49-F238E27FC236}">
                <a16:creationId xmlns:a16="http://schemas.microsoft.com/office/drawing/2014/main" id="{8E6E01E4-0B53-4388-98FB-DBE15513FDF4}"/>
              </a:ext>
            </a:extLst>
          </p:cNvPr>
          <p:cNvSpPr txBox="1"/>
          <p:nvPr/>
        </p:nvSpPr>
        <p:spPr>
          <a:xfrm>
            <a:off x="722179" y="4158954"/>
            <a:ext cx="1017174" cy="461665"/>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hlinkClick r:id="" action="ppaction://noaction"/>
              </a:rPr>
              <a:t>Cost of Power Purchase from WBPDCL</a:t>
            </a:r>
            <a:endPar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endParaRPr>
          </a:p>
        </p:txBody>
      </p:sp>
      <p:sp>
        <p:nvSpPr>
          <p:cNvPr id="7" name="TextBox 6">
            <a:extLst>
              <a:ext uri="{FF2B5EF4-FFF2-40B4-BE49-F238E27FC236}">
                <a16:creationId xmlns:a16="http://schemas.microsoft.com/office/drawing/2014/main" id="{12DD17F1-27AB-4BBD-9A65-2733F2506E2F}"/>
              </a:ext>
            </a:extLst>
          </p:cNvPr>
          <p:cNvSpPr txBox="1"/>
          <p:nvPr/>
        </p:nvSpPr>
        <p:spPr>
          <a:xfrm>
            <a:off x="2330678" y="3065573"/>
            <a:ext cx="1037690" cy="461665"/>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rPr>
              <a:t>Cost of Power Purchase from Other Sources *</a:t>
            </a:r>
          </a:p>
        </p:txBody>
      </p:sp>
      <p:sp>
        <p:nvSpPr>
          <p:cNvPr id="8" name="TextBox 7">
            <a:extLst>
              <a:ext uri="{FF2B5EF4-FFF2-40B4-BE49-F238E27FC236}">
                <a16:creationId xmlns:a16="http://schemas.microsoft.com/office/drawing/2014/main" id="{26778CEE-80D7-40E2-A23E-709A5021178A}"/>
              </a:ext>
            </a:extLst>
          </p:cNvPr>
          <p:cNvSpPr txBox="1"/>
          <p:nvPr/>
        </p:nvSpPr>
        <p:spPr>
          <a:xfrm>
            <a:off x="3984171" y="1724297"/>
            <a:ext cx="873370" cy="461665"/>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0" i="0" strike="noStrike" kern="1200" cap="none" spc="0" normalizeH="0" baseline="0" noProof="0" dirty="0">
                <a:ln>
                  <a:noFill/>
                </a:ln>
                <a:solidFill>
                  <a:srgbClr val="313131"/>
                </a:solidFill>
                <a:effectLst/>
                <a:uLnTx/>
                <a:uFillTx/>
                <a:ea typeface="+mn-ea"/>
                <a:cs typeface="Calibri" panose="020F0502020204030204" pitchFamily="34" charset="0"/>
                <a:hlinkClick r:id="" action="ppaction://noaction"/>
              </a:rPr>
              <a:t>Transmission charges for WBSETCL</a:t>
            </a:r>
            <a:endParaRPr kumimoji="0" lang="en-US" sz="1000" b="0" i="0" strike="noStrike" kern="1200" cap="none" spc="0" normalizeH="0" baseline="0" noProof="0" dirty="0">
              <a:ln>
                <a:noFill/>
              </a:ln>
              <a:solidFill>
                <a:srgbClr val="313131"/>
              </a:solidFill>
              <a:effectLst/>
              <a:uLnTx/>
              <a:uFillTx/>
              <a:ea typeface="+mn-ea"/>
              <a:cs typeface="Calibri" panose="020F0502020204030204" pitchFamily="34" charset="0"/>
            </a:endParaRPr>
          </a:p>
        </p:txBody>
      </p:sp>
      <p:sp>
        <p:nvSpPr>
          <p:cNvPr id="9" name="TextBox 8">
            <a:extLst>
              <a:ext uri="{FF2B5EF4-FFF2-40B4-BE49-F238E27FC236}">
                <a16:creationId xmlns:a16="http://schemas.microsoft.com/office/drawing/2014/main" id="{CF2BC55D-11C3-482C-A9BD-828FB93F1708}"/>
              </a:ext>
            </a:extLst>
          </p:cNvPr>
          <p:cNvSpPr txBox="1"/>
          <p:nvPr/>
        </p:nvSpPr>
        <p:spPr>
          <a:xfrm>
            <a:off x="5602510" y="1490963"/>
            <a:ext cx="868052" cy="615553"/>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hlinkClick r:id="" action="ppaction://noaction"/>
              </a:rPr>
              <a:t>Other fixed cost less non-tariff income</a:t>
            </a:r>
            <a:endPar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endParaRPr>
          </a:p>
        </p:txBody>
      </p:sp>
      <p:sp>
        <p:nvSpPr>
          <p:cNvPr id="10" name="TextBox 9">
            <a:extLst>
              <a:ext uri="{FF2B5EF4-FFF2-40B4-BE49-F238E27FC236}">
                <a16:creationId xmlns:a16="http://schemas.microsoft.com/office/drawing/2014/main" id="{18F98EAF-78CE-42AE-A349-5682FE0DD6FC}"/>
              </a:ext>
            </a:extLst>
          </p:cNvPr>
          <p:cNvSpPr txBox="1"/>
          <p:nvPr/>
        </p:nvSpPr>
        <p:spPr>
          <a:xfrm>
            <a:off x="7097608" y="1286690"/>
            <a:ext cx="1000197" cy="461665"/>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hlinkClick r:id="" action="ppaction://noaction"/>
              </a:rPr>
              <a:t>Part adjustment  of APR 2013-14</a:t>
            </a:r>
            <a:endPar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endParaRPr>
          </a:p>
        </p:txBody>
      </p:sp>
      <p:sp>
        <p:nvSpPr>
          <p:cNvPr id="11" name="TextBox 10">
            <a:extLst>
              <a:ext uri="{FF2B5EF4-FFF2-40B4-BE49-F238E27FC236}">
                <a16:creationId xmlns:a16="http://schemas.microsoft.com/office/drawing/2014/main" id="{59D4A859-2EC8-4391-AB2B-3AF7F7DA24CF}"/>
              </a:ext>
            </a:extLst>
          </p:cNvPr>
          <p:cNvSpPr txBox="1"/>
          <p:nvPr/>
        </p:nvSpPr>
        <p:spPr>
          <a:xfrm>
            <a:off x="8724851" y="1259078"/>
            <a:ext cx="1037690" cy="769441"/>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hlinkClick r:id="" action="ppaction://noaction"/>
              </a:rPr>
              <a:t>Revenue per unit from sale of power to licensees and Sikkim</a:t>
            </a:r>
            <a:endParaRPr kumimoji="0" lang="en-US" sz="1000" b="0" i="0" u="none" strike="noStrike" kern="1200" cap="none" spc="0" normalizeH="0" baseline="0" noProof="0" dirty="0">
              <a:ln>
                <a:noFill/>
              </a:ln>
              <a:solidFill>
                <a:srgbClr val="313131"/>
              </a:solidFill>
              <a:effectLst/>
              <a:uLnTx/>
              <a:uFillTx/>
              <a:ea typeface="+mn-ea"/>
              <a:cs typeface="Calibri" panose="020F0502020204030204" pitchFamily="34" charset="0"/>
            </a:endParaRPr>
          </a:p>
        </p:txBody>
      </p:sp>
      <p:sp>
        <p:nvSpPr>
          <p:cNvPr id="12" name="TextBox 11">
            <a:extLst>
              <a:ext uri="{FF2B5EF4-FFF2-40B4-BE49-F238E27FC236}">
                <a16:creationId xmlns:a16="http://schemas.microsoft.com/office/drawing/2014/main" id="{4EDA7CDD-534F-4DC2-9465-FF90568CC926}"/>
              </a:ext>
            </a:extLst>
          </p:cNvPr>
          <p:cNvSpPr txBox="1"/>
          <p:nvPr/>
        </p:nvSpPr>
        <p:spPr>
          <a:xfrm>
            <a:off x="10387514" y="2060512"/>
            <a:ext cx="763713" cy="646331"/>
          </a:xfrm>
          <a:prstGeom prst="rect">
            <a:avLst/>
          </a:prstGeom>
          <a:no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chemeClr val="bg1"/>
                </a:solidFill>
                <a:effectLst/>
                <a:uLnTx/>
                <a:uFillTx/>
                <a:ea typeface="+mn-ea"/>
                <a:cs typeface="Calibri" panose="020F0502020204030204" pitchFamily="34" charset="0"/>
              </a:rPr>
              <a:t>Average Tariff </a:t>
            </a:r>
            <a:r>
              <a:rPr lang="en-US" sz="1400" dirty="0">
                <a:solidFill>
                  <a:schemeClr val="bg1"/>
                </a:solidFill>
                <a:cs typeface="Calibri" panose="020F0502020204030204" pitchFamily="34" charset="0"/>
              </a:rPr>
              <a:t>R</a:t>
            </a:r>
            <a:r>
              <a:rPr kumimoji="0" lang="en-US" sz="1400" b="0" i="0" u="none" strike="noStrike" kern="1200" cap="none" spc="0" normalizeH="0" baseline="0" noProof="0" dirty="0">
                <a:ln>
                  <a:noFill/>
                </a:ln>
                <a:solidFill>
                  <a:schemeClr val="bg1"/>
                </a:solidFill>
                <a:effectLst/>
                <a:uLnTx/>
                <a:uFillTx/>
                <a:ea typeface="+mn-ea"/>
                <a:cs typeface="Calibri" panose="020F0502020204030204" pitchFamily="34" charset="0"/>
              </a:rPr>
              <a:t>ate</a:t>
            </a:r>
          </a:p>
        </p:txBody>
      </p:sp>
      <p:sp>
        <p:nvSpPr>
          <p:cNvPr id="13" name="TextBox 12">
            <a:extLst>
              <a:ext uri="{FF2B5EF4-FFF2-40B4-BE49-F238E27FC236}">
                <a16:creationId xmlns:a16="http://schemas.microsoft.com/office/drawing/2014/main" id="{AD312637-BB0E-4E3D-966B-90D5E0F28DE0}"/>
              </a:ext>
            </a:extLst>
          </p:cNvPr>
          <p:cNvSpPr txBox="1"/>
          <p:nvPr/>
        </p:nvSpPr>
        <p:spPr>
          <a:xfrm>
            <a:off x="5230110" y="3024477"/>
            <a:ext cx="3174453" cy="692497"/>
          </a:xfrm>
          <a:prstGeom prst="rect">
            <a:avLst/>
          </a:prstGeom>
          <a:solidFill>
            <a:srgbClr val="0076A8">
              <a:alpha val="10000"/>
            </a:srgbClr>
          </a:solidFill>
        </p:spPr>
        <p:txBody>
          <a:bodyPr wrap="square" lIns="0" tIns="0" rIns="0" bIns="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500" b="0" i="0" u="none" strike="noStrike" kern="1200" cap="none" spc="0" normalizeH="0" baseline="0" noProof="0" dirty="0">
                <a:ln>
                  <a:noFill/>
                </a:ln>
                <a:effectLst/>
                <a:uLnTx/>
                <a:uFillTx/>
                <a:ea typeface="+mn-ea"/>
                <a:cs typeface="+mn-cs"/>
              </a:rPr>
              <a:t>Break up </a:t>
            </a:r>
            <a:r>
              <a:rPr lang="en-US" sz="1500" dirty="0"/>
              <a:t>of </a:t>
            </a:r>
            <a:r>
              <a:rPr kumimoji="0" lang="en-US" sz="1500" b="0" i="0" u="none" strike="noStrike" kern="1200" cap="none" spc="0" normalizeH="0" baseline="0" noProof="0" dirty="0">
                <a:ln>
                  <a:noFill/>
                </a:ln>
                <a:effectLst/>
                <a:uLnTx/>
                <a:uFillTx/>
                <a:ea typeface="+mn-ea"/>
                <a:cs typeface="+mn-cs"/>
              </a:rPr>
              <a:t>2020-21 Average Tariff rate as </a:t>
            </a:r>
            <a:r>
              <a:rPr lang="en-US" sz="1500" dirty="0"/>
              <a:t>per</a:t>
            </a:r>
            <a:r>
              <a:rPr kumimoji="0" lang="en-US" sz="1500" b="0" i="0" u="none" strike="noStrike" kern="1200" cap="none" spc="0" normalizeH="0" baseline="0" noProof="0" dirty="0">
                <a:ln>
                  <a:noFill/>
                </a:ln>
                <a:effectLst/>
                <a:uLnTx/>
                <a:uFillTx/>
                <a:ea typeface="+mn-ea"/>
                <a:cs typeface="+mn-cs"/>
              </a:rPr>
              <a:t> tariff order (RS/KWh)</a:t>
            </a:r>
          </a:p>
        </p:txBody>
      </p:sp>
      <p:sp>
        <p:nvSpPr>
          <p:cNvPr id="14" name="TextBox 13">
            <a:extLst>
              <a:ext uri="{FF2B5EF4-FFF2-40B4-BE49-F238E27FC236}">
                <a16:creationId xmlns:a16="http://schemas.microsoft.com/office/drawing/2014/main" id="{5B0E391F-22C0-48BF-9142-A75194BD3C2D}"/>
              </a:ext>
            </a:extLst>
          </p:cNvPr>
          <p:cNvSpPr txBox="1"/>
          <p:nvPr/>
        </p:nvSpPr>
        <p:spPr>
          <a:xfrm>
            <a:off x="272739" y="230230"/>
            <a:ext cx="11504290" cy="369332"/>
          </a:xfrm>
          <a:prstGeom prst="rect">
            <a:avLst/>
          </a:prstGeom>
          <a:noFill/>
        </p:spPr>
        <p:txBody>
          <a:bodyPr wrap="square">
            <a:spAutoFit/>
          </a:bodyPr>
          <a:lstStyle/>
          <a:p>
            <a:r>
              <a:rPr lang="en-US" b="1" dirty="0">
                <a:latin typeface="Verdana" panose="020B0604030504040204" pitchFamily="34" charset="0"/>
                <a:ea typeface="Verdana" panose="020B0604030504040204" pitchFamily="34" charset="0"/>
              </a:rPr>
              <a:t>Breakdown of average tariff rate – FY 2020-21 Approved WBERC Order</a:t>
            </a:r>
            <a:endParaRPr lang="en-US" dirty="0">
              <a:latin typeface="Verdana" panose="020B0604030504040204" pitchFamily="34" charset="0"/>
              <a:ea typeface="Verdana" panose="020B0604030504040204" pitchFamily="34" charset="0"/>
            </a:endParaRPr>
          </a:p>
        </p:txBody>
      </p:sp>
      <p:sp>
        <p:nvSpPr>
          <p:cNvPr id="15" name="TextBox 14">
            <a:extLst>
              <a:ext uri="{FF2B5EF4-FFF2-40B4-BE49-F238E27FC236}">
                <a16:creationId xmlns:a16="http://schemas.microsoft.com/office/drawing/2014/main" id="{95BE5180-77D4-4CAA-AC51-F392F0ADA789}"/>
              </a:ext>
            </a:extLst>
          </p:cNvPr>
          <p:cNvSpPr txBox="1"/>
          <p:nvPr/>
        </p:nvSpPr>
        <p:spPr>
          <a:xfrm>
            <a:off x="272739" y="5421867"/>
            <a:ext cx="11527595" cy="800219"/>
          </a:xfrm>
          <a:prstGeom prst="rect">
            <a:avLst/>
          </a:prstGeom>
          <a:noFill/>
        </p:spPr>
        <p:txBody>
          <a:bodyPr wrap="square" lIns="0" tIns="0" rIns="0" bIns="0" rtlCol="0">
            <a:spAutoFit/>
          </a:bodyPr>
          <a:lstStyle/>
          <a:p>
            <a:pPr>
              <a:spcBef>
                <a:spcPts val="600"/>
              </a:spcBef>
              <a:buSzPct val="100000"/>
            </a:pPr>
            <a:r>
              <a:rPr lang="en-US" sz="1400" b="1" dirty="0">
                <a:solidFill>
                  <a:srgbClr val="313131"/>
                </a:solidFill>
                <a:latin typeface="Verdana"/>
              </a:rPr>
              <a:t>N.B. </a:t>
            </a:r>
          </a:p>
          <a:p>
            <a:pPr marL="285750" indent="-285750">
              <a:spcBef>
                <a:spcPts val="600"/>
              </a:spcBef>
              <a:buSzPct val="100000"/>
              <a:buFont typeface="Wingdings" panose="05000000000000000000" pitchFamily="2" charset="2"/>
              <a:buChar char="q"/>
            </a:pPr>
            <a:r>
              <a:rPr kumimoji="0" lang="en-US" sz="1400" b="0" i="0" u="none" strike="noStrike" kern="1200" cap="none" spc="0" normalizeH="0" baseline="0" noProof="0" dirty="0">
                <a:ln>
                  <a:noFill/>
                </a:ln>
                <a:solidFill>
                  <a:srgbClr val="313131"/>
                </a:solidFill>
                <a:effectLst/>
                <a:uLnTx/>
                <a:uFillTx/>
                <a:latin typeface="Verdana"/>
                <a:ea typeface="+mn-ea"/>
                <a:cs typeface="+mn-cs"/>
              </a:rPr>
              <a:t>Average Tariff rate is Rs. 6.97 /KWh considering revenue recoverable from sale of 30923 MUs  to own consumers</a:t>
            </a:r>
            <a:endParaRPr lang="en-US" sz="1400" dirty="0">
              <a:solidFill>
                <a:srgbClr val="313131"/>
              </a:solidFill>
            </a:endParaRPr>
          </a:p>
          <a:p>
            <a:pPr marL="285750" indent="-285750">
              <a:spcBef>
                <a:spcPts val="600"/>
              </a:spcBef>
              <a:buSzPct val="100000"/>
              <a:buFont typeface="Wingdings" panose="05000000000000000000" pitchFamily="2" charset="2"/>
              <a:buChar char="q"/>
            </a:pPr>
            <a:endParaRPr lang="en-US" sz="1400" dirty="0">
              <a:solidFill>
                <a:srgbClr val="313131"/>
              </a:solidFill>
            </a:endParaRPr>
          </a:p>
        </p:txBody>
      </p:sp>
      <p:sp>
        <p:nvSpPr>
          <p:cNvPr id="16" name="Oval 15">
            <a:extLst>
              <a:ext uri="{FF2B5EF4-FFF2-40B4-BE49-F238E27FC236}">
                <a16:creationId xmlns:a16="http://schemas.microsoft.com/office/drawing/2014/main" id="{240C96CD-B397-47B9-BAEF-1B89EBBB709D}"/>
              </a:ext>
            </a:extLst>
          </p:cNvPr>
          <p:cNvSpPr/>
          <p:nvPr/>
        </p:nvSpPr>
        <p:spPr bwMode="gray">
          <a:xfrm>
            <a:off x="10316260" y="329048"/>
            <a:ext cx="932762" cy="675743"/>
          </a:xfrm>
          <a:prstGeom prst="ellipse">
            <a:avLst/>
          </a:prstGeom>
          <a:solidFill>
            <a:schemeClr val="accent1">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FF0000"/>
              </a:solidFill>
            </a:endParaRPr>
          </a:p>
        </p:txBody>
      </p:sp>
      <p:sp>
        <p:nvSpPr>
          <p:cNvPr id="17" name="TextBox 16">
            <a:extLst>
              <a:ext uri="{FF2B5EF4-FFF2-40B4-BE49-F238E27FC236}">
                <a16:creationId xmlns:a16="http://schemas.microsoft.com/office/drawing/2014/main" id="{7236AB62-3F88-4529-B0BD-27EF819EDFBD}"/>
              </a:ext>
            </a:extLst>
          </p:cNvPr>
          <p:cNvSpPr txBox="1"/>
          <p:nvPr/>
        </p:nvSpPr>
        <p:spPr>
          <a:xfrm>
            <a:off x="10460799" y="599562"/>
            <a:ext cx="877487" cy="184666"/>
          </a:xfrm>
          <a:prstGeom prst="rect">
            <a:avLst/>
          </a:prstGeom>
          <a:noFill/>
        </p:spPr>
        <p:txBody>
          <a:bodyPr wrap="square" lIns="0" tIns="0" rIns="0" bIns="0" rtlCol="0">
            <a:spAutoFit/>
          </a:bodyPr>
          <a:lstStyle/>
          <a:p>
            <a:pPr>
              <a:spcBef>
                <a:spcPts val="600"/>
              </a:spcBef>
              <a:buSzPct val="100000"/>
            </a:pPr>
            <a:r>
              <a:rPr lang="en-US" sz="1200" b="1" dirty="0">
                <a:solidFill>
                  <a:schemeClr val="accent4"/>
                </a:solidFill>
              </a:rPr>
              <a:t>Rs. 6.97</a:t>
            </a:r>
          </a:p>
        </p:txBody>
      </p:sp>
      <p:sp>
        <p:nvSpPr>
          <p:cNvPr id="18" name="TextBox 17">
            <a:extLst>
              <a:ext uri="{FF2B5EF4-FFF2-40B4-BE49-F238E27FC236}">
                <a16:creationId xmlns:a16="http://schemas.microsoft.com/office/drawing/2014/main" id="{68B915CD-52F5-46BA-AA5F-E235AAF27CA4}"/>
              </a:ext>
            </a:extLst>
          </p:cNvPr>
          <p:cNvSpPr txBox="1"/>
          <p:nvPr/>
        </p:nvSpPr>
        <p:spPr>
          <a:xfrm>
            <a:off x="272739" y="4989962"/>
            <a:ext cx="7909791" cy="184666"/>
          </a:xfrm>
          <a:prstGeom prst="rect">
            <a:avLst/>
          </a:prstGeom>
          <a:noFill/>
        </p:spPr>
        <p:txBody>
          <a:bodyPr wrap="square" lIns="0" tIns="0" rIns="0" bIns="0" rtlCol="0">
            <a:spAutoFit/>
          </a:bodyPr>
          <a:lstStyle/>
          <a:p>
            <a:pPr>
              <a:spcBef>
                <a:spcPts val="600"/>
              </a:spcBef>
              <a:buSzPct val="100000"/>
            </a:pPr>
            <a:r>
              <a:rPr lang="en-US" sz="1200" b="1" dirty="0">
                <a:solidFill>
                  <a:schemeClr val="accent5"/>
                </a:solidFill>
                <a:latin typeface="Verdana" panose="020B0604030504040204" pitchFamily="34" charset="0"/>
                <a:ea typeface="Verdana" panose="020B0604030504040204" pitchFamily="34" charset="0"/>
              </a:rPr>
              <a:t>Refer </a:t>
            </a:r>
            <a:r>
              <a:rPr lang="en-US" sz="1200" b="1" dirty="0">
                <a:solidFill>
                  <a:schemeClr val="accent5"/>
                </a:solidFill>
                <a:latin typeface="Verdana" panose="020B0604030504040204" pitchFamily="34" charset="0"/>
                <a:ea typeface="Verdana" panose="020B0604030504040204" pitchFamily="34" charset="0"/>
                <a:hlinkClick r:id="" action="ppaction://noaction"/>
              </a:rPr>
              <a:t>Annexure-</a:t>
            </a:r>
            <a:r>
              <a:rPr lang="en-US" sz="1200" b="1" dirty="0">
                <a:solidFill>
                  <a:schemeClr val="accent5"/>
                </a:solidFill>
                <a:latin typeface="Verdana" panose="020B0604030504040204" pitchFamily="34" charset="0"/>
                <a:ea typeface="Verdana" panose="020B0604030504040204" pitchFamily="34" charset="0"/>
              </a:rPr>
              <a:t>I for details of cost of Power Purchase from Other Sources.</a:t>
            </a:r>
          </a:p>
        </p:txBody>
      </p:sp>
    </p:spTree>
    <p:extLst>
      <p:ext uri="{BB962C8B-B14F-4D97-AF65-F5344CB8AC3E}">
        <p14:creationId xmlns:p14="http://schemas.microsoft.com/office/powerpoint/2010/main" val="1811527013"/>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marR="0" lvl="0" indent="0" algn="ctr" defTabSz="899010" rtl="0" eaLnBrk="1" fontAlgn="auto" latinLnBrk="0" hangingPunct="1">
              <a:lnSpc>
                <a:spcPct val="100000"/>
              </a:lnSpc>
              <a:spcBef>
                <a:spcPct val="0"/>
              </a:spcBef>
              <a:spcAft>
                <a:spcPct val="0"/>
              </a:spcAft>
              <a:buClrTx/>
              <a:buSzTx/>
              <a:buFontTx/>
              <a:buNone/>
              <a:tabLst/>
              <a:defRPr/>
            </a:pPr>
            <a:endParaRPr kumimoji="0" lang="en-IN" sz="1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12" name="Title 3">
            <a:extLst>
              <a:ext uri="{FF2B5EF4-FFF2-40B4-BE49-F238E27FC236}">
                <a16:creationId xmlns:a16="http://schemas.microsoft.com/office/drawing/2014/main" id="{42A67D54-A80F-4E35-A343-9F46A8BDE9A1}"/>
              </a:ext>
            </a:extLst>
          </p:cNvPr>
          <p:cNvSpPr txBox="1">
            <a:spLocks/>
          </p:cNvSpPr>
          <p:nvPr/>
        </p:nvSpPr>
        <p:spPr bwMode="gray">
          <a:xfrm>
            <a:off x="497829" y="311630"/>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lang="en-US" sz="1800" i="0" dirty="0">
                <a:solidFill>
                  <a:prstClr val="black"/>
                </a:solidFill>
              </a:rPr>
              <a:t>Sector wise installed capacity (in MW) and category wise revenue rate comparison</a:t>
            </a:r>
            <a:endParaRPr kumimoji="0" lang="en-US" sz="1800" b="1" i="0" u="none" strike="noStrike" kern="1200" cap="none" spc="0" normalizeH="0" baseline="0" noProof="0" dirty="0">
              <a:ln>
                <a:noFill/>
              </a:ln>
              <a:solidFill>
                <a:prstClr val="black"/>
              </a:solidFill>
              <a:effectLst/>
              <a:uLnTx/>
              <a:uFillTx/>
              <a:latin typeface="Verdana"/>
              <a:ea typeface="+mj-ea"/>
            </a:endParaRPr>
          </a:p>
        </p:txBody>
      </p:sp>
      <p:sp>
        <p:nvSpPr>
          <p:cNvPr id="73" name="object 16">
            <a:extLst>
              <a:ext uri="{FF2B5EF4-FFF2-40B4-BE49-F238E27FC236}">
                <a16:creationId xmlns:a16="http://schemas.microsoft.com/office/drawing/2014/main" id="{094F946D-782F-4B56-A6E4-C907C333FF4F}"/>
              </a:ext>
            </a:extLst>
          </p:cNvPr>
          <p:cNvSpPr/>
          <p:nvPr/>
        </p:nvSpPr>
        <p:spPr>
          <a:xfrm>
            <a:off x="9022242" y="2257181"/>
            <a:ext cx="0" cy="0"/>
          </a:xfrm>
          <a:custGeom>
            <a:avLst/>
            <a:gdLst/>
            <a:ahLst/>
            <a:cxnLst/>
            <a:rect l="l" t="t" r="r" b="b"/>
            <a:pathLst>
              <a:path>
                <a:moveTo>
                  <a:pt x="0" y="0"/>
                </a:moveTo>
                <a:lnTo>
                  <a:pt x="0" y="0"/>
                </a:lnTo>
              </a:path>
            </a:pathLst>
          </a:custGeom>
          <a:ln w="12700">
            <a:solidFill>
              <a:srgbClr val="68CEF3"/>
            </a:solidFill>
          </a:ln>
        </p:spPr>
        <p:txBody>
          <a:bodyPr wrap="square" lIns="0" tIns="0" rIns="0" bIns="0" rtlCol="0"/>
          <a:lstStyle/>
          <a:p>
            <a:pPr marL="0" marR="0" lvl="0" indent="0" algn="l" defTabSz="914403" rtl="0" eaLnBrk="1" fontAlgn="auto" latinLnBrk="0" hangingPunct="1">
              <a:lnSpc>
                <a:spcPct val="100000"/>
              </a:lnSpc>
              <a:spcBef>
                <a:spcPts val="0"/>
              </a:spcBef>
              <a:spcAft>
                <a:spcPts val="0"/>
              </a:spcAft>
              <a:buClrTx/>
              <a:buSzTx/>
              <a:buFontTx/>
              <a:buNone/>
              <a:tabLst/>
              <a:defRPr/>
            </a:pPr>
            <a:endParaRPr kumimoji="0" sz="1799" b="0" i="0" u="none" strike="noStrike" kern="0" cap="none" spc="0" normalizeH="0" baseline="0" noProof="0" dirty="0">
              <a:ln>
                <a:noFill/>
              </a:ln>
              <a:solidFill>
                <a:prstClr val="white"/>
              </a:solidFill>
              <a:effectLst/>
              <a:uLnTx/>
              <a:uFillTx/>
              <a:latin typeface="Verdana"/>
              <a:ea typeface="+mn-ea"/>
              <a:cs typeface="+mn-cs"/>
            </a:endParaRPr>
          </a:p>
        </p:txBody>
      </p:sp>
      <p:sp>
        <p:nvSpPr>
          <p:cNvPr id="96" name="TextBox 95">
            <a:extLst>
              <a:ext uri="{FF2B5EF4-FFF2-40B4-BE49-F238E27FC236}">
                <a16:creationId xmlns:a16="http://schemas.microsoft.com/office/drawing/2014/main" id="{B2CCD71A-3D40-440C-8A6A-D224A3010D32}"/>
              </a:ext>
            </a:extLst>
          </p:cNvPr>
          <p:cNvSpPr txBox="1"/>
          <p:nvPr/>
        </p:nvSpPr>
        <p:spPr>
          <a:xfrm>
            <a:off x="9320023" y="2206157"/>
            <a:ext cx="134736" cy="189545"/>
          </a:xfrm>
          <a:prstGeom prst="rect">
            <a:avLst/>
          </a:prstGeom>
          <a:solidFill>
            <a:schemeClr val="bg1"/>
          </a:solidFill>
        </p:spPr>
        <p:txBody>
          <a:bodyPr wrap="none" lIns="0" tIns="0" rIns="0" bIns="0" rtlCol="0" anchor="ctr" anchorCtr="0">
            <a:noAutofit/>
          </a:bodyPr>
          <a:lstStyle/>
          <a:p>
            <a:pPr marL="0" marR="0" lvl="0" indent="0" algn="ctr" defTabSz="914403" rtl="0" eaLnBrk="1" fontAlgn="auto" latinLnBrk="0" hangingPunct="1">
              <a:lnSpc>
                <a:spcPct val="100000"/>
              </a:lnSpc>
              <a:spcBef>
                <a:spcPts val="0"/>
              </a:spcBef>
              <a:spcAft>
                <a:spcPts val="0"/>
              </a:spcAft>
              <a:buClr>
                <a:srgbClr val="0097A9"/>
              </a:buClr>
              <a:buSzPct val="120000"/>
              <a:buFontTx/>
              <a:buNone/>
              <a:tabLst/>
              <a:defRPr/>
            </a:pPr>
            <a:r>
              <a:rPr kumimoji="0" lang="en-US" sz="499" b="0" i="0" u="none" strike="noStrike" kern="0" cap="none" spc="0" normalizeH="0" baseline="0" noProof="0" dirty="0">
                <a:ln>
                  <a:noFill/>
                </a:ln>
                <a:solidFill>
                  <a:srgbClr val="86BC25"/>
                </a:solidFill>
                <a:effectLst/>
                <a:uLnTx/>
                <a:uFillTx/>
                <a:latin typeface="Verdana"/>
                <a:ea typeface="+mn-ea"/>
                <a:cs typeface="+mn-cs"/>
              </a:rPr>
              <a:t>HR</a:t>
            </a:r>
          </a:p>
        </p:txBody>
      </p:sp>
      <p:sp>
        <p:nvSpPr>
          <p:cNvPr id="31" name="TextBox 30">
            <a:extLst>
              <a:ext uri="{FF2B5EF4-FFF2-40B4-BE49-F238E27FC236}">
                <a16:creationId xmlns:a16="http://schemas.microsoft.com/office/drawing/2014/main" id="{F5F76133-5ACF-4B99-A17F-976D3262BE59}"/>
              </a:ext>
            </a:extLst>
          </p:cNvPr>
          <p:cNvSpPr txBox="1"/>
          <p:nvPr/>
        </p:nvSpPr>
        <p:spPr>
          <a:xfrm>
            <a:off x="4918714" y="3857670"/>
            <a:ext cx="3663561" cy="221599"/>
          </a:xfrm>
          <a:prstGeom prst="rect">
            <a:avLst/>
          </a:prstGeom>
          <a:solidFill>
            <a:srgbClr val="00A3E0"/>
          </a:solidFill>
        </p:spPr>
        <p:txBody>
          <a:bodyPr wrap="square" lIns="0" tIns="18288" rIns="0" bIns="18288"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Installed Capacity (In MW)</a:t>
            </a:r>
          </a:p>
        </p:txBody>
      </p:sp>
      <p:graphicFrame>
        <p:nvGraphicFramePr>
          <p:cNvPr id="54" name="Chart 53">
            <a:extLst>
              <a:ext uri="{FF2B5EF4-FFF2-40B4-BE49-F238E27FC236}">
                <a16:creationId xmlns:a16="http://schemas.microsoft.com/office/drawing/2014/main" id="{DD3B6DDD-0D27-4AAE-B95A-1F5217BD1F69}"/>
              </a:ext>
            </a:extLst>
          </p:cNvPr>
          <p:cNvGraphicFramePr/>
          <p:nvPr/>
        </p:nvGraphicFramePr>
        <p:xfrm>
          <a:off x="8704860" y="3853483"/>
          <a:ext cx="3186155" cy="2296615"/>
        </p:xfrm>
        <a:graphic>
          <a:graphicData uri="http://schemas.openxmlformats.org/drawingml/2006/chart">
            <c:chart xmlns:c="http://schemas.openxmlformats.org/drawingml/2006/chart" xmlns:r="http://schemas.openxmlformats.org/officeDocument/2006/relationships" r:id="rId7"/>
          </a:graphicData>
        </a:graphic>
      </p:graphicFrame>
      <p:sp>
        <p:nvSpPr>
          <p:cNvPr id="619" name="TextBox 618">
            <a:extLst>
              <a:ext uri="{FF2B5EF4-FFF2-40B4-BE49-F238E27FC236}">
                <a16:creationId xmlns:a16="http://schemas.microsoft.com/office/drawing/2014/main" id="{B8B02D40-E889-47B9-8A3A-A5AAC0BA51F4}"/>
              </a:ext>
            </a:extLst>
          </p:cNvPr>
          <p:cNvSpPr txBox="1"/>
          <p:nvPr/>
        </p:nvSpPr>
        <p:spPr>
          <a:xfrm>
            <a:off x="8704861" y="3840673"/>
            <a:ext cx="3186155" cy="406265"/>
          </a:xfrm>
          <a:prstGeom prst="rect">
            <a:avLst/>
          </a:prstGeom>
          <a:solidFill>
            <a:srgbClr val="012169">
              <a:alpha val="76000"/>
            </a:srgbClr>
          </a:solidFill>
          <a:ln>
            <a:solidFill>
              <a:srgbClr val="012169"/>
            </a:solidFill>
          </a:ln>
        </p:spPr>
        <p:txBody>
          <a:bodyPr wrap="square" lIns="0" tIns="18288" rIns="0" bIns="18288"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dirty="0">
                <a:ln>
                  <a:noFill/>
                </a:ln>
                <a:solidFill>
                  <a:prstClr val="white"/>
                </a:solidFill>
                <a:effectLst/>
                <a:uLnTx/>
                <a:uFillTx/>
                <a:latin typeface="Verdana"/>
                <a:ea typeface="+mn-ea"/>
                <a:cs typeface="+mn-cs"/>
              </a:rPr>
              <a:t>Energy Charge ( Rs/KWh) applicable for Industrial Consumer </a:t>
            </a:r>
          </a:p>
        </p:txBody>
      </p:sp>
      <p:sp>
        <p:nvSpPr>
          <p:cNvPr id="621" name="TextBox 620">
            <a:extLst>
              <a:ext uri="{FF2B5EF4-FFF2-40B4-BE49-F238E27FC236}">
                <a16:creationId xmlns:a16="http://schemas.microsoft.com/office/drawing/2014/main" id="{6D17C7AF-37AD-4C4B-A057-F0BE62D16725}"/>
              </a:ext>
            </a:extLst>
          </p:cNvPr>
          <p:cNvSpPr txBox="1"/>
          <p:nvPr/>
        </p:nvSpPr>
        <p:spPr>
          <a:xfrm>
            <a:off x="8704861" y="6226051"/>
            <a:ext cx="3186157" cy="307777"/>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 Fixed charge remain same for all three utility and equal to Rs. 384 / KVA/ Month</a:t>
            </a:r>
          </a:p>
        </p:txBody>
      </p:sp>
      <p:graphicFrame>
        <p:nvGraphicFramePr>
          <p:cNvPr id="16" name="Chart 15">
            <a:extLst>
              <a:ext uri="{FF2B5EF4-FFF2-40B4-BE49-F238E27FC236}">
                <a16:creationId xmlns:a16="http://schemas.microsoft.com/office/drawing/2014/main" id="{2BDCBB0C-F168-4A3A-BE7D-A5F71DB6BD3B}"/>
              </a:ext>
            </a:extLst>
          </p:cNvPr>
          <p:cNvGraphicFramePr/>
          <p:nvPr/>
        </p:nvGraphicFramePr>
        <p:xfrm>
          <a:off x="4918714" y="979555"/>
          <a:ext cx="6972303" cy="2781538"/>
        </p:xfrm>
        <a:graphic>
          <a:graphicData uri="http://schemas.openxmlformats.org/drawingml/2006/chart">
            <c:chart xmlns:c="http://schemas.openxmlformats.org/drawingml/2006/chart" xmlns:r="http://schemas.openxmlformats.org/officeDocument/2006/relationships" r:id="rId8"/>
          </a:graphicData>
        </a:graphic>
      </p:graphicFrame>
      <p:sp>
        <p:nvSpPr>
          <p:cNvPr id="222" name="TextBox 221">
            <a:extLst>
              <a:ext uri="{FF2B5EF4-FFF2-40B4-BE49-F238E27FC236}">
                <a16:creationId xmlns:a16="http://schemas.microsoft.com/office/drawing/2014/main" id="{D2DBECA9-79A4-4644-9B67-0D4451B4F942}"/>
              </a:ext>
            </a:extLst>
          </p:cNvPr>
          <p:cNvSpPr txBox="1"/>
          <p:nvPr/>
        </p:nvSpPr>
        <p:spPr>
          <a:xfrm>
            <a:off x="4918713" y="864353"/>
            <a:ext cx="6972303" cy="507831"/>
          </a:xfrm>
          <a:prstGeom prst="rect">
            <a:avLst/>
          </a:prstGeom>
          <a:solidFill>
            <a:srgbClr val="0076A8"/>
          </a:solidFill>
        </p:spPr>
        <p:txBody>
          <a:bodyPr wrap="square" lIns="0" tIns="91440" rIns="0" bIns="91440" rtlCol="0">
            <a:spAutoFit/>
          </a:bodyPr>
          <a:lstStyle/>
          <a:p>
            <a:pPr marL="0" marR="0" lvl="0" indent="0" algn="ctr" defTabSz="914342" rtl="0" eaLnBrk="1" fontAlgn="auto" latinLnBrk="0" hangingPunct="1">
              <a:lnSpc>
                <a:spcPct val="100000"/>
              </a:lnSpc>
              <a:spcBef>
                <a:spcPts val="600"/>
              </a:spcBef>
              <a:spcAft>
                <a:spcPts val="0"/>
              </a:spcAft>
              <a:buClrTx/>
              <a:buSzPct val="100000"/>
              <a:buFontTx/>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Summary of revenue rate including number vs sales for different category of consumers for FY 19-20</a:t>
            </a:r>
          </a:p>
        </p:txBody>
      </p:sp>
      <p:sp>
        <p:nvSpPr>
          <p:cNvPr id="21" name="TextBox 20">
            <a:extLst>
              <a:ext uri="{FF2B5EF4-FFF2-40B4-BE49-F238E27FC236}">
                <a16:creationId xmlns:a16="http://schemas.microsoft.com/office/drawing/2014/main" id="{4F926EA6-09CF-4643-94E7-C4BE77173668}"/>
              </a:ext>
            </a:extLst>
          </p:cNvPr>
          <p:cNvSpPr txBox="1"/>
          <p:nvPr/>
        </p:nvSpPr>
        <p:spPr>
          <a:xfrm>
            <a:off x="559122" y="1559095"/>
            <a:ext cx="3899862" cy="4145750"/>
          </a:xfrm>
          <a:prstGeom prst="rect">
            <a:avLst/>
          </a:prstGeom>
          <a:solidFill>
            <a:schemeClr val="bg1">
              <a:lumMod val="95000"/>
              <a:alpha val="10000"/>
            </a:schemeClr>
          </a:solidFill>
          <a:ln>
            <a:solidFill>
              <a:srgbClr val="43B02A"/>
            </a:solidFill>
          </a:ln>
        </p:spPr>
        <p:txBody>
          <a:bodyPr wrap="square" lIns="91440" tIns="0" rIns="91440" bIns="0" rtlCol="0">
            <a:spAutoFit/>
          </a:bodyPr>
          <a:lstStyle/>
          <a:p>
            <a:pPr marL="285750" indent="-285750" algn="just">
              <a:lnSpc>
                <a:spcPct val="150000"/>
              </a:lnSpc>
              <a:spcBef>
                <a:spcPts val="100"/>
              </a:spcBef>
              <a:buSzPct val="100000"/>
              <a:buFont typeface="Wingdings" panose="05000000000000000000" pitchFamily="2" charset="2"/>
              <a:buChar char="q"/>
            </a:pPr>
            <a:r>
              <a:rPr kumimoji="0" lang="en-US" sz="2000" b="0" i="0" u="none" strike="noStrike" cap="none" spc="0" normalizeH="0" baseline="0" noProof="0" dirty="0">
                <a:ln>
                  <a:noFill/>
                </a:ln>
                <a:solidFill>
                  <a:srgbClr val="313131"/>
                </a:solidFill>
                <a:effectLst/>
                <a:uLnTx/>
                <a:uFillTx/>
                <a:ea typeface="+mn-ea"/>
                <a:cs typeface="+mn-cs"/>
              </a:rPr>
              <a:t>Total Installed Capacity of State Sector is 6497.95 MW.</a:t>
            </a:r>
          </a:p>
          <a:p>
            <a:pPr marL="285750" indent="-285750" algn="just">
              <a:lnSpc>
                <a:spcPct val="150000"/>
              </a:lnSpc>
              <a:spcBef>
                <a:spcPts val="100"/>
              </a:spcBef>
              <a:buSzPct val="100000"/>
              <a:buFont typeface="Wingdings" panose="05000000000000000000" pitchFamily="2" charset="2"/>
              <a:buChar char="q"/>
            </a:pPr>
            <a:r>
              <a:rPr lang="en-US" sz="2000" dirty="0">
                <a:solidFill>
                  <a:srgbClr val="313131"/>
                </a:solidFill>
              </a:rPr>
              <a:t>Marginal Renewable share of 2% (122  MW)</a:t>
            </a:r>
          </a:p>
          <a:p>
            <a:pPr marL="285750" indent="-285750" algn="just">
              <a:lnSpc>
                <a:spcPct val="150000"/>
              </a:lnSpc>
              <a:spcBef>
                <a:spcPts val="100"/>
              </a:spcBef>
              <a:buSzPct val="100000"/>
              <a:buFont typeface="Wingdings" panose="05000000000000000000" pitchFamily="2" charset="2"/>
              <a:buChar char="q"/>
            </a:pPr>
            <a:r>
              <a:rPr kumimoji="0" lang="en-US" sz="2000" b="0" i="0" u="none" strike="noStrike" cap="none" spc="0" normalizeH="0" baseline="0" noProof="0" dirty="0">
                <a:ln>
                  <a:noFill/>
                </a:ln>
                <a:solidFill>
                  <a:srgbClr val="313131"/>
                </a:solidFill>
                <a:effectLst/>
                <a:uLnTx/>
                <a:uFillTx/>
                <a:ea typeface="+mn-ea"/>
                <a:cs typeface="+mn-cs"/>
              </a:rPr>
              <a:t>Industrial consumer base 0.56% contribute to 32.49% of total energy sales.</a:t>
            </a:r>
          </a:p>
          <a:p>
            <a:pPr marL="285750" indent="-285750" algn="just">
              <a:lnSpc>
                <a:spcPct val="150000"/>
              </a:lnSpc>
              <a:spcBef>
                <a:spcPts val="100"/>
              </a:spcBef>
              <a:buSzPct val="100000"/>
              <a:buFont typeface="Wingdings" panose="05000000000000000000" pitchFamily="2" charset="2"/>
              <a:buChar char="q"/>
            </a:pPr>
            <a:r>
              <a:rPr lang="en-US" sz="2000" dirty="0"/>
              <a:t>Competitiveness of Industrial Tariff of WBSEDCL is critical</a:t>
            </a:r>
          </a:p>
        </p:txBody>
      </p:sp>
      <p:graphicFrame>
        <p:nvGraphicFramePr>
          <p:cNvPr id="5" name="Chart 4">
            <a:extLst>
              <a:ext uri="{FF2B5EF4-FFF2-40B4-BE49-F238E27FC236}">
                <a16:creationId xmlns:a16="http://schemas.microsoft.com/office/drawing/2014/main" id="{29B79EB5-2A4E-415C-85E9-FB4AEB4894D8}"/>
              </a:ext>
            </a:extLst>
          </p:cNvPr>
          <p:cNvGraphicFramePr/>
          <p:nvPr/>
        </p:nvGraphicFramePr>
        <p:xfrm>
          <a:off x="4918713" y="3853483"/>
          <a:ext cx="3663562" cy="2627644"/>
        </p:xfrm>
        <a:graphic>
          <a:graphicData uri="http://schemas.openxmlformats.org/drawingml/2006/chart">
            <c:chart xmlns:c="http://schemas.openxmlformats.org/drawingml/2006/chart" xmlns:r="http://schemas.openxmlformats.org/officeDocument/2006/relationships" r:id="rId9"/>
          </a:graphicData>
        </a:graphic>
      </p:graphicFrame>
      <p:sp>
        <p:nvSpPr>
          <p:cNvPr id="15" name="TextBox 14">
            <a:extLst>
              <a:ext uri="{FF2B5EF4-FFF2-40B4-BE49-F238E27FC236}">
                <a16:creationId xmlns:a16="http://schemas.microsoft.com/office/drawing/2014/main" id="{1095412F-1C33-43C8-BA65-DC8A902E6A65}"/>
              </a:ext>
            </a:extLst>
          </p:cNvPr>
          <p:cNvSpPr txBox="1"/>
          <p:nvPr/>
        </p:nvSpPr>
        <p:spPr>
          <a:xfrm>
            <a:off x="469902" y="6619619"/>
            <a:ext cx="4470400" cy="107722"/>
          </a:xfrm>
          <a:prstGeom prst="rect">
            <a:avLst/>
          </a:prstGeom>
          <a:noFill/>
        </p:spPr>
        <p:txBody>
          <a:bodyPr wrap="square" lIns="0" tIns="0" rIns="0" bIns="0" rtlCol="0">
            <a:spAutoFit/>
          </a:bodyPr>
          <a:lstStyle/>
          <a:p>
            <a:pPr>
              <a:spcBef>
                <a:spcPts val="600"/>
              </a:spcBef>
              <a:buSzPct val="100000"/>
            </a:pPr>
            <a:r>
              <a:rPr lang="en-US" sz="700" dirty="0">
                <a:solidFill>
                  <a:srgbClr val="313131"/>
                </a:solidFill>
                <a:latin typeface="Verdana" panose="020B0604030504040204" pitchFamily="34" charset="0"/>
                <a:ea typeface="Verdana" panose="020B0604030504040204" pitchFamily="34" charset="0"/>
              </a:rPr>
              <a:t>@ 2020 Deloitte </a:t>
            </a:r>
            <a:r>
              <a:rPr lang="en-US" sz="700" dirty="0" err="1">
                <a:solidFill>
                  <a:srgbClr val="313131"/>
                </a:solidFill>
                <a:latin typeface="Verdana" panose="020B0604030504040204" pitchFamily="34" charset="0"/>
                <a:ea typeface="Verdana" panose="020B0604030504040204" pitchFamily="34" charset="0"/>
              </a:rPr>
              <a:t>Touche</a:t>
            </a:r>
            <a:r>
              <a:rPr lang="en-US" sz="700" dirty="0">
                <a:solidFill>
                  <a:srgbClr val="313131"/>
                </a:solidFill>
                <a:latin typeface="Verdana" panose="020B0604030504040204" pitchFamily="34" charset="0"/>
                <a:ea typeface="Verdana" panose="020B0604030504040204" pitchFamily="34" charset="0"/>
              </a:rPr>
              <a:t> Tohmatsu India LLP </a:t>
            </a:r>
          </a:p>
        </p:txBody>
      </p:sp>
    </p:spTree>
    <p:extLst>
      <p:ext uri="{BB962C8B-B14F-4D97-AF65-F5344CB8AC3E}">
        <p14:creationId xmlns:p14="http://schemas.microsoft.com/office/powerpoint/2010/main" val="23338796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d98SILndTr2UUVyyPYM3t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d98SILndTr2UUVyyPYM3t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R2B0xUzzRayi20qJY5iE5A"/>
</p:tagLst>
</file>

<file path=ppt/theme/theme1.xml><?xml version="1.0" encoding="utf-8"?>
<a:theme xmlns:a="http://schemas.openxmlformats.org/drawingml/2006/main" name="deloitte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theme" id="{D8EE87FA-D546-467A-8D20-21EA8B154E9F}" vid="{AF7FB4BF-7232-4252-83E8-78AC977FF29E}"/>
    </a:ext>
  </a:extLst>
</a:theme>
</file>

<file path=ppt/theme/theme2.xml><?xml version="1.0" encoding="utf-8"?>
<a:theme xmlns:a="http://schemas.openxmlformats.org/drawingml/2006/main" name="4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2_deloitte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theme" id="{D8EE87FA-D546-467A-8D20-21EA8B154E9F}" vid="{AF7FB4BF-7232-4252-83E8-78AC977FF29E}"/>
    </a:ext>
  </a:extLst>
</a:theme>
</file>

<file path=ppt/theme/theme4.xml><?xml version="1.0" encoding="utf-8"?>
<a:theme xmlns:a="http://schemas.openxmlformats.org/drawingml/2006/main" name="4_deloitte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theme" id="{D8EE87FA-D546-467A-8D20-21EA8B154E9F}" vid="{AF7FB4BF-7232-4252-83E8-78AC977FF29E}"/>
    </a:ext>
  </a:extLst>
</a:theme>
</file>

<file path=ppt/theme/theme5.xml><?xml version="1.0" encoding="utf-8"?>
<a:theme xmlns:a="http://schemas.openxmlformats.org/drawingml/2006/main" name="5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6.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0D09FFAB-18F8-43C4-8228-1A6EBDCC3537}"/>
</file>

<file path=customXml/itemProps2.xml><?xml version="1.0" encoding="utf-8"?>
<ds:datastoreItem xmlns:ds="http://schemas.openxmlformats.org/officeDocument/2006/customXml" ds:itemID="{FA1F3D94-80C4-4A98-848F-2246F374FD64}"/>
</file>

<file path=customXml/itemProps3.xml><?xml version="1.0" encoding="utf-8"?>
<ds:datastoreItem xmlns:ds="http://schemas.openxmlformats.org/officeDocument/2006/customXml" ds:itemID="{38AE8EF2-3A3A-4D31-B389-A8E3AA963649}"/>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9887</TotalTime>
  <Words>13831</Words>
  <Application>Microsoft Office PowerPoint</Application>
  <PresentationFormat>Widescreen</PresentationFormat>
  <Paragraphs>3921</Paragraphs>
  <Slides>94</Slides>
  <Notes>38</Notes>
  <HiddenSlides>0</HiddenSlides>
  <MMClips>0</MMClips>
  <ScaleCrop>false</ScaleCrop>
  <HeadingPairs>
    <vt:vector size="8" baseType="variant">
      <vt:variant>
        <vt:lpstr>Fonts Used</vt:lpstr>
      </vt:variant>
      <vt:variant>
        <vt:i4>9</vt:i4>
      </vt:variant>
      <vt:variant>
        <vt:lpstr>Theme</vt:lpstr>
      </vt:variant>
      <vt:variant>
        <vt:i4>6</vt:i4>
      </vt:variant>
      <vt:variant>
        <vt:lpstr>Embedded OLE Servers</vt:lpstr>
      </vt:variant>
      <vt:variant>
        <vt:i4>1</vt:i4>
      </vt:variant>
      <vt:variant>
        <vt:lpstr>Slide Titles</vt:lpstr>
      </vt:variant>
      <vt:variant>
        <vt:i4>94</vt:i4>
      </vt:variant>
    </vt:vector>
  </HeadingPairs>
  <TitlesOfParts>
    <vt:vector size="110" baseType="lpstr">
      <vt:lpstr>ＭＳ Ｐゴシック</vt:lpstr>
      <vt:lpstr>Arial</vt:lpstr>
      <vt:lpstr>Calibri</vt:lpstr>
      <vt:lpstr>Calibri Light</vt:lpstr>
      <vt:lpstr>Nexa Black</vt:lpstr>
      <vt:lpstr>Times New Roman</vt:lpstr>
      <vt:lpstr>Verdana</vt:lpstr>
      <vt:lpstr>Wingdings</vt:lpstr>
      <vt:lpstr>Wingdings 2</vt:lpstr>
      <vt:lpstr>deloitte theme</vt:lpstr>
      <vt:lpstr>4_Deloitte 16_9 onscreen</vt:lpstr>
      <vt:lpstr>2_deloitte theme</vt:lpstr>
      <vt:lpstr>4_deloitte theme</vt:lpstr>
      <vt:lpstr>5_Deloitte 16_9 onscreen</vt:lpstr>
      <vt:lpstr>1_Deloitte 16_9 onscreen</vt:lpstr>
      <vt:lpstr>think-cell Slide</vt:lpstr>
      <vt:lpstr>PowerPoint Presentation</vt:lpstr>
      <vt:lpstr>Contents</vt:lpstr>
      <vt:lpstr>PowerPoint Presentation</vt:lpstr>
      <vt:lpstr>WBSEDCL is a key player in the West Bengal power sector</vt:lpstr>
      <vt:lpstr>Industrial and domestic revenue comprises of ~70% with reducing trend in Dist. And AT&amp;C Loss</vt:lpstr>
      <vt:lpstr>Financial Health of WBSEDCL</vt:lpstr>
      <vt:lpstr>PowerPoint Presentation</vt:lpstr>
      <vt:lpstr>PowerPoint Presentation</vt:lpstr>
      <vt:lpstr>PowerPoint Presentation</vt:lpstr>
      <vt:lpstr>Key Imperatives and Net estimated Benefits</vt:lpstr>
      <vt:lpstr>PowerPoint Presentation</vt:lpstr>
      <vt:lpstr>PowerPoint Presentation</vt:lpstr>
      <vt:lpstr>Reduction of Fixed Cost Obligation and Energy Charge passed on to WBSEDCL through decommissioning of relatively older plant units of WBPDCL</vt:lpstr>
      <vt:lpstr>Reduction of cost of coal procurement for WBPDCL by maximizing 8 MTPA additional production </vt:lpstr>
      <vt:lpstr>PowerPoint Presentation</vt:lpstr>
      <vt:lpstr>Reduction of Fixed Cost for WBSETCL by way of sustainable reduction of ROE %; precedence already set by Rajasthan and Uttar Pradesh</vt:lpstr>
      <vt:lpstr>PowerPoint Presentation</vt:lpstr>
      <vt:lpstr>Load-Demand Curve ( In MW) of last 3 Years for WBSEDCL as per 7th MYT Order</vt:lpstr>
      <vt:lpstr>Season-wise average hourly load-generation balance (in MW) for WBSEDCL for FY 2022-23</vt:lpstr>
      <vt:lpstr>PowerPoint Presentation</vt:lpstr>
      <vt:lpstr>PowerPoint Presentation</vt:lpstr>
      <vt:lpstr>Window of Opportunity for exiting High Cost PPA for WBSEDCL ( Rates are as per Issued Tariff Order of WBERC Pertaining to FY 2020-21) </vt:lpstr>
      <vt:lpstr>Power Purchase Portfolio Management needs a Focused Optimization and Real Time Management based on Tariff Order for FY 2020-21 of 7th Control Period for WBSEDCL</vt:lpstr>
      <vt:lpstr>PowerPoint Presentation</vt:lpstr>
      <vt:lpstr>Existing status of Billing Efficiency</vt:lpstr>
      <vt:lpstr>Significant Cost Reduction can be achieved by Commercial Losses Reduction (1/2)</vt:lpstr>
      <vt:lpstr>Significant Cost Reduction can be achieved by Commercial Losses Reduction (2/2)</vt:lpstr>
      <vt:lpstr>Reduction in bulk power purchase cost through fulfilling RPO obligation target (for FY 21)</vt:lpstr>
      <vt:lpstr>Concept of Anti Power Theft Police Stations </vt:lpstr>
      <vt:lpstr>PowerPoint Presentation</vt:lpstr>
      <vt:lpstr>PowerPoint Presentation</vt:lpstr>
      <vt:lpstr>PowerPoint Presentation</vt:lpstr>
      <vt:lpstr>PowerPoint Presentation</vt:lpstr>
      <vt:lpstr>PowerPoint Presentation</vt:lpstr>
      <vt:lpstr>Renewable integration has historically been low in West Bengal; significant scope for improvement in this area that may help to reduce high-priced short term power purchase by WBSEDCL</vt:lpstr>
      <vt:lpstr>Significant opportunity for further RE capacity addition in West Bengal</vt:lpstr>
      <vt:lpstr>PowerPoint Presentation</vt:lpstr>
      <vt:lpstr>Introduction on Govt. of West Bengal Electricity Tariff Subsidy</vt:lpstr>
      <vt:lpstr>PowerPoint Presentation</vt:lpstr>
      <vt:lpstr>Tariff Subsidy Scenarios for WBSEDCL</vt:lpstr>
      <vt:lpstr>PowerPoint Presentation</vt:lpstr>
      <vt:lpstr>PowerPoint Presentation</vt:lpstr>
      <vt:lpstr>PowerPoint Presentation</vt:lpstr>
      <vt:lpstr>PowerPoint Presentation</vt:lpstr>
      <vt:lpstr>PowerPoint Presentation</vt:lpstr>
      <vt:lpstr>Domestic LV Fixed charges for West Bengal is much lesser as compared to other states </vt:lpstr>
      <vt:lpstr>Domestic HV Fixed Charge Comparison</vt:lpstr>
      <vt:lpstr>PowerPoint Presentation</vt:lpstr>
      <vt:lpstr>WBSEDCL: Historically there has been significant delay in issuance of Tariff/APR/FPPCA Orders and release of admitted APR/FPPCA amounts; APR/FPPCA orders from FY 19 onwards have not been issued</vt:lpstr>
      <vt:lpstr>Delayed release of admitted APR/FCA/FPPCA amounts has resulted in carrying cost burden; Rs. 126.37 Cr (WBSEDCL) yet to be released</vt:lpstr>
      <vt:lpstr>PowerPoint Presentation</vt:lpstr>
      <vt:lpstr>Annexures</vt:lpstr>
      <vt:lpstr>PowerPoint Presentation</vt:lpstr>
      <vt:lpstr>Delay in issuance of Tariff orders and long-pending APR/FPPCA orders have led to accumulation of Regulatory Assets and Working Capital loan burden</vt:lpstr>
      <vt:lpstr>PowerPoint Presentation</vt:lpstr>
      <vt:lpstr>Cost structure for power purchase through Open Access</vt:lpstr>
      <vt:lpstr>State wise snapshot of Open Access consumers</vt:lpstr>
      <vt:lpstr>PowerPoint Presentation</vt:lpstr>
      <vt:lpstr>PowerPoint Presentation</vt:lpstr>
      <vt:lpstr>PowerPoint Presentation</vt:lpstr>
      <vt:lpstr>PowerPoint Presentation</vt:lpstr>
      <vt:lpstr>List of solar power projects for WBSEDCL (1/2)</vt:lpstr>
      <vt:lpstr>List of solar power projects for WBSEDCL (2/2)</vt:lpstr>
      <vt:lpstr>List of solar power projects for WBPDCL </vt:lpstr>
      <vt:lpstr>List of solar power projects for DPL </vt:lpstr>
      <vt:lpstr>Reduction of Fixed Cost Obligation on WBSEDCL through decommissioning of relatively older plants of WBPDCL</vt:lpstr>
      <vt:lpstr>Reduction of Energy Charge of WBPDCL through decommissioning of relatively older plants of WBPDCL</vt:lpstr>
      <vt:lpstr>Reduction of Fixed Cost Obligation on WBSEDCL through decommissioning of relatively older plants of WBPDCL maintaining same ROE</vt:lpstr>
      <vt:lpstr>Operational data w.r.t WBPDCL</vt:lpstr>
      <vt:lpstr>Captive Coal Mines associated with WBPDCL– Current and Future Capacities</vt:lpstr>
      <vt:lpstr>Coal mix proposed for Kolaghat as per WBDPCL tariff order w.r.t FY 2019-20</vt:lpstr>
      <vt:lpstr>Coal mix proposed for Bakreswar as per WBDPCL tariff order w.r.t FY 2019-20</vt:lpstr>
      <vt:lpstr>Coal mix proposed for Bandel (I&amp;II) as per WBDPCL tariff order w.r.t FY 2019-20</vt:lpstr>
      <vt:lpstr>Coal mix proposed for Santaldih as per WBDPCL tariff order w.r.t FY 2019-20</vt:lpstr>
      <vt:lpstr>Coal mix proposed for Sagardighi I as per WBDPCL tariff order w.r.t FY 2019-20</vt:lpstr>
      <vt:lpstr>Coal mix proposed for Sagardighi II as per WBDPCL tariff order w.r.t FY 2019-20</vt:lpstr>
      <vt:lpstr>Reduction of Fixed Cost for WBSETCL by way of sustainable reduction of ROE %; precedence already set by Rajasthan and Uttar Pradesh</vt:lpstr>
      <vt:lpstr>Annexure- 2 (1/2)</vt:lpstr>
      <vt:lpstr>Annexure- 2 (2/2)</vt:lpstr>
      <vt:lpstr>Season-wise average hourly load-generation balance (in MW) for WBSEDCL for FY 2018-19 </vt:lpstr>
      <vt:lpstr>Season-wise average hourly load-generation balance (in MW) for WBSEDCL for FY 2019-20</vt:lpstr>
      <vt:lpstr>Season-wise average hourly load-generation balance (in MW) for WBSEDCL for FY 2020-21</vt:lpstr>
      <vt:lpstr>Season-wise average hourly load-generation balance (in MW) for WBSEDCL for FY 2021-22</vt:lpstr>
      <vt:lpstr>WBPDCL: Historically there has been significant delay in issuance of Tariff/APR/FCA Orders and release of admitted APR/FCA amounts; APR and FCA orders have not been issued from FY 15 onwards </vt:lpstr>
      <vt:lpstr>WBSETCL: Historically there has been significant delay in issuance of Tariff/APR Orders and release of admitted APR amounts; APR orders have not been issued from FY 16 onwards</vt:lpstr>
      <vt:lpstr>WBSEDCL: Historically there has been significant delay in issuance of Tariff/APR/FPPCA Orders and release of admitted APR/FPPCA amounts; APR/FPPCA orders from FY 19 onwards have not been issued</vt:lpstr>
      <vt:lpstr>Domestic L&amp;MV Energy Charge of West Bengal at par with other states</vt:lpstr>
      <vt:lpstr>Domestic HV &amp; EHV Energy Charge Comparison</vt:lpstr>
      <vt:lpstr>Tariff Slab complexities witnessed in West Bengal in comparison to other states</vt:lpstr>
      <vt:lpstr>Impact Analysis of anti power theft initiatives in Select States</vt:lpstr>
      <vt:lpstr>Delayed release of admitted APR/FCA/FPPCA amounts has resulted in carrying cost burden; Rs. 126.37 Cr (WBSEDCL), Rs. 9.96 Cr (DPL) and Rs. 26.16 Cr (WBSETCL) are yet to be released</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Srijan - Ext</dc:creator>
  <cp:lastModifiedBy>Mukherjee, Shouvik</cp:lastModifiedBy>
  <cp:revision>710</cp:revision>
  <dcterms:created xsi:type="dcterms:W3CDTF">2022-02-14T10:56:16Z</dcterms:created>
  <dcterms:modified xsi:type="dcterms:W3CDTF">2025-06-19T16:39:24Z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2022-02-14T10:56:17Z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b47a5512-50bb-4f2c-876e-9bef48353ad6</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