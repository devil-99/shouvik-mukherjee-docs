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custom.xml" ContentType="application/vnd.openxmlformats-officedocument.custom-properties+xml"/>
  <Override PartName="/ppt/tags/tag8.xml" ContentType="application/vnd.openxmlformats-officedocument.presentationml.tags+xml"/>
  <Override PartName="/ppt/tags/tag4.xml" ContentType="application/vnd.openxmlformats-officedocument.presentationml.tags+xml"/>
  <Override PartName="/docProps/app.xml" ContentType="application/vnd.openxmlformats-officedocument.extended-properties+xml"/>
  <Override PartName="/ppt/tags/tag6.xml" ContentType="application/vnd.openxmlformats-officedocument.presentationml.tags+xml"/>
  <Override PartName="/ppt/tags/tag7.xml" ContentType="application/vnd.openxmlformats-officedocument.presentationml.tags+xml"/>
  <Override PartName="/ppt/tags/tag5.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3" r:id="rId1"/>
    <p:sldMasterId id="2147484988" r:id="rId2"/>
  </p:sldMasterIdLst>
  <p:notesMasterIdLst>
    <p:notesMasterId r:id="rId29"/>
  </p:notesMasterIdLst>
  <p:sldIdLst>
    <p:sldId id="1625" r:id="rId3"/>
    <p:sldId id="6294" r:id="rId4"/>
    <p:sldId id="6295" r:id="rId5"/>
    <p:sldId id="6296" r:id="rId6"/>
    <p:sldId id="6297" r:id="rId7"/>
    <p:sldId id="2144867482" r:id="rId8"/>
    <p:sldId id="2144867483" r:id="rId9"/>
    <p:sldId id="2144867484" r:id="rId10"/>
    <p:sldId id="2144867485" r:id="rId11"/>
    <p:sldId id="2144867486" r:id="rId12"/>
    <p:sldId id="2144867487" r:id="rId13"/>
    <p:sldId id="2144867488" r:id="rId14"/>
    <p:sldId id="2144867489" r:id="rId15"/>
    <p:sldId id="2144867490" r:id="rId16"/>
    <p:sldId id="2144867491" r:id="rId17"/>
    <p:sldId id="2144867492" r:id="rId18"/>
    <p:sldId id="2144867494" r:id="rId19"/>
    <p:sldId id="2144867500" r:id="rId20"/>
    <p:sldId id="2144867496" r:id="rId21"/>
    <p:sldId id="2144867497" r:id="rId22"/>
    <p:sldId id="2144867498" r:id="rId23"/>
    <p:sldId id="2144867499" r:id="rId24"/>
    <p:sldId id="2144867501" r:id="rId25"/>
    <p:sldId id="2144867502" r:id="rId26"/>
    <p:sldId id="2144867503" r:id="rId27"/>
    <p:sldId id="2144867504" r:id="rId28"/>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tni, Surbhi" initials="PS" lastIdx="2" clrIdx="0">
    <p:extLst>
      <p:ext uri="{19B8F6BF-5375-455C-9EA6-DF929625EA0E}">
        <p15:presenceInfo xmlns:p15="http://schemas.microsoft.com/office/powerpoint/2012/main" userId="S-1-5-21-776561741-1482476501-682003330-780562" providerId="AD"/>
      </p:ext>
    </p:extLst>
  </p:cmAuthor>
  <p:cmAuthor id="2" name="Banerjee, Rajeswar" initials="BR" lastIdx="2" clrIdx="1">
    <p:extLst>
      <p:ext uri="{19B8F6BF-5375-455C-9EA6-DF929625EA0E}">
        <p15:presenceInfo xmlns:p15="http://schemas.microsoft.com/office/powerpoint/2012/main" userId="S::rajbanerjee@deloitte.com::b4ff5a26-7e17-4c5f-975b-d63f3f91df5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EFDA"/>
    <a:srgbClr val="F6FAF4"/>
    <a:srgbClr val="86BC25"/>
    <a:srgbClr val="005D84"/>
    <a:srgbClr val="FFFFB9"/>
    <a:srgbClr val="0A62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64" autoAdjust="0"/>
    <p:restoredTop sz="94660"/>
  </p:normalViewPr>
  <p:slideViewPr>
    <p:cSldViewPr snapToGrid="0">
      <p:cViewPr>
        <p:scale>
          <a:sx n="59" d="100"/>
          <a:sy n="59" d="100"/>
        </p:scale>
        <p:origin x="796" y="60"/>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6169E-EE23-4732-980F-F30C5AE2B0ED}" type="datetimeFigureOut">
              <a:rPr lang="en-US" smtClean="0"/>
              <a:t>10/11/2022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1298-3354-461E-8A08-CECE510DEEBF}" type="slidenum">
              <a:rPr lang="en-US" smtClean="0"/>
              <a:t>‹#›</a:t>
            </a:fld>
            <a:endParaRPr lang="en-US"/>
          </a:p>
        </p:txBody>
      </p:sp>
    </p:spTree>
    <p:extLst>
      <p:ext uri="{BB962C8B-B14F-4D97-AF65-F5344CB8AC3E}">
        <p14:creationId xmlns:p14="http://schemas.microsoft.com/office/powerpoint/2010/main" val="399750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2</a:t>
            </a:fld>
            <a:endParaRPr lang="en-US"/>
          </a:p>
        </p:txBody>
      </p:sp>
    </p:spTree>
    <p:extLst>
      <p:ext uri="{BB962C8B-B14F-4D97-AF65-F5344CB8AC3E}">
        <p14:creationId xmlns:p14="http://schemas.microsoft.com/office/powerpoint/2010/main" val="3316172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3</a:t>
            </a:fld>
            <a:endParaRPr lang="en-US"/>
          </a:p>
        </p:txBody>
      </p:sp>
    </p:spTree>
    <p:extLst>
      <p:ext uri="{BB962C8B-B14F-4D97-AF65-F5344CB8AC3E}">
        <p14:creationId xmlns:p14="http://schemas.microsoft.com/office/powerpoint/2010/main" val="479306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637216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47458879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dirty="0"/>
              <a:t>Click to edit </a:t>
            </a:r>
            <a:br>
              <a:rPr lang="en-US" noProof="0" dirty="0"/>
            </a:br>
            <a:r>
              <a:rPr lang="en-US" noProof="0" dirty="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28" name="Title 1">
            <a:extLst>
              <a:ext uri="{FF2B5EF4-FFF2-40B4-BE49-F238E27FC236}">
                <a16:creationId xmlns:a16="http://schemas.microsoft.com/office/drawing/2014/main" id="{BF939DF8-C67D-4ED5-9DBC-98F2B43BDAEA}"/>
              </a:ext>
            </a:extLst>
          </p:cNvPr>
          <p:cNvSpPr txBox="1">
            <a:spLocks/>
          </p:cNvSpPr>
          <p:nvPr/>
        </p:nvSpPr>
        <p:spPr bwMode="gray">
          <a:xfrm>
            <a:off x="3417931" y="725455"/>
            <a:ext cx="5356735" cy="5356735"/>
          </a:xfrm>
          <a:prstGeom prst="ellipse">
            <a:avLst/>
          </a:prstGeom>
          <a:ln w="25400">
            <a:solidFill>
              <a:schemeClr val="accent1"/>
            </a:solidFill>
          </a:ln>
        </p:spPr>
        <p:txBody>
          <a:bodyPr vert="horz" lIns="108000" tIns="108000" rIns="108000" bIns="108000" rtlCol="0" anchor="ctr" anchorCtr="0">
            <a:normAutofit/>
          </a:bodyPr>
          <a:lstStyle>
            <a:lvl1pPr algn="ctr" defTabSz="914400" rtl="0" eaLnBrk="1" latinLnBrk="0" hangingPunct="1">
              <a:lnSpc>
                <a:spcPts val="4200"/>
              </a:lnSpc>
              <a:spcBef>
                <a:spcPct val="0"/>
              </a:spcBef>
              <a:buNone/>
              <a:defRPr sz="3600" b="0" kern="1200">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Tree>
    <p:extLst>
      <p:ext uri="{BB962C8B-B14F-4D97-AF65-F5344CB8AC3E}">
        <p14:creationId xmlns:p14="http://schemas.microsoft.com/office/powerpoint/2010/main" val="283496265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42837381"/>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Portfolio and program management support to RECPDCL</a:t>
            </a:r>
          </a:p>
          <a:p>
            <a:pPr marL="0" indent="0" algn="r">
              <a:spcBef>
                <a:spcPts val="0"/>
              </a:spcBef>
              <a:buSzPct val="100000"/>
              <a:buFont typeface="Arial"/>
              <a:buNone/>
            </a:pPr>
            <a:endParaRPr lang="en-US" sz="900" noProof="0" dirty="0">
              <a:solidFill>
                <a:schemeClr val="bg1"/>
              </a:solidFill>
              <a:latin typeface="Calibri" panose="020F0502020204030204" pitchFamily="34" charset="0"/>
              <a:cs typeface="Calibri" panose="020F0502020204030204" pitchFamily="34" charset="0"/>
            </a:endParaRPr>
          </a:p>
        </p:txBody>
      </p:sp>
      <p:sp>
        <p:nvSpPr>
          <p:cNvPr id="8"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4F2D29F-D256-48DF-93EB-3649C0F15C8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4414701"/>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C15CF50B-B21A-4219-A2F3-42CE64720300}"/>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D56403AF-FAB8-425F-B7B3-1CED91E5B09F}"/>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4"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11" name="TextBox 10">
            <a:extLst>
              <a:ext uri="{FF2B5EF4-FFF2-40B4-BE49-F238E27FC236}">
                <a16:creationId xmlns:a16="http://schemas.microsoft.com/office/drawing/2014/main" id="{1CB26A2C-1AF0-484A-A53B-19D8461F8871}"/>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a:extLst>
              <a:ext uri="{FF2B5EF4-FFF2-40B4-BE49-F238E27FC236}">
                <a16:creationId xmlns:a16="http://schemas.microsoft.com/office/drawing/2014/main" id="{BD9B918C-7ACC-492B-B7AE-007D7C072FCF}"/>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a:extLst>
              <a:ext uri="{FF2B5EF4-FFF2-40B4-BE49-F238E27FC236}">
                <a16:creationId xmlns:a16="http://schemas.microsoft.com/office/drawing/2014/main" id="{1CB04656-0501-4B97-9912-1D2325A897C2}"/>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11558708"/>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39989073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8" name="TextBox 7">
            <a:extLst>
              <a:ext uri="{FF2B5EF4-FFF2-40B4-BE49-F238E27FC236}">
                <a16:creationId xmlns:a16="http://schemas.microsoft.com/office/drawing/2014/main" id="{4C89C390-0020-48A6-B5AC-4316D5612D4A}"/>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0" name="TextBox 9">
            <a:extLst>
              <a:ext uri="{FF2B5EF4-FFF2-40B4-BE49-F238E27FC236}">
                <a16:creationId xmlns:a16="http://schemas.microsoft.com/office/drawing/2014/main" id="{DD45942B-7143-43CC-A732-5FE81F65D404}"/>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a:extLst>
              <a:ext uri="{FF2B5EF4-FFF2-40B4-BE49-F238E27FC236}">
                <a16:creationId xmlns:a16="http://schemas.microsoft.com/office/drawing/2014/main" id="{652D3C7A-D55F-4FEA-BDC6-5973327611BA}"/>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3379469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8816651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4000749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noProof="0"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61542625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425736785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grpSp>
        <p:nvGrpSpPr>
          <p:cNvPr id="20" name="Group 19">
            <a:extLst>
              <a:ext uri="{FF2B5EF4-FFF2-40B4-BE49-F238E27FC236}">
                <a16:creationId xmlns:a16="http://schemas.microsoft.com/office/drawing/2014/main" id="{A475D951-68C7-4A6F-ADC6-AB9C10E42F07}"/>
              </a:ext>
            </a:extLst>
          </p:cNvPr>
          <p:cNvGrpSpPr>
            <a:grpSpLocks noChangeAspect="1"/>
          </p:cNvGrpSpPr>
          <p:nvPr/>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0549B55-8335-4CC4-9417-E768B8E137DA}"/>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0C08EAE3-1065-497F-B8AA-86005E1B7A68}"/>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966AA8D-FE19-49A0-B249-C78D2E85CC91}"/>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2289C80D-1FA5-42CC-A523-8259B7FD08F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6261A9E2-F698-4343-96EA-AA0015AC51BC}"/>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1D1108B0-A2B5-43FD-8CC1-CC36168B9031}"/>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AFA473B9-98DD-4132-83C3-26DCC5D0CC8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E1286E94-0A74-4D64-8FE5-E2FC7038DCB5}"/>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DB23453-5417-4773-B5E0-516CE48D969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2DF2930F-8858-4645-96D1-C2224669578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5259220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7532071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8316813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950006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7339467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1844357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66123051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7879181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0193569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3096486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Rectangle 23">
            <a:extLst>
              <a:ext uri="{FF2B5EF4-FFF2-40B4-BE49-F238E27FC236}">
                <a16:creationId xmlns:a16="http://schemas.microsoft.com/office/drawing/2014/main" id="{56C776D0-A1AC-41AD-A930-68E62E311F28}"/>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5" name="Rectangle 24">
            <a:extLst>
              <a:ext uri="{FF2B5EF4-FFF2-40B4-BE49-F238E27FC236}">
                <a16:creationId xmlns:a16="http://schemas.microsoft.com/office/drawing/2014/main" id="{8676016B-595B-4B09-8A9C-981F4092254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6" name="Rectangle 25">
            <a:extLst>
              <a:ext uri="{FF2B5EF4-FFF2-40B4-BE49-F238E27FC236}">
                <a16:creationId xmlns:a16="http://schemas.microsoft.com/office/drawing/2014/main" id="{E8772A29-A091-45EF-9E05-7D38B8B671A6}"/>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7" name="Rectangle 26">
            <a:extLst>
              <a:ext uri="{FF2B5EF4-FFF2-40B4-BE49-F238E27FC236}">
                <a16:creationId xmlns:a16="http://schemas.microsoft.com/office/drawing/2014/main" id="{331A621E-F4F0-40C4-8952-5BF179427ED7}"/>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Tree>
    <p:extLst>
      <p:ext uri="{BB962C8B-B14F-4D97-AF65-F5344CB8AC3E}">
        <p14:creationId xmlns:p14="http://schemas.microsoft.com/office/powerpoint/2010/main" val="103272733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Rectangle 13">
            <a:extLst>
              <a:ext uri="{FF2B5EF4-FFF2-40B4-BE49-F238E27FC236}">
                <a16:creationId xmlns:a16="http://schemas.microsoft.com/office/drawing/2014/main" id="{D360E003-ECB4-492B-8A94-28433C076FF8}"/>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5" name="Rectangle 14">
            <a:extLst>
              <a:ext uri="{FF2B5EF4-FFF2-40B4-BE49-F238E27FC236}">
                <a16:creationId xmlns:a16="http://schemas.microsoft.com/office/drawing/2014/main" id="{2D54539A-8172-4D14-BE07-3622A53C73DF}"/>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Tree>
    <p:extLst>
      <p:ext uri="{BB962C8B-B14F-4D97-AF65-F5344CB8AC3E}">
        <p14:creationId xmlns:p14="http://schemas.microsoft.com/office/powerpoint/2010/main" val="268421845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0693492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8403231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806867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74949086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4973847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79B02A5E-1924-4491-A063-D5EB632DEA83}"/>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0741955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57761301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500923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84889433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32502727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42320178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99554694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78970286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11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2556855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7391809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6758479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99530406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9155513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103275566"/>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626077341"/>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_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C0C507E7-B81B-4C48-A5AA-EB2302302973}"/>
              </a:ext>
            </a:extLst>
          </p:cNvPr>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A4B9D944-7F4E-42D4-8A84-43402BC40F0D}"/>
              </a:ext>
            </a:extLst>
          </p:cNvPr>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D3B7D15E-E3BF-4AE0-B657-86BF4076BE3E}"/>
              </a:ext>
            </a:extLst>
          </p:cNvPr>
          <p:cNvSpPr>
            <a:spLocks noGrp="1"/>
          </p:cNvSpPr>
          <p:nvPr>
            <p:ph type="body" sz="quarter" idx="26"/>
          </p:nvPr>
        </p:nvSpPr>
        <p:spPr>
          <a:xfrm>
            <a:off x="547075" y="4251853"/>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60D4485-EAA8-48B3-931F-31B5CEB3E678}"/>
              </a:ext>
            </a:extLst>
          </p:cNvPr>
          <p:cNvSpPr>
            <a:spLocks noGrp="1"/>
          </p:cNvSpPr>
          <p:nvPr>
            <p:ph type="body" sz="quarter" idx="27"/>
          </p:nvPr>
        </p:nvSpPr>
        <p:spPr>
          <a:xfrm>
            <a:off x="6280396" y="4251853"/>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6322421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68D44A10-A1BE-4B60-89A4-889D08B8B34B}"/>
              </a:ext>
            </a:extLst>
          </p:cNvPr>
          <p:cNvSpPr>
            <a:spLocks noGrp="1"/>
          </p:cNvSpPr>
          <p:nvPr>
            <p:ph type="body" sz="quarter" idx="17"/>
          </p:nvPr>
        </p:nvSpPr>
        <p:spPr>
          <a:xfrm>
            <a:off x="512874" y="1857892"/>
            <a:ext cx="3584464" cy="4265506"/>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9F52FC78-7A4E-4367-9DA3-28A234B39DF1}"/>
              </a:ext>
            </a:extLst>
          </p:cNvPr>
          <p:cNvSpPr>
            <a:spLocks noGrp="1"/>
          </p:cNvSpPr>
          <p:nvPr>
            <p:ph type="body" sz="quarter" idx="22"/>
          </p:nvPr>
        </p:nvSpPr>
        <p:spPr>
          <a:xfrm>
            <a:off x="4320000"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2D6B6D6E-986C-4D4B-8630-4EBB5F79C2AC}"/>
              </a:ext>
            </a:extLst>
          </p:cNvPr>
          <p:cNvSpPr>
            <a:spLocks noGrp="1"/>
          </p:cNvSpPr>
          <p:nvPr>
            <p:ph type="body" sz="quarter" idx="23"/>
          </p:nvPr>
        </p:nvSpPr>
        <p:spPr>
          <a:xfrm>
            <a:off x="8177084"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8828755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40378277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1826562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44745709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78AECE1A-98D7-4D85-82F1-4323CE05BE9C}"/>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591450523"/>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grpSp>
    </p:spTree>
    <p:extLst>
      <p:ext uri="{BB962C8B-B14F-4D97-AF65-F5344CB8AC3E}">
        <p14:creationId xmlns:p14="http://schemas.microsoft.com/office/powerpoint/2010/main" val="147218816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9436717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A921-5BB3-4E61-A946-E5724F7E60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926783-14DB-41C1-AB1A-2DA649809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D6E522-A494-44B3-95F3-7F3FB4167B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91DDA1D-B82C-4B60-9CDF-28C8E1760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29DF7-22D2-4492-86DB-CC99B3F66A01}"/>
              </a:ext>
            </a:extLst>
          </p:cNvPr>
          <p:cNvSpPr>
            <a:spLocks noGrp="1"/>
          </p:cNvSpPr>
          <p:nvPr>
            <p:ph type="sldNum" sz="quarter" idx="12"/>
          </p:nvPr>
        </p:nvSpPr>
        <p:spPr/>
        <p:txBody>
          <a:bodyPr/>
          <a:lstStyle/>
          <a:p>
            <a:fld id="{7C48625B-2C8B-4704-8124-4FBE0795A41C}" type="slidenum">
              <a:rPr lang="en-US" smtClean="0"/>
              <a:t>‹#›</a:t>
            </a:fld>
            <a:endParaRPr lang="en-US"/>
          </a:p>
        </p:txBody>
      </p:sp>
    </p:spTree>
    <p:extLst>
      <p:ext uri="{BB962C8B-B14F-4D97-AF65-F5344CB8AC3E}">
        <p14:creationId xmlns:p14="http://schemas.microsoft.com/office/powerpoint/2010/main" val="37818067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1776400696"/>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1051490271"/>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575862524"/>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71828348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49663464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87692591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28628377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5548547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1292741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0907625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5632475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486558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7648157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347901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355517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506567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9217927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2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33062460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92316611"/>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850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07094468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4371854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022894576"/>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45641771"/>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82843648"/>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82243747"/>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053934229"/>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600390978"/>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69078836"/>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93931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070872781"/>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2055" name="think-cell Slide" r:id="rId5" imgW="470" imgH="469" progId="TCLayout.ActiveDocument.1">
                  <p:embed/>
                </p:oleObj>
              </mc:Choice>
              <mc:Fallback>
                <p:oleObj name="think-cell Slide" r:id="rId5" imgW="470" imgH="469" progId="TCLayout.ActiveDocument.1">
                  <p:embed/>
                  <p:pic>
                    <p:nvPicPr>
                      <p:cNvPr id="3" name="Object 2" hidden="1"/>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2158662891"/>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86976298"/>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2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454540525"/>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4253375208"/>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5796092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1990387863"/>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3301603"/>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51842457"/>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62" b="1">
                <a:solidFill>
                  <a:schemeClr val="tx1"/>
                </a:solidFill>
              </a:defRPr>
            </a:lvl1pPr>
            <a:lvl2pPr marL="0" indent="0" algn="l">
              <a:buNone/>
              <a:defRPr sz="1477"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92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304000" cy="4320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grpSp>
    </p:spTree>
    <p:extLst>
      <p:ext uri="{BB962C8B-B14F-4D97-AF65-F5344CB8AC3E}">
        <p14:creationId xmlns:p14="http://schemas.microsoft.com/office/powerpoint/2010/main" val="63175339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a:t>Click to edit Master title style</a:t>
            </a:r>
            <a:endParaRPr lang="en-US" dirty="0"/>
          </a:p>
        </p:txBody>
      </p:sp>
      <p:sp>
        <p:nvSpPr>
          <p:cNvPr id="8" name="Text Placeholder 18"/>
          <p:cNvSpPr>
            <a:spLocks noGrp="1"/>
          </p:cNvSpPr>
          <p:nvPr>
            <p:ph idx="1"/>
          </p:nvPr>
        </p:nvSpPr>
        <p:spPr>
          <a:xfrm>
            <a:off x="528000" y="1700213"/>
            <a:ext cx="11139067" cy="467898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251049316"/>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8850819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30" name="LogoDisclaimerPage"/>
          <p:cNvPicPr>
            <a:picLocks noChangeAspect="1"/>
          </p:cNvPicPr>
          <p:nvPr userDrawn="1"/>
        </p:nvPicPr>
        <p:blipFill>
          <a:blip r:embed="rId2"/>
          <a:stretch>
            <a:fillRect/>
          </a:stretch>
        </p:blipFill>
        <p:spPr>
          <a:xfrm>
            <a:off x="430929" y="421118"/>
            <a:ext cx="2141721" cy="938735"/>
          </a:xfrm>
          <a:prstGeom prst="rect">
            <a:avLst/>
          </a:prstGeom>
        </p:spPr>
      </p:pic>
    </p:spTree>
    <p:extLst>
      <p:ext uri="{BB962C8B-B14F-4D97-AF65-F5344CB8AC3E}">
        <p14:creationId xmlns:p14="http://schemas.microsoft.com/office/powerpoint/2010/main" val="3524912600"/>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052169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558029314"/>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76610196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46209770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15722281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414105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2022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5090996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0969251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890518529"/>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31169183"/>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631887602"/>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6438079"/>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2111911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4239565897"/>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89881149"/>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7936094"/>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16474119"/>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97158730"/>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2249238880"/>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4026502970"/>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39560879"/>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83406222"/>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2869948179"/>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2738971478"/>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585043489"/>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24435197"/>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865978929"/>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441937520"/>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334837746"/>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725422603"/>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586711110"/>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717144148"/>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40716153"/>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062359604"/>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97046894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2822697"/>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950714516"/>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434824"/>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1309274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88102022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50699145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833853643"/>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3793446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57757286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44110350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306900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59757452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88535192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89699597"/>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033301480"/>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349958213"/>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78212652"/>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5345118"/>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35083760"/>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2434363293"/>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42852514"/>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743347186"/>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478DAED-02DF-4594-AA6B-B69C134E1DCE}" type="datetimeFigureOut">
              <a:rPr lang="en-IN" smtClean="0"/>
              <a:t>12-10-2022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FF56FF-37B2-4834-A611-C4F9A851F94F}" type="slidenum">
              <a:rPr lang="en-IN" smtClean="0"/>
              <a:t>‹#›</a:t>
            </a:fld>
            <a:endParaRPr lang="en-IN"/>
          </a:p>
        </p:txBody>
      </p:sp>
    </p:spTree>
    <p:extLst>
      <p:ext uri="{BB962C8B-B14F-4D97-AF65-F5344CB8AC3E}">
        <p14:creationId xmlns:p14="http://schemas.microsoft.com/office/powerpoint/2010/main" val="34659414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theme" Target="../theme/theme1.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vmlDrawing" Target="../drawings/vmlDrawing1.v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tags" Target="../tags/tag2.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image" Target="../media/image1.emf"/><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20.xml"/><Relationship Id="rId21" Type="http://schemas.openxmlformats.org/officeDocument/2006/relationships/slideLayout" Target="../slideLayouts/slideLayout115.xml"/><Relationship Id="rId34" Type="http://schemas.openxmlformats.org/officeDocument/2006/relationships/slideLayout" Target="../slideLayouts/slideLayout128.xml"/><Relationship Id="rId42" Type="http://schemas.openxmlformats.org/officeDocument/2006/relationships/slideLayout" Target="../slideLayouts/slideLayout136.xml"/><Relationship Id="rId47" Type="http://schemas.openxmlformats.org/officeDocument/2006/relationships/slideLayout" Target="../slideLayouts/slideLayout141.xml"/><Relationship Id="rId50" Type="http://schemas.openxmlformats.org/officeDocument/2006/relationships/slideLayout" Target="../slideLayouts/slideLayout144.xml"/><Relationship Id="rId55" Type="http://schemas.openxmlformats.org/officeDocument/2006/relationships/slideLayout" Target="../slideLayouts/slideLayout149.xml"/><Relationship Id="rId63" Type="http://schemas.openxmlformats.org/officeDocument/2006/relationships/tags" Target="../tags/tag6.xml"/><Relationship Id="rId7" Type="http://schemas.openxmlformats.org/officeDocument/2006/relationships/slideLayout" Target="../slideLayouts/slideLayout10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9" Type="http://schemas.openxmlformats.org/officeDocument/2006/relationships/slideLayout" Target="../slideLayouts/slideLayout123.xml"/><Relationship Id="rId11" Type="http://schemas.openxmlformats.org/officeDocument/2006/relationships/slideLayout" Target="../slideLayouts/slideLayout105.xml"/><Relationship Id="rId24" Type="http://schemas.openxmlformats.org/officeDocument/2006/relationships/slideLayout" Target="../slideLayouts/slideLayout118.xml"/><Relationship Id="rId32" Type="http://schemas.openxmlformats.org/officeDocument/2006/relationships/slideLayout" Target="../slideLayouts/slideLayout126.xml"/><Relationship Id="rId37" Type="http://schemas.openxmlformats.org/officeDocument/2006/relationships/slideLayout" Target="../slideLayouts/slideLayout131.xml"/><Relationship Id="rId40" Type="http://schemas.openxmlformats.org/officeDocument/2006/relationships/slideLayout" Target="../slideLayouts/slideLayout134.xml"/><Relationship Id="rId45" Type="http://schemas.openxmlformats.org/officeDocument/2006/relationships/slideLayout" Target="../slideLayouts/slideLayout139.xml"/><Relationship Id="rId53" Type="http://schemas.openxmlformats.org/officeDocument/2006/relationships/slideLayout" Target="../slideLayouts/slideLayout147.xml"/><Relationship Id="rId58" Type="http://schemas.openxmlformats.org/officeDocument/2006/relationships/slideLayout" Target="../slideLayouts/slideLayout152.xml"/><Relationship Id="rId66" Type="http://schemas.openxmlformats.org/officeDocument/2006/relationships/image" Target="../media/image1.emf"/><Relationship Id="rId5" Type="http://schemas.openxmlformats.org/officeDocument/2006/relationships/slideLayout" Target="../slideLayouts/slideLayout99.xml"/><Relationship Id="rId61" Type="http://schemas.openxmlformats.org/officeDocument/2006/relationships/theme" Target="../theme/theme2.xml"/><Relationship Id="rId19" Type="http://schemas.openxmlformats.org/officeDocument/2006/relationships/slideLayout" Target="../slideLayouts/slideLayout113.xml"/><Relationship Id="rId14" Type="http://schemas.openxmlformats.org/officeDocument/2006/relationships/slideLayout" Target="../slideLayouts/slideLayout108.xml"/><Relationship Id="rId22" Type="http://schemas.openxmlformats.org/officeDocument/2006/relationships/slideLayout" Target="../slideLayouts/slideLayout116.xml"/><Relationship Id="rId27" Type="http://schemas.openxmlformats.org/officeDocument/2006/relationships/slideLayout" Target="../slideLayouts/slideLayout121.xml"/><Relationship Id="rId30" Type="http://schemas.openxmlformats.org/officeDocument/2006/relationships/slideLayout" Target="../slideLayouts/slideLayout124.xml"/><Relationship Id="rId35" Type="http://schemas.openxmlformats.org/officeDocument/2006/relationships/slideLayout" Target="../slideLayouts/slideLayout129.xml"/><Relationship Id="rId43" Type="http://schemas.openxmlformats.org/officeDocument/2006/relationships/slideLayout" Target="../slideLayouts/slideLayout137.xml"/><Relationship Id="rId48" Type="http://schemas.openxmlformats.org/officeDocument/2006/relationships/slideLayout" Target="../slideLayouts/slideLayout142.xml"/><Relationship Id="rId56" Type="http://schemas.openxmlformats.org/officeDocument/2006/relationships/slideLayout" Target="../slideLayouts/slideLayout150.xml"/><Relationship Id="rId64" Type="http://schemas.openxmlformats.org/officeDocument/2006/relationships/tags" Target="../tags/tag7.xml"/><Relationship Id="rId8" Type="http://schemas.openxmlformats.org/officeDocument/2006/relationships/slideLayout" Target="../slideLayouts/slideLayout102.xml"/><Relationship Id="rId51" Type="http://schemas.openxmlformats.org/officeDocument/2006/relationships/slideLayout" Target="../slideLayouts/slideLayout145.xml"/><Relationship Id="rId3" Type="http://schemas.openxmlformats.org/officeDocument/2006/relationships/slideLayout" Target="../slideLayouts/slideLayout97.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5" Type="http://schemas.openxmlformats.org/officeDocument/2006/relationships/slideLayout" Target="../slideLayouts/slideLayout119.xml"/><Relationship Id="rId33" Type="http://schemas.openxmlformats.org/officeDocument/2006/relationships/slideLayout" Target="../slideLayouts/slideLayout127.xml"/><Relationship Id="rId38" Type="http://schemas.openxmlformats.org/officeDocument/2006/relationships/slideLayout" Target="../slideLayouts/slideLayout132.xml"/><Relationship Id="rId46" Type="http://schemas.openxmlformats.org/officeDocument/2006/relationships/slideLayout" Target="../slideLayouts/slideLayout140.xml"/><Relationship Id="rId59" Type="http://schemas.openxmlformats.org/officeDocument/2006/relationships/slideLayout" Target="../slideLayouts/slideLayout153.xml"/><Relationship Id="rId20" Type="http://schemas.openxmlformats.org/officeDocument/2006/relationships/slideLayout" Target="../slideLayouts/slideLayout114.xml"/><Relationship Id="rId41" Type="http://schemas.openxmlformats.org/officeDocument/2006/relationships/slideLayout" Target="../slideLayouts/slideLayout135.xml"/><Relationship Id="rId54" Type="http://schemas.openxmlformats.org/officeDocument/2006/relationships/slideLayout" Target="../slideLayouts/slideLayout148.xml"/><Relationship Id="rId62" Type="http://schemas.openxmlformats.org/officeDocument/2006/relationships/vmlDrawing" Target="../drawings/vmlDrawing3.v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5" Type="http://schemas.openxmlformats.org/officeDocument/2006/relationships/slideLayout" Target="../slideLayouts/slideLayout109.xml"/><Relationship Id="rId23" Type="http://schemas.openxmlformats.org/officeDocument/2006/relationships/slideLayout" Target="../slideLayouts/slideLayout117.xml"/><Relationship Id="rId28" Type="http://schemas.openxmlformats.org/officeDocument/2006/relationships/slideLayout" Target="../slideLayouts/slideLayout122.xml"/><Relationship Id="rId36" Type="http://schemas.openxmlformats.org/officeDocument/2006/relationships/slideLayout" Target="../slideLayouts/slideLayout130.xml"/><Relationship Id="rId49" Type="http://schemas.openxmlformats.org/officeDocument/2006/relationships/slideLayout" Target="../slideLayouts/slideLayout143.xml"/><Relationship Id="rId57" Type="http://schemas.openxmlformats.org/officeDocument/2006/relationships/slideLayout" Target="../slideLayouts/slideLayout151.xml"/><Relationship Id="rId10" Type="http://schemas.openxmlformats.org/officeDocument/2006/relationships/slideLayout" Target="../slideLayouts/slideLayout104.xml"/><Relationship Id="rId31" Type="http://schemas.openxmlformats.org/officeDocument/2006/relationships/slideLayout" Target="../slideLayouts/slideLayout125.xml"/><Relationship Id="rId44" Type="http://schemas.openxmlformats.org/officeDocument/2006/relationships/slideLayout" Target="../slideLayouts/slideLayout138.xml"/><Relationship Id="rId52" Type="http://schemas.openxmlformats.org/officeDocument/2006/relationships/slideLayout" Target="../slideLayouts/slideLayout146.xml"/><Relationship Id="rId60" Type="http://schemas.openxmlformats.org/officeDocument/2006/relationships/slideLayout" Target="../slideLayouts/slideLayout154.xml"/><Relationship Id="rId65" Type="http://schemas.openxmlformats.org/officeDocument/2006/relationships/oleObject" Target="../embeddings/oleObject3.bin"/><Relationship Id="rId4" Type="http://schemas.openxmlformats.org/officeDocument/2006/relationships/slideLayout" Target="../slideLayouts/slideLayout98.xml"/><Relationship Id="rId9" Type="http://schemas.openxmlformats.org/officeDocument/2006/relationships/slideLayout" Target="../slideLayouts/slideLayout103.xml"/><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39"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7"/>
            </p:custDataLst>
            <p:extLst>
              <p:ext uri="{D42A27DB-BD31-4B8C-83A1-F6EECF244321}">
                <p14:modId xmlns:p14="http://schemas.microsoft.com/office/powerpoint/2010/main" val="232720069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32" name="think-cell Slide" r:id="rId99" imgW="270" imgH="270" progId="TCLayout.ActiveDocument.1">
                  <p:embed/>
                </p:oleObj>
              </mc:Choice>
              <mc:Fallback>
                <p:oleObj name="think-cell Slide" r:id="rId99" imgW="270" imgH="270" progId="TCLayout.ActiveDocument.1">
                  <p:embed/>
                  <p:pic>
                    <p:nvPicPr>
                      <p:cNvPr id="4" name="Object 3" hidden="1"/>
                      <p:cNvPicPr/>
                      <p:nvPr/>
                    </p:nvPicPr>
                    <p:blipFill>
                      <a:blip r:embed="rId100"/>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Rectangle 7" hidden="1">
            <a:extLst>
              <a:ext uri="{FF2B5EF4-FFF2-40B4-BE49-F238E27FC236}">
                <a16:creationId xmlns:a16="http://schemas.microsoft.com/office/drawing/2014/main" id="{A6CE6B83-4079-49DB-8365-10A4A52AD9C5}"/>
              </a:ext>
            </a:extLst>
          </p:cNvPr>
          <p:cNvSpPr/>
          <p:nvPr userDrawn="1">
            <p:custDataLst>
              <p:tags r:id="rId98"/>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Box 8">
            <a:extLst>
              <a:ext uri="{FF2B5EF4-FFF2-40B4-BE49-F238E27FC236}">
                <a16:creationId xmlns:a16="http://schemas.microsoft.com/office/drawing/2014/main" id="{CA348FB2-B3BC-42AD-BB5B-EF819A32AC2D}"/>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0" name="TextBox 9">
            <a:extLst>
              <a:ext uri="{FF2B5EF4-FFF2-40B4-BE49-F238E27FC236}">
                <a16:creationId xmlns:a16="http://schemas.microsoft.com/office/drawing/2014/main" id="{AFFAF1E6-2DC2-4C5F-BED9-82722A4F6D8D}"/>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1638713669"/>
      </p:ext>
    </p:extLst>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 id="2147484155" r:id="rId12"/>
    <p:sldLayoutId id="2147484156" r:id="rId13"/>
    <p:sldLayoutId id="2147484157" r:id="rId14"/>
    <p:sldLayoutId id="2147484158" r:id="rId15"/>
    <p:sldLayoutId id="2147484159" r:id="rId16"/>
    <p:sldLayoutId id="2147484160" r:id="rId17"/>
    <p:sldLayoutId id="2147484161" r:id="rId18"/>
    <p:sldLayoutId id="2147484162" r:id="rId19"/>
    <p:sldLayoutId id="2147484163" r:id="rId20"/>
    <p:sldLayoutId id="2147484164" r:id="rId21"/>
    <p:sldLayoutId id="2147484165" r:id="rId22"/>
    <p:sldLayoutId id="2147484166" r:id="rId23"/>
    <p:sldLayoutId id="2147484167" r:id="rId24"/>
    <p:sldLayoutId id="2147484168" r:id="rId25"/>
    <p:sldLayoutId id="2147484169" r:id="rId26"/>
    <p:sldLayoutId id="2147484170" r:id="rId27"/>
    <p:sldLayoutId id="2147484171" r:id="rId28"/>
    <p:sldLayoutId id="2147484172" r:id="rId29"/>
    <p:sldLayoutId id="2147484173" r:id="rId30"/>
    <p:sldLayoutId id="2147484174" r:id="rId31"/>
    <p:sldLayoutId id="2147484175" r:id="rId32"/>
    <p:sldLayoutId id="2147484176" r:id="rId33"/>
    <p:sldLayoutId id="2147484177" r:id="rId34"/>
    <p:sldLayoutId id="2147484178" r:id="rId35"/>
    <p:sldLayoutId id="2147484179" r:id="rId36"/>
    <p:sldLayoutId id="2147484180" r:id="rId37"/>
    <p:sldLayoutId id="2147484181" r:id="rId38"/>
    <p:sldLayoutId id="2147484182" r:id="rId39"/>
    <p:sldLayoutId id="2147484183" r:id="rId40"/>
    <p:sldLayoutId id="2147484184" r:id="rId41"/>
    <p:sldLayoutId id="2147484185" r:id="rId42"/>
    <p:sldLayoutId id="2147484186" r:id="rId43"/>
    <p:sldLayoutId id="2147484187" r:id="rId44"/>
    <p:sldLayoutId id="2147484188" r:id="rId45"/>
    <p:sldLayoutId id="2147484189" r:id="rId46"/>
    <p:sldLayoutId id="2147484190" r:id="rId47"/>
    <p:sldLayoutId id="2147484191" r:id="rId48"/>
    <p:sldLayoutId id="2147484192" r:id="rId49"/>
    <p:sldLayoutId id="2147484193" r:id="rId50"/>
    <p:sldLayoutId id="2147484195" r:id="rId51"/>
    <p:sldLayoutId id="2147484196" r:id="rId52"/>
    <p:sldLayoutId id="2147484198"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8" r:id="rId87"/>
    <p:sldLayoutId id="2147483739" r:id="rId88"/>
    <p:sldLayoutId id="2147483740" r:id="rId89"/>
    <p:sldLayoutId id="2147483741" r:id="rId90"/>
    <p:sldLayoutId id="2147483742" r:id="rId91"/>
    <p:sldLayoutId id="2147484985" r:id="rId92"/>
    <p:sldLayoutId id="2147484986" r:id="rId93"/>
    <p:sldLayoutId id="2147484987" r:id="rId94"/>
  </p:sldLayoutIdLst>
  <p:transition>
    <p:fade/>
  </p:transition>
  <p:hf hdr="0" ft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3"/>
            </p:custDataLst>
            <p:extLst>
              <p:ext uri="{D42A27DB-BD31-4B8C-83A1-F6EECF244321}">
                <p14:modId xmlns:p14="http://schemas.microsoft.com/office/powerpoint/2010/main" val="1294493157"/>
              </p:ext>
            </p:extLst>
          </p:nvPr>
        </p:nvGraphicFramePr>
        <p:xfrm>
          <a:off x="2120" y="1589"/>
          <a:ext cx="2116" cy="1587"/>
        </p:xfrm>
        <a:graphic>
          <a:graphicData uri="http://schemas.openxmlformats.org/presentationml/2006/ole">
            <mc:AlternateContent xmlns:mc="http://schemas.openxmlformats.org/markup-compatibility/2006">
              <mc:Choice xmlns:v="urn:schemas-microsoft-com:vml" Requires="v">
                <p:oleObj spid="_x0000_s25603" name="think-cell Slide" r:id="rId65" imgW="270" imgH="270" progId="TCLayout.ActiveDocument.1">
                  <p:embed/>
                </p:oleObj>
              </mc:Choice>
              <mc:Fallback>
                <p:oleObj name="think-cell Slide" r:id="rId65" imgW="270" imgH="270" progId="TCLayout.ActiveDocument.1">
                  <p:embed/>
                  <p:pic>
                    <p:nvPicPr>
                      <p:cNvPr id="4" name="Object 3" hidden="1"/>
                      <p:cNvPicPr/>
                      <p:nvPr/>
                    </p:nvPicPr>
                    <p:blipFill>
                      <a:blip r:embed="rId66"/>
                      <a:stretch>
                        <a:fillRect/>
                      </a:stretch>
                    </p:blipFill>
                    <p:spPr>
                      <a:xfrm>
                        <a:off x="2120" y="1589"/>
                        <a:ext cx="2116" cy="1587"/>
                      </a:xfrm>
                      <a:prstGeom prst="rect">
                        <a:avLst/>
                      </a:prstGeom>
                    </p:spPr>
                  </p:pic>
                </p:oleObj>
              </mc:Fallback>
            </mc:AlternateContent>
          </a:graphicData>
        </a:graphic>
      </p:graphicFrame>
      <p:sp>
        <p:nvSpPr>
          <p:cNvPr id="6" name="Rectangle 5" hidden="1"/>
          <p:cNvSpPr/>
          <p:nvPr userDrawn="1">
            <p:custDataLst>
              <p:tags r:id="rId64"/>
            </p:custDataLst>
          </p:nvPr>
        </p:nvSpPr>
        <p:spPr bwMode="gray">
          <a:xfrm>
            <a:off x="0" y="0"/>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1" y="317501"/>
            <a:ext cx="11188699"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a:solidFill>
                  <a:prstClr val="black"/>
                </a:solidFill>
              </a:rPr>
              <a:t>© 2022 Deloitte Touche Tohmatsu India LLP</a:t>
            </a:r>
          </a:p>
        </p:txBody>
      </p:sp>
      <p:sp>
        <p:nvSpPr>
          <p:cNvPr id="19" name="Text Placeholder 18"/>
          <p:cNvSpPr>
            <a:spLocks noGrp="1"/>
          </p:cNvSpPr>
          <p:nvPr>
            <p:ph type="body" idx="1"/>
          </p:nvPr>
        </p:nvSpPr>
        <p:spPr>
          <a:xfrm>
            <a:off x="501651" y="1665292"/>
            <a:ext cx="11188699"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a:solidFill>
                <a:prstClr val="black"/>
              </a:solidFill>
            </a:endParaRPr>
          </a:p>
        </p:txBody>
      </p:sp>
    </p:spTree>
    <p:extLst>
      <p:ext uri="{BB962C8B-B14F-4D97-AF65-F5344CB8AC3E}">
        <p14:creationId xmlns:p14="http://schemas.microsoft.com/office/powerpoint/2010/main" val="2313541523"/>
      </p:ext>
    </p:extLst>
  </p:cSld>
  <p:clrMap bg1="lt1" tx1="dk1" bg2="lt2" tx2="dk2" accent1="accent1" accent2="accent2" accent3="accent3" accent4="accent4" accent5="accent5" accent6="accent6" hlink="hlink" folHlink="folHlink"/>
  <p:sldLayoutIdLst>
    <p:sldLayoutId id="2147484989" r:id="rId1"/>
    <p:sldLayoutId id="2147484990" r:id="rId2"/>
    <p:sldLayoutId id="2147484991" r:id="rId3"/>
    <p:sldLayoutId id="2147484992" r:id="rId4"/>
    <p:sldLayoutId id="2147484993" r:id="rId5"/>
    <p:sldLayoutId id="2147484994" r:id="rId6"/>
    <p:sldLayoutId id="2147484995" r:id="rId7"/>
    <p:sldLayoutId id="2147484996" r:id="rId8"/>
    <p:sldLayoutId id="2147484997" r:id="rId9"/>
    <p:sldLayoutId id="2147484998" r:id="rId10"/>
    <p:sldLayoutId id="2147484999" r:id="rId11"/>
    <p:sldLayoutId id="2147485000" r:id="rId12"/>
    <p:sldLayoutId id="2147485001" r:id="rId13"/>
    <p:sldLayoutId id="2147485002" r:id="rId14"/>
    <p:sldLayoutId id="2147485003" r:id="rId15"/>
    <p:sldLayoutId id="2147485004" r:id="rId16"/>
    <p:sldLayoutId id="2147485005" r:id="rId17"/>
    <p:sldLayoutId id="2147485006" r:id="rId18"/>
    <p:sldLayoutId id="2147485007" r:id="rId19"/>
    <p:sldLayoutId id="2147485008" r:id="rId20"/>
    <p:sldLayoutId id="2147485009" r:id="rId21"/>
    <p:sldLayoutId id="2147485010" r:id="rId22"/>
    <p:sldLayoutId id="2147485011" r:id="rId23"/>
    <p:sldLayoutId id="2147485012" r:id="rId24"/>
    <p:sldLayoutId id="2147485013" r:id="rId25"/>
    <p:sldLayoutId id="2147485014" r:id="rId26"/>
    <p:sldLayoutId id="2147485015" r:id="rId27"/>
    <p:sldLayoutId id="2147485016" r:id="rId28"/>
    <p:sldLayoutId id="2147485017" r:id="rId29"/>
    <p:sldLayoutId id="2147485018" r:id="rId30"/>
    <p:sldLayoutId id="2147485019" r:id="rId31"/>
    <p:sldLayoutId id="2147485020" r:id="rId32"/>
    <p:sldLayoutId id="2147485021" r:id="rId33"/>
    <p:sldLayoutId id="2147485022" r:id="rId34"/>
    <p:sldLayoutId id="2147485023" r:id="rId35"/>
    <p:sldLayoutId id="2147485024" r:id="rId36"/>
    <p:sldLayoutId id="2147485025" r:id="rId37"/>
    <p:sldLayoutId id="2147485026" r:id="rId38"/>
    <p:sldLayoutId id="2147485027" r:id="rId39"/>
    <p:sldLayoutId id="2147485028" r:id="rId40"/>
    <p:sldLayoutId id="2147485029" r:id="rId41"/>
    <p:sldLayoutId id="2147485030" r:id="rId42"/>
    <p:sldLayoutId id="2147485031" r:id="rId43"/>
    <p:sldLayoutId id="2147485032" r:id="rId44"/>
    <p:sldLayoutId id="2147485033" r:id="rId45"/>
    <p:sldLayoutId id="2147485034" r:id="rId46"/>
    <p:sldLayoutId id="2147485035" r:id="rId47"/>
    <p:sldLayoutId id="2147485036" r:id="rId48"/>
    <p:sldLayoutId id="2147485037" r:id="rId49"/>
    <p:sldLayoutId id="2147485038" r:id="rId50"/>
    <p:sldLayoutId id="2147485039" r:id="rId51"/>
    <p:sldLayoutId id="2147485040" r:id="rId52"/>
    <p:sldLayoutId id="2147485041" r:id="rId53"/>
    <p:sldLayoutId id="2147485042" r:id="rId54"/>
    <p:sldLayoutId id="2147485043" r:id="rId55"/>
    <p:sldLayoutId id="2147485044" r:id="rId56"/>
    <p:sldLayoutId id="2147485045" r:id="rId57"/>
    <p:sldLayoutId id="2147485046" r:id="rId58"/>
    <p:sldLayoutId id="2147485047" r:id="rId59"/>
    <p:sldLayoutId id="2147485048" r:id="rId60"/>
  </p:sldLayoutIdLst>
  <p:transition>
    <p:fade/>
  </p:transition>
  <p:hf hdr="0" dt="0"/>
  <p:txStyles>
    <p:titleStyle>
      <a:lvl1pPr algn="l" defTabSz="1150154" rtl="0" eaLnBrk="1" latinLnBrk="0" hangingPunct="1">
        <a:spcBef>
          <a:spcPct val="0"/>
        </a:spcBef>
        <a:buNone/>
        <a:defRPr sz="2282" kern="1200">
          <a:solidFill>
            <a:schemeClr val="tx1"/>
          </a:solidFill>
          <a:latin typeface="+mj-lt"/>
          <a:ea typeface="+mj-ea"/>
          <a:cs typeface="+mj-cs"/>
        </a:defRPr>
      </a:lvl1pPr>
    </p:titleStyle>
    <p:body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154" rtl="0" eaLnBrk="1" latinLnBrk="0" hangingPunct="1">
        <a:defRPr sz="2264" kern="1200">
          <a:solidFill>
            <a:schemeClr val="tx1"/>
          </a:solidFill>
          <a:latin typeface="+mn-lt"/>
          <a:ea typeface="+mn-ea"/>
          <a:cs typeface="+mn-cs"/>
        </a:defRPr>
      </a:lvl1pPr>
      <a:lvl2pPr marL="575077" algn="l" defTabSz="1150154" rtl="0" eaLnBrk="1" latinLnBrk="0" hangingPunct="1">
        <a:defRPr sz="2264" kern="1200">
          <a:solidFill>
            <a:schemeClr val="tx1"/>
          </a:solidFill>
          <a:latin typeface="+mn-lt"/>
          <a:ea typeface="+mn-ea"/>
          <a:cs typeface="+mn-cs"/>
        </a:defRPr>
      </a:lvl2pPr>
      <a:lvl3pPr marL="1150154" algn="l" defTabSz="1150154" rtl="0" eaLnBrk="1" latinLnBrk="0" hangingPunct="1">
        <a:defRPr sz="2264" kern="1200">
          <a:solidFill>
            <a:schemeClr val="tx1"/>
          </a:solidFill>
          <a:latin typeface="+mn-lt"/>
          <a:ea typeface="+mn-ea"/>
          <a:cs typeface="+mn-cs"/>
        </a:defRPr>
      </a:lvl3pPr>
      <a:lvl4pPr marL="1725231" algn="l" defTabSz="1150154" rtl="0" eaLnBrk="1" latinLnBrk="0" hangingPunct="1">
        <a:defRPr sz="2264" kern="1200">
          <a:solidFill>
            <a:schemeClr val="tx1"/>
          </a:solidFill>
          <a:latin typeface="+mn-lt"/>
          <a:ea typeface="+mn-ea"/>
          <a:cs typeface="+mn-cs"/>
        </a:defRPr>
      </a:lvl4pPr>
      <a:lvl5pPr marL="2300309" algn="l" defTabSz="1150154" rtl="0" eaLnBrk="1" latinLnBrk="0" hangingPunct="1">
        <a:defRPr sz="2264" kern="1200">
          <a:solidFill>
            <a:schemeClr val="tx1"/>
          </a:solidFill>
          <a:latin typeface="+mn-lt"/>
          <a:ea typeface="+mn-ea"/>
          <a:cs typeface="+mn-cs"/>
        </a:defRPr>
      </a:lvl5pPr>
      <a:lvl6pPr marL="2875386" algn="l" defTabSz="1150154" rtl="0" eaLnBrk="1" latinLnBrk="0" hangingPunct="1">
        <a:defRPr sz="2264" kern="1200">
          <a:solidFill>
            <a:schemeClr val="tx1"/>
          </a:solidFill>
          <a:latin typeface="+mn-lt"/>
          <a:ea typeface="+mn-ea"/>
          <a:cs typeface="+mn-cs"/>
        </a:defRPr>
      </a:lvl6pPr>
      <a:lvl7pPr marL="3450463" algn="l" defTabSz="1150154" rtl="0" eaLnBrk="1" latinLnBrk="0" hangingPunct="1">
        <a:defRPr sz="2264" kern="1200">
          <a:solidFill>
            <a:schemeClr val="tx1"/>
          </a:solidFill>
          <a:latin typeface="+mn-lt"/>
          <a:ea typeface="+mn-ea"/>
          <a:cs typeface="+mn-cs"/>
        </a:defRPr>
      </a:lvl7pPr>
      <a:lvl8pPr marL="4025540" algn="l" defTabSz="1150154" rtl="0" eaLnBrk="1" latinLnBrk="0" hangingPunct="1">
        <a:defRPr sz="2264" kern="1200">
          <a:solidFill>
            <a:schemeClr val="tx1"/>
          </a:solidFill>
          <a:latin typeface="+mn-lt"/>
          <a:ea typeface="+mn-ea"/>
          <a:cs typeface="+mn-cs"/>
        </a:defRPr>
      </a:lvl8pPr>
      <a:lvl9pPr marL="4600616" algn="l" defTabSz="1150154"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3.xml"/></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slideLayout" Target="../slideLayouts/slideLayout92.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tags" Target="../tags/tag8.xml"/><Relationship Id="rId1" Type="http://schemas.openxmlformats.org/officeDocument/2006/relationships/vmlDrawing" Target="../drawings/vmlDrawing4.vml"/><Relationship Id="rId6" Type="http://schemas.openxmlformats.org/officeDocument/2006/relationships/image" Target="../media/image10.emf"/><Relationship Id="rId11" Type="http://schemas.openxmlformats.org/officeDocument/2006/relationships/image" Target="../media/image15.png"/><Relationship Id="rId5" Type="http://schemas.openxmlformats.org/officeDocument/2006/relationships/oleObject" Target="../embeddings/oleObject4.bin"/><Relationship Id="rId10" Type="http://schemas.openxmlformats.org/officeDocument/2006/relationships/image" Target="../media/image14.svg"/><Relationship Id="rId4" Type="http://schemas.openxmlformats.org/officeDocument/2006/relationships/notesSlide" Target="../notesSlides/notesSlide1.xml"/><Relationship Id="rId9" Type="http://schemas.openxmlformats.org/officeDocument/2006/relationships/image" Target="../media/image13.png"/><Relationship Id="rId14" Type="http://schemas.openxmlformats.org/officeDocument/2006/relationships/image" Target="../media/image18.sv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slideLayout" Target="../slideLayouts/slideLayout92.xml"/><Relationship Id="rId7" Type="http://schemas.openxmlformats.org/officeDocument/2006/relationships/slide" Target="slide7.xml"/><Relationship Id="rId12" Type="http://schemas.openxmlformats.org/officeDocument/2006/relationships/image" Target="../media/image23.png"/><Relationship Id="rId2" Type="http://schemas.openxmlformats.org/officeDocument/2006/relationships/tags" Target="../tags/tag9.xml"/><Relationship Id="rId1" Type="http://schemas.openxmlformats.org/officeDocument/2006/relationships/vmlDrawing" Target="../drawings/vmlDrawing5.vml"/><Relationship Id="rId6" Type="http://schemas.openxmlformats.org/officeDocument/2006/relationships/image" Target="../media/image10.emf"/><Relationship Id="rId11" Type="http://schemas.openxmlformats.org/officeDocument/2006/relationships/image" Target="../media/image22.svg"/><Relationship Id="rId5" Type="http://schemas.openxmlformats.org/officeDocument/2006/relationships/oleObject" Target="../embeddings/oleObject5.bin"/><Relationship Id="rId10" Type="http://schemas.openxmlformats.org/officeDocument/2006/relationships/image" Target="../media/image21.png"/><Relationship Id="rId4" Type="http://schemas.openxmlformats.org/officeDocument/2006/relationships/notesSlide" Target="../notesSlides/notesSlide2.xml"/><Relationship Id="rId9" Type="http://schemas.openxmlformats.org/officeDocument/2006/relationships/image" Target="../media/image2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6572250"/>
            <a:ext cx="5594349" cy="298450"/>
          </a:xfrm>
        </p:spPr>
        <p:txBody>
          <a:bodyPr anchor="ctr"/>
          <a:lstStyle/>
          <a:p>
            <a:r>
              <a:rPr lang="en-US" sz="1000" dirty="0"/>
              <a:t>Deloitte </a:t>
            </a:r>
            <a:r>
              <a:rPr lang="en-US" sz="1000" dirty="0" err="1"/>
              <a:t>Touche</a:t>
            </a:r>
            <a:r>
              <a:rPr lang="en-US" sz="1000" dirty="0"/>
              <a:t> Tohmatsu India LLP</a:t>
            </a:r>
            <a:endParaRPr lang="en-US" sz="900" dirty="0"/>
          </a:p>
        </p:txBody>
      </p:sp>
      <p:sp>
        <p:nvSpPr>
          <p:cNvPr id="6" name="Rectangle 5"/>
          <p:cNvSpPr/>
          <p:nvPr/>
        </p:nvSpPr>
        <p:spPr>
          <a:xfrm>
            <a:off x="259038" y="5078927"/>
            <a:ext cx="10970187" cy="461665"/>
          </a:xfrm>
          <a:prstGeom prst="rect">
            <a:avLst/>
          </a:prstGeom>
        </p:spPr>
        <p:txBody>
          <a:bodyPr wrap="square">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2400" b="1" cap="small" dirty="0">
                <a:solidFill>
                  <a:prstClr val="black"/>
                </a:solidFill>
                <a:latin typeface="Verdana" panose="020B0604030504040204" pitchFamily="34" charset="0"/>
                <a:ea typeface="Verdana" panose="020B0604030504040204" pitchFamily="34" charset="0"/>
                <a:cs typeface="Vani" panose="02040502050405020303" pitchFamily="18" charset="0"/>
              </a:rPr>
              <a:t>Strategic initiatives for achievement of goals and vision </a:t>
            </a:r>
          </a:p>
        </p:txBody>
      </p:sp>
      <p:sp>
        <p:nvSpPr>
          <p:cNvPr id="2" name="TextBox 1">
            <a:extLst>
              <a:ext uri="{FF2B5EF4-FFF2-40B4-BE49-F238E27FC236}">
                <a16:creationId xmlns:a16="http://schemas.microsoft.com/office/drawing/2014/main" id="{FEB52164-1CF4-45BB-8B3A-5F2D4ACF57AE}"/>
              </a:ext>
            </a:extLst>
          </p:cNvPr>
          <p:cNvSpPr txBox="1"/>
          <p:nvPr/>
        </p:nvSpPr>
        <p:spPr>
          <a:xfrm>
            <a:off x="336551" y="5552983"/>
            <a:ext cx="9512300" cy="984885"/>
          </a:xfrm>
          <a:prstGeom prst="rect">
            <a:avLst/>
          </a:prstGeom>
          <a:noFill/>
        </p:spPr>
        <p:txBody>
          <a:bodyPr wrap="square" lIns="0" tIns="0" rIns="0" bIns="0" rtlCol="0">
            <a:spAutoFit/>
          </a:bodyPr>
          <a:lstStyle/>
          <a:p>
            <a:pPr>
              <a:spcBef>
                <a:spcPts val="600"/>
              </a:spcBef>
              <a:buSzPct val="100000"/>
            </a:pPr>
            <a:r>
              <a:rPr lang="en-US" b="1" dirty="0">
                <a:solidFill>
                  <a:srgbClr val="313131"/>
                </a:solidFill>
              </a:rPr>
              <a:t>Department of Power, West Bengal</a:t>
            </a:r>
          </a:p>
          <a:p>
            <a:pPr>
              <a:spcBef>
                <a:spcPts val="600"/>
              </a:spcBef>
              <a:buSzPct val="100000"/>
            </a:pPr>
            <a:endParaRPr lang="en-US" b="1" dirty="0">
              <a:solidFill>
                <a:srgbClr val="313131"/>
              </a:solidFill>
            </a:endParaRPr>
          </a:p>
          <a:p>
            <a:pPr>
              <a:spcBef>
                <a:spcPts val="600"/>
              </a:spcBef>
              <a:buSzPct val="100000"/>
            </a:pPr>
            <a:r>
              <a:rPr lang="en-US" b="1" dirty="0">
                <a:solidFill>
                  <a:srgbClr val="313131"/>
                </a:solidFill>
              </a:rPr>
              <a:t>September, 2022</a:t>
            </a:r>
          </a:p>
        </p:txBody>
      </p:sp>
      <p:pic>
        <p:nvPicPr>
          <p:cNvPr id="7" name="Picture 6">
            <a:extLst>
              <a:ext uri="{FF2B5EF4-FFF2-40B4-BE49-F238E27FC236}">
                <a16:creationId xmlns:a16="http://schemas.microsoft.com/office/drawing/2014/main" id="{E617E8AE-4861-4676-A7DE-06F72BF87260}"/>
              </a:ext>
            </a:extLst>
          </p:cNvPr>
          <p:cNvPicPr>
            <a:picLocks noChangeAspect="1"/>
          </p:cNvPicPr>
          <p:nvPr/>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624942" y="351472"/>
            <a:ext cx="4942115" cy="4988372"/>
          </a:xfrm>
          <a:prstGeom prst="rect">
            <a:avLst/>
          </a:prstGeom>
        </p:spPr>
      </p:pic>
    </p:spTree>
    <p:extLst>
      <p:ext uri="{BB962C8B-B14F-4D97-AF65-F5344CB8AC3E}">
        <p14:creationId xmlns:p14="http://schemas.microsoft.com/office/powerpoint/2010/main" val="316054311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CB884C-6D5C-481A-8B1D-E172975DFAAF}"/>
              </a:ext>
            </a:extLst>
          </p:cNvPr>
          <p:cNvSpPr/>
          <p:nvPr/>
        </p:nvSpPr>
        <p:spPr bwMode="gray">
          <a:xfrm>
            <a:off x="455251" y="1366477"/>
            <a:ext cx="4551722" cy="1686374"/>
          </a:xfrm>
          <a:prstGeom prst="rect">
            <a:avLst/>
          </a:prstGeom>
          <a:solidFill>
            <a:schemeClr val="bg1">
              <a:lumMod val="95000"/>
            </a:schemeClr>
          </a:solidFill>
          <a:ln w="19050" algn="ctr">
            <a:noFill/>
            <a:miter lim="800000"/>
            <a:headEnd/>
            <a:tailEnd/>
          </a:ln>
        </p:spPr>
        <p:txBody>
          <a:bodyPr wrap="square" lIns="88900" tIns="88900" rIns="822960" bIns="88900" rtlCol="0" anchor="ctr"/>
          <a:lstStyle/>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Optimization of generation portfolio in line with Sustainability goals with major focus on proliferation of Renewable Energy in state</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Promotion of Green Hydrogen </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Optimization of power purchase portfolio ensuring achievement of future RPO targets by DISCOM</a:t>
            </a:r>
          </a:p>
        </p:txBody>
      </p:sp>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2068" y="1858"/>
          <a:ext cx="1588" cy="1588"/>
        </p:xfrm>
        <a:graphic>
          <a:graphicData uri="http://schemas.openxmlformats.org/presentationml/2006/ole">
            <mc:AlternateContent xmlns:mc="http://schemas.openxmlformats.org/markup-compatibility/2006">
              <mc:Choice xmlns:v="urn:schemas-microsoft-com:vml" Requires="v">
                <p:oleObj spid="_x0000_s23575"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2068" y="185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2093" y="241556"/>
            <a:ext cx="11187820" cy="368271"/>
          </a:xfrm>
        </p:spPr>
        <p:txBody>
          <a:bodyPr vert="horz"/>
          <a:lstStyle/>
          <a:p>
            <a:pPr algn="just"/>
            <a:r>
              <a:rPr lang="en-US" sz="1800" b="1" dirty="0">
                <a:latin typeface="Verdana" panose="020B0604030504040204" pitchFamily="34" charset="0"/>
                <a:ea typeface="Verdana" panose="020B0604030504040204" pitchFamily="34" charset="0"/>
                <a:cs typeface="+mj-cs"/>
              </a:rPr>
              <a:t>WBDOP – Goals and strategic initiatives (1/2)</a:t>
            </a:r>
          </a:p>
        </p:txBody>
      </p:sp>
      <p:grpSp>
        <p:nvGrpSpPr>
          <p:cNvPr id="112" name="Group 111">
            <a:extLst>
              <a:ext uri="{FF2B5EF4-FFF2-40B4-BE49-F238E27FC236}">
                <a16:creationId xmlns:a16="http://schemas.microsoft.com/office/drawing/2014/main" id="{709BB879-0666-45F4-B82F-B274E008C6DF}"/>
              </a:ext>
            </a:extLst>
          </p:cNvPr>
          <p:cNvGrpSpPr/>
          <p:nvPr/>
        </p:nvGrpSpPr>
        <p:grpSpPr>
          <a:xfrm>
            <a:off x="5043715" y="2553810"/>
            <a:ext cx="2075544" cy="4161729"/>
            <a:chOff x="5043715" y="2553810"/>
            <a:chExt cx="2075544" cy="4161729"/>
          </a:xfrm>
          <a:solidFill>
            <a:srgbClr val="000000"/>
          </a:solidFill>
        </p:grpSpPr>
        <p:sp>
          <p:nvSpPr>
            <p:cNvPr id="113" name="Oval 112">
              <a:extLst>
                <a:ext uri="{FF2B5EF4-FFF2-40B4-BE49-F238E27FC236}">
                  <a16:creationId xmlns:a16="http://schemas.microsoft.com/office/drawing/2014/main" id="{8F73E96B-AAB0-41ED-AE87-DA67D2039970}"/>
                </a:ext>
              </a:extLst>
            </p:cNvPr>
            <p:cNvSpPr/>
            <p:nvPr/>
          </p:nvSpPr>
          <p:spPr bwMode="gray">
            <a:xfrm>
              <a:off x="5043715" y="2553810"/>
              <a:ext cx="2075544" cy="2075544"/>
            </a:xfrm>
            <a:prstGeom prst="ellipse">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14" name="Rectangle 113">
              <a:extLst>
                <a:ext uri="{FF2B5EF4-FFF2-40B4-BE49-F238E27FC236}">
                  <a16:creationId xmlns:a16="http://schemas.microsoft.com/office/drawing/2014/main" id="{06D8F1FE-7029-44AB-B867-55375DE5E71B}"/>
                </a:ext>
              </a:extLst>
            </p:cNvPr>
            <p:cNvSpPr/>
            <p:nvPr/>
          </p:nvSpPr>
          <p:spPr bwMode="gray">
            <a:xfrm>
              <a:off x="6040866" y="4629050"/>
              <a:ext cx="105935" cy="2012950"/>
            </a:xfrm>
            <a:prstGeom prst="rect">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15" name="Rectangle: Top Corners Rounded 114">
              <a:extLst>
                <a:ext uri="{FF2B5EF4-FFF2-40B4-BE49-F238E27FC236}">
                  <a16:creationId xmlns:a16="http://schemas.microsoft.com/office/drawing/2014/main" id="{42D95FB1-C26B-43F6-B64B-7D850C37F482}"/>
                </a:ext>
              </a:extLst>
            </p:cNvPr>
            <p:cNvSpPr/>
            <p:nvPr/>
          </p:nvSpPr>
          <p:spPr bwMode="gray">
            <a:xfrm>
              <a:off x="5568696" y="6572149"/>
              <a:ext cx="1025582" cy="143390"/>
            </a:xfrm>
            <a:prstGeom prst="round2SameRect">
              <a:avLst>
                <a:gd name="adj1" fmla="val 50000"/>
                <a:gd name="adj2" fmla="val 0"/>
              </a:avLst>
            </a:prstGeom>
            <a:grp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sz="1600" b="1">
                <a:solidFill>
                  <a:schemeClr val="bg1"/>
                </a:solidFill>
              </a:endParaRPr>
            </a:p>
          </p:txBody>
        </p:sp>
      </p:grpSp>
      <p:grpSp>
        <p:nvGrpSpPr>
          <p:cNvPr id="116" name="Group 115">
            <a:extLst>
              <a:ext uri="{FF2B5EF4-FFF2-40B4-BE49-F238E27FC236}">
                <a16:creationId xmlns:a16="http://schemas.microsoft.com/office/drawing/2014/main" id="{90356383-B4ED-46B6-8217-0A1F056174FA}"/>
              </a:ext>
            </a:extLst>
          </p:cNvPr>
          <p:cNvGrpSpPr/>
          <p:nvPr/>
        </p:nvGrpSpPr>
        <p:grpSpPr>
          <a:xfrm>
            <a:off x="5301794" y="2811889"/>
            <a:ext cx="1559386" cy="1559386"/>
            <a:chOff x="5301794" y="2811889"/>
            <a:chExt cx="1559386" cy="1559386"/>
          </a:xfrm>
        </p:grpSpPr>
        <p:sp>
          <p:nvSpPr>
            <p:cNvPr id="117" name="Oval 116">
              <a:extLst>
                <a:ext uri="{FF2B5EF4-FFF2-40B4-BE49-F238E27FC236}">
                  <a16:creationId xmlns:a16="http://schemas.microsoft.com/office/drawing/2014/main" id="{508868F7-C06A-4FF4-9E29-EF8CBE9D5978}"/>
                </a:ext>
              </a:extLst>
            </p:cNvPr>
            <p:cNvSpPr/>
            <p:nvPr/>
          </p:nvSpPr>
          <p:spPr bwMode="gray">
            <a:xfrm>
              <a:off x="5301794" y="2811889"/>
              <a:ext cx="1559386" cy="1559386"/>
            </a:xfrm>
            <a:prstGeom prst="ellipse">
              <a:avLst/>
            </a:prstGeom>
            <a:solidFill>
              <a:srgbClr val="53565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18" name="Oval 117">
              <a:extLst>
                <a:ext uri="{FF2B5EF4-FFF2-40B4-BE49-F238E27FC236}">
                  <a16:creationId xmlns:a16="http://schemas.microsoft.com/office/drawing/2014/main" id="{E7B5C9BB-B063-4C04-B2A8-82E65A384288}"/>
                </a:ext>
              </a:extLst>
            </p:cNvPr>
            <p:cNvSpPr/>
            <p:nvPr/>
          </p:nvSpPr>
          <p:spPr bwMode="gray">
            <a:xfrm>
              <a:off x="5597359" y="3107454"/>
              <a:ext cx="968256" cy="968256"/>
            </a:xfrm>
            <a:prstGeom prst="ellipse">
              <a:avLst/>
            </a:prstGeom>
            <a:solidFill>
              <a:srgbClr val="63666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19" name="Oval 118">
              <a:extLst>
                <a:ext uri="{FF2B5EF4-FFF2-40B4-BE49-F238E27FC236}">
                  <a16:creationId xmlns:a16="http://schemas.microsoft.com/office/drawing/2014/main" id="{36C11C37-E273-498F-91A3-A8067FD63097}"/>
                </a:ext>
              </a:extLst>
            </p:cNvPr>
            <p:cNvSpPr/>
            <p:nvPr/>
          </p:nvSpPr>
          <p:spPr bwMode="gray">
            <a:xfrm>
              <a:off x="5833053" y="3343148"/>
              <a:ext cx="496868" cy="496868"/>
            </a:xfrm>
            <a:prstGeom prst="ellipse">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20" name="Oval 119">
              <a:extLst>
                <a:ext uri="{FF2B5EF4-FFF2-40B4-BE49-F238E27FC236}">
                  <a16:creationId xmlns:a16="http://schemas.microsoft.com/office/drawing/2014/main" id="{02441513-FFF0-43A8-BEF0-A531B9B29435}"/>
                </a:ext>
              </a:extLst>
            </p:cNvPr>
            <p:cNvSpPr/>
            <p:nvPr/>
          </p:nvSpPr>
          <p:spPr bwMode="gray">
            <a:xfrm>
              <a:off x="6038809" y="3550961"/>
              <a:ext cx="81242" cy="81242"/>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sp>
        <p:nvSpPr>
          <p:cNvPr id="122" name="Rectangle: Top Corners Rounded 121">
            <a:extLst>
              <a:ext uri="{FF2B5EF4-FFF2-40B4-BE49-F238E27FC236}">
                <a16:creationId xmlns:a16="http://schemas.microsoft.com/office/drawing/2014/main" id="{3CBC2F8E-064F-4987-B7F0-CE41C830683B}"/>
              </a:ext>
            </a:extLst>
          </p:cNvPr>
          <p:cNvSpPr/>
          <p:nvPr/>
        </p:nvSpPr>
        <p:spPr bwMode="gray">
          <a:xfrm>
            <a:off x="7119259" y="752203"/>
            <a:ext cx="4522780" cy="580594"/>
          </a:xfrm>
          <a:prstGeom prst="round2SameRect">
            <a:avLst>
              <a:gd name="adj1" fmla="val 0"/>
              <a:gd name="adj2" fmla="val 0"/>
            </a:avLst>
          </a:prstGeom>
          <a:solidFill>
            <a:schemeClr val="accent2"/>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2. </a:t>
            </a:r>
            <a:r>
              <a:rPr lang="da-DK" sz="1300" b="1" dirty="0">
                <a:solidFill>
                  <a:srgbClr val="FFFFFF"/>
                </a:solidFill>
                <a:latin typeface="Verdana" panose="020B0604030504040204" pitchFamily="34" charset="0"/>
                <a:ea typeface="Verdana" panose="020B0604030504040204" pitchFamily="34" charset="0"/>
              </a:rPr>
              <a:t>Energy Efficiency initiatives</a:t>
            </a:r>
          </a:p>
          <a:p>
            <a:pPr>
              <a:buFont typeface="Wingdings 2" pitchFamily="18" charset="2"/>
              <a:buNone/>
            </a:pPr>
            <a:endParaRPr lang="en-GB" sz="1300" b="1" dirty="0">
              <a:solidFill>
                <a:prstClr val="white"/>
              </a:solidFill>
              <a:latin typeface="Verdana" panose="020B0604030504040204" pitchFamily="34" charset="0"/>
              <a:ea typeface="Verdana" panose="020B0604030504040204" pitchFamily="34" charset="0"/>
            </a:endParaRPr>
          </a:p>
        </p:txBody>
      </p:sp>
      <p:sp>
        <p:nvSpPr>
          <p:cNvPr id="123" name="Rectangle: Top Corners Rounded 122">
            <a:extLst>
              <a:ext uri="{FF2B5EF4-FFF2-40B4-BE49-F238E27FC236}">
                <a16:creationId xmlns:a16="http://schemas.microsoft.com/office/drawing/2014/main" id="{B9AEAC7F-6FFA-445E-BCF2-EBDC934F59BA}"/>
              </a:ext>
            </a:extLst>
          </p:cNvPr>
          <p:cNvSpPr/>
          <p:nvPr/>
        </p:nvSpPr>
        <p:spPr bwMode="gray">
          <a:xfrm>
            <a:off x="410635" y="3465544"/>
            <a:ext cx="4557422" cy="506752"/>
          </a:xfrm>
          <a:prstGeom prst="round2SameRect">
            <a:avLst>
              <a:gd name="adj1" fmla="val 0"/>
              <a:gd name="adj2" fmla="val 0"/>
            </a:avLst>
          </a:prstGeom>
          <a:solidFill>
            <a:schemeClr val="accent3"/>
          </a:solidFill>
          <a:ln w="19050" algn="ctr">
            <a:noFill/>
            <a:miter lim="800000"/>
            <a:headEnd/>
            <a:tailEnd/>
          </a:ln>
        </p:spPr>
        <p:txBody>
          <a:bodyPr wrap="square" lIns="45720" tIns="45720" rIns="182880" bIns="0" rtlCol="0" anchor="t" anchorCtr="0"/>
          <a:lstStyle/>
          <a:p>
            <a:pPr marL="228600" indent="-228600"/>
            <a:r>
              <a:rPr lang="da-DK" sz="1300" b="1" dirty="0">
                <a:solidFill>
                  <a:prstClr val="white"/>
                </a:solidFill>
                <a:latin typeface="Verdana" panose="020B0604030504040204" pitchFamily="34" charset="0"/>
                <a:ea typeface="Verdana" panose="020B0604030504040204" pitchFamily="34" charset="0"/>
              </a:rPr>
              <a:t>3. </a:t>
            </a:r>
            <a:r>
              <a:rPr lang="da-DK" sz="1300" b="1" dirty="0">
                <a:solidFill>
                  <a:srgbClr val="FFFFFF"/>
                </a:solidFill>
                <a:latin typeface="Verdana" panose="020B0604030504040204" pitchFamily="34" charset="0"/>
                <a:ea typeface="Verdana" panose="020B0604030504040204" pitchFamily="34" charset="0"/>
              </a:rPr>
              <a:t>Digital Enablement And Agile/Smart Operations</a:t>
            </a:r>
            <a:endParaRPr lang="en-US" sz="1300" b="1" dirty="0">
              <a:solidFill>
                <a:srgbClr val="FFFFFF"/>
              </a:solidFill>
              <a:latin typeface="Verdana" panose="020B0604030504040204" pitchFamily="34" charset="0"/>
              <a:ea typeface="Verdana" panose="020B0604030504040204" pitchFamily="34" charset="0"/>
            </a:endParaRPr>
          </a:p>
        </p:txBody>
      </p:sp>
      <p:sp>
        <p:nvSpPr>
          <p:cNvPr id="124" name="TextBox 123">
            <a:extLst>
              <a:ext uri="{FF2B5EF4-FFF2-40B4-BE49-F238E27FC236}">
                <a16:creationId xmlns:a16="http://schemas.microsoft.com/office/drawing/2014/main" id="{CC8727D1-530B-48E7-A594-916BB114F5D9}"/>
              </a:ext>
            </a:extLst>
          </p:cNvPr>
          <p:cNvSpPr txBox="1"/>
          <p:nvPr/>
        </p:nvSpPr>
        <p:spPr>
          <a:xfrm>
            <a:off x="410635" y="3910407"/>
            <a:ext cx="4578626" cy="2693045"/>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Digitalization through introduction of new</a:t>
            </a:r>
            <a:r>
              <a:rPr lang="en-US" sz="1300" dirty="0">
                <a:solidFill>
                  <a:prstClr val="black"/>
                </a:solidFill>
                <a:latin typeface="Verdana" panose="020B0604030504040204" pitchFamily="34" charset="0"/>
                <a:ea typeface="Verdana" panose="020B0604030504040204" pitchFamily="34" charset="0"/>
              </a:rPr>
              <a:t> technologies like </a:t>
            </a:r>
            <a:r>
              <a:rPr kumimoji="0" lang="en-US" sz="13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rPr>
              <a:t>IIoT</a:t>
            </a: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 Big Data, Analytics, AI, Digital Twins, Cloud and Mobility w.r.t generating assets</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Digitization of infrastructure and introduction of climate reliant networks w.r.t Transmission assets</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Facilitating implementation of Document management software, ERP, AMI, Robotics, AR, Predictive maintenance software(s) inter alia w.r.t distribution assets along with development of climate resilient distribution network</a:t>
            </a:r>
            <a:endPar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125" name="Rectangle: Top Corners Rounded 124">
            <a:extLst>
              <a:ext uri="{FF2B5EF4-FFF2-40B4-BE49-F238E27FC236}">
                <a16:creationId xmlns:a16="http://schemas.microsoft.com/office/drawing/2014/main" id="{319B48D5-ED31-45B6-A2D2-72069EEDE8DD}"/>
              </a:ext>
            </a:extLst>
          </p:cNvPr>
          <p:cNvSpPr/>
          <p:nvPr/>
        </p:nvSpPr>
        <p:spPr bwMode="gray">
          <a:xfrm>
            <a:off x="435721" y="787629"/>
            <a:ext cx="4578626" cy="580594"/>
          </a:xfrm>
          <a:prstGeom prst="round2SameRect">
            <a:avLst>
              <a:gd name="adj1" fmla="val 0"/>
              <a:gd name="adj2" fmla="val 0"/>
            </a:avLst>
          </a:prstGeom>
          <a:solidFill>
            <a:srgbClr val="86BC25"/>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1. Decarbonization and Sustainability</a:t>
            </a:r>
            <a:endParaRPr lang="en-GB" sz="1300" b="1" dirty="0">
              <a:solidFill>
                <a:prstClr val="white"/>
              </a:solidFill>
              <a:latin typeface="Verdana" panose="020B0604030504040204" pitchFamily="34" charset="0"/>
              <a:ea typeface="Verdana" panose="020B0604030504040204" pitchFamily="34" charset="0"/>
            </a:endParaRPr>
          </a:p>
        </p:txBody>
      </p:sp>
      <p:sp>
        <p:nvSpPr>
          <p:cNvPr id="126" name="Oval 125">
            <a:extLst>
              <a:ext uri="{FF2B5EF4-FFF2-40B4-BE49-F238E27FC236}">
                <a16:creationId xmlns:a16="http://schemas.microsoft.com/office/drawing/2014/main" id="{E9D75CC2-64CD-4DB2-962F-4780585F3A14}"/>
              </a:ext>
            </a:extLst>
          </p:cNvPr>
          <p:cNvSpPr/>
          <p:nvPr/>
        </p:nvSpPr>
        <p:spPr bwMode="gray">
          <a:xfrm>
            <a:off x="4379622" y="3561262"/>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prstClr val="white"/>
              </a:solidFill>
              <a:latin typeface="Verdana" panose="020B0604030504040204" pitchFamily="34" charset="0"/>
              <a:ea typeface="Verdana" panose="020B0604030504040204" pitchFamily="34" charset="0"/>
            </a:endParaRPr>
          </a:p>
        </p:txBody>
      </p:sp>
      <p:sp>
        <p:nvSpPr>
          <p:cNvPr id="130" name="TextBox 129">
            <a:extLst>
              <a:ext uri="{FF2B5EF4-FFF2-40B4-BE49-F238E27FC236}">
                <a16:creationId xmlns:a16="http://schemas.microsoft.com/office/drawing/2014/main" id="{ACED5E55-1BE1-4E2B-81C3-10C75BFBAE2C}"/>
              </a:ext>
            </a:extLst>
          </p:cNvPr>
          <p:cNvSpPr txBox="1"/>
          <p:nvPr/>
        </p:nvSpPr>
        <p:spPr>
          <a:xfrm>
            <a:off x="7119259" y="1137728"/>
            <a:ext cx="4522780" cy="1646605"/>
          </a:xfrm>
          <a:prstGeom prst="roundRect">
            <a:avLst>
              <a:gd name="adj" fmla="val 0"/>
            </a:avLst>
          </a:prstGeom>
          <a:solidFill>
            <a:schemeClr val="bg1">
              <a:lumMod val="95000"/>
            </a:schemeClr>
          </a:solidFill>
        </p:spPr>
        <p:txBody>
          <a:bodyPr wrap="square" lIns="45720" tIns="45720" rIns="756000" bIns="0" rtlCol="0">
            <a:spAutoFit/>
          </a:bodyPr>
          <a:lstStyle/>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Optimum Demand Side Management (DSM)</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Implementing customized energy efficiency measures by understanding consumer consumption / </a:t>
            </a:r>
            <a:r>
              <a:rPr lang="en-US" sz="1300" dirty="0" err="1">
                <a:solidFill>
                  <a:prstClr val="black"/>
                </a:solidFill>
                <a:latin typeface="Verdana" panose="020B0604030504040204" pitchFamily="34" charset="0"/>
                <a:ea typeface="Verdana" panose="020B0604030504040204" pitchFamily="34" charset="0"/>
              </a:rPr>
              <a:t>behavioural</a:t>
            </a:r>
            <a:r>
              <a:rPr lang="en-US" sz="1300" dirty="0">
                <a:solidFill>
                  <a:prstClr val="black"/>
                </a:solidFill>
                <a:latin typeface="Verdana" panose="020B0604030504040204" pitchFamily="34" charset="0"/>
                <a:ea typeface="Verdana" panose="020B0604030504040204" pitchFamily="34" charset="0"/>
              </a:rPr>
              <a:t> patterns inter alia through introduction of digital smart meters with web-based monitoring system across the state</a:t>
            </a:r>
          </a:p>
        </p:txBody>
      </p:sp>
      <p:grpSp>
        <p:nvGrpSpPr>
          <p:cNvPr id="131" name="Group 130">
            <a:extLst>
              <a:ext uri="{FF2B5EF4-FFF2-40B4-BE49-F238E27FC236}">
                <a16:creationId xmlns:a16="http://schemas.microsoft.com/office/drawing/2014/main" id="{CEEBC158-D1C0-4563-AF11-352143DDC964}"/>
              </a:ext>
            </a:extLst>
          </p:cNvPr>
          <p:cNvGrpSpPr/>
          <p:nvPr/>
        </p:nvGrpSpPr>
        <p:grpSpPr>
          <a:xfrm rot="15701675">
            <a:off x="6697125" y="2648197"/>
            <a:ext cx="369756" cy="1650283"/>
            <a:chOff x="7491780" y="2505965"/>
            <a:chExt cx="394324" cy="2053345"/>
          </a:xfrm>
          <a:solidFill>
            <a:schemeClr val="accent3"/>
          </a:solidFill>
        </p:grpSpPr>
        <p:sp>
          <p:nvSpPr>
            <p:cNvPr id="132" name="Rectangle: Top Corners Rounded 131">
              <a:extLst>
                <a:ext uri="{FF2B5EF4-FFF2-40B4-BE49-F238E27FC236}">
                  <a16:creationId xmlns:a16="http://schemas.microsoft.com/office/drawing/2014/main" id="{2AF1F427-B908-45B5-89D5-807C4DE58235}"/>
                </a:ext>
              </a:extLst>
            </p:cNvPr>
            <p:cNvSpPr/>
            <p:nvPr/>
          </p:nvSpPr>
          <p:spPr bwMode="gray">
            <a:xfrm>
              <a:off x="7583714" y="2786743"/>
              <a:ext cx="210457" cy="340632"/>
            </a:xfrm>
            <a:prstGeom prst="round2SameRect">
              <a:avLst>
                <a:gd name="adj1" fmla="val 34771"/>
                <a:gd name="adj2" fmla="val 0"/>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3" name="Rectangle 132">
              <a:extLst>
                <a:ext uri="{FF2B5EF4-FFF2-40B4-BE49-F238E27FC236}">
                  <a16:creationId xmlns:a16="http://schemas.microsoft.com/office/drawing/2014/main" id="{E5CF8470-B250-489A-913E-B580D8E14C49}"/>
                </a:ext>
              </a:extLst>
            </p:cNvPr>
            <p:cNvSpPr/>
            <p:nvPr/>
          </p:nvSpPr>
          <p:spPr bwMode="gray">
            <a:xfrm>
              <a:off x="7646524" y="3127375"/>
              <a:ext cx="84835" cy="1362075"/>
            </a:xfrm>
            <a:prstGeom prst="rect">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4" name="Rectangle 133">
              <a:extLst>
                <a:ext uri="{FF2B5EF4-FFF2-40B4-BE49-F238E27FC236}">
                  <a16:creationId xmlns:a16="http://schemas.microsoft.com/office/drawing/2014/main" id="{2415B468-8A29-40C9-91B5-F0AA96A8447C}"/>
                </a:ext>
              </a:extLst>
            </p:cNvPr>
            <p:cNvSpPr/>
            <p:nvPr/>
          </p:nvSpPr>
          <p:spPr bwMode="gray">
            <a:xfrm>
              <a:off x="7653885" y="2686050"/>
              <a:ext cx="70112" cy="100693"/>
            </a:xfrm>
            <a:prstGeom prst="rect">
              <a:avLst/>
            </a:prstGeom>
            <a:solidFill>
              <a:srgbClr val="009A44"/>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5" name="Parallelogram 134">
              <a:extLst>
                <a:ext uri="{FF2B5EF4-FFF2-40B4-BE49-F238E27FC236}">
                  <a16:creationId xmlns:a16="http://schemas.microsoft.com/office/drawing/2014/main" id="{C8A60887-8F1A-40A9-ADDB-A53F8EA11F50}"/>
                </a:ext>
              </a:extLst>
            </p:cNvPr>
            <p:cNvSpPr/>
            <p:nvPr/>
          </p:nvSpPr>
          <p:spPr bwMode="gray">
            <a:xfrm rot="5400000">
              <a:off x="7594814" y="4267274"/>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6" name="Parallelogram 135">
              <a:extLst>
                <a:ext uri="{FF2B5EF4-FFF2-40B4-BE49-F238E27FC236}">
                  <a16:creationId xmlns:a16="http://schemas.microsoft.com/office/drawing/2014/main" id="{3141F105-AAFF-44F6-9745-ADD9A5847F8D}"/>
                </a:ext>
              </a:extLst>
            </p:cNvPr>
            <p:cNvSpPr/>
            <p:nvPr/>
          </p:nvSpPr>
          <p:spPr bwMode="gray">
            <a:xfrm rot="16200000" flipH="1">
              <a:off x="7356626" y="4268021"/>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7" name="Arrow: Pentagon 136">
              <a:extLst>
                <a:ext uri="{FF2B5EF4-FFF2-40B4-BE49-F238E27FC236}">
                  <a16:creationId xmlns:a16="http://schemas.microsoft.com/office/drawing/2014/main" id="{39ECE341-AB2F-4D91-A356-436A63D3350A}"/>
                </a:ext>
              </a:extLst>
            </p:cNvPr>
            <p:cNvSpPr/>
            <p:nvPr/>
          </p:nvSpPr>
          <p:spPr bwMode="gray">
            <a:xfrm rot="16200000">
              <a:off x="7598898" y="2573148"/>
              <a:ext cx="180085" cy="45719"/>
            </a:xfrm>
            <a:prstGeom prst="homePlate">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sp>
        <p:nvSpPr>
          <p:cNvPr id="39" name="Oval 38">
            <a:extLst>
              <a:ext uri="{FF2B5EF4-FFF2-40B4-BE49-F238E27FC236}">
                <a16:creationId xmlns:a16="http://schemas.microsoft.com/office/drawing/2014/main" id="{A3876A79-65B8-46FA-A25D-CD5F36DCC867}"/>
              </a:ext>
            </a:extLst>
          </p:cNvPr>
          <p:cNvSpPr/>
          <p:nvPr/>
        </p:nvSpPr>
        <p:spPr bwMode="gray">
          <a:xfrm>
            <a:off x="4442304" y="814277"/>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prstClr val="white"/>
              </a:solidFill>
            </a:endParaRPr>
          </a:p>
        </p:txBody>
      </p:sp>
      <p:pic>
        <p:nvPicPr>
          <p:cNvPr id="5" name="Graphic 4" descr="Solar Panels with solid fill">
            <a:extLst>
              <a:ext uri="{FF2B5EF4-FFF2-40B4-BE49-F238E27FC236}">
                <a16:creationId xmlns:a16="http://schemas.microsoft.com/office/drawing/2014/main" id="{82F2703E-51AA-43AC-B035-FE12C454B02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62074" y="857554"/>
            <a:ext cx="402267" cy="402267"/>
          </a:xfrm>
          <a:prstGeom prst="rect">
            <a:avLst/>
          </a:prstGeom>
        </p:spPr>
      </p:pic>
      <p:sp>
        <p:nvSpPr>
          <p:cNvPr id="42" name="Oval 41">
            <a:extLst>
              <a:ext uri="{FF2B5EF4-FFF2-40B4-BE49-F238E27FC236}">
                <a16:creationId xmlns:a16="http://schemas.microsoft.com/office/drawing/2014/main" id="{5DF1D87A-BBF7-4BEC-9155-A8C2A81AF5FD}"/>
              </a:ext>
            </a:extLst>
          </p:cNvPr>
          <p:cNvSpPr/>
          <p:nvPr/>
        </p:nvSpPr>
        <p:spPr bwMode="gray">
          <a:xfrm>
            <a:off x="11126021" y="804405"/>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prstClr val="white"/>
              </a:solidFill>
              <a:latin typeface="Verdana" panose="020B0604030504040204" pitchFamily="34" charset="0"/>
              <a:ea typeface="Verdana" panose="020B0604030504040204" pitchFamily="34" charset="0"/>
            </a:endParaRPr>
          </a:p>
        </p:txBody>
      </p:sp>
      <p:sp>
        <p:nvSpPr>
          <p:cNvPr id="13" name="Rectangle 12">
            <a:extLst>
              <a:ext uri="{FF2B5EF4-FFF2-40B4-BE49-F238E27FC236}">
                <a16:creationId xmlns:a16="http://schemas.microsoft.com/office/drawing/2014/main" id="{F23000E4-2F8C-4284-91BB-5B640648B18D}"/>
              </a:ext>
            </a:extLst>
          </p:cNvPr>
          <p:cNvSpPr/>
          <p:nvPr/>
        </p:nvSpPr>
        <p:spPr bwMode="gray">
          <a:xfrm>
            <a:off x="4485581" y="1480451"/>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#1</a:t>
            </a:r>
          </a:p>
        </p:txBody>
      </p:sp>
      <p:sp>
        <p:nvSpPr>
          <p:cNvPr id="58" name="Rectangle 57">
            <a:extLst>
              <a:ext uri="{FF2B5EF4-FFF2-40B4-BE49-F238E27FC236}">
                <a16:creationId xmlns:a16="http://schemas.microsoft.com/office/drawing/2014/main" id="{212016C3-96E8-4142-BD0C-0D324B6206DD}"/>
              </a:ext>
            </a:extLst>
          </p:cNvPr>
          <p:cNvSpPr/>
          <p:nvPr/>
        </p:nvSpPr>
        <p:spPr bwMode="gray">
          <a:xfrm>
            <a:off x="4422898" y="4272207"/>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#3</a:t>
            </a:r>
          </a:p>
        </p:txBody>
      </p:sp>
      <p:sp>
        <p:nvSpPr>
          <p:cNvPr id="59" name="Rectangle 58">
            <a:extLst>
              <a:ext uri="{FF2B5EF4-FFF2-40B4-BE49-F238E27FC236}">
                <a16:creationId xmlns:a16="http://schemas.microsoft.com/office/drawing/2014/main" id="{43323BE9-CFE3-4648-8A6A-35A964E68C1B}"/>
              </a:ext>
            </a:extLst>
          </p:cNvPr>
          <p:cNvSpPr/>
          <p:nvPr/>
        </p:nvSpPr>
        <p:spPr bwMode="gray">
          <a:xfrm>
            <a:off x="11153839" y="1232976"/>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#2</a:t>
            </a:r>
          </a:p>
        </p:txBody>
      </p:sp>
      <p:sp>
        <p:nvSpPr>
          <p:cNvPr id="48" name="Rectangle: Top Corners Rounded 47">
            <a:extLst>
              <a:ext uri="{FF2B5EF4-FFF2-40B4-BE49-F238E27FC236}">
                <a16:creationId xmlns:a16="http://schemas.microsoft.com/office/drawing/2014/main" id="{78600583-B2AF-4BC9-87E5-B5EB57553FAC}"/>
              </a:ext>
            </a:extLst>
          </p:cNvPr>
          <p:cNvSpPr/>
          <p:nvPr/>
        </p:nvSpPr>
        <p:spPr bwMode="gray">
          <a:xfrm>
            <a:off x="7172611" y="3609459"/>
            <a:ext cx="4557422" cy="580594"/>
          </a:xfrm>
          <a:prstGeom prst="round2SameRect">
            <a:avLst>
              <a:gd name="adj1" fmla="val 0"/>
              <a:gd name="adj2" fmla="val 0"/>
            </a:avLst>
          </a:prstGeom>
          <a:solidFill>
            <a:schemeClr val="tx1">
              <a:lumMod val="65000"/>
              <a:lumOff val="35000"/>
            </a:schemeClr>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4. Energy Transition</a:t>
            </a:r>
          </a:p>
        </p:txBody>
      </p:sp>
      <p:sp>
        <p:nvSpPr>
          <p:cNvPr id="49" name="TextBox 48">
            <a:extLst>
              <a:ext uri="{FF2B5EF4-FFF2-40B4-BE49-F238E27FC236}">
                <a16:creationId xmlns:a16="http://schemas.microsoft.com/office/drawing/2014/main" id="{EFAA1905-72D0-47C6-B845-630149523454}"/>
              </a:ext>
            </a:extLst>
          </p:cNvPr>
          <p:cNvSpPr txBox="1"/>
          <p:nvPr/>
        </p:nvSpPr>
        <p:spPr>
          <a:xfrm>
            <a:off x="7166228" y="3953171"/>
            <a:ext cx="4578626" cy="1492716"/>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Just Transition of Old Thermal Generation Assets</a:t>
            </a:r>
          </a:p>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Transition from hydrocarbon dependence toward greater reliance on cleaner energy sources</a:t>
            </a:r>
          </a:p>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Diversification into EV charging infrastructure sector</a:t>
            </a:r>
          </a:p>
        </p:txBody>
      </p:sp>
      <p:sp>
        <p:nvSpPr>
          <p:cNvPr id="50" name="Rectangle 49">
            <a:extLst>
              <a:ext uri="{FF2B5EF4-FFF2-40B4-BE49-F238E27FC236}">
                <a16:creationId xmlns:a16="http://schemas.microsoft.com/office/drawing/2014/main" id="{4B635472-8F57-4C4F-AD95-D9EB7FE226DE}"/>
              </a:ext>
            </a:extLst>
          </p:cNvPr>
          <p:cNvSpPr/>
          <p:nvPr/>
        </p:nvSpPr>
        <p:spPr bwMode="gray">
          <a:xfrm>
            <a:off x="11103237" y="4042595"/>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#4</a:t>
            </a:r>
          </a:p>
        </p:txBody>
      </p:sp>
      <p:sp>
        <p:nvSpPr>
          <p:cNvPr id="51" name="Oval 50">
            <a:extLst>
              <a:ext uri="{FF2B5EF4-FFF2-40B4-BE49-F238E27FC236}">
                <a16:creationId xmlns:a16="http://schemas.microsoft.com/office/drawing/2014/main" id="{4FFB5048-84C8-468A-8279-C2226D6374B2}"/>
              </a:ext>
            </a:extLst>
          </p:cNvPr>
          <p:cNvSpPr/>
          <p:nvPr/>
        </p:nvSpPr>
        <p:spPr bwMode="gray">
          <a:xfrm>
            <a:off x="11112094" y="3637941"/>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prstClr val="white"/>
              </a:solidFill>
              <a:latin typeface="Verdana" panose="020B0604030504040204" pitchFamily="34" charset="0"/>
              <a:ea typeface="Verdana" panose="020B0604030504040204" pitchFamily="34" charset="0"/>
            </a:endParaRPr>
          </a:p>
        </p:txBody>
      </p:sp>
      <p:pic>
        <p:nvPicPr>
          <p:cNvPr id="41" name="Graphic 40" descr="Plug with solid fill">
            <a:extLst>
              <a:ext uri="{FF2B5EF4-FFF2-40B4-BE49-F238E27FC236}">
                <a16:creationId xmlns:a16="http://schemas.microsoft.com/office/drawing/2014/main" id="{273A1D37-9E2F-43A7-A452-816C42C65E7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18360" y="3649032"/>
            <a:ext cx="411910" cy="411910"/>
          </a:xfrm>
          <a:prstGeom prst="rect">
            <a:avLst/>
          </a:prstGeom>
        </p:spPr>
      </p:pic>
      <p:pic>
        <p:nvPicPr>
          <p:cNvPr id="43" name="Graphic 42" descr="Piggy Bank with solid fill">
            <a:extLst>
              <a:ext uri="{FF2B5EF4-FFF2-40B4-BE49-F238E27FC236}">
                <a16:creationId xmlns:a16="http://schemas.microsoft.com/office/drawing/2014/main" id="{0824F98D-14E8-4E3E-81FF-A9BFF5743C6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70427" y="793584"/>
            <a:ext cx="400009" cy="400009"/>
          </a:xfrm>
          <a:prstGeom prst="rect">
            <a:avLst/>
          </a:prstGeom>
        </p:spPr>
      </p:pic>
      <p:pic>
        <p:nvPicPr>
          <p:cNvPr id="44" name="Graphic 43" descr="Mining tools with solid fill">
            <a:extLst>
              <a:ext uri="{FF2B5EF4-FFF2-40B4-BE49-F238E27FC236}">
                <a16:creationId xmlns:a16="http://schemas.microsoft.com/office/drawing/2014/main" id="{AF4CED61-456E-4FB9-8D59-6967999D76F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169298" y="3694253"/>
            <a:ext cx="371348" cy="371348"/>
          </a:xfrm>
          <a:prstGeom prst="rect">
            <a:avLst/>
          </a:prstGeom>
        </p:spPr>
      </p:pic>
    </p:spTree>
    <p:extLst>
      <p:ext uri="{BB962C8B-B14F-4D97-AF65-F5344CB8AC3E}">
        <p14:creationId xmlns:p14="http://schemas.microsoft.com/office/powerpoint/2010/main" val="190984933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2068" y="1858"/>
          <a:ext cx="1588" cy="1588"/>
        </p:xfrm>
        <a:graphic>
          <a:graphicData uri="http://schemas.openxmlformats.org/presentationml/2006/ole">
            <mc:AlternateContent xmlns:mc="http://schemas.openxmlformats.org/markup-compatibility/2006">
              <mc:Choice xmlns:v="urn:schemas-microsoft-com:vml" Requires="v">
                <p:oleObj spid="_x0000_s24588"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2068" y="185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2093" y="241556"/>
            <a:ext cx="11187820" cy="368271"/>
          </a:xfrm>
        </p:spPr>
        <p:txBody>
          <a:bodyPr vert="horz"/>
          <a:lstStyle/>
          <a:p>
            <a:pPr algn="just"/>
            <a:r>
              <a:rPr lang="en-US" sz="1800" b="1" dirty="0">
                <a:latin typeface="Verdana" panose="020B0604030504040204" pitchFamily="34" charset="0"/>
                <a:ea typeface="Verdana" panose="020B0604030504040204" pitchFamily="34" charset="0"/>
                <a:cs typeface="+mj-cs"/>
              </a:rPr>
              <a:t>WBDOP – Goals and strategic initiatives (2/2)</a:t>
            </a:r>
          </a:p>
        </p:txBody>
      </p:sp>
      <p:sp>
        <p:nvSpPr>
          <p:cNvPr id="8" name="Rectangle 7">
            <a:extLst>
              <a:ext uri="{FF2B5EF4-FFF2-40B4-BE49-F238E27FC236}">
                <a16:creationId xmlns:a16="http://schemas.microsoft.com/office/drawing/2014/main" id="{C3F4733B-CFE8-4AA6-8AF9-F2C85FBF2FA5}"/>
              </a:ext>
            </a:extLst>
          </p:cNvPr>
          <p:cNvSpPr/>
          <p:nvPr/>
        </p:nvSpPr>
        <p:spPr bwMode="gray">
          <a:xfrm>
            <a:off x="1012371" y="1234210"/>
            <a:ext cx="9503229" cy="1559386"/>
          </a:xfrm>
          <a:prstGeom prst="rect">
            <a:avLst/>
          </a:prstGeom>
          <a:solidFill>
            <a:schemeClr val="bg1">
              <a:lumMod val="95000"/>
            </a:schemeClr>
          </a:solidFill>
          <a:ln w="19050" algn="ctr">
            <a:noFill/>
            <a:miter lim="800000"/>
            <a:headEnd/>
            <a:tailEnd/>
          </a:ln>
        </p:spPr>
        <p:txBody>
          <a:bodyPr wrap="square" lIns="88900" tIns="88900" rIns="822960" bIns="88900" rtlCol="0" anchor="t"/>
          <a:lstStyle/>
          <a:p>
            <a:pPr marL="285750" indent="-285750">
              <a:lnSpc>
                <a:spcPct val="106000"/>
              </a:lnSpc>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Deployment of alternate Industrial tariff preferential models</a:t>
            </a:r>
            <a:endParaRPr lang="en-US" sz="1300" dirty="0">
              <a:latin typeface="Verdana" panose="020B0604030504040204" pitchFamily="34" charset="0"/>
              <a:ea typeface="Verdana" panose="020B0604030504040204" pitchFamily="34" charset="0"/>
            </a:endParaRPr>
          </a:p>
          <a:p>
            <a:pPr marL="285750" indent="-285750">
              <a:lnSpc>
                <a:spcPct val="106000"/>
              </a:lnSpc>
              <a:buFont typeface="Arial" panose="020B0604020202020204" pitchFamily="34" charset="0"/>
              <a:buChar char="•"/>
            </a:pPr>
            <a:r>
              <a:rPr lang="en-US" sz="1300" dirty="0">
                <a:latin typeface="Verdana" panose="020B0604030504040204" pitchFamily="34" charset="0"/>
                <a:ea typeface="Verdana" panose="020B0604030504040204" pitchFamily="34" charset="0"/>
              </a:rPr>
              <a:t>Facilitation to implement improved CRM Models through WBSEDCL to ensure seamless customer servicing via IT/ IOT</a:t>
            </a:r>
            <a:endParaRPr lang="en-US" sz="1600" dirty="0">
              <a:latin typeface="Verdana" panose="020B0604030504040204" pitchFamily="34" charset="0"/>
              <a:ea typeface="Verdana" panose="020B0604030504040204" pitchFamily="34" charset="0"/>
            </a:endParaRPr>
          </a:p>
          <a:p>
            <a:pPr marL="285750" indent="-285750">
              <a:lnSpc>
                <a:spcPct val="106000"/>
              </a:lnSpc>
              <a:buFont typeface="Arial" panose="020B0604020202020204" pitchFamily="34" charset="0"/>
              <a:buChar char="•"/>
            </a:pPr>
            <a:r>
              <a:rPr lang="en-US" sz="1300" dirty="0">
                <a:latin typeface="Verdana" panose="020B0604030504040204" pitchFamily="34" charset="0"/>
                <a:ea typeface="Verdana" panose="020B0604030504040204" pitchFamily="34" charset="0"/>
              </a:rPr>
              <a:t>Facilitating adoption of other initiatives like on Demand Access to data, Energy Consumption tracking, Customer sentiment analysis</a:t>
            </a:r>
            <a:endParaRPr lang="en-US" sz="1600" dirty="0">
              <a:latin typeface="Verdana" panose="020B0604030504040204" pitchFamily="34" charset="0"/>
              <a:ea typeface="Verdana" panose="020B0604030504040204" pitchFamily="34" charset="0"/>
            </a:endParaRPr>
          </a:p>
          <a:p>
            <a:pPr marL="285750" indent="-285750">
              <a:lnSpc>
                <a:spcPct val="106000"/>
              </a:lnSpc>
              <a:buFont typeface="Arial" panose="020B0604020202020204" pitchFamily="34" charset="0"/>
              <a:buChar char="•"/>
            </a:pPr>
            <a:r>
              <a:rPr lang="en-US" sz="1300" dirty="0">
                <a:latin typeface="Verdana" panose="020B0604030504040204" pitchFamily="34" charset="0"/>
                <a:ea typeface="Verdana" panose="020B0604030504040204" pitchFamily="34" charset="0"/>
              </a:rPr>
              <a:t>Introduction of customer empowerment initiatives for facilitation of Rooftop solar implementation</a:t>
            </a:r>
          </a:p>
        </p:txBody>
      </p:sp>
      <p:grpSp>
        <p:nvGrpSpPr>
          <p:cNvPr id="9" name="Group 8">
            <a:extLst>
              <a:ext uri="{FF2B5EF4-FFF2-40B4-BE49-F238E27FC236}">
                <a16:creationId xmlns:a16="http://schemas.microsoft.com/office/drawing/2014/main" id="{D5913F18-54DE-4C0A-BDA8-091A99DEC078}"/>
              </a:ext>
            </a:extLst>
          </p:cNvPr>
          <p:cNvGrpSpPr/>
          <p:nvPr/>
        </p:nvGrpSpPr>
        <p:grpSpPr>
          <a:xfrm>
            <a:off x="5043715" y="2553810"/>
            <a:ext cx="2075544" cy="4161729"/>
            <a:chOff x="5043715" y="2553810"/>
            <a:chExt cx="2075544" cy="4161729"/>
          </a:xfrm>
          <a:solidFill>
            <a:srgbClr val="000000"/>
          </a:solidFill>
        </p:grpSpPr>
        <p:sp>
          <p:nvSpPr>
            <p:cNvPr id="10" name="Oval 9">
              <a:extLst>
                <a:ext uri="{FF2B5EF4-FFF2-40B4-BE49-F238E27FC236}">
                  <a16:creationId xmlns:a16="http://schemas.microsoft.com/office/drawing/2014/main" id="{E776220D-781E-451F-A05B-48655725CBAF}"/>
                </a:ext>
              </a:extLst>
            </p:cNvPr>
            <p:cNvSpPr/>
            <p:nvPr/>
          </p:nvSpPr>
          <p:spPr bwMode="gray">
            <a:xfrm>
              <a:off x="5043715" y="2553810"/>
              <a:ext cx="2075544" cy="2075544"/>
            </a:xfrm>
            <a:prstGeom prst="ellipse">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2" name="Rectangle 11">
              <a:extLst>
                <a:ext uri="{FF2B5EF4-FFF2-40B4-BE49-F238E27FC236}">
                  <a16:creationId xmlns:a16="http://schemas.microsoft.com/office/drawing/2014/main" id="{A2EDCC53-FC40-4DA8-853E-B364EB6E91AA}"/>
                </a:ext>
              </a:extLst>
            </p:cNvPr>
            <p:cNvSpPr/>
            <p:nvPr/>
          </p:nvSpPr>
          <p:spPr bwMode="gray">
            <a:xfrm>
              <a:off x="6040866" y="4629050"/>
              <a:ext cx="105935" cy="2012950"/>
            </a:xfrm>
            <a:prstGeom prst="rect">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 name="Rectangle: Top Corners Rounded 12">
              <a:extLst>
                <a:ext uri="{FF2B5EF4-FFF2-40B4-BE49-F238E27FC236}">
                  <a16:creationId xmlns:a16="http://schemas.microsoft.com/office/drawing/2014/main" id="{ED2FF0C8-E432-442A-AF28-F8C4DB0B83B8}"/>
                </a:ext>
              </a:extLst>
            </p:cNvPr>
            <p:cNvSpPr/>
            <p:nvPr/>
          </p:nvSpPr>
          <p:spPr bwMode="gray">
            <a:xfrm>
              <a:off x="5568696" y="6572149"/>
              <a:ext cx="1025582" cy="143390"/>
            </a:xfrm>
            <a:prstGeom prst="round2SameRect">
              <a:avLst>
                <a:gd name="adj1" fmla="val 50000"/>
                <a:gd name="adj2" fmla="val 0"/>
              </a:avLst>
            </a:prstGeom>
            <a:grp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sz="1600" b="1">
                <a:solidFill>
                  <a:schemeClr val="bg1"/>
                </a:solidFill>
              </a:endParaRPr>
            </a:p>
          </p:txBody>
        </p:sp>
      </p:grpSp>
      <p:grpSp>
        <p:nvGrpSpPr>
          <p:cNvPr id="14" name="Group 13">
            <a:extLst>
              <a:ext uri="{FF2B5EF4-FFF2-40B4-BE49-F238E27FC236}">
                <a16:creationId xmlns:a16="http://schemas.microsoft.com/office/drawing/2014/main" id="{40846535-F1B3-4952-B59C-99AD7674324F}"/>
              </a:ext>
            </a:extLst>
          </p:cNvPr>
          <p:cNvGrpSpPr/>
          <p:nvPr/>
        </p:nvGrpSpPr>
        <p:grpSpPr>
          <a:xfrm>
            <a:off x="5301794" y="2811889"/>
            <a:ext cx="1559386" cy="1559386"/>
            <a:chOff x="5301794" y="2811889"/>
            <a:chExt cx="1559386" cy="1559386"/>
          </a:xfrm>
        </p:grpSpPr>
        <p:sp>
          <p:nvSpPr>
            <p:cNvPr id="15" name="Oval 14">
              <a:extLst>
                <a:ext uri="{FF2B5EF4-FFF2-40B4-BE49-F238E27FC236}">
                  <a16:creationId xmlns:a16="http://schemas.microsoft.com/office/drawing/2014/main" id="{0059D3E9-0C5C-49BF-9CAC-E25EEBD75045}"/>
                </a:ext>
              </a:extLst>
            </p:cNvPr>
            <p:cNvSpPr/>
            <p:nvPr/>
          </p:nvSpPr>
          <p:spPr bwMode="gray">
            <a:xfrm>
              <a:off x="5301794" y="2811889"/>
              <a:ext cx="1559386" cy="1559386"/>
            </a:xfrm>
            <a:prstGeom prst="ellipse">
              <a:avLst/>
            </a:prstGeom>
            <a:solidFill>
              <a:srgbClr val="53565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6" name="Oval 15">
              <a:extLst>
                <a:ext uri="{FF2B5EF4-FFF2-40B4-BE49-F238E27FC236}">
                  <a16:creationId xmlns:a16="http://schemas.microsoft.com/office/drawing/2014/main" id="{FA618925-53B1-4F9A-96DE-E5D6784476E2}"/>
                </a:ext>
              </a:extLst>
            </p:cNvPr>
            <p:cNvSpPr/>
            <p:nvPr/>
          </p:nvSpPr>
          <p:spPr bwMode="gray">
            <a:xfrm>
              <a:off x="5597359" y="3107454"/>
              <a:ext cx="968256" cy="968256"/>
            </a:xfrm>
            <a:prstGeom prst="ellipse">
              <a:avLst/>
            </a:prstGeom>
            <a:solidFill>
              <a:srgbClr val="63666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7" name="Oval 16">
              <a:extLst>
                <a:ext uri="{FF2B5EF4-FFF2-40B4-BE49-F238E27FC236}">
                  <a16:creationId xmlns:a16="http://schemas.microsoft.com/office/drawing/2014/main" id="{2755217B-33AF-4341-B2ED-80CF4A8CA436}"/>
                </a:ext>
              </a:extLst>
            </p:cNvPr>
            <p:cNvSpPr/>
            <p:nvPr/>
          </p:nvSpPr>
          <p:spPr bwMode="gray">
            <a:xfrm>
              <a:off x="5833053" y="3343148"/>
              <a:ext cx="496868" cy="496868"/>
            </a:xfrm>
            <a:prstGeom prst="ellipse">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8" name="Oval 17">
              <a:extLst>
                <a:ext uri="{FF2B5EF4-FFF2-40B4-BE49-F238E27FC236}">
                  <a16:creationId xmlns:a16="http://schemas.microsoft.com/office/drawing/2014/main" id="{CCFDABB3-8161-413F-9D8E-F5DE1C996504}"/>
                </a:ext>
              </a:extLst>
            </p:cNvPr>
            <p:cNvSpPr/>
            <p:nvPr/>
          </p:nvSpPr>
          <p:spPr bwMode="gray">
            <a:xfrm>
              <a:off x="6038809" y="3550961"/>
              <a:ext cx="81242" cy="81242"/>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sp>
        <p:nvSpPr>
          <p:cNvPr id="22" name="Rectangle: Top Corners Rounded 21">
            <a:extLst>
              <a:ext uri="{FF2B5EF4-FFF2-40B4-BE49-F238E27FC236}">
                <a16:creationId xmlns:a16="http://schemas.microsoft.com/office/drawing/2014/main" id="{45253E54-33D6-43B0-B409-338FD55314F6}"/>
              </a:ext>
            </a:extLst>
          </p:cNvPr>
          <p:cNvSpPr/>
          <p:nvPr/>
        </p:nvSpPr>
        <p:spPr bwMode="gray">
          <a:xfrm>
            <a:off x="1012372" y="804748"/>
            <a:ext cx="9503228" cy="418726"/>
          </a:xfrm>
          <a:prstGeom prst="round2SameRect">
            <a:avLst>
              <a:gd name="adj1" fmla="val 0"/>
              <a:gd name="adj2" fmla="val 0"/>
            </a:avLst>
          </a:prstGeom>
          <a:solidFill>
            <a:srgbClr val="86BC25"/>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5. Consumer Centric Initiatives</a:t>
            </a:r>
            <a:endParaRPr lang="en-GB" sz="1300" b="1" dirty="0">
              <a:solidFill>
                <a:prstClr val="white"/>
              </a:solidFill>
              <a:latin typeface="Verdana" panose="020B0604030504040204" pitchFamily="34" charset="0"/>
              <a:ea typeface="Verdana" panose="020B0604030504040204" pitchFamily="34" charset="0"/>
            </a:endParaRPr>
          </a:p>
        </p:txBody>
      </p:sp>
      <p:sp>
        <p:nvSpPr>
          <p:cNvPr id="32" name="Oval 31">
            <a:extLst>
              <a:ext uri="{FF2B5EF4-FFF2-40B4-BE49-F238E27FC236}">
                <a16:creationId xmlns:a16="http://schemas.microsoft.com/office/drawing/2014/main" id="{EF5C6693-50FA-4E7A-9DC2-E51D530C9785}"/>
              </a:ext>
            </a:extLst>
          </p:cNvPr>
          <p:cNvSpPr/>
          <p:nvPr/>
        </p:nvSpPr>
        <p:spPr bwMode="gray">
          <a:xfrm>
            <a:off x="9886267" y="833092"/>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prstClr val="white"/>
              </a:solidFill>
            </a:endParaRPr>
          </a:p>
        </p:txBody>
      </p:sp>
      <p:sp>
        <p:nvSpPr>
          <p:cNvPr id="40" name="TextBox 39">
            <a:extLst>
              <a:ext uri="{FF2B5EF4-FFF2-40B4-BE49-F238E27FC236}">
                <a16:creationId xmlns:a16="http://schemas.microsoft.com/office/drawing/2014/main" id="{EF723830-A384-4ADF-B2DF-6BA81D995D32}"/>
              </a:ext>
            </a:extLst>
          </p:cNvPr>
          <p:cNvSpPr txBox="1"/>
          <p:nvPr/>
        </p:nvSpPr>
        <p:spPr>
          <a:xfrm>
            <a:off x="9066593" y="6503500"/>
            <a:ext cx="2476469" cy="184666"/>
          </a:xfrm>
          <a:prstGeom prst="rect">
            <a:avLst/>
          </a:prstGeom>
          <a:noFill/>
          <a:ln>
            <a:noFill/>
            <a:prstDash val="lgDash"/>
          </a:ln>
        </p:spPr>
        <p:txBody>
          <a:bodyPr wrap="square" lIns="0" tIns="0" rIns="0" bIns="0" rtlCol="0">
            <a:spAutoFit/>
          </a:bodyPr>
          <a:lstStyle/>
          <a:p>
            <a:pPr algn="ctr">
              <a:spcBef>
                <a:spcPts val="600"/>
              </a:spcBef>
              <a:buSzPct val="100000"/>
            </a:pPr>
            <a:r>
              <a:rPr lang="en-US" sz="1200" b="1" i="1" dirty="0">
                <a:latin typeface="Verdana" panose="020B0604030504040204" pitchFamily="34" charset="0"/>
                <a:ea typeface="Verdana" panose="020B0604030504040204" pitchFamily="34" charset="0"/>
                <a:hlinkClick r:id="rId7" action="ppaction://hlinksldjump"/>
              </a:rPr>
              <a:t>Return to Main Slide</a:t>
            </a:r>
            <a:endParaRPr lang="en-US" sz="1200" b="1" i="1" dirty="0">
              <a:latin typeface="Verdana" panose="020B0604030504040204" pitchFamily="34" charset="0"/>
              <a:ea typeface="Verdana" panose="020B0604030504040204" pitchFamily="34" charset="0"/>
            </a:endParaRPr>
          </a:p>
        </p:txBody>
      </p:sp>
      <p:sp>
        <p:nvSpPr>
          <p:cNvPr id="41" name="Rectangle 40">
            <a:extLst>
              <a:ext uri="{FF2B5EF4-FFF2-40B4-BE49-F238E27FC236}">
                <a16:creationId xmlns:a16="http://schemas.microsoft.com/office/drawing/2014/main" id="{4C8ED820-788F-4A28-B5E2-EF07E6705F52}"/>
              </a:ext>
            </a:extLst>
          </p:cNvPr>
          <p:cNvSpPr/>
          <p:nvPr/>
        </p:nvSpPr>
        <p:spPr bwMode="gray">
          <a:xfrm>
            <a:off x="9913139" y="1235357"/>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#5</a:t>
            </a:r>
          </a:p>
        </p:txBody>
      </p:sp>
      <p:sp>
        <p:nvSpPr>
          <p:cNvPr id="45" name="TextBox 44">
            <a:extLst>
              <a:ext uri="{FF2B5EF4-FFF2-40B4-BE49-F238E27FC236}">
                <a16:creationId xmlns:a16="http://schemas.microsoft.com/office/drawing/2014/main" id="{2DBE5B6A-4E01-420A-9C4D-5C3C8506A43D}"/>
              </a:ext>
            </a:extLst>
          </p:cNvPr>
          <p:cNvSpPr txBox="1"/>
          <p:nvPr/>
        </p:nvSpPr>
        <p:spPr>
          <a:xfrm>
            <a:off x="314562" y="4274477"/>
            <a:ext cx="4578626" cy="1692771"/>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Variable Cost Optimization through Captive Mines and achievement of commercial sales</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Non-Tariff Income Maximization</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Reduction of Regulatory Assets across all state power utilities</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Reduction of Technical and Financial Losses through WBSEDCL</a:t>
            </a:r>
          </a:p>
        </p:txBody>
      </p:sp>
      <p:sp>
        <p:nvSpPr>
          <p:cNvPr id="46" name="Rectangle: Top Corners Rounded 45">
            <a:extLst>
              <a:ext uri="{FF2B5EF4-FFF2-40B4-BE49-F238E27FC236}">
                <a16:creationId xmlns:a16="http://schemas.microsoft.com/office/drawing/2014/main" id="{84F7A72B-576B-4F4F-9624-E64E18D22DF0}"/>
              </a:ext>
            </a:extLst>
          </p:cNvPr>
          <p:cNvSpPr/>
          <p:nvPr/>
        </p:nvSpPr>
        <p:spPr bwMode="gray">
          <a:xfrm>
            <a:off x="297190" y="3840016"/>
            <a:ext cx="4617485" cy="432351"/>
          </a:xfrm>
          <a:prstGeom prst="round2SameRect">
            <a:avLst>
              <a:gd name="adj1" fmla="val 0"/>
              <a:gd name="adj2" fmla="val 0"/>
            </a:avLst>
          </a:prstGeom>
          <a:solidFill>
            <a:srgbClr val="004F59"/>
          </a:solidFill>
          <a:ln w="19050" algn="ctr">
            <a:noFill/>
            <a:miter lim="800000"/>
            <a:headEnd/>
            <a:tailEnd/>
          </a:ln>
        </p:spPr>
        <p:txBody>
          <a:bodyPr wrap="square" lIns="45720" tIns="45720" rIns="0" bIns="0" rtlCol="0" anchor="t" anchorCtr="0"/>
          <a:lstStyle/>
          <a:p>
            <a:r>
              <a:rPr lang="da-DK" sz="1300" b="1" dirty="0">
                <a:solidFill>
                  <a:prstClr val="white"/>
                </a:solidFill>
                <a:latin typeface="Verdana" panose="020B0604030504040204" pitchFamily="34" charset="0"/>
                <a:ea typeface="Verdana" panose="020B0604030504040204" pitchFamily="34" charset="0"/>
              </a:rPr>
              <a:t>6. </a:t>
            </a:r>
            <a:r>
              <a:rPr lang="en-US" sz="1300" b="1" dirty="0">
                <a:solidFill>
                  <a:schemeClr val="bg1"/>
                </a:solidFill>
                <a:latin typeface="Verdana" panose="020B0604030504040204" pitchFamily="34" charset="0"/>
                <a:ea typeface="Verdana" panose="020B0604030504040204" pitchFamily="34" charset="0"/>
              </a:rPr>
              <a:t>Commercial And Regulatory Measures</a:t>
            </a:r>
            <a:r>
              <a:rPr lang="en-US" sz="1300" b="1" dirty="0">
                <a:solidFill>
                  <a:prstClr val="white"/>
                </a:solidFill>
                <a:latin typeface="Verdana" panose="020B0604030504040204" pitchFamily="34" charset="0"/>
                <a:ea typeface="Verdana" panose="020B0604030504040204" pitchFamily="34" charset="0"/>
              </a:rPr>
              <a:t> </a:t>
            </a:r>
            <a:endParaRPr lang="en-GB" sz="1300" b="1" dirty="0">
              <a:solidFill>
                <a:prstClr val="white"/>
              </a:solidFill>
              <a:latin typeface="Verdana" panose="020B0604030504040204" pitchFamily="34" charset="0"/>
              <a:ea typeface="Verdana" panose="020B0604030504040204" pitchFamily="34" charset="0"/>
            </a:endParaRPr>
          </a:p>
          <a:p>
            <a:pPr>
              <a:buFont typeface="Wingdings 2" pitchFamily="18" charset="2"/>
              <a:buNone/>
            </a:pPr>
            <a:endParaRPr lang="en-GB" sz="1300" b="1" dirty="0">
              <a:solidFill>
                <a:prstClr val="white"/>
              </a:solidFill>
              <a:latin typeface="Verdana" panose="020B0604030504040204" pitchFamily="34" charset="0"/>
              <a:ea typeface="Verdana" panose="020B0604030504040204" pitchFamily="34" charset="0"/>
            </a:endParaRPr>
          </a:p>
        </p:txBody>
      </p:sp>
      <p:sp>
        <p:nvSpPr>
          <p:cNvPr id="47" name="Oval 46">
            <a:extLst>
              <a:ext uri="{FF2B5EF4-FFF2-40B4-BE49-F238E27FC236}">
                <a16:creationId xmlns:a16="http://schemas.microsoft.com/office/drawing/2014/main" id="{436118F7-C0BF-4574-88BD-BAEC1F1CE0BA}"/>
              </a:ext>
            </a:extLst>
          </p:cNvPr>
          <p:cNvSpPr/>
          <p:nvPr/>
        </p:nvSpPr>
        <p:spPr bwMode="gray">
          <a:xfrm>
            <a:off x="4308036" y="3979436"/>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prstClr val="white"/>
              </a:solidFill>
              <a:latin typeface="Verdana" panose="020B0604030504040204" pitchFamily="34" charset="0"/>
              <a:ea typeface="Verdana" panose="020B0604030504040204" pitchFamily="34" charset="0"/>
            </a:endParaRPr>
          </a:p>
        </p:txBody>
      </p:sp>
      <p:sp>
        <p:nvSpPr>
          <p:cNvPr id="48" name="Rectangle 47">
            <a:extLst>
              <a:ext uri="{FF2B5EF4-FFF2-40B4-BE49-F238E27FC236}">
                <a16:creationId xmlns:a16="http://schemas.microsoft.com/office/drawing/2014/main" id="{473DBAFA-9CDA-4E8B-9519-333B7EBF30A0}"/>
              </a:ext>
            </a:extLst>
          </p:cNvPr>
          <p:cNvSpPr/>
          <p:nvPr/>
        </p:nvSpPr>
        <p:spPr bwMode="gray">
          <a:xfrm>
            <a:off x="4346350" y="4409519"/>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#6</a:t>
            </a:r>
          </a:p>
        </p:txBody>
      </p:sp>
      <p:sp>
        <p:nvSpPr>
          <p:cNvPr id="43" name="TextBox 42">
            <a:extLst>
              <a:ext uri="{FF2B5EF4-FFF2-40B4-BE49-F238E27FC236}">
                <a16:creationId xmlns:a16="http://schemas.microsoft.com/office/drawing/2014/main" id="{E66C459C-4EE7-4509-B5CF-2326FADE488B}"/>
              </a:ext>
            </a:extLst>
          </p:cNvPr>
          <p:cNvSpPr txBox="1"/>
          <p:nvPr/>
        </p:nvSpPr>
        <p:spPr>
          <a:xfrm>
            <a:off x="7221522" y="4255787"/>
            <a:ext cx="4578626" cy="1892826"/>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buSzPct val="100000"/>
              <a:buFont typeface="Arial" panose="020B0604020202020204" pitchFamily="34" charset="0"/>
              <a:buChar char="•"/>
            </a:pPr>
            <a:endParaRPr lang="en-US" sz="1300" dirty="0">
              <a:solidFill>
                <a:prstClr val="black"/>
              </a:solidFill>
              <a:latin typeface="Verdana" panose="020B0604030504040204" pitchFamily="34" charset="0"/>
              <a:ea typeface="Verdana" panose="020B0604030504040204" pitchFamily="34" charset="0"/>
              <a:cs typeface="Vani" panose="02040502050405020303" pitchFamily="18" charset="0"/>
            </a:endParaRP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Capacity building and/or training to ensure proper </a:t>
            </a:r>
            <a:r>
              <a:rPr kumimoji="0" lang="en-US" sz="1300" b="0" i="0" u="none" strike="noStrike" kern="1200" cap="none" spc="0" normalizeH="0" baseline="0" noProof="0" dirty="0">
                <a:ln>
                  <a:noFill/>
                </a:ln>
                <a:solidFill>
                  <a:prstClr val="black"/>
                </a:solidFill>
                <a:effectLst/>
                <a:uLnTx/>
                <a:uFillTx/>
                <a:latin typeface="Verdana"/>
                <a:ea typeface="+mn-ea"/>
                <a:cs typeface="+mn-cs"/>
              </a:rPr>
              <a:t>readiness with respect to upcoming digitization initiatives to be adopted</a:t>
            </a:r>
          </a:p>
          <a:p>
            <a:pPr marL="171450" indent="-171450" algn="just">
              <a:buSzPct val="100000"/>
              <a:buFont typeface="Arial" panose="020B0604020202020204" pitchFamily="34" charset="0"/>
              <a:buChar char="•"/>
            </a:pPr>
            <a:endParaRPr lang="en-US" sz="1300" dirty="0">
              <a:solidFill>
                <a:prstClr val="black"/>
              </a:solidFill>
              <a:latin typeface="Verdana"/>
            </a:endParaRPr>
          </a:p>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a:ea typeface="+mn-ea"/>
                <a:cs typeface="+mn-cs"/>
              </a:rPr>
              <a:t>Proper training in knowledge management and transfer mechanism, to ensure smooth transition and handover of responsibilities</a:t>
            </a:r>
          </a:p>
          <a:p>
            <a:pPr algn="just">
              <a:buSzPct val="100000"/>
            </a:pPr>
            <a:endParaRPr lang="en-US" sz="1300" dirty="0">
              <a:solidFill>
                <a:prstClr val="black"/>
              </a:solidFill>
              <a:latin typeface="Verdana" panose="020B0604030504040204" pitchFamily="34" charset="0"/>
              <a:ea typeface="Verdana" panose="020B0604030504040204" pitchFamily="34" charset="0"/>
              <a:cs typeface="Vani" panose="02040502050405020303" pitchFamily="18" charset="0"/>
            </a:endParaRPr>
          </a:p>
        </p:txBody>
      </p:sp>
      <p:sp>
        <p:nvSpPr>
          <p:cNvPr id="50" name="Rectangle: Top Corners Rounded 49">
            <a:extLst>
              <a:ext uri="{FF2B5EF4-FFF2-40B4-BE49-F238E27FC236}">
                <a16:creationId xmlns:a16="http://schemas.microsoft.com/office/drawing/2014/main" id="{6FE01CE6-B40C-45CF-B178-F5B6E31E88C8}"/>
              </a:ext>
            </a:extLst>
          </p:cNvPr>
          <p:cNvSpPr/>
          <p:nvPr/>
        </p:nvSpPr>
        <p:spPr bwMode="gray">
          <a:xfrm>
            <a:off x="7204150" y="3821326"/>
            <a:ext cx="4617485" cy="432351"/>
          </a:xfrm>
          <a:prstGeom prst="round2SameRect">
            <a:avLst>
              <a:gd name="adj1" fmla="val 0"/>
              <a:gd name="adj2" fmla="val 0"/>
            </a:avLst>
          </a:prstGeom>
          <a:solidFill>
            <a:schemeClr val="tx1">
              <a:lumMod val="75000"/>
              <a:lumOff val="25000"/>
            </a:schemeClr>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7. Institutional </a:t>
            </a:r>
            <a:r>
              <a:rPr lang="en-US" sz="1300" b="1" dirty="0">
                <a:solidFill>
                  <a:prstClr val="white"/>
                </a:solidFill>
                <a:latin typeface="Verdana" panose="020B0604030504040204" pitchFamily="34" charset="0"/>
                <a:ea typeface="Verdana" panose="020B0604030504040204" pitchFamily="34" charset="0"/>
              </a:rPr>
              <a:t>Capacity Building/Training </a:t>
            </a:r>
            <a:endParaRPr lang="en-GB" sz="1300" b="1" dirty="0">
              <a:solidFill>
                <a:prstClr val="white"/>
              </a:solidFill>
              <a:latin typeface="Verdana" panose="020B0604030504040204" pitchFamily="34" charset="0"/>
              <a:ea typeface="Verdana" panose="020B0604030504040204" pitchFamily="34" charset="0"/>
            </a:endParaRPr>
          </a:p>
          <a:p>
            <a:pPr>
              <a:buFont typeface="Wingdings 2" pitchFamily="18" charset="2"/>
              <a:buNone/>
            </a:pPr>
            <a:endParaRPr lang="en-GB" sz="1300" b="1" dirty="0">
              <a:solidFill>
                <a:prstClr val="white"/>
              </a:solidFill>
              <a:latin typeface="Verdana" panose="020B0604030504040204" pitchFamily="34" charset="0"/>
              <a:ea typeface="Verdana" panose="020B0604030504040204" pitchFamily="34" charset="0"/>
            </a:endParaRPr>
          </a:p>
        </p:txBody>
      </p:sp>
      <p:sp>
        <p:nvSpPr>
          <p:cNvPr id="51" name="Oval 50">
            <a:extLst>
              <a:ext uri="{FF2B5EF4-FFF2-40B4-BE49-F238E27FC236}">
                <a16:creationId xmlns:a16="http://schemas.microsoft.com/office/drawing/2014/main" id="{356CBCB7-D672-4A68-8E3E-4A2078032945}"/>
              </a:ext>
            </a:extLst>
          </p:cNvPr>
          <p:cNvSpPr/>
          <p:nvPr/>
        </p:nvSpPr>
        <p:spPr bwMode="gray">
          <a:xfrm>
            <a:off x="11214996" y="3960746"/>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prstClr val="white"/>
              </a:solidFill>
              <a:latin typeface="Verdana" panose="020B0604030504040204" pitchFamily="34" charset="0"/>
              <a:ea typeface="Verdana" panose="020B0604030504040204" pitchFamily="34" charset="0"/>
            </a:endParaRPr>
          </a:p>
        </p:txBody>
      </p:sp>
      <p:sp>
        <p:nvSpPr>
          <p:cNvPr id="52" name="Rectangle 51">
            <a:extLst>
              <a:ext uri="{FF2B5EF4-FFF2-40B4-BE49-F238E27FC236}">
                <a16:creationId xmlns:a16="http://schemas.microsoft.com/office/drawing/2014/main" id="{87D94991-67C6-4F87-983B-CC8FEFC6C235}"/>
              </a:ext>
            </a:extLst>
          </p:cNvPr>
          <p:cNvSpPr/>
          <p:nvPr/>
        </p:nvSpPr>
        <p:spPr bwMode="gray">
          <a:xfrm>
            <a:off x="11253310" y="4390829"/>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#7</a:t>
            </a:r>
          </a:p>
        </p:txBody>
      </p:sp>
      <p:pic>
        <p:nvPicPr>
          <p:cNvPr id="53" name="Graphic 52" descr="Users with solid fill">
            <a:extLst>
              <a:ext uri="{FF2B5EF4-FFF2-40B4-BE49-F238E27FC236}">
                <a16:creationId xmlns:a16="http://schemas.microsoft.com/office/drawing/2014/main" id="{E388AEB7-EB9C-4867-9948-6CC2A043741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34735" y="3969859"/>
            <a:ext cx="457200" cy="457200"/>
          </a:xfrm>
          <a:prstGeom prst="rect">
            <a:avLst/>
          </a:prstGeom>
        </p:spPr>
      </p:pic>
      <p:grpSp>
        <p:nvGrpSpPr>
          <p:cNvPr id="54" name="Group 53">
            <a:extLst>
              <a:ext uri="{FF2B5EF4-FFF2-40B4-BE49-F238E27FC236}">
                <a16:creationId xmlns:a16="http://schemas.microsoft.com/office/drawing/2014/main" id="{097871ED-0B79-4310-8106-C6C6A36C5EE0}"/>
              </a:ext>
            </a:extLst>
          </p:cNvPr>
          <p:cNvGrpSpPr/>
          <p:nvPr/>
        </p:nvGrpSpPr>
        <p:grpSpPr>
          <a:xfrm rot="15701675">
            <a:off x="6697125" y="2648197"/>
            <a:ext cx="369756" cy="1650283"/>
            <a:chOff x="7491780" y="2505965"/>
            <a:chExt cx="394324" cy="2053345"/>
          </a:xfrm>
          <a:solidFill>
            <a:schemeClr val="accent3"/>
          </a:solidFill>
        </p:grpSpPr>
        <p:sp>
          <p:nvSpPr>
            <p:cNvPr id="56" name="Rectangle: Top Corners Rounded 55">
              <a:extLst>
                <a:ext uri="{FF2B5EF4-FFF2-40B4-BE49-F238E27FC236}">
                  <a16:creationId xmlns:a16="http://schemas.microsoft.com/office/drawing/2014/main" id="{86879653-78D0-43DB-BB06-51643BCAD5F8}"/>
                </a:ext>
              </a:extLst>
            </p:cNvPr>
            <p:cNvSpPr/>
            <p:nvPr/>
          </p:nvSpPr>
          <p:spPr bwMode="gray">
            <a:xfrm>
              <a:off x="7583714" y="2786743"/>
              <a:ext cx="210457" cy="340632"/>
            </a:xfrm>
            <a:prstGeom prst="round2SameRect">
              <a:avLst>
                <a:gd name="adj1" fmla="val 34771"/>
                <a:gd name="adj2" fmla="val 0"/>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57" name="Rectangle 56">
              <a:extLst>
                <a:ext uri="{FF2B5EF4-FFF2-40B4-BE49-F238E27FC236}">
                  <a16:creationId xmlns:a16="http://schemas.microsoft.com/office/drawing/2014/main" id="{1BB7FEE5-21C7-4E94-9D2C-B2AB1362E7B0}"/>
                </a:ext>
              </a:extLst>
            </p:cNvPr>
            <p:cNvSpPr/>
            <p:nvPr/>
          </p:nvSpPr>
          <p:spPr bwMode="gray">
            <a:xfrm>
              <a:off x="7646524" y="3127375"/>
              <a:ext cx="84835" cy="1362075"/>
            </a:xfrm>
            <a:prstGeom prst="rect">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58" name="Rectangle 57">
              <a:extLst>
                <a:ext uri="{FF2B5EF4-FFF2-40B4-BE49-F238E27FC236}">
                  <a16:creationId xmlns:a16="http://schemas.microsoft.com/office/drawing/2014/main" id="{0C0FEADB-B93C-43ED-8C9F-BFF8F635699A}"/>
                </a:ext>
              </a:extLst>
            </p:cNvPr>
            <p:cNvSpPr/>
            <p:nvPr/>
          </p:nvSpPr>
          <p:spPr bwMode="gray">
            <a:xfrm>
              <a:off x="7653885" y="2686050"/>
              <a:ext cx="70112" cy="100693"/>
            </a:xfrm>
            <a:prstGeom prst="rect">
              <a:avLst/>
            </a:prstGeom>
            <a:solidFill>
              <a:srgbClr val="009A44"/>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59" name="Parallelogram 58">
              <a:extLst>
                <a:ext uri="{FF2B5EF4-FFF2-40B4-BE49-F238E27FC236}">
                  <a16:creationId xmlns:a16="http://schemas.microsoft.com/office/drawing/2014/main" id="{FB8F7429-D65A-4702-9CC4-A43F4599E267}"/>
                </a:ext>
              </a:extLst>
            </p:cNvPr>
            <p:cNvSpPr/>
            <p:nvPr/>
          </p:nvSpPr>
          <p:spPr bwMode="gray">
            <a:xfrm rot="5400000">
              <a:off x="7594814" y="4267274"/>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60" name="Parallelogram 59">
              <a:extLst>
                <a:ext uri="{FF2B5EF4-FFF2-40B4-BE49-F238E27FC236}">
                  <a16:creationId xmlns:a16="http://schemas.microsoft.com/office/drawing/2014/main" id="{34FCBE8A-CA66-49DD-9522-5260F4F51D45}"/>
                </a:ext>
              </a:extLst>
            </p:cNvPr>
            <p:cNvSpPr/>
            <p:nvPr/>
          </p:nvSpPr>
          <p:spPr bwMode="gray">
            <a:xfrm rot="16200000" flipH="1">
              <a:off x="7356626" y="4268021"/>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61" name="Arrow: Pentagon 60">
              <a:extLst>
                <a:ext uri="{FF2B5EF4-FFF2-40B4-BE49-F238E27FC236}">
                  <a16:creationId xmlns:a16="http://schemas.microsoft.com/office/drawing/2014/main" id="{25B65E2D-6050-4326-B040-810D193DF365}"/>
                </a:ext>
              </a:extLst>
            </p:cNvPr>
            <p:cNvSpPr/>
            <p:nvPr/>
          </p:nvSpPr>
          <p:spPr bwMode="gray">
            <a:xfrm rot="16200000">
              <a:off x="7598898" y="2573148"/>
              <a:ext cx="180085" cy="45719"/>
            </a:xfrm>
            <a:prstGeom prst="homePlate">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pic>
        <p:nvPicPr>
          <p:cNvPr id="62" name="Graphic 61" descr="Users with solid fill">
            <a:extLst>
              <a:ext uri="{FF2B5EF4-FFF2-40B4-BE49-F238E27FC236}">
                <a16:creationId xmlns:a16="http://schemas.microsoft.com/office/drawing/2014/main" id="{0E93AD33-BC2D-4F88-B701-8B5F1C561C4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410" y="833320"/>
            <a:ext cx="457200" cy="457200"/>
          </a:xfrm>
          <a:prstGeom prst="rect">
            <a:avLst/>
          </a:prstGeom>
        </p:spPr>
      </p:pic>
      <p:pic>
        <p:nvPicPr>
          <p:cNvPr id="63" name="Graphic 62" descr="Rupee with solid fill">
            <a:extLst>
              <a:ext uri="{FF2B5EF4-FFF2-40B4-BE49-F238E27FC236}">
                <a16:creationId xmlns:a16="http://schemas.microsoft.com/office/drawing/2014/main" id="{F44E0EFC-7FED-4158-B7A5-086976EEE4B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380680" y="4066616"/>
            <a:ext cx="314461" cy="314461"/>
          </a:xfrm>
          <a:prstGeom prst="rect">
            <a:avLst/>
          </a:prstGeom>
        </p:spPr>
      </p:pic>
    </p:spTree>
    <p:extLst>
      <p:ext uri="{BB962C8B-B14F-4D97-AF65-F5344CB8AC3E}">
        <p14:creationId xmlns:p14="http://schemas.microsoft.com/office/powerpoint/2010/main" val="107599246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1650" y="348201"/>
            <a:ext cx="11188700" cy="334099"/>
          </a:xfrm>
        </p:spPr>
        <p:txBody>
          <a:bodyPr/>
          <a:lstStyle/>
          <a:p>
            <a:pPr>
              <a:spcBef>
                <a:spcPts val="0"/>
              </a:spcBef>
              <a:spcAft>
                <a:spcPts val="1000"/>
              </a:spcAft>
              <a:buSzPct val="100000"/>
            </a:pPr>
            <a:r>
              <a:rPr lang="en-US" sz="1800" dirty="0">
                <a:solidFill>
                  <a:srgbClr val="004F59"/>
                </a:solidFill>
                <a:latin typeface="Verdana" panose="020B0604030504040204" pitchFamily="34" charset="0"/>
                <a:ea typeface="Verdana" panose="020B0604030504040204" pitchFamily="34" charset="0"/>
              </a:rPr>
              <a:t>WBDOP Action Plan</a:t>
            </a:r>
          </a:p>
        </p:txBody>
      </p:sp>
      <p:sp>
        <p:nvSpPr>
          <p:cNvPr id="13" name="AutoShape 12"/>
          <p:cNvSpPr>
            <a:spLocks noChangeArrowheads="1"/>
          </p:cNvSpPr>
          <p:nvPr/>
        </p:nvSpPr>
        <p:spPr bwMode="auto">
          <a:xfrm flipH="1">
            <a:off x="2601684" y="1256863"/>
            <a:ext cx="347955" cy="3815880"/>
          </a:xfrm>
          <a:prstGeom prst="homePlate">
            <a:avLst>
              <a:gd name="adj" fmla="val 100000"/>
            </a:avLst>
          </a:prstGeom>
          <a:noFill/>
          <a:ln w="19050" algn="ctr">
            <a:solidFill>
              <a:srgbClr val="86BC25"/>
            </a:solidFill>
            <a:prstDash val="sysDash"/>
            <a:miter lim="800000"/>
            <a:headEnd/>
            <a:tailEnd/>
          </a:ln>
        </p:spPr>
        <p:txBody>
          <a:bodyPr wrap="square" lIns="88900" tIns="88900" rIns="88900" bIns="88900" anchor="ctr"/>
          <a:lstStyle/>
          <a:p>
            <a:pPr algn="ctr"/>
            <a:endParaRPr lang="en-US" sz="1100" dirty="0">
              <a:latin typeface="Verdana" panose="020B0604030504040204" pitchFamily="34" charset="0"/>
              <a:ea typeface="Verdana" panose="020B0604030504040204" pitchFamily="34" charset="0"/>
            </a:endParaRPr>
          </a:p>
        </p:txBody>
      </p:sp>
      <p:grpSp>
        <p:nvGrpSpPr>
          <p:cNvPr id="25" name="Group 24">
            <a:extLst>
              <a:ext uri="{FF2B5EF4-FFF2-40B4-BE49-F238E27FC236}">
                <a16:creationId xmlns:a16="http://schemas.microsoft.com/office/drawing/2014/main" id="{B927F14C-B96D-4A38-A7D9-1389B7AFDFAD}"/>
              </a:ext>
            </a:extLst>
          </p:cNvPr>
          <p:cNvGrpSpPr/>
          <p:nvPr/>
        </p:nvGrpSpPr>
        <p:grpSpPr>
          <a:xfrm>
            <a:off x="3167743" y="1256863"/>
            <a:ext cx="8413750" cy="3815880"/>
            <a:chOff x="491490" y="1611784"/>
            <a:chExt cx="7118350" cy="1435229"/>
          </a:xfrm>
        </p:grpSpPr>
        <p:sp>
          <p:nvSpPr>
            <p:cNvPr id="4" name="Rectangle 3"/>
            <p:cNvSpPr>
              <a:spLocks noChangeArrowheads="1"/>
            </p:cNvSpPr>
            <p:nvPr/>
          </p:nvSpPr>
          <p:spPr bwMode="auto">
            <a:xfrm>
              <a:off x="491490" y="1611784"/>
              <a:ext cx="7118350" cy="288000"/>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200" dirty="0">
                  <a:latin typeface="Verdana" panose="020B0604030504040204" pitchFamily="34" charset="0"/>
                  <a:ea typeface="Verdana" panose="020B0604030504040204" pitchFamily="34" charset="0"/>
                </a:rPr>
                <a:t>Stakeholder consultation and Strategy Formulation</a:t>
              </a:r>
              <a:endParaRPr lang="en-US" altLang="ja-JP" sz="1200" dirty="0">
                <a:latin typeface="Verdana" panose="020B0604030504040204" pitchFamily="34" charset="0"/>
                <a:ea typeface="Verdana" panose="020B0604030504040204" pitchFamily="34" charset="0"/>
              </a:endParaRPr>
            </a:p>
          </p:txBody>
        </p:sp>
        <p:sp>
          <p:nvSpPr>
            <p:cNvPr id="16" name="Rectangle 15">
              <a:extLst>
                <a:ext uri="{FF2B5EF4-FFF2-40B4-BE49-F238E27FC236}">
                  <a16:creationId xmlns:a16="http://schemas.microsoft.com/office/drawing/2014/main" id="{562DF6CD-1781-4790-A64E-39EB2BC79329}"/>
                </a:ext>
              </a:extLst>
            </p:cNvPr>
            <p:cNvSpPr>
              <a:spLocks noChangeArrowheads="1"/>
            </p:cNvSpPr>
            <p:nvPr/>
          </p:nvSpPr>
          <p:spPr bwMode="auto">
            <a:xfrm>
              <a:off x="491490" y="1998052"/>
              <a:ext cx="7118350" cy="288000"/>
            </a:xfrm>
            <a:prstGeom prst="rect">
              <a:avLst/>
            </a:prstGeom>
            <a:solidFill>
              <a:schemeClr val="accent6">
                <a:lumMod val="40000"/>
                <a:lumOff val="60000"/>
              </a:schemeClr>
            </a:solidFill>
            <a:ln w="19050" algn="ctr">
              <a:noFill/>
              <a:miter lim="800000"/>
              <a:headEnd/>
              <a:tailEnd/>
            </a:ln>
          </p:spPr>
          <p:txBody>
            <a:bodyPr wrap="square" lIns="88900" tIns="88900" rIns="88900" bIns="88900" anchor="ctr"/>
            <a:lstStyle/>
            <a:p>
              <a:pPr algn="just">
                <a:defRPr/>
              </a:pPr>
              <a:r>
                <a:rPr lang="en-US" altLang="ja-JP" sz="1200" dirty="0">
                  <a:latin typeface="Verdana" panose="020B0604030504040204" pitchFamily="34" charset="0"/>
                  <a:ea typeface="Verdana" panose="020B0604030504040204" pitchFamily="34" charset="0"/>
                </a:rPr>
                <a:t>Financial arrangement/facilitation wherever necessary</a:t>
              </a:r>
            </a:p>
          </p:txBody>
        </p:sp>
        <p:sp>
          <p:nvSpPr>
            <p:cNvPr id="19" name="Rectangle 18">
              <a:extLst>
                <a:ext uri="{FF2B5EF4-FFF2-40B4-BE49-F238E27FC236}">
                  <a16:creationId xmlns:a16="http://schemas.microsoft.com/office/drawing/2014/main" id="{7142A3F3-0A7F-4356-A83D-8EEBF7011D25}"/>
                </a:ext>
              </a:extLst>
            </p:cNvPr>
            <p:cNvSpPr>
              <a:spLocks noChangeArrowheads="1"/>
            </p:cNvSpPr>
            <p:nvPr/>
          </p:nvSpPr>
          <p:spPr bwMode="auto">
            <a:xfrm>
              <a:off x="491490" y="2361170"/>
              <a:ext cx="7118350" cy="288000"/>
            </a:xfrm>
            <a:prstGeom prst="rect">
              <a:avLst/>
            </a:prstGeom>
            <a:solidFill>
              <a:schemeClr val="accent6">
                <a:lumMod val="40000"/>
                <a:lumOff val="60000"/>
              </a:schemeClr>
            </a:solidFill>
            <a:ln w="19050" algn="ctr">
              <a:noFill/>
              <a:miter lim="800000"/>
              <a:headEnd/>
              <a:tailEnd/>
            </a:ln>
          </p:spPr>
          <p:txBody>
            <a:bodyPr wrap="square" lIns="88900" tIns="88900" rIns="88900" bIns="88900" anchor="ctr"/>
            <a:lstStyle/>
            <a:p>
              <a:pPr algn="just">
                <a:defRPr/>
              </a:pPr>
              <a:r>
                <a:rPr lang="en-US" sz="1200" dirty="0">
                  <a:latin typeface="Verdana" panose="020B0604030504040204" pitchFamily="34" charset="0"/>
                  <a:ea typeface="Verdana" panose="020B0604030504040204" pitchFamily="34" charset="0"/>
                </a:rPr>
                <a:t>Implementation support</a:t>
              </a:r>
              <a:endParaRPr lang="en-US" altLang="ja-JP" sz="1200" dirty="0">
                <a:latin typeface="Verdana" panose="020B0604030504040204" pitchFamily="34" charset="0"/>
                <a:ea typeface="Verdana" panose="020B0604030504040204" pitchFamily="34" charset="0"/>
              </a:endParaRPr>
            </a:p>
          </p:txBody>
        </p:sp>
        <p:sp>
          <p:nvSpPr>
            <p:cNvPr id="22" name="Rectangle 21">
              <a:extLst>
                <a:ext uri="{FF2B5EF4-FFF2-40B4-BE49-F238E27FC236}">
                  <a16:creationId xmlns:a16="http://schemas.microsoft.com/office/drawing/2014/main" id="{A5BC29AD-3992-4F91-8666-4BC3560110A0}"/>
                </a:ext>
              </a:extLst>
            </p:cNvPr>
            <p:cNvSpPr>
              <a:spLocks noChangeArrowheads="1"/>
            </p:cNvSpPr>
            <p:nvPr/>
          </p:nvSpPr>
          <p:spPr bwMode="auto">
            <a:xfrm>
              <a:off x="491490" y="2735863"/>
              <a:ext cx="7118350" cy="311150"/>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altLang="ja-JP" sz="1200" dirty="0">
                  <a:latin typeface="Verdana" panose="020B0604030504040204" pitchFamily="34" charset="0"/>
                  <a:ea typeface="Verdana" panose="020B0604030504040204" pitchFamily="34" charset="0"/>
                </a:rPr>
                <a:t>Collection of quarterly monitoring report from concerned utility</a:t>
              </a:r>
            </a:p>
          </p:txBody>
        </p:sp>
      </p:grpSp>
      <p:sp>
        <p:nvSpPr>
          <p:cNvPr id="26" name="Rectangle 25">
            <a:extLst>
              <a:ext uri="{FF2B5EF4-FFF2-40B4-BE49-F238E27FC236}">
                <a16:creationId xmlns:a16="http://schemas.microsoft.com/office/drawing/2014/main" id="{A393108E-07B9-4EDB-9A3E-6E1DB07F97FE}"/>
              </a:ext>
            </a:extLst>
          </p:cNvPr>
          <p:cNvSpPr>
            <a:spLocks noChangeArrowheads="1"/>
          </p:cNvSpPr>
          <p:nvPr/>
        </p:nvSpPr>
        <p:spPr bwMode="auto">
          <a:xfrm>
            <a:off x="501650" y="6159806"/>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27" name="Rectangle 26">
            <a:extLst>
              <a:ext uri="{FF2B5EF4-FFF2-40B4-BE49-F238E27FC236}">
                <a16:creationId xmlns:a16="http://schemas.microsoft.com/office/drawing/2014/main" id="{AB821173-04EC-489A-8471-3927E5D9A100}"/>
              </a:ext>
            </a:extLst>
          </p:cNvPr>
          <p:cNvSpPr>
            <a:spLocks noChangeArrowheads="1"/>
          </p:cNvSpPr>
          <p:nvPr/>
        </p:nvSpPr>
        <p:spPr bwMode="auto">
          <a:xfrm>
            <a:off x="2808126" y="6159806"/>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28" name="Rectangle 27">
            <a:extLst>
              <a:ext uri="{FF2B5EF4-FFF2-40B4-BE49-F238E27FC236}">
                <a16:creationId xmlns:a16="http://schemas.microsoft.com/office/drawing/2014/main" id="{F0880FCB-8F84-4231-8C76-B16D3D2F59C9}"/>
              </a:ext>
            </a:extLst>
          </p:cNvPr>
          <p:cNvSpPr>
            <a:spLocks noChangeArrowheads="1"/>
          </p:cNvSpPr>
          <p:nvPr/>
        </p:nvSpPr>
        <p:spPr bwMode="auto">
          <a:xfrm>
            <a:off x="5114602" y="6159806"/>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sp>
        <p:nvSpPr>
          <p:cNvPr id="29" name="Text Placeholder 1">
            <a:extLst>
              <a:ext uri="{FF2B5EF4-FFF2-40B4-BE49-F238E27FC236}">
                <a16:creationId xmlns:a16="http://schemas.microsoft.com/office/drawing/2014/main" id="{81C7037D-308E-4029-B46B-12B13FAACB47}"/>
              </a:ext>
            </a:extLst>
          </p:cNvPr>
          <p:cNvSpPr txBox="1">
            <a:spLocks/>
          </p:cNvSpPr>
          <p:nvPr/>
        </p:nvSpPr>
        <p:spPr>
          <a:xfrm>
            <a:off x="9976560" y="348201"/>
            <a:ext cx="1941120" cy="303397"/>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dirty="0">
                <a:solidFill>
                  <a:srgbClr val="004F59"/>
                </a:solidFill>
              </a:rPr>
              <a:t>(</a:t>
            </a:r>
            <a:r>
              <a:rPr lang="en-IN" dirty="0">
                <a:solidFill>
                  <a:srgbClr val="004F59"/>
                </a:solidFill>
              </a:rPr>
              <a:t>TRACK LINE #1-7)</a:t>
            </a:r>
            <a:endParaRPr lang="en-US" dirty="0">
              <a:solidFill>
                <a:srgbClr val="004F59"/>
              </a:solidFill>
            </a:endParaRPr>
          </a:p>
        </p:txBody>
      </p:sp>
      <p:sp>
        <p:nvSpPr>
          <p:cNvPr id="30" name="Rectangle 19">
            <a:extLst>
              <a:ext uri="{FF2B5EF4-FFF2-40B4-BE49-F238E27FC236}">
                <a16:creationId xmlns:a16="http://schemas.microsoft.com/office/drawing/2014/main" id="{3979D4F7-55AA-406C-92C4-046A7EEDF703}"/>
              </a:ext>
            </a:extLst>
          </p:cNvPr>
          <p:cNvSpPr>
            <a:spLocks noChangeArrowheads="1"/>
          </p:cNvSpPr>
          <p:nvPr/>
        </p:nvSpPr>
        <p:spPr bwMode="auto">
          <a:xfrm>
            <a:off x="174172" y="1256863"/>
            <a:ext cx="2307770" cy="3815880"/>
          </a:xfrm>
          <a:prstGeom prst="rect">
            <a:avLst/>
          </a:prstGeom>
          <a:solidFill>
            <a:schemeClr val="accent5">
              <a:lumMod val="75000"/>
            </a:schemeClr>
          </a:solidFill>
          <a:ln w="19050" algn="ctr">
            <a:noFill/>
            <a:miter lim="800000"/>
            <a:headEnd/>
            <a:tailEnd/>
          </a:ln>
        </p:spPr>
        <p:txBody>
          <a:bodyPr wrap="square" lIns="91440" tIns="88900" rIns="9144" bIns="88900" anchor="ctr"/>
          <a:lstStyle/>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Decarbonization and Sustainability</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Energy Efficiency initiatives</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Digital Enablement And Agile/Smart Operations</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Energy Transition</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Consumer Centric Initiatives</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Commercial And Regulatory Measures</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Institutional Capacity Building/Training</a:t>
            </a:r>
          </a:p>
        </p:txBody>
      </p:sp>
    </p:spTree>
    <p:extLst>
      <p:ext uri="{BB962C8B-B14F-4D97-AF65-F5344CB8AC3E}">
        <p14:creationId xmlns:p14="http://schemas.microsoft.com/office/powerpoint/2010/main" val="321550071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F59"/>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8C85EC7-BD8A-47BA-BF81-9B0AFF4B4472}"/>
              </a:ext>
            </a:extLst>
          </p:cNvPr>
          <p:cNvSpPr txBox="1"/>
          <p:nvPr/>
        </p:nvSpPr>
        <p:spPr>
          <a:xfrm>
            <a:off x="895876" y="3131675"/>
            <a:ext cx="9848324" cy="594650"/>
          </a:xfrm>
          <a:prstGeom prst="rect">
            <a:avLst/>
          </a:prstGeom>
          <a:noFill/>
        </p:spPr>
        <p:txBody>
          <a:bodyPr wrap="square">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US" sz="3264"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Proposed Implementation Schedule for Action Plan</a:t>
            </a:r>
            <a:endParaRPr kumimoji="0" lang="en-US" sz="2400"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endParaRPr>
          </a:p>
        </p:txBody>
      </p:sp>
    </p:spTree>
    <p:extLst>
      <p:ext uri="{BB962C8B-B14F-4D97-AF65-F5344CB8AC3E}">
        <p14:creationId xmlns:p14="http://schemas.microsoft.com/office/powerpoint/2010/main" val="18426811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b"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marL="0" marR="0" lvl="0" indent="0" algn="l" defTabSz="1219231" rtl="0" eaLnBrk="1" fontAlgn="auto" latinLnBrk="0" hangingPunct="1">
              <a:lnSpc>
                <a:spcPct val="95000"/>
              </a:lnSpc>
              <a:spcBef>
                <a:spcPct val="0"/>
              </a:spcBef>
              <a:spcAft>
                <a:spcPts val="0"/>
              </a:spcAft>
              <a:buClrTx/>
              <a:buSzTx/>
              <a:buFontTx/>
              <a:buNone/>
              <a:tabLst/>
              <a:defRPr/>
            </a:pPr>
            <a:r>
              <a:rPr lang="en-US" sz="1800" dirty="0">
                <a:solidFill>
                  <a:prstClr val="black"/>
                </a:solidFill>
                <a:latin typeface="Verdana" panose="020B0604030504040204" pitchFamily="34" charset="0"/>
                <a:ea typeface="Verdana" panose="020B0604030504040204" pitchFamily="34" charset="0"/>
              </a:rPr>
              <a:t>Decarbonization and Sustainability - Optimization of generation portfolio in line with Sustainability Goals</a:t>
            </a:r>
            <a:endParaRPr kumimoji="0" lang="en-US" sz="1700" b="1" i="0" u="none" strike="noStrike" kern="1200" cap="none" spc="0" normalizeH="0" baseline="0" noProof="0" dirty="0">
              <a:ln>
                <a:noFill/>
              </a:ln>
              <a:solidFill>
                <a:sysClr val="windowText" lastClr="000000"/>
              </a:solidFill>
              <a:effectLst/>
              <a:uLnTx/>
              <a:uFillTx/>
              <a:latin typeface="Verdana"/>
              <a:ea typeface="Open Sans" panose="020B0606030504020204" pitchFamily="34" charset="0"/>
              <a:cs typeface="Open Sans" panose="020B060603050402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73745952"/>
              </p:ext>
            </p:extLst>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5758313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marL="0" marR="0" lvl="0" indent="0" algn="l" defTabSz="1219231" rtl="0" eaLnBrk="1" fontAlgn="auto" latinLnBrk="0" hangingPunct="1">
              <a:lnSpc>
                <a:spcPct val="95000"/>
              </a:lnSpc>
              <a:spcBef>
                <a:spcPct val="0"/>
              </a:spcBef>
              <a:spcAft>
                <a:spcPts val="0"/>
              </a:spcAft>
              <a:buClrTx/>
              <a:buSzTx/>
              <a:buFontTx/>
              <a:buNone/>
              <a:tabLst/>
              <a:defRPr/>
            </a:pPr>
            <a:r>
              <a:rPr lang="en-US" sz="1800" dirty="0">
                <a:solidFill>
                  <a:prstClr val="black"/>
                </a:solidFill>
                <a:latin typeface="Verdana" panose="020B0604030504040204" pitchFamily="34" charset="0"/>
                <a:ea typeface="Verdana" panose="020B0604030504040204" pitchFamily="34" charset="0"/>
              </a:rPr>
              <a:t>Decarbonization and Sustainability - Promotion of Green Hydrogen </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215515156"/>
              </p:ext>
            </p:extLst>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9934308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b"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Decarbonization and Sustainability - Optimization of power purchase portfolio ensuring achievement of future RPO targets by DISCOM </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01480148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Efficiency initiatives - Optimum Demand Side Management (DSM)</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426691808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Efficiency initiatives – Implementation of Customized Energy Efficiency solutions through remote monitoring of Consumer Consumption/</a:t>
            </a:r>
            <a:r>
              <a:rPr lang="en-US" sz="1800" dirty="0" err="1">
                <a:solidFill>
                  <a:prstClr val="black"/>
                </a:solidFill>
                <a:latin typeface="Verdana" panose="020B0604030504040204" pitchFamily="34" charset="0"/>
                <a:ea typeface="Verdana" panose="020B0604030504040204" pitchFamily="34" charset="0"/>
              </a:rPr>
              <a:t>Behavioural</a:t>
            </a:r>
            <a:r>
              <a:rPr lang="en-US" sz="1800" dirty="0">
                <a:solidFill>
                  <a:prstClr val="black"/>
                </a:solidFill>
                <a:latin typeface="Verdana" panose="020B0604030504040204" pitchFamily="34" charset="0"/>
                <a:ea typeface="Verdana" panose="020B0604030504040204" pitchFamily="34" charset="0"/>
              </a:rPr>
              <a:t> Pattern </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75877809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Digital Enablement And Agile/Smart Operations – Digitization of Generating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331226498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Digital Enablement And Agile/Smart Operations – Digitization of Transmission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262217534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Digital Enablement and Agile/Smart Operations – Digitization of Distribution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2486415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Digital Enablement and Agile/Smart Operations – Digitization of Distribution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4487795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Transition – Just Transition of Old Thermal Generation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317343960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Transition – Transition from hydrocarbon dependence toward greater reliance on cleaner energy sources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964325865"/>
              </p:ext>
            </p:extLst>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Strategy/Policy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38829468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Transition – Diversification into EV charging infrastructure sector</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381581047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Consumer Centric Initiatives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Deployment of alternate Industrial tariff preferential models</a:t>
            </a:r>
            <a:endParaRPr lang="en-US" sz="1800" dirty="0">
              <a:solidFill>
                <a:prstClr val="black"/>
              </a:solidFill>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881598533"/>
              </p:ext>
            </p:extLst>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Strategy/Policy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9866942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Consumer Centric Initiatives – </a:t>
            </a:r>
            <a:r>
              <a:rPr lang="en-US" sz="1800" dirty="0">
                <a:latin typeface="Verdana" panose="020B0604030504040204" pitchFamily="34" charset="0"/>
                <a:ea typeface="Verdana" panose="020B0604030504040204" pitchFamily="34" charset="0"/>
              </a:rPr>
              <a:t>Facilitation with regards to implementation of improved CRM Models through WBSEDCL</a:t>
            </a:r>
            <a:endParaRPr lang="en-US" sz="1800" dirty="0">
              <a:solidFill>
                <a:prstClr val="black"/>
              </a:solidFill>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1374316456"/>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1907663"/>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401529319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Consumer Centric Initiatives – </a:t>
            </a:r>
            <a:r>
              <a:rPr lang="en-US" sz="1800" dirty="0">
                <a:latin typeface="Verdana" panose="020B0604030504040204" pitchFamily="34" charset="0"/>
                <a:ea typeface="Verdana" panose="020B0604030504040204" pitchFamily="34" charset="0"/>
              </a:rPr>
              <a:t>Facilitating adoption of other initiatives (On Demand Access to data, Energy Consumption tracking, Customer sentiment analysis inter alia)</a:t>
            </a:r>
            <a:endParaRPr lang="en-US" sz="2000" dirty="0">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969668881"/>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6612665"/>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205928654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Consumer Centric Initiatives – </a:t>
            </a:r>
            <a:r>
              <a:rPr lang="en-US" sz="1800" dirty="0">
                <a:latin typeface="Verdana" panose="020B0604030504040204" pitchFamily="34" charset="0"/>
                <a:ea typeface="Verdana" panose="020B0604030504040204" pitchFamily="34" charset="0"/>
              </a:rPr>
              <a:t>Introduction of customer empowerment initiatives for facilitation of Rooftop solar implementation</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651316226"/>
              </p:ext>
            </p:extLst>
          </p:nvPr>
        </p:nvGraphicFramePr>
        <p:xfrm>
          <a:off x="497114"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Strategy/Policy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31102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21972542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Commercial And Regulatory Measures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Variable Cost Optimization through Captive Mines and achievement of commercial sales</a:t>
            </a:r>
            <a:endParaRPr lang="en-US" sz="1800" dirty="0">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23784288"/>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1548666"/>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369122815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Commercial And Regulatory Measures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Non-Tariff Income Maximization</a:t>
            </a:r>
            <a:endParaRPr lang="en-US" sz="1800" dirty="0">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437293710"/>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1548666"/>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336009112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Commercial And Regulatory Measures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Reduction of Regulatory Assets across all state power utilities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2957420601"/>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Coordination with State Government for deliberation of possible financial support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0482097"/>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 (Support/coordination w.r.t Regulator approval process)</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82815046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Commercial And Regulatory Measures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Reduction of Technical and Financial Losses through WBSEDCL</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4103598511"/>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1548666"/>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80382204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Institutional Capacity Building/Training</a:t>
            </a:r>
            <a:endParaRPr lang="en-US" sz="1800" dirty="0">
              <a:solidFill>
                <a:prstClr val="black"/>
              </a:solidFill>
              <a:latin typeface="Verdana" panose="020B0604030504040204" pitchFamily="34" charset="0"/>
              <a:ea typeface="Verdana" panose="020B0604030504040204" pitchFamily="34" charset="0"/>
              <a:cs typeface="Vani" panose="02040502050405020303" pitchFamily="18"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975281318"/>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1548666"/>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133182444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theme" id="{D8EE87FA-D546-467A-8D20-21EA8B154E9F}" vid="{AF7FB4BF-7232-4252-83E8-78AC977FF29E}"/>
    </a:ext>
  </a:extLst>
</a:theme>
</file>

<file path=ppt/theme/theme2.xml><?xml version="1.0" encoding="utf-8"?>
<a:theme xmlns:a="http://schemas.openxmlformats.org/drawingml/2006/main" name="4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22C95E2E-F6A4-40F2-A92D-E40A5110F973}" vid="{FD2586F0-0C61-4D2E-8403-86D710ECD4D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EC981A53-AF0B-4DF5-90E1-3146F6BDD9EB}"/>
</file>

<file path=customXml/itemProps2.xml><?xml version="1.0" encoding="utf-8"?>
<ds:datastoreItem xmlns:ds="http://schemas.openxmlformats.org/officeDocument/2006/customXml" ds:itemID="{CECF8A3A-BB8D-47CD-80B3-F63A2474FF42}"/>
</file>

<file path=customXml/itemProps3.xml><?xml version="1.0" encoding="utf-8"?>
<ds:datastoreItem xmlns:ds="http://schemas.openxmlformats.org/officeDocument/2006/customXml" ds:itemID="{8AF1DEA2-B109-4EA6-913C-BCDD33DC42C4}"/>
</file>

<file path=docProps/app.xml><?xml version="1.0" encoding="utf-8"?>
<Properties xmlns="http://schemas.openxmlformats.org/officeDocument/2006/extended-properties" xmlns:vt="http://schemas.openxmlformats.org/officeDocument/2006/docPropsVTypes">
  <TotalTime>14334</TotalTime>
  <Words>3303</Words>
  <Application>Microsoft Office PowerPoint</Application>
  <PresentationFormat>Widescreen</PresentationFormat>
  <Paragraphs>910</Paragraphs>
  <Slides>26</Slides>
  <Notes>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35" baseType="lpstr">
      <vt:lpstr>Abadi Extra Light</vt:lpstr>
      <vt:lpstr>Arial</vt:lpstr>
      <vt:lpstr>Calibri</vt:lpstr>
      <vt:lpstr>Calibri Light</vt:lpstr>
      <vt:lpstr>Verdana</vt:lpstr>
      <vt:lpstr>Wingdings 2</vt:lpstr>
      <vt:lpstr>deloitte theme</vt:lpstr>
      <vt:lpstr>4_Deloitte 16_9 onscreen</vt:lpstr>
      <vt:lpstr>think-cell Slide</vt:lpstr>
      <vt:lpstr>PowerPoint Presentation</vt:lpstr>
      <vt:lpstr>WBDOP – Goals and strategic initiatives (1/2)</vt:lpstr>
      <vt:lpstr>WBDOP – Goals and strategic initiatives (2/2)</vt:lpstr>
      <vt:lpstr>WBDOP Action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Srijan - Ext</dc:creator>
  <cp:lastModifiedBy>Banerjee, Rajeswar</cp:lastModifiedBy>
  <cp:revision>874</cp:revision>
  <dcterms:created xsi:type="dcterms:W3CDTF">2022-02-14T10:56:16Z</dcterms:created>
  <dcterms:modified xsi:type="dcterms:W3CDTF">2022-10-12T00:55:07Z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2022-02-14T10:56:17Z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b47a5512-50bb-4f2c-876e-9bef48353ad6</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