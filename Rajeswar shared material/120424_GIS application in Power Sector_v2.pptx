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notesSlides/notesSlide2.xml" ContentType="application/vnd.openxmlformats-officedocument.presentationml.notesSlide+xml"/>
  <Override PartName="/ppt/tags/tag36.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47.xml" ContentType="application/vnd.openxmlformats-officedocument.presentationml.tags+xml"/>
  <Override PartName="/ppt/notesSlides/notesSlide6.xml" ContentType="application/vnd.openxmlformats-officedocument.presentationml.notesSlide+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notesSlides/notesSlide8.xml" ContentType="application/vnd.openxmlformats-officedocument.presentationml.notesSlide+xml"/>
  <Override PartName="/ppt/tags/tag50.xml" ContentType="application/vnd.openxmlformats-officedocument.presentationml.tags+xml"/>
  <Override PartName="/ppt/notesSlides/notesSlide9.xml" ContentType="application/vnd.openxmlformats-officedocument.presentationml.notesSlide+xml"/>
  <Override PartName="/ppt/tags/tag51.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100" r:id="rId5"/>
  </p:sldMasterIdLst>
  <p:notesMasterIdLst>
    <p:notesMasterId r:id="rId32"/>
  </p:notesMasterIdLst>
  <p:handoutMasterIdLst>
    <p:handoutMasterId r:id="rId33"/>
  </p:handoutMasterIdLst>
  <p:sldIdLst>
    <p:sldId id="260" r:id="rId6"/>
    <p:sldId id="2147472143" r:id="rId7"/>
    <p:sldId id="2147472120" r:id="rId8"/>
    <p:sldId id="2147472114" r:id="rId9"/>
    <p:sldId id="2147472121" r:id="rId10"/>
    <p:sldId id="2147472141" r:id="rId11"/>
    <p:sldId id="2147472138" r:id="rId12"/>
    <p:sldId id="2147472139" r:id="rId13"/>
    <p:sldId id="2147472127" r:id="rId14"/>
    <p:sldId id="2147472122" r:id="rId15"/>
    <p:sldId id="2147472124" r:id="rId16"/>
    <p:sldId id="2147472125" r:id="rId17"/>
    <p:sldId id="2147472123" r:id="rId18"/>
    <p:sldId id="2147472133" r:id="rId19"/>
    <p:sldId id="2147472132" r:id="rId20"/>
    <p:sldId id="2147472135" r:id="rId21"/>
    <p:sldId id="2147472136" r:id="rId22"/>
    <p:sldId id="2147472140" r:id="rId23"/>
    <p:sldId id="2147472137" r:id="rId24"/>
    <p:sldId id="2147472013" r:id="rId25"/>
    <p:sldId id="2147472126" r:id="rId26"/>
    <p:sldId id="2147472142" r:id="rId27"/>
    <p:sldId id="2147472128" r:id="rId28"/>
    <p:sldId id="2147472129" r:id="rId29"/>
    <p:sldId id="2147472131" r:id="rId30"/>
    <p:sldId id="2147472130" r:id="rId31"/>
  </p:sldIdLst>
  <p:sldSz cx="12192000" cy="6858000"/>
  <p:notesSz cx="7315200" cy="9601200"/>
  <p:custDataLst>
    <p:tags r:id="rId34"/>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1008"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0A7711-F94C-73EA-B932-7D39831E90DF}" name="Moitra, Meghna" initials="MM" userId="S::memoitra@deloitte.com::141e915a-c98c-4fb8-acba-976ccf0ac07a" providerId="AD"/>
  <p188:author id="{E27EBC48-AA79-795E-5D8C-9DCFC230DACA}" name="Khiroria, Adit" initials="KA" userId="S::akhiroria@deloitte.com::125b7d01-0557-4756-b3b5-aac8221948e3" providerId="AD"/>
  <p188:author id="{43894866-CCC8-3B44-E319-ED606C4580A4}" name="Banerjee, Rajeswar" initials="BR" userId="S::rajbanerjee@deloitte.com::b4ff5a26-7e17-4c5f-975b-d63f3f91df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2"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A44"/>
    <a:srgbClr val="00B050"/>
    <a:srgbClr val="E8F6CF"/>
    <a:srgbClr val="26890D"/>
    <a:srgbClr val="43B02A"/>
    <a:srgbClr val="000000"/>
    <a:srgbClr val="FFFFFF"/>
    <a:srgbClr val="B2B2B2"/>
    <a:srgbClr val="3399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92" autoAdjust="0"/>
  </p:normalViewPr>
  <p:slideViewPr>
    <p:cSldViewPr snapToGrid="0">
      <p:cViewPr>
        <p:scale>
          <a:sx n="60" d="100"/>
          <a:sy n="60" d="100"/>
        </p:scale>
        <p:origin x="840" y="124"/>
      </p:cViewPr>
      <p:guideLst>
        <p:guide pos="1008"/>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tags" Target="tags/tag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image" Target="../media/image10.png"/></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n-IN" sz="1000" dirty="0"/>
              <a:t>Growth in Installed Capacity (GW) &amp; Energy Generation (BUs)</a:t>
            </a:r>
          </a:p>
        </c:rich>
      </c:tx>
      <c:layout>
        <c:manualLayout>
          <c:xMode val="edge"/>
          <c:yMode val="edge"/>
          <c:x val="0.12033335862779056"/>
          <c:y val="4.1899192212623906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420183302564591"/>
          <c:y val="0.167516605933967"/>
          <c:w val="0.75973881173060098"/>
          <c:h val="0.48362075189630416"/>
        </c:manualLayout>
      </c:layout>
      <c:barChart>
        <c:barDir val="col"/>
        <c:grouping val="stacked"/>
        <c:varyColors val="0"/>
        <c:ser>
          <c:idx val="1"/>
          <c:order val="1"/>
          <c:tx>
            <c:strRef>
              <c:f>Sheet1!$C$1</c:f>
              <c:strCache>
                <c:ptCount val="1"/>
                <c:pt idx="0">
                  <c:v>Coal</c:v>
                </c:pt>
              </c:strCache>
            </c:strRef>
          </c:tx>
          <c:spPr>
            <a:solidFill>
              <a:srgbClr val="97999B"/>
            </a:solidFill>
            <a:ln>
              <a:noFill/>
            </a:ln>
            <a:effectLst/>
          </c:spPr>
          <c:invertIfNegative val="0"/>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Sheet1!$C$2:$C$16</c:f>
              <c:numCache>
                <c:formatCode>#,##0.00</c:formatCode>
                <c:ptCount val="15"/>
                <c:pt idx="0">
                  <c:v>84.4</c:v>
                </c:pt>
                <c:pt idx="1">
                  <c:v>94.7</c:v>
                </c:pt>
                <c:pt idx="2">
                  <c:v>113.8</c:v>
                </c:pt>
                <c:pt idx="3">
                  <c:v>130.4</c:v>
                </c:pt>
                <c:pt idx="4">
                  <c:v>145.4</c:v>
                </c:pt>
                <c:pt idx="5">
                  <c:v>165.2</c:v>
                </c:pt>
                <c:pt idx="6">
                  <c:v>186</c:v>
                </c:pt>
                <c:pt idx="7">
                  <c:v>194.4</c:v>
                </c:pt>
                <c:pt idx="8">
                  <c:v>197</c:v>
                </c:pt>
                <c:pt idx="9">
                  <c:v>200.7</c:v>
                </c:pt>
                <c:pt idx="10">
                  <c:v>205.1345</c:v>
                </c:pt>
                <c:pt idx="11">
                  <c:v>209.2945</c:v>
                </c:pt>
                <c:pt idx="12">
                  <c:v>204.07900000000001</c:v>
                </c:pt>
                <c:pt idx="13">
                  <c:v>211.86</c:v>
                </c:pt>
                <c:pt idx="14">
                  <c:v>217.58946</c:v>
                </c:pt>
              </c:numCache>
            </c:numRef>
          </c:val>
          <c:extLst>
            <c:ext xmlns:c16="http://schemas.microsoft.com/office/drawing/2014/chart" uri="{C3380CC4-5D6E-409C-BE32-E72D297353CC}">
              <c16:uniqueId val="{00000000-5D06-4E7D-BC41-F347E678732C}"/>
            </c:ext>
          </c:extLst>
        </c:ser>
        <c:ser>
          <c:idx val="2"/>
          <c:order val="2"/>
          <c:tx>
            <c:strRef>
              <c:f>Sheet1!$D$1</c:f>
              <c:strCache>
                <c:ptCount val="1"/>
                <c:pt idx="0">
                  <c:v>Gas </c:v>
                </c:pt>
              </c:strCache>
            </c:strRef>
          </c:tx>
          <c:spPr>
            <a:solidFill>
              <a:schemeClr val="accent3"/>
            </a:solidFill>
            <a:ln>
              <a:noFill/>
            </a:ln>
            <a:effectLst/>
          </c:spPr>
          <c:invertIfNegative val="0"/>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Sheet1!$D$2:$D$16</c:f>
              <c:numCache>
                <c:formatCode>#,##0.00</c:formatCode>
                <c:ptCount val="15"/>
                <c:pt idx="0">
                  <c:v>17.100000000000001</c:v>
                </c:pt>
                <c:pt idx="1">
                  <c:v>17.7</c:v>
                </c:pt>
                <c:pt idx="2">
                  <c:v>18.399999999999999</c:v>
                </c:pt>
                <c:pt idx="3">
                  <c:v>20.100000000000001</c:v>
                </c:pt>
                <c:pt idx="4">
                  <c:v>21.8</c:v>
                </c:pt>
                <c:pt idx="5">
                  <c:v>23.1</c:v>
                </c:pt>
                <c:pt idx="6">
                  <c:v>24.5</c:v>
                </c:pt>
                <c:pt idx="7">
                  <c:v>25.3</c:v>
                </c:pt>
                <c:pt idx="8">
                  <c:v>24.9</c:v>
                </c:pt>
                <c:pt idx="9">
                  <c:v>24.937000000000001</c:v>
                </c:pt>
                <c:pt idx="10">
                  <c:v>24.955359999999999</c:v>
                </c:pt>
                <c:pt idx="11">
                  <c:v>24.924009999999999</c:v>
                </c:pt>
                <c:pt idx="12">
                  <c:v>24.824000000000002</c:v>
                </c:pt>
                <c:pt idx="13">
                  <c:v>24.82</c:v>
                </c:pt>
                <c:pt idx="14">
                  <c:v>25.038209999999999</c:v>
                </c:pt>
              </c:numCache>
            </c:numRef>
          </c:val>
          <c:extLst>
            <c:ext xmlns:c16="http://schemas.microsoft.com/office/drawing/2014/chart" uri="{C3380CC4-5D6E-409C-BE32-E72D297353CC}">
              <c16:uniqueId val="{00000001-5D06-4E7D-BC41-F347E678732C}"/>
            </c:ext>
          </c:extLst>
        </c:ser>
        <c:ser>
          <c:idx val="3"/>
          <c:order val="3"/>
          <c:tx>
            <c:strRef>
              <c:f>Sheet1!$E$1</c:f>
              <c:strCache>
                <c:ptCount val="1"/>
                <c:pt idx="0">
                  <c:v>Nuclear </c:v>
                </c:pt>
              </c:strCache>
            </c:strRef>
          </c:tx>
          <c:spPr>
            <a:solidFill>
              <a:schemeClr val="accent2"/>
            </a:solidFill>
            <a:ln>
              <a:noFill/>
            </a:ln>
            <a:effectLst/>
          </c:spPr>
          <c:invertIfNegative val="0"/>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Sheet1!$E$2:$E$16</c:f>
              <c:numCache>
                <c:formatCode>#,##0.00</c:formatCode>
                <c:ptCount val="15"/>
                <c:pt idx="0">
                  <c:v>4.5999999999999996</c:v>
                </c:pt>
                <c:pt idx="1">
                  <c:v>4.8</c:v>
                </c:pt>
                <c:pt idx="2">
                  <c:v>4.8</c:v>
                </c:pt>
                <c:pt idx="3">
                  <c:v>4.8</c:v>
                </c:pt>
                <c:pt idx="4">
                  <c:v>4.8</c:v>
                </c:pt>
                <c:pt idx="5">
                  <c:v>5.8</c:v>
                </c:pt>
                <c:pt idx="6">
                  <c:v>5.8</c:v>
                </c:pt>
                <c:pt idx="7">
                  <c:v>6.8</c:v>
                </c:pt>
                <c:pt idx="8">
                  <c:v>6.8</c:v>
                </c:pt>
                <c:pt idx="9">
                  <c:v>6.78</c:v>
                </c:pt>
                <c:pt idx="10">
                  <c:v>6.78</c:v>
                </c:pt>
                <c:pt idx="11">
                  <c:v>6.78</c:v>
                </c:pt>
                <c:pt idx="12">
                  <c:v>6.78</c:v>
                </c:pt>
                <c:pt idx="13">
                  <c:v>6.78</c:v>
                </c:pt>
                <c:pt idx="14">
                  <c:v>7.48</c:v>
                </c:pt>
              </c:numCache>
            </c:numRef>
          </c:val>
          <c:extLst>
            <c:ext xmlns:c16="http://schemas.microsoft.com/office/drawing/2014/chart" uri="{C3380CC4-5D6E-409C-BE32-E72D297353CC}">
              <c16:uniqueId val="{00000002-5D06-4E7D-BC41-F347E678732C}"/>
            </c:ext>
          </c:extLst>
        </c:ser>
        <c:ser>
          <c:idx val="4"/>
          <c:order val="4"/>
          <c:tx>
            <c:strRef>
              <c:f>Sheet1!$F$1</c:f>
              <c:strCache>
                <c:ptCount val="1"/>
                <c:pt idx="0">
                  <c:v>Large Hydro</c:v>
                </c:pt>
              </c:strCache>
            </c:strRef>
          </c:tx>
          <c:spPr>
            <a:solidFill>
              <a:schemeClr val="accent5">
                <a:lumMod val="60000"/>
                <a:lumOff val="40000"/>
              </a:schemeClr>
            </a:solidFill>
            <a:ln>
              <a:noFill/>
            </a:ln>
            <a:effectLst/>
          </c:spPr>
          <c:invertIfNegative val="0"/>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Sheet1!$F$2:$F$16</c:f>
              <c:numCache>
                <c:formatCode>#,##0.00</c:formatCode>
                <c:ptCount val="15"/>
                <c:pt idx="0">
                  <c:v>36.9</c:v>
                </c:pt>
                <c:pt idx="1">
                  <c:v>37.600000000000009</c:v>
                </c:pt>
                <c:pt idx="2">
                  <c:v>39</c:v>
                </c:pt>
                <c:pt idx="3">
                  <c:v>39.600000000000009</c:v>
                </c:pt>
                <c:pt idx="4">
                  <c:v>40.499999999999993</c:v>
                </c:pt>
                <c:pt idx="5">
                  <c:v>41.599999999999994</c:v>
                </c:pt>
                <c:pt idx="6">
                  <c:v>42.800000000000004</c:v>
                </c:pt>
                <c:pt idx="7">
                  <c:v>44.599999999999994</c:v>
                </c:pt>
                <c:pt idx="8">
                  <c:v>45.3</c:v>
                </c:pt>
                <c:pt idx="9">
                  <c:v>45.39922</c:v>
                </c:pt>
                <c:pt idx="10">
                  <c:v>45.699220000000004</c:v>
                </c:pt>
                <c:pt idx="11">
                  <c:v>46.209220000000002</c:v>
                </c:pt>
                <c:pt idx="12">
                  <c:v>46.85</c:v>
                </c:pt>
                <c:pt idx="13">
                  <c:v>46.85</c:v>
                </c:pt>
                <c:pt idx="14">
                  <c:v>46.928170000000001</c:v>
                </c:pt>
              </c:numCache>
            </c:numRef>
          </c:val>
          <c:extLst>
            <c:ext xmlns:c16="http://schemas.microsoft.com/office/drawing/2014/chart" uri="{C3380CC4-5D6E-409C-BE32-E72D297353CC}">
              <c16:uniqueId val="{00000003-5D06-4E7D-BC41-F347E678732C}"/>
            </c:ext>
          </c:extLst>
        </c:ser>
        <c:ser>
          <c:idx val="5"/>
          <c:order val="5"/>
          <c:tx>
            <c:strRef>
              <c:f>Sheet1!$G$1</c:f>
              <c:strCache>
                <c:ptCount val="1"/>
                <c:pt idx="0">
                  <c:v>RE</c:v>
                </c:pt>
              </c:strCache>
            </c:strRef>
          </c:tx>
          <c:spPr>
            <a:solidFill>
              <a:schemeClr val="accent6"/>
            </a:solidFill>
            <a:ln>
              <a:noFill/>
            </a:ln>
            <a:effectLst/>
          </c:spPr>
          <c:invertIfNegative val="0"/>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Sheet1!$G$2:$G$16</c:f>
              <c:numCache>
                <c:formatCode>#,##0.00</c:formatCode>
                <c:ptCount val="15"/>
                <c:pt idx="0">
                  <c:v>15.700000000000003</c:v>
                </c:pt>
                <c:pt idx="1">
                  <c:v>18.839999999999989</c:v>
                </c:pt>
                <c:pt idx="2">
                  <c:v>23.03</c:v>
                </c:pt>
                <c:pt idx="3">
                  <c:v>27.289999999999992</c:v>
                </c:pt>
                <c:pt idx="4">
                  <c:v>31.70000000000001</c:v>
                </c:pt>
                <c:pt idx="5">
                  <c:v>33.97</c:v>
                </c:pt>
                <c:pt idx="6">
                  <c:v>38.82</c:v>
                </c:pt>
                <c:pt idx="7">
                  <c:v>50.070000000000007</c:v>
                </c:pt>
                <c:pt idx="8">
                  <c:v>62.850000000000009</c:v>
                </c:pt>
                <c:pt idx="9">
                  <c:v>77.641000000000005</c:v>
                </c:pt>
                <c:pt idx="10">
                  <c:v>87.027679999999989</c:v>
                </c:pt>
                <c:pt idx="11">
                  <c:v>94.433789999999988</c:v>
                </c:pt>
                <c:pt idx="12">
                  <c:v>118.08</c:v>
                </c:pt>
                <c:pt idx="13">
                  <c:v>125.16</c:v>
                </c:pt>
                <c:pt idx="14">
                  <c:v>136.57008999999999</c:v>
                </c:pt>
              </c:numCache>
            </c:numRef>
          </c:val>
          <c:extLst>
            <c:ext xmlns:c16="http://schemas.microsoft.com/office/drawing/2014/chart" uri="{C3380CC4-5D6E-409C-BE32-E72D297353CC}">
              <c16:uniqueId val="{00000004-5D06-4E7D-BC41-F347E678732C}"/>
            </c:ext>
          </c:extLst>
        </c:ser>
        <c:ser>
          <c:idx val="6"/>
          <c:order val="6"/>
          <c:tx>
            <c:strRef>
              <c:f>Sheet1!$H$1</c:f>
              <c:strCache>
                <c:ptCount val="1"/>
                <c:pt idx="0">
                  <c:v>Other</c:v>
                </c:pt>
              </c:strCache>
            </c:strRef>
          </c:tx>
          <c:spPr>
            <a:solidFill>
              <a:schemeClr val="accent1">
                <a:lumMod val="60000"/>
              </a:schemeClr>
            </a:solidFill>
            <a:ln>
              <a:noFill/>
            </a:ln>
            <a:effectLst/>
          </c:spPr>
          <c:invertIfNegative val="0"/>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Sheet1!$H$2:$H$16</c:f>
              <c:numCache>
                <c:formatCode>#,##0.00</c:formatCode>
                <c:ptCount val="15"/>
                <c:pt idx="0">
                  <c:v>1.2</c:v>
                </c:pt>
                <c:pt idx="1">
                  <c:v>1.2</c:v>
                </c:pt>
                <c:pt idx="2">
                  <c:v>1.2</c:v>
                </c:pt>
                <c:pt idx="3">
                  <c:v>1.2</c:v>
                </c:pt>
                <c:pt idx="4">
                  <c:v>1.2</c:v>
                </c:pt>
                <c:pt idx="5">
                  <c:v>1.2</c:v>
                </c:pt>
                <c:pt idx="6">
                  <c:v>0.9</c:v>
                </c:pt>
                <c:pt idx="7">
                  <c:v>0.8</c:v>
                </c:pt>
                <c:pt idx="8">
                  <c:v>0.8</c:v>
                </c:pt>
                <c:pt idx="9">
                  <c:v>0.64</c:v>
                </c:pt>
                <c:pt idx="10">
                  <c:v>0.50970000000006621</c:v>
                </c:pt>
                <c:pt idx="11">
                  <c:v>0.50969999999995252</c:v>
                </c:pt>
                <c:pt idx="12">
                  <c:v>0.56200000000000006</c:v>
                </c:pt>
                <c:pt idx="13">
                  <c:v>0.58899999999999997</c:v>
                </c:pt>
                <c:pt idx="14">
                  <c:v>0.58919999999999995</c:v>
                </c:pt>
              </c:numCache>
            </c:numRef>
          </c:val>
          <c:extLst>
            <c:ext xmlns:c16="http://schemas.microsoft.com/office/drawing/2014/chart" uri="{C3380CC4-5D6E-409C-BE32-E72D297353CC}">
              <c16:uniqueId val="{00000005-5D06-4E7D-BC41-F347E678732C}"/>
            </c:ext>
          </c:extLst>
        </c:ser>
        <c:dLbls>
          <c:showLegendKey val="0"/>
          <c:showVal val="0"/>
          <c:showCatName val="0"/>
          <c:showSerName val="0"/>
          <c:showPercent val="0"/>
          <c:showBubbleSize val="0"/>
        </c:dLbls>
        <c:gapWidth val="150"/>
        <c:overlap val="100"/>
        <c:axId val="1285674360"/>
        <c:axId val="1285676328"/>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Installed Capacity</c:v>
                      </c:pt>
                    </c:strCache>
                  </c:strRef>
                </c:tx>
                <c:spPr>
                  <a:solidFill>
                    <a:schemeClr val="accent5">
                      <a:lumMod val="75000"/>
                    </a:schemeClr>
                  </a:solidFill>
                  <a:ln w="15875">
                    <a:noFill/>
                    <a:prstDash val="dash"/>
                  </a:ln>
                  <a:effectLst/>
                </c:spPr>
                <c:invertIfNegative val="0"/>
                <c:trendline>
                  <c:spPr>
                    <a:ln w="19050" cap="rnd">
                      <a:solidFill>
                        <a:srgbClr val="ED8B00"/>
                      </a:solidFill>
                      <a:prstDash val="sysDot"/>
                    </a:ln>
                    <a:effectLst/>
                  </c:spPr>
                  <c:trendlineType val="exp"/>
                  <c:dispRSqr val="0"/>
                  <c:dispEq val="0"/>
                </c:trendline>
                <c:cat>
                  <c:strRef>
                    <c:extLst>
                      <c:ext uri="{02D57815-91ED-43cb-92C2-25804820EDAC}">
                        <c15:formulaRef>
                          <c15:sqref>Sheet1!$A$2:$A$16</c15:sqref>
                        </c15:formulaRef>
                      </c:ext>
                    </c:extLst>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extLst>
                      <c:ext uri="{02D57815-91ED-43cb-92C2-25804820EDAC}">
                        <c15:formulaRef>
                          <c15:sqref>Sheet1!$B$2:$B$16</c15:sqref>
                        </c15:formulaRef>
                      </c:ext>
                    </c:extLst>
                    <c:numCache>
                      <c:formatCode>#,##0.00</c:formatCode>
                      <c:ptCount val="15"/>
                      <c:pt idx="0">
                        <c:v>159.9</c:v>
                      </c:pt>
                      <c:pt idx="1">
                        <c:v>174.84</c:v>
                      </c:pt>
                      <c:pt idx="2">
                        <c:v>200.23</c:v>
                      </c:pt>
                      <c:pt idx="3">
                        <c:v>223.39</c:v>
                      </c:pt>
                      <c:pt idx="4">
                        <c:v>245.4</c:v>
                      </c:pt>
                      <c:pt idx="5">
                        <c:v>270.87</c:v>
                      </c:pt>
                      <c:pt idx="6">
                        <c:v>298.82</c:v>
                      </c:pt>
                      <c:pt idx="7">
                        <c:v>321.97000000000003</c:v>
                      </c:pt>
                      <c:pt idx="8">
                        <c:v>337.65</c:v>
                      </c:pt>
                      <c:pt idx="9">
                        <c:v>357.49</c:v>
                      </c:pt>
                      <c:pt idx="10">
                        <c:v>370.10646000000003</c:v>
                      </c:pt>
                      <c:pt idx="11">
                        <c:v>382.15121999999997</c:v>
                      </c:pt>
                      <c:pt idx="12">
                        <c:v>401.17500000000001</c:v>
                      </c:pt>
                      <c:pt idx="13">
                        <c:v>416.05900000000003</c:v>
                      </c:pt>
                      <c:pt idx="14">
                        <c:v>434.19513000000001</c:v>
                      </c:pt>
                    </c:numCache>
                  </c:numRef>
                </c:val>
                <c:extLst>
                  <c:ext xmlns:c16="http://schemas.microsoft.com/office/drawing/2014/chart" uri="{C3380CC4-5D6E-409C-BE32-E72D297353CC}">
                    <c16:uniqueId val="{00000008-5D06-4E7D-BC41-F347E678732C}"/>
                  </c:ext>
                </c:extLst>
              </c15:ser>
            </c15:filteredBarSeries>
          </c:ext>
        </c:extLst>
      </c:barChart>
      <c:lineChart>
        <c:grouping val="standard"/>
        <c:varyColors val="0"/>
        <c:ser>
          <c:idx val="7"/>
          <c:order val="7"/>
          <c:tx>
            <c:strRef>
              <c:f>Sheet1!$I$1</c:f>
              <c:strCache>
                <c:ptCount val="1"/>
                <c:pt idx="0">
                  <c:v>Energy Generation</c:v>
                </c:pt>
              </c:strCache>
            </c:strRef>
          </c:tx>
          <c:spPr>
            <a:ln w="15875" cap="rnd">
              <a:solidFill>
                <a:srgbClr val="ED8B00"/>
              </a:solidFill>
              <a:round/>
            </a:ln>
            <a:effectLst/>
          </c:spPr>
          <c:marker>
            <c:symbol val="circle"/>
            <c:size val="3"/>
            <c:spPr>
              <a:solidFill>
                <a:srgbClr val="ED8B00"/>
              </a:solidFill>
              <a:ln w="9525">
                <a:solidFill>
                  <a:srgbClr val="ED8B00">
                    <a:alpha val="94000"/>
                  </a:srgbClr>
                </a:solidFill>
              </a:ln>
              <a:effectLst/>
            </c:spPr>
          </c:marker>
          <c:cat>
            <c:strRef>
              <c:f>Sheet1!$A$2:$A$16</c:f>
              <c:strCache>
                <c:ptCount val="15"/>
                <c:pt idx="0">
                  <c:v>FY10</c:v>
                </c:pt>
                <c:pt idx="1">
                  <c:v>FY11</c:v>
                </c:pt>
                <c:pt idx="2">
                  <c:v>FY12</c:v>
                </c:pt>
                <c:pt idx="3">
                  <c:v>FY13</c:v>
                </c:pt>
                <c:pt idx="4">
                  <c:v>FY14</c:v>
                </c:pt>
                <c:pt idx="5">
                  <c:v>FY15</c:v>
                </c:pt>
                <c:pt idx="6">
                  <c:v>FY16</c:v>
                </c:pt>
                <c:pt idx="7">
                  <c:v>FY17</c:v>
                </c:pt>
                <c:pt idx="8">
                  <c:v>FY18</c:v>
                </c:pt>
                <c:pt idx="9">
                  <c:v>FY19</c:v>
                </c:pt>
                <c:pt idx="10">
                  <c:v>FY20</c:v>
                </c:pt>
                <c:pt idx="11">
                  <c:v>FY21</c:v>
                </c:pt>
                <c:pt idx="12">
                  <c:v>FY22</c:v>
                </c:pt>
                <c:pt idx="13">
                  <c:v>FY23</c:v>
                </c:pt>
                <c:pt idx="14">
                  <c:v>FY24*</c:v>
                </c:pt>
              </c:strCache>
            </c:strRef>
          </c:cat>
          <c:val>
            <c:numRef>
              <c:f>Sheet1!$I$2:$I$16</c:f>
              <c:numCache>
                <c:formatCode>#,##0.00</c:formatCode>
                <c:ptCount val="15"/>
                <c:pt idx="0">
                  <c:v>808.49800000000005</c:v>
                </c:pt>
                <c:pt idx="1">
                  <c:v>850.38699999999994</c:v>
                </c:pt>
                <c:pt idx="2">
                  <c:v>928.11300000000006</c:v>
                </c:pt>
                <c:pt idx="3">
                  <c:v>969.50599999999997</c:v>
                </c:pt>
                <c:pt idx="4">
                  <c:v>1020.2</c:v>
                </c:pt>
                <c:pt idx="5">
                  <c:v>1110.3920000000001</c:v>
                </c:pt>
                <c:pt idx="6">
                  <c:v>1173.6030000000001</c:v>
                </c:pt>
                <c:pt idx="7">
                  <c:v>1241.6890000000001</c:v>
                </c:pt>
                <c:pt idx="8">
                  <c:v>1308.146</c:v>
                </c:pt>
                <c:pt idx="9">
                  <c:v>1376.095</c:v>
                </c:pt>
                <c:pt idx="10" formatCode="General">
                  <c:v>1389.1020000000001</c:v>
                </c:pt>
                <c:pt idx="11">
                  <c:v>1381.855</c:v>
                </c:pt>
                <c:pt idx="12">
                  <c:v>1491.8589999999999</c:v>
                </c:pt>
                <c:pt idx="13">
                  <c:v>1624.1579999999999</c:v>
                </c:pt>
                <c:pt idx="14">
                  <c:v>1483.241</c:v>
                </c:pt>
              </c:numCache>
            </c:numRef>
          </c:val>
          <c:smooth val="0"/>
          <c:extLst>
            <c:ext xmlns:c16="http://schemas.microsoft.com/office/drawing/2014/chart" uri="{C3380CC4-5D6E-409C-BE32-E72D297353CC}">
              <c16:uniqueId val="{00000006-5D06-4E7D-BC41-F347E678732C}"/>
            </c:ext>
          </c:extLst>
        </c:ser>
        <c:dLbls>
          <c:showLegendKey val="0"/>
          <c:showVal val="0"/>
          <c:showCatName val="0"/>
          <c:showSerName val="0"/>
          <c:showPercent val="0"/>
          <c:showBubbleSize val="0"/>
        </c:dLbls>
        <c:marker val="1"/>
        <c:smooth val="0"/>
        <c:axId val="694396360"/>
        <c:axId val="694393408"/>
      </c:lineChart>
      <c:catAx>
        <c:axId val="1285674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285676328"/>
        <c:crosses val="autoZero"/>
        <c:auto val="1"/>
        <c:lblAlgn val="ctr"/>
        <c:lblOffset val="100"/>
        <c:noMultiLvlLbl val="0"/>
      </c:catAx>
      <c:valAx>
        <c:axId val="1285676328"/>
        <c:scaling>
          <c:orientation val="minMax"/>
          <c:max val="500"/>
          <c:min val="0"/>
        </c:scaling>
        <c:delete val="0"/>
        <c:axPos val="l"/>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IN" sz="800"/>
                  <a:t>Installed capacity</a:t>
                </a:r>
                <a:r>
                  <a:rPr lang="en-IN" sz="800" baseline="0"/>
                  <a:t> (GW)</a:t>
                </a:r>
                <a:endParaRPr lang="en-IN" sz="800"/>
              </a:p>
            </c:rich>
          </c:tx>
          <c:layout>
            <c:manualLayout>
              <c:xMode val="edge"/>
              <c:yMode val="edge"/>
              <c:x val="1.8572455228810684E-2"/>
              <c:y val="0.1135791733557577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285674360"/>
        <c:crosses val="autoZero"/>
        <c:crossBetween val="between"/>
        <c:majorUnit val="200"/>
        <c:minorUnit val="40"/>
      </c:valAx>
      <c:valAx>
        <c:axId val="694393408"/>
        <c:scaling>
          <c:orientation val="minMax"/>
        </c:scaling>
        <c:delete val="0"/>
        <c:axPos val="r"/>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IN" sz="800"/>
                  <a:t>Energy generated (BU)</a:t>
                </a:r>
              </a:p>
            </c:rich>
          </c:tx>
          <c:layout>
            <c:manualLayout>
              <c:xMode val="edge"/>
              <c:yMode val="edge"/>
              <c:x val="0.96285657745162812"/>
              <c:y val="0.12032135242803389"/>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694396360"/>
        <c:crosses val="max"/>
        <c:crossBetween val="between"/>
        <c:majorUnit val="500"/>
      </c:valAx>
      <c:catAx>
        <c:axId val="694396360"/>
        <c:scaling>
          <c:orientation val="minMax"/>
        </c:scaling>
        <c:delete val="1"/>
        <c:axPos val="b"/>
        <c:numFmt formatCode="General" sourceLinked="1"/>
        <c:majorTickMark val="out"/>
        <c:minorTickMark val="none"/>
        <c:tickLblPos val="nextTo"/>
        <c:crossAx val="694393408"/>
        <c:crossesAt val="0"/>
        <c:auto val="1"/>
        <c:lblAlgn val="ctr"/>
        <c:lblOffset val="100"/>
        <c:noMultiLvlLbl val="0"/>
      </c:catAx>
      <c:spPr>
        <a:noFill/>
        <a:ln>
          <a:noFill/>
        </a:ln>
        <a:effectLst/>
      </c:spPr>
    </c:plotArea>
    <c:legend>
      <c:legendPos val="b"/>
      <c:legendEntry>
        <c:idx val="5"/>
        <c:delete val="1"/>
      </c:legendEntry>
      <c:layout>
        <c:manualLayout>
          <c:xMode val="edge"/>
          <c:yMode val="edge"/>
          <c:x val="2.8608961082245671E-2"/>
          <c:y val="0.81594806717121526"/>
          <c:w val="0.92905631070562444"/>
          <c:h val="0.1526158853522234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dirty="0"/>
              <a:t>Growth in Energy Requirement (MU) &amp; Peak Demand (GW)</a:t>
            </a:r>
          </a:p>
        </c:rich>
      </c:tx>
      <c:layout>
        <c:manualLayout>
          <c:xMode val="edge"/>
          <c:yMode val="edge"/>
          <c:x val="0.1805325443357565"/>
          <c:y val="0.16922837283909889"/>
        </c:manualLayout>
      </c:layout>
      <c:overlay val="0"/>
      <c:spPr>
        <a:noFill/>
        <a:ln>
          <a:noFill/>
        </a:ln>
        <a:effectLst/>
      </c:spPr>
    </c:title>
    <c:autoTitleDeleted val="0"/>
    <c:plotArea>
      <c:layout>
        <c:manualLayout>
          <c:layoutTarget val="inner"/>
          <c:xMode val="edge"/>
          <c:yMode val="edge"/>
          <c:x val="0.16276358883588754"/>
          <c:y val="0.29267778283721957"/>
          <c:w val="0.72976705993173918"/>
          <c:h val="0.41198677234211978"/>
        </c:manualLayout>
      </c:layout>
      <c:barChart>
        <c:barDir val="col"/>
        <c:grouping val="clustered"/>
        <c:varyColors val="0"/>
        <c:ser>
          <c:idx val="0"/>
          <c:order val="0"/>
          <c:tx>
            <c:strRef>
              <c:f>Sheet1!$B$1</c:f>
              <c:strCache>
                <c:ptCount val="1"/>
                <c:pt idx="0">
                  <c:v>Energy Requirement (MU)</c:v>
                </c:pt>
              </c:strCache>
            </c:strRef>
          </c:tx>
          <c:spPr>
            <a:solidFill>
              <a:schemeClr val="accent1"/>
            </a:solidFill>
            <a:ln>
              <a:noFill/>
            </a:ln>
            <a:effectLst/>
          </c:spPr>
          <c:invertIfNegative val="0"/>
          <c:dPt>
            <c:idx val="8"/>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4-5438-40BF-B163-0059B2675E38}"/>
              </c:ext>
            </c:extLst>
          </c:dPt>
          <c:dPt>
            <c:idx val="9"/>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5-5438-40BF-B163-0059B2675E38}"/>
              </c:ext>
            </c:extLst>
          </c:dPt>
          <c:dPt>
            <c:idx val="10"/>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6-5438-40BF-B163-0059B2675E38}"/>
              </c:ext>
            </c:extLst>
          </c:dPt>
          <c:dPt>
            <c:idx val="11"/>
            <c:invertIfNegative val="0"/>
            <c:bubble3D val="0"/>
            <c:spPr>
              <a:solidFill>
                <a:schemeClr val="accent6"/>
              </a:solidFill>
              <a:ln>
                <a:noFill/>
              </a:ln>
              <a:effectLst/>
            </c:spPr>
            <c:extLst>
              <c:ext xmlns:c16="http://schemas.microsoft.com/office/drawing/2014/chart" uri="{C3380CC4-5D6E-409C-BE32-E72D297353CC}">
                <c16:uniqueId val="{00000003-7B38-4904-A996-5D55E90EEA73}"/>
              </c:ext>
            </c:extLst>
          </c:dPt>
          <c:dPt>
            <c:idx val="12"/>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7-5438-40BF-B163-0059B2675E38}"/>
              </c:ext>
            </c:extLst>
          </c:dPt>
          <c:dPt>
            <c:idx val="13"/>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8-5438-40BF-B163-0059B2675E38}"/>
              </c:ext>
            </c:extLst>
          </c:dPt>
          <c:dPt>
            <c:idx val="14"/>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9-5438-40BF-B163-0059B2675E38}"/>
              </c:ext>
            </c:extLst>
          </c:dPt>
          <c:dPt>
            <c:idx val="15"/>
            <c:invertIfNegative val="0"/>
            <c:bubble3D val="0"/>
            <c:spPr>
              <a:solidFill>
                <a:schemeClr val="bg1">
                  <a:lumMod val="95000"/>
                </a:schemeClr>
              </a:solidFill>
              <a:ln>
                <a:solidFill>
                  <a:srgbClr val="A7A8AA"/>
                </a:solidFill>
              </a:ln>
              <a:effectLst/>
            </c:spPr>
            <c:extLst>
              <c:ext xmlns:c16="http://schemas.microsoft.com/office/drawing/2014/chart" uri="{C3380CC4-5D6E-409C-BE32-E72D297353CC}">
                <c16:uniqueId val="{0000000A-5438-40BF-B163-0059B2675E38}"/>
              </c:ext>
            </c:extLst>
          </c:dPt>
          <c:dPt>
            <c:idx val="16"/>
            <c:invertIfNegative val="0"/>
            <c:bubble3D val="0"/>
            <c:spPr>
              <a:solidFill>
                <a:schemeClr val="accent6"/>
              </a:solidFill>
              <a:ln>
                <a:noFill/>
              </a:ln>
              <a:effectLst/>
            </c:spPr>
            <c:extLst>
              <c:ext xmlns:c16="http://schemas.microsoft.com/office/drawing/2014/chart" uri="{C3380CC4-5D6E-409C-BE32-E72D297353CC}">
                <c16:uniqueId val="{00000004-7B38-4904-A996-5D55E90EEA73}"/>
              </c:ext>
            </c:extLst>
          </c:dPt>
          <c:cat>
            <c:strRef>
              <c:f>Sheet1!$A$2:$A$18</c:f>
              <c:strCache>
                <c:ptCount val="17"/>
                <c:pt idx="0">
                  <c:v>FY16</c:v>
                </c:pt>
                <c:pt idx="1">
                  <c:v>FY17</c:v>
                </c:pt>
                <c:pt idx="2">
                  <c:v>FY18</c:v>
                </c:pt>
                <c:pt idx="3">
                  <c:v>FY19</c:v>
                </c:pt>
                <c:pt idx="4">
                  <c:v>FY20</c:v>
                </c:pt>
                <c:pt idx="5">
                  <c:v>FY21</c:v>
                </c:pt>
                <c:pt idx="6">
                  <c:v>FY22</c:v>
                </c:pt>
                <c:pt idx="7">
                  <c:v>FY23</c:v>
                </c:pt>
                <c:pt idx="11">
                  <c:v>FY27 (P)</c:v>
                </c:pt>
                <c:pt idx="16">
                  <c:v>FY32(P)</c:v>
                </c:pt>
              </c:strCache>
            </c:strRef>
          </c:cat>
          <c:val>
            <c:numRef>
              <c:f>Sheet1!$B$2:$B$18</c:f>
              <c:numCache>
                <c:formatCode>General</c:formatCode>
                <c:ptCount val="17"/>
                <c:pt idx="0">
                  <c:v>1114408</c:v>
                </c:pt>
                <c:pt idx="1">
                  <c:v>1142928</c:v>
                </c:pt>
                <c:pt idx="2">
                  <c:v>1213326</c:v>
                </c:pt>
                <c:pt idx="3">
                  <c:v>1274595</c:v>
                </c:pt>
                <c:pt idx="4">
                  <c:v>1291010</c:v>
                </c:pt>
                <c:pt idx="5">
                  <c:v>1275534</c:v>
                </c:pt>
                <c:pt idx="6">
                  <c:v>1379812</c:v>
                </c:pt>
                <c:pt idx="7">
                  <c:v>1513497</c:v>
                </c:pt>
                <c:pt idx="8" formatCode="0">
                  <c:v>1660360.1309980906</c:v>
                </c:pt>
                <c:pt idx="9" formatCode="0">
                  <c:v>1745207.4403844574</c:v>
                </c:pt>
                <c:pt idx="10" formatCode="0">
                  <c:v>1834390.5958175356</c:v>
                </c:pt>
                <c:pt idx="11">
                  <c:v>1907835</c:v>
                </c:pt>
                <c:pt idx="12" formatCode="0">
                  <c:v>2026662.044698111</c:v>
                </c:pt>
                <c:pt idx="13" formatCode="0">
                  <c:v>2130228.0231372216</c:v>
                </c:pt>
                <c:pt idx="14" formatCode="0">
                  <c:v>2239086.4043812845</c:v>
                </c:pt>
                <c:pt idx="15" formatCode="0">
                  <c:v>2353507.6394787231</c:v>
                </c:pt>
                <c:pt idx="16">
                  <c:v>2473776</c:v>
                </c:pt>
              </c:numCache>
            </c:numRef>
          </c:val>
          <c:extLst>
            <c:ext xmlns:c16="http://schemas.microsoft.com/office/drawing/2014/chart" uri="{C3380CC4-5D6E-409C-BE32-E72D297353CC}">
              <c16:uniqueId val="{00000000-7B38-4904-A996-5D55E90EEA73}"/>
            </c:ext>
          </c:extLst>
        </c:ser>
        <c:dLbls>
          <c:showLegendKey val="0"/>
          <c:showVal val="0"/>
          <c:showCatName val="0"/>
          <c:showSerName val="0"/>
          <c:showPercent val="0"/>
          <c:showBubbleSize val="0"/>
        </c:dLbls>
        <c:gapWidth val="219"/>
        <c:axId val="1532324895"/>
        <c:axId val="1618415743"/>
      </c:barChart>
      <c:lineChart>
        <c:grouping val="standard"/>
        <c:varyColors val="0"/>
        <c:ser>
          <c:idx val="1"/>
          <c:order val="1"/>
          <c:tx>
            <c:strRef>
              <c:f>Sheet1!$C$1</c:f>
              <c:strCache>
                <c:ptCount val="1"/>
                <c:pt idx="0">
                  <c:v>Peak Demand (GW)</c:v>
                </c:pt>
              </c:strCache>
            </c:strRef>
          </c:tx>
          <c:spPr>
            <a:ln w="28575" cap="rnd">
              <a:solidFill>
                <a:schemeClr val="tx1"/>
              </a:solidFill>
              <a:round/>
            </a:ln>
            <a:effectLst/>
          </c:spPr>
          <c:marker>
            <c:symbol val="picture"/>
            <c:spPr>
              <a:blipFill>
                <a:blip xmlns:r="http://schemas.openxmlformats.org/officeDocument/2006/relationships" r:embed="rId1"/>
                <a:stretch>
                  <a:fillRect/>
                </a:stretch>
              </a:blipFill>
              <a:ln w="25400">
                <a:noFill/>
              </a:ln>
              <a:effectLst/>
            </c:spPr>
          </c:marker>
          <c:cat>
            <c:strRef>
              <c:f>Sheet1!$A$2:$A$18</c:f>
              <c:strCache>
                <c:ptCount val="17"/>
                <c:pt idx="0">
                  <c:v>FY16</c:v>
                </c:pt>
                <c:pt idx="1">
                  <c:v>FY17</c:v>
                </c:pt>
                <c:pt idx="2">
                  <c:v>FY18</c:v>
                </c:pt>
                <c:pt idx="3">
                  <c:v>FY19</c:v>
                </c:pt>
                <c:pt idx="4">
                  <c:v>FY20</c:v>
                </c:pt>
                <c:pt idx="5">
                  <c:v>FY21</c:v>
                </c:pt>
                <c:pt idx="6">
                  <c:v>FY22</c:v>
                </c:pt>
                <c:pt idx="7">
                  <c:v>FY23</c:v>
                </c:pt>
                <c:pt idx="11">
                  <c:v>FY27 (P)</c:v>
                </c:pt>
                <c:pt idx="16">
                  <c:v>FY32(P)</c:v>
                </c:pt>
              </c:strCache>
            </c:strRef>
          </c:cat>
          <c:val>
            <c:numRef>
              <c:f>Sheet1!$C$2:$C$18</c:f>
              <c:numCache>
                <c:formatCode>0</c:formatCode>
                <c:ptCount val="17"/>
                <c:pt idx="0">
                  <c:v>153.36600000000001</c:v>
                </c:pt>
                <c:pt idx="1">
                  <c:v>159.94200000000001</c:v>
                </c:pt>
                <c:pt idx="2">
                  <c:v>164.066</c:v>
                </c:pt>
                <c:pt idx="3">
                  <c:v>177.02199999999999</c:v>
                </c:pt>
                <c:pt idx="4">
                  <c:v>183.804</c:v>
                </c:pt>
                <c:pt idx="5">
                  <c:v>190.19800000000001</c:v>
                </c:pt>
                <c:pt idx="6">
                  <c:v>203.01400000000001</c:v>
                </c:pt>
                <c:pt idx="7">
                  <c:v>215.88800000000001</c:v>
                </c:pt>
                <c:pt idx="8">
                  <c:v>237.04900092175052</c:v>
                </c:pt>
                <c:pt idx="9">
                  <c:v>250.3091693850327</c:v>
                </c:pt>
                <c:pt idx="10">
                  <c:v>264.31109194553068</c:v>
                </c:pt>
                <c:pt idx="11">
                  <c:v>277.20100000000002</c:v>
                </c:pt>
                <c:pt idx="12">
                  <c:v>294.70849087653221</c:v>
                </c:pt>
                <c:pt idx="13">
                  <c:v>311.19404543017686</c:v>
                </c:pt>
                <c:pt idx="14">
                  <c:v>328.60177738065482</c:v>
                </c:pt>
                <c:pt idx="15">
                  <c:v>346.98327195965862</c:v>
                </c:pt>
                <c:pt idx="16">
                  <c:v>366.39299999999997</c:v>
                </c:pt>
              </c:numCache>
            </c:numRef>
          </c:val>
          <c:smooth val="0"/>
          <c:extLst>
            <c:ext xmlns:c16="http://schemas.microsoft.com/office/drawing/2014/chart" uri="{C3380CC4-5D6E-409C-BE32-E72D297353CC}">
              <c16:uniqueId val="{00000001-7B38-4904-A996-5D55E90EEA73}"/>
            </c:ext>
          </c:extLst>
        </c:ser>
        <c:dLbls>
          <c:showLegendKey val="0"/>
          <c:showVal val="0"/>
          <c:showCatName val="0"/>
          <c:showSerName val="0"/>
          <c:showPercent val="0"/>
          <c:showBubbleSize val="0"/>
        </c:dLbls>
        <c:marker val="1"/>
        <c:smooth val="0"/>
        <c:axId val="1643995791"/>
        <c:axId val="1982589551"/>
      </c:lineChart>
      <c:catAx>
        <c:axId val="1532324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618415743"/>
        <c:crosses val="autoZero"/>
        <c:auto val="1"/>
        <c:lblAlgn val="ctr"/>
        <c:lblOffset val="100"/>
        <c:noMultiLvlLbl val="0"/>
      </c:catAx>
      <c:valAx>
        <c:axId val="16184157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800" dirty="0"/>
                  <a:t>Energy Requirement (MU)</a:t>
                </a:r>
              </a:p>
            </c:rich>
          </c:tx>
          <c:layout>
            <c:manualLayout>
              <c:xMode val="edge"/>
              <c:yMode val="edge"/>
              <c:x val="1.4458424138449048E-2"/>
              <c:y val="0.14095579339526887"/>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532324895"/>
        <c:crosses val="autoZero"/>
        <c:crossBetween val="between"/>
      </c:valAx>
      <c:valAx>
        <c:axId val="1982589551"/>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800" dirty="0"/>
                  <a:t>Peak Demand (GW)</a:t>
                </a:r>
              </a:p>
            </c:rich>
          </c:tx>
          <c:layout>
            <c:manualLayout>
              <c:xMode val="edge"/>
              <c:yMode val="edge"/>
              <c:x val="0.95312805027174408"/>
              <c:y val="0.19931040471909606"/>
            </c:manualLayout>
          </c:layout>
          <c:overlay val="0"/>
          <c:spPr>
            <a:noFill/>
            <a:ln>
              <a:noFill/>
            </a:ln>
            <a:effectLst/>
          </c:sp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643995791"/>
        <c:crosses val="max"/>
        <c:crossBetween val="between"/>
      </c:valAx>
      <c:catAx>
        <c:axId val="1643995791"/>
        <c:scaling>
          <c:orientation val="minMax"/>
        </c:scaling>
        <c:delete val="1"/>
        <c:axPos val="b"/>
        <c:numFmt formatCode="General" sourceLinked="1"/>
        <c:majorTickMark val="out"/>
        <c:minorTickMark val="none"/>
        <c:tickLblPos val="nextTo"/>
        <c:crossAx val="1982589551"/>
        <c:crosses val="autoZero"/>
        <c:auto val="1"/>
        <c:lblAlgn val="ctr"/>
        <c:lblOffset val="100"/>
        <c:noMultiLvlLbl val="0"/>
      </c:catAx>
      <c:spPr>
        <a:noFill/>
        <a:ln>
          <a:noFill/>
        </a:ln>
        <a:effectLst/>
      </c:spPr>
    </c:plotArea>
    <c:legend>
      <c:legendPos val="b"/>
      <c:layout>
        <c:manualLayout>
          <c:xMode val="edge"/>
          <c:yMode val="edge"/>
          <c:x val="0.17823111997451288"/>
          <c:y val="0.90880506756958557"/>
          <c:w val="0.64353757862217165"/>
          <c:h val="9.1194932430414419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000" b="0" dirty="0"/>
              <a:t>Growth</a:t>
            </a:r>
            <a:r>
              <a:rPr lang="en-US" sz="1000" b="0" baseline="0" dirty="0"/>
              <a:t> in Transmission Line (CKM) and Substation Capacity (MVA)</a:t>
            </a:r>
            <a:endParaRPr lang="en-US" sz="1000" b="0" dirty="0"/>
          </a:p>
        </c:rich>
      </c:tx>
      <c:layout>
        <c:manualLayout>
          <c:xMode val="edge"/>
          <c:yMode val="edge"/>
          <c:x val="0.13433598126859009"/>
          <c:y val="7.3348376488553317E-3"/>
        </c:manualLayout>
      </c:layout>
      <c:overlay val="0"/>
    </c:title>
    <c:autoTitleDeleted val="0"/>
    <c:plotArea>
      <c:layout>
        <c:manualLayout>
          <c:layoutTarget val="inner"/>
          <c:xMode val="edge"/>
          <c:yMode val="edge"/>
          <c:x val="0.16414506869659737"/>
          <c:y val="0.14455978407731704"/>
          <c:w val="0.68769701825397023"/>
          <c:h val="0.55182639626807739"/>
        </c:manualLayout>
      </c:layout>
      <c:barChart>
        <c:barDir val="col"/>
        <c:grouping val="clustered"/>
        <c:varyColors val="0"/>
        <c:ser>
          <c:idx val="0"/>
          <c:order val="0"/>
          <c:tx>
            <c:strRef>
              <c:f>Sheet1!$B$1</c:f>
              <c:strCache>
                <c:ptCount val="1"/>
                <c:pt idx="0">
                  <c:v>Transmission Line</c:v>
                </c:pt>
              </c:strCache>
            </c:strRef>
          </c:tx>
          <c:spPr>
            <a:solidFill>
              <a:schemeClr val="tx1"/>
            </a:solidFill>
            <a:ln w="12700">
              <a:noFill/>
              <a:prstDash val="solid"/>
            </a:ln>
          </c:spPr>
          <c:invertIfNegative val="0"/>
          <c:dPt>
            <c:idx val="8"/>
            <c:invertIfNegative val="0"/>
            <c:bubble3D val="0"/>
            <c:spPr>
              <a:solidFill>
                <a:schemeClr val="bg1"/>
              </a:solidFill>
              <a:ln w="12700">
                <a:solidFill>
                  <a:srgbClr val="A7A8AA"/>
                </a:solidFill>
                <a:prstDash val="solid"/>
              </a:ln>
            </c:spPr>
            <c:extLst>
              <c:ext xmlns:c16="http://schemas.microsoft.com/office/drawing/2014/chart" uri="{C3380CC4-5D6E-409C-BE32-E72D297353CC}">
                <c16:uniqueId val="{00000003-1A9C-4C09-9EBC-7F4DB9A6F152}"/>
              </c:ext>
            </c:extLst>
          </c:dPt>
          <c:dPt>
            <c:idx val="9"/>
            <c:invertIfNegative val="0"/>
            <c:bubble3D val="0"/>
            <c:spPr>
              <a:solidFill>
                <a:schemeClr val="bg1"/>
              </a:solidFill>
              <a:ln w="12700">
                <a:solidFill>
                  <a:srgbClr val="A7A8AA"/>
                </a:solidFill>
                <a:prstDash val="solid"/>
              </a:ln>
            </c:spPr>
            <c:extLst>
              <c:ext xmlns:c16="http://schemas.microsoft.com/office/drawing/2014/chart" uri="{C3380CC4-5D6E-409C-BE32-E72D297353CC}">
                <c16:uniqueId val="{00000004-1A9C-4C09-9EBC-7F4DB9A6F152}"/>
              </c:ext>
            </c:extLst>
          </c:dPt>
          <c:dPt>
            <c:idx val="10"/>
            <c:invertIfNegative val="0"/>
            <c:bubble3D val="0"/>
            <c:spPr>
              <a:solidFill>
                <a:schemeClr val="accent6"/>
              </a:solidFill>
              <a:ln w="12700">
                <a:noFill/>
                <a:prstDash val="solid"/>
              </a:ln>
            </c:spPr>
            <c:extLst>
              <c:ext xmlns:c16="http://schemas.microsoft.com/office/drawing/2014/chart" uri="{C3380CC4-5D6E-409C-BE32-E72D297353CC}">
                <c16:uniqueId val="{00000005-1A9C-4C09-9EBC-7F4DB9A6F152}"/>
              </c:ext>
            </c:extLst>
          </c:dPt>
          <c:cat>
            <c:strRef>
              <c:f>Sheet1!$A$2:$A$12</c:f>
              <c:strCache>
                <c:ptCount val="11"/>
                <c:pt idx="0">
                  <c:v>FY 17</c:v>
                </c:pt>
                <c:pt idx="1">
                  <c:v>FY 18</c:v>
                </c:pt>
                <c:pt idx="2">
                  <c:v>FY 19</c:v>
                </c:pt>
                <c:pt idx="3">
                  <c:v>FY 20</c:v>
                </c:pt>
                <c:pt idx="4">
                  <c:v>FY 21</c:v>
                </c:pt>
                <c:pt idx="5">
                  <c:v>FY22</c:v>
                </c:pt>
                <c:pt idx="6">
                  <c:v>FY23</c:v>
                </c:pt>
                <c:pt idx="7">
                  <c:v>FY 24 **</c:v>
                </c:pt>
                <c:pt idx="10">
                  <c:v>FY 27 (P)</c:v>
                </c:pt>
              </c:strCache>
            </c:strRef>
          </c:cat>
          <c:val>
            <c:numRef>
              <c:f>Sheet1!$B$2:$B$12</c:f>
              <c:numCache>
                <c:formatCode>General</c:formatCode>
                <c:ptCount val="11"/>
                <c:pt idx="0">
                  <c:v>367851</c:v>
                </c:pt>
                <c:pt idx="1">
                  <c:v>390970</c:v>
                </c:pt>
                <c:pt idx="2">
                  <c:v>413407</c:v>
                </c:pt>
                <c:pt idx="3">
                  <c:v>425071</c:v>
                </c:pt>
                <c:pt idx="4">
                  <c:v>441821</c:v>
                </c:pt>
                <c:pt idx="5">
                  <c:v>456716</c:v>
                </c:pt>
                <c:pt idx="6">
                  <c:v>471341</c:v>
                </c:pt>
                <c:pt idx="7">
                  <c:v>481326</c:v>
                </c:pt>
                <c:pt idx="8" formatCode="0">
                  <c:v>529727.17597163888</c:v>
                </c:pt>
                <c:pt idx="9" formatCode="0">
                  <c:v>554433.92043246259</c:v>
                </c:pt>
                <c:pt idx="10" formatCode="0">
                  <c:v>580293</c:v>
                </c:pt>
              </c:numCache>
            </c:numRef>
          </c:val>
          <c:extLst>
            <c:ext xmlns:c16="http://schemas.microsoft.com/office/drawing/2014/chart" uri="{C3380CC4-5D6E-409C-BE32-E72D297353CC}">
              <c16:uniqueId val="{00000000-1A9C-4C09-9EBC-7F4DB9A6F152}"/>
            </c:ext>
          </c:extLst>
        </c:ser>
        <c:dLbls>
          <c:showLegendKey val="0"/>
          <c:showVal val="0"/>
          <c:showCatName val="0"/>
          <c:showSerName val="0"/>
          <c:showPercent val="0"/>
          <c:showBubbleSize val="0"/>
        </c:dLbls>
        <c:gapWidth val="150"/>
        <c:axId val="442088856"/>
        <c:axId val="442090424"/>
      </c:barChart>
      <c:lineChart>
        <c:grouping val="standard"/>
        <c:varyColors val="0"/>
        <c:ser>
          <c:idx val="1"/>
          <c:order val="1"/>
          <c:tx>
            <c:strRef>
              <c:f>Sheet1!$C$1</c:f>
              <c:strCache>
                <c:ptCount val="1"/>
                <c:pt idx="0">
                  <c:v>Substation Capacity</c:v>
                </c:pt>
              </c:strCache>
            </c:strRef>
          </c:tx>
          <c:spPr>
            <a:ln>
              <a:solidFill>
                <a:srgbClr val="C4D600"/>
              </a:solidFill>
            </a:ln>
          </c:spPr>
          <c:marker>
            <c:spPr>
              <a:ln>
                <a:solidFill>
                  <a:srgbClr val="C4D600"/>
                </a:solidFill>
              </a:ln>
            </c:spPr>
          </c:marker>
          <c:cat>
            <c:strRef>
              <c:f>Sheet1!$A$2:$A$12</c:f>
              <c:strCache>
                <c:ptCount val="11"/>
                <c:pt idx="0">
                  <c:v>FY 17</c:v>
                </c:pt>
                <c:pt idx="1">
                  <c:v>FY 18</c:v>
                </c:pt>
                <c:pt idx="2">
                  <c:v>FY 19</c:v>
                </c:pt>
                <c:pt idx="3">
                  <c:v>FY 20</c:v>
                </c:pt>
                <c:pt idx="4">
                  <c:v>FY 21</c:v>
                </c:pt>
                <c:pt idx="5">
                  <c:v>FY22</c:v>
                </c:pt>
                <c:pt idx="6">
                  <c:v>FY23</c:v>
                </c:pt>
                <c:pt idx="7">
                  <c:v>FY 24 **</c:v>
                </c:pt>
                <c:pt idx="10">
                  <c:v>FY 27 (P)</c:v>
                </c:pt>
              </c:strCache>
            </c:strRef>
          </c:cat>
          <c:val>
            <c:numRef>
              <c:f>Sheet1!$C$2:$C$12</c:f>
              <c:numCache>
                <c:formatCode>General</c:formatCode>
                <c:ptCount val="11"/>
                <c:pt idx="0">
                  <c:v>740765</c:v>
                </c:pt>
                <c:pt idx="1">
                  <c:v>826958</c:v>
                </c:pt>
                <c:pt idx="2">
                  <c:v>899663</c:v>
                </c:pt>
                <c:pt idx="3">
                  <c:v>967893</c:v>
                </c:pt>
                <c:pt idx="4">
                  <c:v>1025468</c:v>
                </c:pt>
                <c:pt idx="5">
                  <c:v>1104450</c:v>
                </c:pt>
                <c:pt idx="6">
                  <c:v>1180352</c:v>
                </c:pt>
                <c:pt idx="7">
                  <c:v>1225260</c:v>
                </c:pt>
                <c:pt idx="8" formatCode="0">
                  <c:v>1525460.9197495973</c:v>
                </c:pt>
                <c:pt idx="9" formatCode="0">
                  <c:v>1669614.3357497922</c:v>
                </c:pt>
                <c:pt idx="10">
                  <c:v>1827390</c:v>
                </c:pt>
              </c:numCache>
            </c:numRef>
          </c:val>
          <c:smooth val="0"/>
          <c:extLst>
            <c:ext xmlns:c16="http://schemas.microsoft.com/office/drawing/2014/chart" uri="{C3380CC4-5D6E-409C-BE32-E72D297353CC}">
              <c16:uniqueId val="{00000001-1A9C-4C09-9EBC-7F4DB9A6F152}"/>
            </c:ext>
          </c:extLst>
        </c:ser>
        <c:dLbls>
          <c:showLegendKey val="0"/>
          <c:showVal val="0"/>
          <c:showCatName val="0"/>
          <c:showSerName val="0"/>
          <c:showPercent val="0"/>
          <c:showBubbleSize val="0"/>
        </c:dLbls>
        <c:marker val="1"/>
        <c:smooth val="0"/>
        <c:axId val="1683784863"/>
        <c:axId val="230952351"/>
      </c:lineChart>
      <c:catAx>
        <c:axId val="442088856"/>
        <c:scaling>
          <c:orientation val="minMax"/>
        </c:scaling>
        <c:delete val="0"/>
        <c:axPos val="b"/>
        <c:numFmt formatCode="General" sourceLinked="1"/>
        <c:majorTickMark val="none"/>
        <c:minorTickMark val="none"/>
        <c:tickLblPos val="low"/>
        <c:spPr>
          <a:ln w="6350">
            <a:solidFill>
              <a:srgbClr val="BBBCBC"/>
            </a:solidFill>
            <a:prstDash val="solid"/>
          </a:ln>
        </c:spPr>
        <c:txPr>
          <a:bodyPr/>
          <a:lstStyle/>
          <a:p>
            <a:pPr>
              <a:defRPr sz="800"/>
            </a:pPr>
            <a:endParaRPr lang="en-US"/>
          </a:p>
        </c:txPr>
        <c:crossAx val="442090424"/>
        <c:crosses val="autoZero"/>
        <c:auto val="1"/>
        <c:lblAlgn val="ctr"/>
        <c:lblOffset val="100"/>
        <c:noMultiLvlLbl val="0"/>
      </c:catAx>
      <c:valAx>
        <c:axId val="442090424"/>
        <c:scaling>
          <c:orientation val="minMax"/>
        </c:scaling>
        <c:delete val="0"/>
        <c:axPos val="l"/>
        <c:title>
          <c:tx>
            <c:rich>
              <a:bodyPr/>
              <a:lstStyle/>
              <a:p>
                <a:pPr>
                  <a:defRPr sz="800"/>
                </a:pPr>
                <a:r>
                  <a:rPr lang="en-IN" sz="800" b="0" dirty="0"/>
                  <a:t>Transmission Line (CKM)</a:t>
                </a:r>
              </a:p>
            </c:rich>
          </c:tx>
          <c:layout>
            <c:manualLayout>
              <c:xMode val="edge"/>
              <c:yMode val="edge"/>
              <c:x val="1.7190802050124829E-2"/>
              <c:y val="2.1861281471218266E-2"/>
            </c:manualLayout>
          </c:layout>
          <c:overlay val="0"/>
        </c:title>
        <c:numFmt formatCode="#,##0" sourceLinked="0"/>
        <c:majorTickMark val="none"/>
        <c:minorTickMark val="none"/>
        <c:tickLblPos val="low"/>
        <c:txPr>
          <a:bodyPr/>
          <a:lstStyle/>
          <a:p>
            <a:pPr>
              <a:defRPr sz="800"/>
            </a:pPr>
            <a:endParaRPr lang="en-US"/>
          </a:p>
        </c:txPr>
        <c:crossAx val="442088856"/>
        <c:crosses val="autoZero"/>
        <c:crossBetween val="between"/>
      </c:valAx>
      <c:valAx>
        <c:axId val="230952351"/>
        <c:scaling>
          <c:orientation val="minMax"/>
        </c:scaling>
        <c:delete val="0"/>
        <c:axPos val="r"/>
        <c:title>
          <c:tx>
            <c:rich>
              <a:bodyPr/>
              <a:lstStyle/>
              <a:p>
                <a:pPr>
                  <a:defRPr/>
                </a:pPr>
                <a:r>
                  <a:rPr lang="en-US" b="0" dirty="0"/>
                  <a:t>Substation Capacity (MVA)</a:t>
                </a:r>
              </a:p>
            </c:rich>
          </c:tx>
          <c:layout>
            <c:manualLayout>
              <c:xMode val="edge"/>
              <c:yMode val="edge"/>
              <c:x val="0.95640898449754042"/>
              <c:y val="3.6530956768928938E-2"/>
            </c:manualLayout>
          </c:layout>
          <c:overlay val="0"/>
        </c:title>
        <c:numFmt formatCode="General" sourceLinked="1"/>
        <c:majorTickMark val="out"/>
        <c:minorTickMark val="none"/>
        <c:tickLblPos val="nextTo"/>
        <c:crossAx val="1683784863"/>
        <c:crosses val="max"/>
        <c:crossBetween val="between"/>
      </c:valAx>
      <c:catAx>
        <c:axId val="1683784863"/>
        <c:scaling>
          <c:orientation val="minMax"/>
        </c:scaling>
        <c:delete val="1"/>
        <c:axPos val="b"/>
        <c:numFmt formatCode="General" sourceLinked="1"/>
        <c:majorTickMark val="out"/>
        <c:minorTickMark val="none"/>
        <c:tickLblPos val="nextTo"/>
        <c:crossAx val="230952351"/>
        <c:crosses val="autoZero"/>
        <c:auto val="1"/>
        <c:lblAlgn val="ctr"/>
        <c:lblOffset val="100"/>
        <c:noMultiLvlLbl val="0"/>
      </c:catAx>
      <c:spPr>
        <a:ln>
          <a:noFill/>
        </a:ln>
      </c:spPr>
    </c:plotArea>
    <c:legend>
      <c:legendPos val="b"/>
      <c:layout>
        <c:manualLayout>
          <c:xMode val="edge"/>
          <c:yMode val="edge"/>
          <c:x val="0.20188363498608802"/>
          <c:y val="0.85119141821454669"/>
          <c:w val="0.56787642836489782"/>
          <c:h val="0.11462676360973351"/>
        </c:manualLayout>
      </c:layout>
      <c:overlay val="0"/>
      <c:txPr>
        <a:bodyPr/>
        <a:lstStyle/>
        <a:p>
          <a:pPr>
            <a:defRPr sz="800"/>
          </a:pPr>
          <a:endParaRPr lang="en-US"/>
        </a:p>
      </c:txPr>
    </c:legend>
    <c:plotVisOnly val="1"/>
    <c:dispBlanksAs val="gap"/>
    <c:showDLblsOverMax val="0"/>
  </c:chart>
  <c:spPr>
    <a:ln>
      <a:noFill/>
    </a:ln>
  </c:spPr>
  <c:txPr>
    <a:bodyPr/>
    <a:lstStyle/>
    <a:p>
      <a:pPr>
        <a:defRPr sz="700">
          <a:solidFill>
            <a:schemeClr val="tx1"/>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7583081570996978E-2"/>
          <c:y val="0.1099544567338972"/>
          <c:w val="0.90558912386706947"/>
          <c:h val="0.7800910865322056"/>
        </c:manualLayout>
      </c:layout>
      <c:doughnutChart>
        <c:varyColors val="0"/>
        <c:ser>
          <c:idx val="0"/>
          <c:order val="0"/>
          <c:dPt>
            <c:idx val="0"/>
            <c:bubble3D val="0"/>
            <c:spPr>
              <a:solidFill>
                <a:srgbClr val="86BC25"/>
              </a:solidFill>
              <a:ln>
                <a:noFill/>
              </a:ln>
            </c:spPr>
            <c:extLst>
              <c:ext xmlns:c16="http://schemas.microsoft.com/office/drawing/2014/chart" uri="{C3380CC4-5D6E-409C-BE32-E72D297353CC}">
                <c16:uniqueId val="{00000000-DCE3-4323-99EB-0C34DE7AE0D0}"/>
              </c:ext>
            </c:extLst>
          </c:dPt>
          <c:dPt>
            <c:idx val="1"/>
            <c:bubble3D val="0"/>
            <c:spPr>
              <a:solidFill>
                <a:srgbClr val="046A38"/>
              </a:solidFill>
              <a:ln>
                <a:noFill/>
              </a:ln>
            </c:spPr>
            <c:extLst>
              <c:ext xmlns:c16="http://schemas.microsoft.com/office/drawing/2014/chart" uri="{C3380CC4-5D6E-409C-BE32-E72D297353CC}">
                <c16:uniqueId val="{00000001-DCE3-4323-99EB-0C34DE7AE0D0}"/>
              </c:ext>
            </c:extLst>
          </c:dPt>
          <c:dPt>
            <c:idx val="2"/>
            <c:bubble3D val="0"/>
            <c:spPr>
              <a:solidFill>
                <a:srgbClr val="62B5E5"/>
              </a:solidFill>
              <a:ln>
                <a:noFill/>
              </a:ln>
            </c:spPr>
            <c:extLst>
              <c:ext xmlns:c16="http://schemas.microsoft.com/office/drawing/2014/chart" uri="{C3380CC4-5D6E-409C-BE32-E72D297353CC}">
                <c16:uniqueId val="{00000002-DCE3-4323-99EB-0C34DE7AE0D0}"/>
              </c:ext>
            </c:extLst>
          </c:dPt>
          <c:dPt>
            <c:idx val="3"/>
            <c:bubble3D val="0"/>
            <c:spPr>
              <a:solidFill>
                <a:srgbClr val="012169"/>
              </a:solidFill>
              <a:ln>
                <a:noFill/>
              </a:ln>
            </c:spPr>
            <c:extLst>
              <c:ext xmlns:c16="http://schemas.microsoft.com/office/drawing/2014/chart" uri="{C3380CC4-5D6E-409C-BE32-E72D297353CC}">
                <c16:uniqueId val="{00000003-DCE3-4323-99EB-0C34DE7AE0D0}"/>
              </c:ext>
            </c:extLst>
          </c:dPt>
          <c:dPt>
            <c:idx val="4"/>
            <c:bubble3D val="0"/>
            <c:spPr>
              <a:solidFill>
                <a:srgbClr val="0097A9"/>
              </a:solidFill>
              <a:ln>
                <a:noFill/>
              </a:ln>
            </c:spPr>
            <c:extLst>
              <c:ext xmlns:c16="http://schemas.microsoft.com/office/drawing/2014/chart" uri="{C3380CC4-5D6E-409C-BE32-E72D297353CC}">
                <c16:uniqueId val="{00000004-DCE3-4323-99EB-0C34DE7AE0D0}"/>
              </c:ext>
            </c:extLst>
          </c:dPt>
          <c:dPt>
            <c:idx val="5"/>
            <c:bubble3D val="0"/>
            <c:spPr>
              <a:solidFill>
                <a:srgbClr val="75787B"/>
              </a:solidFill>
              <a:ln>
                <a:noFill/>
              </a:ln>
            </c:spPr>
            <c:extLst>
              <c:ext xmlns:c16="http://schemas.microsoft.com/office/drawing/2014/chart" uri="{C3380CC4-5D6E-409C-BE32-E72D297353CC}">
                <c16:uniqueId val="{00000005-DCE3-4323-99EB-0C34DE7AE0D0}"/>
              </c:ext>
            </c:extLst>
          </c:dPt>
          <c:dLbls>
            <c:dLbl>
              <c:idx val="0"/>
              <c:layout>
                <c:manualLayout>
                  <c:x val="3.8519637462235648E-2"/>
                  <c:y val="-1.8867924528301886E-2"/>
                </c:manualLayout>
              </c:layout>
              <c:numFmt formatCode="0&quot;%&quot;;&quot;-&quot;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CE3-4323-99EB-0C34DE7AE0D0}"/>
                </c:ext>
              </c:extLst>
            </c:dLbl>
            <c:dLbl>
              <c:idx val="3"/>
              <c:layout>
                <c:manualLayout>
                  <c:x val="3.0211480362537766E-2"/>
                  <c:y val="4.6844502277163302E-2"/>
                </c:manualLayout>
              </c:layout>
              <c:numFmt formatCode="0&quot;%&quot;;&quot;-&quot;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CE3-4323-99EB-0C34DE7AE0D0}"/>
                </c:ext>
              </c:extLst>
            </c:dLbl>
            <c:dLbl>
              <c:idx val="4"/>
              <c:layout>
                <c:manualLayout>
                  <c:x val="-4.6827794561933533E-2"/>
                  <c:y val="6.5061808718282366E-3"/>
                </c:manualLayout>
              </c:layout>
              <c:numFmt formatCode="0&quot;%&quot;;&quot;-&quot;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CE3-4323-99EB-0C34DE7AE0D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Sheet1!$A$1:$A$6</c:f>
              <c:numCache>
                <c:formatCode>General</c:formatCode>
                <c:ptCount val="6"/>
                <c:pt idx="0">
                  <c:v>33</c:v>
                </c:pt>
                <c:pt idx="1">
                  <c:v>3</c:v>
                </c:pt>
                <c:pt idx="2">
                  <c:v>2</c:v>
                </c:pt>
                <c:pt idx="3">
                  <c:v>8</c:v>
                </c:pt>
                <c:pt idx="4">
                  <c:v>53</c:v>
                </c:pt>
                <c:pt idx="5">
                  <c:v>1</c:v>
                </c:pt>
              </c:numCache>
            </c:numRef>
          </c:val>
          <c:extLst>
            <c:ext xmlns:c16="http://schemas.microsoft.com/office/drawing/2014/chart" uri="{C3380CC4-5D6E-409C-BE32-E72D297353CC}">
              <c16:uniqueId val="{00000006-DCE3-4323-99EB-0C34DE7AE0D0}"/>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023183-0311-440A-8CFC-D427D7ECB99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4179BF1-0E31-4E32-B0C9-1D19FF1CF8C4}">
      <dgm:prSet phldrT="[Text]" custT="1"/>
      <dgm:spPr>
        <a:solidFill>
          <a:schemeClr val="tx1"/>
        </a:solidFill>
      </dgm:spPr>
      <dgm:t>
        <a:bodyPr/>
        <a:lstStyle/>
        <a:p>
          <a:r>
            <a:rPr lang="en-US" sz="1200" b="1" dirty="0"/>
            <a:t>Input</a:t>
          </a:r>
        </a:p>
        <a:p>
          <a:r>
            <a:rPr lang="en-US" sz="900" dirty="0"/>
            <a:t>Design/Notification for -</a:t>
          </a:r>
          <a:endParaRPr lang="en-US" sz="900" b="1" dirty="0"/>
        </a:p>
      </dgm:t>
    </dgm:pt>
    <dgm:pt modelId="{A9E1BA1A-2858-4423-A358-43E84774BE7E}" type="parTrans" cxnId="{CB1507CD-72E5-492F-8DE9-AD35AA31854F}">
      <dgm:prSet/>
      <dgm:spPr/>
      <dgm:t>
        <a:bodyPr/>
        <a:lstStyle/>
        <a:p>
          <a:endParaRPr lang="en-US" sz="2000"/>
        </a:p>
      </dgm:t>
    </dgm:pt>
    <dgm:pt modelId="{42A06B64-EF04-4E66-9441-46EE5A709F5A}" type="sibTrans" cxnId="{CB1507CD-72E5-492F-8DE9-AD35AA31854F}">
      <dgm:prSet/>
      <dgm:spPr/>
      <dgm:t>
        <a:bodyPr/>
        <a:lstStyle/>
        <a:p>
          <a:endParaRPr lang="en-US" sz="2000"/>
        </a:p>
      </dgm:t>
    </dgm:pt>
    <dgm:pt modelId="{D4F40B71-34FE-45A7-BB03-073ED073C110}">
      <dgm:prSet phldrT="[Text]" custT="1"/>
      <dgm:spPr>
        <a:solidFill>
          <a:srgbClr val="009A44"/>
        </a:solidFill>
      </dgm:spPr>
      <dgm:t>
        <a:bodyPr/>
        <a:lstStyle/>
        <a:p>
          <a:r>
            <a:rPr lang="en-US" sz="1200" b="1" dirty="0"/>
            <a:t>Processing in GIS</a:t>
          </a:r>
        </a:p>
      </dgm:t>
    </dgm:pt>
    <dgm:pt modelId="{1722E8EB-1DB3-46EA-A5FF-5351B4B688B3}" type="parTrans" cxnId="{C85EDE0F-1004-4161-932A-A1BF9AA19AEF}">
      <dgm:prSet/>
      <dgm:spPr/>
      <dgm:t>
        <a:bodyPr/>
        <a:lstStyle/>
        <a:p>
          <a:endParaRPr lang="en-US" sz="2000"/>
        </a:p>
      </dgm:t>
    </dgm:pt>
    <dgm:pt modelId="{A46F3920-F871-4793-A0FD-2A5D4C117C43}" type="sibTrans" cxnId="{C85EDE0F-1004-4161-932A-A1BF9AA19AEF}">
      <dgm:prSet/>
      <dgm:spPr/>
      <dgm:t>
        <a:bodyPr/>
        <a:lstStyle/>
        <a:p>
          <a:endParaRPr lang="en-US" sz="2000"/>
        </a:p>
      </dgm:t>
    </dgm:pt>
    <dgm:pt modelId="{EE8952D5-482D-4152-937C-8F8F7DCD63BC}">
      <dgm:prSet phldrT="[Text]" custT="1"/>
      <dgm:spPr>
        <a:solidFill>
          <a:schemeClr val="tx1"/>
        </a:solidFill>
      </dgm:spPr>
      <dgm:t>
        <a:bodyPr/>
        <a:lstStyle/>
        <a:p>
          <a:r>
            <a:rPr lang="en-US" sz="1200" b="1" dirty="0"/>
            <a:t>Output</a:t>
          </a:r>
        </a:p>
        <a:p>
          <a:r>
            <a:rPr lang="en-US" sz="900" dirty="0"/>
            <a:t>Integration with SAP</a:t>
          </a:r>
          <a:endParaRPr lang="en-US" sz="1100" b="1" dirty="0"/>
        </a:p>
      </dgm:t>
    </dgm:pt>
    <dgm:pt modelId="{AC4D946A-139D-4DFA-8F54-58365C47B282}" type="parTrans" cxnId="{8AB717ED-ADEB-4A7A-972F-B0ECADC877DC}">
      <dgm:prSet/>
      <dgm:spPr/>
      <dgm:t>
        <a:bodyPr/>
        <a:lstStyle/>
        <a:p>
          <a:endParaRPr lang="en-US" sz="2000"/>
        </a:p>
      </dgm:t>
    </dgm:pt>
    <dgm:pt modelId="{90C3A1EE-EEA6-4DC9-B2C0-C06618A82230}" type="sibTrans" cxnId="{8AB717ED-ADEB-4A7A-972F-B0ECADC877DC}">
      <dgm:prSet/>
      <dgm:spPr/>
      <dgm:t>
        <a:bodyPr/>
        <a:lstStyle/>
        <a:p>
          <a:endParaRPr lang="en-US" sz="2000"/>
        </a:p>
      </dgm:t>
    </dgm:pt>
    <dgm:pt modelId="{893E821D-51FE-496C-94A3-A4E2175DC0F9}">
      <dgm:prSet custT="1"/>
      <dgm:spPr>
        <a:solidFill>
          <a:schemeClr val="tx1"/>
        </a:solidFill>
      </dgm:spPr>
      <dgm:t>
        <a:bodyPr/>
        <a:lstStyle/>
        <a:p>
          <a:r>
            <a:rPr lang="en-US" sz="900" dirty="0"/>
            <a:t>Network changes (ST/HT)</a:t>
          </a:r>
        </a:p>
      </dgm:t>
    </dgm:pt>
    <dgm:pt modelId="{5D05FAF5-6683-485E-9ABA-DBC64D1C1AD4}" type="parTrans" cxnId="{4AE69BE9-3752-45D9-8CFE-B5CB328A7C93}">
      <dgm:prSet/>
      <dgm:spPr/>
      <dgm:t>
        <a:bodyPr/>
        <a:lstStyle/>
        <a:p>
          <a:endParaRPr lang="en-US" sz="2000"/>
        </a:p>
      </dgm:t>
    </dgm:pt>
    <dgm:pt modelId="{46A4766B-8DA3-4544-8EF4-1248039788E6}" type="sibTrans" cxnId="{4AE69BE9-3752-45D9-8CFE-B5CB328A7C93}">
      <dgm:prSet/>
      <dgm:spPr/>
      <dgm:t>
        <a:bodyPr/>
        <a:lstStyle/>
        <a:p>
          <a:endParaRPr lang="en-US" sz="2000"/>
        </a:p>
      </dgm:t>
    </dgm:pt>
    <dgm:pt modelId="{65550F21-F9BD-45B9-A759-E6DE35A326C8}">
      <dgm:prSet custT="1"/>
      <dgm:spPr>
        <a:solidFill>
          <a:schemeClr val="tx1"/>
        </a:solidFill>
      </dgm:spPr>
      <dgm:t>
        <a:bodyPr/>
        <a:lstStyle/>
        <a:p>
          <a:r>
            <a:rPr lang="en-US" sz="900" dirty="0"/>
            <a:t>New Installation /Augmentation</a:t>
          </a:r>
        </a:p>
      </dgm:t>
    </dgm:pt>
    <dgm:pt modelId="{E1AC51D7-6AB5-40CB-BC28-2E93A0720367}" type="parTrans" cxnId="{D98E8AE3-036C-4F8B-B70F-07D423D2B8FA}">
      <dgm:prSet/>
      <dgm:spPr/>
      <dgm:t>
        <a:bodyPr/>
        <a:lstStyle/>
        <a:p>
          <a:endParaRPr lang="en-US" sz="2000"/>
        </a:p>
      </dgm:t>
    </dgm:pt>
    <dgm:pt modelId="{35B017BD-F5D1-4A5B-ACBD-87EEF99345FD}" type="sibTrans" cxnId="{D98E8AE3-036C-4F8B-B70F-07D423D2B8FA}">
      <dgm:prSet/>
      <dgm:spPr/>
      <dgm:t>
        <a:bodyPr/>
        <a:lstStyle/>
        <a:p>
          <a:endParaRPr lang="en-US" sz="2000"/>
        </a:p>
      </dgm:t>
    </dgm:pt>
    <dgm:pt modelId="{30AAD7D7-D41D-4795-9399-66056E5EC5D5}">
      <dgm:prSet custT="1"/>
      <dgm:spPr>
        <a:solidFill>
          <a:schemeClr val="tx1"/>
        </a:solidFill>
      </dgm:spPr>
      <dgm:t>
        <a:bodyPr/>
        <a:lstStyle/>
        <a:p>
          <a:r>
            <a:rPr lang="en-US" sz="900" dirty="0"/>
            <a:t>Movement</a:t>
          </a:r>
        </a:p>
      </dgm:t>
    </dgm:pt>
    <dgm:pt modelId="{5FA01799-66C8-449E-8A4B-322B678EAAF5}" type="parTrans" cxnId="{4B8E8493-69BB-4A54-B3C5-8C4C75C544C2}">
      <dgm:prSet/>
      <dgm:spPr/>
      <dgm:t>
        <a:bodyPr/>
        <a:lstStyle/>
        <a:p>
          <a:endParaRPr lang="en-US" sz="2000"/>
        </a:p>
      </dgm:t>
    </dgm:pt>
    <dgm:pt modelId="{597964BD-AF76-4D71-ABB3-5A9E8EE8169E}" type="sibTrans" cxnId="{4B8E8493-69BB-4A54-B3C5-8C4C75C544C2}">
      <dgm:prSet/>
      <dgm:spPr/>
      <dgm:t>
        <a:bodyPr/>
        <a:lstStyle/>
        <a:p>
          <a:endParaRPr lang="en-US" sz="2000"/>
        </a:p>
      </dgm:t>
    </dgm:pt>
    <dgm:pt modelId="{CD3C52BE-196D-4E61-8E05-E039C5BE221D}">
      <dgm:prSet custT="1"/>
      <dgm:spPr>
        <a:solidFill>
          <a:schemeClr val="tx1"/>
        </a:solidFill>
      </dgm:spPr>
      <dgm:t>
        <a:bodyPr/>
        <a:lstStyle/>
        <a:p>
          <a:r>
            <a:rPr lang="en-US" sz="900" dirty="0"/>
            <a:t>Retirement</a:t>
          </a:r>
        </a:p>
      </dgm:t>
    </dgm:pt>
    <dgm:pt modelId="{34F55705-0E9E-4F7E-831B-4AB0185CE31B}" type="parTrans" cxnId="{8B6C4F22-0554-4FCC-9845-0E9E9855839D}">
      <dgm:prSet/>
      <dgm:spPr/>
      <dgm:t>
        <a:bodyPr/>
        <a:lstStyle/>
        <a:p>
          <a:endParaRPr lang="en-US" sz="2000"/>
        </a:p>
      </dgm:t>
    </dgm:pt>
    <dgm:pt modelId="{E9352181-C8EB-4AE2-993A-89A50190B91A}" type="sibTrans" cxnId="{8B6C4F22-0554-4FCC-9845-0E9E9855839D}">
      <dgm:prSet/>
      <dgm:spPr/>
      <dgm:t>
        <a:bodyPr/>
        <a:lstStyle/>
        <a:p>
          <a:endParaRPr lang="en-US" sz="2000"/>
        </a:p>
      </dgm:t>
    </dgm:pt>
    <dgm:pt modelId="{5561A663-EC79-4719-8F85-9C7B03E8A53C}">
      <dgm:prSet custT="1"/>
      <dgm:spPr>
        <a:solidFill>
          <a:schemeClr val="tx1"/>
        </a:solidFill>
      </dgm:spPr>
      <dgm:t>
        <a:bodyPr/>
        <a:lstStyle/>
        <a:p>
          <a:r>
            <a:rPr lang="en-US" sz="900" dirty="0"/>
            <a:t>Scheme clearance requests</a:t>
          </a:r>
        </a:p>
      </dgm:t>
    </dgm:pt>
    <dgm:pt modelId="{60AD9E84-3864-4BB9-A70E-C266321A4EE8}" type="parTrans" cxnId="{F4D6E9A9-6AA9-4195-9ED4-D6D64404266C}">
      <dgm:prSet/>
      <dgm:spPr/>
      <dgm:t>
        <a:bodyPr/>
        <a:lstStyle/>
        <a:p>
          <a:endParaRPr lang="en-US" sz="2000"/>
        </a:p>
      </dgm:t>
    </dgm:pt>
    <dgm:pt modelId="{54E50A9C-3A3A-4D8A-AD9A-8CA939B3DCC0}" type="sibTrans" cxnId="{F4D6E9A9-6AA9-4195-9ED4-D6D64404266C}">
      <dgm:prSet/>
      <dgm:spPr/>
      <dgm:t>
        <a:bodyPr/>
        <a:lstStyle/>
        <a:p>
          <a:endParaRPr lang="en-US" sz="2000"/>
        </a:p>
      </dgm:t>
    </dgm:pt>
    <dgm:pt modelId="{F1242B8C-5073-4A90-A07B-F6943B6B3786}">
      <dgm:prSet phldrT="[Text]" custT="1"/>
      <dgm:spPr>
        <a:solidFill>
          <a:srgbClr val="009A44"/>
        </a:solidFill>
      </dgm:spPr>
      <dgm:t>
        <a:bodyPr/>
        <a:lstStyle/>
        <a:p>
          <a:r>
            <a:rPr lang="en-US" sz="900" dirty="0"/>
            <a:t>Geo-referenced mapping of Assets</a:t>
          </a:r>
        </a:p>
      </dgm:t>
    </dgm:pt>
    <dgm:pt modelId="{9FC28103-227A-407F-B90C-C71BEC61F6DD}" type="sibTrans" cxnId="{70E14598-69DE-4358-94B4-0A1DEF7CCBE8}">
      <dgm:prSet/>
      <dgm:spPr/>
      <dgm:t>
        <a:bodyPr/>
        <a:lstStyle/>
        <a:p>
          <a:endParaRPr lang="en-US" sz="2000"/>
        </a:p>
      </dgm:t>
    </dgm:pt>
    <dgm:pt modelId="{2443101C-B599-4245-9489-6CF13CD7D4BC}" type="parTrans" cxnId="{70E14598-69DE-4358-94B4-0A1DEF7CCBE8}">
      <dgm:prSet/>
      <dgm:spPr/>
      <dgm:t>
        <a:bodyPr/>
        <a:lstStyle/>
        <a:p>
          <a:endParaRPr lang="en-US" sz="2000"/>
        </a:p>
      </dgm:t>
    </dgm:pt>
    <dgm:pt modelId="{E6BD63C4-BBD2-45E3-9927-CAABC22A01FF}">
      <dgm:prSet custT="1"/>
      <dgm:spPr>
        <a:solidFill>
          <a:srgbClr val="009A44"/>
        </a:solidFill>
      </dgm:spPr>
      <dgm:t>
        <a:bodyPr/>
        <a:lstStyle/>
        <a:p>
          <a:r>
            <a:rPr lang="en-US" sz="900" dirty="0"/>
            <a:t>Single Line Diagram Update</a:t>
          </a:r>
        </a:p>
      </dgm:t>
    </dgm:pt>
    <dgm:pt modelId="{FADC1A9C-91E7-40CB-B8CE-84DBD09079D0}" type="parTrans" cxnId="{1C196CAF-8D97-4BA4-9E76-29C62B13E089}">
      <dgm:prSet/>
      <dgm:spPr/>
      <dgm:t>
        <a:bodyPr/>
        <a:lstStyle/>
        <a:p>
          <a:endParaRPr lang="en-US" sz="2000"/>
        </a:p>
      </dgm:t>
    </dgm:pt>
    <dgm:pt modelId="{F9BBD6F9-4479-48AF-8871-3969AEBCD190}" type="sibTrans" cxnId="{1C196CAF-8D97-4BA4-9E76-29C62B13E089}">
      <dgm:prSet/>
      <dgm:spPr/>
      <dgm:t>
        <a:bodyPr/>
        <a:lstStyle/>
        <a:p>
          <a:endParaRPr lang="en-US" sz="2000"/>
        </a:p>
      </dgm:t>
    </dgm:pt>
    <dgm:pt modelId="{731574FE-2038-43D5-832B-A265574D2CB2}">
      <dgm:prSet custT="1"/>
      <dgm:spPr>
        <a:solidFill>
          <a:srgbClr val="009A44"/>
        </a:solidFill>
      </dgm:spPr>
      <dgm:t>
        <a:bodyPr/>
        <a:lstStyle/>
        <a:p>
          <a:r>
            <a:rPr lang="en-US" sz="900" dirty="0"/>
            <a:t>Tagging of Scheme</a:t>
          </a:r>
        </a:p>
      </dgm:t>
    </dgm:pt>
    <dgm:pt modelId="{A7406055-DCBB-4F72-ACC5-80FC90A9964E}" type="parTrans" cxnId="{30C5A79A-CF7C-4A62-87FB-F7B9B1367D02}">
      <dgm:prSet/>
      <dgm:spPr/>
      <dgm:t>
        <a:bodyPr/>
        <a:lstStyle/>
        <a:p>
          <a:endParaRPr lang="en-US" sz="2000"/>
        </a:p>
      </dgm:t>
    </dgm:pt>
    <dgm:pt modelId="{56C58D83-A2C7-4FD0-8288-FF468196EE23}" type="sibTrans" cxnId="{30C5A79A-CF7C-4A62-87FB-F7B9B1367D02}">
      <dgm:prSet/>
      <dgm:spPr/>
      <dgm:t>
        <a:bodyPr/>
        <a:lstStyle/>
        <a:p>
          <a:endParaRPr lang="en-US" sz="2000"/>
        </a:p>
      </dgm:t>
    </dgm:pt>
    <dgm:pt modelId="{1BE3A2BD-550F-4FA3-B95C-EA3E45F3CF00}">
      <dgm:prSet custT="1"/>
      <dgm:spPr>
        <a:solidFill>
          <a:schemeClr val="tx1"/>
        </a:solidFill>
      </dgm:spPr>
      <dgm:t>
        <a:bodyPr/>
        <a:lstStyle/>
        <a:p>
          <a:r>
            <a:rPr lang="en-US" sz="900" dirty="0"/>
            <a:t>Asset Equalization with GIS-SAP-FAR</a:t>
          </a:r>
        </a:p>
      </dgm:t>
    </dgm:pt>
    <dgm:pt modelId="{0EEA2F91-2634-499B-8601-2219A999BC26}" type="parTrans" cxnId="{082317D6-8C82-488D-AFAA-0FD03B9D0278}">
      <dgm:prSet/>
      <dgm:spPr/>
      <dgm:t>
        <a:bodyPr/>
        <a:lstStyle/>
        <a:p>
          <a:endParaRPr lang="en-US"/>
        </a:p>
      </dgm:t>
    </dgm:pt>
    <dgm:pt modelId="{A0FA79E9-479E-4DE0-AB4F-EC078670D99F}" type="sibTrans" cxnId="{082317D6-8C82-488D-AFAA-0FD03B9D0278}">
      <dgm:prSet/>
      <dgm:spPr/>
      <dgm:t>
        <a:bodyPr/>
        <a:lstStyle/>
        <a:p>
          <a:endParaRPr lang="en-US"/>
        </a:p>
      </dgm:t>
    </dgm:pt>
    <dgm:pt modelId="{FD32EEB8-6457-4E7F-9B21-F64F1228CD69}">
      <dgm:prSet custT="1"/>
      <dgm:spPr>
        <a:solidFill>
          <a:schemeClr val="tx1"/>
        </a:solidFill>
      </dgm:spPr>
      <dgm:t>
        <a:bodyPr/>
        <a:lstStyle/>
        <a:p>
          <a:r>
            <a:rPr lang="en-US" sz="900" dirty="0"/>
            <a:t>Clearance for Technical completion of scheme</a:t>
          </a:r>
        </a:p>
      </dgm:t>
    </dgm:pt>
    <dgm:pt modelId="{82AF18D3-13E0-46B4-84DC-916B7E5F9BCC}" type="parTrans" cxnId="{8A49DA7D-E3F6-42D7-A802-16D436F4E1AB}">
      <dgm:prSet/>
      <dgm:spPr/>
      <dgm:t>
        <a:bodyPr/>
        <a:lstStyle/>
        <a:p>
          <a:endParaRPr lang="en-US"/>
        </a:p>
      </dgm:t>
    </dgm:pt>
    <dgm:pt modelId="{03733A9B-FD4F-4540-A575-91905E60B476}" type="sibTrans" cxnId="{8A49DA7D-E3F6-42D7-A802-16D436F4E1AB}">
      <dgm:prSet/>
      <dgm:spPr/>
      <dgm:t>
        <a:bodyPr/>
        <a:lstStyle/>
        <a:p>
          <a:endParaRPr lang="en-US"/>
        </a:p>
      </dgm:t>
    </dgm:pt>
    <dgm:pt modelId="{2CFEE4A3-785A-4995-9E24-695F437A8B20}">
      <dgm:prSet custT="1"/>
      <dgm:spPr>
        <a:solidFill>
          <a:schemeClr val="tx1"/>
        </a:solidFill>
      </dgm:spPr>
      <dgm:t>
        <a:bodyPr/>
        <a:lstStyle/>
        <a:p>
          <a:r>
            <a:rPr lang="en-US" sz="900" dirty="0"/>
            <a:t>Integration with OMS -</a:t>
          </a:r>
        </a:p>
      </dgm:t>
    </dgm:pt>
    <dgm:pt modelId="{0CB95FE0-363D-4CFF-A8AC-FB36A1B3AA8D}" type="parTrans" cxnId="{ABA65678-8922-4799-B415-E9A27F69E427}">
      <dgm:prSet/>
      <dgm:spPr/>
      <dgm:t>
        <a:bodyPr/>
        <a:lstStyle/>
        <a:p>
          <a:endParaRPr lang="en-US"/>
        </a:p>
      </dgm:t>
    </dgm:pt>
    <dgm:pt modelId="{0215D23A-A915-446F-A308-2512F8EFED28}" type="sibTrans" cxnId="{ABA65678-8922-4799-B415-E9A27F69E427}">
      <dgm:prSet/>
      <dgm:spPr/>
      <dgm:t>
        <a:bodyPr/>
        <a:lstStyle/>
        <a:p>
          <a:endParaRPr lang="en-US"/>
        </a:p>
      </dgm:t>
    </dgm:pt>
    <dgm:pt modelId="{A447C710-DCA0-4617-A865-44A178417BF5}">
      <dgm:prSet custT="1"/>
      <dgm:spPr>
        <a:solidFill>
          <a:schemeClr val="tx1"/>
        </a:solidFill>
      </dgm:spPr>
      <dgm:t>
        <a:bodyPr/>
        <a:lstStyle/>
        <a:p>
          <a:r>
            <a:rPr lang="en-US" sz="900" dirty="0"/>
            <a:t>Planned Outage</a:t>
          </a:r>
        </a:p>
      </dgm:t>
    </dgm:pt>
    <dgm:pt modelId="{A324FC13-500C-4610-8972-223D9CCAC74D}" type="parTrans" cxnId="{256A8797-1F37-413E-8CD7-5AFF1AA3AC7F}">
      <dgm:prSet/>
      <dgm:spPr/>
      <dgm:t>
        <a:bodyPr/>
        <a:lstStyle/>
        <a:p>
          <a:endParaRPr lang="en-US"/>
        </a:p>
      </dgm:t>
    </dgm:pt>
    <dgm:pt modelId="{15C1CE88-85A9-43AB-9F86-0B79FC4A3D39}" type="sibTrans" cxnId="{256A8797-1F37-413E-8CD7-5AFF1AA3AC7F}">
      <dgm:prSet/>
      <dgm:spPr/>
      <dgm:t>
        <a:bodyPr/>
        <a:lstStyle/>
        <a:p>
          <a:endParaRPr lang="en-US"/>
        </a:p>
      </dgm:t>
    </dgm:pt>
    <dgm:pt modelId="{3426CFFD-3936-4F61-B3C5-DBE18D452639}">
      <dgm:prSet custT="1"/>
      <dgm:spPr>
        <a:solidFill>
          <a:schemeClr val="tx1"/>
        </a:solidFill>
      </dgm:spPr>
      <dgm:t>
        <a:bodyPr/>
        <a:lstStyle/>
        <a:p>
          <a:r>
            <a:rPr lang="en-US" sz="900" dirty="0"/>
            <a:t>Complaint Management</a:t>
          </a:r>
        </a:p>
      </dgm:t>
    </dgm:pt>
    <dgm:pt modelId="{AA13E93B-04B3-43B2-BFAA-081A5FFAEF5B}" type="parTrans" cxnId="{D1414843-4870-48CD-B65C-F37A11532333}">
      <dgm:prSet/>
      <dgm:spPr/>
      <dgm:t>
        <a:bodyPr/>
        <a:lstStyle/>
        <a:p>
          <a:endParaRPr lang="en-US"/>
        </a:p>
      </dgm:t>
    </dgm:pt>
    <dgm:pt modelId="{C3D90513-6685-4576-942D-DFA672AEF6A2}" type="sibTrans" cxnId="{D1414843-4870-48CD-B65C-F37A11532333}">
      <dgm:prSet/>
      <dgm:spPr/>
      <dgm:t>
        <a:bodyPr/>
        <a:lstStyle/>
        <a:p>
          <a:endParaRPr lang="en-US"/>
        </a:p>
      </dgm:t>
    </dgm:pt>
    <dgm:pt modelId="{32D7FE61-6DE6-4580-BBA7-06FD1D452C97}">
      <dgm:prSet custT="1"/>
      <dgm:spPr>
        <a:solidFill>
          <a:schemeClr val="tx1"/>
        </a:solidFill>
      </dgm:spPr>
      <dgm:t>
        <a:bodyPr/>
        <a:lstStyle/>
        <a:p>
          <a:r>
            <a:rPr lang="en-US" sz="900" dirty="0"/>
            <a:t>Integration with DMS-</a:t>
          </a:r>
        </a:p>
      </dgm:t>
    </dgm:pt>
    <dgm:pt modelId="{7054A748-C38E-43C6-816A-5EC45B8D9D34}" type="parTrans" cxnId="{A55A9F74-00E5-4376-BD00-BAC2CDF162A9}">
      <dgm:prSet/>
      <dgm:spPr/>
      <dgm:t>
        <a:bodyPr/>
        <a:lstStyle/>
        <a:p>
          <a:endParaRPr lang="en-US"/>
        </a:p>
      </dgm:t>
    </dgm:pt>
    <dgm:pt modelId="{5CC61742-66DF-43E9-B3A7-0AD4B57CA6EE}" type="sibTrans" cxnId="{A55A9F74-00E5-4376-BD00-BAC2CDF162A9}">
      <dgm:prSet/>
      <dgm:spPr/>
      <dgm:t>
        <a:bodyPr/>
        <a:lstStyle/>
        <a:p>
          <a:endParaRPr lang="en-US"/>
        </a:p>
      </dgm:t>
    </dgm:pt>
    <dgm:pt modelId="{8014F810-662B-406E-A8A6-9876FFEF35CB}">
      <dgm:prSet custT="1"/>
      <dgm:spPr>
        <a:solidFill>
          <a:schemeClr val="tx1"/>
        </a:solidFill>
      </dgm:spPr>
      <dgm:t>
        <a:bodyPr/>
        <a:lstStyle/>
        <a:p>
          <a:r>
            <a:rPr lang="en-US" sz="900" dirty="0"/>
            <a:t>Geo-tagged SLD</a:t>
          </a:r>
        </a:p>
      </dgm:t>
    </dgm:pt>
    <dgm:pt modelId="{EBED5D57-19E9-48E9-AB21-00895564F14C}" type="parTrans" cxnId="{FA71C127-F1F8-40B9-9682-07BF71E0FB9D}">
      <dgm:prSet/>
      <dgm:spPr/>
      <dgm:t>
        <a:bodyPr/>
        <a:lstStyle/>
        <a:p>
          <a:endParaRPr lang="en-US"/>
        </a:p>
      </dgm:t>
    </dgm:pt>
    <dgm:pt modelId="{5C90E023-8D71-4BAA-A4B5-EADA483F7661}" type="sibTrans" cxnId="{FA71C127-F1F8-40B9-9682-07BF71E0FB9D}">
      <dgm:prSet/>
      <dgm:spPr/>
      <dgm:t>
        <a:bodyPr/>
        <a:lstStyle/>
        <a:p>
          <a:endParaRPr lang="en-US"/>
        </a:p>
      </dgm:t>
    </dgm:pt>
    <dgm:pt modelId="{030F0B3A-9DFB-44D3-9AA0-CC2F49063205}" type="pres">
      <dgm:prSet presAssocID="{E4023183-0311-440A-8CFC-D427D7ECB99F}" presName="Name0" presStyleCnt="0">
        <dgm:presLayoutVars>
          <dgm:dir/>
          <dgm:resizeHandles val="exact"/>
        </dgm:presLayoutVars>
      </dgm:prSet>
      <dgm:spPr/>
    </dgm:pt>
    <dgm:pt modelId="{52649A96-1B0A-4101-9317-5C5095A8AFA6}" type="pres">
      <dgm:prSet presAssocID="{04179BF1-0E31-4E32-B0C9-1D19FF1CF8C4}" presName="node" presStyleLbl="node1" presStyleIdx="0" presStyleCnt="3">
        <dgm:presLayoutVars>
          <dgm:bulletEnabled val="1"/>
        </dgm:presLayoutVars>
      </dgm:prSet>
      <dgm:spPr/>
    </dgm:pt>
    <dgm:pt modelId="{42DB44FD-34C1-46B3-AE6D-B149727A9A27}" type="pres">
      <dgm:prSet presAssocID="{42A06B64-EF04-4E66-9441-46EE5A709F5A}" presName="sibTrans" presStyleCnt="0"/>
      <dgm:spPr/>
    </dgm:pt>
    <dgm:pt modelId="{60782ED9-A9F4-4FA9-A6DB-AB2B471C2B68}" type="pres">
      <dgm:prSet presAssocID="{D4F40B71-34FE-45A7-BB03-073ED073C110}" presName="node" presStyleLbl="node1" presStyleIdx="1" presStyleCnt="3">
        <dgm:presLayoutVars>
          <dgm:bulletEnabled val="1"/>
        </dgm:presLayoutVars>
      </dgm:prSet>
      <dgm:spPr/>
    </dgm:pt>
    <dgm:pt modelId="{222231D7-1F28-4C4D-8223-3DC96C9B23C5}" type="pres">
      <dgm:prSet presAssocID="{A46F3920-F871-4793-A0FD-2A5D4C117C43}" presName="sibTrans" presStyleCnt="0"/>
      <dgm:spPr/>
    </dgm:pt>
    <dgm:pt modelId="{C917D6C5-80FE-41BF-8FA5-EA3A9D1A86B0}" type="pres">
      <dgm:prSet presAssocID="{EE8952D5-482D-4152-937C-8F8F7DCD63BC}" presName="node" presStyleLbl="node1" presStyleIdx="2" presStyleCnt="3" custScaleX="119042">
        <dgm:presLayoutVars>
          <dgm:bulletEnabled val="1"/>
        </dgm:presLayoutVars>
      </dgm:prSet>
      <dgm:spPr/>
    </dgm:pt>
  </dgm:ptLst>
  <dgm:cxnLst>
    <dgm:cxn modelId="{C85EDE0F-1004-4161-932A-A1BF9AA19AEF}" srcId="{E4023183-0311-440A-8CFC-D427D7ECB99F}" destId="{D4F40B71-34FE-45A7-BB03-073ED073C110}" srcOrd="1" destOrd="0" parTransId="{1722E8EB-1DB3-46EA-A5FF-5351B4B688B3}" sibTransId="{A46F3920-F871-4793-A0FD-2A5D4C117C43}"/>
    <dgm:cxn modelId="{8B6C4F22-0554-4FCC-9845-0E9E9855839D}" srcId="{04179BF1-0E31-4E32-B0C9-1D19FF1CF8C4}" destId="{CD3C52BE-196D-4E61-8E05-E039C5BE221D}" srcOrd="3" destOrd="0" parTransId="{34F55705-0E9E-4F7E-831B-4AB0185CE31B}" sibTransId="{E9352181-C8EB-4AE2-993A-89A50190B91A}"/>
    <dgm:cxn modelId="{FA71C127-F1F8-40B9-9682-07BF71E0FB9D}" srcId="{EE8952D5-482D-4152-937C-8F8F7DCD63BC}" destId="{8014F810-662B-406E-A8A6-9876FFEF35CB}" srcOrd="6" destOrd="0" parTransId="{EBED5D57-19E9-48E9-AB21-00895564F14C}" sibTransId="{5C90E023-8D71-4BAA-A4B5-EADA483F7661}"/>
    <dgm:cxn modelId="{1E401F2A-10A6-4668-B9EF-7C1DC01ED967}" type="presOf" srcId="{FD32EEB8-6457-4E7F-9B21-F64F1228CD69}" destId="{C917D6C5-80FE-41BF-8FA5-EA3A9D1A86B0}" srcOrd="0" destOrd="2" presId="urn:microsoft.com/office/officeart/2005/8/layout/hList6"/>
    <dgm:cxn modelId="{FD259E62-0E27-4F67-8C7B-29C572B6FC6B}" type="presOf" srcId="{CD3C52BE-196D-4E61-8E05-E039C5BE221D}" destId="{52649A96-1B0A-4101-9317-5C5095A8AFA6}" srcOrd="0" destOrd="4" presId="urn:microsoft.com/office/officeart/2005/8/layout/hList6"/>
    <dgm:cxn modelId="{D1414843-4870-48CD-B65C-F37A11532333}" srcId="{EE8952D5-482D-4152-937C-8F8F7DCD63BC}" destId="{3426CFFD-3936-4F61-B3C5-DBE18D452639}" srcOrd="4" destOrd="0" parTransId="{AA13E93B-04B3-43B2-BFAA-081A5FFAEF5B}" sibTransId="{C3D90513-6685-4576-942D-DFA672AEF6A2}"/>
    <dgm:cxn modelId="{A9B22A69-A07E-4EFD-9797-EC92C9FF4F4B}" type="presOf" srcId="{1BE3A2BD-550F-4FA3-B95C-EA3E45F3CF00}" destId="{C917D6C5-80FE-41BF-8FA5-EA3A9D1A86B0}" srcOrd="0" destOrd="1" presId="urn:microsoft.com/office/officeart/2005/8/layout/hList6"/>
    <dgm:cxn modelId="{4912064D-6BF6-45C2-9CA3-919AA3A9CC98}" type="presOf" srcId="{E4023183-0311-440A-8CFC-D427D7ECB99F}" destId="{030F0B3A-9DFB-44D3-9AA0-CC2F49063205}" srcOrd="0" destOrd="0" presId="urn:microsoft.com/office/officeart/2005/8/layout/hList6"/>
    <dgm:cxn modelId="{4750D44D-7EAC-47C8-B64D-8B54EE840956}" type="presOf" srcId="{65550F21-F9BD-45B9-A759-E6DE35A326C8}" destId="{52649A96-1B0A-4101-9317-5C5095A8AFA6}" srcOrd="0" destOrd="2" presId="urn:microsoft.com/office/officeart/2005/8/layout/hList6"/>
    <dgm:cxn modelId="{A55A9F74-00E5-4376-BD00-BAC2CDF162A9}" srcId="{EE8952D5-482D-4152-937C-8F8F7DCD63BC}" destId="{32D7FE61-6DE6-4580-BBA7-06FD1D452C97}" srcOrd="5" destOrd="0" parTransId="{7054A748-C38E-43C6-816A-5EC45B8D9D34}" sibTransId="{5CC61742-66DF-43E9-B3A7-0AD4B57CA6EE}"/>
    <dgm:cxn modelId="{ABA65678-8922-4799-B415-E9A27F69E427}" srcId="{EE8952D5-482D-4152-937C-8F8F7DCD63BC}" destId="{2CFEE4A3-785A-4995-9E24-695F437A8B20}" srcOrd="2" destOrd="0" parTransId="{0CB95FE0-363D-4CFF-A8AC-FB36A1B3AA8D}" sibTransId="{0215D23A-A915-446F-A308-2512F8EFED28}"/>
    <dgm:cxn modelId="{8A49DA7D-E3F6-42D7-A802-16D436F4E1AB}" srcId="{EE8952D5-482D-4152-937C-8F8F7DCD63BC}" destId="{FD32EEB8-6457-4E7F-9B21-F64F1228CD69}" srcOrd="1" destOrd="0" parTransId="{82AF18D3-13E0-46B4-84DC-916B7E5F9BCC}" sibTransId="{03733A9B-FD4F-4540-A575-91905E60B476}"/>
    <dgm:cxn modelId="{867A4D7E-35AC-4142-85CB-D20D37F4C425}" type="presOf" srcId="{E6BD63C4-BBD2-45E3-9927-CAABC22A01FF}" destId="{60782ED9-A9F4-4FA9-A6DB-AB2B471C2B68}" srcOrd="0" destOrd="2" presId="urn:microsoft.com/office/officeart/2005/8/layout/hList6"/>
    <dgm:cxn modelId="{46000484-0F53-4611-BD5A-627276BA2B08}" type="presOf" srcId="{EE8952D5-482D-4152-937C-8F8F7DCD63BC}" destId="{C917D6C5-80FE-41BF-8FA5-EA3A9D1A86B0}" srcOrd="0" destOrd="0" presId="urn:microsoft.com/office/officeart/2005/8/layout/hList6"/>
    <dgm:cxn modelId="{8708648F-CECB-4239-A3BC-B2D9993F3B76}" type="presOf" srcId="{5561A663-EC79-4719-8F85-9C7B03E8A53C}" destId="{52649A96-1B0A-4101-9317-5C5095A8AFA6}" srcOrd="0" destOrd="5" presId="urn:microsoft.com/office/officeart/2005/8/layout/hList6"/>
    <dgm:cxn modelId="{4B8E8493-69BB-4A54-B3C5-8C4C75C544C2}" srcId="{04179BF1-0E31-4E32-B0C9-1D19FF1CF8C4}" destId="{30AAD7D7-D41D-4795-9399-66056E5EC5D5}" srcOrd="2" destOrd="0" parTransId="{5FA01799-66C8-449E-8A4B-322B678EAAF5}" sibTransId="{597964BD-AF76-4D71-ABB3-5A9E8EE8169E}"/>
    <dgm:cxn modelId="{256A8797-1F37-413E-8CD7-5AFF1AA3AC7F}" srcId="{EE8952D5-482D-4152-937C-8F8F7DCD63BC}" destId="{A447C710-DCA0-4617-A865-44A178417BF5}" srcOrd="3" destOrd="0" parTransId="{A324FC13-500C-4610-8972-223D9CCAC74D}" sibTransId="{15C1CE88-85A9-43AB-9F86-0B79FC4A3D39}"/>
    <dgm:cxn modelId="{70E14598-69DE-4358-94B4-0A1DEF7CCBE8}" srcId="{D4F40B71-34FE-45A7-BB03-073ED073C110}" destId="{F1242B8C-5073-4A90-A07B-F6943B6B3786}" srcOrd="0" destOrd="0" parTransId="{2443101C-B599-4245-9489-6CF13CD7D4BC}" sibTransId="{9FC28103-227A-407F-B90C-C71BEC61F6DD}"/>
    <dgm:cxn modelId="{A6EEBC99-C37D-4B9C-BC55-1358C6C08D41}" type="presOf" srcId="{A447C710-DCA0-4617-A865-44A178417BF5}" destId="{C917D6C5-80FE-41BF-8FA5-EA3A9D1A86B0}" srcOrd="0" destOrd="4" presId="urn:microsoft.com/office/officeart/2005/8/layout/hList6"/>
    <dgm:cxn modelId="{30C5A79A-CF7C-4A62-87FB-F7B9B1367D02}" srcId="{D4F40B71-34FE-45A7-BB03-073ED073C110}" destId="{731574FE-2038-43D5-832B-A265574D2CB2}" srcOrd="2" destOrd="0" parTransId="{A7406055-DCBB-4F72-ACC5-80FC90A9964E}" sibTransId="{56C58D83-A2C7-4FD0-8288-FF468196EE23}"/>
    <dgm:cxn modelId="{97DC519E-2874-44F8-BDB5-556EAC8DAB02}" type="presOf" srcId="{F1242B8C-5073-4A90-A07B-F6943B6B3786}" destId="{60782ED9-A9F4-4FA9-A6DB-AB2B471C2B68}" srcOrd="0" destOrd="1" presId="urn:microsoft.com/office/officeart/2005/8/layout/hList6"/>
    <dgm:cxn modelId="{654FEA9E-1847-4623-ACF7-3E9C586F32F3}" type="presOf" srcId="{04179BF1-0E31-4E32-B0C9-1D19FF1CF8C4}" destId="{52649A96-1B0A-4101-9317-5C5095A8AFA6}" srcOrd="0" destOrd="0" presId="urn:microsoft.com/office/officeart/2005/8/layout/hList6"/>
    <dgm:cxn modelId="{1BDF54A0-9DAD-46BA-BC41-6546ED675DFB}" type="presOf" srcId="{D4F40B71-34FE-45A7-BB03-073ED073C110}" destId="{60782ED9-A9F4-4FA9-A6DB-AB2B471C2B68}" srcOrd="0" destOrd="0" presId="urn:microsoft.com/office/officeart/2005/8/layout/hList6"/>
    <dgm:cxn modelId="{CEC44FA8-6326-456A-8A65-349E1D73E571}" type="presOf" srcId="{731574FE-2038-43D5-832B-A265574D2CB2}" destId="{60782ED9-A9F4-4FA9-A6DB-AB2B471C2B68}" srcOrd="0" destOrd="3" presId="urn:microsoft.com/office/officeart/2005/8/layout/hList6"/>
    <dgm:cxn modelId="{F4D6E9A9-6AA9-4195-9ED4-D6D64404266C}" srcId="{04179BF1-0E31-4E32-B0C9-1D19FF1CF8C4}" destId="{5561A663-EC79-4719-8F85-9C7B03E8A53C}" srcOrd="4" destOrd="0" parTransId="{60AD9E84-3864-4BB9-A70E-C266321A4EE8}" sibTransId="{54E50A9C-3A3A-4D8A-AD9A-8CA939B3DCC0}"/>
    <dgm:cxn modelId="{1C196CAF-8D97-4BA4-9E76-29C62B13E089}" srcId="{D4F40B71-34FE-45A7-BB03-073ED073C110}" destId="{E6BD63C4-BBD2-45E3-9927-CAABC22A01FF}" srcOrd="1" destOrd="0" parTransId="{FADC1A9C-91E7-40CB-B8CE-84DBD09079D0}" sibTransId="{F9BBD6F9-4479-48AF-8871-3969AEBCD190}"/>
    <dgm:cxn modelId="{99D0ACBB-8060-42CE-A72F-4EC5DEF5641F}" type="presOf" srcId="{893E821D-51FE-496C-94A3-A4E2175DC0F9}" destId="{52649A96-1B0A-4101-9317-5C5095A8AFA6}" srcOrd="0" destOrd="1" presId="urn:microsoft.com/office/officeart/2005/8/layout/hList6"/>
    <dgm:cxn modelId="{CB1507CD-72E5-492F-8DE9-AD35AA31854F}" srcId="{E4023183-0311-440A-8CFC-D427D7ECB99F}" destId="{04179BF1-0E31-4E32-B0C9-1D19FF1CF8C4}" srcOrd="0" destOrd="0" parTransId="{A9E1BA1A-2858-4423-A358-43E84774BE7E}" sibTransId="{42A06B64-EF04-4E66-9441-46EE5A709F5A}"/>
    <dgm:cxn modelId="{C5CA12D0-7C18-4AEB-9F09-3131B6771471}" type="presOf" srcId="{32D7FE61-6DE6-4580-BBA7-06FD1D452C97}" destId="{C917D6C5-80FE-41BF-8FA5-EA3A9D1A86B0}" srcOrd="0" destOrd="6" presId="urn:microsoft.com/office/officeart/2005/8/layout/hList6"/>
    <dgm:cxn modelId="{02FB88D1-F5E6-4603-8228-05FC6A1133ED}" type="presOf" srcId="{2CFEE4A3-785A-4995-9E24-695F437A8B20}" destId="{C917D6C5-80FE-41BF-8FA5-EA3A9D1A86B0}" srcOrd="0" destOrd="3" presId="urn:microsoft.com/office/officeart/2005/8/layout/hList6"/>
    <dgm:cxn modelId="{5442DCD1-97EB-4693-A1C8-B3C2FA47ECB0}" type="presOf" srcId="{8014F810-662B-406E-A8A6-9876FFEF35CB}" destId="{C917D6C5-80FE-41BF-8FA5-EA3A9D1A86B0}" srcOrd="0" destOrd="7" presId="urn:microsoft.com/office/officeart/2005/8/layout/hList6"/>
    <dgm:cxn modelId="{082317D6-8C82-488D-AFAA-0FD03B9D0278}" srcId="{EE8952D5-482D-4152-937C-8F8F7DCD63BC}" destId="{1BE3A2BD-550F-4FA3-B95C-EA3E45F3CF00}" srcOrd="0" destOrd="0" parTransId="{0EEA2F91-2634-499B-8601-2219A999BC26}" sibTransId="{A0FA79E9-479E-4DE0-AB4F-EC078670D99F}"/>
    <dgm:cxn modelId="{67A551D9-1AAC-42FD-B309-847138764B13}" type="presOf" srcId="{3426CFFD-3936-4F61-B3C5-DBE18D452639}" destId="{C917D6C5-80FE-41BF-8FA5-EA3A9D1A86B0}" srcOrd="0" destOrd="5" presId="urn:microsoft.com/office/officeart/2005/8/layout/hList6"/>
    <dgm:cxn modelId="{D98E8AE3-036C-4F8B-B70F-07D423D2B8FA}" srcId="{04179BF1-0E31-4E32-B0C9-1D19FF1CF8C4}" destId="{65550F21-F9BD-45B9-A759-E6DE35A326C8}" srcOrd="1" destOrd="0" parTransId="{E1AC51D7-6AB5-40CB-BC28-2E93A0720367}" sibTransId="{35B017BD-F5D1-4A5B-ACBD-87EEF99345FD}"/>
    <dgm:cxn modelId="{4AE69BE9-3752-45D9-8CFE-B5CB328A7C93}" srcId="{04179BF1-0E31-4E32-B0C9-1D19FF1CF8C4}" destId="{893E821D-51FE-496C-94A3-A4E2175DC0F9}" srcOrd="0" destOrd="0" parTransId="{5D05FAF5-6683-485E-9ABA-DBC64D1C1AD4}" sibTransId="{46A4766B-8DA3-4544-8EF4-1248039788E6}"/>
    <dgm:cxn modelId="{049712EA-F18B-4662-ACB7-BEF39263EA49}" type="presOf" srcId="{30AAD7D7-D41D-4795-9399-66056E5EC5D5}" destId="{52649A96-1B0A-4101-9317-5C5095A8AFA6}" srcOrd="0" destOrd="3" presId="urn:microsoft.com/office/officeart/2005/8/layout/hList6"/>
    <dgm:cxn modelId="{8AB717ED-ADEB-4A7A-972F-B0ECADC877DC}" srcId="{E4023183-0311-440A-8CFC-D427D7ECB99F}" destId="{EE8952D5-482D-4152-937C-8F8F7DCD63BC}" srcOrd="2" destOrd="0" parTransId="{AC4D946A-139D-4DFA-8F54-58365C47B282}" sibTransId="{90C3A1EE-EEA6-4DC9-B2C0-C06618A82230}"/>
    <dgm:cxn modelId="{3E6F4288-9174-4232-B648-DA0FA0BE3CED}" type="presParOf" srcId="{030F0B3A-9DFB-44D3-9AA0-CC2F49063205}" destId="{52649A96-1B0A-4101-9317-5C5095A8AFA6}" srcOrd="0" destOrd="0" presId="urn:microsoft.com/office/officeart/2005/8/layout/hList6"/>
    <dgm:cxn modelId="{7DAF385F-C602-44AD-9C7D-3CCFDA4E9ADC}" type="presParOf" srcId="{030F0B3A-9DFB-44D3-9AA0-CC2F49063205}" destId="{42DB44FD-34C1-46B3-AE6D-B149727A9A27}" srcOrd="1" destOrd="0" presId="urn:microsoft.com/office/officeart/2005/8/layout/hList6"/>
    <dgm:cxn modelId="{BD08E460-2832-4DF3-963D-7EBB76D88D39}" type="presParOf" srcId="{030F0B3A-9DFB-44D3-9AA0-CC2F49063205}" destId="{60782ED9-A9F4-4FA9-A6DB-AB2B471C2B68}" srcOrd="2" destOrd="0" presId="urn:microsoft.com/office/officeart/2005/8/layout/hList6"/>
    <dgm:cxn modelId="{87BA2AA3-924C-484C-906D-B195114C6DCE}" type="presParOf" srcId="{030F0B3A-9DFB-44D3-9AA0-CC2F49063205}" destId="{222231D7-1F28-4C4D-8223-3DC96C9B23C5}" srcOrd="3" destOrd="0" presId="urn:microsoft.com/office/officeart/2005/8/layout/hList6"/>
    <dgm:cxn modelId="{1C8D3C17-8797-4CDC-80CA-32C660ABF6C8}" type="presParOf" srcId="{030F0B3A-9DFB-44D3-9AA0-CC2F49063205}" destId="{C917D6C5-80FE-41BF-8FA5-EA3A9D1A86B0}" srcOrd="4" destOrd="0" presId="urn:microsoft.com/office/officeart/2005/8/layout/hList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023183-0311-440A-8CFC-D427D7ECB99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4179BF1-0E31-4E32-B0C9-1D19FF1CF8C4}">
      <dgm:prSet phldrT="[Text]" custT="1"/>
      <dgm:spPr>
        <a:solidFill>
          <a:srgbClr val="004F59"/>
        </a:solidFill>
      </dgm:spPr>
      <dgm:t>
        <a:bodyPr/>
        <a:lstStyle/>
        <a:p>
          <a:r>
            <a:rPr lang="en-US" sz="1200" b="1" dirty="0"/>
            <a:t>Input</a:t>
          </a:r>
        </a:p>
        <a:p>
          <a:endParaRPr lang="en-US" sz="900" b="1" dirty="0"/>
        </a:p>
      </dgm:t>
    </dgm:pt>
    <dgm:pt modelId="{A9E1BA1A-2858-4423-A358-43E84774BE7E}" type="parTrans" cxnId="{CB1507CD-72E5-492F-8DE9-AD35AA31854F}">
      <dgm:prSet/>
      <dgm:spPr/>
      <dgm:t>
        <a:bodyPr/>
        <a:lstStyle/>
        <a:p>
          <a:endParaRPr lang="en-US" sz="2000"/>
        </a:p>
      </dgm:t>
    </dgm:pt>
    <dgm:pt modelId="{42A06B64-EF04-4E66-9441-46EE5A709F5A}" type="sibTrans" cxnId="{CB1507CD-72E5-492F-8DE9-AD35AA31854F}">
      <dgm:prSet/>
      <dgm:spPr/>
      <dgm:t>
        <a:bodyPr/>
        <a:lstStyle/>
        <a:p>
          <a:endParaRPr lang="en-US" sz="2000"/>
        </a:p>
      </dgm:t>
    </dgm:pt>
    <dgm:pt modelId="{D4F40B71-34FE-45A7-BB03-073ED073C110}">
      <dgm:prSet phldrT="[Text]" custT="1"/>
      <dgm:spPr>
        <a:solidFill>
          <a:srgbClr val="6FC2B4"/>
        </a:solidFill>
      </dgm:spPr>
      <dgm:t>
        <a:bodyPr/>
        <a:lstStyle/>
        <a:p>
          <a:pPr>
            <a:buNone/>
          </a:pPr>
          <a:r>
            <a:rPr lang="en-US" sz="1200" b="1" dirty="0"/>
            <a:t>Processing in GIS</a:t>
          </a:r>
        </a:p>
      </dgm:t>
    </dgm:pt>
    <dgm:pt modelId="{1722E8EB-1DB3-46EA-A5FF-5351B4B688B3}" type="parTrans" cxnId="{C85EDE0F-1004-4161-932A-A1BF9AA19AEF}">
      <dgm:prSet/>
      <dgm:spPr/>
      <dgm:t>
        <a:bodyPr/>
        <a:lstStyle/>
        <a:p>
          <a:endParaRPr lang="en-US" sz="2000"/>
        </a:p>
      </dgm:t>
    </dgm:pt>
    <dgm:pt modelId="{A46F3920-F871-4793-A0FD-2A5D4C117C43}" type="sibTrans" cxnId="{C85EDE0F-1004-4161-932A-A1BF9AA19AEF}">
      <dgm:prSet/>
      <dgm:spPr/>
      <dgm:t>
        <a:bodyPr/>
        <a:lstStyle/>
        <a:p>
          <a:endParaRPr lang="en-US" sz="2000"/>
        </a:p>
      </dgm:t>
    </dgm:pt>
    <dgm:pt modelId="{EE8952D5-482D-4152-937C-8F8F7DCD63BC}">
      <dgm:prSet phldrT="[Text]" custT="1"/>
      <dgm:spPr>
        <a:solidFill>
          <a:srgbClr val="004F59"/>
        </a:solidFill>
      </dgm:spPr>
      <dgm:t>
        <a:bodyPr/>
        <a:lstStyle/>
        <a:p>
          <a:pPr>
            <a:buNone/>
          </a:pPr>
          <a:r>
            <a:rPr lang="en-US" sz="1200" b="1" dirty="0"/>
            <a:t>Output</a:t>
          </a:r>
        </a:p>
        <a:p>
          <a:pPr>
            <a:buNone/>
          </a:pPr>
          <a:endParaRPr lang="en-US" sz="1100" b="1" dirty="0"/>
        </a:p>
      </dgm:t>
    </dgm:pt>
    <dgm:pt modelId="{AC4D946A-139D-4DFA-8F54-58365C47B282}" type="parTrans" cxnId="{8AB717ED-ADEB-4A7A-972F-B0ECADC877DC}">
      <dgm:prSet/>
      <dgm:spPr/>
      <dgm:t>
        <a:bodyPr/>
        <a:lstStyle/>
        <a:p>
          <a:endParaRPr lang="en-US" sz="2000"/>
        </a:p>
      </dgm:t>
    </dgm:pt>
    <dgm:pt modelId="{90C3A1EE-EEA6-4DC9-B2C0-C06618A82230}" type="sibTrans" cxnId="{8AB717ED-ADEB-4A7A-972F-B0ECADC877DC}">
      <dgm:prSet/>
      <dgm:spPr/>
      <dgm:t>
        <a:bodyPr/>
        <a:lstStyle/>
        <a:p>
          <a:endParaRPr lang="en-US" sz="2000"/>
        </a:p>
      </dgm:t>
    </dgm:pt>
    <dgm:pt modelId="{893E821D-51FE-496C-94A3-A4E2175DC0F9}">
      <dgm:prSet custT="1"/>
      <dgm:spPr>
        <a:solidFill>
          <a:srgbClr val="004F59"/>
        </a:solidFill>
      </dgm:spPr>
      <dgm:t>
        <a:bodyPr/>
        <a:lstStyle/>
        <a:p>
          <a:r>
            <a:rPr lang="en-US" sz="900" dirty="0"/>
            <a:t>Pole No. from Meter Management Group</a:t>
          </a:r>
        </a:p>
      </dgm:t>
    </dgm:pt>
    <dgm:pt modelId="{5D05FAF5-6683-485E-9ABA-DBC64D1C1AD4}" type="parTrans" cxnId="{4AE69BE9-3752-45D9-8CFE-B5CB328A7C93}">
      <dgm:prSet/>
      <dgm:spPr/>
      <dgm:t>
        <a:bodyPr/>
        <a:lstStyle/>
        <a:p>
          <a:endParaRPr lang="en-US" sz="2000"/>
        </a:p>
      </dgm:t>
    </dgm:pt>
    <dgm:pt modelId="{46A4766B-8DA3-4544-8EF4-1248039788E6}" type="sibTrans" cxnId="{4AE69BE9-3752-45D9-8CFE-B5CB328A7C93}">
      <dgm:prSet/>
      <dgm:spPr/>
      <dgm:t>
        <a:bodyPr/>
        <a:lstStyle/>
        <a:p>
          <a:endParaRPr lang="en-US" sz="2000"/>
        </a:p>
      </dgm:t>
    </dgm:pt>
    <dgm:pt modelId="{5561A663-EC79-4719-8F85-9C7B03E8A53C}">
      <dgm:prSet custT="1"/>
      <dgm:spPr>
        <a:solidFill>
          <a:srgbClr val="004F59"/>
        </a:solidFill>
      </dgm:spPr>
      <dgm:t>
        <a:bodyPr/>
        <a:lstStyle/>
        <a:p>
          <a:endParaRPr lang="en-US" sz="900" dirty="0"/>
        </a:p>
      </dgm:t>
    </dgm:pt>
    <dgm:pt modelId="{60AD9E84-3864-4BB9-A70E-C266321A4EE8}" type="parTrans" cxnId="{F4D6E9A9-6AA9-4195-9ED4-D6D64404266C}">
      <dgm:prSet/>
      <dgm:spPr/>
      <dgm:t>
        <a:bodyPr/>
        <a:lstStyle/>
        <a:p>
          <a:endParaRPr lang="en-US" sz="2000"/>
        </a:p>
      </dgm:t>
    </dgm:pt>
    <dgm:pt modelId="{54E50A9C-3A3A-4D8A-AD9A-8CA939B3DCC0}" type="sibTrans" cxnId="{F4D6E9A9-6AA9-4195-9ED4-D6D64404266C}">
      <dgm:prSet/>
      <dgm:spPr/>
      <dgm:t>
        <a:bodyPr/>
        <a:lstStyle/>
        <a:p>
          <a:endParaRPr lang="en-US" sz="2000"/>
        </a:p>
      </dgm:t>
    </dgm:pt>
    <dgm:pt modelId="{F1242B8C-5073-4A90-A07B-F6943B6B3786}">
      <dgm:prSet phldrT="[Text]" custT="1"/>
      <dgm:spPr>
        <a:solidFill>
          <a:srgbClr val="6FC2B4"/>
        </a:solidFill>
      </dgm:spPr>
      <dgm:t>
        <a:bodyPr/>
        <a:lstStyle/>
        <a:p>
          <a:r>
            <a:rPr lang="en-US" sz="900" dirty="0"/>
            <a:t>Consumer Mapping in GIS</a:t>
          </a:r>
        </a:p>
      </dgm:t>
    </dgm:pt>
    <dgm:pt modelId="{9FC28103-227A-407F-B90C-C71BEC61F6DD}" type="sibTrans" cxnId="{70E14598-69DE-4358-94B4-0A1DEF7CCBE8}">
      <dgm:prSet/>
      <dgm:spPr/>
      <dgm:t>
        <a:bodyPr/>
        <a:lstStyle/>
        <a:p>
          <a:endParaRPr lang="en-US" sz="2000"/>
        </a:p>
      </dgm:t>
    </dgm:pt>
    <dgm:pt modelId="{2443101C-B599-4245-9489-6CF13CD7D4BC}" type="parTrans" cxnId="{70E14598-69DE-4358-94B4-0A1DEF7CCBE8}">
      <dgm:prSet/>
      <dgm:spPr/>
      <dgm:t>
        <a:bodyPr/>
        <a:lstStyle/>
        <a:p>
          <a:endParaRPr lang="en-US" sz="2000"/>
        </a:p>
      </dgm:t>
    </dgm:pt>
    <dgm:pt modelId="{1BE3A2BD-550F-4FA3-B95C-EA3E45F3CF00}">
      <dgm:prSet custT="1"/>
      <dgm:spPr>
        <a:solidFill>
          <a:srgbClr val="004F59"/>
        </a:solidFill>
      </dgm:spPr>
      <dgm:t>
        <a:bodyPr/>
        <a:lstStyle/>
        <a:p>
          <a:r>
            <a:rPr lang="en-US" sz="900"/>
            <a:t>Integration with SAP -</a:t>
          </a:r>
          <a:endParaRPr lang="en-US" sz="900" dirty="0"/>
        </a:p>
      </dgm:t>
    </dgm:pt>
    <dgm:pt modelId="{0EEA2F91-2634-499B-8601-2219A999BC26}" type="parTrans" cxnId="{082317D6-8C82-488D-AFAA-0FD03B9D0278}">
      <dgm:prSet/>
      <dgm:spPr/>
      <dgm:t>
        <a:bodyPr/>
        <a:lstStyle/>
        <a:p>
          <a:endParaRPr lang="en-US"/>
        </a:p>
      </dgm:t>
    </dgm:pt>
    <dgm:pt modelId="{A0FA79E9-479E-4DE0-AB4F-EC078670D99F}" type="sibTrans" cxnId="{082317D6-8C82-488D-AFAA-0FD03B9D0278}">
      <dgm:prSet/>
      <dgm:spPr/>
      <dgm:t>
        <a:bodyPr/>
        <a:lstStyle/>
        <a:p>
          <a:endParaRPr lang="en-US"/>
        </a:p>
      </dgm:t>
    </dgm:pt>
    <dgm:pt modelId="{87E149D5-2A61-4711-ABCD-DCCF0A3016E8}">
      <dgm:prSet custT="1"/>
      <dgm:spPr/>
      <dgm:t>
        <a:bodyPr/>
        <a:lstStyle/>
        <a:p>
          <a:r>
            <a:rPr lang="en-US" sz="900" dirty="0"/>
            <a:t>Connectivity of consumer with - </a:t>
          </a:r>
        </a:p>
      </dgm:t>
    </dgm:pt>
    <dgm:pt modelId="{44A44386-C3D2-4553-95EB-3DEE464159EC}" type="parTrans" cxnId="{5A1D71AA-573D-4042-8BFD-23FF12EDEE38}">
      <dgm:prSet/>
      <dgm:spPr/>
      <dgm:t>
        <a:bodyPr/>
        <a:lstStyle/>
        <a:p>
          <a:endParaRPr lang="en-US"/>
        </a:p>
      </dgm:t>
    </dgm:pt>
    <dgm:pt modelId="{B01AB773-DA79-48E4-A1DF-742620AB4D5D}" type="sibTrans" cxnId="{5A1D71AA-573D-4042-8BFD-23FF12EDEE38}">
      <dgm:prSet/>
      <dgm:spPr/>
      <dgm:t>
        <a:bodyPr/>
        <a:lstStyle/>
        <a:p>
          <a:endParaRPr lang="en-US"/>
        </a:p>
      </dgm:t>
    </dgm:pt>
    <dgm:pt modelId="{791AA381-3A9C-45E9-9139-DBA4EB4C7E82}">
      <dgm:prSet custT="1"/>
      <dgm:spPr/>
      <dgm:t>
        <a:bodyPr/>
        <a:lstStyle/>
        <a:p>
          <a:pPr>
            <a:buFont typeface="Wingdings" panose="05000000000000000000" pitchFamily="2" charset="2"/>
            <a:buChar char="ü"/>
          </a:pPr>
          <a:r>
            <a:rPr lang="en-US" sz="900" dirty="0"/>
            <a:t>LT Feeder</a:t>
          </a:r>
        </a:p>
      </dgm:t>
    </dgm:pt>
    <dgm:pt modelId="{18B46997-E309-4968-ACD1-D6D9D5C93995}" type="parTrans" cxnId="{AB6295ED-9FAC-46CB-86E1-768262CBF220}">
      <dgm:prSet/>
      <dgm:spPr/>
      <dgm:t>
        <a:bodyPr/>
        <a:lstStyle/>
        <a:p>
          <a:endParaRPr lang="en-US"/>
        </a:p>
      </dgm:t>
    </dgm:pt>
    <dgm:pt modelId="{5CA28B5D-83D6-4CEA-946F-5D5E38618A3F}" type="sibTrans" cxnId="{AB6295ED-9FAC-46CB-86E1-768262CBF220}">
      <dgm:prSet/>
      <dgm:spPr/>
      <dgm:t>
        <a:bodyPr/>
        <a:lstStyle/>
        <a:p>
          <a:endParaRPr lang="en-US"/>
        </a:p>
      </dgm:t>
    </dgm:pt>
    <dgm:pt modelId="{7DFABDCA-CEFE-4ABC-92F6-2219F0251CBB}">
      <dgm:prSet custT="1"/>
      <dgm:spPr/>
      <dgm:t>
        <a:bodyPr/>
        <a:lstStyle/>
        <a:p>
          <a:pPr>
            <a:buFont typeface="Wingdings" panose="05000000000000000000" pitchFamily="2" charset="2"/>
            <a:buChar char="ü"/>
          </a:pPr>
          <a:r>
            <a:rPr lang="en-US" sz="900" dirty="0"/>
            <a:t>Transformer</a:t>
          </a:r>
        </a:p>
      </dgm:t>
    </dgm:pt>
    <dgm:pt modelId="{5CA87D9F-DCB6-4BA8-9853-B112C274B272}" type="parTrans" cxnId="{43A0F9DA-A382-42EF-80B9-370D19E7B04D}">
      <dgm:prSet/>
      <dgm:spPr/>
      <dgm:t>
        <a:bodyPr/>
        <a:lstStyle/>
        <a:p>
          <a:endParaRPr lang="en-US"/>
        </a:p>
      </dgm:t>
    </dgm:pt>
    <dgm:pt modelId="{ADC4CE09-5034-4FFD-819D-C238768936F5}" type="sibTrans" cxnId="{43A0F9DA-A382-42EF-80B9-370D19E7B04D}">
      <dgm:prSet/>
      <dgm:spPr/>
      <dgm:t>
        <a:bodyPr/>
        <a:lstStyle/>
        <a:p>
          <a:endParaRPr lang="en-US"/>
        </a:p>
      </dgm:t>
    </dgm:pt>
    <dgm:pt modelId="{F0D93472-4988-4DA7-B238-706199B3BA17}">
      <dgm:prSet custT="1"/>
      <dgm:spPr/>
      <dgm:t>
        <a:bodyPr/>
        <a:lstStyle/>
        <a:p>
          <a:pPr>
            <a:buFont typeface="Wingdings" panose="05000000000000000000" pitchFamily="2" charset="2"/>
            <a:buChar char="ü"/>
          </a:pPr>
          <a:r>
            <a:rPr lang="en-US" sz="900" dirty="0"/>
            <a:t>HT Feeder</a:t>
          </a:r>
        </a:p>
      </dgm:t>
    </dgm:pt>
    <dgm:pt modelId="{57E3DA08-9110-4DEA-884C-F3EB8A7CF50A}" type="parTrans" cxnId="{7C8E206D-FBE0-4A2F-A9B2-81460996E9CD}">
      <dgm:prSet/>
      <dgm:spPr/>
      <dgm:t>
        <a:bodyPr/>
        <a:lstStyle/>
        <a:p>
          <a:endParaRPr lang="en-US"/>
        </a:p>
      </dgm:t>
    </dgm:pt>
    <dgm:pt modelId="{5E548B0D-B207-4578-8DDC-A874D3563BF1}" type="sibTrans" cxnId="{7C8E206D-FBE0-4A2F-A9B2-81460996E9CD}">
      <dgm:prSet/>
      <dgm:spPr/>
      <dgm:t>
        <a:bodyPr/>
        <a:lstStyle/>
        <a:p>
          <a:endParaRPr lang="en-US"/>
        </a:p>
      </dgm:t>
    </dgm:pt>
    <dgm:pt modelId="{261990DE-53CA-48FF-B98D-60C703A0A1C7}">
      <dgm:prSet custT="1"/>
      <dgm:spPr/>
      <dgm:t>
        <a:bodyPr/>
        <a:lstStyle/>
        <a:p>
          <a:pPr>
            <a:buFont typeface="Wingdings" panose="05000000000000000000" pitchFamily="2" charset="2"/>
            <a:buChar char="ü"/>
          </a:pPr>
          <a:r>
            <a:rPr lang="en-US" sz="900" dirty="0"/>
            <a:t>ST Feeder</a:t>
          </a:r>
        </a:p>
      </dgm:t>
    </dgm:pt>
    <dgm:pt modelId="{5927E3D7-89ED-4CD8-AE40-81FCB93CF601}" type="parTrans" cxnId="{62C91576-4A5F-4F7B-9C5D-ED41FCC51816}">
      <dgm:prSet/>
      <dgm:spPr/>
      <dgm:t>
        <a:bodyPr/>
        <a:lstStyle/>
        <a:p>
          <a:endParaRPr lang="en-US"/>
        </a:p>
      </dgm:t>
    </dgm:pt>
    <dgm:pt modelId="{151ACE9D-A848-4953-AECF-D5AE3FB07D49}" type="sibTrans" cxnId="{62C91576-4A5F-4F7B-9C5D-ED41FCC51816}">
      <dgm:prSet/>
      <dgm:spPr/>
      <dgm:t>
        <a:bodyPr/>
        <a:lstStyle/>
        <a:p>
          <a:endParaRPr lang="en-US"/>
        </a:p>
      </dgm:t>
    </dgm:pt>
    <dgm:pt modelId="{57650B99-190D-4BEF-A89D-704A7F30BDC2}">
      <dgm:prSet custT="1"/>
      <dgm:spPr/>
      <dgm:t>
        <a:bodyPr/>
        <a:lstStyle/>
        <a:p>
          <a:pPr>
            <a:buFont typeface="Wingdings" panose="05000000000000000000" pitchFamily="2" charset="2"/>
            <a:buChar char="ü"/>
          </a:pPr>
          <a:r>
            <a:rPr lang="en-US" sz="900" dirty="0"/>
            <a:t>Energy auditing</a:t>
          </a:r>
        </a:p>
      </dgm:t>
    </dgm:pt>
    <dgm:pt modelId="{DBFCDBD5-D4EC-4885-94A7-1A304F720EDC}" type="parTrans" cxnId="{582B7BE3-DF33-46D0-9CC8-33B00E81097E}">
      <dgm:prSet/>
      <dgm:spPr/>
      <dgm:t>
        <a:bodyPr/>
        <a:lstStyle/>
        <a:p>
          <a:endParaRPr lang="en-US"/>
        </a:p>
      </dgm:t>
    </dgm:pt>
    <dgm:pt modelId="{F28FC740-EBFF-45C4-9E3B-56972187C72F}" type="sibTrans" cxnId="{582B7BE3-DF33-46D0-9CC8-33B00E81097E}">
      <dgm:prSet/>
      <dgm:spPr/>
      <dgm:t>
        <a:bodyPr/>
        <a:lstStyle/>
        <a:p>
          <a:endParaRPr lang="en-US"/>
        </a:p>
      </dgm:t>
    </dgm:pt>
    <dgm:pt modelId="{E9311996-329D-43CD-99EA-D3C1B2AC4DFD}">
      <dgm:prSet custT="1"/>
      <dgm:spPr/>
      <dgm:t>
        <a:bodyPr/>
        <a:lstStyle/>
        <a:p>
          <a:pPr>
            <a:buFont typeface="Wingdings" panose="05000000000000000000" pitchFamily="2" charset="2"/>
            <a:buChar char="ü"/>
          </a:pPr>
          <a:r>
            <a:rPr lang="en-US" sz="900" dirty="0"/>
            <a:t>Revenue Protection</a:t>
          </a:r>
        </a:p>
      </dgm:t>
    </dgm:pt>
    <dgm:pt modelId="{1289024B-A80A-4251-8412-FD56CF56D326}" type="parTrans" cxnId="{7C4DE870-0DB0-4879-9A77-B098EE80E1AF}">
      <dgm:prSet/>
      <dgm:spPr/>
      <dgm:t>
        <a:bodyPr/>
        <a:lstStyle/>
        <a:p>
          <a:endParaRPr lang="en-US"/>
        </a:p>
      </dgm:t>
    </dgm:pt>
    <dgm:pt modelId="{348F6160-A862-417B-87C0-686FA0751BBF}" type="sibTrans" cxnId="{7C4DE870-0DB0-4879-9A77-B098EE80E1AF}">
      <dgm:prSet/>
      <dgm:spPr/>
      <dgm:t>
        <a:bodyPr/>
        <a:lstStyle/>
        <a:p>
          <a:endParaRPr lang="en-US"/>
        </a:p>
      </dgm:t>
    </dgm:pt>
    <dgm:pt modelId="{4B77696B-57A7-4768-885F-6E4D18975DEC}">
      <dgm:prSet custT="1"/>
      <dgm:spPr/>
      <dgm:t>
        <a:bodyPr/>
        <a:lstStyle/>
        <a:p>
          <a:r>
            <a:rPr lang="en-US" sz="900" dirty="0"/>
            <a:t>Integration with OMS -</a:t>
          </a:r>
        </a:p>
      </dgm:t>
    </dgm:pt>
    <dgm:pt modelId="{2CCB9D52-B92D-4982-98A3-DEEA770DEFD9}" type="parTrans" cxnId="{2F2867AC-69F3-4829-9762-FBFA7D571837}">
      <dgm:prSet/>
      <dgm:spPr/>
      <dgm:t>
        <a:bodyPr/>
        <a:lstStyle/>
        <a:p>
          <a:endParaRPr lang="en-US"/>
        </a:p>
      </dgm:t>
    </dgm:pt>
    <dgm:pt modelId="{418EAD4D-5F14-4213-9806-F25E423FD6E1}" type="sibTrans" cxnId="{2F2867AC-69F3-4829-9762-FBFA7D571837}">
      <dgm:prSet/>
      <dgm:spPr/>
      <dgm:t>
        <a:bodyPr/>
        <a:lstStyle/>
        <a:p>
          <a:endParaRPr lang="en-US"/>
        </a:p>
      </dgm:t>
    </dgm:pt>
    <dgm:pt modelId="{3DA27106-AC85-423F-AD1E-F128A6DA1687}">
      <dgm:prSet custT="1"/>
      <dgm:spPr/>
      <dgm:t>
        <a:bodyPr/>
        <a:lstStyle/>
        <a:p>
          <a:pPr>
            <a:buFont typeface="Wingdings" panose="05000000000000000000" pitchFamily="2" charset="2"/>
            <a:buChar char="ü"/>
          </a:pPr>
          <a:r>
            <a:rPr lang="en-US" sz="900" dirty="0"/>
            <a:t>List of affected consumers</a:t>
          </a:r>
        </a:p>
      </dgm:t>
    </dgm:pt>
    <dgm:pt modelId="{9D316CBE-396A-498D-BEBD-F41B3BB7686A}" type="parTrans" cxnId="{A617AC74-17AB-4FDC-AD38-DDDD2224B11F}">
      <dgm:prSet/>
      <dgm:spPr/>
      <dgm:t>
        <a:bodyPr/>
        <a:lstStyle/>
        <a:p>
          <a:endParaRPr lang="en-US"/>
        </a:p>
      </dgm:t>
    </dgm:pt>
    <dgm:pt modelId="{8B688139-D771-4434-8852-F636530D5691}" type="sibTrans" cxnId="{A617AC74-17AB-4FDC-AD38-DDDD2224B11F}">
      <dgm:prSet/>
      <dgm:spPr/>
      <dgm:t>
        <a:bodyPr/>
        <a:lstStyle/>
        <a:p>
          <a:endParaRPr lang="en-US"/>
        </a:p>
      </dgm:t>
    </dgm:pt>
    <dgm:pt modelId="{EFFE0891-75D8-4A23-9EBD-918CD7E99501}">
      <dgm:prSet custT="1"/>
      <dgm:spPr/>
      <dgm:t>
        <a:bodyPr/>
        <a:lstStyle/>
        <a:p>
          <a:pPr>
            <a:buFont typeface="Wingdings" panose="05000000000000000000" pitchFamily="2" charset="2"/>
            <a:buChar char="ü"/>
          </a:pPr>
          <a:r>
            <a:rPr lang="en-US" sz="900" dirty="0"/>
            <a:t>Location of affected consumers</a:t>
          </a:r>
        </a:p>
      </dgm:t>
    </dgm:pt>
    <dgm:pt modelId="{27BA9ECB-C0EA-4EF5-82B3-6059E47C8775}" type="parTrans" cxnId="{CCE6E1DF-9D86-40AF-B111-2559595C4328}">
      <dgm:prSet/>
      <dgm:spPr/>
      <dgm:t>
        <a:bodyPr/>
        <a:lstStyle/>
        <a:p>
          <a:endParaRPr lang="en-US"/>
        </a:p>
      </dgm:t>
    </dgm:pt>
    <dgm:pt modelId="{713851A8-3FF3-45D1-B575-15733807BA51}" type="sibTrans" cxnId="{CCE6E1DF-9D86-40AF-B111-2559595C4328}">
      <dgm:prSet/>
      <dgm:spPr/>
      <dgm:t>
        <a:bodyPr/>
        <a:lstStyle/>
        <a:p>
          <a:endParaRPr lang="en-US"/>
        </a:p>
      </dgm:t>
    </dgm:pt>
    <dgm:pt modelId="{3C58912B-7FF6-4A91-B7CF-8830ECA1E6F7}">
      <dgm:prSet custT="1"/>
      <dgm:spPr/>
      <dgm:t>
        <a:bodyPr/>
        <a:lstStyle/>
        <a:p>
          <a:pPr>
            <a:buFont typeface="Wingdings" panose="05000000000000000000" pitchFamily="2" charset="2"/>
            <a:buChar char="ü"/>
          </a:pPr>
          <a:r>
            <a:rPr lang="en-US" sz="900" dirty="0"/>
            <a:t>Crew management</a:t>
          </a:r>
        </a:p>
      </dgm:t>
    </dgm:pt>
    <dgm:pt modelId="{9D6AA469-DC1D-4019-B596-24658C6C8894}" type="parTrans" cxnId="{A0D5EE24-2BA5-4E76-8DF0-C9B9A0D7D8AD}">
      <dgm:prSet/>
      <dgm:spPr/>
      <dgm:t>
        <a:bodyPr/>
        <a:lstStyle/>
        <a:p>
          <a:endParaRPr lang="en-US"/>
        </a:p>
      </dgm:t>
    </dgm:pt>
    <dgm:pt modelId="{6B8EA33B-4C37-4EB3-8E2E-327F2D00D7D1}" type="sibTrans" cxnId="{A0D5EE24-2BA5-4E76-8DF0-C9B9A0D7D8AD}">
      <dgm:prSet/>
      <dgm:spPr/>
      <dgm:t>
        <a:bodyPr/>
        <a:lstStyle/>
        <a:p>
          <a:endParaRPr lang="en-US"/>
        </a:p>
      </dgm:t>
    </dgm:pt>
    <dgm:pt modelId="{030F0B3A-9DFB-44D3-9AA0-CC2F49063205}" type="pres">
      <dgm:prSet presAssocID="{E4023183-0311-440A-8CFC-D427D7ECB99F}" presName="Name0" presStyleCnt="0">
        <dgm:presLayoutVars>
          <dgm:dir/>
          <dgm:resizeHandles val="exact"/>
        </dgm:presLayoutVars>
      </dgm:prSet>
      <dgm:spPr/>
    </dgm:pt>
    <dgm:pt modelId="{52649A96-1B0A-4101-9317-5C5095A8AFA6}" type="pres">
      <dgm:prSet presAssocID="{04179BF1-0E31-4E32-B0C9-1D19FF1CF8C4}" presName="node" presStyleLbl="node1" presStyleIdx="0" presStyleCnt="3">
        <dgm:presLayoutVars>
          <dgm:bulletEnabled val="1"/>
        </dgm:presLayoutVars>
      </dgm:prSet>
      <dgm:spPr/>
    </dgm:pt>
    <dgm:pt modelId="{42DB44FD-34C1-46B3-AE6D-B149727A9A27}" type="pres">
      <dgm:prSet presAssocID="{42A06B64-EF04-4E66-9441-46EE5A709F5A}" presName="sibTrans" presStyleCnt="0"/>
      <dgm:spPr/>
    </dgm:pt>
    <dgm:pt modelId="{60782ED9-A9F4-4FA9-A6DB-AB2B471C2B68}" type="pres">
      <dgm:prSet presAssocID="{D4F40B71-34FE-45A7-BB03-073ED073C110}" presName="node" presStyleLbl="node1" presStyleIdx="1" presStyleCnt="3">
        <dgm:presLayoutVars>
          <dgm:bulletEnabled val="1"/>
        </dgm:presLayoutVars>
      </dgm:prSet>
      <dgm:spPr/>
    </dgm:pt>
    <dgm:pt modelId="{222231D7-1F28-4C4D-8223-3DC96C9B23C5}" type="pres">
      <dgm:prSet presAssocID="{A46F3920-F871-4793-A0FD-2A5D4C117C43}" presName="sibTrans" presStyleCnt="0"/>
      <dgm:spPr/>
    </dgm:pt>
    <dgm:pt modelId="{C917D6C5-80FE-41BF-8FA5-EA3A9D1A86B0}" type="pres">
      <dgm:prSet presAssocID="{EE8952D5-482D-4152-937C-8F8F7DCD63BC}" presName="node" presStyleLbl="node1" presStyleIdx="2" presStyleCnt="3" custScaleX="119042">
        <dgm:presLayoutVars>
          <dgm:bulletEnabled val="1"/>
        </dgm:presLayoutVars>
      </dgm:prSet>
      <dgm:spPr/>
    </dgm:pt>
  </dgm:ptLst>
  <dgm:cxnLst>
    <dgm:cxn modelId="{C85EDE0F-1004-4161-932A-A1BF9AA19AEF}" srcId="{E4023183-0311-440A-8CFC-D427D7ECB99F}" destId="{D4F40B71-34FE-45A7-BB03-073ED073C110}" srcOrd="1" destOrd="0" parTransId="{1722E8EB-1DB3-46EA-A5FF-5351B4B688B3}" sibTransId="{A46F3920-F871-4793-A0FD-2A5D4C117C43}"/>
    <dgm:cxn modelId="{AD050316-565E-4F92-8E57-9741AA95B873}" type="presOf" srcId="{3DA27106-AC85-423F-AD1E-F128A6DA1687}" destId="{C917D6C5-80FE-41BF-8FA5-EA3A9D1A86B0}" srcOrd="0" destOrd="5" presId="urn:microsoft.com/office/officeart/2005/8/layout/hList6"/>
    <dgm:cxn modelId="{047ADD1F-C15E-4FF1-B9C7-DD4BF7B6C5FA}" type="presOf" srcId="{87E149D5-2A61-4711-ABCD-DCCF0A3016E8}" destId="{60782ED9-A9F4-4FA9-A6DB-AB2B471C2B68}" srcOrd="0" destOrd="2" presId="urn:microsoft.com/office/officeart/2005/8/layout/hList6"/>
    <dgm:cxn modelId="{A0D5EE24-2BA5-4E76-8DF0-C9B9A0D7D8AD}" srcId="{EE8952D5-482D-4152-937C-8F8F7DCD63BC}" destId="{3C58912B-7FF6-4A91-B7CF-8830ECA1E6F7}" srcOrd="6" destOrd="0" parTransId="{9D6AA469-DC1D-4019-B596-24658C6C8894}" sibTransId="{6B8EA33B-4C37-4EB3-8E2E-327F2D00D7D1}"/>
    <dgm:cxn modelId="{3D10AE2D-2D44-4DEA-BB50-617AC9525232}" type="presOf" srcId="{F0D93472-4988-4DA7-B238-706199B3BA17}" destId="{60782ED9-A9F4-4FA9-A6DB-AB2B471C2B68}" srcOrd="0" destOrd="5" presId="urn:microsoft.com/office/officeart/2005/8/layout/hList6"/>
    <dgm:cxn modelId="{A9B22A69-A07E-4EFD-9797-EC92C9FF4F4B}" type="presOf" srcId="{1BE3A2BD-550F-4FA3-B95C-EA3E45F3CF00}" destId="{C917D6C5-80FE-41BF-8FA5-EA3A9D1A86B0}" srcOrd="0" destOrd="1" presId="urn:microsoft.com/office/officeart/2005/8/layout/hList6"/>
    <dgm:cxn modelId="{4912064D-6BF6-45C2-9CA3-919AA3A9CC98}" type="presOf" srcId="{E4023183-0311-440A-8CFC-D427D7ECB99F}" destId="{030F0B3A-9DFB-44D3-9AA0-CC2F49063205}" srcOrd="0" destOrd="0" presId="urn:microsoft.com/office/officeart/2005/8/layout/hList6"/>
    <dgm:cxn modelId="{7C8E206D-FBE0-4A2F-A9B2-81460996E9CD}" srcId="{D4F40B71-34FE-45A7-BB03-073ED073C110}" destId="{F0D93472-4988-4DA7-B238-706199B3BA17}" srcOrd="4" destOrd="0" parTransId="{57E3DA08-9110-4DEA-884C-F3EB8A7CF50A}" sibTransId="{5E548B0D-B207-4578-8DDC-A874D3563BF1}"/>
    <dgm:cxn modelId="{EB9DA670-7728-4708-B3B3-561AE299AAD6}" type="presOf" srcId="{3C58912B-7FF6-4A91-B7CF-8830ECA1E6F7}" destId="{C917D6C5-80FE-41BF-8FA5-EA3A9D1A86B0}" srcOrd="0" destOrd="7" presId="urn:microsoft.com/office/officeart/2005/8/layout/hList6"/>
    <dgm:cxn modelId="{7C4DE870-0DB0-4879-9A77-B098EE80E1AF}" srcId="{EE8952D5-482D-4152-937C-8F8F7DCD63BC}" destId="{E9311996-329D-43CD-99EA-D3C1B2AC4DFD}" srcOrd="2" destOrd="0" parTransId="{1289024B-A80A-4251-8412-FD56CF56D326}" sibTransId="{348F6160-A862-417B-87C0-686FA0751BBF}"/>
    <dgm:cxn modelId="{A617AC74-17AB-4FDC-AD38-DDDD2224B11F}" srcId="{EE8952D5-482D-4152-937C-8F8F7DCD63BC}" destId="{3DA27106-AC85-423F-AD1E-F128A6DA1687}" srcOrd="4" destOrd="0" parTransId="{9D316CBE-396A-498D-BEBD-F41B3BB7686A}" sibTransId="{8B688139-D771-4434-8852-F636530D5691}"/>
    <dgm:cxn modelId="{62C91576-4A5F-4F7B-9C5D-ED41FCC51816}" srcId="{D4F40B71-34FE-45A7-BB03-073ED073C110}" destId="{261990DE-53CA-48FF-B98D-60C703A0A1C7}" srcOrd="5" destOrd="0" parTransId="{5927E3D7-89ED-4CD8-AE40-81FCB93CF601}" sibTransId="{151ACE9D-A848-4953-AECF-D5AE3FB07D49}"/>
    <dgm:cxn modelId="{46000484-0F53-4611-BD5A-627276BA2B08}" type="presOf" srcId="{EE8952D5-482D-4152-937C-8F8F7DCD63BC}" destId="{C917D6C5-80FE-41BF-8FA5-EA3A9D1A86B0}" srcOrd="0" destOrd="0" presId="urn:microsoft.com/office/officeart/2005/8/layout/hList6"/>
    <dgm:cxn modelId="{7B1EFA88-F538-436E-8DA5-04A557885904}" type="presOf" srcId="{261990DE-53CA-48FF-B98D-60C703A0A1C7}" destId="{60782ED9-A9F4-4FA9-A6DB-AB2B471C2B68}" srcOrd="0" destOrd="6" presId="urn:microsoft.com/office/officeart/2005/8/layout/hList6"/>
    <dgm:cxn modelId="{8708648F-CECB-4239-A3BC-B2D9993F3B76}" type="presOf" srcId="{5561A663-EC79-4719-8F85-9C7B03E8A53C}" destId="{52649A96-1B0A-4101-9317-5C5095A8AFA6}" srcOrd="0" destOrd="2" presId="urn:microsoft.com/office/officeart/2005/8/layout/hList6"/>
    <dgm:cxn modelId="{739F5A8F-D5E4-4102-9F0C-98FB90014348}" type="presOf" srcId="{E9311996-329D-43CD-99EA-D3C1B2AC4DFD}" destId="{C917D6C5-80FE-41BF-8FA5-EA3A9D1A86B0}" srcOrd="0" destOrd="3" presId="urn:microsoft.com/office/officeart/2005/8/layout/hList6"/>
    <dgm:cxn modelId="{70E14598-69DE-4358-94B4-0A1DEF7CCBE8}" srcId="{D4F40B71-34FE-45A7-BB03-073ED073C110}" destId="{F1242B8C-5073-4A90-A07B-F6943B6B3786}" srcOrd="0" destOrd="0" parTransId="{2443101C-B599-4245-9489-6CF13CD7D4BC}" sibTransId="{9FC28103-227A-407F-B90C-C71BEC61F6DD}"/>
    <dgm:cxn modelId="{97DC519E-2874-44F8-BDB5-556EAC8DAB02}" type="presOf" srcId="{F1242B8C-5073-4A90-A07B-F6943B6B3786}" destId="{60782ED9-A9F4-4FA9-A6DB-AB2B471C2B68}" srcOrd="0" destOrd="1" presId="urn:microsoft.com/office/officeart/2005/8/layout/hList6"/>
    <dgm:cxn modelId="{654FEA9E-1847-4623-ACF7-3E9C586F32F3}" type="presOf" srcId="{04179BF1-0E31-4E32-B0C9-1D19FF1CF8C4}" destId="{52649A96-1B0A-4101-9317-5C5095A8AFA6}" srcOrd="0" destOrd="0" presId="urn:microsoft.com/office/officeart/2005/8/layout/hList6"/>
    <dgm:cxn modelId="{1BDF54A0-9DAD-46BA-BC41-6546ED675DFB}" type="presOf" srcId="{D4F40B71-34FE-45A7-BB03-073ED073C110}" destId="{60782ED9-A9F4-4FA9-A6DB-AB2B471C2B68}" srcOrd="0" destOrd="0" presId="urn:microsoft.com/office/officeart/2005/8/layout/hList6"/>
    <dgm:cxn modelId="{5ECC80A7-582E-4F11-9F96-3F81A60DF46C}" type="presOf" srcId="{4B77696B-57A7-4768-885F-6E4D18975DEC}" destId="{C917D6C5-80FE-41BF-8FA5-EA3A9D1A86B0}" srcOrd="0" destOrd="4" presId="urn:microsoft.com/office/officeart/2005/8/layout/hList6"/>
    <dgm:cxn modelId="{561FCBA9-076E-46C5-8493-FBCAD43E11D4}" type="presOf" srcId="{791AA381-3A9C-45E9-9139-DBA4EB4C7E82}" destId="{60782ED9-A9F4-4FA9-A6DB-AB2B471C2B68}" srcOrd="0" destOrd="3" presId="urn:microsoft.com/office/officeart/2005/8/layout/hList6"/>
    <dgm:cxn modelId="{F4D6E9A9-6AA9-4195-9ED4-D6D64404266C}" srcId="{04179BF1-0E31-4E32-B0C9-1D19FF1CF8C4}" destId="{5561A663-EC79-4719-8F85-9C7B03E8A53C}" srcOrd="1" destOrd="0" parTransId="{60AD9E84-3864-4BB9-A70E-C266321A4EE8}" sibTransId="{54E50A9C-3A3A-4D8A-AD9A-8CA939B3DCC0}"/>
    <dgm:cxn modelId="{5A1D71AA-573D-4042-8BFD-23FF12EDEE38}" srcId="{D4F40B71-34FE-45A7-BB03-073ED073C110}" destId="{87E149D5-2A61-4711-ABCD-DCCF0A3016E8}" srcOrd="1" destOrd="0" parTransId="{44A44386-C3D2-4553-95EB-3DEE464159EC}" sibTransId="{B01AB773-DA79-48E4-A1DF-742620AB4D5D}"/>
    <dgm:cxn modelId="{2F2867AC-69F3-4829-9762-FBFA7D571837}" srcId="{EE8952D5-482D-4152-937C-8F8F7DCD63BC}" destId="{4B77696B-57A7-4768-885F-6E4D18975DEC}" srcOrd="3" destOrd="0" parTransId="{2CCB9D52-B92D-4982-98A3-DEEA770DEFD9}" sibTransId="{418EAD4D-5F14-4213-9806-F25E423FD6E1}"/>
    <dgm:cxn modelId="{99D0ACBB-8060-42CE-A72F-4EC5DEF5641F}" type="presOf" srcId="{893E821D-51FE-496C-94A3-A4E2175DC0F9}" destId="{52649A96-1B0A-4101-9317-5C5095A8AFA6}" srcOrd="0" destOrd="1" presId="urn:microsoft.com/office/officeart/2005/8/layout/hList6"/>
    <dgm:cxn modelId="{8E76DAC0-DC19-400C-9CB4-F999200AB255}" type="presOf" srcId="{57650B99-190D-4BEF-A89D-704A7F30BDC2}" destId="{C917D6C5-80FE-41BF-8FA5-EA3A9D1A86B0}" srcOrd="0" destOrd="2" presId="urn:microsoft.com/office/officeart/2005/8/layout/hList6"/>
    <dgm:cxn modelId="{CB1507CD-72E5-492F-8DE9-AD35AA31854F}" srcId="{E4023183-0311-440A-8CFC-D427D7ECB99F}" destId="{04179BF1-0E31-4E32-B0C9-1D19FF1CF8C4}" srcOrd="0" destOrd="0" parTransId="{A9E1BA1A-2858-4423-A358-43E84774BE7E}" sibTransId="{42A06B64-EF04-4E66-9441-46EE5A709F5A}"/>
    <dgm:cxn modelId="{082317D6-8C82-488D-AFAA-0FD03B9D0278}" srcId="{EE8952D5-482D-4152-937C-8F8F7DCD63BC}" destId="{1BE3A2BD-550F-4FA3-B95C-EA3E45F3CF00}" srcOrd="0" destOrd="0" parTransId="{0EEA2F91-2634-499B-8601-2219A999BC26}" sibTransId="{A0FA79E9-479E-4DE0-AB4F-EC078670D99F}"/>
    <dgm:cxn modelId="{43A0F9DA-A382-42EF-80B9-370D19E7B04D}" srcId="{D4F40B71-34FE-45A7-BB03-073ED073C110}" destId="{7DFABDCA-CEFE-4ABC-92F6-2219F0251CBB}" srcOrd="3" destOrd="0" parTransId="{5CA87D9F-DCB6-4BA8-9853-B112C274B272}" sibTransId="{ADC4CE09-5034-4FFD-819D-C238768936F5}"/>
    <dgm:cxn modelId="{CCE6E1DF-9D86-40AF-B111-2559595C4328}" srcId="{EE8952D5-482D-4152-937C-8F8F7DCD63BC}" destId="{EFFE0891-75D8-4A23-9EBD-918CD7E99501}" srcOrd="5" destOrd="0" parTransId="{27BA9ECB-C0EA-4EF5-82B3-6059E47C8775}" sibTransId="{713851A8-3FF3-45D1-B575-15733807BA51}"/>
    <dgm:cxn modelId="{582B7BE3-DF33-46D0-9CC8-33B00E81097E}" srcId="{EE8952D5-482D-4152-937C-8F8F7DCD63BC}" destId="{57650B99-190D-4BEF-A89D-704A7F30BDC2}" srcOrd="1" destOrd="0" parTransId="{DBFCDBD5-D4EC-4885-94A7-1A304F720EDC}" sibTransId="{F28FC740-EBFF-45C4-9E3B-56972187C72F}"/>
    <dgm:cxn modelId="{4AE69BE9-3752-45D9-8CFE-B5CB328A7C93}" srcId="{04179BF1-0E31-4E32-B0C9-1D19FF1CF8C4}" destId="{893E821D-51FE-496C-94A3-A4E2175DC0F9}" srcOrd="0" destOrd="0" parTransId="{5D05FAF5-6683-485E-9ABA-DBC64D1C1AD4}" sibTransId="{46A4766B-8DA3-4544-8EF4-1248039788E6}"/>
    <dgm:cxn modelId="{8AB717ED-ADEB-4A7A-972F-B0ECADC877DC}" srcId="{E4023183-0311-440A-8CFC-D427D7ECB99F}" destId="{EE8952D5-482D-4152-937C-8F8F7DCD63BC}" srcOrd="2" destOrd="0" parTransId="{AC4D946A-139D-4DFA-8F54-58365C47B282}" sibTransId="{90C3A1EE-EEA6-4DC9-B2C0-C06618A82230}"/>
    <dgm:cxn modelId="{AB6295ED-9FAC-46CB-86E1-768262CBF220}" srcId="{D4F40B71-34FE-45A7-BB03-073ED073C110}" destId="{791AA381-3A9C-45E9-9139-DBA4EB4C7E82}" srcOrd="2" destOrd="0" parTransId="{18B46997-E309-4968-ACD1-D6D9D5C93995}" sibTransId="{5CA28B5D-83D6-4CEA-946F-5D5E38618A3F}"/>
    <dgm:cxn modelId="{63F1AFED-7C12-43B0-9CC9-F48480E16446}" type="presOf" srcId="{EFFE0891-75D8-4A23-9EBD-918CD7E99501}" destId="{C917D6C5-80FE-41BF-8FA5-EA3A9D1A86B0}" srcOrd="0" destOrd="6" presId="urn:microsoft.com/office/officeart/2005/8/layout/hList6"/>
    <dgm:cxn modelId="{2A7BF5F6-82D5-4B4A-B266-7B348248AB17}" type="presOf" srcId="{7DFABDCA-CEFE-4ABC-92F6-2219F0251CBB}" destId="{60782ED9-A9F4-4FA9-A6DB-AB2B471C2B68}" srcOrd="0" destOrd="4" presId="urn:microsoft.com/office/officeart/2005/8/layout/hList6"/>
    <dgm:cxn modelId="{3E6F4288-9174-4232-B648-DA0FA0BE3CED}" type="presParOf" srcId="{030F0B3A-9DFB-44D3-9AA0-CC2F49063205}" destId="{52649A96-1B0A-4101-9317-5C5095A8AFA6}" srcOrd="0" destOrd="0" presId="urn:microsoft.com/office/officeart/2005/8/layout/hList6"/>
    <dgm:cxn modelId="{7DAF385F-C602-44AD-9C7D-3CCFDA4E9ADC}" type="presParOf" srcId="{030F0B3A-9DFB-44D3-9AA0-CC2F49063205}" destId="{42DB44FD-34C1-46B3-AE6D-B149727A9A27}" srcOrd="1" destOrd="0" presId="urn:microsoft.com/office/officeart/2005/8/layout/hList6"/>
    <dgm:cxn modelId="{BD08E460-2832-4DF3-963D-7EBB76D88D39}" type="presParOf" srcId="{030F0B3A-9DFB-44D3-9AA0-CC2F49063205}" destId="{60782ED9-A9F4-4FA9-A6DB-AB2B471C2B68}" srcOrd="2" destOrd="0" presId="urn:microsoft.com/office/officeart/2005/8/layout/hList6"/>
    <dgm:cxn modelId="{87BA2AA3-924C-484C-906D-B195114C6DCE}" type="presParOf" srcId="{030F0B3A-9DFB-44D3-9AA0-CC2F49063205}" destId="{222231D7-1F28-4C4D-8223-3DC96C9B23C5}" srcOrd="3" destOrd="0" presId="urn:microsoft.com/office/officeart/2005/8/layout/hList6"/>
    <dgm:cxn modelId="{1C8D3C17-8797-4CDC-80CA-32C660ABF6C8}" type="presParOf" srcId="{030F0B3A-9DFB-44D3-9AA0-CC2F49063205}" destId="{C917D6C5-80FE-41BF-8FA5-EA3A9D1A86B0}" srcOrd="4" destOrd="0" presId="urn:microsoft.com/office/officeart/2005/8/layout/hList6"/>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023183-0311-440A-8CFC-D427D7ECB99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4179BF1-0E31-4E32-B0C9-1D19FF1CF8C4}">
      <dgm:prSet phldrT="[Text]" custT="1"/>
      <dgm:spPr>
        <a:solidFill>
          <a:srgbClr val="86BC25"/>
        </a:solidFill>
      </dgm:spPr>
      <dgm:t>
        <a:bodyPr/>
        <a:lstStyle/>
        <a:p>
          <a:r>
            <a:rPr lang="en-US" sz="1200" b="1" dirty="0"/>
            <a:t>Input</a:t>
          </a:r>
        </a:p>
        <a:p>
          <a:endParaRPr lang="en-US" sz="900" b="1" dirty="0"/>
        </a:p>
      </dgm:t>
    </dgm:pt>
    <dgm:pt modelId="{A9E1BA1A-2858-4423-A358-43E84774BE7E}" type="parTrans" cxnId="{CB1507CD-72E5-492F-8DE9-AD35AA31854F}">
      <dgm:prSet/>
      <dgm:spPr/>
      <dgm:t>
        <a:bodyPr/>
        <a:lstStyle/>
        <a:p>
          <a:endParaRPr lang="en-US" sz="2000"/>
        </a:p>
      </dgm:t>
    </dgm:pt>
    <dgm:pt modelId="{42A06B64-EF04-4E66-9441-46EE5A709F5A}" type="sibTrans" cxnId="{CB1507CD-72E5-492F-8DE9-AD35AA31854F}">
      <dgm:prSet/>
      <dgm:spPr/>
      <dgm:t>
        <a:bodyPr/>
        <a:lstStyle/>
        <a:p>
          <a:endParaRPr lang="en-US" sz="2000"/>
        </a:p>
      </dgm:t>
    </dgm:pt>
    <dgm:pt modelId="{D4F40B71-34FE-45A7-BB03-073ED073C110}">
      <dgm:prSet phldrT="[Text]" custT="1"/>
      <dgm:spPr>
        <a:solidFill>
          <a:schemeClr val="tx1">
            <a:lumMod val="75000"/>
            <a:lumOff val="25000"/>
          </a:schemeClr>
        </a:solidFill>
      </dgm:spPr>
      <dgm:t>
        <a:bodyPr/>
        <a:lstStyle/>
        <a:p>
          <a:r>
            <a:rPr lang="en-US" sz="1200" b="1" dirty="0"/>
            <a:t>Processing in GIS</a:t>
          </a:r>
        </a:p>
      </dgm:t>
    </dgm:pt>
    <dgm:pt modelId="{1722E8EB-1DB3-46EA-A5FF-5351B4B688B3}" type="parTrans" cxnId="{C85EDE0F-1004-4161-932A-A1BF9AA19AEF}">
      <dgm:prSet/>
      <dgm:spPr/>
      <dgm:t>
        <a:bodyPr/>
        <a:lstStyle/>
        <a:p>
          <a:endParaRPr lang="en-US" sz="2000"/>
        </a:p>
      </dgm:t>
    </dgm:pt>
    <dgm:pt modelId="{A46F3920-F871-4793-A0FD-2A5D4C117C43}" type="sibTrans" cxnId="{C85EDE0F-1004-4161-932A-A1BF9AA19AEF}">
      <dgm:prSet/>
      <dgm:spPr/>
      <dgm:t>
        <a:bodyPr/>
        <a:lstStyle/>
        <a:p>
          <a:endParaRPr lang="en-US" sz="2000"/>
        </a:p>
      </dgm:t>
    </dgm:pt>
    <dgm:pt modelId="{EE8952D5-482D-4152-937C-8F8F7DCD63BC}">
      <dgm:prSet phldrT="[Text]" custT="1"/>
      <dgm:spPr>
        <a:solidFill>
          <a:srgbClr val="86BC25"/>
        </a:solidFill>
      </dgm:spPr>
      <dgm:t>
        <a:bodyPr/>
        <a:lstStyle/>
        <a:p>
          <a:r>
            <a:rPr lang="en-US" sz="1200" b="1" dirty="0"/>
            <a:t>Output</a:t>
          </a:r>
        </a:p>
        <a:p>
          <a:endParaRPr lang="en-US" sz="1100" b="1" dirty="0"/>
        </a:p>
      </dgm:t>
    </dgm:pt>
    <dgm:pt modelId="{AC4D946A-139D-4DFA-8F54-58365C47B282}" type="parTrans" cxnId="{8AB717ED-ADEB-4A7A-972F-B0ECADC877DC}">
      <dgm:prSet/>
      <dgm:spPr/>
      <dgm:t>
        <a:bodyPr/>
        <a:lstStyle/>
        <a:p>
          <a:endParaRPr lang="en-US" sz="2000"/>
        </a:p>
      </dgm:t>
    </dgm:pt>
    <dgm:pt modelId="{90C3A1EE-EEA6-4DC9-B2C0-C06618A82230}" type="sibTrans" cxnId="{8AB717ED-ADEB-4A7A-972F-B0ECADC877DC}">
      <dgm:prSet/>
      <dgm:spPr/>
      <dgm:t>
        <a:bodyPr/>
        <a:lstStyle/>
        <a:p>
          <a:endParaRPr lang="en-US" sz="2000"/>
        </a:p>
      </dgm:t>
    </dgm:pt>
    <dgm:pt modelId="{F1242B8C-5073-4A90-A07B-F6943B6B3786}">
      <dgm:prSet phldrT="[Text]" custT="1"/>
      <dgm:spPr>
        <a:solidFill>
          <a:schemeClr val="tx1">
            <a:lumMod val="75000"/>
            <a:lumOff val="25000"/>
          </a:schemeClr>
        </a:solidFill>
      </dgm:spPr>
      <dgm:t>
        <a:bodyPr/>
        <a:lstStyle/>
        <a:p>
          <a:r>
            <a:rPr lang="en-US" sz="900" dirty="0"/>
            <a:t>Geo-referenced mapping of Assets and network</a:t>
          </a:r>
        </a:p>
      </dgm:t>
    </dgm:pt>
    <dgm:pt modelId="{9FC28103-227A-407F-B90C-C71BEC61F6DD}" type="sibTrans" cxnId="{70E14598-69DE-4358-94B4-0A1DEF7CCBE8}">
      <dgm:prSet/>
      <dgm:spPr/>
      <dgm:t>
        <a:bodyPr/>
        <a:lstStyle/>
        <a:p>
          <a:endParaRPr lang="en-US" sz="2000"/>
        </a:p>
      </dgm:t>
    </dgm:pt>
    <dgm:pt modelId="{2443101C-B599-4245-9489-6CF13CD7D4BC}" type="parTrans" cxnId="{70E14598-69DE-4358-94B4-0A1DEF7CCBE8}">
      <dgm:prSet/>
      <dgm:spPr/>
      <dgm:t>
        <a:bodyPr/>
        <a:lstStyle/>
        <a:p>
          <a:endParaRPr lang="en-US" sz="2000"/>
        </a:p>
      </dgm:t>
    </dgm:pt>
    <dgm:pt modelId="{8014F810-662B-406E-A8A6-9876FFEF35CB}">
      <dgm:prSet custT="1"/>
      <dgm:spPr>
        <a:solidFill>
          <a:srgbClr val="86BC25"/>
        </a:solidFill>
      </dgm:spPr>
      <dgm:t>
        <a:bodyPr/>
        <a:lstStyle/>
        <a:p>
          <a:r>
            <a:rPr lang="en-US" sz="900" dirty="0"/>
            <a:t>Delivery of updated GIS for operation.</a:t>
          </a:r>
        </a:p>
      </dgm:t>
    </dgm:pt>
    <dgm:pt modelId="{EBED5D57-19E9-48E9-AB21-00895564F14C}" type="parTrans" cxnId="{FA71C127-F1F8-40B9-9682-07BF71E0FB9D}">
      <dgm:prSet/>
      <dgm:spPr/>
      <dgm:t>
        <a:bodyPr/>
        <a:lstStyle/>
        <a:p>
          <a:endParaRPr lang="en-US"/>
        </a:p>
      </dgm:t>
    </dgm:pt>
    <dgm:pt modelId="{5C90E023-8D71-4BAA-A4B5-EADA483F7661}" type="sibTrans" cxnId="{FA71C127-F1F8-40B9-9682-07BF71E0FB9D}">
      <dgm:prSet/>
      <dgm:spPr/>
      <dgm:t>
        <a:bodyPr/>
        <a:lstStyle/>
        <a:p>
          <a:endParaRPr lang="en-US"/>
        </a:p>
      </dgm:t>
    </dgm:pt>
    <dgm:pt modelId="{2F8755BE-B5E3-4CCC-ACAD-3F44731AD3B1}">
      <dgm:prSet custT="1"/>
      <dgm:spPr/>
      <dgm:t>
        <a:bodyPr/>
        <a:lstStyle/>
        <a:p>
          <a:r>
            <a:rPr lang="en-US" sz="900" dirty="0"/>
            <a:t>Consumer linkage with Pole No.</a:t>
          </a:r>
        </a:p>
      </dgm:t>
    </dgm:pt>
    <dgm:pt modelId="{25D8FA4C-F347-420F-9E1D-83F87B7145C1}" type="parTrans" cxnId="{7A520A62-FE2A-4C1C-9E86-DCED909FD110}">
      <dgm:prSet/>
      <dgm:spPr/>
      <dgm:t>
        <a:bodyPr/>
        <a:lstStyle/>
        <a:p>
          <a:endParaRPr lang="en-US"/>
        </a:p>
      </dgm:t>
    </dgm:pt>
    <dgm:pt modelId="{6EC4F369-28FE-4A35-8453-E947450CDEAC}" type="sibTrans" cxnId="{7A520A62-FE2A-4C1C-9E86-DCED909FD110}">
      <dgm:prSet/>
      <dgm:spPr/>
      <dgm:t>
        <a:bodyPr/>
        <a:lstStyle/>
        <a:p>
          <a:endParaRPr lang="en-US"/>
        </a:p>
      </dgm:t>
    </dgm:pt>
    <dgm:pt modelId="{6E435CA7-5D64-42A4-93ED-A03C2027736F}">
      <dgm:prSet custT="1"/>
      <dgm:spPr/>
      <dgm:t>
        <a:bodyPr/>
        <a:lstStyle/>
        <a:p>
          <a:r>
            <a:rPr lang="en-US" sz="900" dirty="0"/>
            <a:t>LT network intimation</a:t>
          </a:r>
        </a:p>
      </dgm:t>
    </dgm:pt>
    <dgm:pt modelId="{4153BD87-01EF-4140-8F9C-482EE6AE656A}" type="parTrans" cxnId="{A49A99E9-6B14-4CD2-B664-22893031AC0A}">
      <dgm:prSet/>
      <dgm:spPr/>
      <dgm:t>
        <a:bodyPr/>
        <a:lstStyle/>
        <a:p>
          <a:endParaRPr lang="en-US"/>
        </a:p>
      </dgm:t>
    </dgm:pt>
    <dgm:pt modelId="{B02B3259-EB8E-4B40-95F0-18EC7B9F2127}" type="sibTrans" cxnId="{A49A99E9-6B14-4CD2-B664-22893031AC0A}">
      <dgm:prSet/>
      <dgm:spPr/>
      <dgm:t>
        <a:bodyPr/>
        <a:lstStyle/>
        <a:p>
          <a:endParaRPr lang="en-US"/>
        </a:p>
      </dgm:t>
    </dgm:pt>
    <dgm:pt modelId="{C18FAD2E-15AE-4154-B918-6CF11CE0F4E3}">
      <dgm:prSet custT="1"/>
      <dgm:spPr/>
      <dgm:t>
        <a:bodyPr/>
        <a:lstStyle/>
        <a:p>
          <a:r>
            <a:rPr lang="en-US" sz="900" dirty="0"/>
            <a:t>OMS notification</a:t>
          </a:r>
        </a:p>
      </dgm:t>
    </dgm:pt>
    <dgm:pt modelId="{C834E5D2-F81C-4A46-9B06-534E8F4AFEBC}" type="parTrans" cxnId="{0FE069E0-D491-4777-90D6-B9B3F1EE260F}">
      <dgm:prSet/>
      <dgm:spPr/>
      <dgm:t>
        <a:bodyPr/>
        <a:lstStyle/>
        <a:p>
          <a:endParaRPr lang="en-US"/>
        </a:p>
      </dgm:t>
    </dgm:pt>
    <dgm:pt modelId="{066D3097-1799-4916-8673-6E4F4ABB3B1C}" type="sibTrans" cxnId="{0FE069E0-D491-4777-90D6-B9B3F1EE260F}">
      <dgm:prSet/>
      <dgm:spPr/>
      <dgm:t>
        <a:bodyPr/>
        <a:lstStyle/>
        <a:p>
          <a:endParaRPr lang="en-US"/>
        </a:p>
      </dgm:t>
    </dgm:pt>
    <dgm:pt modelId="{893E821D-51FE-496C-94A3-A4E2175DC0F9}">
      <dgm:prSet custT="1"/>
      <dgm:spPr>
        <a:solidFill>
          <a:srgbClr val="86BC25"/>
        </a:solidFill>
      </dgm:spPr>
      <dgm:t>
        <a:bodyPr/>
        <a:lstStyle/>
        <a:p>
          <a:r>
            <a:rPr lang="en-US" sz="900" dirty="0"/>
            <a:t>Network details through notification</a:t>
          </a:r>
        </a:p>
      </dgm:t>
    </dgm:pt>
    <dgm:pt modelId="{46A4766B-8DA3-4544-8EF4-1248039788E6}" type="sibTrans" cxnId="{4AE69BE9-3752-45D9-8CFE-B5CB328A7C93}">
      <dgm:prSet/>
      <dgm:spPr/>
      <dgm:t>
        <a:bodyPr/>
        <a:lstStyle/>
        <a:p>
          <a:endParaRPr lang="en-US" sz="2000"/>
        </a:p>
      </dgm:t>
    </dgm:pt>
    <dgm:pt modelId="{5D05FAF5-6683-485E-9ABA-DBC64D1C1AD4}" type="parTrans" cxnId="{4AE69BE9-3752-45D9-8CFE-B5CB328A7C93}">
      <dgm:prSet/>
      <dgm:spPr/>
      <dgm:t>
        <a:bodyPr/>
        <a:lstStyle/>
        <a:p>
          <a:endParaRPr lang="en-US" sz="2000"/>
        </a:p>
      </dgm:t>
    </dgm:pt>
    <dgm:pt modelId="{F7D33CEA-9304-44F2-B31B-D63E13D95200}">
      <dgm:prSet custT="1"/>
      <dgm:spPr/>
      <dgm:t>
        <a:bodyPr/>
        <a:lstStyle/>
        <a:p>
          <a:r>
            <a:rPr lang="en-US" sz="900" dirty="0"/>
            <a:t>Mapping of consumers.</a:t>
          </a:r>
        </a:p>
      </dgm:t>
    </dgm:pt>
    <dgm:pt modelId="{8B132FA5-CE5D-4D8C-8592-EC39B668AEE1}" type="parTrans" cxnId="{50BA8209-0AFE-4659-B7B1-116B965009EE}">
      <dgm:prSet/>
      <dgm:spPr/>
      <dgm:t>
        <a:bodyPr/>
        <a:lstStyle/>
        <a:p>
          <a:endParaRPr lang="en-US"/>
        </a:p>
      </dgm:t>
    </dgm:pt>
    <dgm:pt modelId="{5678D980-7D55-451F-8477-9BE47BB90A66}" type="sibTrans" cxnId="{50BA8209-0AFE-4659-B7B1-116B965009EE}">
      <dgm:prSet/>
      <dgm:spPr/>
      <dgm:t>
        <a:bodyPr/>
        <a:lstStyle/>
        <a:p>
          <a:endParaRPr lang="en-US"/>
        </a:p>
      </dgm:t>
    </dgm:pt>
    <dgm:pt modelId="{AFC0F1DA-01EF-4BF4-A846-9DCBB7296BA3}">
      <dgm:prSet custT="1"/>
      <dgm:spPr/>
      <dgm:t>
        <a:bodyPr/>
        <a:lstStyle/>
        <a:p>
          <a:r>
            <a:rPr lang="en-US" sz="900" dirty="0"/>
            <a:t>Data Merging and Creation of Circuit id</a:t>
          </a:r>
        </a:p>
      </dgm:t>
    </dgm:pt>
    <dgm:pt modelId="{25AB6952-AB89-49C9-9AF2-5C59053E09D0}" type="parTrans" cxnId="{1C273C80-620E-447F-ACBA-6D1F12937B4D}">
      <dgm:prSet/>
      <dgm:spPr/>
      <dgm:t>
        <a:bodyPr/>
        <a:lstStyle/>
        <a:p>
          <a:endParaRPr lang="en-US"/>
        </a:p>
      </dgm:t>
    </dgm:pt>
    <dgm:pt modelId="{E326B658-BB58-4AB0-9A0B-465653D5D6B9}" type="sibTrans" cxnId="{1C273C80-620E-447F-ACBA-6D1F12937B4D}">
      <dgm:prSet/>
      <dgm:spPr/>
      <dgm:t>
        <a:bodyPr/>
        <a:lstStyle/>
        <a:p>
          <a:endParaRPr lang="en-US"/>
        </a:p>
      </dgm:t>
    </dgm:pt>
    <dgm:pt modelId="{030F0B3A-9DFB-44D3-9AA0-CC2F49063205}" type="pres">
      <dgm:prSet presAssocID="{E4023183-0311-440A-8CFC-D427D7ECB99F}" presName="Name0" presStyleCnt="0">
        <dgm:presLayoutVars>
          <dgm:dir/>
          <dgm:resizeHandles val="exact"/>
        </dgm:presLayoutVars>
      </dgm:prSet>
      <dgm:spPr/>
    </dgm:pt>
    <dgm:pt modelId="{52649A96-1B0A-4101-9317-5C5095A8AFA6}" type="pres">
      <dgm:prSet presAssocID="{04179BF1-0E31-4E32-B0C9-1D19FF1CF8C4}" presName="node" presStyleLbl="node1" presStyleIdx="0" presStyleCnt="3">
        <dgm:presLayoutVars>
          <dgm:bulletEnabled val="1"/>
        </dgm:presLayoutVars>
      </dgm:prSet>
      <dgm:spPr/>
    </dgm:pt>
    <dgm:pt modelId="{42DB44FD-34C1-46B3-AE6D-B149727A9A27}" type="pres">
      <dgm:prSet presAssocID="{42A06B64-EF04-4E66-9441-46EE5A709F5A}" presName="sibTrans" presStyleCnt="0"/>
      <dgm:spPr/>
    </dgm:pt>
    <dgm:pt modelId="{60782ED9-A9F4-4FA9-A6DB-AB2B471C2B68}" type="pres">
      <dgm:prSet presAssocID="{D4F40B71-34FE-45A7-BB03-073ED073C110}" presName="node" presStyleLbl="node1" presStyleIdx="1" presStyleCnt="3">
        <dgm:presLayoutVars>
          <dgm:bulletEnabled val="1"/>
        </dgm:presLayoutVars>
      </dgm:prSet>
      <dgm:spPr/>
    </dgm:pt>
    <dgm:pt modelId="{222231D7-1F28-4C4D-8223-3DC96C9B23C5}" type="pres">
      <dgm:prSet presAssocID="{A46F3920-F871-4793-A0FD-2A5D4C117C43}" presName="sibTrans" presStyleCnt="0"/>
      <dgm:spPr/>
    </dgm:pt>
    <dgm:pt modelId="{C917D6C5-80FE-41BF-8FA5-EA3A9D1A86B0}" type="pres">
      <dgm:prSet presAssocID="{EE8952D5-482D-4152-937C-8F8F7DCD63BC}" presName="node" presStyleLbl="node1" presStyleIdx="2" presStyleCnt="3" custScaleX="119042">
        <dgm:presLayoutVars>
          <dgm:bulletEnabled val="1"/>
        </dgm:presLayoutVars>
      </dgm:prSet>
      <dgm:spPr/>
    </dgm:pt>
  </dgm:ptLst>
  <dgm:cxnLst>
    <dgm:cxn modelId="{50BA8209-0AFE-4659-B7B1-116B965009EE}" srcId="{D4F40B71-34FE-45A7-BB03-073ED073C110}" destId="{F7D33CEA-9304-44F2-B31B-D63E13D95200}" srcOrd="1" destOrd="0" parTransId="{8B132FA5-CE5D-4D8C-8592-EC39B668AEE1}" sibTransId="{5678D980-7D55-451F-8477-9BE47BB90A66}"/>
    <dgm:cxn modelId="{C85EDE0F-1004-4161-932A-A1BF9AA19AEF}" srcId="{E4023183-0311-440A-8CFC-D427D7ECB99F}" destId="{D4F40B71-34FE-45A7-BB03-073ED073C110}" srcOrd="1" destOrd="0" parTransId="{1722E8EB-1DB3-46EA-A5FF-5351B4B688B3}" sibTransId="{A46F3920-F871-4793-A0FD-2A5D4C117C43}"/>
    <dgm:cxn modelId="{F6921417-CA5F-4E3F-BC1C-C7928AAF8147}" type="presOf" srcId="{AFC0F1DA-01EF-4BF4-A846-9DCBB7296BA3}" destId="{60782ED9-A9F4-4FA9-A6DB-AB2B471C2B68}" srcOrd="0" destOrd="3" presId="urn:microsoft.com/office/officeart/2005/8/layout/hList6"/>
    <dgm:cxn modelId="{FA71C127-F1F8-40B9-9682-07BF71E0FB9D}" srcId="{EE8952D5-482D-4152-937C-8F8F7DCD63BC}" destId="{8014F810-662B-406E-A8A6-9876FFEF35CB}" srcOrd="0" destOrd="0" parTransId="{EBED5D57-19E9-48E9-AB21-00895564F14C}" sibTransId="{5C90E023-8D71-4BAA-A4B5-EADA483F7661}"/>
    <dgm:cxn modelId="{4B0EBC3A-B659-443E-B988-DEA088AFF2A9}" type="presOf" srcId="{F7D33CEA-9304-44F2-B31B-D63E13D95200}" destId="{60782ED9-A9F4-4FA9-A6DB-AB2B471C2B68}" srcOrd="0" destOrd="2" presId="urn:microsoft.com/office/officeart/2005/8/layout/hList6"/>
    <dgm:cxn modelId="{7A520A62-FE2A-4C1C-9E86-DCED909FD110}" srcId="{04179BF1-0E31-4E32-B0C9-1D19FF1CF8C4}" destId="{2F8755BE-B5E3-4CCC-ACAD-3F44731AD3B1}" srcOrd="1" destOrd="0" parTransId="{25D8FA4C-F347-420F-9E1D-83F87B7145C1}" sibTransId="{6EC4F369-28FE-4A35-8453-E947450CDEAC}"/>
    <dgm:cxn modelId="{4912064D-6BF6-45C2-9CA3-919AA3A9CC98}" type="presOf" srcId="{E4023183-0311-440A-8CFC-D427D7ECB99F}" destId="{030F0B3A-9DFB-44D3-9AA0-CC2F49063205}" srcOrd="0" destOrd="0" presId="urn:microsoft.com/office/officeart/2005/8/layout/hList6"/>
    <dgm:cxn modelId="{66B1336F-F61C-4480-9DC3-3B2D5E508F3E}" type="presOf" srcId="{6E435CA7-5D64-42A4-93ED-A03C2027736F}" destId="{52649A96-1B0A-4101-9317-5C5095A8AFA6}" srcOrd="0" destOrd="3" presId="urn:microsoft.com/office/officeart/2005/8/layout/hList6"/>
    <dgm:cxn modelId="{B6767976-915A-48A1-99F5-21F47FF7FE5A}" type="presOf" srcId="{2F8755BE-B5E3-4CCC-ACAD-3F44731AD3B1}" destId="{52649A96-1B0A-4101-9317-5C5095A8AFA6}" srcOrd="0" destOrd="2" presId="urn:microsoft.com/office/officeart/2005/8/layout/hList6"/>
    <dgm:cxn modelId="{1C273C80-620E-447F-ACBA-6D1F12937B4D}" srcId="{D4F40B71-34FE-45A7-BB03-073ED073C110}" destId="{AFC0F1DA-01EF-4BF4-A846-9DCBB7296BA3}" srcOrd="2" destOrd="0" parTransId="{25AB6952-AB89-49C9-9AF2-5C59053E09D0}" sibTransId="{E326B658-BB58-4AB0-9A0B-465653D5D6B9}"/>
    <dgm:cxn modelId="{BCE74880-E0F3-4295-94B8-371750D58A77}" type="presOf" srcId="{C18FAD2E-15AE-4154-B918-6CF11CE0F4E3}" destId="{52649A96-1B0A-4101-9317-5C5095A8AFA6}" srcOrd="0" destOrd="4" presId="urn:microsoft.com/office/officeart/2005/8/layout/hList6"/>
    <dgm:cxn modelId="{46000484-0F53-4611-BD5A-627276BA2B08}" type="presOf" srcId="{EE8952D5-482D-4152-937C-8F8F7DCD63BC}" destId="{C917D6C5-80FE-41BF-8FA5-EA3A9D1A86B0}" srcOrd="0" destOrd="0" presId="urn:microsoft.com/office/officeart/2005/8/layout/hList6"/>
    <dgm:cxn modelId="{70E14598-69DE-4358-94B4-0A1DEF7CCBE8}" srcId="{D4F40B71-34FE-45A7-BB03-073ED073C110}" destId="{F1242B8C-5073-4A90-A07B-F6943B6B3786}" srcOrd="0" destOrd="0" parTransId="{2443101C-B599-4245-9489-6CF13CD7D4BC}" sibTransId="{9FC28103-227A-407F-B90C-C71BEC61F6DD}"/>
    <dgm:cxn modelId="{97DC519E-2874-44F8-BDB5-556EAC8DAB02}" type="presOf" srcId="{F1242B8C-5073-4A90-A07B-F6943B6B3786}" destId="{60782ED9-A9F4-4FA9-A6DB-AB2B471C2B68}" srcOrd="0" destOrd="1" presId="urn:microsoft.com/office/officeart/2005/8/layout/hList6"/>
    <dgm:cxn modelId="{654FEA9E-1847-4623-ACF7-3E9C586F32F3}" type="presOf" srcId="{04179BF1-0E31-4E32-B0C9-1D19FF1CF8C4}" destId="{52649A96-1B0A-4101-9317-5C5095A8AFA6}" srcOrd="0" destOrd="0" presId="urn:microsoft.com/office/officeart/2005/8/layout/hList6"/>
    <dgm:cxn modelId="{1BDF54A0-9DAD-46BA-BC41-6546ED675DFB}" type="presOf" srcId="{D4F40B71-34FE-45A7-BB03-073ED073C110}" destId="{60782ED9-A9F4-4FA9-A6DB-AB2B471C2B68}" srcOrd="0" destOrd="0" presId="urn:microsoft.com/office/officeart/2005/8/layout/hList6"/>
    <dgm:cxn modelId="{99D0ACBB-8060-42CE-A72F-4EC5DEF5641F}" type="presOf" srcId="{893E821D-51FE-496C-94A3-A4E2175DC0F9}" destId="{52649A96-1B0A-4101-9317-5C5095A8AFA6}" srcOrd="0" destOrd="1" presId="urn:microsoft.com/office/officeart/2005/8/layout/hList6"/>
    <dgm:cxn modelId="{CB1507CD-72E5-492F-8DE9-AD35AA31854F}" srcId="{E4023183-0311-440A-8CFC-D427D7ECB99F}" destId="{04179BF1-0E31-4E32-B0C9-1D19FF1CF8C4}" srcOrd="0" destOrd="0" parTransId="{A9E1BA1A-2858-4423-A358-43E84774BE7E}" sibTransId="{42A06B64-EF04-4E66-9441-46EE5A709F5A}"/>
    <dgm:cxn modelId="{5442DCD1-97EB-4693-A1C8-B3C2FA47ECB0}" type="presOf" srcId="{8014F810-662B-406E-A8A6-9876FFEF35CB}" destId="{C917D6C5-80FE-41BF-8FA5-EA3A9D1A86B0}" srcOrd="0" destOrd="1" presId="urn:microsoft.com/office/officeart/2005/8/layout/hList6"/>
    <dgm:cxn modelId="{0FE069E0-D491-4777-90D6-B9B3F1EE260F}" srcId="{04179BF1-0E31-4E32-B0C9-1D19FF1CF8C4}" destId="{C18FAD2E-15AE-4154-B918-6CF11CE0F4E3}" srcOrd="3" destOrd="0" parTransId="{C834E5D2-F81C-4A46-9B06-534E8F4AFEBC}" sibTransId="{066D3097-1799-4916-8673-6E4F4ABB3B1C}"/>
    <dgm:cxn modelId="{A49A99E9-6B14-4CD2-B664-22893031AC0A}" srcId="{04179BF1-0E31-4E32-B0C9-1D19FF1CF8C4}" destId="{6E435CA7-5D64-42A4-93ED-A03C2027736F}" srcOrd="2" destOrd="0" parTransId="{4153BD87-01EF-4140-8F9C-482EE6AE656A}" sibTransId="{B02B3259-EB8E-4B40-95F0-18EC7B9F2127}"/>
    <dgm:cxn modelId="{4AE69BE9-3752-45D9-8CFE-B5CB328A7C93}" srcId="{04179BF1-0E31-4E32-B0C9-1D19FF1CF8C4}" destId="{893E821D-51FE-496C-94A3-A4E2175DC0F9}" srcOrd="0" destOrd="0" parTransId="{5D05FAF5-6683-485E-9ABA-DBC64D1C1AD4}" sibTransId="{46A4766B-8DA3-4544-8EF4-1248039788E6}"/>
    <dgm:cxn modelId="{8AB717ED-ADEB-4A7A-972F-B0ECADC877DC}" srcId="{E4023183-0311-440A-8CFC-D427D7ECB99F}" destId="{EE8952D5-482D-4152-937C-8F8F7DCD63BC}" srcOrd="2" destOrd="0" parTransId="{AC4D946A-139D-4DFA-8F54-58365C47B282}" sibTransId="{90C3A1EE-EEA6-4DC9-B2C0-C06618A82230}"/>
    <dgm:cxn modelId="{3E6F4288-9174-4232-B648-DA0FA0BE3CED}" type="presParOf" srcId="{030F0B3A-9DFB-44D3-9AA0-CC2F49063205}" destId="{52649A96-1B0A-4101-9317-5C5095A8AFA6}" srcOrd="0" destOrd="0" presId="urn:microsoft.com/office/officeart/2005/8/layout/hList6"/>
    <dgm:cxn modelId="{7DAF385F-C602-44AD-9C7D-3CCFDA4E9ADC}" type="presParOf" srcId="{030F0B3A-9DFB-44D3-9AA0-CC2F49063205}" destId="{42DB44FD-34C1-46B3-AE6D-B149727A9A27}" srcOrd="1" destOrd="0" presId="urn:microsoft.com/office/officeart/2005/8/layout/hList6"/>
    <dgm:cxn modelId="{BD08E460-2832-4DF3-963D-7EBB76D88D39}" type="presParOf" srcId="{030F0B3A-9DFB-44D3-9AA0-CC2F49063205}" destId="{60782ED9-A9F4-4FA9-A6DB-AB2B471C2B68}" srcOrd="2" destOrd="0" presId="urn:microsoft.com/office/officeart/2005/8/layout/hList6"/>
    <dgm:cxn modelId="{87BA2AA3-924C-484C-906D-B195114C6DCE}" type="presParOf" srcId="{030F0B3A-9DFB-44D3-9AA0-CC2F49063205}" destId="{222231D7-1F28-4C4D-8223-3DC96C9B23C5}" srcOrd="3" destOrd="0" presId="urn:microsoft.com/office/officeart/2005/8/layout/hList6"/>
    <dgm:cxn modelId="{1C8D3C17-8797-4CDC-80CA-32C660ABF6C8}" type="presParOf" srcId="{030F0B3A-9DFB-44D3-9AA0-CC2F49063205}" destId="{C917D6C5-80FE-41BF-8FA5-EA3A9D1A86B0}" srcOrd="4" destOrd="0" presId="urn:microsoft.com/office/officeart/2005/8/layout/hList6"/>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023183-0311-440A-8CFC-D427D7ECB99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4179BF1-0E31-4E32-B0C9-1D19FF1CF8C4}">
      <dgm:prSet phldrT="[Text]" custT="1"/>
      <dgm:spPr>
        <a:solidFill>
          <a:schemeClr val="accent4"/>
        </a:solidFill>
      </dgm:spPr>
      <dgm:t>
        <a:bodyPr/>
        <a:lstStyle/>
        <a:p>
          <a:pPr>
            <a:buNone/>
          </a:pPr>
          <a:r>
            <a:rPr lang="en-US" sz="1200" b="1" dirty="0"/>
            <a:t>Input</a:t>
          </a:r>
        </a:p>
        <a:p>
          <a:pPr>
            <a:buNone/>
          </a:pPr>
          <a:endParaRPr lang="en-US" sz="900" b="1" dirty="0"/>
        </a:p>
      </dgm:t>
    </dgm:pt>
    <dgm:pt modelId="{A9E1BA1A-2858-4423-A358-43E84774BE7E}" type="parTrans" cxnId="{CB1507CD-72E5-492F-8DE9-AD35AA31854F}">
      <dgm:prSet/>
      <dgm:spPr/>
      <dgm:t>
        <a:bodyPr/>
        <a:lstStyle/>
        <a:p>
          <a:endParaRPr lang="en-US" sz="2000"/>
        </a:p>
      </dgm:t>
    </dgm:pt>
    <dgm:pt modelId="{42A06B64-EF04-4E66-9441-46EE5A709F5A}" type="sibTrans" cxnId="{CB1507CD-72E5-492F-8DE9-AD35AA31854F}">
      <dgm:prSet/>
      <dgm:spPr/>
      <dgm:t>
        <a:bodyPr/>
        <a:lstStyle/>
        <a:p>
          <a:endParaRPr lang="en-US" sz="2000"/>
        </a:p>
      </dgm:t>
    </dgm:pt>
    <dgm:pt modelId="{D4F40B71-34FE-45A7-BB03-073ED073C110}">
      <dgm:prSet phldrT="[Text]" custT="1"/>
      <dgm:spPr>
        <a:solidFill>
          <a:srgbClr val="0097A9"/>
        </a:solidFill>
      </dgm:spPr>
      <dgm:t>
        <a:bodyPr/>
        <a:lstStyle/>
        <a:p>
          <a:pPr>
            <a:buNone/>
          </a:pPr>
          <a:r>
            <a:rPr lang="en-US" sz="1200" b="1" dirty="0"/>
            <a:t>Processing in GIS</a:t>
          </a:r>
        </a:p>
      </dgm:t>
    </dgm:pt>
    <dgm:pt modelId="{1722E8EB-1DB3-46EA-A5FF-5351B4B688B3}" type="parTrans" cxnId="{C85EDE0F-1004-4161-932A-A1BF9AA19AEF}">
      <dgm:prSet/>
      <dgm:spPr/>
      <dgm:t>
        <a:bodyPr/>
        <a:lstStyle/>
        <a:p>
          <a:endParaRPr lang="en-US" sz="2000"/>
        </a:p>
      </dgm:t>
    </dgm:pt>
    <dgm:pt modelId="{A46F3920-F871-4793-A0FD-2A5D4C117C43}" type="sibTrans" cxnId="{C85EDE0F-1004-4161-932A-A1BF9AA19AEF}">
      <dgm:prSet/>
      <dgm:spPr/>
      <dgm:t>
        <a:bodyPr/>
        <a:lstStyle/>
        <a:p>
          <a:endParaRPr lang="en-US" sz="2000"/>
        </a:p>
      </dgm:t>
    </dgm:pt>
    <dgm:pt modelId="{EE8952D5-482D-4152-937C-8F8F7DCD63BC}">
      <dgm:prSet phldrT="[Text]" custT="1"/>
      <dgm:spPr>
        <a:solidFill>
          <a:schemeClr val="accent4"/>
        </a:solidFill>
      </dgm:spPr>
      <dgm:t>
        <a:bodyPr/>
        <a:lstStyle/>
        <a:p>
          <a:r>
            <a:rPr lang="en-US" sz="1200" b="1" dirty="0"/>
            <a:t>Output</a:t>
          </a:r>
        </a:p>
        <a:p>
          <a:endParaRPr lang="en-US" sz="1100" b="1" dirty="0"/>
        </a:p>
      </dgm:t>
    </dgm:pt>
    <dgm:pt modelId="{AC4D946A-139D-4DFA-8F54-58365C47B282}" type="parTrans" cxnId="{8AB717ED-ADEB-4A7A-972F-B0ECADC877DC}">
      <dgm:prSet/>
      <dgm:spPr/>
      <dgm:t>
        <a:bodyPr/>
        <a:lstStyle/>
        <a:p>
          <a:endParaRPr lang="en-US" sz="2000"/>
        </a:p>
      </dgm:t>
    </dgm:pt>
    <dgm:pt modelId="{90C3A1EE-EEA6-4DC9-B2C0-C06618A82230}" type="sibTrans" cxnId="{8AB717ED-ADEB-4A7A-972F-B0ECADC877DC}">
      <dgm:prSet/>
      <dgm:spPr/>
      <dgm:t>
        <a:bodyPr/>
        <a:lstStyle/>
        <a:p>
          <a:endParaRPr lang="en-US" sz="2000"/>
        </a:p>
      </dgm:t>
    </dgm:pt>
    <dgm:pt modelId="{893E821D-51FE-496C-94A3-A4E2175DC0F9}">
      <dgm:prSet custT="1"/>
      <dgm:spPr>
        <a:solidFill>
          <a:schemeClr val="accent4"/>
        </a:solidFill>
      </dgm:spPr>
      <dgm:t>
        <a:bodyPr/>
        <a:lstStyle/>
        <a:p>
          <a:r>
            <a:rPr lang="en-US" sz="900" dirty="0"/>
            <a:t>Network changes due to -</a:t>
          </a:r>
        </a:p>
      </dgm:t>
    </dgm:pt>
    <dgm:pt modelId="{5D05FAF5-6683-485E-9ABA-DBC64D1C1AD4}" type="parTrans" cxnId="{4AE69BE9-3752-45D9-8CFE-B5CB328A7C93}">
      <dgm:prSet/>
      <dgm:spPr/>
      <dgm:t>
        <a:bodyPr/>
        <a:lstStyle/>
        <a:p>
          <a:endParaRPr lang="en-US" sz="2000"/>
        </a:p>
      </dgm:t>
    </dgm:pt>
    <dgm:pt modelId="{46A4766B-8DA3-4544-8EF4-1248039788E6}" type="sibTrans" cxnId="{4AE69BE9-3752-45D9-8CFE-B5CB328A7C93}">
      <dgm:prSet/>
      <dgm:spPr/>
      <dgm:t>
        <a:bodyPr/>
        <a:lstStyle/>
        <a:p>
          <a:endParaRPr lang="en-US" sz="2000"/>
        </a:p>
      </dgm:t>
    </dgm:pt>
    <dgm:pt modelId="{5561A663-EC79-4719-8F85-9C7B03E8A53C}">
      <dgm:prSet custT="1"/>
      <dgm:spPr>
        <a:solidFill>
          <a:schemeClr val="accent4"/>
        </a:solidFill>
      </dgm:spPr>
      <dgm:t>
        <a:bodyPr/>
        <a:lstStyle/>
        <a:p>
          <a:endParaRPr lang="en-US" sz="900" dirty="0"/>
        </a:p>
      </dgm:t>
    </dgm:pt>
    <dgm:pt modelId="{60AD9E84-3864-4BB9-A70E-C266321A4EE8}" type="parTrans" cxnId="{F4D6E9A9-6AA9-4195-9ED4-D6D64404266C}">
      <dgm:prSet/>
      <dgm:spPr/>
      <dgm:t>
        <a:bodyPr/>
        <a:lstStyle/>
        <a:p>
          <a:endParaRPr lang="en-US" sz="2000"/>
        </a:p>
      </dgm:t>
    </dgm:pt>
    <dgm:pt modelId="{54E50A9C-3A3A-4D8A-AD9A-8CA939B3DCC0}" type="sibTrans" cxnId="{F4D6E9A9-6AA9-4195-9ED4-D6D64404266C}">
      <dgm:prSet/>
      <dgm:spPr/>
      <dgm:t>
        <a:bodyPr/>
        <a:lstStyle/>
        <a:p>
          <a:endParaRPr lang="en-US" sz="2000"/>
        </a:p>
      </dgm:t>
    </dgm:pt>
    <dgm:pt modelId="{F1242B8C-5073-4A90-A07B-F6943B6B3786}">
      <dgm:prSet phldrT="[Text]" custT="1"/>
      <dgm:spPr>
        <a:solidFill>
          <a:srgbClr val="0097A9"/>
        </a:solidFill>
      </dgm:spPr>
      <dgm:t>
        <a:bodyPr/>
        <a:lstStyle/>
        <a:p>
          <a:r>
            <a:rPr lang="en-US" sz="900" dirty="0"/>
            <a:t>Geo-referenced digitization of -</a:t>
          </a:r>
        </a:p>
      </dgm:t>
    </dgm:pt>
    <dgm:pt modelId="{9FC28103-227A-407F-B90C-C71BEC61F6DD}" type="sibTrans" cxnId="{70E14598-69DE-4358-94B4-0A1DEF7CCBE8}">
      <dgm:prSet/>
      <dgm:spPr/>
      <dgm:t>
        <a:bodyPr/>
        <a:lstStyle/>
        <a:p>
          <a:endParaRPr lang="en-US" sz="2000"/>
        </a:p>
      </dgm:t>
    </dgm:pt>
    <dgm:pt modelId="{2443101C-B599-4245-9489-6CF13CD7D4BC}" type="parTrans" cxnId="{70E14598-69DE-4358-94B4-0A1DEF7CCBE8}">
      <dgm:prSet/>
      <dgm:spPr/>
      <dgm:t>
        <a:bodyPr/>
        <a:lstStyle/>
        <a:p>
          <a:endParaRPr lang="en-US" sz="2000"/>
        </a:p>
      </dgm:t>
    </dgm:pt>
    <dgm:pt modelId="{1BE3A2BD-550F-4FA3-B95C-EA3E45F3CF00}">
      <dgm:prSet custT="1"/>
      <dgm:spPr>
        <a:solidFill>
          <a:schemeClr val="accent4"/>
        </a:solidFill>
      </dgm:spPr>
      <dgm:t>
        <a:bodyPr/>
        <a:lstStyle/>
        <a:p>
          <a:r>
            <a:rPr lang="en-US" sz="900" dirty="0"/>
            <a:t>Integration with Network Planning tool (CYMDIST)</a:t>
          </a:r>
        </a:p>
      </dgm:t>
    </dgm:pt>
    <dgm:pt modelId="{0EEA2F91-2634-499B-8601-2219A999BC26}" type="parTrans" cxnId="{082317D6-8C82-488D-AFAA-0FD03B9D0278}">
      <dgm:prSet/>
      <dgm:spPr/>
      <dgm:t>
        <a:bodyPr/>
        <a:lstStyle/>
        <a:p>
          <a:endParaRPr lang="en-US"/>
        </a:p>
      </dgm:t>
    </dgm:pt>
    <dgm:pt modelId="{A0FA79E9-479E-4DE0-AB4F-EC078670D99F}" type="sibTrans" cxnId="{082317D6-8C82-488D-AFAA-0FD03B9D0278}">
      <dgm:prSet/>
      <dgm:spPr/>
      <dgm:t>
        <a:bodyPr/>
        <a:lstStyle/>
        <a:p>
          <a:endParaRPr lang="en-US"/>
        </a:p>
      </dgm:t>
    </dgm:pt>
    <dgm:pt modelId="{CB0E0871-6630-4550-BBFD-FADEB24AE026}">
      <dgm:prSet custT="1"/>
      <dgm:spPr/>
      <dgm:t>
        <a:bodyPr/>
        <a:lstStyle/>
        <a:p>
          <a:pPr>
            <a:buFont typeface="Wingdings" panose="05000000000000000000" pitchFamily="2" charset="2"/>
            <a:buChar char="ü"/>
          </a:pPr>
          <a:r>
            <a:rPr lang="en-US" sz="900" dirty="0"/>
            <a:t>Load Balancing</a:t>
          </a:r>
        </a:p>
      </dgm:t>
    </dgm:pt>
    <dgm:pt modelId="{AD814C7E-AEAE-46E1-8A99-9348AD185B71}" type="parTrans" cxnId="{65CFBA1E-57AD-4914-89B9-2A3C5363957E}">
      <dgm:prSet/>
      <dgm:spPr/>
      <dgm:t>
        <a:bodyPr/>
        <a:lstStyle/>
        <a:p>
          <a:endParaRPr lang="en-US"/>
        </a:p>
      </dgm:t>
    </dgm:pt>
    <dgm:pt modelId="{8CB84C72-00B5-49AB-AE8F-54B410795179}" type="sibTrans" cxnId="{65CFBA1E-57AD-4914-89B9-2A3C5363957E}">
      <dgm:prSet/>
      <dgm:spPr/>
      <dgm:t>
        <a:bodyPr/>
        <a:lstStyle/>
        <a:p>
          <a:endParaRPr lang="en-US"/>
        </a:p>
      </dgm:t>
    </dgm:pt>
    <dgm:pt modelId="{7A46F5C8-B7F9-4660-86F7-0963C091391A}">
      <dgm:prSet custT="1"/>
      <dgm:spPr/>
      <dgm:t>
        <a:bodyPr/>
        <a:lstStyle/>
        <a:p>
          <a:pPr>
            <a:buFont typeface="Wingdings" panose="05000000000000000000" pitchFamily="2" charset="2"/>
            <a:buChar char="ü"/>
          </a:pPr>
          <a:r>
            <a:rPr lang="en-US" sz="900" dirty="0"/>
            <a:t>Network Extension</a:t>
          </a:r>
        </a:p>
      </dgm:t>
    </dgm:pt>
    <dgm:pt modelId="{288F029C-13DF-4D3B-94A2-CCDD0784AE2B}" type="parTrans" cxnId="{257B90F5-FB1E-46AE-BB9A-550BF0E78278}">
      <dgm:prSet/>
      <dgm:spPr/>
      <dgm:t>
        <a:bodyPr/>
        <a:lstStyle/>
        <a:p>
          <a:endParaRPr lang="en-US"/>
        </a:p>
      </dgm:t>
    </dgm:pt>
    <dgm:pt modelId="{5D21329F-BF46-4878-A9F7-3BE54DA932BC}" type="sibTrans" cxnId="{257B90F5-FB1E-46AE-BB9A-550BF0E78278}">
      <dgm:prSet/>
      <dgm:spPr/>
      <dgm:t>
        <a:bodyPr/>
        <a:lstStyle/>
        <a:p>
          <a:endParaRPr lang="en-US"/>
        </a:p>
      </dgm:t>
    </dgm:pt>
    <dgm:pt modelId="{F1F8BC1F-57DF-4234-9B4F-27E8B3EA1AD6}">
      <dgm:prSet custT="1"/>
      <dgm:spPr/>
      <dgm:t>
        <a:bodyPr/>
        <a:lstStyle/>
        <a:p>
          <a:pPr>
            <a:buFont typeface="Wingdings" panose="05000000000000000000" pitchFamily="2" charset="2"/>
            <a:buChar char="ü"/>
          </a:pPr>
          <a:r>
            <a:rPr lang="en-US" sz="900" dirty="0"/>
            <a:t>Network Augmentation</a:t>
          </a:r>
        </a:p>
      </dgm:t>
    </dgm:pt>
    <dgm:pt modelId="{2F54AB55-4CCC-41DB-A41B-0A30ADB58A9D}" type="parTrans" cxnId="{3B2F85FF-E2E2-482B-95BB-A053AC1C0DBF}">
      <dgm:prSet/>
      <dgm:spPr/>
      <dgm:t>
        <a:bodyPr/>
        <a:lstStyle/>
        <a:p>
          <a:endParaRPr lang="en-US"/>
        </a:p>
      </dgm:t>
    </dgm:pt>
    <dgm:pt modelId="{59635424-D3A9-443A-A374-75E6632AE967}" type="sibTrans" cxnId="{3B2F85FF-E2E2-482B-95BB-A053AC1C0DBF}">
      <dgm:prSet/>
      <dgm:spPr/>
      <dgm:t>
        <a:bodyPr/>
        <a:lstStyle/>
        <a:p>
          <a:endParaRPr lang="en-US"/>
        </a:p>
      </dgm:t>
    </dgm:pt>
    <dgm:pt modelId="{636A4545-17A3-482B-84EF-84B2F86632EC}">
      <dgm:prSet custT="1"/>
      <dgm:spPr/>
      <dgm:t>
        <a:bodyPr/>
        <a:lstStyle/>
        <a:p>
          <a:pPr>
            <a:buFont typeface="Wingdings" panose="05000000000000000000" pitchFamily="2" charset="2"/>
            <a:buChar char="ü"/>
          </a:pPr>
          <a:r>
            <a:rPr lang="en-US" sz="900" dirty="0"/>
            <a:t>New Electrification</a:t>
          </a:r>
        </a:p>
      </dgm:t>
    </dgm:pt>
    <dgm:pt modelId="{5194FA4D-CBB3-4078-95AE-8376790CFB4A}" type="parTrans" cxnId="{E3337DE2-ECA7-4AA9-B4C9-53B28D82FCD5}">
      <dgm:prSet/>
      <dgm:spPr/>
      <dgm:t>
        <a:bodyPr/>
        <a:lstStyle/>
        <a:p>
          <a:endParaRPr lang="en-US"/>
        </a:p>
      </dgm:t>
    </dgm:pt>
    <dgm:pt modelId="{4D31EB57-CBC4-4DE6-A742-C151B039E634}" type="sibTrans" cxnId="{E3337DE2-ECA7-4AA9-B4C9-53B28D82FCD5}">
      <dgm:prSet/>
      <dgm:spPr/>
      <dgm:t>
        <a:bodyPr/>
        <a:lstStyle/>
        <a:p>
          <a:endParaRPr lang="en-US"/>
        </a:p>
      </dgm:t>
    </dgm:pt>
    <dgm:pt modelId="{AA09B5B9-8678-4D5A-890A-1726C60D63E8}">
      <dgm:prSet custT="1"/>
      <dgm:spPr/>
      <dgm:t>
        <a:bodyPr/>
        <a:lstStyle/>
        <a:p>
          <a:pPr>
            <a:buFont typeface="Wingdings" panose="05000000000000000000" pitchFamily="2" charset="2"/>
            <a:buChar char="ü"/>
          </a:pPr>
          <a:r>
            <a:rPr lang="en-US" sz="900" dirty="0"/>
            <a:t>Network Shifting</a:t>
          </a:r>
        </a:p>
      </dgm:t>
    </dgm:pt>
    <dgm:pt modelId="{CC712C65-35D1-4248-AE02-51E804B10E04}" type="parTrans" cxnId="{7677638B-5EA6-40BC-B81D-8DBE6B68DF3C}">
      <dgm:prSet/>
      <dgm:spPr/>
      <dgm:t>
        <a:bodyPr/>
        <a:lstStyle/>
        <a:p>
          <a:endParaRPr lang="en-US"/>
        </a:p>
      </dgm:t>
    </dgm:pt>
    <dgm:pt modelId="{17574CAC-3F96-468C-9A05-6300DD57AD96}" type="sibTrans" cxnId="{7677638B-5EA6-40BC-B81D-8DBE6B68DF3C}">
      <dgm:prSet/>
      <dgm:spPr/>
      <dgm:t>
        <a:bodyPr/>
        <a:lstStyle/>
        <a:p>
          <a:endParaRPr lang="en-US"/>
        </a:p>
      </dgm:t>
    </dgm:pt>
    <dgm:pt modelId="{3D264976-A076-4326-AE32-8CD10F20539D}">
      <dgm:prSet custT="1"/>
      <dgm:spPr>
        <a:solidFill>
          <a:srgbClr val="0097A9"/>
        </a:solidFill>
      </dgm:spPr>
      <dgm:t>
        <a:bodyPr/>
        <a:lstStyle/>
        <a:p>
          <a:pPr>
            <a:buFont typeface="Wingdings" panose="05000000000000000000" pitchFamily="2" charset="2"/>
            <a:buChar char="ü"/>
          </a:pPr>
          <a:r>
            <a:rPr lang="en-US" sz="900" dirty="0"/>
            <a:t>Revised network route</a:t>
          </a:r>
        </a:p>
      </dgm:t>
    </dgm:pt>
    <dgm:pt modelId="{310D64F6-978A-4AD6-B008-E408DE974CE5}" type="parTrans" cxnId="{BC3ED74D-5AAC-4C2F-8E71-AA29314B1263}">
      <dgm:prSet/>
      <dgm:spPr/>
      <dgm:t>
        <a:bodyPr/>
        <a:lstStyle/>
        <a:p>
          <a:endParaRPr lang="en-US"/>
        </a:p>
      </dgm:t>
    </dgm:pt>
    <dgm:pt modelId="{8D5DAFDA-A391-42DE-81FE-81F6FFD519C1}" type="sibTrans" cxnId="{BC3ED74D-5AAC-4C2F-8E71-AA29314B1263}">
      <dgm:prSet/>
      <dgm:spPr/>
      <dgm:t>
        <a:bodyPr/>
        <a:lstStyle/>
        <a:p>
          <a:endParaRPr lang="en-US"/>
        </a:p>
      </dgm:t>
    </dgm:pt>
    <dgm:pt modelId="{CE4FB63D-C9F7-4501-A637-DC711097B228}">
      <dgm:prSet custT="1"/>
      <dgm:spPr>
        <a:solidFill>
          <a:srgbClr val="0097A9"/>
        </a:solidFill>
      </dgm:spPr>
      <dgm:t>
        <a:bodyPr/>
        <a:lstStyle/>
        <a:p>
          <a:pPr>
            <a:buFont typeface="Wingdings" panose="05000000000000000000" pitchFamily="2" charset="2"/>
            <a:buChar char="ü"/>
          </a:pPr>
          <a:r>
            <a:rPr lang="en-US" sz="900" dirty="0"/>
            <a:t>Revised network connectivity</a:t>
          </a:r>
        </a:p>
      </dgm:t>
    </dgm:pt>
    <dgm:pt modelId="{AA1360ED-DE7C-496E-855C-25EB7972CFC7}" type="parTrans" cxnId="{3C15C866-92E0-4750-A2FB-88C3F0316532}">
      <dgm:prSet/>
      <dgm:spPr/>
      <dgm:t>
        <a:bodyPr/>
        <a:lstStyle/>
        <a:p>
          <a:endParaRPr lang="en-US"/>
        </a:p>
      </dgm:t>
    </dgm:pt>
    <dgm:pt modelId="{33D8B5D6-CE74-4162-BF1A-3682A3D9FF87}" type="sibTrans" cxnId="{3C15C866-92E0-4750-A2FB-88C3F0316532}">
      <dgm:prSet/>
      <dgm:spPr/>
      <dgm:t>
        <a:bodyPr/>
        <a:lstStyle/>
        <a:p>
          <a:endParaRPr lang="en-US"/>
        </a:p>
      </dgm:t>
    </dgm:pt>
    <dgm:pt modelId="{B4466522-8A87-4A84-90EA-E6A1236DAF00}">
      <dgm:prSet custT="1"/>
      <dgm:spPr/>
      <dgm:t>
        <a:bodyPr/>
        <a:lstStyle/>
        <a:p>
          <a:r>
            <a:rPr lang="en-US" sz="900" dirty="0"/>
            <a:t>GIS based Network Planning</a:t>
          </a:r>
        </a:p>
      </dgm:t>
    </dgm:pt>
    <dgm:pt modelId="{E40F06D8-F5C6-40CA-B59C-A44D98FA8AC1}" type="parTrans" cxnId="{CCFC8A74-B952-4B9A-B9C1-E5091F916B4E}">
      <dgm:prSet/>
      <dgm:spPr/>
      <dgm:t>
        <a:bodyPr/>
        <a:lstStyle/>
        <a:p>
          <a:endParaRPr lang="en-US"/>
        </a:p>
      </dgm:t>
    </dgm:pt>
    <dgm:pt modelId="{45038AF0-C546-4109-88F6-855358410734}" type="sibTrans" cxnId="{CCFC8A74-B952-4B9A-B9C1-E5091F916B4E}">
      <dgm:prSet/>
      <dgm:spPr/>
      <dgm:t>
        <a:bodyPr/>
        <a:lstStyle/>
        <a:p>
          <a:endParaRPr lang="en-US"/>
        </a:p>
      </dgm:t>
    </dgm:pt>
    <dgm:pt modelId="{030F0B3A-9DFB-44D3-9AA0-CC2F49063205}" type="pres">
      <dgm:prSet presAssocID="{E4023183-0311-440A-8CFC-D427D7ECB99F}" presName="Name0" presStyleCnt="0">
        <dgm:presLayoutVars>
          <dgm:dir/>
          <dgm:resizeHandles val="exact"/>
        </dgm:presLayoutVars>
      </dgm:prSet>
      <dgm:spPr/>
    </dgm:pt>
    <dgm:pt modelId="{52649A96-1B0A-4101-9317-5C5095A8AFA6}" type="pres">
      <dgm:prSet presAssocID="{04179BF1-0E31-4E32-B0C9-1D19FF1CF8C4}" presName="node" presStyleLbl="node1" presStyleIdx="0" presStyleCnt="3">
        <dgm:presLayoutVars>
          <dgm:bulletEnabled val="1"/>
        </dgm:presLayoutVars>
      </dgm:prSet>
      <dgm:spPr/>
    </dgm:pt>
    <dgm:pt modelId="{42DB44FD-34C1-46B3-AE6D-B149727A9A27}" type="pres">
      <dgm:prSet presAssocID="{42A06B64-EF04-4E66-9441-46EE5A709F5A}" presName="sibTrans" presStyleCnt="0"/>
      <dgm:spPr/>
    </dgm:pt>
    <dgm:pt modelId="{60782ED9-A9F4-4FA9-A6DB-AB2B471C2B68}" type="pres">
      <dgm:prSet presAssocID="{D4F40B71-34FE-45A7-BB03-073ED073C110}" presName="node" presStyleLbl="node1" presStyleIdx="1" presStyleCnt="3">
        <dgm:presLayoutVars>
          <dgm:bulletEnabled val="1"/>
        </dgm:presLayoutVars>
      </dgm:prSet>
      <dgm:spPr/>
    </dgm:pt>
    <dgm:pt modelId="{222231D7-1F28-4C4D-8223-3DC96C9B23C5}" type="pres">
      <dgm:prSet presAssocID="{A46F3920-F871-4793-A0FD-2A5D4C117C43}" presName="sibTrans" presStyleCnt="0"/>
      <dgm:spPr/>
    </dgm:pt>
    <dgm:pt modelId="{C917D6C5-80FE-41BF-8FA5-EA3A9D1A86B0}" type="pres">
      <dgm:prSet presAssocID="{EE8952D5-482D-4152-937C-8F8F7DCD63BC}" presName="node" presStyleLbl="node1" presStyleIdx="2" presStyleCnt="3" custScaleX="119042">
        <dgm:presLayoutVars>
          <dgm:bulletEnabled val="1"/>
        </dgm:presLayoutVars>
      </dgm:prSet>
      <dgm:spPr/>
    </dgm:pt>
  </dgm:ptLst>
  <dgm:cxnLst>
    <dgm:cxn modelId="{C85EDE0F-1004-4161-932A-A1BF9AA19AEF}" srcId="{E4023183-0311-440A-8CFC-D427D7ECB99F}" destId="{D4F40B71-34FE-45A7-BB03-073ED073C110}" srcOrd="1" destOrd="0" parTransId="{1722E8EB-1DB3-46EA-A5FF-5351B4B688B3}" sibTransId="{A46F3920-F871-4793-A0FD-2A5D4C117C43}"/>
    <dgm:cxn modelId="{82A22F1A-8CAB-4751-9EFE-AAA82EF74155}" type="presOf" srcId="{7A46F5C8-B7F9-4660-86F7-0963C091391A}" destId="{52649A96-1B0A-4101-9317-5C5095A8AFA6}" srcOrd="0" destOrd="3" presId="urn:microsoft.com/office/officeart/2005/8/layout/hList6"/>
    <dgm:cxn modelId="{65CFBA1E-57AD-4914-89B9-2A3C5363957E}" srcId="{04179BF1-0E31-4E32-B0C9-1D19FF1CF8C4}" destId="{CB0E0871-6630-4550-BBFD-FADEB24AE026}" srcOrd="1" destOrd="0" parTransId="{AD814C7E-AEAE-46E1-8A99-9348AD185B71}" sibTransId="{8CB84C72-00B5-49AB-AE8F-54B410795179}"/>
    <dgm:cxn modelId="{9D1E6323-894D-40B3-9A00-E64CDD9045D0}" type="presOf" srcId="{636A4545-17A3-482B-84EF-84B2F86632EC}" destId="{52649A96-1B0A-4101-9317-5C5095A8AFA6}" srcOrd="0" destOrd="5" presId="urn:microsoft.com/office/officeart/2005/8/layout/hList6"/>
    <dgm:cxn modelId="{05511128-A5D7-4F62-8575-69C86FA570BD}" type="presOf" srcId="{CB0E0871-6630-4550-BBFD-FADEB24AE026}" destId="{52649A96-1B0A-4101-9317-5C5095A8AFA6}" srcOrd="0" destOrd="2" presId="urn:microsoft.com/office/officeart/2005/8/layout/hList6"/>
    <dgm:cxn modelId="{3C15C866-92E0-4750-A2FB-88C3F0316532}" srcId="{D4F40B71-34FE-45A7-BB03-073ED073C110}" destId="{CE4FB63D-C9F7-4501-A637-DC711097B228}" srcOrd="2" destOrd="0" parTransId="{AA1360ED-DE7C-496E-855C-25EB7972CFC7}" sibTransId="{33D8B5D6-CE74-4162-BF1A-3682A3D9FF87}"/>
    <dgm:cxn modelId="{A9B22A69-A07E-4EFD-9797-EC92C9FF4F4B}" type="presOf" srcId="{1BE3A2BD-550F-4FA3-B95C-EA3E45F3CF00}" destId="{C917D6C5-80FE-41BF-8FA5-EA3A9D1A86B0}" srcOrd="0" destOrd="1" presId="urn:microsoft.com/office/officeart/2005/8/layout/hList6"/>
    <dgm:cxn modelId="{4912064D-6BF6-45C2-9CA3-919AA3A9CC98}" type="presOf" srcId="{E4023183-0311-440A-8CFC-D427D7ECB99F}" destId="{030F0B3A-9DFB-44D3-9AA0-CC2F49063205}" srcOrd="0" destOrd="0" presId="urn:microsoft.com/office/officeart/2005/8/layout/hList6"/>
    <dgm:cxn modelId="{BC3ED74D-5AAC-4C2F-8E71-AA29314B1263}" srcId="{D4F40B71-34FE-45A7-BB03-073ED073C110}" destId="{3D264976-A076-4326-AE32-8CD10F20539D}" srcOrd="1" destOrd="0" parTransId="{310D64F6-978A-4AD6-B008-E408DE974CE5}" sibTransId="{8D5DAFDA-A391-42DE-81FE-81F6FFD519C1}"/>
    <dgm:cxn modelId="{CCFC8A74-B952-4B9A-B9C1-E5091F916B4E}" srcId="{EE8952D5-482D-4152-937C-8F8F7DCD63BC}" destId="{B4466522-8A87-4A84-90EA-E6A1236DAF00}" srcOrd="1" destOrd="0" parTransId="{E40F06D8-F5C6-40CA-B59C-A44D98FA8AC1}" sibTransId="{45038AF0-C546-4109-88F6-855358410734}"/>
    <dgm:cxn modelId="{C00B5157-9897-44DF-B847-FF01FABFFFFC}" type="presOf" srcId="{3D264976-A076-4326-AE32-8CD10F20539D}" destId="{60782ED9-A9F4-4FA9-A6DB-AB2B471C2B68}" srcOrd="0" destOrd="2" presId="urn:microsoft.com/office/officeart/2005/8/layout/hList6"/>
    <dgm:cxn modelId="{46000484-0F53-4611-BD5A-627276BA2B08}" type="presOf" srcId="{EE8952D5-482D-4152-937C-8F8F7DCD63BC}" destId="{C917D6C5-80FE-41BF-8FA5-EA3A9D1A86B0}" srcOrd="0" destOrd="0" presId="urn:microsoft.com/office/officeart/2005/8/layout/hList6"/>
    <dgm:cxn modelId="{7677638B-5EA6-40BC-B81D-8DBE6B68DF3C}" srcId="{04179BF1-0E31-4E32-B0C9-1D19FF1CF8C4}" destId="{AA09B5B9-8678-4D5A-890A-1726C60D63E8}" srcOrd="5" destOrd="0" parTransId="{CC712C65-35D1-4248-AE02-51E804B10E04}" sibTransId="{17574CAC-3F96-468C-9A05-6300DD57AD96}"/>
    <dgm:cxn modelId="{8708648F-CECB-4239-A3BC-B2D9993F3B76}" type="presOf" srcId="{5561A663-EC79-4719-8F85-9C7B03E8A53C}" destId="{52649A96-1B0A-4101-9317-5C5095A8AFA6}" srcOrd="0" destOrd="7" presId="urn:microsoft.com/office/officeart/2005/8/layout/hList6"/>
    <dgm:cxn modelId="{70E14598-69DE-4358-94B4-0A1DEF7CCBE8}" srcId="{D4F40B71-34FE-45A7-BB03-073ED073C110}" destId="{F1242B8C-5073-4A90-A07B-F6943B6B3786}" srcOrd="0" destOrd="0" parTransId="{2443101C-B599-4245-9489-6CF13CD7D4BC}" sibTransId="{9FC28103-227A-407F-B90C-C71BEC61F6DD}"/>
    <dgm:cxn modelId="{133FC09B-43AE-48FD-8C32-A39AFD066ADD}" type="presOf" srcId="{CE4FB63D-C9F7-4501-A637-DC711097B228}" destId="{60782ED9-A9F4-4FA9-A6DB-AB2B471C2B68}" srcOrd="0" destOrd="3" presId="urn:microsoft.com/office/officeart/2005/8/layout/hList6"/>
    <dgm:cxn modelId="{97DC519E-2874-44F8-BDB5-556EAC8DAB02}" type="presOf" srcId="{F1242B8C-5073-4A90-A07B-F6943B6B3786}" destId="{60782ED9-A9F4-4FA9-A6DB-AB2B471C2B68}" srcOrd="0" destOrd="1" presId="urn:microsoft.com/office/officeart/2005/8/layout/hList6"/>
    <dgm:cxn modelId="{654FEA9E-1847-4623-ACF7-3E9C586F32F3}" type="presOf" srcId="{04179BF1-0E31-4E32-B0C9-1D19FF1CF8C4}" destId="{52649A96-1B0A-4101-9317-5C5095A8AFA6}" srcOrd="0" destOrd="0" presId="urn:microsoft.com/office/officeart/2005/8/layout/hList6"/>
    <dgm:cxn modelId="{1BDF54A0-9DAD-46BA-BC41-6546ED675DFB}" type="presOf" srcId="{D4F40B71-34FE-45A7-BB03-073ED073C110}" destId="{60782ED9-A9F4-4FA9-A6DB-AB2B471C2B68}" srcOrd="0" destOrd="0" presId="urn:microsoft.com/office/officeart/2005/8/layout/hList6"/>
    <dgm:cxn modelId="{F4D6E9A9-6AA9-4195-9ED4-D6D64404266C}" srcId="{04179BF1-0E31-4E32-B0C9-1D19FF1CF8C4}" destId="{5561A663-EC79-4719-8F85-9C7B03E8A53C}" srcOrd="6" destOrd="0" parTransId="{60AD9E84-3864-4BB9-A70E-C266321A4EE8}" sibTransId="{54E50A9C-3A3A-4D8A-AD9A-8CA939B3DCC0}"/>
    <dgm:cxn modelId="{64EA53B5-852B-4F52-BDE3-96B04A8CAF1D}" type="presOf" srcId="{B4466522-8A87-4A84-90EA-E6A1236DAF00}" destId="{C917D6C5-80FE-41BF-8FA5-EA3A9D1A86B0}" srcOrd="0" destOrd="2" presId="urn:microsoft.com/office/officeart/2005/8/layout/hList6"/>
    <dgm:cxn modelId="{99D0ACBB-8060-42CE-A72F-4EC5DEF5641F}" type="presOf" srcId="{893E821D-51FE-496C-94A3-A4E2175DC0F9}" destId="{52649A96-1B0A-4101-9317-5C5095A8AFA6}" srcOrd="0" destOrd="1" presId="urn:microsoft.com/office/officeart/2005/8/layout/hList6"/>
    <dgm:cxn modelId="{91319EC8-D05A-468A-8484-37161B3DE3AF}" type="presOf" srcId="{AA09B5B9-8678-4D5A-890A-1726C60D63E8}" destId="{52649A96-1B0A-4101-9317-5C5095A8AFA6}" srcOrd="0" destOrd="6" presId="urn:microsoft.com/office/officeart/2005/8/layout/hList6"/>
    <dgm:cxn modelId="{CB1507CD-72E5-492F-8DE9-AD35AA31854F}" srcId="{E4023183-0311-440A-8CFC-D427D7ECB99F}" destId="{04179BF1-0E31-4E32-B0C9-1D19FF1CF8C4}" srcOrd="0" destOrd="0" parTransId="{A9E1BA1A-2858-4423-A358-43E84774BE7E}" sibTransId="{42A06B64-EF04-4E66-9441-46EE5A709F5A}"/>
    <dgm:cxn modelId="{6DED51CF-0A2E-4535-AD61-FCD44EA1E048}" type="presOf" srcId="{F1F8BC1F-57DF-4234-9B4F-27E8B3EA1AD6}" destId="{52649A96-1B0A-4101-9317-5C5095A8AFA6}" srcOrd="0" destOrd="4" presId="urn:microsoft.com/office/officeart/2005/8/layout/hList6"/>
    <dgm:cxn modelId="{082317D6-8C82-488D-AFAA-0FD03B9D0278}" srcId="{EE8952D5-482D-4152-937C-8F8F7DCD63BC}" destId="{1BE3A2BD-550F-4FA3-B95C-EA3E45F3CF00}" srcOrd="0" destOrd="0" parTransId="{0EEA2F91-2634-499B-8601-2219A999BC26}" sibTransId="{A0FA79E9-479E-4DE0-AB4F-EC078670D99F}"/>
    <dgm:cxn modelId="{E3337DE2-ECA7-4AA9-B4C9-53B28D82FCD5}" srcId="{04179BF1-0E31-4E32-B0C9-1D19FF1CF8C4}" destId="{636A4545-17A3-482B-84EF-84B2F86632EC}" srcOrd="4" destOrd="0" parTransId="{5194FA4D-CBB3-4078-95AE-8376790CFB4A}" sibTransId="{4D31EB57-CBC4-4DE6-A742-C151B039E634}"/>
    <dgm:cxn modelId="{4AE69BE9-3752-45D9-8CFE-B5CB328A7C93}" srcId="{04179BF1-0E31-4E32-B0C9-1D19FF1CF8C4}" destId="{893E821D-51FE-496C-94A3-A4E2175DC0F9}" srcOrd="0" destOrd="0" parTransId="{5D05FAF5-6683-485E-9ABA-DBC64D1C1AD4}" sibTransId="{46A4766B-8DA3-4544-8EF4-1248039788E6}"/>
    <dgm:cxn modelId="{8AB717ED-ADEB-4A7A-972F-B0ECADC877DC}" srcId="{E4023183-0311-440A-8CFC-D427D7ECB99F}" destId="{EE8952D5-482D-4152-937C-8F8F7DCD63BC}" srcOrd="2" destOrd="0" parTransId="{AC4D946A-139D-4DFA-8F54-58365C47B282}" sibTransId="{90C3A1EE-EEA6-4DC9-B2C0-C06618A82230}"/>
    <dgm:cxn modelId="{257B90F5-FB1E-46AE-BB9A-550BF0E78278}" srcId="{04179BF1-0E31-4E32-B0C9-1D19FF1CF8C4}" destId="{7A46F5C8-B7F9-4660-86F7-0963C091391A}" srcOrd="2" destOrd="0" parTransId="{288F029C-13DF-4D3B-94A2-CCDD0784AE2B}" sibTransId="{5D21329F-BF46-4878-A9F7-3BE54DA932BC}"/>
    <dgm:cxn modelId="{3B2F85FF-E2E2-482B-95BB-A053AC1C0DBF}" srcId="{04179BF1-0E31-4E32-B0C9-1D19FF1CF8C4}" destId="{F1F8BC1F-57DF-4234-9B4F-27E8B3EA1AD6}" srcOrd="3" destOrd="0" parTransId="{2F54AB55-4CCC-41DB-A41B-0A30ADB58A9D}" sibTransId="{59635424-D3A9-443A-A374-75E6632AE967}"/>
    <dgm:cxn modelId="{3E6F4288-9174-4232-B648-DA0FA0BE3CED}" type="presParOf" srcId="{030F0B3A-9DFB-44D3-9AA0-CC2F49063205}" destId="{52649A96-1B0A-4101-9317-5C5095A8AFA6}" srcOrd="0" destOrd="0" presId="urn:microsoft.com/office/officeart/2005/8/layout/hList6"/>
    <dgm:cxn modelId="{7DAF385F-C602-44AD-9C7D-3CCFDA4E9ADC}" type="presParOf" srcId="{030F0B3A-9DFB-44D3-9AA0-CC2F49063205}" destId="{42DB44FD-34C1-46B3-AE6D-B149727A9A27}" srcOrd="1" destOrd="0" presId="urn:microsoft.com/office/officeart/2005/8/layout/hList6"/>
    <dgm:cxn modelId="{BD08E460-2832-4DF3-963D-7EBB76D88D39}" type="presParOf" srcId="{030F0B3A-9DFB-44D3-9AA0-CC2F49063205}" destId="{60782ED9-A9F4-4FA9-A6DB-AB2B471C2B68}" srcOrd="2" destOrd="0" presId="urn:microsoft.com/office/officeart/2005/8/layout/hList6"/>
    <dgm:cxn modelId="{87BA2AA3-924C-484C-906D-B195114C6DCE}" type="presParOf" srcId="{030F0B3A-9DFB-44D3-9AA0-CC2F49063205}" destId="{222231D7-1F28-4C4D-8223-3DC96C9B23C5}" srcOrd="3" destOrd="0" presId="urn:microsoft.com/office/officeart/2005/8/layout/hList6"/>
    <dgm:cxn modelId="{1C8D3C17-8797-4CDC-80CA-32C660ABF6C8}" type="presParOf" srcId="{030F0B3A-9DFB-44D3-9AA0-CC2F49063205}" destId="{C917D6C5-80FE-41BF-8FA5-EA3A9D1A86B0}" srcOrd="4" destOrd="0" presId="urn:microsoft.com/office/officeart/2005/8/layout/hList6"/>
  </dgm:cxnLst>
  <dgm:bg/>
  <dgm:whole/>
  <dgm:extLst>
    <a:ext uri="http://schemas.microsoft.com/office/drawing/2008/diagram">
      <dsp:dataModelExt xmlns:dsp="http://schemas.microsoft.com/office/drawing/2008/diagram" relId="rId2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864214-8154-4FB1-85B8-51F38D2B59B4}"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D32105FC-34FE-4B6B-8F29-78817AC93082}">
      <dgm:prSet custT="1"/>
      <dgm:spPr/>
      <dgm:t>
        <a:bodyPr/>
        <a:lstStyle/>
        <a:p>
          <a:r>
            <a:rPr lang="en-US" sz="1200" b="0" i="0"/>
            <a:t>Mapping of all assets (66kV/33KV/11KV, LT) including HT &amp; LT network entities upto poles &amp; major landmarks.</a:t>
          </a:r>
          <a:endParaRPr lang="en-US" sz="1200" dirty="0"/>
        </a:p>
      </dgm:t>
    </dgm:pt>
    <dgm:pt modelId="{685872E7-DFCB-4E4E-A4B2-9F72EE960ECF}" type="parTrans" cxnId="{5368EF89-3F45-41A3-827F-633B32E3EEFC}">
      <dgm:prSet/>
      <dgm:spPr/>
      <dgm:t>
        <a:bodyPr/>
        <a:lstStyle/>
        <a:p>
          <a:endParaRPr lang="en-US" sz="1300"/>
        </a:p>
      </dgm:t>
    </dgm:pt>
    <dgm:pt modelId="{E73EB42B-4105-4A74-A537-5B81D570B520}" type="sibTrans" cxnId="{5368EF89-3F45-41A3-827F-633B32E3EEFC}">
      <dgm:prSet/>
      <dgm:spPr/>
      <dgm:t>
        <a:bodyPr/>
        <a:lstStyle/>
        <a:p>
          <a:endParaRPr lang="en-US" sz="1300"/>
        </a:p>
      </dgm:t>
    </dgm:pt>
    <dgm:pt modelId="{27E27A1C-2C86-4E0F-BF7A-C78288EACF0A}">
      <dgm:prSet custT="1"/>
      <dgm:spPr/>
      <dgm:t>
        <a:bodyPr/>
        <a:lstStyle/>
        <a:p>
          <a:r>
            <a:rPr lang="en-US" sz="1200" b="0" i="0" dirty="0"/>
            <a:t>Collection of consumers attributes through door-to-door survey and indexing with network assets.</a:t>
          </a:r>
        </a:p>
      </dgm:t>
    </dgm:pt>
    <dgm:pt modelId="{882780A2-2F1F-475E-A23E-C64D071B8F86}" type="parTrans" cxnId="{68B07CFF-954F-4997-8949-4488E0960BCF}">
      <dgm:prSet/>
      <dgm:spPr/>
      <dgm:t>
        <a:bodyPr/>
        <a:lstStyle/>
        <a:p>
          <a:endParaRPr lang="en-US"/>
        </a:p>
      </dgm:t>
    </dgm:pt>
    <dgm:pt modelId="{15D83E67-896B-4C9B-AA39-27A6B22CF0CE}" type="sibTrans" cxnId="{68B07CFF-954F-4997-8949-4488E0960BCF}">
      <dgm:prSet/>
      <dgm:spPr/>
      <dgm:t>
        <a:bodyPr/>
        <a:lstStyle/>
        <a:p>
          <a:endParaRPr lang="en-US"/>
        </a:p>
      </dgm:t>
    </dgm:pt>
    <dgm:pt modelId="{A42E0A13-376E-4D02-92E6-1E2EF5960A3F}">
      <dgm:prSet custT="1"/>
      <dgm:spPr/>
      <dgm:t>
        <a:bodyPr/>
        <a:lstStyle/>
        <a:p>
          <a:r>
            <a:rPr lang="en-US" sz="1200" b="0" i="0" dirty="0"/>
            <a:t>Overlaying of digitized electrical network &amp; consumers on the base map with area features and attributes using SW for GIS application.</a:t>
          </a:r>
        </a:p>
      </dgm:t>
    </dgm:pt>
    <dgm:pt modelId="{CE62E22B-AC7B-4FBF-924D-3B3E71D9C928}" type="parTrans" cxnId="{25172A97-1616-4DAB-BBBB-B15EFDD31B1F}">
      <dgm:prSet/>
      <dgm:spPr/>
      <dgm:t>
        <a:bodyPr/>
        <a:lstStyle/>
        <a:p>
          <a:endParaRPr lang="en-US"/>
        </a:p>
      </dgm:t>
    </dgm:pt>
    <dgm:pt modelId="{561B6B1A-2047-4B2F-B817-902F569F9A5D}" type="sibTrans" cxnId="{25172A97-1616-4DAB-BBBB-B15EFDD31B1F}">
      <dgm:prSet/>
      <dgm:spPr/>
      <dgm:t>
        <a:bodyPr/>
        <a:lstStyle/>
        <a:p>
          <a:endParaRPr lang="en-US"/>
        </a:p>
      </dgm:t>
    </dgm:pt>
    <dgm:pt modelId="{E368321A-78F8-46ED-ADE8-3C22CFBE601C}">
      <dgm:prSet custT="1"/>
      <dgm:spPr/>
      <dgm:t>
        <a:bodyPr/>
        <a:lstStyle/>
        <a:p>
          <a:r>
            <a:rPr lang="en-US" sz="1200" b="0" i="0" dirty="0"/>
            <a:t>Integration of GIS system with other IT applications</a:t>
          </a:r>
        </a:p>
      </dgm:t>
    </dgm:pt>
    <dgm:pt modelId="{99FA43C6-1523-41C2-9229-3E36BDB7FFA3}" type="parTrans" cxnId="{706A2877-5FCE-4627-ACD8-661B74EC2E57}">
      <dgm:prSet/>
      <dgm:spPr/>
      <dgm:t>
        <a:bodyPr/>
        <a:lstStyle/>
        <a:p>
          <a:endParaRPr lang="en-US"/>
        </a:p>
      </dgm:t>
    </dgm:pt>
    <dgm:pt modelId="{0A152383-856A-4A2D-B1F5-6810AF1D5040}" type="sibTrans" cxnId="{706A2877-5FCE-4627-ACD8-661B74EC2E57}">
      <dgm:prSet/>
      <dgm:spPr/>
      <dgm:t>
        <a:bodyPr/>
        <a:lstStyle/>
        <a:p>
          <a:endParaRPr lang="en-US"/>
        </a:p>
      </dgm:t>
    </dgm:pt>
    <dgm:pt modelId="{63EDD219-7E62-434A-AB70-57B9577D1BB0}" type="pres">
      <dgm:prSet presAssocID="{5D864214-8154-4FB1-85B8-51F38D2B59B4}" presName="Name0" presStyleCnt="0">
        <dgm:presLayoutVars>
          <dgm:chMax val="7"/>
          <dgm:chPref val="7"/>
          <dgm:dir/>
        </dgm:presLayoutVars>
      </dgm:prSet>
      <dgm:spPr/>
    </dgm:pt>
    <dgm:pt modelId="{1A20C44F-A429-4912-AD04-9BC2CD3BC6F8}" type="pres">
      <dgm:prSet presAssocID="{5D864214-8154-4FB1-85B8-51F38D2B59B4}" presName="Name1" presStyleCnt="0"/>
      <dgm:spPr/>
    </dgm:pt>
    <dgm:pt modelId="{BAE121D7-9010-47C2-B8E8-AD0E93760D43}" type="pres">
      <dgm:prSet presAssocID="{5D864214-8154-4FB1-85B8-51F38D2B59B4}" presName="cycle" presStyleCnt="0"/>
      <dgm:spPr/>
    </dgm:pt>
    <dgm:pt modelId="{E1138B05-8C0B-4453-BC38-A58FD3382B96}" type="pres">
      <dgm:prSet presAssocID="{5D864214-8154-4FB1-85B8-51F38D2B59B4}" presName="srcNode" presStyleLbl="node1" presStyleIdx="0" presStyleCnt="4"/>
      <dgm:spPr/>
    </dgm:pt>
    <dgm:pt modelId="{C571B47B-B3BA-4072-8670-9D7CF18D5419}" type="pres">
      <dgm:prSet presAssocID="{5D864214-8154-4FB1-85B8-51F38D2B59B4}" presName="conn" presStyleLbl="parChTrans1D2" presStyleIdx="0" presStyleCnt="1"/>
      <dgm:spPr/>
    </dgm:pt>
    <dgm:pt modelId="{50D4AAD4-8EFE-4D9B-A131-432AD3DE224A}" type="pres">
      <dgm:prSet presAssocID="{5D864214-8154-4FB1-85B8-51F38D2B59B4}" presName="extraNode" presStyleLbl="node1" presStyleIdx="0" presStyleCnt="4"/>
      <dgm:spPr/>
    </dgm:pt>
    <dgm:pt modelId="{1EE41D51-6FC1-4EC0-A702-34D789BCD2FE}" type="pres">
      <dgm:prSet presAssocID="{5D864214-8154-4FB1-85B8-51F38D2B59B4}" presName="dstNode" presStyleLbl="node1" presStyleIdx="0" presStyleCnt="4"/>
      <dgm:spPr/>
    </dgm:pt>
    <dgm:pt modelId="{D722949B-305B-4BC2-A0AF-92F8F04097E1}" type="pres">
      <dgm:prSet presAssocID="{D32105FC-34FE-4B6B-8F29-78817AC93082}" presName="text_1" presStyleLbl="node1" presStyleIdx="0" presStyleCnt="4">
        <dgm:presLayoutVars>
          <dgm:bulletEnabled val="1"/>
        </dgm:presLayoutVars>
      </dgm:prSet>
      <dgm:spPr/>
    </dgm:pt>
    <dgm:pt modelId="{745853E9-A509-4B29-8BAE-14BF1784FFA0}" type="pres">
      <dgm:prSet presAssocID="{D32105FC-34FE-4B6B-8F29-78817AC93082}" presName="accent_1" presStyleCnt="0"/>
      <dgm:spPr/>
    </dgm:pt>
    <dgm:pt modelId="{EF9D7ABA-0AD6-4B0A-96B8-A42D03A150EA}" type="pres">
      <dgm:prSet presAssocID="{D32105FC-34FE-4B6B-8F29-78817AC93082}" presName="accentRepeatNode" presStyleLbl="solidFgAcc1" presStyleIdx="0" presStyleCnt="4"/>
      <dgm:spPr/>
    </dgm:pt>
    <dgm:pt modelId="{38DC012D-7193-42A1-9015-94A19CA732BF}" type="pres">
      <dgm:prSet presAssocID="{27E27A1C-2C86-4E0F-BF7A-C78288EACF0A}" presName="text_2" presStyleLbl="node1" presStyleIdx="1" presStyleCnt="4">
        <dgm:presLayoutVars>
          <dgm:bulletEnabled val="1"/>
        </dgm:presLayoutVars>
      </dgm:prSet>
      <dgm:spPr/>
    </dgm:pt>
    <dgm:pt modelId="{F913DB94-1028-4B37-A2E7-96EF7E5D9117}" type="pres">
      <dgm:prSet presAssocID="{27E27A1C-2C86-4E0F-BF7A-C78288EACF0A}" presName="accent_2" presStyleCnt="0"/>
      <dgm:spPr/>
    </dgm:pt>
    <dgm:pt modelId="{8A42DB8B-1148-4718-90A0-45E585363C17}" type="pres">
      <dgm:prSet presAssocID="{27E27A1C-2C86-4E0F-BF7A-C78288EACF0A}" presName="accentRepeatNode" presStyleLbl="solidFgAcc1" presStyleIdx="1" presStyleCnt="4"/>
      <dgm:spPr/>
    </dgm:pt>
    <dgm:pt modelId="{A92618A8-6545-4ACE-986C-A37EBBEA6DD3}" type="pres">
      <dgm:prSet presAssocID="{A42E0A13-376E-4D02-92E6-1E2EF5960A3F}" presName="text_3" presStyleLbl="node1" presStyleIdx="2" presStyleCnt="4">
        <dgm:presLayoutVars>
          <dgm:bulletEnabled val="1"/>
        </dgm:presLayoutVars>
      </dgm:prSet>
      <dgm:spPr/>
    </dgm:pt>
    <dgm:pt modelId="{C2B90D66-B273-476F-B0F4-847E28CC049B}" type="pres">
      <dgm:prSet presAssocID="{A42E0A13-376E-4D02-92E6-1E2EF5960A3F}" presName="accent_3" presStyleCnt="0"/>
      <dgm:spPr/>
    </dgm:pt>
    <dgm:pt modelId="{AAE0C338-177F-45F9-9585-0B804D7941EA}" type="pres">
      <dgm:prSet presAssocID="{A42E0A13-376E-4D02-92E6-1E2EF5960A3F}" presName="accentRepeatNode" presStyleLbl="solidFgAcc1" presStyleIdx="2" presStyleCnt="4"/>
      <dgm:spPr/>
    </dgm:pt>
    <dgm:pt modelId="{D8721CAB-73B6-4E60-8F97-F8E7E4B630D7}" type="pres">
      <dgm:prSet presAssocID="{E368321A-78F8-46ED-ADE8-3C22CFBE601C}" presName="text_4" presStyleLbl="node1" presStyleIdx="3" presStyleCnt="4">
        <dgm:presLayoutVars>
          <dgm:bulletEnabled val="1"/>
        </dgm:presLayoutVars>
      </dgm:prSet>
      <dgm:spPr/>
    </dgm:pt>
    <dgm:pt modelId="{D0B58F80-B03A-4DED-88F2-C99CD7449946}" type="pres">
      <dgm:prSet presAssocID="{E368321A-78F8-46ED-ADE8-3C22CFBE601C}" presName="accent_4" presStyleCnt="0"/>
      <dgm:spPr/>
    </dgm:pt>
    <dgm:pt modelId="{3E1B318F-799D-4481-ABBE-5D6C0ED67E82}" type="pres">
      <dgm:prSet presAssocID="{E368321A-78F8-46ED-ADE8-3C22CFBE601C}" presName="accentRepeatNode" presStyleLbl="solidFgAcc1" presStyleIdx="3" presStyleCnt="4"/>
      <dgm:spPr/>
    </dgm:pt>
  </dgm:ptLst>
  <dgm:cxnLst>
    <dgm:cxn modelId="{22F36228-4601-4FF3-9872-CC472842DA8C}" type="presOf" srcId="{E368321A-78F8-46ED-ADE8-3C22CFBE601C}" destId="{D8721CAB-73B6-4E60-8F97-F8E7E4B630D7}" srcOrd="0" destOrd="0" presId="urn:microsoft.com/office/officeart/2008/layout/VerticalCurvedList"/>
    <dgm:cxn modelId="{880E5F2B-06DE-4C93-8F1B-3A262BEDABDB}" type="presOf" srcId="{27E27A1C-2C86-4E0F-BF7A-C78288EACF0A}" destId="{38DC012D-7193-42A1-9015-94A19CA732BF}" srcOrd="0" destOrd="0" presId="urn:microsoft.com/office/officeart/2008/layout/VerticalCurvedList"/>
    <dgm:cxn modelId="{706A2877-5FCE-4627-ACD8-661B74EC2E57}" srcId="{5D864214-8154-4FB1-85B8-51F38D2B59B4}" destId="{E368321A-78F8-46ED-ADE8-3C22CFBE601C}" srcOrd="3" destOrd="0" parTransId="{99FA43C6-1523-41C2-9229-3E36BDB7FFA3}" sibTransId="{0A152383-856A-4A2D-B1F5-6810AF1D5040}"/>
    <dgm:cxn modelId="{5368EF89-3F45-41A3-827F-633B32E3EEFC}" srcId="{5D864214-8154-4FB1-85B8-51F38D2B59B4}" destId="{D32105FC-34FE-4B6B-8F29-78817AC93082}" srcOrd="0" destOrd="0" parTransId="{685872E7-DFCB-4E4E-A4B2-9F72EE960ECF}" sibTransId="{E73EB42B-4105-4A74-A537-5B81D570B520}"/>
    <dgm:cxn modelId="{25172A97-1616-4DAB-BBBB-B15EFDD31B1F}" srcId="{5D864214-8154-4FB1-85B8-51F38D2B59B4}" destId="{A42E0A13-376E-4D02-92E6-1E2EF5960A3F}" srcOrd="2" destOrd="0" parTransId="{CE62E22B-AC7B-4FBF-924D-3B3E71D9C928}" sibTransId="{561B6B1A-2047-4B2F-B817-902F569F9A5D}"/>
    <dgm:cxn modelId="{ADE5BAC6-D189-45A0-8150-4E5F26EAA841}" type="presOf" srcId="{E73EB42B-4105-4A74-A537-5B81D570B520}" destId="{C571B47B-B3BA-4072-8670-9D7CF18D5419}" srcOrd="0" destOrd="0" presId="urn:microsoft.com/office/officeart/2008/layout/VerticalCurvedList"/>
    <dgm:cxn modelId="{5B7336CA-85A8-46EC-913D-C70AE0B2025E}" type="presOf" srcId="{5D864214-8154-4FB1-85B8-51F38D2B59B4}" destId="{63EDD219-7E62-434A-AB70-57B9577D1BB0}" srcOrd="0" destOrd="0" presId="urn:microsoft.com/office/officeart/2008/layout/VerticalCurvedList"/>
    <dgm:cxn modelId="{26F272E6-18A2-476A-87B5-250F2519736B}" type="presOf" srcId="{A42E0A13-376E-4D02-92E6-1E2EF5960A3F}" destId="{A92618A8-6545-4ACE-986C-A37EBBEA6DD3}" srcOrd="0" destOrd="0" presId="urn:microsoft.com/office/officeart/2008/layout/VerticalCurvedList"/>
    <dgm:cxn modelId="{92C3B9FC-4633-4D86-BBE8-BAA562D2E1FD}" type="presOf" srcId="{D32105FC-34FE-4B6B-8F29-78817AC93082}" destId="{D722949B-305B-4BC2-A0AF-92F8F04097E1}" srcOrd="0" destOrd="0" presId="urn:microsoft.com/office/officeart/2008/layout/VerticalCurvedList"/>
    <dgm:cxn modelId="{68B07CFF-954F-4997-8949-4488E0960BCF}" srcId="{5D864214-8154-4FB1-85B8-51F38D2B59B4}" destId="{27E27A1C-2C86-4E0F-BF7A-C78288EACF0A}" srcOrd="1" destOrd="0" parTransId="{882780A2-2F1F-475E-A23E-C64D071B8F86}" sibTransId="{15D83E67-896B-4C9B-AA39-27A6B22CF0CE}"/>
    <dgm:cxn modelId="{67A2252F-03A3-414B-8268-09C2DCC5FD6D}" type="presParOf" srcId="{63EDD219-7E62-434A-AB70-57B9577D1BB0}" destId="{1A20C44F-A429-4912-AD04-9BC2CD3BC6F8}" srcOrd="0" destOrd="0" presId="urn:microsoft.com/office/officeart/2008/layout/VerticalCurvedList"/>
    <dgm:cxn modelId="{94F5C10C-33DF-46DF-A3E6-BC2D8594A68D}" type="presParOf" srcId="{1A20C44F-A429-4912-AD04-9BC2CD3BC6F8}" destId="{BAE121D7-9010-47C2-B8E8-AD0E93760D43}" srcOrd="0" destOrd="0" presId="urn:microsoft.com/office/officeart/2008/layout/VerticalCurvedList"/>
    <dgm:cxn modelId="{8F0D7A63-B821-409E-B1B7-972E57809162}" type="presParOf" srcId="{BAE121D7-9010-47C2-B8E8-AD0E93760D43}" destId="{E1138B05-8C0B-4453-BC38-A58FD3382B96}" srcOrd="0" destOrd="0" presId="urn:microsoft.com/office/officeart/2008/layout/VerticalCurvedList"/>
    <dgm:cxn modelId="{8D6034DE-7D47-485C-BBAB-535A5211543E}" type="presParOf" srcId="{BAE121D7-9010-47C2-B8E8-AD0E93760D43}" destId="{C571B47B-B3BA-4072-8670-9D7CF18D5419}" srcOrd="1" destOrd="0" presId="urn:microsoft.com/office/officeart/2008/layout/VerticalCurvedList"/>
    <dgm:cxn modelId="{23D3939E-EBAB-4797-9FD7-38303D75FDEF}" type="presParOf" srcId="{BAE121D7-9010-47C2-B8E8-AD0E93760D43}" destId="{50D4AAD4-8EFE-4D9B-A131-432AD3DE224A}" srcOrd="2" destOrd="0" presId="urn:microsoft.com/office/officeart/2008/layout/VerticalCurvedList"/>
    <dgm:cxn modelId="{CAC81E40-53A7-4CE4-8935-2A8BED31C228}" type="presParOf" srcId="{BAE121D7-9010-47C2-B8E8-AD0E93760D43}" destId="{1EE41D51-6FC1-4EC0-A702-34D789BCD2FE}" srcOrd="3" destOrd="0" presId="urn:microsoft.com/office/officeart/2008/layout/VerticalCurvedList"/>
    <dgm:cxn modelId="{C2059543-4875-4F18-8D5F-6483EF8CC880}" type="presParOf" srcId="{1A20C44F-A429-4912-AD04-9BC2CD3BC6F8}" destId="{D722949B-305B-4BC2-A0AF-92F8F04097E1}" srcOrd="1" destOrd="0" presId="urn:microsoft.com/office/officeart/2008/layout/VerticalCurvedList"/>
    <dgm:cxn modelId="{975906C1-8021-40BA-BBD4-652DC0344083}" type="presParOf" srcId="{1A20C44F-A429-4912-AD04-9BC2CD3BC6F8}" destId="{745853E9-A509-4B29-8BAE-14BF1784FFA0}" srcOrd="2" destOrd="0" presId="urn:microsoft.com/office/officeart/2008/layout/VerticalCurvedList"/>
    <dgm:cxn modelId="{CA9AAF60-C95C-4E32-88EE-D784D6F5D0E6}" type="presParOf" srcId="{745853E9-A509-4B29-8BAE-14BF1784FFA0}" destId="{EF9D7ABA-0AD6-4B0A-96B8-A42D03A150EA}" srcOrd="0" destOrd="0" presId="urn:microsoft.com/office/officeart/2008/layout/VerticalCurvedList"/>
    <dgm:cxn modelId="{4ABA0D25-82E0-4B3E-95BE-61D2A28E2EEA}" type="presParOf" srcId="{1A20C44F-A429-4912-AD04-9BC2CD3BC6F8}" destId="{38DC012D-7193-42A1-9015-94A19CA732BF}" srcOrd="3" destOrd="0" presId="urn:microsoft.com/office/officeart/2008/layout/VerticalCurvedList"/>
    <dgm:cxn modelId="{41F37183-CEB6-45FD-B327-462C98AF6A13}" type="presParOf" srcId="{1A20C44F-A429-4912-AD04-9BC2CD3BC6F8}" destId="{F913DB94-1028-4B37-A2E7-96EF7E5D9117}" srcOrd="4" destOrd="0" presId="urn:microsoft.com/office/officeart/2008/layout/VerticalCurvedList"/>
    <dgm:cxn modelId="{67D1F18A-8C37-444A-A4E0-AA36CC0C090D}" type="presParOf" srcId="{F913DB94-1028-4B37-A2E7-96EF7E5D9117}" destId="{8A42DB8B-1148-4718-90A0-45E585363C17}" srcOrd="0" destOrd="0" presId="urn:microsoft.com/office/officeart/2008/layout/VerticalCurvedList"/>
    <dgm:cxn modelId="{66BD17CE-65CA-4FB4-BF00-A740B9067AA3}" type="presParOf" srcId="{1A20C44F-A429-4912-AD04-9BC2CD3BC6F8}" destId="{A92618A8-6545-4ACE-986C-A37EBBEA6DD3}" srcOrd="5" destOrd="0" presId="urn:microsoft.com/office/officeart/2008/layout/VerticalCurvedList"/>
    <dgm:cxn modelId="{88006943-DAAF-4124-A7A6-9FCFB909BEEA}" type="presParOf" srcId="{1A20C44F-A429-4912-AD04-9BC2CD3BC6F8}" destId="{C2B90D66-B273-476F-B0F4-847E28CC049B}" srcOrd="6" destOrd="0" presId="urn:microsoft.com/office/officeart/2008/layout/VerticalCurvedList"/>
    <dgm:cxn modelId="{2B6AB96F-28AD-44BB-97C5-3089A81B5575}" type="presParOf" srcId="{C2B90D66-B273-476F-B0F4-847E28CC049B}" destId="{AAE0C338-177F-45F9-9585-0B804D7941EA}" srcOrd="0" destOrd="0" presId="urn:microsoft.com/office/officeart/2008/layout/VerticalCurvedList"/>
    <dgm:cxn modelId="{0788A39B-18FA-47EF-80F2-F2839643115A}" type="presParOf" srcId="{1A20C44F-A429-4912-AD04-9BC2CD3BC6F8}" destId="{D8721CAB-73B6-4E60-8F97-F8E7E4B630D7}" srcOrd="7" destOrd="0" presId="urn:microsoft.com/office/officeart/2008/layout/VerticalCurvedList"/>
    <dgm:cxn modelId="{7A9AB902-0589-4DE0-95A5-2BE59EFA3C3B}" type="presParOf" srcId="{1A20C44F-A429-4912-AD04-9BC2CD3BC6F8}" destId="{D0B58F80-B03A-4DED-88F2-C99CD7449946}" srcOrd="8" destOrd="0" presId="urn:microsoft.com/office/officeart/2008/layout/VerticalCurvedList"/>
    <dgm:cxn modelId="{F7A6D369-4B92-40B6-B035-FD158944A60C}" type="presParOf" srcId="{D0B58F80-B03A-4DED-88F2-C99CD7449946}" destId="{3E1B318F-799D-4481-ABBE-5D6C0ED67E82}" srcOrd="0" destOrd="0" presId="urn:microsoft.com/office/officeart/2008/layout/VerticalCurv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D46B2C3-9973-42A9-9341-1044E0223B43}" type="doc">
      <dgm:prSet loTypeId="urn:microsoft.com/office/officeart/2005/8/layout/vList2" loCatId="list" qsTypeId="urn:microsoft.com/office/officeart/2005/8/quickstyle/simple1" qsCatId="simple" csTypeId="urn:microsoft.com/office/officeart/2005/8/colors/accent4_3" csCatId="accent4" phldr="1"/>
      <dgm:spPr/>
      <dgm:t>
        <a:bodyPr/>
        <a:lstStyle/>
        <a:p>
          <a:endParaRPr lang="en-US"/>
        </a:p>
      </dgm:t>
    </dgm:pt>
    <dgm:pt modelId="{22ABD749-60D3-4351-BA8A-498A7F925534}">
      <dgm:prSet phldrT="[Text]" custT="1"/>
      <dgm:spPr/>
      <dgm:t>
        <a:bodyPr/>
        <a:lstStyle/>
        <a:p>
          <a:r>
            <a:rPr lang="en-US" sz="1200" dirty="0"/>
            <a:t>Delay in Availability of Imageries.</a:t>
          </a:r>
        </a:p>
      </dgm:t>
    </dgm:pt>
    <dgm:pt modelId="{E1FC6D1B-9DDD-4F57-B884-22D85F6CEEC5}" type="parTrans" cxnId="{018183B8-256B-46B2-8A0C-74E83C791F30}">
      <dgm:prSet/>
      <dgm:spPr/>
      <dgm:t>
        <a:bodyPr/>
        <a:lstStyle/>
        <a:p>
          <a:endParaRPr lang="en-US"/>
        </a:p>
      </dgm:t>
    </dgm:pt>
    <dgm:pt modelId="{C9066942-82B2-4D13-98E5-A33016A7EC0A}" type="sibTrans" cxnId="{018183B8-256B-46B2-8A0C-74E83C791F30}">
      <dgm:prSet/>
      <dgm:spPr/>
      <dgm:t>
        <a:bodyPr/>
        <a:lstStyle/>
        <a:p>
          <a:endParaRPr lang="en-US"/>
        </a:p>
      </dgm:t>
    </dgm:pt>
    <dgm:pt modelId="{A52FD629-B813-4B22-BF87-CB2ABF63F74C}">
      <dgm:prSet custT="1"/>
      <dgm:spPr/>
      <dgm:t>
        <a:bodyPr/>
        <a:lstStyle/>
        <a:p>
          <a:r>
            <a:rPr lang="en-US" sz="1200" dirty="0"/>
            <a:t>Non-availability of skilled manpower with GIS agencies for field survey.</a:t>
          </a:r>
        </a:p>
      </dgm:t>
    </dgm:pt>
    <dgm:pt modelId="{A5D9C995-3435-4E78-842F-DE3E87C730D9}" type="parTrans" cxnId="{EE030036-9D01-4CF5-9802-BF041A481D83}">
      <dgm:prSet/>
      <dgm:spPr/>
      <dgm:t>
        <a:bodyPr/>
        <a:lstStyle/>
        <a:p>
          <a:endParaRPr lang="en-US"/>
        </a:p>
      </dgm:t>
    </dgm:pt>
    <dgm:pt modelId="{E2956831-DFC8-4E54-B856-FE02C598C3DA}" type="sibTrans" cxnId="{EE030036-9D01-4CF5-9802-BF041A481D83}">
      <dgm:prSet/>
      <dgm:spPr/>
      <dgm:t>
        <a:bodyPr/>
        <a:lstStyle/>
        <a:p>
          <a:endParaRPr lang="en-US"/>
        </a:p>
      </dgm:t>
    </dgm:pt>
    <dgm:pt modelId="{58222802-28CF-4161-896C-BC47012932F5}">
      <dgm:prSet custT="1"/>
      <dgm:spPr/>
      <dgm:t>
        <a:bodyPr/>
        <a:lstStyle/>
        <a:p>
          <a:r>
            <a:rPr lang="en-US" sz="1200" dirty="0"/>
            <a:t>Capture of too many attributes,</a:t>
          </a:r>
        </a:p>
      </dgm:t>
    </dgm:pt>
    <dgm:pt modelId="{6713B1F5-69A3-473D-82A5-8C4D481F122D}" type="parTrans" cxnId="{7D97A03F-DE81-42BB-88C8-5C23118EC86D}">
      <dgm:prSet/>
      <dgm:spPr/>
      <dgm:t>
        <a:bodyPr/>
        <a:lstStyle/>
        <a:p>
          <a:endParaRPr lang="en-US"/>
        </a:p>
      </dgm:t>
    </dgm:pt>
    <dgm:pt modelId="{55B75812-1B87-42A9-B48F-2D6E1E82BD7D}" type="sibTrans" cxnId="{7D97A03F-DE81-42BB-88C8-5C23118EC86D}">
      <dgm:prSet/>
      <dgm:spPr/>
      <dgm:t>
        <a:bodyPr/>
        <a:lstStyle/>
        <a:p>
          <a:endParaRPr lang="en-US"/>
        </a:p>
      </dgm:t>
    </dgm:pt>
    <dgm:pt modelId="{B54D4CC5-F109-409B-9590-88550973FEAC}">
      <dgm:prSet custT="1"/>
      <dgm:spPr/>
      <dgm:t>
        <a:bodyPr/>
        <a:lstStyle/>
        <a:p>
          <a:r>
            <a:rPr lang="en-US" sz="1200" dirty="0"/>
            <a:t>Huge errors in linking of assets, between assets &amp; consumers, their attributes collection, etc.</a:t>
          </a:r>
        </a:p>
      </dgm:t>
    </dgm:pt>
    <dgm:pt modelId="{A9183498-5142-43B2-A063-47BD1F8768BB}" type="parTrans" cxnId="{C073BDD7-5A2F-4F04-8A2D-DFC4709C5D46}">
      <dgm:prSet/>
      <dgm:spPr/>
      <dgm:t>
        <a:bodyPr/>
        <a:lstStyle/>
        <a:p>
          <a:endParaRPr lang="en-US"/>
        </a:p>
      </dgm:t>
    </dgm:pt>
    <dgm:pt modelId="{7025DFA1-6A7F-4F04-8182-8BCF4C6A42A6}" type="sibTrans" cxnId="{C073BDD7-5A2F-4F04-8A2D-DFC4709C5D46}">
      <dgm:prSet/>
      <dgm:spPr/>
      <dgm:t>
        <a:bodyPr/>
        <a:lstStyle/>
        <a:p>
          <a:endParaRPr lang="en-US"/>
        </a:p>
      </dgm:t>
    </dgm:pt>
    <dgm:pt modelId="{50C26143-0574-4890-9B48-091988DDC3F7}">
      <dgm:prSet custT="1"/>
      <dgm:spPr/>
      <dgm:t>
        <a:bodyPr/>
        <a:lstStyle/>
        <a:p>
          <a:r>
            <a:rPr lang="en-US" sz="1200" dirty="0"/>
            <a:t>Slow progress in survey data validation by utilities due to manpower shortage, lack of coordination.</a:t>
          </a:r>
        </a:p>
      </dgm:t>
    </dgm:pt>
    <dgm:pt modelId="{3C04C714-B94B-41A6-8D8B-440B669518BC}" type="parTrans" cxnId="{F9E5A976-D044-4A62-8419-5EA581EAFC5E}">
      <dgm:prSet/>
      <dgm:spPr/>
      <dgm:t>
        <a:bodyPr/>
        <a:lstStyle/>
        <a:p>
          <a:endParaRPr lang="en-US"/>
        </a:p>
      </dgm:t>
    </dgm:pt>
    <dgm:pt modelId="{E71F3BFC-988B-4B24-8C6C-D6E8EDE9DBFC}" type="sibTrans" cxnId="{F9E5A976-D044-4A62-8419-5EA581EAFC5E}">
      <dgm:prSet/>
      <dgm:spPr/>
      <dgm:t>
        <a:bodyPr/>
        <a:lstStyle/>
        <a:p>
          <a:endParaRPr lang="en-US"/>
        </a:p>
      </dgm:t>
    </dgm:pt>
    <dgm:pt modelId="{9E0309DC-4512-4A47-9588-71874C3D3A4A}">
      <dgm:prSet custT="1"/>
      <dgm:spPr/>
      <dgm:t>
        <a:bodyPr/>
        <a:lstStyle/>
        <a:p>
          <a:r>
            <a:rPr lang="en-US" sz="1200" dirty="0"/>
            <a:t>Slow opening of GIS basemap on system.</a:t>
          </a:r>
        </a:p>
      </dgm:t>
    </dgm:pt>
    <dgm:pt modelId="{2C9682E8-4FBC-4EEC-9AE3-DE87B970C4BF}" type="parTrans" cxnId="{655E89BE-41D4-468E-BA8D-58D0838A0AF3}">
      <dgm:prSet/>
      <dgm:spPr/>
      <dgm:t>
        <a:bodyPr/>
        <a:lstStyle/>
        <a:p>
          <a:endParaRPr lang="en-US"/>
        </a:p>
      </dgm:t>
    </dgm:pt>
    <dgm:pt modelId="{B2EED105-D4C1-4D71-A14A-EC362119F96A}" type="sibTrans" cxnId="{655E89BE-41D4-468E-BA8D-58D0838A0AF3}">
      <dgm:prSet/>
      <dgm:spPr/>
      <dgm:t>
        <a:bodyPr/>
        <a:lstStyle/>
        <a:p>
          <a:endParaRPr lang="en-US"/>
        </a:p>
      </dgm:t>
    </dgm:pt>
    <dgm:pt modelId="{A27AE847-9A5F-4740-9DF4-A4D27106A7EC}">
      <dgm:prSet custT="1"/>
      <dgm:spPr/>
      <dgm:t>
        <a:bodyPr/>
        <a:lstStyle/>
        <a:p>
          <a:r>
            <a:rPr lang="en-US" sz="1200" dirty="0"/>
            <a:t>Delay in updation of incremental changes leading to inaccurate Energy Accounting.</a:t>
          </a:r>
        </a:p>
      </dgm:t>
    </dgm:pt>
    <dgm:pt modelId="{EE4C330A-C66B-48A9-9E0F-3B6CFCF2DF01}" type="parTrans" cxnId="{B13A3BE9-CF44-4899-AC45-C9786BD28005}">
      <dgm:prSet/>
      <dgm:spPr/>
      <dgm:t>
        <a:bodyPr/>
        <a:lstStyle/>
        <a:p>
          <a:endParaRPr lang="en-US"/>
        </a:p>
      </dgm:t>
    </dgm:pt>
    <dgm:pt modelId="{4C21B613-E85B-46F4-A846-EFC42824127C}" type="sibTrans" cxnId="{B13A3BE9-CF44-4899-AC45-C9786BD28005}">
      <dgm:prSet/>
      <dgm:spPr/>
      <dgm:t>
        <a:bodyPr/>
        <a:lstStyle/>
        <a:p>
          <a:endParaRPr lang="en-US"/>
        </a:p>
      </dgm:t>
    </dgm:pt>
    <dgm:pt modelId="{70A63A03-BFA8-49C7-A351-0F9A5803C035}">
      <dgm:prSet custT="1"/>
      <dgm:spPr/>
      <dgm:t>
        <a:bodyPr/>
        <a:lstStyle/>
        <a:p>
          <a:r>
            <a:rPr lang="en-US" sz="1200" dirty="0"/>
            <a:t>Lack of expertise with utilities for Post Go Live activities.</a:t>
          </a:r>
        </a:p>
      </dgm:t>
    </dgm:pt>
    <dgm:pt modelId="{B31F970A-0417-415A-9677-DF7FAD755DE2}" type="parTrans" cxnId="{7BB4D2B2-5D39-476F-A3EF-9EEBF089C0DE}">
      <dgm:prSet/>
      <dgm:spPr/>
      <dgm:t>
        <a:bodyPr/>
        <a:lstStyle/>
        <a:p>
          <a:endParaRPr lang="en-US"/>
        </a:p>
      </dgm:t>
    </dgm:pt>
    <dgm:pt modelId="{4262E800-C1B5-4D60-B83A-7BEA17DB9620}" type="sibTrans" cxnId="{7BB4D2B2-5D39-476F-A3EF-9EEBF089C0DE}">
      <dgm:prSet/>
      <dgm:spPr/>
      <dgm:t>
        <a:bodyPr/>
        <a:lstStyle/>
        <a:p>
          <a:endParaRPr lang="en-US"/>
        </a:p>
      </dgm:t>
    </dgm:pt>
    <dgm:pt modelId="{E36EF472-9272-4B30-9585-971033B4449E}" type="pres">
      <dgm:prSet presAssocID="{BD46B2C3-9973-42A9-9341-1044E0223B43}" presName="linear" presStyleCnt="0">
        <dgm:presLayoutVars>
          <dgm:animLvl val="lvl"/>
          <dgm:resizeHandles val="exact"/>
        </dgm:presLayoutVars>
      </dgm:prSet>
      <dgm:spPr/>
    </dgm:pt>
    <dgm:pt modelId="{03712B26-A425-421C-BE3C-F8823CE98D16}" type="pres">
      <dgm:prSet presAssocID="{22ABD749-60D3-4351-BA8A-498A7F925534}" presName="parentText" presStyleLbl="node1" presStyleIdx="0" presStyleCnt="8">
        <dgm:presLayoutVars>
          <dgm:chMax val="0"/>
          <dgm:bulletEnabled val="1"/>
        </dgm:presLayoutVars>
      </dgm:prSet>
      <dgm:spPr/>
    </dgm:pt>
    <dgm:pt modelId="{27DC690E-55A9-4D3A-85A8-B298D45842EE}" type="pres">
      <dgm:prSet presAssocID="{C9066942-82B2-4D13-98E5-A33016A7EC0A}" presName="spacer" presStyleCnt="0"/>
      <dgm:spPr/>
    </dgm:pt>
    <dgm:pt modelId="{FAB85CDD-1DFA-4683-89D8-0851C0383253}" type="pres">
      <dgm:prSet presAssocID="{A52FD629-B813-4B22-BF87-CB2ABF63F74C}" presName="parentText" presStyleLbl="node1" presStyleIdx="1" presStyleCnt="8">
        <dgm:presLayoutVars>
          <dgm:chMax val="0"/>
          <dgm:bulletEnabled val="1"/>
        </dgm:presLayoutVars>
      </dgm:prSet>
      <dgm:spPr/>
    </dgm:pt>
    <dgm:pt modelId="{B3750720-59AF-42E9-8C47-BD72E551BF42}" type="pres">
      <dgm:prSet presAssocID="{E2956831-DFC8-4E54-B856-FE02C598C3DA}" presName="spacer" presStyleCnt="0"/>
      <dgm:spPr/>
    </dgm:pt>
    <dgm:pt modelId="{E1E29959-60B4-4E5B-A22E-C1BC3F9D65BC}" type="pres">
      <dgm:prSet presAssocID="{58222802-28CF-4161-896C-BC47012932F5}" presName="parentText" presStyleLbl="node1" presStyleIdx="2" presStyleCnt="8">
        <dgm:presLayoutVars>
          <dgm:chMax val="0"/>
          <dgm:bulletEnabled val="1"/>
        </dgm:presLayoutVars>
      </dgm:prSet>
      <dgm:spPr/>
    </dgm:pt>
    <dgm:pt modelId="{5F9C7047-9025-403C-94E5-F70D4AC11A50}" type="pres">
      <dgm:prSet presAssocID="{55B75812-1B87-42A9-B48F-2D6E1E82BD7D}" presName="spacer" presStyleCnt="0"/>
      <dgm:spPr/>
    </dgm:pt>
    <dgm:pt modelId="{072B4485-FB52-4EF1-B8AA-9A1B2280C43F}" type="pres">
      <dgm:prSet presAssocID="{B54D4CC5-F109-409B-9590-88550973FEAC}" presName="parentText" presStyleLbl="node1" presStyleIdx="3" presStyleCnt="8">
        <dgm:presLayoutVars>
          <dgm:chMax val="0"/>
          <dgm:bulletEnabled val="1"/>
        </dgm:presLayoutVars>
      </dgm:prSet>
      <dgm:spPr/>
    </dgm:pt>
    <dgm:pt modelId="{E9848C25-2295-4480-85F2-CBAD45B98208}" type="pres">
      <dgm:prSet presAssocID="{7025DFA1-6A7F-4F04-8182-8BCF4C6A42A6}" presName="spacer" presStyleCnt="0"/>
      <dgm:spPr/>
    </dgm:pt>
    <dgm:pt modelId="{30A1D062-2672-469E-9A61-C7D76A4EE170}" type="pres">
      <dgm:prSet presAssocID="{50C26143-0574-4890-9B48-091988DDC3F7}" presName="parentText" presStyleLbl="node1" presStyleIdx="4" presStyleCnt="8">
        <dgm:presLayoutVars>
          <dgm:chMax val="0"/>
          <dgm:bulletEnabled val="1"/>
        </dgm:presLayoutVars>
      </dgm:prSet>
      <dgm:spPr/>
    </dgm:pt>
    <dgm:pt modelId="{5E534DA7-C403-413B-887D-5F7383EBE762}" type="pres">
      <dgm:prSet presAssocID="{E71F3BFC-988B-4B24-8C6C-D6E8EDE9DBFC}" presName="spacer" presStyleCnt="0"/>
      <dgm:spPr/>
    </dgm:pt>
    <dgm:pt modelId="{F9996B33-C47F-41B9-AE70-7F9F1FFE9612}" type="pres">
      <dgm:prSet presAssocID="{9E0309DC-4512-4A47-9588-71874C3D3A4A}" presName="parentText" presStyleLbl="node1" presStyleIdx="5" presStyleCnt="8">
        <dgm:presLayoutVars>
          <dgm:chMax val="0"/>
          <dgm:bulletEnabled val="1"/>
        </dgm:presLayoutVars>
      </dgm:prSet>
      <dgm:spPr/>
    </dgm:pt>
    <dgm:pt modelId="{FE2194BD-8185-4057-93CD-EA124F0BFAB8}" type="pres">
      <dgm:prSet presAssocID="{B2EED105-D4C1-4D71-A14A-EC362119F96A}" presName="spacer" presStyleCnt="0"/>
      <dgm:spPr/>
    </dgm:pt>
    <dgm:pt modelId="{2446A867-E949-450D-8DCB-120A3531448B}" type="pres">
      <dgm:prSet presAssocID="{A27AE847-9A5F-4740-9DF4-A4D27106A7EC}" presName="parentText" presStyleLbl="node1" presStyleIdx="6" presStyleCnt="8">
        <dgm:presLayoutVars>
          <dgm:chMax val="0"/>
          <dgm:bulletEnabled val="1"/>
        </dgm:presLayoutVars>
      </dgm:prSet>
      <dgm:spPr/>
    </dgm:pt>
    <dgm:pt modelId="{748DF52B-7868-4262-B662-D3D028B1404F}" type="pres">
      <dgm:prSet presAssocID="{4C21B613-E85B-46F4-A846-EFC42824127C}" presName="spacer" presStyleCnt="0"/>
      <dgm:spPr/>
    </dgm:pt>
    <dgm:pt modelId="{3E60F28C-5B7B-4664-AA65-5D29EAB6034B}" type="pres">
      <dgm:prSet presAssocID="{70A63A03-BFA8-49C7-A351-0F9A5803C035}" presName="parentText" presStyleLbl="node1" presStyleIdx="7" presStyleCnt="8">
        <dgm:presLayoutVars>
          <dgm:chMax val="0"/>
          <dgm:bulletEnabled val="1"/>
        </dgm:presLayoutVars>
      </dgm:prSet>
      <dgm:spPr/>
    </dgm:pt>
  </dgm:ptLst>
  <dgm:cxnLst>
    <dgm:cxn modelId="{B29EE109-4A64-4C94-AA65-0228194C675C}" type="presOf" srcId="{9E0309DC-4512-4A47-9588-71874C3D3A4A}" destId="{F9996B33-C47F-41B9-AE70-7F9F1FFE9612}" srcOrd="0" destOrd="0" presId="urn:microsoft.com/office/officeart/2005/8/layout/vList2"/>
    <dgm:cxn modelId="{3E89A919-A647-4433-B4A0-1168EED85D26}" type="presOf" srcId="{22ABD749-60D3-4351-BA8A-498A7F925534}" destId="{03712B26-A425-421C-BE3C-F8823CE98D16}" srcOrd="0" destOrd="0" presId="urn:microsoft.com/office/officeart/2005/8/layout/vList2"/>
    <dgm:cxn modelId="{675CB12D-B9AF-463B-89EF-1A09CAF20596}" type="presOf" srcId="{A52FD629-B813-4B22-BF87-CB2ABF63F74C}" destId="{FAB85CDD-1DFA-4683-89D8-0851C0383253}" srcOrd="0" destOrd="0" presId="urn:microsoft.com/office/officeart/2005/8/layout/vList2"/>
    <dgm:cxn modelId="{E32CFE30-0BEA-4924-B92B-C715DC8CA455}" type="presOf" srcId="{58222802-28CF-4161-896C-BC47012932F5}" destId="{E1E29959-60B4-4E5B-A22E-C1BC3F9D65BC}" srcOrd="0" destOrd="0" presId="urn:microsoft.com/office/officeart/2005/8/layout/vList2"/>
    <dgm:cxn modelId="{EE030036-9D01-4CF5-9802-BF041A481D83}" srcId="{BD46B2C3-9973-42A9-9341-1044E0223B43}" destId="{A52FD629-B813-4B22-BF87-CB2ABF63F74C}" srcOrd="1" destOrd="0" parTransId="{A5D9C995-3435-4E78-842F-DE3E87C730D9}" sibTransId="{E2956831-DFC8-4E54-B856-FE02C598C3DA}"/>
    <dgm:cxn modelId="{C6917C3B-97A4-4CC3-A1AE-EBFE4E2B5573}" type="presOf" srcId="{A27AE847-9A5F-4740-9DF4-A4D27106A7EC}" destId="{2446A867-E949-450D-8DCB-120A3531448B}" srcOrd="0" destOrd="0" presId="urn:microsoft.com/office/officeart/2005/8/layout/vList2"/>
    <dgm:cxn modelId="{7D97A03F-DE81-42BB-88C8-5C23118EC86D}" srcId="{BD46B2C3-9973-42A9-9341-1044E0223B43}" destId="{58222802-28CF-4161-896C-BC47012932F5}" srcOrd="2" destOrd="0" parTransId="{6713B1F5-69A3-473D-82A5-8C4D481F122D}" sibTransId="{55B75812-1B87-42A9-B48F-2D6E1E82BD7D}"/>
    <dgm:cxn modelId="{AE595071-B73F-4BA3-8353-26B8A0C7A14E}" type="presOf" srcId="{50C26143-0574-4890-9B48-091988DDC3F7}" destId="{30A1D062-2672-469E-9A61-C7D76A4EE170}" srcOrd="0" destOrd="0" presId="urn:microsoft.com/office/officeart/2005/8/layout/vList2"/>
    <dgm:cxn modelId="{F9E5A976-D044-4A62-8419-5EA581EAFC5E}" srcId="{BD46B2C3-9973-42A9-9341-1044E0223B43}" destId="{50C26143-0574-4890-9B48-091988DDC3F7}" srcOrd="4" destOrd="0" parTransId="{3C04C714-B94B-41A6-8D8B-440B669518BC}" sibTransId="{E71F3BFC-988B-4B24-8C6C-D6E8EDE9DBFC}"/>
    <dgm:cxn modelId="{FDB20959-3828-4073-9735-5A222C234149}" type="presOf" srcId="{70A63A03-BFA8-49C7-A351-0F9A5803C035}" destId="{3E60F28C-5B7B-4664-AA65-5D29EAB6034B}" srcOrd="0" destOrd="0" presId="urn:microsoft.com/office/officeart/2005/8/layout/vList2"/>
    <dgm:cxn modelId="{BAB8A78B-9833-47AA-884A-2374E602A2FB}" type="presOf" srcId="{B54D4CC5-F109-409B-9590-88550973FEAC}" destId="{072B4485-FB52-4EF1-B8AA-9A1B2280C43F}" srcOrd="0" destOrd="0" presId="urn:microsoft.com/office/officeart/2005/8/layout/vList2"/>
    <dgm:cxn modelId="{7BB4D2B2-5D39-476F-A3EF-9EEBF089C0DE}" srcId="{BD46B2C3-9973-42A9-9341-1044E0223B43}" destId="{70A63A03-BFA8-49C7-A351-0F9A5803C035}" srcOrd="7" destOrd="0" parTransId="{B31F970A-0417-415A-9677-DF7FAD755DE2}" sibTransId="{4262E800-C1B5-4D60-B83A-7BEA17DB9620}"/>
    <dgm:cxn modelId="{018183B8-256B-46B2-8A0C-74E83C791F30}" srcId="{BD46B2C3-9973-42A9-9341-1044E0223B43}" destId="{22ABD749-60D3-4351-BA8A-498A7F925534}" srcOrd="0" destOrd="0" parTransId="{E1FC6D1B-9DDD-4F57-B884-22D85F6CEEC5}" sibTransId="{C9066942-82B2-4D13-98E5-A33016A7EC0A}"/>
    <dgm:cxn modelId="{655E89BE-41D4-468E-BA8D-58D0838A0AF3}" srcId="{BD46B2C3-9973-42A9-9341-1044E0223B43}" destId="{9E0309DC-4512-4A47-9588-71874C3D3A4A}" srcOrd="5" destOrd="0" parTransId="{2C9682E8-4FBC-4EEC-9AE3-DE87B970C4BF}" sibTransId="{B2EED105-D4C1-4D71-A14A-EC362119F96A}"/>
    <dgm:cxn modelId="{3BE6B3C5-2E47-48BA-87B5-817C3816F27F}" type="presOf" srcId="{BD46B2C3-9973-42A9-9341-1044E0223B43}" destId="{E36EF472-9272-4B30-9585-971033B4449E}" srcOrd="0" destOrd="0" presId="urn:microsoft.com/office/officeart/2005/8/layout/vList2"/>
    <dgm:cxn modelId="{C073BDD7-5A2F-4F04-8A2D-DFC4709C5D46}" srcId="{BD46B2C3-9973-42A9-9341-1044E0223B43}" destId="{B54D4CC5-F109-409B-9590-88550973FEAC}" srcOrd="3" destOrd="0" parTransId="{A9183498-5142-43B2-A063-47BD1F8768BB}" sibTransId="{7025DFA1-6A7F-4F04-8182-8BCF4C6A42A6}"/>
    <dgm:cxn modelId="{B13A3BE9-CF44-4899-AC45-C9786BD28005}" srcId="{BD46B2C3-9973-42A9-9341-1044E0223B43}" destId="{A27AE847-9A5F-4740-9DF4-A4D27106A7EC}" srcOrd="6" destOrd="0" parTransId="{EE4C330A-C66B-48A9-9E0F-3B6CFCF2DF01}" sibTransId="{4C21B613-E85B-46F4-A846-EFC42824127C}"/>
    <dgm:cxn modelId="{76CF37C3-BB7B-437A-9E42-E1D37E241E28}" type="presParOf" srcId="{E36EF472-9272-4B30-9585-971033B4449E}" destId="{03712B26-A425-421C-BE3C-F8823CE98D16}" srcOrd="0" destOrd="0" presId="urn:microsoft.com/office/officeart/2005/8/layout/vList2"/>
    <dgm:cxn modelId="{31978C41-36B9-4855-A437-1F0A10860D74}" type="presParOf" srcId="{E36EF472-9272-4B30-9585-971033B4449E}" destId="{27DC690E-55A9-4D3A-85A8-B298D45842EE}" srcOrd="1" destOrd="0" presId="urn:microsoft.com/office/officeart/2005/8/layout/vList2"/>
    <dgm:cxn modelId="{85E15A80-6935-4FE8-A334-180B1C05B050}" type="presParOf" srcId="{E36EF472-9272-4B30-9585-971033B4449E}" destId="{FAB85CDD-1DFA-4683-89D8-0851C0383253}" srcOrd="2" destOrd="0" presId="urn:microsoft.com/office/officeart/2005/8/layout/vList2"/>
    <dgm:cxn modelId="{43DB10CD-9BBA-41FC-8190-213C6A13244F}" type="presParOf" srcId="{E36EF472-9272-4B30-9585-971033B4449E}" destId="{B3750720-59AF-42E9-8C47-BD72E551BF42}" srcOrd="3" destOrd="0" presId="urn:microsoft.com/office/officeart/2005/8/layout/vList2"/>
    <dgm:cxn modelId="{CB5AA5E6-A42E-4F20-B403-5B9B5A0B2ED3}" type="presParOf" srcId="{E36EF472-9272-4B30-9585-971033B4449E}" destId="{E1E29959-60B4-4E5B-A22E-C1BC3F9D65BC}" srcOrd="4" destOrd="0" presId="urn:microsoft.com/office/officeart/2005/8/layout/vList2"/>
    <dgm:cxn modelId="{7A48BCA3-423D-4489-8F57-ECA699A4F167}" type="presParOf" srcId="{E36EF472-9272-4B30-9585-971033B4449E}" destId="{5F9C7047-9025-403C-94E5-F70D4AC11A50}" srcOrd="5" destOrd="0" presId="urn:microsoft.com/office/officeart/2005/8/layout/vList2"/>
    <dgm:cxn modelId="{B747B999-2C77-4665-AE0A-590E83F7392E}" type="presParOf" srcId="{E36EF472-9272-4B30-9585-971033B4449E}" destId="{072B4485-FB52-4EF1-B8AA-9A1B2280C43F}" srcOrd="6" destOrd="0" presId="urn:microsoft.com/office/officeart/2005/8/layout/vList2"/>
    <dgm:cxn modelId="{3E05984A-1977-4820-9032-31C4A37E89DF}" type="presParOf" srcId="{E36EF472-9272-4B30-9585-971033B4449E}" destId="{E9848C25-2295-4480-85F2-CBAD45B98208}" srcOrd="7" destOrd="0" presId="urn:microsoft.com/office/officeart/2005/8/layout/vList2"/>
    <dgm:cxn modelId="{BC906FAE-5B33-4A0F-B471-7E531C89356A}" type="presParOf" srcId="{E36EF472-9272-4B30-9585-971033B4449E}" destId="{30A1D062-2672-469E-9A61-C7D76A4EE170}" srcOrd="8" destOrd="0" presId="urn:microsoft.com/office/officeart/2005/8/layout/vList2"/>
    <dgm:cxn modelId="{6324DA9D-5E2A-4F2E-84D1-EC8870FC255C}" type="presParOf" srcId="{E36EF472-9272-4B30-9585-971033B4449E}" destId="{5E534DA7-C403-413B-887D-5F7383EBE762}" srcOrd="9" destOrd="0" presId="urn:microsoft.com/office/officeart/2005/8/layout/vList2"/>
    <dgm:cxn modelId="{E6AF3054-8C1A-40FA-A46D-1767FA1B5003}" type="presParOf" srcId="{E36EF472-9272-4B30-9585-971033B4449E}" destId="{F9996B33-C47F-41B9-AE70-7F9F1FFE9612}" srcOrd="10" destOrd="0" presId="urn:microsoft.com/office/officeart/2005/8/layout/vList2"/>
    <dgm:cxn modelId="{EEEB1B6E-E10C-4E40-A4DF-9DF678A0DBFD}" type="presParOf" srcId="{E36EF472-9272-4B30-9585-971033B4449E}" destId="{FE2194BD-8185-4057-93CD-EA124F0BFAB8}" srcOrd="11" destOrd="0" presId="urn:microsoft.com/office/officeart/2005/8/layout/vList2"/>
    <dgm:cxn modelId="{8223CAE3-8006-4AD1-9175-2C59058AC0E7}" type="presParOf" srcId="{E36EF472-9272-4B30-9585-971033B4449E}" destId="{2446A867-E949-450D-8DCB-120A3531448B}" srcOrd="12" destOrd="0" presId="urn:microsoft.com/office/officeart/2005/8/layout/vList2"/>
    <dgm:cxn modelId="{95D7962E-80C8-4F82-BF22-48B9D7D19F6F}" type="presParOf" srcId="{E36EF472-9272-4B30-9585-971033B4449E}" destId="{748DF52B-7868-4262-B662-D3D028B1404F}" srcOrd="13" destOrd="0" presId="urn:microsoft.com/office/officeart/2005/8/layout/vList2"/>
    <dgm:cxn modelId="{ED6E046B-8D4B-4E86-AA12-A7323A3E0268}" type="presParOf" srcId="{E36EF472-9272-4B30-9585-971033B4449E}" destId="{3E60F28C-5B7B-4664-AA65-5D29EAB6034B}" srcOrd="14"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649A96-1B0A-4101-9317-5C5095A8AFA6}">
      <dsp:nvSpPr>
        <dsp:cNvPr id="0" name=""/>
        <dsp:cNvSpPr/>
      </dsp:nvSpPr>
      <dsp:spPr>
        <a:xfrm rot="16200000">
          <a:off x="-364694" y="365124"/>
          <a:ext cx="2363404" cy="1633154"/>
        </a:xfrm>
        <a:prstGeom prst="flowChartManualOperati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Input</a:t>
          </a:r>
        </a:p>
        <a:p>
          <a:pPr marL="0" lvl="0" indent="0" algn="l" defTabSz="533400">
            <a:lnSpc>
              <a:spcPct val="90000"/>
            </a:lnSpc>
            <a:spcBef>
              <a:spcPct val="0"/>
            </a:spcBef>
            <a:spcAft>
              <a:spcPct val="35000"/>
            </a:spcAft>
            <a:buNone/>
          </a:pPr>
          <a:r>
            <a:rPr lang="en-US" sz="900" kern="1200" dirty="0"/>
            <a:t>Design/Notification for -</a:t>
          </a:r>
          <a:endParaRPr lang="en-US" sz="900" b="1" kern="1200" dirty="0"/>
        </a:p>
        <a:p>
          <a:pPr marL="57150" lvl="1" indent="-57150" algn="l" defTabSz="400050">
            <a:lnSpc>
              <a:spcPct val="90000"/>
            </a:lnSpc>
            <a:spcBef>
              <a:spcPct val="0"/>
            </a:spcBef>
            <a:spcAft>
              <a:spcPct val="15000"/>
            </a:spcAft>
            <a:buChar char="•"/>
          </a:pPr>
          <a:r>
            <a:rPr lang="en-US" sz="900" kern="1200" dirty="0"/>
            <a:t>Network changes (ST/HT)</a:t>
          </a:r>
        </a:p>
        <a:p>
          <a:pPr marL="57150" lvl="1" indent="-57150" algn="l" defTabSz="400050">
            <a:lnSpc>
              <a:spcPct val="90000"/>
            </a:lnSpc>
            <a:spcBef>
              <a:spcPct val="0"/>
            </a:spcBef>
            <a:spcAft>
              <a:spcPct val="15000"/>
            </a:spcAft>
            <a:buChar char="•"/>
          </a:pPr>
          <a:r>
            <a:rPr lang="en-US" sz="900" kern="1200" dirty="0"/>
            <a:t>New Installation /Augmentation</a:t>
          </a:r>
        </a:p>
        <a:p>
          <a:pPr marL="57150" lvl="1" indent="-57150" algn="l" defTabSz="400050">
            <a:lnSpc>
              <a:spcPct val="90000"/>
            </a:lnSpc>
            <a:spcBef>
              <a:spcPct val="0"/>
            </a:spcBef>
            <a:spcAft>
              <a:spcPct val="15000"/>
            </a:spcAft>
            <a:buChar char="•"/>
          </a:pPr>
          <a:r>
            <a:rPr lang="en-US" sz="900" kern="1200" dirty="0"/>
            <a:t>Movement</a:t>
          </a:r>
        </a:p>
        <a:p>
          <a:pPr marL="57150" lvl="1" indent="-57150" algn="l" defTabSz="400050">
            <a:lnSpc>
              <a:spcPct val="90000"/>
            </a:lnSpc>
            <a:spcBef>
              <a:spcPct val="0"/>
            </a:spcBef>
            <a:spcAft>
              <a:spcPct val="15000"/>
            </a:spcAft>
            <a:buChar char="•"/>
          </a:pPr>
          <a:r>
            <a:rPr lang="en-US" sz="900" kern="1200" dirty="0"/>
            <a:t>Retirement</a:t>
          </a:r>
        </a:p>
        <a:p>
          <a:pPr marL="57150" lvl="1" indent="-57150" algn="l" defTabSz="400050">
            <a:lnSpc>
              <a:spcPct val="90000"/>
            </a:lnSpc>
            <a:spcBef>
              <a:spcPct val="0"/>
            </a:spcBef>
            <a:spcAft>
              <a:spcPct val="15000"/>
            </a:spcAft>
            <a:buChar char="•"/>
          </a:pPr>
          <a:r>
            <a:rPr lang="en-US" sz="900" kern="1200" dirty="0"/>
            <a:t>Scheme clearance requests</a:t>
          </a:r>
        </a:p>
      </dsp:txBody>
      <dsp:txXfrm rot="5400000">
        <a:off x="431" y="472680"/>
        <a:ext cx="1633154" cy="1418042"/>
      </dsp:txXfrm>
    </dsp:sp>
    <dsp:sp modelId="{60782ED9-A9F4-4FA9-A6DB-AB2B471C2B68}">
      <dsp:nvSpPr>
        <dsp:cNvPr id="0" name=""/>
        <dsp:cNvSpPr/>
      </dsp:nvSpPr>
      <dsp:spPr>
        <a:xfrm rot="16200000">
          <a:off x="1390946" y="365124"/>
          <a:ext cx="2363404" cy="1633154"/>
        </a:xfrm>
        <a:prstGeom prst="flowChartManualOperati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Processing in GIS</a:t>
          </a:r>
        </a:p>
        <a:p>
          <a:pPr marL="57150" lvl="1" indent="-57150" algn="l" defTabSz="400050">
            <a:lnSpc>
              <a:spcPct val="90000"/>
            </a:lnSpc>
            <a:spcBef>
              <a:spcPct val="0"/>
            </a:spcBef>
            <a:spcAft>
              <a:spcPct val="15000"/>
            </a:spcAft>
            <a:buChar char="•"/>
          </a:pPr>
          <a:r>
            <a:rPr lang="en-US" sz="900" kern="1200" dirty="0"/>
            <a:t>Geo-referenced mapping of Assets</a:t>
          </a:r>
        </a:p>
        <a:p>
          <a:pPr marL="57150" lvl="1" indent="-57150" algn="l" defTabSz="400050">
            <a:lnSpc>
              <a:spcPct val="90000"/>
            </a:lnSpc>
            <a:spcBef>
              <a:spcPct val="0"/>
            </a:spcBef>
            <a:spcAft>
              <a:spcPct val="15000"/>
            </a:spcAft>
            <a:buChar char="•"/>
          </a:pPr>
          <a:r>
            <a:rPr lang="en-US" sz="900" kern="1200" dirty="0"/>
            <a:t>Single Line Diagram Update</a:t>
          </a:r>
        </a:p>
        <a:p>
          <a:pPr marL="57150" lvl="1" indent="-57150" algn="l" defTabSz="400050">
            <a:lnSpc>
              <a:spcPct val="90000"/>
            </a:lnSpc>
            <a:spcBef>
              <a:spcPct val="0"/>
            </a:spcBef>
            <a:spcAft>
              <a:spcPct val="15000"/>
            </a:spcAft>
            <a:buChar char="•"/>
          </a:pPr>
          <a:r>
            <a:rPr lang="en-US" sz="900" kern="1200" dirty="0"/>
            <a:t>Tagging of Scheme</a:t>
          </a:r>
        </a:p>
      </dsp:txBody>
      <dsp:txXfrm rot="5400000">
        <a:off x="1756071" y="472680"/>
        <a:ext cx="1633154" cy="1418042"/>
      </dsp:txXfrm>
    </dsp:sp>
    <dsp:sp modelId="{C917D6C5-80FE-41BF-8FA5-EA3A9D1A86B0}">
      <dsp:nvSpPr>
        <dsp:cNvPr id="0" name=""/>
        <dsp:cNvSpPr/>
      </dsp:nvSpPr>
      <dsp:spPr>
        <a:xfrm rot="16200000">
          <a:off x="3302080" y="209631"/>
          <a:ext cx="2363404" cy="1944140"/>
        </a:xfrm>
        <a:prstGeom prst="flowChartManualOperati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Output</a:t>
          </a:r>
        </a:p>
        <a:p>
          <a:pPr marL="0" lvl="0" indent="0" algn="l" defTabSz="533400">
            <a:lnSpc>
              <a:spcPct val="90000"/>
            </a:lnSpc>
            <a:spcBef>
              <a:spcPct val="0"/>
            </a:spcBef>
            <a:spcAft>
              <a:spcPct val="35000"/>
            </a:spcAft>
            <a:buNone/>
          </a:pPr>
          <a:r>
            <a:rPr lang="en-US" sz="900" kern="1200" dirty="0"/>
            <a:t>Integration with SAP</a:t>
          </a:r>
          <a:endParaRPr lang="en-US" sz="1100" b="1" kern="1200" dirty="0"/>
        </a:p>
        <a:p>
          <a:pPr marL="57150" lvl="1" indent="-57150" algn="l" defTabSz="400050">
            <a:lnSpc>
              <a:spcPct val="90000"/>
            </a:lnSpc>
            <a:spcBef>
              <a:spcPct val="0"/>
            </a:spcBef>
            <a:spcAft>
              <a:spcPct val="15000"/>
            </a:spcAft>
            <a:buChar char="•"/>
          </a:pPr>
          <a:r>
            <a:rPr lang="en-US" sz="900" kern="1200" dirty="0"/>
            <a:t>Asset Equalization with GIS-SAP-FAR</a:t>
          </a:r>
        </a:p>
        <a:p>
          <a:pPr marL="57150" lvl="1" indent="-57150" algn="l" defTabSz="400050">
            <a:lnSpc>
              <a:spcPct val="90000"/>
            </a:lnSpc>
            <a:spcBef>
              <a:spcPct val="0"/>
            </a:spcBef>
            <a:spcAft>
              <a:spcPct val="15000"/>
            </a:spcAft>
            <a:buChar char="•"/>
          </a:pPr>
          <a:r>
            <a:rPr lang="en-US" sz="900" kern="1200" dirty="0"/>
            <a:t>Clearance for Technical completion of scheme</a:t>
          </a:r>
        </a:p>
        <a:p>
          <a:pPr marL="57150" lvl="1" indent="-57150" algn="l" defTabSz="400050">
            <a:lnSpc>
              <a:spcPct val="90000"/>
            </a:lnSpc>
            <a:spcBef>
              <a:spcPct val="0"/>
            </a:spcBef>
            <a:spcAft>
              <a:spcPct val="15000"/>
            </a:spcAft>
            <a:buChar char="•"/>
          </a:pPr>
          <a:r>
            <a:rPr lang="en-US" sz="900" kern="1200" dirty="0"/>
            <a:t>Integration with OMS -</a:t>
          </a:r>
        </a:p>
        <a:p>
          <a:pPr marL="57150" lvl="1" indent="-57150" algn="l" defTabSz="400050">
            <a:lnSpc>
              <a:spcPct val="90000"/>
            </a:lnSpc>
            <a:spcBef>
              <a:spcPct val="0"/>
            </a:spcBef>
            <a:spcAft>
              <a:spcPct val="15000"/>
            </a:spcAft>
            <a:buChar char="•"/>
          </a:pPr>
          <a:r>
            <a:rPr lang="en-US" sz="900" kern="1200" dirty="0"/>
            <a:t>Planned Outage</a:t>
          </a:r>
        </a:p>
        <a:p>
          <a:pPr marL="57150" lvl="1" indent="-57150" algn="l" defTabSz="400050">
            <a:lnSpc>
              <a:spcPct val="90000"/>
            </a:lnSpc>
            <a:spcBef>
              <a:spcPct val="0"/>
            </a:spcBef>
            <a:spcAft>
              <a:spcPct val="15000"/>
            </a:spcAft>
            <a:buChar char="•"/>
          </a:pPr>
          <a:r>
            <a:rPr lang="en-US" sz="900" kern="1200" dirty="0"/>
            <a:t>Complaint Management</a:t>
          </a:r>
        </a:p>
        <a:p>
          <a:pPr marL="57150" lvl="1" indent="-57150" algn="l" defTabSz="400050">
            <a:lnSpc>
              <a:spcPct val="90000"/>
            </a:lnSpc>
            <a:spcBef>
              <a:spcPct val="0"/>
            </a:spcBef>
            <a:spcAft>
              <a:spcPct val="15000"/>
            </a:spcAft>
            <a:buChar char="•"/>
          </a:pPr>
          <a:r>
            <a:rPr lang="en-US" sz="900" kern="1200" dirty="0"/>
            <a:t>Integration with DMS-</a:t>
          </a:r>
        </a:p>
        <a:p>
          <a:pPr marL="57150" lvl="1" indent="-57150" algn="l" defTabSz="400050">
            <a:lnSpc>
              <a:spcPct val="90000"/>
            </a:lnSpc>
            <a:spcBef>
              <a:spcPct val="0"/>
            </a:spcBef>
            <a:spcAft>
              <a:spcPct val="15000"/>
            </a:spcAft>
            <a:buChar char="•"/>
          </a:pPr>
          <a:r>
            <a:rPr lang="en-US" sz="900" kern="1200" dirty="0"/>
            <a:t>Geo-tagged SLD</a:t>
          </a:r>
        </a:p>
      </dsp:txBody>
      <dsp:txXfrm rot="5400000">
        <a:off x="3511712" y="472680"/>
        <a:ext cx="1944140" cy="14180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649A96-1B0A-4101-9317-5C5095A8AFA6}">
      <dsp:nvSpPr>
        <dsp:cNvPr id="0" name=""/>
        <dsp:cNvSpPr/>
      </dsp:nvSpPr>
      <dsp:spPr>
        <a:xfrm rot="16200000">
          <a:off x="-364694" y="365124"/>
          <a:ext cx="2363404" cy="1633154"/>
        </a:xfrm>
        <a:prstGeom prst="flowChartManualOperation">
          <a:avLst/>
        </a:prstGeom>
        <a:solidFill>
          <a:srgbClr val="004F5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Input</a:t>
          </a:r>
        </a:p>
        <a:p>
          <a:pPr marL="0" lvl="0" indent="0" algn="l" defTabSz="533400">
            <a:lnSpc>
              <a:spcPct val="90000"/>
            </a:lnSpc>
            <a:spcBef>
              <a:spcPct val="0"/>
            </a:spcBef>
            <a:spcAft>
              <a:spcPct val="35000"/>
            </a:spcAft>
            <a:buNone/>
          </a:pPr>
          <a:endParaRPr lang="en-US" sz="900" b="1" kern="1200" dirty="0"/>
        </a:p>
        <a:p>
          <a:pPr marL="57150" lvl="1" indent="-57150" algn="l" defTabSz="400050">
            <a:lnSpc>
              <a:spcPct val="90000"/>
            </a:lnSpc>
            <a:spcBef>
              <a:spcPct val="0"/>
            </a:spcBef>
            <a:spcAft>
              <a:spcPct val="15000"/>
            </a:spcAft>
            <a:buChar char="•"/>
          </a:pPr>
          <a:r>
            <a:rPr lang="en-US" sz="900" kern="1200" dirty="0"/>
            <a:t>Pole No. from Meter Management Group</a:t>
          </a:r>
        </a:p>
        <a:p>
          <a:pPr marL="57150" lvl="1" indent="-57150" algn="l" defTabSz="400050">
            <a:lnSpc>
              <a:spcPct val="90000"/>
            </a:lnSpc>
            <a:spcBef>
              <a:spcPct val="0"/>
            </a:spcBef>
            <a:spcAft>
              <a:spcPct val="15000"/>
            </a:spcAft>
            <a:buChar char="•"/>
          </a:pPr>
          <a:endParaRPr lang="en-US" sz="900" kern="1200" dirty="0"/>
        </a:p>
      </dsp:txBody>
      <dsp:txXfrm rot="5400000">
        <a:off x="431" y="472680"/>
        <a:ext cx="1633154" cy="1418042"/>
      </dsp:txXfrm>
    </dsp:sp>
    <dsp:sp modelId="{60782ED9-A9F4-4FA9-A6DB-AB2B471C2B68}">
      <dsp:nvSpPr>
        <dsp:cNvPr id="0" name=""/>
        <dsp:cNvSpPr/>
      </dsp:nvSpPr>
      <dsp:spPr>
        <a:xfrm rot="16200000">
          <a:off x="1390946" y="365124"/>
          <a:ext cx="2363404" cy="1633154"/>
        </a:xfrm>
        <a:prstGeom prst="flowChartManualOperation">
          <a:avLst/>
        </a:prstGeom>
        <a:solidFill>
          <a:srgbClr val="6FC2B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Processing in GIS</a:t>
          </a:r>
        </a:p>
        <a:p>
          <a:pPr marL="57150" lvl="1" indent="-57150" algn="l" defTabSz="400050">
            <a:lnSpc>
              <a:spcPct val="90000"/>
            </a:lnSpc>
            <a:spcBef>
              <a:spcPct val="0"/>
            </a:spcBef>
            <a:spcAft>
              <a:spcPct val="15000"/>
            </a:spcAft>
            <a:buChar char="•"/>
          </a:pPr>
          <a:r>
            <a:rPr lang="en-US" sz="900" kern="1200" dirty="0"/>
            <a:t>Consumer Mapping in GIS</a:t>
          </a:r>
        </a:p>
        <a:p>
          <a:pPr marL="57150" lvl="1" indent="-57150" algn="l" defTabSz="400050">
            <a:lnSpc>
              <a:spcPct val="90000"/>
            </a:lnSpc>
            <a:spcBef>
              <a:spcPct val="0"/>
            </a:spcBef>
            <a:spcAft>
              <a:spcPct val="15000"/>
            </a:spcAft>
            <a:buChar char="•"/>
          </a:pPr>
          <a:r>
            <a:rPr lang="en-US" sz="900" kern="1200" dirty="0"/>
            <a:t>Connectivity of consumer with - </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LT Feeder</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Transformer</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HT Feeder</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ST Feeder</a:t>
          </a:r>
        </a:p>
      </dsp:txBody>
      <dsp:txXfrm rot="5400000">
        <a:off x="1756071" y="472680"/>
        <a:ext cx="1633154" cy="1418042"/>
      </dsp:txXfrm>
    </dsp:sp>
    <dsp:sp modelId="{C917D6C5-80FE-41BF-8FA5-EA3A9D1A86B0}">
      <dsp:nvSpPr>
        <dsp:cNvPr id="0" name=""/>
        <dsp:cNvSpPr/>
      </dsp:nvSpPr>
      <dsp:spPr>
        <a:xfrm rot="16200000">
          <a:off x="3302080" y="209631"/>
          <a:ext cx="2363404" cy="1944140"/>
        </a:xfrm>
        <a:prstGeom prst="flowChartManualOperation">
          <a:avLst/>
        </a:prstGeom>
        <a:solidFill>
          <a:srgbClr val="004F5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Output</a:t>
          </a:r>
        </a:p>
        <a:p>
          <a:pPr marL="0" lvl="0" indent="0" algn="l" defTabSz="533400">
            <a:lnSpc>
              <a:spcPct val="90000"/>
            </a:lnSpc>
            <a:spcBef>
              <a:spcPct val="0"/>
            </a:spcBef>
            <a:spcAft>
              <a:spcPct val="35000"/>
            </a:spcAft>
            <a:buNone/>
          </a:pPr>
          <a:endParaRPr lang="en-US" sz="1100" b="1" kern="1200" dirty="0"/>
        </a:p>
        <a:p>
          <a:pPr marL="57150" lvl="1" indent="-57150" algn="l" defTabSz="400050">
            <a:lnSpc>
              <a:spcPct val="90000"/>
            </a:lnSpc>
            <a:spcBef>
              <a:spcPct val="0"/>
            </a:spcBef>
            <a:spcAft>
              <a:spcPct val="15000"/>
            </a:spcAft>
            <a:buChar char="•"/>
          </a:pPr>
          <a:r>
            <a:rPr lang="en-US" sz="900" kern="1200"/>
            <a:t>Integration with SAP -</a:t>
          </a:r>
          <a:endParaRPr lang="en-US" sz="900" kern="1200" dirty="0"/>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Energy auditing</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Revenue Protection</a:t>
          </a:r>
        </a:p>
        <a:p>
          <a:pPr marL="57150" lvl="1" indent="-57150" algn="l" defTabSz="400050">
            <a:lnSpc>
              <a:spcPct val="90000"/>
            </a:lnSpc>
            <a:spcBef>
              <a:spcPct val="0"/>
            </a:spcBef>
            <a:spcAft>
              <a:spcPct val="15000"/>
            </a:spcAft>
            <a:buChar char="•"/>
          </a:pPr>
          <a:r>
            <a:rPr lang="en-US" sz="900" kern="1200" dirty="0"/>
            <a:t>Integration with OMS -</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List of affected consumers</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Location of affected consumers</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Crew management</a:t>
          </a:r>
        </a:p>
      </dsp:txBody>
      <dsp:txXfrm rot="5400000">
        <a:off x="3511712" y="472680"/>
        <a:ext cx="1944140" cy="14180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649A96-1B0A-4101-9317-5C5095A8AFA6}">
      <dsp:nvSpPr>
        <dsp:cNvPr id="0" name=""/>
        <dsp:cNvSpPr/>
      </dsp:nvSpPr>
      <dsp:spPr>
        <a:xfrm rot="16200000">
          <a:off x="-364694" y="365124"/>
          <a:ext cx="2363404" cy="1633154"/>
        </a:xfrm>
        <a:prstGeom prst="flowChartManualOperation">
          <a:avLst/>
        </a:prstGeom>
        <a:solidFill>
          <a:srgbClr val="86BC2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Input</a:t>
          </a:r>
        </a:p>
        <a:p>
          <a:pPr marL="0" lvl="0" indent="0" algn="l" defTabSz="533400">
            <a:lnSpc>
              <a:spcPct val="90000"/>
            </a:lnSpc>
            <a:spcBef>
              <a:spcPct val="0"/>
            </a:spcBef>
            <a:spcAft>
              <a:spcPct val="35000"/>
            </a:spcAft>
            <a:buNone/>
          </a:pPr>
          <a:endParaRPr lang="en-US" sz="900" b="1" kern="1200" dirty="0"/>
        </a:p>
        <a:p>
          <a:pPr marL="57150" lvl="1" indent="-57150" algn="l" defTabSz="400050">
            <a:lnSpc>
              <a:spcPct val="90000"/>
            </a:lnSpc>
            <a:spcBef>
              <a:spcPct val="0"/>
            </a:spcBef>
            <a:spcAft>
              <a:spcPct val="15000"/>
            </a:spcAft>
            <a:buChar char="•"/>
          </a:pPr>
          <a:r>
            <a:rPr lang="en-US" sz="900" kern="1200" dirty="0"/>
            <a:t>Network details through notification</a:t>
          </a:r>
        </a:p>
        <a:p>
          <a:pPr marL="57150" lvl="1" indent="-57150" algn="l" defTabSz="400050">
            <a:lnSpc>
              <a:spcPct val="90000"/>
            </a:lnSpc>
            <a:spcBef>
              <a:spcPct val="0"/>
            </a:spcBef>
            <a:spcAft>
              <a:spcPct val="15000"/>
            </a:spcAft>
            <a:buChar char="•"/>
          </a:pPr>
          <a:r>
            <a:rPr lang="en-US" sz="900" kern="1200" dirty="0"/>
            <a:t>Consumer linkage with Pole No.</a:t>
          </a:r>
        </a:p>
        <a:p>
          <a:pPr marL="57150" lvl="1" indent="-57150" algn="l" defTabSz="400050">
            <a:lnSpc>
              <a:spcPct val="90000"/>
            </a:lnSpc>
            <a:spcBef>
              <a:spcPct val="0"/>
            </a:spcBef>
            <a:spcAft>
              <a:spcPct val="15000"/>
            </a:spcAft>
            <a:buChar char="•"/>
          </a:pPr>
          <a:r>
            <a:rPr lang="en-US" sz="900" kern="1200" dirty="0"/>
            <a:t>LT network intimation</a:t>
          </a:r>
        </a:p>
        <a:p>
          <a:pPr marL="57150" lvl="1" indent="-57150" algn="l" defTabSz="400050">
            <a:lnSpc>
              <a:spcPct val="90000"/>
            </a:lnSpc>
            <a:spcBef>
              <a:spcPct val="0"/>
            </a:spcBef>
            <a:spcAft>
              <a:spcPct val="15000"/>
            </a:spcAft>
            <a:buChar char="•"/>
          </a:pPr>
          <a:r>
            <a:rPr lang="en-US" sz="900" kern="1200" dirty="0"/>
            <a:t>OMS notification</a:t>
          </a:r>
        </a:p>
      </dsp:txBody>
      <dsp:txXfrm rot="5400000">
        <a:off x="431" y="472680"/>
        <a:ext cx="1633154" cy="1418042"/>
      </dsp:txXfrm>
    </dsp:sp>
    <dsp:sp modelId="{60782ED9-A9F4-4FA9-A6DB-AB2B471C2B68}">
      <dsp:nvSpPr>
        <dsp:cNvPr id="0" name=""/>
        <dsp:cNvSpPr/>
      </dsp:nvSpPr>
      <dsp:spPr>
        <a:xfrm rot="16200000">
          <a:off x="1390946" y="365124"/>
          <a:ext cx="2363404" cy="1633154"/>
        </a:xfrm>
        <a:prstGeom prst="flowChartManualOperation">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Processing in GIS</a:t>
          </a:r>
        </a:p>
        <a:p>
          <a:pPr marL="57150" lvl="1" indent="-57150" algn="l" defTabSz="400050">
            <a:lnSpc>
              <a:spcPct val="90000"/>
            </a:lnSpc>
            <a:spcBef>
              <a:spcPct val="0"/>
            </a:spcBef>
            <a:spcAft>
              <a:spcPct val="15000"/>
            </a:spcAft>
            <a:buChar char="•"/>
          </a:pPr>
          <a:r>
            <a:rPr lang="en-US" sz="900" kern="1200" dirty="0"/>
            <a:t>Geo-referenced mapping of Assets and network</a:t>
          </a:r>
        </a:p>
        <a:p>
          <a:pPr marL="57150" lvl="1" indent="-57150" algn="l" defTabSz="400050">
            <a:lnSpc>
              <a:spcPct val="90000"/>
            </a:lnSpc>
            <a:spcBef>
              <a:spcPct val="0"/>
            </a:spcBef>
            <a:spcAft>
              <a:spcPct val="15000"/>
            </a:spcAft>
            <a:buChar char="•"/>
          </a:pPr>
          <a:r>
            <a:rPr lang="en-US" sz="900" kern="1200" dirty="0"/>
            <a:t>Mapping of consumers.</a:t>
          </a:r>
        </a:p>
        <a:p>
          <a:pPr marL="57150" lvl="1" indent="-57150" algn="l" defTabSz="400050">
            <a:lnSpc>
              <a:spcPct val="90000"/>
            </a:lnSpc>
            <a:spcBef>
              <a:spcPct val="0"/>
            </a:spcBef>
            <a:spcAft>
              <a:spcPct val="15000"/>
            </a:spcAft>
            <a:buChar char="•"/>
          </a:pPr>
          <a:r>
            <a:rPr lang="en-US" sz="900" kern="1200" dirty="0"/>
            <a:t>Data Merging and Creation of Circuit id</a:t>
          </a:r>
        </a:p>
      </dsp:txBody>
      <dsp:txXfrm rot="5400000">
        <a:off x="1756071" y="472680"/>
        <a:ext cx="1633154" cy="1418042"/>
      </dsp:txXfrm>
    </dsp:sp>
    <dsp:sp modelId="{C917D6C5-80FE-41BF-8FA5-EA3A9D1A86B0}">
      <dsp:nvSpPr>
        <dsp:cNvPr id="0" name=""/>
        <dsp:cNvSpPr/>
      </dsp:nvSpPr>
      <dsp:spPr>
        <a:xfrm rot="16200000">
          <a:off x="3302080" y="209631"/>
          <a:ext cx="2363404" cy="1944140"/>
        </a:xfrm>
        <a:prstGeom prst="flowChartManualOperation">
          <a:avLst/>
        </a:prstGeom>
        <a:solidFill>
          <a:srgbClr val="86BC2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Output</a:t>
          </a:r>
        </a:p>
        <a:p>
          <a:pPr marL="0" lvl="0" indent="0" algn="l" defTabSz="533400">
            <a:lnSpc>
              <a:spcPct val="90000"/>
            </a:lnSpc>
            <a:spcBef>
              <a:spcPct val="0"/>
            </a:spcBef>
            <a:spcAft>
              <a:spcPct val="35000"/>
            </a:spcAft>
            <a:buNone/>
          </a:pPr>
          <a:endParaRPr lang="en-US" sz="1100" b="1" kern="1200" dirty="0"/>
        </a:p>
        <a:p>
          <a:pPr marL="57150" lvl="1" indent="-57150" algn="l" defTabSz="400050">
            <a:lnSpc>
              <a:spcPct val="90000"/>
            </a:lnSpc>
            <a:spcBef>
              <a:spcPct val="0"/>
            </a:spcBef>
            <a:spcAft>
              <a:spcPct val="15000"/>
            </a:spcAft>
            <a:buChar char="•"/>
          </a:pPr>
          <a:r>
            <a:rPr lang="en-US" sz="900" kern="1200" dirty="0"/>
            <a:t>Delivery of updated GIS for operation.</a:t>
          </a:r>
        </a:p>
      </dsp:txBody>
      <dsp:txXfrm rot="5400000">
        <a:off x="3511712" y="472680"/>
        <a:ext cx="1944140" cy="14180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649A96-1B0A-4101-9317-5C5095A8AFA6}">
      <dsp:nvSpPr>
        <dsp:cNvPr id="0" name=""/>
        <dsp:cNvSpPr/>
      </dsp:nvSpPr>
      <dsp:spPr>
        <a:xfrm rot="16200000">
          <a:off x="-364694" y="365124"/>
          <a:ext cx="2363404" cy="1633154"/>
        </a:xfrm>
        <a:prstGeom prst="flowChartManualOperati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Input</a:t>
          </a:r>
        </a:p>
        <a:p>
          <a:pPr marL="0" lvl="0" indent="0" algn="l" defTabSz="533400">
            <a:lnSpc>
              <a:spcPct val="90000"/>
            </a:lnSpc>
            <a:spcBef>
              <a:spcPct val="0"/>
            </a:spcBef>
            <a:spcAft>
              <a:spcPct val="35000"/>
            </a:spcAft>
            <a:buNone/>
          </a:pPr>
          <a:endParaRPr lang="en-US" sz="900" b="1" kern="1200" dirty="0"/>
        </a:p>
        <a:p>
          <a:pPr marL="57150" lvl="1" indent="-57150" algn="l" defTabSz="400050">
            <a:lnSpc>
              <a:spcPct val="90000"/>
            </a:lnSpc>
            <a:spcBef>
              <a:spcPct val="0"/>
            </a:spcBef>
            <a:spcAft>
              <a:spcPct val="15000"/>
            </a:spcAft>
            <a:buChar char="•"/>
          </a:pPr>
          <a:r>
            <a:rPr lang="en-US" sz="900" kern="1200" dirty="0"/>
            <a:t>Network changes due to -</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Load Balancing</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Network Extension</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Network Augmentation</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New Electrification</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Network Shifting</a:t>
          </a:r>
        </a:p>
        <a:p>
          <a:pPr marL="57150" lvl="1" indent="-57150" algn="l" defTabSz="400050">
            <a:lnSpc>
              <a:spcPct val="90000"/>
            </a:lnSpc>
            <a:spcBef>
              <a:spcPct val="0"/>
            </a:spcBef>
            <a:spcAft>
              <a:spcPct val="15000"/>
            </a:spcAft>
            <a:buChar char="•"/>
          </a:pPr>
          <a:endParaRPr lang="en-US" sz="900" kern="1200" dirty="0"/>
        </a:p>
      </dsp:txBody>
      <dsp:txXfrm rot="5400000">
        <a:off x="431" y="472680"/>
        <a:ext cx="1633154" cy="1418042"/>
      </dsp:txXfrm>
    </dsp:sp>
    <dsp:sp modelId="{60782ED9-A9F4-4FA9-A6DB-AB2B471C2B68}">
      <dsp:nvSpPr>
        <dsp:cNvPr id="0" name=""/>
        <dsp:cNvSpPr/>
      </dsp:nvSpPr>
      <dsp:spPr>
        <a:xfrm rot="16200000">
          <a:off x="1390946" y="365124"/>
          <a:ext cx="2363404" cy="1633154"/>
        </a:xfrm>
        <a:prstGeom prst="flowChartManualOperation">
          <a:avLst/>
        </a:prstGeom>
        <a:solidFill>
          <a:srgbClr val="0097A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Processing in GIS</a:t>
          </a:r>
        </a:p>
        <a:p>
          <a:pPr marL="57150" lvl="1" indent="-57150" algn="l" defTabSz="400050">
            <a:lnSpc>
              <a:spcPct val="90000"/>
            </a:lnSpc>
            <a:spcBef>
              <a:spcPct val="0"/>
            </a:spcBef>
            <a:spcAft>
              <a:spcPct val="15000"/>
            </a:spcAft>
            <a:buChar char="•"/>
          </a:pPr>
          <a:r>
            <a:rPr lang="en-US" sz="900" kern="1200" dirty="0"/>
            <a:t>Geo-referenced digitization of -</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Revised network route</a:t>
          </a:r>
        </a:p>
        <a:p>
          <a:pPr marL="57150" lvl="1" indent="-57150" algn="l" defTabSz="400050">
            <a:lnSpc>
              <a:spcPct val="90000"/>
            </a:lnSpc>
            <a:spcBef>
              <a:spcPct val="0"/>
            </a:spcBef>
            <a:spcAft>
              <a:spcPct val="15000"/>
            </a:spcAft>
            <a:buFont typeface="Wingdings" panose="05000000000000000000" pitchFamily="2" charset="2"/>
            <a:buChar char="ü"/>
          </a:pPr>
          <a:r>
            <a:rPr lang="en-US" sz="900" kern="1200" dirty="0"/>
            <a:t>Revised network connectivity</a:t>
          </a:r>
        </a:p>
      </dsp:txBody>
      <dsp:txXfrm rot="5400000">
        <a:off x="1756071" y="472680"/>
        <a:ext cx="1633154" cy="1418042"/>
      </dsp:txXfrm>
    </dsp:sp>
    <dsp:sp modelId="{C917D6C5-80FE-41BF-8FA5-EA3A9D1A86B0}">
      <dsp:nvSpPr>
        <dsp:cNvPr id="0" name=""/>
        <dsp:cNvSpPr/>
      </dsp:nvSpPr>
      <dsp:spPr>
        <a:xfrm rot="16200000">
          <a:off x="3302080" y="209631"/>
          <a:ext cx="2363404" cy="1944140"/>
        </a:xfrm>
        <a:prstGeom prst="flowChartManualOperati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t" anchorCtr="0">
          <a:noAutofit/>
        </a:bodyPr>
        <a:lstStyle/>
        <a:p>
          <a:pPr marL="0" lvl="0" indent="0" algn="l" defTabSz="533400">
            <a:lnSpc>
              <a:spcPct val="90000"/>
            </a:lnSpc>
            <a:spcBef>
              <a:spcPct val="0"/>
            </a:spcBef>
            <a:spcAft>
              <a:spcPct val="35000"/>
            </a:spcAft>
            <a:buNone/>
          </a:pPr>
          <a:r>
            <a:rPr lang="en-US" sz="1200" b="1" kern="1200" dirty="0"/>
            <a:t>Output</a:t>
          </a:r>
        </a:p>
        <a:p>
          <a:pPr marL="0" lvl="0" indent="0" algn="l" defTabSz="533400">
            <a:lnSpc>
              <a:spcPct val="90000"/>
            </a:lnSpc>
            <a:spcBef>
              <a:spcPct val="0"/>
            </a:spcBef>
            <a:spcAft>
              <a:spcPct val="35000"/>
            </a:spcAft>
            <a:buNone/>
          </a:pPr>
          <a:endParaRPr lang="en-US" sz="1100" b="1" kern="1200" dirty="0"/>
        </a:p>
        <a:p>
          <a:pPr marL="57150" lvl="1" indent="-57150" algn="l" defTabSz="400050">
            <a:lnSpc>
              <a:spcPct val="90000"/>
            </a:lnSpc>
            <a:spcBef>
              <a:spcPct val="0"/>
            </a:spcBef>
            <a:spcAft>
              <a:spcPct val="15000"/>
            </a:spcAft>
            <a:buChar char="•"/>
          </a:pPr>
          <a:r>
            <a:rPr lang="en-US" sz="900" kern="1200" dirty="0"/>
            <a:t>Integration with Network Planning tool (CYMDIST)</a:t>
          </a:r>
        </a:p>
        <a:p>
          <a:pPr marL="57150" lvl="1" indent="-57150" algn="l" defTabSz="400050">
            <a:lnSpc>
              <a:spcPct val="90000"/>
            </a:lnSpc>
            <a:spcBef>
              <a:spcPct val="0"/>
            </a:spcBef>
            <a:spcAft>
              <a:spcPct val="15000"/>
            </a:spcAft>
            <a:buChar char="•"/>
          </a:pPr>
          <a:r>
            <a:rPr lang="en-US" sz="900" kern="1200" dirty="0"/>
            <a:t>GIS based Network Planning</a:t>
          </a:r>
        </a:p>
      </dsp:txBody>
      <dsp:txXfrm rot="5400000">
        <a:off x="3511712" y="472680"/>
        <a:ext cx="1944140" cy="14180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1B47B-B3BA-4072-8670-9D7CF18D5419}">
      <dsp:nvSpPr>
        <dsp:cNvPr id="0" name=""/>
        <dsp:cNvSpPr/>
      </dsp:nvSpPr>
      <dsp:spPr>
        <a:xfrm>
          <a:off x="-5070733" y="-776833"/>
          <a:ext cx="6038742" cy="6038742"/>
        </a:xfrm>
        <a:prstGeom prst="blockArc">
          <a:avLst>
            <a:gd name="adj1" fmla="val 18900000"/>
            <a:gd name="adj2" fmla="val 2700000"/>
            <a:gd name="adj3" fmla="val 358"/>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22949B-305B-4BC2-A0AF-92F8F04097E1}">
      <dsp:nvSpPr>
        <dsp:cNvPr id="0" name=""/>
        <dsp:cNvSpPr/>
      </dsp:nvSpPr>
      <dsp:spPr>
        <a:xfrm>
          <a:off x="506870" y="344812"/>
          <a:ext cx="4528156" cy="68998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7675" tIns="30480" rIns="30480" bIns="30480" numCol="1" spcCol="1270" anchor="ctr" anchorCtr="0">
          <a:noAutofit/>
        </a:bodyPr>
        <a:lstStyle/>
        <a:p>
          <a:pPr marL="0" lvl="0" indent="0" algn="l" defTabSz="533400">
            <a:lnSpc>
              <a:spcPct val="90000"/>
            </a:lnSpc>
            <a:spcBef>
              <a:spcPct val="0"/>
            </a:spcBef>
            <a:spcAft>
              <a:spcPct val="35000"/>
            </a:spcAft>
            <a:buNone/>
          </a:pPr>
          <a:r>
            <a:rPr lang="en-US" sz="1200" b="0" i="0" kern="1200"/>
            <a:t>Mapping of all assets (66kV/33KV/11KV, LT) including HT &amp; LT network entities upto poles &amp; major landmarks.</a:t>
          </a:r>
          <a:endParaRPr lang="en-US" sz="1200" kern="1200" dirty="0"/>
        </a:p>
      </dsp:txBody>
      <dsp:txXfrm>
        <a:off x="506870" y="344812"/>
        <a:ext cx="4528156" cy="689984"/>
      </dsp:txXfrm>
    </dsp:sp>
    <dsp:sp modelId="{EF9D7ABA-0AD6-4B0A-96B8-A42D03A150EA}">
      <dsp:nvSpPr>
        <dsp:cNvPr id="0" name=""/>
        <dsp:cNvSpPr/>
      </dsp:nvSpPr>
      <dsp:spPr>
        <a:xfrm>
          <a:off x="75630" y="258564"/>
          <a:ext cx="862480" cy="862480"/>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DC012D-7193-42A1-9015-94A19CA732BF}">
      <dsp:nvSpPr>
        <dsp:cNvPr id="0" name=""/>
        <dsp:cNvSpPr/>
      </dsp:nvSpPr>
      <dsp:spPr>
        <a:xfrm>
          <a:off x="902454" y="1379968"/>
          <a:ext cx="4132572" cy="689984"/>
        </a:xfrm>
        <a:prstGeom prst="rect">
          <a:avLst/>
        </a:prstGeom>
        <a:solidFill>
          <a:schemeClr val="accent4">
            <a:hueOff val="707181"/>
            <a:satOff val="-3099"/>
            <a:lumOff val="30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7675" tIns="30480" rIns="30480" bIns="30480" numCol="1" spcCol="1270" anchor="ctr" anchorCtr="0">
          <a:noAutofit/>
        </a:bodyPr>
        <a:lstStyle/>
        <a:p>
          <a:pPr marL="0" lvl="0" indent="0" algn="l" defTabSz="533400">
            <a:lnSpc>
              <a:spcPct val="90000"/>
            </a:lnSpc>
            <a:spcBef>
              <a:spcPct val="0"/>
            </a:spcBef>
            <a:spcAft>
              <a:spcPct val="35000"/>
            </a:spcAft>
            <a:buNone/>
          </a:pPr>
          <a:r>
            <a:rPr lang="en-US" sz="1200" b="0" i="0" kern="1200" dirty="0"/>
            <a:t>Collection of consumers attributes through door-to-door survey and indexing with network assets.</a:t>
          </a:r>
        </a:p>
      </dsp:txBody>
      <dsp:txXfrm>
        <a:off x="902454" y="1379968"/>
        <a:ext cx="4132572" cy="689984"/>
      </dsp:txXfrm>
    </dsp:sp>
    <dsp:sp modelId="{8A42DB8B-1148-4718-90A0-45E585363C17}">
      <dsp:nvSpPr>
        <dsp:cNvPr id="0" name=""/>
        <dsp:cNvSpPr/>
      </dsp:nvSpPr>
      <dsp:spPr>
        <a:xfrm>
          <a:off x="471214" y="1293720"/>
          <a:ext cx="862480" cy="862480"/>
        </a:xfrm>
        <a:prstGeom prst="ellipse">
          <a:avLst/>
        </a:prstGeom>
        <a:solidFill>
          <a:schemeClr val="lt1">
            <a:hueOff val="0"/>
            <a:satOff val="0"/>
            <a:lumOff val="0"/>
            <a:alphaOff val="0"/>
          </a:schemeClr>
        </a:solidFill>
        <a:ln w="25400" cap="flat" cmpd="sng" algn="ctr">
          <a:solidFill>
            <a:schemeClr val="accent4">
              <a:hueOff val="707181"/>
              <a:satOff val="-3099"/>
              <a:lumOff val="3072"/>
              <a:alphaOff val="0"/>
            </a:schemeClr>
          </a:solidFill>
          <a:prstDash val="solid"/>
        </a:ln>
        <a:effectLst/>
      </dsp:spPr>
      <dsp:style>
        <a:lnRef idx="2">
          <a:scrgbClr r="0" g="0" b="0"/>
        </a:lnRef>
        <a:fillRef idx="1">
          <a:scrgbClr r="0" g="0" b="0"/>
        </a:fillRef>
        <a:effectRef idx="0">
          <a:scrgbClr r="0" g="0" b="0"/>
        </a:effectRef>
        <a:fontRef idx="minor"/>
      </dsp:style>
    </dsp:sp>
    <dsp:sp modelId="{A92618A8-6545-4ACE-986C-A37EBBEA6DD3}">
      <dsp:nvSpPr>
        <dsp:cNvPr id="0" name=""/>
        <dsp:cNvSpPr/>
      </dsp:nvSpPr>
      <dsp:spPr>
        <a:xfrm>
          <a:off x="902454" y="2415123"/>
          <a:ext cx="4132572" cy="689984"/>
        </a:xfrm>
        <a:prstGeom prst="rect">
          <a:avLst/>
        </a:prstGeom>
        <a:solidFill>
          <a:schemeClr val="accent4">
            <a:hueOff val="1414363"/>
            <a:satOff val="-6197"/>
            <a:lumOff val="6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7675" tIns="30480" rIns="30480" bIns="30480" numCol="1" spcCol="1270" anchor="ctr" anchorCtr="0">
          <a:noAutofit/>
        </a:bodyPr>
        <a:lstStyle/>
        <a:p>
          <a:pPr marL="0" lvl="0" indent="0" algn="l" defTabSz="533400">
            <a:lnSpc>
              <a:spcPct val="90000"/>
            </a:lnSpc>
            <a:spcBef>
              <a:spcPct val="0"/>
            </a:spcBef>
            <a:spcAft>
              <a:spcPct val="35000"/>
            </a:spcAft>
            <a:buNone/>
          </a:pPr>
          <a:r>
            <a:rPr lang="en-US" sz="1200" b="0" i="0" kern="1200" dirty="0"/>
            <a:t>Overlaying of digitized electrical network &amp; consumers on the base map with area features and attributes using SW for GIS application.</a:t>
          </a:r>
        </a:p>
      </dsp:txBody>
      <dsp:txXfrm>
        <a:off x="902454" y="2415123"/>
        <a:ext cx="4132572" cy="689984"/>
      </dsp:txXfrm>
    </dsp:sp>
    <dsp:sp modelId="{AAE0C338-177F-45F9-9585-0B804D7941EA}">
      <dsp:nvSpPr>
        <dsp:cNvPr id="0" name=""/>
        <dsp:cNvSpPr/>
      </dsp:nvSpPr>
      <dsp:spPr>
        <a:xfrm>
          <a:off x="471214" y="2328875"/>
          <a:ext cx="862480" cy="862480"/>
        </a:xfrm>
        <a:prstGeom prst="ellipse">
          <a:avLst/>
        </a:prstGeom>
        <a:solidFill>
          <a:schemeClr val="lt1">
            <a:hueOff val="0"/>
            <a:satOff val="0"/>
            <a:lumOff val="0"/>
            <a:alphaOff val="0"/>
          </a:schemeClr>
        </a:solidFill>
        <a:ln w="25400" cap="flat" cmpd="sng" algn="ctr">
          <a:solidFill>
            <a:schemeClr val="accent4">
              <a:hueOff val="1414363"/>
              <a:satOff val="-6197"/>
              <a:lumOff val="6144"/>
              <a:alphaOff val="0"/>
            </a:schemeClr>
          </a:solidFill>
          <a:prstDash val="solid"/>
        </a:ln>
        <a:effectLst/>
      </dsp:spPr>
      <dsp:style>
        <a:lnRef idx="2">
          <a:scrgbClr r="0" g="0" b="0"/>
        </a:lnRef>
        <a:fillRef idx="1">
          <a:scrgbClr r="0" g="0" b="0"/>
        </a:fillRef>
        <a:effectRef idx="0">
          <a:scrgbClr r="0" g="0" b="0"/>
        </a:effectRef>
        <a:fontRef idx="minor"/>
      </dsp:style>
    </dsp:sp>
    <dsp:sp modelId="{D8721CAB-73B6-4E60-8F97-F8E7E4B630D7}">
      <dsp:nvSpPr>
        <dsp:cNvPr id="0" name=""/>
        <dsp:cNvSpPr/>
      </dsp:nvSpPr>
      <dsp:spPr>
        <a:xfrm>
          <a:off x="506870" y="3450279"/>
          <a:ext cx="4528156" cy="689984"/>
        </a:xfrm>
        <a:prstGeom prst="rect">
          <a:avLst/>
        </a:prstGeom>
        <a:solidFill>
          <a:schemeClr val="accent4">
            <a:hueOff val="2121544"/>
            <a:satOff val="-9296"/>
            <a:lumOff val="921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7675" tIns="30480" rIns="30480" bIns="30480" numCol="1" spcCol="1270" anchor="ctr" anchorCtr="0">
          <a:noAutofit/>
        </a:bodyPr>
        <a:lstStyle/>
        <a:p>
          <a:pPr marL="0" lvl="0" indent="0" algn="l" defTabSz="533400">
            <a:lnSpc>
              <a:spcPct val="90000"/>
            </a:lnSpc>
            <a:spcBef>
              <a:spcPct val="0"/>
            </a:spcBef>
            <a:spcAft>
              <a:spcPct val="35000"/>
            </a:spcAft>
            <a:buNone/>
          </a:pPr>
          <a:r>
            <a:rPr lang="en-US" sz="1200" b="0" i="0" kern="1200" dirty="0"/>
            <a:t>Integration of GIS system with other IT applications</a:t>
          </a:r>
        </a:p>
      </dsp:txBody>
      <dsp:txXfrm>
        <a:off x="506870" y="3450279"/>
        <a:ext cx="4528156" cy="689984"/>
      </dsp:txXfrm>
    </dsp:sp>
    <dsp:sp modelId="{3E1B318F-799D-4481-ABBE-5D6C0ED67E82}">
      <dsp:nvSpPr>
        <dsp:cNvPr id="0" name=""/>
        <dsp:cNvSpPr/>
      </dsp:nvSpPr>
      <dsp:spPr>
        <a:xfrm>
          <a:off x="75630" y="3364031"/>
          <a:ext cx="862480" cy="862480"/>
        </a:xfrm>
        <a:prstGeom prst="ellipse">
          <a:avLst/>
        </a:prstGeom>
        <a:solidFill>
          <a:schemeClr val="lt1">
            <a:hueOff val="0"/>
            <a:satOff val="0"/>
            <a:lumOff val="0"/>
            <a:alphaOff val="0"/>
          </a:schemeClr>
        </a:solidFill>
        <a:ln w="25400" cap="flat" cmpd="sng" algn="ctr">
          <a:solidFill>
            <a:schemeClr val="accent4">
              <a:hueOff val="2121544"/>
              <a:satOff val="-9296"/>
              <a:lumOff val="921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712B26-A425-421C-BE3C-F8823CE98D16}">
      <dsp:nvSpPr>
        <dsp:cNvPr id="0" name=""/>
        <dsp:cNvSpPr/>
      </dsp:nvSpPr>
      <dsp:spPr>
        <a:xfrm>
          <a:off x="0" y="77170"/>
          <a:ext cx="5360202" cy="486720"/>
        </a:xfrm>
        <a:prstGeom prst="roundRect">
          <a:avLst/>
        </a:prstGeom>
        <a:solidFill>
          <a:schemeClr val="accent4">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Delay in Availability of Imageries.</a:t>
          </a:r>
        </a:p>
      </dsp:txBody>
      <dsp:txXfrm>
        <a:off x="23760" y="100930"/>
        <a:ext cx="5312682" cy="439200"/>
      </dsp:txXfrm>
    </dsp:sp>
    <dsp:sp modelId="{FAB85CDD-1DFA-4683-89D8-0851C0383253}">
      <dsp:nvSpPr>
        <dsp:cNvPr id="0" name=""/>
        <dsp:cNvSpPr/>
      </dsp:nvSpPr>
      <dsp:spPr>
        <a:xfrm>
          <a:off x="0" y="638770"/>
          <a:ext cx="5360202" cy="486720"/>
        </a:xfrm>
        <a:prstGeom prst="roundRect">
          <a:avLst/>
        </a:prstGeom>
        <a:solidFill>
          <a:schemeClr val="accent4">
            <a:shade val="80000"/>
            <a:hueOff val="-113362"/>
            <a:satOff val="-11810"/>
            <a:lumOff val="61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Non-availability of skilled manpower with GIS agencies for field survey.</a:t>
          </a:r>
        </a:p>
      </dsp:txBody>
      <dsp:txXfrm>
        <a:off x="23760" y="662530"/>
        <a:ext cx="5312682" cy="439200"/>
      </dsp:txXfrm>
    </dsp:sp>
    <dsp:sp modelId="{E1E29959-60B4-4E5B-A22E-C1BC3F9D65BC}">
      <dsp:nvSpPr>
        <dsp:cNvPr id="0" name=""/>
        <dsp:cNvSpPr/>
      </dsp:nvSpPr>
      <dsp:spPr>
        <a:xfrm>
          <a:off x="0" y="1200370"/>
          <a:ext cx="5360202" cy="486720"/>
        </a:xfrm>
        <a:prstGeom prst="roundRect">
          <a:avLst/>
        </a:prstGeom>
        <a:solidFill>
          <a:schemeClr val="accent4">
            <a:shade val="80000"/>
            <a:hueOff val="-226725"/>
            <a:satOff val="-23621"/>
            <a:lumOff val="12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Capture of too many attributes,</a:t>
          </a:r>
        </a:p>
      </dsp:txBody>
      <dsp:txXfrm>
        <a:off x="23760" y="1224130"/>
        <a:ext cx="5312682" cy="439200"/>
      </dsp:txXfrm>
    </dsp:sp>
    <dsp:sp modelId="{072B4485-FB52-4EF1-B8AA-9A1B2280C43F}">
      <dsp:nvSpPr>
        <dsp:cNvPr id="0" name=""/>
        <dsp:cNvSpPr/>
      </dsp:nvSpPr>
      <dsp:spPr>
        <a:xfrm>
          <a:off x="0" y="1761970"/>
          <a:ext cx="5360202" cy="486720"/>
        </a:xfrm>
        <a:prstGeom prst="roundRect">
          <a:avLst/>
        </a:prstGeom>
        <a:solidFill>
          <a:schemeClr val="accent4">
            <a:shade val="80000"/>
            <a:hueOff val="-340087"/>
            <a:satOff val="-35431"/>
            <a:lumOff val="185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Huge errors in linking of assets, between assets &amp; consumers, their attributes collection, etc.</a:t>
          </a:r>
        </a:p>
      </dsp:txBody>
      <dsp:txXfrm>
        <a:off x="23760" y="1785730"/>
        <a:ext cx="5312682" cy="439200"/>
      </dsp:txXfrm>
    </dsp:sp>
    <dsp:sp modelId="{30A1D062-2672-469E-9A61-C7D76A4EE170}">
      <dsp:nvSpPr>
        <dsp:cNvPr id="0" name=""/>
        <dsp:cNvSpPr/>
      </dsp:nvSpPr>
      <dsp:spPr>
        <a:xfrm>
          <a:off x="0" y="2323570"/>
          <a:ext cx="5360202" cy="486720"/>
        </a:xfrm>
        <a:prstGeom prst="roundRect">
          <a:avLst/>
        </a:prstGeom>
        <a:solidFill>
          <a:schemeClr val="accent4">
            <a:shade val="80000"/>
            <a:hueOff val="-453450"/>
            <a:satOff val="-47241"/>
            <a:lumOff val="24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Slow progress in survey data validation by utilities due to manpower shortage, lack of coordination.</a:t>
          </a:r>
        </a:p>
      </dsp:txBody>
      <dsp:txXfrm>
        <a:off x="23760" y="2347330"/>
        <a:ext cx="5312682" cy="439200"/>
      </dsp:txXfrm>
    </dsp:sp>
    <dsp:sp modelId="{F9996B33-C47F-41B9-AE70-7F9F1FFE9612}">
      <dsp:nvSpPr>
        <dsp:cNvPr id="0" name=""/>
        <dsp:cNvSpPr/>
      </dsp:nvSpPr>
      <dsp:spPr>
        <a:xfrm>
          <a:off x="0" y="2885170"/>
          <a:ext cx="5360202" cy="486720"/>
        </a:xfrm>
        <a:prstGeom prst="roundRect">
          <a:avLst/>
        </a:prstGeom>
        <a:solidFill>
          <a:schemeClr val="accent4">
            <a:shade val="80000"/>
            <a:hueOff val="-566812"/>
            <a:satOff val="-59051"/>
            <a:lumOff val="308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Slow opening of GIS basemap on system.</a:t>
          </a:r>
        </a:p>
      </dsp:txBody>
      <dsp:txXfrm>
        <a:off x="23760" y="2908930"/>
        <a:ext cx="5312682" cy="439200"/>
      </dsp:txXfrm>
    </dsp:sp>
    <dsp:sp modelId="{2446A867-E949-450D-8DCB-120A3531448B}">
      <dsp:nvSpPr>
        <dsp:cNvPr id="0" name=""/>
        <dsp:cNvSpPr/>
      </dsp:nvSpPr>
      <dsp:spPr>
        <a:xfrm>
          <a:off x="0" y="3446770"/>
          <a:ext cx="5360202" cy="486720"/>
        </a:xfrm>
        <a:prstGeom prst="roundRect">
          <a:avLst/>
        </a:prstGeom>
        <a:solidFill>
          <a:schemeClr val="accent4">
            <a:shade val="80000"/>
            <a:hueOff val="-680175"/>
            <a:satOff val="-70862"/>
            <a:lumOff val="370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Delay in updation of incremental changes leading to inaccurate Energy Accounting.</a:t>
          </a:r>
        </a:p>
      </dsp:txBody>
      <dsp:txXfrm>
        <a:off x="23760" y="3470530"/>
        <a:ext cx="5312682" cy="439200"/>
      </dsp:txXfrm>
    </dsp:sp>
    <dsp:sp modelId="{3E60F28C-5B7B-4664-AA65-5D29EAB6034B}">
      <dsp:nvSpPr>
        <dsp:cNvPr id="0" name=""/>
        <dsp:cNvSpPr/>
      </dsp:nvSpPr>
      <dsp:spPr>
        <a:xfrm>
          <a:off x="0" y="4008370"/>
          <a:ext cx="5360202" cy="486720"/>
        </a:xfrm>
        <a:prstGeom prst="roundRect">
          <a:avLst/>
        </a:prstGeom>
        <a:solidFill>
          <a:schemeClr val="accent4">
            <a:shade val="80000"/>
            <a:hueOff val="-793537"/>
            <a:satOff val="-82672"/>
            <a:lumOff val="432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Lack of expertise with utilities for Post Go Live activities.</a:t>
          </a:r>
        </a:p>
      </dsp:txBody>
      <dsp:txXfrm>
        <a:off x="23760" y="4032130"/>
        <a:ext cx="5312682" cy="43920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4/12/2024</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4/12/2024</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5628-15FB-3E6A-B89E-60CD42D0C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650F5-F60E-43B1-D6FC-D7806C43B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EA68F-A8F9-97F1-35A0-B53C069999A4}"/>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3FCAC9FB-DF3A-9BE2-18C1-ACF7A79AAE07}"/>
              </a:ext>
            </a:extLst>
          </p:cNvPr>
          <p:cNvSpPr>
            <a:spLocks noGrp="1"/>
          </p:cNvSpPr>
          <p:nvPr>
            <p:ph type="sldNum" sz="quarter" idx="5"/>
          </p:nvPr>
        </p:nvSpPr>
        <p:spPr/>
        <p:txBody>
          <a:bodyPr/>
          <a:lstStyle/>
          <a:p>
            <a:fld id="{C0F4A2C8-6C88-4E71-83EE-698B9D4FE22F}" type="slidenum">
              <a:rPr lang="en-US" smtClean="0"/>
              <a:pPr/>
              <a:t>9</a:t>
            </a:fld>
            <a:endParaRPr lang="en-US"/>
          </a:p>
        </p:txBody>
      </p:sp>
    </p:spTree>
    <p:extLst>
      <p:ext uri="{BB962C8B-B14F-4D97-AF65-F5344CB8AC3E}">
        <p14:creationId xmlns:p14="http://schemas.microsoft.com/office/powerpoint/2010/main" val="3583492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p:cNvSpPr>
            <a:spLocks noGrp="1"/>
          </p:cNvSpPr>
          <p:nvPr>
            <p:ph type="sldNum" sz="quarter" idx="5"/>
          </p:nvPr>
        </p:nvSpPr>
        <p:spPr/>
        <p:txBody>
          <a:bodyPr/>
          <a:lstStyle/>
          <a:p>
            <a:fld id="{C0F4A2C8-6C88-4E71-83EE-698B9D4FE22F}" type="slidenum">
              <a:rPr lang="en-US" smtClean="0"/>
              <a:pPr/>
              <a:t>10</a:t>
            </a:fld>
            <a:endParaRPr lang="en-US"/>
          </a:p>
        </p:txBody>
      </p:sp>
    </p:spTree>
    <p:extLst>
      <p:ext uri="{BB962C8B-B14F-4D97-AF65-F5344CB8AC3E}">
        <p14:creationId xmlns:p14="http://schemas.microsoft.com/office/powerpoint/2010/main" val="3719590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DF40D-EE97-C647-337F-E05522ECB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BE4F-DDF0-40F4-40DE-B6475B19C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0A453-F721-2A7F-3CD8-F6117004CE2C}"/>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1B0753B8-A67F-1AE6-F80B-5569CB7E12F2}"/>
              </a:ext>
            </a:extLst>
          </p:cNvPr>
          <p:cNvSpPr>
            <a:spLocks noGrp="1"/>
          </p:cNvSpPr>
          <p:nvPr>
            <p:ph type="sldNum" sz="quarter" idx="5"/>
          </p:nvPr>
        </p:nvSpPr>
        <p:spPr/>
        <p:txBody>
          <a:bodyPr/>
          <a:lstStyle/>
          <a:p>
            <a:fld id="{C0F4A2C8-6C88-4E71-83EE-698B9D4FE22F}" type="slidenum">
              <a:rPr lang="en-US" smtClean="0"/>
              <a:pPr/>
              <a:t>11</a:t>
            </a:fld>
            <a:endParaRPr lang="en-US"/>
          </a:p>
        </p:txBody>
      </p:sp>
    </p:spTree>
    <p:extLst>
      <p:ext uri="{BB962C8B-B14F-4D97-AF65-F5344CB8AC3E}">
        <p14:creationId xmlns:p14="http://schemas.microsoft.com/office/powerpoint/2010/main" val="1748452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95E1E-32D5-DFB2-5C6A-DECC7D093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BCAA2-988D-EC64-21B1-A2F5ABCD5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D4230-EE34-06E0-B09D-A6D0A2250BE2}"/>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E9E8033B-BDC5-5441-3DA7-0B49BE65DD70}"/>
              </a:ext>
            </a:extLst>
          </p:cNvPr>
          <p:cNvSpPr>
            <a:spLocks noGrp="1"/>
          </p:cNvSpPr>
          <p:nvPr>
            <p:ph type="sldNum" sz="quarter" idx="5"/>
          </p:nvPr>
        </p:nvSpPr>
        <p:spPr/>
        <p:txBody>
          <a:bodyPr/>
          <a:lstStyle/>
          <a:p>
            <a:fld id="{C0F4A2C8-6C88-4E71-83EE-698B9D4FE22F}" type="slidenum">
              <a:rPr lang="en-US" smtClean="0"/>
              <a:pPr/>
              <a:t>12</a:t>
            </a:fld>
            <a:endParaRPr lang="en-US"/>
          </a:p>
        </p:txBody>
      </p:sp>
    </p:spTree>
    <p:extLst>
      <p:ext uri="{BB962C8B-B14F-4D97-AF65-F5344CB8AC3E}">
        <p14:creationId xmlns:p14="http://schemas.microsoft.com/office/powerpoint/2010/main" val="2035479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44D20-C3DE-AADF-A5C3-4055D79E2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EC89B-D3A7-8495-B897-629159858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CF154-73A1-6E8A-7762-49C1D201B6EB}"/>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995B4542-1466-021C-A9C6-21A2FC413259}"/>
              </a:ext>
            </a:extLst>
          </p:cNvPr>
          <p:cNvSpPr>
            <a:spLocks noGrp="1"/>
          </p:cNvSpPr>
          <p:nvPr>
            <p:ph type="sldNum" sz="quarter" idx="5"/>
          </p:nvPr>
        </p:nvSpPr>
        <p:spPr/>
        <p:txBody>
          <a:bodyPr/>
          <a:lstStyle/>
          <a:p>
            <a:fld id="{C0F4A2C8-6C88-4E71-83EE-698B9D4FE22F}" type="slidenum">
              <a:rPr lang="en-US" smtClean="0"/>
              <a:pPr/>
              <a:t>21</a:t>
            </a:fld>
            <a:endParaRPr lang="en-US"/>
          </a:p>
        </p:txBody>
      </p:sp>
    </p:spTree>
    <p:extLst>
      <p:ext uri="{BB962C8B-B14F-4D97-AF65-F5344CB8AC3E}">
        <p14:creationId xmlns:p14="http://schemas.microsoft.com/office/powerpoint/2010/main" val="84314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6FA6-CEB8-CFED-F6E6-86FE59C89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CBB4F-2C6E-7F99-2680-A0CDD00B4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FD850-DB9F-1930-99B8-3F48D172C07D}"/>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3365A81F-9A96-E461-33FC-1DD33F7C8B7F}"/>
              </a:ext>
            </a:extLst>
          </p:cNvPr>
          <p:cNvSpPr>
            <a:spLocks noGrp="1"/>
          </p:cNvSpPr>
          <p:nvPr>
            <p:ph type="sldNum" sz="quarter" idx="5"/>
          </p:nvPr>
        </p:nvSpPr>
        <p:spPr/>
        <p:txBody>
          <a:bodyPr/>
          <a:lstStyle/>
          <a:p>
            <a:fld id="{C0F4A2C8-6C88-4E71-83EE-698B9D4FE22F}" type="slidenum">
              <a:rPr lang="en-US" smtClean="0"/>
              <a:pPr/>
              <a:t>22</a:t>
            </a:fld>
            <a:endParaRPr lang="en-US"/>
          </a:p>
        </p:txBody>
      </p:sp>
    </p:spTree>
    <p:extLst>
      <p:ext uri="{BB962C8B-B14F-4D97-AF65-F5344CB8AC3E}">
        <p14:creationId xmlns:p14="http://schemas.microsoft.com/office/powerpoint/2010/main" val="2298924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B2CEA-7E32-06D1-9C7A-97D266605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67626-EC44-7841-C4CB-E466B0B82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C808B-1ABD-5FDA-0CF7-E6A1C602D4F5}"/>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B9DFBAC8-2D7D-CC96-0565-2E31AF65086E}"/>
              </a:ext>
            </a:extLst>
          </p:cNvPr>
          <p:cNvSpPr>
            <a:spLocks noGrp="1"/>
          </p:cNvSpPr>
          <p:nvPr>
            <p:ph type="sldNum" sz="quarter" idx="5"/>
          </p:nvPr>
        </p:nvSpPr>
        <p:spPr/>
        <p:txBody>
          <a:bodyPr/>
          <a:lstStyle/>
          <a:p>
            <a:fld id="{C0F4A2C8-6C88-4E71-83EE-698B9D4FE22F}" type="slidenum">
              <a:rPr lang="en-US" smtClean="0"/>
              <a:pPr/>
              <a:t>23</a:t>
            </a:fld>
            <a:endParaRPr lang="en-US"/>
          </a:p>
        </p:txBody>
      </p:sp>
    </p:spTree>
    <p:extLst>
      <p:ext uri="{BB962C8B-B14F-4D97-AF65-F5344CB8AC3E}">
        <p14:creationId xmlns:p14="http://schemas.microsoft.com/office/powerpoint/2010/main" val="329144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F5ECE-1F3A-4C40-ED81-69906AF2A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DC53A-8E48-9499-237B-46A76BB51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592C8-AF0B-B8D8-EEA5-86E89A3EFE1A}"/>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5A9ACCE8-E1DE-1397-DF73-3F9BAE411687}"/>
              </a:ext>
            </a:extLst>
          </p:cNvPr>
          <p:cNvSpPr>
            <a:spLocks noGrp="1"/>
          </p:cNvSpPr>
          <p:nvPr>
            <p:ph type="sldNum" sz="quarter" idx="5"/>
          </p:nvPr>
        </p:nvSpPr>
        <p:spPr/>
        <p:txBody>
          <a:bodyPr/>
          <a:lstStyle/>
          <a:p>
            <a:fld id="{C0F4A2C8-6C88-4E71-83EE-698B9D4FE22F}" type="slidenum">
              <a:rPr lang="en-US" smtClean="0"/>
              <a:pPr/>
              <a:t>24</a:t>
            </a:fld>
            <a:endParaRPr lang="en-US"/>
          </a:p>
        </p:txBody>
      </p:sp>
    </p:spTree>
    <p:extLst>
      <p:ext uri="{BB962C8B-B14F-4D97-AF65-F5344CB8AC3E}">
        <p14:creationId xmlns:p14="http://schemas.microsoft.com/office/powerpoint/2010/main" val="363638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E5BA-6B6D-3C69-8F7C-A35800C69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41441-2034-E033-72E3-42BD294EC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DF0C4-CD1F-F4DC-EF7F-BD69A59E658E}"/>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3482A076-8046-AAA5-0A38-C3A2FE794C70}"/>
              </a:ext>
            </a:extLst>
          </p:cNvPr>
          <p:cNvSpPr>
            <a:spLocks noGrp="1"/>
          </p:cNvSpPr>
          <p:nvPr>
            <p:ph type="sldNum" sz="quarter" idx="5"/>
          </p:nvPr>
        </p:nvSpPr>
        <p:spPr/>
        <p:txBody>
          <a:bodyPr/>
          <a:lstStyle/>
          <a:p>
            <a:fld id="{C0F4A2C8-6C88-4E71-83EE-698B9D4FE22F}" type="slidenum">
              <a:rPr lang="en-US" smtClean="0"/>
              <a:pPr/>
              <a:t>25</a:t>
            </a:fld>
            <a:endParaRPr lang="en-US"/>
          </a:p>
        </p:txBody>
      </p:sp>
    </p:spTree>
    <p:extLst>
      <p:ext uri="{BB962C8B-B14F-4D97-AF65-F5344CB8AC3E}">
        <p14:creationId xmlns:p14="http://schemas.microsoft.com/office/powerpoint/2010/main" val="3079167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435F3-0481-80B5-1775-4CDEE8E2F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A2564-0BE0-9D5D-D555-DE909716D3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C990B-66B9-5365-7BD3-6F6DF494BB57}"/>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E9AEE5BA-B6B6-3A36-81A8-F15E74A00761}"/>
              </a:ext>
            </a:extLst>
          </p:cNvPr>
          <p:cNvSpPr>
            <a:spLocks noGrp="1"/>
          </p:cNvSpPr>
          <p:nvPr>
            <p:ph type="sldNum" sz="quarter" idx="5"/>
          </p:nvPr>
        </p:nvSpPr>
        <p:spPr/>
        <p:txBody>
          <a:bodyPr/>
          <a:lstStyle/>
          <a:p>
            <a:fld id="{C0F4A2C8-6C88-4E71-83EE-698B9D4FE22F}" type="slidenum">
              <a:rPr lang="en-US" smtClean="0"/>
              <a:pPr/>
              <a:t>26</a:t>
            </a:fld>
            <a:endParaRPr lang="en-US"/>
          </a:p>
        </p:txBody>
      </p:sp>
    </p:spTree>
    <p:extLst>
      <p:ext uri="{BB962C8B-B14F-4D97-AF65-F5344CB8AC3E}">
        <p14:creationId xmlns:p14="http://schemas.microsoft.com/office/powerpoint/2010/main" val="1201102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Master" Target="../slideMasters/slideMaster1.xml"/><Relationship Id="rId4" Type="http://schemas.openxmlformats.org/officeDocument/2006/relationships/tags" Target="../tags/tag8.xml"/><Relationship Id="rId9"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136983089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ctr"/>
          <a:lstStyle>
            <a:lvl1pPr>
              <a:lnSpc>
                <a:spcPct val="95000"/>
              </a:lnSpc>
              <a:defRPr sz="24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180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69930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406629"/>
            <a:ext cx="11200721" cy="1975121"/>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©2023 Deloitte Touche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617071-6782-40A4-8EE9-750D2DFA04DE}"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84811-8B0C-4694-81BC-C68F47EE42BA}" type="slidenum">
              <a:rPr lang="en-IN" smtClean="0"/>
              <a:t>‹#›</a:t>
            </a:fld>
            <a:endParaRPr lang="en-IN"/>
          </a:p>
        </p:txBody>
      </p:sp>
    </p:spTree>
    <p:extLst>
      <p:ext uri="{BB962C8B-B14F-4D97-AF65-F5344CB8AC3E}">
        <p14:creationId xmlns:p14="http://schemas.microsoft.com/office/powerpoint/2010/main" val="327505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6461738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Full Page">
    <p:spTree>
      <p:nvGrpSpPr>
        <p:cNvPr id="1" name=""/>
        <p:cNvGrpSpPr/>
        <p:nvPr/>
      </p:nvGrpSpPr>
      <p:grpSpPr>
        <a:xfrm>
          <a:off x="0" y="0"/>
          <a:ext cx="0" cy="0"/>
          <a:chOff x="0" y="0"/>
          <a:chExt cx="0" cy="0"/>
        </a:xfrm>
      </p:grpSpPr>
      <p:sp>
        <p:nvSpPr>
          <p:cNvPr id="4" name="Freeform 1682"/>
          <p:cNvSpPr>
            <a:spLocks/>
          </p:cNvSpPr>
          <p:nvPr/>
        </p:nvSpPr>
        <p:spPr bwMode="auto">
          <a:xfrm flipH="1">
            <a:off x="8506884" y="615957"/>
            <a:ext cx="1352549" cy="1895475"/>
          </a:xfrm>
          <a:custGeom>
            <a:avLst/>
            <a:gdLst>
              <a:gd name="T0" fmla="*/ 0 w 638"/>
              <a:gd name="T1" fmla="*/ 0 h 1194"/>
              <a:gd name="T2" fmla="*/ 60420 w 638"/>
              <a:gd name="T3" fmla="*/ 174625 h 1194"/>
              <a:gd name="T4" fmla="*/ 124019 w 638"/>
              <a:gd name="T5" fmla="*/ 342900 h 1194"/>
              <a:gd name="T6" fmla="*/ 168539 w 638"/>
              <a:gd name="T7" fmla="*/ 482600 h 1194"/>
              <a:gd name="T8" fmla="*/ 216238 w 638"/>
              <a:gd name="T9" fmla="*/ 631825 h 1194"/>
              <a:gd name="T10" fmla="*/ 260758 w 638"/>
              <a:gd name="T11" fmla="*/ 803275 h 1194"/>
              <a:gd name="T12" fmla="*/ 327537 w 638"/>
              <a:gd name="T13" fmla="*/ 1066800 h 1194"/>
              <a:gd name="T14" fmla="*/ 375237 w 638"/>
              <a:gd name="T15" fmla="*/ 1250950 h 1194"/>
              <a:gd name="T16" fmla="*/ 432477 w 638"/>
              <a:gd name="T17" fmla="*/ 1571625 h 1194"/>
              <a:gd name="T18" fmla="*/ 454736 w 638"/>
              <a:gd name="T19" fmla="*/ 1724025 h 1194"/>
              <a:gd name="T20" fmla="*/ 480176 w 638"/>
              <a:gd name="T21" fmla="*/ 1895475 h 1194"/>
              <a:gd name="T22" fmla="*/ 1014412 w 638"/>
              <a:gd name="T23" fmla="*/ 1895475 h 1194"/>
              <a:gd name="T24" fmla="*/ 992152 w 638"/>
              <a:gd name="T25" fmla="*/ 1812925 h 1194"/>
              <a:gd name="T26" fmla="*/ 950813 w 638"/>
              <a:gd name="T27" fmla="*/ 1682750 h 1194"/>
              <a:gd name="T28" fmla="*/ 909473 w 638"/>
              <a:gd name="T29" fmla="*/ 1555750 h 1194"/>
              <a:gd name="T30" fmla="*/ 871313 w 638"/>
              <a:gd name="T31" fmla="*/ 1447800 h 1194"/>
              <a:gd name="T32" fmla="*/ 785454 w 638"/>
              <a:gd name="T33" fmla="*/ 1244600 h 1194"/>
              <a:gd name="T34" fmla="*/ 725034 w 638"/>
              <a:gd name="T35" fmla="*/ 1108075 h 1194"/>
              <a:gd name="T36" fmla="*/ 674155 w 638"/>
              <a:gd name="T37" fmla="*/ 993775 h 1194"/>
              <a:gd name="T38" fmla="*/ 601015 w 638"/>
              <a:gd name="T39" fmla="*/ 844550 h 1194"/>
              <a:gd name="T40" fmla="*/ 540596 w 638"/>
              <a:gd name="T41" fmla="*/ 746125 h 1194"/>
              <a:gd name="T42" fmla="*/ 486536 w 638"/>
              <a:gd name="T43" fmla="*/ 657225 h 1194"/>
              <a:gd name="T44" fmla="*/ 426117 w 638"/>
              <a:gd name="T45" fmla="*/ 542925 h 1194"/>
              <a:gd name="T46" fmla="*/ 362517 w 638"/>
              <a:gd name="T47" fmla="*/ 454025 h 1194"/>
              <a:gd name="T48" fmla="*/ 276658 w 638"/>
              <a:gd name="T49" fmla="*/ 333375 h 1194"/>
              <a:gd name="T50" fmla="*/ 193978 w 638"/>
              <a:gd name="T51" fmla="*/ 222250 h 1194"/>
              <a:gd name="T52" fmla="*/ 92219 w 638"/>
              <a:gd name="T53" fmla="*/ 82550 h 1194"/>
              <a:gd name="T54" fmla="*/ 47700 w 638"/>
              <a:gd name="T55" fmla="*/ 31750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5" name="Freeform 1683"/>
          <p:cNvSpPr>
            <a:spLocks/>
          </p:cNvSpPr>
          <p:nvPr/>
        </p:nvSpPr>
        <p:spPr bwMode="auto">
          <a:xfrm flipH="1">
            <a:off x="9880600" y="3175"/>
            <a:ext cx="950384" cy="584200"/>
          </a:xfrm>
          <a:custGeom>
            <a:avLst/>
            <a:gdLst>
              <a:gd name="T0" fmla="*/ 712788 w 448"/>
              <a:gd name="T1" fmla="*/ 584200 h 372"/>
              <a:gd name="T2" fmla="*/ 617325 w 448"/>
              <a:gd name="T3" fmla="*/ 474270 h 372"/>
              <a:gd name="T4" fmla="*/ 445493 w 448"/>
              <a:gd name="T5" fmla="*/ 326649 h 372"/>
              <a:gd name="T6" fmla="*/ 334119 w 448"/>
              <a:gd name="T7" fmla="*/ 223001 h 372"/>
              <a:gd name="T8" fmla="*/ 222746 w 448"/>
              <a:gd name="T9" fmla="*/ 147620 h 372"/>
              <a:gd name="T10" fmla="*/ 101827 w 448"/>
              <a:gd name="T11" fmla="*/ 69099 h 372"/>
              <a:gd name="T12" fmla="*/ 0 w 448"/>
              <a:gd name="T13" fmla="*/ 0 h 372"/>
              <a:gd name="T14" fmla="*/ 445493 w 448"/>
              <a:gd name="T15" fmla="*/ 0 h 372"/>
              <a:gd name="T16" fmla="*/ 477313 w 448"/>
              <a:gd name="T17" fmla="*/ 56535 h 372"/>
              <a:gd name="T18" fmla="*/ 515498 w 448"/>
              <a:gd name="T19" fmla="*/ 128775 h 372"/>
              <a:gd name="T20" fmla="*/ 550501 w 448"/>
              <a:gd name="T21" fmla="*/ 210438 h 372"/>
              <a:gd name="T22" fmla="*/ 601415 w 448"/>
              <a:gd name="T23" fmla="*/ 323509 h 372"/>
              <a:gd name="T24" fmla="*/ 649146 w 448"/>
              <a:gd name="T25" fmla="*/ 414594 h 372"/>
              <a:gd name="T26" fmla="*/ 690513 w 448"/>
              <a:gd name="T27" fmla="*/ 524524 h 372"/>
              <a:gd name="T28" fmla="*/ 712788 w 448"/>
              <a:gd name="T29" fmla="*/ 584200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6" name="Line 1086"/>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7" name="Line 1087"/>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8" name="Rectangle 1088"/>
          <p:cNvSpPr>
            <a:spLocks noChangeArrowheads="1"/>
          </p:cNvSpPr>
          <p:nvPr/>
        </p:nvSpPr>
        <p:spPr bwMode="auto">
          <a:xfrm>
            <a:off x="645587" y="617545"/>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9" name="Rectangle 1089"/>
          <p:cNvSpPr>
            <a:spLocks noChangeArrowheads="1"/>
          </p:cNvSpPr>
          <p:nvPr/>
        </p:nvSpPr>
        <p:spPr bwMode="auto">
          <a:xfrm>
            <a:off x="645587" y="617545"/>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10" name="Freeform 1098"/>
          <p:cNvSpPr>
            <a:spLocks/>
          </p:cNvSpPr>
          <p:nvPr/>
        </p:nvSpPr>
        <p:spPr bwMode="auto">
          <a:xfrm>
            <a:off x="649822" y="617545"/>
            <a:ext cx="4233" cy="1587"/>
          </a:xfrm>
          <a:custGeom>
            <a:avLst/>
            <a:gdLst>
              <a:gd name="T0" fmla="*/ 0 w 2"/>
              <a:gd name="T1" fmla="*/ 0 h 1587"/>
              <a:gd name="T2" fmla="*/ 3175 w 2"/>
              <a:gd name="T3" fmla="*/ 0 h 1587"/>
              <a:gd name="T4" fmla="*/ 3175 w 2"/>
              <a:gd name="T5" fmla="*/ 0 h 1587"/>
              <a:gd name="T6" fmla="*/ 3175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3175 w 2"/>
              <a:gd name="T35" fmla="*/ 0 h 1587"/>
              <a:gd name="T36" fmla="*/ 3175 w 2"/>
              <a:gd name="T37" fmla="*/ 0 h 1587"/>
              <a:gd name="T38" fmla="*/ 3175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1" name="Freeform 1115"/>
          <p:cNvSpPr>
            <a:spLocks/>
          </p:cNvSpPr>
          <p:nvPr/>
        </p:nvSpPr>
        <p:spPr bwMode="auto">
          <a:xfrm>
            <a:off x="611722" y="473075"/>
            <a:ext cx="4233" cy="3175"/>
          </a:xfrm>
          <a:custGeom>
            <a:avLst/>
            <a:gdLst>
              <a:gd name="T0" fmla="*/ 0 w 2"/>
              <a:gd name="T1" fmla="*/ 3175 h 2"/>
              <a:gd name="T2" fmla="*/ 0 w 2"/>
              <a:gd name="T3" fmla="*/ 3175 h 2"/>
              <a:gd name="T4" fmla="*/ 0 w 2"/>
              <a:gd name="T5" fmla="*/ 3175 h 2"/>
              <a:gd name="T6" fmla="*/ 0 w 2"/>
              <a:gd name="T7" fmla="*/ 3175 h 2"/>
              <a:gd name="T8" fmla="*/ 0 w 2"/>
              <a:gd name="T9" fmla="*/ 3175 h 2"/>
              <a:gd name="T10" fmla="*/ 0 w 2"/>
              <a:gd name="T11" fmla="*/ 3175 h 2"/>
              <a:gd name="T12" fmla="*/ 3175 w 2"/>
              <a:gd name="T13" fmla="*/ 3175 h 2"/>
              <a:gd name="T14" fmla="*/ 3175 w 2"/>
              <a:gd name="T15" fmla="*/ 3175 h 2"/>
              <a:gd name="T16" fmla="*/ 3175 w 2"/>
              <a:gd name="T17" fmla="*/ 0 h 2"/>
              <a:gd name="T18" fmla="*/ 0 w 2"/>
              <a:gd name="T19" fmla="*/ 3175 h 2"/>
              <a:gd name="T20" fmla="*/ 0 w 2"/>
              <a:gd name="T21" fmla="*/ 3175 h 2"/>
              <a:gd name="T22" fmla="*/ 0 w 2"/>
              <a:gd name="T23" fmla="*/ 3175 h 2"/>
              <a:gd name="T24" fmla="*/ 0 w 2"/>
              <a:gd name="T25" fmla="*/ 3175 h 2"/>
              <a:gd name="T26" fmla="*/ 0 w 2"/>
              <a:gd name="T27" fmla="*/ 3175 h 2"/>
              <a:gd name="T28" fmla="*/ 3175 w 2"/>
              <a:gd name="T29" fmla="*/ 3175 h 2"/>
              <a:gd name="T30" fmla="*/ 3175 w 2"/>
              <a:gd name="T31" fmla="*/ 3175 h 2"/>
              <a:gd name="T32" fmla="*/ 3175 w 2"/>
              <a:gd name="T33" fmla="*/ 3175 h 2"/>
              <a:gd name="T34" fmla="*/ 3175 w 2"/>
              <a:gd name="T35" fmla="*/ 3175 h 2"/>
              <a:gd name="T36" fmla="*/ 3175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3175 w 2"/>
              <a:gd name="T55" fmla="*/ 3175 h 2"/>
              <a:gd name="T56" fmla="*/ 0 w 2"/>
              <a:gd name="T57" fmla="*/ 3175 h 2"/>
              <a:gd name="T58" fmla="*/ 3175 w 2"/>
              <a:gd name="T59" fmla="*/ 3175 h 2"/>
              <a:gd name="T60" fmla="*/ 3175 w 2"/>
              <a:gd name="T61" fmla="*/ 3175 h 2"/>
              <a:gd name="T62" fmla="*/ 3175 w 2"/>
              <a:gd name="T63" fmla="*/ 3175 h 2"/>
              <a:gd name="T64" fmla="*/ 0 w 2"/>
              <a:gd name="T65" fmla="*/ 3175 h 2"/>
              <a:gd name="T66" fmla="*/ 0 w 2"/>
              <a:gd name="T67" fmla="*/ 3175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2" name="Freeform 1120"/>
          <p:cNvSpPr>
            <a:spLocks/>
          </p:cNvSpPr>
          <p:nvPr/>
        </p:nvSpPr>
        <p:spPr bwMode="auto">
          <a:xfrm>
            <a:off x="611722" y="463554"/>
            <a:ext cx="4233" cy="3175"/>
          </a:xfrm>
          <a:custGeom>
            <a:avLst/>
            <a:gdLst>
              <a:gd name="T0" fmla="*/ 0 w 2"/>
              <a:gd name="T1" fmla="*/ 0 h 2"/>
              <a:gd name="T2" fmla="*/ 0 w 2"/>
              <a:gd name="T3" fmla="*/ 3175 h 2"/>
              <a:gd name="T4" fmla="*/ 0 w 2"/>
              <a:gd name="T5" fmla="*/ 3175 h 2"/>
              <a:gd name="T6" fmla="*/ 0 w 2"/>
              <a:gd name="T7" fmla="*/ 3175 h 2"/>
              <a:gd name="T8" fmla="*/ 3175 w 2"/>
              <a:gd name="T9" fmla="*/ 3175 h 2"/>
              <a:gd name="T10" fmla="*/ 3175 w 2"/>
              <a:gd name="T11" fmla="*/ 0 h 2"/>
              <a:gd name="T12" fmla="*/ 3175 w 2"/>
              <a:gd name="T13" fmla="*/ 0 h 2"/>
              <a:gd name="T14" fmla="*/ 3175 w 2"/>
              <a:gd name="T15" fmla="*/ 0 h 2"/>
              <a:gd name="T16" fmla="*/ 0 w 2"/>
              <a:gd name="T17" fmla="*/ 0 h 2"/>
              <a:gd name="T18" fmla="*/ 0 w 2"/>
              <a:gd name="T19" fmla="*/ 3175 h 2"/>
              <a:gd name="T20" fmla="*/ 0 w 2"/>
              <a:gd name="T21" fmla="*/ 3175 h 2"/>
              <a:gd name="T22" fmla="*/ 3175 w 2"/>
              <a:gd name="T23" fmla="*/ 0 h 2"/>
              <a:gd name="T24" fmla="*/ 3175 w 2"/>
              <a:gd name="T25" fmla="*/ 0 h 2"/>
              <a:gd name="T26" fmla="*/ 3175 w 2"/>
              <a:gd name="T27" fmla="*/ 0 h 2"/>
              <a:gd name="T28" fmla="*/ 3175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3175 w 2"/>
              <a:gd name="T47" fmla="*/ 3175 h 2"/>
              <a:gd name="T48" fmla="*/ 0 w 2"/>
              <a:gd name="T49" fmla="*/ 3175 h 2"/>
              <a:gd name="T50" fmla="*/ 0 w 2"/>
              <a:gd name="T51" fmla="*/ 3175 h 2"/>
              <a:gd name="T52" fmla="*/ 3175 w 2"/>
              <a:gd name="T53" fmla="*/ 3175 h 2"/>
              <a:gd name="T54" fmla="*/ 3175 w 2"/>
              <a:gd name="T55" fmla="*/ 3175 h 2"/>
              <a:gd name="T56" fmla="*/ 3175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3" name="Freeform 1134"/>
          <p:cNvSpPr>
            <a:spLocks/>
          </p:cNvSpPr>
          <p:nvPr/>
        </p:nvSpPr>
        <p:spPr bwMode="auto">
          <a:xfrm>
            <a:off x="937689" y="514350"/>
            <a:ext cx="4233" cy="6350"/>
          </a:xfrm>
          <a:custGeom>
            <a:avLst/>
            <a:gdLst>
              <a:gd name="T0" fmla="*/ 3175 w 2"/>
              <a:gd name="T1" fmla="*/ 6350 h 4"/>
              <a:gd name="T2" fmla="*/ 3175 w 2"/>
              <a:gd name="T3" fmla="*/ 6350 h 4"/>
              <a:gd name="T4" fmla="*/ 3175 w 2"/>
              <a:gd name="T5" fmla="*/ 6350 h 4"/>
              <a:gd name="T6" fmla="*/ 3175 w 2"/>
              <a:gd name="T7" fmla="*/ 3175 h 4"/>
              <a:gd name="T8" fmla="*/ 3175 w 2"/>
              <a:gd name="T9" fmla="*/ 0 h 4"/>
              <a:gd name="T10" fmla="*/ 3175 w 2"/>
              <a:gd name="T11" fmla="*/ 0 h 4"/>
              <a:gd name="T12" fmla="*/ 3175 w 2"/>
              <a:gd name="T13" fmla="*/ 0 h 4"/>
              <a:gd name="T14" fmla="*/ 0 w 2"/>
              <a:gd name="T15" fmla="*/ 3175 h 4"/>
              <a:gd name="T16" fmla="*/ 3175 w 2"/>
              <a:gd name="T17" fmla="*/ 6350 h 4"/>
              <a:gd name="T18" fmla="*/ 3175 w 2"/>
              <a:gd name="T19" fmla="*/ 3175 h 4"/>
              <a:gd name="T20" fmla="*/ 3175 w 2"/>
              <a:gd name="T21" fmla="*/ 3175 h 4"/>
              <a:gd name="T22" fmla="*/ 3175 w 2"/>
              <a:gd name="T23" fmla="*/ 0 h 4"/>
              <a:gd name="T24" fmla="*/ 3175 w 2"/>
              <a:gd name="T25" fmla="*/ 3175 h 4"/>
              <a:gd name="T26" fmla="*/ 3175 w 2"/>
              <a:gd name="T27" fmla="*/ 3175 h 4"/>
              <a:gd name="T28" fmla="*/ 3175 w 2"/>
              <a:gd name="T29" fmla="*/ 3175 h 4"/>
              <a:gd name="T30" fmla="*/ 3175 w 2"/>
              <a:gd name="T31" fmla="*/ 3175 h 4"/>
              <a:gd name="T32" fmla="*/ 3175 w 2"/>
              <a:gd name="T33" fmla="*/ 3175 h 4"/>
              <a:gd name="T34" fmla="*/ 3175 w 2"/>
              <a:gd name="T35" fmla="*/ 3175 h 4"/>
              <a:gd name="T36" fmla="*/ 3175 w 2"/>
              <a:gd name="T37" fmla="*/ 3175 h 4"/>
              <a:gd name="T38" fmla="*/ 3175 w 2"/>
              <a:gd name="T39" fmla="*/ 3175 h 4"/>
              <a:gd name="T40" fmla="*/ 3175 w 2"/>
              <a:gd name="T41" fmla="*/ 3175 h 4"/>
              <a:gd name="T42" fmla="*/ 3175 w 2"/>
              <a:gd name="T43" fmla="*/ 3175 h 4"/>
              <a:gd name="T44" fmla="*/ 3175 w 2"/>
              <a:gd name="T45" fmla="*/ 3175 h 4"/>
              <a:gd name="T46" fmla="*/ 3175 w 2"/>
              <a:gd name="T47" fmla="*/ 3175 h 4"/>
              <a:gd name="T48" fmla="*/ 3175 w 2"/>
              <a:gd name="T49" fmla="*/ 3175 h 4"/>
              <a:gd name="T50" fmla="*/ 3175 w 2"/>
              <a:gd name="T51" fmla="*/ 3175 h 4"/>
              <a:gd name="T52" fmla="*/ 0 w 2"/>
              <a:gd name="T53" fmla="*/ 3175 h 4"/>
              <a:gd name="T54" fmla="*/ 3175 w 2"/>
              <a:gd name="T55" fmla="*/ 6350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4" name="Freeform 1141"/>
          <p:cNvSpPr>
            <a:spLocks/>
          </p:cNvSpPr>
          <p:nvPr/>
        </p:nvSpPr>
        <p:spPr bwMode="auto">
          <a:xfrm>
            <a:off x="941919" y="479425"/>
            <a:ext cx="2116" cy="6350"/>
          </a:xfrm>
          <a:custGeom>
            <a:avLst/>
            <a:gdLst>
              <a:gd name="T0" fmla="*/ 0 w 1587"/>
              <a:gd name="T1" fmla="*/ 6350 h 4"/>
              <a:gd name="T2" fmla="*/ 0 w 1587"/>
              <a:gd name="T3" fmla="*/ 3175 h 4"/>
              <a:gd name="T4" fmla="*/ 0 w 1587"/>
              <a:gd name="T5" fmla="*/ 0 h 4"/>
              <a:gd name="T6" fmla="*/ 0 w 1587"/>
              <a:gd name="T7" fmla="*/ 0 h 4"/>
              <a:gd name="T8" fmla="*/ 0 w 1587"/>
              <a:gd name="T9" fmla="*/ 3175 h 4"/>
              <a:gd name="T10" fmla="*/ 0 w 1587"/>
              <a:gd name="T11" fmla="*/ 3175 h 4"/>
              <a:gd name="T12" fmla="*/ 0 w 1587"/>
              <a:gd name="T13" fmla="*/ 6350 h 4"/>
              <a:gd name="T14" fmla="*/ 0 w 1587"/>
              <a:gd name="T15" fmla="*/ 3175 h 4"/>
              <a:gd name="T16" fmla="*/ 0 w 1587"/>
              <a:gd name="T17" fmla="*/ 3175 h 4"/>
              <a:gd name="T18" fmla="*/ 0 w 1587"/>
              <a:gd name="T19" fmla="*/ 3175 h 4"/>
              <a:gd name="T20" fmla="*/ 0 w 1587"/>
              <a:gd name="T21" fmla="*/ 3175 h 4"/>
              <a:gd name="T22" fmla="*/ 0 w 1587"/>
              <a:gd name="T23" fmla="*/ 3175 h 4"/>
              <a:gd name="T24" fmla="*/ 0 w 1587"/>
              <a:gd name="T25" fmla="*/ 3175 h 4"/>
              <a:gd name="T26" fmla="*/ 0 w 1587"/>
              <a:gd name="T27" fmla="*/ 3175 h 4"/>
              <a:gd name="T28" fmla="*/ 0 w 1587"/>
              <a:gd name="T29" fmla="*/ 635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5" name="Freeform 1148"/>
          <p:cNvSpPr>
            <a:spLocks/>
          </p:cNvSpPr>
          <p:nvPr/>
        </p:nvSpPr>
        <p:spPr bwMode="auto">
          <a:xfrm>
            <a:off x="924989" y="460376"/>
            <a:ext cx="4233" cy="3175"/>
          </a:xfrm>
          <a:custGeom>
            <a:avLst/>
            <a:gdLst>
              <a:gd name="T0" fmla="*/ 3175 w 2"/>
              <a:gd name="T1" fmla="*/ 3175 h 2"/>
              <a:gd name="T2" fmla="*/ 3175 w 2"/>
              <a:gd name="T3" fmla="*/ 0 h 2"/>
              <a:gd name="T4" fmla="*/ 3175 w 2"/>
              <a:gd name="T5" fmla="*/ 0 h 2"/>
              <a:gd name="T6" fmla="*/ 3175 w 2"/>
              <a:gd name="T7" fmla="*/ 0 h 2"/>
              <a:gd name="T8" fmla="*/ 3175 w 2"/>
              <a:gd name="T9" fmla="*/ 0 h 2"/>
              <a:gd name="T10" fmla="*/ 0 w 2"/>
              <a:gd name="T11" fmla="*/ 0 h 2"/>
              <a:gd name="T12" fmla="*/ 0 w 2"/>
              <a:gd name="T13" fmla="*/ 0 h 2"/>
              <a:gd name="T14" fmla="*/ 0 w 2"/>
              <a:gd name="T15" fmla="*/ 3175 h 2"/>
              <a:gd name="T16" fmla="*/ 0 w 2"/>
              <a:gd name="T17" fmla="*/ 3175 h 2"/>
              <a:gd name="T18" fmla="*/ 0 w 2"/>
              <a:gd name="T19" fmla="*/ 3175 h 2"/>
              <a:gd name="T20" fmla="*/ 3175 w 2"/>
              <a:gd name="T21" fmla="*/ 3175 h 2"/>
              <a:gd name="T22" fmla="*/ 3175 w 2"/>
              <a:gd name="T23" fmla="*/ 3175 h 2"/>
              <a:gd name="T24" fmla="*/ 3175 w 2"/>
              <a:gd name="T25" fmla="*/ 0 h 2"/>
              <a:gd name="T26" fmla="*/ 3175 w 2"/>
              <a:gd name="T27" fmla="*/ 0 h 2"/>
              <a:gd name="T28" fmla="*/ 3175 w 2"/>
              <a:gd name="T29" fmla="*/ 0 h 2"/>
              <a:gd name="T30" fmla="*/ 0 w 2"/>
              <a:gd name="T31" fmla="*/ 3175 h 2"/>
              <a:gd name="T32" fmla="*/ 3175 w 2"/>
              <a:gd name="T33" fmla="*/ 3175 h 2"/>
              <a:gd name="T34" fmla="*/ 3175 w 2"/>
              <a:gd name="T35" fmla="*/ 0 h 2"/>
              <a:gd name="T36" fmla="*/ 0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3175 w 2"/>
              <a:gd name="T59" fmla="*/ 3175 h 2"/>
              <a:gd name="T60" fmla="*/ 3175 w 2"/>
              <a:gd name="T61" fmla="*/ 3175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6" name="Freeform 1150"/>
          <p:cNvSpPr>
            <a:spLocks/>
          </p:cNvSpPr>
          <p:nvPr/>
        </p:nvSpPr>
        <p:spPr bwMode="auto">
          <a:xfrm>
            <a:off x="912287" y="447677"/>
            <a:ext cx="2116" cy="3175"/>
          </a:xfrm>
          <a:custGeom>
            <a:avLst/>
            <a:gdLst>
              <a:gd name="T0" fmla="*/ 0 w 1587"/>
              <a:gd name="T1" fmla="*/ 3175 h 2"/>
              <a:gd name="T2" fmla="*/ 0 w 1587"/>
              <a:gd name="T3" fmla="*/ 0 h 2"/>
              <a:gd name="T4" fmla="*/ 0 w 1587"/>
              <a:gd name="T5" fmla="*/ 3175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7" name="Freeform 1152"/>
          <p:cNvSpPr>
            <a:spLocks/>
          </p:cNvSpPr>
          <p:nvPr/>
        </p:nvSpPr>
        <p:spPr bwMode="auto">
          <a:xfrm>
            <a:off x="912289" y="447677"/>
            <a:ext cx="4233" cy="3175"/>
          </a:xfrm>
          <a:custGeom>
            <a:avLst/>
            <a:gdLst>
              <a:gd name="T0" fmla="*/ 3175 w 2"/>
              <a:gd name="T1" fmla="*/ 0 h 2"/>
              <a:gd name="T2" fmla="*/ 0 w 2"/>
              <a:gd name="T3" fmla="*/ 0 h 2"/>
              <a:gd name="T4" fmla="*/ 0 w 2"/>
              <a:gd name="T5" fmla="*/ 0 h 2"/>
              <a:gd name="T6" fmla="*/ 0 w 2"/>
              <a:gd name="T7" fmla="*/ 0 h 2"/>
              <a:gd name="T8" fmla="*/ 0 w 2"/>
              <a:gd name="T9" fmla="*/ 3175 h 2"/>
              <a:gd name="T10" fmla="*/ 3175 w 2"/>
              <a:gd name="T11" fmla="*/ 3175 h 2"/>
              <a:gd name="T12" fmla="*/ 3175 w 2"/>
              <a:gd name="T13" fmla="*/ 0 h 2"/>
              <a:gd name="T14" fmla="*/ 0 w 2"/>
              <a:gd name="T15" fmla="*/ 0 h 2"/>
              <a:gd name="T16" fmla="*/ 0 w 2"/>
              <a:gd name="T17" fmla="*/ 0 h 2"/>
              <a:gd name="T18" fmla="*/ 0 w 2"/>
              <a:gd name="T19" fmla="*/ 0 h 2"/>
              <a:gd name="T20" fmla="*/ 0 w 2"/>
              <a:gd name="T21" fmla="*/ 3175 h 2"/>
              <a:gd name="T22" fmla="*/ 3175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8" name="Freeform 1154"/>
          <p:cNvSpPr>
            <a:spLocks/>
          </p:cNvSpPr>
          <p:nvPr/>
        </p:nvSpPr>
        <p:spPr bwMode="auto">
          <a:xfrm>
            <a:off x="886887" y="43497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9" name="Freeform 1156"/>
          <p:cNvSpPr>
            <a:spLocks/>
          </p:cNvSpPr>
          <p:nvPr/>
        </p:nvSpPr>
        <p:spPr bwMode="auto">
          <a:xfrm>
            <a:off x="886887" y="431801"/>
            <a:ext cx="4233" cy="3175"/>
          </a:xfrm>
          <a:custGeom>
            <a:avLst/>
            <a:gdLst>
              <a:gd name="T0" fmla="*/ 3175 w 2"/>
              <a:gd name="T1" fmla="*/ 3175 h 2"/>
              <a:gd name="T2" fmla="*/ 0 w 2"/>
              <a:gd name="T3" fmla="*/ 0 h 2"/>
              <a:gd name="T4" fmla="*/ 0 w 2"/>
              <a:gd name="T5" fmla="*/ 0 h 2"/>
              <a:gd name="T6" fmla="*/ 0 w 2"/>
              <a:gd name="T7" fmla="*/ 3175 h 2"/>
              <a:gd name="T8" fmla="*/ 3175 w 2"/>
              <a:gd name="T9" fmla="*/ 3175 h 2"/>
              <a:gd name="T10" fmla="*/ 3175 w 2"/>
              <a:gd name="T11" fmla="*/ 3175 h 2"/>
              <a:gd name="T12" fmla="*/ 3175 w 2"/>
              <a:gd name="T13" fmla="*/ 3175 h 2"/>
              <a:gd name="T14" fmla="*/ 0 w 2"/>
              <a:gd name="T15" fmla="*/ 0 h 2"/>
              <a:gd name="T16" fmla="*/ 0 w 2"/>
              <a:gd name="T17" fmla="*/ 0 h 2"/>
              <a:gd name="T18" fmla="*/ 0 w 2"/>
              <a:gd name="T19" fmla="*/ 3175 h 2"/>
              <a:gd name="T20" fmla="*/ 3175 w 2"/>
              <a:gd name="T21" fmla="*/ 3175 h 2"/>
              <a:gd name="T22" fmla="*/ 3175 w 2"/>
              <a:gd name="T23" fmla="*/ 3175 h 2"/>
              <a:gd name="T24" fmla="*/ 3175 w 2"/>
              <a:gd name="T25" fmla="*/ 3175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0" name="Freeform 1163"/>
          <p:cNvSpPr>
            <a:spLocks/>
          </p:cNvSpPr>
          <p:nvPr/>
        </p:nvSpPr>
        <p:spPr bwMode="auto">
          <a:xfrm>
            <a:off x="814917" y="415932"/>
            <a:ext cx="8467" cy="3175"/>
          </a:xfrm>
          <a:custGeom>
            <a:avLst/>
            <a:gdLst>
              <a:gd name="T0" fmla="*/ 3175 w 4"/>
              <a:gd name="T1" fmla="*/ 3175 h 2"/>
              <a:gd name="T2" fmla="*/ 3175 w 4"/>
              <a:gd name="T3" fmla="*/ 3175 h 2"/>
              <a:gd name="T4" fmla="*/ 6350 w 4"/>
              <a:gd name="T5" fmla="*/ 3175 h 2"/>
              <a:gd name="T6" fmla="*/ 6350 w 4"/>
              <a:gd name="T7" fmla="*/ 0 h 2"/>
              <a:gd name="T8" fmla="*/ 6350 w 4"/>
              <a:gd name="T9" fmla="*/ 0 h 2"/>
              <a:gd name="T10" fmla="*/ 3175 w 4"/>
              <a:gd name="T11" fmla="*/ 0 h 2"/>
              <a:gd name="T12" fmla="*/ 3175 w 4"/>
              <a:gd name="T13" fmla="*/ 0 h 2"/>
              <a:gd name="T14" fmla="*/ 0 w 4"/>
              <a:gd name="T15" fmla="*/ 3175 h 2"/>
              <a:gd name="T16" fmla="*/ 3175 w 4"/>
              <a:gd name="T17" fmla="*/ 3175 h 2"/>
              <a:gd name="T18" fmla="*/ 3175 w 4"/>
              <a:gd name="T19" fmla="*/ 0 h 2"/>
              <a:gd name="T20" fmla="*/ 6350 w 4"/>
              <a:gd name="T21" fmla="*/ 3175 h 2"/>
              <a:gd name="T22" fmla="*/ 6350 w 4"/>
              <a:gd name="T23" fmla="*/ 0 h 2"/>
              <a:gd name="T24" fmla="*/ 6350 w 4"/>
              <a:gd name="T25" fmla="*/ 0 h 2"/>
              <a:gd name="T26" fmla="*/ 3175 w 4"/>
              <a:gd name="T27" fmla="*/ 0 h 2"/>
              <a:gd name="T28" fmla="*/ 3175 w 4"/>
              <a:gd name="T29" fmla="*/ 0 h 2"/>
              <a:gd name="T30" fmla="*/ 0 w 4"/>
              <a:gd name="T31" fmla="*/ 0 h 2"/>
              <a:gd name="T32" fmla="*/ 3175 w 4"/>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1" name="Freeform 1172"/>
          <p:cNvSpPr>
            <a:spLocks/>
          </p:cNvSpPr>
          <p:nvPr/>
        </p:nvSpPr>
        <p:spPr bwMode="auto">
          <a:xfrm>
            <a:off x="776822" y="476253"/>
            <a:ext cx="4233" cy="3175"/>
          </a:xfrm>
          <a:custGeom>
            <a:avLst/>
            <a:gdLst>
              <a:gd name="T0" fmla="*/ 0 w 2"/>
              <a:gd name="T1" fmla="*/ 3175 h 2"/>
              <a:gd name="T2" fmla="*/ 0 w 2"/>
              <a:gd name="T3" fmla="*/ 3175 h 2"/>
              <a:gd name="T4" fmla="*/ 3175 w 2"/>
              <a:gd name="T5" fmla="*/ 3175 h 2"/>
              <a:gd name="T6" fmla="*/ 0 w 2"/>
              <a:gd name="T7" fmla="*/ 0 h 2"/>
              <a:gd name="T8" fmla="*/ 0 w 2"/>
              <a:gd name="T9" fmla="*/ 0 h 2"/>
              <a:gd name="T10" fmla="*/ 0 w 2"/>
              <a:gd name="T11" fmla="*/ 0 h 2"/>
              <a:gd name="T12" fmla="*/ 0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0 w 2"/>
              <a:gd name="T59" fmla="*/ 3175 h 2"/>
              <a:gd name="T60" fmla="*/ 0 w 2"/>
              <a:gd name="T61" fmla="*/ 3175 h 2"/>
              <a:gd name="T62" fmla="*/ 0 w 2"/>
              <a:gd name="T63" fmla="*/ 3175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2" name="Freeform 1177"/>
          <p:cNvSpPr>
            <a:spLocks/>
          </p:cNvSpPr>
          <p:nvPr/>
        </p:nvSpPr>
        <p:spPr bwMode="auto">
          <a:xfrm>
            <a:off x="742956" y="534995"/>
            <a:ext cx="4233" cy="3175"/>
          </a:xfrm>
          <a:custGeom>
            <a:avLst/>
            <a:gdLst>
              <a:gd name="T0" fmla="*/ 0 w 2"/>
              <a:gd name="T1" fmla="*/ 3175 h 2"/>
              <a:gd name="T2" fmla="*/ 3175 w 2"/>
              <a:gd name="T3" fmla="*/ 3175 h 2"/>
              <a:gd name="T4" fmla="*/ 3175 w 2"/>
              <a:gd name="T5" fmla="*/ 3175 h 2"/>
              <a:gd name="T6" fmla="*/ 3175 w 2"/>
              <a:gd name="T7" fmla="*/ 0 h 2"/>
              <a:gd name="T8" fmla="*/ 3175 w 2"/>
              <a:gd name="T9" fmla="*/ 0 h 2"/>
              <a:gd name="T10" fmla="*/ 3175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3175 h 2"/>
              <a:gd name="T40" fmla="*/ 0 w 2"/>
              <a:gd name="T41" fmla="*/ 3175 h 2"/>
              <a:gd name="T42" fmla="*/ 3175 w 2"/>
              <a:gd name="T43" fmla="*/ 3175 h 2"/>
              <a:gd name="T44" fmla="*/ 3175 w 2"/>
              <a:gd name="T45" fmla="*/ 0 h 2"/>
              <a:gd name="T46" fmla="*/ 3175 w 2"/>
              <a:gd name="T47" fmla="*/ 0 h 2"/>
              <a:gd name="T48" fmla="*/ 3175 w 2"/>
              <a:gd name="T49" fmla="*/ 0 h 2"/>
              <a:gd name="T50" fmla="*/ 3175 w 2"/>
              <a:gd name="T51" fmla="*/ 0 h 2"/>
              <a:gd name="T52" fmla="*/ 3175 w 2"/>
              <a:gd name="T53" fmla="*/ 0 h 2"/>
              <a:gd name="T54" fmla="*/ 3175 w 2"/>
              <a:gd name="T55" fmla="*/ 0 h 2"/>
              <a:gd name="T56" fmla="*/ 3175 w 2"/>
              <a:gd name="T57" fmla="*/ 0 h 2"/>
              <a:gd name="T58" fmla="*/ 3175 w 2"/>
              <a:gd name="T59" fmla="*/ 0 h 2"/>
              <a:gd name="T60" fmla="*/ 3175 w 2"/>
              <a:gd name="T61" fmla="*/ 0 h 2"/>
              <a:gd name="T62" fmla="*/ 3175 w 2"/>
              <a:gd name="T63" fmla="*/ 0 h 2"/>
              <a:gd name="T64" fmla="*/ 3175 w 2"/>
              <a:gd name="T65" fmla="*/ 0 h 2"/>
              <a:gd name="T66" fmla="*/ 3175 w 2"/>
              <a:gd name="T67" fmla="*/ 3175 h 2"/>
              <a:gd name="T68" fmla="*/ 3175 w 2"/>
              <a:gd name="T69" fmla="*/ 0 h 2"/>
              <a:gd name="T70" fmla="*/ 3175 w 2"/>
              <a:gd name="T71" fmla="*/ 0 h 2"/>
              <a:gd name="T72" fmla="*/ 0 w 2"/>
              <a:gd name="T73" fmla="*/ 0 h 2"/>
              <a:gd name="T74" fmla="*/ 0 w 2"/>
              <a:gd name="T75" fmla="*/ 0 h 2"/>
              <a:gd name="T76" fmla="*/ 0 w 2"/>
              <a:gd name="T77" fmla="*/ 3175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3" name="Freeform 1180"/>
          <p:cNvSpPr>
            <a:spLocks/>
          </p:cNvSpPr>
          <p:nvPr/>
        </p:nvSpPr>
        <p:spPr bwMode="auto">
          <a:xfrm>
            <a:off x="747189" y="530232"/>
            <a:ext cx="4233" cy="4763"/>
          </a:xfrm>
          <a:custGeom>
            <a:avLst/>
            <a:gdLst>
              <a:gd name="T0" fmla="*/ 0 w 2"/>
              <a:gd name="T1" fmla="*/ 4763 h 3"/>
              <a:gd name="T2" fmla="*/ 0 w 2"/>
              <a:gd name="T3" fmla="*/ 4763 h 3"/>
              <a:gd name="T4" fmla="*/ 3175 w 2"/>
              <a:gd name="T5" fmla="*/ 4763 h 3"/>
              <a:gd name="T6" fmla="*/ 3175 w 2"/>
              <a:gd name="T7" fmla="*/ 4763 h 3"/>
              <a:gd name="T8" fmla="*/ 0 w 2"/>
              <a:gd name="T9" fmla="*/ 0 h 3"/>
              <a:gd name="T10" fmla="*/ 0 w 2"/>
              <a:gd name="T11" fmla="*/ 0 h 3"/>
              <a:gd name="T12" fmla="*/ 0 w 2"/>
              <a:gd name="T13" fmla="*/ 0 h 3"/>
              <a:gd name="T14" fmla="*/ 0 w 2"/>
              <a:gd name="T15" fmla="*/ 4763 h 3"/>
              <a:gd name="T16" fmla="*/ 0 w 2"/>
              <a:gd name="T17" fmla="*/ 4763 h 3"/>
              <a:gd name="T18" fmla="*/ 0 w 2"/>
              <a:gd name="T19" fmla="*/ 4763 h 3"/>
              <a:gd name="T20" fmla="*/ 0 w 2"/>
              <a:gd name="T21" fmla="*/ 4763 h 3"/>
              <a:gd name="T22" fmla="*/ 0 w 2"/>
              <a:gd name="T23" fmla="*/ 0 h 3"/>
              <a:gd name="T24" fmla="*/ 0 w 2"/>
              <a:gd name="T25" fmla="*/ 4763 h 3"/>
              <a:gd name="T26" fmla="*/ 0 w 2"/>
              <a:gd name="T27" fmla="*/ 4763 h 3"/>
              <a:gd name="T28" fmla="*/ 0 w 2"/>
              <a:gd name="T29" fmla="*/ 4763 h 3"/>
              <a:gd name="T30" fmla="*/ 0 w 2"/>
              <a:gd name="T31" fmla="*/ 4763 h 3"/>
              <a:gd name="T32" fmla="*/ 0 w 2"/>
              <a:gd name="T33" fmla="*/ 4763 h 3"/>
              <a:gd name="T34" fmla="*/ 0 w 2"/>
              <a:gd name="T35" fmla="*/ 4763 h 3"/>
              <a:gd name="T36" fmla="*/ 0 w 2"/>
              <a:gd name="T37" fmla="*/ 4763 h 3"/>
              <a:gd name="T38" fmla="*/ 0 w 2"/>
              <a:gd name="T39" fmla="*/ 4763 h 3"/>
              <a:gd name="T40" fmla="*/ 0 w 2"/>
              <a:gd name="T41" fmla="*/ 4763 h 3"/>
              <a:gd name="T42" fmla="*/ 0 w 2"/>
              <a:gd name="T43" fmla="*/ 4763 h 3"/>
              <a:gd name="T44" fmla="*/ 0 w 2"/>
              <a:gd name="T45" fmla="*/ 4763 h 3"/>
              <a:gd name="T46" fmla="*/ 0 w 2"/>
              <a:gd name="T47" fmla="*/ 4763 h 3"/>
              <a:gd name="T48" fmla="*/ 0 w 2"/>
              <a:gd name="T49" fmla="*/ 4763 h 3"/>
              <a:gd name="T50" fmla="*/ 0 w 2"/>
              <a:gd name="T51" fmla="*/ 4763 h 3"/>
              <a:gd name="T52" fmla="*/ 0 w 2"/>
              <a:gd name="T53" fmla="*/ 4763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4" name="Line 1187"/>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5" name="Line 1188"/>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6" name="Freeform 1208"/>
          <p:cNvSpPr>
            <a:spLocks/>
          </p:cNvSpPr>
          <p:nvPr/>
        </p:nvSpPr>
        <p:spPr bwMode="auto">
          <a:xfrm>
            <a:off x="793751" y="557220"/>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7" name="Freeform 1210"/>
          <p:cNvSpPr>
            <a:spLocks/>
          </p:cNvSpPr>
          <p:nvPr/>
        </p:nvSpPr>
        <p:spPr bwMode="auto">
          <a:xfrm>
            <a:off x="793756" y="557220"/>
            <a:ext cx="4233" cy="3175"/>
          </a:xfrm>
          <a:custGeom>
            <a:avLst/>
            <a:gdLst>
              <a:gd name="T0" fmla="*/ 0 w 2"/>
              <a:gd name="T1" fmla="*/ 3175 h 2"/>
              <a:gd name="T2" fmla="*/ 0 w 2"/>
              <a:gd name="T3" fmla="*/ 3175 h 2"/>
              <a:gd name="T4" fmla="*/ 3175 w 2"/>
              <a:gd name="T5" fmla="*/ 3175 h 2"/>
              <a:gd name="T6" fmla="*/ 3175 w 2"/>
              <a:gd name="T7" fmla="*/ 0 h 2"/>
              <a:gd name="T8" fmla="*/ 3175 w 2"/>
              <a:gd name="T9" fmla="*/ 0 h 2"/>
              <a:gd name="T10" fmla="*/ 0 w 2"/>
              <a:gd name="T11" fmla="*/ 0 h 2"/>
              <a:gd name="T12" fmla="*/ 0 w 2"/>
              <a:gd name="T13" fmla="*/ 0 h 2"/>
              <a:gd name="T14" fmla="*/ 0 w 2"/>
              <a:gd name="T15" fmla="*/ 0 h 2"/>
              <a:gd name="T16" fmla="*/ 0 w 2"/>
              <a:gd name="T17" fmla="*/ 3175 h 2"/>
              <a:gd name="T18" fmla="*/ 0 w 2"/>
              <a:gd name="T19" fmla="*/ 3175 h 2"/>
              <a:gd name="T20" fmla="*/ 3175 w 2"/>
              <a:gd name="T21" fmla="*/ 3175 h 2"/>
              <a:gd name="T22" fmla="*/ 3175 w 2"/>
              <a:gd name="T23" fmla="*/ 0 h 2"/>
              <a:gd name="T24" fmla="*/ 3175 w 2"/>
              <a:gd name="T25" fmla="*/ 0 h 2"/>
              <a:gd name="T26" fmla="*/ 0 w 2"/>
              <a:gd name="T27" fmla="*/ 0 h 2"/>
              <a:gd name="T28" fmla="*/ 0 w 2"/>
              <a:gd name="T29" fmla="*/ 0 h 2"/>
              <a:gd name="T30" fmla="*/ 0 w 2"/>
              <a:gd name="T31" fmla="*/ 0 h 2"/>
              <a:gd name="T32" fmla="*/ 0 w 2"/>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8" name="Freeform 1214"/>
          <p:cNvSpPr>
            <a:spLocks/>
          </p:cNvSpPr>
          <p:nvPr/>
        </p:nvSpPr>
        <p:spPr bwMode="auto">
          <a:xfrm>
            <a:off x="793756" y="557220"/>
            <a:ext cx="4233" cy="3175"/>
          </a:xfrm>
          <a:custGeom>
            <a:avLst/>
            <a:gdLst>
              <a:gd name="T0" fmla="*/ 0 w 2"/>
              <a:gd name="T1" fmla="*/ 3175 h 2"/>
              <a:gd name="T2" fmla="*/ 3175 w 2"/>
              <a:gd name="T3" fmla="*/ 3175 h 2"/>
              <a:gd name="T4" fmla="*/ 0 w 2"/>
              <a:gd name="T5" fmla="*/ 0 h 2"/>
              <a:gd name="T6" fmla="*/ 0 w 2"/>
              <a:gd name="T7" fmla="*/ 3175 h 2"/>
              <a:gd name="T8" fmla="*/ 0 w 2"/>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9" name="Rectangle 1215"/>
          <p:cNvSpPr>
            <a:spLocks noChangeArrowheads="1"/>
          </p:cNvSpPr>
          <p:nvPr/>
        </p:nvSpPr>
        <p:spPr bwMode="auto">
          <a:xfrm>
            <a:off x="793751" y="627070"/>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0" name="Freeform 1217"/>
          <p:cNvSpPr>
            <a:spLocks/>
          </p:cNvSpPr>
          <p:nvPr/>
        </p:nvSpPr>
        <p:spPr bwMode="auto">
          <a:xfrm>
            <a:off x="793751" y="6270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1" name="Freeform 1219"/>
          <p:cNvSpPr>
            <a:spLocks/>
          </p:cNvSpPr>
          <p:nvPr/>
        </p:nvSpPr>
        <p:spPr bwMode="auto">
          <a:xfrm>
            <a:off x="975787" y="541345"/>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2" name="Freeform 1221"/>
          <p:cNvSpPr>
            <a:spLocks/>
          </p:cNvSpPr>
          <p:nvPr/>
        </p:nvSpPr>
        <p:spPr bwMode="auto">
          <a:xfrm>
            <a:off x="975789" y="541345"/>
            <a:ext cx="4233" cy="3175"/>
          </a:xfrm>
          <a:custGeom>
            <a:avLst/>
            <a:gdLst>
              <a:gd name="T0" fmla="*/ 3175 w 2"/>
              <a:gd name="T1" fmla="*/ 0 h 2"/>
              <a:gd name="T2" fmla="*/ 3175 w 2"/>
              <a:gd name="T3" fmla="*/ 0 h 2"/>
              <a:gd name="T4" fmla="*/ 3175 w 2"/>
              <a:gd name="T5" fmla="*/ 0 h 2"/>
              <a:gd name="T6" fmla="*/ 0 w 2"/>
              <a:gd name="T7" fmla="*/ 0 h 2"/>
              <a:gd name="T8" fmla="*/ 0 w 2"/>
              <a:gd name="T9" fmla="*/ 0 h 2"/>
              <a:gd name="T10" fmla="*/ 0 w 2"/>
              <a:gd name="T11" fmla="*/ 3175 h 2"/>
              <a:gd name="T12" fmla="*/ 3175 w 2"/>
              <a:gd name="T13" fmla="*/ 0 h 2"/>
              <a:gd name="T14" fmla="*/ 3175 w 2"/>
              <a:gd name="T15" fmla="*/ 0 h 2"/>
              <a:gd name="T16" fmla="*/ 3175 w 2"/>
              <a:gd name="T17" fmla="*/ 0 h 2"/>
              <a:gd name="T18" fmla="*/ 0 w 2"/>
              <a:gd name="T19" fmla="*/ 0 h 2"/>
              <a:gd name="T20" fmla="*/ 0 w 2"/>
              <a:gd name="T21" fmla="*/ 0 h 2"/>
              <a:gd name="T22" fmla="*/ 0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3" name="Freeform 1234"/>
          <p:cNvSpPr>
            <a:spLocks/>
          </p:cNvSpPr>
          <p:nvPr/>
        </p:nvSpPr>
        <p:spPr bwMode="auto">
          <a:xfrm>
            <a:off x="963089" y="550870"/>
            <a:ext cx="4233" cy="1587"/>
          </a:xfrm>
          <a:custGeom>
            <a:avLst/>
            <a:gdLst>
              <a:gd name="T0" fmla="*/ 0 w 2"/>
              <a:gd name="T1" fmla="*/ 0 h 1587"/>
              <a:gd name="T2" fmla="*/ 0 w 2"/>
              <a:gd name="T3" fmla="*/ 0 h 1587"/>
              <a:gd name="T4" fmla="*/ 3175 w 2"/>
              <a:gd name="T5" fmla="*/ 0 h 1587"/>
              <a:gd name="T6" fmla="*/ 3175 w 2"/>
              <a:gd name="T7" fmla="*/ 0 h 1587"/>
              <a:gd name="T8" fmla="*/ 3175 w 2"/>
              <a:gd name="T9" fmla="*/ 0 h 1587"/>
              <a:gd name="T10" fmla="*/ 3175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3175 w 2"/>
              <a:gd name="T25" fmla="*/ 0 h 1587"/>
              <a:gd name="T26" fmla="*/ 3175 w 2"/>
              <a:gd name="T27" fmla="*/ 0 h 1587"/>
              <a:gd name="T28" fmla="*/ 3175 w 2"/>
              <a:gd name="T29" fmla="*/ 0 h 1587"/>
              <a:gd name="T30" fmla="*/ 0 w 2"/>
              <a:gd name="T31" fmla="*/ 0 h 1587"/>
              <a:gd name="T32" fmla="*/ 0 w 2"/>
              <a:gd name="T33" fmla="*/ 0 h 1587"/>
              <a:gd name="T34" fmla="*/ 3175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4" name="Line 1237"/>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5" name="Line 1238"/>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6" name="Freeform 1240"/>
          <p:cNvSpPr>
            <a:spLocks/>
          </p:cNvSpPr>
          <p:nvPr/>
        </p:nvSpPr>
        <p:spPr bwMode="auto">
          <a:xfrm>
            <a:off x="971551" y="541345"/>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7" name="Freeform 1243"/>
          <p:cNvSpPr>
            <a:spLocks/>
          </p:cNvSpPr>
          <p:nvPr/>
        </p:nvSpPr>
        <p:spPr bwMode="auto">
          <a:xfrm>
            <a:off x="971556" y="538170"/>
            <a:ext cx="4233" cy="3175"/>
          </a:xfrm>
          <a:custGeom>
            <a:avLst/>
            <a:gdLst>
              <a:gd name="T0" fmla="*/ 3175 w 2"/>
              <a:gd name="T1" fmla="*/ 3175 h 2"/>
              <a:gd name="T2" fmla="*/ 3175 w 2"/>
              <a:gd name="T3" fmla="*/ 3175 h 2"/>
              <a:gd name="T4" fmla="*/ 3175 w 2"/>
              <a:gd name="T5" fmla="*/ 3175 h 2"/>
              <a:gd name="T6" fmla="*/ 3175 w 2"/>
              <a:gd name="T7" fmla="*/ 3175 h 2"/>
              <a:gd name="T8" fmla="*/ 0 w 2"/>
              <a:gd name="T9" fmla="*/ 3175 h 2"/>
              <a:gd name="T10" fmla="*/ 0 w 2"/>
              <a:gd name="T11" fmla="*/ 3175 h 2"/>
              <a:gd name="T12" fmla="*/ 3175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3175 w 2"/>
              <a:gd name="T39" fmla="*/ 3175 h 2"/>
              <a:gd name="T40" fmla="*/ 3175 w 2"/>
              <a:gd name="T41" fmla="*/ 3175 h 2"/>
              <a:gd name="T42" fmla="*/ 3175 w 2"/>
              <a:gd name="T43" fmla="*/ 3175 h 2"/>
              <a:gd name="T44" fmla="*/ 3175 w 2"/>
              <a:gd name="T45" fmla="*/ 3175 h 2"/>
              <a:gd name="T46" fmla="*/ 3175 w 2"/>
              <a:gd name="T47" fmla="*/ 3175 h 2"/>
              <a:gd name="T48" fmla="*/ 0 w 2"/>
              <a:gd name="T49" fmla="*/ 0 h 2"/>
              <a:gd name="T50" fmla="*/ 0 w 2"/>
              <a:gd name="T51" fmla="*/ 3175 h 2"/>
              <a:gd name="T52" fmla="*/ 0 w 2"/>
              <a:gd name="T53" fmla="*/ 3175 h 2"/>
              <a:gd name="T54" fmla="*/ 0 w 2"/>
              <a:gd name="T55" fmla="*/ 3175 h 2"/>
              <a:gd name="T56" fmla="*/ 3175 w 2"/>
              <a:gd name="T57" fmla="*/ 3175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8" name="Freeform 1246"/>
          <p:cNvSpPr>
            <a:spLocks/>
          </p:cNvSpPr>
          <p:nvPr/>
        </p:nvSpPr>
        <p:spPr bwMode="auto">
          <a:xfrm>
            <a:off x="967322" y="547695"/>
            <a:ext cx="4233" cy="3175"/>
          </a:xfrm>
          <a:custGeom>
            <a:avLst/>
            <a:gdLst>
              <a:gd name="T0" fmla="*/ 0 w 2"/>
              <a:gd name="T1" fmla="*/ 3175 h 2"/>
              <a:gd name="T2" fmla="*/ 0 w 2"/>
              <a:gd name="T3" fmla="*/ 3175 h 2"/>
              <a:gd name="T4" fmla="*/ 3175 w 2"/>
              <a:gd name="T5" fmla="*/ 0 h 2"/>
              <a:gd name="T6" fmla="*/ 3175 w 2"/>
              <a:gd name="T7" fmla="*/ 0 h 2"/>
              <a:gd name="T8" fmla="*/ 0 w 2"/>
              <a:gd name="T9" fmla="*/ 0 h 2"/>
              <a:gd name="T10" fmla="*/ 0 w 2"/>
              <a:gd name="T11" fmla="*/ 0 h 2"/>
              <a:gd name="T12" fmla="*/ 0 w 2"/>
              <a:gd name="T13" fmla="*/ 3175 h 2"/>
              <a:gd name="T14" fmla="*/ 0 w 2"/>
              <a:gd name="T15" fmla="*/ 3175 h 2"/>
              <a:gd name="T16" fmla="*/ 3175 w 2"/>
              <a:gd name="T17" fmla="*/ 0 h 2"/>
              <a:gd name="T18" fmla="*/ 3175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3175 h 2"/>
              <a:gd name="T48" fmla="*/ 0 w 2"/>
              <a:gd name="T49" fmla="*/ 3175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9" name="Freeform 1250"/>
          <p:cNvSpPr>
            <a:spLocks/>
          </p:cNvSpPr>
          <p:nvPr/>
        </p:nvSpPr>
        <p:spPr bwMode="auto">
          <a:xfrm>
            <a:off x="975789" y="53022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0" name="Freeform 1252"/>
          <p:cNvSpPr>
            <a:spLocks/>
          </p:cNvSpPr>
          <p:nvPr/>
        </p:nvSpPr>
        <p:spPr bwMode="auto">
          <a:xfrm>
            <a:off x="975789" y="527050"/>
            <a:ext cx="4233" cy="7938"/>
          </a:xfrm>
          <a:custGeom>
            <a:avLst/>
            <a:gdLst>
              <a:gd name="T0" fmla="*/ 3175 w 2"/>
              <a:gd name="T1" fmla="*/ 3175 h 5"/>
              <a:gd name="T2" fmla="*/ 3175 w 2"/>
              <a:gd name="T3" fmla="*/ 3175 h 5"/>
              <a:gd name="T4" fmla="*/ 0 w 2"/>
              <a:gd name="T5" fmla="*/ 0 h 5"/>
              <a:gd name="T6" fmla="*/ 0 w 2"/>
              <a:gd name="T7" fmla="*/ 3175 h 5"/>
              <a:gd name="T8" fmla="*/ 0 w 2"/>
              <a:gd name="T9" fmla="*/ 3175 h 5"/>
              <a:gd name="T10" fmla="*/ 3175 w 2"/>
              <a:gd name="T11" fmla="*/ 7938 h 5"/>
              <a:gd name="T12" fmla="*/ 3175 w 2"/>
              <a:gd name="T13" fmla="*/ 3175 h 5"/>
              <a:gd name="T14" fmla="*/ 3175 w 2"/>
              <a:gd name="T15" fmla="*/ 3175 h 5"/>
              <a:gd name="T16" fmla="*/ 0 w 2"/>
              <a:gd name="T17" fmla="*/ 0 h 5"/>
              <a:gd name="T18" fmla="*/ 0 w 2"/>
              <a:gd name="T19" fmla="*/ 3175 h 5"/>
              <a:gd name="T20" fmla="*/ 0 w 2"/>
              <a:gd name="T21" fmla="*/ 3175 h 5"/>
              <a:gd name="T22" fmla="*/ 3175 w 2"/>
              <a:gd name="T23" fmla="*/ 7938 h 5"/>
              <a:gd name="T24" fmla="*/ 3175 w 2"/>
              <a:gd name="T25" fmla="*/ 3175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1" name="Freeform 1255"/>
          <p:cNvSpPr>
            <a:spLocks/>
          </p:cNvSpPr>
          <p:nvPr/>
        </p:nvSpPr>
        <p:spPr bwMode="auto">
          <a:xfrm>
            <a:off x="950389" y="550870"/>
            <a:ext cx="4233" cy="1587"/>
          </a:xfrm>
          <a:custGeom>
            <a:avLst/>
            <a:gdLst>
              <a:gd name="T0" fmla="*/ 0 w 2"/>
              <a:gd name="T1" fmla="*/ 0 h 1587"/>
              <a:gd name="T2" fmla="*/ 3175 w 2"/>
              <a:gd name="T3" fmla="*/ 0 h 1587"/>
              <a:gd name="T4" fmla="*/ 3175 w 2"/>
              <a:gd name="T5" fmla="*/ 0 h 1587"/>
              <a:gd name="T6" fmla="*/ 3175 w 2"/>
              <a:gd name="T7" fmla="*/ 0 h 1587"/>
              <a:gd name="T8" fmla="*/ 3175 w 2"/>
              <a:gd name="T9" fmla="*/ 0 h 1587"/>
              <a:gd name="T10" fmla="*/ 0 w 2"/>
              <a:gd name="T11" fmla="*/ 0 h 1587"/>
              <a:gd name="T12" fmla="*/ 0 w 2"/>
              <a:gd name="T13" fmla="*/ 0 h 1587"/>
              <a:gd name="T14" fmla="*/ 0 w 2"/>
              <a:gd name="T15" fmla="*/ 0 h 1587"/>
              <a:gd name="T16" fmla="*/ 0 w 2"/>
              <a:gd name="T17" fmla="*/ 0 h 1587"/>
              <a:gd name="T18" fmla="*/ 3175 w 2"/>
              <a:gd name="T19" fmla="*/ 0 h 1587"/>
              <a:gd name="T20" fmla="*/ 3175 w 2"/>
              <a:gd name="T21" fmla="*/ 0 h 1587"/>
              <a:gd name="T22" fmla="*/ 3175 w 2"/>
              <a:gd name="T23" fmla="*/ 0 h 1587"/>
              <a:gd name="T24" fmla="*/ 3175 w 2"/>
              <a:gd name="T25" fmla="*/ 0 h 1587"/>
              <a:gd name="T26" fmla="*/ 3175 w 2"/>
              <a:gd name="T27" fmla="*/ 0 h 1587"/>
              <a:gd name="T28" fmla="*/ 3175 w 2"/>
              <a:gd name="T29" fmla="*/ 0 h 1587"/>
              <a:gd name="T30" fmla="*/ 3175 w 2"/>
              <a:gd name="T31" fmla="*/ 0 h 1587"/>
              <a:gd name="T32" fmla="*/ 3175 w 2"/>
              <a:gd name="T33" fmla="*/ 0 h 1587"/>
              <a:gd name="T34" fmla="*/ 3175 w 2"/>
              <a:gd name="T35" fmla="*/ 0 h 1587"/>
              <a:gd name="T36" fmla="*/ 3175 w 2"/>
              <a:gd name="T37" fmla="*/ 0 h 1587"/>
              <a:gd name="T38" fmla="*/ 3175 w 2"/>
              <a:gd name="T39" fmla="*/ 0 h 1587"/>
              <a:gd name="T40" fmla="*/ 3175 w 2"/>
              <a:gd name="T41" fmla="*/ 0 h 1587"/>
              <a:gd name="T42" fmla="*/ 3175 w 2"/>
              <a:gd name="T43" fmla="*/ 0 h 1587"/>
              <a:gd name="T44" fmla="*/ 3175 w 2"/>
              <a:gd name="T45" fmla="*/ 0 h 1587"/>
              <a:gd name="T46" fmla="*/ 3175 w 2"/>
              <a:gd name="T47" fmla="*/ 0 h 1587"/>
              <a:gd name="T48" fmla="*/ 3175 w 2"/>
              <a:gd name="T49" fmla="*/ 0 h 1587"/>
              <a:gd name="T50" fmla="*/ 3175 w 2"/>
              <a:gd name="T51" fmla="*/ 0 h 1587"/>
              <a:gd name="T52" fmla="*/ 3175 w 2"/>
              <a:gd name="T53" fmla="*/ 0 h 1587"/>
              <a:gd name="T54" fmla="*/ 3175 w 2"/>
              <a:gd name="T55" fmla="*/ 0 h 1587"/>
              <a:gd name="T56" fmla="*/ 3175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2" name="Rectangle 1256"/>
          <p:cNvSpPr>
            <a:spLocks noChangeArrowheads="1"/>
          </p:cNvSpPr>
          <p:nvPr/>
        </p:nvSpPr>
        <p:spPr bwMode="auto">
          <a:xfrm>
            <a:off x="963087" y="550870"/>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3" name="Freeform 1258"/>
          <p:cNvSpPr>
            <a:spLocks/>
          </p:cNvSpPr>
          <p:nvPr/>
        </p:nvSpPr>
        <p:spPr bwMode="auto">
          <a:xfrm>
            <a:off x="963087" y="5508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4" name="Freeform 1266"/>
          <p:cNvSpPr>
            <a:spLocks/>
          </p:cNvSpPr>
          <p:nvPr/>
        </p:nvSpPr>
        <p:spPr bwMode="auto">
          <a:xfrm>
            <a:off x="971551" y="534995"/>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5" name="Freeform 1269"/>
          <p:cNvSpPr>
            <a:spLocks/>
          </p:cNvSpPr>
          <p:nvPr/>
        </p:nvSpPr>
        <p:spPr bwMode="auto">
          <a:xfrm>
            <a:off x="971556" y="530232"/>
            <a:ext cx="4233" cy="4763"/>
          </a:xfrm>
          <a:custGeom>
            <a:avLst/>
            <a:gdLst>
              <a:gd name="T0" fmla="*/ 0 w 2"/>
              <a:gd name="T1" fmla="*/ 4763 h 3"/>
              <a:gd name="T2" fmla="*/ 3175 w 2"/>
              <a:gd name="T3" fmla="*/ 0 h 3"/>
              <a:gd name="T4" fmla="*/ 3175 w 2"/>
              <a:gd name="T5" fmla="*/ 0 h 3"/>
              <a:gd name="T6" fmla="*/ 3175 w 2"/>
              <a:gd name="T7" fmla="*/ 0 h 3"/>
              <a:gd name="T8" fmla="*/ 3175 w 2"/>
              <a:gd name="T9" fmla="*/ 0 h 3"/>
              <a:gd name="T10" fmla="*/ 0 w 2"/>
              <a:gd name="T11" fmla="*/ 0 h 3"/>
              <a:gd name="T12" fmla="*/ 0 w 2"/>
              <a:gd name="T13" fmla="*/ 0 h 3"/>
              <a:gd name="T14" fmla="*/ 0 w 2"/>
              <a:gd name="T15" fmla="*/ 4763 h 3"/>
              <a:gd name="T16" fmla="*/ 0 w 2"/>
              <a:gd name="T17" fmla="*/ 4763 h 3"/>
              <a:gd name="T18" fmla="*/ 3175 w 2"/>
              <a:gd name="T19" fmla="*/ 0 h 3"/>
              <a:gd name="T20" fmla="*/ 3175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4763 h 3"/>
              <a:gd name="T40" fmla="*/ 0 w 2"/>
              <a:gd name="T41" fmla="*/ 4763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6"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7"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8"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9"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0"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1"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2" name="Freeform 1277"/>
          <p:cNvSpPr>
            <a:spLocks/>
          </p:cNvSpPr>
          <p:nvPr/>
        </p:nvSpPr>
        <p:spPr bwMode="auto">
          <a:xfrm>
            <a:off x="971551" y="523882"/>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3" name="Freeform 1287"/>
          <p:cNvSpPr>
            <a:spLocks/>
          </p:cNvSpPr>
          <p:nvPr/>
        </p:nvSpPr>
        <p:spPr bwMode="auto">
          <a:xfrm>
            <a:off x="958856" y="514350"/>
            <a:ext cx="4233" cy="3175"/>
          </a:xfrm>
          <a:custGeom>
            <a:avLst/>
            <a:gdLst>
              <a:gd name="T0" fmla="*/ 0 w 2"/>
              <a:gd name="T1" fmla="*/ 0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3175 h 2"/>
              <a:gd name="T18" fmla="*/ 0 w 2"/>
              <a:gd name="T19" fmla="*/ 3175 h 2"/>
              <a:gd name="T20" fmla="*/ 0 w 2"/>
              <a:gd name="T21" fmla="*/ 3175 h 2"/>
              <a:gd name="T22" fmla="*/ 0 w 2"/>
              <a:gd name="T23" fmla="*/ 3175 h 2"/>
              <a:gd name="T24" fmla="*/ 3175 w 2"/>
              <a:gd name="T25" fmla="*/ 3175 h 2"/>
              <a:gd name="T26" fmla="*/ 3175 w 2"/>
              <a:gd name="T27" fmla="*/ 3175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4" name="Freeform 1290"/>
          <p:cNvSpPr>
            <a:spLocks/>
          </p:cNvSpPr>
          <p:nvPr/>
        </p:nvSpPr>
        <p:spPr bwMode="auto">
          <a:xfrm>
            <a:off x="958856" y="517527"/>
            <a:ext cx="4233" cy="3175"/>
          </a:xfrm>
          <a:custGeom>
            <a:avLst/>
            <a:gdLst>
              <a:gd name="T0" fmla="*/ 0 w 2"/>
              <a:gd name="T1" fmla="*/ 3175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0 h 2"/>
              <a:gd name="T18" fmla="*/ 0 w 2"/>
              <a:gd name="T19" fmla="*/ 0 h 2"/>
              <a:gd name="T20" fmla="*/ 3175 w 2"/>
              <a:gd name="T21" fmla="*/ 0 h 2"/>
              <a:gd name="T22" fmla="*/ 0 w 2"/>
              <a:gd name="T23" fmla="*/ 0 h 2"/>
              <a:gd name="T24" fmla="*/ 0 w 2"/>
              <a:gd name="T25" fmla="*/ 0 h 2"/>
              <a:gd name="T26" fmla="*/ 0 w 2"/>
              <a:gd name="T27" fmla="*/ 0 h 2"/>
              <a:gd name="T28" fmla="*/ 0 w 2"/>
              <a:gd name="T29" fmla="*/ 0 h 2"/>
              <a:gd name="T30" fmla="*/ 0 w 2"/>
              <a:gd name="T31" fmla="*/ 3175 h 2"/>
              <a:gd name="T32" fmla="*/ 0 w 2"/>
              <a:gd name="T33" fmla="*/ 3175 h 2"/>
              <a:gd name="T34" fmla="*/ 0 w 2"/>
              <a:gd name="T35" fmla="*/ 3175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3175 h 2"/>
              <a:gd name="T50" fmla="*/ 3175 w 2"/>
              <a:gd name="T51" fmla="*/ 3175 h 2"/>
              <a:gd name="T52" fmla="*/ 3175 w 2"/>
              <a:gd name="T53" fmla="*/ 0 h 2"/>
              <a:gd name="T54" fmla="*/ 3175 w 2"/>
              <a:gd name="T55" fmla="*/ 0 h 2"/>
              <a:gd name="T56" fmla="*/ 0 w 2"/>
              <a:gd name="T57" fmla="*/ 0 h 2"/>
              <a:gd name="T58" fmla="*/ 0 w 2"/>
              <a:gd name="T59" fmla="*/ 0 h 2"/>
              <a:gd name="T60" fmla="*/ 0 w 2"/>
              <a:gd name="T61" fmla="*/ 3175 h 2"/>
              <a:gd name="T62" fmla="*/ 0 w 2"/>
              <a:gd name="T63" fmla="*/ 3175 h 2"/>
              <a:gd name="T64" fmla="*/ 3175 w 2"/>
              <a:gd name="T65" fmla="*/ 3175 h 2"/>
              <a:gd name="T66" fmla="*/ 3175 w 2"/>
              <a:gd name="T67" fmla="*/ 3175 h 2"/>
              <a:gd name="T68" fmla="*/ 0 w 2"/>
              <a:gd name="T69" fmla="*/ 3175 h 2"/>
              <a:gd name="T70" fmla="*/ 0 w 2"/>
              <a:gd name="T71" fmla="*/ 3175 h 2"/>
              <a:gd name="T72" fmla="*/ 0 w 2"/>
              <a:gd name="T73" fmla="*/ 3175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5"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6" name="Rectangle 1336"/>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7" name="Rectangle 1337"/>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8"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9"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0"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1"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2" name="Rectangle 1344"/>
          <p:cNvSpPr>
            <a:spLocks noChangeArrowheads="1"/>
          </p:cNvSpPr>
          <p:nvPr/>
        </p:nvSpPr>
        <p:spPr bwMode="auto">
          <a:xfrm>
            <a:off x="620187" y="485780"/>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24" name="Title 323"/>
          <p:cNvSpPr>
            <a:spLocks noGrp="1"/>
          </p:cNvSpPr>
          <p:nvPr>
            <p:ph type="title"/>
          </p:nvPr>
        </p:nvSpPr>
        <p:spPr>
          <a:xfrm>
            <a:off x="457868" y="301632"/>
            <a:ext cx="11252869" cy="1031875"/>
          </a:xfrm>
        </p:spPr>
        <p:txBody>
          <a:bodyPr/>
          <a:lstStyle>
            <a:lvl1pPr>
              <a:defRPr b="0" i="0" cap="none" baseline="0">
                <a:solidFill>
                  <a:srgbClr val="021F43"/>
                </a:solidFill>
                <a:latin typeface="+mn-lt"/>
                <a:cs typeface="Andes ExtraLight"/>
              </a:defRPr>
            </a:lvl1pPr>
          </a:lstStyle>
          <a:p>
            <a:r>
              <a:rPr lang="en-US"/>
              <a:t>Click to edit Master title style</a:t>
            </a:r>
          </a:p>
        </p:txBody>
      </p:sp>
      <p:sp>
        <p:nvSpPr>
          <p:cNvPr id="331" name="Content Placeholder 330"/>
          <p:cNvSpPr>
            <a:spLocks noGrp="1"/>
          </p:cNvSpPr>
          <p:nvPr>
            <p:ph sz="quarter" idx="10"/>
          </p:nvPr>
        </p:nvSpPr>
        <p:spPr>
          <a:xfrm>
            <a:off x="457871" y="1460504"/>
            <a:ext cx="11253740" cy="4600863"/>
          </a:xfrm>
        </p:spPr>
        <p:txBody>
          <a:bodyPr>
            <a:normAutofit/>
          </a:bodyPr>
          <a:lstStyle>
            <a:lvl1pPr>
              <a:lnSpc>
                <a:spcPct val="130000"/>
              </a:lnSpc>
              <a:spcBef>
                <a:spcPts val="1200"/>
              </a:spcBef>
              <a:defRPr>
                <a:solidFill>
                  <a:srgbClr val="7F7F7F"/>
                </a:solidFill>
              </a:defRPr>
            </a:lvl1pPr>
            <a:lvl2pPr>
              <a:lnSpc>
                <a:spcPct val="130000"/>
              </a:lnSpc>
              <a:spcBef>
                <a:spcPts val="1200"/>
              </a:spcBef>
              <a:buClr>
                <a:schemeClr val="tx2">
                  <a:lumMod val="50000"/>
                  <a:lumOff val="50000"/>
                </a:schemeClr>
              </a:buClr>
              <a:defRPr>
                <a:solidFill>
                  <a:srgbClr val="7F7F7F"/>
                </a:solidFill>
              </a:defRPr>
            </a:lvl2pPr>
            <a:lvl3pPr marL="557770">
              <a:lnSpc>
                <a:spcPct val="130000"/>
              </a:lnSpc>
              <a:spcBef>
                <a:spcPts val="0"/>
              </a:spcBef>
              <a:buClr>
                <a:schemeClr val="tx2">
                  <a:lumMod val="50000"/>
                  <a:lumOff val="50000"/>
                </a:schemeClr>
              </a:buClr>
              <a:defRPr>
                <a:solidFill>
                  <a:srgbClr val="7F7F7F"/>
                </a:solidFill>
              </a:defRPr>
            </a:lvl3pPr>
            <a:lvl4pPr>
              <a:lnSpc>
                <a:spcPct val="130000"/>
              </a:lnSpc>
              <a:spcBef>
                <a:spcPts val="0"/>
              </a:spcBef>
              <a:buClr>
                <a:schemeClr val="tx2">
                  <a:lumMod val="50000"/>
                  <a:lumOff val="50000"/>
                </a:schemeClr>
              </a:buClr>
              <a:defRPr>
                <a:solidFill>
                  <a:srgbClr val="7F7F7F"/>
                </a:solidFill>
              </a:defRPr>
            </a:lvl4pPr>
            <a:lvl5pPr>
              <a:lnSpc>
                <a:spcPct val="130000"/>
              </a:lnSpc>
              <a:spcBef>
                <a:spcPts val="0"/>
              </a:spcBef>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3" name="Footer Placeholder 6"/>
          <p:cNvSpPr>
            <a:spLocks noGrp="1"/>
          </p:cNvSpPr>
          <p:nvPr>
            <p:ph type="ftr" sz="quarter" idx="11"/>
          </p:nvPr>
        </p:nvSpPr>
        <p:spPr/>
        <p:txBody>
          <a:bodyPr/>
          <a:lstStyle>
            <a:lvl1pPr>
              <a:defRPr dirty="0"/>
            </a:lvl1pPr>
          </a:lstStyle>
          <a:p>
            <a:pPr>
              <a:defRPr/>
            </a:pPr>
            <a:r>
              <a:rPr lang="en-US"/>
              <a:t>Footer</a:t>
            </a:r>
          </a:p>
        </p:txBody>
      </p:sp>
      <p:sp>
        <p:nvSpPr>
          <p:cNvPr id="64" name="Slide Number Placeholder 7"/>
          <p:cNvSpPr>
            <a:spLocks noGrp="1"/>
          </p:cNvSpPr>
          <p:nvPr>
            <p:ph type="sldNum" sz="quarter" idx="12"/>
          </p:nvPr>
        </p:nvSpPr>
        <p:spPr/>
        <p:txBody>
          <a:bodyPr/>
          <a:lstStyle>
            <a:lvl1pPr>
              <a:defRPr smtClean="0"/>
            </a:lvl1pPr>
          </a:lstStyle>
          <a:p>
            <a:pPr>
              <a:defRPr/>
            </a:pPr>
            <a:fld id="{61903BDA-C71E-4227-8D99-52DC2D06BE02}" type="slidenum">
              <a:rPr lang="en-US"/>
              <a:pPr>
                <a:defRPr/>
              </a:pPr>
              <a:t>‹#›</a:t>
            </a:fld>
            <a:endParaRPr lang="en-US"/>
          </a:p>
        </p:txBody>
      </p:sp>
    </p:spTree>
    <p:extLst>
      <p:ext uri="{BB962C8B-B14F-4D97-AF65-F5344CB8AC3E}">
        <p14:creationId xmlns:p14="http://schemas.microsoft.com/office/powerpoint/2010/main" val="2681855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Section Divider Title"/>
          <p:cNvSpPr>
            <a:spLocks noGrp="1"/>
          </p:cNvSpPr>
          <p:nvPr>
            <p:ph type="title" hasCustomPrompt="1"/>
            <p:custDataLst>
              <p:tags r:id="rId1"/>
            </p:custDataLst>
          </p:nvPr>
        </p:nvSpPr>
        <p:spPr>
          <a:xfrm>
            <a:off x="641455" y="886235"/>
            <a:ext cx="3504394" cy="1303525"/>
          </a:xfrm>
        </p:spPr>
        <p:txBody>
          <a:bodyPr wrap="square" tIns="0" bIns="0" anchor="t">
            <a:spAutoFit/>
          </a:bodyPr>
          <a:lstStyle>
            <a:lvl1pPr algn="l">
              <a:defRPr sz="2824" b="1" i="1" cap="none">
                <a:solidFill>
                  <a:schemeClr val="tx2"/>
                </a:solidFill>
              </a:defRPr>
            </a:lvl1pPr>
          </a:lstStyle>
          <a:p>
            <a:r>
              <a:rPr lang="en-GB" noProof="0"/>
              <a:t>Click to add Section Divider Title</a:t>
            </a:r>
          </a:p>
        </p:txBody>
      </p:sp>
      <p:sp>
        <p:nvSpPr>
          <p:cNvPr id="25" name="DividerTOCPlaceholder"/>
          <p:cNvSpPr txBox="1"/>
          <p:nvPr userDrawn="1">
            <p:custDataLst>
              <p:tags r:id="rId2"/>
            </p:custDataLst>
          </p:nvPr>
        </p:nvSpPr>
        <p:spPr>
          <a:xfrm>
            <a:off x="4350545" y="908471"/>
            <a:ext cx="7204364" cy="5209941"/>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3" name="Page Number"/>
          <p:cNvSpPr txBox="1"/>
          <p:nvPr userDrawn="1">
            <p:custDataLst>
              <p:tags r:id="rId3"/>
            </p:custDataLst>
          </p:nvPr>
        </p:nvSpPr>
        <p:spPr>
          <a:xfrm>
            <a:off x="11172306" y="6454588"/>
            <a:ext cx="387927" cy="137160"/>
          </a:xfrm>
          <a:prstGeom prst="rect">
            <a:avLst/>
          </a:prstGeom>
          <a:noFill/>
        </p:spPr>
        <p:txBody>
          <a:bodyPr wrap="none" lIns="0" tIns="0" rIns="0" bIns="0" rtlCol="0">
            <a:noAutofit/>
          </a:bodyPr>
          <a:lstStyle/>
          <a:p>
            <a:pPr algn="r">
              <a:lnSpc>
                <a:spcPts val="882"/>
              </a:lnSpc>
            </a:pPr>
            <a:endParaRPr lang="en-GB" sz="971" noProof="1"/>
          </a:p>
        </p:txBody>
      </p:sp>
      <p:sp>
        <p:nvSpPr>
          <p:cNvPr id="24" name="HeaderTOCPlaceholder"/>
          <p:cNvSpPr txBox="1"/>
          <p:nvPr userDrawn="1">
            <p:custDataLst>
              <p:tags r:id="rId4"/>
            </p:custDataLst>
          </p:nvPr>
        </p:nvSpPr>
        <p:spPr>
          <a:xfrm>
            <a:off x="4341090" y="621255"/>
            <a:ext cx="7204364"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28" name="Straight Connector 27"/>
          <p:cNvCxnSpPr/>
          <p:nvPr userDrawn="1"/>
        </p:nvCxnSpPr>
        <p:spPr>
          <a:xfrm>
            <a:off x="642851" y="6252882"/>
            <a:ext cx="1090629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ection Footer"/>
          <p:cNvSpPr txBox="1"/>
          <p:nvPr userDrawn="1">
            <p:custDataLst>
              <p:tags r:id="rId5"/>
            </p:custDataLst>
          </p:nvPr>
        </p:nvSpPr>
        <p:spPr>
          <a:xfrm>
            <a:off x="642851" y="6290233"/>
            <a:ext cx="3513513" cy="149400"/>
          </a:xfrm>
          <a:prstGeom prst="rect">
            <a:avLst/>
          </a:prstGeom>
          <a:noFill/>
          <a:ln>
            <a:noFill/>
          </a:ln>
        </p:spPr>
        <p:txBody>
          <a:bodyPr wrap="square" lIns="0" tIns="0" rIns="0" bIns="0" rtlCol="0" anchor="b" anchorCtr="0">
            <a:spAutoFit/>
          </a:bodyPr>
          <a:lstStyle/>
          <a:p>
            <a:endParaRPr lang="en-GB" sz="971" noProof="1">
              <a:solidFill>
                <a:schemeClr val="tx1"/>
              </a:solidFill>
            </a:endParaRPr>
          </a:p>
        </p:txBody>
      </p:sp>
      <p:sp>
        <p:nvSpPr>
          <p:cNvPr id="29" name="Section Header"/>
          <p:cNvSpPr txBox="1"/>
          <p:nvPr userDrawn="1">
            <p:custDataLst>
              <p:tags r:id="rId6"/>
            </p:custDataLst>
          </p:nvPr>
        </p:nvSpPr>
        <p:spPr>
          <a:xfrm>
            <a:off x="642850" y="621254"/>
            <a:ext cx="3678035"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raft stamp" hidden="1"/>
          <p:cNvSpPr txBox="1"/>
          <p:nvPr userDrawn="1">
            <p:custDataLst>
              <p:tags r:id="rId7"/>
            </p:custDataLst>
          </p:nvPr>
        </p:nvSpPr>
        <p:spPr>
          <a:xfrm>
            <a:off x="4344786" y="6442386"/>
            <a:ext cx="2582487" cy="149400"/>
          </a:xfrm>
          <a:prstGeom prst="rect">
            <a:avLst/>
          </a:prstGeom>
          <a:noFill/>
          <a:ln>
            <a:noFill/>
          </a:ln>
        </p:spPr>
        <p:txBody>
          <a:bodyPr wrap="square" lIns="0" tIns="0" rIns="0" bIns="0" rtlCol="0">
            <a:spAutoFit/>
          </a:bodyPr>
          <a:lstStyle/>
          <a:p>
            <a:pPr algn="l"/>
            <a:r>
              <a:rPr lang="en-GB" sz="971" noProof="1"/>
              <a:t>Final</a:t>
            </a:r>
          </a:p>
        </p:txBody>
      </p:sp>
      <p:sp>
        <p:nvSpPr>
          <p:cNvPr id="14" name="Date/Filepath" hidden="1"/>
          <p:cNvSpPr txBox="1"/>
          <p:nvPr userDrawn="1">
            <p:custDataLst>
              <p:tags r:id="rId8"/>
            </p:custDataLst>
          </p:nvPr>
        </p:nvSpPr>
        <p:spPr>
          <a:xfrm>
            <a:off x="3999350" y="145213"/>
            <a:ext cx="7536873" cy="244426"/>
          </a:xfrm>
          <a:prstGeom prst="rect">
            <a:avLst/>
          </a:prstGeom>
          <a:noFill/>
        </p:spPr>
        <p:txBody>
          <a:bodyPr wrap="square" lIns="0" tIns="0" rIns="0" bIns="0" rtlCol="0" anchor="b" anchorCtr="0">
            <a:spAutoFit/>
          </a:bodyPr>
          <a:lstStyle/>
          <a:p>
            <a:pPr algn="r"/>
            <a:r>
              <a:rPr lang="en-GB" sz="794" noProof="1"/>
              <a:t>04/09/2018 C:\PwC Works\1. RUMSL\Agar-Shajapur-Neemuch Solar Park\Conference 4th Sep\RUMSL Solar Parks - Railway Transaction under Optimum Scheduling R06.pptx</a:t>
            </a:r>
          </a:p>
        </p:txBody>
      </p:sp>
      <p:sp>
        <p:nvSpPr>
          <p:cNvPr id="11" name="Slide Tags" hidden="1"/>
          <p:cNvSpPr txBox="1"/>
          <p:nvPr userDrawn="1">
            <p:custDataLst>
              <p:tags r:id="rId9"/>
            </p:custDataLst>
          </p:nvPr>
        </p:nvSpPr>
        <p:spPr>
          <a:xfrm>
            <a:off x="0" y="201706"/>
            <a:ext cx="1939636" cy="336695"/>
          </a:xfrm>
          <a:prstGeom prst="rect">
            <a:avLst/>
          </a:prstGeom>
          <a:noFill/>
        </p:spPr>
        <p:txBody>
          <a:bodyPr wrap="square" rtlCol="0">
            <a:spAutoFit/>
          </a:bodyPr>
          <a:lstStyle/>
          <a:p>
            <a:r>
              <a:rPr lang="en-GB" sz="1588" noProof="1"/>
              <a:t>Slide Tags</a:t>
            </a:r>
          </a:p>
        </p:txBody>
      </p:sp>
      <p:cxnSp>
        <p:nvCxnSpPr>
          <p:cNvPr id="20" name="Frame Line"/>
          <p:cNvCxnSpPr/>
          <p:nvPr userDrawn="1"/>
        </p:nvCxnSpPr>
        <p:spPr>
          <a:xfrm flipV="1">
            <a:off x="461818" y="823408"/>
            <a:ext cx="1108363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14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901915"/>
            <a:ext cx="11136000" cy="436410"/>
          </a:xfrm>
          <a:prstGeom prst="rect">
            <a:avLst/>
          </a:prstGeom>
        </p:spPr>
        <p:txBody>
          <a:bodyPr lIns="0" tIns="0" rIns="0" bIns="0">
            <a:noAutofit/>
          </a:bodyPr>
          <a:lstStyle>
            <a:lvl1pPr marL="0" indent="0">
              <a:buNone/>
              <a:defRPr sz="1632"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28000" y="295684"/>
            <a:ext cx="1113600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57581294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2" y="5791234"/>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144"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marL="0" marR="0" lvl="1" indent="0" algn="l" defTabSz="121914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3321583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342558"/>
            <a:ext cx="11252200" cy="520597"/>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5" name="Text Placeholder 8"/>
          <p:cNvSpPr>
            <a:spLocks noGrp="1"/>
          </p:cNvSpPr>
          <p:nvPr>
            <p:ph type="body" sz="quarter" idx="13" hasCustomPrompt="1"/>
          </p:nvPr>
        </p:nvSpPr>
        <p:spPr>
          <a:xfrm>
            <a:off x="469902" y="863156"/>
            <a:ext cx="11252200" cy="440356"/>
          </a:xfrm>
          <a:prstGeom prst="rect">
            <a:avLst/>
          </a:prstGeom>
        </p:spPr>
        <p:txBody>
          <a:bodyPr lIns="0" tIns="0" rIns="0" bIns="0">
            <a:noAutofit/>
          </a:bodyPr>
          <a:lstStyle>
            <a:lvl1pPr marL="0" indent="0">
              <a:buNone/>
              <a:defRPr sz="16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400785"/>
            <a:ext cx="11252197" cy="5005423"/>
          </a:xfrm>
          <a:prstGeom prst="rect">
            <a:avLst/>
          </a:prstGeom>
        </p:spPr>
        <p:txBody>
          <a:bodyPr/>
          <a:lstStyle>
            <a:lvl1pPr>
              <a:tabLst>
                <a:tab pos="6729406" algn="r"/>
              </a:tabLst>
              <a:defRPr sz="1400"/>
            </a:lvl1pPr>
            <a:lvl2pPr>
              <a:tabLst>
                <a:tab pos="6729406" algn="r"/>
              </a:tabLst>
              <a:defRPr sz="1400"/>
            </a:lvl2pPr>
            <a:lvl3pPr>
              <a:tabLst>
                <a:tab pos="6729406" algn="r"/>
              </a:tabLst>
              <a:defRPr sz="1400"/>
            </a:lvl3pPr>
            <a:lvl4pPr>
              <a:tabLst>
                <a:tab pos="6729406" algn="r"/>
              </a:tabLst>
              <a:defRPr sz="1400"/>
            </a:lvl4pPr>
            <a:lvl5pPr marL="475212" indent="0">
              <a:buNone/>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32183842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469902" y="884427"/>
            <a:ext cx="11252200" cy="221599"/>
          </a:xfrm>
          <a:noFill/>
          <a:ln w="9525">
            <a:noFill/>
            <a:miter lim="800000"/>
            <a:headEnd/>
            <a:tailEnd/>
          </a:ln>
        </p:spPr>
        <p:txBody>
          <a:bodyPr wrap="square"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469902" y="1177432"/>
            <a:ext cx="11185650" cy="5105034"/>
          </a:xfrm>
        </p:spPr>
        <p:txBody>
          <a:bodyPr>
            <a:noAutofit/>
          </a:bodyPr>
          <a:lstStyle>
            <a:lvl5pPr marL="475212"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49554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370610234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415334131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04745705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19518486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97791" y="905046"/>
            <a:ext cx="6596417" cy="4947313"/>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00" b="1">
                <a:solidFill>
                  <a:schemeClr val="tx1"/>
                </a:solidFill>
              </a:defRPr>
            </a:lvl1pPr>
            <a:lvl2pPr marL="0" indent="0" algn="l">
              <a:buNone/>
              <a:defRPr sz="1400"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1820923" cy="3492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353856608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22048407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44317583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1142612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8738749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787017"/>
            <a:ext cx="11188700" cy="463778"/>
          </a:xfrm>
          <a:prstGeom prst="rect">
            <a:avLst/>
          </a:prstGeom>
        </p:spPr>
        <p:txBody>
          <a:bodyPr lIns="0" tIns="0" rIns="0" bIns="0">
            <a:noAutofit/>
          </a:bodyPr>
          <a:lstStyle>
            <a:lvl1pPr marL="0" indent="0">
              <a:buNone/>
              <a:defRPr sz="1451" b="0">
                <a:solidFill>
                  <a:schemeClr val="bg1">
                    <a:lumMod val="50000"/>
                  </a:schemeClr>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189274"/>
            <a:ext cx="11188700" cy="334101"/>
          </a:xfrm>
          <a:prstGeom prst="rect">
            <a:avLst/>
          </a:prstGeom>
        </p:spPr>
        <p:txBody>
          <a:bodyPr vert="horz" lIns="0" tIns="0" rIns="0" bIns="0" rtlCol="0" anchor="ctr" anchorCtr="0">
            <a:noAutofit/>
          </a:bodyPr>
          <a:lstStyle>
            <a:lvl1pPr>
              <a:defRPr sz="1814" b="1">
                <a:solidFill>
                  <a:schemeClr val="tx1"/>
                </a:solidFill>
              </a:defRPr>
            </a:lvl1pPr>
          </a:lstStyle>
          <a:p>
            <a:r>
              <a:rPr lang="en-US" noProof="0"/>
              <a:t>Click to add title</a:t>
            </a:r>
          </a:p>
        </p:txBody>
      </p:sp>
    </p:spTree>
    <p:extLst>
      <p:ext uri="{BB962C8B-B14F-4D97-AF65-F5344CB8AC3E}">
        <p14:creationId xmlns:p14="http://schemas.microsoft.com/office/powerpoint/2010/main" val="370711877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2604502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999835768"/>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5068904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2445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3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62" b="1">
                <a:solidFill>
                  <a:schemeClr val="tx1"/>
                </a:solidFill>
              </a:defRPr>
            </a:lvl1pPr>
            <a:lvl2pPr marL="0" indent="0" algn="l">
              <a:buNone/>
              <a:defRPr sz="1477"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92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304000" cy="4320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148077728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283554453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Tree>
    <p:extLst>
      <p:ext uri="{BB962C8B-B14F-4D97-AF65-F5344CB8AC3E}">
        <p14:creationId xmlns:p14="http://schemas.microsoft.com/office/powerpoint/2010/main" val="176393770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C2EC3A3-3532-4113-8972-17E73BC4F431}" type="datetimeFigureOut">
              <a:rPr kumimoji="0" lang="en-IN" sz="1800" b="0" i="0" u="none" strike="noStrike" kern="1200" cap="none" spc="0" normalizeH="0" baseline="0" noProof="0" smtClean="0">
                <a:ln>
                  <a:noFill/>
                </a:ln>
                <a:solidFill>
                  <a:prstClr val="black"/>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12-04-2024</a:t>
            </a:fld>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BAAD82-4669-4875-BCDA-307B5D1AB10A}" type="slidenum">
              <a:rPr kumimoji="0" lang="en-IN" sz="1800" b="0" i="0" u="none" strike="noStrike" kern="1200" cap="none" spc="0" normalizeH="0" baseline="0" noProof="0" smtClean="0">
                <a:ln>
                  <a:noFill/>
                </a:ln>
                <a:solidFill>
                  <a:prstClr val="black"/>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7" name="TextBox 6"/>
          <p:cNvSpPr txBox="1"/>
          <p:nvPr userDrawn="1"/>
        </p:nvSpPr>
        <p:spPr>
          <a:xfrm>
            <a:off x="469900" y="6477000"/>
            <a:ext cx="5355167" cy="92333"/>
          </a:xfrm>
          <a:prstGeom prst="rect">
            <a:avLst/>
          </a:prstGeom>
          <a:noFill/>
        </p:spPr>
        <p:txBody>
          <a:bodyPr wrap="square" lIns="0" tIns="0" rIns="0" bIns="0" rtlCol="0">
            <a:spAutoFit/>
          </a:bodyPr>
          <a:lstStyle/>
          <a:p>
            <a:pPr defTabSz="531944">
              <a:spcBef>
                <a:spcPts val="425"/>
              </a:spcBef>
              <a:buSzPct val="100000"/>
              <a:buFont typeface="Arial"/>
              <a:buNone/>
            </a:pPr>
            <a:r>
              <a:rPr lang="fr-FR" sz="600" dirty="0">
                <a:solidFill>
                  <a:prstClr val="black"/>
                </a:solidFill>
              </a:rPr>
              <a:t>© 2017 Deloitte Touche </a:t>
            </a:r>
            <a:r>
              <a:rPr lang="fr-FR" sz="600" dirty="0" err="1">
                <a:solidFill>
                  <a:prstClr val="black"/>
                </a:solidFill>
              </a:rPr>
              <a:t>Tohmatsu</a:t>
            </a:r>
            <a:r>
              <a:rPr lang="fr-FR" sz="600" dirty="0">
                <a:solidFill>
                  <a:prstClr val="black"/>
                </a:solidFill>
              </a:rPr>
              <a:t> India LLP</a:t>
            </a:r>
          </a:p>
        </p:txBody>
      </p:sp>
    </p:spTree>
    <p:extLst>
      <p:ext uri="{BB962C8B-B14F-4D97-AF65-F5344CB8AC3E}">
        <p14:creationId xmlns:p14="http://schemas.microsoft.com/office/powerpoint/2010/main" val="122763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image" Target="../media/image1.emf"/><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oleObject" Target="../embeddings/oleObject3.bin"/><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15.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4" name="Object 3" hidden="1"/>
                      <p:cNvPicPr/>
                      <p:nvPr/>
                    </p:nvPicPr>
                    <p:blipFill>
                      <a:blip r:embed="rId1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1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a:solidFill>
                  <a:prstClr val="black"/>
                </a:solidFill>
              </a:rPr>
              <a:t>© 2024 Deloitte Touche </a:t>
            </a:r>
            <a:r>
              <a:rPr lang="fr-FR" sz="700" err="1">
                <a:solidFill>
                  <a:prstClr val="black"/>
                </a:solidFill>
              </a:rPr>
              <a:t>Tohmatsu</a:t>
            </a:r>
            <a:r>
              <a:rPr lang="fr-FR" sz="700">
                <a:solidFill>
                  <a:prstClr val="black"/>
                </a:solidFill>
              </a:rPr>
              <a:t> </a:t>
            </a:r>
            <a:r>
              <a:rPr lang="fr-FR" sz="700" err="1">
                <a:solidFill>
                  <a:prstClr val="black"/>
                </a:solidFill>
              </a:rPr>
              <a:t>India</a:t>
            </a:r>
            <a:r>
              <a:rPr lang="fr-FR" sz="700">
                <a:solidFill>
                  <a:prstClr val="black"/>
                </a:solidFill>
              </a:rPr>
              <a:t>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4092" r:id="rId1"/>
    <p:sldLayoutId id="2147484057" r:id="rId2"/>
    <p:sldLayoutId id="2147484063" r:id="rId3"/>
    <p:sldLayoutId id="2147483770" r:id="rId4"/>
    <p:sldLayoutId id="2147483775" r:id="rId5"/>
    <p:sldLayoutId id="2147484090" r:id="rId6"/>
    <p:sldLayoutId id="2147483766" r:id="rId7"/>
    <p:sldLayoutId id="2147484094" r:id="rId8"/>
    <p:sldLayoutId id="2147484096" r:id="rId9"/>
    <p:sldLayoutId id="2147484097" r:id="rId10"/>
    <p:sldLayoutId id="2147484098" r:id="rId11"/>
    <p:sldLayoutId id="2147484099" r:id="rId12"/>
    <p:sldLayoutId id="2147484121" r:id="rId13"/>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2"/>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4" name="Object 3" hidden="1"/>
                      <p:cNvPicPr/>
                      <p:nvPr/>
                    </p:nvPicPr>
                    <p:blipFill>
                      <a:blip r:embed="rId25"/>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23"/>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dirty="0">
                <a:solidFill>
                  <a:prstClr val="black"/>
                </a:solidFill>
              </a:rPr>
              <a:t>© 2024 Deloitte Touche </a:t>
            </a:r>
            <a:r>
              <a:rPr lang="fr-FR" sz="700" dirty="0" err="1">
                <a:solidFill>
                  <a:prstClr val="black"/>
                </a:solidFill>
              </a:rPr>
              <a:t>Tohmatsu</a:t>
            </a:r>
            <a:r>
              <a:rPr lang="fr-FR" sz="700" dirty="0">
                <a:solidFill>
                  <a:prstClr val="black"/>
                </a:solidFill>
              </a:rPr>
              <a:t> </a:t>
            </a:r>
            <a:r>
              <a:rPr lang="fr-FR" sz="700" dirty="0" err="1">
                <a:solidFill>
                  <a:prstClr val="black"/>
                </a:solidFill>
              </a:rPr>
              <a:t>India</a:t>
            </a:r>
            <a:r>
              <a:rPr lang="fr-FR" sz="700" dirty="0">
                <a:solidFill>
                  <a:prstClr val="black"/>
                </a:solidFill>
              </a:rPr>
              <a:t>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2285153906"/>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tags" Target="../tags/tag17.xml"/><Relationship Id="rId5" Type="http://schemas.openxmlformats.org/officeDocument/2006/relationships/image" Target="../media/image7.jpeg"/><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oleObject" Target="../embeddings/oleObject6.bin"/><Relationship Id="rId18" Type="http://schemas.openxmlformats.org/officeDocument/2006/relationships/chart" Target="../charts/chart2.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slideLayout" Target="../slideLayouts/slideLayout6.xml"/><Relationship Id="rId17" Type="http://schemas.openxmlformats.org/officeDocument/2006/relationships/image" Target="../media/image9.svg"/><Relationship Id="rId2" Type="http://schemas.openxmlformats.org/officeDocument/2006/relationships/tags" Target="../tags/tag19.xml"/><Relationship Id="rId16" Type="http://schemas.openxmlformats.org/officeDocument/2006/relationships/image" Target="../media/image8.png"/><Relationship Id="rId20" Type="http://schemas.openxmlformats.org/officeDocument/2006/relationships/chart" Target="../charts/chart4.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chart" Target="../charts/chart1.xml"/><Relationship Id="rId10" Type="http://schemas.openxmlformats.org/officeDocument/2006/relationships/tags" Target="../tags/tag27.xml"/><Relationship Id="rId19" Type="http://schemas.openxmlformats.org/officeDocument/2006/relationships/chart" Target="../charts/chart3.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tags" Target="../tags/tag29.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tags" Target="../tags/tag30.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tags" Target="../tags/tag31.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tags" Target="../tags/tag3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7" Type="http://schemas.microsoft.com/office/2007/relationships/hdphoto" Target="../media/hdphoto1.wdp"/><Relationship Id="rId2" Type="http://schemas.openxmlformats.org/officeDocument/2006/relationships/slideLayout" Target="../slideLayouts/slideLayout6.xml"/><Relationship Id="rId1" Type="http://schemas.openxmlformats.org/officeDocument/2006/relationships/tags" Target="../tags/tag3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4.xml"/><Relationship Id="rId6" Type="http://schemas.openxmlformats.org/officeDocument/2006/relationships/slide" Target="slide21.xml"/><Relationship Id="rId5" Type="http://schemas.openxmlformats.org/officeDocument/2006/relationships/image" Target="../media/image6.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jpeg"/><Relationship Id="rId18" Type="http://schemas.openxmlformats.org/officeDocument/2006/relationships/image" Target="../media/image25.png"/><Relationship Id="rId3" Type="http://schemas.openxmlformats.org/officeDocument/2006/relationships/notesSlide" Target="../notesSlides/notesSlide2.xml"/><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slideLayout" Target="../slideLayouts/slideLayout6.xml"/><Relationship Id="rId16" Type="http://schemas.openxmlformats.org/officeDocument/2006/relationships/image" Target="../media/image23.png"/><Relationship Id="rId1" Type="http://schemas.openxmlformats.org/officeDocument/2006/relationships/tags" Target="../tags/tag3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6.emf"/><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oleObject" Target="../embeddings/oleObject13.bin"/><Relationship Id="rId9" Type="http://schemas.openxmlformats.org/officeDocument/2006/relationships/image" Target="../media/image16.svg"/><Relationship Id="rId14" Type="http://schemas.openxmlformats.org/officeDocument/2006/relationships/image" Target="../media/image21.jpeg"/></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diagramQuickStyle" Target="../diagrams/quickStyle2.xml"/><Relationship Id="rId18" Type="http://schemas.openxmlformats.org/officeDocument/2006/relationships/diagramQuickStyle" Target="../diagrams/quickStyle3.xml"/><Relationship Id="rId3" Type="http://schemas.openxmlformats.org/officeDocument/2006/relationships/notesSlide" Target="../notesSlides/notesSlide3.xml"/><Relationship Id="rId21" Type="http://schemas.openxmlformats.org/officeDocument/2006/relationships/diagramData" Target="../diagrams/data4.xml"/><Relationship Id="rId7" Type="http://schemas.openxmlformats.org/officeDocument/2006/relationships/diagramLayout" Target="../diagrams/layout1.xml"/><Relationship Id="rId12" Type="http://schemas.openxmlformats.org/officeDocument/2006/relationships/diagramLayout" Target="../diagrams/layout2.xml"/><Relationship Id="rId17" Type="http://schemas.openxmlformats.org/officeDocument/2006/relationships/diagramLayout" Target="../diagrams/layout3.xml"/><Relationship Id="rId25" Type="http://schemas.microsoft.com/office/2007/relationships/diagramDrawing" Target="../diagrams/drawing4.xml"/><Relationship Id="rId2" Type="http://schemas.openxmlformats.org/officeDocument/2006/relationships/slideLayout" Target="../slideLayouts/slideLayout6.xml"/><Relationship Id="rId16" Type="http://schemas.openxmlformats.org/officeDocument/2006/relationships/diagramData" Target="../diagrams/data3.xml"/><Relationship Id="rId20" Type="http://schemas.microsoft.com/office/2007/relationships/diagramDrawing" Target="../diagrams/drawing3.xml"/><Relationship Id="rId1" Type="http://schemas.openxmlformats.org/officeDocument/2006/relationships/tags" Target="../tags/tag36.xml"/><Relationship Id="rId6" Type="http://schemas.openxmlformats.org/officeDocument/2006/relationships/diagramData" Target="../diagrams/data1.xml"/><Relationship Id="rId11" Type="http://schemas.openxmlformats.org/officeDocument/2006/relationships/diagramData" Target="../diagrams/data2.xml"/><Relationship Id="rId24" Type="http://schemas.openxmlformats.org/officeDocument/2006/relationships/diagramColors" Target="../diagrams/colors4.xml"/><Relationship Id="rId5" Type="http://schemas.openxmlformats.org/officeDocument/2006/relationships/image" Target="../media/image6.emf"/><Relationship Id="rId15" Type="http://schemas.microsoft.com/office/2007/relationships/diagramDrawing" Target="../diagrams/drawing2.xml"/><Relationship Id="rId23" Type="http://schemas.openxmlformats.org/officeDocument/2006/relationships/diagramQuickStyle" Target="../diagrams/quickStyle4.xml"/><Relationship Id="rId10" Type="http://schemas.microsoft.com/office/2007/relationships/diagramDrawing" Target="../diagrams/drawing1.xml"/><Relationship Id="rId19" Type="http://schemas.openxmlformats.org/officeDocument/2006/relationships/diagramColors" Target="../diagrams/colors3.xml"/><Relationship Id="rId4" Type="http://schemas.openxmlformats.org/officeDocument/2006/relationships/oleObject" Target="../embeddings/oleObject14.bin"/><Relationship Id="rId9" Type="http://schemas.openxmlformats.org/officeDocument/2006/relationships/diagramColors" Target="../diagrams/colors1.xml"/><Relationship Id="rId14" Type="http://schemas.openxmlformats.org/officeDocument/2006/relationships/diagramColors" Target="../diagrams/colors2.xml"/><Relationship Id="rId22"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4.xml"/><Relationship Id="rId7" Type="http://schemas.openxmlformats.org/officeDocument/2006/relationships/image" Target="../media/image27.png"/><Relationship Id="rId2" Type="http://schemas.openxmlformats.org/officeDocument/2006/relationships/slideLayout" Target="../slideLayouts/slideLayout6.xml"/><Relationship Id="rId1" Type="http://schemas.openxmlformats.org/officeDocument/2006/relationships/tags" Target="../tags/tag37.xml"/><Relationship Id="rId6" Type="http://schemas.openxmlformats.org/officeDocument/2006/relationships/image" Target="../media/image26.png"/><Relationship Id="rId5" Type="http://schemas.openxmlformats.org/officeDocument/2006/relationships/image" Target="../media/image6.emf"/><Relationship Id="rId4" Type="http://schemas.openxmlformats.org/officeDocument/2006/relationships/oleObject" Target="../embeddings/oleObject15.bin"/><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tags" Target="../tags/tag38.xml"/><Relationship Id="rId5" Type="http://schemas.openxmlformats.org/officeDocument/2006/relationships/slide" Target="slide23.x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tags" Target="../tags/tag39.xml"/><Relationship Id="rId4" Type="http://schemas.openxmlformats.org/officeDocument/2006/relationships/image" Target="../media/image6.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tags" Target="../tags/tag40.xml"/><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19.bin"/><Relationship Id="rId7" Type="http://schemas.openxmlformats.org/officeDocument/2006/relationships/image" Target="../media/image32.png"/><Relationship Id="rId2" Type="http://schemas.openxmlformats.org/officeDocument/2006/relationships/slideLayout" Target="../slideLayouts/slideLayout6.xml"/><Relationship Id="rId1" Type="http://schemas.openxmlformats.org/officeDocument/2006/relationships/tags" Target="../tags/tag4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6.emf"/><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tags" Target="../tags/tag42.xml"/><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6.xml"/><Relationship Id="rId1" Type="http://schemas.openxmlformats.org/officeDocument/2006/relationships/tags" Target="../tags/tag43.xml"/><Relationship Id="rId5" Type="http://schemas.openxmlformats.org/officeDocument/2006/relationships/slide" Target="slide23.xml"/><Relationship Id="rId4" Type="http://schemas.openxmlformats.org/officeDocument/2006/relationships/image" Target="../media/image6.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6.xml"/><Relationship Id="rId1" Type="http://schemas.openxmlformats.org/officeDocument/2006/relationships/tags" Target="../tags/tag4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6.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1.xml"/><Relationship Id="rId1" Type="http://schemas.openxmlformats.org/officeDocument/2006/relationships/tags" Target="../tags/tag45.xml"/><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8" Type="http://schemas.openxmlformats.org/officeDocument/2006/relationships/diagramQuickStyle" Target="../diagrams/quickStyle5.xml"/><Relationship Id="rId13" Type="http://schemas.openxmlformats.org/officeDocument/2006/relationships/diagramLayout" Target="../diagrams/layout6.xml"/><Relationship Id="rId3" Type="http://schemas.openxmlformats.org/officeDocument/2006/relationships/notesSlide" Target="../notesSlides/notesSlide5.xml"/><Relationship Id="rId7" Type="http://schemas.openxmlformats.org/officeDocument/2006/relationships/diagramLayout" Target="../diagrams/layout5.xml"/><Relationship Id="rId12" Type="http://schemas.openxmlformats.org/officeDocument/2006/relationships/diagramData" Target="../diagrams/data6.xml"/><Relationship Id="rId2" Type="http://schemas.openxmlformats.org/officeDocument/2006/relationships/slideLayout" Target="../slideLayouts/slideLayout6.xml"/><Relationship Id="rId16" Type="http://schemas.microsoft.com/office/2007/relationships/diagramDrawing" Target="../diagrams/drawing6.xml"/><Relationship Id="rId1" Type="http://schemas.openxmlformats.org/officeDocument/2006/relationships/tags" Target="../tags/tag46.xml"/><Relationship Id="rId6" Type="http://schemas.openxmlformats.org/officeDocument/2006/relationships/diagramData" Target="../diagrams/data5.xml"/><Relationship Id="rId11" Type="http://schemas.openxmlformats.org/officeDocument/2006/relationships/slide" Target="slide9.xml"/><Relationship Id="rId5" Type="http://schemas.openxmlformats.org/officeDocument/2006/relationships/image" Target="../media/image6.emf"/><Relationship Id="rId15" Type="http://schemas.openxmlformats.org/officeDocument/2006/relationships/diagramColors" Target="../diagrams/colors6.xml"/><Relationship Id="rId10" Type="http://schemas.microsoft.com/office/2007/relationships/diagramDrawing" Target="../diagrams/drawing5.xml"/><Relationship Id="rId4" Type="http://schemas.openxmlformats.org/officeDocument/2006/relationships/oleObject" Target="../embeddings/oleObject24.bin"/><Relationship Id="rId9" Type="http://schemas.openxmlformats.org/officeDocument/2006/relationships/diagramColors" Target="../diagrams/colors5.xml"/><Relationship Id="rId1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7.xml"/><Relationship Id="rId6" Type="http://schemas.openxmlformats.org/officeDocument/2006/relationships/slide" Target="slide18.xml"/><Relationship Id="rId5" Type="http://schemas.openxmlformats.org/officeDocument/2006/relationships/image" Target="../media/image6.emf"/><Relationship Id="rId4" Type="http://schemas.openxmlformats.org/officeDocument/2006/relationships/oleObject" Target="../embeddings/oleObject25.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48.xml"/><Relationship Id="rId6" Type="http://schemas.openxmlformats.org/officeDocument/2006/relationships/slide" Target="slide13.xml"/><Relationship Id="rId5" Type="http://schemas.openxmlformats.org/officeDocument/2006/relationships/image" Target="../media/image6.emf"/><Relationship Id="rId4" Type="http://schemas.openxmlformats.org/officeDocument/2006/relationships/oleObject" Target="../embeddings/oleObject26.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49.xml"/><Relationship Id="rId6" Type="http://schemas.openxmlformats.org/officeDocument/2006/relationships/slide" Target="slide13.xml"/><Relationship Id="rId5" Type="http://schemas.openxmlformats.org/officeDocument/2006/relationships/image" Target="../media/image6.emf"/><Relationship Id="rId4" Type="http://schemas.openxmlformats.org/officeDocument/2006/relationships/oleObject" Target="../embeddings/oleObject27.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50.xml"/><Relationship Id="rId6" Type="http://schemas.openxmlformats.org/officeDocument/2006/relationships/slide" Target="slide13.xml"/><Relationship Id="rId5" Type="http://schemas.openxmlformats.org/officeDocument/2006/relationships/image" Target="../media/image6.emf"/><Relationship Id="rId4" Type="http://schemas.openxmlformats.org/officeDocument/2006/relationships/oleObject" Target="../embeddings/oleObject28.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51.xml"/><Relationship Id="rId6" Type="http://schemas.openxmlformats.org/officeDocument/2006/relationships/slide" Target="slide13.xml"/><Relationship Id="rId5" Type="http://schemas.openxmlformats.org/officeDocument/2006/relationships/image" Target="../media/image6.emf"/><Relationship Id="rId4" Type="http://schemas.openxmlformats.org/officeDocument/2006/relationships/oleObject" Target="../embeddings/oleObject2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8C9E541-6C4E-2440-13E1-31DBA34655CE}"/>
              </a:ext>
            </a:extLst>
          </p:cNvPr>
          <p:cNvSpPr>
            <a:spLocks noGrp="1"/>
          </p:cNvSpPr>
          <p:nvPr>
            <p:ph type="subTitle" idx="1"/>
          </p:nvPr>
        </p:nvSpPr>
        <p:spPr>
          <a:xfrm>
            <a:off x="472461" y="5675620"/>
            <a:ext cx="6191097" cy="505645"/>
          </a:xfrm>
        </p:spPr>
        <p:txBody>
          <a:bodyPr/>
          <a:lstStyle/>
          <a:p>
            <a:r>
              <a:rPr lang="en-US" sz="2400" dirty="0"/>
              <a:t>GIS in Indian Power Utilities</a:t>
            </a:r>
          </a:p>
        </p:txBody>
      </p:sp>
      <p:sp>
        <p:nvSpPr>
          <p:cNvPr id="3" name="Text Placeholder 2">
            <a:extLst>
              <a:ext uri="{FF2B5EF4-FFF2-40B4-BE49-F238E27FC236}">
                <a16:creationId xmlns:a16="http://schemas.microsoft.com/office/drawing/2014/main" id="{E8600153-1FA3-9B14-D33C-FA3DFE89B1C7}"/>
              </a:ext>
            </a:extLst>
          </p:cNvPr>
          <p:cNvSpPr>
            <a:spLocks noGrp="1"/>
          </p:cNvSpPr>
          <p:nvPr>
            <p:ph type="body" sz="quarter" idx="10"/>
          </p:nvPr>
        </p:nvSpPr>
        <p:spPr>
          <a:xfrm>
            <a:off x="470120" y="6266809"/>
            <a:ext cx="5594350" cy="298450"/>
          </a:xfrm>
        </p:spPr>
        <p:txBody>
          <a:bodyPr/>
          <a:lstStyle/>
          <a:p>
            <a:r>
              <a:rPr lang="en-US" sz="1400" b="1" dirty="0"/>
              <a:t>April 2024</a:t>
            </a:r>
          </a:p>
        </p:txBody>
      </p:sp>
      <p:pic>
        <p:nvPicPr>
          <p:cNvPr id="15362" name="Picture 2" descr="Deloitte US | Audit, Consulting, Advisory, and Tax Services">
            <a:extLst>
              <a:ext uri="{FF2B5EF4-FFF2-40B4-BE49-F238E27FC236}">
                <a16:creationId xmlns:a16="http://schemas.microsoft.com/office/drawing/2014/main" id="{53DA914F-8ECD-6AE8-E6F3-961974E0E3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3" t="34444" r="373" b="30475"/>
          <a:stretch/>
        </p:blipFill>
        <p:spPr bwMode="auto">
          <a:xfrm>
            <a:off x="147638" y="210207"/>
            <a:ext cx="2816279" cy="98797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green glowing globe with lines around it&#10;&#10;Description automatically generated">
            <a:extLst>
              <a:ext uri="{FF2B5EF4-FFF2-40B4-BE49-F238E27FC236}">
                <a16:creationId xmlns:a16="http://schemas.microsoft.com/office/drawing/2014/main" id="{23C355C7-2871-0777-6674-5AA765E58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6775" y="-143120"/>
            <a:ext cx="6875390" cy="6875390"/>
          </a:xfrm>
          <a:prstGeom prst="rect">
            <a:avLst/>
          </a:prstGeom>
        </p:spPr>
      </p:pic>
    </p:spTree>
    <p:extLst>
      <p:ext uri="{BB962C8B-B14F-4D97-AF65-F5344CB8AC3E}">
        <p14:creationId xmlns:p14="http://schemas.microsoft.com/office/powerpoint/2010/main" val="106173545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23296-86E5-66E1-D18E-39DAF37FDA3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D33D9CE-5B7E-DA99-2031-A6745D05175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C235E2B1-0334-E134-1E4B-31D3DA802D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26" name="Picture 2">
            <a:extLst>
              <a:ext uri="{FF2B5EF4-FFF2-40B4-BE49-F238E27FC236}">
                <a16:creationId xmlns:a16="http://schemas.microsoft.com/office/drawing/2014/main" id="{829749E8-140C-F671-6200-3F9855FC1EB3}"/>
              </a:ext>
            </a:extLst>
          </p:cNvPr>
          <p:cNvPicPr>
            <a:picLocks noChangeAspect="1" noChangeArrowheads="1"/>
          </p:cNvPicPr>
          <p:nvPr/>
        </p:nvPicPr>
        <p:blipFill>
          <a:blip r:embed="rId5">
            <a:alphaModFix amt="34000"/>
            <a:extLst>
              <a:ext uri="{28A0092B-C50C-407E-A947-70E740481C1C}">
                <a14:useLocalDpi xmlns:a14="http://schemas.microsoft.com/office/drawing/2010/main" val="0"/>
              </a:ext>
            </a:extLst>
          </a:blip>
          <a:srcRect/>
          <a:stretch>
            <a:fillRect/>
          </a:stretch>
        </p:blipFill>
        <p:spPr bwMode="auto">
          <a:xfrm>
            <a:off x="0" y="-21718"/>
            <a:ext cx="12192000" cy="686883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2">
            <a:extLst>
              <a:ext uri="{FF2B5EF4-FFF2-40B4-BE49-F238E27FC236}">
                <a16:creationId xmlns:a16="http://schemas.microsoft.com/office/drawing/2014/main" id="{162ADD07-D270-FF2B-E80C-10C8F0B3724A}"/>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COVERAGE</a:t>
            </a:r>
          </a:p>
        </p:txBody>
      </p:sp>
      <p:sp>
        <p:nvSpPr>
          <p:cNvPr id="3" name="TextBox 2">
            <a:extLst>
              <a:ext uri="{FF2B5EF4-FFF2-40B4-BE49-F238E27FC236}">
                <a16:creationId xmlns:a16="http://schemas.microsoft.com/office/drawing/2014/main" id="{011A3441-A0C3-1BE4-E6FF-B64C98342994}"/>
              </a:ext>
            </a:extLst>
          </p:cNvPr>
          <p:cNvSpPr txBox="1"/>
          <p:nvPr/>
        </p:nvSpPr>
        <p:spPr>
          <a:xfrm>
            <a:off x="9166684" y="380583"/>
            <a:ext cx="1905000" cy="338554"/>
          </a:xfrm>
          <a:prstGeom prst="rect">
            <a:avLst/>
          </a:prstGeom>
          <a:noFill/>
        </p:spPr>
        <p:txBody>
          <a:bodyPr wrap="square">
            <a:spAutoFit/>
          </a:bodyPr>
          <a:lstStyle/>
          <a:p>
            <a:pPr algn="ctr"/>
            <a:r>
              <a:rPr kumimoji="0" lang="en-US" sz="1600" b="1" i="0" u="none" strike="noStrike" kern="1200" cap="none" spc="0" normalizeH="0" baseline="0" noProof="0" dirty="0">
                <a:ln>
                  <a:noFill/>
                </a:ln>
                <a:solidFill>
                  <a:schemeClr val="tx1"/>
                </a:solidFill>
                <a:effectLst/>
                <a:uLnTx/>
                <a:uFillTx/>
                <a:latin typeface="+mn-lt"/>
                <a:ea typeface="+mn-ea"/>
                <a:cs typeface="+mn-cs"/>
              </a:rPr>
              <a:t>Slide No.</a:t>
            </a:r>
            <a:endParaRPr lang="en-US" sz="1600" dirty="0"/>
          </a:p>
        </p:txBody>
      </p:sp>
      <p:graphicFrame>
        <p:nvGraphicFramePr>
          <p:cNvPr id="4" name="Table 3">
            <a:extLst>
              <a:ext uri="{FF2B5EF4-FFF2-40B4-BE49-F238E27FC236}">
                <a16:creationId xmlns:a16="http://schemas.microsoft.com/office/drawing/2014/main" id="{FF638F75-A50D-F1DA-10B3-AC8C1362F63D}"/>
              </a:ext>
            </a:extLst>
          </p:cNvPr>
          <p:cNvGraphicFramePr>
            <a:graphicFrameLocks noGrp="1"/>
          </p:cNvGraphicFramePr>
          <p:nvPr>
            <p:extLst>
              <p:ext uri="{D42A27DB-BD31-4B8C-83A1-F6EECF244321}">
                <p14:modId xmlns:p14="http://schemas.microsoft.com/office/powerpoint/2010/main" val="2740133414"/>
              </p:ext>
            </p:extLst>
          </p:nvPr>
        </p:nvGraphicFramePr>
        <p:xfrm>
          <a:off x="1122857" y="764473"/>
          <a:ext cx="9764484" cy="5679022"/>
        </p:xfrm>
        <a:graphic>
          <a:graphicData uri="http://schemas.openxmlformats.org/drawingml/2006/table">
            <a:tbl>
              <a:tblPr>
                <a:tableStyleId>{1E171933-4619-4E11-9A3F-F7608DF75F80}</a:tableStyleId>
              </a:tblPr>
              <a:tblGrid>
                <a:gridCol w="476002">
                  <a:extLst>
                    <a:ext uri="{9D8B030D-6E8A-4147-A177-3AD203B41FA5}">
                      <a16:colId xmlns:a16="http://schemas.microsoft.com/office/drawing/2014/main" val="20000"/>
                    </a:ext>
                  </a:extLst>
                </a:gridCol>
                <a:gridCol w="7821462">
                  <a:extLst>
                    <a:ext uri="{9D8B030D-6E8A-4147-A177-3AD203B41FA5}">
                      <a16:colId xmlns:a16="http://schemas.microsoft.com/office/drawing/2014/main" val="20001"/>
                    </a:ext>
                  </a:extLst>
                </a:gridCol>
                <a:gridCol w="1467020">
                  <a:extLst>
                    <a:ext uri="{9D8B030D-6E8A-4147-A177-3AD203B41FA5}">
                      <a16:colId xmlns:a16="http://schemas.microsoft.com/office/drawing/2014/main" val="245187363"/>
                    </a:ext>
                  </a:extLst>
                </a:gridCol>
              </a:tblGrid>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Growth trends in Indian Power sector</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3</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3967261105"/>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Introduction to GIS – Key Components &amp; Working Principles</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4</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1619683811"/>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Major Applications of GIS in Power Sector</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5</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1648482100"/>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Types of GIS Technologies adopted by Power Sector Utilities</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6</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10000"/>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Key Challenges Faced by DISCOMs and major solutions of GIS implementation</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7</a:t>
                      </a:r>
                    </a:p>
                  </a:txBody>
                  <a:tcPr marL="75190" marR="75190" marT="37595" marB="37595" anchor="ctr">
                    <a:solidFill>
                      <a:srgbClr val="FFFFFF">
                        <a:alpha val="60000"/>
                      </a:srgbClr>
                    </a:solidFill>
                  </a:tcPr>
                </a:tc>
                <a:extLst>
                  <a:ext uri="{0D108BD9-81ED-4DB2-BD59-A6C34878D82A}">
                    <a16:rowId xmlns:a16="http://schemas.microsoft.com/office/drawing/2014/main" val="3499363544"/>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State wise GIS Implementation in India</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8</a:t>
                      </a:r>
                    </a:p>
                  </a:txBody>
                  <a:tcPr marL="75190" marR="75190" marT="37595" marB="37595" anchor="ctr">
                    <a:solidFill>
                      <a:srgbClr val="FFFFFF">
                        <a:alpha val="60000"/>
                      </a:srgbClr>
                    </a:solidFill>
                  </a:tcPr>
                </a:tc>
                <a:extLst>
                  <a:ext uri="{0D108BD9-81ED-4DB2-BD59-A6C34878D82A}">
                    <a16:rowId xmlns:a16="http://schemas.microsoft.com/office/drawing/2014/main" val="1757870511"/>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GIS Implementation Case Studies – Adoption by Indian Power Utilities</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9</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2922937316"/>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Case Studies – Select GIS Tenders</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13</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10001"/>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Growth Outlook for GIS market</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16</a:t>
                      </a:r>
                    </a:p>
                  </a:txBody>
                  <a:tcPr marL="75190" marR="75190" marT="37595" marB="37595" anchor="ctr">
                    <a:solidFill>
                      <a:srgbClr val="FFFFFF">
                        <a:alpha val="60000"/>
                      </a:srgbClr>
                    </a:solidFill>
                  </a:tcPr>
                </a:tc>
                <a:extLst>
                  <a:ext uri="{0D108BD9-81ED-4DB2-BD59-A6C34878D82A}">
                    <a16:rowId xmlns:a16="http://schemas.microsoft.com/office/drawing/2014/main" val="2792516927"/>
                  </a:ext>
                </a:extLst>
              </a:tr>
              <a:tr h="360628">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Deloitte’s current capabilities in Power Sector Consultancy and opportunity to tap into GIS consultancy market</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17</a:t>
                      </a:r>
                    </a:p>
                  </a:txBody>
                  <a:tcPr marL="75190" marR="75190" marT="37595" marB="37595" anchor="ctr">
                    <a:solidFill>
                      <a:srgbClr val="FFFFFF">
                        <a:alpha val="60000"/>
                      </a:srgbClr>
                    </a:solidFill>
                  </a:tcPr>
                </a:tc>
                <a:extLst>
                  <a:ext uri="{0D108BD9-81ED-4DB2-BD59-A6C34878D82A}">
                    <a16:rowId xmlns:a16="http://schemas.microsoft.com/office/drawing/2014/main" val="2369030177"/>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Major Barriers to GIS implementation</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18</a:t>
                      </a:r>
                    </a:p>
                  </a:txBody>
                  <a:tcPr marL="75190" marR="75190" marT="37595" marB="37595" anchor="ctr">
                    <a:solidFill>
                      <a:srgbClr val="FFFFFF">
                        <a:alpha val="60000"/>
                      </a:srgbClr>
                    </a:solidFill>
                  </a:tcPr>
                </a:tc>
                <a:extLst>
                  <a:ext uri="{0D108BD9-81ED-4DB2-BD59-A6C34878D82A}">
                    <a16:rowId xmlns:a16="http://schemas.microsoft.com/office/drawing/2014/main" val="2815290986"/>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Key Takeaways</a:t>
                      </a: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19</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1921685958"/>
                  </a:ext>
                </a:extLst>
              </a:tr>
              <a:tr h="43142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4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solidFill>
                      <a:srgbClr val="FFFFFF">
                        <a:alpha val="60000"/>
                      </a:srgbClr>
                    </a:solid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schemeClr val="tx1"/>
                          </a:solidFill>
                          <a:effectLst/>
                          <a:uLnTx/>
                          <a:uFillTx/>
                        </a:rPr>
                        <a:t>Annexure</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75190" marR="75190" marT="37595" marB="37595" anchor="ctr">
                    <a:solidFill>
                      <a:srgbClr val="FFFFFF">
                        <a:alpha val="60000"/>
                      </a:srgbClr>
                    </a:solidFill>
                  </a:tcPr>
                </a:tc>
                <a:extLst>
                  <a:ext uri="{0D108BD9-81ED-4DB2-BD59-A6C34878D82A}">
                    <a16:rowId xmlns:a16="http://schemas.microsoft.com/office/drawing/2014/main" val="738621022"/>
                  </a:ext>
                </a:extLst>
              </a:tr>
            </a:tbl>
          </a:graphicData>
        </a:graphic>
      </p:graphicFrame>
      <p:sp>
        <p:nvSpPr>
          <p:cNvPr id="62" name="Oval 61">
            <a:extLst>
              <a:ext uri="{FF2B5EF4-FFF2-40B4-BE49-F238E27FC236}">
                <a16:creationId xmlns:a16="http://schemas.microsoft.com/office/drawing/2014/main" id="{6764157D-437B-5F32-77B7-998D517E1E20}"/>
              </a:ext>
            </a:extLst>
          </p:cNvPr>
          <p:cNvSpPr>
            <a:spLocks noChangeAspect="1"/>
          </p:cNvSpPr>
          <p:nvPr/>
        </p:nvSpPr>
        <p:spPr>
          <a:xfrm>
            <a:off x="1187694" y="793687"/>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1</a:t>
            </a:r>
          </a:p>
        </p:txBody>
      </p:sp>
      <p:sp>
        <p:nvSpPr>
          <p:cNvPr id="68" name="Oval 67">
            <a:extLst>
              <a:ext uri="{FF2B5EF4-FFF2-40B4-BE49-F238E27FC236}">
                <a16:creationId xmlns:a16="http://schemas.microsoft.com/office/drawing/2014/main" id="{2CEE2C40-5B83-F0CC-64D4-4EF32C98E757}"/>
              </a:ext>
            </a:extLst>
          </p:cNvPr>
          <p:cNvSpPr>
            <a:spLocks noChangeAspect="1"/>
          </p:cNvSpPr>
          <p:nvPr/>
        </p:nvSpPr>
        <p:spPr>
          <a:xfrm>
            <a:off x="1187694" y="1227906"/>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2</a:t>
            </a:r>
          </a:p>
        </p:txBody>
      </p:sp>
      <p:sp>
        <p:nvSpPr>
          <p:cNvPr id="69" name="Oval 68">
            <a:extLst>
              <a:ext uri="{FF2B5EF4-FFF2-40B4-BE49-F238E27FC236}">
                <a16:creationId xmlns:a16="http://schemas.microsoft.com/office/drawing/2014/main" id="{915146CA-9F29-82D8-9954-F84DEB38A125}"/>
              </a:ext>
            </a:extLst>
          </p:cNvPr>
          <p:cNvSpPr>
            <a:spLocks noChangeAspect="1"/>
          </p:cNvSpPr>
          <p:nvPr/>
        </p:nvSpPr>
        <p:spPr>
          <a:xfrm>
            <a:off x="1196874" y="2084371"/>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4</a:t>
            </a:r>
          </a:p>
        </p:txBody>
      </p:sp>
      <p:sp>
        <p:nvSpPr>
          <p:cNvPr id="70" name="Oval 69">
            <a:extLst>
              <a:ext uri="{FF2B5EF4-FFF2-40B4-BE49-F238E27FC236}">
                <a16:creationId xmlns:a16="http://schemas.microsoft.com/office/drawing/2014/main" id="{2D5C57E7-B958-A571-C60F-5610618CFDAE}"/>
              </a:ext>
            </a:extLst>
          </p:cNvPr>
          <p:cNvSpPr>
            <a:spLocks noChangeAspect="1"/>
          </p:cNvSpPr>
          <p:nvPr/>
        </p:nvSpPr>
        <p:spPr>
          <a:xfrm>
            <a:off x="1187694" y="2516807"/>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5</a:t>
            </a:r>
          </a:p>
        </p:txBody>
      </p:sp>
      <p:sp>
        <p:nvSpPr>
          <p:cNvPr id="71" name="Oval 70">
            <a:extLst>
              <a:ext uri="{FF2B5EF4-FFF2-40B4-BE49-F238E27FC236}">
                <a16:creationId xmlns:a16="http://schemas.microsoft.com/office/drawing/2014/main" id="{4B55B940-2FA2-0397-6F74-54D05FE031DB}"/>
              </a:ext>
            </a:extLst>
          </p:cNvPr>
          <p:cNvSpPr>
            <a:spLocks noChangeAspect="1"/>
          </p:cNvSpPr>
          <p:nvPr/>
        </p:nvSpPr>
        <p:spPr>
          <a:xfrm>
            <a:off x="1187694" y="2950356"/>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6</a:t>
            </a:r>
          </a:p>
        </p:txBody>
      </p:sp>
      <p:sp>
        <p:nvSpPr>
          <p:cNvPr id="72" name="Oval 71">
            <a:extLst>
              <a:ext uri="{FF2B5EF4-FFF2-40B4-BE49-F238E27FC236}">
                <a16:creationId xmlns:a16="http://schemas.microsoft.com/office/drawing/2014/main" id="{B239384A-1896-BEAA-2D17-50F6999E7839}"/>
              </a:ext>
            </a:extLst>
          </p:cNvPr>
          <p:cNvSpPr>
            <a:spLocks noChangeAspect="1"/>
          </p:cNvSpPr>
          <p:nvPr/>
        </p:nvSpPr>
        <p:spPr>
          <a:xfrm>
            <a:off x="1196874" y="3388535"/>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7</a:t>
            </a:r>
          </a:p>
        </p:txBody>
      </p:sp>
      <p:sp>
        <p:nvSpPr>
          <p:cNvPr id="73" name="Oval 72">
            <a:extLst>
              <a:ext uri="{FF2B5EF4-FFF2-40B4-BE49-F238E27FC236}">
                <a16:creationId xmlns:a16="http://schemas.microsoft.com/office/drawing/2014/main" id="{3D5DC93B-FDAA-D624-A016-D7858A74FAF1}"/>
              </a:ext>
            </a:extLst>
          </p:cNvPr>
          <p:cNvSpPr>
            <a:spLocks noChangeAspect="1"/>
          </p:cNvSpPr>
          <p:nvPr/>
        </p:nvSpPr>
        <p:spPr>
          <a:xfrm>
            <a:off x="1196874" y="3814936"/>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8</a:t>
            </a:r>
          </a:p>
        </p:txBody>
      </p:sp>
      <p:sp>
        <p:nvSpPr>
          <p:cNvPr id="7" name="Oval 6">
            <a:extLst>
              <a:ext uri="{FF2B5EF4-FFF2-40B4-BE49-F238E27FC236}">
                <a16:creationId xmlns:a16="http://schemas.microsoft.com/office/drawing/2014/main" id="{FB21E844-B800-DCC9-4DF8-650115C6CC6C}"/>
              </a:ext>
            </a:extLst>
          </p:cNvPr>
          <p:cNvSpPr>
            <a:spLocks noChangeAspect="1"/>
          </p:cNvSpPr>
          <p:nvPr/>
        </p:nvSpPr>
        <p:spPr>
          <a:xfrm>
            <a:off x="1187694" y="4241979"/>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9</a:t>
            </a:r>
          </a:p>
        </p:txBody>
      </p:sp>
      <p:sp>
        <p:nvSpPr>
          <p:cNvPr id="8" name="Oval 7">
            <a:extLst>
              <a:ext uri="{FF2B5EF4-FFF2-40B4-BE49-F238E27FC236}">
                <a16:creationId xmlns:a16="http://schemas.microsoft.com/office/drawing/2014/main" id="{5CD9BBCF-6B79-2C47-D0D0-70766BAF4953}"/>
              </a:ext>
            </a:extLst>
          </p:cNvPr>
          <p:cNvSpPr>
            <a:spLocks noChangeAspect="1"/>
          </p:cNvSpPr>
          <p:nvPr/>
        </p:nvSpPr>
        <p:spPr>
          <a:xfrm>
            <a:off x="1187694" y="1666085"/>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200" b="1" dirty="0">
                <a:solidFill>
                  <a:prstClr val="white"/>
                </a:solidFill>
                <a:latin typeface="Verdana"/>
              </a:rPr>
              <a:t>3</a:t>
            </a:r>
          </a:p>
        </p:txBody>
      </p:sp>
      <p:grpSp>
        <p:nvGrpSpPr>
          <p:cNvPr id="12" name="Group 11">
            <a:extLst>
              <a:ext uri="{FF2B5EF4-FFF2-40B4-BE49-F238E27FC236}">
                <a16:creationId xmlns:a16="http://schemas.microsoft.com/office/drawing/2014/main" id="{185555C4-7394-3CE9-D0ED-0D5FE73DB1DC}"/>
              </a:ext>
            </a:extLst>
          </p:cNvPr>
          <p:cNvGrpSpPr/>
          <p:nvPr/>
        </p:nvGrpSpPr>
        <p:grpSpPr>
          <a:xfrm>
            <a:off x="1196874" y="4704054"/>
            <a:ext cx="464753" cy="390736"/>
            <a:chOff x="1196874" y="5033485"/>
            <a:chExt cx="464753" cy="390736"/>
          </a:xfrm>
        </p:grpSpPr>
        <p:sp>
          <p:nvSpPr>
            <p:cNvPr id="2" name="Oval 1">
              <a:extLst>
                <a:ext uri="{FF2B5EF4-FFF2-40B4-BE49-F238E27FC236}">
                  <a16:creationId xmlns:a16="http://schemas.microsoft.com/office/drawing/2014/main" id="{A3763843-3A58-AEA3-8E11-0993010D1DB0}"/>
                </a:ext>
              </a:extLst>
            </p:cNvPr>
            <p:cNvSpPr>
              <a:spLocks noChangeAspect="1"/>
            </p:cNvSpPr>
            <p:nvPr/>
          </p:nvSpPr>
          <p:spPr>
            <a:xfrm>
              <a:off x="1196874" y="5033485"/>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endParaRPr lang="en-US" sz="1000" b="1" dirty="0">
                <a:solidFill>
                  <a:prstClr val="white"/>
                </a:solidFill>
                <a:latin typeface="Verdana"/>
              </a:endParaRPr>
            </a:p>
          </p:txBody>
        </p:sp>
        <p:sp>
          <p:nvSpPr>
            <p:cNvPr id="9" name="TextBox 8">
              <a:extLst>
                <a:ext uri="{FF2B5EF4-FFF2-40B4-BE49-F238E27FC236}">
                  <a16:creationId xmlns:a16="http://schemas.microsoft.com/office/drawing/2014/main" id="{D7FDF333-7997-9E72-F52E-099945448D07}"/>
                </a:ext>
              </a:extLst>
            </p:cNvPr>
            <p:cNvSpPr txBox="1"/>
            <p:nvPr/>
          </p:nvSpPr>
          <p:spPr>
            <a:xfrm>
              <a:off x="1270891" y="5126000"/>
              <a:ext cx="390736" cy="184666"/>
            </a:xfrm>
            <a:prstGeom prst="rect">
              <a:avLst/>
            </a:prstGeom>
            <a:noFill/>
          </p:spPr>
          <p:txBody>
            <a:bodyPr wrap="square" lIns="0" tIns="0" rIns="0" bIns="0" rtlCol="0">
              <a:spAutoFit/>
            </a:bodyPr>
            <a:lstStyle/>
            <a:p>
              <a:pPr>
                <a:spcBef>
                  <a:spcPts val="600"/>
                </a:spcBef>
                <a:buSzPct val="100000"/>
              </a:pPr>
              <a:r>
                <a:rPr lang="en-US" sz="1200" b="1" dirty="0">
                  <a:solidFill>
                    <a:schemeClr val="bg1"/>
                  </a:solidFill>
                </a:rPr>
                <a:t>10</a:t>
              </a:r>
            </a:p>
          </p:txBody>
        </p:sp>
      </p:grpSp>
      <p:grpSp>
        <p:nvGrpSpPr>
          <p:cNvPr id="13" name="Group 12">
            <a:extLst>
              <a:ext uri="{FF2B5EF4-FFF2-40B4-BE49-F238E27FC236}">
                <a16:creationId xmlns:a16="http://schemas.microsoft.com/office/drawing/2014/main" id="{ABFA6C58-CA5E-2C2E-80A3-E42D98929BF7}"/>
              </a:ext>
            </a:extLst>
          </p:cNvPr>
          <p:cNvGrpSpPr/>
          <p:nvPr/>
        </p:nvGrpSpPr>
        <p:grpSpPr>
          <a:xfrm>
            <a:off x="1196874" y="5166666"/>
            <a:ext cx="464753" cy="390736"/>
            <a:chOff x="1196874" y="5603056"/>
            <a:chExt cx="464753" cy="390736"/>
          </a:xfrm>
        </p:grpSpPr>
        <p:sp>
          <p:nvSpPr>
            <p:cNvPr id="10" name="Oval 9">
              <a:extLst>
                <a:ext uri="{FF2B5EF4-FFF2-40B4-BE49-F238E27FC236}">
                  <a16:creationId xmlns:a16="http://schemas.microsoft.com/office/drawing/2014/main" id="{442B2514-81E1-92E2-CBE7-B51D00287AE9}"/>
                </a:ext>
              </a:extLst>
            </p:cNvPr>
            <p:cNvSpPr>
              <a:spLocks noChangeAspect="1"/>
            </p:cNvSpPr>
            <p:nvPr/>
          </p:nvSpPr>
          <p:spPr>
            <a:xfrm>
              <a:off x="1196874" y="5603056"/>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endParaRPr lang="en-US" sz="1000" b="1" dirty="0">
                <a:solidFill>
                  <a:prstClr val="white"/>
                </a:solidFill>
                <a:latin typeface="Verdana"/>
              </a:endParaRPr>
            </a:p>
          </p:txBody>
        </p:sp>
        <p:sp>
          <p:nvSpPr>
            <p:cNvPr id="11" name="TextBox 10">
              <a:extLst>
                <a:ext uri="{FF2B5EF4-FFF2-40B4-BE49-F238E27FC236}">
                  <a16:creationId xmlns:a16="http://schemas.microsoft.com/office/drawing/2014/main" id="{10C63CC0-60E8-73D4-F986-F84105FD9529}"/>
                </a:ext>
              </a:extLst>
            </p:cNvPr>
            <p:cNvSpPr txBox="1"/>
            <p:nvPr/>
          </p:nvSpPr>
          <p:spPr>
            <a:xfrm>
              <a:off x="1270891" y="5695571"/>
              <a:ext cx="390736" cy="184666"/>
            </a:xfrm>
            <a:prstGeom prst="rect">
              <a:avLst/>
            </a:prstGeom>
            <a:noFill/>
          </p:spPr>
          <p:txBody>
            <a:bodyPr wrap="square" lIns="0" tIns="0" rIns="0" bIns="0" rtlCol="0">
              <a:spAutoFit/>
            </a:bodyPr>
            <a:lstStyle/>
            <a:p>
              <a:pPr>
                <a:spcBef>
                  <a:spcPts val="600"/>
                </a:spcBef>
                <a:buSzPct val="100000"/>
              </a:pPr>
              <a:r>
                <a:rPr lang="en-US" sz="1200" b="1" dirty="0">
                  <a:solidFill>
                    <a:schemeClr val="bg1"/>
                  </a:solidFill>
                </a:rPr>
                <a:t>11</a:t>
              </a:r>
            </a:p>
          </p:txBody>
        </p:sp>
      </p:grpSp>
      <p:grpSp>
        <p:nvGrpSpPr>
          <p:cNvPr id="14" name="Group 13">
            <a:extLst>
              <a:ext uri="{FF2B5EF4-FFF2-40B4-BE49-F238E27FC236}">
                <a16:creationId xmlns:a16="http://schemas.microsoft.com/office/drawing/2014/main" id="{589D2BAA-ACA7-6CAD-5744-B80C0CC3B717}"/>
              </a:ext>
            </a:extLst>
          </p:cNvPr>
          <p:cNvGrpSpPr/>
          <p:nvPr/>
        </p:nvGrpSpPr>
        <p:grpSpPr>
          <a:xfrm>
            <a:off x="1198327" y="5602487"/>
            <a:ext cx="464753" cy="390736"/>
            <a:chOff x="1196874" y="5033485"/>
            <a:chExt cx="464753" cy="390736"/>
          </a:xfrm>
        </p:grpSpPr>
        <p:sp>
          <p:nvSpPr>
            <p:cNvPr id="15" name="Oval 14">
              <a:extLst>
                <a:ext uri="{FF2B5EF4-FFF2-40B4-BE49-F238E27FC236}">
                  <a16:creationId xmlns:a16="http://schemas.microsoft.com/office/drawing/2014/main" id="{746F4A12-1C89-DB0A-EEA8-620C631406B7}"/>
                </a:ext>
              </a:extLst>
            </p:cNvPr>
            <p:cNvSpPr>
              <a:spLocks noChangeAspect="1"/>
            </p:cNvSpPr>
            <p:nvPr/>
          </p:nvSpPr>
          <p:spPr>
            <a:xfrm>
              <a:off x="1196874" y="5033485"/>
              <a:ext cx="390736" cy="3907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endParaRPr lang="en-US" sz="1000" b="1" dirty="0">
                <a:solidFill>
                  <a:prstClr val="white"/>
                </a:solidFill>
                <a:latin typeface="Verdana"/>
              </a:endParaRPr>
            </a:p>
          </p:txBody>
        </p:sp>
        <p:sp>
          <p:nvSpPr>
            <p:cNvPr id="16" name="TextBox 15">
              <a:extLst>
                <a:ext uri="{FF2B5EF4-FFF2-40B4-BE49-F238E27FC236}">
                  <a16:creationId xmlns:a16="http://schemas.microsoft.com/office/drawing/2014/main" id="{1B7A3DC9-DD06-763D-E535-33AF64D455DD}"/>
                </a:ext>
              </a:extLst>
            </p:cNvPr>
            <p:cNvSpPr txBox="1"/>
            <p:nvPr/>
          </p:nvSpPr>
          <p:spPr>
            <a:xfrm>
              <a:off x="1270891" y="5126000"/>
              <a:ext cx="390736" cy="184666"/>
            </a:xfrm>
            <a:prstGeom prst="rect">
              <a:avLst/>
            </a:prstGeom>
            <a:noFill/>
          </p:spPr>
          <p:txBody>
            <a:bodyPr wrap="square" lIns="0" tIns="0" rIns="0" bIns="0" rtlCol="0">
              <a:spAutoFit/>
            </a:bodyPr>
            <a:lstStyle/>
            <a:p>
              <a:pPr>
                <a:spcBef>
                  <a:spcPts val="600"/>
                </a:spcBef>
                <a:buSzPct val="100000"/>
              </a:pPr>
              <a:r>
                <a:rPr lang="en-US" sz="1200" b="1" dirty="0">
                  <a:solidFill>
                    <a:schemeClr val="bg1"/>
                  </a:solidFill>
                </a:rPr>
                <a:t>12</a:t>
              </a:r>
            </a:p>
          </p:txBody>
        </p:sp>
      </p:grpSp>
    </p:spTree>
    <p:extLst>
      <p:ext uri="{BB962C8B-B14F-4D97-AF65-F5344CB8AC3E}">
        <p14:creationId xmlns:p14="http://schemas.microsoft.com/office/powerpoint/2010/main" val="364145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90E18-79C2-DBAD-E2B4-BE9099235A0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C305975-07FF-0F98-51D8-E8A28538FF30}"/>
              </a:ext>
            </a:extLst>
          </p:cNvPr>
          <p:cNvGraphicFramePr>
            <a:graphicFrameLocks noChangeAspect="1"/>
          </p:cNvGraphicFramePr>
          <p:nvPr>
            <p:custDataLst>
              <p:tags r:id="rId1"/>
            </p:custDataLst>
            <p:extLst>
              <p:ext uri="{D42A27DB-BD31-4B8C-83A1-F6EECF244321}">
                <p14:modId xmlns:p14="http://schemas.microsoft.com/office/powerpoint/2010/main" val="1034116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5" imgH="416" progId="TCLayout.ActiveDocument.1">
                  <p:embed/>
                </p:oleObj>
              </mc:Choice>
              <mc:Fallback>
                <p:oleObj name="think-cell Slide" r:id="rId13" imgW="415" imgH="416" progId="TCLayout.ActiveDocument.1">
                  <p:embed/>
                  <p:pic>
                    <p:nvPicPr>
                      <p:cNvPr id="5" name="think-cell data - do not delete" hidden="1">
                        <a:extLst>
                          <a:ext uri="{FF2B5EF4-FFF2-40B4-BE49-F238E27FC236}">
                            <a16:creationId xmlns:a16="http://schemas.microsoft.com/office/drawing/2014/main" id="{CC305975-07FF-0F98-51D8-E8A28538FF30}"/>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AA4F03F6-C3DD-9294-4DAF-D476B35879F1}"/>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Indian Power Sector has witnessed significant growth in terms of capacity addition, demand </a:t>
            </a:r>
            <a:r>
              <a:rPr lang="en-US" dirty="0" err="1">
                <a:solidFill>
                  <a:schemeClr val="bg2">
                    <a:lumMod val="50000"/>
                  </a:schemeClr>
                </a:solidFill>
              </a:rPr>
              <a:t>etc</a:t>
            </a:r>
            <a:r>
              <a:rPr lang="en-US" dirty="0">
                <a:solidFill>
                  <a:schemeClr val="bg2">
                    <a:lumMod val="50000"/>
                  </a:schemeClr>
                </a:solidFill>
              </a:rPr>
              <a:t>; further growth envisaged</a:t>
            </a:r>
          </a:p>
        </p:txBody>
      </p:sp>
      <p:sp>
        <p:nvSpPr>
          <p:cNvPr id="6" name="Title 2">
            <a:extLst>
              <a:ext uri="{FF2B5EF4-FFF2-40B4-BE49-F238E27FC236}">
                <a16:creationId xmlns:a16="http://schemas.microsoft.com/office/drawing/2014/main" id="{9FC4AEF5-E172-5551-A9FC-6FC9BAF69E6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Growth trends in Indian Power sector</a:t>
            </a:r>
          </a:p>
        </p:txBody>
      </p:sp>
      <p:cxnSp>
        <p:nvCxnSpPr>
          <p:cNvPr id="92" name="Straight Connector 91">
            <a:extLst>
              <a:ext uri="{FF2B5EF4-FFF2-40B4-BE49-F238E27FC236}">
                <a16:creationId xmlns:a16="http://schemas.microsoft.com/office/drawing/2014/main" id="{98CEC18D-8631-8854-3336-15FF7C0CF27D}"/>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D13DDCE-6AF4-9ED7-70FE-7875B18F079E}"/>
              </a:ext>
            </a:extLst>
          </p:cNvPr>
          <p:cNvSpPr/>
          <p:nvPr/>
        </p:nvSpPr>
        <p:spPr bwMode="gray">
          <a:xfrm>
            <a:off x="511546" y="974316"/>
            <a:ext cx="5548172" cy="2515125"/>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mj-lt"/>
              <a:ea typeface="Verdana" panose="020B0604030504040204" pitchFamily="34" charset="0"/>
            </a:endParaRPr>
          </a:p>
        </p:txBody>
      </p:sp>
      <p:sp>
        <p:nvSpPr>
          <p:cNvPr id="3" name="Rectangle 2">
            <a:extLst>
              <a:ext uri="{FF2B5EF4-FFF2-40B4-BE49-F238E27FC236}">
                <a16:creationId xmlns:a16="http://schemas.microsoft.com/office/drawing/2014/main" id="{1199FB3F-6483-018B-C85A-9FE394882EC8}"/>
              </a:ext>
            </a:extLst>
          </p:cNvPr>
          <p:cNvSpPr/>
          <p:nvPr/>
        </p:nvSpPr>
        <p:spPr bwMode="gray">
          <a:xfrm>
            <a:off x="6215974" y="985468"/>
            <a:ext cx="5548172" cy="2503974"/>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mj-lt"/>
              <a:ea typeface="Verdana" panose="020B0604030504040204" pitchFamily="34" charset="0"/>
            </a:endParaRPr>
          </a:p>
        </p:txBody>
      </p:sp>
      <p:sp>
        <p:nvSpPr>
          <p:cNvPr id="4" name="Rectangle 3">
            <a:extLst>
              <a:ext uri="{FF2B5EF4-FFF2-40B4-BE49-F238E27FC236}">
                <a16:creationId xmlns:a16="http://schemas.microsoft.com/office/drawing/2014/main" id="{9589976C-7548-E5D3-8841-262A771C8A8D}"/>
              </a:ext>
            </a:extLst>
          </p:cNvPr>
          <p:cNvSpPr/>
          <p:nvPr/>
        </p:nvSpPr>
        <p:spPr bwMode="gray">
          <a:xfrm>
            <a:off x="511546" y="3567247"/>
            <a:ext cx="5548172" cy="256822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b="1">
              <a:solidFill>
                <a:schemeClr val="bg1"/>
              </a:solidFill>
              <a:latin typeface="+mj-lt"/>
            </a:endParaRPr>
          </a:p>
        </p:txBody>
      </p:sp>
      <p:sp>
        <p:nvSpPr>
          <p:cNvPr id="7" name="Rectangle 6">
            <a:extLst>
              <a:ext uri="{FF2B5EF4-FFF2-40B4-BE49-F238E27FC236}">
                <a16:creationId xmlns:a16="http://schemas.microsoft.com/office/drawing/2014/main" id="{592C71FA-8989-39EE-77D3-EB52E88FDD66}"/>
              </a:ext>
            </a:extLst>
          </p:cNvPr>
          <p:cNvSpPr/>
          <p:nvPr/>
        </p:nvSpPr>
        <p:spPr bwMode="gray">
          <a:xfrm>
            <a:off x="6227126" y="3556096"/>
            <a:ext cx="5548172" cy="256822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b="1">
              <a:solidFill>
                <a:schemeClr val="bg1"/>
              </a:solidFill>
              <a:latin typeface="+mj-lt"/>
            </a:endParaRPr>
          </a:p>
        </p:txBody>
      </p:sp>
      <p:graphicFrame>
        <p:nvGraphicFramePr>
          <p:cNvPr id="8" name="Chart 7">
            <a:extLst>
              <a:ext uri="{FF2B5EF4-FFF2-40B4-BE49-F238E27FC236}">
                <a16:creationId xmlns:a16="http://schemas.microsoft.com/office/drawing/2014/main" id="{B045DEE7-3D4E-75FF-E3E4-6C3F2495B90D}"/>
              </a:ext>
            </a:extLst>
          </p:cNvPr>
          <p:cNvGraphicFramePr/>
          <p:nvPr/>
        </p:nvGraphicFramePr>
        <p:xfrm>
          <a:off x="616366" y="4201307"/>
          <a:ext cx="5376672" cy="1883664"/>
        </p:xfrm>
        <a:graphic>
          <a:graphicData uri="http://schemas.openxmlformats.org/drawingml/2006/chart">
            <c:chart xmlns:c="http://schemas.openxmlformats.org/drawingml/2006/chart" xmlns:r="http://schemas.openxmlformats.org/officeDocument/2006/relationships" r:id="rId15"/>
          </a:graphicData>
        </a:graphic>
      </p:graphicFrame>
      <p:sp>
        <p:nvSpPr>
          <p:cNvPr id="11" name="Rectangle 10">
            <a:extLst>
              <a:ext uri="{FF2B5EF4-FFF2-40B4-BE49-F238E27FC236}">
                <a16:creationId xmlns:a16="http://schemas.microsoft.com/office/drawing/2014/main" id="{443A5E61-11C7-EEF0-2954-A3A3B5546997}"/>
              </a:ext>
            </a:extLst>
          </p:cNvPr>
          <p:cNvSpPr/>
          <p:nvPr/>
        </p:nvSpPr>
        <p:spPr>
          <a:xfrm>
            <a:off x="616366" y="995801"/>
            <a:ext cx="5428112" cy="600164"/>
          </a:xfrm>
          <a:prstGeom prst="rect">
            <a:avLst/>
          </a:prstGeom>
        </p:spPr>
        <p:txBody>
          <a:bodyPr wrap="square">
            <a:spAutoFit/>
          </a:bodyPr>
          <a:lstStyle/>
          <a:p>
            <a:pPr algn="just" defTabSz="914400">
              <a:spcBef>
                <a:spcPts val="600"/>
              </a:spcBef>
              <a:buClr>
                <a:srgbClr val="44546A"/>
              </a:buClr>
            </a:pPr>
            <a:r>
              <a:rPr lang="en-US" sz="1100" dirty="0">
                <a:solidFill>
                  <a:prstClr val="black"/>
                </a:solidFill>
                <a:latin typeface="+mj-lt"/>
                <a:ea typeface="Verdana" panose="020B0604030504040204" pitchFamily="34" charset="0"/>
              </a:rPr>
              <a:t>India has shown </a:t>
            </a:r>
            <a:r>
              <a:rPr lang="en-US" sz="1100" b="1" dirty="0">
                <a:solidFill>
                  <a:prstClr val="black"/>
                </a:solidFill>
                <a:latin typeface="+mj-lt"/>
                <a:ea typeface="Verdana" panose="020B0604030504040204" pitchFamily="34" charset="0"/>
              </a:rPr>
              <a:t>significant growth in terms of Demand and Energy requirement</a:t>
            </a:r>
            <a:r>
              <a:rPr lang="en-US" sz="1100" dirty="0">
                <a:solidFill>
                  <a:prstClr val="black"/>
                </a:solidFill>
                <a:latin typeface="+mj-lt"/>
                <a:ea typeface="Verdana" panose="020B0604030504040204" pitchFamily="34" charset="0"/>
              </a:rPr>
              <a:t> with same </a:t>
            </a:r>
            <a:r>
              <a:rPr lang="en-US" sz="1100" b="1" dirty="0">
                <a:solidFill>
                  <a:prstClr val="black"/>
                </a:solidFill>
                <a:latin typeface="+mj-lt"/>
                <a:ea typeface="Verdana" panose="020B0604030504040204" pitchFamily="34" charset="0"/>
              </a:rPr>
              <a:t>expected to grow at CAGR of ~6% and ~5.6% respectively</a:t>
            </a:r>
          </a:p>
        </p:txBody>
      </p:sp>
      <p:sp>
        <p:nvSpPr>
          <p:cNvPr id="12" name="Rectangle 11">
            <a:extLst>
              <a:ext uri="{FF2B5EF4-FFF2-40B4-BE49-F238E27FC236}">
                <a16:creationId xmlns:a16="http://schemas.microsoft.com/office/drawing/2014/main" id="{89E4F3BA-04A5-7040-04A2-4ACBA0BA86DC}"/>
              </a:ext>
            </a:extLst>
          </p:cNvPr>
          <p:cNvSpPr/>
          <p:nvPr/>
        </p:nvSpPr>
        <p:spPr>
          <a:xfrm>
            <a:off x="6315686" y="997819"/>
            <a:ext cx="5483964" cy="769441"/>
          </a:xfrm>
          <a:prstGeom prst="rect">
            <a:avLst/>
          </a:prstGeom>
        </p:spPr>
        <p:txBody>
          <a:bodyPr wrap="square">
            <a:spAutoFit/>
          </a:bodyPr>
          <a:lstStyle/>
          <a:p>
            <a:pPr algn="just" defTabSz="914400">
              <a:spcBef>
                <a:spcPts val="600"/>
              </a:spcBef>
              <a:buClr>
                <a:srgbClr val="44546A"/>
              </a:buClr>
            </a:pPr>
            <a:r>
              <a:rPr lang="en-US" sz="1100" b="1" dirty="0">
                <a:solidFill>
                  <a:prstClr val="black"/>
                </a:solidFill>
                <a:latin typeface="+mj-lt"/>
                <a:ea typeface="Verdana" panose="020B0604030504040204" pitchFamily="34" charset="0"/>
              </a:rPr>
              <a:t>Transmission Line and Substation capacity have grown at a CAGR of ~4% and ~7.5% respectively from FY 2017 to FY 2024 </a:t>
            </a:r>
            <a:r>
              <a:rPr lang="en-US" sz="1100" dirty="0">
                <a:solidFill>
                  <a:prstClr val="black"/>
                </a:solidFill>
                <a:latin typeface="+mj-lt"/>
                <a:ea typeface="Verdana" panose="020B0604030504040204" pitchFamily="34" charset="0"/>
              </a:rPr>
              <a:t>(**as on Jan ’24), </a:t>
            </a:r>
            <a:r>
              <a:rPr lang="en-US" sz="1100" b="1" dirty="0">
                <a:solidFill>
                  <a:prstClr val="black"/>
                </a:solidFill>
                <a:latin typeface="+mj-lt"/>
                <a:ea typeface="Verdana" panose="020B0604030504040204" pitchFamily="34" charset="0"/>
              </a:rPr>
              <a:t>same is planned to increase significantly by FY 2027</a:t>
            </a:r>
            <a:r>
              <a:rPr lang="en-US" sz="1100" dirty="0">
                <a:solidFill>
                  <a:prstClr val="black"/>
                </a:solidFill>
                <a:latin typeface="+mj-lt"/>
                <a:ea typeface="Verdana" panose="020B0604030504040204" pitchFamily="34" charset="0"/>
              </a:rPr>
              <a:t> as per CEA</a:t>
            </a:r>
          </a:p>
        </p:txBody>
      </p:sp>
      <p:sp>
        <p:nvSpPr>
          <p:cNvPr id="13" name="Rectangle 12">
            <a:extLst>
              <a:ext uri="{FF2B5EF4-FFF2-40B4-BE49-F238E27FC236}">
                <a16:creationId xmlns:a16="http://schemas.microsoft.com/office/drawing/2014/main" id="{F00417FA-DA2C-E848-67B6-C4D0065FB785}"/>
              </a:ext>
            </a:extLst>
          </p:cNvPr>
          <p:cNvSpPr/>
          <p:nvPr/>
        </p:nvSpPr>
        <p:spPr>
          <a:xfrm>
            <a:off x="589561" y="3634647"/>
            <a:ext cx="5481722" cy="430887"/>
          </a:xfrm>
          <a:prstGeom prst="rect">
            <a:avLst/>
          </a:prstGeom>
        </p:spPr>
        <p:txBody>
          <a:bodyPr wrap="square">
            <a:spAutoFit/>
          </a:bodyPr>
          <a:lstStyle/>
          <a:p>
            <a:pPr algn="just"/>
            <a:r>
              <a:rPr lang="en-US" altLang="ja-JP" sz="1100" b="1" dirty="0">
                <a:latin typeface="+mj-lt"/>
                <a:ea typeface="Verdana" panose="020B0604030504040204" pitchFamily="34" charset="0"/>
              </a:rPr>
              <a:t>Installed Capacity</a:t>
            </a:r>
            <a:r>
              <a:rPr lang="en-US" altLang="ja-JP" sz="1100" dirty="0">
                <a:latin typeface="+mj-lt"/>
                <a:ea typeface="Verdana" panose="020B0604030504040204" pitchFamily="34" charset="0"/>
              </a:rPr>
              <a:t> has grown in India </a:t>
            </a:r>
            <a:r>
              <a:rPr lang="en-US" altLang="ja-JP" sz="1100" b="1" dirty="0">
                <a:latin typeface="+mj-lt"/>
                <a:ea typeface="Verdana" panose="020B0604030504040204" pitchFamily="34" charset="0"/>
              </a:rPr>
              <a:t>at a CAGR of ~7.4% from FY 2010 to FY 2024 </a:t>
            </a:r>
            <a:r>
              <a:rPr lang="en-US" altLang="ja-JP" sz="1100" dirty="0">
                <a:latin typeface="+mj-lt"/>
                <a:ea typeface="Verdana" panose="020B0604030504040204" pitchFamily="34" charset="0"/>
              </a:rPr>
              <a:t>(*as on Feb ’24)</a:t>
            </a:r>
          </a:p>
        </p:txBody>
      </p:sp>
      <p:sp>
        <p:nvSpPr>
          <p:cNvPr id="14" name="Rectangle 13">
            <a:extLst>
              <a:ext uri="{FF2B5EF4-FFF2-40B4-BE49-F238E27FC236}">
                <a16:creationId xmlns:a16="http://schemas.microsoft.com/office/drawing/2014/main" id="{CA6C5E3B-2960-2840-5BDB-0C9F4ECA42B2}"/>
              </a:ext>
            </a:extLst>
          </p:cNvPr>
          <p:cNvSpPr/>
          <p:nvPr/>
        </p:nvSpPr>
        <p:spPr>
          <a:xfrm>
            <a:off x="6315686" y="3679251"/>
            <a:ext cx="5292734" cy="430887"/>
          </a:xfrm>
          <a:prstGeom prst="rect">
            <a:avLst/>
          </a:prstGeom>
        </p:spPr>
        <p:txBody>
          <a:bodyPr wrap="square">
            <a:spAutoFit/>
          </a:bodyPr>
          <a:lstStyle/>
          <a:p>
            <a:pPr algn="just"/>
            <a:r>
              <a:rPr lang="en-US" altLang="ja-JP" sz="1100" dirty="0">
                <a:latin typeface="+mj-lt"/>
                <a:ea typeface="Verdana" panose="020B0604030504040204" pitchFamily="34" charset="0"/>
              </a:rPr>
              <a:t>As per CEA report, </a:t>
            </a:r>
            <a:r>
              <a:rPr lang="en-US" altLang="ja-JP" sz="1100" b="1" dirty="0">
                <a:latin typeface="+mj-lt"/>
                <a:ea typeface="Verdana" panose="020B0604030504040204" pitchFamily="34" charset="0"/>
              </a:rPr>
              <a:t>total installed capacity is expected to double to about 817 GW by 2029-30 </a:t>
            </a:r>
          </a:p>
        </p:txBody>
      </p:sp>
      <p:sp>
        <p:nvSpPr>
          <p:cNvPr id="16" name="Rectangle: Rounded Corners 15">
            <a:extLst>
              <a:ext uri="{FF2B5EF4-FFF2-40B4-BE49-F238E27FC236}">
                <a16:creationId xmlns:a16="http://schemas.microsoft.com/office/drawing/2014/main" id="{65F8C541-2E65-BD76-B849-1CC5EF245EF5}"/>
              </a:ext>
            </a:extLst>
          </p:cNvPr>
          <p:cNvSpPr/>
          <p:nvPr/>
        </p:nvSpPr>
        <p:spPr bwMode="gray">
          <a:xfrm>
            <a:off x="849338" y="6178532"/>
            <a:ext cx="10914808" cy="430887"/>
          </a:xfrm>
          <a:prstGeom prst="round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marL="171450" indent="-171450">
              <a:lnSpc>
                <a:spcPct val="106000"/>
              </a:lnSpc>
              <a:spcAft>
                <a:spcPts val="400"/>
              </a:spcAft>
              <a:buFont typeface="Arial" panose="020B0604020202020204" pitchFamily="34" charset="0"/>
              <a:buChar char="•"/>
            </a:pPr>
            <a:r>
              <a:rPr lang="en-US" sz="1200" dirty="0"/>
              <a:t>Power sector digitization has a crucial role for further sustainable growth, wherein one such technology that finds major application in the growth of the power sector is the implementation of Geographic Information System (GIS)</a:t>
            </a:r>
          </a:p>
        </p:txBody>
      </p:sp>
      <p:pic>
        <p:nvPicPr>
          <p:cNvPr id="17" name="Graphic 16" descr="Right pointing backhand index with solid fill">
            <a:extLst>
              <a:ext uri="{FF2B5EF4-FFF2-40B4-BE49-F238E27FC236}">
                <a16:creationId xmlns:a16="http://schemas.microsoft.com/office/drawing/2014/main" id="{4A1872AA-39CC-6202-8C03-EEE73A07D94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59036" y="6178532"/>
            <a:ext cx="461050" cy="461050"/>
          </a:xfrm>
          <a:prstGeom prst="rect">
            <a:avLst/>
          </a:prstGeom>
        </p:spPr>
      </p:pic>
      <p:graphicFrame>
        <p:nvGraphicFramePr>
          <p:cNvPr id="57" name="Chart 56">
            <a:extLst>
              <a:ext uri="{FF2B5EF4-FFF2-40B4-BE49-F238E27FC236}">
                <a16:creationId xmlns:a16="http://schemas.microsoft.com/office/drawing/2014/main" id="{68825366-A2A9-D681-4FAA-BCE8AC16426F}"/>
              </a:ext>
            </a:extLst>
          </p:cNvPr>
          <p:cNvGraphicFramePr/>
          <p:nvPr/>
        </p:nvGraphicFramePr>
        <p:xfrm>
          <a:off x="547915" y="1252650"/>
          <a:ext cx="5511804" cy="2176349"/>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21" name="Chart 20">
            <a:extLst>
              <a:ext uri="{FF2B5EF4-FFF2-40B4-BE49-F238E27FC236}">
                <a16:creationId xmlns:a16="http://schemas.microsoft.com/office/drawing/2014/main" id="{1B06F32C-2B78-C7A8-C3D8-418AD608B57A}"/>
              </a:ext>
            </a:extLst>
          </p:cNvPr>
          <p:cNvGraphicFramePr/>
          <p:nvPr>
            <p:extLst>
              <p:ext uri="{D42A27DB-BD31-4B8C-83A1-F6EECF244321}">
                <p14:modId xmlns:p14="http://schemas.microsoft.com/office/powerpoint/2010/main" val="1077694623"/>
              </p:ext>
            </p:extLst>
          </p:nvPr>
        </p:nvGraphicFramePr>
        <p:xfrm>
          <a:off x="6389644" y="1698394"/>
          <a:ext cx="5374502" cy="1857702"/>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44" name="Chart 43">
            <a:extLst>
              <a:ext uri="{FF2B5EF4-FFF2-40B4-BE49-F238E27FC236}">
                <a16:creationId xmlns:a16="http://schemas.microsoft.com/office/drawing/2014/main" id="{BE0D5E9D-A09E-9AFE-C561-2802F458482A}"/>
              </a:ext>
            </a:extLst>
          </p:cNvPr>
          <p:cNvGraphicFramePr/>
          <p:nvPr>
            <p:custDataLst>
              <p:tags r:id="rId2"/>
            </p:custDataLst>
            <p:extLst>
              <p:ext uri="{D42A27DB-BD31-4B8C-83A1-F6EECF244321}">
                <p14:modId xmlns:p14="http://schemas.microsoft.com/office/powerpoint/2010/main" val="1145687718"/>
              </p:ext>
            </p:extLst>
          </p:nvPr>
        </p:nvGraphicFramePr>
        <p:xfrm>
          <a:off x="9301163" y="3817938"/>
          <a:ext cx="2101850" cy="2439987"/>
        </p:xfrm>
        <a:graphic>
          <a:graphicData uri="http://schemas.openxmlformats.org/drawingml/2006/chart">
            <c:chart xmlns:c="http://schemas.openxmlformats.org/drawingml/2006/chart" xmlns:r="http://schemas.openxmlformats.org/officeDocument/2006/relationships" r:id="rId20"/>
          </a:graphicData>
        </a:graphic>
      </p:graphicFrame>
      <p:sp>
        <p:nvSpPr>
          <p:cNvPr id="10" name="Text Placeholder 18">
            <a:extLst>
              <a:ext uri="{FF2B5EF4-FFF2-40B4-BE49-F238E27FC236}">
                <a16:creationId xmlns:a16="http://schemas.microsoft.com/office/drawing/2014/main" id="{E7EC92F4-487E-9123-329A-B1B8DEF32598}"/>
              </a:ext>
            </a:extLst>
          </p:cNvPr>
          <p:cNvSpPr>
            <a:spLocks noGrp="1"/>
          </p:cNvSpPr>
          <p:nvPr>
            <p:custDataLst>
              <p:tags r:id="rId3"/>
            </p:custDataLst>
          </p:nvPr>
        </p:nvSpPr>
        <p:spPr bwMode="auto">
          <a:xfrm>
            <a:off x="11222037" y="4435475"/>
            <a:ext cx="22225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4FD8805-B0DC-46C5-B5D4-20A3B75F5A05}" type="datetime'''''''''''C''''''o''''''''a''''''''''l'''''''">
              <a:rPr lang="en-US" altLang="en-US" sz="800" smtClean="0"/>
              <a:pPr/>
              <a:t>Coal</a:t>
            </a:fld>
            <a:endParaRPr lang="en-US" sz="800" noProof="0" dirty="0"/>
          </a:p>
        </p:txBody>
      </p:sp>
      <p:sp>
        <p:nvSpPr>
          <p:cNvPr id="15" name="Text Placeholder 18">
            <a:extLst>
              <a:ext uri="{FF2B5EF4-FFF2-40B4-BE49-F238E27FC236}">
                <a16:creationId xmlns:a16="http://schemas.microsoft.com/office/drawing/2014/main" id="{0E82B58D-3C87-0291-571C-06862005A92A}"/>
              </a:ext>
            </a:extLst>
          </p:cNvPr>
          <p:cNvSpPr>
            <a:spLocks noGrp="1"/>
          </p:cNvSpPr>
          <p:nvPr>
            <p:custDataLst>
              <p:tags r:id="rId4"/>
            </p:custDataLst>
          </p:nvPr>
        </p:nvSpPr>
        <p:spPr bwMode="auto">
          <a:xfrm>
            <a:off x="11241088" y="5487988"/>
            <a:ext cx="1920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87927B0-C114-484E-98EC-08BE9FC20E3F}" type="datetime'''''''''''''''''''''''''G''''''''''''''as'''''''''''''''''''">
              <a:rPr lang="en-US" altLang="en-US" sz="800" smtClean="0"/>
              <a:pPr lvl="0">
                <a:spcBef>
                  <a:spcPct val="0"/>
                </a:spcBef>
                <a:spcAft>
                  <a:spcPct val="0"/>
                </a:spcAft>
              </a:pPr>
              <a:t>Gas</a:t>
            </a:fld>
            <a:endParaRPr lang="en-US" sz="800" noProof="0" dirty="0"/>
          </a:p>
        </p:txBody>
      </p:sp>
      <p:sp>
        <p:nvSpPr>
          <p:cNvPr id="38" name="Text Placeholder 18">
            <a:extLst>
              <a:ext uri="{FF2B5EF4-FFF2-40B4-BE49-F238E27FC236}">
                <a16:creationId xmlns:a16="http://schemas.microsoft.com/office/drawing/2014/main" id="{380BD4A9-C2E5-D656-88B1-B4EB38E65C7F}"/>
              </a:ext>
            </a:extLst>
          </p:cNvPr>
          <p:cNvSpPr>
            <a:spLocks noGrp="1"/>
          </p:cNvSpPr>
          <p:nvPr>
            <p:custDataLst>
              <p:tags r:id="rId5"/>
            </p:custDataLst>
          </p:nvPr>
        </p:nvSpPr>
        <p:spPr bwMode="gray">
          <a:xfrm>
            <a:off x="10744199" y="5443538"/>
            <a:ext cx="209550" cy="122238"/>
          </a:xfrm>
          <a:prstGeom prst="rect">
            <a:avLst/>
          </a:prstGeom>
          <a:solidFill>
            <a:srgbClr val="62B5E5"/>
          </a:solidFill>
          <a:ln>
            <a:noFill/>
          </a:ln>
          <a:effectLst/>
        </p:spPr>
        <p:txBody>
          <a:bodyPr vert="horz" wrap="none" lIns="17463" tIns="0" rIns="17463"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896883D2-06BB-47E4-9E87-C2667B6FAE3C}" type="datetime'''''''''''''''''2''''''''''%'">
              <a:rPr lang="en-US" altLang="en-US" sz="800" smtClean="0">
                <a:solidFill>
                  <a:schemeClr val="bg1"/>
                </a:solidFill>
                <a:effectLst/>
              </a:rPr>
              <a:pPr lvl="0" algn="ctr">
                <a:spcBef>
                  <a:spcPct val="0"/>
                </a:spcBef>
                <a:spcAft>
                  <a:spcPct val="0"/>
                </a:spcAft>
              </a:pPr>
              <a:t>2%</a:t>
            </a:fld>
            <a:endParaRPr lang="en-US" sz="800" noProof="0" dirty="0">
              <a:solidFill>
                <a:schemeClr val="bg1"/>
              </a:solidFill>
            </a:endParaRPr>
          </a:p>
        </p:txBody>
      </p:sp>
      <p:sp>
        <p:nvSpPr>
          <p:cNvPr id="18" name="Text Placeholder 18">
            <a:extLst>
              <a:ext uri="{FF2B5EF4-FFF2-40B4-BE49-F238E27FC236}">
                <a16:creationId xmlns:a16="http://schemas.microsoft.com/office/drawing/2014/main" id="{30423CB7-3E6F-6481-955C-C6C562AE59E1}"/>
              </a:ext>
            </a:extLst>
          </p:cNvPr>
          <p:cNvSpPr>
            <a:spLocks noGrp="1"/>
          </p:cNvSpPr>
          <p:nvPr>
            <p:custDataLst>
              <p:tags r:id="rId6"/>
            </p:custDataLst>
          </p:nvPr>
        </p:nvSpPr>
        <p:spPr bwMode="auto">
          <a:xfrm>
            <a:off x="11079163" y="5705475"/>
            <a:ext cx="3857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4FC7EBC-9C9E-4083-8C9A-FD22E700A188}" type="datetime'''''''N''u''c''''''''''''''''l''''''''e''''a''r'''''''''">
              <a:rPr lang="en-US" altLang="en-US" sz="800" smtClean="0"/>
              <a:pPr lvl="0">
                <a:spcBef>
                  <a:spcPct val="0"/>
                </a:spcBef>
                <a:spcAft>
                  <a:spcPct val="0"/>
                </a:spcAft>
              </a:pPr>
              <a:t>Nuclear</a:t>
            </a:fld>
            <a:endParaRPr lang="en-US" sz="800" noProof="0" dirty="0"/>
          </a:p>
        </p:txBody>
      </p:sp>
      <p:sp>
        <p:nvSpPr>
          <p:cNvPr id="35" name="Text Placeholder 18">
            <a:extLst>
              <a:ext uri="{FF2B5EF4-FFF2-40B4-BE49-F238E27FC236}">
                <a16:creationId xmlns:a16="http://schemas.microsoft.com/office/drawing/2014/main" id="{E3E2AE44-BE8C-16B2-6968-9CF297E87289}"/>
              </a:ext>
            </a:extLst>
          </p:cNvPr>
          <p:cNvSpPr>
            <a:spLocks noGrp="1"/>
          </p:cNvSpPr>
          <p:nvPr>
            <p:custDataLst>
              <p:tags r:id="rId7"/>
            </p:custDataLst>
          </p:nvPr>
        </p:nvSpPr>
        <p:spPr bwMode="auto">
          <a:xfrm>
            <a:off x="10802938" y="5907088"/>
            <a:ext cx="3048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58B75BD-E9A1-4B7A-99B5-9254104ED451}" type="datetime'''''''''''''''Hy''''''''d''''''''''ro'''''''">
              <a:rPr lang="en-US" altLang="en-US" sz="800" smtClean="0"/>
              <a:pPr/>
              <a:t>Hydro</a:t>
            </a:fld>
            <a:endParaRPr lang="en-US" sz="800" noProof="0" dirty="0"/>
          </a:p>
        </p:txBody>
      </p:sp>
      <p:sp>
        <p:nvSpPr>
          <p:cNvPr id="42" name="Text Placeholder 18">
            <a:extLst>
              <a:ext uri="{FF2B5EF4-FFF2-40B4-BE49-F238E27FC236}">
                <a16:creationId xmlns:a16="http://schemas.microsoft.com/office/drawing/2014/main" id="{2C1D97EC-56DE-2F07-4E3B-887D1C98B626}"/>
              </a:ext>
            </a:extLst>
          </p:cNvPr>
          <p:cNvSpPr>
            <a:spLocks noGrp="1"/>
          </p:cNvSpPr>
          <p:nvPr>
            <p:custDataLst>
              <p:tags r:id="rId8"/>
            </p:custDataLst>
          </p:nvPr>
        </p:nvSpPr>
        <p:spPr bwMode="auto">
          <a:xfrm>
            <a:off x="9151938" y="5140325"/>
            <a:ext cx="2047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r">
              <a:spcBef>
                <a:spcPct val="0"/>
              </a:spcBef>
              <a:spcAft>
                <a:spcPct val="0"/>
              </a:spcAft>
            </a:pPr>
            <a:fld id="{9ABCA9AC-619E-4798-BF55-B44DDF982764}" type="datetime'R''''''E''''''''S'''''''''''''''''''''''''''''''''''''">
              <a:rPr lang="en-US" altLang="en-US" sz="800" smtClean="0"/>
              <a:pPr/>
              <a:t>RES</a:t>
            </a:fld>
            <a:endParaRPr lang="en-US" sz="800" noProof="0" dirty="0"/>
          </a:p>
        </p:txBody>
      </p:sp>
      <p:sp>
        <p:nvSpPr>
          <p:cNvPr id="51" name="Text Placeholder 18">
            <a:extLst>
              <a:ext uri="{FF2B5EF4-FFF2-40B4-BE49-F238E27FC236}">
                <a16:creationId xmlns:a16="http://schemas.microsoft.com/office/drawing/2014/main" id="{BD7AE33C-2F96-0866-F093-632C06B4BF3A}"/>
              </a:ext>
            </a:extLst>
          </p:cNvPr>
          <p:cNvSpPr>
            <a:spLocks noGrp="1"/>
          </p:cNvSpPr>
          <p:nvPr>
            <p:custDataLst>
              <p:tags r:id="rId9"/>
            </p:custDataLst>
          </p:nvPr>
        </p:nvSpPr>
        <p:spPr bwMode="gray">
          <a:xfrm>
            <a:off x="10220324" y="4103688"/>
            <a:ext cx="209550" cy="122238"/>
          </a:xfrm>
          <a:prstGeom prst="rect">
            <a:avLst/>
          </a:prstGeom>
          <a:solidFill>
            <a:srgbClr val="75787B"/>
          </a:solidFill>
          <a:ln>
            <a:noFill/>
          </a:ln>
          <a:effectLst/>
        </p:spPr>
        <p:txBody>
          <a:bodyPr vert="horz" wrap="none" lIns="17463" tIns="0" rIns="17463"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E53EF44C-FFD9-4A0F-B09A-6A90030D56F2}" type="datetime'''''''''''''''''''1''''''''''''''''%'''''''''''''''''''''">
              <a:rPr lang="en-US" altLang="en-US" sz="800" smtClean="0">
                <a:solidFill>
                  <a:schemeClr val="bg1"/>
                </a:solidFill>
                <a:effectLst/>
              </a:rPr>
              <a:pPr lvl="0" algn="ctr">
                <a:spcBef>
                  <a:spcPct val="0"/>
                </a:spcBef>
                <a:spcAft>
                  <a:spcPct val="0"/>
                </a:spcAft>
              </a:pPr>
              <a:t>1%</a:t>
            </a:fld>
            <a:endParaRPr lang="en-US" sz="800" noProof="0" dirty="0">
              <a:solidFill>
                <a:schemeClr val="bg1"/>
              </a:solidFill>
            </a:endParaRPr>
          </a:p>
        </p:txBody>
      </p:sp>
      <p:sp>
        <p:nvSpPr>
          <p:cNvPr id="49" name="Text Placeholder 18">
            <a:extLst>
              <a:ext uri="{FF2B5EF4-FFF2-40B4-BE49-F238E27FC236}">
                <a16:creationId xmlns:a16="http://schemas.microsoft.com/office/drawing/2014/main" id="{22DE925F-A554-F2A8-BA18-D5A58D357BBE}"/>
              </a:ext>
            </a:extLst>
          </p:cNvPr>
          <p:cNvSpPr>
            <a:spLocks noGrp="1"/>
          </p:cNvSpPr>
          <p:nvPr>
            <p:custDataLst>
              <p:tags r:id="rId10"/>
            </p:custDataLst>
          </p:nvPr>
        </p:nvSpPr>
        <p:spPr bwMode="auto">
          <a:xfrm>
            <a:off x="10221913" y="3937000"/>
            <a:ext cx="1936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r">
              <a:spcBef>
                <a:spcPct val="0"/>
              </a:spcBef>
              <a:spcAft>
                <a:spcPct val="0"/>
              </a:spcAft>
            </a:pPr>
            <a:fld id="{F33C4519-7098-43BB-A21D-E2520799FC5E}" type="datetime'''''''''''''''''''''P''''''''''''''S''P'''''''''''''''''''''''">
              <a:rPr lang="en-US" altLang="en-US" sz="800" smtClean="0"/>
              <a:pPr/>
              <a:t>PSP</a:t>
            </a:fld>
            <a:endParaRPr lang="en-US" sz="800" noProof="0" dirty="0"/>
          </a:p>
        </p:txBody>
      </p:sp>
      <p:sp>
        <p:nvSpPr>
          <p:cNvPr id="41" name="Text Placeholder 18">
            <a:extLst>
              <a:ext uri="{FF2B5EF4-FFF2-40B4-BE49-F238E27FC236}">
                <a16:creationId xmlns:a16="http://schemas.microsoft.com/office/drawing/2014/main" id="{B7EAF84B-FFC7-E6F2-BBFE-00575BC1712E}"/>
              </a:ext>
            </a:extLst>
          </p:cNvPr>
          <p:cNvSpPr>
            <a:spLocks noGrp="1"/>
          </p:cNvSpPr>
          <p:nvPr>
            <p:custDataLst>
              <p:tags r:id="rId11"/>
            </p:custDataLst>
          </p:nvPr>
        </p:nvSpPr>
        <p:spPr bwMode="gray">
          <a:xfrm>
            <a:off x="10936288" y="5445125"/>
            <a:ext cx="209550" cy="122238"/>
          </a:xfrm>
          <a:prstGeom prst="rect">
            <a:avLst/>
          </a:prstGeom>
          <a:solidFill>
            <a:srgbClr val="046A38"/>
          </a:solidFill>
          <a:ln>
            <a:noFill/>
          </a:ln>
          <a:effectLst/>
        </p:spPr>
        <p:txBody>
          <a:bodyPr vert="horz" wrap="none" lIns="17463" tIns="0" rIns="17463"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F0F51D7A-2C75-4A1A-A4E6-6047718A642C}" type="datetime'''''''''''''''''''3''''''%'''''''">
              <a:rPr lang="en-US" altLang="en-US" sz="800" smtClean="0">
                <a:solidFill>
                  <a:schemeClr val="bg1"/>
                </a:solidFill>
                <a:effectLst/>
              </a:rPr>
              <a:pPr lvl="0" algn="ctr">
                <a:spcBef>
                  <a:spcPct val="0"/>
                </a:spcBef>
                <a:spcAft>
                  <a:spcPct val="0"/>
                </a:spcAft>
              </a:pPr>
              <a:t>3%</a:t>
            </a:fld>
            <a:endParaRPr lang="en-US" sz="800" noProof="0" dirty="0">
              <a:solidFill>
                <a:schemeClr val="bg1"/>
              </a:solidFill>
            </a:endParaRPr>
          </a:p>
        </p:txBody>
      </p:sp>
      <p:graphicFrame>
        <p:nvGraphicFramePr>
          <p:cNvPr id="34" name="Table 33">
            <a:extLst>
              <a:ext uri="{FF2B5EF4-FFF2-40B4-BE49-F238E27FC236}">
                <a16:creationId xmlns:a16="http://schemas.microsoft.com/office/drawing/2014/main" id="{93EECCC1-643A-4AD1-0198-689BAEEF8444}"/>
              </a:ext>
            </a:extLst>
          </p:cNvPr>
          <p:cNvGraphicFramePr>
            <a:graphicFrameLocks noGrp="1"/>
          </p:cNvGraphicFramePr>
          <p:nvPr>
            <p:extLst>
              <p:ext uri="{D42A27DB-BD31-4B8C-83A1-F6EECF244321}">
                <p14:modId xmlns:p14="http://schemas.microsoft.com/office/powerpoint/2010/main" val="2088134175"/>
              </p:ext>
            </p:extLst>
          </p:nvPr>
        </p:nvGraphicFramePr>
        <p:xfrm>
          <a:off x="6456945" y="4223385"/>
          <a:ext cx="2600723" cy="1783080"/>
        </p:xfrm>
        <a:graphic>
          <a:graphicData uri="http://schemas.openxmlformats.org/drawingml/2006/table">
            <a:tbl>
              <a:tblPr firstRow="1" bandRow="1">
                <a:tableStyleId>{D27102A9-8310-4765-A935-A1911B00CA55}</a:tableStyleId>
              </a:tblPr>
              <a:tblGrid>
                <a:gridCol w="1385103">
                  <a:extLst>
                    <a:ext uri="{9D8B030D-6E8A-4147-A177-3AD203B41FA5}">
                      <a16:colId xmlns:a16="http://schemas.microsoft.com/office/drawing/2014/main" val="4085564787"/>
                    </a:ext>
                  </a:extLst>
                </a:gridCol>
                <a:gridCol w="1215620">
                  <a:extLst>
                    <a:ext uri="{9D8B030D-6E8A-4147-A177-3AD203B41FA5}">
                      <a16:colId xmlns:a16="http://schemas.microsoft.com/office/drawing/2014/main" val="167339621"/>
                    </a:ext>
                  </a:extLst>
                </a:gridCol>
              </a:tblGrid>
              <a:tr h="0">
                <a:tc>
                  <a:txBody>
                    <a:bodyPr/>
                    <a:lstStyle/>
                    <a:p>
                      <a:pPr algn="ctr"/>
                      <a:r>
                        <a:rPr lang="en-US" sz="700" b="1" dirty="0"/>
                        <a:t>Source</a:t>
                      </a:r>
                    </a:p>
                  </a:txBody>
                  <a:tcPr/>
                </a:tc>
                <a:tc>
                  <a:txBody>
                    <a:bodyPr/>
                    <a:lstStyle/>
                    <a:p>
                      <a:pPr algn="ctr"/>
                      <a:r>
                        <a:rPr lang="en-US" sz="700" b="1" dirty="0"/>
                        <a:t>Capacity (GW)</a:t>
                      </a:r>
                    </a:p>
                  </a:txBody>
                  <a:tcPr/>
                </a:tc>
                <a:extLst>
                  <a:ext uri="{0D108BD9-81ED-4DB2-BD59-A6C34878D82A}">
                    <a16:rowId xmlns:a16="http://schemas.microsoft.com/office/drawing/2014/main" val="922266773"/>
                  </a:ext>
                </a:extLst>
              </a:tr>
              <a:tr h="0">
                <a:tc>
                  <a:txBody>
                    <a:bodyPr/>
                    <a:lstStyle/>
                    <a:p>
                      <a:r>
                        <a:rPr lang="en-US" sz="700" dirty="0"/>
                        <a:t>Coal</a:t>
                      </a:r>
                    </a:p>
                  </a:txBody>
                  <a:tcPr/>
                </a:tc>
                <a:tc>
                  <a:txBody>
                    <a:bodyPr/>
                    <a:lstStyle/>
                    <a:p>
                      <a:pPr algn="ctr"/>
                      <a:r>
                        <a:rPr lang="en-US" sz="700" dirty="0"/>
                        <a:t>267</a:t>
                      </a:r>
                    </a:p>
                  </a:txBody>
                  <a:tcPr/>
                </a:tc>
                <a:extLst>
                  <a:ext uri="{0D108BD9-81ED-4DB2-BD59-A6C34878D82A}">
                    <a16:rowId xmlns:a16="http://schemas.microsoft.com/office/drawing/2014/main" val="309490517"/>
                  </a:ext>
                </a:extLst>
              </a:tr>
              <a:tr h="0">
                <a:tc>
                  <a:txBody>
                    <a:bodyPr/>
                    <a:lstStyle/>
                    <a:p>
                      <a:r>
                        <a:rPr lang="en-US" sz="700" dirty="0"/>
                        <a:t>Gas</a:t>
                      </a:r>
                    </a:p>
                  </a:txBody>
                  <a:tcPr/>
                </a:tc>
                <a:tc>
                  <a:txBody>
                    <a:bodyPr/>
                    <a:lstStyle/>
                    <a:p>
                      <a:pPr algn="ctr"/>
                      <a:r>
                        <a:rPr lang="en-US" sz="700" dirty="0"/>
                        <a:t>25</a:t>
                      </a:r>
                    </a:p>
                  </a:txBody>
                  <a:tcPr/>
                </a:tc>
                <a:extLst>
                  <a:ext uri="{0D108BD9-81ED-4DB2-BD59-A6C34878D82A}">
                    <a16:rowId xmlns:a16="http://schemas.microsoft.com/office/drawing/2014/main" val="1129273239"/>
                  </a:ext>
                </a:extLst>
              </a:tr>
              <a:tr h="0">
                <a:tc>
                  <a:txBody>
                    <a:bodyPr/>
                    <a:lstStyle/>
                    <a:p>
                      <a:r>
                        <a:rPr lang="en-US" sz="700" dirty="0"/>
                        <a:t>Hydro</a:t>
                      </a:r>
                    </a:p>
                  </a:txBody>
                  <a:tcPr/>
                </a:tc>
                <a:tc>
                  <a:txBody>
                    <a:bodyPr/>
                    <a:lstStyle/>
                    <a:p>
                      <a:pPr algn="ctr"/>
                      <a:r>
                        <a:rPr lang="en-US" sz="700" dirty="0"/>
                        <a:t>61</a:t>
                      </a:r>
                    </a:p>
                  </a:txBody>
                  <a:tcPr/>
                </a:tc>
                <a:extLst>
                  <a:ext uri="{0D108BD9-81ED-4DB2-BD59-A6C34878D82A}">
                    <a16:rowId xmlns:a16="http://schemas.microsoft.com/office/drawing/2014/main" val="443312029"/>
                  </a:ext>
                </a:extLst>
              </a:tr>
              <a:tr h="0">
                <a:tc>
                  <a:txBody>
                    <a:bodyPr/>
                    <a:lstStyle/>
                    <a:p>
                      <a:r>
                        <a:rPr lang="en-US" sz="700" dirty="0"/>
                        <a:t>Nuclear</a:t>
                      </a:r>
                    </a:p>
                  </a:txBody>
                  <a:tcPr/>
                </a:tc>
                <a:tc>
                  <a:txBody>
                    <a:bodyPr/>
                    <a:lstStyle/>
                    <a:p>
                      <a:pPr algn="ctr"/>
                      <a:r>
                        <a:rPr lang="en-US" sz="700" dirty="0"/>
                        <a:t>19</a:t>
                      </a:r>
                    </a:p>
                  </a:txBody>
                  <a:tcPr/>
                </a:tc>
                <a:extLst>
                  <a:ext uri="{0D108BD9-81ED-4DB2-BD59-A6C34878D82A}">
                    <a16:rowId xmlns:a16="http://schemas.microsoft.com/office/drawing/2014/main" val="3569828811"/>
                  </a:ext>
                </a:extLst>
              </a:tr>
              <a:tr h="0">
                <a:tc>
                  <a:txBody>
                    <a:bodyPr/>
                    <a:lstStyle/>
                    <a:p>
                      <a:r>
                        <a:rPr lang="en-US" sz="700" dirty="0"/>
                        <a:t>Solar</a:t>
                      </a:r>
                    </a:p>
                  </a:txBody>
                  <a:tcPr/>
                </a:tc>
                <a:tc>
                  <a:txBody>
                    <a:bodyPr/>
                    <a:lstStyle/>
                    <a:p>
                      <a:pPr algn="ctr"/>
                      <a:r>
                        <a:rPr lang="en-US" sz="700" dirty="0"/>
                        <a:t>280</a:t>
                      </a:r>
                    </a:p>
                  </a:txBody>
                  <a:tcPr/>
                </a:tc>
                <a:extLst>
                  <a:ext uri="{0D108BD9-81ED-4DB2-BD59-A6C34878D82A}">
                    <a16:rowId xmlns:a16="http://schemas.microsoft.com/office/drawing/2014/main" val="3094963214"/>
                  </a:ext>
                </a:extLst>
              </a:tr>
              <a:tr h="0">
                <a:tc>
                  <a:txBody>
                    <a:bodyPr/>
                    <a:lstStyle/>
                    <a:p>
                      <a:r>
                        <a:rPr lang="en-US" sz="700" dirty="0"/>
                        <a:t>Wind</a:t>
                      </a:r>
                    </a:p>
                  </a:txBody>
                  <a:tcPr/>
                </a:tc>
                <a:tc>
                  <a:txBody>
                    <a:bodyPr/>
                    <a:lstStyle/>
                    <a:p>
                      <a:pPr algn="ctr"/>
                      <a:r>
                        <a:rPr lang="en-US" sz="700" dirty="0"/>
                        <a:t>140</a:t>
                      </a:r>
                    </a:p>
                  </a:txBody>
                  <a:tcPr/>
                </a:tc>
                <a:extLst>
                  <a:ext uri="{0D108BD9-81ED-4DB2-BD59-A6C34878D82A}">
                    <a16:rowId xmlns:a16="http://schemas.microsoft.com/office/drawing/2014/main" val="4172227929"/>
                  </a:ext>
                </a:extLst>
              </a:tr>
              <a:tr h="0">
                <a:tc>
                  <a:txBody>
                    <a:bodyPr/>
                    <a:lstStyle/>
                    <a:p>
                      <a:r>
                        <a:rPr lang="en-US" sz="700" dirty="0"/>
                        <a:t>Others</a:t>
                      </a:r>
                    </a:p>
                  </a:txBody>
                  <a:tcPr/>
                </a:tc>
                <a:tc>
                  <a:txBody>
                    <a:bodyPr/>
                    <a:lstStyle/>
                    <a:p>
                      <a:pPr algn="ctr"/>
                      <a:r>
                        <a:rPr lang="en-US" sz="700" dirty="0"/>
                        <a:t>25</a:t>
                      </a:r>
                    </a:p>
                  </a:txBody>
                  <a:tcPr/>
                </a:tc>
                <a:extLst>
                  <a:ext uri="{0D108BD9-81ED-4DB2-BD59-A6C34878D82A}">
                    <a16:rowId xmlns:a16="http://schemas.microsoft.com/office/drawing/2014/main" val="68103721"/>
                  </a:ext>
                </a:extLst>
              </a:tr>
              <a:tr h="0">
                <a:tc>
                  <a:txBody>
                    <a:bodyPr/>
                    <a:lstStyle/>
                    <a:p>
                      <a:r>
                        <a:rPr lang="en-US" sz="700" b="1" dirty="0"/>
                        <a:t>Total</a:t>
                      </a:r>
                    </a:p>
                  </a:txBody>
                  <a:tcPr/>
                </a:tc>
                <a:tc>
                  <a:txBody>
                    <a:bodyPr/>
                    <a:lstStyle/>
                    <a:p>
                      <a:pPr algn="ctr"/>
                      <a:r>
                        <a:rPr lang="en-US" sz="700" b="1" dirty="0"/>
                        <a:t>817</a:t>
                      </a:r>
                    </a:p>
                  </a:txBody>
                  <a:tcPr/>
                </a:tc>
                <a:extLst>
                  <a:ext uri="{0D108BD9-81ED-4DB2-BD59-A6C34878D82A}">
                    <a16:rowId xmlns:a16="http://schemas.microsoft.com/office/drawing/2014/main" val="2563076598"/>
                  </a:ext>
                </a:extLst>
              </a:tr>
            </a:tbl>
          </a:graphicData>
        </a:graphic>
      </p:graphicFrame>
    </p:spTree>
    <p:extLst>
      <p:ext uri="{BB962C8B-B14F-4D97-AF65-F5344CB8AC3E}">
        <p14:creationId xmlns:p14="http://schemas.microsoft.com/office/powerpoint/2010/main" val="1367900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F2824-6595-1949-5421-9F2D0BE4ADE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FB9F520-381D-25C5-43DD-BD615882AC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3FB9F520-381D-25C5-43DD-BD615882AC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64BAB67B-BFB0-CB47-3721-270D8330486C}"/>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Computer-based system designed to capture, store, manipulate, analyze, manage, and present spatial or geographic data</a:t>
            </a:r>
          </a:p>
        </p:txBody>
      </p:sp>
      <p:sp>
        <p:nvSpPr>
          <p:cNvPr id="6" name="Title 2">
            <a:extLst>
              <a:ext uri="{FF2B5EF4-FFF2-40B4-BE49-F238E27FC236}">
                <a16:creationId xmlns:a16="http://schemas.microsoft.com/office/drawing/2014/main" id="{DFE31EA4-D4FD-8F21-A960-9DE4B7A8C64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Introduction to GIS – Key Components &amp; Working Principles</a:t>
            </a:r>
          </a:p>
        </p:txBody>
      </p:sp>
      <p:cxnSp>
        <p:nvCxnSpPr>
          <p:cNvPr id="92" name="Straight Connector 91">
            <a:extLst>
              <a:ext uri="{FF2B5EF4-FFF2-40B4-BE49-F238E27FC236}">
                <a16:creationId xmlns:a16="http://schemas.microsoft.com/office/drawing/2014/main" id="{1CD02415-5925-428A-2E30-50AD0860886D}"/>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BAEB6D9-457C-DBA3-D7EA-E0978019EAEA}"/>
              </a:ext>
            </a:extLst>
          </p:cNvPr>
          <p:cNvSpPr txBox="1"/>
          <p:nvPr/>
        </p:nvSpPr>
        <p:spPr>
          <a:xfrm>
            <a:off x="416692" y="1055351"/>
            <a:ext cx="11293972" cy="646331"/>
          </a:xfrm>
          <a:prstGeom prst="rect">
            <a:avLst/>
          </a:prstGeom>
          <a:solidFill>
            <a:schemeClr val="bg1">
              <a:lumMod val="95000"/>
            </a:schemeClr>
          </a:solidFill>
        </p:spPr>
        <p:txBody>
          <a:bodyPr wrap="square">
            <a:spAutoFit/>
          </a:bodyPr>
          <a:lstStyle/>
          <a:p>
            <a:r>
              <a:rPr lang="en-US" sz="1200" b="1" dirty="0">
                <a:solidFill>
                  <a:srgbClr val="009A44"/>
                </a:solidFill>
              </a:rPr>
              <a:t>What is GIS? </a:t>
            </a:r>
          </a:p>
          <a:p>
            <a:r>
              <a:rPr lang="en-US" sz="1200" dirty="0"/>
              <a:t>GIS is a powerful tool which can be defined as integrated sets of data, hardware, software and processes designed as a computer system for gathering, managing, mapping and analyzing spatial data.</a:t>
            </a:r>
          </a:p>
        </p:txBody>
      </p:sp>
      <p:grpSp>
        <p:nvGrpSpPr>
          <p:cNvPr id="36" name="Group 35">
            <a:extLst>
              <a:ext uri="{FF2B5EF4-FFF2-40B4-BE49-F238E27FC236}">
                <a16:creationId xmlns:a16="http://schemas.microsoft.com/office/drawing/2014/main" id="{ECFC2692-2CA0-3E71-918E-D0D1C658310D}"/>
              </a:ext>
            </a:extLst>
          </p:cNvPr>
          <p:cNvGrpSpPr/>
          <p:nvPr/>
        </p:nvGrpSpPr>
        <p:grpSpPr>
          <a:xfrm>
            <a:off x="2104087" y="2738670"/>
            <a:ext cx="1915148" cy="2805308"/>
            <a:chOff x="2974445" y="2492577"/>
            <a:chExt cx="2179147" cy="3089859"/>
          </a:xfrm>
        </p:grpSpPr>
        <p:sp>
          <p:nvSpPr>
            <p:cNvPr id="4" name="Freeform 15">
              <a:extLst>
                <a:ext uri="{FF2B5EF4-FFF2-40B4-BE49-F238E27FC236}">
                  <a16:creationId xmlns:a16="http://schemas.microsoft.com/office/drawing/2014/main" id="{1D0B4D2E-890F-2310-26F2-987E464FA72F}"/>
                </a:ext>
              </a:extLst>
            </p:cNvPr>
            <p:cNvSpPr>
              <a:spLocks noEditPoints="1"/>
            </p:cNvSpPr>
            <p:nvPr/>
          </p:nvSpPr>
          <p:spPr bwMode="auto">
            <a:xfrm>
              <a:off x="3195764" y="4014109"/>
              <a:ext cx="984763" cy="979258"/>
            </a:xfrm>
            <a:custGeom>
              <a:avLst/>
              <a:gdLst>
                <a:gd name="T0" fmla="*/ 592 w 605"/>
                <a:gd name="T1" fmla="*/ 213 h 602"/>
                <a:gd name="T2" fmla="*/ 544 w 605"/>
                <a:gd name="T3" fmla="*/ 119 h 602"/>
                <a:gd name="T4" fmla="*/ 467 w 605"/>
                <a:gd name="T5" fmla="*/ 47 h 602"/>
                <a:gd name="T6" fmla="*/ 371 w 605"/>
                <a:gd name="T7" fmla="*/ 6 h 602"/>
                <a:gd name="T8" fmla="*/ 266 w 605"/>
                <a:gd name="T9" fmla="*/ 0 h 602"/>
                <a:gd name="T10" fmla="*/ 165 w 605"/>
                <a:gd name="T11" fmla="*/ 31 h 602"/>
                <a:gd name="T12" fmla="*/ 81 w 605"/>
                <a:gd name="T13" fmla="*/ 94 h 602"/>
                <a:gd name="T14" fmla="*/ 23 w 605"/>
                <a:gd name="T15" fmla="*/ 183 h 602"/>
                <a:gd name="T16" fmla="*/ 0 w 605"/>
                <a:gd name="T17" fmla="*/ 285 h 602"/>
                <a:gd name="T18" fmla="*/ 0 w 605"/>
                <a:gd name="T19" fmla="*/ 317 h 602"/>
                <a:gd name="T20" fmla="*/ 23 w 605"/>
                <a:gd name="T21" fmla="*/ 420 h 602"/>
                <a:gd name="T22" fmla="*/ 81 w 605"/>
                <a:gd name="T23" fmla="*/ 508 h 602"/>
                <a:gd name="T24" fmla="*/ 165 w 605"/>
                <a:gd name="T25" fmla="*/ 571 h 602"/>
                <a:gd name="T26" fmla="*/ 266 w 605"/>
                <a:gd name="T27" fmla="*/ 602 h 602"/>
                <a:gd name="T28" fmla="*/ 371 w 605"/>
                <a:gd name="T29" fmla="*/ 597 h 602"/>
                <a:gd name="T30" fmla="*/ 467 w 605"/>
                <a:gd name="T31" fmla="*/ 555 h 602"/>
                <a:gd name="T32" fmla="*/ 544 w 605"/>
                <a:gd name="T33" fmla="*/ 484 h 602"/>
                <a:gd name="T34" fmla="*/ 592 w 605"/>
                <a:gd name="T35" fmla="*/ 390 h 602"/>
                <a:gd name="T36" fmla="*/ 336 w 605"/>
                <a:gd name="T37" fmla="*/ 100 h 602"/>
                <a:gd name="T38" fmla="*/ 336 w 605"/>
                <a:gd name="T39" fmla="*/ 100 h 602"/>
                <a:gd name="T40" fmla="*/ 388 w 605"/>
                <a:gd name="T41" fmla="*/ 235 h 602"/>
                <a:gd name="T42" fmla="*/ 366 w 605"/>
                <a:gd name="T43" fmla="*/ 377 h 602"/>
                <a:gd name="T44" fmla="*/ 388 w 605"/>
                <a:gd name="T45" fmla="*/ 251 h 602"/>
                <a:gd name="T46" fmla="*/ 407 w 605"/>
                <a:gd name="T47" fmla="*/ 271 h 602"/>
                <a:gd name="T48" fmla="*/ 407 w 605"/>
                <a:gd name="T49" fmla="*/ 271 h 602"/>
                <a:gd name="T50" fmla="*/ 383 w 605"/>
                <a:gd name="T51" fmla="*/ 359 h 602"/>
                <a:gd name="T52" fmla="*/ 408 w 605"/>
                <a:gd name="T53" fmla="*/ 328 h 602"/>
                <a:gd name="T54" fmla="*/ 401 w 605"/>
                <a:gd name="T55" fmla="*/ 301 h 602"/>
                <a:gd name="T56" fmla="*/ 410 w 605"/>
                <a:gd name="T57" fmla="*/ 315 h 602"/>
                <a:gd name="T58" fmla="*/ 353 w 605"/>
                <a:gd name="T59" fmla="*/ 216 h 602"/>
                <a:gd name="T60" fmla="*/ 346 w 605"/>
                <a:gd name="T61" fmla="*/ 201 h 602"/>
                <a:gd name="T62" fmla="*/ 306 w 605"/>
                <a:gd name="T63" fmla="*/ 192 h 602"/>
                <a:gd name="T64" fmla="*/ 306 w 605"/>
                <a:gd name="T65" fmla="*/ 192 h 602"/>
                <a:gd name="T66" fmla="*/ 302 w 605"/>
                <a:gd name="T67" fmla="*/ 231 h 602"/>
                <a:gd name="T68" fmla="*/ 345 w 605"/>
                <a:gd name="T69" fmla="*/ 391 h 602"/>
                <a:gd name="T70" fmla="*/ 257 w 605"/>
                <a:gd name="T71" fmla="*/ 400 h 602"/>
                <a:gd name="T72" fmla="*/ 206 w 605"/>
                <a:gd name="T73" fmla="*/ 278 h 602"/>
                <a:gd name="T74" fmla="*/ 206 w 605"/>
                <a:gd name="T75" fmla="*/ 278 h 602"/>
                <a:gd name="T76" fmla="*/ 209 w 605"/>
                <a:gd name="T77" fmla="*/ 267 h 602"/>
                <a:gd name="T78" fmla="*/ 194 w 605"/>
                <a:gd name="T79" fmla="*/ 317 h 602"/>
                <a:gd name="T80" fmla="*/ 211 w 605"/>
                <a:gd name="T81" fmla="*/ 339 h 602"/>
                <a:gd name="T82" fmla="*/ 216 w 605"/>
                <a:gd name="T83" fmla="*/ 350 h 602"/>
                <a:gd name="T84" fmla="*/ 216 w 605"/>
                <a:gd name="T85" fmla="*/ 350 h 602"/>
                <a:gd name="T86" fmla="*/ 229 w 605"/>
                <a:gd name="T87" fmla="*/ 235 h 602"/>
                <a:gd name="T88" fmla="*/ 234 w 605"/>
                <a:gd name="T89" fmla="*/ 386 h 602"/>
                <a:gd name="T90" fmla="*/ 242 w 605"/>
                <a:gd name="T91" fmla="*/ 211 h 602"/>
                <a:gd name="T92" fmla="*/ 293 w 605"/>
                <a:gd name="T93" fmla="*/ 193 h 602"/>
                <a:gd name="T94" fmla="*/ 293 w 605"/>
                <a:gd name="T95" fmla="*/ 193 h 602"/>
                <a:gd name="T96" fmla="*/ 269 w 605"/>
                <a:gd name="T97" fmla="*/ 208 h 602"/>
                <a:gd name="T98" fmla="*/ 210 w 605"/>
                <a:gd name="T99" fmla="*/ 210 h 602"/>
                <a:gd name="T100" fmla="*/ 99 w 605"/>
                <a:gd name="T101" fmla="*/ 301 h 602"/>
                <a:gd name="T102" fmla="*/ 177 w 605"/>
                <a:gd name="T103" fmla="*/ 335 h 602"/>
                <a:gd name="T104" fmla="*/ 210 w 605"/>
                <a:gd name="T105" fmla="*/ 393 h 602"/>
                <a:gd name="T106" fmla="*/ 270 w 605"/>
                <a:gd name="T107" fmla="*/ 405 h 602"/>
                <a:gd name="T108" fmla="*/ 302 w 605"/>
                <a:gd name="T109" fmla="*/ 410 h 602"/>
                <a:gd name="T110" fmla="*/ 310 w 605"/>
                <a:gd name="T111" fmla="*/ 410 h 602"/>
                <a:gd name="T112" fmla="*/ 337 w 605"/>
                <a:gd name="T113" fmla="*/ 405 h 602"/>
                <a:gd name="T114" fmla="*/ 336 w 605"/>
                <a:gd name="T115" fmla="*/ 427 h 602"/>
                <a:gd name="T116" fmla="*/ 493 w 605"/>
                <a:gd name="T117" fmla="*/ 373 h 602"/>
                <a:gd name="T118" fmla="*/ 493 w 605"/>
                <a:gd name="T119" fmla="*/ 23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05" h="602">
                  <a:moveTo>
                    <a:pt x="557" y="301"/>
                  </a:moveTo>
                  <a:cubicBezTo>
                    <a:pt x="557" y="299"/>
                    <a:pt x="557" y="296"/>
                    <a:pt x="557" y="294"/>
                  </a:cubicBezTo>
                  <a:cubicBezTo>
                    <a:pt x="605" y="285"/>
                    <a:pt x="605" y="285"/>
                    <a:pt x="605" y="285"/>
                  </a:cubicBezTo>
                  <a:cubicBezTo>
                    <a:pt x="592" y="213"/>
                    <a:pt x="592" y="213"/>
                    <a:pt x="592" y="213"/>
                  </a:cubicBezTo>
                  <a:cubicBezTo>
                    <a:pt x="544" y="221"/>
                    <a:pt x="544" y="221"/>
                    <a:pt x="544" y="221"/>
                  </a:cubicBezTo>
                  <a:cubicBezTo>
                    <a:pt x="543" y="216"/>
                    <a:pt x="541" y="212"/>
                    <a:pt x="539" y="207"/>
                  </a:cubicBezTo>
                  <a:cubicBezTo>
                    <a:pt x="581" y="183"/>
                    <a:pt x="581" y="183"/>
                    <a:pt x="581" y="183"/>
                  </a:cubicBezTo>
                  <a:cubicBezTo>
                    <a:pt x="544" y="119"/>
                    <a:pt x="544" y="119"/>
                    <a:pt x="544" y="119"/>
                  </a:cubicBezTo>
                  <a:cubicBezTo>
                    <a:pt x="502" y="143"/>
                    <a:pt x="502" y="143"/>
                    <a:pt x="502" y="143"/>
                  </a:cubicBezTo>
                  <a:cubicBezTo>
                    <a:pt x="499" y="139"/>
                    <a:pt x="496" y="135"/>
                    <a:pt x="493" y="132"/>
                  </a:cubicBezTo>
                  <a:cubicBezTo>
                    <a:pt x="524" y="94"/>
                    <a:pt x="524" y="94"/>
                    <a:pt x="524" y="94"/>
                  </a:cubicBezTo>
                  <a:cubicBezTo>
                    <a:pt x="467" y="47"/>
                    <a:pt x="467" y="47"/>
                    <a:pt x="467" y="47"/>
                  </a:cubicBezTo>
                  <a:cubicBezTo>
                    <a:pt x="436" y="84"/>
                    <a:pt x="436" y="84"/>
                    <a:pt x="436" y="84"/>
                  </a:cubicBezTo>
                  <a:cubicBezTo>
                    <a:pt x="432" y="82"/>
                    <a:pt x="428" y="79"/>
                    <a:pt x="423" y="77"/>
                  </a:cubicBezTo>
                  <a:cubicBezTo>
                    <a:pt x="440" y="31"/>
                    <a:pt x="440" y="31"/>
                    <a:pt x="440" y="31"/>
                  </a:cubicBezTo>
                  <a:cubicBezTo>
                    <a:pt x="371" y="6"/>
                    <a:pt x="371" y="6"/>
                    <a:pt x="371" y="6"/>
                  </a:cubicBezTo>
                  <a:cubicBezTo>
                    <a:pt x="354" y="52"/>
                    <a:pt x="354" y="52"/>
                    <a:pt x="354" y="52"/>
                  </a:cubicBezTo>
                  <a:cubicBezTo>
                    <a:pt x="349" y="51"/>
                    <a:pt x="344" y="50"/>
                    <a:pt x="339" y="49"/>
                  </a:cubicBezTo>
                  <a:cubicBezTo>
                    <a:pt x="339" y="0"/>
                    <a:pt x="339" y="0"/>
                    <a:pt x="339" y="0"/>
                  </a:cubicBezTo>
                  <a:cubicBezTo>
                    <a:pt x="266" y="0"/>
                    <a:pt x="266" y="0"/>
                    <a:pt x="266" y="0"/>
                  </a:cubicBezTo>
                  <a:cubicBezTo>
                    <a:pt x="266" y="49"/>
                    <a:pt x="266" y="49"/>
                    <a:pt x="266" y="49"/>
                  </a:cubicBezTo>
                  <a:cubicBezTo>
                    <a:pt x="260" y="50"/>
                    <a:pt x="255" y="51"/>
                    <a:pt x="250" y="52"/>
                  </a:cubicBezTo>
                  <a:cubicBezTo>
                    <a:pt x="234" y="6"/>
                    <a:pt x="234" y="6"/>
                    <a:pt x="234" y="6"/>
                  </a:cubicBezTo>
                  <a:cubicBezTo>
                    <a:pt x="165" y="31"/>
                    <a:pt x="165" y="31"/>
                    <a:pt x="165" y="31"/>
                  </a:cubicBezTo>
                  <a:cubicBezTo>
                    <a:pt x="181" y="77"/>
                    <a:pt x="181" y="77"/>
                    <a:pt x="181" y="77"/>
                  </a:cubicBezTo>
                  <a:cubicBezTo>
                    <a:pt x="177" y="79"/>
                    <a:pt x="173" y="82"/>
                    <a:pt x="168" y="84"/>
                  </a:cubicBezTo>
                  <a:cubicBezTo>
                    <a:pt x="137" y="47"/>
                    <a:pt x="137" y="47"/>
                    <a:pt x="137" y="47"/>
                  </a:cubicBezTo>
                  <a:cubicBezTo>
                    <a:pt x="81" y="94"/>
                    <a:pt x="81" y="94"/>
                    <a:pt x="81" y="94"/>
                  </a:cubicBezTo>
                  <a:cubicBezTo>
                    <a:pt x="112" y="132"/>
                    <a:pt x="112" y="132"/>
                    <a:pt x="112" y="132"/>
                  </a:cubicBezTo>
                  <a:cubicBezTo>
                    <a:pt x="109" y="135"/>
                    <a:pt x="105" y="139"/>
                    <a:pt x="102" y="143"/>
                  </a:cubicBezTo>
                  <a:cubicBezTo>
                    <a:pt x="60" y="119"/>
                    <a:pt x="60" y="119"/>
                    <a:pt x="60" y="119"/>
                  </a:cubicBezTo>
                  <a:cubicBezTo>
                    <a:pt x="23" y="183"/>
                    <a:pt x="23" y="183"/>
                    <a:pt x="23" y="183"/>
                  </a:cubicBezTo>
                  <a:cubicBezTo>
                    <a:pt x="65" y="207"/>
                    <a:pt x="65" y="207"/>
                    <a:pt x="65" y="207"/>
                  </a:cubicBezTo>
                  <a:cubicBezTo>
                    <a:pt x="64" y="212"/>
                    <a:pt x="62" y="216"/>
                    <a:pt x="60" y="221"/>
                  </a:cubicBezTo>
                  <a:cubicBezTo>
                    <a:pt x="12" y="213"/>
                    <a:pt x="12" y="213"/>
                    <a:pt x="12" y="213"/>
                  </a:cubicBezTo>
                  <a:cubicBezTo>
                    <a:pt x="0" y="285"/>
                    <a:pt x="0" y="285"/>
                    <a:pt x="0" y="285"/>
                  </a:cubicBezTo>
                  <a:cubicBezTo>
                    <a:pt x="48" y="294"/>
                    <a:pt x="48" y="294"/>
                    <a:pt x="48" y="294"/>
                  </a:cubicBezTo>
                  <a:cubicBezTo>
                    <a:pt x="47" y="296"/>
                    <a:pt x="47" y="299"/>
                    <a:pt x="47" y="301"/>
                  </a:cubicBezTo>
                  <a:cubicBezTo>
                    <a:pt x="47" y="304"/>
                    <a:pt x="47" y="306"/>
                    <a:pt x="48" y="309"/>
                  </a:cubicBezTo>
                  <a:cubicBezTo>
                    <a:pt x="0" y="317"/>
                    <a:pt x="0" y="317"/>
                    <a:pt x="0" y="317"/>
                  </a:cubicBezTo>
                  <a:cubicBezTo>
                    <a:pt x="12" y="390"/>
                    <a:pt x="12" y="390"/>
                    <a:pt x="12" y="390"/>
                  </a:cubicBezTo>
                  <a:cubicBezTo>
                    <a:pt x="60" y="381"/>
                    <a:pt x="60" y="381"/>
                    <a:pt x="60" y="381"/>
                  </a:cubicBezTo>
                  <a:cubicBezTo>
                    <a:pt x="62" y="386"/>
                    <a:pt x="64" y="391"/>
                    <a:pt x="65" y="396"/>
                  </a:cubicBezTo>
                  <a:cubicBezTo>
                    <a:pt x="23" y="420"/>
                    <a:pt x="23" y="420"/>
                    <a:pt x="23" y="420"/>
                  </a:cubicBezTo>
                  <a:cubicBezTo>
                    <a:pt x="60" y="484"/>
                    <a:pt x="60" y="484"/>
                    <a:pt x="60" y="484"/>
                  </a:cubicBezTo>
                  <a:cubicBezTo>
                    <a:pt x="102" y="459"/>
                    <a:pt x="102" y="459"/>
                    <a:pt x="102" y="459"/>
                  </a:cubicBezTo>
                  <a:cubicBezTo>
                    <a:pt x="105" y="463"/>
                    <a:pt x="109" y="467"/>
                    <a:pt x="112" y="471"/>
                  </a:cubicBezTo>
                  <a:cubicBezTo>
                    <a:pt x="81" y="508"/>
                    <a:pt x="81" y="508"/>
                    <a:pt x="81" y="508"/>
                  </a:cubicBezTo>
                  <a:cubicBezTo>
                    <a:pt x="137" y="555"/>
                    <a:pt x="137" y="555"/>
                    <a:pt x="137" y="555"/>
                  </a:cubicBezTo>
                  <a:cubicBezTo>
                    <a:pt x="168" y="518"/>
                    <a:pt x="168" y="518"/>
                    <a:pt x="168" y="518"/>
                  </a:cubicBezTo>
                  <a:cubicBezTo>
                    <a:pt x="173" y="521"/>
                    <a:pt x="177" y="523"/>
                    <a:pt x="181" y="526"/>
                  </a:cubicBezTo>
                  <a:cubicBezTo>
                    <a:pt x="165" y="571"/>
                    <a:pt x="165" y="571"/>
                    <a:pt x="165" y="571"/>
                  </a:cubicBezTo>
                  <a:cubicBezTo>
                    <a:pt x="234" y="597"/>
                    <a:pt x="234" y="597"/>
                    <a:pt x="234" y="597"/>
                  </a:cubicBezTo>
                  <a:cubicBezTo>
                    <a:pt x="250" y="551"/>
                    <a:pt x="250" y="551"/>
                    <a:pt x="250" y="551"/>
                  </a:cubicBezTo>
                  <a:cubicBezTo>
                    <a:pt x="255" y="552"/>
                    <a:pt x="260" y="553"/>
                    <a:pt x="266" y="554"/>
                  </a:cubicBezTo>
                  <a:cubicBezTo>
                    <a:pt x="266" y="602"/>
                    <a:pt x="266" y="602"/>
                    <a:pt x="266" y="602"/>
                  </a:cubicBezTo>
                  <a:cubicBezTo>
                    <a:pt x="339" y="602"/>
                    <a:pt x="339" y="602"/>
                    <a:pt x="339" y="602"/>
                  </a:cubicBezTo>
                  <a:cubicBezTo>
                    <a:pt x="339" y="554"/>
                    <a:pt x="339" y="554"/>
                    <a:pt x="339" y="554"/>
                  </a:cubicBezTo>
                  <a:cubicBezTo>
                    <a:pt x="344" y="553"/>
                    <a:pt x="349" y="552"/>
                    <a:pt x="354" y="551"/>
                  </a:cubicBezTo>
                  <a:cubicBezTo>
                    <a:pt x="371" y="597"/>
                    <a:pt x="371" y="597"/>
                    <a:pt x="371" y="597"/>
                  </a:cubicBezTo>
                  <a:cubicBezTo>
                    <a:pt x="440" y="571"/>
                    <a:pt x="440" y="571"/>
                    <a:pt x="440" y="571"/>
                  </a:cubicBezTo>
                  <a:cubicBezTo>
                    <a:pt x="423" y="526"/>
                    <a:pt x="423" y="526"/>
                    <a:pt x="423" y="526"/>
                  </a:cubicBezTo>
                  <a:cubicBezTo>
                    <a:pt x="428" y="523"/>
                    <a:pt x="432" y="521"/>
                    <a:pt x="436" y="518"/>
                  </a:cubicBezTo>
                  <a:cubicBezTo>
                    <a:pt x="467" y="555"/>
                    <a:pt x="467" y="555"/>
                    <a:pt x="467" y="555"/>
                  </a:cubicBezTo>
                  <a:cubicBezTo>
                    <a:pt x="524" y="508"/>
                    <a:pt x="524" y="508"/>
                    <a:pt x="524" y="508"/>
                  </a:cubicBezTo>
                  <a:cubicBezTo>
                    <a:pt x="493" y="471"/>
                    <a:pt x="493" y="471"/>
                    <a:pt x="493" y="471"/>
                  </a:cubicBezTo>
                  <a:cubicBezTo>
                    <a:pt x="496" y="467"/>
                    <a:pt x="499" y="463"/>
                    <a:pt x="502" y="459"/>
                  </a:cubicBezTo>
                  <a:cubicBezTo>
                    <a:pt x="544" y="484"/>
                    <a:pt x="544" y="484"/>
                    <a:pt x="544" y="484"/>
                  </a:cubicBezTo>
                  <a:cubicBezTo>
                    <a:pt x="581" y="420"/>
                    <a:pt x="581" y="420"/>
                    <a:pt x="581" y="420"/>
                  </a:cubicBezTo>
                  <a:cubicBezTo>
                    <a:pt x="539" y="396"/>
                    <a:pt x="539" y="396"/>
                    <a:pt x="539" y="396"/>
                  </a:cubicBezTo>
                  <a:cubicBezTo>
                    <a:pt x="541" y="391"/>
                    <a:pt x="543" y="386"/>
                    <a:pt x="544" y="381"/>
                  </a:cubicBezTo>
                  <a:cubicBezTo>
                    <a:pt x="592" y="390"/>
                    <a:pt x="592" y="390"/>
                    <a:pt x="592" y="390"/>
                  </a:cubicBezTo>
                  <a:cubicBezTo>
                    <a:pt x="605" y="317"/>
                    <a:pt x="605" y="317"/>
                    <a:pt x="605" y="317"/>
                  </a:cubicBezTo>
                  <a:cubicBezTo>
                    <a:pt x="557" y="309"/>
                    <a:pt x="557" y="309"/>
                    <a:pt x="557" y="309"/>
                  </a:cubicBezTo>
                  <a:cubicBezTo>
                    <a:pt x="557" y="306"/>
                    <a:pt x="557" y="304"/>
                    <a:pt x="557" y="301"/>
                  </a:cubicBezTo>
                  <a:close/>
                  <a:moveTo>
                    <a:pt x="336" y="100"/>
                  </a:moveTo>
                  <a:cubicBezTo>
                    <a:pt x="385" y="109"/>
                    <a:pt x="429" y="135"/>
                    <a:pt x="459" y="172"/>
                  </a:cubicBezTo>
                  <a:cubicBezTo>
                    <a:pt x="394" y="210"/>
                    <a:pt x="394" y="210"/>
                    <a:pt x="394" y="210"/>
                  </a:cubicBezTo>
                  <a:cubicBezTo>
                    <a:pt x="378" y="194"/>
                    <a:pt x="358" y="182"/>
                    <a:pt x="336" y="176"/>
                  </a:cubicBezTo>
                  <a:lnTo>
                    <a:pt x="336" y="100"/>
                  </a:lnTo>
                  <a:close/>
                  <a:moveTo>
                    <a:pt x="381" y="241"/>
                  </a:moveTo>
                  <a:cubicBezTo>
                    <a:pt x="378" y="237"/>
                    <a:pt x="375" y="234"/>
                    <a:pt x="372" y="231"/>
                  </a:cubicBezTo>
                  <a:cubicBezTo>
                    <a:pt x="379" y="224"/>
                    <a:pt x="379" y="224"/>
                    <a:pt x="379" y="224"/>
                  </a:cubicBezTo>
                  <a:cubicBezTo>
                    <a:pt x="383" y="228"/>
                    <a:pt x="386" y="231"/>
                    <a:pt x="388" y="235"/>
                  </a:cubicBezTo>
                  <a:lnTo>
                    <a:pt x="381" y="241"/>
                  </a:lnTo>
                  <a:close/>
                  <a:moveTo>
                    <a:pt x="382" y="376"/>
                  </a:moveTo>
                  <a:cubicBezTo>
                    <a:pt x="379" y="379"/>
                    <a:pt x="376" y="382"/>
                    <a:pt x="372" y="385"/>
                  </a:cubicBezTo>
                  <a:cubicBezTo>
                    <a:pt x="366" y="377"/>
                    <a:pt x="366" y="377"/>
                    <a:pt x="366" y="377"/>
                  </a:cubicBezTo>
                  <a:cubicBezTo>
                    <a:pt x="369" y="375"/>
                    <a:pt x="372" y="372"/>
                    <a:pt x="375" y="369"/>
                  </a:cubicBezTo>
                  <a:lnTo>
                    <a:pt x="382" y="376"/>
                  </a:lnTo>
                  <a:close/>
                  <a:moveTo>
                    <a:pt x="393" y="262"/>
                  </a:moveTo>
                  <a:cubicBezTo>
                    <a:pt x="392" y="258"/>
                    <a:pt x="390" y="254"/>
                    <a:pt x="388" y="251"/>
                  </a:cubicBezTo>
                  <a:cubicBezTo>
                    <a:pt x="396" y="246"/>
                    <a:pt x="396" y="246"/>
                    <a:pt x="396" y="246"/>
                  </a:cubicBezTo>
                  <a:cubicBezTo>
                    <a:pt x="398" y="250"/>
                    <a:pt x="400" y="254"/>
                    <a:pt x="402" y="258"/>
                  </a:cubicBezTo>
                  <a:lnTo>
                    <a:pt x="393" y="262"/>
                  </a:lnTo>
                  <a:close/>
                  <a:moveTo>
                    <a:pt x="407" y="271"/>
                  </a:moveTo>
                  <a:cubicBezTo>
                    <a:pt x="408" y="275"/>
                    <a:pt x="409" y="280"/>
                    <a:pt x="410" y="284"/>
                  </a:cubicBezTo>
                  <a:cubicBezTo>
                    <a:pt x="400" y="286"/>
                    <a:pt x="400" y="286"/>
                    <a:pt x="400" y="286"/>
                  </a:cubicBezTo>
                  <a:cubicBezTo>
                    <a:pt x="400" y="281"/>
                    <a:pt x="399" y="277"/>
                    <a:pt x="397" y="273"/>
                  </a:cubicBezTo>
                  <a:lnTo>
                    <a:pt x="407" y="271"/>
                  </a:lnTo>
                  <a:close/>
                  <a:moveTo>
                    <a:pt x="389" y="349"/>
                  </a:moveTo>
                  <a:cubicBezTo>
                    <a:pt x="398" y="354"/>
                    <a:pt x="398" y="354"/>
                    <a:pt x="398" y="354"/>
                  </a:cubicBezTo>
                  <a:cubicBezTo>
                    <a:pt x="396" y="357"/>
                    <a:pt x="393" y="361"/>
                    <a:pt x="391" y="365"/>
                  </a:cubicBezTo>
                  <a:cubicBezTo>
                    <a:pt x="383" y="359"/>
                    <a:pt x="383" y="359"/>
                    <a:pt x="383" y="359"/>
                  </a:cubicBezTo>
                  <a:cubicBezTo>
                    <a:pt x="385" y="356"/>
                    <a:pt x="387" y="352"/>
                    <a:pt x="389" y="349"/>
                  </a:cubicBezTo>
                  <a:close/>
                  <a:moveTo>
                    <a:pt x="395" y="338"/>
                  </a:moveTo>
                  <a:cubicBezTo>
                    <a:pt x="396" y="334"/>
                    <a:pt x="397" y="330"/>
                    <a:pt x="398" y="326"/>
                  </a:cubicBezTo>
                  <a:cubicBezTo>
                    <a:pt x="408" y="328"/>
                    <a:pt x="408" y="328"/>
                    <a:pt x="408" y="328"/>
                  </a:cubicBezTo>
                  <a:cubicBezTo>
                    <a:pt x="407" y="333"/>
                    <a:pt x="405" y="337"/>
                    <a:pt x="404" y="341"/>
                  </a:cubicBezTo>
                  <a:lnTo>
                    <a:pt x="395" y="338"/>
                  </a:lnTo>
                  <a:close/>
                  <a:moveTo>
                    <a:pt x="401" y="314"/>
                  </a:moveTo>
                  <a:cubicBezTo>
                    <a:pt x="401" y="310"/>
                    <a:pt x="401" y="305"/>
                    <a:pt x="401" y="301"/>
                  </a:cubicBezTo>
                  <a:cubicBezTo>
                    <a:pt x="401" y="300"/>
                    <a:pt x="401" y="299"/>
                    <a:pt x="401" y="298"/>
                  </a:cubicBezTo>
                  <a:cubicBezTo>
                    <a:pt x="411" y="298"/>
                    <a:pt x="411" y="298"/>
                    <a:pt x="411" y="298"/>
                  </a:cubicBezTo>
                  <a:cubicBezTo>
                    <a:pt x="411" y="299"/>
                    <a:pt x="411" y="300"/>
                    <a:pt x="411" y="301"/>
                  </a:cubicBezTo>
                  <a:cubicBezTo>
                    <a:pt x="411" y="306"/>
                    <a:pt x="411" y="310"/>
                    <a:pt x="410" y="315"/>
                  </a:cubicBezTo>
                  <a:lnTo>
                    <a:pt x="401" y="314"/>
                  </a:lnTo>
                  <a:close/>
                  <a:moveTo>
                    <a:pt x="369" y="215"/>
                  </a:moveTo>
                  <a:cubicBezTo>
                    <a:pt x="363" y="223"/>
                    <a:pt x="363" y="223"/>
                    <a:pt x="363" y="223"/>
                  </a:cubicBezTo>
                  <a:cubicBezTo>
                    <a:pt x="360" y="221"/>
                    <a:pt x="356" y="218"/>
                    <a:pt x="353" y="216"/>
                  </a:cubicBezTo>
                  <a:cubicBezTo>
                    <a:pt x="358" y="208"/>
                    <a:pt x="358" y="208"/>
                    <a:pt x="358" y="208"/>
                  </a:cubicBezTo>
                  <a:cubicBezTo>
                    <a:pt x="362" y="210"/>
                    <a:pt x="366" y="213"/>
                    <a:pt x="369" y="215"/>
                  </a:cubicBezTo>
                  <a:close/>
                  <a:moveTo>
                    <a:pt x="333" y="197"/>
                  </a:moveTo>
                  <a:cubicBezTo>
                    <a:pt x="337" y="198"/>
                    <a:pt x="342" y="200"/>
                    <a:pt x="346" y="201"/>
                  </a:cubicBezTo>
                  <a:cubicBezTo>
                    <a:pt x="342" y="210"/>
                    <a:pt x="342" y="210"/>
                    <a:pt x="342" y="210"/>
                  </a:cubicBezTo>
                  <a:cubicBezTo>
                    <a:pt x="338" y="209"/>
                    <a:pt x="334" y="207"/>
                    <a:pt x="330" y="206"/>
                  </a:cubicBezTo>
                  <a:lnTo>
                    <a:pt x="333" y="197"/>
                  </a:lnTo>
                  <a:close/>
                  <a:moveTo>
                    <a:pt x="306" y="192"/>
                  </a:moveTo>
                  <a:cubicBezTo>
                    <a:pt x="311" y="193"/>
                    <a:pt x="315" y="193"/>
                    <a:pt x="320" y="194"/>
                  </a:cubicBezTo>
                  <a:cubicBezTo>
                    <a:pt x="318" y="203"/>
                    <a:pt x="318" y="203"/>
                    <a:pt x="318" y="203"/>
                  </a:cubicBezTo>
                  <a:cubicBezTo>
                    <a:pt x="314" y="203"/>
                    <a:pt x="310" y="202"/>
                    <a:pt x="306" y="202"/>
                  </a:cubicBezTo>
                  <a:lnTo>
                    <a:pt x="306" y="192"/>
                  </a:lnTo>
                  <a:close/>
                  <a:moveTo>
                    <a:pt x="373" y="301"/>
                  </a:moveTo>
                  <a:cubicBezTo>
                    <a:pt x="373" y="340"/>
                    <a:pt x="341" y="372"/>
                    <a:pt x="302" y="372"/>
                  </a:cubicBezTo>
                  <a:cubicBezTo>
                    <a:pt x="263" y="372"/>
                    <a:pt x="232" y="340"/>
                    <a:pt x="232" y="301"/>
                  </a:cubicBezTo>
                  <a:cubicBezTo>
                    <a:pt x="232" y="262"/>
                    <a:pt x="263" y="231"/>
                    <a:pt x="302" y="231"/>
                  </a:cubicBezTo>
                  <a:cubicBezTo>
                    <a:pt x="341" y="231"/>
                    <a:pt x="373" y="262"/>
                    <a:pt x="373" y="301"/>
                  </a:cubicBezTo>
                  <a:close/>
                  <a:moveTo>
                    <a:pt x="361" y="393"/>
                  </a:moveTo>
                  <a:cubicBezTo>
                    <a:pt x="357" y="395"/>
                    <a:pt x="353" y="398"/>
                    <a:pt x="349" y="400"/>
                  </a:cubicBezTo>
                  <a:cubicBezTo>
                    <a:pt x="345" y="391"/>
                    <a:pt x="345" y="391"/>
                    <a:pt x="345" y="391"/>
                  </a:cubicBezTo>
                  <a:cubicBezTo>
                    <a:pt x="349" y="389"/>
                    <a:pt x="352" y="387"/>
                    <a:pt x="356" y="385"/>
                  </a:cubicBezTo>
                  <a:lnTo>
                    <a:pt x="361" y="393"/>
                  </a:lnTo>
                  <a:close/>
                  <a:moveTo>
                    <a:pt x="261" y="391"/>
                  </a:moveTo>
                  <a:cubicBezTo>
                    <a:pt x="257" y="400"/>
                    <a:pt x="257" y="400"/>
                    <a:pt x="257" y="400"/>
                  </a:cubicBezTo>
                  <a:cubicBezTo>
                    <a:pt x="253" y="398"/>
                    <a:pt x="249" y="396"/>
                    <a:pt x="245" y="394"/>
                  </a:cubicBezTo>
                  <a:cubicBezTo>
                    <a:pt x="250" y="386"/>
                    <a:pt x="250" y="386"/>
                    <a:pt x="250" y="386"/>
                  </a:cubicBezTo>
                  <a:cubicBezTo>
                    <a:pt x="254" y="388"/>
                    <a:pt x="257" y="390"/>
                    <a:pt x="261" y="391"/>
                  </a:cubicBezTo>
                  <a:close/>
                  <a:moveTo>
                    <a:pt x="206" y="278"/>
                  </a:moveTo>
                  <a:cubicBezTo>
                    <a:pt x="205" y="282"/>
                    <a:pt x="204" y="287"/>
                    <a:pt x="204" y="291"/>
                  </a:cubicBezTo>
                  <a:cubicBezTo>
                    <a:pt x="194" y="290"/>
                    <a:pt x="194" y="290"/>
                    <a:pt x="194" y="290"/>
                  </a:cubicBezTo>
                  <a:cubicBezTo>
                    <a:pt x="194" y="285"/>
                    <a:pt x="195" y="281"/>
                    <a:pt x="196" y="276"/>
                  </a:cubicBezTo>
                  <a:lnTo>
                    <a:pt x="206" y="278"/>
                  </a:lnTo>
                  <a:close/>
                  <a:moveTo>
                    <a:pt x="200" y="263"/>
                  </a:moveTo>
                  <a:cubicBezTo>
                    <a:pt x="202" y="259"/>
                    <a:pt x="204" y="255"/>
                    <a:pt x="206" y="251"/>
                  </a:cubicBezTo>
                  <a:cubicBezTo>
                    <a:pt x="214" y="255"/>
                    <a:pt x="214" y="255"/>
                    <a:pt x="214" y="255"/>
                  </a:cubicBezTo>
                  <a:cubicBezTo>
                    <a:pt x="212" y="259"/>
                    <a:pt x="211" y="263"/>
                    <a:pt x="209" y="267"/>
                  </a:cubicBezTo>
                  <a:lnTo>
                    <a:pt x="200" y="263"/>
                  </a:lnTo>
                  <a:close/>
                  <a:moveTo>
                    <a:pt x="203" y="303"/>
                  </a:moveTo>
                  <a:cubicBezTo>
                    <a:pt x="203" y="307"/>
                    <a:pt x="204" y="311"/>
                    <a:pt x="204" y="315"/>
                  </a:cubicBezTo>
                  <a:cubicBezTo>
                    <a:pt x="194" y="317"/>
                    <a:pt x="194" y="317"/>
                    <a:pt x="194" y="317"/>
                  </a:cubicBezTo>
                  <a:cubicBezTo>
                    <a:pt x="194" y="312"/>
                    <a:pt x="193" y="308"/>
                    <a:pt x="193" y="303"/>
                  </a:cubicBezTo>
                  <a:lnTo>
                    <a:pt x="203" y="303"/>
                  </a:lnTo>
                  <a:close/>
                  <a:moveTo>
                    <a:pt x="207" y="327"/>
                  </a:moveTo>
                  <a:cubicBezTo>
                    <a:pt x="208" y="331"/>
                    <a:pt x="209" y="335"/>
                    <a:pt x="211" y="339"/>
                  </a:cubicBezTo>
                  <a:cubicBezTo>
                    <a:pt x="202" y="343"/>
                    <a:pt x="202" y="343"/>
                    <a:pt x="202" y="343"/>
                  </a:cubicBezTo>
                  <a:cubicBezTo>
                    <a:pt x="200" y="339"/>
                    <a:pt x="198" y="334"/>
                    <a:pt x="197" y="330"/>
                  </a:cubicBezTo>
                  <a:lnTo>
                    <a:pt x="207" y="327"/>
                  </a:lnTo>
                  <a:close/>
                  <a:moveTo>
                    <a:pt x="216" y="350"/>
                  </a:moveTo>
                  <a:cubicBezTo>
                    <a:pt x="218" y="354"/>
                    <a:pt x="220" y="357"/>
                    <a:pt x="223" y="361"/>
                  </a:cubicBezTo>
                  <a:cubicBezTo>
                    <a:pt x="215" y="366"/>
                    <a:pt x="215" y="366"/>
                    <a:pt x="215" y="366"/>
                  </a:cubicBezTo>
                  <a:cubicBezTo>
                    <a:pt x="212" y="363"/>
                    <a:pt x="210" y="359"/>
                    <a:pt x="208" y="355"/>
                  </a:cubicBezTo>
                  <a:lnTo>
                    <a:pt x="216" y="350"/>
                  </a:lnTo>
                  <a:close/>
                  <a:moveTo>
                    <a:pt x="221" y="245"/>
                  </a:moveTo>
                  <a:cubicBezTo>
                    <a:pt x="213" y="239"/>
                    <a:pt x="213" y="239"/>
                    <a:pt x="213" y="239"/>
                  </a:cubicBezTo>
                  <a:cubicBezTo>
                    <a:pt x="215" y="235"/>
                    <a:pt x="218" y="232"/>
                    <a:pt x="221" y="228"/>
                  </a:cubicBezTo>
                  <a:cubicBezTo>
                    <a:pt x="229" y="235"/>
                    <a:pt x="229" y="235"/>
                    <a:pt x="229" y="235"/>
                  </a:cubicBezTo>
                  <a:cubicBezTo>
                    <a:pt x="226" y="238"/>
                    <a:pt x="223" y="241"/>
                    <a:pt x="221" y="245"/>
                  </a:cubicBezTo>
                  <a:close/>
                  <a:moveTo>
                    <a:pt x="231" y="370"/>
                  </a:moveTo>
                  <a:cubicBezTo>
                    <a:pt x="234" y="373"/>
                    <a:pt x="237" y="376"/>
                    <a:pt x="240" y="378"/>
                  </a:cubicBezTo>
                  <a:cubicBezTo>
                    <a:pt x="234" y="386"/>
                    <a:pt x="234" y="386"/>
                    <a:pt x="234" y="386"/>
                  </a:cubicBezTo>
                  <a:cubicBezTo>
                    <a:pt x="230" y="383"/>
                    <a:pt x="227" y="380"/>
                    <a:pt x="224" y="377"/>
                  </a:cubicBezTo>
                  <a:lnTo>
                    <a:pt x="231" y="370"/>
                  </a:lnTo>
                  <a:close/>
                  <a:moveTo>
                    <a:pt x="231" y="219"/>
                  </a:moveTo>
                  <a:cubicBezTo>
                    <a:pt x="234" y="216"/>
                    <a:pt x="238" y="213"/>
                    <a:pt x="242" y="211"/>
                  </a:cubicBezTo>
                  <a:cubicBezTo>
                    <a:pt x="247" y="219"/>
                    <a:pt x="247" y="219"/>
                    <a:pt x="247" y="219"/>
                  </a:cubicBezTo>
                  <a:cubicBezTo>
                    <a:pt x="244" y="221"/>
                    <a:pt x="241" y="224"/>
                    <a:pt x="237" y="226"/>
                  </a:cubicBezTo>
                  <a:lnTo>
                    <a:pt x="231" y="219"/>
                  </a:lnTo>
                  <a:close/>
                  <a:moveTo>
                    <a:pt x="293" y="193"/>
                  </a:moveTo>
                  <a:cubicBezTo>
                    <a:pt x="294" y="203"/>
                    <a:pt x="294" y="203"/>
                    <a:pt x="294" y="203"/>
                  </a:cubicBezTo>
                  <a:cubicBezTo>
                    <a:pt x="289" y="203"/>
                    <a:pt x="285" y="203"/>
                    <a:pt x="281" y="204"/>
                  </a:cubicBezTo>
                  <a:cubicBezTo>
                    <a:pt x="279" y="195"/>
                    <a:pt x="279" y="195"/>
                    <a:pt x="279" y="195"/>
                  </a:cubicBezTo>
                  <a:cubicBezTo>
                    <a:pt x="284" y="194"/>
                    <a:pt x="288" y="193"/>
                    <a:pt x="293" y="193"/>
                  </a:cubicBezTo>
                  <a:close/>
                  <a:moveTo>
                    <a:pt x="258" y="213"/>
                  </a:moveTo>
                  <a:cubicBezTo>
                    <a:pt x="254" y="204"/>
                    <a:pt x="254" y="204"/>
                    <a:pt x="254" y="204"/>
                  </a:cubicBezTo>
                  <a:cubicBezTo>
                    <a:pt x="258" y="202"/>
                    <a:pt x="262" y="200"/>
                    <a:pt x="266" y="199"/>
                  </a:cubicBezTo>
                  <a:cubicBezTo>
                    <a:pt x="269" y="208"/>
                    <a:pt x="269" y="208"/>
                    <a:pt x="269" y="208"/>
                  </a:cubicBezTo>
                  <a:cubicBezTo>
                    <a:pt x="265" y="209"/>
                    <a:pt x="262" y="211"/>
                    <a:pt x="258" y="213"/>
                  </a:cubicBezTo>
                  <a:close/>
                  <a:moveTo>
                    <a:pt x="269" y="101"/>
                  </a:moveTo>
                  <a:cubicBezTo>
                    <a:pt x="269" y="176"/>
                    <a:pt x="269" y="176"/>
                    <a:pt x="269" y="176"/>
                  </a:cubicBezTo>
                  <a:cubicBezTo>
                    <a:pt x="246" y="182"/>
                    <a:pt x="226" y="194"/>
                    <a:pt x="210" y="210"/>
                  </a:cubicBezTo>
                  <a:cubicBezTo>
                    <a:pt x="145" y="172"/>
                    <a:pt x="145" y="172"/>
                    <a:pt x="145" y="172"/>
                  </a:cubicBezTo>
                  <a:cubicBezTo>
                    <a:pt x="176" y="135"/>
                    <a:pt x="219" y="109"/>
                    <a:pt x="269" y="101"/>
                  </a:cubicBezTo>
                  <a:close/>
                  <a:moveTo>
                    <a:pt x="112" y="373"/>
                  </a:moveTo>
                  <a:cubicBezTo>
                    <a:pt x="103" y="351"/>
                    <a:pt x="99" y="326"/>
                    <a:pt x="99" y="301"/>
                  </a:cubicBezTo>
                  <a:cubicBezTo>
                    <a:pt x="99" y="276"/>
                    <a:pt x="103" y="252"/>
                    <a:pt x="112" y="230"/>
                  </a:cubicBezTo>
                  <a:cubicBezTo>
                    <a:pt x="177" y="267"/>
                    <a:pt x="177" y="267"/>
                    <a:pt x="177" y="267"/>
                  </a:cubicBezTo>
                  <a:cubicBezTo>
                    <a:pt x="174" y="278"/>
                    <a:pt x="172" y="290"/>
                    <a:pt x="172" y="301"/>
                  </a:cubicBezTo>
                  <a:cubicBezTo>
                    <a:pt x="172" y="313"/>
                    <a:pt x="174" y="324"/>
                    <a:pt x="177" y="335"/>
                  </a:cubicBezTo>
                  <a:lnTo>
                    <a:pt x="112" y="373"/>
                  </a:lnTo>
                  <a:close/>
                  <a:moveTo>
                    <a:pt x="269" y="502"/>
                  </a:moveTo>
                  <a:cubicBezTo>
                    <a:pt x="219" y="494"/>
                    <a:pt x="176" y="468"/>
                    <a:pt x="145" y="431"/>
                  </a:cubicBezTo>
                  <a:cubicBezTo>
                    <a:pt x="210" y="393"/>
                    <a:pt x="210" y="393"/>
                    <a:pt x="210" y="393"/>
                  </a:cubicBezTo>
                  <a:cubicBezTo>
                    <a:pt x="226" y="409"/>
                    <a:pt x="246" y="421"/>
                    <a:pt x="269" y="427"/>
                  </a:cubicBezTo>
                  <a:lnTo>
                    <a:pt x="269" y="502"/>
                  </a:lnTo>
                  <a:close/>
                  <a:moveTo>
                    <a:pt x="283" y="408"/>
                  </a:moveTo>
                  <a:cubicBezTo>
                    <a:pt x="278" y="408"/>
                    <a:pt x="274" y="407"/>
                    <a:pt x="270" y="405"/>
                  </a:cubicBezTo>
                  <a:cubicBezTo>
                    <a:pt x="273" y="396"/>
                    <a:pt x="273" y="396"/>
                    <a:pt x="273" y="396"/>
                  </a:cubicBezTo>
                  <a:cubicBezTo>
                    <a:pt x="277" y="397"/>
                    <a:pt x="281" y="398"/>
                    <a:pt x="285" y="399"/>
                  </a:cubicBezTo>
                  <a:lnTo>
                    <a:pt x="283" y="408"/>
                  </a:lnTo>
                  <a:close/>
                  <a:moveTo>
                    <a:pt x="302" y="410"/>
                  </a:moveTo>
                  <a:cubicBezTo>
                    <a:pt x="300" y="410"/>
                    <a:pt x="298" y="410"/>
                    <a:pt x="296" y="410"/>
                  </a:cubicBezTo>
                  <a:cubicBezTo>
                    <a:pt x="297" y="400"/>
                    <a:pt x="297" y="400"/>
                    <a:pt x="297" y="400"/>
                  </a:cubicBezTo>
                  <a:cubicBezTo>
                    <a:pt x="301" y="401"/>
                    <a:pt x="305" y="400"/>
                    <a:pt x="309" y="400"/>
                  </a:cubicBezTo>
                  <a:cubicBezTo>
                    <a:pt x="310" y="410"/>
                    <a:pt x="310" y="410"/>
                    <a:pt x="310" y="410"/>
                  </a:cubicBezTo>
                  <a:cubicBezTo>
                    <a:pt x="307" y="410"/>
                    <a:pt x="305" y="410"/>
                    <a:pt x="302" y="410"/>
                  </a:cubicBezTo>
                  <a:close/>
                  <a:moveTo>
                    <a:pt x="322" y="399"/>
                  </a:moveTo>
                  <a:cubicBezTo>
                    <a:pt x="326" y="398"/>
                    <a:pt x="330" y="397"/>
                    <a:pt x="334" y="395"/>
                  </a:cubicBezTo>
                  <a:cubicBezTo>
                    <a:pt x="337" y="405"/>
                    <a:pt x="337" y="405"/>
                    <a:pt x="337" y="405"/>
                  </a:cubicBezTo>
                  <a:cubicBezTo>
                    <a:pt x="332" y="406"/>
                    <a:pt x="328" y="407"/>
                    <a:pt x="323" y="408"/>
                  </a:cubicBezTo>
                  <a:lnTo>
                    <a:pt x="322" y="399"/>
                  </a:lnTo>
                  <a:close/>
                  <a:moveTo>
                    <a:pt x="336" y="502"/>
                  </a:moveTo>
                  <a:cubicBezTo>
                    <a:pt x="336" y="427"/>
                    <a:pt x="336" y="427"/>
                    <a:pt x="336" y="427"/>
                  </a:cubicBezTo>
                  <a:cubicBezTo>
                    <a:pt x="358" y="421"/>
                    <a:pt x="378" y="409"/>
                    <a:pt x="394" y="393"/>
                  </a:cubicBezTo>
                  <a:cubicBezTo>
                    <a:pt x="459" y="431"/>
                    <a:pt x="459" y="431"/>
                    <a:pt x="459" y="431"/>
                  </a:cubicBezTo>
                  <a:cubicBezTo>
                    <a:pt x="429" y="468"/>
                    <a:pt x="385" y="494"/>
                    <a:pt x="336" y="502"/>
                  </a:cubicBezTo>
                  <a:close/>
                  <a:moveTo>
                    <a:pt x="493" y="373"/>
                  </a:moveTo>
                  <a:cubicBezTo>
                    <a:pt x="428" y="335"/>
                    <a:pt x="428" y="335"/>
                    <a:pt x="428" y="335"/>
                  </a:cubicBezTo>
                  <a:cubicBezTo>
                    <a:pt x="431" y="324"/>
                    <a:pt x="432" y="313"/>
                    <a:pt x="432" y="301"/>
                  </a:cubicBezTo>
                  <a:cubicBezTo>
                    <a:pt x="432" y="290"/>
                    <a:pt x="431" y="278"/>
                    <a:pt x="428" y="267"/>
                  </a:cubicBezTo>
                  <a:cubicBezTo>
                    <a:pt x="493" y="230"/>
                    <a:pt x="493" y="230"/>
                    <a:pt x="493" y="230"/>
                  </a:cubicBezTo>
                  <a:cubicBezTo>
                    <a:pt x="501" y="252"/>
                    <a:pt x="506" y="276"/>
                    <a:pt x="506" y="301"/>
                  </a:cubicBezTo>
                  <a:cubicBezTo>
                    <a:pt x="506" y="326"/>
                    <a:pt x="501" y="351"/>
                    <a:pt x="493" y="373"/>
                  </a:cubicBezTo>
                  <a:close/>
                </a:path>
              </a:pathLst>
            </a:custGeom>
            <a:solidFill>
              <a:srgbClr val="63666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7" name="Freeform 16">
              <a:extLst>
                <a:ext uri="{FF2B5EF4-FFF2-40B4-BE49-F238E27FC236}">
                  <a16:creationId xmlns:a16="http://schemas.microsoft.com/office/drawing/2014/main" id="{0B9B5E35-4422-E937-50E2-7C2A5BEC07F6}"/>
                </a:ext>
              </a:extLst>
            </p:cNvPr>
            <p:cNvSpPr>
              <a:spLocks noEditPoints="1"/>
            </p:cNvSpPr>
            <p:nvPr/>
          </p:nvSpPr>
          <p:spPr bwMode="auto">
            <a:xfrm>
              <a:off x="2974445" y="3217462"/>
              <a:ext cx="782517" cy="778320"/>
            </a:xfrm>
            <a:custGeom>
              <a:avLst/>
              <a:gdLst>
                <a:gd name="T0" fmla="*/ 351 w 394"/>
                <a:gd name="T1" fmla="*/ 134 h 392"/>
                <a:gd name="T2" fmla="*/ 355 w 394"/>
                <a:gd name="T3" fmla="*/ 77 h 392"/>
                <a:gd name="T4" fmla="*/ 321 w 394"/>
                <a:gd name="T5" fmla="*/ 85 h 392"/>
                <a:gd name="T6" fmla="*/ 305 w 394"/>
                <a:gd name="T7" fmla="*/ 30 h 392"/>
                <a:gd name="T8" fmla="*/ 276 w 394"/>
                <a:gd name="T9" fmla="*/ 49 h 392"/>
                <a:gd name="T10" fmla="*/ 242 w 394"/>
                <a:gd name="T11" fmla="*/ 3 h 392"/>
                <a:gd name="T12" fmla="*/ 221 w 394"/>
                <a:gd name="T13" fmla="*/ 31 h 392"/>
                <a:gd name="T14" fmla="*/ 173 w 394"/>
                <a:gd name="T15" fmla="*/ 0 h 392"/>
                <a:gd name="T16" fmla="*/ 163 w 394"/>
                <a:gd name="T17" fmla="*/ 33 h 392"/>
                <a:gd name="T18" fmla="*/ 107 w 394"/>
                <a:gd name="T19" fmla="*/ 20 h 392"/>
                <a:gd name="T20" fmla="*/ 110 w 394"/>
                <a:gd name="T21" fmla="*/ 54 h 392"/>
                <a:gd name="T22" fmla="*/ 53 w 394"/>
                <a:gd name="T23" fmla="*/ 61 h 392"/>
                <a:gd name="T24" fmla="*/ 67 w 394"/>
                <a:gd name="T25" fmla="*/ 93 h 392"/>
                <a:gd name="T26" fmla="*/ 15 w 394"/>
                <a:gd name="T27" fmla="*/ 118 h 392"/>
                <a:gd name="T28" fmla="*/ 39 w 394"/>
                <a:gd name="T29" fmla="*/ 144 h 392"/>
                <a:gd name="T30" fmla="*/ 0 w 394"/>
                <a:gd name="T31" fmla="*/ 185 h 392"/>
                <a:gd name="T32" fmla="*/ 31 w 394"/>
                <a:gd name="T33" fmla="*/ 196 h 392"/>
                <a:gd name="T34" fmla="*/ 0 w 394"/>
                <a:gd name="T35" fmla="*/ 206 h 392"/>
                <a:gd name="T36" fmla="*/ 39 w 394"/>
                <a:gd name="T37" fmla="*/ 248 h 392"/>
                <a:gd name="T38" fmla="*/ 15 w 394"/>
                <a:gd name="T39" fmla="*/ 273 h 392"/>
                <a:gd name="T40" fmla="*/ 67 w 394"/>
                <a:gd name="T41" fmla="*/ 299 h 392"/>
                <a:gd name="T42" fmla="*/ 53 w 394"/>
                <a:gd name="T43" fmla="*/ 331 h 392"/>
                <a:gd name="T44" fmla="*/ 110 w 394"/>
                <a:gd name="T45" fmla="*/ 337 h 392"/>
                <a:gd name="T46" fmla="*/ 107 w 394"/>
                <a:gd name="T47" fmla="*/ 372 h 392"/>
                <a:gd name="T48" fmla="*/ 163 w 394"/>
                <a:gd name="T49" fmla="*/ 359 h 392"/>
                <a:gd name="T50" fmla="*/ 173 w 394"/>
                <a:gd name="T51" fmla="*/ 392 h 392"/>
                <a:gd name="T52" fmla="*/ 221 w 394"/>
                <a:gd name="T53" fmla="*/ 360 h 392"/>
                <a:gd name="T54" fmla="*/ 242 w 394"/>
                <a:gd name="T55" fmla="*/ 388 h 392"/>
                <a:gd name="T56" fmla="*/ 276 w 394"/>
                <a:gd name="T57" fmla="*/ 342 h 392"/>
                <a:gd name="T58" fmla="*/ 305 w 394"/>
                <a:gd name="T59" fmla="*/ 361 h 392"/>
                <a:gd name="T60" fmla="*/ 321 w 394"/>
                <a:gd name="T61" fmla="*/ 306 h 392"/>
                <a:gd name="T62" fmla="*/ 355 w 394"/>
                <a:gd name="T63" fmla="*/ 315 h 392"/>
                <a:gd name="T64" fmla="*/ 351 w 394"/>
                <a:gd name="T65" fmla="*/ 257 h 392"/>
                <a:gd name="T66" fmla="*/ 386 w 394"/>
                <a:gd name="T67" fmla="*/ 253 h 392"/>
                <a:gd name="T68" fmla="*/ 363 w 394"/>
                <a:gd name="T69" fmla="*/ 201 h 392"/>
                <a:gd name="T70" fmla="*/ 363 w 394"/>
                <a:gd name="T71" fmla="*/ 191 h 392"/>
                <a:gd name="T72" fmla="*/ 386 w 394"/>
                <a:gd name="T73" fmla="*/ 138 h 392"/>
                <a:gd name="T74" fmla="*/ 221 w 394"/>
                <a:gd name="T75" fmla="*/ 330 h 392"/>
                <a:gd name="T76" fmla="*/ 267 w 394"/>
                <a:gd name="T77" fmla="*/ 220 h 392"/>
                <a:gd name="T78" fmla="*/ 221 w 394"/>
                <a:gd name="T79" fmla="*/ 330 h 392"/>
                <a:gd name="T80" fmla="*/ 234 w 394"/>
                <a:gd name="T81" fmla="*/ 196 h 392"/>
                <a:gd name="T82" fmla="*/ 160 w 394"/>
                <a:gd name="T83" fmla="*/ 196 h 392"/>
                <a:gd name="T84" fmla="*/ 63 w 394"/>
                <a:gd name="T85" fmla="*/ 220 h 392"/>
                <a:gd name="T86" fmla="*/ 173 w 394"/>
                <a:gd name="T87" fmla="*/ 266 h 392"/>
                <a:gd name="T88" fmla="*/ 63 w 394"/>
                <a:gd name="T89" fmla="*/ 220 h 392"/>
                <a:gd name="T90" fmla="*/ 173 w 394"/>
                <a:gd name="T91" fmla="*/ 126 h 392"/>
                <a:gd name="T92" fmla="*/ 63 w 394"/>
                <a:gd name="T93" fmla="*/ 172 h 392"/>
                <a:gd name="T94" fmla="*/ 331 w 394"/>
                <a:gd name="T95" fmla="*/ 172 h 392"/>
                <a:gd name="T96" fmla="*/ 221 w 394"/>
                <a:gd name="T97" fmla="*/ 126 h 392"/>
                <a:gd name="T98" fmla="*/ 331 w 394"/>
                <a:gd name="T99" fmla="*/ 17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94" h="392">
                  <a:moveTo>
                    <a:pt x="355" y="144"/>
                  </a:moveTo>
                  <a:cubicBezTo>
                    <a:pt x="354" y="141"/>
                    <a:pt x="353" y="137"/>
                    <a:pt x="351" y="134"/>
                  </a:cubicBezTo>
                  <a:cubicBezTo>
                    <a:pt x="379" y="118"/>
                    <a:pt x="379" y="118"/>
                    <a:pt x="379" y="118"/>
                  </a:cubicBezTo>
                  <a:cubicBezTo>
                    <a:pt x="355" y="77"/>
                    <a:pt x="355" y="77"/>
                    <a:pt x="355" y="77"/>
                  </a:cubicBezTo>
                  <a:cubicBezTo>
                    <a:pt x="327" y="93"/>
                    <a:pt x="327" y="93"/>
                    <a:pt x="327" y="93"/>
                  </a:cubicBezTo>
                  <a:cubicBezTo>
                    <a:pt x="325" y="90"/>
                    <a:pt x="323" y="88"/>
                    <a:pt x="321" y="85"/>
                  </a:cubicBezTo>
                  <a:cubicBezTo>
                    <a:pt x="341" y="61"/>
                    <a:pt x="341" y="61"/>
                    <a:pt x="341" y="61"/>
                  </a:cubicBezTo>
                  <a:cubicBezTo>
                    <a:pt x="305" y="30"/>
                    <a:pt x="305" y="30"/>
                    <a:pt x="305" y="30"/>
                  </a:cubicBezTo>
                  <a:cubicBezTo>
                    <a:pt x="284" y="54"/>
                    <a:pt x="284" y="54"/>
                    <a:pt x="284" y="54"/>
                  </a:cubicBezTo>
                  <a:cubicBezTo>
                    <a:pt x="282" y="53"/>
                    <a:pt x="279" y="51"/>
                    <a:pt x="276" y="49"/>
                  </a:cubicBezTo>
                  <a:cubicBezTo>
                    <a:pt x="287" y="20"/>
                    <a:pt x="287" y="20"/>
                    <a:pt x="287" y="20"/>
                  </a:cubicBezTo>
                  <a:cubicBezTo>
                    <a:pt x="242" y="3"/>
                    <a:pt x="242" y="3"/>
                    <a:pt x="242" y="3"/>
                  </a:cubicBezTo>
                  <a:cubicBezTo>
                    <a:pt x="231" y="33"/>
                    <a:pt x="231" y="33"/>
                    <a:pt x="231" y="33"/>
                  </a:cubicBezTo>
                  <a:cubicBezTo>
                    <a:pt x="227" y="32"/>
                    <a:pt x="224" y="32"/>
                    <a:pt x="221" y="31"/>
                  </a:cubicBezTo>
                  <a:cubicBezTo>
                    <a:pt x="221" y="0"/>
                    <a:pt x="221" y="0"/>
                    <a:pt x="221" y="0"/>
                  </a:cubicBezTo>
                  <a:cubicBezTo>
                    <a:pt x="173" y="0"/>
                    <a:pt x="173" y="0"/>
                    <a:pt x="173" y="0"/>
                  </a:cubicBezTo>
                  <a:cubicBezTo>
                    <a:pt x="173" y="31"/>
                    <a:pt x="173" y="31"/>
                    <a:pt x="173" y="31"/>
                  </a:cubicBezTo>
                  <a:cubicBezTo>
                    <a:pt x="170" y="32"/>
                    <a:pt x="166" y="32"/>
                    <a:pt x="163" y="33"/>
                  </a:cubicBezTo>
                  <a:cubicBezTo>
                    <a:pt x="152" y="3"/>
                    <a:pt x="152" y="3"/>
                    <a:pt x="152" y="3"/>
                  </a:cubicBezTo>
                  <a:cubicBezTo>
                    <a:pt x="107" y="20"/>
                    <a:pt x="107" y="20"/>
                    <a:pt x="107" y="20"/>
                  </a:cubicBezTo>
                  <a:cubicBezTo>
                    <a:pt x="118" y="49"/>
                    <a:pt x="118" y="49"/>
                    <a:pt x="118" y="49"/>
                  </a:cubicBezTo>
                  <a:cubicBezTo>
                    <a:pt x="115" y="51"/>
                    <a:pt x="112" y="53"/>
                    <a:pt x="110" y="54"/>
                  </a:cubicBezTo>
                  <a:cubicBezTo>
                    <a:pt x="89" y="30"/>
                    <a:pt x="89" y="30"/>
                    <a:pt x="89" y="30"/>
                  </a:cubicBezTo>
                  <a:cubicBezTo>
                    <a:pt x="53" y="61"/>
                    <a:pt x="53" y="61"/>
                    <a:pt x="53" y="61"/>
                  </a:cubicBezTo>
                  <a:cubicBezTo>
                    <a:pt x="73" y="85"/>
                    <a:pt x="73" y="85"/>
                    <a:pt x="73" y="85"/>
                  </a:cubicBezTo>
                  <a:cubicBezTo>
                    <a:pt x="71" y="88"/>
                    <a:pt x="69" y="90"/>
                    <a:pt x="67" y="93"/>
                  </a:cubicBezTo>
                  <a:cubicBezTo>
                    <a:pt x="39" y="77"/>
                    <a:pt x="39" y="77"/>
                    <a:pt x="39" y="77"/>
                  </a:cubicBezTo>
                  <a:cubicBezTo>
                    <a:pt x="15" y="118"/>
                    <a:pt x="15" y="118"/>
                    <a:pt x="15" y="118"/>
                  </a:cubicBezTo>
                  <a:cubicBezTo>
                    <a:pt x="43" y="134"/>
                    <a:pt x="43" y="134"/>
                    <a:pt x="43" y="134"/>
                  </a:cubicBezTo>
                  <a:cubicBezTo>
                    <a:pt x="41" y="137"/>
                    <a:pt x="40" y="141"/>
                    <a:pt x="39" y="144"/>
                  </a:cubicBezTo>
                  <a:cubicBezTo>
                    <a:pt x="8" y="138"/>
                    <a:pt x="8" y="138"/>
                    <a:pt x="8" y="138"/>
                  </a:cubicBezTo>
                  <a:cubicBezTo>
                    <a:pt x="0" y="185"/>
                    <a:pt x="0" y="185"/>
                    <a:pt x="0" y="185"/>
                  </a:cubicBezTo>
                  <a:cubicBezTo>
                    <a:pt x="31" y="191"/>
                    <a:pt x="31" y="191"/>
                    <a:pt x="31" y="191"/>
                  </a:cubicBezTo>
                  <a:cubicBezTo>
                    <a:pt x="31" y="193"/>
                    <a:pt x="31" y="194"/>
                    <a:pt x="31" y="196"/>
                  </a:cubicBezTo>
                  <a:cubicBezTo>
                    <a:pt x="31" y="197"/>
                    <a:pt x="31" y="199"/>
                    <a:pt x="31" y="201"/>
                  </a:cubicBezTo>
                  <a:cubicBezTo>
                    <a:pt x="0" y="206"/>
                    <a:pt x="0" y="206"/>
                    <a:pt x="0" y="206"/>
                  </a:cubicBezTo>
                  <a:cubicBezTo>
                    <a:pt x="8" y="253"/>
                    <a:pt x="8" y="253"/>
                    <a:pt x="8" y="253"/>
                  </a:cubicBezTo>
                  <a:cubicBezTo>
                    <a:pt x="39" y="248"/>
                    <a:pt x="39" y="248"/>
                    <a:pt x="39" y="248"/>
                  </a:cubicBezTo>
                  <a:cubicBezTo>
                    <a:pt x="40" y="251"/>
                    <a:pt x="41" y="254"/>
                    <a:pt x="43" y="257"/>
                  </a:cubicBezTo>
                  <a:cubicBezTo>
                    <a:pt x="15" y="273"/>
                    <a:pt x="15" y="273"/>
                    <a:pt x="15" y="273"/>
                  </a:cubicBezTo>
                  <a:cubicBezTo>
                    <a:pt x="39" y="315"/>
                    <a:pt x="39" y="315"/>
                    <a:pt x="39" y="315"/>
                  </a:cubicBezTo>
                  <a:cubicBezTo>
                    <a:pt x="67" y="299"/>
                    <a:pt x="67" y="299"/>
                    <a:pt x="67" y="299"/>
                  </a:cubicBezTo>
                  <a:cubicBezTo>
                    <a:pt x="69" y="301"/>
                    <a:pt x="71" y="304"/>
                    <a:pt x="73" y="306"/>
                  </a:cubicBezTo>
                  <a:cubicBezTo>
                    <a:pt x="53" y="331"/>
                    <a:pt x="53" y="331"/>
                    <a:pt x="53" y="331"/>
                  </a:cubicBezTo>
                  <a:cubicBezTo>
                    <a:pt x="89" y="361"/>
                    <a:pt x="89" y="361"/>
                    <a:pt x="89" y="361"/>
                  </a:cubicBezTo>
                  <a:cubicBezTo>
                    <a:pt x="110" y="337"/>
                    <a:pt x="110" y="337"/>
                    <a:pt x="110" y="337"/>
                  </a:cubicBezTo>
                  <a:cubicBezTo>
                    <a:pt x="112" y="339"/>
                    <a:pt x="115" y="341"/>
                    <a:pt x="118" y="342"/>
                  </a:cubicBezTo>
                  <a:cubicBezTo>
                    <a:pt x="107" y="372"/>
                    <a:pt x="107" y="372"/>
                    <a:pt x="107" y="372"/>
                  </a:cubicBezTo>
                  <a:cubicBezTo>
                    <a:pt x="152" y="388"/>
                    <a:pt x="152" y="388"/>
                    <a:pt x="152" y="388"/>
                  </a:cubicBezTo>
                  <a:cubicBezTo>
                    <a:pt x="163" y="359"/>
                    <a:pt x="163" y="359"/>
                    <a:pt x="163" y="359"/>
                  </a:cubicBezTo>
                  <a:cubicBezTo>
                    <a:pt x="166" y="359"/>
                    <a:pt x="170" y="360"/>
                    <a:pt x="173" y="360"/>
                  </a:cubicBezTo>
                  <a:cubicBezTo>
                    <a:pt x="173" y="392"/>
                    <a:pt x="173" y="392"/>
                    <a:pt x="173" y="392"/>
                  </a:cubicBezTo>
                  <a:cubicBezTo>
                    <a:pt x="221" y="392"/>
                    <a:pt x="221" y="392"/>
                    <a:pt x="221" y="392"/>
                  </a:cubicBezTo>
                  <a:cubicBezTo>
                    <a:pt x="221" y="360"/>
                    <a:pt x="221" y="360"/>
                    <a:pt x="221" y="360"/>
                  </a:cubicBezTo>
                  <a:cubicBezTo>
                    <a:pt x="224" y="360"/>
                    <a:pt x="227" y="359"/>
                    <a:pt x="231" y="359"/>
                  </a:cubicBezTo>
                  <a:cubicBezTo>
                    <a:pt x="242" y="388"/>
                    <a:pt x="242" y="388"/>
                    <a:pt x="242" y="388"/>
                  </a:cubicBezTo>
                  <a:cubicBezTo>
                    <a:pt x="287" y="372"/>
                    <a:pt x="287" y="372"/>
                    <a:pt x="287" y="372"/>
                  </a:cubicBezTo>
                  <a:cubicBezTo>
                    <a:pt x="276" y="342"/>
                    <a:pt x="276" y="342"/>
                    <a:pt x="276" y="342"/>
                  </a:cubicBezTo>
                  <a:cubicBezTo>
                    <a:pt x="279" y="341"/>
                    <a:pt x="282" y="339"/>
                    <a:pt x="284" y="337"/>
                  </a:cubicBezTo>
                  <a:cubicBezTo>
                    <a:pt x="305" y="361"/>
                    <a:pt x="305" y="361"/>
                    <a:pt x="305" y="361"/>
                  </a:cubicBezTo>
                  <a:cubicBezTo>
                    <a:pt x="341" y="331"/>
                    <a:pt x="341" y="331"/>
                    <a:pt x="341" y="331"/>
                  </a:cubicBezTo>
                  <a:cubicBezTo>
                    <a:pt x="321" y="306"/>
                    <a:pt x="321" y="306"/>
                    <a:pt x="321" y="306"/>
                  </a:cubicBezTo>
                  <a:cubicBezTo>
                    <a:pt x="323" y="304"/>
                    <a:pt x="325" y="301"/>
                    <a:pt x="327" y="299"/>
                  </a:cubicBezTo>
                  <a:cubicBezTo>
                    <a:pt x="355" y="315"/>
                    <a:pt x="355" y="315"/>
                    <a:pt x="355" y="315"/>
                  </a:cubicBezTo>
                  <a:cubicBezTo>
                    <a:pt x="379" y="273"/>
                    <a:pt x="379" y="273"/>
                    <a:pt x="379" y="273"/>
                  </a:cubicBezTo>
                  <a:cubicBezTo>
                    <a:pt x="351" y="257"/>
                    <a:pt x="351" y="257"/>
                    <a:pt x="351" y="257"/>
                  </a:cubicBezTo>
                  <a:cubicBezTo>
                    <a:pt x="353" y="254"/>
                    <a:pt x="354" y="251"/>
                    <a:pt x="355" y="248"/>
                  </a:cubicBezTo>
                  <a:cubicBezTo>
                    <a:pt x="386" y="253"/>
                    <a:pt x="386" y="253"/>
                    <a:pt x="386" y="253"/>
                  </a:cubicBezTo>
                  <a:cubicBezTo>
                    <a:pt x="394" y="206"/>
                    <a:pt x="394" y="206"/>
                    <a:pt x="394" y="206"/>
                  </a:cubicBezTo>
                  <a:cubicBezTo>
                    <a:pt x="363" y="201"/>
                    <a:pt x="363" y="201"/>
                    <a:pt x="363" y="201"/>
                  </a:cubicBezTo>
                  <a:cubicBezTo>
                    <a:pt x="363" y="199"/>
                    <a:pt x="363" y="197"/>
                    <a:pt x="363" y="196"/>
                  </a:cubicBezTo>
                  <a:cubicBezTo>
                    <a:pt x="363" y="194"/>
                    <a:pt x="363" y="193"/>
                    <a:pt x="363" y="191"/>
                  </a:cubicBezTo>
                  <a:cubicBezTo>
                    <a:pt x="394" y="185"/>
                    <a:pt x="394" y="185"/>
                    <a:pt x="394" y="185"/>
                  </a:cubicBezTo>
                  <a:cubicBezTo>
                    <a:pt x="386" y="138"/>
                    <a:pt x="386" y="138"/>
                    <a:pt x="386" y="138"/>
                  </a:cubicBezTo>
                  <a:lnTo>
                    <a:pt x="355" y="144"/>
                  </a:lnTo>
                  <a:close/>
                  <a:moveTo>
                    <a:pt x="221" y="330"/>
                  </a:moveTo>
                  <a:cubicBezTo>
                    <a:pt x="221" y="266"/>
                    <a:pt x="221" y="266"/>
                    <a:pt x="221" y="266"/>
                  </a:cubicBezTo>
                  <a:cubicBezTo>
                    <a:pt x="243" y="259"/>
                    <a:pt x="260" y="241"/>
                    <a:pt x="267" y="220"/>
                  </a:cubicBezTo>
                  <a:cubicBezTo>
                    <a:pt x="331" y="220"/>
                    <a:pt x="331" y="220"/>
                    <a:pt x="331" y="220"/>
                  </a:cubicBezTo>
                  <a:cubicBezTo>
                    <a:pt x="321" y="276"/>
                    <a:pt x="277" y="320"/>
                    <a:pt x="221" y="330"/>
                  </a:cubicBezTo>
                  <a:close/>
                  <a:moveTo>
                    <a:pt x="197" y="158"/>
                  </a:moveTo>
                  <a:cubicBezTo>
                    <a:pt x="218" y="158"/>
                    <a:pt x="234" y="175"/>
                    <a:pt x="234" y="196"/>
                  </a:cubicBezTo>
                  <a:cubicBezTo>
                    <a:pt x="234" y="216"/>
                    <a:pt x="218" y="233"/>
                    <a:pt x="197" y="233"/>
                  </a:cubicBezTo>
                  <a:cubicBezTo>
                    <a:pt x="176" y="233"/>
                    <a:pt x="160" y="216"/>
                    <a:pt x="160" y="196"/>
                  </a:cubicBezTo>
                  <a:cubicBezTo>
                    <a:pt x="160" y="175"/>
                    <a:pt x="176" y="158"/>
                    <a:pt x="197" y="158"/>
                  </a:cubicBezTo>
                  <a:close/>
                  <a:moveTo>
                    <a:pt x="63" y="220"/>
                  </a:moveTo>
                  <a:cubicBezTo>
                    <a:pt x="127" y="220"/>
                    <a:pt x="127" y="220"/>
                    <a:pt x="127" y="220"/>
                  </a:cubicBezTo>
                  <a:cubicBezTo>
                    <a:pt x="134" y="241"/>
                    <a:pt x="151" y="259"/>
                    <a:pt x="173" y="266"/>
                  </a:cubicBezTo>
                  <a:cubicBezTo>
                    <a:pt x="173" y="330"/>
                    <a:pt x="173" y="330"/>
                    <a:pt x="173" y="330"/>
                  </a:cubicBezTo>
                  <a:cubicBezTo>
                    <a:pt x="117" y="320"/>
                    <a:pt x="73" y="276"/>
                    <a:pt x="63" y="220"/>
                  </a:cubicBezTo>
                  <a:close/>
                  <a:moveTo>
                    <a:pt x="173" y="62"/>
                  </a:moveTo>
                  <a:cubicBezTo>
                    <a:pt x="173" y="126"/>
                    <a:pt x="173" y="126"/>
                    <a:pt x="173" y="126"/>
                  </a:cubicBezTo>
                  <a:cubicBezTo>
                    <a:pt x="151" y="133"/>
                    <a:pt x="134" y="150"/>
                    <a:pt x="127" y="172"/>
                  </a:cubicBezTo>
                  <a:cubicBezTo>
                    <a:pt x="63" y="172"/>
                    <a:pt x="63" y="172"/>
                    <a:pt x="63" y="172"/>
                  </a:cubicBezTo>
                  <a:cubicBezTo>
                    <a:pt x="73" y="116"/>
                    <a:pt x="117" y="72"/>
                    <a:pt x="173" y="62"/>
                  </a:cubicBezTo>
                  <a:close/>
                  <a:moveTo>
                    <a:pt x="331" y="172"/>
                  </a:moveTo>
                  <a:cubicBezTo>
                    <a:pt x="267" y="172"/>
                    <a:pt x="267" y="172"/>
                    <a:pt x="267" y="172"/>
                  </a:cubicBezTo>
                  <a:cubicBezTo>
                    <a:pt x="260" y="150"/>
                    <a:pt x="243" y="133"/>
                    <a:pt x="221" y="126"/>
                  </a:cubicBezTo>
                  <a:cubicBezTo>
                    <a:pt x="221" y="62"/>
                    <a:pt x="221" y="62"/>
                    <a:pt x="221" y="62"/>
                  </a:cubicBezTo>
                  <a:cubicBezTo>
                    <a:pt x="277" y="72"/>
                    <a:pt x="321" y="116"/>
                    <a:pt x="331" y="172"/>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nvGrpSpPr>
            <p:cNvPr id="8" name="Group 20">
              <a:extLst>
                <a:ext uri="{FF2B5EF4-FFF2-40B4-BE49-F238E27FC236}">
                  <a16:creationId xmlns:a16="http://schemas.microsoft.com/office/drawing/2014/main" id="{7748CC95-AB30-27D1-8851-87D4508FC364}"/>
                </a:ext>
              </a:extLst>
            </p:cNvPr>
            <p:cNvGrpSpPr/>
            <p:nvPr/>
          </p:nvGrpSpPr>
          <p:grpSpPr>
            <a:xfrm>
              <a:off x="3932788" y="3383750"/>
              <a:ext cx="877410" cy="871216"/>
              <a:chOff x="5686767" y="3296748"/>
              <a:chExt cx="877410" cy="871216"/>
            </a:xfrm>
            <a:solidFill>
              <a:schemeClr val="accent4"/>
            </a:solidFill>
          </p:grpSpPr>
          <p:sp>
            <p:nvSpPr>
              <p:cNvPr id="9" name="Freeform 19">
                <a:extLst>
                  <a:ext uri="{FF2B5EF4-FFF2-40B4-BE49-F238E27FC236}">
                    <a16:creationId xmlns:a16="http://schemas.microsoft.com/office/drawing/2014/main" id="{2E4DC941-D300-19DA-692A-6D11E138F631}"/>
                  </a:ext>
                </a:extLst>
              </p:cNvPr>
              <p:cNvSpPr>
                <a:spLocks noEditPoints="1"/>
              </p:cNvSpPr>
              <p:nvPr/>
            </p:nvSpPr>
            <p:spPr bwMode="auto">
              <a:xfrm>
                <a:off x="5686767" y="3296748"/>
                <a:ext cx="877410" cy="871216"/>
              </a:xfrm>
              <a:custGeom>
                <a:avLst/>
                <a:gdLst>
                  <a:gd name="T0" fmla="*/ 480 w 539"/>
                  <a:gd name="T1" fmla="*/ 183 h 535"/>
                  <a:gd name="T2" fmla="*/ 485 w 539"/>
                  <a:gd name="T3" fmla="*/ 105 h 535"/>
                  <a:gd name="T4" fmla="*/ 439 w 539"/>
                  <a:gd name="T5" fmla="*/ 116 h 535"/>
                  <a:gd name="T6" fmla="*/ 417 w 539"/>
                  <a:gd name="T7" fmla="*/ 41 h 535"/>
                  <a:gd name="T8" fmla="*/ 377 w 539"/>
                  <a:gd name="T9" fmla="*/ 67 h 535"/>
                  <a:gd name="T10" fmla="*/ 331 w 539"/>
                  <a:gd name="T11" fmla="*/ 5 h 535"/>
                  <a:gd name="T12" fmla="*/ 302 w 539"/>
                  <a:gd name="T13" fmla="*/ 43 h 535"/>
                  <a:gd name="T14" fmla="*/ 237 w 539"/>
                  <a:gd name="T15" fmla="*/ 0 h 535"/>
                  <a:gd name="T16" fmla="*/ 224 w 539"/>
                  <a:gd name="T17" fmla="*/ 45 h 535"/>
                  <a:gd name="T18" fmla="*/ 147 w 539"/>
                  <a:gd name="T19" fmla="*/ 27 h 535"/>
                  <a:gd name="T20" fmla="*/ 150 w 539"/>
                  <a:gd name="T21" fmla="*/ 74 h 535"/>
                  <a:gd name="T22" fmla="*/ 72 w 539"/>
                  <a:gd name="T23" fmla="*/ 83 h 535"/>
                  <a:gd name="T24" fmla="*/ 92 w 539"/>
                  <a:gd name="T25" fmla="*/ 127 h 535"/>
                  <a:gd name="T26" fmla="*/ 21 w 539"/>
                  <a:gd name="T27" fmla="*/ 162 h 535"/>
                  <a:gd name="T28" fmla="*/ 54 w 539"/>
                  <a:gd name="T29" fmla="*/ 196 h 535"/>
                  <a:gd name="T30" fmla="*/ 0 w 539"/>
                  <a:gd name="T31" fmla="*/ 253 h 535"/>
                  <a:gd name="T32" fmla="*/ 43 w 539"/>
                  <a:gd name="T33" fmla="*/ 267 h 535"/>
                  <a:gd name="T34" fmla="*/ 0 w 539"/>
                  <a:gd name="T35" fmla="*/ 282 h 535"/>
                  <a:gd name="T36" fmla="*/ 54 w 539"/>
                  <a:gd name="T37" fmla="*/ 338 h 535"/>
                  <a:gd name="T38" fmla="*/ 21 w 539"/>
                  <a:gd name="T39" fmla="*/ 373 h 535"/>
                  <a:gd name="T40" fmla="*/ 92 w 539"/>
                  <a:gd name="T41" fmla="*/ 408 h 535"/>
                  <a:gd name="T42" fmla="*/ 72 w 539"/>
                  <a:gd name="T43" fmla="*/ 451 h 535"/>
                  <a:gd name="T44" fmla="*/ 150 w 539"/>
                  <a:gd name="T45" fmla="*/ 460 h 535"/>
                  <a:gd name="T46" fmla="*/ 147 w 539"/>
                  <a:gd name="T47" fmla="*/ 508 h 535"/>
                  <a:gd name="T48" fmla="*/ 224 w 539"/>
                  <a:gd name="T49" fmla="*/ 489 h 535"/>
                  <a:gd name="T50" fmla="*/ 237 w 539"/>
                  <a:gd name="T51" fmla="*/ 535 h 535"/>
                  <a:gd name="T52" fmla="*/ 302 w 539"/>
                  <a:gd name="T53" fmla="*/ 492 h 535"/>
                  <a:gd name="T54" fmla="*/ 331 w 539"/>
                  <a:gd name="T55" fmla="*/ 530 h 535"/>
                  <a:gd name="T56" fmla="*/ 377 w 539"/>
                  <a:gd name="T57" fmla="*/ 467 h 535"/>
                  <a:gd name="T58" fmla="*/ 417 w 539"/>
                  <a:gd name="T59" fmla="*/ 493 h 535"/>
                  <a:gd name="T60" fmla="*/ 439 w 539"/>
                  <a:gd name="T61" fmla="*/ 418 h 535"/>
                  <a:gd name="T62" fmla="*/ 485 w 539"/>
                  <a:gd name="T63" fmla="*/ 430 h 535"/>
                  <a:gd name="T64" fmla="*/ 480 w 539"/>
                  <a:gd name="T65" fmla="*/ 351 h 535"/>
                  <a:gd name="T66" fmla="*/ 528 w 539"/>
                  <a:gd name="T67" fmla="*/ 346 h 535"/>
                  <a:gd name="T68" fmla="*/ 496 w 539"/>
                  <a:gd name="T69" fmla="*/ 274 h 535"/>
                  <a:gd name="T70" fmla="*/ 496 w 539"/>
                  <a:gd name="T71" fmla="*/ 261 h 535"/>
                  <a:gd name="T72" fmla="*/ 528 w 539"/>
                  <a:gd name="T73" fmla="*/ 189 h 535"/>
                  <a:gd name="T74" fmla="*/ 454 w 539"/>
                  <a:gd name="T75" fmla="*/ 267 h 535"/>
                  <a:gd name="T76" fmla="*/ 85 w 539"/>
                  <a:gd name="T77" fmla="*/ 267 h 535"/>
                  <a:gd name="T78" fmla="*/ 454 w 539"/>
                  <a:gd name="T79" fmla="*/ 26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39" h="535">
                    <a:moveTo>
                      <a:pt x="485" y="196"/>
                    </a:moveTo>
                    <a:cubicBezTo>
                      <a:pt x="484" y="192"/>
                      <a:pt x="482" y="188"/>
                      <a:pt x="480" y="183"/>
                    </a:cubicBezTo>
                    <a:cubicBezTo>
                      <a:pt x="518" y="162"/>
                      <a:pt x="518" y="162"/>
                      <a:pt x="518" y="162"/>
                    </a:cubicBezTo>
                    <a:cubicBezTo>
                      <a:pt x="485" y="105"/>
                      <a:pt x="485" y="105"/>
                      <a:pt x="485" y="105"/>
                    </a:cubicBezTo>
                    <a:cubicBezTo>
                      <a:pt x="448" y="127"/>
                      <a:pt x="448" y="127"/>
                      <a:pt x="448" y="127"/>
                    </a:cubicBezTo>
                    <a:cubicBezTo>
                      <a:pt x="445" y="123"/>
                      <a:pt x="442" y="120"/>
                      <a:pt x="439" y="116"/>
                    </a:cubicBezTo>
                    <a:cubicBezTo>
                      <a:pt x="467" y="83"/>
                      <a:pt x="467" y="83"/>
                      <a:pt x="467" y="83"/>
                    </a:cubicBezTo>
                    <a:cubicBezTo>
                      <a:pt x="417" y="41"/>
                      <a:pt x="417" y="41"/>
                      <a:pt x="417" y="41"/>
                    </a:cubicBezTo>
                    <a:cubicBezTo>
                      <a:pt x="389" y="74"/>
                      <a:pt x="389" y="74"/>
                      <a:pt x="389" y="74"/>
                    </a:cubicBezTo>
                    <a:cubicBezTo>
                      <a:pt x="385" y="72"/>
                      <a:pt x="381" y="70"/>
                      <a:pt x="377" y="67"/>
                    </a:cubicBezTo>
                    <a:cubicBezTo>
                      <a:pt x="392" y="27"/>
                      <a:pt x="392" y="27"/>
                      <a:pt x="392" y="27"/>
                    </a:cubicBezTo>
                    <a:cubicBezTo>
                      <a:pt x="331" y="5"/>
                      <a:pt x="331" y="5"/>
                      <a:pt x="331" y="5"/>
                    </a:cubicBezTo>
                    <a:cubicBezTo>
                      <a:pt x="316" y="45"/>
                      <a:pt x="316" y="45"/>
                      <a:pt x="316" y="45"/>
                    </a:cubicBezTo>
                    <a:cubicBezTo>
                      <a:pt x="311" y="44"/>
                      <a:pt x="307" y="43"/>
                      <a:pt x="302" y="43"/>
                    </a:cubicBezTo>
                    <a:cubicBezTo>
                      <a:pt x="302" y="0"/>
                      <a:pt x="302" y="0"/>
                      <a:pt x="302" y="0"/>
                    </a:cubicBezTo>
                    <a:cubicBezTo>
                      <a:pt x="237" y="0"/>
                      <a:pt x="237" y="0"/>
                      <a:pt x="237" y="0"/>
                    </a:cubicBezTo>
                    <a:cubicBezTo>
                      <a:pt x="237" y="43"/>
                      <a:pt x="237" y="43"/>
                      <a:pt x="237" y="43"/>
                    </a:cubicBezTo>
                    <a:cubicBezTo>
                      <a:pt x="232" y="43"/>
                      <a:pt x="228" y="44"/>
                      <a:pt x="224" y="45"/>
                    </a:cubicBezTo>
                    <a:cubicBezTo>
                      <a:pt x="209" y="4"/>
                      <a:pt x="209" y="4"/>
                      <a:pt x="209" y="4"/>
                    </a:cubicBezTo>
                    <a:cubicBezTo>
                      <a:pt x="147" y="27"/>
                      <a:pt x="147" y="27"/>
                      <a:pt x="147" y="27"/>
                    </a:cubicBezTo>
                    <a:cubicBezTo>
                      <a:pt x="162" y="67"/>
                      <a:pt x="162" y="67"/>
                      <a:pt x="162" y="67"/>
                    </a:cubicBezTo>
                    <a:cubicBezTo>
                      <a:pt x="158" y="70"/>
                      <a:pt x="154" y="72"/>
                      <a:pt x="150" y="74"/>
                    </a:cubicBezTo>
                    <a:cubicBezTo>
                      <a:pt x="123" y="41"/>
                      <a:pt x="123" y="41"/>
                      <a:pt x="123" y="41"/>
                    </a:cubicBezTo>
                    <a:cubicBezTo>
                      <a:pt x="72" y="83"/>
                      <a:pt x="72" y="83"/>
                      <a:pt x="72" y="83"/>
                    </a:cubicBezTo>
                    <a:cubicBezTo>
                      <a:pt x="100" y="116"/>
                      <a:pt x="100" y="116"/>
                      <a:pt x="100" y="116"/>
                    </a:cubicBezTo>
                    <a:cubicBezTo>
                      <a:pt x="97" y="120"/>
                      <a:pt x="94" y="123"/>
                      <a:pt x="92" y="127"/>
                    </a:cubicBezTo>
                    <a:cubicBezTo>
                      <a:pt x="54" y="105"/>
                      <a:pt x="54" y="105"/>
                      <a:pt x="54" y="105"/>
                    </a:cubicBezTo>
                    <a:cubicBezTo>
                      <a:pt x="21" y="162"/>
                      <a:pt x="21" y="162"/>
                      <a:pt x="21" y="162"/>
                    </a:cubicBezTo>
                    <a:cubicBezTo>
                      <a:pt x="59" y="183"/>
                      <a:pt x="59" y="183"/>
                      <a:pt x="59" y="183"/>
                    </a:cubicBezTo>
                    <a:cubicBezTo>
                      <a:pt x="57" y="188"/>
                      <a:pt x="56" y="192"/>
                      <a:pt x="54" y="196"/>
                    </a:cubicBezTo>
                    <a:cubicBezTo>
                      <a:pt x="12" y="189"/>
                      <a:pt x="12" y="189"/>
                      <a:pt x="12" y="189"/>
                    </a:cubicBezTo>
                    <a:cubicBezTo>
                      <a:pt x="0" y="253"/>
                      <a:pt x="0" y="253"/>
                      <a:pt x="0" y="253"/>
                    </a:cubicBezTo>
                    <a:cubicBezTo>
                      <a:pt x="43" y="261"/>
                      <a:pt x="43" y="261"/>
                      <a:pt x="43" y="261"/>
                    </a:cubicBezTo>
                    <a:cubicBezTo>
                      <a:pt x="43" y="263"/>
                      <a:pt x="43" y="265"/>
                      <a:pt x="43" y="267"/>
                    </a:cubicBezTo>
                    <a:cubicBezTo>
                      <a:pt x="43" y="270"/>
                      <a:pt x="43" y="272"/>
                      <a:pt x="43" y="274"/>
                    </a:cubicBezTo>
                    <a:cubicBezTo>
                      <a:pt x="0" y="282"/>
                      <a:pt x="0" y="282"/>
                      <a:pt x="0" y="282"/>
                    </a:cubicBezTo>
                    <a:cubicBezTo>
                      <a:pt x="12" y="346"/>
                      <a:pt x="12" y="346"/>
                      <a:pt x="12" y="346"/>
                    </a:cubicBezTo>
                    <a:cubicBezTo>
                      <a:pt x="54" y="338"/>
                      <a:pt x="54" y="338"/>
                      <a:pt x="54" y="338"/>
                    </a:cubicBezTo>
                    <a:cubicBezTo>
                      <a:pt x="56" y="343"/>
                      <a:pt x="57" y="347"/>
                      <a:pt x="59" y="351"/>
                    </a:cubicBezTo>
                    <a:cubicBezTo>
                      <a:pt x="21" y="373"/>
                      <a:pt x="21" y="373"/>
                      <a:pt x="21" y="373"/>
                    </a:cubicBezTo>
                    <a:cubicBezTo>
                      <a:pt x="54" y="430"/>
                      <a:pt x="54" y="430"/>
                      <a:pt x="54" y="430"/>
                    </a:cubicBezTo>
                    <a:cubicBezTo>
                      <a:pt x="92" y="408"/>
                      <a:pt x="92" y="408"/>
                      <a:pt x="92" y="408"/>
                    </a:cubicBezTo>
                    <a:cubicBezTo>
                      <a:pt x="94" y="411"/>
                      <a:pt x="97" y="415"/>
                      <a:pt x="100" y="418"/>
                    </a:cubicBezTo>
                    <a:cubicBezTo>
                      <a:pt x="72" y="451"/>
                      <a:pt x="72" y="451"/>
                      <a:pt x="72" y="451"/>
                    </a:cubicBezTo>
                    <a:cubicBezTo>
                      <a:pt x="123" y="493"/>
                      <a:pt x="123" y="493"/>
                      <a:pt x="123" y="493"/>
                    </a:cubicBezTo>
                    <a:cubicBezTo>
                      <a:pt x="150" y="460"/>
                      <a:pt x="150" y="460"/>
                      <a:pt x="150" y="460"/>
                    </a:cubicBezTo>
                    <a:cubicBezTo>
                      <a:pt x="154" y="463"/>
                      <a:pt x="158" y="465"/>
                      <a:pt x="162" y="467"/>
                    </a:cubicBezTo>
                    <a:cubicBezTo>
                      <a:pt x="147" y="508"/>
                      <a:pt x="147" y="508"/>
                      <a:pt x="147" y="508"/>
                    </a:cubicBezTo>
                    <a:cubicBezTo>
                      <a:pt x="209" y="530"/>
                      <a:pt x="209" y="530"/>
                      <a:pt x="209" y="530"/>
                    </a:cubicBezTo>
                    <a:cubicBezTo>
                      <a:pt x="224" y="489"/>
                      <a:pt x="224" y="489"/>
                      <a:pt x="224" y="489"/>
                    </a:cubicBezTo>
                    <a:cubicBezTo>
                      <a:pt x="228" y="490"/>
                      <a:pt x="232" y="491"/>
                      <a:pt x="237" y="492"/>
                    </a:cubicBezTo>
                    <a:cubicBezTo>
                      <a:pt x="237" y="535"/>
                      <a:pt x="237" y="535"/>
                      <a:pt x="237" y="535"/>
                    </a:cubicBezTo>
                    <a:cubicBezTo>
                      <a:pt x="302" y="535"/>
                      <a:pt x="302" y="535"/>
                      <a:pt x="302" y="535"/>
                    </a:cubicBezTo>
                    <a:cubicBezTo>
                      <a:pt x="302" y="492"/>
                      <a:pt x="302" y="492"/>
                      <a:pt x="302" y="492"/>
                    </a:cubicBezTo>
                    <a:cubicBezTo>
                      <a:pt x="307" y="491"/>
                      <a:pt x="311" y="490"/>
                      <a:pt x="316" y="489"/>
                    </a:cubicBezTo>
                    <a:cubicBezTo>
                      <a:pt x="331" y="530"/>
                      <a:pt x="331" y="530"/>
                      <a:pt x="331" y="530"/>
                    </a:cubicBezTo>
                    <a:cubicBezTo>
                      <a:pt x="392" y="508"/>
                      <a:pt x="392" y="508"/>
                      <a:pt x="392" y="508"/>
                    </a:cubicBezTo>
                    <a:cubicBezTo>
                      <a:pt x="377" y="467"/>
                      <a:pt x="377" y="467"/>
                      <a:pt x="377" y="467"/>
                    </a:cubicBezTo>
                    <a:cubicBezTo>
                      <a:pt x="381" y="465"/>
                      <a:pt x="385" y="463"/>
                      <a:pt x="389" y="460"/>
                    </a:cubicBezTo>
                    <a:cubicBezTo>
                      <a:pt x="417" y="493"/>
                      <a:pt x="417" y="493"/>
                      <a:pt x="417" y="493"/>
                    </a:cubicBezTo>
                    <a:cubicBezTo>
                      <a:pt x="467" y="451"/>
                      <a:pt x="467" y="451"/>
                      <a:pt x="467" y="451"/>
                    </a:cubicBezTo>
                    <a:cubicBezTo>
                      <a:pt x="439" y="418"/>
                      <a:pt x="439" y="418"/>
                      <a:pt x="439" y="418"/>
                    </a:cubicBezTo>
                    <a:cubicBezTo>
                      <a:pt x="442" y="415"/>
                      <a:pt x="445" y="411"/>
                      <a:pt x="448" y="408"/>
                    </a:cubicBezTo>
                    <a:cubicBezTo>
                      <a:pt x="485" y="430"/>
                      <a:pt x="485" y="430"/>
                      <a:pt x="485" y="430"/>
                    </a:cubicBezTo>
                    <a:cubicBezTo>
                      <a:pt x="518" y="373"/>
                      <a:pt x="518" y="373"/>
                      <a:pt x="518" y="373"/>
                    </a:cubicBezTo>
                    <a:cubicBezTo>
                      <a:pt x="480" y="351"/>
                      <a:pt x="480" y="351"/>
                      <a:pt x="480" y="351"/>
                    </a:cubicBezTo>
                    <a:cubicBezTo>
                      <a:pt x="482" y="347"/>
                      <a:pt x="484" y="343"/>
                      <a:pt x="485" y="338"/>
                    </a:cubicBezTo>
                    <a:cubicBezTo>
                      <a:pt x="528" y="346"/>
                      <a:pt x="528" y="346"/>
                      <a:pt x="528" y="346"/>
                    </a:cubicBezTo>
                    <a:cubicBezTo>
                      <a:pt x="539" y="282"/>
                      <a:pt x="539" y="282"/>
                      <a:pt x="539" y="282"/>
                    </a:cubicBezTo>
                    <a:cubicBezTo>
                      <a:pt x="496" y="274"/>
                      <a:pt x="496" y="274"/>
                      <a:pt x="496" y="274"/>
                    </a:cubicBezTo>
                    <a:cubicBezTo>
                      <a:pt x="496" y="272"/>
                      <a:pt x="497" y="270"/>
                      <a:pt x="497" y="267"/>
                    </a:cubicBezTo>
                    <a:cubicBezTo>
                      <a:pt x="497" y="265"/>
                      <a:pt x="496" y="263"/>
                      <a:pt x="496" y="261"/>
                    </a:cubicBezTo>
                    <a:cubicBezTo>
                      <a:pt x="539" y="253"/>
                      <a:pt x="539" y="253"/>
                      <a:pt x="539" y="253"/>
                    </a:cubicBezTo>
                    <a:cubicBezTo>
                      <a:pt x="528" y="189"/>
                      <a:pt x="528" y="189"/>
                      <a:pt x="528" y="189"/>
                    </a:cubicBezTo>
                    <a:lnTo>
                      <a:pt x="485" y="196"/>
                    </a:lnTo>
                    <a:close/>
                    <a:moveTo>
                      <a:pt x="454" y="267"/>
                    </a:moveTo>
                    <a:cubicBezTo>
                      <a:pt x="454" y="369"/>
                      <a:pt x="372" y="452"/>
                      <a:pt x="270" y="452"/>
                    </a:cubicBezTo>
                    <a:cubicBezTo>
                      <a:pt x="168" y="452"/>
                      <a:pt x="85" y="369"/>
                      <a:pt x="85" y="267"/>
                    </a:cubicBezTo>
                    <a:cubicBezTo>
                      <a:pt x="85" y="165"/>
                      <a:pt x="168" y="83"/>
                      <a:pt x="270" y="83"/>
                    </a:cubicBezTo>
                    <a:cubicBezTo>
                      <a:pt x="372" y="83"/>
                      <a:pt x="454" y="165"/>
                      <a:pt x="454" y="267"/>
                    </a:cubicBezTo>
                    <a:close/>
                  </a:path>
                </a:pathLst>
              </a:custGeom>
              <a:solidFill>
                <a:srgbClr val="BBB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0" name="Freeform 20">
                <a:extLst>
                  <a:ext uri="{FF2B5EF4-FFF2-40B4-BE49-F238E27FC236}">
                    <a16:creationId xmlns:a16="http://schemas.microsoft.com/office/drawing/2014/main" id="{86A0CDE0-74F6-58CC-E405-D20763DCA692}"/>
                  </a:ext>
                </a:extLst>
              </p:cNvPr>
              <p:cNvSpPr>
                <a:spLocks noEditPoints="1"/>
              </p:cNvSpPr>
              <p:nvPr/>
            </p:nvSpPr>
            <p:spPr bwMode="auto">
              <a:xfrm>
                <a:off x="5916614" y="3525219"/>
                <a:ext cx="417716" cy="414963"/>
              </a:xfrm>
              <a:custGeom>
                <a:avLst/>
                <a:gdLst>
                  <a:gd name="T0" fmla="*/ 229 w 257"/>
                  <a:gd name="T1" fmla="*/ 87 h 255"/>
                  <a:gd name="T2" fmla="*/ 231 w 257"/>
                  <a:gd name="T3" fmla="*/ 50 h 255"/>
                  <a:gd name="T4" fmla="*/ 209 w 257"/>
                  <a:gd name="T5" fmla="*/ 55 h 255"/>
                  <a:gd name="T6" fmla="*/ 199 w 257"/>
                  <a:gd name="T7" fmla="*/ 19 h 255"/>
                  <a:gd name="T8" fmla="*/ 180 w 257"/>
                  <a:gd name="T9" fmla="*/ 32 h 255"/>
                  <a:gd name="T10" fmla="*/ 158 w 257"/>
                  <a:gd name="T11" fmla="*/ 2 h 255"/>
                  <a:gd name="T12" fmla="*/ 144 w 257"/>
                  <a:gd name="T13" fmla="*/ 20 h 255"/>
                  <a:gd name="T14" fmla="*/ 113 w 257"/>
                  <a:gd name="T15" fmla="*/ 0 h 255"/>
                  <a:gd name="T16" fmla="*/ 107 w 257"/>
                  <a:gd name="T17" fmla="*/ 21 h 255"/>
                  <a:gd name="T18" fmla="*/ 70 w 257"/>
                  <a:gd name="T19" fmla="*/ 13 h 255"/>
                  <a:gd name="T20" fmla="*/ 72 w 257"/>
                  <a:gd name="T21" fmla="*/ 35 h 255"/>
                  <a:gd name="T22" fmla="*/ 35 w 257"/>
                  <a:gd name="T23" fmla="*/ 39 h 255"/>
                  <a:gd name="T24" fmla="*/ 44 w 257"/>
                  <a:gd name="T25" fmla="*/ 60 h 255"/>
                  <a:gd name="T26" fmla="*/ 10 w 257"/>
                  <a:gd name="T27" fmla="*/ 77 h 255"/>
                  <a:gd name="T28" fmla="*/ 26 w 257"/>
                  <a:gd name="T29" fmla="*/ 93 h 255"/>
                  <a:gd name="T30" fmla="*/ 0 w 257"/>
                  <a:gd name="T31" fmla="*/ 120 h 255"/>
                  <a:gd name="T32" fmla="*/ 20 w 257"/>
                  <a:gd name="T33" fmla="*/ 127 h 255"/>
                  <a:gd name="T34" fmla="*/ 0 w 257"/>
                  <a:gd name="T35" fmla="*/ 134 h 255"/>
                  <a:gd name="T36" fmla="*/ 26 w 257"/>
                  <a:gd name="T37" fmla="*/ 161 h 255"/>
                  <a:gd name="T38" fmla="*/ 10 w 257"/>
                  <a:gd name="T39" fmla="*/ 178 h 255"/>
                  <a:gd name="T40" fmla="*/ 44 w 257"/>
                  <a:gd name="T41" fmla="*/ 194 h 255"/>
                  <a:gd name="T42" fmla="*/ 35 w 257"/>
                  <a:gd name="T43" fmla="*/ 215 h 255"/>
                  <a:gd name="T44" fmla="*/ 72 w 257"/>
                  <a:gd name="T45" fmla="*/ 219 h 255"/>
                  <a:gd name="T46" fmla="*/ 70 w 257"/>
                  <a:gd name="T47" fmla="*/ 242 h 255"/>
                  <a:gd name="T48" fmla="*/ 107 w 257"/>
                  <a:gd name="T49" fmla="*/ 233 h 255"/>
                  <a:gd name="T50" fmla="*/ 113 w 257"/>
                  <a:gd name="T51" fmla="*/ 255 h 255"/>
                  <a:gd name="T52" fmla="*/ 144 w 257"/>
                  <a:gd name="T53" fmla="*/ 234 h 255"/>
                  <a:gd name="T54" fmla="*/ 158 w 257"/>
                  <a:gd name="T55" fmla="*/ 253 h 255"/>
                  <a:gd name="T56" fmla="*/ 180 w 257"/>
                  <a:gd name="T57" fmla="*/ 223 h 255"/>
                  <a:gd name="T58" fmla="*/ 199 w 257"/>
                  <a:gd name="T59" fmla="*/ 235 h 255"/>
                  <a:gd name="T60" fmla="*/ 209 w 257"/>
                  <a:gd name="T61" fmla="*/ 199 h 255"/>
                  <a:gd name="T62" fmla="*/ 231 w 257"/>
                  <a:gd name="T63" fmla="*/ 205 h 255"/>
                  <a:gd name="T64" fmla="*/ 229 w 257"/>
                  <a:gd name="T65" fmla="*/ 167 h 255"/>
                  <a:gd name="T66" fmla="*/ 252 w 257"/>
                  <a:gd name="T67" fmla="*/ 165 h 255"/>
                  <a:gd name="T68" fmla="*/ 237 w 257"/>
                  <a:gd name="T69" fmla="*/ 131 h 255"/>
                  <a:gd name="T70" fmla="*/ 237 w 257"/>
                  <a:gd name="T71" fmla="*/ 124 h 255"/>
                  <a:gd name="T72" fmla="*/ 252 w 257"/>
                  <a:gd name="T73" fmla="*/ 90 h 255"/>
                  <a:gd name="T74" fmla="*/ 217 w 257"/>
                  <a:gd name="T75" fmla="*/ 127 h 255"/>
                  <a:gd name="T76" fmla="*/ 41 w 257"/>
                  <a:gd name="T77" fmla="*/ 127 h 255"/>
                  <a:gd name="T78" fmla="*/ 217 w 257"/>
                  <a:gd name="T79"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7" h="255">
                    <a:moveTo>
                      <a:pt x="231" y="93"/>
                    </a:moveTo>
                    <a:cubicBezTo>
                      <a:pt x="231" y="91"/>
                      <a:pt x="230" y="89"/>
                      <a:pt x="229" y="87"/>
                    </a:cubicBezTo>
                    <a:cubicBezTo>
                      <a:pt x="247" y="77"/>
                      <a:pt x="247" y="77"/>
                      <a:pt x="247" y="77"/>
                    </a:cubicBezTo>
                    <a:cubicBezTo>
                      <a:pt x="231" y="50"/>
                      <a:pt x="231" y="50"/>
                      <a:pt x="231" y="50"/>
                    </a:cubicBezTo>
                    <a:cubicBezTo>
                      <a:pt x="214" y="60"/>
                      <a:pt x="214" y="60"/>
                      <a:pt x="214" y="60"/>
                    </a:cubicBezTo>
                    <a:cubicBezTo>
                      <a:pt x="212" y="59"/>
                      <a:pt x="211" y="57"/>
                      <a:pt x="209" y="55"/>
                    </a:cubicBezTo>
                    <a:cubicBezTo>
                      <a:pt x="223" y="39"/>
                      <a:pt x="223" y="39"/>
                      <a:pt x="223" y="39"/>
                    </a:cubicBezTo>
                    <a:cubicBezTo>
                      <a:pt x="199" y="19"/>
                      <a:pt x="199" y="19"/>
                      <a:pt x="199" y="19"/>
                    </a:cubicBezTo>
                    <a:cubicBezTo>
                      <a:pt x="186" y="35"/>
                      <a:pt x="186" y="35"/>
                      <a:pt x="186" y="35"/>
                    </a:cubicBezTo>
                    <a:cubicBezTo>
                      <a:pt x="184" y="34"/>
                      <a:pt x="182" y="33"/>
                      <a:pt x="180" y="32"/>
                    </a:cubicBezTo>
                    <a:cubicBezTo>
                      <a:pt x="187" y="13"/>
                      <a:pt x="187" y="13"/>
                      <a:pt x="187" y="13"/>
                    </a:cubicBezTo>
                    <a:cubicBezTo>
                      <a:pt x="158" y="2"/>
                      <a:pt x="158" y="2"/>
                      <a:pt x="158" y="2"/>
                    </a:cubicBezTo>
                    <a:cubicBezTo>
                      <a:pt x="151" y="21"/>
                      <a:pt x="151" y="21"/>
                      <a:pt x="151" y="21"/>
                    </a:cubicBezTo>
                    <a:cubicBezTo>
                      <a:pt x="149" y="21"/>
                      <a:pt x="146" y="21"/>
                      <a:pt x="144" y="20"/>
                    </a:cubicBezTo>
                    <a:cubicBezTo>
                      <a:pt x="144" y="0"/>
                      <a:pt x="144" y="0"/>
                      <a:pt x="144" y="0"/>
                    </a:cubicBezTo>
                    <a:cubicBezTo>
                      <a:pt x="113" y="0"/>
                      <a:pt x="113" y="0"/>
                      <a:pt x="113" y="0"/>
                    </a:cubicBezTo>
                    <a:cubicBezTo>
                      <a:pt x="113" y="20"/>
                      <a:pt x="113" y="20"/>
                      <a:pt x="113" y="20"/>
                    </a:cubicBezTo>
                    <a:cubicBezTo>
                      <a:pt x="111" y="21"/>
                      <a:pt x="109" y="21"/>
                      <a:pt x="107" y="21"/>
                    </a:cubicBezTo>
                    <a:cubicBezTo>
                      <a:pt x="100" y="2"/>
                      <a:pt x="100" y="2"/>
                      <a:pt x="100" y="2"/>
                    </a:cubicBezTo>
                    <a:cubicBezTo>
                      <a:pt x="70" y="13"/>
                      <a:pt x="70" y="13"/>
                      <a:pt x="70" y="13"/>
                    </a:cubicBezTo>
                    <a:cubicBezTo>
                      <a:pt x="77" y="32"/>
                      <a:pt x="77" y="32"/>
                      <a:pt x="77" y="32"/>
                    </a:cubicBezTo>
                    <a:cubicBezTo>
                      <a:pt x="75" y="33"/>
                      <a:pt x="74" y="34"/>
                      <a:pt x="72" y="35"/>
                    </a:cubicBezTo>
                    <a:cubicBezTo>
                      <a:pt x="58" y="19"/>
                      <a:pt x="58" y="19"/>
                      <a:pt x="58" y="19"/>
                    </a:cubicBezTo>
                    <a:cubicBezTo>
                      <a:pt x="35" y="39"/>
                      <a:pt x="35" y="39"/>
                      <a:pt x="35" y="39"/>
                    </a:cubicBezTo>
                    <a:cubicBezTo>
                      <a:pt x="48" y="55"/>
                      <a:pt x="48" y="55"/>
                      <a:pt x="48" y="55"/>
                    </a:cubicBezTo>
                    <a:cubicBezTo>
                      <a:pt x="46" y="57"/>
                      <a:pt x="45" y="59"/>
                      <a:pt x="44" y="60"/>
                    </a:cubicBezTo>
                    <a:cubicBezTo>
                      <a:pt x="26" y="50"/>
                      <a:pt x="26" y="50"/>
                      <a:pt x="26" y="50"/>
                    </a:cubicBezTo>
                    <a:cubicBezTo>
                      <a:pt x="10" y="77"/>
                      <a:pt x="10" y="77"/>
                      <a:pt x="10" y="77"/>
                    </a:cubicBezTo>
                    <a:cubicBezTo>
                      <a:pt x="28" y="87"/>
                      <a:pt x="28" y="87"/>
                      <a:pt x="28" y="87"/>
                    </a:cubicBezTo>
                    <a:cubicBezTo>
                      <a:pt x="27" y="89"/>
                      <a:pt x="27" y="91"/>
                      <a:pt x="26" y="93"/>
                    </a:cubicBezTo>
                    <a:cubicBezTo>
                      <a:pt x="6" y="90"/>
                      <a:pt x="6" y="90"/>
                      <a:pt x="6" y="90"/>
                    </a:cubicBezTo>
                    <a:cubicBezTo>
                      <a:pt x="0" y="120"/>
                      <a:pt x="0" y="120"/>
                      <a:pt x="0" y="120"/>
                    </a:cubicBezTo>
                    <a:cubicBezTo>
                      <a:pt x="21" y="124"/>
                      <a:pt x="21" y="124"/>
                      <a:pt x="21" y="124"/>
                    </a:cubicBezTo>
                    <a:cubicBezTo>
                      <a:pt x="20" y="125"/>
                      <a:pt x="20" y="126"/>
                      <a:pt x="20" y="127"/>
                    </a:cubicBezTo>
                    <a:cubicBezTo>
                      <a:pt x="20" y="128"/>
                      <a:pt x="20" y="129"/>
                      <a:pt x="21" y="131"/>
                    </a:cubicBezTo>
                    <a:cubicBezTo>
                      <a:pt x="0" y="134"/>
                      <a:pt x="0" y="134"/>
                      <a:pt x="0" y="134"/>
                    </a:cubicBezTo>
                    <a:cubicBezTo>
                      <a:pt x="6" y="165"/>
                      <a:pt x="6" y="165"/>
                      <a:pt x="6" y="165"/>
                    </a:cubicBezTo>
                    <a:cubicBezTo>
                      <a:pt x="26" y="161"/>
                      <a:pt x="26" y="161"/>
                      <a:pt x="26" y="161"/>
                    </a:cubicBezTo>
                    <a:cubicBezTo>
                      <a:pt x="27" y="163"/>
                      <a:pt x="27" y="165"/>
                      <a:pt x="28" y="167"/>
                    </a:cubicBezTo>
                    <a:cubicBezTo>
                      <a:pt x="10" y="178"/>
                      <a:pt x="10" y="178"/>
                      <a:pt x="10" y="178"/>
                    </a:cubicBezTo>
                    <a:cubicBezTo>
                      <a:pt x="26" y="205"/>
                      <a:pt x="26" y="205"/>
                      <a:pt x="26" y="205"/>
                    </a:cubicBezTo>
                    <a:cubicBezTo>
                      <a:pt x="44" y="194"/>
                      <a:pt x="44" y="194"/>
                      <a:pt x="44" y="194"/>
                    </a:cubicBezTo>
                    <a:cubicBezTo>
                      <a:pt x="45" y="196"/>
                      <a:pt x="46" y="198"/>
                      <a:pt x="48" y="199"/>
                    </a:cubicBezTo>
                    <a:cubicBezTo>
                      <a:pt x="35" y="215"/>
                      <a:pt x="35" y="215"/>
                      <a:pt x="35" y="215"/>
                    </a:cubicBezTo>
                    <a:cubicBezTo>
                      <a:pt x="59" y="235"/>
                      <a:pt x="59" y="235"/>
                      <a:pt x="59" y="235"/>
                    </a:cubicBezTo>
                    <a:cubicBezTo>
                      <a:pt x="72" y="219"/>
                      <a:pt x="72" y="219"/>
                      <a:pt x="72" y="219"/>
                    </a:cubicBezTo>
                    <a:cubicBezTo>
                      <a:pt x="74" y="220"/>
                      <a:pt x="75" y="222"/>
                      <a:pt x="77" y="223"/>
                    </a:cubicBezTo>
                    <a:cubicBezTo>
                      <a:pt x="70" y="242"/>
                      <a:pt x="70" y="242"/>
                      <a:pt x="70" y="242"/>
                    </a:cubicBezTo>
                    <a:cubicBezTo>
                      <a:pt x="100" y="253"/>
                      <a:pt x="100" y="253"/>
                      <a:pt x="100" y="253"/>
                    </a:cubicBezTo>
                    <a:cubicBezTo>
                      <a:pt x="107" y="233"/>
                      <a:pt x="107" y="233"/>
                      <a:pt x="107" y="233"/>
                    </a:cubicBezTo>
                    <a:cubicBezTo>
                      <a:pt x="109" y="234"/>
                      <a:pt x="111" y="234"/>
                      <a:pt x="113" y="234"/>
                    </a:cubicBezTo>
                    <a:cubicBezTo>
                      <a:pt x="113" y="255"/>
                      <a:pt x="113" y="255"/>
                      <a:pt x="113" y="255"/>
                    </a:cubicBezTo>
                    <a:cubicBezTo>
                      <a:pt x="144" y="255"/>
                      <a:pt x="144" y="255"/>
                      <a:pt x="144" y="255"/>
                    </a:cubicBezTo>
                    <a:cubicBezTo>
                      <a:pt x="144" y="234"/>
                      <a:pt x="144" y="234"/>
                      <a:pt x="144" y="234"/>
                    </a:cubicBezTo>
                    <a:cubicBezTo>
                      <a:pt x="146" y="234"/>
                      <a:pt x="149" y="234"/>
                      <a:pt x="151" y="233"/>
                    </a:cubicBezTo>
                    <a:cubicBezTo>
                      <a:pt x="158" y="253"/>
                      <a:pt x="158" y="253"/>
                      <a:pt x="158" y="253"/>
                    </a:cubicBezTo>
                    <a:cubicBezTo>
                      <a:pt x="187" y="242"/>
                      <a:pt x="187" y="242"/>
                      <a:pt x="187" y="242"/>
                    </a:cubicBezTo>
                    <a:cubicBezTo>
                      <a:pt x="180" y="223"/>
                      <a:pt x="180" y="223"/>
                      <a:pt x="180" y="223"/>
                    </a:cubicBezTo>
                    <a:cubicBezTo>
                      <a:pt x="182" y="222"/>
                      <a:pt x="184" y="220"/>
                      <a:pt x="186" y="219"/>
                    </a:cubicBezTo>
                    <a:cubicBezTo>
                      <a:pt x="199" y="235"/>
                      <a:pt x="199" y="235"/>
                      <a:pt x="199" y="235"/>
                    </a:cubicBezTo>
                    <a:cubicBezTo>
                      <a:pt x="223" y="215"/>
                      <a:pt x="223" y="215"/>
                      <a:pt x="223" y="215"/>
                    </a:cubicBezTo>
                    <a:cubicBezTo>
                      <a:pt x="209" y="199"/>
                      <a:pt x="209" y="199"/>
                      <a:pt x="209" y="199"/>
                    </a:cubicBezTo>
                    <a:cubicBezTo>
                      <a:pt x="211" y="198"/>
                      <a:pt x="212" y="196"/>
                      <a:pt x="214" y="194"/>
                    </a:cubicBezTo>
                    <a:cubicBezTo>
                      <a:pt x="231" y="205"/>
                      <a:pt x="231" y="205"/>
                      <a:pt x="231" y="205"/>
                    </a:cubicBezTo>
                    <a:cubicBezTo>
                      <a:pt x="247" y="178"/>
                      <a:pt x="247" y="178"/>
                      <a:pt x="247" y="178"/>
                    </a:cubicBezTo>
                    <a:cubicBezTo>
                      <a:pt x="229" y="167"/>
                      <a:pt x="229" y="167"/>
                      <a:pt x="229" y="167"/>
                    </a:cubicBezTo>
                    <a:cubicBezTo>
                      <a:pt x="230" y="165"/>
                      <a:pt x="231" y="163"/>
                      <a:pt x="231" y="161"/>
                    </a:cubicBezTo>
                    <a:cubicBezTo>
                      <a:pt x="252" y="165"/>
                      <a:pt x="252" y="165"/>
                      <a:pt x="252" y="165"/>
                    </a:cubicBezTo>
                    <a:cubicBezTo>
                      <a:pt x="257" y="134"/>
                      <a:pt x="257" y="134"/>
                      <a:pt x="257" y="134"/>
                    </a:cubicBezTo>
                    <a:cubicBezTo>
                      <a:pt x="237" y="131"/>
                      <a:pt x="237" y="131"/>
                      <a:pt x="237" y="131"/>
                    </a:cubicBezTo>
                    <a:cubicBezTo>
                      <a:pt x="237" y="129"/>
                      <a:pt x="237" y="128"/>
                      <a:pt x="237" y="127"/>
                    </a:cubicBezTo>
                    <a:cubicBezTo>
                      <a:pt x="237" y="126"/>
                      <a:pt x="237" y="125"/>
                      <a:pt x="237" y="124"/>
                    </a:cubicBezTo>
                    <a:cubicBezTo>
                      <a:pt x="257" y="120"/>
                      <a:pt x="257" y="120"/>
                      <a:pt x="257" y="120"/>
                    </a:cubicBezTo>
                    <a:cubicBezTo>
                      <a:pt x="252" y="90"/>
                      <a:pt x="252" y="90"/>
                      <a:pt x="252" y="90"/>
                    </a:cubicBezTo>
                    <a:lnTo>
                      <a:pt x="231" y="93"/>
                    </a:lnTo>
                    <a:close/>
                    <a:moveTo>
                      <a:pt x="217" y="127"/>
                    </a:moveTo>
                    <a:cubicBezTo>
                      <a:pt x="217" y="176"/>
                      <a:pt x="177" y="215"/>
                      <a:pt x="129" y="215"/>
                    </a:cubicBezTo>
                    <a:cubicBezTo>
                      <a:pt x="80" y="215"/>
                      <a:pt x="41" y="176"/>
                      <a:pt x="41" y="127"/>
                    </a:cubicBezTo>
                    <a:cubicBezTo>
                      <a:pt x="41" y="79"/>
                      <a:pt x="80" y="39"/>
                      <a:pt x="129" y="39"/>
                    </a:cubicBezTo>
                    <a:cubicBezTo>
                      <a:pt x="177" y="39"/>
                      <a:pt x="217" y="79"/>
                      <a:pt x="217" y="127"/>
                    </a:cubicBezTo>
                    <a:close/>
                  </a:path>
                </a:pathLst>
              </a:custGeom>
              <a:solidFill>
                <a:srgbClr val="BBB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1" name="Rectangle 21">
                <a:extLst>
                  <a:ext uri="{FF2B5EF4-FFF2-40B4-BE49-F238E27FC236}">
                    <a16:creationId xmlns:a16="http://schemas.microsoft.com/office/drawing/2014/main" id="{F9D47C77-2296-758A-3733-7863376883A3}"/>
                  </a:ext>
                </a:extLst>
              </p:cNvPr>
              <p:cNvSpPr>
                <a:spLocks noChangeArrowheads="1"/>
              </p:cNvSpPr>
              <p:nvPr/>
            </p:nvSpPr>
            <p:spPr bwMode="auto">
              <a:xfrm>
                <a:off x="6112053" y="3409607"/>
                <a:ext cx="28903" cy="657197"/>
              </a:xfrm>
              <a:prstGeom prst="rect">
                <a:avLst/>
              </a:prstGeom>
              <a:solidFill>
                <a:srgbClr val="BBBCB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2" name="Rectangle 22">
                <a:extLst>
                  <a:ext uri="{FF2B5EF4-FFF2-40B4-BE49-F238E27FC236}">
                    <a16:creationId xmlns:a16="http://schemas.microsoft.com/office/drawing/2014/main" id="{BFB1F49E-7453-267F-A125-D45143B974F5}"/>
                  </a:ext>
                </a:extLst>
              </p:cNvPr>
              <p:cNvSpPr>
                <a:spLocks noChangeArrowheads="1"/>
              </p:cNvSpPr>
              <p:nvPr/>
            </p:nvSpPr>
            <p:spPr bwMode="auto">
              <a:xfrm>
                <a:off x="5797562" y="3723410"/>
                <a:ext cx="657197" cy="29591"/>
              </a:xfrm>
              <a:prstGeom prst="rect">
                <a:avLst/>
              </a:prstGeom>
              <a:solidFill>
                <a:srgbClr val="BBBCB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13" name="Group 21">
              <a:extLst>
                <a:ext uri="{FF2B5EF4-FFF2-40B4-BE49-F238E27FC236}">
                  <a16:creationId xmlns:a16="http://schemas.microsoft.com/office/drawing/2014/main" id="{2C4C11CE-7A09-342C-EAF4-C1334CA7F9D4}"/>
                </a:ext>
              </a:extLst>
            </p:cNvPr>
            <p:cNvGrpSpPr/>
            <p:nvPr/>
          </p:nvGrpSpPr>
          <p:grpSpPr>
            <a:xfrm>
              <a:off x="3526083" y="2570340"/>
              <a:ext cx="887044" cy="1038440"/>
              <a:chOff x="5280062" y="2483338"/>
              <a:chExt cx="887044" cy="1038440"/>
            </a:xfrm>
            <a:solidFill>
              <a:srgbClr val="000000"/>
            </a:solidFill>
          </p:grpSpPr>
          <p:sp>
            <p:nvSpPr>
              <p:cNvPr id="14" name="Line 17">
                <a:extLst>
                  <a:ext uri="{FF2B5EF4-FFF2-40B4-BE49-F238E27FC236}">
                    <a16:creationId xmlns:a16="http://schemas.microsoft.com/office/drawing/2014/main" id="{8306146B-7917-DE4D-9364-D8698700C2C4}"/>
                  </a:ext>
                </a:extLst>
              </p:cNvPr>
              <p:cNvSpPr>
                <a:spLocks noChangeShapeType="1"/>
              </p:cNvSpPr>
              <p:nvPr/>
            </p:nvSpPr>
            <p:spPr bwMode="auto">
              <a:xfrm>
                <a:off x="5320664" y="3521778"/>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 name="Line 18">
                <a:extLst>
                  <a:ext uri="{FF2B5EF4-FFF2-40B4-BE49-F238E27FC236}">
                    <a16:creationId xmlns:a16="http://schemas.microsoft.com/office/drawing/2014/main" id="{009E5D16-C4AB-E3AE-C406-327D9BA69B08}"/>
                  </a:ext>
                </a:extLst>
              </p:cNvPr>
              <p:cNvSpPr>
                <a:spLocks noChangeShapeType="1"/>
              </p:cNvSpPr>
              <p:nvPr/>
            </p:nvSpPr>
            <p:spPr bwMode="auto">
              <a:xfrm>
                <a:off x="5320664" y="3521778"/>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6" name="Freeform 23">
                <a:extLst>
                  <a:ext uri="{FF2B5EF4-FFF2-40B4-BE49-F238E27FC236}">
                    <a16:creationId xmlns:a16="http://schemas.microsoft.com/office/drawing/2014/main" id="{AFCA329E-9EC1-1AC4-EC6A-D6DACC248CED}"/>
                  </a:ext>
                </a:extLst>
              </p:cNvPr>
              <p:cNvSpPr>
                <a:spLocks noEditPoints="1"/>
              </p:cNvSpPr>
              <p:nvPr/>
            </p:nvSpPr>
            <p:spPr bwMode="auto">
              <a:xfrm>
                <a:off x="5280062" y="2483338"/>
                <a:ext cx="887044" cy="880163"/>
              </a:xfrm>
              <a:custGeom>
                <a:avLst/>
                <a:gdLst>
                  <a:gd name="T0" fmla="*/ 533 w 545"/>
                  <a:gd name="T1" fmla="*/ 191 h 541"/>
                  <a:gd name="T2" fmla="*/ 490 w 545"/>
                  <a:gd name="T3" fmla="*/ 106 h 541"/>
                  <a:gd name="T4" fmla="*/ 421 w 545"/>
                  <a:gd name="T5" fmla="*/ 42 h 541"/>
                  <a:gd name="T6" fmla="*/ 334 w 545"/>
                  <a:gd name="T7" fmla="*/ 5 h 541"/>
                  <a:gd name="T8" fmla="*/ 239 w 545"/>
                  <a:gd name="T9" fmla="*/ 0 h 541"/>
                  <a:gd name="T10" fmla="*/ 149 w 545"/>
                  <a:gd name="T11" fmla="*/ 27 h 541"/>
                  <a:gd name="T12" fmla="*/ 73 w 545"/>
                  <a:gd name="T13" fmla="*/ 84 h 541"/>
                  <a:gd name="T14" fmla="*/ 22 w 545"/>
                  <a:gd name="T15" fmla="*/ 164 h 541"/>
                  <a:gd name="T16" fmla="*/ 0 w 545"/>
                  <a:gd name="T17" fmla="*/ 256 h 541"/>
                  <a:gd name="T18" fmla="*/ 0 w 545"/>
                  <a:gd name="T19" fmla="*/ 285 h 541"/>
                  <a:gd name="T20" fmla="*/ 22 w 545"/>
                  <a:gd name="T21" fmla="*/ 377 h 541"/>
                  <a:gd name="T22" fmla="*/ 73 w 545"/>
                  <a:gd name="T23" fmla="*/ 456 h 541"/>
                  <a:gd name="T24" fmla="*/ 149 w 545"/>
                  <a:gd name="T25" fmla="*/ 513 h 541"/>
                  <a:gd name="T26" fmla="*/ 239 w 545"/>
                  <a:gd name="T27" fmla="*/ 541 h 541"/>
                  <a:gd name="T28" fmla="*/ 334 w 545"/>
                  <a:gd name="T29" fmla="*/ 536 h 541"/>
                  <a:gd name="T30" fmla="*/ 421 w 545"/>
                  <a:gd name="T31" fmla="*/ 499 h 541"/>
                  <a:gd name="T32" fmla="*/ 490 w 545"/>
                  <a:gd name="T33" fmla="*/ 434 h 541"/>
                  <a:gd name="T34" fmla="*/ 533 w 545"/>
                  <a:gd name="T35" fmla="*/ 350 h 541"/>
                  <a:gd name="T36" fmla="*/ 448 w 545"/>
                  <a:gd name="T37" fmla="*/ 154 h 541"/>
                  <a:gd name="T38" fmla="*/ 448 w 545"/>
                  <a:gd name="T39" fmla="*/ 154 h 541"/>
                  <a:gd name="T40" fmla="*/ 399 w 545"/>
                  <a:gd name="T41" fmla="*/ 114 h 541"/>
                  <a:gd name="T42" fmla="*/ 349 w 545"/>
                  <a:gd name="T43" fmla="*/ 74 h 541"/>
                  <a:gd name="T44" fmla="*/ 277 w 545"/>
                  <a:gd name="T45" fmla="*/ 60 h 541"/>
                  <a:gd name="T46" fmla="*/ 194 w 545"/>
                  <a:gd name="T47" fmla="*/ 66 h 541"/>
                  <a:gd name="T48" fmla="*/ 194 w 545"/>
                  <a:gd name="T49" fmla="*/ 66 h 541"/>
                  <a:gd name="T50" fmla="*/ 128 w 545"/>
                  <a:gd name="T51" fmla="*/ 117 h 541"/>
                  <a:gd name="T52" fmla="*/ 74 w 545"/>
                  <a:gd name="T53" fmla="*/ 239 h 541"/>
                  <a:gd name="T54" fmla="*/ 58 w 545"/>
                  <a:gd name="T55" fmla="*/ 312 h 541"/>
                  <a:gd name="T56" fmla="*/ 81 w 545"/>
                  <a:gd name="T57" fmla="*/ 164 h 541"/>
                  <a:gd name="T58" fmla="*/ 81 w 545"/>
                  <a:gd name="T59" fmla="*/ 164 h 541"/>
                  <a:gd name="T60" fmla="*/ 100 w 545"/>
                  <a:gd name="T61" fmla="*/ 374 h 541"/>
                  <a:gd name="T62" fmla="*/ 134 w 545"/>
                  <a:gd name="T63" fmla="*/ 428 h 541"/>
                  <a:gd name="T64" fmla="*/ 201 w 545"/>
                  <a:gd name="T65" fmla="*/ 477 h 541"/>
                  <a:gd name="T66" fmla="*/ 276 w 545"/>
                  <a:gd name="T67" fmla="*/ 489 h 541"/>
                  <a:gd name="T68" fmla="*/ 276 w 545"/>
                  <a:gd name="T69" fmla="*/ 489 h 541"/>
                  <a:gd name="T70" fmla="*/ 356 w 545"/>
                  <a:gd name="T71" fmla="*/ 463 h 541"/>
                  <a:gd name="T72" fmla="*/ 405 w 545"/>
                  <a:gd name="T73" fmla="*/ 422 h 541"/>
                  <a:gd name="T74" fmla="*/ 413 w 545"/>
                  <a:gd name="T75" fmla="*/ 317 h 541"/>
                  <a:gd name="T76" fmla="*/ 389 w 545"/>
                  <a:gd name="T77" fmla="*/ 362 h 541"/>
                  <a:gd name="T78" fmla="*/ 350 w 545"/>
                  <a:gd name="T79" fmla="*/ 396 h 541"/>
                  <a:gd name="T80" fmla="*/ 303 w 545"/>
                  <a:gd name="T81" fmla="*/ 416 h 541"/>
                  <a:gd name="T82" fmla="*/ 251 w 545"/>
                  <a:gd name="T83" fmla="*/ 417 h 541"/>
                  <a:gd name="T84" fmla="*/ 202 w 545"/>
                  <a:gd name="T85" fmla="*/ 401 h 541"/>
                  <a:gd name="T86" fmla="*/ 162 w 545"/>
                  <a:gd name="T87" fmla="*/ 369 h 541"/>
                  <a:gd name="T88" fmla="*/ 135 w 545"/>
                  <a:gd name="T89" fmla="*/ 325 h 541"/>
                  <a:gd name="T90" fmla="*/ 124 w 545"/>
                  <a:gd name="T91" fmla="*/ 275 h 541"/>
                  <a:gd name="T92" fmla="*/ 104 w 545"/>
                  <a:gd name="T93" fmla="*/ 219 h 541"/>
                  <a:gd name="T94" fmla="*/ 131 w 545"/>
                  <a:gd name="T95" fmla="*/ 164 h 541"/>
                  <a:gd name="T96" fmla="*/ 176 w 545"/>
                  <a:gd name="T97" fmla="*/ 122 h 541"/>
                  <a:gd name="T98" fmla="*/ 233 w 545"/>
                  <a:gd name="T99" fmla="*/ 98 h 541"/>
                  <a:gd name="T100" fmla="*/ 294 w 545"/>
                  <a:gd name="T101" fmla="*/ 95 h 541"/>
                  <a:gd name="T102" fmla="*/ 352 w 545"/>
                  <a:gd name="T103" fmla="*/ 113 h 541"/>
                  <a:gd name="T104" fmla="*/ 401 w 545"/>
                  <a:gd name="T105" fmla="*/ 150 h 541"/>
                  <a:gd name="T106" fmla="*/ 435 w 545"/>
                  <a:gd name="T107" fmla="*/ 201 h 541"/>
                  <a:gd name="T108" fmla="*/ 449 w 545"/>
                  <a:gd name="T109" fmla="*/ 261 h 541"/>
                  <a:gd name="T110" fmla="*/ 449 w 545"/>
                  <a:gd name="T111" fmla="*/ 280 h 541"/>
                  <a:gd name="T112" fmla="*/ 449 w 545"/>
                  <a:gd name="T113" fmla="*/ 368 h 541"/>
                  <a:gd name="T114" fmla="*/ 487 w 545"/>
                  <a:gd name="T115" fmla="*/ 228 h 541"/>
                  <a:gd name="T116" fmla="*/ 489 w 545"/>
                  <a:gd name="T117" fmla="*/ 304 h 541"/>
                  <a:gd name="T118" fmla="*/ 489 w 545"/>
                  <a:gd name="T119" fmla="*/ 304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45" h="541">
                    <a:moveTo>
                      <a:pt x="502" y="270"/>
                    </a:moveTo>
                    <a:cubicBezTo>
                      <a:pt x="502" y="268"/>
                      <a:pt x="502" y="266"/>
                      <a:pt x="501" y="263"/>
                    </a:cubicBezTo>
                    <a:cubicBezTo>
                      <a:pt x="545" y="256"/>
                      <a:pt x="545" y="256"/>
                      <a:pt x="545" y="256"/>
                    </a:cubicBezTo>
                    <a:cubicBezTo>
                      <a:pt x="533" y="191"/>
                      <a:pt x="533" y="191"/>
                      <a:pt x="533" y="191"/>
                    </a:cubicBezTo>
                    <a:cubicBezTo>
                      <a:pt x="490" y="198"/>
                      <a:pt x="490" y="198"/>
                      <a:pt x="490" y="198"/>
                    </a:cubicBezTo>
                    <a:cubicBezTo>
                      <a:pt x="489" y="194"/>
                      <a:pt x="487" y="190"/>
                      <a:pt x="485" y="185"/>
                    </a:cubicBezTo>
                    <a:cubicBezTo>
                      <a:pt x="523" y="164"/>
                      <a:pt x="523" y="164"/>
                      <a:pt x="523" y="164"/>
                    </a:cubicBezTo>
                    <a:cubicBezTo>
                      <a:pt x="490" y="106"/>
                      <a:pt x="490" y="106"/>
                      <a:pt x="490" y="106"/>
                    </a:cubicBezTo>
                    <a:cubicBezTo>
                      <a:pt x="452" y="128"/>
                      <a:pt x="452" y="128"/>
                      <a:pt x="452" y="128"/>
                    </a:cubicBezTo>
                    <a:cubicBezTo>
                      <a:pt x="449" y="125"/>
                      <a:pt x="447" y="121"/>
                      <a:pt x="444" y="118"/>
                    </a:cubicBezTo>
                    <a:cubicBezTo>
                      <a:pt x="472" y="84"/>
                      <a:pt x="472" y="84"/>
                      <a:pt x="472" y="84"/>
                    </a:cubicBezTo>
                    <a:cubicBezTo>
                      <a:pt x="421" y="42"/>
                      <a:pt x="421" y="42"/>
                      <a:pt x="421" y="42"/>
                    </a:cubicBezTo>
                    <a:cubicBezTo>
                      <a:pt x="393" y="75"/>
                      <a:pt x="393" y="75"/>
                      <a:pt x="393" y="75"/>
                    </a:cubicBezTo>
                    <a:cubicBezTo>
                      <a:pt x="389" y="73"/>
                      <a:pt x="385" y="70"/>
                      <a:pt x="381" y="68"/>
                    </a:cubicBezTo>
                    <a:cubicBezTo>
                      <a:pt x="396" y="27"/>
                      <a:pt x="396" y="27"/>
                      <a:pt x="396" y="27"/>
                    </a:cubicBezTo>
                    <a:cubicBezTo>
                      <a:pt x="334" y="5"/>
                      <a:pt x="334" y="5"/>
                      <a:pt x="334" y="5"/>
                    </a:cubicBezTo>
                    <a:cubicBezTo>
                      <a:pt x="319" y="46"/>
                      <a:pt x="319" y="46"/>
                      <a:pt x="319" y="46"/>
                    </a:cubicBezTo>
                    <a:cubicBezTo>
                      <a:pt x="315" y="45"/>
                      <a:pt x="310" y="44"/>
                      <a:pt x="305" y="43"/>
                    </a:cubicBezTo>
                    <a:cubicBezTo>
                      <a:pt x="305" y="0"/>
                      <a:pt x="305" y="0"/>
                      <a:pt x="305" y="0"/>
                    </a:cubicBezTo>
                    <a:cubicBezTo>
                      <a:pt x="239" y="0"/>
                      <a:pt x="239" y="0"/>
                      <a:pt x="239" y="0"/>
                    </a:cubicBezTo>
                    <a:cubicBezTo>
                      <a:pt x="239" y="43"/>
                      <a:pt x="239" y="43"/>
                      <a:pt x="239" y="43"/>
                    </a:cubicBezTo>
                    <a:cubicBezTo>
                      <a:pt x="235" y="44"/>
                      <a:pt x="230" y="45"/>
                      <a:pt x="226" y="46"/>
                    </a:cubicBezTo>
                    <a:cubicBezTo>
                      <a:pt x="211" y="5"/>
                      <a:pt x="211" y="5"/>
                      <a:pt x="211" y="5"/>
                    </a:cubicBezTo>
                    <a:cubicBezTo>
                      <a:pt x="149" y="27"/>
                      <a:pt x="149" y="27"/>
                      <a:pt x="149" y="27"/>
                    </a:cubicBezTo>
                    <a:cubicBezTo>
                      <a:pt x="164" y="68"/>
                      <a:pt x="164" y="68"/>
                      <a:pt x="164" y="68"/>
                    </a:cubicBezTo>
                    <a:cubicBezTo>
                      <a:pt x="160" y="70"/>
                      <a:pt x="156" y="73"/>
                      <a:pt x="152" y="75"/>
                    </a:cubicBezTo>
                    <a:cubicBezTo>
                      <a:pt x="124" y="42"/>
                      <a:pt x="124" y="42"/>
                      <a:pt x="124" y="42"/>
                    </a:cubicBezTo>
                    <a:cubicBezTo>
                      <a:pt x="73" y="84"/>
                      <a:pt x="73" y="84"/>
                      <a:pt x="73" y="84"/>
                    </a:cubicBezTo>
                    <a:cubicBezTo>
                      <a:pt x="101" y="118"/>
                      <a:pt x="101" y="118"/>
                      <a:pt x="101" y="118"/>
                    </a:cubicBezTo>
                    <a:cubicBezTo>
                      <a:pt x="98" y="121"/>
                      <a:pt x="95" y="125"/>
                      <a:pt x="93" y="128"/>
                    </a:cubicBezTo>
                    <a:cubicBezTo>
                      <a:pt x="55" y="106"/>
                      <a:pt x="55" y="106"/>
                      <a:pt x="55" y="106"/>
                    </a:cubicBezTo>
                    <a:cubicBezTo>
                      <a:pt x="22" y="164"/>
                      <a:pt x="22" y="164"/>
                      <a:pt x="22" y="164"/>
                    </a:cubicBezTo>
                    <a:cubicBezTo>
                      <a:pt x="59" y="185"/>
                      <a:pt x="59" y="185"/>
                      <a:pt x="59" y="185"/>
                    </a:cubicBezTo>
                    <a:cubicBezTo>
                      <a:pt x="58" y="190"/>
                      <a:pt x="56" y="194"/>
                      <a:pt x="55" y="198"/>
                    </a:cubicBezTo>
                    <a:cubicBezTo>
                      <a:pt x="12" y="191"/>
                      <a:pt x="12" y="191"/>
                      <a:pt x="12" y="191"/>
                    </a:cubicBezTo>
                    <a:cubicBezTo>
                      <a:pt x="0" y="256"/>
                      <a:pt x="0" y="256"/>
                      <a:pt x="0" y="256"/>
                    </a:cubicBezTo>
                    <a:cubicBezTo>
                      <a:pt x="43" y="263"/>
                      <a:pt x="43" y="263"/>
                      <a:pt x="43" y="263"/>
                    </a:cubicBezTo>
                    <a:cubicBezTo>
                      <a:pt x="43" y="266"/>
                      <a:pt x="43" y="268"/>
                      <a:pt x="43" y="270"/>
                    </a:cubicBezTo>
                    <a:cubicBezTo>
                      <a:pt x="43" y="272"/>
                      <a:pt x="43" y="275"/>
                      <a:pt x="43" y="277"/>
                    </a:cubicBezTo>
                    <a:cubicBezTo>
                      <a:pt x="0" y="285"/>
                      <a:pt x="0" y="285"/>
                      <a:pt x="0" y="285"/>
                    </a:cubicBezTo>
                    <a:cubicBezTo>
                      <a:pt x="12" y="350"/>
                      <a:pt x="12" y="350"/>
                      <a:pt x="12" y="350"/>
                    </a:cubicBezTo>
                    <a:cubicBezTo>
                      <a:pt x="55" y="342"/>
                      <a:pt x="55" y="342"/>
                      <a:pt x="55" y="342"/>
                    </a:cubicBezTo>
                    <a:cubicBezTo>
                      <a:pt x="56" y="346"/>
                      <a:pt x="58" y="351"/>
                      <a:pt x="59" y="355"/>
                    </a:cubicBezTo>
                    <a:cubicBezTo>
                      <a:pt x="22" y="377"/>
                      <a:pt x="22" y="377"/>
                      <a:pt x="22" y="377"/>
                    </a:cubicBezTo>
                    <a:cubicBezTo>
                      <a:pt x="55" y="434"/>
                      <a:pt x="55" y="434"/>
                      <a:pt x="55" y="434"/>
                    </a:cubicBezTo>
                    <a:cubicBezTo>
                      <a:pt x="93" y="412"/>
                      <a:pt x="93" y="412"/>
                      <a:pt x="93" y="412"/>
                    </a:cubicBezTo>
                    <a:cubicBezTo>
                      <a:pt x="95" y="416"/>
                      <a:pt x="98" y="419"/>
                      <a:pt x="101" y="423"/>
                    </a:cubicBezTo>
                    <a:cubicBezTo>
                      <a:pt x="73" y="456"/>
                      <a:pt x="73" y="456"/>
                      <a:pt x="73" y="456"/>
                    </a:cubicBezTo>
                    <a:cubicBezTo>
                      <a:pt x="124" y="499"/>
                      <a:pt x="124" y="499"/>
                      <a:pt x="124" y="499"/>
                    </a:cubicBezTo>
                    <a:cubicBezTo>
                      <a:pt x="152" y="465"/>
                      <a:pt x="152" y="465"/>
                      <a:pt x="152" y="465"/>
                    </a:cubicBezTo>
                    <a:cubicBezTo>
                      <a:pt x="156" y="468"/>
                      <a:pt x="160" y="470"/>
                      <a:pt x="164" y="472"/>
                    </a:cubicBezTo>
                    <a:cubicBezTo>
                      <a:pt x="149" y="513"/>
                      <a:pt x="149" y="513"/>
                      <a:pt x="149" y="513"/>
                    </a:cubicBezTo>
                    <a:cubicBezTo>
                      <a:pt x="211" y="536"/>
                      <a:pt x="211" y="536"/>
                      <a:pt x="211" y="536"/>
                    </a:cubicBezTo>
                    <a:cubicBezTo>
                      <a:pt x="226" y="495"/>
                      <a:pt x="226" y="495"/>
                      <a:pt x="226" y="495"/>
                    </a:cubicBezTo>
                    <a:cubicBezTo>
                      <a:pt x="230" y="496"/>
                      <a:pt x="235" y="496"/>
                      <a:pt x="239" y="497"/>
                    </a:cubicBezTo>
                    <a:cubicBezTo>
                      <a:pt x="239" y="541"/>
                      <a:pt x="239" y="541"/>
                      <a:pt x="239" y="541"/>
                    </a:cubicBezTo>
                    <a:cubicBezTo>
                      <a:pt x="305" y="541"/>
                      <a:pt x="305" y="541"/>
                      <a:pt x="305" y="541"/>
                    </a:cubicBezTo>
                    <a:cubicBezTo>
                      <a:pt x="305" y="497"/>
                      <a:pt x="305" y="497"/>
                      <a:pt x="305" y="497"/>
                    </a:cubicBezTo>
                    <a:cubicBezTo>
                      <a:pt x="310" y="496"/>
                      <a:pt x="315" y="496"/>
                      <a:pt x="319" y="495"/>
                    </a:cubicBezTo>
                    <a:cubicBezTo>
                      <a:pt x="334" y="536"/>
                      <a:pt x="334" y="536"/>
                      <a:pt x="334" y="536"/>
                    </a:cubicBezTo>
                    <a:cubicBezTo>
                      <a:pt x="396" y="513"/>
                      <a:pt x="396" y="513"/>
                      <a:pt x="396" y="513"/>
                    </a:cubicBezTo>
                    <a:cubicBezTo>
                      <a:pt x="381" y="472"/>
                      <a:pt x="381" y="472"/>
                      <a:pt x="381" y="472"/>
                    </a:cubicBezTo>
                    <a:cubicBezTo>
                      <a:pt x="385" y="470"/>
                      <a:pt x="389" y="468"/>
                      <a:pt x="393" y="465"/>
                    </a:cubicBezTo>
                    <a:cubicBezTo>
                      <a:pt x="421" y="499"/>
                      <a:pt x="421" y="499"/>
                      <a:pt x="421" y="499"/>
                    </a:cubicBezTo>
                    <a:cubicBezTo>
                      <a:pt x="472" y="456"/>
                      <a:pt x="472" y="456"/>
                      <a:pt x="472" y="456"/>
                    </a:cubicBezTo>
                    <a:cubicBezTo>
                      <a:pt x="444" y="423"/>
                      <a:pt x="444" y="423"/>
                      <a:pt x="444" y="423"/>
                    </a:cubicBezTo>
                    <a:cubicBezTo>
                      <a:pt x="447" y="419"/>
                      <a:pt x="449" y="416"/>
                      <a:pt x="452" y="412"/>
                    </a:cubicBezTo>
                    <a:cubicBezTo>
                      <a:pt x="490" y="434"/>
                      <a:pt x="490" y="434"/>
                      <a:pt x="490" y="434"/>
                    </a:cubicBezTo>
                    <a:cubicBezTo>
                      <a:pt x="523" y="377"/>
                      <a:pt x="523" y="377"/>
                      <a:pt x="523" y="377"/>
                    </a:cubicBezTo>
                    <a:cubicBezTo>
                      <a:pt x="485" y="355"/>
                      <a:pt x="485" y="355"/>
                      <a:pt x="485" y="355"/>
                    </a:cubicBezTo>
                    <a:cubicBezTo>
                      <a:pt x="487" y="351"/>
                      <a:pt x="489" y="346"/>
                      <a:pt x="490" y="342"/>
                    </a:cubicBezTo>
                    <a:cubicBezTo>
                      <a:pt x="533" y="350"/>
                      <a:pt x="533" y="350"/>
                      <a:pt x="533" y="350"/>
                    </a:cubicBezTo>
                    <a:cubicBezTo>
                      <a:pt x="545" y="285"/>
                      <a:pt x="545" y="285"/>
                      <a:pt x="545" y="285"/>
                    </a:cubicBezTo>
                    <a:cubicBezTo>
                      <a:pt x="501" y="277"/>
                      <a:pt x="501" y="277"/>
                      <a:pt x="501" y="277"/>
                    </a:cubicBezTo>
                    <a:cubicBezTo>
                      <a:pt x="502" y="275"/>
                      <a:pt x="502" y="272"/>
                      <a:pt x="502" y="270"/>
                    </a:cubicBezTo>
                    <a:close/>
                    <a:moveTo>
                      <a:pt x="448" y="154"/>
                    </a:moveTo>
                    <a:cubicBezTo>
                      <a:pt x="452" y="152"/>
                      <a:pt x="458" y="153"/>
                      <a:pt x="460" y="157"/>
                    </a:cubicBezTo>
                    <a:cubicBezTo>
                      <a:pt x="462" y="162"/>
                      <a:pt x="461" y="167"/>
                      <a:pt x="457" y="169"/>
                    </a:cubicBezTo>
                    <a:cubicBezTo>
                      <a:pt x="453" y="172"/>
                      <a:pt x="447" y="170"/>
                      <a:pt x="445" y="166"/>
                    </a:cubicBezTo>
                    <a:cubicBezTo>
                      <a:pt x="442" y="162"/>
                      <a:pt x="444" y="157"/>
                      <a:pt x="448" y="154"/>
                    </a:cubicBezTo>
                    <a:close/>
                    <a:moveTo>
                      <a:pt x="398" y="101"/>
                    </a:moveTo>
                    <a:cubicBezTo>
                      <a:pt x="401" y="97"/>
                      <a:pt x="406" y="97"/>
                      <a:pt x="410" y="100"/>
                    </a:cubicBezTo>
                    <a:cubicBezTo>
                      <a:pt x="414" y="103"/>
                      <a:pt x="414" y="109"/>
                      <a:pt x="411" y="112"/>
                    </a:cubicBezTo>
                    <a:cubicBezTo>
                      <a:pt x="408" y="116"/>
                      <a:pt x="403" y="117"/>
                      <a:pt x="399" y="114"/>
                    </a:cubicBezTo>
                    <a:cubicBezTo>
                      <a:pt x="395" y="110"/>
                      <a:pt x="395" y="105"/>
                      <a:pt x="398" y="101"/>
                    </a:cubicBezTo>
                    <a:close/>
                    <a:moveTo>
                      <a:pt x="332" y="68"/>
                    </a:moveTo>
                    <a:cubicBezTo>
                      <a:pt x="334" y="64"/>
                      <a:pt x="339" y="62"/>
                      <a:pt x="344" y="63"/>
                    </a:cubicBezTo>
                    <a:cubicBezTo>
                      <a:pt x="348" y="65"/>
                      <a:pt x="351" y="70"/>
                      <a:pt x="349" y="74"/>
                    </a:cubicBezTo>
                    <a:cubicBezTo>
                      <a:pt x="347" y="79"/>
                      <a:pt x="342" y="81"/>
                      <a:pt x="338" y="80"/>
                    </a:cubicBezTo>
                    <a:cubicBezTo>
                      <a:pt x="333" y="78"/>
                      <a:pt x="331" y="73"/>
                      <a:pt x="332" y="68"/>
                    </a:cubicBezTo>
                    <a:close/>
                    <a:moveTo>
                      <a:pt x="269" y="51"/>
                    </a:moveTo>
                    <a:cubicBezTo>
                      <a:pt x="273" y="51"/>
                      <a:pt x="277" y="55"/>
                      <a:pt x="277" y="60"/>
                    </a:cubicBezTo>
                    <a:cubicBezTo>
                      <a:pt x="277" y="65"/>
                      <a:pt x="273" y="69"/>
                      <a:pt x="269" y="69"/>
                    </a:cubicBezTo>
                    <a:cubicBezTo>
                      <a:pt x="264" y="69"/>
                      <a:pt x="260" y="65"/>
                      <a:pt x="260" y="60"/>
                    </a:cubicBezTo>
                    <a:cubicBezTo>
                      <a:pt x="260" y="55"/>
                      <a:pt x="264" y="51"/>
                      <a:pt x="269" y="51"/>
                    </a:cubicBezTo>
                    <a:close/>
                    <a:moveTo>
                      <a:pt x="194" y="66"/>
                    </a:moveTo>
                    <a:cubicBezTo>
                      <a:pt x="199" y="64"/>
                      <a:pt x="204" y="67"/>
                      <a:pt x="205" y="71"/>
                    </a:cubicBezTo>
                    <a:cubicBezTo>
                      <a:pt x="207" y="76"/>
                      <a:pt x="205" y="81"/>
                      <a:pt x="200" y="82"/>
                    </a:cubicBezTo>
                    <a:cubicBezTo>
                      <a:pt x="195" y="84"/>
                      <a:pt x="190" y="82"/>
                      <a:pt x="189" y="77"/>
                    </a:cubicBezTo>
                    <a:cubicBezTo>
                      <a:pt x="187" y="73"/>
                      <a:pt x="189" y="67"/>
                      <a:pt x="194" y="66"/>
                    </a:cubicBezTo>
                    <a:close/>
                    <a:moveTo>
                      <a:pt x="129" y="105"/>
                    </a:moveTo>
                    <a:cubicBezTo>
                      <a:pt x="133" y="102"/>
                      <a:pt x="138" y="102"/>
                      <a:pt x="141" y="106"/>
                    </a:cubicBezTo>
                    <a:cubicBezTo>
                      <a:pt x="144" y="110"/>
                      <a:pt x="144" y="115"/>
                      <a:pt x="140" y="118"/>
                    </a:cubicBezTo>
                    <a:cubicBezTo>
                      <a:pt x="136" y="122"/>
                      <a:pt x="131" y="121"/>
                      <a:pt x="128" y="117"/>
                    </a:cubicBezTo>
                    <a:cubicBezTo>
                      <a:pt x="125" y="114"/>
                      <a:pt x="125" y="108"/>
                      <a:pt x="129" y="105"/>
                    </a:cubicBezTo>
                    <a:close/>
                    <a:moveTo>
                      <a:pt x="56" y="236"/>
                    </a:moveTo>
                    <a:cubicBezTo>
                      <a:pt x="57" y="231"/>
                      <a:pt x="62" y="228"/>
                      <a:pt x="66" y="229"/>
                    </a:cubicBezTo>
                    <a:cubicBezTo>
                      <a:pt x="71" y="230"/>
                      <a:pt x="74" y="234"/>
                      <a:pt x="74" y="239"/>
                    </a:cubicBezTo>
                    <a:cubicBezTo>
                      <a:pt x="73" y="244"/>
                      <a:pt x="68" y="247"/>
                      <a:pt x="63" y="246"/>
                    </a:cubicBezTo>
                    <a:cubicBezTo>
                      <a:pt x="59" y="245"/>
                      <a:pt x="55" y="241"/>
                      <a:pt x="56" y="236"/>
                    </a:cubicBezTo>
                    <a:close/>
                    <a:moveTo>
                      <a:pt x="68" y="319"/>
                    </a:moveTo>
                    <a:cubicBezTo>
                      <a:pt x="63" y="320"/>
                      <a:pt x="58" y="317"/>
                      <a:pt x="58" y="312"/>
                    </a:cubicBezTo>
                    <a:cubicBezTo>
                      <a:pt x="57" y="307"/>
                      <a:pt x="60" y="303"/>
                      <a:pt x="65" y="302"/>
                    </a:cubicBezTo>
                    <a:cubicBezTo>
                      <a:pt x="69" y="301"/>
                      <a:pt x="74" y="304"/>
                      <a:pt x="75" y="309"/>
                    </a:cubicBezTo>
                    <a:cubicBezTo>
                      <a:pt x="76" y="314"/>
                      <a:pt x="72" y="318"/>
                      <a:pt x="68" y="319"/>
                    </a:cubicBezTo>
                    <a:close/>
                    <a:moveTo>
                      <a:pt x="81" y="164"/>
                    </a:moveTo>
                    <a:cubicBezTo>
                      <a:pt x="83" y="160"/>
                      <a:pt x="89" y="158"/>
                      <a:pt x="93" y="161"/>
                    </a:cubicBezTo>
                    <a:cubicBezTo>
                      <a:pt x="97" y="163"/>
                      <a:pt x="99" y="169"/>
                      <a:pt x="96" y="173"/>
                    </a:cubicBezTo>
                    <a:cubicBezTo>
                      <a:pt x="94" y="177"/>
                      <a:pt x="88" y="178"/>
                      <a:pt x="84" y="176"/>
                    </a:cubicBezTo>
                    <a:cubicBezTo>
                      <a:pt x="80" y="174"/>
                      <a:pt x="79" y="168"/>
                      <a:pt x="81" y="164"/>
                    </a:cubicBezTo>
                    <a:close/>
                    <a:moveTo>
                      <a:pt x="97" y="386"/>
                    </a:moveTo>
                    <a:cubicBezTo>
                      <a:pt x="93" y="389"/>
                      <a:pt x="87" y="387"/>
                      <a:pt x="85" y="383"/>
                    </a:cubicBezTo>
                    <a:cubicBezTo>
                      <a:pt x="82" y="379"/>
                      <a:pt x="84" y="373"/>
                      <a:pt x="88" y="371"/>
                    </a:cubicBezTo>
                    <a:cubicBezTo>
                      <a:pt x="92" y="368"/>
                      <a:pt x="98" y="370"/>
                      <a:pt x="100" y="374"/>
                    </a:cubicBezTo>
                    <a:cubicBezTo>
                      <a:pt x="102" y="378"/>
                      <a:pt x="101" y="384"/>
                      <a:pt x="97" y="386"/>
                    </a:cubicBezTo>
                    <a:close/>
                    <a:moveTo>
                      <a:pt x="147" y="439"/>
                    </a:moveTo>
                    <a:cubicBezTo>
                      <a:pt x="144" y="443"/>
                      <a:pt x="138" y="443"/>
                      <a:pt x="135" y="440"/>
                    </a:cubicBezTo>
                    <a:cubicBezTo>
                      <a:pt x="131" y="437"/>
                      <a:pt x="130" y="432"/>
                      <a:pt x="134" y="428"/>
                    </a:cubicBezTo>
                    <a:cubicBezTo>
                      <a:pt x="137" y="424"/>
                      <a:pt x="142" y="424"/>
                      <a:pt x="146" y="427"/>
                    </a:cubicBezTo>
                    <a:cubicBezTo>
                      <a:pt x="150" y="430"/>
                      <a:pt x="150" y="435"/>
                      <a:pt x="147" y="439"/>
                    </a:cubicBezTo>
                    <a:close/>
                    <a:moveTo>
                      <a:pt x="212" y="472"/>
                    </a:moveTo>
                    <a:cubicBezTo>
                      <a:pt x="211" y="476"/>
                      <a:pt x="206" y="479"/>
                      <a:pt x="201" y="477"/>
                    </a:cubicBezTo>
                    <a:cubicBezTo>
                      <a:pt x="197" y="475"/>
                      <a:pt x="194" y="470"/>
                      <a:pt x="196" y="466"/>
                    </a:cubicBezTo>
                    <a:cubicBezTo>
                      <a:pt x="198" y="461"/>
                      <a:pt x="203" y="459"/>
                      <a:pt x="207" y="461"/>
                    </a:cubicBezTo>
                    <a:cubicBezTo>
                      <a:pt x="212" y="462"/>
                      <a:pt x="214" y="467"/>
                      <a:pt x="212" y="472"/>
                    </a:cubicBezTo>
                    <a:close/>
                    <a:moveTo>
                      <a:pt x="276" y="489"/>
                    </a:moveTo>
                    <a:cubicBezTo>
                      <a:pt x="271" y="489"/>
                      <a:pt x="267" y="485"/>
                      <a:pt x="267" y="480"/>
                    </a:cubicBezTo>
                    <a:cubicBezTo>
                      <a:pt x="267" y="475"/>
                      <a:pt x="271" y="471"/>
                      <a:pt x="276" y="471"/>
                    </a:cubicBezTo>
                    <a:cubicBezTo>
                      <a:pt x="281" y="471"/>
                      <a:pt x="285" y="475"/>
                      <a:pt x="285" y="480"/>
                    </a:cubicBezTo>
                    <a:cubicBezTo>
                      <a:pt x="285" y="485"/>
                      <a:pt x="281" y="489"/>
                      <a:pt x="276" y="489"/>
                    </a:cubicBezTo>
                    <a:close/>
                    <a:moveTo>
                      <a:pt x="351" y="475"/>
                    </a:moveTo>
                    <a:cubicBezTo>
                      <a:pt x="346" y="476"/>
                      <a:pt x="341" y="474"/>
                      <a:pt x="340" y="469"/>
                    </a:cubicBezTo>
                    <a:cubicBezTo>
                      <a:pt x="338" y="465"/>
                      <a:pt x="340" y="460"/>
                      <a:pt x="345" y="458"/>
                    </a:cubicBezTo>
                    <a:cubicBezTo>
                      <a:pt x="349" y="456"/>
                      <a:pt x="354" y="459"/>
                      <a:pt x="356" y="463"/>
                    </a:cubicBezTo>
                    <a:cubicBezTo>
                      <a:pt x="358" y="468"/>
                      <a:pt x="355" y="473"/>
                      <a:pt x="351" y="475"/>
                    </a:cubicBezTo>
                    <a:close/>
                    <a:moveTo>
                      <a:pt x="416" y="435"/>
                    </a:moveTo>
                    <a:cubicBezTo>
                      <a:pt x="412" y="439"/>
                      <a:pt x="407" y="438"/>
                      <a:pt x="404" y="434"/>
                    </a:cubicBezTo>
                    <a:cubicBezTo>
                      <a:pt x="401" y="431"/>
                      <a:pt x="401" y="425"/>
                      <a:pt x="405" y="422"/>
                    </a:cubicBezTo>
                    <a:cubicBezTo>
                      <a:pt x="408" y="419"/>
                      <a:pt x="414" y="419"/>
                      <a:pt x="417" y="423"/>
                    </a:cubicBezTo>
                    <a:cubicBezTo>
                      <a:pt x="420" y="427"/>
                      <a:pt x="420" y="432"/>
                      <a:pt x="416" y="435"/>
                    </a:cubicBezTo>
                    <a:close/>
                    <a:moveTo>
                      <a:pt x="441" y="322"/>
                    </a:moveTo>
                    <a:cubicBezTo>
                      <a:pt x="413" y="317"/>
                      <a:pt x="413" y="317"/>
                      <a:pt x="413" y="317"/>
                    </a:cubicBezTo>
                    <a:cubicBezTo>
                      <a:pt x="412" y="320"/>
                      <a:pt x="411" y="322"/>
                      <a:pt x="410" y="325"/>
                    </a:cubicBezTo>
                    <a:cubicBezTo>
                      <a:pt x="435" y="339"/>
                      <a:pt x="435" y="339"/>
                      <a:pt x="435" y="339"/>
                    </a:cubicBezTo>
                    <a:cubicBezTo>
                      <a:pt x="413" y="376"/>
                      <a:pt x="413" y="376"/>
                      <a:pt x="413" y="376"/>
                    </a:cubicBezTo>
                    <a:cubicBezTo>
                      <a:pt x="389" y="362"/>
                      <a:pt x="389" y="362"/>
                      <a:pt x="389" y="362"/>
                    </a:cubicBezTo>
                    <a:cubicBezTo>
                      <a:pt x="387" y="364"/>
                      <a:pt x="385" y="367"/>
                      <a:pt x="383" y="369"/>
                    </a:cubicBezTo>
                    <a:cubicBezTo>
                      <a:pt x="401" y="391"/>
                      <a:pt x="401" y="391"/>
                      <a:pt x="401" y="391"/>
                    </a:cubicBezTo>
                    <a:cubicBezTo>
                      <a:pt x="369" y="418"/>
                      <a:pt x="369" y="418"/>
                      <a:pt x="369" y="418"/>
                    </a:cubicBezTo>
                    <a:cubicBezTo>
                      <a:pt x="350" y="396"/>
                      <a:pt x="350" y="396"/>
                      <a:pt x="350" y="396"/>
                    </a:cubicBezTo>
                    <a:cubicBezTo>
                      <a:pt x="348" y="398"/>
                      <a:pt x="345" y="399"/>
                      <a:pt x="343" y="401"/>
                    </a:cubicBezTo>
                    <a:cubicBezTo>
                      <a:pt x="352" y="427"/>
                      <a:pt x="352" y="427"/>
                      <a:pt x="352" y="427"/>
                    </a:cubicBezTo>
                    <a:cubicBezTo>
                      <a:pt x="312" y="442"/>
                      <a:pt x="312" y="442"/>
                      <a:pt x="312" y="442"/>
                    </a:cubicBezTo>
                    <a:cubicBezTo>
                      <a:pt x="303" y="416"/>
                      <a:pt x="303" y="416"/>
                      <a:pt x="303" y="416"/>
                    </a:cubicBezTo>
                    <a:cubicBezTo>
                      <a:pt x="300" y="416"/>
                      <a:pt x="297" y="417"/>
                      <a:pt x="294" y="417"/>
                    </a:cubicBezTo>
                    <a:cubicBezTo>
                      <a:pt x="294" y="445"/>
                      <a:pt x="294" y="445"/>
                      <a:pt x="294" y="445"/>
                    </a:cubicBezTo>
                    <a:cubicBezTo>
                      <a:pt x="251" y="445"/>
                      <a:pt x="251" y="445"/>
                      <a:pt x="251" y="445"/>
                    </a:cubicBezTo>
                    <a:cubicBezTo>
                      <a:pt x="251" y="417"/>
                      <a:pt x="251" y="417"/>
                      <a:pt x="251" y="417"/>
                    </a:cubicBezTo>
                    <a:cubicBezTo>
                      <a:pt x="248" y="417"/>
                      <a:pt x="245" y="416"/>
                      <a:pt x="242" y="416"/>
                    </a:cubicBezTo>
                    <a:cubicBezTo>
                      <a:pt x="233" y="442"/>
                      <a:pt x="233" y="442"/>
                      <a:pt x="233" y="442"/>
                    </a:cubicBezTo>
                    <a:cubicBezTo>
                      <a:pt x="192" y="427"/>
                      <a:pt x="192" y="427"/>
                      <a:pt x="192" y="427"/>
                    </a:cubicBezTo>
                    <a:cubicBezTo>
                      <a:pt x="202" y="401"/>
                      <a:pt x="202" y="401"/>
                      <a:pt x="202" y="401"/>
                    </a:cubicBezTo>
                    <a:cubicBezTo>
                      <a:pt x="199" y="399"/>
                      <a:pt x="197" y="398"/>
                      <a:pt x="194" y="396"/>
                    </a:cubicBezTo>
                    <a:cubicBezTo>
                      <a:pt x="176" y="418"/>
                      <a:pt x="176" y="418"/>
                      <a:pt x="176" y="418"/>
                    </a:cubicBezTo>
                    <a:cubicBezTo>
                      <a:pt x="143" y="391"/>
                      <a:pt x="143" y="391"/>
                      <a:pt x="143" y="391"/>
                    </a:cubicBezTo>
                    <a:cubicBezTo>
                      <a:pt x="162" y="369"/>
                      <a:pt x="162" y="369"/>
                      <a:pt x="162" y="369"/>
                    </a:cubicBezTo>
                    <a:cubicBezTo>
                      <a:pt x="160" y="367"/>
                      <a:pt x="158" y="364"/>
                      <a:pt x="156" y="362"/>
                    </a:cubicBezTo>
                    <a:cubicBezTo>
                      <a:pt x="131" y="376"/>
                      <a:pt x="131" y="376"/>
                      <a:pt x="131" y="376"/>
                    </a:cubicBezTo>
                    <a:cubicBezTo>
                      <a:pt x="110" y="339"/>
                      <a:pt x="110" y="339"/>
                      <a:pt x="110" y="339"/>
                    </a:cubicBezTo>
                    <a:cubicBezTo>
                      <a:pt x="135" y="325"/>
                      <a:pt x="135" y="325"/>
                      <a:pt x="135" y="325"/>
                    </a:cubicBezTo>
                    <a:cubicBezTo>
                      <a:pt x="133" y="322"/>
                      <a:pt x="132" y="320"/>
                      <a:pt x="132" y="317"/>
                    </a:cubicBezTo>
                    <a:cubicBezTo>
                      <a:pt x="104" y="322"/>
                      <a:pt x="104" y="322"/>
                      <a:pt x="104" y="322"/>
                    </a:cubicBezTo>
                    <a:cubicBezTo>
                      <a:pt x="96" y="280"/>
                      <a:pt x="96" y="280"/>
                      <a:pt x="96" y="280"/>
                    </a:cubicBezTo>
                    <a:cubicBezTo>
                      <a:pt x="124" y="275"/>
                      <a:pt x="124" y="275"/>
                      <a:pt x="124" y="275"/>
                    </a:cubicBezTo>
                    <a:cubicBezTo>
                      <a:pt x="124" y="273"/>
                      <a:pt x="124" y="272"/>
                      <a:pt x="124" y="270"/>
                    </a:cubicBezTo>
                    <a:cubicBezTo>
                      <a:pt x="124" y="269"/>
                      <a:pt x="124" y="267"/>
                      <a:pt x="124" y="266"/>
                    </a:cubicBezTo>
                    <a:cubicBezTo>
                      <a:pt x="96" y="261"/>
                      <a:pt x="96" y="261"/>
                      <a:pt x="96" y="261"/>
                    </a:cubicBezTo>
                    <a:cubicBezTo>
                      <a:pt x="104" y="219"/>
                      <a:pt x="104" y="219"/>
                      <a:pt x="104" y="219"/>
                    </a:cubicBezTo>
                    <a:cubicBezTo>
                      <a:pt x="132" y="224"/>
                      <a:pt x="132" y="224"/>
                      <a:pt x="132" y="224"/>
                    </a:cubicBezTo>
                    <a:cubicBezTo>
                      <a:pt x="132" y="221"/>
                      <a:pt x="133" y="218"/>
                      <a:pt x="135" y="215"/>
                    </a:cubicBezTo>
                    <a:cubicBezTo>
                      <a:pt x="110" y="201"/>
                      <a:pt x="110" y="201"/>
                      <a:pt x="110" y="201"/>
                    </a:cubicBezTo>
                    <a:cubicBezTo>
                      <a:pt x="131" y="164"/>
                      <a:pt x="131" y="164"/>
                      <a:pt x="131" y="164"/>
                    </a:cubicBezTo>
                    <a:cubicBezTo>
                      <a:pt x="156" y="178"/>
                      <a:pt x="156" y="178"/>
                      <a:pt x="156" y="178"/>
                    </a:cubicBezTo>
                    <a:cubicBezTo>
                      <a:pt x="158" y="176"/>
                      <a:pt x="160" y="174"/>
                      <a:pt x="162" y="171"/>
                    </a:cubicBezTo>
                    <a:cubicBezTo>
                      <a:pt x="143" y="150"/>
                      <a:pt x="143" y="150"/>
                      <a:pt x="143" y="150"/>
                    </a:cubicBezTo>
                    <a:cubicBezTo>
                      <a:pt x="176" y="122"/>
                      <a:pt x="176" y="122"/>
                      <a:pt x="176" y="122"/>
                    </a:cubicBezTo>
                    <a:cubicBezTo>
                      <a:pt x="194" y="144"/>
                      <a:pt x="194" y="144"/>
                      <a:pt x="194" y="144"/>
                    </a:cubicBezTo>
                    <a:cubicBezTo>
                      <a:pt x="197" y="142"/>
                      <a:pt x="199" y="141"/>
                      <a:pt x="202" y="139"/>
                    </a:cubicBezTo>
                    <a:cubicBezTo>
                      <a:pt x="192" y="113"/>
                      <a:pt x="192" y="113"/>
                      <a:pt x="192" y="113"/>
                    </a:cubicBezTo>
                    <a:cubicBezTo>
                      <a:pt x="233" y="98"/>
                      <a:pt x="233" y="98"/>
                      <a:pt x="233" y="98"/>
                    </a:cubicBezTo>
                    <a:cubicBezTo>
                      <a:pt x="242" y="125"/>
                      <a:pt x="242" y="125"/>
                      <a:pt x="242" y="125"/>
                    </a:cubicBezTo>
                    <a:cubicBezTo>
                      <a:pt x="245" y="124"/>
                      <a:pt x="248" y="124"/>
                      <a:pt x="251" y="123"/>
                    </a:cubicBezTo>
                    <a:cubicBezTo>
                      <a:pt x="251" y="95"/>
                      <a:pt x="251" y="95"/>
                      <a:pt x="251" y="95"/>
                    </a:cubicBezTo>
                    <a:cubicBezTo>
                      <a:pt x="294" y="95"/>
                      <a:pt x="294" y="95"/>
                      <a:pt x="294" y="95"/>
                    </a:cubicBezTo>
                    <a:cubicBezTo>
                      <a:pt x="294" y="123"/>
                      <a:pt x="294" y="123"/>
                      <a:pt x="294" y="123"/>
                    </a:cubicBezTo>
                    <a:cubicBezTo>
                      <a:pt x="297" y="124"/>
                      <a:pt x="300" y="124"/>
                      <a:pt x="303" y="125"/>
                    </a:cubicBezTo>
                    <a:cubicBezTo>
                      <a:pt x="312" y="98"/>
                      <a:pt x="312" y="98"/>
                      <a:pt x="312" y="98"/>
                    </a:cubicBezTo>
                    <a:cubicBezTo>
                      <a:pt x="352" y="113"/>
                      <a:pt x="352" y="113"/>
                      <a:pt x="352" y="113"/>
                    </a:cubicBezTo>
                    <a:cubicBezTo>
                      <a:pt x="343" y="139"/>
                      <a:pt x="343" y="139"/>
                      <a:pt x="343" y="139"/>
                    </a:cubicBezTo>
                    <a:cubicBezTo>
                      <a:pt x="345" y="141"/>
                      <a:pt x="348" y="142"/>
                      <a:pt x="350" y="144"/>
                    </a:cubicBezTo>
                    <a:cubicBezTo>
                      <a:pt x="369" y="122"/>
                      <a:pt x="369" y="122"/>
                      <a:pt x="369" y="122"/>
                    </a:cubicBezTo>
                    <a:cubicBezTo>
                      <a:pt x="401" y="150"/>
                      <a:pt x="401" y="150"/>
                      <a:pt x="401" y="150"/>
                    </a:cubicBezTo>
                    <a:cubicBezTo>
                      <a:pt x="383" y="171"/>
                      <a:pt x="383" y="171"/>
                      <a:pt x="383" y="171"/>
                    </a:cubicBezTo>
                    <a:cubicBezTo>
                      <a:pt x="385" y="174"/>
                      <a:pt x="387" y="176"/>
                      <a:pt x="389" y="178"/>
                    </a:cubicBezTo>
                    <a:cubicBezTo>
                      <a:pt x="413" y="164"/>
                      <a:pt x="413" y="164"/>
                      <a:pt x="413" y="164"/>
                    </a:cubicBezTo>
                    <a:cubicBezTo>
                      <a:pt x="435" y="201"/>
                      <a:pt x="435" y="201"/>
                      <a:pt x="435" y="201"/>
                    </a:cubicBezTo>
                    <a:cubicBezTo>
                      <a:pt x="410" y="215"/>
                      <a:pt x="410" y="215"/>
                      <a:pt x="410" y="215"/>
                    </a:cubicBezTo>
                    <a:cubicBezTo>
                      <a:pt x="411" y="218"/>
                      <a:pt x="412" y="221"/>
                      <a:pt x="413" y="224"/>
                    </a:cubicBezTo>
                    <a:cubicBezTo>
                      <a:pt x="441" y="219"/>
                      <a:pt x="441" y="219"/>
                      <a:pt x="441" y="219"/>
                    </a:cubicBezTo>
                    <a:cubicBezTo>
                      <a:pt x="449" y="261"/>
                      <a:pt x="449" y="261"/>
                      <a:pt x="449" y="261"/>
                    </a:cubicBezTo>
                    <a:cubicBezTo>
                      <a:pt x="421" y="266"/>
                      <a:pt x="421" y="266"/>
                      <a:pt x="421" y="266"/>
                    </a:cubicBezTo>
                    <a:cubicBezTo>
                      <a:pt x="421" y="267"/>
                      <a:pt x="421" y="269"/>
                      <a:pt x="421" y="270"/>
                    </a:cubicBezTo>
                    <a:cubicBezTo>
                      <a:pt x="421" y="272"/>
                      <a:pt x="421" y="273"/>
                      <a:pt x="421" y="275"/>
                    </a:cubicBezTo>
                    <a:cubicBezTo>
                      <a:pt x="449" y="280"/>
                      <a:pt x="449" y="280"/>
                      <a:pt x="449" y="280"/>
                    </a:cubicBezTo>
                    <a:lnTo>
                      <a:pt x="441" y="322"/>
                    </a:lnTo>
                    <a:close/>
                    <a:moveTo>
                      <a:pt x="464" y="376"/>
                    </a:moveTo>
                    <a:cubicBezTo>
                      <a:pt x="461" y="381"/>
                      <a:pt x="456" y="382"/>
                      <a:pt x="452" y="380"/>
                    </a:cubicBezTo>
                    <a:cubicBezTo>
                      <a:pt x="448" y="377"/>
                      <a:pt x="446" y="372"/>
                      <a:pt x="449" y="368"/>
                    </a:cubicBezTo>
                    <a:cubicBezTo>
                      <a:pt x="451" y="363"/>
                      <a:pt x="456" y="362"/>
                      <a:pt x="461" y="364"/>
                    </a:cubicBezTo>
                    <a:cubicBezTo>
                      <a:pt x="465" y="367"/>
                      <a:pt x="466" y="372"/>
                      <a:pt x="464" y="376"/>
                    </a:cubicBezTo>
                    <a:close/>
                    <a:moveTo>
                      <a:pt x="477" y="221"/>
                    </a:moveTo>
                    <a:cubicBezTo>
                      <a:pt x="482" y="220"/>
                      <a:pt x="486" y="224"/>
                      <a:pt x="487" y="228"/>
                    </a:cubicBezTo>
                    <a:cubicBezTo>
                      <a:pt x="488" y="233"/>
                      <a:pt x="485" y="238"/>
                      <a:pt x="480" y="239"/>
                    </a:cubicBezTo>
                    <a:cubicBezTo>
                      <a:pt x="475" y="239"/>
                      <a:pt x="471" y="236"/>
                      <a:pt x="470" y="231"/>
                    </a:cubicBezTo>
                    <a:cubicBezTo>
                      <a:pt x="469" y="227"/>
                      <a:pt x="472" y="222"/>
                      <a:pt x="477" y="221"/>
                    </a:cubicBezTo>
                    <a:close/>
                    <a:moveTo>
                      <a:pt x="489" y="304"/>
                    </a:moveTo>
                    <a:cubicBezTo>
                      <a:pt x="488" y="309"/>
                      <a:pt x="483" y="312"/>
                      <a:pt x="478" y="312"/>
                    </a:cubicBezTo>
                    <a:cubicBezTo>
                      <a:pt x="474" y="311"/>
                      <a:pt x="470" y="306"/>
                      <a:pt x="471" y="301"/>
                    </a:cubicBezTo>
                    <a:cubicBezTo>
                      <a:pt x="472" y="297"/>
                      <a:pt x="477" y="293"/>
                      <a:pt x="481" y="294"/>
                    </a:cubicBezTo>
                    <a:cubicBezTo>
                      <a:pt x="486" y="295"/>
                      <a:pt x="489" y="300"/>
                      <a:pt x="489" y="3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7" name="Freeform 24">
                <a:extLst>
                  <a:ext uri="{FF2B5EF4-FFF2-40B4-BE49-F238E27FC236}">
                    <a16:creationId xmlns:a16="http://schemas.microsoft.com/office/drawing/2014/main" id="{DDDCC6B9-94CB-F5FD-663D-8E705840A68B}"/>
                  </a:ext>
                </a:extLst>
              </p:cNvPr>
              <p:cNvSpPr>
                <a:spLocks noEditPoints="1"/>
              </p:cNvSpPr>
              <p:nvPr/>
            </p:nvSpPr>
            <p:spPr bwMode="auto">
              <a:xfrm>
                <a:off x="5517479" y="2719378"/>
                <a:ext cx="412211" cy="408770"/>
              </a:xfrm>
              <a:custGeom>
                <a:avLst/>
                <a:gdLst>
                  <a:gd name="T0" fmla="*/ 225 w 253"/>
                  <a:gd name="T1" fmla="*/ 86 h 251"/>
                  <a:gd name="T2" fmla="*/ 227 w 253"/>
                  <a:gd name="T3" fmla="*/ 49 h 251"/>
                  <a:gd name="T4" fmla="*/ 206 w 253"/>
                  <a:gd name="T5" fmla="*/ 54 h 251"/>
                  <a:gd name="T6" fmla="*/ 195 w 253"/>
                  <a:gd name="T7" fmla="*/ 19 h 251"/>
                  <a:gd name="T8" fmla="*/ 177 w 253"/>
                  <a:gd name="T9" fmla="*/ 32 h 251"/>
                  <a:gd name="T10" fmla="*/ 155 w 253"/>
                  <a:gd name="T11" fmla="*/ 2 h 251"/>
                  <a:gd name="T12" fmla="*/ 142 w 253"/>
                  <a:gd name="T13" fmla="*/ 20 h 251"/>
                  <a:gd name="T14" fmla="*/ 111 w 253"/>
                  <a:gd name="T15" fmla="*/ 0 h 251"/>
                  <a:gd name="T16" fmla="*/ 105 w 253"/>
                  <a:gd name="T17" fmla="*/ 21 h 251"/>
                  <a:gd name="T18" fmla="*/ 69 w 253"/>
                  <a:gd name="T19" fmla="*/ 12 h 251"/>
                  <a:gd name="T20" fmla="*/ 71 w 253"/>
                  <a:gd name="T21" fmla="*/ 35 h 251"/>
                  <a:gd name="T22" fmla="*/ 34 w 253"/>
                  <a:gd name="T23" fmla="*/ 39 h 251"/>
                  <a:gd name="T24" fmla="*/ 43 w 253"/>
                  <a:gd name="T25" fmla="*/ 59 h 251"/>
                  <a:gd name="T26" fmla="*/ 10 w 253"/>
                  <a:gd name="T27" fmla="*/ 76 h 251"/>
                  <a:gd name="T28" fmla="*/ 25 w 253"/>
                  <a:gd name="T29" fmla="*/ 92 h 251"/>
                  <a:gd name="T30" fmla="*/ 0 w 253"/>
                  <a:gd name="T31" fmla="*/ 118 h 251"/>
                  <a:gd name="T32" fmla="*/ 20 w 253"/>
                  <a:gd name="T33" fmla="*/ 125 h 251"/>
                  <a:gd name="T34" fmla="*/ 0 w 253"/>
                  <a:gd name="T35" fmla="*/ 132 h 251"/>
                  <a:gd name="T36" fmla="*/ 25 w 253"/>
                  <a:gd name="T37" fmla="*/ 159 h 251"/>
                  <a:gd name="T38" fmla="*/ 10 w 253"/>
                  <a:gd name="T39" fmla="*/ 175 h 251"/>
                  <a:gd name="T40" fmla="*/ 43 w 253"/>
                  <a:gd name="T41" fmla="*/ 191 h 251"/>
                  <a:gd name="T42" fmla="*/ 34 w 253"/>
                  <a:gd name="T43" fmla="*/ 212 h 251"/>
                  <a:gd name="T44" fmla="*/ 71 w 253"/>
                  <a:gd name="T45" fmla="*/ 216 h 251"/>
                  <a:gd name="T46" fmla="*/ 69 w 253"/>
                  <a:gd name="T47" fmla="*/ 238 h 251"/>
                  <a:gd name="T48" fmla="*/ 105 w 253"/>
                  <a:gd name="T49" fmla="*/ 229 h 251"/>
                  <a:gd name="T50" fmla="*/ 111 w 253"/>
                  <a:gd name="T51" fmla="*/ 251 h 251"/>
                  <a:gd name="T52" fmla="*/ 142 w 253"/>
                  <a:gd name="T53" fmla="*/ 230 h 251"/>
                  <a:gd name="T54" fmla="*/ 155 w 253"/>
                  <a:gd name="T55" fmla="*/ 248 h 251"/>
                  <a:gd name="T56" fmla="*/ 177 w 253"/>
                  <a:gd name="T57" fmla="*/ 219 h 251"/>
                  <a:gd name="T58" fmla="*/ 195 w 253"/>
                  <a:gd name="T59" fmla="*/ 231 h 251"/>
                  <a:gd name="T60" fmla="*/ 206 w 253"/>
                  <a:gd name="T61" fmla="*/ 196 h 251"/>
                  <a:gd name="T62" fmla="*/ 227 w 253"/>
                  <a:gd name="T63" fmla="*/ 201 h 251"/>
                  <a:gd name="T64" fmla="*/ 225 w 253"/>
                  <a:gd name="T65" fmla="*/ 165 h 251"/>
                  <a:gd name="T66" fmla="*/ 247 w 253"/>
                  <a:gd name="T67" fmla="*/ 162 h 251"/>
                  <a:gd name="T68" fmla="*/ 233 w 253"/>
                  <a:gd name="T69" fmla="*/ 128 h 251"/>
                  <a:gd name="T70" fmla="*/ 233 w 253"/>
                  <a:gd name="T71" fmla="*/ 122 h 251"/>
                  <a:gd name="T72" fmla="*/ 247 w 253"/>
                  <a:gd name="T73" fmla="*/ 88 h 251"/>
                  <a:gd name="T74" fmla="*/ 213 w 253"/>
                  <a:gd name="T75" fmla="*/ 125 h 251"/>
                  <a:gd name="T76" fmla="*/ 40 w 253"/>
                  <a:gd name="T77" fmla="*/ 125 h 251"/>
                  <a:gd name="T78" fmla="*/ 213 w 253"/>
                  <a:gd name="T79" fmla="*/ 125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3" h="251">
                    <a:moveTo>
                      <a:pt x="227" y="92"/>
                    </a:moveTo>
                    <a:cubicBezTo>
                      <a:pt x="227" y="90"/>
                      <a:pt x="226" y="88"/>
                      <a:pt x="225" y="86"/>
                    </a:cubicBezTo>
                    <a:cubicBezTo>
                      <a:pt x="243" y="76"/>
                      <a:pt x="243" y="76"/>
                      <a:pt x="243" y="76"/>
                    </a:cubicBezTo>
                    <a:cubicBezTo>
                      <a:pt x="227" y="49"/>
                      <a:pt x="227" y="49"/>
                      <a:pt x="227" y="49"/>
                    </a:cubicBezTo>
                    <a:cubicBezTo>
                      <a:pt x="210" y="59"/>
                      <a:pt x="210" y="59"/>
                      <a:pt x="210" y="59"/>
                    </a:cubicBezTo>
                    <a:cubicBezTo>
                      <a:pt x="209" y="58"/>
                      <a:pt x="207" y="56"/>
                      <a:pt x="206" y="54"/>
                    </a:cubicBezTo>
                    <a:cubicBezTo>
                      <a:pt x="219" y="39"/>
                      <a:pt x="219" y="39"/>
                      <a:pt x="219" y="39"/>
                    </a:cubicBezTo>
                    <a:cubicBezTo>
                      <a:pt x="195" y="19"/>
                      <a:pt x="195" y="19"/>
                      <a:pt x="195" y="19"/>
                    </a:cubicBezTo>
                    <a:cubicBezTo>
                      <a:pt x="182" y="35"/>
                      <a:pt x="182" y="35"/>
                      <a:pt x="182" y="35"/>
                    </a:cubicBezTo>
                    <a:cubicBezTo>
                      <a:pt x="181" y="34"/>
                      <a:pt x="179" y="33"/>
                      <a:pt x="177" y="32"/>
                    </a:cubicBezTo>
                    <a:cubicBezTo>
                      <a:pt x="184" y="12"/>
                      <a:pt x="184" y="12"/>
                      <a:pt x="184" y="12"/>
                    </a:cubicBezTo>
                    <a:cubicBezTo>
                      <a:pt x="155" y="2"/>
                      <a:pt x="155" y="2"/>
                      <a:pt x="155" y="2"/>
                    </a:cubicBezTo>
                    <a:cubicBezTo>
                      <a:pt x="148" y="21"/>
                      <a:pt x="148" y="21"/>
                      <a:pt x="148" y="21"/>
                    </a:cubicBezTo>
                    <a:cubicBezTo>
                      <a:pt x="146" y="21"/>
                      <a:pt x="144" y="20"/>
                      <a:pt x="142" y="20"/>
                    </a:cubicBezTo>
                    <a:cubicBezTo>
                      <a:pt x="142" y="0"/>
                      <a:pt x="142" y="0"/>
                      <a:pt x="142" y="0"/>
                    </a:cubicBezTo>
                    <a:cubicBezTo>
                      <a:pt x="111" y="0"/>
                      <a:pt x="111" y="0"/>
                      <a:pt x="111" y="0"/>
                    </a:cubicBezTo>
                    <a:cubicBezTo>
                      <a:pt x="111" y="20"/>
                      <a:pt x="111" y="20"/>
                      <a:pt x="111" y="20"/>
                    </a:cubicBezTo>
                    <a:cubicBezTo>
                      <a:pt x="109" y="20"/>
                      <a:pt x="107" y="21"/>
                      <a:pt x="105" y="21"/>
                    </a:cubicBezTo>
                    <a:cubicBezTo>
                      <a:pt x="98" y="2"/>
                      <a:pt x="98" y="2"/>
                      <a:pt x="98" y="2"/>
                    </a:cubicBezTo>
                    <a:cubicBezTo>
                      <a:pt x="69" y="12"/>
                      <a:pt x="69" y="12"/>
                      <a:pt x="69" y="12"/>
                    </a:cubicBezTo>
                    <a:cubicBezTo>
                      <a:pt x="76" y="32"/>
                      <a:pt x="76" y="32"/>
                      <a:pt x="76" y="32"/>
                    </a:cubicBezTo>
                    <a:cubicBezTo>
                      <a:pt x="74" y="33"/>
                      <a:pt x="72" y="34"/>
                      <a:pt x="71" y="35"/>
                    </a:cubicBezTo>
                    <a:cubicBezTo>
                      <a:pt x="57" y="19"/>
                      <a:pt x="57" y="19"/>
                      <a:pt x="57" y="19"/>
                    </a:cubicBezTo>
                    <a:cubicBezTo>
                      <a:pt x="34" y="39"/>
                      <a:pt x="34" y="39"/>
                      <a:pt x="34" y="39"/>
                    </a:cubicBezTo>
                    <a:cubicBezTo>
                      <a:pt x="47" y="54"/>
                      <a:pt x="47" y="54"/>
                      <a:pt x="47" y="54"/>
                    </a:cubicBezTo>
                    <a:cubicBezTo>
                      <a:pt x="46" y="56"/>
                      <a:pt x="44" y="58"/>
                      <a:pt x="43" y="59"/>
                    </a:cubicBezTo>
                    <a:cubicBezTo>
                      <a:pt x="25" y="49"/>
                      <a:pt x="25" y="49"/>
                      <a:pt x="25" y="49"/>
                    </a:cubicBezTo>
                    <a:cubicBezTo>
                      <a:pt x="10" y="76"/>
                      <a:pt x="10" y="76"/>
                      <a:pt x="10" y="76"/>
                    </a:cubicBezTo>
                    <a:cubicBezTo>
                      <a:pt x="28" y="86"/>
                      <a:pt x="28" y="86"/>
                      <a:pt x="28" y="86"/>
                    </a:cubicBezTo>
                    <a:cubicBezTo>
                      <a:pt x="27" y="88"/>
                      <a:pt x="26" y="90"/>
                      <a:pt x="25" y="92"/>
                    </a:cubicBezTo>
                    <a:cubicBezTo>
                      <a:pt x="5" y="88"/>
                      <a:pt x="5" y="88"/>
                      <a:pt x="5" y="88"/>
                    </a:cubicBezTo>
                    <a:cubicBezTo>
                      <a:pt x="0" y="118"/>
                      <a:pt x="0" y="118"/>
                      <a:pt x="0" y="118"/>
                    </a:cubicBezTo>
                    <a:cubicBezTo>
                      <a:pt x="20" y="122"/>
                      <a:pt x="20" y="122"/>
                      <a:pt x="20" y="122"/>
                    </a:cubicBezTo>
                    <a:cubicBezTo>
                      <a:pt x="20" y="123"/>
                      <a:pt x="20" y="124"/>
                      <a:pt x="20" y="125"/>
                    </a:cubicBezTo>
                    <a:cubicBezTo>
                      <a:pt x="20" y="126"/>
                      <a:pt x="20" y="127"/>
                      <a:pt x="20" y="128"/>
                    </a:cubicBezTo>
                    <a:cubicBezTo>
                      <a:pt x="0" y="132"/>
                      <a:pt x="0" y="132"/>
                      <a:pt x="0" y="132"/>
                    </a:cubicBezTo>
                    <a:cubicBezTo>
                      <a:pt x="5" y="162"/>
                      <a:pt x="5" y="162"/>
                      <a:pt x="5" y="162"/>
                    </a:cubicBezTo>
                    <a:cubicBezTo>
                      <a:pt x="25" y="159"/>
                      <a:pt x="25" y="159"/>
                      <a:pt x="25" y="159"/>
                    </a:cubicBezTo>
                    <a:cubicBezTo>
                      <a:pt x="26" y="161"/>
                      <a:pt x="27" y="163"/>
                      <a:pt x="28" y="165"/>
                    </a:cubicBezTo>
                    <a:cubicBezTo>
                      <a:pt x="10" y="175"/>
                      <a:pt x="10" y="175"/>
                      <a:pt x="10" y="175"/>
                    </a:cubicBezTo>
                    <a:cubicBezTo>
                      <a:pt x="25" y="201"/>
                      <a:pt x="25" y="201"/>
                      <a:pt x="25" y="201"/>
                    </a:cubicBezTo>
                    <a:cubicBezTo>
                      <a:pt x="43" y="191"/>
                      <a:pt x="43" y="191"/>
                      <a:pt x="43" y="191"/>
                    </a:cubicBezTo>
                    <a:cubicBezTo>
                      <a:pt x="44" y="193"/>
                      <a:pt x="46" y="194"/>
                      <a:pt x="47" y="196"/>
                    </a:cubicBezTo>
                    <a:cubicBezTo>
                      <a:pt x="34" y="212"/>
                      <a:pt x="34" y="212"/>
                      <a:pt x="34" y="212"/>
                    </a:cubicBezTo>
                    <a:cubicBezTo>
                      <a:pt x="57" y="231"/>
                      <a:pt x="57" y="231"/>
                      <a:pt x="57" y="231"/>
                    </a:cubicBezTo>
                    <a:cubicBezTo>
                      <a:pt x="71" y="216"/>
                      <a:pt x="71" y="216"/>
                      <a:pt x="71" y="216"/>
                    </a:cubicBezTo>
                    <a:cubicBezTo>
                      <a:pt x="72" y="217"/>
                      <a:pt x="74" y="218"/>
                      <a:pt x="76" y="219"/>
                    </a:cubicBezTo>
                    <a:cubicBezTo>
                      <a:pt x="69" y="238"/>
                      <a:pt x="69" y="238"/>
                      <a:pt x="69" y="238"/>
                    </a:cubicBezTo>
                    <a:cubicBezTo>
                      <a:pt x="98" y="248"/>
                      <a:pt x="98" y="248"/>
                      <a:pt x="98" y="248"/>
                    </a:cubicBezTo>
                    <a:cubicBezTo>
                      <a:pt x="105" y="229"/>
                      <a:pt x="105" y="229"/>
                      <a:pt x="105" y="229"/>
                    </a:cubicBezTo>
                    <a:cubicBezTo>
                      <a:pt x="107" y="230"/>
                      <a:pt x="109" y="230"/>
                      <a:pt x="111" y="230"/>
                    </a:cubicBezTo>
                    <a:cubicBezTo>
                      <a:pt x="111" y="251"/>
                      <a:pt x="111" y="251"/>
                      <a:pt x="111" y="251"/>
                    </a:cubicBezTo>
                    <a:cubicBezTo>
                      <a:pt x="142" y="251"/>
                      <a:pt x="142" y="251"/>
                      <a:pt x="142" y="251"/>
                    </a:cubicBezTo>
                    <a:cubicBezTo>
                      <a:pt x="142" y="230"/>
                      <a:pt x="142" y="230"/>
                      <a:pt x="142" y="230"/>
                    </a:cubicBezTo>
                    <a:cubicBezTo>
                      <a:pt x="144" y="230"/>
                      <a:pt x="146" y="230"/>
                      <a:pt x="148" y="229"/>
                    </a:cubicBezTo>
                    <a:cubicBezTo>
                      <a:pt x="155" y="248"/>
                      <a:pt x="155" y="248"/>
                      <a:pt x="155" y="248"/>
                    </a:cubicBezTo>
                    <a:cubicBezTo>
                      <a:pt x="184" y="238"/>
                      <a:pt x="184" y="238"/>
                      <a:pt x="184" y="238"/>
                    </a:cubicBezTo>
                    <a:cubicBezTo>
                      <a:pt x="177" y="219"/>
                      <a:pt x="177" y="219"/>
                      <a:pt x="177" y="219"/>
                    </a:cubicBezTo>
                    <a:cubicBezTo>
                      <a:pt x="179" y="218"/>
                      <a:pt x="181" y="217"/>
                      <a:pt x="182" y="216"/>
                    </a:cubicBezTo>
                    <a:cubicBezTo>
                      <a:pt x="195" y="231"/>
                      <a:pt x="195" y="231"/>
                      <a:pt x="195" y="231"/>
                    </a:cubicBezTo>
                    <a:cubicBezTo>
                      <a:pt x="219" y="211"/>
                      <a:pt x="219" y="211"/>
                      <a:pt x="219" y="211"/>
                    </a:cubicBezTo>
                    <a:cubicBezTo>
                      <a:pt x="206" y="196"/>
                      <a:pt x="206" y="196"/>
                      <a:pt x="206" y="196"/>
                    </a:cubicBezTo>
                    <a:cubicBezTo>
                      <a:pt x="207" y="194"/>
                      <a:pt x="209" y="193"/>
                      <a:pt x="210" y="191"/>
                    </a:cubicBezTo>
                    <a:cubicBezTo>
                      <a:pt x="227" y="201"/>
                      <a:pt x="227" y="201"/>
                      <a:pt x="227" y="201"/>
                    </a:cubicBezTo>
                    <a:cubicBezTo>
                      <a:pt x="243" y="175"/>
                      <a:pt x="243" y="175"/>
                      <a:pt x="243" y="175"/>
                    </a:cubicBezTo>
                    <a:cubicBezTo>
                      <a:pt x="225" y="165"/>
                      <a:pt x="225" y="165"/>
                      <a:pt x="225" y="165"/>
                    </a:cubicBezTo>
                    <a:cubicBezTo>
                      <a:pt x="226" y="163"/>
                      <a:pt x="227" y="161"/>
                      <a:pt x="227" y="159"/>
                    </a:cubicBezTo>
                    <a:cubicBezTo>
                      <a:pt x="247" y="162"/>
                      <a:pt x="247" y="162"/>
                      <a:pt x="247" y="162"/>
                    </a:cubicBezTo>
                    <a:cubicBezTo>
                      <a:pt x="253" y="132"/>
                      <a:pt x="253" y="132"/>
                      <a:pt x="253" y="132"/>
                    </a:cubicBezTo>
                    <a:cubicBezTo>
                      <a:pt x="233" y="128"/>
                      <a:pt x="233" y="128"/>
                      <a:pt x="233" y="128"/>
                    </a:cubicBezTo>
                    <a:cubicBezTo>
                      <a:pt x="233" y="127"/>
                      <a:pt x="233" y="126"/>
                      <a:pt x="233" y="125"/>
                    </a:cubicBezTo>
                    <a:cubicBezTo>
                      <a:pt x="233" y="124"/>
                      <a:pt x="233" y="123"/>
                      <a:pt x="233" y="122"/>
                    </a:cubicBezTo>
                    <a:cubicBezTo>
                      <a:pt x="253" y="118"/>
                      <a:pt x="253" y="118"/>
                      <a:pt x="253" y="118"/>
                    </a:cubicBezTo>
                    <a:cubicBezTo>
                      <a:pt x="247" y="88"/>
                      <a:pt x="247" y="88"/>
                      <a:pt x="247" y="88"/>
                    </a:cubicBezTo>
                    <a:lnTo>
                      <a:pt x="227" y="92"/>
                    </a:lnTo>
                    <a:close/>
                    <a:moveTo>
                      <a:pt x="213" y="125"/>
                    </a:moveTo>
                    <a:cubicBezTo>
                      <a:pt x="213" y="173"/>
                      <a:pt x="174" y="212"/>
                      <a:pt x="126" y="212"/>
                    </a:cubicBezTo>
                    <a:cubicBezTo>
                      <a:pt x="79" y="212"/>
                      <a:pt x="40" y="173"/>
                      <a:pt x="40" y="125"/>
                    </a:cubicBezTo>
                    <a:cubicBezTo>
                      <a:pt x="40" y="77"/>
                      <a:pt x="79" y="39"/>
                      <a:pt x="126" y="39"/>
                    </a:cubicBezTo>
                    <a:cubicBezTo>
                      <a:pt x="174" y="39"/>
                      <a:pt x="213" y="77"/>
                      <a:pt x="213"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21" name="Freeform 30">
              <a:extLst>
                <a:ext uri="{FF2B5EF4-FFF2-40B4-BE49-F238E27FC236}">
                  <a16:creationId xmlns:a16="http://schemas.microsoft.com/office/drawing/2014/main" id="{F0A3358B-AE61-4FB7-3727-819B7E79B414}"/>
                </a:ext>
              </a:extLst>
            </p:cNvPr>
            <p:cNvSpPr>
              <a:spLocks noEditPoints="1"/>
            </p:cNvSpPr>
            <p:nvPr/>
          </p:nvSpPr>
          <p:spPr bwMode="auto">
            <a:xfrm>
              <a:off x="4426202" y="2492577"/>
              <a:ext cx="727390" cy="722573"/>
            </a:xfrm>
            <a:custGeom>
              <a:avLst/>
              <a:gdLst>
                <a:gd name="T0" fmla="*/ 447 w 447"/>
                <a:gd name="T1" fmla="*/ 210 h 444"/>
                <a:gd name="T2" fmla="*/ 398 w 447"/>
                <a:gd name="T3" fmla="*/ 152 h 444"/>
                <a:gd name="T4" fmla="*/ 371 w 447"/>
                <a:gd name="T5" fmla="*/ 105 h 444"/>
                <a:gd name="T6" fmla="*/ 345 w 447"/>
                <a:gd name="T7" fmla="*/ 34 h 444"/>
                <a:gd name="T8" fmla="*/ 325 w 447"/>
                <a:gd name="T9" fmla="*/ 23 h 444"/>
                <a:gd name="T10" fmla="*/ 250 w 447"/>
                <a:gd name="T11" fmla="*/ 36 h 444"/>
                <a:gd name="T12" fmla="*/ 196 w 447"/>
                <a:gd name="T13" fmla="*/ 36 h 444"/>
                <a:gd name="T14" fmla="*/ 122 w 447"/>
                <a:gd name="T15" fmla="*/ 23 h 444"/>
                <a:gd name="T16" fmla="*/ 101 w 447"/>
                <a:gd name="T17" fmla="*/ 34 h 444"/>
                <a:gd name="T18" fmla="*/ 76 w 447"/>
                <a:gd name="T19" fmla="*/ 105 h 444"/>
                <a:gd name="T20" fmla="*/ 49 w 447"/>
                <a:gd name="T21" fmla="*/ 152 h 444"/>
                <a:gd name="T22" fmla="*/ 0 w 447"/>
                <a:gd name="T23" fmla="*/ 210 h 444"/>
                <a:gd name="T24" fmla="*/ 35 w 447"/>
                <a:gd name="T25" fmla="*/ 227 h 444"/>
                <a:gd name="T26" fmla="*/ 45 w 447"/>
                <a:gd name="T27" fmla="*/ 281 h 444"/>
                <a:gd name="T28" fmla="*/ 45 w 447"/>
                <a:gd name="T29" fmla="*/ 356 h 444"/>
                <a:gd name="T30" fmla="*/ 60 w 447"/>
                <a:gd name="T31" fmla="*/ 374 h 444"/>
                <a:gd name="T32" fmla="*/ 134 w 447"/>
                <a:gd name="T33" fmla="*/ 387 h 444"/>
                <a:gd name="T34" fmla="*/ 185 w 447"/>
                <a:gd name="T35" fmla="*/ 406 h 444"/>
                <a:gd name="T36" fmla="*/ 250 w 447"/>
                <a:gd name="T37" fmla="*/ 444 h 444"/>
                <a:gd name="T38" fmla="*/ 274 w 447"/>
                <a:gd name="T39" fmla="*/ 440 h 444"/>
                <a:gd name="T40" fmla="*/ 322 w 447"/>
                <a:gd name="T41" fmla="*/ 382 h 444"/>
                <a:gd name="T42" fmla="*/ 364 w 447"/>
                <a:gd name="T43" fmla="*/ 347 h 444"/>
                <a:gd name="T44" fmla="*/ 429 w 447"/>
                <a:gd name="T45" fmla="*/ 309 h 444"/>
                <a:gd name="T46" fmla="*/ 437 w 447"/>
                <a:gd name="T47" fmla="*/ 287 h 444"/>
                <a:gd name="T48" fmla="*/ 411 w 447"/>
                <a:gd name="T49" fmla="*/ 222 h 444"/>
                <a:gd name="T50" fmla="*/ 344 w 447"/>
                <a:gd name="T51" fmla="*/ 136 h 444"/>
                <a:gd name="T52" fmla="*/ 209 w 447"/>
                <a:gd name="T53" fmla="*/ 56 h 444"/>
                <a:gd name="T54" fmla="*/ 87 w 447"/>
                <a:gd name="T55" fmla="*/ 127 h 444"/>
                <a:gd name="T56" fmla="*/ 57 w 447"/>
                <a:gd name="T57" fmla="*/ 222 h 444"/>
                <a:gd name="T58" fmla="*/ 75 w 447"/>
                <a:gd name="T59" fmla="*/ 222 h 444"/>
                <a:gd name="T60" fmla="*/ 209 w 447"/>
                <a:gd name="T61" fmla="*/ 388 h 444"/>
                <a:gd name="T62" fmla="*/ 209 w 447"/>
                <a:gd name="T63" fmla="*/ 369 h 444"/>
                <a:gd name="T64" fmla="*/ 209 w 447"/>
                <a:gd name="T65" fmla="*/ 336 h 444"/>
                <a:gd name="T66" fmla="*/ 197 w 447"/>
                <a:gd name="T67" fmla="*/ 334 h 444"/>
                <a:gd name="T68" fmla="*/ 172 w 447"/>
                <a:gd name="T69" fmla="*/ 304 h 444"/>
                <a:gd name="T70" fmla="*/ 151 w 447"/>
                <a:gd name="T71" fmla="*/ 286 h 444"/>
                <a:gd name="T72" fmla="*/ 117 w 447"/>
                <a:gd name="T73" fmla="*/ 267 h 444"/>
                <a:gd name="T74" fmla="*/ 113 w 447"/>
                <a:gd name="T75" fmla="*/ 256 h 444"/>
                <a:gd name="T76" fmla="*/ 126 w 447"/>
                <a:gd name="T77" fmla="*/ 222 h 444"/>
                <a:gd name="T78" fmla="*/ 113 w 447"/>
                <a:gd name="T79" fmla="*/ 188 h 444"/>
                <a:gd name="T80" fmla="*/ 117 w 447"/>
                <a:gd name="T81" fmla="*/ 177 h 444"/>
                <a:gd name="T82" fmla="*/ 151 w 447"/>
                <a:gd name="T83" fmla="*/ 157 h 444"/>
                <a:gd name="T84" fmla="*/ 172 w 447"/>
                <a:gd name="T85" fmla="*/ 139 h 444"/>
                <a:gd name="T86" fmla="*/ 197 w 447"/>
                <a:gd name="T87" fmla="*/ 109 h 444"/>
                <a:gd name="T88" fmla="*/ 209 w 447"/>
                <a:gd name="T89" fmla="*/ 107 h 444"/>
                <a:gd name="T90" fmla="*/ 243 w 447"/>
                <a:gd name="T91" fmla="*/ 127 h 444"/>
                <a:gd name="T92" fmla="*/ 269 w 447"/>
                <a:gd name="T93" fmla="*/ 136 h 444"/>
                <a:gd name="T94" fmla="*/ 308 w 447"/>
                <a:gd name="T95" fmla="*/ 143 h 444"/>
                <a:gd name="T96" fmla="*/ 316 w 447"/>
                <a:gd name="T97" fmla="*/ 152 h 444"/>
                <a:gd name="T98" fmla="*/ 316 w 447"/>
                <a:gd name="T99" fmla="*/ 191 h 444"/>
                <a:gd name="T100" fmla="*/ 320 w 447"/>
                <a:gd name="T101" fmla="*/ 219 h 444"/>
                <a:gd name="T102" fmla="*/ 339 w 447"/>
                <a:gd name="T103" fmla="*/ 228 h 444"/>
                <a:gd name="T104" fmla="*/ 314 w 447"/>
                <a:gd name="T105" fmla="*/ 258 h 444"/>
                <a:gd name="T106" fmla="*/ 300 w 447"/>
                <a:gd name="T107" fmla="*/ 282 h 444"/>
                <a:gd name="T108" fmla="*/ 286 w 447"/>
                <a:gd name="T109" fmla="*/ 319 h 444"/>
                <a:gd name="T110" fmla="*/ 276 w 447"/>
                <a:gd name="T111" fmla="*/ 325 h 444"/>
                <a:gd name="T112" fmla="*/ 237 w 447"/>
                <a:gd name="T113" fmla="*/ 318 h 444"/>
                <a:gd name="T114" fmla="*/ 238 w 447"/>
                <a:gd name="T115" fmla="*/ 369 h 444"/>
                <a:gd name="T116" fmla="*/ 238 w 447"/>
                <a:gd name="T117" fmla="*/ 388 h 444"/>
                <a:gd name="T118" fmla="*/ 371 w 447"/>
                <a:gd name="T119" fmla="*/ 222 h 444"/>
                <a:gd name="T120" fmla="*/ 390 w 447"/>
                <a:gd name="T121" fmla="*/ 222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47" h="444">
                  <a:moveTo>
                    <a:pt x="411" y="222"/>
                  </a:moveTo>
                  <a:cubicBezTo>
                    <a:pt x="411" y="220"/>
                    <a:pt x="411" y="218"/>
                    <a:pt x="411" y="216"/>
                  </a:cubicBezTo>
                  <a:cubicBezTo>
                    <a:pt x="447" y="210"/>
                    <a:pt x="447" y="210"/>
                    <a:pt x="447" y="210"/>
                  </a:cubicBezTo>
                  <a:cubicBezTo>
                    <a:pt x="437" y="157"/>
                    <a:pt x="437" y="157"/>
                    <a:pt x="437" y="157"/>
                  </a:cubicBezTo>
                  <a:cubicBezTo>
                    <a:pt x="402" y="163"/>
                    <a:pt x="402" y="163"/>
                    <a:pt x="402" y="163"/>
                  </a:cubicBezTo>
                  <a:cubicBezTo>
                    <a:pt x="401" y="159"/>
                    <a:pt x="399" y="156"/>
                    <a:pt x="398" y="152"/>
                  </a:cubicBezTo>
                  <a:cubicBezTo>
                    <a:pt x="429" y="134"/>
                    <a:pt x="429" y="134"/>
                    <a:pt x="429" y="134"/>
                  </a:cubicBezTo>
                  <a:cubicBezTo>
                    <a:pt x="402" y="87"/>
                    <a:pt x="402" y="87"/>
                    <a:pt x="402" y="87"/>
                  </a:cubicBezTo>
                  <a:cubicBezTo>
                    <a:pt x="371" y="105"/>
                    <a:pt x="371" y="105"/>
                    <a:pt x="371" y="105"/>
                  </a:cubicBezTo>
                  <a:cubicBezTo>
                    <a:pt x="369" y="102"/>
                    <a:pt x="366" y="100"/>
                    <a:pt x="364" y="97"/>
                  </a:cubicBezTo>
                  <a:cubicBezTo>
                    <a:pt x="387" y="69"/>
                    <a:pt x="387" y="69"/>
                    <a:pt x="387" y="69"/>
                  </a:cubicBezTo>
                  <a:cubicBezTo>
                    <a:pt x="345" y="34"/>
                    <a:pt x="345" y="34"/>
                    <a:pt x="345" y="34"/>
                  </a:cubicBezTo>
                  <a:cubicBezTo>
                    <a:pt x="322" y="62"/>
                    <a:pt x="322" y="62"/>
                    <a:pt x="322" y="62"/>
                  </a:cubicBezTo>
                  <a:cubicBezTo>
                    <a:pt x="319" y="60"/>
                    <a:pt x="316" y="58"/>
                    <a:pt x="312" y="56"/>
                  </a:cubicBezTo>
                  <a:cubicBezTo>
                    <a:pt x="325" y="23"/>
                    <a:pt x="325" y="23"/>
                    <a:pt x="325" y="23"/>
                  </a:cubicBezTo>
                  <a:cubicBezTo>
                    <a:pt x="274" y="4"/>
                    <a:pt x="274" y="4"/>
                    <a:pt x="274" y="4"/>
                  </a:cubicBezTo>
                  <a:cubicBezTo>
                    <a:pt x="261" y="38"/>
                    <a:pt x="261" y="38"/>
                    <a:pt x="261" y="38"/>
                  </a:cubicBezTo>
                  <a:cubicBezTo>
                    <a:pt x="258" y="37"/>
                    <a:pt x="254" y="36"/>
                    <a:pt x="250" y="36"/>
                  </a:cubicBezTo>
                  <a:cubicBezTo>
                    <a:pt x="250" y="0"/>
                    <a:pt x="250" y="0"/>
                    <a:pt x="250" y="0"/>
                  </a:cubicBezTo>
                  <a:cubicBezTo>
                    <a:pt x="196" y="0"/>
                    <a:pt x="196" y="0"/>
                    <a:pt x="196" y="0"/>
                  </a:cubicBezTo>
                  <a:cubicBezTo>
                    <a:pt x="196" y="36"/>
                    <a:pt x="196" y="36"/>
                    <a:pt x="196" y="36"/>
                  </a:cubicBezTo>
                  <a:cubicBezTo>
                    <a:pt x="192" y="36"/>
                    <a:pt x="189" y="37"/>
                    <a:pt x="185" y="38"/>
                  </a:cubicBezTo>
                  <a:cubicBezTo>
                    <a:pt x="173" y="4"/>
                    <a:pt x="173" y="4"/>
                    <a:pt x="173" y="4"/>
                  </a:cubicBezTo>
                  <a:cubicBezTo>
                    <a:pt x="122" y="23"/>
                    <a:pt x="122" y="23"/>
                    <a:pt x="122" y="23"/>
                  </a:cubicBezTo>
                  <a:cubicBezTo>
                    <a:pt x="134" y="56"/>
                    <a:pt x="134" y="56"/>
                    <a:pt x="134" y="56"/>
                  </a:cubicBezTo>
                  <a:cubicBezTo>
                    <a:pt x="131" y="58"/>
                    <a:pt x="128" y="60"/>
                    <a:pt x="124" y="62"/>
                  </a:cubicBezTo>
                  <a:cubicBezTo>
                    <a:pt x="101" y="34"/>
                    <a:pt x="101" y="34"/>
                    <a:pt x="101" y="34"/>
                  </a:cubicBezTo>
                  <a:cubicBezTo>
                    <a:pt x="60" y="69"/>
                    <a:pt x="60" y="69"/>
                    <a:pt x="60" y="69"/>
                  </a:cubicBezTo>
                  <a:cubicBezTo>
                    <a:pt x="83" y="97"/>
                    <a:pt x="83" y="97"/>
                    <a:pt x="83" y="97"/>
                  </a:cubicBezTo>
                  <a:cubicBezTo>
                    <a:pt x="80" y="100"/>
                    <a:pt x="78" y="102"/>
                    <a:pt x="76" y="105"/>
                  </a:cubicBezTo>
                  <a:cubicBezTo>
                    <a:pt x="45" y="87"/>
                    <a:pt x="45" y="87"/>
                    <a:pt x="45" y="87"/>
                  </a:cubicBezTo>
                  <a:cubicBezTo>
                    <a:pt x="18" y="134"/>
                    <a:pt x="18" y="134"/>
                    <a:pt x="18" y="134"/>
                  </a:cubicBezTo>
                  <a:cubicBezTo>
                    <a:pt x="49" y="152"/>
                    <a:pt x="49" y="152"/>
                    <a:pt x="49" y="152"/>
                  </a:cubicBezTo>
                  <a:cubicBezTo>
                    <a:pt x="47" y="156"/>
                    <a:pt x="46" y="159"/>
                    <a:pt x="45" y="163"/>
                  </a:cubicBezTo>
                  <a:cubicBezTo>
                    <a:pt x="9" y="157"/>
                    <a:pt x="9" y="157"/>
                    <a:pt x="9" y="157"/>
                  </a:cubicBezTo>
                  <a:cubicBezTo>
                    <a:pt x="0" y="210"/>
                    <a:pt x="0" y="210"/>
                    <a:pt x="0" y="210"/>
                  </a:cubicBezTo>
                  <a:cubicBezTo>
                    <a:pt x="35" y="216"/>
                    <a:pt x="35" y="216"/>
                    <a:pt x="35" y="216"/>
                  </a:cubicBezTo>
                  <a:cubicBezTo>
                    <a:pt x="35" y="218"/>
                    <a:pt x="35" y="220"/>
                    <a:pt x="35" y="222"/>
                  </a:cubicBezTo>
                  <a:cubicBezTo>
                    <a:pt x="35" y="224"/>
                    <a:pt x="35" y="226"/>
                    <a:pt x="35" y="227"/>
                  </a:cubicBezTo>
                  <a:cubicBezTo>
                    <a:pt x="0" y="234"/>
                    <a:pt x="0" y="234"/>
                    <a:pt x="0" y="234"/>
                  </a:cubicBezTo>
                  <a:cubicBezTo>
                    <a:pt x="9" y="287"/>
                    <a:pt x="9" y="287"/>
                    <a:pt x="9" y="287"/>
                  </a:cubicBezTo>
                  <a:cubicBezTo>
                    <a:pt x="45" y="281"/>
                    <a:pt x="45" y="281"/>
                    <a:pt x="45" y="281"/>
                  </a:cubicBezTo>
                  <a:cubicBezTo>
                    <a:pt x="46" y="284"/>
                    <a:pt x="47" y="288"/>
                    <a:pt x="49" y="291"/>
                  </a:cubicBezTo>
                  <a:cubicBezTo>
                    <a:pt x="18" y="309"/>
                    <a:pt x="18" y="309"/>
                    <a:pt x="18" y="309"/>
                  </a:cubicBezTo>
                  <a:cubicBezTo>
                    <a:pt x="45" y="356"/>
                    <a:pt x="45" y="356"/>
                    <a:pt x="45" y="356"/>
                  </a:cubicBezTo>
                  <a:cubicBezTo>
                    <a:pt x="76" y="338"/>
                    <a:pt x="76" y="338"/>
                    <a:pt x="76" y="338"/>
                  </a:cubicBezTo>
                  <a:cubicBezTo>
                    <a:pt x="78" y="341"/>
                    <a:pt x="80" y="344"/>
                    <a:pt x="83" y="347"/>
                  </a:cubicBezTo>
                  <a:cubicBezTo>
                    <a:pt x="60" y="374"/>
                    <a:pt x="60" y="374"/>
                    <a:pt x="60" y="374"/>
                  </a:cubicBezTo>
                  <a:cubicBezTo>
                    <a:pt x="101" y="409"/>
                    <a:pt x="101" y="409"/>
                    <a:pt x="101" y="409"/>
                  </a:cubicBezTo>
                  <a:cubicBezTo>
                    <a:pt x="124" y="382"/>
                    <a:pt x="124" y="382"/>
                    <a:pt x="124" y="382"/>
                  </a:cubicBezTo>
                  <a:cubicBezTo>
                    <a:pt x="128" y="384"/>
                    <a:pt x="131" y="386"/>
                    <a:pt x="134" y="387"/>
                  </a:cubicBezTo>
                  <a:cubicBezTo>
                    <a:pt x="122" y="421"/>
                    <a:pt x="122" y="421"/>
                    <a:pt x="122" y="421"/>
                  </a:cubicBezTo>
                  <a:cubicBezTo>
                    <a:pt x="173" y="440"/>
                    <a:pt x="173" y="440"/>
                    <a:pt x="173" y="440"/>
                  </a:cubicBezTo>
                  <a:cubicBezTo>
                    <a:pt x="185" y="406"/>
                    <a:pt x="185" y="406"/>
                    <a:pt x="185" y="406"/>
                  </a:cubicBezTo>
                  <a:cubicBezTo>
                    <a:pt x="189" y="407"/>
                    <a:pt x="192" y="407"/>
                    <a:pt x="196" y="408"/>
                  </a:cubicBezTo>
                  <a:cubicBezTo>
                    <a:pt x="196" y="444"/>
                    <a:pt x="196" y="444"/>
                    <a:pt x="196" y="444"/>
                  </a:cubicBezTo>
                  <a:cubicBezTo>
                    <a:pt x="250" y="444"/>
                    <a:pt x="250" y="444"/>
                    <a:pt x="250" y="444"/>
                  </a:cubicBezTo>
                  <a:cubicBezTo>
                    <a:pt x="250" y="408"/>
                    <a:pt x="250" y="408"/>
                    <a:pt x="250" y="408"/>
                  </a:cubicBezTo>
                  <a:cubicBezTo>
                    <a:pt x="254" y="407"/>
                    <a:pt x="258" y="407"/>
                    <a:pt x="261" y="406"/>
                  </a:cubicBezTo>
                  <a:cubicBezTo>
                    <a:pt x="274" y="440"/>
                    <a:pt x="274" y="440"/>
                    <a:pt x="274" y="440"/>
                  </a:cubicBezTo>
                  <a:cubicBezTo>
                    <a:pt x="325" y="421"/>
                    <a:pt x="325" y="421"/>
                    <a:pt x="325" y="421"/>
                  </a:cubicBezTo>
                  <a:cubicBezTo>
                    <a:pt x="312" y="387"/>
                    <a:pt x="312" y="387"/>
                    <a:pt x="312" y="387"/>
                  </a:cubicBezTo>
                  <a:cubicBezTo>
                    <a:pt x="316" y="386"/>
                    <a:pt x="319" y="384"/>
                    <a:pt x="322" y="382"/>
                  </a:cubicBezTo>
                  <a:cubicBezTo>
                    <a:pt x="345" y="409"/>
                    <a:pt x="345" y="409"/>
                    <a:pt x="345" y="409"/>
                  </a:cubicBezTo>
                  <a:cubicBezTo>
                    <a:pt x="387" y="374"/>
                    <a:pt x="387" y="374"/>
                    <a:pt x="387" y="374"/>
                  </a:cubicBezTo>
                  <a:cubicBezTo>
                    <a:pt x="364" y="347"/>
                    <a:pt x="364" y="347"/>
                    <a:pt x="364" y="347"/>
                  </a:cubicBezTo>
                  <a:cubicBezTo>
                    <a:pt x="366" y="344"/>
                    <a:pt x="368" y="341"/>
                    <a:pt x="371" y="338"/>
                  </a:cubicBezTo>
                  <a:cubicBezTo>
                    <a:pt x="402" y="356"/>
                    <a:pt x="402" y="356"/>
                    <a:pt x="402" y="356"/>
                  </a:cubicBezTo>
                  <a:cubicBezTo>
                    <a:pt x="429" y="309"/>
                    <a:pt x="429" y="309"/>
                    <a:pt x="429" y="309"/>
                  </a:cubicBezTo>
                  <a:cubicBezTo>
                    <a:pt x="398" y="291"/>
                    <a:pt x="398" y="291"/>
                    <a:pt x="398" y="291"/>
                  </a:cubicBezTo>
                  <a:cubicBezTo>
                    <a:pt x="399" y="288"/>
                    <a:pt x="401" y="284"/>
                    <a:pt x="402" y="281"/>
                  </a:cubicBezTo>
                  <a:cubicBezTo>
                    <a:pt x="437" y="287"/>
                    <a:pt x="437" y="287"/>
                    <a:pt x="437" y="287"/>
                  </a:cubicBezTo>
                  <a:cubicBezTo>
                    <a:pt x="447" y="234"/>
                    <a:pt x="447" y="234"/>
                    <a:pt x="447" y="234"/>
                  </a:cubicBezTo>
                  <a:cubicBezTo>
                    <a:pt x="411" y="227"/>
                    <a:pt x="411" y="227"/>
                    <a:pt x="411" y="227"/>
                  </a:cubicBezTo>
                  <a:cubicBezTo>
                    <a:pt x="411" y="226"/>
                    <a:pt x="411" y="224"/>
                    <a:pt x="411" y="222"/>
                  </a:cubicBezTo>
                  <a:close/>
                  <a:moveTo>
                    <a:pt x="238" y="56"/>
                  </a:moveTo>
                  <a:cubicBezTo>
                    <a:pt x="288" y="60"/>
                    <a:pt x="332" y="87"/>
                    <a:pt x="360" y="127"/>
                  </a:cubicBezTo>
                  <a:cubicBezTo>
                    <a:pt x="344" y="136"/>
                    <a:pt x="344" y="136"/>
                    <a:pt x="344" y="136"/>
                  </a:cubicBezTo>
                  <a:cubicBezTo>
                    <a:pt x="320" y="102"/>
                    <a:pt x="281" y="78"/>
                    <a:pt x="238" y="74"/>
                  </a:cubicBezTo>
                  <a:lnTo>
                    <a:pt x="238" y="56"/>
                  </a:lnTo>
                  <a:close/>
                  <a:moveTo>
                    <a:pt x="209" y="56"/>
                  </a:moveTo>
                  <a:cubicBezTo>
                    <a:pt x="209" y="74"/>
                    <a:pt x="209" y="74"/>
                    <a:pt x="209" y="74"/>
                  </a:cubicBezTo>
                  <a:cubicBezTo>
                    <a:pt x="165" y="78"/>
                    <a:pt x="127" y="102"/>
                    <a:pt x="103" y="136"/>
                  </a:cubicBezTo>
                  <a:cubicBezTo>
                    <a:pt x="87" y="127"/>
                    <a:pt x="87" y="127"/>
                    <a:pt x="87" y="127"/>
                  </a:cubicBezTo>
                  <a:cubicBezTo>
                    <a:pt x="114" y="87"/>
                    <a:pt x="158" y="60"/>
                    <a:pt x="209" y="56"/>
                  </a:cubicBezTo>
                  <a:close/>
                  <a:moveTo>
                    <a:pt x="73" y="292"/>
                  </a:moveTo>
                  <a:cubicBezTo>
                    <a:pt x="63" y="271"/>
                    <a:pt x="57" y="247"/>
                    <a:pt x="57" y="222"/>
                  </a:cubicBezTo>
                  <a:cubicBezTo>
                    <a:pt x="57" y="197"/>
                    <a:pt x="63" y="173"/>
                    <a:pt x="73" y="151"/>
                  </a:cubicBezTo>
                  <a:cubicBezTo>
                    <a:pt x="88" y="160"/>
                    <a:pt x="88" y="160"/>
                    <a:pt x="88" y="160"/>
                  </a:cubicBezTo>
                  <a:cubicBezTo>
                    <a:pt x="80" y="179"/>
                    <a:pt x="75" y="200"/>
                    <a:pt x="75" y="222"/>
                  </a:cubicBezTo>
                  <a:cubicBezTo>
                    <a:pt x="75" y="244"/>
                    <a:pt x="80" y="265"/>
                    <a:pt x="88" y="283"/>
                  </a:cubicBezTo>
                  <a:lnTo>
                    <a:pt x="73" y="292"/>
                  </a:lnTo>
                  <a:close/>
                  <a:moveTo>
                    <a:pt x="209" y="388"/>
                  </a:moveTo>
                  <a:cubicBezTo>
                    <a:pt x="158" y="383"/>
                    <a:pt x="114" y="356"/>
                    <a:pt x="87" y="317"/>
                  </a:cubicBezTo>
                  <a:cubicBezTo>
                    <a:pt x="103" y="308"/>
                    <a:pt x="103" y="308"/>
                    <a:pt x="103" y="308"/>
                  </a:cubicBezTo>
                  <a:cubicBezTo>
                    <a:pt x="127" y="342"/>
                    <a:pt x="165" y="365"/>
                    <a:pt x="209" y="369"/>
                  </a:cubicBezTo>
                  <a:lnTo>
                    <a:pt x="209" y="388"/>
                  </a:lnTo>
                  <a:close/>
                  <a:moveTo>
                    <a:pt x="237" y="336"/>
                  </a:moveTo>
                  <a:cubicBezTo>
                    <a:pt x="209" y="336"/>
                    <a:pt x="209" y="336"/>
                    <a:pt x="209" y="336"/>
                  </a:cubicBezTo>
                  <a:cubicBezTo>
                    <a:pt x="209" y="318"/>
                    <a:pt x="209" y="318"/>
                    <a:pt x="209" y="318"/>
                  </a:cubicBezTo>
                  <a:cubicBezTo>
                    <a:pt x="207" y="318"/>
                    <a:pt x="205" y="317"/>
                    <a:pt x="204" y="317"/>
                  </a:cubicBezTo>
                  <a:cubicBezTo>
                    <a:pt x="197" y="334"/>
                    <a:pt x="197" y="334"/>
                    <a:pt x="197" y="334"/>
                  </a:cubicBezTo>
                  <a:cubicBezTo>
                    <a:pt x="171" y="325"/>
                    <a:pt x="171" y="325"/>
                    <a:pt x="171" y="325"/>
                  </a:cubicBezTo>
                  <a:cubicBezTo>
                    <a:pt x="177" y="307"/>
                    <a:pt x="177" y="307"/>
                    <a:pt x="177" y="307"/>
                  </a:cubicBezTo>
                  <a:cubicBezTo>
                    <a:pt x="176" y="306"/>
                    <a:pt x="174" y="305"/>
                    <a:pt x="172" y="304"/>
                  </a:cubicBezTo>
                  <a:cubicBezTo>
                    <a:pt x="160" y="319"/>
                    <a:pt x="160" y="319"/>
                    <a:pt x="160" y="319"/>
                  </a:cubicBezTo>
                  <a:cubicBezTo>
                    <a:pt x="139" y="301"/>
                    <a:pt x="139" y="301"/>
                    <a:pt x="139" y="301"/>
                  </a:cubicBezTo>
                  <a:cubicBezTo>
                    <a:pt x="151" y="286"/>
                    <a:pt x="151" y="286"/>
                    <a:pt x="151" y="286"/>
                  </a:cubicBezTo>
                  <a:cubicBezTo>
                    <a:pt x="149" y="285"/>
                    <a:pt x="148" y="284"/>
                    <a:pt x="147" y="282"/>
                  </a:cubicBezTo>
                  <a:cubicBezTo>
                    <a:pt x="131" y="291"/>
                    <a:pt x="131" y="291"/>
                    <a:pt x="131" y="291"/>
                  </a:cubicBezTo>
                  <a:cubicBezTo>
                    <a:pt x="117" y="267"/>
                    <a:pt x="117" y="267"/>
                    <a:pt x="117" y="267"/>
                  </a:cubicBezTo>
                  <a:cubicBezTo>
                    <a:pt x="133" y="258"/>
                    <a:pt x="133" y="258"/>
                    <a:pt x="133" y="258"/>
                  </a:cubicBezTo>
                  <a:cubicBezTo>
                    <a:pt x="132" y="256"/>
                    <a:pt x="132" y="254"/>
                    <a:pt x="131" y="252"/>
                  </a:cubicBezTo>
                  <a:cubicBezTo>
                    <a:pt x="113" y="256"/>
                    <a:pt x="113" y="256"/>
                    <a:pt x="113" y="256"/>
                  </a:cubicBezTo>
                  <a:cubicBezTo>
                    <a:pt x="108" y="228"/>
                    <a:pt x="108" y="228"/>
                    <a:pt x="108" y="228"/>
                  </a:cubicBezTo>
                  <a:cubicBezTo>
                    <a:pt x="126" y="225"/>
                    <a:pt x="126" y="225"/>
                    <a:pt x="126" y="225"/>
                  </a:cubicBezTo>
                  <a:cubicBezTo>
                    <a:pt x="126" y="224"/>
                    <a:pt x="126" y="223"/>
                    <a:pt x="126" y="222"/>
                  </a:cubicBezTo>
                  <a:cubicBezTo>
                    <a:pt x="126" y="221"/>
                    <a:pt x="126" y="220"/>
                    <a:pt x="126" y="219"/>
                  </a:cubicBezTo>
                  <a:cubicBezTo>
                    <a:pt x="108" y="216"/>
                    <a:pt x="108" y="216"/>
                    <a:pt x="108" y="216"/>
                  </a:cubicBezTo>
                  <a:cubicBezTo>
                    <a:pt x="113" y="188"/>
                    <a:pt x="113" y="188"/>
                    <a:pt x="113" y="188"/>
                  </a:cubicBezTo>
                  <a:cubicBezTo>
                    <a:pt x="131" y="191"/>
                    <a:pt x="131" y="191"/>
                    <a:pt x="131" y="191"/>
                  </a:cubicBezTo>
                  <a:cubicBezTo>
                    <a:pt x="132" y="189"/>
                    <a:pt x="132" y="188"/>
                    <a:pt x="133" y="186"/>
                  </a:cubicBezTo>
                  <a:cubicBezTo>
                    <a:pt x="117" y="177"/>
                    <a:pt x="117" y="177"/>
                    <a:pt x="117" y="177"/>
                  </a:cubicBezTo>
                  <a:cubicBezTo>
                    <a:pt x="131" y="152"/>
                    <a:pt x="131" y="152"/>
                    <a:pt x="131" y="152"/>
                  </a:cubicBezTo>
                  <a:cubicBezTo>
                    <a:pt x="147" y="162"/>
                    <a:pt x="147" y="162"/>
                    <a:pt x="147" y="162"/>
                  </a:cubicBezTo>
                  <a:cubicBezTo>
                    <a:pt x="148" y="160"/>
                    <a:pt x="149" y="159"/>
                    <a:pt x="151" y="157"/>
                  </a:cubicBezTo>
                  <a:cubicBezTo>
                    <a:pt x="139" y="143"/>
                    <a:pt x="139" y="143"/>
                    <a:pt x="139" y="143"/>
                  </a:cubicBezTo>
                  <a:cubicBezTo>
                    <a:pt x="160" y="125"/>
                    <a:pt x="160" y="125"/>
                    <a:pt x="160" y="125"/>
                  </a:cubicBezTo>
                  <a:cubicBezTo>
                    <a:pt x="172" y="139"/>
                    <a:pt x="172" y="139"/>
                    <a:pt x="172" y="139"/>
                  </a:cubicBezTo>
                  <a:cubicBezTo>
                    <a:pt x="174" y="138"/>
                    <a:pt x="176" y="137"/>
                    <a:pt x="177" y="136"/>
                  </a:cubicBezTo>
                  <a:cubicBezTo>
                    <a:pt x="171" y="119"/>
                    <a:pt x="171" y="119"/>
                    <a:pt x="171" y="119"/>
                  </a:cubicBezTo>
                  <a:cubicBezTo>
                    <a:pt x="197" y="109"/>
                    <a:pt x="197" y="109"/>
                    <a:pt x="197" y="109"/>
                  </a:cubicBezTo>
                  <a:cubicBezTo>
                    <a:pt x="204" y="127"/>
                    <a:pt x="204" y="127"/>
                    <a:pt x="204" y="127"/>
                  </a:cubicBezTo>
                  <a:cubicBezTo>
                    <a:pt x="205" y="126"/>
                    <a:pt x="207" y="126"/>
                    <a:pt x="209" y="126"/>
                  </a:cubicBezTo>
                  <a:cubicBezTo>
                    <a:pt x="209" y="107"/>
                    <a:pt x="209" y="107"/>
                    <a:pt x="209" y="107"/>
                  </a:cubicBezTo>
                  <a:cubicBezTo>
                    <a:pt x="237" y="107"/>
                    <a:pt x="237" y="107"/>
                    <a:pt x="237" y="107"/>
                  </a:cubicBezTo>
                  <a:cubicBezTo>
                    <a:pt x="237" y="126"/>
                    <a:pt x="237" y="126"/>
                    <a:pt x="237" y="126"/>
                  </a:cubicBezTo>
                  <a:cubicBezTo>
                    <a:pt x="239" y="126"/>
                    <a:pt x="241" y="126"/>
                    <a:pt x="243" y="127"/>
                  </a:cubicBezTo>
                  <a:cubicBezTo>
                    <a:pt x="249" y="109"/>
                    <a:pt x="249" y="109"/>
                    <a:pt x="249" y="109"/>
                  </a:cubicBezTo>
                  <a:cubicBezTo>
                    <a:pt x="276" y="119"/>
                    <a:pt x="276" y="119"/>
                    <a:pt x="276" y="119"/>
                  </a:cubicBezTo>
                  <a:cubicBezTo>
                    <a:pt x="269" y="136"/>
                    <a:pt x="269" y="136"/>
                    <a:pt x="269" y="136"/>
                  </a:cubicBezTo>
                  <a:cubicBezTo>
                    <a:pt x="271" y="137"/>
                    <a:pt x="273" y="138"/>
                    <a:pt x="274" y="139"/>
                  </a:cubicBezTo>
                  <a:cubicBezTo>
                    <a:pt x="286" y="125"/>
                    <a:pt x="286" y="125"/>
                    <a:pt x="286" y="125"/>
                  </a:cubicBezTo>
                  <a:cubicBezTo>
                    <a:pt x="308" y="143"/>
                    <a:pt x="308" y="143"/>
                    <a:pt x="308" y="143"/>
                  </a:cubicBezTo>
                  <a:cubicBezTo>
                    <a:pt x="296" y="157"/>
                    <a:pt x="296" y="157"/>
                    <a:pt x="296" y="157"/>
                  </a:cubicBezTo>
                  <a:cubicBezTo>
                    <a:pt x="297" y="159"/>
                    <a:pt x="298" y="160"/>
                    <a:pt x="300" y="162"/>
                  </a:cubicBezTo>
                  <a:cubicBezTo>
                    <a:pt x="316" y="152"/>
                    <a:pt x="316" y="152"/>
                    <a:pt x="316" y="152"/>
                  </a:cubicBezTo>
                  <a:cubicBezTo>
                    <a:pt x="330" y="177"/>
                    <a:pt x="330" y="177"/>
                    <a:pt x="330" y="177"/>
                  </a:cubicBezTo>
                  <a:cubicBezTo>
                    <a:pt x="314" y="186"/>
                    <a:pt x="314" y="186"/>
                    <a:pt x="314" y="186"/>
                  </a:cubicBezTo>
                  <a:cubicBezTo>
                    <a:pt x="314" y="188"/>
                    <a:pt x="315" y="189"/>
                    <a:pt x="316" y="191"/>
                  </a:cubicBezTo>
                  <a:cubicBezTo>
                    <a:pt x="334" y="188"/>
                    <a:pt x="334" y="188"/>
                    <a:pt x="334" y="188"/>
                  </a:cubicBezTo>
                  <a:cubicBezTo>
                    <a:pt x="339" y="216"/>
                    <a:pt x="339" y="216"/>
                    <a:pt x="339" y="216"/>
                  </a:cubicBezTo>
                  <a:cubicBezTo>
                    <a:pt x="320" y="219"/>
                    <a:pt x="320" y="219"/>
                    <a:pt x="320" y="219"/>
                  </a:cubicBezTo>
                  <a:cubicBezTo>
                    <a:pt x="320" y="220"/>
                    <a:pt x="320" y="221"/>
                    <a:pt x="320" y="222"/>
                  </a:cubicBezTo>
                  <a:cubicBezTo>
                    <a:pt x="320" y="223"/>
                    <a:pt x="320" y="224"/>
                    <a:pt x="320" y="225"/>
                  </a:cubicBezTo>
                  <a:cubicBezTo>
                    <a:pt x="339" y="228"/>
                    <a:pt x="339" y="228"/>
                    <a:pt x="339" y="228"/>
                  </a:cubicBezTo>
                  <a:cubicBezTo>
                    <a:pt x="334" y="256"/>
                    <a:pt x="334" y="256"/>
                    <a:pt x="334" y="256"/>
                  </a:cubicBezTo>
                  <a:cubicBezTo>
                    <a:pt x="316" y="252"/>
                    <a:pt x="316" y="252"/>
                    <a:pt x="316" y="252"/>
                  </a:cubicBezTo>
                  <a:cubicBezTo>
                    <a:pt x="315" y="254"/>
                    <a:pt x="314" y="256"/>
                    <a:pt x="314" y="258"/>
                  </a:cubicBezTo>
                  <a:cubicBezTo>
                    <a:pt x="330" y="267"/>
                    <a:pt x="330" y="267"/>
                    <a:pt x="330" y="267"/>
                  </a:cubicBezTo>
                  <a:cubicBezTo>
                    <a:pt x="316" y="291"/>
                    <a:pt x="316" y="291"/>
                    <a:pt x="316" y="291"/>
                  </a:cubicBezTo>
                  <a:cubicBezTo>
                    <a:pt x="300" y="282"/>
                    <a:pt x="300" y="282"/>
                    <a:pt x="300" y="282"/>
                  </a:cubicBezTo>
                  <a:cubicBezTo>
                    <a:pt x="298" y="284"/>
                    <a:pt x="297" y="285"/>
                    <a:pt x="296" y="286"/>
                  </a:cubicBezTo>
                  <a:cubicBezTo>
                    <a:pt x="308" y="301"/>
                    <a:pt x="308" y="301"/>
                    <a:pt x="308" y="301"/>
                  </a:cubicBezTo>
                  <a:cubicBezTo>
                    <a:pt x="286" y="319"/>
                    <a:pt x="286" y="319"/>
                    <a:pt x="286" y="319"/>
                  </a:cubicBezTo>
                  <a:cubicBezTo>
                    <a:pt x="274" y="304"/>
                    <a:pt x="274" y="304"/>
                    <a:pt x="274" y="304"/>
                  </a:cubicBezTo>
                  <a:cubicBezTo>
                    <a:pt x="273" y="305"/>
                    <a:pt x="271" y="306"/>
                    <a:pt x="269" y="307"/>
                  </a:cubicBezTo>
                  <a:cubicBezTo>
                    <a:pt x="276" y="325"/>
                    <a:pt x="276" y="325"/>
                    <a:pt x="276" y="325"/>
                  </a:cubicBezTo>
                  <a:cubicBezTo>
                    <a:pt x="249" y="334"/>
                    <a:pt x="249" y="334"/>
                    <a:pt x="249" y="334"/>
                  </a:cubicBezTo>
                  <a:cubicBezTo>
                    <a:pt x="243" y="317"/>
                    <a:pt x="243" y="317"/>
                    <a:pt x="243" y="317"/>
                  </a:cubicBezTo>
                  <a:cubicBezTo>
                    <a:pt x="241" y="317"/>
                    <a:pt x="239" y="318"/>
                    <a:pt x="237" y="318"/>
                  </a:cubicBezTo>
                  <a:lnTo>
                    <a:pt x="237" y="336"/>
                  </a:lnTo>
                  <a:close/>
                  <a:moveTo>
                    <a:pt x="238" y="388"/>
                  </a:moveTo>
                  <a:cubicBezTo>
                    <a:pt x="238" y="369"/>
                    <a:pt x="238" y="369"/>
                    <a:pt x="238" y="369"/>
                  </a:cubicBezTo>
                  <a:cubicBezTo>
                    <a:pt x="281" y="365"/>
                    <a:pt x="320" y="342"/>
                    <a:pt x="344" y="308"/>
                  </a:cubicBezTo>
                  <a:cubicBezTo>
                    <a:pt x="360" y="317"/>
                    <a:pt x="360" y="317"/>
                    <a:pt x="360" y="317"/>
                  </a:cubicBezTo>
                  <a:cubicBezTo>
                    <a:pt x="332" y="356"/>
                    <a:pt x="288" y="383"/>
                    <a:pt x="238" y="388"/>
                  </a:cubicBezTo>
                  <a:close/>
                  <a:moveTo>
                    <a:pt x="374" y="292"/>
                  </a:moveTo>
                  <a:cubicBezTo>
                    <a:pt x="358" y="283"/>
                    <a:pt x="358" y="283"/>
                    <a:pt x="358" y="283"/>
                  </a:cubicBezTo>
                  <a:cubicBezTo>
                    <a:pt x="367" y="265"/>
                    <a:pt x="371" y="244"/>
                    <a:pt x="371" y="222"/>
                  </a:cubicBezTo>
                  <a:cubicBezTo>
                    <a:pt x="371" y="200"/>
                    <a:pt x="367" y="179"/>
                    <a:pt x="358" y="160"/>
                  </a:cubicBezTo>
                  <a:cubicBezTo>
                    <a:pt x="374" y="151"/>
                    <a:pt x="374" y="151"/>
                    <a:pt x="374" y="151"/>
                  </a:cubicBezTo>
                  <a:cubicBezTo>
                    <a:pt x="384" y="173"/>
                    <a:pt x="390" y="197"/>
                    <a:pt x="390" y="222"/>
                  </a:cubicBezTo>
                  <a:cubicBezTo>
                    <a:pt x="390" y="247"/>
                    <a:pt x="384" y="271"/>
                    <a:pt x="374" y="292"/>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 name="Freeform 31">
              <a:extLst>
                <a:ext uri="{FF2B5EF4-FFF2-40B4-BE49-F238E27FC236}">
                  <a16:creationId xmlns:a16="http://schemas.microsoft.com/office/drawing/2014/main" id="{9CA953D0-8405-1296-06BD-7C366C96E83C}"/>
                </a:ext>
              </a:extLst>
            </p:cNvPr>
            <p:cNvSpPr>
              <a:spLocks noEditPoints="1"/>
            </p:cNvSpPr>
            <p:nvPr/>
          </p:nvSpPr>
          <p:spPr bwMode="auto">
            <a:xfrm>
              <a:off x="3835069" y="4859863"/>
              <a:ext cx="727390" cy="722573"/>
            </a:xfrm>
            <a:custGeom>
              <a:avLst/>
              <a:gdLst>
                <a:gd name="T0" fmla="*/ 437 w 447"/>
                <a:gd name="T1" fmla="*/ 157 h 444"/>
                <a:gd name="T2" fmla="*/ 402 w 447"/>
                <a:gd name="T3" fmla="*/ 88 h 444"/>
                <a:gd name="T4" fmla="*/ 346 w 447"/>
                <a:gd name="T5" fmla="*/ 35 h 444"/>
                <a:gd name="T6" fmla="*/ 274 w 447"/>
                <a:gd name="T7" fmla="*/ 4 h 444"/>
                <a:gd name="T8" fmla="*/ 197 w 447"/>
                <a:gd name="T9" fmla="*/ 0 h 444"/>
                <a:gd name="T10" fmla="*/ 122 w 447"/>
                <a:gd name="T11" fmla="*/ 23 h 444"/>
                <a:gd name="T12" fmla="*/ 60 w 447"/>
                <a:gd name="T13" fmla="*/ 70 h 444"/>
                <a:gd name="T14" fmla="*/ 18 w 447"/>
                <a:gd name="T15" fmla="*/ 135 h 444"/>
                <a:gd name="T16" fmla="*/ 0 w 447"/>
                <a:gd name="T17" fmla="*/ 210 h 444"/>
                <a:gd name="T18" fmla="*/ 0 w 447"/>
                <a:gd name="T19" fmla="*/ 234 h 444"/>
                <a:gd name="T20" fmla="*/ 18 w 447"/>
                <a:gd name="T21" fmla="*/ 310 h 444"/>
                <a:gd name="T22" fmla="*/ 60 w 447"/>
                <a:gd name="T23" fmla="*/ 375 h 444"/>
                <a:gd name="T24" fmla="*/ 122 w 447"/>
                <a:gd name="T25" fmla="*/ 421 h 444"/>
                <a:gd name="T26" fmla="*/ 197 w 447"/>
                <a:gd name="T27" fmla="*/ 444 h 444"/>
                <a:gd name="T28" fmla="*/ 274 w 447"/>
                <a:gd name="T29" fmla="*/ 440 h 444"/>
                <a:gd name="T30" fmla="*/ 346 w 447"/>
                <a:gd name="T31" fmla="*/ 410 h 444"/>
                <a:gd name="T32" fmla="*/ 402 w 447"/>
                <a:gd name="T33" fmla="*/ 357 h 444"/>
                <a:gd name="T34" fmla="*/ 437 w 447"/>
                <a:gd name="T35" fmla="*/ 287 h 444"/>
                <a:gd name="T36" fmla="*/ 238 w 447"/>
                <a:gd name="T37" fmla="*/ 56 h 444"/>
                <a:gd name="T38" fmla="*/ 238 w 447"/>
                <a:gd name="T39" fmla="*/ 56 h 444"/>
                <a:gd name="T40" fmla="*/ 314 w 447"/>
                <a:gd name="T41" fmla="*/ 258 h 444"/>
                <a:gd name="T42" fmla="*/ 296 w 447"/>
                <a:gd name="T43" fmla="*/ 287 h 444"/>
                <a:gd name="T44" fmla="*/ 339 w 447"/>
                <a:gd name="T45" fmla="*/ 228 h 444"/>
                <a:gd name="T46" fmla="*/ 133 w 447"/>
                <a:gd name="T47" fmla="*/ 258 h 444"/>
                <a:gd name="T48" fmla="*/ 113 w 447"/>
                <a:gd name="T49" fmla="*/ 227 h 444"/>
                <a:gd name="T50" fmla="*/ 147 w 447"/>
                <a:gd name="T51" fmla="*/ 282 h 444"/>
                <a:gd name="T52" fmla="*/ 133 w 447"/>
                <a:gd name="T53" fmla="*/ 186 h 444"/>
                <a:gd name="T54" fmla="*/ 151 w 447"/>
                <a:gd name="T55" fmla="*/ 158 h 444"/>
                <a:gd name="T56" fmla="*/ 108 w 447"/>
                <a:gd name="T57" fmla="*/ 216 h 444"/>
                <a:gd name="T58" fmla="*/ 314 w 447"/>
                <a:gd name="T59" fmla="*/ 186 h 444"/>
                <a:gd name="T60" fmla="*/ 334 w 447"/>
                <a:gd name="T61" fmla="*/ 217 h 444"/>
                <a:gd name="T62" fmla="*/ 300 w 447"/>
                <a:gd name="T63" fmla="*/ 162 h 444"/>
                <a:gd name="T64" fmla="*/ 270 w 447"/>
                <a:gd name="T65" fmla="*/ 137 h 444"/>
                <a:gd name="T66" fmla="*/ 229 w 447"/>
                <a:gd name="T67" fmla="*/ 210 h 444"/>
                <a:gd name="T68" fmla="*/ 243 w 447"/>
                <a:gd name="T69" fmla="*/ 127 h 444"/>
                <a:gd name="T70" fmla="*/ 146 w 447"/>
                <a:gd name="T71" fmla="*/ 137 h 444"/>
                <a:gd name="T72" fmla="*/ 171 w 447"/>
                <a:gd name="T73" fmla="*/ 119 h 444"/>
                <a:gd name="T74" fmla="*/ 210 w 447"/>
                <a:gd name="T75" fmla="*/ 107 h 444"/>
                <a:gd name="T76" fmla="*/ 87 w 447"/>
                <a:gd name="T77" fmla="*/ 127 h 444"/>
                <a:gd name="T78" fmla="*/ 73 w 447"/>
                <a:gd name="T79" fmla="*/ 152 h 444"/>
                <a:gd name="T80" fmla="*/ 73 w 447"/>
                <a:gd name="T81" fmla="*/ 293 h 444"/>
                <a:gd name="T82" fmla="*/ 209 w 447"/>
                <a:gd name="T83" fmla="*/ 370 h 444"/>
                <a:gd name="T84" fmla="*/ 171 w 447"/>
                <a:gd name="T85" fmla="*/ 325 h 444"/>
                <a:gd name="T86" fmla="*/ 146 w 447"/>
                <a:gd name="T87" fmla="*/ 307 h 444"/>
                <a:gd name="T88" fmla="*/ 210 w 447"/>
                <a:gd name="T89" fmla="*/ 318 h 444"/>
                <a:gd name="T90" fmla="*/ 229 w 447"/>
                <a:gd name="T91" fmla="*/ 235 h 444"/>
                <a:gd name="T92" fmla="*/ 270 w 447"/>
                <a:gd name="T93" fmla="*/ 308 h 444"/>
                <a:gd name="T94" fmla="*/ 238 w 447"/>
                <a:gd name="T95" fmla="*/ 318 h 444"/>
                <a:gd name="T96" fmla="*/ 344 w 447"/>
                <a:gd name="T97" fmla="*/ 308 h 444"/>
                <a:gd name="T98" fmla="*/ 359 w 447"/>
                <a:gd name="T99" fmla="*/ 284 h 444"/>
                <a:gd name="T100" fmla="*/ 390 w 447"/>
                <a:gd name="T101" fmla="*/ 222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47" h="444">
                  <a:moveTo>
                    <a:pt x="412" y="222"/>
                  </a:moveTo>
                  <a:cubicBezTo>
                    <a:pt x="412" y="220"/>
                    <a:pt x="412" y="218"/>
                    <a:pt x="412" y="217"/>
                  </a:cubicBezTo>
                  <a:cubicBezTo>
                    <a:pt x="447" y="210"/>
                    <a:pt x="447" y="210"/>
                    <a:pt x="447" y="210"/>
                  </a:cubicBezTo>
                  <a:cubicBezTo>
                    <a:pt x="437" y="157"/>
                    <a:pt x="437" y="157"/>
                    <a:pt x="437" y="157"/>
                  </a:cubicBezTo>
                  <a:cubicBezTo>
                    <a:pt x="402" y="163"/>
                    <a:pt x="402" y="163"/>
                    <a:pt x="402" y="163"/>
                  </a:cubicBezTo>
                  <a:cubicBezTo>
                    <a:pt x="401" y="160"/>
                    <a:pt x="400" y="156"/>
                    <a:pt x="398" y="153"/>
                  </a:cubicBezTo>
                  <a:cubicBezTo>
                    <a:pt x="429" y="135"/>
                    <a:pt x="429" y="135"/>
                    <a:pt x="429" y="135"/>
                  </a:cubicBezTo>
                  <a:cubicBezTo>
                    <a:pt x="402" y="88"/>
                    <a:pt x="402" y="88"/>
                    <a:pt x="402" y="88"/>
                  </a:cubicBezTo>
                  <a:cubicBezTo>
                    <a:pt x="371" y="106"/>
                    <a:pt x="371" y="106"/>
                    <a:pt x="371" y="106"/>
                  </a:cubicBezTo>
                  <a:cubicBezTo>
                    <a:pt x="369" y="103"/>
                    <a:pt x="366" y="100"/>
                    <a:pt x="364" y="97"/>
                  </a:cubicBezTo>
                  <a:cubicBezTo>
                    <a:pt x="387" y="70"/>
                    <a:pt x="387" y="70"/>
                    <a:pt x="387" y="70"/>
                  </a:cubicBezTo>
                  <a:cubicBezTo>
                    <a:pt x="346" y="35"/>
                    <a:pt x="346" y="35"/>
                    <a:pt x="346" y="35"/>
                  </a:cubicBezTo>
                  <a:cubicBezTo>
                    <a:pt x="322" y="62"/>
                    <a:pt x="322" y="62"/>
                    <a:pt x="322" y="62"/>
                  </a:cubicBezTo>
                  <a:cubicBezTo>
                    <a:pt x="319" y="60"/>
                    <a:pt x="316" y="58"/>
                    <a:pt x="313" y="57"/>
                  </a:cubicBezTo>
                  <a:cubicBezTo>
                    <a:pt x="325" y="23"/>
                    <a:pt x="325" y="23"/>
                    <a:pt x="325" y="23"/>
                  </a:cubicBezTo>
                  <a:cubicBezTo>
                    <a:pt x="274" y="4"/>
                    <a:pt x="274" y="4"/>
                    <a:pt x="274" y="4"/>
                  </a:cubicBezTo>
                  <a:cubicBezTo>
                    <a:pt x="262" y="38"/>
                    <a:pt x="262" y="38"/>
                    <a:pt x="262" y="38"/>
                  </a:cubicBezTo>
                  <a:cubicBezTo>
                    <a:pt x="258" y="37"/>
                    <a:pt x="254" y="37"/>
                    <a:pt x="251" y="36"/>
                  </a:cubicBezTo>
                  <a:cubicBezTo>
                    <a:pt x="251" y="0"/>
                    <a:pt x="251" y="0"/>
                    <a:pt x="251" y="0"/>
                  </a:cubicBezTo>
                  <a:cubicBezTo>
                    <a:pt x="197" y="0"/>
                    <a:pt x="197" y="0"/>
                    <a:pt x="197" y="0"/>
                  </a:cubicBezTo>
                  <a:cubicBezTo>
                    <a:pt x="197" y="36"/>
                    <a:pt x="197" y="36"/>
                    <a:pt x="197" y="36"/>
                  </a:cubicBezTo>
                  <a:cubicBezTo>
                    <a:pt x="193" y="37"/>
                    <a:pt x="189" y="37"/>
                    <a:pt x="185" y="38"/>
                  </a:cubicBezTo>
                  <a:cubicBezTo>
                    <a:pt x="173" y="4"/>
                    <a:pt x="173" y="4"/>
                    <a:pt x="173" y="4"/>
                  </a:cubicBezTo>
                  <a:cubicBezTo>
                    <a:pt x="122" y="23"/>
                    <a:pt x="122" y="23"/>
                    <a:pt x="122" y="23"/>
                  </a:cubicBezTo>
                  <a:cubicBezTo>
                    <a:pt x="135" y="57"/>
                    <a:pt x="135" y="57"/>
                    <a:pt x="135" y="57"/>
                  </a:cubicBezTo>
                  <a:cubicBezTo>
                    <a:pt x="131" y="58"/>
                    <a:pt x="128" y="60"/>
                    <a:pt x="125" y="62"/>
                  </a:cubicBezTo>
                  <a:cubicBezTo>
                    <a:pt x="102" y="35"/>
                    <a:pt x="102" y="35"/>
                    <a:pt x="102" y="35"/>
                  </a:cubicBezTo>
                  <a:cubicBezTo>
                    <a:pt x="60" y="70"/>
                    <a:pt x="60" y="70"/>
                    <a:pt x="60" y="70"/>
                  </a:cubicBezTo>
                  <a:cubicBezTo>
                    <a:pt x="83" y="97"/>
                    <a:pt x="83" y="97"/>
                    <a:pt x="83" y="97"/>
                  </a:cubicBezTo>
                  <a:cubicBezTo>
                    <a:pt x="81" y="100"/>
                    <a:pt x="78" y="103"/>
                    <a:pt x="76" y="106"/>
                  </a:cubicBezTo>
                  <a:cubicBezTo>
                    <a:pt x="45" y="88"/>
                    <a:pt x="45" y="88"/>
                    <a:pt x="45" y="88"/>
                  </a:cubicBezTo>
                  <a:cubicBezTo>
                    <a:pt x="18" y="135"/>
                    <a:pt x="18" y="135"/>
                    <a:pt x="18" y="135"/>
                  </a:cubicBezTo>
                  <a:cubicBezTo>
                    <a:pt x="49" y="153"/>
                    <a:pt x="49" y="153"/>
                    <a:pt x="49" y="153"/>
                  </a:cubicBezTo>
                  <a:cubicBezTo>
                    <a:pt x="48" y="156"/>
                    <a:pt x="46" y="160"/>
                    <a:pt x="45" y="163"/>
                  </a:cubicBezTo>
                  <a:cubicBezTo>
                    <a:pt x="10" y="157"/>
                    <a:pt x="10" y="157"/>
                    <a:pt x="10" y="157"/>
                  </a:cubicBezTo>
                  <a:cubicBezTo>
                    <a:pt x="0" y="210"/>
                    <a:pt x="0" y="210"/>
                    <a:pt x="0" y="210"/>
                  </a:cubicBezTo>
                  <a:cubicBezTo>
                    <a:pt x="36" y="217"/>
                    <a:pt x="36" y="217"/>
                    <a:pt x="36" y="217"/>
                  </a:cubicBezTo>
                  <a:cubicBezTo>
                    <a:pt x="36" y="218"/>
                    <a:pt x="36" y="220"/>
                    <a:pt x="36" y="222"/>
                  </a:cubicBezTo>
                  <a:cubicBezTo>
                    <a:pt x="36" y="224"/>
                    <a:pt x="36" y="226"/>
                    <a:pt x="36" y="228"/>
                  </a:cubicBezTo>
                  <a:cubicBezTo>
                    <a:pt x="0" y="234"/>
                    <a:pt x="0" y="234"/>
                    <a:pt x="0" y="234"/>
                  </a:cubicBezTo>
                  <a:cubicBezTo>
                    <a:pt x="10" y="287"/>
                    <a:pt x="10" y="287"/>
                    <a:pt x="10" y="287"/>
                  </a:cubicBezTo>
                  <a:cubicBezTo>
                    <a:pt x="45" y="281"/>
                    <a:pt x="45" y="281"/>
                    <a:pt x="45" y="281"/>
                  </a:cubicBezTo>
                  <a:cubicBezTo>
                    <a:pt x="46" y="285"/>
                    <a:pt x="48" y="288"/>
                    <a:pt x="49" y="292"/>
                  </a:cubicBezTo>
                  <a:cubicBezTo>
                    <a:pt x="18" y="310"/>
                    <a:pt x="18" y="310"/>
                    <a:pt x="18" y="310"/>
                  </a:cubicBezTo>
                  <a:cubicBezTo>
                    <a:pt x="45" y="357"/>
                    <a:pt x="45" y="357"/>
                    <a:pt x="45" y="357"/>
                  </a:cubicBezTo>
                  <a:cubicBezTo>
                    <a:pt x="76" y="339"/>
                    <a:pt x="76" y="339"/>
                    <a:pt x="76" y="339"/>
                  </a:cubicBezTo>
                  <a:cubicBezTo>
                    <a:pt x="78" y="342"/>
                    <a:pt x="81" y="344"/>
                    <a:pt x="83" y="347"/>
                  </a:cubicBezTo>
                  <a:cubicBezTo>
                    <a:pt x="60" y="375"/>
                    <a:pt x="60" y="375"/>
                    <a:pt x="60" y="375"/>
                  </a:cubicBezTo>
                  <a:cubicBezTo>
                    <a:pt x="102" y="410"/>
                    <a:pt x="102" y="410"/>
                    <a:pt x="102" y="410"/>
                  </a:cubicBezTo>
                  <a:cubicBezTo>
                    <a:pt x="125" y="382"/>
                    <a:pt x="125" y="382"/>
                    <a:pt x="125" y="382"/>
                  </a:cubicBezTo>
                  <a:cubicBezTo>
                    <a:pt x="128" y="384"/>
                    <a:pt x="131" y="386"/>
                    <a:pt x="135" y="388"/>
                  </a:cubicBezTo>
                  <a:cubicBezTo>
                    <a:pt x="122" y="421"/>
                    <a:pt x="122" y="421"/>
                    <a:pt x="122" y="421"/>
                  </a:cubicBezTo>
                  <a:cubicBezTo>
                    <a:pt x="173" y="440"/>
                    <a:pt x="173" y="440"/>
                    <a:pt x="173" y="440"/>
                  </a:cubicBezTo>
                  <a:cubicBezTo>
                    <a:pt x="185" y="406"/>
                    <a:pt x="185" y="406"/>
                    <a:pt x="185" y="406"/>
                  </a:cubicBezTo>
                  <a:cubicBezTo>
                    <a:pt x="189" y="407"/>
                    <a:pt x="193" y="408"/>
                    <a:pt x="197" y="408"/>
                  </a:cubicBezTo>
                  <a:cubicBezTo>
                    <a:pt x="197" y="444"/>
                    <a:pt x="197" y="444"/>
                    <a:pt x="197" y="444"/>
                  </a:cubicBezTo>
                  <a:cubicBezTo>
                    <a:pt x="251" y="444"/>
                    <a:pt x="251" y="444"/>
                    <a:pt x="251" y="444"/>
                  </a:cubicBezTo>
                  <a:cubicBezTo>
                    <a:pt x="251" y="408"/>
                    <a:pt x="251" y="408"/>
                    <a:pt x="251" y="408"/>
                  </a:cubicBezTo>
                  <a:cubicBezTo>
                    <a:pt x="254" y="408"/>
                    <a:pt x="258" y="407"/>
                    <a:pt x="262" y="406"/>
                  </a:cubicBezTo>
                  <a:cubicBezTo>
                    <a:pt x="274" y="440"/>
                    <a:pt x="274" y="440"/>
                    <a:pt x="274" y="440"/>
                  </a:cubicBezTo>
                  <a:cubicBezTo>
                    <a:pt x="325" y="421"/>
                    <a:pt x="325" y="421"/>
                    <a:pt x="325" y="421"/>
                  </a:cubicBezTo>
                  <a:cubicBezTo>
                    <a:pt x="313" y="388"/>
                    <a:pt x="313" y="388"/>
                    <a:pt x="313" y="388"/>
                  </a:cubicBezTo>
                  <a:cubicBezTo>
                    <a:pt x="316" y="386"/>
                    <a:pt x="319" y="384"/>
                    <a:pt x="322" y="382"/>
                  </a:cubicBezTo>
                  <a:cubicBezTo>
                    <a:pt x="346" y="410"/>
                    <a:pt x="346" y="410"/>
                    <a:pt x="346" y="410"/>
                  </a:cubicBezTo>
                  <a:cubicBezTo>
                    <a:pt x="387" y="375"/>
                    <a:pt x="387" y="375"/>
                    <a:pt x="387" y="375"/>
                  </a:cubicBezTo>
                  <a:cubicBezTo>
                    <a:pt x="364" y="347"/>
                    <a:pt x="364" y="347"/>
                    <a:pt x="364" y="347"/>
                  </a:cubicBezTo>
                  <a:cubicBezTo>
                    <a:pt x="366" y="344"/>
                    <a:pt x="369" y="342"/>
                    <a:pt x="371" y="339"/>
                  </a:cubicBezTo>
                  <a:cubicBezTo>
                    <a:pt x="402" y="357"/>
                    <a:pt x="402" y="357"/>
                    <a:pt x="402" y="357"/>
                  </a:cubicBezTo>
                  <a:cubicBezTo>
                    <a:pt x="429" y="310"/>
                    <a:pt x="429" y="310"/>
                    <a:pt x="429" y="310"/>
                  </a:cubicBezTo>
                  <a:cubicBezTo>
                    <a:pt x="398" y="292"/>
                    <a:pt x="398" y="292"/>
                    <a:pt x="398" y="292"/>
                  </a:cubicBezTo>
                  <a:cubicBezTo>
                    <a:pt x="400" y="288"/>
                    <a:pt x="401" y="285"/>
                    <a:pt x="402" y="281"/>
                  </a:cubicBezTo>
                  <a:cubicBezTo>
                    <a:pt x="437" y="287"/>
                    <a:pt x="437" y="287"/>
                    <a:pt x="437" y="287"/>
                  </a:cubicBezTo>
                  <a:cubicBezTo>
                    <a:pt x="447" y="234"/>
                    <a:pt x="447" y="234"/>
                    <a:pt x="447" y="234"/>
                  </a:cubicBezTo>
                  <a:cubicBezTo>
                    <a:pt x="412" y="228"/>
                    <a:pt x="412" y="228"/>
                    <a:pt x="412" y="228"/>
                  </a:cubicBezTo>
                  <a:cubicBezTo>
                    <a:pt x="412" y="226"/>
                    <a:pt x="412" y="224"/>
                    <a:pt x="412" y="222"/>
                  </a:cubicBezTo>
                  <a:close/>
                  <a:moveTo>
                    <a:pt x="238" y="56"/>
                  </a:moveTo>
                  <a:cubicBezTo>
                    <a:pt x="288" y="61"/>
                    <a:pt x="333" y="88"/>
                    <a:pt x="360" y="127"/>
                  </a:cubicBezTo>
                  <a:cubicBezTo>
                    <a:pt x="344" y="136"/>
                    <a:pt x="344" y="136"/>
                    <a:pt x="344" y="136"/>
                  </a:cubicBezTo>
                  <a:cubicBezTo>
                    <a:pt x="320" y="102"/>
                    <a:pt x="282" y="79"/>
                    <a:pt x="238" y="75"/>
                  </a:cubicBezTo>
                  <a:lnTo>
                    <a:pt x="238" y="56"/>
                  </a:lnTo>
                  <a:close/>
                  <a:moveTo>
                    <a:pt x="339" y="228"/>
                  </a:moveTo>
                  <a:cubicBezTo>
                    <a:pt x="334" y="256"/>
                    <a:pt x="334" y="256"/>
                    <a:pt x="334" y="256"/>
                  </a:cubicBezTo>
                  <a:cubicBezTo>
                    <a:pt x="316" y="253"/>
                    <a:pt x="316" y="253"/>
                    <a:pt x="316" y="253"/>
                  </a:cubicBezTo>
                  <a:cubicBezTo>
                    <a:pt x="315" y="254"/>
                    <a:pt x="315" y="256"/>
                    <a:pt x="314" y="258"/>
                  </a:cubicBezTo>
                  <a:cubicBezTo>
                    <a:pt x="330" y="267"/>
                    <a:pt x="330" y="267"/>
                    <a:pt x="330" y="267"/>
                  </a:cubicBezTo>
                  <a:cubicBezTo>
                    <a:pt x="316" y="292"/>
                    <a:pt x="316" y="292"/>
                    <a:pt x="316" y="292"/>
                  </a:cubicBezTo>
                  <a:cubicBezTo>
                    <a:pt x="300" y="282"/>
                    <a:pt x="300" y="282"/>
                    <a:pt x="300" y="282"/>
                  </a:cubicBezTo>
                  <a:cubicBezTo>
                    <a:pt x="299" y="284"/>
                    <a:pt x="297" y="285"/>
                    <a:pt x="296" y="287"/>
                  </a:cubicBezTo>
                  <a:cubicBezTo>
                    <a:pt x="299" y="290"/>
                    <a:pt x="299" y="290"/>
                    <a:pt x="299" y="290"/>
                  </a:cubicBezTo>
                  <a:cubicBezTo>
                    <a:pt x="236" y="227"/>
                    <a:pt x="236" y="227"/>
                    <a:pt x="236" y="227"/>
                  </a:cubicBezTo>
                  <a:cubicBezTo>
                    <a:pt x="334" y="227"/>
                    <a:pt x="334" y="227"/>
                    <a:pt x="334" y="227"/>
                  </a:cubicBezTo>
                  <a:lnTo>
                    <a:pt x="339" y="228"/>
                  </a:lnTo>
                  <a:close/>
                  <a:moveTo>
                    <a:pt x="147" y="282"/>
                  </a:moveTo>
                  <a:cubicBezTo>
                    <a:pt x="131" y="292"/>
                    <a:pt x="131" y="292"/>
                    <a:pt x="131" y="292"/>
                  </a:cubicBezTo>
                  <a:cubicBezTo>
                    <a:pt x="117" y="267"/>
                    <a:pt x="117" y="267"/>
                    <a:pt x="117" y="267"/>
                  </a:cubicBezTo>
                  <a:cubicBezTo>
                    <a:pt x="133" y="258"/>
                    <a:pt x="133" y="258"/>
                    <a:pt x="133" y="258"/>
                  </a:cubicBezTo>
                  <a:cubicBezTo>
                    <a:pt x="133" y="256"/>
                    <a:pt x="132" y="254"/>
                    <a:pt x="131" y="253"/>
                  </a:cubicBezTo>
                  <a:cubicBezTo>
                    <a:pt x="113" y="256"/>
                    <a:pt x="113" y="256"/>
                    <a:pt x="113" y="256"/>
                  </a:cubicBezTo>
                  <a:cubicBezTo>
                    <a:pt x="108" y="228"/>
                    <a:pt x="108" y="228"/>
                    <a:pt x="108" y="228"/>
                  </a:cubicBezTo>
                  <a:cubicBezTo>
                    <a:pt x="113" y="227"/>
                    <a:pt x="113" y="227"/>
                    <a:pt x="113" y="227"/>
                  </a:cubicBezTo>
                  <a:cubicBezTo>
                    <a:pt x="211" y="227"/>
                    <a:pt x="211" y="227"/>
                    <a:pt x="211" y="227"/>
                  </a:cubicBezTo>
                  <a:cubicBezTo>
                    <a:pt x="148" y="290"/>
                    <a:pt x="148" y="290"/>
                    <a:pt x="148" y="290"/>
                  </a:cubicBezTo>
                  <a:cubicBezTo>
                    <a:pt x="151" y="287"/>
                    <a:pt x="151" y="287"/>
                    <a:pt x="151" y="287"/>
                  </a:cubicBezTo>
                  <a:cubicBezTo>
                    <a:pt x="150" y="285"/>
                    <a:pt x="149" y="284"/>
                    <a:pt x="147" y="282"/>
                  </a:cubicBezTo>
                  <a:close/>
                  <a:moveTo>
                    <a:pt x="108" y="216"/>
                  </a:moveTo>
                  <a:cubicBezTo>
                    <a:pt x="113" y="188"/>
                    <a:pt x="113" y="188"/>
                    <a:pt x="113" y="188"/>
                  </a:cubicBezTo>
                  <a:cubicBezTo>
                    <a:pt x="131" y="192"/>
                    <a:pt x="131" y="192"/>
                    <a:pt x="131" y="192"/>
                  </a:cubicBezTo>
                  <a:cubicBezTo>
                    <a:pt x="132" y="190"/>
                    <a:pt x="133" y="188"/>
                    <a:pt x="133" y="186"/>
                  </a:cubicBezTo>
                  <a:cubicBezTo>
                    <a:pt x="117" y="177"/>
                    <a:pt x="117" y="177"/>
                    <a:pt x="117" y="177"/>
                  </a:cubicBezTo>
                  <a:cubicBezTo>
                    <a:pt x="131" y="153"/>
                    <a:pt x="131" y="153"/>
                    <a:pt x="131" y="153"/>
                  </a:cubicBezTo>
                  <a:cubicBezTo>
                    <a:pt x="147" y="162"/>
                    <a:pt x="147" y="162"/>
                    <a:pt x="147" y="162"/>
                  </a:cubicBezTo>
                  <a:cubicBezTo>
                    <a:pt x="149" y="160"/>
                    <a:pt x="150" y="159"/>
                    <a:pt x="151" y="158"/>
                  </a:cubicBezTo>
                  <a:cubicBezTo>
                    <a:pt x="148" y="154"/>
                    <a:pt x="148" y="154"/>
                    <a:pt x="148" y="154"/>
                  </a:cubicBezTo>
                  <a:cubicBezTo>
                    <a:pt x="211" y="217"/>
                    <a:pt x="211" y="217"/>
                    <a:pt x="211" y="217"/>
                  </a:cubicBezTo>
                  <a:cubicBezTo>
                    <a:pt x="113" y="217"/>
                    <a:pt x="113" y="217"/>
                    <a:pt x="113" y="217"/>
                  </a:cubicBezTo>
                  <a:lnTo>
                    <a:pt x="108" y="216"/>
                  </a:lnTo>
                  <a:close/>
                  <a:moveTo>
                    <a:pt x="300" y="162"/>
                  </a:moveTo>
                  <a:cubicBezTo>
                    <a:pt x="316" y="153"/>
                    <a:pt x="316" y="153"/>
                    <a:pt x="316" y="153"/>
                  </a:cubicBezTo>
                  <a:cubicBezTo>
                    <a:pt x="330" y="177"/>
                    <a:pt x="330" y="177"/>
                    <a:pt x="330" y="177"/>
                  </a:cubicBezTo>
                  <a:cubicBezTo>
                    <a:pt x="314" y="186"/>
                    <a:pt x="314" y="186"/>
                    <a:pt x="314" y="186"/>
                  </a:cubicBezTo>
                  <a:cubicBezTo>
                    <a:pt x="315" y="188"/>
                    <a:pt x="315" y="190"/>
                    <a:pt x="316" y="192"/>
                  </a:cubicBezTo>
                  <a:cubicBezTo>
                    <a:pt x="334" y="188"/>
                    <a:pt x="334" y="188"/>
                    <a:pt x="334" y="188"/>
                  </a:cubicBezTo>
                  <a:cubicBezTo>
                    <a:pt x="339" y="216"/>
                    <a:pt x="339" y="216"/>
                    <a:pt x="339" y="216"/>
                  </a:cubicBezTo>
                  <a:cubicBezTo>
                    <a:pt x="334" y="217"/>
                    <a:pt x="334" y="217"/>
                    <a:pt x="334" y="217"/>
                  </a:cubicBezTo>
                  <a:cubicBezTo>
                    <a:pt x="236" y="217"/>
                    <a:pt x="236" y="217"/>
                    <a:pt x="236" y="217"/>
                  </a:cubicBezTo>
                  <a:cubicBezTo>
                    <a:pt x="299" y="154"/>
                    <a:pt x="299" y="154"/>
                    <a:pt x="299" y="154"/>
                  </a:cubicBezTo>
                  <a:cubicBezTo>
                    <a:pt x="296" y="158"/>
                    <a:pt x="296" y="158"/>
                    <a:pt x="296" y="158"/>
                  </a:cubicBezTo>
                  <a:cubicBezTo>
                    <a:pt x="297" y="159"/>
                    <a:pt x="299" y="160"/>
                    <a:pt x="300" y="162"/>
                  </a:cubicBezTo>
                  <a:close/>
                  <a:moveTo>
                    <a:pt x="243" y="127"/>
                  </a:moveTo>
                  <a:cubicBezTo>
                    <a:pt x="250" y="110"/>
                    <a:pt x="250" y="110"/>
                    <a:pt x="250" y="110"/>
                  </a:cubicBezTo>
                  <a:cubicBezTo>
                    <a:pt x="276" y="119"/>
                    <a:pt x="276" y="119"/>
                    <a:pt x="276" y="119"/>
                  </a:cubicBezTo>
                  <a:cubicBezTo>
                    <a:pt x="270" y="137"/>
                    <a:pt x="270" y="137"/>
                    <a:pt x="270" y="137"/>
                  </a:cubicBezTo>
                  <a:cubicBezTo>
                    <a:pt x="271" y="138"/>
                    <a:pt x="273" y="138"/>
                    <a:pt x="275" y="140"/>
                  </a:cubicBezTo>
                  <a:cubicBezTo>
                    <a:pt x="287" y="125"/>
                    <a:pt x="287" y="125"/>
                    <a:pt x="287" y="125"/>
                  </a:cubicBezTo>
                  <a:cubicBezTo>
                    <a:pt x="301" y="137"/>
                    <a:pt x="301" y="137"/>
                    <a:pt x="301" y="137"/>
                  </a:cubicBezTo>
                  <a:cubicBezTo>
                    <a:pt x="229" y="210"/>
                    <a:pt x="229" y="210"/>
                    <a:pt x="229" y="210"/>
                  </a:cubicBezTo>
                  <a:cubicBezTo>
                    <a:pt x="229" y="107"/>
                    <a:pt x="229" y="107"/>
                    <a:pt x="229" y="107"/>
                  </a:cubicBezTo>
                  <a:cubicBezTo>
                    <a:pt x="238" y="107"/>
                    <a:pt x="238" y="107"/>
                    <a:pt x="238" y="107"/>
                  </a:cubicBezTo>
                  <a:cubicBezTo>
                    <a:pt x="238" y="126"/>
                    <a:pt x="238" y="126"/>
                    <a:pt x="238" y="126"/>
                  </a:cubicBezTo>
                  <a:cubicBezTo>
                    <a:pt x="240" y="126"/>
                    <a:pt x="241" y="127"/>
                    <a:pt x="243" y="127"/>
                  </a:cubicBezTo>
                  <a:close/>
                  <a:moveTo>
                    <a:pt x="210" y="107"/>
                  </a:moveTo>
                  <a:cubicBezTo>
                    <a:pt x="218" y="107"/>
                    <a:pt x="218" y="107"/>
                    <a:pt x="218" y="107"/>
                  </a:cubicBezTo>
                  <a:cubicBezTo>
                    <a:pt x="218" y="210"/>
                    <a:pt x="218" y="210"/>
                    <a:pt x="218" y="210"/>
                  </a:cubicBezTo>
                  <a:cubicBezTo>
                    <a:pt x="146" y="137"/>
                    <a:pt x="146" y="137"/>
                    <a:pt x="146" y="137"/>
                  </a:cubicBezTo>
                  <a:cubicBezTo>
                    <a:pt x="161" y="125"/>
                    <a:pt x="161" y="125"/>
                    <a:pt x="161" y="125"/>
                  </a:cubicBezTo>
                  <a:cubicBezTo>
                    <a:pt x="173" y="140"/>
                    <a:pt x="173" y="140"/>
                    <a:pt x="173" y="140"/>
                  </a:cubicBezTo>
                  <a:cubicBezTo>
                    <a:pt x="174" y="138"/>
                    <a:pt x="176" y="138"/>
                    <a:pt x="178" y="137"/>
                  </a:cubicBezTo>
                  <a:cubicBezTo>
                    <a:pt x="171" y="119"/>
                    <a:pt x="171" y="119"/>
                    <a:pt x="171" y="119"/>
                  </a:cubicBezTo>
                  <a:cubicBezTo>
                    <a:pt x="198" y="110"/>
                    <a:pt x="198" y="110"/>
                    <a:pt x="198" y="110"/>
                  </a:cubicBezTo>
                  <a:cubicBezTo>
                    <a:pt x="204" y="127"/>
                    <a:pt x="204" y="127"/>
                    <a:pt x="204" y="127"/>
                  </a:cubicBezTo>
                  <a:cubicBezTo>
                    <a:pt x="206" y="127"/>
                    <a:pt x="208" y="126"/>
                    <a:pt x="210" y="126"/>
                  </a:cubicBezTo>
                  <a:lnTo>
                    <a:pt x="210" y="107"/>
                  </a:lnTo>
                  <a:close/>
                  <a:moveTo>
                    <a:pt x="209" y="56"/>
                  </a:moveTo>
                  <a:cubicBezTo>
                    <a:pt x="209" y="75"/>
                    <a:pt x="209" y="75"/>
                    <a:pt x="209" y="75"/>
                  </a:cubicBezTo>
                  <a:cubicBezTo>
                    <a:pt x="166" y="79"/>
                    <a:pt x="127" y="102"/>
                    <a:pt x="103" y="136"/>
                  </a:cubicBezTo>
                  <a:cubicBezTo>
                    <a:pt x="87" y="127"/>
                    <a:pt x="87" y="127"/>
                    <a:pt x="87" y="127"/>
                  </a:cubicBezTo>
                  <a:cubicBezTo>
                    <a:pt x="115" y="88"/>
                    <a:pt x="159" y="61"/>
                    <a:pt x="209" y="56"/>
                  </a:cubicBezTo>
                  <a:close/>
                  <a:moveTo>
                    <a:pt x="73" y="293"/>
                  </a:moveTo>
                  <a:cubicBezTo>
                    <a:pt x="63" y="271"/>
                    <a:pt x="57" y="247"/>
                    <a:pt x="57" y="222"/>
                  </a:cubicBezTo>
                  <a:cubicBezTo>
                    <a:pt x="57" y="197"/>
                    <a:pt x="63" y="173"/>
                    <a:pt x="73" y="152"/>
                  </a:cubicBezTo>
                  <a:cubicBezTo>
                    <a:pt x="89" y="161"/>
                    <a:pt x="89" y="161"/>
                    <a:pt x="89" y="161"/>
                  </a:cubicBezTo>
                  <a:cubicBezTo>
                    <a:pt x="80" y="179"/>
                    <a:pt x="75" y="200"/>
                    <a:pt x="75" y="222"/>
                  </a:cubicBezTo>
                  <a:cubicBezTo>
                    <a:pt x="75" y="244"/>
                    <a:pt x="80" y="265"/>
                    <a:pt x="89" y="284"/>
                  </a:cubicBezTo>
                  <a:lnTo>
                    <a:pt x="73" y="293"/>
                  </a:lnTo>
                  <a:close/>
                  <a:moveTo>
                    <a:pt x="209" y="388"/>
                  </a:moveTo>
                  <a:cubicBezTo>
                    <a:pt x="159" y="384"/>
                    <a:pt x="115" y="357"/>
                    <a:pt x="87" y="317"/>
                  </a:cubicBezTo>
                  <a:cubicBezTo>
                    <a:pt x="103" y="308"/>
                    <a:pt x="103" y="308"/>
                    <a:pt x="103" y="308"/>
                  </a:cubicBezTo>
                  <a:cubicBezTo>
                    <a:pt x="127" y="342"/>
                    <a:pt x="166" y="366"/>
                    <a:pt x="209" y="370"/>
                  </a:cubicBezTo>
                  <a:lnTo>
                    <a:pt x="209" y="388"/>
                  </a:lnTo>
                  <a:close/>
                  <a:moveTo>
                    <a:pt x="204" y="317"/>
                  </a:moveTo>
                  <a:cubicBezTo>
                    <a:pt x="198" y="335"/>
                    <a:pt x="198" y="335"/>
                    <a:pt x="198" y="335"/>
                  </a:cubicBezTo>
                  <a:cubicBezTo>
                    <a:pt x="171" y="325"/>
                    <a:pt x="171" y="325"/>
                    <a:pt x="171" y="325"/>
                  </a:cubicBezTo>
                  <a:cubicBezTo>
                    <a:pt x="178" y="308"/>
                    <a:pt x="178" y="308"/>
                    <a:pt x="178" y="308"/>
                  </a:cubicBezTo>
                  <a:cubicBezTo>
                    <a:pt x="176" y="307"/>
                    <a:pt x="174" y="306"/>
                    <a:pt x="173" y="305"/>
                  </a:cubicBezTo>
                  <a:cubicBezTo>
                    <a:pt x="161" y="319"/>
                    <a:pt x="161" y="319"/>
                    <a:pt x="161" y="319"/>
                  </a:cubicBezTo>
                  <a:cubicBezTo>
                    <a:pt x="146" y="307"/>
                    <a:pt x="146" y="307"/>
                    <a:pt x="146" y="307"/>
                  </a:cubicBezTo>
                  <a:cubicBezTo>
                    <a:pt x="218" y="235"/>
                    <a:pt x="218" y="235"/>
                    <a:pt x="218" y="235"/>
                  </a:cubicBezTo>
                  <a:cubicBezTo>
                    <a:pt x="218" y="337"/>
                    <a:pt x="218" y="337"/>
                    <a:pt x="218" y="337"/>
                  </a:cubicBezTo>
                  <a:cubicBezTo>
                    <a:pt x="210" y="337"/>
                    <a:pt x="210" y="337"/>
                    <a:pt x="210" y="337"/>
                  </a:cubicBezTo>
                  <a:cubicBezTo>
                    <a:pt x="210" y="318"/>
                    <a:pt x="210" y="318"/>
                    <a:pt x="210" y="318"/>
                  </a:cubicBezTo>
                  <a:cubicBezTo>
                    <a:pt x="208" y="318"/>
                    <a:pt x="206" y="318"/>
                    <a:pt x="204" y="317"/>
                  </a:cubicBezTo>
                  <a:close/>
                  <a:moveTo>
                    <a:pt x="238" y="337"/>
                  </a:moveTo>
                  <a:cubicBezTo>
                    <a:pt x="229" y="337"/>
                    <a:pt x="229" y="337"/>
                    <a:pt x="229" y="337"/>
                  </a:cubicBezTo>
                  <a:cubicBezTo>
                    <a:pt x="229" y="235"/>
                    <a:pt x="229" y="235"/>
                    <a:pt x="229" y="235"/>
                  </a:cubicBezTo>
                  <a:cubicBezTo>
                    <a:pt x="301" y="307"/>
                    <a:pt x="301" y="307"/>
                    <a:pt x="301" y="307"/>
                  </a:cubicBezTo>
                  <a:cubicBezTo>
                    <a:pt x="287" y="319"/>
                    <a:pt x="287" y="319"/>
                    <a:pt x="287" y="319"/>
                  </a:cubicBezTo>
                  <a:cubicBezTo>
                    <a:pt x="275" y="305"/>
                    <a:pt x="275" y="305"/>
                    <a:pt x="275" y="305"/>
                  </a:cubicBezTo>
                  <a:cubicBezTo>
                    <a:pt x="273" y="306"/>
                    <a:pt x="271" y="307"/>
                    <a:pt x="270" y="308"/>
                  </a:cubicBezTo>
                  <a:cubicBezTo>
                    <a:pt x="276" y="325"/>
                    <a:pt x="276" y="325"/>
                    <a:pt x="276" y="325"/>
                  </a:cubicBezTo>
                  <a:cubicBezTo>
                    <a:pt x="250" y="335"/>
                    <a:pt x="250" y="335"/>
                    <a:pt x="250" y="335"/>
                  </a:cubicBezTo>
                  <a:cubicBezTo>
                    <a:pt x="243" y="317"/>
                    <a:pt x="243" y="317"/>
                    <a:pt x="243" y="317"/>
                  </a:cubicBezTo>
                  <a:cubicBezTo>
                    <a:pt x="241" y="318"/>
                    <a:pt x="240" y="318"/>
                    <a:pt x="238" y="318"/>
                  </a:cubicBezTo>
                  <a:lnTo>
                    <a:pt x="238" y="337"/>
                  </a:lnTo>
                  <a:close/>
                  <a:moveTo>
                    <a:pt x="238" y="388"/>
                  </a:moveTo>
                  <a:cubicBezTo>
                    <a:pt x="238" y="370"/>
                    <a:pt x="238" y="370"/>
                    <a:pt x="238" y="370"/>
                  </a:cubicBezTo>
                  <a:cubicBezTo>
                    <a:pt x="282" y="366"/>
                    <a:pt x="320" y="342"/>
                    <a:pt x="344" y="308"/>
                  </a:cubicBezTo>
                  <a:cubicBezTo>
                    <a:pt x="360" y="317"/>
                    <a:pt x="360" y="317"/>
                    <a:pt x="360" y="317"/>
                  </a:cubicBezTo>
                  <a:cubicBezTo>
                    <a:pt x="333" y="357"/>
                    <a:pt x="288" y="384"/>
                    <a:pt x="238" y="388"/>
                  </a:cubicBezTo>
                  <a:close/>
                  <a:moveTo>
                    <a:pt x="374" y="293"/>
                  </a:moveTo>
                  <a:cubicBezTo>
                    <a:pt x="359" y="284"/>
                    <a:pt x="359" y="284"/>
                    <a:pt x="359" y="284"/>
                  </a:cubicBezTo>
                  <a:cubicBezTo>
                    <a:pt x="367" y="265"/>
                    <a:pt x="372" y="244"/>
                    <a:pt x="372" y="222"/>
                  </a:cubicBezTo>
                  <a:cubicBezTo>
                    <a:pt x="372" y="200"/>
                    <a:pt x="367" y="179"/>
                    <a:pt x="359" y="161"/>
                  </a:cubicBezTo>
                  <a:cubicBezTo>
                    <a:pt x="374" y="152"/>
                    <a:pt x="374" y="152"/>
                    <a:pt x="374" y="152"/>
                  </a:cubicBezTo>
                  <a:cubicBezTo>
                    <a:pt x="384" y="173"/>
                    <a:pt x="390" y="197"/>
                    <a:pt x="390" y="222"/>
                  </a:cubicBezTo>
                  <a:cubicBezTo>
                    <a:pt x="390" y="247"/>
                    <a:pt x="384" y="271"/>
                    <a:pt x="374" y="293"/>
                  </a:cubicBez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cxnSp>
        <p:nvCxnSpPr>
          <p:cNvPr id="27" name="肘形连接符 59">
            <a:extLst>
              <a:ext uri="{FF2B5EF4-FFF2-40B4-BE49-F238E27FC236}">
                <a16:creationId xmlns:a16="http://schemas.microsoft.com/office/drawing/2014/main" id="{BD2BD6FF-9462-412D-4086-D61C149730FF}"/>
              </a:ext>
            </a:extLst>
          </p:cNvPr>
          <p:cNvCxnSpPr>
            <a:cxnSpLocks/>
          </p:cNvCxnSpPr>
          <p:nvPr/>
        </p:nvCxnSpPr>
        <p:spPr>
          <a:xfrm rot="10800000">
            <a:off x="2091607" y="2687250"/>
            <a:ext cx="441385" cy="385435"/>
          </a:xfrm>
          <a:prstGeom prst="bentConnector3">
            <a:avLst>
              <a:gd name="adj1" fmla="val 50000"/>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E34B86-97C2-8BC0-2232-6466323C91E5}"/>
              </a:ext>
            </a:extLst>
          </p:cNvPr>
          <p:cNvCxnSpPr>
            <a:cxnSpLocks/>
          </p:cNvCxnSpPr>
          <p:nvPr/>
        </p:nvCxnSpPr>
        <p:spPr>
          <a:xfrm>
            <a:off x="514441" y="1975855"/>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TextBox 31">
            <a:extLst>
              <a:ext uri="{FF2B5EF4-FFF2-40B4-BE49-F238E27FC236}">
                <a16:creationId xmlns:a16="http://schemas.microsoft.com/office/drawing/2014/main" id="{EC328BA9-6ACE-8EAC-01E2-F77B28E3E65D}"/>
              </a:ext>
            </a:extLst>
          </p:cNvPr>
          <p:cNvSpPr txBox="1">
            <a:spLocks noChangeArrowheads="1"/>
          </p:cNvSpPr>
          <p:nvPr/>
        </p:nvSpPr>
        <p:spPr bwMode="auto">
          <a:xfrm>
            <a:off x="1983540" y="1830042"/>
            <a:ext cx="1890161"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Key Components</a:t>
            </a:r>
            <a:endParaRPr lang="id-ID" sz="1100" b="1" i="1" dirty="0">
              <a:latin typeface="+mn-lt"/>
              <a:ea typeface="Lato Black" pitchFamily="34" charset="0"/>
              <a:cs typeface="Lato Black" pitchFamily="34" charset="0"/>
            </a:endParaRPr>
          </a:p>
        </p:txBody>
      </p:sp>
      <p:cxnSp>
        <p:nvCxnSpPr>
          <p:cNvPr id="33" name="Straight Connector 32">
            <a:extLst>
              <a:ext uri="{FF2B5EF4-FFF2-40B4-BE49-F238E27FC236}">
                <a16:creationId xmlns:a16="http://schemas.microsoft.com/office/drawing/2014/main" id="{E3D36857-5323-9004-53D8-DB8205EF4704}"/>
              </a:ext>
            </a:extLst>
          </p:cNvPr>
          <p:cNvCxnSpPr>
            <a:cxnSpLocks/>
          </p:cNvCxnSpPr>
          <p:nvPr/>
        </p:nvCxnSpPr>
        <p:spPr>
          <a:xfrm>
            <a:off x="6751955" y="1975855"/>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1">
            <a:extLst>
              <a:ext uri="{FF2B5EF4-FFF2-40B4-BE49-F238E27FC236}">
                <a16:creationId xmlns:a16="http://schemas.microsoft.com/office/drawing/2014/main" id="{086371D6-616B-6D2F-6447-04689A2CF56E}"/>
              </a:ext>
            </a:extLst>
          </p:cNvPr>
          <p:cNvSpPr txBox="1">
            <a:spLocks noChangeArrowheads="1"/>
          </p:cNvSpPr>
          <p:nvPr/>
        </p:nvSpPr>
        <p:spPr bwMode="auto">
          <a:xfrm>
            <a:off x="8221054" y="1830042"/>
            <a:ext cx="1890161"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Working Principles</a:t>
            </a:r>
            <a:endParaRPr lang="id-ID" sz="1100" b="1" i="1" dirty="0">
              <a:latin typeface="+mn-lt"/>
              <a:ea typeface="Lato Black" pitchFamily="34" charset="0"/>
              <a:cs typeface="Lato Black" pitchFamily="34" charset="0"/>
            </a:endParaRPr>
          </a:p>
        </p:txBody>
      </p:sp>
      <p:sp>
        <p:nvSpPr>
          <p:cNvPr id="35" name="Rectangle: Rounded Corners 34">
            <a:extLst>
              <a:ext uri="{FF2B5EF4-FFF2-40B4-BE49-F238E27FC236}">
                <a16:creationId xmlns:a16="http://schemas.microsoft.com/office/drawing/2014/main" id="{7A7E2D30-7F23-B139-48F7-7E188EB8DBBB}"/>
              </a:ext>
            </a:extLst>
          </p:cNvPr>
          <p:cNvSpPr/>
          <p:nvPr/>
        </p:nvSpPr>
        <p:spPr bwMode="gray">
          <a:xfrm>
            <a:off x="483097" y="2270001"/>
            <a:ext cx="1527292" cy="1363266"/>
          </a:xfrm>
          <a:prstGeom prst="roundRect">
            <a:avLst/>
          </a:prstGeom>
          <a:ln>
            <a:prstDash val="solid"/>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800" b="1" dirty="0">
                <a:solidFill>
                  <a:schemeClr val="tx1"/>
                </a:solidFill>
              </a:rPr>
              <a:t>Hardware</a:t>
            </a:r>
          </a:p>
          <a:p>
            <a:pPr algn="just">
              <a:lnSpc>
                <a:spcPct val="106000"/>
              </a:lnSpc>
            </a:pPr>
            <a:r>
              <a:rPr lang="en-US" sz="800" dirty="0">
                <a:solidFill>
                  <a:schemeClr val="tx1"/>
                </a:solidFill>
              </a:rPr>
              <a:t>GIS software operates on diverse hardware, ranging from centralized servers to desktop computers in standalone or networked setups.</a:t>
            </a:r>
          </a:p>
        </p:txBody>
      </p:sp>
      <p:sp>
        <p:nvSpPr>
          <p:cNvPr id="38" name="Rectangle: Rounded Corners 37">
            <a:extLst>
              <a:ext uri="{FF2B5EF4-FFF2-40B4-BE49-F238E27FC236}">
                <a16:creationId xmlns:a16="http://schemas.microsoft.com/office/drawing/2014/main" id="{1FFD1CCE-9209-CF4D-F719-EC078823E7DA}"/>
              </a:ext>
            </a:extLst>
          </p:cNvPr>
          <p:cNvSpPr/>
          <p:nvPr/>
        </p:nvSpPr>
        <p:spPr bwMode="gray">
          <a:xfrm>
            <a:off x="483097" y="3935142"/>
            <a:ext cx="1527292" cy="2276521"/>
          </a:xfrm>
          <a:prstGeom prst="roundRect">
            <a:avLst/>
          </a:prstGeom>
          <a:ln>
            <a:prstDash val="solid"/>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800" b="1" dirty="0">
                <a:solidFill>
                  <a:schemeClr val="tx1"/>
                </a:solidFill>
              </a:rPr>
              <a:t>Software</a:t>
            </a:r>
          </a:p>
          <a:p>
            <a:pPr algn="just">
              <a:lnSpc>
                <a:spcPct val="106000"/>
              </a:lnSpc>
            </a:pPr>
            <a:r>
              <a:rPr lang="en-US" sz="800" dirty="0">
                <a:solidFill>
                  <a:schemeClr val="tx1"/>
                </a:solidFill>
              </a:rPr>
              <a:t>GIS software provides functions for storing, analyzing, and displaying geographic information, including tools for data input and manipulation, a database management system (DBMS), support for geographic query, analysis, and visualization, all accessible through a user-friendly graphical interface (GUI).</a:t>
            </a:r>
          </a:p>
        </p:txBody>
      </p:sp>
      <p:cxnSp>
        <p:nvCxnSpPr>
          <p:cNvPr id="39" name="肘形连接符 59">
            <a:extLst>
              <a:ext uri="{FF2B5EF4-FFF2-40B4-BE49-F238E27FC236}">
                <a16:creationId xmlns:a16="http://schemas.microsoft.com/office/drawing/2014/main" id="{73251D3F-43AC-CC4B-06EE-2C0F691447B2}"/>
              </a:ext>
            </a:extLst>
          </p:cNvPr>
          <p:cNvCxnSpPr>
            <a:cxnSpLocks/>
            <a:stCxn id="4" idx="11"/>
            <a:endCxn id="38" idx="3"/>
          </p:cNvCxnSpPr>
          <p:nvPr/>
        </p:nvCxnSpPr>
        <p:spPr>
          <a:xfrm flipH="1">
            <a:off x="2010389" y="4870331"/>
            <a:ext cx="404076" cy="203072"/>
          </a:xfrm>
          <a:prstGeom prst="bentConnector3">
            <a:avLst>
              <a:gd name="adj1" fmla="val 41383"/>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B3012A77-6F9A-8171-E446-A69CE6080FB7}"/>
              </a:ext>
            </a:extLst>
          </p:cNvPr>
          <p:cNvSpPr/>
          <p:nvPr/>
        </p:nvSpPr>
        <p:spPr bwMode="gray">
          <a:xfrm>
            <a:off x="4102560" y="2270000"/>
            <a:ext cx="1527292" cy="2236959"/>
          </a:xfrm>
          <a:prstGeom prst="roundRect">
            <a:avLst/>
          </a:prstGeom>
          <a:ln>
            <a:prstDash val="solid"/>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800" b="1" dirty="0">
                <a:solidFill>
                  <a:schemeClr val="tx1"/>
                </a:solidFill>
              </a:rPr>
              <a:t>Data</a:t>
            </a:r>
          </a:p>
          <a:p>
            <a:pPr algn="just">
              <a:lnSpc>
                <a:spcPct val="106000"/>
              </a:lnSpc>
            </a:pPr>
            <a:r>
              <a:rPr lang="en-US" sz="800" dirty="0">
                <a:solidFill>
                  <a:schemeClr val="tx1"/>
                </a:solidFill>
              </a:rPr>
              <a:t>Geographic data and related tabular data can be collected in-house or purchased from a commercial data provider. A GIS will integrate spatial data with other data resources and can even use a DBMS, used by most organizations to organize and maintain their data, to manage spatial data. </a:t>
            </a:r>
          </a:p>
        </p:txBody>
      </p:sp>
      <p:cxnSp>
        <p:nvCxnSpPr>
          <p:cNvPr id="51" name="肘形连接符 59">
            <a:extLst>
              <a:ext uri="{FF2B5EF4-FFF2-40B4-BE49-F238E27FC236}">
                <a16:creationId xmlns:a16="http://schemas.microsoft.com/office/drawing/2014/main" id="{4CEC49A1-6560-A94A-3FEB-6EB763B18E14}"/>
              </a:ext>
            </a:extLst>
          </p:cNvPr>
          <p:cNvCxnSpPr>
            <a:cxnSpLocks/>
          </p:cNvCxnSpPr>
          <p:nvPr/>
        </p:nvCxnSpPr>
        <p:spPr>
          <a:xfrm rot="10800000" flipV="1">
            <a:off x="3696859" y="2509751"/>
            <a:ext cx="382249" cy="198370"/>
          </a:xfrm>
          <a:prstGeom prst="bentConnector3">
            <a:avLst>
              <a:gd name="adj1" fmla="val 101305"/>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CC273E72-221B-C3C4-37AC-30E5E962CF30}"/>
              </a:ext>
            </a:extLst>
          </p:cNvPr>
          <p:cNvSpPr/>
          <p:nvPr/>
        </p:nvSpPr>
        <p:spPr bwMode="gray">
          <a:xfrm>
            <a:off x="4102560" y="4848397"/>
            <a:ext cx="1527292" cy="1363266"/>
          </a:xfrm>
          <a:prstGeom prst="roundRect">
            <a:avLst/>
          </a:prstGeom>
          <a:ln>
            <a:prstDash val="solid"/>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800" b="1" dirty="0">
                <a:solidFill>
                  <a:schemeClr val="tx1"/>
                </a:solidFill>
              </a:rPr>
              <a:t>Methods</a:t>
            </a:r>
          </a:p>
          <a:p>
            <a:pPr algn="just">
              <a:lnSpc>
                <a:spcPct val="106000"/>
              </a:lnSpc>
            </a:pPr>
            <a:r>
              <a:rPr lang="en-US" sz="800" dirty="0">
                <a:solidFill>
                  <a:schemeClr val="tx1"/>
                </a:solidFill>
              </a:rPr>
              <a:t>A successful GIS operates according to a well-designed plan and business rules, which are the models and operating practices unique to each organization. </a:t>
            </a:r>
          </a:p>
        </p:txBody>
      </p:sp>
      <p:cxnSp>
        <p:nvCxnSpPr>
          <p:cNvPr id="62" name="肘形连接符 59">
            <a:extLst>
              <a:ext uri="{FF2B5EF4-FFF2-40B4-BE49-F238E27FC236}">
                <a16:creationId xmlns:a16="http://schemas.microsoft.com/office/drawing/2014/main" id="{7248CEF1-54A1-6631-E375-E7981E9F4A18}"/>
              </a:ext>
            </a:extLst>
          </p:cNvPr>
          <p:cNvCxnSpPr>
            <a:cxnSpLocks/>
          </p:cNvCxnSpPr>
          <p:nvPr/>
        </p:nvCxnSpPr>
        <p:spPr>
          <a:xfrm rot="10800000">
            <a:off x="3537681" y="5223690"/>
            <a:ext cx="481554" cy="306341"/>
          </a:xfrm>
          <a:prstGeom prst="bentConnector3">
            <a:avLst>
              <a:gd name="adj1" fmla="val 50000"/>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B6AD34C4-BCC9-D805-88D1-17325E5FB58E}"/>
              </a:ext>
            </a:extLst>
          </p:cNvPr>
          <p:cNvSpPr/>
          <p:nvPr/>
        </p:nvSpPr>
        <p:spPr bwMode="gray">
          <a:xfrm>
            <a:off x="6751955" y="2236159"/>
            <a:ext cx="4956947" cy="302809"/>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defTabSz="820738">
              <a:defRPr/>
            </a:pPr>
            <a:r>
              <a:rPr lang="en-US" sz="800" b="1" dirty="0">
                <a:solidFill>
                  <a:schemeClr val="bg1"/>
                </a:solidFill>
                <a:ea typeface="ＭＳ Ｐゴシック" pitchFamily="50" charset="-128"/>
              </a:rPr>
              <a:t>1. Geographic References</a:t>
            </a:r>
          </a:p>
        </p:txBody>
      </p:sp>
      <p:sp>
        <p:nvSpPr>
          <p:cNvPr id="65" name="Rectangle: Rounded Corners 64">
            <a:extLst>
              <a:ext uri="{FF2B5EF4-FFF2-40B4-BE49-F238E27FC236}">
                <a16:creationId xmlns:a16="http://schemas.microsoft.com/office/drawing/2014/main" id="{A237AA27-96FB-3037-13C6-9332069D25E3}"/>
              </a:ext>
            </a:extLst>
          </p:cNvPr>
          <p:cNvSpPr/>
          <p:nvPr/>
        </p:nvSpPr>
        <p:spPr bwMode="gray">
          <a:xfrm>
            <a:off x="6751955" y="2533954"/>
            <a:ext cx="4956947" cy="959656"/>
          </a:xfrm>
          <a:prstGeom prst="roundRect">
            <a:avLst/>
          </a:prstGeom>
          <a:solidFill>
            <a:srgbClr val="DDEFE8"/>
          </a:solidFill>
          <a:ln>
            <a:noFill/>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800" dirty="0">
                <a:solidFill>
                  <a:schemeClr val="tx1"/>
                </a:solidFill>
              </a:rPr>
              <a:t>Geographic information </a:t>
            </a:r>
            <a:r>
              <a:rPr lang="en-US" sz="800" b="1" dirty="0">
                <a:solidFill>
                  <a:schemeClr val="tx1"/>
                </a:solidFill>
              </a:rPr>
              <a:t>includes explicit references </a:t>
            </a:r>
            <a:r>
              <a:rPr lang="en-US" sz="800" dirty="0">
                <a:solidFill>
                  <a:schemeClr val="tx1"/>
                </a:solidFill>
              </a:rPr>
              <a:t>like latitude and longitude or national grid coordinates, </a:t>
            </a:r>
            <a:r>
              <a:rPr lang="en-US" sz="800" b="1" dirty="0">
                <a:solidFill>
                  <a:schemeClr val="tx1"/>
                </a:solidFill>
              </a:rPr>
              <a:t>as well as implicit references </a:t>
            </a:r>
            <a:r>
              <a:rPr lang="en-US" sz="800" dirty="0">
                <a:solidFill>
                  <a:schemeClr val="tx1"/>
                </a:solidFill>
              </a:rPr>
              <a:t>such as addresses, postal codes, census tract names, forest stand identifiers, or road names.</a:t>
            </a:r>
          </a:p>
          <a:p>
            <a:pPr marL="285750" indent="-285750">
              <a:lnSpc>
                <a:spcPct val="106000"/>
              </a:lnSpc>
              <a:buFont typeface="Arial" panose="020B0604020202020204" pitchFamily="34" charset="0"/>
              <a:buChar char="•"/>
            </a:pPr>
            <a:r>
              <a:rPr lang="en-US" sz="800" b="1" dirty="0">
                <a:solidFill>
                  <a:schemeClr val="tx1"/>
                </a:solidFill>
              </a:rPr>
              <a:t>Geocoding,</a:t>
            </a:r>
            <a:r>
              <a:rPr lang="en-US" sz="800" dirty="0">
                <a:solidFill>
                  <a:schemeClr val="tx1"/>
                </a:solidFill>
              </a:rPr>
              <a:t> an automated process, </a:t>
            </a:r>
            <a:r>
              <a:rPr lang="en-US" sz="800" b="1" dirty="0">
                <a:solidFill>
                  <a:schemeClr val="tx1"/>
                </a:solidFill>
              </a:rPr>
              <a:t>transforms implicit references (e.g., addresses) into explicit geographic coordinates, enabling location-based analysis.</a:t>
            </a:r>
          </a:p>
        </p:txBody>
      </p:sp>
      <p:sp>
        <p:nvSpPr>
          <p:cNvPr id="66" name="Rectangle 65">
            <a:extLst>
              <a:ext uri="{FF2B5EF4-FFF2-40B4-BE49-F238E27FC236}">
                <a16:creationId xmlns:a16="http://schemas.microsoft.com/office/drawing/2014/main" id="{37E0A1CE-EDD9-5EA8-041B-1990F3559DFE}"/>
              </a:ext>
            </a:extLst>
          </p:cNvPr>
          <p:cNvSpPr/>
          <p:nvPr/>
        </p:nvSpPr>
        <p:spPr bwMode="gray">
          <a:xfrm>
            <a:off x="6751955" y="3520496"/>
            <a:ext cx="4956947" cy="302809"/>
          </a:xfrm>
          <a:prstGeom prst="rect">
            <a:avLst/>
          </a:prstGeom>
          <a:solidFill>
            <a:srgbClr val="009A44"/>
          </a:solidFill>
          <a:ln w="19050" algn="ctr">
            <a:noFill/>
            <a:miter lim="800000"/>
            <a:headEnd/>
            <a:tailEnd/>
          </a:ln>
        </p:spPr>
        <p:txBody>
          <a:bodyPr wrap="square" lIns="88900" tIns="88900" rIns="88900" bIns="88900" rtlCol="0" anchor="ctr"/>
          <a:lstStyle/>
          <a:p>
            <a:pPr defTabSz="820738">
              <a:defRPr/>
            </a:pPr>
            <a:r>
              <a:rPr lang="en-US" sz="800" b="1" dirty="0">
                <a:solidFill>
                  <a:schemeClr val="bg1"/>
                </a:solidFill>
                <a:ea typeface="ＭＳ Ｐゴシック" pitchFamily="50" charset="-128"/>
              </a:rPr>
              <a:t>2. Vector and Raster Models: </a:t>
            </a:r>
          </a:p>
        </p:txBody>
      </p:sp>
      <p:sp>
        <p:nvSpPr>
          <p:cNvPr id="67" name="Rectangle: Rounded Corners 66">
            <a:extLst>
              <a:ext uri="{FF2B5EF4-FFF2-40B4-BE49-F238E27FC236}">
                <a16:creationId xmlns:a16="http://schemas.microsoft.com/office/drawing/2014/main" id="{7BE6762C-1276-D364-EA4D-6C7903CC1FD5}"/>
              </a:ext>
            </a:extLst>
          </p:cNvPr>
          <p:cNvSpPr/>
          <p:nvPr/>
        </p:nvSpPr>
        <p:spPr bwMode="gray">
          <a:xfrm>
            <a:off x="6751955" y="3850191"/>
            <a:ext cx="3429655" cy="1734926"/>
          </a:xfrm>
          <a:prstGeom prst="roundRect">
            <a:avLst/>
          </a:prstGeom>
          <a:solidFill>
            <a:schemeClr val="accent1">
              <a:lumMod val="20000"/>
              <a:lumOff val="80000"/>
            </a:schemeClr>
          </a:solidFill>
          <a:ln>
            <a:noFill/>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800" b="1" dirty="0">
                <a:solidFill>
                  <a:schemeClr val="tx1"/>
                </a:solidFill>
              </a:rPr>
              <a:t>Vector Models</a:t>
            </a:r>
          </a:p>
          <a:p>
            <a:pPr algn="just">
              <a:lnSpc>
                <a:spcPct val="106000"/>
              </a:lnSpc>
            </a:pPr>
            <a:r>
              <a:rPr lang="en-US" sz="800" dirty="0">
                <a:solidFill>
                  <a:schemeClr val="tx1"/>
                </a:solidFill>
              </a:rPr>
              <a:t>In the vector model, </a:t>
            </a:r>
            <a:r>
              <a:rPr lang="en-US" sz="800" b="1" dirty="0">
                <a:solidFill>
                  <a:schemeClr val="tx1"/>
                </a:solidFill>
              </a:rPr>
              <a:t>points, lines, and polygons are encoded and stored as </a:t>
            </a:r>
            <a:r>
              <a:rPr lang="en-US" sz="800" b="1" dirty="0" err="1">
                <a:solidFill>
                  <a:schemeClr val="tx1"/>
                </a:solidFill>
              </a:rPr>
              <a:t>x,y</a:t>
            </a:r>
            <a:r>
              <a:rPr lang="en-US" sz="800" b="1" dirty="0">
                <a:solidFill>
                  <a:schemeClr val="tx1"/>
                </a:solidFill>
              </a:rPr>
              <a:t> coordinates.</a:t>
            </a:r>
          </a:p>
          <a:p>
            <a:pPr marL="171450" indent="-171450" algn="just">
              <a:lnSpc>
                <a:spcPct val="106000"/>
              </a:lnSpc>
              <a:buFont typeface="Arial" panose="020B0604020202020204" pitchFamily="34" charset="0"/>
              <a:buChar char="•"/>
            </a:pPr>
            <a:r>
              <a:rPr lang="en-US" sz="800" b="1" dirty="0">
                <a:solidFill>
                  <a:schemeClr val="tx1"/>
                </a:solidFill>
              </a:rPr>
              <a:t>Point features,</a:t>
            </a:r>
            <a:r>
              <a:rPr lang="en-US" sz="800" dirty="0">
                <a:solidFill>
                  <a:schemeClr val="tx1"/>
                </a:solidFill>
              </a:rPr>
              <a:t> like bore holes, are represented by single </a:t>
            </a:r>
            <a:r>
              <a:rPr lang="en-US" sz="800" b="1" dirty="0" err="1">
                <a:solidFill>
                  <a:schemeClr val="tx1"/>
                </a:solidFill>
              </a:rPr>
              <a:t>x,y</a:t>
            </a:r>
            <a:r>
              <a:rPr lang="en-US" sz="800" b="1" dirty="0">
                <a:solidFill>
                  <a:schemeClr val="tx1"/>
                </a:solidFill>
              </a:rPr>
              <a:t> coordinates.</a:t>
            </a:r>
          </a:p>
          <a:p>
            <a:pPr marL="171450" indent="-171450" algn="just">
              <a:lnSpc>
                <a:spcPct val="106000"/>
              </a:lnSpc>
              <a:buFont typeface="Arial" panose="020B0604020202020204" pitchFamily="34" charset="0"/>
              <a:buChar char="•"/>
            </a:pPr>
            <a:r>
              <a:rPr lang="en-US" sz="800" b="1" dirty="0">
                <a:solidFill>
                  <a:schemeClr val="tx1"/>
                </a:solidFill>
              </a:rPr>
              <a:t>Linear features,</a:t>
            </a:r>
            <a:r>
              <a:rPr lang="en-US" sz="800" dirty="0">
                <a:solidFill>
                  <a:schemeClr val="tx1"/>
                </a:solidFill>
              </a:rPr>
              <a:t> such as roads and rivers, are stored as a sequence of </a:t>
            </a:r>
            <a:r>
              <a:rPr lang="en-US" sz="800" b="1" dirty="0">
                <a:solidFill>
                  <a:schemeClr val="tx1"/>
                </a:solidFill>
              </a:rPr>
              <a:t>point coordinates.</a:t>
            </a:r>
          </a:p>
          <a:p>
            <a:pPr marL="171450" indent="-171450" algn="just">
              <a:lnSpc>
                <a:spcPct val="106000"/>
              </a:lnSpc>
              <a:buFont typeface="Arial" panose="020B0604020202020204" pitchFamily="34" charset="0"/>
              <a:buChar char="•"/>
            </a:pPr>
            <a:r>
              <a:rPr lang="en-US" sz="800" b="1" dirty="0">
                <a:solidFill>
                  <a:schemeClr val="tx1"/>
                </a:solidFill>
              </a:rPr>
              <a:t>Polygonal features,</a:t>
            </a:r>
            <a:r>
              <a:rPr lang="en-US" sz="800" dirty="0">
                <a:solidFill>
                  <a:schemeClr val="tx1"/>
                </a:solidFill>
              </a:rPr>
              <a:t> like sales territories and river catchments, </a:t>
            </a:r>
            <a:r>
              <a:rPr lang="en-US" sz="800" b="1" dirty="0">
                <a:solidFill>
                  <a:schemeClr val="tx1"/>
                </a:solidFill>
              </a:rPr>
              <a:t>are stored as closed loops of coordinates.</a:t>
            </a:r>
          </a:p>
          <a:p>
            <a:pPr marL="171450" indent="-171450" algn="just">
              <a:lnSpc>
                <a:spcPct val="106000"/>
              </a:lnSpc>
              <a:buFont typeface="Arial" panose="020B0604020202020204" pitchFamily="34" charset="0"/>
              <a:buChar char="•"/>
            </a:pPr>
            <a:r>
              <a:rPr lang="en-US" sz="800" dirty="0">
                <a:solidFill>
                  <a:schemeClr val="tx1"/>
                </a:solidFill>
              </a:rPr>
              <a:t>While excellent for discrete features, the </a:t>
            </a:r>
            <a:r>
              <a:rPr lang="en-US" sz="800" b="1" dirty="0">
                <a:solidFill>
                  <a:schemeClr val="tx1"/>
                </a:solidFill>
              </a:rPr>
              <a:t>vector model is less effective for continuously varying features</a:t>
            </a:r>
          </a:p>
        </p:txBody>
      </p:sp>
      <p:sp>
        <p:nvSpPr>
          <p:cNvPr id="68" name="Rectangle: Rounded Corners 67">
            <a:extLst>
              <a:ext uri="{FF2B5EF4-FFF2-40B4-BE49-F238E27FC236}">
                <a16:creationId xmlns:a16="http://schemas.microsoft.com/office/drawing/2014/main" id="{96E993B5-03E1-CB05-60B3-19B3A5F7A358}"/>
              </a:ext>
            </a:extLst>
          </p:cNvPr>
          <p:cNvSpPr/>
          <p:nvPr/>
        </p:nvSpPr>
        <p:spPr bwMode="gray">
          <a:xfrm>
            <a:off x="10315852" y="3850191"/>
            <a:ext cx="1393050" cy="1734926"/>
          </a:xfrm>
          <a:prstGeom prst="roundRect">
            <a:avLst/>
          </a:prstGeom>
          <a:solidFill>
            <a:schemeClr val="accent2">
              <a:lumMod val="20000"/>
              <a:lumOff val="80000"/>
            </a:schemeClr>
          </a:solidFill>
          <a:ln>
            <a:noFill/>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800" b="1" dirty="0">
                <a:solidFill>
                  <a:schemeClr val="tx1"/>
                </a:solidFill>
              </a:rPr>
              <a:t>Raster Models</a:t>
            </a:r>
          </a:p>
          <a:p>
            <a:pPr algn="just">
              <a:lnSpc>
                <a:spcPct val="106000"/>
              </a:lnSpc>
            </a:pPr>
            <a:r>
              <a:rPr lang="en-US" sz="800" dirty="0">
                <a:solidFill>
                  <a:schemeClr val="tx1"/>
                </a:solidFill>
              </a:rPr>
              <a:t>The raster model has </a:t>
            </a:r>
            <a:r>
              <a:rPr lang="en-US" sz="800" b="1" dirty="0">
                <a:solidFill>
                  <a:schemeClr val="tx1"/>
                </a:solidFill>
              </a:rPr>
              <a:t>evolved to model such continuous features</a:t>
            </a:r>
            <a:r>
              <a:rPr lang="en-US" sz="800" dirty="0">
                <a:solidFill>
                  <a:schemeClr val="tx1"/>
                </a:solidFill>
              </a:rPr>
              <a:t>. A raster image </a:t>
            </a:r>
            <a:r>
              <a:rPr lang="en-US" sz="800" b="1" dirty="0">
                <a:solidFill>
                  <a:schemeClr val="tx1"/>
                </a:solidFill>
              </a:rPr>
              <a:t>comprises a collection of grid cells rather like a scanned map or picture</a:t>
            </a:r>
          </a:p>
        </p:txBody>
      </p:sp>
      <p:sp>
        <p:nvSpPr>
          <p:cNvPr id="69" name="Rectangle 68">
            <a:extLst>
              <a:ext uri="{FF2B5EF4-FFF2-40B4-BE49-F238E27FC236}">
                <a16:creationId xmlns:a16="http://schemas.microsoft.com/office/drawing/2014/main" id="{CC11036A-71F5-C196-D0DF-738723E44773}"/>
              </a:ext>
            </a:extLst>
          </p:cNvPr>
          <p:cNvSpPr/>
          <p:nvPr/>
        </p:nvSpPr>
        <p:spPr bwMode="gray">
          <a:xfrm>
            <a:off x="6751955" y="5731649"/>
            <a:ext cx="4956947" cy="62153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171450" indent="-171450" algn="just" defTabSz="820738">
              <a:buFont typeface="Arial" panose="020B0604020202020204" pitchFamily="34" charset="0"/>
              <a:buChar char="•"/>
              <a:defRPr/>
            </a:pPr>
            <a:r>
              <a:rPr lang="en-US" sz="800" b="1" dirty="0">
                <a:ea typeface="ＭＳ Ｐゴシック" pitchFamily="50" charset="-128"/>
              </a:rPr>
              <a:t>Both the vector and raster models for storing geographic data have unique advantages and disadvantages. </a:t>
            </a:r>
          </a:p>
          <a:p>
            <a:pPr marL="171450" indent="-171450" algn="just" defTabSz="820738">
              <a:buFont typeface="Arial" panose="020B0604020202020204" pitchFamily="34" charset="0"/>
              <a:buChar char="•"/>
              <a:defRPr/>
            </a:pPr>
            <a:r>
              <a:rPr lang="en-US" sz="800" b="1" dirty="0">
                <a:ea typeface="ＭＳ Ｐゴシック" pitchFamily="50" charset="-128"/>
              </a:rPr>
              <a:t>Modern GISs are able to handle both models. </a:t>
            </a:r>
          </a:p>
        </p:txBody>
      </p:sp>
    </p:spTree>
    <p:extLst>
      <p:ext uri="{BB962C8B-B14F-4D97-AF65-F5344CB8AC3E}">
        <p14:creationId xmlns:p14="http://schemas.microsoft.com/office/powerpoint/2010/main" val="2989890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C8E6-76BD-3D37-20E9-5005F5E5837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857865-A13C-5629-F417-81464F45EAAD}"/>
              </a:ext>
            </a:extLst>
          </p:cNvPr>
          <p:cNvGraphicFramePr>
            <a:graphicFrameLocks noChangeAspect="1"/>
          </p:cNvGraphicFramePr>
          <p:nvPr>
            <p:custDataLst>
              <p:tags r:id="rId1"/>
            </p:custDataLst>
            <p:extLst>
              <p:ext uri="{D42A27DB-BD31-4B8C-83A1-F6EECF244321}">
                <p14:modId xmlns:p14="http://schemas.microsoft.com/office/powerpoint/2010/main" val="8739805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C1857865-A13C-5629-F417-81464F45EAA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E5806D45-365A-5AC4-A073-FCF6295FC86F}"/>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 data is used by Utilities for Site Selection, Energy Audit, Load Management, Network Planning and analysis, inter alia. </a:t>
            </a:r>
          </a:p>
        </p:txBody>
      </p:sp>
      <p:sp>
        <p:nvSpPr>
          <p:cNvPr id="6" name="Title 2">
            <a:extLst>
              <a:ext uri="{FF2B5EF4-FFF2-40B4-BE49-F238E27FC236}">
                <a16:creationId xmlns:a16="http://schemas.microsoft.com/office/drawing/2014/main" id="{FC0C17DE-0A39-F994-E9DA-C5741D9EFED3}"/>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Major Applications of GIS in Power Sector</a:t>
            </a:r>
          </a:p>
        </p:txBody>
      </p:sp>
      <p:cxnSp>
        <p:nvCxnSpPr>
          <p:cNvPr id="92" name="Straight Connector 91">
            <a:extLst>
              <a:ext uri="{FF2B5EF4-FFF2-40B4-BE49-F238E27FC236}">
                <a16:creationId xmlns:a16="http://schemas.microsoft.com/office/drawing/2014/main" id="{26981E0E-2AC0-170E-C759-35278E0576B0}"/>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Group 72">
            <a:extLst>
              <a:ext uri="{FF2B5EF4-FFF2-40B4-BE49-F238E27FC236}">
                <a16:creationId xmlns:a16="http://schemas.microsoft.com/office/drawing/2014/main" id="{70F43003-FB4F-BBB1-6F87-5841849CFF26}"/>
              </a:ext>
            </a:extLst>
          </p:cNvPr>
          <p:cNvGrpSpPr/>
          <p:nvPr/>
        </p:nvGrpSpPr>
        <p:grpSpPr>
          <a:xfrm>
            <a:off x="5061530" y="1472609"/>
            <a:ext cx="2114344" cy="2714610"/>
            <a:chOff x="376236" y="1341438"/>
            <a:chExt cx="3060945" cy="3929953"/>
          </a:xfrm>
        </p:grpSpPr>
        <p:sp>
          <p:nvSpPr>
            <p:cNvPr id="3" name="Freeform 7">
              <a:extLst>
                <a:ext uri="{FF2B5EF4-FFF2-40B4-BE49-F238E27FC236}">
                  <a16:creationId xmlns:a16="http://schemas.microsoft.com/office/drawing/2014/main" id="{AF230236-FB51-8B50-ECFD-2B7C96FD3545}"/>
                </a:ext>
              </a:extLst>
            </p:cNvPr>
            <p:cNvSpPr>
              <a:spLocks/>
            </p:cNvSpPr>
            <p:nvPr/>
          </p:nvSpPr>
          <p:spPr bwMode="auto">
            <a:xfrm>
              <a:off x="462294" y="1341438"/>
              <a:ext cx="2888830" cy="946631"/>
            </a:xfrm>
            <a:custGeom>
              <a:avLst/>
              <a:gdLst>
                <a:gd name="T0" fmla="*/ 4021 w 4021"/>
                <a:gd name="T1" fmla="*/ 1317 h 1317"/>
                <a:gd name="T2" fmla="*/ 4021 w 4021"/>
                <a:gd name="T3" fmla="*/ 1317 h 1317"/>
                <a:gd name="T4" fmla="*/ 2010 w 4021"/>
                <a:gd name="T5" fmla="*/ 0 h 1317"/>
                <a:gd name="T6" fmla="*/ 0 w 4021"/>
                <a:gd name="T7" fmla="*/ 1317 h 1317"/>
                <a:gd name="T8" fmla="*/ 4021 w 4021"/>
                <a:gd name="T9" fmla="*/ 1317 h 1317"/>
              </a:gdLst>
              <a:ahLst/>
              <a:cxnLst>
                <a:cxn ang="0">
                  <a:pos x="T0" y="T1"/>
                </a:cxn>
                <a:cxn ang="0">
                  <a:pos x="T2" y="T3"/>
                </a:cxn>
                <a:cxn ang="0">
                  <a:pos x="T4" y="T5"/>
                </a:cxn>
                <a:cxn ang="0">
                  <a:pos x="T6" y="T7"/>
                </a:cxn>
                <a:cxn ang="0">
                  <a:pos x="T8" y="T9"/>
                </a:cxn>
              </a:cxnLst>
              <a:rect l="0" t="0" r="r" b="b"/>
              <a:pathLst>
                <a:path w="4021" h="1317">
                  <a:moveTo>
                    <a:pt x="4021" y="1317"/>
                  </a:moveTo>
                  <a:lnTo>
                    <a:pt x="4021" y="1317"/>
                  </a:lnTo>
                  <a:cubicBezTo>
                    <a:pt x="3733" y="492"/>
                    <a:pt x="2960" y="0"/>
                    <a:pt x="2010" y="0"/>
                  </a:cubicBezTo>
                  <a:cubicBezTo>
                    <a:pt x="1060" y="0"/>
                    <a:pt x="287" y="492"/>
                    <a:pt x="0" y="1317"/>
                  </a:cubicBezTo>
                  <a:lnTo>
                    <a:pt x="4021" y="1317"/>
                  </a:lnTo>
                  <a:close/>
                </a:path>
              </a:pathLst>
            </a:custGeom>
            <a:solidFill>
              <a:srgbClr val="43B02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00"/>
            </a:p>
          </p:txBody>
        </p:sp>
        <p:sp>
          <p:nvSpPr>
            <p:cNvPr id="4" name="Freeform 10">
              <a:extLst>
                <a:ext uri="{FF2B5EF4-FFF2-40B4-BE49-F238E27FC236}">
                  <a16:creationId xmlns:a16="http://schemas.microsoft.com/office/drawing/2014/main" id="{4BEA437C-DC81-B3D5-22C0-1191E7F88ADB}"/>
                </a:ext>
              </a:extLst>
            </p:cNvPr>
            <p:cNvSpPr>
              <a:spLocks/>
            </p:cNvSpPr>
            <p:nvPr/>
          </p:nvSpPr>
          <p:spPr bwMode="auto">
            <a:xfrm>
              <a:off x="376236" y="2358937"/>
              <a:ext cx="3060945" cy="911195"/>
            </a:xfrm>
            <a:custGeom>
              <a:avLst/>
              <a:gdLst>
                <a:gd name="T0" fmla="*/ 0 w 4262"/>
                <a:gd name="T1" fmla="*/ 643 h 1268"/>
                <a:gd name="T2" fmla="*/ 0 w 4262"/>
                <a:gd name="T3" fmla="*/ 643 h 1268"/>
                <a:gd name="T4" fmla="*/ 85 w 4262"/>
                <a:gd name="T5" fmla="*/ 1268 h 1268"/>
                <a:gd name="T6" fmla="*/ 4178 w 4262"/>
                <a:gd name="T7" fmla="*/ 1268 h 1268"/>
                <a:gd name="T8" fmla="*/ 4262 w 4262"/>
                <a:gd name="T9" fmla="*/ 643 h 1268"/>
                <a:gd name="T10" fmla="*/ 4174 w 4262"/>
                <a:gd name="T11" fmla="*/ 0 h 1268"/>
                <a:gd name="T12" fmla="*/ 89 w 4262"/>
                <a:gd name="T13" fmla="*/ 0 h 1268"/>
                <a:gd name="T14" fmla="*/ 0 w 4262"/>
                <a:gd name="T15" fmla="*/ 643 h 1268"/>
                <a:gd name="T16" fmla="*/ 0 w 4262"/>
                <a:gd name="T17" fmla="*/ 643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2" h="1268">
                  <a:moveTo>
                    <a:pt x="0" y="643"/>
                  </a:moveTo>
                  <a:lnTo>
                    <a:pt x="0" y="643"/>
                  </a:lnTo>
                  <a:cubicBezTo>
                    <a:pt x="0" y="876"/>
                    <a:pt x="32" y="1082"/>
                    <a:pt x="85" y="1268"/>
                  </a:cubicBezTo>
                  <a:lnTo>
                    <a:pt x="4178" y="1268"/>
                  </a:lnTo>
                  <a:cubicBezTo>
                    <a:pt x="4230" y="1082"/>
                    <a:pt x="4262" y="876"/>
                    <a:pt x="4262" y="643"/>
                  </a:cubicBezTo>
                  <a:cubicBezTo>
                    <a:pt x="4262" y="412"/>
                    <a:pt x="4231" y="198"/>
                    <a:pt x="4174" y="0"/>
                  </a:cubicBezTo>
                  <a:lnTo>
                    <a:pt x="89" y="0"/>
                  </a:lnTo>
                  <a:cubicBezTo>
                    <a:pt x="31" y="198"/>
                    <a:pt x="0" y="412"/>
                    <a:pt x="0" y="643"/>
                  </a:cubicBezTo>
                  <a:lnTo>
                    <a:pt x="0" y="643"/>
                  </a:lnTo>
                  <a:close/>
                </a:path>
              </a:pathLst>
            </a:custGeom>
            <a:solidFill>
              <a:schemeClr val="accent3"/>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300"/>
            </a:p>
          </p:txBody>
        </p:sp>
        <p:sp>
          <p:nvSpPr>
            <p:cNvPr id="7" name="Freeform 12">
              <a:extLst>
                <a:ext uri="{FF2B5EF4-FFF2-40B4-BE49-F238E27FC236}">
                  <a16:creationId xmlns:a16="http://schemas.microsoft.com/office/drawing/2014/main" id="{59FC4CFC-2D4D-31EB-1A94-AE7917452DFB}"/>
                </a:ext>
              </a:extLst>
            </p:cNvPr>
            <p:cNvSpPr>
              <a:spLocks/>
            </p:cNvSpPr>
            <p:nvPr/>
          </p:nvSpPr>
          <p:spPr bwMode="auto">
            <a:xfrm>
              <a:off x="958390" y="4324760"/>
              <a:ext cx="1894952" cy="946631"/>
            </a:xfrm>
            <a:custGeom>
              <a:avLst/>
              <a:gdLst>
                <a:gd name="T0" fmla="*/ 0 w 2640"/>
                <a:gd name="T1" fmla="*/ 0 h 1317"/>
                <a:gd name="T2" fmla="*/ 0 w 2640"/>
                <a:gd name="T3" fmla="*/ 0 h 1317"/>
                <a:gd name="T4" fmla="*/ 127 w 2640"/>
                <a:gd name="T5" fmla="*/ 630 h 1317"/>
                <a:gd name="T6" fmla="*/ 610 w 2640"/>
                <a:gd name="T7" fmla="*/ 1317 h 1317"/>
                <a:gd name="T8" fmla="*/ 2030 w 2640"/>
                <a:gd name="T9" fmla="*/ 1317 h 1317"/>
                <a:gd name="T10" fmla="*/ 2513 w 2640"/>
                <a:gd name="T11" fmla="*/ 630 h 1317"/>
                <a:gd name="T12" fmla="*/ 2640 w 2640"/>
                <a:gd name="T13" fmla="*/ 0 h 1317"/>
                <a:gd name="T14" fmla="*/ 0 w 2640"/>
                <a:gd name="T15" fmla="*/ 0 h 1317"/>
                <a:gd name="T16" fmla="*/ 0 w 2640"/>
                <a:gd name="T17" fmla="*/ 0 h 1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0" h="1317">
                  <a:moveTo>
                    <a:pt x="0" y="0"/>
                  </a:moveTo>
                  <a:lnTo>
                    <a:pt x="0" y="0"/>
                  </a:lnTo>
                  <a:cubicBezTo>
                    <a:pt x="77" y="190"/>
                    <a:pt x="127" y="394"/>
                    <a:pt x="127" y="630"/>
                  </a:cubicBezTo>
                  <a:cubicBezTo>
                    <a:pt x="127" y="857"/>
                    <a:pt x="340" y="1317"/>
                    <a:pt x="610" y="1317"/>
                  </a:cubicBezTo>
                  <a:lnTo>
                    <a:pt x="2030" y="1317"/>
                  </a:lnTo>
                  <a:cubicBezTo>
                    <a:pt x="2300" y="1317"/>
                    <a:pt x="2513" y="857"/>
                    <a:pt x="2513" y="630"/>
                  </a:cubicBezTo>
                  <a:cubicBezTo>
                    <a:pt x="2513" y="394"/>
                    <a:pt x="2563" y="190"/>
                    <a:pt x="2640" y="0"/>
                  </a:cubicBezTo>
                  <a:lnTo>
                    <a:pt x="0" y="0"/>
                  </a:lnTo>
                  <a:lnTo>
                    <a:pt x="0" y="0"/>
                  </a:lnTo>
                  <a:close/>
                </a:path>
              </a:pathLst>
            </a:custGeom>
            <a:solidFill>
              <a:srgbClr val="86BC25"/>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300"/>
            </a:p>
          </p:txBody>
        </p:sp>
        <p:sp>
          <p:nvSpPr>
            <p:cNvPr id="8" name="Freeform 14">
              <a:extLst>
                <a:ext uri="{FF2B5EF4-FFF2-40B4-BE49-F238E27FC236}">
                  <a16:creationId xmlns:a16="http://schemas.microsoft.com/office/drawing/2014/main" id="{CFCED5DD-96C5-6C4C-DCBC-741C6755A54C}"/>
                </a:ext>
              </a:extLst>
            </p:cNvPr>
            <p:cNvSpPr>
              <a:spLocks/>
            </p:cNvSpPr>
            <p:nvPr/>
          </p:nvSpPr>
          <p:spPr bwMode="auto">
            <a:xfrm>
              <a:off x="458920" y="3342691"/>
              <a:ext cx="2895579" cy="911195"/>
            </a:xfrm>
            <a:custGeom>
              <a:avLst/>
              <a:gdLst>
                <a:gd name="T0" fmla="*/ 3379 w 4032"/>
                <a:gd name="T1" fmla="*/ 1267 h 1267"/>
                <a:gd name="T2" fmla="*/ 3379 w 4032"/>
                <a:gd name="T3" fmla="*/ 1267 h 1267"/>
                <a:gd name="T4" fmla="*/ 4032 w 4032"/>
                <a:gd name="T5" fmla="*/ 0 h 1267"/>
                <a:gd name="T6" fmla="*/ 0 w 4032"/>
                <a:gd name="T7" fmla="*/ 0 h 1267"/>
                <a:gd name="T8" fmla="*/ 653 w 4032"/>
                <a:gd name="T9" fmla="*/ 1267 h 1267"/>
                <a:gd name="T10" fmla="*/ 3379 w 4032"/>
                <a:gd name="T11" fmla="*/ 1267 h 1267"/>
                <a:gd name="T12" fmla="*/ 3379 w 4032"/>
                <a:gd name="T13" fmla="*/ 1267 h 1267"/>
              </a:gdLst>
              <a:ahLst/>
              <a:cxnLst>
                <a:cxn ang="0">
                  <a:pos x="T0" y="T1"/>
                </a:cxn>
                <a:cxn ang="0">
                  <a:pos x="T2" y="T3"/>
                </a:cxn>
                <a:cxn ang="0">
                  <a:pos x="T4" y="T5"/>
                </a:cxn>
                <a:cxn ang="0">
                  <a:pos x="T6" y="T7"/>
                </a:cxn>
                <a:cxn ang="0">
                  <a:pos x="T8" y="T9"/>
                </a:cxn>
                <a:cxn ang="0">
                  <a:pos x="T10" y="T11"/>
                </a:cxn>
                <a:cxn ang="0">
                  <a:pos x="T12" y="T13"/>
                </a:cxn>
              </a:cxnLst>
              <a:rect l="0" t="0" r="r" b="b"/>
              <a:pathLst>
                <a:path w="4032" h="1267">
                  <a:moveTo>
                    <a:pt x="3379" y="1267"/>
                  </a:moveTo>
                  <a:lnTo>
                    <a:pt x="3379" y="1267"/>
                  </a:lnTo>
                  <a:cubicBezTo>
                    <a:pt x="3568" y="854"/>
                    <a:pt x="3869" y="495"/>
                    <a:pt x="4032" y="0"/>
                  </a:cubicBezTo>
                  <a:lnTo>
                    <a:pt x="0" y="0"/>
                  </a:lnTo>
                  <a:cubicBezTo>
                    <a:pt x="163" y="495"/>
                    <a:pt x="464" y="854"/>
                    <a:pt x="653" y="1267"/>
                  </a:cubicBezTo>
                  <a:lnTo>
                    <a:pt x="3379" y="1267"/>
                  </a:lnTo>
                  <a:lnTo>
                    <a:pt x="3379" y="1267"/>
                  </a:lnTo>
                  <a:close/>
                </a:path>
              </a:pathLst>
            </a:custGeom>
            <a:solidFill>
              <a:srgbClr val="000000"/>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300"/>
            </a:p>
          </p:txBody>
        </p:sp>
      </p:grpSp>
      <p:sp>
        <p:nvSpPr>
          <p:cNvPr id="9" name="Freeform 5">
            <a:extLst>
              <a:ext uri="{FF2B5EF4-FFF2-40B4-BE49-F238E27FC236}">
                <a16:creationId xmlns:a16="http://schemas.microsoft.com/office/drawing/2014/main" id="{10E9DF61-BC4A-DB71-6A36-D3612D5017A1}"/>
              </a:ext>
            </a:extLst>
          </p:cNvPr>
          <p:cNvSpPr>
            <a:spLocks/>
          </p:cNvSpPr>
          <p:nvPr/>
        </p:nvSpPr>
        <p:spPr bwMode="auto">
          <a:xfrm>
            <a:off x="5111845" y="1523740"/>
            <a:ext cx="1974634" cy="2562224"/>
          </a:xfrm>
          <a:custGeom>
            <a:avLst/>
            <a:gdLst>
              <a:gd name="T0" fmla="*/ 607 w 634"/>
              <a:gd name="T1" fmla="*/ 174 h 823"/>
              <a:gd name="T2" fmla="*/ 317 w 634"/>
              <a:gd name="T3" fmla="*/ 0 h 823"/>
              <a:gd name="T4" fmla="*/ 26 w 634"/>
              <a:gd name="T5" fmla="*/ 174 h 823"/>
              <a:gd name="T6" fmla="*/ 10 w 634"/>
              <a:gd name="T7" fmla="*/ 221 h 823"/>
              <a:gd name="T8" fmla="*/ 0 w 634"/>
              <a:gd name="T9" fmla="*/ 306 h 823"/>
              <a:gd name="T10" fmla="*/ 10 w 634"/>
              <a:gd name="T11" fmla="*/ 388 h 823"/>
              <a:gd name="T12" fmla="*/ 25 w 634"/>
              <a:gd name="T13" fmla="*/ 435 h 823"/>
              <a:gd name="T14" fmla="*/ 76 w 634"/>
              <a:gd name="T15" fmla="*/ 535 h 823"/>
              <a:gd name="T16" fmla="*/ 114 w 634"/>
              <a:gd name="T17" fmla="*/ 602 h 823"/>
              <a:gd name="T18" fmla="*/ 133 w 634"/>
              <a:gd name="T19" fmla="*/ 649 h 823"/>
              <a:gd name="T20" fmla="*/ 146 w 634"/>
              <a:gd name="T21" fmla="*/ 732 h 823"/>
              <a:gd name="T22" fmla="*/ 206 w 634"/>
              <a:gd name="T23" fmla="*/ 823 h 823"/>
              <a:gd name="T24" fmla="*/ 427 w 634"/>
              <a:gd name="T25" fmla="*/ 823 h 823"/>
              <a:gd name="T26" fmla="*/ 487 w 634"/>
              <a:gd name="T27" fmla="*/ 732 h 823"/>
              <a:gd name="T28" fmla="*/ 500 w 634"/>
              <a:gd name="T29" fmla="*/ 649 h 823"/>
              <a:gd name="T30" fmla="*/ 520 w 634"/>
              <a:gd name="T31" fmla="*/ 602 h 823"/>
              <a:gd name="T32" fmla="*/ 557 w 634"/>
              <a:gd name="T33" fmla="*/ 535 h 823"/>
              <a:gd name="T34" fmla="*/ 609 w 634"/>
              <a:gd name="T35" fmla="*/ 435 h 823"/>
              <a:gd name="T36" fmla="*/ 624 w 634"/>
              <a:gd name="T37" fmla="*/ 388 h 823"/>
              <a:gd name="T38" fmla="*/ 634 w 634"/>
              <a:gd name="T39" fmla="*/ 306 h 823"/>
              <a:gd name="T40" fmla="*/ 624 w 634"/>
              <a:gd name="T41" fmla="*/ 221 h 823"/>
              <a:gd name="T42" fmla="*/ 607 w 634"/>
              <a:gd name="T43" fmla="*/ 174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4" h="823">
                <a:moveTo>
                  <a:pt x="607" y="174"/>
                </a:moveTo>
                <a:cubicBezTo>
                  <a:pt x="560" y="66"/>
                  <a:pt x="451" y="0"/>
                  <a:pt x="317" y="0"/>
                </a:cubicBezTo>
                <a:cubicBezTo>
                  <a:pt x="183" y="0"/>
                  <a:pt x="74" y="66"/>
                  <a:pt x="26" y="174"/>
                </a:cubicBezTo>
                <a:cubicBezTo>
                  <a:pt x="10" y="221"/>
                  <a:pt x="10" y="221"/>
                  <a:pt x="10" y="221"/>
                </a:cubicBezTo>
                <a:cubicBezTo>
                  <a:pt x="3" y="248"/>
                  <a:pt x="0" y="276"/>
                  <a:pt x="0" y="306"/>
                </a:cubicBezTo>
                <a:cubicBezTo>
                  <a:pt x="0" y="335"/>
                  <a:pt x="3" y="361"/>
                  <a:pt x="10" y="388"/>
                </a:cubicBezTo>
                <a:cubicBezTo>
                  <a:pt x="25" y="435"/>
                  <a:pt x="25" y="435"/>
                  <a:pt x="25" y="435"/>
                </a:cubicBezTo>
                <a:cubicBezTo>
                  <a:pt x="39" y="472"/>
                  <a:pt x="58" y="504"/>
                  <a:pt x="76" y="535"/>
                </a:cubicBezTo>
                <a:cubicBezTo>
                  <a:pt x="89" y="556"/>
                  <a:pt x="103" y="579"/>
                  <a:pt x="114" y="602"/>
                </a:cubicBezTo>
                <a:cubicBezTo>
                  <a:pt x="133" y="649"/>
                  <a:pt x="133" y="649"/>
                  <a:pt x="133" y="649"/>
                </a:cubicBezTo>
                <a:cubicBezTo>
                  <a:pt x="142" y="676"/>
                  <a:pt x="146" y="704"/>
                  <a:pt x="146" y="732"/>
                </a:cubicBezTo>
                <a:cubicBezTo>
                  <a:pt x="146" y="764"/>
                  <a:pt x="177" y="823"/>
                  <a:pt x="206" y="823"/>
                </a:cubicBezTo>
                <a:cubicBezTo>
                  <a:pt x="427" y="823"/>
                  <a:pt x="427" y="823"/>
                  <a:pt x="427" y="823"/>
                </a:cubicBezTo>
                <a:cubicBezTo>
                  <a:pt x="456" y="823"/>
                  <a:pt x="487" y="764"/>
                  <a:pt x="487" y="732"/>
                </a:cubicBezTo>
                <a:cubicBezTo>
                  <a:pt x="487" y="704"/>
                  <a:pt x="491" y="676"/>
                  <a:pt x="500" y="649"/>
                </a:cubicBezTo>
                <a:cubicBezTo>
                  <a:pt x="520" y="602"/>
                  <a:pt x="520" y="602"/>
                  <a:pt x="520" y="602"/>
                </a:cubicBezTo>
                <a:cubicBezTo>
                  <a:pt x="531" y="579"/>
                  <a:pt x="544" y="556"/>
                  <a:pt x="557" y="535"/>
                </a:cubicBezTo>
                <a:cubicBezTo>
                  <a:pt x="576" y="504"/>
                  <a:pt x="595" y="472"/>
                  <a:pt x="609" y="435"/>
                </a:cubicBezTo>
                <a:cubicBezTo>
                  <a:pt x="624" y="388"/>
                  <a:pt x="624" y="388"/>
                  <a:pt x="624" y="388"/>
                </a:cubicBezTo>
                <a:cubicBezTo>
                  <a:pt x="631" y="361"/>
                  <a:pt x="634" y="334"/>
                  <a:pt x="634" y="306"/>
                </a:cubicBezTo>
                <a:cubicBezTo>
                  <a:pt x="634" y="277"/>
                  <a:pt x="630" y="248"/>
                  <a:pt x="624" y="221"/>
                </a:cubicBezTo>
                <a:lnTo>
                  <a:pt x="607" y="174"/>
                </a:lnTo>
                <a:close/>
              </a:path>
            </a:pathLst>
          </a:custGeom>
          <a:solidFill>
            <a:srgbClr val="FFFFFF"/>
          </a:solidFill>
          <a:ln w="44450">
            <a:solidFill>
              <a:srgbClr val="FFFFFF"/>
            </a:solidFill>
          </a:ln>
        </p:spPr>
        <p:txBody>
          <a:bodyPr vert="horz" wrap="square" lIns="91440" tIns="45720" rIns="91440" bIns="45720" numCol="1" anchor="t" anchorCtr="0" compatLnSpc="1">
            <a:prstTxWarp prst="textNoShape">
              <a:avLst/>
            </a:prstTxWarp>
          </a:bodyPr>
          <a:lstStyle/>
          <a:p>
            <a:endParaRPr lang="en-US"/>
          </a:p>
        </p:txBody>
      </p:sp>
      <p:sp>
        <p:nvSpPr>
          <p:cNvPr id="10" name="Freeform 1126">
            <a:extLst>
              <a:ext uri="{FF2B5EF4-FFF2-40B4-BE49-F238E27FC236}">
                <a16:creationId xmlns:a16="http://schemas.microsoft.com/office/drawing/2014/main" id="{F551417E-E56E-FE20-D018-F8FB9208C9BB}"/>
              </a:ext>
            </a:extLst>
          </p:cNvPr>
          <p:cNvSpPr>
            <a:spLocks/>
          </p:cNvSpPr>
          <p:nvPr/>
        </p:nvSpPr>
        <p:spPr bwMode="auto">
          <a:xfrm flipH="1">
            <a:off x="7660664" y="1253419"/>
            <a:ext cx="4050000" cy="1723036"/>
          </a:xfrm>
          <a:prstGeom prst="roundRect">
            <a:avLst>
              <a:gd name="adj" fmla="val 10209"/>
            </a:avLst>
          </a:prstGeom>
          <a:solidFill>
            <a:srgbClr val="43B02A"/>
          </a:solidFill>
          <a:ln w="25400">
            <a:noFill/>
          </a:ln>
        </p:spPr>
        <p:txBody>
          <a:bodyPr lIns="540000"/>
          <a:lstStyle/>
          <a:p>
            <a:r>
              <a:rPr lang="en-US" sz="1300" b="1" dirty="0">
                <a:solidFill>
                  <a:srgbClr val="FFFFFF"/>
                </a:solidFill>
              </a:rPr>
              <a:t>Network Mapping &amp; Optimization</a:t>
            </a:r>
          </a:p>
          <a:p>
            <a:endParaRPr lang="en-US" altLang="zh-CN" sz="1300" b="1" dirty="0">
              <a:solidFill>
                <a:srgbClr val="FFFFFF"/>
              </a:solidFill>
              <a:ea typeface="Verdana" panose="020B0604030504040204" pitchFamily="34" charset="0"/>
              <a:cs typeface="Verdana" panose="020B0604030504040204" pitchFamily="34" charset="0"/>
            </a:endParaRPr>
          </a:p>
          <a:p>
            <a:pPr algn="just"/>
            <a:r>
              <a:rPr lang="en-US" altLang="zh-CN" sz="1200" dirty="0">
                <a:solidFill>
                  <a:srgbClr val="FFFFFF"/>
                </a:solidFill>
                <a:ea typeface="Verdana" panose="020B0604030504040204" pitchFamily="34" charset="0"/>
                <a:cs typeface="Verdana" panose="020B0604030504040204" pitchFamily="34" charset="0"/>
              </a:rPr>
              <a:t>The electrical network and routes undergo detailed surveying with high precision DGPS* instruments, which are then digitized and mapped onto a base map using GIS software.</a:t>
            </a:r>
          </a:p>
        </p:txBody>
      </p:sp>
      <p:sp>
        <p:nvSpPr>
          <p:cNvPr id="11" name="Freeform 1126">
            <a:extLst>
              <a:ext uri="{FF2B5EF4-FFF2-40B4-BE49-F238E27FC236}">
                <a16:creationId xmlns:a16="http://schemas.microsoft.com/office/drawing/2014/main" id="{FC01BB1F-8CAE-5195-04B6-0D16D2C2351C}"/>
              </a:ext>
            </a:extLst>
          </p:cNvPr>
          <p:cNvSpPr>
            <a:spLocks/>
          </p:cNvSpPr>
          <p:nvPr/>
        </p:nvSpPr>
        <p:spPr bwMode="auto">
          <a:xfrm flipH="1">
            <a:off x="7642099" y="3390270"/>
            <a:ext cx="4050000" cy="2066636"/>
          </a:xfrm>
          <a:prstGeom prst="roundRect">
            <a:avLst>
              <a:gd name="adj" fmla="val 9576"/>
            </a:avLst>
          </a:prstGeom>
          <a:solidFill>
            <a:srgbClr val="000000"/>
          </a:solidFill>
          <a:ln w="25400">
            <a:noFill/>
          </a:ln>
        </p:spPr>
        <p:txBody>
          <a:bodyPr lIns="540000"/>
          <a:lstStyle/>
          <a:p>
            <a:r>
              <a:rPr lang="da-DK" altLang="zh-CN" sz="1300" b="1" dirty="0">
                <a:solidFill>
                  <a:srgbClr val="86BC25"/>
                </a:solidFill>
                <a:ea typeface="Verdana" panose="020B0604030504040204" pitchFamily="34" charset="0"/>
                <a:cs typeface="Verdana" panose="020B0604030504040204" pitchFamily="34" charset="0"/>
              </a:rPr>
              <a:t>Customer Information Management System</a:t>
            </a:r>
            <a:endParaRPr lang="en-US" altLang="zh-CN" sz="1200" dirty="0">
              <a:solidFill>
                <a:srgbClr val="FFFFFF"/>
              </a:solidFill>
              <a:ea typeface="Verdana" panose="020B0604030504040204" pitchFamily="34" charset="0"/>
              <a:cs typeface="Verdana" panose="020B0604030504040204" pitchFamily="34" charset="0"/>
            </a:endParaRPr>
          </a:p>
          <a:p>
            <a:pPr algn="just"/>
            <a:r>
              <a:rPr lang="en-US" altLang="zh-CN" sz="1200" dirty="0">
                <a:solidFill>
                  <a:srgbClr val="FFFFFF"/>
                </a:solidFill>
                <a:ea typeface="Verdana" panose="020B0604030504040204" pitchFamily="34" charset="0"/>
                <a:cs typeface="Verdana" panose="020B0604030504040204" pitchFamily="34" charset="0"/>
              </a:rPr>
              <a:t>GIS in the power sector optimizes service delivery by integrating consumer locations with network assets, while also enabling efficient field crew tracking and geo-fencing for operational and maintenance activities. Staff and assets are tagged to geo-locations, streamlining commercial operations and enhancing vigilance efforts.</a:t>
            </a:r>
          </a:p>
        </p:txBody>
      </p:sp>
      <p:sp>
        <p:nvSpPr>
          <p:cNvPr id="12" name="Freeform 1126">
            <a:extLst>
              <a:ext uri="{FF2B5EF4-FFF2-40B4-BE49-F238E27FC236}">
                <a16:creationId xmlns:a16="http://schemas.microsoft.com/office/drawing/2014/main" id="{37B58E89-9A05-07E0-D7AF-0B2FB3642913}"/>
              </a:ext>
            </a:extLst>
          </p:cNvPr>
          <p:cNvSpPr>
            <a:spLocks/>
          </p:cNvSpPr>
          <p:nvPr/>
        </p:nvSpPr>
        <p:spPr bwMode="auto">
          <a:xfrm>
            <a:off x="496003" y="3364143"/>
            <a:ext cx="4059141" cy="2092763"/>
          </a:xfrm>
          <a:prstGeom prst="roundRect">
            <a:avLst>
              <a:gd name="adj" fmla="val 9576"/>
            </a:avLst>
          </a:prstGeom>
          <a:solidFill>
            <a:schemeClr val="accent3"/>
          </a:solidFill>
          <a:ln w="25400">
            <a:noFill/>
          </a:ln>
        </p:spPr>
        <p:txBody>
          <a:bodyPr lIns="90000" rIns="540000"/>
          <a:lstStyle/>
          <a:p>
            <a:r>
              <a:rPr lang="da-DK" altLang="zh-CN" sz="1300" b="1" dirty="0">
                <a:solidFill>
                  <a:srgbClr val="FFFFFF"/>
                </a:solidFill>
                <a:ea typeface="Verdana" panose="020B0604030504040204" pitchFamily="34" charset="0"/>
                <a:cs typeface="Verdana" panose="020B0604030504040204" pitchFamily="34" charset="0"/>
              </a:rPr>
              <a:t>Site Selection</a:t>
            </a:r>
          </a:p>
          <a:p>
            <a:endParaRPr lang="en-US" altLang="zh-CN" sz="1300" b="1" dirty="0">
              <a:solidFill>
                <a:srgbClr val="FFFFFF"/>
              </a:solidFill>
              <a:ea typeface="Verdana" panose="020B0604030504040204" pitchFamily="34" charset="0"/>
              <a:cs typeface="Verdana" panose="020B0604030504040204" pitchFamily="34" charset="0"/>
            </a:endParaRPr>
          </a:p>
          <a:p>
            <a:pPr algn="just"/>
            <a:r>
              <a:rPr lang="en-US" altLang="zh-CN" sz="1200" dirty="0">
                <a:solidFill>
                  <a:srgbClr val="FFFFFF"/>
                </a:solidFill>
                <a:ea typeface="Verdana" panose="020B0604030504040204" pitchFamily="34" charset="0"/>
                <a:cs typeface="Verdana" panose="020B0604030504040204" pitchFamily="34" charset="0"/>
              </a:rPr>
              <a:t>GIS assists in selecting suitable areas for infrastructure development, such as identifying optimal locations for new substations, power plants, or renewable energy installations, by analyzing spatial data on terrain, land use, and environmental factors.</a:t>
            </a:r>
          </a:p>
        </p:txBody>
      </p:sp>
      <p:sp>
        <p:nvSpPr>
          <p:cNvPr id="13" name="Oval 12">
            <a:extLst>
              <a:ext uri="{FF2B5EF4-FFF2-40B4-BE49-F238E27FC236}">
                <a16:creationId xmlns:a16="http://schemas.microsoft.com/office/drawing/2014/main" id="{04689018-9FF0-E388-70A2-795576E0178C}"/>
              </a:ext>
            </a:extLst>
          </p:cNvPr>
          <p:cNvSpPr/>
          <p:nvPr/>
        </p:nvSpPr>
        <p:spPr bwMode="gray">
          <a:xfrm>
            <a:off x="4158739" y="2985943"/>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14" name="Oval 13">
            <a:extLst>
              <a:ext uri="{FF2B5EF4-FFF2-40B4-BE49-F238E27FC236}">
                <a16:creationId xmlns:a16="http://schemas.microsoft.com/office/drawing/2014/main" id="{87E098FE-1BE7-DA4B-7BD3-8CA4EB8C7E8D}"/>
              </a:ext>
            </a:extLst>
          </p:cNvPr>
          <p:cNvSpPr/>
          <p:nvPr/>
        </p:nvSpPr>
        <p:spPr bwMode="gray">
          <a:xfrm>
            <a:off x="7279231" y="871979"/>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15" name="Oval 14">
            <a:extLst>
              <a:ext uri="{FF2B5EF4-FFF2-40B4-BE49-F238E27FC236}">
                <a16:creationId xmlns:a16="http://schemas.microsoft.com/office/drawing/2014/main" id="{7D4F2463-9F88-2B35-5D19-F3B5B81DFF38}"/>
              </a:ext>
            </a:extLst>
          </p:cNvPr>
          <p:cNvSpPr/>
          <p:nvPr/>
        </p:nvSpPr>
        <p:spPr bwMode="gray">
          <a:xfrm>
            <a:off x="7306820" y="3058182"/>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16" name="Freeform 1126">
            <a:extLst>
              <a:ext uri="{FF2B5EF4-FFF2-40B4-BE49-F238E27FC236}">
                <a16:creationId xmlns:a16="http://schemas.microsoft.com/office/drawing/2014/main" id="{0921E313-6521-88A7-534A-FB82BC03ADDE}"/>
              </a:ext>
            </a:extLst>
          </p:cNvPr>
          <p:cNvSpPr>
            <a:spLocks/>
          </p:cNvSpPr>
          <p:nvPr/>
        </p:nvSpPr>
        <p:spPr bwMode="auto">
          <a:xfrm>
            <a:off x="498255" y="1253419"/>
            <a:ext cx="4051387" cy="1723037"/>
          </a:xfrm>
          <a:prstGeom prst="roundRect">
            <a:avLst>
              <a:gd name="adj" fmla="val 6979"/>
            </a:avLst>
          </a:prstGeom>
          <a:solidFill>
            <a:srgbClr val="FFFFFF"/>
          </a:solidFill>
          <a:ln w="25400">
            <a:solidFill>
              <a:srgbClr val="000000"/>
            </a:solidFill>
          </a:ln>
        </p:spPr>
        <p:txBody>
          <a:bodyPr lIns="90000" rIns="540000"/>
          <a:lstStyle/>
          <a:p>
            <a:r>
              <a:rPr lang="da-DK" altLang="zh-CN" sz="1300" b="1" dirty="0">
                <a:solidFill>
                  <a:srgbClr val="86BC25"/>
                </a:solidFill>
                <a:ea typeface="Verdana" panose="020B0604030504040204" pitchFamily="34" charset="0"/>
                <a:cs typeface="Verdana" panose="020B0604030504040204" pitchFamily="34" charset="0"/>
              </a:rPr>
              <a:t>Spatial data analysis</a:t>
            </a:r>
          </a:p>
          <a:p>
            <a:endParaRPr lang="en-US" altLang="zh-CN" sz="1300" b="1" dirty="0">
              <a:solidFill>
                <a:srgbClr val="86BC25"/>
              </a:solidFill>
              <a:ea typeface="Verdana" panose="020B0604030504040204" pitchFamily="34" charset="0"/>
              <a:cs typeface="Verdana" panose="020B0604030504040204" pitchFamily="34" charset="0"/>
            </a:endParaRPr>
          </a:p>
          <a:p>
            <a:pPr algn="just"/>
            <a:r>
              <a:rPr lang="en-US" altLang="zh-CN" sz="1200" dirty="0">
                <a:solidFill>
                  <a:srgbClr val="000000"/>
                </a:solidFill>
                <a:ea typeface="Verdana" panose="020B0604030504040204" pitchFamily="34" charset="0"/>
                <a:cs typeface="Verdana" panose="020B0604030504040204" pitchFamily="34" charset="0"/>
              </a:rPr>
              <a:t>Power-related analytics with geospatial components include load flow analysis, network fault tracing, condition-based maintenance, real-time disaster situational awareness, Volt/VAR analysis, and vegetation management.</a:t>
            </a:r>
          </a:p>
        </p:txBody>
      </p:sp>
      <p:sp>
        <p:nvSpPr>
          <p:cNvPr id="17" name="Oval 16">
            <a:extLst>
              <a:ext uri="{FF2B5EF4-FFF2-40B4-BE49-F238E27FC236}">
                <a16:creationId xmlns:a16="http://schemas.microsoft.com/office/drawing/2014/main" id="{1B4AB9D2-6FD6-CACD-7001-A6A1C11BE1B3}"/>
              </a:ext>
            </a:extLst>
          </p:cNvPr>
          <p:cNvSpPr/>
          <p:nvPr/>
        </p:nvSpPr>
        <p:spPr bwMode="gray">
          <a:xfrm>
            <a:off x="4158739" y="871980"/>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18" name="组合 17">
            <a:extLst>
              <a:ext uri="{FF2B5EF4-FFF2-40B4-BE49-F238E27FC236}">
                <a16:creationId xmlns:a16="http://schemas.microsoft.com/office/drawing/2014/main" id="{5ACD9C0D-EC94-5569-CF3A-95B3F4E53706}"/>
              </a:ext>
            </a:extLst>
          </p:cNvPr>
          <p:cNvGrpSpPr/>
          <p:nvPr/>
        </p:nvGrpSpPr>
        <p:grpSpPr>
          <a:xfrm>
            <a:off x="5708019" y="4270627"/>
            <a:ext cx="821364" cy="770694"/>
            <a:chOff x="5646772" y="5220836"/>
            <a:chExt cx="1041305" cy="977067"/>
          </a:xfrm>
          <a:solidFill>
            <a:srgbClr val="62B5E5"/>
          </a:solidFill>
        </p:grpSpPr>
        <p:sp>
          <p:nvSpPr>
            <p:cNvPr id="19" name="išľîḑe">
              <a:extLst>
                <a:ext uri="{FF2B5EF4-FFF2-40B4-BE49-F238E27FC236}">
                  <a16:creationId xmlns:a16="http://schemas.microsoft.com/office/drawing/2014/main" id="{7A3E1276-A39B-1711-8C00-CFB7882C011E}"/>
                </a:ext>
              </a:extLst>
            </p:cNvPr>
            <p:cNvSpPr/>
            <p:nvPr/>
          </p:nvSpPr>
          <p:spPr bwMode="auto">
            <a:xfrm>
              <a:off x="5646772" y="5220836"/>
              <a:ext cx="1034543" cy="476702"/>
            </a:xfrm>
            <a:custGeom>
              <a:avLst/>
              <a:gdLst>
                <a:gd name="T0" fmla="*/ 166 w 183"/>
                <a:gd name="T1" fmla="*/ 0 h 84"/>
                <a:gd name="T2" fmla="*/ 17 w 183"/>
                <a:gd name="T3" fmla="*/ 0 h 84"/>
                <a:gd name="T4" fmla="*/ 2 w 183"/>
                <a:gd name="T5" fmla="*/ 24 h 84"/>
                <a:gd name="T6" fmla="*/ 17 w 183"/>
                <a:gd name="T7" fmla="*/ 49 h 84"/>
                <a:gd name="T8" fmla="*/ 67 w 183"/>
                <a:gd name="T9" fmla="*/ 49 h 84"/>
                <a:gd name="T10" fmla="*/ 13 w 183"/>
                <a:gd name="T11" fmla="*/ 59 h 84"/>
                <a:gd name="T12" fmla="*/ 3 w 183"/>
                <a:gd name="T13" fmla="*/ 75 h 84"/>
                <a:gd name="T14" fmla="*/ 17 w 183"/>
                <a:gd name="T15" fmla="*/ 84 h 84"/>
                <a:gd name="T16" fmla="*/ 22 w 183"/>
                <a:gd name="T17" fmla="*/ 82 h 84"/>
                <a:gd name="T18" fmla="*/ 171 w 183"/>
                <a:gd name="T19" fmla="*/ 33 h 84"/>
                <a:gd name="T20" fmla="*/ 182 w 183"/>
                <a:gd name="T21" fmla="*/ 14 h 84"/>
                <a:gd name="T22" fmla="*/ 166 w 183"/>
                <a:gd name="T23"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4">
                  <a:moveTo>
                    <a:pt x="166" y="0"/>
                  </a:moveTo>
                  <a:cubicBezTo>
                    <a:pt x="17" y="0"/>
                    <a:pt x="17" y="0"/>
                    <a:pt x="17" y="0"/>
                  </a:cubicBezTo>
                  <a:cubicBezTo>
                    <a:pt x="9" y="0"/>
                    <a:pt x="2" y="16"/>
                    <a:pt x="2" y="24"/>
                  </a:cubicBezTo>
                  <a:cubicBezTo>
                    <a:pt x="2" y="33"/>
                    <a:pt x="9" y="49"/>
                    <a:pt x="17" y="49"/>
                  </a:cubicBezTo>
                  <a:cubicBezTo>
                    <a:pt x="67" y="49"/>
                    <a:pt x="67" y="49"/>
                    <a:pt x="67" y="49"/>
                  </a:cubicBezTo>
                  <a:cubicBezTo>
                    <a:pt x="13" y="59"/>
                    <a:pt x="13" y="59"/>
                    <a:pt x="13" y="59"/>
                  </a:cubicBezTo>
                  <a:cubicBezTo>
                    <a:pt x="4" y="62"/>
                    <a:pt x="0" y="67"/>
                    <a:pt x="3" y="75"/>
                  </a:cubicBezTo>
                  <a:cubicBezTo>
                    <a:pt x="5" y="82"/>
                    <a:pt x="11" y="84"/>
                    <a:pt x="17" y="84"/>
                  </a:cubicBezTo>
                  <a:cubicBezTo>
                    <a:pt x="19" y="84"/>
                    <a:pt x="21" y="83"/>
                    <a:pt x="22" y="82"/>
                  </a:cubicBezTo>
                  <a:cubicBezTo>
                    <a:pt x="171" y="33"/>
                    <a:pt x="171" y="33"/>
                    <a:pt x="171" y="33"/>
                  </a:cubicBezTo>
                  <a:cubicBezTo>
                    <a:pt x="178" y="31"/>
                    <a:pt x="183" y="22"/>
                    <a:pt x="182" y="14"/>
                  </a:cubicBezTo>
                  <a:cubicBezTo>
                    <a:pt x="181" y="7"/>
                    <a:pt x="174" y="0"/>
                    <a:pt x="166"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spcBef>
                  <a:spcPts val="0"/>
                </a:spcBef>
                <a:spcAft>
                  <a:spcPts val="0"/>
                </a:spcAft>
                <a:buClrTx/>
                <a:buSzTx/>
                <a:buFontTx/>
                <a:buNone/>
                <a:tabLst/>
                <a:defRPr/>
              </a:pPr>
              <a:endParaRPr kumimoji="0" sz="1300" b="0" i="0" u="none" strike="noStrike" kern="0" cap="none" spc="0" normalizeH="0" baseline="0" noProof="0">
                <a:ln>
                  <a:noFill/>
                </a:ln>
                <a:solidFill>
                  <a:srgbClr val="000000"/>
                </a:solidFill>
                <a:effectLst/>
                <a:uLnTx/>
                <a:uFillTx/>
                <a:latin typeface="Arial"/>
                <a:ea typeface="微软雅黑"/>
                <a:cs typeface="+mn-cs"/>
              </a:endParaRPr>
            </a:p>
          </p:txBody>
        </p:sp>
        <p:sp>
          <p:nvSpPr>
            <p:cNvPr id="20" name="i$líḓe">
              <a:extLst>
                <a:ext uri="{FF2B5EF4-FFF2-40B4-BE49-F238E27FC236}">
                  <a16:creationId xmlns:a16="http://schemas.microsoft.com/office/drawing/2014/main" id="{CE9642A4-A9FC-D5C7-7102-41FBDAF444D7}"/>
                </a:ext>
              </a:extLst>
            </p:cNvPr>
            <p:cNvSpPr/>
            <p:nvPr/>
          </p:nvSpPr>
          <p:spPr bwMode="auto">
            <a:xfrm>
              <a:off x="5653534" y="5494684"/>
              <a:ext cx="1034543" cy="703219"/>
            </a:xfrm>
            <a:custGeom>
              <a:avLst/>
              <a:gdLst>
                <a:gd name="T0" fmla="*/ 165 w 183"/>
                <a:gd name="T1" fmla="*/ 62 h 124"/>
                <a:gd name="T2" fmla="*/ 115 w 183"/>
                <a:gd name="T3" fmla="*/ 62 h 124"/>
                <a:gd name="T4" fmla="*/ 170 w 183"/>
                <a:gd name="T5" fmla="*/ 38 h 124"/>
                <a:gd name="T6" fmla="*/ 180 w 183"/>
                <a:gd name="T7" fmla="*/ 14 h 124"/>
                <a:gd name="T8" fmla="*/ 160 w 183"/>
                <a:gd name="T9" fmla="*/ 3 h 124"/>
                <a:gd name="T10" fmla="*/ 12 w 183"/>
                <a:gd name="T11" fmla="*/ 50 h 124"/>
                <a:gd name="T12" fmla="*/ 1 w 183"/>
                <a:gd name="T13" fmla="*/ 70 h 124"/>
                <a:gd name="T14" fmla="*/ 16 w 183"/>
                <a:gd name="T15" fmla="*/ 87 h 124"/>
                <a:gd name="T16" fmla="*/ 30 w 183"/>
                <a:gd name="T17" fmla="*/ 87 h 124"/>
                <a:gd name="T18" fmla="*/ 54 w 183"/>
                <a:gd name="T19" fmla="*/ 124 h 124"/>
                <a:gd name="T20" fmla="*/ 127 w 183"/>
                <a:gd name="T21" fmla="*/ 124 h 124"/>
                <a:gd name="T22" fmla="*/ 151 w 183"/>
                <a:gd name="T23" fmla="*/ 87 h 124"/>
                <a:gd name="T24" fmla="*/ 165 w 183"/>
                <a:gd name="T25" fmla="*/ 87 h 124"/>
                <a:gd name="T26" fmla="*/ 181 w 183"/>
                <a:gd name="T27" fmla="*/ 75 h 124"/>
                <a:gd name="T28" fmla="*/ 165 w 183"/>
                <a:gd name="T29" fmla="*/ 6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 h="124">
                  <a:moveTo>
                    <a:pt x="165" y="62"/>
                  </a:moveTo>
                  <a:cubicBezTo>
                    <a:pt x="115" y="62"/>
                    <a:pt x="115" y="62"/>
                    <a:pt x="115" y="62"/>
                  </a:cubicBezTo>
                  <a:cubicBezTo>
                    <a:pt x="170" y="38"/>
                    <a:pt x="170" y="38"/>
                    <a:pt x="170" y="38"/>
                  </a:cubicBezTo>
                  <a:cubicBezTo>
                    <a:pt x="178" y="35"/>
                    <a:pt x="183" y="23"/>
                    <a:pt x="180" y="14"/>
                  </a:cubicBezTo>
                  <a:cubicBezTo>
                    <a:pt x="177" y="6"/>
                    <a:pt x="169" y="0"/>
                    <a:pt x="160" y="3"/>
                  </a:cubicBezTo>
                  <a:cubicBezTo>
                    <a:pt x="12" y="50"/>
                    <a:pt x="12" y="50"/>
                    <a:pt x="12" y="50"/>
                  </a:cubicBezTo>
                  <a:cubicBezTo>
                    <a:pt x="4" y="52"/>
                    <a:pt x="0" y="63"/>
                    <a:pt x="1" y="70"/>
                  </a:cubicBezTo>
                  <a:cubicBezTo>
                    <a:pt x="2" y="78"/>
                    <a:pt x="9" y="87"/>
                    <a:pt x="16" y="87"/>
                  </a:cubicBezTo>
                  <a:cubicBezTo>
                    <a:pt x="30" y="87"/>
                    <a:pt x="30" y="87"/>
                    <a:pt x="30" y="87"/>
                  </a:cubicBezTo>
                  <a:cubicBezTo>
                    <a:pt x="54" y="124"/>
                    <a:pt x="54" y="124"/>
                    <a:pt x="54" y="124"/>
                  </a:cubicBezTo>
                  <a:cubicBezTo>
                    <a:pt x="127" y="124"/>
                    <a:pt x="127" y="124"/>
                    <a:pt x="127" y="124"/>
                  </a:cubicBezTo>
                  <a:cubicBezTo>
                    <a:pt x="151" y="87"/>
                    <a:pt x="151" y="87"/>
                    <a:pt x="151" y="87"/>
                  </a:cubicBezTo>
                  <a:cubicBezTo>
                    <a:pt x="165" y="87"/>
                    <a:pt x="165" y="87"/>
                    <a:pt x="165" y="87"/>
                  </a:cubicBezTo>
                  <a:cubicBezTo>
                    <a:pt x="174" y="87"/>
                    <a:pt x="181" y="83"/>
                    <a:pt x="181" y="75"/>
                  </a:cubicBezTo>
                  <a:cubicBezTo>
                    <a:pt x="181" y="66"/>
                    <a:pt x="174" y="62"/>
                    <a:pt x="165" y="6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spcBef>
                  <a:spcPts val="0"/>
                </a:spcBef>
                <a:spcAft>
                  <a:spcPts val="0"/>
                </a:spcAft>
                <a:buClrTx/>
                <a:buSzTx/>
                <a:buFontTx/>
                <a:buNone/>
                <a:tabLst/>
                <a:defRPr/>
              </a:pPr>
              <a:endParaRPr kumimoji="0" sz="1300" b="0" i="0" u="none" strike="noStrike" kern="0" cap="none" spc="0" normalizeH="0" baseline="0" noProof="0">
                <a:ln>
                  <a:noFill/>
                </a:ln>
                <a:solidFill>
                  <a:srgbClr val="000000"/>
                </a:solidFill>
                <a:effectLst/>
                <a:uLnTx/>
                <a:uFillTx/>
                <a:latin typeface="Arial"/>
                <a:ea typeface="微软雅黑"/>
                <a:cs typeface="+mn-cs"/>
              </a:endParaRPr>
            </a:p>
          </p:txBody>
        </p:sp>
      </p:grpSp>
      <p:sp>
        <p:nvSpPr>
          <p:cNvPr id="21" name="îšḷîďê">
            <a:extLst>
              <a:ext uri="{FF2B5EF4-FFF2-40B4-BE49-F238E27FC236}">
                <a16:creationId xmlns:a16="http://schemas.microsoft.com/office/drawing/2014/main" id="{550F411B-C8EB-324D-A966-057E0EF793BB}"/>
              </a:ext>
            </a:extLst>
          </p:cNvPr>
          <p:cNvSpPr/>
          <p:nvPr/>
        </p:nvSpPr>
        <p:spPr bwMode="auto">
          <a:xfrm>
            <a:off x="5648088" y="2744447"/>
            <a:ext cx="941227" cy="1094054"/>
          </a:xfrm>
          <a:custGeom>
            <a:avLst/>
            <a:gdLst>
              <a:gd name="T0" fmla="*/ 13 w 232"/>
              <a:gd name="T1" fmla="*/ 38 h 269"/>
              <a:gd name="T2" fmla="*/ 4 w 232"/>
              <a:gd name="T3" fmla="*/ 37 h 269"/>
              <a:gd name="T4" fmla="*/ 3 w 232"/>
              <a:gd name="T5" fmla="*/ 46 h 269"/>
              <a:gd name="T6" fmla="*/ 6 w 232"/>
              <a:gd name="T7" fmla="*/ 51 h 269"/>
              <a:gd name="T8" fmla="*/ 77 w 232"/>
              <a:gd name="T9" fmla="*/ 265 h 269"/>
              <a:gd name="T10" fmla="*/ 83 w 232"/>
              <a:gd name="T11" fmla="*/ 269 h 269"/>
              <a:gd name="T12" fmla="*/ 85 w 232"/>
              <a:gd name="T13" fmla="*/ 269 h 269"/>
              <a:gd name="T14" fmla="*/ 89 w 232"/>
              <a:gd name="T15" fmla="*/ 260 h 269"/>
              <a:gd name="T16" fmla="*/ 24 w 232"/>
              <a:gd name="T17" fmla="*/ 63 h 269"/>
              <a:gd name="T18" fmla="*/ 76 w 232"/>
              <a:gd name="T19" fmla="*/ 69 h 269"/>
              <a:gd name="T20" fmla="*/ 85 w 232"/>
              <a:gd name="T21" fmla="*/ 64 h 269"/>
              <a:gd name="T22" fmla="*/ 113 w 232"/>
              <a:gd name="T23" fmla="*/ 73 h 269"/>
              <a:gd name="T24" fmla="*/ 145 w 232"/>
              <a:gd name="T25" fmla="*/ 62 h 269"/>
              <a:gd name="T26" fmla="*/ 161 w 232"/>
              <a:gd name="T27" fmla="*/ 68 h 269"/>
              <a:gd name="T28" fmla="*/ 210 w 232"/>
              <a:gd name="T29" fmla="*/ 65 h 269"/>
              <a:gd name="T30" fmla="*/ 146 w 232"/>
              <a:gd name="T31" fmla="*/ 260 h 269"/>
              <a:gd name="T32" fmla="*/ 150 w 232"/>
              <a:gd name="T33" fmla="*/ 269 h 269"/>
              <a:gd name="T34" fmla="*/ 152 w 232"/>
              <a:gd name="T35" fmla="*/ 269 h 269"/>
              <a:gd name="T36" fmla="*/ 158 w 232"/>
              <a:gd name="T37" fmla="*/ 265 h 269"/>
              <a:gd name="T38" fmla="*/ 228 w 232"/>
              <a:gd name="T39" fmla="*/ 50 h 269"/>
              <a:gd name="T40" fmla="*/ 230 w 232"/>
              <a:gd name="T41" fmla="*/ 48 h 269"/>
              <a:gd name="T42" fmla="*/ 229 w 232"/>
              <a:gd name="T43" fmla="*/ 39 h 269"/>
              <a:gd name="T44" fmla="*/ 220 w 232"/>
              <a:gd name="T45" fmla="*/ 40 h 269"/>
              <a:gd name="T46" fmla="*/ 165 w 232"/>
              <a:gd name="T47" fmla="*/ 55 h 269"/>
              <a:gd name="T48" fmla="*/ 154 w 232"/>
              <a:gd name="T49" fmla="*/ 52 h 269"/>
              <a:gd name="T50" fmla="*/ 160 w 232"/>
              <a:gd name="T51" fmla="*/ 31 h 269"/>
              <a:gd name="T52" fmla="*/ 146 w 232"/>
              <a:gd name="T53" fmla="*/ 3 h 269"/>
              <a:gd name="T54" fmla="*/ 132 w 232"/>
              <a:gd name="T55" fmla="*/ 3 h 269"/>
              <a:gd name="T56" fmla="*/ 123 w 232"/>
              <a:gd name="T57" fmla="*/ 32 h 269"/>
              <a:gd name="T58" fmla="*/ 134 w 232"/>
              <a:gd name="T59" fmla="*/ 54 h 269"/>
              <a:gd name="T60" fmla="*/ 95 w 232"/>
              <a:gd name="T61" fmla="*/ 55 h 269"/>
              <a:gd name="T62" fmla="*/ 103 w 232"/>
              <a:gd name="T63" fmla="*/ 32 h 269"/>
              <a:gd name="T64" fmla="*/ 92 w 232"/>
              <a:gd name="T65" fmla="*/ 4 h 269"/>
              <a:gd name="T66" fmla="*/ 77 w 232"/>
              <a:gd name="T67" fmla="*/ 4 h 269"/>
              <a:gd name="T68" fmla="*/ 66 w 232"/>
              <a:gd name="T69" fmla="*/ 32 h 269"/>
              <a:gd name="T70" fmla="*/ 75 w 232"/>
              <a:gd name="T71" fmla="*/ 55 h 269"/>
              <a:gd name="T72" fmla="*/ 72 w 232"/>
              <a:gd name="T73" fmla="*/ 56 h 269"/>
              <a:gd name="T74" fmla="*/ 13 w 232"/>
              <a:gd name="T75" fmla="*/ 38 h 269"/>
              <a:gd name="T76" fmla="*/ 140 w 232"/>
              <a:gd name="T77" fmla="*/ 14 h 269"/>
              <a:gd name="T78" fmla="*/ 140 w 232"/>
              <a:gd name="T79" fmla="*/ 14 h 269"/>
              <a:gd name="T80" fmla="*/ 140 w 232"/>
              <a:gd name="T81" fmla="*/ 14 h 269"/>
              <a:gd name="T82" fmla="*/ 147 w 232"/>
              <a:gd name="T83" fmla="*/ 32 h 269"/>
              <a:gd name="T84" fmla="*/ 143 w 232"/>
              <a:gd name="T85" fmla="*/ 45 h 269"/>
              <a:gd name="T86" fmla="*/ 136 w 232"/>
              <a:gd name="T87" fmla="*/ 31 h 269"/>
              <a:gd name="T88" fmla="*/ 140 w 232"/>
              <a:gd name="T89" fmla="*/ 14 h 269"/>
              <a:gd name="T90" fmla="*/ 84 w 232"/>
              <a:gd name="T91" fmla="*/ 15 h 269"/>
              <a:gd name="T92" fmla="*/ 84 w 232"/>
              <a:gd name="T93" fmla="*/ 15 h 269"/>
              <a:gd name="T94" fmla="*/ 85 w 232"/>
              <a:gd name="T95" fmla="*/ 16 h 269"/>
              <a:gd name="T96" fmla="*/ 89 w 232"/>
              <a:gd name="T97" fmla="*/ 31 h 269"/>
              <a:gd name="T98" fmla="*/ 85 w 232"/>
              <a:gd name="T99" fmla="*/ 47 h 269"/>
              <a:gd name="T100" fmla="*/ 79 w 232"/>
              <a:gd name="T101" fmla="*/ 31 h 269"/>
              <a:gd name="T102" fmla="*/ 84 w 232"/>
              <a:gd name="T103" fmla="*/ 15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269">
                <a:moveTo>
                  <a:pt x="13" y="38"/>
                </a:moveTo>
                <a:cubicBezTo>
                  <a:pt x="11" y="35"/>
                  <a:pt x="6" y="35"/>
                  <a:pt x="4" y="37"/>
                </a:cubicBezTo>
                <a:cubicBezTo>
                  <a:pt x="1" y="39"/>
                  <a:pt x="0" y="44"/>
                  <a:pt x="3" y="46"/>
                </a:cubicBezTo>
                <a:cubicBezTo>
                  <a:pt x="4" y="48"/>
                  <a:pt x="5" y="49"/>
                  <a:pt x="6" y="51"/>
                </a:cubicBezTo>
                <a:cubicBezTo>
                  <a:pt x="77" y="265"/>
                  <a:pt x="77" y="265"/>
                  <a:pt x="77" y="265"/>
                </a:cubicBezTo>
                <a:cubicBezTo>
                  <a:pt x="77" y="267"/>
                  <a:pt x="80" y="269"/>
                  <a:pt x="83" y="269"/>
                </a:cubicBezTo>
                <a:cubicBezTo>
                  <a:pt x="83" y="269"/>
                  <a:pt x="84" y="269"/>
                  <a:pt x="85" y="269"/>
                </a:cubicBezTo>
                <a:cubicBezTo>
                  <a:pt x="88" y="268"/>
                  <a:pt x="90" y="264"/>
                  <a:pt x="89" y="260"/>
                </a:cubicBezTo>
                <a:cubicBezTo>
                  <a:pt x="24" y="63"/>
                  <a:pt x="24" y="63"/>
                  <a:pt x="24" y="63"/>
                </a:cubicBezTo>
                <a:cubicBezTo>
                  <a:pt x="40" y="70"/>
                  <a:pt x="60" y="74"/>
                  <a:pt x="76" y="69"/>
                </a:cubicBezTo>
                <a:cubicBezTo>
                  <a:pt x="79" y="68"/>
                  <a:pt x="82" y="66"/>
                  <a:pt x="85" y="64"/>
                </a:cubicBezTo>
                <a:cubicBezTo>
                  <a:pt x="93" y="70"/>
                  <a:pt x="103" y="73"/>
                  <a:pt x="113" y="73"/>
                </a:cubicBezTo>
                <a:cubicBezTo>
                  <a:pt x="125" y="73"/>
                  <a:pt x="136" y="69"/>
                  <a:pt x="145" y="62"/>
                </a:cubicBezTo>
                <a:cubicBezTo>
                  <a:pt x="150" y="64"/>
                  <a:pt x="155" y="67"/>
                  <a:pt x="161" y="68"/>
                </a:cubicBezTo>
                <a:cubicBezTo>
                  <a:pt x="180" y="73"/>
                  <a:pt x="196" y="72"/>
                  <a:pt x="210" y="65"/>
                </a:cubicBezTo>
                <a:cubicBezTo>
                  <a:pt x="146" y="260"/>
                  <a:pt x="146" y="260"/>
                  <a:pt x="146" y="260"/>
                </a:cubicBezTo>
                <a:cubicBezTo>
                  <a:pt x="144" y="264"/>
                  <a:pt x="146" y="268"/>
                  <a:pt x="150" y="269"/>
                </a:cubicBezTo>
                <a:cubicBezTo>
                  <a:pt x="150" y="269"/>
                  <a:pt x="151" y="269"/>
                  <a:pt x="152" y="269"/>
                </a:cubicBezTo>
                <a:cubicBezTo>
                  <a:pt x="155" y="269"/>
                  <a:pt x="157" y="267"/>
                  <a:pt x="158" y="265"/>
                </a:cubicBezTo>
                <a:cubicBezTo>
                  <a:pt x="228" y="50"/>
                  <a:pt x="228" y="50"/>
                  <a:pt x="228" y="50"/>
                </a:cubicBezTo>
                <a:cubicBezTo>
                  <a:pt x="229" y="50"/>
                  <a:pt x="230" y="49"/>
                  <a:pt x="230" y="48"/>
                </a:cubicBezTo>
                <a:cubicBezTo>
                  <a:pt x="232" y="45"/>
                  <a:pt x="232" y="41"/>
                  <a:pt x="229" y="39"/>
                </a:cubicBezTo>
                <a:cubicBezTo>
                  <a:pt x="226" y="37"/>
                  <a:pt x="222" y="37"/>
                  <a:pt x="220" y="40"/>
                </a:cubicBezTo>
                <a:cubicBezTo>
                  <a:pt x="207" y="56"/>
                  <a:pt x="189" y="62"/>
                  <a:pt x="165" y="55"/>
                </a:cubicBezTo>
                <a:cubicBezTo>
                  <a:pt x="162" y="55"/>
                  <a:pt x="158" y="54"/>
                  <a:pt x="154" y="52"/>
                </a:cubicBezTo>
                <a:cubicBezTo>
                  <a:pt x="158" y="46"/>
                  <a:pt x="160" y="38"/>
                  <a:pt x="160" y="31"/>
                </a:cubicBezTo>
                <a:cubicBezTo>
                  <a:pt x="159" y="17"/>
                  <a:pt x="154" y="7"/>
                  <a:pt x="146" y="3"/>
                </a:cubicBezTo>
                <a:cubicBezTo>
                  <a:pt x="142" y="0"/>
                  <a:pt x="137" y="0"/>
                  <a:pt x="132" y="3"/>
                </a:cubicBezTo>
                <a:cubicBezTo>
                  <a:pt x="125" y="8"/>
                  <a:pt x="122" y="18"/>
                  <a:pt x="123" y="32"/>
                </a:cubicBezTo>
                <a:cubicBezTo>
                  <a:pt x="124" y="40"/>
                  <a:pt x="127" y="48"/>
                  <a:pt x="134" y="54"/>
                </a:cubicBezTo>
                <a:cubicBezTo>
                  <a:pt x="123" y="61"/>
                  <a:pt x="107" y="61"/>
                  <a:pt x="95" y="55"/>
                </a:cubicBezTo>
                <a:cubicBezTo>
                  <a:pt x="99" y="49"/>
                  <a:pt x="102" y="41"/>
                  <a:pt x="103" y="32"/>
                </a:cubicBezTo>
                <a:cubicBezTo>
                  <a:pt x="103" y="19"/>
                  <a:pt x="99" y="9"/>
                  <a:pt x="92" y="4"/>
                </a:cubicBezTo>
                <a:cubicBezTo>
                  <a:pt x="87" y="1"/>
                  <a:pt x="82" y="1"/>
                  <a:pt x="77" y="4"/>
                </a:cubicBezTo>
                <a:cubicBezTo>
                  <a:pt x="70" y="8"/>
                  <a:pt x="65" y="18"/>
                  <a:pt x="66" y="32"/>
                </a:cubicBezTo>
                <a:cubicBezTo>
                  <a:pt x="66" y="40"/>
                  <a:pt x="69" y="48"/>
                  <a:pt x="75" y="55"/>
                </a:cubicBezTo>
                <a:cubicBezTo>
                  <a:pt x="74" y="56"/>
                  <a:pt x="73" y="56"/>
                  <a:pt x="72" y="56"/>
                </a:cubicBezTo>
                <a:cubicBezTo>
                  <a:pt x="52" y="63"/>
                  <a:pt x="23" y="52"/>
                  <a:pt x="13" y="38"/>
                </a:cubicBezTo>
                <a:close/>
                <a:moveTo>
                  <a:pt x="140" y="14"/>
                </a:moveTo>
                <a:cubicBezTo>
                  <a:pt x="140" y="14"/>
                  <a:pt x="140" y="14"/>
                  <a:pt x="140" y="14"/>
                </a:cubicBezTo>
                <a:cubicBezTo>
                  <a:pt x="140" y="14"/>
                  <a:pt x="140" y="14"/>
                  <a:pt x="140" y="14"/>
                </a:cubicBezTo>
                <a:cubicBezTo>
                  <a:pt x="142" y="15"/>
                  <a:pt x="146" y="20"/>
                  <a:pt x="147" y="32"/>
                </a:cubicBezTo>
                <a:cubicBezTo>
                  <a:pt x="147" y="36"/>
                  <a:pt x="145" y="41"/>
                  <a:pt x="143" y="45"/>
                </a:cubicBezTo>
                <a:cubicBezTo>
                  <a:pt x="139" y="41"/>
                  <a:pt x="137" y="37"/>
                  <a:pt x="136" y="31"/>
                </a:cubicBezTo>
                <a:cubicBezTo>
                  <a:pt x="135" y="21"/>
                  <a:pt x="138" y="15"/>
                  <a:pt x="140" y="14"/>
                </a:cubicBezTo>
                <a:close/>
                <a:moveTo>
                  <a:pt x="84" y="15"/>
                </a:moveTo>
                <a:cubicBezTo>
                  <a:pt x="84" y="15"/>
                  <a:pt x="84" y="15"/>
                  <a:pt x="84" y="15"/>
                </a:cubicBezTo>
                <a:cubicBezTo>
                  <a:pt x="84" y="15"/>
                  <a:pt x="85" y="15"/>
                  <a:pt x="85" y="16"/>
                </a:cubicBezTo>
                <a:cubicBezTo>
                  <a:pt x="87" y="17"/>
                  <a:pt x="90" y="21"/>
                  <a:pt x="89" y="31"/>
                </a:cubicBezTo>
                <a:cubicBezTo>
                  <a:pt x="89" y="37"/>
                  <a:pt x="88" y="43"/>
                  <a:pt x="85" y="47"/>
                </a:cubicBezTo>
                <a:cubicBezTo>
                  <a:pt x="81" y="42"/>
                  <a:pt x="79" y="37"/>
                  <a:pt x="79" y="31"/>
                </a:cubicBezTo>
                <a:cubicBezTo>
                  <a:pt x="79" y="21"/>
                  <a:pt x="82" y="16"/>
                  <a:pt x="84" y="15"/>
                </a:cubicBezTo>
                <a:close/>
              </a:path>
            </a:pathLst>
          </a:custGeom>
          <a:solidFill>
            <a:srgbClr val="5356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spcBef>
                <a:spcPts val="0"/>
              </a:spcBef>
              <a:spcAft>
                <a:spcPts val="0"/>
              </a:spcAft>
              <a:buClrTx/>
              <a:buSzTx/>
              <a:buFontTx/>
              <a:buNone/>
              <a:tabLst/>
              <a:defRPr/>
            </a:pPr>
            <a:endParaRPr kumimoji="0" sz="1300" b="0" i="0" u="none" strike="noStrike" kern="0" cap="none" spc="0" normalizeH="0" baseline="0" noProof="0">
              <a:ln>
                <a:noFill/>
              </a:ln>
              <a:solidFill>
                <a:srgbClr val="000000"/>
              </a:solidFill>
              <a:effectLst/>
              <a:uLnTx/>
              <a:uFillTx/>
              <a:latin typeface="Arial"/>
              <a:ea typeface="微软雅黑"/>
              <a:cs typeface="+mn-cs"/>
            </a:endParaRPr>
          </a:p>
        </p:txBody>
      </p:sp>
      <p:sp>
        <p:nvSpPr>
          <p:cNvPr id="22" name="矩形 22">
            <a:extLst>
              <a:ext uri="{FF2B5EF4-FFF2-40B4-BE49-F238E27FC236}">
                <a16:creationId xmlns:a16="http://schemas.microsoft.com/office/drawing/2014/main" id="{ABD77E76-9CD5-4D94-E7B9-8314665FE1AF}"/>
              </a:ext>
            </a:extLst>
          </p:cNvPr>
          <p:cNvSpPr/>
          <p:nvPr/>
        </p:nvSpPr>
        <p:spPr>
          <a:xfrm>
            <a:off x="5399706" y="1630817"/>
            <a:ext cx="1392588" cy="1092607"/>
          </a:xfrm>
          <a:prstGeom prst="rect">
            <a:avLst/>
          </a:prstGeom>
        </p:spPr>
        <p:txBody>
          <a:bodyPr wrap="square">
            <a:spAutoFit/>
          </a:bodyPr>
          <a:lstStyle/>
          <a:p>
            <a:pPr lvl="0" algn="ctr">
              <a:defRPr/>
            </a:pPr>
            <a:r>
              <a:rPr lang="da-DK" altLang="zh-CN" sz="1300" b="1" kern="0" dirty="0">
                <a:solidFill>
                  <a:srgbClr val="86BC25"/>
                </a:solidFill>
                <a:ea typeface="Verdana" panose="020B0604030504040204" pitchFamily="34" charset="0"/>
                <a:cs typeface="Verdana" panose="020B0604030504040204" pitchFamily="34" charset="0"/>
              </a:rPr>
              <a:t>Key Features of GIS for Power Utilities</a:t>
            </a:r>
            <a:endParaRPr lang="zh-CN" altLang="en-US" sz="1300" b="1" kern="0" dirty="0">
              <a:solidFill>
                <a:srgbClr val="86BC25"/>
              </a:solidFill>
              <a:ea typeface="微软雅黑"/>
              <a:cs typeface="Verdana" panose="020B0604030504040204" pitchFamily="34" charset="0"/>
            </a:endParaRPr>
          </a:p>
        </p:txBody>
      </p:sp>
      <p:grpSp>
        <p:nvGrpSpPr>
          <p:cNvPr id="23" name="组合 127">
            <a:extLst>
              <a:ext uri="{FF2B5EF4-FFF2-40B4-BE49-F238E27FC236}">
                <a16:creationId xmlns:a16="http://schemas.microsoft.com/office/drawing/2014/main" id="{AED85C33-3A53-F1DD-CE59-2F91F693A88D}"/>
              </a:ext>
            </a:extLst>
          </p:cNvPr>
          <p:cNvGrpSpPr/>
          <p:nvPr/>
        </p:nvGrpSpPr>
        <p:grpSpPr>
          <a:xfrm rot="1004401">
            <a:off x="4975352" y="1327690"/>
            <a:ext cx="175832" cy="153406"/>
            <a:chOff x="4659459" y="2145375"/>
            <a:chExt cx="222916" cy="194484"/>
          </a:xfrm>
          <a:solidFill>
            <a:srgbClr val="53565A"/>
          </a:solidFill>
        </p:grpSpPr>
        <p:sp>
          <p:nvSpPr>
            <p:cNvPr id="24" name="燕尾形 124">
              <a:extLst>
                <a:ext uri="{FF2B5EF4-FFF2-40B4-BE49-F238E27FC236}">
                  <a16:creationId xmlns:a16="http://schemas.microsoft.com/office/drawing/2014/main" id="{0F122E79-0BC3-C4AF-BBD9-34D335AA39DC}"/>
                </a:ext>
              </a:extLst>
            </p:cNvPr>
            <p:cNvSpPr/>
            <p:nvPr/>
          </p:nvSpPr>
          <p:spPr bwMode="gray">
            <a:xfrm flipH="1">
              <a:off x="4659459" y="2151481"/>
              <a:ext cx="105716" cy="188378"/>
            </a:xfrm>
            <a:prstGeom prst="chevron">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sp>
          <p:nvSpPr>
            <p:cNvPr id="25" name="燕尾形 126">
              <a:extLst>
                <a:ext uri="{FF2B5EF4-FFF2-40B4-BE49-F238E27FC236}">
                  <a16:creationId xmlns:a16="http://schemas.microsoft.com/office/drawing/2014/main" id="{25D9B19C-9848-770D-B7AB-3B9AE285C6C5}"/>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grpSp>
      <p:grpSp>
        <p:nvGrpSpPr>
          <p:cNvPr id="26" name="组合 128">
            <a:extLst>
              <a:ext uri="{FF2B5EF4-FFF2-40B4-BE49-F238E27FC236}">
                <a16:creationId xmlns:a16="http://schemas.microsoft.com/office/drawing/2014/main" id="{8D256530-28B2-D079-78BF-E839D3B42763}"/>
              </a:ext>
            </a:extLst>
          </p:cNvPr>
          <p:cNvGrpSpPr/>
          <p:nvPr/>
        </p:nvGrpSpPr>
        <p:grpSpPr>
          <a:xfrm rot="20806050">
            <a:off x="5095662" y="3230129"/>
            <a:ext cx="175832" cy="153406"/>
            <a:chOff x="4659459" y="2145375"/>
            <a:chExt cx="222916" cy="194484"/>
          </a:xfrm>
          <a:solidFill>
            <a:srgbClr val="53565A"/>
          </a:solidFill>
        </p:grpSpPr>
        <p:sp>
          <p:nvSpPr>
            <p:cNvPr id="27" name="燕尾形 129">
              <a:extLst>
                <a:ext uri="{FF2B5EF4-FFF2-40B4-BE49-F238E27FC236}">
                  <a16:creationId xmlns:a16="http://schemas.microsoft.com/office/drawing/2014/main" id="{CA3E538A-B5A1-7CAF-A17E-BB0479E919CF}"/>
                </a:ext>
              </a:extLst>
            </p:cNvPr>
            <p:cNvSpPr/>
            <p:nvPr/>
          </p:nvSpPr>
          <p:spPr bwMode="gray">
            <a:xfrm flipH="1">
              <a:off x="4659459" y="2151481"/>
              <a:ext cx="105716" cy="188378"/>
            </a:xfrm>
            <a:prstGeom prst="chevron">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sp>
          <p:nvSpPr>
            <p:cNvPr id="28" name="燕尾形 130">
              <a:extLst>
                <a:ext uri="{FF2B5EF4-FFF2-40B4-BE49-F238E27FC236}">
                  <a16:creationId xmlns:a16="http://schemas.microsoft.com/office/drawing/2014/main" id="{462FB9D4-242C-FCC1-18C1-6499B902A3A0}"/>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grpSp>
      <p:grpSp>
        <p:nvGrpSpPr>
          <p:cNvPr id="29" name="组合 131">
            <a:extLst>
              <a:ext uri="{FF2B5EF4-FFF2-40B4-BE49-F238E27FC236}">
                <a16:creationId xmlns:a16="http://schemas.microsoft.com/office/drawing/2014/main" id="{E8A4785D-EABC-6163-EB07-6396B27C6D6D}"/>
              </a:ext>
            </a:extLst>
          </p:cNvPr>
          <p:cNvGrpSpPr/>
          <p:nvPr/>
        </p:nvGrpSpPr>
        <p:grpSpPr>
          <a:xfrm rot="20140079" flipH="1">
            <a:off x="7077800" y="1334097"/>
            <a:ext cx="176056" cy="125027"/>
            <a:chOff x="4659459" y="2145375"/>
            <a:chExt cx="222916" cy="194484"/>
          </a:xfrm>
          <a:solidFill>
            <a:srgbClr val="53565A"/>
          </a:solidFill>
        </p:grpSpPr>
        <p:sp>
          <p:nvSpPr>
            <p:cNvPr id="30" name="燕尾形 132">
              <a:extLst>
                <a:ext uri="{FF2B5EF4-FFF2-40B4-BE49-F238E27FC236}">
                  <a16:creationId xmlns:a16="http://schemas.microsoft.com/office/drawing/2014/main" id="{CC743E22-EA0B-5E8F-B0BE-022E44906050}"/>
                </a:ext>
              </a:extLst>
            </p:cNvPr>
            <p:cNvSpPr/>
            <p:nvPr/>
          </p:nvSpPr>
          <p:spPr bwMode="gray">
            <a:xfrm flipH="1">
              <a:off x="4659459" y="2151481"/>
              <a:ext cx="105716" cy="188378"/>
            </a:xfrm>
            <a:prstGeom prst="chevron">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sp>
          <p:nvSpPr>
            <p:cNvPr id="31" name="燕尾形 133">
              <a:extLst>
                <a:ext uri="{FF2B5EF4-FFF2-40B4-BE49-F238E27FC236}">
                  <a16:creationId xmlns:a16="http://schemas.microsoft.com/office/drawing/2014/main" id="{DB180C49-038E-A438-3DFF-66234E7DA40A}"/>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grpSp>
      <p:grpSp>
        <p:nvGrpSpPr>
          <p:cNvPr id="33" name="组合 134">
            <a:extLst>
              <a:ext uri="{FF2B5EF4-FFF2-40B4-BE49-F238E27FC236}">
                <a16:creationId xmlns:a16="http://schemas.microsoft.com/office/drawing/2014/main" id="{8E8EA392-0906-CBA1-4027-7E27C5855E5D}"/>
              </a:ext>
            </a:extLst>
          </p:cNvPr>
          <p:cNvGrpSpPr/>
          <p:nvPr/>
        </p:nvGrpSpPr>
        <p:grpSpPr>
          <a:xfrm rot="1242914" flipH="1">
            <a:off x="6980494" y="3284635"/>
            <a:ext cx="176056" cy="125027"/>
            <a:chOff x="4659459" y="2145375"/>
            <a:chExt cx="222916" cy="194484"/>
          </a:xfrm>
          <a:solidFill>
            <a:srgbClr val="53565A"/>
          </a:solidFill>
        </p:grpSpPr>
        <p:sp>
          <p:nvSpPr>
            <p:cNvPr id="34" name="燕尾形 135">
              <a:extLst>
                <a:ext uri="{FF2B5EF4-FFF2-40B4-BE49-F238E27FC236}">
                  <a16:creationId xmlns:a16="http://schemas.microsoft.com/office/drawing/2014/main" id="{BFBC0F58-145F-4ACD-528F-E2A36E0C56D4}"/>
                </a:ext>
              </a:extLst>
            </p:cNvPr>
            <p:cNvSpPr/>
            <p:nvPr/>
          </p:nvSpPr>
          <p:spPr bwMode="gray">
            <a:xfrm flipH="1">
              <a:off x="4659459" y="2151481"/>
              <a:ext cx="105716" cy="188378"/>
            </a:xfrm>
            <a:prstGeom prst="chevron">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sp>
          <p:nvSpPr>
            <p:cNvPr id="35" name="燕尾形 136">
              <a:extLst>
                <a:ext uri="{FF2B5EF4-FFF2-40B4-BE49-F238E27FC236}">
                  <a16:creationId xmlns:a16="http://schemas.microsoft.com/office/drawing/2014/main" id="{E4253991-C883-C37A-7B33-E9B1E670E303}"/>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schemeClr val="bg1"/>
                </a:solidFill>
              </a:endParaRPr>
            </a:p>
          </p:txBody>
        </p:sp>
      </p:grpSp>
      <p:sp>
        <p:nvSpPr>
          <p:cNvPr id="38" name="Freeform 461">
            <a:extLst>
              <a:ext uri="{FF2B5EF4-FFF2-40B4-BE49-F238E27FC236}">
                <a16:creationId xmlns:a16="http://schemas.microsoft.com/office/drawing/2014/main" id="{FB423916-8FA8-49D8-0652-821D59A008C7}"/>
              </a:ext>
            </a:extLst>
          </p:cNvPr>
          <p:cNvSpPr>
            <a:spLocks noEditPoints="1"/>
          </p:cNvSpPr>
          <p:nvPr/>
        </p:nvSpPr>
        <p:spPr bwMode="auto">
          <a:xfrm>
            <a:off x="4223445" y="3037586"/>
            <a:ext cx="653113" cy="653113"/>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solidFill>
            <a:schemeClr val="accent3"/>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sp>
        <p:nvSpPr>
          <p:cNvPr id="43" name="Freeform 113">
            <a:extLst>
              <a:ext uri="{FF2B5EF4-FFF2-40B4-BE49-F238E27FC236}">
                <a16:creationId xmlns:a16="http://schemas.microsoft.com/office/drawing/2014/main" id="{BB64F2C9-6EC4-3054-501B-020D9432B912}"/>
              </a:ext>
            </a:extLst>
          </p:cNvPr>
          <p:cNvSpPr>
            <a:spLocks noEditPoints="1"/>
          </p:cNvSpPr>
          <p:nvPr/>
        </p:nvSpPr>
        <p:spPr bwMode="auto">
          <a:xfrm>
            <a:off x="7343937" y="936685"/>
            <a:ext cx="653113" cy="653113"/>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solidFill>
            <a:srgbClr val="43B02A"/>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sp>
        <p:nvSpPr>
          <p:cNvPr id="46" name="Freeform 527">
            <a:extLst>
              <a:ext uri="{FF2B5EF4-FFF2-40B4-BE49-F238E27FC236}">
                <a16:creationId xmlns:a16="http://schemas.microsoft.com/office/drawing/2014/main" id="{42565CD3-13E9-73B8-9C79-CB039853E87A}"/>
              </a:ext>
            </a:extLst>
          </p:cNvPr>
          <p:cNvSpPr>
            <a:spLocks noEditPoints="1"/>
          </p:cNvSpPr>
          <p:nvPr/>
        </p:nvSpPr>
        <p:spPr bwMode="auto">
          <a:xfrm>
            <a:off x="4223445" y="936686"/>
            <a:ext cx="653113" cy="65311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0000"/>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grpSp>
        <p:nvGrpSpPr>
          <p:cNvPr id="53" name="Graphic 4">
            <a:extLst>
              <a:ext uri="{FF2B5EF4-FFF2-40B4-BE49-F238E27FC236}">
                <a16:creationId xmlns:a16="http://schemas.microsoft.com/office/drawing/2014/main" id="{158E8632-BF22-F574-F454-0DE570CB4269}"/>
              </a:ext>
            </a:extLst>
          </p:cNvPr>
          <p:cNvGrpSpPr>
            <a:grpSpLocks noChangeAspect="1"/>
          </p:cNvGrpSpPr>
          <p:nvPr/>
        </p:nvGrpSpPr>
        <p:grpSpPr>
          <a:xfrm>
            <a:off x="7390497" y="3146890"/>
            <a:ext cx="615172" cy="614599"/>
            <a:chOff x="3607758" y="4793256"/>
            <a:chExt cx="362309" cy="361971"/>
          </a:xfrm>
          <a:solidFill>
            <a:schemeClr val="tx1"/>
          </a:solidFill>
        </p:grpSpPr>
        <p:sp>
          <p:nvSpPr>
            <p:cNvPr id="54" name="Graphic 4">
              <a:extLst>
                <a:ext uri="{FF2B5EF4-FFF2-40B4-BE49-F238E27FC236}">
                  <a16:creationId xmlns:a16="http://schemas.microsoft.com/office/drawing/2014/main" id="{7BF6266D-EDB0-618A-2094-B5C68F9162C4}"/>
                </a:ext>
              </a:extLst>
            </p:cNvPr>
            <p:cNvSpPr/>
            <p:nvPr/>
          </p:nvSpPr>
          <p:spPr>
            <a:xfrm>
              <a:off x="3607758" y="4793256"/>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0836 w 362309"/>
                <a:gd name="connsiteY9" fmla="*/ 12129 h 361971"/>
                <a:gd name="connsiteX10" fmla="*/ 349530 w 362309"/>
                <a:gd name="connsiteY10" fmla="*/ 180028 h 361971"/>
                <a:gd name="connsiteX11" fmla="*/ 349530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0518"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29"/>
                    <a:pt x="180836" y="12129"/>
                  </a:cubicBezTo>
                  <a:cubicBezTo>
                    <a:pt x="274128" y="12129"/>
                    <a:pt x="349530" y="87461"/>
                    <a:pt x="349530" y="180028"/>
                  </a:cubicBezTo>
                  <a:lnTo>
                    <a:pt x="349530" y="180028"/>
                  </a:lnTo>
                  <a:cubicBezTo>
                    <a:pt x="349530" y="273234"/>
                    <a:pt x="274128" y="348565"/>
                    <a:pt x="181474" y="348565"/>
                  </a:cubicBezTo>
                  <a:close/>
                </a:path>
              </a:pathLst>
            </a:custGeom>
            <a:grpFill/>
            <a:ln w="6390" cap="flat">
              <a:noFill/>
              <a:prstDash val="solid"/>
              <a:miter/>
            </a:ln>
          </p:spPr>
          <p:txBody>
            <a:bodyPr rtlCol="0" anchor="ctr"/>
            <a:lstStyle/>
            <a:p>
              <a:endParaRPr lang="en-US"/>
            </a:p>
          </p:txBody>
        </p:sp>
        <p:sp>
          <p:nvSpPr>
            <p:cNvPr id="55" name="Graphic 4">
              <a:extLst>
                <a:ext uri="{FF2B5EF4-FFF2-40B4-BE49-F238E27FC236}">
                  <a16:creationId xmlns:a16="http://schemas.microsoft.com/office/drawing/2014/main" id="{9B94F03F-F975-E2D5-287F-B5B8EDCFB5E1}"/>
                </a:ext>
              </a:extLst>
            </p:cNvPr>
            <p:cNvSpPr/>
            <p:nvPr/>
          </p:nvSpPr>
          <p:spPr>
            <a:xfrm>
              <a:off x="3723579" y="4918891"/>
              <a:ext cx="133222" cy="115679"/>
            </a:xfrm>
            <a:custGeom>
              <a:avLst/>
              <a:gdLst>
                <a:gd name="connsiteX0" fmla="*/ 126357 w 133222"/>
                <a:gd name="connsiteY0" fmla="*/ 94612 h 115679"/>
                <a:gd name="connsiteX1" fmla="*/ 109744 w 133222"/>
                <a:gd name="connsiteY1" fmla="*/ 85674 h 115679"/>
                <a:gd name="connsiteX2" fmla="*/ 96964 w 133222"/>
                <a:gd name="connsiteY2" fmla="*/ 84398 h 115679"/>
                <a:gd name="connsiteX3" fmla="*/ 89935 w 133222"/>
                <a:gd name="connsiteY3" fmla="*/ 80567 h 115679"/>
                <a:gd name="connsiteX4" fmla="*/ 98881 w 133222"/>
                <a:gd name="connsiteY4" fmla="*/ 19919 h 115679"/>
                <a:gd name="connsiteX5" fmla="*/ 66931 w 133222"/>
                <a:gd name="connsiteY5" fmla="*/ 129 h 115679"/>
                <a:gd name="connsiteX6" fmla="*/ 34342 w 133222"/>
                <a:gd name="connsiteY6" fmla="*/ 19281 h 115679"/>
                <a:gd name="connsiteX7" fmla="*/ 45205 w 133222"/>
                <a:gd name="connsiteY7" fmla="*/ 80567 h 115679"/>
                <a:gd name="connsiteX8" fmla="*/ 38176 w 133222"/>
                <a:gd name="connsiteY8" fmla="*/ 84398 h 115679"/>
                <a:gd name="connsiteX9" fmla="*/ 25396 w 133222"/>
                <a:gd name="connsiteY9" fmla="*/ 85674 h 115679"/>
                <a:gd name="connsiteX10" fmla="*/ 8782 w 133222"/>
                <a:gd name="connsiteY10" fmla="*/ 94612 h 115679"/>
                <a:gd name="connsiteX11" fmla="*/ 1115 w 133222"/>
                <a:gd name="connsiteY11" fmla="*/ 104826 h 115679"/>
                <a:gd name="connsiteX12" fmla="*/ 2392 w 133222"/>
                <a:gd name="connsiteY12" fmla="*/ 113764 h 115679"/>
                <a:gd name="connsiteX13" fmla="*/ 11339 w 133222"/>
                <a:gd name="connsiteY13" fmla="*/ 112487 h 115679"/>
                <a:gd name="connsiteX14" fmla="*/ 19007 w 133222"/>
                <a:gd name="connsiteY14" fmla="*/ 102273 h 115679"/>
                <a:gd name="connsiteX15" fmla="*/ 26035 w 133222"/>
                <a:gd name="connsiteY15" fmla="*/ 98442 h 115679"/>
                <a:gd name="connsiteX16" fmla="*/ 38815 w 133222"/>
                <a:gd name="connsiteY16" fmla="*/ 97165 h 115679"/>
                <a:gd name="connsiteX17" fmla="*/ 56707 w 133222"/>
                <a:gd name="connsiteY17" fmla="*/ 85674 h 115679"/>
                <a:gd name="connsiteX18" fmla="*/ 54790 w 133222"/>
                <a:gd name="connsiteY18" fmla="*/ 72906 h 115679"/>
                <a:gd name="connsiteX19" fmla="*/ 45205 w 133222"/>
                <a:gd name="connsiteY19" fmla="*/ 24388 h 115679"/>
                <a:gd name="connsiteX20" fmla="*/ 65653 w 133222"/>
                <a:gd name="connsiteY20" fmla="*/ 13535 h 115679"/>
                <a:gd name="connsiteX21" fmla="*/ 85462 w 133222"/>
                <a:gd name="connsiteY21" fmla="*/ 25027 h 115679"/>
                <a:gd name="connsiteX22" fmla="*/ 78433 w 133222"/>
                <a:gd name="connsiteY22" fmla="*/ 73545 h 115679"/>
                <a:gd name="connsiteX23" fmla="*/ 76516 w 133222"/>
                <a:gd name="connsiteY23" fmla="*/ 86313 h 115679"/>
                <a:gd name="connsiteX24" fmla="*/ 94408 w 133222"/>
                <a:gd name="connsiteY24" fmla="*/ 97804 h 115679"/>
                <a:gd name="connsiteX25" fmla="*/ 107188 w 133222"/>
                <a:gd name="connsiteY25" fmla="*/ 99081 h 115679"/>
                <a:gd name="connsiteX26" fmla="*/ 114216 w 133222"/>
                <a:gd name="connsiteY26" fmla="*/ 102911 h 115679"/>
                <a:gd name="connsiteX27" fmla="*/ 121884 w 133222"/>
                <a:gd name="connsiteY27" fmla="*/ 113125 h 115679"/>
                <a:gd name="connsiteX28" fmla="*/ 126996 w 133222"/>
                <a:gd name="connsiteY28" fmla="*/ 115679 h 115679"/>
                <a:gd name="connsiteX29" fmla="*/ 130830 w 133222"/>
                <a:gd name="connsiteY29" fmla="*/ 114402 h 115679"/>
                <a:gd name="connsiteX30" fmla="*/ 132109 w 133222"/>
                <a:gd name="connsiteY30" fmla="*/ 105465 h 115679"/>
                <a:gd name="connsiteX31" fmla="*/ 132109 w 133222"/>
                <a:gd name="connsiteY31" fmla="*/ 105465 h 115679"/>
                <a:gd name="connsiteX32" fmla="*/ 126357 w 133222"/>
                <a:gd name="connsiteY32" fmla="*/ 94612 h 11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3222" h="115679">
                  <a:moveTo>
                    <a:pt x="126357" y="94612"/>
                  </a:moveTo>
                  <a:cubicBezTo>
                    <a:pt x="122524" y="89505"/>
                    <a:pt x="116134" y="85674"/>
                    <a:pt x="109744" y="85674"/>
                  </a:cubicBezTo>
                  <a:lnTo>
                    <a:pt x="96964" y="84398"/>
                  </a:lnTo>
                  <a:cubicBezTo>
                    <a:pt x="94408" y="84398"/>
                    <a:pt x="91852" y="83121"/>
                    <a:pt x="89935" y="80567"/>
                  </a:cubicBezTo>
                  <a:cubicBezTo>
                    <a:pt x="97603" y="70991"/>
                    <a:pt x="107188" y="40348"/>
                    <a:pt x="98881" y="19919"/>
                  </a:cubicBezTo>
                  <a:cubicBezTo>
                    <a:pt x="93769" y="7151"/>
                    <a:pt x="80989" y="-1148"/>
                    <a:pt x="66931" y="129"/>
                  </a:cubicBezTo>
                  <a:cubicBezTo>
                    <a:pt x="46483" y="129"/>
                    <a:pt x="38176" y="10343"/>
                    <a:pt x="34342" y="19281"/>
                  </a:cubicBezTo>
                  <a:cubicBezTo>
                    <a:pt x="26035" y="40348"/>
                    <a:pt x="38176" y="70991"/>
                    <a:pt x="45205" y="80567"/>
                  </a:cubicBezTo>
                  <a:cubicBezTo>
                    <a:pt x="43288" y="82482"/>
                    <a:pt x="40732" y="83759"/>
                    <a:pt x="38176" y="84398"/>
                  </a:cubicBezTo>
                  <a:lnTo>
                    <a:pt x="25396" y="85674"/>
                  </a:lnTo>
                  <a:cubicBezTo>
                    <a:pt x="19007" y="86313"/>
                    <a:pt x="12617" y="89505"/>
                    <a:pt x="8782" y="94612"/>
                  </a:cubicBezTo>
                  <a:lnTo>
                    <a:pt x="1115" y="104826"/>
                  </a:lnTo>
                  <a:cubicBezTo>
                    <a:pt x="-802" y="107380"/>
                    <a:pt x="-163" y="111849"/>
                    <a:pt x="2392" y="113764"/>
                  </a:cubicBezTo>
                  <a:cubicBezTo>
                    <a:pt x="4949" y="115679"/>
                    <a:pt x="9422" y="115041"/>
                    <a:pt x="11339" y="112487"/>
                  </a:cubicBezTo>
                  <a:lnTo>
                    <a:pt x="19007" y="102273"/>
                  </a:lnTo>
                  <a:cubicBezTo>
                    <a:pt x="20923" y="99719"/>
                    <a:pt x="23480" y="98442"/>
                    <a:pt x="26035" y="98442"/>
                  </a:cubicBezTo>
                  <a:lnTo>
                    <a:pt x="38815" y="97165"/>
                  </a:lnTo>
                  <a:cubicBezTo>
                    <a:pt x="46483" y="96527"/>
                    <a:pt x="52873" y="92058"/>
                    <a:pt x="56707" y="85674"/>
                  </a:cubicBezTo>
                  <a:cubicBezTo>
                    <a:pt x="59263" y="81206"/>
                    <a:pt x="58624" y="76098"/>
                    <a:pt x="54790" y="72906"/>
                  </a:cubicBezTo>
                  <a:cubicBezTo>
                    <a:pt x="50317" y="69076"/>
                    <a:pt x="38815" y="40348"/>
                    <a:pt x="45205" y="24388"/>
                  </a:cubicBezTo>
                  <a:cubicBezTo>
                    <a:pt x="48400" y="16727"/>
                    <a:pt x="54790" y="13535"/>
                    <a:pt x="65653" y="13535"/>
                  </a:cubicBezTo>
                  <a:cubicBezTo>
                    <a:pt x="73960" y="12259"/>
                    <a:pt x="82267" y="17366"/>
                    <a:pt x="85462" y="25027"/>
                  </a:cubicBezTo>
                  <a:cubicBezTo>
                    <a:pt x="92491" y="41625"/>
                    <a:pt x="82267" y="69714"/>
                    <a:pt x="78433" y="73545"/>
                  </a:cubicBezTo>
                  <a:cubicBezTo>
                    <a:pt x="74599" y="76737"/>
                    <a:pt x="73960" y="81844"/>
                    <a:pt x="76516" y="86313"/>
                  </a:cubicBezTo>
                  <a:cubicBezTo>
                    <a:pt x="80350" y="92697"/>
                    <a:pt x="86740" y="97165"/>
                    <a:pt x="94408" y="97804"/>
                  </a:cubicBezTo>
                  <a:lnTo>
                    <a:pt x="107188" y="99081"/>
                  </a:lnTo>
                  <a:cubicBezTo>
                    <a:pt x="110383" y="99081"/>
                    <a:pt x="112939" y="100996"/>
                    <a:pt x="114216" y="102911"/>
                  </a:cubicBezTo>
                  <a:lnTo>
                    <a:pt x="121884" y="113125"/>
                  </a:lnTo>
                  <a:cubicBezTo>
                    <a:pt x="123162" y="115041"/>
                    <a:pt x="125079" y="115679"/>
                    <a:pt x="126996" y="115679"/>
                  </a:cubicBezTo>
                  <a:cubicBezTo>
                    <a:pt x="128274" y="115679"/>
                    <a:pt x="129552" y="115041"/>
                    <a:pt x="130830" y="114402"/>
                  </a:cubicBezTo>
                  <a:cubicBezTo>
                    <a:pt x="133386" y="112487"/>
                    <a:pt x="134025" y="108018"/>
                    <a:pt x="132109" y="105465"/>
                  </a:cubicBezTo>
                  <a:cubicBezTo>
                    <a:pt x="132109" y="105465"/>
                    <a:pt x="132109" y="105465"/>
                    <a:pt x="132109" y="105465"/>
                  </a:cubicBezTo>
                  <a:lnTo>
                    <a:pt x="126357" y="94612"/>
                  </a:lnTo>
                  <a:close/>
                </a:path>
              </a:pathLst>
            </a:custGeom>
            <a:grpFill/>
            <a:ln w="6390" cap="flat">
              <a:noFill/>
              <a:prstDash val="solid"/>
              <a:miter/>
            </a:ln>
          </p:spPr>
          <p:txBody>
            <a:bodyPr rtlCol="0" anchor="ctr"/>
            <a:lstStyle/>
            <a:p>
              <a:endParaRPr lang="en-US"/>
            </a:p>
          </p:txBody>
        </p:sp>
        <p:sp>
          <p:nvSpPr>
            <p:cNvPr id="56" name="Graphic 4">
              <a:extLst>
                <a:ext uri="{FF2B5EF4-FFF2-40B4-BE49-F238E27FC236}">
                  <a16:creationId xmlns:a16="http://schemas.microsoft.com/office/drawing/2014/main" id="{88645FDB-6DA4-DE06-2F81-3119D8C407E6}"/>
                </a:ext>
              </a:extLst>
            </p:cNvPr>
            <p:cNvSpPr/>
            <p:nvPr/>
          </p:nvSpPr>
          <p:spPr>
            <a:xfrm>
              <a:off x="3827490" y="4913869"/>
              <a:ext cx="96311" cy="94526"/>
            </a:xfrm>
            <a:custGeom>
              <a:avLst/>
              <a:gdLst>
                <a:gd name="connsiteX0" fmla="*/ 95292 w 96311"/>
                <a:gd name="connsiteY0" fmla="*/ 84951 h 94526"/>
                <a:gd name="connsiteX1" fmla="*/ 88902 w 96311"/>
                <a:gd name="connsiteY1" fmla="*/ 76652 h 94526"/>
                <a:gd name="connsiteX2" fmla="*/ 74845 w 96311"/>
                <a:gd name="connsiteY2" fmla="*/ 68991 h 94526"/>
                <a:gd name="connsiteX3" fmla="*/ 64620 w 96311"/>
                <a:gd name="connsiteY3" fmla="*/ 68352 h 94526"/>
                <a:gd name="connsiteX4" fmla="*/ 60148 w 96311"/>
                <a:gd name="connsiteY4" fmla="*/ 66437 h 94526"/>
                <a:gd name="connsiteX5" fmla="*/ 66538 w 96311"/>
                <a:gd name="connsiteY5" fmla="*/ 16642 h 94526"/>
                <a:gd name="connsiteX6" fmla="*/ 39700 w 96311"/>
                <a:gd name="connsiteY6" fmla="*/ 44 h 94526"/>
                <a:gd name="connsiteX7" fmla="*/ 12223 w 96311"/>
                <a:gd name="connsiteY7" fmla="*/ 16004 h 94526"/>
                <a:gd name="connsiteX8" fmla="*/ 20530 w 96311"/>
                <a:gd name="connsiteY8" fmla="*/ 65799 h 94526"/>
                <a:gd name="connsiteX9" fmla="*/ 16057 w 96311"/>
                <a:gd name="connsiteY9" fmla="*/ 67714 h 94526"/>
                <a:gd name="connsiteX10" fmla="*/ 5833 w 96311"/>
                <a:gd name="connsiteY10" fmla="*/ 68352 h 94526"/>
                <a:gd name="connsiteX11" fmla="*/ 82 w 96311"/>
                <a:gd name="connsiteY11" fmla="*/ 75375 h 94526"/>
                <a:gd name="connsiteX12" fmla="*/ 7111 w 96311"/>
                <a:gd name="connsiteY12" fmla="*/ 81120 h 94526"/>
                <a:gd name="connsiteX13" fmla="*/ 17335 w 96311"/>
                <a:gd name="connsiteY13" fmla="*/ 80482 h 94526"/>
                <a:gd name="connsiteX14" fmla="*/ 32671 w 96311"/>
                <a:gd name="connsiteY14" fmla="*/ 70268 h 94526"/>
                <a:gd name="connsiteX15" fmla="*/ 30754 w 96311"/>
                <a:gd name="connsiteY15" fmla="*/ 58776 h 94526"/>
                <a:gd name="connsiteX16" fmla="*/ 23086 w 96311"/>
                <a:gd name="connsiteY16" fmla="*/ 20473 h 94526"/>
                <a:gd name="connsiteX17" fmla="*/ 38422 w 96311"/>
                <a:gd name="connsiteY17" fmla="*/ 12173 h 94526"/>
                <a:gd name="connsiteX18" fmla="*/ 53119 w 96311"/>
                <a:gd name="connsiteY18" fmla="*/ 20473 h 94526"/>
                <a:gd name="connsiteX19" fmla="*/ 48007 w 96311"/>
                <a:gd name="connsiteY19" fmla="*/ 58776 h 94526"/>
                <a:gd name="connsiteX20" fmla="*/ 46090 w 96311"/>
                <a:gd name="connsiteY20" fmla="*/ 70268 h 94526"/>
                <a:gd name="connsiteX21" fmla="*/ 61425 w 96311"/>
                <a:gd name="connsiteY21" fmla="*/ 80482 h 94526"/>
                <a:gd name="connsiteX22" fmla="*/ 71650 w 96311"/>
                <a:gd name="connsiteY22" fmla="*/ 81120 h 94526"/>
                <a:gd name="connsiteX23" fmla="*/ 76761 w 96311"/>
                <a:gd name="connsiteY23" fmla="*/ 83674 h 94526"/>
                <a:gd name="connsiteX24" fmla="*/ 83151 w 96311"/>
                <a:gd name="connsiteY24" fmla="*/ 91973 h 94526"/>
                <a:gd name="connsiteX25" fmla="*/ 88263 w 96311"/>
                <a:gd name="connsiteY25" fmla="*/ 94527 h 94526"/>
                <a:gd name="connsiteX26" fmla="*/ 92097 w 96311"/>
                <a:gd name="connsiteY26" fmla="*/ 93250 h 94526"/>
                <a:gd name="connsiteX27" fmla="*/ 95292 w 96311"/>
                <a:gd name="connsiteY27" fmla="*/ 84951 h 94526"/>
                <a:gd name="connsiteX28" fmla="*/ 95292 w 96311"/>
                <a:gd name="connsiteY28" fmla="*/ 84951 h 9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311" h="94526">
                  <a:moveTo>
                    <a:pt x="95292" y="84951"/>
                  </a:moveTo>
                  <a:lnTo>
                    <a:pt x="88902" y="76652"/>
                  </a:lnTo>
                  <a:cubicBezTo>
                    <a:pt x="85708" y="72183"/>
                    <a:pt x="80595" y="68991"/>
                    <a:pt x="74845" y="68991"/>
                  </a:cubicBezTo>
                  <a:lnTo>
                    <a:pt x="64620" y="68352"/>
                  </a:lnTo>
                  <a:cubicBezTo>
                    <a:pt x="63343" y="68352"/>
                    <a:pt x="61425" y="67714"/>
                    <a:pt x="60148" y="66437"/>
                  </a:cubicBezTo>
                  <a:cubicBezTo>
                    <a:pt x="66538" y="57500"/>
                    <a:pt x="73566" y="33241"/>
                    <a:pt x="66538" y="16642"/>
                  </a:cubicBezTo>
                  <a:cubicBezTo>
                    <a:pt x="62065" y="5789"/>
                    <a:pt x="51202" y="-594"/>
                    <a:pt x="39700" y="44"/>
                  </a:cubicBezTo>
                  <a:cubicBezTo>
                    <a:pt x="22447" y="44"/>
                    <a:pt x="15418" y="8981"/>
                    <a:pt x="12223" y="16004"/>
                  </a:cubicBezTo>
                  <a:cubicBezTo>
                    <a:pt x="5833" y="32602"/>
                    <a:pt x="14779" y="57500"/>
                    <a:pt x="20530" y="65799"/>
                  </a:cubicBezTo>
                  <a:cubicBezTo>
                    <a:pt x="19252" y="67076"/>
                    <a:pt x="17974" y="67714"/>
                    <a:pt x="16057" y="67714"/>
                  </a:cubicBezTo>
                  <a:lnTo>
                    <a:pt x="5833" y="68352"/>
                  </a:lnTo>
                  <a:cubicBezTo>
                    <a:pt x="2638" y="68352"/>
                    <a:pt x="-557" y="71544"/>
                    <a:pt x="82" y="75375"/>
                  </a:cubicBezTo>
                  <a:cubicBezTo>
                    <a:pt x="82" y="78567"/>
                    <a:pt x="3277" y="81759"/>
                    <a:pt x="7111" y="81120"/>
                  </a:cubicBezTo>
                  <a:lnTo>
                    <a:pt x="17335" y="80482"/>
                  </a:lnTo>
                  <a:cubicBezTo>
                    <a:pt x="23725" y="79844"/>
                    <a:pt x="29476" y="76013"/>
                    <a:pt x="32671" y="70268"/>
                  </a:cubicBezTo>
                  <a:cubicBezTo>
                    <a:pt x="34588" y="66437"/>
                    <a:pt x="33949" y="61968"/>
                    <a:pt x="30754" y="58776"/>
                  </a:cubicBezTo>
                  <a:cubicBezTo>
                    <a:pt x="27559" y="55584"/>
                    <a:pt x="17974" y="32602"/>
                    <a:pt x="23086" y="20473"/>
                  </a:cubicBezTo>
                  <a:cubicBezTo>
                    <a:pt x="24364" y="17281"/>
                    <a:pt x="27559" y="12173"/>
                    <a:pt x="38422" y="12173"/>
                  </a:cubicBezTo>
                  <a:cubicBezTo>
                    <a:pt x="44812" y="11535"/>
                    <a:pt x="50563" y="14727"/>
                    <a:pt x="53119" y="20473"/>
                  </a:cubicBezTo>
                  <a:cubicBezTo>
                    <a:pt x="58230" y="33241"/>
                    <a:pt x="50563" y="55584"/>
                    <a:pt x="48007" y="58776"/>
                  </a:cubicBezTo>
                  <a:cubicBezTo>
                    <a:pt x="44812" y="61968"/>
                    <a:pt x="44173" y="66437"/>
                    <a:pt x="46090" y="70268"/>
                  </a:cubicBezTo>
                  <a:cubicBezTo>
                    <a:pt x="49285" y="76013"/>
                    <a:pt x="55036" y="79844"/>
                    <a:pt x="61425" y="80482"/>
                  </a:cubicBezTo>
                  <a:lnTo>
                    <a:pt x="71650" y="81120"/>
                  </a:lnTo>
                  <a:cubicBezTo>
                    <a:pt x="73566" y="81120"/>
                    <a:pt x="75483" y="82397"/>
                    <a:pt x="76761" y="83674"/>
                  </a:cubicBezTo>
                  <a:lnTo>
                    <a:pt x="83151" y="91973"/>
                  </a:lnTo>
                  <a:cubicBezTo>
                    <a:pt x="84429" y="93888"/>
                    <a:pt x="86346" y="94527"/>
                    <a:pt x="88263" y="94527"/>
                  </a:cubicBezTo>
                  <a:cubicBezTo>
                    <a:pt x="89541" y="94527"/>
                    <a:pt x="90819" y="93888"/>
                    <a:pt x="92097" y="93250"/>
                  </a:cubicBezTo>
                  <a:cubicBezTo>
                    <a:pt x="96570" y="91973"/>
                    <a:pt x="97209" y="88143"/>
                    <a:pt x="95292" y="84951"/>
                  </a:cubicBezTo>
                  <a:cubicBezTo>
                    <a:pt x="95292" y="84951"/>
                    <a:pt x="95292" y="84951"/>
                    <a:pt x="95292" y="84951"/>
                  </a:cubicBezTo>
                  <a:close/>
                </a:path>
              </a:pathLst>
            </a:custGeom>
            <a:grpFill/>
            <a:ln w="6390" cap="flat">
              <a:noFill/>
              <a:prstDash val="solid"/>
              <a:miter/>
            </a:ln>
          </p:spPr>
          <p:txBody>
            <a:bodyPr rtlCol="0" anchor="ctr"/>
            <a:lstStyle/>
            <a:p>
              <a:endParaRPr lang="en-US"/>
            </a:p>
          </p:txBody>
        </p:sp>
        <p:sp>
          <p:nvSpPr>
            <p:cNvPr id="57" name="Graphic 4">
              <a:extLst>
                <a:ext uri="{FF2B5EF4-FFF2-40B4-BE49-F238E27FC236}">
                  <a16:creationId xmlns:a16="http://schemas.microsoft.com/office/drawing/2014/main" id="{F6E082DC-5A81-BFCF-852A-BEEAD787A369}"/>
                </a:ext>
              </a:extLst>
            </p:cNvPr>
            <p:cNvSpPr/>
            <p:nvPr/>
          </p:nvSpPr>
          <p:spPr>
            <a:xfrm>
              <a:off x="3653929" y="4914508"/>
              <a:ext cx="96324" cy="95164"/>
            </a:xfrm>
            <a:custGeom>
              <a:avLst/>
              <a:gdLst>
                <a:gd name="connsiteX0" fmla="*/ 89296 w 96324"/>
                <a:gd name="connsiteY0" fmla="*/ 81120 h 95164"/>
                <a:gd name="connsiteX1" fmla="*/ 96325 w 96324"/>
                <a:gd name="connsiteY1" fmla="*/ 75375 h 95164"/>
                <a:gd name="connsiteX2" fmla="*/ 90574 w 96324"/>
                <a:gd name="connsiteY2" fmla="*/ 68352 h 95164"/>
                <a:gd name="connsiteX3" fmla="*/ 90574 w 96324"/>
                <a:gd name="connsiteY3" fmla="*/ 68352 h 95164"/>
                <a:gd name="connsiteX4" fmla="*/ 80350 w 96324"/>
                <a:gd name="connsiteY4" fmla="*/ 67714 h 95164"/>
                <a:gd name="connsiteX5" fmla="*/ 75877 w 96324"/>
                <a:gd name="connsiteY5" fmla="*/ 65799 h 95164"/>
                <a:gd name="connsiteX6" fmla="*/ 84184 w 96324"/>
                <a:gd name="connsiteY6" fmla="*/ 16004 h 95164"/>
                <a:gd name="connsiteX7" fmla="*/ 56707 w 96324"/>
                <a:gd name="connsiteY7" fmla="*/ 44 h 95164"/>
                <a:gd name="connsiteX8" fmla="*/ 29869 w 96324"/>
                <a:gd name="connsiteY8" fmla="*/ 16642 h 95164"/>
                <a:gd name="connsiteX9" fmla="*/ 36259 w 96324"/>
                <a:gd name="connsiteY9" fmla="*/ 66437 h 95164"/>
                <a:gd name="connsiteX10" fmla="*/ 31786 w 96324"/>
                <a:gd name="connsiteY10" fmla="*/ 68352 h 95164"/>
                <a:gd name="connsiteX11" fmla="*/ 21562 w 96324"/>
                <a:gd name="connsiteY11" fmla="*/ 68991 h 95164"/>
                <a:gd name="connsiteX12" fmla="*/ 7505 w 96324"/>
                <a:gd name="connsiteY12" fmla="*/ 76652 h 95164"/>
                <a:gd name="connsiteX13" fmla="*/ 1115 w 96324"/>
                <a:gd name="connsiteY13" fmla="*/ 84951 h 95164"/>
                <a:gd name="connsiteX14" fmla="*/ 2393 w 96324"/>
                <a:gd name="connsiteY14" fmla="*/ 93888 h 95164"/>
                <a:gd name="connsiteX15" fmla="*/ 2393 w 96324"/>
                <a:gd name="connsiteY15" fmla="*/ 93888 h 95164"/>
                <a:gd name="connsiteX16" fmla="*/ 6226 w 96324"/>
                <a:gd name="connsiteY16" fmla="*/ 95165 h 95164"/>
                <a:gd name="connsiteX17" fmla="*/ 11338 w 96324"/>
                <a:gd name="connsiteY17" fmla="*/ 92612 h 95164"/>
                <a:gd name="connsiteX18" fmla="*/ 17728 w 96324"/>
                <a:gd name="connsiteY18" fmla="*/ 84312 h 95164"/>
                <a:gd name="connsiteX19" fmla="*/ 22841 w 96324"/>
                <a:gd name="connsiteY19" fmla="*/ 81759 h 95164"/>
                <a:gd name="connsiteX20" fmla="*/ 33064 w 96324"/>
                <a:gd name="connsiteY20" fmla="*/ 81120 h 95164"/>
                <a:gd name="connsiteX21" fmla="*/ 48400 w 96324"/>
                <a:gd name="connsiteY21" fmla="*/ 71544 h 95164"/>
                <a:gd name="connsiteX22" fmla="*/ 46483 w 96324"/>
                <a:gd name="connsiteY22" fmla="*/ 60053 h 95164"/>
                <a:gd name="connsiteX23" fmla="*/ 41371 w 96324"/>
                <a:gd name="connsiteY23" fmla="*/ 21749 h 95164"/>
                <a:gd name="connsiteX24" fmla="*/ 56068 w 96324"/>
                <a:gd name="connsiteY24" fmla="*/ 13450 h 95164"/>
                <a:gd name="connsiteX25" fmla="*/ 71404 w 96324"/>
                <a:gd name="connsiteY25" fmla="*/ 21749 h 95164"/>
                <a:gd name="connsiteX26" fmla="*/ 63736 w 96324"/>
                <a:gd name="connsiteY26" fmla="*/ 60053 h 95164"/>
                <a:gd name="connsiteX27" fmla="*/ 61819 w 96324"/>
                <a:gd name="connsiteY27" fmla="*/ 71544 h 95164"/>
                <a:gd name="connsiteX28" fmla="*/ 77155 w 96324"/>
                <a:gd name="connsiteY28" fmla="*/ 81759 h 95164"/>
                <a:gd name="connsiteX29" fmla="*/ 89296 w 96324"/>
                <a:gd name="connsiteY29" fmla="*/ 81120 h 95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6324" h="95164">
                  <a:moveTo>
                    <a:pt x="89296" y="81120"/>
                  </a:moveTo>
                  <a:cubicBezTo>
                    <a:pt x="93130" y="81120"/>
                    <a:pt x="95686" y="78567"/>
                    <a:pt x="96325" y="75375"/>
                  </a:cubicBezTo>
                  <a:cubicBezTo>
                    <a:pt x="96325" y="71544"/>
                    <a:pt x="93769" y="68991"/>
                    <a:pt x="90574" y="68352"/>
                  </a:cubicBezTo>
                  <a:lnTo>
                    <a:pt x="90574" y="68352"/>
                  </a:lnTo>
                  <a:lnTo>
                    <a:pt x="80350" y="67714"/>
                  </a:lnTo>
                  <a:cubicBezTo>
                    <a:pt x="79072" y="67714"/>
                    <a:pt x="77155" y="67076"/>
                    <a:pt x="75877" y="65799"/>
                  </a:cubicBezTo>
                  <a:cubicBezTo>
                    <a:pt x="82267" y="56861"/>
                    <a:pt x="91213" y="32602"/>
                    <a:pt x="84184" y="16004"/>
                  </a:cubicBezTo>
                  <a:cubicBezTo>
                    <a:pt x="80989" y="8343"/>
                    <a:pt x="73960" y="44"/>
                    <a:pt x="56707" y="44"/>
                  </a:cubicBezTo>
                  <a:cubicBezTo>
                    <a:pt x="45205" y="-595"/>
                    <a:pt x="34342" y="5789"/>
                    <a:pt x="29869" y="16642"/>
                  </a:cubicBezTo>
                  <a:cubicBezTo>
                    <a:pt x="23479" y="33241"/>
                    <a:pt x="30508" y="57500"/>
                    <a:pt x="36259" y="66437"/>
                  </a:cubicBezTo>
                  <a:cubicBezTo>
                    <a:pt x="34981" y="67714"/>
                    <a:pt x="33703" y="68352"/>
                    <a:pt x="31786" y="68352"/>
                  </a:cubicBezTo>
                  <a:lnTo>
                    <a:pt x="21562" y="68991"/>
                  </a:lnTo>
                  <a:cubicBezTo>
                    <a:pt x="15811" y="69629"/>
                    <a:pt x="10700" y="72183"/>
                    <a:pt x="7505" y="76652"/>
                  </a:cubicBezTo>
                  <a:lnTo>
                    <a:pt x="1115" y="84951"/>
                  </a:lnTo>
                  <a:cubicBezTo>
                    <a:pt x="-802" y="87504"/>
                    <a:pt x="-163" y="91973"/>
                    <a:pt x="2393" y="93888"/>
                  </a:cubicBezTo>
                  <a:cubicBezTo>
                    <a:pt x="2393" y="93888"/>
                    <a:pt x="2393" y="93888"/>
                    <a:pt x="2393" y="93888"/>
                  </a:cubicBezTo>
                  <a:cubicBezTo>
                    <a:pt x="3671" y="94527"/>
                    <a:pt x="4948" y="95165"/>
                    <a:pt x="6226" y="95165"/>
                  </a:cubicBezTo>
                  <a:cubicBezTo>
                    <a:pt x="8143" y="95165"/>
                    <a:pt x="10061" y="93888"/>
                    <a:pt x="11338" y="92612"/>
                  </a:cubicBezTo>
                  <a:lnTo>
                    <a:pt x="17728" y="84312"/>
                  </a:lnTo>
                  <a:cubicBezTo>
                    <a:pt x="19006" y="82397"/>
                    <a:pt x="20923" y="81759"/>
                    <a:pt x="22841" y="81759"/>
                  </a:cubicBezTo>
                  <a:lnTo>
                    <a:pt x="33064" y="81120"/>
                  </a:lnTo>
                  <a:cubicBezTo>
                    <a:pt x="39454" y="80482"/>
                    <a:pt x="45205" y="76652"/>
                    <a:pt x="48400" y="71544"/>
                  </a:cubicBezTo>
                  <a:cubicBezTo>
                    <a:pt x="50317" y="67714"/>
                    <a:pt x="49678" y="62607"/>
                    <a:pt x="46483" y="60053"/>
                  </a:cubicBezTo>
                  <a:cubicBezTo>
                    <a:pt x="43288" y="56861"/>
                    <a:pt x="35620" y="34517"/>
                    <a:pt x="41371" y="21749"/>
                  </a:cubicBezTo>
                  <a:cubicBezTo>
                    <a:pt x="43927" y="16004"/>
                    <a:pt x="49678" y="12812"/>
                    <a:pt x="56068" y="13450"/>
                  </a:cubicBezTo>
                  <a:cubicBezTo>
                    <a:pt x="66931" y="13450"/>
                    <a:pt x="70126" y="17919"/>
                    <a:pt x="71404" y="21749"/>
                  </a:cubicBezTo>
                  <a:cubicBezTo>
                    <a:pt x="76516" y="33879"/>
                    <a:pt x="67570" y="56861"/>
                    <a:pt x="63736" y="60053"/>
                  </a:cubicBezTo>
                  <a:cubicBezTo>
                    <a:pt x="60541" y="63245"/>
                    <a:pt x="59902" y="67714"/>
                    <a:pt x="61819" y="71544"/>
                  </a:cubicBezTo>
                  <a:cubicBezTo>
                    <a:pt x="65014" y="77290"/>
                    <a:pt x="70765" y="81120"/>
                    <a:pt x="77155" y="81759"/>
                  </a:cubicBezTo>
                  <a:lnTo>
                    <a:pt x="89296" y="81120"/>
                  </a:lnTo>
                  <a:close/>
                </a:path>
              </a:pathLst>
            </a:custGeom>
            <a:grpFill/>
            <a:ln w="6390" cap="flat">
              <a:noFill/>
              <a:prstDash val="solid"/>
              <a:miter/>
            </a:ln>
          </p:spPr>
          <p:txBody>
            <a:bodyPr rtlCol="0" anchor="ctr"/>
            <a:lstStyle/>
            <a:p>
              <a:endParaRPr lang="en-US"/>
            </a:p>
          </p:txBody>
        </p:sp>
      </p:grpSp>
      <p:grpSp>
        <p:nvGrpSpPr>
          <p:cNvPr id="58" name="Graphic 4">
            <a:extLst>
              <a:ext uri="{FF2B5EF4-FFF2-40B4-BE49-F238E27FC236}">
                <a16:creationId xmlns:a16="http://schemas.microsoft.com/office/drawing/2014/main" id="{BE2A00D8-CCDF-F0BA-7A8D-5C7F8BB8B5E4}"/>
              </a:ext>
            </a:extLst>
          </p:cNvPr>
          <p:cNvGrpSpPr>
            <a:grpSpLocks noChangeAspect="1"/>
          </p:cNvGrpSpPr>
          <p:nvPr/>
        </p:nvGrpSpPr>
        <p:grpSpPr>
          <a:xfrm>
            <a:off x="4315650" y="1029509"/>
            <a:ext cx="467983" cy="467541"/>
            <a:chOff x="2559808" y="918179"/>
            <a:chExt cx="362313" cy="361971"/>
          </a:xfrm>
          <a:solidFill>
            <a:srgbClr val="000000"/>
          </a:solidFill>
        </p:grpSpPr>
        <p:sp>
          <p:nvSpPr>
            <p:cNvPr id="59" name="Graphic 4">
              <a:extLst>
                <a:ext uri="{FF2B5EF4-FFF2-40B4-BE49-F238E27FC236}">
                  <a16:creationId xmlns:a16="http://schemas.microsoft.com/office/drawing/2014/main" id="{830B30C7-83C4-99B4-D0CE-027B5DDBA299}"/>
                </a:ext>
              </a:extLst>
            </p:cNvPr>
            <p:cNvSpPr/>
            <p:nvPr/>
          </p:nvSpPr>
          <p:spPr>
            <a:xfrm>
              <a:off x="2559808" y="918179"/>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9204 h 361971"/>
                <a:gd name="connsiteX7" fmla="*/ 12780 w 362313"/>
                <a:gd name="connsiteY7" fmla="*/ 181305 h 361971"/>
                <a:gd name="connsiteX8" fmla="*/ 180835 w 362313"/>
                <a:gd name="connsiteY8" fmla="*/ 12768 h 361971"/>
                <a:gd name="connsiteX9" fmla="*/ 349529 w 362313"/>
                <a:gd name="connsiteY9" fmla="*/ 180667 h 361971"/>
                <a:gd name="connsiteX10" fmla="*/ 349529 w 362313"/>
                <a:gd name="connsiteY10" fmla="*/ 180667 h 361971"/>
                <a:gd name="connsiteX11" fmla="*/ 181474 w 362313"/>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257"/>
                    <a:pt x="81152" y="361972"/>
                    <a:pt x="180835" y="361972"/>
                  </a:cubicBezTo>
                  <a:cubicBezTo>
                    <a:pt x="281157"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3489" y="12768"/>
                    <a:pt x="349529" y="88099"/>
                    <a:pt x="349529" y="180667"/>
                  </a:cubicBezTo>
                  <a:cubicBezTo>
                    <a:pt x="349529" y="180667"/>
                    <a:pt x="349529" y="180667"/>
                    <a:pt x="349529" y="180667"/>
                  </a:cubicBezTo>
                  <a:cubicBezTo>
                    <a:pt x="350168" y="273873"/>
                    <a:pt x="274767" y="348565"/>
                    <a:pt x="181474" y="349204"/>
                  </a:cubicBezTo>
                  <a:close/>
                </a:path>
              </a:pathLst>
            </a:custGeom>
            <a:grpFill/>
            <a:ln w="6390" cap="flat">
              <a:noFill/>
              <a:prstDash val="solid"/>
              <a:miter/>
            </a:ln>
          </p:spPr>
          <p:txBody>
            <a:bodyPr rtlCol="0" anchor="ctr"/>
            <a:lstStyle/>
            <a:p>
              <a:endParaRPr lang="en-US"/>
            </a:p>
          </p:txBody>
        </p:sp>
        <p:sp>
          <p:nvSpPr>
            <p:cNvPr id="60" name="Graphic 4">
              <a:extLst>
                <a:ext uri="{FF2B5EF4-FFF2-40B4-BE49-F238E27FC236}">
                  <a16:creationId xmlns:a16="http://schemas.microsoft.com/office/drawing/2014/main" id="{BC536BD6-CBBA-61C6-96CA-3D448C5558B7}"/>
                </a:ext>
              </a:extLst>
            </p:cNvPr>
            <p:cNvSpPr/>
            <p:nvPr/>
          </p:nvSpPr>
          <p:spPr>
            <a:xfrm>
              <a:off x="2724179" y="990477"/>
              <a:ext cx="35634" cy="17715"/>
            </a:xfrm>
            <a:custGeom>
              <a:avLst/>
              <a:gdLst>
                <a:gd name="connsiteX0" fmla="*/ 31800 w 35634"/>
                <a:gd name="connsiteY0" fmla="*/ 5586 h 17715"/>
                <a:gd name="connsiteX1" fmla="*/ 20299 w 35634"/>
                <a:gd name="connsiteY1" fmla="*/ 479 h 17715"/>
                <a:gd name="connsiteX2" fmla="*/ 15187 w 35634"/>
                <a:gd name="connsiteY2" fmla="*/ 479 h 17715"/>
                <a:gd name="connsiteX3" fmla="*/ 3685 w 35634"/>
                <a:gd name="connsiteY3" fmla="*/ 5586 h 17715"/>
                <a:gd name="connsiteX4" fmla="*/ 490 w 35634"/>
                <a:gd name="connsiteY4" fmla="*/ 13885 h 17715"/>
                <a:gd name="connsiteX5" fmla="*/ 8797 w 35634"/>
                <a:gd name="connsiteY5" fmla="*/ 17077 h 17715"/>
                <a:gd name="connsiteX6" fmla="*/ 17743 w 35634"/>
                <a:gd name="connsiteY6" fmla="*/ 13247 h 17715"/>
                <a:gd name="connsiteX7" fmla="*/ 26688 w 35634"/>
                <a:gd name="connsiteY7" fmla="*/ 17077 h 17715"/>
                <a:gd name="connsiteX8" fmla="*/ 29244 w 35634"/>
                <a:gd name="connsiteY8" fmla="*/ 17716 h 17715"/>
                <a:gd name="connsiteX9" fmla="*/ 35634 w 35634"/>
                <a:gd name="connsiteY9" fmla="*/ 11332 h 17715"/>
                <a:gd name="connsiteX10" fmla="*/ 31800 w 35634"/>
                <a:gd name="connsiteY10" fmla="*/ 5586 h 17715"/>
                <a:gd name="connsiteX11" fmla="*/ 31800 w 35634"/>
                <a:gd name="connsiteY11" fmla="*/ 5586 h 1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634" h="17715">
                  <a:moveTo>
                    <a:pt x="31800" y="5586"/>
                  </a:moveTo>
                  <a:lnTo>
                    <a:pt x="20299" y="479"/>
                  </a:lnTo>
                  <a:cubicBezTo>
                    <a:pt x="18382" y="-160"/>
                    <a:pt x="16465" y="-160"/>
                    <a:pt x="15187" y="479"/>
                  </a:cubicBezTo>
                  <a:lnTo>
                    <a:pt x="3685" y="5586"/>
                  </a:lnTo>
                  <a:cubicBezTo>
                    <a:pt x="490" y="6863"/>
                    <a:pt x="-788" y="10693"/>
                    <a:pt x="490" y="13885"/>
                  </a:cubicBezTo>
                  <a:cubicBezTo>
                    <a:pt x="1768" y="17077"/>
                    <a:pt x="5602" y="18354"/>
                    <a:pt x="8797" y="17077"/>
                  </a:cubicBezTo>
                  <a:lnTo>
                    <a:pt x="17743" y="13247"/>
                  </a:lnTo>
                  <a:lnTo>
                    <a:pt x="26688" y="17077"/>
                  </a:lnTo>
                  <a:cubicBezTo>
                    <a:pt x="27327" y="17716"/>
                    <a:pt x="28605" y="17716"/>
                    <a:pt x="29244" y="17716"/>
                  </a:cubicBezTo>
                  <a:cubicBezTo>
                    <a:pt x="33078" y="17716"/>
                    <a:pt x="35634" y="15162"/>
                    <a:pt x="35634" y="11332"/>
                  </a:cubicBezTo>
                  <a:cubicBezTo>
                    <a:pt x="35634" y="8778"/>
                    <a:pt x="33717" y="6224"/>
                    <a:pt x="31800" y="5586"/>
                  </a:cubicBezTo>
                  <a:lnTo>
                    <a:pt x="31800" y="5586"/>
                  </a:lnTo>
                  <a:close/>
                </a:path>
              </a:pathLst>
            </a:custGeom>
            <a:grpFill/>
            <a:ln w="6390" cap="flat">
              <a:noFill/>
              <a:prstDash val="solid"/>
              <a:miter/>
            </a:ln>
          </p:spPr>
          <p:txBody>
            <a:bodyPr rtlCol="0" anchor="ctr"/>
            <a:lstStyle/>
            <a:p>
              <a:endParaRPr lang="en-US"/>
            </a:p>
          </p:txBody>
        </p:sp>
        <p:sp>
          <p:nvSpPr>
            <p:cNvPr id="61" name="Graphic 4">
              <a:extLst>
                <a:ext uri="{FF2B5EF4-FFF2-40B4-BE49-F238E27FC236}">
                  <a16:creationId xmlns:a16="http://schemas.microsoft.com/office/drawing/2014/main" id="{F6716C2A-9EE4-331F-940B-C02299E40AE4}"/>
                </a:ext>
              </a:extLst>
            </p:cNvPr>
            <p:cNvSpPr/>
            <p:nvPr/>
          </p:nvSpPr>
          <p:spPr>
            <a:xfrm>
              <a:off x="2671142" y="1007155"/>
              <a:ext cx="39229" cy="25297"/>
            </a:xfrm>
            <a:custGeom>
              <a:avLst/>
              <a:gdLst>
                <a:gd name="connsiteX0" fmla="*/ 5602 w 39229"/>
                <a:gd name="connsiteY0" fmla="*/ 25298 h 25297"/>
                <a:gd name="connsiteX1" fmla="*/ 8158 w 39229"/>
                <a:gd name="connsiteY1" fmla="*/ 24659 h 25297"/>
                <a:gd name="connsiteX2" fmla="*/ 34995 w 39229"/>
                <a:gd name="connsiteY2" fmla="*/ 12530 h 25297"/>
                <a:gd name="connsiteX3" fmla="*/ 38829 w 39229"/>
                <a:gd name="connsiteY3" fmla="*/ 4230 h 25297"/>
                <a:gd name="connsiteX4" fmla="*/ 30522 w 39229"/>
                <a:gd name="connsiteY4" fmla="*/ 400 h 25297"/>
                <a:gd name="connsiteX5" fmla="*/ 29884 w 39229"/>
                <a:gd name="connsiteY5" fmla="*/ 1038 h 25297"/>
                <a:gd name="connsiteX6" fmla="*/ 3685 w 39229"/>
                <a:gd name="connsiteY6" fmla="*/ 13168 h 25297"/>
                <a:gd name="connsiteX7" fmla="*/ 490 w 39229"/>
                <a:gd name="connsiteY7" fmla="*/ 21467 h 25297"/>
                <a:gd name="connsiteX8" fmla="*/ 5602 w 39229"/>
                <a:gd name="connsiteY8" fmla="*/ 25298 h 25297"/>
                <a:gd name="connsiteX9" fmla="*/ 5602 w 39229"/>
                <a:gd name="connsiteY9" fmla="*/ 25298 h 2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229" h="25297">
                  <a:moveTo>
                    <a:pt x="5602" y="25298"/>
                  </a:moveTo>
                  <a:cubicBezTo>
                    <a:pt x="6241" y="25298"/>
                    <a:pt x="7519" y="25298"/>
                    <a:pt x="8158" y="24659"/>
                  </a:cubicBezTo>
                  <a:lnTo>
                    <a:pt x="34995" y="12530"/>
                  </a:lnTo>
                  <a:cubicBezTo>
                    <a:pt x="38190" y="11253"/>
                    <a:pt x="40107" y="7422"/>
                    <a:pt x="38829" y="4230"/>
                  </a:cubicBezTo>
                  <a:cubicBezTo>
                    <a:pt x="37551" y="1038"/>
                    <a:pt x="33717" y="-877"/>
                    <a:pt x="30522" y="400"/>
                  </a:cubicBezTo>
                  <a:cubicBezTo>
                    <a:pt x="30522" y="400"/>
                    <a:pt x="29884" y="400"/>
                    <a:pt x="29884" y="1038"/>
                  </a:cubicBezTo>
                  <a:lnTo>
                    <a:pt x="3685" y="13168"/>
                  </a:lnTo>
                  <a:cubicBezTo>
                    <a:pt x="490" y="14445"/>
                    <a:pt x="-788" y="18275"/>
                    <a:pt x="490" y="21467"/>
                  </a:cubicBezTo>
                  <a:cubicBezTo>
                    <a:pt x="1129" y="24021"/>
                    <a:pt x="3046" y="25298"/>
                    <a:pt x="5602" y="25298"/>
                  </a:cubicBezTo>
                  <a:lnTo>
                    <a:pt x="5602" y="25298"/>
                  </a:lnTo>
                  <a:close/>
                </a:path>
              </a:pathLst>
            </a:custGeom>
            <a:grpFill/>
            <a:ln w="6390" cap="flat">
              <a:noFill/>
              <a:prstDash val="solid"/>
              <a:miter/>
            </a:ln>
          </p:spPr>
          <p:txBody>
            <a:bodyPr rtlCol="0" anchor="ctr"/>
            <a:lstStyle/>
            <a:p>
              <a:endParaRPr lang="en-US"/>
            </a:p>
          </p:txBody>
        </p:sp>
        <p:sp>
          <p:nvSpPr>
            <p:cNvPr id="62" name="Graphic 4">
              <a:extLst>
                <a:ext uri="{FF2B5EF4-FFF2-40B4-BE49-F238E27FC236}">
                  <a16:creationId xmlns:a16="http://schemas.microsoft.com/office/drawing/2014/main" id="{BB12CF93-2D36-4504-2C36-BFA927634561}"/>
                </a:ext>
              </a:extLst>
            </p:cNvPr>
            <p:cNvSpPr/>
            <p:nvPr/>
          </p:nvSpPr>
          <p:spPr>
            <a:xfrm>
              <a:off x="2632654" y="1031963"/>
              <a:ext cx="24281" cy="31132"/>
            </a:xfrm>
            <a:custGeom>
              <a:avLst/>
              <a:gdLst>
                <a:gd name="connsiteX0" fmla="*/ 23643 w 24281"/>
                <a:gd name="connsiteY0" fmla="*/ 3681 h 31132"/>
                <a:gd name="connsiteX1" fmla="*/ 15336 w 24281"/>
                <a:gd name="connsiteY1" fmla="*/ 489 h 31132"/>
                <a:gd name="connsiteX2" fmla="*/ 15336 w 24281"/>
                <a:gd name="connsiteY2" fmla="*/ 489 h 31132"/>
                <a:gd name="connsiteX3" fmla="*/ 3834 w 24281"/>
                <a:gd name="connsiteY3" fmla="*/ 5596 h 31132"/>
                <a:gd name="connsiteX4" fmla="*/ 1917 w 24281"/>
                <a:gd name="connsiteY4" fmla="*/ 6873 h 31132"/>
                <a:gd name="connsiteX5" fmla="*/ 1278 w 24281"/>
                <a:gd name="connsiteY5" fmla="*/ 7512 h 31132"/>
                <a:gd name="connsiteX6" fmla="*/ 639 w 24281"/>
                <a:gd name="connsiteY6" fmla="*/ 8788 h 31132"/>
                <a:gd name="connsiteX7" fmla="*/ 639 w 24281"/>
                <a:gd name="connsiteY7" fmla="*/ 9427 h 31132"/>
                <a:gd name="connsiteX8" fmla="*/ 0 w 24281"/>
                <a:gd name="connsiteY8" fmla="*/ 11980 h 31132"/>
                <a:gd name="connsiteX9" fmla="*/ 0 w 24281"/>
                <a:gd name="connsiteY9" fmla="*/ 24748 h 31132"/>
                <a:gd name="connsiteX10" fmla="*/ 6390 w 24281"/>
                <a:gd name="connsiteY10" fmla="*/ 31132 h 31132"/>
                <a:gd name="connsiteX11" fmla="*/ 12780 w 24281"/>
                <a:gd name="connsiteY11" fmla="*/ 24748 h 31132"/>
                <a:gd name="connsiteX12" fmla="*/ 12780 w 24281"/>
                <a:gd name="connsiteY12" fmla="*/ 22195 h 31132"/>
                <a:gd name="connsiteX13" fmla="*/ 15336 w 24281"/>
                <a:gd name="connsiteY13" fmla="*/ 23472 h 31132"/>
                <a:gd name="connsiteX14" fmla="*/ 17892 w 24281"/>
                <a:gd name="connsiteY14" fmla="*/ 24110 h 31132"/>
                <a:gd name="connsiteX15" fmla="*/ 24282 w 24281"/>
                <a:gd name="connsiteY15" fmla="*/ 17726 h 31132"/>
                <a:gd name="connsiteX16" fmla="*/ 21726 w 24281"/>
                <a:gd name="connsiteY16" fmla="*/ 12619 h 31132"/>
                <a:gd name="connsiteX17" fmla="*/ 23643 w 24281"/>
                <a:gd name="connsiteY17" fmla="*/ 3681 h 3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281" h="31132">
                  <a:moveTo>
                    <a:pt x="23643" y="3681"/>
                  </a:moveTo>
                  <a:cubicBezTo>
                    <a:pt x="22365" y="489"/>
                    <a:pt x="18531" y="-788"/>
                    <a:pt x="15336" y="489"/>
                  </a:cubicBezTo>
                  <a:cubicBezTo>
                    <a:pt x="15336" y="489"/>
                    <a:pt x="15336" y="489"/>
                    <a:pt x="15336" y="489"/>
                  </a:cubicBezTo>
                  <a:lnTo>
                    <a:pt x="3834" y="5596"/>
                  </a:lnTo>
                  <a:cubicBezTo>
                    <a:pt x="3195" y="5596"/>
                    <a:pt x="2556" y="6235"/>
                    <a:pt x="1917" y="6873"/>
                  </a:cubicBezTo>
                  <a:lnTo>
                    <a:pt x="1278" y="7512"/>
                  </a:lnTo>
                  <a:cubicBezTo>
                    <a:pt x="639" y="8150"/>
                    <a:pt x="639" y="8150"/>
                    <a:pt x="639" y="8788"/>
                  </a:cubicBezTo>
                  <a:cubicBezTo>
                    <a:pt x="639" y="8788"/>
                    <a:pt x="639" y="9427"/>
                    <a:pt x="639" y="9427"/>
                  </a:cubicBezTo>
                  <a:cubicBezTo>
                    <a:pt x="639" y="10065"/>
                    <a:pt x="0" y="10704"/>
                    <a:pt x="0" y="11980"/>
                  </a:cubicBezTo>
                  <a:lnTo>
                    <a:pt x="0" y="24748"/>
                  </a:lnTo>
                  <a:cubicBezTo>
                    <a:pt x="0" y="28579"/>
                    <a:pt x="2556" y="31132"/>
                    <a:pt x="6390" y="31132"/>
                  </a:cubicBezTo>
                  <a:cubicBezTo>
                    <a:pt x="10224" y="31132"/>
                    <a:pt x="12780" y="28579"/>
                    <a:pt x="12780" y="24748"/>
                  </a:cubicBezTo>
                  <a:lnTo>
                    <a:pt x="12780" y="22195"/>
                  </a:lnTo>
                  <a:lnTo>
                    <a:pt x="15336" y="23472"/>
                  </a:lnTo>
                  <a:cubicBezTo>
                    <a:pt x="15975" y="24110"/>
                    <a:pt x="17253" y="24110"/>
                    <a:pt x="17892" y="24110"/>
                  </a:cubicBezTo>
                  <a:cubicBezTo>
                    <a:pt x="21726" y="24110"/>
                    <a:pt x="24282" y="20918"/>
                    <a:pt x="24282" y="17726"/>
                  </a:cubicBezTo>
                  <a:cubicBezTo>
                    <a:pt x="24282" y="15811"/>
                    <a:pt x="23004" y="13896"/>
                    <a:pt x="21726" y="12619"/>
                  </a:cubicBezTo>
                  <a:cubicBezTo>
                    <a:pt x="24282" y="10065"/>
                    <a:pt x="24921" y="6235"/>
                    <a:pt x="23643" y="3681"/>
                  </a:cubicBezTo>
                  <a:close/>
                </a:path>
              </a:pathLst>
            </a:custGeom>
            <a:grpFill/>
            <a:ln w="6390" cap="flat">
              <a:noFill/>
              <a:prstDash val="solid"/>
              <a:miter/>
            </a:ln>
          </p:spPr>
          <p:txBody>
            <a:bodyPr rtlCol="0" anchor="ctr"/>
            <a:lstStyle/>
            <a:p>
              <a:endParaRPr lang="en-US"/>
            </a:p>
          </p:txBody>
        </p:sp>
        <p:sp>
          <p:nvSpPr>
            <p:cNvPr id="63" name="Graphic 4">
              <a:extLst>
                <a:ext uri="{FF2B5EF4-FFF2-40B4-BE49-F238E27FC236}">
                  <a16:creationId xmlns:a16="http://schemas.microsoft.com/office/drawing/2014/main" id="{54117CB7-5E8F-848E-7183-88EF503746FA}"/>
                </a:ext>
              </a:extLst>
            </p:cNvPr>
            <p:cNvSpPr/>
            <p:nvPr/>
          </p:nvSpPr>
          <p:spPr>
            <a:xfrm>
              <a:off x="2670503" y="1054945"/>
              <a:ext cx="38992" cy="24748"/>
            </a:xfrm>
            <a:custGeom>
              <a:avLst/>
              <a:gdLst>
                <a:gd name="connsiteX0" fmla="*/ 35634 w 38992"/>
                <a:gd name="connsiteY0" fmla="*/ 12619 h 24748"/>
                <a:gd name="connsiteX1" fmla="*/ 8797 w 38992"/>
                <a:gd name="connsiteY1" fmla="*/ 489 h 24748"/>
                <a:gd name="connsiteX2" fmla="*/ 490 w 38992"/>
                <a:gd name="connsiteY2" fmla="*/ 3681 h 24748"/>
                <a:gd name="connsiteX3" fmla="*/ 3685 w 38992"/>
                <a:gd name="connsiteY3" fmla="*/ 11980 h 24748"/>
                <a:gd name="connsiteX4" fmla="*/ 29884 w 38992"/>
                <a:gd name="connsiteY4" fmla="*/ 24110 h 24748"/>
                <a:gd name="connsiteX5" fmla="*/ 32439 w 38992"/>
                <a:gd name="connsiteY5" fmla="*/ 24748 h 24748"/>
                <a:gd name="connsiteX6" fmla="*/ 38829 w 38992"/>
                <a:gd name="connsiteY6" fmla="*/ 18364 h 24748"/>
                <a:gd name="connsiteX7" fmla="*/ 35634 w 38992"/>
                <a:gd name="connsiteY7" fmla="*/ 12619 h 24748"/>
                <a:gd name="connsiteX8" fmla="*/ 35634 w 38992"/>
                <a:gd name="connsiteY8" fmla="*/ 12619 h 2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92" h="24748">
                  <a:moveTo>
                    <a:pt x="35634" y="12619"/>
                  </a:moveTo>
                  <a:lnTo>
                    <a:pt x="8797" y="489"/>
                  </a:lnTo>
                  <a:cubicBezTo>
                    <a:pt x="5602" y="-788"/>
                    <a:pt x="1768" y="489"/>
                    <a:pt x="490" y="3681"/>
                  </a:cubicBezTo>
                  <a:cubicBezTo>
                    <a:pt x="-788" y="6873"/>
                    <a:pt x="490" y="10704"/>
                    <a:pt x="3685" y="11980"/>
                  </a:cubicBezTo>
                  <a:lnTo>
                    <a:pt x="29884" y="24110"/>
                  </a:lnTo>
                  <a:cubicBezTo>
                    <a:pt x="30523" y="24748"/>
                    <a:pt x="31800" y="24748"/>
                    <a:pt x="32439" y="24748"/>
                  </a:cubicBezTo>
                  <a:cubicBezTo>
                    <a:pt x="36273" y="24748"/>
                    <a:pt x="38829" y="22195"/>
                    <a:pt x="38829" y="18364"/>
                  </a:cubicBezTo>
                  <a:cubicBezTo>
                    <a:pt x="39468" y="15811"/>
                    <a:pt x="38190" y="13896"/>
                    <a:pt x="35634" y="12619"/>
                  </a:cubicBezTo>
                  <a:lnTo>
                    <a:pt x="35634" y="12619"/>
                  </a:lnTo>
                  <a:close/>
                </a:path>
              </a:pathLst>
            </a:custGeom>
            <a:grpFill/>
            <a:ln w="6390" cap="flat">
              <a:noFill/>
              <a:prstDash val="solid"/>
              <a:miter/>
            </a:ln>
          </p:spPr>
          <p:txBody>
            <a:bodyPr rtlCol="0" anchor="ctr"/>
            <a:lstStyle/>
            <a:p>
              <a:endParaRPr lang="en-US"/>
            </a:p>
          </p:txBody>
        </p:sp>
        <p:sp>
          <p:nvSpPr>
            <p:cNvPr id="64" name="Graphic 4">
              <a:extLst>
                <a:ext uri="{FF2B5EF4-FFF2-40B4-BE49-F238E27FC236}">
                  <a16:creationId xmlns:a16="http://schemas.microsoft.com/office/drawing/2014/main" id="{D57F6380-F3F6-615E-E254-0A173E91D3B0}"/>
                </a:ext>
              </a:extLst>
            </p:cNvPr>
            <p:cNvSpPr/>
            <p:nvPr/>
          </p:nvSpPr>
          <p:spPr>
            <a:xfrm>
              <a:off x="2722490" y="1078794"/>
              <a:ext cx="35896" cy="32181"/>
            </a:xfrm>
            <a:custGeom>
              <a:avLst/>
              <a:gdLst>
                <a:gd name="connsiteX0" fmla="*/ 27738 w 35896"/>
                <a:gd name="connsiteY0" fmla="*/ 900 h 32181"/>
                <a:gd name="connsiteX1" fmla="*/ 18792 w 35896"/>
                <a:gd name="connsiteY1" fmla="*/ 4730 h 32181"/>
                <a:gd name="connsiteX2" fmla="*/ 9847 w 35896"/>
                <a:gd name="connsiteY2" fmla="*/ 900 h 32181"/>
                <a:gd name="connsiteX3" fmla="*/ 901 w 35896"/>
                <a:gd name="connsiteY3" fmla="*/ 3453 h 32181"/>
                <a:gd name="connsiteX4" fmla="*/ 3457 w 35896"/>
                <a:gd name="connsiteY4" fmla="*/ 12391 h 32181"/>
                <a:gd name="connsiteX5" fmla="*/ 4096 w 35896"/>
                <a:gd name="connsiteY5" fmla="*/ 13029 h 32181"/>
                <a:gd name="connsiteX6" fmla="*/ 11764 w 35896"/>
                <a:gd name="connsiteY6" fmla="*/ 16860 h 32181"/>
                <a:gd name="connsiteX7" fmla="*/ 11764 w 35896"/>
                <a:gd name="connsiteY7" fmla="*/ 25797 h 32181"/>
                <a:gd name="connsiteX8" fmla="*/ 18153 w 35896"/>
                <a:gd name="connsiteY8" fmla="*/ 32181 h 32181"/>
                <a:gd name="connsiteX9" fmla="*/ 24543 w 35896"/>
                <a:gd name="connsiteY9" fmla="*/ 25797 h 32181"/>
                <a:gd name="connsiteX10" fmla="*/ 24543 w 35896"/>
                <a:gd name="connsiteY10" fmla="*/ 16860 h 32181"/>
                <a:gd name="connsiteX11" fmla="*/ 32211 w 35896"/>
                <a:gd name="connsiteY11" fmla="*/ 13029 h 32181"/>
                <a:gd name="connsiteX12" fmla="*/ 35406 w 35896"/>
                <a:gd name="connsiteY12" fmla="*/ 4730 h 32181"/>
                <a:gd name="connsiteX13" fmla="*/ 35406 w 35896"/>
                <a:gd name="connsiteY13" fmla="*/ 4730 h 32181"/>
                <a:gd name="connsiteX14" fmla="*/ 27738 w 35896"/>
                <a:gd name="connsiteY14" fmla="*/ 900 h 3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896" h="32181">
                  <a:moveTo>
                    <a:pt x="27738" y="900"/>
                  </a:moveTo>
                  <a:lnTo>
                    <a:pt x="18792" y="4730"/>
                  </a:lnTo>
                  <a:lnTo>
                    <a:pt x="9847" y="900"/>
                  </a:lnTo>
                  <a:cubicBezTo>
                    <a:pt x="6652" y="-1015"/>
                    <a:pt x="2818" y="261"/>
                    <a:pt x="901" y="3453"/>
                  </a:cubicBezTo>
                  <a:cubicBezTo>
                    <a:pt x="-1016" y="6645"/>
                    <a:pt x="262" y="10476"/>
                    <a:pt x="3457" y="12391"/>
                  </a:cubicBezTo>
                  <a:cubicBezTo>
                    <a:pt x="3457" y="12391"/>
                    <a:pt x="4096" y="12391"/>
                    <a:pt x="4096" y="13029"/>
                  </a:cubicBezTo>
                  <a:lnTo>
                    <a:pt x="11764" y="16860"/>
                  </a:lnTo>
                  <a:lnTo>
                    <a:pt x="11764" y="25797"/>
                  </a:lnTo>
                  <a:cubicBezTo>
                    <a:pt x="11764" y="29628"/>
                    <a:pt x="14319" y="32181"/>
                    <a:pt x="18153" y="32181"/>
                  </a:cubicBezTo>
                  <a:cubicBezTo>
                    <a:pt x="21987" y="32181"/>
                    <a:pt x="24543" y="29628"/>
                    <a:pt x="24543" y="25797"/>
                  </a:cubicBezTo>
                  <a:lnTo>
                    <a:pt x="24543" y="16860"/>
                  </a:lnTo>
                  <a:lnTo>
                    <a:pt x="32211" y="13029"/>
                  </a:lnTo>
                  <a:cubicBezTo>
                    <a:pt x="35406" y="11753"/>
                    <a:pt x="36684" y="7922"/>
                    <a:pt x="35406" y="4730"/>
                  </a:cubicBezTo>
                  <a:cubicBezTo>
                    <a:pt x="35406" y="4730"/>
                    <a:pt x="35406" y="4730"/>
                    <a:pt x="35406" y="4730"/>
                  </a:cubicBezTo>
                  <a:cubicBezTo>
                    <a:pt x="34767" y="900"/>
                    <a:pt x="30933" y="-377"/>
                    <a:pt x="27738" y="900"/>
                  </a:cubicBezTo>
                  <a:close/>
                </a:path>
              </a:pathLst>
            </a:custGeom>
            <a:grpFill/>
            <a:ln w="6390" cap="flat">
              <a:noFill/>
              <a:prstDash val="solid"/>
              <a:miter/>
            </a:ln>
          </p:spPr>
          <p:txBody>
            <a:bodyPr rtlCol="0" anchor="ctr"/>
            <a:lstStyle/>
            <a:p>
              <a:endParaRPr lang="en-US"/>
            </a:p>
          </p:txBody>
        </p:sp>
        <p:sp>
          <p:nvSpPr>
            <p:cNvPr id="65" name="Graphic 4">
              <a:extLst>
                <a:ext uri="{FF2B5EF4-FFF2-40B4-BE49-F238E27FC236}">
                  <a16:creationId xmlns:a16="http://schemas.microsoft.com/office/drawing/2014/main" id="{642CE70E-C7B4-45A0-BD69-32396C951849}"/>
                </a:ext>
              </a:extLst>
            </p:cNvPr>
            <p:cNvSpPr/>
            <p:nvPr/>
          </p:nvSpPr>
          <p:spPr>
            <a:xfrm>
              <a:off x="2774021" y="1054945"/>
              <a:ext cx="38680" cy="24748"/>
            </a:xfrm>
            <a:custGeom>
              <a:avLst/>
              <a:gdLst>
                <a:gd name="connsiteX0" fmla="*/ 29883 w 38680"/>
                <a:gd name="connsiteY0" fmla="*/ 489 h 24748"/>
                <a:gd name="connsiteX1" fmla="*/ 3685 w 38680"/>
                <a:gd name="connsiteY1" fmla="*/ 12619 h 24748"/>
                <a:gd name="connsiteX2" fmla="*/ 490 w 38680"/>
                <a:gd name="connsiteY2" fmla="*/ 20918 h 24748"/>
                <a:gd name="connsiteX3" fmla="*/ 6241 w 38680"/>
                <a:gd name="connsiteY3" fmla="*/ 24748 h 24748"/>
                <a:gd name="connsiteX4" fmla="*/ 8797 w 38680"/>
                <a:gd name="connsiteY4" fmla="*/ 24110 h 24748"/>
                <a:gd name="connsiteX5" fmla="*/ 34995 w 38680"/>
                <a:gd name="connsiteY5" fmla="*/ 11980 h 24748"/>
                <a:gd name="connsiteX6" fmla="*/ 38190 w 38680"/>
                <a:gd name="connsiteY6" fmla="*/ 3681 h 24748"/>
                <a:gd name="connsiteX7" fmla="*/ 29883 w 38680"/>
                <a:gd name="connsiteY7" fmla="*/ 489 h 24748"/>
                <a:gd name="connsiteX8" fmla="*/ 29883 w 38680"/>
                <a:gd name="connsiteY8" fmla="*/ 489 h 24748"/>
                <a:gd name="connsiteX9" fmla="*/ 29883 w 38680"/>
                <a:gd name="connsiteY9" fmla="*/ 489 h 2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80" h="24748">
                  <a:moveTo>
                    <a:pt x="29883" y="489"/>
                  </a:moveTo>
                  <a:lnTo>
                    <a:pt x="3685" y="12619"/>
                  </a:lnTo>
                  <a:cubicBezTo>
                    <a:pt x="490" y="13896"/>
                    <a:pt x="-788" y="17726"/>
                    <a:pt x="490" y="20918"/>
                  </a:cubicBezTo>
                  <a:cubicBezTo>
                    <a:pt x="1768" y="23472"/>
                    <a:pt x="3685" y="24748"/>
                    <a:pt x="6241" y="24748"/>
                  </a:cubicBezTo>
                  <a:cubicBezTo>
                    <a:pt x="6880" y="24748"/>
                    <a:pt x="8158" y="24748"/>
                    <a:pt x="8797" y="24110"/>
                  </a:cubicBezTo>
                  <a:lnTo>
                    <a:pt x="34995" y="11980"/>
                  </a:lnTo>
                  <a:cubicBezTo>
                    <a:pt x="38190" y="10704"/>
                    <a:pt x="39468" y="6873"/>
                    <a:pt x="38190" y="3681"/>
                  </a:cubicBezTo>
                  <a:cubicBezTo>
                    <a:pt x="36273" y="489"/>
                    <a:pt x="33078" y="-788"/>
                    <a:pt x="29883" y="489"/>
                  </a:cubicBezTo>
                  <a:lnTo>
                    <a:pt x="29883" y="489"/>
                  </a:lnTo>
                  <a:lnTo>
                    <a:pt x="29883" y="489"/>
                  </a:lnTo>
                  <a:close/>
                </a:path>
              </a:pathLst>
            </a:custGeom>
            <a:grpFill/>
            <a:ln w="6390" cap="flat">
              <a:noFill/>
              <a:prstDash val="solid"/>
              <a:miter/>
            </a:ln>
          </p:spPr>
          <p:txBody>
            <a:bodyPr rtlCol="0" anchor="ctr"/>
            <a:lstStyle/>
            <a:p>
              <a:endParaRPr lang="en-US"/>
            </a:p>
          </p:txBody>
        </p:sp>
        <p:sp>
          <p:nvSpPr>
            <p:cNvPr id="66" name="Graphic 4">
              <a:extLst>
                <a:ext uri="{FF2B5EF4-FFF2-40B4-BE49-F238E27FC236}">
                  <a16:creationId xmlns:a16="http://schemas.microsoft.com/office/drawing/2014/main" id="{36AB00D8-CC59-6D02-F883-179B9243ACDE}"/>
                </a:ext>
              </a:extLst>
            </p:cNvPr>
            <p:cNvSpPr/>
            <p:nvPr/>
          </p:nvSpPr>
          <p:spPr>
            <a:xfrm>
              <a:off x="2772970" y="1007293"/>
              <a:ext cx="39502" cy="25797"/>
            </a:xfrm>
            <a:custGeom>
              <a:avLst/>
              <a:gdLst>
                <a:gd name="connsiteX0" fmla="*/ 36045 w 39502"/>
                <a:gd name="connsiteY0" fmla="*/ 13029 h 25797"/>
                <a:gd name="connsiteX1" fmla="*/ 9847 w 39502"/>
                <a:gd name="connsiteY1" fmla="*/ 900 h 25797"/>
                <a:gd name="connsiteX2" fmla="*/ 901 w 39502"/>
                <a:gd name="connsiteY2" fmla="*/ 3453 h 25797"/>
                <a:gd name="connsiteX3" fmla="*/ 3457 w 39502"/>
                <a:gd name="connsiteY3" fmla="*/ 12391 h 25797"/>
                <a:gd name="connsiteX4" fmla="*/ 4096 w 39502"/>
                <a:gd name="connsiteY4" fmla="*/ 13029 h 25797"/>
                <a:gd name="connsiteX5" fmla="*/ 30294 w 39502"/>
                <a:gd name="connsiteY5" fmla="*/ 25159 h 25797"/>
                <a:gd name="connsiteX6" fmla="*/ 32850 w 39502"/>
                <a:gd name="connsiteY6" fmla="*/ 25797 h 25797"/>
                <a:gd name="connsiteX7" fmla="*/ 38601 w 39502"/>
                <a:gd name="connsiteY7" fmla="*/ 21967 h 25797"/>
                <a:gd name="connsiteX8" fmla="*/ 36045 w 39502"/>
                <a:gd name="connsiteY8" fmla="*/ 13029 h 25797"/>
                <a:gd name="connsiteX9" fmla="*/ 36045 w 39502"/>
                <a:gd name="connsiteY9" fmla="*/ 13029 h 2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502" h="25797">
                  <a:moveTo>
                    <a:pt x="36045" y="13029"/>
                  </a:moveTo>
                  <a:lnTo>
                    <a:pt x="9847" y="900"/>
                  </a:lnTo>
                  <a:cubicBezTo>
                    <a:pt x="6652" y="-1015"/>
                    <a:pt x="2818" y="261"/>
                    <a:pt x="901" y="3453"/>
                  </a:cubicBezTo>
                  <a:cubicBezTo>
                    <a:pt x="-1016" y="6645"/>
                    <a:pt x="262" y="10476"/>
                    <a:pt x="3457" y="12391"/>
                  </a:cubicBezTo>
                  <a:cubicBezTo>
                    <a:pt x="3457" y="12391"/>
                    <a:pt x="4096" y="12391"/>
                    <a:pt x="4096" y="13029"/>
                  </a:cubicBezTo>
                  <a:lnTo>
                    <a:pt x="30294" y="25159"/>
                  </a:lnTo>
                  <a:cubicBezTo>
                    <a:pt x="30933" y="25797"/>
                    <a:pt x="32211" y="25797"/>
                    <a:pt x="32850" y="25797"/>
                  </a:cubicBezTo>
                  <a:cubicBezTo>
                    <a:pt x="35406" y="25797"/>
                    <a:pt x="37323" y="24521"/>
                    <a:pt x="38601" y="21967"/>
                  </a:cubicBezTo>
                  <a:cubicBezTo>
                    <a:pt x="40518" y="18137"/>
                    <a:pt x="39240" y="14306"/>
                    <a:pt x="36045" y="13029"/>
                  </a:cubicBezTo>
                  <a:cubicBezTo>
                    <a:pt x="36045" y="13029"/>
                    <a:pt x="36045" y="13029"/>
                    <a:pt x="36045" y="13029"/>
                  </a:cubicBezTo>
                  <a:close/>
                </a:path>
              </a:pathLst>
            </a:custGeom>
            <a:grpFill/>
            <a:ln w="6390" cap="flat">
              <a:noFill/>
              <a:prstDash val="solid"/>
              <a:miter/>
            </a:ln>
          </p:spPr>
          <p:txBody>
            <a:bodyPr rtlCol="0" anchor="ctr"/>
            <a:lstStyle/>
            <a:p>
              <a:endParaRPr lang="en-US"/>
            </a:p>
          </p:txBody>
        </p:sp>
        <p:sp>
          <p:nvSpPr>
            <p:cNvPr id="67" name="Graphic 4">
              <a:extLst>
                <a:ext uri="{FF2B5EF4-FFF2-40B4-BE49-F238E27FC236}">
                  <a16:creationId xmlns:a16="http://schemas.microsoft.com/office/drawing/2014/main" id="{7E75E4EF-EA9E-8D3B-B513-2BA9CC801F4B}"/>
                </a:ext>
              </a:extLst>
            </p:cNvPr>
            <p:cNvSpPr/>
            <p:nvPr/>
          </p:nvSpPr>
          <p:spPr>
            <a:xfrm>
              <a:off x="2632654" y="1075863"/>
              <a:ext cx="12779" cy="38303"/>
            </a:xfrm>
            <a:custGeom>
              <a:avLst/>
              <a:gdLst>
                <a:gd name="connsiteX0" fmla="*/ 6390 w 12779"/>
                <a:gd name="connsiteY0" fmla="*/ 38304 h 38303"/>
                <a:gd name="connsiteX1" fmla="*/ 12780 w 12779"/>
                <a:gd name="connsiteY1" fmla="*/ 31920 h 38303"/>
                <a:gd name="connsiteX2" fmla="*/ 12780 w 12779"/>
                <a:gd name="connsiteY2" fmla="*/ 6384 h 38303"/>
                <a:gd name="connsiteX3" fmla="*/ 6390 w 12779"/>
                <a:gd name="connsiteY3" fmla="*/ 0 h 38303"/>
                <a:gd name="connsiteX4" fmla="*/ 0 w 12779"/>
                <a:gd name="connsiteY4" fmla="*/ 6384 h 38303"/>
                <a:gd name="connsiteX5" fmla="*/ 0 w 12779"/>
                <a:gd name="connsiteY5" fmla="*/ 31920 h 38303"/>
                <a:gd name="connsiteX6" fmla="*/ 6390 w 12779"/>
                <a:gd name="connsiteY6" fmla="*/ 38304 h 3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38303">
                  <a:moveTo>
                    <a:pt x="6390" y="38304"/>
                  </a:moveTo>
                  <a:cubicBezTo>
                    <a:pt x="10224" y="38304"/>
                    <a:pt x="12780" y="35750"/>
                    <a:pt x="12780" y="31920"/>
                  </a:cubicBezTo>
                  <a:lnTo>
                    <a:pt x="12780" y="6384"/>
                  </a:lnTo>
                  <a:cubicBezTo>
                    <a:pt x="12780" y="2554"/>
                    <a:pt x="10224" y="0"/>
                    <a:pt x="6390" y="0"/>
                  </a:cubicBezTo>
                  <a:cubicBezTo>
                    <a:pt x="2556" y="0"/>
                    <a:pt x="0" y="2554"/>
                    <a:pt x="0" y="6384"/>
                  </a:cubicBezTo>
                  <a:lnTo>
                    <a:pt x="0" y="31920"/>
                  </a:lnTo>
                  <a:cubicBezTo>
                    <a:pt x="0" y="35750"/>
                    <a:pt x="2556" y="38304"/>
                    <a:pt x="6390" y="38304"/>
                  </a:cubicBezTo>
                  <a:close/>
                </a:path>
              </a:pathLst>
            </a:custGeom>
            <a:grpFill/>
            <a:ln w="6390" cap="flat">
              <a:noFill/>
              <a:prstDash val="solid"/>
              <a:miter/>
            </a:ln>
          </p:spPr>
          <p:txBody>
            <a:bodyPr rtlCol="0" anchor="ctr"/>
            <a:lstStyle/>
            <a:p>
              <a:endParaRPr lang="en-US"/>
            </a:p>
          </p:txBody>
        </p:sp>
        <p:sp>
          <p:nvSpPr>
            <p:cNvPr id="68" name="Graphic 4">
              <a:extLst>
                <a:ext uri="{FF2B5EF4-FFF2-40B4-BE49-F238E27FC236}">
                  <a16:creationId xmlns:a16="http://schemas.microsoft.com/office/drawing/2014/main" id="{714E0BC0-9537-B6D3-4F7B-DF3027792568}"/>
                </a:ext>
              </a:extLst>
            </p:cNvPr>
            <p:cNvSpPr/>
            <p:nvPr/>
          </p:nvSpPr>
          <p:spPr>
            <a:xfrm>
              <a:off x="2632654" y="1127573"/>
              <a:ext cx="24132" cy="31281"/>
            </a:xfrm>
            <a:custGeom>
              <a:avLst/>
              <a:gdLst>
                <a:gd name="connsiteX0" fmla="*/ 20448 w 24132"/>
                <a:gd name="connsiteY0" fmla="*/ 19152 h 31281"/>
                <a:gd name="connsiteX1" fmla="*/ 12780 w 24132"/>
                <a:gd name="connsiteY1" fmla="*/ 14683 h 31281"/>
                <a:gd name="connsiteX2" fmla="*/ 12780 w 24132"/>
                <a:gd name="connsiteY2" fmla="*/ 6384 h 31281"/>
                <a:gd name="connsiteX3" fmla="*/ 6390 w 24132"/>
                <a:gd name="connsiteY3" fmla="*/ 0 h 31281"/>
                <a:gd name="connsiteX4" fmla="*/ 0 w 24132"/>
                <a:gd name="connsiteY4" fmla="*/ 6384 h 31281"/>
                <a:gd name="connsiteX5" fmla="*/ 0 w 24132"/>
                <a:gd name="connsiteY5" fmla="*/ 19152 h 31281"/>
                <a:gd name="connsiteX6" fmla="*/ 3195 w 24132"/>
                <a:gd name="connsiteY6" fmla="*/ 24897 h 31281"/>
                <a:gd name="connsiteX7" fmla="*/ 14697 w 24132"/>
                <a:gd name="connsiteY7" fmla="*/ 30643 h 31281"/>
                <a:gd name="connsiteX8" fmla="*/ 17892 w 24132"/>
                <a:gd name="connsiteY8" fmla="*/ 31281 h 31281"/>
                <a:gd name="connsiteX9" fmla="*/ 23643 w 24132"/>
                <a:gd name="connsiteY9" fmla="*/ 28089 h 31281"/>
                <a:gd name="connsiteX10" fmla="*/ 20448 w 24132"/>
                <a:gd name="connsiteY10" fmla="*/ 19152 h 31281"/>
                <a:gd name="connsiteX11" fmla="*/ 20448 w 24132"/>
                <a:gd name="connsiteY11" fmla="*/ 19152 h 3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32" h="31281">
                  <a:moveTo>
                    <a:pt x="20448" y="19152"/>
                  </a:moveTo>
                  <a:lnTo>
                    <a:pt x="12780" y="14683"/>
                  </a:lnTo>
                  <a:lnTo>
                    <a:pt x="12780" y="6384"/>
                  </a:lnTo>
                  <a:cubicBezTo>
                    <a:pt x="12780" y="2554"/>
                    <a:pt x="10224" y="0"/>
                    <a:pt x="6390" y="0"/>
                  </a:cubicBezTo>
                  <a:cubicBezTo>
                    <a:pt x="2556" y="0"/>
                    <a:pt x="0" y="2554"/>
                    <a:pt x="0" y="6384"/>
                  </a:cubicBezTo>
                  <a:lnTo>
                    <a:pt x="0" y="19152"/>
                  </a:lnTo>
                  <a:cubicBezTo>
                    <a:pt x="0" y="21706"/>
                    <a:pt x="1278" y="23621"/>
                    <a:pt x="3195" y="24897"/>
                  </a:cubicBezTo>
                  <a:lnTo>
                    <a:pt x="14697" y="30643"/>
                  </a:lnTo>
                  <a:cubicBezTo>
                    <a:pt x="15336" y="31281"/>
                    <a:pt x="16614" y="31281"/>
                    <a:pt x="17892" y="31281"/>
                  </a:cubicBezTo>
                  <a:cubicBezTo>
                    <a:pt x="20448" y="31281"/>
                    <a:pt x="22365" y="30005"/>
                    <a:pt x="23643" y="28089"/>
                  </a:cubicBezTo>
                  <a:cubicBezTo>
                    <a:pt x="24921" y="24897"/>
                    <a:pt x="23643" y="21067"/>
                    <a:pt x="20448" y="19152"/>
                  </a:cubicBezTo>
                  <a:cubicBezTo>
                    <a:pt x="20448" y="19152"/>
                    <a:pt x="20448" y="19152"/>
                    <a:pt x="20448" y="19152"/>
                  </a:cubicBezTo>
                  <a:close/>
                </a:path>
              </a:pathLst>
            </a:custGeom>
            <a:grpFill/>
            <a:ln w="6390" cap="flat">
              <a:noFill/>
              <a:prstDash val="solid"/>
              <a:miter/>
            </a:ln>
          </p:spPr>
          <p:txBody>
            <a:bodyPr rtlCol="0" anchor="ctr"/>
            <a:lstStyle/>
            <a:p>
              <a:endParaRPr lang="en-US"/>
            </a:p>
          </p:txBody>
        </p:sp>
        <p:sp>
          <p:nvSpPr>
            <p:cNvPr id="69" name="Graphic 4">
              <a:extLst>
                <a:ext uri="{FF2B5EF4-FFF2-40B4-BE49-F238E27FC236}">
                  <a16:creationId xmlns:a16="http://schemas.microsoft.com/office/drawing/2014/main" id="{DE8F9C68-69BB-6D93-6FD9-A1477798E9E2}"/>
                </a:ext>
              </a:extLst>
            </p:cNvPr>
            <p:cNvSpPr/>
            <p:nvPr/>
          </p:nvSpPr>
          <p:spPr>
            <a:xfrm>
              <a:off x="2670093" y="1159870"/>
              <a:ext cx="39879" cy="27712"/>
            </a:xfrm>
            <a:custGeom>
              <a:avLst/>
              <a:gdLst>
                <a:gd name="connsiteX0" fmla="*/ 36684 w 39879"/>
                <a:gd name="connsiteY0" fmla="*/ 15583 h 27712"/>
                <a:gd name="connsiteX1" fmla="*/ 9847 w 39879"/>
                <a:gd name="connsiteY1" fmla="*/ 900 h 27712"/>
                <a:gd name="connsiteX2" fmla="*/ 901 w 39879"/>
                <a:gd name="connsiteY2" fmla="*/ 3453 h 27712"/>
                <a:gd name="connsiteX3" fmla="*/ 3457 w 39879"/>
                <a:gd name="connsiteY3" fmla="*/ 12391 h 27712"/>
                <a:gd name="connsiteX4" fmla="*/ 30294 w 39879"/>
                <a:gd name="connsiteY4" fmla="*/ 27074 h 27712"/>
                <a:gd name="connsiteX5" fmla="*/ 33489 w 39879"/>
                <a:gd name="connsiteY5" fmla="*/ 27713 h 27712"/>
                <a:gd name="connsiteX6" fmla="*/ 39879 w 39879"/>
                <a:gd name="connsiteY6" fmla="*/ 21329 h 27712"/>
                <a:gd name="connsiteX7" fmla="*/ 36684 w 39879"/>
                <a:gd name="connsiteY7" fmla="*/ 15583 h 27712"/>
                <a:gd name="connsiteX8" fmla="*/ 36684 w 39879"/>
                <a:gd name="connsiteY8" fmla="*/ 15583 h 2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79" h="27712">
                  <a:moveTo>
                    <a:pt x="36684" y="15583"/>
                  </a:moveTo>
                  <a:lnTo>
                    <a:pt x="9847" y="900"/>
                  </a:lnTo>
                  <a:cubicBezTo>
                    <a:pt x="6652" y="-1015"/>
                    <a:pt x="2818" y="262"/>
                    <a:pt x="901" y="3453"/>
                  </a:cubicBezTo>
                  <a:cubicBezTo>
                    <a:pt x="-1016" y="6645"/>
                    <a:pt x="262" y="10476"/>
                    <a:pt x="3457" y="12391"/>
                  </a:cubicBezTo>
                  <a:lnTo>
                    <a:pt x="30294" y="27074"/>
                  </a:lnTo>
                  <a:cubicBezTo>
                    <a:pt x="30933" y="27713"/>
                    <a:pt x="32211" y="27713"/>
                    <a:pt x="33489" y="27713"/>
                  </a:cubicBezTo>
                  <a:cubicBezTo>
                    <a:pt x="37323" y="27713"/>
                    <a:pt x="39879" y="24521"/>
                    <a:pt x="39879" y="21329"/>
                  </a:cubicBezTo>
                  <a:cubicBezTo>
                    <a:pt x="39879" y="18775"/>
                    <a:pt x="38601" y="16860"/>
                    <a:pt x="36684" y="15583"/>
                  </a:cubicBezTo>
                  <a:lnTo>
                    <a:pt x="36684" y="15583"/>
                  </a:lnTo>
                  <a:close/>
                </a:path>
              </a:pathLst>
            </a:custGeom>
            <a:grpFill/>
            <a:ln w="6390" cap="flat">
              <a:noFill/>
              <a:prstDash val="solid"/>
              <a:miter/>
            </a:ln>
          </p:spPr>
          <p:txBody>
            <a:bodyPr rtlCol="0" anchor="ctr"/>
            <a:lstStyle/>
            <a:p>
              <a:endParaRPr lang="en-US"/>
            </a:p>
          </p:txBody>
        </p:sp>
        <p:sp>
          <p:nvSpPr>
            <p:cNvPr id="70" name="Graphic 4">
              <a:extLst>
                <a:ext uri="{FF2B5EF4-FFF2-40B4-BE49-F238E27FC236}">
                  <a16:creationId xmlns:a16="http://schemas.microsoft.com/office/drawing/2014/main" id="{042AF9F3-5489-05C2-9C10-7AF784770B47}"/>
                </a:ext>
              </a:extLst>
            </p:cNvPr>
            <p:cNvSpPr/>
            <p:nvPr/>
          </p:nvSpPr>
          <p:spPr>
            <a:xfrm>
              <a:off x="2734893" y="1126297"/>
              <a:ext cx="12779" cy="40857"/>
            </a:xfrm>
            <a:custGeom>
              <a:avLst/>
              <a:gdLst>
                <a:gd name="connsiteX0" fmla="*/ 6390 w 12779"/>
                <a:gd name="connsiteY0" fmla="*/ 40857 h 40857"/>
                <a:gd name="connsiteX1" fmla="*/ 12780 w 12779"/>
                <a:gd name="connsiteY1" fmla="*/ 34473 h 40857"/>
                <a:gd name="connsiteX2" fmla="*/ 12780 w 12779"/>
                <a:gd name="connsiteY2" fmla="*/ 6384 h 40857"/>
                <a:gd name="connsiteX3" fmla="*/ 6390 w 12779"/>
                <a:gd name="connsiteY3" fmla="*/ 0 h 40857"/>
                <a:gd name="connsiteX4" fmla="*/ 0 w 12779"/>
                <a:gd name="connsiteY4" fmla="*/ 6384 h 40857"/>
                <a:gd name="connsiteX5" fmla="*/ 0 w 12779"/>
                <a:gd name="connsiteY5" fmla="*/ 34473 h 40857"/>
                <a:gd name="connsiteX6" fmla="*/ 6390 w 12779"/>
                <a:gd name="connsiteY6" fmla="*/ 40857 h 4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40857">
                  <a:moveTo>
                    <a:pt x="6390" y="40857"/>
                  </a:moveTo>
                  <a:cubicBezTo>
                    <a:pt x="10224" y="40857"/>
                    <a:pt x="12780" y="38304"/>
                    <a:pt x="12780" y="34473"/>
                  </a:cubicBezTo>
                  <a:lnTo>
                    <a:pt x="12780" y="6384"/>
                  </a:lnTo>
                  <a:cubicBezTo>
                    <a:pt x="12780" y="2554"/>
                    <a:pt x="10224" y="0"/>
                    <a:pt x="6390" y="0"/>
                  </a:cubicBezTo>
                  <a:cubicBezTo>
                    <a:pt x="2556" y="0"/>
                    <a:pt x="0" y="2554"/>
                    <a:pt x="0" y="6384"/>
                  </a:cubicBezTo>
                  <a:lnTo>
                    <a:pt x="0" y="34473"/>
                  </a:lnTo>
                  <a:cubicBezTo>
                    <a:pt x="0" y="37665"/>
                    <a:pt x="3195" y="40857"/>
                    <a:pt x="6390" y="40857"/>
                  </a:cubicBezTo>
                  <a:close/>
                </a:path>
              </a:pathLst>
            </a:custGeom>
            <a:grpFill/>
            <a:ln w="6390" cap="flat">
              <a:noFill/>
              <a:prstDash val="solid"/>
              <a:miter/>
            </a:ln>
          </p:spPr>
          <p:txBody>
            <a:bodyPr rtlCol="0" anchor="ctr"/>
            <a:lstStyle/>
            <a:p>
              <a:endParaRPr lang="en-US"/>
            </a:p>
          </p:txBody>
        </p:sp>
        <p:sp>
          <p:nvSpPr>
            <p:cNvPr id="71" name="Graphic 4">
              <a:extLst>
                <a:ext uri="{FF2B5EF4-FFF2-40B4-BE49-F238E27FC236}">
                  <a16:creationId xmlns:a16="http://schemas.microsoft.com/office/drawing/2014/main" id="{B40BC0AA-EB3F-0DA3-9A11-5A6EC24DC3ED}"/>
                </a:ext>
              </a:extLst>
            </p:cNvPr>
            <p:cNvSpPr/>
            <p:nvPr/>
          </p:nvSpPr>
          <p:spPr>
            <a:xfrm>
              <a:off x="2723129" y="1183114"/>
              <a:ext cx="35896" cy="24897"/>
            </a:xfrm>
            <a:custGeom>
              <a:avLst/>
              <a:gdLst>
                <a:gd name="connsiteX0" fmla="*/ 27099 w 35896"/>
                <a:gd name="connsiteY0" fmla="*/ 7661 h 24897"/>
                <a:gd name="connsiteX1" fmla="*/ 24543 w 35896"/>
                <a:gd name="connsiteY1" fmla="*/ 8938 h 24897"/>
                <a:gd name="connsiteX2" fmla="*/ 24543 w 35896"/>
                <a:gd name="connsiteY2" fmla="*/ 6384 h 24897"/>
                <a:gd name="connsiteX3" fmla="*/ 18154 w 35896"/>
                <a:gd name="connsiteY3" fmla="*/ 0 h 24897"/>
                <a:gd name="connsiteX4" fmla="*/ 11764 w 35896"/>
                <a:gd name="connsiteY4" fmla="*/ 6384 h 24897"/>
                <a:gd name="connsiteX5" fmla="*/ 11764 w 35896"/>
                <a:gd name="connsiteY5" fmla="*/ 8299 h 24897"/>
                <a:gd name="connsiteX6" fmla="*/ 9847 w 35896"/>
                <a:gd name="connsiteY6" fmla="*/ 7022 h 24897"/>
                <a:gd name="connsiteX7" fmla="*/ 901 w 35896"/>
                <a:gd name="connsiteY7" fmla="*/ 9576 h 24897"/>
                <a:gd name="connsiteX8" fmla="*/ 3457 w 35896"/>
                <a:gd name="connsiteY8" fmla="*/ 18514 h 24897"/>
                <a:gd name="connsiteX9" fmla="*/ 14959 w 35896"/>
                <a:gd name="connsiteY9" fmla="*/ 24898 h 24897"/>
                <a:gd name="connsiteX10" fmla="*/ 15598 w 35896"/>
                <a:gd name="connsiteY10" fmla="*/ 24898 h 24897"/>
                <a:gd name="connsiteX11" fmla="*/ 16237 w 35896"/>
                <a:gd name="connsiteY11" fmla="*/ 24898 h 24897"/>
                <a:gd name="connsiteX12" fmla="*/ 18154 w 35896"/>
                <a:gd name="connsiteY12" fmla="*/ 24898 h 24897"/>
                <a:gd name="connsiteX13" fmla="*/ 18154 w 35896"/>
                <a:gd name="connsiteY13" fmla="*/ 24898 h 24897"/>
                <a:gd name="connsiteX14" fmla="*/ 20709 w 35896"/>
                <a:gd name="connsiteY14" fmla="*/ 24259 h 24897"/>
                <a:gd name="connsiteX15" fmla="*/ 20709 w 35896"/>
                <a:gd name="connsiteY15" fmla="*/ 24259 h 24897"/>
                <a:gd name="connsiteX16" fmla="*/ 32211 w 35896"/>
                <a:gd name="connsiteY16" fmla="*/ 19152 h 24897"/>
                <a:gd name="connsiteX17" fmla="*/ 35406 w 35896"/>
                <a:gd name="connsiteY17" fmla="*/ 10853 h 24897"/>
                <a:gd name="connsiteX18" fmla="*/ 27099 w 35896"/>
                <a:gd name="connsiteY18" fmla="*/ 7661 h 24897"/>
                <a:gd name="connsiteX19" fmla="*/ 27099 w 35896"/>
                <a:gd name="connsiteY19" fmla="*/ 7661 h 2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896" h="24897">
                  <a:moveTo>
                    <a:pt x="27099" y="7661"/>
                  </a:moveTo>
                  <a:lnTo>
                    <a:pt x="24543" y="8938"/>
                  </a:lnTo>
                  <a:lnTo>
                    <a:pt x="24543" y="6384"/>
                  </a:lnTo>
                  <a:cubicBezTo>
                    <a:pt x="24543" y="2554"/>
                    <a:pt x="21988" y="0"/>
                    <a:pt x="18154" y="0"/>
                  </a:cubicBezTo>
                  <a:cubicBezTo>
                    <a:pt x="14320" y="0"/>
                    <a:pt x="11764" y="2554"/>
                    <a:pt x="11764" y="6384"/>
                  </a:cubicBezTo>
                  <a:lnTo>
                    <a:pt x="11764" y="8299"/>
                  </a:lnTo>
                  <a:lnTo>
                    <a:pt x="9847" y="7022"/>
                  </a:lnTo>
                  <a:cubicBezTo>
                    <a:pt x="6652" y="5107"/>
                    <a:pt x="2818" y="6384"/>
                    <a:pt x="901" y="9576"/>
                  </a:cubicBezTo>
                  <a:cubicBezTo>
                    <a:pt x="-1016" y="12768"/>
                    <a:pt x="262" y="16598"/>
                    <a:pt x="3457" y="18514"/>
                  </a:cubicBezTo>
                  <a:lnTo>
                    <a:pt x="14959" y="24898"/>
                  </a:lnTo>
                  <a:lnTo>
                    <a:pt x="15598" y="24898"/>
                  </a:lnTo>
                  <a:cubicBezTo>
                    <a:pt x="15598" y="24898"/>
                    <a:pt x="16237" y="24898"/>
                    <a:pt x="16237" y="24898"/>
                  </a:cubicBezTo>
                  <a:cubicBezTo>
                    <a:pt x="16875" y="24898"/>
                    <a:pt x="17514" y="24898"/>
                    <a:pt x="18154" y="24898"/>
                  </a:cubicBezTo>
                  <a:lnTo>
                    <a:pt x="18154" y="24898"/>
                  </a:lnTo>
                  <a:cubicBezTo>
                    <a:pt x="18793" y="24898"/>
                    <a:pt x="20070" y="24898"/>
                    <a:pt x="20709" y="24259"/>
                  </a:cubicBezTo>
                  <a:lnTo>
                    <a:pt x="20709" y="24259"/>
                  </a:lnTo>
                  <a:lnTo>
                    <a:pt x="32211" y="19152"/>
                  </a:lnTo>
                  <a:cubicBezTo>
                    <a:pt x="35406" y="17875"/>
                    <a:pt x="36684" y="14045"/>
                    <a:pt x="35406" y="10853"/>
                  </a:cubicBezTo>
                  <a:cubicBezTo>
                    <a:pt x="34128" y="7022"/>
                    <a:pt x="30294" y="5746"/>
                    <a:pt x="27099" y="7661"/>
                  </a:cubicBezTo>
                  <a:lnTo>
                    <a:pt x="27099" y="7661"/>
                  </a:lnTo>
                  <a:close/>
                </a:path>
              </a:pathLst>
            </a:custGeom>
            <a:grpFill/>
            <a:ln w="6390" cap="flat">
              <a:noFill/>
              <a:prstDash val="solid"/>
              <a:miter/>
            </a:ln>
          </p:spPr>
          <p:txBody>
            <a:bodyPr rtlCol="0" anchor="ctr"/>
            <a:lstStyle/>
            <a:p>
              <a:endParaRPr lang="en-US"/>
            </a:p>
          </p:txBody>
        </p:sp>
        <p:sp>
          <p:nvSpPr>
            <p:cNvPr id="72" name="Graphic 4">
              <a:extLst>
                <a:ext uri="{FF2B5EF4-FFF2-40B4-BE49-F238E27FC236}">
                  <a16:creationId xmlns:a16="http://schemas.microsoft.com/office/drawing/2014/main" id="{ED5072B4-E687-A086-3B30-7065F8F7A24E}"/>
                </a:ext>
              </a:extLst>
            </p:cNvPr>
            <p:cNvSpPr/>
            <p:nvPr/>
          </p:nvSpPr>
          <p:spPr>
            <a:xfrm>
              <a:off x="2774021" y="1165477"/>
              <a:ext cx="38680" cy="25297"/>
            </a:xfrm>
            <a:custGeom>
              <a:avLst/>
              <a:gdLst>
                <a:gd name="connsiteX0" fmla="*/ 29883 w 38680"/>
                <a:gd name="connsiteY0" fmla="*/ 400 h 25297"/>
                <a:gd name="connsiteX1" fmla="*/ 3685 w 38680"/>
                <a:gd name="connsiteY1" fmla="*/ 13168 h 25297"/>
                <a:gd name="connsiteX2" fmla="*/ 490 w 38680"/>
                <a:gd name="connsiteY2" fmla="*/ 21467 h 25297"/>
                <a:gd name="connsiteX3" fmla="*/ 6241 w 38680"/>
                <a:gd name="connsiteY3" fmla="*/ 25297 h 25297"/>
                <a:gd name="connsiteX4" fmla="*/ 8797 w 38680"/>
                <a:gd name="connsiteY4" fmla="*/ 24659 h 25297"/>
                <a:gd name="connsiteX5" fmla="*/ 34995 w 38680"/>
                <a:gd name="connsiteY5" fmla="*/ 12529 h 25297"/>
                <a:gd name="connsiteX6" fmla="*/ 38190 w 38680"/>
                <a:gd name="connsiteY6" fmla="*/ 4230 h 25297"/>
                <a:gd name="connsiteX7" fmla="*/ 29883 w 38680"/>
                <a:gd name="connsiteY7" fmla="*/ 400 h 25297"/>
                <a:gd name="connsiteX8" fmla="*/ 29883 w 38680"/>
                <a:gd name="connsiteY8" fmla="*/ 400 h 2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80" h="25297">
                  <a:moveTo>
                    <a:pt x="29883" y="400"/>
                  </a:moveTo>
                  <a:lnTo>
                    <a:pt x="3685" y="13168"/>
                  </a:lnTo>
                  <a:cubicBezTo>
                    <a:pt x="490" y="14445"/>
                    <a:pt x="-788" y="18275"/>
                    <a:pt x="490" y="21467"/>
                  </a:cubicBezTo>
                  <a:cubicBezTo>
                    <a:pt x="1768" y="24021"/>
                    <a:pt x="3685" y="25297"/>
                    <a:pt x="6241" y="25297"/>
                  </a:cubicBezTo>
                  <a:cubicBezTo>
                    <a:pt x="6880" y="25297"/>
                    <a:pt x="8158" y="25297"/>
                    <a:pt x="8797" y="24659"/>
                  </a:cubicBezTo>
                  <a:lnTo>
                    <a:pt x="34995" y="12529"/>
                  </a:lnTo>
                  <a:cubicBezTo>
                    <a:pt x="38190" y="11253"/>
                    <a:pt x="39468" y="7422"/>
                    <a:pt x="38190" y="4230"/>
                  </a:cubicBezTo>
                  <a:cubicBezTo>
                    <a:pt x="36273" y="1038"/>
                    <a:pt x="33078" y="-877"/>
                    <a:pt x="29883" y="400"/>
                  </a:cubicBezTo>
                  <a:lnTo>
                    <a:pt x="29883" y="400"/>
                  </a:lnTo>
                  <a:close/>
                </a:path>
              </a:pathLst>
            </a:custGeom>
            <a:grpFill/>
            <a:ln w="6390" cap="flat">
              <a:noFill/>
              <a:prstDash val="solid"/>
              <a:miter/>
            </a:ln>
          </p:spPr>
          <p:txBody>
            <a:bodyPr rtlCol="0" anchor="ctr"/>
            <a:lstStyle/>
            <a:p>
              <a:endParaRPr lang="en-US"/>
            </a:p>
          </p:txBody>
        </p:sp>
        <p:sp>
          <p:nvSpPr>
            <p:cNvPr id="73" name="Graphic 4">
              <a:extLst>
                <a:ext uri="{FF2B5EF4-FFF2-40B4-BE49-F238E27FC236}">
                  <a16:creationId xmlns:a16="http://schemas.microsoft.com/office/drawing/2014/main" id="{87C04FB1-9CDB-1717-AA4D-8C85D33C8AB3}"/>
                </a:ext>
              </a:extLst>
            </p:cNvPr>
            <p:cNvSpPr/>
            <p:nvPr/>
          </p:nvSpPr>
          <p:spPr>
            <a:xfrm>
              <a:off x="2826418" y="1135234"/>
              <a:ext cx="24132" cy="31281"/>
            </a:xfrm>
            <a:custGeom>
              <a:avLst/>
              <a:gdLst>
                <a:gd name="connsiteX0" fmla="*/ 17743 w 24132"/>
                <a:gd name="connsiteY0" fmla="*/ 0 h 31281"/>
                <a:gd name="connsiteX1" fmla="*/ 11353 w 24132"/>
                <a:gd name="connsiteY1" fmla="*/ 6384 h 31281"/>
                <a:gd name="connsiteX2" fmla="*/ 11353 w 24132"/>
                <a:gd name="connsiteY2" fmla="*/ 15322 h 31281"/>
                <a:gd name="connsiteX3" fmla="*/ 3685 w 24132"/>
                <a:gd name="connsiteY3" fmla="*/ 19152 h 31281"/>
                <a:gd name="connsiteX4" fmla="*/ 490 w 24132"/>
                <a:gd name="connsiteY4" fmla="*/ 27451 h 31281"/>
                <a:gd name="connsiteX5" fmla="*/ 490 w 24132"/>
                <a:gd name="connsiteY5" fmla="*/ 27451 h 31281"/>
                <a:gd name="connsiteX6" fmla="*/ 6241 w 24132"/>
                <a:gd name="connsiteY6" fmla="*/ 31282 h 31281"/>
                <a:gd name="connsiteX7" fmla="*/ 8797 w 24132"/>
                <a:gd name="connsiteY7" fmla="*/ 30643 h 31281"/>
                <a:gd name="connsiteX8" fmla="*/ 20299 w 24132"/>
                <a:gd name="connsiteY8" fmla="*/ 25536 h 31281"/>
                <a:gd name="connsiteX9" fmla="*/ 24133 w 24132"/>
                <a:gd name="connsiteY9" fmla="*/ 19790 h 31281"/>
                <a:gd name="connsiteX10" fmla="*/ 24133 w 24132"/>
                <a:gd name="connsiteY10" fmla="*/ 7022 h 31281"/>
                <a:gd name="connsiteX11" fmla="*/ 17743 w 24132"/>
                <a:gd name="connsiteY11" fmla="*/ 0 h 31281"/>
                <a:gd name="connsiteX12" fmla="*/ 17743 w 24132"/>
                <a:gd name="connsiteY12" fmla="*/ 0 h 3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132" h="31281">
                  <a:moveTo>
                    <a:pt x="17743" y="0"/>
                  </a:moveTo>
                  <a:cubicBezTo>
                    <a:pt x="13909" y="0"/>
                    <a:pt x="11353" y="2554"/>
                    <a:pt x="11353" y="6384"/>
                  </a:cubicBezTo>
                  <a:lnTo>
                    <a:pt x="11353" y="15322"/>
                  </a:lnTo>
                  <a:lnTo>
                    <a:pt x="3685" y="19152"/>
                  </a:lnTo>
                  <a:cubicBezTo>
                    <a:pt x="490" y="20429"/>
                    <a:pt x="-788" y="24259"/>
                    <a:pt x="490" y="27451"/>
                  </a:cubicBezTo>
                  <a:cubicBezTo>
                    <a:pt x="490" y="27451"/>
                    <a:pt x="490" y="27451"/>
                    <a:pt x="490" y="27451"/>
                  </a:cubicBezTo>
                  <a:cubicBezTo>
                    <a:pt x="1768" y="30005"/>
                    <a:pt x="3685" y="31282"/>
                    <a:pt x="6241" y="31282"/>
                  </a:cubicBezTo>
                  <a:cubicBezTo>
                    <a:pt x="6880" y="31282"/>
                    <a:pt x="8158" y="31282"/>
                    <a:pt x="8797" y="30643"/>
                  </a:cubicBezTo>
                  <a:lnTo>
                    <a:pt x="20299" y="25536"/>
                  </a:lnTo>
                  <a:cubicBezTo>
                    <a:pt x="22854" y="24259"/>
                    <a:pt x="24133" y="22344"/>
                    <a:pt x="24133" y="19790"/>
                  </a:cubicBezTo>
                  <a:lnTo>
                    <a:pt x="24133" y="7022"/>
                  </a:lnTo>
                  <a:cubicBezTo>
                    <a:pt x="24133" y="2554"/>
                    <a:pt x="21577" y="0"/>
                    <a:pt x="17743" y="0"/>
                  </a:cubicBezTo>
                  <a:cubicBezTo>
                    <a:pt x="17743" y="0"/>
                    <a:pt x="17743" y="0"/>
                    <a:pt x="17743" y="0"/>
                  </a:cubicBezTo>
                  <a:close/>
                </a:path>
              </a:pathLst>
            </a:custGeom>
            <a:grpFill/>
            <a:ln w="6390" cap="flat">
              <a:noFill/>
              <a:prstDash val="solid"/>
              <a:miter/>
            </a:ln>
          </p:spPr>
          <p:txBody>
            <a:bodyPr rtlCol="0" anchor="ctr"/>
            <a:lstStyle/>
            <a:p>
              <a:endParaRPr lang="en-US"/>
            </a:p>
          </p:txBody>
        </p:sp>
        <p:sp>
          <p:nvSpPr>
            <p:cNvPr id="74" name="Graphic 4">
              <a:extLst>
                <a:ext uri="{FF2B5EF4-FFF2-40B4-BE49-F238E27FC236}">
                  <a16:creationId xmlns:a16="http://schemas.microsoft.com/office/drawing/2014/main" id="{E344616A-6F2C-3E3D-ACE2-5C83E270DEC9}"/>
                </a:ext>
              </a:extLst>
            </p:cNvPr>
            <p:cNvSpPr/>
            <p:nvPr/>
          </p:nvSpPr>
          <p:spPr>
            <a:xfrm>
              <a:off x="2837771" y="1078417"/>
              <a:ext cx="12779" cy="40857"/>
            </a:xfrm>
            <a:custGeom>
              <a:avLst/>
              <a:gdLst>
                <a:gd name="connsiteX0" fmla="*/ 6390 w 12779"/>
                <a:gd name="connsiteY0" fmla="*/ 0 h 40857"/>
                <a:gd name="connsiteX1" fmla="*/ 0 w 12779"/>
                <a:gd name="connsiteY1" fmla="*/ 6384 h 40857"/>
                <a:gd name="connsiteX2" fmla="*/ 0 w 12779"/>
                <a:gd name="connsiteY2" fmla="*/ 34473 h 40857"/>
                <a:gd name="connsiteX3" fmla="*/ 6390 w 12779"/>
                <a:gd name="connsiteY3" fmla="*/ 40857 h 40857"/>
                <a:gd name="connsiteX4" fmla="*/ 12780 w 12779"/>
                <a:gd name="connsiteY4" fmla="*/ 34473 h 40857"/>
                <a:gd name="connsiteX5" fmla="*/ 12780 w 12779"/>
                <a:gd name="connsiteY5" fmla="*/ 6384 h 40857"/>
                <a:gd name="connsiteX6" fmla="*/ 6390 w 12779"/>
                <a:gd name="connsiteY6" fmla="*/ 0 h 4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40857">
                  <a:moveTo>
                    <a:pt x="6390" y="0"/>
                  </a:moveTo>
                  <a:cubicBezTo>
                    <a:pt x="2556" y="0"/>
                    <a:pt x="0" y="2554"/>
                    <a:pt x="0" y="6384"/>
                  </a:cubicBezTo>
                  <a:lnTo>
                    <a:pt x="0" y="34473"/>
                  </a:lnTo>
                  <a:cubicBezTo>
                    <a:pt x="0" y="38304"/>
                    <a:pt x="2556" y="40857"/>
                    <a:pt x="6390" y="40857"/>
                  </a:cubicBezTo>
                  <a:cubicBezTo>
                    <a:pt x="10224" y="40857"/>
                    <a:pt x="12780" y="38304"/>
                    <a:pt x="12780" y="34473"/>
                  </a:cubicBezTo>
                  <a:lnTo>
                    <a:pt x="12780" y="6384"/>
                  </a:lnTo>
                  <a:cubicBezTo>
                    <a:pt x="12780" y="2554"/>
                    <a:pt x="10224" y="0"/>
                    <a:pt x="6390" y="0"/>
                  </a:cubicBezTo>
                  <a:close/>
                </a:path>
              </a:pathLst>
            </a:custGeom>
            <a:grpFill/>
            <a:ln w="6390" cap="flat">
              <a:noFill/>
              <a:prstDash val="solid"/>
              <a:miter/>
            </a:ln>
          </p:spPr>
          <p:txBody>
            <a:bodyPr rtlCol="0" anchor="ctr"/>
            <a:lstStyle/>
            <a:p>
              <a:endParaRPr lang="en-US"/>
            </a:p>
          </p:txBody>
        </p:sp>
        <p:sp>
          <p:nvSpPr>
            <p:cNvPr id="75" name="Graphic 4">
              <a:extLst>
                <a:ext uri="{FF2B5EF4-FFF2-40B4-BE49-F238E27FC236}">
                  <a16:creationId xmlns:a16="http://schemas.microsoft.com/office/drawing/2014/main" id="{7FBD7E5C-ADD2-C3C1-49E7-BB393FAE3CA7}"/>
                </a:ext>
              </a:extLst>
            </p:cNvPr>
            <p:cNvSpPr/>
            <p:nvPr/>
          </p:nvSpPr>
          <p:spPr>
            <a:xfrm>
              <a:off x="2825368" y="1031552"/>
              <a:ext cx="24827" cy="30904"/>
            </a:xfrm>
            <a:custGeom>
              <a:avLst/>
              <a:gdLst>
                <a:gd name="connsiteX0" fmla="*/ 24543 w 24827"/>
                <a:gd name="connsiteY0" fmla="*/ 9199 h 30904"/>
                <a:gd name="connsiteX1" fmla="*/ 23904 w 24827"/>
                <a:gd name="connsiteY1" fmla="*/ 7922 h 30904"/>
                <a:gd name="connsiteX2" fmla="*/ 23265 w 24827"/>
                <a:gd name="connsiteY2" fmla="*/ 7284 h 30904"/>
                <a:gd name="connsiteX3" fmla="*/ 21348 w 24827"/>
                <a:gd name="connsiteY3" fmla="*/ 6007 h 30904"/>
                <a:gd name="connsiteX4" fmla="*/ 9847 w 24827"/>
                <a:gd name="connsiteY4" fmla="*/ 900 h 30904"/>
                <a:gd name="connsiteX5" fmla="*/ 901 w 24827"/>
                <a:gd name="connsiteY5" fmla="*/ 3453 h 30904"/>
                <a:gd name="connsiteX6" fmla="*/ 3457 w 24827"/>
                <a:gd name="connsiteY6" fmla="*/ 12391 h 30904"/>
                <a:gd name="connsiteX7" fmla="*/ 1540 w 24827"/>
                <a:gd name="connsiteY7" fmla="*/ 21329 h 30904"/>
                <a:gd name="connsiteX8" fmla="*/ 6652 w 24827"/>
                <a:gd name="connsiteY8" fmla="*/ 23882 h 30904"/>
                <a:gd name="connsiteX9" fmla="*/ 9208 w 24827"/>
                <a:gd name="connsiteY9" fmla="*/ 23244 h 30904"/>
                <a:gd name="connsiteX10" fmla="*/ 11764 w 24827"/>
                <a:gd name="connsiteY10" fmla="*/ 21967 h 30904"/>
                <a:gd name="connsiteX11" fmla="*/ 11764 w 24827"/>
                <a:gd name="connsiteY11" fmla="*/ 24521 h 30904"/>
                <a:gd name="connsiteX12" fmla="*/ 18154 w 24827"/>
                <a:gd name="connsiteY12" fmla="*/ 30905 h 30904"/>
                <a:gd name="connsiteX13" fmla="*/ 24543 w 24827"/>
                <a:gd name="connsiteY13" fmla="*/ 24521 h 30904"/>
                <a:gd name="connsiteX14" fmla="*/ 24543 w 24827"/>
                <a:gd name="connsiteY14" fmla="*/ 11753 h 30904"/>
                <a:gd name="connsiteX15" fmla="*/ 24543 w 24827"/>
                <a:gd name="connsiteY15" fmla="*/ 9199 h 30904"/>
                <a:gd name="connsiteX16" fmla="*/ 24543 w 24827"/>
                <a:gd name="connsiteY16" fmla="*/ 9199 h 3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827" h="30904">
                  <a:moveTo>
                    <a:pt x="24543" y="9199"/>
                  </a:moveTo>
                  <a:cubicBezTo>
                    <a:pt x="24543" y="8561"/>
                    <a:pt x="23904" y="7922"/>
                    <a:pt x="23904" y="7922"/>
                  </a:cubicBezTo>
                  <a:lnTo>
                    <a:pt x="23265" y="7284"/>
                  </a:lnTo>
                  <a:cubicBezTo>
                    <a:pt x="22627" y="6645"/>
                    <a:pt x="21988" y="6645"/>
                    <a:pt x="21348" y="6007"/>
                  </a:cubicBezTo>
                  <a:lnTo>
                    <a:pt x="9847" y="900"/>
                  </a:lnTo>
                  <a:cubicBezTo>
                    <a:pt x="6652" y="-1015"/>
                    <a:pt x="2818" y="261"/>
                    <a:pt x="901" y="3453"/>
                  </a:cubicBezTo>
                  <a:cubicBezTo>
                    <a:pt x="-1016" y="6645"/>
                    <a:pt x="262" y="10476"/>
                    <a:pt x="3457" y="12391"/>
                  </a:cubicBezTo>
                  <a:cubicBezTo>
                    <a:pt x="262" y="14306"/>
                    <a:pt x="-377" y="18137"/>
                    <a:pt x="1540" y="21329"/>
                  </a:cubicBezTo>
                  <a:cubicBezTo>
                    <a:pt x="2818" y="23244"/>
                    <a:pt x="4735" y="23882"/>
                    <a:pt x="6652" y="23882"/>
                  </a:cubicBezTo>
                  <a:cubicBezTo>
                    <a:pt x="7291" y="23882"/>
                    <a:pt x="8569" y="23882"/>
                    <a:pt x="9208" y="23244"/>
                  </a:cubicBezTo>
                  <a:lnTo>
                    <a:pt x="11764" y="21967"/>
                  </a:lnTo>
                  <a:lnTo>
                    <a:pt x="11764" y="24521"/>
                  </a:lnTo>
                  <a:cubicBezTo>
                    <a:pt x="11764" y="28351"/>
                    <a:pt x="14320" y="30905"/>
                    <a:pt x="18154" y="30905"/>
                  </a:cubicBezTo>
                  <a:cubicBezTo>
                    <a:pt x="21988" y="30905"/>
                    <a:pt x="24543" y="28351"/>
                    <a:pt x="24543" y="24521"/>
                  </a:cubicBezTo>
                  <a:lnTo>
                    <a:pt x="24543" y="11753"/>
                  </a:lnTo>
                  <a:cubicBezTo>
                    <a:pt x="25182" y="11114"/>
                    <a:pt x="24543" y="10476"/>
                    <a:pt x="24543" y="9199"/>
                  </a:cubicBezTo>
                  <a:lnTo>
                    <a:pt x="24543" y="9199"/>
                  </a:lnTo>
                  <a:close/>
                </a:path>
              </a:pathLst>
            </a:custGeom>
            <a:grpFill/>
            <a:ln w="6390" cap="flat">
              <a:noFill/>
              <a:prstDash val="solid"/>
              <a:miter/>
            </a:ln>
          </p:spPr>
          <p:txBody>
            <a:bodyPr rtlCol="0" anchor="ctr"/>
            <a:lstStyle/>
            <a:p>
              <a:endParaRPr lang="en-US"/>
            </a:p>
          </p:txBody>
        </p:sp>
      </p:grpSp>
      <p:grpSp>
        <p:nvGrpSpPr>
          <p:cNvPr id="76" name="Graphic 4">
            <a:extLst>
              <a:ext uri="{FF2B5EF4-FFF2-40B4-BE49-F238E27FC236}">
                <a16:creationId xmlns:a16="http://schemas.microsoft.com/office/drawing/2014/main" id="{28C816BF-4E33-63EA-1A12-048A576681B0}"/>
              </a:ext>
            </a:extLst>
          </p:cNvPr>
          <p:cNvGrpSpPr>
            <a:grpSpLocks noChangeAspect="1"/>
          </p:cNvGrpSpPr>
          <p:nvPr/>
        </p:nvGrpSpPr>
        <p:grpSpPr>
          <a:xfrm>
            <a:off x="7422117" y="1018380"/>
            <a:ext cx="477094" cy="477491"/>
            <a:chOff x="467743" y="4793256"/>
            <a:chExt cx="361670" cy="361971"/>
          </a:xfrm>
          <a:solidFill>
            <a:srgbClr val="43B02A"/>
          </a:solidFill>
        </p:grpSpPr>
        <p:sp>
          <p:nvSpPr>
            <p:cNvPr id="77" name="Graphic 4">
              <a:extLst>
                <a:ext uri="{FF2B5EF4-FFF2-40B4-BE49-F238E27FC236}">
                  <a16:creationId xmlns:a16="http://schemas.microsoft.com/office/drawing/2014/main" id="{8FC9C4ED-7C04-8814-293C-E2A2D789C61C}"/>
                </a:ext>
              </a:extLst>
            </p:cNvPr>
            <p:cNvSpPr/>
            <p:nvPr/>
          </p:nvSpPr>
          <p:spPr>
            <a:xfrm>
              <a:off x="467743" y="4793256"/>
              <a:ext cx="361670" cy="361971"/>
            </a:xfrm>
            <a:custGeom>
              <a:avLst/>
              <a:gdLst>
                <a:gd name="connsiteX0" fmla="*/ 180835 w 361670"/>
                <a:gd name="connsiteY0" fmla="*/ 0 h 361971"/>
                <a:gd name="connsiteX1" fmla="*/ 0 w 361670"/>
                <a:gd name="connsiteY1" fmla="*/ 180667 h 361971"/>
                <a:gd name="connsiteX2" fmla="*/ 180835 w 361670"/>
                <a:gd name="connsiteY2" fmla="*/ 361972 h 361971"/>
                <a:gd name="connsiteX3" fmla="*/ 361670 w 361670"/>
                <a:gd name="connsiteY3" fmla="*/ 180667 h 361971"/>
                <a:gd name="connsiteX4" fmla="*/ 361670 w 361670"/>
                <a:gd name="connsiteY4" fmla="*/ 180667 h 361971"/>
                <a:gd name="connsiteX5" fmla="*/ 180835 w 361670"/>
                <a:gd name="connsiteY5" fmla="*/ 0 h 361971"/>
                <a:gd name="connsiteX6" fmla="*/ 180835 w 361670"/>
                <a:gd name="connsiteY6" fmla="*/ 0 h 361971"/>
                <a:gd name="connsiteX7" fmla="*/ 180835 w 361670"/>
                <a:gd name="connsiteY7" fmla="*/ 348565 h 361971"/>
                <a:gd name="connsiteX8" fmla="*/ 12780 w 361670"/>
                <a:gd name="connsiteY8" fmla="*/ 180667 h 361971"/>
                <a:gd name="connsiteX9" fmla="*/ 180835 w 361670"/>
                <a:gd name="connsiteY9" fmla="*/ 12129 h 361971"/>
                <a:gd name="connsiteX10" fmla="*/ 348891 w 361670"/>
                <a:gd name="connsiteY10" fmla="*/ 180667 h 361971"/>
                <a:gd name="connsiteX11" fmla="*/ 348891 w 361670"/>
                <a:gd name="connsiteY11" fmla="*/ 180667 h 361971"/>
                <a:gd name="connsiteX12" fmla="*/ 180835 w 361670"/>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1670" h="361971">
                  <a:moveTo>
                    <a:pt x="180835" y="0"/>
                  </a:moveTo>
                  <a:cubicBezTo>
                    <a:pt x="80513" y="0"/>
                    <a:pt x="0" y="81077"/>
                    <a:pt x="0" y="180667"/>
                  </a:cubicBezTo>
                  <a:cubicBezTo>
                    <a:pt x="0" y="280895"/>
                    <a:pt x="81152" y="361972"/>
                    <a:pt x="180835" y="361972"/>
                  </a:cubicBezTo>
                  <a:cubicBezTo>
                    <a:pt x="280518" y="361972"/>
                    <a:pt x="361670" y="280895"/>
                    <a:pt x="361670" y="180667"/>
                  </a:cubicBezTo>
                  <a:cubicBezTo>
                    <a:pt x="361670" y="180667"/>
                    <a:pt x="361670" y="180667"/>
                    <a:pt x="361670" y="180667"/>
                  </a:cubicBezTo>
                  <a:cubicBezTo>
                    <a:pt x="361670" y="80438"/>
                    <a:pt x="281157" y="0"/>
                    <a:pt x="180835" y="0"/>
                  </a:cubicBezTo>
                  <a:cubicBezTo>
                    <a:pt x="180835" y="0"/>
                    <a:pt x="180835" y="0"/>
                    <a:pt x="180835" y="0"/>
                  </a:cubicBezTo>
                  <a:close/>
                  <a:moveTo>
                    <a:pt x="180835" y="348565"/>
                  </a:moveTo>
                  <a:cubicBezTo>
                    <a:pt x="87542" y="348565"/>
                    <a:pt x="12780" y="273234"/>
                    <a:pt x="12780" y="180667"/>
                  </a:cubicBezTo>
                  <a:cubicBezTo>
                    <a:pt x="12780" y="87461"/>
                    <a:pt x="88181" y="12129"/>
                    <a:pt x="180835" y="12129"/>
                  </a:cubicBezTo>
                  <a:cubicBezTo>
                    <a:pt x="273489" y="12129"/>
                    <a:pt x="348891" y="87461"/>
                    <a:pt x="348891" y="180667"/>
                  </a:cubicBezTo>
                  <a:lnTo>
                    <a:pt x="348891" y="180667"/>
                  </a:lnTo>
                  <a:cubicBezTo>
                    <a:pt x="348891" y="273234"/>
                    <a:pt x="273489" y="348565"/>
                    <a:pt x="180835" y="348565"/>
                  </a:cubicBezTo>
                  <a:close/>
                </a:path>
              </a:pathLst>
            </a:custGeom>
            <a:grpFill/>
            <a:ln w="6390" cap="flat">
              <a:noFill/>
              <a:prstDash val="solid"/>
              <a:miter/>
            </a:ln>
          </p:spPr>
          <p:txBody>
            <a:bodyPr rtlCol="0" anchor="ctr"/>
            <a:lstStyle/>
            <a:p>
              <a:endParaRPr lang="en-US"/>
            </a:p>
          </p:txBody>
        </p:sp>
        <p:sp>
          <p:nvSpPr>
            <p:cNvPr id="78" name="Graphic 4">
              <a:extLst>
                <a:ext uri="{FF2B5EF4-FFF2-40B4-BE49-F238E27FC236}">
                  <a16:creationId xmlns:a16="http://schemas.microsoft.com/office/drawing/2014/main" id="{CCBF6E3E-BF34-E589-852C-51CE60E7E9D0}"/>
                </a:ext>
              </a:extLst>
            </p:cNvPr>
            <p:cNvSpPr/>
            <p:nvPr/>
          </p:nvSpPr>
          <p:spPr>
            <a:xfrm>
              <a:off x="548425" y="4864501"/>
              <a:ext cx="203738" cy="219226"/>
            </a:xfrm>
            <a:custGeom>
              <a:avLst/>
              <a:gdLst>
                <a:gd name="connsiteX0" fmla="*/ 174916 w 203738"/>
                <a:gd name="connsiteY0" fmla="*/ 64096 h 219226"/>
                <a:gd name="connsiteX1" fmla="*/ 201754 w 203738"/>
                <a:gd name="connsiteY1" fmla="*/ 37283 h 219226"/>
                <a:gd name="connsiteX2" fmla="*/ 174916 w 203738"/>
                <a:gd name="connsiteY2" fmla="*/ 10470 h 219226"/>
                <a:gd name="connsiteX3" fmla="*/ 148078 w 203738"/>
                <a:gd name="connsiteY3" fmla="*/ 37283 h 219226"/>
                <a:gd name="connsiteX4" fmla="*/ 153190 w 203738"/>
                <a:gd name="connsiteY4" fmla="*/ 53243 h 219226"/>
                <a:gd name="connsiteX5" fmla="*/ 121879 w 203738"/>
                <a:gd name="connsiteY5" fmla="*/ 83248 h 219226"/>
                <a:gd name="connsiteX6" fmla="*/ 88652 w 203738"/>
                <a:gd name="connsiteY6" fmla="*/ 81332 h 219226"/>
                <a:gd name="connsiteX7" fmla="*/ 66287 w 203738"/>
                <a:gd name="connsiteY7" fmla="*/ 45582 h 219226"/>
                <a:gd name="connsiteX8" fmla="*/ 65009 w 203738"/>
                <a:gd name="connsiteY8" fmla="*/ 7278 h 219226"/>
                <a:gd name="connsiteX9" fmla="*/ 26669 w 203738"/>
                <a:gd name="connsiteY9" fmla="*/ 8555 h 219226"/>
                <a:gd name="connsiteX10" fmla="*/ 27947 w 203738"/>
                <a:gd name="connsiteY10" fmla="*/ 46859 h 219226"/>
                <a:gd name="connsiteX11" fmla="*/ 56063 w 203738"/>
                <a:gd name="connsiteY11" fmla="*/ 52604 h 219226"/>
                <a:gd name="connsiteX12" fmla="*/ 79067 w 203738"/>
                <a:gd name="connsiteY12" fmla="*/ 88355 h 219226"/>
                <a:gd name="connsiteX13" fmla="*/ 68204 w 203738"/>
                <a:gd name="connsiteY13" fmla="*/ 110699 h 219226"/>
                <a:gd name="connsiteX14" fmla="*/ 52229 w 203738"/>
                <a:gd name="connsiteY14" fmla="*/ 111975 h 219226"/>
                <a:gd name="connsiteX15" fmla="*/ 17084 w 203738"/>
                <a:gd name="connsiteY15" fmla="*/ 96654 h 219226"/>
                <a:gd name="connsiteX16" fmla="*/ 1749 w 203738"/>
                <a:gd name="connsiteY16" fmla="*/ 131766 h 219226"/>
                <a:gd name="connsiteX17" fmla="*/ 36893 w 203738"/>
                <a:gd name="connsiteY17" fmla="*/ 147087 h 219226"/>
                <a:gd name="connsiteX18" fmla="*/ 54146 w 203738"/>
                <a:gd name="connsiteY18" fmla="*/ 124743 h 219226"/>
                <a:gd name="connsiteX19" fmla="*/ 69482 w 203738"/>
                <a:gd name="connsiteY19" fmla="*/ 123467 h 219226"/>
                <a:gd name="connsiteX20" fmla="*/ 90569 w 203738"/>
                <a:gd name="connsiteY20" fmla="*/ 148364 h 219226"/>
                <a:gd name="connsiteX21" fmla="*/ 85457 w 203738"/>
                <a:gd name="connsiteY21" fmla="*/ 164962 h 219226"/>
                <a:gd name="connsiteX22" fmla="*/ 83540 w 203738"/>
                <a:gd name="connsiteY22" fmla="*/ 164962 h 219226"/>
                <a:gd name="connsiteX23" fmla="*/ 56063 w 203738"/>
                <a:gd name="connsiteY23" fmla="*/ 191775 h 219226"/>
                <a:gd name="connsiteX24" fmla="*/ 82901 w 203738"/>
                <a:gd name="connsiteY24" fmla="*/ 219226 h 219226"/>
                <a:gd name="connsiteX25" fmla="*/ 110378 w 203738"/>
                <a:gd name="connsiteY25" fmla="*/ 192414 h 219226"/>
                <a:gd name="connsiteX26" fmla="*/ 97598 w 203738"/>
                <a:gd name="connsiteY26" fmla="*/ 168793 h 219226"/>
                <a:gd name="connsiteX27" fmla="*/ 103349 w 203738"/>
                <a:gd name="connsiteY27" fmla="*/ 150918 h 219226"/>
                <a:gd name="connsiteX28" fmla="*/ 105266 w 203738"/>
                <a:gd name="connsiteY28" fmla="*/ 150918 h 219226"/>
                <a:gd name="connsiteX29" fmla="*/ 135937 w 203738"/>
                <a:gd name="connsiteY29" fmla="*/ 134319 h 219226"/>
                <a:gd name="connsiteX30" fmla="*/ 153190 w 203738"/>
                <a:gd name="connsiteY30" fmla="*/ 145172 h 219226"/>
                <a:gd name="connsiteX31" fmla="*/ 165331 w 203738"/>
                <a:gd name="connsiteY31" fmla="*/ 180922 h 219226"/>
                <a:gd name="connsiteX32" fmla="*/ 201115 w 203738"/>
                <a:gd name="connsiteY32" fmla="*/ 168793 h 219226"/>
                <a:gd name="connsiteX33" fmla="*/ 188974 w 203738"/>
                <a:gd name="connsiteY33" fmla="*/ 133043 h 219226"/>
                <a:gd name="connsiteX34" fmla="*/ 177472 w 203738"/>
                <a:gd name="connsiteY34" fmla="*/ 130489 h 219226"/>
                <a:gd name="connsiteX35" fmla="*/ 161497 w 203738"/>
                <a:gd name="connsiteY35" fmla="*/ 135596 h 219226"/>
                <a:gd name="connsiteX36" fmla="*/ 141049 w 203738"/>
                <a:gd name="connsiteY36" fmla="*/ 122828 h 219226"/>
                <a:gd name="connsiteX37" fmla="*/ 142327 w 203738"/>
                <a:gd name="connsiteY37" fmla="*/ 114529 h 219226"/>
                <a:gd name="connsiteX38" fmla="*/ 134020 w 203738"/>
                <a:gd name="connsiteY38" fmla="*/ 91547 h 219226"/>
                <a:gd name="connsiteX39" fmla="*/ 165331 w 203738"/>
                <a:gd name="connsiteY39" fmla="*/ 60904 h 219226"/>
                <a:gd name="connsiteX40" fmla="*/ 174916 w 203738"/>
                <a:gd name="connsiteY40" fmla="*/ 64096 h 219226"/>
                <a:gd name="connsiteX41" fmla="*/ 31781 w 203738"/>
                <a:gd name="connsiteY41" fmla="*/ 27068 h 219226"/>
                <a:gd name="connsiteX42" fmla="*/ 45839 w 203738"/>
                <a:gd name="connsiteY42" fmla="*/ 13024 h 219226"/>
                <a:gd name="connsiteX43" fmla="*/ 59897 w 203738"/>
                <a:gd name="connsiteY43" fmla="*/ 27068 h 219226"/>
                <a:gd name="connsiteX44" fmla="*/ 45839 w 203738"/>
                <a:gd name="connsiteY44" fmla="*/ 41113 h 219226"/>
                <a:gd name="connsiteX45" fmla="*/ 31781 w 203738"/>
                <a:gd name="connsiteY45" fmla="*/ 27068 h 219226"/>
                <a:gd name="connsiteX46" fmla="*/ 80984 w 203738"/>
                <a:gd name="connsiteY46" fmla="*/ 205181 h 219226"/>
                <a:gd name="connsiteX47" fmla="*/ 66926 w 203738"/>
                <a:gd name="connsiteY47" fmla="*/ 191137 h 219226"/>
                <a:gd name="connsiteX48" fmla="*/ 80984 w 203738"/>
                <a:gd name="connsiteY48" fmla="*/ 177092 h 219226"/>
                <a:gd name="connsiteX49" fmla="*/ 95042 w 203738"/>
                <a:gd name="connsiteY49" fmla="*/ 191137 h 219226"/>
                <a:gd name="connsiteX50" fmla="*/ 80984 w 203738"/>
                <a:gd name="connsiteY50" fmla="*/ 205181 h 219226"/>
                <a:gd name="connsiteX51" fmla="*/ 80984 w 203738"/>
                <a:gd name="connsiteY51" fmla="*/ 205181 h 219226"/>
                <a:gd name="connsiteX52" fmla="*/ 188974 w 203738"/>
                <a:gd name="connsiteY52" fmla="*/ 157302 h 219226"/>
                <a:gd name="connsiteX53" fmla="*/ 174916 w 203738"/>
                <a:gd name="connsiteY53" fmla="*/ 171346 h 219226"/>
                <a:gd name="connsiteX54" fmla="*/ 160858 w 203738"/>
                <a:gd name="connsiteY54" fmla="*/ 157302 h 219226"/>
                <a:gd name="connsiteX55" fmla="*/ 174916 w 203738"/>
                <a:gd name="connsiteY55" fmla="*/ 143257 h 219226"/>
                <a:gd name="connsiteX56" fmla="*/ 188974 w 203738"/>
                <a:gd name="connsiteY56" fmla="*/ 157302 h 219226"/>
                <a:gd name="connsiteX57" fmla="*/ 188974 w 203738"/>
                <a:gd name="connsiteY57" fmla="*/ 157302 h 219226"/>
                <a:gd name="connsiteX58" fmla="*/ 174916 w 203738"/>
                <a:gd name="connsiteY58" fmla="*/ 23238 h 219226"/>
                <a:gd name="connsiteX59" fmla="*/ 188974 w 203738"/>
                <a:gd name="connsiteY59" fmla="*/ 37283 h 219226"/>
                <a:gd name="connsiteX60" fmla="*/ 174916 w 203738"/>
                <a:gd name="connsiteY60" fmla="*/ 51328 h 219226"/>
                <a:gd name="connsiteX61" fmla="*/ 160858 w 203738"/>
                <a:gd name="connsiteY61" fmla="*/ 37283 h 219226"/>
                <a:gd name="connsiteX62" fmla="*/ 174916 w 203738"/>
                <a:gd name="connsiteY62" fmla="*/ 23238 h 219226"/>
                <a:gd name="connsiteX63" fmla="*/ 174916 w 203738"/>
                <a:gd name="connsiteY63" fmla="*/ 23238 h 219226"/>
                <a:gd name="connsiteX64" fmla="*/ 25391 w 203738"/>
                <a:gd name="connsiteY64" fmla="*/ 135596 h 219226"/>
                <a:gd name="connsiteX65" fmla="*/ 11333 w 203738"/>
                <a:gd name="connsiteY65" fmla="*/ 121551 h 219226"/>
                <a:gd name="connsiteX66" fmla="*/ 25391 w 203738"/>
                <a:gd name="connsiteY66" fmla="*/ 107507 h 219226"/>
                <a:gd name="connsiteX67" fmla="*/ 39449 w 203738"/>
                <a:gd name="connsiteY67" fmla="*/ 121551 h 219226"/>
                <a:gd name="connsiteX68" fmla="*/ 25391 w 203738"/>
                <a:gd name="connsiteY68" fmla="*/ 135596 h 219226"/>
                <a:gd name="connsiteX69" fmla="*/ 103349 w 203738"/>
                <a:gd name="connsiteY69" fmla="*/ 138150 h 219226"/>
                <a:gd name="connsiteX70" fmla="*/ 79706 w 203738"/>
                <a:gd name="connsiteY70" fmla="*/ 114529 h 219226"/>
                <a:gd name="connsiteX71" fmla="*/ 103349 w 203738"/>
                <a:gd name="connsiteY71" fmla="*/ 90270 h 219226"/>
                <a:gd name="connsiteX72" fmla="*/ 126991 w 203738"/>
                <a:gd name="connsiteY72" fmla="*/ 113891 h 219226"/>
                <a:gd name="connsiteX73" fmla="*/ 126991 w 203738"/>
                <a:gd name="connsiteY73" fmla="*/ 113891 h 219226"/>
                <a:gd name="connsiteX74" fmla="*/ 103349 w 203738"/>
                <a:gd name="connsiteY74" fmla="*/ 138150 h 21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3738" h="219226">
                  <a:moveTo>
                    <a:pt x="174916" y="64096"/>
                  </a:moveTo>
                  <a:cubicBezTo>
                    <a:pt x="189613" y="64096"/>
                    <a:pt x="201754" y="51966"/>
                    <a:pt x="201754" y="37283"/>
                  </a:cubicBezTo>
                  <a:cubicBezTo>
                    <a:pt x="201754" y="22600"/>
                    <a:pt x="189613" y="10470"/>
                    <a:pt x="174916" y="10470"/>
                  </a:cubicBezTo>
                  <a:cubicBezTo>
                    <a:pt x="160219" y="10470"/>
                    <a:pt x="148078" y="22600"/>
                    <a:pt x="148078" y="37283"/>
                  </a:cubicBezTo>
                  <a:cubicBezTo>
                    <a:pt x="148078" y="43028"/>
                    <a:pt x="149995" y="48136"/>
                    <a:pt x="153190" y="53243"/>
                  </a:cubicBezTo>
                  <a:lnTo>
                    <a:pt x="121879" y="83248"/>
                  </a:lnTo>
                  <a:cubicBezTo>
                    <a:pt x="111656" y="76864"/>
                    <a:pt x="98876" y="76225"/>
                    <a:pt x="88652" y="81332"/>
                  </a:cubicBezTo>
                  <a:lnTo>
                    <a:pt x="66287" y="45582"/>
                  </a:lnTo>
                  <a:cubicBezTo>
                    <a:pt x="76511" y="34729"/>
                    <a:pt x="75872" y="17492"/>
                    <a:pt x="65009" y="7278"/>
                  </a:cubicBezTo>
                  <a:cubicBezTo>
                    <a:pt x="54146" y="-2936"/>
                    <a:pt x="36893" y="-2298"/>
                    <a:pt x="26669" y="8555"/>
                  </a:cubicBezTo>
                  <a:cubicBezTo>
                    <a:pt x="16445" y="19408"/>
                    <a:pt x="17084" y="36644"/>
                    <a:pt x="27947" y="46859"/>
                  </a:cubicBezTo>
                  <a:cubicBezTo>
                    <a:pt x="35615" y="53881"/>
                    <a:pt x="46478" y="55796"/>
                    <a:pt x="56063" y="52604"/>
                  </a:cubicBezTo>
                  <a:lnTo>
                    <a:pt x="79067" y="88355"/>
                  </a:lnTo>
                  <a:cubicBezTo>
                    <a:pt x="72677" y="94100"/>
                    <a:pt x="68843" y="102400"/>
                    <a:pt x="68204" y="110699"/>
                  </a:cubicBezTo>
                  <a:lnTo>
                    <a:pt x="52229" y="111975"/>
                  </a:lnTo>
                  <a:cubicBezTo>
                    <a:pt x="47117" y="97931"/>
                    <a:pt x="31142" y="91547"/>
                    <a:pt x="17084" y="96654"/>
                  </a:cubicBezTo>
                  <a:cubicBezTo>
                    <a:pt x="3027" y="101761"/>
                    <a:pt x="-3363" y="117721"/>
                    <a:pt x="1749" y="131766"/>
                  </a:cubicBezTo>
                  <a:cubicBezTo>
                    <a:pt x="6861" y="145811"/>
                    <a:pt x="22835" y="152195"/>
                    <a:pt x="36893" y="147087"/>
                  </a:cubicBezTo>
                  <a:cubicBezTo>
                    <a:pt x="46478" y="143257"/>
                    <a:pt x="52868" y="134958"/>
                    <a:pt x="54146" y="124743"/>
                  </a:cubicBezTo>
                  <a:lnTo>
                    <a:pt x="69482" y="123467"/>
                  </a:lnTo>
                  <a:cubicBezTo>
                    <a:pt x="72038" y="134319"/>
                    <a:pt x="79706" y="143895"/>
                    <a:pt x="90569" y="148364"/>
                  </a:cubicBezTo>
                  <a:lnTo>
                    <a:pt x="85457" y="164962"/>
                  </a:lnTo>
                  <a:lnTo>
                    <a:pt x="83540" y="164962"/>
                  </a:lnTo>
                  <a:cubicBezTo>
                    <a:pt x="68843" y="164962"/>
                    <a:pt x="56063" y="177092"/>
                    <a:pt x="56063" y="191775"/>
                  </a:cubicBezTo>
                  <a:cubicBezTo>
                    <a:pt x="56063" y="206458"/>
                    <a:pt x="68204" y="219226"/>
                    <a:pt x="82901" y="219226"/>
                  </a:cubicBezTo>
                  <a:cubicBezTo>
                    <a:pt x="97598" y="219226"/>
                    <a:pt x="110378" y="207097"/>
                    <a:pt x="110378" y="192414"/>
                  </a:cubicBezTo>
                  <a:cubicBezTo>
                    <a:pt x="110378" y="182838"/>
                    <a:pt x="105266" y="173900"/>
                    <a:pt x="97598" y="168793"/>
                  </a:cubicBezTo>
                  <a:lnTo>
                    <a:pt x="103349" y="150918"/>
                  </a:lnTo>
                  <a:lnTo>
                    <a:pt x="105266" y="150918"/>
                  </a:lnTo>
                  <a:cubicBezTo>
                    <a:pt x="117406" y="150918"/>
                    <a:pt x="128908" y="144534"/>
                    <a:pt x="135937" y="134319"/>
                  </a:cubicBezTo>
                  <a:lnTo>
                    <a:pt x="153190" y="145172"/>
                  </a:lnTo>
                  <a:cubicBezTo>
                    <a:pt x="146800" y="158578"/>
                    <a:pt x="152551" y="174538"/>
                    <a:pt x="165331" y="180922"/>
                  </a:cubicBezTo>
                  <a:cubicBezTo>
                    <a:pt x="178111" y="187306"/>
                    <a:pt x="194725" y="181561"/>
                    <a:pt x="201115" y="168793"/>
                  </a:cubicBezTo>
                  <a:cubicBezTo>
                    <a:pt x="207505" y="155387"/>
                    <a:pt x="201754" y="139427"/>
                    <a:pt x="188974" y="133043"/>
                  </a:cubicBezTo>
                  <a:cubicBezTo>
                    <a:pt x="185140" y="131127"/>
                    <a:pt x="181306" y="130489"/>
                    <a:pt x="177472" y="130489"/>
                  </a:cubicBezTo>
                  <a:cubicBezTo>
                    <a:pt x="171721" y="130489"/>
                    <a:pt x="166609" y="132404"/>
                    <a:pt x="161497" y="135596"/>
                  </a:cubicBezTo>
                  <a:lnTo>
                    <a:pt x="141049" y="122828"/>
                  </a:lnTo>
                  <a:cubicBezTo>
                    <a:pt x="141688" y="120275"/>
                    <a:pt x="142327" y="117083"/>
                    <a:pt x="142327" y="114529"/>
                  </a:cubicBezTo>
                  <a:cubicBezTo>
                    <a:pt x="142327" y="106230"/>
                    <a:pt x="139132" y="97931"/>
                    <a:pt x="134020" y="91547"/>
                  </a:cubicBezTo>
                  <a:lnTo>
                    <a:pt x="165331" y="60904"/>
                  </a:lnTo>
                  <a:cubicBezTo>
                    <a:pt x="166609" y="62819"/>
                    <a:pt x="170443" y="64096"/>
                    <a:pt x="174916" y="64096"/>
                  </a:cubicBezTo>
                  <a:close/>
                  <a:moveTo>
                    <a:pt x="31781" y="27068"/>
                  </a:moveTo>
                  <a:cubicBezTo>
                    <a:pt x="31781" y="19408"/>
                    <a:pt x="38171" y="13024"/>
                    <a:pt x="45839" y="13024"/>
                  </a:cubicBezTo>
                  <a:cubicBezTo>
                    <a:pt x="53507" y="13024"/>
                    <a:pt x="59897" y="19408"/>
                    <a:pt x="59897" y="27068"/>
                  </a:cubicBezTo>
                  <a:cubicBezTo>
                    <a:pt x="59897" y="34729"/>
                    <a:pt x="53507" y="41113"/>
                    <a:pt x="45839" y="41113"/>
                  </a:cubicBezTo>
                  <a:cubicBezTo>
                    <a:pt x="38171" y="41113"/>
                    <a:pt x="31781" y="35368"/>
                    <a:pt x="31781" y="27068"/>
                  </a:cubicBezTo>
                  <a:close/>
                  <a:moveTo>
                    <a:pt x="80984" y="205181"/>
                  </a:moveTo>
                  <a:cubicBezTo>
                    <a:pt x="73316" y="205181"/>
                    <a:pt x="66926" y="198798"/>
                    <a:pt x="66926" y="191137"/>
                  </a:cubicBezTo>
                  <a:cubicBezTo>
                    <a:pt x="66926" y="183476"/>
                    <a:pt x="73316" y="177092"/>
                    <a:pt x="80984" y="177092"/>
                  </a:cubicBezTo>
                  <a:cubicBezTo>
                    <a:pt x="88652" y="177092"/>
                    <a:pt x="95042" y="183476"/>
                    <a:pt x="95042" y="191137"/>
                  </a:cubicBezTo>
                  <a:cubicBezTo>
                    <a:pt x="95042" y="198798"/>
                    <a:pt x="89291" y="205181"/>
                    <a:pt x="80984" y="205181"/>
                  </a:cubicBezTo>
                  <a:cubicBezTo>
                    <a:pt x="80984" y="205181"/>
                    <a:pt x="80984" y="205181"/>
                    <a:pt x="80984" y="205181"/>
                  </a:cubicBezTo>
                  <a:close/>
                  <a:moveTo>
                    <a:pt x="188974" y="157302"/>
                  </a:moveTo>
                  <a:cubicBezTo>
                    <a:pt x="188974" y="164962"/>
                    <a:pt x="182584" y="171346"/>
                    <a:pt x="174916" y="171346"/>
                  </a:cubicBezTo>
                  <a:cubicBezTo>
                    <a:pt x="167248" y="171346"/>
                    <a:pt x="160858" y="164962"/>
                    <a:pt x="160858" y="157302"/>
                  </a:cubicBezTo>
                  <a:cubicBezTo>
                    <a:pt x="160858" y="149641"/>
                    <a:pt x="167248" y="143257"/>
                    <a:pt x="174916" y="143257"/>
                  </a:cubicBezTo>
                  <a:cubicBezTo>
                    <a:pt x="182584" y="143257"/>
                    <a:pt x="188974" y="149641"/>
                    <a:pt x="188974" y="157302"/>
                  </a:cubicBezTo>
                  <a:lnTo>
                    <a:pt x="188974" y="157302"/>
                  </a:lnTo>
                  <a:close/>
                  <a:moveTo>
                    <a:pt x="174916" y="23238"/>
                  </a:moveTo>
                  <a:cubicBezTo>
                    <a:pt x="182584" y="23238"/>
                    <a:pt x="188974" y="29622"/>
                    <a:pt x="188974" y="37283"/>
                  </a:cubicBezTo>
                  <a:cubicBezTo>
                    <a:pt x="188974" y="44944"/>
                    <a:pt x="182584" y="51328"/>
                    <a:pt x="174916" y="51328"/>
                  </a:cubicBezTo>
                  <a:cubicBezTo>
                    <a:pt x="167248" y="51328"/>
                    <a:pt x="160858" y="44944"/>
                    <a:pt x="160858" y="37283"/>
                  </a:cubicBezTo>
                  <a:cubicBezTo>
                    <a:pt x="160858" y="29622"/>
                    <a:pt x="166609" y="23238"/>
                    <a:pt x="174916" y="23238"/>
                  </a:cubicBezTo>
                  <a:cubicBezTo>
                    <a:pt x="174277" y="23238"/>
                    <a:pt x="174916" y="23238"/>
                    <a:pt x="174916" y="23238"/>
                  </a:cubicBezTo>
                  <a:close/>
                  <a:moveTo>
                    <a:pt x="25391" y="135596"/>
                  </a:moveTo>
                  <a:cubicBezTo>
                    <a:pt x="17723" y="135596"/>
                    <a:pt x="11333" y="129212"/>
                    <a:pt x="11333" y="121551"/>
                  </a:cubicBezTo>
                  <a:cubicBezTo>
                    <a:pt x="11333" y="113891"/>
                    <a:pt x="17723" y="107507"/>
                    <a:pt x="25391" y="107507"/>
                  </a:cubicBezTo>
                  <a:cubicBezTo>
                    <a:pt x="33059" y="107507"/>
                    <a:pt x="39449" y="113891"/>
                    <a:pt x="39449" y="121551"/>
                  </a:cubicBezTo>
                  <a:cubicBezTo>
                    <a:pt x="39449" y="129212"/>
                    <a:pt x="33059" y="135596"/>
                    <a:pt x="25391" y="135596"/>
                  </a:cubicBezTo>
                  <a:close/>
                  <a:moveTo>
                    <a:pt x="103349" y="138150"/>
                  </a:moveTo>
                  <a:cubicBezTo>
                    <a:pt x="89930" y="138150"/>
                    <a:pt x="79706" y="127297"/>
                    <a:pt x="79706" y="114529"/>
                  </a:cubicBezTo>
                  <a:cubicBezTo>
                    <a:pt x="79706" y="101123"/>
                    <a:pt x="90569" y="90908"/>
                    <a:pt x="103349" y="90270"/>
                  </a:cubicBezTo>
                  <a:cubicBezTo>
                    <a:pt x="116767" y="90270"/>
                    <a:pt x="126991" y="101123"/>
                    <a:pt x="126991" y="113891"/>
                  </a:cubicBezTo>
                  <a:cubicBezTo>
                    <a:pt x="126991" y="113891"/>
                    <a:pt x="126991" y="113891"/>
                    <a:pt x="126991" y="113891"/>
                  </a:cubicBezTo>
                  <a:cubicBezTo>
                    <a:pt x="126991" y="127297"/>
                    <a:pt x="116767" y="138150"/>
                    <a:pt x="103349" y="138150"/>
                  </a:cubicBezTo>
                  <a:close/>
                </a:path>
              </a:pathLst>
            </a:custGeom>
            <a:grpFill/>
            <a:ln w="6390" cap="flat">
              <a:noFill/>
              <a:prstDash val="solid"/>
              <a:miter/>
            </a:ln>
          </p:spPr>
          <p:txBody>
            <a:bodyPr rtlCol="0" anchor="ctr"/>
            <a:lstStyle/>
            <a:p>
              <a:endParaRPr lang="en-US"/>
            </a:p>
          </p:txBody>
        </p:sp>
      </p:grpSp>
      <p:grpSp>
        <p:nvGrpSpPr>
          <p:cNvPr id="81" name="Group 80">
            <a:extLst>
              <a:ext uri="{FF2B5EF4-FFF2-40B4-BE49-F238E27FC236}">
                <a16:creationId xmlns:a16="http://schemas.microsoft.com/office/drawing/2014/main" id="{45B28584-8973-EFBC-2EA7-2FA7CF91F8FB}"/>
              </a:ext>
            </a:extLst>
          </p:cNvPr>
          <p:cNvGrpSpPr/>
          <p:nvPr/>
        </p:nvGrpSpPr>
        <p:grpSpPr>
          <a:xfrm>
            <a:off x="4273920" y="3085507"/>
            <a:ext cx="548892" cy="560121"/>
            <a:chOff x="4297412" y="4032226"/>
            <a:chExt cx="362309" cy="361971"/>
          </a:xfrm>
        </p:grpSpPr>
        <p:sp>
          <p:nvSpPr>
            <p:cNvPr id="79" name="Graphic 4">
              <a:extLst>
                <a:ext uri="{FF2B5EF4-FFF2-40B4-BE49-F238E27FC236}">
                  <a16:creationId xmlns:a16="http://schemas.microsoft.com/office/drawing/2014/main" id="{42939EA2-4122-0B7F-1D23-AE57B043D2F4}"/>
                </a:ext>
              </a:extLst>
            </p:cNvPr>
            <p:cNvSpPr/>
            <p:nvPr/>
          </p:nvSpPr>
          <p:spPr>
            <a:xfrm>
              <a:off x="4297412" y="4032226"/>
              <a:ext cx="362309" cy="361971"/>
            </a:xfrm>
            <a:custGeom>
              <a:avLst/>
              <a:gdLst>
                <a:gd name="connsiteX0" fmla="*/ 181474 w 362309"/>
                <a:gd name="connsiteY0" fmla="*/ 0 h 361971"/>
                <a:gd name="connsiteX1" fmla="*/ 0 w 362309"/>
                <a:gd name="connsiteY1" fmla="*/ 181305 h 361971"/>
                <a:gd name="connsiteX2" fmla="*/ 181474 w 362309"/>
                <a:gd name="connsiteY2" fmla="*/ 361972 h 361971"/>
                <a:gd name="connsiteX3" fmla="*/ 362309 w 362309"/>
                <a:gd name="connsiteY3" fmla="*/ 181305 h 361971"/>
                <a:gd name="connsiteX4" fmla="*/ 181474 w 362309"/>
                <a:gd name="connsiteY4" fmla="*/ 0 h 361971"/>
                <a:gd name="connsiteX5" fmla="*/ 181474 w 362309"/>
                <a:gd name="connsiteY5" fmla="*/ 0 h 361971"/>
                <a:gd name="connsiteX6" fmla="*/ 181474 w 362309"/>
                <a:gd name="connsiteY6" fmla="*/ 349204 h 361971"/>
                <a:gd name="connsiteX7" fmla="*/ 13419 w 362309"/>
                <a:gd name="connsiteY7" fmla="*/ 180667 h 361971"/>
                <a:gd name="connsiteX8" fmla="*/ 181474 w 362309"/>
                <a:gd name="connsiteY8" fmla="*/ 12768 h 361971"/>
                <a:gd name="connsiteX9" fmla="*/ 349530 w 362309"/>
                <a:gd name="connsiteY9" fmla="*/ 180667 h 361971"/>
                <a:gd name="connsiteX10" fmla="*/ 181474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1474" y="0"/>
                  </a:moveTo>
                  <a:cubicBezTo>
                    <a:pt x="81152" y="0"/>
                    <a:pt x="0" y="81077"/>
                    <a:pt x="0" y="181305"/>
                  </a:cubicBezTo>
                  <a:cubicBezTo>
                    <a:pt x="0" y="281534"/>
                    <a:pt x="81152" y="361972"/>
                    <a:pt x="181474" y="361972"/>
                  </a:cubicBezTo>
                  <a:cubicBezTo>
                    <a:pt x="281796" y="361972"/>
                    <a:pt x="362309" y="280895"/>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768"/>
                    <a:pt x="181474" y="12768"/>
                  </a:cubicBezTo>
                  <a:cubicBezTo>
                    <a:pt x="274128" y="12768"/>
                    <a:pt x="349530" y="88099"/>
                    <a:pt x="349530" y="180667"/>
                  </a:cubicBezTo>
                  <a:cubicBezTo>
                    <a:pt x="349530" y="273873"/>
                    <a:pt x="274128" y="349204"/>
                    <a:pt x="181474" y="349204"/>
                  </a:cubicBezTo>
                  <a:close/>
                </a:path>
              </a:pathLst>
            </a:custGeom>
            <a:solidFill>
              <a:srgbClr val="26890D"/>
            </a:solidFill>
            <a:ln w="6390" cap="flat">
              <a:noFill/>
              <a:prstDash val="solid"/>
              <a:miter/>
            </a:ln>
          </p:spPr>
          <p:txBody>
            <a:bodyPr rtlCol="0" anchor="ctr"/>
            <a:lstStyle/>
            <a:p>
              <a:endParaRPr lang="en-US" dirty="0"/>
            </a:p>
          </p:txBody>
        </p:sp>
        <p:sp>
          <p:nvSpPr>
            <p:cNvPr id="80" name="Graphic 4">
              <a:extLst>
                <a:ext uri="{FF2B5EF4-FFF2-40B4-BE49-F238E27FC236}">
                  <a16:creationId xmlns:a16="http://schemas.microsoft.com/office/drawing/2014/main" id="{779C5A00-0A71-0F50-B049-1F6565CF19CA}"/>
                </a:ext>
              </a:extLst>
            </p:cNvPr>
            <p:cNvSpPr/>
            <p:nvPr/>
          </p:nvSpPr>
          <p:spPr>
            <a:xfrm>
              <a:off x="4380470" y="4086733"/>
              <a:ext cx="210512" cy="243229"/>
            </a:xfrm>
            <a:custGeom>
              <a:avLst/>
              <a:gdLst>
                <a:gd name="connsiteX0" fmla="*/ 210229 w 210512"/>
                <a:gd name="connsiteY0" fmla="*/ 125764 h 243229"/>
                <a:gd name="connsiteX1" fmla="*/ 209590 w 210512"/>
                <a:gd name="connsiteY1" fmla="*/ 124488 h 243229"/>
                <a:gd name="connsiteX2" fmla="*/ 207673 w 210512"/>
                <a:gd name="connsiteY2" fmla="*/ 122572 h 243229"/>
                <a:gd name="connsiteX3" fmla="*/ 207034 w 210512"/>
                <a:gd name="connsiteY3" fmla="*/ 121934 h 243229"/>
                <a:gd name="connsiteX4" fmla="*/ 127799 w 210512"/>
                <a:gd name="connsiteY4" fmla="*/ 82992 h 243229"/>
                <a:gd name="connsiteX5" fmla="*/ 126521 w 210512"/>
                <a:gd name="connsiteY5" fmla="*/ 76608 h 243229"/>
                <a:gd name="connsiteX6" fmla="*/ 172528 w 210512"/>
                <a:gd name="connsiteY6" fmla="*/ 76608 h 243229"/>
                <a:gd name="connsiteX7" fmla="*/ 172528 w 210512"/>
                <a:gd name="connsiteY7" fmla="*/ 81715 h 243229"/>
                <a:gd name="connsiteX8" fmla="*/ 178918 w 210512"/>
                <a:gd name="connsiteY8" fmla="*/ 88099 h 243229"/>
                <a:gd name="connsiteX9" fmla="*/ 185308 w 210512"/>
                <a:gd name="connsiteY9" fmla="*/ 81715 h 243229"/>
                <a:gd name="connsiteX10" fmla="*/ 185308 w 210512"/>
                <a:gd name="connsiteY10" fmla="*/ 70224 h 243229"/>
                <a:gd name="connsiteX11" fmla="*/ 185308 w 210512"/>
                <a:gd name="connsiteY11" fmla="*/ 68947 h 243229"/>
                <a:gd name="connsiteX12" fmla="*/ 185308 w 210512"/>
                <a:gd name="connsiteY12" fmla="*/ 67670 h 243229"/>
                <a:gd name="connsiteX13" fmla="*/ 184669 w 210512"/>
                <a:gd name="connsiteY13" fmla="*/ 66393 h 243229"/>
                <a:gd name="connsiteX14" fmla="*/ 184030 w 210512"/>
                <a:gd name="connsiteY14" fmla="*/ 65755 h 243229"/>
                <a:gd name="connsiteX15" fmla="*/ 182752 w 210512"/>
                <a:gd name="connsiteY15" fmla="*/ 64478 h 243229"/>
                <a:gd name="connsiteX16" fmla="*/ 182113 w 210512"/>
                <a:gd name="connsiteY16" fmla="*/ 63840 h 243229"/>
                <a:gd name="connsiteX17" fmla="*/ 182113 w 210512"/>
                <a:gd name="connsiteY17" fmla="*/ 63840 h 243229"/>
                <a:gd name="connsiteX18" fmla="*/ 182113 w 210512"/>
                <a:gd name="connsiteY18" fmla="*/ 63840 h 243229"/>
                <a:gd name="connsiteX19" fmla="*/ 118214 w 210512"/>
                <a:gd name="connsiteY19" fmla="*/ 32558 h 243229"/>
                <a:gd name="connsiteX20" fmla="*/ 113102 w 210512"/>
                <a:gd name="connsiteY20" fmla="*/ 6384 h 243229"/>
                <a:gd name="connsiteX21" fmla="*/ 106712 w 210512"/>
                <a:gd name="connsiteY21" fmla="*/ 0 h 243229"/>
                <a:gd name="connsiteX22" fmla="*/ 104795 w 210512"/>
                <a:gd name="connsiteY22" fmla="*/ 0 h 243229"/>
                <a:gd name="connsiteX23" fmla="*/ 99683 w 210512"/>
                <a:gd name="connsiteY23" fmla="*/ 5746 h 243229"/>
                <a:gd name="connsiteX24" fmla="*/ 93932 w 210512"/>
                <a:gd name="connsiteY24" fmla="*/ 32558 h 243229"/>
                <a:gd name="connsiteX25" fmla="*/ 29394 w 210512"/>
                <a:gd name="connsiteY25" fmla="*/ 63840 h 243229"/>
                <a:gd name="connsiteX26" fmla="*/ 28755 w 210512"/>
                <a:gd name="connsiteY26" fmla="*/ 64478 h 243229"/>
                <a:gd name="connsiteX27" fmla="*/ 27477 w 210512"/>
                <a:gd name="connsiteY27" fmla="*/ 65117 h 243229"/>
                <a:gd name="connsiteX28" fmla="*/ 26838 w 210512"/>
                <a:gd name="connsiteY28" fmla="*/ 66393 h 243229"/>
                <a:gd name="connsiteX29" fmla="*/ 26199 w 210512"/>
                <a:gd name="connsiteY29" fmla="*/ 67032 h 243229"/>
                <a:gd name="connsiteX30" fmla="*/ 26199 w 210512"/>
                <a:gd name="connsiteY30" fmla="*/ 68309 h 243229"/>
                <a:gd name="connsiteX31" fmla="*/ 26199 w 210512"/>
                <a:gd name="connsiteY31" fmla="*/ 68947 h 243229"/>
                <a:gd name="connsiteX32" fmla="*/ 26199 w 210512"/>
                <a:gd name="connsiteY32" fmla="*/ 80438 h 243229"/>
                <a:gd name="connsiteX33" fmla="*/ 32589 w 210512"/>
                <a:gd name="connsiteY33" fmla="*/ 86822 h 243229"/>
                <a:gd name="connsiteX34" fmla="*/ 38979 w 210512"/>
                <a:gd name="connsiteY34" fmla="*/ 80438 h 243229"/>
                <a:gd name="connsiteX35" fmla="*/ 38979 w 210512"/>
                <a:gd name="connsiteY35" fmla="*/ 75331 h 243229"/>
                <a:gd name="connsiteX36" fmla="*/ 83708 w 210512"/>
                <a:gd name="connsiteY36" fmla="*/ 75331 h 243229"/>
                <a:gd name="connsiteX37" fmla="*/ 82430 w 210512"/>
                <a:gd name="connsiteY37" fmla="*/ 81715 h 243229"/>
                <a:gd name="connsiteX38" fmla="*/ 3195 w 210512"/>
                <a:gd name="connsiteY38" fmla="*/ 120657 h 243229"/>
                <a:gd name="connsiteX39" fmla="*/ 2556 w 210512"/>
                <a:gd name="connsiteY39" fmla="*/ 121296 h 243229"/>
                <a:gd name="connsiteX40" fmla="*/ 1278 w 210512"/>
                <a:gd name="connsiteY40" fmla="*/ 121934 h 243229"/>
                <a:gd name="connsiteX41" fmla="*/ 639 w 210512"/>
                <a:gd name="connsiteY41" fmla="*/ 123211 h 243229"/>
                <a:gd name="connsiteX42" fmla="*/ 0 w 210512"/>
                <a:gd name="connsiteY42" fmla="*/ 123849 h 243229"/>
                <a:gd name="connsiteX43" fmla="*/ 0 w 210512"/>
                <a:gd name="connsiteY43" fmla="*/ 125764 h 243229"/>
                <a:gd name="connsiteX44" fmla="*/ 0 w 210512"/>
                <a:gd name="connsiteY44" fmla="*/ 126403 h 243229"/>
                <a:gd name="connsiteX45" fmla="*/ 0 w 210512"/>
                <a:gd name="connsiteY45" fmla="*/ 127041 h 243229"/>
                <a:gd name="connsiteX46" fmla="*/ 0 w 210512"/>
                <a:gd name="connsiteY46" fmla="*/ 127041 h 243229"/>
                <a:gd name="connsiteX47" fmla="*/ 0 w 210512"/>
                <a:gd name="connsiteY47" fmla="*/ 142363 h 243229"/>
                <a:gd name="connsiteX48" fmla="*/ 6390 w 210512"/>
                <a:gd name="connsiteY48" fmla="*/ 148747 h 243229"/>
                <a:gd name="connsiteX49" fmla="*/ 12780 w 210512"/>
                <a:gd name="connsiteY49" fmla="*/ 142363 h 243229"/>
                <a:gd name="connsiteX50" fmla="*/ 12780 w 210512"/>
                <a:gd name="connsiteY50" fmla="*/ 133425 h 243229"/>
                <a:gd name="connsiteX51" fmla="*/ 38979 w 210512"/>
                <a:gd name="connsiteY51" fmla="*/ 133425 h 243229"/>
                <a:gd name="connsiteX52" fmla="*/ 38979 w 210512"/>
                <a:gd name="connsiteY52" fmla="*/ 142363 h 243229"/>
                <a:gd name="connsiteX53" fmla="*/ 45369 w 210512"/>
                <a:gd name="connsiteY53" fmla="*/ 148747 h 243229"/>
                <a:gd name="connsiteX54" fmla="*/ 51758 w 210512"/>
                <a:gd name="connsiteY54" fmla="*/ 142363 h 243229"/>
                <a:gd name="connsiteX55" fmla="*/ 51758 w 210512"/>
                <a:gd name="connsiteY55" fmla="*/ 133425 h 243229"/>
                <a:gd name="connsiteX56" fmla="*/ 72206 w 210512"/>
                <a:gd name="connsiteY56" fmla="*/ 133425 h 243229"/>
                <a:gd name="connsiteX57" fmla="*/ 51758 w 210512"/>
                <a:gd name="connsiteY57" fmla="*/ 230462 h 243229"/>
                <a:gd name="connsiteX58" fmla="*/ 35784 w 210512"/>
                <a:gd name="connsiteY58" fmla="*/ 230462 h 243229"/>
                <a:gd name="connsiteX59" fmla="*/ 29394 w 210512"/>
                <a:gd name="connsiteY59" fmla="*/ 236846 h 243229"/>
                <a:gd name="connsiteX60" fmla="*/ 35784 w 210512"/>
                <a:gd name="connsiteY60" fmla="*/ 243230 h 243229"/>
                <a:gd name="connsiteX61" fmla="*/ 173167 w 210512"/>
                <a:gd name="connsiteY61" fmla="*/ 243230 h 243229"/>
                <a:gd name="connsiteX62" fmla="*/ 179557 w 210512"/>
                <a:gd name="connsiteY62" fmla="*/ 236846 h 243229"/>
                <a:gd name="connsiteX63" fmla="*/ 173167 w 210512"/>
                <a:gd name="connsiteY63" fmla="*/ 230462 h 243229"/>
                <a:gd name="connsiteX64" fmla="*/ 157831 w 210512"/>
                <a:gd name="connsiteY64" fmla="*/ 230462 h 243229"/>
                <a:gd name="connsiteX65" fmla="*/ 138023 w 210512"/>
                <a:gd name="connsiteY65" fmla="*/ 135979 h 243229"/>
                <a:gd name="connsiteX66" fmla="*/ 138023 w 210512"/>
                <a:gd name="connsiteY66" fmla="*/ 134064 h 243229"/>
                <a:gd name="connsiteX67" fmla="*/ 159748 w 210512"/>
                <a:gd name="connsiteY67" fmla="*/ 134064 h 243229"/>
                <a:gd name="connsiteX68" fmla="*/ 159748 w 210512"/>
                <a:gd name="connsiteY68" fmla="*/ 143001 h 243229"/>
                <a:gd name="connsiteX69" fmla="*/ 166138 w 210512"/>
                <a:gd name="connsiteY69" fmla="*/ 149385 h 243229"/>
                <a:gd name="connsiteX70" fmla="*/ 172528 w 210512"/>
                <a:gd name="connsiteY70" fmla="*/ 143001 h 243229"/>
                <a:gd name="connsiteX71" fmla="*/ 172528 w 210512"/>
                <a:gd name="connsiteY71" fmla="*/ 134064 h 243229"/>
                <a:gd name="connsiteX72" fmla="*/ 197449 w 210512"/>
                <a:gd name="connsiteY72" fmla="*/ 134064 h 243229"/>
                <a:gd name="connsiteX73" fmla="*/ 197449 w 210512"/>
                <a:gd name="connsiteY73" fmla="*/ 143001 h 243229"/>
                <a:gd name="connsiteX74" fmla="*/ 203839 w 210512"/>
                <a:gd name="connsiteY74" fmla="*/ 149385 h 243229"/>
                <a:gd name="connsiteX75" fmla="*/ 210229 w 210512"/>
                <a:gd name="connsiteY75" fmla="*/ 143001 h 243229"/>
                <a:gd name="connsiteX76" fmla="*/ 210229 w 210512"/>
                <a:gd name="connsiteY76" fmla="*/ 127680 h 243229"/>
                <a:gd name="connsiteX77" fmla="*/ 210229 w 210512"/>
                <a:gd name="connsiteY77" fmla="*/ 126403 h 243229"/>
                <a:gd name="connsiteX78" fmla="*/ 210229 w 210512"/>
                <a:gd name="connsiteY78" fmla="*/ 125764 h 243229"/>
                <a:gd name="connsiteX79" fmla="*/ 176362 w 210512"/>
                <a:gd name="connsiteY79" fmla="*/ 121296 h 243229"/>
                <a:gd name="connsiteX80" fmla="*/ 135467 w 210512"/>
                <a:gd name="connsiteY80" fmla="*/ 121296 h 243229"/>
                <a:gd name="connsiteX81" fmla="*/ 130994 w 210512"/>
                <a:gd name="connsiteY81" fmla="*/ 98952 h 243229"/>
                <a:gd name="connsiteX82" fmla="*/ 176362 w 210512"/>
                <a:gd name="connsiteY82" fmla="*/ 121296 h 243229"/>
                <a:gd name="connsiteX83" fmla="*/ 118214 w 210512"/>
                <a:gd name="connsiteY83" fmla="*/ 121296 h 243229"/>
                <a:gd name="connsiteX84" fmla="*/ 94571 w 210512"/>
                <a:gd name="connsiteY84" fmla="*/ 121296 h 243229"/>
                <a:gd name="connsiteX85" fmla="*/ 106712 w 210512"/>
                <a:gd name="connsiteY85" fmla="*/ 109166 h 243229"/>
                <a:gd name="connsiteX86" fmla="*/ 118214 w 210512"/>
                <a:gd name="connsiteY86" fmla="*/ 121296 h 243229"/>
                <a:gd name="connsiteX87" fmla="*/ 115019 w 210512"/>
                <a:gd name="connsiteY87" fmla="*/ 100867 h 243229"/>
                <a:gd name="connsiteX88" fmla="*/ 117575 w 210512"/>
                <a:gd name="connsiteY88" fmla="*/ 98313 h 243229"/>
                <a:gd name="connsiteX89" fmla="*/ 118853 w 210512"/>
                <a:gd name="connsiteY89" fmla="*/ 105336 h 243229"/>
                <a:gd name="connsiteX90" fmla="*/ 115019 w 210512"/>
                <a:gd name="connsiteY90" fmla="*/ 100867 h 243229"/>
                <a:gd name="connsiteX91" fmla="*/ 91376 w 210512"/>
                <a:gd name="connsiteY91" fmla="*/ 106612 h 243229"/>
                <a:gd name="connsiteX92" fmla="*/ 93293 w 210512"/>
                <a:gd name="connsiteY92" fmla="*/ 97037 h 243229"/>
                <a:gd name="connsiteX93" fmla="*/ 97127 w 210512"/>
                <a:gd name="connsiteY93" fmla="*/ 100867 h 243229"/>
                <a:gd name="connsiteX94" fmla="*/ 91376 w 210512"/>
                <a:gd name="connsiteY94" fmla="*/ 106612 h 243229"/>
                <a:gd name="connsiteX95" fmla="*/ 82430 w 210512"/>
                <a:gd name="connsiteY95" fmla="*/ 148108 h 243229"/>
                <a:gd name="connsiteX96" fmla="*/ 97127 w 210512"/>
                <a:gd name="connsiteY96" fmla="*/ 162792 h 243229"/>
                <a:gd name="connsiteX97" fmla="*/ 74762 w 210512"/>
                <a:gd name="connsiteY97" fmla="*/ 185135 h 243229"/>
                <a:gd name="connsiteX98" fmla="*/ 82430 w 210512"/>
                <a:gd name="connsiteY98" fmla="*/ 148108 h 243229"/>
                <a:gd name="connsiteX99" fmla="*/ 87542 w 210512"/>
                <a:gd name="connsiteY99" fmla="*/ 134702 h 243229"/>
                <a:gd name="connsiteX100" fmla="*/ 125243 w 210512"/>
                <a:gd name="connsiteY100" fmla="*/ 134702 h 243229"/>
                <a:gd name="connsiteX101" fmla="*/ 106073 w 210512"/>
                <a:gd name="connsiteY101" fmla="*/ 153854 h 243229"/>
                <a:gd name="connsiteX102" fmla="*/ 87542 w 210512"/>
                <a:gd name="connsiteY102" fmla="*/ 134702 h 243229"/>
                <a:gd name="connsiteX103" fmla="*/ 128438 w 210512"/>
                <a:gd name="connsiteY103" fmla="*/ 149385 h 243229"/>
                <a:gd name="connsiteX104" fmla="*/ 135467 w 210512"/>
                <a:gd name="connsiteY104" fmla="*/ 183220 h 243229"/>
                <a:gd name="connsiteX105" fmla="*/ 115019 w 210512"/>
                <a:gd name="connsiteY105" fmla="*/ 162792 h 243229"/>
                <a:gd name="connsiteX106" fmla="*/ 128438 w 210512"/>
                <a:gd name="connsiteY106" fmla="*/ 149385 h 243229"/>
                <a:gd name="connsiteX107" fmla="*/ 151441 w 210512"/>
                <a:gd name="connsiteY107" fmla="*/ 64478 h 243229"/>
                <a:gd name="connsiteX108" fmla="*/ 123965 w 210512"/>
                <a:gd name="connsiteY108" fmla="*/ 64478 h 243229"/>
                <a:gd name="connsiteX109" fmla="*/ 120770 w 210512"/>
                <a:gd name="connsiteY109" fmla="*/ 49795 h 243229"/>
                <a:gd name="connsiteX110" fmla="*/ 151441 w 210512"/>
                <a:gd name="connsiteY110" fmla="*/ 64478 h 243229"/>
                <a:gd name="connsiteX111" fmla="*/ 105434 w 210512"/>
                <a:gd name="connsiteY111" fmla="*/ 38942 h 243229"/>
                <a:gd name="connsiteX112" fmla="*/ 110546 w 210512"/>
                <a:gd name="connsiteY112" fmla="*/ 64478 h 243229"/>
                <a:gd name="connsiteX113" fmla="*/ 99683 w 210512"/>
                <a:gd name="connsiteY113" fmla="*/ 64478 h 243229"/>
                <a:gd name="connsiteX114" fmla="*/ 105434 w 210512"/>
                <a:gd name="connsiteY114" fmla="*/ 38942 h 243229"/>
                <a:gd name="connsiteX115" fmla="*/ 59426 w 210512"/>
                <a:gd name="connsiteY115" fmla="*/ 64478 h 243229"/>
                <a:gd name="connsiteX116" fmla="*/ 90098 w 210512"/>
                <a:gd name="connsiteY116" fmla="*/ 49157 h 243229"/>
                <a:gd name="connsiteX117" fmla="*/ 86903 w 210512"/>
                <a:gd name="connsiteY117" fmla="*/ 64478 h 243229"/>
                <a:gd name="connsiteX118" fmla="*/ 59426 w 210512"/>
                <a:gd name="connsiteY118" fmla="*/ 64478 h 243229"/>
                <a:gd name="connsiteX119" fmla="*/ 113102 w 210512"/>
                <a:gd name="connsiteY119" fmla="*/ 77246 h 243229"/>
                <a:gd name="connsiteX120" fmla="*/ 114380 w 210512"/>
                <a:gd name="connsiteY120" fmla="*/ 82992 h 243229"/>
                <a:gd name="connsiteX121" fmla="*/ 106073 w 210512"/>
                <a:gd name="connsiteY121" fmla="*/ 91291 h 243229"/>
                <a:gd name="connsiteX122" fmla="*/ 96488 w 210512"/>
                <a:gd name="connsiteY122" fmla="*/ 81077 h 243229"/>
                <a:gd name="connsiteX123" fmla="*/ 97766 w 210512"/>
                <a:gd name="connsiteY123" fmla="*/ 76608 h 243229"/>
                <a:gd name="connsiteX124" fmla="*/ 113102 w 210512"/>
                <a:gd name="connsiteY124" fmla="*/ 77246 h 243229"/>
                <a:gd name="connsiteX125" fmla="*/ 34506 w 210512"/>
                <a:gd name="connsiteY125" fmla="*/ 121934 h 243229"/>
                <a:gd name="connsiteX126" fmla="*/ 79874 w 210512"/>
                <a:gd name="connsiteY126" fmla="*/ 99590 h 243229"/>
                <a:gd name="connsiteX127" fmla="*/ 75401 w 210512"/>
                <a:gd name="connsiteY127" fmla="*/ 121934 h 243229"/>
                <a:gd name="connsiteX128" fmla="*/ 34506 w 210512"/>
                <a:gd name="connsiteY128" fmla="*/ 121934 h 243229"/>
                <a:gd name="connsiteX129" fmla="*/ 132911 w 210512"/>
                <a:gd name="connsiteY129" fmla="*/ 231100 h 243229"/>
                <a:gd name="connsiteX130" fmla="*/ 65177 w 210512"/>
                <a:gd name="connsiteY130" fmla="*/ 231100 h 243229"/>
                <a:gd name="connsiteX131" fmla="*/ 70289 w 210512"/>
                <a:gd name="connsiteY131" fmla="*/ 208118 h 243229"/>
                <a:gd name="connsiteX132" fmla="*/ 106712 w 210512"/>
                <a:gd name="connsiteY132" fmla="*/ 171729 h 243229"/>
                <a:gd name="connsiteX133" fmla="*/ 140579 w 210512"/>
                <a:gd name="connsiteY133" fmla="*/ 206203 h 243229"/>
                <a:gd name="connsiteX134" fmla="*/ 145691 w 210512"/>
                <a:gd name="connsiteY134" fmla="*/ 231739 h 243229"/>
                <a:gd name="connsiteX135" fmla="*/ 132911 w 210512"/>
                <a:gd name="connsiteY135" fmla="*/ 231100 h 243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10512" h="243229">
                  <a:moveTo>
                    <a:pt x="210229" y="125764"/>
                  </a:moveTo>
                  <a:cubicBezTo>
                    <a:pt x="210229" y="125126"/>
                    <a:pt x="209590" y="125126"/>
                    <a:pt x="209590" y="124488"/>
                  </a:cubicBezTo>
                  <a:cubicBezTo>
                    <a:pt x="208951" y="123849"/>
                    <a:pt x="208312" y="123211"/>
                    <a:pt x="207673" y="122572"/>
                  </a:cubicBezTo>
                  <a:cubicBezTo>
                    <a:pt x="207673" y="122572"/>
                    <a:pt x="207034" y="121934"/>
                    <a:pt x="207034" y="121934"/>
                  </a:cubicBezTo>
                  <a:lnTo>
                    <a:pt x="127799" y="82992"/>
                  </a:lnTo>
                  <a:lnTo>
                    <a:pt x="126521" y="76608"/>
                  </a:lnTo>
                  <a:lnTo>
                    <a:pt x="172528" y="76608"/>
                  </a:lnTo>
                  <a:lnTo>
                    <a:pt x="172528" y="81715"/>
                  </a:lnTo>
                  <a:cubicBezTo>
                    <a:pt x="172528" y="85545"/>
                    <a:pt x="175084" y="88099"/>
                    <a:pt x="178918" y="88099"/>
                  </a:cubicBezTo>
                  <a:cubicBezTo>
                    <a:pt x="182752" y="88099"/>
                    <a:pt x="185308" y="85545"/>
                    <a:pt x="185308" y="81715"/>
                  </a:cubicBezTo>
                  <a:lnTo>
                    <a:pt x="185308" y="70224"/>
                  </a:lnTo>
                  <a:cubicBezTo>
                    <a:pt x="185308" y="69585"/>
                    <a:pt x="185308" y="69585"/>
                    <a:pt x="185308" y="68947"/>
                  </a:cubicBezTo>
                  <a:cubicBezTo>
                    <a:pt x="185308" y="68309"/>
                    <a:pt x="185308" y="68309"/>
                    <a:pt x="185308" y="67670"/>
                  </a:cubicBezTo>
                  <a:cubicBezTo>
                    <a:pt x="185308" y="67032"/>
                    <a:pt x="184669" y="67032"/>
                    <a:pt x="184669" y="66393"/>
                  </a:cubicBezTo>
                  <a:cubicBezTo>
                    <a:pt x="184669" y="66393"/>
                    <a:pt x="184030" y="65755"/>
                    <a:pt x="184030" y="65755"/>
                  </a:cubicBezTo>
                  <a:cubicBezTo>
                    <a:pt x="183391" y="65117"/>
                    <a:pt x="183391" y="65117"/>
                    <a:pt x="182752" y="64478"/>
                  </a:cubicBezTo>
                  <a:cubicBezTo>
                    <a:pt x="182752" y="64478"/>
                    <a:pt x="182752" y="64478"/>
                    <a:pt x="182113" y="63840"/>
                  </a:cubicBezTo>
                  <a:lnTo>
                    <a:pt x="182113" y="63840"/>
                  </a:lnTo>
                  <a:lnTo>
                    <a:pt x="182113" y="63840"/>
                  </a:lnTo>
                  <a:lnTo>
                    <a:pt x="118214" y="32558"/>
                  </a:lnTo>
                  <a:lnTo>
                    <a:pt x="113102" y="6384"/>
                  </a:lnTo>
                  <a:cubicBezTo>
                    <a:pt x="113102" y="2554"/>
                    <a:pt x="110546" y="0"/>
                    <a:pt x="106712" y="0"/>
                  </a:cubicBezTo>
                  <a:cubicBezTo>
                    <a:pt x="106073" y="0"/>
                    <a:pt x="105434" y="0"/>
                    <a:pt x="104795" y="0"/>
                  </a:cubicBezTo>
                  <a:cubicBezTo>
                    <a:pt x="102239" y="638"/>
                    <a:pt x="100322" y="2554"/>
                    <a:pt x="99683" y="5746"/>
                  </a:cubicBezTo>
                  <a:lnTo>
                    <a:pt x="93932" y="32558"/>
                  </a:lnTo>
                  <a:lnTo>
                    <a:pt x="29394" y="63840"/>
                  </a:lnTo>
                  <a:cubicBezTo>
                    <a:pt x="29394" y="63840"/>
                    <a:pt x="28755" y="64478"/>
                    <a:pt x="28755" y="64478"/>
                  </a:cubicBezTo>
                  <a:cubicBezTo>
                    <a:pt x="28116" y="64478"/>
                    <a:pt x="28116" y="65117"/>
                    <a:pt x="27477" y="65117"/>
                  </a:cubicBezTo>
                  <a:cubicBezTo>
                    <a:pt x="27477" y="65755"/>
                    <a:pt x="26838" y="65755"/>
                    <a:pt x="26838" y="66393"/>
                  </a:cubicBezTo>
                  <a:cubicBezTo>
                    <a:pt x="26838" y="66393"/>
                    <a:pt x="26199" y="67032"/>
                    <a:pt x="26199" y="67032"/>
                  </a:cubicBezTo>
                  <a:cubicBezTo>
                    <a:pt x="26199" y="67670"/>
                    <a:pt x="26199" y="68309"/>
                    <a:pt x="26199" y="68309"/>
                  </a:cubicBezTo>
                  <a:cubicBezTo>
                    <a:pt x="26199" y="68309"/>
                    <a:pt x="26199" y="68947"/>
                    <a:pt x="26199" y="68947"/>
                  </a:cubicBezTo>
                  <a:lnTo>
                    <a:pt x="26199" y="80438"/>
                  </a:lnTo>
                  <a:cubicBezTo>
                    <a:pt x="26199" y="84269"/>
                    <a:pt x="28755" y="86822"/>
                    <a:pt x="32589" y="86822"/>
                  </a:cubicBezTo>
                  <a:cubicBezTo>
                    <a:pt x="36423" y="86822"/>
                    <a:pt x="38979" y="84269"/>
                    <a:pt x="38979" y="80438"/>
                  </a:cubicBezTo>
                  <a:lnTo>
                    <a:pt x="38979" y="75331"/>
                  </a:lnTo>
                  <a:lnTo>
                    <a:pt x="83708" y="75331"/>
                  </a:lnTo>
                  <a:lnTo>
                    <a:pt x="82430" y="81715"/>
                  </a:lnTo>
                  <a:lnTo>
                    <a:pt x="3195" y="120657"/>
                  </a:lnTo>
                  <a:cubicBezTo>
                    <a:pt x="3195" y="120657"/>
                    <a:pt x="2556" y="121296"/>
                    <a:pt x="2556" y="121296"/>
                  </a:cubicBezTo>
                  <a:cubicBezTo>
                    <a:pt x="1917" y="121296"/>
                    <a:pt x="1917" y="121934"/>
                    <a:pt x="1278" y="121934"/>
                  </a:cubicBezTo>
                  <a:cubicBezTo>
                    <a:pt x="1278" y="122572"/>
                    <a:pt x="639" y="122572"/>
                    <a:pt x="639" y="123211"/>
                  </a:cubicBezTo>
                  <a:cubicBezTo>
                    <a:pt x="639" y="123211"/>
                    <a:pt x="0" y="123849"/>
                    <a:pt x="0" y="123849"/>
                  </a:cubicBezTo>
                  <a:cubicBezTo>
                    <a:pt x="0" y="124488"/>
                    <a:pt x="0" y="125126"/>
                    <a:pt x="0" y="125764"/>
                  </a:cubicBezTo>
                  <a:cubicBezTo>
                    <a:pt x="0" y="125764"/>
                    <a:pt x="0" y="126403"/>
                    <a:pt x="0" y="126403"/>
                  </a:cubicBezTo>
                  <a:lnTo>
                    <a:pt x="0" y="127041"/>
                  </a:lnTo>
                  <a:lnTo>
                    <a:pt x="0" y="127041"/>
                  </a:lnTo>
                  <a:lnTo>
                    <a:pt x="0" y="142363"/>
                  </a:lnTo>
                  <a:cubicBezTo>
                    <a:pt x="0" y="146193"/>
                    <a:pt x="2556" y="148747"/>
                    <a:pt x="6390" y="148747"/>
                  </a:cubicBezTo>
                  <a:cubicBezTo>
                    <a:pt x="10224" y="148747"/>
                    <a:pt x="12780" y="146193"/>
                    <a:pt x="12780" y="142363"/>
                  </a:cubicBezTo>
                  <a:lnTo>
                    <a:pt x="12780" y="133425"/>
                  </a:lnTo>
                  <a:lnTo>
                    <a:pt x="38979" y="133425"/>
                  </a:lnTo>
                  <a:lnTo>
                    <a:pt x="38979" y="142363"/>
                  </a:lnTo>
                  <a:cubicBezTo>
                    <a:pt x="38979" y="146193"/>
                    <a:pt x="41535" y="148747"/>
                    <a:pt x="45369" y="148747"/>
                  </a:cubicBezTo>
                  <a:cubicBezTo>
                    <a:pt x="49202" y="148747"/>
                    <a:pt x="51758" y="146193"/>
                    <a:pt x="51758" y="142363"/>
                  </a:cubicBezTo>
                  <a:lnTo>
                    <a:pt x="51758" y="133425"/>
                  </a:lnTo>
                  <a:lnTo>
                    <a:pt x="72206" y="133425"/>
                  </a:lnTo>
                  <a:lnTo>
                    <a:pt x="51758" y="230462"/>
                  </a:lnTo>
                  <a:lnTo>
                    <a:pt x="35784" y="230462"/>
                  </a:lnTo>
                  <a:cubicBezTo>
                    <a:pt x="31950" y="230462"/>
                    <a:pt x="29394" y="233015"/>
                    <a:pt x="29394" y="236846"/>
                  </a:cubicBezTo>
                  <a:cubicBezTo>
                    <a:pt x="29394" y="240676"/>
                    <a:pt x="31950" y="243230"/>
                    <a:pt x="35784" y="243230"/>
                  </a:cubicBezTo>
                  <a:lnTo>
                    <a:pt x="173167" y="243230"/>
                  </a:lnTo>
                  <a:cubicBezTo>
                    <a:pt x="177001" y="243230"/>
                    <a:pt x="179557" y="240676"/>
                    <a:pt x="179557" y="236846"/>
                  </a:cubicBezTo>
                  <a:cubicBezTo>
                    <a:pt x="179557" y="233015"/>
                    <a:pt x="177001" y="230462"/>
                    <a:pt x="173167" y="230462"/>
                  </a:cubicBezTo>
                  <a:lnTo>
                    <a:pt x="157831" y="230462"/>
                  </a:lnTo>
                  <a:lnTo>
                    <a:pt x="138023" y="135979"/>
                  </a:lnTo>
                  <a:cubicBezTo>
                    <a:pt x="138023" y="135340"/>
                    <a:pt x="138023" y="134702"/>
                    <a:pt x="138023" y="134064"/>
                  </a:cubicBezTo>
                  <a:lnTo>
                    <a:pt x="159748" y="134064"/>
                  </a:lnTo>
                  <a:lnTo>
                    <a:pt x="159748" y="143001"/>
                  </a:lnTo>
                  <a:cubicBezTo>
                    <a:pt x="159748" y="146832"/>
                    <a:pt x="162304" y="149385"/>
                    <a:pt x="166138" y="149385"/>
                  </a:cubicBezTo>
                  <a:cubicBezTo>
                    <a:pt x="169972" y="149385"/>
                    <a:pt x="172528" y="146832"/>
                    <a:pt x="172528" y="143001"/>
                  </a:cubicBezTo>
                  <a:lnTo>
                    <a:pt x="172528" y="134064"/>
                  </a:lnTo>
                  <a:lnTo>
                    <a:pt x="197449" y="134064"/>
                  </a:lnTo>
                  <a:lnTo>
                    <a:pt x="197449" y="143001"/>
                  </a:lnTo>
                  <a:cubicBezTo>
                    <a:pt x="197449" y="146832"/>
                    <a:pt x="200005" y="149385"/>
                    <a:pt x="203839" y="149385"/>
                  </a:cubicBezTo>
                  <a:cubicBezTo>
                    <a:pt x="207673" y="149385"/>
                    <a:pt x="210229" y="146832"/>
                    <a:pt x="210229" y="143001"/>
                  </a:cubicBezTo>
                  <a:lnTo>
                    <a:pt x="210229" y="127680"/>
                  </a:lnTo>
                  <a:cubicBezTo>
                    <a:pt x="210229" y="127041"/>
                    <a:pt x="210229" y="127041"/>
                    <a:pt x="210229" y="126403"/>
                  </a:cubicBezTo>
                  <a:cubicBezTo>
                    <a:pt x="210868" y="126403"/>
                    <a:pt x="210229" y="126403"/>
                    <a:pt x="210229" y="125764"/>
                  </a:cubicBezTo>
                  <a:close/>
                  <a:moveTo>
                    <a:pt x="176362" y="121296"/>
                  </a:moveTo>
                  <a:lnTo>
                    <a:pt x="135467" y="121296"/>
                  </a:lnTo>
                  <a:lnTo>
                    <a:pt x="130994" y="98952"/>
                  </a:lnTo>
                  <a:lnTo>
                    <a:pt x="176362" y="121296"/>
                  </a:lnTo>
                  <a:close/>
                  <a:moveTo>
                    <a:pt x="118214" y="121296"/>
                  </a:moveTo>
                  <a:lnTo>
                    <a:pt x="94571" y="121296"/>
                  </a:lnTo>
                  <a:lnTo>
                    <a:pt x="106712" y="109166"/>
                  </a:lnTo>
                  <a:lnTo>
                    <a:pt x="118214" y="121296"/>
                  </a:lnTo>
                  <a:close/>
                  <a:moveTo>
                    <a:pt x="115019" y="100867"/>
                  </a:moveTo>
                  <a:lnTo>
                    <a:pt x="117575" y="98313"/>
                  </a:lnTo>
                  <a:lnTo>
                    <a:pt x="118853" y="105336"/>
                  </a:lnTo>
                  <a:lnTo>
                    <a:pt x="115019" y="100867"/>
                  </a:lnTo>
                  <a:close/>
                  <a:moveTo>
                    <a:pt x="91376" y="106612"/>
                  </a:moveTo>
                  <a:lnTo>
                    <a:pt x="93293" y="97037"/>
                  </a:lnTo>
                  <a:lnTo>
                    <a:pt x="97127" y="100867"/>
                  </a:lnTo>
                  <a:lnTo>
                    <a:pt x="91376" y="106612"/>
                  </a:lnTo>
                  <a:close/>
                  <a:moveTo>
                    <a:pt x="82430" y="148108"/>
                  </a:moveTo>
                  <a:lnTo>
                    <a:pt x="97127" y="162792"/>
                  </a:lnTo>
                  <a:lnTo>
                    <a:pt x="74762" y="185135"/>
                  </a:lnTo>
                  <a:lnTo>
                    <a:pt x="82430" y="148108"/>
                  </a:lnTo>
                  <a:close/>
                  <a:moveTo>
                    <a:pt x="87542" y="134702"/>
                  </a:moveTo>
                  <a:lnTo>
                    <a:pt x="125243" y="134702"/>
                  </a:lnTo>
                  <a:lnTo>
                    <a:pt x="106073" y="153854"/>
                  </a:lnTo>
                  <a:lnTo>
                    <a:pt x="87542" y="134702"/>
                  </a:lnTo>
                  <a:close/>
                  <a:moveTo>
                    <a:pt x="128438" y="149385"/>
                  </a:moveTo>
                  <a:lnTo>
                    <a:pt x="135467" y="183220"/>
                  </a:lnTo>
                  <a:lnTo>
                    <a:pt x="115019" y="162792"/>
                  </a:lnTo>
                  <a:lnTo>
                    <a:pt x="128438" y="149385"/>
                  </a:lnTo>
                  <a:close/>
                  <a:moveTo>
                    <a:pt x="151441" y="64478"/>
                  </a:moveTo>
                  <a:lnTo>
                    <a:pt x="123965" y="64478"/>
                  </a:lnTo>
                  <a:lnTo>
                    <a:pt x="120770" y="49795"/>
                  </a:lnTo>
                  <a:lnTo>
                    <a:pt x="151441" y="64478"/>
                  </a:lnTo>
                  <a:close/>
                  <a:moveTo>
                    <a:pt x="105434" y="38942"/>
                  </a:moveTo>
                  <a:lnTo>
                    <a:pt x="110546" y="64478"/>
                  </a:lnTo>
                  <a:lnTo>
                    <a:pt x="99683" y="64478"/>
                  </a:lnTo>
                  <a:lnTo>
                    <a:pt x="105434" y="38942"/>
                  </a:lnTo>
                  <a:close/>
                  <a:moveTo>
                    <a:pt x="59426" y="64478"/>
                  </a:moveTo>
                  <a:lnTo>
                    <a:pt x="90098" y="49157"/>
                  </a:lnTo>
                  <a:lnTo>
                    <a:pt x="86903" y="64478"/>
                  </a:lnTo>
                  <a:lnTo>
                    <a:pt x="59426" y="64478"/>
                  </a:lnTo>
                  <a:close/>
                  <a:moveTo>
                    <a:pt x="113102" y="77246"/>
                  </a:moveTo>
                  <a:lnTo>
                    <a:pt x="114380" y="82992"/>
                  </a:lnTo>
                  <a:lnTo>
                    <a:pt x="106073" y="91291"/>
                  </a:lnTo>
                  <a:lnTo>
                    <a:pt x="96488" y="81077"/>
                  </a:lnTo>
                  <a:lnTo>
                    <a:pt x="97766" y="76608"/>
                  </a:lnTo>
                  <a:lnTo>
                    <a:pt x="113102" y="77246"/>
                  </a:lnTo>
                  <a:close/>
                  <a:moveTo>
                    <a:pt x="34506" y="121934"/>
                  </a:moveTo>
                  <a:lnTo>
                    <a:pt x="79874" y="99590"/>
                  </a:lnTo>
                  <a:lnTo>
                    <a:pt x="75401" y="121934"/>
                  </a:lnTo>
                  <a:lnTo>
                    <a:pt x="34506" y="121934"/>
                  </a:lnTo>
                  <a:close/>
                  <a:moveTo>
                    <a:pt x="132911" y="231100"/>
                  </a:moveTo>
                  <a:lnTo>
                    <a:pt x="65177" y="231100"/>
                  </a:lnTo>
                  <a:lnTo>
                    <a:pt x="70289" y="208118"/>
                  </a:lnTo>
                  <a:lnTo>
                    <a:pt x="106712" y="171729"/>
                  </a:lnTo>
                  <a:lnTo>
                    <a:pt x="140579" y="206203"/>
                  </a:lnTo>
                  <a:lnTo>
                    <a:pt x="145691" y="231739"/>
                  </a:lnTo>
                  <a:lnTo>
                    <a:pt x="132911" y="231100"/>
                  </a:lnTo>
                  <a:close/>
                </a:path>
              </a:pathLst>
            </a:custGeom>
            <a:solidFill>
              <a:srgbClr val="26890D"/>
            </a:solidFill>
            <a:ln w="6390" cap="flat">
              <a:noFill/>
              <a:prstDash val="solid"/>
              <a:miter/>
            </a:ln>
          </p:spPr>
          <p:txBody>
            <a:bodyPr rtlCol="0" anchor="ctr"/>
            <a:lstStyle/>
            <a:p>
              <a:endParaRPr lang="en-US" dirty="0"/>
            </a:p>
          </p:txBody>
        </p:sp>
      </p:grpSp>
      <p:sp>
        <p:nvSpPr>
          <p:cNvPr id="83" name="TextBox 82">
            <a:extLst>
              <a:ext uri="{FF2B5EF4-FFF2-40B4-BE49-F238E27FC236}">
                <a16:creationId xmlns:a16="http://schemas.microsoft.com/office/drawing/2014/main" id="{3F99226B-9FDC-FDF0-9F01-2BD78EB8D091}"/>
              </a:ext>
            </a:extLst>
          </p:cNvPr>
          <p:cNvSpPr txBox="1"/>
          <p:nvPr/>
        </p:nvSpPr>
        <p:spPr>
          <a:xfrm>
            <a:off x="7687762" y="2967826"/>
            <a:ext cx="2936174" cy="253916"/>
          </a:xfrm>
          <a:prstGeom prst="rect">
            <a:avLst/>
          </a:prstGeom>
          <a:noFill/>
        </p:spPr>
        <p:txBody>
          <a:bodyPr wrap="square">
            <a:spAutoFit/>
          </a:bodyPr>
          <a:lstStyle/>
          <a:p>
            <a:r>
              <a:rPr lang="en-US" altLang="zh-CN" sz="1050" dirty="0">
                <a:ea typeface="Verdana" panose="020B0604030504040204" pitchFamily="34" charset="0"/>
                <a:cs typeface="Verdana" panose="020B0604030504040204" pitchFamily="34" charset="0"/>
              </a:rPr>
              <a:t>* Differential Global Positioning System</a:t>
            </a:r>
            <a:endParaRPr lang="en-US" sz="1050" dirty="0"/>
          </a:p>
        </p:txBody>
      </p:sp>
      <p:sp>
        <p:nvSpPr>
          <p:cNvPr id="36" name="Rectangle: Rounded Corners 35">
            <a:extLst>
              <a:ext uri="{FF2B5EF4-FFF2-40B4-BE49-F238E27FC236}">
                <a16:creationId xmlns:a16="http://schemas.microsoft.com/office/drawing/2014/main" id="{C6D56590-C803-EB23-3456-F05E5862B57F}"/>
              </a:ext>
            </a:extLst>
          </p:cNvPr>
          <p:cNvSpPr/>
          <p:nvPr/>
        </p:nvSpPr>
        <p:spPr bwMode="gray">
          <a:xfrm>
            <a:off x="895802" y="5616594"/>
            <a:ext cx="10759299" cy="848766"/>
          </a:xfrm>
          <a:prstGeom prst="round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t"/>
          <a:lstStyle/>
          <a:p>
            <a:pPr algn="just">
              <a:lnSpc>
                <a:spcPct val="106000"/>
              </a:lnSpc>
              <a:spcAft>
                <a:spcPts val="400"/>
              </a:spcAft>
            </a:pPr>
            <a:r>
              <a:rPr lang="en-US" sz="1200" dirty="0"/>
              <a:t>The use of GIS can help various other processes like SCADA, Distribution Management System, Outage Management System, Network Planning, Energy Auditing, Field Force Automation, Asset Management, Customer Relationship Management, vehicle tracking etc. to derive various business benefits</a:t>
            </a:r>
          </a:p>
        </p:txBody>
      </p:sp>
      <p:pic>
        <p:nvPicPr>
          <p:cNvPr id="37" name="Graphic 36" descr="Right pointing backhand index with solid fill">
            <a:extLst>
              <a:ext uri="{FF2B5EF4-FFF2-40B4-BE49-F238E27FC236}">
                <a16:creationId xmlns:a16="http://schemas.microsoft.com/office/drawing/2014/main" id="{FCB0050B-5A8E-09C3-5640-ED460FB3C6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5500" y="5595153"/>
            <a:ext cx="461050" cy="461050"/>
          </a:xfrm>
          <a:prstGeom prst="rect">
            <a:avLst/>
          </a:prstGeom>
        </p:spPr>
      </p:pic>
    </p:spTree>
    <p:extLst>
      <p:ext uri="{BB962C8B-B14F-4D97-AF65-F5344CB8AC3E}">
        <p14:creationId xmlns:p14="http://schemas.microsoft.com/office/powerpoint/2010/main" val="3812167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DADF-8E55-A6E4-7C88-076630D5046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3B6C2DB-2252-DE6E-AAD9-986D516F91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3FB9F520-381D-25C5-43DD-BD615882AC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47913EA3-8892-2FAE-F45E-0845B139138C}"/>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Major types of GIS technologies that can be adopted are provided based on multiple parameters</a:t>
            </a:r>
          </a:p>
        </p:txBody>
      </p:sp>
      <p:sp>
        <p:nvSpPr>
          <p:cNvPr id="6" name="Title 2">
            <a:extLst>
              <a:ext uri="{FF2B5EF4-FFF2-40B4-BE49-F238E27FC236}">
                <a16:creationId xmlns:a16="http://schemas.microsoft.com/office/drawing/2014/main" id="{3E82FBD0-A4C4-F001-7110-963A007CCB6C}"/>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Types of GIS Technologies adopted by Power Sector Utilities</a:t>
            </a:r>
          </a:p>
        </p:txBody>
      </p:sp>
      <p:cxnSp>
        <p:nvCxnSpPr>
          <p:cNvPr id="92" name="Straight Connector 91">
            <a:extLst>
              <a:ext uri="{FF2B5EF4-FFF2-40B4-BE49-F238E27FC236}">
                <a16:creationId xmlns:a16="http://schemas.microsoft.com/office/drawing/2014/main" id="{CF6861F9-997C-FF85-1C22-415320697D06}"/>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4" name="Rounded Rectangle 56">
            <a:extLst>
              <a:ext uri="{FF2B5EF4-FFF2-40B4-BE49-F238E27FC236}">
                <a16:creationId xmlns:a16="http://schemas.microsoft.com/office/drawing/2014/main" id="{53997CF6-7941-B807-1752-B35830DA9F18}"/>
              </a:ext>
            </a:extLst>
          </p:cNvPr>
          <p:cNvSpPr/>
          <p:nvPr/>
        </p:nvSpPr>
        <p:spPr bwMode="gray">
          <a:xfrm>
            <a:off x="424178" y="1088289"/>
            <a:ext cx="3455044" cy="334012"/>
          </a:xfrm>
          <a:prstGeom prst="roundRect">
            <a:avLst/>
          </a:prstGeom>
          <a:solidFill>
            <a:sysClr val="windowText" lastClr="000000">
              <a:lumMod val="85000"/>
              <a:lumOff val="15000"/>
            </a:sysClr>
          </a:solidFill>
          <a:ln w="12700" algn="ctr">
            <a:solidFill>
              <a:srgbClr val="86BC25">
                <a:lumMod val="75000"/>
              </a:srgbClr>
            </a:solidFill>
            <a:miter lim="800000"/>
            <a:headEnd/>
            <a:tailEnd/>
          </a:ln>
        </p:spPr>
        <p:txBody>
          <a:bodyPr wrap="square" lIns="34290" tIns="60485" rIns="34290" bIns="60485" rtlCol="0" anchor="ctr"/>
          <a:lstStyle/>
          <a:p>
            <a:pPr lvl="0" algn="ctr" defTabSz="535802">
              <a:lnSpc>
                <a:spcPts val="1300"/>
              </a:lnSpc>
            </a:pPr>
            <a:r>
              <a:rPr lang="en-US" sz="1200" b="1" kern="0" dirty="0">
                <a:solidFill>
                  <a:prstClr val="white"/>
                </a:solidFill>
              </a:rPr>
              <a:t>ESRI ArcGIS</a:t>
            </a:r>
          </a:p>
        </p:txBody>
      </p:sp>
      <p:grpSp>
        <p:nvGrpSpPr>
          <p:cNvPr id="88" name="Group 4">
            <a:extLst>
              <a:ext uri="{FF2B5EF4-FFF2-40B4-BE49-F238E27FC236}">
                <a16:creationId xmlns:a16="http://schemas.microsoft.com/office/drawing/2014/main" id="{BA908D00-B732-B961-42D6-A60FCF55C19C}"/>
              </a:ext>
            </a:extLst>
          </p:cNvPr>
          <p:cNvGrpSpPr>
            <a:grpSpLocks noChangeAspect="1"/>
          </p:cNvGrpSpPr>
          <p:nvPr/>
        </p:nvGrpSpPr>
        <p:grpSpPr bwMode="auto">
          <a:xfrm>
            <a:off x="6137286" y="1937953"/>
            <a:ext cx="1596721" cy="3899712"/>
            <a:chOff x="3899" y="1111"/>
            <a:chExt cx="1049" cy="2562"/>
          </a:xfrm>
        </p:grpSpPr>
        <p:sp>
          <p:nvSpPr>
            <p:cNvPr id="89" name="Freeform 5">
              <a:extLst>
                <a:ext uri="{FF2B5EF4-FFF2-40B4-BE49-F238E27FC236}">
                  <a16:creationId xmlns:a16="http://schemas.microsoft.com/office/drawing/2014/main" id="{F181674D-F451-BF08-14BE-345BB6A4C33B}"/>
                </a:ext>
              </a:extLst>
            </p:cNvPr>
            <p:cNvSpPr>
              <a:spLocks/>
            </p:cNvSpPr>
            <p:nvPr/>
          </p:nvSpPr>
          <p:spPr bwMode="auto">
            <a:xfrm>
              <a:off x="3955" y="1111"/>
              <a:ext cx="556" cy="1346"/>
            </a:xfrm>
            <a:custGeom>
              <a:avLst/>
              <a:gdLst>
                <a:gd name="T0" fmla="*/ 303 w 556"/>
                <a:gd name="T1" fmla="*/ 503 h 1346"/>
                <a:gd name="T2" fmla="*/ 303 w 556"/>
                <a:gd name="T3" fmla="*/ 340 h 1346"/>
                <a:gd name="T4" fmla="*/ 197 w 556"/>
                <a:gd name="T5" fmla="*/ 231 h 1346"/>
                <a:gd name="T6" fmla="*/ 71 w 556"/>
                <a:gd name="T7" fmla="*/ 231 h 1346"/>
                <a:gd name="T8" fmla="*/ 0 w 556"/>
                <a:gd name="T9" fmla="*/ 156 h 1346"/>
                <a:gd name="T10" fmla="*/ 0 w 556"/>
                <a:gd name="T11" fmla="*/ 75 h 1346"/>
                <a:gd name="T12" fmla="*/ 71 w 556"/>
                <a:gd name="T13" fmla="*/ 0 h 1346"/>
                <a:gd name="T14" fmla="*/ 254 w 556"/>
                <a:gd name="T15" fmla="*/ 0 h 1346"/>
                <a:gd name="T16" fmla="*/ 451 w 556"/>
                <a:gd name="T17" fmla="*/ 204 h 1346"/>
                <a:gd name="T18" fmla="*/ 451 w 556"/>
                <a:gd name="T19" fmla="*/ 523 h 1346"/>
                <a:gd name="T20" fmla="*/ 359 w 556"/>
                <a:gd name="T21" fmla="*/ 618 h 1346"/>
                <a:gd name="T22" fmla="*/ 556 w 556"/>
                <a:gd name="T23" fmla="*/ 822 h 1346"/>
                <a:gd name="T24" fmla="*/ 423 w 556"/>
                <a:gd name="T25" fmla="*/ 958 h 1346"/>
                <a:gd name="T26" fmla="*/ 423 w 556"/>
                <a:gd name="T27" fmla="*/ 1250 h 1346"/>
                <a:gd name="T28" fmla="*/ 331 w 556"/>
                <a:gd name="T29" fmla="*/ 1346 h 1346"/>
                <a:gd name="T30" fmla="*/ 169 w 556"/>
                <a:gd name="T31" fmla="*/ 1346 h 1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6" h="1346">
                  <a:moveTo>
                    <a:pt x="303" y="503"/>
                  </a:moveTo>
                  <a:lnTo>
                    <a:pt x="303" y="340"/>
                  </a:lnTo>
                  <a:lnTo>
                    <a:pt x="197" y="231"/>
                  </a:lnTo>
                  <a:lnTo>
                    <a:pt x="71" y="231"/>
                  </a:lnTo>
                  <a:lnTo>
                    <a:pt x="0" y="156"/>
                  </a:lnTo>
                  <a:lnTo>
                    <a:pt x="0" y="75"/>
                  </a:lnTo>
                  <a:lnTo>
                    <a:pt x="71" y="0"/>
                  </a:lnTo>
                  <a:lnTo>
                    <a:pt x="254" y="0"/>
                  </a:lnTo>
                  <a:lnTo>
                    <a:pt x="451" y="204"/>
                  </a:lnTo>
                  <a:lnTo>
                    <a:pt x="451" y="523"/>
                  </a:lnTo>
                  <a:lnTo>
                    <a:pt x="359" y="618"/>
                  </a:lnTo>
                  <a:lnTo>
                    <a:pt x="556" y="822"/>
                  </a:lnTo>
                  <a:lnTo>
                    <a:pt x="423" y="958"/>
                  </a:lnTo>
                  <a:lnTo>
                    <a:pt x="423" y="1250"/>
                  </a:lnTo>
                  <a:lnTo>
                    <a:pt x="331" y="1346"/>
                  </a:lnTo>
                  <a:lnTo>
                    <a:pt x="169" y="1346"/>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0" name="Line 6">
              <a:extLst>
                <a:ext uri="{FF2B5EF4-FFF2-40B4-BE49-F238E27FC236}">
                  <a16:creationId xmlns:a16="http://schemas.microsoft.com/office/drawing/2014/main" id="{7ACC7170-3E78-B8A6-6F6B-025DAEAF2A1A}"/>
                </a:ext>
              </a:extLst>
            </p:cNvPr>
            <p:cNvSpPr>
              <a:spLocks noChangeShapeType="1"/>
            </p:cNvSpPr>
            <p:nvPr/>
          </p:nvSpPr>
          <p:spPr bwMode="auto">
            <a:xfrm>
              <a:off x="4152" y="1342"/>
              <a:ext cx="155" cy="0"/>
            </a:xfrm>
            <a:prstGeom prst="line">
              <a:avLst/>
            </a:prstGeom>
            <a:noFill/>
            <a:ln w="11113" cap="flat">
              <a:solidFill>
                <a:schemeClr val="accent1"/>
              </a:solidFill>
              <a:prstDash val="solid"/>
              <a:miter lim="800000"/>
              <a:headEnd/>
              <a:tailEnd type="oval"/>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1" name="Freeform 7">
              <a:extLst>
                <a:ext uri="{FF2B5EF4-FFF2-40B4-BE49-F238E27FC236}">
                  <a16:creationId xmlns:a16="http://schemas.microsoft.com/office/drawing/2014/main" id="{7F7FBC5D-E9B8-0EBB-130B-12F68DACCFB4}"/>
                </a:ext>
              </a:extLst>
            </p:cNvPr>
            <p:cNvSpPr>
              <a:spLocks/>
            </p:cNvSpPr>
            <p:nvPr/>
          </p:nvSpPr>
          <p:spPr bwMode="auto">
            <a:xfrm>
              <a:off x="4068" y="1220"/>
              <a:ext cx="148" cy="122"/>
            </a:xfrm>
            <a:custGeom>
              <a:avLst/>
              <a:gdLst>
                <a:gd name="T0" fmla="*/ 148 w 148"/>
                <a:gd name="T1" fmla="*/ 122 h 122"/>
                <a:gd name="T2" fmla="*/ 148 w 148"/>
                <a:gd name="T3" fmla="*/ 88 h 122"/>
                <a:gd name="T4" fmla="*/ 70 w 148"/>
                <a:gd name="T5" fmla="*/ 0 h 122"/>
                <a:gd name="T6" fmla="*/ 0 w 148"/>
                <a:gd name="T7" fmla="*/ 0 h 122"/>
              </a:gdLst>
              <a:ahLst/>
              <a:cxnLst>
                <a:cxn ang="0">
                  <a:pos x="T0" y="T1"/>
                </a:cxn>
                <a:cxn ang="0">
                  <a:pos x="T2" y="T3"/>
                </a:cxn>
                <a:cxn ang="0">
                  <a:pos x="T4" y="T5"/>
                </a:cxn>
                <a:cxn ang="0">
                  <a:pos x="T6" y="T7"/>
                </a:cxn>
              </a:cxnLst>
              <a:rect l="0" t="0" r="r" b="b"/>
              <a:pathLst>
                <a:path w="148" h="122">
                  <a:moveTo>
                    <a:pt x="148" y="122"/>
                  </a:moveTo>
                  <a:lnTo>
                    <a:pt x="148" y="88"/>
                  </a:lnTo>
                  <a:lnTo>
                    <a:pt x="70" y="0"/>
                  </a:lnTo>
                  <a:lnTo>
                    <a:pt x="0" y="0"/>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3" name="Freeform 8">
              <a:extLst>
                <a:ext uri="{FF2B5EF4-FFF2-40B4-BE49-F238E27FC236}">
                  <a16:creationId xmlns:a16="http://schemas.microsoft.com/office/drawing/2014/main" id="{794CA2E1-CC2F-D028-0931-E4B9869801DC}"/>
                </a:ext>
              </a:extLst>
            </p:cNvPr>
            <p:cNvSpPr>
              <a:spLocks/>
            </p:cNvSpPr>
            <p:nvPr/>
          </p:nvSpPr>
          <p:spPr bwMode="auto">
            <a:xfrm>
              <a:off x="3934" y="1417"/>
              <a:ext cx="444" cy="503"/>
            </a:xfrm>
            <a:custGeom>
              <a:avLst/>
              <a:gdLst>
                <a:gd name="T0" fmla="*/ 444 w 444"/>
                <a:gd name="T1" fmla="*/ 503 h 503"/>
                <a:gd name="T2" fmla="*/ 324 w 444"/>
                <a:gd name="T3" fmla="*/ 503 h 503"/>
                <a:gd name="T4" fmla="*/ 232 w 444"/>
                <a:gd name="T5" fmla="*/ 408 h 503"/>
                <a:gd name="T6" fmla="*/ 92 w 444"/>
                <a:gd name="T7" fmla="*/ 408 h 503"/>
                <a:gd name="T8" fmla="*/ 0 w 444"/>
                <a:gd name="T9" fmla="*/ 312 h 503"/>
                <a:gd name="T10" fmla="*/ 0 w 444"/>
                <a:gd name="T11" fmla="*/ 68 h 503"/>
                <a:gd name="T12" fmla="*/ 63 w 444"/>
                <a:gd name="T13" fmla="*/ 0 h 503"/>
                <a:gd name="T14" fmla="*/ 169 w 444"/>
                <a:gd name="T15" fmla="*/ 0 h 503"/>
                <a:gd name="T16" fmla="*/ 240 w 444"/>
                <a:gd name="T17" fmla="*/ 75 h 503"/>
                <a:gd name="T18" fmla="*/ 240 w 444"/>
                <a:gd name="T19" fmla="*/ 285 h 503"/>
                <a:gd name="T20" fmla="*/ 345 w 444"/>
                <a:gd name="T21" fmla="*/ 40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4" h="503">
                  <a:moveTo>
                    <a:pt x="444" y="503"/>
                  </a:moveTo>
                  <a:lnTo>
                    <a:pt x="324" y="503"/>
                  </a:lnTo>
                  <a:lnTo>
                    <a:pt x="232" y="408"/>
                  </a:lnTo>
                  <a:lnTo>
                    <a:pt x="92" y="408"/>
                  </a:lnTo>
                  <a:lnTo>
                    <a:pt x="0" y="312"/>
                  </a:lnTo>
                  <a:lnTo>
                    <a:pt x="0" y="68"/>
                  </a:lnTo>
                  <a:lnTo>
                    <a:pt x="63" y="0"/>
                  </a:lnTo>
                  <a:lnTo>
                    <a:pt x="169" y="0"/>
                  </a:lnTo>
                  <a:lnTo>
                    <a:pt x="240" y="75"/>
                  </a:lnTo>
                  <a:lnTo>
                    <a:pt x="240" y="285"/>
                  </a:lnTo>
                  <a:lnTo>
                    <a:pt x="345" y="401"/>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4" name="Freeform 9">
              <a:extLst>
                <a:ext uri="{FF2B5EF4-FFF2-40B4-BE49-F238E27FC236}">
                  <a16:creationId xmlns:a16="http://schemas.microsoft.com/office/drawing/2014/main" id="{6D29D647-09FA-34FA-66D1-5486F240D07A}"/>
                </a:ext>
              </a:extLst>
            </p:cNvPr>
            <p:cNvSpPr>
              <a:spLocks/>
            </p:cNvSpPr>
            <p:nvPr/>
          </p:nvSpPr>
          <p:spPr bwMode="auto">
            <a:xfrm>
              <a:off x="4033" y="1594"/>
              <a:ext cx="141" cy="54"/>
            </a:xfrm>
            <a:custGeom>
              <a:avLst/>
              <a:gdLst>
                <a:gd name="T0" fmla="*/ 141 w 141"/>
                <a:gd name="T1" fmla="*/ 0 h 54"/>
                <a:gd name="T2" fmla="*/ 56 w 141"/>
                <a:gd name="T3" fmla="*/ 0 h 54"/>
                <a:gd name="T4" fmla="*/ 0 w 141"/>
                <a:gd name="T5" fmla="*/ 54 h 54"/>
              </a:gdLst>
              <a:ahLst/>
              <a:cxnLst>
                <a:cxn ang="0">
                  <a:pos x="T0" y="T1"/>
                </a:cxn>
                <a:cxn ang="0">
                  <a:pos x="T2" y="T3"/>
                </a:cxn>
                <a:cxn ang="0">
                  <a:pos x="T4" y="T5"/>
                </a:cxn>
              </a:cxnLst>
              <a:rect l="0" t="0" r="r" b="b"/>
              <a:pathLst>
                <a:path w="141" h="54">
                  <a:moveTo>
                    <a:pt x="141" y="0"/>
                  </a:moveTo>
                  <a:lnTo>
                    <a:pt x="56" y="0"/>
                  </a:lnTo>
                  <a:lnTo>
                    <a:pt x="0" y="54"/>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5" name="Freeform 10">
              <a:extLst>
                <a:ext uri="{FF2B5EF4-FFF2-40B4-BE49-F238E27FC236}">
                  <a16:creationId xmlns:a16="http://schemas.microsoft.com/office/drawing/2014/main" id="{86F2DADF-1216-E894-7C0B-C5873502207B}"/>
                </a:ext>
              </a:extLst>
            </p:cNvPr>
            <p:cNvSpPr>
              <a:spLocks/>
            </p:cNvSpPr>
            <p:nvPr/>
          </p:nvSpPr>
          <p:spPr bwMode="auto">
            <a:xfrm>
              <a:off x="4406" y="1390"/>
              <a:ext cx="289" cy="421"/>
            </a:xfrm>
            <a:custGeom>
              <a:avLst/>
              <a:gdLst>
                <a:gd name="T0" fmla="*/ 0 w 289"/>
                <a:gd name="T1" fmla="*/ 0 h 421"/>
                <a:gd name="T2" fmla="*/ 105 w 289"/>
                <a:gd name="T3" fmla="*/ 0 h 421"/>
                <a:gd name="T4" fmla="*/ 289 w 289"/>
                <a:gd name="T5" fmla="*/ 197 h 421"/>
                <a:gd name="T6" fmla="*/ 289 w 289"/>
                <a:gd name="T7" fmla="*/ 421 h 421"/>
              </a:gdLst>
              <a:ahLst/>
              <a:cxnLst>
                <a:cxn ang="0">
                  <a:pos x="T0" y="T1"/>
                </a:cxn>
                <a:cxn ang="0">
                  <a:pos x="T2" y="T3"/>
                </a:cxn>
                <a:cxn ang="0">
                  <a:pos x="T4" y="T5"/>
                </a:cxn>
                <a:cxn ang="0">
                  <a:pos x="T6" y="T7"/>
                </a:cxn>
              </a:cxnLst>
              <a:rect l="0" t="0" r="r" b="b"/>
              <a:pathLst>
                <a:path w="289" h="421">
                  <a:moveTo>
                    <a:pt x="0" y="0"/>
                  </a:moveTo>
                  <a:lnTo>
                    <a:pt x="105" y="0"/>
                  </a:lnTo>
                  <a:lnTo>
                    <a:pt x="289" y="197"/>
                  </a:lnTo>
                  <a:lnTo>
                    <a:pt x="289" y="421"/>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6" name="Freeform 11">
              <a:extLst>
                <a:ext uri="{FF2B5EF4-FFF2-40B4-BE49-F238E27FC236}">
                  <a16:creationId xmlns:a16="http://schemas.microsoft.com/office/drawing/2014/main" id="{EF64B2FD-91AF-93D5-E096-D9A061DDDF0B}"/>
                </a:ext>
              </a:extLst>
            </p:cNvPr>
            <p:cNvSpPr>
              <a:spLocks/>
            </p:cNvSpPr>
            <p:nvPr/>
          </p:nvSpPr>
          <p:spPr bwMode="auto">
            <a:xfrm>
              <a:off x="4540" y="1573"/>
              <a:ext cx="331" cy="727"/>
            </a:xfrm>
            <a:custGeom>
              <a:avLst/>
              <a:gdLst>
                <a:gd name="T0" fmla="*/ 126 w 331"/>
                <a:gd name="T1" fmla="*/ 727 h 727"/>
                <a:gd name="T2" fmla="*/ 169 w 331"/>
                <a:gd name="T3" fmla="*/ 687 h 727"/>
                <a:gd name="T4" fmla="*/ 331 w 331"/>
                <a:gd name="T5" fmla="*/ 693 h 727"/>
                <a:gd name="T6" fmla="*/ 331 w 331"/>
                <a:gd name="T7" fmla="*/ 306 h 727"/>
                <a:gd name="T8" fmla="*/ 260 w 331"/>
                <a:gd name="T9" fmla="*/ 238 h 727"/>
                <a:gd name="T10" fmla="*/ 119 w 331"/>
                <a:gd name="T11" fmla="*/ 238 h 727"/>
                <a:gd name="T12" fmla="*/ 0 w 331"/>
                <a:gd name="T13" fmla="*/ 109 h 727"/>
                <a:gd name="T14" fmla="*/ 0 w 331"/>
                <a:gd name="T15" fmla="*/ 0 h 7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1" h="727">
                  <a:moveTo>
                    <a:pt x="126" y="727"/>
                  </a:moveTo>
                  <a:lnTo>
                    <a:pt x="169" y="687"/>
                  </a:lnTo>
                  <a:lnTo>
                    <a:pt x="331" y="693"/>
                  </a:lnTo>
                  <a:lnTo>
                    <a:pt x="331" y="306"/>
                  </a:lnTo>
                  <a:lnTo>
                    <a:pt x="260" y="238"/>
                  </a:lnTo>
                  <a:lnTo>
                    <a:pt x="119" y="238"/>
                  </a:lnTo>
                  <a:lnTo>
                    <a:pt x="0" y="109"/>
                  </a:lnTo>
                  <a:lnTo>
                    <a:pt x="0" y="0"/>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7" name="Freeform 12">
              <a:extLst>
                <a:ext uri="{FF2B5EF4-FFF2-40B4-BE49-F238E27FC236}">
                  <a16:creationId xmlns:a16="http://schemas.microsoft.com/office/drawing/2014/main" id="{8B0B9233-A85E-871A-47C3-D190F9F17676}"/>
                </a:ext>
              </a:extLst>
            </p:cNvPr>
            <p:cNvSpPr>
              <a:spLocks/>
            </p:cNvSpPr>
            <p:nvPr/>
          </p:nvSpPr>
          <p:spPr bwMode="auto">
            <a:xfrm>
              <a:off x="4096" y="2266"/>
              <a:ext cx="852" cy="1183"/>
            </a:xfrm>
            <a:custGeom>
              <a:avLst/>
              <a:gdLst>
                <a:gd name="T0" fmla="*/ 775 w 852"/>
                <a:gd name="T1" fmla="*/ 0 h 1183"/>
                <a:gd name="T2" fmla="*/ 852 w 852"/>
                <a:gd name="T3" fmla="*/ 82 h 1183"/>
                <a:gd name="T4" fmla="*/ 852 w 852"/>
                <a:gd name="T5" fmla="*/ 524 h 1183"/>
                <a:gd name="T6" fmla="*/ 768 w 852"/>
                <a:gd name="T7" fmla="*/ 612 h 1183"/>
                <a:gd name="T8" fmla="*/ 768 w 852"/>
                <a:gd name="T9" fmla="*/ 870 h 1183"/>
                <a:gd name="T10" fmla="*/ 599 w 852"/>
                <a:gd name="T11" fmla="*/ 1054 h 1183"/>
                <a:gd name="T12" fmla="*/ 331 w 852"/>
                <a:gd name="T13" fmla="*/ 1054 h 1183"/>
                <a:gd name="T14" fmla="*/ 204 w 852"/>
                <a:gd name="T15" fmla="*/ 1183 h 1183"/>
                <a:gd name="T16" fmla="*/ 0 w 852"/>
                <a:gd name="T17" fmla="*/ 1183 h 1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2" h="1183">
                  <a:moveTo>
                    <a:pt x="775" y="0"/>
                  </a:moveTo>
                  <a:lnTo>
                    <a:pt x="852" y="82"/>
                  </a:lnTo>
                  <a:lnTo>
                    <a:pt x="852" y="524"/>
                  </a:lnTo>
                  <a:lnTo>
                    <a:pt x="768" y="612"/>
                  </a:lnTo>
                  <a:lnTo>
                    <a:pt x="768" y="870"/>
                  </a:lnTo>
                  <a:lnTo>
                    <a:pt x="599" y="1054"/>
                  </a:lnTo>
                  <a:lnTo>
                    <a:pt x="331" y="1054"/>
                  </a:lnTo>
                  <a:lnTo>
                    <a:pt x="204" y="1183"/>
                  </a:lnTo>
                  <a:lnTo>
                    <a:pt x="0" y="1183"/>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8" name="Freeform 13">
              <a:extLst>
                <a:ext uri="{FF2B5EF4-FFF2-40B4-BE49-F238E27FC236}">
                  <a16:creationId xmlns:a16="http://schemas.microsoft.com/office/drawing/2014/main" id="{CCFE7A1B-C643-26CF-8ED6-24F749BC85BC}"/>
                </a:ext>
              </a:extLst>
            </p:cNvPr>
            <p:cNvSpPr>
              <a:spLocks/>
            </p:cNvSpPr>
            <p:nvPr/>
          </p:nvSpPr>
          <p:spPr bwMode="auto">
            <a:xfrm>
              <a:off x="3913" y="3320"/>
              <a:ext cx="725" cy="353"/>
            </a:xfrm>
            <a:custGeom>
              <a:avLst/>
              <a:gdLst>
                <a:gd name="T0" fmla="*/ 725 w 725"/>
                <a:gd name="T1" fmla="*/ 0 h 353"/>
                <a:gd name="T2" fmla="*/ 535 w 725"/>
                <a:gd name="T3" fmla="*/ 190 h 353"/>
                <a:gd name="T4" fmla="*/ 451 w 725"/>
                <a:gd name="T5" fmla="*/ 190 h 353"/>
                <a:gd name="T6" fmla="*/ 303 w 725"/>
                <a:gd name="T7" fmla="*/ 353 h 353"/>
                <a:gd name="T8" fmla="*/ 106 w 725"/>
                <a:gd name="T9" fmla="*/ 353 h 353"/>
                <a:gd name="T10" fmla="*/ 0 w 725"/>
                <a:gd name="T11" fmla="*/ 244 h 353"/>
                <a:gd name="T12" fmla="*/ 0 w 725"/>
                <a:gd name="T13" fmla="*/ 170 h 353"/>
                <a:gd name="T14" fmla="*/ 99 w 725"/>
                <a:gd name="T15" fmla="*/ 68 h 3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5" h="353">
                  <a:moveTo>
                    <a:pt x="725" y="0"/>
                  </a:moveTo>
                  <a:lnTo>
                    <a:pt x="535" y="190"/>
                  </a:lnTo>
                  <a:lnTo>
                    <a:pt x="451" y="190"/>
                  </a:lnTo>
                  <a:lnTo>
                    <a:pt x="303" y="353"/>
                  </a:lnTo>
                  <a:lnTo>
                    <a:pt x="106" y="353"/>
                  </a:lnTo>
                  <a:lnTo>
                    <a:pt x="0" y="244"/>
                  </a:lnTo>
                  <a:lnTo>
                    <a:pt x="0" y="170"/>
                  </a:lnTo>
                  <a:lnTo>
                    <a:pt x="99" y="68"/>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99" name="Freeform 14">
              <a:extLst>
                <a:ext uri="{FF2B5EF4-FFF2-40B4-BE49-F238E27FC236}">
                  <a16:creationId xmlns:a16="http://schemas.microsoft.com/office/drawing/2014/main" id="{0C7B0270-E025-C522-D78F-9FACEB099E25}"/>
                </a:ext>
              </a:extLst>
            </p:cNvPr>
            <p:cNvSpPr>
              <a:spLocks/>
            </p:cNvSpPr>
            <p:nvPr/>
          </p:nvSpPr>
          <p:spPr bwMode="auto">
            <a:xfrm>
              <a:off x="4061" y="3510"/>
              <a:ext cx="303" cy="102"/>
            </a:xfrm>
            <a:custGeom>
              <a:avLst/>
              <a:gdLst>
                <a:gd name="T0" fmla="*/ 303 w 303"/>
                <a:gd name="T1" fmla="*/ 0 h 102"/>
                <a:gd name="T2" fmla="*/ 183 w 303"/>
                <a:gd name="T3" fmla="*/ 0 h 102"/>
                <a:gd name="T4" fmla="*/ 84 w 303"/>
                <a:gd name="T5" fmla="*/ 102 h 102"/>
                <a:gd name="T6" fmla="*/ 0 w 303"/>
                <a:gd name="T7" fmla="*/ 102 h 102"/>
              </a:gdLst>
              <a:ahLst/>
              <a:cxnLst>
                <a:cxn ang="0">
                  <a:pos x="T0" y="T1"/>
                </a:cxn>
                <a:cxn ang="0">
                  <a:pos x="T2" y="T3"/>
                </a:cxn>
                <a:cxn ang="0">
                  <a:pos x="T4" y="T5"/>
                </a:cxn>
                <a:cxn ang="0">
                  <a:pos x="T6" y="T7"/>
                </a:cxn>
              </a:cxnLst>
              <a:rect l="0" t="0" r="r" b="b"/>
              <a:pathLst>
                <a:path w="303" h="102">
                  <a:moveTo>
                    <a:pt x="303" y="0"/>
                  </a:moveTo>
                  <a:lnTo>
                    <a:pt x="183" y="0"/>
                  </a:lnTo>
                  <a:lnTo>
                    <a:pt x="84" y="102"/>
                  </a:lnTo>
                  <a:lnTo>
                    <a:pt x="0" y="102"/>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0" name="Line 15">
              <a:extLst>
                <a:ext uri="{FF2B5EF4-FFF2-40B4-BE49-F238E27FC236}">
                  <a16:creationId xmlns:a16="http://schemas.microsoft.com/office/drawing/2014/main" id="{D1189EAC-11D2-DCCA-7C9B-4EC4D442174F}"/>
                </a:ext>
              </a:extLst>
            </p:cNvPr>
            <p:cNvSpPr>
              <a:spLocks noChangeShapeType="1"/>
            </p:cNvSpPr>
            <p:nvPr/>
          </p:nvSpPr>
          <p:spPr bwMode="auto">
            <a:xfrm flipH="1">
              <a:off x="4047" y="3537"/>
              <a:ext cx="162" cy="0"/>
            </a:xfrm>
            <a:prstGeom prst="line">
              <a:avLst/>
            </a:prstGeom>
            <a:noFill/>
            <a:ln w="11113" cap="flat">
              <a:solidFill>
                <a:schemeClr val="accent1"/>
              </a:solidFill>
              <a:prstDash val="solid"/>
              <a:miter lim="800000"/>
              <a:headEnd/>
              <a:tailEnd type="oval"/>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1" name="Freeform 16">
              <a:extLst>
                <a:ext uri="{FF2B5EF4-FFF2-40B4-BE49-F238E27FC236}">
                  <a16:creationId xmlns:a16="http://schemas.microsoft.com/office/drawing/2014/main" id="{F0448336-F007-1FB9-06C8-11EDC1E1D9E5}"/>
                </a:ext>
              </a:extLst>
            </p:cNvPr>
            <p:cNvSpPr>
              <a:spLocks/>
            </p:cNvSpPr>
            <p:nvPr/>
          </p:nvSpPr>
          <p:spPr bwMode="auto">
            <a:xfrm>
              <a:off x="4279" y="1777"/>
              <a:ext cx="451" cy="775"/>
            </a:xfrm>
            <a:custGeom>
              <a:avLst/>
              <a:gdLst>
                <a:gd name="T0" fmla="*/ 197 w 451"/>
                <a:gd name="T1" fmla="*/ 0 h 775"/>
                <a:gd name="T2" fmla="*/ 324 w 451"/>
                <a:gd name="T3" fmla="*/ 122 h 775"/>
                <a:gd name="T4" fmla="*/ 451 w 451"/>
                <a:gd name="T5" fmla="*/ 122 h 775"/>
                <a:gd name="T6" fmla="*/ 451 w 451"/>
                <a:gd name="T7" fmla="*/ 306 h 775"/>
                <a:gd name="T8" fmla="*/ 0 w 451"/>
                <a:gd name="T9" fmla="*/ 775 h 775"/>
              </a:gdLst>
              <a:ahLst/>
              <a:cxnLst>
                <a:cxn ang="0">
                  <a:pos x="T0" y="T1"/>
                </a:cxn>
                <a:cxn ang="0">
                  <a:pos x="T2" y="T3"/>
                </a:cxn>
                <a:cxn ang="0">
                  <a:pos x="T4" y="T5"/>
                </a:cxn>
                <a:cxn ang="0">
                  <a:pos x="T6" y="T7"/>
                </a:cxn>
                <a:cxn ang="0">
                  <a:pos x="T8" y="T9"/>
                </a:cxn>
              </a:cxnLst>
              <a:rect l="0" t="0" r="r" b="b"/>
              <a:pathLst>
                <a:path w="451" h="775">
                  <a:moveTo>
                    <a:pt x="197" y="0"/>
                  </a:moveTo>
                  <a:lnTo>
                    <a:pt x="324" y="122"/>
                  </a:lnTo>
                  <a:lnTo>
                    <a:pt x="451" y="122"/>
                  </a:lnTo>
                  <a:lnTo>
                    <a:pt x="451" y="306"/>
                  </a:lnTo>
                  <a:lnTo>
                    <a:pt x="0" y="775"/>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2" name="Freeform 17">
              <a:extLst>
                <a:ext uri="{FF2B5EF4-FFF2-40B4-BE49-F238E27FC236}">
                  <a16:creationId xmlns:a16="http://schemas.microsoft.com/office/drawing/2014/main" id="{46F122AD-C054-4F40-FC7E-DBE7BD6D335D}"/>
                </a:ext>
              </a:extLst>
            </p:cNvPr>
            <p:cNvSpPr>
              <a:spLocks/>
            </p:cNvSpPr>
            <p:nvPr/>
          </p:nvSpPr>
          <p:spPr bwMode="auto">
            <a:xfrm>
              <a:off x="4469" y="2008"/>
              <a:ext cx="261" cy="136"/>
            </a:xfrm>
            <a:custGeom>
              <a:avLst/>
              <a:gdLst>
                <a:gd name="T0" fmla="*/ 261 w 261"/>
                <a:gd name="T1" fmla="*/ 0 h 136"/>
                <a:gd name="T2" fmla="*/ 134 w 261"/>
                <a:gd name="T3" fmla="*/ 0 h 136"/>
                <a:gd name="T4" fmla="*/ 0 w 261"/>
                <a:gd name="T5" fmla="*/ 136 h 136"/>
              </a:gdLst>
              <a:ahLst/>
              <a:cxnLst>
                <a:cxn ang="0">
                  <a:pos x="T0" y="T1"/>
                </a:cxn>
                <a:cxn ang="0">
                  <a:pos x="T2" y="T3"/>
                </a:cxn>
                <a:cxn ang="0">
                  <a:pos x="T4" y="T5"/>
                </a:cxn>
              </a:cxnLst>
              <a:rect l="0" t="0" r="r" b="b"/>
              <a:pathLst>
                <a:path w="261" h="136">
                  <a:moveTo>
                    <a:pt x="261" y="0"/>
                  </a:moveTo>
                  <a:lnTo>
                    <a:pt x="134" y="0"/>
                  </a:lnTo>
                  <a:lnTo>
                    <a:pt x="0" y="136"/>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3" name="Freeform 18">
              <a:extLst>
                <a:ext uri="{FF2B5EF4-FFF2-40B4-BE49-F238E27FC236}">
                  <a16:creationId xmlns:a16="http://schemas.microsoft.com/office/drawing/2014/main" id="{8625E58E-B666-16DE-5A02-6306FB5A394F}"/>
                </a:ext>
              </a:extLst>
            </p:cNvPr>
            <p:cNvSpPr>
              <a:spLocks/>
            </p:cNvSpPr>
            <p:nvPr/>
          </p:nvSpPr>
          <p:spPr bwMode="auto">
            <a:xfrm>
              <a:off x="3948" y="1825"/>
              <a:ext cx="366" cy="530"/>
            </a:xfrm>
            <a:custGeom>
              <a:avLst/>
              <a:gdLst>
                <a:gd name="T0" fmla="*/ 78 w 366"/>
                <a:gd name="T1" fmla="*/ 0 h 530"/>
                <a:gd name="T2" fmla="*/ 0 w 366"/>
                <a:gd name="T3" fmla="*/ 74 h 530"/>
                <a:gd name="T4" fmla="*/ 0 w 366"/>
                <a:gd name="T5" fmla="*/ 203 h 530"/>
                <a:gd name="T6" fmla="*/ 0 w 366"/>
                <a:gd name="T7" fmla="*/ 387 h 530"/>
                <a:gd name="T8" fmla="*/ 134 w 366"/>
                <a:gd name="T9" fmla="*/ 530 h 530"/>
                <a:gd name="T10" fmla="*/ 310 w 366"/>
                <a:gd name="T11" fmla="*/ 530 h 530"/>
                <a:gd name="T12" fmla="*/ 366 w 366"/>
                <a:gd name="T13" fmla="*/ 462 h 530"/>
                <a:gd name="T14" fmla="*/ 366 w 366"/>
                <a:gd name="T15" fmla="*/ 197 h 5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6" h="530">
                  <a:moveTo>
                    <a:pt x="78" y="0"/>
                  </a:moveTo>
                  <a:lnTo>
                    <a:pt x="0" y="74"/>
                  </a:lnTo>
                  <a:lnTo>
                    <a:pt x="0" y="203"/>
                  </a:lnTo>
                  <a:lnTo>
                    <a:pt x="0" y="387"/>
                  </a:lnTo>
                  <a:lnTo>
                    <a:pt x="134" y="530"/>
                  </a:lnTo>
                  <a:lnTo>
                    <a:pt x="310" y="530"/>
                  </a:lnTo>
                  <a:lnTo>
                    <a:pt x="366" y="462"/>
                  </a:lnTo>
                  <a:lnTo>
                    <a:pt x="366" y="197"/>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4" name="Freeform 19">
              <a:extLst>
                <a:ext uri="{FF2B5EF4-FFF2-40B4-BE49-F238E27FC236}">
                  <a16:creationId xmlns:a16="http://schemas.microsoft.com/office/drawing/2014/main" id="{AB30AF14-7393-94E2-7164-AE135FA287B0}"/>
                </a:ext>
              </a:extLst>
            </p:cNvPr>
            <p:cNvSpPr>
              <a:spLocks/>
            </p:cNvSpPr>
            <p:nvPr/>
          </p:nvSpPr>
          <p:spPr bwMode="auto">
            <a:xfrm>
              <a:off x="4223" y="1988"/>
              <a:ext cx="91" cy="244"/>
            </a:xfrm>
            <a:custGeom>
              <a:avLst/>
              <a:gdLst>
                <a:gd name="T0" fmla="*/ 91 w 91"/>
                <a:gd name="T1" fmla="*/ 244 h 244"/>
                <a:gd name="T2" fmla="*/ 0 w 91"/>
                <a:gd name="T3" fmla="*/ 149 h 244"/>
                <a:gd name="T4" fmla="*/ 0 w 91"/>
                <a:gd name="T5" fmla="*/ 0 h 244"/>
              </a:gdLst>
              <a:ahLst/>
              <a:cxnLst>
                <a:cxn ang="0">
                  <a:pos x="T0" y="T1"/>
                </a:cxn>
                <a:cxn ang="0">
                  <a:pos x="T2" y="T3"/>
                </a:cxn>
                <a:cxn ang="0">
                  <a:pos x="T4" y="T5"/>
                </a:cxn>
              </a:cxnLst>
              <a:rect l="0" t="0" r="r" b="b"/>
              <a:pathLst>
                <a:path w="91" h="244">
                  <a:moveTo>
                    <a:pt x="91" y="244"/>
                  </a:moveTo>
                  <a:lnTo>
                    <a:pt x="0" y="149"/>
                  </a:lnTo>
                  <a:lnTo>
                    <a:pt x="0" y="0"/>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5" name="Freeform 20">
              <a:extLst>
                <a:ext uri="{FF2B5EF4-FFF2-40B4-BE49-F238E27FC236}">
                  <a16:creationId xmlns:a16="http://schemas.microsoft.com/office/drawing/2014/main" id="{C0900DEC-5428-5E90-ED5C-149C92DC1EB4}"/>
                </a:ext>
              </a:extLst>
            </p:cNvPr>
            <p:cNvSpPr>
              <a:spLocks/>
            </p:cNvSpPr>
            <p:nvPr/>
          </p:nvSpPr>
          <p:spPr bwMode="auto">
            <a:xfrm>
              <a:off x="3948" y="1899"/>
              <a:ext cx="127" cy="293"/>
            </a:xfrm>
            <a:custGeom>
              <a:avLst/>
              <a:gdLst>
                <a:gd name="T0" fmla="*/ 0 w 127"/>
                <a:gd name="T1" fmla="*/ 0 h 293"/>
                <a:gd name="T2" fmla="*/ 127 w 127"/>
                <a:gd name="T3" fmla="*/ 136 h 293"/>
                <a:gd name="T4" fmla="*/ 127 w 127"/>
                <a:gd name="T5" fmla="*/ 293 h 293"/>
              </a:gdLst>
              <a:ahLst/>
              <a:cxnLst>
                <a:cxn ang="0">
                  <a:pos x="T0" y="T1"/>
                </a:cxn>
                <a:cxn ang="0">
                  <a:pos x="T2" y="T3"/>
                </a:cxn>
                <a:cxn ang="0">
                  <a:pos x="T4" y="T5"/>
                </a:cxn>
              </a:cxnLst>
              <a:rect l="0" t="0" r="r" b="b"/>
              <a:pathLst>
                <a:path w="127" h="293">
                  <a:moveTo>
                    <a:pt x="0" y="0"/>
                  </a:moveTo>
                  <a:lnTo>
                    <a:pt x="127" y="136"/>
                  </a:lnTo>
                  <a:lnTo>
                    <a:pt x="127" y="293"/>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6" name="Freeform 21">
              <a:extLst>
                <a:ext uri="{FF2B5EF4-FFF2-40B4-BE49-F238E27FC236}">
                  <a16:creationId xmlns:a16="http://schemas.microsoft.com/office/drawing/2014/main" id="{CBA7F3E3-BA4E-B387-7A59-781E079F2D11}"/>
                </a:ext>
              </a:extLst>
            </p:cNvPr>
            <p:cNvSpPr>
              <a:spLocks/>
            </p:cNvSpPr>
            <p:nvPr/>
          </p:nvSpPr>
          <p:spPr bwMode="auto">
            <a:xfrm>
              <a:off x="4054" y="2409"/>
              <a:ext cx="521" cy="265"/>
            </a:xfrm>
            <a:custGeom>
              <a:avLst/>
              <a:gdLst>
                <a:gd name="T0" fmla="*/ 521 w 521"/>
                <a:gd name="T1" fmla="*/ 0 h 265"/>
                <a:gd name="T2" fmla="*/ 521 w 521"/>
                <a:gd name="T3" fmla="*/ 170 h 265"/>
                <a:gd name="T4" fmla="*/ 429 w 521"/>
                <a:gd name="T5" fmla="*/ 265 h 265"/>
                <a:gd name="T6" fmla="*/ 197 w 521"/>
                <a:gd name="T7" fmla="*/ 265 h 265"/>
                <a:gd name="T8" fmla="*/ 105 w 521"/>
                <a:gd name="T9" fmla="*/ 163 h 265"/>
                <a:gd name="T10" fmla="*/ 0 w 521"/>
                <a:gd name="T11" fmla="*/ 163 h 265"/>
              </a:gdLst>
              <a:ahLst/>
              <a:cxnLst>
                <a:cxn ang="0">
                  <a:pos x="T0" y="T1"/>
                </a:cxn>
                <a:cxn ang="0">
                  <a:pos x="T2" y="T3"/>
                </a:cxn>
                <a:cxn ang="0">
                  <a:pos x="T4" y="T5"/>
                </a:cxn>
                <a:cxn ang="0">
                  <a:pos x="T6" y="T7"/>
                </a:cxn>
                <a:cxn ang="0">
                  <a:pos x="T8" y="T9"/>
                </a:cxn>
                <a:cxn ang="0">
                  <a:pos x="T10" y="T11"/>
                </a:cxn>
              </a:cxnLst>
              <a:rect l="0" t="0" r="r" b="b"/>
              <a:pathLst>
                <a:path w="521" h="265">
                  <a:moveTo>
                    <a:pt x="521" y="0"/>
                  </a:moveTo>
                  <a:lnTo>
                    <a:pt x="521" y="170"/>
                  </a:lnTo>
                  <a:lnTo>
                    <a:pt x="429" y="265"/>
                  </a:lnTo>
                  <a:lnTo>
                    <a:pt x="197" y="265"/>
                  </a:lnTo>
                  <a:lnTo>
                    <a:pt x="105" y="163"/>
                  </a:lnTo>
                  <a:lnTo>
                    <a:pt x="0" y="163"/>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7" name="Freeform 22">
              <a:extLst>
                <a:ext uri="{FF2B5EF4-FFF2-40B4-BE49-F238E27FC236}">
                  <a16:creationId xmlns:a16="http://schemas.microsoft.com/office/drawing/2014/main" id="{492AEB74-211B-9AFC-5A58-D46CA12893B3}"/>
                </a:ext>
              </a:extLst>
            </p:cNvPr>
            <p:cNvSpPr>
              <a:spLocks/>
            </p:cNvSpPr>
            <p:nvPr/>
          </p:nvSpPr>
          <p:spPr bwMode="auto">
            <a:xfrm>
              <a:off x="3941" y="2307"/>
              <a:ext cx="331" cy="822"/>
            </a:xfrm>
            <a:custGeom>
              <a:avLst/>
              <a:gdLst>
                <a:gd name="T0" fmla="*/ 92 w 331"/>
                <a:gd name="T1" fmla="*/ 0 h 822"/>
                <a:gd name="T2" fmla="*/ 0 w 331"/>
                <a:gd name="T3" fmla="*/ 95 h 822"/>
                <a:gd name="T4" fmla="*/ 0 w 331"/>
                <a:gd name="T5" fmla="*/ 720 h 822"/>
                <a:gd name="T6" fmla="*/ 99 w 331"/>
                <a:gd name="T7" fmla="*/ 822 h 822"/>
                <a:gd name="T8" fmla="*/ 190 w 331"/>
                <a:gd name="T9" fmla="*/ 822 h 822"/>
                <a:gd name="T10" fmla="*/ 331 w 331"/>
                <a:gd name="T11" fmla="*/ 673 h 822"/>
                <a:gd name="T12" fmla="*/ 331 w 331"/>
                <a:gd name="T13" fmla="*/ 523 h 822"/>
              </a:gdLst>
              <a:ahLst/>
              <a:cxnLst>
                <a:cxn ang="0">
                  <a:pos x="T0" y="T1"/>
                </a:cxn>
                <a:cxn ang="0">
                  <a:pos x="T2" y="T3"/>
                </a:cxn>
                <a:cxn ang="0">
                  <a:pos x="T4" y="T5"/>
                </a:cxn>
                <a:cxn ang="0">
                  <a:pos x="T6" y="T7"/>
                </a:cxn>
                <a:cxn ang="0">
                  <a:pos x="T8" y="T9"/>
                </a:cxn>
                <a:cxn ang="0">
                  <a:pos x="T10" y="T11"/>
                </a:cxn>
                <a:cxn ang="0">
                  <a:pos x="T12" y="T13"/>
                </a:cxn>
              </a:cxnLst>
              <a:rect l="0" t="0" r="r" b="b"/>
              <a:pathLst>
                <a:path w="331" h="822">
                  <a:moveTo>
                    <a:pt x="92" y="0"/>
                  </a:moveTo>
                  <a:lnTo>
                    <a:pt x="0" y="95"/>
                  </a:lnTo>
                  <a:lnTo>
                    <a:pt x="0" y="720"/>
                  </a:lnTo>
                  <a:lnTo>
                    <a:pt x="99" y="822"/>
                  </a:lnTo>
                  <a:lnTo>
                    <a:pt x="190" y="822"/>
                  </a:lnTo>
                  <a:lnTo>
                    <a:pt x="331" y="673"/>
                  </a:lnTo>
                  <a:lnTo>
                    <a:pt x="331" y="523"/>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8" name="Freeform 23">
              <a:extLst>
                <a:ext uri="{FF2B5EF4-FFF2-40B4-BE49-F238E27FC236}">
                  <a16:creationId xmlns:a16="http://schemas.microsoft.com/office/drawing/2014/main" id="{6E45DCF7-2ED8-1553-D7A0-BFFFC0198C63}"/>
                </a:ext>
              </a:extLst>
            </p:cNvPr>
            <p:cNvSpPr>
              <a:spLocks/>
            </p:cNvSpPr>
            <p:nvPr/>
          </p:nvSpPr>
          <p:spPr bwMode="auto">
            <a:xfrm>
              <a:off x="3899" y="2960"/>
              <a:ext cx="472" cy="421"/>
            </a:xfrm>
            <a:custGeom>
              <a:avLst/>
              <a:gdLst>
                <a:gd name="T0" fmla="*/ 472 w 472"/>
                <a:gd name="T1" fmla="*/ 0 h 421"/>
                <a:gd name="T2" fmla="*/ 239 w 472"/>
                <a:gd name="T3" fmla="*/ 244 h 421"/>
                <a:gd name="T4" fmla="*/ 239 w 472"/>
                <a:gd name="T5" fmla="*/ 366 h 421"/>
                <a:gd name="T6" fmla="*/ 183 w 472"/>
                <a:gd name="T7" fmla="*/ 421 h 421"/>
                <a:gd name="T8" fmla="*/ 77 w 472"/>
                <a:gd name="T9" fmla="*/ 421 h 421"/>
                <a:gd name="T10" fmla="*/ 0 w 472"/>
                <a:gd name="T11" fmla="*/ 339 h 421"/>
                <a:gd name="T12" fmla="*/ 0 w 472"/>
                <a:gd name="T13" fmla="*/ 183 h 421"/>
                <a:gd name="T14" fmla="*/ 84 w 472"/>
                <a:gd name="T15" fmla="*/ 108 h 4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2" h="421">
                  <a:moveTo>
                    <a:pt x="472" y="0"/>
                  </a:moveTo>
                  <a:lnTo>
                    <a:pt x="239" y="244"/>
                  </a:lnTo>
                  <a:lnTo>
                    <a:pt x="239" y="366"/>
                  </a:lnTo>
                  <a:lnTo>
                    <a:pt x="183" y="421"/>
                  </a:lnTo>
                  <a:lnTo>
                    <a:pt x="77" y="421"/>
                  </a:lnTo>
                  <a:lnTo>
                    <a:pt x="0" y="339"/>
                  </a:lnTo>
                  <a:lnTo>
                    <a:pt x="0" y="183"/>
                  </a:lnTo>
                  <a:lnTo>
                    <a:pt x="84" y="108"/>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09" name="Freeform 24">
              <a:extLst>
                <a:ext uri="{FF2B5EF4-FFF2-40B4-BE49-F238E27FC236}">
                  <a16:creationId xmlns:a16="http://schemas.microsoft.com/office/drawing/2014/main" id="{75517BEE-6C79-443A-71A0-DE10E7B69726}"/>
                </a:ext>
              </a:extLst>
            </p:cNvPr>
            <p:cNvSpPr>
              <a:spLocks/>
            </p:cNvSpPr>
            <p:nvPr/>
          </p:nvSpPr>
          <p:spPr bwMode="auto">
            <a:xfrm>
              <a:off x="3983" y="3129"/>
              <a:ext cx="57" cy="184"/>
            </a:xfrm>
            <a:custGeom>
              <a:avLst/>
              <a:gdLst>
                <a:gd name="T0" fmla="*/ 57 w 57"/>
                <a:gd name="T1" fmla="*/ 0 h 184"/>
                <a:gd name="T2" fmla="*/ 0 w 57"/>
                <a:gd name="T3" fmla="*/ 62 h 184"/>
                <a:gd name="T4" fmla="*/ 0 w 57"/>
                <a:gd name="T5" fmla="*/ 184 h 184"/>
              </a:gdLst>
              <a:ahLst/>
              <a:cxnLst>
                <a:cxn ang="0">
                  <a:pos x="T0" y="T1"/>
                </a:cxn>
                <a:cxn ang="0">
                  <a:pos x="T2" y="T3"/>
                </a:cxn>
                <a:cxn ang="0">
                  <a:pos x="T4" y="T5"/>
                </a:cxn>
              </a:cxnLst>
              <a:rect l="0" t="0" r="r" b="b"/>
              <a:pathLst>
                <a:path w="57" h="184">
                  <a:moveTo>
                    <a:pt x="57" y="0"/>
                  </a:moveTo>
                  <a:lnTo>
                    <a:pt x="0" y="62"/>
                  </a:lnTo>
                  <a:lnTo>
                    <a:pt x="0" y="184"/>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0" name="Freeform 25">
              <a:extLst>
                <a:ext uri="{FF2B5EF4-FFF2-40B4-BE49-F238E27FC236}">
                  <a16:creationId xmlns:a16="http://schemas.microsoft.com/office/drawing/2014/main" id="{15C8AE60-4311-DBA9-B77B-08C5BE37CFBA}"/>
                </a:ext>
              </a:extLst>
            </p:cNvPr>
            <p:cNvSpPr>
              <a:spLocks/>
            </p:cNvSpPr>
            <p:nvPr/>
          </p:nvSpPr>
          <p:spPr bwMode="auto">
            <a:xfrm>
              <a:off x="4314" y="2361"/>
              <a:ext cx="430" cy="449"/>
            </a:xfrm>
            <a:custGeom>
              <a:avLst/>
              <a:gdLst>
                <a:gd name="T0" fmla="*/ 430 w 430"/>
                <a:gd name="T1" fmla="*/ 0 h 449"/>
                <a:gd name="T2" fmla="*/ 430 w 430"/>
                <a:gd name="T3" fmla="*/ 218 h 449"/>
                <a:gd name="T4" fmla="*/ 205 w 430"/>
                <a:gd name="T5" fmla="*/ 449 h 449"/>
                <a:gd name="T6" fmla="*/ 71 w 430"/>
                <a:gd name="T7" fmla="*/ 449 h 449"/>
                <a:gd name="T8" fmla="*/ 0 w 430"/>
                <a:gd name="T9" fmla="*/ 374 h 449"/>
              </a:gdLst>
              <a:ahLst/>
              <a:cxnLst>
                <a:cxn ang="0">
                  <a:pos x="T0" y="T1"/>
                </a:cxn>
                <a:cxn ang="0">
                  <a:pos x="T2" y="T3"/>
                </a:cxn>
                <a:cxn ang="0">
                  <a:pos x="T4" y="T5"/>
                </a:cxn>
                <a:cxn ang="0">
                  <a:pos x="T6" y="T7"/>
                </a:cxn>
                <a:cxn ang="0">
                  <a:pos x="T8" y="T9"/>
                </a:cxn>
              </a:cxnLst>
              <a:rect l="0" t="0" r="r" b="b"/>
              <a:pathLst>
                <a:path w="430" h="449">
                  <a:moveTo>
                    <a:pt x="430" y="0"/>
                  </a:moveTo>
                  <a:lnTo>
                    <a:pt x="430" y="218"/>
                  </a:lnTo>
                  <a:lnTo>
                    <a:pt x="205" y="449"/>
                  </a:lnTo>
                  <a:lnTo>
                    <a:pt x="71" y="449"/>
                  </a:lnTo>
                  <a:lnTo>
                    <a:pt x="0" y="374"/>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1" name="Freeform 26">
              <a:extLst>
                <a:ext uri="{FF2B5EF4-FFF2-40B4-BE49-F238E27FC236}">
                  <a16:creationId xmlns:a16="http://schemas.microsoft.com/office/drawing/2014/main" id="{E8F23BAC-4FC0-E570-26F5-5EF5C928D3B3}"/>
                </a:ext>
              </a:extLst>
            </p:cNvPr>
            <p:cNvSpPr>
              <a:spLocks/>
            </p:cNvSpPr>
            <p:nvPr/>
          </p:nvSpPr>
          <p:spPr bwMode="auto">
            <a:xfrm>
              <a:off x="4272" y="2810"/>
              <a:ext cx="247" cy="394"/>
            </a:xfrm>
            <a:custGeom>
              <a:avLst/>
              <a:gdLst>
                <a:gd name="T0" fmla="*/ 247 w 247"/>
                <a:gd name="T1" fmla="*/ 0 h 394"/>
                <a:gd name="T2" fmla="*/ 247 w 247"/>
                <a:gd name="T3" fmla="*/ 129 h 394"/>
                <a:gd name="T4" fmla="*/ 0 w 247"/>
                <a:gd name="T5" fmla="*/ 394 h 394"/>
              </a:gdLst>
              <a:ahLst/>
              <a:cxnLst>
                <a:cxn ang="0">
                  <a:pos x="T0" y="T1"/>
                </a:cxn>
                <a:cxn ang="0">
                  <a:pos x="T2" y="T3"/>
                </a:cxn>
                <a:cxn ang="0">
                  <a:pos x="T4" y="T5"/>
                </a:cxn>
              </a:cxnLst>
              <a:rect l="0" t="0" r="r" b="b"/>
              <a:pathLst>
                <a:path w="247" h="394">
                  <a:moveTo>
                    <a:pt x="247" y="0"/>
                  </a:moveTo>
                  <a:lnTo>
                    <a:pt x="247" y="129"/>
                  </a:lnTo>
                  <a:lnTo>
                    <a:pt x="0" y="394"/>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2" name="Freeform 27">
              <a:extLst>
                <a:ext uri="{FF2B5EF4-FFF2-40B4-BE49-F238E27FC236}">
                  <a16:creationId xmlns:a16="http://schemas.microsoft.com/office/drawing/2014/main" id="{5C3A1B85-01FF-620F-6ADB-D27DCCD8228B}"/>
                </a:ext>
              </a:extLst>
            </p:cNvPr>
            <p:cNvSpPr>
              <a:spLocks/>
            </p:cNvSpPr>
            <p:nvPr/>
          </p:nvSpPr>
          <p:spPr bwMode="auto">
            <a:xfrm>
              <a:off x="4265" y="3061"/>
              <a:ext cx="141" cy="306"/>
            </a:xfrm>
            <a:custGeom>
              <a:avLst/>
              <a:gdLst>
                <a:gd name="T0" fmla="*/ 141 w 141"/>
                <a:gd name="T1" fmla="*/ 0 h 306"/>
                <a:gd name="T2" fmla="*/ 141 w 141"/>
                <a:gd name="T3" fmla="*/ 157 h 306"/>
                <a:gd name="T4" fmla="*/ 0 w 141"/>
                <a:gd name="T5" fmla="*/ 306 h 306"/>
              </a:gdLst>
              <a:ahLst/>
              <a:cxnLst>
                <a:cxn ang="0">
                  <a:pos x="T0" y="T1"/>
                </a:cxn>
                <a:cxn ang="0">
                  <a:pos x="T2" y="T3"/>
                </a:cxn>
                <a:cxn ang="0">
                  <a:pos x="T4" y="T5"/>
                </a:cxn>
              </a:cxnLst>
              <a:rect l="0" t="0" r="r" b="b"/>
              <a:pathLst>
                <a:path w="141" h="306">
                  <a:moveTo>
                    <a:pt x="141" y="0"/>
                  </a:moveTo>
                  <a:lnTo>
                    <a:pt x="141" y="157"/>
                  </a:lnTo>
                  <a:lnTo>
                    <a:pt x="0" y="306"/>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3" name="Freeform 28">
              <a:extLst>
                <a:ext uri="{FF2B5EF4-FFF2-40B4-BE49-F238E27FC236}">
                  <a16:creationId xmlns:a16="http://schemas.microsoft.com/office/drawing/2014/main" id="{D88C791F-A3BC-B534-4BF5-C987C55C06EB}"/>
                </a:ext>
              </a:extLst>
            </p:cNvPr>
            <p:cNvSpPr>
              <a:spLocks/>
            </p:cNvSpPr>
            <p:nvPr/>
          </p:nvSpPr>
          <p:spPr bwMode="auto">
            <a:xfrm>
              <a:off x="4511" y="2878"/>
              <a:ext cx="353" cy="204"/>
            </a:xfrm>
            <a:custGeom>
              <a:avLst/>
              <a:gdLst>
                <a:gd name="T0" fmla="*/ 353 w 353"/>
                <a:gd name="T1" fmla="*/ 0 h 204"/>
                <a:gd name="T2" fmla="*/ 198 w 353"/>
                <a:gd name="T3" fmla="*/ 0 h 204"/>
                <a:gd name="T4" fmla="*/ 0 w 353"/>
                <a:gd name="T5" fmla="*/ 204 h 204"/>
              </a:gdLst>
              <a:ahLst/>
              <a:cxnLst>
                <a:cxn ang="0">
                  <a:pos x="T0" y="T1"/>
                </a:cxn>
                <a:cxn ang="0">
                  <a:pos x="T2" y="T3"/>
                </a:cxn>
                <a:cxn ang="0">
                  <a:pos x="T4" y="T5"/>
                </a:cxn>
              </a:cxnLst>
              <a:rect l="0" t="0" r="r" b="b"/>
              <a:pathLst>
                <a:path w="353" h="204">
                  <a:moveTo>
                    <a:pt x="353" y="0"/>
                  </a:moveTo>
                  <a:lnTo>
                    <a:pt x="198" y="0"/>
                  </a:lnTo>
                  <a:lnTo>
                    <a:pt x="0" y="204"/>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4" name="Freeform 29">
              <a:extLst>
                <a:ext uri="{FF2B5EF4-FFF2-40B4-BE49-F238E27FC236}">
                  <a16:creationId xmlns:a16="http://schemas.microsoft.com/office/drawing/2014/main" id="{BCBD962F-DC07-6589-5AB7-516025633D1B}"/>
                </a:ext>
              </a:extLst>
            </p:cNvPr>
            <p:cNvSpPr>
              <a:spLocks/>
            </p:cNvSpPr>
            <p:nvPr/>
          </p:nvSpPr>
          <p:spPr bwMode="auto">
            <a:xfrm>
              <a:off x="4617" y="2409"/>
              <a:ext cx="239" cy="449"/>
            </a:xfrm>
            <a:custGeom>
              <a:avLst/>
              <a:gdLst>
                <a:gd name="T0" fmla="*/ 239 w 239"/>
                <a:gd name="T1" fmla="*/ 0 h 449"/>
                <a:gd name="T2" fmla="*/ 239 w 239"/>
                <a:gd name="T3" fmla="*/ 204 h 449"/>
                <a:gd name="T4" fmla="*/ 0 w 239"/>
                <a:gd name="T5" fmla="*/ 449 h 449"/>
              </a:gdLst>
              <a:ahLst/>
              <a:cxnLst>
                <a:cxn ang="0">
                  <a:pos x="T0" y="T1"/>
                </a:cxn>
                <a:cxn ang="0">
                  <a:pos x="T2" y="T3"/>
                </a:cxn>
                <a:cxn ang="0">
                  <a:pos x="T4" y="T5"/>
                </a:cxn>
              </a:cxnLst>
              <a:rect l="0" t="0" r="r" b="b"/>
              <a:pathLst>
                <a:path w="239" h="449">
                  <a:moveTo>
                    <a:pt x="239" y="0"/>
                  </a:moveTo>
                  <a:lnTo>
                    <a:pt x="239" y="204"/>
                  </a:lnTo>
                  <a:lnTo>
                    <a:pt x="0" y="449"/>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5" name="Freeform 30">
              <a:extLst>
                <a:ext uri="{FF2B5EF4-FFF2-40B4-BE49-F238E27FC236}">
                  <a16:creationId xmlns:a16="http://schemas.microsoft.com/office/drawing/2014/main" id="{AAF19790-5DA1-6ED2-C44B-D1E31A7B85FB}"/>
                </a:ext>
              </a:extLst>
            </p:cNvPr>
            <p:cNvSpPr>
              <a:spLocks/>
            </p:cNvSpPr>
            <p:nvPr/>
          </p:nvSpPr>
          <p:spPr bwMode="auto">
            <a:xfrm>
              <a:off x="4772" y="2701"/>
              <a:ext cx="63" cy="116"/>
            </a:xfrm>
            <a:custGeom>
              <a:avLst/>
              <a:gdLst>
                <a:gd name="T0" fmla="*/ 0 w 63"/>
                <a:gd name="T1" fmla="*/ 0 h 116"/>
                <a:gd name="T2" fmla="*/ 63 w 63"/>
                <a:gd name="T3" fmla="*/ 68 h 116"/>
                <a:gd name="T4" fmla="*/ 14 w 63"/>
                <a:gd name="T5" fmla="*/ 116 h 116"/>
              </a:gdLst>
              <a:ahLst/>
              <a:cxnLst>
                <a:cxn ang="0">
                  <a:pos x="T0" y="T1"/>
                </a:cxn>
                <a:cxn ang="0">
                  <a:pos x="T2" y="T3"/>
                </a:cxn>
                <a:cxn ang="0">
                  <a:pos x="T4" y="T5"/>
                </a:cxn>
              </a:cxnLst>
              <a:rect l="0" t="0" r="r" b="b"/>
              <a:pathLst>
                <a:path w="63" h="116">
                  <a:moveTo>
                    <a:pt x="0" y="0"/>
                  </a:moveTo>
                  <a:lnTo>
                    <a:pt x="63" y="68"/>
                  </a:lnTo>
                  <a:lnTo>
                    <a:pt x="14" y="116"/>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6" name="Freeform 31">
              <a:extLst>
                <a:ext uri="{FF2B5EF4-FFF2-40B4-BE49-F238E27FC236}">
                  <a16:creationId xmlns:a16="http://schemas.microsoft.com/office/drawing/2014/main" id="{2F82E00C-DF6C-3130-C8C7-F35D24C4E469}"/>
                </a:ext>
              </a:extLst>
            </p:cNvPr>
            <p:cNvSpPr>
              <a:spLocks/>
            </p:cNvSpPr>
            <p:nvPr/>
          </p:nvSpPr>
          <p:spPr bwMode="auto">
            <a:xfrm>
              <a:off x="4012" y="2674"/>
              <a:ext cx="239" cy="116"/>
            </a:xfrm>
            <a:custGeom>
              <a:avLst/>
              <a:gdLst>
                <a:gd name="T0" fmla="*/ 239 w 239"/>
                <a:gd name="T1" fmla="*/ 0 h 116"/>
                <a:gd name="T2" fmla="*/ 126 w 239"/>
                <a:gd name="T3" fmla="*/ 116 h 116"/>
                <a:gd name="T4" fmla="*/ 0 w 239"/>
                <a:gd name="T5" fmla="*/ 116 h 116"/>
              </a:gdLst>
              <a:ahLst/>
              <a:cxnLst>
                <a:cxn ang="0">
                  <a:pos x="T0" y="T1"/>
                </a:cxn>
                <a:cxn ang="0">
                  <a:pos x="T2" y="T3"/>
                </a:cxn>
                <a:cxn ang="0">
                  <a:pos x="T4" y="T5"/>
                </a:cxn>
              </a:cxnLst>
              <a:rect l="0" t="0" r="r" b="b"/>
              <a:pathLst>
                <a:path w="239" h="116">
                  <a:moveTo>
                    <a:pt x="239" y="0"/>
                  </a:moveTo>
                  <a:lnTo>
                    <a:pt x="126" y="116"/>
                  </a:lnTo>
                  <a:lnTo>
                    <a:pt x="0" y="116"/>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7" name="Freeform 32">
              <a:extLst>
                <a:ext uri="{FF2B5EF4-FFF2-40B4-BE49-F238E27FC236}">
                  <a16:creationId xmlns:a16="http://schemas.microsoft.com/office/drawing/2014/main" id="{145C1F99-F626-0043-D527-00DD96944061}"/>
                </a:ext>
              </a:extLst>
            </p:cNvPr>
            <p:cNvSpPr>
              <a:spLocks/>
            </p:cNvSpPr>
            <p:nvPr/>
          </p:nvSpPr>
          <p:spPr bwMode="auto">
            <a:xfrm>
              <a:off x="4047" y="2790"/>
              <a:ext cx="91" cy="224"/>
            </a:xfrm>
            <a:custGeom>
              <a:avLst/>
              <a:gdLst>
                <a:gd name="T0" fmla="*/ 91 w 91"/>
                <a:gd name="T1" fmla="*/ 0 h 224"/>
                <a:gd name="T2" fmla="*/ 91 w 91"/>
                <a:gd name="T3" fmla="*/ 136 h 224"/>
                <a:gd name="T4" fmla="*/ 0 w 91"/>
                <a:gd name="T5" fmla="*/ 224 h 224"/>
              </a:gdLst>
              <a:ahLst/>
              <a:cxnLst>
                <a:cxn ang="0">
                  <a:pos x="T0" y="T1"/>
                </a:cxn>
                <a:cxn ang="0">
                  <a:pos x="T2" y="T3"/>
                </a:cxn>
                <a:cxn ang="0">
                  <a:pos x="T4" y="T5"/>
                </a:cxn>
              </a:cxnLst>
              <a:rect l="0" t="0" r="r" b="b"/>
              <a:pathLst>
                <a:path w="91" h="224">
                  <a:moveTo>
                    <a:pt x="91" y="0"/>
                  </a:moveTo>
                  <a:lnTo>
                    <a:pt x="91" y="136"/>
                  </a:lnTo>
                  <a:lnTo>
                    <a:pt x="0" y="224"/>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8" name="Freeform 33">
              <a:extLst>
                <a:ext uri="{FF2B5EF4-FFF2-40B4-BE49-F238E27FC236}">
                  <a16:creationId xmlns:a16="http://schemas.microsoft.com/office/drawing/2014/main" id="{98870567-3C9E-B3BB-93F4-506B00673A35}"/>
                </a:ext>
              </a:extLst>
            </p:cNvPr>
            <p:cNvSpPr>
              <a:spLocks/>
            </p:cNvSpPr>
            <p:nvPr/>
          </p:nvSpPr>
          <p:spPr bwMode="auto">
            <a:xfrm>
              <a:off x="4610" y="2987"/>
              <a:ext cx="106" cy="231"/>
            </a:xfrm>
            <a:custGeom>
              <a:avLst/>
              <a:gdLst>
                <a:gd name="T0" fmla="*/ 0 w 106"/>
                <a:gd name="T1" fmla="*/ 0 h 231"/>
                <a:gd name="T2" fmla="*/ 106 w 106"/>
                <a:gd name="T3" fmla="*/ 115 h 231"/>
                <a:gd name="T4" fmla="*/ 0 w 106"/>
                <a:gd name="T5" fmla="*/ 231 h 231"/>
              </a:gdLst>
              <a:ahLst/>
              <a:cxnLst>
                <a:cxn ang="0">
                  <a:pos x="T0" y="T1"/>
                </a:cxn>
                <a:cxn ang="0">
                  <a:pos x="T2" y="T3"/>
                </a:cxn>
                <a:cxn ang="0">
                  <a:pos x="T4" y="T5"/>
                </a:cxn>
              </a:cxnLst>
              <a:rect l="0" t="0" r="r" b="b"/>
              <a:pathLst>
                <a:path w="106" h="231">
                  <a:moveTo>
                    <a:pt x="0" y="0"/>
                  </a:moveTo>
                  <a:lnTo>
                    <a:pt x="106" y="115"/>
                  </a:lnTo>
                  <a:lnTo>
                    <a:pt x="0" y="231"/>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19" name="Line 34">
              <a:extLst>
                <a:ext uri="{FF2B5EF4-FFF2-40B4-BE49-F238E27FC236}">
                  <a16:creationId xmlns:a16="http://schemas.microsoft.com/office/drawing/2014/main" id="{C534D4D1-FD4A-7AF9-724D-497C51C7D8FB}"/>
                </a:ext>
              </a:extLst>
            </p:cNvPr>
            <p:cNvSpPr>
              <a:spLocks noChangeShapeType="1"/>
            </p:cNvSpPr>
            <p:nvPr/>
          </p:nvSpPr>
          <p:spPr bwMode="auto">
            <a:xfrm>
              <a:off x="4364" y="2457"/>
              <a:ext cx="91" cy="95"/>
            </a:xfrm>
            <a:prstGeom prst="line">
              <a:avLst/>
            </a:prstGeom>
            <a:noFill/>
            <a:ln w="11113" cap="flat">
              <a:solidFill>
                <a:schemeClr val="accent1"/>
              </a:solidFill>
              <a:prstDash val="solid"/>
              <a:miter lim="800000"/>
              <a:headEnd/>
              <a:tailEnd type="oval"/>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0" name="Freeform 35">
              <a:extLst>
                <a:ext uri="{FF2B5EF4-FFF2-40B4-BE49-F238E27FC236}">
                  <a16:creationId xmlns:a16="http://schemas.microsoft.com/office/drawing/2014/main" id="{D1D31E84-25C1-46B6-DDFB-006BB6E3AEB3}"/>
                </a:ext>
              </a:extLst>
            </p:cNvPr>
            <p:cNvSpPr>
              <a:spLocks/>
            </p:cNvSpPr>
            <p:nvPr/>
          </p:nvSpPr>
          <p:spPr bwMode="auto">
            <a:xfrm>
              <a:off x="3934" y="1301"/>
              <a:ext cx="49" cy="150"/>
            </a:xfrm>
            <a:custGeom>
              <a:avLst/>
              <a:gdLst>
                <a:gd name="T0" fmla="*/ 49 w 49"/>
                <a:gd name="T1" fmla="*/ 0 h 150"/>
                <a:gd name="T2" fmla="*/ 0 w 49"/>
                <a:gd name="T3" fmla="*/ 48 h 150"/>
                <a:gd name="T4" fmla="*/ 0 w 49"/>
                <a:gd name="T5" fmla="*/ 116 h 150"/>
                <a:gd name="T6" fmla="*/ 35 w 49"/>
                <a:gd name="T7" fmla="*/ 150 h 150"/>
              </a:gdLst>
              <a:ahLst/>
              <a:cxnLst>
                <a:cxn ang="0">
                  <a:pos x="T0" y="T1"/>
                </a:cxn>
                <a:cxn ang="0">
                  <a:pos x="T2" y="T3"/>
                </a:cxn>
                <a:cxn ang="0">
                  <a:pos x="T4" y="T5"/>
                </a:cxn>
                <a:cxn ang="0">
                  <a:pos x="T6" y="T7"/>
                </a:cxn>
              </a:cxnLst>
              <a:rect l="0" t="0" r="r" b="b"/>
              <a:pathLst>
                <a:path w="49" h="150">
                  <a:moveTo>
                    <a:pt x="49" y="0"/>
                  </a:moveTo>
                  <a:lnTo>
                    <a:pt x="0" y="48"/>
                  </a:lnTo>
                  <a:lnTo>
                    <a:pt x="0" y="116"/>
                  </a:lnTo>
                  <a:lnTo>
                    <a:pt x="35" y="150"/>
                  </a:lnTo>
                </a:path>
              </a:pathLst>
            </a:custGeom>
            <a:noFill/>
            <a:ln w="11113" cap="flat">
              <a:solidFill>
                <a:schemeClr val="accent1"/>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grpSp>
      <p:grpSp>
        <p:nvGrpSpPr>
          <p:cNvPr id="121" name="Group 4">
            <a:extLst>
              <a:ext uri="{FF2B5EF4-FFF2-40B4-BE49-F238E27FC236}">
                <a16:creationId xmlns:a16="http://schemas.microsoft.com/office/drawing/2014/main" id="{11B7CDA3-A542-D76B-DE59-7686930B898C}"/>
              </a:ext>
            </a:extLst>
          </p:cNvPr>
          <p:cNvGrpSpPr>
            <a:grpSpLocks noChangeAspect="1"/>
          </p:cNvGrpSpPr>
          <p:nvPr/>
        </p:nvGrpSpPr>
        <p:grpSpPr bwMode="auto">
          <a:xfrm flipH="1">
            <a:off x="4352944" y="1937953"/>
            <a:ext cx="1596721" cy="3899712"/>
            <a:chOff x="3899" y="1111"/>
            <a:chExt cx="1049" cy="2562"/>
          </a:xfrm>
        </p:grpSpPr>
        <p:sp>
          <p:nvSpPr>
            <p:cNvPr id="122" name="Freeform 5">
              <a:extLst>
                <a:ext uri="{FF2B5EF4-FFF2-40B4-BE49-F238E27FC236}">
                  <a16:creationId xmlns:a16="http://schemas.microsoft.com/office/drawing/2014/main" id="{6E7BB430-463A-F0DB-25A9-32137FF799B8}"/>
                </a:ext>
              </a:extLst>
            </p:cNvPr>
            <p:cNvSpPr>
              <a:spLocks/>
            </p:cNvSpPr>
            <p:nvPr/>
          </p:nvSpPr>
          <p:spPr bwMode="auto">
            <a:xfrm>
              <a:off x="3955" y="1111"/>
              <a:ext cx="556" cy="1346"/>
            </a:xfrm>
            <a:custGeom>
              <a:avLst/>
              <a:gdLst>
                <a:gd name="T0" fmla="*/ 303 w 556"/>
                <a:gd name="T1" fmla="*/ 503 h 1346"/>
                <a:gd name="T2" fmla="*/ 303 w 556"/>
                <a:gd name="T3" fmla="*/ 340 h 1346"/>
                <a:gd name="T4" fmla="*/ 197 w 556"/>
                <a:gd name="T5" fmla="*/ 231 h 1346"/>
                <a:gd name="T6" fmla="*/ 71 w 556"/>
                <a:gd name="T7" fmla="*/ 231 h 1346"/>
                <a:gd name="T8" fmla="*/ 0 w 556"/>
                <a:gd name="T9" fmla="*/ 156 h 1346"/>
                <a:gd name="T10" fmla="*/ 0 w 556"/>
                <a:gd name="T11" fmla="*/ 75 h 1346"/>
                <a:gd name="T12" fmla="*/ 71 w 556"/>
                <a:gd name="T13" fmla="*/ 0 h 1346"/>
                <a:gd name="T14" fmla="*/ 254 w 556"/>
                <a:gd name="T15" fmla="*/ 0 h 1346"/>
                <a:gd name="T16" fmla="*/ 451 w 556"/>
                <a:gd name="T17" fmla="*/ 204 h 1346"/>
                <a:gd name="T18" fmla="*/ 451 w 556"/>
                <a:gd name="T19" fmla="*/ 523 h 1346"/>
                <a:gd name="T20" fmla="*/ 359 w 556"/>
                <a:gd name="T21" fmla="*/ 618 h 1346"/>
                <a:gd name="T22" fmla="*/ 556 w 556"/>
                <a:gd name="T23" fmla="*/ 822 h 1346"/>
                <a:gd name="T24" fmla="*/ 423 w 556"/>
                <a:gd name="T25" fmla="*/ 958 h 1346"/>
                <a:gd name="T26" fmla="*/ 423 w 556"/>
                <a:gd name="T27" fmla="*/ 1250 h 1346"/>
                <a:gd name="T28" fmla="*/ 331 w 556"/>
                <a:gd name="T29" fmla="*/ 1346 h 1346"/>
                <a:gd name="T30" fmla="*/ 169 w 556"/>
                <a:gd name="T31" fmla="*/ 1346 h 1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6" h="1346">
                  <a:moveTo>
                    <a:pt x="303" y="503"/>
                  </a:moveTo>
                  <a:lnTo>
                    <a:pt x="303" y="340"/>
                  </a:lnTo>
                  <a:lnTo>
                    <a:pt x="197" y="231"/>
                  </a:lnTo>
                  <a:lnTo>
                    <a:pt x="71" y="231"/>
                  </a:lnTo>
                  <a:lnTo>
                    <a:pt x="0" y="156"/>
                  </a:lnTo>
                  <a:lnTo>
                    <a:pt x="0" y="75"/>
                  </a:lnTo>
                  <a:lnTo>
                    <a:pt x="71" y="0"/>
                  </a:lnTo>
                  <a:lnTo>
                    <a:pt x="254" y="0"/>
                  </a:lnTo>
                  <a:lnTo>
                    <a:pt x="451" y="204"/>
                  </a:lnTo>
                  <a:lnTo>
                    <a:pt x="451" y="523"/>
                  </a:lnTo>
                  <a:lnTo>
                    <a:pt x="359" y="618"/>
                  </a:lnTo>
                  <a:lnTo>
                    <a:pt x="556" y="822"/>
                  </a:lnTo>
                  <a:lnTo>
                    <a:pt x="423" y="958"/>
                  </a:lnTo>
                  <a:lnTo>
                    <a:pt x="423" y="1250"/>
                  </a:lnTo>
                  <a:lnTo>
                    <a:pt x="331" y="1346"/>
                  </a:lnTo>
                  <a:lnTo>
                    <a:pt x="169" y="1346"/>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3" name="Line 6">
              <a:extLst>
                <a:ext uri="{FF2B5EF4-FFF2-40B4-BE49-F238E27FC236}">
                  <a16:creationId xmlns:a16="http://schemas.microsoft.com/office/drawing/2014/main" id="{DC90B44C-5D56-1CD6-ECC8-540EB5F84770}"/>
                </a:ext>
              </a:extLst>
            </p:cNvPr>
            <p:cNvSpPr>
              <a:spLocks noChangeShapeType="1"/>
            </p:cNvSpPr>
            <p:nvPr/>
          </p:nvSpPr>
          <p:spPr bwMode="auto">
            <a:xfrm>
              <a:off x="4152" y="1342"/>
              <a:ext cx="155" cy="0"/>
            </a:xfrm>
            <a:prstGeom prst="line">
              <a:avLst/>
            </a:prstGeom>
            <a:noFill/>
            <a:ln w="11113" cap="flat">
              <a:solidFill>
                <a:srgbClr val="86BC25"/>
              </a:solidFill>
              <a:prstDash val="solid"/>
              <a:miter lim="800000"/>
              <a:headEnd/>
              <a:tailEnd type="oval"/>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4" name="Freeform 7">
              <a:extLst>
                <a:ext uri="{FF2B5EF4-FFF2-40B4-BE49-F238E27FC236}">
                  <a16:creationId xmlns:a16="http://schemas.microsoft.com/office/drawing/2014/main" id="{07803779-1CAE-E8B1-7B3F-9647183F16AB}"/>
                </a:ext>
              </a:extLst>
            </p:cNvPr>
            <p:cNvSpPr>
              <a:spLocks/>
            </p:cNvSpPr>
            <p:nvPr/>
          </p:nvSpPr>
          <p:spPr bwMode="auto">
            <a:xfrm>
              <a:off x="4068" y="1220"/>
              <a:ext cx="148" cy="122"/>
            </a:xfrm>
            <a:custGeom>
              <a:avLst/>
              <a:gdLst>
                <a:gd name="T0" fmla="*/ 148 w 148"/>
                <a:gd name="T1" fmla="*/ 122 h 122"/>
                <a:gd name="T2" fmla="*/ 148 w 148"/>
                <a:gd name="T3" fmla="*/ 88 h 122"/>
                <a:gd name="T4" fmla="*/ 70 w 148"/>
                <a:gd name="T5" fmla="*/ 0 h 122"/>
                <a:gd name="T6" fmla="*/ 0 w 148"/>
                <a:gd name="T7" fmla="*/ 0 h 122"/>
              </a:gdLst>
              <a:ahLst/>
              <a:cxnLst>
                <a:cxn ang="0">
                  <a:pos x="T0" y="T1"/>
                </a:cxn>
                <a:cxn ang="0">
                  <a:pos x="T2" y="T3"/>
                </a:cxn>
                <a:cxn ang="0">
                  <a:pos x="T4" y="T5"/>
                </a:cxn>
                <a:cxn ang="0">
                  <a:pos x="T6" y="T7"/>
                </a:cxn>
              </a:cxnLst>
              <a:rect l="0" t="0" r="r" b="b"/>
              <a:pathLst>
                <a:path w="148" h="122">
                  <a:moveTo>
                    <a:pt x="148" y="122"/>
                  </a:moveTo>
                  <a:lnTo>
                    <a:pt x="148" y="88"/>
                  </a:lnTo>
                  <a:lnTo>
                    <a:pt x="70" y="0"/>
                  </a:lnTo>
                  <a:lnTo>
                    <a:pt x="0" y="0"/>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5" name="Freeform 8">
              <a:extLst>
                <a:ext uri="{FF2B5EF4-FFF2-40B4-BE49-F238E27FC236}">
                  <a16:creationId xmlns:a16="http://schemas.microsoft.com/office/drawing/2014/main" id="{1D161BD5-A518-2799-0E9B-BEFE48133057}"/>
                </a:ext>
              </a:extLst>
            </p:cNvPr>
            <p:cNvSpPr>
              <a:spLocks/>
            </p:cNvSpPr>
            <p:nvPr/>
          </p:nvSpPr>
          <p:spPr bwMode="auto">
            <a:xfrm>
              <a:off x="3934" y="1417"/>
              <a:ext cx="444" cy="503"/>
            </a:xfrm>
            <a:custGeom>
              <a:avLst/>
              <a:gdLst>
                <a:gd name="T0" fmla="*/ 444 w 444"/>
                <a:gd name="T1" fmla="*/ 503 h 503"/>
                <a:gd name="T2" fmla="*/ 324 w 444"/>
                <a:gd name="T3" fmla="*/ 503 h 503"/>
                <a:gd name="T4" fmla="*/ 232 w 444"/>
                <a:gd name="T5" fmla="*/ 408 h 503"/>
                <a:gd name="T6" fmla="*/ 92 w 444"/>
                <a:gd name="T7" fmla="*/ 408 h 503"/>
                <a:gd name="T8" fmla="*/ 0 w 444"/>
                <a:gd name="T9" fmla="*/ 312 h 503"/>
                <a:gd name="T10" fmla="*/ 0 w 444"/>
                <a:gd name="T11" fmla="*/ 68 h 503"/>
                <a:gd name="T12" fmla="*/ 63 w 444"/>
                <a:gd name="T13" fmla="*/ 0 h 503"/>
                <a:gd name="T14" fmla="*/ 169 w 444"/>
                <a:gd name="T15" fmla="*/ 0 h 503"/>
                <a:gd name="T16" fmla="*/ 240 w 444"/>
                <a:gd name="T17" fmla="*/ 75 h 503"/>
                <a:gd name="T18" fmla="*/ 240 w 444"/>
                <a:gd name="T19" fmla="*/ 285 h 503"/>
                <a:gd name="T20" fmla="*/ 345 w 444"/>
                <a:gd name="T21" fmla="*/ 40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4" h="503">
                  <a:moveTo>
                    <a:pt x="444" y="503"/>
                  </a:moveTo>
                  <a:lnTo>
                    <a:pt x="324" y="503"/>
                  </a:lnTo>
                  <a:lnTo>
                    <a:pt x="232" y="408"/>
                  </a:lnTo>
                  <a:lnTo>
                    <a:pt x="92" y="408"/>
                  </a:lnTo>
                  <a:lnTo>
                    <a:pt x="0" y="312"/>
                  </a:lnTo>
                  <a:lnTo>
                    <a:pt x="0" y="68"/>
                  </a:lnTo>
                  <a:lnTo>
                    <a:pt x="63" y="0"/>
                  </a:lnTo>
                  <a:lnTo>
                    <a:pt x="169" y="0"/>
                  </a:lnTo>
                  <a:lnTo>
                    <a:pt x="240" y="75"/>
                  </a:lnTo>
                  <a:lnTo>
                    <a:pt x="240" y="285"/>
                  </a:lnTo>
                  <a:lnTo>
                    <a:pt x="345" y="401"/>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6" name="Freeform 9">
              <a:extLst>
                <a:ext uri="{FF2B5EF4-FFF2-40B4-BE49-F238E27FC236}">
                  <a16:creationId xmlns:a16="http://schemas.microsoft.com/office/drawing/2014/main" id="{CDDED788-B6AB-0C24-B274-5D403634A1DB}"/>
                </a:ext>
              </a:extLst>
            </p:cNvPr>
            <p:cNvSpPr>
              <a:spLocks/>
            </p:cNvSpPr>
            <p:nvPr/>
          </p:nvSpPr>
          <p:spPr bwMode="auto">
            <a:xfrm>
              <a:off x="4033" y="1594"/>
              <a:ext cx="141" cy="54"/>
            </a:xfrm>
            <a:custGeom>
              <a:avLst/>
              <a:gdLst>
                <a:gd name="T0" fmla="*/ 141 w 141"/>
                <a:gd name="T1" fmla="*/ 0 h 54"/>
                <a:gd name="T2" fmla="*/ 56 w 141"/>
                <a:gd name="T3" fmla="*/ 0 h 54"/>
                <a:gd name="T4" fmla="*/ 0 w 141"/>
                <a:gd name="T5" fmla="*/ 54 h 54"/>
              </a:gdLst>
              <a:ahLst/>
              <a:cxnLst>
                <a:cxn ang="0">
                  <a:pos x="T0" y="T1"/>
                </a:cxn>
                <a:cxn ang="0">
                  <a:pos x="T2" y="T3"/>
                </a:cxn>
                <a:cxn ang="0">
                  <a:pos x="T4" y="T5"/>
                </a:cxn>
              </a:cxnLst>
              <a:rect l="0" t="0" r="r" b="b"/>
              <a:pathLst>
                <a:path w="141" h="54">
                  <a:moveTo>
                    <a:pt x="141" y="0"/>
                  </a:moveTo>
                  <a:lnTo>
                    <a:pt x="56" y="0"/>
                  </a:lnTo>
                  <a:lnTo>
                    <a:pt x="0" y="54"/>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7" name="Freeform 10">
              <a:extLst>
                <a:ext uri="{FF2B5EF4-FFF2-40B4-BE49-F238E27FC236}">
                  <a16:creationId xmlns:a16="http://schemas.microsoft.com/office/drawing/2014/main" id="{901ADBBE-59FF-1145-F06F-9C5562EA62E4}"/>
                </a:ext>
              </a:extLst>
            </p:cNvPr>
            <p:cNvSpPr>
              <a:spLocks/>
            </p:cNvSpPr>
            <p:nvPr/>
          </p:nvSpPr>
          <p:spPr bwMode="auto">
            <a:xfrm>
              <a:off x="4406" y="1390"/>
              <a:ext cx="289" cy="421"/>
            </a:xfrm>
            <a:custGeom>
              <a:avLst/>
              <a:gdLst>
                <a:gd name="T0" fmla="*/ 0 w 289"/>
                <a:gd name="T1" fmla="*/ 0 h 421"/>
                <a:gd name="T2" fmla="*/ 105 w 289"/>
                <a:gd name="T3" fmla="*/ 0 h 421"/>
                <a:gd name="T4" fmla="*/ 289 w 289"/>
                <a:gd name="T5" fmla="*/ 197 h 421"/>
                <a:gd name="T6" fmla="*/ 289 w 289"/>
                <a:gd name="T7" fmla="*/ 421 h 421"/>
              </a:gdLst>
              <a:ahLst/>
              <a:cxnLst>
                <a:cxn ang="0">
                  <a:pos x="T0" y="T1"/>
                </a:cxn>
                <a:cxn ang="0">
                  <a:pos x="T2" y="T3"/>
                </a:cxn>
                <a:cxn ang="0">
                  <a:pos x="T4" y="T5"/>
                </a:cxn>
                <a:cxn ang="0">
                  <a:pos x="T6" y="T7"/>
                </a:cxn>
              </a:cxnLst>
              <a:rect l="0" t="0" r="r" b="b"/>
              <a:pathLst>
                <a:path w="289" h="421">
                  <a:moveTo>
                    <a:pt x="0" y="0"/>
                  </a:moveTo>
                  <a:lnTo>
                    <a:pt x="105" y="0"/>
                  </a:lnTo>
                  <a:lnTo>
                    <a:pt x="289" y="197"/>
                  </a:lnTo>
                  <a:lnTo>
                    <a:pt x="289" y="421"/>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8" name="Freeform 11">
              <a:extLst>
                <a:ext uri="{FF2B5EF4-FFF2-40B4-BE49-F238E27FC236}">
                  <a16:creationId xmlns:a16="http://schemas.microsoft.com/office/drawing/2014/main" id="{DDE18FA6-F18A-4DD4-9BB3-5A88CB87A5C3}"/>
                </a:ext>
              </a:extLst>
            </p:cNvPr>
            <p:cNvSpPr>
              <a:spLocks/>
            </p:cNvSpPr>
            <p:nvPr/>
          </p:nvSpPr>
          <p:spPr bwMode="auto">
            <a:xfrm>
              <a:off x="4540" y="1573"/>
              <a:ext cx="331" cy="727"/>
            </a:xfrm>
            <a:custGeom>
              <a:avLst/>
              <a:gdLst>
                <a:gd name="T0" fmla="*/ 126 w 331"/>
                <a:gd name="T1" fmla="*/ 727 h 727"/>
                <a:gd name="T2" fmla="*/ 169 w 331"/>
                <a:gd name="T3" fmla="*/ 687 h 727"/>
                <a:gd name="T4" fmla="*/ 331 w 331"/>
                <a:gd name="T5" fmla="*/ 693 h 727"/>
                <a:gd name="T6" fmla="*/ 331 w 331"/>
                <a:gd name="T7" fmla="*/ 306 h 727"/>
                <a:gd name="T8" fmla="*/ 260 w 331"/>
                <a:gd name="T9" fmla="*/ 238 h 727"/>
                <a:gd name="T10" fmla="*/ 119 w 331"/>
                <a:gd name="T11" fmla="*/ 238 h 727"/>
                <a:gd name="T12" fmla="*/ 0 w 331"/>
                <a:gd name="T13" fmla="*/ 109 h 727"/>
                <a:gd name="T14" fmla="*/ 0 w 331"/>
                <a:gd name="T15" fmla="*/ 0 h 7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1" h="727">
                  <a:moveTo>
                    <a:pt x="126" y="727"/>
                  </a:moveTo>
                  <a:lnTo>
                    <a:pt x="169" y="687"/>
                  </a:lnTo>
                  <a:lnTo>
                    <a:pt x="331" y="693"/>
                  </a:lnTo>
                  <a:lnTo>
                    <a:pt x="331" y="306"/>
                  </a:lnTo>
                  <a:lnTo>
                    <a:pt x="260" y="238"/>
                  </a:lnTo>
                  <a:lnTo>
                    <a:pt x="119" y="238"/>
                  </a:lnTo>
                  <a:lnTo>
                    <a:pt x="0" y="109"/>
                  </a:lnTo>
                  <a:lnTo>
                    <a:pt x="0" y="0"/>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29" name="Freeform 12">
              <a:extLst>
                <a:ext uri="{FF2B5EF4-FFF2-40B4-BE49-F238E27FC236}">
                  <a16:creationId xmlns:a16="http://schemas.microsoft.com/office/drawing/2014/main" id="{FFA36E15-D54A-23DE-667F-E6ABE7A9D75B}"/>
                </a:ext>
              </a:extLst>
            </p:cNvPr>
            <p:cNvSpPr>
              <a:spLocks/>
            </p:cNvSpPr>
            <p:nvPr/>
          </p:nvSpPr>
          <p:spPr bwMode="auto">
            <a:xfrm>
              <a:off x="4096" y="2266"/>
              <a:ext cx="852" cy="1183"/>
            </a:xfrm>
            <a:custGeom>
              <a:avLst/>
              <a:gdLst>
                <a:gd name="T0" fmla="*/ 775 w 852"/>
                <a:gd name="T1" fmla="*/ 0 h 1183"/>
                <a:gd name="T2" fmla="*/ 852 w 852"/>
                <a:gd name="T3" fmla="*/ 82 h 1183"/>
                <a:gd name="T4" fmla="*/ 852 w 852"/>
                <a:gd name="T5" fmla="*/ 524 h 1183"/>
                <a:gd name="T6" fmla="*/ 768 w 852"/>
                <a:gd name="T7" fmla="*/ 612 h 1183"/>
                <a:gd name="T8" fmla="*/ 768 w 852"/>
                <a:gd name="T9" fmla="*/ 870 h 1183"/>
                <a:gd name="T10" fmla="*/ 599 w 852"/>
                <a:gd name="T11" fmla="*/ 1054 h 1183"/>
                <a:gd name="T12" fmla="*/ 331 w 852"/>
                <a:gd name="T13" fmla="*/ 1054 h 1183"/>
                <a:gd name="T14" fmla="*/ 204 w 852"/>
                <a:gd name="T15" fmla="*/ 1183 h 1183"/>
                <a:gd name="T16" fmla="*/ 0 w 852"/>
                <a:gd name="T17" fmla="*/ 1183 h 1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2" h="1183">
                  <a:moveTo>
                    <a:pt x="775" y="0"/>
                  </a:moveTo>
                  <a:lnTo>
                    <a:pt x="852" y="82"/>
                  </a:lnTo>
                  <a:lnTo>
                    <a:pt x="852" y="524"/>
                  </a:lnTo>
                  <a:lnTo>
                    <a:pt x="768" y="612"/>
                  </a:lnTo>
                  <a:lnTo>
                    <a:pt x="768" y="870"/>
                  </a:lnTo>
                  <a:lnTo>
                    <a:pt x="599" y="1054"/>
                  </a:lnTo>
                  <a:lnTo>
                    <a:pt x="331" y="1054"/>
                  </a:lnTo>
                  <a:lnTo>
                    <a:pt x="204" y="1183"/>
                  </a:lnTo>
                  <a:lnTo>
                    <a:pt x="0" y="1183"/>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0" name="Freeform 13">
              <a:extLst>
                <a:ext uri="{FF2B5EF4-FFF2-40B4-BE49-F238E27FC236}">
                  <a16:creationId xmlns:a16="http://schemas.microsoft.com/office/drawing/2014/main" id="{ABA65312-B1BE-0131-98E4-EB8C7002B843}"/>
                </a:ext>
              </a:extLst>
            </p:cNvPr>
            <p:cNvSpPr>
              <a:spLocks/>
            </p:cNvSpPr>
            <p:nvPr/>
          </p:nvSpPr>
          <p:spPr bwMode="auto">
            <a:xfrm>
              <a:off x="3913" y="3320"/>
              <a:ext cx="725" cy="353"/>
            </a:xfrm>
            <a:custGeom>
              <a:avLst/>
              <a:gdLst>
                <a:gd name="T0" fmla="*/ 725 w 725"/>
                <a:gd name="T1" fmla="*/ 0 h 353"/>
                <a:gd name="T2" fmla="*/ 535 w 725"/>
                <a:gd name="T3" fmla="*/ 190 h 353"/>
                <a:gd name="T4" fmla="*/ 451 w 725"/>
                <a:gd name="T5" fmla="*/ 190 h 353"/>
                <a:gd name="T6" fmla="*/ 303 w 725"/>
                <a:gd name="T7" fmla="*/ 353 h 353"/>
                <a:gd name="T8" fmla="*/ 106 w 725"/>
                <a:gd name="T9" fmla="*/ 353 h 353"/>
                <a:gd name="T10" fmla="*/ 0 w 725"/>
                <a:gd name="T11" fmla="*/ 244 h 353"/>
                <a:gd name="T12" fmla="*/ 0 w 725"/>
                <a:gd name="T13" fmla="*/ 170 h 353"/>
                <a:gd name="T14" fmla="*/ 99 w 725"/>
                <a:gd name="T15" fmla="*/ 68 h 3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5" h="353">
                  <a:moveTo>
                    <a:pt x="725" y="0"/>
                  </a:moveTo>
                  <a:lnTo>
                    <a:pt x="535" y="190"/>
                  </a:lnTo>
                  <a:lnTo>
                    <a:pt x="451" y="190"/>
                  </a:lnTo>
                  <a:lnTo>
                    <a:pt x="303" y="353"/>
                  </a:lnTo>
                  <a:lnTo>
                    <a:pt x="106" y="353"/>
                  </a:lnTo>
                  <a:lnTo>
                    <a:pt x="0" y="244"/>
                  </a:lnTo>
                  <a:lnTo>
                    <a:pt x="0" y="170"/>
                  </a:lnTo>
                  <a:lnTo>
                    <a:pt x="99" y="68"/>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1" name="Freeform 14">
              <a:extLst>
                <a:ext uri="{FF2B5EF4-FFF2-40B4-BE49-F238E27FC236}">
                  <a16:creationId xmlns:a16="http://schemas.microsoft.com/office/drawing/2014/main" id="{B65A5246-87BC-CF80-9698-916EDCED0A04}"/>
                </a:ext>
              </a:extLst>
            </p:cNvPr>
            <p:cNvSpPr>
              <a:spLocks/>
            </p:cNvSpPr>
            <p:nvPr/>
          </p:nvSpPr>
          <p:spPr bwMode="auto">
            <a:xfrm>
              <a:off x="4061" y="3510"/>
              <a:ext cx="303" cy="102"/>
            </a:xfrm>
            <a:custGeom>
              <a:avLst/>
              <a:gdLst>
                <a:gd name="T0" fmla="*/ 303 w 303"/>
                <a:gd name="T1" fmla="*/ 0 h 102"/>
                <a:gd name="T2" fmla="*/ 183 w 303"/>
                <a:gd name="T3" fmla="*/ 0 h 102"/>
                <a:gd name="T4" fmla="*/ 84 w 303"/>
                <a:gd name="T5" fmla="*/ 102 h 102"/>
                <a:gd name="T6" fmla="*/ 0 w 303"/>
                <a:gd name="T7" fmla="*/ 102 h 102"/>
              </a:gdLst>
              <a:ahLst/>
              <a:cxnLst>
                <a:cxn ang="0">
                  <a:pos x="T0" y="T1"/>
                </a:cxn>
                <a:cxn ang="0">
                  <a:pos x="T2" y="T3"/>
                </a:cxn>
                <a:cxn ang="0">
                  <a:pos x="T4" y="T5"/>
                </a:cxn>
                <a:cxn ang="0">
                  <a:pos x="T6" y="T7"/>
                </a:cxn>
              </a:cxnLst>
              <a:rect l="0" t="0" r="r" b="b"/>
              <a:pathLst>
                <a:path w="303" h="102">
                  <a:moveTo>
                    <a:pt x="303" y="0"/>
                  </a:moveTo>
                  <a:lnTo>
                    <a:pt x="183" y="0"/>
                  </a:lnTo>
                  <a:lnTo>
                    <a:pt x="84" y="102"/>
                  </a:lnTo>
                  <a:lnTo>
                    <a:pt x="0" y="102"/>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2" name="Line 15">
              <a:extLst>
                <a:ext uri="{FF2B5EF4-FFF2-40B4-BE49-F238E27FC236}">
                  <a16:creationId xmlns:a16="http://schemas.microsoft.com/office/drawing/2014/main" id="{0D46EC7C-A1C5-8B50-5226-BF0D250756E9}"/>
                </a:ext>
              </a:extLst>
            </p:cNvPr>
            <p:cNvSpPr>
              <a:spLocks noChangeShapeType="1"/>
            </p:cNvSpPr>
            <p:nvPr/>
          </p:nvSpPr>
          <p:spPr bwMode="auto">
            <a:xfrm flipH="1">
              <a:off x="4047" y="3537"/>
              <a:ext cx="162" cy="0"/>
            </a:xfrm>
            <a:prstGeom prst="line">
              <a:avLst/>
            </a:prstGeom>
            <a:noFill/>
            <a:ln w="11113" cap="flat">
              <a:solidFill>
                <a:srgbClr val="86BC25"/>
              </a:solidFill>
              <a:prstDash val="solid"/>
              <a:miter lim="800000"/>
              <a:headEnd/>
              <a:tailEnd type="oval"/>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3" name="Freeform 16">
              <a:extLst>
                <a:ext uri="{FF2B5EF4-FFF2-40B4-BE49-F238E27FC236}">
                  <a16:creationId xmlns:a16="http://schemas.microsoft.com/office/drawing/2014/main" id="{E7DFD74D-54D1-0CF1-C860-4782AFB0181D}"/>
                </a:ext>
              </a:extLst>
            </p:cNvPr>
            <p:cNvSpPr>
              <a:spLocks/>
            </p:cNvSpPr>
            <p:nvPr/>
          </p:nvSpPr>
          <p:spPr bwMode="auto">
            <a:xfrm>
              <a:off x="4279" y="1777"/>
              <a:ext cx="451" cy="775"/>
            </a:xfrm>
            <a:custGeom>
              <a:avLst/>
              <a:gdLst>
                <a:gd name="T0" fmla="*/ 197 w 451"/>
                <a:gd name="T1" fmla="*/ 0 h 775"/>
                <a:gd name="T2" fmla="*/ 324 w 451"/>
                <a:gd name="T3" fmla="*/ 122 h 775"/>
                <a:gd name="T4" fmla="*/ 451 w 451"/>
                <a:gd name="T5" fmla="*/ 122 h 775"/>
                <a:gd name="T6" fmla="*/ 451 w 451"/>
                <a:gd name="T7" fmla="*/ 306 h 775"/>
                <a:gd name="T8" fmla="*/ 0 w 451"/>
                <a:gd name="T9" fmla="*/ 775 h 775"/>
              </a:gdLst>
              <a:ahLst/>
              <a:cxnLst>
                <a:cxn ang="0">
                  <a:pos x="T0" y="T1"/>
                </a:cxn>
                <a:cxn ang="0">
                  <a:pos x="T2" y="T3"/>
                </a:cxn>
                <a:cxn ang="0">
                  <a:pos x="T4" y="T5"/>
                </a:cxn>
                <a:cxn ang="0">
                  <a:pos x="T6" y="T7"/>
                </a:cxn>
                <a:cxn ang="0">
                  <a:pos x="T8" y="T9"/>
                </a:cxn>
              </a:cxnLst>
              <a:rect l="0" t="0" r="r" b="b"/>
              <a:pathLst>
                <a:path w="451" h="775">
                  <a:moveTo>
                    <a:pt x="197" y="0"/>
                  </a:moveTo>
                  <a:lnTo>
                    <a:pt x="324" y="122"/>
                  </a:lnTo>
                  <a:lnTo>
                    <a:pt x="451" y="122"/>
                  </a:lnTo>
                  <a:lnTo>
                    <a:pt x="451" y="306"/>
                  </a:lnTo>
                  <a:lnTo>
                    <a:pt x="0" y="775"/>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4" name="Freeform 17">
              <a:extLst>
                <a:ext uri="{FF2B5EF4-FFF2-40B4-BE49-F238E27FC236}">
                  <a16:creationId xmlns:a16="http://schemas.microsoft.com/office/drawing/2014/main" id="{49BE99D6-0017-B025-C361-174204ACDB21}"/>
                </a:ext>
              </a:extLst>
            </p:cNvPr>
            <p:cNvSpPr>
              <a:spLocks/>
            </p:cNvSpPr>
            <p:nvPr/>
          </p:nvSpPr>
          <p:spPr bwMode="auto">
            <a:xfrm>
              <a:off x="4469" y="2008"/>
              <a:ext cx="261" cy="136"/>
            </a:xfrm>
            <a:custGeom>
              <a:avLst/>
              <a:gdLst>
                <a:gd name="T0" fmla="*/ 261 w 261"/>
                <a:gd name="T1" fmla="*/ 0 h 136"/>
                <a:gd name="T2" fmla="*/ 134 w 261"/>
                <a:gd name="T3" fmla="*/ 0 h 136"/>
                <a:gd name="T4" fmla="*/ 0 w 261"/>
                <a:gd name="T5" fmla="*/ 136 h 136"/>
              </a:gdLst>
              <a:ahLst/>
              <a:cxnLst>
                <a:cxn ang="0">
                  <a:pos x="T0" y="T1"/>
                </a:cxn>
                <a:cxn ang="0">
                  <a:pos x="T2" y="T3"/>
                </a:cxn>
                <a:cxn ang="0">
                  <a:pos x="T4" y="T5"/>
                </a:cxn>
              </a:cxnLst>
              <a:rect l="0" t="0" r="r" b="b"/>
              <a:pathLst>
                <a:path w="261" h="136">
                  <a:moveTo>
                    <a:pt x="261" y="0"/>
                  </a:moveTo>
                  <a:lnTo>
                    <a:pt x="134" y="0"/>
                  </a:lnTo>
                  <a:lnTo>
                    <a:pt x="0" y="136"/>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5" name="Freeform 18">
              <a:extLst>
                <a:ext uri="{FF2B5EF4-FFF2-40B4-BE49-F238E27FC236}">
                  <a16:creationId xmlns:a16="http://schemas.microsoft.com/office/drawing/2014/main" id="{E1607257-0B5F-A815-6F2A-E140DC8C7F30}"/>
                </a:ext>
              </a:extLst>
            </p:cNvPr>
            <p:cNvSpPr>
              <a:spLocks/>
            </p:cNvSpPr>
            <p:nvPr/>
          </p:nvSpPr>
          <p:spPr bwMode="auto">
            <a:xfrm>
              <a:off x="3948" y="1825"/>
              <a:ext cx="366" cy="530"/>
            </a:xfrm>
            <a:custGeom>
              <a:avLst/>
              <a:gdLst>
                <a:gd name="T0" fmla="*/ 78 w 366"/>
                <a:gd name="T1" fmla="*/ 0 h 530"/>
                <a:gd name="T2" fmla="*/ 0 w 366"/>
                <a:gd name="T3" fmla="*/ 74 h 530"/>
                <a:gd name="T4" fmla="*/ 0 w 366"/>
                <a:gd name="T5" fmla="*/ 203 h 530"/>
                <a:gd name="T6" fmla="*/ 0 w 366"/>
                <a:gd name="T7" fmla="*/ 387 h 530"/>
                <a:gd name="T8" fmla="*/ 134 w 366"/>
                <a:gd name="T9" fmla="*/ 530 h 530"/>
                <a:gd name="T10" fmla="*/ 310 w 366"/>
                <a:gd name="T11" fmla="*/ 530 h 530"/>
                <a:gd name="T12" fmla="*/ 366 w 366"/>
                <a:gd name="T13" fmla="*/ 462 h 530"/>
                <a:gd name="T14" fmla="*/ 366 w 366"/>
                <a:gd name="T15" fmla="*/ 197 h 5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6" h="530">
                  <a:moveTo>
                    <a:pt x="78" y="0"/>
                  </a:moveTo>
                  <a:lnTo>
                    <a:pt x="0" y="74"/>
                  </a:lnTo>
                  <a:lnTo>
                    <a:pt x="0" y="203"/>
                  </a:lnTo>
                  <a:lnTo>
                    <a:pt x="0" y="387"/>
                  </a:lnTo>
                  <a:lnTo>
                    <a:pt x="134" y="530"/>
                  </a:lnTo>
                  <a:lnTo>
                    <a:pt x="310" y="530"/>
                  </a:lnTo>
                  <a:lnTo>
                    <a:pt x="366" y="462"/>
                  </a:lnTo>
                  <a:lnTo>
                    <a:pt x="366" y="197"/>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6" name="Freeform 19">
              <a:extLst>
                <a:ext uri="{FF2B5EF4-FFF2-40B4-BE49-F238E27FC236}">
                  <a16:creationId xmlns:a16="http://schemas.microsoft.com/office/drawing/2014/main" id="{A5CB7384-FBE2-EE5C-E0C6-439ACB22F029}"/>
                </a:ext>
              </a:extLst>
            </p:cNvPr>
            <p:cNvSpPr>
              <a:spLocks/>
            </p:cNvSpPr>
            <p:nvPr/>
          </p:nvSpPr>
          <p:spPr bwMode="auto">
            <a:xfrm>
              <a:off x="4223" y="1988"/>
              <a:ext cx="91" cy="244"/>
            </a:xfrm>
            <a:custGeom>
              <a:avLst/>
              <a:gdLst>
                <a:gd name="T0" fmla="*/ 91 w 91"/>
                <a:gd name="T1" fmla="*/ 244 h 244"/>
                <a:gd name="T2" fmla="*/ 0 w 91"/>
                <a:gd name="T3" fmla="*/ 149 h 244"/>
                <a:gd name="T4" fmla="*/ 0 w 91"/>
                <a:gd name="T5" fmla="*/ 0 h 244"/>
              </a:gdLst>
              <a:ahLst/>
              <a:cxnLst>
                <a:cxn ang="0">
                  <a:pos x="T0" y="T1"/>
                </a:cxn>
                <a:cxn ang="0">
                  <a:pos x="T2" y="T3"/>
                </a:cxn>
                <a:cxn ang="0">
                  <a:pos x="T4" y="T5"/>
                </a:cxn>
              </a:cxnLst>
              <a:rect l="0" t="0" r="r" b="b"/>
              <a:pathLst>
                <a:path w="91" h="244">
                  <a:moveTo>
                    <a:pt x="91" y="244"/>
                  </a:moveTo>
                  <a:lnTo>
                    <a:pt x="0" y="149"/>
                  </a:lnTo>
                  <a:lnTo>
                    <a:pt x="0" y="0"/>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7" name="Freeform 20">
              <a:extLst>
                <a:ext uri="{FF2B5EF4-FFF2-40B4-BE49-F238E27FC236}">
                  <a16:creationId xmlns:a16="http://schemas.microsoft.com/office/drawing/2014/main" id="{5D27CB61-4D1D-BBD3-9B4C-2E5AE6890372}"/>
                </a:ext>
              </a:extLst>
            </p:cNvPr>
            <p:cNvSpPr>
              <a:spLocks/>
            </p:cNvSpPr>
            <p:nvPr/>
          </p:nvSpPr>
          <p:spPr bwMode="auto">
            <a:xfrm>
              <a:off x="3948" y="1899"/>
              <a:ext cx="127" cy="293"/>
            </a:xfrm>
            <a:custGeom>
              <a:avLst/>
              <a:gdLst>
                <a:gd name="T0" fmla="*/ 0 w 127"/>
                <a:gd name="T1" fmla="*/ 0 h 293"/>
                <a:gd name="T2" fmla="*/ 127 w 127"/>
                <a:gd name="T3" fmla="*/ 136 h 293"/>
                <a:gd name="T4" fmla="*/ 127 w 127"/>
                <a:gd name="T5" fmla="*/ 293 h 293"/>
              </a:gdLst>
              <a:ahLst/>
              <a:cxnLst>
                <a:cxn ang="0">
                  <a:pos x="T0" y="T1"/>
                </a:cxn>
                <a:cxn ang="0">
                  <a:pos x="T2" y="T3"/>
                </a:cxn>
                <a:cxn ang="0">
                  <a:pos x="T4" y="T5"/>
                </a:cxn>
              </a:cxnLst>
              <a:rect l="0" t="0" r="r" b="b"/>
              <a:pathLst>
                <a:path w="127" h="293">
                  <a:moveTo>
                    <a:pt x="0" y="0"/>
                  </a:moveTo>
                  <a:lnTo>
                    <a:pt x="127" y="136"/>
                  </a:lnTo>
                  <a:lnTo>
                    <a:pt x="127" y="293"/>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8" name="Freeform 21">
              <a:extLst>
                <a:ext uri="{FF2B5EF4-FFF2-40B4-BE49-F238E27FC236}">
                  <a16:creationId xmlns:a16="http://schemas.microsoft.com/office/drawing/2014/main" id="{09EABF89-5595-0117-8FE9-35C1242A822E}"/>
                </a:ext>
              </a:extLst>
            </p:cNvPr>
            <p:cNvSpPr>
              <a:spLocks/>
            </p:cNvSpPr>
            <p:nvPr/>
          </p:nvSpPr>
          <p:spPr bwMode="auto">
            <a:xfrm>
              <a:off x="4054" y="2409"/>
              <a:ext cx="521" cy="265"/>
            </a:xfrm>
            <a:custGeom>
              <a:avLst/>
              <a:gdLst>
                <a:gd name="T0" fmla="*/ 521 w 521"/>
                <a:gd name="T1" fmla="*/ 0 h 265"/>
                <a:gd name="T2" fmla="*/ 521 w 521"/>
                <a:gd name="T3" fmla="*/ 170 h 265"/>
                <a:gd name="T4" fmla="*/ 429 w 521"/>
                <a:gd name="T5" fmla="*/ 265 h 265"/>
                <a:gd name="T6" fmla="*/ 197 w 521"/>
                <a:gd name="T7" fmla="*/ 265 h 265"/>
                <a:gd name="T8" fmla="*/ 105 w 521"/>
                <a:gd name="T9" fmla="*/ 163 h 265"/>
                <a:gd name="T10" fmla="*/ 0 w 521"/>
                <a:gd name="T11" fmla="*/ 163 h 265"/>
              </a:gdLst>
              <a:ahLst/>
              <a:cxnLst>
                <a:cxn ang="0">
                  <a:pos x="T0" y="T1"/>
                </a:cxn>
                <a:cxn ang="0">
                  <a:pos x="T2" y="T3"/>
                </a:cxn>
                <a:cxn ang="0">
                  <a:pos x="T4" y="T5"/>
                </a:cxn>
                <a:cxn ang="0">
                  <a:pos x="T6" y="T7"/>
                </a:cxn>
                <a:cxn ang="0">
                  <a:pos x="T8" y="T9"/>
                </a:cxn>
                <a:cxn ang="0">
                  <a:pos x="T10" y="T11"/>
                </a:cxn>
              </a:cxnLst>
              <a:rect l="0" t="0" r="r" b="b"/>
              <a:pathLst>
                <a:path w="521" h="265">
                  <a:moveTo>
                    <a:pt x="521" y="0"/>
                  </a:moveTo>
                  <a:lnTo>
                    <a:pt x="521" y="170"/>
                  </a:lnTo>
                  <a:lnTo>
                    <a:pt x="429" y="265"/>
                  </a:lnTo>
                  <a:lnTo>
                    <a:pt x="197" y="265"/>
                  </a:lnTo>
                  <a:lnTo>
                    <a:pt x="105" y="163"/>
                  </a:lnTo>
                  <a:lnTo>
                    <a:pt x="0" y="163"/>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39" name="Freeform 22">
              <a:extLst>
                <a:ext uri="{FF2B5EF4-FFF2-40B4-BE49-F238E27FC236}">
                  <a16:creationId xmlns:a16="http://schemas.microsoft.com/office/drawing/2014/main" id="{FEAF4661-586F-070C-1993-5988164C2414}"/>
                </a:ext>
              </a:extLst>
            </p:cNvPr>
            <p:cNvSpPr>
              <a:spLocks/>
            </p:cNvSpPr>
            <p:nvPr/>
          </p:nvSpPr>
          <p:spPr bwMode="auto">
            <a:xfrm>
              <a:off x="3941" y="2307"/>
              <a:ext cx="331" cy="822"/>
            </a:xfrm>
            <a:custGeom>
              <a:avLst/>
              <a:gdLst>
                <a:gd name="T0" fmla="*/ 92 w 331"/>
                <a:gd name="T1" fmla="*/ 0 h 822"/>
                <a:gd name="T2" fmla="*/ 0 w 331"/>
                <a:gd name="T3" fmla="*/ 95 h 822"/>
                <a:gd name="T4" fmla="*/ 0 w 331"/>
                <a:gd name="T5" fmla="*/ 720 h 822"/>
                <a:gd name="T6" fmla="*/ 99 w 331"/>
                <a:gd name="T7" fmla="*/ 822 h 822"/>
                <a:gd name="T8" fmla="*/ 190 w 331"/>
                <a:gd name="T9" fmla="*/ 822 h 822"/>
                <a:gd name="T10" fmla="*/ 331 w 331"/>
                <a:gd name="T11" fmla="*/ 673 h 822"/>
                <a:gd name="T12" fmla="*/ 331 w 331"/>
                <a:gd name="T13" fmla="*/ 523 h 822"/>
              </a:gdLst>
              <a:ahLst/>
              <a:cxnLst>
                <a:cxn ang="0">
                  <a:pos x="T0" y="T1"/>
                </a:cxn>
                <a:cxn ang="0">
                  <a:pos x="T2" y="T3"/>
                </a:cxn>
                <a:cxn ang="0">
                  <a:pos x="T4" y="T5"/>
                </a:cxn>
                <a:cxn ang="0">
                  <a:pos x="T6" y="T7"/>
                </a:cxn>
                <a:cxn ang="0">
                  <a:pos x="T8" y="T9"/>
                </a:cxn>
                <a:cxn ang="0">
                  <a:pos x="T10" y="T11"/>
                </a:cxn>
                <a:cxn ang="0">
                  <a:pos x="T12" y="T13"/>
                </a:cxn>
              </a:cxnLst>
              <a:rect l="0" t="0" r="r" b="b"/>
              <a:pathLst>
                <a:path w="331" h="822">
                  <a:moveTo>
                    <a:pt x="92" y="0"/>
                  </a:moveTo>
                  <a:lnTo>
                    <a:pt x="0" y="95"/>
                  </a:lnTo>
                  <a:lnTo>
                    <a:pt x="0" y="720"/>
                  </a:lnTo>
                  <a:lnTo>
                    <a:pt x="99" y="822"/>
                  </a:lnTo>
                  <a:lnTo>
                    <a:pt x="190" y="822"/>
                  </a:lnTo>
                  <a:lnTo>
                    <a:pt x="331" y="673"/>
                  </a:lnTo>
                  <a:lnTo>
                    <a:pt x="331" y="523"/>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0" name="Freeform 23">
              <a:extLst>
                <a:ext uri="{FF2B5EF4-FFF2-40B4-BE49-F238E27FC236}">
                  <a16:creationId xmlns:a16="http://schemas.microsoft.com/office/drawing/2014/main" id="{DFD7EAB6-096A-42F2-2E27-CC7630097896}"/>
                </a:ext>
              </a:extLst>
            </p:cNvPr>
            <p:cNvSpPr>
              <a:spLocks/>
            </p:cNvSpPr>
            <p:nvPr/>
          </p:nvSpPr>
          <p:spPr bwMode="auto">
            <a:xfrm>
              <a:off x="3899" y="2960"/>
              <a:ext cx="472" cy="421"/>
            </a:xfrm>
            <a:custGeom>
              <a:avLst/>
              <a:gdLst>
                <a:gd name="T0" fmla="*/ 472 w 472"/>
                <a:gd name="T1" fmla="*/ 0 h 421"/>
                <a:gd name="T2" fmla="*/ 239 w 472"/>
                <a:gd name="T3" fmla="*/ 244 h 421"/>
                <a:gd name="T4" fmla="*/ 239 w 472"/>
                <a:gd name="T5" fmla="*/ 366 h 421"/>
                <a:gd name="T6" fmla="*/ 183 w 472"/>
                <a:gd name="T7" fmla="*/ 421 h 421"/>
                <a:gd name="T8" fmla="*/ 77 w 472"/>
                <a:gd name="T9" fmla="*/ 421 h 421"/>
                <a:gd name="T10" fmla="*/ 0 w 472"/>
                <a:gd name="T11" fmla="*/ 339 h 421"/>
                <a:gd name="T12" fmla="*/ 0 w 472"/>
                <a:gd name="T13" fmla="*/ 183 h 421"/>
                <a:gd name="T14" fmla="*/ 84 w 472"/>
                <a:gd name="T15" fmla="*/ 108 h 4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2" h="421">
                  <a:moveTo>
                    <a:pt x="472" y="0"/>
                  </a:moveTo>
                  <a:lnTo>
                    <a:pt x="239" y="244"/>
                  </a:lnTo>
                  <a:lnTo>
                    <a:pt x="239" y="366"/>
                  </a:lnTo>
                  <a:lnTo>
                    <a:pt x="183" y="421"/>
                  </a:lnTo>
                  <a:lnTo>
                    <a:pt x="77" y="421"/>
                  </a:lnTo>
                  <a:lnTo>
                    <a:pt x="0" y="339"/>
                  </a:lnTo>
                  <a:lnTo>
                    <a:pt x="0" y="183"/>
                  </a:lnTo>
                  <a:lnTo>
                    <a:pt x="84" y="108"/>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1" name="Freeform 24">
              <a:extLst>
                <a:ext uri="{FF2B5EF4-FFF2-40B4-BE49-F238E27FC236}">
                  <a16:creationId xmlns:a16="http://schemas.microsoft.com/office/drawing/2014/main" id="{BDF80421-6EAE-D7BF-0E57-9FE83CBCB9AB}"/>
                </a:ext>
              </a:extLst>
            </p:cNvPr>
            <p:cNvSpPr>
              <a:spLocks/>
            </p:cNvSpPr>
            <p:nvPr/>
          </p:nvSpPr>
          <p:spPr bwMode="auto">
            <a:xfrm>
              <a:off x="3983" y="3129"/>
              <a:ext cx="57" cy="184"/>
            </a:xfrm>
            <a:custGeom>
              <a:avLst/>
              <a:gdLst>
                <a:gd name="T0" fmla="*/ 57 w 57"/>
                <a:gd name="T1" fmla="*/ 0 h 184"/>
                <a:gd name="T2" fmla="*/ 0 w 57"/>
                <a:gd name="T3" fmla="*/ 62 h 184"/>
                <a:gd name="T4" fmla="*/ 0 w 57"/>
                <a:gd name="T5" fmla="*/ 184 h 184"/>
              </a:gdLst>
              <a:ahLst/>
              <a:cxnLst>
                <a:cxn ang="0">
                  <a:pos x="T0" y="T1"/>
                </a:cxn>
                <a:cxn ang="0">
                  <a:pos x="T2" y="T3"/>
                </a:cxn>
                <a:cxn ang="0">
                  <a:pos x="T4" y="T5"/>
                </a:cxn>
              </a:cxnLst>
              <a:rect l="0" t="0" r="r" b="b"/>
              <a:pathLst>
                <a:path w="57" h="184">
                  <a:moveTo>
                    <a:pt x="57" y="0"/>
                  </a:moveTo>
                  <a:lnTo>
                    <a:pt x="0" y="62"/>
                  </a:lnTo>
                  <a:lnTo>
                    <a:pt x="0" y="184"/>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2" name="Freeform 25">
              <a:extLst>
                <a:ext uri="{FF2B5EF4-FFF2-40B4-BE49-F238E27FC236}">
                  <a16:creationId xmlns:a16="http://schemas.microsoft.com/office/drawing/2014/main" id="{C334EA7C-A276-666A-179A-DDDE41E3DB22}"/>
                </a:ext>
              </a:extLst>
            </p:cNvPr>
            <p:cNvSpPr>
              <a:spLocks/>
            </p:cNvSpPr>
            <p:nvPr/>
          </p:nvSpPr>
          <p:spPr bwMode="auto">
            <a:xfrm>
              <a:off x="4314" y="2361"/>
              <a:ext cx="430" cy="449"/>
            </a:xfrm>
            <a:custGeom>
              <a:avLst/>
              <a:gdLst>
                <a:gd name="T0" fmla="*/ 430 w 430"/>
                <a:gd name="T1" fmla="*/ 0 h 449"/>
                <a:gd name="T2" fmla="*/ 430 w 430"/>
                <a:gd name="T3" fmla="*/ 218 h 449"/>
                <a:gd name="T4" fmla="*/ 205 w 430"/>
                <a:gd name="T5" fmla="*/ 449 h 449"/>
                <a:gd name="T6" fmla="*/ 71 w 430"/>
                <a:gd name="T7" fmla="*/ 449 h 449"/>
                <a:gd name="T8" fmla="*/ 0 w 430"/>
                <a:gd name="T9" fmla="*/ 374 h 449"/>
              </a:gdLst>
              <a:ahLst/>
              <a:cxnLst>
                <a:cxn ang="0">
                  <a:pos x="T0" y="T1"/>
                </a:cxn>
                <a:cxn ang="0">
                  <a:pos x="T2" y="T3"/>
                </a:cxn>
                <a:cxn ang="0">
                  <a:pos x="T4" y="T5"/>
                </a:cxn>
                <a:cxn ang="0">
                  <a:pos x="T6" y="T7"/>
                </a:cxn>
                <a:cxn ang="0">
                  <a:pos x="T8" y="T9"/>
                </a:cxn>
              </a:cxnLst>
              <a:rect l="0" t="0" r="r" b="b"/>
              <a:pathLst>
                <a:path w="430" h="449">
                  <a:moveTo>
                    <a:pt x="430" y="0"/>
                  </a:moveTo>
                  <a:lnTo>
                    <a:pt x="430" y="218"/>
                  </a:lnTo>
                  <a:lnTo>
                    <a:pt x="205" y="449"/>
                  </a:lnTo>
                  <a:lnTo>
                    <a:pt x="71" y="449"/>
                  </a:lnTo>
                  <a:lnTo>
                    <a:pt x="0" y="374"/>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3" name="Freeform 26">
              <a:extLst>
                <a:ext uri="{FF2B5EF4-FFF2-40B4-BE49-F238E27FC236}">
                  <a16:creationId xmlns:a16="http://schemas.microsoft.com/office/drawing/2014/main" id="{BACFD762-2015-8390-F6B4-7D0B9BCEA781}"/>
                </a:ext>
              </a:extLst>
            </p:cNvPr>
            <p:cNvSpPr>
              <a:spLocks/>
            </p:cNvSpPr>
            <p:nvPr/>
          </p:nvSpPr>
          <p:spPr bwMode="auto">
            <a:xfrm>
              <a:off x="4272" y="2810"/>
              <a:ext cx="247" cy="394"/>
            </a:xfrm>
            <a:custGeom>
              <a:avLst/>
              <a:gdLst>
                <a:gd name="T0" fmla="*/ 247 w 247"/>
                <a:gd name="T1" fmla="*/ 0 h 394"/>
                <a:gd name="T2" fmla="*/ 247 w 247"/>
                <a:gd name="T3" fmla="*/ 129 h 394"/>
                <a:gd name="T4" fmla="*/ 0 w 247"/>
                <a:gd name="T5" fmla="*/ 394 h 394"/>
              </a:gdLst>
              <a:ahLst/>
              <a:cxnLst>
                <a:cxn ang="0">
                  <a:pos x="T0" y="T1"/>
                </a:cxn>
                <a:cxn ang="0">
                  <a:pos x="T2" y="T3"/>
                </a:cxn>
                <a:cxn ang="0">
                  <a:pos x="T4" y="T5"/>
                </a:cxn>
              </a:cxnLst>
              <a:rect l="0" t="0" r="r" b="b"/>
              <a:pathLst>
                <a:path w="247" h="394">
                  <a:moveTo>
                    <a:pt x="247" y="0"/>
                  </a:moveTo>
                  <a:lnTo>
                    <a:pt x="247" y="129"/>
                  </a:lnTo>
                  <a:lnTo>
                    <a:pt x="0" y="394"/>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4" name="Freeform 27">
              <a:extLst>
                <a:ext uri="{FF2B5EF4-FFF2-40B4-BE49-F238E27FC236}">
                  <a16:creationId xmlns:a16="http://schemas.microsoft.com/office/drawing/2014/main" id="{E75685C2-6ED6-C95B-ED78-B1B56720C2A3}"/>
                </a:ext>
              </a:extLst>
            </p:cNvPr>
            <p:cNvSpPr>
              <a:spLocks/>
            </p:cNvSpPr>
            <p:nvPr/>
          </p:nvSpPr>
          <p:spPr bwMode="auto">
            <a:xfrm>
              <a:off x="4265" y="3061"/>
              <a:ext cx="141" cy="306"/>
            </a:xfrm>
            <a:custGeom>
              <a:avLst/>
              <a:gdLst>
                <a:gd name="T0" fmla="*/ 141 w 141"/>
                <a:gd name="T1" fmla="*/ 0 h 306"/>
                <a:gd name="T2" fmla="*/ 141 w 141"/>
                <a:gd name="T3" fmla="*/ 157 h 306"/>
                <a:gd name="T4" fmla="*/ 0 w 141"/>
                <a:gd name="T5" fmla="*/ 306 h 306"/>
              </a:gdLst>
              <a:ahLst/>
              <a:cxnLst>
                <a:cxn ang="0">
                  <a:pos x="T0" y="T1"/>
                </a:cxn>
                <a:cxn ang="0">
                  <a:pos x="T2" y="T3"/>
                </a:cxn>
                <a:cxn ang="0">
                  <a:pos x="T4" y="T5"/>
                </a:cxn>
              </a:cxnLst>
              <a:rect l="0" t="0" r="r" b="b"/>
              <a:pathLst>
                <a:path w="141" h="306">
                  <a:moveTo>
                    <a:pt x="141" y="0"/>
                  </a:moveTo>
                  <a:lnTo>
                    <a:pt x="141" y="157"/>
                  </a:lnTo>
                  <a:lnTo>
                    <a:pt x="0" y="306"/>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5" name="Freeform 28">
              <a:extLst>
                <a:ext uri="{FF2B5EF4-FFF2-40B4-BE49-F238E27FC236}">
                  <a16:creationId xmlns:a16="http://schemas.microsoft.com/office/drawing/2014/main" id="{09FF7938-EE56-8191-2A25-D64B95E24668}"/>
                </a:ext>
              </a:extLst>
            </p:cNvPr>
            <p:cNvSpPr>
              <a:spLocks/>
            </p:cNvSpPr>
            <p:nvPr/>
          </p:nvSpPr>
          <p:spPr bwMode="auto">
            <a:xfrm>
              <a:off x="4511" y="2878"/>
              <a:ext cx="353" cy="204"/>
            </a:xfrm>
            <a:custGeom>
              <a:avLst/>
              <a:gdLst>
                <a:gd name="T0" fmla="*/ 353 w 353"/>
                <a:gd name="T1" fmla="*/ 0 h 204"/>
                <a:gd name="T2" fmla="*/ 198 w 353"/>
                <a:gd name="T3" fmla="*/ 0 h 204"/>
                <a:gd name="T4" fmla="*/ 0 w 353"/>
                <a:gd name="T5" fmla="*/ 204 h 204"/>
              </a:gdLst>
              <a:ahLst/>
              <a:cxnLst>
                <a:cxn ang="0">
                  <a:pos x="T0" y="T1"/>
                </a:cxn>
                <a:cxn ang="0">
                  <a:pos x="T2" y="T3"/>
                </a:cxn>
                <a:cxn ang="0">
                  <a:pos x="T4" y="T5"/>
                </a:cxn>
              </a:cxnLst>
              <a:rect l="0" t="0" r="r" b="b"/>
              <a:pathLst>
                <a:path w="353" h="204">
                  <a:moveTo>
                    <a:pt x="353" y="0"/>
                  </a:moveTo>
                  <a:lnTo>
                    <a:pt x="198" y="0"/>
                  </a:lnTo>
                  <a:lnTo>
                    <a:pt x="0" y="204"/>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6" name="Freeform 29">
              <a:extLst>
                <a:ext uri="{FF2B5EF4-FFF2-40B4-BE49-F238E27FC236}">
                  <a16:creationId xmlns:a16="http://schemas.microsoft.com/office/drawing/2014/main" id="{7061CB5F-69B1-CC47-11F7-DD2294BA151C}"/>
                </a:ext>
              </a:extLst>
            </p:cNvPr>
            <p:cNvSpPr>
              <a:spLocks/>
            </p:cNvSpPr>
            <p:nvPr/>
          </p:nvSpPr>
          <p:spPr bwMode="auto">
            <a:xfrm>
              <a:off x="4617" y="2409"/>
              <a:ext cx="239" cy="449"/>
            </a:xfrm>
            <a:custGeom>
              <a:avLst/>
              <a:gdLst>
                <a:gd name="T0" fmla="*/ 239 w 239"/>
                <a:gd name="T1" fmla="*/ 0 h 449"/>
                <a:gd name="T2" fmla="*/ 239 w 239"/>
                <a:gd name="T3" fmla="*/ 204 h 449"/>
                <a:gd name="T4" fmla="*/ 0 w 239"/>
                <a:gd name="T5" fmla="*/ 449 h 449"/>
              </a:gdLst>
              <a:ahLst/>
              <a:cxnLst>
                <a:cxn ang="0">
                  <a:pos x="T0" y="T1"/>
                </a:cxn>
                <a:cxn ang="0">
                  <a:pos x="T2" y="T3"/>
                </a:cxn>
                <a:cxn ang="0">
                  <a:pos x="T4" y="T5"/>
                </a:cxn>
              </a:cxnLst>
              <a:rect l="0" t="0" r="r" b="b"/>
              <a:pathLst>
                <a:path w="239" h="449">
                  <a:moveTo>
                    <a:pt x="239" y="0"/>
                  </a:moveTo>
                  <a:lnTo>
                    <a:pt x="239" y="204"/>
                  </a:lnTo>
                  <a:lnTo>
                    <a:pt x="0" y="449"/>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7" name="Freeform 30">
              <a:extLst>
                <a:ext uri="{FF2B5EF4-FFF2-40B4-BE49-F238E27FC236}">
                  <a16:creationId xmlns:a16="http://schemas.microsoft.com/office/drawing/2014/main" id="{00133544-ED50-8460-F11F-CB2BAD0C2834}"/>
                </a:ext>
              </a:extLst>
            </p:cNvPr>
            <p:cNvSpPr>
              <a:spLocks/>
            </p:cNvSpPr>
            <p:nvPr/>
          </p:nvSpPr>
          <p:spPr bwMode="auto">
            <a:xfrm>
              <a:off x="4772" y="2701"/>
              <a:ext cx="63" cy="116"/>
            </a:xfrm>
            <a:custGeom>
              <a:avLst/>
              <a:gdLst>
                <a:gd name="T0" fmla="*/ 0 w 63"/>
                <a:gd name="T1" fmla="*/ 0 h 116"/>
                <a:gd name="T2" fmla="*/ 63 w 63"/>
                <a:gd name="T3" fmla="*/ 68 h 116"/>
                <a:gd name="T4" fmla="*/ 14 w 63"/>
                <a:gd name="T5" fmla="*/ 116 h 116"/>
              </a:gdLst>
              <a:ahLst/>
              <a:cxnLst>
                <a:cxn ang="0">
                  <a:pos x="T0" y="T1"/>
                </a:cxn>
                <a:cxn ang="0">
                  <a:pos x="T2" y="T3"/>
                </a:cxn>
                <a:cxn ang="0">
                  <a:pos x="T4" y="T5"/>
                </a:cxn>
              </a:cxnLst>
              <a:rect l="0" t="0" r="r" b="b"/>
              <a:pathLst>
                <a:path w="63" h="116">
                  <a:moveTo>
                    <a:pt x="0" y="0"/>
                  </a:moveTo>
                  <a:lnTo>
                    <a:pt x="63" y="68"/>
                  </a:lnTo>
                  <a:lnTo>
                    <a:pt x="14" y="116"/>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8" name="Freeform 31">
              <a:extLst>
                <a:ext uri="{FF2B5EF4-FFF2-40B4-BE49-F238E27FC236}">
                  <a16:creationId xmlns:a16="http://schemas.microsoft.com/office/drawing/2014/main" id="{72B71D1B-1191-9C99-77C2-5E6D3EF0E266}"/>
                </a:ext>
              </a:extLst>
            </p:cNvPr>
            <p:cNvSpPr>
              <a:spLocks/>
            </p:cNvSpPr>
            <p:nvPr/>
          </p:nvSpPr>
          <p:spPr bwMode="auto">
            <a:xfrm>
              <a:off x="4012" y="2674"/>
              <a:ext cx="239" cy="116"/>
            </a:xfrm>
            <a:custGeom>
              <a:avLst/>
              <a:gdLst>
                <a:gd name="T0" fmla="*/ 239 w 239"/>
                <a:gd name="T1" fmla="*/ 0 h 116"/>
                <a:gd name="T2" fmla="*/ 126 w 239"/>
                <a:gd name="T3" fmla="*/ 116 h 116"/>
                <a:gd name="T4" fmla="*/ 0 w 239"/>
                <a:gd name="T5" fmla="*/ 116 h 116"/>
              </a:gdLst>
              <a:ahLst/>
              <a:cxnLst>
                <a:cxn ang="0">
                  <a:pos x="T0" y="T1"/>
                </a:cxn>
                <a:cxn ang="0">
                  <a:pos x="T2" y="T3"/>
                </a:cxn>
                <a:cxn ang="0">
                  <a:pos x="T4" y="T5"/>
                </a:cxn>
              </a:cxnLst>
              <a:rect l="0" t="0" r="r" b="b"/>
              <a:pathLst>
                <a:path w="239" h="116">
                  <a:moveTo>
                    <a:pt x="239" y="0"/>
                  </a:moveTo>
                  <a:lnTo>
                    <a:pt x="126" y="116"/>
                  </a:lnTo>
                  <a:lnTo>
                    <a:pt x="0" y="116"/>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49" name="Freeform 32">
              <a:extLst>
                <a:ext uri="{FF2B5EF4-FFF2-40B4-BE49-F238E27FC236}">
                  <a16:creationId xmlns:a16="http://schemas.microsoft.com/office/drawing/2014/main" id="{AD2397F5-E164-286D-B5F3-A836C780E708}"/>
                </a:ext>
              </a:extLst>
            </p:cNvPr>
            <p:cNvSpPr>
              <a:spLocks/>
            </p:cNvSpPr>
            <p:nvPr/>
          </p:nvSpPr>
          <p:spPr bwMode="auto">
            <a:xfrm>
              <a:off x="4047" y="2790"/>
              <a:ext cx="91" cy="224"/>
            </a:xfrm>
            <a:custGeom>
              <a:avLst/>
              <a:gdLst>
                <a:gd name="T0" fmla="*/ 91 w 91"/>
                <a:gd name="T1" fmla="*/ 0 h 224"/>
                <a:gd name="T2" fmla="*/ 91 w 91"/>
                <a:gd name="T3" fmla="*/ 136 h 224"/>
                <a:gd name="T4" fmla="*/ 0 w 91"/>
                <a:gd name="T5" fmla="*/ 224 h 224"/>
              </a:gdLst>
              <a:ahLst/>
              <a:cxnLst>
                <a:cxn ang="0">
                  <a:pos x="T0" y="T1"/>
                </a:cxn>
                <a:cxn ang="0">
                  <a:pos x="T2" y="T3"/>
                </a:cxn>
                <a:cxn ang="0">
                  <a:pos x="T4" y="T5"/>
                </a:cxn>
              </a:cxnLst>
              <a:rect l="0" t="0" r="r" b="b"/>
              <a:pathLst>
                <a:path w="91" h="224">
                  <a:moveTo>
                    <a:pt x="91" y="0"/>
                  </a:moveTo>
                  <a:lnTo>
                    <a:pt x="91" y="136"/>
                  </a:lnTo>
                  <a:lnTo>
                    <a:pt x="0" y="224"/>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50" name="Freeform 33">
              <a:extLst>
                <a:ext uri="{FF2B5EF4-FFF2-40B4-BE49-F238E27FC236}">
                  <a16:creationId xmlns:a16="http://schemas.microsoft.com/office/drawing/2014/main" id="{569B5412-9D78-1F1A-009B-72DAEB5D6B75}"/>
                </a:ext>
              </a:extLst>
            </p:cNvPr>
            <p:cNvSpPr>
              <a:spLocks/>
            </p:cNvSpPr>
            <p:nvPr/>
          </p:nvSpPr>
          <p:spPr bwMode="auto">
            <a:xfrm>
              <a:off x="4610" y="2987"/>
              <a:ext cx="106" cy="231"/>
            </a:xfrm>
            <a:custGeom>
              <a:avLst/>
              <a:gdLst>
                <a:gd name="T0" fmla="*/ 0 w 106"/>
                <a:gd name="T1" fmla="*/ 0 h 231"/>
                <a:gd name="T2" fmla="*/ 106 w 106"/>
                <a:gd name="T3" fmla="*/ 115 h 231"/>
                <a:gd name="T4" fmla="*/ 0 w 106"/>
                <a:gd name="T5" fmla="*/ 231 h 231"/>
              </a:gdLst>
              <a:ahLst/>
              <a:cxnLst>
                <a:cxn ang="0">
                  <a:pos x="T0" y="T1"/>
                </a:cxn>
                <a:cxn ang="0">
                  <a:pos x="T2" y="T3"/>
                </a:cxn>
                <a:cxn ang="0">
                  <a:pos x="T4" y="T5"/>
                </a:cxn>
              </a:cxnLst>
              <a:rect l="0" t="0" r="r" b="b"/>
              <a:pathLst>
                <a:path w="106" h="231">
                  <a:moveTo>
                    <a:pt x="0" y="0"/>
                  </a:moveTo>
                  <a:lnTo>
                    <a:pt x="106" y="115"/>
                  </a:lnTo>
                  <a:lnTo>
                    <a:pt x="0" y="231"/>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51" name="Line 34">
              <a:extLst>
                <a:ext uri="{FF2B5EF4-FFF2-40B4-BE49-F238E27FC236}">
                  <a16:creationId xmlns:a16="http://schemas.microsoft.com/office/drawing/2014/main" id="{361C7E16-D144-CBED-A5B0-413D31B3213D}"/>
                </a:ext>
              </a:extLst>
            </p:cNvPr>
            <p:cNvSpPr>
              <a:spLocks noChangeShapeType="1"/>
            </p:cNvSpPr>
            <p:nvPr/>
          </p:nvSpPr>
          <p:spPr bwMode="auto">
            <a:xfrm>
              <a:off x="4364" y="2457"/>
              <a:ext cx="91" cy="95"/>
            </a:xfrm>
            <a:prstGeom prst="line">
              <a:avLst/>
            </a:prstGeom>
            <a:noFill/>
            <a:ln w="11113" cap="flat">
              <a:solidFill>
                <a:srgbClr val="86BC25"/>
              </a:solidFill>
              <a:prstDash val="solid"/>
              <a:miter lim="800000"/>
              <a:headEnd/>
              <a:tailEnd type="oval"/>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52" name="Freeform 35">
              <a:extLst>
                <a:ext uri="{FF2B5EF4-FFF2-40B4-BE49-F238E27FC236}">
                  <a16:creationId xmlns:a16="http://schemas.microsoft.com/office/drawing/2014/main" id="{FF0345C4-2EB7-25F9-3C46-550C4BFE0752}"/>
                </a:ext>
              </a:extLst>
            </p:cNvPr>
            <p:cNvSpPr>
              <a:spLocks/>
            </p:cNvSpPr>
            <p:nvPr/>
          </p:nvSpPr>
          <p:spPr bwMode="auto">
            <a:xfrm>
              <a:off x="3934" y="1301"/>
              <a:ext cx="49" cy="150"/>
            </a:xfrm>
            <a:custGeom>
              <a:avLst/>
              <a:gdLst>
                <a:gd name="T0" fmla="*/ 49 w 49"/>
                <a:gd name="T1" fmla="*/ 0 h 150"/>
                <a:gd name="T2" fmla="*/ 0 w 49"/>
                <a:gd name="T3" fmla="*/ 48 h 150"/>
                <a:gd name="T4" fmla="*/ 0 w 49"/>
                <a:gd name="T5" fmla="*/ 116 h 150"/>
                <a:gd name="T6" fmla="*/ 35 w 49"/>
                <a:gd name="T7" fmla="*/ 150 h 150"/>
              </a:gdLst>
              <a:ahLst/>
              <a:cxnLst>
                <a:cxn ang="0">
                  <a:pos x="T0" y="T1"/>
                </a:cxn>
                <a:cxn ang="0">
                  <a:pos x="T2" y="T3"/>
                </a:cxn>
                <a:cxn ang="0">
                  <a:pos x="T4" y="T5"/>
                </a:cxn>
                <a:cxn ang="0">
                  <a:pos x="T6" y="T7"/>
                </a:cxn>
              </a:cxnLst>
              <a:rect l="0" t="0" r="r" b="b"/>
              <a:pathLst>
                <a:path w="49" h="150">
                  <a:moveTo>
                    <a:pt x="49" y="0"/>
                  </a:moveTo>
                  <a:lnTo>
                    <a:pt x="0" y="48"/>
                  </a:lnTo>
                  <a:lnTo>
                    <a:pt x="0" y="116"/>
                  </a:lnTo>
                  <a:lnTo>
                    <a:pt x="35" y="150"/>
                  </a:lnTo>
                </a:path>
              </a:pathLst>
            </a:custGeom>
            <a:noFill/>
            <a:ln w="11113" cap="flat">
              <a:solidFill>
                <a:srgbClr val="86BC25"/>
              </a:solidFill>
              <a:prstDash val="solid"/>
              <a:miter lim="800000"/>
              <a:headEnd/>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grpSp>
      <p:sp>
        <p:nvSpPr>
          <p:cNvPr id="153" name="Rectangle: Diagonal Corners Snipped 4">
            <a:extLst>
              <a:ext uri="{FF2B5EF4-FFF2-40B4-BE49-F238E27FC236}">
                <a16:creationId xmlns:a16="http://schemas.microsoft.com/office/drawing/2014/main" id="{E043F5E1-BC43-70C2-AADF-E27A11A6DAB4}"/>
              </a:ext>
            </a:extLst>
          </p:cNvPr>
          <p:cNvSpPr/>
          <p:nvPr/>
        </p:nvSpPr>
        <p:spPr bwMode="gray">
          <a:xfrm>
            <a:off x="5910172" y="1941576"/>
            <a:ext cx="271860" cy="3947548"/>
          </a:xfrm>
          <a:prstGeom prst="snip2DiagRect">
            <a:avLst>
              <a:gd name="adj1" fmla="val 19685"/>
              <a:gd name="adj2" fmla="val 21588"/>
            </a:avLst>
          </a:prstGeom>
          <a:solidFill>
            <a:sysClr val="windowText" lastClr="000000"/>
          </a:solidFill>
          <a:ln w="11113" cap="flat">
            <a:solidFill>
              <a:srgbClr val="53565A">
                <a:lumMod val="90000"/>
              </a:srgbClr>
            </a:solidFill>
            <a:prstDash val="solid"/>
            <a:miter lim="800000"/>
            <a:headEnd/>
            <a:tailEnd/>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181" name="Rectangle 180">
            <a:extLst>
              <a:ext uri="{FF2B5EF4-FFF2-40B4-BE49-F238E27FC236}">
                <a16:creationId xmlns:a16="http://schemas.microsoft.com/office/drawing/2014/main" id="{3D6172C9-4012-7B33-B992-F22853F6C94A}"/>
              </a:ext>
            </a:extLst>
          </p:cNvPr>
          <p:cNvSpPr/>
          <p:nvPr/>
        </p:nvSpPr>
        <p:spPr bwMode="gray">
          <a:xfrm>
            <a:off x="418459" y="1392033"/>
            <a:ext cx="3511164" cy="132996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ESRI's ArcGIS platform is widely used by many DISCOMs across India due to its comprehensive set of tools for spatial analysis, asset management, network planning, and customer service. DISCOMs may use ArcGIS Desktop, ArcGIS Online, or ArcGIS Server depending on their specific needs and IT infrastructure</a:t>
            </a:r>
          </a:p>
        </p:txBody>
      </p:sp>
      <p:cxnSp>
        <p:nvCxnSpPr>
          <p:cNvPr id="183" name="Connector: Elbow 182">
            <a:extLst>
              <a:ext uri="{FF2B5EF4-FFF2-40B4-BE49-F238E27FC236}">
                <a16:creationId xmlns:a16="http://schemas.microsoft.com/office/drawing/2014/main" id="{F77214C8-B6D4-FD9F-EF32-47D213746E81}"/>
              </a:ext>
            </a:extLst>
          </p:cNvPr>
          <p:cNvCxnSpPr>
            <a:cxnSpLocks/>
            <a:endCxn id="84" idx="3"/>
          </p:cNvCxnSpPr>
          <p:nvPr/>
        </p:nvCxnSpPr>
        <p:spPr>
          <a:xfrm rot="10800000">
            <a:off x="3879222" y="1255295"/>
            <a:ext cx="1282738" cy="1043370"/>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85" name="Rounded Rectangle 56">
            <a:extLst>
              <a:ext uri="{FF2B5EF4-FFF2-40B4-BE49-F238E27FC236}">
                <a16:creationId xmlns:a16="http://schemas.microsoft.com/office/drawing/2014/main" id="{37AC1500-897B-6BA4-E898-264F649C4D67}"/>
              </a:ext>
            </a:extLst>
          </p:cNvPr>
          <p:cNvSpPr/>
          <p:nvPr/>
        </p:nvSpPr>
        <p:spPr bwMode="gray">
          <a:xfrm>
            <a:off x="482185" y="2944496"/>
            <a:ext cx="3455820" cy="303744"/>
          </a:xfrm>
          <a:prstGeom prst="roundRect">
            <a:avLst/>
          </a:prstGeom>
          <a:solidFill>
            <a:sysClr val="windowText" lastClr="000000">
              <a:lumMod val="85000"/>
              <a:lumOff val="15000"/>
            </a:sysClr>
          </a:solidFill>
          <a:ln w="12700" algn="ctr">
            <a:solidFill>
              <a:srgbClr val="86BC25">
                <a:lumMod val="75000"/>
              </a:srgbClr>
            </a:solidFill>
            <a:miter lim="800000"/>
            <a:headEnd/>
            <a:tailEnd/>
          </a:ln>
        </p:spPr>
        <p:txBody>
          <a:bodyPr wrap="square" lIns="34290" tIns="60485" rIns="34290" bIns="60485" rtlCol="0" anchor="ctr"/>
          <a:lstStyle/>
          <a:p>
            <a:pPr lvl="0" algn="ctr" defTabSz="535802">
              <a:lnSpc>
                <a:spcPts val="1300"/>
              </a:lnSpc>
            </a:pPr>
            <a:r>
              <a:rPr lang="en-US" sz="1200" b="1" kern="0" dirty="0">
                <a:solidFill>
                  <a:prstClr val="white"/>
                </a:solidFill>
              </a:rPr>
              <a:t>Open Source GIS Solutions</a:t>
            </a:r>
          </a:p>
        </p:txBody>
      </p:sp>
      <p:sp>
        <p:nvSpPr>
          <p:cNvPr id="186" name="Rectangle 185">
            <a:extLst>
              <a:ext uri="{FF2B5EF4-FFF2-40B4-BE49-F238E27FC236}">
                <a16:creationId xmlns:a16="http://schemas.microsoft.com/office/drawing/2014/main" id="{5C2FA249-ADF4-AFF0-A20D-9EBB4AE6E22D}"/>
              </a:ext>
            </a:extLst>
          </p:cNvPr>
          <p:cNvSpPr/>
          <p:nvPr/>
        </p:nvSpPr>
        <p:spPr bwMode="gray">
          <a:xfrm>
            <a:off x="476466" y="3248240"/>
            <a:ext cx="3511164" cy="132996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Some DISCOMs, particularly smaller utilities or those with budget constraints, may opt for open-source GIS solutions such as QGIS (Quantum GIS) or </a:t>
            </a:r>
            <a:r>
              <a:rPr kumimoji="0" lang="en-US" sz="1050" b="0" i="0" u="none" strike="noStrike" kern="1200" cap="none" spc="0" normalizeH="0" baseline="0" noProof="0" dirty="0" err="1">
                <a:ln>
                  <a:noFill/>
                </a:ln>
                <a:solidFill>
                  <a:prstClr val="black"/>
                </a:solidFill>
                <a:effectLst/>
                <a:uLnTx/>
                <a:uFillTx/>
                <a:cs typeface="Calibri" panose="020F0502020204030204" pitchFamily="34" charset="0"/>
              </a:rPr>
              <a:t>GeoServer</a:t>
            </a: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 These platforms offer cost-effective alternatives with robust functionality for mapping and spatial analysis.</a:t>
            </a:r>
          </a:p>
        </p:txBody>
      </p:sp>
      <p:sp>
        <p:nvSpPr>
          <p:cNvPr id="187" name="Rounded Rectangle 56">
            <a:extLst>
              <a:ext uri="{FF2B5EF4-FFF2-40B4-BE49-F238E27FC236}">
                <a16:creationId xmlns:a16="http://schemas.microsoft.com/office/drawing/2014/main" id="{025CBD27-C853-4E97-92F9-AFDBC53EF5AF}"/>
              </a:ext>
            </a:extLst>
          </p:cNvPr>
          <p:cNvSpPr/>
          <p:nvPr/>
        </p:nvSpPr>
        <p:spPr bwMode="gray">
          <a:xfrm>
            <a:off x="508000" y="4826095"/>
            <a:ext cx="3371222" cy="289642"/>
          </a:xfrm>
          <a:prstGeom prst="roundRect">
            <a:avLst/>
          </a:prstGeom>
          <a:solidFill>
            <a:sysClr val="windowText" lastClr="000000">
              <a:lumMod val="85000"/>
              <a:lumOff val="15000"/>
            </a:sysClr>
          </a:solidFill>
          <a:ln w="12700" algn="ctr">
            <a:solidFill>
              <a:srgbClr val="86BC25">
                <a:lumMod val="75000"/>
              </a:srgbClr>
            </a:solidFill>
            <a:miter lim="800000"/>
            <a:headEnd/>
            <a:tailEnd/>
          </a:ln>
        </p:spPr>
        <p:txBody>
          <a:bodyPr wrap="square" lIns="34290" tIns="60485" rIns="34290" bIns="60485" rtlCol="0" anchor="ctr"/>
          <a:lstStyle/>
          <a:p>
            <a:pPr lvl="0" algn="ctr" defTabSz="535802">
              <a:lnSpc>
                <a:spcPts val="1300"/>
              </a:lnSpc>
            </a:pPr>
            <a:r>
              <a:rPr lang="en-US" sz="1200" b="1" kern="0" dirty="0">
                <a:solidFill>
                  <a:prstClr val="white"/>
                </a:solidFill>
              </a:rPr>
              <a:t>Vendor-Specific GIS Solutions</a:t>
            </a:r>
          </a:p>
        </p:txBody>
      </p:sp>
      <p:sp>
        <p:nvSpPr>
          <p:cNvPr id="188" name="Rectangle 187">
            <a:extLst>
              <a:ext uri="{FF2B5EF4-FFF2-40B4-BE49-F238E27FC236}">
                <a16:creationId xmlns:a16="http://schemas.microsoft.com/office/drawing/2014/main" id="{BFEC4703-9652-D1BB-A505-F3998E3F906D}"/>
              </a:ext>
            </a:extLst>
          </p:cNvPr>
          <p:cNvSpPr/>
          <p:nvPr/>
        </p:nvSpPr>
        <p:spPr bwMode="gray">
          <a:xfrm>
            <a:off x="502281" y="5129839"/>
            <a:ext cx="3511164" cy="132996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Certain DISCOMs may choose GIS technologies provided by specific vendors other than ESRI, such as MapInfo from Pitney Bowes or Bentley Systems' GIS solutions. These platforms offer similar functionalities to ArcGIS and may be preferred based on factors such as vendor relationships, licensing agreements, or compatibility with existing systems</a:t>
            </a:r>
          </a:p>
        </p:txBody>
      </p:sp>
      <p:cxnSp>
        <p:nvCxnSpPr>
          <p:cNvPr id="197" name="Connector: Elbow 196">
            <a:extLst>
              <a:ext uri="{FF2B5EF4-FFF2-40B4-BE49-F238E27FC236}">
                <a16:creationId xmlns:a16="http://schemas.microsoft.com/office/drawing/2014/main" id="{387020E4-E3A9-5134-0FB4-3F2E6C4F589B}"/>
              </a:ext>
            </a:extLst>
          </p:cNvPr>
          <p:cNvCxnSpPr>
            <a:cxnSpLocks/>
            <a:stCxn id="138" idx="1"/>
            <a:endCxn id="185" idx="3"/>
          </p:cNvCxnSpPr>
          <p:nvPr/>
        </p:nvCxnSpPr>
        <p:spPr>
          <a:xfrm rot="10800000">
            <a:off x="3938005" y="3096368"/>
            <a:ext cx="982696" cy="1076080"/>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99" name="Connector: Elbow 198">
            <a:extLst>
              <a:ext uri="{FF2B5EF4-FFF2-40B4-BE49-F238E27FC236}">
                <a16:creationId xmlns:a16="http://schemas.microsoft.com/office/drawing/2014/main" id="{A479CE76-4B21-5E80-7C76-639F0F46AD49}"/>
              </a:ext>
            </a:extLst>
          </p:cNvPr>
          <p:cNvCxnSpPr>
            <a:cxnSpLocks/>
            <a:endCxn id="187" idx="3"/>
          </p:cNvCxnSpPr>
          <p:nvPr/>
        </p:nvCxnSpPr>
        <p:spPr>
          <a:xfrm rot="10800000">
            <a:off x="3879223" y="4970916"/>
            <a:ext cx="1221813" cy="602622"/>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02" name="Rounded Rectangle 56">
            <a:extLst>
              <a:ext uri="{FF2B5EF4-FFF2-40B4-BE49-F238E27FC236}">
                <a16:creationId xmlns:a16="http://schemas.microsoft.com/office/drawing/2014/main" id="{BDBA4121-624B-4110-7299-4ECEEE8E8C66}"/>
              </a:ext>
            </a:extLst>
          </p:cNvPr>
          <p:cNvSpPr/>
          <p:nvPr/>
        </p:nvSpPr>
        <p:spPr bwMode="gray">
          <a:xfrm>
            <a:off x="8320085" y="1088208"/>
            <a:ext cx="3455044" cy="334012"/>
          </a:xfrm>
          <a:prstGeom prst="roundRect">
            <a:avLst/>
          </a:prstGeom>
          <a:solidFill>
            <a:sysClr val="windowText" lastClr="000000">
              <a:lumMod val="85000"/>
              <a:lumOff val="15000"/>
            </a:sysClr>
          </a:solidFill>
          <a:ln w="12700" algn="ctr">
            <a:solidFill>
              <a:srgbClr val="86BC25">
                <a:lumMod val="75000"/>
              </a:srgbClr>
            </a:solidFill>
            <a:miter lim="800000"/>
            <a:headEnd/>
            <a:tailEnd/>
          </a:ln>
        </p:spPr>
        <p:txBody>
          <a:bodyPr wrap="square" lIns="34290" tIns="60485" rIns="34290" bIns="60485" rtlCol="0" anchor="ctr"/>
          <a:lstStyle/>
          <a:p>
            <a:pPr lvl="0" algn="ctr" defTabSz="535802">
              <a:lnSpc>
                <a:spcPts val="1300"/>
              </a:lnSpc>
            </a:pPr>
            <a:r>
              <a:rPr lang="en-US" sz="1200" b="1" kern="0" dirty="0">
                <a:solidFill>
                  <a:prstClr val="white"/>
                </a:solidFill>
              </a:rPr>
              <a:t>Customized GIS Solutions</a:t>
            </a:r>
          </a:p>
        </p:txBody>
      </p:sp>
      <p:sp>
        <p:nvSpPr>
          <p:cNvPr id="203" name="Rectangle 202">
            <a:extLst>
              <a:ext uri="{FF2B5EF4-FFF2-40B4-BE49-F238E27FC236}">
                <a16:creationId xmlns:a16="http://schemas.microsoft.com/office/drawing/2014/main" id="{D9A25784-9008-C8F8-5B5E-58EE38FA1FB6}"/>
              </a:ext>
            </a:extLst>
          </p:cNvPr>
          <p:cNvSpPr/>
          <p:nvPr/>
        </p:nvSpPr>
        <p:spPr bwMode="gray">
          <a:xfrm>
            <a:off x="8314366" y="1391952"/>
            <a:ext cx="3511164" cy="132996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Larger DISCOMs or those with specific requirements may develop or commission customized GIS solutions tailored to their needs. These solutions may involve the integration of various technologies and data sources to support activities such as network optimization, outage management, and consumer engagement</a:t>
            </a:r>
          </a:p>
        </p:txBody>
      </p:sp>
      <p:sp>
        <p:nvSpPr>
          <p:cNvPr id="204" name="Rounded Rectangle 56">
            <a:extLst>
              <a:ext uri="{FF2B5EF4-FFF2-40B4-BE49-F238E27FC236}">
                <a16:creationId xmlns:a16="http://schemas.microsoft.com/office/drawing/2014/main" id="{A55E4FBF-C174-6741-A2F3-C5059C1EE32B}"/>
              </a:ext>
            </a:extLst>
          </p:cNvPr>
          <p:cNvSpPr/>
          <p:nvPr/>
        </p:nvSpPr>
        <p:spPr bwMode="gray">
          <a:xfrm>
            <a:off x="8378092" y="2944415"/>
            <a:ext cx="3455820" cy="303744"/>
          </a:xfrm>
          <a:prstGeom prst="roundRect">
            <a:avLst/>
          </a:prstGeom>
          <a:solidFill>
            <a:sysClr val="windowText" lastClr="000000">
              <a:lumMod val="85000"/>
              <a:lumOff val="15000"/>
            </a:sysClr>
          </a:solidFill>
          <a:ln w="12700" algn="ctr">
            <a:solidFill>
              <a:srgbClr val="86BC25">
                <a:lumMod val="75000"/>
              </a:srgbClr>
            </a:solidFill>
            <a:miter lim="800000"/>
            <a:headEnd/>
            <a:tailEnd/>
          </a:ln>
        </p:spPr>
        <p:txBody>
          <a:bodyPr wrap="square" lIns="34290" tIns="60485" rIns="34290" bIns="60485" rtlCol="0" anchor="ctr"/>
          <a:lstStyle/>
          <a:p>
            <a:pPr lvl="0" algn="ctr" defTabSz="535802">
              <a:lnSpc>
                <a:spcPts val="1300"/>
              </a:lnSpc>
            </a:pPr>
            <a:r>
              <a:rPr lang="en-US" sz="1200" b="1" kern="0" dirty="0">
                <a:solidFill>
                  <a:prstClr val="white"/>
                </a:solidFill>
              </a:rPr>
              <a:t>Cloud-Based GIS Platforms</a:t>
            </a:r>
          </a:p>
        </p:txBody>
      </p:sp>
      <p:sp>
        <p:nvSpPr>
          <p:cNvPr id="205" name="Rectangle 204">
            <a:extLst>
              <a:ext uri="{FF2B5EF4-FFF2-40B4-BE49-F238E27FC236}">
                <a16:creationId xmlns:a16="http://schemas.microsoft.com/office/drawing/2014/main" id="{B2FC52AA-D2D8-F3CC-2D8E-AEFEF3AD7EC6}"/>
              </a:ext>
            </a:extLst>
          </p:cNvPr>
          <p:cNvSpPr/>
          <p:nvPr/>
        </p:nvSpPr>
        <p:spPr bwMode="gray">
          <a:xfrm>
            <a:off x="8372373" y="3248159"/>
            <a:ext cx="3511164" cy="132996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With the growing trend towards cloud computing, some DISCOMs may leverage cloud-based GIS platforms such as ArcGIS Online or Google Maps Platform. These platforms offer scalability, flexibility, and accessibility, allowing DISCOMs to deploy GIS applications without significant upfront investments in hardware or software</a:t>
            </a:r>
          </a:p>
        </p:txBody>
      </p:sp>
      <p:sp>
        <p:nvSpPr>
          <p:cNvPr id="206" name="Rounded Rectangle 56">
            <a:extLst>
              <a:ext uri="{FF2B5EF4-FFF2-40B4-BE49-F238E27FC236}">
                <a16:creationId xmlns:a16="http://schemas.microsoft.com/office/drawing/2014/main" id="{2A9781B4-61C5-0CD2-374C-A6B9A796BB2D}"/>
              </a:ext>
            </a:extLst>
          </p:cNvPr>
          <p:cNvSpPr/>
          <p:nvPr/>
        </p:nvSpPr>
        <p:spPr bwMode="gray">
          <a:xfrm>
            <a:off x="8403907" y="4826014"/>
            <a:ext cx="3371222" cy="289642"/>
          </a:xfrm>
          <a:prstGeom prst="roundRect">
            <a:avLst/>
          </a:prstGeom>
          <a:solidFill>
            <a:sysClr val="windowText" lastClr="000000">
              <a:lumMod val="85000"/>
              <a:lumOff val="15000"/>
            </a:sysClr>
          </a:solidFill>
          <a:ln w="12700" algn="ctr">
            <a:solidFill>
              <a:srgbClr val="86BC25">
                <a:lumMod val="75000"/>
              </a:srgbClr>
            </a:solidFill>
            <a:miter lim="800000"/>
            <a:headEnd/>
            <a:tailEnd/>
          </a:ln>
        </p:spPr>
        <p:txBody>
          <a:bodyPr wrap="square" lIns="34290" tIns="60485" rIns="34290" bIns="60485" rtlCol="0" anchor="ctr"/>
          <a:lstStyle/>
          <a:p>
            <a:pPr lvl="0" algn="ctr" defTabSz="535802">
              <a:lnSpc>
                <a:spcPts val="1300"/>
              </a:lnSpc>
            </a:pPr>
            <a:r>
              <a:rPr lang="en-US" sz="1200" b="1" kern="0" dirty="0">
                <a:solidFill>
                  <a:prstClr val="white"/>
                </a:solidFill>
              </a:rPr>
              <a:t>Mobile GIS Applications</a:t>
            </a:r>
          </a:p>
        </p:txBody>
      </p:sp>
      <p:sp>
        <p:nvSpPr>
          <p:cNvPr id="207" name="Rectangle 206">
            <a:extLst>
              <a:ext uri="{FF2B5EF4-FFF2-40B4-BE49-F238E27FC236}">
                <a16:creationId xmlns:a16="http://schemas.microsoft.com/office/drawing/2014/main" id="{9DF22469-4F3C-9A95-73F6-3B84396EEEEA}"/>
              </a:ext>
            </a:extLst>
          </p:cNvPr>
          <p:cNvSpPr/>
          <p:nvPr/>
        </p:nvSpPr>
        <p:spPr bwMode="gray">
          <a:xfrm>
            <a:off x="8398188" y="5129758"/>
            <a:ext cx="3511164" cy="132996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50" b="0" i="0" u="none" strike="noStrike" kern="1200" cap="none" spc="0" normalizeH="0" baseline="0" noProof="0" dirty="0">
                <a:ln>
                  <a:noFill/>
                </a:ln>
                <a:solidFill>
                  <a:prstClr val="black"/>
                </a:solidFill>
                <a:effectLst/>
                <a:uLnTx/>
                <a:uFillTx/>
                <a:cs typeface="Calibri" panose="020F0502020204030204" pitchFamily="34" charset="0"/>
              </a:rPr>
              <a:t>Many DISCOMs utilize mobile GIS applications to empower field personnel with access to GIS data and tools while on the go. These applications enable tasks such as asset inspection, maintenance, and outage response to be performed efficiently in the field</a:t>
            </a:r>
          </a:p>
        </p:txBody>
      </p:sp>
      <p:cxnSp>
        <p:nvCxnSpPr>
          <p:cNvPr id="208" name="Connector: Elbow 207">
            <a:extLst>
              <a:ext uri="{FF2B5EF4-FFF2-40B4-BE49-F238E27FC236}">
                <a16:creationId xmlns:a16="http://schemas.microsoft.com/office/drawing/2014/main" id="{D57E4FDE-3BC3-7CF2-00C4-3B62407CF000}"/>
              </a:ext>
            </a:extLst>
          </p:cNvPr>
          <p:cNvCxnSpPr>
            <a:cxnSpLocks/>
            <a:endCxn id="202" idx="1"/>
          </p:cNvCxnSpPr>
          <p:nvPr/>
        </p:nvCxnSpPr>
        <p:spPr>
          <a:xfrm rot="5400000" flipH="1" flipV="1">
            <a:off x="7014085" y="1299818"/>
            <a:ext cx="1350604" cy="1261396"/>
          </a:xfrm>
          <a:prstGeom prst="bentConnector2">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4992300C-315F-AD29-7EA6-20A206048EA4}"/>
              </a:ext>
            </a:extLst>
          </p:cNvPr>
          <p:cNvCxnSpPr>
            <a:cxnSpLocks/>
            <a:endCxn id="204" idx="1"/>
          </p:cNvCxnSpPr>
          <p:nvPr/>
        </p:nvCxnSpPr>
        <p:spPr>
          <a:xfrm flipV="1">
            <a:off x="6949792" y="3096287"/>
            <a:ext cx="1428300" cy="429980"/>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14" name="Connector: Elbow 213">
            <a:extLst>
              <a:ext uri="{FF2B5EF4-FFF2-40B4-BE49-F238E27FC236}">
                <a16:creationId xmlns:a16="http://schemas.microsoft.com/office/drawing/2014/main" id="{DABC9416-7E8F-15ED-80D8-F7F017D4E953}"/>
              </a:ext>
            </a:extLst>
          </p:cNvPr>
          <p:cNvCxnSpPr>
            <a:cxnSpLocks/>
            <a:stCxn id="97" idx="8"/>
            <a:endCxn id="206" idx="1"/>
          </p:cNvCxnSpPr>
          <p:nvPr/>
        </p:nvCxnSpPr>
        <p:spPr>
          <a:xfrm flipV="1">
            <a:off x="6437147" y="4970835"/>
            <a:ext cx="1966760" cy="525872"/>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65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4771B-50EC-BC5A-F49A-AFDE1D202F3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B007DB3-59F7-804D-BE95-3375327790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3FB9F520-381D-25C5-43DD-BD615882AC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4D126E9A-E0E3-0BCA-C255-D934524FB177}"/>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Through the implementation of GIS, major challenges faced by Utilities as mentioned below are addressed</a:t>
            </a:r>
          </a:p>
        </p:txBody>
      </p:sp>
      <p:sp>
        <p:nvSpPr>
          <p:cNvPr id="6" name="Title 2">
            <a:extLst>
              <a:ext uri="{FF2B5EF4-FFF2-40B4-BE49-F238E27FC236}">
                <a16:creationId xmlns:a16="http://schemas.microsoft.com/office/drawing/2014/main" id="{8E37F6B5-3673-301F-F21E-FB0669B55F45}"/>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Key Challenges Faced by DISCOMs and major solutions of GIS implementation</a:t>
            </a:r>
          </a:p>
        </p:txBody>
      </p:sp>
      <p:cxnSp>
        <p:nvCxnSpPr>
          <p:cNvPr id="92" name="Straight Connector 91">
            <a:extLst>
              <a:ext uri="{FF2B5EF4-FFF2-40B4-BE49-F238E27FC236}">
                <a16:creationId xmlns:a16="http://schemas.microsoft.com/office/drawing/2014/main" id="{34C214EB-4E53-2434-8057-A8B625747CDF}"/>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C2A8980-AF8E-D1DB-AA36-1AE23051AC1D}"/>
              </a:ext>
            </a:extLst>
          </p:cNvPr>
          <p:cNvCxnSpPr>
            <a:stCxn id="48" idx="2"/>
            <a:endCxn id="59" idx="6"/>
          </p:cNvCxnSpPr>
          <p:nvPr/>
        </p:nvCxnSpPr>
        <p:spPr>
          <a:xfrm flipH="1">
            <a:off x="2044939" y="1420045"/>
            <a:ext cx="613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0763C69-9629-BAA5-69DF-FEA60CDBFBFC}"/>
              </a:ext>
            </a:extLst>
          </p:cNvPr>
          <p:cNvCxnSpPr>
            <a:stCxn id="54" idx="2"/>
            <a:endCxn id="70" idx="6"/>
          </p:cNvCxnSpPr>
          <p:nvPr/>
        </p:nvCxnSpPr>
        <p:spPr>
          <a:xfrm flipH="1">
            <a:off x="2140535" y="2346914"/>
            <a:ext cx="5175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3FEEEB9-2C82-DA10-3136-27D388B75FC7}"/>
              </a:ext>
            </a:extLst>
          </p:cNvPr>
          <p:cNvCxnSpPr>
            <a:stCxn id="60" idx="6"/>
            <a:endCxn id="50" idx="2"/>
          </p:cNvCxnSpPr>
          <p:nvPr/>
        </p:nvCxnSpPr>
        <p:spPr>
          <a:xfrm>
            <a:off x="2140535" y="3290408"/>
            <a:ext cx="5175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3B72CA3-96F7-08CD-DA38-8D63A31BA017}"/>
              </a:ext>
            </a:extLst>
          </p:cNvPr>
          <p:cNvCxnSpPr>
            <a:stCxn id="63" idx="6"/>
            <a:endCxn id="52" idx="2"/>
          </p:cNvCxnSpPr>
          <p:nvPr/>
        </p:nvCxnSpPr>
        <p:spPr>
          <a:xfrm>
            <a:off x="1999219" y="4221433"/>
            <a:ext cx="65887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Snip Single Corner Rectangle 23">
            <a:extLst>
              <a:ext uri="{FF2B5EF4-FFF2-40B4-BE49-F238E27FC236}">
                <a16:creationId xmlns:a16="http://schemas.microsoft.com/office/drawing/2014/main" id="{522E6C8C-AC8E-A167-ADE8-859CF195B4F7}"/>
              </a:ext>
            </a:extLst>
          </p:cNvPr>
          <p:cNvSpPr/>
          <p:nvPr/>
        </p:nvSpPr>
        <p:spPr bwMode="gray">
          <a:xfrm>
            <a:off x="3034379" y="3852239"/>
            <a:ext cx="8620722" cy="738391"/>
          </a:xfrm>
          <a:prstGeom prst="snip1Rect">
            <a:avLst>
              <a:gd name="adj" fmla="val 50000"/>
            </a:avLst>
          </a:prstGeom>
          <a:solidFill>
            <a:srgbClr val="046A38"/>
          </a:solidFill>
          <a:ln w="19050" algn="ctr">
            <a:noFill/>
            <a:miter lim="800000"/>
            <a:headEnd/>
            <a:tailEnd/>
          </a:ln>
        </p:spPr>
        <p:txBody>
          <a:bodyPr wrap="square" lIns="640080" tIns="0" rIns="108000" bIns="0" rtlCol="0" anchor="t"/>
          <a:lstStyle/>
          <a:p>
            <a:r>
              <a:rPr lang="en-US" sz="1300" dirty="0">
                <a:solidFill>
                  <a:schemeClr val="bg1"/>
                </a:solidFill>
              </a:rPr>
              <a:t>To address the issue, GOI intervened and took initiative under R-APDRP for establishment of IT system with extensive use of GIS </a:t>
            </a:r>
          </a:p>
        </p:txBody>
      </p:sp>
      <p:sp>
        <p:nvSpPr>
          <p:cNvPr id="44" name="Snip Single Corner Rectangle 24">
            <a:extLst>
              <a:ext uri="{FF2B5EF4-FFF2-40B4-BE49-F238E27FC236}">
                <a16:creationId xmlns:a16="http://schemas.microsoft.com/office/drawing/2014/main" id="{2D807902-B632-2C81-85A6-350831E9E22F}"/>
              </a:ext>
            </a:extLst>
          </p:cNvPr>
          <p:cNvSpPr/>
          <p:nvPr/>
        </p:nvSpPr>
        <p:spPr bwMode="gray">
          <a:xfrm>
            <a:off x="3034379" y="2921214"/>
            <a:ext cx="8620722" cy="738391"/>
          </a:xfrm>
          <a:prstGeom prst="snip1Rect">
            <a:avLst>
              <a:gd name="adj" fmla="val 50000"/>
            </a:avLst>
          </a:prstGeom>
          <a:solidFill>
            <a:srgbClr val="009A44"/>
          </a:solidFill>
          <a:ln w="19050" algn="ctr">
            <a:noFill/>
            <a:miter lim="800000"/>
            <a:headEnd/>
            <a:tailEnd/>
          </a:ln>
        </p:spPr>
        <p:txBody>
          <a:bodyPr wrap="square" lIns="640080" tIns="0" rIns="108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mj-lt"/>
                <a:ea typeface="+mn-ea"/>
                <a:cs typeface="+mn-cs"/>
              </a:rPr>
              <a:t>However, over the years, DISCOMs have accumulated losses  due to high T&amp;D and Commercial losses. This has been mainly attributed to Non-adoption of IT in network management, operations and energy accounting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a:ea typeface="+mn-ea"/>
              <a:cs typeface="+mn-cs"/>
            </a:endParaRPr>
          </a:p>
        </p:txBody>
      </p:sp>
      <p:sp>
        <p:nvSpPr>
          <p:cNvPr id="45" name="Snip Single Corner Rectangle 25">
            <a:extLst>
              <a:ext uri="{FF2B5EF4-FFF2-40B4-BE49-F238E27FC236}">
                <a16:creationId xmlns:a16="http://schemas.microsoft.com/office/drawing/2014/main" id="{F1A3C5FC-9924-AFB5-D457-037FCB5E2BFE}"/>
              </a:ext>
            </a:extLst>
          </p:cNvPr>
          <p:cNvSpPr/>
          <p:nvPr/>
        </p:nvSpPr>
        <p:spPr bwMode="gray">
          <a:xfrm>
            <a:off x="3034379" y="1050851"/>
            <a:ext cx="8620722" cy="738391"/>
          </a:xfrm>
          <a:prstGeom prst="snip1Rect">
            <a:avLst>
              <a:gd name="adj" fmla="val 50000"/>
            </a:avLst>
          </a:prstGeom>
          <a:solidFill>
            <a:srgbClr val="86BC25"/>
          </a:solidFill>
          <a:ln w="19050" algn="ctr">
            <a:noFill/>
            <a:miter lim="800000"/>
            <a:headEnd/>
            <a:tailEnd/>
          </a:ln>
        </p:spPr>
        <p:txBody>
          <a:bodyPr wrap="square" lIns="640080" tIns="0" rIns="108000" bIns="0" rtlCol="0" anchor="t"/>
          <a:lstStyle/>
          <a:p>
            <a:r>
              <a:rPr lang="en-US" sz="1300" dirty="0">
                <a:solidFill>
                  <a:schemeClr val="bg1"/>
                </a:solidFill>
              </a:rPr>
              <a:t>Power Distribution Company deals with HT &amp; LT electrical networks and related consumers spread over wide geographical area to ensure supply availability</a:t>
            </a:r>
          </a:p>
        </p:txBody>
      </p:sp>
      <p:sp>
        <p:nvSpPr>
          <p:cNvPr id="46" name="Oval 45">
            <a:extLst>
              <a:ext uri="{FF2B5EF4-FFF2-40B4-BE49-F238E27FC236}">
                <a16:creationId xmlns:a16="http://schemas.microsoft.com/office/drawing/2014/main" id="{9E47CAC5-E14E-279D-F7C6-CA953D53C1BC}"/>
              </a:ext>
            </a:extLst>
          </p:cNvPr>
          <p:cNvSpPr/>
          <p:nvPr/>
        </p:nvSpPr>
        <p:spPr bwMode="gray">
          <a:xfrm>
            <a:off x="469900" y="1978050"/>
            <a:ext cx="1554480" cy="155448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47" name="Oval 46">
            <a:extLst>
              <a:ext uri="{FF2B5EF4-FFF2-40B4-BE49-F238E27FC236}">
                <a16:creationId xmlns:a16="http://schemas.microsoft.com/office/drawing/2014/main" id="{F869ACC4-FB92-5E88-7132-47663E418074}"/>
              </a:ext>
            </a:extLst>
          </p:cNvPr>
          <p:cNvSpPr/>
          <p:nvPr/>
        </p:nvSpPr>
        <p:spPr bwMode="gray">
          <a:xfrm>
            <a:off x="526012" y="2034162"/>
            <a:ext cx="1442259" cy="1442259"/>
          </a:xfrm>
          <a:prstGeom prst="ellipse">
            <a:avLst/>
          </a:prstGeom>
          <a:solidFill>
            <a:schemeClr val="bg1"/>
          </a:solidFill>
          <a:ln w="19050" algn="ctr">
            <a:solidFill>
              <a:schemeClr val="accent3">
                <a:lumMod val="75000"/>
              </a:schemeClr>
            </a:solidFill>
            <a:miter lim="800000"/>
            <a:headEnd/>
            <a:tailEnd/>
          </a:ln>
        </p:spPr>
        <p:txBody>
          <a:bodyPr wrap="square" lIns="0" tIns="0" rIns="0" bIns="0" rtlCol="0" anchor="ctr"/>
          <a:lstStyle/>
          <a:p>
            <a:pPr algn="ctr"/>
            <a:r>
              <a:rPr lang="en-US" sz="1300" b="1" kern="0" dirty="0"/>
              <a:t>Challenges faced by Utilities</a:t>
            </a:r>
          </a:p>
        </p:txBody>
      </p:sp>
      <p:sp>
        <p:nvSpPr>
          <p:cNvPr id="48" name="Oval 47">
            <a:extLst>
              <a:ext uri="{FF2B5EF4-FFF2-40B4-BE49-F238E27FC236}">
                <a16:creationId xmlns:a16="http://schemas.microsoft.com/office/drawing/2014/main" id="{B59E0017-1A97-0649-4F71-9A1463D4DDBF}"/>
              </a:ext>
            </a:extLst>
          </p:cNvPr>
          <p:cNvSpPr/>
          <p:nvPr/>
        </p:nvSpPr>
        <p:spPr bwMode="gray">
          <a:xfrm>
            <a:off x="2658089" y="1003300"/>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0" name="Oval 49">
            <a:extLst>
              <a:ext uri="{FF2B5EF4-FFF2-40B4-BE49-F238E27FC236}">
                <a16:creationId xmlns:a16="http://schemas.microsoft.com/office/drawing/2014/main" id="{B1CC2DA8-DD18-EE8D-8BF9-19A2D4946988}"/>
              </a:ext>
            </a:extLst>
          </p:cNvPr>
          <p:cNvSpPr/>
          <p:nvPr/>
        </p:nvSpPr>
        <p:spPr bwMode="gray">
          <a:xfrm>
            <a:off x="2658089" y="2873663"/>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2" name="Oval 51">
            <a:extLst>
              <a:ext uri="{FF2B5EF4-FFF2-40B4-BE49-F238E27FC236}">
                <a16:creationId xmlns:a16="http://schemas.microsoft.com/office/drawing/2014/main" id="{A91BEAE3-B206-5553-40D5-D2FDDAAFF983}"/>
              </a:ext>
            </a:extLst>
          </p:cNvPr>
          <p:cNvSpPr/>
          <p:nvPr/>
        </p:nvSpPr>
        <p:spPr bwMode="gray">
          <a:xfrm>
            <a:off x="2658089" y="3804688"/>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3" name="Snip Single Corner Rectangle 31">
            <a:extLst>
              <a:ext uri="{FF2B5EF4-FFF2-40B4-BE49-F238E27FC236}">
                <a16:creationId xmlns:a16="http://schemas.microsoft.com/office/drawing/2014/main" id="{5B21A300-D9CA-6193-8BF6-ACE3503AD002}"/>
              </a:ext>
            </a:extLst>
          </p:cNvPr>
          <p:cNvSpPr/>
          <p:nvPr/>
        </p:nvSpPr>
        <p:spPr bwMode="gray">
          <a:xfrm>
            <a:off x="3034379" y="1977720"/>
            <a:ext cx="8620722" cy="738391"/>
          </a:xfrm>
          <a:prstGeom prst="snip1Rect">
            <a:avLst>
              <a:gd name="adj" fmla="val 50000"/>
            </a:avLst>
          </a:prstGeom>
          <a:solidFill>
            <a:srgbClr val="43B02A"/>
          </a:solidFill>
          <a:ln w="19050" algn="ctr">
            <a:noFill/>
            <a:miter lim="800000"/>
            <a:headEnd/>
            <a:tailEnd/>
          </a:ln>
        </p:spPr>
        <p:txBody>
          <a:bodyPr wrap="square" lIns="640080" tIns="0" rIns="108000" bIns="0" rtlCol="0" anchor="t"/>
          <a:lstStyle/>
          <a:p>
            <a:r>
              <a:rPr lang="en-US" sz="1300" dirty="0">
                <a:solidFill>
                  <a:schemeClr val="bg1"/>
                </a:solidFill>
              </a:rPr>
              <a:t>In past, Discoms have been using conventional Physical Area Maps for proper O&amp;M and management of the system</a:t>
            </a:r>
          </a:p>
        </p:txBody>
      </p:sp>
      <p:sp>
        <p:nvSpPr>
          <p:cNvPr id="54" name="Oval 53">
            <a:extLst>
              <a:ext uri="{FF2B5EF4-FFF2-40B4-BE49-F238E27FC236}">
                <a16:creationId xmlns:a16="http://schemas.microsoft.com/office/drawing/2014/main" id="{901884B5-3D06-A551-C1DE-0E957A553F05}"/>
              </a:ext>
            </a:extLst>
          </p:cNvPr>
          <p:cNvSpPr/>
          <p:nvPr/>
        </p:nvSpPr>
        <p:spPr bwMode="gray">
          <a:xfrm>
            <a:off x="2658089" y="1930169"/>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cxnSp>
        <p:nvCxnSpPr>
          <p:cNvPr id="55" name="Straight Connector 54">
            <a:extLst>
              <a:ext uri="{FF2B5EF4-FFF2-40B4-BE49-F238E27FC236}">
                <a16:creationId xmlns:a16="http://schemas.microsoft.com/office/drawing/2014/main" id="{8FAF0075-9C3A-DEA7-36DE-1ECAD8E7F9DC}"/>
              </a:ext>
            </a:extLst>
          </p:cNvPr>
          <p:cNvCxnSpPr>
            <a:stCxn id="46" idx="0"/>
            <a:endCxn id="59" idx="3"/>
          </p:cNvCxnSpPr>
          <p:nvPr/>
        </p:nvCxnSpPr>
        <p:spPr>
          <a:xfrm flipV="1">
            <a:off x="1247140" y="1452374"/>
            <a:ext cx="719750" cy="52567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DBDD41-D886-ED1F-17D1-EDA6C1A28B56}"/>
              </a:ext>
            </a:extLst>
          </p:cNvPr>
          <p:cNvCxnSpPr>
            <a:endCxn id="60" idx="1"/>
          </p:cNvCxnSpPr>
          <p:nvPr/>
        </p:nvCxnSpPr>
        <p:spPr>
          <a:xfrm>
            <a:off x="1907779" y="3180893"/>
            <a:ext cx="154706" cy="7718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66E3358-7024-5739-3055-732D64193A91}"/>
              </a:ext>
            </a:extLst>
          </p:cNvPr>
          <p:cNvCxnSpPr>
            <a:endCxn id="70" idx="3"/>
          </p:cNvCxnSpPr>
          <p:nvPr/>
        </p:nvCxnSpPr>
        <p:spPr>
          <a:xfrm flipV="1">
            <a:off x="1966891" y="2379243"/>
            <a:ext cx="95595" cy="5535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5691DE9-D348-D2B9-DD57-9A52BF929705}"/>
              </a:ext>
            </a:extLst>
          </p:cNvPr>
          <p:cNvCxnSpPr>
            <a:stCxn id="63" idx="2"/>
            <a:endCxn id="46" idx="4"/>
          </p:cNvCxnSpPr>
          <p:nvPr/>
        </p:nvCxnSpPr>
        <p:spPr>
          <a:xfrm flipH="1" flipV="1">
            <a:off x="1247141" y="3532531"/>
            <a:ext cx="660639" cy="68890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0E963DD-812E-ED57-1C40-F2F76AD4D429}"/>
              </a:ext>
            </a:extLst>
          </p:cNvPr>
          <p:cNvSpPr/>
          <p:nvPr/>
        </p:nvSpPr>
        <p:spPr bwMode="gray">
          <a:xfrm>
            <a:off x="1953499" y="1374325"/>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60" name="Oval 59">
            <a:extLst>
              <a:ext uri="{FF2B5EF4-FFF2-40B4-BE49-F238E27FC236}">
                <a16:creationId xmlns:a16="http://schemas.microsoft.com/office/drawing/2014/main" id="{7F864A28-9CBD-B70E-504A-BCAE638B4B21}"/>
              </a:ext>
            </a:extLst>
          </p:cNvPr>
          <p:cNvSpPr/>
          <p:nvPr/>
        </p:nvSpPr>
        <p:spPr bwMode="gray">
          <a:xfrm>
            <a:off x="2049094" y="3244688"/>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63" name="Oval 62">
            <a:extLst>
              <a:ext uri="{FF2B5EF4-FFF2-40B4-BE49-F238E27FC236}">
                <a16:creationId xmlns:a16="http://schemas.microsoft.com/office/drawing/2014/main" id="{12A9ED3C-A6B4-EC5A-ED0B-326C84B8D8B1}"/>
              </a:ext>
            </a:extLst>
          </p:cNvPr>
          <p:cNvSpPr/>
          <p:nvPr/>
        </p:nvSpPr>
        <p:spPr bwMode="gray">
          <a:xfrm>
            <a:off x="1907779" y="4175713"/>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70" name="Oval 69">
            <a:extLst>
              <a:ext uri="{FF2B5EF4-FFF2-40B4-BE49-F238E27FC236}">
                <a16:creationId xmlns:a16="http://schemas.microsoft.com/office/drawing/2014/main" id="{78FF9441-A7B9-22C3-5853-1D4CCD12FDE2}"/>
              </a:ext>
            </a:extLst>
          </p:cNvPr>
          <p:cNvSpPr/>
          <p:nvPr/>
        </p:nvSpPr>
        <p:spPr bwMode="gray">
          <a:xfrm>
            <a:off x="2049094" y="2301194"/>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71" name="Freeform 611">
            <a:extLst>
              <a:ext uri="{FF2B5EF4-FFF2-40B4-BE49-F238E27FC236}">
                <a16:creationId xmlns:a16="http://schemas.microsoft.com/office/drawing/2014/main" id="{A997025A-F32A-008D-2CF1-09BFE5E1209A}"/>
              </a:ext>
            </a:extLst>
          </p:cNvPr>
          <p:cNvSpPr>
            <a:spLocks noChangeAspect="1" noEditPoints="1"/>
          </p:cNvSpPr>
          <p:nvPr/>
        </p:nvSpPr>
        <p:spPr bwMode="auto">
          <a:xfrm>
            <a:off x="2754794" y="1100005"/>
            <a:ext cx="640080" cy="64008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49 w 512"/>
              <a:gd name="T11" fmla="*/ 362 h 512"/>
              <a:gd name="T12" fmla="*/ 128 w 512"/>
              <a:gd name="T13" fmla="*/ 362 h 512"/>
              <a:gd name="T14" fmla="*/ 117 w 512"/>
              <a:gd name="T15" fmla="*/ 352 h 512"/>
              <a:gd name="T16" fmla="*/ 128 w 512"/>
              <a:gd name="T17" fmla="*/ 341 h 512"/>
              <a:gd name="T18" fmla="*/ 149 w 512"/>
              <a:gd name="T19" fmla="*/ 341 h 512"/>
              <a:gd name="T20" fmla="*/ 160 w 512"/>
              <a:gd name="T21" fmla="*/ 352 h 512"/>
              <a:gd name="T22" fmla="*/ 149 w 512"/>
              <a:gd name="T23" fmla="*/ 362 h 512"/>
              <a:gd name="T24" fmla="*/ 149 w 512"/>
              <a:gd name="T25" fmla="*/ 298 h 512"/>
              <a:gd name="T26" fmla="*/ 128 w 512"/>
              <a:gd name="T27" fmla="*/ 298 h 512"/>
              <a:gd name="T28" fmla="*/ 117 w 512"/>
              <a:gd name="T29" fmla="*/ 288 h 512"/>
              <a:gd name="T30" fmla="*/ 128 w 512"/>
              <a:gd name="T31" fmla="*/ 277 h 512"/>
              <a:gd name="T32" fmla="*/ 149 w 512"/>
              <a:gd name="T33" fmla="*/ 277 h 512"/>
              <a:gd name="T34" fmla="*/ 160 w 512"/>
              <a:gd name="T35" fmla="*/ 288 h 512"/>
              <a:gd name="T36" fmla="*/ 149 w 512"/>
              <a:gd name="T37" fmla="*/ 298 h 512"/>
              <a:gd name="T38" fmla="*/ 149 w 512"/>
              <a:gd name="T39" fmla="*/ 234 h 512"/>
              <a:gd name="T40" fmla="*/ 128 w 512"/>
              <a:gd name="T41" fmla="*/ 234 h 512"/>
              <a:gd name="T42" fmla="*/ 117 w 512"/>
              <a:gd name="T43" fmla="*/ 224 h 512"/>
              <a:gd name="T44" fmla="*/ 128 w 512"/>
              <a:gd name="T45" fmla="*/ 213 h 512"/>
              <a:gd name="T46" fmla="*/ 149 w 512"/>
              <a:gd name="T47" fmla="*/ 213 h 512"/>
              <a:gd name="T48" fmla="*/ 160 w 512"/>
              <a:gd name="T49" fmla="*/ 224 h 512"/>
              <a:gd name="T50" fmla="*/ 149 w 512"/>
              <a:gd name="T51" fmla="*/ 234 h 512"/>
              <a:gd name="T52" fmla="*/ 149 w 512"/>
              <a:gd name="T53" fmla="*/ 170 h 512"/>
              <a:gd name="T54" fmla="*/ 128 w 512"/>
              <a:gd name="T55" fmla="*/ 170 h 512"/>
              <a:gd name="T56" fmla="*/ 117 w 512"/>
              <a:gd name="T57" fmla="*/ 160 h 512"/>
              <a:gd name="T58" fmla="*/ 128 w 512"/>
              <a:gd name="T59" fmla="*/ 149 h 512"/>
              <a:gd name="T60" fmla="*/ 149 w 512"/>
              <a:gd name="T61" fmla="*/ 149 h 512"/>
              <a:gd name="T62" fmla="*/ 160 w 512"/>
              <a:gd name="T63" fmla="*/ 160 h 512"/>
              <a:gd name="T64" fmla="*/ 149 w 512"/>
              <a:gd name="T65" fmla="*/ 170 h 512"/>
              <a:gd name="T66" fmla="*/ 384 w 512"/>
              <a:gd name="T67" fmla="*/ 362 h 512"/>
              <a:gd name="T68" fmla="*/ 202 w 512"/>
              <a:gd name="T69" fmla="*/ 362 h 512"/>
              <a:gd name="T70" fmla="*/ 192 w 512"/>
              <a:gd name="T71" fmla="*/ 352 h 512"/>
              <a:gd name="T72" fmla="*/ 202 w 512"/>
              <a:gd name="T73" fmla="*/ 341 h 512"/>
              <a:gd name="T74" fmla="*/ 384 w 512"/>
              <a:gd name="T75" fmla="*/ 341 h 512"/>
              <a:gd name="T76" fmla="*/ 394 w 512"/>
              <a:gd name="T77" fmla="*/ 352 h 512"/>
              <a:gd name="T78" fmla="*/ 384 w 512"/>
              <a:gd name="T79" fmla="*/ 362 h 512"/>
              <a:gd name="T80" fmla="*/ 384 w 512"/>
              <a:gd name="T81" fmla="*/ 298 h 512"/>
              <a:gd name="T82" fmla="*/ 202 w 512"/>
              <a:gd name="T83" fmla="*/ 298 h 512"/>
              <a:gd name="T84" fmla="*/ 192 w 512"/>
              <a:gd name="T85" fmla="*/ 288 h 512"/>
              <a:gd name="T86" fmla="*/ 202 w 512"/>
              <a:gd name="T87" fmla="*/ 277 h 512"/>
              <a:gd name="T88" fmla="*/ 384 w 512"/>
              <a:gd name="T89" fmla="*/ 277 h 512"/>
              <a:gd name="T90" fmla="*/ 394 w 512"/>
              <a:gd name="T91" fmla="*/ 288 h 512"/>
              <a:gd name="T92" fmla="*/ 384 w 512"/>
              <a:gd name="T93" fmla="*/ 298 h 512"/>
              <a:gd name="T94" fmla="*/ 384 w 512"/>
              <a:gd name="T95" fmla="*/ 234 h 512"/>
              <a:gd name="T96" fmla="*/ 202 w 512"/>
              <a:gd name="T97" fmla="*/ 234 h 512"/>
              <a:gd name="T98" fmla="*/ 192 w 512"/>
              <a:gd name="T99" fmla="*/ 224 h 512"/>
              <a:gd name="T100" fmla="*/ 202 w 512"/>
              <a:gd name="T101" fmla="*/ 213 h 512"/>
              <a:gd name="T102" fmla="*/ 384 w 512"/>
              <a:gd name="T103" fmla="*/ 213 h 512"/>
              <a:gd name="T104" fmla="*/ 394 w 512"/>
              <a:gd name="T105" fmla="*/ 224 h 512"/>
              <a:gd name="T106" fmla="*/ 384 w 512"/>
              <a:gd name="T107" fmla="*/ 234 h 512"/>
              <a:gd name="T108" fmla="*/ 384 w 512"/>
              <a:gd name="T109" fmla="*/ 170 h 512"/>
              <a:gd name="T110" fmla="*/ 202 w 512"/>
              <a:gd name="T111" fmla="*/ 170 h 512"/>
              <a:gd name="T112" fmla="*/ 192 w 512"/>
              <a:gd name="T113" fmla="*/ 160 h 512"/>
              <a:gd name="T114" fmla="*/ 202 w 512"/>
              <a:gd name="T115" fmla="*/ 149 h 512"/>
              <a:gd name="T116" fmla="*/ 384 w 512"/>
              <a:gd name="T117" fmla="*/ 149 h 512"/>
              <a:gd name="T118" fmla="*/ 394 w 512"/>
              <a:gd name="T119" fmla="*/ 160 h 512"/>
              <a:gd name="T120" fmla="*/ 384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49" y="362"/>
                </a:moveTo>
                <a:cubicBezTo>
                  <a:pt x="128" y="362"/>
                  <a:pt x="128" y="362"/>
                  <a:pt x="128" y="362"/>
                </a:cubicBezTo>
                <a:cubicBezTo>
                  <a:pt x="122" y="362"/>
                  <a:pt x="117" y="358"/>
                  <a:pt x="117" y="352"/>
                </a:cubicBezTo>
                <a:cubicBezTo>
                  <a:pt x="117" y="346"/>
                  <a:pt x="122" y="341"/>
                  <a:pt x="128" y="341"/>
                </a:cubicBezTo>
                <a:cubicBezTo>
                  <a:pt x="149" y="341"/>
                  <a:pt x="149" y="341"/>
                  <a:pt x="149" y="341"/>
                </a:cubicBezTo>
                <a:cubicBezTo>
                  <a:pt x="155" y="341"/>
                  <a:pt x="160" y="346"/>
                  <a:pt x="160" y="352"/>
                </a:cubicBezTo>
                <a:cubicBezTo>
                  <a:pt x="160" y="358"/>
                  <a:pt x="155" y="362"/>
                  <a:pt x="149" y="362"/>
                </a:cubicBezTo>
                <a:close/>
                <a:moveTo>
                  <a:pt x="149" y="298"/>
                </a:moveTo>
                <a:cubicBezTo>
                  <a:pt x="128" y="298"/>
                  <a:pt x="128" y="298"/>
                  <a:pt x="128" y="298"/>
                </a:cubicBezTo>
                <a:cubicBezTo>
                  <a:pt x="122" y="298"/>
                  <a:pt x="117" y="294"/>
                  <a:pt x="117" y="288"/>
                </a:cubicBezTo>
                <a:cubicBezTo>
                  <a:pt x="117" y="282"/>
                  <a:pt x="122" y="277"/>
                  <a:pt x="128" y="277"/>
                </a:cubicBezTo>
                <a:cubicBezTo>
                  <a:pt x="149" y="277"/>
                  <a:pt x="149" y="277"/>
                  <a:pt x="149" y="277"/>
                </a:cubicBezTo>
                <a:cubicBezTo>
                  <a:pt x="155" y="277"/>
                  <a:pt x="160" y="282"/>
                  <a:pt x="160" y="288"/>
                </a:cubicBezTo>
                <a:cubicBezTo>
                  <a:pt x="160" y="294"/>
                  <a:pt x="155" y="298"/>
                  <a:pt x="149" y="298"/>
                </a:cubicBezTo>
                <a:close/>
                <a:moveTo>
                  <a:pt x="149" y="234"/>
                </a:moveTo>
                <a:cubicBezTo>
                  <a:pt x="128" y="234"/>
                  <a:pt x="128" y="234"/>
                  <a:pt x="128" y="234"/>
                </a:cubicBezTo>
                <a:cubicBezTo>
                  <a:pt x="122" y="234"/>
                  <a:pt x="117" y="230"/>
                  <a:pt x="117" y="224"/>
                </a:cubicBezTo>
                <a:cubicBezTo>
                  <a:pt x="117" y="218"/>
                  <a:pt x="122" y="213"/>
                  <a:pt x="128" y="213"/>
                </a:cubicBezTo>
                <a:cubicBezTo>
                  <a:pt x="149" y="213"/>
                  <a:pt x="149" y="213"/>
                  <a:pt x="149" y="213"/>
                </a:cubicBezTo>
                <a:cubicBezTo>
                  <a:pt x="155" y="213"/>
                  <a:pt x="160" y="218"/>
                  <a:pt x="160" y="224"/>
                </a:cubicBezTo>
                <a:cubicBezTo>
                  <a:pt x="160" y="230"/>
                  <a:pt x="155" y="234"/>
                  <a:pt x="149" y="234"/>
                </a:cubicBezTo>
                <a:close/>
                <a:moveTo>
                  <a:pt x="149" y="170"/>
                </a:moveTo>
                <a:cubicBezTo>
                  <a:pt x="128" y="170"/>
                  <a:pt x="128" y="170"/>
                  <a:pt x="128" y="170"/>
                </a:cubicBezTo>
                <a:cubicBezTo>
                  <a:pt x="122" y="170"/>
                  <a:pt x="117" y="166"/>
                  <a:pt x="117" y="160"/>
                </a:cubicBezTo>
                <a:cubicBezTo>
                  <a:pt x="117" y="154"/>
                  <a:pt x="122" y="149"/>
                  <a:pt x="128" y="149"/>
                </a:cubicBezTo>
                <a:cubicBezTo>
                  <a:pt x="149" y="149"/>
                  <a:pt x="149" y="149"/>
                  <a:pt x="149" y="149"/>
                </a:cubicBezTo>
                <a:cubicBezTo>
                  <a:pt x="155" y="149"/>
                  <a:pt x="160" y="154"/>
                  <a:pt x="160" y="160"/>
                </a:cubicBezTo>
                <a:cubicBezTo>
                  <a:pt x="160" y="166"/>
                  <a:pt x="155" y="170"/>
                  <a:pt x="149" y="170"/>
                </a:cubicBezTo>
                <a:close/>
                <a:moveTo>
                  <a:pt x="384" y="362"/>
                </a:moveTo>
                <a:cubicBezTo>
                  <a:pt x="202" y="362"/>
                  <a:pt x="202" y="362"/>
                  <a:pt x="202" y="362"/>
                </a:cubicBezTo>
                <a:cubicBezTo>
                  <a:pt x="196" y="362"/>
                  <a:pt x="192" y="358"/>
                  <a:pt x="192" y="352"/>
                </a:cubicBezTo>
                <a:cubicBezTo>
                  <a:pt x="192" y="346"/>
                  <a:pt x="196" y="341"/>
                  <a:pt x="202" y="341"/>
                </a:cubicBezTo>
                <a:cubicBezTo>
                  <a:pt x="384" y="341"/>
                  <a:pt x="384" y="341"/>
                  <a:pt x="384" y="341"/>
                </a:cubicBezTo>
                <a:cubicBezTo>
                  <a:pt x="390" y="341"/>
                  <a:pt x="394" y="346"/>
                  <a:pt x="394" y="352"/>
                </a:cubicBezTo>
                <a:cubicBezTo>
                  <a:pt x="394" y="358"/>
                  <a:pt x="390" y="362"/>
                  <a:pt x="384" y="362"/>
                </a:cubicBezTo>
                <a:close/>
                <a:moveTo>
                  <a:pt x="384" y="298"/>
                </a:moveTo>
                <a:cubicBezTo>
                  <a:pt x="202" y="298"/>
                  <a:pt x="202" y="298"/>
                  <a:pt x="202" y="298"/>
                </a:cubicBezTo>
                <a:cubicBezTo>
                  <a:pt x="196" y="298"/>
                  <a:pt x="192" y="294"/>
                  <a:pt x="192" y="288"/>
                </a:cubicBezTo>
                <a:cubicBezTo>
                  <a:pt x="192" y="282"/>
                  <a:pt x="196" y="277"/>
                  <a:pt x="202" y="277"/>
                </a:cubicBezTo>
                <a:cubicBezTo>
                  <a:pt x="384" y="277"/>
                  <a:pt x="384" y="277"/>
                  <a:pt x="384" y="277"/>
                </a:cubicBezTo>
                <a:cubicBezTo>
                  <a:pt x="390" y="277"/>
                  <a:pt x="394" y="282"/>
                  <a:pt x="394" y="288"/>
                </a:cubicBezTo>
                <a:cubicBezTo>
                  <a:pt x="394" y="294"/>
                  <a:pt x="390" y="298"/>
                  <a:pt x="384" y="298"/>
                </a:cubicBezTo>
                <a:close/>
                <a:moveTo>
                  <a:pt x="384" y="234"/>
                </a:moveTo>
                <a:cubicBezTo>
                  <a:pt x="202" y="234"/>
                  <a:pt x="202" y="234"/>
                  <a:pt x="202" y="234"/>
                </a:cubicBezTo>
                <a:cubicBezTo>
                  <a:pt x="196" y="234"/>
                  <a:pt x="192" y="230"/>
                  <a:pt x="192" y="224"/>
                </a:cubicBezTo>
                <a:cubicBezTo>
                  <a:pt x="192" y="218"/>
                  <a:pt x="196" y="213"/>
                  <a:pt x="202" y="213"/>
                </a:cubicBezTo>
                <a:cubicBezTo>
                  <a:pt x="384" y="213"/>
                  <a:pt x="384" y="213"/>
                  <a:pt x="384" y="213"/>
                </a:cubicBezTo>
                <a:cubicBezTo>
                  <a:pt x="390" y="213"/>
                  <a:pt x="394" y="218"/>
                  <a:pt x="394" y="224"/>
                </a:cubicBezTo>
                <a:cubicBezTo>
                  <a:pt x="394" y="230"/>
                  <a:pt x="390" y="234"/>
                  <a:pt x="384" y="234"/>
                </a:cubicBezTo>
                <a:close/>
                <a:moveTo>
                  <a:pt x="384" y="170"/>
                </a:moveTo>
                <a:cubicBezTo>
                  <a:pt x="202" y="170"/>
                  <a:pt x="202" y="170"/>
                  <a:pt x="202" y="170"/>
                </a:cubicBezTo>
                <a:cubicBezTo>
                  <a:pt x="196" y="170"/>
                  <a:pt x="192" y="166"/>
                  <a:pt x="192" y="160"/>
                </a:cubicBezTo>
                <a:cubicBezTo>
                  <a:pt x="192" y="154"/>
                  <a:pt x="196" y="149"/>
                  <a:pt x="202" y="149"/>
                </a:cubicBezTo>
                <a:cubicBezTo>
                  <a:pt x="384" y="149"/>
                  <a:pt x="384" y="149"/>
                  <a:pt x="384" y="149"/>
                </a:cubicBezTo>
                <a:cubicBezTo>
                  <a:pt x="390" y="149"/>
                  <a:pt x="394" y="154"/>
                  <a:pt x="394" y="160"/>
                </a:cubicBezTo>
                <a:cubicBezTo>
                  <a:pt x="394" y="166"/>
                  <a:pt x="390" y="170"/>
                  <a:pt x="384" y="170"/>
                </a:cubicBez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2" name="Freeform 141">
            <a:extLst>
              <a:ext uri="{FF2B5EF4-FFF2-40B4-BE49-F238E27FC236}">
                <a16:creationId xmlns:a16="http://schemas.microsoft.com/office/drawing/2014/main" id="{2CC1B315-FAD4-E7AB-F77E-644F10F0385F}"/>
              </a:ext>
            </a:extLst>
          </p:cNvPr>
          <p:cNvSpPr>
            <a:spLocks noChangeAspect="1" noEditPoints="1"/>
          </p:cNvSpPr>
          <p:nvPr/>
        </p:nvSpPr>
        <p:spPr bwMode="auto">
          <a:xfrm>
            <a:off x="2754794" y="2026874"/>
            <a:ext cx="640080" cy="640080"/>
          </a:xfrm>
          <a:custGeom>
            <a:avLst/>
            <a:gdLst>
              <a:gd name="T0" fmla="*/ 341 w 512"/>
              <a:gd name="T1" fmla="*/ 330 h 512"/>
              <a:gd name="T2" fmla="*/ 138 w 512"/>
              <a:gd name="T3" fmla="*/ 224 h 512"/>
              <a:gd name="T4" fmla="*/ 224 w 512"/>
              <a:gd name="T5" fmla="*/ 248 h 512"/>
              <a:gd name="T6" fmla="*/ 240 w 512"/>
              <a:gd name="T7" fmla="*/ 234 h 512"/>
              <a:gd name="T8" fmla="*/ 247 w 512"/>
              <a:gd name="T9" fmla="*/ 242 h 512"/>
              <a:gd name="T10" fmla="*/ 264 w 512"/>
              <a:gd name="T11" fmla="*/ 259 h 512"/>
              <a:gd name="T12" fmla="*/ 244 w 512"/>
              <a:gd name="T13" fmla="*/ 254 h 512"/>
              <a:gd name="T14" fmla="*/ 234 w 512"/>
              <a:gd name="T15" fmla="*/ 260 h 512"/>
              <a:gd name="T16" fmla="*/ 240 w 512"/>
              <a:gd name="T17" fmla="*/ 267 h 512"/>
              <a:gd name="T18" fmla="*/ 261 w 512"/>
              <a:gd name="T19" fmla="*/ 276 h 512"/>
              <a:gd name="T20" fmla="*/ 269 w 512"/>
              <a:gd name="T21" fmla="*/ 290 h 512"/>
              <a:gd name="T22" fmla="*/ 247 w 512"/>
              <a:gd name="T23" fmla="*/ 309 h 512"/>
              <a:gd name="T24" fmla="*/ 240 w 512"/>
              <a:gd name="T25" fmla="*/ 320 h 512"/>
              <a:gd name="T26" fmla="*/ 218 w 512"/>
              <a:gd name="T27" fmla="*/ 305 h 512"/>
              <a:gd name="T28" fmla="*/ 229 w 512"/>
              <a:gd name="T29" fmla="*/ 295 h 512"/>
              <a:gd name="T30" fmla="*/ 244 w 512"/>
              <a:gd name="T31" fmla="*/ 297 h 512"/>
              <a:gd name="T32" fmla="*/ 254 w 512"/>
              <a:gd name="T33" fmla="*/ 291 h 512"/>
              <a:gd name="T34" fmla="*/ 247 w 512"/>
              <a:gd name="T35" fmla="*/ 284 h 512"/>
              <a:gd name="T36" fmla="*/ 237 w 512"/>
              <a:gd name="T37" fmla="*/ 280 h 512"/>
              <a:gd name="T38" fmla="*/ 218 w 512"/>
              <a:gd name="T39" fmla="*/ 260 h 512"/>
              <a:gd name="T40" fmla="*/ 181 w 512"/>
              <a:gd name="T41" fmla="*/ 181 h 512"/>
              <a:gd name="T42" fmla="*/ 384 w 512"/>
              <a:gd name="T43" fmla="*/ 288 h 512"/>
              <a:gd name="T44" fmla="*/ 362 w 512"/>
              <a:gd name="T45" fmla="*/ 213 h 512"/>
              <a:gd name="T46" fmla="*/ 181 w 512"/>
              <a:gd name="T47" fmla="*/ 202 h 512"/>
              <a:gd name="T48" fmla="*/ 256 w 512"/>
              <a:gd name="T49" fmla="*/ 0 h 512"/>
              <a:gd name="T50" fmla="*/ 256 w 512"/>
              <a:gd name="T51" fmla="*/ 512 h 512"/>
              <a:gd name="T52" fmla="*/ 256 w 512"/>
              <a:gd name="T53" fmla="*/ 0 h 512"/>
              <a:gd name="T54" fmla="*/ 394 w 512"/>
              <a:gd name="T55" fmla="*/ 309 h 512"/>
              <a:gd name="T56" fmla="*/ 362 w 512"/>
              <a:gd name="T57" fmla="*/ 341 h 512"/>
              <a:gd name="T58" fmla="*/ 128 w 512"/>
              <a:gd name="T59" fmla="*/ 352 h 512"/>
              <a:gd name="T60" fmla="*/ 117 w 512"/>
              <a:gd name="T61" fmla="*/ 213 h 512"/>
              <a:gd name="T62" fmla="*/ 160 w 512"/>
              <a:gd name="T63" fmla="*/ 202 h 512"/>
              <a:gd name="T64" fmla="*/ 170 w 512"/>
              <a:gd name="T65" fmla="*/ 160 h 512"/>
              <a:gd name="T66" fmla="*/ 405 w 512"/>
              <a:gd name="T67"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330"/>
                </a:moveTo>
                <a:cubicBezTo>
                  <a:pt x="341" y="330"/>
                  <a:pt x="341" y="330"/>
                  <a:pt x="341" y="330"/>
                </a:cubicBezTo>
                <a:cubicBezTo>
                  <a:pt x="341" y="224"/>
                  <a:pt x="341" y="224"/>
                  <a:pt x="341" y="224"/>
                </a:cubicBezTo>
                <a:cubicBezTo>
                  <a:pt x="138" y="224"/>
                  <a:pt x="138" y="224"/>
                  <a:pt x="138" y="224"/>
                </a:cubicBezTo>
                <a:lnTo>
                  <a:pt x="138" y="330"/>
                </a:lnTo>
                <a:close/>
                <a:moveTo>
                  <a:pt x="224" y="248"/>
                </a:moveTo>
                <a:cubicBezTo>
                  <a:pt x="228" y="245"/>
                  <a:pt x="233" y="243"/>
                  <a:pt x="240" y="242"/>
                </a:cubicBezTo>
                <a:cubicBezTo>
                  <a:pt x="240" y="234"/>
                  <a:pt x="240" y="234"/>
                  <a:pt x="240" y="234"/>
                </a:cubicBezTo>
                <a:cubicBezTo>
                  <a:pt x="247" y="234"/>
                  <a:pt x="247" y="234"/>
                  <a:pt x="247" y="234"/>
                </a:cubicBezTo>
                <a:cubicBezTo>
                  <a:pt x="247" y="242"/>
                  <a:pt x="247" y="242"/>
                  <a:pt x="247" y="242"/>
                </a:cubicBezTo>
                <a:cubicBezTo>
                  <a:pt x="255" y="242"/>
                  <a:pt x="262" y="244"/>
                  <a:pt x="268" y="247"/>
                </a:cubicBezTo>
                <a:cubicBezTo>
                  <a:pt x="264" y="259"/>
                  <a:pt x="264" y="259"/>
                  <a:pt x="264" y="259"/>
                </a:cubicBezTo>
                <a:cubicBezTo>
                  <a:pt x="258" y="256"/>
                  <a:pt x="253" y="255"/>
                  <a:pt x="247" y="255"/>
                </a:cubicBezTo>
                <a:cubicBezTo>
                  <a:pt x="247" y="255"/>
                  <a:pt x="246" y="254"/>
                  <a:pt x="244" y="254"/>
                </a:cubicBezTo>
                <a:cubicBezTo>
                  <a:pt x="242" y="254"/>
                  <a:pt x="240" y="255"/>
                  <a:pt x="240" y="255"/>
                </a:cubicBezTo>
                <a:cubicBezTo>
                  <a:pt x="236" y="255"/>
                  <a:pt x="234" y="257"/>
                  <a:pt x="234" y="260"/>
                </a:cubicBezTo>
                <a:cubicBezTo>
                  <a:pt x="234" y="262"/>
                  <a:pt x="234" y="263"/>
                  <a:pt x="235" y="264"/>
                </a:cubicBezTo>
                <a:cubicBezTo>
                  <a:pt x="236" y="265"/>
                  <a:pt x="238" y="266"/>
                  <a:pt x="240" y="267"/>
                </a:cubicBezTo>
                <a:cubicBezTo>
                  <a:pt x="247" y="270"/>
                  <a:pt x="247" y="270"/>
                  <a:pt x="247" y="270"/>
                </a:cubicBezTo>
                <a:cubicBezTo>
                  <a:pt x="254" y="272"/>
                  <a:pt x="259" y="274"/>
                  <a:pt x="261" y="276"/>
                </a:cubicBezTo>
                <a:cubicBezTo>
                  <a:pt x="264" y="278"/>
                  <a:pt x="266" y="280"/>
                  <a:pt x="268" y="282"/>
                </a:cubicBezTo>
                <a:cubicBezTo>
                  <a:pt x="269" y="285"/>
                  <a:pt x="269" y="287"/>
                  <a:pt x="269" y="290"/>
                </a:cubicBezTo>
                <a:cubicBezTo>
                  <a:pt x="269" y="296"/>
                  <a:pt x="268" y="300"/>
                  <a:pt x="264" y="303"/>
                </a:cubicBezTo>
                <a:cubicBezTo>
                  <a:pt x="260" y="307"/>
                  <a:pt x="254" y="309"/>
                  <a:pt x="247" y="309"/>
                </a:cubicBezTo>
                <a:cubicBezTo>
                  <a:pt x="247" y="320"/>
                  <a:pt x="247" y="320"/>
                  <a:pt x="247" y="320"/>
                </a:cubicBezTo>
                <a:cubicBezTo>
                  <a:pt x="240" y="320"/>
                  <a:pt x="240" y="320"/>
                  <a:pt x="240" y="320"/>
                </a:cubicBezTo>
                <a:cubicBezTo>
                  <a:pt x="240" y="309"/>
                  <a:pt x="240" y="309"/>
                  <a:pt x="240" y="309"/>
                </a:cubicBezTo>
                <a:cubicBezTo>
                  <a:pt x="232" y="309"/>
                  <a:pt x="225" y="308"/>
                  <a:pt x="218" y="305"/>
                </a:cubicBezTo>
                <a:cubicBezTo>
                  <a:pt x="218" y="292"/>
                  <a:pt x="218" y="292"/>
                  <a:pt x="218" y="292"/>
                </a:cubicBezTo>
                <a:cubicBezTo>
                  <a:pt x="221" y="293"/>
                  <a:pt x="225" y="294"/>
                  <a:pt x="229" y="295"/>
                </a:cubicBezTo>
                <a:cubicBezTo>
                  <a:pt x="233" y="297"/>
                  <a:pt x="237" y="297"/>
                  <a:pt x="240" y="297"/>
                </a:cubicBezTo>
                <a:cubicBezTo>
                  <a:pt x="240" y="297"/>
                  <a:pt x="242" y="297"/>
                  <a:pt x="244" y="297"/>
                </a:cubicBezTo>
                <a:cubicBezTo>
                  <a:pt x="246" y="297"/>
                  <a:pt x="247" y="297"/>
                  <a:pt x="247" y="297"/>
                </a:cubicBezTo>
                <a:cubicBezTo>
                  <a:pt x="252" y="296"/>
                  <a:pt x="254" y="294"/>
                  <a:pt x="254" y="291"/>
                </a:cubicBezTo>
                <a:cubicBezTo>
                  <a:pt x="254" y="290"/>
                  <a:pt x="254" y="288"/>
                  <a:pt x="252" y="287"/>
                </a:cubicBezTo>
                <a:cubicBezTo>
                  <a:pt x="251" y="286"/>
                  <a:pt x="250" y="285"/>
                  <a:pt x="247" y="284"/>
                </a:cubicBezTo>
                <a:cubicBezTo>
                  <a:pt x="240" y="282"/>
                  <a:pt x="240" y="282"/>
                  <a:pt x="240" y="282"/>
                </a:cubicBezTo>
                <a:cubicBezTo>
                  <a:pt x="237" y="280"/>
                  <a:pt x="237" y="280"/>
                  <a:pt x="237" y="280"/>
                </a:cubicBezTo>
                <a:cubicBezTo>
                  <a:pt x="230" y="278"/>
                  <a:pt x="225" y="275"/>
                  <a:pt x="222" y="272"/>
                </a:cubicBezTo>
                <a:cubicBezTo>
                  <a:pt x="220" y="269"/>
                  <a:pt x="218" y="265"/>
                  <a:pt x="218" y="260"/>
                </a:cubicBezTo>
                <a:cubicBezTo>
                  <a:pt x="218" y="255"/>
                  <a:pt x="220" y="251"/>
                  <a:pt x="224" y="248"/>
                </a:cubicBezTo>
                <a:close/>
                <a:moveTo>
                  <a:pt x="181" y="181"/>
                </a:moveTo>
                <a:cubicBezTo>
                  <a:pt x="384" y="181"/>
                  <a:pt x="384" y="181"/>
                  <a:pt x="384" y="181"/>
                </a:cubicBezTo>
                <a:cubicBezTo>
                  <a:pt x="384" y="288"/>
                  <a:pt x="384" y="288"/>
                  <a:pt x="384" y="288"/>
                </a:cubicBezTo>
                <a:cubicBezTo>
                  <a:pt x="362" y="288"/>
                  <a:pt x="362" y="288"/>
                  <a:pt x="362" y="288"/>
                </a:cubicBezTo>
                <a:cubicBezTo>
                  <a:pt x="362" y="213"/>
                  <a:pt x="362" y="213"/>
                  <a:pt x="362" y="213"/>
                </a:cubicBezTo>
                <a:cubicBezTo>
                  <a:pt x="362" y="207"/>
                  <a:pt x="358" y="202"/>
                  <a:pt x="352" y="202"/>
                </a:cubicBezTo>
                <a:cubicBezTo>
                  <a:pt x="181" y="202"/>
                  <a:pt x="181" y="202"/>
                  <a:pt x="181" y="202"/>
                </a:cubicBezTo>
                <a:lnTo>
                  <a:pt x="181" y="181"/>
                </a:ln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98"/>
                </a:moveTo>
                <a:cubicBezTo>
                  <a:pt x="405" y="304"/>
                  <a:pt x="400" y="309"/>
                  <a:pt x="394" y="309"/>
                </a:cubicBezTo>
                <a:cubicBezTo>
                  <a:pt x="362" y="309"/>
                  <a:pt x="362" y="309"/>
                  <a:pt x="362" y="309"/>
                </a:cubicBezTo>
                <a:cubicBezTo>
                  <a:pt x="362" y="341"/>
                  <a:pt x="362" y="341"/>
                  <a:pt x="362" y="341"/>
                </a:cubicBezTo>
                <a:cubicBezTo>
                  <a:pt x="362" y="347"/>
                  <a:pt x="358" y="352"/>
                  <a:pt x="352" y="352"/>
                </a:cubicBezTo>
                <a:cubicBezTo>
                  <a:pt x="128" y="352"/>
                  <a:pt x="128" y="352"/>
                  <a:pt x="128" y="352"/>
                </a:cubicBezTo>
                <a:cubicBezTo>
                  <a:pt x="122" y="352"/>
                  <a:pt x="117" y="347"/>
                  <a:pt x="117" y="341"/>
                </a:cubicBezTo>
                <a:cubicBezTo>
                  <a:pt x="117" y="213"/>
                  <a:pt x="117" y="213"/>
                  <a:pt x="117" y="213"/>
                </a:cubicBezTo>
                <a:cubicBezTo>
                  <a:pt x="117" y="207"/>
                  <a:pt x="122" y="202"/>
                  <a:pt x="128" y="202"/>
                </a:cubicBezTo>
                <a:cubicBezTo>
                  <a:pt x="160" y="202"/>
                  <a:pt x="160" y="202"/>
                  <a:pt x="160" y="202"/>
                </a:cubicBezTo>
                <a:cubicBezTo>
                  <a:pt x="160" y="170"/>
                  <a:pt x="160" y="170"/>
                  <a:pt x="160" y="170"/>
                </a:cubicBezTo>
                <a:cubicBezTo>
                  <a:pt x="160" y="164"/>
                  <a:pt x="164" y="160"/>
                  <a:pt x="170" y="160"/>
                </a:cubicBezTo>
                <a:cubicBezTo>
                  <a:pt x="394" y="160"/>
                  <a:pt x="394" y="160"/>
                  <a:pt x="394" y="160"/>
                </a:cubicBezTo>
                <a:cubicBezTo>
                  <a:pt x="400" y="160"/>
                  <a:pt x="405" y="164"/>
                  <a:pt x="405" y="170"/>
                </a:cubicBezTo>
                <a:lnTo>
                  <a:pt x="405" y="298"/>
                </a:ln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73" name="Group 331">
            <a:extLst>
              <a:ext uri="{FF2B5EF4-FFF2-40B4-BE49-F238E27FC236}">
                <a16:creationId xmlns:a16="http://schemas.microsoft.com/office/drawing/2014/main" id="{8FD47FDB-5723-3A37-9013-CB540DC33E41}"/>
              </a:ext>
            </a:extLst>
          </p:cNvPr>
          <p:cNvGrpSpPr>
            <a:grpSpLocks noChangeAspect="1"/>
          </p:cNvGrpSpPr>
          <p:nvPr/>
        </p:nvGrpSpPr>
        <p:grpSpPr bwMode="auto">
          <a:xfrm>
            <a:off x="2754794" y="2970368"/>
            <a:ext cx="640080" cy="640080"/>
            <a:chOff x="3832" y="1197"/>
            <a:chExt cx="340" cy="340"/>
          </a:xfrm>
          <a:solidFill>
            <a:srgbClr val="009A44"/>
          </a:solidFill>
        </p:grpSpPr>
        <p:sp>
          <p:nvSpPr>
            <p:cNvPr id="74" name="Freeform 332">
              <a:extLst>
                <a:ext uri="{FF2B5EF4-FFF2-40B4-BE49-F238E27FC236}">
                  <a16:creationId xmlns:a16="http://schemas.microsoft.com/office/drawing/2014/main" id="{FD318BDD-4709-123D-1949-981371A9A49B}"/>
                </a:ext>
              </a:extLst>
            </p:cNvPr>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5" name="Freeform 333">
              <a:extLst>
                <a:ext uri="{FF2B5EF4-FFF2-40B4-BE49-F238E27FC236}">
                  <a16:creationId xmlns:a16="http://schemas.microsoft.com/office/drawing/2014/main" id="{AB9B416B-0F6D-1BE0-9D83-DD986850FB2C}"/>
                </a:ext>
              </a:extLst>
            </p:cNvPr>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76" name="Freeform 351">
            <a:extLst>
              <a:ext uri="{FF2B5EF4-FFF2-40B4-BE49-F238E27FC236}">
                <a16:creationId xmlns:a16="http://schemas.microsoft.com/office/drawing/2014/main" id="{AF1C8BB0-C602-CFA5-DEF4-EE26B1E57418}"/>
              </a:ext>
            </a:extLst>
          </p:cNvPr>
          <p:cNvSpPr>
            <a:spLocks noChangeAspect="1" noEditPoints="1"/>
          </p:cNvSpPr>
          <p:nvPr/>
        </p:nvSpPr>
        <p:spPr bwMode="auto">
          <a:xfrm>
            <a:off x="2754794" y="3901393"/>
            <a:ext cx="640080" cy="640080"/>
          </a:xfrm>
          <a:custGeom>
            <a:avLst/>
            <a:gdLst>
              <a:gd name="T0" fmla="*/ 336 w 512"/>
              <a:gd name="T1" fmla="*/ 169 h 512"/>
              <a:gd name="T2" fmla="*/ 337 w 512"/>
              <a:gd name="T3" fmla="*/ 131 h 512"/>
              <a:gd name="T4" fmla="*/ 295 w 512"/>
              <a:gd name="T5" fmla="*/ 159 h 512"/>
              <a:gd name="T6" fmla="*/ 117 w 512"/>
              <a:gd name="T7" fmla="*/ 266 h 512"/>
              <a:gd name="T8" fmla="*/ 180 w 512"/>
              <a:gd name="T9" fmla="*/ 373 h 512"/>
              <a:gd name="T10" fmla="*/ 213 w 512"/>
              <a:gd name="T11" fmla="*/ 362 h 512"/>
              <a:gd name="T12" fmla="*/ 266 w 512"/>
              <a:gd name="T13" fmla="*/ 352 h 512"/>
              <a:gd name="T14" fmla="*/ 277 w 512"/>
              <a:gd name="T15" fmla="*/ 373 h 512"/>
              <a:gd name="T16" fmla="*/ 309 w 512"/>
              <a:gd name="T17" fmla="*/ 361 h 512"/>
              <a:gd name="T18" fmla="*/ 351 w 512"/>
              <a:gd name="T19" fmla="*/ 276 h 512"/>
              <a:gd name="T20" fmla="*/ 394 w 512"/>
              <a:gd name="T21" fmla="*/ 266 h 512"/>
              <a:gd name="T22" fmla="*/ 384 w 512"/>
              <a:gd name="T23" fmla="*/ 224 h 512"/>
              <a:gd name="T24" fmla="*/ 226 w 512"/>
              <a:gd name="T25" fmla="*/ 185 h 512"/>
              <a:gd name="T26" fmla="*/ 171 w 512"/>
              <a:gd name="T27" fmla="*/ 213 h 512"/>
              <a:gd name="T28" fmla="*/ 164 w 512"/>
              <a:gd name="T29" fmla="*/ 194 h 512"/>
              <a:gd name="T30" fmla="*/ 234 w 512"/>
              <a:gd name="T31" fmla="*/ 172 h 512"/>
              <a:gd name="T32" fmla="*/ 256 w 512"/>
              <a:gd name="T33" fmla="*/ 0 h 512"/>
              <a:gd name="T34" fmla="*/ 256 w 512"/>
              <a:gd name="T35" fmla="*/ 512 h 512"/>
              <a:gd name="T36" fmla="*/ 256 w 512"/>
              <a:gd name="T37" fmla="*/ 0 h 512"/>
              <a:gd name="T38" fmla="*/ 405 w 512"/>
              <a:gd name="T39" fmla="*/ 288 h 512"/>
              <a:gd name="T40" fmla="*/ 330 w 512"/>
              <a:gd name="T41" fmla="*/ 365 h 512"/>
              <a:gd name="T42" fmla="*/ 320 w 512"/>
              <a:gd name="T43" fmla="*/ 394 h 512"/>
              <a:gd name="T44" fmla="*/ 256 w 512"/>
              <a:gd name="T45" fmla="*/ 384 h 512"/>
              <a:gd name="T46" fmla="*/ 234 w 512"/>
              <a:gd name="T47" fmla="*/ 373 h 512"/>
              <a:gd name="T48" fmla="*/ 224 w 512"/>
              <a:gd name="T49" fmla="*/ 394 h 512"/>
              <a:gd name="T50" fmla="*/ 160 w 512"/>
              <a:gd name="T51" fmla="*/ 384 h 512"/>
              <a:gd name="T52" fmla="*/ 114 w 512"/>
              <a:gd name="T53" fmla="*/ 336 h 512"/>
              <a:gd name="T54" fmla="*/ 234 w 512"/>
              <a:gd name="T55" fmla="*/ 128 h 512"/>
              <a:gd name="T56" fmla="*/ 351 w 512"/>
              <a:gd name="T57" fmla="*/ 106 h 512"/>
              <a:gd name="T58" fmla="*/ 362 w 512"/>
              <a:gd name="T59" fmla="*/ 120 h 512"/>
              <a:gd name="T60" fmla="*/ 390 w 512"/>
              <a:gd name="T61" fmla="*/ 202 h 512"/>
              <a:gd name="T62" fmla="*/ 416 w 512"/>
              <a:gd name="T6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374" y="218"/>
                </a:moveTo>
                <a:cubicBezTo>
                  <a:pt x="374" y="217"/>
                  <a:pt x="357" y="182"/>
                  <a:pt x="336" y="169"/>
                </a:cubicBezTo>
                <a:cubicBezTo>
                  <a:pt x="332" y="166"/>
                  <a:pt x="330" y="162"/>
                  <a:pt x="331" y="157"/>
                </a:cubicBezTo>
                <a:cubicBezTo>
                  <a:pt x="337" y="131"/>
                  <a:pt x="337" y="131"/>
                  <a:pt x="337" y="131"/>
                </a:cubicBezTo>
                <a:cubicBezTo>
                  <a:pt x="327" y="134"/>
                  <a:pt x="314" y="141"/>
                  <a:pt x="308" y="154"/>
                </a:cubicBezTo>
                <a:cubicBezTo>
                  <a:pt x="306" y="159"/>
                  <a:pt x="300" y="161"/>
                  <a:pt x="295" y="159"/>
                </a:cubicBezTo>
                <a:cubicBezTo>
                  <a:pt x="276" y="152"/>
                  <a:pt x="257" y="149"/>
                  <a:pt x="234" y="149"/>
                </a:cubicBezTo>
                <a:cubicBezTo>
                  <a:pt x="170" y="149"/>
                  <a:pt x="117" y="202"/>
                  <a:pt x="117" y="266"/>
                </a:cubicBezTo>
                <a:cubicBezTo>
                  <a:pt x="117" y="285"/>
                  <a:pt x="122" y="304"/>
                  <a:pt x="130" y="320"/>
                </a:cubicBezTo>
                <a:cubicBezTo>
                  <a:pt x="149" y="323"/>
                  <a:pt x="176" y="337"/>
                  <a:pt x="180" y="373"/>
                </a:cubicBezTo>
                <a:cubicBezTo>
                  <a:pt x="213" y="373"/>
                  <a:pt x="213" y="373"/>
                  <a:pt x="213" y="373"/>
                </a:cubicBezTo>
                <a:cubicBezTo>
                  <a:pt x="213" y="362"/>
                  <a:pt x="213" y="362"/>
                  <a:pt x="213" y="362"/>
                </a:cubicBezTo>
                <a:cubicBezTo>
                  <a:pt x="213" y="356"/>
                  <a:pt x="218" y="352"/>
                  <a:pt x="224" y="352"/>
                </a:cubicBezTo>
                <a:cubicBezTo>
                  <a:pt x="266" y="352"/>
                  <a:pt x="266" y="352"/>
                  <a:pt x="266" y="352"/>
                </a:cubicBezTo>
                <a:cubicBezTo>
                  <a:pt x="272" y="352"/>
                  <a:pt x="277" y="356"/>
                  <a:pt x="277" y="362"/>
                </a:cubicBezTo>
                <a:cubicBezTo>
                  <a:pt x="277" y="373"/>
                  <a:pt x="277" y="373"/>
                  <a:pt x="277" y="373"/>
                </a:cubicBezTo>
                <a:cubicBezTo>
                  <a:pt x="309" y="373"/>
                  <a:pt x="309" y="373"/>
                  <a:pt x="309" y="373"/>
                </a:cubicBezTo>
                <a:cubicBezTo>
                  <a:pt x="309" y="361"/>
                  <a:pt x="309" y="361"/>
                  <a:pt x="309" y="361"/>
                </a:cubicBezTo>
                <a:cubicBezTo>
                  <a:pt x="309" y="358"/>
                  <a:pt x="310" y="356"/>
                  <a:pt x="312" y="354"/>
                </a:cubicBezTo>
                <a:cubicBezTo>
                  <a:pt x="335" y="331"/>
                  <a:pt x="349" y="303"/>
                  <a:pt x="351" y="276"/>
                </a:cubicBezTo>
                <a:cubicBezTo>
                  <a:pt x="352" y="271"/>
                  <a:pt x="356" y="266"/>
                  <a:pt x="362" y="266"/>
                </a:cubicBezTo>
                <a:cubicBezTo>
                  <a:pt x="394" y="266"/>
                  <a:pt x="394" y="266"/>
                  <a:pt x="394" y="266"/>
                </a:cubicBezTo>
                <a:cubicBezTo>
                  <a:pt x="394" y="224"/>
                  <a:pt x="394" y="224"/>
                  <a:pt x="394" y="224"/>
                </a:cubicBezTo>
                <a:cubicBezTo>
                  <a:pt x="384" y="224"/>
                  <a:pt x="384" y="224"/>
                  <a:pt x="384" y="224"/>
                </a:cubicBezTo>
                <a:cubicBezTo>
                  <a:pt x="380" y="224"/>
                  <a:pt x="376" y="221"/>
                  <a:pt x="374" y="218"/>
                </a:cubicBezTo>
                <a:close/>
                <a:moveTo>
                  <a:pt x="226" y="185"/>
                </a:moveTo>
                <a:cubicBezTo>
                  <a:pt x="209" y="189"/>
                  <a:pt x="192" y="198"/>
                  <a:pt x="178" y="210"/>
                </a:cubicBezTo>
                <a:cubicBezTo>
                  <a:pt x="176" y="212"/>
                  <a:pt x="174" y="213"/>
                  <a:pt x="171" y="213"/>
                </a:cubicBezTo>
                <a:cubicBezTo>
                  <a:pt x="168" y="213"/>
                  <a:pt x="165" y="212"/>
                  <a:pt x="163" y="209"/>
                </a:cubicBezTo>
                <a:cubicBezTo>
                  <a:pt x="159" y="205"/>
                  <a:pt x="160" y="198"/>
                  <a:pt x="164" y="194"/>
                </a:cubicBezTo>
                <a:cubicBezTo>
                  <a:pt x="180" y="180"/>
                  <a:pt x="200" y="169"/>
                  <a:pt x="221" y="164"/>
                </a:cubicBezTo>
                <a:cubicBezTo>
                  <a:pt x="227" y="163"/>
                  <a:pt x="233" y="166"/>
                  <a:pt x="234" y="172"/>
                </a:cubicBezTo>
                <a:cubicBezTo>
                  <a:pt x="235" y="177"/>
                  <a:pt x="232" y="183"/>
                  <a:pt x="226" y="185"/>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277"/>
                </a:moveTo>
                <a:cubicBezTo>
                  <a:pt x="416" y="283"/>
                  <a:pt x="411" y="288"/>
                  <a:pt x="405" y="288"/>
                </a:cubicBezTo>
                <a:cubicBezTo>
                  <a:pt x="371" y="288"/>
                  <a:pt x="371" y="288"/>
                  <a:pt x="371" y="288"/>
                </a:cubicBezTo>
                <a:cubicBezTo>
                  <a:pt x="365" y="323"/>
                  <a:pt x="345" y="350"/>
                  <a:pt x="330" y="365"/>
                </a:cubicBezTo>
                <a:cubicBezTo>
                  <a:pt x="330" y="384"/>
                  <a:pt x="330" y="384"/>
                  <a:pt x="330" y="384"/>
                </a:cubicBezTo>
                <a:cubicBezTo>
                  <a:pt x="330" y="390"/>
                  <a:pt x="326" y="394"/>
                  <a:pt x="320" y="394"/>
                </a:cubicBezTo>
                <a:cubicBezTo>
                  <a:pt x="266" y="394"/>
                  <a:pt x="266" y="394"/>
                  <a:pt x="266" y="394"/>
                </a:cubicBezTo>
                <a:cubicBezTo>
                  <a:pt x="260" y="394"/>
                  <a:pt x="256" y="390"/>
                  <a:pt x="256" y="384"/>
                </a:cubicBezTo>
                <a:cubicBezTo>
                  <a:pt x="256" y="373"/>
                  <a:pt x="256" y="373"/>
                  <a:pt x="256" y="373"/>
                </a:cubicBezTo>
                <a:cubicBezTo>
                  <a:pt x="234" y="373"/>
                  <a:pt x="234" y="373"/>
                  <a:pt x="234" y="373"/>
                </a:cubicBezTo>
                <a:cubicBezTo>
                  <a:pt x="234" y="384"/>
                  <a:pt x="234" y="384"/>
                  <a:pt x="234" y="384"/>
                </a:cubicBezTo>
                <a:cubicBezTo>
                  <a:pt x="234" y="390"/>
                  <a:pt x="230" y="394"/>
                  <a:pt x="224" y="394"/>
                </a:cubicBezTo>
                <a:cubicBezTo>
                  <a:pt x="170" y="394"/>
                  <a:pt x="170" y="394"/>
                  <a:pt x="170" y="394"/>
                </a:cubicBezTo>
                <a:cubicBezTo>
                  <a:pt x="164" y="394"/>
                  <a:pt x="160" y="390"/>
                  <a:pt x="160" y="384"/>
                </a:cubicBezTo>
                <a:cubicBezTo>
                  <a:pt x="160" y="343"/>
                  <a:pt x="125" y="341"/>
                  <a:pt x="123" y="341"/>
                </a:cubicBezTo>
                <a:cubicBezTo>
                  <a:pt x="119" y="341"/>
                  <a:pt x="116" y="339"/>
                  <a:pt x="114" y="336"/>
                </a:cubicBezTo>
                <a:cubicBezTo>
                  <a:pt x="102" y="315"/>
                  <a:pt x="96" y="291"/>
                  <a:pt x="96" y="266"/>
                </a:cubicBezTo>
                <a:cubicBezTo>
                  <a:pt x="96" y="190"/>
                  <a:pt x="158" y="128"/>
                  <a:pt x="234" y="128"/>
                </a:cubicBezTo>
                <a:cubicBezTo>
                  <a:pt x="256" y="128"/>
                  <a:pt x="275" y="130"/>
                  <a:pt x="294" y="136"/>
                </a:cubicBezTo>
                <a:cubicBezTo>
                  <a:pt x="313" y="109"/>
                  <a:pt x="349" y="106"/>
                  <a:pt x="351" y="106"/>
                </a:cubicBezTo>
                <a:cubicBezTo>
                  <a:pt x="355" y="106"/>
                  <a:pt x="358" y="108"/>
                  <a:pt x="360" y="110"/>
                </a:cubicBezTo>
                <a:cubicBezTo>
                  <a:pt x="362" y="113"/>
                  <a:pt x="363" y="116"/>
                  <a:pt x="362" y="120"/>
                </a:cubicBezTo>
                <a:cubicBezTo>
                  <a:pt x="353" y="155"/>
                  <a:pt x="353" y="155"/>
                  <a:pt x="353" y="155"/>
                </a:cubicBezTo>
                <a:cubicBezTo>
                  <a:pt x="371" y="169"/>
                  <a:pt x="384" y="191"/>
                  <a:pt x="390" y="202"/>
                </a:cubicBezTo>
                <a:cubicBezTo>
                  <a:pt x="405" y="202"/>
                  <a:pt x="405" y="202"/>
                  <a:pt x="405" y="202"/>
                </a:cubicBezTo>
                <a:cubicBezTo>
                  <a:pt x="411" y="202"/>
                  <a:pt x="416" y="207"/>
                  <a:pt x="416" y="213"/>
                </a:cubicBezTo>
                <a:lnTo>
                  <a:pt x="416" y="277"/>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7" name="Rectangle: Rounded Corners 76">
            <a:extLst>
              <a:ext uri="{FF2B5EF4-FFF2-40B4-BE49-F238E27FC236}">
                <a16:creationId xmlns:a16="http://schemas.microsoft.com/office/drawing/2014/main" id="{37100A93-33D4-1072-4E6E-AFE45957616E}"/>
              </a:ext>
            </a:extLst>
          </p:cNvPr>
          <p:cNvSpPr/>
          <p:nvPr/>
        </p:nvSpPr>
        <p:spPr bwMode="gray">
          <a:xfrm>
            <a:off x="895802" y="4956056"/>
            <a:ext cx="10759299" cy="1377860"/>
          </a:xfrm>
          <a:prstGeom prst="round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nSpc>
                <a:spcPct val="106000"/>
              </a:lnSpc>
              <a:spcAft>
                <a:spcPts val="400"/>
              </a:spcAft>
            </a:pPr>
            <a:r>
              <a:rPr lang="en-US" sz="1200" b="1" dirty="0"/>
              <a:t>With respect to above, GIS implementation in power utilities finds following use cases:</a:t>
            </a:r>
          </a:p>
          <a:p>
            <a:pPr marL="628621" lvl="1" indent="-171450">
              <a:lnSpc>
                <a:spcPct val="106000"/>
              </a:lnSpc>
              <a:spcAft>
                <a:spcPts val="400"/>
              </a:spcAft>
              <a:buFont typeface="Wingdings" panose="05000000000000000000" pitchFamily="2" charset="2"/>
              <a:buChar char="q"/>
            </a:pPr>
            <a:r>
              <a:rPr lang="en-US" sz="1200" i="1" dirty="0"/>
              <a:t>Collection of </a:t>
            </a:r>
            <a:r>
              <a:rPr lang="en-US" sz="1200" b="1" i="1" dirty="0"/>
              <a:t>baseline data &amp; IT enabling </a:t>
            </a:r>
            <a:r>
              <a:rPr lang="en-US" sz="1200" i="1" dirty="0"/>
              <a:t>of utility’s business procedure</a:t>
            </a:r>
          </a:p>
          <a:p>
            <a:pPr marL="628621" lvl="1" indent="-171450">
              <a:lnSpc>
                <a:spcPct val="106000"/>
              </a:lnSpc>
              <a:spcAft>
                <a:spcPts val="400"/>
              </a:spcAft>
              <a:buFont typeface="Wingdings" panose="05000000000000000000" pitchFamily="2" charset="2"/>
              <a:buChar char="q"/>
            </a:pPr>
            <a:r>
              <a:rPr lang="en-US" sz="1200" i="1" dirty="0"/>
              <a:t>IT based </a:t>
            </a:r>
            <a:r>
              <a:rPr lang="en-US" sz="1200" b="1" i="1" dirty="0"/>
              <a:t>energy accounting/auditing</a:t>
            </a:r>
          </a:p>
          <a:p>
            <a:pPr marL="628621" lvl="1" indent="-171450">
              <a:lnSpc>
                <a:spcPct val="106000"/>
              </a:lnSpc>
              <a:spcAft>
                <a:spcPts val="400"/>
              </a:spcAft>
              <a:buFont typeface="Wingdings" panose="05000000000000000000" pitchFamily="2" charset="2"/>
              <a:buChar char="q"/>
            </a:pPr>
            <a:r>
              <a:rPr lang="en-US" sz="1200" i="1" dirty="0"/>
              <a:t>IT based </a:t>
            </a:r>
            <a:r>
              <a:rPr lang="en-US" sz="1200" b="1" i="1" dirty="0"/>
              <a:t>distribution network analysis </a:t>
            </a:r>
            <a:r>
              <a:rPr lang="en-US" sz="1200" i="1" dirty="0"/>
              <a:t>&amp; </a:t>
            </a:r>
            <a:r>
              <a:rPr lang="en-US" sz="1200" b="1" i="1" dirty="0"/>
              <a:t>corrective measures </a:t>
            </a:r>
            <a:r>
              <a:rPr lang="en-US" sz="1200" i="1" dirty="0"/>
              <a:t>for performance optimization</a:t>
            </a:r>
          </a:p>
          <a:p>
            <a:pPr marL="628621" lvl="1" indent="-171450">
              <a:lnSpc>
                <a:spcPct val="106000"/>
              </a:lnSpc>
              <a:spcAft>
                <a:spcPts val="400"/>
              </a:spcAft>
              <a:buFont typeface="Wingdings" panose="05000000000000000000" pitchFamily="2" charset="2"/>
              <a:buChar char="q"/>
            </a:pPr>
            <a:r>
              <a:rPr lang="en-US" sz="1200" i="1" dirty="0"/>
              <a:t>Establishment of </a:t>
            </a:r>
            <a:r>
              <a:rPr lang="en-US" sz="1200" b="1" i="1" dirty="0"/>
              <a:t>SCADA/DMS system </a:t>
            </a:r>
            <a:r>
              <a:rPr lang="en-US" sz="1200" i="1" dirty="0"/>
              <a:t>to </a:t>
            </a:r>
            <a:r>
              <a:rPr lang="en-US" sz="1200" b="1" i="1" dirty="0"/>
              <a:t>improve Power supply reliability </a:t>
            </a:r>
            <a:r>
              <a:rPr lang="en-US" sz="1200" i="1" dirty="0"/>
              <a:t>in major towns</a:t>
            </a:r>
          </a:p>
        </p:txBody>
      </p:sp>
      <p:pic>
        <p:nvPicPr>
          <p:cNvPr id="78" name="Graphic 77" descr="Right pointing backhand index with solid fill">
            <a:extLst>
              <a:ext uri="{FF2B5EF4-FFF2-40B4-BE49-F238E27FC236}">
                <a16:creationId xmlns:a16="http://schemas.microsoft.com/office/drawing/2014/main" id="{19106336-3282-1330-E082-83563D8031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5500" y="4956056"/>
            <a:ext cx="461050" cy="461050"/>
          </a:xfrm>
          <a:prstGeom prst="rect">
            <a:avLst/>
          </a:prstGeom>
        </p:spPr>
      </p:pic>
    </p:spTree>
    <p:extLst>
      <p:ext uri="{BB962C8B-B14F-4D97-AF65-F5344CB8AC3E}">
        <p14:creationId xmlns:p14="http://schemas.microsoft.com/office/powerpoint/2010/main" val="3595090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D16C7-AC90-0FBE-40BF-548A5D31236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E970451-2014-824D-7D0C-30F6587F5F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B007DB3-59F7-804D-BE95-3375327790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1B42D66A-371C-1BC2-E38B-21480B1B2302}"/>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 has already been implemented in major states</a:t>
            </a:r>
          </a:p>
        </p:txBody>
      </p:sp>
      <p:sp>
        <p:nvSpPr>
          <p:cNvPr id="6" name="Title 2">
            <a:extLst>
              <a:ext uri="{FF2B5EF4-FFF2-40B4-BE49-F238E27FC236}">
                <a16:creationId xmlns:a16="http://schemas.microsoft.com/office/drawing/2014/main" id="{04091800-18B3-BB84-413C-8D07AA70D34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State wise GIS Implementation in India</a:t>
            </a:r>
          </a:p>
        </p:txBody>
      </p:sp>
      <p:cxnSp>
        <p:nvCxnSpPr>
          <p:cNvPr id="92" name="Straight Connector 91">
            <a:extLst>
              <a:ext uri="{FF2B5EF4-FFF2-40B4-BE49-F238E27FC236}">
                <a16:creationId xmlns:a16="http://schemas.microsoft.com/office/drawing/2014/main" id="{7CD48BDF-3A05-7473-494E-ACDDEB2E75BC}"/>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65544B0-7192-5FC6-502B-E451ECF56933}"/>
              </a:ext>
            </a:extLst>
          </p:cNvPr>
          <p:cNvPicPr>
            <a:picLocks noChangeAspect="1"/>
          </p:cNvPicPr>
          <p:nvPr/>
        </p:nvPicPr>
        <p:blipFill>
          <a:blip r:embed="rId5"/>
          <a:stretch>
            <a:fillRect/>
          </a:stretch>
        </p:blipFill>
        <p:spPr>
          <a:xfrm>
            <a:off x="3595809" y="1092945"/>
            <a:ext cx="4795129" cy="5247364"/>
          </a:xfrm>
          <a:prstGeom prst="rect">
            <a:avLst/>
          </a:prstGeom>
        </p:spPr>
      </p:pic>
      <p:sp>
        <p:nvSpPr>
          <p:cNvPr id="14" name="Rectangle 13">
            <a:extLst>
              <a:ext uri="{FF2B5EF4-FFF2-40B4-BE49-F238E27FC236}">
                <a16:creationId xmlns:a16="http://schemas.microsoft.com/office/drawing/2014/main" id="{C4EE781B-048E-881D-C35E-110D925C1C01}"/>
              </a:ext>
            </a:extLst>
          </p:cNvPr>
          <p:cNvSpPr/>
          <p:nvPr/>
        </p:nvSpPr>
        <p:spPr bwMode="gray">
          <a:xfrm>
            <a:off x="397506" y="1074609"/>
            <a:ext cx="2973184" cy="193069"/>
          </a:xfrm>
          <a:prstGeom prst="rect">
            <a:avLst/>
          </a:prstGeom>
          <a:solidFill>
            <a:schemeClr val="tx1">
              <a:lumMod val="85000"/>
              <a:lumOff val="15000"/>
            </a:schemeClr>
          </a:solidFill>
          <a:ln w="19050" algn="ctr">
            <a:solidFill>
              <a:srgbClr val="262626"/>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Jaipur</a:t>
            </a:r>
          </a:p>
        </p:txBody>
      </p:sp>
      <p:sp>
        <p:nvSpPr>
          <p:cNvPr id="15" name="Rectangle 14">
            <a:extLst>
              <a:ext uri="{FF2B5EF4-FFF2-40B4-BE49-F238E27FC236}">
                <a16:creationId xmlns:a16="http://schemas.microsoft.com/office/drawing/2014/main" id="{82475172-0D11-3AC1-C50E-5D95F40CE158}"/>
              </a:ext>
            </a:extLst>
          </p:cNvPr>
          <p:cNvSpPr/>
          <p:nvPr/>
        </p:nvSpPr>
        <p:spPr bwMode="gray">
          <a:xfrm>
            <a:off x="397506" y="1320088"/>
            <a:ext cx="2973184" cy="533891"/>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Jaipur Vidyut </a:t>
            </a:r>
            <a:r>
              <a:rPr kumimoji="0" lang="en-US" sz="1000" b="0" i="0" u="none" strike="noStrike" kern="1200" cap="none" spc="0" normalizeH="0" baseline="0" noProof="0" dirty="0" err="1">
                <a:ln>
                  <a:noFill/>
                </a:ln>
                <a:solidFill>
                  <a:prstClr val="black"/>
                </a:solidFill>
                <a:effectLst/>
                <a:uLnTx/>
                <a:uFillTx/>
                <a:cs typeface="Calibri" panose="020F0502020204030204" pitchFamily="34" charset="0"/>
              </a:rPr>
              <a:t>Vitran</a:t>
            </a: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 Nigam Limited (JVVNL) and other DISCOMs in Rajasthan have been involved in GIS projects</a:t>
            </a:r>
          </a:p>
        </p:txBody>
      </p:sp>
      <p:sp>
        <p:nvSpPr>
          <p:cNvPr id="16" name="Half Frame 15">
            <a:extLst>
              <a:ext uri="{FF2B5EF4-FFF2-40B4-BE49-F238E27FC236}">
                <a16:creationId xmlns:a16="http://schemas.microsoft.com/office/drawing/2014/main" id="{150718E3-43F4-6052-F5C1-E3353085CF81}"/>
              </a:ext>
            </a:extLst>
          </p:cNvPr>
          <p:cNvSpPr/>
          <p:nvPr/>
        </p:nvSpPr>
        <p:spPr bwMode="gray">
          <a:xfrm rot="10800000">
            <a:off x="3178128" y="1396735"/>
            <a:ext cx="192562" cy="577028"/>
          </a:xfrm>
          <a:prstGeom prst="halfFrame">
            <a:avLst>
              <a:gd name="adj1" fmla="val 7553"/>
              <a:gd name="adj2" fmla="val 8442"/>
            </a:avLst>
          </a:prstGeom>
          <a:solidFill>
            <a:schemeClr val="tx1"/>
          </a:solidFill>
          <a:ln w="190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17" name="Half Frame 16">
            <a:extLst>
              <a:ext uri="{FF2B5EF4-FFF2-40B4-BE49-F238E27FC236}">
                <a16:creationId xmlns:a16="http://schemas.microsoft.com/office/drawing/2014/main" id="{3AA9D516-9804-8E09-6913-5CD2227B0E96}"/>
              </a:ext>
            </a:extLst>
          </p:cNvPr>
          <p:cNvSpPr/>
          <p:nvPr/>
        </p:nvSpPr>
        <p:spPr bwMode="gray">
          <a:xfrm rot="16200000">
            <a:off x="222502" y="1593307"/>
            <a:ext cx="533889" cy="183882"/>
          </a:xfrm>
          <a:prstGeom prst="halfFrame">
            <a:avLst>
              <a:gd name="adj1" fmla="val 7553"/>
              <a:gd name="adj2" fmla="val 8442"/>
            </a:avLst>
          </a:prstGeom>
          <a:solidFill>
            <a:schemeClr val="tx1"/>
          </a:solidFill>
          <a:ln w="190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18" name="Rectangle 17">
            <a:extLst>
              <a:ext uri="{FF2B5EF4-FFF2-40B4-BE49-F238E27FC236}">
                <a16:creationId xmlns:a16="http://schemas.microsoft.com/office/drawing/2014/main" id="{3A08186C-3AB4-6D08-D0F9-57B283525DC7}"/>
              </a:ext>
            </a:extLst>
          </p:cNvPr>
          <p:cNvSpPr/>
          <p:nvPr/>
        </p:nvSpPr>
        <p:spPr bwMode="gray">
          <a:xfrm>
            <a:off x="397506" y="2407082"/>
            <a:ext cx="2973184" cy="60813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Gujarat </a:t>
            </a:r>
            <a:r>
              <a:rPr kumimoji="0" lang="en-US" sz="1000" b="0" i="0" u="none" strike="noStrike" kern="1200" cap="none" spc="0" normalizeH="0" baseline="0" noProof="0" dirty="0" err="1">
                <a:ln>
                  <a:noFill/>
                </a:ln>
                <a:solidFill>
                  <a:prstClr val="black"/>
                </a:solidFill>
                <a:effectLst/>
                <a:uLnTx/>
                <a:uFillTx/>
                <a:cs typeface="Calibri" panose="020F0502020204030204" pitchFamily="34" charset="0"/>
              </a:rPr>
              <a:t>Urja</a:t>
            </a: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 Vikas Nigam Limited (GUVNL) and its subsidiary distribution companies have also been active in GIS implementation initiatives</a:t>
            </a:r>
          </a:p>
        </p:txBody>
      </p:sp>
      <p:sp>
        <p:nvSpPr>
          <p:cNvPr id="19" name="Half Frame 18">
            <a:extLst>
              <a:ext uri="{FF2B5EF4-FFF2-40B4-BE49-F238E27FC236}">
                <a16:creationId xmlns:a16="http://schemas.microsoft.com/office/drawing/2014/main" id="{B8E41A3E-6F9A-48EF-BC5A-D4B6C911A0F9}"/>
              </a:ext>
            </a:extLst>
          </p:cNvPr>
          <p:cNvSpPr/>
          <p:nvPr/>
        </p:nvSpPr>
        <p:spPr bwMode="gray">
          <a:xfrm rot="10800000">
            <a:off x="3178128" y="2483729"/>
            <a:ext cx="192562" cy="577028"/>
          </a:xfrm>
          <a:prstGeom prst="halfFrame">
            <a:avLst>
              <a:gd name="adj1" fmla="val 7553"/>
              <a:gd name="adj2" fmla="val 8442"/>
            </a:avLst>
          </a:prstGeom>
          <a:solidFill>
            <a:srgbClr val="0097A9"/>
          </a:solidFill>
          <a:ln w="19050" algn="ctr">
            <a:solidFill>
              <a:srgbClr val="0097A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0" name="Half Frame 19">
            <a:extLst>
              <a:ext uri="{FF2B5EF4-FFF2-40B4-BE49-F238E27FC236}">
                <a16:creationId xmlns:a16="http://schemas.microsoft.com/office/drawing/2014/main" id="{0FAA95CE-CA57-FBAD-41A5-527C6F35CC34}"/>
              </a:ext>
            </a:extLst>
          </p:cNvPr>
          <p:cNvSpPr/>
          <p:nvPr/>
        </p:nvSpPr>
        <p:spPr bwMode="gray">
          <a:xfrm rot="16200000">
            <a:off x="222502" y="2680301"/>
            <a:ext cx="533889" cy="183882"/>
          </a:xfrm>
          <a:prstGeom prst="halfFrame">
            <a:avLst>
              <a:gd name="adj1" fmla="val 7553"/>
              <a:gd name="adj2" fmla="val 8442"/>
            </a:avLst>
          </a:prstGeom>
          <a:solidFill>
            <a:srgbClr val="0097A9"/>
          </a:solidFill>
          <a:ln w="19050" algn="ctr">
            <a:solidFill>
              <a:srgbClr val="0097A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1" name="Rectangle 20">
            <a:extLst>
              <a:ext uri="{FF2B5EF4-FFF2-40B4-BE49-F238E27FC236}">
                <a16:creationId xmlns:a16="http://schemas.microsoft.com/office/drawing/2014/main" id="{C857AD22-913B-EC9B-531D-00C115E91AF4}"/>
              </a:ext>
            </a:extLst>
          </p:cNvPr>
          <p:cNvSpPr/>
          <p:nvPr/>
        </p:nvSpPr>
        <p:spPr bwMode="gray">
          <a:xfrm>
            <a:off x="397506" y="3432494"/>
            <a:ext cx="2973184" cy="631420"/>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Maharashtra State Electricity Distribution Company Limited (MSEDCL) has been a frontrunner in implementing GIS technology for its distribution network</a:t>
            </a:r>
          </a:p>
        </p:txBody>
      </p:sp>
      <p:sp>
        <p:nvSpPr>
          <p:cNvPr id="22" name="Half Frame 21">
            <a:extLst>
              <a:ext uri="{FF2B5EF4-FFF2-40B4-BE49-F238E27FC236}">
                <a16:creationId xmlns:a16="http://schemas.microsoft.com/office/drawing/2014/main" id="{9553C91D-B923-7067-9BCA-73F6DEF9B5C8}"/>
              </a:ext>
            </a:extLst>
          </p:cNvPr>
          <p:cNvSpPr/>
          <p:nvPr/>
        </p:nvSpPr>
        <p:spPr bwMode="gray">
          <a:xfrm rot="10800000">
            <a:off x="3178128" y="3497554"/>
            <a:ext cx="192562" cy="577028"/>
          </a:xfrm>
          <a:prstGeom prst="halfFrame">
            <a:avLst>
              <a:gd name="adj1" fmla="val 7553"/>
              <a:gd name="adj2" fmla="val 8442"/>
            </a:avLst>
          </a:prstGeom>
          <a:solidFill>
            <a:srgbClr val="4A8864"/>
          </a:solidFill>
          <a:ln w="19050" algn="ctr">
            <a:solidFill>
              <a:srgbClr val="49876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3" name="Half Frame 22">
            <a:extLst>
              <a:ext uri="{FF2B5EF4-FFF2-40B4-BE49-F238E27FC236}">
                <a16:creationId xmlns:a16="http://schemas.microsoft.com/office/drawing/2014/main" id="{DB390C23-6662-9444-4574-E2ACE24EB4F2}"/>
              </a:ext>
            </a:extLst>
          </p:cNvPr>
          <p:cNvSpPr/>
          <p:nvPr/>
        </p:nvSpPr>
        <p:spPr bwMode="gray">
          <a:xfrm rot="16200000">
            <a:off x="222502" y="3694126"/>
            <a:ext cx="533889" cy="183882"/>
          </a:xfrm>
          <a:prstGeom prst="halfFrame">
            <a:avLst>
              <a:gd name="adj1" fmla="val 7553"/>
              <a:gd name="adj2" fmla="val 8442"/>
            </a:avLst>
          </a:prstGeom>
          <a:solidFill>
            <a:srgbClr val="4A8864"/>
          </a:solidFill>
          <a:ln w="19050" algn="ctr">
            <a:solidFill>
              <a:srgbClr val="49876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4" name="Rectangle 23">
            <a:extLst>
              <a:ext uri="{FF2B5EF4-FFF2-40B4-BE49-F238E27FC236}">
                <a16:creationId xmlns:a16="http://schemas.microsoft.com/office/drawing/2014/main" id="{456157A5-2EEF-99DC-0AA4-CB5508DA8599}"/>
              </a:ext>
            </a:extLst>
          </p:cNvPr>
          <p:cNvSpPr/>
          <p:nvPr/>
        </p:nvSpPr>
        <p:spPr bwMode="gray">
          <a:xfrm>
            <a:off x="393165" y="4488149"/>
            <a:ext cx="3062539" cy="60813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Bangalore Electricity Supply Company (BESCOM) and other DISCOMs in Karnataka have applied GIS for infrastructure mapping and asset management</a:t>
            </a:r>
          </a:p>
        </p:txBody>
      </p:sp>
      <p:sp>
        <p:nvSpPr>
          <p:cNvPr id="25" name="Half Frame 24">
            <a:extLst>
              <a:ext uri="{FF2B5EF4-FFF2-40B4-BE49-F238E27FC236}">
                <a16:creationId xmlns:a16="http://schemas.microsoft.com/office/drawing/2014/main" id="{ABD0AFFB-2264-3F05-995F-976B01B5A35E}"/>
              </a:ext>
            </a:extLst>
          </p:cNvPr>
          <p:cNvSpPr/>
          <p:nvPr/>
        </p:nvSpPr>
        <p:spPr bwMode="gray">
          <a:xfrm rot="10800000">
            <a:off x="3178128" y="4540966"/>
            <a:ext cx="192562" cy="577028"/>
          </a:xfrm>
          <a:prstGeom prst="halfFrame">
            <a:avLst>
              <a:gd name="adj1" fmla="val 7553"/>
              <a:gd name="adj2" fmla="val 8442"/>
            </a:avLst>
          </a:prstGeom>
          <a:solidFill>
            <a:schemeClr val="accent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6" name="Half Frame 25">
            <a:extLst>
              <a:ext uri="{FF2B5EF4-FFF2-40B4-BE49-F238E27FC236}">
                <a16:creationId xmlns:a16="http://schemas.microsoft.com/office/drawing/2014/main" id="{47983E6D-C7BF-ED2D-5D2C-4C611AE6A066}"/>
              </a:ext>
            </a:extLst>
          </p:cNvPr>
          <p:cNvSpPr/>
          <p:nvPr/>
        </p:nvSpPr>
        <p:spPr bwMode="gray">
          <a:xfrm rot="16200000">
            <a:off x="222502" y="4754956"/>
            <a:ext cx="533889" cy="183882"/>
          </a:xfrm>
          <a:prstGeom prst="halfFrame">
            <a:avLst>
              <a:gd name="adj1" fmla="val 7553"/>
              <a:gd name="adj2" fmla="val 8442"/>
            </a:avLst>
          </a:prstGeom>
          <a:solidFill>
            <a:schemeClr val="accent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7" name="Rectangle 26">
            <a:extLst>
              <a:ext uri="{FF2B5EF4-FFF2-40B4-BE49-F238E27FC236}">
                <a16:creationId xmlns:a16="http://schemas.microsoft.com/office/drawing/2014/main" id="{918A7C3D-0FBB-D9A3-2629-1C51B01E94FF}"/>
              </a:ext>
            </a:extLst>
          </p:cNvPr>
          <p:cNvSpPr/>
          <p:nvPr/>
        </p:nvSpPr>
        <p:spPr bwMode="gray">
          <a:xfrm>
            <a:off x="397506" y="5458230"/>
            <a:ext cx="2973184" cy="835212"/>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Tamil Nadu Generation and Distribution Corporation Limited (TANGEDCO) has been exploring GIS solutions for its distribution network</a:t>
            </a:r>
          </a:p>
        </p:txBody>
      </p:sp>
      <p:sp>
        <p:nvSpPr>
          <p:cNvPr id="28" name="Half Frame 27">
            <a:extLst>
              <a:ext uri="{FF2B5EF4-FFF2-40B4-BE49-F238E27FC236}">
                <a16:creationId xmlns:a16="http://schemas.microsoft.com/office/drawing/2014/main" id="{A465DB9C-78E0-6D23-FBCD-814EA23CB664}"/>
              </a:ext>
            </a:extLst>
          </p:cNvPr>
          <p:cNvSpPr/>
          <p:nvPr/>
        </p:nvSpPr>
        <p:spPr bwMode="gray">
          <a:xfrm rot="10800000">
            <a:off x="3186054" y="5664387"/>
            <a:ext cx="192562" cy="577028"/>
          </a:xfrm>
          <a:prstGeom prst="halfFrame">
            <a:avLst>
              <a:gd name="adj1" fmla="val 7553"/>
              <a:gd name="adj2" fmla="val 8442"/>
            </a:avLst>
          </a:prstGeom>
          <a:solidFill>
            <a:srgbClr val="007680"/>
          </a:solidFill>
          <a:ln w="19050" algn="ctr">
            <a:solidFill>
              <a:srgbClr val="00768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29" name="Half Frame 28">
            <a:extLst>
              <a:ext uri="{FF2B5EF4-FFF2-40B4-BE49-F238E27FC236}">
                <a16:creationId xmlns:a16="http://schemas.microsoft.com/office/drawing/2014/main" id="{DCCA1D3E-FA0F-1809-C041-551C22A75A52}"/>
              </a:ext>
            </a:extLst>
          </p:cNvPr>
          <p:cNvSpPr/>
          <p:nvPr/>
        </p:nvSpPr>
        <p:spPr bwMode="gray">
          <a:xfrm rot="16200000">
            <a:off x="222502" y="5881370"/>
            <a:ext cx="533889" cy="183882"/>
          </a:xfrm>
          <a:prstGeom prst="halfFrame">
            <a:avLst>
              <a:gd name="adj1" fmla="val 7553"/>
              <a:gd name="adj2" fmla="val 8442"/>
            </a:avLst>
          </a:prstGeom>
          <a:solidFill>
            <a:srgbClr val="007680"/>
          </a:solidFill>
          <a:ln w="19050" algn="ctr">
            <a:solidFill>
              <a:srgbClr val="00768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30" name="Rectangle 29">
            <a:extLst>
              <a:ext uri="{FF2B5EF4-FFF2-40B4-BE49-F238E27FC236}">
                <a16:creationId xmlns:a16="http://schemas.microsoft.com/office/drawing/2014/main" id="{39CA56B3-A659-BECD-3CAE-9E0F9984380C}"/>
              </a:ext>
            </a:extLst>
          </p:cNvPr>
          <p:cNvSpPr/>
          <p:nvPr/>
        </p:nvSpPr>
        <p:spPr bwMode="gray">
          <a:xfrm>
            <a:off x="397506" y="2194561"/>
            <a:ext cx="2973184" cy="193069"/>
          </a:xfrm>
          <a:prstGeom prst="rect">
            <a:avLst/>
          </a:prstGeom>
          <a:solidFill>
            <a:schemeClr val="accent5"/>
          </a:solidFill>
          <a:ln w="19050" algn="ctr">
            <a:solidFill>
              <a:srgbClr val="0097A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Gujarat</a:t>
            </a:r>
          </a:p>
        </p:txBody>
      </p:sp>
      <p:sp>
        <p:nvSpPr>
          <p:cNvPr id="31" name="Rectangle 30">
            <a:extLst>
              <a:ext uri="{FF2B5EF4-FFF2-40B4-BE49-F238E27FC236}">
                <a16:creationId xmlns:a16="http://schemas.microsoft.com/office/drawing/2014/main" id="{FB5CFBF8-FA29-10BD-140B-C1275920AA14}"/>
              </a:ext>
            </a:extLst>
          </p:cNvPr>
          <p:cNvSpPr/>
          <p:nvPr/>
        </p:nvSpPr>
        <p:spPr bwMode="gray">
          <a:xfrm>
            <a:off x="397506" y="3246387"/>
            <a:ext cx="2973184" cy="193069"/>
          </a:xfrm>
          <a:prstGeom prst="rect">
            <a:avLst/>
          </a:prstGeom>
          <a:solidFill>
            <a:srgbClr val="4A8864"/>
          </a:solidFill>
          <a:ln w="19050" algn="ctr">
            <a:solidFill>
              <a:srgbClr val="49876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Maharashtra</a:t>
            </a:r>
          </a:p>
        </p:txBody>
      </p:sp>
      <p:sp>
        <p:nvSpPr>
          <p:cNvPr id="33" name="Rectangle 32">
            <a:extLst>
              <a:ext uri="{FF2B5EF4-FFF2-40B4-BE49-F238E27FC236}">
                <a16:creationId xmlns:a16="http://schemas.microsoft.com/office/drawing/2014/main" id="{BC7508DA-188C-8D82-7E8C-E67F2411BDD6}"/>
              </a:ext>
            </a:extLst>
          </p:cNvPr>
          <p:cNvSpPr/>
          <p:nvPr/>
        </p:nvSpPr>
        <p:spPr bwMode="gray">
          <a:xfrm>
            <a:off x="397506" y="4231319"/>
            <a:ext cx="2973184" cy="193069"/>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Karnataka</a:t>
            </a:r>
          </a:p>
        </p:txBody>
      </p:sp>
      <p:sp>
        <p:nvSpPr>
          <p:cNvPr id="34" name="Rectangle 33">
            <a:extLst>
              <a:ext uri="{FF2B5EF4-FFF2-40B4-BE49-F238E27FC236}">
                <a16:creationId xmlns:a16="http://schemas.microsoft.com/office/drawing/2014/main" id="{E5359EE7-B642-0907-1707-98B867891186}"/>
              </a:ext>
            </a:extLst>
          </p:cNvPr>
          <p:cNvSpPr/>
          <p:nvPr/>
        </p:nvSpPr>
        <p:spPr bwMode="gray">
          <a:xfrm>
            <a:off x="397506" y="5314343"/>
            <a:ext cx="2973184" cy="193069"/>
          </a:xfrm>
          <a:prstGeom prst="rect">
            <a:avLst/>
          </a:prstGeom>
          <a:solidFill>
            <a:srgbClr val="007680"/>
          </a:solidFill>
          <a:ln w="19050" algn="ctr">
            <a:solidFill>
              <a:srgbClr val="00768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Tamil Nadu</a:t>
            </a:r>
          </a:p>
        </p:txBody>
      </p:sp>
      <p:pic>
        <p:nvPicPr>
          <p:cNvPr id="36" name="Picture 2" descr="Free Vector | Location">
            <a:extLst>
              <a:ext uri="{FF2B5EF4-FFF2-40B4-BE49-F238E27FC236}">
                <a16:creationId xmlns:a16="http://schemas.microsoft.com/office/drawing/2014/main" id="{984419BF-2330-5F47-922A-D0725D86F59A}"/>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515507" y="2754991"/>
            <a:ext cx="289740" cy="284196"/>
          </a:xfrm>
          <a:prstGeom prst="rect">
            <a:avLst/>
          </a:prstGeom>
          <a:noFill/>
          <a:extLst>
            <a:ext uri="{909E8E84-426E-40DD-AFC4-6F175D3DCCD1}">
              <a14:hiddenFill xmlns:a14="http://schemas.microsoft.com/office/drawing/2010/main">
                <a:solidFill>
                  <a:srgbClr val="FFFFFF"/>
                </a:solidFill>
              </a14:hiddenFill>
            </a:ext>
          </a:extLst>
        </p:spPr>
      </p:pic>
      <p:cxnSp>
        <p:nvCxnSpPr>
          <p:cNvPr id="51" name="Connector: Elbow 50">
            <a:extLst>
              <a:ext uri="{FF2B5EF4-FFF2-40B4-BE49-F238E27FC236}">
                <a16:creationId xmlns:a16="http://schemas.microsoft.com/office/drawing/2014/main" id="{E170DC91-8A74-9183-1658-5A69512C2539}"/>
              </a:ext>
            </a:extLst>
          </p:cNvPr>
          <p:cNvCxnSpPr>
            <a:cxnSpLocks/>
            <a:endCxn id="16" idx="2"/>
          </p:cNvCxnSpPr>
          <p:nvPr/>
        </p:nvCxnSpPr>
        <p:spPr>
          <a:xfrm rot="10800000">
            <a:off x="3370690" y="1685249"/>
            <a:ext cx="1293812" cy="1207088"/>
          </a:xfrm>
          <a:prstGeom prst="bentConnector3">
            <a:avLst>
              <a:gd name="adj1" fmla="val 50000"/>
            </a:avLst>
          </a:prstGeom>
          <a:ln w="19050" cap="rnd">
            <a:solidFill>
              <a:schemeClr val="tx1"/>
            </a:solidFill>
            <a:prstDash val="dash"/>
            <a:tailEnd type="oval"/>
          </a:ln>
        </p:spPr>
        <p:style>
          <a:lnRef idx="1">
            <a:schemeClr val="accent1"/>
          </a:lnRef>
          <a:fillRef idx="0">
            <a:schemeClr val="accent1"/>
          </a:fillRef>
          <a:effectRef idx="0">
            <a:schemeClr val="accent1"/>
          </a:effectRef>
          <a:fontRef idx="minor">
            <a:schemeClr val="tx1"/>
          </a:fontRef>
        </p:style>
      </p:cxnSp>
      <p:pic>
        <p:nvPicPr>
          <p:cNvPr id="62" name="Picture 2" descr="Free Vector | Location">
            <a:extLst>
              <a:ext uri="{FF2B5EF4-FFF2-40B4-BE49-F238E27FC236}">
                <a16:creationId xmlns:a16="http://schemas.microsoft.com/office/drawing/2014/main" id="{FB709A20-A905-22DF-BC24-23872E9D1A3F}"/>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03879" y="3297358"/>
            <a:ext cx="289740" cy="284196"/>
          </a:xfrm>
          <a:prstGeom prst="rect">
            <a:avLst/>
          </a:prstGeom>
          <a:noFill/>
          <a:extLst>
            <a:ext uri="{909E8E84-426E-40DD-AFC4-6F175D3DCCD1}">
              <a14:hiddenFill xmlns:a14="http://schemas.microsoft.com/office/drawing/2010/main">
                <a:solidFill>
                  <a:srgbClr val="FFFFFF"/>
                </a:solidFill>
              </a14:hiddenFill>
            </a:ext>
          </a:extLst>
        </p:spPr>
      </p:pic>
      <p:cxnSp>
        <p:nvCxnSpPr>
          <p:cNvPr id="64" name="Connector: Elbow 63">
            <a:extLst>
              <a:ext uri="{FF2B5EF4-FFF2-40B4-BE49-F238E27FC236}">
                <a16:creationId xmlns:a16="http://schemas.microsoft.com/office/drawing/2014/main" id="{CA487665-F074-D082-8D9A-A21E6B1ECABE}"/>
              </a:ext>
            </a:extLst>
          </p:cNvPr>
          <p:cNvCxnSpPr>
            <a:cxnSpLocks/>
            <a:endCxn id="19" idx="2"/>
          </p:cNvCxnSpPr>
          <p:nvPr/>
        </p:nvCxnSpPr>
        <p:spPr>
          <a:xfrm rot="10800000">
            <a:off x="3370690" y="2772243"/>
            <a:ext cx="716738" cy="656890"/>
          </a:xfrm>
          <a:prstGeom prst="bentConnector3">
            <a:avLst>
              <a:gd name="adj1" fmla="val 50000"/>
            </a:avLst>
          </a:prstGeom>
          <a:ln w="19050" cap="rnd">
            <a:solidFill>
              <a:srgbClr val="0097A9"/>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16B46E5B-0C93-82BE-4F67-5544F1FF72D5}"/>
              </a:ext>
            </a:extLst>
          </p:cNvPr>
          <p:cNvCxnSpPr>
            <a:cxnSpLocks/>
            <a:endCxn id="22" idx="2"/>
          </p:cNvCxnSpPr>
          <p:nvPr/>
        </p:nvCxnSpPr>
        <p:spPr>
          <a:xfrm rot="10800000">
            <a:off x="3370691" y="3786069"/>
            <a:ext cx="1144817" cy="322781"/>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pic>
        <p:nvPicPr>
          <p:cNvPr id="79" name="Picture 2" descr="Free Vector | Location">
            <a:extLst>
              <a:ext uri="{FF2B5EF4-FFF2-40B4-BE49-F238E27FC236}">
                <a16:creationId xmlns:a16="http://schemas.microsoft.com/office/drawing/2014/main" id="{0290E620-2471-E403-73CA-B26B9AAD2077}"/>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370637" y="3901583"/>
            <a:ext cx="289740" cy="284196"/>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Free Vector | Location">
            <a:extLst>
              <a:ext uri="{FF2B5EF4-FFF2-40B4-BE49-F238E27FC236}">
                <a16:creationId xmlns:a16="http://schemas.microsoft.com/office/drawing/2014/main" id="{7742FDCF-F780-E406-B786-536BE8BF6C77}"/>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859493" y="4855220"/>
            <a:ext cx="289740" cy="284196"/>
          </a:xfrm>
          <a:prstGeom prst="rect">
            <a:avLst/>
          </a:prstGeom>
          <a:noFill/>
          <a:extLst>
            <a:ext uri="{909E8E84-426E-40DD-AFC4-6F175D3DCCD1}">
              <a14:hiddenFill xmlns:a14="http://schemas.microsoft.com/office/drawing/2010/main">
                <a:solidFill>
                  <a:srgbClr val="FFFFFF"/>
                </a:solidFill>
              </a14:hiddenFill>
            </a:ext>
          </a:extLst>
        </p:spPr>
      </p:pic>
      <p:cxnSp>
        <p:nvCxnSpPr>
          <p:cNvPr id="81" name="Connector: Elbow 80">
            <a:extLst>
              <a:ext uri="{FF2B5EF4-FFF2-40B4-BE49-F238E27FC236}">
                <a16:creationId xmlns:a16="http://schemas.microsoft.com/office/drawing/2014/main" id="{21AA1FBD-A77C-3D46-A18C-DAF39212A537}"/>
              </a:ext>
            </a:extLst>
          </p:cNvPr>
          <p:cNvCxnSpPr>
            <a:cxnSpLocks/>
            <a:endCxn id="24" idx="3"/>
          </p:cNvCxnSpPr>
          <p:nvPr/>
        </p:nvCxnSpPr>
        <p:spPr>
          <a:xfrm rot="10800000">
            <a:off x="3455704" y="4792219"/>
            <a:ext cx="1535838" cy="234526"/>
          </a:xfrm>
          <a:prstGeom prst="bentConnector3">
            <a:avLst>
              <a:gd name="adj1" fmla="val 50000"/>
            </a:avLst>
          </a:prstGeom>
          <a:ln w="19050" cap="rnd">
            <a:solidFill>
              <a:srgbClr val="86BC25"/>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E27455CC-9BC4-B183-D5BB-E6F7E32F7A72}"/>
              </a:ext>
            </a:extLst>
          </p:cNvPr>
          <p:cNvCxnSpPr>
            <a:cxnSpLocks/>
            <a:endCxn id="28" idx="2"/>
          </p:cNvCxnSpPr>
          <p:nvPr/>
        </p:nvCxnSpPr>
        <p:spPr>
          <a:xfrm rot="10800000" flipV="1">
            <a:off x="3378616" y="5729607"/>
            <a:ext cx="1708890" cy="223294"/>
          </a:xfrm>
          <a:prstGeom prst="bentConnector3">
            <a:avLst>
              <a:gd name="adj1" fmla="val 50000"/>
            </a:avLst>
          </a:prstGeom>
          <a:ln w="19050" cap="rnd">
            <a:solidFill>
              <a:srgbClr val="007680"/>
            </a:solidFill>
            <a:prstDash val="dash"/>
            <a:tailEnd type="oval"/>
          </a:ln>
        </p:spPr>
        <p:style>
          <a:lnRef idx="1">
            <a:schemeClr val="accent1"/>
          </a:lnRef>
          <a:fillRef idx="0">
            <a:schemeClr val="accent1"/>
          </a:fillRef>
          <a:effectRef idx="0">
            <a:schemeClr val="accent1"/>
          </a:effectRef>
          <a:fontRef idx="minor">
            <a:schemeClr val="tx1"/>
          </a:fontRef>
        </p:style>
      </p:cxnSp>
      <p:pic>
        <p:nvPicPr>
          <p:cNvPr id="85" name="Picture 2" descr="Free Vector | Location">
            <a:extLst>
              <a:ext uri="{FF2B5EF4-FFF2-40B4-BE49-F238E27FC236}">
                <a16:creationId xmlns:a16="http://schemas.microsoft.com/office/drawing/2014/main" id="{B4729DDB-B526-B60C-B6C3-FF33F93CB13F}"/>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991542" y="5550322"/>
            <a:ext cx="289740" cy="284196"/>
          </a:xfrm>
          <a:prstGeom prst="rect">
            <a:avLst/>
          </a:prstGeom>
          <a:noFill/>
          <a:extLst>
            <a:ext uri="{909E8E84-426E-40DD-AFC4-6F175D3DCCD1}">
              <a14:hiddenFill xmlns:a14="http://schemas.microsoft.com/office/drawing/2010/main">
                <a:solidFill>
                  <a:srgbClr val="FFFFFF"/>
                </a:solidFill>
              </a14:hiddenFill>
            </a:ext>
          </a:extLst>
        </p:spPr>
      </p:pic>
      <p:sp>
        <p:nvSpPr>
          <p:cNvPr id="87" name="Rectangle 86">
            <a:extLst>
              <a:ext uri="{FF2B5EF4-FFF2-40B4-BE49-F238E27FC236}">
                <a16:creationId xmlns:a16="http://schemas.microsoft.com/office/drawing/2014/main" id="{AE928ED9-FEB8-46DD-225A-E95A9C0CCE6A}"/>
              </a:ext>
            </a:extLst>
          </p:cNvPr>
          <p:cNvSpPr/>
          <p:nvPr/>
        </p:nvSpPr>
        <p:spPr bwMode="gray">
          <a:xfrm>
            <a:off x="8666435" y="1070715"/>
            <a:ext cx="2973184" cy="193069"/>
          </a:xfrm>
          <a:prstGeom prst="rect">
            <a:avLst/>
          </a:prstGeom>
          <a:solidFill>
            <a:schemeClr val="tx1">
              <a:lumMod val="85000"/>
              <a:lumOff val="15000"/>
            </a:schemeClr>
          </a:solidFill>
          <a:ln w="19050" algn="ctr">
            <a:solidFill>
              <a:srgbClr val="262626"/>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Uttar Pradesh</a:t>
            </a:r>
          </a:p>
        </p:txBody>
      </p:sp>
      <p:sp>
        <p:nvSpPr>
          <p:cNvPr id="88" name="Rectangle 87">
            <a:extLst>
              <a:ext uri="{FF2B5EF4-FFF2-40B4-BE49-F238E27FC236}">
                <a16:creationId xmlns:a16="http://schemas.microsoft.com/office/drawing/2014/main" id="{33F6AD04-BFB6-9078-1D32-97D3A11C2E00}"/>
              </a:ext>
            </a:extLst>
          </p:cNvPr>
          <p:cNvSpPr/>
          <p:nvPr/>
        </p:nvSpPr>
        <p:spPr bwMode="gray">
          <a:xfrm>
            <a:off x="8666435" y="1316194"/>
            <a:ext cx="2973184" cy="586194"/>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Uttar Pradesh Power Corporation Limited (UPPCL) and its DISCOMs have been exploring GIS solutions for distribution network management</a:t>
            </a:r>
          </a:p>
        </p:txBody>
      </p:sp>
      <p:sp>
        <p:nvSpPr>
          <p:cNvPr id="89" name="Half Frame 88">
            <a:extLst>
              <a:ext uri="{FF2B5EF4-FFF2-40B4-BE49-F238E27FC236}">
                <a16:creationId xmlns:a16="http://schemas.microsoft.com/office/drawing/2014/main" id="{F762B3A2-CA67-E978-878E-7B3EBC9D97AC}"/>
              </a:ext>
            </a:extLst>
          </p:cNvPr>
          <p:cNvSpPr/>
          <p:nvPr/>
        </p:nvSpPr>
        <p:spPr bwMode="gray">
          <a:xfrm rot="10800000">
            <a:off x="11447057" y="1392841"/>
            <a:ext cx="192562" cy="577028"/>
          </a:xfrm>
          <a:prstGeom prst="halfFrame">
            <a:avLst>
              <a:gd name="adj1" fmla="val 7553"/>
              <a:gd name="adj2" fmla="val 8442"/>
            </a:avLst>
          </a:prstGeom>
          <a:solidFill>
            <a:schemeClr val="tx1"/>
          </a:solidFill>
          <a:ln w="190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90" name="Half Frame 89">
            <a:extLst>
              <a:ext uri="{FF2B5EF4-FFF2-40B4-BE49-F238E27FC236}">
                <a16:creationId xmlns:a16="http://schemas.microsoft.com/office/drawing/2014/main" id="{29EC7B4B-90F9-2FE2-6D53-43B54F8A5FC3}"/>
              </a:ext>
            </a:extLst>
          </p:cNvPr>
          <p:cNvSpPr/>
          <p:nvPr/>
        </p:nvSpPr>
        <p:spPr bwMode="gray">
          <a:xfrm rot="16200000">
            <a:off x="8491431" y="1589413"/>
            <a:ext cx="533889" cy="183882"/>
          </a:xfrm>
          <a:prstGeom prst="halfFrame">
            <a:avLst>
              <a:gd name="adj1" fmla="val 7553"/>
              <a:gd name="adj2" fmla="val 8442"/>
            </a:avLst>
          </a:prstGeom>
          <a:solidFill>
            <a:schemeClr val="tx1"/>
          </a:solidFill>
          <a:ln w="190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91" name="Rectangle 90">
            <a:extLst>
              <a:ext uri="{FF2B5EF4-FFF2-40B4-BE49-F238E27FC236}">
                <a16:creationId xmlns:a16="http://schemas.microsoft.com/office/drawing/2014/main" id="{A764F3B3-9AE2-C2F7-6445-F7E9E9E2ADF5}"/>
              </a:ext>
            </a:extLst>
          </p:cNvPr>
          <p:cNvSpPr/>
          <p:nvPr/>
        </p:nvSpPr>
        <p:spPr bwMode="gray">
          <a:xfrm>
            <a:off x="8674361" y="2265392"/>
            <a:ext cx="2973184" cy="891517"/>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BSES Yamuna Power Limited (BYPL), BSES Rajdhani Power Limited (BRPL), and Tata Power Delhi Distribution Limited (Tata Power-DDL) are some of the DISCOMs in Delhi that have implemented GIS technology</a:t>
            </a:r>
          </a:p>
        </p:txBody>
      </p:sp>
      <p:sp>
        <p:nvSpPr>
          <p:cNvPr id="93" name="Half Frame 92">
            <a:extLst>
              <a:ext uri="{FF2B5EF4-FFF2-40B4-BE49-F238E27FC236}">
                <a16:creationId xmlns:a16="http://schemas.microsoft.com/office/drawing/2014/main" id="{7EBF554B-BA21-B8BE-8922-D27460731A86}"/>
              </a:ext>
            </a:extLst>
          </p:cNvPr>
          <p:cNvSpPr/>
          <p:nvPr/>
        </p:nvSpPr>
        <p:spPr bwMode="gray">
          <a:xfrm rot="10800000">
            <a:off x="11447057" y="2607153"/>
            <a:ext cx="192562" cy="577028"/>
          </a:xfrm>
          <a:prstGeom prst="halfFrame">
            <a:avLst>
              <a:gd name="adj1" fmla="val 7553"/>
              <a:gd name="adj2" fmla="val 8442"/>
            </a:avLst>
          </a:prstGeom>
          <a:solidFill>
            <a:srgbClr val="0097A9"/>
          </a:solidFill>
          <a:ln w="19050" algn="ctr">
            <a:solidFill>
              <a:srgbClr val="0097A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94" name="Half Frame 93">
            <a:extLst>
              <a:ext uri="{FF2B5EF4-FFF2-40B4-BE49-F238E27FC236}">
                <a16:creationId xmlns:a16="http://schemas.microsoft.com/office/drawing/2014/main" id="{B1E8133B-205F-74E3-2AB5-9700FCFCF4C6}"/>
              </a:ext>
            </a:extLst>
          </p:cNvPr>
          <p:cNvSpPr/>
          <p:nvPr/>
        </p:nvSpPr>
        <p:spPr bwMode="gray">
          <a:xfrm rot="16200000">
            <a:off x="8491431" y="2803725"/>
            <a:ext cx="533889" cy="183882"/>
          </a:xfrm>
          <a:prstGeom prst="halfFrame">
            <a:avLst>
              <a:gd name="adj1" fmla="val 7553"/>
              <a:gd name="adj2" fmla="val 8442"/>
            </a:avLst>
          </a:prstGeom>
          <a:solidFill>
            <a:srgbClr val="0097A9"/>
          </a:solidFill>
          <a:ln w="19050" algn="ctr">
            <a:solidFill>
              <a:srgbClr val="0097A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95" name="Rectangle 94">
            <a:extLst>
              <a:ext uri="{FF2B5EF4-FFF2-40B4-BE49-F238E27FC236}">
                <a16:creationId xmlns:a16="http://schemas.microsoft.com/office/drawing/2014/main" id="{2EA62745-6AD0-F2D9-0CEF-7E8A31CAF83B}"/>
              </a:ext>
            </a:extLst>
          </p:cNvPr>
          <p:cNvSpPr/>
          <p:nvPr/>
        </p:nvSpPr>
        <p:spPr bwMode="gray">
          <a:xfrm>
            <a:off x="8666435" y="3428600"/>
            <a:ext cx="2973184" cy="631420"/>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Odisha Power Transmission Corporation Limited (OPTCL) and its DISCOMs have shown interest in GIS for improving network management</a:t>
            </a:r>
          </a:p>
        </p:txBody>
      </p:sp>
      <p:sp>
        <p:nvSpPr>
          <p:cNvPr id="96" name="Half Frame 95">
            <a:extLst>
              <a:ext uri="{FF2B5EF4-FFF2-40B4-BE49-F238E27FC236}">
                <a16:creationId xmlns:a16="http://schemas.microsoft.com/office/drawing/2014/main" id="{C5E51B66-D8C9-407E-A11F-6AE7F8D7E439}"/>
              </a:ext>
            </a:extLst>
          </p:cNvPr>
          <p:cNvSpPr/>
          <p:nvPr/>
        </p:nvSpPr>
        <p:spPr bwMode="gray">
          <a:xfrm rot="10800000">
            <a:off x="11447057" y="3493660"/>
            <a:ext cx="192562" cy="577028"/>
          </a:xfrm>
          <a:prstGeom prst="halfFrame">
            <a:avLst>
              <a:gd name="adj1" fmla="val 7553"/>
              <a:gd name="adj2" fmla="val 8442"/>
            </a:avLst>
          </a:prstGeom>
          <a:solidFill>
            <a:srgbClr val="4A8864"/>
          </a:solidFill>
          <a:ln w="19050" algn="ctr">
            <a:solidFill>
              <a:srgbClr val="49876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97" name="Half Frame 96">
            <a:extLst>
              <a:ext uri="{FF2B5EF4-FFF2-40B4-BE49-F238E27FC236}">
                <a16:creationId xmlns:a16="http://schemas.microsoft.com/office/drawing/2014/main" id="{20839A4B-F571-5E87-C0C9-9514D617AB90}"/>
              </a:ext>
            </a:extLst>
          </p:cNvPr>
          <p:cNvSpPr/>
          <p:nvPr/>
        </p:nvSpPr>
        <p:spPr bwMode="gray">
          <a:xfrm rot="16200000">
            <a:off x="8491431" y="3690232"/>
            <a:ext cx="533889" cy="183882"/>
          </a:xfrm>
          <a:prstGeom prst="halfFrame">
            <a:avLst>
              <a:gd name="adj1" fmla="val 7553"/>
              <a:gd name="adj2" fmla="val 8442"/>
            </a:avLst>
          </a:prstGeom>
          <a:solidFill>
            <a:srgbClr val="4A8864"/>
          </a:solidFill>
          <a:ln w="19050" algn="ctr">
            <a:solidFill>
              <a:srgbClr val="49876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98" name="Rectangle 97">
            <a:extLst>
              <a:ext uri="{FF2B5EF4-FFF2-40B4-BE49-F238E27FC236}">
                <a16:creationId xmlns:a16="http://schemas.microsoft.com/office/drawing/2014/main" id="{6A6FD111-EFBB-9133-5E97-A1EF9FF188F2}"/>
              </a:ext>
            </a:extLst>
          </p:cNvPr>
          <p:cNvSpPr/>
          <p:nvPr/>
        </p:nvSpPr>
        <p:spPr bwMode="gray">
          <a:xfrm>
            <a:off x="8662094" y="4484255"/>
            <a:ext cx="3062539" cy="608139"/>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Telangana State Southern Power Distribution Company Limited (TSSPDCL) and Telangana State Northern Power Distribution Company Limited (TSNPDCL) have shown interest in GIS for distribution network management</a:t>
            </a:r>
          </a:p>
        </p:txBody>
      </p:sp>
      <p:sp>
        <p:nvSpPr>
          <p:cNvPr id="99" name="Half Frame 98">
            <a:extLst>
              <a:ext uri="{FF2B5EF4-FFF2-40B4-BE49-F238E27FC236}">
                <a16:creationId xmlns:a16="http://schemas.microsoft.com/office/drawing/2014/main" id="{A19FAA4F-15C9-E742-F9FA-7DDA709106FE}"/>
              </a:ext>
            </a:extLst>
          </p:cNvPr>
          <p:cNvSpPr/>
          <p:nvPr/>
        </p:nvSpPr>
        <p:spPr bwMode="gray">
          <a:xfrm rot="10800000">
            <a:off x="11485557" y="4719947"/>
            <a:ext cx="192562" cy="577028"/>
          </a:xfrm>
          <a:prstGeom prst="halfFrame">
            <a:avLst>
              <a:gd name="adj1" fmla="val 7553"/>
              <a:gd name="adj2" fmla="val 8442"/>
            </a:avLst>
          </a:prstGeom>
          <a:solidFill>
            <a:schemeClr val="accent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100" name="Half Frame 99">
            <a:extLst>
              <a:ext uri="{FF2B5EF4-FFF2-40B4-BE49-F238E27FC236}">
                <a16:creationId xmlns:a16="http://schemas.microsoft.com/office/drawing/2014/main" id="{C7B9408B-2886-CF21-137B-8256C3ECD06F}"/>
              </a:ext>
            </a:extLst>
          </p:cNvPr>
          <p:cNvSpPr/>
          <p:nvPr/>
        </p:nvSpPr>
        <p:spPr bwMode="gray">
          <a:xfrm rot="16200000">
            <a:off x="8491431" y="4933937"/>
            <a:ext cx="533889" cy="183882"/>
          </a:xfrm>
          <a:prstGeom prst="halfFrame">
            <a:avLst>
              <a:gd name="adj1" fmla="val 7553"/>
              <a:gd name="adj2" fmla="val 8442"/>
            </a:avLst>
          </a:prstGeom>
          <a:solidFill>
            <a:schemeClr val="accent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101" name="Rectangle 100">
            <a:extLst>
              <a:ext uri="{FF2B5EF4-FFF2-40B4-BE49-F238E27FC236}">
                <a16:creationId xmlns:a16="http://schemas.microsoft.com/office/drawing/2014/main" id="{F6D6B138-97A2-F32F-8586-449CC3F9E60B}"/>
              </a:ext>
            </a:extLst>
          </p:cNvPr>
          <p:cNvSpPr/>
          <p:nvPr/>
        </p:nvSpPr>
        <p:spPr bwMode="gray">
          <a:xfrm>
            <a:off x="8666435" y="5550591"/>
            <a:ext cx="2973184" cy="957182"/>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defTabSz="914400" rtl="0" eaLnBrk="1" fontAlgn="auto" latinLnBrk="0" hangingPunct="1">
              <a:lnSpc>
                <a:spcPct val="100000"/>
              </a:lnSpc>
              <a:spcBef>
                <a:spcPts val="0"/>
              </a:spcBef>
              <a:spcAft>
                <a:spcPts val="0"/>
              </a:spcAft>
              <a:buClrTx/>
              <a:buSzTx/>
              <a:tabLst/>
              <a:defRPr/>
            </a:pPr>
            <a:r>
              <a:rPr kumimoji="0" lang="en-US" sz="1000" b="0" i="0" u="none" strike="noStrike" kern="1200" cap="none" spc="0" normalizeH="0" baseline="0" noProof="0" dirty="0">
                <a:ln>
                  <a:noFill/>
                </a:ln>
                <a:solidFill>
                  <a:prstClr val="black"/>
                </a:solidFill>
                <a:effectLst/>
                <a:uLnTx/>
                <a:uFillTx/>
                <a:cs typeface="Calibri" panose="020F0502020204030204" pitchFamily="34" charset="0"/>
              </a:rPr>
              <a:t>Andhra Pradesh Eastern Power Distribution Company Limited (APEPDCL) and Andhra Pradesh Southern Power Distribution Company Limited (APSPDCL) have been involved in GIS projects.</a:t>
            </a:r>
          </a:p>
        </p:txBody>
      </p:sp>
      <p:sp>
        <p:nvSpPr>
          <p:cNvPr id="102" name="Half Frame 101">
            <a:extLst>
              <a:ext uri="{FF2B5EF4-FFF2-40B4-BE49-F238E27FC236}">
                <a16:creationId xmlns:a16="http://schemas.microsoft.com/office/drawing/2014/main" id="{88E8F848-A987-C671-7BEE-4C3D954D1700}"/>
              </a:ext>
            </a:extLst>
          </p:cNvPr>
          <p:cNvSpPr/>
          <p:nvPr/>
        </p:nvSpPr>
        <p:spPr bwMode="gray">
          <a:xfrm rot="10800000">
            <a:off x="11454983" y="5833748"/>
            <a:ext cx="192562" cy="577028"/>
          </a:xfrm>
          <a:prstGeom prst="halfFrame">
            <a:avLst>
              <a:gd name="adj1" fmla="val 7553"/>
              <a:gd name="adj2" fmla="val 8442"/>
            </a:avLst>
          </a:prstGeom>
          <a:solidFill>
            <a:srgbClr val="007680"/>
          </a:solidFill>
          <a:ln w="19050" algn="ctr">
            <a:solidFill>
              <a:srgbClr val="00768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103" name="Half Frame 102">
            <a:extLst>
              <a:ext uri="{FF2B5EF4-FFF2-40B4-BE49-F238E27FC236}">
                <a16:creationId xmlns:a16="http://schemas.microsoft.com/office/drawing/2014/main" id="{005565A8-FE81-FD69-AE8A-C80C54CA110C}"/>
              </a:ext>
            </a:extLst>
          </p:cNvPr>
          <p:cNvSpPr/>
          <p:nvPr/>
        </p:nvSpPr>
        <p:spPr bwMode="gray">
          <a:xfrm rot="16200000">
            <a:off x="8491431" y="6050731"/>
            <a:ext cx="533889" cy="183882"/>
          </a:xfrm>
          <a:prstGeom prst="halfFrame">
            <a:avLst>
              <a:gd name="adj1" fmla="val 7553"/>
              <a:gd name="adj2" fmla="val 8442"/>
            </a:avLst>
          </a:prstGeom>
          <a:solidFill>
            <a:srgbClr val="007680"/>
          </a:solidFill>
          <a:ln w="19050" algn="ctr">
            <a:solidFill>
              <a:srgbClr val="00768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1200" cap="none" spc="0" normalizeH="0" baseline="0" noProof="0" dirty="0" err="1">
              <a:ln>
                <a:noFill/>
              </a:ln>
              <a:solidFill>
                <a:prstClr val="white"/>
              </a:solidFill>
              <a:effectLst/>
              <a:uLnTx/>
              <a:uFillTx/>
              <a:cs typeface="Calibri" panose="020F0502020204030204" pitchFamily="34" charset="0"/>
            </a:endParaRPr>
          </a:p>
        </p:txBody>
      </p:sp>
      <p:sp>
        <p:nvSpPr>
          <p:cNvPr id="104" name="Rectangle 103">
            <a:extLst>
              <a:ext uri="{FF2B5EF4-FFF2-40B4-BE49-F238E27FC236}">
                <a16:creationId xmlns:a16="http://schemas.microsoft.com/office/drawing/2014/main" id="{347D9A41-FE0C-50BC-EC28-752D6B324D22}"/>
              </a:ext>
            </a:extLst>
          </p:cNvPr>
          <p:cNvSpPr/>
          <p:nvPr/>
        </p:nvSpPr>
        <p:spPr bwMode="gray">
          <a:xfrm>
            <a:off x="8662094" y="2040171"/>
            <a:ext cx="2973184" cy="193069"/>
          </a:xfrm>
          <a:prstGeom prst="rect">
            <a:avLst/>
          </a:prstGeom>
          <a:solidFill>
            <a:schemeClr val="accent5"/>
          </a:solidFill>
          <a:ln w="19050" algn="ctr">
            <a:solidFill>
              <a:srgbClr val="0097A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Delhi</a:t>
            </a:r>
          </a:p>
        </p:txBody>
      </p:sp>
      <p:sp>
        <p:nvSpPr>
          <p:cNvPr id="105" name="Rectangle 104">
            <a:extLst>
              <a:ext uri="{FF2B5EF4-FFF2-40B4-BE49-F238E27FC236}">
                <a16:creationId xmlns:a16="http://schemas.microsoft.com/office/drawing/2014/main" id="{52C47152-D585-D75F-8E84-93FC8CE319E1}"/>
              </a:ext>
            </a:extLst>
          </p:cNvPr>
          <p:cNvSpPr/>
          <p:nvPr/>
        </p:nvSpPr>
        <p:spPr bwMode="gray">
          <a:xfrm>
            <a:off x="8666435" y="3242493"/>
            <a:ext cx="2973184" cy="193069"/>
          </a:xfrm>
          <a:prstGeom prst="rect">
            <a:avLst/>
          </a:prstGeom>
          <a:solidFill>
            <a:srgbClr val="4A8864"/>
          </a:solidFill>
          <a:ln w="19050" algn="ctr">
            <a:solidFill>
              <a:srgbClr val="49876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Odisha</a:t>
            </a:r>
          </a:p>
        </p:txBody>
      </p:sp>
      <p:sp>
        <p:nvSpPr>
          <p:cNvPr id="106" name="Rectangle 105">
            <a:extLst>
              <a:ext uri="{FF2B5EF4-FFF2-40B4-BE49-F238E27FC236}">
                <a16:creationId xmlns:a16="http://schemas.microsoft.com/office/drawing/2014/main" id="{C62BF5BB-4D18-D996-44E6-EF57B1640528}"/>
              </a:ext>
            </a:extLst>
          </p:cNvPr>
          <p:cNvSpPr/>
          <p:nvPr/>
        </p:nvSpPr>
        <p:spPr bwMode="gray">
          <a:xfrm>
            <a:off x="8662094" y="4150354"/>
            <a:ext cx="2973184" cy="193069"/>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Telangana</a:t>
            </a:r>
          </a:p>
        </p:txBody>
      </p:sp>
      <p:sp>
        <p:nvSpPr>
          <p:cNvPr id="107" name="Rectangle 106">
            <a:extLst>
              <a:ext uri="{FF2B5EF4-FFF2-40B4-BE49-F238E27FC236}">
                <a16:creationId xmlns:a16="http://schemas.microsoft.com/office/drawing/2014/main" id="{CACC2D16-0BD6-E63F-C125-86C1E70AB4B1}"/>
              </a:ext>
            </a:extLst>
          </p:cNvPr>
          <p:cNvSpPr/>
          <p:nvPr/>
        </p:nvSpPr>
        <p:spPr bwMode="gray">
          <a:xfrm>
            <a:off x="8666435" y="5406704"/>
            <a:ext cx="2973184" cy="193069"/>
          </a:xfrm>
          <a:prstGeom prst="rect">
            <a:avLst/>
          </a:prstGeom>
          <a:solidFill>
            <a:srgbClr val="007680"/>
          </a:solidFill>
          <a:ln w="19050" algn="ctr">
            <a:solidFill>
              <a:srgbClr val="00768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white"/>
                </a:solidFill>
                <a:effectLst/>
                <a:uLnTx/>
                <a:uFillTx/>
                <a:cs typeface="Calibri" panose="020F0502020204030204" pitchFamily="34" charset="0"/>
              </a:rPr>
              <a:t>Andhra Pradesh</a:t>
            </a:r>
          </a:p>
        </p:txBody>
      </p:sp>
      <p:pic>
        <p:nvPicPr>
          <p:cNvPr id="108" name="Picture 2" descr="Free Vector | Location">
            <a:extLst>
              <a:ext uri="{FF2B5EF4-FFF2-40B4-BE49-F238E27FC236}">
                <a16:creationId xmlns:a16="http://schemas.microsoft.com/office/drawing/2014/main" id="{0F0639A6-D22F-5382-3084-48397F9553B1}"/>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470617" y="2748910"/>
            <a:ext cx="289740" cy="284196"/>
          </a:xfrm>
          <a:prstGeom prst="rect">
            <a:avLst/>
          </a:prstGeom>
          <a:noFill/>
          <a:extLst>
            <a:ext uri="{909E8E84-426E-40DD-AFC4-6F175D3DCCD1}">
              <a14:hiddenFill xmlns:a14="http://schemas.microsoft.com/office/drawing/2010/main">
                <a:solidFill>
                  <a:srgbClr val="FFFFFF"/>
                </a:solidFill>
              </a14:hiddenFill>
            </a:ext>
          </a:extLst>
        </p:spPr>
      </p:pic>
      <p:cxnSp>
        <p:nvCxnSpPr>
          <p:cNvPr id="109" name="Connector: Elbow 108">
            <a:extLst>
              <a:ext uri="{FF2B5EF4-FFF2-40B4-BE49-F238E27FC236}">
                <a16:creationId xmlns:a16="http://schemas.microsoft.com/office/drawing/2014/main" id="{A5CBC18B-D373-FA87-CEEA-BB95E1E8B0C0}"/>
              </a:ext>
            </a:extLst>
          </p:cNvPr>
          <p:cNvCxnSpPr>
            <a:cxnSpLocks/>
            <a:endCxn id="90" idx="3"/>
          </p:cNvCxnSpPr>
          <p:nvPr/>
        </p:nvCxnSpPr>
        <p:spPr>
          <a:xfrm flipV="1">
            <a:off x="5581180" y="1681354"/>
            <a:ext cx="3085255" cy="1256428"/>
          </a:xfrm>
          <a:prstGeom prst="bentConnector3">
            <a:avLst>
              <a:gd name="adj1" fmla="val 50000"/>
            </a:avLst>
          </a:prstGeom>
          <a:ln w="19050" cap="rnd">
            <a:solidFill>
              <a:schemeClr val="tx1"/>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E8B31674-D60D-EAFF-9A48-DE7FE7EBB8B6}"/>
              </a:ext>
            </a:extLst>
          </p:cNvPr>
          <p:cNvCxnSpPr>
            <a:cxnSpLocks/>
            <a:stCxn id="116" idx="3"/>
          </p:cNvCxnSpPr>
          <p:nvPr/>
        </p:nvCxnSpPr>
        <p:spPr>
          <a:xfrm>
            <a:off x="5262108" y="2383736"/>
            <a:ext cx="3346022" cy="280697"/>
          </a:xfrm>
          <a:prstGeom prst="bentConnector3">
            <a:avLst>
              <a:gd name="adj1" fmla="val 50000"/>
            </a:avLst>
          </a:prstGeom>
          <a:ln w="19050" cap="rnd">
            <a:solidFill>
              <a:srgbClr val="0097A9"/>
            </a:solidFill>
            <a:prstDash val="dash"/>
            <a:tailEnd type="oval"/>
          </a:ln>
        </p:spPr>
        <p:style>
          <a:lnRef idx="1">
            <a:schemeClr val="accent1"/>
          </a:lnRef>
          <a:fillRef idx="0">
            <a:schemeClr val="accent1"/>
          </a:fillRef>
          <a:effectRef idx="0">
            <a:schemeClr val="accent1"/>
          </a:effectRef>
          <a:fontRef idx="minor">
            <a:schemeClr val="tx1"/>
          </a:fontRef>
        </p:style>
      </p:cxnSp>
      <p:pic>
        <p:nvPicPr>
          <p:cNvPr id="113" name="Picture 2" descr="Free Vector | Location">
            <a:extLst>
              <a:ext uri="{FF2B5EF4-FFF2-40B4-BE49-F238E27FC236}">
                <a16:creationId xmlns:a16="http://schemas.microsoft.com/office/drawing/2014/main" id="{FBB4A1DC-7700-48C7-1B27-EC21FEFDAB0B}"/>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81655" y="3697389"/>
            <a:ext cx="289740" cy="284196"/>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 descr="Free Vector | Location">
            <a:extLst>
              <a:ext uri="{FF2B5EF4-FFF2-40B4-BE49-F238E27FC236}">
                <a16:creationId xmlns:a16="http://schemas.microsoft.com/office/drawing/2014/main" id="{DCE898F5-B2BE-9760-C478-93E09CA6DADA}"/>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208734" y="4672524"/>
            <a:ext cx="289740" cy="284196"/>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 descr="Free Vector | Location">
            <a:extLst>
              <a:ext uri="{FF2B5EF4-FFF2-40B4-BE49-F238E27FC236}">
                <a16:creationId xmlns:a16="http://schemas.microsoft.com/office/drawing/2014/main" id="{970CD753-0BF5-3298-9B58-781C6532CFD1}"/>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117238" y="4043681"/>
            <a:ext cx="289740" cy="284196"/>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 descr="Free Vector | Location">
            <a:extLst>
              <a:ext uri="{FF2B5EF4-FFF2-40B4-BE49-F238E27FC236}">
                <a16:creationId xmlns:a16="http://schemas.microsoft.com/office/drawing/2014/main" id="{F3197534-8A08-7024-181C-848B9B379195}"/>
              </a:ext>
            </a:extLst>
          </p:cNvPr>
          <p:cNvPicPr>
            <a:picLocks noChangeAspect="1" noChangeArrowheads="1"/>
          </p:cNvPicPr>
          <p:nvPr/>
        </p:nvPicPr>
        <p:blipFill>
          <a:blip r:embed="rId6">
            <a:biLevel thresh="75000"/>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972368" y="2241638"/>
            <a:ext cx="289740" cy="284196"/>
          </a:xfrm>
          <a:prstGeom prst="rect">
            <a:avLst/>
          </a:prstGeom>
          <a:noFill/>
          <a:extLst>
            <a:ext uri="{909E8E84-426E-40DD-AFC4-6F175D3DCCD1}">
              <a14:hiddenFill xmlns:a14="http://schemas.microsoft.com/office/drawing/2010/main">
                <a:solidFill>
                  <a:srgbClr val="FFFFFF"/>
                </a:solidFill>
              </a14:hiddenFill>
            </a:ext>
          </a:extLst>
        </p:spPr>
      </p:pic>
      <p:cxnSp>
        <p:nvCxnSpPr>
          <p:cNvPr id="119" name="Connector: Elbow 118">
            <a:extLst>
              <a:ext uri="{FF2B5EF4-FFF2-40B4-BE49-F238E27FC236}">
                <a16:creationId xmlns:a16="http://schemas.microsoft.com/office/drawing/2014/main" id="{BDCEC8B4-D363-6048-011E-C8EA82AC1CE5}"/>
              </a:ext>
            </a:extLst>
          </p:cNvPr>
          <p:cNvCxnSpPr>
            <a:cxnSpLocks/>
            <a:stCxn id="113" idx="3"/>
          </p:cNvCxnSpPr>
          <p:nvPr/>
        </p:nvCxnSpPr>
        <p:spPr>
          <a:xfrm flipV="1">
            <a:off x="6271395" y="3704872"/>
            <a:ext cx="2259648" cy="134615"/>
          </a:xfrm>
          <a:prstGeom prst="bentConnector3">
            <a:avLst>
              <a:gd name="adj1" fmla="val 50000"/>
            </a:avLst>
          </a:prstGeom>
          <a:ln w="19050" cap="rnd">
            <a:solidFill>
              <a:srgbClr val="4A8864"/>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3355A529-BBB3-23C5-060C-5E8EC5C7B867}"/>
              </a:ext>
            </a:extLst>
          </p:cNvPr>
          <p:cNvCxnSpPr>
            <a:cxnSpLocks/>
            <a:stCxn id="115" idx="3"/>
          </p:cNvCxnSpPr>
          <p:nvPr/>
        </p:nvCxnSpPr>
        <p:spPr>
          <a:xfrm>
            <a:off x="5406978" y="4185779"/>
            <a:ext cx="3124065" cy="562896"/>
          </a:xfrm>
          <a:prstGeom prst="bentConnector3">
            <a:avLst>
              <a:gd name="adj1" fmla="val 50000"/>
            </a:avLst>
          </a:prstGeom>
          <a:ln w="19050" cap="rnd">
            <a:solidFill>
              <a:srgbClr val="86BC25"/>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A600A655-B775-DCC7-612E-13849061465D}"/>
              </a:ext>
            </a:extLst>
          </p:cNvPr>
          <p:cNvCxnSpPr>
            <a:cxnSpLocks/>
          </p:cNvCxnSpPr>
          <p:nvPr/>
        </p:nvCxnSpPr>
        <p:spPr>
          <a:xfrm>
            <a:off x="5335295" y="4854961"/>
            <a:ext cx="3272835" cy="1072800"/>
          </a:xfrm>
          <a:prstGeom prst="bentConnector3">
            <a:avLst>
              <a:gd name="adj1" fmla="val 50000"/>
            </a:avLst>
          </a:prstGeom>
          <a:ln w="19050" cap="rnd">
            <a:solidFill>
              <a:srgbClr val="007680"/>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532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5A9FD-DE11-4EFA-5DEC-6580F223465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832FA00-3174-1663-DA73-E67C5DAB329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D0CBD0AF-27CA-8B11-4517-E41E92171D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C80DF33A-FB7F-BE6D-2C9C-36172F810FCF}"/>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Dakshin Haryana Bijli </a:t>
            </a:r>
            <a:r>
              <a:rPr lang="en-US" dirty="0" err="1">
                <a:solidFill>
                  <a:schemeClr val="bg2">
                    <a:lumMod val="50000"/>
                  </a:schemeClr>
                </a:solidFill>
              </a:rPr>
              <a:t>Vitran</a:t>
            </a:r>
            <a:r>
              <a:rPr lang="en-US" dirty="0">
                <a:solidFill>
                  <a:schemeClr val="bg2">
                    <a:lumMod val="50000"/>
                  </a:schemeClr>
                </a:solidFill>
              </a:rPr>
              <a:t> Nigam (DHBVN) has implemented GIS as part of RAPDRP Scheme </a:t>
            </a:r>
          </a:p>
        </p:txBody>
      </p:sp>
      <p:sp>
        <p:nvSpPr>
          <p:cNvPr id="6" name="Title 2">
            <a:extLst>
              <a:ext uri="{FF2B5EF4-FFF2-40B4-BE49-F238E27FC236}">
                <a16:creationId xmlns:a16="http://schemas.microsoft.com/office/drawing/2014/main" id="{4DADDE8C-1F14-C45D-E456-80BD7A256A22}"/>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GIS Implementation Case Studies – Dakshin Haryana Bijli </a:t>
            </a:r>
            <a:r>
              <a:rPr lang="en-US" sz="1800" b="1" dirty="0" err="1">
                <a:latin typeface="Verdana" panose="020B0604030504040204" pitchFamily="34" charset="0"/>
                <a:ea typeface="Verdana" panose="020B0604030504040204" pitchFamily="34" charset="0"/>
                <a:cs typeface="+mj-cs"/>
              </a:rPr>
              <a:t>Vitran</a:t>
            </a:r>
            <a:r>
              <a:rPr lang="en-US" sz="1800" b="1" dirty="0">
                <a:latin typeface="Verdana" panose="020B0604030504040204" pitchFamily="34" charset="0"/>
                <a:ea typeface="Verdana" panose="020B0604030504040204" pitchFamily="34" charset="0"/>
                <a:cs typeface="+mj-cs"/>
              </a:rPr>
              <a:t> Nigam Ltd.</a:t>
            </a:r>
          </a:p>
        </p:txBody>
      </p:sp>
      <p:cxnSp>
        <p:nvCxnSpPr>
          <p:cNvPr id="92" name="Straight Connector 91">
            <a:extLst>
              <a:ext uri="{FF2B5EF4-FFF2-40B4-BE49-F238E27FC236}">
                <a16:creationId xmlns:a16="http://schemas.microsoft.com/office/drawing/2014/main" id="{3EE94C22-4F79-17D5-F519-96141FE48C56}"/>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FBBEF0E-EFF8-6A4D-30E9-B364D50A471D}"/>
              </a:ext>
            </a:extLst>
          </p:cNvPr>
          <p:cNvSpPr txBox="1"/>
          <p:nvPr/>
        </p:nvSpPr>
        <p:spPr>
          <a:xfrm>
            <a:off x="514665" y="966580"/>
            <a:ext cx="11195999" cy="1800493"/>
          </a:xfrm>
          <a:prstGeom prst="rect">
            <a:avLst/>
          </a:prstGeom>
          <a:solidFill>
            <a:schemeClr val="bg1">
              <a:lumMod val="95000"/>
            </a:schemeClr>
          </a:solidFill>
        </p:spPr>
        <p:txBody>
          <a:bodyPr wrap="square">
            <a:spAutoFit/>
          </a:bodyPr>
          <a:lstStyle/>
          <a:p>
            <a:pPr algn="just">
              <a:spcAft>
                <a:spcPts val="600"/>
              </a:spcAft>
            </a:pPr>
            <a:r>
              <a:rPr lang="en-US" sz="1200" b="1" dirty="0">
                <a:solidFill>
                  <a:srgbClr val="000000"/>
                </a:solidFill>
                <a:effectLst/>
                <a:ea typeface="Calibri" panose="020F0502020204030204" pitchFamily="34" charset="0"/>
              </a:rPr>
              <a:t>Background</a:t>
            </a:r>
          </a:p>
          <a:p>
            <a:pPr marL="285750" indent="-285750" algn="just">
              <a:spcAft>
                <a:spcPts val="600"/>
              </a:spcAft>
              <a:buFont typeface="Arial" panose="020B0604020202020204" pitchFamily="34" charset="0"/>
              <a:buChar char="•"/>
            </a:pPr>
            <a:r>
              <a:rPr lang="en-US" sz="1200" dirty="0">
                <a:solidFill>
                  <a:srgbClr val="000000"/>
                </a:solidFill>
                <a:effectLst/>
                <a:ea typeface="Calibri" panose="020F0502020204030204" pitchFamily="34" charset="0"/>
              </a:rPr>
              <a:t>The Dakshin Haryana Bijli </a:t>
            </a:r>
            <a:r>
              <a:rPr lang="en-US" sz="1200" dirty="0" err="1">
                <a:solidFill>
                  <a:srgbClr val="000000"/>
                </a:solidFill>
                <a:effectLst/>
                <a:ea typeface="Calibri" panose="020F0502020204030204" pitchFamily="34" charset="0"/>
              </a:rPr>
              <a:t>Vitran</a:t>
            </a:r>
            <a:r>
              <a:rPr lang="en-US" sz="1200" dirty="0">
                <a:solidFill>
                  <a:srgbClr val="000000"/>
                </a:solidFill>
                <a:effectLst/>
                <a:ea typeface="Calibri" panose="020F0502020204030204" pitchFamily="34" charset="0"/>
              </a:rPr>
              <a:t> Nigam (DHBVN), owned by the State Government of Haryana, is responsible for distributing power in South Haryana. With operations in 11 circles, DHBVN caters to a total consumer base of around 3.8 million.</a:t>
            </a:r>
          </a:p>
          <a:p>
            <a:pPr marL="285750" indent="-285750" algn="just">
              <a:spcAft>
                <a:spcPts val="600"/>
              </a:spcAft>
              <a:buFont typeface="Arial" panose="020B0604020202020204" pitchFamily="34" charset="0"/>
              <a:buChar char="•"/>
            </a:pPr>
            <a:r>
              <a:rPr lang="en-US" sz="1200" dirty="0"/>
              <a:t>Before 2015, DHBVN followed a manual system of data collection for its entire distribution network. The department was neither able to collate a central database of the network and customer details, nor monitor the system. The field officers had to be contacted to identify the exact number of transformers or poles in a particular location or the number of feeders in the field. </a:t>
            </a:r>
          </a:p>
          <a:p>
            <a:pPr marL="285750" indent="-285750" algn="just">
              <a:spcAft>
                <a:spcPts val="600"/>
              </a:spcAft>
              <a:buFont typeface="Arial" panose="020B0604020202020204" pitchFamily="34" charset="0"/>
              <a:buChar char="•"/>
            </a:pPr>
            <a:r>
              <a:rPr lang="en-US" sz="1200" dirty="0"/>
              <a:t>Since there was no centralized system and most of the processes were manual, the available data was obsolete and posed a high margin for errors, ultimately increasing AT&amp;C losses.</a:t>
            </a:r>
          </a:p>
        </p:txBody>
      </p:sp>
      <p:cxnSp>
        <p:nvCxnSpPr>
          <p:cNvPr id="18" name="Straight Connector 17">
            <a:extLst>
              <a:ext uri="{FF2B5EF4-FFF2-40B4-BE49-F238E27FC236}">
                <a16:creationId xmlns:a16="http://schemas.microsoft.com/office/drawing/2014/main" id="{7288322F-9F53-FDB2-27B4-D25AF4A1C446}"/>
              </a:ext>
            </a:extLst>
          </p:cNvPr>
          <p:cNvCxnSpPr>
            <a:cxnSpLocks/>
          </p:cNvCxnSpPr>
          <p:nvPr/>
        </p:nvCxnSpPr>
        <p:spPr>
          <a:xfrm>
            <a:off x="2232668" y="2879074"/>
            <a:ext cx="781557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TextBox 31">
            <a:extLst>
              <a:ext uri="{FF2B5EF4-FFF2-40B4-BE49-F238E27FC236}">
                <a16:creationId xmlns:a16="http://schemas.microsoft.com/office/drawing/2014/main" id="{428175C8-5E28-99C7-BA96-4890EDC9806A}"/>
              </a:ext>
            </a:extLst>
          </p:cNvPr>
          <p:cNvSpPr txBox="1">
            <a:spLocks noChangeArrowheads="1"/>
          </p:cNvSpPr>
          <p:nvPr/>
        </p:nvSpPr>
        <p:spPr bwMode="auto">
          <a:xfrm>
            <a:off x="4450468" y="2721297"/>
            <a:ext cx="3290256"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Implementation of GIS by DHBVN</a:t>
            </a:r>
            <a:endParaRPr lang="id-ID" sz="1100" b="1" i="1" dirty="0">
              <a:latin typeface="+mn-lt"/>
              <a:ea typeface="Lato Black" pitchFamily="34" charset="0"/>
              <a:cs typeface="Lato Black" pitchFamily="34" charset="0"/>
            </a:endParaRPr>
          </a:p>
        </p:txBody>
      </p:sp>
      <p:grpSp>
        <p:nvGrpSpPr>
          <p:cNvPr id="20" name="Group 19">
            <a:extLst>
              <a:ext uri="{FF2B5EF4-FFF2-40B4-BE49-F238E27FC236}">
                <a16:creationId xmlns:a16="http://schemas.microsoft.com/office/drawing/2014/main" id="{8EAFE7F3-9AE7-C2E9-BB85-816AEE142B34}"/>
              </a:ext>
            </a:extLst>
          </p:cNvPr>
          <p:cNvGrpSpPr/>
          <p:nvPr/>
        </p:nvGrpSpPr>
        <p:grpSpPr>
          <a:xfrm>
            <a:off x="349474" y="3104449"/>
            <a:ext cx="11450176" cy="3016003"/>
            <a:chOff x="1195030" y="2004897"/>
            <a:chExt cx="9536471" cy="3510079"/>
          </a:xfrm>
        </p:grpSpPr>
        <p:sp>
          <p:nvSpPr>
            <p:cNvPr id="21" name="Freeform 11">
              <a:extLst>
                <a:ext uri="{FF2B5EF4-FFF2-40B4-BE49-F238E27FC236}">
                  <a16:creationId xmlns:a16="http://schemas.microsoft.com/office/drawing/2014/main" id="{48C00D59-4336-88D5-E399-AC94A6B5E007}"/>
                </a:ext>
              </a:extLst>
            </p:cNvPr>
            <p:cNvSpPr>
              <a:spLocks/>
            </p:cNvSpPr>
            <p:nvPr/>
          </p:nvSpPr>
          <p:spPr bwMode="auto">
            <a:xfrm>
              <a:off x="1489076" y="2514601"/>
              <a:ext cx="9242425" cy="3000375"/>
            </a:xfrm>
            <a:custGeom>
              <a:avLst/>
              <a:gdLst>
                <a:gd name="T0" fmla="*/ 3230 w 7810"/>
                <a:gd name="T1" fmla="*/ 1944 h 2536"/>
                <a:gd name="T2" fmla="*/ 3231 w 7810"/>
                <a:gd name="T3" fmla="*/ 1896 h 2536"/>
                <a:gd name="T4" fmla="*/ 2939 w 7810"/>
                <a:gd name="T5" fmla="*/ 1027 h 2536"/>
                <a:gd name="T6" fmla="*/ 2647 w 7810"/>
                <a:gd name="T7" fmla="*/ 1367 h 2536"/>
                <a:gd name="T8" fmla="*/ 2055 w 7810"/>
                <a:gd name="T9" fmla="*/ 1910 h 2536"/>
                <a:gd name="T10" fmla="*/ 1466 w 7810"/>
                <a:gd name="T11" fmla="*/ 1371 h 2536"/>
                <a:gd name="T12" fmla="*/ 1463 w 7810"/>
                <a:gd name="T13" fmla="*/ 593 h 2536"/>
                <a:gd name="T14" fmla="*/ 1458 w 7810"/>
                <a:gd name="T15" fmla="*/ 537 h 2536"/>
                <a:gd name="T16" fmla="*/ 1124 w 7810"/>
                <a:gd name="T17" fmla="*/ 300 h 2536"/>
                <a:gd name="T18" fmla="*/ 0 w 7810"/>
                <a:gd name="T19" fmla="*/ 300 h 2536"/>
                <a:gd name="T20" fmla="*/ 1224 w 7810"/>
                <a:gd name="T21" fmla="*/ 0 h 2536"/>
                <a:gd name="T22" fmla="*/ 1591 w 7810"/>
                <a:gd name="T23" fmla="*/ 175 h 2536"/>
                <a:gd name="T24" fmla="*/ 1763 w 7810"/>
                <a:gd name="T25" fmla="*/ 640 h 2536"/>
                <a:gd name="T26" fmla="*/ 1763 w 7810"/>
                <a:gd name="T27" fmla="*/ 1271 h 2536"/>
                <a:gd name="T28" fmla="*/ 1764 w 7810"/>
                <a:gd name="T29" fmla="*/ 1319 h 2536"/>
                <a:gd name="T30" fmla="*/ 2347 w 7810"/>
                <a:gd name="T31" fmla="*/ 1319 h 2536"/>
                <a:gd name="T32" fmla="*/ 2349 w 7810"/>
                <a:gd name="T33" fmla="*/ 1271 h 2536"/>
                <a:gd name="T34" fmla="*/ 3530 w 7810"/>
                <a:gd name="T35" fmla="*/ 1319 h 2536"/>
                <a:gd name="T36" fmla="*/ 3530 w 7810"/>
                <a:gd name="T37" fmla="*/ 1367 h 2536"/>
                <a:gd name="T38" fmla="*/ 3530 w 7810"/>
                <a:gd name="T39" fmla="*/ 1944 h 2536"/>
                <a:gd name="T40" fmla="*/ 4114 w 7810"/>
                <a:gd name="T41" fmla="*/ 1944 h 2536"/>
                <a:gd name="T42" fmla="*/ 4114 w 7810"/>
                <a:gd name="T43" fmla="*/ 1896 h 2536"/>
                <a:gd name="T44" fmla="*/ 4114 w 7810"/>
                <a:gd name="T45" fmla="*/ 1319 h 2536"/>
                <a:gd name="T46" fmla="*/ 5295 w 7810"/>
                <a:gd name="T47" fmla="*/ 1271 h 2536"/>
                <a:gd name="T48" fmla="*/ 5297 w 7810"/>
                <a:gd name="T49" fmla="*/ 1319 h 2536"/>
                <a:gd name="T50" fmla="*/ 5880 w 7810"/>
                <a:gd name="T51" fmla="*/ 1319 h 2536"/>
                <a:gd name="T52" fmla="*/ 5881 w 7810"/>
                <a:gd name="T53" fmla="*/ 1271 h 2536"/>
                <a:gd name="T54" fmla="*/ 5879 w 7810"/>
                <a:gd name="T55" fmla="*/ 823 h 2536"/>
                <a:gd name="T56" fmla="*/ 5879 w 7810"/>
                <a:gd name="T57" fmla="*/ 632 h 2536"/>
                <a:gd name="T58" fmla="*/ 6419 w 7810"/>
                <a:gd name="T59" fmla="*/ 43 h 2536"/>
                <a:gd name="T60" fmla="*/ 7780 w 7810"/>
                <a:gd name="T61" fmla="*/ 40 h 2536"/>
                <a:gd name="T62" fmla="*/ 6519 w 7810"/>
                <a:gd name="T63" fmla="*/ 340 h 2536"/>
                <a:gd name="T64" fmla="*/ 6471 w 7810"/>
                <a:gd name="T65" fmla="*/ 340 h 2536"/>
                <a:gd name="T66" fmla="*/ 6184 w 7810"/>
                <a:gd name="T67" fmla="*/ 577 h 2536"/>
                <a:gd name="T68" fmla="*/ 6180 w 7810"/>
                <a:gd name="T69" fmla="*/ 1371 h 2536"/>
                <a:gd name="T70" fmla="*/ 6005 w 7810"/>
                <a:gd name="T71" fmla="*/ 1738 h 2536"/>
                <a:gd name="T72" fmla="*/ 4999 w 7810"/>
                <a:gd name="T73" fmla="*/ 1367 h 2536"/>
                <a:gd name="T74" fmla="*/ 4997 w 7810"/>
                <a:gd name="T75" fmla="*/ 1319 h 2536"/>
                <a:gd name="T76" fmla="*/ 4413 w 7810"/>
                <a:gd name="T77" fmla="*/ 1319 h 2536"/>
                <a:gd name="T78" fmla="*/ 4414 w 7810"/>
                <a:gd name="T79" fmla="*/ 1944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10" h="2536">
                  <a:moveTo>
                    <a:pt x="3822" y="2536"/>
                  </a:moveTo>
                  <a:cubicBezTo>
                    <a:pt x="3496" y="2536"/>
                    <a:pt x="3230" y="2271"/>
                    <a:pt x="3230" y="1944"/>
                  </a:cubicBezTo>
                  <a:cubicBezTo>
                    <a:pt x="3230" y="1896"/>
                    <a:pt x="3230" y="1896"/>
                    <a:pt x="3230" y="1896"/>
                  </a:cubicBezTo>
                  <a:cubicBezTo>
                    <a:pt x="3231" y="1896"/>
                    <a:pt x="3231" y="1896"/>
                    <a:pt x="3231" y="1896"/>
                  </a:cubicBezTo>
                  <a:cubicBezTo>
                    <a:pt x="3231" y="1319"/>
                    <a:pt x="3231" y="1319"/>
                    <a:pt x="3231" y="1319"/>
                  </a:cubicBezTo>
                  <a:cubicBezTo>
                    <a:pt x="3231" y="1158"/>
                    <a:pt x="3100" y="1027"/>
                    <a:pt x="2939" y="1027"/>
                  </a:cubicBezTo>
                  <a:cubicBezTo>
                    <a:pt x="2778" y="1027"/>
                    <a:pt x="2647" y="1158"/>
                    <a:pt x="2647" y="1319"/>
                  </a:cubicBezTo>
                  <a:cubicBezTo>
                    <a:pt x="2647" y="1367"/>
                    <a:pt x="2647" y="1367"/>
                    <a:pt x="2647" y="1367"/>
                  </a:cubicBezTo>
                  <a:cubicBezTo>
                    <a:pt x="2645" y="1367"/>
                    <a:pt x="2645" y="1367"/>
                    <a:pt x="2645" y="1367"/>
                  </a:cubicBezTo>
                  <a:cubicBezTo>
                    <a:pt x="2620" y="1670"/>
                    <a:pt x="2365" y="1910"/>
                    <a:pt x="2055" y="1910"/>
                  </a:cubicBezTo>
                  <a:cubicBezTo>
                    <a:pt x="1898" y="1910"/>
                    <a:pt x="1750" y="1849"/>
                    <a:pt x="1638" y="1738"/>
                  </a:cubicBezTo>
                  <a:cubicBezTo>
                    <a:pt x="1538" y="1639"/>
                    <a:pt x="1478" y="1510"/>
                    <a:pt x="1466" y="1371"/>
                  </a:cubicBezTo>
                  <a:cubicBezTo>
                    <a:pt x="1463" y="1371"/>
                    <a:pt x="1463" y="1371"/>
                    <a:pt x="1463" y="1371"/>
                  </a:cubicBezTo>
                  <a:cubicBezTo>
                    <a:pt x="1463" y="593"/>
                    <a:pt x="1463" y="593"/>
                    <a:pt x="1463" y="593"/>
                  </a:cubicBezTo>
                  <a:cubicBezTo>
                    <a:pt x="1458" y="537"/>
                    <a:pt x="1458" y="537"/>
                    <a:pt x="1458" y="537"/>
                  </a:cubicBezTo>
                  <a:cubicBezTo>
                    <a:pt x="1458" y="537"/>
                    <a:pt x="1458" y="537"/>
                    <a:pt x="1458" y="537"/>
                  </a:cubicBezTo>
                  <a:cubicBezTo>
                    <a:pt x="1432" y="403"/>
                    <a:pt x="1313" y="300"/>
                    <a:pt x="1172" y="300"/>
                  </a:cubicBezTo>
                  <a:cubicBezTo>
                    <a:pt x="1124" y="300"/>
                    <a:pt x="1124" y="300"/>
                    <a:pt x="1124" y="300"/>
                  </a:cubicBezTo>
                  <a:cubicBezTo>
                    <a:pt x="1124" y="300"/>
                    <a:pt x="1124" y="300"/>
                    <a:pt x="1124" y="300"/>
                  </a:cubicBezTo>
                  <a:cubicBezTo>
                    <a:pt x="0" y="300"/>
                    <a:pt x="0" y="300"/>
                    <a:pt x="0" y="300"/>
                  </a:cubicBezTo>
                  <a:cubicBezTo>
                    <a:pt x="0" y="0"/>
                    <a:pt x="0" y="0"/>
                    <a:pt x="0" y="0"/>
                  </a:cubicBezTo>
                  <a:cubicBezTo>
                    <a:pt x="1224" y="0"/>
                    <a:pt x="1224" y="0"/>
                    <a:pt x="1224" y="0"/>
                  </a:cubicBezTo>
                  <a:cubicBezTo>
                    <a:pt x="1224" y="3"/>
                    <a:pt x="1224" y="3"/>
                    <a:pt x="1224" y="3"/>
                  </a:cubicBezTo>
                  <a:cubicBezTo>
                    <a:pt x="1363" y="15"/>
                    <a:pt x="1492" y="75"/>
                    <a:pt x="1591" y="175"/>
                  </a:cubicBezTo>
                  <a:cubicBezTo>
                    <a:pt x="1702" y="287"/>
                    <a:pt x="1763" y="435"/>
                    <a:pt x="1763" y="592"/>
                  </a:cubicBezTo>
                  <a:cubicBezTo>
                    <a:pt x="1763" y="640"/>
                    <a:pt x="1763" y="640"/>
                    <a:pt x="1763" y="640"/>
                  </a:cubicBezTo>
                  <a:cubicBezTo>
                    <a:pt x="1763" y="640"/>
                    <a:pt x="1763" y="640"/>
                    <a:pt x="1763" y="640"/>
                  </a:cubicBezTo>
                  <a:cubicBezTo>
                    <a:pt x="1763" y="1271"/>
                    <a:pt x="1763" y="1271"/>
                    <a:pt x="1763" y="1271"/>
                  </a:cubicBezTo>
                  <a:cubicBezTo>
                    <a:pt x="1764" y="1271"/>
                    <a:pt x="1764" y="1271"/>
                    <a:pt x="1764" y="1271"/>
                  </a:cubicBezTo>
                  <a:cubicBezTo>
                    <a:pt x="1764" y="1319"/>
                    <a:pt x="1764" y="1319"/>
                    <a:pt x="1764" y="1319"/>
                  </a:cubicBezTo>
                  <a:cubicBezTo>
                    <a:pt x="1764" y="1479"/>
                    <a:pt x="1894" y="1610"/>
                    <a:pt x="2055" y="1610"/>
                  </a:cubicBezTo>
                  <a:cubicBezTo>
                    <a:pt x="2216" y="1610"/>
                    <a:pt x="2347" y="1479"/>
                    <a:pt x="2347" y="1319"/>
                  </a:cubicBezTo>
                  <a:cubicBezTo>
                    <a:pt x="2347" y="1271"/>
                    <a:pt x="2347" y="1271"/>
                    <a:pt x="2347" y="1271"/>
                  </a:cubicBezTo>
                  <a:cubicBezTo>
                    <a:pt x="2349" y="1271"/>
                    <a:pt x="2349" y="1271"/>
                    <a:pt x="2349" y="1271"/>
                  </a:cubicBezTo>
                  <a:cubicBezTo>
                    <a:pt x="2374" y="967"/>
                    <a:pt x="2629" y="727"/>
                    <a:pt x="2939" y="727"/>
                  </a:cubicBezTo>
                  <a:cubicBezTo>
                    <a:pt x="3265" y="727"/>
                    <a:pt x="3530" y="992"/>
                    <a:pt x="3530" y="1319"/>
                  </a:cubicBezTo>
                  <a:cubicBezTo>
                    <a:pt x="3530" y="1367"/>
                    <a:pt x="3530" y="1367"/>
                    <a:pt x="3530" y="1367"/>
                  </a:cubicBezTo>
                  <a:cubicBezTo>
                    <a:pt x="3530" y="1367"/>
                    <a:pt x="3530" y="1367"/>
                    <a:pt x="3530" y="1367"/>
                  </a:cubicBezTo>
                  <a:cubicBezTo>
                    <a:pt x="3530" y="1896"/>
                    <a:pt x="3530" y="1896"/>
                    <a:pt x="3530" y="1896"/>
                  </a:cubicBezTo>
                  <a:cubicBezTo>
                    <a:pt x="3530" y="1944"/>
                    <a:pt x="3530" y="1944"/>
                    <a:pt x="3530" y="1944"/>
                  </a:cubicBezTo>
                  <a:cubicBezTo>
                    <a:pt x="3530" y="2105"/>
                    <a:pt x="3661" y="2236"/>
                    <a:pt x="3822" y="2236"/>
                  </a:cubicBezTo>
                  <a:cubicBezTo>
                    <a:pt x="3983" y="2236"/>
                    <a:pt x="4114" y="2105"/>
                    <a:pt x="4114" y="1944"/>
                  </a:cubicBezTo>
                  <a:cubicBezTo>
                    <a:pt x="4114" y="1896"/>
                    <a:pt x="4114" y="1896"/>
                    <a:pt x="4114" y="1896"/>
                  </a:cubicBezTo>
                  <a:cubicBezTo>
                    <a:pt x="4114" y="1896"/>
                    <a:pt x="4114" y="1896"/>
                    <a:pt x="4114" y="1896"/>
                  </a:cubicBezTo>
                  <a:cubicBezTo>
                    <a:pt x="4114" y="1367"/>
                    <a:pt x="4114" y="1367"/>
                    <a:pt x="4114" y="1367"/>
                  </a:cubicBezTo>
                  <a:cubicBezTo>
                    <a:pt x="4114" y="1319"/>
                    <a:pt x="4114" y="1319"/>
                    <a:pt x="4114" y="1319"/>
                  </a:cubicBezTo>
                  <a:cubicBezTo>
                    <a:pt x="4114" y="992"/>
                    <a:pt x="4379" y="727"/>
                    <a:pt x="4705" y="727"/>
                  </a:cubicBezTo>
                  <a:cubicBezTo>
                    <a:pt x="5015" y="727"/>
                    <a:pt x="5270" y="967"/>
                    <a:pt x="5295" y="1271"/>
                  </a:cubicBezTo>
                  <a:cubicBezTo>
                    <a:pt x="5297" y="1271"/>
                    <a:pt x="5297" y="1271"/>
                    <a:pt x="5297" y="1271"/>
                  </a:cubicBezTo>
                  <a:cubicBezTo>
                    <a:pt x="5297" y="1319"/>
                    <a:pt x="5297" y="1319"/>
                    <a:pt x="5297" y="1319"/>
                  </a:cubicBezTo>
                  <a:cubicBezTo>
                    <a:pt x="5297" y="1479"/>
                    <a:pt x="5428" y="1610"/>
                    <a:pt x="5589" y="1610"/>
                  </a:cubicBezTo>
                  <a:cubicBezTo>
                    <a:pt x="5749" y="1610"/>
                    <a:pt x="5880" y="1479"/>
                    <a:pt x="5880" y="1319"/>
                  </a:cubicBezTo>
                  <a:cubicBezTo>
                    <a:pt x="5880" y="1271"/>
                    <a:pt x="5880" y="1271"/>
                    <a:pt x="5880" y="1271"/>
                  </a:cubicBezTo>
                  <a:cubicBezTo>
                    <a:pt x="5881" y="1271"/>
                    <a:pt x="5881" y="1271"/>
                    <a:pt x="5881" y="1271"/>
                  </a:cubicBezTo>
                  <a:cubicBezTo>
                    <a:pt x="5881" y="823"/>
                    <a:pt x="5881" y="823"/>
                    <a:pt x="5881" y="823"/>
                  </a:cubicBezTo>
                  <a:cubicBezTo>
                    <a:pt x="5879" y="823"/>
                    <a:pt x="5879" y="823"/>
                    <a:pt x="5879" y="823"/>
                  </a:cubicBezTo>
                  <a:cubicBezTo>
                    <a:pt x="5879" y="680"/>
                    <a:pt x="5879" y="680"/>
                    <a:pt x="5879" y="680"/>
                  </a:cubicBezTo>
                  <a:cubicBezTo>
                    <a:pt x="5879" y="632"/>
                    <a:pt x="5879" y="632"/>
                    <a:pt x="5879" y="632"/>
                  </a:cubicBezTo>
                  <a:cubicBezTo>
                    <a:pt x="5879" y="475"/>
                    <a:pt x="5940" y="327"/>
                    <a:pt x="6051" y="215"/>
                  </a:cubicBezTo>
                  <a:cubicBezTo>
                    <a:pt x="6150" y="115"/>
                    <a:pt x="6279" y="55"/>
                    <a:pt x="6419" y="43"/>
                  </a:cubicBezTo>
                  <a:cubicBezTo>
                    <a:pt x="6419" y="40"/>
                    <a:pt x="6419" y="40"/>
                    <a:pt x="6419" y="40"/>
                  </a:cubicBezTo>
                  <a:cubicBezTo>
                    <a:pt x="7780" y="40"/>
                    <a:pt x="7780" y="40"/>
                    <a:pt x="7780" y="40"/>
                  </a:cubicBezTo>
                  <a:cubicBezTo>
                    <a:pt x="7810" y="340"/>
                    <a:pt x="7810" y="340"/>
                    <a:pt x="7810" y="340"/>
                  </a:cubicBezTo>
                  <a:cubicBezTo>
                    <a:pt x="6519" y="340"/>
                    <a:pt x="6519" y="340"/>
                    <a:pt x="6519" y="340"/>
                  </a:cubicBezTo>
                  <a:cubicBezTo>
                    <a:pt x="6519" y="340"/>
                    <a:pt x="6519" y="340"/>
                    <a:pt x="6519" y="340"/>
                  </a:cubicBezTo>
                  <a:cubicBezTo>
                    <a:pt x="6471" y="340"/>
                    <a:pt x="6471" y="340"/>
                    <a:pt x="6471" y="340"/>
                  </a:cubicBezTo>
                  <a:cubicBezTo>
                    <a:pt x="6330" y="340"/>
                    <a:pt x="6210" y="443"/>
                    <a:pt x="6184" y="577"/>
                  </a:cubicBezTo>
                  <a:cubicBezTo>
                    <a:pt x="6184" y="577"/>
                    <a:pt x="6184" y="577"/>
                    <a:pt x="6184" y="577"/>
                  </a:cubicBezTo>
                  <a:cubicBezTo>
                    <a:pt x="6180" y="616"/>
                    <a:pt x="6180" y="616"/>
                    <a:pt x="6180" y="616"/>
                  </a:cubicBezTo>
                  <a:cubicBezTo>
                    <a:pt x="6180" y="1371"/>
                    <a:pt x="6180" y="1371"/>
                    <a:pt x="6180" y="1371"/>
                  </a:cubicBezTo>
                  <a:cubicBezTo>
                    <a:pt x="6178" y="1371"/>
                    <a:pt x="6178" y="1371"/>
                    <a:pt x="6178" y="1371"/>
                  </a:cubicBezTo>
                  <a:cubicBezTo>
                    <a:pt x="6166" y="1510"/>
                    <a:pt x="6106" y="1639"/>
                    <a:pt x="6005" y="1738"/>
                  </a:cubicBezTo>
                  <a:cubicBezTo>
                    <a:pt x="5894" y="1849"/>
                    <a:pt x="5746" y="1910"/>
                    <a:pt x="5589" y="1910"/>
                  </a:cubicBezTo>
                  <a:cubicBezTo>
                    <a:pt x="5279" y="1910"/>
                    <a:pt x="5023" y="1670"/>
                    <a:pt x="4999" y="1367"/>
                  </a:cubicBezTo>
                  <a:cubicBezTo>
                    <a:pt x="4997" y="1367"/>
                    <a:pt x="4997" y="1367"/>
                    <a:pt x="4997" y="1367"/>
                  </a:cubicBezTo>
                  <a:cubicBezTo>
                    <a:pt x="4997" y="1319"/>
                    <a:pt x="4997" y="1319"/>
                    <a:pt x="4997" y="1319"/>
                  </a:cubicBezTo>
                  <a:cubicBezTo>
                    <a:pt x="4997" y="1158"/>
                    <a:pt x="4866" y="1027"/>
                    <a:pt x="4705" y="1027"/>
                  </a:cubicBezTo>
                  <a:cubicBezTo>
                    <a:pt x="4544" y="1027"/>
                    <a:pt x="4413" y="1158"/>
                    <a:pt x="4413" y="1319"/>
                  </a:cubicBezTo>
                  <a:cubicBezTo>
                    <a:pt x="4413" y="1896"/>
                    <a:pt x="4413" y="1896"/>
                    <a:pt x="4413" y="1896"/>
                  </a:cubicBezTo>
                  <a:cubicBezTo>
                    <a:pt x="4414" y="1944"/>
                    <a:pt x="4414" y="1944"/>
                    <a:pt x="4414" y="1944"/>
                  </a:cubicBezTo>
                  <a:cubicBezTo>
                    <a:pt x="4414" y="2271"/>
                    <a:pt x="4148" y="2536"/>
                    <a:pt x="3822" y="2536"/>
                  </a:cubicBezTo>
                  <a:close/>
                </a:path>
              </a:pathLst>
            </a:custGeom>
            <a:solidFill>
              <a:srgbClr val="5D5E5E"/>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a:p>
          </p:txBody>
        </p:sp>
        <p:grpSp>
          <p:nvGrpSpPr>
            <p:cNvPr id="22" name="Group 21">
              <a:extLst>
                <a:ext uri="{FF2B5EF4-FFF2-40B4-BE49-F238E27FC236}">
                  <a16:creationId xmlns:a16="http://schemas.microsoft.com/office/drawing/2014/main" id="{474C4DB9-5D92-3FCB-5CFC-0A1928BBB168}"/>
                </a:ext>
              </a:extLst>
            </p:cNvPr>
            <p:cNvGrpSpPr>
              <a:grpSpLocks/>
            </p:cNvGrpSpPr>
            <p:nvPr/>
          </p:nvGrpSpPr>
          <p:grpSpPr bwMode="auto">
            <a:xfrm>
              <a:off x="1546226" y="2560639"/>
              <a:ext cx="9121775" cy="2909887"/>
              <a:chOff x="28575" y="2270125"/>
              <a:chExt cx="12163425" cy="3879850"/>
            </a:xfrm>
          </p:grpSpPr>
          <p:sp>
            <p:nvSpPr>
              <p:cNvPr id="33" name="Freeform 12">
                <a:extLst>
                  <a:ext uri="{FF2B5EF4-FFF2-40B4-BE49-F238E27FC236}">
                    <a16:creationId xmlns:a16="http://schemas.microsoft.com/office/drawing/2014/main" id="{78C3AAEF-3B26-9F9D-D9B5-C4B81927E0F7}"/>
                  </a:ext>
                </a:extLst>
              </p:cNvPr>
              <p:cNvSpPr>
                <a:spLocks/>
              </p:cNvSpPr>
              <p:nvPr/>
            </p:nvSpPr>
            <p:spPr bwMode="auto">
              <a:xfrm>
                <a:off x="28575" y="2591858"/>
                <a:ext cx="12163425" cy="3558117"/>
              </a:xfrm>
              <a:custGeom>
                <a:avLst/>
                <a:gdLst>
                  <a:gd name="T0" fmla="*/ 3220 w 7709"/>
                  <a:gd name="T1" fmla="*/ 1702 h 2256"/>
                  <a:gd name="T2" fmla="*/ 3221 w 7709"/>
                  <a:gd name="T3" fmla="*/ 1692 h 2256"/>
                  <a:gd name="T4" fmla="*/ 2891 w 7709"/>
                  <a:gd name="T5" fmla="*/ 747 h 2256"/>
                  <a:gd name="T6" fmla="*/ 2561 w 7709"/>
                  <a:gd name="T7" fmla="*/ 1087 h 2256"/>
                  <a:gd name="T8" fmla="*/ 2007 w 7709"/>
                  <a:gd name="T9" fmla="*/ 1630 h 2256"/>
                  <a:gd name="T10" fmla="*/ 1454 w 7709"/>
                  <a:gd name="T11" fmla="*/ 1091 h 2256"/>
                  <a:gd name="T12" fmla="*/ 1453 w 7709"/>
                  <a:gd name="T13" fmla="*/ 350 h 2256"/>
                  <a:gd name="T14" fmla="*/ 1453 w 7709"/>
                  <a:gd name="T15" fmla="*/ 333 h 2256"/>
                  <a:gd name="T16" fmla="*/ 1114 w 7709"/>
                  <a:gd name="T17" fmla="*/ 20 h 2256"/>
                  <a:gd name="T18" fmla="*/ 0 w 7709"/>
                  <a:gd name="T19" fmla="*/ 20 h 2256"/>
                  <a:gd name="T20" fmla="*/ 1134 w 7709"/>
                  <a:gd name="T21" fmla="*/ 0 h 2256"/>
                  <a:gd name="T22" fmla="*/ 1369 w 7709"/>
                  <a:gd name="T23" fmla="*/ 101 h 2256"/>
                  <a:gd name="T24" fmla="*/ 1473 w 7709"/>
                  <a:gd name="T25" fmla="*/ 353 h 2256"/>
                  <a:gd name="T26" fmla="*/ 1473 w 7709"/>
                  <a:gd name="T27" fmla="*/ 1071 h 2256"/>
                  <a:gd name="T28" fmla="*/ 1474 w 7709"/>
                  <a:gd name="T29" fmla="*/ 1081 h 2256"/>
                  <a:gd name="T30" fmla="*/ 2541 w 7709"/>
                  <a:gd name="T31" fmla="*/ 1077 h 2256"/>
                  <a:gd name="T32" fmla="*/ 2541 w 7709"/>
                  <a:gd name="T33" fmla="*/ 1067 h 2256"/>
                  <a:gd name="T34" fmla="*/ 3241 w 7709"/>
                  <a:gd name="T35" fmla="*/ 1077 h 2256"/>
                  <a:gd name="T36" fmla="*/ 3240 w 7709"/>
                  <a:gd name="T37" fmla="*/ 1712 h 2256"/>
                  <a:gd name="T38" fmla="*/ 4308 w 7709"/>
                  <a:gd name="T39" fmla="*/ 1710 h 2256"/>
                  <a:gd name="T40" fmla="*/ 4307 w 7709"/>
                  <a:gd name="T41" fmla="*/ 1077 h 2256"/>
                  <a:gd name="T42" fmla="*/ 5007 w 7709"/>
                  <a:gd name="T43" fmla="*/ 1067 h 2256"/>
                  <a:gd name="T44" fmla="*/ 5007 w 7709"/>
                  <a:gd name="T45" fmla="*/ 1077 h 2256"/>
                  <a:gd name="T46" fmla="*/ 6074 w 7709"/>
                  <a:gd name="T47" fmla="*/ 1081 h 2256"/>
                  <a:gd name="T48" fmla="*/ 6074 w 7709"/>
                  <a:gd name="T49" fmla="*/ 1071 h 2256"/>
                  <a:gd name="T50" fmla="*/ 6073 w 7709"/>
                  <a:gd name="T51" fmla="*/ 405 h 2256"/>
                  <a:gd name="T52" fmla="*/ 6178 w 7709"/>
                  <a:gd name="T53" fmla="*/ 141 h 2256"/>
                  <a:gd name="T54" fmla="*/ 6413 w 7709"/>
                  <a:gd name="T55" fmla="*/ 40 h 2256"/>
                  <a:gd name="T56" fmla="*/ 7709 w 7709"/>
                  <a:gd name="T57" fmla="*/ 60 h 2256"/>
                  <a:gd name="T58" fmla="*/ 6433 w 7709"/>
                  <a:gd name="T59" fmla="*/ 60 h 2256"/>
                  <a:gd name="T60" fmla="*/ 6093 w 7709"/>
                  <a:gd name="T61" fmla="*/ 373 h 2256"/>
                  <a:gd name="T62" fmla="*/ 6093 w 7709"/>
                  <a:gd name="T63" fmla="*/ 385 h 2256"/>
                  <a:gd name="T64" fmla="*/ 6094 w 7709"/>
                  <a:gd name="T65" fmla="*/ 1091 h 2256"/>
                  <a:gd name="T66" fmla="*/ 5931 w 7709"/>
                  <a:gd name="T67" fmla="*/ 1469 h 2256"/>
                  <a:gd name="T68" fmla="*/ 4987 w 7709"/>
                  <a:gd name="T69" fmla="*/ 1087 h 2256"/>
                  <a:gd name="T70" fmla="*/ 4987 w 7709"/>
                  <a:gd name="T71" fmla="*/ 1077 h 2256"/>
                  <a:gd name="T72" fmla="*/ 4327 w 7709"/>
                  <a:gd name="T73" fmla="*/ 1077 h 2256"/>
                  <a:gd name="T74" fmla="*/ 4328 w 7709"/>
                  <a:gd name="T75" fmla="*/ 1702 h 2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09" h="2256">
                    <a:moveTo>
                      <a:pt x="3774" y="2256"/>
                    </a:moveTo>
                    <a:cubicBezTo>
                      <a:pt x="3469" y="2256"/>
                      <a:pt x="3220" y="2008"/>
                      <a:pt x="3220" y="1702"/>
                    </a:cubicBezTo>
                    <a:cubicBezTo>
                      <a:pt x="3220" y="1692"/>
                      <a:pt x="3220" y="1692"/>
                      <a:pt x="3220" y="1692"/>
                    </a:cubicBezTo>
                    <a:cubicBezTo>
                      <a:pt x="3221" y="1692"/>
                      <a:pt x="3221" y="1692"/>
                      <a:pt x="3221" y="1692"/>
                    </a:cubicBezTo>
                    <a:cubicBezTo>
                      <a:pt x="3221" y="1077"/>
                      <a:pt x="3221" y="1077"/>
                      <a:pt x="3221" y="1077"/>
                    </a:cubicBezTo>
                    <a:cubicBezTo>
                      <a:pt x="3221" y="895"/>
                      <a:pt x="3073" y="747"/>
                      <a:pt x="2891" y="747"/>
                    </a:cubicBezTo>
                    <a:cubicBezTo>
                      <a:pt x="2709" y="747"/>
                      <a:pt x="2561" y="895"/>
                      <a:pt x="2561" y="1077"/>
                    </a:cubicBezTo>
                    <a:cubicBezTo>
                      <a:pt x="2561" y="1087"/>
                      <a:pt x="2561" y="1087"/>
                      <a:pt x="2561" y="1087"/>
                    </a:cubicBezTo>
                    <a:cubicBezTo>
                      <a:pt x="2561" y="1087"/>
                      <a:pt x="2561" y="1087"/>
                      <a:pt x="2561" y="1087"/>
                    </a:cubicBezTo>
                    <a:cubicBezTo>
                      <a:pt x="2555" y="1387"/>
                      <a:pt x="2309" y="1630"/>
                      <a:pt x="2007" y="1630"/>
                    </a:cubicBezTo>
                    <a:cubicBezTo>
                      <a:pt x="1860" y="1630"/>
                      <a:pt x="1722" y="1573"/>
                      <a:pt x="1617" y="1469"/>
                    </a:cubicBezTo>
                    <a:cubicBezTo>
                      <a:pt x="1515" y="1368"/>
                      <a:pt x="1458" y="1234"/>
                      <a:pt x="1454" y="1091"/>
                    </a:cubicBezTo>
                    <a:cubicBezTo>
                      <a:pt x="1453" y="1091"/>
                      <a:pt x="1453" y="1091"/>
                      <a:pt x="1453" y="1091"/>
                    </a:cubicBezTo>
                    <a:cubicBezTo>
                      <a:pt x="1453" y="350"/>
                      <a:pt x="1453" y="350"/>
                      <a:pt x="1453" y="350"/>
                    </a:cubicBezTo>
                    <a:cubicBezTo>
                      <a:pt x="1452" y="333"/>
                      <a:pt x="1452" y="333"/>
                      <a:pt x="1452" y="333"/>
                    </a:cubicBezTo>
                    <a:cubicBezTo>
                      <a:pt x="1453" y="333"/>
                      <a:pt x="1453" y="333"/>
                      <a:pt x="1453" y="333"/>
                    </a:cubicBezTo>
                    <a:cubicBezTo>
                      <a:pt x="1444" y="160"/>
                      <a:pt x="1298" y="20"/>
                      <a:pt x="1124" y="20"/>
                    </a:cubicBezTo>
                    <a:cubicBezTo>
                      <a:pt x="1114" y="20"/>
                      <a:pt x="1114" y="20"/>
                      <a:pt x="1114" y="20"/>
                    </a:cubicBezTo>
                    <a:cubicBezTo>
                      <a:pt x="1114" y="20"/>
                      <a:pt x="1114" y="20"/>
                      <a:pt x="1114" y="20"/>
                    </a:cubicBezTo>
                    <a:cubicBezTo>
                      <a:pt x="0" y="20"/>
                      <a:pt x="0" y="20"/>
                      <a:pt x="0" y="20"/>
                    </a:cubicBezTo>
                    <a:cubicBezTo>
                      <a:pt x="0" y="0"/>
                      <a:pt x="0" y="0"/>
                      <a:pt x="0" y="0"/>
                    </a:cubicBezTo>
                    <a:cubicBezTo>
                      <a:pt x="1134" y="0"/>
                      <a:pt x="1134" y="0"/>
                      <a:pt x="1134" y="0"/>
                    </a:cubicBezTo>
                    <a:cubicBezTo>
                      <a:pt x="1134" y="1"/>
                      <a:pt x="1134" y="1"/>
                      <a:pt x="1134" y="1"/>
                    </a:cubicBezTo>
                    <a:cubicBezTo>
                      <a:pt x="1222" y="3"/>
                      <a:pt x="1305" y="38"/>
                      <a:pt x="1369" y="101"/>
                    </a:cubicBezTo>
                    <a:cubicBezTo>
                      <a:pt x="1434" y="165"/>
                      <a:pt x="1471" y="251"/>
                      <a:pt x="1473" y="343"/>
                    </a:cubicBezTo>
                    <a:cubicBezTo>
                      <a:pt x="1473" y="353"/>
                      <a:pt x="1473" y="353"/>
                      <a:pt x="1473" y="353"/>
                    </a:cubicBezTo>
                    <a:cubicBezTo>
                      <a:pt x="1473" y="353"/>
                      <a:pt x="1473" y="353"/>
                      <a:pt x="1473" y="353"/>
                    </a:cubicBezTo>
                    <a:cubicBezTo>
                      <a:pt x="1473" y="1071"/>
                      <a:pt x="1473" y="1071"/>
                      <a:pt x="1473" y="1071"/>
                    </a:cubicBezTo>
                    <a:cubicBezTo>
                      <a:pt x="1474" y="1071"/>
                      <a:pt x="1474" y="1071"/>
                      <a:pt x="1474" y="1071"/>
                    </a:cubicBezTo>
                    <a:cubicBezTo>
                      <a:pt x="1474" y="1081"/>
                      <a:pt x="1474" y="1081"/>
                      <a:pt x="1474" y="1081"/>
                    </a:cubicBezTo>
                    <a:cubicBezTo>
                      <a:pt x="1476" y="1373"/>
                      <a:pt x="1715" y="1610"/>
                      <a:pt x="2007" y="1610"/>
                    </a:cubicBezTo>
                    <a:cubicBezTo>
                      <a:pt x="2302" y="1610"/>
                      <a:pt x="2541" y="1371"/>
                      <a:pt x="2541" y="1077"/>
                    </a:cubicBezTo>
                    <a:cubicBezTo>
                      <a:pt x="2541" y="1067"/>
                      <a:pt x="2541" y="1067"/>
                      <a:pt x="2541" y="1067"/>
                    </a:cubicBezTo>
                    <a:cubicBezTo>
                      <a:pt x="2541" y="1067"/>
                      <a:pt x="2541" y="1067"/>
                      <a:pt x="2541" y="1067"/>
                    </a:cubicBezTo>
                    <a:cubicBezTo>
                      <a:pt x="2546" y="878"/>
                      <a:pt x="2701" y="727"/>
                      <a:pt x="2891" y="727"/>
                    </a:cubicBezTo>
                    <a:cubicBezTo>
                      <a:pt x="3084" y="727"/>
                      <a:pt x="3241" y="884"/>
                      <a:pt x="3241" y="1077"/>
                    </a:cubicBezTo>
                    <a:cubicBezTo>
                      <a:pt x="3241" y="1712"/>
                      <a:pt x="3241" y="1712"/>
                      <a:pt x="3241" y="1712"/>
                    </a:cubicBezTo>
                    <a:cubicBezTo>
                      <a:pt x="3240" y="1712"/>
                      <a:pt x="3240" y="1712"/>
                      <a:pt x="3240" y="1712"/>
                    </a:cubicBezTo>
                    <a:cubicBezTo>
                      <a:pt x="3246" y="2002"/>
                      <a:pt x="3483" y="2236"/>
                      <a:pt x="3774" y="2236"/>
                    </a:cubicBezTo>
                    <a:cubicBezTo>
                      <a:pt x="4066" y="2236"/>
                      <a:pt x="4303" y="2001"/>
                      <a:pt x="4308" y="1710"/>
                    </a:cubicBezTo>
                    <a:cubicBezTo>
                      <a:pt x="4307" y="1702"/>
                      <a:pt x="4307" y="1702"/>
                      <a:pt x="4307" y="1702"/>
                    </a:cubicBezTo>
                    <a:cubicBezTo>
                      <a:pt x="4307" y="1077"/>
                      <a:pt x="4307" y="1077"/>
                      <a:pt x="4307" y="1077"/>
                    </a:cubicBezTo>
                    <a:cubicBezTo>
                      <a:pt x="4307" y="884"/>
                      <a:pt x="4464" y="727"/>
                      <a:pt x="4657" y="727"/>
                    </a:cubicBezTo>
                    <a:cubicBezTo>
                      <a:pt x="4847" y="727"/>
                      <a:pt x="5001" y="878"/>
                      <a:pt x="5007" y="1067"/>
                    </a:cubicBezTo>
                    <a:cubicBezTo>
                      <a:pt x="5007" y="1067"/>
                      <a:pt x="5007" y="1067"/>
                      <a:pt x="5007" y="1067"/>
                    </a:cubicBezTo>
                    <a:cubicBezTo>
                      <a:pt x="5007" y="1077"/>
                      <a:pt x="5007" y="1077"/>
                      <a:pt x="5007" y="1077"/>
                    </a:cubicBezTo>
                    <a:cubicBezTo>
                      <a:pt x="5007" y="1371"/>
                      <a:pt x="5246" y="1610"/>
                      <a:pt x="5541" y="1610"/>
                    </a:cubicBezTo>
                    <a:cubicBezTo>
                      <a:pt x="5833" y="1610"/>
                      <a:pt x="6072" y="1373"/>
                      <a:pt x="6074" y="1081"/>
                    </a:cubicBezTo>
                    <a:cubicBezTo>
                      <a:pt x="6074" y="1071"/>
                      <a:pt x="6074" y="1071"/>
                      <a:pt x="6074" y="1071"/>
                    </a:cubicBezTo>
                    <a:cubicBezTo>
                      <a:pt x="6074" y="1071"/>
                      <a:pt x="6074" y="1071"/>
                      <a:pt x="6074" y="1071"/>
                    </a:cubicBezTo>
                    <a:cubicBezTo>
                      <a:pt x="6074" y="405"/>
                      <a:pt x="6074" y="405"/>
                      <a:pt x="6074" y="405"/>
                    </a:cubicBezTo>
                    <a:cubicBezTo>
                      <a:pt x="6073" y="405"/>
                      <a:pt x="6073" y="405"/>
                      <a:pt x="6073" y="405"/>
                    </a:cubicBezTo>
                    <a:cubicBezTo>
                      <a:pt x="6073" y="383"/>
                      <a:pt x="6073" y="383"/>
                      <a:pt x="6073" y="383"/>
                    </a:cubicBezTo>
                    <a:cubicBezTo>
                      <a:pt x="6075" y="291"/>
                      <a:pt x="6112" y="205"/>
                      <a:pt x="6178" y="141"/>
                    </a:cubicBezTo>
                    <a:cubicBezTo>
                      <a:pt x="6241" y="78"/>
                      <a:pt x="6324" y="43"/>
                      <a:pt x="6413" y="41"/>
                    </a:cubicBezTo>
                    <a:cubicBezTo>
                      <a:pt x="6413" y="40"/>
                      <a:pt x="6413" y="40"/>
                      <a:pt x="6413" y="40"/>
                    </a:cubicBezTo>
                    <a:cubicBezTo>
                      <a:pt x="7709" y="40"/>
                      <a:pt x="7709" y="40"/>
                      <a:pt x="7709" y="40"/>
                    </a:cubicBezTo>
                    <a:cubicBezTo>
                      <a:pt x="7709" y="60"/>
                      <a:pt x="7709" y="60"/>
                      <a:pt x="7709" y="60"/>
                    </a:cubicBezTo>
                    <a:cubicBezTo>
                      <a:pt x="6433" y="60"/>
                      <a:pt x="6433" y="60"/>
                      <a:pt x="6433" y="60"/>
                    </a:cubicBezTo>
                    <a:cubicBezTo>
                      <a:pt x="6433" y="60"/>
                      <a:pt x="6433" y="60"/>
                      <a:pt x="6433" y="60"/>
                    </a:cubicBezTo>
                    <a:cubicBezTo>
                      <a:pt x="6423" y="60"/>
                      <a:pt x="6423" y="60"/>
                      <a:pt x="6423" y="60"/>
                    </a:cubicBezTo>
                    <a:cubicBezTo>
                      <a:pt x="6248" y="60"/>
                      <a:pt x="6102" y="200"/>
                      <a:pt x="6093" y="373"/>
                    </a:cubicBezTo>
                    <a:cubicBezTo>
                      <a:pt x="6094" y="373"/>
                      <a:pt x="6094" y="373"/>
                      <a:pt x="6094" y="373"/>
                    </a:cubicBezTo>
                    <a:cubicBezTo>
                      <a:pt x="6093" y="385"/>
                      <a:pt x="6093" y="385"/>
                      <a:pt x="6093" y="385"/>
                    </a:cubicBezTo>
                    <a:cubicBezTo>
                      <a:pt x="6094" y="385"/>
                      <a:pt x="6094" y="385"/>
                      <a:pt x="6094" y="385"/>
                    </a:cubicBezTo>
                    <a:cubicBezTo>
                      <a:pt x="6094" y="1091"/>
                      <a:pt x="6094" y="1091"/>
                      <a:pt x="6094" y="1091"/>
                    </a:cubicBezTo>
                    <a:cubicBezTo>
                      <a:pt x="6094" y="1091"/>
                      <a:pt x="6094" y="1091"/>
                      <a:pt x="6094" y="1091"/>
                    </a:cubicBezTo>
                    <a:cubicBezTo>
                      <a:pt x="6090" y="1234"/>
                      <a:pt x="6033" y="1368"/>
                      <a:pt x="5931" y="1469"/>
                    </a:cubicBezTo>
                    <a:cubicBezTo>
                      <a:pt x="5826" y="1573"/>
                      <a:pt x="5688" y="1630"/>
                      <a:pt x="5541" y="1630"/>
                    </a:cubicBezTo>
                    <a:cubicBezTo>
                      <a:pt x="5239" y="1630"/>
                      <a:pt x="4992" y="1387"/>
                      <a:pt x="4987" y="1087"/>
                    </a:cubicBezTo>
                    <a:cubicBezTo>
                      <a:pt x="4987" y="1087"/>
                      <a:pt x="4987" y="1087"/>
                      <a:pt x="4987" y="1087"/>
                    </a:cubicBezTo>
                    <a:cubicBezTo>
                      <a:pt x="4987" y="1077"/>
                      <a:pt x="4987" y="1077"/>
                      <a:pt x="4987" y="1077"/>
                    </a:cubicBezTo>
                    <a:cubicBezTo>
                      <a:pt x="4987" y="895"/>
                      <a:pt x="4839" y="747"/>
                      <a:pt x="4657" y="747"/>
                    </a:cubicBezTo>
                    <a:cubicBezTo>
                      <a:pt x="4475" y="747"/>
                      <a:pt x="4327" y="895"/>
                      <a:pt x="4327" y="1077"/>
                    </a:cubicBezTo>
                    <a:cubicBezTo>
                      <a:pt x="4327" y="1692"/>
                      <a:pt x="4327" y="1692"/>
                      <a:pt x="4327" y="1692"/>
                    </a:cubicBezTo>
                    <a:cubicBezTo>
                      <a:pt x="4328" y="1702"/>
                      <a:pt x="4328" y="1702"/>
                      <a:pt x="4328" y="1702"/>
                    </a:cubicBezTo>
                    <a:cubicBezTo>
                      <a:pt x="4328" y="2008"/>
                      <a:pt x="4079" y="2256"/>
                      <a:pt x="3774" y="22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a:p>
            </p:txBody>
          </p:sp>
          <p:sp>
            <p:nvSpPr>
              <p:cNvPr id="34" name="Freeform 13">
                <a:extLst>
                  <a:ext uri="{FF2B5EF4-FFF2-40B4-BE49-F238E27FC236}">
                    <a16:creationId xmlns:a16="http://schemas.microsoft.com/office/drawing/2014/main" id="{15D618F7-90CD-2B2F-8C7B-A0B873FD1B89}"/>
                  </a:ext>
                </a:extLst>
              </p:cNvPr>
              <p:cNvSpPr>
                <a:spLocks/>
              </p:cNvSpPr>
              <p:nvPr/>
            </p:nvSpPr>
            <p:spPr bwMode="auto">
              <a:xfrm>
                <a:off x="28575" y="2270125"/>
                <a:ext cx="12131673" cy="3560234"/>
              </a:xfrm>
              <a:custGeom>
                <a:avLst/>
                <a:gdLst>
                  <a:gd name="T0" fmla="*/ 3424 w 7689"/>
                  <a:gd name="T1" fmla="*/ 1916 h 2256"/>
                  <a:gd name="T2" fmla="*/ 3424 w 7689"/>
                  <a:gd name="T3" fmla="*/ 1906 h 2256"/>
                  <a:gd name="T4" fmla="*/ 3424 w 7689"/>
                  <a:gd name="T5" fmla="*/ 1271 h 2256"/>
                  <a:gd name="T6" fmla="*/ 2357 w 7689"/>
                  <a:gd name="T7" fmla="*/ 1281 h 2256"/>
                  <a:gd name="T8" fmla="*/ 2357 w 7689"/>
                  <a:gd name="T9" fmla="*/ 1291 h 2256"/>
                  <a:gd name="T10" fmla="*/ 1658 w 7689"/>
                  <a:gd name="T11" fmla="*/ 1291 h 2256"/>
                  <a:gd name="T12" fmla="*/ 1657 w 7689"/>
                  <a:gd name="T13" fmla="*/ 544 h 2256"/>
                  <a:gd name="T14" fmla="*/ 1128 w 7689"/>
                  <a:gd name="T15" fmla="*/ 21 h 2256"/>
                  <a:gd name="T16" fmla="*/ 1118 w 7689"/>
                  <a:gd name="T17" fmla="*/ 20 h 2256"/>
                  <a:gd name="T18" fmla="*/ 0 w 7689"/>
                  <a:gd name="T19" fmla="*/ 0 h 2256"/>
                  <a:gd name="T20" fmla="*/ 1138 w 7689"/>
                  <a:gd name="T21" fmla="*/ 1 h 2256"/>
                  <a:gd name="T22" fmla="*/ 1677 w 7689"/>
                  <a:gd name="T23" fmla="*/ 554 h 2256"/>
                  <a:gd name="T24" fmla="*/ 1677 w 7689"/>
                  <a:gd name="T25" fmla="*/ 564 h 2256"/>
                  <a:gd name="T26" fmla="*/ 1678 w 7689"/>
                  <a:gd name="T27" fmla="*/ 1271 h 2256"/>
                  <a:gd name="T28" fmla="*/ 2007 w 7689"/>
                  <a:gd name="T29" fmla="*/ 1610 h 2256"/>
                  <a:gd name="T30" fmla="*/ 2337 w 7689"/>
                  <a:gd name="T31" fmla="*/ 1271 h 2256"/>
                  <a:gd name="T32" fmla="*/ 2891 w 7689"/>
                  <a:gd name="T33" fmla="*/ 727 h 2256"/>
                  <a:gd name="T34" fmla="*/ 3444 w 7689"/>
                  <a:gd name="T35" fmla="*/ 1291 h 2256"/>
                  <a:gd name="T36" fmla="*/ 3444 w 7689"/>
                  <a:gd name="T37" fmla="*/ 1896 h 2256"/>
                  <a:gd name="T38" fmla="*/ 3774 w 7689"/>
                  <a:gd name="T39" fmla="*/ 2236 h 2256"/>
                  <a:gd name="T40" fmla="*/ 4104 w 7689"/>
                  <a:gd name="T41" fmla="*/ 1291 h 2256"/>
                  <a:gd name="T42" fmla="*/ 4657 w 7689"/>
                  <a:gd name="T43" fmla="*/ 727 h 2256"/>
                  <a:gd name="T44" fmla="*/ 5211 w 7689"/>
                  <a:gd name="T45" fmla="*/ 1271 h 2256"/>
                  <a:gd name="T46" fmla="*/ 5541 w 7689"/>
                  <a:gd name="T47" fmla="*/ 1610 h 2256"/>
                  <a:gd name="T48" fmla="*/ 5870 w 7689"/>
                  <a:gd name="T49" fmla="*/ 1271 h 2256"/>
                  <a:gd name="T50" fmla="*/ 5871 w 7689"/>
                  <a:gd name="T51" fmla="*/ 747 h 2256"/>
                  <a:gd name="T52" fmla="*/ 5869 w 7689"/>
                  <a:gd name="T53" fmla="*/ 604 h 2256"/>
                  <a:gd name="T54" fmla="*/ 6030 w 7689"/>
                  <a:gd name="T55" fmla="*/ 204 h 2256"/>
                  <a:gd name="T56" fmla="*/ 6409 w 7689"/>
                  <a:gd name="T57" fmla="*/ 40 h 2256"/>
                  <a:gd name="T58" fmla="*/ 7689 w 7689"/>
                  <a:gd name="T59" fmla="*/ 60 h 2256"/>
                  <a:gd name="T60" fmla="*/ 6429 w 7689"/>
                  <a:gd name="T61" fmla="*/ 61 h 2256"/>
                  <a:gd name="T62" fmla="*/ 5889 w 7689"/>
                  <a:gd name="T63" fmla="*/ 586 h 2256"/>
                  <a:gd name="T64" fmla="*/ 5889 w 7689"/>
                  <a:gd name="T65" fmla="*/ 727 h 2256"/>
                  <a:gd name="T66" fmla="*/ 5891 w 7689"/>
                  <a:gd name="T67" fmla="*/ 1291 h 2256"/>
                  <a:gd name="T68" fmla="*/ 5541 w 7689"/>
                  <a:gd name="T69" fmla="*/ 1630 h 2256"/>
                  <a:gd name="T70" fmla="*/ 5191 w 7689"/>
                  <a:gd name="T71" fmla="*/ 1291 h 2256"/>
                  <a:gd name="T72" fmla="*/ 4657 w 7689"/>
                  <a:gd name="T73" fmla="*/ 747 h 2256"/>
                  <a:gd name="T74" fmla="*/ 4124 w 7689"/>
                  <a:gd name="T75" fmla="*/ 1281 h 2256"/>
                  <a:gd name="T76" fmla="*/ 4124 w 7689"/>
                  <a:gd name="T77" fmla="*/ 1916 h 2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689" h="2256">
                    <a:moveTo>
                      <a:pt x="3774" y="2256"/>
                    </a:moveTo>
                    <a:cubicBezTo>
                      <a:pt x="3584" y="2256"/>
                      <a:pt x="3430" y="2105"/>
                      <a:pt x="3424" y="1916"/>
                    </a:cubicBezTo>
                    <a:cubicBezTo>
                      <a:pt x="3424" y="1916"/>
                      <a:pt x="3424" y="1916"/>
                      <a:pt x="3424" y="1916"/>
                    </a:cubicBezTo>
                    <a:cubicBezTo>
                      <a:pt x="3424" y="1906"/>
                      <a:pt x="3424" y="1906"/>
                      <a:pt x="3424" y="1906"/>
                    </a:cubicBezTo>
                    <a:cubicBezTo>
                      <a:pt x="3424" y="1271"/>
                      <a:pt x="3424" y="1271"/>
                      <a:pt x="3424" y="1271"/>
                    </a:cubicBezTo>
                    <a:cubicBezTo>
                      <a:pt x="3424" y="1271"/>
                      <a:pt x="3424" y="1271"/>
                      <a:pt x="3424" y="1271"/>
                    </a:cubicBezTo>
                    <a:cubicBezTo>
                      <a:pt x="3419" y="981"/>
                      <a:pt x="3182" y="747"/>
                      <a:pt x="2891" y="747"/>
                    </a:cubicBezTo>
                    <a:cubicBezTo>
                      <a:pt x="2597" y="747"/>
                      <a:pt x="2357" y="986"/>
                      <a:pt x="2357" y="1281"/>
                    </a:cubicBezTo>
                    <a:cubicBezTo>
                      <a:pt x="2357" y="1291"/>
                      <a:pt x="2357" y="1291"/>
                      <a:pt x="2357" y="1291"/>
                    </a:cubicBezTo>
                    <a:cubicBezTo>
                      <a:pt x="2357" y="1291"/>
                      <a:pt x="2357" y="1291"/>
                      <a:pt x="2357" y="1291"/>
                    </a:cubicBezTo>
                    <a:cubicBezTo>
                      <a:pt x="2352" y="1479"/>
                      <a:pt x="2197" y="1630"/>
                      <a:pt x="2007" y="1630"/>
                    </a:cubicBezTo>
                    <a:cubicBezTo>
                      <a:pt x="1818" y="1630"/>
                      <a:pt x="1663" y="1479"/>
                      <a:pt x="1658" y="1291"/>
                    </a:cubicBezTo>
                    <a:cubicBezTo>
                      <a:pt x="1657" y="1291"/>
                      <a:pt x="1657" y="1291"/>
                      <a:pt x="1657" y="1291"/>
                    </a:cubicBezTo>
                    <a:cubicBezTo>
                      <a:pt x="1657" y="544"/>
                      <a:pt x="1657" y="544"/>
                      <a:pt x="1657" y="544"/>
                    </a:cubicBezTo>
                    <a:cubicBezTo>
                      <a:pt x="1657" y="544"/>
                      <a:pt x="1657" y="544"/>
                      <a:pt x="1657" y="544"/>
                    </a:cubicBezTo>
                    <a:cubicBezTo>
                      <a:pt x="1652" y="257"/>
                      <a:pt x="1416" y="23"/>
                      <a:pt x="1128" y="21"/>
                    </a:cubicBezTo>
                    <a:cubicBezTo>
                      <a:pt x="1118" y="21"/>
                      <a:pt x="1118" y="21"/>
                      <a:pt x="1118" y="21"/>
                    </a:cubicBezTo>
                    <a:cubicBezTo>
                      <a:pt x="1118" y="20"/>
                      <a:pt x="1118" y="20"/>
                      <a:pt x="1118" y="20"/>
                    </a:cubicBezTo>
                    <a:cubicBezTo>
                      <a:pt x="0" y="20"/>
                      <a:pt x="0" y="20"/>
                      <a:pt x="0" y="20"/>
                    </a:cubicBezTo>
                    <a:cubicBezTo>
                      <a:pt x="0" y="0"/>
                      <a:pt x="0" y="0"/>
                      <a:pt x="0" y="0"/>
                    </a:cubicBezTo>
                    <a:cubicBezTo>
                      <a:pt x="1138" y="0"/>
                      <a:pt x="1138" y="0"/>
                      <a:pt x="1138" y="0"/>
                    </a:cubicBezTo>
                    <a:cubicBezTo>
                      <a:pt x="1138" y="1"/>
                      <a:pt x="1138" y="1"/>
                      <a:pt x="1138" y="1"/>
                    </a:cubicBezTo>
                    <a:cubicBezTo>
                      <a:pt x="1281" y="4"/>
                      <a:pt x="1415" y="62"/>
                      <a:pt x="1516" y="164"/>
                    </a:cubicBezTo>
                    <a:cubicBezTo>
                      <a:pt x="1620" y="269"/>
                      <a:pt x="1677" y="407"/>
                      <a:pt x="1677" y="554"/>
                    </a:cubicBezTo>
                    <a:cubicBezTo>
                      <a:pt x="1677" y="564"/>
                      <a:pt x="1677" y="564"/>
                      <a:pt x="1677" y="564"/>
                    </a:cubicBezTo>
                    <a:cubicBezTo>
                      <a:pt x="1677" y="564"/>
                      <a:pt x="1677" y="564"/>
                      <a:pt x="1677" y="564"/>
                    </a:cubicBezTo>
                    <a:cubicBezTo>
                      <a:pt x="1677" y="1271"/>
                      <a:pt x="1677" y="1271"/>
                      <a:pt x="1677" y="1271"/>
                    </a:cubicBezTo>
                    <a:cubicBezTo>
                      <a:pt x="1678" y="1271"/>
                      <a:pt x="1678" y="1271"/>
                      <a:pt x="1678" y="1271"/>
                    </a:cubicBezTo>
                    <a:cubicBezTo>
                      <a:pt x="1678" y="1281"/>
                      <a:pt x="1678" y="1281"/>
                      <a:pt x="1678" y="1281"/>
                    </a:cubicBezTo>
                    <a:cubicBezTo>
                      <a:pt x="1678" y="1462"/>
                      <a:pt x="1826" y="1610"/>
                      <a:pt x="2007" y="1610"/>
                    </a:cubicBezTo>
                    <a:cubicBezTo>
                      <a:pt x="2189" y="1610"/>
                      <a:pt x="2337" y="1462"/>
                      <a:pt x="2337" y="1281"/>
                    </a:cubicBezTo>
                    <a:cubicBezTo>
                      <a:pt x="2337" y="1271"/>
                      <a:pt x="2337" y="1271"/>
                      <a:pt x="2337" y="1271"/>
                    </a:cubicBezTo>
                    <a:cubicBezTo>
                      <a:pt x="2337" y="1271"/>
                      <a:pt x="2337" y="1271"/>
                      <a:pt x="2337" y="1271"/>
                    </a:cubicBezTo>
                    <a:cubicBezTo>
                      <a:pt x="2343" y="970"/>
                      <a:pt x="2589" y="727"/>
                      <a:pt x="2891" y="727"/>
                    </a:cubicBezTo>
                    <a:cubicBezTo>
                      <a:pt x="3196" y="727"/>
                      <a:pt x="3444" y="975"/>
                      <a:pt x="3444" y="1281"/>
                    </a:cubicBezTo>
                    <a:cubicBezTo>
                      <a:pt x="3444" y="1291"/>
                      <a:pt x="3444" y="1291"/>
                      <a:pt x="3444" y="1291"/>
                    </a:cubicBezTo>
                    <a:cubicBezTo>
                      <a:pt x="3444" y="1291"/>
                      <a:pt x="3444" y="1291"/>
                      <a:pt x="3444" y="1291"/>
                    </a:cubicBezTo>
                    <a:cubicBezTo>
                      <a:pt x="3444" y="1896"/>
                      <a:pt x="3444" y="1896"/>
                      <a:pt x="3444" y="1896"/>
                    </a:cubicBezTo>
                    <a:cubicBezTo>
                      <a:pt x="3444" y="1906"/>
                      <a:pt x="3444" y="1906"/>
                      <a:pt x="3444" y="1906"/>
                    </a:cubicBezTo>
                    <a:cubicBezTo>
                      <a:pt x="3444" y="2088"/>
                      <a:pt x="3592" y="2236"/>
                      <a:pt x="3774" y="2236"/>
                    </a:cubicBezTo>
                    <a:cubicBezTo>
                      <a:pt x="3956" y="2236"/>
                      <a:pt x="4104" y="2088"/>
                      <a:pt x="4104" y="1906"/>
                    </a:cubicBezTo>
                    <a:cubicBezTo>
                      <a:pt x="4104" y="1291"/>
                      <a:pt x="4104" y="1291"/>
                      <a:pt x="4104" y="1291"/>
                    </a:cubicBezTo>
                    <a:cubicBezTo>
                      <a:pt x="4104" y="1281"/>
                      <a:pt x="4104" y="1281"/>
                      <a:pt x="4104" y="1281"/>
                    </a:cubicBezTo>
                    <a:cubicBezTo>
                      <a:pt x="4104" y="975"/>
                      <a:pt x="4352" y="727"/>
                      <a:pt x="4657" y="727"/>
                    </a:cubicBezTo>
                    <a:cubicBezTo>
                      <a:pt x="4959" y="727"/>
                      <a:pt x="5205" y="970"/>
                      <a:pt x="5211" y="1271"/>
                    </a:cubicBezTo>
                    <a:cubicBezTo>
                      <a:pt x="5211" y="1271"/>
                      <a:pt x="5211" y="1271"/>
                      <a:pt x="5211" y="1271"/>
                    </a:cubicBezTo>
                    <a:cubicBezTo>
                      <a:pt x="5211" y="1281"/>
                      <a:pt x="5211" y="1281"/>
                      <a:pt x="5211" y="1281"/>
                    </a:cubicBezTo>
                    <a:cubicBezTo>
                      <a:pt x="5211" y="1462"/>
                      <a:pt x="5359" y="1610"/>
                      <a:pt x="5541" y="1610"/>
                    </a:cubicBezTo>
                    <a:cubicBezTo>
                      <a:pt x="5722" y="1610"/>
                      <a:pt x="5870" y="1462"/>
                      <a:pt x="5870" y="1281"/>
                    </a:cubicBezTo>
                    <a:cubicBezTo>
                      <a:pt x="5870" y="1271"/>
                      <a:pt x="5870" y="1271"/>
                      <a:pt x="5870" y="1271"/>
                    </a:cubicBezTo>
                    <a:cubicBezTo>
                      <a:pt x="5871" y="1271"/>
                      <a:pt x="5871" y="1271"/>
                      <a:pt x="5871" y="1271"/>
                    </a:cubicBezTo>
                    <a:cubicBezTo>
                      <a:pt x="5871" y="747"/>
                      <a:pt x="5871" y="747"/>
                      <a:pt x="5871" y="747"/>
                    </a:cubicBezTo>
                    <a:cubicBezTo>
                      <a:pt x="5869" y="747"/>
                      <a:pt x="5869" y="747"/>
                      <a:pt x="5869" y="747"/>
                    </a:cubicBezTo>
                    <a:cubicBezTo>
                      <a:pt x="5869" y="604"/>
                      <a:pt x="5869" y="604"/>
                      <a:pt x="5869" y="604"/>
                    </a:cubicBezTo>
                    <a:cubicBezTo>
                      <a:pt x="5869" y="594"/>
                      <a:pt x="5869" y="594"/>
                      <a:pt x="5869" y="594"/>
                    </a:cubicBezTo>
                    <a:cubicBezTo>
                      <a:pt x="5869" y="447"/>
                      <a:pt x="5926" y="309"/>
                      <a:pt x="6030" y="204"/>
                    </a:cubicBezTo>
                    <a:cubicBezTo>
                      <a:pt x="6131" y="102"/>
                      <a:pt x="6265" y="44"/>
                      <a:pt x="6409" y="41"/>
                    </a:cubicBezTo>
                    <a:cubicBezTo>
                      <a:pt x="6409" y="40"/>
                      <a:pt x="6409" y="40"/>
                      <a:pt x="6409" y="40"/>
                    </a:cubicBezTo>
                    <a:cubicBezTo>
                      <a:pt x="7689" y="40"/>
                      <a:pt x="7689" y="40"/>
                      <a:pt x="7689" y="40"/>
                    </a:cubicBezTo>
                    <a:cubicBezTo>
                      <a:pt x="7689" y="60"/>
                      <a:pt x="7689" y="60"/>
                      <a:pt x="7689" y="60"/>
                    </a:cubicBezTo>
                    <a:cubicBezTo>
                      <a:pt x="6429" y="60"/>
                      <a:pt x="6429" y="60"/>
                      <a:pt x="6429" y="60"/>
                    </a:cubicBezTo>
                    <a:cubicBezTo>
                      <a:pt x="6429" y="61"/>
                      <a:pt x="6429" y="61"/>
                      <a:pt x="6429" y="61"/>
                    </a:cubicBezTo>
                    <a:cubicBezTo>
                      <a:pt x="6419" y="61"/>
                      <a:pt x="6419" y="61"/>
                      <a:pt x="6419" y="61"/>
                    </a:cubicBezTo>
                    <a:cubicBezTo>
                      <a:pt x="6129" y="63"/>
                      <a:pt x="5893" y="298"/>
                      <a:pt x="5889" y="586"/>
                    </a:cubicBezTo>
                    <a:cubicBezTo>
                      <a:pt x="5889" y="594"/>
                      <a:pt x="5889" y="594"/>
                      <a:pt x="5889" y="594"/>
                    </a:cubicBezTo>
                    <a:cubicBezTo>
                      <a:pt x="5889" y="727"/>
                      <a:pt x="5889" y="727"/>
                      <a:pt x="5889" y="727"/>
                    </a:cubicBezTo>
                    <a:cubicBezTo>
                      <a:pt x="5891" y="727"/>
                      <a:pt x="5891" y="727"/>
                      <a:pt x="5891" y="727"/>
                    </a:cubicBezTo>
                    <a:cubicBezTo>
                      <a:pt x="5891" y="1291"/>
                      <a:pt x="5891" y="1291"/>
                      <a:pt x="5891" y="1291"/>
                    </a:cubicBezTo>
                    <a:cubicBezTo>
                      <a:pt x="5890" y="1291"/>
                      <a:pt x="5890" y="1291"/>
                      <a:pt x="5890" y="1291"/>
                    </a:cubicBezTo>
                    <a:cubicBezTo>
                      <a:pt x="5885" y="1479"/>
                      <a:pt x="5730" y="1630"/>
                      <a:pt x="5541" y="1630"/>
                    </a:cubicBezTo>
                    <a:cubicBezTo>
                      <a:pt x="5351" y="1630"/>
                      <a:pt x="5196" y="1479"/>
                      <a:pt x="5191" y="1291"/>
                    </a:cubicBezTo>
                    <a:cubicBezTo>
                      <a:pt x="5191" y="1291"/>
                      <a:pt x="5191" y="1291"/>
                      <a:pt x="5191" y="1291"/>
                    </a:cubicBezTo>
                    <a:cubicBezTo>
                      <a:pt x="5191" y="1281"/>
                      <a:pt x="5191" y="1281"/>
                      <a:pt x="5191" y="1281"/>
                    </a:cubicBezTo>
                    <a:cubicBezTo>
                      <a:pt x="5191" y="986"/>
                      <a:pt x="4951" y="747"/>
                      <a:pt x="4657" y="747"/>
                    </a:cubicBezTo>
                    <a:cubicBezTo>
                      <a:pt x="4366" y="747"/>
                      <a:pt x="4128" y="982"/>
                      <a:pt x="4124" y="1273"/>
                    </a:cubicBezTo>
                    <a:cubicBezTo>
                      <a:pt x="4124" y="1281"/>
                      <a:pt x="4124" y="1281"/>
                      <a:pt x="4124" y="1281"/>
                    </a:cubicBezTo>
                    <a:cubicBezTo>
                      <a:pt x="4124" y="1916"/>
                      <a:pt x="4124" y="1916"/>
                      <a:pt x="4124" y="1916"/>
                    </a:cubicBezTo>
                    <a:cubicBezTo>
                      <a:pt x="4124" y="1916"/>
                      <a:pt x="4124" y="1916"/>
                      <a:pt x="4124" y="1916"/>
                    </a:cubicBezTo>
                    <a:cubicBezTo>
                      <a:pt x="4118" y="2105"/>
                      <a:pt x="3964" y="2256"/>
                      <a:pt x="3774" y="22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a:p>
            </p:txBody>
          </p:sp>
        </p:grpSp>
        <p:sp>
          <p:nvSpPr>
            <p:cNvPr id="23" name="TextBox 22">
              <a:extLst>
                <a:ext uri="{FF2B5EF4-FFF2-40B4-BE49-F238E27FC236}">
                  <a16:creationId xmlns:a16="http://schemas.microsoft.com/office/drawing/2014/main" id="{C8F7B8AB-0214-7016-4ED7-8E8C5D3EB26E}"/>
                </a:ext>
              </a:extLst>
            </p:cNvPr>
            <p:cNvSpPr txBox="1"/>
            <p:nvPr/>
          </p:nvSpPr>
          <p:spPr>
            <a:xfrm>
              <a:off x="1314775" y="2910567"/>
              <a:ext cx="1384753" cy="304466"/>
            </a:xfrm>
            <a:prstGeom prst="rect">
              <a:avLst/>
            </a:prstGeom>
            <a:noFill/>
          </p:spPr>
          <p:txBody>
            <a:bodyPr wrap="none">
              <a:spAutoFit/>
            </a:bodyPr>
            <a:lstStyle/>
            <a:p>
              <a:pPr algn="ctr">
                <a:defRPr/>
              </a:pPr>
              <a:r>
                <a:rPr lang="en-US" sz="1100" b="1" dirty="0">
                  <a:latin typeface="+mj-lt"/>
                </a:rPr>
                <a:t>1. Implementation</a:t>
              </a:r>
              <a:endParaRPr lang="id-ID" sz="1100" b="1" dirty="0">
                <a:latin typeface="+mj-lt"/>
              </a:endParaRPr>
            </a:p>
          </p:txBody>
        </p:sp>
        <p:sp>
          <p:nvSpPr>
            <p:cNvPr id="24" name="Rectangle 23">
              <a:extLst>
                <a:ext uri="{FF2B5EF4-FFF2-40B4-BE49-F238E27FC236}">
                  <a16:creationId xmlns:a16="http://schemas.microsoft.com/office/drawing/2014/main" id="{81127096-8AFF-3C45-B29C-7CD1D1C6C144}"/>
                </a:ext>
              </a:extLst>
            </p:cNvPr>
            <p:cNvSpPr/>
            <p:nvPr/>
          </p:nvSpPr>
          <p:spPr>
            <a:xfrm>
              <a:off x="1195030" y="3181663"/>
              <a:ext cx="1872448" cy="1611882"/>
            </a:xfrm>
            <a:prstGeom prst="rect">
              <a:avLst/>
            </a:prstGeom>
          </p:spPr>
          <p:txBody>
            <a:bodyPr wrap="square">
              <a:spAutoFit/>
            </a:bodyPr>
            <a:lstStyle/>
            <a:p>
              <a:pPr marL="171450" indent="-171450">
                <a:buFont typeface="Arial" panose="020B0604020202020204" pitchFamily="34" charset="0"/>
                <a:buChar char="•"/>
                <a:defRPr/>
              </a:pPr>
              <a:r>
                <a:rPr lang="id-ID" sz="1050" dirty="0"/>
                <a:t>Adopted GIS under R-APDRP initiative.</a:t>
              </a:r>
              <a:r>
                <a:rPr lang="en-US" sz="1050" dirty="0"/>
                <a:t>*</a:t>
              </a:r>
              <a:endParaRPr lang="id-ID" sz="1050" dirty="0"/>
            </a:p>
            <a:p>
              <a:pPr marL="171450" indent="-171450">
                <a:buFont typeface="Arial" panose="020B0604020202020204" pitchFamily="34" charset="0"/>
                <a:buChar char="•"/>
                <a:defRPr/>
              </a:pPr>
              <a:r>
                <a:rPr lang="id-ID" sz="1050" dirty="0"/>
                <a:t>Utilized Differential Global Positioning System (DGPS) and Esri's ArcGIS platform.</a:t>
              </a:r>
            </a:p>
            <a:p>
              <a:pPr marL="171450" indent="-171450">
                <a:buFont typeface="Arial" panose="020B0604020202020204" pitchFamily="34" charset="0"/>
                <a:buChar char="•"/>
                <a:defRPr/>
              </a:pPr>
              <a:r>
                <a:rPr lang="id-ID" sz="1050" dirty="0"/>
                <a:t>Integration with field operations via ArcGIS Collector app.</a:t>
              </a:r>
            </a:p>
          </p:txBody>
        </p:sp>
        <p:sp>
          <p:nvSpPr>
            <p:cNvPr id="25" name="TextBox 24">
              <a:extLst>
                <a:ext uri="{FF2B5EF4-FFF2-40B4-BE49-F238E27FC236}">
                  <a16:creationId xmlns:a16="http://schemas.microsoft.com/office/drawing/2014/main" id="{893771BE-0F38-9668-1AC7-EE76F78E78AB}"/>
                </a:ext>
              </a:extLst>
            </p:cNvPr>
            <p:cNvSpPr txBox="1"/>
            <p:nvPr/>
          </p:nvSpPr>
          <p:spPr>
            <a:xfrm>
              <a:off x="2959663" y="4797561"/>
              <a:ext cx="1291297" cy="304466"/>
            </a:xfrm>
            <a:prstGeom prst="rect">
              <a:avLst/>
            </a:prstGeom>
            <a:noFill/>
          </p:spPr>
          <p:txBody>
            <a:bodyPr wrap="none">
              <a:spAutoFit/>
            </a:bodyPr>
            <a:lstStyle/>
            <a:p>
              <a:pPr algn="ctr">
                <a:defRPr/>
              </a:pPr>
              <a:r>
                <a:rPr lang="en-US" sz="1100" b="1" dirty="0">
                  <a:latin typeface="+mj-lt"/>
                </a:rPr>
                <a:t>2. Functionalities</a:t>
              </a:r>
              <a:endParaRPr lang="id-ID" sz="1100" b="1" dirty="0">
                <a:latin typeface="+mj-lt"/>
              </a:endParaRPr>
            </a:p>
          </p:txBody>
        </p:sp>
        <p:sp>
          <p:nvSpPr>
            <p:cNvPr id="27" name="TextBox 26">
              <a:extLst>
                <a:ext uri="{FF2B5EF4-FFF2-40B4-BE49-F238E27FC236}">
                  <a16:creationId xmlns:a16="http://schemas.microsoft.com/office/drawing/2014/main" id="{AB8B9873-4DDB-3E0F-8BDF-E4203E7458B7}"/>
                </a:ext>
              </a:extLst>
            </p:cNvPr>
            <p:cNvSpPr txBox="1"/>
            <p:nvPr/>
          </p:nvSpPr>
          <p:spPr>
            <a:xfrm>
              <a:off x="6415200" y="2004897"/>
              <a:ext cx="1424806" cy="304466"/>
            </a:xfrm>
            <a:prstGeom prst="rect">
              <a:avLst/>
            </a:prstGeom>
            <a:noFill/>
          </p:spPr>
          <p:txBody>
            <a:bodyPr wrap="none">
              <a:spAutoFit/>
            </a:bodyPr>
            <a:lstStyle/>
            <a:p>
              <a:pPr algn="ctr">
                <a:defRPr/>
              </a:pPr>
              <a:r>
                <a:rPr lang="en-US" sz="1100" b="1" dirty="0">
                  <a:latin typeface="+mj-lt"/>
                </a:rPr>
                <a:t>4. Financial Impact</a:t>
              </a:r>
              <a:endParaRPr lang="id-ID" sz="1100" b="1" dirty="0">
                <a:latin typeface="+mj-lt"/>
              </a:endParaRPr>
            </a:p>
          </p:txBody>
        </p:sp>
        <p:sp>
          <p:nvSpPr>
            <p:cNvPr id="29" name="TextBox 28">
              <a:extLst>
                <a:ext uri="{FF2B5EF4-FFF2-40B4-BE49-F238E27FC236}">
                  <a16:creationId xmlns:a16="http://schemas.microsoft.com/office/drawing/2014/main" id="{877D710A-F4B7-B992-B58F-1255F5005A57}"/>
                </a:ext>
              </a:extLst>
            </p:cNvPr>
            <p:cNvSpPr txBox="1"/>
            <p:nvPr/>
          </p:nvSpPr>
          <p:spPr>
            <a:xfrm>
              <a:off x="7226040" y="4805363"/>
              <a:ext cx="1770594" cy="304466"/>
            </a:xfrm>
            <a:prstGeom prst="rect">
              <a:avLst/>
            </a:prstGeom>
            <a:noFill/>
          </p:spPr>
          <p:txBody>
            <a:bodyPr wrap="none">
              <a:spAutoFit/>
            </a:bodyPr>
            <a:lstStyle/>
            <a:p>
              <a:pPr algn="ctr">
                <a:defRPr/>
              </a:pPr>
              <a:r>
                <a:rPr lang="en-US" sz="1100" b="1" dirty="0">
                  <a:latin typeface="+mj-lt"/>
                </a:rPr>
                <a:t>5. Operational Efficiency</a:t>
              </a:r>
              <a:endParaRPr lang="id-ID" sz="1100" b="1" dirty="0">
                <a:latin typeface="+mj-lt"/>
              </a:endParaRPr>
            </a:p>
          </p:txBody>
        </p:sp>
        <p:sp>
          <p:nvSpPr>
            <p:cNvPr id="31" name="TextBox 30">
              <a:extLst>
                <a:ext uri="{FF2B5EF4-FFF2-40B4-BE49-F238E27FC236}">
                  <a16:creationId xmlns:a16="http://schemas.microsoft.com/office/drawing/2014/main" id="{E877CA64-795D-0932-7CD6-B0BEF4467DED}"/>
                </a:ext>
              </a:extLst>
            </p:cNvPr>
            <p:cNvSpPr txBox="1"/>
            <p:nvPr/>
          </p:nvSpPr>
          <p:spPr>
            <a:xfrm>
              <a:off x="9290430" y="2951491"/>
              <a:ext cx="1037631" cy="304466"/>
            </a:xfrm>
            <a:prstGeom prst="rect">
              <a:avLst/>
            </a:prstGeom>
            <a:noFill/>
          </p:spPr>
          <p:txBody>
            <a:bodyPr wrap="none">
              <a:spAutoFit/>
            </a:bodyPr>
            <a:lstStyle/>
            <a:p>
              <a:pPr algn="ctr">
                <a:defRPr/>
              </a:pPr>
              <a:r>
                <a:rPr lang="en-US" sz="1100" b="1" dirty="0">
                  <a:latin typeface="+mj-lt"/>
                </a:rPr>
                <a:t>6. Next Steps</a:t>
              </a:r>
              <a:endParaRPr lang="id-ID" sz="1100" b="1" dirty="0">
                <a:latin typeface="+mj-lt"/>
              </a:endParaRPr>
            </a:p>
          </p:txBody>
        </p:sp>
      </p:grpSp>
      <p:sp>
        <p:nvSpPr>
          <p:cNvPr id="35" name="Freeform 812">
            <a:extLst>
              <a:ext uri="{FF2B5EF4-FFF2-40B4-BE49-F238E27FC236}">
                <a16:creationId xmlns:a16="http://schemas.microsoft.com/office/drawing/2014/main" id="{2D29A0D4-6A0D-2526-B343-BD46AE51EB08}"/>
              </a:ext>
            </a:extLst>
          </p:cNvPr>
          <p:cNvSpPr>
            <a:spLocks noChangeAspect="1" noEditPoints="1"/>
          </p:cNvSpPr>
          <p:nvPr/>
        </p:nvSpPr>
        <p:spPr bwMode="auto">
          <a:xfrm>
            <a:off x="1043320" y="2931739"/>
            <a:ext cx="457200" cy="492843"/>
          </a:xfrm>
          <a:custGeom>
            <a:avLst/>
            <a:gdLst>
              <a:gd name="T0" fmla="*/ 373 w 512"/>
              <a:gd name="T1" fmla="*/ 202 h 512"/>
              <a:gd name="T2" fmla="*/ 394 w 512"/>
              <a:gd name="T3" fmla="*/ 202 h 512"/>
              <a:gd name="T4" fmla="*/ 394 w 512"/>
              <a:gd name="T5" fmla="*/ 309 h 512"/>
              <a:gd name="T6" fmla="*/ 117 w 512"/>
              <a:gd name="T7" fmla="*/ 309 h 512"/>
              <a:gd name="T8" fmla="*/ 117 w 512"/>
              <a:gd name="T9" fmla="*/ 202 h 512"/>
              <a:gd name="T10" fmla="*/ 138 w 512"/>
              <a:gd name="T11" fmla="*/ 202 h 512"/>
              <a:gd name="T12" fmla="*/ 138 w 512"/>
              <a:gd name="T13" fmla="*/ 234 h 512"/>
              <a:gd name="T14" fmla="*/ 149 w 512"/>
              <a:gd name="T15" fmla="*/ 245 h 512"/>
              <a:gd name="T16" fmla="*/ 160 w 512"/>
              <a:gd name="T17" fmla="*/ 234 h 512"/>
              <a:gd name="T18" fmla="*/ 160 w 512"/>
              <a:gd name="T19" fmla="*/ 202 h 512"/>
              <a:gd name="T20" fmla="*/ 181 w 512"/>
              <a:gd name="T21" fmla="*/ 202 h 512"/>
              <a:gd name="T22" fmla="*/ 181 w 512"/>
              <a:gd name="T23" fmla="*/ 266 h 512"/>
              <a:gd name="T24" fmla="*/ 192 w 512"/>
              <a:gd name="T25" fmla="*/ 277 h 512"/>
              <a:gd name="T26" fmla="*/ 202 w 512"/>
              <a:gd name="T27" fmla="*/ 266 h 512"/>
              <a:gd name="T28" fmla="*/ 202 w 512"/>
              <a:gd name="T29" fmla="*/ 202 h 512"/>
              <a:gd name="T30" fmla="*/ 224 w 512"/>
              <a:gd name="T31" fmla="*/ 202 h 512"/>
              <a:gd name="T32" fmla="*/ 224 w 512"/>
              <a:gd name="T33" fmla="*/ 234 h 512"/>
              <a:gd name="T34" fmla="*/ 234 w 512"/>
              <a:gd name="T35" fmla="*/ 245 h 512"/>
              <a:gd name="T36" fmla="*/ 245 w 512"/>
              <a:gd name="T37" fmla="*/ 234 h 512"/>
              <a:gd name="T38" fmla="*/ 245 w 512"/>
              <a:gd name="T39" fmla="*/ 202 h 512"/>
              <a:gd name="T40" fmla="*/ 266 w 512"/>
              <a:gd name="T41" fmla="*/ 202 h 512"/>
              <a:gd name="T42" fmla="*/ 266 w 512"/>
              <a:gd name="T43" fmla="*/ 266 h 512"/>
              <a:gd name="T44" fmla="*/ 277 w 512"/>
              <a:gd name="T45" fmla="*/ 277 h 512"/>
              <a:gd name="T46" fmla="*/ 288 w 512"/>
              <a:gd name="T47" fmla="*/ 266 h 512"/>
              <a:gd name="T48" fmla="*/ 288 w 512"/>
              <a:gd name="T49" fmla="*/ 202 h 512"/>
              <a:gd name="T50" fmla="*/ 309 w 512"/>
              <a:gd name="T51" fmla="*/ 202 h 512"/>
              <a:gd name="T52" fmla="*/ 309 w 512"/>
              <a:gd name="T53" fmla="*/ 234 h 512"/>
              <a:gd name="T54" fmla="*/ 320 w 512"/>
              <a:gd name="T55" fmla="*/ 245 h 512"/>
              <a:gd name="T56" fmla="*/ 330 w 512"/>
              <a:gd name="T57" fmla="*/ 234 h 512"/>
              <a:gd name="T58" fmla="*/ 330 w 512"/>
              <a:gd name="T59" fmla="*/ 202 h 512"/>
              <a:gd name="T60" fmla="*/ 352 w 512"/>
              <a:gd name="T61" fmla="*/ 202 h 512"/>
              <a:gd name="T62" fmla="*/ 352 w 512"/>
              <a:gd name="T63" fmla="*/ 266 h 512"/>
              <a:gd name="T64" fmla="*/ 362 w 512"/>
              <a:gd name="T65" fmla="*/ 277 h 512"/>
              <a:gd name="T66" fmla="*/ 373 w 512"/>
              <a:gd name="T67" fmla="*/ 266 h 512"/>
              <a:gd name="T68" fmla="*/ 373 w 512"/>
              <a:gd name="T69" fmla="*/ 202 h 512"/>
              <a:gd name="T70" fmla="*/ 512 w 512"/>
              <a:gd name="T71" fmla="*/ 256 h 512"/>
              <a:gd name="T72" fmla="*/ 256 w 512"/>
              <a:gd name="T73" fmla="*/ 512 h 512"/>
              <a:gd name="T74" fmla="*/ 0 w 512"/>
              <a:gd name="T75" fmla="*/ 256 h 512"/>
              <a:gd name="T76" fmla="*/ 256 w 512"/>
              <a:gd name="T77" fmla="*/ 0 h 512"/>
              <a:gd name="T78" fmla="*/ 512 w 512"/>
              <a:gd name="T79" fmla="*/ 256 h 512"/>
              <a:gd name="T80" fmla="*/ 416 w 512"/>
              <a:gd name="T81" fmla="*/ 192 h 512"/>
              <a:gd name="T82" fmla="*/ 405 w 512"/>
              <a:gd name="T83" fmla="*/ 181 h 512"/>
              <a:gd name="T84" fmla="*/ 106 w 512"/>
              <a:gd name="T85" fmla="*/ 181 h 512"/>
              <a:gd name="T86" fmla="*/ 96 w 512"/>
              <a:gd name="T87" fmla="*/ 192 h 512"/>
              <a:gd name="T88" fmla="*/ 96 w 512"/>
              <a:gd name="T89" fmla="*/ 320 h 512"/>
              <a:gd name="T90" fmla="*/ 106 w 512"/>
              <a:gd name="T91" fmla="*/ 330 h 512"/>
              <a:gd name="T92" fmla="*/ 405 w 512"/>
              <a:gd name="T93" fmla="*/ 330 h 512"/>
              <a:gd name="T94" fmla="*/ 416 w 512"/>
              <a:gd name="T95" fmla="*/ 320 h 512"/>
              <a:gd name="T96" fmla="*/ 416 w 512"/>
              <a:gd name="T97" fmla="*/ 19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512">
                <a:moveTo>
                  <a:pt x="373" y="202"/>
                </a:moveTo>
                <a:cubicBezTo>
                  <a:pt x="394" y="202"/>
                  <a:pt x="394" y="202"/>
                  <a:pt x="394" y="202"/>
                </a:cubicBezTo>
                <a:cubicBezTo>
                  <a:pt x="394" y="309"/>
                  <a:pt x="394" y="309"/>
                  <a:pt x="394" y="309"/>
                </a:cubicBezTo>
                <a:cubicBezTo>
                  <a:pt x="117" y="309"/>
                  <a:pt x="117" y="309"/>
                  <a:pt x="117" y="309"/>
                </a:cubicBezTo>
                <a:cubicBezTo>
                  <a:pt x="117" y="202"/>
                  <a:pt x="117" y="202"/>
                  <a:pt x="117" y="202"/>
                </a:cubicBezTo>
                <a:cubicBezTo>
                  <a:pt x="138" y="202"/>
                  <a:pt x="138" y="202"/>
                  <a:pt x="138" y="202"/>
                </a:cubicBezTo>
                <a:cubicBezTo>
                  <a:pt x="138" y="234"/>
                  <a:pt x="138" y="234"/>
                  <a:pt x="138" y="234"/>
                </a:cubicBezTo>
                <a:cubicBezTo>
                  <a:pt x="138" y="240"/>
                  <a:pt x="143" y="245"/>
                  <a:pt x="149" y="245"/>
                </a:cubicBezTo>
                <a:cubicBezTo>
                  <a:pt x="155" y="245"/>
                  <a:pt x="160" y="240"/>
                  <a:pt x="160" y="234"/>
                </a:cubicBezTo>
                <a:cubicBezTo>
                  <a:pt x="160" y="202"/>
                  <a:pt x="160" y="202"/>
                  <a:pt x="160" y="202"/>
                </a:cubicBezTo>
                <a:cubicBezTo>
                  <a:pt x="181" y="202"/>
                  <a:pt x="181" y="202"/>
                  <a:pt x="181" y="202"/>
                </a:cubicBezTo>
                <a:cubicBezTo>
                  <a:pt x="181" y="266"/>
                  <a:pt x="181" y="266"/>
                  <a:pt x="181" y="266"/>
                </a:cubicBezTo>
                <a:cubicBezTo>
                  <a:pt x="181" y="272"/>
                  <a:pt x="186" y="277"/>
                  <a:pt x="192" y="277"/>
                </a:cubicBezTo>
                <a:cubicBezTo>
                  <a:pt x="198" y="277"/>
                  <a:pt x="202" y="272"/>
                  <a:pt x="202" y="266"/>
                </a:cubicBezTo>
                <a:cubicBezTo>
                  <a:pt x="202" y="202"/>
                  <a:pt x="202" y="202"/>
                  <a:pt x="202" y="202"/>
                </a:cubicBezTo>
                <a:cubicBezTo>
                  <a:pt x="224" y="202"/>
                  <a:pt x="224" y="202"/>
                  <a:pt x="224" y="202"/>
                </a:cubicBezTo>
                <a:cubicBezTo>
                  <a:pt x="224" y="234"/>
                  <a:pt x="224" y="234"/>
                  <a:pt x="224" y="234"/>
                </a:cubicBezTo>
                <a:cubicBezTo>
                  <a:pt x="224" y="240"/>
                  <a:pt x="228" y="245"/>
                  <a:pt x="234" y="245"/>
                </a:cubicBezTo>
                <a:cubicBezTo>
                  <a:pt x="240" y="245"/>
                  <a:pt x="245" y="240"/>
                  <a:pt x="245" y="234"/>
                </a:cubicBezTo>
                <a:cubicBezTo>
                  <a:pt x="245" y="202"/>
                  <a:pt x="245" y="202"/>
                  <a:pt x="245" y="202"/>
                </a:cubicBezTo>
                <a:cubicBezTo>
                  <a:pt x="266" y="202"/>
                  <a:pt x="266" y="202"/>
                  <a:pt x="266" y="202"/>
                </a:cubicBezTo>
                <a:cubicBezTo>
                  <a:pt x="266" y="266"/>
                  <a:pt x="266" y="266"/>
                  <a:pt x="266" y="266"/>
                </a:cubicBezTo>
                <a:cubicBezTo>
                  <a:pt x="266" y="272"/>
                  <a:pt x="271" y="277"/>
                  <a:pt x="277" y="277"/>
                </a:cubicBezTo>
                <a:cubicBezTo>
                  <a:pt x="283" y="277"/>
                  <a:pt x="288" y="272"/>
                  <a:pt x="288" y="266"/>
                </a:cubicBezTo>
                <a:cubicBezTo>
                  <a:pt x="288" y="202"/>
                  <a:pt x="288" y="202"/>
                  <a:pt x="288" y="202"/>
                </a:cubicBezTo>
                <a:cubicBezTo>
                  <a:pt x="309" y="202"/>
                  <a:pt x="309" y="202"/>
                  <a:pt x="309" y="202"/>
                </a:cubicBezTo>
                <a:cubicBezTo>
                  <a:pt x="309" y="234"/>
                  <a:pt x="309" y="234"/>
                  <a:pt x="309" y="234"/>
                </a:cubicBezTo>
                <a:cubicBezTo>
                  <a:pt x="309" y="240"/>
                  <a:pt x="314" y="245"/>
                  <a:pt x="320" y="245"/>
                </a:cubicBezTo>
                <a:cubicBezTo>
                  <a:pt x="326" y="245"/>
                  <a:pt x="330" y="240"/>
                  <a:pt x="330" y="234"/>
                </a:cubicBezTo>
                <a:cubicBezTo>
                  <a:pt x="330" y="202"/>
                  <a:pt x="330" y="202"/>
                  <a:pt x="330" y="202"/>
                </a:cubicBezTo>
                <a:cubicBezTo>
                  <a:pt x="352" y="202"/>
                  <a:pt x="352" y="202"/>
                  <a:pt x="352" y="202"/>
                </a:cubicBezTo>
                <a:cubicBezTo>
                  <a:pt x="352" y="266"/>
                  <a:pt x="352" y="266"/>
                  <a:pt x="352" y="266"/>
                </a:cubicBezTo>
                <a:cubicBezTo>
                  <a:pt x="352" y="272"/>
                  <a:pt x="356" y="277"/>
                  <a:pt x="362" y="277"/>
                </a:cubicBezTo>
                <a:cubicBezTo>
                  <a:pt x="368" y="277"/>
                  <a:pt x="373" y="272"/>
                  <a:pt x="373" y="266"/>
                </a:cubicBezTo>
                <a:lnTo>
                  <a:pt x="373" y="20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92"/>
                </a:moveTo>
                <a:cubicBezTo>
                  <a:pt x="416" y="186"/>
                  <a:pt x="411" y="181"/>
                  <a:pt x="405" y="181"/>
                </a:cubicBezTo>
                <a:cubicBezTo>
                  <a:pt x="106" y="181"/>
                  <a:pt x="106" y="181"/>
                  <a:pt x="106" y="181"/>
                </a:cubicBezTo>
                <a:cubicBezTo>
                  <a:pt x="100" y="181"/>
                  <a:pt x="96" y="186"/>
                  <a:pt x="96" y="192"/>
                </a:cubicBezTo>
                <a:cubicBezTo>
                  <a:pt x="96" y="320"/>
                  <a:pt x="96" y="320"/>
                  <a:pt x="96" y="320"/>
                </a:cubicBezTo>
                <a:cubicBezTo>
                  <a:pt x="96" y="326"/>
                  <a:pt x="100" y="330"/>
                  <a:pt x="106" y="330"/>
                </a:cubicBezTo>
                <a:cubicBezTo>
                  <a:pt x="405" y="330"/>
                  <a:pt x="405" y="330"/>
                  <a:pt x="405" y="330"/>
                </a:cubicBezTo>
                <a:cubicBezTo>
                  <a:pt x="411" y="330"/>
                  <a:pt x="416" y="326"/>
                  <a:pt x="416" y="320"/>
                </a:cubicBezTo>
                <a:lnTo>
                  <a:pt x="416" y="192"/>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36" name="Freeform 279">
            <a:extLst>
              <a:ext uri="{FF2B5EF4-FFF2-40B4-BE49-F238E27FC236}">
                <a16:creationId xmlns:a16="http://schemas.microsoft.com/office/drawing/2014/main" id="{F2CC412A-B2BF-E5F4-0A94-49634BF36CBC}"/>
              </a:ext>
            </a:extLst>
          </p:cNvPr>
          <p:cNvSpPr>
            <a:spLocks noChangeAspect="1" noEditPoints="1"/>
          </p:cNvSpPr>
          <p:nvPr/>
        </p:nvSpPr>
        <p:spPr bwMode="auto">
          <a:xfrm>
            <a:off x="8425086" y="4606648"/>
            <a:ext cx="457200" cy="491394"/>
          </a:xfrm>
          <a:custGeom>
            <a:avLst/>
            <a:gdLst>
              <a:gd name="T0" fmla="*/ 149 w 512"/>
              <a:gd name="T1" fmla="*/ 294 h 512"/>
              <a:gd name="T2" fmla="*/ 170 w 512"/>
              <a:gd name="T3" fmla="*/ 192 h 512"/>
              <a:gd name="T4" fmla="*/ 181 w 512"/>
              <a:gd name="T5" fmla="*/ 261 h 512"/>
              <a:gd name="T6" fmla="*/ 192 w 512"/>
              <a:gd name="T7" fmla="*/ 157 h 512"/>
              <a:gd name="T8" fmla="*/ 224 w 512"/>
              <a:gd name="T9" fmla="*/ 142 h 512"/>
              <a:gd name="T10" fmla="*/ 217 w 512"/>
              <a:gd name="T11" fmla="*/ 197 h 512"/>
              <a:gd name="T12" fmla="*/ 235 w 512"/>
              <a:gd name="T13" fmla="*/ 208 h 512"/>
              <a:gd name="T14" fmla="*/ 245 w 512"/>
              <a:gd name="T15" fmla="*/ 189 h 512"/>
              <a:gd name="T16" fmla="*/ 245 w 512"/>
              <a:gd name="T17" fmla="*/ 128 h 512"/>
              <a:gd name="T18" fmla="*/ 266 w 512"/>
              <a:gd name="T19" fmla="*/ 129 h 512"/>
              <a:gd name="T20" fmla="*/ 268 w 512"/>
              <a:gd name="T21" fmla="*/ 194 h 512"/>
              <a:gd name="T22" fmla="*/ 279 w 512"/>
              <a:gd name="T23" fmla="*/ 211 h 512"/>
              <a:gd name="T24" fmla="*/ 283 w 512"/>
              <a:gd name="T25" fmla="*/ 213 h 512"/>
              <a:gd name="T26" fmla="*/ 285 w 512"/>
              <a:gd name="T27" fmla="*/ 213 h 512"/>
              <a:gd name="T28" fmla="*/ 287 w 512"/>
              <a:gd name="T29" fmla="*/ 213 h 512"/>
              <a:gd name="T30" fmla="*/ 294 w 512"/>
              <a:gd name="T31" fmla="*/ 197 h 512"/>
              <a:gd name="T32" fmla="*/ 288 w 512"/>
              <a:gd name="T33" fmla="*/ 142 h 512"/>
              <a:gd name="T34" fmla="*/ 320 w 512"/>
              <a:gd name="T35" fmla="*/ 157 h 512"/>
              <a:gd name="T36" fmla="*/ 330 w 512"/>
              <a:gd name="T37" fmla="*/ 261 h 512"/>
              <a:gd name="T38" fmla="*/ 341 w 512"/>
              <a:gd name="T39" fmla="*/ 192 h 512"/>
              <a:gd name="T40" fmla="*/ 362 w 512"/>
              <a:gd name="T41" fmla="*/ 293 h 512"/>
              <a:gd name="T42" fmla="*/ 384 w 512"/>
              <a:gd name="T43" fmla="*/ 297 h 512"/>
              <a:gd name="T44" fmla="*/ 379 w 512"/>
              <a:gd name="T45" fmla="*/ 307 h 512"/>
              <a:gd name="T46" fmla="*/ 130 w 512"/>
              <a:gd name="T47" fmla="*/ 305 h 512"/>
              <a:gd name="T48" fmla="*/ 128 w 512"/>
              <a:gd name="T49" fmla="*/ 297 h 512"/>
              <a:gd name="T50" fmla="*/ 118 w 512"/>
              <a:gd name="T51" fmla="*/ 319 h 512"/>
              <a:gd name="T52" fmla="*/ 256 w 512"/>
              <a:gd name="T53" fmla="*/ 362 h 512"/>
              <a:gd name="T54" fmla="*/ 257 w 512"/>
              <a:gd name="T55" fmla="*/ 362 h 512"/>
              <a:gd name="T56" fmla="*/ 394 w 512"/>
              <a:gd name="T57" fmla="*/ 319 h 512"/>
              <a:gd name="T58" fmla="*/ 384 w 512"/>
              <a:gd name="T59" fmla="*/ 297 h 512"/>
              <a:gd name="T60" fmla="*/ 256 w 512"/>
              <a:gd name="T61" fmla="*/ 512 h 512"/>
              <a:gd name="T62" fmla="*/ 256 w 512"/>
              <a:gd name="T63" fmla="*/ 0 h 512"/>
              <a:gd name="T64" fmla="*/ 414 w 512"/>
              <a:gd name="T65" fmla="*/ 289 h 512"/>
              <a:gd name="T66" fmla="*/ 384 w 512"/>
              <a:gd name="T67" fmla="*/ 274 h 512"/>
              <a:gd name="T68" fmla="*/ 341 w 512"/>
              <a:gd name="T69" fmla="*/ 156 h 512"/>
              <a:gd name="T70" fmla="*/ 335 w 512"/>
              <a:gd name="T71" fmla="*/ 141 h 512"/>
              <a:gd name="T72" fmla="*/ 288 w 512"/>
              <a:gd name="T73" fmla="*/ 120 h 512"/>
              <a:gd name="T74" fmla="*/ 277 w 512"/>
              <a:gd name="T75" fmla="*/ 106 h 512"/>
              <a:gd name="T76" fmla="*/ 224 w 512"/>
              <a:gd name="T77" fmla="*/ 117 h 512"/>
              <a:gd name="T78" fmla="*/ 187 w 512"/>
              <a:gd name="T79" fmla="*/ 135 h 512"/>
              <a:gd name="T80" fmla="*/ 170 w 512"/>
              <a:gd name="T81" fmla="*/ 150 h 512"/>
              <a:gd name="T82" fmla="*/ 128 w 512"/>
              <a:gd name="T83" fmla="*/ 260 h 512"/>
              <a:gd name="T84" fmla="*/ 105 w 512"/>
              <a:gd name="T85" fmla="*/ 281 h 512"/>
              <a:gd name="T86" fmla="*/ 97 w 512"/>
              <a:gd name="T87" fmla="*/ 325 h 512"/>
              <a:gd name="T88" fmla="*/ 119 w 512"/>
              <a:gd name="T89" fmla="*/ 370 h 512"/>
              <a:gd name="T90" fmla="*/ 256 w 512"/>
              <a:gd name="T91" fmla="*/ 384 h 512"/>
              <a:gd name="T92" fmla="*/ 393 w 512"/>
              <a:gd name="T93" fmla="*/ 370 h 512"/>
              <a:gd name="T94" fmla="*/ 415 w 512"/>
              <a:gd name="T95" fmla="*/ 32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256" y="311"/>
                </a:moveTo>
                <a:cubicBezTo>
                  <a:pt x="182" y="311"/>
                  <a:pt x="160" y="298"/>
                  <a:pt x="149" y="294"/>
                </a:cubicBezTo>
                <a:cubicBezTo>
                  <a:pt x="149" y="260"/>
                  <a:pt x="149" y="260"/>
                  <a:pt x="149" y="260"/>
                </a:cubicBezTo>
                <a:cubicBezTo>
                  <a:pt x="149" y="232"/>
                  <a:pt x="160" y="209"/>
                  <a:pt x="170" y="192"/>
                </a:cubicBezTo>
                <a:cubicBezTo>
                  <a:pt x="170" y="250"/>
                  <a:pt x="170" y="250"/>
                  <a:pt x="170" y="250"/>
                </a:cubicBezTo>
                <a:cubicBezTo>
                  <a:pt x="170" y="256"/>
                  <a:pt x="175" y="261"/>
                  <a:pt x="181" y="261"/>
                </a:cubicBezTo>
                <a:cubicBezTo>
                  <a:pt x="187" y="261"/>
                  <a:pt x="192" y="256"/>
                  <a:pt x="192" y="250"/>
                </a:cubicBezTo>
                <a:cubicBezTo>
                  <a:pt x="192" y="157"/>
                  <a:pt x="192" y="157"/>
                  <a:pt x="192" y="157"/>
                </a:cubicBezTo>
                <a:cubicBezTo>
                  <a:pt x="192" y="156"/>
                  <a:pt x="195" y="155"/>
                  <a:pt x="197" y="154"/>
                </a:cubicBezTo>
                <a:cubicBezTo>
                  <a:pt x="207" y="149"/>
                  <a:pt x="213" y="145"/>
                  <a:pt x="224" y="142"/>
                </a:cubicBezTo>
                <a:cubicBezTo>
                  <a:pt x="224" y="186"/>
                  <a:pt x="224" y="186"/>
                  <a:pt x="224" y="186"/>
                </a:cubicBezTo>
                <a:cubicBezTo>
                  <a:pt x="217" y="197"/>
                  <a:pt x="217" y="197"/>
                  <a:pt x="217" y="197"/>
                </a:cubicBezTo>
                <a:cubicBezTo>
                  <a:pt x="214" y="202"/>
                  <a:pt x="215" y="208"/>
                  <a:pt x="220" y="211"/>
                </a:cubicBezTo>
                <a:cubicBezTo>
                  <a:pt x="225" y="214"/>
                  <a:pt x="232" y="213"/>
                  <a:pt x="235" y="208"/>
                </a:cubicBezTo>
                <a:cubicBezTo>
                  <a:pt x="243" y="194"/>
                  <a:pt x="243" y="194"/>
                  <a:pt x="243" y="194"/>
                </a:cubicBezTo>
                <a:cubicBezTo>
                  <a:pt x="244" y="193"/>
                  <a:pt x="245" y="191"/>
                  <a:pt x="245" y="189"/>
                </a:cubicBezTo>
                <a:cubicBezTo>
                  <a:pt x="245" y="129"/>
                  <a:pt x="245" y="129"/>
                  <a:pt x="245" y="129"/>
                </a:cubicBezTo>
                <a:cubicBezTo>
                  <a:pt x="245" y="128"/>
                  <a:pt x="245" y="128"/>
                  <a:pt x="245" y="128"/>
                </a:cubicBezTo>
                <a:cubicBezTo>
                  <a:pt x="266" y="128"/>
                  <a:pt x="266" y="128"/>
                  <a:pt x="266" y="128"/>
                </a:cubicBezTo>
                <a:cubicBezTo>
                  <a:pt x="266" y="129"/>
                  <a:pt x="266" y="129"/>
                  <a:pt x="266" y="129"/>
                </a:cubicBezTo>
                <a:cubicBezTo>
                  <a:pt x="266" y="189"/>
                  <a:pt x="266" y="189"/>
                  <a:pt x="266" y="189"/>
                </a:cubicBezTo>
                <a:cubicBezTo>
                  <a:pt x="266" y="191"/>
                  <a:pt x="267" y="193"/>
                  <a:pt x="268" y="194"/>
                </a:cubicBezTo>
                <a:cubicBezTo>
                  <a:pt x="276" y="208"/>
                  <a:pt x="276" y="208"/>
                  <a:pt x="276" y="208"/>
                </a:cubicBezTo>
                <a:cubicBezTo>
                  <a:pt x="277" y="209"/>
                  <a:pt x="278" y="210"/>
                  <a:pt x="279" y="211"/>
                </a:cubicBezTo>
                <a:cubicBezTo>
                  <a:pt x="279" y="211"/>
                  <a:pt x="279" y="211"/>
                  <a:pt x="279" y="211"/>
                </a:cubicBezTo>
                <a:cubicBezTo>
                  <a:pt x="280" y="212"/>
                  <a:pt x="281" y="212"/>
                  <a:pt x="283" y="213"/>
                </a:cubicBezTo>
                <a:cubicBezTo>
                  <a:pt x="283" y="213"/>
                  <a:pt x="283" y="213"/>
                  <a:pt x="283" y="213"/>
                </a:cubicBezTo>
                <a:cubicBezTo>
                  <a:pt x="284" y="213"/>
                  <a:pt x="284" y="213"/>
                  <a:pt x="285" y="213"/>
                </a:cubicBezTo>
                <a:cubicBezTo>
                  <a:pt x="286" y="213"/>
                  <a:pt x="286" y="213"/>
                  <a:pt x="286" y="213"/>
                </a:cubicBezTo>
                <a:cubicBezTo>
                  <a:pt x="287" y="213"/>
                  <a:pt x="287" y="213"/>
                  <a:pt x="287" y="213"/>
                </a:cubicBezTo>
                <a:cubicBezTo>
                  <a:pt x="288" y="213"/>
                  <a:pt x="290" y="212"/>
                  <a:pt x="291" y="211"/>
                </a:cubicBezTo>
                <a:cubicBezTo>
                  <a:pt x="296" y="208"/>
                  <a:pt x="297" y="202"/>
                  <a:pt x="294" y="197"/>
                </a:cubicBezTo>
                <a:cubicBezTo>
                  <a:pt x="288" y="186"/>
                  <a:pt x="288" y="186"/>
                  <a:pt x="288" y="186"/>
                </a:cubicBezTo>
                <a:cubicBezTo>
                  <a:pt x="288" y="142"/>
                  <a:pt x="288" y="142"/>
                  <a:pt x="288" y="142"/>
                </a:cubicBezTo>
                <a:cubicBezTo>
                  <a:pt x="298" y="145"/>
                  <a:pt x="304" y="149"/>
                  <a:pt x="314" y="154"/>
                </a:cubicBezTo>
                <a:cubicBezTo>
                  <a:pt x="316" y="155"/>
                  <a:pt x="320" y="156"/>
                  <a:pt x="320" y="157"/>
                </a:cubicBezTo>
                <a:cubicBezTo>
                  <a:pt x="320" y="250"/>
                  <a:pt x="320" y="250"/>
                  <a:pt x="320" y="250"/>
                </a:cubicBezTo>
                <a:cubicBezTo>
                  <a:pt x="320" y="256"/>
                  <a:pt x="324" y="261"/>
                  <a:pt x="330" y="261"/>
                </a:cubicBezTo>
                <a:cubicBezTo>
                  <a:pt x="336" y="261"/>
                  <a:pt x="341" y="256"/>
                  <a:pt x="341" y="250"/>
                </a:cubicBezTo>
                <a:cubicBezTo>
                  <a:pt x="341" y="192"/>
                  <a:pt x="341" y="192"/>
                  <a:pt x="341" y="192"/>
                </a:cubicBezTo>
                <a:cubicBezTo>
                  <a:pt x="352" y="209"/>
                  <a:pt x="362" y="232"/>
                  <a:pt x="362" y="260"/>
                </a:cubicBezTo>
                <a:cubicBezTo>
                  <a:pt x="362" y="293"/>
                  <a:pt x="362" y="293"/>
                  <a:pt x="362" y="293"/>
                </a:cubicBezTo>
                <a:cubicBezTo>
                  <a:pt x="352" y="298"/>
                  <a:pt x="329" y="311"/>
                  <a:pt x="256" y="311"/>
                </a:cubicBezTo>
                <a:close/>
                <a:moveTo>
                  <a:pt x="384" y="297"/>
                </a:moveTo>
                <a:cubicBezTo>
                  <a:pt x="384" y="298"/>
                  <a:pt x="384" y="298"/>
                  <a:pt x="384" y="298"/>
                </a:cubicBezTo>
                <a:cubicBezTo>
                  <a:pt x="384" y="302"/>
                  <a:pt x="382" y="305"/>
                  <a:pt x="379" y="307"/>
                </a:cubicBezTo>
                <a:cubicBezTo>
                  <a:pt x="371" y="314"/>
                  <a:pt x="343" y="332"/>
                  <a:pt x="256" y="332"/>
                </a:cubicBezTo>
                <a:cubicBezTo>
                  <a:pt x="155" y="332"/>
                  <a:pt x="133" y="309"/>
                  <a:pt x="130" y="305"/>
                </a:cubicBezTo>
                <a:cubicBezTo>
                  <a:pt x="128" y="303"/>
                  <a:pt x="128" y="301"/>
                  <a:pt x="128" y="298"/>
                </a:cubicBezTo>
                <a:cubicBezTo>
                  <a:pt x="128" y="297"/>
                  <a:pt x="128" y="297"/>
                  <a:pt x="128" y="297"/>
                </a:cubicBezTo>
                <a:cubicBezTo>
                  <a:pt x="118" y="300"/>
                  <a:pt x="118" y="300"/>
                  <a:pt x="118" y="300"/>
                </a:cubicBezTo>
                <a:cubicBezTo>
                  <a:pt x="117" y="306"/>
                  <a:pt x="116" y="314"/>
                  <a:pt x="118" y="319"/>
                </a:cubicBezTo>
                <a:cubicBezTo>
                  <a:pt x="120" y="328"/>
                  <a:pt x="130" y="346"/>
                  <a:pt x="135" y="355"/>
                </a:cubicBezTo>
                <a:cubicBezTo>
                  <a:pt x="141" y="357"/>
                  <a:pt x="167" y="362"/>
                  <a:pt x="256" y="362"/>
                </a:cubicBezTo>
                <a:cubicBezTo>
                  <a:pt x="256" y="362"/>
                  <a:pt x="256" y="362"/>
                  <a:pt x="256" y="362"/>
                </a:cubicBezTo>
                <a:cubicBezTo>
                  <a:pt x="256" y="362"/>
                  <a:pt x="256" y="362"/>
                  <a:pt x="257" y="362"/>
                </a:cubicBezTo>
                <a:cubicBezTo>
                  <a:pt x="345" y="362"/>
                  <a:pt x="371" y="357"/>
                  <a:pt x="377" y="355"/>
                </a:cubicBezTo>
                <a:cubicBezTo>
                  <a:pt x="383" y="346"/>
                  <a:pt x="392" y="328"/>
                  <a:pt x="394" y="319"/>
                </a:cubicBezTo>
                <a:cubicBezTo>
                  <a:pt x="396" y="314"/>
                  <a:pt x="395" y="306"/>
                  <a:pt x="395" y="300"/>
                </a:cubicBezTo>
                <a:lnTo>
                  <a:pt x="384" y="29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4" y="289"/>
                </a:moveTo>
                <a:cubicBezTo>
                  <a:pt x="414" y="286"/>
                  <a:pt x="411" y="282"/>
                  <a:pt x="407" y="281"/>
                </a:cubicBezTo>
                <a:cubicBezTo>
                  <a:pt x="384" y="274"/>
                  <a:pt x="384" y="274"/>
                  <a:pt x="384" y="274"/>
                </a:cubicBezTo>
                <a:cubicBezTo>
                  <a:pt x="384" y="260"/>
                  <a:pt x="384" y="260"/>
                  <a:pt x="384" y="260"/>
                </a:cubicBezTo>
                <a:cubicBezTo>
                  <a:pt x="384" y="225"/>
                  <a:pt x="373" y="186"/>
                  <a:pt x="341" y="156"/>
                </a:cubicBezTo>
                <a:cubicBezTo>
                  <a:pt x="341" y="150"/>
                  <a:pt x="341" y="150"/>
                  <a:pt x="341" y="150"/>
                </a:cubicBezTo>
                <a:cubicBezTo>
                  <a:pt x="341" y="146"/>
                  <a:pt x="339" y="143"/>
                  <a:pt x="335" y="141"/>
                </a:cubicBezTo>
                <a:cubicBezTo>
                  <a:pt x="331" y="139"/>
                  <a:pt x="327" y="137"/>
                  <a:pt x="324" y="135"/>
                </a:cubicBezTo>
                <a:cubicBezTo>
                  <a:pt x="312" y="129"/>
                  <a:pt x="301" y="123"/>
                  <a:pt x="288" y="120"/>
                </a:cubicBezTo>
                <a:cubicBezTo>
                  <a:pt x="288" y="117"/>
                  <a:pt x="288" y="117"/>
                  <a:pt x="288" y="117"/>
                </a:cubicBezTo>
                <a:cubicBezTo>
                  <a:pt x="288" y="111"/>
                  <a:pt x="283" y="106"/>
                  <a:pt x="277" y="106"/>
                </a:cubicBezTo>
                <a:cubicBezTo>
                  <a:pt x="234" y="106"/>
                  <a:pt x="234" y="106"/>
                  <a:pt x="234" y="106"/>
                </a:cubicBezTo>
                <a:cubicBezTo>
                  <a:pt x="228" y="106"/>
                  <a:pt x="224" y="111"/>
                  <a:pt x="224" y="117"/>
                </a:cubicBezTo>
                <a:cubicBezTo>
                  <a:pt x="224" y="120"/>
                  <a:pt x="224" y="120"/>
                  <a:pt x="224" y="120"/>
                </a:cubicBezTo>
                <a:cubicBezTo>
                  <a:pt x="210" y="123"/>
                  <a:pt x="200" y="129"/>
                  <a:pt x="187" y="135"/>
                </a:cubicBezTo>
                <a:cubicBezTo>
                  <a:pt x="184" y="137"/>
                  <a:pt x="180" y="139"/>
                  <a:pt x="176" y="141"/>
                </a:cubicBezTo>
                <a:cubicBezTo>
                  <a:pt x="173" y="143"/>
                  <a:pt x="170" y="146"/>
                  <a:pt x="170" y="150"/>
                </a:cubicBezTo>
                <a:cubicBezTo>
                  <a:pt x="170" y="156"/>
                  <a:pt x="170" y="156"/>
                  <a:pt x="170" y="156"/>
                </a:cubicBezTo>
                <a:cubicBezTo>
                  <a:pt x="138" y="186"/>
                  <a:pt x="128" y="225"/>
                  <a:pt x="128" y="260"/>
                </a:cubicBezTo>
                <a:cubicBezTo>
                  <a:pt x="128" y="274"/>
                  <a:pt x="128" y="274"/>
                  <a:pt x="128" y="274"/>
                </a:cubicBezTo>
                <a:cubicBezTo>
                  <a:pt x="105" y="281"/>
                  <a:pt x="105" y="281"/>
                  <a:pt x="105" y="281"/>
                </a:cubicBezTo>
                <a:cubicBezTo>
                  <a:pt x="101" y="283"/>
                  <a:pt x="99" y="286"/>
                  <a:pt x="98" y="289"/>
                </a:cubicBezTo>
                <a:cubicBezTo>
                  <a:pt x="97" y="291"/>
                  <a:pt x="94" y="310"/>
                  <a:pt x="97" y="325"/>
                </a:cubicBezTo>
                <a:cubicBezTo>
                  <a:pt x="101" y="339"/>
                  <a:pt x="116" y="365"/>
                  <a:pt x="118" y="368"/>
                </a:cubicBezTo>
                <a:cubicBezTo>
                  <a:pt x="118" y="369"/>
                  <a:pt x="119" y="370"/>
                  <a:pt x="119" y="370"/>
                </a:cubicBezTo>
                <a:cubicBezTo>
                  <a:pt x="128" y="379"/>
                  <a:pt x="174" y="384"/>
                  <a:pt x="256" y="384"/>
                </a:cubicBezTo>
                <a:cubicBezTo>
                  <a:pt x="256" y="384"/>
                  <a:pt x="256" y="384"/>
                  <a:pt x="256" y="384"/>
                </a:cubicBezTo>
                <a:cubicBezTo>
                  <a:pt x="256" y="384"/>
                  <a:pt x="256" y="384"/>
                  <a:pt x="257" y="384"/>
                </a:cubicBezTo>
                <a:cubicBezTo>
                  <a:pt x="338" y="384"/>
                  <a:pt x="384" y="379"/>
                  <a:pt x="393" y="370"/>
                </a:cubicBezTo>
                <a:cubicBezTo>
                  <a:pt x="393" y="370"/>
                  <a:pt x="394" y="369"/>
                  <a:pt x="394" y="368"/>
                </a:cubicBezTo>
                <a:cubicBezTo>
                  <a:pt x="396" y="365"/>
                  <a:pt x="411" y="339"/>
                  <a:pt x="415" y="325"/>
                </a:cubicBezTo>
                <a:cubicBezTo>
                  <a:pt x="419" y="310"/>
                  <a:pt x="415" y="291"/>
                  <a:pt x="414" y="289"/>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37" name="Freeform 917">
            <a:extLst>
              <a:ext uri="{FF2B5EF4-FFF2-40B4-BE49-F238E27FC236}">
                <a16:creationId xmlns:a16="http://schemas.microsoft.com/office/drawing/2014/main" id="{F29CBA89-FE53-B069-9787-70EDA18CC438}"/>
              </a:ext>
            </a:extLst>
          </p:cNvPr>
          <p:cNvSpPr>
            <a:spLocks noChangeAspect="1" noEditPoints="1"/>
          </p:cNvSpPr>
          <p:nvPr/>
        </p:nvSpPr>
        <p:spPr bwMode="auto">
          <a:xfrm>
            <a:off x="4642039" y="4616350"/>
            <a:ext cx="457200" cy="492843"/>
          </a:xfrm>
          <a:custGeom>
            <a:avLst/>
            <a:gdLst>
              <a:gd name="T0" fmla="*/ 277 w 512"/>
              <a:gd name="T1" fmla="*/ 138 h 512"/>
              <a:gd name="T2" fmla="*/ 277 w 512"/>
              <a:gd name="T3" fmla="*/ 245 h 512"/>
              <a:gd name="T4" fmla="*/ 234 w 512"/>
              <a:gd name="T5" fmla="*/ 245 h 512"/>
              <a:gd name="T6" fmla="*/ 234 w 512"/>
              <a:gd name="T7" fmla="*/ 138 h 512"/>
              <a:gd name="T8" fmla="*/ 256 w 512"/>
              <a:gd name="T9" fmla="*/ 117 h 512"/>
              <a:gd name="T10" fmla="*/ 277 w 512"/>
              <a:gd name="T11" fmla="*/ 138 h 512"/>
              <a:gd name="T12" fmla="*/ 512 w 512"/>
              <a:gd name="T13" fmla="*/ 256 h 512"/>
              <a:gd name="T14" fmla="*/ 256 w 512"/>
              <a:gd name="T15" fmla="*/ 512 h 512"/>
              <a:gd name="T16" fmla="*/ 0 w 512"/>
              <a:gd name="T17" fmla="*/ 256 h 512"/>
              <a:gd name="T18" fmla="*/ 256 w 512"/>
              <a:gd name="T19" fmla="*/ 0 h 512"/>
              <a:gd name="T20" fmla="*/ 512 w 512"/>
              <a:gd name="T21" fmla="*/ 256 h 512"/>
              <a:gd name="T22" fmla="*/ 298 w 512"/>
              <a:gd name="T23" fmla="*/ 138 h 512"/>
              <a:gd name="T24" fmla="*/ 256 w 512"/>
              <a:gd name="T25" fmla="*/ 96 h 512"/>
              <a:gd name="T26" fmla="*/ 213 w 512"/>
              <a:gd name="T27" fmla="*/ 138 h 512"/>
              <a:gd name="T28" fmla="*/ 213 w 512"/>
              <a:gd name="T29" fmla="*/ 256 h 512"/>
              <a:gd name="T30" fmla="*/ 224 w 512"/>
              <a:gd name="T31" fmla="*/ 266 h 512"/>
              <a:gd name="T32" fmla="*/ 245 w 512"/>
              <a:gd name="T33" fmla="*/ 266 h 512"/>
              <a:gd name="T34" fmla="*/ 245 w 512"/>
              <a:gd name="T35" fmla="*/ 373 h 512"/>
              <a:gd name="T36" fmla="*/ 236 w 512"/>
              <a:gd name="T37" fmla="*/ 378 h 512"/>
              <a:gd name="T38" fmla="*/ 235 w 512"/>
              <a:gd name="T39" fmla="*/ 388 h 512"/>
              <a:gd name="T40" fmla="*/ 246 w 512"/>
              <a:gd name="T41" fmla="*/ 410 h 512"/>
              <a:gd name="T42" fmla="*/ 256 w 512"/>
              <a:gd name="T43" fmla="*/ 416 h 512"/>
              <a:gd name="T44" fmla="*/ 265 w 512"/>
              <a:gd name="T45" fmla="*/ 410 h 512"/>
              <a:gd name="T46" fmla="*/ 276 w 512"/>
              <a:gd name="T47" fmla="*/ 388 h 512"/>
              <a:gd name="T48" fmla="*/ 275 w 512"/>
              <a:gd name="T49" fmla="*/ 378 h 512"/>
              <a:gd name="T50" fmla="*/ 266 w 512"/>
              <a:gd name="T51" fmla="*/ 373 h 512"/>
              <a:gd name="T52" fmla="*/ 266 w 512"/>
              <a:gd name="T53" fmla="*/ 266 h 512"/>
              <a:gd name="T54" fmla="*/ 288 w 512"/>
              <a:gd name="T55" fmla="*/ 266 h 512"/>
              <a:gd name="T56" fmla="*/ 298 w 512"/>
              <a:gd name="T57" fmla="*/ 256 h 512"/>
              <a:gd name="T58" fmla="*/ 298 w 512"/>
              <a:gd name="T59" fmla="*/ 13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77" y="138"/>
                </a:moveTo>
                <a:cubicBezTo>
                  <a:pt x="277" y="245"/>
                  <a:pt x="277" y="245"/>
                  <a:pt x="277" y="245"/>
                </a:cubicBezTo>
                <a:cubicBezTo>
                  <a:pt x="234" y="245"/>
                  <a:pt x="234" y="245"/>
                  <a:pt x="234" y="245"/>
                </a:cubicBezTo>
                <a:cubicBezTo>
                  <a:pt x="234" y="138"/>
                  <a:pt x="234" y="138"/>
                  <a:pt x="234" y="138"/>
                </a:cubicBezTo>
                <a:cubicBezTo>
                  <a:pt x="234" y="127"/>
                  <a:pt x="244" y="117"/>
                  <a:pt x="256" y="117"/>
                </a:cubicBezTo>
                <a:cubicBezTo>
                  <a:pt x="267" y="117"/>
                  <a:pt x="277" y="127"/>
                  <a:pt x="277"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98" y="138"/>
                </a:moveTo>
                <a:cubicBezTo>
                  <a:pt x="298" y="115"/>
                  <a:pt x="279" y="96"/>
                  <a:pt x="256" y="96"/>
                </a:cubicBezTo>
                <a:cubicBezTo>
                  <a:pt x="232" y="96"/>
                  <a:pt x="213" y="115"/>
                  <a:pt x="213" y="138"/>
                </a:cubicBezTo>
                <a:cubicBezTo>
                  <a:pt x="213" y="256"/>
                  <a:pt x="213" y="256"/>
                  <a:pt x="213" y="256"/>
                </a:cubicBezTo>
                <a:cubicBezTo>
                  <a:pt x="213" y="262"/>
                  <a:pt x="218" y="266"/>
                  <a:pt x="224" y="266"/>
                </a:cubicBezTo>
                <a:cubicBezTo>
                  <a:pt x="245" y="266"/>
                  <a:pt x="245" y="266"/>
                  <a:pt x="245" y="266"/>
                </a:cubicBezTo>
                <a:cubicBezTo>
                  <a:pt x="245" y="373"/>
                  <a:pt x="245" y="373"/>
                  <a:pt x="245" y="373"/>
                </a:cubicBezTo>
                <a:cubicBezTo>
                  <a:pt x="241" y="373"/>
                  <a:pt x="238" y="375"/>
                  <a:pt x="236" y="378"/>
                </a:cubicBezTo>
                <a:cubicBezTo>
                  <a:pt x="234" y="381"/>
                  <a:pt x="234" y="385"/>
                  <a:pt x="235" y="388"/>
                </a:cubicBezTo>
                <a:cubicBezTo>
                  <a:pt x="246" y="410"/>
                  <a:pt x="246" y="410"/>
                  <a:pt x="246" y="410"/>
                </a:cubicBezTo>
                <a:cubicBezTo>
                  <a:pt x="248" y="413"/>
                  <a:pt x="252" y="416"/>
                  <a:pt x="256" y="416"/>
                </a:cubicBezTo>
                <a:cubicBezTo>
                  <a:pt x="260" y="416"/>
                  <a:pt x="263" y="413"/>
                  <a:pt x="265" y="410"/>
                </a:cubicBezTo>
                <a:cubicBezTo>
                  <a:pt x="276" y="388"/>
                  <a:pt x="276" y="388"/>
                  <a:pt x="276" y="388"/>
                </a:cubicBezTo>
                <a:cubicBezTo>
                  <a:pt x="278" y="385"/>
                  <a:pt x="277" y="381"/>
                  <a:pt x="275" y="378"/>
                </a:cubicBezTo>
                <a:cubicBezTo>
                  <a:pt x="273" y="375"/>
                  <a:pt x="270" y="373"/>
                  <a:pt x="266" y="373"/>
                </a:cubicBezTo>
                <a:cubicBezTo>
                  <a:pt x="266" y="266"/>
                  <a:pt x="266" y="266"/>
                  <a:pt x="266" y="266"/>
                </a:cubicBezTo>
                <a:cubicBezTo>
                  <a:pt x="288" y="266"/>
                  <a:pt x="288" y="266"/>
                  <a:pt x="288" y="266"/>
                </a:cubicBezTo>
                <a:cubicBezTo>
                  <a:pt x="294" y="266"/>
                  <a:pt x="298" y="262"/>
                  <a:pt x="298" y="256"/>
                </a:cubicBezTo>
                <a:lnTo>
                  <a:pt x="298" y="138"/>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38" name="Freeform 812">
            <a:extLst>
              <a:ext uri="{FF2B5EF4-FFF2-40B4-BE49-F238E27FC236}">
                <a16:creationId xmlns:a16="http://schemas.microsoft.com/office/drawing/2014/main" id="{DF461D62-4332-308C-7A8B-7D0810D204AC}"/>
              </a:ext>
            </a:extLst>
          </p:cNvPr>
          <p:cNvSpPr>
            <a:spLocks noChangeAspect="1" noEditPoints="1"/>
          </p:cNvSpPr>
          <p:nvPr/>
        </p:nvSpPr>
        <p:spPr bwMode="auto">
          <a:xfrm>
            <a:off x="7157551" y="4701094"/>
            <a:ext cx="457200" cy="492843"/>
          </a:xfrm>
          <a:custGeom>
            <a:avLst/>
            <a:gdLst>
              <a:gd name="T0" fmla="*/ 373 w 512"/>
              <a:gd name="T1" fmla="*/ 202 h 512"/>
              <a:gd name="T2" fmla="*/ 394 w 512"/>
              <a:gd name="T3" fmla="*/ 202 h 512"/>
              <a:gd name="T4" fmla="*/ 394 w 512"/>
              <a:gd name="T5" fmla="*/ 309 h 512"/>
              <a:gd name="T6" fmla="*/ 117 w 512"/>
              <a:gd name="T7" fmla="*/ 309 h 512"/>
              <a:gd name="T8" fmla="*/ 117 w 512"/>
              <a:gd name="T9" fmla="*/ 202 h 512"/>
              <a:gd name="T10" fmla="*/ 138 w 512"/>
              <a:gd name="T11" fmla="*/ 202 h 512"/>
              <a:gd name="T12" fmla="*/ 138 w 512"/>
              <a:gd name="T13" fmla="*/ 234 h 512"/>
              <a:gd name="T14" fmla="*/ 149 w 512"/>
              <a:gd name="T15" fmla="*/ 245 h 512"/>
              <a:gd name="T16" fmla="*/ 160 w 512"/>
              <a:gd name="T17" fmla="*/ 234 h 512"/>
              <a:gd name="T18" fmla="*/ 160 w 512"/>
              <a:gd name="T19" fmla="*/ 202 h 512"/>
              <a:gd name="T20" fmla="*/ 181 w 512"/>
              <a:gd name="T21" fmla="*/ 202 h 512"/>
              <a:gd name="T22" fmla="*/ 181 w 512"/>
              <a:gd name="T23" fmla="*/ 266 h 512"/>
              <a:gd name="T24" fmla="*/ 192 w 512"/>
              <a:gd name="T25" fmla="*/ 277 h 512"/>
              <a:gd name="T26" fmla="*/ 202 w 512"/>
              <a:gd name="T27" fmla="*/ 266 h 512"/>
              <a:gd name="T28" fmla="*/ 202 w 512"/>
              <a:gd name="T29" fmla="*/ 202 h 512"/>
              <a:gd name="T30" fmla="*/ 224 w 512"/>
              <a:gd name="T31" fmla="*/ 202 h 512"/>
              <a:gd name="T32" fmla="*/ 224 w 512"/>
              <a:gd name="T33" fmla="*/ 234 h 512"/>
              <a:gd name="T34" fmla="*/ 234 w 512"/>
              <a:gd name="T35" fmla="*/ 245 h 512"/>
              <a:gd name="T36" fmla="*/ 245 w 512"/>
              <a:gd name="T37" fmla="*/ 234 h 512"/>
              <a:gd name="T38" fmla="*/ 245 w 512"/>
              <a:gd name="T39" fmla="*/ 202 h 512"/>
              <a:gd name="T40" fmla="*/ 266 w 512"/>
              <a:gd name="T41" fmla="*/ 202 h 512"/>
              <a:gd name="T42" fmla="*/ 266 w 512"/>
              <a:gd name="T43" fmla="*/ 266 h 512"/>
              <a:gd name="T44" fmla="*/ 277 w 512"/>
              <a:gd name="T45" fmla="*/ 277 h 512"/>
              <a:gd name="T46" fmla="*/ 288 w 512"/>
              <a:gd name="T47" fmla="*/ 266 h 512"/>
              <a:gd name="T48" fmla="*/ 288 w 512"/>
              <a:gd name="T49" fmla="*/ 202 h 512"/>
              <a:gd name="T50" fmla="*/ 309 w 512"/>
              <a:gd name="T51" fmla="*/ 202 h 512"/>
              <a:gd name="T52" fmla="*/ 309 w 512"/>
              <a:gd name="T53" fmla="*/ 234 h 512"/>
              <a:gd name="T54" fmla="*/ 320 w 512"/>
              <a:gd name="T55" fmla="*/ 245 h 512"/>
              <a:gd name="T56" fmla="*/ 330 w 512"/>
              <a:gd name="T57" fmla="*/ 234 h 512"/>
              <a:gd name="T58" fmla="*/ 330 w 512"/>
              <a:gd name="T59" fmla="*/ 202 h 512"/>
              <a:gd name="T60" fmla="*/ 352 w 512"/>
              <a:gd name="T61" fmla="*/ 202 h 512"/>
              <a:gd name="T62" fmla="*/ 352 w 512"/>
              <a:gd name="T63" fmla="*/ 266 h 512"/>
              <a:gd name="T64" fmla="*/ 362 w 512"/>
              <a:gd name="T65" fmla="*/ 277 h 512"/>
              <a:gd name="T66" fmla="*/ 373 w 512"/>
              <a:gd name="T67" fmla="*/ 266 h 512"/>
              <a:gd name="T68" fmla="*/ 373 w 512"/>
              <a:gd name="T69" fmla="*/ 202 h 512"/>
              <a:gd name="T70" fmla="*/ 512 w 512"/>
              <a:gd name="T71" fmla="*/ 256 h 512"/>
              <a:gd name="T72" fmla="*/ 256 w 512"/>
              <a:gd name="T73" fmla="*/ 512 h 512"/>
              <a:gd name="T74" fmla="*/ 0 w 512"/>
              <a:gd name="T75" fmla="*/ 256 h 512"/>
              <a:gd name="T76" fmla="*/ 256 w 512"/>
              <a:gd name="T77" fmla="*/ 0 h 512"/>
              <a:gd name="T78" fmla="*/ 512 w 512"/>
              <a:gd name="T79" fmla="*/ 256 h 512"/>
              <a:gd name="T80" fmla="*/ 416 w 512"/>
              <a:gd name="T81" fmla="*/ 192 h 512"/>
              <a:gd name="T82" fmla="*/ 405 w 512"/>
              <a:gd name="T83" fmla="*/ 181 h 512"/>
              <a:gd name="T84" fmla="*/ 106 w 512"/>
              <a:gd name="T85" fmla="*/ 181 h 512"/>
              <a:gd name="T86" fmla="*/ 96 w 512"/>
              <a:gd name="T87" fmla="*/ 192 h 512"/>
              <a:gd name="T88" fmla="*/ 96 w 512"/>
              <a:gd name="T89" fmla="*/ 320 h 512"/>
              <a:gd name="T90" fmla="*/ 106 w 512"/>
              <a:gd name="T91" fmla="*/ 330 h 512"/>
              <a:gd name="T92" fmla="*/ 405 w 512"/>
              <a:gd name="T93" fmla="*/ 330 h 512"/>
              <a:gd name="T94" fmla="*/ 416 w 512"/>
              <a:gd name="T95" fmla="*/ 320 h 512"/>
              <a:gd name="T96" fmla="*/ 416 w 512"/>
              <a:gd name="T97" fmla="*/ 19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512">
                <a:moveTo>
                  <a:pt x="373" y="202"/>
                </a:moveTo>
                <a:cubicBezTo>
                  <a:pt x="394" y="202"/>
                  <a:pt x="394" y="202"/>
                  <a:pt x="394" y="202"/>
                </a:cubicBezTo>
                <a:cubicBezTo>
                  <a:pt x="394" y="309"/>
                  <a:pt x="394" y="309"/>
                  <a:pt x="394" y="309"/>
                </a:cubicBezTo>
                <a:cubicBezTo>
                  <a:pt x="117" y="309"/>
                  <a:pt x="117" y="309"/>
                  <a:pt x="117" y="309"/>
                </a:cubicBezTo>
                <a:cubicBezTo>
                  <a:pt x="117" y="202"/>
                  <a:pt x="117" y="202"/>
                  <a:pt x="117" y="202"/>
                </a:cubicBezTo>
                <a:cubicBezTo>
                  <a:pt x="138" y="202"/>
                  <a:pt x="138" y="202"/>
                  <a:pt x="138" y="202"/>
                </a:cubicBezTo>
                <a:cubicBezTo>
                  <a:pt x="138" y="234"/>
                  <a:pt x="138" y="234"/>
                  <a:pt x="138" y="234"/>
                </a:cubicBezTo>
                <a:cubicBezTo>
                  <a:pt x="138" y="240"/>
                  <a:pt x="143" y="245"/>
                  <a:pt x="149" y="245"/>
                </a:cubicBezTo>
                <a:cubicBezTo>
                  <a:pt x="155" y="245"/>
                  <a:pt x="160" y="240"/>
                  <a:pt x="160" y="234"/>
                </a:cubicBezTo>
                <a:cubicBezTo>
                  <a:pt x="160" y="202"/>
                  <a:pt x="160" y="202"/>
                  <a:pt x="160" y="202"/>
                </a:cubicBezTo>
                <a:cubicBezTo>
                  <a:pt x="181" y="202"/>
                  <a:pt x="181" y="202"/>
                  <a:pt x="181" y="202"/>
                </a:cubicBezTo>
                <a:cubicBezTo>
                  <a:pt x="181" y="266"/>
                  <a:pt x="181" y="266"/>
                  <a:pt x="181" y="266"/>
                </a:cubicBezTo>
                <a:cubicBezTo>
                  <a:pt x="181" y="272"/>
                  <a:pt x="186" y="277"/>
                  <a:pt x="192" y="277"/>
                </a:cubicBezTo>
                <a:cubicBezTo>
                  <a:pt x="198" y="277"/>
                  <a:pt x="202" y="272"/>
                  <a:pt x="202" y="266"/>
                </a:cubicBezTo>
                <a:cubicBezTo>
                  <a:pt x="202" y="202"/>
                  <a:pt x="202" y="202"/>
                  <a:pt x="202" y="202"/>
                </a:cubicBezTo>
                <a:cubicBezTo>
                  <a:pt x="224" y="202"/>
                  <a:pt x="224" y="202"/>
                  <a:pt x="224" y="202"/>
                </a:cubicBezTo>
                <a:cubicBezTo>
                  <a:pt x="224" y="234"/>
                  <a:pt x="224" y="234"/>
                  <a:pt x="224" y="234"/>
                </a:cubicBezTo>
                <a:cubicBezTo>
                  <a:pt x="224" y="240"/>
                  <a:pt x="228" y="245"/>
                  <a:pt x="234" y="245"/>
                </a:cubicBezTo>
                <a:cubicBezTo>
                  <a:pt x="240" y="245"/>
                  <a:pt x="245" y="240"/>
                  <a:pt x="245" y="234"/>
                </a:cubicBezTo>
                <a:cubicBezTo>
                  <a:pt x="245" y="202"/>
                  <a:pt x="245" y="202"/>
                  <a:pt x="245" y="202"/>
                </a:cubicBezTo>
                <a:cubicBezTo>
                  <a:pt x="266" y="202"/>
                  <a:pt x="266" y="202"/>
                  <a:pt x="266" y="202"/>
                </a:cubicBezTo>
                <a:cubicBezTo>
                  <a:pt x="266" y="266"/>
                  <a:pt x="266" y="266"/>
                  <a:pt x="266" y="266"/>
                </a:cubicBezTo>
                <a:cubicBezTo>
                  <a:pt x="266" y="272"/>
                  <a:pt x="271" y="277"/>
                  <a:pt x="277" y="277"/>
                </a:cubicBezTo>
                <a:cubicBezTo>
                  <a:pt x="283" y="277"/>
                  <a:pt x="288" y="272"/>
                  <a:pt x="288" y="266"/>
                </a:cubicBezTo>
                <a:cubicBezTo>
                  <a:pt x="288" y="202"/>
                  <a:pt x="288" y="202"/>
                  <a:pt x="288" y="202"/>
                </a:cubicBezTo>
                <a:cubicBezTo>
                  <a:pt x="309" y="202"/>
                  <a:pt x="309" y="202"/>
                  <a:pt x="309" y="202"/>
                </a:cubicBezTo>
                <a:cubicBezTo>
                  <a:pt x="309" y="234"/>
                  <a:pt x="309" y="234"/>
                  <a:pt x="309" y="234"/>
                </a:cubicBezTo>
                <a:cubicBezTo>
                  <a:pt x="309" y="240"/>
                  <a:pt x="314" y="245"/>
                  <a:pt x="320" y="245"/>
                </a:cubicBezTo>
                <a:cubicBezTo>
                  <a:pt x="326" y="245"/>
                  <a:pt x="330" y="240"/>
                  <a:pt x="330" y="234"/>
                </a:cubicBezTo>
                <a:cubicBezTo>
                  <a:pt x="330" y="202"/>
                  <a:pt x="330" y="202"/>
                  <a:pt x="330" y="202"/>
                </a:cubicBezTo>
                <a:cubicBezTo>
                  <a:pt x="352" y="202"/>
                  <a:pt x="352" y="202"/>
                  <a:pt x="352" y="202"/>
                </a:cubicBezTo>
                <a:cubicBezTo>
                  <a:pt x="352" y="266"/>
                  <a:pt x="352" y="266"/>
                  <a:pt x="352" y="266"/>
                </a:cubicBezTo>
                <a:cubicBezTo>
                  <a:pt x="352" y="272"/>
                  <a:pt x="356" y="277"/>
                  <a:pt x="362" y="277"/>
                </a:cubicBezTo>
                <a:cubicBezTo>
                  <a:pt x="368" y="277"/>
                  <a:pt x="373" y="272"/>
                  <a:pt x="373" y="266"/>
                </a:cubicBezTo>
                <a:lnTo>
                  <a:pt x="373" y="20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92"/>
                </a:moveTo>
                <a:cubicBezTo>
                  <a:pt x="416" y="186"/>
                  <a:pt x="411" y="181"/>
                  <a:pt x="405" y="181"/>
                </a:cubicBezTo>
                <a:cubicBezTo>
                  <a:pt x="106" y="181"/>
                  <a:pt x="106" y="181"/>
                  <a:pt x="106" y="181"/>
                </a:cubicBezTo>
                <a:cubicBezTo>
                  <a:pt x="100" y="181"/>
                  <a:pt x="96" y="186"/>
                  <a:pt x="96" y="192"/>
                </a:cubicBezTo>
                <a:cubicBezTo>
                  <a:pt x="96" y="320"/>
                  <a:pt x="96" y="320"/>
                  <a:pt x="96" y="320"/>
                </a:cubicBezTo>
                <a:cubicBezTo>
                  <a:pt x="96" y="326"/>
                  <a:pt x="100" y="330"/>
                  <a:pt x="106" y="330"/>
                </a:cubicBezTo>
                <a:cubicBezTo>
                  <a:pt x="405" y="330"/>
                  <a:pt x="405" y="330"/>
                  <a:pt x="405" y="330"/>
                </a:cubicBezTo>
                <a:cubicBezTo>
                  <a:pt x="411" y="330"/>
                  <a:pt x="416" y="326"/>
                  <a:pt x="416" y="320"/>
                </a:cubicBezTo>
                <a:lnTo>
                  <a:pt x="416" y="192"/>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39" name="Freeform 279">
            <a:extLst>
              <a:ext uri="{FF2B5EF4-FFF2-40B4-BE49-F238E27FC236}">
                <a16:creationId xmlns:a16="http://schemas.microsoft.com/office/drawing/2014/main" id="{C87D7BE7-C34B-A0E6-0D28-1E31C85B0673}"/>
              </a:ext>
            </a:extLst>
          </p:cNvPr>
          <p:cNvSpPr>
            <a:spLocks noChangeAspect="1" noEditPoints="1"/>
          </p:cNvSpPr>
          <p:nvPr/>
        </p:nvSpPr>
        <p:spPr bwMode="auto">
          <a:xfrm>
            <a:off x="3337607" y="4606648"/>
            <a:ext cx="457200" cy="491394"/>
          </a:xfrm>
          <a:custGeom>
            <a:avLst/>
            <a:gdLst>
              <a:gd name="T0" fmla="*/ 149 w 512"/>
              <a:gd name="T1" fmla="*/ 294 h 512"/>
              <a:gd name="T2" fmla="*/ 170 w 512"/>
              <a:gd name="T3" fmla="*/ 192 h 512"/>
              <a:gd name="T4" fmla="*/ 181 w 512"/>
              <a:gd name="T5" fmla="*/ 261 h 512"/>
              <a:gd name="T6" fmla="*/ 192 w 512"/>
              <a:gd name="T7" fmla="*/ 157 h 512"/>
              <a:gd name="T8" fmla="*/ 224 w 512"/>
              <a:gd name="T9" fmla="*/ 142 h 512"/>
              <a:gd name="T10" fmla="*/ 217 w 512"/>
              <a:gd name="T11" fmla="*/ 197 h 512"/>
              <a:gd name="T12" fmla="*/ 235 w 512"/>
              <a:gd name="T13" fmla="*/ 208 h 512"/>
              <a:gd name="T14" fmla="*/ 245 w 512"/>
              <a:gd name="T15" fmla="*/ 189 h 512"/>
              <a:gd name="T16" fmla="*/ 245 w 512"/>
              <a:gd name="T17" fmla="*/ 128 h 512"/>
              <a:gd name="T18" fmla="*/ 266 w 512"/>
              <a:gd name="T19" fmla="*/ 129 h 512"/>
              <a:gd name="T20" fmla="*/ 268 w 512"/>
              <a:gd name="T21" fmla="*/ 194 h 512"/>
              <a:gd name="T22" fmla="*/ 279 w 512"/>
              <a:gd name="T23" fmla="*/ 211 h 512"/>
              <a:gd name="T24" fmla="*/ 283 w 512"/>
              <a:gd name="T25" fmla="*/ 213 h 512"/>
              <a:gd name="T26" fmla="*/ 285 w 512"/>
              <a:gd name="T27" fmla="*/ 213 h 512"/>
              <a:gd name="T28" fmla="*/ 287 w 512"/>
              <a:gd name="T29" fmla="*/ 213 h 512"/>
              <a:gd name="T30" fmla="*/ 294 w 512"/>
              <a:gd name="T31" fmla="*/ 197 h 512"/>
              <a:gd name="T32" fmla="*/ 288 w 512"/>
              <a:gd name="T33" fmla="*/ 142 h 512"/>
              <a:gd name="T34" fmla="*/ 320 w 512"/>
              <a:gd name="T35" fmla="*/ 157 h 512"/>
              <a:gd name="T36" fmla="*/ 330 w 512"/>
              <a:gd name="T37" fmla="*/ 261 h 512"/>
              <a:gd name="T38" fmla="*/ 341 w 512"/>
              <a:gd name="T39" fmla="*/ 192 h 512"/>
              <a:gd name="T40" fmla="*/ 362 w 512"/>
              <a:gd name="T41" fmla="*/ 293 h 512"/>
              <a:gd name="T42" fmla="*/ 384 w 512"/>
              <a:gd name="T43" fmla="*/ 297 h 512"/>
              <a:gd name="T44" fmla="*/ 379 w 512"/>
              <a:gd name="T45" fmla="*/ 307 h 512"/>
              <a:gd name="T46" fmla="*/ 130 w 512"/>
              <a:gd name="T47" fmla="*/ 305 h 512"/>
              <a:gd name="T48" fmla="*/ 128 w 512"/>
              <a:gd name="T49" fmla="*/ 297 h 512"/>
              <a:gd name="T50" fmla="*/ 118 w 512"/>
              <a:gd name="T51" fmla="*/ 319 h 512"/>
              <a:gd name="T52" fmla="*/ 256 w 512"/>
              <a:gd name="T53" fmla="*/ 362 h 512"/>
              <a:gd name="T54" fmla="*/ 257 w 512"/>
              <a:gd name="T55" fmla="*/ 362 h 512"/>
              <a:gd name="T56" fmla="*/ 394 w 512"/>
              <a:gd name="T57" fmla="*/ 319 h 512"/>
              <a:gd name="T58" fmla="*/ 384 w 512"/>
              <a:gd name="T59" fmla="*/ 297 h 512"/>
              <a:gd name="T60" fmla="*/ 256 w 512"/>
              <a:gd name="T61" fmla="*/ 512 h 512"/>
              <a:gd name="T62" fmla="*/ 256 w 512"/>
              <a:gd name="T63" fmla="*/ 0 h 512"/>
              <a:gd name="T64" fmla="*/ 414 w 512"/>
              <a:gd name="T65" fmla="*/ 289 h 512"/>
              <a:gd name="T66" fmla="*/ 384 w 512"/>
              <a:gd name="T67" fmla="*/ 274 h 512"/>
              <a:gd name="T68" fmla="*/ 341 w 512"/>
              <a:gd name="T69" fmla="*/ 156 h 512"/>
              <a:gd name="T70" fmla="*/ 335 w 512"/>
              <a:gd name="T71" fmla="*/ 141 h 512"/>
              <a:gd name="T72" fmla="*/ 288 w 512"/>
              <a:gd name="T73" fmla="*/ 120 h 512"/>
              <a:gd name="T74" fmla="*/ 277 w 512"/>
              <a:gd name="T75" fmla="*/ 106 h 512"/>
              <a:gd name="T76" fmla="*/ 224 w 512"/>
              <a:gd name="T77" fmla="*/ 117 h 512"/>
              <a:gd name="T78" fmla="*/ 187 w 512"/>
              <a:gd name="T79" fmla="*/ 135 h 512"/>
              <a:gd name="T80" fmla="*/ 170 w 512"/>
              <a:gd name="T81" fmla="*/ 150 h 512"/>
              <a:gd name="T82" fmla="*/ 128 w 512"/>
              <a:gd name="T83" fmla="*/ 260 h 512"/>
              <a:gd name="T84" fmla="*/ 105 w 512"/>
              <a:gd name="T85" fmla="*/ 281 h 512"/>
              <a:gd name="T86" fmla="*/ 97 w 512"/>
              <a:gd name="T87" fmla="*/ 325 h 512"/>
              <a:gd name="T88" fmla="*/ 119 w 512"/>
              <a:gd name="T89" fmla="*/ 370 h 512"/>
              <a:gd name="T90" fmla="*/ 256 w 512"/>
              <a:gd name="T91" fmla="*/ 384 h 512"/>
              <a:gd name="T92" fmla="*/ 393 w 512"/>
              <a:gd name="T93" fmla="*/ 370 h 512"/>
              <a:gd name="T94" fmla="*/ 415 w 512"/>
              <a:gd name="T95" fmla="*/ 32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256" y="311"/>
                </a:moveTo>
                <a:cubicBezTo>
                  <a:pt x="182" y="311"/>
                  <a:pt x="160" y="298"/>
                  <a:pt x="149" y="294"/>
                </a:cubicBezTo>
                <a:cubicBezTo>
                  <a:pt x="149" y="260"/>
                  <a:pt x="149" y="260"/>
                  <a:pt x="149" y="260"/>
                </a:cubicBezTo>
                <a:cubicBezTo>
                  <a:pt x="149" y="232"/>
                  <a:pt x="160" y="209"/>
                  <a:pt x="170" y="192"/>
                </a:cubicBezTo>
                <a:cubicBezTo>
                  <a:pt x="170" y="250"/>
                  <a:pt x="170" y="250"/>
                  <a:pt x="170" y="250"/>
                </a:cubicBezTo>
                <a:cubicBezTo>
                  <a:pt x="170" y="256"/>
                  <a:pt x="175" y="261"/>
                  <a:pt x="181" y="261"/>
                </a:cubicBezTo>
                <a:cubicBezTo>
                  <a:pt x="187" y="261"/>
                  <a:pt x="192" y="256"/>
                  <a:pt x="192" y="250"/>
                </a:cubicBezTo>
                <a:cubicBezTo>
                  <a:pt x="192" y="157"/>
                  <a:pt x="192" y="157"/>
                  <a:pt x="192" y="157"/>
                </a:cubicBezTo>
                <a:cubicBezTo>
                  <a:pt x="192" y="156"/>
                  <a:pt x="195" y="155"/>
                  <a:pt x="197" y="154"/>
                </a:cubicBezTo>
                <a:cubicBezTo>
                  <a:pt x="207" y="149"/>
                  <a:pt x="213" y="145"/>
                  <a:pt x="224" y="142"/>
                </a:cubicBezTo>
                <a:cubicBezTo>
                  <a:pt x="224" y="186"/>
                  <a:pt x="224" y="186"/>
                  <a:pt x="224" y="186"/>
                </a:cubicBezTo>
                <a:cubicBezTo>
                  <a:pt x="217" y="197"/>
                  <a:pt x="217" y="197"/>
                  <a:pt x="217" y="197"/>
                </a:cubicBezTo>
                <a:cubicBezTo>
                  <a:pt x="214" y="202"/>
                  <a:pt x="215" y="208"/>
                  <a:pt x="220" y="211"/>
                </a:cubicBezTo>
                <a:cubicBezTo>
                  <a:pt x="225" y="214"/>
                  <a:pt x="232" y="213"/>
                  <a:pt x="235" y="208"/>
                </a:cubicBezTo>
                <a:cubicBezTo>
                  <a:pt x="243" y="194"/>
                  <a:pt x="243" y="194"/>
                  <a:pt x="243" y="194"/>
                </a:cubicBezTo>
                <a:cubicBezTo>
                  <a:pt x="244" y="193"/>
                  <a:pt x="245" y="191"/>
                  <a:pt x="245" y="189"/>
                </a:cubicBezTo>
                <a:cubicBezTo>
                  <a:pt x="245" y="129"/>
                  <a:pt x="245" y="129"/>
                  <a:pt x="245" y="129"/>
                </a:cubicBezTo>
                <a:cubicBezTo>
                  <a:pt x="245" y="128"/>
                  <a:pt x="245" y="128"/>
                  <a:pt x="245" y="128"/>
                </a:cubicBezTo>
                <a:cubicBezTo>
                  <a:pt x="266" y="128"/>
                  <a:pt x="266" y="128"/>
                  <a:pt x="266" y="128"/>
                </a:cubicBezTo>
                <a:cubicBezTo>
                  <a:pt x="266" y="129"/>
                  <a:pt x="266" y="129"/>
                  <a:pt x="266" y="129"/>
                </a:cubicBezTo>
                <a:cubicBezTo>
                  <a:pt x="266" y="189"/>
                  <a:pt x="266" y="189"/>
                  <a:pt x="266" y="189"/>
                </a:cubicBezTo>
                <a:cubicBezTo>
                  <a:pt x="266" y="191"/>
                  <a:pt x="267" y="193"/>
                  <a:pt x="268" y="194"/>
                </a:cubicBezTo>
                <a:cubicBezTo>
                  <a:pt x="276" y="208"/>
                  <a:pt x="276" y="208"/>
                  <a:pt x="276" y="208"/>
                </a:cubicBezTo>
                <a:cubicBezTo>
                  <a:pt x="277" y="209"/>
                  <a:pt x="278" y="210"/>
                  <a:pt x="279" y="211"/>
                </a:cubicBezTo>
                <a:cubicBezTo>
                  <a:pt x="279" y="211"/>
                  <a:pt x="279" y="211"/>
                  <a:pt x="279" y="211"/>
                </a:cubicBezTo>
                <a:cubicBezTo>
                  <a:pt x="280" y="212"/>
                  <a:pt x="281" y="212"/>
                  <a:pt x="283" y="213"/>
                </a:cubicBezTo>
                <a:cubicBezTo>
                  <a:pt x="283" y="213"/>
                  <a:pt x="283" y="213"/>
                  <a:pt x="283" y="213"/>
                </a:cubicBezTo>
                <a:cubicBezTo>
                  <a:pt x="284" y="213"/>
                  <a:pt x="284" y="213"/>
                  <a:pt x="285" y="213"/>
                </a:cubicBezTo>
                <a:cubicBezTo>
                  <a:pt x="286" y="213"/>
                  <a:pt x="286" y="213"/>
                  <a:pt x="286" y="213"/>
                </a:cubicBezTo>
                <a:cubicBezTo>
                  <a:pt x="287" y="213"/>
                  <a:pt x="287" y="213"/>
                  <a:pt x="287" y="213"/>
                </a:cubicBezTo>
                <a:cubicBezTo>
                  <a:pt x="288" y="213"/>
                  <a:pt x="290" y="212"/>
                  <a:pt x="291" y="211"/>
                </a:cubicBezTo>
                <a:cubicBezTo>
                  <a:pt x="296" y="208"/>
                  <a:pt x="297" y="202"/>
                  <a:pt x="294" y="197"/>
                </a:cubicBezTo>
                <a:cubicBezTo>
                  <a:pt x="288" y="186"/>
                  <a:pt x="288" y="186"/>
                  <a:pt x="288" y="186"/>
                </a:cubicBezTo>
                <a:cubicBezTo>
                  <a:pt x="288" y="142"/>
                  <a:pt x="288" y="142"/>
                  <a:pt x="288" y="142"/>
                </a:cubicBezTo>
                <a:cubicBezTo>
                  <a:pt x="298" y="145"/>
                  <a:pt x="304" y="149"/>
                  <a:pt x="314" y="154"/>
                </a:cubicBezTo>
                <a:cubicBezTo>
                  <a:pt x="316" y="155"/>
                  <a:pt x="320" y="156"/>
                  <a:pt x="320" y="157"/>
                </a:cubicBezTo>
                <a:cubicBezTo>
                  <a:pt x="320" y="250"/>
                  <a:pt x="320" y="250"/>
                  <a:pt x="320" y="250"/>
                </a:cubicBezTo>
                <a:cubicBezTo>
                  <a:pt x="320" y="256"/>
                  <a:pt x="324" y="261"/>
                  <a:pt x="330" y="261"/>
                </a:cubicBezTo>
                <a:cubicBezTo>
                  <a:pt x="336" y="261"/>
                  <a:pt x="341" y="256"/>
                  <a:pt x="341" y="250"/>
                </a:cubicBezTo>
                <a:cubicBezTo>
                  <a:pt x="341" y="192"/>
                  <a:pt x="341" y="192"/>
                  <a:pt x="341" y="192"/>
                </a:cubicBezTo>
                <a:cubicBezTo>
                  <a:pt x="352" y="209"/>
                  <a:pt x="362" y="232"/>
                  <a:pt x="362" y="260"/>
                </a:cubicBezTo>
                <a:cubicBezTo>
                  <a:pt x="362" y="293"/>
                  <a:pt x="362" y="293"/>
                  <a:pt x="362" y="293"/>
                </a:cubicBezTo>
                <a:cubicBezTo>
                  <a:pt x="352" y="298"/>
                  <a:pt x="329" y="311"/>
                  <a:pt x="256" y="311"/>
                </a:cubicBezTo>
                <a:close/>
                <a:moveTo>
                  <a:pt x="384" y="297"/>
                </a:moveTo>
                <a:cubicBezTo>
                  <a:pt x="384" y="298"/>
                  <a:pt x="384" y="298"/>
                  <a:pt x="384" y="298"/>
                </a:cubicBezTo>
                <a:cubicBezTo>
                  <a:pt x="384" y="302"/>
                  <a:pt x="382" y="305"/>
                  <a:pt x="379" y="307"/>
                </a:cubicBezTo>
                <a:cubicBezTo>
                  <a:pt x="371" y="314"/>
                  <a:pt x="343" y="332"/>
                  <a:pt x="256" y="332"/>
                </a:cubicBezTo>
                <a:cubicBezTo>
                  <a:pt x="155" y="332"/>
                  <a:pt x="133" y="309"/>
                  <a:pt x="130" y="305"/>
                </a:cubicBezTo>
                <a:cubicBezTo>
                  <a:pt x="128" y="303"/>
                  <a:pt x="128" y="301"/>
                  <a:pt x="128" y="298"/>
                </a:cubicBezTo>
                <a:cubicBezTo>
                  <a:pt x="128" y="297"/>
                  <a:pt x="128" y="297"/>
                  <a:pt x="128" y="297"/>
                </a:cubicBezTo>
                <a:cubicBezTo>
                  <a:pt x="118" y="300"/>
                  <a:pt x="118" y="300"/>
                  <a:pt x="118" y="300"/>
                </a:cubicBezTo>
                <a:cubicBezTo>
                  <a:pt x="117" y="306"/>
                  <a:pt x="116" y="314"/>
                  <a:pt x="118" y="319"/>
                </a:cubicBezTo>
                <a:cubicBezTo>
                  <a:pt x="120" y="328"/>
                  <a:pt x="130" y="346"/>
                  <a:pt x="135" y="355"/>
                </a:cubicBezTo>
                <a:cubicBezTo>
                  <a:pt x="141" y="357"/>
                  <a:pt x="167" y="362"/>
                  <a:pt x="256" y="362"/>
                </a:cubicBezTo>
                <a:cubicBezTo>
                  <a:pt x="256" y="362"/>
                  <a:pt x="256" y="362"/>
                  <a:pt x="256" y="362"/>
                </a:cubicBezTo>
                <a:cubicBezTo>
                  <a:pt x="256" y="362"/>
                  <a:pt x="256" y="362"/>
                  <a:pt x="257" y="362"/>
                </a:cubicBezTo>
                <a:cubicBezTo>
                  <a:pt x="345" y="362"/>
                  <a:pt x="371" y="357"/>
                  <a:pt x="377" y="355"/>
                </a:cubicBezTo>
                <a:cubicBezTo>
                  <a:pt x="383" y="346"/>
                  <a:pt x="392" y="328"/>
                  <a:pt x="394" y="319"/>
                </a:cubicBezTo>
                <a:cubicBezTo>
                  <a:pt x="396" y="314"/>
                  <a:pt x="395" y="306"/>
                  <a:pt x="395" y="300"/>
                </a:cubicBezTo>
                <a:lnTo>
                  <a:pt x="384" y="29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4" y="289"/>
                </a:moveTo>
                <a:cubicBezTo>
                  <a:pt x="414" y="286"/>
                  <a:pt x="411" y="282"/>
                  <a:pt x="407" y="281"/>
                </a:cubicBezTo>
                <a:cubicBezTo>
                  <a:pt x="384" y="274"/>
                  <a:pt x="384" y="274"/>
                  <a:pt x="384" y="274"/>
                </a:cubicBezTo>
                <a:cubicBezTo>
                  <a:pt x="384" y="260"/>
                  <a:pt x="384" y="260"/>
                  <a:pt x="384" y="260"/>
                </a:cubicBezTo>
                <a:cubicBezTo>
                  <a:pt x="384" y="225"/>
                  <a:pt x="373" y="186"/>
                  <a:pt x="341" y="156"/>
                </a:cubicBezTo>
                <a:cubicBezTo>
                  <a:pt x="341" y="150"/>
                  <a:pt x="341" y="150"/>
                  <a:pt x="341" y="150"/>
                </a:cubicBezTo>
                <a:cubicBezTo>
                  <a:pt x="341" y="146"/>
                  <a:pt x="339" y="143"/>
                  <a:pt x="335" y="141"/>
                </a:cubicBezTo>
                <a:cubicBezTo>
                  <a:pt x="331" y="139"/>
                  <a:pt x="327" y="137"/>
                  <a:pt x="324" y="135"/>
                </a:cubicBezTo>
                <a:cubicBezTo>
                  <a:pt x="312" y="129"/>
                  <a:pt x="301" y="123"/>
                  <a:pt x="288" y="120"/>
                </a:cubicBezTo>
                <a:cubicBezTo>
                  <a:pt x="288" y="117"/>
                  <a:pt x="288" y="117"/>
                  <a:pt x="288" y="117"/>
                </a:cubicBezTo>
                <a:cubicBezTo>
                  <a:pt x="288" y="111"/>
                  <a:pt x="283" y="106"/>
                  <a:pt x="277" y="106"/>
                </a:cubicBezTo>
                <a:cubicBezTo>
                  <a:pt x="234" y="106"/>
                  <a:pt x="234" y="106"/>
                  <a:pt x="234" y="106"/>
                </a:cubicBezTo>
                <a:cubicBezTo>
                  <a:pt x="228" y="106"/>
                  <a:pt x="224" y="111"/>
                  <a:pt x="224" y="117"/>
                </a:cubicBezTo>
                <a:cubicBezTo>
                  <a:pt x="224" y="120"/>
                  <a:pt x="224" y="120"/>
                  <a:pt x="224" y="120"/>
                </a:cubicBezTo>
                <a:cubicBezTo>
                  <a:pt x="210" y="123"/>
                  <a:pt x="200" y="129"/>
                  <a:pt x="187" y="135"/>
                </a:cubicBezTo>
                <a:cubicBezTo>
                  <a:pt x="184" y="137"/>
                  <a:pt x="180" y="139"/>
                  <a:pt x="176" y="141"/>
                </a:cubicBezTo>
                <a:cubicBezTo>
                  <a:pt x="173" y="143"/>
                  <a:pt x="170" y="146"/>
                  <a:pt x="170" y="150"/>
                </a:cubicBezTo>
                <a:cubicBezTo>
                  <a:pt x="170" y="156"/>
                  <a:pt x="170" y="156"/>
                  <a:pt x="170" y="156"/>
                </a:cubicBezTo>
                <a:cubicBezTo>
                  <a:pt x="138" y="186"/>
                  <a:pt x="128" y="225"/>
                  <a:pt x="128" y="260"/>
                </a:cubicBezTo>
                <a:cubicBezTo>
                  <a:pt x="128" y="274"/>
                  <a:pt x="128" y="274"/>
                  <a:pt x="128" y="274"/>
                </a:cubicBezTo>
                <a:cubicBezTo>
                  <a:pt x="105" y="281"/>
                  <a:pt x="105" y="281"/>
                  <a:pt x="105" y="281"/>
                </a:cubicBezTo>
                <a:cubicBezTo>
                  <a:pt x="101" y="283"/>
                  <a:pt x="99" y="286"/>
                  <a:pt x="98" y="289"/>
                </a:cubicBezTo>
                <a:cubicBezTo>
                  <a:pt x="97" y="291"/>
                  <a:pt x="94" y="310"/>
                  <a:pt x="97" y="325"/>
                </a:cubicBezTo>
                <a:cubicBezTo>
                  <a:pt x="101" y="339"/>
                  <a:pt x="116" y="365"/>
                  <a:pt x="118" y="368"/>
                </a:cubicBezTo>
                <a:cubicBezTo>
                  <a:pt x="118" y="369"/>
                  <a:pt x="119" y="370"/>
                  <a:pt x="119" y="370"/>
                </a:cubicBezTo>
                <a:cubicBezTo>
                  <a:pt x="128" y="379"/>
                  <a:pt x="174" y="384"/>
                  <a:pt x="256" y="384"/>
                </a:cubicBezTo>
                <a:cubicBezTo>
                  <a:pt x="256" y="384"/>
                  <a:pt x="256" y="384"/>
                  <a:pt x="256" y="384"/>
                </a:cubicBezTo>
                <a:cubicBezTo>
                  <a:pt x="256" y="384"/>
                  <a:pt x="256" y="384"/>
                  <a:pt x="257" y="384"/>
                </a:cubicBezTo>
                <a:cubicBezTo>
                  <a:pt x="338" y="384"/>
                  <a:pt x="384" y="379"/>
                  <a:pt x="393" y="370"/>
                </a:cubicBezTo>
                <a:cubicBezTo>
                  <a:pt x="393" y="370"/>
                  <a:pt x="394" y="369"/>
                  <a:pt x="394" y="368"/>
                </a:cubicBezTo>
                <a:cubicBezTo>
                  <a:pt x="396" y="365"/>
                  <a:pt x="411" y="339"/>
                  <a:pt x="415" y="325"/>
                </a:cubicBezTo>
                <a:cubicBezTo>
                  <a:pt x="419" y="310"/>
                  <a:pt x="415" y="291"/>
                  <a:pt x="414" y="289"/>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40" name="Freeform 917">
            <a:extLst>
              <a:ext uri="{FF2B5EF4-FFF2-40B4-BE49-F238E27FC236}">
                <a16:creationId xmlns:a16="http://schemas.microsoft.com/office/drawing/2014/main" id="{0C377BAD-035E-6912-0687-2ABBD45C05B5}"/>
              </a:ext>
            </a:extLst>
          </p:cNvPr>
          <p:cNvSpPr>
            <a:spLocks noChangeAspect="1" noEditPoints="1"/>
          </p:cNvSpPr>
          <p:nvPr/>
        </p:nvSpPr>
        <p:spPr bwMode="auto">
          <a:xfrm>
            <a:off x="10463719" y="3016065"/>
            <a:ext cx="457200" cy="492843"/>
          </a:xfrm>
          <a:custGeom>
            <a:avLst/>
            <a:gdLst>
              <a:gd name="T0" fmla="*/ 277 w 512"/>
              <a:gd name="T1" fmla="*/ 138 h 512"/>
              <a:gd name="T2" fmla="*/ 277 w 512"/>
              <a:gd name="T3" fmla="*/ 245 h 512"/>
              <a:gd name="T4" fmla="*/ 234 w 512"/>
              <a:gd name="T5" fmla="*/ 245 h 512"/>
              <a:gd name="T6" fmla="*/ 234 w 512"/>
              <a:gd name="T7" fmla="*/ 138 h 512"/>
              <a:gd name="T8" fmla="*/ 256 w 512"/>
              <a:gd name="T9" fmla="*/ 117 h 512"/>
              <a:gd name="T10" fmla="*/ 277 w 512"/>
              <a:gd name="T11" fmla="*/ 138 h 512"/>
              <a:gd name="T12" fmla="*/ 512 w 512"/>
              <a:gd name="T13" fmla="*/ 256 h 512"/>
              <a:gd name="T14" fmla="*/ 256 w 512"/>
              <a:gd name="T15" fmla="*/ 512 h 512"/>
              <a:gd name="T16" fmla="*/ 0 w 512"/>
              <a:gd name="T17" fmla="*/ 256 h 512"/>
              <a:gd name="T18" fmla="*/ 256 w 512"/>
              <a:gd name="T19" fmla="*/ 0 h 512"/>
              <a:gd name="T20" fmla="*/ 512 w 512"/>
              <a:gd name="T21" fmla="*/ 256 h 512"/>
              <a:gd name="T22" fmla="*/ 298 w 512"/>
              <a:gd name="T23" fmla="*/ 138 h 512"/>
              <a:gd name="T24" fmla="*/ 256 w 512"/>
              <a:gd name="T25" fmla="*/ 96 h 512"/>
              <a:gd name="T26" fmla="*/ 213 w 512"/>
              <a:gd name="T27" fmla="*/ 138 h 512"/>
              <a:gd name="T28" fmla="*/ 213 w 512"/>
              <a:gd name="T29" fmla="*/ 256 h 512"/>
              <a:gd name="T30" fmla="*/ 224 w 512"/>
              <a:gd name="T31" fmla="*/ 266 h 512"/>
              <a:gd name="T32" fmla="*/ 245 w 512"/>
              <a:gd name="T33" fmla="*/ 266 h 512"/>
              <a:gd name="T34" fmla="*/ 245 w 512"/>
              <a:gd name="T35" fmla="*/ 373 h 512"/>
              <a:gd name="T36" fmla="*/ 236 w 512"/>
              <a:gd name="T37" fmla="*/ 378 h 512"/>
              <a:gd name="T38" fmla="*/ 235 w 512"/>
              <a:gd name="T39" fmla="*/ 388 h 512"/>
              <a:gd name="T40" fmla="*/ 246 w 512"/>
              <a:gd name="T41" fmla="*/ 410 h 512"/>
              <a:gd name="T42" fmla="*/ 256 w 512"/>
              <a:gd name="T43" fmla="*/ 416 h 512"/>
              <a:gd name="T44" fmla="*/ 265 w 512"/>
              <a:gd name="T45" fmla="*/ 410 h 512"/>
              <a:gd name="T46" fmla="*/ 276 w 512"/>
              <a:gd name="T47" fmla="*/ 388 h 512"/>
              <a:gd name="T48" fmla="*/ 275 w 512"/>
              <a:gd name="T49" fmla="*/ 378 h 512"/>
              <a:gd name="T50" fmla="*/ 266 w 512"/>
              <a:gd name="T51" fmla="*/ 373 h 512"/>
              <a:gd name="T52" fmla="*/ 266 w 512"/>
              <a:gd name="T53" fmla="*/ 266 h 512"/>
              <a:gd name="T54" fmla="*/ 288 w 512"/>
              <a:gd name="T55" fmla="*/ 266 h 512"/>
              <a:gd name="T56" fmla="*/ 298 w 512"/>
              <a:gd name="T57" fmla="*/ 256 h 512"/>
              <a:gd name="T58" fmla="*/ 298 w 512"/>
              <a:gd name="T59" fmla="*/ 13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77" y="138"/>
                </a:moveTo>
                <a:cubicBezTo>
                  <a:pt x="277" y="245"/>
                  <a:pt x="277" y="245"/>
                  <a:pt x="277" y="245"/>
                </a:cubicBezTo>
                <a:cubicBezTo>
                  <a:pt x="234" y="245"/>
                  <a:pt x="234" y="245"/>
                  <a:pt x="234" y="245"/>
                </a:cubicBezTo>
                <a:cubicBezTo>
                  <a:pt x="234" y="138"/>
                  <a:pt x="234" y="138"/>
                  <a:pt x="234" y="138"/>
                </a:cubicBezTo>
                <a:cubicBezTo>
                  <a:pt x="234" y="127"/>
                  <a:pt x="244" y="117"/>
                  <a:pt x="256" y="117"/>
                </a:cubicBezTo>
                <a:cubicBezTo>
                  <a:pt x="267" y="117"/>
                  <a:pt x="277" y="127"/>
                  <a:pt x="277"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98" y="138"/>
                </a:moveTo>
                <a:cubicBezTo>
                  <a:pt x="298" y="115"/>
                  <a:pt x="279" y="96"/>
                  <a:pt x="256" y="96"/>
                </a:cubicBezTo>
                <a:cubicBezTo>
                  <a:pt x="232" y="96"/>
                  <a:pt x="213" y="115"/>
                  <a:pt x="213" y="138"/>
                </a:cubicBezTo>
                <a:cubicBezTo>
                  <a:pt x="213" y="256"/>
                  <a:pt x="213" y="256"/>
                  <a:pt x="213" y="256"/>
                </a:cubicBezTo>
                <a:cubicBezTo>
                  <a:pt x="213" y="262"/>
                  <a:pt x="218" y="266"/>
                  <a:pt x="224" y="266"/>
                </a:cubicBezTo>
                <a:cubicBezTo>
                  <a:pt x="245" y="266"/>
                  <a:pt x="245" y="266"/>
                  <a:pt x="245" y="266"/>
                </a:cubicBezTo>
                <a:cubicBezTo>
                  <a:pt x="245" y="373"/>
                  <a:pt x="245" y="373"/>
                  <a:pt x="245" y="373"/>
                </a:cubicBezTo>
                <a:cubicBezTo>
                  <a:pt x="241" y="373"/>
                  <a:pt x="238" y="375"/>
                  <a:pt x="236" y="378"/>
                </a:cubicBezTo>
                <a:cubicBezTo>
                  <a:pt x="234" y="381"/>
                  <a:pt x="234" y="385"/>
                  <a:pt x="235" y="388"/>
                </a:cubicBezTo>
                <a:cubicBezTo>
                  <a:pt x="246" y="410"/>
                  <a:pt x="246" y="410"/>
                  <a:pt x="246" y="410"/>
                </a:cubicBezTo>
                <a:cubicBezTo>
                  <a:pt x="248" y="413"/>
                  <a:pt x="252" y="416"/>
                  <a:pt x="256" y="416"/>
                </a:cubicBezTo>
                <a:cubicBezTo>
                  <a:pt x="260" y="416"/>
                  <a:pt x="263" y="413"/>
                  <a:pt x="265" y="410"/>
                </a:cubicBezTo>
                <a:cubicBezTo>
                  <a:pt x="276" y="388"/>
                  <a:pt x="276" y="388"/>
                  <a:pt x="276" y="388"/>
                </a:cubicBezTo>
                <a:cubicBezTo>
                  <a:pt x="278" y="385"/>
                  <a:pt x="277" y="381"/>
                  <a:pt x="275" y="378"/>
                </a:cubicBezTo>
                <a:cubicBezTo>
                  <a:pt x="273" y="375"/>
                  <a:pt x="270" y="373"/>
                  <a:pt x="266" y="373"/>
                </a:cubicBezTo>
                <a:cubicBezTo>
                  <a:pt x="266" y="266"/>
                  <a:pt x="266" y="266"/>
                  <a:pt x="266" y="266"/>
                </a:cubicBezTo>
                <a:cubicBezTo>
                  <a:pt x="288" y="266"/>
                  <a:pt x="288" y="266"/>
                  <a:pt x="288" y="266"/>
                </a:cubicBezTo>
                <a:cubicBezTo>
                  <a:pt x="294" y="266"/>
                  <a:pt x="298" y="262"/>
                  <a:pt x="298" y="256"/>
                </a:cubicBezTo>
                <a:lnTo>
                  <a:pt x="298" y="138"/>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44" name="Rectangle 43">
            <a:extLst>
              <a:ext uri="{FF2B5EF4-FFF2-40B4-BE49-F238E27FC236}">
                <a16:creationId xmlns:a16="http://schemas.microsoft.com/office/drawing/2014/main" id="{D4B603C0-509C-F7E7-8D5A-3904FD5A8163}"/>
              </a:ext>
            </a:extLst>
          </p:cNvPr>
          <p:cNvSpPr/>
          <p:nvPr/>
        </p:nvSpPr>
        <p:spPr>
          <a:xfrm>
            <a:off x="1832603" y="5670329"/>
            <a:ext cx="3010007" cy="900246"/>
          </a:xfrm>
          <a:prstGeom prst="rect">
            <a:avLst/>
          </a:prstGeom>
        </p:spPr>
        <p:txBody>
          <a:bodyPr wrap="square">
            <a:spAutoFit/>
          </a:bodyPr>
          <a:lstStyle/>
          <a:p>
            <a:pPr marL="171450" indent="-171450">
              <a:buFont typeface="Arial" panose="020B0604020202020204" pitchFamily="34" charset="0"/>
              <a:buChar char="•"/>
              <a:defRPr/>
            </a:pPr>
            <a:r>
              <a:rPr lang="en-US" sz="1050" dirty="0"/>
              <a:t>Centralized data access and tracking.</a:t>
            </a:r>
          </a:p>
          <a:p>
            <a:pPr marL="171450" indent="-171450">
              <a:buFont typeface="Arial" panose="020B0604020202020204" pitchFamily="34" charset="0"/>
              <a:buChar char="•"/>
              <a:defRPr/>
            </a:pPr>
            <a:r>
              <a:rPr lang="en-US" sz="1050" dirty="0"/>
              <a:t>Network tracing, reporting, and single-line diagram creation.</a:t>
            </a:r>
          </a:p>
          <a:p>
            <a:pPr marL="171450" indent="-171450">
              <a:buFont typeface="Arial" panose="020B0604020202020204" pitchFamily="34" charset="0"/>
              <a:buChar char="•"/>
              <a:defRPr/>
            </a:pPr>
            <a:r>
              <a:rPr lang="en-US" sz="1050" dirty="0"/>
              <a:t>Integration with 3rd party systems for Load Flow Analysis.</a:t>
            </a:r>
            <a:endParaRPr lang="id-ID" sz="1050" dirty="0"/>
          </a:p>
        </p:txBody>
      </p:sp>
      <p:sp>
        <p:nvSpPr>
          <p:cNvPr id="45" name="TextBox 44">
            <a:extLst>
              <a:ext uri="{FF2B5EF4-FFF2-40B4-BE49-F238E27FC236}">
                <a16:creationId xmlns:a16="http://schemas.microsoft.com/office/drawing/2014/main" id="{38898DEC-6BF9-6A36-86A0-E92E2521C826}"/>
              </a:ext>
            </a:extLst>
          </p:cNvPr>
          <p:cNvSpPr txBox="1"/>
          <p:nvPr/>
        </p:nvSpPr>
        <p:spPr>
          <a:xfrm>
            <a:off x="3951600" y="3104449"/>
            <a:ext cx="1754006" cy="261610"/>
          </a:xfrm>
          <a:prstGeom prst="rect">
            <a:avLst/>
          </a:prstGeom>
          <a:noFill/>
        </p:spPr>
        <p:txBody>
          <a:bodyPr wrap="none">
            <a:spAutoFit/>
          </a:bodyPr>
          <a:lstStyle/>
          <a:p>
            <a:pPr algn="ctr">
              <a:defRPr/>
            </a:pPr>
            <a:r>
              <a:rPr lang="en-US" sz="1100" b="1" dirty="0">
                <a:latin typeface="+mj-lt"/>
              </a:rPr>
              <a:t>3. Benefits Realized</a:t>
            </a:r>
            <a:endParaRPr lang="id-ID" sz="1100" b="1" dirty="0">
              <a:latin typeface="+mj-lt"/>
            </a:endParaRPr>
          </a:p>
        </p:txBody>
      </p:sp>
      <p:sp>
        <p:nvSpPr>
          <p:cNvPr id="46" name="Rectangle 45">
            <a:extLst>
              <a:ext uri="{FF2B5EF4-FFF2-40B4-BE49-F238E27FC236}">
                <a16:creationId xmlns:a16="http://schemas.microsoft.com/office/drawing/2014/main" id="{F1C83268-EA8D-5332-FF8D-45D8D7FD72C8}"/>
              </a:ext>
            </a:extLst>
          </p:cNvPr>
          <p:cNvSpPr/>
          <p:nvPr/>
        </p:nvSpPr>
        <p:spPr>
          <a:xfrm>
            <a:off x="3392634" y="3326573"/>
            <a:ext cx="2840347" cy="1061829"/>
          </a:xfrm>
          <a:prstGeom prst="rect">
            <a:avLst/>
          </a:prstGeom>
        </p:spPr>
        <p:txBody>
          <a:bodyPr wrap="square">
            <a:spAutoFit/>
          </a:bodyPr>
          <a:lstStyle/>
          <a:p>
            <a:pPr marL="171450" indent="-171450">
              <a:buFont typeface="Arial" panose="020B0604020202020204" pitchFamily="34" charset="0"/>
              <a:buChar char="•"/>
              <a:defRPr/>
            </a:pPr>
            <a:r>
              <a:rPr lang="en-US" sz="1050" dirty="0"/>
              <a:t>Cost and time savings with higher visibility and automatic updates.</a:t>
            </a:r>
          </a:p>
          <a:p>
            <a:pPr marL="171450" indent="-171450">
              <a:buFont typeface="Arial" panose="020B0604020202020204" pitchFamily="34" charset="0"/>
              <a:buChar char="•"/>
              <a:defRPr/>
            </a:pPr>
            <a:r>
              <a:rPr lang="en-US" sz="1050" dirty="0"/>
              <a:t>Improved customer satisfaction with reduced response time for new connections and timely error resolution</a:t>
            </a:r>
            <a:endParaRPr lang="id-ID" sz="1050" dirty="0"/>
          </a:p>
        </p:txBody>
      </p:sp>
      <p:sp>
        <p:nvSpPr>
          <p:cNvPr id="47" name="Rectangle 46">
            <a:extLst>
              <a:ext uri="{FF2B5EF4-FFF2-40B4-BE49-F238E27FC236}">
                <a16:creationId xmlns:a16="http://schemas.microsoft.com/office/drawing/2014/main" id="{CA4D3641-6E63-D15A-CCA1-BAE89314A864}"/>
              </a:ext>
            </a:extLst>
          </p:cNvPr>
          <p:cNvSpPr/>
          <p:nvPr/>
        </p:nvSpPr>
        <p:spPr>
          <a:xfrm>
            <a:off x="6411726" y="3334113"/>
            <a:ext cx="2208066" cy="900246"/>
          </a:xfrm>
          <a:prstGeom prst="rect">
            <a:avLst/>
          </a:prstGeom>
        </p:spPr>
        <p:txBody>
          <a:bodyPr wrap="square">
            <a:spAutoFit/>
          </a:bodyPr>
          <a:lstStyle/>
          <a:p>
            <a:pPr marL="171450" indent="-171450">
              <a:buFont typeface="Arial" panose="020B0604020202020204" pitchFamily="34" charset="0"/>
              <a:buChar char="•"/>
              <a:defRPr/>
            </a:pPr>
            <a:r>
              <a:rPr lang="en-US" sz="1050" dirty="0"/>
              <a:t>Significant investment (₹1.2 billion) in IT system.</a:t>
            </a:r>
          </a:p>
          <a:p>
            <a:pPr marL="171450" indent="-171450">
              <a:buFont typeface="Arial" panose="020B0604020202020204" pitchFamily="34" charset="0"/>
              <a:buChar char="•"/>
              <a:defRPr/>
            </a:pPr>
            <a:r>
              <a:rPr lang="en-US" sz="1050" dirty="0"/>
              <a:t>Yearly profits achieved through AT&amp;C loss reduction.</a:t>
            </a:r>
            <a:endParaRPr lang="id-ID" sz="1050" dirty="0"/>
          </a:p>
        </p:txBody>
      </p:sp>
      <p:sp>
        <p:nvSpPr>
          <p:cNvPr id="48" name="Rectangle 47">
            <a:extLst>
              <a:ext uri="{FF2B5EF4-FFF2-40B4-BE49-F238E27FC236}">
                <a16:creationId xmlns:a16="http://schemas.microsoft.com/office/drawing/2014/main" id="{652A33EF-6717-E2F9-A2DC-CB289DB3B9C5}"/>
              </a:ext>
            </a:extLst>
          </p:cNvPr>
          <p:cNvSpPr/>
          <p:nvPr/>
        </p:nvSpPr>
        <p:spPr>
          <a:xfrm>
            <a:off x="7717894" y="5733548"/>
            <a:ext cx="2208066" cy="577081"/>
          </a:xfrm>
          <a:prstGeom prst="rect">
            <a:avLst/>
          </a:prstGeom>
        </p:spPr>
        <p:txBody>
          <a:bodyPr wrap="square">
            <a:spAutoFit/>
          </a:bodyPr>
          <a:lstStyle/>
          <a:p>
            <a:pPr marL="171450" indent="-171450">
              <a:buFont typeface="Arial" panose="020B0604020202020204" pitchFamily="34" charset="0"/>
              <a:buChar char="•"/>
              <a:defRPr/>
            </a:pPr>
            <a:r>
              <a:rPr lang="en-US" sz="1050" dirty="0"/>
              <a:t>Enhanced visibility for staff, reduced field visits, and timely error resolution.</a:t>
            </a:r>
            <a:endParaRPr lang="id-ID" sz="1050" dirty="0"/>
          </a:p>
        </p:txBody>
      </p:sp>
      <p:sp>
        <p:nvSpPr>
          <p:cNvPr id="49" name="Rectangle 48">
            <a:extLst>
              <a:ext uri="{FF2B5EF4-FFF2-40B4-BE49-F238E27FC236}">
                <a16:creationId xmlns:a16="http://schemas.microsoft.com/office/drawing/2014/main" id="{B0876E8C-F9D9-84D0-B2B7-18996981A6DA}"/>
              </a:ext>
            </a:extLst>
          </p:cNvPr>
          <p:cNvSpPr/>
          <p:nvPr/>
        </p:nvSpPr>
        <p:spPr>
          <a:xfrm>
            <a:off x="9753515" y="4148057"/>
            <a:ext cx="2208066" cy="738664"/>
          </a:xfrm>
          <a:prstGeom prst="rect">
            <a:avLst/>
          </a:prstGeom>
        </p:spPr>
        <p:txBody>
          <a:bodyPr wrap="square">
            <a:spAutoFit/>
          </a:bodyPr>
          <a:lstStyle/>
          <a:p>
            <a:pPr marL="171450" indent="-171450">
              <a:buFont typeface="Arial" panose="020B0604020202020204" pitchFamily="34" charset="0"/>
              <a:buChar char="•"/>
              <a:defRPr/>
            </a:pPr>
            <a:r>
              <a:rPr lang="en-US" sz="1050" dirty="0"/>
              <a:t>Expansion of GIS usage and implementation of SCADA system in key areas.</a:t>
            </a:r>
            <a:endParaRPr lang="id-ID" sz="1050" dirty="0"/>
          </a:p>
        </p:txBody>
      </p:sp>
      <p:sp>
        <p:nvSpPr>
          <p:cNvPr id="50" name="TextBox 49">
            <a:extLst>
              <a:ext uri="{FF2B5EF4-FFF2-40B4-BE49-F238E27FC236}">
                <a16:creationId xmlns:a16="http://schemas.microsoft.com/office/drawing/2014/main" id="{C64DEEA7-38D0-76D5-F2DA-42135C886889}"/>
              </a:ext>
            </a:extLst>
          </p:cNvPr>
          <p:cNvSpPr txBox="1"/>
          <p:nvPr/>
        </p:nvSpPr>
        <p:spPr>
          <a:xfrm>
            <a:off x="6232982" y="6399046"/>
            <a:ext cx="5326960" cy="338554"/>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*Scope and challenges of GIS implementation in RAPDRP is provided in </a:t>
            </a:r>
            <a:r>
              <a:rPr lang="en-US" sz="1100" i="1" dirty="0">
                <a:solidFill>
                  <a:schemeClr val="accent6"/>
                </a:solidFill>
                <a:hlinkClick r:id="rId6" action="ppaction://hlinksldjump">
                  <a:extLst>
                    <a:ext uri="{A12FA001-AC4F-418D-AE19-62706E023703}">
                      <ahyp:hlinkClr xmlns:ahyp="http://schemas.microsoft.com/office/drawing/2018/hyperlinkcolor" val="tx"/>
                    </a:ext>
                  </a:extLst>
                </a:hlinkClick>
              </a:rPr>
              <a:t>Annexure</a:t>
            </a:r>
            <a:endParaRPr lang="en-US" sz="1100" i="1" dirty="0">
              <a:solidFill>
                <a:schemeClr val="accent6"/>
              </a:solidFill>
            </a:endParaRPr>
          </a:p>
        </p:txBody>
      </p:sp>
    </p:spTree>
    <p:extLst>
      <p:ext uri="{BB962C8B-B14F-4D97-AF65-F5344CB8AC3E}">
        <p14:creationId xmlns:p14="http://schemas.microsoft.com/office/powerpoint/2010/main" val="4098565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E61F-A758-252F-4801-6A7D216924E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3CFC585-9A9C-E1D7-8EC6-7B8439C3326C}"/>
              </a:ext>
            </a:extLst>
          </p:cNvPr>
          <p:cNvGraphicFramePr>
            <a:graphicFrameLocks noChangeAspect="1"/>
          </p:cNvGraphicFramePr>
          <p:nvPr>
            <p:custDataLst>
              <p:tags r:id="rId1"/>
            </p:custDataLst>
            <p:extLst>
              <p:ext uri="{D42A27DB-BD31-4B8C-83A1-F6EECF244321}">
                <p14:modId xmlns:p14="http://schemas.microsoft.com/office/powerpoint/2010/main" val="4184092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53CFC585-9A9C-E1D7-8EC6-7B8439C332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55" name="Rectangle: Rounded Corners 3154">
            <a:extLst>
              <a:ext uri="{FF2B5EF4-FFF2-40B4-BE49-F238E27FC236}">
                <a16:creationId xmlns:a16="http://schemas.microsoft.com/office/drawing/2014/main" id="{30A7CDB4-FF17-6851-5944-EDEEBC15AE94}"/>
              </a:ext>
            </a:extLst>
          </p:cNvPr>
          <p:cNvSpPr/>
          <p:nvPr/>
        </p:nvSpPr>
        <p:spPr bwMode="gray">
          <a:xfrm>
            <a:off x="158213" y="1437674"/>
            <a:ext cx="4790288" cy="5055312"/>
          </a:xfrm>
          <a:prstGeom prst="roundRect">
            <a:avLst/>
          </a:prstGeom>
          <a:solidFill>
            <a:schemeClr val="bg1">
              <a:lumMod val="95000"/>
              <a:alpha val="72941"/>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2" name="Text Placeholder 2">
            <a:extLst>
              <a:ext uri="{FF2B5EF4-FFF2-40B4-BE49-F238E27FC236}">
                <a16:creationId xmlns:a16="http://schemas.microsoft.com/office/drawing/2014/main" id="{048E3C56-9A8C-50DE-5F73-4163D447F23B}"/>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Detailed implementation outlay of GIS for Tata Power Delhi Distribution Ltd (TPDDL) is provided below</a:t>
            </a:r>
          </a:p>
        </p:txBody>
      </p:sp>
      <p:sp>
        <p:nvSpPr>
          <p:cNvPr id="6" name="Title 2">
            <a:extLst>
              <a:ext uri="{FF2B5EF4-FFF2-40B4-BE49-F238E27FC236}">
                <a16:creationId xmlns:a16="http://schemas.microsoft.com/office/drawing/2014/main" id="{DCD47A1B-17F6-30D9-D684-1BC161756FD6}"/>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GIS Implementation Case Studies – Tata Power Delhi Distribution Limited (1/2)</a:t>
            </a:r>
          </a:p>
        </p:txBody>
      </p:sp>
      <p:cxnSp>
        <p:nvCxnSpPr>
          <p:cNvPr id="92" name="Straight Connector 91">
            <a:extLst>
              <a:ext uri="{FF2B5EF4-FFF2-40B4-BE49-F238E27FC236}">
                <a16:creationId xmlns:a16="http://schemas.microsoft.com/office/drawing/2014/main" id="{3F8DB0F9-5390-0297-293C-0E58230FD232}"/>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37" name="Straight Connector 3136">
            <a:extLst>
              <a:ext uri="{FF2B5EF4-FFF2-40B4-BE49-F238E27FC236}">
                <a16:creationId xmlns:a16="http://schemas.microsoft.com/office/drawing/2014/main" id="{3870D2B4-72F7-5A2A-D93A-4BACE3E1422F}"/>
              </a:ext>
            </a:extLst>
          </p:cNvPr>
          <p:cNvCxnSpPr>
            <a:cxnSpLocks/>
          </p:cNvCxnSpPr>
          <p:nvPr/>
        </p:nvCxnSpPr>
        <p:spPr>
          <a:xfrm>
            <a:off x="622805" y="1259509"/>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138" name="TextBox 31">
            <a:extLst>
              <a:ext uri="{FF2B5EF4-FFF2-40B4-BE49-F238E27FC236}">
                <a16:creationId xmlns:a16="http://schemas.microsoft.com/office/drawing/2014/main" id="{A3958597-D75F-D45B-06A1-41CD2133D771}"/>
              </a:ext>
            </a:extLst>
          </p:cNvPr>
          <p:cNvSpPr txBox="1">
            <a:spLocks noChangeArrowheads="1"/>
          </p:cNvSpPr>
          <p:nvPr/>
        </p:nvSpPr>
        <p:spPr bwMode="auto">
          <a:xfrm>
            <a:off x="1416053" y="1128704"/>
            <a:ext cx="2359533"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Use Cases of GIS at TPDDL</a:t>
            </a:r>
            <a:endParaRPr lang="id-ID" sz="1100" b="1" i="1" dirty="0">
              <a:latin typeface="+mn-lt"/>
              <a:ea typeface="Lato Black" pitchFamily="34" charset="0"/>
              <a:cs typeface="Lato Black" pitchFamily="34" charset="0"/>
            </a:endParaRPr>
          </a:p>
        </p:txBody>
      </p:sp>
      <p:pic>
        <p:nvPicPr>
          <p:cNvPr id="3139" name="Graphic 3138" descr="Users with solid fill">
            <a:extLst>
              <a:ext uri="{FF2B5EF4-FFF2-40B4-BE49-F238E27FC236}">
                <a16:creationId xmlns:a16="http://schemas.microsoft.com/office/drawing/2014/main" id="{04A6C0F2-A5F3-B5A3-2266-A99A9BBEA5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3259" y="1556187"/>
            <a:ext cx="914400" cy="914400"/>
          </a:xfrm>
          <a:prstGeom prst="rect">
            <a:avLst/>
          </a:prstGeom>
        </p:spPr>
      </p:pic>
      <p:sp>
        <p:nvSpPr>
          <p:cNvPr id="3140" name="Rectangle 3139">
            <a:extLst>
              <a:ext uri="{FF2B5EF4-FFF2-40B4-BE49-F238E27FC236}">
                <a16:creationId xmlns:a16="http://schemas.microsoft.com/office/drawing/2014/main" id="{56BF0A5D-160F-9928-076D-6520DD674994}"/>
              </a:ext>
            </a:extLst>
          </p:cNvPr>
          <p:cNvSpPr/>
          <p:nvPr/>
        </p:nvSpPr>
        <p:spPr bwMode="gray">
          <a:xfrm>
            <a:off x="703818" y="2347926"/>
            <a:ext cx="1579534" cy="283026"/>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End User</a:t>
            </a:r>
          </a:p>
        </p:txBody>
      </p:sp>
      <p:pic>
        <p:nvPicPr>
          <p:cNvPr id="3141" name="Graphic 3140" descr="Gears with solid fill">
            <a:extLst>
              <a:ext uri="{FF2B5EF4-FFF2-40B4-BE49-F238E27FC236}">
                <a16:creationId xmlns:a16="http://schemas.microsoft.com/office/drawing/2014/main" id="{8143AADB-53EA-537D-238E-4356C98794F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5288" y="1574564"/>
            <a:ext cx="703004" cy="703004"/>
          </a:xfrm>
          <a:prstGeom prst="rect">
            <a:avLst/>
          </a:prstGeom>
        </p:spPr>
      </p:pic>
      <p:sp>
        <p:nvSpPr>
          <p:cNvPr id="3142" name="Rectangle 3141">
            <a:extLst>
              <a:ext uri="{FF2B5EF4-FFF2-40B4-BE49-F238E27FC236}">
                <a16:creationId xmlns:a16="http://schemas.microsoft.com/office/drawing/2014/main" id="{9118833F-2EFF-686A-EE4C-DBD0BD434137}"/>
              </a:ext>
            </a:extLst>
          </p:cNvPr>
          <p:cNvSpPr/>
          <p:nvPr/>
        </p:nvSpPr>
        <p:spPr bwMode="gray">
          <a:xfrm>
            <a:off x="2987023" y="2320759"/>
            <a:ext cx="1579534" cy="283026"/>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System/Process Integration</a:t>
            </a:r>
          </a:p>
        </p:txBody>
      </p:sp>
      <p:sp>
        <p:nvSpPr>
          <p:cNvPr id="3143" name="Rectangle 3142">
            <a:extLst>
              <a:ext uri="{FF2B5EF4-FFF2-40B4-BE49-F238E27FC236}">
                <a16:creationId xmlns:a16="http://schemas.microsoft.com/office/drawing/2014/main" id="{F988609B-650B-DAEE-8BD1-FA4FF36E0736}"/>
              </a:ext>
            </a:extLst>
          </p:cNvPr>
          <p:cNvSpPr/>
          <p:nvPr/>
        </p:nvSpPr>
        <p:spPr bwMode="gray">
          <a:xfrm>
            <a:off x="465989" y="2691248"/>
            <a:ext cx="1978254" cy="63574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Search Assets</a:t>
            </a:r>
          </a:p>
        </p:txBody>
      </p:sp>
      <p:sp>
        <p:nvSpPr>
          <p:cNvPr id="3144" name="Rectangle 3143">
            <a:extLst>
              <a:ext uri="{FF2B5EF4-FFF2-40B4-BE49-F238E27FC236}">
                <a16:creationId xmlns:a16="http://schemas.microsoft.com/office/drawing/2014/main" id="{8799E3B2-61AB-AC30-B1A1-43EDFFA93582}"/>
              </a:ext>
            </a:extLst>
          </p:cNvPr>
          <p:cNvSpPr/>
          <p:nvPr/>
        </p:nvSpPr>
        <p:spPr bwMode="gray">
          <a:xfrm>
            <a:off x="490378" y="3547459"/>
            <a:ext cx="1978254" cy="635749"/>
          </a:xfrm>
          <a:prstGeom prst="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View Asset Location</a:t>
            </a:r>
          </a:p>
        </p:txBody>
      </p:sp>
      <p:sp>
        <p:nvSpPr>
          <p:cNvPr id="3145" name="Rectangle 3144">
            <a:extLst>
              <a:ext uri="{FF2B5EF4-FFF2-40B4-BE49-F238E27FC236}">
                <a16:creationId xmlns:a16="http://schemas.microsoft.com/office/drawing/2014/main" id="{1047B962-CB07-03FB-72C6-E6C47F6161E8}"/>
              </a:ext>
            </a:extLst>
          </p:cNvPr>
          <p:cNvSpPr/>
          <p:nvPr/>
        </p:nvSpPr>
        <p:spPr bwMode="gray">
          <a:xfrm>
            <a:off x="468384" y="4438549"/>
            <a:ext cx="1978254" cy="63574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View Asset Connectivity</a:t>
            </a:r>
          </a:p>
        </p:txBody>
      </p:sp>
      <p:sp>
        <p:nvSpPr>
          <p:cNvPr id="3146" name="Rectangle 3145">
            <a:extLst>
              <a:ext uri="{FF2B5EF4-FFF2-40B4-BE49-F238E27FC236}">
                <a16:creationId xmlns:a16="http://schemas.microsoft.com/office/drawing/2014/main" id="{46A58C0F-2AD9-9729-1BF6-69461A03DD3F}"/>
              </a:ext>
            </a:extLst>
          </p:cNvPr>
          <p:cNvSpPr/>
          <p:nvPr/>
        </p:nvSpPr>
        <p:spPr bwMode="gray">
          <a:xfrm>
            <a:off x="465989" y="5365348"/>
            <a:ext cx="1978254" cy="635749"/>
          </a:xfrm>
          <a:prstGeom prst="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Get Network Reports</a:t>
            </a:r>
          </a:p>
        </p:txBody>
      </p:sp>
      <p:sp>
        <p:nvSpPr>
          <p:cNvPr id="3147" name="Rectangle 3146">
            <a:extLst>
              <a:ext uri="{FF2B5EF4-FFF2-40B4-BE49-F238E27FC236}">
                <a16:creationId xmlns:a16="http://schemas.microsoft.com/office/drawing/2014/main" id="{5D80ABFA-0344-ABCB-BBF0-281C196B2EA3}"/>
              </a:ext>
            </a:extLst>
          </p:cNvPr>
          <p:cNvSpPr/>
          <p:nvPr/>
        </p:nvSpPr>
        <p:spPr bwMode="gray">
          <a:xfrm>
            <a:off x="2702829" y="2686607"/>
            <a:ext cx="1978254" cy="497176"/>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Outage Management System (OMS)</a:t>
            </a:r>
          </a:p>
        </p:txBody>
      </p:sp>
      <p:sp>
        <p:nvSpPr>
          <p:cNvPr id="3148" name="Rectangle 3147">
            <a:extLst>
              <a:ext uri="{FF2B5EF4-FFF2-40B4-BE49-F238E27FC236}">
                <a16:creationId xmlns:a16="http://schemas.microsoft.com/office/drawing/2014/main" id="{F08EA6B9-7241-2F7E-7199-C9065023CA3B}"/>
              </a:ext>
            </a:extLst>
          </p:cNvPr>
          <p:cNvSpPr/>
          <p:nvPr/>
        </p:nvSpPr>
        <p:spPr bwMode="gray">
          <a:xfrm>
            <a:off x="2702829" y="3404643"/>
            <a:ext cx="1978254" cy="497176"/>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Energy Audit</a:t>
            </a:r>
          </a:p>
        </p:txBody>
      </p:sp>
      <p:sp>
        <p:nvSpPr>
          <p:cNvPr id="3149" name="Rectangle 3148">
            <a:extLst>
              <a:ext uri="{FF2B5EF4-FFF2-40B4-BE49-F238E27FC236}">
                <a16:creationId xmlns:a16="http://schemas.microsoft.com/office/drawing/2014/main" id="{98FB3F1F-E82A-2979-C5E7-33616123C194}"/>
              </a:ext>
            </a:extLst>
          </p:cNvPr>
          <p:cNvSpPr/>
          <p:nvPr/>
        </p:nvSpPr>
        <p:spPr bwMode="gray">
          <a:xfrm>
            <a:off x="2705907" y="4134087"/>
            <a:ext cx="1978254" cy="497176"/>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Connection Management</a:t>
            </a:r>
          </a:p>
        </p:txBody>
      </p:sp>
      <p:sp>
        <p:nvSpPr>
          <p:cNvPr id="3150" name="Rectangle 3149">
            <a:extLst>
              <a:ext uri="{FF2B5EF4-FFF2-40B4-BE49-F238E27FC236}">
                <a16:creationId xmlns:a16="http://schemas.microsoft.com/office/drawing/2014/main" id="{EA093148-248E-2D62-34C2-1BAFB91BC5E5}"/>
              </a:ext>
            </a:extLst>
          </p:cNvPr>
          <p:cNvSpPr/>
          <p:nvPr/>
        </p:nvSpPr>
        <p:spPr bwMode="gray">
          <a:xfrm>
            <a:off x="2691702" y="4816360"/>
            <a:ext cx="1978254" cy="497176"/>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Asset Management</a:t>
            </a:r>
          </a:p>
        </p:txBody>
      </p:sp>
      <p:cxnSp>
        <p:nvCxnSpPr>
          <p:cNvPr id="3151" name="Straight Connector 3150">
            <a:extLst>
              <a:ext uri="{FF2B5EF4-FFF2-40B4-BE49-F238E27FC236}">
                <a16:creationId xmlns:a16="http://schemas.microsoft.com/office/drawing/2014/main" id="{3B11283A-1347-5145-9096-B3AF3B7869C4}"/>
              </a:ext>
            </a:extLst>
          </p:cNvPr>
          <p:cNvCxnSpPr>
            <a:cxnSpLocks/>
          </p:cNvCxnSpPr>
          <p:nvPr/>
        </p:nvCxnSpPr>
        <p:spPr>
          <a:xfrm flipV="1">
            <a:off x="5113710" y="1249677"/>
            <a:ext cx="6340871" cy="489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152" name="TextBox 31">
            <a:extLst>
              <a:ext uri="{FF2B5EF4-FFF2-40B4-BE49-F238E27FC236}">
                <a16:creationId xmlns:a16="http://schemas.microsoft.com/office/drawing/2014/main" id="{10043DF2-3FBF-1AE2-FC5A-799EDB290189}"/>
              </a:ext>
            </a:extLst>
          </p:cNvPr>
          <p:cNvSpPr txBox="1">
            <a:spLocks noChangeArrowheads="1"/>
          </p:cNvSpPr>
          <p:nvPr/>
        </p:nvSpPr>
        <p:spPr bwMode="auto">
          <a:xfrm>
            <a:off x="6583086" y="1133595"/>
            <a:ext cx="3562865"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Outlay as adopted by TPDDL</a:t>
            </a:r>
            <a:endParaRPr lang="id-ID" sz="1100" b="1" i="1" dirty="0">
              <a:latin typeface="+mn-lt"/>
              <a:ea typeface="Lato Black" pitchFamily="34" charset="0"/>
              <a:cs typeface="Lato Black" pitchFamily="34" charset="0"/>
            </a:endParaRPr>
          </a:p>
        </p:txBody>
      </p:sp>
      <p:pic>
        <p:nvPicPr>
          <p:cNvPr id="3156" name="Picture 3155">
            <a:extLst>
              <a:ext uri="{FF2B5EF4-FFF2-40B4-BE49-F238E27FC236}">
                <a16:creationId xmlns:a16="http://schemas.microsoft.com/office/drawing/2014/main" id="{DEDD591D-AC98-845A-19C7-57766F50BA42}"/>
              </a:ext>
            </a:extLst>
          </p:cNvPr>
          <p:cNvPicPr>
            <a:picLocks noChangeAspect="1"/>
          </p:cNvPicPr>
          <p:nvPr/>
        </p:nvPicPr>
        <p:blipFill>
          <a:blip r:embed="rId10"/>
          <a:stretch>
            <a:fillRect/>
          </a:stretch>
        </p:blipFill>
        <p:spPr>
          <a:xfrm>
            <a:off x="5154299" y="4151918"/>
            <a:ext cx="764016" cy="674433"/>
          </a:xfrm>
          <a:prstGeom prst="rect">
            <a:avLst/>
          </a:prstGeom>
        </p:spPr>
      </p:pic>
      <p:grpSp>
        <p:nvGrpSpPr>
          <p:cNvPr id="3136" name="Group 3135">
            <a:extLst>
              <a:ext uri="{FF2B5EF4-FFF2-40B4-BE49-F238E27FC236}">
                <a16:creationId xmlns:a16="http://schemas.microsoft.com/office/drawing/2014/main" id="{95222DB1-F150-11EB-CE53-56A42C6A8B5C}"/>
              </a:ext>
            </a:extLst>
          </p:cNvPr>
          <p:cNvGrpSpPr/>
          <p:nvPr/>
        </p:nvGrpSpPr>
        <p:grpSpPr>
          <a:xfrm>
            <a:off x="4947348" y="1454232"/>
            <a:ext cx="7010777" cy="5078083"/>
            <a:chOff x="290208" y="1232106"/>
            <a:chExt cx="11423531" cy="5078083"/>
          </a:xfrm>
        </p:grpSpPr>
        <p:cxnSp>
          <p:nvCxnSpPr>
            <p:cNvPr id="3093" name="Connector: Elbow 3092">
              <a:extLst>
                <a:ext uri="{FF2B5EF4-FFF2-40B4-BE49-F238E27FC236}">
                  <a16:creationId xmlns:a16="http://schemas.microsoft.com/office/drawing/2014/main" id="{7F28B8D5-8F68-386B-E636-334E33B59C1A}"/>
                </a:ext>
              </a:extLst>
            </p:cNvPr>
            <p:cNvCxnSpPr>
              <a:cxnSpLocks/>
            </p:cNvCxnSpPr>
            <p:nvPr/>
          </p:nvCxnSpPr>
          <p:spPr>
            <a:xfrm rot="10800000">
              <a:off x="7679280" y="4269960"/>
              <a:ext cx="1460813" cy="1455043"/>
            </a:xfrm>
            <a:prstGeom prst="bentConnector3">
              <a:avLst>
                <a:gd name="adj1" fmla="val 50000"/>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48158B16-AF71-43A6-2A7C-DA8789345F57}"/>
                </a:ext>
              </a:extLst>
            </p:cNvPr>
            <p:cNvGrpSpPr/>
            <p:nvPr/>
          </p:nvGrpSpPr>
          <p:grpSpPr>
            <a:xfrm>
              <a:off x="4621287" y="2257401"/>
              <a:ext cx="3016332" cy="2097874"/>
              <a:chOff x="4572000" y="1472540"/>
              <a:chExt cx="3016332" cy="2097874"/>
            </a:xfrm>
          </p:grpSpPr>
          <p:sp>
            <p:nvSpPr>
              <p:cNvPr id="40" name="Rectangle 39">
                <a:extLst>
                  <a:ext uri="{FF2B5EF4-FFF2-40B4-BE49-F238E27FC236}">
                    <a16:creationId xmlns:a16="http://schemas.microsoft.com/office/drawing/2014/main" id="{F2A6E98B-5EFA-1470-5B46-19A44C281B17}"/>
                  </a:ext>
                </a:extLst>
              </p:cNvPr>
              <p:cNvSpPr/>
              <p:nvPr/>
            </p:nvSpPr>
            <p:spPr bwMode="gray">
              <a:xfrm>
                <a:off x="4758877" y="2882735"/>
                <a:ext cx="2707574" cy="546265"/>
              </a:xfrm>
              <a:prstGeom prst="rect">
                <a:avLst/>
              </a:prstGeom>
              <a:solidFill>
                <a:schemeClr val="tx1"/>
              </a:solidFill>
              <a:ln w="19050" algn="ctr">
                <a:noFill/>
                <a:miter lim="800000"/>
                <a:headEnd/>
                <a:tailEnd/>
              </a:ln>
              <a:scene3d>
                <a:camera prst="orthographicFront"/>
                <a:lightRig rig="soft" dir="t"/>
              </a:scene3d>
              <a:sp3d prstMaterial="matte"/>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Geographic Information System (GIS) implemented by TPDDL</a:t>
                </a:r>
              </a:p>
            </p:txBody>
          </p:sp>
          <p:pic>
            <p:nvPicPr>
              <p:cNvPr id="42" name="Picture 41">
                <a:extLst>
                  <a:ext uri="{FF2B5EF4-FFF2-40B4-BE49-F238E27FC236}">
                    <a16:creationId xmlns:a16="http://schemas.microsoft.com/office/drawing/2014/main" id="{80FFB02F-EC8D-EF12-C625-618C37C2B39E}"/>
                  </a:ext>
                </a:extLst>
              </p:cNvPr>
              <p:cNvPicPr>
                <a:picLocks noChangeAspect="1"/>
              </p:cNvPicPr>
              <p:nvPr/>
            </p:nvPicPr>
            <p:blipFill>
              <a:blip r:embed="rId11"/>
              <a:stretch>
                <a:fillRect/>
              </a:stretch>
            </p:blipFill>
            <p:spPr>
              <a:xfrm>
                <a:off x="5363118" y="1742613"/>
                <a:ext cx="1588077" cy="1096529"/>
              </a:xfrm>
              <a:prstGeom prst="rect">
                <a:avLst/>
              </a:prstGeom>
            </p:spPr>
          </p:pic>
          <p:sp>
            <p:nvSpPr>
              <p:cNvPr id="44" name="Rectangle 43">
                <a:extLst>
                  <a:ext uri="{FF2B5EF4-FFF2-40B4-BE49-F238E27FC236}">
                    <a16:creationId xmlns:a16="http://schemas.microsoft.com/office/drawing/2014/main" id="{271E3583-DFAA-2D98-EFC4-3208BDA7AEBF}"/>
                  </a:ext>
                </a:extLst>
              </p:cNvPr>
              <p:cNvSpPr/>
              <p:nvPr/>
            </p:nvSpPr>
            <p:spPr bwMode="gray">
              <a:xfrm>
                <a:off x="4572000" y="1472540"/>
                <a:ext cx="3016332" cy="2097874"/>
              </a:xfrm>
              <a:prstGeom prst="rect">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sp>
          <p:nvSpPr>
            <p:cNvPr id="47" name="Rectangle 46">
              <a:extLst>
                <a:ext uri="{FF2B5EF4-FFF2-40B4-BE49-F238E27FC236}">
                  <a16:creationId xmlns:a16="http://schemas.microsoft.com/office/drawing/2014/main" id="{6F305A36-1423-F0F9-092E-09794CD5F1B2}"/>
                </a:ext>
              </a:extLst>
            </p:cNvPr>
            <p:cNvSpPr/>
            <p:nvPr/>
          </p:nvSpPr>
          <p:spPr bwMode="gray">
            <a:xfrm>
              <a:off x="4621287" y="1254876"/>
              <a:ext cx="1183574" cy="33250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SAP-ISU</a:t>
              </a:r>
            </a:p>
          </p:txBody>
        </p:sp>
        <p:sp>
          <p:nvSpPr>
            <p:cNvPr id="48" name="Rectangle 47">
              <a:extLst>
                <a:ext uri="{FF2B5EF4-FFF2-40B4-BE49-F238E27FC236}">
                  <a16:creationId xmlns:a16="http://schemas.microsoft.com/office/drawing/2014/main" id="{59CC12AC-3B19-BD4D-EAF7-83FD7526F2DB}"/>
                </a:ext>
              </a:extLst>
            </p:cNvPr>
            <p:cNvSpPr/>
            <p:nvPr/>
          </p:nvSpPr>
          <p:spPr bwMode="gray">
            <a:xfrm>
              <a:off x="6420570" y="1232106"/>
              <a:ext cx="1258709" cy="335058"/>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CYMDIST</a:t>
              </a:r>
            </a:p>
          </p:txBody>
        </p:sp>
        <p:cxnSp>
          <p:nvCxnSpPr>
            <p:cNvPr id="50" name="Straight Arrow Connector 49">
              <a:extLst>
                <a:ext uri="{FF2B5EF4-FFF2-40B4-BE49-F238E27FC236}">
                  <a16:creationId xmlns:a16="http://schemas.microsoft.com/office/drawing/2014/main" id="{9E0EEC77-F728-BB87-CD0E-E69FE10F795D}"/>
                </a:ext>
              </a:extLst>
            </p:cNvPr>
            <p:cNvCxnSpPr>
              <a:cxnSpLocks/>
            </p:cNvCxnSpPr>
            <p:nvPr/>
          </p:nvCxnSpPr>
          <p:spPr>
            <a:xfrm flipV="1">
              <a:off x="5213074" y="1911702"/>
              <a:ext cx="0" cy="29109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5F92632-8E44-CE32-5F84-FC73286AF69C}"/>
                </a:ext>
              </a:extLst>
            </p:cNvPr>
            <p:cNvCxnSpPr>
              <a:cxnSpLocks/>
            </p:cNvCxnSpPr>
            <p:nvPr/>
          </p:nvCxnSpPr>
          <p:spPr>
            <a:xfrm flipV="1">
              <a:off x="7000482" y="1911702"/>
              <a:ext cx="0" cy="29109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17D92C42-A0CA-FEA8-43A5-BB11B47B8BC0}"/>
                </a:ext>
              </a:extLst>
            </p:cNvPr>
            <p:cNvSpPr/>
            <p:nvPr/>
          </p:nvSpPr>
          <p:spPr bwMode="gray">
            <a:xfrm>
              <a:off x="4471481" y="1598780"/>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Energy Auditing</a:t>
              </a:r>
            </a:p>
          </p:txBody>
        </p:sp>
        <p:sp>
          <p:nvSpPr>
            <p:cNvPr id="84" name="Rectangle 83">
              <a:extLst>
                <a:ext uri="{FF2B5EF4-FFF2-40B4-BE49-F238E27FC236}">
                  <a16:creationId xmlns:a16="http://schemas.microsoft.com/office/drawing/2014/main" id="{066966CF-00C5-045E-909F-77D62A1A1EC6}"/>
                </a:ext>
              </a:extLst>
            </p:cNvPr>
            <p:cNvSpPr/>
            <p:nvPr/>
          </p:nvSpPr>
          <p:spPr bwMode="gray">
            <a:xfrm>
              <a:off x="6270764" y="1589985"/>
              <a:ext cx="1550852"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Network Planning</a:t>
              </a:r>
            </a:p>
          </p:txBody>
        </p:sp>
        <p:sp>
          <p:nvSpPr>
            <p:cNvPr id="85" name="Rectangle 84">
              <a:extLst>
                <a:ext uri="{FF2B5EF4-FFF2-40B4-BE49-F238E27FC236}">
                  <a16:creationId xmlns:a16="http://schemas.microsoft.com/office/drawing/2014/main" id="{E97840CD-D0CA-D8E0-4D49-F19387369948}"/>
                </a:ext>
              </a:extLst>
            </p:cNvPr>
            <p:cNvSpPr/>
            <p:nvPr/>
          </p:nvSpPr>
          <p:spPr bwMode="gray">
            <a:xfrm>
              <a:off x="912133" y="1374431"/>
              <a:ext cx="1963179"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t>Feeder to DT and DT to Consumer hierarchy from GIS</a:t>
              </a:r>
            </a:p>
          </p:txBody>
        </p:sp>
        <p:sp>
          <p:nvSpPr>
            <p:cNvPr id="86" name="Rectangle 85">
              <a:extLst>
                <a:ext uri="{FF2B5EF4-FFF2-40B4-BE49-F238E27FC236}">
                  <a16:creationId xmlns:a16="http://schemas.microsoft.com/office/drawing/2014/main" id="{B94ACDE8-0B45-5517-9FA2-FE8FD8BCE158}"/>
                </a:ext>
              </a:extLst>
            </p:cNvPr>
            <p:cNvSpPr/>
            <p:nvPr/>
          </p:nvSpPr>
          <p:spPr bwMode="gray">
            <a:xfrm>
              <a:off x="1964667" y="2160780"/>
              <a:ext cx="1525346" cy="434195"/>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SAP-ISU</a:t>
              </a:r>
            </a:p>
          </p:txBody>
        </p:sp>
        <p:cxnSp>
          <p:nvCxnSpPr>
            <p:cNvPr id="88" name="Straight Arrow Connector 87">
              <a:extLst>
                <a:ext uri="{FF2B5EF4-FFF2-40B4-BE49-F238E27FC236}">
                  <a16:creationId xmlns:a16="http://schemas.microsoft.com/office/drawing/2014/main" id="{9B1197E7-4EBA-9891-7190-A5532FE8F2E2}"/>
                </a:ext>
              </a:extLst>
            </p:cNvPr>
            <p:cNvCxnSpPr>
              <a:cxnSpLocks/>
            </p:cNvCxnSpPr>
            <p:nvPr/>
          </p:nvCxnSpPr>
          <p:spPr>
            <a:xfrm>
              <a:off x="3800155" y="3075738"/>
              <a:ext cx="742850" cy="0"/>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4E3C2EAB-ED39-74AD-970D-7F8C372C64D0}"/>
                </a:ext>
              </a:extLst>
            </p:cNvPr>
            <p:cNvSpPr/>
            <p:nvPr/>
          </p:nvSpPr>
          <p:spPr bwMode="gray">
            <a:xfrm rot="5400000">
              <a:off x="2271234" y="2786859"/>
              <a:ext cx="2804324"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Connection Management</a:t>
              </a:r>
            </a:p>
          </p:txBody>
        </p:sp>
        <p:pic>
          <p:nvPicPr>
            <p:cNvPr id="94" name="Picture 93">
              <a:extLst>
                <a:ext uri="{FF2B5EF4-FFF2-40B4-BE49-F238E27FC236}">
                  <a16:creationId xmlns:a16="http://schemas.microsoft.com/office/drawing/2014/main" id="{9899B731-B017-26D0-8830-305408E9CF0F}"/>
                </a:ext>
              </a:extLst>
            </p:cNvPr>
            <p:cNvPicPr>
              <a:picLocks noChangeAspect="1"/>
            </p:cNvPicPr>
            <p:nvPr/>
          </p:nvPicPr>
          <p:blipFill>
            <a:blip r:embed="rId12"/>
            <a:stretch>
              <a:fillRect/>
            </a:stretch>
          </p:blipFill>
          <p:spPr>
            <a:xfrm>
              <a:off x="940670" y="2898604"/>
              <a:ext cx="681440" cy="598319"/>
            </a:xfrm>
            <a:prstGeom prst="rect">
              <a:avLst/>
            </a:prstGeom>
          </p:spPr>
        </p:pic>
        <p:cxnSp>
          <p:nvCxnSpPr>
            <p:cNvPr id="96" name="Connector: Elbow 95">
              <a:extLst>
                <a:ext uri="{FF2B5EF4-FFF2-40B4-BE49-F238E27FC236}">
                  <a16:creationId xmlns:a16="http://schemas.microsoft.com/office/drawing/2014/main" id="{D134815B-8B05-4755-329B-988A3B88A5F2}"/>
                </a:ext>
              </a:extLst>
            </p:cNvPr>
            <p:cNvCxnSpPr>
              <a:cxnSpLocks/>
            </p:cNvCxnSpPr>
            <p:nvPr/>
          </p:nvCxnSpPr>
          <p:spPr>
            <a:xfrm rot="5400000" flipH="1" flipV="1">
              <a:off x="1381816" y="2244651"/>
              <a:ext cx="453893" cy="691930"/>
            </a:xfrm>
            <a:prstGeom prst="bentConnector2">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BDFAC8AA-59D7-583C-C6CA-D0665C78D569}"/>
                </a:ext>
              </a:extLst>
            </p:cNvPr>
            <p:cNvSpPr/>
            <p:nvPr/>
          </p:nvSpPr>
          <p:spPr bwMode="gray">
            <a:xfrm>
              <a:off x="337756" y="3544640"/>
              <a:ext cx="1963179"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accent2"/>
                  </a:solidFill>
                </a:rPr>
                <a:t>Subscriber Indexing</a:t>
              </a:r>
            </a:p>
          </p:txBody>
        </p:sp>
        <p:cxnSp>
          <p:nvCxnSpPr>
            <p:cNvPr id="101" name="Straight Arrow Connector 100">
              <a:extLst>
                <a:ext uri="{FF2B5EF4-FFF2-40B4-BE49-F238E27FC236}">
                  <a16:creationId xmlns:a16="http://schemas.microsoft.com/office/drawing/2014/main" id="{31903D04-6E96-B681-47B4-D3B6717570F7}"/>
                </a:ext>
              </a:extLst>
            </p:cNvPr>
            <p:cNvCxnSpPr>
              <a:cxnSpLocks/>
            </p:cNvCxnSpPr>
            <p:nvPr/>
          </p:nvCxnSpPr>
          <p:spPr>
            <a:xfrm>
              <a:off x="1766011" y="4213861"/>
              <a:ext cx="2845337"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8CB1EBE8-1B5B-7D08-F6FD-1FD6F38E75C9}"/>
                </a:ext>
              </a:extLst>
            </p:cNvPr>
            <p:cNvSpPr/>
            <p:nvPr/>
          </p:nvSpPr>
          <p:spPr bwMode="gray">
            <a:xfrm>
              <a:off x="290208" y="4532214"/>
              <a:ext cx="1963179"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accent2"/>
                  </a:solidFill>
                </a:rPr>
                <a:t>Digitization</a:t>
              </a:r>
            </a:p>
          </p:txBody>
        </p:sp>
        <p:pic>
          <p:nvPicPr>
            <p:cNvPr id="3074" name="Picture 2">
              <a:extLst>
                <a:ext uri="{FF2B5EF4-FFF2-40B4-BE49-F238E27FC236}">
                  <a16:creationId xmlns:a16="http://schemas.microsoft.com/office/drawing/2014/main" id="{DE9A87DD-4AA1-41A5-C849-08D78AB388F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9231" y="5457728"/>
              <a:ext cx="907131" cy="603654"/>
            </a:xfrm>
            <a:prstGeom prst="rect">
              <a:avLst/>
            </a:prstGeom>
            <a:noFill/>
            <a:extLst>
              <a:ext uri="{909E8E84-426E-40DD-AFC4-6F175D3DCCD1}">
                <a14:hiddenFill xmlns:a14="http://schemas.microsoft.com/office/drawing/2010/main">
                  <a:solidFill>
                    <a:srgbClr val="FFFFFF"/>
                  </a:solidFill>
                </a14:hiddenFill>
              </a:ext>
            </a:extLst>
          </p:spPr>
        </p:pic>
        <p:cxnSp>
          <p:nvCxnSpPr>
            <p:cNvPr id="108" name="Straight Arrow Connector 107">
              <a:extLst>
                <a:ext uri="{FF2B5EF4-FFF2-40B4-BE49-F238E27FC236}">
                  <a16:creationId xmlns:a16="http://schemas.microsoft.com/office/drawing/2014/main" id="{F89B69DF-BA7D-EE45-F62F-B64D0ED8A8DF}"/>
                </a:ext>
              </a:extLst>
            </p:cNvPr>
            <p:cNvCxnSpPr>
              <a:cxnSpLocks/>
            </p:cNvCxnSpPr>
            <p:nvPr/>
          </p:nvCxnSpPr>
          <p:spPr>
            <a:xfrm flipV="1">
              <a:off x="1262797" y="4838088"/>
              <a:ext cx="9001" cy="548402"/>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5F5D25FF-C0BB-96A5-89EB-67FC82C0D4F5}"/>
                </a:ext>
              </a:extLst>
            </p:cNvPr>
            <p:cNvSpPr/>
            <p:nvPr/>
          </p:nvSpPr>
          <p:spPr bwMode="gray">
            <a:xfrm>
              <a:off x="6321967" y="5000424"/>
              <a:ext cx="1183574" cy="33250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SAP-PM</a:t>
              </a:r>
            </a:p>
          </p:txBody>
        </p:sp>
        <p:pic>
          <p:nvPicPr>
            <p:cNvPr id="3076" name="Picture 4">
              <a:extLst>
                <a:ext uri="{FF2B5EF4-FFF2-40B4-BE49-F238E27FC236}">
                  <a16:creationId xmlns:a16="http://schemas.microsoft.com/office/drawing/2014/main" id="{318BBC76-F6D7-07EA-D36E-734F99FDD8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50138" y="4667210"/>
              <a:ext cx="1028700" cy="770532"/>
            </a:xfrm>
            <a:prstGeom prst="rect">
              <a:avLst/>
            </a:prstGeom>
            <a:noFill/>
            <a:extLst>
              <a:ext uri="{909E8E84-426E-40DD-AFC4-6F175D3DCCD1}">
                <a14:hiddenFill xmlns:a14="http://schemas.microsoft.com/office/drawing/2010/main">
                  <a:solidFill>
                    <a:srgbClr val="FFFFFF"/>
                  </a:solidFill>
                </a14:hiddenFill>
              </a:ext>
            </a:extLst>
          </p:spPr>
        </p:pic>
        <p:sp>
          <p:nvSpPr>
            <p:cNvPr id="118" name="Rectangle 117">
              <a:extLst>
                <a:ext uri="{FF2B5EF4-FFF2-40B4-BE49-F238E27FC236}">
                  <a16:creationId xmlns:a16="http://schemas.microsoft.com/office/drawing/2014/main" id="{E04ECCAA-A9F6-CF18-8D83-76D078E53CEB}"/>
                </a:ext>
              </a:extLst>
            </p:cNvPr>
            <p:cNvSpPr/>
            <p:nvPr/>
          </p:nvSpPr>
          <p:spPr bwMode="gray">
            <a:xfrm>
              <a:off x="3491765" y="4525796"/>
              <a:ext cx="1483185" cy="33250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accent2"/>
                  </a:solidFill>
                </a:rPr>
                <a:t>Design manager</a:t>
              </a:r>
            </a:p>
          </p:txBody>
        </p:sp>
        <p:pic>
          <p:nvPicPr>
            <p:cNvPr id="119" name="Picture 118">
              <a:extLst>
                <a:ext uri="{FF2B5EF4-FFF2-40B4-BE49-F238E27FC236}">
                  <a16:creationId xmlns:a16="http://schemas.microsoft.com/office/drawing/2014/main" id="{EA4D0F36-EDC4-3678-FD37-1E0E9F5012CD}"/>
                </a:ext>
              </a:extLst>
            </p:cNvPr>
            <p:cNvPicPr>
              <a:picLocks noChangeAspect="1"/>
            </p:cNvPicPr>
            <p:nvPr/>
          </p:nvPicPr>
          <p:blipFill>
            <a:blip r:embed="rId10"/>
            <a:stretch>
              <a:fillRect/>
            </a:stretch>
          </p:blipFill>
          <p:spPr>
            <a:xfrm>
              <a:off x="3306678" y="5635756"/>
              <a:ext cx="1244906" cy="674433"/>
            </a:xfrm>
            <a:prstGeom prst="rect">
              <a:avLst/>
            </a:prstGeom>
          </p:spPr>
        </p:pic>
        <p:cxnSp>
          <p:nvCxnSpPr>
            <p:cNvPr id="120" name="Connector: Elbow 119">
              <a:extLst>
                <a:ext uri="{FF2B5EF4-FFF2-40B4-BE49-F238E27FC236}">
                  <a16:creationId xmlns:a16="http://schemas.microsoft.com/office/drawing/2014/main" id="{796291E6-9D94-2583-980B-28529775521C}"/>
                </a:ext>
              </a:extLst>
            </p:cNvPr>
            <p:cNvCxnSpPr>
              <a:cxnSpLocks/>
            </p:cNvCxnSpPr>
            <p:nvPr/>
          </p:nvCxnSpPr>
          <p:spPr>
            <a:xfrm rot="5400000" flipH="1" flipV="1">
              <a:off x="3939882" y="5075694"/>
              <a:ext cx="583280" cy="621006"/>
            </a:xfrm>
            <a:prstGeom prst="bentConnector2">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04281AB-4834-CBD0-F083-1BDC7D0B937D}"/>
                </a:ext>
              </a:extLst>
            </p:cNvPr>
            <p:cNvCxnSpPr>
              <a:cxnSpLocks/>
            </p:cNvCxnSpPr>
            <p:nvPr/>
          </p:nvCxnSpPr>
          <p:spPr>
            <a:xfrm>
              <a:off x="5647013" y="5200426"/>
              <a:ext cx="608590"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969D9F27-7CCD-3066-7162-6E31040F3359}"/>
                </a:ext>
              </a:extLst>
            </p:cNvPr>
            <p:cNvCxnSpPr>
              <a:cxnSpLocks/>
            </p:cNvCxnSpPr>
            <p:nvPr/>
          </p:nvCxnSpPr>
          <p:spPr>
            <a:xfrm>
              <a:off x="6894357" y="4358432"/>
              <a:ext cx="0" cy="641992"/>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193CE247-93FB-D941-3B6F-F0FACA9D9C8E}"/>
                </a:ext>
              </a:extLst>
            </p:cNvPr>
            <p:cNvCxnSpPr>
              <a:cxnSpLocks/>
            </p:cNvCxnSpPr>
            <p:nvPr/>
          </p:nvCxnSpPr>
          <p:spPr>
            <a:xfrm>
              <a:off x="6913754" y="5332933"/>
              <a:ext cx="12738" cy="558157"/>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2" name="Rectangle 3071">
              <a:extLst>
                <a:ext uri="{FF2B5EF4-FFF2-40B4-BE49-F238E27FC236}">
                  <a16:creationId xmlns:a16="http://schemas.microsoft.com/office/drawing/2014/main" id="{6828DF09-B8DA-B1DC-0910-879FBC50A700}"/>
                </a:ext>
              </a:extLst>
            </p:cNvPr>
            <p:cNvSpPr/>
            <p:nvPr/>
          </p:nvSpPr>
          <p:spPr bwMode="gray">
            <a:xfrm>
              <a:off x="6206443" y="5891091"/>
              <a:ext cx="1723425" cy="332508"/>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Job Order Management</a:t>
              </a:r>
            </a:p>
          </p:txBody>
        </p:sp>
        <p:cxnSp>
          <p:nvCxnSpPr>
            <p:cNvPr id="3075" name="Straight Arrow Connector 3074">
              <a:extLst>
                <a:ext uri="{FF2B5EF4-FFF2-40B4-BE49-F238E27FC236}">
                  <a16:creationId xmlns:a16="http://schemas.microsoft.com/office/drawing/2014/main" id="{5099A40B-D2BA-6B99-F114-268AC200EDDD}"/>
                </a:ext>
              </a:extLst>
            </p:cNvPr>
            <p:cNvCxnSpPr>
              <a:cxnSpLocks/>
            </p:cNvCxnSpPr>
            <p:nvPr/>
          </p:nvCxnSpPr>
          <p:spPr>
            <a:xfrm flipH="1">
              <a:off x="4650847" y="6057344"/>
              <a:ext cx="1612406"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3079" name="Picture 3078">
              <a:extLst>
                <a:ext uri="{FF2B5EF4-FFF2-40B4-BE49-F238E27FC236}">
                  <a16:creationId xmlns:a16="http://schemas.microsoft.com/office/drawing/2014/main" id="{F0D55961-4C31-7D65-AFD2-B16FAD06A559}"/>
                </a:ext>
              </a:extLst>
            </p:cNvPr>
            <p:cNvPicPr>
              <a:picLocks noChangeAspect="1"/>
            </p:cNvPicPr>
            <p:nvPr/>
          </p:nvPicPr>
          <p:blipFill>
            <a:blip r:embed="rId15"/>
            <a:stretch>
              <a:fillRect/>
            </a:stretch>
          </p:blipFill>
          <p:spPr>
            <a:xfrm>
              <a:off x="9006571" y="5182941"/>
              <a:ext cx="2115436" cy="1040658"/>
            </a:xfrm>
            <a:prstGeom prst="rect">
              <a:avLst/>
            </a:prstGeom>
          </p:spPr>
        </p:pic>
        <p:sp>
          <p:nvSpPr>
            <p:cNvPr id="3103" name="Rectangle 3102">
              <a:extLst>
                <a:ext uri="{FF2B5EF4-FFF2-40B4-BE49-F238E27FC236}">
                  <a16:creationId xmlns:a16="http://schemas.microsoft.com/office/drawing/2014/main" id="{3000CF09-C2D3-D4F0-4F54-97DF741EB621}"/>
                </a:ext>
              </a:extLst>
            </p:cNvPr>
            <p:cNvSpPr/>
            <p:nvPr/>
          </p:nvSpPr>
          <p:spPr bwMode="gray">
            <a:xfrm>
              <a:off x="7669610" y="4838976"/>
              <a:ext cx="1528555" cy="4415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Field Automation</a:t>
              </a:r>
            </a:p>
          </p:txBody>
        </p:sp>
        <p:cxnSp>
          <p:nvCxnSpPr>
            <p:cNvPr id="3104" name="Straight Arrow Connector 3103">
              <a:extLst>
                <a:ext uri="{FF2B5EF4-FFF2-40B4-BE49-F238E27FC236}">
                  <a16:creationId xmlns:a16="http://schemas.microsoft.com/office/drawing/2014/main" id="{6B61DDBC-7238-878F-3DEF-2E184D581F38}"/>
                </a:ext>
              </a:extLst>
            </p:cNvPr>
            <p:cNvCxnSpPr>
              <a:cxnSpLocks/>
            </p:cNvCxnSpPr>
            <p:nvPr/>
          </p:nvCxnSpPr>
          <p:spPr>
            <a:xfrm>
              <a:off x="7689628" y="3075738"/>
              <a:ext cx="742850" cy="0"/>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05" name="Rectangle 3104">
              <a:extLst>
                <a:ext uri="{FF2B5EF4-FFF2-40B4-BE49-F238E27FC236}">
                  <a16:creationId xmlns:a16="http://schemas.microsoft.com/office/drawing/2014/main" id="{813FB807-D85D-95E0-3285-D150F02B9E7F}"/>
                </a:ext>
              </a:extLst>
            </p:cNvPr>
            <p:cNvSpPr/>
            <p:nvPr/>
          </p:nvSpPr>
          <p:spPr bwMode="gray">
            <a:xfrm rot="5400000">
              <a:off x="7174704" y="2917583"/>
              <a:ext cx="2804324"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Operations Management</a:t>
              </a:r>
            </a:p>
          </p:txBody>
        </p:sp>
        <p:sp>
          <p:nvSpPr>
            <p:cNvPr id="3106" name="Left Brace 3105">
              <a:extLst>
                <a:ext uri="{FF2B5EF4-FFF2-40B4-BE49-F238E27FC236}">
                  <a16:creationId xmlns:a16="http://schemas.microsoft.com/office/drawing/2014/main" id="{B25CE5C9-21DB-A1A3-CA45-7BB1C6A3DD9E}"/>
                </a:ext>
              </a:extLst>
            </p:cNvPr>
            <p:cNvSpPr/>
            <p:nvPr/>
          </p:nvSpPr>
          <p:spPr>
            <a:xfrm>
              <a:off x="8711380" y="1540686"/>
              <a:ext cx="369516" cy="2729274"/>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pic>
          <p:nvPicPr>
            <p:cNvPr id="3121" name="Picture 3120">
              <a:extLst>
                <a:ext uri="{FF2B5EF4-FFF2-40B4-BE49-F238E27FC236}">
                  <a16:creationId xmlns:a16="http://schemas.microsoft.com/office/drawing/2014/main" id="{0D8AE7AF-3BFD-8BC1-5DDB-9C63D1E5B553}"/>
                </a:ext>
              </a:extLst>
            </p:cNvPr>
            <p:cNvPicPr>
              <a:picLocks noChangeAspect="1"/>
            </p:cNvPicPr>
            <p:nvPr/>
          </p:nvPicPr>
          <p:blipFill>
            <a:blip r:embed="rId16"/>
            <a:stretch>
              <a:fillRect/>
            </a:stretch>
          </p:blipFill>
          <p:spPr>
            <a:xfrm>
              <a:off x="9212978" y="1492513"/>
              <a:ext cx="1372820" cy="726717"/>
            </a:xfrm>
            <a:prstGeom prst="rect">
              <a:avLst/>
            </a:prstGeom>
          </p:spPr>
        </p:pic>
        <p:sp>
          <p:nvSpPr>
            <p:cNvPr id="3122" name="Rectangle 3121">
              <a:extLst>
                <a:ext uri="{FF2B5EF4-FFF2-40B4-BE49-F238E27FC236}">
                  <a16:creationId xmlns:a16="http://schemas.microsoft.com/office/drawing/2014/main" id="{83596460-6589-FB77-131F-9FC173A9292B}"/>
                </a:ext>
              </a:extLst>
            </p:cNvPr>
            <p:cNvSpPr/>
            <p:nvPr/>
          </p:nvSpPr>
          <p:spPr bwMode="gray">
            <a:xfrm>
              <a:off x="10230554" y="1685771"/>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SCADA</a:t>
              </a:r>
            </a:p>
          </p:txBody>
        </p:sp>
        <p:pic>
          <p:nvPicPr>
            <p:cNvPr id="3124" name="Picture 3123">
              <a:extLst>
                <a:ext uri="{FF2B5EF4-FFF2-40B4-BE49-F238E27FC236}">
                  <a16:creationId xmlns:a16="http://schemas.microsoft.com/office/drawing/2014/main" id="{6962B5C3-04E2-1DBA-61D2-06E6CA4CE216}"/>
                </a:ext>
              </a:extLst>
            </p:cNvPr>
            <p:cNvPicPr>
              <a:picLocks noChangeAspect="1"/>
            </p:cNvPicPr>
            <p:nvPr/>
          </p:nvPicPr>
          <p:blipFill>
            <a:blip r:embed="rId17"/>
            <a:stretch>
              <a:fillRect/>
            </a:stretch>
          </p:blipFill>
          <p:spPr>
            <a:xfrm>
              <a:off x="9212977" y="2484673"/>
              <a:ext cx="1372821" cy="704861"/>
            </a:xfrm>
            <a:prstGeom prst="rect">
              <a:avLst/>
            </a:prstGeom>
          </p:spPr>
        </p:pic>
        <p:sp>
          <p:nvSpPr>
            <p:cNvPr id="3125" name="Rectangle 3124">
              <a:extLst>
                <a:ext uri="{FF2B5EF4-FFF2-40B4-BE49-F238E27FC236}">
                  <a16:creationId xmlns:a16="http://schemas.microsoft.com/office/drawing/2014/main" id="{E57EF007-FB87-710C-5632-0D48A4101FD0}"/>
                </a:ext>
              </a:extLst>
            </p:cNvPr>
            <p:cNvSpPr/>
            <p:nvPr/>
          </p:nvSpPr>
          <p:spPr bwMode="gray">
            <a:xfrm>
              <a:off x="10129629" y="2659959"/>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DMS</a:t>
              </a:r>
            </a:p>
          </p:txBody>
        </p:sp>
        <p:pic>
          <p:nvPicPr>
            <p:cNvPr id="3127" name="Picture 3126">
              <a:extLst>
                <a:ext uri="{FF2B5EF4-FFF2-40B4-BE49-F238E27FC236}">
                  <a16:creationId xmlns:a16="http://schemas.microsoft.com/office/drawing/2014/main" id="{12C21655-7C72-2366-5DB8-E855A6A5A331}"/>
                </a:ext>
              </a:extLst>
            </p:cNvPr>
            <p:cNvPicPr>
              <a:picLocks noChangeAspect="1"/>
            </p:cNvPicPr>
            <p:nvPr/>
          </p:nvPicPr>
          <p:blipFill>
            <a:blip r:embed="rId18"/>
            <a:stretch>
              <a:fillRect/>
            </a:stretch>
          </p:blipFill>
          <p:spPr>
            <a:xfrm>
              <a:off x="9228886" y="3422663"/>
              <a:ext cx="1366490" cy="847296"/>
            </a:xfrm>
            <a:prstGeom prst="rect">
              <a:avLst/>
            </a:prstGeom>
          </p:spPr>
        </p:pic>
        <p:sp>
          <p:nvSpPr>
            <p:cNvPr id="3128" name="Rectangle 3127">
              <a:extLst>
                <a:ext uri="{FF2B5EF4-FFF2-40B4-BE49-F238E27FC236}">
                  <a16:creationId xmlns:a16="http://schemas.microsoft.com/office/drawing/2014/main" id="{10D79F64-DE81-3E9B-4FBD-BD2A9EA06E2C}"/>
                </a:ext>
              </a:extLst>
            </p:cNvPr>
            <p:cNvSpPr/>
            <p:nvPr/>
          </p:nvSpPr>
          <p:spPr bwMode="gray">
            <a:xfrm>
              <a:off x="10129627" y="3631100"/>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OMS</a:t>
              </a:r>
            </a:p>
          </p:txBody>
        </p:sp>
        <p:sp>
          <p:nvSpPr>
            <p:cNvPr id="3131" name="Rectangle 3130">
              <a:extLst>
                <a:ext uri="{FF2B5EF4-FFF2-40B4-BE49-F238E27FC236}">
                  <a16:creationId xmlns:a16="http://schemas.microsoft.com/office/drawing/2014/main" id="{AD741133-F49E-5F52-C531-10420494C5C4}"/>
                </a:ext>
              </a:extLst>
            </p:cNvPr>
            <p:cNvSpPr/>
            <p:nvPr/>
          </p:nvSpPr>
          <p:spPr bwMode="gray">
            <a:xfrm>
              <a:off x="8894198" y="4445246"/>
              <a:ext cx="2561322" cy="384718"/>
            </a:xfrm>
            <a:prstGeom prst="rect">
              <a:avLst/>
            </a:prstGeom>
            <a:noFill/>
            <a:ln w="19050" algn="ctr">
              <a:no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900" b="1" dirty="0">
                  <a:solidFill>
                    <a:srgbClr val="007680"/>
                  </a:solidFill>
                </a:rPr>
                <a:t>Fault Management</a:t>
              </a:r>
            </a:p>
            <a:p>
              <a:pPr marL="171450" indent="-171450">
                <a:lnSpc>
                  <a:spcPct val="106000"/>
                </a:lnSpc>
                <a:buFont typeface="Arial" panose="020B0604020202020204" pitchFamily="34" charset="0"/>
                <a:buChar char="•"/>
              </a:pPr>
              <a:r>
                <a:rPr lang="en-US" sz="900" b="1" dirty="0">
                  <a:solidFill>
                    <a:srgbClr val="007680"/>
                  </a:solidFill>
                </a:rPr>
                <a:t>Planned Interruptions Management</a:t>
              </a:r>
            </a:p>
          </p:txBody>
        </p:sp>
      </p:grpSp>
      <p:sp>
        <p:nvSpPr>
          <p:cNvPr id="3161" name="Rectangle 3160">
            <a:extLst>
              <a:ext uri="{FF2B5EF4-FFF2-40B4-BE49-F238E27FC236}">
                <a16:creationId xmlns:a16="http://schemas.microsoft.com/office/drawing/2014/main" id="{9B808905-F8C8-9B42-4EA8-C433F05F233B}"/>
              </a:ext>
            </a:extLst>
          </p:cNvPr>
          <p:cNvSpPr/>
          <p:nvPr/>
        </p:nvSpPr>
        <p:spPr bwMode="gray">
          <a:xfrm>
            <a:off x="2686046" y="5491701"/>
            <a:ext cx="1978254" cy="497176"/>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Network Planning</a:t>
            </a:r>
          </a:p>
        </p:txBody>
      </p:sp>
    </p:spTree>
    <p:extLst>
      <p:ext uri="{BB962C8B-B14F-4D97-AF65-F5344CB8AC3E}">
        <p14:creationId xmlns:p14="http://schemas.microsoft.com/office/powerpoint/2010/main" val="1166439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BDE20-C50B-BB16-A79E-DE5A7ECA980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F9B530D-0303-471A-1E78-96C577A50CB6}"/>
              </a:ext>
            </a:extLst>
          </p:cNvPr>
          <p:cNvGraphicFramePr>
            <a:graphicFrameLocks noChangeAspect="1"/>
          </p:cNvGraphicFramePr>
          <p:nvPr>
            <p:custDataLst>
              <p:tags r:id="rId1"/>
            </p:custDataLst>
            <p:extLst>
              <p:ext uri="{D42A27DB-BD31-4B8C-83A1-F6EECF244321}">
                <p14:modId xmlns:p14="http://schemas.microsoft.com/office/powerpoint/2010/main" val="156948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8F9B530D-0303-471A-1E78-96C577A50C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8E507A1F-8764-E39A-784B-B86192DFCFA0}"/>
              </a:ext>
            </a:extLst>
          </p:cNvPr>
          <p:cNvSpPr/>
          <p:nvPr/>
        </p:nvSpPr>
        <p:spPr bwMode="gray">
          <a:xfrm>
            <a:off x="6104006" y="3778230"/>
            <a:ext cx="5827365" cy="2790738"/>
          </a:xfrm>
          <a:prstGeom prst="rect">
            <a:avLst/>
          </a:prstGeom>
          <a:solidFill>
            <a:srgbClr val="43B02A">
              <a:alpha val="2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3" name="Rectangle 42">
            <a:extLst>
              <a:ext uri="{FF2B5EF4-FFF2-40B4-BE49-F238E27FC236}">
                <a16:creationId xmlns:a16="http://schemas.microsoft.com/office/drawing/2014/main" id="{F514AFCA-B860-B3FD-3421-BC205F09D072}"/>
              </a:ext>
            </a:extLst>
          </p:cNvPr>
          <p:cNvSpPr/>
          <p:nvPr/>
        </p:nvSpPr>
        <p:spPr bwMode="gray">
          <a:xfrm>
            <a:off x="277292" y="3754731"/>
            <a:ext cx="5827365" cy="2790738"/>
          </a:xfrm>
          <a:prstGeom prst="rect">
            <a:avLst/>
          </a:prstGeom>
          <a:solidFill>
            <a:srgbClr val="6FC2B4">
              <a:alpha val="2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9" name="Rectangle 38">
            <a:extLst>
              <a:ext uri="{FF2B5EF4-FFF2-40B4-BE49-F238E27FC236}">
                <a16:creationId xmlns:a16="http://schemas.microsoft.com/office/drawing/2014/main" id="{53F8D8B3-057F-FC5B-52A3-D856BE3AEFB7}"/>
              </a:ext>
            </a:extLst>
          </p:cNvPr>
          <p:cNvSpPr/>
          <p:nvPr/>
        </p:nvSpPr>
        <p:spPr bwMode="gray">
          <a:xfrm>
            <a:off x="268634" y="985640"/>
            <a:ext cx="5827365" cy="2790738"/>
          </a:xfrm>
          <a:prstGeom prst="rect">
            <a:avLst/>
          </a:prstGeom>
          <a:solidFill>
            <a:schemeClr val="tx1">
              <a:lumMod val="75000"/>
              <a:lumOff val="2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1" name="Rectangle 40">
            <a:extLst>
              <a:ext uri="{FF2B5EF4-FFF2-40B4-BE49-F238E27FC236}">
                <a16:creationId xmlns:a16="http://schemas.microsoft.com/office/drawing/2014/main" id="{B816D056-B4FC-9641-C1D1-32AD9E4C688A}"/>
              </a:ext>
            </a:extLst>
          </p:cNvPr>
          <p:cNvSpPr/>
          <p:nvPr/>
        </p:nvSpPr>
        <p:spPr bwMode="gray">
          <a:xfrm>
            <a:off x="6112664" y="987143"/>
            <a:ext cx="5827365" cy="2790738"/>
          </a:xfrm>
          <a:prstGeom prst="rect">
            <a:avLst/>
          </a:prstGeom>
          <a:solidFill>
            <a:schemeClr val="accent4">
              <a:lumMod val="60000"/>
              <a:lumOff val="40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2" name="Text Placeholder 2">
            <a:extLst>
              <a:ext uri="{FF2B5EF4-FFF2-40B4-BE49-F238E27FC236}">
                <a16:creationId xmlns:a16="http://schemas.microsoft.com/office/drawing/2014/main" id="{B7FBE95F-16F3-D5F6-9A0A-0FAEF5B8F192}"/>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GIS-based models of TPDDL wherein Asset, Operation, Connection and Network Management is carried out</a:t>
            </a:r>
          </a:p>
        </p:txBody>
      </p:sp>
      <p:sp>
        <p:nvSpPr>
          <p:cNvPr id="6" name="Title 2">
            <a:extLst>
              <a:ext uri="{FF2B5EF4-FFF2-40B4-BE49-F238E27FC236}">
                <a16:creationId xmlns:a16="http://schemas.microsoft.com/office/drawing/2014/main" id="{B46286DA-EE6E-678D-6055-639D5A217C69}"/>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GIS Implementation Case Studies – Tata Power Delhi Distribution Limited (2/2)</a:t>
            </a:r>
          </a:p>
        </p:txBody>
      </p:sp>
      <p:cxnSp>
        <p:nvCxnSpPr>
          <p:cNvPr id="92" name="Straight Connector 91">
            <a:extLst>
              <a:ext uri="{FF2B5EF4-FFF2-40B4-BE49-F238E27FC236}">
                <a16:creationId xmlns:a16="http://schemas.microsoft.com/office/drawing/2014/main" id="{B1B2A785-5738-47FE-36DC-6C91CA92D2D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E8C6587F-0B21-FB0D-6D34-6C63958ED6A4}"/>
              </a:ext>
            </a:extLst>
          </p:cNvPr>
          <p:cNvCxnSpPr>
            <a:cxnSpLocks/>
          </p:cNvCxnSpPr>
          <p:nvPr/>
        </p:nvCxnSpPr>
        <p:spPr>
          <a:xfrm>
            <a:off x="645647" y="1094798"/>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Box 31">
            <a:extLst>
              <a:ext uri="{FF2B5EF4-FFF2-40B4-BE49-F238E27FC236}">
                <a16:creationId xmlns:a16="http://schemas.microsoft.com/office/drawing/2014/main" id="{F2E96B70-9C75-5356-A86E-0DC420C83377}"/>
              </a:ext>
            </a:extLst>
          </p:cNvPr>
          <p:cNvSpPr txBox="1">
            <a:spLocks noChangeArrowheads="1"/>
          </p:cNvSpPr>
          <p:nvPr/>
        </p:nvSpPr>
        <p:spPr bwMode="auto">
          <a:xfrm>
            <a:off x="1438895" y="952418"/>
            <a:ext cx="2359533"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Asset Management</a:t>
            </a:r>
            <a:endParaRPr lang="id-ID" sz="1100" b="1" i="1" dirty="0">
              <a:latin typeface="+mn-lt"/>
              <a:ea typeface="Lato Black" pitchFamily="34" charset="0"/>
              <a:cs typeface="Lato Black" pitchFamily="34" charset="0"/>
            </a:endParaRPr>
          </a:p>
        </p:txBody>
      </p:sp>
      <p:cxnSp>
        <p:nvCxnSpPr>
          <p:cNvPr id="22" name="Straight Connector 21">
            <a:extLst>
              <a:ext uri="{FF2B5EF4-FFF2-40B4-BE49-F238E27FC236}">
                <a16:creationId xmlns:a16="http://schemas.microsoft.com/office/drawing/2014/main" id="{4E169374-CE55-F83D-CA1D-A9EA042B4851}"/>
              </a:ext>
            </a:extLst>
          </p:cNvPr>
          <p:cNvCxnSpPr>
            <a:cxnSpLocks/>
          </p:cNvCxnSpPr>
          <p:nvPr/>
        </p:nvCxnSpPr>
        <p:spPr>
          <a:xfrm>
            <a:off x="6690388" y="1094798"/>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31">
            <a:extLst>
              <a:ext uri="{FF2B5EF4-FFF2-40B4-BE49-F238E27FC236}">
                <a16:creationId xmlns:a16="http://schemas.microsoft.com/office/drawing/2014/main" id="{F9E43E33-BF9C-BBF9-CD27-80073FBE2752}"/>
              </a:ext>
            </a:extLst>
          </p:cNvPr>
          <p:cNvSpPr txBox="1">
            <a:spLocks noChangeArrowheads="1"/>
          </p:cNvSpPr>
          <p:nvPr/>
        </p:nvSpPr>
        <p:spPr bwMode="auto">
          <a:xfrm>
            <a:off x="7665720" y="917693"/>
            <a:ext cx="2763068"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Operation Management</a:t>
            </a:r>
            <a:endParaRPr lang="id-ID" sz="1100" b="1" i="1" dirty="0">
              <a:latin typeface="+mn-lt"/>
              <a:ea typeface="Lato Black" pitchFamily="34" charset="0"/>
              <a:cs typeface="Lato Black" pitchFamily="34" charset="0"/>
            </a:endParaRPr>
          </a:p>
        </p:txBody>
      </p:sp>
      <p:graphicFrame>
        <p:nvGraphicFramePr>
          <p:cNvPr id="25" name="Diagram 24">
            <a:extLst>
              <a:ext uri="{FF2B5EF4-FFF2-40B4-BE49-F238E27FC236}">
                <a16:creationId xmlns:a16="http://schemas.microsoft.com/office/drawing/2014/main" id="{FE6A0315-CE35-43E7-4514-6739E7A31A44}"/>
              </a:ext>
            </a:extLst>
          </p:cNvPr>
          <p:cNvGraphicFramePr/>
          <p:nvPr>
            <p:extLst>
              <p:ext uri="{D42A27DB-BD31-4B8C-83A1-F6EECF244321}">
                <p14:modId xmlns:p14="http://schemas.microsoft.com/office/powerpoint/2010/main" val="2325037044"/>
              </p:ext>
            </p:extLst>
          </p:nvPr>
        </p:nvGraphicFramePr>
        <p:xfrm>
          <a:off x="364415" y="1352064"/>
          <a:ext cx="5456282" cy="236340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29" name="Straight Connector 28">
            <a:extLst>
              <a:ext uri="{FF2B5EF4-FFF2-40B4-BE49-F238E27FC236}">
                <a16:creationId xmlns:a16="http://schemas.microsoft.com/office/drawing/2014/main" id="{7F6813C9-A98A-A866-1026-F73F80CEBA09}"/>
              </a:ext>
            </a:extLst>
          </p:cNvPr>
          <p:cNvCxnSpPr>
            <a:cxnSpLocks/>
          </p:cNvCxnSpPr>
          <p:nvPr/>
        </p:nvCxnSpPr>
        <p:spPr>
          <a:xfrm>
            <a:off x="645647" y="3975524"/>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31">
            <a:extLst>
              <a:ext uri="{FF2B5EF4-FFF2-40B4-BE49-F238E27FC236}">
                <a16:creationId xmlns:a16="http://schemas.microsoft.com/office/drawing/2014/main" id="{5105F917-A9AC-679E-BA8B-51DC67EEDEBD}"/>
              </a:ext>
            </a:extLst>
          </p:cNvPr>
          <p:cNvSpPr txBox="1">
            <a:spLocks noChangeArrowheads="1"/>
          </p:cNvSpPr>
          <p:nvPr/>
        </p:nvSpPr>
        <p:spPr bwMode="auto">
          <a:xfrm>
            <a:off x="1412111" y="3775269"/>
            <a:ext cx="2803005"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Connection Management</a:t>
            </a:r>
            <a:endParaRPr lang="id-ID" sz="1100" b="1" i="1" dirty="0">
              <a:latin typeface="+mn-lt"/>
              <a:ea typeface="Lato Black" pitchFamily="34" charset="0"/>
              <a:cs typeface="Lato Black" pitchFamily="34" charset="0"/>
            </a:endParaRPr>
          </a:p>
        </p:txBody>
      </p:sp>
      <p:graphicFrame>
        <p:nvGraphicFramePr>
          <p:cNvPr id="33" name="Diagram 32">
            <a:extLst>
              <a:ext uri="{FF2B5EF4-FFF2-40B4-BE49-F238E27FC236}">
                <a16:creationId xmlns:a16="http://schemas.microsoft.com/office/drawing/2014/main" id="{525D3BE4-DCF4-42CE-ABF0-E267F37AEC3D}"/>
              </a:ext>
            </a:extLst>
          </p:cNvPr>
          <p:cNvGraphicFramePr/>
          <p:nvPr>
            <p:extLst>
              <p:ext uri="{D42A27DB-BD31-4B8C-83A1-F6EECF244321}">
                <p14:modId xmlns:p14="http://schemas.microsoft.com/office/powerpoint/2010/main" val="3605218631"/>
              </p:ext>
            </p:extLst>
          </p:nvPr>
        </p:nvGraphicFramePr>
        <p:xfrm>
          <a:off x="364415" y="4228196"/>
          <a:ext cx="5456282" cy="2363404"/>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aphicFrame>
        <p:nvGraphicFramePr>
          <p:cNvPr id="34" name="Diagram 33">
            <a:extLst>
              <a:ext uri="{FF2B5EF4-FFF2-40B4-BE49-F238E27FC236}">
                <a16:creationId xmlns:a16="http://schemas.microsoft.com/office/drawing/2014/main" id="{D4B323B0-491E-2D49-1759-2CD2E497F7A2}"/>
              </a:ext>
            </a:extLst>
          </p:cNvPr>
          <p:cNvGraphicFramePr/>
          <p:nvPr>
            <p:extLst>
              <p:ext uri="{D42A27DB-BD31-4B8C-83A1-F6EECF244321}">
                <p14:modId xmlns:p14="http://schemas.microsoft.com/office/powerpoint/2010/main" val="2609504045"/>
              </p:ext>
            </p:extLst>
          </p:nvPr>
        </p:nvGraphicFramePr>
        <p:xfrm>
          <a:off x="6391361" y="1345935"/>
          <a:ext cx="5456282" cy="2363404"/>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cxnSp>
        <p:nvCxnSpPr>
          <p:cNvPr id="35" name="Straight Connector 34">
            <a:extLst>
              <a:ext uri="{FF2B5EF4-FFF2-40B4-BE49-F238E27FC236}">
                <a16:creationId xmlns:a16="http://schemas.microsoft.com/office/drawing/2014/main" id="{69929474-A5D9-7D0B-5D20-2860091CDEBD}"/>
              </a:ext>
            </a:extLst>
          </p:cNvPr>
          <p:cNvCxnSpPr>
            <a:cxnSpLocks/>
          </p:cNvCxnSpPr>
          <p:nvPr/>
        </p:nvCxnSpPr>
        <p:spPr>
          <a:xfrm>
            <a:off x="7112430" y="3975524"/>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Box 31">
            <a:extLst>
              <a:ext uri="{FF2B5EF4-FFF2-40B4-BE49-F238E27FC236}">
                <a16:creationId xmlns:a16="http://schemas.microsoft.com/office/drawing/2014/main" id="{1AD55FC6-D519-A1C0-3B4E-4A7C0343D89C}"/>
              </a:ext>
            </a:extLst>
          </p:cNvPr>
          <p:cNvSpPr txBox="1">
            <a:spLocks noChangeArrowheads="1"/>
          </p:cNvSpPr>
          <p:nvPr/>
        </p:nvSpPr>
        <p:spPr bwMode="auto">
          <a:xfrm>
            <a:off x="7771965" y="3775269"/>
            <a:ext cx="2643724"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Network Management</a:t>
            </a:r>
            <a:endParaRPr lang="id-ID" sz="1100" b="1" i="1" dirty="0">
              <a:latin typeface="+mn-lt"/>
              <a:ea typeface="Lato Black" pitchFamily="34" charset="0"/>
              <a:cs typeface="Lato Black" pitchFamily="34" charset="0"/>
            </a:endParaRPr>
          </a:p>
        </p:txBody>
      </p:sp>
      <p:graphicFrame>
        <p:nvGraphicFramePr>
          <p:cNvPr id="37" name="Diagram 36">
            <a:extLst>
              <a:ext uri="{FF2B5EF4-FFF2-40B4-BE49-F238E27FC236}">
                <a16:creationId xmlns:a16="http://schemas.microsoft.com/office/drawing/2014/main" id="{56CA57B3-6AE4-B595-72A1-295FFA207489}"/>
              </a:ext>
            </a:extLst>
          </p:cNvPr>
          <p:cNvGraphicFramePr/>
          <p:nvPr>
            <p:extLst>
              <p:ext uri="{D42A27DB-BD31-4B8C-83A1-F6EECF244321}">
                <p14:modId xmlns:p14="http://schemas.microsoft.com/office/powerpoint/2010/main" val="2962661887"/>
              </p:ext>
            </p:extLst>
          </p:nvPr>
        </p:nvGraphicFramePr>
        <p:xfrm>
          <a:off x="6391361" y="4228196"/>
          <a:ext cx="5456282" cy="2363404"/>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p:spTree>
    <p:extLst>
      <p:ext uri="{BB962C8B-B14F-4D97-AF65-F5344CB8AC3E}">
        <p14:creationId xmlns:p14="http://schemas.microsoft.com/office/powerpoint/2010/main" val="327949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7B968-12BD-1705-69E5-A8E395FC5C8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3FA5A99-74BF-15A3-AE32-3649BA63555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43FA5A99-74BF-15A3-AE32-3649BA6355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B948026F-E1C0-CFA7-AE74-28A90C5F0A71}"/>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Snapshots of other Indian power utilities adopting GIS</a:t>
            </a:r>
          </a:p>
        </p:txBody>
      </p:sp>
      <p:sp>
        <p:nvSpPr>
          <p:cNvPr id="6" name="Title 2">
            <a:extLst>
              <a:ext uri="{FF2B5EF4-FFF2-40B4-BE49-F238E27FC236}">
                <a16:creationId xmlns:a16="http://schemas.microsoft.com/office/drawing/2014/main" id="{1FF9FF35-8838-901C-EA7D-EF9DECE0B57F}"/>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GIS Implementation Case Studies – Adoption by Indian Power Utilities</a:t>
            </a:r>
          </a:p>
        </p:txBody>
      </p:sp>
      <p:cxnSp>
        <p:nvCxnSpPr>
          <p:cNvPr id="92" name="Straight Connector 91">
            <a:extLst>
              <a:ext uri="{FF2B5EF4-FFF2-40B4-BE49-F238E27FC236}">
                <a16:creationId xmlns:a16="http://schemas.microsoft.com/office/drawing/2014/main" id="{F9A02590-1C62-1BBF-7897-D0007F414B93}"/>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D2E0949-18BE-8451-DCBB-780F84808CD0}"/>
              </a:ext>
            </a:extLst>
          </p:cNvPr>
          <p:cNvCxnSpPr>
            <a:cxnSpLocks/>
          </p:cNvCxnSpPr>
          <p:nvPr/>
        </p:nvCxnSpPr>
        <p:spPr>
          <a:xfrm>
            <a:off x="1097367" y="1259508"/>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31">
            <a:extLst>
              <a:ext uri="{FF2B5EF4-FFF2-40B4-BE49-F238E27FC236}">
                <a16:creationId xmlns:a16="http://schemas.microsoft.com/office/drawing/2014/main" id="{3CBF9DF9-D1D9-52C0-B2F0-EF80FF0875DC}"/>
              </a:ext>
            </a:extLst>
          </p:cNvPr>
          <p:cNvSpPr txBox="1">
            <a:spLocks noChangeArrowheads="1"/>
          </p:cNvSpPr>
          <p:nvPr/>
        </p:nvSpPr>
        <p:spPr bwMode="auto">
          <a:xfrm>
            <a:off x="1850671" y="1070219"/>
            <a:ext cx="2882096"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application tool in UPPCL (UP DISCOM) Intranet Facility</a:t>
            </a:r>
            <a:endParaRPr lang="id-ID" sz="1100" b="1" i="1" dirty="0">
              <a:latin typeface="+mn-lt"/>
              <a:ea typeface="Lato Black" pitchFamily="34" charset="0"/>
              <a:cs typeface="Lato Black" pitchFamily="34" charset="0"/>
            </a:endParaRPr>
          </a:p>
        </p:txBody>
      </p:sp>
      <p:pic>
        <p:nvPicPr>
          <p:cNvPr id="13" name="Picture 12">
            <a:extLst>
              <a:ext uri="{FF2B5EF4-FFF2-40B4-BE49-F238E27FC236}">
                <a16:creationId xmlns:a16="http://schemas.microsoft.com/office/drawing/2014/main" id="{21BC1333-CFDE-0951-C903-E972ACDE7326}"/>
              </a:ext>
            </a:extLst>
          </p:cNvPr>
          <p:cNvPicPr>
            <a:picLocks noChangeAspect="1"/>
          </p:cNvPicPr>
          <p:nvPr/>
        </p:nvPicPr>
        <p:blipFill>
          <a:blip r:embed="rId6"/>
          <a:stretch>
            <a:fillRect/>
          </a:stretch>
        </p:blipFill>
        <p:spPr>
          <a:xfrm>
            <a:off x="499740" y="1690395"/>
            <a:ext cx="5596260" cy="2099139"/>
          </a:xfrm>
          <a:prstGeom prst="rect">
            <a:avLst/>
          </a:prstGeom>
        </p:spPr>
      </p:pic>
      <p:sp>
        <p:nvSpPr>
          <p:cNvPr id="14" name="Oval 13">
            <a:extLst>
              <a:ext uri="{FF2B5EF4-FFF2-40B4-BE49-F238E27FC236}">
                <a16:creationId xmlns:a16="http://schemas.microsoft.com/office/drawing/2014/main" id="{82A51BD1-E386-E9FD-7C19-3FC59F34B492}"/>
              </a:ext>
            </a:extLst>
          </p:cNvPr>
          <p:cNvSpPr/>
          <p:nvPr/>
        </p:nvSpPr>
        <p:spPr bwMode="gray">
          <a:xfrm>
            <a:off x="370388" y="2449255"/>
            <a:ext cx="2245489" cy="1504709"/>
          </a:xfrm>
          <a:prstGeom prst="ellipse">
            <a:avLst/>
          </a:prstGeom>
          <a:noFill/>
          <a:ln w="38100" algn="ctr">
            <a:solidFill>
              <a:srgbClr val="009A44"/>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15" name="Straight Connector 14">
            <a:extLst>
              <a:ext uri="{FF2B5EF4-FFF2-40B4-BE49-F238E27FC236}">
                <a16:creationId xmlns:a16="http://schemas.microsoft.com/office/drawing/2014/main" id="{AC96CAB4-93AC-0467-0CF4-7B0B09FF27C9}"/>
              </a:ext>
            </a:extLst>
          </p:cNvPr>
          <p:cNvCxnSpPr>
            <a:cxnSpLocks/>
          </p:cNvCxnSpPr>
          <p:nvPr/>
        </p:nvCxnSpPr>
        <p:spPr>
          <a:xfrm>
            <a:off x="7152856" y="1259508"/>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31">
            <a:extLst>
              <a:ext uri="{FF2B5EF4-FFF2-40B4-BE49-F238E27FC236}">
                <a16:creationId xmlns:a16="http://schemas.microsoft.com/office/drawing/2014/main" id="{3B395D30-AA0B-344A-C941-D103580206B4}"/>
              </a:ext>
            </a:extLst>
          </p:cNvPr>
          <p:cNvSpPr txBox="1">
            <a:spLocks noChangeArrowheads="1"/>
          </p:cNvSpPr>
          <p:nvPr/>
        </p:nvSpPr>
        <p:spPr bwMode="auto">
          <a:xfrm>
            <a:off x="7907439" y="1083411"/>
            <a:ext cx="2882096"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Illustrative GIS Maps used by BESCOM (Karnataka DISCOM)</a:t>
            </a:r>
            <a:endParaRPr lang="id-ID" sz="1100" b="1" i="1" dirty="0">
              <a:latin typeface="+mn-lt"/>
              <a:ea typeface="Lato Black" pitchFamily="34" charset="0"/>
              <a:cs typeface="Lato Black" pitchFamily="34" charset="0"/>
            </a:endParaRPr>
          </a:p>
        </p:txBody>
      </p:sp>
      <p:pic>
        <p:nvPicPr>
          <p:cNvPr id="18" name="Picture 17">
            <a:extLst>
              <a:ext uri="{FF2B5EF4-FFF2-40B4-BE49-F238E27FC236}">
                <a16:creationId xmlns:a16="http://schemas.microsoft.com/office/drawing/2014/main" id="{379BDE79-52E9-9390-07AF-688FFEC667D9}"/>
              </a:ext>
            </a:extLst>
          </p:cNvPr>
          <p:cNvPicPr>
            <a:picLocks noChangeAspect="1"/>
          </p:cNvPicPr>
          <p:nvPr/>
        </p:nvPicPr>
        <p:blipFill>
          <a:blip r:embed="rId7"/>
          <a:stretch>
            <a:fillRect/>
          </a:stretch>
        </p:blipFill>
        <p:spPr>
          <a:xfrm>
            <a:off x="7164431" y="1572324"/>
            <a:ext cx="4097406" cy="2494981"/>
          </a:xfrm>
          <a:prstGeom prst="rect">
            <a:avLst/>
          </a:prstGeom>
        </p:spPr>
      </p:pic>
      <p:pic>
        <p:nvPicPr>
          <p:cNvPr id="20" name="Picture 19">
            <a:extLst>
              <a:ext uri="{FF2B5EF4-FFF2-40B4-BE49-F238E27FC236}">
                <a16:creationId xmlns:a16="http://schemas.microsoft.com/office/drawing/2014/main" id="{124B15FB-34AA-2209-2CF3-A1F256D02AAD}"/>
              </a:ext>
            </a:extLst>
          </p:cNvPr>
          <p:cNvPicPr>
            <a:picLocks noChangeAspect="1"/>
          </p:cNvPicPr>
          <p:nvPr/>
        </p:nvPicPr>
        <p:blipFill>
          <a:blip r:embed="rId8"/>
          <a:stretch>
            <a:fillRect/>
          </a:stretch>
        </p:blipFill>
        <p:spPr>
          <a:xfrm>
            <a:off x="7164431" y="4214872"/>
            <a:ext cx="4097406" cy="2409498"/>
          </a:xfrm>
          <a:prstGeom prst="rect">
            <a:avLst/>
          </a:prstGeom>
        </p:spPr>
      </p:pic>
      <p:pic>
        <p:nvPicPr>
          <p:cNvPr id="24" name="Picture 23">
            <a:extLst>
              <a:ext uri="{FF2B5EF4-FFF2-40B4-BE49-F238E27FC236}">
                <a16:creationId xmlns:a16="http://schemas.microsoft.com/office/drawing/2014/main" id="{2A555D01-B924-8098-7230-5AC3014AD073}"/>
              </a:ext>
            </a:extLst>
          </p:cNvPr>
          <p:cNvPicPr>
            <a:picLocks noChangeAspect="1"/>
          </p:cNvPicPr>
          <p:nvPr/>
        </p:nvPicPr>
        <p:blipFill>
          <a:blip r:embed="rId9"/>
          <a:stretch>
            <a:fillRect/>
          </a:stretch>
        </p:blipFill>
        <p:spPr>
          <a:xfrm>
            <a:off x="1284788" y="4609258"/>
            <a:ext cx="4357872" cy="1834620"/>
          </a:xfrm>
          <a:prstGeom prst="rect">
            <a:avLst/>
          </a:prstGeom>
        </p:spPr>
      </p:pic>
      <p:cxnSp>
        <p:nvCxnSpPr>
          <p:cNvPr id="26" name="Straight Connector 25">
            <a:extLst>
              <a:ext uri="{FF2B5EF4-FFF2-40B4-BE49-F238E27FC236}">
                <a16:creationId xmlns:a16="http://schemas.microsoft.com/office/drawing/2014/main" id="{81E022D3-FFB8-F7E5-61A9-7DE0A41447F9}"/>
              </a:ext>
            </a:extLst>
          </p:cNvPr>
          <p:cNvCxnSpPr>
            <a:cxnSpLocks/>
          </p:cNvCxnSpPr>
          <p:nvPr/>
        </p:nvCxnSpPr>
        <p:spPr>
          <a:xfrm>
            <a:off x="1035931" y="4321567"/>
            <a:ext cx="435787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Box 31">
            <a:extLst>
              <a:ext uri="{FF2B5EF4-FFF2-40B4-BE49-F238E27FC236}">
                <a16:creationId xmlns:a16="http://schemas.microsoft.com/office/drawing/2014/main" id="{DF87B60C-8A29-23A9-A77A-4DD2F1BB91F9}"/>
              </a:ext>
            </a:extLst>
          </p:cNvPr>
          <p:cNvSpPr txBox="1">
            <a:spLocks noChangeArrowheads="1"/>
          </p:cNvSpPr>
          <p:nvPr/>
        </p:nvSpPr>
        <p:spPr bwMode="auto">
          <a:xfrm>
            <a:off x="1785391" y="4105933"/>
            <a:ext cx="3050880" cy="430886"/>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News snapshot of Torrent Power implementing GIS</a:t>
            </a:r>
            <a:endParaRPr lang="id-ID" sz="1100" b="1" i="1" dirty="0">
              <a:latin typeface="+mn-lt"/>
              <a:ea typeface="Lato Black" pitchFamily="34" charset="0"/>
              <a:cs typeface="Lato Black" pitchFamily="34" charset="0"/>
            </a:endParaRPr>
          </a:p>
        </p:txBody>
      </p:sp>
    </p:spTree>
    <p:extLst>
      <p:ext uri="{BB962C8B-B14F-4D97-AF65-F5344CB8AC3E}">
        <p14:creationId xmlns:p14="http://schemas.microsoft.com/office/powerpoint/2010/main" val="3761794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925C4-BDC0-7EF1-297C-7648BB80B94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2959D08-841F-B01A-9A07-26EED5488C7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F2959D08-841F-B01A-9A07-26EED5488C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AD62FA17-1709-933C-0624-7CB40DC4D36E}"/>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Most recent GIS tender floated by Tripura power utility in January 2024 for ADB funded project</a:t>
            </a:r>
          </a:p>
        </p:txBody>
      </p:sp>
      <p:sp>
        <p:nvSpPr>
          <p:cNvPr id="6" name="Title 2">
            <a:extLst>
              <a:ext uri="{FF2B5EF4-FFF2-40B4-BE49-F238E27FC236}">
                <a16:creationId xmlns:a16="http://schemas.microsoft.com/office/drawing/2014/main" id="{41CE67B7-4F30-92B5-32F3-948365BFD98D}"/>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Case Study – Tripura GIS Consultancy Tender</a:t>
            </a:r>
          </a:p>
        </p:txBody>
      </p:sp>
      <p:cxnSp>
        <p:nvCxnSpPr>
          <p:cNvPr id="92" name="Straight Connector 91">
            <a:extLst>
              <a:ext uri="{FF2B5EF4-FFF2-40B4-BE49-F238E27FC236}">
                <a16:creationId xmlns:a16="http://schemas.microsoft.com/office/drawing/2014/main" id="{6489E29F-079E-317F-5FBF-CA518EC1E38C}"/>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D31755E-F041-4475-700F-971660FF4AE3}"/>
              </a:ext>
            </a:extLst>
          </p:cNvPr>
          <p:cNvSpPr txBox="1"/>
          <p:nvPr/>
        </p:nvSpPr>
        <p:spPr>
          <a:xfrm>
            <a:off x="514665" y="966580"/>
            <a:ext cx="11195999" cy="1107996"/>
          </a:xfrm>
          <a:prstGeom prst="rect">
            <a:avLst/>
          </a:prstGeom>
          <a:solidFill>
            <a:schemeClr val="bg1">
              <a:lumMod val="95000"/>
            </a:schemeClr>
          </a:solidFill>
        </p:spPr>
        <p:txBody>
          <a:bodyPr wrap="square">
            <a:spAutoFit/>
          </a:bodyPr>
          <a:lstStyle/>
          <a:p>
            <a:pPr algn="just">
              <a:spcAft>
                <a:spcPts val="600"/>
              </a:spcAft>
            </a:pPr>
            <a:r>
              <a:rPr lang="en-US" sz="1100" b="1" dirty="0">
                <a:solidFill>
                  <a:srgbClr val="000000"/>
                </a:solidFill>
                <a:effectLst/>
                <a:ea typeface="Calibri" panose="020F0502020204030204" pitchFamily="34" charset="0"/>
              </a:rPr>
              <a:t>Background</a:t>
            </a:r>
          </a:p>
          <a:p>
            <a:pPr marL="171450" indent="-171450" algn="just">
              <a:spcAft>
                <a:spcPts val="600"/>
              </a:spcAft>
              <a:buFont typeface="Arial" panose="020B0604020202020204" pitchFamily="34" charset="0"/>
              <a:buChar char="•"/>
            </a:pPr>
            <a:r>
              <a:rPr lang="en-US" sz="1100" dirty="0">
                <a:solidFill>
                  <a:srgbClr val="000000"/>
                </a:solidFill>
                <a:effectLst/>
                <a:ea typeface="Calibri" panose="020F0502020204030204" pitchFamily="34" charset="0"/>
              </a:rPr>
              <a:t>The Asian Development Bank (ADB) is assisting the Government of Tripura and its executing agencies, Tripura State Electricity Corporation Limited (TSECL) and Tripura Power Generation Limited (TPGL), with financial and technical support. </a:t>
            </a:r>
          </a:p>
          <a:p>
            <a:pPr marL="171450" indent="-171450" algn="just">
              <a:spcAft>
                <a:spcPts val="600"/>
              </a:spcAft>
              <a:buFont typeface="Arial" panose="020B0604020202020204" pitchFamily="34" charset="0"/>
              <a:buChar char="•"/>
            </a:pPr>
            <a:r>
              <a:rPr lang="en-US" sz="1100" dirty="0">
                <a:solidFill>
                  <a:srgbClr val="000000"/>
                </a:solidFill>
                <a:effectLst/>
                <a:ea typeface="Calibri" panose="020F0502020204030204" pitchFamily="34" charset="0"/>
              </a:rPr>
              <a:t>The proposed consulting assignment aims to develop a master plan for electricity distribution network development, enhance technical systems and resources for TSECL's planning and operations, and conduct an organizational review for effective management and operation of functions.</a:t>
            </a:r>
            <a:endParaRPr lang="en-US" sz="1100" dirty="0"/>
          </a:p>
        </p:txBody>
      </p:sp>
      <p:cxnSp>
        <p:nvCxnSpPr>
          <p:cNvPr id="3" name="Straight Connector 2">
            <a:extLst>
              <a:ext uri="{FF2B5EF4-FFF2-40B4-BE49-F238E27FC236}">
                <a16:creationId xmlns:a16="http://schemas.microsoft.com/office/drawing/2014/main" id="{02987B80-B8A0-4393-6B6E-9E83E610AA29}"/>
              </a:ext>
            </a:extLst>
          </p:cNvPr>
          <p:cNvCxnSpPr>
            <a:cxnSpLocks/>
          </p:cNvCxnSpPr>
          <p:nvPr/>
        </p:nvCxnSpPr>
        <p:spPr>
          <a:xfrm>
            <a:off x="589367" y="2276892"/>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Box 31">
            <a:extLst>
              <a:ext uri="{FF2B5EF4-FFF2-40B4-BE49-F238E27FC236}">
                <a16:creationId xmlns:a16="http://schemas.microsoft.com/office/drawing/2014/main" id="{F95BF834-4B64-44CC-E727-5953AC83B388}"/>
              </a:ext>
            </a:extLst>
          </p:cNvPr>
          <p:cNvSpPr txBox="1">
            <a:spLocks noChangeArrowheads="1"/>
          </p:cNvSpPr>
          <p:nvPr/>
        </p:nvSpPr>
        <p:spPr bwMode="auto">
          <a:xfrm>
            <a:off x="1361441" y="2146087"/>
            <a:ext cx="2306320"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Scope of Work - Overview</a:t>
            </a:r>
            <a:endParaRPr lang="id-ID" sz="1100" b="1" i="1" dirty="0">
              <a:latin typeface="+mn-lt"/>
              <a:ea typeface="Lato Black" pitchFamily="34" charset="0"/>
              <a:cs typeface="Lato Black" pitchFamily="34" charset="0"/>
            </a:endParaRPr>
          </a:p>
        </p:txBody>
      </p:sp>
      <p:sp>
        <p:nvSpPr>
          <p:cNvPr id="19" name="Freeform 3">
            <a:extLst>
              <a:ext uri="{FF2B5EF4-FFF2-40B4-BE49-F238E27FC236}">
                <a16:creationId xmlns:a16="http://schemas.microsoft.com/office/drawing/2014/main" id="{D2F2BEE1-CA55-DA89-14D6-998E5516F5E4}"/>
              </a:ext>
            </a:extLst>
          </p:cNvPr>
          <p:cNvSpPr>
            <a:spLocks/>
          </p:cNvSpPr>
          <p:nvPr/>
        </p:nvSpPr>
        <p:spPr bwMode="gray">
          <a:xfrm>
            <a:off x="492697" y="2575767"/>
            <a:ext cx="4678745" cy="474043"/>
          </a:xfrm>
          <a:prstGeom prst="roundRect">
            <a:avLst>
              <a:gd name="adj" fmla="val 50000"/>
            </a:avLst>
          </a:prstGeom>
          <a:solidFill>
            <a:srgbClr val="009A44"/>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100" dirty="0">
                <a:solidFill>
                  <a:schemeClr val="bg1"/>
                </a:solidFill>
              </a:rPr>
              <a:t>Survey of TSECL Distribution Network and TPGL Generation Assets (Including Mapping)</a:t>
            </a:r>
          </a:p>
        </p:txBody>
      </p:sp>
      <p:sp>
        <p:nvSpPr>
          <p:cNvPr id="20" name="Freeform 3">
            <a:extLst>
              <a:ext uri="{FF2B5EF4-FFF2-40B4-BE49-F238E27FC236}">
                <a16:creationId xmlns:a16="http://schemas.microsoft.com/office/drawing/2014/main" id="{46BAC6B7-BD40-A150-2A4A-316EDD8BBAE6}"/>
              </a:ext>
            </a:extLst>
          </p:cNvPr>
          <p:cNvSpPr>
            <a:spLocks/>
          </p:cNvSpPr>
          <p:nvPr/>
        </p:nvSpPr>
        <p:spPr bwMode="gray">
          <a:xfrm>
            <a:off x="503801" y="3183976"/>
            <a:ext cx="4678747" cy="474043"/>
          </a:xfrm>
          <a:prstGeom prst="roundRect">
            <a:avLst>
              <a:gd name="adj" fmla="val 50000"/>
            </a:avLst>
          </a:prstGeom>
          <a:solidFill>
            <a:schemeClr val="accent1">
              <a:lumMod val="40000"/>
              <a:lumOff val="6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100" dirty="0">
                <a:solidFill>
                  <a:schemeClr val="tx1"/>
                </a:solidFill>
              </a:rPr>
              <a:t>Develop an Asset Database using suitable asset data management software recommended by the Consultant and acceptable to TSECL.</a:t>
            </a:r>
          </a:p>
        </p:txBody>
      </p:sp>
      <p:sp>
        <p:nvSpPr>
          <p:cNvPr id="21" name="Freeform 3">
            <a:extLst>
              <a:ext uri="{FF2B5EF4-FFF2-40B4-BE49-F238E27FC236}">
                <a16:creationId xmlns:a16="http://schemas.microsoft.com/office/drawing/2014/main" id="{516BAF37-504F-7660-A906-4DF9FA7C7058}"/>
              </a:ext>
            </a:extLst>
          </p:cNvPr>
          <p:cNvSpPr>
            <a:spLocks/>
          </p:cNvSpPr>
          <p:nvPr/>
        </p:nvSpPr>
        <p:spPr bwMode="gray">
          <a:xfrm>
            <a:off x="503801" y="3776054"/>
            <a:ext cx="4678747" cy="463068"/>
          </a:xfrm>
          <a:prstGeom prst="roundRect">
            <a:avLst>
              <a:gd name="adj" fmla="val 50000"/>
            </a:avLst>
          </a:prstGeom>
          <a:solidFill>
            <a:srgbClr val="004F59"/>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100" dirty="0">
                <a:solidFill>
                  <a:schemeClr val="bg1"/>
                </a:solidFill>
              </a:rPr>
              <a:t>Preparation of Distribution Network Development Roadmap</a:t>
            </a:r>
          </a:p>
        </p:txBody>
      </p:sp>
      <p:sp>
        <p:nvSpPr>
          <p:cNvPr id="22" name="Freeform 3">
            <a:extLst>
              <a:ext uri="{FF2B5EF4-FFF2-40B4-BE49-F238E27FC236}">
                <a16:creationId xmlns:a16="http://schemas.microsoft.com/office/drawing/2014/main" id="{F1540358-1928-BE51-3844-4B342C6EEBED}"/>
              </a:ext>
            </a:extLst>
          </p:cNvPr>
          <p:cNvSpPr>
            <a:spLocks/>
          </p:cNvSpPr>
          <p:nvPr/>
        </p:nvSpPr>
        <p:spPr bwMode="gray">
          <a:xfrm>
            <a:off x="492693" y="4340845"/>
            <a:ext cx="4678747" cy="463068"/>
          </a:xfrm>
          <a:prstGeom prst="roundRect">
            <a:avLst>
              <a:gd name="adj" fmla="val 50000"/>
            </a:avLst>
          </a:prstGeom>
          <a:solidFill>
            <a:srgbClr val="007680"/>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100" dirty="0">
                <a:solidFill>
                  <a:schemeClr val="bg1"/>
                </a:solidFill>
              </a:rPr>
              <a:t>Knowledge Transfer, Training and Capacity Building</a:t>
            </a:r>
          </a:p>
        </p:txBody>
      </p:sp>
      <p:sp>
        <p:nvSpPr>
          <p:cNvPr id="23" name="Oval 22">
            <a:extLst>
              <a:ext uri="{FF2B5EF4-FFF2-40B4-BE49-F238E27FC236}">
                <a16:creationId xmlns:a16="http://schemas.microsoft.com/office/drawing/2014/main" id="{0871C6DA-45C8-E2E9-2329-E1C596FEC518}"/>
              </a:ext>
            </a:extLst>
          </p:cNvPr>
          <p:cNvSpPr/>
          <p:nvPr/>
        </p:nvSpPr>
        <p:spPr>
          <a:xfrm>
            <a:off x="580507" y="2642091"/>
            <a:ext cx="364157" cy="348396"/>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rPr>
              <a:t>1</a:t>
            </a:r>
          </a:p>
        </p:txBody>
      </p:sp>
      <p:sp>
        <p:nvSpPr>
          <p:cNvPr id="24" name="Oval 23">
            <a:extLst>
              <a:ext uri="{FF2B5EF4-FFF2-40B4-BE49-F238E27FC236}">
                <a16:creationId xmlns:a16="http://schemas.microsoft.com/office/drawing/2014/main" id="{651C4C41-0E63-C1CE-DF7B-45FD7770F12C}"/>
              </a:ext>
            </a:extLst>
          </p:cNvPr>
          <p:cNvSpPr/>
          <p:nvPr/>
        </p:nvSpPr>
        <p:spPr>
          <a:xfrm>
            <a:off x="596163" y="3248786"/>
            <a:ext cx="364157" cy="348396"/>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rPr>
              <a:t>2</a:t>
            </a:r>
          </a:p>
        </p:txBody>
      </p:sp>
      <p:sp>
        <p:nvSpPr>
          <p:cNvPr id="25" name="Oval 24">
            <a:extLst>
              <a:ext uri="{FF2B5EF4-FFF2-40B4-BE49-F238E27FC236}">
                <a16:creationId xmlns:a16="http://schemas.microsoft.com/office/drawing/2014/main" id="{3BDAD71D-D658-0FA2-ED61-2E088A2855E0}"/>
              </a:ext>
            </a:extLst>
          </p:cNvPr>
          <p:cNvSpPr/>
          <p:nvPr/>
        </p:nvSpPr>
        <p:spPr>
          <a:xfrm>
            <a:off x="596163" y="3834113"/>
            <a:ext cx="364157" cy="348396"/>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rPr>
              <a:t>3</a:t>
            </a:r>
          </a:p>
        </p:txBody>
      </p:sp>
      <p:sp>
        <p:nvSpPr>
          <p:cNvPr id="26" name="Oval 25">
            <a:extLst>
              <a:ext uri="{FF2B5EF4-FFF2-40B4-BE49-F238E27FC236}">
                <a16:creationId xmlns:a16="http://schemas.microsoft.com/office/drawing/2014/main" id="{5C2336B3-1EE1-19D4-F060-914FED29FCEB}"/>
              </a:ext>
            </a:extLst>
          </p:cNvPr>
          <p:cNvSpPr/>
          <p:nvPr/>
        </p:nvSpPr>
        <p:spPr>
          <a:xfrm>
            <a:off x="596163" y="4397458"/>
            <a:ext cx="364157" cy="348396"/>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rPr>
              <a:t>4</a:t>
            </a:r>
          </a:p>
        </p:txBody>
      </p:sp>
      <p:sp>
        <p:nvSpPr>
          <p:cNvPr id="27" name="Freeform 3">
            <a:extLst>
              <a:ext uri="{FF2B5EF4-FFF2-40B4-BE49-F238E27FC236}">
                <a16:creationId xmlns:a16="http://schemas.microsoft.com/office/drawing/2014/main" id="{27985838-E10D-EBAD-D24B-974BD46DD8D8}"/>
              </a:ext>
            </a:extLst>
          </p:cNvPr>
          <p:cNvSpPr>
            <a:spLocks/>
          </p:cNvSpPr>
          <p:nvPr/>
        </p:nvSpPr>
        <p:spPr bwMode="gray">
          <a:xfrm>
            <a:off x="492693" y="5489301"/>
            <a:ext cx="4678747" cy="452919"/>
          </a:xfrm>
          <a:prstGeom prst="roundRect">
            <a:avLst>
              <a:gd name="adj" fmla="val 50000"/>
            </a:avLst>
          </a:prstGeom>
          <a:solidFill>
            <a:schemeClr val="bg1">
              <a:lumMod val="85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100" dirty="0">
                <a:solidFill>
                  <a:schemeClr val="tx1"/>
                </a:solidFill>
              </a:rPr>
              <a:t>Organizational/Institutional Review and Capacity Building Roadmap of TSECL</a:t>
            </a:r>
          </a:p>
        </p:txBody>
      </p:sp>
      <p:sp>
        <p:nvSpPr>
          <p:cNvPr id="28" name="Oval 27">
            <a:extLst>
              <a:ext uri="{FF2B5EF4-FFF2-40B4-BE49-F238E27FC236}">
                <a16:creationId xmlns:a16="http://schemas.microsoft.com/office/drawing/2014/main" id="{4BBD62E1-605D-0E55-8F5C-F4E0B35D3D16}"/>
              </a:ext>
            </a:extLst>
          </p:cNvPr>
          <p:cNvSpPr/>
          <p:nvPr/>
        </p:nvSpPr>
        <p:spPr>
          <a:xfrm>
            <a:off x="570640" y="5541562"/>
            <a:ext cx="364157" cy="348396"/>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rPr>
              <a:t>6</a:t>
            </a:r>
          </a:p>
        </p:txBody>
      </p:sp>
      <p:sp>
        <p:nvSpPr>
          <p:cNvPr id="29" name="Freeform 3">
            <a:extLst>
              <a:ext uri="{FF2B5EF4-FFF2-40B4-BE49-F238E27FC236}">
                <a16:creationId xmlns:a16="http://schemas.microsoft.com/office/drawing/2014/main" id="{BADDB4C1-1DCE-0564-3EC6-4BB354756642}"/>
              </a:ext>
            </a:extLst>
          </p:cNvPr>
          <p:cNvSpPr>
            <a:spLocks/>
          </p:cNvSpPr>
          <p:nvPr/>
        </p:nvSpPr>
        <p:spPr bwMode="gray">
          <a:xfrm>
            <a:off x="503801" y="4942052"/>
            <a:ext cx="4678747" cy="452919"/>
          </a:xfrm>
          <a:prstGeom prst="roundRect">
            <a:avLst>
              <a:gd name="adj" fmla="val 50000"/>
            </a:avLst>
          </a:prstGeom>
          <a:solidFill>
            <a:schemeClr val="tx1">
              <a:lumMod val="75000"/>
              <a:lumOff val="25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100" dirty="0">
                <a:solidFill>
                  <a:schemeClr val="bg1"/>
                </a:solidFill>
              </a:rPr>
              <a:t>Setting up of Distribution Construction Standards</a:t>
            </a:r>
          </a:p>
        </p:txBody>
      </p:sp>
      <p:sp>
        <p:nvSpPr>
          <p:cNvPr id="30" name="Oval 29">
            <a:extLst>
              <a:ext uri="{FF2B5EF4-FFF2-40B4-BE49-F238E27FC236}">
                <a16:creationId xmlns:a16="http://schemas.microsoft.com/office/drawing/2014/main" id="{7649AAA0-8B33-CEDD-C76B-7F217EA12D98}"/>
              </a:ext>
            </a:extLst>
          </p:cNvPr>
          <p:cNvSpPr/>
          <p:nvPr/>
        </p:nvSpPr>
        <p:spPr>
          <a:xfrm>
            <a:off x="581748" y="4994313"/>
            <a:ext cx="364157" cy="348396"/>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rPr>
              <a:t>5</a:t>
            </a:r>
          </a:p>
        </p:txBody>
      </p:sp>
      <p:cxnSp>
        <p:nvCxnSpPr>
          <p:cNvPr id="33" name="Straight Connector 32">
            <a:extLst>
              <a:ext uri="{FF2B5EF4-FFF2-40B4-BE49-F238E27FC236}">
                <a16:creationId xmlns:a16="http://schemas.microsoft.com/office/drawing/2014/main" id="{346611BC-8ECB-3697-D961-4C87D65EFCFB}"/>
              </a:ext>
            </a:extLst>
          </p:cNvPr>
          <p:cNvCxnSpPr>
            <a:cxnSpLocks/>
          </p:cNvCxnSpPr>
          <p:nvPr/>
        </p:nvCxnSpPr>
        <p:spPr>
          <a:xfrm>
            <a:off x="6624407" y="2276892"/>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1">
            <a:extLst>
              <a:ext uri="{FF2B5EF4-FFF2-40B4-BE49-F238E27FC236}">
                <a16:creationId xmlns:a16="http://schemas.microsoft.com/office/drawing/2014/main" id="{CA6CEF36-DBF2-375E-A6D1-0D93FCC6DEC9}"/>
              </a:ext>
            </a:extLst>
          </p:cNvPr>
          <p:cNvSpPr txBox="1">
            <a:spLocks noChangeArrowheads="1"/>
          </p:cNvSpPr>
          <p:nvPr/>
        </p:nvSpPr>
        <p:spPr bwMode="auto">
          <a:xfrm>
            <a:off x="7042430" y="2146087"/>
            <a:ext cx="3261360"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Eligibility Criteria/ Criteria for Marks</a:t>
            </a:r>
            <a:endParaRPr lang="id-ID" sz="1100" b="1" i="1" dirty="0">
              <a:latin typeface="+mn-lt"/>
              <a:ea typeface="Lato Black" pitchFamily="34" charset="0"/>
              <a:cs typeface="Lato Black" pitchFamily="34" charset="0"/>
            </a:endParaRPr>
          </a:p>
        </p:txBody>
      </p:sp>
      <p:sp>
        <p:nvSpPr>
          <p:cNvPr id="35" name="Rectangle: Rounded Corners 34">
            <a:extLst>
              <a:ext uri="{FF2B5EF4-FFF2-40B4-BE49-F238E27FC236}">
                <a16:creationId xmlns:a16="http://schemas.microsoft.com/office/drawing/2014/main" id="{AA84F8F6-D256-245A-ECC9-D639B28C2108}"/>
              </a:ext>
            </a:extLst>
          </p:cNvPr>
          <p:cNvSpPr/>
          <p:nvPr/>
        </p:nvSpPr>
        <p:spPr bwMode="gray">
          <a:xfrm>
            <a:off x="5902960" y="2475375"/>
            <a:ext cx="5807704" cy="1019666"/>
          </a:xfrm>
          <a:prstGeom prst="roundRect">
            <a:avLst/>
          </a:prstGeom>
          <a:noFill/>
          <a:ln w="19050" algn="ctr">
            <a:solidFill>
              <a:schemeClr val="tx1"/>
            </a:solidFill>
            <a:prstDash val="lgDash"/>
            <a:miter lim="800000"/>
            <a:headEnd/>
            <a:tailEnd/>
          </a:ln>
        </p:spPr>
        <p:txBody>
          <a:bodyPr wrap="square" lIns="88900" tIns="88900" rIns="88900" bIns="88900" rtlCol="0" anchor="ctr"/>
          <a:lstStyle/>
          <a:p>
            <a:pPr marL="171450" indent="-171450">
              <a:lnSpc>
                <a:spcPct val="106000"/>
              </a:lnSpc>
              <a:buFont typeface="Wingdings" panose="05000000000000000000" pitchFamily="2" charset="2"/>
              <a:buChar char="ü"/>
            </a:pPr>
            <a:r>
              <a:rPr lang="en-US" sz="1100" b="1" dirty="0"/>
              <a:t>Firm’s </a:t>
            </a:r>
            <a:r>
              <a:rPr lang="en-US" sz="1100" b="1" dirty="0">
                <a:solidFill>
                  <a:srgbClr val="00A3E0"/>
                </a:solidFill>
              </a:rPr>
              <a:t>experience in similar projects</a:t>
            </a:r>
          </a:p>
          <a:p>
            <a:pPr marL="171450" indent="-171450">
              <a:lnSpc>
                <a:spcPct val="106000"/>
              </a:lnSpc>
              <a:buFont typeface="Wingdings" panose="05000000000000000000" pitchFamily="2" charset="2"/>
              <a:buChar char="ü"/>
            </a:pPr>
            <a:r>
              <a:rPr lang="en-US" sz="1100" b="1" dirty="0"/>
              <a:t>Firm’s </a:t>
            </a:r>
            <a:r>
              <a:rPr lang="en-US" sz="1100" b="1" dirty="0">
                <a:solidFill>
                  <a:srgbClr val="00A3E0"/>
                </a:solidFill>
              </a:rPr>
              <a:t>experience in similar geographic areas</a:t>
            </a:r>
          </a:p>
          <a:p>
            <a:pPr marL="171450" indent="-171450">
              <a:lnSpc>
                <a:spcPct val="106000"/>
              </a:lnSpc>
              <a:buFont typeface="Wingdings" panose="05000000000000000000" pitchFamily="2" charset="2"/>
              <a:buChar char="ü"/>
            </a:pPr>
            <a:r>
              <a:rPr lang="en-US" sz="1100" b="1" dirty="0"/>
              <a:t>Meeting of minimum criteria of each Key experts in terms of education and work experience*</a:t>
            </a:r>
          </a:p>
        </p:txBody>
      </p:sp>
      <p:cxnSp>
        <p:nvCxnSpPr>
          <p:cNvPr id="36" name="Straight Connector 35">
            <a:extLst>
              <a:ext uri="{FF2B5EF4-FFF2-40B4-BE49-F238E27FC236}">
                <a16:creationId xmlns:a16="http://schemas.microsoft.com/office/drawing/2014/main" id="{BCE892CA-240C-31EC-581E-7E2BE5FD2EF1}"/>
              </a:ext>
            </a:extLst>
          </p:cNvPr>
          <p:cNvCxnSpPr>
            <a:cxnSpLocks/>
          </p:cNvCxnSpPr>
          <p:nvPr/>
        </p:nvCxnSpPr>
        <p:spPr>
          <a:xfrm>
            <a:off x="6624407" y="3802199"/>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TextBox 31">
            <a:extLst>
              <a:ext uri="{FF2B5EF4-FFF2-40B4-BE49-F238E27FC236}">
                <a16:creationId xmlns:a16="http://schemas.microsoft.com/office/drawing/2014/main" id="{C530F0DB-5372-6D10-05D6-72CA8813DE5D}"/>
              </a:ext>
            </a:extLst>
          </p:cNvPr>
          <p:cNvSpPr txBox="1">
            <a:spLocks noChangeArrowheads="1"/>
          </p:cNvSpPr>
          <p:nvPr/>
        </p:nvSpPr>
        <p:spPr bwMode="auto">
          <a:xfrm>
            <a:off x="7396481" y="3671394"/>
            <a:ext cx="2306320"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Required Team of Experts</a:t>
            </a:r>
            <a:endParaRPr lang="id-ID" sz="1100" b="1" i="1" dirty="0">
              <a:latin typeface="+mn-lt"/>
              <a:ea typeface="Lato Black" pitchFamily="34" charset="0"/>
              <a:cs typeface="Lato Black" pitchFamily="34" charset="0"/>
            </a:endParaRPr>
          </a:p>
        </p:txBody>
      </p:sp>
      <p:sp>
        <p:nvSpPr>
          <p:cNvPr id="38" name="Rectangle 37">
            <a:extLst>
              <a:ext uri="{FF2B5EF4-FFF2-40B4-BE49-F238E27FC236}">
                <a16:creationId xmlns:a16="http://schemas.microsoft.com/office/drawing/2014/main" id="{F1CFF603-C110-940D-251F-6239694A0FD0}"/>
              </a:ext>
            </a:extLst>
          </p:cNvPr>
          <p:cNvSpPr/>
          <p:nvPr/>
        </p:nvSpPr>
        <p:spPr bwMode="gray">
          <a:xfrm>
            <a:off x="5948132" y="39852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Team Leader</a:t>
            </a:r>
          </a:p>
        </p:txBody>
      </p:sp>
      <p:sp>
        <p:nvSpPr>
          <p:cNvPr id="39" name="Rectangle 38">
            <a:extLst>
              <a:ext uri="{FF2B5EF4-FFF2-40B4-BE49-F238E27FC236}">
                <a16:creationId xmlns:a16="http://schemas.microsoft.com/office/drawing/2014/main" id="{8AC7F406-60E1-EE8B-3812-224B4AE339C9}"/>
              </a:ext>
            </a:extLst>
          </p:cNvPr>
          <p:cNvSpPr/>
          <p:nvPr/>
        </p:nvSpPr>
        <p:spPr bwMode="gray">
          <a:xfrm>
            <a:off x="7897199" y="39852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Project Manager</a:t>
            </a:r>
          </a:p>
        </p:txBody>
      </p:sp>
      <p:sp>
        <p:nvSpPr>
          <p:cNvPr id="40" name="Rectangle 39">
            <a:extLst>
              <a:ext uri="{FF2B5EF4-FFF2-40B4-BE49-F238E27FC236}">
                <a16:creationId xmlns:a16="http://schemas.microsoft.com/office/drawing/2014/main" id="{81AB4599-0FB1-9BD8-1E99-AB0A3E47D6DD}"/>
              </a:ext>
            </a:extLst>
          </p:cNvPr>
          <p:cNvSpPr/>
          <p:nvPr/>
        </p:nvSpPr>
        <p:spPr bwMode="gray">
          <a:xfrm>
            <a:off x="9841569" y="39852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Distribution Systems Planning Expert</a:t>
            </a:r>
          </a:p>
        </p:txBody>
      </p:sp>
      <p:sp>
        <p:nvSpPr>
          <p:cNvPr id="42" name="Rectangle 41">
            <a:extLst>
              <a:ext uri="{FF2B5EF4-FFF2-40B4-BE49-F238E27FC236}">
                <a16:creationId xmlns:a16="http://schemas.microsoft.com/office/drawing/2014/main" id="{F046A27B-64A3-2FBD-59ED-5D998F07931B}"/>
              </a:ext>
            </a:extLst>
          </p:cNvPr>
          <p:cNvSpPr/>
          <p:nvPr/>
        </p:nvSpPr>
        <p:spPr bwMode="gray">
          <a:xfrm>
            <a:off x="5948132" y="455990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Distribution System Engineer</a:t>
            </a:r>
          </a:p>
        </p:txBody>
      </p:sp>
      <p:sp>
        <p:nvSpPr>
          <p:cNvPr id="43" name="Rectangle 42">
            <a:extLst>
              <a:ext uri="{FF2B5EF4-FFF2-40B4-BE49-F238E27FC236}">
                <a16:creationId xmlns:a16="http://schemas.microsoft.com/office/drawing/2014/main" id="{9EB52BEA-C406-6472-F1A4-9C74690D6FD7}"/>
              </a:ext>
            </a:extLst>
          </p:cNvPr>
          <p:cNvSpPr/>
          <p:nvPr/>
        </p:nvSpPr>
        <p:spPr bwMode="gray">
          <a:xfrm>
            <a:off x="7897199" y="45644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Gas Generation Expert</a:t>
            </a:r>
          </a:p>
        </p:txBody>
      </p:sp>
      <p:sp>
        <p:nvSpPr>
          <p:cNvPr id="44" name="Rectangle 43">
            <a:extLst>
              <a:ext uri="{FF2B5EF4-FFF2-40B4-BE49-F238E27FC236}">
                <a16:creationId xmlns:a16="http://schemas.microsoft.com/office/drawing/2014/main" id="{8D4BB7AA-7518-5F30-4672-83EE4541416A}"/>
              </a:ext>
            </a:extLst>
          </p:cNvPr>
          <p:cNvSpPr/>
          <p:nvPr/>
        </p:nvSpPr>
        <p:spPr bwMode="gray">
          <a:xfrm>
            <a:off x="9841569" y="4568008"/>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Hydro Generation Expert</a:t>
            </a:r>
          </a:p>
        </p:txBody>
      </p:sp>
      <p:sp>
        <p:nvSpPr>
          <p:cNvPr id="45" name="Rectangle 44">
            <a:extLst>
              <a:ext uri="{FF2B5EF4-FFF2-40B4-BE49-F238E27FC236}">
                <a16:creationId xmlns:a16="http://schemas.microsoft.com/office/drawing/2014/main" id="{4AC19FF1-575D-C120-6D08-47CEC74285C5}"/>
              </a:ext>
            </a:extLst>
          </p:cNvPr>
          <p:cNvSpPr/>
          <p:nvPr/>
        </p:nvSpPr>
        <p:spPr bwMode="gray">
          <a:xfrm>
            <a:off x="5948132" y="5161344"/>
            <a:ext cx="1808135" cy="528252"/>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GIS/Mapping Expert</a:t>
            </a:r>
          </a:p>
        </p:txBody>
      </p:sp>
      <p:sp>
        <p:nvSpPr>
          <p:cNvPr id="46" name="Rectangle 45">
            <a:extLst>
              <a:ext uri="{FF2B5EF4-FFF2-40B4-BE49-F238E27FC236}">
                <a16:creationId xmlns:a16="http://schemas.microsoft.com/office/drawing/2014/main" id="{6C4647B3-1BCD-FFD2-1D1B-D7E1867AF8FE}"/>
              </a:ext>
            </a:extLst>
          </p:cNvPr>
          <p:cNvSpPr/>
          <p:nvPr/>
        </p:nvSpPr>
        <p:spPr bwMode="gray">
          <a:xfrm>
            <a:off x="7897199" y="5165884"/>
            <a:ext cx="1808135" cy="528252"/>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HR Expert</a:t>
            </a:r>
          </a:p>
        </p:txBody>
      </p:sp>
      <p:sp>
        <p:nvSpPr>
          <p:cNvPr id="47" name="Rectangle 46">
            <a:extLst>
              <a:ext uri="{FF2B5EF4-FFF2-40B4-BE49-F238E27FC236}">
                <a16:creationId xmlns:a16="http://schemas.microsoft.com/office/drawing/2014/main" id="{0DD541E8-9DA9-756F-1676-B8DECBB00620}"/>
              </a:ext>
            </a:extLst>
          </p:cNvPr>
          <p:cNvSpPr/>
          <p:nvPr/>
        </p:nvSpPr>
        <p:spPr bwMode="gray">
          <a:xfrm>
            <a:off x="9841569" y="5169447"/>
            <a:ext cx="1808135" cy="528252"/>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Distribution Commercial Process/ Metering &amp; Billing Exp</a:t>
            </a:r>
          </a:p>
        </p:txBody>
      </p:sp>
      <p:sp>
        <p:nvSpPr>
          <p:cNvPr id="48" name="Rectangle 47">
            <a:extLst>
              <a:ext uri="{FF2B5EF4-FFF2-40B4-BE49-F238E27FC236}">
                <a16:creationId xmlns:a16="http://schemas.microsoft.com/office/drawing/2014/main" id="{7B20FD36-DF3F-3111-7893-F3004A0FC8B5}"/>
              </a:ext>
            </a:extLst>
          </p:cNvPr>
          <p:cNvSpPr/>
          <p:nvPr/>
        </p:nvSpPr>
        <p:spPr bwMode="gray">
          <a:xfrm>
            <a:off x="5948132" y="5784893"/>
            <a:ext cx="1808135" cy="528252"/>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IT Expert</a:t>
            </a:r>
          </a:p>
        </p:txBody>
      </p:sp>
      <p:sp>
        <p:nvSpPr>
          <p:cNvPr id="49" name="Rectangle 48">
            <a:extLst>
              <a:ext uri="{FF2B5EF4-FFF2-40B4-BE49-F238E27FC236}">
                <a16:creationId xmlns:a16="http://schemas.microsoft.com/office/drawing/2014/main" id="{BCEE462A-A4AB-B233-38F9-7B81E2AC0A73}"/>
              </a:ext>
            </a:extLst>
          </p:cNvPr>
          <p:cNvSpPr/>
          <p:nvPr/>
        </p:nvSpPr>
        <p:spPr bwMode="gray">
          <a:xfrm>
            <a:off x="8020260" y="5980659"/>
            <a:ext cx="212991" cy="190114"/>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dirty="0">
              <a:solidFill>
                <a:schemeClr val="bg1"/>
              </a:solidFill>
            </a:endParaRPr>
          </a:p>
        </p:txBody>
      </p:sp>
      <p:sp>
        <p:nvSpPr>
          <p:cNvPr id="51" name="TextBox 50">
            <a:extLst>
              <a:ext uri="{FF2B5EF4-FFF2-40B4-BE49-F238E27FC236}">
                <a16:creationId xmlns:a16="http://schemas.microsoft.com/office/drawing/2014/main" id="{D1B076D5-AED1-F19F-74E2-3C2AA8DF00A1}"/>
              </a:ext>
            </a:extLst>
          </p:cNvPr>
          <p:cNvSpPr txBox="1"/>
          <p:nvPr/>
        </p:nvSpPr>
        <p:spPr>
          <a:xfrm>
            <a:off x="8233252" y="5960300"/>
            <a:ext cx="1408786" cy="230832"/>
          </a:xfrm>
          <a:prstGeom prst="rect">
            <a:avLst/>
          </a:prstGeom>
          <a:noFill/>
        </p:spPr>
        <p:txBody>
          <a:bodyPr wrap="square">
            <a:spAutoFit/>
          </a:bodyPr>
          <a:lstStyle/>
          <a:p>
            <a:r>
              <a:rPr lang="en-US" sz="900" i="1" dirty="0">
                <a:solidFill>
                  <a:srgbClr val="000000"/>
                </a:solidFill>
                <a:effectLst/>
                <a:ea typeface="Calibri" panose="020F0502020204030204" pitchFamily="34" charset="0"/>
              </a:rPr>
              <a:t>International Experts</a:t>
            </a:r>
            <a:endParaRPr lang="en-US" sz="900" i="1" dirty="0"/>
          </a:p>
        </p:txBody>
      </p:sp>
      <p:sp>
        <p:nvSpPr>
          <p:cNvPr id="52" name="Rectangle 51">
            <a:extLst>
              <a:ext uri="{FF2B5EF4-FFF2-40B4-BE49-F238E27FC236}">
                <a16:creationId xmlns:a16="http://schemas.microsoft.com/office/drawing/2014/main" id="{5EDA0BC4-660E-D702-5118-9A0DE44275E3}"/>
              </a:ext>
            </a:extLst>
          </p:cNvPr>
          <p:cNvSpPr/>
          <p:nvPr/>
        </p:nvSpPr>
        <p:spPr bwMode="gray">
          <a:xfrm>
            <a:off x="9906032" y="5980515"/>
            <a:ext cx="212991" cy="190114"/>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dirty="0">
              <a:solidFill>
                <a:schemeClr val="bg1"/>
              </a:solidFill>
            </a:endParaRPr>
          </a:p>
        </p:txBody>
      </p:sp>
      <p:sp>
        <p:nvSpPr>
          <p:cNvPr id="53" name="TextBox 52">
            <a:extLst>
              <a:ext uri="{FF2B5EF4-FFF2-40B4-BE49-F238E27FC236}">
                <a16:creationId xmlns:a16="http://schemas.microsoft.com/office/drawing/2014/main" id="{F6F2B103-DF5E-2F6D-C6CB-FA22BB2F6679}"/>
              </a:ext>
            </a:extLst>
          </p:cNvPr>
          <p:cNvSpPr txBox="1"/>
          <p:nvPr/>
        </p:nvSpPr>
        <p:spPr>
          <a:xfrm>
            <a:off x="10119023" y="5955889"/>
            <a:ext cx="1408786" cy="230832"/>
          </a:xfrm>
          <a:prstGeom prst="rect">
            <a:avLst/>
          </a:prstGeom>
          <a:noFill/>
        </p:spPr>
        <p:txBody>
          <a:bodyPr wrap="square">
            <a:spAutoFit/>
          </a:bodyPr>
          <a:lstStyle/>
          <a:p>
            <a:r>
              <a:rPr lang="en-US" sz="900" i="1" dirty="0">
                <a:solidFill>
                  <a:srgbClr val="000000"/>
                </a:solidFill>
                <a:effectLst/>
                <a:ea typeface="Calibri" panose="020F0502020204030204" pitchFamily="34" charset="0"/>
              </a:rPr>
              <a:t>National Experts</a:t>
            </a:r>
            <a:endParaRPr lang="en-US" sz="900" i="1" dirty="0"/>
          </a:p>
        </p:txBody>
      </p:sp>
      <p:sp>
        <p:nvSpPr>
          <p:cNvPr id="54" name="TextBox 53">
            <a:extLst>
              <a:ext uri="{FF2B5EF4-FFF2-40B4-BE49-F238E27FC236}">
                <a16:creationId xmlns:a16="http://schemas.microsoft.com/office/drawing/2014/main" id="{FC1B13B4-2207-665C-D3CB-9ED15568F7A2}"/>
              </a:ext>
            </a:extLst>
          </p:cNvPr>
          <p:cNvSpPr txBox="1"/>
          <p:nvPr/>
        </p:nvSpPr>
        <p:spPr>
          <a:xfrm>
            <a:off x="514664" y="6126375"/>
            <a:ext cx="4829496" cy="2769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*Details of educational and professional experience required for each expert is provided in </a:t>
            </a:r>
            <a:r>
              <a:rPr lang="en-US" sz="900" i="1" dirty="0">
                <a:solidFill>
                  <a:schemeClr val="accent6"/>
                </a:solidFill>
                <a:hlinkClick r:id="rId5" action="ppaction://hlinksldjump">
                  <a:extLst>
                    <a:ext uri="{A12FA001-AC4F-418D-AE19-62706E023703}">
                      <ahyp:hlinkClr xmlns:ahyp="http://schemas.microsoft.com/office/drawing/2018/hyperlinkcolor" val="tx"/>
                    </a:ext>
                  </a:extLst>
                </a:hlinkClick>
              </a:rPr>
              <a:t>Annexure</a:t>
            </a:r>
            <a:endParaRPr lang="en-US" sz="900" i="1" dirty="0">
              <a:solidFill>
                <a:schemeClr val="accent6"/>
              </a:solidFill>
            </a:endParaRPr>
          </a:p>
        </p:txBody>
      </p:sp>
    </p:spTree>
    <p:extLst>
      <p:ext uri="{BB962C8B-B14F-4D97-AF65-F5344CB8AC3E}">
        <p14:creationId xmlns:p14="http://schemas.microsoft.com/office/powerpoint/2010/main" val="932525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4BD9E-546D-1281-4821-A9538FA27169}"/>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54C761B-8894-D0A5-8CD3-3E4E03C6099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F2959D08-841F-B01A-9A07-26EED5488C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FB71B59D-5196-277E-D4E3-8A446480F284}"/>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Tender floated by DHBVN for implementation of GIS in Haryana under RAPDRP scheme</a:t>
            </a:r>
          </a:p>
        </p:txBody>
      </p:sp>
      <p:sp>
        <p:nvSpPr>
          <p:cNvPr id="6" name="Title 2">
            <a:extLst>
              <a:ext uri="{FF2B5EF4-FFF2-40B4-BE49-F238E27FC236}">
                <a16:creationId xmlns:a16="http://schemas.microsoft.com/office/drawing/2014/main" id="{0D63139D-2DC3-BEB8-0949-CF438501B4C3}"/>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Case Study – DHBVN GIS Rollout and Asset Mapping Tender</a:t>
            </a:r>
          </a:p>
        </p:txBody>
      </p:sp>
      <p:cxnSp>
        <p:nvCxnSpPr>
          <p:cNvPr id="92" name="Straight Connector 91">
            <a:extLst>
              <a:ext uri="{FF2B5EF4-FFF2-40B4-BE49-F238E27FC236}">
                <a16:creationId xmlns:a16="http://schemas.microsoft.com/office/drawing/2014/main" id="{54C2FD9D-5ACD-A511-4B10-C4ECDAA9BEFD}"/>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49194A8-7A0B-5049-5A2F-AD3221EC6F0C}"/>
              </a:ext>
            </a:extLst>
          </p:cNvPr>
          <p:cNvSpPr txBox="1"/>
          <p:nvPr/>
        </p:nvSpPr>
        <p:spPr>
          <a:xfrm>
            <a:off x="514665" y="966580"/>
            <a:ext cx="11195999" cy="1431161"/>
          </a:xfrm>
          <a:prstGeom prst="rect">
            <a:avLst/>
          </a:prstGeom>
          <a:solidFill>
            <a:schemeClr val="bg1">
              <a:lumMod val="95000"/>
            </a:schemeClr>
          </a:solidFill>
        </p:spPr>
        <p:txBody>
          <a:bodyPr wrap="square">
            <a:spAutoFit/>
          </a:bodyPr>
          <a:lstStyle/>
          <a:p>
            <a:pPr algn="just">
              <a:spcAft>
                <a:spcPts val="600"/>
              </a:spcAft>
            </a:pPr>
            <a:r>
              <a:rPr lang="en-US" sz="1200" b="1" dirty="0">
                <a:solidFill>
                  <a:srgbClr val="000000"/>
                </a:solidFill>
                <a:effectLst/>
                <a:ea typeface="Calibri" panose="020F0502020204030204" pitchFamily="34" charset="0"/>
              </a:rPr>
              <a:t>Background</a:t>
            </a:r>
          </a:p>
          <a:p>
            <a:pPr marL="171450" indent="-171450" algn="just">
              <a:spcAft>
                <a:spcPts val="600"/>
              </a:spcAft>
              <a:buFont typeface="Arial" panose="020B0604020202020204" pitchFamily="34" charset="0"/>
              <a:buChar char="•"/>
            </a:pPr>
            <a:r>
              <a:rPr lang="en-US" sz="1200" dirty="0">
                <a:solidFill>
                  <a:srgbClr val="000000"/>
                </a:solidFill>
                <a:effectLst/>
                <a:ea typeface="Calibri" panose="020F0502020204030204" pitchFamily="34" charset="0"/>
              </a:rPr>
              <a:t>Dakshin Haryana Bijli </a:t>
            </a:r>
            <a:r>
              <a:rPr lang="en-US" sz="1200" dirty="0" err="1">
                <a:solidFill>
                  <a:srgbClr val="000000"/>
                </a:solidFill>
                <a:effectLst/>
                <a:ea typeface="Calibri" panose="020F0502020204030204" pitchFamily="34" charset="0"/>
              </a:rPr>
              <a:t>Vitran</a:t>
            </a:r>
            <a:r>
              <a:rPr lang="en-US" sz="1200" dirty="0">
                <a:solidFill>
                  <a:srgbClr val="000000"/>
                </a:solidFill>
                <a:effectLst/>
                <a:ea typeface="Calibri" panose="020F0502020204030204" pitchFamily="34" charset="0"/>
              </a:rPr>
              <a:t> Nigam (DHBVN) invited the bids on behalf of both DISCOMs viz. Dakshin Haryana </a:t>
            </a:r>
            <a:r>
              <a:rPr lang="en-US" sz="1200" dirty="0" err="1">
                <a:solidFill>
                  <a:srgbClr val="000000"/>
                </a:solidFill>
                <a:effectLst/>
                <a:ea typeface="Calibri" panose="020F0502020204030204" pitchFamily="34" charset="0"/>
              </a:rPr>
              <a:t>BijliVitran</a:t>
            </a:r>
            <a:r>
              <a:rPr lang="en-US" sz="1200" dirty="0">
                <a:solidFill>
                  <a:srgbClr val="000000"/>
                </a:solidFill>
                <a:effectLst/>
                <a:ea typeface="Calibri" panose="020F0502020204030204" pitchFamily="34" charset="0"/>
              </a:rPr>
              <a:t> Nigam (DHBVN) and Uttar Haryana </a:t>
            </a:r>
            <a:r>
              <a:rPr lang="en-US" sz="1200" dirty="0" err="1">
                <a:solidFill>
                  <a:srgbClr val="000000"/>
                </a:solidFill>
                <a:effectLst/>
                <a:ea typeface="Calibri" panose="020F0502020204030204" pitchFamily="34" charset="0"/>
              </a:rPr>
              <a:t>BijliVitran</a:t>
            </a:r>
            <a:r>
              <a:rPr lang="en-US" sz="1200" dirty="0">
                <a:solidFill>
                  <a:srgbClr val="000000"/>
                </a:solidFill>
                <a:effectLst/>
                <a:ea typeface="Calibri" panose="020F0502020204030204" pitchFamily="34" charset="0"/>
              </a:rPr>
              <a:t> Nigam (UHBVN). </a:t>
            </a:r>
          </a:p>
          <a:p>
            <a:pPr marL="171450" indent="-171450" algn="just">
              <a:spcAft>
                <a:spcPts val="600"/>
              </a:spcAft>
              <a:buFont typeface="Arial" panose="020B0604020202020204" pitchFamily="34" charset="0"/>
              <a:buChar char="•"/>
            </a:pPr>
            <a:r>
              <a:rPr lang="en-US" sz="1200" dirty="0">
                <a:solidFill>
                  <a:srgbClr val="000000"/>
                </a:solidFill>
                <a:effectLst/>
                <a:ea typeface="Calibri" panose="020F0502020204030204" pitchFamily="34" charset="0"/>
              </a:rPr>
              <a:t>Both the Discoms of Haryana, have a common integrated IT solution in the entire state.</a:t>
            </a:r>
          </a:p>
          <a:p>
            <a:pPr marL="171450" indent="-171450" algn="just">
              <a:spcAft>
                <a:spcPts val="600"/>
              </a:spcAft>
              <a:buFont typeface="Arial" panose="020B0604020202020204" pitchFamily="34" charset="0"/>
              <a:buChar char="•"/>
            </a:pPr>
            <a:r>
              <a:rPr lang="en-US" sz="1200" dirty="0"/>
              <a:t>The selected bidder would be be responsible for detailed design and engineering of overall GIS system, subsystems, elements, system facilities, </a:t>
            </a:r>
            <a:r>
              <a:rPr lang="en-US" sz="1200" dirty="0" err="1"/>
              <a:t>equipments</a:t>
            </a:r>
            <a:r>
              <a:rPr lang="en-US" sz="1200" dirty="0"/>
              <a:t>, services, including GIS systems application software etc.</a:t>
            </a:r>
          </a:p>
        </p:txBody>
      </p:sp>
      <p:cxnSp>
        <p:nvCxnSpPr>
          <p:cNvPr id="3" name="Straight Connector 2">
            <a:extLst>
              <a:ext uri="{FF2B5EF4-FFF2-40B4-BE49-F238E27FC236}">
                <a16:creationId xmlns:a16="http://schemas.microsoft.com/office/drawing/2014/main" id="{B4B25004-12C7-3EE7-B319-70E8BA2E70C4}"/>
              </a:ext>
            </a:extLst>
          </p:cNvPr>
          <p:cNvCxnSpPr>
            <a:cxnSpLocks/>
          </p:cNvCxnSpPr>
          <p:nvPr/>
        </p:nvCxnSpPr>
        <p:spPr>
          <a:xfrm>
            <a:off x="2154007" y="2632492"/>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Box 31">
            <a:extLst>
              <a:ext uri="{FF2B5EF4-FFF2-40B4-BE49-F238E27FC236}">
                <a16:creationId xmlns:a16="http://schemas.microsoft.com/office/drawing/2014/main" id="{C57640E6-92D6-880E-3F0E-5607448367FC}"/>
              </a:ext>
            </a:extLst>
          </p:cNvPr>
          <p:cNvSpPr txBox="1">
            <a:spLocks noChangeArrowheads="1"/>
          </p:cNvSpPr>
          <p:nvPr/>
        </p:nvSpPr>
        <p:spPr bwMode="auto">
          <a:xfrm>
            <a:off x="2926081" y="2501687"/>
            <a:ext cx="2306320"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Scope of Work - Overview</a:t>
            </a:r>
            <a:endParaRPr lang="id-ID" sz="1100" b="1" i="1" dirty="0">
              <a:latin typeface="+mn-lt"/>
              <a:ea typeface="Lato Black" pitchFamily="34" charset="0"/>
              <a:cs typeface="Lato Black" pitchFamily="34" charset="0"/>
            </a:endParaRPr>
          </a:p>
        </p:txBody>
      </p:sp>
      <p:cxnSp>
        <p:nvCxnSpPr>
          <p:cNvPr id="33" name="Straight Connector 32">
            <a:extLst>
              <a:ext uri="{FF2B5EF4-FFF2-40B4-BE49-F238E27FC236}">
                <a16:creationId xmlns:a16="http://schemas.microsoft.com/office/drawing/2014/main" id="{D9A934E0-0570-397C-99D2-20862B6E7958}"/>
              </a:ext>
            </a:extLst>
          </p:cNvPr>
          <p:cNvCxnSpPr>
            <a:cxnSpLocks/>
          </p:cNvCxnSpPr>
          <p:nvPr/>
        </p:nvCxnSpPr>
        <p:spPr>
          <a:xfrm>
            <a:off x="8178800" y="2541052"/>
            <a:ext cx="35793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1">
            <a:extLst>
              <a:ext uri="{FF2B5EF4-FFF2-40B4-BE49-F238E27FC236}">
                <a16:creationId xmlns:a16="http://schemas.microsoft.com/office/drawing/2014/main" id="{5E17478B-2C4A-3062-E082-B0DAB9CF74E8}"/>
              </a:ext>
            </a:extLst>
          </p:cNvPr>
          <p:cNvSpPr txBox="1">
            <a:spLocks noChangeArrowheads="1"/>
          </p:cNvSpPr>
          <p:nvPr/>
        </p:nvSpPr>
        <p:spPr bwMode="auto">
          <a:xfrm>
            <a:off x="8879840" y="2410247"/>
            <a:ext cx="2460270"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Eligibility Criteria/ Criteria for Marks</a:t>
            </a:r>
            <a:endParaRPr lang="id-ID" sz="1100" b="1" i="1" dirty="0">
              <a:latin typeface="+mn-lt"/>
              <a:ea typeface="Lato Black" pitchFamily="34" charset="0"/>
              <a:cs typeface="Lato Black" pitchFamily="34" charset="0"/>
            </a:endParaRPr>
          </a:p>
        </p:txBody>
      </p:sp>
      <p:sp>
        <p:nvSpPr>
          <p:cNvPr id="35" name="Rectangle: Rounded Corners 34">
            <a:extLst>
              <a:ext uri="{FF2B5EF4-FFF2-40B4-BE49-F238E27FC236}">
                <a16:creationId xmlns:a16="http://schemas.microsoft.com/office/drawing/2014/main" id="{F246CA2C-688E-0F72-A5D9-812E6C6ADC4A}"/>
              </a:ext>
            </a:extLst>
          </p:cNvPr>
          <p:cNvSpPr/>
          <p:nvPr/>
        </p:nvSpPr>
        <p:spPr bwMode="gray">
          <a:xfrm>
            <a:off x="8131331" y="2830165"/>
            <a:ext cx="3579333" cy="3611415"/>
          </a:xfrm>
          <a:prstGeom prst="roundRect">
            <a:avLst/>
          </a:prstGeom>
          <a:noFill/>
          <a:ln w="19050" algn="ctr">
            <a:solidFill>
              <a:schemeClr val="tx1"/>
            </a:solidFill>
            <a:prstDash val="lgDash"/>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ü"/>
            </a:pPr>
            <a:r>
              <a:rPr lang="en-US" sz="1200" b="1" dirty="0"/>
              <a:t>The bidder should have </a:t>
            </a:r>
            <a:r>
              <a:rPr lang="en-US" sz="1200" b="1" dirty="0">
                <a:solidFill>
                  <a:srgbClr val="00A3E0"/>
                </a:solidFill>
              </a:rPr>
              <a:t>executed at least one similar project (Involving establishment of GIS based system with customization &amp; configuration of GIS application, mapping of assets and digitization services </a:t>
            </a:r>
            <a:r>
              <a:rPr lang="en-US" sz="1200" b="1" dirty="0" err="1">
                <a:solidFill>
                  <a:srgbClr val="00A3E0"/>
                </a:solidFill>
              </a:rPr>
              <a:t>etc</a:t>
            </a:r>
            <a:r>
              <a:rPr lang="en-US" sz="1200" b="1" dirty="0">
                <a:solidFill>
                  <a:srgbClr val="00A3E0"/>
                </a:solidFill>
              </a:rPr>
              <a:t>) in power utility during the last five financial years.</a:t>
            </a:r>
          </a:p>
          <a:p>
            <a:pPr marL="171450" indent="-171450" algn="just">
              <a:lnSpc>
                <a:spcPct val="106000"/>
              </a:lnSpc>
              <a:buFont typeface="Wingdings" panose="05000000000000000000" pitchFamily="2" charset="2"/>
              <a:buChar char="ü"/>
            </a:pPr>
            <a:endParaRPr lang="en-US" sz="1200" b="1" dirty="0">
              <a:solidFill>
                <a:srgbClr val="00A3E0"/>
              </a:solidFill>
            </a:endParaRPr>
          </a:p>
          <a:p>
            <a:pPr marL="171450" indent="-171450" algn="just">
              <a:lnSpc>
                <a:spcPct val="106000"/>
              </a:lnSpc>
              <a:buFont typeface="Wingdings" panose="05000000000000000000" pitchFamily="2" charset="2"/>
              <a:buChar char="ü"/>
            </a:pPr>
            <a:endParaRPr lang="en-US" sz="1200" b="1" dirty="0">
              <a:solidFill>
                <a:srgbClr val="00A3E0"/>
              </a:solidFill>
            </a:endParaRPr>
          </a:p>
          <a:p>
            <a:pPr marL="171450" indent="-171450" algn="just">
              <a:lnSpc>
                <a:spcPct val="106000"/>
              </a:lnSpc>
              <a:buFont typeface="Wingdings" panose="05000000000000000000" pitchFamily="2" charset="2"/>
              <a:buChar char="ü"/>
            </a:pPr>
            <a:r>
              <a:rPr lang="en-US" sz="1200" b="1" dirty="0"/>
              <a:t>A </a:t>
            </a:r>
            <a:r>
              <a:rPr lang="en-US" sz="1200" b="1" dirty="0">
                <a:solidFill>
                  <a:srgbClr val="00A3E0"/>
                </a:solidFill>
              </a:rPr>
              <a:t>minimum of 10 CVs having five-year experience in GIS domain</a:t>
            </a:r>
            <a:r>
              <a:rPr lang="en-US" sz="1200" b="1" dirty="0"/>
              <a:t> (GIS based system with customization &amp; configuration of GIS application, mapping of assets, data digitization)</a:t>
            </a:r>
          </a:p>
        </p:txBody>
      </p:sp>
      <p:sp>
        <p:nvSpPr>
          <p:cNvPr id="50" name="Rectangle 49">
            <a:extLst>
              <a:ext uri="{FF2B5EF4-FFF2-40B4-BE49-F238E27FC236}">
                <a16:creationId xmlns:a16="http://schemas.microsoft.com/office/drawing/2014/main" id="{E6343247-5D58-7DA1-316C-F04D01E99D9C}"/>
              </a:ext>
            </a:extLst>
          </p:cNvPr>
          <p:cNvSpPr/>
          <p:nvPr/>
        </p:nvSpPr>
        <p:spPr bwMode="gray">
          <a:xfrm>
            <a:off x="524825" y="2830166"/>
            <a:ext cx="7085016" cy="526198"/>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nSpc>
                <a:spcPct val="106000"/>
              </a:lnSpc>
            </a:pPr>
            <a:r>
              <a:rPr lang="en-US" sz="1200" dirty="0">
                <a:solidFill>
                  <a:schemeClr val="bg1"/>
                </a:solidFill>
                <a:effectLst/>
                <a:ea typeface="Calibri" panose="020F0502020204030204" pitchFamily="34" charset="0"/>
              </a:rPr>
              <a:t>To update GIS, Asset Survey in the data base of existing GIS system developed under R-APDRP Part-A (IT) project.</a:t>
            </a:r>
          </a:p>
        </p:txBody>
      </p:sp>
      <p:sp>
        <p:nvSpPr>
          <p:cNvPr id="55" name="Rectangle 54">
            <a:extLst>
              <a:ext uri="{FF2B5EF4-FFF2-40B4-BE49-F238E27FC236}">
                <a16:creationId xmlns:a16="http://schemas.microsoft.com/office/drawing/2014/main" id="{683B3C92-147B-3944-A0F1-F0495A03E5F2}"/>
              </a:ext>
            </a:extLst>
          </p:cNvPr>
          <p:cNvSpPr/>
          <p:nvPr/>
        </p:nvSpPr>
        <p:spPr bwMode="gray">
          <a:xfrm>
            <a:off x="514664" y="3465171"/>
            <a:ext cx="7085016" cy="2341407"/>
          </a:xfrm>
          <a:prstGeom prst="rect">
            <a:avLst/>
          </a:prstGeom>
          <a:solidFill>
            <a:srgbClr val="E3E48D"/>
          </a:solidFill>
          <a:ln w="19050" algn="ctr">
            <a:noFill/>
            <a:miter lim="800000"/>
            <a:headEnd/>
            <a:tailEnd/>
          </a:ln>
        </p:spPr>
        <p:txBody>
          <a:bodyPr wrap="square" lIns="88900" tIns="88900" rIns="88900" bIns="88900" rtlCol="0" anchor="ctr"/>
          <a:lstStyle/>
          <a:p>
            <a:pPr marL="171450" indent="-171450" algn="just">
              <a:spcAft>
                <a:spcPts val="600"/>
              </a:spcAft>
              <a:buFont typeface="Arial" panose="020B0604020202020204" pitchFamily="34" charset="0"/>
              <a:buChar char="•"/>
            </a:pPr>
            <a:r>
              <a:rPr lang="en-US" sz="1200" dirty="0">
                <a:effectLst/>
                <a:ea typeface="Calibri" panose="020F0502020204030204" pitchFamily="34" charset="0"/>
              </a:rPr>
              <a:t>GPS based field survey &amp; asset mapping activities for EHT/HT Electrical Network in the IPDS towns &amp; remaining Non R-APDRP areas of DHBVN &amp; UHBVN, </a:t>
            </a:r>
          </a:p>
          <a:p>
            <a:pPr marL="171450" indent="-171450" algn="just">
              <a:spcAft>
                <a:spcPts val="600"/>
              </a:spcAft>
              <a:buFont typeface="Arial" panose="020B0604020202020204" pitchFamily="34" charset="0"/>
              <a:buChar char="•"/>
            </a:pPr>
            <a:r>
              <a:rPr lang="en-US" sz="1200" dirty="0">
                <a:effectLst/>
                <a:ea typeface="Calibri" panose="020F0502020204030204" pitchFamily="34" charset="0"/>
              </a:rPr>
              <a:t>digitization of the surveyed data, </a:t>
            </a:r>
          </a:p>
          <a:p>
            <a:pPr marL="171450" indent="-171450" algn="just">
              <a:spcAft>
                <a:spcPts val="600"/>
              </a:spcAft>
              <a:buFont typeface="Arial" panose="020B0604020202020204" pitchFamily="34" charset="0"/>
              <a:buChar char="•"/>
            </a:pPr>
            <a:r>
              <a:rPr lang="en-US" sz="1200" dirty="0">
                <a:effectLst/>
                <a:ea typeface="Calibri" panose="020F0502020204030204" pitchFamily="34" charset="0"/>
              </a:rPr>
              <a:t>building up of the GIS database, publication of the EHT/HT Electrical Network details on the existing GIS platform, </a:t>
            </a:r>
          </a:p>
          <a:p>
            <a:pPr marL="171450" indent="-171450" algn="just">
              <a:spcAft>
                <a:spcPts val="600"/>
              </a:spcAft>
              <a:buFont typeface="Arial" panose="020B0604020202020204" pitchFamily="34" charset="0"/>
              <a:buChar char="•"/>
            </a:pPr>
            <a:r>
              <a:rPr lang="en-US" sz="1200" dirty="0">
                <a:effectLst/>
                <a:ea typeface="Calibri" panose="020F0502020204030204" pitchFamily="34" charset="0"/>
              </a:rPr>
              <a:t>successful rollout of the GIS application along with duly mapped assets and consumers tagged on DT/Fs</a:t>
            </a:r>
          </a:p>
          <a:p>
            <a:pPr algn="just">
              <a:spcAft>
                <a:spcPts val="600"/>
              </a:spcAft>
            </a:pPr>
            <a:r>
              <a:rPr lang="en-US" sz="1200" dirty="0">
                <a:ea typeface="Calibri" panose="020F0502020204030204" pitchFamily="34" charset="0"/>
              </a:rPr>
              <a:t>*</a:t>
            </a:r>
            <a:r>
              <a:rPr lang="en-US" sz="1200" i="1" dirty="0">
                <a:effectLst/>
                <a:ea typeface="Calibri" panose="020F0502020204030204" pitchFamily="34" charset="0"/>
              </a:rPr>
              <a:t>Consumer Indexing not in the scope of the agency. However, DT/F wise consumer info shall be provided by Utility)</a:t>
            </a:r>
          </a:p>
        </p:txBody>
      </p:sp>
      <p:sp>
        <p:nvSpPr>
          <p:cNvPr id="57" name="Rectangle 56">
            <a:extLst>
              <a:ext uri="{FF2B5EF4-FFF2-40B4-BE49-F238E27FC236}">
                <a16:creationId xmlns:a16="http://schemas.microsoft.com/office/drawing/2014/main" id="{98A0540E-432D-F093-FE65-A89430D04370}"/>
              </a:ext>
            </a:extLst>
          </p:cNvPr>
          <p:cNvSpPr/>
          <p:nvPr/>
        </p:nvSpPr>
        <p:spPr bwMode="gray">
          <a:xfrm>
            <a:off x="514663" y="5915385"/>
            <a:ext cx="7085016" cy="526198"/>
          </a:xfrm>
          <a:prstGeom prst="rect">
            <a:avLst/>
          </a:prstGeom>
          <a:solidFill>
            <a:srgbClr val="007680"/>
          </a:solidFill>
          <a:ln w="19050" algn="ctr">
            <a:noFill/>
            <a:miter lim="800000"/>
            <a:headEnd/>
            <a:tailEnd/>
          </a:ln>
        </p:spPr>
        <p:txBody>
          <a:bodyPr wrap="square" lIns="88900" tIns="88900" rIns="88900" bIns="88900" rtlCol="0" anchor="ctr"/>
          <a:lstStyle/>
          <a:p>
            <a:pPr>
              <a:lnSpc>
                <a:spcPct val="106000"/>
              </a:lnSpc>
            </a:pPr>
            <a:r>
              <a:rPr lang="en-US" sz="1200" dirty="0">
                <a:solidFill>
                  <a:schemeClr val="bg1"/>
                </a:solidFill>
                <a:effectLst/>
                <a:ea typeface="Calibri" panose="020F0502020204030204" pitchFamily="34" charset="0"/>
              </a:rPr>
              <a:t>5 years support services to DHBVN &amp; UHBVN for the back office system of GIS &amp; field manpower required for GIS Delta </a:t>
            </a:r>
            <a:r>
              <a:rPr lang="en-US" sz="1200" dirty="0" err="1">
                <a:solidFill>
                  <a:schemeClr val="bg1"/>
                </a:solidFill>
                <a:effectLst/>
                <a:ea typeface="Calibri" panose="020F0502020204030204" pitchFamily="34" charset="0"/>
              </a:rPr>
              <a:t>Updation</a:t>
            </a:r>
            <a:r>
              <a:rPr lang="en-US" sz="1200" dirty="0">
                <a:solidFill>
                  <a:schemeClr val="bg1"/>
                </a:solidFill>
                <a:effectLst/>
                <a:ea typeface="Calibri" panose="020F0502020204030204" pitchFamily="34" charset="0"/>
              </a:rPr>
              <a:t> on continuous basis</a:t>
            </a:r>
          </a:p>
        </p:txBody>
      </p:sp>
    </p:spTree>
    <p:extLst>
      <p:ext uri="{BB962C8B-B14F-4D97-AF65-F5344CB8AC3E}">
        <p14:creationId xmlns:p14="http://schemas.microsoft.com/office/powerpoint/2010/main" val="3459099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C3D91-C685-7ED9-2879-82B4F3FEE07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91CC304-459F-5A04-C676-9CF3EC3E32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F2959D08-841F-B01A-9A07-26EED5488C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178ED0BA-DAE3-56B7-76A8-EF9547C518FA}"/>
              </a:ext>
            </a:extLst>
          </p:cNvPr>
          <p:cNvSpPr txBox="1">
            <a:spLocks/>
          </p:cNvSpPr>
          <p:nvPr/>
        </p:nvSpPr>
        <p:spPr>
          <a:xfrm>
            <a:off x="514664" y="841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 tender for infrastructure sector with respect to Urban planning in </a:t>
            </a:r>
            <a:r>
              <a:rPr lang="en-US" dirty="0" err="1">
                <a:solidFill>
                  <a:schemeClr val="bg2">
                    <a:lumMod val="50000"/>
                  </a:schemeClr>
                </a:solidFill>
              </a:rPr>
              <a:t>Chhatisgarh</a:t>
            </a:r>
            <a:endParaRPr lang="en-US" dirty="0">
              <a:solidFill>
                <a:schemeClr val="bg2">
                  <a:lumMod val="50000"/>
                </a:schemeClr>
              </a:solidFill>
            </a:endParaRPr>
          </a:p>
        </p:txBody>
      </p:sp>
      <p:sp>
        <p:nvSpPr>
          <p:cNvPr id="6" name="Title 2">
            <a:extLst>
              <a:ext uri="{FF2B5EF4-FFF2-40B4-BE49-F238E27FC236}">
                <a16:creationId xmlns:a16="http://schemas.microsoft.com/office/drawing/2014/main" id="{90AFBC21-AA01-D263-CB50-51D991FAD810}"/>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Case Study – Tender for Consultancy Services for Formulation Of GIS based Master Plan For AMRUT cities in Chhattisgarh State</a:t>
            </a:r>
          </a:p>
        </p:txBody>
      </p:sp>
      <p:cxnSp>
        <p:nvCxnSpPr>
          <p:cNvPr id="92" name="Straight Connector 91">
            <a:extLst>
              <a:ext uri="{FF2B5EF4-FFF2-40B4-BE49-F238E27FC236}">
                <a16:creationId xmlns:a16="http://schemas.microsoft.com/office/drawing/2014/main" id="{F40589B7-0BBF-0EF2-B466-9D6C8ED3730F}"/>
              </a:ext>
            </a:extLst>
          </p:cNvPr>
          <p:cNvCxnSpPr>
            <a:cxnSpLocks/>
          </p:cNvCxnSpPr>
          <p:nvPr/>
        </p:nvCxnSpPr>
        <p:spPr>
          <a:xfrm flipV="1">
            <a:off x="514664" y="1124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B701342-D022-FA2F-952F-66A6876C42A5}"/>
              </a:ext>
            </a:extLst>
          </p:cNvPr>
          <p:cNvSpPr txBox="1"/>
          <p:nvPr/>
        </p:nvSpPr>
        <p:spPr>
          <a:xfrm>
            <a:off x="514665" y="1271380"/>
            <a:ext cx="11195999" cy="1769715"/>
          </a:xfrm>
          <a:prstGeom prst="rect">
            <a:avLst/>
          </a:prstGeom>
          <a:solidFill>
            <a:schemeClr val="bg1">
              <a:lumMod val="95000"/>
            </a:schemeClr>
          </a:solidFill>
        </p:spPr>
        <p:txBody>
          <a:bodyPr wrap="square">
            <a:spAutoFit/>
          </a:bodyPr>
          <a:lstStyle/>
          <a:p>
            <a:pPr algn="just">
              <a:spcAft>
                <a:spcPts val="600"/>
              </a:spcAft>
            </a:pPr>
            <a:r>
              <a:rPr lang="en-US" sz="1200" b="1" dirty="0">
                <a:solidFill>
                  <a:srgbClr val="000000"/>
                </a:solidFill>
                <a:effectLst/>
                <a:ea typeface="Calibri" panose="020F0502020204030204" pitchFamily="34" charset="0"/>
              </a:rPr>
              <a:t>Background</a:t>
            </a:r>
          </a:p>
          <a:p>
            <a:pPr marL="171450" indent="-171450" algn="just">
              <a:spcAft>
                <a:spcPts val="600"/>
              </a:spcAft>
              <a:buFont typeface="Arial" panose="020B0604020202020204" pitchFamily="34" charset="0"/>
              <a:buChar char="•"/>
            </a:pPr>
            <a:r>
              <a:rPr lang="en-US" sz="1200" dirty="0">
                <a:solidFill>
                  <a:srgbClr val="000000"/>
                </a:solidFill>
                <a:effectLst/>
                <a:ea typeface="Calibri" panose="020F0502020204030204" pitchFamily="34" charset="0"/>
              </a:rPr>
              <a:t>Government of India launched Atal Mission for Rejuvenation and Urban Transformation (AMRUT) in 2015 as Centrally Sponsored Scheme.</a:t>
            </a:r>
          </a:p>
          <a:p>
            <a:pPr marL="171450" indent="-171450" algn="just">
              <a:spcAft>
                <a:spcPts val="600"/>
              </a:spcAft>
              <a:buFont typeface="Arial" panose="020B0604020202020204" pitchFamily="34" charset="0"/>
              <a:buChar char="•"/>
            </a:pPr>
            <a:r>
              <a:rPr lang="en-US" sz="1200" b="1" dirty="0">
                <a:solidFill>
                  <a:srgbClr val="000000"/>
                </a:solidFill>
                <a:effectLst/>
                <a:ea typeface="Calibri" panose="020F0502020204030204" pitchFamily="34" charset="0"/>
              </a:rPr>
              <a:t>Formulation of GIS-based Master/Development Plans for 500 AMRUT Cities </a:t>
            </a:r>
            <a:r>
              <a:rPr lang="en-US" sz="1200" dirty="0">
                <a:solidFill>
                  <a:srgbClr val="000000"/>
                </a:solidFill>
                <a:effectLst/>
                <a:ea typeface="Calibri" panose="020F0502020204030204" pitchFamily="34" charset="0"/>
              </a:rPr>
              <a:t>was one of the important reforms under AMRUT, which had been approved as a 100% centrally funded </a:t>
            </a:r>
            <a:r>
              <a:rPr lang="en-US" sz="1200" dirty="0" err="1">
                <a:solidFill>
                  <a:srgbClr val="000000"/>
                </a:solidFill>
                <a:effectLst/>
                <a:ea typeface="Calibri" panose="020F0502020204030204" pitchFamily="34" charset="0"/>
              </a:rPr>
              <a:t>subscheme</a:t>
            </a:r>
            <a:r>
              <a:rPr lang="en-US" sz="1200" dirty="0">
                <a:solidFill>
                  <a:srgbClr val="000000"/>
                </a:solidFill>
                <a:effectLst/>
                <a:ea typeface="Calibri" panose="020F0502020204030204" pitchFamily="34" charset="0"/>
              </a:rPr>
              <a:t> with budget outlay of Rs. 515.00 crores</a:t>
            </a:r>
          </a:p>
          <a:p>
            <a:pPr marL="171450" indent="-171450" algn="just">
              <a:spcAft>
                <a:spcPts val="600"/>
              </a:spcAft>
              <a:buFont typeface="Arial" panose="020B0604020202020204" pitchFamily="34" charset="0"/>
              <a:buChar char="•"/>
            </a:pPr>
            <a:r>
              <a:rPr lang="en-US" sz="1200" dirty="0">
                <a:solidFill>
                  <a:srgbClr val="000000"/>
                </a:solidFill>
                <a:effectLst/>
                <a:ea typeface="Calibri" panose="020F0502020204030204" pitchFamily="34" charset="0"/>
              </a:rPr>
              <a:t>The major objectives of the sub-scheme are:</a:t>
            </a:r>
          </a:p>
          <a:p>
            <a:pPr marL="346075" lvl="1" indent="-171450" algn="just">
              <a:spcAft>
                <a:spcPts val="600"/>
              </a:spcAft>
              <a:buFont typeface="Wingdings" panose="05000000000000000000" pitchFamily="2" charset="2"/>
              <a:buChar char="q"/>
            </a:pPr>
            <a:r>
              <a:rPr lang="en-US" sz="1200" b="1" dirty="0">
                <a:solidFill>
                  <a:srgbClr val="000000"/>
                </a:solidFill>
                <a:effectLst/>
                <a:ea typeface="Calibri" panose="020F0502020204030204" pitchFamily="34" charset="0"/>
              </a:rPr>
              <a:t>To develop common digital geo-referenced base maps and land use maps using Geographical Information System (GIS) and</a:t>
            </a:r>
          </a:p>
          <a:p>
            <a:pPr marL="346075" lvl="1" indent="-171450" algn="just">
              <a:spcAft>
                <a:spcPts val="600"/>
              </a:spcAft>
              <a:buFont typeface="Wingdings" panose="05000000000000000000" pitchFamily="2" charset="2"/>
              <a:buChar char="q"/>
            </a:pPr>
            <a:r>
              <a:rPr lang="en-US" sz="1200" dirty="0">
                <a:solidFill>
                  <a:srgbClr val="000000"/>
                </a:solidFill>
                <a:effectLst/>
                <a:ea typeface="Calibri" panose="020F0502020204030204" pitchFamily="34" charset="0"/>
              </a:rPr>
              <a:t>Master Plan Formulation for 500 cities that are selected as AMRUT Cities.</a:t>
            </a:r>
            <a:endParaRPr lang="en-US" sz="1200" dirty="0"/>
          </a:p>
        </p:txBody>
      </p:sp>
      <p:cxnSp>
        <p:nvCxnSpPr>
          <p:cNvPr id="8" name="Straight Connector 7">
            <a:extLst>
              <a:ext uri="{FF2B5EF4-FFF2-40B4-BE49-F238E27FC236}">
                <a16:creationId xmlns:a16="http://schemas.microsoft.com/office/drawing/2014/main" id="{2CC5DF69-D191-2B5D-CA92-C82CE02D961E}"/>
              </a:ext>
            </a:extLst>
          </p:cNvPr>
          <p:cNvCxnSpPr>
            <a:cxnSpLocks/>
          </p:cNvCxnSpPr>
          <p:nvPr/>
        </p:nvCxnSpPr>
        <p:spPr>
          <a:xfrm>
            <a:off x="823047" y="3252252"/>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Box 31">
            <a:extLst>
              <a:ext uri="{FF2B5EF4-FFF2-40B4-BE49-F238E27FC236}">
                <a16:creationId xmlns:a16="http://schemas.microsoft.com/office/drawing/2014/main" id="{4D25875A-6D81-6A80-65D8-4C85BFD13AD9}"/>
              </a:ext>
            </a:extLst>
          </p:cNvPr>
          <p:cNvSpPr txBox="1">
            <a:spLocks noChangeArrowheads="1"/>
          </p:cNvSpPr>
          <p:nvPr/>
        </p:nvSpPr>
        <p:spPr bwMode="auto">
          <a:xfrm>
            <a:off x="1595121" y="3121447"/>
            <a:ext cx="2306320"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Scope of Work - Overview</a:t>
            </a:r>
            <a:endParaRPr lang="id-ID" sz="1100" b="1" i="1" dirty="0">
              <a:latin typeface="+mn-lt"/>
              <a:ea typeface="Lato Black" pitchFamily="34" charset="0"/>
              <a:cs typeface="Lato Black" pitchFamily="34" charset="0"/>
            </a:endParaRPr>
          </a:p>
        </p:txBody>
      </p:sp>
      <p:sp>
        <p:nvSpPr>
          <p:cNvPr id="11" name="Rectangle 10">
            <a:extLst>
              <a:ext uri="{FF2B5EF4-FFF2-40B4-BE49-F238E27FC236}">
                <a16:creationId xmlns:a16="http://schemas.microsoft.com/office/drawing/2014/main" id="{98EC0E9C-416D-6577-E2B9-68DEF3537EF4}"/>
              </a:ext>
            </a:extLst>
          </p:cNvPr>
          <p:cNvSpPr/>
          <p:nvPr/>
        </p:nvSpPr>
        <p:spPr bwMode="gray">
          <a:xfrm>
            <a:off x="514664" y="3500119"/>
            <a:ext cx="4829496" cy="1153877"/>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just">
              <a:spcAft>
                <a:spcPts val="600"/>
              </a:spcAft>
            </a:pPr>
            <a:r>
              <a:rPr lang="en-US" sz="1200" dirty="0">
                <a:effectLst/>
                <a:ea typeface="Calibri" panose="020F0502020204030204" pitchFamily="34" charset="0"/>
              </a:rPr>
              <a:t>Preparation of master plan including attention to aspects like Spatial growth of the town &amp; direction, incorporation of new areas, all vacant lands under government ownership (non-built), all forest lands, Places of tourist and heritage importance both natural and manmade including natural areas, fairs and festivals, etc.</a:t>
            </a:r>
          </a:p>
        </p:txBody>
      </p:sp>
      <p:sp>
        <p:nvSpPr>
          <p:cNvPr id="13" name="Rectangle 12">
            <a:extLst>
              <a:ext uri="{FF2B5EF4-FFF2-40B4-BE49-F238E27FC236}">
                <a16:creationId xmlns:a16="http://schemas.microsoft.com/office/drawing/2014/main" id="{84CEEED6-903A-C8C5-B505-2412002DD1E9}"/>
              </a:ext>
            </a:extLst>
          </p:cNvPr>
          <p:cNvSpPr/>
          <p:nvPr/>
        </p:nvSpPr>
        <p:spPr bwMode="gray">
          <a:xfrm>
            <a:off x="536733" y="4710707"/>
            <a:ext cx="4829496" cy="430253"/>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nSpc>
                <a:spcPct val="106000"/>
              </a:lnSpc>
            </a:pPr>
            <a:r>
              <a:rPr lang="en-US" sz="1200" dirty="0">
                <a:solidFill>
                  <a:schemeClr val="bg1"/>
                </a:solidFill>
                <a:effectLst/>
                <a:ea typeface="Calibri" panose="020F0502020204030204" pitchFamily="34" charset="0"/>
              </a:rPr>
              <a:t>Spatial attribute collection and vetting of Base Map</a:t>
            </a:r>
          </a:p>
        </p:txBody>
      </p:sp>
      <p:sp>
        <p:nvSpPr>
          <p:cNvPr id="14" name="Rectangle 13">
            <a:extLst>
              <a:ext uri="{FF2B5EF4-FFF2-40B4-BE49-F238E27FC236}">
                <a16:creationId xmlns:a16="http://schemas.microsoft.com/office/drawing/2014/main" id="{4902D372-B78C-289C-C727-8D2CC0850066}"/>
              </a:ext>
            </a:extLst>
          </p:cNvPr>
          <p:cNvSpPr/>
          <p:nvPr/>
        </p:nvSpPr>
        <p:spPr bwMode="gray">
          <a:xfrm>
            <a:off x="536733" y="5236427"/>
            <a:ext cx="4829496" cy="526198"/>
          </a:xfrm>
          <a:prstGeom prst="rect">
            <a:avLst/>
          </a:prstGeom>
          <a:solidFill>
            <a:srgbClr val="007680"/>
          </a:solidFill>
          <a:ln w="19050" algn="ctr">
            <a:noFill/>
            <a:miter lim="800000"/>
            <a:headEnd/>
            <a:tailEnd/>
          </a:ln>
        </p:spPr>
        <p:txBody>
          <a:bodyPr wrap="square" lIns="88900" tIns="88900" rIns="88900" bIns="88900" rtlCol="0" anchor="ctr"/>
          <a:lstStyle/>
          <a:p>
            <a:pPr>
              <a:lnSpc>
                <a:spcPct val="106000"/>
              </a:lnSpc>
            </a:pPr>
            <a:r>
              <a:rPr lang="en-US" sz="1200" dirty="0">
                <a:solidFill>
                  <a:schemeClr val="bg1"/>
                </a:solidFill>
                <a:effectLst/>
                <a:ea typeface="Calibri" panose="020F0502020204030204" pitchFamily="34" charset="0"/>
              </a:rPr>
              <a:t>Urban Database Creation</a:t>
            </a:r>
          </a:p>
        </p:txBody>
      </p:sp>
      <p:sp>
        <p:nvSpPr>
          <p:cNvPr id="15" name="Rectangle 14">
            <a:extLst>
              <a:ext uri="{FF2B5EF4-FFF2-40B4-BE49-F238E27FC236}">
                <a16:creationId xmlns:a16="http://schemas.microsoft.com/office/drawing/2014/main" id="{CD187ABE-18A2-13AE-4129-07295E573CAC}"/>
              </a:ext>
            </a:extLst>
          </p:cNvPr>
          <p:cNvSpPr/>
          <p:nvPr/>
        </p:nvSpPr>
        <p:spPr bwMode="gray">
          <a:xfrm>
            <a:off x="514664" y="5902759"/>
            <a:ext cx="4829496" cy="294841"/>
          </a:xfrm>
          <a:prstGeom prst="rect">
            <a:avLst/>
          </a:prstGeom>
          <a:solidFill>
            <a:srgbClr val="009A44"/>
          </a:solidFill>
          <a:ln w="19050" algn="ctr">
            <a:noFill/>
            <a:miter lim="800000"/>
            <a:headEnd/>
            <a:tailEnd/>
          </a:ln>
        </p:spPr>
        <p:txBody>
          <a:bodyPr wrap="square" lIns="88900" tIns="88900" rIns="88900" bIns="88900" rtlCol="0" anchor="ctr"/>
          <a:lstStyle/>
          <a:p>
            <a:pPr>
              <a:lnSpc>
                <a:spcPct val="106000"/>
              </a:lnSpc>
            </a:pPr>
            <a:r>
              <a:rPr lang="en-US" sz="1200" dirty="0">
                <a:solidFill>
                  <a:schemeClr val="bg1"/>
                </a:solidFill>
                <a:effectLst/>
                <a:ea typeface="Calibri" panose="020F0502020204030204" pitchFamily="34" charset="0"/>
              </a:rPr>
              <a:t>Support by Consultant after approval of Draft Master Plan</a:t>
            </a:r>
          </a:p>
        </p:txBody>
      </p:sp>
      <p:sp>
        <p:nvSpPr>
          <p:cNvPr id="16" name="Rectangle: Rounded Corners 15">
            <a:extLst>
              <a:ext uri="{FF2B5EF4-FFF2-40B4-BE49-F238E27FC236}">
                <a16:creationId xmlns:a16="http://schemas.microsoft.com/office/drawing/2014/main" id="{0854438B-91E4-9307-52CA-5A92F802DB9D}"/>
              </a:ext>
            </a:extLst>
          </p:cNvPr>
          <p:cNvSpPr/>
          <p:nvPr/>
        </p:nvSpPr>
        <p:spPr bwMode="gray">
          <a:xfrm>
            <a:off x="5953761" y="3605749"/>
            <a:ext cx="5756904" cy="1048248"/>
          </a:xfrm>
          <a:prstGeom prst="roundRect">
            <a:avLst/>
          </a:prstGeom>
          <a:noFill/>
          <a:ln w="19050" algn="ctr">
            <a:solidFill>
              <a:schemeClr val="tx1"/>
            </a:solidFill>
            <a:prstDash val="lgDash"/>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ü"/>
            </a:pPr>
            <a:r>
              <a:rPr lang="en-US" sz="1200" b="1" dirty="0"/>
              <a:t>Overall experience in similar assignments (5 for max marks)</a:t>
            </a:r>
          </a:p>
          <a:p>
            <a:pPr marL="171450" indent="-171450" algn="just">
              <a:lnSpc>
                <a:spcPct val="106000"/>
              </a:lnSpc>
              <a:buFont typeface="Wingdings" panose="05000000000000000000" pitchFamily="2" charset="2"/>
              <a:buChar char="ü"/>
            </a:pPr>
            <a:r>
              <a:rPr lang="en-US" sz="1200" b="1" dirty="0"/>
              <a:t>Consultancy project experience (5 for max marks)</a:t>
            </a:r>
          </a:p>
          <a:p>
            <a:pPr marL="171450" indent="-171450" algn="just">
              <a:lnSpc>
                <a:spcPct val="106000"/>
              </a:lnSpc>
              <a:buFont typeface="Wingdings" panose="05000000000000000000" pitchFamily="2" charset="2"/>
              <a:buChar char="ü"/>
            </a:pPr>
            <a:r>
              <a:rPr lang="en-US" sz="1200" b="1" dirty="0"/>
              <a:t>Experience in plan formulation using GIS database (5 for maximum marks)</a:t>
            </a:r>
          </a:p>
        </p:txBody>
      </p:sp>
      <p:cxnSp>
        <p:nvCxnSpPr>
          <p:cNvPr id="17" name="Straight Connector 16">
            <a:extLst>
              <a:ext uri="{FF2B5EF4-FFF2-40B4-BE49-F238E27FC236}">
                <a16:creationId xmlns:a16="http://schemas.microsoft.com/office/drawing/2014/main" id="{7D9E364F-94AE-6544-8EC3-73B65F78BF91}"/>
              </a:ext>
            </a:extLst>
          </p:cNvPr>
          <p:cNvCxnSpPr>
            <a:cxnSpLocks/>
          </p:cNvCxnSpPr>
          <p:nvPr/>
        </p:nvCxnSpPr>
        <p:spPr>
          <a:xfrm>
            <a:off x="6979920" y="3252252"/>
            <a:ext cx="35793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31">
            <a:extLst>
              <a:ext uri="{FF2B5EF4-FFF2-40B4-BE49-F238E27FC236}">
                <a16:creationId xmlns:a16="http://schemas.microsoft.com/office/drawing/2014/main" id="{FBE1DBC3-B651-32CD-77BE-6CBE4005F470}"/>
              </a:ext>
            </a:extLst>
          </p:cNvPr>
          <p:cNvSpPr txBox="1">
            <a:spLocks noChangeArrowheads="1"/>
          </p:cNvSpPr>
          <p:nvPr/>
        </p:nvSpPr>
        <p:spPr bwMode="auto">
          <a:xfrm>
            <a:off x="7680960" y="3121447"/>
            <a:ext cx="2460270"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Eligibility Criteria/ Criteria for Marks</a:t>
            </a:r>
            <a:endParaRPr lang="id-ID" sz="1100" b="1" i="1" dirty="0">
              <a:latin typeface="+mn-lt"/>
              <a:ea typeface="Lato Black" pitchFamily="34" charset="0"/>
              <a:cs typeface="Lato Black" pitchFamily="34" charset="0"/>
            </a:endParaRPr>
          </a:p>
        </p:txBody>
      </p:sp>
      <p:cxnSp>
        <p:nvCxnSpPr>
          <p:cNvPr id="31" name="Straight Connector 30">
            <a:extLst>
              <a:ext uri="{FF2B5EF4-FFF2-40B4-BE49-F238E27FC236}">
                <a16:creationId xmlns:a16="http://schemas.microsoft.com/office/drawing/2014/main" id="{FCC86FDD-131E-522C-4A12-4E67334D9800}"/>
              </a:ext>
            </a:extLst>
          </p:cNvPr>
          <p:cNvCxnSpPr>
            <a:cxnSpLocks/>
          </p:cNvCxnSpPr>
          <p:nvPr/>
        </p:nvCxnSpPr>
        <p:spPr>
          <a:xfrm>
            <a:off x="6624407" y="5021399"/>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1" name="TextBox 31">
            <a:extLst>
              <a:ext uri="{FF2B5EF4-FFF2-40B4-BE49-F238E27FC236}">
                <a16:creationId xmlns:a16="http://schemas.microsoft.com/office/drawing/2014/main" id="{DC7CCEC0-2F1F-1E4D-F0A4-E4F8CA46AD2E}"/>
              </a:ext>
            </a:extLst>
          </p:cNvPr>
          <p:cNvSpPr txBox="1">
            <a:spLocks noChangeArrowheads="1"/>
          </p:cNvSpPr>
          <p:nvPr/>
        </p:nvSpPr>
        <p:spPr bwMode="auto">
          <a:xfrm>
            <a:off x="7396481" y="4890594"/>
            <a:ext cx="2306320"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Required Team of Experts</a:t>
            </a:r>
            <a:endParaRPr lang="id-ID" sz="1100" b="1" i="1" dirty="0">
              <a:latin typeface="+mn-lt"/>
              <a:ea typeface="Lato Black" pitchFamily="34" charset="0"/>
              <a:cs typeface="Lato Black" pitchFamily="34" charset="0"/>
            </a:endParaRPr>
          </a:p>
        </p:txBody>
      </p:sp>
      <p:sp>
        <p:nvSpPr>
          <p:cNvPr id="50" name="Rectangle 49">
            <a:extLst>
              <a:ext uri="{FF2B5EF4-FFF2-40B4-BE49-F238E27FC236}">
                <a16:creationId xmlns:a16="http://schemas.microsoft.com/office/drawing/2014/main" id="{6FA119AF-651C-3803-AE9F-FF00A0A5327A}"/>
              </a:ext>
            </a:extLst>
          </p:cNvPr>
          <p:cNvSpPr/>
          <p:nvPr/>
        </p:nvSpPr>
        <p:spPr bwMode="gray">
          <a:xfrm>
            <a:off x="5948132" y="52044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Team Leader/ Urban Planner</a:t>
            </a:r>
          </a:p>
        </p:txBody>
      </p:sp>
      <p:sp>
        <p:nvSpPr>
          <p:cNvPr id="55" name="Rectangle 54">
            <a:extLst>
              <a:ext uri="{FF2B5EF4-FFF2-40B4-BE49-F238E27FC236}">
                <a16:creationId xmlns:a16="http://schemas.microsoft.com/office/drawing/2014/main" id="{2EF7AA5C-594B-51D5-C691-F72608F007DA}"/>
              </a:ext>
            </a:extLst>
          </p:cNvPr>
          <p:cNvSpPr/>
          <p:nvPr/>
        </p:nvSpPr>
        <p:spPr bwMode="gray">
          <a:xfrm>
            <a:off x="7897199" y="52044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GIS Expert</a:t>
            </a:r>
          </a:p>
        </p:txBody>
      </p:sp>
      <p:sp>
        <p:nvSpPr>
          <p:cNvPr id="56" name="Rectangle 55">
            <a:extLst>
              <a:ext uri="{FF2B5EF4-FFF2-40B4-BE49-F238E27FC236}">
                <a16:creationId xmlns:a16="http://schemas.microsoft.com/office/drawing/2014/main" id="{918293B1-E9A7-527B-3A97-C0BF608A954D}"/>
              </a:ext>
            </a:extLst>
          </p:cNvPr>
          <p:cNvSpPr/>
          <p:nvPr/>
        </p:nvSpPr>
        <p:spPr bwMode="gray">
          <a:xfrm>
            <a:off x="9841569" y="5204445"/>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Transport Planner</a:t>
            </a:r>
          </a:p>
        </p:txBody>
      </p:sp>
      <p:sp>
        <p:nvSpPr>
          <p:cNvPr id="57" name="Rectangle 56">
            <a:extLst>
              <a:ext uri="{FF2B5EF4-FFF2-40B4-BE49-F238E27FC236}">
                <a16:creationId xmlns:a16="http://schemas.microsoft.com/office/drawing/2014/main" id="{C6601072-D457-C878-5FE2-05A9F7847654}"/>
              </a:ext>
            </a:extLst>
          </p:cNvPr>
          <p:cNvSpPr/>
          <p:nvPr/>
        </p:nvSpPr>
        <p:spPr bwMode="gray">
          <a:xfrm>
            <a:off x="7897199" y="5902759"/>
            <a:ext cx="1808135" cy="52825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Socio-Economic Expert</a:t>
            </a:r>
          </a:p>
        </p:txBody>
      </p:sp>
    </p:spTree>
    <p:extLst>
      <p:ext uri="{BB962C8B-B14F-4D97-AF65-F5344CB8AC3E}">
        <p14:creationId xmlns:p14="http://schemas.microsoft.com/office/powerpoint/2010/main" val="22751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D1334-569A-A9BE-FC02-E80F7FEF533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B81E8E2-92A0-CBC2-31CF-8391D63C0AF1}"/>
              </a:ext>
            </a:extLst>
          </p:cNvPr>
          <p:cNvGraphicFramePr>
            <a:graphicFrameLocks noChangeAspect="1"/>
          </p:cNvGraphicFramePr>
          <p:nvPr>
            <p:custDataLst>
              <p:tags r:id="rId1"/>
            </p:custDataLst>
            <p:extLst>
              <p:ext uri="{D42A27DB-BD31-4B8C-83A1-F6EECF244321}">
                <p14:modId xmlns:p14="http://schemas.microsoft.com/office/powerpoint/2010/main" val="1888204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E54C761B-8894-D0A5-8CD3-3E4E03C609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332E6828-7750-48D3-49C3-92C26E93E4F1}"/>
              </a:ext>
            </a:extLst>
          </p:cNvPr>
          <p:cNvSpPr/>
          <p:nvPr/>
        </p:nvSpPr>
        <p:spPr bwMode="gray">
          <a:xfrm>
            <a:off x="5895242" y="1044685"/>
            <a:ext cx="5782093" cy="4255617"/>
          </a:xfrm>
          <a:prstGeom prst="rect">
            <a:avLst/>
          </a:prstGeom>
          <a:solidFill>
            <a:schemeClr val="accent1">
              <a:lumMod val="40000"/>
              <a:lumOff val="60000"/>
              <a:alpha val="30196"/>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b="1">
              <a:solidFill>
                <a:schemeClr val="bg1"/>
              </a:solidFill>
              <a:latin typeface="+mj-lt"/>
            </a:endParaRPr>
          </a:p>
        </p:txBody>
      </p:sp>
      <p:sp>
        <p:nvSpPr>
          <p:cNvPr id="23" name="Rectangle 22">
            <a:extLst>
              <a:ext uri="{FF2B5EF4-FFF2-40B4-BE49-F238E27FC236}">
                <a16:creationId xmlns:a16="http://schemas.microsoft.com/office/drawing/2014/main" id="{A2CF56FC-BD10-15CC-1B10-88D065AB1D5F}"/>
              </a:ext>
            </a:extLst>
          </p:cNvPr>
          <p:cNvSpPr/>
          <p:nvPr/>
        </p:nvSpPr>
        <p:spPr bwMode="gray">
          <a:xfrm>
            <a:off x="514662" y="4080139"/>
            <a:ext cx="5229601" cy="2531782"/>
          </a:xfrm>
          <a:prstGeom prst="rect">
            <a:avLst/>
          </a:prstGeom>
          <a:solidFill>
            <a:schemeClr val="accent6">
              <a:lumMod val="40000"/>
              <a:lumOff val="60000"/>
              <a:alpha val="30196"/>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b="1">
              <a:solidFill>
                <a:schemeClr val="bg1"/>
              </a:solidFill>
              <a:latin typeface="+mj-lt"/>
            </a:endParaRPr>
          </a:p>
        </p:txBody>
      </p:sp>
      <p:sp>
        <p:nvSpPr>
          <p:cNvPr id="22" name="Rectangle 21">
            <a:extLst>
              <a:ext uri="{FF2B5EF4-FFF2-40B4-BE49-F238E27FC236}">
                <a16:creationId xmlns:a16="http://schemas.microsoft.com/office/drawing/2014/main" id="{1993AD89-B3CA-BCF6-E42D-0B5AEB2025E9}"/>
              </a:ext>
            </a:extLst>
          </p:cNvPr>
          <p:cNvSpPr/>
          <p:nvPr/>
        </p:nvSpPr>
        <p:spPr bwMode="gray">
          <a:xfrm>
            <a:off x="514664" y="1007219"/>
            <a:ext cx="5229600" cy="3072919"/>
          </a:xfrm>
          <a:prstGeom prst="rect">
            <a:avLst/>
          </a:prstGeom>
          <a:solidFill>
            <a:srgbClr val="009A44">
              <a:alpha val="30196"/>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b="1">
              <a:solidFill>
                <a:schemeClr val="bg1"/>
              </a:solidFill>
              <a:latin typeface="+mj-lt"/>
            </a:endParaRPr>
          </a:p>
        </p:txBody>
      </p:sp>
      <p:sp>
        <p:nvSpPr>
          <p:cNvPr id="32" name="Text Placeholder 2">
            <a:extLst>
              <a:ext uri="{FF2B5EF4-FFF2-40B4-BE49-F238E27FC236}">
                <a16:creationId xmlns:a16="http://schemas.microsoft.com/office/drawing/2014/main" id="{1B3F9909-9C73-A13F-0C56-A3D0319E8D32}"/>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Market Research reports indicate significant growth of GIS market globally with countries like India and China leading the pack</a:t>
            </a:r>
          </a:p>
        </p:txBody>
      </p:sp>
      <p:sp>
        <p:nvSpPr>
          <p:cNvPr id="6" name="Title 2">
            <a:extLst>
              <a:ext uri="{FF2B5EF4-FFF2-40B4-BE49-F238E27FC236}">
                <a16:creationId xmlns:a16="http://schemas.microsoft.com/office/drawing/2014/main" id="{D0120F34-183C-362A-3424-80BF01B0DF62}"/>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Growth Outlook for GIS market</a:t>
            </a:r>
          </a:p>
        </p:txBody>
      </p:sp>
      <p:cxnSp>
        <p:nvCxnSpPr>
          <p:cNvPr id="92" name="Straight Connector 91">
            <a:extLst>
              <a:ext uri="{FF2B5EF4-FFF2-40B4-BE49-F238E27FC236}">
                <a16:creationId xmlns:a16="http://schemas.microsoft.com/office/drawing/2014/main" id="{E38AA56E-ACD4-8B51-10D1-8A25478F052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46E2B3A-0C0A-1B18-D9CE-4D2717FC7F90}"/>
              </a:ext>
            </a:extLst>
          </p:cNvPr>
          <p:cNvPicPr>
            <a:picLocks noChangeAspect="1"/>
          </p:cNvPicPr>
          <p:nvPr/>
        </p:nvPicPr>
        <p:blipFill>
          <a:blip r:embed="rId5"/>
          <a:stretch>
            <a:fillRect/>
          </a:stretch>
        </p:blipFill>
        <p:spPr>
          <a:xfrm>
            <a:off x="549103" y="1174669"/>
            <a:ext cx="5069377" cy="2608343"/>
          </a:xfrm>
          <a:prstGeom prst="rect">
            <a:avLst/>
          </a:prstGeom>
        </p:spPr>
      </p:pic>
      <p:sp>
        <p:nvSpPr>
          <p:cNvPr id="14" name="Oval 13">
            <a:extLst>
              <a:ext uri="{FF2B5EF4-FFF2-40B4-BE49-F238E27FC236}">
                <a16:creationId xmlns:a16="http://schemas.microsoft.com/office/drawing/2014/main" id="{B54A84FB-9577-1034-E8D5-37BD4E619BEC}"/>
              </a:ext>
            </a:extLst>
          </p:cNvPr>
          <p:cNvSpPr/>
          <p:nvPr/>
        </p:nvSpPr>
        <p:spPr bwMode="gray">
          <a:xfrm>
            <a:off x="348059" y="1910251"/>
            <a:ext cx="1750819" cy="2104675"/>
          </a:xfrm>
          <a:prstGeom prst="ellipse">
            <a:avLst/>
          </a:prstGeom>
          <a:noFill/>
          <a:ln w="38100" algn="ctr">
            <a:solidFill>
              <a:srgbClr val="009A44"/>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17" name="Picture 16">
            <a:extLst>
              <a:ext uri="{FF2B5EF4-FFF2-40B4-BE49-F238E27FC236}">
                <a16:creationId xmlns:a16="http://schemas.microsoft.com/office/drawing/2014/main" id="{7E40C821-8FFA-E85F-A5FE-303161FAA5F4}"/>
              </a:ext>
            </a:extLst>
          </p:cNvPr>
          <p:cNvPicPr>
            <a:picLocks noChangeAspect="1"/>
          </p:cNvPicPr>
          <p:nvPr/>
        </p:nvPicPr>
        <p:blipFill>
          <a:blip r:embed="rId6"/>
          <a:stretch>
            <a:fillRect/>
          </a:stretch>
        </p:blipFill>
        <p:spPr>
          <a:xfrm>
            <a:off x="572956" y="4167326"/>
            <a:ext cx="5089697" cy="2444594"/>
          </a:xfrm>
          <a:prstGeom prst="rect">
            <a:avLst/>
          </a:prstGeom>
        </p:spPr>
      </p:pic>
      <p:pic>
        <p:nvPicPr>
          <p:cNvPr id="21" name="Picture 20">
            <a:extLst>
              <a:ext uri="{FF2B5EF4-FFF2-40B4-BE49-F238E27FC236}">
                <a16:creationId xmlns:a16="http://schemas.microsoft.com/office/drawing/2014/main" id="{6A97D421-779B-0E1C-0B74-0FD466737385}"/>
              </a:ext>
            </a:extLst>
          </p:cNvPr>
          <p:cNvPicPr>
            <a:picLocks noChangeAspect="1"/>
          </p:cNvPicPr>
          <p:nvPr/>
        </p:nvPicPr>
        <p:blipFill>
          <a:blip r:embed="rId7"/>
          <a:stretch>
            <a:fillRect/>
          </a:stretch>
        </p:blipFill>
        <p:spPr>
          <a:xfrm>
            <a:off x="5975354" y="1174669"/>
            <a:ext cx="5517749" cy="4024298"/>
          </a:xfrm>
          <a:prstGeom prst="rect">
            <a:avLst/>
          </a:prstGeom>
        </p:spPr>
      </p:pic>
      <p:sp>
        <p:nvSpPr>
          <p:cNvPr id="25" name="Rectangle: Rounded Corners 24">
            <a:extLst>
              <a:ext uri="{FF2B5EF4-FFF2-40B4-BE49-F238E27FC236}">
                <a16:creationId xmlns:a16="http://schemas.microsoft.com/office/drawing/2014/main" id="{A203D866-536A-0791-E67C-1635050755AB}"/>
              </a:ext>
            </a:extLst>
          </p:cNvPr>
          <p:cNvSpPr/>
          <p:nvPr/>
        </p:nvSpPr>
        <p:spPr bwMode="gray">
          <a:xfrm>
            <a:off x="6387682" y="5483867"/>
            <a:ext cx="5335327" cy="1006923"/>
          </a:xfrm>
          <a:prstGeom prst="round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marL="171450" indent="-171450" algn="just">
              <a:lnSpc>
                <a:spcPct val="106000"/>
              </a:lnSpc>
              <a:spcAft>
                <a:spcPts val="400"/>
              </a:spcAft>
              <a:buFont typeface="Arial" panose="020B0604020202020204" pitchFamily="34" charset="0"/>
              <a:buChar char="•"/>
            </a:pPr>
            <a:r>
              <a:rPr lang="en-US" sz="1100" dirty="0"/>
              <a:t>Multiple Market research reports indicate that </a:t>
            </a:r>
            <a:r>
              <a:rPr lang="en-US" sz="1100" b="1" dirty="0"/>
              <a:t>global</a:t>
            </a:r>
            <a:r>
              <a:rPr lang="en-US" sz="1100" dirty="0"/>
              <a:t> </a:t>
            </a:r>
            <a:r>
              <a:rPr lang="en-US" sz="1100" b="1" dirty="0"/>
              <a:t>GIS market is set to increase at an impressive CAGR of ~12-16%</a:t>
            </a:r>
          </a:p>
          <a:p>
            <a:pPr marL="171450" indent="-171450" algn="just">
              <a:lnSpc>
                <a:spcPct val="106000"/>
              </a:lnSpc>
              <a:spcAft>
                <a:spcPts val="400"/>
              </a:spcAft>
              <a:buFont typeface="Arial" panose="020B0604020202020204" pitchFamily="34" charset="0"/>
              <a:buChar char="•"/>
            </a:pPr>
            <a:r>
              <a:rPr lang="en-US" sz="1100" b="1" dirty="0"/>
              <a:t>With increase in power utilities adopting GIS as well, indicative growth may be expected in Indian power sector as well</a:t>
            </a:r>
          </a:p>
        </p:txBody>
      </p:sp>
      <p:pic>
        <p:nvPicPr>
          <p:cNvPr id="26" name="Graphic 25" descr="Right pointing backhand index with solid fill">
            <a:extLst>
              <a:ext uri="{FF2B5EF4-FFF2-40B4-BE49-F238E27FC236}">
                <a16:creationId xmlns:a16="http://schemas.microsoft.com/office/drawing/2014/main" id="{9ACE8481-2A5E-44D1-652E-B2D3827CE9A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04319" y="5483867"/>
            <a:ext cx="461050" cy="461050"/>
          </a:xfrm>
          <a:prstGeom prst="rect">
            <a:avLst/>
          </a:prstGeom>
        </p:spPr>
      </p:pic>
    </p:spTree>
    <p:extLst>
      <p:ext uri="{BB962C8B-B14F-4D97-AF65-F5344CB8AC3E}">
        <p14:creationId xmlns:p14="http://schemas.microsoft.com/office/powerpoint/2010/main" val="2255470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5FD4D-A7F7-9A16-CA66-6A65129773B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CAF71A8-F771-35B7-0EBD-19F633CBA6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2B81E8E2-92A0-CBC2-31CF-8391D63C0A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406AAD88-723A-5ABA-7FF4-DD2E4BC683C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Deloitte’s current capabilities in Power Sector Consultancy and opportunity to tap into GIS consultancy market</a:t>
            </a:r>
          </a:p>
        </p:txBody>
      </p:sp>
      <p:cxnSp>
        <p:nvCxnSpPr>
          <p:cNvPr id="92" name="Straight Connector 91">
            <a:extLst>
              <a:ext uri="{FF2B5EF4-FFF2-40B4-BE49-F238E27FC236}">
                <a16:creationId xmlns:a16="http://schemas.microsoft.com/office/drawing/2014/main" id="{37608FB5-2E94-6325-31D9-3FDD9432E4AC}"/>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2609F33-561C-0864-0589-E0D6B2DAE376}"/>
              </a:ext>
            </a:extLst>
          </p:cNvPr>
          <p:cNvSpPr/>
          <p:nvPr/>
        </p:nvSpPr>
        <p:spPr bwMode="gray">
          <a:xfrm rot="20848486">
            <a:off x="864704" y="3428999"/>
            <a:ext cx="10396331" cy="517531"/>
          </a:xfrm>
          <a:prstGeom prst="rect">
            <a:avLst/>
          </a:prstGeom>
          <a:noFill/>
          <a:ln w="19050"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rgbClr val="FF0000"/>
                </a:solidFill>
              </a:rPr>
              <a:t>INPUTS REQUIRED</a:t>
            </a:r>
          </a:p>
        </p:txBody>
      </p:sp>
    </p:spTree>
    <p:extLst>
      <p:ext uri="{BB962C8B-B14F-4D97-AF65-F5344CB8AC3E}">
        <p14:creationId xmlns:p14="http://schemas.microsoft.com/office/powerpoint/2010/main" val="516962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70A6-24F0-0D9B-94ED-154C379CE5C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8F8E9B-50B6-63B4-96C8-B59BCC2270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B007DB3-59F7-804D-BE95-3375327790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F065A36E-B8C2-D6D2-361B-29513950E348}"/>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 implementation typically is laced with some challenges as outlined below</a:t>
            </a:r>
          </a:p>
        </p:txBody>
      </p:sp>
      <p:sp>
        <p:nvSpPr>
          <p:cNvPr id="6" name="Title 2">
            <a:extLst>
              <a:ext uri="{FF2B5EF4-FFF2-40B4-BE49-F238E27FC236}">
                <a16:creationId xmlns:a16="http://schemas.microsoft.com/office/drawing/2014/main" id="{8F5F1223-75AF-9BA2-0F41-19B38F4487EC}"/>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Major Barriers to GIS implementation</a:t>
            </a:r>
          </a:p>
        </p:txBody>
      </p:sp>
      <p:cxnSp>
        <p:nvCxnSpPr>
          <p:cNvPr id="92" name="Straight Connector 91">
            <a:extLst>
              <a:ext uri="{FF2B5EF4-FFF2-40B4-BE49-F238E27FC236}">
                <a16:creationId xmlns:a16="http://schemas.microsoft.com/office/drawing/2014/main" id="{88379B43-BFC0-D8BA-FE26-C3C085694721}"/>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BF95515B-6C82-4B3A-4E86-17E9ADFBF068}"/>
              </a:ext>
            </a:extLst>
          </p:cNvPr>
          <p:cNvGrpSpPr/>
          <p:nvPr/>
        </p:nvGrpSpPr>
        <p:grpSpPr>
          <a:xfrm>
            <a:off x="1446995" y="998632"/>
            <a:ext cx="9144000" cy="4805258"/>
            <a:chOff x="0" y="1287390"/>
            <a:chExt cx="9144000" cy="4805258"/>
          </a:xfrm>
        </p:grpSpPr>
        <p:sp>
          <p:nvSpPr>
            <p:cNvPr id="3" name="Block Arc 2">
              <a:extLst>
                <a:ext uri="{FF2B5EF4-FFF2-40B4-BE49-F238E27FC236}">
                  <a16:creationId xmlns:a16="http://schemas.microsoft.com/office/drawing/2014/main" id="{B9204BA8-A2A7-E82D-C5AC-7936AEE2B21F}"/>
                </a:ext>
              </a:extLst>
            </p:cNvPr>
            <p:cNvSpPr/>
            <p:nvPr/>
          </p:nvSpPr>
          <p:spPr bwMode="gray">
            <a:xfrm>
              <a:off x="2490710" y="1371211"/>
              <a:ext cx="1558678" cy="1558679"/>
            </a:xfrm>
            <a:prstGeom prst="blockArc">
              <a:avLst>
                <a:gd name="adj1" fmla="val 10823994"/>
                <a:gd name="adj2" fmla="val 5529932"/>
                <a:gd name="adj3" fmla="val 14080"/>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4" name="Rounded Rectangle 5">
              <a:extLst>
                <a:ext uri="{FF2B5EF4-FFF2-40B4-BE49-F238E27FC236}">
                  <a16:creationId xmlns:a16="http://schemas.microsoft.com/office/drawing/2014/main" id="{C4FEA939-8678-BC53-92E8-6FCD35DB167F}"/>
                </a:ext>
              </a:extLst>
            </p:cNvPr>
            <p:cNvSpPr/>
            <p:nvPr/>
          </p:nvSpPr>
          <p:spPr bwMode="gray">
            <a:xfrm>
              <a:off x="3303118" y="1764027"/>
              <a:ext cx="2784482" cy="773047"/>
            </a:xfrm>
            <a:prstGeom prst="roundRect">
              <a:avLst>
                <a:gd name="adj" fmla="val 50000"/>
              </a:avLst>
            </a:prstGeom>
            <a:solidFill>
              <a:schemeClr val="bg1">
                <a:lumMod val="95000"/>
              </a:schemeClr>
            </a:solidFill>
            <a:ln w="9525" algn="ctr">
              <a:solidFill>
                <a:schemeClr val="accent1"/>
              </a:solidFill>
              <a:miter lim="800000"/>
              <a:headEnd/>
              <a:tailEnd/>
            </a:ln>
          </p:spPr>
          <p:txBody>
            <a:bodyPr wrap="square" lIns="457200" tIns="88900" rIns="88900" bIns="88900" rtlCol="0" anchor="ctr"/>
            <a:lstStyle/>
            <a:p>
              <a:r>
                <a:rPr lang="en-US" sz="1200" b="1" dirty="0">
                  <a:cs typeface="Times New Roman" pitchFamily="18" charset="0"/>
                </a:rPr>
                <a:t>Data Standardization and Acquisition Challenges</a:t>
              </a:r>
            </a:p>
          </p:txBody>
        </p:sp>
        <p:sp>
          <p:nvSpPr>
            <p:cNvPr id="7" name="Oval 6">
              <a:extLst>
                <a:ext uri="{FF2B5EF4-FFF2-40B4-BE49-F238E27FC236}">
                  <a16:creationId xmlns:a16="http://schemas.microsoft.com/office/drawing/2014/main" id="{BC7364FE-2CA9-63A9-F80C-7FF1D25D10F0}"/>
                </a:ext>
              </a:extLst>
            </p:cNvPr>
            <p:cNvSpPr/>
            <p:nvPr/>
          </p:nvSpPr>
          <p:spPr bwMode="gray">
            <a:xfrm>
              <a:off x="2708208" y="1588710"/>
              <a:ext cx="1123683" cy="1123681"/>
            </a:xfrm>
            <a:prstGeom prst="ellipse">
              <a:avLst/>
            </a:prstGeom>
            <a:solidFill>
              <a:schemeClr val="bg1"/>
            </a:solidFill>
            <a:ln w="9525" algn="ctr">
              <a:no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200" b="0" i="0" u="none" strike="noStrike" kern="1200" cap="none" spc="0" normalizeH="0" baseline="0" noProof="0">
                <a:ln>
                  <a:noFill/>
                </a:ln>
                <a:solidFill>
                  <a:prstClr val="black"/>
                </a:solidFill>
                <a:effectLst/>
                <a:uLnTx/>
                <a:uFillTx/>
                <a:latin typeface="Calibri Light"/>
                <a:ea typeface="+mn-ea"/>
                <a:cs typeface="+mn-cs"/>
              </a:endParaRPr>
            </a:p>
          </p:txBody>
        </p:sp>
        <p:sp>
          <p:nvSpPr>
            <p:cNvPr id="8" name="Oval 7">
              <a:extLst>
                <a:ext uri="{FF2B5EF4-FFF2-40B4-BE49-F238E27FC236}">
                  <a16:creationId xmlns:a16="http://schemas.microsoft.com/office/drawing/2014/main" id="{BFBAE95C-1AFB-7074-B5EE-DAD213BC334B}"/>
                </a:ext>
              </a:extLst>
            </p:cNvPr>
            <p:cNvSpPr/>
            <p:nvPr/>
          </p:nvSpPr>
          <p:spPr bwMode="gray">
            <a:xfrm>
              <a:off x="2870125" y="1750626"/>
              <a:ext cx="799848" cy="799848"/>
            </a:xfrm>
            <a:prstGeom prst="ellipse">
              <a:avLst/>
            </a:prstGeom>
            <a:solidFill>
              <a:schemeClr val="accent1">
                <a:lumMod val="20000"/>
                <a:lumOff val="80000"/>
              </a:schemeClr>
            </a:solidFill>
            <a:ln w="9525" algn="ctr">
              <a:solidFill>
                <a:schemeClr val="accent1"/>
              </a:solid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2000" b="1" i="0" u="none" strike="noStrike" kern="1200" cap="none" spc="0" normalizeH="0" baseline="0" noProof="0" dirty="0">
                  <a:ln>
                    <a:noFill/>
                  </a:ln>
                  <a:solidFill>
                    <a:prstClr val="black"/>
                  </a:solidFill>
                  <a:effectLst/>
                  <a:uLnTx/>
                  <a:uFillTx/>
                  <a:latin typeface="Calibri Light"/>
                  <a:ea typeface="+mn-ea"/>
                  <a:cs typeface="+mn-cs"/>
                </a:rPr>
                <a:t>01</a:t>
              </a:r>
            </a:p>
          </p:txBody>
        </p:sp>
        <p:sp>
          <p:nvSpPr>
            <p:cNvPr id="9" name="Block Arc 8">
              <a:extLst>
                <a:ext uri="{FF2B5EF4-FFF2-40B4-BE49-F238E27FC236}">
                  <a16:creationId xmlns:a16="http://schemas.microsoft.com/office/drawing/2014/main" id="{3D4F7B6B-C75A-0CCB-F12E-06752AF14127}"/>
                </a:ext>
              </a:extLst>
            </p:cNvPr>
            <p:cNvSpPr/>
            <p:nvPr/>
          </p:nvSpPr>
          <p:spPr bwMode="gray">
            <a:xfrm>
              <a:off x="2490710" y="2715184"/>
              <a:ext cx="1558679" cy="1558679"/>
            </a:xfrm>
            <a:prstGeom prst="blockArc">
              <a:avLst>
                <a:gd name="adj1" fmla="val 10296"/>
                <a:gd name="adj2" fmla="val 16171692"/>
                <a:gd name="adj3" fmla="val 13840"/>
              </a:avLst>
            </a:prstGeom>
            <a:solidFill>
              <a:srgbClr val="00A3E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10" name="Rounded Rectangle 9">
              <a:extLst>
                <a:ext uri="{FF2B5EF4-FFF2-40B4-BE49-F238E27FC236}">
                  <a16:creationId xmlns:a16="http://schemas.microsoft.com/office/drawing/2014/main" id="{B8A292B5-4BD6-5760-7894-B6CB917264F0}"/>
                </a:ext>
              </a:extLst>
            </p:cNvPr>
            <p:cNvSpPr/>
            <p:nvPr/>
          </p:nvSpPr>
          <p:spPr bwMode="gray">
            <a:xfrm>
              <a:off x="392724" y="3108000"/>
              <a:ext cx="2784482" cy="773047"/>
            </a:xfrm>
            <a:prstGeom prst="roundRect">
              <a:avLst>
                <a:gd name="adj" fmla="val 50000"/>
              </a:avLst>
            </a:prstGeom>
            <a:solidFill>
              <a:schemeClr val="bg1">
                <a:lumMod val="95000"/>
              </a:schemeClr>
            </a:solidFill>
            <a:ln w="9525" algn="ctr">
              <a:solidFill>
                <a:srgbClr val="00A3E0"/>
              </a:solidFill>
              <a:miter lim="800000"/>
              <a:headEnd/>
              <a:tailEnd/>
            </a:ln>
          </p:spPr>
          <p:txBody>
            <a:bodyPr wrap="square" lIns="91440" tIns="88900" rIns="274320" bIns="88900" rtlCol="0" anchor="ctr"/>
            <a:lstStyle/>
            <a:p>
              <a:r>
                <a:rPr lang="en-US" sz="1200" b="1" dirty="0">
                  <a:cs typeface="Times New Roman" pitchFamily="18" charset="0"/>
                </a:rPr>
                <a:t>Complexity of Enterprise GIS Technologies</a:t>
              </a:r>
              <a:endParaRPr lang="en-US" sz="1200" dirty="0"/>
            </a:p>
          </p:txBody>
        </p:sp>
        <p:sp>
          <p:nvSpPr>
            <p:cNvPr id="11" name="Oval 10">
              <a:extLst>
                <a:ext uri="{FF2B5EF4-FFF2-40B4-BE49-F238E27FC236}">
                  <a16:creationId xmlns:a16="http://schemas.microsoft.com/office/drawing/2014/main" id="{10C7DDCA-DE23-2831-2675-C9A3B72E7F67}"/>
                </a:ext>
              </a:extLst>
            </p:cNvPr>
            <p:cNvSpPr/>
            <p:nvPr/>
          </p:nvSpPr>
          <p:spPr bwMode="gray">
            <a:xfrm>
              <a:off x="2708209" y="2932683"/>
              <a:ext cx="1123683" cy="1123681"/>
            </a:xfrm>
            <a:prstGeom prst="ellipse">
              <a:avLst/>
            </a:prstGeom>
            <a:solidFill>
              <a:schemeClr val="bg1"/>
            </a:solidFill>
            <a:ln w="9525" algn="ctr">
              <a:no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200" b="0" i="0" u="none" strike="noStrike" kern="1200" cap="none" spc="0" normalizeH="0" baseline="0" noProof="0">
                <a:ln>
                  <a:noFill/>
                </a:ln>
                <a:solidFill>
                  <a:prstClr val="black"/>
                </a:solidFill>
                <a:effectLst/>
                <a:uLnTx/>
                <a:uFillTx/>
                <a:latin typeface="Calibri Light"/>
                <a:ea typeface="+mn-ea"/>
                <a:cs typeface="+mn-cs"/>
              </a:endParaRPr>
            </a:p>
          </p:txBody>
        </p:sp>
        <p:sp>
          <p:nvSpPr>
            <p:cNvPr id="12" name="Oval 11">
              <a:extLst>
                <a:ext uri="{FF2B5EF4-FFF2-40B4-BE49-F238E27FC236}">
                  <a16:creationId xmlns:a16="http://schemas.microsoft.com/office/drawing/2014/main" id="{B4CC4E8F-8C72-9F2E-BB40-090F778B7B74}"/>
                </a:ext>
              </a:extLst>
            </p:cNvPr>
            <p:cNvSpPr/>
            <p:nvPr/>
          </p:nvSpPr>
          <p:spPr bwMode="gray">
            <a:xfrm>
              <a:off x="2870125" y="3094599"/>
              <a:ext cx="799848" cy="799848"/>
            </a:xfrm>
            <a:prstGeom prst="ellipse">
              <a:avLst/>
            </a:prstGeom>
            <a:solidFill>
              <a:schemeClr val="accent6">
                <a:lumMod val="20000"/>
                <a:lumOff val="80000"/>
              </a:schemeClr>
            </a:solidFill>
            <a:ln w="9525" algn="ctr">
              <a:solidFill>
                <a:srgbClr val="00A3E0"/>
              </a:solid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2000" b="1" i="0" u="none" strike="noStrike" kern="1200" cap="none" spc="0" normalizeH="0" baseline="0" noProof="0" dirty="0">
                  <a:ln>
                    <a:noFill/>
                  </a:ln>
                  <a:solidFill>
                    <a:prstClr val="black"/>
                  </a:solidFill>
                  <a:effectLst/>
                  <a:uLnTx/>
                  <a:uFillTx/>
                  <a:latin typeface="Calibri Light"/>
                  <a:ea typeface="+mn-ea"/>
                  <a:cs typeface="+mn-cs"/>
                </a:rPr>
                <a:t>02</a:t>
              </a:r>
            </a:p>
          </p:txBody>
        </p:sp>
        <p:sp>
          <p:nvSpPr>
            <p:cNvPr id="13" name="Block Arc 12">
              <a:extLst>
                <a:ext uri="{FF2B5EF4-FFF2-40B4-BE49-F238E27FC236}">
                  <a16:creationId xmlns:a16="http://schemas.microsoft.com/office/drawing/2014/main" id="{024EA869-01A7-594F-F6BD-FE0A80DDA12D}"/>
                </a:ext>
              </a:extLst>
            </p:cNvPr>
            <p:cNvSpPr/>
            <p:nvPr/>
          </p:nvSpPr>
          <p:spPr bwMode="gray">
            <a:xfrm>
              <a:off x="3831456" y="2723442"/>
              <a:ext cx="1558678" cy="1558679"/>
            </a:xfrm>
            <a:prstGeom prst="blockArc">
              <a:avLst>
                <a:gd name="adj1" fmla="val 10823994"/>
                <a:gd name="adj2" fmla="val 5529932"/>
                <a:gd name="adj3" fmla="val 14080"/>
              </a:avLst>
            </a:prstGeom>
            <a:solidFill>
              <a:srgbClr val="009A4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14" name="Rounded Rectangle 13">
              <a:extLst>
                <a:ext uri="{FF2B5EF4-FFF2-40B4-BE49-F238E27FC236}">
                  <a16:creationId xmlns:a16="http://schemas.microsoft.com/office/drawing/2014/main" id="{9E751EAF-03C3-74F7-AC28-62A68BBC5454}"/>
                </a:ext>
              </a:extLst>
            </p:cNvPr>
            <p:cNvSpPr/>
            <p:nvPr/>
          </p:nvSpPr>
          <p:spPr bwMode="gray">
            <a:xfrm>
              <a:off x="4643863" y="3116258"/>
              <a:ext cx="2784482" cy="773047"/>
            </a:xfrm>
            <a:prstGeom prst="roundRect">
              <a:avLst>
                <a:gd name="adj" fmla="val 50000"/>
              </a:avLst>
            </a:prstGeom>
            <a:solidFill>
              <a:schemeClr val="bg1">
                <a:lumMod val="95000"/>
              </a:schemeClr>
            </a:solidFill>
            <a:ln w="9525" algn="ctr">
              <a:solidFill>
                <a:srgbClr val="009A44"/>
              </a:solidFill>
              <a:miter lim="800000"/>
              <a:headEnd/>
              <a:tailEnd/>
            </a:ln>
          </p:spPr>
          <p:txBody>
            <a:bodyPr wrap="square" lIns="457200" tIns="88900" rIns="88900" bIns="88900" rtlCol="0" anchor="ctr"/>
            <a:lstStyle/>
            <a:p>
              <a:r>
                <a:rPr lang="en-US" sz="1200" b="1" dirty="0">
                  <a:cs typeface="Times New Roman" pitchFamily="18" charset="0"/>
                </a:rPr>
                <a:t>Skill Gap in GIS Expertise</a:t>
              </a:r>
              <a:endParaRPr lang="en-US" sz="1200" dirty="0"/>
            </a:p>
          </p:txBody>
        </p:sp>
        <p:sp>
          <p:nvSpPr>
            <p:cNvPr id="15" name="Oval 14">
              <a:extLst>
                <a:ext uri="{FF2B5EF4-FFF2-40B4-BE49-F238E27FC236}">
                  <a16:creationId xmlns:a16="http://schemas.microsoft.com/office/drawing/2014/main" id="{C6A70D63-B659-D6F9-5C89-A00E1E814D1F}"/>
                </a:ext>
              </a:extLst>
            </p:cNvPr>
            <p:cNvSpPr/>
            <p:nvPr/>
          </p:nvSpPr>
          <p:spPr bwMode="gray">
            <a:xfrm>
              <a:off x="4048954" y="2940941"/>
              <a:ext cx="1123683" cy="1123681"/>
            </a:xfrm>
            <a:prstGeom prst="ellipse">
              <a:avLst/>
            </a:prstGeom>
            <a:solidFill>
              <a:schemeClr val="bg1"/>
            </a:solidFill>
            <a:ln w="9525" algn="ctr">
              <a:no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200" b="0" i="0" u="none" strike="noStrike" kern="1200" cap="none" spc="0" normalizeH="0" baseline="0" noProof="0">
                <a:ln>
                  <a:noFill/>
                </a:ln>
                <a:solidFill>
                  <a:prstClr val="black"/>
                </a:solidFill>
                <a:effectLst/>
                <a:uLnTx/>
                <a:uFillTx/>
                <a:latin typeface="Calibri Light"/>
                <a:ea typeface="+mn-ea"/>
                <a:cs typeface="+mn-cs"/>
              </a:endParaRPr>
            </a:p>
          </p:txBody>
        </p:sp>
        <p:sp>
          <p:nvSpPr>
            <p:cNvPr id="16" name="Oval 15">
              <a:extLst>
                <a:ext uri="{FF2B5EF4-FFF2-40B4-BE49-F238E27FC236}">
                  <a16:creationId xmlns:a16="http://schemas.microsoft.com/office/drawing/2014/main" id="{D3A6A4C2-1DEE-1991-41C9-F600B085255C}"/>
                </a:ext>
              </a:extLst>
            </p:cNvPr>
            <p:cNvSpPr/>
            <p:nvPr/>
          </p:nvSpPr>
          <p:spPr bwMode="gray">
            <a:xfrm>
              <a:off x="4210871" y="3102857"/>
              <a:ext cx="799848" cy="799848"/>
            </a:xfrm>
            <a:prstGeom prst="ellipse">
              <a:avLst/>
            </a:prstGeom>
            <a:solidFill>
              <a:srgbClr val="DDEFE8"/>
            </a:solidFill>
            <a:ln w="9525" algn="ctr">
              <a:solidFill>
                <a:srgbClr val="009A44"/>
              </a:solid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2000" b="1" i="0" u="none" strike="noStrike" kern="1200" cap="none" spc="0" normalizeH="0" baseline="0" noProof="0" dirty="0">
                  <a:ln>
                    <a:noFill/>
                  </a:ln>
                  <a:solidFill>
                    <a:prstClr val="black"/>
                  </a:solidFill>
                  <a:effectLst/>
                  <a:uLnTx/>
                  <a:uFillTx/>
                  <a:latin typeface="Calibri Light"/>
                  <a:ea typeface="+mn-ea"/>
                  <a:cs typeface="+mn-cs"/>
                </a:rPr>
                <a:t>03</a:t>
              </a:r>
            </a:p>
          </p:txBody>
        </p:sp>
        <p:sp>
          <p:nvSpPr>
            <p:cNvPr id="17" name="Block Arc 16">
              <a:extLst>
                <a:ext uri="{FF2B5EF4-FFF2-40B4-BE49-F238E27FC236}">
                  <a16:creationId xmlns:a16="http://schemas.microsoft.com/office/drawing/2014/main" id="{19F94757-999A-5DBB-C435-3238978BAAE0}"/>
                </a:ext>
              </a:extLst>
            </p:cNvPr>
            <p:cNvSpPr/>
            <p:nvPr/>
          </p:nvSpPr>
          <p:spPr bwMode="gray">
            <a:xfrm>
              <a:off x="3830898" y="4064619"/>
              <a:ext cx="1558679" cy="1558679"/>
            </a:xfrm>
            <a:prstGeom prst="blockArc">
              <a:avLst>
                <a:gd name="adj1" fmla="val 10296"/>
                <a:gd name="adj2" fmla="val 16171692"/>
                <a:gd name="adj3" fmla="val 13840"/>
              </a:avLst>
            </a:prstGeom>
            <a:solidFill>
              <a:srgbClr val="01216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18" name="Rounded Rectangle 17">
              <a:extLst>
                <a:ext uri="{FF2B5EF4-FFF2-40B4-BE49-F238E27FC236}">
                  <a16:creationId xmlns:a16="http://schemas.microsoft.com/office/drawing/2014/main" id="{A3AB3F9F-D1F0-807C-AA1E-7BDB7E4B8A0F}"/>
                </a:ext>
              </a:extLst>
            </p:cNvPr>
            <p:cNvSpPr/>
            <p:nvPr/>
          </p:nvSpPr>
          <p:spPr bwMode="gray">
            <a:xfrm>
              <a:off x="1732912" y="4457435"/>
              <a:ext cx="2784482" cy="773047"/>
            </a:xfrm>
            <a:prstGeom prst="roundRect">
              <a:avLst>
                <a:gd name="adj" fmla="val 50000"/>
              </a:avLst>
            </a:prstGeom>
            <a:solidFill>
              <a:schemeClr val="bg1">
                <a:lumMod val="95000"/>
              </a:schemeClr>
            </a:solidFill>
            <a:ln w="9525" algn="ctr">
              <a:solidFill>
                <a:srgbClr val="012169"/>
              </a:solidFill>
              <a:miter lim="800000"/>
              <a:headEnd/>
              <a:tailEnd/>
            </a:ln>
          </p:spPr>
          <p:txBody>
            <a:bodyPr wrap="square" lIns="91440" tIns="88900" rIns="365760" bIns="88900" rtlCol="0" anchor="ctr"/>
            <a:lstStyle/>
            <a:p>
              <a:pPr lvl="0">
                <a:lnSpc>
                  <a:spcPct val="106000"/>
                </a:lnSpc>
              </a:pPr>
              <a:r>
                <a:rPr lang="en-US" sz="1200" b="1" dirty="0">
                  <a:cs typeface="Times New Roman" pitchFamily="18" charset="0"/>
                </a:rPr>
                <a:t>Comprehensive System Design Challenges</a:t>
              </a:r>
            </a:p>
          </p:txBody>
        </p:sp>
        <p:sp>
          <p:nvSpPr>
            <p:cNvPr id="19" name="Oval 18">
              <a:extLst>
                <a:ext uri="{FF2B5EF4-FFF2-40B4-BE49-F238E27FC236}">
                  <a16:creationId xmlns:a16="http://schemas.microsoft.com/office/drawing/2014/main" id="{E5C78D02-99D7-0E6D-C8F0-9A7181035721}"/>
                </a:ext>
              </a:extLst>
            </p:cNvPr>
            <p:cNvSpPr/>
            <p:nvPr/>
          </p:nvSpPr>
          <p:spPr bwMode="gray">
            <a:xfrm>
              <a:off x="4048397" y="4282118"/>
              <a:ext cx="1123683" cy="1123681"/>
            </a:xfrm>
            <a:prstGeom prst="ellipse">
              <a:avLst/>
            </a:prstGeom>
            <a:solidFill>
              <a:schemeClr val="bg1"/>
            </a:solidFill>
            <a:ln w="9525" algn="ctr">
              <a:no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200" b="0" i="0" u="none" strike="noStrike" kern="1200" cap="none" spc="0" normalizeH="0" baseline="0" noProof="0">
                <a:ln>
                  <a:noFill/>
                </a:ln>
                <a:solidFill>
                  <a:prstClr val="black"/>
                </a:solidFill>
                <a:effectLst/>
                <a:uLnTx/>
                <a:uFillTx/>
                <a:latin typeface="Calibri Light"/>
                <a:ea typeface="+mn-ea"/>
                <a:cs typeface="+mn-cs"/>
              </a:endParaRPr>
            </a:p>
          </p:txBody>
        </p:sp>
        <p:sp>
          <p:nvSpPr>
            <p:cNvPr id="20" name="Oval 19">
              <a:extLst>
                <a:ext uri="{FF2B5EF4-FFF2-40B4-BE49-F238E27FC236}">
                  <a16:creationId xmlns:a16="http://schemas.microsoft.com/office/drawing/2014/main" id="{4055623E-7EBD-3248-4DA6-F1A272D78891}"/>
                </a:ext>
              </a:extLst>
            </p:cNvPr>
            <p:cNvSpPr/>
            <p:nvPr/>
          </p:nvSpPr>
          <p:spPr bwMode="gray">
            <a:xfrm>
              <a:off x="4210313" y="4444034"/>
              <a:ext cx="799848" cy="799848"/>
            </a:xfrm>
            <a:prstGeom prst="ellipse">
              <a:avLst/>
            </a:prstGeom>
            <a:solidFill>
              <a:srgbClr val="A0DCFF"/>
            </a:solidFill>
            <a:ln w="9525" algn="ctr">
              <a:solidFill>
                <a:srgbClr val="012169"/>
              </a:solid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2000" b="1" i="0" u="none" strike="noStrike" kern="1200" cap="none" spc="0" normalizeH="0" baseline="0" noProof="0" dirty="0">
                  <a:ln>
                    <a:noFill/>
                  </a:ln>
                  <a:solidFill>
                    <a:prstClr val="black"/>
                  </a:solidFill>
                  <a:effectLst/>
                  <a:uLnTx/>
                  <a:uFillTx/>
                  <a:latin typeface="Calibri Light"/>
                  <a:ea typeface="+mn-ea"/>
                  <a:cs typeface="+mn-cs"/>
                </a:rPr>
                <a:t>04</a:t>
              </a:r>
            </a:p>
          </p:txBody>
        </p:sp>
        <p:sp>
          <p:nvSpPr>
            <p:cNvPr id="21" name="Block Arc 20">
              <a:extLst>
                <a:ext uri="{FF2B5EF4-FFF2-40B4-BE49-F238E27FC236}">
                  <a16:creationId xmlns:a16="http://schemas.microsoft.com/office/drawing/2014/main" id="{04CABA0A-ECFE-D90D-D542-B1E576B56B6D}"/>
                </a:ext>
              </a:extLst>
            </p:cNvPr>
            <p:cNvSpPr/>
            <p:nvPr/>
          </p:nvSpPr>
          <p:spPr bwMode="gray">
            <a:xfrm>
              <a:off x="5170873" y="4084493"/>
              <a:ext cx="1558678" cy="1558679"/>
            </a:xfrm>
            <a:prstGeom prst="blockArc">
              <a:avLst>
                <a:gd name="adj1" fmla="val 10823994"/>
                <a:gd name="adj2" fmla="val 5529932"/>
                <a:gd name="adj3" fmla="val 14080"/>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22" name="Rounded Rectangle 21">
              <a:extLst>
                <a:ext uri="{FF2B5EF4-FFF2-40B4-BE49-F238E27FC236}">
                  <a16:creationId xmlns:a16="http://schemas.microsoft.com/office/drawing/2014/main" id="{EE066267-39B1-EE86-0B92-B7FE6ADA4E71}"/>
                </a:ext>
              </a:extLst>
            </p:cNvPr>
            <p:cNvSpPr/>
            <p:nvPr/>
          </p:nvSpPr>
          <p:spPr bwMode="gray">
            <a:xfrm>
              <a:off x="5983281" y="4477309"/>
              <a:ext cx="2784482" cy="773047"/>
            </a:xfrm>
            <a:prstGeom prst="roundRect">
              <a:avLst>
                <a:gd name="adj" fmla="val 50000"/>
              </a:avLst>
            </a:prstGeom>
            <a:solidFill>
              <a:schemeClr val="bg1">
                <a:lumMod val="95000"/>
              </a:schemeClr>
            </a:solidFill>
            <a:ln w="9525" algn="ctr">
              <a:solidFill>
                <a:schemeClr val="accent5"/>
              </a:solidFill>
              <a:miter lim="800000"/>
              <a:headEnd/>
              <a:tailEnd/>
            </a:ln>
          </p:spPr>
          <p:txBody>
            <a:bodyPr wrap="square" lIns="457200" tIns="88900" rIns="88900" bIns="88900" rtlCol="0" anchor="ctr"/>
            <a:lstStyle/>
            <a:p>
              <a:pPr lvl="0">
                <a:lnSpc>
                  <a:spcPct val="106000"/>
                </a:lnSpc>
              </a:pPr>
              <a:r>
                <a:rPr lang="en-US" sz="1200" b="1" dirty="0">
                  <a:cs typeface="Times New Roman" pitchFamily="18" charset="0"/>
                </a:rPr>
                <a:t>User and Process Mapping Complexity</a:t>
              </a:r>
            </a:p>
          </p:txBody>
        </p:sp>
        <p:sp>
          <p:nvSpPr>
            <p:cNvPr id="23" name="Oval 22">
              <a:extLst>
                <a:ext uri="{FF2B5EF4-FFF2-40B4-BE49-F238E27FC236}">
                  <a16:creationId xmlns:a16="http://schemas.microsoft.com/office/drawing/2014/main" id="{FEB9BB53-8F01-F8CD-009E-3C2587D3C91E}"/>
                </a:ext>
              </a:extLst>
            </p:cNvPr>
            <p:cNvSpPr/>
            <p:nvPr/>
          </p:nvSpPr>
          <p:spPr bwMode="gray">
            <a:xfrm>
              <a:off x="5388371" y="4301992"/>
              <a:ext cx="1123683" cy="1123681"/>
            </a:xfrm>
            <a:prstGeom prst="ellipse">
              <a:avLst/>
            </a:prstGeom>
            <a:solidFill>
              <a:schemeClr val="bg1"/>
            </a:solidFill>
            <a:ln w="9525" algn="ctr">
              <a:no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200" b="0" i="0" u="none" strike="noStrike" kern="1200" cap="none" spc="0" normalizeH="0" baseline="0" noProof="0">
                <a:ln>
                  <a:noFill/>
                </a:ln>
                <a:solidFill>
                  <a:prstClr val="black"/>
                </a:solidFill>
                <a:effectLst/>
                <a:uLnTx/>
                <a:uFillTx/>
                <a:latin typeface="Calibri Light"/>
                <a:ea typeface="+mn-ea"/>
                <a:cs typeface="+mn-cs"/>
              </a:endParaRPr>
            </a:p>
          </p:txBody>
        </p:sp>
        <p:sp>
          <p:nvSpPr>
            <p:cNvPr id="24" name="Oval 23">
              <a:extLst>
                <a:ext uri="{FF2B5EF4-FFF2-40B4-BE49-F238E27FC236}">
                  <a16:creationId xmlns:a16="http://schemas.microsoft.com/office/drawing/2014/main" id="{444144CD-9311-ED9B-A0B0-29F18E342CE0}"/>
                </a:ext>
              </a:extLst>
            </p:cNvPr>
            <p:cNvSpPr/>
            <p:nvPr/>
          </p:nvSpPr>
          <p:spPr bwMode="gray">
            <a:xfrm>
              <a:off x="5550288" y="4463908"/>
              <a:ext cx="799848" cy="799848"/>
            </a:xfrm>
            <a:prstGeom prst="ellipse">
              <a:avLst/>
            </a:prstGeom>
            <a:solidFill>
              <a:srgbClr val="DDEFE8"/>
            </a:solidFill>
            <a:ln w="9525" algn="ctr">
              <a:solidFill>
                <a:schemeClr val="accent5"/>
              </a:solidFill>
              <a:miter lim="800000"/>
              <a:headEnd/>
              <a:tailEnd/>
            </a:ln>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2000" b="1" i="0" u="none" strike="noStrike" kern="1200" cap="none" spc="0" normalizeH="0" baseline="0" noProof="0" dirty="0">
                  <a:ln>
                    <a:noFill/>
                  </a:ln>
                  <a:solidFill>
                    <a:prstClr val="black"/>
                  </a:solidFill>
                  <a:effectLst/>
                  <a:uLnTx/>
                  <a:uFillTx/>
                  <a:latin typeface="Calibri Light"/>
                  <a:ea typeface="+mn-ea"/>
                  <a:cs typeface="+mn-cs"/>
                </a:rPr>
                <a:t>05</a:t>
              </a:r>
            </a:p>
          </p:txBody>
        </p:sp>
        <p:sp>
          <p:nvSpPr>
            <p:cNvPr id="25" name="Rounded Rectangle 24">
              <a:extLst>
                <a:ext uri="{FF2B5EF4-FFF2-40B4-BE49-F238E27FC236}">
                  <a16:creationId xmlns:a16="http://schemas.microsoft.com/office/drawing/2014/main" id="{D7C11094-89DA-5B1B-19D9-42883E960A11}"/>
                </a:ext>
              </a:extLst>
            </p:cNvPr>
            <p:cNvSpPr/>
            <p:nvPr/>
          </p:nvSpPr>
          <p:spPr bwMode="gray">
            <a:xfrm>
              <a:off x="0" y="2262188"/>
              <a:ext cx="2377691" cy="216487"/>
            </a:xfrm>
            <a:prstGeom prst="roundRect">
              <a:avLst>
                <a:gd name="adj" fmla="val 0"/>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26" name="Block Arc 25">
              <a:extLst>
                <a:ext uri="{FF2B5EF4-FFF2-40B4-BE49-F238E27FC236}">
                  <a16:creationId xmlns:a16="http://schemas.microsoft.com/office/drawing/2014/main" id="{FD1BC4BD-8AF6-4334-6575-9576260E9B7D}"/>
                </a:ext>
              </a:extLst>
            </p:cNvPr>
            <p:cNvSpPr/>
            <p:nvPr/>
          </p:nvSpPr>
          <p:spPr bwMode="gray">
            <a:xfrm>
              <a:off x="2047175" y="1820034"/>
              <a:ext cx="661032" cy="661032"/>
            </a:xfrm>
            <a:prstGeom prst="blockArc">
              <a:avLst>
                <a:gd name="adj1" fmla="val 21381499"/>
                <a:gd name="adj2" fmla="val 5466996"/>
                <a:gd name="adj3" fmla="val 33084"/>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27" name="Rounded Rectangle 26">
              <a:extLst>
                <a:ext uri="{FF2B5EF4-FFF2-40B4-BE49-F238E27FC236}">
                  <a16:creationId xmlns:a16="http://schemas.microsoft.com/office/drawing/2014/main" id="{F449EA9A-7895-2A6F-4DFE-E847841620B1}"/>
                </a:ext>
              </a:extLst>
            </p:cNvPr>
            <p:cNvSpPr/>
            <p:nvPr/>
          </p:nvSpPr>
          <p:spPr bwMode="gray">
            <a:xfrm>
              <a:off x="5901264" y="5876161"/>
              <a:ext cx="3236912" cy="216487"/>
            </a:xfrm>
            <a:prstGeom prst="roundRect">
              <a:avLst>
                <a:gd name="adj" fmla="val 0"/>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28" name="Block Arc 27">
              <a:extLst>
                <a:ext uri="{FF2B5EF4-FFF2-40B4-BE49-F238E27FC236}">
                  <a16:creationId xmlns:a16="http://schemas.microsoft.com/office/drawing/2014/main" id="{80B5D72B-827F-DE69-9B4C-61BC2C8500A7}"/>
                </a:ext>
              </a:extLst>
            </p:cNvPr>
            <p:cNvSpPr/>
            <p:nvPr/>
          </p:nvSpPr>
          <p:spPr bwMode="gray">
            <a:xfrm>
              <a:off x="5566697" y="5425792"/>
              <a:ext cx="661032" cy="661032"/>
            </a:xfrm>
            <a:prstGeom prst="blockArc">
              <a:avLst>
                <a:gd name="adj1" fmla="val 5256614"/>
                <a:gd name="adj2" fmla="val 17132510"/>
                <a:gd name="adj3" fmla="val 32408"/>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29" name="Freeform 28">
              <a:extLst>
                <a:ext uri="{FF2B5EF4-FFF2-40B4-BE49-F238E27FC236}">
                  <a16:creationId xmlns:a16="http://schemas.microsoft.com/office/drawing/2014/main" id="{56D0BF39-681D-3D6B-DBF2-5F1ADB5BE4EA}"/>
                </a:ext>
              </a:extLst>
            </p:cNvPr>
            <p:cNvSpPr>
              <a:spLocks noEditPoints="1"/>
            </p:cNvSpPr>
            <p:nvPr/>
          </p:nvSpPr>
          <p:spPr bwMode="auto">
            <a:xfrm>
              <a:off x="5291781" y="1317316"/>
              <a:ext cx="316919" cy="269381"/>
            </a:xfrm>
            <a:custGeom>
              <a:avLst/>
              <a:gdLst>
                <a:gd name="T0" fmla="*/ 23 w 300"/>
                <a:gd name="T1" fmla="*/ 245 h 256"/>
                <a:gd name="T2" fmla="*/ 2 w 300"/>
                <a:gd name="T3" fmla="*/ 245 h 256"/>
                <a:gd name="T4" fmla="*/ 12 w 300"/>
                <a:gd name="T5" fmla="*/ 213 h 256"/>
                <a:gd name="T6" fmla="*/ 55 w 300"/>
                <a:gd name="T7" fmla="*/ 192 h 256"/>
                <a:gd name="T8" fmla="*/ 44 w 300"/>
                <a:gd name="T9" fmla="*/ 245 h 256"/>
                <a:gd name="T10" fmla="*/ 66 w 300"/>
                <a:gd name="T11" fmla="*/ 245 h 256"/>
                <a:gd name="T12" fmla="*/ 55 w 300"/>
                <a:gd name="T13" fmla="*/ 192 h 256"/>
                <a:gd name="T14" fmla="*/ 87 w 300"/>
                <a:gd name="T15" fmla="*/ 171 h 256"/>
                <a:gd name="T16" fmla="*/ 98 w 300"/>
                <a:gd name="T17" fmla="*/ 256 h 256"/>
                <a:gd name="T18" fmla="*/ 108 w 300"/>
                <a:gd name="T19" fmla="*/ 171 h 256"/>
                <a:gd name="T20" fmla="*/ 140 w 300"/>
                <a:gd name="T21" fmla="*/ 149 h 256"/>
                <a:gd name="T22" fmla="*/ 130 w 300"/>
                <a:gd name="T23" fmla="*/ 245 h 256"/>
                <a:gd name="T24" fmla="*/ 151 w 300"/>
                <a:gd name="T25" fmla="*/ 245 h 256"/>
                <a:gd name="T26" fmla="*/ 140 w 300"/>
                <a:gd name="T27" fmla="*/ 149 h 256"/>
                <a:gd name="T28" fmla="*/ 172 w 300"/>
                <a:gd name="T29" fmla="*/ 160 h 256"/>
                <a:gd name="T30" fmla="*/ 183 w 300"/>
                <a:gd name="T31" fmla="*/ 256 h 256"/>
                <a:gd name="T32" fmla="*/ 194 w 300"/>
                <a:gd name="T33" fmla="*/ 160 h 256"/>
                <a:gd name="T34" fmla="*/ 226 w 300"/>
                <a:gd name="T35" fmla="*/ 117 h 256"/>
                <a:gd name="T36" fmla="*/ 215 w 300"/>
                <a:gd name="T37" fmla="*/ 245 h 256"/>
                <a:gd name="T38" fmla="*/ 236 w 300"/>
                <a:gd name="T39" fmla="*/ 245 h 256"/>
                <a:gd name="T40" fmla="*/ 226 w 300"/>
                <a:gd name="T41" fmla="*/ 117 h 256"/>
                <a:gd name="T42" fmla="*/ 258 w 300"/>
                <a:gd name="T43" fmla="*/ 96 h 256"/>
                <a:gd name="T44" fmla="*/ 268 w 300"/>
                <a:gd name="T45" fmla="*/ 256 h 256"/>
                <a:gd name="T46" fmla="*/ 279 w 300"/>
                <a:gd name="T47" fmla="*/ 96 h 256"/>
                <a:gd name="T48" fmla="*/ 300 w 300"/>
                <a:gd name="T49" fmla="*/ 7 h 256"/>
                <a:gd name="T50" fmla="*/ 290 w 300"/>
                <a:gd name="T51" fmla="*/ 0 h 256"/>
                <a:gd name="T52" fmla="*/ 236 w 300"/>
                <a:gd name="T53" fmla="*/ 11 h 256"/>
                <a:gd name="T54" fmla="*/ 264 w 300"/>
                <a:gd name="T55" fmla="*/ 21 h 256"/>
                <a:gd name="T56" fmla="*/ 98 w 300"/>
                <a:gd name="T57" fmla="*/ 107 h 256"/>
                <a:gd name="T58" fmla="*/ 6 w 300"/>
                <a:gd name="T59" fmla="*/ 173 h 256"/>
                <a:gd name="T60" fmla="*/ 12 w 300"/>
                <a:gd name="T61" fmla="*/ 192 h 256"/>
                <a:gd name="T62" fmla="*/ 101 w 300"/>
                <a:gd name="T63" fmla="*/ 128 h 256"/>
                <a:gd name="T64" fmla="*/ 191 w 300"/>
                <a:gd name="T65" fmla="*/ 125 h 256"/>
                <a:gd name="T66" fmla="*/ 279 w 300"/>
                <a:gd name="T67" fmla="*/ 53 h 256"/>
                <a:gd name="T68" fmla="*/ 300 w 300"/>
                <a:gd name="T69" fmla="*/ 53 h 256"/>
                <a:gd name="T70" fmla="*/ 300 w 300"/>
                <a:gd name="T71" fmla="*/ 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0" h="256">
                  <a:moveTo>
                    <a:pt x="23" y="224"/>
                  </a:moveTo>
                  <a:cubicBezTo>
                    <a:pt x="23" y="245"/>
                    <a:pt x="23" y="245"/>
                    <a:pt x="23" y="245"/>
                  </a:cubicBezTo>
                  <a:cubicBezTo>
                    <a:pt x="23" y="251"/>
                    <a:pt x="18" y="256"/>
                    <a:pt x="12" y="256"/>
                  </a:cubicBezTo>
                  <a:cubicBezTo>
                    <a:pt x="6" y="256"/>
                    <a:pt x="2" y="251"/>
                    <a:pt x="2" y="245"/>
                  </a:cubicBezTo>
                  <a:cubicBezTo>
                    <a:pt x="2" y="224"/>
                    <a:pt x="2" y="224"/>
                    <a:pt x="2" y="224"/>
                  </a:cubicBezTo>
                  <a:cubicBezTo>
                    <a:pt x="2" y="218"/>
                    <a:pt x="6" y="213"/>
                    <a:pt x="12" y="213"/>
                  </a:cubicBezTo>
                  <a:cubicBezTo>
                    <a:pt x="18" y="213"/>
                    <a:pt x="23" y="218"/>
                    <a:pt x="23" y="224"/>
                  </a:cubicBezTo>
                  <a:close/>
                  <a:moveTo>
                    <a:pt x="55" y="192"/>
                  </a:moveTo>
                  <a:cubicBezTo>
                    <a:pt x="49" y="192"/>
                    <a:pt x="44" y="197"/>
                    <a:pt x="44" y="203"/>
                  </a:cubicBezTo>
                  <a:cubicBezTo>
                    <a:pt x="44" y="245"/>
                    <a:pt x="44" y="245"/>
                    <a:pt x="44" y="245"/>
                  </a:cubicBezTo>
                  <a:cubicBezTo>
                    <a:pt x="44" y="251"/>
                    <a:pt x="49" y="256"/>
                    <a:pt x="55" y="256"/>
                  </a:cubicBezTo>
                  <a:cubicBezTo>
                    <a:pt x="61" y="256"/>
                    <a:pt x="66" y="251"/>
                    <a:pt x="66" y="245"/>
                  </a:cubicBezTo>
                  <a:cubicBezTo>
                    <a:pt x="66" y="203"/>
                    <a:pt x="66" y="203"/>
                    <a:pt x="66" y="203"/>
                  </a:cubicBezTo>
                  <a:cubicBezTo>
                    <a:pt x="66" y="197"/>
                    <a:pt x="61" y="192"/>
                    <a:pt x="55" y="192"/>
                  </a:cubicBezTo>
                  <a:close/>
                  <a:moveTo>
                    <a:pt x="98" y="160"/>
                  </a:moveTo>
                  <a:cubicBezTo>
                    <a:pt x="92" y="160"/>
                    <a:pt x="87" y="165"/>
                    <a:pt x="87" y="171"/>
                  </a:cubicBezTo>
                  <a:cubicBezTo>
                    <a:pt x="87" y="245"/>
                    <a:pt x="87" y="245"/>
                    <a:pt x="87" y="245"/>
                  </a:cubicBezTo>
                  <a:cubicBezTo>
                    <a:pt x="87" y="251"/>
                    <a:pt x="92" y="256"/>
                    <a:pt x="98" y="256"/>
                  </a:cubicBezTo>
                  <a:cubicBezTo>
                    <a:pt x="104" y="256"/>
                    <a:pt x="108" y="251"/>
                    <a:pt x="108" y="245"/>
                  </a:cubicBezTo>
                  <a:cubicBezTo>
                    <a:pt x="108" y="171"/>
                    <a:pt x="108" y="171"/>
                    <a:pt x="108" y="171"/>
                  </a:cubicBezTo>
                  <a:cubicBezTo>
                    <a:pt x="108" y="165"/>
                    <a:pt x="104" y="160"/>
                    <a:pt x="98" y="160"/>
                  </a:cubicBezTo>
                  <a:close/>
                  <a:moveTo>
                    <a:pt x="140" y="149"/>
                  </a:moveTo>
                  <a:cubicBezTo>
                    <a:pt x="134" y="149"/>
                    <a:pt x="130" y="154"/>
                    <a:pt x="130" y="160"/>
                  </a:cubicBezTo>
                  <a:cubicBezTo>
                    <a:pt x="130" y="245"/>
                    <a:pt x="130" y="245"/>
                    <a:pt x="130" y="245"/>
                  </a:cubicBezTo>
                  <a:cubicBezTo>
                    <a:pt x="130" y="251"/>
                    <a:pt x="134" y="256"/>
                    <a:pt x="140" y="256"/>
                  </a:cubicBezTo>
                  <a:cubicBezTo>
                    <a:pt x="146" y="256"/>
                    <a:pt x="151" y="251"/>
                    <a:pt x="151" y="245"/>
                  </a:cubicBezTo>
                  <a:cubicBezTo>
                    <a:pt x="151" y="160"/>
                    <a:pt x="151" y="160"/>
                    <a:pt x="151" y="160"/>
                  </a:cubicBezTo>
                  <a:cubicBezTo>
                    <a:pt x="151" y="154"/>
                    <a:pt x="146" y="149"/>
                    <a:pt x="140" y="149"/>
                  </a:cubicBezTo>
                  <a:close/>
                  <a:moveTo>
                    <a:pt x="183" y="149"/>
                  </a:moveTo>
                  <a:cubicBezTo>
                    <a:pt x="177" y="149"/>
                    <a:pt x="172" y="154"/>
                    <a:pt x="172" y="160"/>
                  </a:cubicBezTo>
                  <a:cubicBezTo>
                    <a:pt x="172" y="245"/>
                    <a:pt x="172" y="245"/>
                    <a:pt x="172" y="245"/>
                  </a:cubicBezTo>
                  <a:cubicBezTo>
                    <a:pt x="172" y="251"/>
                    <a:pt x="177" y="256"/>
                    <a:pt x="183" y="256"/>
                  </a:cubicBezTo>
                  <a:cubicBezTo>
                    <a:pt x="189" y="256"/>
                    <a:pt x="194" y="251"/>
                    <a:pt x="194" y="245"/>
                  </a:cubicBezTo>
                  <a:cubicBezTo>
                    <a:pt x="194" y="160"/>
                    <a:pt x="194" y="160"/>
                    <a:pt x="194" y="160"/>
                  </a:cubicBezTo>
                  <a:cubicBezTo>
                    <a:pt x="194" y="154"/>
                    <a:pt x="189" y="149"/>
                    <a:pt x="183" y="149"/>
                  </a:cubicBezTo>
                  <a:close/>
                  <a:moveTo>
                    <a:pt x="226" y="117"/>
                  </a:moveTo>
                  <a:cubicBezTo>
                    <a:pt x="220" y="117"/>
                    <a:pt x="215" y="122"/>
                    <a:pt x="215" y="128"/>
                  </a:cubicBezTo>
                  <a:cubicBezTo>
                    <a:pt x="215" y="245"/>
                    <a:pt x="215" y="245"/>
                    <a:pt x="215" y="245"/>
                  </a:cubicBezTo>
                  <a:cubicBezTo>
                    <a:pt x="215" y="251"/>
                    <a:pt x="220" y="256"/>
                    <a:pt x="226" y="256"/>
                  </a:cubicBezTo>
                  <a:cubicBezTo>
                    <a:pt x="232" y="256"/>
                    <a:pt x="236" y="251"/>
                    <a:pt x="236" y="245"/>
                  </a:cubicBezTo>
                  <a:cubicBezTo>
                    <a:pt x="236" y="128"/>
                    <a:pt x="236" y="128"/>
                    <a:pt x="236" y="128"/>
                  </a:cubicBezTo>
                  <a:cubicBezTo>
                    <a:pt x="236" y="122"/>
                    <a:pt x="232" y="117"/>
                    <a:pt x="226" y="117"/>
                  </a:cubicBezTo>
                  <a:close/>
                  <a:moveTo>
                    <a:pt x="268" y="85"/>
                  </a:moveTo>
                  <a:cubicBezTo>
                    <a:pt x="262" y="85"/>
                    <a:pt x="258" y="90"/>
                    <a:pt x="258" y="96"/>
                  </a:cubicBezTo>
                  <a:cubicBezTo>
                    <a:pt x="258" y="245"/>
                    <a:pt x="258" y="245"/>
                    <a:pt x="258" y="245"/>
                  </a:cubicBezTo>
                  <a:cubicBezTo>
                    <a:pt x="258" y="251"/>
                    <a:pt x="262" y="256"/>
                    <a:pt x="268" y="256"/>
                  </a:cubicBezTo>
                  <a:cubicBezTo>
                    <a:pt x="274" y="256"/>
                    <a:pt x="279" y="251"/>
                    <a:pt x="279" y="245"/>
                  </a:cubicBezTo>
                  <a:cubicBezTo>
                    <a:pt x="279" y="96"/>
                    <a:pt x="279" y="96"/>
                    <a:pt x="279" y="96"/>
                  </a:cubicBezTo>
                  <a:cubicBezTo>
                    <a:pt x="279" y="90"/>
                    <a:pt x="274" y="85"/>
                    <a:pt x="268" y="85"/>
                  </a:cubicBezTo>
                  <a:close/>
                  <a:moveTo>
                    <a:pt x="300" y="7"/>
                  </a:moveTo>
                  <a:cubicBezTo>
                    <a:pt x="298" y="4"/>
                    <a:pt x="296" y="2"/>
                    <a:pt x="294" y="1"/>
                  </a:cubicBezTo>
                  <a:cubicBezTo>
                    <a:pt x="292" y="0"/>
                    <a:pt x="291" y="0"/>
                    <a:pt x="290" y="0"/>
                  </a:cubicBezTo>
                  <a:cubicBezTo>
                    <a:pt x="247" y="0"/>
                    <a:pt x="247" y="0"/>
                    <a:pt x="247" y="0"/>
                  </a:cubicBezTo>
                  <a:cubicBezTo>
                    <a:pt x="241" y="0"/>
                    <a:pt x="236" y="5"/>
                    <a:pt x="236" y="11"/>
                  </a:cubicBezTo>
                  <a:cubicBezTo>
                    <a:pt x="236" y="17"/>
                    <a:pt x="241" y="21"/>
                    <a:pt x="247" y="21"/>
                  </a:cubicBezTo>
                  <a:cubicBezTo>
                    <a:pt x="264" y="21"/>
                    <a:pt x="264" y="21"/>
                    <a:pt x="264" y="21"/>
                  </a:cubicBezTo>
                  <a:cubicBezTo>
                    <a:pt x="179" y="107"/>
                    <a:pt x="179" y="107"/>
                    <a:pt x="179" y="107"/>
                  </a:cubicBezTo>
                  <a:cubicBezTo>
                    <a:pt x="98" y="107"/>
                    <a:pt x="98" y="107"/>
                    <a:pt x="98" y="107"/>
                  </a:cubicBezTo>
                  <a:cubicBezTo>
                    <a:pt x="95" y="107"/>
                    <a:pt x="93" y="107"/>
                    <a:pt x="91" y="109"/>
                  </a:cubicBezTo>
                  <a:cubicBezTo>
                    <a:pt x="6" y="173"/>
                    <a:pt x="6" y="173"/>
                    <a:pt x="6" y="173"/>
                  </a:cubicBezTo>
                  <a:cubicBezTo>
                    <a:pt x="1" y="176"/>
                    <a:pt x="0" y="183"/>
                    <a:pt x="4" y="188"/>
                  </a:cubicBezTo>
                  <a:cubicBezTo>
                    <a:pt x="6" y="191"/>
                    <a:pt x="9" y="192"/>
                    <a:pt x="12" y="192"/>
                  </a:cubicBezTo>
                  <a:cubicBezTo>
                    <a:pt x="15" y="192"/>
                    <a:pt x="17" y="191"/>
                    <a:pt x="19" y="190"/>
                  </a:cubicBezTo>
                  <a:cubicBezTo>
                    <a:pt x="101" y="128"/>
                    <a:pt x="101" y="128"/>
                    <a:pt x="101" y="128"/>
                  </a:cubicBezTo>
                  <a:cubicBezTo>
                    <a:pt x="183" y="128"/>
                    <a:pt x="183" y="128"/>
                    <a:pt x="183" y="128"/>
                  </a:cubicBezTo>
                  <a:cubicBezTo>
                    <a:pt x="186" y="128"/>
                    <a:pt x="189" y="127"/>
                    <a:pt x="191" y="125"/>
                  </a:cubicBezTo>
                  <a:cubicBezTo>
                    <a:pt x="279" y="36"/>
                    <a:pt x="279" y="36"/>
                    <a:pt x="279" y="36"/>
                  </a:cubicBezTo>
                  <a:cubicBezTo>
                    <a:pt x="279" y="53"/>
                    <a:pt x="279" y="53"/>
                    <a:pt x="279" y="53"/>
                  </a:cubicBezTo>
                  <a:cubicBezTo>
                    <a:pt x="279" y="59"/>
                    <a:pt x="284" y="64"/>
                    <a:pt x="290" y="64"/>
                  </a:cubicBezTo>
                  <a:cubicBezTo>
                    <a:pt x="296" y="64"/>
                    <a:pt x="300" y="59"/>
                    <a:pt x="300" y="53"/>
                  </a:cubicBezTo>
                  <a:cubicBezTo>
                    <a:pt x="300" y="11"/>
                    <a:pt x="300" y="11"/>
                    <a:pt x="300" y="11"/>
                  </a:cubicBezTo>
                  <a:cubicBezTo>
                    <a:pt x="300" y="9"/>
                    <a:pt x="300" y="8"/>
                    <a:pt x="300" y="7"/>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30" name="Freeform 464">
              <a:extLst>
                <a:ext uri="{FF2B5EF4-FFF2-40B4-BE49-F238E27FC236}">
                  <a16:creationId xmlns:a16="http://schemas.microsoft.com/office/drawing/2014/main" id="{D46C1787-7D11-5F39-651F-ECA6C1FBF3F4}"/>
                </a:ext>
              </a:extLst>
            </p:cNvPr>
            <p:cNvSpPr>
              <a:spLocks noEditPoints="1"/>
            </p:cNvSpPr>
            <p:nvPr/>
          </p:nvSpPr>
          <p:spPr bwMode="auto">
            <a:xfrm>
              <a:off x="1101055" y="4776414"/>
              <a:ext cx="338511" cy="135087"/>
            </a:xfrm>
            <a:custGeom>
              <a:avLst/>
              <a:gdLst>
                <a:gd name="T0" fmla="*/ 309 w 320"/>
                <a:gd name="T1" fmla="*/ 53 h 128"/>
                <a:gd name="T2" fmla="*/ 127 w 320"/>
                <a:gd name="T3" fmla="*/ 53 h 128"/>
                <a:gd name="T4" fmla="*/ 64 w 320"/>
                <a:gd name="T5" fmla="*/ 0 h 128"/>
                <a:gd name="T6" fmla="*/ 0 w 320"/>
                <a:gd name="T7" fmla="*/ 64 h 128"/>
                <a:gd name="T8" fmla="*/ 64 w 320"/>
                <a:gd name="T9" fmla="*/ 128 h 128"/>
                <a:gd name="T10" fmla="*/ 127 w 320"/>
                <a:gd name="T11" fmla="*/ 74 h 128"/>
                <a:gd name="T12" fmla="*/ 256 w 320"/>
                <a:gd name="T13" fmla="*/ 74 h 128"/>
                <a:gd name="T14" fmla="*/ 256 w 320"/>
                <a:gd name="T15" fmla="*/ 96 h 128"/>
                <a:gd name="T16" fmla="*/ 266 w 320"/>
                <a:gd name="T17" fmla="*/ 106 h 128"/>
                <a:gd name="T18" fmla="*/ 277 w 320"/>
                <a:gd name="T19" fmla="*/ 96 h 128"/>
                <a:gd name="T20" fmla="*/ 277 w 320"/>
                <a:gd name="T21" fmla="*/ 74 h 128"/>
                <a:gd name="T22" fmla="*/ 298 w 320"/>
                <a:gd name="T23" fmla="*/ 74 h 128"/>
                <a:gd name="T24" fmla="*/ 298 w 320"/>
                <a:gd name="T25" fmla="*/ 117 h 128"/>
                <a:gd name="T26" fmla="*/ 309 w 320"/>
                <a:gd name="T27" fmla="*/ 128 h 128"/>
                <a:gd name="T28" fmla="*/ 320 w 320"/>
                <a:gd name="T29" fmla="*/ 117 h 128"/>
                <a:gd name="T30" fmla="*/ 320 w 320"/>
                <a:gd name="T31" fmla="*/ 64 h 128"/>
                <a:gd name="T32" fmla="*/ 309 w 320"/>
                <a:gd name="T33" fmla="*/ 53 h 128"/>
                <a:gd name="T34" fmla="*/ 64 w 320"/>
                <a:gd name="T35" fmla="*/ 106 h 128"/>
                <a:gd name="T36" fmla="*/ 21 w 320"/>
                <a:gd name="T37" fmla="*/ 64 h 128"/>
                <a:gd name="T38" fmla="*/ 64 w 320"/>
                <a:gd name="T39" fmla="*/ 21 h 128"/>
                <a:gd name="T40" fmla="*/ 106 w 320"/>
                <a:gd name="T41" fmla="*/ 64 h 128"/>
                <a:gd name="T42" fmla="*/ 64 w 320"/>
                <a:gd name="T43" fmla="*/ 10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0" h="128">
                  <a:moveTo>
                    <a:pt x="309" y="53"/>
                  </a:moveTo>
                  <a:cubicBezTo>
                    <a:pt x="127" y="53"/>
                    <a:pt x="127" y="53"/>
                    <a:pt x="127" y="53"/>
                  </a:cubicBezTo>
                  <a:cubicBezTo>
                    <a:pt x="122" y="23"/>
                    <a:pt x="95" y="0"/>
                    <a:pt x="64" y="0"/>
                  </a:cubicBezTo>
                  <a:cubicBezTo>
                    <a:pt x="28" y="0"/>
                    <a:pt x="0" y="28"/>
                    <a:pt x="0" y="64"/>
                  </a:cubicBezTo>
                  <a:cubicBezTo>
                    <a:pt x="0" y="99"/>
                    <a:pt x="28" y="128"/>
                    <a:pt x="64" y="128"/>
                  </a:cubicBezTo>
                  <a:cubicBezTo>
                    <a:pt x="95" y="128"/>
                    <a:pt x="122" y="105"/>
                    <a:pt x="127" y="74"/>
                  </a:cubicBezTo>
                  <a:cubicBezTo>
                    <a:pt x="256" y="74"/>
                    <a:pt x="256" y="74"/>
                    <a:pt x="256" y="74"/>
                  </a:cubicBezTo>
                  <a:cubicBezTo>
                    <a:pt x="256" y="96"/>
                    <a:pt x="256" y="96"/>
                    <a:pt x="256" y="96"/>
                  </a:cubicBezTo>
                  <a:cubicBezTo>
                    <a:pt x="256" y="102"/>
                    <a:pt x="260" y="106"/>
                    <a:pt x="266" y="106"/>
                  </a:cubicBezTo>
                  <a:cubicBezTo>
                    <a:pt x="272" y="106"/>
                    <a:pt x="277" y="102"/>
                    <a:pt x="277" y="96"/>
                  </a:cubicBezTo>
                  <a:cubicBezTo>
                    <a:pt x="277" y="74"/>
                    <a:pt x="277" y="74"/>
                    <a:pt x="277" y="74"/>
                  </a:cubicBezTo>
                  <a:cubicBezTo>
                    <a:pt x="298" y="74"/>
                    <a:pt x="298" y="74"/>
                    <a:pt x="298" y="74"/>
                  </a:cubicBezTo>
                  <a:cubicBezTo>
                    <a:pt x="298" y="117"/>
                    <a:pt x="298" y="117"/>
                    <a:pt x="298" y="117"/>
                  </a:cubicBezTo>
                  <a:cubicBezTo>
                    <a:pt x="298" y="123"/>
                    <a:pt x="303" y="128"/>
                    <a:pt x="309" y="128"/>
                  </a:cubicBezTo>
                  <a:cubicBezTo>
                    <a:pt x="315" y="128"/>
                    <a:pt x="320" y="123"/>
                    <a:pt x="320" y="117"/>
                  </a:cubicBezTo>
                  <a:cubicBezTo>
                    <a:pt x="320" y="64"/>
                    <a:pt x="320" y="64"/>
                    <a:pt x="320" y="64"/>
                  </a:cubicBezTo>
                  <a:cubicBezTo>
                    <a:pt x="320" y="58"/>
                    <a:pt x="315" y="53"/>
                    <a:pt x="309" y="53"/>
                  </a:cubicBezTo>
                  <a:close/>
                  <a:moveTo>
                    <a:pt x="64" y="106"/>
                  </a:moveTo>
                  <a:cubicBezTo>
                    <a:pt x="40" y="106"/>
                    <a:pt x="21" y="87"/>
                    <a:pt x="21" y="64"/>
                  </a:cubicBezTo>
                  <a:cubicBezTo>
                    <a:pt x="21" y="40"/>
                    <a:pt x="40" y="21"/>
                    <a:pt x="64" y="21"/>
                  </a:cubicBezTo>
                  <a:cubicBezTo>
                    <a:pt x="87" y="21"/>
                    <a:pt x="106" y="40"/>
                    <a:pt x="106" y="64"/>
                  </a:cubicBezTo>
                  <a:cubicBezTo>
                    <a:pt x="106" y="87"/>
                    <a:pt x="87" y="106"/>
                    <a:pt x="64" y="106"/>
                  </a:cubicBezTo>
                  <a:close/>
                </a:path>
              </a:pathLst>
            </a:custGeom>
            <a:solidFill>
              <a:srgbClr val="01216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31" name="Freeform 41">
              <a:extLst>
                <a:ext uri="{FF2B5EF4-FFF2-40B4-BE49-F238E27FC236}">
                  <a16:creationId xmlns:a16="http://schemas.microsoft.com/office/drawing/2014/main" id="{8F592B82-A4CF-59FC-7DC5-752616230B80}"/>
                </a:ext>
              </a:extLst>
            </p:cNvPr>
            <p:cNvSpPr>
              <a:spLocks noEditPoints="1"/>
            </p:cNvSpPr>
            <p:nvPr/>
          </p:nvSpPr>
          <p:spPr bwMode="auto">
            <a:xfrm>
              <a:off x="7723420" y="4123808"/>
              <a:ext cx="341689" cy="340100"/>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33" name="Freeform 872">
              <a:extLst>
                <a:ext uri="{FF2B5EF4-FFF2-40B4-BE49-F238E27FC236}">
                  <a16:creationId xmlns:a16="http://schemas.microsoft.com/office/drawing/2014/main" id="{462B90DE-DF19-34B8-A321-DFC7843FF78B}"/>
                </a:ext>
              </a:extLst>
            </p:cNvPr>
            <p:cNvSpPr>
              <a:spLocks noEditPoints="1"/>
            </p:cNvSpPr>
            <p:nvPr/>
          </p:nvSpPr>
          <p:spPr bwMode="auto">
            <a:xfrm>
              <a:off x="6583339" y="2637130"/>
              <a:ext cx="292423" cy="327386"/>
            </a:xfrm>
            <a:custGeom>
              <a:avLst/>
              <a:gdLst>
                <a:gd name="T0" fmla="*/ 267 w 277"/>
                <a:gd name="T1" fmla="*/ 11 h 310"/>
                <a:gd name="T2" fmla="*/ 149 w 277"/>
                <a:gd name="T3" fmla="*/ 11 h 310"/>
                <a:gd name="T4" fmla="*/ 139 w 277"/>
                <a:gd name="T5" fmla="*/ 0 h 310"/>
                <a:gd name="T6" fmla="*/ 128 w 277"/>
                <a:gd name="T7" fmla="*/ 11 h 310"/>
                <a:gd name="T8" fmla="*/ 11 w 277"/>
                <a:gd name="T9" fmla="*/ 11 h 310"/>
                <a:gd name="T10" fmla="*/ 0 w 277"/>
                <a:gd name="T11" fmla="*/ 22 h 310"/>
                <a:gd name="T12" fmla="*/ 0 w 277"/>
                <a:gd name="T13" fmla="*/ 214 h 310"/>
                <a:gd name="T14" fmla="*/ 11 w 277"/>
                <a:gd name="T15" fmla="*/ 224 h 310"/>
                <a:gd name="T16" fmla="*/ 81 w 277"/>
                <a:gd name="T17" fmla="*/ 224 h 310"/>
                <a:gd name="T18" fmla="*/ 54 w 277"/>
                <a:gd name="T19" fmla="*/ 295 h 310"/>
                <a:gd name="T20" fmla="*/ 60 w 277"/>
                <a:gd name="T21" fmla="*/ 309 h 310"/>
                <a:gd name="T22" fmla="*/ 64 w 277"/>
                <a:gd name="T23" fmla="*/ 310 h 310"/>
                <a:gd name="T24" fmla="*/ 74 w 277"/>
                <a:gd name="T25" fmla="*/ 303 h 310"/>
                <a:gd name="T26" fmla="*/ 103 w 277"/>
                <a:gd name="T27" fmla="*/ 224 h 310"/>
                <a:gd name="T28" fmla="*/ 128 w 277"/>
                <a:gd name="T29" fmla="*/ 224 h 310"/>
                <a:gd name="T30" fmla="*/ 128 w 277"/>
                <a:gd name="T31" fmla="*/ 267 h 310"/>
                <a:gd name="T32" fmla="*/ 139 w 277"/>
                <a:gd name="T33" fmla="*/ 278 h 310"/>
                <a:gd name="T34" fmla="*/ 149 w 277"/>
                <a:gd name="T35" fmla="*/ 267 h 310"/>
                <a:gd name="T36" fmla="*/ 149 w 277"/>
                <a:gd name="T37" fmla="*/ 224 h 310"/>
                <a:gd name="T38" fmla="*/ 174 w 277"/>
                <a:gd name="T39" fmla="*/ 224 h 310"/>
                <a:gd name="T40" fmla="*/ 203 w 277"/>
                <a:gd name="T41" fmla="*/ 303 h 310"/>
                <a:gd name="T42" fmla="*/ 213 w 277"/>
                <a:gd name="T43" fmla="*/ 310 h 310"/>
                <a:gd name="T44" fmla="*/ 217 w 277"/>
                <a:gd name="T45" fmla="*/ 309 h 310"/>
                <a:gd name="T46" fmla="*/ 223 w 277"/>
                <a:gd name="T47" fmla="*/ 295 h 310"/>
                <a:gd name="T48" fmla="*/ 197 w 277"/>
                <a:gd name="T49" fmla="*/ 224 h 310"/>
                <a:gd name="T50" fmla="*/ 267 w 277"/>
                <a:gd name="T51" fmla="*/ 224 h 310"/>
                <a:gd name="T52" fmla="*/ 277 w 277"/>
                <a:gd name="T53" fmla="*/ 214 h 310"/>
                <a:gd name="T54" fmla="*/ 277 w 277"/>
                <a:gd name="T55" fmla="*/ 22 h 310"/>
                <a:gd name="T56" fmla="*/ 267 w 277"/>
                <a:gd name="T57" fmla="*/ 11 h 310"/>
                <a:gd name="T58" fmla="*/ 256 w 277"/>
                <a:gd name="T59" fmla="*/ 203 h 310"/>
                <a:gd name="T60" fmla="*/ 21 w 277"/>
                <a:gd name="T61" fmla="*/ 203 h 310"/>
                <a:gd name="T62" fmla="*/ 21 w 277"/>
                <a:gd name="T63" fmla="*/ 32 h 310"/>
                <a:gd name="T64" fmla="*/ 256 w 277"/>
                <a:gd name="T65" fmla="*/ 32 h 310"/>
                <a:gd name="T66" fmla="*/ 256 w 277"/>
                <a:gd name="T67" fmla="*/ 203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7" h="310">
                  <a:moveTo>
                    <a:pt x="267" y="11"/>
                  </a:moveTo>
                  <a:cubicBezTo>
                    <a:pt x="149" y="11"/>
                    <a:pt x="149" y="11"/>
                    <a:pt x="149" y="11"/>
                  </a:cubicBezTo>
                  <a:cubicBezTo>
                    <a:pt x="149" y="5"/>
                    <a:pt x="145" y="0"/>
                    <a:pt x="139" y="0"/>
                  </a:cubicBezTo>
                  <a:cubicBezTo>
                    <a:pt x="133" y="0"/>
                    <a:pt x="128" y="5"/>
                    <a:pt x="128" y="11"/>
                  </a:cubicBezTo>
                  <a:cubicBezTo>
                    <a:pt x="11" y="11"/>
                    <a:pt x="11" y="11"/>
                    <a:pt x="11" y="11"/>
                  </a:cubicBezTo>
                  <a:cubicBezTo>
                    <a:pt x="5" y="11"/>
                    <a:pt x="0" y="16"/>
                    <a:pt x="0" y="22"/>
                  </a:cubicBezTo>
                  <a:cubicBezTo>
                    <a:pt x="0" y="214"/>
                    <a:pt x="0" y="214"/>
                    <a:pt x="0" y="214"/>
                  </a:cubicBezTo>
                  <a:cubicBezTo>
                    <a:pt x="0" y="220"/>
                    <a:pt x="5" y="224"/>
                    <a:pt x="11" y="224"/>
                  </a:cubicBezTo>
                  <a:cubicBezTo>
                    <a:pt x="81" y="224"/>
                    <a:pt x="81" y="224"/>
                    <a:pt x="81" y="224"/>
                  </a:cubicBezTo>
                  <a:cubicBezTo>
                    <a:pt x="54" y="295"/>
                    <a:pt x="54" y="295"/>
                    <a:pt x="54" y="295"/>
                  </a:cubicBezTo>
                  <a:cubicBezTo>
                    <a:pt x="52" y="301"/>
                    <a:pt x="55" y="307"/>
                    <a:pt x="60" y="309"/>
                  </a:cubicBezTo>
                  <a:cubicBezTo>
                    <a:pt x="61" y="309"/>
                    <a:pt x="63" y="310"/>
                    <a:pt x="64" y="310"/>
                  </a:cubicBezTo>
                  <a:cubicBezTo>
                    <a:pt x="68" y="310"/>
                    <a:pt x="72" y="307"/>
                    <a:pt x="74" y="303"/>
                  </a:cubicBezTo>
                  <a:cubicBezTo>
                    <a:pt x="103" y="224"/>
                    <a:pt x="103" y="224"/>
                    <a:pt x="103" y="224"/>
                  </a:cubicBezTo>
                  <a:cubicBezTo>
                    <a:pt x="128" y="224"/>
                    <a:pt x="128" y="224"/>
                    <a:pt x="128" y="224"/>
                  </a:cubicBezTo>
                  <a:cubicBezTo>
                    <a:pt x="128" y="267"/>
                    <a:pt x="128" y="267"/>
                    <a:pt x="128" y="267"/>
                  </a:cubicBezTo>
                  <a:cubicBezTo>
                    <a:pt x="128" y="273"/>
                    <a:pt x="133" y="278"/>
                    <a:pt x="139" y="278"/>
                  </a:cubicBezTo>
                  <a:cubicBezTo>
                    <a:pt x="145" y="278"/>
                    <a:pt x="149" y="273"/>
                    <a:pt x="149" y="267"/>
                  </a:cubicBezTo>
                  <a:cubicBezTo>
                    <a:pt x="149" y="224"/>
                    <a:pt x="149" y="224"/>
                    <a:pt x="149" y="224"/>
                  </a:cubicBezTo>
                  <a:cubicBezTo>
                    <a:pt x="174" y="224"/>
                    <a:pt x="174" y="224"/>
                    <a:pt x="174" y="224"/>
                  </a:cubicBezTo>
                  <a:cubicBezTo>
                    <a:pt x="203" y="303"/>
                    <a:pt x="203" y="303"/>
                    <a:pt x="203" y="303"/>
                  </a:cubicBezTo>
                  <a:cubicBezTo>
                    <a:pt x="205" y="307"/>
                    <a:pt x="209" y="310"/>
                    <a:pt x="213" y="310"/>
                  </a:cubicBezTo>
                  <a:cubicBezTo>
                    <a:pt x="215" y="310"/>
                    <a:pt x="216" y="309"/>
                    <a:pt x="217" y="309"/>
                  </a:cubicBezTo>
                  <a:cubicBezTo>
                    <a:pt x="223" y="307"/>
                    <a:pt x="225" y="301"/>
                    <a:pt x="223" y="295"/>
                  </a:cubicBezTo>
                  <a:cubicBezTo>
                    <a:pt x="197" y="224"/>
                    <a:pt x="197" y="224"/>
                    <a:pt x="197" y="224"/>
                  </a:cubicBezTo>
                  <a:cubicBezTo>
                    <a:pt x="267" y="224"/>
                    <a:pt x="267" y="224"/>
                    <a:pt x="267" y="224"/>
                  </a:cubicBezTo>
                  <a:cubicBezTo>
                    <a:pt x="273" y="224"/>
                    <a:pt x="277" y="220"/>
                    <a:pt x="277" y="214"/>
                  </a:cubicBezTo>
                  <a:cubicBezTo>
                    <a:pt x="277" y="22"/>
                    <a:pt x="277" y="22"/>
                    <a:pt x="277" y="22"/>
                  </a:cubicBezTo>
                  <a:cubicBezTo>
                    <a:pt x="277" y="16"/>
                    <a:pt x="273" y="11"/>
                    <a:pt x="267" y="11"/>
                  </a:cubicBezTo>
                  <a:close/>
                  <a:moveTo>
                    <a:pt x="256" y="203"/>
                  </a:moveTo>
                  <a:cubicBezTo>
                    <a:pt x="21" y="203"/>
                    <a:pt x="21" y="203"/>
                    <a:pt x="21" y="203"/>
                  </a:cubicBezTo>
                  <a:cubicBezTo>
                    <a:pt x="21" y="32"/>
                    <a:pt x="21" y="32"/>
                    <a:pt x="21" y="32"/>
                  </a:cubicBezTo>
                  <a:cubicBezTo>
                    <a:pt x="256" y="32"/>
                    <a:pt x="256" y="32"/>
                    <a:pt x="256" y="32"/>
                  </a:cubicBezTo>
                  <a:lnTo>
                    <a:pt x="256" y="203"/>
                  </a:lnTo>
                  <a:close/>
                </a:path>
              </a:pathLst>
            </a:custGeom>
            <a:solidFill>
              <a:srgbClr val="009A4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34" name="Isosceles Triangle 33">
              <a:extLst>
                <a:ext uri="{FF2B5EF4-FFF2-40B4-BE49-F238E27FC236}">
                  <a16:creationId xmlns:a16="http://schemas.microsoft.com/office/drawing/2014/main" id="{220F2825-D8D1-3194-BCF5-E4C226B7545A}"/>
                </a:ext>
              </a:extLst>
            </p:cNvPr>
            <p:cNvSpPr/>
            <p:nvPr/>
          </p:nvSpPr>
          <p:spPr bwMode="gray">
            <a:xfrm>
              <a:off x="6627074" y="2995260"/>
              <a:ext cx="204952" cy="70944"/>
            </a:xfrm>
            <a:prstGeom prst="triangle">
              <a:avLst/>
            </a:prstGeom>
            <a:solidFill>
              <a:srgbClr val="A7A8A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35" name="Isosceles Triangle 34">
              <a:extLst>
                <a:ext uri="{FF2B5EF4-FFF2-40B4-BE49-F238E27FC236}">
                  <a16:creationId xmlns:a16="http://schemas.microsoft.com/office/drawing/2014/main" id="{5967D00F-6D41-483D-3AFA-D302B4A066FB}"/>
                </a:ext>
              </a:extLst>
            </p:cNvPr>
            <p:cNvSpPr/>
            <p:nvPr/>
          </p:nvSpPr>
          <p:spPr bwMode="gray">
            <a:xfrm>
              <a:off x="8075580" y="4358435"/>
              <a:ext cx="204952" cy="70944"/>
            </a:xfrm>
            <a:prstGeom prst="triangle">
              <a:avLst/>
            </a:prstGeom>
            <a:solidFill>
              <a:srgbClr val="A7A8A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36" name="Isosceles Triangle 35">
              <a:extLst>
                <a:ext uri="{FF2B5EF4-FFF2-40B4-BE49-F238E27FC236}">
                  <a16:creationId xmlns:a16="http://schemas.microsoft.com/office/drawing/2014/main" id="{D9687B78-59B3-E7AE-8DA9-E09A3E4AF4CE}"/>
                </a:ext>
              </a:extLst>
            </p:cNvPr>
            <p:cNvSpPr/>
            <p:nvPr/>
          </p:nvSpPr>
          <p:spPr bwMode="gray">
            <a:xfrm rot="16200000">
              <a:off x="1507626" y="4808486"/>
              <a:ext cx="204952" cy="70944"/>
            </a:xfrm>
            <a:prstGeom prst="triangle">
              <a:avLst/>
            </a:prstGeom>
            <a:solidFill>
              <a:srgbClr val="A7A8A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38" name="Isosceles Triangle 37">
              <a:extLst>
                <a:ext uri="{FF2B5EF4-FFF2-40B4-BE49-F238E27FC236}">
                  <a16:creationId xmlns:a16="http://schemas.microsoft.com/office/drawing/2014/main" id="{6E11854F-16CF-E2D5-3A77-1EEB7B789BEC}"/>
                </a:ext>
              </a:extLst>
            </p:cNvPr>
            <p:cNvSpPr/>
            <p:nvPr/>
          </p:nvSpPr>
          <p:spPr bwMode="gray">
            <a:xfrm>
              <a:off x="850551" y="2995260"/>
              <a:ext cx="204952" cy="70944"/>
            </a:xfrm>
            <a:prstGeom prst="triangle">
              <a:avLst/>
            </a:prstGeom>
            <a:solidFill>
              <a:srgbClr val="A7A8A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39" name="Isosceles Triangle 38">
              <a:extLst>
                <a:ext uri="{FF2B5EF4-FFF2-40B4-BE49-F238E27FC236}">
                  <a16:creationId xmlns:a16="http://schemas.microsoft.com/office/drawing/2014/main" id="{C773D25C-4DF4-55BF-7673-7A58F982D4C0}"/>
                </a:ext>
              </a:extLst>
            </p:cNvPr>
            <p:cNvSpPr/>
            <p:nvPr/>
          </p:nvSpPr>
          <p:spPr bwMode="gray">
            <a:xfrm>
              <a:off x="5366843" y="1638167"/>
              <a:ext cx="204952" cy="70944"/>
            </a:xfrm>
            <a:prstGeom prst="triangle">
              <a:avLst/>
            </a:prstGeom>
            <a:solidFill>
              <a:srgbClr val="A7A8A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49" name="Freeform 433">
              <a:extLst>
                <a:ext uri="{FF2B5EF4-FFF2-40B4-BE49-F238E27FC236}">
                  <a16:creationId xmlns:a16="http://schemas.microsoft.com/office/drawing/2014/main" id="{C9E828B6-DD26-13CD-CA10-8AB238BD4CFB}"/>
                </a:ext>
              </a:extLst>
            </p:cNvPr>
            <p:cNvSpPr>
              <a:spLocks noEditPoints="1"/>
            </p:cNvSpPr>
            <p:nvPr/>
          </p:nvSpPr>
          <p:spPr bwMode="auto">
            <a:xfrm>
              <a:off x="748851" y="2538341"/>
              <a:ext cx="408351" cy="410278"/>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solidFill>
              <a:srgbClr val="00A3E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51" name="Arc 50">
              <a:extLst>
                <a:ext uri="{FF2B5EF4-FFF2-40B4-BE49-F238E27FC236}">
                  <a16:creationId xmlns:a16="http://schemas.microsoft.com/office/drawing/2014/main" id="{38E3E490-88A5-9DCE-4E69-1C00A7706D1A}"/>
                </a:ext>
              </a:extLst>
            </p:cNvPr>
            <p:cNvSpPr/>
            <p:nvPr/>
          </p:nvSpPr>
          <p:spPr bwMode="gray">
            <a:xfrm>
              <a:off x="2400288" y="2665379"/>
              <a:ext cx="1714547" cy="1714547"/>
            </a:xfrm>
            <a:prstGeom prst="arc">
              <a:avLst>
                <a:gd name="adj1" fmla="val 476881"/>
                <a:gd name="adj2" fmla="val 8893727"/>
              </a:avLst>
            </a:prstGeom>
            <a:noFill/>
            <a:ln w="12700" algn="ctr">
              <a:solidFill>
                <a:srgbClr val="00A3E0"/>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61" name="Arc 60">
              <a:extLst>
                <a:ext uri="{FF2B5EF4-FFF2-40B4-BE49-F238E27FC236}">
                  <a16:creationId xmlns:a16="http://schemas.microsoft.com/office/drawing/2014/main" id="{D28754F0-9EC0-0C00-C460-FF59BA60D442}"/>
                </a:ext>
              </a:extLst>
            </p:cNvPr>
            <p:cNvSpPr/>
            <p:nvPr/>
          </p:nvSpPr>
          <p:spPr bwMode="gray">
            <a:xfrm>
              <a:off x="5090730" y="3992988"/>
              <a:ext cx="1714547" cy="1714547"/>
            </a:xfrm>
            <a:prstGeom prst="arc">
              <a:avLst>
                <a:gd name="adj1" fmla="val 10851493"/>
                <a:gd name="adj2" fmla="val 19983526"/>
              </a:avLst>
            </a:prstGeom>
            <a:noFill/>
            <a:ln w="12700" algn="ctr">
              <a:solidFill>
                <a:schemeClr val="accent5"/>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62" name="Arc 61">
              <a:extLst>
                <a:ext uri="{FF2B5EF4-FFF2-40B4-BE49-F238E27FC236}">
                  <a16:creationId xmlns:a16="http://schemas.microsoft.com/office/drawing/2014/main" id="{224CC8CF-9D67-99DE-F34C-9A217CDA4130}"/>
                </a:ext>
              </a:extLst>
            </p:cNvPr>
            <p:cNvSpPr/>
            <p:nvPr/>
          </p:nvSpPr>
          <p:spPr bwMode="gray">
            <a:xfrm>
              <a:off x="2417292" y="1287390"/>
              <a:ext cx="1714547" cy="1714547"/>
            </a:xfrm>
            <a:prstGeom prst="arc">
              <a:avLst>
                <a:gd name="adj1" fmla="val 10944444"/>
                <a:gd name="adj2" fmla="val 19861694"/>
              </a:avLst>
            </a:prstGeom>
            <a:noFill/>
            <a:ln w="12700" algn="ctr">
              <a:solidFill>
                <a:schemeClr val="tx1">
                  <a:lumMod val="65000"/>
                  <a:lumOff val="3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sp>
          <p:nvSpPr>
            <p:cNvPr id="64" name="Arc 63">
              <a:extLst>
                <a:ext uri="{FF2B5EF4-FFF2-40B4-BE49-F238E27FC236}">
                  <a16:creationId xmlns:a16="http://schemas.microsoft.com/office/drawing/2014/main" id="{DDF6BB5C-8704-B17D-9EA2-C310B663232E}"/>
                </a:ext>
              </a:extLst>
            </p:cNvPr>
            <p:cNvSpPr/>
            <p:nvPr/>
          </p:nvSpPr>
          <p:spPr bwMode="gray">
            <a:xfrm>
              <a:off x="3752030" y="4009203"/>
              <a:ext cx="1714547" cy="1714547"/>
            </a:xfrm>
            <a:prstGeom prst="arc">
              <a:avLst>
                <a:gd name="adj1" fmla="val 2767028"/>
                <a:gd name="adj2" fmla="val 8942080"/>
              </a:avLst>
            </a:prstGeom>
            <a:noFill/>
            <a:ln w="12700" algn="ctr">
              <a:solidFill>
                <a:schemeClr val="tx1">
                  <a:lumMod val="65000"/>
                  <a:lumOff val="3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Light"/>
                <a:ea typeface="+mn-ea"/>
                <a:cs typeface="+mn-cs"/>
              </a:endParaRPr>
            </a:p>
          </p:txBody>
        </p:sp>
        <p:cxnSp>
          <p:nvCxnSpPr>
            <p:cNvPr id="65" name="Straight Connector 64">
              <a:extLst>
                <a:ext uri="{FF2B5EF4-FFF2-40B4-BE49-F238E27FC236}">
                  <a16:creationId xmlns:a16="http://schemas.microsoft.com/office/drawing/2014/main" id="{B0E1771B-234E-C998-FC57-18D58167BAC1}"/>
                </a:ext>
              </a:extLst>
            </p:cNvPr>
            <p:cNvCxnSpPr/>
            <p:nvPr/>
          </p:nvCxnSpPr>
          <p:spPr>
            <a:xfrm>
              <a:off x="6512054" y="5756308"/>
              <a:ext cx="2631946" cy="0"/>
            </a:xfrm>
            <a:prstGeom prst="line">
              <a:avLst/>
            </a:prstGeom>
            <a:ln w="12700">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58EB2C1-80B2-4DBA-804B-7192EF83D3CC}"/>
                </a:ext>
              </a:extLst>
            </p:cNvPr>
            <p:cNvCxnSpPr/>
            <p:nvPr/>
          </p:nvCxnSpPr>
          <p:spPr>
            <a:xfrm>
              <a:off x="1228294" y="2563570"/>
              <a:ext cx="1149397" cy="0"/>
            </a:xfrm>
            <a:prstGeom prst="line">
              <a:avLst/>
            </a:prstGeom>
            <a:noFill/>
            <a:ln w="12700" algn="ctr">
              <a:solidFill>
                <a:schemeClr val="tx1">
                  <a:lumMod val="65000"/>
                  <a:lumOff val="35000"/>
                </a:schemeClr>
              </a:solidFill>
              <a:prstDash val="dash"/>
              <a:miter lim="800000"/>
              <a:headEnd/>
              <a:tailEnd/>
            </a:ln>
          </p:spPr>
        </p:cxnSp>
      </p:grpSp>
      <p:sp>
        <p:nvSpPr>
          <p:cNvPr id="67" name="Rectangle 66">
            <a:extLst>
              <a:ext uri="{FF2B5EF4-FFF2-40B4-BE49-F238E27FC236}">
                <a16:creationId xmlns:a16="http://schemas.microsoft.com/office/drawing/2014/main" id="{4D11D434-C6EF-629E-E6E6-1102CEAFDD21}"/>
              </a:ext>
            </a:extLst>
          </p:cNvPr>
          <p:cNvSpPr/>
          <p:nvPr/>
        </p:nvSpPr>
        <p:spPr bwMode="gray">
          <a:xfrm>
            <a:off x="7534595" y="1522509"/>
            <a:ext cx="3476703" cy="533891"/>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1" u="none" strike="noStrike" kern="1200" cap="none" spc="0" normalizeH="0" baseline="0" noProof="0" dirty="0">
                <a:ln>
                  <a:noFill/>
                </a:ln>
                <a:solidFill>
                  <a:prstClr val="black"/>
                </a:solidFill>
                <a:effectLst/>
                <a:uLnTx/>
                <a:uFillTx/>
                <a:cs typeface="Calibri" panose="020F0502020204030204" pitchFamily="34" charset="0"/>
              </a:rPr>
              <a:t>Ensuring uniformity and quality in data from diverse sources within the power sector poses a significant hurdle. Acquiring accurate and up-to-date data while adhering to standardized formats is crucial for effective GIS implementation.</a:t>
            </a:r>
          </a:p>
        </p:txBody>
      </p:sp>
      <p:sp>
        <p:nvSpPr>
          <p:cNvPr id="68" name="Rectangle 67">
            <a:extLst>
              <a:ext uri="{FF2B5EF4-FFF2-40B4-BE49-F238E27FC236}">
                <a16:creationId xmlns:a16="http://schemas.microsoft.com/office/drawing/2014/main" id="{0A8D25E4-CAB7-4289-8FA9-84531A555203}"/>
              </a:ext>
            </a:extLst>
          </p:cNvPr>
          <p:cNvSpPr/>
          <p:nvPr/>
        </p:nvSpPr>
        <p:spPr bwMode="gray">
          <a:xfrm>
            <a:off x="8875340" y="2947077"/>
            <a:ext cx="2880078" cy="533891"/>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1" u="none" strike="noStrike" kern="1200" cap="none" spc="0" normalizeH="0" baseline="0" noProof="0" dirty="0">
                <a:ln>
                  <a:noFill/>
                </a:ln>
                <a:solidFill>
                  <a:prstClr val="black"/>
                </a:solidFill>
                <a:effectLst/>
                <a:uLnTx/>
                <a:uFillTx/>
                <a:cs typeface="Calibri" panose="020F0502020204030204" pitchFamily="34" charset="0"/>
              </a:rPr>
              <a:t>The scarcity of professionals with adequate GIS expertise within the power sector can impede successful implementation. Training and developing skilled personnel are essential to effectively utilize GIS tools and technologies.</a:t>
            </a:r>
          </a:p>
        </p:txBody>
      </p:sp>
      <p:sp>
        <p:nvSpPr>
          <p:cNvPr id="69" name="Rectangle 68">
            <a:extLst>
              <a:ext uri="{FF2B5EF4-FFF2-40B4-BE49-F238E27FC236}">
                <a16:creationId xmlns:a16="http://schemas.microsoft.com/office/drawing/2014/main" id="{C2B84742-F84D-305F-65BC-3D805111940C}"/>
              </a:ext>
            </a:extLst>
          </p:cNvPr>
          <p:cNvSpPr/>
          <p:nvPr/>
        </p:nvSpPr>
        <p:spPr bwMode="gray">
          <a:xfrm>
            <a:off x="10315379" y="4131651"/>
            <a:ext cx="1594966" cy="1251586"/>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1" u="none" strike="noStrike" kern="1200" cap="none" spc="0" normalizeH="0" baseline="0" noProof="0" dirty="0">
                <a:ln>
                  <a:noFill/>
                </a:ln>
                <a:solidFill>
                  <a:prstClr val="black"/>
                </a:solidFill>
                <a:effectLst/>
                <a:uLnTx/>
                <a:uFillTx/>
                <a:cs typeface="Calibri" panose="020F0502020204030204" pitchFamily="34" charset="0"/>
              </a:rPr>
              <a:t>Identifying and defining the diverse categories of users, their workflows, and the specific data requirements across different departments in the power sector is a complex undertaking.</a:t>
            </a:r>
          </a:p>
        </p:txBody>
      </p:sp>
      <p:sp>
        <p:nvSpPr>
          <p:cNvPr id="79" name="Rectangle 78">
            <a:extLst>
              <a:ext uri="{FF2B5EF4-FFF2-40B4-BE49-F238E27FC236}">
                <a16:creationId xmlns:a16="http://schemas.microsoft.com/office/drawing/2014/main" id="{A9431E42-40EA-4BCF-7BAE-119C6DD74860}"/>
              </a:ext>
            </a:extLst>
          </p:cNvPr>
          <p:cNvSpPr/>
          <p:nvPr/>
        </p:nvSpPr>
        <p:spPr bwMode="gray">
          <a:xfrm>
            <a:off x="246431" y="3146056"/>
            <a:ext cx="1576284" cy="533891"/>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1" u="none" strike="noStrike" kern="1200" cap="none" spc="0" normalizeH="0" baseline="0" noProof="0" dirty="0">
                <a:ln>
                  <a:noFill/>
                </a:ln>
                <a:solidFill>
                  <a:prstClr val="black"/>
                </a:solidFill>
                <a:effectLst/>
                <a:uLnTx/>
                <a:uFillTx/>
                <a:cs typeface="Calibri" panose="020F0502020204030204" pitchFamily="34" charset="0"/>
              </a:rPr>
              <a:t>The deployment of Enterprise GIS within the power sector involves the integration of complex technologies, such as spatial databases, web mapping services, and real-time monitoring systems.</a:t>
            </a:r>
          </a:p>
        </p:txBody>
      </p:sp>
      <p:sp>
        <p:nvSpPr>
          <p:cNvPr id="80" name="Rectangle 79">
            <a:extLst>
              <a:ext uri="{FF2B5EF4-FFF2-40B4-BE49-F238E27FC236}">
                <a16:creationId xmlns:a16="http://schemas.microsoft.com/office/drawing/2014/main" id="{3EEBC784-FFA0-4E30-48F9-3A56D2461E0F}"/>
              </a:ext>
            </a:extLst>
          </p:cNvPr>
          <p:cNvSpPr/>
          <p:nvPr/>
        </p:nvSpPr>
        <p:spPr bwMode="gray">
          <a:xfrm>
            <a:off x="1641050" y="5123009"/>
            <a:ext cx="2604661" cy="533891"/>
          </a:xfrm>
          <a:prstGeom prst="rect">
            <a:avLst/>
          </a:prstGeom>
          <a:pattFill prst="pct10">
            <a:fgClr>
              <a:srgbClr val="E3E48D"/>
            </a:fgClr>
            <a:bgClr>
              <a:schemeClr val="bg1"/>
            </a:bgClr>
          </a:pattFill>
          <a:ln w="19050" algn="ctr">
            <a:noFill/>
            <a:miter lim="800000"/>
            <a:headEnd/>
            <a:tailEnd/>
          </a:ln>
        </p:spPr>
        <p:txBody>
          <a:bodyPr wrap="square" lIns="88900" tIns="88900" rIns="88900" bIns="88900" rtlCol="0" anchor="ctr"/>
          <a:lstStyle/>
          <a:p>
            <a:pPr marR="0" lvl="0" algn="just" defTabSz="914400" rtl="0" eaLnBrk="1" fontAlgn="auto" latinLnBrk="0" hangingPunct="1">
              <a:lnSpc>
                <a:spcPct val="100000"/>
              </a:lnSpc>
              <a:spcBef>
                <a:spcPts val="0"/>
              </a:spcBef>
              <a:spcAft>
                <a:spcPts val="0"/>
              </a:spcAft>
              <a:buClrTx/>
              <a:buSzTx/>
              <a:tabLst/>
              <a:defRPr/>
            </a:pPr>
            <a:r>
              <a:rPr kumimoji="0" lang="en-US" sz="1000" b="0" i="1" u="none" strike="noStrike" kern="1200" cap="none" spc="0" normalizeH="0" baseline="0" noProof="0" dirty="0">
                <a:ln>
                  <a:noFill/>
                </a:ln>
                <a:solidFill>
                  <a:prstClr val="black"/>
                </a:solidFill>
                <a:effectLst/>
                <a:uLnTx/>
                <a:uFillTx/>
                <a:cs typeface="Calibri" panose="020F0502020204030204" pitchFamily="34" charset="0"/>
              </a:rPr>
              <a:t>Designing an Enterprise GIS system for the power sector requires meticulous planning to address the needs of various user groups, data types, and operational processes. </a:t>
            </a:r>
          </a:p>
        </p:txBody>
      </p:sp>
      <p:sp>
        <p:nvSpPr>
          <p:cNvPr id="81" name="TextBox 80">
            <a:extLst>
              <a:ext uri="{FF2B5EF4-FFF2-40B4-BE49-F238E27FC236}">
                <a16:creationId xmlns:a16="http://schemas.microsoft.com/office/drawing/2014/main" id="{F826FAD0-4A2B-8B1E-7512-F029928F30BD}"/>
              </a:ext>
            </a:extLst>
          </p:cNvPr>
          <p:cNvSpPr txBox="1"/>
          <p:nvPr/>
        </p:nvSpPr>
        <p:spPr>
          <a:xfrm>
            <a:off x="514664" y="6126375"/>
            <a:ext cx="4829496" cy="2769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*Challenges of PSU power utilities in GIS solution implementation are provided in </a:t>
            </a:r>
            <a:r>
              <a:rPr lang="en-US" sz="900" i="1" dirty="0">
                <a:solidFill>
                  <a:schemeClr val="accent6"/>
                </a:solidFill>
                <a:hlinkClick r:id="rId5" action="ppaction://hlinksldjump">
                  <a:extLst>
                    <a:ext uri="{A12FA001-AC4F-418D-AE19-62706E023703}">
                      <ahyp:hlinkClr xmlns:ahyp="http://schemas.microsoft.com/office/drawing/2018/hyperlinkcolor" val="tx"/>
                    </a:ext>
                  </a:extLst>
                </a:hlinkClick>
              </a:rPr>
              <a:t>Annexure</a:t>
            </a:r>
            <a:endParaRPr lang="en-US" sz="900" i="1" dirty="0">
              <a:solidFill>
                <a:schemeClr val="accent6"/>
              </a:solidFill>
            </a:endParaRPr>
          </a:p>
        </p:txBody>
      </p:sp>
    </p:spTree>
    <p:extLst>
      <p:ext uri="{BB962C8B-B14F-4D97-AF65-F5344CB8AC3E}">
        <p14:creationId xmlns:p14="http://schemas.microsoft.com/office/powerpoint/2010/main" val="1177711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E970D-93FF-D3CC-8D1E-96B37143DAC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19C4389-FC4A-B073-9221-88C584DD70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2B81E8E2-92A0-CBC2-31CF-8391D63C0A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3B6C83BC-A35F-898D-E17E-B5FDDD567729}"/>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Key Takeaways</a:t>
            </a:r>
          </a:p>
        </p:txBody>
      </p:sp>
      <p:cxnSp>
        <p:nvCxnSpPr>
          <p:cNvPr id="92" name="Straight Connector 91">
            <a:extLst>
              <a:ext uri="{FF2B5EF4-FFF2-40B4-BE49-F238E27FC236}">
                <a16:creationId xmlns:a16="http://schemas.microsoft.com/office/drawing/2014/main" id="{7A0440A4-161A-3262-E34B-60E7B0302268}"/>
              </a:ext>
            </a:extLst>
          </p:cNvPr>
          <p:cNvCxnSpPr>
            <a:cxnSpLocks/>
          </p:cNvCxnSpPr>
          <p:nvPr/>
        </p:nvCxnSpPr>
        <p:spPr>
          <a:xfrm flipV="1">
            <a:off x="514664" y="68599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41181586-4B74-057B-B225-F653A0BF6736}"/>
              </a:ext>
            </a:extLst>
          </p:cNvPr>
          <p:cNvSpPr/>
          <p:nvPr/>
        </p:nvSpPr>
        <p:spPr bwMode="gray">
          <a:xfrm>
            <a:off x="1484243" y="1560442"/>
            <a:ext cx="10058400" cy="4437195"/>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b="1" dirty="0">
                <a:solidFill>
                  <a:schemeClr val="tx1"/>
                </a:solidFill>
              </a:rPr>
              <a:t>Growth trend in both Indian Power Sector as well as global GIS market (with countries like India and China leading in the Asia Pacific region as per market research reports)</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Increasing trend of Indian Power Utilities adopting GIS</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Opportunity for Deloitte to tap into growing GIS market especially with respect to the Power sector</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Significant on-ground personnel with relevant experience would likely be required</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Relook at Deloitte’s current capabilities to carry out such projects and addressing gaps if any finds some merit</a:t>
            </a:r>
          </a:p>
        </p:txBody>
      </p:sp>
      <p:pic>
        <p:nvPicPr>
          <p:cNvPr id="3" name="Graphic 2" descr="Right pointing backhand index with solid fill">
            <a:extLst>
              <a:ext uri="{FF2B5EF4-FFF2-40B4-BE49-F238E27FC236}">
                <a16:creationId xmlns:a16="http://schemas.microsoft.com/office/drawing/2014/main" id="{C49A3418-CFC5-2FD7-AFFB-0865B920A4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72" y="1801728"/>
            <a:ext cx="673067" cy="673067"/>
          </a:xfrm>
          <a:prstGeom prst="rect">
            <a:avLst/>
          </a:prstGeom>
        </p:spPr>
      </p:pic>
      <p:pic>
        <p:nvPicPr>
          <p:cNvPr id="4" name="Graphic 3" descr="Right pointing backhand index with solid fill">
            <a:extLst>
              <a:ext uri="{FF2B5EF4-FFF2-40B4-BE49-F238E27FC236}">
                <a16:creationId xmlns:a16="http://schemas.microsoft.com/office/drawing/2014/main" id="{8819CF1F-163A-8A43-0D7A-58862AF577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71" y="2757453"/>
            <a:ext cx="673067" cy="673067"/>
          </a:xfrm>
          <a:prstGeom prst="rect">
            <a:avLst/>
          </a:prstGeom>
        </p:spPr>
      </p:pic>
      <p:pic>
        <p:nvPicPr>
          <p:cNvPr id="7" name="Graphic 6" descr="Right pointing backhand index with solid fill">
            <a:extLst>
              <a:ext uri="{FF2B5EF4-FFF2-40B4-BE49-F238E27FC236}">
                <a16:creationId xmlns:a16="http://schemas.microsoft.com/office/drawing/2014/main" id="{F729AAE2-C02D-6D84-F5C4-CD08CE207A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9357" y="4215637"/>
            <a:ext cx="673067" cy="673067"/>
          </a:xfrm>
          <a:prstGeom prst="rect">
            <a:avLst/>
          </a:prstGeom>
        </p:spPr>
      </p:pic>
      <p:pic>
        <p:nvPicPr>
          <p:cNvPr id="9" name="Graphic 8" descr="Right pointing backhand index with solid fill">
            <a:extLst>
              <a:ext uri="{FF2B5EF4-FFF2-40B4-BE49-F238E27FC236}">
                <a16:creationId xmlns:a16="http://schemas.microsoft.com/office/drawing/2014/main" id="{1216163B-4B7D-B6CE-0FF0-9CBBB0F504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71" y="5118816"/>
            <a:ext cx="673067" cy="673067"/>
          </a:xfrm>
          <a:prstGeom prst="rect">
            <a:avLst/>
          </a:prstGeom>
        </p:spPr>
      </p:pic>
      <p:pic>
        <p:nvPicPr>
          <p:cNvPr id="10" name="Graphic 9" descr="Right pointing backhand index with solid fill">
            <a:extLst>
              <a:ext uri="{FF2B5EF4-FFF2-40B4-BE49-F238E27FC236}">
                <a16:creationId xmlns:a16="http://schemas.microsoft.com/office/drawing/2014/main" id="{C2BCB5B6-0ED3-0140-5F5A-F28062C0D5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0179" y="3427514"/>
            <a:ext cx="673067" cy="673067"/>
          </a:xfrm>
          <a:prstGeom prst="rect">
            <a:avLst/>
          </a:prstGeom>
        </p:spPr>
      </p:pic>
    </p:spTree>
    <p:extLst>
      <p:ext uri="{BB962C8B-B14F-4D97-AF65-F5344CB8AC3E}">
        <p14:creationId xmlns:p14="http://schemas.microsoft.com/office/powerpoint/2010/main" val="1716672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797246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86BC25"/>
            </a:solidFill>
          </a:ln>
        </p:spPr>
        <p:style>
          <a:lnRef idx="1">
            <a:schemeClr val="accent1"/>
          </a:lnRef>
          <a:fillRef idx="0">
            <a:schemeClr val="accent1"/>
          </a:fillRef>
          <a:effectRef idx="0">
            <a:schemeClr val="accent1"/>
          </a:effectRef>
          <a:fontRef idx="minor">
            <a:schemeClr val="tx1"/>
          </a:fontRef>
        </p:style>
      </p:cxnSp>
      <p:sp>
        <p:nvSpPr>
          <p:cNvPr id="5" name="Title 3">
            <a:extLst>
              <a:ext uri="{FF2B5EF4-FFF2-40B4-BE49-F238E27FC236}">
                <a16:creationId xmlns:a16="http://schemas.microsoft.com/office/drawing/2014/main" id="{65527A5E-F1EB-8B46-2365-FE82507EED67}"/>
              </a:ext>
            </a:extLst>
          </p:cNvPr>
          <p:cNvSpPr>
            <a:spLocks noGrp="1"/>
          </p:cNvSpPr>
          <p:nvPr>
            <p:ph type="title"/>
          </p:nvPr>
        </p:nvSpPr>
        <p:spPr>
          <a:xfrm>
            <a:off x="219528" y="2736849"/>
            <a:ext cx="11252200" cy="692151"/>
          </a:xfrm>
        </p:spPr>
        <p:txBody>
          <a:bodyPr vert="horz"/>
          <a:lstStyle/>
          <a:p>
            <a:pPr marL="990600" indent="-990600"/>
            <a:r>
              <a:rPr lang="en-US" sz="2800" i="0" dirty="0">
                <a:solidFill>
                  <a:schemeClr val="bg1"/>
                </a:solidFill>
              </a:rPr>
              <a:t>Annexures</a:t>
            </a:r>
            <a:endParaRPr lang="en-US" i="0" dirty="0">
              <a:solidFill>
                <a:schemeClr val="bg1"/>
              </a:solidFill>
            </a:endParaRPr>
          </a:p>
        </p:txBody>
      </p:sp>
    </p:spTree>
    <p:extLst>
      <p:ext uri="{BB962C8B-B14F-4D97-AF65-F5344CB8AC3E}">
        <p14:creationId xmlns:p14="http://schemas.microsoft.com/office/powerpoint/2010/main" val="1172142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22499-01CE-C37B-01E5-575730A192A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0CBD0AF-27CA-8B11-4517-E41E92171D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D0CBD0AF-27CA-8B11-4517-E41E92171D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82A09BE4-7189-19AA-7D1F-CFBDCF21195B}"/>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Scope and challenges of GIS implementation under RAPDRP scheme</a:t>
            </a:r>
          </a:p>
        </p:txBody>
      </p:sp>
      <p:cxnSp>
        <p:nvCxnSpPr>
          <p:cNvPr id="92" name="Straight Connector 91">
            <a:extLst>
              <a:ext uri="{FF2B5EF4-FFF2-40B4-BE49-F238E27FC236}">
                <a16:creationId xmlns:a16="http://schemas.microsoft.com/office/drawing/2014/main" id="{399E52F8-871F-0204-96B9-B034CE860257}"/>
              </a:ext>
            </a:extLst>
          </p:cNvPr>
          <p:cNvCxnSpPr>
            <a:cxnSpLocks/>
          </p:cNvCxnSpPr>
          <p:nvPr/>
        </p:nvCxnSpPr>
        <p:spPr>
          <a:xfrm flipV="1">
            <a:off x="498000" y="642398"/>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 name="Diagram 8">
            <a:extLst>
              <a:ext uri="{FF2B5EF4-FFF2-40B4-BE49-F238E27FC236}">
                <a16:creationId xmlns:a16="http://schemas.microsoft.com/office/drawing/2014/main" id="{27A4EAD6-756A-0583-ECB3-2062E795171D}"/>
              </a:ext>
            </a:extLst>
          </p:cNvPr>
          <p:cNvGraphicFramePr/>
          <p:nvPr>
            <p:extLst>
              <p:ext uri="{D42A27DB-BD31-4B8C-83A1-F6EECF244321}">
                <p14:modId xmlns:p14="http://schemas.microsoft.com/office/powerpoint/2010/main" val="4041379779"/>
              </p:ext>
            </p:extLst>
          </p:nvPr>
        </p:nvGraphicFramePr>
        <p:xfrm>
          <a:off x="353120" y="1486131"/>
          <a:ext cx="5096864" cy="448507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2" name="Straight Connector 1">
            <a:extLst>
              <a:ext uri="{FF2B5EF4-FFF2-40B4-BE49-F238E27FC236}">
                <a16:creationId xmlns:a16="http://schemas.microsoft.com/office/drawing/2014/main" id="{7AB72800-5A2D-1303-A977-B8694325F084}"/>
              </a:ext>
            </a:extLst>
          </p:cNvPr>
          <p:cNvCxnSpPr>
            <a:cxnSpLocks/>
          </p:cNvCxnSpPr>
          <p:nvPr/>
        </p:nvCxnSpPr>
        <p:spPr>
          <a:xfrm>
            <a:off x="610917" y="1219766"/>
            <a:ext cx="47407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Box 31">
            <a:extLst>
              <a:ext uri="{FF2B5EF4-FFF2-40B4-BE49-F238E27FC236}">
                <a16:creationId xmlns:a16="http://schemas.microsoft.com/office/drawing/2014/main" id="{B9E6272E-F05F-CA35-F0C4-F2E7C522D6C1}"/>
              </a:ext>
            </a:extLst>
          </p:cNvPr>
          <p:cNvSpPr txBox="1">
            <a:spLocks noChangeArrowheads="1"/>
          </p:cNvSpPr>
          <p:nvPr/>
        </p:nvSpPr>
        <p:spPr bwMode="auto">
          <a:xfrm>
            <a:off x="1818155" y="1088961"/>
            <a:ext cx="2326253"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Scope of GIS in RAPDRP</a:t>
            </a:r>
            <a:endParaRPr lang="id-ID" sz="1100" b="1" i="1" dirty="0">
              <a:latin typeface="+mn-lt"/>
              <a:ea typeface="Lato Black" pitchFamily="34" charset="0"/>
              <a:cs typeface="Lato Black" pitchFamily="34" charset="0"/>
            </a:endParaRPr>
          </a:p>
        </p:txBody>
      </p:sp>
      <p:sp>
        <p:nvSpPr>
          <p:cNvPr id="4" name="Arrow: Left 3">
            <a:hlinkClick r:id="rId11" action="ppaction://hlinksldjump"/>
            <a:extLst>
              <a:ext uri="{FF2B5EF4-FFF2-40B4-BE49-F238E27FC236}">
                <a16:creationId xmlns:a16="http://schemas.microsoft.com/office/drawing/2014/main" id="{C6AF2293-9B0C-B970-6CA2-159BC9E305DF}"/>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hlinkClick r:id="rId11" action="ppaction://hlinksldjump">
                  <a:extLst>
                    <a:ext uri="{A12FA001-AC4F-418D-AE19-62706E023703}">
                      <ahyp:hlinkClr xmlns:ahyp="http://schemas.microsoft.com/office/drawing/2018/hyperlinkcolor" val="tx"/>
                    </a:ext>
                  </a:extLst>
                </a:hlinkClick>
              </a:rPr>
              <a:t>Back</a:t>
            </a:r>
            <a:endParaRPr lang="en-US" b="1" dirty="0">
              <a:solidFill>
                <a:schemeClr val="bg1"/>
              </a:solidFill>
            </a:endParaRPr>
          </a:p>
        </p:txBody>
      </p:sp>
      <p:cxnSp>
        <p:nvCxnSpPr>
          <p:cNvPr id="10" name="Straight Connector 9">
            <a:extLst>
              <a:ext uri="{FF2B5EF4-FFF2-40B4-BE49-F238E27FC236}">
                <a16:creationId xmlns:a16="http://schemas.microsoft.com/office/drawing/2014/main" id="{D54653E5-2059-9B68-12EC-F77FAE7F3AC9}"/>
              </a:ext>
            </a:extLst>
          </p:cNvPr>
          <p:cNvCxnSpPr>
            <a:cxnSpLocks/>
          </p:cNvCxnSpPr>
          <p:nvPr/>
        </p:nvCxnSpPr>
        <p:spPr>
          <a:xfrm>
            <a:off x="6564429" y="1219766"/>
            <a:ext cx="503401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31">
            <a:extLst>
              <a:ext uri="{FF2B5EF4-FFF2-40B4-BE49-F238E27FC236}">
                <a16:creationId xmlns:a16="http://schemas.microsoft.com/office/drawing/2014/main" id="{68FD8639-2B53-C74F-B98B-6ED23B331D79}"/>
              </a:ext>
            </a:extLst>
          </p:cNvPr>
          <p:cNvSpPr txBox="1">
            <a:spLocks noChangeArrowheads="1"/>
          </p:cNvSpPr>
          <p:nvPr/>
        </p:nvSpPr>
        <p:spPr bwMode="auto">
          <a:xfrm>
            <a:off x="8336260" y="1104614"/>
            <a:ext cx="1806488"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Challenges</a:t>
            </a:r>
            <a:endParaRPr lang="id-ID" sz="1100" b="1" i="1" dirty="0">
              <a:latin typeface="+mn-lt"/>
              <a:ea typeface="Lato Black" pitchFamily="34" charset="0"/>
              <a:cs typeface="Lato Black" pitchFamily="34" charset="0"/>
            </a:endParaRPr>
          </a:p>
        </p:txBody>
      </p:sp>
      <p:graphicFrame>
        <p:nvGraphicFramePr>
          <p:cNvPr id="12" name="Diagram 11">
            <a:extLst>
              <a:ext uri="{FF2B5EF4-FFF2-40B4-BE49-F238E27FC236}">
                <a16:creationId xmlns:a16="http://schemas.microsoft.com/office/drawing/2014/main" id="{95250082-3AE6-2F93-C0A6-9A9260255998}"/>
              </a:ext>
            </a:extLst>
          </p:cNvPr>
          <p:cNvGraphicFramePr/>
          <p:nvPr>
            <p:extLst>
              <p:ext uri="{D42A27DB-BD31-4B8C-83A1-F6EECF244321}">
                <p14:modId xmlns:p14="http://schemas.microsoft.com/office/powerpoint/2010/main" val="1782749327"/>
              </p:ext>
            </p:extLst>
          </p:nvPr>
        </p:nvGraphicFramePr>
        <p:xfrm>
          <a:off x="6333798" y="1516277"/>
          <a:ext cx="5360202" cy="457226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cxnSp>
        <p:nvCxnSpPr>
          <p:cNvPr id="18" name="Straight Connector 17">
            <a:extLst>
              <a:ext uri="{FF2B5EF4-FFF2-40B4-BE49-F238E27FC236}">
                <a16:creationId xmlns:a16="http://schemas.microsoft.com/office/drawing/2014/main" id="{B6DCC837-510C-A4C1-8B7A-D7C497E4662D}"/>
              </a:ext>
            </a:extLst>
          </p:cNvPr>
          <p:cNvCxnSpPr/>
          <p:nvPr/>
        </p:nvCxnSpPr>
        <p:spPr>
          <a:xfrm>
            <a:off x="5813658" y="1219766"/>
            <a:ext cx="0" cy="4959653"/>
          </a:xfrm>
          <a:prstGeom prst="line">
            <a:avLst/>
          </a:prstGeom>
          <a:ln w="38100">
            <a:solidFill>
              <a:schemeClr val="tx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92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19A9-78EB-EE21-876C-D014E56AA93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CFDA150-AD4C-8348-AB8D-6B1BAB58C1C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D0CBD0AF-27CA-8B11-4517-E41E92171D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C206BBF9-FB0E-6ECA-B0D2-3C5975ACE7EB}"/>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Challenges of PSU power utilities in GIS solution implementation (as observed)</a:t>
            </a:r>
          </a:p>
        </p:txBody>
      </p:sp>
      <p:cxnSp>
        <p:nvCxnSpPr>
          <p:cNvPr id="92" name="Straight Connector 91">
            <a:extLst>
              <a:ext uri="{FF2B5EF4-FFF2-40B4-BE49-F238E27FC236}">
                <a16:creationId xmlns:a16="http://schemas.microsoft.com/office/drawing/2014/main" id="{6A997E40-5EC8-4678-60A0-33CE9402B6A7}"/>
              </a:ext>
            </a:extLst>
          </p:cNvPr>
          <p:cNvCxnSpPr>
            <a:cxnSpLocks/>
          </p:cNvCxnSpPr>
          <p:nvPr/>
        </p:nvCxnSpPr>
        <p:spPr>
          <a:xfrm flipV="1">
            <a:off x="498000" y="642398"/>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Arrow: Left 3">
            <a:hlinkClick r:id="rId6" action="ppaction://hlinksldjump"/>
            <a:extLst>
              <a:ext uri="{FF2B5EF4-FFF2-40B4-BE49-F238E27FC236}">
                <a16:creationId xmlns:a16="http://schemas.microsoft.com/office/drawing/2014/main" id="{637A2F31-D388-73D5-FBEE-277AA99930C9}"/>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bg1"/>
              </a:solidFill>
            </a:endParaRPr>
          </a:p>
        </p:txBody>
      </p:sp>
      <p:sp>
        <p:nvSpPr>
          <p:cNvPr id="7" name="Rectangle: Rounded Corners 6">
            <a:extLst>
              <a:ext uri="{FF2B5EF4-FFF2-40B4-BE49-F238E27FC236}">
                <a16:creationId xmlns:a16="http://schemas.microsoft.com/office/drawing/2014/main" id="{BBDD0D89-FAD0-3670-9D29-BA5FA14706F0}"/>
              </a:ext>
            </a:extLst>
          </p:cNvPr>
          <p:cNvSpPr/>
          <p:nvPr/>
        </p:nvSpPr>
        <p:spPr bwMode="gray">
          <a:xfrm>
            <a:off x="625642" y="962526"/>
            <a:ext cx="11068358" cy="5125174"/>
          </a:xfrm>
          <a:prstGeom prst="round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marL="342900" marR="0" lvl="0" indent="-342900">
              <a:spcBef>
                <a:spcPts val="0"/>
              </a:spcBef>
              <a:spcAft>
                <a:spcPts val="0"/>
              </a:spcAft>
              <a:buSzPts val="1000"/>
              <a:buFont typeface="Symbol" panose="05050102010706020507" pitchFamily="18" charset="2"/>
              <a:buChar char=""/>
              <a:tabLst>
                <a:tab pos="457200" algn="l"/>
              </a:tabLst>
            </a:pPr>
            <a:r>
              <a:rPr lang="en-US" sz="1600" b="1" dirty="0">
                <a:solidFill>
                  <a:srgbClr val="000000"/>
                </a:solidFill>
                <a:effectLst/>
                <a:latin typeface="UICTFontTextStyleBody"/>
                <a:ea typeface="Times New Roman" panose="02020603050405020304" pitchFamily="18" charset="0"/>
                <a:cs typeface="Aptos" panose="020B0004020202020204" pitchFamily="34" charset="0"/>
              </a:rPr>
              <a:t>Shortage of technical manpower for GIS implementation</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GIS for utilities is not mere mapping, it should replicate the network topology and connection logic. PSU utilities don’t  have tech manpower, nor even understanding of the technology specifications for this.</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00000"/>
                </a:solidFill>
                <a:effectLst/>
                <a:latin typeface="UICTFontTextStyleBody"/>
                <a:ea typeface="Times New Roman" panose="02020603050405020304" pitchFamily="18" charset="0"/>
                <a:cs typeface="Aptos" panose="020B0004020202020204" pitchFamily="34" charset="0"/>
              </a:rPr>
              <a:t>Above brings in complete dependence on external vendors. However, most of the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time due to fund paucity external vendor contracts are terminated before tangible outcome is achieved</a:t>
            </a:r>
            <a:r>
              <a:rPr lang="en-US" sz="1600" dirty="0">
                <a:solidFill>
                  <a:srgbClr val="000000"/>
                </a:solidFill>
                <a:effectLst/>
                <a:latin typeface="UICTFontTextStyleBody"/>
                <a:ea typeface="Times New Roman" panose="02020603050405020304" pitchFamily="18" charset="0"/>
                <a:cs typeface="Aptos" panose="020B0004020202020204" pitchFamily="34" charset="0"/>
              </a:rPr>
              <a:t>.</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b="1" dirty="0">
                <a:solidFill>
                  <a:srgbClr val="000000"/>
                </a:solidFill>
                <a:effectLst/>
                <a:latin typeface="UICTFontTextStyleBody"/>
                <a:ea typeface="Times New Roman" panose="02020603050405020304" pitchFamily="18" charset="0"/>
                <a:cs typeface="Aptos" panose="020B0004020202020204" pitchFamily="34" charset="0"/>
              </a:rPr>
              <a:t>Over dependence on vendor and non-availability of internal monitoring capability </a:t>
            </a:r>
            <a:r>
              <a:rPr lang="en-US" sz="1600" dirty="0">
                <a:solidFill>
                  <a:srgbClr val="000000"/>
                </a:solidFill>
                <a:effectLst/>
                <a:latin typeface="UICTFontTextStyleBody"/>
                <a:ea typeface="Times New Roman" panose="02020603050405020304" pitchFamily="18" charset="0"/>
                <a:cs typeface="Aptos" panose="020B0004020202020204" pitchFamily="34" charset="0"/>
              </a:rPr>
              <a:t>by utility, many a time led to vendor service quality issues are unrecognized. </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b="1" dirty="0">
                <a:solidFill>
                  <a:srgbClr val="000000"/>
                </a:solidFill>
                <a:effectLst/>
                <a:latin typeface="UICTFontTextStyleBody"/>
                <a:ea typeface="Times New Roman" panose="02020603050405020304" pitchFamily="18" charset="0"/>
                <a:cs typeface="Aptos" panose="020B0004020202020204" pitchFamily="34" charset="0"/>
              </a:rPr>
              <a:t>Utilities</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don’t maintain records</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as a result entire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work has to be carried out through field survey</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This in turn brings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dependencies on linemen </a:t>
            </a:r>
            <a:r>
              <a:rPr lang="en-US" sz="1600" dirty="0">
                <a:solidFill>
                  <a:srgbClr val="000000"/>
                </a:solidFill>
                <a:effectLst/>
                <a:latin typeface="UICTFontTextStyleBody"/>
                <a:ea typeface="Times New Roman" panose="02020603050405020304" pitchFamily="18" charset="0"/>
                <a:cs typeface="Aptos" panose="020B0004020202020204" pitchFamily="34" charset="0"/>
              </a:rPr>
              <a:t>who have the knowledge at individual level but in turn are not too keen to engage or cooperate for lack of personal interest.</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b="1" dirty="0">
                <a:solidFill>
                  <a:srgbClr val="000000"/>
                </a:solidFill>
                <a:effectLst/>
                <a:latin typeface="UICTFontTextStyleBody"/>
                <a:ea typeface="Times New Roman" panose="02020603050405020304" pitchFamily="18" charset="0"/>
                <a:cs typeface="Aptos" panose="020B0004020202020204" pitchFamily="34" charset="0"/>
              </a:rPr>
              <a:t>Due to absence of clear understanding</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of the use of GIS use cases,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decisions are delayed at utility side</a:t>
            </a:r>
            <a:r>
              <a:rPr lang="en-US" sz="1600" dirty="0">
                <a:solidFill>
                  <a:srgbClr val="000000"/>
                </a:solidFill>
                <a:effectLst/>
                <a:latin typeface="UICTFontTextStyleBody"/>
                <a:ea typeface="Times New Roman" panose="02020603050405020304" pitchFamily="18" charset="0"/>
                <a:cs typeface="Aptos" panose="020B0004020202020204" pitchFamily="34" charset="0"/>
              </a:rPr>
              <a:t>.</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00000"/>
                </a:solidFill>
                <a:effectLst/>
                <a:latin typeface="UICTFontTextStyleBody"/>
                <a:ea typeface="Times New Roman" panose="02020603050405020304" pitchFamily="18" charset="0"/>
                <a:cs typeface="Aptos" panose="020B0004020202020204" pitchFamily="34" charset="0"/>
              </a:rPr>
              <a:t>Most of the SIs implemented </a:t>
            </a:r>
            <a:r>
              <a:rPr lang="en-US" sz="1600" dirty="0" err="1">
                <a:solidFill>
                  <a:srgbClr val="000000"/>
                </a:solidFill>
                <a:effectLst/>
                <a:latin typeface="UICTFontTextStyleBody"/>
                <a:ea typeface="Times New Roman" panose="02020603050405020304" pitchFamily="18" charset="0"/>
                <a:cs typeface="Aptos" panose="020B0004020202020204" pitchFamily="34" charset="0"/>
              </a:rPr>
              <a:t>ArcFM</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solution or </a:t>
            </a:r>
            <a:r>
              <a:rPr lang="en-US" sz="1600" dirty="0" err="1">
                <a:solidFill>
                  <a:srgbClr val="000000"/>
                </a:solidFill>
                <a:effectLst/>
                <a:latin typeface="UICTFontTextStyleBody"/>
                <a:ea typeface="Times New Roman" panose="02020603050405020304" pitchFamily="18" charset="0"/>
                <a:cs typeface="Aptos" panose="020B0004020202020204" pitchFamily="34" charset="0"/>
              </a:rPr>
              <a:t>GESmall</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world with additional custom development during RAPRDP.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Maintenance of the solution is a costly affair</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and most utilities stopped AMC</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00000"/>
                </a:solidFill>
                <a:effectLst/>
                <a:latin typeface="UICTFontTextStyleBody"/>
                <a:ea typeface="Times New Roman" panose="02020603050405020304" pitchFamily="18" charset="0"/>
                <a:cs typeface="Aptos" panose="020B0004020202020204" pitchFamily="34" charset="0"/>
              </a:rPr>
              <a:t>As utility network constantly evolves,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in the absence of continual update legacy data become unreliable or unusable</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So, for starting fresh the old data also need complete refresh. </a:t>
            </a:r>
            <a:endParaRPr lang="en-US" sz="16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00000"/>
                </a:solidFill>
                <a:effectLst/>
                <a:latin typeface="UICTFontTextStyleBody"/>
                <a:ea typeface="Times New Roman" panose="02020603050405020304" pitchFamily="18" charset="0"/>
                <a:cs typeface="Aptos" panose="020B0004020202020204" pitchFamily="34" charset="0"/>
              </a:rPr>
              <a:t>Due to </a:t>
            </a:r>
            <a:r>
              <a:rPr lang="en-US" sz="1600" b="1" dirty="0">
                <a:solidFill>
                  <a:srgbClr val="000000"/>
                </a:solidFill>
                <a:effectLst/>
                <a:latin typeface="UICTFontTextStyleBody"/>
                <a:ea typeface="Times New Roman" panose="02020603050405020304" pitchFamily="18" charset="0"/>
                <a:cs typeface="Aptos" panose="020B0004020202020204" pitchFamily="34" charset="0"/>
              </a:rPr>
              <a:t>non-availability of vendor support </a:t>
            </a:r>
            <a:r>
              <a:rPr lang="en-US" sz="1600" dirty="0">
                <a:solidFill>
                  <a:srgbClr val="000000"/>
                </a:solidFill>
                <a:effectLst/>
                <a:latin typeface="UICTFontTextStyleBody"/>
                <a:ea typeface="Times New Roman" panose="02020603050405020304" pitchFamily="18" charset="0"/>
                <a:cs typeface="Aptos" panose="020B0004020202020204" pitchFamily="34" charset="0"/>
              </a:rPr>
              <a:t>most utilities are not able to download data created or migrate to low cost solutions </a:t>
            </a:r>
            <a:endParaRPr lang="en-US" sz="1600" dirty="0">
              <a:solidFill>
                <a:srgbClr val="000000"/>
              </a:solidFill>
              <a:latin typeface="Aptos" panose="020B0004020202020204" pitchFamily="34" charset="0"/>
              <a:ea typeface="Times New Roman" panose="02020603050405020304" pitchFamily="18"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b="1" dirty="0">
                <a:solidFill>
                  <a:srgbClr val="000000"/>
                </a:solidFill>
                <a:effectLst/>
                <a:latin typeface="UICTFontTextStyleBody"/>
                <a:ea typeface="Times New Roman" panose="02020603050405020304" pitchFamily="18" charset="0"/>
                <a:cs typeface="Aptos" panose="020B0004020202020204" pitchFamily="34" charset="0"/>
              </a:rPr>
              <a:t>Only few utilities developed alternate GIS approach and are able to leverage its benefit.</a:t>
            </a:r>
            <a:r>
              <a:rPr lang="en-US" sz="1600" dirty="0">
                <a:solidFill>
                  <a:srgbClr val="000000"/>
                </a:solidFill>
                <a:effectLst/>
                <a:latin typeface="UICTFontTextStyleBody"/>
                <a:ea typeface="Times New Roman" panose="02020603050405020304" pitchFamily="18" charset="0"/>
                <a:cs typeface="Aptos" panose="020B0004020202020204" pitchFamily="34" charset="0"/>
              </a:rPr>
              <a:t> However, FM solutions are the ultimate requirement</a:t>
            </a:r>
            <a:endParaRPr lang="en-US" sz="1600" b="1" dirty="0"/>
          </a:p>
        </p:txBody>
      </p:sp>
    </p:spTree>
    <p:extLst>
      <p:ext uri="{BB962C8B-B14F-4D97-AF65-F5344CB8AC3E}">
        <p14:creationId xmlns:p14="http://schemas.microsoft.com/office/powerpoint/2010/main" val="1420826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4EB53-EE65-848C-8D0A-685F7DD0E1C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F1B610-2FC5-8CA8-18F3-A37B868CED7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D0CBD0AF-27CA-8B11-4517-E41E92171D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D2CB678C-BC83-0FA5-1197-A55151CBAB75}"/>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Detailed Educational and Professional Experience Required for Tender</a:t>
            </a:r>
          </a:p>
        </p:txBody>
      </p:sp>
      <p:sp>
        <p:nvSpPr>
          <p:cNvPr id="6" name="Title 2">
            <a:extLst>
              <a:ext uri="{FF2B5EF4-FFF2-40B4-BE49-F238E27FC236}">
                <a16:creationId xmlns:a16="http://schemas.microsoft.com/office/drawing/2014/main" id="{2E983AD3-C128-372A-AB27-2E418893A5D2}"/>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Criteria for Team of Experts in Tripura Tender (1/4)</a:t>
            </a:r>
          </a:p>
        </p:txBody>
      </p:sp>
      <p:cxnSp>
        <p:nvCxnSpPr>
          <p:cNvPr id="92" name="Straight Connector 91">
            <a:extLst>
              <a:ext uri="{FF2B5EF4-FFF2-40B4-BE49-F238E27FC236}">
                <a16:creationId xmlns:a16="http://schemas.microsoft.com/office/drawing/2014/main" id="{5FCA42E7-75B1-0E1C-E758-81EDD36C0728}"/>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Arrow: Left 3">
            <a:hlinkClick r:id="rId6" action="ppaction://hlinksldjump"/>
            <a:extLst>
              <a:ext uri="{FF2B5EF4-FFF2-40B4-BE49-F238E27FC236}">
                <a16:creationId xmlns:a16="http://schemas.microsoft.com/office/drawing/2014/main" id="{ECF57D21-2494-65C7-8891-E064591410CB}"/>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bg1"/>
              </a:solidFill>
            </a:endParaRPr>
          </a:p>
        </p:txBody>
      </p:sp>
      <p:graphicFrame>
        <p:nvGraphicFramePr>
          <p:cNvPr id="8" name="Table 7">
            <a:extLst>
              <a:ext uri="{FF2B5EF4-FFF2-40B4-BE49-F238E27FC236}">
                <a16:creationId xmlns:a16="http://schemas.microsoft.com/office/drawing/2014/main" id="{3DB0B243-C061-1939-F9FD-894AFEAC3A15}"/>
              </a:ext>
            </a:extLst>
          </p:cNvPr>
          <p:cNvGraphicFramePr>
            <a:graphicFrameLocks noGrp="1"/>
          </p:cNvGraphicFramePr>
          <p:nvPr>
            <p:extLst>
              <p:ext uri="{D42A27DB-BD31-4B8C-83A1-F6EECF244321}">
                <p14:modId xmlns:p14="http://schemas.microsoft.com/office/powerpoint/2010/main" val="706530098"/>
              </p:ext>
            </p:extLst>
          </p:nvPr>
        </p:nvGraphicFramePr>
        <p:xfrm>
          <a:off x="514664" y="1147763"/>
          <a:ext cx="11003568" cy="4922520"/>
        </p:xfrm>
        <a:graphic>
          <a:graphicData uri="http://schemas.openxmlformats.org/drawingml/2006/table">
            <a:tbl>
              <a:tblPr/>
              <a:tblGrid>
                <a:gridCol w="2535137">
                  <a:extLst>
                    <a:ext uri="{9D8B030D-6E8A-4147-A177-3AD203B41FA5}">
                      <a16:colId xmlns:a16="http://schemas.microsoft.com/office/drawing/2014/main" val="3483025911"/>
                    </a:ext>
                  </a:extLst>
                </a:gridCol>
                <a:gridCol w="3919571">
                  <a:extLst>
                    <a:ext uri="{9D8B030D-6E8A-4147-A177-3AD203B41FA5}">
                      <a16:colId xmlns:a16="http://schemas.microsoft.com/office/drawing/2014/main" val="3188665894"/>
                    </a:ext>
                  </a:extLst>
                </a:gridCol>
                <a:gridCol w="4548860">
                  <a:extLst>
                    <a:ext uri="{9D8B030D-6E8A-4147-A177-3AD203B41FA5}">
                      <a16:colId xmlns:a16="http://schemas.microsoft.com/office/drawing/2014/main" val="970871580"/>
                    </a:ext>
                  </a:extLst>
                </a:gridCol>
              </a:tblGrid>
              <a:tr h="0">
                <a:tc>
                  <a:txBody>
                    <a:bodyPr/>
                    <a:lstStyle/>
                    <a:p>
                      <a:pPr algn="ctr" fontAlgn="t"/>
                      <a:r>
                        <a:rPr lang="en-US" sz="1100" b="1" i="0" u="none" strike="noStrike">
                          <a:solidFill>
                            <a:srgbClr val="FFFFFF"/>
                          </a:solidFill>
                          <a:effectLst/>
                          <a:latin typeface="Verdana" panose="020B0604030504040204" pitchFamily="34" charset="0"/>
                        </a:rPr>
                        <a:t>Position / Expertise</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Experience and Qualifications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dirty="0">
                          <a:solidFill>
                            <a:srgbClr val="FFFFFF"/>
                          </a:solidFill>
                          <a:effectLst/>
                          <a:latin typeface="Verdana" panose="020B0604030504040204" pitchFamily="34" charset="0"/>
                        </a:rPr>
                        <a:t>Responsibilities / Roles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693319386"/>
                  </a:ext>
                </a:extLst>
              </a:tr>
              <a:tr h="0">
                <a:tc gridSpan="3">
                  <a:txBody>
                    <a:bodyPr/>
                    <a:lstStyle/>
                    <a:p>
                      <a:pPr algn="l" fontAlgn="ctr"/>
                      <a:r>
                        <a:rPr lang="en-US" sz="1100" b="1" i="0" u="none" strike="noStrike">
                          <a:solidFill>
                            <a:srgbClr val="FFFFFF"/>
                          </a:solidFill>
                          <a:effectLst/>
                          <a:latin typeface="Verdana" panose="020B0604030504040204" pitchFamily="34" charset="0"/>
                        </a:rPr>
                        <a:t>International Experts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52276346"/>
                  </a:ext>
                </a:extLst>
              </a:tr>
              <a:tr h="947328">
                <a:tc>
                  <a:txBody>
                    <a:bodyPr/>
                    <a:lstStyle/>
                    <a:p>
                      <a:pPr algn="l" fontAlgn="t"/>
                      <a:r>
                        <a:rPr lang="en-US" sz="1100" b="1" i="0" u="none" strike="noStrike" dirty="0">
                          <a:solidFill>
                            <a:srgbClr val="000000"/>
                          </a:solidFill>
                          <a:effectLst/>
                          <a:latin typeface="Verdana" panose="020B0604030504040204" pitchFamily="34" charset="0"/>
                        </a:rPr>
                        <a:t>Project Manager / Team Leader </a:t>
                      </a:r>
                      <a:r>
                        <a:rPr lang="en-US" sz="1100" b="0" i="0" u="none" strike="noStrike" dirty="0">
                          <a:solidFill>
                            <a:srgbClr val="000000"/>
                          </a:solidFill>
                          <a:effectLst/>
                          <a:latin typeface="Verdana" panose="020B0604030504040204" pitchFamily="34" charset="0"/>
                        </a:rPr>
                        <a:t>(International)</a:t>
                      </a:r>
                      <a:br>
                        <a:rPr lang="en-US" sz="1100" b="0" i="0" u="none" strike="noStrike" dirty="0">
                          <a:solidFill>
                            <a:srgbClr val="000000"/>
                          </a:solidFill>
                          <a:effectLst/>
                          <a:latin typeface="Verdana" panose="020B0604030504040204" pitchFamily="34" charset="0"/>
                        </a:rPr>
                      </a:br>
                      <a:r>
                        <a:rPr lang="en-US" sz="1100" b="0" i="1" u="none" strike="noStrike" dirty="0">
                          <a:solidFill>
                            <a:srgbClr val="000000"/>
                          </a:solidFill>
                          <a:effectLst/>
                          <a:latin typeface="Verdana" panose="020B0604030504040204" pitchFamily="34" charset="0"/>
                        </a:rPr>
                        <a:t>8 Person-months</a:t>
                      </a:r>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Graduate in Engineering (Power/Electrical/Electronics) and Postgraduate in Management or Engineering (Electrical/ Electronics)</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a:t>
                      </a:r>
                      <a:r>
                        <a:rPr lang="en-US" sz="1100" b="1" i="0" u="none" strike="noStrike" dirty="0">
                          <a:solidFill>
                            <a:srgbClr val="000000"/>
                          </a:solidFill>
                          <a:effectLst/>
                          <a:latin typeface="Verdana" panose="020B0604030504040204" pitchFamily="34" charset="0"/>
                        </a:rPr>
                        <a:t>15 years of experience </a:t>
                      </a:r>
                      <a:r>
                        <a:rPr lang="en-US" sz="1100" b="0" i="0" u="none" strike="noStrike" dirty="0">
                          <a:solidFill>
                            <a:srgbClr val="000000"/>
                          </a:solidFill>
                          <a:effectLst/>
                          <a:latin typeface="Verdana" panose="020B0604030504040204" pitchFamily="34" charset="0"/>
                        </a:rPr>
                        <a:t>in providing consultancy on power distribution system improvement, loss reduction, distribution system planning</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Led similar large consultancy projects with power distribution companies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Lead role in management of consulting team.</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Overall project planning and discussions with senior management of client</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Overall review of the tasks and progress of the project</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Co-ordination with the consultant team and the client for smooth implementation of the assignment </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Plan for asset survey and mapping and overall management of the survey team</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Developing the plan for training and capacity building of staff and knowledge transfer to ensure institutionalization of the system study function in TSECL</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Provide technical advice to carry out all tasks.</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Coordination of project activities with TSECL &amp; ADB.</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Ensure timely completion and delivery of all outputs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6805697"/>
                  </a:ext>
                </a:extLst>
              </a:tr>
              <a:tr h="608997">
                <a:tc>
                  <a:txBody>
                    <a:bodyPr/>
                    <a:lstStyle/>
                    <a:p>
                      <a:pPr algn="l" fontAlgn="t"/>
                      <a:r>
                        <a:rPr lang="en-US" sz="1100" b="1" i="0" u="none" strike="noStrike">
                          <a:solidFill>
                            <a:srgbClr val="000000"/>
                          </a:solidFill>
                          <a:effectLst/>
                          <a:latin typeface="Verdana" panose="020B0604030504040204" pitchFamily="34" charset="0"/>
                        </a:rPr>
                        <a:t>Distribution Systems Planning Expert </a:t>
                      </a:r>
                      <a:r>
                        <a:rPr lang="en-US" sz="1100" b="0" i="0" u="none" strike="noStrike">
                          <a:solidFill>
                            <a:srgbClr val="000000"/>
                          </a:solidFill>
                          <a:effectLst/>
                          <a:latin typeface="Verdana" panose="020B0604030504040204" pitchFamily="34" charset="0"/>
                        </a:rPr>
                        <a:t>(International)</a:t>
                      </a:r>
                      <a:br>
                        <a:rPr lang="en-US" sz="1100" b="0" i="0" u="none" strike="noStrike">
                          <a:solidFill>
                            <a:srgbClr val="000000"/>
                          </a:solidFill>
                          <a:effectLst/>
                          <a:latin typeface="Verdana" panose="020B0604030504040204" pitchFamily="34" charset="0"/>
                        </a:rPr>
                      </a:br>
                      <a:r>
                        <a:rPr lang="en-US" sz="1100" b="0" i="1" u="none" strike="noStrike">
                          <a:solidFill>
                            <a:srgbClr val="000000"/>
                          </a:solidFill>
                          <a:effectLst/>
                          <a:latin typeface="Verdana" panose="020B0604030504040204" pitchFamily="34" charset="0"/>
                        </a:rPr>
                        <a:t>9 Person-months</a:t>
                      </a:r>
                      <a:endParaRPr lang="en-US" sz="1100" b="0" i="0" u="none" strike="noStrike">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Graduate in Engineering (Power/Electrical/Electronics) and preferably Post Graduate in Engineering (Power/Electrical/Electronics)</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a:t>
                      </a:r>
                      <a:r>
                        <a:rPr lang="en-US" sz="1100" b="1" i="0" u="none" strike="noStrike" dirty="0">
                          <a:solidFill>
                            <a:srgbClr val="000000"/>
                          </a:solidFill>
                          <a:effectLst/>
                          <a:latin typeface="Verdana" panose="020B0604030504040204" pitchFamily="34" charset="0"/>
                        </a:rPr>
                        <a:t>10 years of experience </a:t>
                      </a:r>
                      <a:r>
                        <a:rPr lang="en-US" sz="1100" b="0" i="0" u="none" strike="noStrike" dirty="0">
                          <a:solidFill>
                            <a:srgbClr val="000000"/>
                          </a:solidFill>
                          <a:effectLst/>
                          <a:latin typeface="Verdana" panose="020B0604030504040204" pitchFamily="34" charset="0"/>
                        </a:rPr>
                        <a:t>in planning of distribution system and distribution system operations</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Should have experience of providing consultancy on distribution loss reduction and system planning</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Providing technical support for asset study Lead role in carrying out roadmap study for carrying out all tasks in tasks under para. 8.</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Training and capacity building</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Support for development of distribution construction standards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595654"/>
                  </a:ext>
                </a:extLst>
              </a:tr>
            </a:tbl>
          </a:graphicData>
        </a:graphic>
      </p:graphicFrame>
    </p:spTree>
    <p:extLst>
      <p:ext uri="{BB962C8B-B14F-4D97-AF65-F5344CB8AC3E}">
        <p14:creationId xmlns:p14="http://schemas.microsoft.com/office/powerpoint/2010/main" val="902522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C925C-1634-50F5-CB78-A437ADC7282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2093970-419E-18C7-01B7-C8345B5B63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E4F1B610-2FC5-8CA8-18F3-A37B868CED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8F2312A2-2FC0-1DE1-D6B4-25D041F568D6}"/>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Detailed Educational and Professional Experience Required for Tender</a:t>
            </a:r>
          </a:p>
        </p:txBody>
      </p:sp>
      <p:sp>
        <p:nvSpPr>
          <p:cNvPr id="6" name="Title 2">
            <a:extLst>
              <a:ext uri="{FF2B5EF4-FFF2-40B4-BE49-F238E27FC236}">
                <a16:creationId xmlns:a16="http://schemas.microsoft.com/office/drawing/2014/main" id="{F3FD688F-EDE0-E352-C8CC-A74118ADBB8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Criteria for Team of Experts in Tripura Tender (2/4)</a:t>
            </a:r>
          </a:p>
        </p:txBody>
      </p:sp>
      <p:cxnSp>
        <p:nvCxnSpPr>
          <p:cNvPr id="92" name="Straight Connector 91">
            <a:extLst>
              <a:ext uri="{FF2B5EF4-FFF2-40B4-BE49-F238E27FC236}">
                <a16:creationId xmlns:a16="http://schemas.microsoft.com/office/drawing/2014/main" id="{37B25B0D-2884-BA80-8CDF-BC99CBD38E2B}"/>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Arrow: Left 3">
            <a:hlinkClick r:id="rId6" action="ppaction://hlinksldjump"/>
            <a:extLst>
              <a:ext uri="{FF2B5EF4-FFF2-40B4-BE49-F238E27FC236}">
                <a16:creationId xmlns:a16="http://schemas.microsoft.com/office/drawing/2014/main" id="{EA156293-D46A-8456-D2A5-17E69DD2A057}"/>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bg1"/>
              </a:solidFill>
            </a:endParaRPr>
          </a:p>
        </p:txBody>
      </p:sp>
      <p:graphicFrame>
        <p:nvGraphicFramePr>
          <p:cNvPr id="8" name="Table 7">
            <a:extLst>
              <a:ext uri="{FF2B5EF4-FFF2-40B4-BE49-F238E27FC236}">
                <a16:creationId xmlns:a16="http://schemas.microsoft.com/office/drawing/2014/main" id="{D04AC24A-675A-6C44-3396-4456F9399887}"/>
              </a:ext>
            </a:extLst>
          </p:cNvPr>
          <p:cNvGraphicFramePr>
            <a:graphicFrameLocks noGrp="1"/>
          </p:cNvGraphicFramePr>
          <p:nvPr>
            <p:extLst>
              <p:ext uri="{D42A27DB-BD31-4B8C-83A1-F6EECF244321}">
                <p14:modId xmlns:p14="http://schemas.microsoft.com/office/powerpoint/2010/main" val="2187689399"/>
              </p:ext>
            </p:extLst>
          </p:nvPr>
        </p:nvGraphicFramePr>
        <p:xfrm>
          <a:off x="514664" y="1147763"/>
          <a:ext cx="11003568" cy="4434840"/>
        </p:xfrm>
        <a:graphic>
          <a:graphicData uri="http://schemas.openxmlformats.org/drawingml/2006/table">
            <a:tbl>
              <a:tblPr/>
              <a:tblGrid>
                <a:gridCol w="2535137">
                  <a:extLst>
                    <a:ext uri="{9D8B030D-6E8A-4147-A177-3AD203B41FA5}">
                      <a16:colId xmlns:a16="http://schemas.microsoft.com/office/drawing/2014/main" val="3483025911"/>
                    </a:ext>
                  </a:extLst>
                </a:gridCol>
                <a:gridCol w="3919571">
                  <a:extLst>
                    <a:ext uri="{9D8B030D-6E8A-4147-A177-3AD203B41FA5}">
                      <a16:colId xmlns:a16="http://schemas.microsoft.com/office/drawing/2014/main" val="3188665894"/>
                    </a:ext>
                  </a:extLst>
                </a:gridCol>
                <a:gridCol w="4548860">
                  <a:extLst>
                    <a:ext uri="{9D8B030D-6E8A-4147-A177-3AD203B41FA5}">
                      <a16:colId xmlns:a16="http://schemas.microsoft.com/office/drawing/2014/main" val="970871580"/>
                    </a:ext>
                  </a:extLst>
                </a:gridCol>
              </a:tblGrid>
              <a:tr h="0">
                <a:tc>
                  <a:txBody>
                    <a:bodyPr/>
                    <a:lstStyle/>
                    <a:p>
                      <a:pPr algn="ctr" fontAlgn="t"/>
                      <a:r>
                        <a:rPr lang="en-US" sz="1100" b="1" i="0" u="none" strike="noStrike">
                          <a:solidFill>
                            <a:srgbClr val="FFFFFF"/>
                          </a:solidFill>
                          <a:effectLst/>
                          <a:latin typeface="Verdana" panose="020B0604030504040204" pitchFamily="34" charset="0"/>
                        </a:rPr>
                        <a:t>Position / Expertise</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Experience and Qualifications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Responsibilities / Roles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693319386"/>
                  </a:ext>
                </a:extLst>
              </a:tr>
              <a:tr h="0">
                <a:tc gridSpan="3">
                  <a:txBody>
                    <a:bodyPr/>
                    <a:lstStyle/>
                    <a:p>
                      <a:pPr algn="l" fontAlgn="ctr"/>
                      <a:r>
                        <a:rPr lang="en-US" sz="1100" b="1" i="0" u="none" strike="noStrike">
                          <a:solidFill>
                            <a:srgbClr val="FFFFFF"/>
                          </a:solidFill>
                          <a:effectLst/>
                          <a:latin typeface="Verdana" panose="020B0604030504040204" pitchFamily="34" charset="0"/>
                        </a:rPr>
                        <a:t>International Experts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52276346"/>
                  </a:ext>
                </a:extLst>
              </a:tr>
              <a:tr h="405998">
                <a:tc>
                  <a:txBody>
                    <a:bodyPr/>
                    <a:lstStyle/>
                    <a:p>
                      <a:pPr algn="l" fontAlgn="t"/>
                      <a:r>
                        <a:rPr lang="en-US" sz="1100" b="1" i="0" u="none" strike="noStrike" dirty="0">
                          <a:solidFill>
                            <a:srgbClr val="000000"/>
                          </a:solidFill>
                          <a:effectLst/>
                          <a:latin typeface="Verdana" panose="020B0604030504040204" pitchFamily="34" charset="0"/>
                        </a:rPr>
                        <a:t>Distribution System Engineer </a:t>
                      </a:r>
                      <a:r>
                        <a:rPr lang="en-US" sz="1100" b="0" i="0" u="none" strike="noStrike" dirty="0">
                          <a:solidFill>
                            <a:srgbClr val="000000"/>
                          </a:solidFill>
                          <a:effectLst/>
                          <a:latin typeface="Verdana" panose="020B0604030504040204" pitchFamily="34" charset="0"/>
                        </a:rPr>
                        <a:t>(International)</a:t>
                      </a:r>
                      <a:br>
                        <a:rPr lang="en-US" sz="1100" b="0" i="0" u="none" strike="noStrike" dirty="0">
                          <a:solidFill>
                            <a:srgbClr val="000000"/>
                          </a:solidFill>
                          <a:effectLst/>
                          <a:latin typeface="Verdana" panose="020B0604030504040204" pitchFamily="34" charset="0"/>
                        </a:rPr>
                      </a:br>
                      <a:r>
                        <a:rPr lang="en-US" sz="1100" b="0" i="1" u="none" strike="noStrike" dirty="0">
                          <a:solidFill>
                            <a:srgbClr val="000000"/>
                          </a:solidFill>
                          <a:effectLst/>
                          <a:latin typeface="Verdana" panose="020B0604030504040204" pitchFamily="34" charset="0"/>
                        </a:rPr>
                        <a:t>8 Person-months</a:t>
                      </a:r>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a:solidFill>
                            <a:srgbClr val="000000"/>
                          </a:solidFill>
                          <a:effectLst/>
                          <a:latin typeface="Verdana" panose="020B0604030504040204" pitchFamily="34" charset="0"/>
                        </a:rPr>
                        <a:t>Graduate in Engineering (Power/Electrical/Electronics)</a:t>
                      </a:r>
                      <a:br>
                        <a:rPr lang="en-US" sz="1100" b="0" i="0" u="none" strike="noStrike">
                          <a:solidFill>
                            <a:srgbClr val="000000"/>
                          </a:solidFill>
                          <a:effectLst/>
                          <a:latin typeface="Verdana" panose="020B0604030504040204" pitchFamily="34" charset="0"/>
                        </a:rPr>
                      </a:br>
                      <a:r>
                        <a:rPr lang="en-US" sz="1100" b="0" i="0" u="none" strike="noStrike">
                          <a:solidFill>
                            <a:srgbClr val="000000"/>
                          </a:solidFill>
                          <a:effectLst/>
                          <a:latin typeface="Verdana" panose="020B0604030504040204" pitchFamily="34" charset="0"/>
                        </a:rPr>
                        <a:t>At least 10 years of experience in distribution system modelling, conducting technical studies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Coordinate survey and mapping work.</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Conducting distribution modelling and necessary technical studies on software as provided in scope.</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Demand forecasting and studies on proposed network and demand.</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Training and capacity building</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1695329"/>
                  </a:ext>
                </a:extLst>
              </a:tr>
              <a:tr h="541330">
                <a:tc>
                  <a:txBody>
                    <a:bodyPr/>
                    <a:lstStyle/>
                    <a:p>
                      <a:pPr algn="l" fontAlgn="t"/>
                      <a:r>
                        <a:rPr lang="en-US" sz="1100" b="1" i="0" u="none" strike="noStrike">
                          <a:solidFill>
                            <a:srgbClr val="000000"/>
                          </a:solidFill>
                          <a:effectLst/>
                          <a:latin typeface="Verdana" panose="020B0604030504040204" pitchFamily="34" charset="0"/>
                        </a:rPr>
                        <a:t>Gas Generation Expert</a:t>
                      </a:r>
                      <a:br>
                        <a:rPr lang="en-US" sz="1100" b="1" i="0" u="none" strike="noStrike">
                          <a:solidFill>
                            <a:srgbClr val="000000"/>
                          </a:solidFill>
                          <a:effectLst/>
                          <a:latin typeface="Verdana" panose="020B0604030504040204" pitchFamily="34" charset="0"/>
                        </a:rPr>
                      </a:br>
                      <a:r>
                        <a:rPr lang="en-US" sz="1100" b="0" i="0" u="none" strike="noStrike">
                          <a:solidFill>
                            <a:srgbClr val="000000"/>
                          </a:solidFill>
                          <a:effectLst/>
                          <a:latin typeface="Verdana" panose="020B0604030504040204" pitchFamily="34" charset="0"/>
                        </a:rPr>
                        <a:t>(International)</a:t>
                      </a:r>
                      <a:br>
                        <a:rPr lang="en-US" sz="1100" b="0" i="0" u="none" strike="noStrike">
                          <a:solidFill>
                            <a:srgbClr val="000000"/>
                          </a:solidFill>
                          <a:effectLst/>
                          <a:latin typeface="Verdana" panose="020B0604030504040204" pitchFamily="34" charset="0"/>
                        </a:rPr>
                      </a:br>
                      <a:r>
                        <a:rPr lang="en-US" sz="1100" b="0" i="1" u="none" strike="noStrike">
                          <a:solidFill>
                            <a:srgbClr val="000000"/>
                          </a:solidFill>
                          <a:effectLst/>
                          <a:latin typeface="Verdana" panose="020B0604030504040204" pitchFamily="34" charset="0"/>
                        </a:rPr>
                        <a:t>2 Person-months</a:t>
                      </a:r>
                      <a:endParaRPr lang="en-US" sz="1100" b="0" i="0" u="none" strike="noStrike">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Graduate in Electrical or Mechanical Engineering</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10 years of experience in project development or operation of gas based power plants</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1 assignment related to asset survey/study and asset register work for power generation projects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The work of asset verification and asset register work for gas based generation plants with support of field survey staff as required</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1456995"/>
                  </a:ext>
                </a:extLst>
              </a:tr>
              <a:tr h="473664">
                <a:tc>
                  <a:txBody>
                    <a:bodyPr/>
                    <a:lstStyle/>
                    <a:p>
                      <a:pPr algn="l" fontAlgn="t"/>
                      <a:r>
                        <a:rPr lang="en-US" sz="1100" b="1" i="0" u="none" strike="noStrike">
                          <a:solidFill>
                            <a:srgbClr val="000000"/>
                          </a:solidFill>
                          <a:effectLst/>
                          <a:latin typeface="Verdana" panose="020B0604030504040204" pitchFamily="34" charset="0"/>
                        </a:rPr>
                        <a:t>Hydro Generation Expert </a:t>
                      </a:r>
                      <a:r>
                        <a:rPr lang="en-US" sz="1100" b="0" i="0" u="none" strike="noStrike">
                          <a:solidFill>
                            <a:srgbClr val="000000"/>
                          </a:solidFill>
                          <a:effectLst/>
                          <a:latin typeface="Verdana" panose="020B0604030504040204" pitchFamily="34" charset="0"/>
                        </a:rPr>
                        <a:t>(International)</a:t>
                      </a:r>
                      <a:br>
                        <a:rPr lang="en-US" sz="1100" b="0" i="0" u="none" strike="noStrike">
                          <a:solidFill>
                            <a:srgbClr val="000000"/>
                          </a:solidFill>
                          <a:effectLst/>
                          <a:latin typeface="Verdana" panose="020B0604030504040204" pitchFamily="34" charset="0"/>
                        </a:rPr>
                      </a:br>
                      <a:r>
                        <a:rPr lang="en-US" sz="1100" b="0" i="1" u="none" strike="noStrike">
                          <a:solidFill>
                            <a:srgbClr val="000000"/>
                          </a:solidFill>
                          <a:effectLst/>
                          <a:latin typeface="Verdana" panose="020B0604030504040204" pitchFamily="34" charset="0"/>
                        </a:rPr>
                        <a:t>2 Person-months</a:t>
                      </a:r>
                      <a:endParaRPr lang="en-US" sz="1100" b="0" i="0" u="none" strike="noStrike">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Graduate in Electrical or Mechanical Engineering</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At least 10 years of experience in project development or operation of hydro power plants</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1 assignment related to asset</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survey/ study and asset register work for power generation projects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The work of asset verification and asset register work for hydro generation plants with support of field survey staff as required</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396844"/>
                  </a:ext>
                </a:extLst>
              </a:tr>
            </a:tbl>
          </a:graphicData>
        </a:graphic>
      </p:graphicFrame>
    </p:spTree>
    <p:extLst>
      <p:ext uri="{BB962C8B-B14F-4D97-AF65-F5344CB8AC3E}">
        <p14:creationId xmlns:p14="http://schemas.microsoft.com/office/powerpoint/2010/main" val="1931149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34909-B953-6A4C-011E-984DFC6AFD3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12322A0-4C0A-57B2-703E-95E59D4B48E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C50A8F35-9811-D6FE-7DBC-7121DBFE9BA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59BC9212-1E72-FB7B-2F97-239B93A9BE2F}"/>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Detailed Educational and Professional Experience Required for Tender</a:t>
            </a:r>
          </a:p>
        </p:txBody>
      </p:sp>
      <p:sp>
        <p:nvSpPr>
          <p:cNvPr id="6" name="Title 2">
            <a:extLst>
              <a:ext uri="{FF2B5EF4-FFF2-40B4-BE49-F238E27FC236}">
                <a16:creationId xmlns:a16="http://schemas.microsoft.com/office/drawing/2014/main" id="{20B72E34-82B2-8B3A-BAD3-2A00C84D249F}"/>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Criteria for Team of Experts in Tripura Tender (3/4)</a:t>
            </a:r>
          </a:p>
        </p:txBody>
      </p:sp>
      <p:cxnSp>
        <p:nvCxnSpPr>
          <p:cNvPr id="92" name="Straight Connector 91">
            <a:extLst>
              <a:ext uri="{FF2B5EF4-FFF2-40B4-BE49-F238E27FC236}">
                <a16:creationId xmlns:a16="http://schemas.microsoft.com/office/drawing/2014/main" id="{8D04EFEF-D368-0846-ACA4-295E3CFA7827}"/>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Arrow: Left 3">
            <a:hlinkClick r:id="rId6" action="ppaction://hlinksldjump"/>
            <a:extLst>
              <a:ext uri="{FF2B5EF4-FFF2-40B4-BE49-F238E27FC236}">
                <a16:creationId xmlns:a16="http://schemas.microsoft.com/office/drawing/2014/main" id="{AA71D9CD-27EB-C92B-BBAF-6B60221968EE}"/>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bg1"/>
              </a:solidFill>
            </a:endParaRPr>
          </a:p>
        </p:txBody>
      </p:sp>
      <p:graphicFrame>
        <p:nvGraphicFramePr>
          <p:cNvPr id="8" name="Table 7">
            <a:extLst>
              <a:ext uri="{FF2B5EF4-FFF2-40B4-BE49-F238E27FC236}">
                <a16:creationId xmlns:a16="http://schemas.microsoft.com/office/drawing/2014/main" id="{E8E4748A-028B-07B0-EA64-05D17D70F246}"/>
              </a:ext>
            </a:extLst>
          </p:cNvPr>
          <p:cNvGraphicFramePr>
            <a:graphicFrameLocks noGrp="1"/>
          </p:cNvGraphicFramePr>
          <p:nvPr>
            <p:extLst>
              <p:ext uri="{D42A27DB-BD31-4B8C-83A1-F6EECF244321}">
                <p14:modId xmlns:p14="http://schemas.microsoft.com/office/powerpoint/2010/main" val="3491383333"/>
              </p:ext>
            </p:extLst>
          </p:nvPr>
        </p:nvGraphicFramePr>
        <p:xfrm>
          <a:off x="514664" y="1147763"/>
          <a:ext cx="11003568" cy="4770120"/>
        </p:xfrm>
        <a:graphic>
          <a:graphicData uri="http://schemas.openxmlformats.org/drawingml/2006/table">
            <a:tbl>
              <a:tblPr/>
              <a:tblGrid>
                <a:gridCol w="2535137">
                  <a:extLst>
                    <a:ext uri="{9D8B030D-6E8A-4147-A177-3AD203B41FA5}">
                      <a16:colId xmlns:a16="http://schemas.microsoft.com/office/drawing/2014/main" val="3483025911"/>
                    </a:ext>
                  </a:extLst>
                </a:gridCol>
                <a:gridCol w="3919571">
                  <a:extLst>
                    <a:ext uri="{9D8B030D-6E8A-4147-A177-3AD203B41FA5}">
                      <a16:colId xmlns:a16="http://schemas.microsoft.com/office/drawing/2014/main" val="3188665894"/>
                    </a:ext>
                  </a:extLst>
                </a:gridCol>
                <a:gridCol w="4548860">
                  <a:extLst>
                    <a:ext uri="{9D8B030D-6E8A-4147-A177-3AD203B41FA5}">
                      <a16:colId xmlns:a16="http://schemas.microsoft.com/office/drawing/2014/main" val="970871580"/>
                    </a:ext>
                  </a:extLst>
                </a:gridCol>
              </a:tblGrid>
              <a:tr h="0">
                <a:tc>
                  <a:txBody>
                    <a:bodyPr/>
                    <a:lstStyle/>
                    <a:p>
                      <a:pPr algn="ctr" fontAlgn="t"/>
                      <a:r>
                        <a:rPr lang="en-US" sz="1100" b="1" i="0" u="none" strike="noStrike">
                          <a:solidFill>
                            <a:srgbClr val="FFFFFF"/>
                          </a:solidFill>
                          <a:effectLst/>
                          <a:latin typeface="Verdana" panose="020B0604030504040204" pitchFamily="34" charset="0"/>
                        </a:rPr>
                        <a:t>Position / Expertise</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Experience and Qualifications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Responsibilities / Roles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693319386"/>
                  </a:ext>
                </a:extLst>
              </a:tr>
              <a:tr h="0">
                <a:tc gridSpan="3">
                  <a:txBody>
                    <a:bodyPr/>
                    <a:lstStyle/>
                    <a:p>
                      <a:pPr algn="l" fontAlgn="ctr"/>
                      <a:r>
                        <a:rPr lang="en-US" sz="1100" b="1" i="0" u="none" strike="noStrike" dirty="0">
                          <a:solidFill>
                            <a:srgbClr val="FFFFFF"/>
                          </a:solidFill>
                          <a:effectLst/>
                          <a:latin typeface="Verdana" panose="020B0604030504040204" pitchFamily="34" charset="0"/>
                        </a:rPr>
                        <a:t>National Experts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74047106"/>
                  </a:ext>
                </a:extLst>
              </a:tr>
              <a:tr h="405998">
                <a:tc>
                  <a:txBody>
                    <a:bodyPr/>
                    <a:lstStyle/>
                    <a:p>
                      <a:pPr algn="l" fontAlgn="t"/>
                      <a:r>
                        <a:rPr lang="en-US" sz="1100" b="1" i="0" u="none" strike="noStrike">
                          <a:solidFill>
                            <a:srgbClr val="000000"/>
                          </a:solidFill>
                          <a:effectLst/>
                          <a:latin typeface="Verdana" panose="020B0604030504040204" pitchFamily="34" charset="0"/>
                        </a:rPr>
                        <a:t>GIS/Mapping Expert</a:t>
                      </a:r>
                      <a:br>
                        <a:rPr lang="en-US" sz="1100" b="1" i="0" u="none" strike="noStrike">
                          <a:solidFill>
                            <a:srgbClr val="000000"/>
                          </a:solidFill>
                          <a:effectLst/>
                          <a:latin typeface="Verdana" panose="020B0604030504040204" pitchFamily="34" charset="0"/>
                        </a:rPr>
                      </a:br>
                      <a:r>
                        <a:rPr lang="en-US" sz="1100" b="0" i="0" u="none" strike="noStrike">
                          <a:solidFill>
                            <a:srgbClr val="000000"/>
                          </a:solidFill>
                          <a:effectLst/>
                          <a:latin typeface="Verdana" panose="020B0604030504040204" pitchFamily="34" charset="0"/>
                        </a:rPr>
                        <a:t>(National)</a:t>
                      </a:r>
                      <a:br>
                        <a:rPr lang="en-US" sz="1100" b="0" i="0" u="none" strike="noStrike">
                          <a:solidFill>
                            <a:srgbClr val="000000"/>
                          </a:solidFill>
                          <a:effectLst/>
                          <a:latin typeface="Verdana" panose="020B0604030504040204" pitchFamily="34" charset="0"/>
                        </a:rPr>
                      </a:br>
                      <a:r>
                        <a:rPr lang="en-US" sz="1100" b="0" i="1" u="none" strike="noStrike">
                          <a:solidFill>
                            <a:srgbClr val="000000"/>
                          </a:solidFill>
                          <a:effectLst/>
                          <a:latin typeface="Verdana" panose="020B0604030504040204" pitchFamily="34" charset="0"/>
                        </a:rPr>
                        <a:t>6 Person-months</a:t>
                      </a:r>
                      <a:endParaRPr lang="en-US" sz="1100" b="0" i="0" u="none" strike="noStrike">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Bachelor's degree in geography, geology, cartography, or surveying or related fields.</a:t>
                      </a:r>
                      <a:br>
                        <a:rPr lang="en-US" sz="1100" b="0" i="0" u="none" strike="noStrike" dirty="0">
                          <a:solidFill>
                            <a:srgbClr val="000000"/>
                          </a:solidFill>
                          <a:effectLst/>
                          <a:latin typeface="Verdana" panose="020B0604030504040204" pitchFamily="34" charset="0"/>
                        </a:rPr>
                      </a:br>
                      <a:r>
                        <a:rPr lang="en-US" sz="1100" b="1" i="0" u="none" strike="noStrike" dirty="0">
                          <a:solidFill>
                            <a:srgbClr val="000000"/>
                          </a:solidFill>
                          <a:effectLst/>
                          <a:latin typeface="Verdana" panose="020B0604030504040204" pitchFamily="34" charset="0"/>
                        </a:rPr>
                        <a:t>Should have at least 5 years of experience in asset survey and GIS mapping</a:t>
                      </a:r>
                      <a:r>
                        <a:rPr lang="en-US" sz="1100" b="0" i="0" u="none" strike="noStrike" dirty="0">
                          <a:solidFill>
                            <a:srgbClr val="000000"/>
                          </a:solidFill>
                          <a:effectLst/>
                          <a:latin typeface="Verdana" panose="020B0604030504040204" pitchFamily="34" charset="0"/>
                        </a:rPr>
                        <a:t>.</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Should   have   experience   in   providing services to power sector undertakings.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Providing inputs for asset survey and GIS mapping.</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Tasks related to development of GIS asset maps and asset register as detailed in scope of work (Tasks under para 7).</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0808803"/>
                  </a:ext>
                </a:extLst>
              </a:tr>
              <a:tr h="541330">
                <a:tc>
                  <a:txBody>
                    <a:bodyPr/>
                    <a:lstStyle/>
                    <a:p>
                      <a:pPr algn="l" fontAlgn="t"/>
                      <a:r>
                        <a:rPr lang="en-US" sz="1100" b="1" i="0" u="none" strike="noStrike">
                          <a:solidFill>
                            <a:srgbClr val="000000"/>
                          </a:solidFill>
                          <a:effectLst/>
                          <a:latin typeface="Verdana" panose="020B0604030504040204" pitchFamily="34" charset="0"/>
                        </a:rPr>
                        <a:t>HR Expert</a:t>
                      </a:r>
                      <a:br>
                        <a:rPr lang="en-US" sz="1100" b="1" i="0" u="none" strike="noStrike">
                          <a:solidFill>
                            <a:srgbClr val="000000"/>
                          </a:solidFill>
                          <a:effectLst/>
                          <a:latin typeface="Verdana" panose="020B0604030504040204" pitchFamily="34" charset="0"/>
                        </a:rPr>
                      </a:br>
                      <a:r>
                        <a:rPr lang="en-US" sz="1100" b="0" i="0" u="none" strike="noStrike">
                          <a:solidFill>
                            <a:srgbClr val="000000"/>
                          </a:solidFill>
                          <a:effectLst/>
                          <a:latin typeface="Verdana" panose="020B0604030504040204" pitchFamily="34" charset="0"/>
                        </a:rPr>
                        <a:t>(National)</a:t>
                      </a:r>
                      <a:br>
                        <a:rPr lang="en-US" sz="1100" b="0" i="0" u="none" strike="noStrike">
                          <a:solidFill>
                            <a:srgbClr val="000000"/>
                          </a:solidFill>
                          <a:effectLst/>
                          <a:latin typeface="Verdana" panose="020B0604030504040204" pitchFamily="34" charset="0"/>
                        </a:rPr>
                      </a:br>
                      <a:r>
                        <a:rPr lang="en-US" sz="1100" b="0" i="1" u="none" strike="noStrike">
                          <a:solidFill>
                            <a:srgbClr val="000000"/>
                          </a:solidFill>
                          <a:effectLst/>
                          <a:latin typeface="Verdana" panose="020B0604030504040204" pitchFamily="34" charset="0"/>
                        </a:rPr>
                        <a:t>4 Person-months</a:t>
                      </a:r>
                      <a:endParaRPr lang="en-US" sz="1100" b="0" i="0" u="none" strike="noStrike">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B. Tech in any field of Engineering with MBA in HR or related post graduate in HR field</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10 years of experience in study of organizational structure, review of HR policies and capacity building roadmap</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2 no. of assignments in power sector preferably in distribution</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Carry out the scope listed in para. 11 (Organizational Review and Capacity Building Roadmap for TSECL)</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4992700"/>
                  </a:ext>
                </a:extLst>
              </a:tr>
              <a:tr h="541330">
                <a:tc>
                  <a:txBody>
                    <a:bodyPr/>
                    <a:lstStyle/>
                    <a:p>
                      <a:pPr algn="l" fontAlgn="t"/>
                      <a:r>
                        <a:rPr lang="en-US" sz="1100" b="1" i="0" u="none" strike="noStrike" dirty="0">
                          <a:solidFill>
                            <a:srgbClr val="000000"/>
                          </a:solidFill>
                          <a:effectLst/>
                          <a:latin typeface="Verdana" panose="020B0604030504040204" pitchFamily="34" charset="0"/>
                        </a:rPr>
                        <a:t>Distribution Commercial Process Expert / Metering and Billing Expert </a:t>
                      </a:r>
                      <a:r>
                        <a:rPr lang="en-US" sz="1100" b="0" i="0" u="none" strike="noStrike" dirty="0">
                          <a:solidFill>
                            <a:srgbClr val="000000"/>
                          </a:solidFill>
                          <a:effectLst/>
                          <a:latin typeface="Verdana" panose="020B0604030504040204" pitchFamily="34" charset="0"/>
                        </a:rPr>
                        <a:t>(National)</a:t>
                      </a:r>
                      <a:br>
                        <a:rPr lang="en-US" sz="1100" b="0" i="0" u="none" strike="noStrike" dirty="0">
                          <a:solidFill>
                            <a:srgbClr val="000000"/>
                          </a:solidFill>
                          <a:effectLst/>
                          <a:latin typeface="Verdana" panose="020B0604030504040204" pitchFamily="34" charset="0"/>
                        </a:rPr>
                      </a:br>
                      <a:r>
                        <a:rPr lang="en-US" sz="1100" b="0" i="1" u="none" strike="noStrike" dirty="0">
                          <a:solidFill>
                            <a:srgbClr val="000000"/>
                          </a:solidFill>
                          <a:effectLst/>
                          <a:latin typeface="Verdana" panose="020B0604030504040204" pitchFamily="34" charset="0"/>
                        </a:rPr>
                        <a:t>4 Person-months</a:t>
                      </a:r>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Graduate in Power/Electrical / Electronics Engineering and preferably Post Graduate in Management or Electrical Engineering</a:t>
                      </a:r>
                    </a:p>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At least 10 years of experience in providing consultancy in power sector and advising power distribution utilities on commercial strategy including processes of metering, billing and</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collection including smart meters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t">
                        <a:buFont typeface="Arial" panose="020B0604020202020204" pitchFamily="34" charset="0"/>
                        <a:buChar char="•"/>
                      </a:pPr>
                      <a:r>
                        <a:rPr lang="en-US" sz="1100" b="0" i="0" u="none" strike="noStrike" dirty="0">
                          <a:solidFill>
                            <a:srgbClr val="000000"/>
                          </a:solidFill>
                          <a:effectLst/>
                          <a:latin typeface="Verdana" panose="020B0604030504040204" pitchFamily="34" charset="0"/>
                        </a:rPr>
                        <a:t>Scope in para. 8.6, sub-para. 8.6.3 and 8.6.5</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40660"/>
                  </a:ext>
                </a:extLst>
              </a:tr>
            </a:tbl>
          </a:graphicData>
        </a:graphic>
      </p:graphicFrame>
    </p:spTree>
    <p:extLst>
      <p:ext uri="{BB962C8B-B14F-4D97-AF65-F5344CB8AC3E}">
        <p14:creationId xmlns:p14="http://schemas.microsoft.com/office/powerpoint/2010/main" val="1660875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D784B-54A2-1331-BA91-2D02493142A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50A8F35-9811-D6FE-7DBC-7121DBFE9BA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22093970-419E-18C7-01B7-C8345B5B63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8CA4DB32-CDD9-88F1-DF17-A75BE276EA42}"/>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Detailed Educational and Professional Experience Required for Tender</a:t>
            </a:r>
          </a:p>
        </p:txBody>
      </p:sp>
      <p:sp>
        <p:nvSpPr>
          <p:cNvPr id="6" name="Title 2">
            <a:extLst>
              <a:ext uri="{FF2B5EF4-FFF2-40B4-BE49-F238E27FC236}">
                <a16:creationId xmlns:a16="http://schemas.microsoft.com/office/drawing/2014/main" id="{E2F9EFDC-AD0F-E64F-E2D8-3EFB9D8C6C63}"/>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Criteria for Team of Experts in Tripura Tender (4/4)</a:t>
            </a:r>
          </a:p>
        </p:txBody>
      </p:sp>
      <p:cxnSp>
        <p:nvCxnSpPr>
          <p:cNvPr id="92" name="Straight Connector 91">
            <a:extLst>
              <a:ext uri="{FF2B5EF4-FFF2-40B4-BE49-F238E27FC236}">
                <a16:creationId xmlns:a16="http://schemas.microsoft.com/office/drawing/2014/main" id="{F1EA962A-C2B2-045F-8792-8DDEDCAE9C61}"/>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Arrow: Left 3">
            <a:hlinkClick r:id="rId6" action="ppaction://hlinksldjump"/>
            <a:extLst>
              <a:ext uri="{FF2B5EF4-FFF2-40B4-BE49-F238E27FC236}">
                <a16:creationId xmlns:a16="http://schemas.microsoft.com/office/drawing/2014/main" id="{9D86D4FB-E244-5B00-DB5D-8C1618F64CBC}"/>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bg1"/>
              </a:solidFill>
            </a:endParaRPr>
          </a:p>
        </p:txBody>
      </p:sp>
      <p:graphicFrame>
        <p:nvGraphicFramePr>
          <p:cNvPr id="8" name="Table 7">
            <a:extLst>
              <a:ext uri="{FF2B5EF4-FFF2-40B4-BE49-F238E27FC236}">
                <a16:creationId xmlns:a16="http://schemas.microsoft.com/office/drawing/2014/main" id="{177A79B9-60E9-2176-09BE-CE4796D778FC}"/>
              </a:ext>
            </a:extLst>
          </p:cNvPr>
          <p:cNvGraphicFramePr>
            <a:graphicFrameLocks noGrp="1"/>
          </p:cNvGraphicFramePr>
          <p:nvPr>
            <p:extLst>
              <p:ext uri="{D42A27DB-BD31-4B8C-83A1-F6EECF244321}">
                <p14:modId xmlns:p14="http://schemas.microsoft.com/office/powerpoint/2010/main" val="376731262"/>
              </p:ext>
            </p:extLst>
          </p:nvPr>
        </p:nvGraphicFramePr>
        <p:xfrm>
          <a:off x="514664" y="1147763"/>
          <a:ext cx="11003568" cy="4892040"/>
        </p:xfrm>
        <a:graphic>
          <a:graphicData uri="http://schemas.openxmlformats.org/drawingml/2006/table">
            <a:tbl>
              <a:tblPr/>
              <a:tblGrid>
                <a:gridCol w="2535137">
                  <a:extLst>
                    <a:ext uri="{9D8B030D-6E8A-4147-A177-3AD203B41FA5}">
                      <a16:colId xmlns:a16="http://schemas.microsoft.com/office/drawing/2014/main" val="3483025911"/>
                    </a:ext>
                  </a:extLst>
                </a:gridCol>
                <a:gridCol w="3919571">
                  <a:extLst>
                    <a:ext uri="{9D8B030D-6E8A-4147-A177-3AD203B41FA5}">
                      <a16:colId xmlns:a16="http://schemas.microsoft.com/office/drawing/2014/main" val="3188665894"/>
                    </a:ext>
                  </a:extLst>
                </a:gridCol>
                <a:gridCol w="4548860">
                  <a:extLst>
                    <a:ext uri="{9D8B030D-6E8A-4147-A177-3AD203B41FA5}">
                      <a16:colId xmlns:a16="http://schemas.microsoft.com/office/drawing/2014/main" val="970871580"/>
                    </a:ext>
                  </a:extLst>
                </a:gridCol>
              </a:tblGrid>
              <a:tr h="0">
                <a:tc>
                  <a:txBody>
                    <a:bodyPr/>
                    <a:lstStyle/>
                    <a:p>
                      <a:pPr algn="ctr" fontAlgn="t"/>
                      <a:r>
                        <a:rPr lang="en-US" sz="1100" b="1" i="0" u="none" strike="noStrike" dirty="0">
                          <a:solidFill>
                            <a:srgbClr val="FFFFFF"/>
                          </a:solidFill>
                          <a:effectLst/>
                          <a:latin typeface="Verdana" panose="020B0604030504040204" pitchFamily="34" charset="0"/>
                        </a:rPr>
                        <a:t>Position / Expertise</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Experience and Qualifications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en-US" sz="1100" b="1" i="0" u="none" strike="noStrike">
                          <a:solidFill>
                            <a:srgbClr val="FFFFFF"/>
                          </a:solidFill>
                          <a:effectLst/>
                          <a:latin typeface="Verdana" panose="020B0604030504040204" pitchFamily="34" charset="0"/>
                        </a:rPr>
                        <a:t>Responsibilities / Roles</a:t>
                      </a: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693319386"/>
                  </a:ext>
                </a:extLst>
              </a:tr>
              <a:tr h="0">
                <a:tc gridSpan="3">
                  <a:txBody>
                    <a:bodyPr/>
                    <a:lstStyle/>
                    <a:p>
                      <a:pPr algn="l" fontAlgn="ctr"/>
                      <a:r>
                        <a:rPr lang="en-US" sz="1100" b="1" i="0" u="none" strike="noStrike" dirty="0">
                          <a:solidFill>
                            <a:srgbClr val="FFFFFF"/>
                          </a:solidFill>
                          <a:effectLst/>
                          <a:latin typeface="Verdana" panose="020B0604030504040204" pitchFamily="34" charset="0"/>
                        </a:rPr>
                        <a:t>National Experts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74047106"/>
                  </a:ext>
                </a:extLst>
              </a:tr>
              <a:tr h="747016">
                <a:tc>
                  <a:txBody>
                    <a:bodyPr/>
                    <a:lstStyle/>
                    <a:p>
                      <a:pPr algn="l" fontAlgn="t"/>
                      <a:r>
                        <a:rPr lang="en-US" sz="1100" b="1" i="0" u="none" strike="noStrike" dirty="0">
                          <a:solidFill>
                            <a:srgbClr val="000000"/>
                          </a:solidFill>
                          <a:effectLst/>
                          <a:latin typeface="Verdana" panose="020B0604030504040204" pitchFamily="34" charset="0"/>
                        </a:rPr>
                        <a:t>IT Expert</a:t>
                      </a:r>
                      <a:br>
                        <a:rPr lang="en-US" sz="1100" b="1"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(National)</a:t>
                      </a:r>
                      <a:br>
                        <a:rPr lang="en-US" sz="1100" b="0" i="0" u="none" strike="noStrike" dirty="0">
                          <a:solidFill>
                            <a:srgbClr val="000000"/>
                          </a:solidFill>
                          <a:effectLst/>
                          <a:latin typeface="Verdana" panose="020B0604030504040204" pitchFamily="34" charset="0"/>
                        </a:rPr>
                      </a:br>
                      <a:r>
                        <a:rPr lang="en-US" sz="1100" b="0" i="1" u="none" strike="noStrike" dirty="0">
                          <a:solidFill>
                            <a:srgbClr val="000000"/>
                          </a:solidFill>
                          <a:effectLst/>
                          <a:latin typeface="Verdana" panose="020B0604030504040204" pitchFamily="34" charset="0"/>
                        </a:rPr>
                        <a:t>3 Person-months</a:t>
                      </a:r>
                      <a:endParaRPr lang="en-US" sz="1100" b="0" i="0" u="none" strike="noStrike" dirty="0">
                        <a:solidFill>
                          <a:srgbClr val="000000"/>
                        </a:solidFill>
                        <a:effectLst/>
                        <a:latin typeface="Verdana" panose="020B0604030504040204" pitchFamily="34" charset="0"/>
                      </a:endParaRP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Verdana" panose="020B0604030504040204" pitchFamily="34" charset="0"/>
                        </a:rPr>
                        <a:t>B.E/ B.Tech. or MCA in Computer Science/Information Technology Network Systems /Electronics or equivalent degree</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At least 5 years of experience in developing IT systems</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Experience in setting-up servers and networking is a must.</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Verdana" panose="020B0604030504040204" pitchFamily="34" charset="0"/>
                        </a:rPr>
                        <a:t>Design, setup and implement computer hardware and networking arrangements for the implementation of the software applications including GIS, Asset Data Management and Distribution Network Modelling &amp; Analysis for TSECL with sharing software licensing for the identified</a:t>
                      </a:r>
                      <a:br>
                        <a:rPr lang="en-US" sz="1100" b="0" i="0" u="none" strike="noStrike" dirty="0">
                          <a:solidFill>
                            <a:srgbClr val="000000"/>
                          </a:solidFill>
                          <a:effectLst/>
                          <a:latin typeface="Verdana" panose="020B0604030504040204" pitchFamily="34" charset="0"/>
                        </a:rPr>
                      </a:br>
                      <a:r>
                        <a:rPr lang="en-US" sz="1100" b="0" i="0" u="none" strike="noStrike" dirty="0">
                          <a:solidFill>
                            <a:srgbClr val="000000"/>
                          </a:solidFill>
                          <a:effectLst/>
                          <a:latin typeface="Verdana" panose="020B0604030504040204" pitchFamily="34" charset="0"/>
                        </a:rPr>
                        <a:t>users of multi user licensing</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0143725"/>
                  </a:ext>
                </a:extLst>
              </a:tr>
              <a:tr h="0">
                <a:tc gridSpan="3">
                  <a:txBody>
                    <a:bodyPr/>
                    <a:lstStyle/>
                    <a:p>
                      <a:pPr algn="l" fontAlgn="t"/>
                      <a:r>
                        <a:rPr lang="en-US" sz="1100" b="1" i="0" u="none" strike="noStrike" dirty="0">
                          <a:solidFill>
                            <a:srgbClr val="FFFFFF"/>
                          </a:solidFill>
                          <a:effectLst/>
                          <a:latin typeface="Verdana" panose="020B0604030504040204" pitchFamily="34" charset="0"/>
                        </a:rPr>
                        <a:t>Non-Key Experts</a:t>
                      </a:r>
                      <a:endParaRPr lang="en-US" sz="1100" b="0" i="0" u="none" strike="noStrike" dirty="0">
                        <a:solidFill>
                          <a:srgbClr val="000000"/>
                        </a:solidFill>
                        <a:effectLst/>
                        <a:latin typeface="Verdana" panose="020B0604030504040204" pitchFamily="34" charset="0"/>
                      </a:endParaRP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hMerge="1">
                  <a:txBody>
                    <a:bodyPr/>
                    <a:lstStyle/>
                    <a:p>
                      <a:pPr algn="l" fontAlgn="t"/>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l" fontAlgn="t"/>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1551201"/>
                  </a:ext>
                </a:extLst>
              </a:tr>
              <a:tr h="654688">
                <a:tc>
                  <a:txBody>
                    <a:bodyPr/>
                    <a:lstStyle/>
                    <a:p>
                      <a:pPr algn="l" fontAlgn="t"/>
                      <a:r>
                        <a:rPr lang="en-US" sz="1100" b="1" i="0" u="none" strike="noStrike" dirty="0">
                          <a:solidFill>
                            <a:srgbClr val="000000"/>
                          </a:solidFill>
                          <a:effectLst/>
                          <a:latin typeface="+mj-lt"/>
                        </a:rPr>
                        <a:t>AutoCAD Draftsman 1</a:t>
                      </a:r>
                      <a:br>
                        <a:rPr lang="en-US" sz="1100" b="1" i="0" u="none" strike="noStrike" dirty="0">
                          <a:solidFill>
                            <a:srgbClr val="000000"/>
                          </a:solidFill>
                          <a:effectLst/>
                          <a:latin typeface="+mj-lt"/>
                        </a:rPr>
                      </a:br>
                      <a:r>
                        <a:rPr lang="en-US" sz="1100" b="0" i="0" u="none" strike="noStrike" dirty="0">
                          <a:solidFill>
                            <a:srgbClr val="000000"/>
                          </a:solidFill>
                          <a:effectLst/>
                          <a:latin typeface="+mj-lt"/>
                        </a:rPr>
                        <a:t>(National)</a:t>
                      </a:r>
                      <a:br>
                        <a:rPr lang="en-US" sz="1100" b="0" i="0" u="none" strike="noStrike" dirty="0">
                          <a:solidFill>
                            <a:srgbClr val="000000"/>
                          </a:solidFill>
                          <a:effectLst/>
                          <a:latin typeface="+mj-lt"/>
                        </a:rPr>
                      </a:br>
                      <a:r>
                        <a:rPr lang="en-US" sz="1100" b="0" i="1" u="none" strike="noStrike" dirty="0">
                          <a:solidFill>
                            <a:srgbClr val="000000"/>
                          </a:solidFill>
                          <a:effectLst/>
                          <a:latin typeface="+mj-lt"/>
                        </a:rPr>
                        <a:t>8 Person-months</a:t>
                      </a:r>
                      <a:br>
                        <a:rPr lang="en-US" sz="1100" b="0" i="1" u="none" strike="noStrike" dirty="0">
                          <a:solidFill>
                            <a:srgbClr val="000000"/>
                          </a:solidFill>
                          <a:effectLst/>
                          <a:latin typeface="+mj-lt"/>
                        </a:rPr>
                      </a:br>
                      <a:r>
                        <a:rPr lang="en-US" sz="1100" b="1" i="0" u="none" strike="noStrike" dirty="0">
                          <a:solidFill>
                            <a:srgbClr val="000000"/>
                          </a:solidFill>
                          <a:effectLst/>
                          <a:latin typeface="+mj-lt"/>
                        </a:rPr>
                        <a:t>AutoCAD Draftsman 2</a:t>
                      </a:r>
                      <a:br>
                        <a:rPr lang="en-US" sz="1100" b="1" i="0" u="none" strike="noStrike" dirty="0">
                          <a:solidFill>
                            <a:srgbClr val="000000"/>
                          </a:solidFill>
                          <a:effectLst/>
                          <a:latin typeface="+mj-lt"/>
                        </a:rPr>
                      </a:br>
                      <a:r>
                        <a:rPr lang="en-US" sz="1100" b="0" i="0" u="none" strike="noStrike" dirty="0">
                          <a:solidFill>
                            <a:srgbClr val="000000"/>
                          </a:solidFill>
                          <a:effectLst/>
                          <a:latin typeface="+mj-lt"/>
                        </a:rPr>
                        <a:t>(National)</a:t>
                      </a:r>
                      <a:br>
                        <a:rPr lang="en-US" sz="1100" b="0" i="0" u="none" strike="noStrike" dirty="0">
                          <a:solidFill>
                            <a:srgbClr val="000000"/>
                          </a:solidFill>
                          <a:effectLst/>
                          <a:latin typeface="+mj-lt"/>
                        </a:rPr>
                      </a:br>
                      <a:r>
                        <a:rPr lang="en-US" sz="1100" b="0" i="1" u="none" strike="noStrike" dirty="0">
                          <a:solidFill>
                            <a:srgbClr val="000000"/>
                          </a:solidFill>
                          <a:effectLst/>
                          <a:latin typeface="+mj-lt"/>
                        </a:rPr>
                        <a:t>8 Person-months</a:t>
                      </a:r>
                      <a:endParaRPr lang="en-US" sz="1100" b="0" i="0" u="none" strike="noStrike" dirty="0">
                        <a:solidFill>
                          <a:srgbClr val="000000"/>
                        </a:solidFill>
                        <a:effectLst/>
                        <a:latin typeface="+mj-lt"/>
                      </a:endParaRP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mj-lt"/>
                        </a:rPr>
                        <a:t>Should be ITI/Diploma engineer.</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Experience of at least 3 years in development of AutoCAD drawings</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Should be equipped in using AutoCAD</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mj-lt"/>
                        </a:rPr>
                        <a:t>Development of distribution construction drawings in AutoCAD as detailed in Tasks under para. 7</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Development of single line diagrams of existing lines in AutoCAD</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9628873"/>
                  </a:ext>
                </a:extLst>
              </a:tr>
              <a:tr h="0">
                <a:tc gridSpan="3">
                  <a:txBody>
                    <a:bodyPr/>
                    <a:lstStyle/>
                    <a:p>
                      <a:pPr marL="0" marR="0" lvl="0" indent="0" algn="l" defTabSz="1219231" rtl="0" eaLnBrk="1" fontAlgn="t" latinLnBrk="0" hangingPunct="1">
                        <a:lnSpc>
                          <a:spcPct val="100000"/>
                        </a:lnSpc>
                        <a:spcBef>
                          <a:spcPts val="0"/>
                        </a:spcBef>
                        <a:spcAft>
                          <a:spcPts val="0"/>
                        </a:spcAft>
                        <a:buClrTx/>
                        <a:buSzTx/>
                        <a:buFontTx/>
                        <a:buNone/>
                        <a:tabLst/>
                        <a:defRPr/>
                      </a:pPr>
                      <a:r>
                        <a:rPr lang="en-US" sz="1100" b="1" i="0" u="none" strike="noStrike" dirty="0">
                          <a:solidFill>
                            <a:srgbClr val="FFFFFF"/>
                          </a:solidFill>
                          <a:effectLst/>
                          <a:latin typeface="+mj-lt"/>
                        </a:rPr>
                        <a:t>Support Staff Positions</a:t>
                      </a:r>
                      <a:endParaRPr lang="en-US" sz="1100" b="0" i="0" u="none" strike="noStrike" dirty="0">
                        <a:solidFill>
                          <a:srgbClr val="000000"/>
                        </a:solidFill>
                        <a:effectLst/>
                        <a:latin typeface="+mj-lt"/>
                      </a:endParaRP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hMerge="1">
                  <a:txBody>
                    <a:bodyPr/>
                    <a:lstStyle/>
                    <a:p>
                      <a:pPr algn="l" fontAlgn="t"/>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l" fontAlgn="t"/>
                      <a:endParaRPr lang="en-US" sz="1100" b="0" i="0" u="none" strike="noStrike" dirty="0">
                        <a:solidFill>
                          <a:srgbClr val="000000"/>
                        </a:solidFill>
                        <a:effectLst/>
                        <a:latin typeface="Verdana" panose="020B0604030504040204" pitchFamily="34" charset="0"/>
                      </a:endParaRPr>
                    </a:p>
                  </a:txBody>
                  <a:tcPr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2643042"/>
                  </a:ext>
                </a:extLst>
              </a:tr>
              <a:tr h="562360">
                <a:tc>
                  <a:txBody>
                    <a:bodyPr/>
                    <a:lstStyle/>
                    <a:p>
                      <a:pPr algn="l" fontAlgn="t"/>
                      <a:r>
                        <a:rPr lang="en-US" sz="1100" b="1" i="0" u="none" strike="noStrike" dirty="0">
                          <a:solidFill>
                            <a:srgbClr val="000000"/>
                          </a:solidFill>
                          <a:effectLst/>
                          <a:latin typeface="+mj-lt"/>
                        </a:rPr>
                        <a:t>GPS survey Assistants</a:t>
                      </a:r>
                      <a:br>
                        <a:rPr lang="en-US" sz="1100" b="1" i="0" u="none" strike="noStrike" dirty="0">
                          <a:solidFill>
                            <a:srgbClr val="000000"/>
                          </a:solidFill>
                          <a:effectLst/>
                          <a:latin typeface="+mj-lt"/>
                        </a:rPr>
                      </a:br>
                      <a:r>
                        <a:rPr lang="en-US" sz="1100" b="0" i="0" u="none" strike="noStrike" dirty="0">
                          <a:solidFill>
                            <a:srgbClr val="000000"/>
                          </a:solidFill>
                          <a:effectLst/>
                          <a:latin typeface="+mj-lt"/>
                        </a:rPr>
                        <a:t>(at least 3 for each circle)</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mj-lt"/>
                        </a:rPr>
                        <a:t>Should be ITI certified or equivalent.</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Should be equipped in using GPS devices &amp; taking measurement of all infrastructure developed.</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Preferable if having experience of working in power sector.</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mj-lt"/>
                        </a:rPr>
                        <a:t>Asset survey and GIS mapping work as detailed in Tasks under para. 7</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4238547"/>
                  </a:ext>
                </a:extLst>
              </a:tr>
              <a:tr h="562360">
                <a:tc>
                  <a:txBody>
                    <a:bodyPr/>
                    <a:lstStyle/>
                    <a:p>
                      <a:pPr algn="l" fontAlgn="t"/>
                      <a:r>
                        <a:rPr lang="en-US" sz="1100" b="1" i="0" u="none" strike="noStrike" dirty="0">
                          <a:solidFill>
                            <a:srgbClr val="000000"/>
                          </a:solidFill>
                          <a:effectLst/>
                          <a:latin typeface="+mj-lt"/>
                        </a:rPr>
                        <a:t>Survey and Network Data Collection Associates </a:t>
                      </a:r>
                      <a:r>
                        <a:rPr lang="en-US" sz="1100" b="0" i="0" u="none" strike="noStrike" dirty="0">
                          <a:solidFill>
                            <a:srgbClr val="000000"/>
                          </a:solidFill>
                          <a:effectLst/>
                          <a:latin typeface="+mj-lt"/>
                        </a:rPr>
                        <a:t>(at least 3 for each circle)</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mj-lt"/>
                        </a:rPr>
                        <a:t>Graduate in Engineering)</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At least 3 years of experience demonstrating understanding of distribution system components, assets and system analysis</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mj-lt"/>
                        </a:rPr>
                        <a:t>Conducting asset study and capture of asset attributes as detailed in Tasks under para. 7</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Providing support in data collection, field visits and conduction of training</a:t>
                      </a:r>
                      <a:br>
                        <a:rPr lang="en-US" sz="1100" b="0" i="0" u="none" strike="noStrike" dirty="0">
                          <a:solidFill>
                            <a:srgbClr val="000000"/>
                          </a:solidFill>
                          <a:effectLst/>
                          <a:latin typeface="+mj-lt"/>
                        </a:rPr>
                      </a:br>
                      <a:r>
                        <a:rPr lang="en-US" sz="1100" b="0" i="0" u="none" strike="noStrike" dirty="0">
                          <a:solidFill>
                            <a:srgbClr val="000000"/>
                          </a:solidFill>
                          <a:effectLst/>
                          <a:latin typeface="+mj-lt"/>
                        </a:rPr>
                        <a:t>as required</a:t>
                      </a:r>
                    </a:p>
                  </a:txBody>
                  <a:tcPr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4671318"/>
                  </a:ext>
                </a:extLst>
              </a:tr>
            </a:tbl>
          </a:graphicData>
        </a:graphic>
      </p:graphicFrame>
    </p:spTree>
    <p:extLst>
      <p:ext uri="{BB962C8B-B14F-4D97-AF65-F5344CB8AC3E}">
        <p14:creationId xmlns:p14="http://schemas.microsoft.com/office/powerpoint/2010/main" val="1539795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0C&quot; g=&quot;0C&quot; b=&quot;0C&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6.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0.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3.xml><?xml version="1.0" encoding="utf-8"?>
<p:tagLst xmlns:a="http://schemas.openxmlformats.org/drawingml/2006/main" xmlns:r="http://schemas.openxmlformats.org/officeDocument/2006/relationships" xmlns:p="http://schemas.openxmlformats.org/presentationml/2006/main">
  <p:tag name="SMARTSLIDETYPE" val="Divider"/>
  <p:tag name="SMARTDIVIDERTYPE" val="Section"/>
  <p:tag name="SMARTDIVIDERTEXT" val="Section"/>
  <p:tag name="SMARTDIVIDERLEVEL" val="0"/>
  <p:tag name="SMARTDIVIDERTOCSTYLE" val="Section TOC"/>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TINTH_KgeY2cDKog_Us9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emoehYrTs4zHkNwBFW3xA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jqBO6LGezn3qCIglb2xIR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MODWnQBtEwnaxeDY9Tcwh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KbWnGy5R0bH6RGH9NqFCs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esbdrJFmaym.sNnFDuhBg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93GSQ3v.nkKkTWL_iX7ce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l3uRqsyYBFFz.WA62Bgqm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xSefFdjllJy3HgKdCv.te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68ZkgvIVGHiDwlKt1NNf0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2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54D36E-9EF4-45FB-A110-F5062C6023D7}">
  <ds:schemaRefs>
    <ds:schemaRef ds:uri="http://schemas.microsoft.com/office/infopath/2007/PartnerControls"/>
    <ds:schemaRef ds:uri="http://purl.org/dc/terms/"/>
    <ds:schemaRef ds:uri="http://schemas.openxmlformats.org/package/2006/metadata/core-properties"/>
    <ds:schemaRef ds:uri="http://schemas.microsoft.com/office/2006/metadata/properties"/>
    <ds:schemaRef ds:uri="85509309-b833-4aa2-87f6-6adf118ac530"/>
    <ds:schemaRef ds:uri="http://schemas.microsoft.com/office/2006/documentManagement/types"/>
    <ds:schemaRef ds:uri="http://www.w3.org/XML/1998/namespace"/>
    <ds:schemaRef ds:uri="c9286996-694e-477d-a7aa-46f8b2667f29"/>
    <ds:schemaRef ds:uri="http://purl.org/dc/dcmitype/"/>
    <ds:schemaRef ds:uri="http://purl.org/dc/elements/1.1/"/>
  </ds:schemaRefs>
</ds:datastoreItem>
</file>

<file path=customXml/itemProps2.xml><?xml version="1.0" encoding="utf-8"?>
<ds:datastoreItem xmlns:ds="http://schemas.openxmlformats.org/officeDocument/2006/customXml" ds:itemID="{B1453C9E-5A4D-4168-9191-36E7B0BE56C0}"/>
</file>

<file path=customXml/itemProps3.xml><?xml version="1.0" encoding="utf-8"?>
<ds:datastoreItem xmlns:ds="http://schemas.openxmlformats.org/officeDocument/2006/customXml" ds:itemID="{124D7DF5-2DEA-4939-A487-A40714D422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7283</TotalTime>
  <Words>5571</Words>
  <Application>Microsoft Office PowerPoint</Application>
  <PresentationFormat>Widescreen</PresentationFormat>
  <Paragraphs>561</Paragraphs>
  <Slides>26</Slides>
  <Notes>10</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44" baseType="lpstr">
      <vt:lpstr>微软雅黑</vt:lpstr>
      <vt:lpstr>ＭＳ Ｐゴシック</vt:lpstr>
      <vt:lpstr>华文细黑</vt:lpstr>
      <vt:lpstr>Aptos</vt:lpstr>
      <vt:lpstr>Arial</vt:lpstr>
      <vt:lpstr>Calibri</vt:lpstr>
      <vt:lpstr>Calibri Light</vt:lpstr>
      <vt:lpstr>Georgia</vt:lpstr>
      <vt:lpstr>Open Sans</vt:lpstr>
      <vt:lpstr>Symbol</vt:lpstr>
      <vt:lpstr>Times New Roman</vt:lpstr>
      <vt:lpstr>UICTFontTextStyleBody</vt:lpstr>
      <vt:lpstr>Verdana</vt:lpstr>
      <vt:lpstr>Wingdings</vt:lpstr>
      <vt:lpstr>Wingdings 2</vt:lpstr>
      <vt:lpstr>1_Deloitte 16_9 onscreen</vt:lpstr>
      <vt:lpstr>2_Deloitte 16_9 onscreen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Annexures</vt:lpstr>
      <vt:lpstr>PowerPoint Presentation</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Banerjee, Rajeswar</dc:creator>
  <cp:keywords/>
  <cp:lastModifiedBy>Banerjee, Rajeswar</cp:lastModifiedBy>
  <cp:revision>68</cp:revision>
  <cp:lastPrinted>2014-06-25T02:16:22Z</cp:lastPrinted>
  <dcterms:created xsi:type="dcterms:W3CDTF">2016-11-09T03:29:25Z</dcterms:created>
  <dcterms:modified xsi:type="dcterms:W3CDTF">2024-04-12T05:49:56Z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